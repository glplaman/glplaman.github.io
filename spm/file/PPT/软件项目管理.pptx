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ebp" ContentType="image/webp"/>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26.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27.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charts/chartEx1.xml" ContentType="application/vnd.ms-office.chartex+xml"/>
  <Override PartName="/ppt/charts/style7.xml" ContentType="application/vnd.ms-office.chartstyle+xml"/>
  <Override PartName="/ppt/charts/colors7.xml" ContentType="application/vnd.ms-office.chartcolorstyle+xml"/>
  <Override PartName="/ppt/notesSlides/notesSlide167.xml" ContentType="application/vnd.openxmlformats-officedocument.presentationml.notesSlide+xml"/>
  <Override PartName="/ppt/charts/chartEx2.xml" ContentType="application/vnd.ms-office.chartex+xml"/>
  <Override PartName="/ppt/charts/style8.xml" ContentType="application/vnd.ms-office.chartstyle+xml"/>
  <Override PartName="/ppt/charts/colors8.xml" ContentType="application/vnd.ms-office.chartcolorstyle+xml"/>
  <Override PartName="/ppt/charts/chart7.xml" ContentType="application/vnd.openxmlformats-officedocument.drawingml.chart+xml"/>
  <Override PartName="/ppt/charts/style9.xml" ContentType="application/vnd.ms-office.chartstyle+xml"/>
  <Override PartName="/ppt/charts/colors9.xml" ContentType="application/vnd.ms-office.chartcolorstyle+xml"/>
  <Override PartName="/ppt/charts/chart8.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9.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73.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187.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188.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189.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80"/>
  </p:notesMasterIdLst>
  <p:sldIdLst>
    <p:sldId id="311" r:id="rId2"/>
    <p:sldId id="444" r:id="rId3"/>
    <p:sldId id="256" r:id="rId4"/>
    <p:sldId id="262" r:id="rId5"/>
    <p:sldId id="496" r:id="rId6"/>
    <p:sldId id="266" r:id="rId7"/>
    <p:sldId id="488" r:id="rId8"/>
    <p:sldId id="257" r:id="rId9"/>
    <p:sldId id="258" r:id="rId10"/>
    <p:sldId id="479" r:id="rId11"/>
    <p:sldId id="270" r:id="rId12"/>
    <p:sldId id="491" r:id="rId13"/>
    <p:sldId id="489" r:id="rId14"/>
    <p:sldId id="490" r:id="rId15"/>
    <p:sldId id="282" r:id="rId16"/>
    <p:sldId id="283" r:id="rId17"/>
    <p:sldId id="492" r:id="rId18"/>
    <p:sldId id="480" r:id="rId19"/>
    <p:sldId id="494" r:id="rId20"/>
    <p:sldId id="493" r:id="rId21"/>
    <p:sldId id="261" r:id="rId22"/>
    <p:sldId id="497" r:id="rId23"/>
    <p:sldId id="260" r:id="rId24"/>
    <p:sldId id="476" r:id="rId25"/>
    <p:sldId id="482" r:id="rId26"/>
    <p:sldId id="484" r:id="rId27"/>
    <p:sldId id="517" r:id="rId28"/>
    <p:sldId id="483" r:id="rId29"/>
    <p:sldId id="485" r:id="rId30"/>
    <p:sldId id="498" r:id="rId31"/>
    <p:sldId id="518" r:id="rId32"/>
    <p:sldId id="477" r:id="rId33"/>
    <p:sldId id="500" r:id="rId34"/>
    <p:sldId id="303" r:id="rId35"/>
    <p:sldId id="314" r:id="rId36"/>
    <p:sldId id="285" r:id="rId37"/>
    <p:sldId id="286" r:id="rId38"/>
    <p:sldId id="519" r:id="rId39"/>
    <p:sldId id="495" r:id="rId40"/>
    <p:sldId id="501" r:id="rId41"/>
    <p:sldId id="271" r:id="rId42"/>
    <p:sldId id="539" r:id="rId43"/>
    <p:sldId id="502" r:id="rId44"/>
    <p:sldId id="514" r:id="rId45"/>
    <p:sldId id="515" r:id="rId46"/>
    <p:sldId id="516" r:id="rId47"/>
    <p:sldId id="409" r:id="rId48"/>
    <p:sldId id="503" r:id="rId49"/>
    <p:sldId id="508" r:id="rId50"/>
    <p:sldId id="510" r:id="rId51"/>
    <p:sldId id="509" r:id="rId52"/>
    <p:sldId id="410" r:id="rId53"/>
    <p:sldId id="541" r:id="rId54"/>
    <p:sldId id="542" r:id="rId55"/>
    <p:sldId id="544" r:id="rId56"/>
    <p:sldId id="543" r:id="rId57"/>
    <p:sldId id="545" r:id="rId58"/>
    <p:sldId id="540" r:id="rId59"/>
    <p:sldId id="511" r:id="rId60"/>
    <p:sldId id="512" r:id="rId61"/>
    <p:sldId id="513" r:id="rId62"/>
    <p:sldId id="333" r:id="rId63"/>
    <p:sldId id="520" r:id="rId64"/>
    <p:sldId id="334" r:id="rId65"/>
    <p:sldId id="386" r:id="rId66"/>
    <p:sldId id="387" r:id="rId67"/>
    <p:sldId id="547" r:id="rId68"/>
    <p:sldId id="335" r:id="rId69"/>
    <p:sldId id="564" r:id="rId70"/>
    <p:sldId id="336" r:id="rId71"/>
    <p:sldId id="549" r:id="rId72"/>
    <p:sldId id="565" r:id="rId73"/>
    <p:sldId id="548" r:id="rId74"/>
    <p:sldId id="337" r:id="rId75"/>
    <p:sldId id="521" r:id="rId76"/>
    <p:sldId id="338" r:id="rId77"/>
    <p:sldId id="551" r:id="rId78"/>
    <p:sldId id="557" r:id="rId79"/>
    <p:sldId id="556" r:id="rId80"/>
    <p:sldId id="555" r:id="rId81"/>
    <p:sldId id="566" r:id="rId82"/>
    <p:sldId id="582" r:id="rId83"/>
    <p:sldId id="583" r:id="rId84"/>
    <p:sldId id="552" r:id="rId85"/>
    <p:sldId id="554" r:id="rId86"/>
    <p:sldId id="567" r:id="rId87"/>
    <p:sldId id="568" r:id="rId88"/>
    <p:sldId id="553" r:id="rId89"/>
    <p:sldId id="560" r:id="rId90"/>
    <p:sldId id="562" r:id="rId91"/>
    <p:sldId id="563" r:id="rId92"/>
    <p:sldId id="561" r:id="rId93"/>
    <p:sldId id="600" r:id="rId94"/>
    <p:sldId id="599" r:id="rId95"/>
    <p:sldId id="601" r:id="rId96"/>
    <p:sldId id="504" r:id="rId97"/>
    <p:sldId id="380" r:id="rId98"/>
    <p:sldId id="345" r:id="rId99"/>
    <p:sldId id="343" r:id="rId100"/>
    <p:sldId id="584" r:id="rId101"/>
    <p:sldId id="585" r:id="rId102"/>
    <p:sldId id="588" r:id="rId103"/>
    <p:sldId id="593" r:id="rId104"/>
    <p:sldId id="586" r:id="rId105"/>
    <p:sldId id="589" r:id="rId106"/>
    <p:sldId id="816" r:id="rId107"/>
    <p:sldId id="359" r:id="rId108"/>
    <p:sldId id="344" r:id="rId109"/>
    <p:sldId id="594" r:id="rId110"/>
    <p:sldId id="595" r:id="rId111"/>
    <p:sldId id="596" r:id="rId112"/>
    <p:sldId id="597" r:id="rId113"/>
    <p:sldId id="598" r:id="rId114"/>
    <p:sldId id="365" r:id="rId115"/>
    <p:sldId id="590" r:id="rId116"/>
    <p:sldId id="591" r:id="rId117"/>
    <p:sldId id="592" r:id="rId118"/>
    <p:sldId id="550" r:id="rId119"/>
    <p:sldId id="558" r:id="rId120"/>
    <p:sldId id="559" r:id="rId121"/>
    <p:sldId id="273" r:id="rId122"/>
    <p:sldId id="538" r:id="rId123"/>
    <p:sldId id="657" r:id="rId124"/>
    <p:sldId id="656" r:id="rId125"/>
    <p:sldId id="603" r:id="rId126"/>
    <p:sldId id="602" r:id="rId127"/>
    <p:sldId id="605" r:id="rId128"/>
    <p:sldId id="619" r:id="rId129"/>
    <p:sldId id="618" r:id="rId130"/>
    <p:sldId id="622" r:id="rId131"/>
    <p:sldId id="620" r:id="rId132"/>
    <p:sldId id="621" r:id="rId133"/>
    <p:sldId id="623" r:id="rId134"/>
    <p:sldId id="606" r:id="rId135"/>
    <p:sldId id="607" r:id="rId136"/>
    <p:sldId id="628" r:id="rId137"/>
    <p:sldId id="639" r:id="rId138"/>
    <p:sldId id="627" r:id="rId139"/>
    <p:sldId id="641" r:id="rId140"/>
    <p:sldId id="642" r:id="rId141"/>
    <p:sldId id="640" r:id="rId142"/>
    <p:sldId id="610" r:id="rId143"/>
    <p:sldId id="634" r:id="rId144"/>
    <p:sldId id="631" r:id="rId145"/>
    <p:sldId id="632" r:id="rId146"/>
    <p:sldId id="612" r:id="rId147"/>
    <p:sldId id="644" r:id="rId148"/>
    <p:sldId id="614" r:id="rId149"/>
    <p:sldId id="635" r:id="rId150"/>
    <p:sldId id="629" r:id="rId151"/>
    <p:sldId id="630" r:id="rId152"/>
    <p:sldId id="613" r:id="rId153"/>
    <p:sldId id="617" r:id="rId154"/>
    <p:sldId id="633" r:id="rId155"/>
    <p:sldId id="615" r:id="rId156"/>
    <p:sldId id="616" r:id="rId157"/>
    <p:sldId id="638" r:id="rId158"/>
    <p:sldId id="637" r:id="rId159"/>
    <p:sldId id="645" r:id="rId160"/>
    <p:sldId id="646" r:id="rId161"/>
    <p:sldId id="647" r:id="rId162"/>
    <p:sldId id="636" r:id="rId163"/>
    <p:sldId id="299" r:id="rId164"/>
    <p:sldId id="300" r:id="rId165"/>
    <p:sldId id="301" r:id="rId166"/>
    <p:sldId id="294" r:id="rId167"/>
    <p:sldId id="569" r:id="rId168"/>
    <p:sldId id="649" r:id="rId169"/>
    <p:sldId id="570" r:id="rId170"/>
    <p:sldId id="648" r:id="rId171"/>
    <p:sldId id="650" r:id="rId172"/>
    <p:sldId id="572" r:id="rId173"/>
    <p:sldId id="654" r:id="rId174"/>
    <p:sldId id="652" r:id="rId175"/>
    <p:sldId id="653" r:id="rId176"/>
    <p:sldId id="573" r:id="rId177"/>
    <p:sldId id="574" r:id="rId178"/>
    <p:sldId id="575" r:id="rId179"/>
    <p:sldId id="576" r:id="rId180"/>
    <p:sldId id="655" r:id="rId181"/>
    <p:sldId id="579" r:id="rId182"/>
    <p:sldId id="651" r:id="rId183"/>
    <p:sldId id="445" r:id="rId184"/>
    <p:sldId id="536" r:id="rId185"/>
    <p:sldId id="679" r:id="rId186"/>
    <p:sldId id="658" r:id="rId187"/>
    <p:sldId id="447" r:id="rId188"/>
    <p:sldId id="677" r:id="rId189"/>
    <p:sldId id="443" r:id="rId190"/>
    <p:sldId id="702" r:id="rId191"/>
    <p:sldId id="680" r:id="rId192"/>
    <p:sldId id="705" r:id="rId193"/>
    <p:sldId id="678" r:id="rId194"/>
    <p:sldId id="670" r:id="rId195"/>
    <p:sldId id="672" r:id="rId196"/>
    <p:sldId id="673" r:id="rId197"/>
    <p:sldId id="674" r:id="rId198"/>
    <p:sldId id="681" r:id="rId199"/>
    <p:sldId id="682" r:id="rId200"/>
    <p:sldId id="659" r:id="rId201"/>
    <p:sldId id="668" r:id="rId202"/>
    <p:sldId id="683" r:id="rId203"/>
    <p:sldId id="684" r:id="rId204"/>
    <p:sldId id="685" r:id="rId205"/>
    <p:sldId id="686" r:id="rId206"/>
    <p:sldId id="660" r:id="rId207"/>
    <p:sldId id="661" r:id="rId208"/>
    <p:sldId id="662" r:id="rId209"/>
    <p:sldId id="675" r:id="rId210"/>
    <p:sldId id="688" r:id="rId211"/>
    <p:sldId id="689" r:id="rId212"/>
    <p:sldId id="663" r:id="rId213"/>
    <p:sldId id="676" r:id="rId214"/>
    <p:sldId id="687" r:id="rId215"/>
    <p:sldId id="664" r:id="rId216"/>
    <p:sldId id="665" r:id="rId217"/>
    <p:sldId id="667" r:id="rId218"/>
    <p:sldId id="666" r:id="rId219"/>
    <p:sldId id="669" r:id="rId220"/>
    <p:sldId id="690" r:id="rId221"/>
    <p:sldId id="692" r:id="rId222"/>
    <p:sldId id="691" r:id="rId223"/>
    <p:sldId id="703" r:id="rId224"/>
    <p:sldId id="693" r:id="rId225"/>
    <p:sldId id="671" r:id="rId226"/>
    <p:sldId id="706" r:id="rId227"/>
    <p:sldId id="694" r:id="rId228"/>
    <p:sldId id="707" r:id="rId229"/>
    <p:sldId id="696" r:id="rId230"/>
    <p:sldId id="698" r:id="rId231"/>
    <p:sldId id="695" r:id="rId232"/>
    <p:sldId id="697" r:id="rId233"/>
    <p:sldId id="448" r:id="rId234"/>
    <p:sldId id="704" r:id="rId235"/>
    <p:sldId id="699" r:id="rId236"/>
    <p:sldId id="449" r:id="rId237"/>
    <p:sldId id="700" r:id="rId238"/>
    <p:sldId id="701" r:id="rId239"/>
    <p:sldId id="274" r:id="rId240"/>
    <p:sldId id="535" r:id="rId241"/>
    <p:sldId id="742" r:id="rId242"/>
    <p:sldId id="708" r:id="rId243"/>
    <p:sldId id="419" r:id="rId244"/>
    <p:sldId id="421" r:id="rId245"/>
    <p:sldId id="267" r:id="rId246"/>
    <p:sldId id="710" r:id="rId247"/>
    <p:sldId id="715" r:id="rId248"/>
    <p:sldId id="422" r:id="rId249"/>
    <p:sldId id="716" r:id="rId250"/>
    <p:sldId id="719" r:id="rId251"/>
    <p:sldId id="718" r:id="rId252"/>
    <p:sldId id="423" r:id="rId253"/>
    <p:sldId id="720" r:id="rId254"/>
    <p:sldId id="717" r:id="rId255"/>
    <p:sldId id="747" r:id="rId256"/>
    <p:sldId id="711" r:id="rId257"/>
    <p:sldId id="722" r:id="rId258"/>
    <p:sldId id="721" r:id="rId259"/>
    <p:sldId id="723" r:id="rId260"/>
    <p:sldId id="712" r:id="rId261"/>
    <p:sldId id="713" r:id="rId262"/>
    <p:sldId id="714" r:id="rId263"/>
    <p:sldId id="748" r:id="rId264"/>
    <p:sldId id="420" r:id="rId265"/>
    <p:sldId id="724" r:id="rId266"/>
    <p:sldId id="436" r:id="rId267"/>
    <p:sldId id="725" r:id="rId268"/>
    <p:sldId id="726" r:id="rId269"/>
    <p:sldId id="727" r:id="rId270"/>
    <p:sldId id="728" r:id="rId271"/>
    <p:sldId id="731" r:id="rId272"/>
    <p:sldId id="741" r:id="rId273"/>
    <p:sldId id="730" r:id="rId274"/>
    <p:sldId id="729" r:id="rId275"/>
    <p:sldId id="709" r:id="rId276"/>
    <p:sldId id="440" r:id="rId277"/>
    <p:sldId id="732" r:id="rId278"/>
    <p:sldId id="734" r:id="rId279"/>
    <p:sldId id="442" r:id="rId280"/>
    <p:sldId id="733" r:id="rId281"/>
    <p:sldId id="735" r:id="rId282"/>
    <p:sldId id="794" r:id="rId283"/>
    <p:sldId id="429" r:id="rId284"/>
    <p:sldId id="428" r:id="rId285"/>
    <p:sldId id="430" r:id="rId286"/>
    <p:sldId id="870" r:id="rId287"/>
    <p:sldId id="437" r:id="rId288"/>
    <p:sldId id="740" r:id="rId289"/>
    <p:sldId id="736" r:id="rId290"/>
    <p:sldId id="737" r:id="rId291"/>
    <p:sldId id="738" r:id="rId292"/>
    <p:sldId id="743" r:id="rId293"/>
    <p:sldId id="745" r:id="rId294"/>
    <p:sldId id="744" r:id="rId295"/>
    <p:sldId id="746" r:id="rId296"/>
    <p:sldId id="427" r:id="rId297"/>
    <p:sldId id="439" r:id="rId298"/>
    <p:sldId id="441" r:id="rId299"/>
    <p:sldId id="275" r:id="rId300"/>
    <p:sldId id="529" r:id="rId301"/>
    <p:sldId id="760" r:id="rId302"/>
    <p:sldId id="754" r:id="rId303"/>
    <p:sldId id="792" r:id="rId304"/>
    <p:sldId id="761" r:id="rId305"/>
    <p:sldId id="762" r:id="rId306"/>
    <p:sldId id="763" r:id="rId307"/>
    <p:sldId id="753" r:id="rId308"/>
    <p:sldId id="764" r:id="rId309"/>
    <p:sldId id="750" r:id="rId310"/>
    <p:sldId id="765" r:id="rId311"/>
    <p:sldId id="766" r:id="rId312"/>
    <p:sldId id="789" r:id="rId313"/>
    <p:sldId id="767" r:id="rId314"/>
    <p:sldId id="752" r:id="rId315"/>
    <p:sldId id="432" r:id="rId316"/>
    <p:sldId id="755" r:id="rId317"/>
    <p:sldId id="790" r:id="rId318"/>
    <p:sldId id="756" r:id="rId319"/>
    <p:sldId id="758" r:id="rId320"/>
    <p:sldId id="757" r:id="rId321"/>
    <p:sldId id="791" r:id="rId322"/>
    <p:sldId id="759" r:id="rId323"/>
    <p:sldId id="793" r:id="rId324"/>
    <p:sldId id="770" r:id="rId325"/>
    <p:sldId id="771" r:id="rId326"/>
    <p:sldId id="453" r:id="rId327"/>
    <p:sldId id="773" r:id="rId328"/>
    <p:sldId id="787" r:id="rId329"/>
    <p:sldId id="774" r:id="rId330"/>
    <p:sldId id="786" r:id="rId331"/>
    <p:sldId id="785" r:id="rId332"/>
    <p:sldId id="775" r:id="rId333"/>
    <p:sldId id="783" r:id="rId334"/>
    <p:sldId id="784" r:id="rId335"/>
    <p:sldId id="776" r:id="rId336"/>
    <p:sldId id="780" r:id="rId337"/>
    <p:sldId id="781" r:id="rId338"/>
    <p:sldId id="782" r:id="rId339"/>
    <p:sldId id="777" r:id="rId340"/>
    <p:sldId id="788" r:id="rId341"/>
    <p:sldId id="778" r:id="rId342"/>
    <p:sldId id="779" r:id="rId343"/>
    <p:sldId id="768" r:id="rId344"/>
    <p:sldId id="769" r:id="rId345"/>
    <p:sldId id="796" r:id="rId346"/>
    <p:sldId id="772" r:id="rId347"/>
    <p:sldId id="795" r:id="rId348"/>
    <p:sldId id="452" r:id="rId349"/>
    <p:sldId id="276" r:id="rId350"/>
    <p:sldId id="525" r:id="rId351"/>
    <p:sldId id="522" r:id="rId352"/>
    <p:sldId id="526" r:id="rId353"/>
    <p:sldId id="527" r:id="rId354"/>
    <p:sldId id="815" r:id="rId355"/>
    <p:sldId id="802" r:id="rId356"/>
    <p:sldId id="467" r:id="rId357"/>
    <p:sldId id="524" r:id="rId358"/>
    <p:sldId id="810" r:id="rId359"/>
    <p:sldId id="626" r:id="rId360"/>
    <p:sldId id="811" r:id="rId361"/>
    <p:sldId id="528" r:id="rId362"/>
    <p:sldId id="803" r:id="rId363"/>
    <p:sldId id="466" r:id="rId364"/>
    <p:sldId id="804" r:id="rId365"/>
    <p:sldId id="470" r:id="rId366"/>
    <p:sldId id="805" r:id="rId367"/>
    <p:sldId id="825" r:id="rId368"/>
    <p:sldId id="826" r:id="rId369"/>
    <p:sldId id="624" r:id="rId370"/>
    <p:sldId id="806" r:id="rId371"/>
    <p:sldId id="807" r:id="rId372"/>
    <p:sldId id="808" r:id="rId373"/>
    <p:sldId id="809" r:id="rId374"/>
    <p:sldId id="822" r:id="rId375"/>
    <p:sldId id="823" r:id="rId376"/>
    <p:sldId id="824" r:id="rId377"/>
    <p:sldId id="827" r:id="rId378"/>
    <p:sldId id="469" r:id="rId379"/>
    <p:sldId id="817" r:id="rId380"/>
    <p:sldId id="819" r:id="rId381"/>
    <p:sldId id="820" r:id="rId382"/>
    <p:sldId id="821" r:id="rId383"/>
    <p:sldId id="818" r:id="rId384"/>
    <p:sldId id="277" r:id="rId385"/>
    <p:sldId id="530" r:id="rId386"/>
    <p:sldId id="313" r:id="rId387"/>
    <p:sldId id="456" r:id="rId388"/>
    <p:sldId id="798" r:id="rId389"/>
    <p:sldId id="799" r:id="rId390"/>
    <p:sldId id="800" r:id="rId391"/>
    <p:sldId id="801" r:id="rId392"/>
    <p:sldId id="837" r:id="rId393"/>
    <p:sldId id="838" r:id="rId394"/>
    <p:sldId id="455" r:id="rId395"/>
    <p:sldId id="844" r:id="rId396"/>
    <p:sldId id="843" r:id="rId397"/>
    <p:sldId id="842" r:id="rId398"/>
    <p:sldId id="845" r:id="rId399"/>
    <p:sldId id="847" r:id="rId400"/>
    <p:sldId id="846" r:id="rId401"/>
    <p:sldId id="839" r:id="rId402"/>
    <p:sldId id="841" r:id="rId403"/>
    <p:sldId id="263" r:id="rId404"/>
    <p:sldId id="849" r:id="rId405"/>
    <p:sldId id="264" r:id="rId406"/>
    <p:sldId id="461" r:id="rId407"/>
    <p:sldId id="852" r:id="rId408"/>
    <p:sldId id="848" r:id="rId409"/>
    <p:sldId id="853" r:id="rId410"/>
    <p:sldId id="850" r:id="rId411"/>
    <p:sldId id="851" r:id="rId412"/>
    <p:sldId id="457" r:id="rId413"/>
    <p:sldId id="458" r:id="rId414"/>
    <p:sldId id="871" r:id="rId415"/>
    <p:sldId id="459" r:id="rId416"/>
    <p:sldId id="460" r:id="rId417"/>
    <p:sldId id="834" r:id="rId418"/>
    <p:sldId id="833" r:id="rId419"/>
    <p:sldId id="835" r:id="rId420"/>
    <p:sldId id="836" r:id="rId421"/>
    <p:sldId id="828" r:id="rId422"/>
    <p:sldId id="832" r:id="rId423"/>
    <p:sldId id="831" r:id="rId424"/>
    <p:sldId id="829" r:id="rId425"/>
    <p:sldId id="830" r:id="rId426"/>
    <p:sldId id="278" r:id="rId427"/>
    <p:sldId id="531" r:id="rId428"/>
    <p:sldId id="854" r:id="rId429"/>
    <p:sldId id="431" r:id="rId430"/>
    <p:sldId id="390" r:id="rId431"/>
    <p:sldId id="391" r:id="rId432"/>
    <p:sldId id="855" r:id="rId433"/>
    <p:sldId id="435" r:id="rId434"/>
    <p:sldId id="389" r:id="rId435"/>
    <p:sldId id="866" r:id="rId436"/>
    <p:sldId id="857" r:id="rId437"/>
    <p:sldId id="867" r:id="rId438"/>
    <p:sldId id="864" r:id="rId439"/>
    <p:sldId id="858" r:id="rId440"/>
    <p:sldId id="868" r:id="rId441"/>
    <p:sldId id="865" r:id="rId442"/>
    <p:sldId id="869" r:id="rId443"/>
    <p:sldId id="859" r:id="rId444"/>
    <p:sldId id="863" r:id="rId445"/>
    <p:sldId id="862" r:id="rId446"/>
    <p:sldId id="861" r:id="rId447"/>
    <p:sldId id="856" r:id="rId448"/>
    <p:sldId id="471" r:id="rId449"/>
    <p:sldId id="279" r:id="rId450"/>
    <p:sldId id="532" r:id="rId451"/>
    <p:sldId id="463" r:id="rId452"/>
    <p:sldId id="393" r:id="rId453"/>
    <p:sldId id="392" r:id="rId454"/>
    <p:sldId id="462" r:id="rId455"/>
    <p:sldId id="394" r:id="rId456"/>
    <p:sldId id="395" r:id="rId457"/>
    <p:sldId id="396" r:id="rId458"/>
    <p:sldId id="397" r:id="rId459"/>
    <p:sldId id="398" r:id="rId460"/>
    <p:sldId id="464" r:id="rId461"/>
    <p:sldId id="465" r:id="rId462"/>
    <p:sldId id="280" r:id="rId463"/>
    <p:sldId id="533" r:id="rId464"/>
    <p:sldId id="399" r:id="rId465"/>
    <p:sldId id="287" r:id="rId466"/>
    <p:sldId id="288" r:id="rId467"/>
    <p:sldId id="289" r:id="rId468"/>
    <p:sldId id="290" r:id="rId469"/>
    <p:sldId id="281" r:id="rId470"/>
    <p:sldId id="534" r:id="rId471"/>
    <p:sldId id="400" r:id="rId472"/>
    <p:sldId id="402" r:id="rId473"/>
    <p:sldId id="401" r:id="rId474"/>
    <p:sldId id="412" r:id="rId475"/>
    <p:sldId id="472" r:id="rId476"/>
    <p:sldId id="473" r:id="rId477"/>
    <p:sldId id="474" r:id="rId478"/>
    <p:sldId id="367" r:id="rId479"/>
  </p:sldIdLst>
  <p:sldSz cx="12192000" cy="6858000"/>
  <p:notesSz cx="6858000" cy="9144000"/>
  <p:embeddedFontLst>
    <p:embeddedFont>
      <p:font typeface="Cambria Math" panose="02040503050406030204" pitchFamily="18" charset="0"/>
      <p:regular r:id="rId481"/>
    </p:embeddedFont>
    <p:embeddedFont>
      <p:font typeface="Montserrat" panose="00000500000000000000" pitchFamily="2" charset="0"/>
      <p:regular r:id="rId482"/>
    </p:embeddedFont>
    <p:embeddedFont>
      <p:font typeface="Roboto Mono" pitchFamily="2" charset="0"/>
      <p:regular r:id="rId483"/>
      <p:bold r:id="rId484"/>
    </p:embeddedFont>
    <p:embeddedFont>
      <p:font typeface="Segoe UI Black" panose="020B0A02040204020203" pitchFamily="34" charset="0"/>
      <p:bold r:id="rId485"/>
      <p:boldItalic r:id="rId486"/>
    </p:embeddedFont>
    <p:embeddedFont>
      <p:font typeface="等线" panose="02010600030101010101" pitchFamily="2" charset="-122"/>
      <p:regular r:id="rId487"/>
      <p:bold r:id="rId488"/>
    </p:embeddedFont>
    <p:embeddedFont>
      <p:font typeface="微软雅黑" panose="020B0503020204020204" pitchFamily="34" charset="-122"/>
      <p:regular r:id="rId489"/>
      <p:bold r:id="rId490"/>
    </p:embeddedFont>
    <p:embeddedFont>
      <p:font typeface="幼圆" panose="02010509060101010101" pitchFamily="49" charset="-122"/>
      <p:regular r:id="rId491"/>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n plaman" initials="cp" lastIdx="1" clrIdx="0">
    <p:extLst>
      <p:ext uri="{19B8F6BF-5375-455C-9EA6-DF929625EA0E}">
        <p15:presenceInfo xmlns:p15="http://schemas.microsoft.com/office/powerpoint/2012/main" userId="8aa05d9b0cace1d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85A9"/>
    <a:srgbClr val="0197CF"/>
    <a:srgbClr val="FFB973"/>
    <a:srgbClr val="39E4FF"/>
    <a:srgbClr val="DA7337"/>
    <a:srgbClr val="174565"/>
    <a:srgbClr val="FFFFFF"/>
    <a:srgbClr val="37E385"/>
    <a:srgbClr val="029745"/>
    <a:srgbClr val="92D0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48" autoAdjust="0"/>
    <p:restoredTop sz="88166" autoAdjust="0"/>
  </p:normalViewPr>
  <p:slideViewPr>
    <p:cSldViewPr snapToGrid="0">
      <p:cViewPr>
        <p:scale>
          <a:sx n="140" d="100"/>
          <a:sy n="140" d="100"/>
        </p:scale>
        <p:origin x="-1506" y="-336"/>
      </p:cViewPr>
      <p:guideLst/>
    </p:cSldViewPr>
  </p:slideViewPr>
  <p:outlineViewPr>
    <p:cViewPr>
      <p:scale>
        <a:sx n="33" d="100"/>
        <a:sy n="33" d="100"/>
      </p:scale>
      <p:origin x="0" y="-30726"/>
    </p:cViewPr>
  </p:outlineViewPr>
  <p:notesTextViewPr>
    <p:cViewPr>
      <p:scale>
        <a:sx n="1" d="1"/>
        <a:sy n="1" d="1"/>
      </p:scale>
      <p:origin x="0" y="0"/>
    </p:cViewPr>
  </p:notesTextViewPr>
  <p:sorterViewPr>
    <p:cViewPr>
      <p:scale>
        <a:sx n="100" d="100"/>
        <a:sy n="100" d="100"/>
      </p:scale>
      <p:origin x="0" y="-29268"/>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324" Type="http://schemas.openxmlformats.org/officeDocument/2006/relationships/slide" Target="slides/slide323.xml"/><Relationship Id="rId366" Type="http://schemas.openxmlformats.org/officeDocument/2006/relationships/slide" Target="slides/slide365.xml"/><Relationship Id="rId170" Type="http://schemas.openxmlformats.org/officeDocument/2006/relationships/slide" Target="slides/slide169.xml"/><Relationship Id="rId226" Type="http://schemas.openxmlformats.org/officeDocument/2006/relationships/slide" Target="slides/slide225.xml"/><Relationship Id="rId433" Type="http://schemas.openxmlformats.org/officeDocument/2006/relationships/slide" Target="slides/slide432.xml"/><Relationship Id="rId268" Type="http://schemas.openxmlformats.org/officeDocument/2006/relationships/slide" Target="slides/slide267.xml"/><Relationship Id="rId475" Type="http://schemas.openxmlformats.org/officeDocument/2006/relationships/slide" Target="slides/slide474.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335" Type="http://schemas.openxmlformats.org/officeDocument/2006/relationships/slide" Target="slides/slide334.xml"/><Relationship Id="rId377" Type="http://schemas.openxmlformats.org/officeDocument/2006/relationships/slide" Target="slides/slide376.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402" Type="http://schemas.openxmlformats.org/officeDocument/2006/relationships/slide" Target="slides/slide401.xml"/><Relationship Id="rId279" Type="http://schemas.openxmlformats.org/officeDocument/2006/relationships/slide" Target="slides/slide278.xml"/><Relationship Id="rId444" Type="http://schemas.openxmlformats.org/officeDocument/2006/relationships/slide" Target="slides/slide443.xml"/><Relationship Id="rId486" Type="http://schemas.openxmlformats.org/officeDocument/2006/relationships/font" Target="fonts/font6.fntdata"/><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346" Type="http://schemas.openxmlformats.org/officeDocument/2006/relationships/slide" Target="slides/slide345.xml"/><Relationship Id="rId388" Type="http://schemas.openxmlformats.org/officeDocument/2006/relationships/slide" Target="slides/slide387.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413" Type="http://schemas.openxmlformats.org/officeDocument/2006/relationships/slide" Target="slides/slide412.xml"/><Relationship Id="rId248" Type="http://schemas.openxmlformats.org/officeDocument/2006/relationships/slide" Target="slides/slide247.xml"/><Relationship Id="rId455" Type="http://schemas.openxmlformats.org/officeDocument/2006/relationships/slide" Target="slides/slide454.xml"/><Relationship Id="rId12" Type="http://schemas.openxmlformats.org/officeDocument/2006/relationships/slide" Target="slides/slide11.xml"/><Relationship Id="rId108" Type="http://schemas.openxmlformats.org/officeDocument/2006/relationships/slide" Target="slides/slide107.xml"/><Relationship Id="rId315" Type="http://schemas.openxmlformats.org/officeDocument/2006/relationships/slide" Target="slides/slide314.xml"/><Relationship Id="rId357" Type="http://schemas.openxmlformats.org/officeDocument/2006/relationships/slide" Target="slides/slide356.xml"/><Relationship Id="rId54" Type="http://schemas.openxmlformats.org/officeDocument/2006/relationships/slide" Target="slides/slide53.xml"/><Relationship Id="rId96" Type="http://schemas.openxmlformats.org/officeDocument/2006/relationships/slide" Target="slides/slide95.xml"/><Relationship Id="rId161" Type="http://schemas.openxmlformats.org/officeDocument/2006/relationships/slide" Target="slides/slide160.xml"/><Relationship Id="rId217" Type="http://schemas.openxmlformats.org/officeDocument/2006/relationships/slide" Target="slides/slide216.xml"/><Relationship Id="rId399" Type="http://schemas.openxmlformats.org/officeDocument/2006/relationships/slide" Target="slides/slide398.xml"/><Relationship Id="rId259" Type="http://schemas.openxmlformats.org/officeDocument/2006/relationships/slide" Target="slides/slide258.xml"/><Relationship Id="rId424" Type="http://schemas.openxmlformats.org/officeDocument/2006/relationships/slide" Target="slides/slide423.xml"/><Relationship Id="rId466" Type="http://schemas.openxmlformats.org/officeDocument/2006/relationships/slide" Target="slides/slide465.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326" Type="http://schemas.openxmlformats.org/officeDocument/2006/relationships/slide" Target="slides/slide325.xml"/><Relationship Id="rId65" Type="http://schemas.openxmlformats.org/officeDocument/2006/relationships/slide" Target="slides/slide64.xml"/><Relationship Id="rId130" Type="http://schemas.openxmlformats.org/officeDocument/2006/relationships/slide" Target="slides/slide129.xml"/><Relationship Id="rId368" Type="http://schemas.openxmlformats.org/officeDocument/2006/relationships/slide" Target="slides/slide367.xml"/><Relationship Id="rId172" Type="http://schemas.openxmlformats.org/officeDocument/2006/relationships/slide" Target="slides/slide171.xml"/><Relationship Id="rId228" Type="http://schemas.openxmlformats.org/officeDocument/2006/relationships/slide" Target="slides/slide227.xml"/><Relationship Id="rId435" Type="http://schemas.openxmlformats.org/officeDocument/2006/relationships/slide" Target="slides/slide434.xml"/><Relationship Id="rId477" Type="http://schemas.openxmlformats.org/officeDocument/2006/relationships/slide" Target="slides/slide476.xml"/><Relationship Id="rId281" Type="http://schemas.openxmlformats.org/officeDocument/2006/relationships/slide" Target="slides/slide280.xml"/><Relationship Id="rId337" Type="http://schemas.openxmlformats.org/officeDocument/2006/relationships/slide" Target="slides/slide336.xml"/><Relationship Id="rId34" Type="http://schemas.openxmlformats.org/officeDocument/2006/relationships/slide" Target="slides/slide33.xml"/><Relationship Id="rId76" Type="http://schemas.openxmlformats.org/officeDocument/2006/relationships/slide" Target="slides/slide75.xml"/><Relationship Id="rId141" Type="http://schemas.openxmlformats.org/officeDocument/2006/relationships/slide" Target="slides/slide140.xml"/><Relationship Id="rId379" Type="http://schemas.openxmlformats.org/officeDocument/2006/relationships/slide" Target="slides/slide378.xml"/><Relationship Id="rId7" Type="http://schemas.openxmlformats.org/officeDocument/2006/relationships/slide" Target="slides/slide6.xml"/><Relationship Id="rId183" Type="http://schemas.openxmlformats.org/officeDocument/2006/relationships/slide" Target="slides/slide182.xml"/><Relationship Id="rId239" Type="http://schemas.openxmlformats.org/officeDocument/2006/relationships/slide" Target="slides/slide238.xml"/><Relationship Id="rId390" Type="http://schemas.openxmlformats.org/officeDocument/2006/relationships/slide" Target="slides/slide389.xml"/><Relationship Id="rId404" Type="http://schemas.openxmlformats.org/officeDocument/2006/relationships/slide" Target="slides/slide403.xml"/><Relationship Id="rId446" Type="http://schemas.openxmlformats.org/officeDocument/2006/relationships/slide" Target="slides/slide445.xml"/><Relationship Id="rId250" Type="http://schemas.openxmlformats.org/officeDocument/2006/relationships/slide" Target="slides/slide249.xml"/><Relationship Id="rId292" Type="http://schemas.openxmlformats.org/officeDocument/2006/relationships/slide" Target="slides/slide291.xml"/><Relationship Id="rId306" Type="http://schemas.openxmlformats.org/officeDocument/2006/relationships/slide" Target="slides/slide305.xml"/><Relationship Id="rId488" Type="http://schemas.openxmlformats.org/officeDocument/2006/relationships/font" Target="fonts/font8.fntdata"/><Relationship Id="rId45" Type="http://schemas.openxmlformats.org/officeDocument/2006/relationships/slide" Target="slides/slide44.xml"/><Relationship Id="rId87" Type="http://schemas.openxmlformats.org/officeDocument/2006/relationships/slide" Target="slides/slide86.xml"/><Relationship Id="rId110" Type="http://schemas.openxmlformats.org/officeDocument/2006/relationships/slide" Target="slides/slide109.xml"/><Relationship Id="rId348" Type="http://schemas.openxmlformats.org/officeDocument/2006/relationships/slide" Target="slides/slide347.xml"/><Relationship Id="rId152" Type="http://schemas.openxmlformats.org/officeDocument/2006/relationships/slide" Target="slides/slide151.xml"/><Relationship Id="rId194" Type="http://schemas.openxmlformats.org/officeDocument/2006/relationships/slide" Target="slides/slide193.xml"/><Relationship Id="rId208" Type="http://schemas.openxmlformats.org/officeDocument/2006/relationships/slide" Target="slides/slide207.xml"/><Relationship Id="rId415" Type="http://schemas.openxmlformats.org/officeDocument/2006/relationships/slide" Target="slides/slide414.xml"/><Relationship Id="rId457" Type="http://schemas.openxmlformats.org/officeDocument/2006/relationships/slide" Target="slides/slide456.xml"/><Relationship Id="rId261" Type="http://schemas.openxmlformats.org/officeDocument/2006/relationships/slide" Target="slides/slide260.xml"/><Relationship Id="rId14" Type="http://schemas.openxmlformats.org/officeDocument/2006/relationships/slide" Target="slides/slide13.xml"/><Relationship Id="rId56" Type="http://schemas.openxmlformats.org/officeDocument/2006/relationships/slide" Target="slides/slide55.xml"/><Relationship Id="rId317" Type="http://schemas.openxmlformats.org/officeDocument/2006/relationships/slide" Target="slides/slide316.xml"/><Relationship Id="rId359" Type="http://schemas.openxmlformats.org/officeDocument/2006/relationships/slide" Target="slides/slide358.xml"/><Relationship Id="rId98" Type="http://schemas.openxmlformats.org/officeDocument/2006/relationships/slide" Target="slides/slide97.xml"/><Relationship Id="rId121" Type="http://schemas.openxmlformats.org/officeDocument/2006/relationships/slide" Target="slides/slide120.xml"/><Relationship Id="rId163" Type="http://schemas.openxmlformats.org/officeDocument/2006/relationships/slide" Target="slides/slide162.xml"/><Relationship Id="rId219" Type="http://schemas.openxmlformats.org/officeDocument/2006/relationships/slide" Target="slides/slide218.xml"/><Relationship Id="rId370" Type="http://schemas.openxmlformats.org/officeDocument/2006/relationships/slide" Target="slides/slide369.xml"/><Relationship Id="rId426" Type="http://schemas.openxmlformats.org/officeDocument/2006/relationships/slide" Target="slides/slide425.xml"/><Relationship Id="rId230" Type="http://schemas.openxmlformats.org/officeDocument/2006/relationships/slide" Target="slides/slide229.xml"/><Relationship Id="rId468" Type="http://schemas.openxmlformats.org/officeDocument/2006/relationships/slide" Target="slides/slide467.xml"/><Relationship Id="rId25" Type="http://schemas.openxmlformats.org/officeDocument/2006/relationships/slide" Target="slides/slide24.xml"/><Relationship Id="rId67" Type="http://schemas.openxmlformats.org/officeDocument/2006/relationships/slide" Target="slides/slide66.xml"/><Relationship Id="rId272" Type="http://schemas.openxmlformats.org/officeDocument/2006/relationships/slide" Target="slides/slide271.xml"/><Relationship Id="rId328" Type="http://schemas.openxmlformats.org/officeDocument/2006/relationships/slide" Target="slides/slide327.xml"/><Relationship Id="rId132" Type="http://schemas.openxmlformats.org/officeDocument/2006/relationships/slide" Target="slides/slide131.xml"/><Relationship Id="rId174" Type="http://schemas.openxmlformats.org/officeDocument/2006/relationships/slide" Target="slides/slide173.xml"/><Relationship Id="rId381" Type="http://schemas.openxmlformats.org/officeDocument/2006/relationships/slide" Target="slides/slide380.xml"/><Relationship Id="rId241" Type="http://schemas.openxmlformats.org/officeDocument/2006/relationships/slide" Target="slides/slide240.xml"/><Relationship Id="rId437" Type="http://schemas.openxmlformats.org/officeDocument/2006/relationships/slide" Target="slides/slide436.xml"/><Relationship Id="rId479" Type="http://schemas.openxmlformats.org/officeDocument/2006/relationships/slide" Target="slides/slide478.xml"/><Relationship Id="rId36" Type="http://schemas.openxmlformats.org/officeDocument/2006/relationships/slide" Target="slides/slide35.xml"/><Relationship Id="rId283" Type="http://schemas.openxmlformats.org/officeDocument/2006/relationships/slide" Target="slides/slide282.xml"/><Relationship Id="rId339" Type="http://schemas.openxmlformats.org/officeDocument/2006/relationships/slide" Target="slides/slide338.xml"/><Relationship Id="rId490" Type="http://schemas.openxmlformats.org/officeDocument/2006/relationships/font" Target="fonts/font10.fntdata"/><Relationship Id="rId78" Type="http://schemas.openxmlformats.org/officeDocument/2006/relationships/slide" Target="slides/slide77.xml"/><Relationship Id="rId101" Type="http://schemas.openxmlformats.org/officeDocument/2006/relationships/slide" Target="slides/slide100.xml"/><Relationship Id="rId143" Type="http://schemas.openxmlformats.org/officeDocument/2006/relationships/slide" Target="slides/slide142.xml"/><Relationship Id="rId185" Type="http://schemas.openxmlformats.org/officeDocument/2006/relationships/slide" Target="slides/slide184.xml"/><Relationship Id="rId350" Type="http://schemas.openxmlformats.org/officeDocument/2006/relationships/slide" Target="slides/slide349.xml"/><Relationship Id="rId406" Type="http://schemas.openxmlformats.org/officeDocument/2006/relationships/slide" Target="slides/slide405.xml"/><Relationship Id="rId9" Type="http://schemas.openxmlformats.org/officeDocument/2006/relationships/slide" Target="slides/slide8.xml"/><Relationship Id="rId210" Type="http://schemas.openxmlformats.org/officeDocument/2006/relationships/slide" Target="slides/slide209.xml"/><Relationship Id="rId392" Type="http://schemas.openxmlformats.org/officeDocument/2006/relationships/slide" Target="slides/slide391.xml"/><Relationship Id="rId448" Type="http://schemas.openxmlformats.org/officeDocument/2006/relationships/slide" Target="slides/slide447.xml"/><Relationship Id="rId252" Type="http://schemas.openxmlformats.org/officeDocument/2006/relationships/slide" Target="slides/slide251.xml"/><Relationship Id="rId294" Type="http://schemas.openxmlformats.org/officeDocument/2006/relationships/slide" Target="slides/slide293.xml"/><Relationship Id="rId308" Type="http://schemas.openxmlformats.org/officeDocument/2006/relationships/slide" Target="slides/slide307.xml"/><Relationship Id="rId47" Type="http://schemas.openxmlformats.org/officeDocument/2006/relationships/slide" Target="slides/slide46.xml"/><Relationship Id="rId89" Type="http://schemas.openxmlformats.org/officeDocument/2006/relationships/slide" Target="slides/slide88.xml"/><Relationship Id="rId112" Type="http://schemas.openxmlformats.org/officeDocument/2006/relationships/slide" Target="slides/slide111.xml"/><Relationship Id="rId154" Type="http://schemas.openxmlformats.org/officeDocument/2006/relationships/slide" Target="slides/slide153.xml"/><Relationship Id="rId361" Type="http://schemas.openxmlformats.org/officeDocument/2006/relationships/slide" Target="slides/slide360.xml"/><Relationship Id="rId196" Type="http://schemas.openxmlformats.org/officeDocument/2006/relationships/slide" Target="slides/slide195.xml"/><Relationship Id="rId417" Type="http://schemas.openxmlformats.org/officeDocument/2006/relationships/slide" Target="slides/slide416.xml"/><Relationship Id="rId459" Type="http://schemas.openxmlformats.org/officeDocument/2006/relationships/slide" Target="slides/slide458.xml"/><Relationship Id="rId16" Type="http://schemas.openxmlformats.org/officeDocument/2006/relationships/slide" Target="slides/slide15.xml"/><Relationship Id="rId221" Type="http://schemas.openxmlformats.org/officeDocument/2006/relationships/slide" Target="slides/slide220.xml"/><Relationship Id="rId263" Type="http://schemas.openxmlformats.org/officeDocument/2006/relationships/slide" Target="slides/slide262.xml"/><Relationship Id="rId319" Type="http://schemas.openxmlformats.org/officeDocument/2006/relationships/slide" Target="slides/slide318.xml"/><Relationship Id="rId470" Type="http://schemas.openxmlformats.org/officeDocument/2006/relationships/slide" Target="slides/slide469.xml"/><Relationship Id="rId58" Type="http://schemas.openxmlformats.org/officeDocument/2006/relationships/slide" Target="slides/slide57.xml"/><Relationship Id="rId123" Type="http://schemas.openxmlformats.org/officeDocument/2006/relationships/slide" Target="slides/slide122.xml"/><Relationship Id="rId330" Type="http://schemas.openxmlformats.org/officeDocument/2006/relationships/slide" Target="slides/slide329.xml"/><Relationship Id="rId165" Type="http://schemas.openxmlformats.org/officeDocument/2006/relationships/slide" Target="slides/slide164.xml"/><Relationship Id="rId372" Type="http://schemas.openxmlformats.org/officeDocument/2006/relationships/slide" Target="slides/slide371.xml"/><Relationship Id="rId428" Type="http://schemas.openxmlformats.org/officeDocument/2006/relationships/slide" Target="slides/slide427.xml"/><Relationship Id="rId232" Type="http://schemas.openxmlformats.org/officeDocument/2006/relationships/slide" Target="slides/slide231.xml"/><Relationship Id="rId274" Type="http://schemas.openxmlformats.org/officeDocument/2006/relationships/slide" Target="slides/slide273.xml"/><Relationship Id="rId481" Type="http://schemas.openxmlformats.org/officeDocument/2006/relationships/font" Target="fonts/font1.fntdata"/><Relationship Id="rId27" Type="http://schemas.openxmlformats.org/officeDocument/2006/relationships/slide" Target="slides/slide26.xml"/><Relationship Id="rId69" Type="http://schemas.openxmlformats.org/officeDocument/2006/relationships/slide" Target="slides/slide68.xml"/><Relationship Id="rId134" Type="http://schemas.openxmlformats.org/officeDocument/2006/relationships/slide" Target="slides/slide133.xml"/><Relationship Id="rId80" Type="http://schemas.openxmlformats.org/officeDocument/2006/relationships/slide" Target="slides/slide79.xml"/><Relationship Id="rId176" Type="http://schemas.openxmlformats.org/officeDocument/2006/relationships/slide" Target="slides/slide175.xml"/><Relationship Id="rId341" Type="http://schemas.openxmlformats.org/officeDocument/2006/relationships/slide" Target="slides/slide340.xml"/><Relationship Id="rId383" Type="http://schemas.openxmlformats.org/officeDocument/2006/relationships/slide" Target="slides/slide382.xml"/><Relationship Id="rId439" Type="http://schemas.openxmlformats.org/officeDocument/2006/relationships/slide" Target="slides/slide438.xml"/><Relationship Id="rId201" Type="http://schemas.openxmlformats.org/officeDocument/2006/relationships/slide" Target="slides/slide200.xml"/><Relationship Id="rId243" Type="http://schemas.openxmlformats.org/officeDocument/2006/relationships/slide" Target="slides/slide242.xml"/><Relationship Id="rId285" Type="http://schemas.openxmlformats.org/officeDocument/2006/relationships/slide" Target="slides/slide284.xml"/><Relationship Id="rId450" Type="http://schemas.openxmlformats.org/officeDocument/2006/relationships/slide" Target="slides/slide449.xml"/><Relationship Id="rId38" Type="http://schemas.openxmlformats.org/officeDocument/2006/relationships/slide" Target="slides/slide37.xml"/><Relationship Id="rId103" Type="http://schemas.openxmlformats.org/officeDocument/2006/relationships/slide" Target="slides/slide102.xml"/><Relationship Id="rId310" Type="http://schemas.openxmlformats.org/officeDocument/2006/relationships/slide" Target="slides/slide309.xml"/><Relationship Id="rId492" Type="http://schemas.openxmlformats.org/officeDocument/2006/relationships/commentAuthors" Target="commentAuthors.xml"/><Relationship Id="rId91" Type="http://schemas.openxmlformats.org/officeDocument/2006/relationships/slide" Target="slides/slide90.xml"/><Relationship Id="rId145" Type="http://schemas.openxmlformats.org/officeDocument/2006/relationships/slide" Target="slides/slide144.xml"/><Relationship Id="rId187" Type="http://schemas.openxmlformats.org/officeDocument/2006/relationships/slide" Target="slides/slide186.xml"/><Relationship Id="rId352" Type="http://schemas.openxmlformats.org/officeDocument/2006/relationships/slide" Target="slides/slide351.xml"/><Relationship Id="rId394" Type="http://schemas.openxmlformats.org/officeDocument/2006/relationships/slide" Target="slides/slide393.xml"/><Relationship Id="rId408" Type="http://schemas.openxmlformats.org/officeDocument/2006/relationships/slide" Target="slides/slide407.xml"/><Relationship Id="rId212" Type="http://schemas.openxmlformats.org/officeDocument/2006/relationships/slide" Target="slides/slide211.xml"/><Relationship Id="rId254" Type="http://schemas.openxmlformats.org/officeDocument/2006/relationships/slide" Target="slides/slide253.xml"/><Relationship Id="rId49" Type="http://schemas.openxmlformats.org/officeDocument/2006/relationships/slide" Target="slides/slide48.xml"/><Relationship Id="rId114" Type="http://schemas.openxmlformats.org/officeDocument/2006/relationships/slide" Target="slides/slide113.xml"/><Relationship Id="rId296" Type="http://schemas.openxmlformats.org/officeDocument/2006/relationships/slide" Target="slides/slide295.xml"/><Relationship Id="rId461" Type="http://schemas.openxmlformats.org/officeDocument/2006/relationships/slide" Target="slides/slide460.xml"/><Relationship Id="rId60" Type="http://schemas.openxmlformats.org/officeDocument/2006/relationships/slide" Target="slides/slide59.xml"/><Relationship Id="rId156" Type="http://schemas.openxmlformats.org/officeDocument/2006/relationships/slide" Target="slides/slide155.xml"/><Relationship Id="rId198" Type="http://schemas.openxmlformats.org/officeDocument/2006/relationships/slide" Target="slides/slide197.xml"/><Relationship Id="rId321" Type="http://schemas.openxmlformats.org/officeDocument/2006/relationships/slide" Target="slides/slide320.xml"/><Relationship Id="rId363" Type="http://schemas.openxmlformats.org/officeDocument/2006/relationships/slide" Target="slides/slide362.xml"/><Relationship Id="rId419" Type="http://schemas.openxmlformats.org/officeDocument/2006/relationships/slide" Target="slides/slide418.xml"/><Relationship Id="rId223" Type="http://schemas.openxmlformats.org/officeDocument/2006/relationships/slide" Target="slides/slide222.xml"/><Relationship Id="rId430" Type="http://schemas.openxmlformats.org/officeDocument/2006/relationships/slide" Target="slides/slide429.xml"/><Relationship Id="rId18" Type="http://schemas.openxmlformats.org/officeDocument/2006/relationships/slide" Target="slides/slide17.xml"/><Relationship Id="rId265" Type="http://schemas.openxmlformats.org/officeDocument/2006/relationships/slide" Target="slides/slide264.xml"/><Relationship Id="rId472" Type="http://schemas.openxmlformats.org/officeDocument/2006/relationships/slide" Target="slides/slide471.xml"/><Relationship Id="rId125" Type="http://schemas.openxmlformats.org/officeDocument/2006/relationships/slide" Target="slides/slide124.xml"/><Relationship Id="rId167" Type="http://schemas.openxmlformats.org/officeDocument/2006/relationships/slide" Target="slides/slide166.xml"/><Relationship Id="rId332" Type="http://schemas.openxmlformats.org/officeDocument/2006/relationships/slide" Target="slides/slide331.xml"/><Relationship Id="rId374" Type="http://schemas.openxmlformats.org/officeDocument/2006/relationships/slide" Target="slides/slide373.xml"/><Relationship Id="rId71" Type="http://schemas.openxmlformats.org/officeDocument/2006/relationships/slide" Target="slides/slide70.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76" Type="http://schemas.openxmlformats.org/officeDocument/2006/relationships/slide" Target="slides/slide275.xml"/><Relationship Id="rId441" Type="http://schemas.openxmlformats.org/officeDocument/2006/relationships/slide" Target="slides/slide440.xml"/><Relationship Id="rId483" Type="http://schemas.openxmlformats.org/officeDocument/2006/relationships/font" Target="fonts/font3.fntdata"/><Relationship Id="rId40" Type="http://schemas.openxmlformats.org/officeDocument/2006/relationships/slide" Target="slides/slide39.xml"/><Relationship Id="rId136" Type="http://schemas.openxmlformats.org/officeDocument/2006/relationships/slide" Target="slides/slide135.xml"/><Relationship Id="rId178" Type="http://schemas.openxmlformats.org/officeDocument/2006/relationships/slide" Target="slides/slide177.xml"/><Relationship Id="rId301" Type="http://schemas.openxmlformats.org/officeDocument/2006/relationships/slide" Target="slides/slide300.xml"/><Relationship Id="rId343" Type="http://schemas.openxmlformats.org/officeDocument/2006/relationships/slide" Target="slides/slide342.xml"/><Relationship Id="rId82" Type="http://schemas.openxmlformats.org/officeDocument/2006/relationships/slide" Target="slides/slide81.xml"/><Relationship Id="rId203" Type="http://schemas.openxmlformats.org/officeDocument/2006/relationships/slide" Target="slides/slide202.xml"/><Relationship Id="rId385" Type="http://schemas.openxmlformats.org/officeDocument/2006/relationships/slide" Target="slides/slide384.xml"/><Relationship Id="rId245" Type="http://schemas.openxmlformats.org/officeDocument/2006/relationships/slide" Target="slides/slide244.xml"/><Relationship Id="rId287" Type="http://schemas.openxmlformats.org/officeDocument/2006/relationships/slide" Target="slides/slide286.xml"/><Relationship Id="rId410" Type="http://schemas.openxmlformats.org/officeDocument/2006/relationships/slide" Target="slides/slide409.xml"/><Relationship Id="rId452" Type="http://schemas.openxmlformats.org/officeDocument/2006/relationships/slide" Target="slides/slide451.xml"/><Relationship Id="rId494" Type="http://schemas.openxmlformats.org/officeDocument/2006/relationships/viewProps" Target="viewProps.xml"/><Relationship Id="rId105" Type="http://schemas.openxmlformats.org/officeDocument/2006/relationships/slide" Target="slides/slide104.xml"/><Relationship Id="rId147" Type="http://schemas.openxmlformats.org/officeDocument/2006/relationships/slide" Target="slides/slide146.xml"/><Relationship Id="rId312" Type="http://schemas.openxmlformats.org/officeDocument/2006/relationships/slide" Target="slides/slide311.xml"/><Relationship Id="rId354" Type="http://schemas.openxmlformats.org/officeDocument/2006/relationships/slide" Target="slides/slide353.xml"/><Relationship Id="rId51" Type="http://schemas.openxmlformats.org/officeDocument/2006/relationships/slide" Target="slides/slide50.xml"/><Relationship Id="rId93" Type="http://schemas.openxmlformats.org/officeDocument/2006/relationships/slide" Target="slides/slide92.xml"/><Relationship Id="rId189" Type="http://schemas.openxmlformats.org/officeDocument/2006/relationships/slide" Target="slides/slide188.xml"/><Relationship Id="rId396" Type="http://schemas.openxmlformats.org/officeDocument/2006/relationships/slide" Target="slides/slide395.xml"/><Relationship Id="rId214" Type="http://schemas.openxmlformats.org/officeDocument/2006/relationships/slide" Target="slides/slide213.xml"/><Relationship Id="rId256" Type="http://schemas.openxmlformats.org/officeDocument/2006/relationships/slide" Target="slides/slide255.xml"/><Relationship Id="rId298" Type="http://schemas.openxmlformats.org/officeDocument/2006/relationships/slide" Target="slides/slide297.xml"/><Relationship Id="rId421" Type="http://schemas.openxmlformats.org/officeDocument/2006/relationships/slide" Target="slides/slide420.xml"/><Relationship Id="rId463" Type="http://schemas.openxmlformats.org/officeDocument/2006/relationships/slide" Target="slides/slide462.xml"/><Relationship Id="rId116" Type="http://schemas.openxmlformats.org/officeDocument/2006/relationships/slide" Target="slides/slide115.xml"/><Relationship Id="rId158" Type="http://schemas.openxmlformats.org/officeDocument/2006/relationships/slide" Target="slides/slide157.xml"/><Relationship Id="rId323" Type="http://schemas.openxmlformats.org/officeDocument/2006/relationships/slide" Target="slides/slide322.xml"/><Relationship Id="rId20" Type="http://schemas.openxmlformats.org/officeDocument/2006/relationships/slide" Target="slides/slide19.xml"/><Relationship Id="rId62" Type="http://schemas.openxmlformats.org/officeDocument/2006/relationships/slide" Target="slides/slide61.xml"/><Relationship Id="rId365" Type="http://schemas.openxmlformats.org/officeDocument/2006/relationships/slide" Target="slides/slide364.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411" Type="http://schemas.openxmlformats.org/officeDocument/2006/relationships/slide" Target="slides/slide410.xml"/><Relationship Id="rId432" Type="http://schemas.openxmlformats.org/officeDocument/2006/relationships/slide" Target="slides/slide431.xml"/><Relationship Id="rId453" Type="http://schemas.openxmlformats.org/officeDocument/2006/relationships/slide" Target="slides/slide452.xml"/><Relationship Id="rId474" Type="http://schemas.openxmlformats.org/officeDocument/2006/relationships/slide" Target="slides/slide473.xml"/><Relationship Id="rId106" Type="http://schemas.openxmlformats.org/officeDocument/2006/relationships/slide" Target="slides/slide105.xml"/><Relationship Id="rId127" Type="http://schemas.openxmlformats.org/officeDocument/2006/relationships/slide" Target="slides/slide126.xml"/><Relationship Id="rId313" Type="http://schemas.openxmlformats.org/officeDocument/2006/relationships/slide" Target="slides/slide312.xml"/><Relationship Id="rId495"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334" Type="http://schemas.openxmlformats.org/officeDocument/2006/relationships/slide" Target="slides/slide333.xml"/><Relationship Id="rId355" Type="http://schemas.openxmlformats.org/officeDocument/2006/relationships/slide" Target="slides/slide354.xml"/><Relationship Id="rId376" Type="http://schemas.openxmlformats.org/officeDocument/2006/relationships/slide" Target="slides/slide375.xml"/><Relationship Id="rId397" Type="http://schemas.openxmlformats.org/officeDocument/2006/relationships/slide" Target="slides/slide396.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401" Type="http://schemas.openxmlformats.org/officeDocument/2006/relationships/slide" Target="slides/slide400.xml"/><Relationship Id="rId422" Type="http://schemas.openxmlformats.org/officeDocument/2006/relationships/slide" Target="slides/slide421.xml"/><Relationship Id="rId443" Type="http://schemas.openxmlformats.org/officeDocument/2006/relationships/slide" Target="slides/slide442.xml"/><Relationship Id="rId464" Type="http://schemas.openxmlformats.org/officeDocument/2006/relationships/slide" Target="slides/slide463.xml"/><Relationship Id="rId303" Type="http://schemas.openxmlformats.org/officeDocument/2006/relationships/slide" Target="slides/slide302.xml"/><Relationship Id="rId485" Type="http://schemas.openxmlformats.org/officeDocument/2006/relationships/font" Target="fonts/font5.fntdata"/><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345" Type="http://schemas.openxmlformats.org/officeDocument/2006/relationships/slide" Target="slides/slide344.xml"/><Relationship Id="rId387" Type="http://schemas.openxmlformats.org/officeDocument/2006/relationships/slide" Target="slides/slide386.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412" Type="http://schemas.openxmlformats.org/officeDocument/2006/relationships/slide" Target="slides/slide411.xml"/><Relationship Id="rId107" Type="http://schemas.openxmlformats.org/officeDocument/2006/relationships/slide" Target="slides/slide106.xml"/><Relationship Id="rId289" Type="http://schemas.openxmlformats.org/officeDocument/2006/relationships/slide" Target="slides/slide288.xml"/><Relationship Id="rId454" Type="http://schemas.openxmlformats.org/officeDocument/2006/relationships/slide" Target="slides/slide453.xml"/><Relationship Id="rId496" Type="http://schemas.openxmlformats.org/officeDocument/2006/relationships/tableStyles" Target="tableStyles.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314" Type="http://schemas.openxmlformats.org/officeDocument/2006/relationships/slide" Target="slides/slide313.xml"/><Relationship Id="rId356" Type="http://schemas.openxmlformats.org/officeDocument/2006/relationships/slide" Target="slides/slide355.xml"/><Relationship Id="rId398" Type="http://schemas.openxmlformats.org/officeDocument/2006/relationships/slide" Target="slides/slide397.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423" Type="http://schemas.openxmlformats.org/officeDocument/2006/relationships/slide" Target="slides/slide422.xml"/><Relationship Id="rId258" Type="http://schemas.openxmlformats.org/officeDocument/2006/relationships/slide" Target="slides/slide257.xml"/><Relationship Id="rId465" Type="http://schemas.openxmlformats.org/officeDocument/2006/relationships/slide" Target="slides/slide464.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325" Type="http://schemas.openxmlformats.org/officeDocument/2006/relationships/slide" Target="slides/slide324.xml"/><Relationship Id="rId367" Type="http://schemas.openxmlformats.org/officeDocument/2006/relationships/slide" Target="slides/slide366.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434" Type="http://schemas.openxmlformats.org/officeDocument/2006/relationships/slide" Target="slides/slide433.xml"/><Relationship Id="rId476" Type="http://schemas.openxmlformats.org/officeDocument/2006/relationships/slide" Target="slides/slide475.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 Id="rId336" Type="http://schemas.openxmlformats.org/officeDocument/2006/relationships/slide" Target="slides/slide335.xml"/><Relationship Id="rId75" Type="http://schemas.openxmlformats.org/officeDocument/2006/relationships/slide" Target="slides/slide74.xml"/><Relationship Id="rId140" Type="http://schemas.openxmlformats.org/officeDocument/2006/relationships/slide" Target="slides/slide139.xml"/><Relationship Id="rId182" Type="http://schemas.openxmlformats.org/officeDocument/2006/relationships/slide" Target="slides/slide181.xml"/><Relationship Id="rId378" Type="http://schemas.openxmlformats.org/officeDocument/2006/relationships/slide" Target="slides/slide377.xml"/><Relationship Id="rId403" Type="http://schemas.openxmlformats.org/officeDocument/2006/relationships/slide" Target="slides/slide402.xml"/><Relationship Id="rId6" Type="http://schemas.openxmlformats.org/officeDocument/2006/relationships/slide" Target="slides/slide5.xml"/><Relationship Id="rId238" Type="http://schemas.openxmlformats.org/officeDocument/2006/relationships/slide" Target="slides/slide237.xml"/><Relationship Id="rId445" Type="http://schemas.openxmlformats.org/officeDocument/2006/relationships/slide" Target="slides/slide444.xml"/><Relationship Id="rId487" Type="http://schemas.openxmlformats.org/officeDocument/2006/relationships/font" Target="fonts/font7.fntdata"/><Relationship Id="rId291" Type="http://schemas.openxmlformats.org/officeDocument/2006/relationships/slide" Target="slides/slide290.xml"/><Relationship Id="rId305" Type="http://schemas.openxmlformats.org/officeDocument/2006/relationships/slide" Target="slides/slide304.xml"/><Relationship Id="rId347" Type="http://schemas.openxmlformats.org/officeDocument/2006/relationships/slide" Target="slides/slide346.xml"/><Relationship Id="rId44" Type="http://schemas.openxmlformats.org/officeDocument/2006/relationships/slide" Target="slides/slide43.xml"/><Relationship Id="rId86" Type="http://schemas.openxmlformats.org/officeDocument/2006/relationships/slide" Target="slides/slide85.xml"/><Relationship Id="rId151" Type="http://schemas.openxmlformats.org/officeDocument/2006/relationships/slide" Target="slides/slide150.xml"/><Relationship Id="rId389" Type="http://schemas.openxmlformats.org/officeDocument/2006/relationships/slide" Target="slides/slide388.xml"/><Relationship Id="rId193" Type="http://schemas.openxmlformats.org/officeDocument/2006/relationships/slide" Target="slides/slide192.xml"/><Relationship Id="rId207" Type="http://schemas.openxmlformats.org/officeDocument/2006/relationships/slide" Target="slides/slide206.xml"/><Relationship Id="rId249" Type="http://schemas.openxmlformats.org/officeDocument/2006/relationships/slide" Target="slides/slide248.xml"/><Relationship Id="rId414" Type="http://schemas.openxmlformats.org/officeDocument/2006/relationships/slide" Target="slides/slide413.xml"/><Relationship Id="rId456" Type="http://schemas.openxmlformats.org/officeDocument/2006/relationships/slide" Target="slides/slide455.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316" Type="http://schemas.openxmlformats.org/officeDocument/2006/relationships/slide" Target="slides/slide315.xml"/><Relationship Id="rId55" Type="http://schemas.openxmlformats.org/officeDocument/2006/relationships/slide" Target="slides/slide54.xml"/><Relationship Id="rId97" Type="http://schemas.openxmlformats.org/officeDocument/2006/relationships/slide" Target="slides/slide96.xml"/><Relationship Id="rId120" Type="http://schemas.openxmlformats.org/officeDocument/2006/relationships/slide" Target="slides/slide119.xml"/><Relationship Id="rId358" Type="http://schemas.openxmlformats.org/officeDocument/2006/relationships/slide" Target="slides/slide357.xml"/><Relationship Id="rId162" Type="http://schemas.openxmlformats.org/officeDocument/2006/relationships/slide" Target="slides/slide161.xml"/><Relationship Id="rId218" Type="http://schemas.openxmlformats.org/officeDocument/2006/relationships/slide" Target="slides/slide217.xml"/><Relationship Id="rId425" Type="http://schemas.openxmlformats.org/officeDocument/2006/relationships/slide" Target="slides/slide424.xml"/><Relationship Id="rId467" Type="http://schemas.openxmlformats.org/officeDocument/2006/relationships/slide" Target="slides/slide466.xml"/><Relationship Id="rId271" Type="http://schemas.openxmlformats.org/officeDocument/2006/relationships/slide" Target="slides/slide270.xml"/><Relationship Id="rId24" Type="http://schemas.openxmlformats.org/officeDocument/2006/relationships/slide" Target="slides/slide23.xml"/><Relationship Id="rId66" Type="http://schemas.openxmlformats.org/officeDocument/2006/relationships/slide" Target="slides/slide65.xml"/><Relationship Id="rId131" Type="http://schemas.openxmlformats.org/officeDocument/2006/relationships/slide" Target="slides/slide130.xml"/><Relationship Id="rId327" Type="http://schemas.openxmlformats.org/officeDocument/2006/relationships/slide" Target="slides/slide326.xml"/><Relationship Id="rId369" Type="http://schemas.openxmlformats.org/officeDocument/2006/relationships/slide" Target="slides/slide368.xml"/><Relationship Id="rId173" Type="http://schemas.openxmlformats.org/officeDocument/2006/relationships/slide" Target="slides/slide172.xml"/><Relationship Id="rId229" Type="http://schemas.openxmlformats.org/officeDocument/2006/relationships/slide" Target="slides/slide228.xml"/><Relationship Id="rId380" Type="http://schemas.openxmlformats.org/officeDocument/2006/relationships/slide" Target="slides/slide379.xml"/><Relationship Id="rId436" Type="http://schemas.openxmlformats.org/officeDocument/2006/relationships/slide" Target="slides/slide435.xml"/><Relationship Id="rId240" Type="http://schemas.openxmlformats.org/officeDocument/2006/relationships/slide" Target="slides/slide239.xml"/><Relationship Id="rId478" Type="http://schemas.openxmlformats.org/officeDocument/2006/relationships/slide" Target="slides/slide477.xml"/><Relationship Id="rId35" Type="http://schemas.openxmlformats.org/officeDocument/2006/relationships/slide" Target="slides/slide34.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338" Type="http://schemas.openxmlformats.org/officeDocument/2006/relationships/slide" Target="slides/slide337.xml"/><Relationship Id="rId8" Type="http://schemas.openxmlformats.org/officeDocument/2006/relationships/slide" Target="slides/slide7.xml"/><Relationship Id="rId142" Type="http://schemas.openxmlformats.org/officeDocument/2006/relationships/slide" Target="slides/slide141.xml"/><Relationship Id="rId184" Type="http://schemas.openxmlformats.org/officeDocument/2006/relationships/slide" Target="slides/slide183.xml"/><Relationship Id="rId391" Type="http://schemas.openxmlformats.org/officeDocument/2006/relationships/slide" Target="slides/slide390.xml"/><Relationship Id="rId405" Type="http://schemas.openxmlformats.org/officeDocument/2006/relationships/slide" Target="slides/slide404.xml"/><Relationship Id="rId447" Type="http://schemas.openxmlformats.org/officeDocument/2006/relationships/slide" Target="slides/slide446.xml"/><Relationship Id="rId251" Type="http://schemas.openxmlformats.org/officeDocument/2006/relationships/slide" Target="slides/slide250.xml"/><Relationship Id="rId489" Type="http://schemas.openxmlformats.org/officeDocument/2006/relationships/font" Target="fonts/font9.fntdata"/><Relationship Id="rId46" Type="http://schemas.openxmlformats.org/officeDocument/2006/relationships/slide" Target="slides/slide45.xml"/><Relationship Id="rId293" Type="http://schemas.openxmlformats.org/officeDocument/2006/relationships/slide" Target="slides/slide292.xml"/><Relationship Id="rId307" Type="http://schemas.openxmlformats.org/officeDocument/2006/relationships/slide" Target="slides/slide306.xml"/><Relationship Id="rId349" Type="http://schemas.openxmlformats.org/officeDocument/2006/relationships/slide" Target="slides/slide348.xml"/><Relationship Id="rId88" Type="http://schemas.openxmlformats.org/officeDocument/2006/relationships/slide" Target="slides/slide87.xml"/><Relationship Id="rId111" Type="http://schemas.openxmlformats.org/officeDocument/2006/relationships/slide" Target="slides/slide110.xml"/><Relationship Id="rId153" Type="http://schemas.openxmlformats.org/officeDocument/2006/relationships/slide" Target="slides/slide152.xml"/><Relationship Id="rId195" Type="http://schemas.openxmlformats.org/officeDocument/2006/relationships/slide" Target="slides/slide194.xml"/><Relationship Id="rId209" Type="http://schemas.openxmlformats.org/officeDocument/2006/relationships/slide" Target="slides/slide208.xml"/><Relationship Id="rId360" Type="http://schemas.openxmlformats.org/officeDocument/2006/relationships/slide" Target="slides/slide359.xml"/><Relationship Id="rId416" Type="http://schemas.openxmlformats.org/officeDocument/2006/relationships/slide" Target="slides/slide415.xml"/><Relationship Id="rId220" Type="http://schemas.openxmlformats.org/officeDocument/2006/relationships/slide" Target="slides/slide219.xml"/><Relationship Id="rId458" Type="http://schemas.openxmlformats.org/officeDocument/2006/relationships/slide" Target="slides/slide457.xml"/><Relationship Id="rId15" Type="http://schemas.openxmlformats.org/officeDocument/2006/relationships/slide" Target="slides/slide14.xml"/><Relationship Id="rId57" Type="http://schemas.openxmlformats.org/officeDocument/2006/relationships/slide" Target="slides/slide56.xml"/><Relationship Id="rId262" Type="http://schemas.openxmlformats.org/officeDocument/2006/relationships/slide" Target="slides/slide261.xml"/><Relationship Id="rId318" Type="http://schemas.openxmlformats.org/officeDocument/2006/relationships/slide" Target="slides/slide317.xml"/><Relationship Id="rId99" Type="http://schemas.openxmlformats.org/officeDocument/2006/relationships/slide" Target="slides/slide98.xml"/><Relationship Id="rId122" Type="http://schemas.openxmlformats.org/officeDocument/2006/relationships/slide" Target="slides/slide121.xml"/><Relationship Id="rId164" Type="http://schemas.openxmlformats.org/officeDocument/2006/relationships/slide" Target="slides/slide163.xml"/><Relationship Id="rId371" Type="http://schemas.openxmlformats.org/officeDocument/2006/relationships/slide" Target="slides/slide370.xml"/><Relationship Id="rId427" Type="http://schemas.openxmlformats.org/officeDocument/2006/relationships/slide" Target="slides/slide426.xml"/><Relationship Id="rId469" Type="http://schemas.openxmlformats.org/officeDocument/2006/relationships/slide" Target="slides/slide468.xml"/><Relationship Id="rId26" Type="http://schemas.openxmlformats.org/officeDocument/2006/relationships/slide" Target="slides/slide25.xml"/><Relationship Id="rId231" Type="http://schemas.openxmlformats.org/officeDocument/2006/relationships/slide" Target="slides/slide230.xml"/><Relationship Id="rId273" Type="http://schemas.openxmlformats.org/officeDocument/2006/relationships/slide" Target="slides/slide272.xml"/><Relationship Id="rId329" Type="http://schemas.openxmlformats.org/officeDocument/2006/relationships/slide" Target="slides/slide328.xml"/><Relationship Id="rId480" Type="http://schemas.openxmlformats.org/officeDocument/2006/relationships/notesMaster" Target="notesMasters/notesMaster1.xml"/><Relationship Id="rId68" Type="http://schemas.openxmlformats.org/officeDocument/2006/relationships/slide" Target="slides/slide67.xml"/><Relationship Id="rId133" Type="http://schemas.openxmlformats.org/officeDocument/2006/relationships/slide" Target="slides/slide132.xml"/><Relationship Id="rId175" Type="http://schemas.openxmlformats.org/officeDocument/2006/relationships/slide" Target="slides/slide174.xml"/><Relationship Id="rId340" Type="http://schemas.openxmlformats.org/officeDocument/2006/relationships/slide" Target="slides/slide339.xml"/><Relationship Id="rId200" Type="http://schemas.openxmlformats.org/officeDocument/2006/relationships/slide" Target="slides/slide199.xml"/><Relationship Id="rId382" Type="http://schemas.openxmlformats.org/officeDocument/2006/relationships/slide" Target="slides/slide381.xml"/><Relationship Id="rId438" Type="http://schemas.openxmlformats.org/officeDocument/2006/relationships/slide" Target="slides/slide437.xml"/><Relationship Id="rId242" Type="http://schemas.openxmlformats.org/officeDocument/2006/relationships/slide" Target="slides/slide241.xml"/><Relationship Id="rId284" Type="http://schemas.openxmlformats.org/officeDocument/2006/relationships/slide" Target="slides/slide283.xml"/><Relationship Id="rId491" Type="http://schemas.openxmlformats.org/officeDocument/2006/relationships/font" Target="fonts/font11.fntdata"/><Relationship Id="rId37" Type="http://schemas.openxmlformats.org/officeDocument/2006/relationships/slide" Target="slides/slide36.xml"/><Relationship Id="rId79" Type="http://schemas.openxmlformats.org/officeDocument/2006/relationships/slide" Target="slides/slide78.xml"/><Relationship Id="rId102" Type="http://schemas.openxmlformats.org/officeDocument/2006/relationships/slide" Target="slides/slide101.xml"/><Relationship Id="rId144" Type="http://schemas.openxmlformats.org/officeDocument/2006/relationships/slide" Target="slides/slide143.xml"/><Relationship Id="rId90" Type="http://schemas.openxmlformats.org/officeDocument/2006/relationships/slide" Target="slides/slide89.xml"/><Relationship Id="rId186" Type="http://schemas.openxmlformats.org/officeDocument/2006/relationships/slide" Target="slides/slide185.xml"/><Relationship Id="rId351" Type="http://schemas.openxmlformats.org/officeDocument/2006/relationships/slide" Target="slides/slide350.xml"/><Relationship Id="rId393" Type="http://schemas.openxmlformats.org/officeDocument/2006/relationships/slide" Target="slides/slide392.xml"/><Relationship Id="rId407" Type="http://schemas.openxmlformats.org/officeDocument/2006/relationships/slide" Target="slides/slide406.xml"/><Relationship Id="rId449" Type="http://schemas.openxmlformats.org/officeDocument/2006/relationships/slide" Target="slides/slide448.xml"/><Relationship Id="rId211" Type="http://schemas.openxmlformats.org/officeDocument/2006/relationships/slide" Target="slides/slide210.xml"/><Relationship Id="rId253" Type="http://schemas.openxmlformats.org/officeDocument/2006/relationships/slide" Target="slides/slide252.xml"/><Relationship Id="rId295" Type="http://schemas.openxmlformats.org/officeDocument/2006/relationships/slide" Target="slides/slide294.xml"/><Relationship Id="rId309" Type="http://schemas.openxmlformats.org/officeDocument/2006/relationships/slide" Target="slides/slide308.xml"/><Relationship Id="rId460" Type="http://schemas.openxmlformats.org/officeDocument/2006/relationships/slide" Target="slides/slide459.xml"/><Relationship Id="rId48" Type="http://schemas.openxmlformats.org/officeDocument/2006/relationships/slide" Target="slides/slide47.xml"/><Relationship Id="rId113" Type="http://schemas.openxmlformats.org/officeDocument/2006/relationships/slide" Target="slides/slide112.xml"/><Relationship Id="rId320" Type="http://schemas.openxmlformats.org/officeDocument/2006/relationships/slide" Target="slides/slide319.xml"/><Relationship Id="rId155" Type="http://schemas.openxmlformats.org/officeDocument/2006/relationships/slide" Target="slides/slide154.xml"/><Relationship Id="rId197" Type="http://schemas.openxmlformats.org/officeDocument/2006/relationships/slide" Target="slides/slide196.xml"/><Relationship Id="rId362" Type="http://schemas.openxmlformats.org/officeDocument/2006/relationships/slide" Target="slides/slide361.xml"/><Relationship Id="rId418" Type="http://schemas.openxmlformats.org/officeDocument/2006/relationships/slide" Target="slides/slide417.xml"/><Relationship Id="rId222" Type="http://schemas.openxmlformats.org/officeDocument/2006/relationships/slide" Target="slides/slide221.xml"/><Relationship Id="rId264" Type="http://schemas.openxmlformats.org/officeDocument/2006/relationships/slide" Target="slides/slide263.xml"/><Relationship Id="rId471" Type="http://schemas.openxmlformats.org/officeDocument/2006/relationships/slide" Target="slides/slide470.xml"/><Relationship Id="rId17" Type="http://schemas.openxmlformats.org/officeDocument/2006/relationships/slide" Target="slides/slide16.xml"/><Relationship Id="rId59" Type="http://schemas.openxmlformats.org/officeDocument/2006/relationships/slide" Target="slides/slide58.xml"/><Relationship Id="rId124" Type="http://schemas.openxmlformats.org/officeDocument/2006/relationships/slide" Target="slides/slide123.xml"/><Relationship Id="rId70" Type="http://schemas.openxmlformats.org/officeDocument/2006/relationships/slide" Target="slides/slide69.xml"/><Relationship Id="rId166" Type="http://schemas.openxmlformats.org/officeDocument/2006/relationships/slide" Target="slides/slide165.xml"/><Relationship Id="rId331" Type="http://schemas.openxmlformats.org/officeDocument/2006/relationships/slide" Target="slides/slide330.xml"/><Relationship Id="rId373" Type="http://schemas.openxmlformats.org/officeDocument/2006/relationships/slide" Target="slides/slide372.xml"/><Relationship Id="rId429" Type="http://schemas.openxmlformats.org/officeDocument/2006/relationships/slide" Target="slides/slide428.xml"/><Relationship Id="rId1" Type="http://schemas.openxmlformats.org/officeDocument/2006/relationships/slideMaster" Target="slideMasters/slideMaster1.xml"/><Relationship Id="rId233" Type="http://schemas.openxmlformats.org/officeDocument/2006/relationships/slide" Target="slides/slide232.xml"/><Relationship Id="rId440" Type="http://schemas.openxmlformats.org/officeDocument/2006/relationships/slide" Target="slides/slide439.xml"/><Relationship Id="rId28" Type="http://schemas.openxmlformats.org/officeDocument/2006/relationships/slide" Target="slides/slide27.xml"/><Relationship Id="rId275" Type="http://schemas.openxmlformats.org/officeDocument/2006/relationships/slide" Target="slides/slide274.xml"/><Relationship Id="rId300" Type="http://schemas.openxmlformats.org/officeDocument/2006/relationships/slide" Target="slides/slide299.xml"/><Relationship Id="rId482" Type="http://schemas.openxmlformats.org/officeDocument/2006/relationships/font" Target="fonts/font2.fntdata"/><Relationship Id="rId81" Type="http://schemas.openxmlformats.org/officeDocument/2006/relationships/slide" Target="slides/slide80.xml"/><Relationship Id="rId135" Type="http://schemas.openxmlformats.org/officeDocument/2006/relationships/slide" Target="slides/slide134.xml"/><Relationship Id="rId177" Type="http://schemas.openxmlformats.org/officeDocument/2006/relationships/slide" Target="slides/slide176.xml"/><Relationship Id="rId342" Type="http://schemas.openxmlformats.org/officeDocument/2006/relationships/slide" Target="slides/slide341.xml"/><Relationship Id="rId384" Type="http://schemas.openxmlformats.org/officeDocument/2006/relationships/slide" Target="slides/slide383.xml"/><Relationship Id="rId202" Type="http://schemas.openxmlformats.org/officeDocument/2006/relationships/slide" Target="slides/slide201.xml"/><Relationship Id="rId244" Type="http://schemas.openxmlformats.org/officeDocument/2006/relationships/slide" Target="slides/slide243.xml"/><Relationship Id="rId39" Type="http://schemas.openxmlformats.org/officeDocument/2006/relationships/slide" Target="slides/slide38.xml"/><Relationship Id="rId286" Type="http://schemas.openxmlformats.org/officeDocument/2006/relationships/slide" Target="slides/slide285.xml"/><Relationship Id="rId451" Type="http://schemas.openxmlformats.org/officeDocument/2006/relationships/slide" Target="slides/slide450.xml"/><Relationship Id="rId493" Type="http://schemas.openxmlformats.org/officeDocument/2006/relationships/presProps" Target="presProps.xml"/><Relationship Id="rId50" Type="http://schemas.openxmlformats.org/officeDocument/2006/relationships/slide" Target="slides/slide49.xml"/><Relationship Id="rId104" Type="http://schemas.openxmlformats.org/officeDocument/2006/relationships/slide" Target="slides/slide103.xml"/><Relationship Id="rId146" Type="http://schemas.openxmlformats.org/officeDocument/2006/relationships/slide" Target="slides/slide145.xml"/><Relationship Id="rId188" Type="http://schemas.openxmlformats.org/officeDocument/2006/relationships/slide" Target="slides/slide187.xml"/><Relationship Id="rId311" Type="http://schemas.openxmlformats.org/officeDocument/2006/relationships/slide" Target="slides/slide310.xml"/><Relationship Id="rId353" Type="http://schemas.openxmlformats.org/officeDocument/2006/relationships/slide" Target="slides/slide352.xml"/><Relationship Id="rId395" Type="http://schemas.openxmlformats.org/officeDocument/2006/relationships/slide" Target="slides/slide394.xml"/><Relationship Id="rId409" Type="http://schemas.openxmlformats.org/officeDocument/2006/relationships/slide" Target="slides/slide408.xml"/><Relationship Id="rId92" Type="http://schemas.openxmlformats.org/officeDocument/2006/relationships/slide" Target="slides/slide91.xml"/><Relationship Id="rId213" Type="http://schemas.openxmlformats.org/officeDocument/2006/relationships/slide" Target="slides/slide212.xml"/><Relationship Id="rId420" Type="http://schemas.openxmlformats.org/officeDocument/2006/relationships/slide" Target="slides/slide419.xml"/><Relationship Id="rId255" Type="http://schemas.openxmlformats.org/officeDocument/2006/relationships/slide" Target="slides/slide254.xml"/><Relationship Id="rId297" Type="http://schemas.openxmlformats.org/officeDocument/2006/relationships/slide" Target="slides/slide296.xml"/><Relationship Id="rId462" Type="http://schemas.openxmlformats.org/officeDocument/2006/relationships/slide" Target="slides/slide461.xml"/><Relationship Id="rId115" Type="http://schemas.openxmlformats.org/officeDocument/2006/relationships/slide" Target="slides/slide114.xml"/><Relationship Id="rId157" Type="http://schemas.openxmlformats.org/officeDocument/2006/relationships/slide" Target="slides/slide156.xml"/><Relationship Id="rId322" Type="http://schemas.openxmlformats.org/officeDocument/2006/relationships/slide" Target="slides/slide321.xml"/><Relationship Id="rId364" Type="http://schemas.openxmlformats.org/officeDocument/2006/relationships/slide" Target="slides/slide363.xml"/><Relationship Id="rId61" Type="http://schemas.openxmlformats.org/officeDocument/2006/relationships/slide" Target="slides/slide60.xml"/><Relationship Id="rId199" Type="http://schemas.openxmlformats.org/officeDocument/2006/relationships/slide" Target="slides/slide198.xml"/><Relationship Id="rId19" Type="http://schemas.openxmlformats.org/officeDocument/2006/relationships/slide" Target="slides/slide18.xml"/><Relationship Id="rId224" Type="http://schemas.openxmlformats.org/officeDocument/2006/relationships/slide" Target="slides/slide223.xml"/><Relationship Id="rId266" Type="http://schemas.openxmlformats.org/officeDocument/2006/relationships/slide" Target="slides/slide265.xml"/><Relationship Id="rId431" Type="http://schemas.openxmlformats.org/officeDocument/2006/relationships/slide" Target="slides/slide430.xml"/><Relationship Id="rId473" Type="http://schemas.openxmlformats.org/officeDocument/2006/relationships/slide" Target="slides/slide472.xml"/><Relationship Id="rId30" Type="http://schemas.openxmlformats.org/officeDocument/2006/relationships/slide" Target="slides/slide29.xml"/><Relationship Id="rId126" Type="http://schemas.openxmlformats.org/officeDocument/2006/relationships/slide" Target="slides/slide125.xml"/><Relationship Id="rId168" Type="http://schemas.openxmlformats.org/officeDocument/2006/relationships/slide" Target="slides/slide167.xml"/><Relationship Id="rId333" Type="http://schemas.openxmlformats.org/officeDocument/2006/relationships/slide" Target="slides/slide332.xml"/><Relationship Id="rId72" Type="http://schemas.openxmlformats.org/officeDocument/2006/relationships/slide" Target="slides/slide71.xml"/><Relationship Id="rId375" Type="http://schemas.openxmlformats.org/officeDocument/2006/relationships/slide" Target="slides/slide374.xml"/><Relationship Id="rId3" Type="http://schemas.openxmlformats.org/officeDocument/2006/relationships/slide" Target="slides/slide2.xml"/><Relationship Id="rId235" Type="http://schemas.openxmlformats.org/officeDocument/2006/relationships/slide" Target="slides/slide234.xml"/><Relationship Id="rId277" Type="http://schemas.openxmlformats.org/officeDocument/2006/relationships/slide" Target="slides/slide276.xml"/><Relationship Id="rId400" Type="http://schemas.openxmlformats.org/officeDocument/2006/relationships/slide" Target="slides/slide399.xml"/><Relationship Id="rId442" Type="http://schemas.openxmlformats.org/officeDocument/2006/relationships/slide" Target="slides/slide441.xml"/><Relationship Id="rId484" Type="http://schemas.openxmlformats.org/officeDocument/2006/relationships/font" Target="fonts/font4.fntdata"/><Relationship Id="rId137" Type="http://schemas.openxmlformats.org/officeDocument/2006/relationships/slide" Target="slides/slide136.xml"/><Relationship Id="rId302" Type="http://schemas.openxmlformats.org/officeDocument/2006/relationships/slide" Target="slides/slide301.xml"/><Relationship Id="rId344" Type="http://schemas.openxmlformats.org/officeDocument/2006/relationships/slide" Target="slides/slide343.xml"/><Relationship Id="rId41" Type="http://schemas.openxmlformats.org/officeDocument/2006/relationships/slide" Target="slides/slide40.xml"/><Relationship Id="rId83" Type="http://schemas.openxmlformats.org/officeDocument/2006/relationships/slide" Target="slides/slide82.xml"/><Relationship Id="rId179" Type="http://schemas.openxmlformats.org/officeDocument/2006/relationships/slide" Target="slides/slide178.xml"/><Relationship Id="rId386" Type="http://schemas.openxmlformats.org/officeDocument/2006/relationships/slide" Target="slides/slide385.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24037;&#20316;&#31807;1"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D:\glplaman.github.io\spm\data\chart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D:\glplaman.github.io\spm\data\charts.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D:\glplaman.github.io\spm\data\charts.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D:\glplaman.github.io\office\data\chart.xlsx" TargetMode="External"/><Relationship Id="rId2" Type="http://schemas.microsoft.com/office/2011/relationships/chartColorStyle" Target="colors9.xml"/><Relationship Id="rId1" Type="http://schemas.microsoft.com/office/2011/relationships/chartStyle" Target="style9.xml"/></Relationships>
</file>

<file path=ppt/charts/_rels/chart8.xml.rels><?xml version="1.0" encoding="UTF-8" standalone="yes"?>
<Relationships xmlns="http://schemas.openxmlformats.org/package/2006/relationships"><Relationship Id="rId3" Type="http://schemas.openxmlformats.org/officeDocument/2006/relationships/oleObject" Target="file:///D:\glplaman.github.io\office\data\chart.xlsx" TargetMode="External"/><Relationship Id="rId2" Type="http://schemas.microsoft.com/office/2011/relationships/chartColorStyle" Target="colors10.xml"/><Relationship Id="rId1" Type="http://schemas.microsoft.com/office/2011/relationships/chartStyle" Target="style10.xml"/></Relationships>
</file>

<file path=ppt/charts/_rels/chart9.xml.rels><?xml version="1.0" encoding="UTF-8" standalone="yes"?>
<Relationships xmlns="http://schemas.openxmlformats.org/package/2006/relationships"><Relationship Id="rId3" Type="http://schemas.openxmlformats.org/officeDocument/2006/relationships/oleObject" Target="file:///D:\glplaman.github.io\office\data\chart.xlsx" TargetMode="External"/><Relationship Id="rId2" Type="http://schemas.microsoft.com/office/2011/relationships/chartColorStyle" Target="colors11.xml"/><Relationship Id="rId1" Type="http://schemas.microsoft.com/office/2011/relationships/chartStyle" Target="style11.xml"/></Relationships>
</file>

<file path=ppt/charts/_rels/chartEx1.xml.rels><?xml version="1.0" encoding="UTF-8" standalone="yes"?>
<Relationships xmlns="http://schemas.openxmlformats.org/package/2006/relationships"><Relationship Id="rId3" Type="http://schemas.microsoft.com/office/2011/relationships/chartColorStyle" Target="colors7.xml"/><Relationship Id="rId2" Type="http://schemas.microsoft.com/office/2011/relationships/chartStyle" Target="style7.xml"/><Relationship Id="rId1" Type="http://schemas.openxmlformats.org/officeDocument/2006/relationships/oleObject" Target="file:///D:\glplaman.github.io\office\data\&#39640;&#32771;&#25104;&#32489;.xlsx" TargetMode="External"/></Relationships>
</file>

<file path=ppt/charts/_rels/chartEx2.xml.rels><?xml version="1.0" encoding="UTF-8" standalone="yes"?>
<Relationships xmlns="http://schemas.openxmlformats.org/package/2006/relationships"><Relationship Id="rId3" Type="http://schemas.microsoft.com/office/2011/relationships/chartColorStyle" Target="colors8.xml"/><Relationship Id="rId2" Type="http://schemas.microsoft.com/office/2011/relationships/chartStyle" Target="style8.xml"/><Relationship Id="rId1" Type="http://schemas.openxmlformats.org/officeDocument/2006/relationships/oleObject" Target="file:///D:\glplaman.github.io\office\data\&#39640;&#32771;&#25104;&#32489;.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680" b="0" i="0" u="none" strike="noStrike" kern="1200" spc="0" baseline="0">
              <a:solidFill>
                <a:schemeClr val="tx1"/>
              </a:solidFill>
              <a:latin typeface="+mn-lt"/>
              <a:ea typeface="+mn-ea"/>
              <a:cs typeface="+mn-cs"/>
            </a:defRPr>
          </a:pPr>
          <a:endParaRPr lang="zh-CN"/>
        </a:p>
      </c:txPr>
    </c:title>
    <c:autoTitleDeleted val="0"/>
    <c:plotArea>
      <c:layout/>
      <c:radarChart>
        <c:radarStyle val="marker"/>
        <c:varyColors val="0"/>
        <c:ser>
          <c:idx val="1"/>
          <c:order val="1"/>
          <c:tx>
            <c:strRef>
              <c:f>Sheet1!$C$1</c:f>
              <c:strCache>
                <c:ptCount val="1"/>
                <c:pt idx="0">
                  <c:v>Series 2</c:v>
                </c:pt>
              </c:strCache>
            </c:strRef>
          </c:tx>
          <c:spPr>
            <a:ln w="28575" cap="rnd">
              <a:solidFill>
                <a:schemeClr val="accent2"/>
              </a:solidFill>
              <a:round/>
            </a:ln>
            <a:effectLst/>
          </c:spPr>
          <c:marker>
            <c:symbol val="none"/>
          </c:marker>
          <c:cat>
            <c:strRef>
              <c:f>Sheet1!$A$2:$A$5</c:f>
              <c:strCache>
                <c:ptCount val="4"/>
                <c:pt idx="0">
                  <c:v>项目范围 Scope</c:v>
                </c:pt>
                <c:pt idx="1">
                  <c:v>进度计划 Schedule</c:v>
                </c:pt>
                <c:pt idx="2">
                  <c:v>成本预算 Cost</c:v>
                </c:pt>
                <c:pt idx="3">
                  <c:v>满意度 Quality</c:v>
                </c:pt>
              </c:strCache>
            </c:strRef>
          </c:cat>
          <c:val>
            <c:numRef>
              <c:f>Sheet1!$C$2:$C$5</c:f>
              <c:numCache>
                <c:formatCode>General</c:formatCode>
                <c:ptCount val="4"/>
                <c:pt idx="0">
                  <c:v>22</c:v>
                </c:pt>
                <c:pt idx="1">
                  <c:v>25</c:v>
                </c:pt>
                <c:pt idx="2">
                  <c:v>10</c:v>
                </c:pt>
                <c:pt idx="3">
                  <c:v>43</c:v>
                </c:pt>
              </c:numCache>
            </c:numRef>
          </c:val>
          <c:extLst>
            <c:ext xmlns:c16="http://schemas.microsoft.com/office/drawing/2014/chart" uri="{C3380CC4-5D6E-409C-BE32-E72D297353CC}">
              <c16:uniqueId val="{00000002-1B2F-4237-AD03-CD7AC8C48E51}"/>
            </c:ext>
          </c:extLst>
        </c:ser>
        <c:dLbls>
          <c:showLegendKey val="0"/>
          <c:showVal val="0"/>
          <c:showCatName val="0"/>
          <c:showSerName val="0"/>
          <c:showPercent val="0"/>
          <c:showBubbleSize val="0"/>
        </c:dLbls>
        <c:axId val="485851088"/>
        <c:axId val="485856368"/>
        <c:extLst>
          <c:ext xmlns:c15="http://schemas.microsoft.com/office/drawing/2012/chart" uri="{02D57815-91ED-43cb-92C2-25804820EDAC}">
            <c15:filteredRadarSeries>
              <c15:ser>
                <c:idx val="0"/>
                <c:order val="0"/>
                <c:tx>
                  <c:strRef>
                    <c:extLst>
                      <c:ext uri="{02D57815-91ED-43cb-92C2-25804820EDAC}">
                        <c15:formulaRef>
                          <c15:sqref>Sheet1!$B$1</c15:sqref>
                        </c15:formulaRef>
                      </c:ext>
                    </c:extLst>
                    <c:strCache>
                      <c:ptCount val="1"/>
                      <c:pt idx="0">
                        <c:v>Series 1</c:v>
                      </c:pt>
                    </c:strCache>
                  </c:strRef>
                </c:tx>
                <c:spPr>
                  <a:ln w="28575" cap="rnd">
                    <a:solidFill>
                      <a:schemeClr val="accent1"/>
                    </a:solidFill>
                    <a:round/>
                  </a:ln>
                  <a:effectLst/>
                </c:spPr>
                <c:marker>
                  <c:symbol val="none"/>
                </c:marker>
                <c:cat>
                  <c:strRef>
                    <c:extLst>
                      <c:ext uri="{02D57815-91ED-43cb-92C2-25804820EDAC}">
                        <c15:formulaRef>
                          <c15:sqref>Sheet1!$A$2:$A$5</c15:sqref>
                        </c15:formulaRef>
                      </c:ext>
                    </c:extLst>
                    <c:strCache>
                      <c:ptCount val="4"/>
                      <c:pt idx="0">
                        <c:v>项目范围 Scope</c:v>
                      </c:pt>
                      <c:pt idx="1">
                        <c:v>进度计划 Schedule</c:v>
                      </c:pt>
                      <c:pt idx="2">
                        <c:v>成本预算 Cost</c:v>
                      </c:pt>
                      <c:pt idx="3">
                        <c:v>满意度 Quality</c:v>
                      </c:pt>
                    </c:strCache>
                  </c:strRef>
                </c:cat>
                <c:val>
                  <c:numRef>
                    <c:extLst>
                      <c:ext uri="{02D57815-91ED-43cb-92C2-25804820EDAC}">
                        <c15:formulaRef>
                          <c15:sqref>Sheet1!$B$2:$B$5</c15:sqref>
                        </c15:formulaRef>
                      </c:ext>
                    </c:extLst>
                    <c:numCache>
                      <c:formatCode>General</c:formatCode>
                      <c:ptCount val="4"/>
                      <c:pt idx="0">
                        <c:v>30</c:v>
                      </c:pt>
                      <c:pt idx="1">
                        <c:v>30</c:v>
                      </c:pt>
                      <c:pt idx="2">
                        <c:v>12</c:v>
                      </c:pt>
                      <c:pt idx="3">
                        <c:v>28</c:v>
                      </c:pt>
                    </c:numCache>
                  </c:numRef>
                </c:val>
                <c:extLst>
                  <c:ext xmlns:c16="http://schemas.microsoft.com/office/drawing/2014/chart" uri="{C3380CC4-5D6E-409C-BE32-E72D297353CC}">
                    <c16:uniqueId val="{00000000-1B2F-4237-AD03-CD7AC8C48E51}"/>
                  </c:ext>
                </c:extLst>
              </c15:ser>
            </c15:filteredRadarSeries>
          </c:ext>
        </c:extLst>
      </c:radarChart>
      <c:catAx>
        <c:axId val="4858510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zh-CN"/>
          </a:p>
        </c:txPr>
        <c:crossAx val="485856368"/>
        <c:crosses val="autoZero"/>
        <c:auto val="1"/>
        <c:lblAlgn val="ctr"/>
        <c:lblOffset val="100"/>
        <c:noMultiLvlLbl val="0"/>
      </c:catAx>
      <c:valAx>
        <c:axId val="485856368"/>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crossAx val="48585108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tx1"/>
          </a:solidFill>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en-US" altLang="zh-CN" sz="1862" b="0" i="0" u="none" strike="noStrike" kern="1200" spc="0" baseline="0">
              <a:solidFill>
                <a:schemeClr val="tx1"/>
              </a:solidFill>
              <a:latin typeface="+mn-lt"/>
              <a:ea typeface="+mn-ea"/>
              <a:cs typeface="+mn-cs"/>
            </a:defRPr>
          </a:pPr>
          <a:endParaRPr lang="zh-CN"/>
        </a:p>
      </c:txPr>
    </c:title>
    <c:autoTitleDeleted val="0"/>
    <c:plotArea>
      <c:layout/>
      <c:pieChart>
        <c:varyColors val="1"/>
        <c:ser>
          <c:idx val="0"/>
          <c:order val="0"/>
          <c:tx>
            <c:strRef>
              <c:f>Sheet1!$B$1</c:f>
              <c:strCache>
                <c:ptCount val="1"/>
                <c:pt idx="0">
                  <c:v>管理对项目的影响</c:v>
                </c:pt>
              </c:strCache>
            </c:strRef>
          </c:tx>
          <c:spPr>
            <a:ln>
              <a:noFill/>
            </a:ln>
          </c:spPr>
          <c:dPt>
            <c:idx val="0"/>
            <c:bubble3D val="0"/>
            <c:spPr>
              <a:solidFill>
                <a:srgbClr val="00B0F0"/>
              </a:solidFill>
              <a:ln w="19050">
                <a:noFill/>
              </a:ln>
              <a:effectLst/>
            </c:spPr>
            <c:extLst>
              <c:ext xmlns:c16="http://schemas.microsoft.com/office/drawing/2014/chart" uri="{C3380CC4-5D6E-409C-BE32-E72D297353CC}">
                <c16:uniqueId val="{00000001-31A0-472F-A10F-8AF516163121}"/>
              </c:ext>
            </c:extLst>
          </c:dPt>
          <c:dPt>
            <c:idx val="1"/>
            <c:bubble3D val="0"/>
            <c:spPr>
              <a:solidFill>
                <a:schemeClr val="accent2"/>
              </a:solidFill>
              <a:ln w="19050">
                <a:noFill/>
              </a:ln>
              <a:effectLst/>
            </c:spPr>
            <c:extLst>
              <c:ext xmlns:c16="http://schemas.microsoft.com/office/drawing/2014/chart" uri="{C3380CC4-5D6E-409C-BE32-E72D297353CC}">
                <c16:uniqueId val="{00000003-31A0-472F-A10F-8AF516163121}"/>
              </c:ext>
            </c:extLst>
          </c:dPt>
          <c:dLbls>
            <c:numFmt formatCode="0.00%" sourceLinked="0"/>
            <c:spPr>
              <a:noFill/>
              <a:ln>
                <a:noFill/>
              </a:ln>
              <a:effectLst/>
            </c:spPr>
            <c:txPr>
              <a:bodyPr rot="0" spcFirstLastPara="1" vertOverflow="ellipsis" vert="horz" wrap="square" anchor="ctr" anchorCtr="1"/>
              <a:lstStyle/>
              <a:p>
                <a:pPr>
                  <a:defRPr lang="en-US" altLang="zh-CN" sz="1197" b="0" i="0" u="none" strike="noStrike" kern="1200" baseline="0">
                    <a:solidFill>
                      <a:schemeClr val="bg1"/>
                    </a:solidFill>
                    <a:latin typeface="+mn-lt"/>
                    <a:ea typeface="+mn-ea"/>
                    <a:cs typeface="+mn-cs"/>
                  </a:defRPr>
                </a:pPr>
                <a:endParaRPr lang="zh-CN"/>
              </a:p>
            </c:txPr>
            <c:dLblPos val="ct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按时提交</c:v>
                </c:pt>
                <c:pt idx="1">
                  <c:v>不能按时提交</c:v>
                </c:pt>
              </c:strCache>
            </c:strRef>
          </c:cat>
          <c:val>
            <c:numRef>
              <c:f>Sheet1!$B$2:$B$3</c:f>
              <c:numCache>
                <c:formatCode>General</c:formatCode>
                <c:ptCount val="2"/>
                <c:pt idx="0">
                  <c:v>0.3</c:v>
                </c:pt>
                <c:pt idx="1">
                  <c:v>0.7</c:v>
                </c:pt>
              </c:numCache>
            </c:numRef>
          </c:val>
          <c:extLst>
            <c:ext xmlns:c16="http://schemas.microsoft.com/office/drawing/2014/chart" uri="{C3380CC4-5D6E-409C-BE32-E72D297353CC}">
              <c16:uniqueId val="{00000000-4550-49A2-9C1B-011C50BC5CB1}"/>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lang="en-US" altLang="zh-CN" sz="1197" b="0" i="0" u="none" strike="noStrike" kern="1200" baseline="0">
              <a:solidFill>
                <a:schemeClr val="tx1"/>
              </a:solidFill>
              <a:latin typeface="+mn-lt"/>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altLang="zh-CN">
          <a:solidFill>
            <a:schemeClr val="tx1"/>
          </a:solidFill>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zh-CN"/>
        </a:p>
      </c:txPr>
    </c:title>
    <c:autoTitleDeleted val="0"/>
    <c:plotArea>
      <c:layout/>
      <c:lineChart>
        <c:grouping val="standard"/>
        <c:varyColors val="0"/>
        <c:ser>
          <c:idx val="0"/>
          <c:order val="0"/>
          <c:tx>
            <c:strRef>
              <c:f>Sheet1!$C$1</c:f>
              <c:strCache>
                <c:ptCount val="1"/>
                <c:pt idx="0">
                  <c:v>成本</c:v>
                </c:pt>
              </c:strCache>
            </c:strRef>
          </c:tx>
          <c:spPr>
            <a:ln w="34925" cap="rnd">
              <a:solidFill>
                <a:schemeClr val="accent1"/>
              </a:solidFill>
              <a:round/>
            </a:ln>
            <a:effectLst>
              <a:outerShdw blurRad="57150" dist="19050" dir="5400000" algn="ctr" rotWithShape="0">
                <a:srgbClr val="000000">
                  <a:alpha val="63000"/>
                </a:srgbClr>
              </a:outerShdw>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multiLvlStrRef>
              <c:f>Sheet1!$A$2:$B$9</c:f>
              <c:multiLvlStrCache>
                <c:ptCount val="8"/>
                <c:lvl>
                  <c:pt idx="0">
                    <c:v>规划</c:v>
                  </c:pt>
                  <c:pt idx="1">
                    <c:v>需求</c:v>
                  </c:pt>
                  <c:pt idx="2">
                    <c:v>概要设计</c:v>
                  </c:pt>
                  <c:pt idx="3">
                    <c:v>详细设计</c:v>
                  </c:pt>
                  <c:pt idx="4">
                    <c:v>开发 1</c:v>
                  </c:pt>
                  <c:pt idx="5">
                    <c:v>开发 2</c:v>
                  </c:pt>
                  <c:pt idx="6">
                    <c:v>测试</c:v>
                  </c:pt>
                  <c:pt idx="7">
                    <c:v>验收</c:v>
                  </c:pt>
                </c:lvl>
                <c:lvl>
                  <c:pt idx="0">
                    <c:v>1</c:v>
                  </c:pt>
                  <c:pt idx="1">
                    <c:v>2</c:v>
                  </c:pt>
                  <c:pt idx="2">
                    <c:v>3</c:v>
                  </c:pt>
                  <c:pt idx="3">
                    <c:v>4</c:v>
                  </c:pt>
                  <c:pt idx="4">
                    <c:v>5</c:v>
                  </c:pt>
                  <c:pt idx="5">
                    <c:v>6</c:v>
                  </c:pt>
                  <c:pt idx="6">
                    <c:v>7</c:v>
                  </c:pt>
                  <c:pt idx="7">
                    <c:v>8</c:v>
                  </c:pt>
                </c:lvl>
              </c:multiLvlStrCache>
            </c:multiLvlStrRef>
          </c:cat>
          <c:val>
            <c:numRef>
              <c:f>Sheet1!$C$2:$C$9</c:f>
              <c:numCache>
                <c:formatCode>General</c:formatCode>
                <c:ptCount val="8"/>
                <c:pt idx="0">
                  <c:v>1</c:v>
                </c:pt>
                <c:pt idx="1">
                  <c:v>3</c:v>
                </c:pt>
                <c:pt idx="2">
                  <c:v>4</c:v>
                </c:pt>
                <c:pt idx="3">
                  <c:v>5</c:v>
                </c:pt>
                <c:pt idx="4">
                  <c:v>8</c:v>
                </c:pt>
                <c:pt idx="5">
                  <c:v>12</c:v>
                </c:pt>
                <c:pt idx="6">
                  <c:v>14</c:v>
                </c:pt>
                <c:pt idx="7">
                  <c:v>16</c:v>
                </c:pt>
              </c:numCache>
            </c:numRef>
          </c:val>
          <c:smooth val="0"/>
          <c:extLst>
            <c:ext xmlns:c16="http://schemas.microsoft.com/office/drawing/2014/chart" uri="{C3380CC4-5D6E-409C-BE32-E72D297353CC}">
              <c16:uniqueId val="{00000000-F088-48C0-BA14-16B0612D3F89}"/>
            </c:ext>
          </c:extLst>
        </c:ser>
        <c:dLbls>
          <c:showLegendKey val="0"/>
          <c:showVal val="0"/>
          <c:showCatName val="0"/>
          <c:showSerName val="0"/>
          <c:showPercent val="0"/>
          <c:showBubbleSize val="0"/>
        </c:dLbls>
        <c:smooth val="0"/>
        <c:axId val="1105525232"/>
        <c:axId val="1105522832"/>
      </c:lineChart>
      <c:catAx>
        <c:axId val="1105525232"/>
        <c:scaling>
          <c:orientation val="minMax"/>
        </c:scaling>
        <c:delete val="0"/>
        <c:axPos val="b"/>
        <c:numFmt formatCode="General" sourceLinked="1"/>
        <c:majorTickMark val="none"/>
        <c:minorTickMark val="none"/>
        <c:tickLblPos val="nextTo"/>
        <c:spPr>
          <a:noFill/>
          <a:ln w="9525" cap="flat" cmpd="sng" algn="ctr">
            <a:solidFill>
              <a:schemeClr val="lt1">
                <a:lumMod val="95000"/>
                <a:alpha val="10000"/>
              </a:schemeClr>
            </a:solidFill>
            <a:round/>
          </a:ln>
          <a:effectLst/>
        </c:spPr>
        <c:txPr>
          <a:bodyPr rot="0" spcFirstLastPara="1" vertOverflow="ellipsis" vert="wordArtVertRtl" wrap="square" anchor="ctr" anchorCtr="1"/>
          <a:lstStyle/>
          <a:p>
            <a:pPr>
              <a:defRPr sz="1197" b="0" i="0" u="none" strike="noStrike" kern="1200" baseline="0">
                <a:solidFill>
                  <a:schemeClr val="lt1">
                    <a:lumMod val="85000"/>
                  </a:schemeClr>
                </a:solidFill>
                <a:latin typeface="+mn-lt"/>
                <a:ea typeface="+mn-ea"/>
                <a:cs typeface="+mn-cs"/>
              </a:defRPr>
            </a:pPr>
            <a:endParaRPr lang="zh-CN"/>
          </a:p>
        </c:txPr>
        <c:crossAx val="1105522832"/>
        <c:crosses val="autoZero"/>
        <c:auto val="1"/>
        <c:lblAlgn val="ctr"/>
        <c:lblOffset val="100"/>
        <c:noMultiLvlLbl val="0"/>
      </c:catAx>
      <c:valAx>
        <c:axId val="1105522832"/>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zh-CN"/>
          </a:p>
        </c:txPr>
        <c:crossAx val="110552523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8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dirty="0"/>
              <a:t>Gan</a:t>
            </a:r>
            <a:r>
              <a:rPr lang="en-US" altLang="zh-CN" dirty="0"/>
              <a:t>t</a:t>
            </a:r>
            <a:r>
              <a:rPr lang="en-US" dirty="0"/>
              <a:t>t</a:t>
            </a:r>
          </a:p>
        </c:rich>
      </c:tx>
      <c:overlay val="0"/>
      <c:spPr>
        <a:noFill/>
        <a:ln>
          <a:noFill/>
        </a:ln>
        <a:effectLst/>
      </c:spPr>
      <c:txPr>
        <a:bodyPr rot="0" spcFirstLastPara="1" vertOverflow="ellipsis" vert="horz" wrap="square" anchor="ctr" anchorCtr="1"/>
        <a:lstStyle/>
        <a:p>
          <a:pPr>
            <a:defRPr sz="168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zh-CN"/>
        </a:p>
      </c:txPr>
    </c:title>
    <c:autoTitleDeleted val="0"/>
    <c:plotArea>
      <c:layout/>
      <c:barChart>
        <c:barDir val="bar"/>
        <c:grouping val="stacked"/>
        <c:varyColors val="0"/>
        <c:ser>
          <c:idx val="0"/>
          <c:order val="0"/>
          <c:tx>
            <c:strRef>
              <c:f>Gantt!$B$1</c:f>
              <c:strCache>
                <c:ptCount val="1"/>
                <c:pt idx="0">
                  <c:v>Start</c:v>
                </c:pt>
              </c:strCache>
            </c:strRef>
          </c:tx>
          <c:spPr>
            <a:noFill/>
            <a:ln>
              <a:noFill/>
            </a:ln>
            <a:effectLst/>
          </c:spPr>
          <c:invertIfNegative val="0"/>
          <c:cat>
            <c:strRef>
              <c:f>Gantt!$A$2:$A$8</c:f>
              <c:strCache>
                <c:ptCount val="7"/>
                <c:pt idx="0">
                  <c:v>Initial</c:v>
                </c:pt>
                <c:pt idx="1">
                  <c:v>Analysis</c:v>
                </c:pt>
                <c:pt idx="2">
                  <c:v>Planning</c:v>
                </c:pt>
                <c:pt idx="3">
                  <c:v>Develop</c:v>
                </c:pt>
                <c:pt idx="4">
                  <c:v>Check</c:v>
                </c:pt>
                <c:pt idx="5">
                  <c:v>Handover</c:v>
                </c:pt>
                <c:pt idx="6">
                  <c:v>Closure</c:v>
                </c:pt>
              </c:strCache>
            </c:strRef>
          </c:cat>
          <c:val>
            <c:numRef>
              <c:f>Gantt!$B$2:$B$8</c:f>
              <c:numCache>
                <c:formatCode>m/d/yyyy</c:formatCode>
                <c:ptCount val="7"/>
                <c:pt idx="0">
                  <c:v>46073</c:v>
                </c:pt>
                <c:pt idx="1">
                  <c:v>46075</c:v>
                </c:pt>
                <c:pt idx="2">
                  <c:v>46076</c:v>
                </c:pt>
                <c:pt idx="3">
                  <c:v>46078</c:v>
                </c:pt>
                <c:pt idx="4">
                  <c:v>46143</c:v>
                </c:pt>
                <c:pt idx="5">
                  <c:v>46174</c:v>
                </c:pt>
                <c:pt idx="6">
                  <c:v>46204</c:v>
                </c:pt>
              </c:numCache>
            </c:numRef>
          </c:val>
          <c:extLst>
            <c:ext xmlns:c16="http://schemas.microsoft.com/office/drawing/2014/chart" uri="{C3380CC4-5D6E-409C-BE32-E72D297353CC}">
              <c16:uniqueId val="{00000000-A67B-4393-9323-9BD19041ECAE}"/>
            </c:ext>
          </c:extLst>
        </c:ser>
        <c:ser>
          <c:idx val="1"/>
          <c:order val="1"/>
          <c:tx>
            <c:strRef>
              <c:f>Gantt!$C$1</c:f>
              <c:strCache>
                <c:ptCount val="1"/>
                <c:pt idx="0">
                  <c:v>Duration</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lt1">
                        <a:lumMod val="85000"/>
                      </a:schemeClr>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Gantt!$A$2:$A$8</c:f>
              <c:strCache>
                <c:ptCount val="7"/>
                <c:pt idx="0">
                  <c:v>Initial</c:v>
                </c:pt>
                <c:pt idx="1">
                  <c:v>Analysis</c:v>
                </c:pt>
                <c:pt idx="2">
                  <c:v>Planning</c:v>
                </c:pt>
                <c:pt idx="3">
                  <c:v>Develop</c:v>
                </c:pt>
                <c:pt idx="4">
                  <c:v>Check</c:v>
                </c:pt>
                <c:pt idx="5">
                  <c:v>Handover</c:v>
                </c:pt>
                <c:pt idx="6">
                  <c:v>Closure</c:v>
                </c:pt>
              </c:strCache>
            </c:strRef>
          </c:cat>
          <c:val>
            <c:numRef>
              <c:f>Gantt!$C$2:$C$8</c:f>
              <c:numCache>
                <c:formatCode>0_);[Red]\(0\)</c:formatCode>
                <c:ptCount val="7"/>
                <c:pt idx="0">
                  <c:v>2</c:v>
                </c:pt>
                <c:pt idx="1">
                  <c:v>4</c:v>
                </c:pt>
                <c:pt idx="2">
                  <c:v>7</c:v>
                </c:pt>
                <c:pt idx="3">
                  <c:v>65</c:v>
                </c:pt>
                <c:pt idx="4">
                  <c:v>31</c:v>
                </c:pt>
                <c:pt idx="5">
                  <c:v>30</c:v>
                </c:pt>
                <c:pt idx="6">
                  <c:v>14</c:v>
                </c:pt>
              </c:numCache>
            </c:numRef>
          </c:val>
          <c:extLst>
            <c:ext xmlns:c16="http://schemas.microsoft.com/office/drawing/2014/chart" uri="{C3380CC4-5D6E-409C-BE32-E72D297353CC}">
              <c16:uniqueId val="{00000001-A67B-4393-9323-9BD19041ECAE}"/>
            </c:ext>
          </c:extLst>
        </c:ser>
        <c:dLbls>
          <c:showLegendKey val="0"/>
          <c:showVal val="0"/>
          <c:showCatName val="0"/>
          <c:showSerName val="0"/>
          <c:showPercent val="0"/>
          <c:showBubbleSize val="0"/>
        </c:dLbls>
        <c:gapWidth val="150"/>
        <c:overlap val="100"/>
        <c:axId val="1622419871"/>
        <c:axId val="1622420351"/>
      </c:barChart>
      <c:catAx>
        <c:axId val="1622419871"/>
        <c:scaling>
          <c:orientation val="maxMin"/>
        </c:scaling>
        <c:delete val="0"/>
        <c:axPos val="l"/>
        <c:minorGridlines>
          <c:spPr>
            <a:ln>
              <a:solidFill>
                <a:schemeClr val="bg1">
                  <a:alpha val="20000"/>
                </a:schemeClr>
              </a:solidFill>
            </a:ln>
            <a:effectLst/>
          </c:spPr>
        </c:minorGridlines>
        <c:numFmt formatCode="General" sourceLinked="1"/>
        <c:majorTickMark val="none"/>
        <c:minorTickMark val="none"/>
        <c:tickLblPos val="nextTo"/>
        <c:spPr>
          <a:noFill/>
          <a:ln w="12700" cap="flat" cmpd="sng" algn="ctr">
            <a:noFill/>
            <a:round/>
          </a:ln>
          <a:effectLst/>
        </c:spPr>
        <c:txPr>
          <a:bodyPr rot="-60000000" spcFirstLastPara="1" vertOverflow="ellipsis" vert="horz" wrap="square" anchor="ctr" anchorCtr="1"/>
          <a:lstStyle/>
          <a:p>
            <a:pPr>
              <a:defRPr sz="1400" b="0" i="0" u="none" strike="noStrike" kern="1200" baseline="0">
                <a:solidFill>
                  <a:schemeClr val="lt1">
                    <a:lumMod val="85000"/>
                  </a:schemeClr>
                </a:solidFill>
                <a:latin typeface="+mn-lt"/>
                <a:ea typeface="+mn-ea"/>
                <a:cs typeface="+mn-cs"/>
              </a:defRPr>
            </a:pPr>
            <a:endParaRPr lang="zh-CN"/>
          </a:p>
        </c:txPr>
        <c:crossAx val="1622420351"/>
        <c:crosses val="autoZero"/>
        <c:auto val="1"/>
        <c:lblAlgn val="ctr"/>
        <c:lblOffset val="100"/>
        <c:noMultiLvlLbl val="0"/>
      </c:catAx>
      <c:valAx>
        <c:axId val="1622420351"/>
        <c:scaling>
          <c:orientation val="minMax"/>
          <c:max val="46218"/>
          <c:min val="46073"/>
        </c:scaling>
        <c:delete val="0"/>
        <c:axPos val="t"/>
        <c:majorGridlines>
          <c:spPr>
            <a:ln w="9525" cap="flat" cmpd="sng" algn="ctr">
              <a:solidFill>
                <a:schemeClr val="lt1">
                  <a:lumMod val="95000"/>
                  <a:alpha val="10000"/>
                </a:schemeClr>
              </a:solidFill>
              <a:round/>
            </a:ln>
            <a:effectLst/>
          </c:spPr>
        </c:majorGridlines>
        <c:numFmt formatCode="m/d/yyyy"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lt1">
                    <a:lumMod val="85000"/>
                  </a:schemeClr>
                </a:solidFill>
                <a:latin typeface="+mn-lt"/>
                <a:ea typeface="+mn-ea"/>
                <a:cs typeface="+mn-cs"/>
              </a:defRPr>
            </a:pPr>
            <a:endParaRPr lang="zh-CN"/>
          </a:p>
        </c:txPr>
        <c:crossAx val="1622419871"/>
        <c:crosses val="autoZero"/>
        <c:crossBetween val="between"/>
        <c:majorUnit val="30"/>
      </c:valAx>
      <c:spPr>
        <a:noFill/>
        <a:ln>
          <a:noFill/>
        </a:ln>
        <a:effectLst/>
      </c:spPr>
    </c:plotArea>
    <c:legend>
      <c:legendPos val="b"/>
      <c:legendEntry>
        <c:idx val="0"/>
        <c:delete val="1"/>
      </c:legendEntry>
      <c:overlay val="0"/>
      <c:spPr>
        <a:noFill/>
        <a:ln>
          <a:noFill/>
        </a:ln>
        <a:effectLst/>
      </c:spPr>
      <c:txPr>
        <a:bodyPr rot="0" spcFirstLastPara="1" vertOverflow="ellipsis" vert="horz" wrap="square" anchor="ctr" anchorCtr="1"/>
        <a:lstStyle/>
        <a:p>
          <a:pPr>
            <a:defRPr sz="1400" b="0" i="0" u="none" strike="noStrike" kern="1200" baseline="0">
              <a:solidFill>
                <a:schemeClr val="lt1">
                  <a:lumMod val="85000"/>
                </a:schemeClr>
              </a:solidFill>
              <a:latin typeface="+mn-lt"/>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a:noFill/>
    </a:ln>
    <a:effectLst/>
  </c:spPr>
  <c:txPr>
    <a:bodyPr/>
    <a:lstStyle/>
    <a:p>
      <a:pPr>
        <a:defRPr sz="1400"/>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80" b="1" i="0" u="none" strike="noStrike" kern="1200" cap="none" baseline="0">
                <a:solidFill>
                  <a:schemeClr val="lt1">
                    <a:lumMod val="85000"/>
                  </a:schemeClr>
                </a:solidFill>
                <a:latin typeface="+mn-lt"/>
                <a:ea typeface="+mn-ea"/>
                <a:cs typeface="+mn-cs"/>
              </a:defRPr>
            </a:pPr>
            <a:r>
              <a:rPr lang="en-US"/>
              <a:t>Burn-Down</a:t>
            </a:r>
          </a:p>
        </c:rich>
      </c:tx>
      <c:overlay val="0"/>
      <c:spPr>
        <a:noFill/>
        <a:ln>
          <a:noFill/>
        </a:ln>
        <a:effectLst/>
      </c:spPr>
      <c:txPr>
        <a:bodyPr rot="0" spcFirstLastPara="1" vertOverflow="ellipsis" vert="horz" wrap="square" anchor="ctr" anchorCtr="1"/>
        <a:lstStyle/>
        <a:p>
          <a:pPr>
            <a:defRPr sz="1680" b="1" i="0" u="none" strike="noStrike" kern="1200" cap="none" baseline="0">
              <a:solidFill>
                <a:schemeClr val="lt1">
                  <a:lumMod val="85000"/>
                </a:schemeClr>
              </a:solidFill>
              <a:latin typeface="+mn-lt"/>
              <a:ea typeface="+mn-ea"/>
              <a:cs typeface="+mn-cs"/>
            </a:defRPr>
          </a:pPr>
          <a:endParaRPr lang="zh-CN"/>
        </a:p>
      </c:txPr>
    </c:title>
    <c:autoTitleDeleted val="0"/>
    <c:plotArea>
      <c:layout/>
      <c:lineChart>
        <c:grouping val="standard"/>
        <c:varyColors val="0"/>
        <c:ser>
          <c:idx val="0"/>
          <c:order val="0"/>
          <c:tx>
            <c:strRef>
              <c:f>'Burn-Down'!$A$4</c:f>
              <c:strCache>
                <c:ptCount val="1"/>
                <c:pt idx="0">
                  <c:v>Remaining</c:v>
                </c:pt>
              </c:strCache>
            </c:strRef>
          </c:tx>
          <c:spPr>
            <a:ln w="38100" cap="rnd">
              <a:solidFill>
                <a:schemeClr val="accent1"/>
              </a:solidFill>
            </a:ln>
            <a:effectLst>
              <a:glow rad="139700">
                <a:schemeClr val="accent1">
                  <a:satMod val="175000"/>
                  <a:alpha val="14000"/>
                </a:schemeClr>
              </a:glow>
            </a:effectLst>
          </c:spPr>
          <c:marker>
            <c:symbol val="none"/>
          </c:marker>
          <c:dLbls>
            <c:spPr>
              <a:noFill/>
              <a:ln>
                <a:noFill/>
              </a:ln>
              <a:effectLst/>
            </c:spPr>
            <c:txPr>
              <a:bodyPr rot="0" spcFirstLastPara="1" vertOverflow="ellipsis" vert="horz" wrap="square" anchor="ctr" anchorCtr="1"/>
              <a:lstStyle/>
              <a:p>
                <a:pPr>
                  <a:defRPr sz="1400" b="0" i="0" u="none" strike="noStrike" kern="1200" baseline="0">
                    <a:solidFill>
                      <a:schemeClr val="lt1">
                        <a:lumMod val="75000"/>
                      </a:schemeClr>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50000"/>
                        </a:schemeClr>
                      </a:solidFill>
                      <a:round/>
                    </a:ln>
                    <a:effectLst/>
                  </c:spPr>
                </c15:leaderLines>
              </c:ext>
            </c:extLst>
          </c:dLbls>
          <c:val>
            <c:numRef>
              <c:f>'Burn-Down'!$B$4:$L$4</c:f>
              <c:numCache>
                <c:formatCode>General</c:formatCode>
                <c:ptCount val="11"/>
                <c:pt idx="0">
                  <c:v>100</c:v>
                </c:pt>
                <c:pt idx="1">
                  <c:v>95</c:v>
                </c:pt>
                <c:pt idx="2">
                  <c:v>91</c:v>
                </c:pt>
                <c:pt idx="3">
                  <c:v>89</c:v>
                </c:pt>
                <c:pt idx="4">
                  <c:v>81</c:v>
                </c:pt>
                <c:pt idx="5">
                  <c:v>66</c:v>
                </c:pt>
                <c:pt idx="6">
                  <c:v>46</c:v>
                </c:pt>
                <c:pt idx="7">
                  <c:v>22</c:v>
                </c:pt>
                <c:pt idx="8">
                  <c:v>14</c:v>
                </c:pt>
                <c:pt idx="9">
                  <c:v>6</c:v>
                </c:pt>
                <c:pt idx="10">
                  <c:v>0</c:v>
                </c:pt>
              </c:numCache>
            </c:numRef>
          </c:val>
          <c:smooth val="0"/>
          <c:extLst>
            <c:ext xmlns:c16="http://schemas.microsoft.com/office/drawing/2014/chart" uri="{C3380CC4-5D6E-409C-BE32-E72D297353CC}">
              <c16:uniqueId val="{00000000-3791-481F-8AA3-E0FDAB3D9CD9}"/>
            </c:ext>
          </c:extLst>
        </c:ser>
        <c:ser>
          <c:idx val="1"/>
          <c:order val="1"/>
          <c:tx>
            <c:strRef>
              <c:f>'Burn-Down'!$A$5</c:f>
              <c:strCache>
                <c:ptCount val="1"/>
                <c:pt idx="0">
                  <c:v>Ideal</c:v>
                </c:pt>
              </c:strCache>
            </c:strRef>
          </c:tx>
          <c:spPr>
            <a:ln w="38100" cap="rnd">
              <a:solidFill>
                <a:schemeClr val="accent2"/>
              </a:solidFill>
            </a:ln>
            <a:effectLst>
              <a:glow rad="139700">
                <a:schemeClr val="accent2">
                  <a:satMod val="175000"/>
                  <a:alpha val="14000"/>
                </a:schemeClr>
              </a:glow>
            </a:effectLst>
          </c:spPr>
          <c:marker>
            <c:symbol val="none"/>
          </c:marker>
          <c:dLbls>
            <c:spPr>
              <a:noFill/>
              <a:ln>
                <a:noFill/>
              </a:ln>
              <a:effectLst/>
            </c:spPr>
            <c:txPr>
              <a:bodyPr rot="0" spcFirstLastPara="1" vertOverflow="ellipsis" vert="horz" wrap="square" anchor="ctr" anchorCtr="1"/>
              <a:lstStyle/>
              <a:p>
                <a:pPr>
                  <a:defRPr sz="1400" b="0" i="0" u="none" strike="noStrike" kern="1200" baseline="0">
                    <a:solidFill>
                      <a:schemeClr val="lt1">
                        <a:lumMod val="75000"/>
                      </a:schemeClr>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50000"/>
                        </a:schemeClr>
                      </a:solidFill>
                      <a:round/>
                    </a:ln>
                    <a:effectLst/>
                  </c:spPr>
                </c15:leaderLines>
              </c:ext>
            </c:extLst>
          </c:dLbls>
          <c:val>
            <c:numRef>
              <c:f>'Burn-Down'!$B$5:$L$5</c:f>
              <c:numCache>
                <c:formatCode>General</c:formatCode>
                <c:ptCount val="11"/>
                <c:pt idx="0">
                  <c:v>100</c:v>
                </c:pt>
                <c:pt idx="1">
                  <c:v>90</c:v>
                </c:pt>
                <c:pt idx="2">
                  <c:v>80</c:v>
                </c:pt>
                <c:pt idx="3">
                  <c:v>70</c:v>
                </c:pt>
                <c:pt idx="4">
                  <c:v>60</c:v>
                </c:pt>
                <c:pt idx="5">
                  <c:v>50</c:v>
                </c:pt>
                <c:pt idx="6">
                  <c:v>40</c:v>
                </c:pt>
                <c:pt idx="7">
                  <c:v>30</c:v>
                </c:pt>
                <c:pt idx="8">
                  <c:v>20</c:v>
                </c:pt>
                <c:pt idx="9">
                  <c:v>10</c:v>
                </c:pt>
                <c:pt idx="10">
                  <c:v>0</c:v>
                </c:pt>
              </c:numCache>
            </c:numRef>
          </c:val>
          <c:smooth val="0"/>
          <c:extLst>
            <c:ext xmlns:c16="http://schemas.microsoft.com/office/drawing/2014/chart" uri="{C3380CC4-5D6E-409C-BE32-E72D297353CC}">
              <c16:uniqueId val="{00000001-3791-481F-8AA3-E0FDAB3D9CD9}"/>
            </c:ext>
          </c:extLst>
        </c:ser>
        <c:dLbls>
          <c:showLegendKey val="0"/>
          <c:showVal val="0"/>
          <c:showCatName val="0"/>
          <c:showSerName val="0"/>
          <c:showPercent val="0"/>
          <c:showBubbleSize val="0"/>
        </c:dLbls>
        <c:smooth val="0"/>
        <c:axId val="863196287"/>
        <c:axId val="706923679"/>
      </c:lineChart>
      <c:catAx>
        <c:axId val="863196287"/>
        <c:scaling>
          <c:orientation val="minMax"/>
        </c:scaling>
        <c:delete val="0"/>
        <c:axPos val="b"/>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lt1">
                    <a:lumMod val="75000"/>
                  </a:schemeClr>
                </a:solidFill>
                <a:latin typeface="+mn-lt"/>
                <a:ea typeface="+mn-ea"/>
                <a:cs typeface="+mn-cs"/>
              </a:defRPr>
            </a:pPr>
            <a:endParaRPr lang="zh-CN"/>
          </a:p>
        </c:txPr>
        <c:crossAx val="706923679"/>
        <c:crosses val="autoZero"/>
        <c:auto val="1"/>
        <c:lblAlgn val="ctr"/>
        <c:lblOffset val="100"/>
        <c:noMultiLvlLbl val="0"/>
      </c:catAx>
      <c:valAx>
        <c:axId val="706923679"/>
        <c:scaling>
          <c:orientation val="minMax"/>
        </c:scaling>
        <c:delete val="0"/>
        <c:axPos val="l"/>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lt1">
                    <a:lumMod val="75000"/>
                  </a:schemeClr>
                </a:solidFill>
                <a:latin typeface="+mn-lt"/>
                <a:ea typeface="+mn-ea"/>
                <a:cs typeface="+mn-cs"/>
              </a:defRPr>
            </a:pPr>
            <a:endParaRPr lang="zh-CN"/>
          </a:p>
        </c:txPr>
        <c:crossAx val="863196287"/>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400" b="0" i="0" u="none" strike="noStrike" kern="1200" baseline="0">
              <a:solidFill>
                <a:schemeClr val="lt1">
                  <a:lumMod val="75000"/>
                </a:schemeClr>
              </a:solidFill>
              <a:latin typeface="+mn-lt"/>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w="9525" cap="flat" cmpd="sng" algn="ctr">
      <a:noFill/>
      <a:round/>
    </a:ln>
    <a:effectLst/>
  </c:spPr>
  <c:txPr>
    <a:bodyPr/>
    <a:lstStyle/>
    <a:p>
      <a:pPr>
        <a:defRPr sz="1400"/>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80" b="1" i="0" u="none" strike="noStrike" kern="1200" cap="none" baseline="0">
                <a:solidFill>
                  <a:schemeClr val="lt1">
                    <a:lumMod val="85000"/>
                  </a:schemeClr>
                </a:solidFill>
                <a:latin typeface="+mn-lt"/>
                <a:ea typeface="+mn-ea"/>
                <a:cs typeface="+mn-cs"/>
              </a:defRPr>
            </a:pPr>
            <a:r>
              <a:rPr lang="en-US"/>
              <a:t>Burn-Up</a:t>
            </a:r>
          </a:p>
        </c:rich>
      </c:tx>
      <c:overlay val="0"/>
      <c:spPr>
        <a:noFill/>
        <a:ln>
          <a:noFill/>
        </a:ln>
        <a:effectLst/>
      </c:spPr>
      <c:txPr>
        <a:bodyPr rot="0" spcFirstLastPara="1" vertOverflow="ellipsis" vert="horz" wrap="square" anchor="ctr" anchorCtr="1"/>
        <a:lstStyle/>
        <a:p>
          <a:pPr>
            <a:defRPr sz="1680" b="1" i="0" u="none" strike="noStrike" kern="1200" cap="none" baseline="0">
              <a:solidFill>
                <a:schemeClr val="lt1">
                  <a:lumMod val="85000"/>
                </a:schemeClr>
              </a:solidFill>
              <a:latin typeface="+mn-lt"/>
              <a:ea typeface="+mn-ea"/>
              <a:cs typeface="+mn-cs"/>
            </a:defRPr>
          </a:pPr>
          <a:endParaRPr lang="zh-CN"/>
        </a:p>
      </c:txPr>
    </c:title>
    <c:autoTitleDeleted val="0"/>
    <c:plotArea>
      <c:layout/>
      <c:lineChart>
        <c:grouping val="standard"/>
        <c:varyColors val="0"/>
        <c:ser>
          <c:idx val="0"/>
          <c:order val="0"/>
          <c:tx>
            <c:strRef>
              <c:f>'Burn-Up'!$A$2</c:f>
              <c:strCache>
                <c:ptCount val="1"/>
                <c:pt idx="0">
                  <c:v>Completed</c:v>
                </c:pt>
              </c:strCache>
            </c:strRef>
          </c:tx>
          <c:spPr>
            <a:ln w="38100" cap="rnd">
              <a:solidFill>
                <a:schemeClr val="accent1"/>
              </a:solidFill>
            </a:ln>
            <a:effectLst>
              <a:glow rad="139700">
                <a:schemeClr val="accent1">
                  <a:satMod val="175000"/>
                  <a:alpha val="14000"/>
                </a:schemeClr>
              </a:glow>
            </a:effectLst>
          </c:spPr>
          <c:marker>
            <c:symbol val="none"/>
          </c:marker>
          <c:dLbls>
            <c:spPr>
              <a:noFill/>
              <a:ln>
                <a:noFill/>
              </a:ln>
              <a:effectLst/>
            </c:spPr>
            <c:txPr>
              <a:bodyPr rot="0" spcFirstLastPara="1" vertOverflow="ellipsis" vert="horz" wrap="square" anchor="ctr" anchorCtr="1"/>
              <a:lstStyle/>
              <a:p>
                <a:pPr>
                  <a:defRPr sz="1400" b="0" i="0" u="none" strike="noStrike" kern="1200" baseline="0">
                    <a:solidFill>
                      <a:schemeClr val="lt1">
                        <a:lumMod val="75000"/>
                      </a:schemeClr>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50000"/>
                        </a:schemeClr>
                      </a:solidFill>
                      <a:round/>
                    </a:ln>
                    <a:effectLst/>
                  </c:spPr>
                </c15:leaderLines>
              </c:ext>
            </c:extLst>
          </c:dLbls>
          <c:cat>
            <c:strRef>
              <c:f>'Burn-Up'!$B$1:$L$1</c:f>
              <c:strCache>
                <c:ptCount val="11"/>
                <c:pt idx="0">
                  <c:v>Start</c:v>
                </c:pt>
                <c:pt idx="1">
                  <c:v>Day1</c:v>
                </c:pt>
                <c:pt idx="2">
                  <c:v>Day2</c:v>
                </c:pt>
                <c:pt idx="3">
                  <c:v>Day3</c:v>
                </c:pt>
                <c:pt idx="4">
                  <c:v>Day4</c:v>
                </c:pt>
                <c:pt idx="5">
                  <c:v>Day5</c:v>
                </c:pt>
                <c:pt idx="6">
                  <c:v>Day6</c:v>
                </c:pt>
                <c:pt idx="7">
                  <c:v>Day7</c:v>
                </c:pt>
                <c:pt idx="8">
                  <c:v>Day8</c:v>
                </c:pt>
                <c:pt idx="9">
                  <c:v>Day9</c:v>
                </c:pt>
                <c:pt idx="10">
                  <c:v>Day10</c:v>
                </c:pt>
              </c:strCache>
            </c:strRef>
          </c:cat>
          <c:val>
            <c:numRef>
              <c:f>'Burn-Up'!$B$2:$L$2</c:f>
              <c:numCache>
                <c:formatCode>General</c:formatCode>
                <c:ptCount val="11"/>
                <c:pt idx="0">
                  <c:v>0</c:v>
                </c:pt>
                <c:pt idx="1">
                  <c:v>10</c:v>
                </c:pt>
                <c:pt idx="2">
                  <c:v>15</c:v>
                </c:pt>
                <c:pt idx="3">
                  <c:v>20</c:v>
                </c:pt>
                <c:pt idx="4">
                  <c:v>30</c:v>
                </c:pt>
                <c:pt idx="5">
                  <c:v>35</c:v>
                </c:pt>
                <c:pt idx="6">
                  <c:v>55</c:v>
                </c:pt>
                <c:pt idx="7">
                  <c:v>60</c:v>
                </c:pt>
                <c:pt idx="8">
                  <c:v>85</c:v>
                </c:pt>
                <c:pt idx="9">
                  <c:v>95</c:v>
                </c:pt>
                <c:pt idx="10">
                  <c:v>120</c:v>
                </c:pt>
              </c:numCache>
            </c:numRef>
          </c:val>
          <c:smooth val="0"/>
          <c:extLst>
            <c:ext xmlns:c16="http://schemas.microsoft.com/office/drawing/2014/chart" uri="{C3380CC4-5D6E-409C-BE32-E72D297353CC}">
              <c16:uniqueId val="{00000000-22AC-4B42-8037-4B058C65756C}"/>
            </c:ext>
          </c:extLst>
        </c:ser>
        <c:ser>
          <c:idx val="1"/>
          <c:order val="1"/>
          <c:tx>
            <c:strRef>
              <c:f>'Burn-Up'!$A$3</c:f>
              <c:strCache>
                <c:ptCount val="1"/>
                <c:pt idx="0">
                  <c:v>Total</c:v>
                </c:pt>
              </c:strCache>
            </c:strRef>
          </c:tx>
          <c:spPr>
            <a:ln w="38100" cap="rnd">
              <a:solidFill>
                <a:schemeClr val="accent2"/>
              </a:solidFill>
            </a:ln>
            <a:effectLst>
              <a:glow rad="139700">
                <a:schemeClr val="accent2">
                  <a:satMod val="175000"/>
                  <a:alpha val="14000"/>
                </a:schemeClr>
              </a:glow>
            </a:effectLst>
          </c:spPr>
          <c:marker>
            <c:symbol val="none"/>
          </c:marker>
          <c:dLbls>
            <c:spPr>
              <a:noFill/>
              <a:ln>
                <a:noFill/>
              </a:ln>
              <a:effectLst/>
            </c:spPr>
            <c:txPr>
              <a:bodyPr rot="0" spcFirstLastPara="1" vertOverflow="ellipsis" vert="horz" wrap="square" anchor="ctr" anchorCtr="1"/>
              <a:lstStyle/>
              <a:p>
                <a:pPr>
                  <a:defRPr sz="1400" b="0" i="0" u="none" strike="noStrike" kern="1200" baseline="0">
                    <a:solidFill>
                      <a:schemeClr val="lt1">
                        <a:lumMod val="75000"/>
                      </a:schemeClr>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50000"/>
                        </a:schemeClr>
                      </a:solidFill>
                      <a:round/>
                    </a:ln>
                    <a:effectLst/>
                  </c:spPr>
                </c15:leaderLines>
              </c:ext>
            </c:extLst>
          </c:dLbls>
          <c:cat>
            <c:strRef>
              <c:f>'Burn-Up'!$B$1:$L$1</c:f>
              <c:strCache>
                <c:ptCount val="11"/>
                <c:pt idx="0">
                  <c:v>Start</c:v>
                </c:pt>
                <c:pt idx="1">
                  <c:v>Day1</c:v>
                </c:pt>
                <c:pt idx="2">
                  <c:v>Day2</c:v>
                </c:pt>
                <c:pt idx="3">
                  <c:v>Day3</c:v>
                </c:pt>
                <c:pt idx="4">
                  <c:v>Day4</c:v>
                </c:pt>
                <c:pt idx="5">
                  <c:v>Day5</c:v>
                </c:pt>
                <c:pt idx="6">
                  <c:v>Day6</c:v>
                </c:pt>
                <c:pt idx="7">
                  <c:v>Day7</c:v>
                </c:pt>
                <c:pt idx="8">
                  <c:v>Day8</c:v>
                </c:pt>
                <c:pt idx="9">
                  <c:v>Day9</c:v>
                </c:pt>
                <c:pt idx="10">
                  <c:v>Day10</c:v>
                </c:pt>
              </c:strCache>
            </c:strRef>
          </c:cat>
          <c:val>
            <c:numRef>
              <c:f>'Burn-Up'!$B$3:$L$3</c:f>
              <c:numCache>
                <c:formatCode>General</c:formatCode>
                <c:ptCount val="11"/>
                <c:pt idx="0">
                  <c:v>100</c:v>
                </c:pt>
                <c:pt idx="1">
                  <c:v>100</c:v>
                </c:pt>
                <c:pt idx="2">
                  <c:v>100</c:v>
                </c:pt>
                <c:pt idx="3">
                  <c:v>100</c:v>
                </c:pt>
                <c:pt idx="4">
                  <c:v>100</c:v>
                </c:pt>
                <c:pt idx="5">
                  <c:v>100</c:v>
                </c:pt>
                <c:pt idx="6">
                  <c:v>120</c:v>
                </c:pt>
                <c:pt idx="7">
                  <c:v>120</c:v>
                </c:pt>
                <c:pt idx="8">
                  <c:v>120</c:v>
                </c:pt>
                <c:pt idx="9">
                  <c:v>120</c:v>
                </c:pt>
                <c:pt idx="10">
                  <c:v>120</c:v>
                </c:pt>
              </c:numCache>
            </c:numRef>
          </c:val>
          <c:smooth val="0"/>
          <c:extLst>
            <c:ext xmlns:c16="http://schemas.microsoft.com/office/drawing/2014/chart" uri="{C3380CC4-5D6E-409C-BE32-E72D297353CC}">
              <c16:uniqueId val="{00000001-22AC-4B42-8037-4B058C65756C}"/>
            </c:ext>
          </c:extLst>
        </c:ser>
        <c:dLbls>
          <c:showLegendKey val="0"/>
          <c:showVal val="0"/>
          <c:showCatName val="0"/>
          <c:showSerName val="0"/>
          <c:showPercent val="0"/>
          <c:showBubbleSize val="0"/>
        </c:dLbls>
        <c:smooth val="0"/>
        <c:axId val="993848127"/>
        <c:axId val="993843807"/>
      </c:lineChart>
      <c:catAx>
        <c:axId val="993848127"/>
        <c:scaling>
          <c:orientation val="minMax"/>
        </c:scaling>
        <c:delete val="0"/>
        <c:axPos val="b"/>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lt1">
                    <a:lumMod val="75000"/>
                  </a:schemeClr>
                </a:solidFill>
                <a:latin typeface="+mn-lt"/>
                <a:ea typeface="+mn-ea"/>
                <a:cs typeface="+mn-cs"/>
              </a:defRPr>
            </a:pPr>
            <a:endParaRPr lang="zh-CN"/>
          </a:p>
        </c:txPr>
        <c:crossAx val="993843807"/>
        <c:crosses val="autoZero"/>
        <c:auto val="1"/>
        <c:lblAlgn val="ctr"/>
        <c:lblOffset val="100"/>
        <c:noMultiLvlLbl val="0"/>
      </c:catAx>
      <c:valAx>
        <c:axId val="993843807"/>
        <c:scaling>
          <c:orientation val="minMax"/>
        </c:scaling>
        <c:delete val="0"/>
        <c:axPos val="l"/>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lt1">
                    <a:lumMod val="75000"/>
                  </a:schemeClr>
                </a:solidFill>
                <a:latin typeface="+mn-lt"/>
                <a:ea typeface="+mn-ea"/>
                <a:cs typeface="+mn-cs"/>
              </a:defRPr>
            </a:pPr>
            <a:endParaRPr lang="zh-CN"/>
          </a:p>
        </c:txPr>
        <c:crossAx val="993848127"/>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400" b="0" i="0" u="none" strike="noStrike" kern="1200" baseline="0">
              <a:solidFill>
                <a:schemeClr val="lt1">
                  <a:lumMod val="75000"/>
                </a:schemeClr>
              </a:solidFill>
              <a:latin typeface="+mn-lt"/>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w="9525" cap="flat" cmpd="sng" algn="ctr">
      <a:noFill/>
      <a:round/>
    </a:ln>
    <a:effectLst/>
  </c:spPr>
  <c:txPr>
    <a:bodyPr/>
    <a:lstStyle/>
    <a:p>
      <a:pPr>
        <a:defRPr sz="1400"/>
      </a:pPr>
      <a:endParaRPr lang="zh-CN"/>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1" i="0" u="none" strike="noStrike" kern="1200" cap="none" baseline="0">
                <a:solidFill>
                  <a:schemeClr val="lt1">
                    <a:lumMod val="85000"/>
                  </a:schemeClr>
                </a:solidFill>
                <a:latin typeface="+mn-lt"/>
                <a:ea typeface="+mn-ea"/>
                <a:cs typeface="+mn-cs"/>
              </a:defRPr>
            </a:pPr>
            <a:r>
              <a:rPr lang="zh-CN"/>
              <a:t>用户数量和平均响应时间</a:t>
            </a:r>
            <a:endParaRPr lang="en-US"/>
          </a:p>
        </c:rich>
      </c:tx>
      <c:overlay val="0"/>
      <c:spPr>
        <a:noFill/>
        <a:ln>
          <a:noFill/>
        </a:ln>
        <a:effectLst/>
      </c:spPr>
      <c:txPr>
        <a:bodyPr rot="0" spcFirstLastPara="1" vertOverflow="ellipsis" vert="horz" wrap="square" anchor="ctr" anchorCtr="1"/>
        <a:lstStyle/>
        <a:p>
          <a:pPr>
            <a:defRPr sz="1862" b="1" i="0" u="none" strike="noStrike" kern="1200" cap="none" baseline="0">
              <a:solidFill>
                <a:schemeClr val="lt1">
                  <a:lumMod val="85000"/>
                </a:schemeClr>
              </a:solidFill>
              <a:latin typeface="+mn-lt"/>
              <a:ea typeface="+mn-ea"/>
              <a:cs typeface="+mn-cs"/>
            </a:defRPr>
          </a:pPr>
          <a:endParaRPr lang="en-US" altLang="zh-CN"/>
        </a:p>
      </c:txPr>
    </c:title>
    <c:autoTitleDeleted val="0"/>
    <c:plotArea>
      <c:layout/>
      <c:scatterChart>
        <c:scatterStyle val="lineMarker"/>
        <c:varyColors val="0"/>
        <c:ser>
          <c:idx val="0"/>
          <c:order val="0"/>
          <c:tx>
            <c:strRef>
              <c:f>'散点图 Scatter'!$B$1</c:f>
              <c:strCache>
                <c:ptCount val="1"/>
                <c:pt idx="0">
                  <c:v>平均响应时间/毫秒 (Y轴)</c:v>
                </c:pt>
              </c:strCache>
            </c:strRef>
          </c:tx>
          <c:spPr>
            <a:ln w="25400" cap="rnd">
              <a:noFill/>
            </a:ln>
            <a:effectLst>
              <a:glow rad="139700">
                <a:schemeClr val="accent1">
                  <a:satMod val="175000"/>
                  <a:alpha val="14000"/>
                </a:schemeClr>
              </a:glow>
            </a:effectLst>
          </c:spPr>
          <c:marker>
            <c:symbol val="circle"/>
            <c:size val="3"/>
            <c:spPr>
              <a:solidFill>
                <a:schemeClr val="accent1">
                  <a:lumMod val="60000"/>
                  <a:lumOff val="40000"/>
                </a:schemeClr>
              </a:solidFill>
              <a:ln>
                <a:noFill/>
              </a:ln>
              <a:effectLst>
                <a:glow rad="63500">
                  <a:schemeClr val="accent1">
                    <a:satMod val="175000"/>
                    <a:alpha val="25000"/>
                  </a:schemeClr>
                </a:glow>
              </a:effectLst>
            </c:spPr>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FFFF00"/>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50000"/>
                        </a:schemeClr>
                      </a:solidFill>
                      <a:round/>
                    </a:ln>
                    <a:effectLst/>
                  </c:spPr>
                </c15:leaderLines>
              </c:ext>
            </c:extLst>
          </c:dLbls>
          <c:xVal>
            <c:numRef>
              <c:f>'散点图 Scatter'!$A$2:$A$11</c:f>
              <c:numCache>
                <c:formatCode>General</c:formatCode>
                <c:ptCount val="10"/>
                <c:pt idx="0">
                  <c:v>10</c:v>
                </c:pt>
                <c:pt idx="1">
                  <c:v>20</c:v>
                </c:pt>
                <c:pt idx="2">
                  <c:v>30</c:v>
                </c:pt>
                <c:pt idx="3">
                  <c:v>40</c:v>
                </c:pt>
                <c:pt idx="4">
                  <c:v>50</c:v>
                </c:pt>
                <c:pt idx="5">
                  <c:v>60</c:v>
                </c:pt>
                <c:pt idx="6">
                  <c:v>70</c:v>
                </c:pt>
                <c:pt idx="7">
                  <c:v>80</c:v>
                </c:pt>
                <c:pt idx="8">
                  <c:v>90</c:v>
                </c:pt>
                <c:pt idx="9">
                  <c:v>100</c:v>
                </c:pt>
              </c:numCache>
            </c:numRef>
          </c:xVal>
          <c:yVal>
            <c:numRef>
              <c:f>'散点图 Scatter'!$B$2:$B$11</c:f>
              <c:numCache>
                <c:formatCode>General</c:formatCode>
                <c:ptCount val="10"/>
                <c:pt idx="0">
                  <c:v>120</c:v>
                </c:pt>
                <c:pt idx="1">
                  <c:v>135</c:v>
                </c:pt>
                <c:pt idx="2">
                  <c:v>150</c:v>
                </c:pt>
                <c:pt idx="3">
                  <c:v>165</c:v>
                </c:pt>
                <c:pt idx="4">
                  <c:v>190</c:v>
                </c:pt>
                <c:pt idx="5">
                  <c:v>210</c:v>
                </c:pt>
                <c:pt idx="6">
                  <c:v>240</c:v>
                </c:pt>
                <c:pt idx="7">
                  <c:v>280</c:v>
                </c:pt>
                <c:pt idx="8">
                  <c:v>330</c:v>
                </c:pt>
                <c:pt idx="9">
                  <c:v>400</c:v>
                </c:pt>
              </c:numCache>
            </c:numRef>
          </c:yVal>
          <c:smooth val="0"/>
          <c:extLst>
            <c:ext xmlns:c16="http://schemas.microsoft.com/office/drawing/2014/chart" uri="{C3380CC4-5D6E-409C-BE32-E72D297353CC}">
              <c16:uniqueId val="{00000000-28D3-4986-8A5B-FEA2A743C4B3}"/>
            </c:ext>
          </c:extLst>
        </c:ser>
        <c:dLbls>
          <c:dLblPos val="t"/>
          <c:showLegendKey val="0"/>
          <c:showVal val="1"/>
          <c:showCatName val="0"/>
          <c:showSerName val="0"/>
          <c:showPercent val="0"/>
          <c:showBubbleSize val="0"/>
        </c:dLbls>
        <c:axId val="1638089488"/>
        <c:axId val="1638101008"/>
      </c:scatterChart>
      <c:valAx>
        <c:axId val="1638089488"/>
        <c:scaling>
          <c:orientation val="minMax"/>
        </c:scaling>
        <c:delete val="0"/>
        <c:axPos val="b"/>
        <c:majorGridlines>
          <c:spPr>
            <a:ln w="9525" cap="flat" cmpd="sng" algn="ctr">
              <a:solidFill>
                <a:schemeClr val="dk1">
                  <a:lumMod val="65000"/>
                  <a:lumOff val="35000"/>
                  <a:alpha val="75000"/>
                </a:schemeClr>
              </a:solidFill>
              <a:round/>
            </a:ln>
            <a:effectLst/>
          </c:spPr>
        </c:majorGridlines>
        <c:title>
          <c:tx>
            <c:rich>
              <a:bodyPr rot="0" spcFirstLastPara="1" vertOverflow="ellipsis" vert="horz" wrap="square" anchor="ctr" anchorCtr="1"/>
              <a:lstStyle/>
              <a:p>
                <a:pPr>
                  <a:defRPr sz="1197" b="1" i="0" u="none" strike="noStrike" kern="1200" baseline="0">
                    <a:solidFill>
                      <a:schemeClr val="lt1">
                        <a:lumMod val="75000"/>
                      </a:schemeClr>
                    </a:solidFill>
                    <a:latin typeface="+mn-lt"/>
                    <a:ea typeface="+mn-ea"/>
                    <a:cs typeface="+mn-cs"/>
                  </a:defRPr>
                </a:pPr>
                <a:r>
                  <a:rPr lang="zh-CN"/>
                  <a:t>用户数量</a:t>
                </a:r>
              </a:p>
            </c:rich>
          </c:tx>
          <c:overlay val="0"/>
          <c:spPr>
            <a:noFill/>
            <a:ln>
              <a:noFill/>
            </a:ln>
            <a:effectLst/>
          </c:spPr>
          <c:txPr>
            <a:bodyPr rot="0" spcFirstLastPara="1" vertOverflow="ellipsis" vert="horz" wrap="square" anchor="ctr" anchorCtr="1"/>
            <a:lstStyle/>
            <a:p>
              <a:pPr>
                <a:defRPr sz="1197" b="1" i="0" u="none" strike="noStrike" kern="1200" baseline="0">
                  <a:solidFill>
                    <a:schemeClr val="lt1">
                      <a:lumMod val="75000"/>
                    </a:schemeClr>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lt1">
                <a:lumMod val="50000"/>
              </a:schemeClr>
            </a:solidFill>
            <a:round/>
          </a:ln>
          <a:effectLst/>
        </c:spPr>
        <c:txPr>
          <a:bodyPr rot="-600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zh-CN"/>
          </a:p>
        </c:txPr>
        <c:crossAx val="1638101008"/>
        <c:crosses val="autoZero"/>
        <c:crossBetween val="midCat"/>
      </c:valAx>
      <c:valAx>
        <c:axId val="1638101008"/>
        <c:scaling>
          <c:orientation val="minMax"/>
        </c:scaling>
        <c:delete val="0"/>
        <c:axPos val="l"/>
        <c:majorGridlines>
          <c:spPr>
            <a:ln w="9525" cap="flat" cmpd="sng" algn="ctr">
              <a:solidFill>
                <a:schemeClr val="dk1">
                  <a:lumMod val="65000"/>
                  <a:lumOff val="35000"/>
                  <a:alpha val="75000"/>
                </a:schemeClr>
              </a:solidFill>
              <a:round/>
            </a:ln>
            <a:effectLst/>
          </c:spPr>
        </c:majorGridlines>
        <c:title>
          <c:tx>
            <c:rich>
              <a:bodyPr rot="-5400000" spcFirstLastPara="1" vertOverflow="ellipsis" vert="horz" wrap="square" anchor="ctr" anchorCtr="1"/>
              <a:lstStyle/>
              <a:p>
                <a:pPr>
                  <a:defRPr sz="1197" b="1" i="0" u="none" strike="noStrike" kern="1200" baseline="0">
                    <a:solidFill>
                      <a:schemeClr val="lt1">
                        <a:lumMod val="75000"/>
                      </a:schemeClr>
                    </a:solidFill>
                    <a:latin typeface="+mn-lt"/>
                    <a:ea typeface="+mn-ea"/>
                    <a:cs typeface="+mn-cs"/>
                  </a:defRPr>
                </a:pPr>
                <a:r>
                  <a:rPr lang="zh-CN"/>
                  <a:t>响应时间</a:t>
                </a:r>
              </a:p>
            </c:rich>
          </c:tx>
          <c:overlay val="0"/>
          <c:spPr>
            <a:noFill/>
            <a:ln>
              <a:noFill/>
            </a:ln>
            <a:effectLst/>
          </c:spPr>
          <c:txPr>
            <a:bodyPr rot="-5400000" spcFirstLastPara="1" vertOverflow="ellipsis" vert="horz" wrap="square" anchor="ctr" anchorCtr="1"/>
            <a:lstStyle/>
            <a:p>
              <a:pPr>
                <a:defRPr sz="1197" b="1" i="0" u="none" strike="noStrike" kern="1200" baseline="0">
                  <a:solidFill>
                    <a:schemeClr val="lt1">
                      <a:lumMod val="75000"/>
                    </a:schemeClr>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lt1">
                <a:lumMod val="50000"/>
              </a:schemeClr>
            </a:solidFill>
            <a:round/>
          </a:ln>
          <a:effectLst/>
        </c:spPr>
        <c:txPr>
          <a:bodyPr rot="-600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zh-CN"/>
          </a:p>
        </c:txPr>
        <c:crossAx val="1638089488"/>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dk1">
        <a:lumMod val="75000"/>
        <a:lumOff val="25000"/>
      </a:schemeClr>
    </a:solidFill>
    <a:ln w="9525" cap="flat" cmpd="sng" algn="ctr">
      <a:solidFill>
        <a:schemeClr val="dk1">
          <a:lumMod val="15000"/>
          <a:lumOff val="85000"/>
        </a:schemeClr>
      </a:solidFill>
      <a:round/>
    </a:ln>
    <a:effectLst/>
  </c:spPr>
  <c:txPr>
    <a:bodyPr/>
    <a:lstStyle/>
    <a:p>
      <a:pPr>
        <a:defRPr/>
      </a:pPr>
      <a:endParaRPr lang="zh-CN"/>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1" i="0" u="none" strike="noStrike" kern="1200" cap="none" baseline="0">
                <a:solidFill>
                  <a:schemeClr val="lt1">
                    <a:lumMod val="85000"/>
                  </a:schemeClr>
                </a:solidFill>
                <a:latin typeface="+mn-lt"/>
                <a:ea typeface="+mn-ea"/>
                <a:cs typeface="+mn-cs"/>
              </a:defRPr>
            </a:pPr>
            <a:r>
              <a:rPr lang="zh-CN"/>
              <a:t>代码审查时间和上线后缺陷数</a:t>
            </a:r>
            <a:endParaRPr lang="en-US"/>
          </a:p>
        </c:rich>
      </c:tx>
      <c:overlay val="0"/>
      <c:spPr>
        <a:noFill/>
        <a:ln>
          <a:noFill/>
        </a:ln>
        <a:effectLst/>
      </c:spPr>
      <c:txPr>
        <a:bodyPr rot="0" spcFirstLastPara="1" vertOverflow="ellipsis" vert="horz" wrap="square" anchor="ctr" anchorCtr="1"/>
        <a:lstStyle/>
        <a:p>
          <a:pPr>
            <a:defRPr sz="1862" b="1" i="0" u="none" strike="noStrike" kern="1200" cap="none" baseline="0">
              <a:solidFill>
                <a:schemeClr val="lt1">
                  <a:lumMod val="85000"/>
                </a:schemeClr>
              </a:solidFill>
              <a:latin typeface="+mn-lt"/>
              <a:ea typeface="+mn-ea"/>
              <a:cs typeface="+mn-cs"/>
            </a:defRPr>
          </a:pPr>
          <a:endParaRPr lang="en-US" altLang="zh-CN"/>
        </a:p>
      </c:txPr>
    </c:title>
    <c:autoTitleDeleted val="0"/>
    <c:plotArea>
      <c:layout/>
      <c:scatterChart>
        <c:scatterStyle val="lineMarker"/>
        <c:varyColors val="0"/>
        <c:ser>
          <c:idx val="0"/>
          <c:order val="0"/>
          <c:tx>
            <c:strRef>
              <c:f>'散点图 Scatter'!$I$1</c:f>
              <c:strCache>
                <c:ptCount val="1"/>
                <c:pt idx="0">
                  <c:v>上线后缺陷数/个 (Y轴)</c:v>
                </c:pt>
              </c:strCache>
            </c:strRef>
          </c:tx>
          <c:spPr>
            <a:ln w="25400" cap="rnd">
              <a:noFill/>
            </a:ln>
            <a:effectLst>
              <a:glow rad="139700">
                <a:schemeClr val="accent1">
                  <a:satMod val="175000"/>
                  <a:alpha val="14000"/>
                </a:schemeClr>
              </a:glow>
            </a:effectLst>
          </c:spPr>
          <c:marker>
            <c:symbol val="circle"/>
            <c:size val="3"/>
            <c:spPr>
              <a:solidFill>
                <a:schemeClr val="accent1">
                  <a:lumMod val="60000"/>
                  <a:lumOff val="40000"/>
                </a:schemeClr>
              </a:solidFill>
              <a:ln>
                <a:noFill/>
              </a:ln>
              <a:effectLst>
                <a:glow rad="63500">
                  <a:schemeClr val="accent1">
                    <a:satMod val="175000"/>
                    <a:alpha val="25000"/>
                  </a:schemeClr>
                </a:glow>
              </a:effectLst>
            </c:spPr>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FFFF00"/>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50000"/>
                        </a:schemeClr>
                      </a:solidFill>
                      <a:round/>
                    </a:ln>
                    <a:effectLst/>
                  </c:spPr>
                </c15:leaderLines>
              </c:ext>
            </c:extLst>
          </c:dLbls>
          <c:xVal>
            <c:numRef>
              <c:f>'散点图 Scatter'!$H$2:$H$11</c:f>
              <c:numCache>
                <c:formatCode>General</c:formatCode>
                <c:ptCount val="10"/>
                <c:pt idx="0">
                  <c:v>1</c:v>
                </c:pt>
                <c:pt idx="1">
                  <c:v>2</c:v>
                </c:pt>
                <c:pt idx="2">
                  <c:v>3</c:v>
                </c:pt>
                <c:pt idx="3">
                  <c:v>4</c:v>
                </c:pt>
                <c:pt idx="4">
                  <c:v>5</c:v>
                </c:pt>
                <c:pt idx="5">
                  <c:v>6</c:v>
                </c:pt>
                <c:pt idx="6">
                  <c:v>7</c:v>
                </c:pt>
                <c:pt idx="7">
                  <c:v>8</c:v>
                </c:pt>
                <c:pt idx="8">
                  <c:v>9</c:v>
                </c:pt>
                <c:pt idx="9">
                  <c:v>10</c:v>
                </c:pt>
              </c:numCache>
            </c:numRef>
          </c:xVal>
          <c:yVal>
            <c:numRef>
              <c:f>'散点图 Scatter'!$I$2:$I$11</c:f>
              <c:numCache>
                <c:formatCode>General</c:formatCode>
                <c:ptCount val="10"/>
                <c:pt idx="0">
                  <c:v>25</c:v>
                </c:pt>
                <c:pt idx="1">
                  <c:v>22</c:v>
                </c:pt>
                <c:pt idx="2">
                  <c:v>18</c:v>
                </c:pt>
                <c:pt idx="3">
                  <c:v>15</c:v>
                </c:pt>
                <c:pt idx="4">
                  <c:v>12</c:v>
                </c:pt>
                <c:pt idx="5">
                  <c:v>10</c:v>
                </c:pt>
                <c:pt idx="6">
                  <c:v>8</c:v>
                </c:pt>
                <c:pt idx="7">
                  <c:v>7</c:v>
                </c:pt>
                <c:pt idx="8">
                  <c:v>5</c:v>
                </c:pt>
                <c:pt idx="9">
                  <c:v>4</c:v>
                </c:pt>
              </c:numCache>
            </c:numRef>
          </c:yVal>
          <c:smooth val="0"/>
          <c:extLst>
            <c:ext xmlns:c16="http://schemas.microsoft.com/office/drawing/2014/chart" uri="{C3380CC4-5D6E-409C-BE32-E72D297353CC}">
              <c16:uniqueId val="{00000000-CB01-4B4F-9731-9560B7CA95B7}"/>
            </c:ext>
          </c:extLst>
        </c:ser>
        <c:dLbls>
          <c:showLegendKey val="0"/>
          <c:showVal val="0"/>
          <c:showCatName val="0"/>
          <c:showSerName val="0"/>
          <c:showPercent val="0"/>
          <c:showBubbleSize val="0"/>
        </c:dLbls>
        <c:axId val="1719611296"/>
        <c:axId val="1719605536"/>
      </c:scatterChart>
      <c:valAx>
        <c:axId val="1719611296"/>
        <c:scaling>
          <c:orientation val="minMax"/>
        </c:scaling>
        <c:delete val="0"/>
        <c:axPos val="b"/>
        <c:majorGridlines>
          <c:spPr>
            <a:ln w="9525" cap="flat" cmpd="sng" algn="ctr">
              <a:solidFill>
                <a:schemeClr val="dk1">
                  <a:lumMod val="65000"/>
                  <a:lumOff val="35000"/>
                  <a:alpha val="75000"/>
                </a:schemeClr>
              </a:solidFill>
              <a:round/>
            </a:ln>
            <a:effectLst/>
          </c:spPr>
        </c:majorGridlines>
        <c:title>
          <c:tx>
            <c:rich>
              <a:bodyPr rot="0" spcFirstLastPara="1" vertOverflow="ellipsis" vert="horz" wrap="square" anchor="ctr" anchorCtr="1"/>
              <a:lstStyle/>
              <a:p>
                <a:pPr>
                  <a:defRPr sz="1197" b="1" i="0" u="none" strike="noStrike" kern="1200" baseline="0">
                    <a:solidFill>
                      <a:schemeClr val="lt1">
                        <a:lumMod val="75000"/>
                      </a:schemeClr>
                    </a:solidFill>
                    <a:latin typeface="+mn-lt"/>
                    <a:ea typeface="+mn-ea"/>
                    <a:cs typeface="+mn-cs"/>
                  </a:defRPr>
                </a:pPr>
                <a:r>
                  <a:rPr lang="zh-CN"/>
                  <a:t>代码审查时间</a:t>
                </a:r>
              </a:p>
            </c:rich>
          </c:tx>
          <c:overlay val="0"/>
          <c:spPr>
            <a:noFill/>
            <a:ln>
              <a:noFill/>
            </a:ln>
            <a:effectLst/>
          </c:spPr>
          <c:txPr>
            <a:bodyPr rot="0" spcFirstLastPara="1" vertOverflow="ellipsis" vert="horz" wrap="square" anchor="ctr" anchorCtr="1"/>
            <a:lstStyle/>
            <a:p>
              <a:pPr>
                <a:defRPr sz="1197" b="1" i="0" u="none" strike="noStrike" kern="1200" baseline="0">
                  <a:solidFill>
                    <a:schemeClr val="lt1">
                      <a:lumMod val="75000"/>
                    </a:schemeClr>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lt1">
                <a:lumMod val="50000"/>
              </a:schemeClr>
            </a:solidFill>
            <a:round/>
          </a:ln>
          <a:effectLst/>
        </c:spPr>
        <c:txPr>
          <a:bodyPr rot="-600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zh-CN"/>
          </a:p>
        </c:txPr>
        <c:crossAx val="1719605536"/>
        <c:crosses val="autoZero"/>
        <c:crossBetween val="midCat"/>
      </c:valAx>
      <c:valAx>
        <c:axId val="1719605536"/>
        <c:scaling>
          <c:orientation val="minMax"/>
        </c:scaling>
        <c:delete val="0"/>
        <c:axPos val="l"/>
        <c:majorGridlines>
          <c:spPr>
            <a:ln w="9525" cap="flat" cmpd="sng" algn="ctr">
              <a:solidFill>
                <a:schemeClr val="dk1">
                  <a:lumMod val="65000"/>
                  <a:lumOff val="35000"/>
                  <a:alpha val="75000"/>
                </a:schemeClr>
              </a:solidFill>
              <a:round/>
            </a:ln>
            <a:effectLst/>
          </c:spPr>
        </c:majorGridlines>
        <c:title>
          <c:tx>
            <c:rich>
              <a:bodyPr rot="-5400000" spcFirstLastPara="1" vertOverflow="ellipsis" vert="horz" wrap="square" anchor="ctr" anchorCtr="1"/>
              <a:lstStyle/>
              <a:p>
                <a:pPr>
                  <a:defRPr sz="1197" b="1" i="0" u="none" strike="noStrike" kern="1200" baseline="0">
                    <a:solidFill>
                      <a:schemeClr val="lt1">
                        <a:lumMod val="75000"/>
                      </a:schemeClr>
                    </a:solidFill>
                    <a:latin typeface="+mn-lt"/>
                    <a:ea typeface="+mn-ea"/>
                    <a:cs typeface="+mn-cs"/>
                  </a:defRPr>
                </a:pPr>
                <a:r>
                  <a:rPr lang="zh-CN"/>
                  <a:t>缺陷数</a:t>
                </a:r>
              </a:p>
            </c:rich>
          </c:tx>
          <c:overlay val="0"/>
          <c:spPr>
            <a:noFill/>
            <a:ln>
              <a:noFill/>
            </a:ln>
            <a:effectLst/>
          </c:spPr>
          <c:txPr>
            <a:bodyPr rot="-5400000" spcFirstLastPara="1" vertOverflow="ellipsis" vert="horz" wrap="square" anchor="ctr" anchorCtr="1"/>
            <a:lstStyle/>
            <a:p>
              <a:pPr>
                <a:defRPr sz="1197" b="1" i="0" u="none" strike="noStrike" kern="1200" baseline="0">
                  <a:solidFill>
                    <a:schemeClr val="lt1">
                      <a:lumMod val="75000"/>
                    </a:schemeClr>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lt1">
                <a:lumMod val="50000"/>
              </a:schemeClr>
            </a:solidFill>
            <a:round/>
          </a:ln>
          <a:effectLst/>
        </c:spPr>
        <c:txPr>
          <a:bodyPr rot="-600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zh-CN"/>
          </a:p>
        </c:txPr>
        <c:crossAx val="1719611296"/>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dk1">
        <a:lumMod val="75000"/>
        <a:lumOff val="25000"/>
      </a:schemeClr>
    </a:solidFill>
    <a:ln w="9525" cap="flat" cmpd="sng" algn="ctr">
      <a:solidFill>
        <a:schemeClr val="dk1">
          <a:lumMod val="15000"/>
          <a:lumOff val="85000"/>
        </a:schemeClr>
      </a:solidFill>
      <a:round/>
    </a:ln>
    <a:effectLst/>
  </c:spPr>
  <c:txPr>
    <a:bodyPr/>
    <a:lstStyle/>
    <a:p>
      <a:pPr>
        <a:defRPr/>
      </a:pPr>
      <a:endParaRPr lang="zh-CN"/>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1" i="0" u="none" strike="noStrike" kern="1200" cap="none" baseline="0">
                <a:solidFill>
                  <a:schemeClr val="lt1">
                    <a:lumMod val="85000"/>
                  </a:schemeClr>
                </a:solidFill>
                <a:latin typeface="+mn-lt"/>
                <a:ea typeface="+mn-ea"/>
                <a:cs typeface="+mn-cs"/>
              </a:defRPr>
            </a:pPr>
            <a:r>
              <a:rPr lang="zh-CN"/>
              <a:t>年龄和每千行代码缺陷数</a:t>
            </a:r>
            <a:endParaRPr lang="en-US"/>
          </a:p>
        </c:rich>
      </c:tx>
      <c:overlay val="0"/>
      <c:spPr>
        <a:noFill/>
        <a:ln>
          <a:noFill/>
        </a:ln>
        <a:effectLst/>
      </c:spPr>
      <c:txPr>
        <a:bodyPr rot="0" spcFirstLastPara="1" vertOverflow="ellipsis" vert="horz" wrap="square" anchor="ctr" anchorCtr="1"/>
        <a:lstStyle/>
        <a:p>
          <a:pPr>
            <a:defRPr sz="1862" b="1" i="0" u="none" strike="noStrike" kern="1200" cap="none" baseline="0">
              <a:solidFill>
                <a:schemeClr val="lt1">
                  <a:lumMod val="85000"/>
                </a:schemeClr>
              </a:solidFill>
              <a:latin typeface="+mn-lt"/>
              <a:ea typeface="+mn-ea"/>
              <a:cs typeface="+mn-cs"/>
            </a:defRPr>
          </a:pPr>
          <a:endParaRPr lang="en-US" altLang="zh-CN"/>
        </a:p>
      </c:txPr>
    </c:title>
    <c:autoTitleDeleted val="0"/>
    <c:plotArea>
      <c:layout/>
      <c:bubbleChart>
        <c:varyColors val="0"/>
        <c:ser>
          <c:idx val="0"/>
          <c:order val="0"/>
          <c:tx>
            <c:strRef>
              <c:f>'散点图 Scatter'!$R$1</c:f>
              <c:strCache>
                <c:ptCount val="1"/>
                <c:pt idx="0">
                  <c:v>每千行代码缺陷数 (Y轴)</c:v>
                </c:pt>
              </c:strCache>
            </c:strRef>
          </c:tx>
          <c:spPr>
            <a:noFill/>
            <a:ln>
              <a:solidFill>
                <a:srgbClr val="FFFF00"/>
              </a:solidFill>
            </a:ln>
            <a:effectLst>
              <a:glow rad="63500">
                <a:schemeClr val="accent1">
                  <a:alpha val="18000"/>
                </a:schemeClr>
              </a:glo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FFFF00"/>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50000"/>
                        </a:schemeClr>
                      </a:solidFill>
                      <a:round/>
                    </a:ln>
                    <a:effectLst/>
                  </c:spPr>
                </c15:leaderLines>
              </c:ext>
            </c:extLst>
          </c:dLbls>
          <c:xVal>
            <c:numRef>
              <c:f>'散点图 Scatter'!$Q$2:$Q$10</c:f>
              <c:numCache>
                <c:formatCode>General</c:formatCode>
                <c:ptCount val="9"/>
                <c:pt idx="0">
                  <c:v>1</c:v>
                </c:pt>
                <c:pt idx="1">
                  <c:v>2</c:v>
                </c:pt>
                <c:pt idx="2">
                  <c:v>3</c:v>
                </c:pt>
                <c:pt idx="3">
                  <c:v>5</c:v>
                </c:pt>
                <c:pt idx="4">
                  <c:v>6</c:v>
                </c:pt>
                <c:pt idx="5">
                  <c:v>8</c:v>
                </c:pt>
                <c:pt idx="6">
                  <c:v>10</c:v>
                </c:pt>
                <c:pt idx="7">
                  <c:v>12</c:v>
                </c:pt>
                <c:pt idx="8">
                  <c:v>15</c:v>
                </c:pt>
              </c:numCache>
            </c:numRef>
          </c:xVal>
          <c:yVal>
            <c:numRef>
              <c:f>'散点图 Scatter'!$R$2:$R$10</c:f>
              <c:numCache>
                <c:formatCode>General</c:formatCode>
                <c:ptCount val="9"/>
                <c:pt idx="0">
                  <c:v>5.2</c:v>
                </c:pt>
                <c:pt idx="1">
                  <c:v>3.1</c:v>
                </c:pt>
                <c:pt idx="2">
                  <c:v>4.8</c:v>
                </c:pt>
                <c:pt idx="3">
                  <c:v>2.9</c:v>
                </c:pt>
                <c:pt idx="4">
                  <c:v>5.5</c:v>
                </c:pt>
                <c:pt idx="5">
                  <c:v>3.3</c:v>
                </c:pt>
                <c:pt idx="6">
                  <c:v>4.0999999999999996</c:v>
                </c:pt>
                <c:pt idx="7">
                  <c:v>3.8</c:v>
                </c:pt>
                <c:pt idx="8">
                  <c:v>4.5</c:v>
                </c:pt>
              </c:numCache>
            </c:numRef>
          </c:yVal>
          <c:bubbleSize>
            <c:numLit>
              <c:formatCode>General</c:formatCode>
              <c:ptCount val="9"/>
              <c:pt idx="0">
                <c:v>1</c:v>
              </c:pt>
              <c:pt idx="1">
                <c:v>1</c:v>
              </c:pt>
              <c:pt idx="2">
                <c:v>1</c:v>
              </c:pt>
              <c:pt idx="3">
                <c:v>1</c:v>
              </c:pt>
              <c:pt idx="4">
                <c:v>1</c:v>
              </c:pt>
              <c:pt idx="5">
                <c:v>1</c:v>
              </c:pt>
              <c:pt idx="6">
                <c:v>1</c:v>
              </c:pt>
              <c:pt idx="7">
                <c:v>1</c:v>
              </c:pt>
              <c:pt idx="8">
                <c:v>1</c:v>
              </c:pt>
            </c:numLit>
          </c:bubbleSize>
          <c:bubble3D val="0"/>
          <c:extLst>
            <c:ext xmlns:c16="http://schemas.microsoft.com/office/drawing/2014/chart" uri="{C3380CC4-5D6E-409C-BE32-E72D297353CC}">
              <c16:uniqueId val="{00000000-4B08-4240-AD97-737E7B398BE7}"/>
            </c:ext>
          </c:extLst>
        </c:ser>
        <c:dLbls>
          <c:showLegendKey val="0"/>
          <c:showVal val="0"/>
          <c:showCatName val="0"/>
          <c:showSerName val="0"/>
          <c:showPercent val="0"/>
          <c:showBubbleSize val="0"/>
        </c:dLbls>
        <c:bubbleScale val="80"/>
        <c:showNegBubbles val="0"/>
        <c:axId val="1719608896"/>
        <c:axId val="1719609376"/>
      </c:bubbleChart>
      <c:valAx>
        <c:axId val="1719608896"/>
        <c:scaling>
          <c:orientation val="minMax"/>
        </c:scaling>
        <c:delete val="0"/>
        <c:axPos val="b"/>
        <c:majorGridlines>
          <c:spPr>
            <a:ln w="9525" cap="flat" cmpd="sng" algn="ctr">
              <a:gradFill>
                <a:gsLst>
                  <a:gs pos="100000">
                    <a:schemeClr val="dk1">
                      <a:lumMod val="65000"/>
                      <a:lumOff val="35000"/>
                      <a:alpha val="24000"/>
                    </a:schemeClr>
                  </a:gs>
                  <a:gs pos="0">
                    <a:schemeClr val="dk1">
                      <a:lumMod val="65000"/>
                      <a:lumOff val="35000"/>
                    </a:schemeClr>
                  </a:gs>
                </a:gsLst>
                <a:lin ang="5400000" scaled="0"/>
              </a:gradFill>
              <a:round/>
            </a:ln>
            <a:effectLst/>
          </c:spPr>
        </c:majorGridlines>
        <c:title>
          <c:tx>
            <c:rich>
              <a:bodyPr rot="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r>
                  <a:rPr lang="zh-CN"/>
                  <a:t>年龄</a:t>
                </a:r>
              </a:p>
            </c:rich>
          </c:tx>
          <c:overlay val="0"/>
          <c:spPr>
            <a:noFill/>
            <a:ln>
              <a:noFill/>
            </a:ln>
            <a:effectLst/>
          </c:spPr>
          <c:txPr>
            <a:bodyPr rot="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lt1">
                <a:lumMod val="50000"/>
              </a:schemeClr>
            </a:solidFill>
            <a:round/>
          </a:ln>
          <a:effectLst/>
        </c:spPr>
        <c:txPr>
          <a:bodyPr rot="-600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zh-CN"/>
          </a:p>
        </c:txPr>
        <c:crossAx val="1719609376"/>
        <c:crosses val="autoZero"/>
        <c:crossBetween val="midCat"/>
      </c:valAx>
      <c:valAx>
        <c:axId val="1719609376"/>
        <c:scaling>
          <c:orientation val="minMax"/>
        </c:scaling>
        <c:delete val="0"/>
        <c:axPos val="l"/>
        <c:majorGridlines>
          <c:spPr>
            <a:ln w="9525" cap="flat" cmpd="sng" algn="ctr">
              <a:gradFill>
                <a:gsLst>
                  <a:gs pos="100000">
                    <a:schemeClr val="dk1">
                      <a:lumMod val="65000"/>
                      <a:lumOff val="35000"/>
                      <a:alpha val="24000"/>
                    </a:schemeClr>
                  </a:gs>
                  <a:gs pos="0">
                    <a:schemeClr val="dk1">
                      <a:lumMod val="65000"/>
                      <a:lumOff val="35000"/>
                    </a:schemeClr>
                  </a:gs>
                </a:gsLst>
                <a:lin ang="5400000" scaled="0"/>
              </a:gradFill>
              <a:round/>
            </a:ln>
            <a:effectLst/>
          </c:spPr>
        </c:majorGridlines>
        <c:title>
          <c:tx>
            <c:rich>
              <a:bodyPr rot="-54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r>
                  <a:rPr lang="zh-CN"/>
                  <a:t>缺陷数</a:t>
                </a:r>
              </a:p>
            </c:rich>
          </c:tx>
          <c:overlay val="0"/>
          <c:spPr>
            <a:noFill/>
            <a:ln>
              <a:noFill/>
            </a:ln>
            <a:effectLst/>
          </c:spPr>
          <c:txPr>
            <a:bodyPr rot="-54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lt1">
                <a:lumMod val="50000"/>
              </a:schemeClr>
            </a:solidFill>
            <a:round/>
          </a:ln>
          <a:effectLst/>
        </c:spPr>
        <c:txPr>
          <a:bodyPr rot="-600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zh-CN"/>
          </a:p>
        </c:txPr>
        <c:crossAx val="1719608896"/>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dk1">
        <a:lumMod val="75000"/>
        <a:lumOff val="25000"/>
      </a:schemeClr>
    </a:solidFill>
    <a:ln w="9525" cap="flat" cmpd="sng" algn="ctr">
      <a:solidFill>
        <a:schemeClr val="dk1">
          <a:tint val="75000"/>
        </a:schemeClr>
      </a:solidFill>
      <a:round/>
    </a:ln>
    <a:effectLst/>
  </c:spPr>
  <c:txPr>
    <a:bodyPr/>
    <a:lstStyle/>
    <a:p>
      <a:pPr>
        <a:defRPr/>
      </a:pPr>
      <a:endParaRPr lang="zh-CN"/>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高考成绩!$C$2:$C$18</cx:f>
        <cx:lvl ptCount="17" formatCode="G/通用格式">
          <cx:pt idx="0">90</cx:pt>
          <cx:pt idx="1">96</cx:pt>
          <cx:pt idx="2">68</cx:pt>
          <cx:pt idx="3">78</cx:pt>
          <cx:pt idx="4">75</cx:pt>
          <cx:pt idx="5">87</cx:pt>
          <cx:pt idx="6">85</cx:pt>
          <cx:pt idx="7">75</cx:pt>
          <cx:pt idx="8">88</cx:pt>
          <cx:pt idx="9">96</cx:pt>
          <cx:pt idx="10">95</cx:pt>
          <cx:pt idx="11">90</cx:pt>
          <cx:pt idx="12">86</cx:pt>
          <cx:pt idx="13">86</cx:pt>
          <cx:pt idx="14">98</cx:pt>
          <cx:pt idx="15">97</cx:pt>
          <cx:pt idx="16">96</cx:pt>
        </cx:lvl>
      </cx:numDim>
    </cx:data>
  </cx:chartData>
  <cx:chart>
    <cx:title pos="t" align="ctr" overlay="0">
      <cx:tx>
        <cx:txData>
          <cx:v>成绩分布</cx:v>
        </cx:txData>
      </cx:tx>
      <cx:txPr>
        <a:bodyPr vertOverflow="overflow" horzOverflow="overflow" wrap="square" lIns="0" tIns="0" rIns="0" bIns="0"/>
        <a:lstStyle/>
        <a:p>
          <a:pPr algn="ctr" rtl="0">
            <a:defRPr sz="1400" b="0" i="0">
              <a:solidFill>
                <a:schemeClr val="bg1"/>
              </a:solidFill>
              <a:latin typeface="Montserrat" panose="00000500000000000000" pitchFamily="2" charset="0"/>
              <a:ea typeface="Montserrat" panose="00000500000000000000" pitchFamily="2" charset="0"/>
              <a:cs typeface="Montserrat" panose="00000500000000000000" pitchFamily="2" charset="0"/>
            </a:defRPr>
          </a:pPr>
          <a:r>
            <a:rPr lang="zh-CN" altLang="en-US" dirty="0">
              <a:solidFill>
                <a:schemeClr val="bg1"/>
              </a:solidFill>
            </a:rPr>
            <a:t>成绩分布</a:t>
          </a:r>
        </a:p>
      </cx:txPr>
    </cx:title>
    <cx:plotArea>
      <cx:plotAreaRegion>
        <cx:series layoutId="clusteredColumn" uniqueId="{A6291C2F-46BF-443C-AA2D-812031287D6C}">
          <cx:dataId val="0"/>
          <cx:layoutPr>
            <cx:binning intervalClosed="r">
              <cx:binSize val="10"/>
            </cx:binning>
          </cx:layoutPr>
        </cx:series>
      </cx:plotAreaRegion>
      <cx:axis id="0">
        <cx:catScaling gapWidth="0"/>
        <cx:tickLabels/>
        <cx:txPr>
          <a:bodyPr vertOverflow="overflow" horzOverflow="overflow" wrap="square" lIns="0" tIns="0" rIns="0" bIns="0"/>
          <a:lstStyle/>
          <a:p>
            <a:pPr algn="ctr" rtl="0">
              <a:defRPr sz="900" b="0" i="0">
                <a:solidFill>
                  <a:schemeClr val="bg1"/>
                </a:solidFill>
                <a:latin typeface="Montserrat" panose="00000500000000000000" pitchFamily="2" charset="0"/>
                <a:ea typeface="Montserrat" panose="00000500000000000000" pitchFamily="2" charset="0"/>
                <a:cs typeface="Montserrat" panose="00000500000000000000" pitchFamily="2" charset="0"/>
              </a:defRPr>
            </a:pPr>
            <a:endParaRPr lang="zh-CN" altLang="en-US">
              <a:solidFill>
                <a:schemeClr val="bg1"/>
              </a:solidFill>
            </a:endParaRPr>
          </a:p>
        </cx:txPr>
      </cx:axis>
      <cx:axis id="1">
        <cx:valScaling/>
        <cx:majorGridlines/>
        <cx:tickLabels/>
        <cx:txPr>
          <a:bodyPr vertOverflow="overflow" horzOverflow="overflow" wrap="square" lIns="0" tIns="0" rIns="0" bIns="0"/>
          <a:lstStyle/>
          <a:p>
            <a:pPr algn="ctr" rtl="0">
              <a:defRPr sz="900" b="0" i="0">
                <a:solidFill>
                  <a:schemeClr val="bg1"/>
                </a:solidFill>
                <a:latin typeface="Montserrat" panose="00000500000000000000" pitchFamily="2" charset="0"/>
                <a:ea typeface="Montserrat" panose="00000500000000000000" pitchFamily="2" charset="0"/>
                <a:cs typeface="Montserrat" panose="00000500000000000000" pitchFamily="2" charset="0"/>
              </a:defRPr>
            </a:pPr>
            <a:endParaRPr lang="zh-CN" altLang="en-US">
              <a:solidFill>
                <a:schemeClr val="bg1"/>
              </a:solidFill>
            </a:endParaRPr>
          </a:p>
        </cx:txPr>
      </cx:axis>
    </cx:plotArea>
  </cx:chart>
</cx:chartSpace>
</file>

<file path=ppt/charts/chartEx2.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高考成绩!$D$2:$D$18</cx:f>
        <cx:lvl ptCount="17" formatCode="G/通用格式">
          <cx:pt idx="0">68</cx:pt>
          <cx:pt idx="1">92</cx:pt>
          <cx:pt idx="2">95</cx:pt>
          <cx:pt idx="3">78</cx:pt>
          <cx:pt idx="4">79</cx:pt>
          <cx:pt idx="5">87</cx:pt>
          <cx:pt idx="6">87</cx:pt>
          <cx:pt idx="7">76</cx:pt>
          <cx:pt idx="8">78</cx:pt>
          <cx:pt idx="9">86</cx:pt>
          <cx:pt idx="10">84</cx:pt>
          <cx:pt idx="11">86</cx:pt>
          <cx:pt idx="12">83</cx:pt>
          <cx:pt idx="13">80</cx:pt>
          <cx:pt idx="14">93</cx:pt>
          <cx:pt idx="15">94</cx:pt>
          <cx:pt idx="16">93</cx:pt>
        </cx:lvl>
      </cx:numDim>
    </cx:data>
  </cx:chartData>
  <cx:chart>
    <cx:title pos="t" align="ctr" overlay="0">
      <cx:tx>
        <cx:txData>
          <cx:v>成绩分布</cx:v>
        </cx:txData>
      </cx:tx>
      <cx:txPr>
        <a:bodyPr vertOverflow="overflow" horzOverflow="overflow" wrap="square" lIns="0" tIns="0" rIns="0" bIns="0"/>
        <a:lstStyle/>
        <a:p>
          <a:pPr algn="ctr" rtl="0">
            <a:defRPr sz="1400" b="0" i="0">
              <a:solidFill>
                <a:schemeClr val="bg1"/>
              </a:solidFill>
              <a:latin typeface="Montserrat" panose="00000500000000000000" pitchFamily="2" charset="0"/>
              <a:ea typeface="Montserrat" panose="00000500000000000000" pitchFamily="2" charset="0"/>
              <a:cs typeface="Montserrat" panose="00000500000000000000" pitchFamily="2" charset="0"/>
            </a:defRPr>
          </a:pPr>
          <a:r>
            <a:rPr lang="zh-CN" altLang="en-US" dirty="0">
              <a:solidFill>
                <a:schemeClr val="bg1"/>
              </a:solidFill>
            </a:rPr>
            <a:t>成绩分布</a:t>
          </a:r>
        </a:p>
      </cx:txPr>
    </cx:title>
    <cx:plotArea>
      <cx:plotAreaRegion>
        <cx:series layoutId="clusteredColumn" uniqueId="{DD80B8E7-7E5D-460A-B757-E0C929C29146}">
          <cx:dataId val="0"/>
          <cx:layoutPr>
            <cx:binning intervalClosed="r">
              <cx:binSize val="10"/>
            </cx:binning>
          </cx:layoutPr>
        </cx:series>
      </cx:plotAreaRegion>
      <cx:axis id="0">
        <cx:catScaling gapWidth="0"/>
        <cx:tickLabels/>
        <cx:txPr>
          <a:bodyPr vertOverflow="overflow" horzOverflow="overflow" wrap="square" lIns="0" tIns="0" rIns="0" bIns="0"/>
          <a:lstStyle/>
          <a:p>
            <a:pPr algn="ctr" rtl="0">
              <a:defRPr sz="900" b="0" i="0">
                <a:solidFill>
                  <a:schemeClr val="bg1"/>
                </a:solidFill>
                <a:latin typeface="Montserrat" panose="00000500000000000000" pitchFamily="2" charset="0"/>
                <a:ea typeface="Montserrat" panose="00000500000000000000" pitchFamily="2" charset="0"/>
                <a:cs typeface="Montserrat" panose="00000500000000000000" pitchFamily="2" charset="0"/>
              </a:defRPr>
            </a:pPr>
            <a:endParaRPr lang="zh-CN" altLang="en-US">
              <a:solidFill>
                <a:schemeClr val="bg1"/>
              </a:solidFill>
            </a:endParaRPr>
          </a:p>
        </cx:txPr>
      </cx:axis>
      <cx:axis id="1">
        <cx:valScaling/>
        <cx:majorGridlines/>
        <cx:tickLabels/>
        <cx:txPr>
          <a:bodyPr vertOverflow="overflow" horzOverflow="overflow" wrap="square" lIns="0" tIns="0" rIns="0" bIns="0"/>
          <a:lstStyle/>
          <a:p>
            <a:pPr algn="ctr" rtl="0">
              <a:defRPr sz="900" b="0" i="0">
                <a:solidFill>
                  <a:schemeClr val="bg1"/>
                </a:solidFill>
                <a:latin typeface="Montserrat" panose="00000500000000000000" pitchFamily="2" charset="0"/>
                <a:ea typeface="Montserrat" panose="00000500000000000000" pitchFamily="2" charset="0"/>
                <a:cs typeface="Montserrat" panose="00000500000000000000" pitchFamily="2" charset="0"/>
              </a:defRPr>
            </a:pPr>
            <a:endParaRPr lang="zh-CN" altLang="en-US">
              <a:solidFill>
                <a:schemeClr val="bg1"/>
              </a:solidFill>
            </a:endParaRPr>
          </a:p>
        </cx:txPr>
      </cx:axis>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33">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9525" cap="flat" cmpd="sng" algn="ctr">
        <a:solidFill>
          <a:schemeClr val="lt1">
            <a:lumMod val="95000"/>
            <a:alpha val="10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tx1"/>
    </cs:fontRef>
  </cs:wall>
</cs:chartStyle>
</file>

<file path=ppt/charts/style4.xml><?xml version="1.0" encoding="utf-8"?>
<cs:chartStyle xmlns:cs="http://schemas.microsoft.com/office/drawing/2012/chartStyle" xmlns:a="http://schemas.openxmlformats.org/drawingml/2006/main" id="304">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5.xml><?xml version="1.0" encoding="utf-8"?>
<cs:chartStyle xmlns:cs="http://schemas.microsoft.com/office/drawing/2012/chartStyle" xmlns:a="http://schemas.openxmlformats.org/drawingml/2006/main" id="236">
  <cs:axisTitle>
    <cs:lnRef idx="0"/>
    <cs:fillRef idx="0"/>
    <cs:effectRef idx="0"/>
    <cs:fontRef idx="minor">
      <a:schemeClr val="lt1">
        <a:lumMod val="75000"/>
      </a:schemeClr>
    </cs:fontRef>
    <cs:defRPr sz="900" b="1" kern="1200"/>
  </cs:axisTitle>
  <cs:categoryAxis>
    <cs:lnRef idx="0"/>
    <cs:fillRef idx="0"/>
    <cs:effectRef idx="0"/>
    <cs:fontRef idx="minor">
      <a:schemeClr val="lt1">
        <a:lumMod val="75000"/>
      </a:schemeClr>
    </cs:fontRef>
    <cs:defRPr sz="900"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9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900"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75000"/>
                <a:lumOff val="25000"/>
              </a:schemeClr>
            </a:gs>
            <a:gs pos="0">
              <a:schemeClr val="dk1">
                <a:lumMod val="65000"/>
                <a:lumOff val="3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dk1">
                <a:lumMod val="75000"/>
                <a:lumOff val="25000"/>
                <a:alpha val="25000"/>
              </a:schemeClr>
            </a:gs>
            <a:gs pos="0">
              <a:schemeClr val="dk1">
                <a:lumMod val="65000"/>
                <a:lumOff val="35000"/>
                <a:alpha val="25000"/>
              </a:schemeClr>
            </a:gs>
          </a:gsLst>
          <a:lin ang="5400000" scaled="0"/>
        </a:gra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900"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400"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defRPr sz="900"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36">
  <cs:axisTitle>
    <cs:lnRef idx="0"/>
    <cs:fillRef idx="0"/>
    <cs:effectRef idx="0"/>
    <cs:fontRef idx="minor">
      <a:schemeClr val="lt1">
        <a:lumMod val="75000"/>
      </a:schemeClr>
    </cs:fontRef>
    <cs:defRPr sz="900" b="1" kern="1200"/>
  </cs:axisTitle>
  <cs:categoryAxis>
    <cs:lnRef idx="0"/>
    <cs:fillRef idx="0"/>
    <cs:effectRef idx="0"/>
    <cs:fontRef idx="minor">
      <a:schemeClr val="lt1">
        <a:lumMod val="75000"/>
      </a:schemeClr>
    </cs:fontRef>
    <cs:defRPr sz="900"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9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900"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75000"/>
                <a:lumOff val="25000"/>
              </a:schemeClr>
            </a:gs>
            <a:gs pos="0">
              <a:schemeClr val="dk1">
                <a:lumMod val="65000"/>
                <a:lumOff val="3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dk1">
                <a:lumMod val="75000"/>
                <a:lumOff val="25000"/>
                <a:alpha val="25000"/>
              </a:schemeClr>
            </a:gs>
            <a:gs pos="0">
              <a:schemeClr val="dk1">
                <a:lumMod val="65000"/>
                <a:lumOff val="35000"/>
                <a:alpha val="25000"/>
              </a:schemeClr>
            </a:gs>
          </a:gsLst>
          <a:lin ang="5400000" scaled="0"/>
        </a:gra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900"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400"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defRPr sz="900"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370">
  <cs:axisTitle>
    <cs:lnRef idx="0"/>
    <cs:fillRef idx="0"/>
    <cs:effectRef idx="0"/>
    <cs:fontRef idx="minor">
      <a:schemeClr val="lt1">
        <a:lumMod val="95000"/>
      </a:schemeClr>
    </cs:fontRef>
    <cs:defRPr sz="1197"/>
  </cs:axisTitle>
  <cs:categoryAxis>
    <cs:lnRef idx="0"/>
    <cs:fillRef idx="0"/>
    <cs:effectRef idx="0"/>
    <cs:fontRef idx="minor">
      <a:schemeClr val="lt1">
        <a:lumMod val="95000"/>
      </a:schemeClr>
    </cs:fontRef>
    <cs:spPr>
      <a:ln w="12700" cap="flat" cmpd="sng" algn="ctr">
        <a:solidFill>
          <a:schemeClr val="lt1">
            <a:lumMod val="95000"/>
            <a:alpha val="54000"/>
          </a:schemeClr>
        </a:solidFill>
        <a:round/>
      </a:ln>
    </cs:spPr>
    <cs:defRPr sz="1197"/>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cs:chartArea>
  <cs:dataLabel>
    <cs:lnRef idx="0"/>
    <cs:fillRef idx="0"/>
    <cs:effectRef idx="0"/>
    <cs:fontRef idx="minor">
      <a:schemeClr val="lt1">
        <a:lumMod val="95000"/>
      </a:schemeClr>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lt1"/>
    </cs:fontRef>
    <cs:spPr>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ln>
        <a:solidFill>
          <a:schemeClr val="tx1"/>
        </a:solidFill>
      </a:ln>
    </cs:spPr>
  </cs:dataPoint>
  <cs:dataPoint3D>
    <cs:lnRef idx="0"/>
    <cs:fillRef idx="0">
      <cs:styleClr val="auto"/>
    </cs:fillRef>
    <cs:effectRef idx="0"/>
    <cs:fontRef idx="minor">
      <a:schemeClr val="lt1"/>
    </cs:fontRef>
    <cs:spPr>
      <a:solidFill>
        <a:schemeClr val="phClr"/>
      </a:solidFill>
    </cs:spPr>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fillRef idx="0">
      <cs:styleClr val="auto"/>
    </cs:fillRef>
    <cs:effectRef idx="0"/>
    <cs:fontRef idx="minor">
      <a:schemeClr val="lt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lt1"/>
    </cs:fontRef>
    <cs:spPr>
      <a:ln w="28575" cap="rnd">
        <a:solidFill>
          <a:schemeClr val="phClr"/>
        </a:solidFill>
        <a:round/>
      </a:ln>
    </cs:spPr>
  </cs:dataPointWireframe>
  <cs:dataTable>
    <cs:lnRef idx="0"/>
    <cs:fillRef idx="0"/>
    <cs:effectRef idx="0"/>
    <cs:fontRef idx="minor">
      <a:schemeClr val="lt1">
        <a:lumMod val="95000"/>
      </a:schemeClr>
    </cs:fontRef>
    <cs:spPr>
      <a:ln w="9525">
        <a:solidFill>
          <a:schemeClr val="lt1">
            <a:lumMod val="95000"/>
            <a:alpha val="54000"/>
          </a:schemeClr>
        </a:solidFill>
      </a:ln>
    </cs:spPr>
    <cs:defRPr sz="1197"/>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10000"/>
            <a:lumOff val="10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95000"/>
      </a:schemeClr>
    </cs:fontRef>
    <cs:defRPr sz="1197"/>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95000"/>
      </a:schemeClr>
    </cs:fontRef>
    <cs:spPr>
      <a:ln w="12700" cap="flat" cmpd="sng" algn="ctr">
        <a:solidFill>
          <a:schemeClr val="lt1">
            <a:lumMod val="95000"/>
            <a:alpha val="54000"/>
          </a:schemeClr>
        </a:solidFill>
        <a:round/>
      </a:ln>
    </cs:spPr>
    <cs:defRPr sz="1197"/>
  </cs:seriesAxis>
  <cs:seriesLine>
    <cs:lnRef idx="0"/>
    <cs:fillRef idx="0"/>
    <cs:effectRef idx="0"/>
    <cs:fontRef idx="minor">
      <a:schemeClr val="lt1"/>
    </cs:fontRef>
    <cs:spPr>
      <a:ln w="9525" cap="flat">
        <a:solidFill>
          <a:srgbClr val="D9D9D9"/>
        </a:solidFill>
        <a:round/>
      </a:ln>
    </cs:spPr>
  </cs:seriesLine>
  <cs:title>
    <cs:lnRef idx="0"/>
    <cs:fillRef idx="0"/>
    <cs:effectRef idx="0"/>
    <cs:fontRef idx="minor">
      <a:schemeClr val="lt1">
        <a:lumMod val="95000"/>
      </a:schemeClr>
    </cs:fontRef>
    <cs:defRPr sz="2128" b="1" spc="10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prstDash val="sysDash"/>
      </a:ln>
    </cs:spPr>
  </cs:trendline>
  <cs:trendlineLabel>
    <cs:lnRef idx="0"/>
    <cs:fillRef idx="0"/>
    <cs:effectRef idx="0"/>
    <cs:fontRef idx="minor">
      <a:schemeClr val="lt1">
        <a:lumMod val="95000"/>
      </a:schemeClr>
    </cs:fontRef>
    <cs:defRPr sz="1197"/>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95000"/>
      </a:schemeClr>
    </cs:fontRef>
    <cs:defRPr sz="1197"/>
  </cs:valueAxis>
  <cs:wall>
    <cs:lnRef idx="0"/>
    <cs:fillRef idx="0"/>
    <cs:effectRef idx="0"/>
    <cs:fontRef idx="minor">
      <a:schemeClr val="lt1"/>
    </cs:fontRef>
  </cs:wall>
</cs:chartStyle>
</file>

<file path=ppt/charts/style8.xml><?xml version="1.0" encoding="utf-8"?>
<cs:chartStyle xmlns:cs="http://schemas.microsoft.com/office/drawing/2012/chartStyle" xmlns:a="http://schemas.openxmlformats.org/drawingml/2006/main" id="370">
  <cs:axisTitle>
    <cs:lnRef idx="0"/>
    <cs:fillRef idx="0"/>
    <cs:effectRef idx="0"/>
    <cs:fontRef idx="minor">
      <a:schemeClr val="lt1">
        <a:lumMod val="95000"/>
      </a:schemeClr>
    </cs:fontRef>
    <cs:defRPr sz="1197"/>
  </cs:axisTitle>
  <cs:categoryAxis>
    <cs:lnRef idx="0"/>
    <cs:fillRef idx="0"/>
    <cs:effectRef idx="0"/>
    <cs:fontRef idx="minor">
      <a:schemeClr val="lt1">
        <a:lumMod val="95000"/>
      </a:schemeClr>
    </cs:fontRef>
    <cs:spPr>
      <a:ln w="12700" cap="flat" cmpd="sng" algn="ctr">
        <a:solidFill>
          <a:schemeClr val="lt1">
            <a:lumMod val="95000"/>
            <a:alpha val="54000"/>
          </a:schemeClr>
        </a:solidFill>
        <a:round/>
      </a:ln>
    </cs:spPr>
    <cs:defRPr sz="1197"/>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cs:chartArea>
  <cs:dataLabel>
    <cs:lnRef idx="0"/>
    <cs:fillRef idx="0"/>
    <cs:effectRef idx="0"/>
    <cs:fontRef idx="minor">
      <a:schemeClr val="lt1">
        <a:lumMod val="95000"/>
      </a:schemeClr>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lt1"/>
    </cs:fontRef>
    <cs:spPr>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ln>
        <a:solidFill>
          <a:schemeClr val="tx1"/>
        </a:solidFill>
      </a:ln>
    </cs:spPr>
  </cs:dataPoint>
  <cs:dataPoint3D>
    <cs:lnRef idx="0"/>
    <cs:fillRef idx="0">
      <cs:styleClr val="auto"/>
    </cs:fillRef>
    <cs:effectRef idx="0"/>
    <cs:fontRef idx="minor">
      <a:schemeClr val="lt1"/>
    </cs:fontRef>
    <cs:spPr>
      <a:solidFill>
        <a:schemeClr val="phClr"/>
      </a:solidFill>
    </cs:spPr>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fillRef idx="0">
      <cs:styleClr val="auto"/>
    </cs:fillRef>
    <cs:effectRef idx="0"/>
    <cs:fontRef idx="minor">
      <a:schemeClr val="lt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lt1"/>
    </cs:fontRef>
    <cs:spPr>
      <a:ln w="28575" cap="rnd">
        <a:solidFill>
          <a:schemeClr val="phClr"/>
        </a:solidFill>
        <a:round/>
      </a:ln>
    </cs:spPr>
  </cs:dataPointWireframe>
  <cs:dataTable>
    <cs:lnRef idx="0"/>
    <cs:fillRef idx="0"/>
    <cs:effectRef idx="0"/>
    <cs:fontRef idx="minor">
      <a:schemeClr val="lt1">
        <a:lumMod val="95000"/>
      </a:schemeClr>
    </cs:fontRef>
    <cs:spPr>
      <a:ln w="9525">
        <a:solidFill>
          <a:schemeClr val="lt1">
            <a:lumMod val="95000"/>
            <a:alpha val="54000"/>
          </a:schemeClr>
        </a:solidFill>
      </a:ln>
    </cs:spPr>
    <cs:defRPr sz="1197"/>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10000"/>
            <a:lumOff val="10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95000"/>
      </a:schemeClr>
    </cs:fontRef>
    <cs:defRPr sz="1197"/>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95000"/>
      </a:schemeClr>
    </cs:fontRef>
    <cs:spPr>
      <a:ln w="12700" cap="flat" cmpd="sng" algn="ctr">
        <a:solidFill>
          <a:schemeClr val="lt1">
            <a:lumMod val="95000"/>
            <a:alpha val="54000"/>
          </a:schemeClr>
        </a:solidFill>
        <a:round/>
      </a:ln>
    </cs:spPr>
    <cs:defRPr sz="1197"/>
  </cs:seriesAxis>
  <cs:seriesLine>
    <cs:lnRef idx="0"/>
    <cs:fillRef idx="0"/>
    <cs:effectRef idx="0"/>
    <cs:fontRef idx="minor">
      <a:schemeClr val="lt1"/>
    </cs:fontRef>
    <cs:spPr>
      <a:ln w="9525" cap="flat">
        <a:solidFill>
          <a:srgbClr val="D9D9D9"/>
        </a:solidFill>
        <a:round/>
      </a:ln>
    </cs:spPr>
  </cs:seriesLine>
  <cs:title>
    <cs:lnRef idx="0"/>
    <cs:fillRef idx="0"/>
    <cs:effectRef idx="0"/>
    <cs:fontRef idx="minor">
      <a:schemeClr val="lt1">
        <a:lumMod val="95000"/>
      </a:schemeClr>
    </cs:fontRef>
    <cs:defRPr sz="2128" b="1" spc="10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prstDash val="sysDash"/>
      </a:ln>
    </cs:spPr>
  </cs:trendline>
  <cs:trendlineLabel>
    <cs:lnRef idx="0"/>
    <cs:fillRef idx="0"/>
    <cs:effectRef idx="0"/>
    <cs:fontRef idx="minor">
      <a:schemeClr val="lt1">
        <a:lumMod val="95000"/>
      </a:schemeClr>
    </cs:fontRef>
    <cs:defRPr sz="1197"/>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95000"/>
      </a:schemeClr>
    </cs:fontRef>
    <cs:defRPr sz="1197"/>
  </cs:valueAxis>
  <cs:wall>
    <cs:lnRef idx="0"/>
    <cs:fillRef idx="0"/>
    <cs:effectRef idx="0"/>
    <cs:fontRef idx="minor">
      <a:schemeClr val="lt1"/>
    </cs:fontRef>
  </cs:wall>
</cs:chartStyle>
</file>

<file path=ppt/charts/style9.xml><?xml version="1.0" encoding="utf-8"?>
<cs:chartStyle xmlns:cs="http://schemas.microsoft.com/office/drawing/2012/chartStyle" xmlns:a="http://schemas.openxmlformats.org/drawingml/2006/main" id="245">
  <cs:axisTitle>
    <cs:lnRef idx="0"/>
    <cs:fillRef idx="0"/>
    <cs:effectRef idx="0"/>
    <cs:fontRef idx="minor">
      <a:schemeClr val="lt1">
        <a:lumMod val="75000"/>
      </a:schemeClr>
    </cs:fontRef>
    <cs:defRPr sz="1197" b="1" kern="1200"/>
  </cs:axisTitle>
  <cs:categoryAxis>
    <cs:lnRef idx="0"/>
    <cs:fillRef idx="0"/>
    <cs:effectRef idx="0"/>
    <cs:fontRef idx="minor">
      <a:schemeClr val="lt1">
        <a:lumMod val="75000"/>
      </a:schemeClr>
    </cs:fontRef>
    <cs:defRPr sz="1197"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1197" kern="1200"/>
  </cs:chartArea>
  <cs:dataLabel>
    <cs:lnRef idx="0"/>
    <cs:fillRef idx="0"/>
    <cs:effectRef idx="0"/>
    <cs:fontRef idx="minor">
      <a:schemeClr val="lt1">
        <a:lumMod val="75000"/>
      </a:schemeClr>
    </cs:fontRef>
    <cs:defRPr sz="1197"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3"/>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1197"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tx1"/>
    </cs:fontRef>
    <cs:spPr>
      <a:ln w="9525" cap="flat" cmpd="sng" algn="ctr">
        <a:solidFill>
          <a:schemeClr val="dk1">
            <a:lumMod val="65000"/>
            <a:lumOff val="35000"/>
            <a:alpha val="75000"/>
          </a:schemeClr>
        </a:solidFill>
        <a:round/>
      </a:ln>
    </cs:spPr>
  </cs:gridlineMajor>
  <cs:gridlineMinor>
    <cs:lnRef idx="0"/>
    <cs:fillRef idx="0"/>
    <cs:effectRef idx="0"/>
    <cs:fontRef idx="minor">
      <a:schemeClr val="tx1"/>
    </cs:fontRef>
    <cs:spPr>
      <a:ln w="9525" cap="flat" cmpd="sng" algn="ctr">
        <a:solidFill>
          <a:schemeClr val="dk1">
            <a:lumMod val="65000"/>
            <a:lumOff val="35000"/>
            <a:alpha val="25000"/>
          </a:schemeClr>
        </a:soli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1197"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862"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1197"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spPr>
      <a:ln w="9525" cap="flat" cmpd="sng" algn="ctr">
        <a:solidFill>
          <a:schemeClr val="lt1">
            <a:lumMod val="50000"/>
          </a:schemeClr>
        </a:solidFill>
        <a:round/>
      </a:ln>
    </cs:spPr>
    <cs:defRPr sz="1197" kern="1200"/>
    <cs:bodyPr/>
  </cs:valueAxis>
  <cs:wall>
    <cs:lnRef idx="0"/>
    <cs:fillRef idx="0"/>
    <cs:effectRef idx="0"/>
    <cs:fontRef idx="minor">
      <a:schemeClr val="dk1"/>
    </cs:fontRef>
  </cs:wall>
</cs:chartStyle>
</file>

<file path=ppt/charts/style10.xml><?xml version="1.0" encoding="utf-8"?>
<cs:chartStyle xmlns:cs="http://schemas.microsoft.com/office/drawing/2012/chartStyle" xmlns:a="http://schemas.openxmlformats.org/drawingml/2006/main" id="245">
  <cs:axisTitle>
    <cs:lnRef idx="0"/>
    <cs:fillRef idx="0"/>
    <cs:effectRef idx="0"/>
    <cs:fontRef idx="minor">
      <a:schemeClr val="lt1">
        <a:lumMod val="75000"/>
      </a:schemeClr>
    </cs:fontRef>
    <cs:defRPr sz="1197" b="1" kern="1200"/>
  </cs:axisTitle>
  <cs:categoryAxis>
    <cs:lnRef idx="0"/>
    <cs:fillRef idx="0"/>
    <cs:effectRef idx="0"/>
    <cs:fontRef idx="minor">
      <a:schemeClr val="lt1">
        <a:lumMod val="75000"/>
      </a:schemeClr>
    </cs:fontRef>
    <cs:defRPr sz="1197"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1197" kern="1200"/>
  </cs:chartArea>
  <cs:dataLabel>
    <cs:lnRef idx="0"/>
    <cs:fillRef idx="0"/>
    <cs:effectRef idx="0"/>
    <cs:fontRef idx="minor">
      <a:schemeClr val="lt1">
        <a:lumMod val="75000"/>
      </a:schemeClr>
    </cs:fontRef>
    <cs:defRPr sz="1197"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3"/>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1197"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tx1"/>
    </cs:fontRef>
    <cs:spPr>
      <a:ln w="9525" cap="flat" cmpd="sng" algn="ctr">
        <a:solidFill>
          <a:schemeClr val="dk1">
            <a:lumMod val="65000"/>
            <a:lumOff val="35000"/>
            <a:alpha val="75000"/>
          </a:schemeClr>
        </a:solidFill>
        <a:round/>
      </a:ln>
    </cs:spPr>
  </cs:gridlineMajor>
  <cs:gridlineMinor>
    <cs:lnRef idx="0"/>
    <cs:fillRef idx="0"/>
    <cs:effectRef idx="0"/>
    <cs:fontRef idx="minor">
      <a:schemeClr val="tx1"/>
    </cs:fontRef>
    <cs:spPr>
      <a:ln w="9525" cap="flat" cmpd="sng" algn="ctr">
        <a:solidFill>
          <a:schemeClr val="dk1">
            <a:lumMod val="65000"/>
            <a:lumOff val="35000"/>
            <a:alpha val="25000"/>
          </a:schemeClr>
        </a:soli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1197"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862"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1197"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spPr>
      <a:ln w="9525" cap="flat" cmpd="sng" algn="ctr">
        <a:solidFill>
          <a:schemeClr val="lt1">
            <a:lumMod val="50000"/>
          </a:schemeClr>
        </a:solidFill>
        <a:round/>
      </a:ln>
    </cs:spPr>
    <cs:defRPr sz="1197" kern="1200"/>
    <cs:bodyPr/>
  </cs:valueAxis>
  <cs:wall>
    <cs:lnRef idx="0"/>
    <cs:fillRef idx="0"/>
    <cs:effectRef idx="0"/>
    <cs:fontRef idx="minor">
      <a:schemeClr val="dk1"/>
    </cs:fontRef>
  </cs:wall>
</cs:chartStyle>
</file>

<file path=ppt/charts/style11.xml><?xml version="1.0" encoding="utf-8"?>
<cs:chartStyle xmlns:cs="http://schemas.microsoft.com/office/drawing/2012/chartStyle" xmlns:a="http://schemas.openxmlformats.org/drawingml/2006/main" id="271">
  <cs:axisTitle>
    <cs:lnRef idx="0"/>
    <cs:fillRef idx="0"/>
    <cs:effectRef idx="0"/>
    <cs:fontRef idx="minor">
      <a:schemeClr val="lt1">
        <a:lumMod val="75000"/>
      </a:schemeClr>
    </cs:fontRef>
    <cs:defRPr sz="1197" kern="1200"/>
  </cs:axisTitle>
  <cs:categoryAxis>
    <cs:lnRef idx="0"/>
    <cs:fillRef idx="0"/>
    <cs:effectRef idx="0"/>
    <cs:fontRef idx="minor">
      <a:schemeClr val="lt1">
        <a:lumMod val="75000"/>
      </a:schemeClr>
    </cs:fontRef>
    <cs:spPr>
      <a:ln w="9525" cap="flat" cmpd="sng" algn="ctr">
        <a:solidFill>
          <a:schemeClr val="lt1">
            <a:lumMod val="50000"/>
          </a:schemeClr>
        </a:solidFill>
        <a:round/>
      </a:ln>
    </cs:spPr>
    <cs:defRPr sz="1197" kern="1200"/>
  </cs:categoryAxis>
  <cs:chartArea>
    <cs:lnRef idx="0"/>
    <cs:fillRef idx="0"/>
    <cs:effectRef idx="0"/>
    <cs:fontRef idx="minor">
      <a:schemeClr val="tx1"/>
    </cs:fontRef>
    <cs:spPr>
      <a:solidFill>
        <a:schemeClr val="dk1">
          <a:lumMod val="75000"/>
          <a:lumOff val="25000"/>
        </a:schemeClr>
      </a:solidFill>
      <a:ln w="9525" cap="flat" cmpd="sng" algn="ctr">
        <a:solidFill>
          <a:schemeClr val="dk1">
            <a:tint val="75000"/>
          </a:schemeClr>
        </a:solidFill>
        <a:round/>
      </a:ln>
    </cs:spPr>
    <cs:defRPr sz="1330" kern="1200"/>
  </cs:chartArea>
  <cs:dataLabel>
    <cs:lnRef idx="0"/>
    <cs:fillRef idx="0"/>
    <cs:effectRef idx="0"/>
    <cs:fontRef idx="minor">
      <a:schemeClr val="lt1">
        <a:lumMod val="75000"/>
      </a:schemeClr>
    </cs:fontRef>
    <cs:defRPr sz="1197"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tx1"/>
    </cs:fontRef>
    <cs:spPr>
      <a:ln>
        <a:solidFill>
          <a:schemeClr val="phClr"/>
        </a:solidFill>
      </a:ln>
      <a:effectLst>
        <a:glow rad="63500">
          <a:schemeClr val="phClr">
            <a:alpha val="18000"/>
          </a:schemeClr>
        </a:glow>
      </a:effectLst>
    </cs:spPr>
  </cs:dataPoint>
  <cs:dataPoint3D>
    <cs:lnRef idx="0">
      <cs:styleClr val="auto"/>
    </cs:lnRef>
    <cs:fillRef idx="0"/>
    <cs:effectRef idx="0">
      <cs:styleClr val="auto"/>
    </cs:effectRef>
    <cs:fontRef idx="minor">
      <a:schemeClr val="tx1"/>
    </cs:fontRef>
    <cs:spPr>
      <a:ln>
        <a:solidFill>
          <a:schemeClr val="phClr"/>
        </a:solidFill>
      </a:ln>
      <a:effectLst>
        <a:glow rad="63500">
          <a:schemeClr val="phClr">
            <a:alpha val="18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4"/>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lt1">
            <a:lumMod val="40000"/>
          </a:schemeClr>
        </a:solidFill>
      </a:ln>
    </cs:spPr>
    <cs:defRPr sz="1197"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tx1"/>
    </cs:fontRef>
    <cs:spPr>
      <a:solidFill>
        <a:schemeClr val="dk1">
          <a:lumMod val="85000"/>
          <a:lumOff val="15000"/>
        </a:schemeClr>
      </a:solidFill>
    </cs:spPr>
  </cs:floor>
  <cs:gridlineMajor>
    <cs:lnRef idx="0"/>
    <cs:fillRef idx="0"/>
    <cs:effectRef idx="0"/>
    <cs:fontRef idx="minor">
      <a:schemeClr val="tx1"/>
    </cs:fontRef>
    <cs:spPr>
      <a:ln w="9525" cap="flat" cmpd="sng" algn="ctr">
        <a:gradFill>
          <a:gsLst>
            <a:gs pos="100000">
              <a:schemeClr val="dk1">
                <a:lumMod val="65000"/>
                <a:lumOff val="35000"/>
                <a:alpha val="24000"/>
              </a:schemeClr>
            </a:gs>
            <a:gs pos="0">
              <a:schemeClr val="dk1">
                <a:lumMod val="65000"/>
                <a:lumOff val="35000"/>
              </a:schemeClr>
            </a:gs>
          </a:gsLst>
          <a:lin ang="5400000" scaled="0"/>
        </a:gradFill>
        <a:round/>
      </a:ln>
    </cs:spPr>
  </cs:gridlineMajor>
  <cs:gridlineMinor>
    <cs:lnRef idx="0"/>
    <cs:fillRef idx="0"/>
    <cs:effectRef idx="0"/>
    <cs:fontRef idx="minor">
      <a:schemeClr val="tx1"/>
    </cs:fontRef>
    <cs:spPr>
      <a:ln w="9525" cap="flat" cmpd="sng" algn="ctr">
        <a:gradFill>
          <a:gsLst>
            <a:gs pos="0">
              <a:schemeClr val="dk1">
                <a:lumMod val="65000"/>
                <a:lumOff val="35000"/>
                <a:alpha val="46000"/>
              </a:schemeClr>
            </a:gs>
            <a:gs pos="100000">
              <a:schemeClr val="dk1">
                <a:lumMod val="75000"/>
                <a:lumOff val="25000"/>
                <a:alpha val="42000"/>
              </a:schemeClr>
            </a:gs>
          </a:gsLst>
          <a:lin ang="5400000" scaled="0"/>
        </a:gra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75000"/>
      </a:schemeClr>
    </cs:fontRef>
    <cs:spPr>
      <a:ln w="9525" cap="flat" cmpd="sng" algn="ctr">
        <a:solidFill>
          <a:schemeClr val="lt1">
            <a:lumMod val="50000"/>
          </a:schemeClr>
        </a:solidFill>
        <a:round/>
      </a:ln>
    </cs:spPr>
    <cs:defRPr sz="1197"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862"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1197"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spPr>
      <a:ln w="9525" cap="flat" cmpd="sng" algn="ctr">
        <a:solidFill>
          <a:schemeClr val="lt1">
            <a:lumMod val="50000"/>
          </a:schemeClr>
        </a:solidFill>
        <a:round/>
      </a:ln>
    </cs:spPr>
    <cs:defRPr sz="1197" kern="1200"/>
    <cs:bodyPr/>
  </cs:valueAxis>
  <cs:wall>
    <cs:lnRef idx="0"/>
    <cs:fillRef idx="0"/>
    <cs:effectRef idx="0"/>
    <cs:fontRef idx="minor">
      <a:schemeClr val="tx1"/>
    </cs:fontRef>
    <cs:spPr>
      <a:solidFill>
        <a:schemeClr val="tx1">
          <a:lumMod val="85000"/>
          <a:lumOff val="15000"/>
        </a:schemeClr>
      </a:solidFill>
    </cs:spPr>
  </cs:wall>
</cs:chartStyle>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B503B8F-ADB8-4B2E-ACF0-4C32D51FDFF4}" type="doc">
      <dgm:prSet loTypeId="urn:microsoft.com/office/officeart/2005/8/layout/cycle2" loCatId="cycle" qsTypeId="urn:microsoft.com/office/officeart/2005/8/quickstyle/simple5" qsCatId="simple" csTypeId="urn:microsoft.com/office/officeart/2005/8/colors/colorful4" csCatId="colorful" phldr="1"/>
      <dgm:spPr/>
      <dgm:t>
        <a:bodyPr/>
        <a:lstStyle/>
        <a:p>
          <a:endParaRPr lang="zh-CN" altLang="en-US"/>
        </a:p>
      </dgm:t>
    </dgm:pt>
    <dgm:pt modelId="{B0DFB638-4FC4-4955-A4D6-8EE2F4DCE952}">
      <dgm:prSet phldrT="[文本]"/>
      <dgm:spPr/>
      <dgm:t>
        <a:bodyPr/>
        <a:lstStyle/>
        <a:p>
          <a:r>
            <a:rPr lang="zh-CN" altLang="en-US" dirty="0"/>
            <a:t>范围</a:t>
          </a:r>
          <a:endParaRPr lang="en-US" altLang="zh-CN" dirty="0"/>
        </a:p>
        <a:p>
          <a:r>
            <a:rPr lang="en-US" altLang="zh-CN" dirty="0"/>
            <a:t>Scope</a:t>
          </a:r>
          <a:endParaRPr lang="zh-CN" altLang="en-US" dirty="0"/>
        </a:p>
      </dgm:t>
    </dgm:pt>
    <dgm:pt modelId="{5AF3B8D8-8DE9-4F0C-9004-373CDED870AF}" type="parTrans" cxnId="{0869350A-7314-42BF-918D-2E6BD01F5776}">
      <dgm:prSet/>
      <dgm:spPr/>
      <dgm:t>
        <a:bodyPr/>
        <a:lstStyle/>
        <a:p>
          <a:endParaRPr lang="zh-CN" altLang="en-US"/>
        </a:p>
      </dgm:t>
    </dgm:pt>
    <dgm:pt modelId="{DF5DA457-3A23-4DF3-A65A-224247BD0DCA}" type="sibTrans" cxnId="{0869350A-7314-42BF-918D-2E6BD01F5776}">
      <dgm:prSet/>
      <dgm:spPr/>
      <dgm:t>
        <a:bodyPr/>
        <a:lstStyle/>
        <a:p>
          <a:endParaRPr lang="zh-CN" altLang="en-US"/>
        </a:p>
      </dgm:t>
    </dgm:pt>
    <dgm:pt modelId="{549136A1-80CA-4D41-8A6C-9816800711CD}">
      <dgm:prSet phldrT="[文本]" phldr="0"/>
      <dgm:spPr/>
      <dgm:t>
        <a:bodyPr/>
        <a:lstStyle/>
        <a:p>
          <a:r>
            <a:rPr lang="zh-CN" altLang="en-US"/>
            <a:t>时间</a:t>
          </a:r>
          <a:endParaRPr lang="en-US" altLang="zh-CN"/>
        </a:p>
        <a:p>
          <a:r>
            <a:rPr lang="en-US" altLang="zh-CN"/>
            <a:t>Time</a:t>
          </a:r>
          <a:endParaRPr lang="zh-CN" altLang="en-US"/>
        </a:p>
      </dgm:t>
    </dgm:pt>
    <dgm:pt modelId="{D0396B9A-EE48-4E38-98DF-5B8862927DF7}" type="parTrans" cxnId="{524684CD-6449-4926-9B25-7936E416F902}">
      <dgm:prSet/>
      <dgm:spPr/>
      <dgm:t>
        <a:bodyPr/>
        <a:lstStyle/>
        <a:p>
          <a:endParaRPr lang="zh-CN" altLang="en-US"/>
        </a:p>
      </dgm:t>
    </dgm:pt>
    <dgm:pt modelId="{20D7630C-DC92-44AD-9A19-381E32515EFA}" type="sibTrans" cxnId="{524684CD-6449-4926-9B25-7936E416F902}">
      <dgm:prSet/>
      <dgm:spPr/>
      <dgm:t>
        <a:bodyPr/>
        <a:lstStyle/>
        <a:p>
          <a:endParaRPr lang="zh-CN" altLang="en-US"/>
        </a:p>
      </dgm:t>
    </dgm:pt>
    <dgm:pt modelId="{C73835C6-C083-4AD4-B08E-F44077B245BE}">
      <dgm:prSet phldrT="[文本]"/>
      <dgm:spPr/>
      <dgm:t>
        <a:bodyPr/>
        <a:lstStyle/>
        <a:p>
          <a:r>
            <a:rPr lang="zh-CN" altLang="en-US"/>
            <a:t>成本</a:t>
          </a:r>
          <a:endParaRPr lang="en-US" altLang="zh-CN"/>
        </a:p>
        <a:p>
          <a:r>
            <a:rPr lang="en-US" altLang="zh-CN"/>
            <a:t>Cost</a:t>
          </a:r>
          <a:endParaRPr lang="zh-CN" altLang="en-US"/>
        </a:p>
      </dgm:t>
    </dgm:pt>
    <dgm:pt modelId="{AB31E2B7-0868-4878-B89C-A601E238E35A}" type="parTrans" cxnId="{30D97A5E-F92D-42C9-8917-4483EDBC7EF2}">
      <dgm:prSet/>
      <dgm:spPr/>
      <dgm:t>
        <a:bodyPr/>
        <a:lstStyle/>
        <a:p>
          <a:endParaRPr lang="zh-CN" altLang="en-US"/>
        </a:p>
      </dgm:t>
    </dgm:pt>
    <dgm:pt modelId="{B806725C-022D-4FB9-BC77-4DDF7FCA24E8}" type="sibTrans" cxnId="{30D97A5E-F92D-42C9-8917-4483EDBC7EF2}">
      <dgm:prSet/>
      <dgm:spPr/>
      <dgm:t>
        <a:bodyPr/>
        <a:lstStyle/>
        <a:p>
          <a:endParaRPr lang="zh-CN" altLang="en-US"/>
        </a:p>
      </dgm:t>
    </dgm:pt>
    <dgm:pt modelId="{63CB093D-4BA5-41AA-84F2-E3F7FE4FF8B9}" type="pres">
      <dgm:prSet presAssocID="{CB503B8F-ADB8-4B2E-ACF0-4C32D51FDFF4}" presName="cycle" presStyleCnt="0">
        <dgm:presLayoutVars>
          <dgm:dir/>
          <dgm:resizeHandles val="exact"/>
        </dgm:presLayoutVars>
      </dgm:prSet>
      <dgm:spPr/>
    </dgm:pt>
    <dgm:pt modelId="{DDF1A2CC-DA64-4E6D-800E-759648269836}" type="pres">
      <dgm:prSet presAssocID="{B0DFB638-4FC4-4955-A4D6-8EE2F4DCE952}" presName="node" presStyleLbl="node1" presStyleIdx="0" presStyleCnt="3">
        <dgm:presLayoutVars>
          <dgm:bulletEnabled val="1"/>
        </dgm:presLayoutVars>
      </dgm:prSet>
      <dgm:spPr/>
    </dgm:pt>
    <dgm:pt modelId="{F5AD4191-EEF8-4A65-ABCF-ECF913895E65}" type="pres">
      <dgm:prSet presAssocID="{DF5DA457-3A23-4DF3-A65A-224247BD0DCA}" presName="sibTrans" presStyleLbl="sibTrans2D1" presStyleIdx="0" presStyleCnt="3"/>
      <dgm:spPr/>
    </dgm:pt>
    <dgm:pt modelId="{CD80C70A-32EB-4897-AD1C-6B5682EA32A6}" type="pres">
      <dgm:prSet presAssocID="{DF5DA457-3A23-4DF3-A65A-224247BD0DCA}" presName="connectorText" presStyleLbl="sibTrans2D1" presStyleIdx="0" presStyleCnt="3"/>
      <dgm:spPr/>
    </dgm:pt>
    <dgm:pt modelId="{2B85E611-1B0D-45CA-B9E9-D8AD1A1F5E8C}" type="pres">
      <dgm:prSet presAssocID="{549136A1-80CA-4D41-8A6C-9816800711CD}" presName="node" presStyleLbl="node1" presStyleIdx="1" presStyleCnt="3">
        <dgm:presLayoutVars>
          <dgm:bulletEnabled val="1"/>
        </dgm:presLayoutVars>
      </dgm:prSet>
      <dgm:spPr/>
    </dgm:pt>
    <dgm:pt modelId="{03F35830-F120-48A3-87E3-609DB5DAB761}" type="pres">
      <dgm:prSet presAssocID="{20D7630C-DC92-44AD-9A19-381E32515EFA}" presName="sibTrans" presStyleLbl="sibTrans2D1" presStyleIdx="1" presStyleCnt="3"/>
      <dgm:spPr/>
    </dgm:pt>
    <dgm:pt modelId="{BF549840-9098-49D8-B50F-C5149DD3DA58}" type="pres">
      <dgm:prSet presAssocID="{20D7630C-DC92-44AD-9A19-381E32515EFA}" presName="connectorText" presStyleLbl="sibTrans2D1" presStyleIdx="1" presStyleCnt="3"/>
      <dgm:spPr/>
    </dgm:pt>
    <dgm:pt modelId="{27B9E288-AC43-406C-8A60-33F607417729}" type="pres">
      <dgm:prSet presAssocID="{C73835C6-C083-4AD4-B08E-F44077B245BE}" presName="node" presStyleLbl="node1" presStyleIdx="2" presStyleCnt="3">
        <dgm:presLayoutVars>
          <dgm:bulletEnabled val="1"/>
        </dgm:presLayoutVars>
      </dgm:prSet>
      <dgm:spPr/>
    </dgm:pt>
    <dgm:pt modelId="{657FBBAE-B7ED-45F1-AB9F-4ED5E3C6841B}" type="pres">
      <dgm:prSet presAssocID="{B806725C-022D-4FB9-BC77-4DDF7FCA24E8}" presName="sibTrans" presStyleLbl="sibTrans2D1" presStyleIdx="2" presStyleCnt="3"/>
      <dgm:spPr/>
    </dgm:pt>
    <dgm:pt modelId="{EE7251EB-8548-4F34-963E-6DED194CDE53}" type="pres">
      <dgm:prSet presAssocID="{B806725C-022D-4FB9-BC77-4DDF7FCA24E8}" presName="connectorText" presStyleLbl="sibTrans2D1" presStyleIdx="2" presStyleCnt="3"/>
      <dgm:spPr/>
    </dgm:pt>
  </dgm:ptLst>
  <dgm:cxnLst>
    <dgm:cxn modelId="{0869350A-7314-42BF-918D-2E6BD01F5776}" srcId="{CB503B8F-ADB8-4B2E-ACF0-4C32D51FDFF4}" destId="{B0DFB638-4FC4-4955-A4D6-8EE2F4DCE952}" srcOrd="0" destOrd="0" parTransId="{5AF3B8D8-8DE9-4F0C-9004-373CDED870AF}" sibTransId="{DF5DA457-3A23-4DF3-A65A-224247BD0DCA}"/>
    <dgm:cxn modelId="{1745C40D-B166-4DF9-AA86-823189577054}" type="presOf" srcId="{B0DFB638-4FC4-4955-A4D6-8EE2F4DCE952}" destId="{DDF1A2CC-DA64-4E6D-800E-759648269836}" srcOrd="0" destOrd="0" presId="urn:microsoft.com/office/officeart/2005/8/layout/cycle2"/>
    <dgm:cxn modelId="{D6ADEB25-6BC9-41F7-9162-8FE09AD9FEEB}" type="presOf" srcId="{20D7630C-DC92-44AD-9A19-381E32515EFA}" destId="{03F35830-F120-48A3-87E3-609DB5DAB761}" srcOrd="0" destOrd="0" presId="urn:microsoft.com/office/officeart/2005/8/layout/cycle2"/>
    <dgm:cxn modelId="{9B01E52B-ED80-4B07-82C2-0BC9E42F4BBE}" type="presOf" srcId="{DF5DA457-3A23-4DF3-A65A-224247BD0DCA}" destId="{F5AD4191-EEF8-4A65-ABCF-ECF913895E65}" srcOrd="0" destOrd="0" presId="urn:microsoft.com/office/officeart/2005/8/layout/cycle2"/>
    <dgm:cxn modelId="{30D97A5E-F92D-42C9-8917-4483EDBC7EF2}" srcId="{CB503B8F-ADB8-4B2E-ACF0-4C32D51FDFF4}" destId="{C73835C6-C083-4AD4-B08E-F44077B245BE}" srcOrd="2" destOrd="0" parTransId="{AB31E2B7-0868-4878-B89C-A601E238E35A}" sibTransId="{B806725C-022D-4FB9-BC77-4DDF7FCA24E8}"/>
    <dgm:cxn modelId="{3CD6CB7B-6ED3-4D14-ABB9-C33E44761EA6}" type="presOf" srcId="{20D7630C-DC92-44AD-9A19-381E32515EFA}" destId="{BF549840-9098-49D8-B50F-C5149DD3DA58}" srcOrd="1" destOrd="0" presId="urn:microsoft.com/office/officeart/2005/8/layout/cycle2"/>
    <dgm:cxn modelId="{E2264881-6549-427B-BAEE-8EE083D785A6}" type="presOf" srcId="{CB503B8F-ADB8-4B2E-ACF0-4C32D51FDFF4}" destId="{63CB093D-4BA5-41AA-84F2-E3F7FE4FF8B9}" srcOrd="0" destOrd="0" presId="urn:microsoft.com/office/officeart/2005/8/layout/cycle2"/>
    <dgm:cxn modelId="{E72100AA-600F-457C-A20A-91C094CF4CF1}" type="presOf" srcId="{DF5DA457-3A23-4DF3-A65A-224247BD0DCA}" destId="{CD80C70A-32EB-4897-AD1C-6B5682EA32A6}" srcOrd="1" destOrd="0" presId="urn:microsoft.com/office/officeart/2005/8/layout/cycle2"/>
    <dgm:cxn modelId="{524684CD-6449-4926-9B25-7936E416F902}" srcId="{CB503B8F-ADB8-4B2E-ACF0-4C32D51FDFF4}" destId="{549136A1-80CA-4D41-8A6C-9816800711CD}" srcOrd="1" destOrd="0" parTransId="{D0396B9A-EE48-4E38-98DF-5B8862927DF7}" sibTransId="{20D7630C-DC92-44AD-9A19-381E32515EFA}"/>
    <dgm:cxn modelId="{25A075E1-71FC-411B-83B5-AB43B5497967}" type="presOf" srcId="{C73835C6-C083-4AD4-B08E-F44077B245BE}" destId="{27B9E288-AC43-406C-8A60-33F607417729}" srcOrd="0" destOrd="0" presId="urn:microsoft.com/office/officeart/2005/8/layout/cycle2"/>
    <dgm:cxn modelId="{577CB4F0-B7D2-4E4A-9BFE-CEE452702C9C}" type="presOf" srcId="{B806725C-022D-4FB9-BC77-4DDF7FCA24E8}" destId="{EE7251EB-8548-4F34-963E-6DED194CDE53}" srcOrd="1" destOrd="0" presId="urn:microsoft.com/office/officeart/2005/8/layout/cycle2"/>
    <dgm:cxn modelId="{FF8D0AF7-5230-4806-8E2B-0B1F82609310}" type="presOf" srcId="{549136A1-80CA-4D41-8A6C-9816800711CD}" destId="{2B85E611-1B0D-45CA-B9E9-D8AD1A1F5E8C}" srcOrd="0" destOrd="0" presId="urn:microsoft.com/office/officeart/2005/8/layout/cycle2"/>
    <dgm:cxn modelId="{D43474FD-6498-4FB8-980F-3510CCABA922}" type="presOf" srcId="{B806725C-022D-4FB9-BC77-4DDF7FCA24E8}" destId="{657FBBAE-B7ED-45F1-AB9F-4ED5E3C6841B}" srcOrd="0" destOrd="0" presId="urn:microsoft.com/office/officeart/2005/8/layout/cycle2"/>
    <dgm:cxn modelId="{80091956-CD7B-492B-B32C-43C516DAD21C}" type="presParOf" srcId="{63CB093D-4BA5-41AA-84F2-E3F7FE4FF8B9}" destId="{DDF1A2CC-DA64-4E6D-800E-759648269836}" srcOrd="0" destOrd="0" presId="urn:microsoft.com/office/officeart/2005/8/layout/cycle2"/>
    <dgm:cxn modelId="{40914950-499C-41E1-9ACF-3470A0DD51C1}" type="presParOf" srcId="{63CB093D-4BA5-41AA-84F2-E3F7FE4FF8B9}" destId="{F5AD4191-EEF8-4A65-ABCF-ECF913895E65}" srcOrd="1" destOrd="0" presId="urn:microsoft.com/office/officeart/2005/8/layout/cycle2"/>
    <dgm:cxn modelId="{B8CCD74F-C6D4-4020-9112-E7762AB833B8}" type="presParOf" srcId="{F5AD4191-EEF8-4A65-ABCF-ECF913895E65}" destId="{CD80C70A-32EB-4897-AD1C-6B5682EA32A6}" srcOrd="0" destOrd="0" presId="urn:microsoft.com/office/officeart/2005/8/layout/cycle2"/>
    <dgm:cxn modelId="{025619D2-C4FC-47F1-AC7D-EA79A8F3C436}" type="presParOf" srcId="{63CB093D-4BA5-41AA-84F2-E3F7FE4FF8B9}" destId="{2B85E611-1B0D-45CA-B9E9-D8AD1A1F5E8C}" srcOrd="2" destOrd="0" presId="urn:microsoft.com/office/officeart/2005/8/layout/cycle2"/>
    <dgm:cxn modelId="{35566291-2418-4337-86FC-687ABDD23FEC}" type="presParOf" srcId="{63CB093D-4BA5-41AA-84F2-E3F7FE4FF8B9}" destId="{03F35830-F120-48A3-87E3-609DB5DAB761}" srcOrd="3" destOrd="0" presId="urn:microsoft.com/office/officeart/2005/8/layout/cycle2"/>
    <dgm:cxn modelId="{4C9CAD1A-E5AF-4660-B8AD-2322674C5F4E}" type="presParOf" srcId="{03F35830-F120-48A3-87E3-609DB5DAB761}" destId="{BF549840-9098-49D8-B50F-C5149DD3DA58}" srcOrd="0" destOrd="0" presId="urn:microsoft.com/office/officeart/2005/8/layout/cycle2"/>
    <dgm:cxn modelId="{D630D46B-7290-4D50-850D-082818D46CE1}" type="presParOf" srcId="{63CB093D-4BA5-41AA-84F2-E3F7FE4FF8B9}" destId="{27B9E288-AC43-406C-8A60-33F607417729}" srcOrd="4" destOrd="0" presId="urn:microsoft.com/office/officeart/2005/8/layout/cycle2"/>
    <dgm:cxn modelId="{D8E45147-AE41-42A5-BCAD-F177B020E87D}" type="presParOf" srcId="{63CB093D-4BA5-41AA-84F2-E3F7FE4FF8B9}" destId="{657FBBAE-B7ED-45F1-AB9F-4ED5E3C6841B}" srcOrd="5" destOrd="0" presId="urn:microsoft.com/office/officeart/2005/8/layout/cycle2"/>
    <dgm:cxn modelId="{4D34C7DC-394D-4F44-8305-AF5CE6073310}" type="presParOf" srcId="{657FBBAE-B7ED-45F1-AB9F-4ED5E3C6841B}" destId="{EE7251EB-8548-4F34-963E-6DED194CDE53}"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F3E9E37-291C-4D4C-B1BB-A8991B28623F}" type="doc">
      <dgm:prSet loTypeId="urn:microsoft.com/office/officeart/2005/8/layout/process1" loCatId="process" qsTypeId="urn:microsoft.com/office/officeart/2005/8/quickstyle/simple1" qsCatId="simple" csTypeId="urn:microsoft.com/office/officeart/2005/8/colors/colorful5" csCatId="colorful" phldr="1"/>
      <dgm:spPr/>
      <dgm:t>
        <a:bodyPr/>
        <a:lstStyle/>
        <a:p>
          <a:endParaRPr lang="zh-CN" altLang="en-US"/>
        </a:p>
      </dgm:t>
    </dgm:pt>
    <dgm:pt modelId="{45A063F2-3639-425E-9E76-0A5E0638B134}">
      <dgm:prSet phldrT="[文本]" custT="1"/>
      <dgm:spPr>
        <a:ln>
          <a:noFill/>
        </a:ln>
      </dgm:spPr>
      <dgm:t>
        <a:bodyPr/>
        <a:lstStyle/>
        <a:p>
          <a:r>
            <a:rPr lang="zh-CN" altLang="en-US" sz="1600"/>
            <a:t>作坊式</a:t>
          </a:r>
        </a:p>
      </dgm:t>
    </dgm:pt>
    <dgm:pt modelId="{313DD0CB-EC56-499E-8064-75FD083E95D8}" type="parTrans" cxnId="{22F300E6-47C9-4759-9B04-0B214AB22D7F}">
      <dgm:prSet/>
      <dgm:spPr/>
      <dgm:t>
        <a:bodyPr/>
        <a:lstStyle/>
        <a:p>
          <a:endParaRPr lang="zh-CN" altLang="en-US" sz="1600"/>
        </a:p>
      </dgm:t>
    </dgm:pt>
    <dgm:pt modelId="{C37A157C-E645-48D2-A14E-E0A7F5BD0D02}" type="sibTrans" cxnId="{22F300E6-47C9-4759-9B04-0B214AB22D7F}">
      <dgm:prSet custT="1"/>
      <dgm:spPr/>
      <dgm:t>
        <a:bodyPr/>
        <a:lstStyle/>
        <a:p>
          <a:endParaRPr lang="zh-CN" altLang="en-US" sz="1600"/>
        </a:p>
      </dgm:t>
    </dgm:pt>
    <dgm:pt modelId="{4BECE392-011A-4E54-9255-2119A8652C45}">
      <dgm:prSet phldrT="[文本]" custT="1"/>
      <dgm:spPr>
        <a:ln>
          <a:noFill/>
        </a:ln>
      </dgm:spPr>
      <dgm:t>
        <a:bodyPr/>
        <a:lstStyle/>
        <a:p>
          <a:r>
            <a:rPr lang="zh-CN" altLang="en-US" sz="1600"/>
            <a:t>瀑布模型</a:t>
          </a:r>
        </a:p>
      </dgm:t>
    </dgm:pt>
    <dgm:pt modelId="{9216F320-C87F-46B9-B813-632B6FC773C4}" type="parTrans" cxnId="{89955FDC-2BDE-458C-A621-AB8AC381CC07}">
      <dgm:prSet/>
      <dgm:spPr/>
      <dgm:t>
        <a:bodyPr/>
        <a:lstStyle/>
        <a:p>
          <a:endParaRPr lang="zh-CN" altLang="en-US" sz="1600"/>
        </a:p>
      </dgm:t>
    </dgm:pt>
    <dgm:pt modelId="{7D234A58-58CC-4598-AF90-1578FC7C7407}" type="sibTrans" cxnId="{89955FDC-2BDE-458C-A621-AB8AC381CC07}">
      <dgm:prSet custT="1"/>
      <dgm:spPr/>
      <dgm:t>
        <a:bodyPr/>
        <a:lstStyle/>
        <a:p>
          <a:endParaRPr lang="zh-CN" altLang="en-US" sz="1600"/>
        </a:p>
      </dgm:t>
    </dgm:pt>
    <dgm:pt modelId="{77AF46B1-89A3-4856-B3F5-176392745D13}">
      <dgm:prSet phldrT="[文本]" custT="1"/>
      <dgm:spPr>
        <a:ln>
          <a:noFill/>
        </a:ln>
      </dgm:spPr>
      <dgm:t>
        <a:bodyPr/>
        <a:lstStyle/>
        <a:p>
          <a:r>
            <a:rPr lang="zh-CN" altLang="en-US" sz="1600"/>
            <a:t>敏捷模型</a:t>
          </a:r>
        </a:p>
      </dgm:t>
    </dgm:pt>
    <dgm:pt modelId="{D5533124-AFBF-4271-B8E5-CB5150CAFA1B}" type="parTrans" cxnId="{4AEC1405-13D7-48D3-AB56-CE9A13880D5A}">
      <dgm:prSet/>
      <dgm:spPr/>
      <dgm:t>
        <a:bodyPr/>
        <a:lstStyle/>
        <a:p>
          <a:endParaRPr lang="zh-CN" altLang="en-US" sz="1600"/>
        </a:p>
      </dgm:t>
    </dgm:pt>
    <dgm:pt modelId="{3CE9A17E-FDF4-4977-981A-D06CBB8B520E}" type="sibTrans" cxnId="{4AEC1405-13D7-48D3-AB56-CE9A13880D5A}">
      <dgm:prSet custT="1"/>
      <dgm:spPr/>
      <dgm:t>
        <a:bodyPr/>
        <a:lstStyle/>
        <a:p>
          <a:endParaRPr lang="zh-CN" altLang="en-US" sz="1600"/>
        </a:p>
      </dgm:t>
    </dgm:pt>
    <dgm:pt modelId="{37BC4C1E-8FE2-4DAE-803A-8CC31439CC38}">
      <dgm:prSet phldrT="[文本]" custT="1"/>
      <dgm:spPr>
        <a:ln>
          <a:noFill/>
        </a:ln>
      </dgm:spPr>
      <dgm:t>
        <a:bodyPr/>
        <a:lstStyle/>
        <a:p>
          <a:r>
            <a:rPr lang="en-US" altLang="zh-CN" sz="1600"/>
            <a:t>DevOps</a:t>
          </a:r>
          <a:endParaRPr lang="zh-CN" altLang="en-US" sz="1600"/>
        </a:p>
      </dgm:t>
    </dgm:pt>
    <dgm:pt modelId="{A80DE59C-E769-4C9F-B960-9632E0CD5384}" type="parTrans" cxnId="{3AA0F50C-1D84-4B55-AFDE-BB9FA0B3B5B9}">
      <dgm:prSet/>
      <dgm:spPr/>
      <dgm:t>
        <a:bodyPr/>
        <a:lstStyle/>
        <a:p>
          <a:endParaRPr lang="zh-CN" altLang="en-US" sz="1600"/>
        </a:p>
      </dgm:t>
    </dgm:pt>
    <dgm:pt modelId="{AF7ED507-8DC7-480D-9897-17D7CEA0B618}" type="sibTrans" cxnId="{3AA0F50C-1D84-4B55-AFDE-BB9FA0B3B5B9}">
      <dgm:prSet custT="1"/>
      <dgm:spPr/>
      <dgm:t>
        <a:bodyPr/>
        <a:lstStyle/>
        <a:p>
          <a:endParaRPr lang="zh-CN" altLang="en-US" sz="1600"/>
        </a:p>
      </dgm:t>
    </dgm:pt>
    <dgm:pt modelId="{4AA724EC-B299-45CD-A65E-BF3638111A84}">
      <dgm:prSet phldrT="[文本]" custT="1"/>
      <dgm:spPr>
        <a:ln>
          <a:noFill/>
        </a:ln>
      </dgm:spPr>
      <dgm:t>
        <a:bodyPr/>
        <a:lstStyle/>
        <a:p>
          <a:r>
            <a:rPr lang="en-US" altLang="zh-CN" sz="1600"/>
            <a:t>AI</a:t>
          </a:r>
          <a:r>
            <a:rPr lang="zh-CN" altLang="en-US" sz="1600"/>
            <a:t>驱动模型</a:t>
          </a:r>
        </a:p>
      </dgm:t>
    </dgm:pt>
    <dgm:pt modelId="{AB224C86-DE0E-4404-8A83-10EF4057E7FF}" type="parTrans" cxnId="{6DFD2BF1-F917-44F6-BDD8-A95DABAC5EA1}">
      <dgm:prSet/>
      <dgm:spPr/>
      <dgm:t>
        <a:bodyPr/>
        <a:lstStyle/>
        <a:p>
          <a:endParaRPr lang="zh-CN" altLang="en-US" sz="1600"/>
        </a:p>
      </dgm:t>
    </dgm:pt>
    <dgm:pt modelId="{55C33A74-8BB2-4A89-807C-51133EDFD67C}" type="sibTrans" cxnId="{6DFD2BF1-F917-44F6-BDD8-A95DABAC5EA1}">
      <dgm:prSet/>
      <dgm:spPr/>
      <dgm:t>
        <a:bodyPr/>
        <a:lstStyle/>
        <a:p>
          <a:endParaRPr lang="zh-CN" altLang="en-US" sz="1600"/>
        </a:p>
      </dgm:t>
    </dgm:pt>
    <dgm:pt modelId="{E715C269-7822-4E76-AC93-6F2E0DED81D0}" type="pres">
      <dgm:prSet presAssocID="{9F3E9E37-291C-4D4C-B1BB-A8991B28623F}" presName="Name0" presStyleCnt="0">
        <dgm:presLayoutVars>
          <dgm:dir/>
          <dgm:resizeHandles val="exact"/>
        </dgm:presLayoutVars>
      </dgm:prSet>
      <dgm:spPr/>
    </dgm:pt>
    <dgm:pt modelId="{D1ADF158-A952-4B9F-88F4-275DFAB1FA29}" type="pres">
      <dgm:prSet presAssocID="{45A063F2-3639-425E-9E76-0A5E0638B134}" presName="node" presStyleLbl="node1" presStyleIdx="0" presStyleCnt="5">
        <dgm:presLayoutVars>
          <dgm:bulletEnabled val="1"/>
        </dgm:presLayoutVars>
      </dgm:prSet>
      <dgm:spPr/>
    </dgm:pt>
    <dgm:pt modelId="{0C32FBFE-10C4-4FF3-A267-AFC801A00F14}" type="pres">
      <dgm:prSet presAssocID="{C37A157C-E645-48D2-A14E-E0A7F5BD0D02}" presName="sibTrans" presStyleLbl="sibTrans2D1" presStyleIdx="0" presStyleCnt="4"/>
      <dgm:spPr/>
    </dgm:pt>
    <dgm:pt modelId="{ACAA2BFE-75BC-444B-A601-3BE24D264BE2}" type="pres">
      <dgm:prSet presAssocID="{C37A157C-E645-48D2-A14E-E0A7F5BD0D02}" presName="connectorText" presStyleLbl="sibTrans2D1" presStyleIdx="0" presStyleCnt="4"/>
      <dgm:spPr/>
    </dgm:pt>
    <dgm:pt modelId="{29D3DA87-0011-4A76-A65D-494B23BD45F4}" type="pres">
      <dgm:prSet presAssocID="{4BECE392-011A-4E54-9255-2119A8652C45}" presName="node" presStyleLbl="node1" presStyleIdx="1" presStyleCnt="5">
        <dgm:presLayoutVars>
          <dgm:bulletEnabled val="1"/>
        </dgm:presLayoutVars>
      </dgm:prSet>
      <dgm:spPr/>
    </dgm:pt>
    <dgm:pt modelId="{78B75696-CB8E-4C49-ABC6-35FEF9623411}" type="pres">
      <dgm:prSet presAssocID="{7D234A58-58CC-4598-AF90-1578FC7C7407}" presName="sibTrans" presStyleLbl="sibTrans2D1" presStyleIdx="1" presStyleCnt="4"/>
      <dgm:spPr/>
    </dgm:pt>
    <dgm:pt modelId="{B425A1D9-910B-4763-A55A-CDE2A87781CF}" type="pres">
      <dgm:prSet presAssocID="{7D234A58-58CC-4598-AF90-1578FC7C7407}" presName="connectorText" presStyleLbl="sibTrans2D1" presStyleIdx="1" presStyleCnt="4"/>
      <dgm:spPr/>
    </dgm:pt>
    <dgm:pt modelId="{E34925CE-CD92-45F4-9B3C-C0882D6C98D0}" type="pres">
      <dgm:prSet presAssocID="{77AF46B1-89A3-4856-B3F5-176392745D13}" presName="node" presStyleLbl="node1" presStyleIdx="2" presStyleCnt="5">
        <dgm:presLayoutVars>
          <dgm:bulletEnabled val="1"/>
        </dgm:presLayoutVars>
      </dgm:prSet>
      <dgm:spPr/>
    </dgm:pt>
    <dgm:pt modelId="{0DDC3F8B-CF94-4636-AE2B-718D5DBA7077}" type="pres">
      <dgm:prSet presAssocID="{3CE9A17E-FDF4-4977-981A-D06CBB8B520E}" presName="sibTrans" presStyleLbl="sibTrans2D1" presStyleIdx="2" presStyleCnt="4"/>
      <dgm:spPr/>
    </dgm:pt>
    <dgm:pt modelId="{8E8E6DF6-8F95-4917-9E95-AAC934755CDB}" type="pres">
      <dgm:prSet presAssocID="{3CE9A17E-FDF4-4977-981A-D06CBB8B520E}" presName="connectorText" presStyleLbl="sibTrans2D1" presStyleIdx="2" presStyleCnt="4"/>
      <dgm:spPr/>
    </dgm:pt>
    <dgm:pt modelId="{0A97E01C-1896-44B0-9620-B2654069C781}" type="pres">
      <dgm:prSet presAssocID="{37BC4C1E-8FE2-4DAE-803A-8CC31439CC38}" presName="node" presStyleLbl="node1" presStyleIdx="3" presStyleCnt="5">
        <dgm:presLayoutVars>
          <dgm:bulletEnabled val="1"/>
        </dgm:presLayoutVars>
      </dgm:prSet>
      <dgm:spPr/>
    </dgm:pt>
    <dgm:pt modelId="{41ECFA7A-E58A-431E-B695-C2E027DF06D5}" type="pres">
      <dgm:prSet presAssocID="{AF7ED507-8DC7-480D-9897-17D7CEA0B618}" presName="sibTrans" presStyleLbl="sibTrans2D1" presStyleIdx="3" presStyleCnt="4"/>
      <dgm:spPr/>
    </dgm:pt>
    <dgm:pt modelId="{A8EB0445-861C-4718-AD7A-17989C4E7BBC}" type="pres">
      <dgm:prSet presAssocID="{AF7ED507-8DC7-480D-9897-17D7CEA0B618}" presName="connectorText" presStyleLbl="sibTrans2D1" presStyleIdx="3" presStyleCnt="4"/>
      <dgm:spPr/>
    </dgm:pt>
    <dgm:pt modelId="{3774C801-6DD1-4DCA-AEC0-FF5F277F7766}" type="pres">
      <dgm:prSet presAssocID="{4AA724EC-B299-45CD-A65E-BF3638111A84}" presName="node" presStyleLbl="node1" presStyleIdx="4" presStyleCnt="5">
        <dgm:presLayoutVars>
          <dgm:bulletEnabled val="1"/>
        </dgm:presLayoutVars>
      </dgm:prSet>
      <dgm:spPr/>
    </dgm:pt>
  </dgm:ptLst>
  <dgm:cxnLst>
    <dgm:cxn modelId="{4AEC1405-13D7-48D3-AB56-CE9A13880D5A}" srcId="{9F3E9E37-291C-4D4C-B1BB-A8991B28623F}" destId="{77AF46B1-89A3-4856-B3F5-176392745D13}" srcOrd="2" destOrd="0" parTransId="{D5533124-AFBF-4271-B8E5-CB5150CAFA1B}" sibTransId="{3CE9A17E-FDF4-4977-981A-D06CBB8B520E}"/>
    <dgm:cxn modelId="{3AA0F50C-1D84-4B55-AFDE-BB9FA0B3B5B9}" srcId="{9F3E9E37-291C-4D4C-B1BB-A8991B28623F}" destId="{37BC4C1E-8FE2-4DAE-803A-8CC31439CC38}" srcOrd="3" destOrd="0" parTransId="{A80DE59C-E769-4C9F-B960-9632E0CD5384}" sibTransId="{AF7ED507-8DC7-480D-9897-17D7CEA0B618}"/>
    <dgm:cxn modelId="{40B0F333-813E-462A-AA16-9E09B928F614}" type="presOf" srcId="{C37A157C-E645-48D2-A14E-E0A7F5BD0D02}" destId="{0C32FBFE-10C4-4FF3-A267-AFC801A00F14}" srcOrd="0" destOrd="0" presId="urn:microsoft.com/office/officeart/2005/8/layout/process1"/>
    <dgm:cxn modelId="{C208E63E-4739-40D3-A453-9E4328844EE8}" type="presOf" srcId="{7D234A58-58CC-4598-AF90-1578FC7C7407}" destId="{B425A1D9-910B-4763-A55A-CDE2A87781CF}" srcOrd="1" destOrd="0" presId="urn:microsoft.com/office/officeart/2005/8/layout/process1"/>
    <dgm:cxn modelId="{90DBA340-42C4-4DF0-9F76-B0D2594DCB93}" type="presOf" srcId="{AF7ED507-8DC7-480D-9897-17D7CEA0B618}" destId="{A8EB0445-861C-4718-AD7A-17989C4E7BBC}" srcOrd="1" destOrd="0" presId="urn:microsoft.com/office/officeart/2005/8/layout/process1"/>
    <dgm:cxn modelId="{8D1FB15C-D01B-435E-8604-3F7891850EA9}" type="presOf" srcId="{9F3E9E37-291C-4D4C-B1BB-A8991B28623F}" destId="{E715C269-7822-4E76-AC93-6F2E0DED81D0}" srcOrd="0" destOrd="0" presId="urn:microsoft.com/office/officeart/2005/8/layout/process1"/>
    <dgm:cxn modelId="{8383C770-7469-40A0-82F5-5F7E710AC8E9}" type="presOf" srcId="{4AA724EC-B299-45CD-A65E-BF3638111A84}" destId="{3774C801-6DD1-4DCA-AEC0-FF5F277F7766}" srcOrd="0" destOrd="0" presId="urn:microsoft.com/office/officeart/2005/8/layout/process1"/>
    <dgm:cxn modelId="{FE6C128C-538E-4D75-BC32-88C4209FAB07}" type="presOf" srcId="{77AF46B1-89A3-4856-B3F5-176392745D13}" destId="{E34925CE-CD92-45F4-9B3C-C0882D6C98D0}" srcOrd="0" destOrd="0" presId="urn:microsoft.com/office/officeart/2005/8/layout/process1"/>
    <dgm:cxn modelId="{2137A3A1-1802-40E7-B425-061ECD632D72}" type="presOf" srcId="{C37A157C-E645-48D2-A14E-E0A7F5BD0D02}" destId="{ACAA2BFE-75BC-444B-A601-3BE24D264BE2}" srcOrd="1" destOrd="0" presId="urn:microsoft.com/office/officeart/2005/8/layout/process1"/>
    <dgm:cxn modelId="{690A2DB3-1F1C-4DF0-9F93-763512744B93}" type="presOf" srcId="{3CE9A17E-FDF4-4977-981A-D06CBB8B520E}" destId="{8E8E6DF6-8F95-4917-9E95-AAC934755CDB}" srcOrd="1" destOrd="0" presId="urn:microsoft.com/office/officeart/2005/8/layout/process1"/>
    <dgm:cxn modelId="{CE3ABEBF-E9B5-4ADD-99B0-482DFE756795}" type="presOf" srcId="{3CE9A17E-FDF4-4977-981A-D06CBB8B520E}" destId="{0DDC3F8B-CF94-4636-AE2B-718D5DBA7077}" srcOrd="0" destOrd="0" presId="urn:microsoft.com/office/officeart/2005/8/layout/process1"/>
    <dgm:cxn modelId="{F021DFC7-8ECD-468B-9C9A-4CA635E19027}" type="presOf" srcId="{37BC4C1E-8FE2-4DAE-803A-8CC31439CC38}" destId="{0A97E01C-1896-44B0-9620-B2654069C781}" srcOrd="0" destOrd="0" presId="urn:microsoft.com/office/officeart/2005/8/layout/process1"/>
    <dgm:cxn modelId="{B6C798D4-A886-4747-A589-40AEB52C6934}" type="presOf" srcId="{7D234A58-58CC-4598-AF90-1578FC7C7407}" destId="{78B75696-CB8E-4C49-ABC6-35FEF9623411}" srcOrd="0" destOrd="0" presId="urn:microsoft.com/office/officeart/2005/8/layout/process1"/>
    <dgm:cxn modelId="{D03CB7D7-EBC3-4F50-8FDE-70F5BD0E22C6}" type="presOf" srcId="{AF7ED507-8DC7-480D-9897-17D7CEA0B618}" destId="{41ECFA7A-E58A-431E-B695-C2E027DF06D5}" srcOrd="0" destOrd="0" presId="urn:microsoft.com/office/officeart/2005/8/layout/process1"/>
    <dgm:cxn modelId="{89955FDC-2BDE-458C-A621-AB8AC381CC07}" srcId="{9F3E9E37-291C-4D4C-B1BB-A8991B28623F}" destId="{4BECE392-011A-4E54-9255-2119A8652C45}" srcOrd="1" destOrd="0" parTransId="{9216F320-C87F-46B9-B813-632B6FC773C4}" sibTransId="{7D234A58-58CC-4598-AF90-1578FC7C7407}"/>
    <dgm:cxn modelId="{F9647ADC-C538-4B12-BFAD-19B4DF00DD36}" type="presOf" srcId="{45A063F2-3639-425E-9E76-0A5E0638B134}" destId="{D1ADF158-A952-4B9F-88F4-275DFAB1FA29}" srcOrd="0" destOrd="0" presId="urn:microsoft.com/office/officeart/2005/8/layout/process1"/>
    <dgm:cxn modelId="{22F300E6-47C9-4759-9B04-0B214AB22D7F}" srcId="{9F3E9E37-291C-4D4C-B1BB-A8991B28623F}" destId="{45A063F2-3639-425E-9E76-0A5E0638B134}" srcOrd="0" destOrd="0" parTransId="{313DD0CB-EC56-499E-8064-75FD083E95D8}" sibTransId="{C37A157C-E645-48D2-A14E-E0A7F5BD0D02}"/>
    <dgm:cxn modelId="{AA0F85E8-9779-49FD-B1D8-2AAF107DEB84}" type="presOf" srcId="{4BECE392-011A-4E54-9255-2119A8652C45}" destId="{29D3DA87-0011-4A76-A65D-494B23BD45F4}" srcOrd="0" destOrd="0" presId="urn:microsoft.com/office/officeart/2005/8/layout/process1"/>
    <dgm:cxn modelId="{6DFD2BF1-F917-44F6-BDD8-A95DABAC5EA1}" srcId="{9F3E9E37-291C-4D4C-B1BB-A8991B28623F}" destId="{4AA724EC-B299-45CD-A65E-BF3638111A84}" srcOrd="4" destOrd="0" parTransId="{AB224C86-DE0E-4404-8A83-10EF4057E7FF}" sibTransId="{55C33A74-8BB2-4A89-807C-51133EDFD67C}"/>
    <dgm:cxn modelId="{66975801-1CC9-40BD-8762-ACCB9E6DB55A}" type="presParOf" srcId="{E715C269-7822-4E76-AC93-6F2E0DED81D0}" destId="{D1ADF158-A952-4B9F-88F4-275DFAB1FA29}" srcOrd="0" destOrd="0" presId="urn:microsoft.com/office/officeart/2005/8/layout/process1"/>
    <dgm:cxn modelId="{D9A1C992-6302-4DFD-86E9-B7EBF5B5F9EA}" type="presParOf" srcId="{E715C269-7822-4E76-AC93-6F2E0DED81D0}" destId="{0C32FBFE-10C4-4FF3-A267-AFC801A00F14}" srcOrd="1" destOrd="0" presId="urn:microsoft.com/office/officeart/2005/8/layout/process1"/>
    <dgm:cxn modelId="{FC07D2F9-E07C-49D3-AE67-32231979AB85}" type="presParOf" srcId="{0C32FBFE-10C4-4FF3-A267-AFC801A00F14}" destId="{ACAA2BFE-75BC-444B-A601-3BE24D264BE2}" srcOrd="0" destOrd="0" presId="urn:microsoft.com/office/officeart/2005/8/layout/process1"/>
    <dgm:cxn modelId="{2F780AE9-9D62-4B3E-8D5C-E3AA09C46689}" type="presParOf" srcId="{E715C269-7822-4E76-AC93-6F2E0DED81D0}" destId="{29D3DA87-0011-4A76-A65D-494B23BD45F4}" srcOrd="2" destOrd="0" presId="urn:microsoft.com/office/officeart/2005/8/layout/process1"/>
    <dgm:cxn modelId="{EBC2D4A1-FB9E-4A9E-B458-C980A5381F6D}" type="presParOf" srcId="{E715C269-7822-4E76-AC93-6F2E0DED81D0}" destId="{78B75696-CB8E-4C49-ABC6-35FEF9623411}" srcOrd="3" destOrd="0" presId="urn:microsoft.com/office/officeart/2005/8/layout/process1"/>
    <dgm:cxn modelId="{57238E67-65F9-4991-BD8A-CF2C79E309A6}" type="presParOf" srcId="{78B75696-CB8E-4C49-ABC6-35FEF9623411}" destId="{B425A1D9-910B-4763-A55A-CDE2A87781CF}" srcOrd="0" destOrd="0" presId="urn:microsoft.com/office/officeart/2005/8/layout/process1"/>
    <dgm:cxn modelId="{16258512-A6C3-495B-801A-4B5307AB470A}" type="presParOf" srcId="{E715C269-7822-4E76-AC93-6F2E0DED81D0}" destId="{E34925CE-CD92-45F4-9B3C-C0882D6C98D0}" srcOrd="4" destOrd="0" presId="urn:microsoft.com/office/officeart/2005/8/layout/process1"/>
    <dgm:cxn modelId="{DB1D14EE-DEDD-41A2-88E6-9B9BF56E17C3}" type="presParOf" srcId="{E715C269-7822-4E76-AC93-6F2E0DED81D0}" destId="{0DDC3F8B-CF94-4636-AE2B-718D5DBA7077}" srcOrd="5" destOrd="0" presId="urn:microsoft.com/office/officeart/2005/8/layout/process1"/>
    <dgm:cxn modelId="{7C8B965D-AF4B-41C2-8520-9A5D4B9D9598}" type="presParOf" srcId="{0DDC3F8B-CF94-4636-AE2B-718D5DBA7077}" destId="{8E8E6DF6-8F95-4917-9E95-AAC934755CDB}" srcOrd="0" destOrd="0" presId="urn:microsoft.com/office/officeart/2005/8/layout/process1"/>
    <dgm:cxn modelId="{A61241A2-D8D5-437F-B241-AF902E640AAD}" type="presParOf" srcId="{E715C269-7822-4E76-AC93-6F2E0DED81D0}" destId="{0A97E01C-1896-44B0-9620-B2654069C781}" srcOrd="6" destOrd="0" presId="urn:microsoft.com/office/officeart/2005/8/layout/process1"/>
    <dgm:cxn modelId="{E2626D3B-38FD-443B-928A-9E17AB3F6244}" type="presParOf" srcId="{E715C269-7822-4E76-AC93-6F2E0DED81D0}" destId="{41ECFA7A-E58A-431E-B695-C2E027DF06D5}" srcOrd="7" destOrd="0" presId="urn:microsoft.com/office/officeart/2005/8/layout/process1"/>
    <dgm:cxn modelId="{80C9BD48-7B61-452C-B08A-9FB89E7A2362}" type="presParOf" srcId="{41ECFA7A-E58A-431E-B695-C2E027DF06D5}" destId="{A8EB0445-861C-4718-AD7A-17989C4E7BBC}" srcOrd="0" destOrd="0" presId="urn:microsoft.com/office/officeart/2005/8/layout/process1"/>
    <dgm:cxn modelId="{0252ED1A-9215-4A46-9E2C-08C7985CBEEF}" type="presParOf" srcId="{E715C269-7822-4E76-AC93-6F2E0DED81D0}" destId="{3774C801-6DD1-4DCA-AEC0-FF5F277F7766}" srcOrd="8"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16DC7F6-74F3-4371-9E1A-B757AC8F79E1}" type="doc">
      <dgm:prSet loTypeId="urn:microsoft.com/office/officeart/2005/8/layout/venn1" loCatId="relationship" qsTypeId="urn:microsoft.com/office/officeart/2005/8/quickstyle/simple1" qsCatId="simple" csTypeId="urn:microsoft.com/office/officeart/2005/8/colors/colorful5" csCatId="colorful" phldr="1"/>
      <dgm:spPr/>
      <dgm:t>
        <a:bodyPr/>
        <a:lstStyle/>
        <a:p>
          <a:endParaRPr lang="zh-CN" altLang="en-US"/>
        </a:p>
      </dgm:t>
    </dgm:pt>
    <dgm:pt modelId="{B4E00CB3-00EA-4088-9FEB-F965E78BEB3C}">
      <dgm:prSet phldrT="[文本]" phldr="0" custT="1"/>
      <dgm:spPr>
        <a:solidFill>
          <a:schemeClr val="accent2">
            <a:alpha val="50000"/>
          </a:schemeClr>
        </a:solidFill>
      </dgm:spPr>
      <dgm:t>
        <a:bodyPr/>
        <a:lstStyle/>
        <a:p>
          <a:r>
            <a:rPr lang="zh-CN" altLang="en-US" sz="1800">
              <a:solidFill>
                <a:schemeClr val="bg1"/>
              </a:solidFill>
            </a:rPr>
            <a:t>快速反馈</a:t>
          </a:r>
        </a:p>
      </dgm:t>
    </dgm:pt>
    <dgm:pt modelId="{16FB5CC1-86A9-4E44-85C9-ADB3A968274C}" type="parTrans" cxnId="{EB3F0510-2310-4A41-8771-4D3DCB9A265C}">
      <dgm:prSet/>
      <dgm:spPr/>
      <dgm:t>
        <a:bodyPr/>
        <a:lstStyle/>
        <a:p>
          <a:endParaRPr lang="zh-CN" altLang="en-US" sz="1800"/>
        </a:p>
      </dgm:t>
    </dgm:pt>
    <dgm:pt modelId="{2DE1E5AE-488F-4651-BDBE-7A3FE2ADF3E6}" type="sibTrans" cxnId="{EB3F0510-2310-4A41-8771-4D3DCB9A265C}">
      <dgm:prSet/>
      <dgm:spPr/>
      <dgm:t>
        <a:bodyPr/>
        <a:lstStyle/>
        <a:p>
          <a:endParaRPr lang="zh-CN" altLang="en-US" sz="1800"/>
        </a:p>
      </dgm:t>
    </dgm:pt>
    <dgm:pt modelId="{BCA2FFA4-82D9-4BCF-BE45-3244B738E58C}">
      <dgm:prSet phldrT="[文本]" phldr="0" custT="1"/>
      <dgm:spPr>
        <a:solidFill>
          <a:schemeClr val="accent5">
            <a:alpha val="50000"/>
          </a:schemeClr>
        </a:solidFill>
      </dgm:spPr>
      <dgm:t>
        <a:bodyPr/>
        <a:lstStyle/>
        <a:p>
          <a:r>
            <a:rPr lang="zh-CN" altLang="en-US" sz="1800">
              <a:solidFill>
                <a:schemeClr val="bg1"/>
              </a:solidFill>
            </a:rPr>
            <a:t>假设简单</a:t>
          </a:r>
        </a:p>
      </dgm:t>
    </dgm:pt>
    <dgm:pt modelId="{3BFB141F-9E2E-436A-ADD2-5D8F35F32869}" type="parTrans" cxnId="{2BF65046-37D5-4E8D-AE83-B39FFC2261E1}">
      <dgm:prSet/>
      <dgm:spPr/>
      <dgm:t>
        <a:bodyPr/>
        <a:lstStyle/>
        <a:p>
          <a:endParaRPr lang="zh-CN" altLang="en-US" sz="1800"/>
        </a:p>
      </dgm:t>
    </dgm:pt>
    <dgm:pt modelId="{AAC08AFC-B389-4BF3-BD09-306CE29D7288}" type="sibTrans" cxnId="{2BF65046-37D5-4E8D-AE83-B39FFC2261E1}">
      <dgm:prSet/>
      <dgm:spPr/>
      <dgm:t>
        <a:bodyPr/>
        <a:lstStyle/>
        <a:p>
          <a:endParaRPr lang="zh-CN" altLang="en-US" sz="1800"/>
        </a:p>
      </dgm:t>
    </dgm:pt>
    <dgm:pt modelId="{9EB9DD2F-BDEA-4A89-958F-A68216D7E3FB}">
      <dgm:prSet phldrT="[文本]" phldr="0" custT="1"/>
      <dgm:spPr>
        <a:solidFill>
          <a:schemeClr val="accent6">
            <a:alpha val="50000"/>
          </a:schemeClr>
        </a:solidFill>
      </dgm:spPr>
      <dgm:t>
        <a:bodyPr/>
        <a:lstStyle/>
        <a:p>
          <a:r>
            <a:rPr lang="zh-CN" altLang="en-US" sz="1800">
              <a:solidFill>
                <a:schemeClr val="bg1"/>
              </a:solidFill>
            </a:rPr>
            <a:t>包容变化</a:t>
          </a:r>
        </a:p>
      </dgm:t>
    </dgm:pt>
    <dgm:pt modelId="{37448F79-61D4-4933-878F-A730D2EE1A58}" type="parTrans" cxnId="{A36F126A-A8A3-4397-BFC1-7EB20099FD86}">
      <dgm:prSet/>
      <dgm:spPr/>
      <dgm:t>
        <a:bodyPr/>
        <a:lstStyle/>
        <a:p>
          <a:endParaRPr lang="zh-CN" altLang="en-US" sz="1800"/>
        </a:p>
      </dgm:t>
    </dgm:pt>
    <dgm:pt modelId="{31E5C963-67C5-4515-AD3E-5E267D962303}" type="sibTrans" cxnId="{A36F126A-A8A3-4397-BFC1-7EB20099FD86}">
      <dgm:prSet/>
      <dgm:spPr/>
      <dgm:t>
        <a:bodyPr/>
        <a:lstStyle/>
        <a:p>
          <a:endParaRPr lang="zh-CN" altLang="en-US" sz="1800"/>
        </a:p>
      </dgm:t>
    </dgm:pt>
    <dgm:pt modelId="{3A01B6E1-1497-4EBB-9705-73B65B3F0959}" type="pres">
      <dgm:prSet presAssocID="{F16DC7F6-74F3-4371-9E1A-B757AC8F79E1}" presName="compositeShape" presStyleCnt="0">
        <dgm:presLayoutVars>
          <dgm:chMax val="7"/>
          <dgm:dir/>
          <dgm:resizeHandles val="exact"/>
        </dgm:presLayoutVars>
      </dgm:prSet>
      <dgm:spPr/>
    </dgm:pt>
    <dgm:pt modelId="{F755F96C-5F62-403D-B720-2827523383BB}" type="pres">
      <dgm:prSet presAssocID="{B4E00CB3-00EA-4088-9FEB-F965E78BEB3C}" presName="circ1" presStyleLbl="vennNode1" presStyleIdx="0" presStyleCnt="3"/>
      <dgm:spPr/>
    </dgm:pt>
    <dgm:pt modelId="{ED78947E-3D2B-4CEC-924F-2226ECD09E69}" type="pres">
      <dgm:prSet presAssocID="{B4E00CB3-00EA-4088-9FEB-F965E78BEB3C}" presName="circ1Tx" presStyleLbl="revTx" presStyleIdx="0" presStyleCnt="0">
        <dgm:presLayoutVars>
          <dgm:chMax val="0"/>
          <dgm:chPref val="0"/>
          <dgm:bulletEnabled val="1"/>
        </dgm:presLayoutVars>
      </dgm:prSet>
      <dgm:spPr/>
    </dgm:pt>
    <dgm:pt modelId="{C472F469-9BB5-4B9A-98E1-8523C6F24AA2}" type="pres">
      <dgm:prSet presAssocID="{BCA2FFA4-82D9-4BCF-BE45-3244B738E58C}" presName="circ2" presStyleLbl="vennNode1" presStyleIdx="1" presStyleCnt="3"/>
      <dgm:spPr/>
    </dgm:pt>
    <dgm:pt modelId="{89193024-3BD6-4082-9D4C-18AC48DCCD7D}" type="pres">
      <dgm:prSet presAssocID="{BCA2FFA4-82D9-4BCF-BE45-3244B738E58C}" presName="circ2Tx" presStyleLbl="revTx" presStyleIdx="0" presStyleCnt="0">
        <dgm:presLayoutVars>
          <dgm:chMax val="0"/>
          <dgm:chPref val="0"/>
          <dgm:bulletEnabled val="1"/>
        </dgm:presLayoutVars>
      </dgm:prSet>
      <dgm:spPr/>
    </dgm:pt>
    <dgm:pt modelId="{82BCCE81-EF41-4482-A478-D30C5E69613C}" type="pres">
      <dgm:prSet presAssocID="{9EB9DD2F-BDEA-4A89-958F-A68216D7E3FB}" presName="circ3" presStyleLbl="vennNode1" presStyleIdx="2" presStyleCnt="3"/>
      <dgm:spPr/>
    </dgm:pt>
    <dgm:pt modelId="{C97C4EC2-EF4B-469F-A81B-6B833978441F}" type="pres">
      <dgm:prSet presAssocID="{9EB9DD2F-BDEA-4A89-958F-A68216D7E3FB}" presName="circ3Tx" presStyleLbl="revTx" presStyleIdx="0" presStyleCnt="0">
        <dgm:presLayoutVars>
          <dgm:chMax val="0"/>
          <dgm:chPref val="0"/>
          <dgm:bulletEnabled val="1"/>
        </dgm:presLayoutVars>
      </dgm:prSet>
      <dgm:spPr/>
    </dgm:pt>
  </dgm:ptLst>
  <dgm:cxnLst>
    <dgm:cxn modelId="{7BF4B703-CDD5-4980-AA56-E23140F6DE64}" type="presOf" srcId="{9EB9DD2F-BDEA-4A89-958F-A68216D7E3FB}" destId="{82BCCE81-EF41-4482-A478-D30C5E69613C}" srcOrd="0" destOrd="0" presId="urn:microsoft.com/office/officeart/2005/8/layout/venn1"/>
    <dgm:cxn modelId="{DA559A05-BE48-4A74-8443-2B038A1F4ADC}" type="presOf" srcId="{BCA2FFA4-82D9-4BCF-BE45-3244B738E58C}" destId="{C472F469-9BB5-4B9A-98E1-8523C6F24AA2}" srcOrd="0" destOrd="0" presId="urn:microsoft.com/office/officeart/2005/8/layout/venn1"/>
    <dgm:cxn modelId="{EB3F0510-2310-4A41-8771-4D3DCB9A265C}" srcId="{F16DC7F6-74F3-4371-9E1A-B757AC8F79E1}" destId="{B4E00CB3-00EA-4088-9FEB-F965E78BEB3C}" srcOrd="0" destOrd="0" parTransId="{16FB5CC1-86A9-4E44-85C9-ADB3A968274C}" sibTransId="{2DE1E5AE-488F-4651-BDBE-7A3FE2ADF3E6}"/>
    <dgm:cxn modelId="{F3301D1E-2B1D-4588-8BAC-F9428F370966}" type="presOf" srcId="{9EB9DD2F-BDEA-4A89-958F-A68216D7E3FB}" destId="{C97C4EC2-EF4B-469F-A81B-6B833978441F}" srcOrd="1" destOrd="0" presId="urn:microsoft.com/office/officeart/2005/8/layout/venn1"/>
    <dgm:cxn modelId="{2BF65046-37D5-4E8D-AE83-B39FFC2261E1}" srcId="{F16DC7F6-74F3-4371-9E1A-B757AC8F79E1}" destId="{BCA2FFA4-82D9-4BCF-BE45-3244B738E58C}" srcOrd="1" destOrd="0" parTransId="{3BFB141F-9E2E-436A-ADD2-5D8F35F32869}" sibTransId="{AAC08AFC-B389-4BF3-BD09-306CE29D7288}"/>
    <dgm:cxn modelId="{A36F126A-A8A3-4397-BFC1-7EB20099FD86}" srcId="{F16DC7F6-74F3-4371-9E1A-B757AC8F79E1}" destId="{9EB9DD2F-BDEA-4A89-958F-A68216D7E3FB}" srcOrd="2" destOrd="0" parTransId="{37448F79-61D4-4933-878F-A730D2EE1A58}" sibTransId="{31E5C963-67C5-4515-AD3E-5E267D962303}"/>
    <dgm:cxn modelId="{1CBFF977-FD8B-43F5-82F7-1774811BD058}" type="presOf" srcId="{B4E00CB3-00EA-4088-9FEB-F965E78BEB3C}" destId="{F755F96C-5F62-403D-B720-2827523383BB}" srcOrd="0" destOrd="0" presId="urn:microsoft.com/office/officeart/2005/8/layout/venn1"/>
    <dgm:cxn modelId="{FAD1F696-14B2-4452-AA8D-02212F13DB44}" type="presOf" srcId="{F16DC7F6-74F3-4371-9E1A-B757AC8F79E1}" destId="{3A01B6E1-1497-4EBB-9705-73B65B3F0959}" srcOrd="0" destOrd="0" presId="urn:microsoft.com/office/officeart/2005/8/layout/venn1"/>
    <dgm:cxn modelId="{7A45E9D1-A34A-4A92-9643-7D1BB338BECE}" type="presOf" srcId="{BCA2FFA4-82D9-4BCF-BE45-3244B738E58C}" destId="{89193024-3BD6-4082-9D4C-18AC48DCCD7D}" srcOrd="1" destOrd="0" presId="urn:microsoft.com/office/officeart/2005/8/layout/venn1"/>
    <dgm:cxn modelId="{BD6B4BFD-C516-482B-A2C1-BDD46602F136}" type="presOf" srcId="{B4E00CB3-00EA-4088-9FEB-F965E78BEB3C}" destId="{ED78947E-3D2B-4CEC-924F-2226ECD09E69}" srcOrd="1" destOrd="0" presId="urn:microsoft.com/office/officeart/2005/8/layout/venn1"/>
    <dgm:cxn modelId="{BE852964-553F-4E29-94E5-9A15827741C2}" type="presParOf" srcId="{3A01B6E1-1497-4EBB-9705-73B65B3F0959}" destId="{F755F96C-5F62-403D-B720-2827523383BB}" srcOrd="0" destOrd="0" presId="urn:microsoft.com/office/officeart/2005/8/layout/venn1"/>
    <dgm:cxn modelId="{E68ACB82-0C40-492A-899A-6F63AD0FA0DC}" type="presParOf" srcId="{3A01B6E1-1497-4EBB-9705-73B65B3F0959}" destId="{ED78947E-3D2B-4CEC-924F-2226ECD09E69}" srcOrd="1" destOrd="0" presId="urn:microsoft.com/office/officeart/2005/8/layout/venn1"/>
    <dgm:cxn modelId="{E2D25703-5D1C-4A80-B811-56DEC6507C7A}" type="presParOf" srcId="{3A01B6E1-1497-4EBB-9705-73B65B3F0959}" destId="{C472F469-9BB5-4B9A-98E1-8523C6F24AA2}" srcOrd="2" destOrd="0" presId="urn:microsoft.com/office/officeart/2005/8/layout/venn1"/>
    <dgm:cxn modelId="{320BD546-29ED-4839-BB1C-B3AEA29580B6}" type="presParOf" srcId="{3A01B6E1-1497-4EBB-9705-73B65B3F0959}" destId="{89193024-3BD6-4082-9D4C-18AC48DCCD7D}" srcOrd="3" destOrd="0" presId="urn:microsoft.com/office/officeart/2005/8/layout/venn1"/>
    <dgm:cxn modelId="{2D78047B-A8CC-4C9F-A3FA-B0DCCE0112DE}" type="presParOf" srcId="{3A01B6E1-1497-4EBB-9705-73B65B3F0959}" destId="{82BCCE81-EF41-4482-A478-D30C5E69613C}" srcOrd="4" destOrd="0" presId="urn:microsoft.com/office/officeart/2005/8/layout/venn1"/>
    <dgm:cxn modelId="{FAD459C3-2D17-45DF-B768-6F6BFFF2D218}" type="presParOf" srcId="{3A01B6E1-1497-4EBB-9705-73B65B3F0959}" destId="{C97C4EC2-EF4B-469F-A81B-6B833978441F}" srcOrd="5"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4630D51-AF33-446F-BBFA-44FD96D55F14}" type="doc">
      <dgm:prSet loTypeId="urn:microsoft.com/office/officeart/2005/8/layout/list1" loCatId="list" qsTypeId="urn:microsoft.com/office/officeart/2005/8/quickstyle/simple1" qsCatId="simple" csTypeId="urn:microsoft.com/office/officeart/2005/8/colors/colorful5" csCatId="colorful" phldr="1"/>
      <dgm:spPr/>
      <dgm:t>
        <a:bodyPr/>
        <a:lstStyle/>
        <a:p>
          <a:endParaRPr lang="zh-CN" altLang="en-US"/>
        </a:p>
      </dgm:t>
    </dgm:pt>
    <dgm:pt modelId="{95ED1A9E-E38D-42B2-9D0A-5BE954589F12}">
      <dgm:prSet phldrT="[文本]"/>
      <dgm:spPr>
        <a:ln>
          <a:noFill/>
        </a:ln>
      </dgm:spPr>
      <dgm:t>
        <a:bodyPr/>
        <a:lstStyle/>
        <a:p>
          <a:pPr>
            <a:lnSpc>
              <a:spcPct val="100000"/>
            </a:lnSpc>
            <a:spcBef>
              <a:spcPts val="0"/>
            </a:spcBef>
            <a:spcAft>
              <a:spcPts val="0"/>
            </a:spcAft>
          </a:pPr>
          <a:r>
            <a:rPr lang="en-US" altLang="zh-CN"/>
            <a:t>Product Backlog </a:t>
          </a:r>
          <a:r>
            <a:rPr lang="zh-CN" altLang="en-US"/>
            <a:t>产品待办事项 </a:t>
          </a:r>
        </a:p>
      </dgm:t>
    </dgm:pt>
    <dgm:pt modelId="{35B26F15-481E-4980-8B11-9EE0F478DD59}" type="parTrans" cxnId="{D79B505B-9D89-4968-8277-F0D430410105}">
      <dgm:prSet/>
      <dgm:spPr/>
      <dgm:t>
        <a:bodyPr/>
        <a:lstStyle/>
        <a:p>
          <a:pPr>
            <a:lnSpc>
              <a:spcPct val="100000"/>
            </a:lnSpc>
            <a:spcBef>
              <a:spcPts val="0"/>
            </a:spcBef>
            <a:spcAft>
              <a:spcPts val="0"/>
            </a:spcAft>
          </a:pPr>
          <a:endParaRPr lang="zh-CN" altLang="en-US"/>
        </a:p>
      </dgm:t>
    </dgm:pt>
    <dgm:pt modelId="{A94150D4-C492-46EB-B1AC-9F736396AA0D}" type="sibTrans" cxnId="{D79B505B-9D89-4968-8277-F0D430410105}">
      <dgm:prSet/>
      <dgm:spPr/>
      <dgm:t>
        <a:bodyPr/>
        <a:lstStyle/>
        <a:p>
          <a:pPr>
            <a:lnSpc>
              <a:spcPct val="100000"/>
            </a:lnSpc>
            <a:spcBef>
              <a:spcPts val="0"/>
            </a:spcBef>
            <a:spcAft>
              <a:spcPts val="0"/>
            </a:spcAft>
          </a:pPr>
          <a:endParaRPr lang="zh-CN" altLang="en-US"/>
        </a:p>
      </dgm:t>
    </dgm:pt>
    <dgm:pt modelId="{CFB0D99E-28ED-4902-8D61-7ACF91349FF3}">
      <dgm:prSet phldrT="[文本]"/>
      <dgm:spPr>
        <a:ln>
          <a:noFill/>
        </a:ln>
      </dgm:spPr>
      <dgm:t>
        <a:bodyPr/>
        <a:lstStyle/>
        <a:p>
          <a:pPr>
            <a:lnSpc>
              <a:spcPct val="100000"/>
            </a:lnSpc>
            <a:spcBef>
              <a:spcPts val="0"/>
            </a:spcBef>
            <a:spcAft>
              <a:spcPts val="0"/>
            </a:spcAft>
          </a:pPr>
          <a:r>
            <a:rPr lang="en-US" altLang="zh-CN"/>
            <a:t>Sprint Backlog </a:t>
          </a:r>
          <a:r>
            <a:rPr lang="zh-CN" altLang="en-US"/>
            <a:t>冲刺待办事项</a:t>
          </a:r>
        </a:p>
      </dgm:t>
    </dgm:pt>
    <dgm:pt modelId="{99722672-1784-4400-81B7-D0DF21E97805}" type="parTrans" cxnId="{E1AF4824-10A9-4F9E-8664-538DE83A0D90}">
      <dgm:prSet/>
      <dgm:spPr/>
      <dgm:t>
        <a:bodyPr/>
        <a:lstStyle/>
        <a:p>
          <a:pPr>
            <a:lnSpc>
              <a:spcPct val="100000"/>
            </a:lnSpc>
            <a:spcBef>
              <a:spcPts val="0"/>
            </a:spcBef>
            <a:spcAft>
              <a:spcPts val="0"/>
            </a:spcAft>
          </a:pPr>
          <a:endParaRPr lang="zh-CN" altLang="en-US"/>
        </a:p>
      </dgm:t>
    </dgm:pt>
    <dgm:pt modelId="{F3F17E05-AEAE-4D48-8949-759579CCD152}" type="sibTrans" cxnId="{E1AF4824-10A9-4F9E-8664-538DE83A0D90}">
      <dgm:prSet/>
      <dgm:spPr/>
      <dgm:t>
        <a:bodyPr/>
        <a:lstStyle/>
        <a:p>
          <a:pPr>
            <a:lnSpc>
              <a:spcPct val="100000"/>
            </a:lnSpc>
            <a:spcBef>
              <a:spcPts val="0"/>
            </a:spcBef>
            <a:spcAft>
              <a:spcPts val="0"/>
            </a:spcAft>
          </a:pPr>
          <a:endParaRPr lang="zh-CN" altLang="en-US"/>
        </a:p>
      </dgm:t>
    </dgm:pt>
    <dgm:pt modelId="{0BE932A6-6974-4FF5-9D55-B28BE60115AD}">
      <dgm:prSet phldrT="[文本]"/>
      <dgm:spPr>
        <a:ln>
          <a:noFill/>
        </a:ln>
      </dgm:spPr>
      <dgm:t>
        <a:bodyPr/>
        <a:lstStyle/>
        <a:p>
          <a:pPr>
            <a:lnSpc>
              <a:spcPct val="100000"/>
            </a:lnSpc>
            <a:spcBef>
              <a:spcPts val="0"/>
            </a:spcBef>
            <a:spcAft>
              <a:spcPts val="0"/>
            </a:spcAft>
          </a:pPr>
          <a:r>
            <a:rPr lang="en-US" altLang="zh-CN"/>
            <a:t>Increment </a:t>
          </a:r>
          <a:r>
            <a:rPr lang="zh-CN" altLang="en-US"/>
            <a:t>增量</a:t>
          </a:r>
        </a:p>
      </dgm:t>
    </dgm:pt>
    <dgm:pt modelId="{17D82F36-9F94-4776-98C5-AE3B3F0F3E6C}" type="parTrans" cxnId="{A392CC0F-611C-4D9E-BCC9-4711500668CE}">
      <dgm:prSet/>
      <dgm:spPr/>
      <dgm:t>
        <a:bodyPr/>
        <a:lstStyle/>
        <a:p>
          <a:pPr>
            <a:lnSpc>
              <a:spcPct val="100000"/>
            </a:lnSpc>
            <a:spcBef>
              <a:spcPts val="0"/>
            </a:spcBef>
            <a:spcAft>
              <a:spcPts val="0"/>
            </a:spcAft>
          </a:pPr>
          <a:endParaRPr lang="zh-CN" altLang="en-US"/>
        </a:p>
      </dgm:t>
    </dgm:pt>
    <dgm:pt modelId="{AB964673-9E14-4EF3-BC35-34F63573595B}" type="sibTrans" cxnId="{A392CC0F-611C-4D9E-BCC9-4711500668CE}">
      <dgm:prSet/>
      <dgm:spPr/>
      <dgm:t>
        <a:bodyPr/>
        <a:lstStyle/>
        <a:p>
          <a:pPr>
            <a:lnSpc>
              <a:spcPct val="100000"/>
            </a:lnSpc>
            <a:spcBef>
              <a:spcPts val="0"/>
            </a:spcBef>
            <a:spcAft>
              <a:spcPts val="0"/>
            </a:spcAft>
          </a:pPr>
          <a:endParaRPr lang="zh-CN" altLang="en-US"/>
        </a:p>
      </dgm:t>
    </dgm:pt>
    <dgm:pt modelId="{BF7DEF04-E53A-4D1E-B708-6263A9D0922B}" type="pres">
      <dgm:prSet presAssocID="{64630D51-AF33-446F-BBFA-44FD96D55F14}" presName="linear" presStyleCnt="0">
        <dgm:presLayoutVars>
          <dgm:dir/>
          <dgm:animLvl val="lvl"/>
          <dgm:resizeHandles val="exact"/>
        </dgm:presLayoutVars>
      </dgm:prSet>
      <dgm:spPr/>
    </dgm:pt>
    <dgm:pt modelId="{133C7E76-CA13-46C5-BA9B-7ABE7C2B1D04}" type="pres">
      <dgm:prSet presAssocID="{95ED1A9E-E38D-42B2-9D0A-5BE954589F12}" presName="parentLin" presStyleCnt="0"/>
      <dgm:spPr/>
    </dgm:pt>
    <dgm:pt modelId="{158E9AAA-CAE5-4792-A1B4-83A90D5C332B}" type="pres">
      <dgm:prSet presAssocID="{95ED1A9E-E38D-42B2-9D0A-5BE954589F12}" presName="parentLeftMargin" presStyleLbl="node1" presStyleIdx="0" presStyleCnt="3"/>
      <dgm:spPr/>
    </dgm:pt>
    <dgm:pt modelId="{DD02235A-25BF-4B29-9162-A7F92081A1E0}" type="pres">
      <dgm:prSet presAssocID="{95ED1A9E-E38D-42B2-9D0A-5BE954589F12}" presName="parentText" presStyleLbl="node1" presStyleIdx="0" presStyleCnt="3">
        <dgm:presLayoutVars>
          <dgm:chMax val="0"/>
          <dgm:bulletEnabled val="1"/>
        </dgm:presLayoutVars>
      </dgm:prSet>
      <dgm:spPr/>
    </dgm:pt>
    <dgm:pt modelId="{72CCA6E7-20A2-40F6-A12E-792EF63775BB}" type="pres">
      <dgm:prSet presAssocID="{95ED1A9E-E38D-42B2-9D0A-5BE954589F12}" presName="negativeSpace" presStyleCnt="0"/>
      <dgm:spPr/>
    </dgm:pt>
    <dgm:pt modelId="{1DA210CE-E0B8-452A-AD79-866B094362ED}" type="pres">
      <dgm:prSet presAssocID="{95ED1A9E-E38D-42B2-9D0A-5BE954589F12}" presName="childText" presStyleLbl="conFgAcc1" presStyleIdx="0" presStyleCnt="3">
        <dgm:presLayoutVars>
          <dgm:bulletEnabled val="1"/>
        </dgm:presLayoutVars>
      </dgm:prSet>
      <dgm:spPr>
        <a:noFill/>
      </dgm:spPr>
    </dgm:pt>
    <dgm:pt modelId="{A89CF975-5116-4783-8481-4F237334A9D5}" type="pres">
      <dgm:prSet presAssocID="{A94150D4-C492-46EB-B1AC-9F736396AA0D}" presName="spaceBetweenRectangles" presStyleCnt="0"/>
      <dgm:spPr/>
    </dgm:pt>
    <dgm:pt modelId="{D1ABF7A7-8BA0-42E8-AC70-1C622A0A9CA8}" type="pres">
      <dgm:prSet presAssocID="{CFB0D99E-28ED-4902-8D61-7ACF91349FF3}" presName="parentLin" presStyleCnt="0"/>
      <dgm:spPr/>
    </dgm:pt>
    <dgm:pt modelId="{5381098F-BFAA-4B00-8A31-9A99AF189B1A}" type="pres">
      <dgm:prSet presAssocID="{CFB0D99E-28ED-4902-8D61-7ACF91349FF3}" presName="parentLeftMargin" presStyleLbl="node1" presStyleIdx="0" presStyleCnt="3"/>
      <dgm:spPr/>
    </dgm:pt>
    <dgm:pt modelId="{FD40A4DF-7C4E-41CE-A7B9-B01921CDC790}" type="pres">
      <dgm:prSet presAssocID="{CFB0D99E-28ED-4902-8D61-7ACF91349FF3}" presName="parentText" presStyleLbl="node1" presStyleIdx="1" presStyleCnt="3">
        <dgm:presLayoutVars>
          <dgm:chMax val="0"/>
          <dgm:bulletEnabled val="1"/>
        </dgm:presLayoutVars>
      </dgm:prSet>
      <dgm:spPr/>
    </dgm:pt>
    <dgm:pt modelId="{ED6ED8EE-B2DC-49A8-9696-985A956FCB62}" type="pres">
      <dgm:prSet presAssocID="{CFB0D99E-28ED-4902-8D61-7ACF91349FF3}" presName="negativeSpace" presStyleCnt="0"/>
      <dgm:spPr/>
    </dgm:pt>
    <dgm:pt modelId="{F7F664A6-DE14-4ED8-B93A-D4F9738CC253}" type="pres">
      <dgm:prSet presAssocID="{CFB0D99E-28ED-4902-8D61-7ACF91349FF3}" presName="childText" presStyleLbl="conFgAcc1" presStyleIdx="1" presStyleCnt="3">
        <dgm:presLayoutVars>
          <dgm:bulletEnabled val="1"/>
        </dgm:presLayoutVars>
      </dgm:prSet>
      <dgm:spPr>
        <a:noFill/>
      </dgm:spPr>
    </dgm:pt>
    <dgm:pt modelId="{38047EAB-5916-4A4C-813C-B59708DC6726}" type="pres">
      <dgm:prSet presAssocID="{F3F17E05-AEAE-4D48-8949-759579CCD152}" presName="spaceBetweenRectangles" presStyleCnt="0"/>
      <dgm:spPr/>
    </dgm:pt>
    <dgm:pt modelId="{2F719F66-0E83-44FA-B32C-C022CB3BDAA5}" type="pres">
      <dgm:prSet presAssocID="{0BE932A6-6974-4FF5-9D55-B28BE60115AD}" presName="parentLin" presStyleCnt="0"/>
      <dgm:spPr/>
    </dgm:pt>
    <dgm:pt modelId="{0EB91F7C-FC75-4C8F-9F36-3E93C8F0ED6B}" type="pres">
      <dgm:prSet presAssocID="{0BE932A6-6974-4FF5-9D55-B28BE60115AD}" presName="parentLeftMargin" presStyleLbl="node1" presStyleIdx="1" presStyleCnt="3"/>
      <dgm:spPr/>
    </dgm:pt>
    <dgm:pt modelId="{0CC10CEA-1E00-49BD-A38F-CC6B008709AD}" type="pres">
      <dgm:prSet presAssocID="{0BE932A6-6974-4FF5-9D55-B28BE60115AD}" presName="parentText" presStyleLbl="node1" presStyleIdx="2" presStyleCnt="3">
        <dgm:presLayoutVars>
          <dgm:chMax val="0"/>
          <dgm:bulletEnabled val="1"/>
        </dgm:presLayoutVars>
      </dgm:prSet>
      <dgm:spPr/>
    </dgm:pt>
    <dgm:pt modelId="{7759B597-5578-4712-9DDF-4B04DD2D17E4}" type="pres">
      <dgm:prSet presAssocID="{0BE932A6-6974-4FF5-9D55-B28BE60115AD}" presName="negativeSpace" presStyleCnt="0"/>
      <dgm:spPr/>
    </dgm:pt>
    <dgm:pt modelId="{44DB4402-D2FD-4BD6-9786-F158A4EC5712}" type="pres">
      <dgm:prSet presAssocID="{0BE932A6-6974-4FF5-9D55-B28BE60115AD}" presName="childText" presStyleLbl="conFgAcc1" presStyleIdx="2" presStyleCnt="3">
        <dgm:presLayoutVars>
          <dgm:bulletEnabled val="1"/>
        </dgm:presLayoutVars>
      </dgm:prSet>
      <dgm:spPr>
        <a:noFill/>
      </dgm:spPr>
    </dgm:pt>
  </dgm:ptLst>
  <dgm:cxnLst>
    <dgm:cxn modelId="{A392CC0F-611C-4D9E-BCC9-4711500668CE}" srcId="{64630D51-AF33-446F-BBFA-44FD96D55F14}" destId="{0BE932A6-6974-4FF5-9D55-B28BE60115AD}" srcOrd="2" destOrd="0" parTransId="{17D82F36-9F94-4776-98C5-AE3B3F0F3E6C}" sibTransId="{AB964673-9E14-4EF3-BC35-34F63573595B}"/>
    <dgm:cxn modelId="{6D9B2516-A53A-4E3A-98A9-B70FC9DFE0DE}" type="presOf" srcId="{95ED1A9E-E38D-42B2-9D0A-5BE954589F12}" destId="{DD02235A-25BF-4B29-9162-A7F92081A1E0}" srcOrd="1" destOrd="0" presId="urn:microsoft.com/office/officeart/2005/8/layout/list1"/>
    <dgm:cxn modelId="{E1AF4824-10A9-4F9E-8664-538DE83A0D90}" srcId="{64630D51-AF33-446F-BBFA-44FD96D55F14}" destId="{CFB0D99E-28ED-4902-8D61-7ACF91349FF3}" srcOrd="1" destOrd="0" parTransId="{99722672-1784-4400-81B7-D0DF21E97805}" sibTransId="{F3F17E05-AEAE-4D48-8949-759579CCD152}"/>
    <dgm:cxn modelId="{4F30693C-97FA-4E2E-8849-FCE0E7656406}" type="presOf" srcId="{CFB0D99E-28ED-4902-8D61-7ACF91349FF3}" destId="{5381098F-BFAA-4B00-8A31-9A99AF189B1A}" srcOrd="0" destOrd="0" presId="urn:microsoft.com/office/officeart/2005/8/layout/list1"/>
    <dgm:cxn modelId="{D79B505B-9D89-4968-8277-F0D430410105}" srcId="{64630D51-AF33-446F-BBFA-44FD96D55F14}" destId="{95ED1A9E-E38D-42B2-9D0A-5BE954589F12}" srcOrd="0" destOrd="0" parTransId="{35B26F15-481E-4980-8B11-9EE0F478DD59}" sibTransId="{A94150D4-C492-46EB-B1AC-9F736396AA0D}"/>
    <dgm:cxn modelId="{2AD73E6F-AAF9-419E-A3EF-16F3DBFB3742}" type="presOf" srcId="{64630D51-AF33-446F-BBFA-44FD96D55F14}" destId="{BF7DEF04-E53A-4D1E-B708-6263A9D0922B}" srcOrd="0" destOrd="0" presId="urn:microsoft.com/office/officeart/2005/8/layout/list1"/>
    <dgm:cxn modelId="{9F3B7772-5B46-422C-9E98-62E1E6E3FFA7}" type="presOf" srcId="{0BE932A6-6974-4FF5-9D55-B28BE60115AD}" destId="{0CC10CEA-1E00-49BD-A38F-CC6B008709AD}" srcOrd="1" destOrd="0" presId="urn:microsoft.com/office/officeart/2005/8/layout/list1"/>
    <dgm:cxn modelId="{3E34D486-DEE0-4198-B40A-8C983BC6A74C}" type="presOf" srcId="{0BE932A6-6974-4FF5-9D55-B28BE60115AD}" destId="{0EB91F7C-FC75-4C8F-9F36-3E93C8F0ED6B}" srcOrd="0" destOrd="0" presId="urn:microsoft.com/office/officeart/2005/8/layout/list1"/>
    <dgm:cxn modelId="{B4CE748C-BAE0-4CAD-BDB5-4A40C7EB835D}" type="presOf" srcId="{95ED1A9E-E38D-42B2-9D0A-5BE954589F12}" destId="{158E9AAA-CAE5-4792-A1B4-83A90D5C332B}" srcOrd="0" destOrd="0" presId="urn:microsoft.com/office/officeart/2005/8/layout/list1"/>
    <dgm:cxn modelId="{496B24FD-810F-44B5-8D66-A954D811A0DE}" type="presOf" srcId="{CFB0D99E-28ED-4902-8D61-7ACF91349FF3}" destId="{FD40A4DF-7C4E-41CE-A7B9-B01921CDC790}" srcOrd="1" destOrd="0" presId="urn:microsoft.com/office/officeart/2005/8/layout/list1"/>
    <dgm:cxn modelId="{AFA20D32-C055-4AA5-92F4-5F59FD0D33CF}" type="presParOf" srcId="{BF7DEF04-E53A-4D1E-B708-6263A9D0922B}" destId="{133C7E76-CA13-46C5-BA9B-7ABE7C2B1D04}" srcOrd="0" destOrd="0" presId="urn:microsoft.com/office/officeart/2005/8/layout/list1"/>
    <dgm:cxn modelId="{926A2C36-7271-4F4B-A69B-EA097EF58824}" type="presParOf" srcId="{133C7E76-CA13-46C5-BA9B-7ABE7C2B1D04}" destId="{158E9AAA-CAE5-4792-A1B4-83A90D5C332B}" srcOrd="0" destOrd="0" presId="urn:microsoft.com/office/officeart/2005/8/layout/list1"/>
    <dgm:cxn modelId="{D8D06147-FEDF-4DEA-83B5-80BC423CC111}" type="presParOf" srcId="{133C7E76-CA13-46C5-BA9B-7ABE7C2B1D04}" destId="{DD02235A-25BF-4B29-9162-A7F92081A1E0}" srcOrd="1" destOrd="0" presId="urn:microsoft.com/office/officeart/2005/8/layout/list1"/>
    <dgm:cxn modelId="{48635821-F49C-43A6-8CFC-B1AFBB899B27}" type="presParOf" srcId="{BF7DEF04-E53A-4D1E-B708-6263A9D0922B}" destId="{72CCA6E7-20A2-40F6-A12E-792EF63775BB}" srcOrd="1" destOrd="0" presId="urn:microsoft.com/office/officeart/2005/8/layout/list1"/>
    <dgm:cxn modelId="{485F3352-A239-47C3-844D-4794C06F2297}" type="presParOf" srcId="{BF7DEF04-E53A-4D1E-B708-6263A9D0922B}" destId="{1DA210CE-E0B8-452A-AD79-866B094362ED}" srcOrd="2" destOrd="0" presId="urn:microsoft.com/office/officeart/2005/8/layout/list1"/>
    <dgm:cxn modelId="{BD10CFB5-A4D6-4CDF-9717-7CE1E8AF1987}" type="presParOf" srcId="{BF7DEF04-E53A-4D1E-B708-6263A9D0922B}" destId="{A89CF975-5116-4783-8481-4F237334A9D5}" srcOrd="3" destOrd="0" presId="urn:microsoft.com/office/officeart/2005/8/layout/list1"/>
    <dgm:cxn modelId="{975A22F9-F3C9-4272-AF55-B11782E937C2}" type="presParOf" srcId="{BF7DEF04-E53A-4D1E-B708-6263A9D0922B}" destId="{D1ABF7A7-8BA0-42E8-AC70-1C622A0A9CA8}" srcOrd="4" destOrd="0" presId="urn:microsoft.com/office/officeart/2005/8/layout/list1"/>
    <dgm:cxn modelId="{9083D8F1-540D-4755-8C89-E5D35112C269}" type="presParOf" srcId="{D1ABF7A7-8BA0-42E8-AC70-1C622A0A9CA8}" destId="{5381098F-BFAA-4B00-8A31-9A99AF189B1A}" srcOrd="0" destOrd="0" presId="urn:microsoft.com/office/officeart/2005/8/layout/list1"/>
    <dgm:cxn modelId="{378A66BB-409D-4C25-AC4D-AC06894ED348}" type="presParOf" srcId="{D1ABF7A7-8BA0-42E8-AC70-1C622A0A9CA8}" destId="{FD40A4DF-7C4E-41CE-A7B9-B01921CDC790}" srcOrd="1" destOrd="0" presId="urn:microsoft.com/office/officeart/2005/8/layout/list1"/>
    <dgm:cxn modelId="{7063B6DA-FB36-450F-B4DD-54A1D0225FFB}" type="presParOf" srcId="{BF7DEF04-E53A-4D1E-B708-6263A9D0922B}" destId="{ED6ED8EE-B2DC-49A8-9696-985A956FCB62}" srcOrd="5" destOrd="0" presId="urn:microsoft.com/office/officeart/2005/8/layout/list1"/>
    <dgm:cxn modelId="{AC87EC03-8921-43CC-8DD1-2833102E46D2}" type="presParOf" srcId="{BF7DEF04-E53A-4D1E-B708-6263A9D0922B}" destId="{F7F664A6-DE14-4ED8-B93A-D4F9738CC253}" srcOrd="6" destOrd="0" presId="urn:microsoft.com/office/officeart/2005/8/layout/list1"/>
    <dgm:cxn modelId="{5D181AF2-715C-4B1A-887A-FACA3F308380}" type="presParOf" srcId="{BF7DEF04-E53A-4D1E-B708-6263A9D0922B}" destId="{38047EAB-5916-4A4C-813C-B59708DC6726}" srcOrd="7" destOrd="0" presId="urn:microsoft.com/office/officeart/2005/8/layout/list1"/>
    <dgm:cxn modelId="{53B53813-268D-4382-ACB8-7E56E84E9442}" type="presParOf" srcId="{BF7DEF04-E53A-4D1E-B708-6263A9D0922B}" destId="{2F719F66-0E83-44FA-B32C-C022CB3BDAA5}" srcOrd="8" destOrd="0" presId="urn:microsoft.com/office/officeart/2005/8/layout/list1"/>
    <dgm:cxn modelId="{263096C2-0BEE-413E-A365-E3F02543B7D8}" type="presParOf" srcId="{2F719F66-0E83-44FA-B32C-C022CB3BDAA5}" destId="{0EB91F7C-FC75-4C8F-9F36-3E93C8F0ED6B}" srcOrd="0" destOrd="0" presId="urn:microsoft.com/office/officeart/2005/8/layout/list1"/>
    <dgm:cxn modelId="{313F1B2B-58DC-4D2D-9052-789D118263EE}" type="presParOf" srcId="{2F719F66-0E83-44FA-B32C-C022CB3BDAA5}" destId="{0CC10CEA-1E00-49BD-A38F-CC6B008709AD}" srcOrd="1" destOrd="0" presId="urn:microsoft.com/office/officeart/2005/8/layout/list1"/>
    <dgm:cxn modelId="{9172D2DA-F153-4E4A-814F-2851227F641E}" type="presParOf" srcId="{BF7DEF04-E53A-4D1E-B708-6263A9D0922B}" destId="{7759B597-5578-4712-9DDF-4B04DD2D17E4}" srcOrd="9" destOrd="0" presId="urn:microsoft.com/office/officeart/2005/8/layout/list1"/>
    <dgm:cxn modelId="{09177B8A-B8D1-4D3C-BCBC-D6703F20D2A2}" type="presParOf" srcId="{BF7DEF04-E53A-4D1E-B708-6263A9D0922B}" destId="{44DB4402-D2FD-4BD6-9786-F158A4EC5712}"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B503B8F-ADB8-4B2E-ACF0-4C32D51FDFF4}" type="doc">
      <dgm:prSet loTypeId="urn:microsoft.com/office/officeart/2005/8/layout/cycle2" loCatId="cycle" qsTypeId="urn:microsoft.com/office/officeart/2005/8/quickstyle/simple5" qsCatId="simple" csTypeId="urn:microsoft.com/office/officeart/2005/8/colors/colorful4" csCatId="colorful" phldr="1"/>
      <dgm:spPr/>
      <dgm:t>
        <a:bodyPr/>
        <a:lstStyle/>
        <a:p>
          <a:endParaRPr lang="zh-CN" altLang="en-US"/>
        </a:p>
      </dgm:t>
    </dgm:pt>
    <dgm:pt modelId="{B0DFB638-4FC4-4955-A4D6-8EE2F4DCE952}">
      <dgm:prSet phldrT="[文本]"/>
      <dgm:spPr/>
      <dgm:t>
        <a:bodyPr anchor="t" anchorCtr="0"/>
        <a:lstStyle/>
        <a:p>
          <a:pPr>
            <a:lnSpc>
              <a:spcPct val="100000"/>
            </a:lnSpc>
            <a:spcAft>
              <a:spcPts val="0"/>
            </a:spcAft>
          </a:pPr>
          <a:r>
            <a:rPr lang="zh-CN" altLang="en-US"/>
            <a:t>范围</a:t>
          </a:r>
          <a:endParaRPr lang="en-US" altLang="zh-CN" dirty="0"/>
        </a:p>
        <a:p>
          <a:pPr>
            <a:lnSpc>
              <a:spcPct val="100000"/>
            </a:lnSpc>
            <a:spcAft>
              <a:spcPts val="0"/>
            </a:spcAft>
          </a:pPr>
          <a:r>
            <a:rPr lang="en-US" altLang="zh-CN" dirty="0"/>
            <a:t>Scope</a:t>
          </a:r>
          <a:endParaRPr lang="zh-CN" altLang="en-US" dirty="0"/>
        </a:p>
      </dgm:t>
    </dgm:pt>
    <dgm:pt modelId="{5AF3B8D8-8DE9-4F0C-9004-373CDED870AF}" type="parTrans" cxnId="{0869350A-7314-42BF-918D-2E6BD01F5776}">
      <dgm:prSet/>
      <dgm:spPr/>
      <dgm:t>
        <a:bodyPr/>
        <a:lstStyle/>
        <a:p>
          <a:endParaRPr lang="zh-CN" altLang="en-US"/>
        </a:p>
      </dgm:t>
    </dgm:pt>
    <dgm:pt modelId="{DF5DA457-3A23-4DF3-A65A-224247BD0DCA}" type="sibTrans" cxnId="{0869350A-7314-42BF-918D-2E6BD01F5776}">
      <dgm:prSet/>
      <dgm:spPr/>
      <dgm:t>
        <a:bodyPr/>
        <a:lstStyle/>
        <a:p>
          <a:endParaRPr lang="zh-CN" altLang="en-US"/>
        </a:p>
      </dgm:t>
    </dgm:pt>
    <dgm:pt modelId="{549136A1-80CA-4D41-8A6C-9816800711CD}">
      <dgm:prSet phldrT="[文本]" phldr="0"/>
      <dgm:spPr/>
      <dgm:t>
        <a:bodyPr anchor="t" anchorCtr="0"/>
        <a:lstStyle/>
        <a:p>
          <a:pPr>
            <a:lnSpc>
              <a:spcPct val="100000"/>
            </a:lnSpc>
            <a:spcAft>
              <a:spcPts val="0"/>
            </a:spcAft>
          </a:pPr>
          <a:r>
            <a:rPr lang="zh-CN" altLang="en-US"/>
            <a:t>时间</a:t>
          </a:r>
          <a:endParaRPr lang="en-US" altLang="zh-CN"/>
        </a:p>
        <a:p>
          <a:pPr>
            <a:lnSpc>
              <a:spcPct val="100000"/>
            </a:lnSpc>
            <a:spcAft>
              <a:spcPts val="0"/>
            </a:spcAft>
          </a:pPr>
          <a:r>
            <a:rPr lang="en-US" altLang="zh-CN"/>
            <a:t>Time</a:t>
          </a:r>
          <a:endParaRPr lang="zh-CN" altLang="en-US"/>
        </a:p>
      </dgm:t>
    </dgm:pt>
    <dgm:pt modelId="{D0396B9A-EE48-4E38-98DF-5B8862927DF7}" type="parTrans" cxnId="{524684CD-6449-4926-9B25-7936E416F902}">
      <dgm:prSet/>
      <dgm:spPr/>
      <dgm:t>
        <a:bodyPr/>
        <a:lstStyle/>
        <a:p>
          <a:endParaRPr lang="zh-CN" altLang="en-US"/>
        </a:p>
      </dgm:t>
    </dgm:pt>
    <dgm:pt modelId="{20D7630C-DC92-44AD-9A19-381E32515EFA}" type="sibTrans" cxnId="{524684CD-6449-4926-9B25-7936E416F902}">
      <dgm:prSet/>
      <dgm:spPr/>
      <dgm:t>
        <a:bodyPr/>
        <a:lstStyle/>
        <a:p>
          <a:endParaRPr lang="zh-CN" altLang="en-US"/>
        </a:p>
      </dgm:t>
    </dgm:pt>
    <dgm:pt modelId="{C73835C6-C083-4AD4-B08E-F44077B245BE}">
      <dgm:prSet phldrT="[文本]"/>
      <dgm:spPr/>
      <dgm:t>
        <a:bodyPr anchor="t" anchorCtr="0"/>
        <a:lstStyle/>
        <a:p>
          <a:pPr>
            <a:lnSpc>
              <a:spcPct val="100000"/>
            </a:lnSpc>
            <a:spcAft>
              <a:spcPts val="0"/>
            </a:spcAft>
          </a:pPr>
          <a:r>
            <a:rPr lang="zh-CN" altLang="en-US"/>
            <a:t>成本</a:t>
          </a:r>
          <a:endParaRPr lang="en-US" altLang="zh-CN"/>
        </a:p>
        <a:p>
          <a:pPr>
            <a:lnSpc>
              <a:spcPct val="100000"/>
            </a:lnSpc>
            <a:spcAft>
              <a:spcPts val="0"/>
            </a:spcAft>
          </a:pPr>
          <a:r>
            <a:rPr lang="en-US" altLang="zh-CN"/>
            <a:t>Cost</a:t>
          </a:r>
          <a:endParaRPr lang="zh-CN" altLang="en-US"/>
        </a:p>
      </dgm:t>
    </dgm:pt>
    <dgm:pt modelId="{AB31E2B7-0868-4878-B89C-A601E238E35A}" type="parTrans" cxnId="{30D97A5E-F92D-42C9-8917-4483EDBC7EF2}">
      <dgm:prSet/>
      <dgm:spPr/>
      <dgm:t>
        <a:bodyPr/>
        <a:lstStyle/>
        <a:p>
          <a:endParaRPr lang="zh-CN" altLang="en-US"/>
        </a:p>
      </dgm:t>
    </dgm:pt>
    <dgm:pt modelId="{B806725C-022D-4FB9-BC77-4DDF7FCA24E8}" type="sibTrans" cxnId="{30D97A5E-F92D-42C9-8917-4483EDBC7EF2}">
      <dgm:prSet/>
      <dgm:spPr/>
      <dgm:t>
        <a:bodyPr/>
        <a:lstStyle/>
        <a:p>
          <a:endParaRPr lang="zh-CN" altLang="en-US"/>
        </a:p>
      </dgm:t>
    </dgm:pt>
    <dgm:pt modelId="{63CB093D-4BA5-41AA-84F2-E3F7FE4FF8B9}" type="pres">
      <dgm:prSet presAssocID="{CB503B8F-ADB8-4B2E-ACF0-4C32D51FDFF4}" presName="cycle" presStyleCnt="0">
        <dgm:presLayoutVars>
          <dgm:dir/>
          <dgm:resizeHandles val="exact"/>
        </dgm:presLayoutVars>
      </dgm:prSet>
      <dgm:spPr/>
    </dgm:pt>
    <dgm:pt modelId="{DDF1A2CC-DA64-4E6D-800E-759648269836}" type="pres">
      <dgm:prSet presAssocID="{B0DFB638-4FC4-4955-A4D6-8EE2F4DCE952}" presName="node" presStyleLbl="node1" presStyleIdx="0" presStyleCnt="3">
        <dgm:presLayoutVars>
          <dgm:bulletEnabled val="1"/>
        </dgm:presLayoutVars>
      </dgm:prSet>
      <dgm:spPr/>
    </dgm:pt>
    <dgm:pt modelId="{F5AD4191-EEF8-4A65-ABCF-ECF913895E65}" type="pres">
      <dgm:prSet presAssocID="{DF5DA457-3A23-4DF3-A65A-224247BD0DCA}" presName="sibTrans" presStyleLbl="sibTrans2D1" presStyleIdx="0" presStyleCnt="3"/>
      <dgm:spPr/>
    </dgm:pt>
    <dgm:pt modelId="{CD80C70A-32EB-4897-AD1C-6B5682EA32A6}" type="pres">
      <dgm:prSet presAssocID="{DF5DA457-3A23-4DF3-A65A-224247BD0DCA}" presName="connectorText" presStyleLbl="sibTrans2D1" presStyleIdx="0" presStyleCnt="3"/>
      <dgm:spPr/>
    </dgm:pt>
    <dgm:pt modelId="{2B85E611-1B0D-45CA-B9E9-D8AD1A1F5E8C}" type="pres">
      <dgm:prSet presAssocID="{549136A1-80CA-4D41-8A6C-9816800711CD}" presName="node" presStyleLbl="node1" presStyleIdx="1" presStyleCnt="3">
        <dgm:presLayoutVars>
          <dgm:bulletEnabled val="1"/>
        </dgm:presLayoutVars>
      </dgm:prSet>
      <dgm:spPr/>
    </dgm:pt>
    <dgm:pt modelId="{03F35830-F120-48A3-87E3-609DB5DAB761}" type="pres">
      <dgm:prSet presAssocID="{20D7630C-DC92-44AD-9A19-381E32515EFA}" presName="sibTrans" presStyleLbl="sibTrans2D1" presStyleIdx="1" presStyleCnt="3"/>
      <dgm:spPr/>
    </dgm:pt>
    <dgm:pt modelId="{BF549840-9098-49D8-B50F-C5149DD3DA58}" type="pres">
      <dgm:prSet presAssocID="{20D7630C-DC92-44AD-9A19-381E32515EFA}" presName="connectorText" presStyleLbl="sibTrans2D1" presStyleIdx="1" presStyleCnt="3"/>
      <dgm:spPr/>
    </dgm:pt>
    <dgm:pt modelId="{27B9E288-AC43-406C-8A60-33F607417729}" type="pres">
      <dgm:prSet presAssocID="{C73835C6-C083-4AD4-B08E-F44077B245BE}" presName="node" presStyleLbl="node1" presStyleIdx="2" presStyleCnt="3">
        <dgm:presLayoutVars>
          <dgm:bulletEnabled val="1"/>
        </dgm:presLayoutVars>
      </dgm:prSet>
      <dgm:spPr/>
    </dgm:pt>
    <dgm:pt modelId="{657FBBAE-B7ED-45F1-AB9F-4ED5E3C6841B}" type="pres">
      <dgm:prSet presAssocID="{B806725C-022D-4FB9-BC77-4DDF7FCA24E8}" presName="sibTrans" presStyleLbl="sibTrans2D1" presStyleIdx="2" presStyleCnt="3"/>
      <dgm:spPr/>
    </dgm:pt>
    <dgm:pt modelId="{EE7251EB-8548-4F34-963E-6DED194CDE53}" type="pres">
      <dgm:prSet presAssocID="{B806725C-022D-4FB9-BC77-4DDF7FCA24E8}" presName="connectorText" presStyleLbl="sibTrans2D1" presStyleIdx="2" presStyleCnt="3"/>
      <dgm:spPr/>
    </dgm:pt>
  </dgm:ptLst>
  <dgm:cxnLst>
    <dgm:cxn modelId="{0869350A-7314-42BF-918D-2E6BD01F5776}" srcId="{CB503B8F-ADB8-4B2E-ACF0-4C32D51FDFF4}" destId="{B0DFB638-4FC4-4955-A4D6-8EE2F4DCE952}" srcOrd="0" destOrd="0" parTransId="{5AF3B8D8-8DE9-4F0C-9004-373CDED870AF}" sibTransId="{DF5DA457-3A23-4DF3-A65A-224247BD0DCA}"/>
    <dgm:cxn modelId="{1745C40D-B166-4DF9-AA86-823189577054}" type="presOf" srcId="{B0DFB638-4FC4-4955-A4D6-8EE2F4DCE952}" destId="{DDF1A2CC-DA64-4E6D-800E-759648269836}" srcOrd="0" destOrd="0" presId="urn:microsoft.com/office/officeart/2005/8/layout/cycle2"/>
    <dgm:cxn modelId="{D6ADEB25-6BC9-41F7-9162-8FE09AD9FEEB}" type="presOf" srcId="{20D7630C-DC92-44AD-9A19-381E32515EFA}" destId="{03F35830-F120-48A3-87E3-609DB5DAB761}" srcOrd="0" destOrd="0" presId="urn:microsoft.com/office/officeart/2005/8/layout/cycle2"/>
    <dgm:cxn modelId="{9B01E52B-ED80-4B07-82C2-0BC9E42F4BBE}" type="presOf" srcId="{DF5DA457-3A23-4DF3-A65A-224247BD0DCA}" destId="{F5AD4191-EEF8-4A65-ABCF-ECF913895E65}" srcOrd="0" destOrd="0" presId="urn:microsoft.com/office/officeart/2005/8/layout/cycle2"/>
    <dgm:cxn modelId="{30D97A5E-F92D-42C9-8917-4483EDBC7EF2}" srcId="{CB503B8F-ADB8-4B2E-ACF0-4C32D51FDFF4}" destId="{C73835C6-C083-4AD4-B08E-F44077B245BE}" srcOrd="2" destOrd="0" parTransId="{AB31E2B7-0868-4878-B89C-A601E238E35A}" sibTransId="{B806725C-022D-4FB9-BC77-4DDF7FCA24E8}"/>
    <dgm:cxn modelId="{3CD6CB7B-6ED3-4D14-ABB9-C33E44761EA6}" type="presOf" srcId="{20D7630C-DC92-44AD-9A19-381E32515EFA}" destId="{BF549840-9098-49D8-B50F-C5149DD3DA58}" srcOrd="1" destOrd="0" presId="urn:microsoft.com/office/officeart/2005/8/layout/cycle2"/>
    <dgm:cxn modelId="{E2264881-6549-427B-BAEE-8EE083D785A6}" type="presOf" srcId="{CB503B8F-ADB8-4B2E-ACF0-4C32D51FDFF4}" destId="{63CB093D-4BA5-41AA-84F2-E3F7FE4FF8B9}" srcOrd="0" destOrd="0" presId="urn:microsoft.com/office/officeart/2005/8/layout/cycle2"/>
    <dgm:cxn modelId="{E72100AA-600F-457C-A20A-91C094CF4CF1}" type="presOf" srcId="{DF5DA457-3A23-4DF3-A65A-224247BD0DCA}" destId="{CD80C70A-32EB-4897-AD1C-6B5682EA32A6}" srcOrd="1" destOrd="0" presId="urn:microsoft.com/office/officeart/2005/8/layout/cycle2"/>
    <dgm:cxn modelId="{524684CD-6449-4926-9B25-7936E416F902}" srcId="{CB503B8F-ADB8-4B2E-ACF0-4C32D51FDFF4}" destId="{549136A1-80CA-4D41-8A6C-9816800711CD}" srcOrd="1" destOrd="0" parTransId="{D0396B9A-EE48-4E38-98DF-5B8862927DF7}" sibTransId="{20D7630C-DC92-44AD-9A19-381E32515EFA}"/>
    <dgm:cxn modelId="{25A075E1-71FC-411B-83B5-AB43B5497967}" type="presOf" srcId="{C73835C6-C083-4AD4-B08E-F44077B245BE}" destId="{27B9E288-AC43-406C-8A60-33F607417729}" srcOrd="0" destOrd="0" presId="urn:microsoft.com/office/officeart/2005/8/layout/cycle2"/>
    <dgm:cxn modelId="{577CB4F0-B7D2-4E4A-9BFE-CEE452702C9C}" type="presOf" srcId="{B806725C-022D-4FB9-BC77-4DDF7FCA24E8}" destId="{EE7251EB-8548-4F34-963E-6DED194CDE53}" srcOrd="1" destOrd="0" presId="urn:microsoft.com/office/officeart/2005/8/layout/cycle2"/>
    <dgm:cxn modelId="{FF8D0AF7-5230-4806-8E2B-0B1F82609310}" type="presOf" srcId="{549136A1-80CA-4D41-8A6C-9816800711CD}" destId="{2B85E611-1B0D-45CA-B9E9-D8AD1A1F5E8C}" srcOrd="0" destOrd="0" presId="urn:microsoft.com/office/officeart/2005/8/layout/cycle2"/>
    <dgm:cxn modelId="{D43474FD-6498-4FB8-980F-3510CCABA922}" type="presOf" srcId="{B806725C-022D-4FB9-BC77-4DDF7FCA24E8}" destId="{657FBBAE-B7ED-45F1-AB9F-4ED5E3C6841B}" srcOrd="0" destOrd="0" presId="urn:microsoft.com/office/officeart/2005/8/layout/cycle2"/>
    <dgm:cxn modelId="{80091956-CD7B-492B-B32C-43C516DAD21C}" type="presParOf" srcId="{63CB093D-4BA5-41AA-84F2-E3F7FE4FF8B9}" destId="{DDF1A2CC-DA64-4E6D-800E-759648269836}" srcOrd="0" destOrd="0" presId="urn:microsoft.com/office/officeart/2005/8/layout/cycle2"/>
    <dgm:cxn modelId="{40914950-499C-41E1-9ACF-3470A0DD51C1}" type="presParOf" srcId="{63CB093D-4BA5-41AA-84F2-E3F7FE4FF8B9}" destId="{F5AD4191-EEF8-4A65-ABCF-ECF913895E65}" srcOrd="1" destOrd="0" presId="urn:microsoft.com/office/officeart/2005/8/layout/cycle2"/>
    <dgm:cxn modelId="{B8CCD74F-C6D4-4020-9112-E7762AB833B8}" type="presParOf" srcId="{F5AD4191-EEF8-4A65-ABCF-ECF913895E65}" destId="{CD80C70A-32EB-4897-AD1C-6B5682EA32A6}" srcOrd="0" destOrd="0" presId="urn:microsoft.com/office/officeart/2005/8/layout/cycle2"/>
    <dgm:cxn modelId="{025619D2-C4FC-47F1-AC7D-EA79A8F3C436}" type="presParOf" srcId="{63CB093D-4BA5-41AA-84F2-E3F7FE4FF8B9}" destId="{2B85E611-1B0D-45CA-B9E9-D8AD1A1F5E8C}" srcOrd="2" destOrd="0" presId="urn:microsoft.com/office/officeart/2005/8/layout/cycle2"/>
    <dgm:cxn modelId="{35566291-2418-4337-86FC-687ABDD23FEC}" type="presParOf" srcId="{63CB093D-4BA5-41AA-84F2-E3F7FE4FF8B9}" destId="{03F35830-F120-48A3-87E3-609DB5DAB761}" srcOrd="3" destOrd="0" presId="urn:microsoft.com/office/officeart/2005/8/layout/cycle2"/>
    <dgm:cxn modelId="{4C9CAD1A-E5AF-4660-B8AD-2322674C5F4E}" type="presParOf" srcId="{03F35830-F120-48A3-87E3-609DB5DAB761}" destId="{BF549840-9098-49D8-B50F-C5149DD3DA58}" srcOrd="0" destOrd="0" presId="urn:microsoft.com/office/officeart/2005/8/layout/cycle2"/>
    <dgm:cxn modelId="{D630D46B-7290-4D50-850D-082818D46CE1}" type="presParOf" srcId="{63CB093D-4BA5-41AA-84F2-E3F7FE4FF8B9}" destId="{27B9E288-AC43-406C-8A60-33F607417729}" srcOrd="4" destOrd="0" presId="urn:microsoft.com/office/officeart/2005/8/layout/cycle2"/>
    <dgm:cxn modelId="{D8E45147-AE41-42A5-BCAD-F177B020E87D}" type="presParOf" srcId="{63CB093D-4BA5-41AA-84F2-E3F7FE4FF8B9}" destId="{657FBBAE-B7ED-45F1-AB9F-4ED5E3C6841B}" srcOrd="5" destOrd="0" presId="urn:microsoft.com/office/officeart/2005/8/layout/cycle2"/>
    <dgm:cxn modelId="{4D34C7DC-394D-4F44-8305-AF5CE6073310}" type="presParOf" srcId="{657FBBAE-B7ED-45F1-AB9F-4ED5E3C6841B}" destId="{EE7251EB-8548-4F34-963E-6DED194CDE53}"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2D7379E-7F4D-4A9A-9BDC-6F43CC5D50E5}" type="doc">
      <dgm:prSet loTypeId="urn:microsoft.com/office/officeart/2005/8/layout/process1" loCatId="process" qsTypeId="urn:microsoft.com/office/officeart/2005/8/quickstyle/simple1" qsCatId="simple" csTypeId="urn:microsoft.com/office/officeart/2005/8/colors/colorful4" csCatId="colorful" phldr="1"/>
      <dgm:spPr/>
    </dgm:pt>
    <dgm:pt modelId="{662BD4FF-7C1B-43B4-9E4D-5AF9EB8DE1AA}">
      <dgm:prSet phldrT="[文本]" custT="1"/>
      <dgm:spPr/>
      <dgm:t>
        <a:bodyPr/>
        <a:lstStyle/>
        <a:p>
          <a:r>
            <a:rPr lang="zh-CN" altLang="en-US" sz="1400" dirty="0"/>
            <a:t>规模估算</a:t>
          </a:r>
        </a:p>
      </dgm:t>
    </dgm:pt>
    <dgm:pt modelId="{B64E13FF-4330-4C87-BD4A-B3795A70F053}" type="parTrans" cxnId="{9152BF54-26F0-491E-8AAA-2DCA805FB85A}">
      <dgm:prSet/>
      <dgm:spPr/>
      <dgm:t>
        <a:bodyPr/>
        <a:lstStyle/>
        <a:p>
          <a:endParaRPr lang="zh-CN" altLang="en-US" sz="1400"/>
        </a:p>
      </dgm:t>
    </dgm:pt>
    <dgm:pt modelId="{8DF4F3F0-F2B4-40CB-906F-844E22D37CBE}" type="sibTrans" cxnId="{9152BF54-26F0-491E-8AAA-2DCA805FB85A}">
      <dgm:prSet custT="1"/>
      <dgm:spPr/>
      <dgm:t>
        <a:bodyPr/>
        <a:lstStyle/>
        <a:p>
          <a:endParaRPr lang="zh-CN" altLang="en-US" sz="1400"/>
        </a:p>
      </dgm:t>
    </dgm:pt>
    <dgm:pt modelId="{F4EA69CC-DCF6-4953-9AE8-8C5E3D517669}">
      <dgm:prSet phldrT="[文本]" custT="1"/>
      <dgm:spPr/>
      <dgm:t>
        <a:bodyPr/>
        <a:lstStyle/>
        <a:p>
          <a:r>
            <a:rPr lang="zh-CN" altLang="en-US" sz="1400" dirty="0"/>
            <a:t>工作量估算</a:t>
          </a:r>
        </a:p>
      </dgm:t>
    </dgm:pt>
    <dgm:pt modelId="{1F96AE25-51D7-459E-9D43-C9E826B57087}" type="parTrans" cxnId="{03531220-1387-4C3C-AA8D-FF8B68146F75}">
      <dgm:prSet/>
      <dgm:spPr/>
      <dgm:t>
        <a:bodyPr/>
        <a:lstStyle/>
        <a:p>
          <a:endParaRPr lang="zh-CN" altLang="en-US" sz="1400"/>
        </a:p>
      </dgm:t>
    </dgm:pt>
    <dgm:pt modelId="{EA12215D-9D83-43A1-AA5F-2B3DF111A85A}" type="sibTrans" cxnId="{03531220-1387-4C3C-AA8D-FF8B68146F75}">
      <dgm:prSet custT="1"/>
      <dgm:spPr/>
      <dgm:t>
        <a:bodyPr/>
        <a:lstStyle/>
        <a:p>
          <a:endParaRPr lang="zh-CN" altLang="en-US" sz="1400"/>
        </a:p>
      </dgm:t>
    </dgm:pt>
    <dgm:pt modelId="{6A03495E-99E9-451E-BF20-CFF16C500E13}">
      <dgm:prSet phldrT="[文本]" custT="1"/>
      <dgm:spPr/>
      <dgm:t>
        <a:bodyPr/>
        <a:lstStyle/>
        <a:p>
          <a:r>
            <a:rPr lang="zh-CN" altLang="en-US" sz="1400" dirty="0"/>
            <a:t>成本估算</a:t>
          </a:r>
        </a:p>
      </dgm:t>
    </dgm:pt>
    <dgm:pt modelId="{4AC44A7E-F9AB-4823-8CAC-F4497EA8B4BF}" type="parTrans" cxnId="{0CCCA869-F665-4EDE-8D22-2493289C8DB8}">
      <dgm:prSet/>
      <dgm:spPr/>
      <dgm:t>
        <a:bodyPr/>
        <a:lstStyle/>
        <a:p>
          <a:endParaRPr lang="zh-CN" altLang="en-US" sz="1400"/>
        </a:p>
      </dgm:t>
    </dgm:pt>
    <dgm:pt modelId="{44AB70A4-C563-4A82-B1FC-C7104725E49C}" type="sibTrans" cxnId="{0CCCA869-F665-4EDE-8D22-2493289C8DB8}">
      <dgm:prSet/>
      <dgm:spPr/>
      <dgm:t>
        <a:bodyPr/>
        <a:lstStyle/>
        <a:p>
          <a:endParaRPr lang="zh-CN" altLang="en-US" sz="1400"/>
        </a:p>
      </dgm:t>
    </dgm:pt>
    <dgm:pt modelId="{4E57E4B5-909F-4D0D-865E-439618408A8D}" type="pres">
      <dgm:prSet presAssocID="{A2D7379E-7F4D-4A9A-9BDC-6F43CC5D50E5}" presName="Name0" presStyleCnt="0">
        <dgm:presLayoutVars>
          <dgm:dir/>
          <dgm:resizeHandles val="exact"/>
        </dgm:presLayoutVars>
      </dgm:prSet>
      <dgm:spPr/>
    </dgm:pt>
    <dgm:pt modelId="{FC332A65-A83D-4ADE-AEAA-94BD3A499623}" type="pres">
      <dgm:prSet presAssocID="{662BD4FF-7C1B-43B4-9E4D-5AF9EB8DE1AA}" presName="node" presStyleLbl="node1" presStyleIdx="0" presStyleCnt="3">
        <dgm:presLayoutVars>
          <dgm:bulletEnabled val="1"/>
        </dgm:presLayoutVars>
      </dgm:prSet>
      <dgm:spPr/>
    </dgm:pt>
    <dgm:pt modelId="{0EA024C3-660E-4EEA-920A-0399489AEA61}" type="pres">
      <dgm:prSet presAssocID="{8DF4F3F0-F2B4-40CB-906F-844E22D37CBE}" presName="sibTrans" presStyleLbl="sibTrans2D1" presStyleIdx="0" presStyleCnt="2"/>
      <dgm:spPr/>
    </dgm:pt>
    <dgm:pt modelId="{71E72EC9-6211-4F41-8CF0-B2146CEE16E4}" type="pres">
      <dgm:prSet presAssocID="{8DF4F3F0-F2B4-40CB-906F-844E22D37CBE}" presName="connectorText" presStyleLbl="sibTrans2D1" presStyleIdx="0" presStyleCnt="2"/>
      <dgm:spPr/>
    </dgm:pt>
    <dgm:pt modelId="{39E9393F-1572-40D6-8CE6-9937E533BF75}" type="pres">
      <dgm:prSet presAssocID="{F4EA69CC-DCF6-4953-9AE8-8C5E3D517669}" presName="node" presStyleLbl="node1" presStyleIdx="1" presStyleCnt="3">
        <dgm:presLayoutVars>
          <dgm:bulletEnabled val="1"/>
        </dgm:presLayoutVars>
      </dgm:prSet>
      <dgm:spPr/>
    </dgm:pt>
    <dgm:pt modelId="{20B82462-F0DD-4787-85C5-C4D3F19D4F11}" type="pres">
      <dgm:prSet presAssocID="{EA12215D-9D83-43A1-AA5F-2B3DF111A85A}" presName="sibTrans" presStyleLbl="sibTrans2D1" presStyleIdx="1" presStyleCnt="2"/>
      <dgm:spPr/>
    </dgm:pt>
    <dgm:pt modelId="{4455B4FA-A09C-4F66-A51C-19FEFD7E14BF}" type="pres">
      <dgm:prSet presAssocID="{EA12215D-9D83-43A1-AA5F-2B3DF111A85A}" presName="connectorText" presStyleLbl="sibTrans2D1" presStyleIdx="1" presStyleCnt="2"/>
      <dgm:spPr/>
    </dgm:pt>
    <dgm:pt modelId="{925EEC6C-95EF-4EBE-9A19-4B003EB411ED}" type="pres">
      <dgm:prSet presAssocID="{6A03495E-99E9-451E-BF20-CFF16C500E13}" presName="node" presStyleLbl="node1" presStyleIdx="2" presStyleCnt="3">
        <dgm:presLayoutVars>
          <dgm:bulletEnabled val="1"/>
        </dgm:presLayoutVars>
      </dgm:prSet>
      <dgm:spPr/>
    </dgm:pt>
  </dgm:ptLst>
  <dgm:cxnLst>
    <dgm:cxn modelId="{C46B1F0C-B8CE-4304-9FE3-542EE6FFA1A7}" type="presOf" srcId="{8DF4F3F0-F2B4-40CB-906F-844E22D37CBE}" destId="{0EA024C3-660E-4EEA-920A-0399489AEA61}" srcOrd="0" destOrd="0" presId="urn:microsoft.com/office/officeart/2005/8/layout/process1"/>
    <dgm:cxn modelId="{D19B7C1E-DD01-4E0B-94C5-16B1D2C51DE1}" type="presOf" srcId="{662BD4FF-7C1B-43B4-9E4D-5AF9EB8DE1AA}" destId="{FC332A65-A83D-4ADE-AEAA-94BD3A499623}" srcOrd="0" destOrd="0" presId="urn:microsoft.com/office/officeart/2005/8/layout/process1"/>
    <dgm:cxn modelId="{03531220-1387-4C3C-AA8D-FF8B68146F75}" srcId="{A2D7379E-7F4D-4A9A-9BDC-6F43CC5D50E5}" destId="{F4EA69CC-DCF6-4953-9AE8-8C5E3D517669}" srcOrd="1" destOrd="0" parTransId="{1F96AE25-51D7-459E-9D43-C9E826B57087}" sibTransId="{EA12215D-9D83-43A1-AA5F-2B3DF111A85A}"/>
    <dgm:cxn modelId="{AD585C35-39C0-4763-9B21-BFB80AE54823}" type="presOf" srcId="{6A03495E-99E9-451E-BF20-CFF16C500E13}" destId="{925EEC6C-95EF-4EBE-9A19-4B003EB411ED}" srcOrd="0" destOrd="0" presId="urn:microsoft.com/office/officeart/2005/8/layout/process1"/>
    <dgm:cxn modelId="{617B7641-01BA-4FBC-B7BB-AEF046E666B6}" type="presOf" srcId="{EA12215D-9D83-43A1-AA5F-2B3DF111A85A}" destId="{4455B4FA-A09C-4F66-A51C-19FEFD7E14BF}" srcOrd="1" destOrd="0" presId="urn:microsoft.com/office/officeart/2005/8/layout/process1"/>
    <dgm:cxn modelId="{0CCCA869-F665-4EDE-8D22-2493289C8DB8}" srcId="{A2D7379E-7F4D-4A9A-9BDC-6F43CC5D50E5}" destId="{6A03495E-99E9-451E-BF20-CFF16C500E13}" srcOrd="2" destOrd="0" parTransId="{4AC44A7E-F9AB-4823-8CAC-F4497EA8B4BF}" sibTransId="{44AB70A4-C563-4A82-B1FC-C7104725E49C}"/>
    <dgm:cxn modelId="{9152BF54-26F0-491E-8AAA-2DCA805FB85A}" srcId="{A2D7379E-7F4D-4A9A-9BDC-6F43CC5D50E5}" destId="{662BD4FF-7C1B-43B4-9E4D-5AF9EB8DE1AA}" srcOrd="0" destOrd="0" parTransId="{B64E13FF-4330-4C87-BD4A-B3795A70F053}" sibTransId="{8DF4F3F0-F2B4-40CB-906F-844E22D37CBE}"/>
    <dgm:cxn modelId="{51DAEF55-CE78-4B61-BC8A-57C9B031FB75}" type="presOf" srcId="{8DF4F3F0-F2B4-40CB-906F-844E22D37CBE}" destId="{71E72EC9-6211-4F41-8CF0-B2146CEE16E4}" srcOrd="1" destOrd="0" presId="urn:microsoft.com/office/officeart/2005/8/layout/process1"/>
    <dgm:cxn modelId="{1A8E3092-3199-4D78-9369-8BCCD11F20B3}" type="presOf" srcId="{F4EA69CC-DCF6-4953-9AE8-8C5E3D517669}" destId="{39E9393F-1572-40D6-8CE6-9937E533BF75}" srcOrd="0" destOrd="0" presId="urn:microsoft.com/office/officeart/2005/8/layout/process1"/>
    <dgm:cxn modelId="{8C5875A1-9334-43D7-8A05-AB8049828BB6}" type="presOf" srcId="{A2D7379E-7F4D-4A9A-9BDC-6F43CC5D50E5}" destId="{4E57E4B5-909F-4D0D-865E-439618408A8D}" srcOrd="0" destOrd="0" presId="urn:microsoft.com/office/officeart/2005/8/layout/process1"/>
    <dgm:cxn modelId="{A96D96B9-055F-4F3C-B0F2-6E894070991D}" type="presOf" srcId="{EA12215D-9D83-43A1-AA5F-2B3DF111A85A}" destId="{20B82462-F0DD-4787-85C5-C4D3F19D4F11}" srcOrd="0" destOrd="0" presId="urn:microsoft.com/office/officeart/2005/8/layout/process1"/>
    <dgm:cxn modelId="{A31DD4E7-43EE-465D-AF38-AF07A001C1AF}" type="presParOf" srcId="{4E57E4B5-909F-4D0D-865E-439618408A8D}" destId="{FC332A65-A83D-4ADE-AEAA-94BD3A499623}" srcOrd="0" destOrd="0" presId="urn:microsoft.com/office/officeart/2005/8/layout/process1"/>
    <dgm:cxn modelId="{49897B85-67F8-4403-BA5D-AF4A29410273}" type="presParOf" srcId="{4E57E4B5-909F-4D0D-865E-439618408A8D}" destId="{0EA024C3-660E-4EEA-920A-0399489AEA61}" srcOrd="1" destOrd="0" presId="urn:microsoft.com/office/officeart/2005/8/layout/process1"/>
    <dgm:cxn modelId="{B6CD72C1-4788-4398-AF2E-0D26B89C7B23}" type="presParOf" srcId="{0EA024C3-660E-4EEA-920A-0399489AEA61}" destId="{71E72EC9-6211-4F41-8CF0-B2146CEE16E4}" srcOrd="0" destOrd="0" presId="urn:microsoft.com/office/officeart/2005/8/layout/process1"/>
    <dgm:cxn modelId="{93D0D31A-69E4-4585-88F4-7C43FF4DBDB7}" type="presParOf" srcId="{4E57E4B5-909F-4D0D-865E-439618408A8D}" destId="{39E9393F-1572-40D6-8CE6-9937E533BF75}" srcOrd="2" destOrd="0" presId="urn:microsoft.com/office/officeart/2005/8/layout/process1"/>
    <dgm:cxn modelId="{1AD683F5-8E86-4978-A6F2-5E76B7452A94}" type="presParOf" srcId="{4E57E4B5-909F-4D0D-865E-439618408A8D}" destId="{20B82462-F0DD-4787-85C5-C4D3F19D4F11}" srcOrd="3" destOrd="0" presId="urn:microsoft.com/office/officeart/2005/8/layout/process1"/>
    <dgm:cxn modelId="{3A3D8BBF-4641-447A-B9D6-E9E4CF20ACE7}" type="presParOf" srcId="{20B82462-F0DD-4787-85C5-C4D3F19D4F11}" destId="{4455B4FA-A09C-4F66-A51C-19FEFD7E14BF}" srcOrd="0" destOrd="0" presId="urn:microsoft.com/office/officeart/2005/8/layout/process1"/>
    <dgm:cxn modelId="{F353EB4A-910E-42D6-9801-A5EC51943D31}" type="presParOf" srcId="{4E57E4B5-909F-4D0D-865E-439618408A8D}" destId="{925EEC6C-95EF-4EBE-9A19-4B003EB411ED}"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614370D5-89E5-4B33-A8D8-4BD44B447421}" type="doc">
      <dgm:prSet loTypeId="urn:microsoft.com/office/officeart/2005/8/layout/hierarchy4" loCatId="hierarchy" qsTypeId="urn:microsoft.com/office/officeart/2005/8/quickstyle/simple1" qsCatId="simple" csTypeId="urn:microsoft.com/office/officeart/2005/8/colors/colorful5" csCatId="colorful" phldr="1"/>
      <dgm:spPr/>
      <dgm:t>
        <a:bodyPr/>
        <a:lstStyle/>
        <a:p>
          <a:endParaRPr lang="zh-CN" altLang="en-US"/>
        </a:p>
      </dgm:t>
    </dgm:pt>
    <dgm:pt modelId="{E765D36A-1693-487D-AF3B-09A5909785B6}">
      <dgm:prSet phldrT="[文本]" phldr="0" custT="1"/>
      <dgm:spPr/>
      <dgm:t>
        <a:bodyPr/>
        <a:lstStyle/>
        <a:p>
          <a:r>
            <a:rPr lang="zh-CN" altLang="en-US" sz="2400" dirty="0"/>
            <a:t>估算方法</a:t>
          </a:r>
        </a:p>
      </dgm:t>
    </dgm:pt>
    <dgm:pt modelId="{9890EEB3-15A1-4E78-BEBB-675559C7E2AF}" type="parTrans" cxnId="{B1644270-860D-44F1-8447-A4BA3F3B6724}">
      <dgm:prSet/>
      <dgm:spPr/>
      <dgm:t>
        <a:bodyPr/>
        <a:lstStyle/>
        <a:p>
          <a:endParaRPr lang="zh-CN" altLang="en-US"/>
        </a:p>
      </dgm:t>
    </dgm:pt>
    <dgm:pt modelId="{F1759BF5-F894-4B1B-8F01-811345136FDA}" type="sibTrans" cxnId="{B1644270-860D-44F1-8447-A4BA3F3B6724}">
      <dgm:prSet/>
      <dgm:spPr/>
      <dgm:t>
        <a:bodyPr/>
        <a:lstStyle/>
        <a:p>
          <a:endParaRPr lang="zh-CN" altLang="en-US"/>
        </a:p>
      </dgm:t>
    </dgm:pt>
    <dgm:pt modelId="{9A2BC7AE-0A55-4D05-AF34-1765ADE837AD}">
      <dgm:prSet phldrT="[文本]" custT="1"/>
      <dgm:spPr/>
      <dgm:t>
        <a:bodyPr/>
        <a:lstStyle/>
        <a:p>
          <a:r>
            <a:rPr lang="zh-CN" altLang="en-US" sz="2000" dirty="0"/>
            <a:t>传统估算</a:t>
          </a:r>
        </a:p>
      </dgm:t>
    </dgm:pt>
    <dgm:pt modelId="{3978A61C-5D02-4965-A23B-BED3EBB7B079}" type="parTrans" cxnId="{5A078FA1-5A63-4FCA-9057-5C578D35D6DB}">
      <dgm:prSet/>
      <dgm:spPr/>
      <dgm:t>
        <a:bodyPr/>
        <a:lstStyle/>
        <a:p>
          <a:endParaRPr lang="zh-CN" altLang="en-US"/>
        </a:p>
      </dgm:t>
    </dgm:pt>
    <dgm:pt modelId="{955CD87C-8622-476B-B792-512BF81FBC12}" type="sibTrans" cxnId="{5A078FA1-5A63-4FCA-9057-5C578D35D6DB}">
      <dgm:prSet/>
      <dgm:spPr/>
      <dgm:t>
        <a:bodyPr/>
        <a:lstStyle/>
        <a:p>
          <a:endParaRPr lang="zh-CN" altLang="en-US"/>
        </a:p>
      </dgm:t>
    </dgm:pt>
    <dgm:pt modelId="{CE4DEAA6-A22E-4FEA-8C8D-FD92B570B609}">
      <dgm:prSet phldrT="[文本]" custT="1"/>
      <dgm:spPr/>
      <dgm:t>
        <a:bodyPr/>
        <a:lstStyle/>
        <a:p>
          <a:r>
            <a:rPr lang="zh-CN" altLang="en-US" sz="2000" dirty="0"/>
            <a:t>敏捷估算</a:t>
          </a:r>
        </a:p>
      </dgm:t>
    </dgm:pt>
    <dgm:pt modelId="{23B48031-F243-48F5-B97B-D6A27B2E7F79}" type="parTrans" cxnId="{154E3303-6C3A-4822-8A07-7D876286FF97}">
      <dgm:prSet/>
      <dgm:spPr/>
      <dgm:t>
        <a:bodyPr/>
        <a:lstStyle/>
        <a:p>
          <a:endParaRPr lang="zh-CN" altLang="en-US"/>
        </a:p>
      </dgm:t>
    </dgm:pt>
    <dgm:pt modelId="{E879500F-C0CB-4C77-B41F-9D63317382B7}" type="sibTrans" cxnId="{154E3303-6C3A-4822-8A07-7D876286FF97}">
      <dgm:prSet/>
      <dgm:spPr/>
      <dgm:t>
        <a:bodyPr/>
        <a:lstStyle/>
        <a:p>
          <a:endParaRPr lang="zh-CN" altLang="en-US"/>
        </a:p>
      </dgm:t>
    </dgm:pt>
    <dgm:pt modelId="{D5DF3A4A-6387-47AA-A3A1-3BF50C5AA62C}">
      <dgm:prSet phldrT="[文本]" custT="1"/>
      <dgm:spPr/>
      <dgm:t>
        <a:bodyPr/>
        <a:lstStyle/>
        <a:p>
          <a:r>
            <a:rPr lang="zh-CN" altLang="en-US" sz="1800" dirty="0"/>
            <a:t>故事点</a:t>
          </a:r>
        </a:p>
      </dgm:t>
    </dgm:pt>
    <dgm:pt modelId="{1A0DB2F5-A3AB-4F6E-B68D-3787361D25C3}" type="parTrans" cxnId="{D8D81377-2935-4BF0-ACA9-C41CEC6FA795}">
      <dgm:prSet/>
      <dgm:spPr/>
      <dgm:t>
        <a:bodyPr/>
        <a:lstStyle/>
        <a:p>
          <a:endParaRPr lang="zh-CN" altLang="en-US"/>
        </a:p>
      </dgm:t>
    </dgm:pt>
    <dgm:pt modelId="{0B42E666-4C57-459C-8806-79EDAC309F44}" type="sibTrans" cxnId="{D8D81377-2935-4BF0-ACA9-C41CEC6FA795}">
      <dgm:prSet/>
      <dgm:spPr/>
      <dgm:t>
        <a:bodyPr/>
        <a:lstStyle/>
        <a:p>
          <a:endParaRPr lang="zh-CN" altLang="en-US"/>
        </a:p>
      </dgm:t>
    </dgm:pt>
    <dgm:pt modelId="{05A92644-5BB4-45F2-8D20-B36BEABDC4DB}">
      <dgm:prSet phldrT="[文本]" custT="1"/>
      <dgm:spPr/>
      <dgm:t>
        <a:bodyPr vert="eaVert"/>
        <a:lstStyle/>
        <a:p>
          <a:r>
            <a:rPr lang="zh-CN" altLang="en-US" sz="1600" dirty="0"/>
            <a:t>快速故事点</a:t>
          </a:r>
        </a:p>
      </dgm:t>
    </dgm:pt>
    <dgm:pt modelId="{2F8E17AC-4B2F-45AD-984B-76F2B616566E}" type="parTrans" cxnId="{A5F585A8-2A37-410D-804C-D53B46FCEE97}">
      <dgm:prSet/>
      <dgm:spPr/>
      <dgm:t>
        <a:bodyPr/>
        <a:lstStyle/>
        <a:p>
          <a:endParaRPr lang="zh-CN" altLang="en-US"/>
        </a:p>
      </dgm:t>
    </dgm:pt>
    <dgm:pt modelId="{DD9351A0-BAA7-4E71-9FE2-7A26BFC109AA}" type="sibTrans" cxnId="{A5F585A8-2A37-410D-804C-D53B46FCEE97}">
      <dgm:prSet/>
      <dgm:spPr/>
      <dgm:t>
        <a:bodyPr/>
        <a:lstStyle/>
        <a:p>
          <a:endParaRPr lang="zh-CN" altLang="en-US"/>
        </a:p>
      </dgm:t>
    </dgm:pt>
    <dgm:pt modelId="{57E32FD7-0D24-424F-BAFA-50862258E178}">
      <dgm:prSet phldrT="[文本]" custT="1"/>
      <dgm:spPr/>
      <dgm:t>
        <a:bodyPr vert="eaVert"/>
        <a:lstStyle/>
        <a:p>
          <a:r>
            <a:rPr lang="zh-CN" altLang="en-US" sz="1600" dirty="0"/>
            <a:t>扑克牌</a:t>
          </a:r>
        </a:p>
      </dgm:t>
    </dgm:pt>
    <dgm:pt modelId="{9D2E40E9-B00C-4140-908E-9F451A9FAD4B}" type="parTrans" cxnId="{24BC8749-6EE2-4519-8260-69960BEBD9A1}">
      <dgm:prSet/>
      <dgm:spPr/>
      <dgm:t>
        <a:bodyPr/>
        <a:lstStyle/>
        <a:p>
          <a:endParaRPr lang="zh-CN" altLang="en-US"/>
        </a:p>
      </dgm:t>
    </dgm:pt>
    <dgm:pt modelId="{1FC05850-9D8C-4713-BAAB-4890ACA9DA0E}" type="sibTrans" cxnId="{24BC8749-6EE2-4519-8260-69960BEBD9A1}">
      <dgm:prSet/>
      <dgm:spPr/>
      <dgm:t>
        <a:bodyPr/>
        <a:lstStyle/>
        <a:p>
          <a:endParaRPr lang="zh-CN" altLang="en-US"/>
        </a:p>
      </dgm:t>
    </dgm:pt>
    <dgm:pt modelId="{F19320D2-2479-45BC-8483-C20DCC7D4BF3}">
      <dgm:prSet phldrT="[文本]" custT="1"/>
      <dgm:spPr/>
      <dgm:t>
        <a:bodyPr vert="eaVert"/>
        <a:lstStyle/>
        <a:p>
          <a:r>
            <a:rPr lang="zh-CN" altLang="en-US" sz="1800" dirty="0"/>
            <a:t>代码行</a:t>
          </a:r>
        </a:p>
      </dgm:t>
    </dgm:pt>
    <dgm:pt modelId="{777A02CA-9DAF-40D0-9562-1ED9C779AC00}" type="parTrans" cxnId="{966933FB-5F6D-4FBB-BF5C-CEBA1805B012}">
      <dgm:prSet/>
      <dgm:spPr/>
      <dgm:t>
        <a:bodyPr/>
        <a:lstStyle/>
        <a:p>
          <a:endParaRPr lang="zh-CN" altLang="en-US"/>
        </a:p>
      </dgm:t>
    </dgm:pt>
    <dgm:pt modelId="{29A95B6B-2FC6-4432-AF9F-5B240AAFDFFB}" type="sibTrans" cxnId="{966933FB-5F6D-4FBB-BF5C-CEBA1805B012}">
      <dgm:prSet/>
      <dgm:spPr/>
      <dgm:t>
        <a:bodyPr/>
        <a:lstStyle/>
        <a:p>
          <a:endParaRPr lang="zh-CN" altLang="en-US"/>
        </a:p>
      </dgm:t>
    </dgm:pt>
    <dgm:pt modelId="{FCA58394-3E2D-4757-B049-C2F01D84C265}">
      <dgm:prSet phldrT="[文本]" custT="1"/>
      <dgm:spPr/>
      <dgm:t>
        <a:bodyPr vert="eaVert"/>
        <a:lstStyle/>
        <a:p>
          <a:r>
            <a:rPr lang="zh-CN" altLang="en-US" sz="1800" dirty="0"/>
            <a:t>功能点</a:t>
          </a:r>
        </a:p>
      </dgm:t>
    </dgm:pt>
    <dgm:pt modelId="{9BDEEFDF-BFC1-475E-B9B2-6DFE65DB1363}" type="parTrans" cxnId="{B9C71C1D-46EB-48DB-83B5-980B93A8CFB2}">
      <dgm:prSet/>
      <dgm:spPr/>
      <dgm:t>
        <a:bodyPr/>
        <a:lstStyle/>
        <a:p>
          <a:endParaRPr lang="zh-CN" altLang="en-US"/>
        </a:p>
      </dgm:t>
    </dgm:pt>
    <dgm:pt modelId="{9D8AC6D0-BDB6-4009-8EEA-6D4D2A345F99}" type="sibTrans" cxnId="{B9C71C1D-46EB-48DB-83B5-980B93A8CFB2}">
      <dgm:prSet/>
      <dgm:spPr/>
      <dgm:t>
        <a:bodyPr/>
        <a:lstStyle/>
        <a:p>
          <a:endParaRPr lang="zh-CN" altLang="en-US"/>
        </a:p>
      </dgm:t>
    </dgm:pt>
    <dgm:pt modelId="{19DD8BFA-BA31-407B-B482-3A618EC1A2DB}">
      <dgm:prSet phldrT="[文本]" custT="1"/>
      <dgm:spPr/>
      <dgm:t>
        <a:bodyPr vert="eaVert"/>
        <a:lstStyle/>
        <a:p>
          <a:r>
            <a:rPr lang="zh-CN" altLang="en-US" sz="1800" dirty="0"/>
            <a:t>用例点</a:t>
          </a:r>
        </a:p>
      </dgm:t>
    </dgm:pt>
    <dgm:pt modelId="{D1EC9A2E-61CC-44A3-9C65-3E37CBDF851C}" type="parTrans" cxnId="{C7135757-5CBB-40A0-8AE3-8E38A8BF3D42}">
      <dgm:prSet/>
      <dgm:spPr/>
      <dgm:t>
        <a:bodyPr/>
        <a:lstStyle/>
        <a:p>
          <a:endParaRPr lang="zh-CN" altLang="en-US"/>
        </a:p>
      </dgm:t>
    </dgm:pt>
    <dgm:pt modelId="{6D1D02D2-2870-4D50-A17E-F7368132369A}" type="sibTrans" cxnId="{C7135757-5CBB-40A0-8AE3-8E38A8BF3D42}">
      <dgm:prSet/>
      <dgm:spPr/>
      <dgm:t>
        <a:bodyPr/>
        <a:lstStyle/>
        <a:p>
          <a:endParaRPr lang="zh-CN" altLang="en-US"/>
        </a:p>
      </dgm:t>
    </dgm:pt>
    <dgm:pt modelId="{3AFD0579-7059-4F02-8EA4-6AAC40079D7C}">
      <dgm:prSet phldrT="[文本]" custT="1"/>
      <dgm:spPr/>
      <dgm:t>
        <a:bodyPr vert="eaVert"/>
        <a:lstStyle/>
        <a:p>
          <a:r>
            <a:rPr lang="zh-CN" altLang="en-US" sz="1800" dirty="0"/>
            <a:t>类比</a:t>
          </a:r>
        </a:p>
      </dgm:t>
    </dgm:pt>
    <dgm:pt modelId="{8C31254D-DDEE-4748-9D79-F469915BE18A}" type="parTrans" cxnId="{D6F41F0A-04FC-4919-B0C1-D245178706F4}">
      <dgm:prSet/>
      <dgm:spPr/>
      <dgm:t>
        <a:bodyPr/>
        <a:lstStyle/>
        <a:p>
          <a:endParaRPr lang="zh-CN" altLang="en-US"/>
        </a:p>
      </dgm:t>
    </dgm:pt>
    <dgm:pt modelId="{14C2561D-B3D5-4664-A483-06511E561F38}" type="sibTrans" cxnId="{D6F41F0A-04FC-4919-B0C1-D245178706F4}">
      <dgm:prSet/>
      <dgm:spPr/>
      <dgm:t>
        <a:bodyPr/>
        <a:lstStyle/>
        <a:p>
          <a:endParaRPr lang="zh-CN" altLang="en-US"/>
        </a:p>
      </dgm:t>
    </dgm:pt>
    <dgm:pt modelId="{BCA4EA6B-EECB-4766-B79B-34B220192072}">
      <dgm:prSet phldrT="[文本]" custT="1"/>
      <dgm:spPr/>
      <dgm:t>
        <a:bodyPr vert="eaVert"/>
        <a:lstStyle/>
        <a:p>
          <a:r>
            <a:rPr lang="zh-CN" altLang="en-US" sz="1800" dirty="0"/>
            <a:t>自下而上</a:t>
          </a:r>
        </a:p>
      </dgm:t>
    </dgm:pt>
    <dgm:pt modelId="{E7839576-61F5-41B0-9C90-FA54F22DF1D1}" type="parTrans" cxnId="{46269406-43D8-4EA6-8250-B61598A3A24A}">
      <dgm:prSet/>
      <dgm:spPr/>
      <dgm:t>
        <a:bodyPr/>
        <a:lstStyle/>
        <a:p>
          <a:endParaRPr lang="zh-CN" altLang="en-US"/>
        </a:p>
      </dgm:t>
    </dgm:pt>
    <dgm:pt modelId="{CB5BA34D-A4DF-411C-A894-7B2E36448FF6}" type="sibTrans" cxnId="{46269406-43D8-4EA6-8250-B61598A3A24A}">
      <dgm:prSet/>
      <dgm:spPr/>
      <dgm:t>
        <a:bodyPr/>
        <a:lstStyle/>
        <a:p>
          <a:endParaRPr lang="zh-CN" altLang="en-US"/>
        </a:p>
      </dgm:t>
    </dgm:pt>
    <dgm:pt modelId="{A754C273-F50B-473E-AB24-57EB047DCDA8}">
      <dgm:prSet phldrT="[文本]" custT="1"/>
      <dgm:spPr/>
      <dgm:t>
        <a:bodyPr vert="eaVert"/>
        <a:lstStyle/>
        <a:p>
          <a:r>
            <a:rPr lang="zh-CN" altLang="en-US" sz="1800" dirty="0"/>
            <a:t>自上而下</a:t>
          </a:r>
        </a:p>
      </dgm:t>
    </dgm:pt>
    <dgm:pt modelId="{C8C239D6-14AD-403D-9AEA-34DDB7EDC80D}" type="parTrans" cxnId="{641F43FC-C729-4921-9F15-2FC17972FE36}">
      <dgm:prSet/>
      <dgm:spPr/>
      <dgm:t>
        <a:bodyPr/>
        <a:lstStyle/>
        <a:p>
          <a:endParaRPr lang="zh-CN" altLang="en-US"/>
        </a:p>
      </dgm:t>
    </dgm:pt>
    <dgm:pt modelId="{76C726E1-4517-4254-A0ED-D49170AC503A}" type="sibTrans" cxnId="{641F43FC-C729-4921-9F15-2FC17972FE36}">
      <dgm:prSet/>
      <dgm:spPr/>
      <dgm:t>
        <a:bodyPr/>
        <a:lstStyle/>
        <a:p>
          <a:endParaRPr lang="zh-CN" altLang="en-US"/>
        </a:p>
      </dgm:t>
    </dgm:pt>
    <dgm:pt modelId="{4356710B-FF5F-40DF-9EA2-5D193CD07331}">
      <dgm:prSet phldrT="[文本]" custT="1"/>
      <dgm:spPr/>
      <dgm:t>
        <a:bodyPr vert="eaVert"/>
        <a:lstStyle/>
        <a:p>
          <a:r>
            <a:rPr lang="zh-CN" altLang="en-US" sz="1800" dirty="0"/>
            <a:t>参数</a:t>
          </a:r>
        </a:p>
      </dgm:t>
    </dgm:pt>
    <dgm:pt modelId="{775ADC81-F363-4C46-AC58-C175FF026F8C}" type="parTrans" cxnId="{D06E6F69-1D07-4A79-B00C-6B37B0255CED}">
      <dgm:prSet/>
      <dgm:spPr/>
      <dgm:t>
        <a:bodyPr/>
        <a:lstStyle/>
        <a:p>
          <a:endParaRPr lang="zh-CN" altLang="en-US"/>
        </a:p>
      </dgm:t>
    </dgm:pt>
    <dgm:pt modelId="{C84792CF-D437-4E6D-A584-EEEAA58E7550}" type="sibTrans" cxnId="{D06E6F69-1D07-4A79-B00C-6B37B0255CED}">
      <dgm:prSet/>
      <dgm:spPr/>
      <dgm:t>
        <a:bodyPr/>
        <a:lstStyle/>
        <a:p>
          <a:endParaRPr lang="zh-CN" altLang="en-US"/>
        </a:p>
      </dgm:t>
    </dgm:pt>
    <dgm:pt modelId="{B209E0D5-BB9D-4E5D-88AB-BEB82CF4339D}">
      <dgm:prSet phldrT="[文本]" custT="1"/>
      <dgm:spPr/>
      <dgm:t>
        <a:bodyPr vert="eaVert"/>
        <a:lstStyle/>
        <a:p>
          <a:r>
            <a:rPr lang="zh-CN" altLang="en-US" sz="1800" dirty="0"/>
            <a:t>专家</a:t>
          </a:r>
        </a:p>
      </dgm:t>
    </dgm:pt>
    <dgm:pt modelId="{85EAA161-BB68-40D5-B8F3-F2AF02AD2454}" type="parTrans" cxnId="{6ABBB44C-7F05-4121-B370-C862E4562BAF}">
      <dgm:prSet/>
      <dgm:spPr/>
      <dgm:t>
        <a:bodyPr/>
        <a:lstStyle/>
        <a:p>
          <a:endParaRPr lang="zh-CN" altLang="en-US"/>
        </a:p>
      </dgm:t>
    </dgm:pt>
    <dgm:pt modelId="{016AEFF5-6C64-48C6-AC08-2888E5CB4EA0}" type="sibTrans" cxnId="{6ABBB44C-7F05-4121-B370-C862E4562BAF}">
      <dgm:prSet/>
      <dgm:spPr/>
      <dgm:t>
        <a:bodyPr/>
        <a:lstStyle/>
        <a:p>
          <a:endParaRPr lang="zh-CN" altLang="en-US"/>
        </a:p>
      </dgm:t>
    </dgm:pt>
    <dgm:pt modelId="{B81C9BE0-0A56-46E3-ABB3-C7084CDD9B75}">
      <dgm:prSet phldrT="[文本]" custT="1"/>
      <dgm:spPr/>
      <dgm:t>
        <a:bodyPr vert="eaVert"/>
        <a:lstStyle/>
        <a:p>
          <a:r>
            <a:rPr lang="zh-CN" altLang="en-US" sz="1800" dirty="0"/>
            <a:t>三点</a:t>
          </a:r>
        </a:p>
      </dgm:t>
    </dgm:pt>
    <dgm:pt modelId="{B58ECB46-7D70-4E77-B6C3-F4A4D41ECFBE}" type="parTrans" cxnId="{B0CD899E-F0E6-420F-98C3-2A801DDEC30B}">
      <dgm:prSet/>
      <dgm:spPr/>
      <dgm:t>
        <a:bodyPr/>
        <a:lstStyle/>
        <a:p>
          <a:endParaRPr lang="zh-CN" altLang="en-US"/>
        </a:p>
      </dgm:t>
    </dgm:pt>
    <dgm:pt modelId="{7D769DB1-C27D-4FC4-94E8-857D49C46AB2}" type="sibTrans" cxnId="{B0CD899E-F0E6-420F-98C3-2A801DDEC30B}">
      <dgm:prSet/>
      <dgm:spPr/>
      <dgm:t>
        <a:bodyPr/>
        <a:lstStyle/>
        <a:p>
          <a:endParaRPr lang="zh-CN" altLang="en-US"/>
        </a:p>
      </dgm:t>
    </dgm:pt>
    <dgm:pt modelId="{2E6B2AFB-C458-41BB-8CB8-D2CD00F5324E}" type="pres">
      <dgm:prSet presAssocID="{614370D5-89E5-4B33-A8D8-4BD44B447421}" presName="Name0" presStyleCnt="0">
        <dgm:presLayoutVars>
          <dgm:chPref val="1"/>
          <dgm:dir/>
          <dgm:animOne val="branch"/>
          <dgm:animLvl val="lvl"/>
          <dgm:resizeHandles/>
        </dgm:presLayoutVars>
      </dgm:prSet>
      <dgm:spPr/>
    </dgm:pt>
    <dgm:pt modelId="{143E018F-A373-4773-91E3-87BB687876A5}" type="pres">
      <dgm:prSet presAssocID="{E765D36A-1693-487D-AF3B-09A5909785B6}" presName="vertOne" presStyleCnt="0"/>
      <dgm:spPr/>
    </dgm:pt>
    <dgm:pt modelId="{E37E18C7-CBC3-4730-8BE6-C8FC497852AC}" type="pres">
      <dgm:prSet presAssocID="{E765D36A-1693-487D-AF3B-09A5909785B6}" presName="txOne" presStyleLbl="node0" presStyleIdx="0" presStyleCnt="1" custLinFactNeighborX="-10017" custLinFactNeighborY="63093">
        <dgm:presLayoutVars>
          <dgm:chPref val="3"/>
        </dgm:presLayoutVars>
      </dgm:prSet>
      <dgm:spPr/>
    </dgm:pt>
    <dgm:pt modelId="{86CB37B4-F605-424A-A706-BB42B86F5902}" type="pres">
      <dgm:prSet presAssocID="{E765D36A-1693-487D-AF3B-09A5909785B6}" presName="parTransOne" presStyleCnt="0"/>
      <dgm:spPr/>
    </dgm:pt>
    <dgm:pt modelId="{2F366C28-43A4-49FD-9074-D5A857A6084B}" type="pres">
      <dgm:prSet presAssocID="{E765D36A-1693-487D-AF3B-09A5909785B6}" presName="horzOne" presStyleCnt="0"/>
      <dgm:spPr/>
    </dgm:pt>
    <dgm:pt modelId="{4A3CC460-6169-4FF6-8A9C-B691E769CD7B}" type="pres">
      <dgm:prSet presAssocID="{9A2BC7AE-0A55-4D05-AF34-1765ADE837AD}" presName="vertTwo" presStyleCnt="0"/>
      <dgm:spPr/>
    </dgm:pt>
    <dgm:pt modelId="{8221DA9F-B757-470B-863A-DFF6F04D8841}" type="pres">
      <dgm:prSet presAssocID="{9A2BC7AE-0A55-4D05-AF34-1765ADE837AD}" presName="txTwo" presStyleLbl="node2" presStyleIdx="0" presStyleCnt="2">
        <dgm:presLayoutVars>
          <dgm:chPref val="3"/>
        </dgm:presLayoutVars>
      </dgm:prSet>
      <dgm:spPr/>
    </dgm:pt>
    <dgm:pt modelId="{C0AA20FE-79CB-4F6B-9381-5959CA44790D}" type="pres">
      <dgm:prSet presAssocID="{9A2BC7AE-0A55-4D05-AF34-1765ADE837AD}" presName="parTransTwo" presStyleCnt="0"/>
      <dgm:spPr/>
    </dgm:pt>
    <dgm:pt modelId="{081045DC-725E-413A-BA86-E682F432140E}" type="pres">
      <dgm:prSet presAssocID="{9A2BC7AE-0A55-4D05-AF34-1765ADE837AD}" presName="horzTwo" presStyleCnt="0"/>
      <dgm:spPr/>
    </dgm:pt>
    <dgm:pt modelId="{59E5FAAB-1A65-4D45-8E32-FCF9E5D8D250}" type="pres">
      <dgm:prSet presAssocID="{F19320D2-2479-45BC-8483-C20DCC7D4BF3}" presName="vertThree" presStyleCnt="0"/>
      <dgm:spPr/>
    </dgm:pt>
    <dgm:pt modelId="{BE1A90AD-6294-4CDD-B09F-20F725ED9449}" type="pres">
      <dgm:prSet presAssocID="{F19320D2-2479-45BC-8483-C20DCC7D4BF3}" presName="txThree" presStyleLbl="node3" presStyleIdx="0" presStyleCnt="10" custScaleY="146555">
        <dgm:presLayoutVars>
          <dgm:chPref val="3"/>
        </dgm:presLayoutVars>
      </dgm:prSet>
      <dgm:spPr/>
    </dgm:pt>
    <dgm:pt modelId="{BA666A20-0ACF-43D0-9106-4AA919D90F15}" type="pres">
      <dgm:prSet presAssocID="{F19320D2-2479-45BC-8483-C20DCC7D4BF3}" presName="horzThree" presStyleCnt="0"/>
      <dgm:spPr/>
    </dgm:pt>
    <dgm:pt modelId="{1283B669-265D-43D0-B2EB-9CEB61D9E638}" type="pres">
      <dgm:prSet presAssocID="{29A95B6B-2FC6-4432-AF9F-5B240AAFDFFB}" presName="sibSpaceThree" presStyleCnt="0"/>
      <dgm:spPr/>
    </dgm:pt>
    <dgm:pt modelId="{1A5464E4-12D9-432E-A228-D990A60DE1D3}" type="pres">
      <dgm:prSet presAssocID="{FCA58394-3E2D-4757-B049-C2F01D84C265}" presName="vertThree" presStyleCnt="0"/>
      <dgm:spPr/>
    </dgm:pt>
    <dgm:pt modelId="{3D86A9A7-DE93-41CD-BE81-662A97CD51C4}" type="pres">
      <dgm:prSet presAssocID="{FCA58394-3E2D-4757-B049-C2F01D84C265}" presName="txThree" presStyleLbl="node3" presStyleIdx="1" presStyleCnt="10" custScaleY="146555">
        <dgm:presLayoutVars>
          <dgm:chPref val="3"/>
        </dgm:presLayoutVars>
      </dgm:prSet>
      <dgm:spPr/>
    </dgm:pt>
    <dgm:pt modelId="{01001E55-2C9E-4796-81F8-D76E937D3B42}" type="pres">
      <dgm:prSet presAssocID="{FCA58394-3E2D-4757-B049-C2F01D84C265}" presName="horzThree" presStyleCnt="0"/>
      <dgm:spPr/>
    </dgm:pt>
    <dgm:pt modelId="{61AFCC08-ABF5-4EBA-BE52-FD3A60891A00}" type="pres">
      <dgm:prSet presAssocID="{9D8AC6D0-BDB6-4009-8EEA-6D4D2A345F99}" presName="sibSpaceThree" presStyleCnt="0"/>
      <dgm:spPr/>
    </dgm:pt>
    <dgm:pt modelId="{D7C7F0F7-637D-43EC-BEF2-DD8BDD7AF5E1}" type="pres">
      <dgm:prSet presAssocID="{19DD8BFA-BA31-407B-B482-3A618EC1A2DB}" presName="vertThree" presStyleCnt="0"/>
      <dgm:spPr/>
    </dgm:pt>
    <dgm:pt modelId="{5AFEC762-1C1A-421E-BE77-6213FB889098}" type="pres">
      <dgm:prSet presAssocID="{19DD8BFA-BA31-407B-B482-3A618EC1A2DB}" presName="txThree" presStyleLbl="node3" presStyleIdx="2" presStyleCnt="10" custScaleY="146555">
        <dgm:presLayoutVars>
          <dgm:chPref val="3"/>
        </dgm:presLayoutVars>
      </dgm:prSet>
      <dgm:spPr/>
    </dgm:pt>
    <dgm:pt modelId="{E463FA49-46BA-4611-B7B5-8912B3D6864D}" type="pres">
      <dgm:prSet presAssocID="{19DD8BFA-BA31-407B-B482-3A618EC1A2DB}" presName="horzThree" presStyleCnt="0"/>
      <dgm:spPr/>
    </dgm:pt>
    <dgm:pt modelId="{6C23CA4A-DA2D-415F-8B7B-20D59149FB61}" type="pres">
      <dgm:prSet presAssocID="{6D1D02D2-2870-4D50-A17E-F7368132369A}" presName="sibSpaceThree" presStyleCnt="0"/>
      <dgm:spPr/>
    </dgm:pt>
    <dgm:pt modelId="{87A52698-444D-4FE2-B9BE-8D62E971B104}" type="pres">
      <dgm:prSet presAssocID="{3AFD0579-7059-4F02-8EA4-6AAC40079D7C}" presName="vertThree" presStyleCnt="0"/>
      <dgm:spPr/>
    </dgm:pt>
    <dgm:pt modelId="{6391160F-7BA5-4A89-A236-4487FA932310}" type="pres">
      <dgm:prSet presAssocID="{3AFD0579-7059-4F02-8EA4-6AAC40079D7C}" presName="txThree" presStyleLbl="node3" presStyleIdx="3" presStyleCnt="10" custScaleY="146555">
        <dgm:presLayoutVars>
          <dgm:chPref val="3"/>
        </dgm:presLayoutVars>
      </dgm:prSet>
      <dgm:spPr/>
    </dgm:pt>
    <dgm:pt modelId="{F1A3B2E0-4506-4396-AD2B-21BCDFDEA7ED}" type="pres">
      <dgm:prSet presAssocID="{3AFD0579-7059-4F02-8EA4-6AAC40079D7C}" presName="horzThree" presStyleCnt="0"/>
      <dgm:spPr/>
    </dgm:pt>
    <dgm:pt modelId="{3B7B911A-C0DA-4FE2-A5C0-CB22BC10551E}" type="pres">
      <dgm:prSet presAssocID="{14C2561D-B3D5-4664-A483-06511E561F38}" presName="sibSpaceThree" presStyleCnt="0"/>
      <dgm:spPr/>
    </dgm:pt>
    <dgm:pt modelId="{DC9DEA9F-E11F-4647-A687-8E3F5A0E1E0E}" type="pres">
      <dgm:prSet presAssocID="{BCA4EA6B-EECB-4766-B79B-34B220192072}" presName="vertThree" presStyleCnt="0"/>
      <dgm:spPr/>
    </dgm:pt>
    <dgm:pt modelId="{B34C258D-C358-473B-B5A7-EC94CF55CB34}" type="pres">
      <dgm:prSet presAssocID="{BCA4EA6B-EECB-4766-B79B-34B220192072}" presName="txThree" presStyleLbl="node3" presStyleIdx="4" presStyleCnt="10" custScaleY="146555">
        <dgm:presLayoutVars>
          <dgm:chPref val="3"/>
        </dgm:presLayoutVars>
      </dgm:prSet>
      <dgm:spPr/>
    </dgm:pt>
    <dgm:pt modelId="{0C2061BA-B21A-4754-97CF-B63C82B3812B}" type="pres">
      <dgm:prSet presAssocID="{BCA4EA6B-EECB-4766-B79B-34B220192072}" presName="horzThree" presStyleCnt="0"/>
      <dgm:spPr/>
    </dgm:pt>
    <dgm:pt modelId="{3844FFF6-22A3-4CFC-94F2-22A799C111E4}" type="pres">
      <dgm:prSet presAssocID="{CB5BA34D-A4DF-411C-A894-7B2E36448FF6}" presName="sibSpaceThree" presStyleCnt="0"/>
      <dgm:spPr/>
    </dgm:pt>
    <dgm:pt modelId="{4F71BDA3-CE23-4FD0-880E-EE690DBCEE7F}" type="pres">
      <dgm:prSet presAssocID="{A754C273-F50B-473E-AB24-57EB047DCDA8}" presName="vertThree" presStyleCnt="0"/>
      <dgm:spPr/>
    </dgm:pt>
    <dgm:pt modelId="{B054D4D0-B725-4E85-93D2-89FEE11F5B62}" type="pres">
      <dgm:prSet presAssocID="{A754C273-F50B-473E-AB24-57EB047DCDA8}" presName="txThree" presStyleLbl="node3" presStyleIdx="5" presStyleCnt="10" custScaleY="146555">
        <dgm:presLayoutVars>
          <dgm:chPref val="3"/>
        </dgm:presLayoutVars>
      </dgm:prSet>
      <dgm:spPr/>
    </dgm:pt>
    <dgm:pt modelId="{FD08CCC4-6320-4950-82BB-63A4FFA0BBAF}" type="pres">
      <dgm:prSet presAssocID="{A754C273-F50B-473E-AB24-57EB047DCDA8}" presName="horzThree" presStyleCnt="0"/>
      <dgm:spPr/>
    </dgm:pt>
    <dgm:pt modelId="{1B4F3906-8206-4B10-B8BE-D802BA9CE2D6}" type="pres">
      <dgm:prSet presAssocID="{76C726E1-4517-4254-A0ED-D49170AC503A}" presName="sibSpaceThree" presStyleCnt="0"/>
      <dgm:spPr/>
    </dgm:pt>
    <dgm:pt modelId="{346AFE16-8966-4AE4-A862-8135796B6673}" type="pres">
      <dgm:prSet presAssocID="{4356710B-FF5F-40DF-9EA2-5D193CD07331}" presName="vertThree" presStyleCnt="0"/>
      <dgm:spPr/>
    </dgm:pt>
    <dgm:pt modelId="{4D467419-B93B-431F-B8D5-630E57343842}" type="pres">
      <dgm:prSet presAssocID="{4356710B-FF5F-40DF-9EA2-5D193CD07331}" presName="txThree" presStyleLbl="node3" presStyleIdx="6" presStyleCnt="10" custScaleY="146555">
        <dgm:presLayoutVars>
          <dgm:chPref val="3"/>
        </dgm:presLayoutVars>
      </dgm:prSet>
      <dgm:spPr/>
    </dgm:pt>
    <dgm:pt modelId="{0D31EFEB-D099-47D5-80AD-FD4A57BA8757}" type="pres">
      <dgm:prSet presAssocID="{4356710B-FF5F-40DF-9EA2-5D193CD07331}" presName="horzThree" presStyleCnt="0"/>
      <dgm:spPr/>
    </dgm:pt>
    <dgm:pt modelId="{25A0601F-819F-4A6D-96FE-84F59DA188E2}" type="pres">
      <dgm:prSet presAssocID="{C84792CF-D437-4E6D-A584-EEEAA58E7550}" presName="sibSpaceThree" presStyleCnt="0"/>
      <dgm:spPr/>
    </dgm:pt>
    <dgm:pt modelId="{75A4E504-E408-4202-8F4D-235F8FC544A2}" type="pres">
      <dgm:prSet presAssocID="{B209E0D5-BB9D-4E5D-88AB-BEB82CF4339D}" presName="vertThree" presStyleCnt="0"/>
      <dgm:spPr/>
    </dgm:pt>
    <dgm:pt modelId="{A39D9AF8-1069-469E-BDB5-64CEEB5953BB}" type="pres">
      <dgm:prSet presAssocID="{B209E0D5-BB9D-4E5D-88AB-BEB82CF4339D}" presName="txThree" presStyleLbl="node3" presStyleIdx="7" presStyleCnt="10" custScaleY="146555">
        <dgm:presLayoutVars>
          <dgm:chPref val="3"/>
        </dgm:presLayoutVars>
      </dgm:prSet>
      <dgm:spPr/>
    </dgm:pt>
    <dgm:pt modelId="{C83F0103-BCFE-4336-A027-475B4179608E}" type="pres">
      <dgm:prSet presAssocID="{B209E0D5-BB9D-4E5D-88AB-BEB82CF4339D}" presName="horzThree" presStyleCnt="0"/>
      <dgm:spPr/>
    </dgm:pt>
    <dgm:pt modelId="{3C4D14B2-71CD-4899-9E8D-3BACD9F57A56}" type="pres">
      <dgm:prSet presAssocID="{016AEFF5-6C64-48C6-AC08-2888E5CB4EA0}" presName="sibSpaceThree" presStyleCnt="0"/>
      <dgm:spPr/>
    </dgm:pt>
    <dgm:pt modelId="{5CB6AC89-B589-4034-BC14-365C59F7BE47}" type="pres">
      <dgm:prSet presAssocID="{B81C9BE0-0A56-46E3-ABB3-C7084CDD9B75}" presName="vertThree" presStyleCnt="0"/>
      <dgm:spPr/>
    </dgm:pt>
    <dgm:pt modelId="{FD2D810A-2388-4805-A9D6-AD137CF0FD98}" type="pres">
      <dgm:prSet presAssocID="{B81C9BE0-0A56-46E3-ABB3-C7084CDD9B75}" presName="txThree" presStyleLbl="node3" presStyleIdx="8" presStyleCnt="10" custScaleY="146555">
        <dgm:presLayoutVars>
          <dgm:chPref val="3"/>
        </dgm:presLayoutVars>
      </dgm:prSet>
      <dgm:spPr/>
    </dgm:pt>
    <dgm:pt modelId="{D5CC7077-6719-4A6A-9D62-5F72368F56A4}" type="pres">
      <dgm:prSet presAssocID="{B81C9BE0-0A56-46E3-ABB3-C7084CDD9B75}" presName="horzThree" presStyleCnt="0"/>
      <dgm:spPr/>
    </dgm:pt>
    <dgm:pt modelId="{98A9BD2F-1074-45D9-A8A3-726ED03F0801}" type="pres">
      <dgm:prSet presAssocID="{955CD87C-8622-476B-B792-512BF81FBC12}" presName="sibSpaceTwo" presStyleCnt="0"/>
      <dgm:spPr/>
    </dgm:pt>
    <dgm:pt modelId="{7B3AAC3D-AA37-4645-BF80-5BE06C3F2541}" type="pres">
      <dgm:prSet presAssocID="{CE4DEAA6-A22E-4FEA-8C8D-FD92B570B609}" presName="vertTwo" presStyleCnt="0"/>
      <dgm:spPr/>
    </dgm:pt>
    <dgm:pt modelId="{7E9961C4-29AB-4443-A6E1-E3F0F2CBDE34}" type="pres">
      <dgm:prSet presAssocID="{CE4DEAA6-A22E-4FEA-8C8D-FD92B570B609}" presName="txTwo" presStyleLbl="node2" presStyleIdx="1" presStyleCnt="2">
        <dgm:presLayoutVars>
          <dgm:chPref val="3"/>
        </dgm:presLayoutVars>
      </dgm:prSet>
      <dgm:spPr/>
    </dgm:pt>
    <dgm:pt modelId="{88B4D3E5-B8D3-46F8-8CE3-3951F937FED8}" type="pres">
      <dgm:prSet presAssocID="{CE4DEAA6-A22E-4FEA-8C8D-FD92B570B609}" presName="parTransTwo" presStyleCnt="0"/>
      <dgm:spPr/>
    </dgm:pt>
    <dgm:pt modelId="{B9B8EE67-CFED-4AA1-99D2-94ED8B784915}" type="pres">
      <dgm:prSet presAssocID="{CE4DEAA6-A22E-4FEA-8C8D-FD92B570B609}" presName="horzTwo" presStyleCnt="0"/>
      <dgm:spPr/>
    </dgm:pt>
    <dgm:pt modelId="{083B1AB5-8189-4D60-B5D8-F5311BC3A5BC}" type="pres">
      <dgm:prSet presAssocID="{D5DF3A4A-6387-47AA-A3A1-3BF50C5AA62C}" presName="vertThree" presStyleCnt="0"/>
      <dgm:spPr/>
    </dgm:pt>
    <dgm:pt modelId="{CDDEC979-F1A2-4409-8FF0-293406F051D4}" type="pres">
      <dgm:prSet presAssocID="{D5DF3A4A-6387-47AA-A3A1-3BF50C5AA62C}" presName="txThree" presStyleLbl="node3" presStyleIdx="9" presStyleCnt="10" custScaleY="146555">
        <dgm:presLayoutVars>
          <dgm:chPref val="3"/>
        </dgm:presLayoutVars>
      </dgm:prSet>
      <dgm:spPr/>
    </dgm:pt>
    <dgm:pt modelId="{23EF2601-CA9A-4601-B2E5-60B16A764DE0}" type="pres">
      <dgm:prSet presAssocID="{D5DF3A4A-6387-47AA-A3A1-3BF50C5AA62C}" presName="parTransThree" presStyleCnt="0"/>
      <dgm:spPr/>
    </dgm:pt>
    <dgm:pt modelId="{7C360DB0-7071-412C-BDF2-FC9B8EC9EB23}" type="pres">
      <dgm:prSet presAssocID="{D5DF3A4A-6387-47AA-A3A1-3BF50C5AA62C}" presName="horzThree" presStyleCnt="0"/>
      <dgm:spPr/>
    </dgm:pt>
    <dgm:pt modelId="{967C8E1F-BE2F-4F71-BF51-EEDC066BA6C5}" type="pres">
      <dgm:prSet presAssocID="{05A92644-5BB4-45F2-8D20-B36BEABDC4DB}" presName="vertFour" presStyleCnt="0">
        <dgm:presLayoutVars>
          <dgm:chPref val="3"/>
        </dgm:presLayoutVars>
      </dgm:prSet>
      <dgm:spPr/>
    </dgm:pt>
    <dgm:pt modelId="{62CDD4D5-9FC5-425A-98C9-2E56C3098C88}" type="pres">
      <dgm:prSet presAssocID="{05A92644-5BB4-45F2-8D20-B36BEABDC4DB}" presName="txFour" presStyleLbl="node4" presStyleIdx="0" presStyleCnt="2" custScaleY="151312">
        <dgm:presLayoutVars>
          <dgm:chPref val="3"/>
        </dgm:presLayoutVars>
      </dgm:prSet>
      <dgm:spPr/>
    </dgm:pt>
    <dgm:pt modelId="{027C17C0-A4F1-4FF2-8017-0587BA2F9198}" type="pres">
      <dgm:prSet presAssocID="{05A92644-5BB4-45F2-8D20-B36BEABDC4DB}" presName="horzFour" presStyleCnt="0"/>
      <dgm:spPr/>
    </dgm:pt>
    <dgm:pt modelId="{BDB666F2-4B71-42DA-8099-86E8A4D5D314}" type="pres">
      <dgm:prSet presAssocID="{DD9351A0-BAA7-4E71-9FE2-7A26BFC109AA}" presName="sibSpaceFour" presStyleCnt="0"/>
      <dgm:spPr/>
    </dgm:pt>
    <dgm:pt modelId="{91272072-E735-4D24-8989-2373D508BEC8}" type="pres">
      <dgm:prSet presAssocID="{57E32FD7-0D24-424F-BAFA-50862258E178}" presName="vertFour" presStyleCnt="0">
        <dgm:presLayoutVars>
          <dgm:chPref val="3"/>
        </dgm:presLayoutVars>
      </dgm:prSet>
      <dgm:spPr/>
    </dgm:pt>
    <dgm:pt modelId="{478024EF-49B2-4F32-9141-62FE4E0D9782}" type="pres">
      <dgm:prSet presAssocID="{57E32FD7-0D24-424F-BAFA-50862258E178}" presName="txFour" presStyleLbl="node4" presStyleIdx="1" presStyleCnt="2" custScaleY="151312">
        <dgm:presLayoutVars>
          <dgm:chPref val="3"/>
        </dgm:presLayoutVars>
      </dgm:prSet>
      <dgm:spPr/>
    </dgm:pt>
    <dgm:pt modelId="{4D08D0C4-4618-494D-86BE-5E595127227F}" type="pres">
      <dgm:prSet presAssocID="{57E32FD7-0D24-424F-BAFA-50862258E178}" presName="horzFour" presStyleCnt="0"/>
      <dgm:spPr/>
    </dgm:pt>
  </dgm:ptLst>
  <dgm:cxnLst>
    <dgm:cxn modelId="{154E3303-6C3A-4822-8A07-7D876286FF97}" srcId="{E765D36A-1693-487D-AF3B-09A5909785B6}" destId="{CE4DEAA6-A22E-4FEA-8C8D-FD92B570B609}" srcOrd="1" destOrd="0" parTransId="{23B48031-F243-48F5-B97B-D6A27B2E7F79}" sibTransId="{E879500F-C0CB-4C77-B41F-9D63317382B7}"/>
    <dgm:cxn modelId="{F4022806-F011-4652-B9E9-11921D7A16E6}" type="presOf" srcId="{F19320D2-2479-45BC-8483-C20DCC7D4BF3}" destId="{BE1A90AD-6294-4CDD-B09F-20F725ED9449}" srcOrd="0" destOrd="0" presId="urn:microsoft.com/office/officeart/2005/8/layout/hierarchy4"/>
    <dgm:cxn modelId="{46269406-43D8-4EA6-8250-B61598A3A24A}" srcId="{9A2BC7AE-0A55-4D05-AF34-1765ADE837AD}" destId="{BCA4EA6B-EECB-4766-B79B-34B220192072}" srcOrd="4" destOrd="0" parTransId="{E7839576-61F5-41B0-9C90-FA54F22DF1D1}" sibTransId="{CB5BA34D-A4DF-411C-A894-7B2E36448FF6}"/>
    <dgm:cxn modelId="{948DC006-046D-485E-AC6F-F287E83E89D1}" type="presOf" srcId="{B81C9BE0-0A56-46E3-ABB3-C7084CDD9B75}" destId="{FD2D810A-2388-4805-A9D6-AD137CF0FD98}" srcOrd="0" destOrd="0" presId="urn:microsoft.com/office/officeart/2005/8/layout/hierarchy4"/>
    <dgm:cxn modelId="{D6F41F0A-04FC-4919-B0C1-D245178706F4}" srcId="{9A2BC7AE-0A55-4D05-AF34-1765ADE837AD}" destId="{3AFD0579-7059-4F02-8EA4-6AAC40079D7C}" srcOrd="3" destOrd="0" parTransId="{8C31254D-DDEE-4748-9D79-F469915BE18A}" sibTransId="{14C2561D-B3D5-4664-A483-06511E561F38}"/>
    <dgm:cxn modelId="{B4C5340A-51D7-47DA-B9CD-AC4B752E7F67}" type="presOf" srcId="{9A2BC7AE-0A55-4D05-AF34-1765ADE837AD}" destId="{8221DA9F-B757-470B-863A-DFF6F04D8841}" srcOrd="0" destOrd="0" presId="urn:microsoft.com/office/officeart/2005/8/layout/hierarchy4"/>
    <dgm:cxn modelId="{B9C71C1D-46EB-48DB-83B5-980B93A8CFB2}" srcId="{9A2BC7AE-0A55-4D05-AF34-1765ADE837AD}" destId="{FCA58394-3E2D-4757-B049-C2F01D84C265}" srcOrd="1" destOrd="0" parTransId="{9BDEEFDF-BFC1-475E-B9B2-6DFE65DB1363}" sibTransId="{9D8AC6D0-BDB6-4009-8EEA-6D4D2A345F99}"/>
    <dgm:cxn modelId="{498D932C-56C3-4404-8B78-A29A8B0D43F4}" type="presOf" srcId="{B209E0D5-BB9D-4E5D-88AB-BEB82CF4339D}" destId="{A39D9AF8-1069-469E-BDB5-64CEEB5953BB}" srcOrd="0" destOrd="0" presId="urn:microsoft.com/office/officeart/2005/8/layout/hierarchy4"/>
    <dgm:cxn modelId="{1FE0F52F-5053-4411-919F-2379E3A7A701}" type="presOf" srcId="{3AFD0579-7059-4F02-8EA4-6AAC40079D7C}" destId="{6391160F-7BA5-4A89-A236-4487FA932310}" srcOrd="0" destOrd="0" presId="urn:microsoft.com/office/officeart/2005/8/layout/hierarchy4"/>
    <dgm:cxn modelId="{507CAE3A-FA17-4A90-A3DD-8B47CA43514E}" type="presOf" srcId="{D5DF3A4A-6387-47AA-A3A1-3BF50C5AA62C}" destId="{CDDEC979-F1A2-4409-8FF0-293406F051D4}" srcOrd="0" destOrd="0" presId="urn:microsoft.com/office/officeart/2005/8/layout/hierarchy4"/>
    <dgm:cxn modelId="{78BDFE68-770C-4667-BDA0-CDC73D93DD9C}" type="presOf" srcId="{CE4DEAA6-A22E-4FEA-8C8D-FD92B570B609}" destId="{7E9961C4-29AB-4443-A6E1-E3F0F2CBDE34}" srcOrd="0" destOrd="0" presId="urn:microsoft.com/office/officeart/2005/8/layout/hierarchy4"/>
    <dgm:cxn modelId="{D06E6F69-1D07-4A79-B00C-6B37B0255CED}" srcId="{9A2BC7AE-0A55-4D05-AF34-1765ADE837AD}" destId="{4356710B-FF5F-40DF-9EA2-5D193CD07331}" srcOrd="6" destOrd="0" parTransId="{775ADC81-F363-4C46-AC58-C175FF026F8C}" sibTransId="{C84792CF-D437-4E6D-A584-EEEAA58E7550}"/>
    <dgm:cxn modelId="{24BC8749-6EE2-4519-8260-69960BEBD9A1}" srcId="{D5DF3A4A-6387-47AA-A3A1-3BF50C5AA62C}" destId="{57E32FD7-0D24-424F-BAFA-50862258E178}" srcOrd="1" destOrd="0" parTransId="{9D2E40E9-B00C-4140-908E-9F451A9FAD4B}" sibTransId="{1FC05850-9D8C-4713-BAAB-4890ACA9DA0E}"/>
    <dgm:cxn modelId="{104E644A-76EA-4DF7-8C09-03BA29B64166}" type="presOf" srcId="{BCA4EA6B-EECB-4766-B79B-34B220192072}" destId="{B34C258D-C358-473B-B5A7-EC94CF55CB34}" srcOrd="0" destOrd="0" presId="urn:microsoft.com/office/officeart/2005/8/layout/hierarchy4"/>
    <dgm:cxn modelId="{6ABBB44C-7F05-4121-B370-C862E4562BAF}" srcId="{9A2BC7AE-0A55-4D05-AF34-1765ADE837AD}" destId="{B209E0D5-BB9D-4E5D-88AB-BEB82CF4339D}" srcOrd="7" destOrd="0" parTransId="{85EAA161-BB68-40D5-B8F3-F2AF02AD2454}" sibTransId="{016AEFF5-6C64-48C6-AC08-2888E5CB4EA0}"/>
    <dgm:cxn modelId="{B1644270-860D-44F1-8447-A4BA3F3B6724}" srcId="{614370D5-89E5-4B33-A8D8-4BD44B447421}" destId="{E765D36A-1693-487D-AF3B-09A5909785B6}" srcOrd="0" destOrd="0" parTransId="{9890EEB3-15A1-4E78-BEBB-675559C7E2AF}" sibTransId="{F1759BF5-F894-4B1B-8F01-811345136FDA}"/>
    <dgm:cxn modelId="{CA716D74-D584-4CED-88BE-4B3EFAA1A8E3}" type="presOf" srcId="{A754C273-F50B-473E-AB24-57EB047DCDA8}" destId="{B054D4D0-B725-4E85-93D2-89FEE11F5B62}" srcOrd="0" destOrd="0" presId="urn:microsoft.com/office/officeart/2005/8/layout/hierarchy4"/>
    <dgm:cxn modelId="{D8D81377-2935-4BF0-ACA9-C41CEC6FA795}" srcId="{CE4DEAA6-A22E-4FEA-8C8D-FD92B570B609}" destId="{D5DF3A4A-6387-47AA-A3A1-3BF50C5AA62C}" srcOrd="0" destOrd="0" parTransId="{1A0DB2F5-A3AB-4F6E-B68D-3787361D25C3}" sibTransId="{0B42E666-4C57-459C-8806-79EDAC309F44}"/>
    <dgm:cxn modelId="{C7135757-5CBB-40A0-8AE3-8E38A8BF3D42}" srcId="{9A2BC7AE-0A55-4D05-AF34-1765ADE837AD}" destId="{19DD8BFA-BA31-407B-B482-3A618EC1A2DB}" srcOrd="2" destOrd="0" parTransId="{D1EC9A2E-61CC-44A3-9C65-3E37CBDF851C}" sibTransId="{6D1D02D2-2870-4D50-A17E-F7368132369A}"/>
    <dgm:cxn modelId="{75B58980-D94F-430D-BBBE-7808716CEDA8}" type="presOf" srcId="{57E32FD7-0D24-424F-BAFA-50862258E178}" destId="{478024EF-49B2-4F32-9141-62FE4E0D9782}" srcOrd="0" destOrd="0" presId="urn:microsoft.com/office/officeart/2005/8/layout/hierarchy4"/>
    <dgm:cxn modelId="{B0CD899E-F0E6-420F-98C3-2A801DDEC30B}" srcId="{9A2BC7AE-0A55-4D05-AF34-1765ADE837AD}" destId="{B81C9BE0-0A56-46E3-ABB3-C7084CDD9B75}" srcOrd="8" destOrd="0" parTransId="{B58ECB46-7D70-4E77-B6C3-F4A4D41ECFBE}" sibTransId="{7D769DB1-C27D-4FC4-94E8-857D49C46AB2}"/>
    <dgm:cxn modelId="{5A078FA1-5A63-4FCA-9057-5C578D35D6DB}" srcId="{E765D36A-1693-487D-AF3B-09A5909785B6}" destId="{9A2BC7AE-0A55-4D05-AF34-1765ADE837AD}" srcOrd="0" destOrd="0" parTransId="{3978A61C-5D02-4965-A23B-BED3EBB7B079}" sibTransId="{955CD87C-8622-476B-B792-512BF81FBC12}"/>
    <dgm:cxn modelId="{A5F585A8-2A37-410D-804C-D53B46FCEE97}" srcId="{D5DF3A4A-6387-47AA-A3A1-3BF50C5AA62C}" destId="{05A92644-5BB4-45F2-8D20-B36BEABDC4DB}" srcOrd="0" destOrd="0" parTransId="{2F8E17AC-4B2F-45AD-984B-76F2B616566E}" sibTransId="{DD9351A0-BAA7-4E71-9FE2-7A26BFC109AA}"/>
    <dgm:cxn modelId="{3C1CCDA8-EFE5-442A-8A03-C7E443FED75D}" type="presOf" srcId="{E765D36A-1693-487D-AF3B-09A5909785B6}" destId="{E37E18C7-CBC3-4730-8BE6-C8FC497852AC}" srcOrd="0" destOrd="0" presId="urn:microsoft.com/office/officeart/2005/8/layout/hierarchy4"/>
    <dgm:cxn modelId="{2C2CADB9-9131-40DE-A4D7-8C5724B3D316}" type="presOf" srcId="{19DD8BFA-BA31-407B-B482-3A618EC1A2DB}" destId="{5AFEC762-1C1A-421E-BE77-6213FB889098}" srcOrd="0" destOrd="0" presId="urn:microsoft.com/office/officeart/2005/8/layout/hierarchy4"/>
    <dgm:cxn modelId="{1F6E37BB-741E-4060-828E-77A1C4DEF639}" type="presOf" srcId="{05A92644-5BB4-45F2-8D20-B36BEABDC4DB}" destId="{62CDD4D5-9FC5-425A-98C9-2E56C3098C88}" srcOrd="0" destOrd="0" presId="urn:microsoft.com/office/officeart/2005/8/layout/hierarchy4"/>
    <dgm:cxn modelId="{A663FFC7-4537-451C-A72E-C9D3A563FA8F}" type="presOf" srcId="{614370D5-89E5-4B33-A8D8-4BD44B447421}" destId="{2E6B2AFB-C458-41BB-8CB8-D2CD00F5324E}" srcOrd="0" destOrd="0" presId="urn:microsoft.com/office/officeart/2005/8/layout/hierarchy4"/>
    <dgm:cxn modelId="{1DAE91CA-A2EB-430D-BA6C-BF55BEBD6193}" type="presOf" srcId="{FCA58394-3E2D-4757-B049-C2F01D84C265}" destId="{3D86A9A7-DE93-41CD-BE81-662A97CD51C4}" srcOrd="0" destOrd="0" presId="urn:microsoft.com/office/officeart/2005/8/layout/hierarchy4"/>
    <dgm:cxn modelId="{966933FB-5F6D-4FBB-BF5C-CEBA1805B012}" srcId="{9A2BC7AE-0A55-4D05-AF34-1765ADE837AD}" destId="{F19320D2-2479-45BC-8483-C20DCC7D4BF3}" srcOrd="0" destOrd="0" parTransId="{777A02CA-9DAF-40D0-9562-1ED9C779AC00}" sibTransId="{29A95B6B-2FC6-4432-AF9F-5B240AAFDFFB}"/>
    <dgm:cxn modelId="{641F43FC-C729-4921-9F15-2FC17972FE36}" srcId="{9A2BC7AE-0A55-4D05-AF34-1765ADE837AD}" destId="{A754C273-F50B-473E-AB24-57EB047DCDA8}" srcOrd="5" destOrd="0" parTransId="{C8C239D6-14AD-403D-9AEA-34DDB7EDC80D}" sibTransId="{76C726E1-4517-4254-A0ED-D49170AC503A}"/>
    <dgm:cxn modelId="{972761FE-3BDD-48C8-AF1B-611781D057AD}" type="presOf" srcId="{4356710B-FF5F-40DF-9EA2-5D193CD07331}" destId="{4D467419-B93B-431F-B8D5-630E57343842}" srcOrd="0" destOrd="0" presId="urn:microsoft.com/office/officeart/2005/8/layout/hierarchy4"/>
    <dgm:cxn modelId="{F7058D00-9692-401A-9397-349FA6F01C0F}" type="presParOf" srcId="{2E6B2AFB-C458-41BB-8CB8-D2CD00F5324E}" destId="{143E018F-A373-4773-91E3-87BB687876A5}" srcOrd="0" destOrd="0" presId="urn:microsoft.com/office/officeart/2005/8/layout/hierarchy4"/>
    <dgm:cxn modelId="{E4D49062-5530-475F-BCB4-9070352E8282}" type="presParOf" srcId="{143E018F-A373-4773-91E3-87BB687876A5}" destId="{E37E18C7-CBC3-4730-8BE6-C8FC497852AC}" srcOrd="0" destOrd="0" presId="urn:microsoft.com/office/officeart/2005/8/layout/hierarchy4"/>
    <dgm:cxn modelId="{C02EA4D5-FF52-441E-A111-836825ED71CD}" type="presParOf" srcId="{143E018F-A373-4773-91E3-87BB687876A5}" destId="{86CB37B4-F605-424A-A706-BB42B86F5902}" srcOrd="1" destOrd="0" presId="urn:microsoft.com/office/officeart/2005/8/layout/hierarchy4"/>
    <dgm:cxn modelId="{3D4AD0E1-DAB0-4CB5-8A66-EE09B10B70E5}" type="presParOf" srcId="{143E018F-A373-4773-91E3-87BB687876A5}" destId="{2F366C28-43A4-49FD-9074-D5A857A6084B}" srcOrd="2" destOrd="0" presId="urn:microsoft.com/office/officeart/2005/8/layout/hierarchy4"/>
    <dgm:cxn modelId="{1ABF0637-3BC8-49F8-BC38-9BB5991539F8}" type="presParOf" srcId="{2F366C28-43A4-49FD-9074-D5A857A6084B}" destId="{4A3CC460-6169-4FF6-8A9C-B691E769CD7B}" srcOrd="0" destOrd="0" presId="urn:microsoft.com/office/officeart/2005/8/layout/hierarchy4"/>
    <dgm:cxn modelId="{E5294539-B9C0-499A-88D1-0D43C96952EC}" type="presParOf" srcId="{4A3CC460-6169-4FF6-8A9C-B691E769CD7B}" destId="{8221DA9F-B757-470B-863A-DFF6F04D8841}" srcOrd="0" destOrd="0" presId="urn:microsoft.com/office/officeart/2005/8/layout/hierarchy4"/>
    <dgm:cxn modelId="{40D910B9-B87C-4036-BC49-88F0BC6079C6}" type="presParOf" srcId="{4A3CC460-6169-4FF6-8A9C-B691E769CD7B}" destId="{C0AA20FE-79CB-4F6B-9381-5959CA44790D}" srcOrd="1" destOrd="0" presId="urn:microsoft.com/office/officeart/2005/8/layout/hierarchy4"/>
    <dgm:cxn modelId="{01D2FCEC-B36C-4CBC-9A16-1ECF4CE48E92}" type="presParOf" srcId="{4A3CC460-6169-4FF6-8A9C-B691E769CD7B}" destId="{081045DC-725E-413A-BA86-E682F432140E}" srcOrd="2" destOrd="0" presId="urn:microsoft.com/office/officeart/2005/8/layout/hierarchy4"/>
    <dgm:cxn modelId="{36226F26-3481-4C03-9009-B7FBDB2E64E0}" type="presParOf" srcId="{081045DC-725E-413A-BA86-E682F432140E}" destId="{59E5FAAB-1A65-4D45-8E32-FCF9E5D8D250}" srcOrd="0" destOrd="0" presId="urn:microsoft.com/office/officeart/2005/8/layout/hierarchy4"/>
    <dgm:cxn modelId="{5A325FD0-9057-4FAE-8574-FD8072F6AFEE}" type="presParOf" srcId="{59E5FAAB-1A65-4D45-8E32-FCF9E5D8D250}" destId="{BE1A90AD-6294-4CDD-B09F-20F725ED9449}" srcOrd="0" destOrd="0" presId="urn:microsoft.com/office/officeart/2005/8/layout/hierarchy4"/>
    <dgm:cxn modelId="{AEB4642A-EC6D-4C62-B215-CC43667A2BB7}" type="presParOf" srcId="{59E5FAAB-1A65-4D45-8E32-FCF9E5D8D250}" destId="{BA666A20-0ACF-43D0-9106-4AA919D90F15}" srcOrd="1" destOrd="0" presId="urn:microsoft.com/office/officeart/2005/8/layout/hierarchy4"/>
    <dgm:cxn modelId="{86DB457D-AA63-4423-84B6-0E50D15AA36E}" type="presParOf" srcId="{081045DC-725E-413A-BA86-E682F432140E}" destId="{1283B669-265D-43D0-B2EB-9CEB61D9E638}" srcOrd="1" destOrd="0" presId="urn:microsoft.com/office/officeart/2005/8/layout/hierarchy4"/>
    <dgm:cxn modelId="{EC2760B5-B3B8-42F1-9B99-259DC12CA6D8}" type="presParOf" srcId="{081045DC-725E-413A-BA86-E682F432140E}" destId="{1A5464E4-12D9-432E-A228-D990A60DE1D3}" srcOrd="2" destOrd="0" presId="urn:microsoft.com/office/officeart/2005/8/layout/hierarchy4"/>
    <dgm:cxn modelId="{0454AF18-D447-4954-A4E4-BC997C438F80}" type="presParOf" srcId="{1A5464E4-12D9-432E-A228-D990A60DE1D3}" destId="{3D86A9A7-DE93-41CD-BE81-662A97CD51C4}" srcOrd="0" destOrd="0" presId="urn:microsoft.com/office/officeart/2005/8/layout/hierarchy4"/>
    <dgm:cxn modelId="{0D522E8F-E919-4375-8190-311B76C96BDF}" type="presParOf" srcId="{1A5464E4-12D9-432E-A228-D990A60DE1D3}" destId="{01001E55-2C9E-4796-81F8-D76E937D3B42}" srcOrd="1" destOrd="0" presId="urn:microsoft.com/office/officeart/2005/8/layout/hierarchy4"/>
    <dgm:cxn modelId="{8953D3F7-9FC4-4B23-B61F-2B31E7D3BA2F}" type="presParOf" srcId="{081045DC-725E-413A-BA86-E682F432140E}" destId="{61AFCC08-ABF5-4EBA-BE52-FD3A60891A00}" srcOrd="3" destOrd="0" presId="urn:microsoft.com/office/officeart/2005/8/layout/hierarchy4"/>
    <dgm:cxn modelId="{231B09D1-1700-4AD2-83C1-A7785569D30F}" type="presParOf" srcId="{081045DC-725E-413A-BA86-E682F432140E}" destId="{D7C7F0F7-637D-43EC-BEF2-DD8BDD7AF5E1}" srcOrd="4" destOrd="0" presId="urn:microsoft.com/office/officeart/2005/8/layout/hierarchy4"/>
    <dgm:cxn modelId="{6AF3ADE2-40DD-4BBE-97F3-8F17A773FD23}" type="presParOf" srcId="{D7C7F0F7-637D-43EC-BEF2-DD8BDD7AF5E1}" destId="{5AFEC762-1C1A-421E-BE77-6213FB889098}" srcOrd="0" destOrd="0" presId="urn:microsoft.com/office/officeart/2005/8/layout/hierarchy4"/>
    <dgm:cxn modelId="{C468EF9F-360C-4619-9DCF-38A37889A69B}" type="presParOf" srcId="{D7C7F0F7-637D-43EC-BEF2-DD8BDD7AF5E1}" destId="{E463FA49-46BA-4611-B7B5-8912B3D6864D}" srcOrd="1" destOrd="0" presId="urn:microsoft.com/office/officeart/2005/8/layout/hierarchy4"/>
    <dgm:cxn modelId="{BF475F99-3BFD-4168-B48D-D3693D984EA2}" type="presParOf" srcId="{081045DC-725E-413A-BA86-E682F432140E}" destId="{6C23CA4A-DA2D-415F-8B7B-20D59149FB61}" srcOrd="5" destOrd="0" presId="urn:microsoft.com/office/officeart/2005/8/layout/hierarchy4"/>
    <dgm:cxn modelId="{9E52CF28-2CF0-4820-9F16-82870B8E5699}" type="presParOf" srcId="{081045DC-725E-413A-BA86-E682F432140E}" destId="{87A52698-444D-4FE2-B9BE-8D62E971B104}" srcOrd="6" destOrd="0" presId="urn:microsoft.com/office/officeart/2005/8/layout/hierarchy4"/>
    <dgm:cxn modelId="{2634B5E5-0E32-425D-BC63-8CDF30F04D23}" type="presParOf" srcId="{87A52698-444D-4FE2-B9BE-8D62E971B104}" destId="{6391160F-7BA5-4A89-A236-4487FA932310}" srcOrd="0" destOrd="0" presId="urn:microsoft.com/office/officeart/2005/8/layout/hierarchy4"/>
    <dgm:cxn modelId="{87FC3032-1827-459F-B1C7-CFB83DEEA7D5}" type="presParOf" srcId="{87A52698-444D-4FE2-B9BE-8D62E971B104}" destId="{F1A3B2E0-4506-4396-AD2B-21BCDFDEA7ED}" srcOrd="1" destOrd="0" presId="urn:microsoft.com/office/officeart/2005/8/layout/hierarchy4"/>
    <dgm:cxn modelId="{DAE9BF20-046A-47D8-A6C8-3BFDFDC86201}" type="presParOf" srcId="{081045DC-725E-413A-BA86-E682F432140E}" destId="{3B7B911A-C0DA-4FE2-A5C0-CB22BC10551E}" srcOrd="7" destOrd="0" presId="urn:microsoft.com/office/officeart/2005/8/layout/hierarchy4"/>
    <dgm:cxn modelId="{92E4D5D5-A82F-4C54-880A-FDDE7C89105F}" type="presParOf" srcId="{081045DC-725E-413A-BA86-E682F432140E}" destId="{DC9DEA9F-E11F-4647-A687-8E3F5A0E1E0E}" srcOrd="8" destOrd="0" presId="urn:microsoft.com/office/officeart/2005/8/layout/hierarchy4"/>
    <dgm:cxn modelId="{150ACD3E-7912-4E36-80A0-37C5A092E34A}" type="presParOf" srcId="{DC9DEA9F-E11F-4647-A687-8E3F5A0E1E0E}" destId="{B34C258D-C358-473B-B5A7-EC94CF55CB34}" srcOrd="0" destOrd="0" presId="urn:microsoft.com/office/officeart/2005/8/layout/hierarchy4"/>
    <dgm:cxn modelId="{6034A003-8647-4ED8-8B29-4D661FDFEC0E}" type="presParOf" srcId="{DC9DEA9F-E11F-4647-A687-8E3F5A0E1E0E}" destId="{0C2061BA-B21A-4754-97CF-B63C82B3812B}" srcOrd="1" destOrd="0" presId="urn:microsoft.com/office/officeart/2005/8/layout/hierarchy4"/>
    <dgm:cxn modelId="{4A48B865-2ABE-45EF-AE9D-C692AAB11760}" type="presParOf" srcId="{081045DC-725E-413A-BA86-E682F432140E}" destId="{3844FFF6-22A3-4CFC-94F2-22A799C111E4}" srcOrd="9" destOrd="0" presId="urn:microsoft.com/office/officeart/2005/8/layout/hierarchy4"/>
    <dgm:cxn modelId="{D7947259-ABB1-4969-B0C9-6B5C75E43307}" type="presParOf" srcId="{081045DC-725E-413A-BA86-E682F432140E}" destId="{4F71BDA3-CE23-4FD0-880E-EE690DBCEE7F}" srcOrd="10" destOrd="0" presId="urn:microsoft.com/office/officeart/2005/8/layout/hierarchy4"/>
    <dgm:cxn modelId="{5C204016-2DB3-4E6F-92DD-569FFA642A51}" type="presParOf" srcId="{4F71BDA3-CE23-4FD0-880E-EE690DBCEE7F}" destId="{B054D4D0-B725-4E85-93D2-89FEE11F5B62}" srcOrd="0" destOrd="0" presId="urn:microsoft.com/office/officeart/2005/8/layout/hierarchy4"/>
    <dgm:cxn modelId="{222FA552-8BD6-4091-8014-2F24D2A90997}" type="presParOf" srcId="{4F71BDA3-CE23-4FD0-880E-EE690DBCEE7F}" destId="{FD08CCC4-6320-4950-82BB-63A4FFA0BBAF}" srcOrd="1" destOrd="0" presId="urn:microsoft.com/office/officeart/2005/8/layout/hierarchy4"/>
    <dgm:cxn modelId="{AD9FACCE-5E0E-4328-BAE9-76DA419903E9}" type="presParOf" srcId="{081045DC-725E-413A-BA86-E682F432140E}" destId="{1B4F3906-8206-4B10-B8BE-D802BA9CE2D6}" srcOrd="11" destOrd="0" presId="urn:microsoft.com/office/officeart/2005/8/layout/hierarchy4"/>
    <dgm:cxn modelId="{A829E4A4-D7E5-41A7-BA98-3C3FD784F374}" type="presParOf" srcId="{081045DC-725E-413A-BA86-E682F432140E}" destId="{346AFE16-8966-4AE4-A862-8135796B6673}" srcOrd="12" destOrd="0" presId="urn:microsoft.com/office/officeart/2005/8/layout/hierarchy4"/>
    <dgm:cxn modelId="{2C762943-9C0C-4ACC-8D25-040B59149D6B}" type="presParOf" srcId="{346AFE16-8966-4AE4-A862-8135796B6673}" destId="{4D467419-B93B-431F-B8D5-630E57343842}" srcOrd="0" destOrd="0" presId="urn:microsoft.com/office/officeart/2005/8/layout/hierarchy4"/>
    <dgm:cxn modelId="{83AD7AC3-98FD-4A5D-AB90-1BD923032B96}" type="presParOf" srcId="{346AFE16-8966-4AE4-A862-8135796B6673}" destId="{0D31EFEB-D099-47D5-80AD-FD4A57BA8757}" srcOrd="1" destOrd="0" presId="urn:microsoft.com/office/officeart/2005/8/layout/hierarchy4"/>
    <dgm:cxn modelId="{7E7C1B14-63C8-413B-A150-EC7C56ED1BA9}" type="presParOf" srcId="{081045DC-725E-413A-BA86-E682F432140E}" destId="{25A0601F-819F-4A6D-96FE-84F59DA188E2}" srcOrd="13" destOrd="0" presId="urn:microsoft.com/office/officeart/2005/8/layout/hierarchy4"/>
    <dgm:cxn modelId="{86783FB4-6A89-4F19-9485-003391780D74}" type="presParOf" srcId="{081045DC-725E-413A-BA86-E682F432140E}" destId="{75A4E504-E408-4202-8F4D-235F8FC544A2}" srcOrd="14" destOrd="0" presId="urn:microsoft.com/office/officeart/2005/8/layout/hierarchy4"/>
    <dgm:cxn modelId="{1F004AF7-FC2F-4CFB-93CC-087AA110E70C}" type="presParOf" srcId="{75A4E504-E408-4202-8F4D-235F8FC544A2}" destId="{A39D9AF8-1069-469E-BDB5-64CEEB5953BB}" srcOrd="0" destOrd="0" presId="urn:microsoft.com/office/officeart/2005/8/layout/hierarchy4"/>
    <dgm:cxn modelId="{20171720-7AB8-46FB-A9F2-9D0C76CB1037}" type="presParOf" srcId="{75A4E504-E408-4202-8F4D-235F8FC544A2}" destId="{C83F0103-BCFE-4336-A027-475B4179608E}" srcOrd="1" destOrd="0" presId="urn:microsoft.com/office/officeart/2005/8/layout/hierarchy4"/>
    <dgm:cxn modelId="{A42588D0-AE30-4F01-8F2F-3FDB13E44757}" type="presParOf" srcId="{081045DC-725E-413A-BA86-E682F432140E}" destId="{3C4D14B2-71CD-4899-9E8D-3BACD9F57A56}" srcOrd="15" destOrd="0" presId="urn:microsoft.com/office/officeart/2005/8/layout/hierarchy4"/>
    <dgm:cxn modelId="{9DA98170-67CC-4CBD-B2AD-8AA16055C24F}" type="presParOf" srcId="{081045DC-725E-413A-BA86-E682F432140E}" destId="{5CB6AC89-B589-4034-BC14-365C59F7BE47}" srcOrd="16" destOrd="0" presId="urn:microsoft.com/office/officeart/2005/8/layout/hierarchy4"/>
    <dgm:cxn modelId="{86141C64-B99F-4845-88CB-39CC3750499F}" type="presParOf" srcId="{5CB6AC89-B589-4034-BC14-365C59F7BE47}" destId="{FD2D810A-2388-4805-A9D6-AD137CF0FD98}" srcOrd="0" destOrd="0" presId="urn:microsoft.com/office/officeart/2005/8/layout/hierarchy4"/>
    <dgm:cxn modelId="{3B35DFF6-D75E-4952-849B-245857A354B3}" type="presParOf" srcId="{5CB6AC89-B589-4034-BC14-365C59F7BE47}" destId="{D5CC7077-6719-4A6A-9D62-5F72368F56A4}" srcOrd="1" destOrd="0" presId="urn:microsoft.com/office/officeart/2005/8/layout/hierarchy4"/>
    <dgm:cxn modelId="{B8DB0339-6DFC-4F18-8615-FC4298C0B2BC}" type="presParOf" srcId="{2F366C28-43A4-49FD-9074-D5A857A6084B}" destId="{98A9BD2F-1074-45D9-A8A3-726ED03F0801}" srcOrd="1" destOrd="0" presId="urn:microsoft.com/office/officeart/2005/8/layout/hierarchy4"/>
    <dgm:cxn modelId="{09F2D323-072B-4165-AF86-DD0685D45D8F}" type="presParOf" srcId="{2F366C28-43A4-49FD-9074-D5A857A6084B}" destId="{7B3AAC3D-AA37-4645-BF80-5BE06C3F2541}" srcOrd="2" destOrd="0" presId="urn:microsoft.com/office/officeart/2005/8/layout/hierarchy4"/>
    <dgm:cxn modelId="{F2985F86-7B1A-4099-8673-DA53EC7E06EF}" type="presParOf" srcId="{7B3AAC3D-AA37-4645-BF80-5BE06C3F2541}" destId="{7E9961C4-29AB-4443-A6E1-E3F0F2CBDE34}" srcOrd="0" destOrd="0" presId="urn:microsoft.com/office/officeart/2005/8/layout/hierarchy4"/>
    <dgm:cxn modelId="{919EDF49-16D1-446A-A192-7E2094500506}" type="presParOf" srcId="{7B3AAC3D-AA37-4645-BF80-5BE06C3F2541}" destId="{88B4D3E5-B8D3-46F8-8CE3-3951F937FED8}" srcOrd="1" destOrd="0" presId="urn:microsoft.com/office/officeart/2005/8/layout/hierarchy4"/>
    <dgm:cxn modelId="{23657ED2-B33B-4A3F-9A23-0C2A50AB7331}" type="presParOf" srcId="{7B3AAC3D-AA37-4645-BF80-5BE06C3F2541}" destId="{B9B8EE67-CFED-4AA1-99D2-94ED8B784915}" srcOrd="2" destOrd="0" presId="urn:microsoft.com/office/officeart/2005/8/layout/hierarchy4"/>
    <dgm:cxn modelId="{2DE97003-A1B1-4C35-9E3E-5497BFF0D043}" type="presParOf" srcId="{B9B8EE67-CFED-4AA1-99D2-94ED8B784915}" destId="{083B1AB5-8189-4D60-B5D8-F5311BC3A5BC}" srcOrd="0" destOrd="0" presId="urn:microsoft.com/office/officeart/2005/8/layout/hierarchy4"/>
    <dgm:cxn modelId="{F9188BB0-7DC1-412A-9866-324633FBB870}" type="presParOf" srcId="{083B1AB5-8189-4D60-B5D8-F5311BC3A5BC}" destId="{CDDEC979-F1A2-4409-8FF0-293406F051D4}" srcOrd="0" destOrd="0" presId="urn:microsoft.com/office/officeart/2005/8/layout/hierarchy4"/>
    <dgm:cxn modelId="{CFAD942B-5F48-4E3E-AEA3-4B698E42E2F3}" type="presParOf" srcId="{083B1AB5-8189-4D60-B5D8-F5311BC3A5BC}" destId="{23EF2601-CA9A-4601-B2E5-60B16A764DE0}" srcOrd="1" destOrd="0" presId="urn:microsoft.com/office/officeart/2005/8/layout/hierarchy4"/>
    <dgm:cxn modelId="{EA1FF327-5424-49EC-AEB1-39B98AC619CF}" type="presParOf" srcId="{083B1AB5-8189-4D60-B5D8-F5311BC3A5BC}" destId="{7C360DB0-7071-412C-BDF2-FC9B8EC9EB23}" srcOrd="2" destOrd="0" presId="urn:microsoft.com/office/officeart/2005/8/layout/hierarchy4"/>
    <dgm:cxn modelId="{AF2EE709-3F09-457F-8AAF-1E150997AEC2}" type="presParOf" srcId="{7C360DB0-7071-412C-BDF2-FC9B8EC9EB23}" destId="{967C8E1F-BE2F-4F71-BF51-EEDC066BA6C5}" srcOrd="0" destOrd="0" presId="urn:microsoft.com/office/officeart/2005/8/layout/hierarchy4"/>
    <dgm:cxn modelId="{EF81F832-3C37-4B44-9F46-2910F9EFB929}" type="presParOf" srcId="{967C8E1F-BE2F-4F71-BF51-EEDC066BA6C5}" destId="{62CDD4D5-9FC5-425A-98C9-2E56C3098C88}" srcOrd="0" destOrd="0" presId="urn:microsoft.com/office/officeart/2005/8/layout/hierarchy4"/>
    <dgm:cxn modelId="{7A9503AB-D262-4953-AC0F-075D2E830BD9}" type="presParOf" srcId="{967C8E1F-BE2F-4F71-BF51-EEDC066BA6C5}" destId="{027C17C0-A4F1-4FF2-8017-0587BA2F9198}" srcOrd="1" destOrd="0" presId="urn:microsoft.com/office/officeart/2005/8/layout/hierarchy4"/>
    <dgm:cxn modelId="{964E233A-151C-4F02-AB98-508935991049}" type="presParOf" srcId="{7C360DB0-7071-412C-BDF2-FC9B8EC9EB23}" destId="{BDB666F2-4B71-42DA-8099-86E8A4D5D314}" srcOrd="1" destOrd="0" presId="urn:microsoft.com/office/officeart/2005/8/layout/hierarchy4"/>
    <dgm:cxn modelId="{967233B7-462E-492F-A1F9-FD40DD00A824}" type="presParOf" srcId="{7C360DB0-7071-412C-BDF2-FC9B8EC9EB23}" destId="{91272072-E735-4D24-8989-2373D508BEC8}" srcOrd="2" destOrd="0" presId="urn:microsoft.com/office/officeart/2005/8/layout/hierarchy4"/>
    <dgm:cxn modelId="{2188EEC0-A412-4BAF-BE2E-54D80303E3BF}" type="presParOf" srcId="{91272072-E735-4D24-8989-2373D508BEC8}" destId="{478024EF-49B2-4F32-9141-62FE4E0D9782}" srcOrd="0" destOrd="0" presId="urn:microsoft.com/office/officeart/2005/8/layout/hierarchy4"/>
    <dgm:cxn modelId="{11861149-EDEC-4BF6-A27D-3644DC66BACA}" type="presParOf" srcId="{91272072-E735-4D24-8989-2373D508BEC8}" destId="{4D08D0C4-4618-494D-86BE-5E595127227F}"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C500EF4-6476-42A2-A1BC-B038BBD79C3C}" type="doc">
      <dgm:prSet loTypeId="urn:microsoft.com/office/officeart/2005/8/layout/orgChart1" loCatId="hierarchy" qsTypeId="urn:microsoft.com/office/officeart/2005/8/quickstyle/simple2" qsCatId="simple" csTypeId="urn:microsoft.com/office/officeart/2005/8/colors/colorful5" csCatId="colorful" phldr="1"/>
      <dgm:spPr/>
      <dgm:t>
        <a:bodyPr/>
        <a:lstStyle/>
        <a:p>
          <a:endParaRPr lang="zh-CN" altLang="en-US"/>
        </a:p>
      </dgm:t>
    </dgm:pt>
    <dgm:pt modelId="{41C988D5-BD70-49A8-9E0B-0CB77BB69623}">
      <dgm:prSet phldrT="[文本]" phldr="0" custT="1"/>
      <dgm:spPr/>
      <dgm:t>
        <a:bodyPr/>
        <a:lstStyle/>
        <a:p>
          <a:r>
            <a:rPr lang="zh-CN" altLang="en-US" sz="1600" dirty="0"/>
            <a:t>进度计划</a:t>
          </a:r>
        </a:p>
      </dgm:t>
    </dgm:pt>
    <dgm:pt modelId="{09EA11AD-E57B-4C90-97C7-5D138772DF05}" type="parTrans" cxnId="{95C5C8F4-B08C-4429-A8C1-4FCF047DB1E7}">
      <dgm:prSet/>
      <dgm:spPr/>
      <dgm:t>
        <a:bodyPr/>
        <a:lstStyle/>
        <a:p>
          <a:endParaRPr lang="zh-CN" altLang="en-US" sz="1600"/>
        </a:p>
      </dgm:t>
    </dgm:pt>
    <dgm:pt modelId="{08395647-B1B3-438E-A623-6DF207EA674E}" type="sibTrans" cxnId="{95C5C8F4-B08C-4429-A8C1-4FCF047DB1E7}">
      <dgm:prSet/>
      <dgm:spPr/>
      <dgm:t>
        <a:bodyPr/>
        <a:lstStyle/>
        <a:p>
          <a:endParaRPr lang="zh-CN" altLang="en-US" sz="1600"/>
        </a:p>
      </dgm:t>
    </dgm:pt>
    <dgm:pt modelId="{A607B789-786E-4FE4-AACD-3A9D00E2CC77}">
      <dgm:prSet phldrT="[文本]" custT="1"/>
      <dgm:spPr/>
      <dgm:t>
        <a:bodyPr/>
        <a:lstStyle/>
        <a:p>
          <a:r>
            <a:rPr lang="zh-CN" altLang="en-US" sz="1600" dirty="0"/>
            <a:t>传统项目进度计划</a:t>
          </a:r>
        </a:p>
      </dgm:t>
    </dgm:pt>
    <dgm:pt modelId="{F9316093-6C24-43B5-BC81-85C420CED198}" type="parTrans" cxnId="{DDE817C0-43CB-4D7E-A413-77F0CA2F1A84}">
      <dgm:prSet/>
      <dgm:spPr/>
      <dgm:t>
        <a:bodyPr/>
        <a:lstStyle/>
        <a:p>
          <a:endParaRPr lang="zh-CN" altLang="en-US" sz="1600"/>
        </a:p>
      </dgm:t>
    </dgm:pt>
    <dgm:pt modelId="{1B9408E1-4EAD-40A4-82D5-AF2418915CA6}" type="sibTrans" cxnId="{DDE817C0-43CB-4D7E-A413-77F0CA2F1A84}">
      <dgm:prSet/>
      <dgm:spPr/>
      <dgm:t>
        <a:bodyPr/>
        <a:lstStyle/>
        <a:p>
          <a:endParaRPr lang="zh-CN" altLang="en-US" sz="1600"/>
        </a:p>
      </dgm:t>
    </dgm:pt>
    <dgm:pt modelId="{29952315-0782-412A-A6FC-905C01B84A46}">
      <dgm:prSet phldrT="[文本]" custT="1"/>
      <dgm:spPr/>
      <dgm:t>
        <a:bodyPr/>
        <a:lstStyle/>
        <a:p>
          <a:r>
            <a:rPr lang="zh-CN" altLang="en-US" sz="1600" dirty="0"/>
            <a:t>敏捷项目进度计划</a:t>
          </a:r>
        </a:p>
      </dgm:t>
    </dgm:pt>
    <dgm:pt modelId="{E036B45B-4D9E-4161-AE01-41B6CCD91A5D}" type="parTrans" cxnId="{9668A36F-5B4D-450F-A704-3EEE619BD1DE}">
      <dgm:prSet/>
      <dgm:spPr/>
      <dgm:t>
        <a:bodyPr/>
        <a:lstStyle/>
        <a:p>
          <a:endParaRPr lang="zh-CN" altLang="en-US" sz="1600"/>
        </a:p>
      </dgm:t>
    </dgm:pt>
    <dgm:pt modelId="{CC79312F-D309-4C63-9C41-F025B2D0E905}" type="sibTrans" cxnId="{9668A36F-5B4D-450F-A704-3EEE619BD1DE}">
      <dgm:prSet/>
      <dgm:spPr/>
      <dgm:t>
        <a:bodyPr/>
        <a:lstStyle/>
        <a:p>
          <a:endParaRPr lang="zh-CN" altLang="en-US" sz="1600"/>
        </a:p>
      </dgm:t>
    </dgm:pt>
    <dgm:pt modelId="{A6C45237-F2BD-4FF6-9E1D-A9E7509ADDCA}" type="pres">
      <dgm:prSet presAssocID="{0C500EF4-6476-42A2-A1BC-B038BBD79C3C}" presName="hierChild1" presStyleCnt="0">
        <dgm:presLayoutVars>
          <dgm:orgChart val="1"/>
          <dgm:chPref val="1"/>
          <dgm:dir/>
          <dgm:animOne val="branch"/>
          <dgm:animLvl val="lvl"/>
          <dgm:resizeHandles/>
        </dgm:presLayoutVars>
      </dgm:prSet>
      <dgm:spPr/>
    </dgm:pt>
    <dgm:pt modelId="{E3F3573D-E48E-45FA-AE86-F3ABA4F2F5BB}" type="pres">
      <dgm:prSet presAssocID="{41C988D5-BD70-49A8-9E0B-0CB77BB69623}" presName="hierRoot1" presStyleCnt="0">
        <dgm:presLayoutVars>
          <dgm:hierBranch val="init"/>
        </dgm:presLayoutVars>
      </dgm:prSet>
      <dgm:spPr/>
    </dgm:pt>
    <dgm:pt modelId="{18C0331A-ACC3-44D2-B1F1-51CD07531FBA}" type="pres">
      <dgm:prSet presAssocID="{41C988D5-BD70-49A8-9E0B-0CB77BB69623}" presName="rootComposite1" presStyleCnt="0"/>
      <dgm:spPr/>
    </dgm:pt>
    <dgm:pt modelId="{D974179B-B22F-46BC-B1DC-76FC402D3C22}" type="pres">
      <dgm:prSet presAssocID="{41C988D5-BD70-49A8-9E0B-0CB77BB69623}" presName="rootText1" presStyleLbl="node0" presStyleIdx="0" presStyleCnt="1" custScaleX="78533" custScaleY="49384">
        <dgm:presLayoutVars>
          <dgm:chPref val="3"/>
        </dgm:presLayoutVars>
      </dgm:prSet>
      <dgm:spPr/>
    </dgm:pt>
    <dgm:pt modelId="{678C35C2-3A2A-43CF-B28A-D12035C5D519}" type="pres">
      <dgm:prSet presAssocID="{41C988D5-BD70-49A8-9E0B-0CB77BB69623}" presName="rootConnector1" presStyleLbl="node1" presStyleIdx="0" presStyleCnt="0"/>
      <dgm:spPr/>
    </dgm:pt>
    <dgm:pt modelId="{0F1C904C-634B-4133-9D55-7B388B2951B7}" type="pres">
      <dgm:prSet presAssocID="{41C988D5-BD70-49A8-9E0B-0CB77BB69623}" presName="hierChild2" presStyleCnt="0"/>
      <dgm:spPr/>
    </dgm:pt>
    <dgm:pt modelId="{4A366E34-D581-47C5-9AFC-9A7E82CB2E3C}" type="pres">
      <dgm:prSet presAssocID="{F9316093-6C24-43B5-BC81-85C420CED198}" presName="Name37" presStyleLbl="parChTrans1D2" presStyleIdx="0" presStyleCnt="2"/>
      <dgm:spPr/>
    </dgm:pt>
    <dgm:pt modelId="{D25C2F51-5FDC-49A1-97F5-E539F989F1FB}" type="pres">
      <dgm:prSet presAssocID="{A607B789-786E-4FE4-AACD-3A9D00E2CC77}" presName="hierRoot2" presStyleCnt="0">
        <dgm:presLayoutVars>
          <dgm:hierBranch val="init"/>
        </dgm:presLayoutVars>
      </dgm:prSet>
      <dgm:spPr/>
    </dgm:pt>
    <dgm:pt modelId="{A761D3D1-38AD-47D8-AE5E-0661248B3D6A}" type="pres">
      <dgm:prSet presAssocID="{A607B789-786E-4FE4-AACD-3A9D00E2CC77}" presName="rootComposite" presStyleCnt="0"/>
      <dgm:spPr/>
    </dgm:pt>
    <dgm:pt modelId="{47CFCCC2-0A9C-4E2E-9C78-5FD11F5E49EF}" type="pres">
      <dgm:prSet presAssocID="{A607B789-786E-4FE4-AACD-3A9D00E2CC77}" presName="rootText" presStyleLbl="node2" presStyleIdx="0" presStyleCnt="2" custScaleX="78533" custScaleY="49384">
        <dgm:presLayoutVars>
          <dgm:chPref val="3"/>
        </dgm:presLayoutVars>
      </dgm:prSet>
      <dgm:spPr/>
    </dgm:pt>
    <dgm:pt modelId="{9459C1F1-CAA3-44A2-8D2E-79C089182CAF}" type="pres">
      <dgm:prSet presAssocID="{A607B789-786E-4FE4-AACD-3A9D00E2CC77}" presName="rootConnector" presStyleLbl="node2" presStyleIdx="0" presStyleCnt="2"/>
      <dgm:spPr/>
    </dgm:pt>
    <dgm:pt modelId="{167255B2-78E0-4925-9D51-AEA6350691D3}" type="pres">
      <dgm:prSet presAssocID="{A607B789-786E-4FE4-AACD-3A9D00E2CC77}" presName="hierChild4" presStyleCnt="0"/>
      <dgm:spPr/>
    </dgm:pt>
    <dgm:pt modelId="{CB2A7B3A-EBCA-4A3D-B57F-C19CF6174F58}" type="pres">
      <dgm:prSet presAssocID="{A607B789-786E-4FE4-AACD-3A9D00E2CC77}" presName="hierChild5" presStyleCnt="0"/>
      <dgm:spPr/>
    </dgm:pt>
    <dgm:pt modelId="{6CC1BD2F-4C52-43E5-A96B-44C1B80FF009}" type="pres">
      <dgm:prSet presAssocID="{E036B45B-4D9E-4161-AE01-41B6CCD91A5D}" presName="Name37" presStyleLbl="parChTrans1D2" presStyleIdx="1" presStyleCnt="2"/>
      <dgm:spPr/>
    </dgm:pt>
    <dgm:pt modelId="{DF5B4177-331A-4136-93AC-B14085931386}" type="pres">
      <dgm:prSet presAssocID="{29952315-0782-412A-A6FC-905C01B84A46}" presName="hierRoot2" presStyleCnt="0">
        <dgm:presLayoutVars>
          <dgm:hierBranch val="init"/>
        </dgm:presLayoutVars>
      </dgm:prSet>
      <dgm:spPr/>
    </dgm:pt>
    <dgm:pt modelId="{3E90B405-14AE-4355-A0D7-960599534161}" type="pres">
      <dgm:prSet presAssocID="{29952315-0782-412A-A6FC-905C01B84A46}" presName="rootComposite" presStyleCnt="0"/>
      <dgm:spPr/>
    </dgm:pt>
    <dgm:pt modelId="{2F0BD088-BC69-41D4-870C-F03B4CD6DCD1}" type="pres">
      <dgm:prSet presAssocID="{29952315-0782-412A-A6FC-905C01B84A46}" presName="rootText" presStyleLbl="node2" presStyleIdx="1" presStyleCnt="2" custScaleX="78533" custScaleY="49384">
        <dgm:presLayoutVars>
          <dgm:chPref val="3"/>
        </dgm:presLayoutVars>
      </dgm:prSet>
      <dgm:spPr/>
    </dgm:pt>
    <dgm:pt modelId="{51673952-E083-4CAA-9E57-B20D075028FE}" type="pres">
      <dgm:prSet presAssocID="{29952315-0782-412A-A6FC-905C01B84A46}" presName="rootConnector" presStyleLbl="node2" presStyleIdx="1" presStyleCnt="2"/>
      <dgm:spPr/>
    </dgm:pt>
    <dgm:pt modelId="{A5B2E979-203E-4763-95CE-E97BA7F0DE6A}" type="pres">
      <dgm:prSet presAssocID="{29952315-0782-412A-A6FC-905C01B84A46}" presName="hierChild4" presStyleCnt="0"/>
      <dgm:spPr/>
    </dgm:pt>
    <dgm:pt modelId="{E4EA3EEF-BAA7-4C15-A266-F3C81998E6CF}" type="pres">
      <dgm:prSet presAssocID="{29952315-0782-412A-A6FC-905C01B84A46}" presName="hierChild5" presStyleCnt="0"/>
      <dgm:spPr/>
    </dgm:pt>
    <dgm:pt modelId="{9F6064E3-ED20-473B-AE0A-DEACD90821FB}" type="pres">
      <dgm:prSet presAssocID="{41C988D5-BD70-49A8-9E0B-0CB77BB69623}" presName="hierChild3" presStyleCnt="0"/>
      <dgm:spPr/>
    </dgm:pt>
  </dgm:ptLst>
  <dgm:cxnLst>
    <dgm:cxn modelId="{43CA911C-8386-4B03-B789-18F45609C892}" type="presOf" srcId="{0C500EF4-6476-42A2-A1BC-B038BBD79C3C}" destId="{A6C45237-F2BD-4FF6-9E1D-A9E7509ADDCA}" srcOrd="0" destOrd="0" presId="urn:microsoft.com/office/officeart/2005/8/layout/orgChart1"/>
    <dgm:cxn modelId="{E9655A4A-0AFC-4B1D-B01D-BF3A9DDE1AC7}" type="presOf" srcId="{A607B789-786E-4FE4-AACD-3A9D00E2CC77}" destId="{47CFCCC2-0A9C-4E2E-9C78-5FD11F5E49EF}" srcOrd="0" destOrd="0" presId="urn:microsoft.com/office/officeart/2005/8/layout/orgChart1"/>
    <dgm:cxn modelId="{9668A36F-5B4D-450F-A704-3EEE619BD1DE}" srcId="{41C988D5-BD70-49A8-9E0B-0CB77BB69623}" destId="{29952315-0782-412A-A6FC-905C01B84A46}" srcOrd="1" destOrd="0" parTransId="{E036B45B-4D9E-4161-AE01-41B6CCD91A5D}" sibTransId="{CC79312F-D309-4C63-9C41-F025B2D0E905}"/>
    <dgm:cxn modelId="{3945D650-C030-47D9-8120-ED187489483E}" type="presOf" srcId="{29952315-0782-412A-A6FC-905C01B84A46}" destId="{51673952-E083-4CAA-9E57-B20D075028FE}" srcOrd="1" destOrd="0" presId="urn:microsoft.com/office/officeart/2005/8/layout/orgChart1"/>
    <dgm:cxn modelId="{B4375371-E87B-4661-A1F8-8C7CDE0EA42D}" type="presOf" srcId="{F9316093-6C24-43B5-BC81-85C420CED198}" destId="{4A366E34-D581-47C5-9AFC-9A7E82CB2E3C}" srcOrd="0" destOrd="0" presId="urn:microsoft.com/office/officeart/2005/8/layout/orgChart1"/>
    <dgm:cxn modelId="{7298DA8C-1AB4-44D9-AB88-842DD44E8B09}" type="presOf" srcId="{29952315-0782-412A-A6FC-905C01B84A46}" destId="{2F0BD088-BC69-41D4-870C-F03B4CD6DCD1}" srcOrd="0" destOrd="0" presId="urn:microsoft.com/office/officeart/2005/8/layout/orgChart1"/>
    <dgm:cxn modelId="{E4743D94-17C1-4E7A-AD4C-2C49504389AE}" type="presOf" srcId="{41C988D5-BD70-49A8-9E0B-0CB77BB69623}" destId="{D974179B-B22F-46BC-B1DC-76FC402D3C22}" srcOrd="0" destOrd="0" presId="urn:microsoft.com/office/officeart/2005/8/layout/orgChart1"/>
    <dgm:cxn modelId="{184168A4-0236-4F35-93BB-A1DF144C5E71}" type="presOf" srcId="{41C988D5-BD70-49A8-9E0B-0CB77BB69623}" destId="{678C35C2-3A2A-43CF-B28A-D12035C5D519}" srcOrd="1" destOrd="0" presId="urn:microsoft.com/office/officeart/2005/8/layout/orgChart1"/>
    <dgm:cxn modelId="{DDE817C0-43CB-4D7E-A413-77F0CA2F1A84}" srcId="{41C988D5-BD70-49A8-9E0B-0CB77BB69623}" destId="{A607B789-786E-4FE4-AACD-3A9D00E2CC77}" srcOrd="0" destOrd="0" parTransId="{F9316093-6C24-43B5-BC81-85C420CED198}" sibTransId="{1B9408E1-4EAD-40A4-82D5-AF2418915CA6}"/>
    <dgm:cxn modelId="{E5F9EFC1-55F4-4859-BECE-DD69C233262A}" type="presOf" srcId="{E036B45B-4D9E-4161-AE01-41B6CCD91A5D}" destId="{6CC1BD2F-4C52-43E5-A96B-44C1B80FF009}" srcOrd="0" destOrd="0" presId="urn:microsoft.com/office/officeart/2005/8/layout/orgChart1"/>
    <dgm:cxn modelId="{A0AF60E1-1FDF-427F-96DA-70C4FFAC5B1B}" type="presOf" srcId="{A607B789-786E-4FE4-AACD-3A9D00E2CC77}" destId="{9459C1F1-CAA3-44A2-8D2E-79C089182CAF}" srcOrd="1" destOrd="0" presId="urn:microsoft.com/office/officeart/2005/8/layout/orgChart1"/>
    <dgm:cxn modelId="{95C5C8F4-B08C-4429-A8C1-4FCF047DB1E7}" srcId="{0C500EF4-6476-42A2-A1BC-B038BBD79C3C}" destId="{41C988D5-BD70-49A8-9E0B-0CB77BB69623}" srcOrd="0" destOrd="0" parTransId="{09EA11AD-E57B-4C90-97C7-5D138772DF05}" sibTransId="{08395647-B1B3-438E-A623-6DF207EA674E}"/>
    <dgm:cxn modelId="{69942925-CC42-4A8F-8E79-E092D093BB23}" type="presParOf" srcId="{A6C45237-F2BD-4FF6-9E1D-A9E7509ADDCA}" destId="{E3F3573D-E48E-45FA-AE86-F3ABA4F2F5BB}" srcOrd="0" destOrd="0" presId="urn:microsoft.com/office/officeart/2005/8/layout/orgChart1"/>
    <dgm:cxn modelId="{CBE14F96-58FA-4065-9C67-88ED8E572B75}" type="presParOf" srcId="{E3F3573D-E48E-45FA-AE86-F3ABA4F2F5BB}" destId="{18C0331A-ACC3-44D2-B1F1-51CD07531FBA}" srcOrd="0" destOrd="0" presId="urn:microsoft.com/office/officeart/2005/8/layout/orgChart1"/>
    <dgm:cxn modelId="{F90FBEA3-80E4-42C5-A035-E13325C90F83}" type="presParOf" srcId="{18C0331A-ACC3-44D2-B1F1-51CD07531FBA}" destId="{D974179B-B22F-46BC-B1DC-76FC402D3C22}" srcOrd="0" destOrd="0" presId="urn:microsoft.com/office/officeart/2005/8/layout/orgChart1"/>
    <dgm:cxn modelId="{EBB3E1DB-F99D-4859-88A0-5D013327A961}" type="presParOf" srcId="{18C0331A-ACC3-44D2-B1F1-51CD07531FBA}" destId="{678C35C2-3A2A-43CF-B28A-D12035C5D519}" srcOrd="1" destOrd="0" presId="urn:microsoft.com/office/officeart/2005/8/layout/orgChart1"/>
    <dgm:cxn modelId="{A852D1F2-4199-49CD-9E9E-B1FA7D2C71B6}" type="presParOf" srcId="{E3F3573D-E48E-45FA-AE86-F3ABA4F2F5BB}" destId="{0F1C904C-634B-4133-9D55-7B388B2951B7}" srcOrd="1" destOrd="0" presId="urn:microsoft.com/office/officeart/2005/8/layout/orgChart1"/>
    <dgm:cxn modelId="{C14F07C5-E6EA-4581-8247-66A40C087F55}" type="presParOf" srcId="{0F1C904C-634B-4133-9D55-7B388B2951B7}" destId="{4A366E34-D581-47C5-9AFC-9A7E82CB2E3C}" srcOrd="0" destOrd="0" presId="urn:microsoft.com/office/officeart/2005/8/layout/orgChart1"/>
    <dgm:cxn modelId="{EBA87284-FA98-452A-8348-494D1588A45D}" type="presParOf" srcId="{0F1C904C-634B-4133-9D55-7B388B2951B7}" destId="{D25C2F51-5FDC-49A1-97F5-E539F989F1FB}" srcOrd="1" destOrd="0" presId="urn:microsoft.com/office/officeart/2005/8/layout/orgChart1"/>
    <dgm:cxn modelId="{ACA53BBD-A51A-45BB-8501-E517319AE947}" type="presParOf" srcId="{D25C2F51-5FDC-49A1-97F5-E539F989F1FB}" destId="{A761D3D1-38AD-47D8-AE5E-0661248B3D6A}" srcOrd="0" destOrd="0" presId="urn:microsoft.com/office/officeart/2005/8/layout/orgChart1"/>
    <dgm:cxn modelId="{7C29A56C-8010-45FE-896A-C246A2F06AF3}" type="presParOf" srcId="{A761D3D1-38AD-47D8-AE5E-0661248B3D6A}" destId="{47CFCCC2-0A9C-4E2E-9C78-5FD11F5E49EF}" srcOrd="0" destOrd="0" presId="urn:microsoft.com/office/officeart/2005/8/layout/orgChart1"/>
    <dgm:cxn modelId="{7FEE43B0-99F9-4024-B35C-43327128DAF6}" type="presParOf" srcId="{A761D3D1-38AD-47D8-AE5E-0661248B3D6A}" destId="{9459C1F1-CAA3-44A2-8D2E-79C089182CAF}" srcOrd="1" destOrd="0" presId="urn:microsoft.com/office/officeart/2005/8/layout/orgChart1"/>
    <dgm:cxn modelId="{D9A89ED6-DF3A-415C-A3D0-7D560431F0FA}" type="presParOf" srcId="{D25C2F51-5FDC-49A1-97F5-E539F989F1FB}" destId="{167255B2-78E0-4925-9D51-AEA6350691D3}" srcOrd="1" destOrd="0" presId="urn:microsoft.com/office/officeart/2005/8/layout/orgChart1"/>
    <dgm:cxn modelId="{B52BF3A5-6977-44B9-981D-D59CD7B1F171}" type="presParOf" srcId="{D25C2F51-5FDC-49A1-97F5-E539F989F1FB}" destId="{CB2A7B3A-EBCA-4A3D-B57F-C19CF6174F58}" srcOrd="2" destOrd="0" presId="urn:microsoft.com/office/officeart/2005/8/layout/orgChart1"/>
    <dgm:cxn modelId="{0D982D70-BE8D-4F9B-B538-7F82558AD2C0}" type="presParOf" srcId="{0F1C904C-634B-4133-9D55-7B388B2951B7}" destId="{6CC1BD2F-4C52-43E5-A96B-44C1B80FF009}" srcOrd="2" destOrd="0" presId="urn:microsoft.com/office/officeart/2005/8/layout/orgChart1"/>
    <dgm:cxn modelId="{79AEDDB5-5603-4192-9EDA-DE7F6CCB284F}" type="presParOf" srcId="{0F1C904C-634B-4133-9D55-7B388B2951B7}" destId="{DF5B4177-331A-4136-93AC-B14085931386}" srcOrd="3" destOrd="0" presId="urn:microsoft.com/office/officeart/2005/8/layout/orgChart1"/>
    <dgm:cxn modelId="{AB395C2E-4397-4B18-906E-31C9EF9E9DBF}" type="presParOf" srcId="{DF5B4177-331A-4136-93AC-B14085931386}" destId="{3E90B405-14AE-4355-A0D7-960599534161}" srcOrd="0" destOrd="0" presId="urn:microsoft.com/office/officeart/2005/8/layout/orgChart1"/>
    <dgm:cxn modelId="{FDA84065-5C7B-4492-94A5-458D62B72B14}" type="presParOf" srcId="{3E90B405-14AE-4355-A0D7-960599534161}" destId="{2F0BD088-BC69-41D4-870C-F03B4CD6DCD1}" srcOrd="0" destOrd="0" presId="urn:microsoft.com/office/officeart/2005/8/layout/orgChart1"/>
    <dgm:cxn modelId="{2B3D266F-7D3D-4751-A428-7125A731C8D5}" type="presParOf" srcId="{3E90B405-14AE-4355-A0D7-960599534161}" destId="{51673952-E083-4CAA-9E57-B20D075028FE}" srcOrd="1" destOrd="0" presId="urn:microsoft.com/office/officeart/2005/8/layout/orgChart1"/>
    <dgm:cxn modelId="{204CFD58-A872-460E-A1A2-923456E37042}" type="presParOf" srcId="{DF5B4177-331A-4136-93AC-B14085931386}" destId="{A5B2E979-203E-4763-95CE-E97BA7F0DE6A}" srcOrd="1" destOrd="0" presId="urn:microsoft.com/office/officeart/2005/8/layout/orgChart1"/>
    <dgm:cxn modelId="{33CE258C-882C-4E8C-9D0D-4A83B873F027}" type="presParOf" srcId="{DF5B4177-331A-4136-93AC-B14085931386}" destId="{E4EA3EEF-BAA7-4C15-A266-F3C81998E6CF}" srcOrd="2" destOrd="0" presId="urn:microsoft.com/office/officeart/2005/8/layout/orgChart1"/>
    <dgm:cxn modelId="{B64D3555-6EC4-4765-9B48-0A6267385A7E}" type="presParOf" srcId="{E3F3573D-E48E-45FA-AE86-F3ABA4F2F5BB}" destId="{9F6064E3-ED20-473B-AE0A-DEACD90821FB}"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B503B8F-ADB8-4B2E-ACF0-4C32D51FDFF4}" type="doc">
      <dgm:prSet loTypeId="urn:microsoft.com/office/officeart/2005/8/layout/cycle2" loCatId="cycle" qsTypeId="urn:microsoft.com/office/officeart/2005/8/quickstyle/simple5" qsCatId="simple" csTypeId="urn:microsoft.com/office/officeart/2005/8/colors/colorful4" csCatId="colorful" phldr="1"/>
      <dgm:spPr/>
      <dgm:t>
        <a:bodyPr/>
        <a:lstStyle/>
        <a:p>
          <a:endParaRPr lang="zh-CN" altLang="en-US"/>
        </a:p>
      </dgm:t>
    </dgm:pt>
    <dgm:pt modelId="{B0DFB638-4FC4-4955-A4D6-8EE2F4DCE952}">
      <dgm:prSet phldrT="[文本]"/>
      <dgm:spPr/>
      <dgm:t>
        <a:bodyPr anchor="t" anchorCtr="0"/>
        <a:lstStyle/>
        <a:p>
          <a:pPr>
            <a:lnSpc>
              <a:spcPct val="100000"/>
            </a:lnSpc>
            <a:spcAft>
              <a:spcPts val="0"/>
            </a:spcAft>
          </a:pPr>
          <a:r>
            <a:rPr lang="zh-CN" altLang="en-US" dirty="0"/>
            <a:t>范围</a:t>
          </a:r>
          <a:endParaRPr lang="en-US" altLang="zh-CN" dirty="0"/>
        </a:p>
        <a:p>
          <a:pPr>
            <a:lnSpc>
              <a:spcPct val="100000"/>
            </a:lnSpc>
            <a:spcAft>
              <a:spcPts val="0"/>
            </a:spcAft>
          </a:pPr>
          <a:r>
            <a:rPr lang="en-US" altLang="zh-CN" dirty="0"/>
            <a:t>Scope</a:t>
          </a:r>
          <a:endParaRPr lang="zh-CN" altLang="en-US" dirty="0"/>
        </a:p>
      </dgm:t>
    </dgm:pt>
    <dgm:pt modelId="{5AF3B8D8-8DE9-4F0C-9004-373CDED870AF}" type="parTrans" cxnId="{0869350A-7314-42BF-918D-2E6BD01F5776}">
      <dgm:prSet/>
      <dgm:spPr/>
      <dgm:t>
        <a:bodyPr/>
        <a:lstStyle/>
        <a:p>
          <a:endParaRPr lang="zh-CN" altLang="en-US"/>
        </a:p>
      </dgm:t>
    </dgm:pt>
    <dgm:pt modelId="{DF5DA457-3A23-4DF3-A65A-224247BD0DCA}" type="sibTrans" cxnId="{0869350A-7314-42BF-918D-2E6BD01F5776}">
      <dgm:prSet/>
      <dgm:spPr/>
      <dgm:t>
        <a:bodyPr/>
        <a:lstStyle/>
        <a:p>
          <a:endParaRPr lang="zh-CN" altLang="en-US"/>
        </a:p>
      </dgm:t>
    </dgm:pt>
    <dgm:pt modelId="{549136A1-80CA-4D41-8A6C-9816800711CD}">
      <dgm:prSet phldrT="[文本]" phldr="0"/>
      <dgm:spPr/>
      <dgm:t>
        <a:bodyPr anchor="t" anchorCtr="0"/>
        <a:lstStyle/>
        <a:p>
          <a:pPr>
            <a:lnSpc>
              <a:spcPct val="100000"/>
            </a:lnSpc>
            <a:spcAft>
              <a:spcPts val="0"/>
            </a:spcAft>
          </a:pPr>
          <a:r>
            <a:rPr lang="zh-CN" altLang="en-US"/>
            <a:t>时间</a:t>
          </a:r>
          <a:endParaRPr lang="en-US" altLang="zh-CN"/>
        </a:p>
        <a:p>
          <a:pPr>
            <a:lnSpc>
              <a:spcPct val="100000"/>
            </a:lnSpc>
            <a:spcAft>
              <a:spcPts val="0"/>
            </a:spcAft>
          </a:pPr>
          <a:r>
            <a:rPr lang="en-US" altLang="zh-CN"/>
            <a:t>Time</a:t>
          </a:r>
          <a:endParaRPr lang="zh-CN" altLang="en-US"/>
        </a:p>
      </dgm:t>
    </dgm:pt>
    <dgm:pt modelId="{D0396B9A-EE48-4E38-98DF-5B8862927DF7}" type="parTrans" cxnId="{524684CD-6449-4926-9B25-7936E416F902}">
      <dgm:prSet/>
      <dgm:spPr/>
      <dgm:t>
        <a:bodyPr/>
        <a:lstStyle/>
        <a:p>
          <a:endParaRPr lang="zh-CN" altLang="en-US"/>
        </a:p>
      </dgm:t>
    </dgm:pt>
    <dgm:pt modelId="{20D7630C-DC92-44AD-9A19-381E32515EFA}" type="sibTrans" cxnId="{524684CD-6449-4926-9B25-7936E416F902}">
      <dgm:prSet/>
      <dgm:spPr/>
      <dgm:t>
        <a:bodyPr/>
        <a:lstStyle/>
        <a:p>
          <a:endParaRPr lang="zh-CN" altLang="en-US"/>
        </a:p>
      </dgm:t>
    </dgm:pt>
    <dgm:pt modelId="{C73835C6-C083-4AD4-B08E-F44077B245BE}">
      <dgm:prSet phldrT="[文本]"/>
      <dgm:spPr/>
      <dgm:t>
        <a:bodyPr anchor="t" anchorCtr="0"/>
        <a:lstStyle/>
        <a:p>
          <a:pPr>
            <a:lnSpc>
              <a:spcPct val="100000"/>
            </a:lnSpc>
            <a:spcAft>
              <a:spcPts val="0"/>
            </a:spcAft>
          </a:pPr>
          <a:r>
            <a:rPr lang="zh-CN" altLang="en-US"/>
            <a:t>成本</a:t>
          </a:r>
          <a:endParaRPr lang="en-US" altLang="zh-CN"/>
        </a:p>
        <a:p>
          <a:pPr>
            <a:lnSpc>
              <a:spcPct val="100000"/>
            </a:lnSpc>
            <a:spcAft>
              <a:spcPts val="0"/>
            </a:spcAft>
          </a:pPr>
          <a:r>
            <a:rPr lang="en-US" altLang="zh-CN"/>
            <a:t>Cost</a:t>
          </a:r>
          <a:endParaRPr lang="zh-CN" altLang="en-US"/>
        </a:p>
      </dgm:t>
    </dgm:pt>
    <dgm:pt modelId="{AB31E2B7-0868-4878-B89C-A601E238E35A}" type="parTrans" cxnId="{30D97A5E-F92D-42C9-8917-4483EDBC7EF2}">
      <dgm:prSet/>
      <dgm:spPr/>
      <dgm:t>
        <a:bodyPr/>
        <a:lstStyle/>
        <a:p>
          <a:endParaRPr lang="zh-CN" altLang="en-US"/>
        </a:p>
      </dgm:t>
    </dgm:pt>
    <dgm:pt modelId="{B806725C-022D-4FB9-BC77-4DDF7FCA24E8}" type="sibTrans" cxnId="{30D97A5E-F92D-42C9-8917-4483EDBC7EF2}">
      <dgm:prSet/>
      <dgm:spPr/>
      <dgm:t>
        <a:bodyPr/>
        <a:lstStyle/>
        <a:p>
          <a:endParaRPr lang="zh-CN" altLang="en-US"/>
        </a:p>
      </dgm:t>
    </dgm:pt>
    <dgm:pt modelId="{63CB093D-4BA5-41AA-84F2-E3F7FE4FF8B9}" type="pres">
      <dgm:prSet presAssocID="{CB503B8F-ADB8-4B2E-ACF0-4C32D51FDFF4}" presName="cycle" presStyleCnt="0">
        <dgm:presLayoutVars>
          <dgm:dir/>
          <dgm:resizeHandles val="exact"/>
        </dgm:presLayoutVars>
      </dgm:prSet>
      <dgm:spPr/>
    </dgm:pt>
    <dgm:pt modelId="{DDF1A2CC-DA64-4E6D-800E-759648269836}" type="pres">
      <dgm:prSet presAssocID="{B0DFB638-4FC4-4955-A4D6-8EE2F4DCE952}" presName="node" presStyleLbl="node1" presStyleIdx="0" presStyleCnt="3">
        <dgm:presLayoutVars>
          <dgm:bulletEnabled val="1"/>
        </dgm:presLayoutVars>
      </dgm:prSet>
      <dgm:spPr/>
    </dgm:pt>
    <dgm:pt modelId="{F5AD4191-EEF8-4A65-ABCF-ECF913895E65}" type="pres">
      <dgm:prSet presAssocID="{DF5DA457-3A23-4DF3-A65A-224247BD0DCA}" presName="sibTrans" presStyleLbl="sibTrans2D1" presStyleIdx="0" presStyleCnt="3"/>
      <dgm:spPr/>
    </dgm:pt>
    <dgm:pt modelId="{CD80C70A-32EB-4897-AD1C-6B5682EA32A6}" type="pres">
      <dgm:prSet presAssocID="{DF5DA457-3A23-4DF3-A65A-224247BD0DCA}" presName="connectorText" presStyleLbl="sibTrans2D1" presStyleIdx="0" presStyleCnt="3"/>
      <dgm:spPr/>
    </dgm:pt>
    <dgm:pt modelId="{2B85E611-1B0D-45CA-B9E9-D8AD1A1F5E8C}" type="pres">
      <dgm:prSet presAssocID="{549136A1-80CA-4D41-8A6C-9816800711CD}" presName="node" presStyleLbl="node1" presStyleIdx="1" presStyleCnt="3">
        <dgm:presLayoutVars>
          <dgm:bulletEnabled val="1"/>
        </dgm:presLayoutVars>
      </dgm:prSet>
      <dgm:spPr/>
    </dgm:pt>
    <dgm:pt modelId="{03F35830-F120-48A3-87E3-609DB5DAB761}" type="pres">
      <dgm:prSet presAssocID="{20D7630C-DC92-44AD-9A19-381E32515EFA}" presName="sibTrans" presStyleLbl="sibTrans2D1" presStyleIdx="1" presStyleCnt="3"/>
      <dgm:spPr/>
    </dgm:pt>
    <dgm:pt modelId="{BF549840-9098-49D8-B50F-C5149DD3DA58}" type="pres">
      <dgm:prSet presAssocID="{20D7630C-DC92-44AD-9A19-381E32515EFA}" presName="connectorText" presStyleLbl="sibTrans2D1" presStyleIdx="1" presStyleCnt="3"/>
      <dgm:spPr/>
    </dgm:pt>
    <dgm:pt modelId="{27B9E288-AC43-406C-8A60-33F607417729}" type="pres">
      <dgm:prSet presAssocID="{C73835C6-C083-4AD4-B08E-F44077B245BE}" presName="node" presStyleLbl="node1" presStyleIdx="2" presStyleCnt="3">
        <dgm:presLayoutVars>
          <dgm:bulletEnabled val="1"/>
        </dgm:presLayoutVars>
      </dgm:prSet>
      <dgm:spPr/>
    </dgm:pt>
    <dgm:pt modelId="{657FBBAE-B7ED-45F1-AB9F-4ED5E3C6841B}" type="pres">
      <dgm:prSet presAssocID="{B806725C-022D-4FB9-BC77-4DDF7FCA24E8}" presName="sibTrans" presStyleLbl="sibTrans2D1" presStyleIdx="2" presStyleCnt="3"/>
      <dgm:spPr/>
    </dgm:pt>
    <dgm:pt modelId="{EE7251EB-8548-4F34-963E-6DED194CDE53}" type="pres">
      <dgm:prSet presAssocID="{B806725C-022D-4FB9-BC77-4DDF7FCA24E8}" presName="connectorText" presStyleLbl="sibTrans2D1" presStyleIdx="2" presStyleCnt="3"/>
      <dgm:spPr/>
    </dgm:pt>
  </dgm:ptLst>
  <dgm:cxnLst>
    <dgm:cxn modelId="{0869350A-7314-42BF-918D-2E6BD01F5776}" srcId="{CB503B8F-ADB8-4B2E-ACF0-4C32D51FDFF4}" destId="{B0DFB638-4FC4-4955-A4D6-8EE2F4DCE952}" srcOrd="0" destOrd="0" parTransId="{5AF3B8D8-8DE9-4F0C-9004-373CDED870AF}" sibTransId="{DF5DA457-3A23-4DF3-A65A-224247BD0DCA}"/>
    <dgm:cxn modelId="{1745C40D-B166-4DF9-AA86-823189577054}" type="presOf" srcId="{B0DFB638-4FC4-4955-A4D6-8EE2F4DCE952}" destId="{DDF1A2CC-DA64-4E6D-800E-759648269836}" srcOrd="0" destOrd="0" presId="urn:microsoft.com/office/officeart/2005/8/layout/cycle2"/>
    <dgm:cxn modelId="{D6ADEB25-6BC9-41F7-9162-8FE09AD9FEEB}" type="presOf" srcId="{20D7630C-DC92-44AD-9A19-381E32515EFA}" destId="{03F35830-F120-48A3-87E3-609DB5DAB761}" srcOrd="0" destOrd="0" presId="urn:microsoft.com/office/officeart/2005/8/layout/cycle2"/>
    <dgm:cxn modelId="{9B01E52B-ED80-4B07-82C2-0BC9E42F4BBE}" type="presOf" srcId="{DF5DA457-3A23-4DF3-A65A-224247BD0DCA}" destId="{F5AD4191-EEF8-4A65-ABCF-ECF913895E65}" srcOrd="0" destOrd="0" presId="urn:microsoft.com/office/officeart/2005/8/layout/cycle2"/>
    <dgm:cxn modelId="{30D97A5E-F92D-42C9-8917-4483EDBC7EF2}" srcId="{CB503B8F-ADB8-4B2E-ACF0-4C32D51FDFF4}" destId="{C73835C6-C083-4AD4-B08E-F44077B245BE}" srcOrd="2" destOrd="0" parTransId="{AB31E2B7-0868-4878-B89C-A601E238E35A}" sibTransId="{B806725C-022D-4FB9-BC77-4DDF7FCA24E8}"/>
    <dgm:cxn modelId="{3CD6CB7B-6ED3-4D14-ABB9-C33E44761EA6}" type="presOf" srcId="{20D7630C-DC92-44AD-9A19-381E32515EFA}" destId="{BF549840-9098-49D8-B50F-C5149DD3DA58}" srcOrd="1" destOrd="0" presId="urn:microsoft.com/office/officeart/2005/8/layout/cycle2"/>
    <dgm:cxn modelId="{E2264881-6549-427B-BAEE-8EE083D785A6}" type="presOf" srcId="{CB503B8F-ADB8-4B2E-ACF0-4C32D51FDFF4}" destId="{63CB093D-4BA5-41AA-84F2-E3F7FE4FF8B9}" srcOrd="0" destOrd="0" presId="urn:microsoft.com/office/officeart/2005/8/layout/cycle2"/>
    <dgm:cxn modelId="{E72100AA-600F-457C-A20A-91C094CF4CF1}" type="presOf" srcId="{DF5DA457-3A23-4DF3-A65A-224247BD0DCA}" destId="{CD80C70A-32EB-4897-AD1C-6B5682EA32A6}" srcOrd="1" destOrd="0" presId="urn:microsoft.com/office/officeart/2005/8/layout/cycle2"/>
    <dgm:cxn modelId="{524684CD-6449-4926-9B25-7936E416F902}" srcId="{CB503B8F-ADB8-4B2E-ACF0-4C32D51FDFF4}" destId="{549136A1-80CA-4D41-8A6C-9816800711CD}" srcOrd="1" destOrd="0" parTransId="{D0396B9A-EE48-4E38-98DF-5B8862927DF7}" sibTransId="{20D7630C-DC92-44AD-9A19-381E32515EFA}"/>
    <dgm:cxn modelId="{25A075E1-71FC-411B-83B5-AB43B5497967}" type="presOf" srcId="{C73835C6-C083-4AD4-B08E-F44077B245BE}" destId="{27B9E288-AC43-406C-8A60-33F607417729}" srcOrd="0" destOrd="0" presId="urn:microsoft.com/office/officeart/2005/8/layout/cycle2"/>
    <dgm:cxn modelId="{577CB4F0-B7D2-4E4A-9BFE-CEE452702C9C}" type="presOf" srcId="{B806725C-022D-4FB9-BC77-4DDF7FCA24E8}" destId="{EE7251EB-8548-4F34-963E-6DED194CDE53}" srcOrd="1" destOrd="0" presId="urn:microsoft.com/office/officeart/2005/8/layout/cycle2"/>
    <dgm:cxn modelId="{FF8D0AF7-5230-4806-8E2B-0B1F82609310}" type="presOf" srcId="{549136A1-80CA-4D41-8A6C-9816800711CD}" destId="{2B85E611-1B0D-45CA-B9E9-D8AD1A1F5E8C}" srcOrd="0" destOrd="0" presId="urn:microsoft.com/office/officeart/2005/8/layout/cycle2"/>
    <dgm:cxn modelId="{D43474FD-6498-4FB8-980F-3510CCABA922}" type="presOf" srcId="{B806725C-022D-4FB9-BC77-4DDF7FCA24E8}" destId="{657FBBAE-B7ED-45F1-AB9F-4ED5E3C6841B}" srcOrd="0" destOrd="0" presId="urn:microsoft.com/office/officeart/2005/8/layout/cycle2"/>
    <dgm:cxn modelId="{80091956-CD7B-492B-B32C-43C516DAD21C}" type="presParOf" srcId="{63CB093D-4BA5-41AA-84F2-E3F7FE4FF8B9}" destId="{DDF1A2CC-DA64-4E6D-800E-759648269836}" srcOrd="0" destOrd="0" presId="urn:microsoft.com/office/officeart/2005/8/layout/cycle2"/>
    <dgm:cxn modelId="{40914950-499C-41E1-9ACF-3470A0DD51C1}" type="presParOf" srcId="{63CB093D-4BA5-41AA-84F2-E3F7FE4FF8B9}" destId="{F5AD4191-EEF8-4A65-ABCF-ECF913895E65}" srcOrd="1" destOrd="0" presId="urn:microsoft.com/office/officeart/2005/8/layout/cycle2"/>
    <dgm:cxn modelId="{B8CCD74F-C6D4-4020-9112-E7762AB833B8}" type="presParOf" srcId="{F5AD4191-EEF8-4A65-ABCF-ECF913895E65}" destId="{CD80C70A-32EB-4897-AD1C-6B5682EA32A6}" srcOrd="0" destOrd="0" presId="urn:microsoft.com/office/officeart/2005/8/layout/cycle2"/>
    <dgm:cxn modelId="{025619D2-C4FC-47F1-AC7D-EA79A8F3C436}" type="presParOf" srcId="{63CB093D-4BA5-41AA-84F2-E3F7FE4FF8B9}" destId="{2B85E611-1B0D-45CA-B9E9-D8AD1A1F5E8C}" srcOrd="2" destOrd="0" presId="urn:microsoft.com/office/officeart/2005/8/layout/cycle2"/>
    <dgm:cxn modelId="{35566291-2418-4337-86FC-687ABDD23FEC}" type="presParOf" srcId="{63CB093D-4BA5-41AA-84F2-E3F7FE4FF8B9}" destId="{03F35830-F120-48A3-87E3-609DB5DAB761}" srcOrd="3" destOrd="0" presId="urn:microsoft.com/office/officeart/2005/8/layout/cycle2"/>
    <dgm:cxn modelId="{4C9CAD1A-E5AF-4660-B8AD-2322674C5F4E}" type="presParOf" srcId="{03F35830-F120-48A3-87E3-609DB5DAB761}" destId="{BF549840-9098-49D8-B50F-C5149DD3DA58}" srcOrd="0" destOrd="0" presId="urn:microsoft.com/office/officeart/2005/8/layout/cycle2"/>
    <dgm:cxn modelId="{D630D46B-7290-4D50-850D-082818D46CE1}" type="presParOf" srcId="{63CB093D-4BA5-41AA-84F2-E3F7FE4FF8B9}" destId="{27B9E288-AC43-406C-8A60-33F607417729}" srcOrd="4" destOrd="0" presId="urn:microsoft.com/office/officeart/2005/8/layout/cycle2"/>
    <dgm:cxn modelId="{D8E45147-AE41-42A5-BCAD-F177B020E87D}" type="presParOf" srcId="{63CB093D-4BA5-41AA-84F2-E3F7FE4FF8B9}" destId="{657FBBAE-B7ED-45F1-AB9F-4ED5E3C6841B}" srcOrd="5" destOrd="0" presId="urn:microsoft.com/office/officeart/2005/8/layout/cycle2"/>
    <dgm:cxn modelId="{4D34C7DC-394D-4F44-8305-AF5CE6073310}" type="presParOf" srcId="{657FBBAE-B7ED-45F1-AB9F-4ED5E3C6841B}" destId="{EE7251EB-8548-4F34-963E-6DED194CDE53}"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CB503B8F-ADB8-4B2E-ACF0-4C32D51FDFF4}" type="doc">
      <dgm:prSet loTypeId="urn:microsoft.com/office/officeart/2005/8/layout/cycle2" loCatId="cycle" qsTypeId="urn:microsoft.com/office/officeart/2005/8/quickstyle/simple5" qsCatId="simple" csTypeId="urn:microsoft.com/office/officeart/2005/8/colors/colorful4" csCatId="colorful" phldr="1"/>
      <dgm:spPr/>
      <dgm:t>
        <a:bodyPr/>
        <a:lstStyle/>
        <a:p>
          <a:endParaRPr lang="zh-CN" altLang="en-US"/>
        </a:p>
      </dgm:t>
    </dgm:pt>
    <dgm:pt modelId="{B0DFB638-4FC4-4955-A4D6-8EE2F4DCE952}">
      <dgm:prSet phldrT="[文本]"/>
      <dgm:spPr/>
      <dgm:t>
        <a:bodyPr anchor="t" anchorCtr="0"/>
        <a:lstStyle/>
        <a:p>
          <a:pPr>
            <a:lnSpc>
              <a:spcPct val="100000"/>
            </a:lnSpc>
            <a:spcAft>
              <a:spcPts val="0"/>
            </a:spcAft>
          </a:pPr>
          <a:r>
            <a:rPr lang="zh-CN" altLang="en-US"/>
            <a:t>范围</a:t>
          </a:r>
          <a:endParaRPr lang="en-US" altLang="zh-CN" dirty="0"/>
        </a:p>
        <a:p>
          <a:pPr>
            <a:lnSpc>
              <a:spcPct val="100000"/>
            </a:lnSpc>
            <a:spcAft>
              <a:spcPts val="0"/>
            </a:spcAft>
          </a:pPr>
          <a:r>
            <a:rPr lang="en-US" altLang="zh-CN" dirty="0"/>
            <a:t>Scope</a:t>
          </a:r>
          <a:endParaRPr lang="zh-CN" altLang="en-US" dirty="0"/>
        </a:p>
      </dgm:t>
    </dgm:pt>
    <dgm:pt modelId="{5AF3B8D8-8DE9-4F0C-9004-373CDED870AF}" type="parTrans" cxnId="{0869350A-7314-42BF-918D-2E6BD01F5776}">
      <dgm:prSet/>
      <dgm:spPr/>
      <dgm:t>
        <a:bodyPr/>
        <a:lstStyle/>
        <a:p>
          <a:endParaRPr lang="zh-CN" altLang="en-US"/>
        </a:p>
      </dgm:t>
    </dgm:pt>
    <dgm:pt modelId="{DF5DA457-3A23-4DF3-A65A-224247BD0DCA}" type="sibTrans" cxnId="{0869350A-7314-42BF-918D-2E6BD01F5776}">
      <dgm:prSet/>
      <dgm:spPr/>
      <dgm:t>
        <a:bodyPr/>
        <a:lstStyle/>
        <a:p>
          <a:endParaRPr lang="zh-CN" altLang="en-US"/>
        </a:p>
      </dgm:t>
    </dgm:pt>
    <dgm:pt modelId="{549136A1-80CA-4D41-8A6C-9816800711CD}">
      <dgm:prSet phldrT="[文本]" phldr="0"/>
      <dgm:spPr/>
      <dgm:t>
        <a:bodyPr anchor="t" anchorCtr="0"/>
        <a:lstStyle/>
        <a:p>
          <a:pPr>
            <a:lnSpc>
              <a:spcPct val="100000"/>
            </a:lnSpc>
            <a:spcAft>
              <a:spcPts val="0"/>
            </a:spcAft>
          </a:pPr>
          <a:r>
            <a:rPr lang="zh-CN" altLang="en-US"/>
            <a:t>时间</a:t>
          </a:r>
          <a:endParaRPr lang="en-US" altLang="zh-CN"/>
        </a:p>
        <a:p>
          <a:pPr>
            <a:lnSpc>
              <a:spcPct val="100000"/>
            </a:lnSpc>
            <a:spcAft>
              <a:spcPts val="0"/>
            </a:spcAft>
          </a:pPr>
          <a:r>
            <a:rPr lang="en-US" altLang="zh-CN"/>
            <a:t>Time</a:t>
          </a:r>
          <a:endParaRPr lang="zh-CN" altLang="en-US"/>
        </a:p>
      </dgm:t>
    </dgm:pt>
    <dgm:pt modelId="{D0396B9A-EE48-4E38-98DF-5B8862927DF7}" type="parTrans" cxnId="{524684CD-6449-4926-9B25-7936E416F902}">
      <dgm:prSet/>
      <dgm:spPr/>
      <dgm:t>
        <a:bodyPr/>
        <a:lstStyle/>
        <a:p>
          <a:endParaRPr lang="zh-CN" altLang="en-US"/>
        </a:p>
      </dgm:t>
    </dgm:pt>
    <dgm:pt modelId="{20D7630C-DC92-44AD-9A19-381E32515EFA}" type="sibTrans" cxnId="{524684CD-6449-4926-9B25-7936E416F902}">
      <dgm:prSet/>
      <dgm:spPr/>
      <dgm:t>
        <a:bodyPr/>
        <a:lstStyle/>
        <a:p>
          <a:endParaRPr lang="zh-CN" altLang="en-US"/>
        </a:p>
      </dgm:t>
    </dgm:pt>
    <dgm:pt modelId="{C73835C6-C083-4AD4-B08E-F44077B245BE}">
      <dgm:prSet phldrT="[文本]"/>
      <dgm:spPr/>
      <dgm:t>
        <a:bodyPr anchor="t" anchorCtr="0"/>
        <a:lstStyle/>
        <a:p>
          <a:pPr>
            <a:lnSpc>
              <a:spcPct val="100000"/>
            </a:lnSpc>
            <a:spcAft>
              <a:spcPts val="0"/>
            </a:spcAft>
          </a:pPr>
          <a:r>
            <a:rPr lang="zh-CN" altLang="en-US"/>
            <a:t>成本</a:t>
          </a:r>
          <a:endParaRPr lang="en-US" altLang="zh-CN"/>
        </a:p>
        <a:p>
          <a:pPr>
            <a:lnSpc>
              <a:spcPct val="100000"/>
            </a:lnSpc>
            <a:spcAft>
              <a:spcPts val="0"/>
            </a:spcAft>
          </a:pPr>
          <a:r>
            <a:rPr lang="en-US" altLang="zh-CN"/>
            <a:t>Cost</a:t>
          </a:r>
          <a:endParaRPr lang="zh-CN" altLang="en-US"/>
        </a:p>
      </dgm:t>
    </dgm:pt>
    <dgm:pt modelId="{AB31E2B7-0868-4878-B89C-A601E238E35A}" type="parTrans" cxnId="{30D97A5E-F92D-42C9-8917-4483EDBC7EF2}">
      <dgm:prSet/>
      <dgm:spPr/>
      <dgm:t>
        <a:bodyPr/>
        <a:lstStyle/>
        <a:p>
          <a:endParaRPr lang="zh-CN" altLang="en-US"/>
        </a:p>
      </dgm:t>
    </dgm:pt>
    <dgm:pt modelId="{B806725C-022D-4FB9-BC77-4DDF7FCA24E8}" type="sibTrans" cxnId="{30D97A5E-F92D-42C9-8917-4483EDBC7EF2}">
      <dgm:prSet/>
      <dgm:spPr/>
      <dgm:t>
        <a:bodyPr/>
        <a:lstStyle/>
        <a:p>
          <a:endParaRPr lang="zh-CN" altLang="en-US"/>
        </a:p>
      </dgm:t>
    </dgm:pt>
    <dgm:pt modelId="{63CB093D-4BA5-41AA-84F2-E3F7FE4FF8B9}" type="pres">
      <dgm:prSet presAssocID="{CB503B8F-ADB8-4B2E-ACF0-4C32D51FDFF4}" presName="cycle" presStyleCnt="0">
        <dgm:presLayoutVars>
          <dgm:dir/>
          <dgm:resizeHandles val="exact"/>
        </dgm:presLayoutVars>
      </dgm:prSet>
      <dgm:spPr/>
    </dgm:pt>
    <dgm:pt modelId="{DDF1A2CC-DA64-4E6D-800E-759648269836}" type="pres">
      <dgm:prSet presAssocID="{B0DFB638-4FC4-4955-A4D6-8EE2F4DCE952}" presName="node" presStyleLbl="node1" presStyleIdx="0" presStyleCnt="3">
        <dgm:presLayoutVars>
          <dgm:bulletEnabled val="1"/>
        </dgm:presLayoutVars>
      </dgm:prSet>
      <dgm:spPr/>
    </dgm:pt>
    <dgm:pt modelId="{F5AD4191-EEF8-4A65-ABCF-ECF913895E65}" type="pres">
      <dgm:prSet presAssocID="{DF5DA457-3A23-4DF3-A65A-224247BD0DCA}" presName="sibTrans" presStyleLbl="sibTrans2D1" presStyleIdx="0" presStyleCnt="3"/>
      <dgm:spPr/>
    </dgm:pt>
    <dgm:pt modelId="{CD80C70A-32EB-4897-AD1C-6B5682EA32A6}" type="pres">
      <dgm:prSet presAssocID="{DF5DA457-3A23-4DF3-A65A-224247BD0DCA}" presName="connectorText" presStyleLbl="sibTrans2D1" presStyleIdx="0" presStyleCnt="3"/>
      <dgm:spPr/>
    </dgm:pt>
    <dgm:pt modelId="{2B85E611-1B0D-45CA-B9E9-D8AD1A1F5E8C}" type="pres">
      <dgm:prSet presAssocID="{549136A1-80CA-4D41-8A6C-9816800711CD}" presName="node" presStyleLbl="node1" presStyleIdx="1" presStyleCnt="3">
        <dgm:presLayoutVars>
          <dgm:bulletEnabled val="1"/>
        </dgm:presLayoutVars>
      </dgm:prSet>
      <dgm:spPr/>
    </dgm:pt>
    <dgm:pt modelId="{03F35830-F120-48A3-87E3-609DB5DAB761}" type="pres">
      <dgm:prSet presAssocID="{20D7630C-DC92-44AD-9A19-381E32515EFA}" presName="sibTrans" presStyleLbl="sibTrans2D1" presStyleIdx="1" presStyleCnt="3"/>
      <dgm:spPr/>
    </dgm:pt>
    <dgm:pt modelId="{BF549840-9098-49D8-B50F-C5149DD3DA58}" type="pres">
      <dgm:prSet presAssocID="{20D7630C-DC92-44AD-9A19-381E32515EFA}" presName="connectorText" presStyleLbl="sibTrans2D1" presStyleIdx="1" presStyleCnt="3"/>
      <dgm:spPr/>
    </dgm:pt>
    <dgm:pt modelId="{27B9E288-AC43-406C-8A60-33F607417729}" type="pres">
      <dgm:prSet presAssocID="{C73835C6-C083-4AD4-B08E-F44077B245BE}" presName="node" presStyleLbl="node1" presStyleIdx="2" presStyleCnt="3">
        <dgm:presLayoutVars>
          <dgm:bulletEnabled val="1"/>
        </dgm:presLayoutVars>
      </dgm:prSet>
      <dgm:spPr/>
    </dgm:pt>
    <dgm:pt modelId="{657FBBAE-B7ED-45F1-AB9F-4ED5E3C6841B}" type="pres">
      <dgm:prSet presAssocID="{B806725C-022D-4FB9-BC77-4DDF7FCA24E8}" presName="sibTrans" presStyleLbl="sibTrans2D1" presStyleIdx="2" presStyleCnt="3"/>
      <dgm:spPr/>
    </dgm:pt>
    <dgm:pt modelId="{EE7251EB-8548-4F34-963E-6DED194CDE53}" type="pres">
      <dgm:prSet presAssocID="{B806725C-022D-4FB9-BC77-4DDF7FCA24E8}" presName="connectorText" presStyleLbl="sibTrans2D1" presStyleIdx="2" presStyleCnt="3"/>
      <dgm:spPr/>
    </dgm:pt>
  </dgm:ptLst>
  <dgm:cxnLst>
    <dgm:cxn modelId="{0869350A-7314-42BF-918D-2E6BD01F5776}" srcId="{CB503B8F-ADB8-4B2E-ACF0-4C32D51FDFF4}" destId="{B0DFB638-4FC4-4955-A4D6-8EE2F4DCE952}" srcOrd="0" destOrd="0" parTransId="{5AF3B8D8-8DE9-4F0C-9004-373CDED870AF}" sibTransId="{DF5DA457-3A23-4DF3-A65A-224247BD0DCA}"/>
    <dgm:cxn modelId="{1745C40D-B166-4DF9-AA86-823189577054}" type="presOf" srcId="{B0DFB638-4FC4-4955-A4D6-8EE2F4DCE952}" destId="{DDF1A2CC-DA64-4E6D-800E-759648269836}" srcOrd="0" destOrd="0" presId="urn:microsoft.com/office/officeart/2005/8/layout/cycle2"/>
    <dgm:cxn modelId="{D6ADEB25-6BC9-41F7-9162-8FE09AD9FEEB}" type="presOf" srcId="{20D7630C-DC92-44AD-9A19-381E32515EFA}" destId="{03F35830-F120-48A3-87E3-609DB5DAB761}" srcOrd="0" destOrd="0" presId="urn:microsoft.com/office/officeart/2005/8/layout/cycle2"/>
    <dgm:cxn modelId="{9B01E52B-ED80-4B07-82C2-0BC9E42F4BBE}" type="presOf" srcId="{DF5DA457-3A23-4DF3-A65A-224247BD0DCA}" destId="{F5AD4191-EEF8-4A65-ABCF-ECF913895E65}" srcOrd="0" destOrd="0" presId="urn:microsoft.com/office/officeart/2005/8/layout/cycle2"/>
    <dgm:cxn modelId="{30D97A5E-F92D-42C9-8917-4483EDBC7EF2}" srcId="{CB503B8F-ADB8-4B2E-ACF0-4C32D51FDFF4}" destId="{C73835C6-C083-4AD4-B08E-F44077B245BE}" srcOrd="2" destOrd="0" parTransId="{AB31E2B7-0868-4878-B89C-A601E238E35A}" sibTransId="{B806725C-022D-4FB9-BC77-4DDF7FCA24E8}"/>
    <dgm:cxn modelId="{3CD6CB7B-6ED3-4D14-ABB9-C33E44761EA6}" type="presOf" srcId="{20D7630C-DC92-44AD-9A19-381E32515EFA}" destId="{BF549840-9098-49D8-B50F-C5149DD3DA58}" srcOrd="1" destOrd="0" presId="urn:microsoft.com/office/officeart/2005/8/layout/cycle2"/>
    <dgm:cxn modelId="{E2264881-6549-427B-BAEE-8EE083D785A6}" type="presOf" srcId="{CB503B8F-ADB8-4B2E-ACF0-4C32D51FDFF4}" destId="{63CB093D-4BA5-41AA-84F2-E3F7FE4FF8B9}" srcOrd="0" destOrd="0" presId="urn:microsoft.com/office/officeart/2005/8/layout/cycle2"/>
    <dgm:cxn modelId="{E72100AA-600F-457C-A20A-91C094CF4CF1}" type="presOf" srcId="{DF5DA457-3A23-4DF3-A65A-224247BD0DCA}" destId="{CD80C70A-32EB-4897-AD1C-6B5682EA32A6}" srcOrd="1" destOrd="0" presId="urn:microsoft.com/office/officeart/2005/8/layout/cycle2"/>
    <dgm:cxn modelId="{524684CD-6449-4926-9B25-7936E416F902}" srcId="{CB503B8F-ADB8-4B2E-ACF0-4C32D51FDFF4}" destId="{549136A1-80CA-4D41-8A6C-9816800711CD}" srcOrd="1" destOrd="0" parTransId="{D0396B9A-EE48-4E38-98DF-5B8862927DF7}" sibTransId="{20D7630C-DC92-44AD-9A19-381E32515EFA}"/>
    <dgm:cxn modelId="{25A075E1-71FC-411B-83B5-AB43B5497967}" type="presOf" srcId="{C73835C6-C083-4AD4-B08E-F44077B245BE}" destId="{27B9E288-AC43-406C-8A60-33F607417729}" srcOrd="0" destOrd="0" presId="urn:microsoft.com/office/officeart/2005/8/layout/cycle2"/>
    <dgm:cxn modelId="{577CB4F0-B7D2-4E4A-9BFE-CEE452702C9C}" type="presOf" srcId="{B806725C-022D-4FB9-BC77-4DDF7FCA24E8}" destId="{EE7251EB-8548-4F34-963E-6DED194CDE53}" srcOrd="1" destOrd="0" presId="urn:microsoft.com/office/officeart/2005/8/layout/cycle2"/>
    <dgm:cxn modelId="{FF8D0AF7-5230-4806-8E2B-0B1F82609310}" type="presOf" srcId="{549136A1-80CA-4D41-8A6C-9816800711CD}" destId="{2B85E611-1B0D-45CA-B9E9-D8AD1A1F5E8C}" srcOrd="0" destOrd="0" presId="urn:microsoft.com/office/officeart/2005/8/layout/cycle2"/>
    <dgm:cxn modelId="{D43474FD-6498-4FB8-980F-3510CCABA922}" type="presOf" srcId="{B806725C-022D-4FB9-BC77-4DDF7FCA24E8}" destId="{657FBBAE-B7ED-45F1-AB9F-4ED5E3C6841B}" srcOrd="0" destOrd="0" presId="urn:microsoft.com/office/officeart/2005/8/layout/cycle2"/>
    <dgm:cxn modelId="{80091956-CD7B-492B-B32C-43C516DAD21C}" type="presParOf" srcId="{63CB093D-4BA5-41AA-84F2-E3F7FE4FF8B9}" destId="{DDF1A2CC-DA64-4E6D-800E-759648269836}" srcOrd="0" destOrd="0" presId="urn:microsoft.com/office/officeart/2005/8/layout/cycle2"/>
    <dgm:cxn modelId="{40914950-499C-41E1-9ACF-3470A0DD51C1}" type="presParOf" srcId="{63CB093D-4BA5-41AA-84F2-E3F7FE4FF8B9}" destId="{F5AD4191-EEF8-4A65-ABCF-ECF913895E65}" srcOrd="1" destOrd="0" presId="urn:microsoft.com/office/officeart/2005/8/layout/cycle2"/>
    <dgm:cxn modelId="{B8CCD74F-C6D4-4020-9112-E7762AB833B8}" type="presParOf" srcId="{F5AD4191-EEF8-4A65-ABCF-ECF913895E65}" destId="{CD80C70A-32EB-4897-AD1C-6B5682EA32A6}" srcOrd="0" destOrd="0" presId="urn:microsoft.com/office/officeart/2005/8/layout/cycle2"/>
    <dgm:cxn modelId="{025619D2-C4FC-47F1-AC7D-EA79A8F3C436}" type="presParOf" srcId="{63CB093D-4BA5-41AA-84F2-E3F7FE4FF8B9}" destId="{2B85E611-1B0D-45CA-B9E9-D8AD1A1F5E8C}" srcOrd="2" destOrd="0" presId="urn:microsoft.com/office/officeart/2005/8/layout/cycle2"/>
    <dgm:cxn modelId="{35566291-2418-4337-86FC-687ABDD23FEC}" type="presParOf" srcId="{63CB093D-4BA5-41AA-84F2-E3F7FE4FF8B9}" destId="{03F35830-F120-48A3-87E3-609DB5DAB761}" srcOrd="3" destOrd="0" presId="urn:microsoft.com/office/officeart/2005/8/layout/cycle2"/>
    <dgm:cxn modelId="{4C9CAD1A-E5AF-4660-B8AD-2322674C5F4E}" type="presParOf" srcId="{03F35830-F120-48A3-87E3-609DB5DAB761}" destId="{BF549840-9098-49D8-B50F-C5149DD3DA58}" srcOrd="0" destOrd="0" presId="urn:microsoft.com/office/officeart/2005/8/layout/cycle2"/>
    <dgm:cxn modelId="{D630D46B-7290-4D50-850D-082818D46CE1}" type="presParOf" srcId="{63CB093D-4BA5-41AA-84F2-E3F7FE4FF8B9}" destId="{27B9E288-AC43-406C-8A60-33F607417729}" srcOrd="4" destOrd="0" presId="urn:microsoft.com/office/officeart/2005/8/layout/cycle2"/>
    <dgm:cxn modelId="{D8E45147-AE41-42A5-BCAD-F177B020E87D}" type="presParOf" srcId="{63CB093D-4BA5-41AA-84F2-E3F7FE4FF8B9}" destId="{657FBBAE-B7ED-45F1-AB9F-4ED5E3C6841B}" srcOrd="5" destOrd="0" presId="urn:microsoft.com/office/officeart/2005/8/layout/cycle2"/>
    <dgm:cxn modelId="{4D34C7DC-394D-4F44-8305-AF5CE6073310}" type="presParOf" srcId="{657FBBAE-B7ED-45F1-AB9F-4ED5E3C6841B}" destId="{EE7251EB-8548-4F34-963E-6DED194CDE53}"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63718C7F-952B-43D8-B236-C1CA17DC4DEA}" type="doc">
      <dgm:prSet loTypeId="urn:microsoft.com/office/officeart/2008/layout/RadialCluster" loCatId="cycle" qsTypeId="urn:microsoft.com/office/officeart/2005/8/quickstyle/simple1" qsCatId="simple" csTypeId="urn:microsoft.com/office/officeart/2005/8/colors/colorful5" csCatId="colorful" phldr="1"/>
      <dgm:spPr/>
      <dgm:t>
        <a:bodyPr/>
        <a:lstStyle/>
        <a:p>
          <a:endParaRPr lang="zh-CN" altLang="en-US"/>
        </a:p>
      </dgm:t>
    </dgm:pt>
    <dgm:pt modelId="{6FC8360C-7E51-4DAB-89B2-04BC7ADAC253}">
      <dgm:prSet phldrT="[文本]"/>
      <dgm:spPr>
        <a:solidFill>
          <a:schemeClr val="accent2"/>
        </a:solidFill>
        <a:ln>
          <a:noFill/>
        </a:ln>
      </dgm:spPr>
      <dgm:t>
        <a:bodyPr/>
        <a:lstStyle/>
        <a:p>
          <a:r>
            <a:rPr lang="zh-CN" altLang="en-US"/>
            <a:t>三要素</a:t>
          </a:r>
        </a:p>
      </dgm:t>
    </dgm:pt>
    <dgm:pt modelId="{DC36D7DE-CEAA-402F-B6D4-7528890B4F16}" type="parTrans" cxnId="{E151F5F8-988E-4631-A6D4-D653EB71213B}">
      <dgm:prSet/>
      <dgm:spPr/>
      <dgm:t>
        <a:bodyPr/>
        <a:lstStyle/>
        <a:p>
          <a:endParaRPr lang="zh-CN" altLang="en-US"/>
        </a:p>
      </dgm:t>
    </dgm:pt>
    <dgm:pt modelId="{05E96745-9085-415A-8CDD-7F1561D7DC43}" type="sibTrans" cxnId="{E151F5F8-988E-4631-A6D4-D653EB71213B}">
      <dgm:prSet/>
      <dgm:spPr/>
      <dgm:t>
        <a:bodyPr/>
        <a:lstStyle/>
        <a:p>
          <a:endParaRPr lang="zh-CN" altLang="en-US"/>
        </a:p>
      </dgm:t>
    </dgm:pt>
    <dgm:pt modelId="{827350E3-7C6A-4FB3-A7A5-6C2E4715A8E4}">
      <dgm:prSet phldrT="[文本]"/>
      <dgm:spPr>
        <a:ln>
          <a:noFill/>
        </a:ln>
      </dgm:spPr>
      <dgm:t>
        <a:bodyPr/>
        <a:lstStyle/>
        <a:p>
          <a:r>
            <a:rPr lang="zh-CN" altLang="en-US" dirty="0"/>
            <a:t>风险事件</a:t>
          </a:r>
        </a:p>
      </dgm:t>
    </dgm:pt>
    <dgm:pt modelId="{4138DF3B-EF2F-4337-9C4E-6928ED341584}" type="parTrans" cxnId="{9DAEBF8C-5F3C-41A9-8D83-8BBBE6CE299B}">
      <dgm:prSet/>
      <dgm:spPr/>
      <dgm:t>
        <a:bodyPr/>
        <a:lstStyle/>
        <a:p>
          <a:endParaRPr lang="zh-CN" altLang="en-US"/>
        </a:p>
      </dgm:t>
    </dgm:pt>
    <dgm:pt modelId="{EEEF473E-5984-4FA3-9523-1B08AB1ABE18}" type="sibTrans" cxnId="{9DAEBF8C-5F3C-41A9-8D83-8BBBE6CE299B}">
      <dgm:prSet/>
      <dgm:spPr/>
      <dgm:t>
        <a:bodyPr/>
        <a:lstStyle/>
        <a:p>
          <a:endParaRPr lang="zh-CN" altLang="en-US"/>
        </a:p>
      </dgm:t>
    </dgm:pt>
    <dgm:pt modelId="{BEA91E73-DE4B-4FF0-AE83-04F204EFE305}">
      <dgm:prSet phldrT="[文本]"/>
      <dgm:spPr>
        <a:ln>
          <a:noFill/>
        </a:ln>
      </dgm:spPr>
      <dgm:t>
        <a:bodyPr/>
        <a:lstStyle/>
        <a:p>
          <a:r>
            <a:rPr lang="zh-CN" altLang="en-US"/>
            <a:t>事件影响</a:t>
          </a:r>
        </a:p>
      </dgm:t>
    </dgm:pt>
    <dgm:pt modelId="{E73A7361-8B1B-4816-8D90-E3F68E536BE4}" type="parTrans" cxnId="{001F7EB0-905B-468B-8BBF-15804CD346E0}">
      <dgm:prSet/>
      <dgm:spPr/>
      <dgm:t>
        <a:bodyPr/>
        <a:lstStyle/>
        <a:p>
          <a:endParaRPr lang="zh-CN" altLang="en-US"/>
        </a:p>
      </dgm:t>
    </dgm:pt>
    <dgm:pt modelId="{DDA6C6FC-36C0-49E4-8DED-FB1BBC0B8394}" type="sibTrans" cxnId="{001F7EB0-905B-468B-8BBF-15804CD346E0}">
      <dgm:prSet/>
      <dgm:spPr/>
      <dgm:t>
        <a:bodyPr/>
        <a:lstStyle/>
        <a:p>
          <a:endParaRPr lang="zh-CN" altLang="en-US"/>
        </a:p>
      </dgm:t>
    </dgm:pt>
    <dgm:pt modelId="{DBBFE259-F8F9-4A3E-8807-4287E2AE625F}">
      <dgm:prSet phldrT="[文本]"/>
      <dgm:spPr>
        <a:ln>
          <a:noFill/>
        </a:ln>
      </dgm:spPr>
      <dgm:t>
        <a:bodyPr/>
        <a:lstStyle/>
        <a:p>
          <a:r>
            <a:rPr lang="zh-CN" altLang="en-US"/>
            <a:t>事件概率</a:t>
          </a:r>
        </a:p>
      </dgm:t>
    </dgm:pt>
    <dgm:pt modelId="{B25AF6E7-C6B6-478C-9979-6098E52ACFBE}" type="parTrans" cxnId="{0FC09938-8AA1-4A84-B7FA-4BFD2507C5F6}">
      <dgm:prSet/>
      <dgm:spPr/>
      <dgm:t>
        <a:bodyPr/>
        <a:lstStyle/>
        <a:p>
          <a:endParaRPr lang="zh-CN" altLang="en-US"/>
        </a:p>
      </dgm:t>
    </dgm:pt>
    <dgm:pt modelId="{8CEAD9E3-C60E-47A7-9033-D3328C0046D6}" type="sibTrans" cxnId="{0FC09938-8AA1-4A84-B7FA-4BFD2507C5F6}">
      <dgm:prSet/>
      <dgm:spPr/>
      <dgm:t>
        <a:bodyPr/>
        <a:lstStyle/>
        <a:p>
          <a:endParaRPr lang="zh-CN" altLang="en-US"/>
        </a:p>
      </dgm:t>
    </dgm:pt>
    <dgm:pt modelId="{007DD5EE-625A-45A9-A4C8-677BE6F5DE40}" type="pres">
      <dgm:prSet presAssocID="{63718C7F-952B-43D8-B236-C1CA17DC4DEA}" presName="Name0" presStyleCnt="0">
        <dgm:presLayoutVars>
          <dgm:chMax val="1"/>
          <dgm:chPref val="1"/>
          <dgm:dir/>
          <dgm:animOne val="branch"/>
          <dgm:animLvl val="lvl"/>
        </dgm:presLayoutVars>
      </dgm:prSet>
      <dgm:spPr/>
    </dgm:pt>
    <dgm:pt modelId="{41B71BF1-B249-465F-B120-9885501DEA83}" type="pres">
      <dgm:prSet presAssocID="{6FC8360C-7E51-4DAB-89B2-04BC7ADAC253}" presName="singleCycle" presStyleCnt="0"/>
      <dgm:spPr/>
    </dgm:pt>
    <dgm:pt modelId="{56A9159D-38C1-4756-A832-CEDDEB14E691}" type="pres">
      <dgm:prSet presAssocID="{6FC8360C-7E51-4DAB-89B2-04BC7ADAC253}" presName="singleCenter" presStyleLbl="node1" presStyleIdx="0" presStyleCnt="4" custScaleX="114017">
        <dgm:presLayoutVars>
          <dgm:chMax val="7"/>
          <dgm:chPref val="7"/>
        </dgm:presLayoutVars>
      </dgm:prSet>
      <dgm:spPr/>
    </dgm:pt>
    <dgm:pt modelId="{E036DDC7-86A9-4942-86FB-0BD5462B5B84}" type="pres">
      <dgm:prSet presAssocID="{4138DF3B-EF2F-4337-9C4E-6928ED341584}" presName="Name56" presStyleLbl="parChTrans1D2" presStyleIdx="0" presStyleCnt="3"/>
      <dgm:spPr/>
    </dgm:pt>
    <dgm:pt modelId="{4AADCF43-3232-40F4-97EF-08E0483DDA09}" type="pres">
      <dgm:prSet presAssocID="{827350E3-7C6A-4FB3-A7A5-6C2E4715A8E4}" presName="text0" presStyleLbl="node1" presStyleIdx="1" presStyleCnt="4" custScaleX="190063">
        <dgm:presLayoutVars>
          <dgm:bulletEnabled val="1"/>
        </dgm:presLayoutVars>
      </dgm:prSet>
      <dgm:spPr/>
    </dgm:pt>
    <dgm:pt modelId="{67336EBA-D51C-4A59-8645-56330AC30058}" type="pres">
      <dgm:prSet presAssocID="{E73A7361-8B1B-4816-8D90-E3F68E536BE4}" presName="Name56" presStyleLbl="parChTrans1D2" presStyleIdx="1" presStyleCnt="3"/>
      <dgm:spPr/>
    </dgm:pt>
    <dgm:pt modelId="{CF0164DC-E322-40FD-9B12-21763D0605E5}" type="pres">
      <dgm:prSet presAssocID="{BEA91E73-DE4B-4FF0-AE83-04F204EFE305}" presName="text0" presStyleLbl="node1" presStyleIdx="2" presStyleCnt="4" custScaleX="166067">
        <dgm:presLayoutVars>
          <dgm:bulletEnabled val="1"/>
        </dgm:presLayoutVars>
      </dgm:prSet>
      <dgm:spPr/>
    </dgm:pt>
    <dgm:pt modelId="{29F38271-CCB7-4FD1-AC5B-FE0118D83BDF}" type="pres">
      <dgm:prSet presAssocID="{B25AF6E7-C6B6-478C-9979-6098E52ACFBE}" presName="Name56" presStyleLbl="parChTrans1D2" presStyleIdx="2" presStyleCnt="3"/>
      <dgm:spPr/>
    </dgm:pt>
    <dgm:pt modelId="{CF146E54-6BB3-4FBC-8ADD-0B6ECF04AED9}" type="pres">
      <dgm:prSet presAssocID="{DBBFE259-F8F9-4A3E-8807-4287E2AE625F}" presName="text0" presStyleLbl="node1" presStyleIdx="3" presStyleCnt="4" custScaleX="165646">
        <dgm:presLayoutVars>
          <dgm:bulletEnabled val="1"/>
        </dgm:presLayoutVars>
      </dgm:prSet>
      <dgm:spPr/>
    </dgm:pt>
  </dgm:ptLst>
  <dgm:cxnLst>
    <dgm:cxn modelId="{0FC09938-8AA1-4A84-B7FA-4BFD2507C5F6}" srcId="{6FC8360C-7E51-4DAB-89B2-04BC7ADAC253}" destId="{DBBFE259-F8F9-4A3E-8807-4287E2AE625F}" srcOrd="2" destOrd="0" parTransId="{B25AF6E7-C6B6-478C-9979-6098E52ACFBE}" sibTransId="{8CEAD9E3-C60E-47A7-9033-D3328C0046D6}"/>
    <dgm:cxn modelId="{9FA2DD42-DF0E-4359-9342-71DC3BDCAEF9}" type="presOf" srcId="{B25AF6E7-C6B6-478C-9979-6098E52ACFBE}" destId="{29F38271-CCB7-4FD1-AC5B-FE0118D83BDF}" srcOrd="0" destOrd="0" presId="urn:microsoft.com/office/officeart/2008/layout/RadialCluster"/>
    <dgm:cxn modelId="{86FE334D-5C4A-4D79-8C1B-34D06224251A}" type="presOf" srcId="{6FC8360C-7E51-4DAB-89B2-04BC7ADAC253}" destId="{56A9159D-38C1-4756-A832-CEDDEB14E691}" srcOrd="0" destOrd="0" presId="urn:microsoft.com/office/officeart/2008/layout/RadialCluster"/>
    <dgm:cxn modelId="{9DAEBF8C-5F3C-41A9-8D83-8BBBE6CE299B}" srcId="{6FC8360C-7E51-4DAB-89B2-04BC7ADAC253}" destId="{827350E3-7C6A-4FB3-A7A5-6C2E4715A8E4}" srcOrd="0" destOrd="0" parTransId="{4138DF3B-EF2F-4337-9C4E-6928ED341584}" sibTransId="{EEEF473E-5984-4FA3-9523-1B08AB1ABE18}"/>
    <dgm:cxn modelId="{36B18EAE-A424-4777-81A5-8D1A7C9CD4C4}" type="presOf" srcId="{DBBFE259-F8F9-4A3E-8807-4287E2AE625F}" destId="{CF146E54-6BB3-4FBC-8ADD-0B6ECF04AED9}" srcOrd="0" destOrd="0" presId="urn:microsoft.com/office/officeart/2008/layout/RadialCluster"/>
    <dgm:cxn modelId="{001F7EB0-905B-468B-8BBF-15804CD346E0}" srcId="{6FC8360C-7E51-4DAB-89B2-04BC7ADAC253}" destId="{BEA91E73-DE4B-4FF0-AE83-04F204EFE305}" srcOrd="1" destOrd="0" parTransId="{E73A7361-8B1B-4816-8D90-E3F68E536BE4}" sibTransId="{DDA6C6FC-36C0-49E4-8DED-FB1BBC0B8394}"/>
    <dgm:cxn modelId="{F77779C8-FA55-403E-A037-259AFAA354C8}" type="presOf" srcId="{827350E3-7C6A-4FB3-A7A5-6C2E4715A8E4}" destId="{4AADCF43-3232-40F4-97EF-08E0483DDA09}" srcOrd="0" destOrd="0" presId="urn:microsoft.com/office/officeart/2008/layout/RadialCluster"/>
    <dgm:cxn modelId="{7BA9D4CC-DAF2-4F07-8483-AAEA2CEE4468}" type="presOf" srcId="{63718C7F-952B-43D8-B236-C1CA17DC4DEA}" destId="{007DD5EE-625A-45A9-A4C8-677BE6F5DE40}" srcOrd="0" destOrd="0" presId="urn:microsoft.com/office/officeart/2008/layout/RadialCluster"/>
    <dgm:cxn modelId="{2F94B1D3-3ECA-48A1-B885-B0C81B617DF5}" type="presOf" srcId="{4138DF3B-EF2F-4337-9C4E-6928ED341584}" destId="{E036DDC7-86A9-4942-86FB-0BD5462B5B84}" srcOrd="0" destOrd="0" presId="urn:microsoft.com/office/officeart/2008/layout/RadialCluster"/>
    <dgm:cxn modelId="{D7F705DE-B19C-420C-927E-462161A7C7C0}" type="presOf" srcId="{E73A7361-8B1B-4816-8D90-E3F68E536BE4}" destId="{67336EBA-D51C-4A59-8645-56330AC30058}" srcOrd="0" destOrd="0" presId="urn:microsoft.com/office/officeart/2008/layout/RadialCluster"/>
    <dgm:cxn modelId="{C04DF1F4-55A5-4E7B-9AB3-82165F54EE90}" type="presOf" srcId="{BEA91E73-DE4B-4FF0-AE83-04F204EFE305}" destId="{CF0164DC-E322-40FD-9B12-21763D0605E5}" srcOrd="0" destOrd="0" presId="urn:microsoft.com/office/officeart/2008/layout/RadialCluster"/>
    <dgm:cxn modelId="{E151F5F8-988E-4631-A6D4-D653EB71213B}" srcId="{63718C7F-952B-43D8-B236-C1CA17DC4DEA}" destId="{6FC8360C-7E51-4DAB-89B2-04BC7ADAC253}" srcOrd="0" destOrd="0" parTransId="{DC36D7DE-CEAA-402F-B6D4-7528890B4F16}" sibTransId="{05E96745-9085-415A-8CDD-7F1561D7DC43}"/>
    <dgm:cxn modelId="{7DFE56A7-0CC5-4E3F-81D0-AA73D29BD910}" type="presParOf" srcId="{007DD5EE-625A-45A9-A4C8-677BE6F5DE40}" destId="{41B71BF1-B249-465F-B120-9885501DEA83}" srcOrd="0" destOrd="0" presId="urn:microsoft.com/office/officeart/2008/layout/RadialCluster"/>
    <dgm:cxn modelId="{58D08A0B-92CC-41DE-803F-C59DEE8BABE2}" type="presParOf" srcId="{41B71BF1-B249-465F-B120-9885501DEA83}" destId="{56A9159D-38C1-4756-A832-CEDDEB14E691}" srcOrd="0" destOrd="0" presId="urn:microsoft.com/office/officeart/2008/layout/RadialCluster"/>
    <dgm:cxn modelId="{32EE635C-174F-4BCC-A98C-5724A1511D5C}" type="presParOf" srcId="{41B71BF1-B249-465F-B120-9885501DEA83}" destId="{E036DDC7-86A9-4942-86FB-0BD5462B5B84}" srcOrd="1" destOrd="0" presId="urn:microsoft.com/office/officeart/2008/layout/RadialCluster"/>
    <dgm:cxn modelId="{AB058D19-E31F-456E-BBDD-B5985D782157}" type="presParOf" srcId="{41B71BF1-B249-465F-B120-9885501DEA83}" destId="{4AADCF43-3232-40F4-97EF-08E0483DDA09}" srcOrd="2" destOrd="0" presId="urn:microsoft.com/office/officeart/2008/layout/RadialCluster"/>
    <dgm:cxn modelId="{80B0139C-A025-4D2B-88FE-36C6E2284339}" type="presParOf" srcId="{41B71BF1-B249-465F-B120-9885501DEA83}" destId="{67336EBA-D51C-4A59-8645-56330AC30058}" srcOrd="3" destOrd="0" presId="urn:microsoft.com/office/officeart/2008/layout/RadialCluster"/>
    <dgm:cxn modelId="{512D6268-4594-452C-9A00-9CC0CA78FE59}" type="presParOf" srcId="{41B71BF1-B249-465F-B120-9885501DEA83}" destId="{CF0164DC-E322-40FD-9B12-21763D0605E5}" srcOrd="4" destOrd="0" presId="urn:microsoft.com/office/officeart/2008/layout/RadialCluster"/>
    <dgm:cxn modelId="{C3C25C35-F89D-44C8-BDBB-4639F8278519}" type="presParOf" srcId="{41B71BF1-B249-465F-B120-9885501DEA83}" destId="{29F38271-CCB7-4FD1-AC5B-FE0118D83BDF}" srcOrd="5" destOrd="0" presId="urn:microsoft.com/office/officeart/2008/layout/RadialCluster"/>
    <dgm:cxn modelId="{69C69CAD-BB54-4892-ABF3-9D0CD31A7F07}" type="presParOf" srcId="{41B71BF1-B249-465F-B120-9885501DEA83}" destId="{CF146E54-6BB3-4FBC-8ADD-0B6ECF04AED9}" srcOrd="6" destOrd="0" presId="urn:microsoft.com/office/officeart/2008/layout/RadialCluster"/>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CB503B8F-ADB8-4B2E-ACF0-4C32D51FDFF4}" type="doc">
      <dgm:prSet loTypeId="urn:microsoft.com/office/officeart/2005/8/layout/cycle2" loCatId="cycle" qsTypeId="urn:microsoft.com/office/officeart/2005/8/quickstyle/simple5" qsCatId="simple" csTypeId="urn:microsoft.com/office/officeart/2005/8/colors/colorful4" csCatId="colorful" phldr="1"/>
      <dgm:spPr/>
      <dgm:t>
        <a:bodyPr/>
        <a:lstStyle/>
        <a:p>
          <a:endParaRPr lang="zh-CN" altLang="en-US"/>
        </a:p>
      </dgm:t>
    </dgm:pt>
    <dgm:pt modelId="{B0DFB638-4FC4-4955-A4D6-8EE2F4DCE952}">
      <dgm:prSet phldrT="[文本]"/>
      <dgm:spPr/>
      <dgm:t>
        <a:bodyPr anchor="t" anchorCtr="0"/>
        <a:lstStyle/>
        <a:p>
          <a:r>
            <a:rPr lang="en-US" altLang="zh-CN"/>
            <a:t>Scope</a:t>
          </a:r>
          <a:endParaRPr lang="zh-CN" altLang="en-US"/>
        </a:p>
      </dgm:t>
    </dgm:pt>
    <dgm:pt modelId="{5AF3B8D8-8DE9-4F0C-9004-373CDED870AF}" type="parTrans" cxnId="{0869350A-7314-42BF-918D-2E6BD01F5776}">
      <dgm:prSet/>
      <dgm:spPr/>
      <dgm:t>
        <a:bodyPr/>
        <a:lstStyle/>
        <a:p>
          <a:endParaRPr lang="zh-CN" altLang="en-US"/>
        </a:p>
      </dgm:t>
    </dgm:pt>
    <dgm:pt modelId="{DF5DA457-3A23-4DF3-A65A-224247BD0DCA}" type="sibTrans" cxnId="{0869350A-7314-42BF-918D-2E6BD01F5776}">
      <dgm:prSet/>
      <dgm:spPr/>
      <dgm:t>
        <a:bodyPr/>
        <a:lstStyle/>
        <a:p>
          <a:endParaRPr lang="zh-CN" altLang="en-US"/>
        </a:p>
      </dgm:t>
    </dgm:pt>
    <dgm:pt modelId="{549136A1-80CA-4D41-8A6C-9816800711CD}">
      <dgm:prSet phldrT="[文本]" phldr="0"/>
      <dgm:spPr/>
      <dgm:t>
        <a:bodyPr anchor="t" anchorCtr="0"/>
        <a:lstStyle/>
        <a:p>
          <a:r>
            <a:rPr lang="en-US" altLang="zh-CN"/>
            <a:t>Time</a:t>
          </a:r>
          <a:endParaRPr lang="zh-CN" altLang="en-US"/>
        </a:p>
      </dgm:t>
    </dgm:pt>
    <dgm:pt modelId="{D0396B9A-EE48-4E38-98DF-5B8862927DF7}" type="parTrans" cxnId="{524684CD-6449-4926-9B25-7936E416F902}">
      <dgm:prSet/>
      <dgm:spPr/>
      <dgm:t>
        <a:bodyPr/>
        <a:lstStyle/>
        <a:p>
          <a:endParaRPr lang="zh-CN" altLang="en-US"/>
        </a:p>
      </dgm:t>
    </dgm:pt>
    <dgm:pt modelId="{20D7630C-DC92-44AD-9A19-381E32515EFA}" type="sibTrans" cxnId="{524684CD-6449-4926-9B25-7936E416F902}">
      <dgm:prSet/>
      <dgm:spPr/>
      <dgm:t>
        <a:bodyPr/>
        <a:lstStyle/>
        <a:p>
          <a:endParaRPr lang="zh-CN" altLang="en-US"/>
        </a:p>
      </dgm:t>
    </dgm:pt>
    <dgm:pt modelId="{C73835C6-C083-4AD4-B08E-F44077B245BE}">
      <dgm:prSet phldrT="[文本]"/>
      <dgm:spPr/>
      <dgm:t>
        <a:bodyPr anchor="t" anchorCtr="0"/>
        <a:lstStyle/>
        <a:p>
          <a:r>
            <a:rPr lang="en-US" altLang="zh-CN"/>
            <a:t>Cost</a:t>
          </a:r>
          <a:endParaRPr lang="zh-CN" altLang="en-US"/>
        </a:p>
      </dgm:t>
    </dgm:pt>
    <dgm:pt modelId="{AB31E2B7-0868-4878-B89C-A601E238E35A}" type="parTrans" cxnId="{30D97A5E-F92D-42C9-8917-4483EDBC7EF2}">
      <dgm:prSet/>
      <dgm:spPr/>
      <dgm:t>
        <a:bodyPr/>
        <a:lstStyle/>
        <a:p>
          <a:endParaRPr lang="zh-CN" altLang="en-US"/>
        </a:p>
      </dgm:t>
    </dgm:pt>
    <dgm:pt modelId="{B806725C-022D-4FB9-BC77-4DDF7FCA24E8}" type="sibTrans" cxnId="{30D97A5E-F92D-42C9-8917-4483EDBC7EF2}">
      <dgm:prSet/>
      <dgm:spPr/>
      <dgm:t>
        <a:bodyPr/>
        <a:lstStyle/>
        <a:p>
          <a:endParaRPr lang="zh-CN" altLang="en-US"/>
        </a:p>
      </dgm:t>
    </dgm:pt>
    <dgm:pt modelId="{63CB093D-4BA5-41AA-84F2-E3F7FE4FF8B9}" type="pres">
      <dgm:prSet presAssocID="{CB503B8F-ADB8-4B2E-ACF0-4C32D51FDFF4}" presName="cycle" presStyleCnt="0">
        <dgm:presLayoutVars>
          <dgm:dir/>
          <dgm:resizeHandles val="exact"/>
        </dgm:presLayoutVars>
      </dgm:prSet>
      <dgm:spPr/>
    </dgm:pt>
    <dgm:pt modelId="{DDF1A2CC-DA64-4E6D-800E-759648269836}" type="pres">
      <dgm:prSet presAssocID="{B0DFB638-4FC4-4955-A4D6-8EE2F4DCE952}" presName="node" presStyleLbl="node1" presStyleIdx="0" presStyleCnt="3">
        <dgm:presLayoutVars>
          <dgm:bulletEnabled val="1"/>
        </dgm:presLayoutVars>
      </dgm:prSet>
      <dgm:spPr/>
    </dgm:pt>
    <dgm:pt modelId="{F5AD4191-EEF8-4A65-ABCF-ECF913895E65}" type="pres">
      <dgm:prSet presAssocID="{DF5DA457-3A23-4DF3-A65A-224247BD0DCA}" presName="sibTrans" presStyleLbl="sibTrans2D1" presStyleIdx="0" presStyleCnt="3"/>
      <dgm:spPr/>
    </dgm:pt>
    <dgm:pt modelId="{CD80C70A-32EB-4897-AD1C-6B5682EA32A6}" type="pres">
      <dgm:prSet presAssocID="{DF5DA457-3A23-4DF3-A65A-224247BD0DCA}" presName="connectorText" presStyleLbl="sibTrans2D1" presStyleIdx="0" presStyleCnt="3"/>
      <dgm:spPr/>
    </dgm:pt>
    <dgm:pt modelId="{2B85E611-1B0D-45CA-B9E9-D8AD1A1F5E8C}" type="pres">
      <dgm:prSet presAssocID="{549136A1-80CA-4D41-8A6C-9816800711CD}" presName="node" presStyleLbl="node1" presStyleIdx="1" presStyleCnt="3">
        <dgm:presLayoutVars>
          <dgm:bulletEnabled val="1"/>
        </dgm:presLayoutVars>
      </dgm:prSet>
      <dgm:spPr/>
    </dgm:pt>
    <dgm:pt modelId="{03F35830-F120-48A3-87E3-609DB5DAB761}" type="pres">
      <dgm:prSet presAssocID="{20D7630C-DC92-44AD-9A19-381E32515EFA}" presName="sibTrans" presStyleLbl="sibTrans2D1" presStyleIdx="1" presStyleCnt="3"/>
      <dgm:spPr/>
    </dgm:pt>
    <dgm:pt modelId="{BF549840-9098-49D8-B50F-C5149DD3DA58}" type="pres">
      <dgm:prSet presAssocID="{20D7630C-DC92-44AD-9A19-381E32515EFA}" presName="connectorText" presStyleLbl="sibTrans2D1" presStyleIdx="1" presStyleCnt="3"/>
      <dgm:spPr/>
    </dgm:pt>
    <dgm:pt modelId="{27B9E288-AC43-406C-8A60-33F607417729}" type="pres">
      <dgm:prSet presAssocID="{C73835C6-C083-4AD4-B08E-F44077B245BE}" presName="node" presStyleLbl="node1" presStyleIdx="2" presStyleCnt="3">
        <dgm:presLayoutVars>
          <dgm:bulletEnabled val="1"/>
        </dgm:presLayoutVars>
      </dgm:prSet>
      <dgm:spPr/>
    </dgm:pt>
    <dgm:pt modelId="{657FBBAE-B7ED-45F1-AB9F-4ED5E3C6841B}" type="pres">
      <dgm:prSet presAssocID="{B806725C-022D-4FB9-BC77-4DDF7FCA24E8}" presName="sibTrans" presStyleLbl="sibTrans2D1" presStyleIdx="2" presStyleCnt="3"/>
      <dgm:spPr/>
    </dgm:pt>
    <dgm:pt modelId="{EE7251EB-8548-4F34-963E-6DED194CDE53}" type="pres">
      <dgm:prSet presAssocID="{B806725C-022D-4FB9-BC77-4DDF7FCA24E8}" presName="connectorText" presStyleLbl="sibTrans2D1" presStyleIdx="2" presStyleCnt="3"/>
      <dgm:spPr/>
    </dgm:pt>
  </dgm:ptLst>
  <dgm:cxnLst>
    <dgm:cxn modelId="{0869350A-7314-42BF-918D-2E6BD01F5776}" srcId="{CB503B8F-ADB8-4B2E-ACF0-4C32D51FDFF4}" destId="{B0DFB638-4FC4-4955-A4D6-8EE2F4DCE952}" srcOrd="0" destOrd="0" parTransId="{5AF3B8D8-8DE9-4F0C-9004-373CDED870AF}" sibTransId="{DF5DA457-3A23-4DF3-A65A-224247BD0DCA}"/>
    <dgm:cxn modelId="{1745C40D-B166-4DF9-AA86-823189577054}" type="presOf" srcId="{B0DFB638-4FC4-4955-A4D6-8EE2F4DCE952}" destId="{DDF1A2CC-DA64-4E6D-800E-759648269836}" srcOrd="0" destOrd="0" presId="urn:microsoft.com/office/officeart/2005/8/layout/cycle2"/>
    <dgm:cxn modelId="{D6ADEB25-6BC9-41F7-9162-8FE09AD9FEEB}" type="presOf" srcId="{20D7630C-DC92-44AD-9A19-381E32515EFA}" destId="{03F35830-F120-48A3-87E3-609DB5DAB761}" srcOrd="0" destOrd="0" presId="urn:microsoft.com/office/officeart/2005/8/layout/cycle2"/>
    <dgm:cxn modelId="{9B01E52B-ED80-4B07-82C2-0BC9E42F4BBE}" type="presOf" srcId="{DF5DA457-3A23-4DF3-A65A-224247BD0DCA}" destId="{F5AD4191-EEF8-4A65-ABCF-ECF913895E65}" srcOrd="0" destOrd="0" presId="urn:microsoft.com/office/officeart/2005/8/layout/cycle2"/>
    <dgm:cxn modelId="{30D97A5E-F92D-42C9-8917-4483EDBC7EF2}" srcId="{CB503B8F-ADB8-4B2E-ACF0-4C32D51FDFF4}" destId="{C73835C6-C083-4AD4-B08E-F44077B245BE}" srcOrd="2" destOrd="0" parTransId="{AB31E2B7-0868-4878-B89C-A601E238E35A}" sibTransId="{B806725C-022D-4FB9-BC77-4DDF7FCA24E8}"/>
    <dgm:cxn modelId="{3CD6CB7B-6ED3-4D14-ABB9-C33E44761EA6}" type="presOf" srcId="{20D7630C-DC92-44AD-9A19-381E32515EFA}" destId="{BF549840-9098-49D8-B50F-C5149DD3DA58}" srcOrd="1" destOrd="0" presId="urn:microsoft.com/office/officeart/2005/8/layout/cycle2"/>
    <dgm:cxn modelId="{E2264881-6549-427B-BAEE-8EE083D785A6}" type="presOf" srcId="{CB503B8F-ADB8-4B2E-ACF0-4C32D51FDFF4}" destId="{63CB093D-4BA5-41AA-84F2-E3F7FE4FF8B9}" srcOrd="0" destOrd="0" presId="urn:microsoft.com/office/officeart/2005/8/layout/cycle2"/>
    <dgm:cxn modelId="{E72100AA-600F-457C-A20A-91C094CF4CF1}" type="presOf" srcId="{DF5DA457-3A23-4DF3-A65A-224247BD0DCA}" destId="{CD80C70A-32EB-4897-AD1C-6B5682EA32A6}" srcOrd="1" destOrd="0" presId="urn:microsoft.com/office/officeart/2005/8/layout/cycle2"/>
    <dgm:cxn modelId="{524684CD-6449-4926-9B25-7936E416F902}" srcId="{CB503B8F-ADB8-4B2E-ACF0-4C32D51FDFF4}" destId="{549136A1-80CA-4D41-8A6C-9816800711CD}" srcOrd="1" destOrd="0" parTransId="{D0396B9A-EE48-4E38-98DF-5B8862927DF7}" sibTransId="{20D7630C-DC92-44AD-9A19-381E32515EFA}"/>
    <dgm:cxn modelId="{25A075E1-71FC-411B-83B5-AB43B5497967}" type="presOf" srcId="{C73835C6-C083-4AD4-B08E-F44077B245BE}" destId="{27B9E288-AC43-406C-8A60-33F607417729}" srcOrd="0" destOrd="0" presId="urn:microsoft.com/office/officeart/2005/8/layout/cycle2"/>
    <dgm:cxn modelId="{577CB4F0-B7D2-4E4A-9BFE-CEE452702C9C}" type="presOf" srcId="{B806725C-022D-4FB9-BC77-4DDF7FCA24E8}" destId="{EE7251EB-8548-4F34-963E-6DED194CDE53}" srcOrd="1" destOrd="0" presId="urn:microsoft.com/office/officeart/2005/8/layout/cycle2"/>
    <dgm:cxn modelId="{FF8D0AF7-5230-4806-8E2B-0B1F82609310}" type="presOf" srcId="{549136A1-80CA-4D41-8A6C-9816800711CD}" destId="{2B85E611-1B0D-45CA-B9E9-D8AD1A1F5E8C}" srcOrd="0" destOrd="0" presId="urn:microsoft.com/office/officeart/2005/8/layout/cycle2"/>
    <dgm:cxn modelId="{D43474FD-6498-4FB8-980F-3510CCABA922}" type="presOf" srcId="{B806725C-022D-4FB9-BC77-4DDF7FCA24E8}" destId="{657FBBAE-B7ED-45F1-AB9F-4ED5E3C6841B}" srcOrd="0" destOrd="0" presId="urn:microsoft.com/office/officeart/2005/8/layout/cycle2"/>
    <dgm:cxn modelId="{80091956-CD7B-492B-B32C-43C516DAD21C}" type="presParOf" srcId="{63CB093D-4BA5-41AA-84F2-E3F7FE4FF8B9}" destId="{DDF1A2CC-DA64-4E6D-800E-759648269836}" srcOrd="0" destOrd="0" presId="urn:microsoft.com/office/officeart/2005/8/layout/cycle2"/>
    <dgm:cxn modelId="{40914950-499C-41E1-9ACF-3470A0DD51C1}" type="presParOf" srcId="{63CB093D-4BA5-41AA-84F2-E3F7FE4FF8B9}" destId="{F5AD4191-EEF8-4A65-ABCF-ECF913895E65}" srcOrd="1" destOrd="0" presId="urn:microsoft.com/office/officeart/2005/8/layout/cycle2"/>
    <dgm:cxn modelId="{B8CCD74F-C6D4-4020-9112-E7762AB833B8}" type="presParOf" srcId="{F5AD4191-EEF8-4A65-ABCF-ECF913895E65}" destId="{CD80C70A-32EB-4897-AD1C-6B5682EA32A6}" srcOrd="0" destOrd="0" presId="urn:microsoft.com/office/officeart/2005/8/layout/cycle2"/>
    <dgm:cxn modelId="{025619D2-C4FC-47F1-AC7D-EA79A8F3C436}" type="presParOf" srcId="{63CB093D-4BA5-41AA-84F2-E3F7FE4FF8B9}" destId="{2B85E611-1B0D-45CA-B9E9-D8AD1A1F5E8C}" srcOrd="2" destOrd="0" presId="urn:microsoft.com/office/officeart/2005/8/layout/cycle2"/>
    <dgm:cxn modelId="{35566291-2418-4337-86FC-687ABDD23FEC}" type="presParOf" srcId="{63CB093D-4BA5-41AA-84F2-E3F7FE4FF8B9}" destId="{03F35830-F120-48A3-87E3-609DB5DAB761}" srcOrd="3" destOrd="0" presId="urn:microsoft.com/office/officeart/2005/8/layout/cycle2"/>
    <dgm:cxn modelId="{4C9CAD1A-E5AF-4660-B8AD-2322674C5F4E}" type="presParOf" srcId="{03F35830-F120-48A3-87E3-609DB5DAB761}" destId="{BF549840-9098-49D8-B50F-C5149DD3DA58}" srcOrd="0" destOrd="0" presId="urn:microsoft.com/office/officeart/2005/8/layout/cycle2"/>
    <dgm:cxn modelId="{D630D46B-7290-4D50-850D-082818D46CE1}" type="presParOf" srcId="{63CB093D-4BA5-41AA-84F2-E3F7FE4FF8B9}" destId="{27B9E288-AC43-406C-8A60-33F607417729}" srcOrd="4" destOrd="0" presId="urn:microsoft.com/office/officeart/2005/8/layout/cycle2"/>
    <dgm:cxn modelId="{D8E45147-AE41-42A5-BCAD-F177B020E87D}" type="presParOf" srcId="{63CB093D-4BA5-41AA-84F2-E3F7FE4FF8B9}" destId="{657FBBAE-B7ED-45F1-AB9F-4ED5E3C6841B}" srcOrd="5" destOrd="0" presId="urn:microsoft.com/office/officeart/2005/8/layout/cycle2"/>
    <dgm:cxn modelId="{4D34C7DC-394D-4F44-8305-AF5CE6073310}" type="presParOf" srcId="{657FBBAE-B7ED-45F1-AB9F-4ED5E3C6841B}" destId="{EE7251EB-8548-4F34-963E-6DED194CDE53}"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F1A2CC-DA64-4E6D-800E-759648269836}">
      <dsp:nvSpPr>
        <dsp:cNvPr id="0" name=""/>
        <dsp:cNvSpPr/>
      </dsp:nvSpPr>
      <dsp:spPr>
        <a:xfrm>
          <a:off x="2574286" y="619"/>
          <a:ext cx="1332236" cy="1332236"/>
        </a:xfrm>
        <a:prstGeom prst="ellipse">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zh-CN" altLang="en-US" sz="2100" kern="1200" dirty="0"/>
            <a:t>范围</a:t>
          </a:r>
          <a:endParaRPr lang="en-US" altLang="zh-CN" sz="2100" kern="1200" dirty="0"/>
        </a:p>
        <a:p>
          <a:pPr marL="0" lvl="0" indent="0" algn="ctr" defTabSz="933450">
            <a:lnSpc>
              <a:spcPct val="90000"/>
            </a:lnSpc>
            <a:spcBef>
              <a:spcPct val="0"/>
            </a:spcBef>
            <a:spcAft>
              <a:spcPct val="35000"/>
            </a:spcAft>
            <a:buNone/>
          </a:pPr>
          <a:r>
            <a:rPr lang="en-US" altLang="zh-CN" sz="2100" kern="1200" dirty="0"/>
            <a:t>Scope</a:t>
          </a:r>
          <a:endParaRPr lang="zh-CN" altLang="en-US" sz="2100" kern="1200" dirty="0"/>
        </a:p>
      </dsp:txBody>
      <dsp:txXfrm>
        <a:off x="2769387" y="195720"/>
        <a:ext cx="942034" cy="942034"/>
      </dsp:txXfrm>
    </dsp:sp>
    <dsp:sp modelId="{F5AD4191-EEF8-4A65-ABCF-ECF913895E65}">
      <dsp:nvSpPr>
        <dsp:cNvPr id="0" name=""/>
        <dsp:cNvSpPr/>
      </dsp:nvSpPr>
      <dsp:spPr>
        <a:xfrm rot="3600000">
          <a:off x="3558399" y="1300012"/>
          <a:ext cx="354847" cy="449629"/>
        </a:xfrm>
        <a:prstGeom prst="rightArrow">
          <a:avLst>
            <a:gd name="adj1" fmla="val 60000"/>
            <a:gd name="adj2" fmla="val 5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zh-CN" altLang="en-US" sz="1700" kern="1200"/>
        </a:p>
      </dsp:txBody>
      <dsp:txXfrm>
        <a:off x="3585013" y="1343842"/>
        <a:ext cx="248393" cy="269777"/>
      </dsp:txXfrm>
    </dsp:sp>
    <dsp:sp modelId="{2B85E611-1B0D-45CA-B9E9-D8AD1A1F5E8C}">
      <dsp:nvSpPr>
        <dsp:cNvPr id="0" name=""/>
        <dsp:cNvSpPr/>
      </dsp:nvSpPr>
      <dsp:spPr>
        <a:xfrm>
          <a:off x="3575166" y="1734193"/>
          <a:ext cx="1332236" cy="1332236"/>
        </a:xfrm>
        <a:prstGeom prst="ellipse">
          <a:avLst/>
        </a:prstGeom>
        <a:gradFill rotWithShape="0">
          <a:gsLst>
            <a:gs pos="0">
              <a:schemeClr val="accent4">
                <a:hueOff val="4900445"/>
                <a:satOff val="-20388"/>
                <a:lumOff val="4804"/>
                <a:alphaOff val="0"/>
                <a:satMod val="103000"/>
                <a:lumMod val="102000"/>
                <a:tint val="94000"/>
              </a:schemeClr>
            </a:gs>
            <a:gs pos="50000">
              <a:schemeClr val="accent4">
                <a:hueOff val="4900445"/>
                <a:satOff val="-20388"/>
                <a:lumOff val="4804"/>
                <a:alphaOff val="0"/>
                <a:satMod val="110000"/>
                <a:lumMod val="100000"/>
                <a:shade val="100000"/>
              </a:schemeClr>
            </a:gs>
            <a:gs pos="100000">
              <a:schemeClr val="accent4">
                <a:hueOff val="4900445"/>
                <a:satOff val="-20388"/>
                <a:lumOff val="480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zh-CN" altLang="en-US" sz="2100" kern="1200"/>
            <a:t>时间</a:t>
          </a:r>
          <a:endParaRPr lang="en-US" altLang="zh-CN" sz="2100" kern="1200"/>
        </a:p>
        <a:p>
          <a:pPr marL="0" lvl="0" indent="0" algn="ctr" defTabSz="933450">
            <a:lnSpc>
              <a:spcPct val="90000"/>
            </a:lnSpc>
            <a:spcBef>
              <a:spcPct val="0"/>
            </a:spcBef>
            <a:spcAft>
              <a:spcPct val="35000"/>
            </a:spcAft>
            <a:buNone/>
          </a:pPr>
          <a:r>
            <a:rPr lang="en-US" altLang="zh-CN" sz="2100" kern="1200"/>
            <a:t>Time</a:t>
          </a:r>
          <a:endParaRPr lang="zh-CN" altLang="en-US" sz="2100" kern="1200"/>
        </a:p>
      </dsp:txBody>
      <dsp:txXfrm>
        <a:off x="3770267" y="1929294"/>
        <a:ext cx="942034" cy="942034"/>
      </dsp:txXfrm>
    </dsp:sp>
    <dsp:sp modelId="{03F35830-F120-48A3-87E3-609DB5DAB761}">
      <dsp:nvSpPr>
        <dsp:cNvPr id="0" name=""/>
        <dsp:cNvSpPr/>
      </dsp:nvSpPr>
      <dsp:spPr>
        <a:xfrm rot="10800000">
          <a:off x="3073024" y="2175497"/>
          <a:ext cx="354847" cy="449629"/>
        </a:xfrm>
        <a:prstGeom prst="rightArrow">
          <a:avLst>
            <a:gd name="adj1" fmla="val 60000"/>
            <a:gd name="adj2" fmla="val 50000"/>
          </a:avLst>
        </a:prstGeom>
        <a:gradFill rotWithShape="0">
          <a:gsLst>
            <a:gs pos="0">
              <a:schemeClr val="accent4">
                <a:hueOff val="4900445"/>
                <a:satOff val="-20388"/>
                <a:lumOff val="4804"/>
                <a:alphaOff val="0"/>
                <a:satMod val="103000"/>
                <a:lumMod val="102000"/>
                <a:tint val="94000"/>
              </a:schemeClr>
            </a:gs>
            <a:gs pos="50000">
              <a:schemeClr val="accent4">
                <a:hueOff val="4900445"/>
                <a:satOff val="-20388"/>
                <a:lumOff val="4804"/>
                <a:alphaOff val="0"/>
                <a:satMod val="110000"/>
                <a:lumMod val="100000"/>
                <a:shade val="100000"/>
              </a:schemeClr>
            </a:gs>
            <a:gs pos="100000">
              <a:schemeClr val="accent4">
                <a:hueOff val="4900445"/>
                <a:satOff val="-20388"/>
                <a:lumOff val="480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zh-CN" altLang="en-US" sz="1700" kern="1200"/>
        </a:p>
      </dsp:txBody>
      <dsp:txXfrm rot="10800000">
        <a:off x="3179478" y="2265423"/>
        <a:ext cx="248393" cy="269777"/>
      </dsp:txXfrm>
    </dsp:sp>
    <dsp:sp modelId="{27B9E288-AC43-406C-8A60-33F607417729}">
      <dsp:nvSpPr>
        <dsp:cNvPr id="0" name=""/>
        <dsp:cNvSpPr/>
      </dsp:nvSpPr>
      <dsp:spPr>
        <a:xfrm>
          <a:off x="1573406" y="1734193"/>
          <a:ext cx="1332236" cy="1332236"/>
        </a:xfrm>
        <a:prstGeom prst="ellipse">
          <a:avLst/>
        </a:prstGeom>
        <a:gradFill rotWithShape="0">
          <a:gsLst>
            <a:gs pos="0">
              <a:schemeClr val="accent4">
                <a:hueOff val="9800891"/>
                <a:satOff val="-40777"/>
                <a:lumOff val="9608"/>
                <a:alphaOff val="0"/>
                <a:satMod val="103000"/>
                <a:lumMod val="102000"/>
                <a:tint val="94000"/>
              </a:schemeClr>
            </a:gs>
            <a:gs pos="50000">
              <a:schemeClr val="accent4">
                <a:hueOff val="9800891"/>
                <a:satOff val="-40777"/>
                <a:lumOff val="9608"/>
                <a:alphaOff val="0"/>
                <a:satMod val="110000"/>
                <a:lumMod val="100000"/>
                <a:shade val="100000"/>
              </a:schemeClr>
            </a:gs>
            <a:gs pos="100000">
              <a:schemeClr val="accent4">
                <a:hueOff val="9800891"/>
                <a:satOff val="-40777"/>
                <a:lumOff val="960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zh-CN" altLang="en-US" sz="2100" kern="1200"/>
            <a:t>成本</a:t>
          </a:r>
          <a:endParaRPr lang="en-US" altLang="zh-CN" sz="2100" kern="1200"/>
        </a:p>
        <a:p>
          <a:pPr marL="0" lvl="0" indent="0" algn="ctr" defTabSz="933450">
            <a:lnSpc>
              <a:spcPct val="90000"/>
            </a:lnSpc>
            <a:spcBef>
              <a:spcPct val="0"/>
            </a:spcBef>
            <a:spcAft>
              <a:spcPct val="35000"/>
            </a:spcAft>
            <a:buNone/>
          </a:pPr>
          <a:r>
            <a:rPr lang="en-US" altLang="zh-CN" sz="2100" kern="1200"/>
            <a:t>Cost</a:t>
          </a:r>
          <a:endParaRPr lang="zh-CN" altLang="en-US" sz="2100" kern="1200"/>
        </a:p>
      </dsp:txBody>
      <dsp:txXfrm>
        <a:off x="1768507" y="1929294"/>
        <a:ext cx="942034" cy="942034"/>
      </dsp:txXfrm>
    </dsp:sp>
    <dsp:sp modelId="{657FBBAE-B7ED-45F1-AB9F-4ED5E3C6841B}">
      <dsp:nvSpPr>
        <dsp:cNvPr id="0" name=""/>
        <dsp:cNvSpPr/>
      </dsp:nvSpPr>
      <dsp:spPr>
        <a:xfrm rot="18000000">
          <a:off x="2557520" y="1317407"/>
          <a:ext cx="354847" cy="449629"/>
        </a:xfrm>
        <a:prstGeom prst="rightArrow">
          <a:avLst>
            <a:gd name="adj1" fmla="val 60000"/>
            <a:gd name="adj2" fmla="val 50000"/>
          </a:avLst>
        </a:prstGeom>
        <a:gradFill rotWithShape="0">
          <a:gsLst>
            <a:gs pos="0">
              <a:schemeClr val="accent4">
                <a:hueOff val="9800891"/>
                <a:satOff val="-40777"/>
                <a:lumOff val="9608"/>
                <a:alphaOff val="0"/>
                <a:satMod val="103000"/>
                <a:lumMod val="102000"/>
                <a:tint val="94000"/>
              </a:schemeClr>
            </a:gs>
            <a:gs pos="50000">
              <a:schemeClr val="accent4">
                <a:hueOff val="9800891"/>
                <a:satOff val="-40777"/>
                <a:lumOff val="9608"/>
                <a:alphaOff val="0"/>
                <a:satMod val="110000"/>
                <a:lumMod val="100000"/>
                <a:shade val="100000"/>
              </a:schemeClr>
            </a:gs>
            <a:gs pos="100000">
              <a:schemeClr val="accent4">
                <a:hueOff val="9800891"/>
                <a:satOff val="-40777"/>
                <a:lumOff val="960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zh-CN" altLang="en-US" sz="1700" kern="1200"/>
        </a:p>
      </dsp:txBody>
      <dsp:txXfrm>
        <a:off x="2584134" y="1453429"/>
        <a:ext cx="248393" cy="26977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ADF158-A952-4B9F-88F4-275DFAB1FA29}">
      <dsp:nvSpPr>
        <dsp:cNvPr id="0" name=""/>
        <dsp:cNvSpPr/>
      </dsp:nvSpPr>
      <dsp:spPr>
        <a:xfrm>
          <a:off x="10541" y="0"/>
          <a:ext cx="1633169" cy="435622"/>
        </a:xfrm>
        <a:prstGeom prst="roundRect">
          <a:avLst>
            <a:gd name="adj" fmla="val 10000"/>
          </a:avLst>
        </a:prstGeom>
        <a:solidFill>
          <a:schemeClr val="accent5">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a:t>作坊式</a:t>
          </a:r>
        </a:p>
      </dsp:txBody>
      <dsp:txXfrm>
        <a:off x="23300" y="12759"/>
        <a:ext cx="1607651" cy="410104"/>
      </dsp:txXfrm>
    </dsp:sp>
    <dsp:sp modelId="{0C32FBFE-10C4-4FF3-A267-AFC801A00F14}">
      <dsp:nvSpPr>
        <dsp:cNvPr id="0" name=""/>
        <dsp:cNvSpPr/>
      </dsp:nvSpPr>
      <dsp:spPr>
        <a:xfrm>
          <a:off x="1807027" y="15298"/>
          <a:ext cx="346231" cy="405025"/>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zh-CN" altLang="en-US" sz="1600" kern="1200"/>
        </a:p>
      </dsp:txBody>
      <dsp:txXfrm>
        <a:off x="1807027" y="96303"/>
        <a:ext cx="242362" cy="243015"/>
      </dsp:txXfrm>
    </dsp:sp>
    <dsp:sp modelId="{29D3DA87-0011-4A76-A65D-494B23BD45F4}">
      <dsp:nvSpPr>
        <dsp:cNvPr id="0" name=""/>
        <dsp:cNvSpPr/>
      </dsp:nvSpPr>
      <dsp:spPr>
        <a:xfrm>
          <a:off x="2296978" y="0"/>
          <a:ext cx="1633169" cy="435622"/>
        </a:xfrm>
        <a:prstGeom prst="roundRect">
          <a:avLst>
            <a:gd name="adj" fmla="val 10000"/>
          </a:avLst>
        </a:prstGeom>
        <a:solidFill>
          <a:schemeClr val="accent5">
            <a:hueOff val="-1689636"/>
            <a:satOff val="-4355"/>
            <a:lumOff val="-2941"/>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a:t>瀑布模型</a:t>
          </a:r>
        </a:p>
      </dsp:txBody>
      <dsp:txXfrm>
        <a:off x="2309737" y="12759"/>
        <a:ext cx="1607651" cy="410104"/>
      </dsp:txXfrm>
    </dsp:sp>
    <dsp:sp modelId="{78B75696-CB8E-4C49-ABC6-35FEF9623411}">
      <dsp:nvSpPr>
        <dsp:cNvPr id="0" name=""/>
        <dsp:cNvSpPr/>
      </dsp:nvSpPr>
      <dsp:spPr>
        <a:xfrm>
          <a:off x="4093464" y="15298"/>
          <a:ext cx="346231" cy="405025"/>
        </a:xfrm>
        <a:prstGeom prst="rightArrow">
          <a:avLst>
            <a:gd name="adj1" fmla="val 60000"/>
            <a:gd name="adj2" fmla="val 50000"/>
          </a:avLst>
        </a:prstGeom>
        <a:solidFill>
          <a:schemeClr val="accent5">
            <a:hueOff val="-2252848"/>
            <a:satOff val="-5806"/>
            <a:lumOff val="-3922"/>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zh-CN" altLang="en-US" sz="1600" kern="1200"/>
        </a:p>
      </dsp:txBody>
      <dsp:txXfrm>
        <a:off x="4093464" y="96303"/>
        <a:ext cx="242362" cy="243015"/>
      </dsp:txXfrm>
    </dsp:sp>
    <dsp:sp modelId="{E34925CE-CD92-45F4-9B3C-C0882D6C98D0}">
      <dsp:nvSpPr>
        <dsp:cNvPr id="0" name=""/>
        <dsp:cNvSpPr/>
      </dsp:nvSpPr>
      <dsp:spPr>
        <a:xfrm>
          <a:off x="4583414" y="0"/>
          <a:ext cx="1633169" cy="435622"/>
        </a:xfrm>
        <a:prstGeom prst="roundRect">
          <a:avLst>
            <a:gd name="adj" fmla="val 10000"/>
          </a:avLst>
        </a:prstGeom>
        <a:solidFill>
          <a:schemeClr val="accent5">
            <a:hueOff val="-3379271"/>
            <a:satOff val="-8710"/>
            <a:lumOff val="-5883"/>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a:t>敏捷模型</a:t>
          </a:r>
        </a:p>
      </dsp:txBody>
      <dsp:txXfrm>
        <a:off x="4596173" y="12759"/>
        <a:ext cx="1607651" cy="410104"/>
      </dsp:txXfrm>
    </dsp:sp>
    <dsp:sp modelId="{0DDC3F8B-CF94-4636-AE2B-718D5DBA7077}">
      <dsp:nvSpPr>
        <dsp:cNvPr id="0" name=""/>
        <dsp:cNvSpPr/>
      </dsp:nvSpPr>
      <dsp:spPr>
        <a:xfrm>
          <a:off x="6379900" y="15298"/>
          <a:ext cx="346231" cy="405025"/>
        </a:xfrm>
        <a:prstGeom prst="rightArrow">
          <a:avLst>
            <a:gd name="adj1" fmla="val 60000"/>
            <a:gd name="adj2" fmla="val 50000"/>
          </a:avLst>
        </a:prstGeom>
        <a:solidFill>
          <a:schemeClr val="accent5">
            <a:hueOff val="-4505695"/>
            <a:satOff val="-11613"/>
            <a:lumOff val="-7843"/>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zh-CN" altLang="en-US" sz="1600" kern="1200"/>
        </a:p>
      </dsp:txBody>
      <dsp:txXfrm>
        <a:off x="6379900" y="96303"/>
        <a:ext cx="242362" cy="243015"/>
      </dsp:txXfrm>
    </dsp:sp>
    <dsp:sp modelId="{0A97E01C-1896-44B0-9620-B2654069C781}">
      <dsp:nvSpPr>
        <dsp:cNvPr id="0" name=""/>
        <dsp:cNvSpPr/>
      </dsp:nvSpPr>
      <dsp:spPr>
        <a:xfrm>
          <a:off x="6869851" y="0"/>
          <a:ext cx="1633169" cy="435622"/>
        </a:xfrm>
        <a:prstGeom prst="roundRect">
          <a:avLst>
            <a:gd name="adj" fmla="val 10000"/>
          </a:avLst>
        </a:prstGeom>
        <a:solidFill>
          <a:schemeClr val="accent5">
            <a:hueOff val="-5068907"/>
            <a:satOff val="-13064"/>
            <a:lumOff val="-8824"/>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altLang="zh-CN" sz="1600" kern="1200"/>
            <a:t>DevOps</a:t>
          </a:r>
          <a:endParaRPr lang="zh-CN" altLang="en-US" sz="1600" kern="1200"/>
        </a:p>
      </dsp:txBody>
      <dsp:txXfrm>
        <a:off x="6882610" y="12759"/>
        <a:ext cx="1607651" cy="410104"/>
      </dsp:txXfrm>
    </dsp:sp>
    <dsp:sp modelId="{41ECFA7A-E58A-431E-B695-C2E027DF06D5}">
      <dsp:nvSpPr>
        <dsp:cNvPr id="0" name=""/>
        <dsp:cNvSpPr/>
      </dsp:nvSpPr>
      <dsp:spPr>
        <a:xfrm>
          <a:off x="8666337" y="15298"/>
          <a:ext cx="346231" cy="405025"/>
        </a:xfrm>
        <a:prstGeom prst="rightArrow">
          <a:avLst>
            <a:gd name="adj1" fmla="val 60000"/>
            <a:gd name="adj2" fmla="val 50000"/>
          </a:avLst>
        </a:prstGeom>
        <a:solidFill>
          <a:schemeClr val="accent5">
            <a:hueOff val="-6758543"/>
            <a:satOff val="-17419"/>
            <a:lumOff val="-1176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zh-CN" altLang="en-US" sz="1600" kern="1200"/>
        </a:p>
      </dsp:txBody>
      <dsp:txXfrm>
        <a:off x="8666337" y="96303"/>
        <a:ext cx="242362" cy="243015"/>
      </dsp:txXfrm>
    </dsp:sp>
    <dsp:sp modelId="{3774C801-6DD1-4DCA-AEC0-FF5F277F7766}">
      <dsp:nvSpPr>
        <dsp:cNvPr id="0" name=""/>
        <dsp:cNvSpPr/>
      </dsp:nvSpPr>
      <dsp:spPr>
        <a:xfrm>
          <a:off x="9156288" y="0"/>
          <a:ext cx="1633169" cy="435622"/>
        </a:xfrm>
        <a:prstGeom prst="roundRect">
          <a:avLst>
            <a:gd name="adj" fmla="val 10000"/>
          </a:avLst>
        </a:prstGeom>
        <a:solidFill>
          <a:schemeClr val="accent5">
            <a:hueOff val="-6758543"/>
            <a:satOff val="-17419"/>
            <a:lumOff val="-11765"/>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altLang="zh-CN" sz="1600" kern="1200"/>
            <a:t>AI</a:t>
          </a:r>
          <a:r>
            <a:rPr lang="zh-CN" altLang="en-US" sz="1600" kern="1200"/>
            <a:t>驱动模型</a:t>
          </a:r>
        </a:p>
      </dsp:txBody>
      <dsp:txXfrm>
        <a:off x="9169047" y="12759"/>
        <a:ext cx="1607651" cy="41010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55F96C-5F62-403D-B720-2827523383BB}">
      <dsp:nvSpPr>
        <dsp:cNvPr id="0" name=""/>
        <dsp:cNvSpPr/>
      </dsp:nvSpPr>
      <dsp:spPr>
        <a:xfrm>
          <a:off x="1463039" y="40639"/>
          <a:ext cx="1950720" cy="1950720"/>
        </a:xfrm>
        <a:prstGeom prst="ellipse">
          <a:avLst/>
        </a:prstGeom>
        <a:solidFill>
          <a:schemeClr val="accent2">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r>
            <a:rPr lang="zh-CN" altLang="en-US" sz="1800" kern="1200">
              <a:solidFill>
                <a:schemeClr val="bg1"/>
              </a:solidFill>
            </a:rPr>
            <a:t>快速反馈</a:t>
          </a:r>
        </a:p>
      </dsp:txBody>
      <dsp:txXfrm>
        <a:off x="1723136" y="382015"/>
        <a:ext cx="1430528" cy="877824"/>
      </dsp:txXfrm>
    </dsp:sp>
    <dsp:sp modelId="{C472F469-9BB5-4B9A-98E1-8523C6F24AA2}">
      <dsp:nvSpPr>
        <dsp:cNvPr id="0" name=""/>
        <dsp:cNvSpPr/>
      </dsp:nvSpPr>
      <dsp:spPr>
        <a:xfrm>
          <a:off x="2166924" y="1259840"/>
          <a:ext cx="1950720" cy="1950720"/>
        </a:xfrm>
        <a:prstGeom prst="ellipse">
          <a:avLst/>
        </a:prstGeom>
        <a:solidFill>
          <a:schemeClr val="accent5">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r>
            <a:rPr lang="zh-CN" altLang="en-US" sz="1800" kern="1200">
              <a:solidFill>
                <a:schemeClr val="bg1"/>
              </a:solidFill>
            </a:rPr>
            <a:t>假设简单</a:t>
          </a:r>
        </a:p>
      </dsp:txBody>
      <dsp:txXfrm>
        <a:off x="2763520" y="1763776"/>
        <a:ext cx="1170432" cy="1072896"/>
      </dsp:txXfrm>
    </dsp:sp>
    <dsp:sp modelId="{82BCCE81-EF41-4482-A478-D30C5E69613C}">
      <dsp:nvSpPr>
        <dsp:cNvPr id="0" name=""/>
        <dsp:cNvSpPr/>
      </dsp:nvSpPr>
      <dsp:spPr>
        <a:xfrm>
          <a:off x="759155" y="1259840"/>
          <a:ext cx="1950720" cy="1950720"/>
        </a:xfrm>
        <a:prstGeom prst="ellipse">
          <a:avLst/>
        </a:prstGeom>
        <a:solidFill>
          <a:schemeClr val="accent6">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r>
            <a:rPr lang="zh-CN" altLang="en-US" sz="1800" kern="1200">
              <a:solidFill>
                <a:schemeClr val="bg1"/>
              </a:solidFill>
            </a:rPr>
            <a:t>包容变化</a:t>
          </a:r>
        </a:p>
      </dsp:txBody>
      <dsp:txXfrm>
        <a:off x="942847" y="1763776"/>
        <a:ext cx="1170432" cy="107289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A210CE-E0B8-452A-AD79-866B094362ED}">
      <dsp:nvSpPr>
        <dsp:cNvPr id="0" name=""/>
        <dsp:cNvSpPr/>
      </dsp:nvSpPr>
      <dsp:spPr>
        <a:xfrm>
          <a:off x="0" y="889560"/>
          <a:ext cx="5400000" cy="453600"/>
        </a:xfrm>
        <a:prstGeom prst="rect">
          <a:avLst/>
        </a:prstGeom>
        <a:no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D02235A-25BF-4B29-9162-A7F92081A1E0}">
      <dsp:nvSpPr>
        <dsp:cNvPr id="0" name=""/>
        <dsp:cNvSpPr/>
      </dsp:nvSpPr>
      <dsp:spPr>
        <a:xfrm>
          <a:off x="270000" y="623879"/>
          <a:ext cx="3780000" cy="531360"/>
        </a:xfrm>
        <a:prstGeom prst="roundRect">
          <a:avLst/>
        </a:prstGeom>
        <a:solidFill>
          <a:schemeClr val="accent5">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875" tIns="0" rIns="142875" bIns="0" numCol="1" spcCol="1270" anchor="ctr" anchorCtr="0">
          <a:noAutofit/>
        </a:bodyPr>
        <a:lstStyle/>
        <a:p>
          <a:pPr marL="0" lvl="0" indent="0" algn="l" defTabSz="800100">
            <a:lnSpc>
              <a:spcPct val="100000"/>
            </a:lnSpc>
            <a:spcBef>
              <a:spcPts val="0"/>
            </a:spcBef>
            <a:spcAft>
              <a:spcPts val="0"/>
            </a:spcAft>
            <a:buNone/>
          </a:pPr>
          <a:r>
            <a:rPr lang="en-US" altLang="zh-CN" sz="1800" kern="1200"/>
            <a:t>Product Backlog </a:t>
          </a:r>
          <a:r>
            <a:rPr lang="zh-CN" altLang="en-US" sz="1800" kern="1200"/>
            <a:t>产品待办事项 </a:t>
          </a:r>
        </a:p>
      </dsp:txBody>
      <dsp:txXfrm>
        <a:off x="295939" y="649818"/>
        <a:ext cx="3728122" cy="479482"/>
      </dsp:txXfrm>
    </dsp:sp>
    <dsp:sp modelId="{F7F664A6-DE14-4ED8-B93A-D4F9738CC253}">
      <dsp:nvSpPr>
        <dsp:cNvPr id="0" name=""/>
        <dsp:cNvSpPr/>
      </dsp:nvSpPr>
      <dsp:spPr>
        <a:xfrm>
          <a:off x="0" y="1706040"/>
          <a:ext cx="5400000" cy="453600"/>
        </a:xfrm>
        <a:prstGeom prst="rect">
          <a:avLst/>
        </a:prstGeom>
        <a:noFill/>
        <a:ln w="12700" cap="flat" cmpd="sng" algn="ctr">
          <a:solidFill>
            <a:schemeClr val="accent5">
              <a:hueOff val="-3379271"/>
              <a:satOff val="-8710"/>
              <a:lumOff val="-5883"/>
              <a:alphaOff val="0"/>
            </a:schemeClr>
          </a:solidFill>
          <a:prstDash val="solid"/>
          <a:miter lim="800000"/>
        </a:ln>
        <a:effectLst/>
      </dsp:spPr>
      <dsp:style>
        <a:lnRef idx="2">
          <a:scrgbClr r="0" g="0" b="0"/>
        </a:lnRef>
        <a:fillRef idx="1">
          <a:scrgbClr r="0" g="0" b="0"/>
        </a:fillRef>
        <a:effectRef idx="0">
          <a:scrgbClr r="0" g="0" b="0"/>
        </a:effectRef>
        <a:fontRef idx="minor"/>
      </dsp:style>
    </dsp:sp>
    <dsp:sp modelId="{FD40A4DF-7C4E-41CE-A7B9-B01921CDC790}">
      <dsp:nvSpPr>
        <dsp:cNvPr id="0" name=""/>
        <dsp:cNvSpPr/>
      </dsp:nvSpPr>
      <dsp:spPr>
        <a:xfrm>
          <a:off x="270000" y="1440360"/>
          <a:ext cx="3780000" cy="531360"/>
        </a:xfrm>
        <a:prstGeom prst="roundRect">
          <a:avLst/>
        </a:prstGeom>
        <a:solidFill>
          <a:schemeClr val="accent5">
            <a:hueOff val="-3379271"/>
            <a:satOff val="-8710"/>
            <a:lumOff val="-5883"/>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875" tIns="0" rIns="142875" bIns="0" numCol="1" spcCol="1270" anchor="ctr" anchorCtr="0">
          <a:noAutofit/>
        </a:bodyPr>
        <a:lstStyle/>
        <a:p>
          <a:pPr marL="0" lvl="0" indent="0" algn="l" defTabSz="800100">
            <a:lnSpc>
              <a:spcPct val="100000"/>
            </a:lnSpc>
            <a:spcBef>
              <a:spcPts val="0"/>
            </a:spcBef>
            <a:spcAft>
              <a:spcPts val="0"/>
            </a:spcAft>
            <a:buNone/>
          </a:pPr>
          <a:r>
            <a:rPr lang="en-US" altLang="zh-CN" sz="1800" kern="1200"/>
            <a:t>Sprint Backlog </a:t>
          </a:r>
          <a:r>
            <a:rPr lang="zh-CN" altLang="en-US" sz="1800" kern="1200"/>
            <a:t>冲刺待办事项</a:t>
          </a:r>
        </a:p>
      </dsp:txBody>
      <dsp:txXfrm>
        <a:off x="295939" y="1466299"/>
        <a:ext cx="3728122" cy="479482"/>
      </dsp:txXfrm>
    </dsp:sp>
    <dsp:sp modelId="{44DB4402-D2FD-4BD6-9786-F158A4EC5712}">
      <dsp:nvSpPr>
        <dsp:cNvPr id="0" name=""/>
        <dsp:cNvSpPr/>
      </dsp:nvSpPr>
      <dsp:spPr>
        <a:xfrm>
          <a:off x="0" y="2522519"/>
          <a:ext cx="5400000" cy="453600"/>
        </a:xfrm>
        <a:prstGeom prst="rect">
          <a:avLst/>
        </a:prstGeom>
        <a:no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dsp:style>
    </dsp:sp>
    <dsp:sp modelId="{0CC10CEA-1E00-49BD-A38F-CC6B008709AD}">
      <dsp:nvSpPr>
        <dsp:cNvPr id="0" name=""/>
        <dsp:cNvSpPr/>
      </dsp:nvSpPr>
      <dsp:spPr>
        <a:xfrm>
          <a:off x="270000" y="2256840"/>
          <a:ext cx="3780000" cy="531360"/>
        </a:xfrm>
        <a:prstGeom prst="roundRect">
          <a:avLst/>
        </a:prstGeom>
        <a:solidFill>
          <a:schemeClr val="accent5">
            <a:hueOff val="-6758543"/>
            <a:satOff val="-17419"/>
            <a:lumOff val="-11765"/>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875" tIns="0" rIns="142875" bIns="0" numCol="1" spcCol="1270" anchor="ctr" anchorCtr="0">
          <a:noAutofit/>
        </a:bodyPr>
        <a:lstStyle/>
        <a:p>
          <a:pPr marL="0" lvl="0" indent="0" algn="l" defTabSz="800100">
            <a:lnSpc>
              <a:spcPct val="100000"/>
            </a:lnSpc>
            <a:spcBef>
              <a:spcPts val="0"/>
            </a:spcBef>
            <a:spcAft>
              <a:spcPts val="0"/>
            </a:spcAft>
            <a:buNone/>
          </a:pPr>
          <a:r>
            <a:rPr lang="en-US" altLang="zh-CN" sz="1800" kern="1200"/>
            <a:t>Increment </a:t>
          </a:r>
          <a:r>
            <a:rPr lang="zh-CN" altLang="en-US" sz="1800" kern="1200"/>
            <a:t>增量</a:t>
          </a:r>
        </a:p>
      </dsp:txBody>
      <dsp:txXfrm>
        <a:off x="295939" y="2282779"/>
        <a:ext cx="3728122" cy="47948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F1A2CC-DA64-4E6D-800E-759648269836}">
      <dsp:nvSpPr>
        <dsp:cNvPr id="0" name=""/>
        <dsp:cNvSpPr/>
      </dsp:nvSpPr>
      <dsp:spPr>
        <a:xfrm>
          <a:off x="2574286" y="619"/>
          <a:ext cx="1332236" cy="1332236"/>
        </a:xfrm>
        <a:prstGeom prst="ellipse">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7940" tIns="27940" rIns="27940" bIns="27940" numCol="1" spcCol="1270" anchor="t" anchorCtr="0">
          <a:noAutofit/>
        </a:bodyPr>
        <a:lstStyle/>
        <a:p>
          <a:pPr marL="0" lvl="0" indent="0" algn="ctr" defTabSz="977900">
            <a:lnSpc>
              <a:spcPct val="100000"/>
            </a:lnSpc>
            <a:spcBef>
              <a:spcPct val="0"/>
            </a:spcBef>
            <a:spcAft>
              <a:spcPts val="0"/>
            </a:spcAft>
            <a:buNone/>
          </a:pPr>
          <a:r>
            <a:rPr lang="zh-CN" altLang="en-US" sz="2200" kern="1200"/>
            <a:t>范围</a:t>
          </a:r>
          <a:endParaRPr lang="en-US" altLang="zh-CN" sz="2200" kern="1200" dirty="0"/>
        </a:p>
        <a:p>
          <a:pPr marL="0" lvl="0" indent="0" algn="ctr" defTabSz="977900">
            <a:lnSpc>
              <a:spcPct val="100000"/>
            </a:lnSpc>
            <a:spcBef>
              <a:spcPct val="0"/>
            </a:spcBef>
            <a:spcAft>
              <a:spcPts val="0"/>
            </a:spcAft>
            <a:buNone/>
          </a:pPr>
          <a:r>
            <a:rPr lang="en-US" altLang="zh-CN" sz="2200" kern="1200" dirty="0"/>
            <a:t>Scope</a:t>
          </a:r>
          <a:endParaRPr lang="zh-CN" altLang="en-US" sz="2200" kern="1200" dirty="0"/>
        </a:p>
      </dsp:txBody>
      <dsp:txXfrm>
        <a:off x="2769387" y="195720"/>
        <a:ext cx="942034" cy="942034"/>
      </dsp:txXfrm>
    </dsp:sp>
    <dsp:sp modelId="{F5AD4191-EEF8-4A65-ABCF-ECF913895E65}">
      <dsp:nvSpPr>
        <dsp:cNvPr id="0" name=""/>
        <dsp:cNvSpPr/>
      </dsp:nvSpPr>
      <dsp:spPr>
        <a:xfrm rot="3600000">
          <a:off x="3558399" y="1300012"/>
          <a:ext cx="354847" cy="449629"/>
        </a:xfrm>
        <a:prstGeom prst="rightArrow">
          <a:avLst>
            <a:gd name="adj1" fmla="val 60000"/>
            <a:gd name="adj2" fmla="val 5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p>
      </dsp:txBody>
      <dsp:txXfrm>
        <a:off x="3585013" y="1343842"/>
        <a:ext cx="248393" cy="269777"/>
      </dsp:txXfrm>
    </dsp:sp>
    <dsp:sp modelId="{2B85E611-1B0D-45CA-B9E9-D8AD1A1F5E8C}">
      <dsp:nvSpPr>
        <dsp:cNvPr id="0" name=""/>
        <dsp:cNvSpPr/>
      </dsp:nvSpPr>
      <dsp:spPr>
        <a:xfrm>
          <a:off x="3575166" y="1734193"/>
          <a:ext cx="1332236" cy="1332236"/>
        </a:xfrm>
        <a:prstGeom prst="ellipse">
          <a:avLst/>
        </a:prstGeom>
        <a:gradFill rotWithShape="0">
          <a:gsLst>
            <a:gs pos="0">
              <a:schemeClr val="accent4">
                <a:hueOff val="4900445"/>
                <a:satOff val="-20388"/>
                <a:lumOff val="4804"/>
                <a:alphaOff val="0"/>
                <a:satMod val="103000"/>
                <a:lumMod val="102000"/>
                <a:tint val="94000"/>
              </a:schemeClr>
            </a:gs>
            <a:gs pos="50000">
              <a:schemeClr val="accent4">
                <a:hueOff val="4900445"/>
                <a:satOff val="-20388"/>
                <a:lumOff val="4804"/>
                <a:alphaOff val="0"/>
                <a:satMod val="110000"/>
                <a:lumMod val="100000"/>
                <a:shade val="100000"/>
              </a:schemeClr>
            </a:gs>
            <a:gs pos="100000">
              <a:schemeClr val="accent4">
                <a:hueOff val="4900445"/>
                <a:satOff val="-20388"/>
                <a:lumOff val="480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7940" tIns="27940" rIns="27940" bIns="27940" numCol="1" spcCol="1270" anchor="t" anchorCtr="0">
          <a:noAutofit/>
        </a:bodyPr>
        <a:lstStyle/>
        <a:p>
          <a:pPr marL="0" lvl="0" indent="0" algn="ctr" defTabSz="977900">
            <a:lnSpc>
              <a:spcPct val="100000"/>
            </a:lnSpc>
            <a:spcBef>
              <a:spcPct val="0"/>
            </a:spcBef>
            <a:spcAft>
              <a:spcPts val="0"/>
            </a:spcAft>
            <a:buNone/>
          </a:pPr>
          <a:r>
            <a:rPr lang="zh-CN" altLang="en-US" sz="2200" kern="1200"/>
            <a:t>时间</a:t>
          </a:r>
          <a:endParaRPr lang="en-US" altLang="zh-CN" sz="2200" kern="1200"/>
        </a:p>
        <a:p>
          <a:pPr marL="0" lvl="0" indent="0" algn="ctr" defTabSz="977900">
            <a:lnSpc>
              <a:spcPct val="100000"/>
            </a:lnSpc>
            <a:spcBef>
              <a:spcPct val="0"/>
            </a:spcBef>
            <a:spcAft>
              <a:spcPts val="0"/>
            </a:spcAft>
            <a:buNone/>
          </a:pPr>
          <a:r>
            <a:rPr lang="en-US" altLang="zh-CN" sz="2200" kern="1200"/>
            <a:t>Time</a:t>
          </a:r>
          <a:endParaRPr lang="zh-CN" altLang="en-US" sz="2200" kern="1200"/>
        </a:p>
      </dsp:txBody>
      <dsp:txXfrm>
        <a:off x="3770267" y="1929294"/>
        <a:ext cx="942034" cy="942034"/>
      </dsp:txXfrm>
    </dsp:sp>
    <dsp:sp modelId="{03F35830-F120-48A3-87E3-609DB5DAB761}">
      <dsp:nvSpPr>
        <dsp:cNvPr id="0" name=""/>
        <dsp:cNvSpPr/>
      </dsp:nvSpPr>
      <dsp:spPr>
        <a:xfrm rot="10800000">
          <a:off x="3073024" y="2175497"/>
          <a:ext cx="354847" cy="449629"/>
        </a:xfrm>
        <a:prstGeom prst="rightArrow">
          <a:avLst>
            <a:gd name="adj1" fmla="val 60000"/>
            <a:gd name="adj2" fmla="val 50000"/>
          </a:avLst>
        </a:prstGeom>
        <a:gradFill rotWithShape="0">
          <a:gsLst>
            <a:gs pos="0">
              <a:schemeClr val="accent4">
                <a:hueOff val="4900445"/>
                <a:satOff val="-20388"/>
                <a:lumOff val="4804"/>
                <a:alphaOff val="0"/>
                <a:satMod val="103000"/>
                <a:lumMod val="102000"/>
                <a:tint val="94000"/>
              </a:schemeClr>
            </a:gs>
            <a:gs pos="50000">
              <a:schemeClr val="accent4">
                <a:hueOff val="4900445"/>
                <a:satOff val="-20388"/>
                <a:lumOff val="4804"/>
                <a:alphaOff val="0"/>
                <a:satMod val="110000"/>
                <a:lumMod val="100000"/>
                <a:shade val="100000"/>
              </a:schemeClr>
            </a:gs>
            <a:gs pos="100000">
              <a:schemeClr val="accent4">
                <a:hueOff val="4900445"/>
                <a:satOff val="-20388"/>
                <a:lumOff val="480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p>
      </dsp:txBody>
      <dsp:txXfrm rot="10800000">
        <a:off x="3179478" y="2265423"/>
        <a:ext cx="248393" cy="269777"/>
      </dsp:txXfrm>
    </dsp:sp>
    <dsp:sp modelId="{27B9E288-AC43-406C-8A60-33F607417729}">
      <dsp:nvSpPr>
        <dsp:cNvPr id="0" name=""/>
        <dsp:cNvSpPr/>
      </dsp:nvSpPr>
      <dsp:spPr>
        <a:xfrm>
          <a:off x="1573406" y="1734193"/>
          <a:ext cx="1332236" cy="1332236"/>
        </a:xfrm>
        <a:prstGeom prst="ellipse">
          <a:avLst/>
        </a:prstGeom>
        <a:gradFill rotWithShape="0">
          <a:gsLst>
            <a:gs pos="0">
              <a:schemeClr val="accent4">
                <a:hueOff val="9800891"/>
                <a:satOff val="-40777"/>
                <a:lumOff val="9608"/>
                <a:alphaOff val="0"/>
                <a:satMod val="103000"/>
                <a:lumMod val="102000"/>
                <a:tint val="94000"/>
              </a:schemeClr>
            </a:gs>
            <a:gs pos="50000">
              <a:schemeClr val="accent4">
                <a:hueOff val="9800891"/>
                <a:satOff val="-40777"/>
                <a:lumOff val="9608"/>
                <a:alphaOff val="0"/>
                <a:satMod val="110000"/>
                <a:lumMod val="100000"/>
                <a:shade val="100000"/>
              </a:schemeClr>
            </a:gs>
            <a:gs pos="100000">
              <a:schemeClr val="accent4">
                <a:hueOff val="9800891"/>
                <a:satOff val="-40777"/>
                <a:lumOff val="960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7940" tIns="27940" rIns="27940" bIns="27940" numCol="1" spcCol="1270" anchor="t" anchorCtr="0">
          <a:noAutofit/>
        </a:bodyPr>
        <a:lstStyle/>
        <a:p>
          <a:pPr marL="0" lvl="0" indent="0" algn="ctr" defTabSz="977900">
            <a:lnSpc>
              <a:spcPct val="100000"/>
            </a:lnSpc>
            <a:spcBef>
              <a:spcPct val="0"/>
            </a:spcBef>
            <a:spcAft>
              <a:spcPts val="0"/>
            </a:spcAft>
            <a:buNone/>
          </a:pPr>
          <a:r>
            <a:rPr lang="zh-CN" altLang="en-US" sz="2200" kern="1200"/>
            <a:t>成本</a:t>
          </a:r>
          <a:endParaRPr lang="en-US" altLang="zh-CN" sz="2200" kern="1200"/>
        </a:p>
        <a:p>
          <a:pPr marL="0" lvl="0" indent="0" algn="ctr" defTabSz="977900">
            <a:lnSpc>
              <a:spcPct val="100000"/>
            </a:lnSpc>
            <a:spcBef>
              <a:spcPct val="0"/>
            </a:spcBef>
            <a:spcAft>
              <a:spcPts val="0"/>
            </a:spcAft>
            <a:buNone/>
          </a:pPr>
          <a:r>
            <a:rPr lang="en-US" altLang="zh-CN" sz="2200" kern="1200"/>
            <a:t>Cost</a:t>
          </a:r>
          <a:endParaRPr lang="zh-CN" altLang="en-US" sz="2200" kern="1200"/>
        </a:p>
      </dsp:txBody>
      <dsp:txXfrm>
        <a:off x="1768507" y="1929294"/>
        <a:ext cx="942034" cy="942034"/>
      </dsp:txXfrm>
    </dsp:sp>
    <dsp:sp modelId="{657FBBAE-B7ED-45F1-AB9F-4ED5E3C6841B}">
      <dsp:nvSpPr>
        <dsp:cNvPr id="0" name=""/>
        <dsp:cNvSpPr/>
      </dsp:nvSpPr>
      <dsp:spPr>
        <a:xfrm rot="18000000">
          <a:off x="2557520" y="1317407"/>
          <a:ext cx="354847" cy="449629"/>
        </a:xfrm>
        <a:prstGeom prst="rightArrow">
          <a:avLst>
            <a:gd name="adj1" fmla="val 60000"/>
            <a:gd name="adj2" fmla="val 50000"/>
          </a:avLst>
        </a:prstGeom>
        <a:gradFill rotWithShape="0">
          <a:gsLst>
            <a:gs pos="0">
              <a:schemeClr val="accent4">
                <a:hueOff val="9800891"/>
                <a:satOff val="-40777"/>
                <a:lumOff val="9608"/>
                <a:alphaOff val="0"/>
                <a:satMod val="103000"/>
                <a:lumMod val="102000"/>
                <a:tint val="94000"/>
              </a:schemeClr>
            </a:gs>
            <a:gs pos="50000">
              <a:schemeClr val="accent4">
                <a:hueOff val="9800891"/>
                <a:satOff val="-40777"/>
                <a:lumOff val="9608"/>
                <a:alphaOff val="0"/>
                <a:satMod val="110000"/>
                <a:lumMod val="100000"/>
                <a:shade val="100000"/>
              </a:schemeClr>
            </a:gs>
            <a:gs pos="100000">
              <a:schemeClr val="accent4">
                <a:hueOff val="9800891"/>
                <a:satOff val="-40777"/>
                <a:lumOff val="960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p>
      </dsp:txBody>
      <dsp:txXfrm>
        <a:off x="2584134" y="1453429"/>
        <a:ext cx="248393" cy="26977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332A65-A83D-4ADE-AEAA-94BD3A499623}">
      <dsp:nvSpPr>
        <dsp:cNvPr id="0" name=""/>
        <dsp:cNvSpPr/>
      </dsp:nvSpPr>
      <dsp:spPr>
        <a:xfrm>
          <a:off x="4166" y="811538"/>
          <a:ext cx="1245315" cy="747189"/>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t>规模估算</a:t>
          </a:r>
        </a:p>
      </dsp:txBody>
      <dsp:txXfrm>
        <a:off x="26050" y="833422"/>
        <a:ext cx="1201547" cy="703421"/>
      </dsp:txXfrm>
    </dsp:sp>
    <dsp:sp modelId="{0EA024C3-660E-4EEA-920A-0399489AEA61}">
      <dsp:nvSpPr>
        <dsp:cNvPr id="0" name=""/>
        <dsp:cNvSpPr/>
      </dsp:nvSpPr>
      <dsp:spPr>
        <a:xfrm>
          <a:off x="1374013" y="1030713"/>
          <a:ext cx="264006" cy="308838"/>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zh-CN" altLang="en-US" sz="1400" kern="1200"/>
        </a:p>
      </dsp:txBody>
      <dsp:txXfrm>
        <a:off x="1374013" y="1092481"/>
        <a:ext cx="184804" cy="185302"/>
      </dsp:txXfrm>
    </dsp:sp>
    <dsp:sp modelId="{39E9393F-1572-40D6-8CE6-9937E533BF75}">
      <dsp:nvSpPr>
        <dsp:cNvPr id="0" name=""/>
        <dsp:cNvSpPr/>
      </dsp:nvSpPr>
      <dsp:spPr>
        <a:xfrm>
          <a:off x="1747608" y="811538"/>
          <a:ext cx="1245315" cy="747189"/>
        </a:xfrm>
        <a:prstGeom prst="roundRect">
          <a:avLst>
            <a:gd name="adj" fmla="val 10000"/>
          </a:avLst>
        </a:prstGeom>
        <a:solidFill>
          <a:schemeClr val="accent4">
            <a:hueOff val="4900445"/>
            <a:satOff val="-20388"/>
            <a:lumOff val="4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t>工作量估算</a:t>
          </a:r>
        </a:p>
      </dsp:txBody>
      <dsp:txXfrm>
        <a:off x="1769492" y="833422"/>
        <a:ext cx="1201547" cy="703421"/>
      </dsp:txXfrm>
    </dsp:sp>
    <dsp:sp modelId="{20B82462-F0DD-4787-85C5-C4D3F19D4F11}">
      <dsp:nvSpPr>
        <dsp:cNvPr id="0" name=""/>
        <dsp:cNvSpPr/>
      </dsp:nvSpPr>
      <dsp:spPr>
        <a:xfrm>
          <a:off x="3117455" y="1030713"/>
          <a:ext cx="264006" cy="308838"/>
        </a:xfrm>
        <a:prstGeom prst="rightArrow">
          <a:avLst>
            <a:gd name="adj1" fmla="val 60000"/>
            <a:gd name="adj2" fmla="val 50000"/>
          </a:avLst>
        </a:prstGeom>
        <a:solidFill>
          <a:schemeClr val="accent4">
            <a:hueOff val="9800891"/>
            <a:satOff val="-40777"/>
            <a:lumOff val="9608"/>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zh-CN" altLang="en-US" sz="1400" kern="1200"/>
        </a:p>
      </dsp:txBody>
      <dsp:txXfrm>
        <a:off x="3117455" y="1092481"/>
        <a:ext cx="184804" cy="185302"/>
      </dsp:txXfrm>
    </dsp:sp>
    <dsp:sp modelId="{925EEC6C-95EF-4EBE-9A19-4B003EB411ED}">
      <dsp:nvSpPr>
        <dsp:cNvPr id="0" name=""/>
        <dsp:cNvSpPr/>
      </dsp:nvSpPr>
      <dsp:spPr>
        <a:xfrm>
          <a:off x="3491049" y="811538"/>
          <a:ext cx="1245315" cy="747189"/>
        </a:xfrm>
        <a:prstGeom prst="roundRect">
          <a:avLst>
            <a:gd name="adj" fmla="val 10000"/>
          </a:avLst>
        </a:prstGeom>
        <a:solidFill>
          <a:schemeClr val="accent4">
            <a:hueOff val="9800891"/>
            <a:satOff val="-40777"/>
            <a:lumOff val="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t>成本估算</a:t>
          </a:r>
        </a:p>
      </dsp:txBody>
      <dsp:txXfrm>
        <a:off x="3512933" y="833422"/>
        <a:ext cx="1201547" cy="70342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7E18C7-CBC3-4730-8BE6-C8FC497852AC}">
      <dsp:nvSpPr>
        <dsp:cNvPr id="0" name=""/>
        <dsp:cNvSpPr/>
      </dsp:nvSpPr>
      <dsp:spPr>
        <a:xfrm>
          <a:off x="0" y="56934"/>
          <a:ext cx="8442664" cy="921056"/>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t>估算方法</a:t>
          </a:r>
        </a:p>
      </dsp:txBody>
      <dsp:txXfrm>
        <a:off x="26977" y="83911"/>
        <a:ext cx="8388710" cy="867102"/>
      </dsp:txXfrm>
    </dsp:sp>
    <dsp:sp modelId="{8221DA9F-B757-470B-863A-DFF6F04D8841}">
      <dsp:nvSpPr>
        <dsp:cNvPr id="0" name=""/>
        <dsp:cNvSpPr/>
      </dsp:nvSpPr>
      <dsp:spPr>
        <a:xfrm>
          <a:off x="8494" y="1011093"/>
          <a:ext cx="6876080" cy="921056"/>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t>传统估算</a:t>
          </a:r>
        </a:p>
      </dsp:txBody>
      <dsp:txXfrm>
        <a:off x="35471" y="1038070"/>
        <a:ext cx="6822126" cy="867102"/>
      </dsp:txXfrm>
    </dsp:sp>
    <dsp:sp modelId="{BE1A90AD-6294-4CDD-B09F-20F725ED9449}">
      <dsp:nvSpPr>
        <dsp:cNvPr id="0" name=""/>
        <dsp:cNvSpPr/>
      </dsp:nvSpPr>
      <dsp:spPr>
        <a:xfrm>
          <a:off x="21905" y="2021842"/>
          <a:ext cx="733639" cy="134985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eaVert"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代码行</a:t>
          </a:r>
        </a:p>
      </dsp:txBody>
      <dsp:txXfrm>
        <a:off x="43393" y="2043330"/>
        <a:ext cx="690663" cy="1306878"/>
      </dsp:txXfrm>
    </dsp:sp>
    <dsp:sp modelId="{3D86A9A7-DE93-41CD-BE81-662A97CD51C4}">
      <dsp:nvSpPr>
        <dsp:cNvPr id="0" name=""/>
        <dsp:cNvSpPr/>
      </dsp:nvSpPr>
      <dsp:spPr>
        <a:xfrm>
          <a:off x="786357" y="2021842"/>
          <a:ext cx="733639" cy="134985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eaVert"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功能点</a:t>
          </a:r>
        </a:p>
      </dsp:txBody>
      <dsp:txXfrm>
        <a:off x="807845" y="2043330"/>
        <a:ext cx="690663" cy="1306878"/>
      </dsp:txXfrm>
    </dsp:sp>
    <dsp:sp modelId="{5AFEC762-1C1A-421E-BE77-6213FB889098}">
      <dsp:nvSpPr>
        <dsp:cNvPr id="0" name=""/>
        <dsp:cNvSpPr/>
      </dsp:nvSpPr>
      <dsp:spPr>
        <a:xfrm>
          <a:off x="1550810" y="2021842"/>
          <a:ext cx="733639" cy="134985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eaVert"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用例点</a:t>
          </a:r>
        </a:p>
      </dsp:txBody>
      <dsp:txXfrm>
        <a:off x="1572298" y="2043330"/>
        <a:ext cx="690663" cy="1306878"/>
      </dsp:txXfrm>
    </dsp:sp>
    <dsp:sp modelId="{6391160F-7BA5-4A89-A236-4487FA932310}">
      <dsp:nvSpPr>
        <dsp:cNvPr id="0" name=""/>
        <dsp:cNvSpPr/>
      </dsp:nvSpPr>
      <dsp:spPr>
        <a:xfrm>
          <a:off x="2315262" y="2021842"/>
          <a:ext cx="733639" cy="134985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eaVert"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类比</a:t>
          </a:r>
        </a:p>
      </dsp:txBody>
      <dsp:txXfrm>
        <a:off x="2336750" y="2043330"/>
        <a:ext cx="690663" cy="1306878"/>
      </dsp:txXfrm>
    </dsp:sp>
    <dsp:sp modelId="{B34C258D-C358-473B-B5A7-EC94CF55CB34}">
      <dsp:nvSpPr>
        <dsp:cNvPr id="0" name=""/>
        <dsp:cNvSpPr/>
      </dsp:nvSpPr>
      <dsp:spPr>
        <a:xfrm>
          <a:off x="3079715" y="2021842"/>
          <a:ext cx="733639" cy="134985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eaVert"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自下而上</a:t>
          </a:r>
        </a:p>
      </dsp:txBody>
      <dsp:txXfrm>
        <a:off x="3101203" y="2043330"/>
        <a:ext cx="690663" cy="1306878"/>
      </dsp:txXfrm>
    </dsp:sp>
    <dsp:sp modelId="{B054D4D0-B725-4E85-93D2-89FEE11F5B62}">
      <dsp:nvSpPr>
        <dsp:cNvPr id="0" name=""/>
        <dsp:cNvSpPr/>
      </dsp:nvSpPr>
      <dsp:spPr>
        <a:xfrm>
          <a:off x="3844168" y="2021842"/>
          <a:ext cx="733639" cy="134985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eaVert"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自上而下</a:t>
          </a:r>
        </a:p>
      </dsp:txBody>
      <dsp:txXfrm>
        <a:off x="3865656" y="2043330"/>
        <a:ext cx="690663" cy="1306878"/>
      </dsp:txXfrm>
    </dsp:sp>
    <dsp:sp modelId="{4D467419-B93B-431F-B8D5-630E57343842}">
      <dsp:nvSpPr>
        <dsp:cNvPr id="0" name=""/>
        <dsp:cNvSpPr/>
      </dsp:nvSpPr>
      <dsp:spPr>
        <a:xfrm>
          <a:off x="4608620" y="2021842"/>
          <a:ext cx="733639" cy="134985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eaVert"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参数</a:t>
          </a:r>
        </a:p>
      </dsp:txBody>
      <dsp:txXfrm>
        <a:off x="4630108" y="2043330"/>
        <a:ext cx="690663" cy="1306878"/>
      </dsp:txXfrm>
    </dsp:sp>
    <dsp:sp modelId="{A39D9AF8-1069-469E-BDB5-64CEEB5953BB}">
      <dsp:nvSpPr>
        <dsp:cNvPr id="0" name=""/>
        <dsp:cNvSpPr/>
      </dsp:nvSpPr>
      <dsp:spPr>
        <a:xfrm>
          <a:off x="5373073" y="2021842"/>
          <a:ext cx="733639" cy="134985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eaVert"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专家</a:t>
          </a:r>
        </a:p>
      </dsp:txBody>
      <dsp:txXfrm>
        <a:off x="5394561" y="2043330"/>
        <a:ext cx="690663" cy="1306878"/>
      </dsp:txXfrm>
    </dsp:sp>
    <dsp:sp modelId="{FD2D810A-2388-4805-A9D6-AD137CF0FD98}">
      <dsp:nvSpPr>
        <dsp:cNvPr id="0" name=""/>
        <dsp:cNvSpPr/>
      </dsp:nvSpPr>
      <dsp:spPr>
        <a:xfrm>
          <a:off x="6137525" y="2021842"/>
          <a:ext cx="733639" cy="134985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eaVert"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三点</a:t>
          </a:r>
        </a:p>
      </dsp:txBody>
      <dsp:txXfrm>
        <a:off x="6159013" y="2043330"/>
        <a:ext cx="690663" cy="1306878"/>
      </dsp:txXfrm>
    </dsp:sp>
    <dsp:sp modelId="{7E9961C4-29AB-4443-A6E1-E3F0F2CBDE34}">
      <dsp:nvSpPr>
        <dsp:cNvPr id="0" name=""/>
        <dsp:cNvSpPr/>
      </dsp:nvSpPr>
      <dsp:spPr>
        <a:xfrm>
          <a:off x="6946201" y="1011093"/>
          <a:ext cx="1488476" cy="921056"/>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t>敏捷估算</a:t>
          </a:r>
        </a:p>
      </dsp:txBody>
      <dsp:txXfrm>
        <a:off x="6973178" y="1038070"/>
        <a:ext cx="1434522" cy="867102"/>
      </dsp:txXfrm>
    </dsp:sp>
    <dsp:sp modelId="{CDDEC979-F1A2-4409-8FF0-293406F051D4}">
      <dsp:nvSpPr>
        <dsp:cNvPr id="0" name=""/>
        <dsp:cNvSpPr/>
      </dsp:nvSpPr>
      <dsp:spPr>
        <a:xfrm>
          <a:off x="6949104" y="2021842"/>
          <a:ext cx="1482670" cy="134985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故事点</a:t>
          </a:r>
        </a:p>
      </dsp:txBody>
      <dsp:txXfrm>
        <a:off x="6988640" y="2061378"/>
        <a:ext cx="1403598" cy="1270782"/>
      </dsp:txXfrm>
    </dsp:sp>
    <dsp:sp modelId="{62CDD4D5-9FC5-425A-98C9-2E56C3098C88}">
      <dsp:nvSpPr>
        <dsp:cNvPr id="0" name=""/>
        <dsp:cNvSpPr/>
      </dsp:nvSpPr>
      <dsp:spPr>
        <a:xfrm>
          <a:off x="6954876" y="3461389"/>
          <a:ext cx="727927" cy="139366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eaVert"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t>快速故事点</a:t>
          </a:r>
        </a:p>
      </dsp:txBody>
      <dsp:txXfrm>
        <a:off x="6976196" y="3482709"/>
        <a:ext cx="685287" cy="1351029"/>
      </dsp:txXfrm>
    </dsp:sp>
    <dsp:sp modelId="{478024EF-49B2-4F32-9141-62FE4E0D9782}">
      <dsp:nvSpPr>
        <dsp:cNvPr id="0" name=""/>
        <dsp:cNvSpPr/>
      </dsp:nvSpPr>
      <dsp:spPr>
        <a:xfrm>
          <a:off x="7698075" y="3461389"/>
          <a:ext cx="727927" cy="139366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eaVert"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t>扑克牌</a:t>
          </a:r>
        </a:p>
      </dsp:txBody>
      <dsp:txXfrm>
        <a:off x="7719395" y="3482709"/>
        <a:ext cx="685287" cy="135102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C1BD2F-4C52-43E5-A96B-44C1B80FF009}">
      <dsp:nvSpPr>
        <dsp:cNvPr id="0" name=""/>
        <dsp:cNvSpPr/>
      </dsp:nvSpPr>
      <dsp:spPr>
        <a:xfrm>
          <a:off x="2336800" y="1282311"/>
          <a:ext cx="1306040" cy="551110"/>
        </a:xfrm>
        <a:custGeom>
          <a:avLst/>
          <a:gdLst/>
          <a:ahLst/>
          <a:cxnLst/>
          <a:rect l="0" t="0" r="0" b="0"/>
          <a:pathLst>
            <a:path>
              <a:moveTo>
                <a:pt x="0" y="0"/>
              </a:moveTo>
              <a:lnTo>
                <a:pt x="0" y="275555"/>
              </a:lnTo>
              <a:lnTo>
                <a:pt x="1306040" y="275555"/>
              </a:lnTo>
              <a:lnTo>
                <a:pt x="1306040" y="55111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A366E34-D581-47C5-9AFC-9A7E82CB2E3C}">
      <dsp:nvSpPr>
        <dsp:cNvPr id="0" name=""/>
        <dsp:cNvSpPr/>
      </dsp:nvSpPr>
      <dsp:spPr>
        <a:xfrm>
          <a:off x="1030759" y="1282311"/>
          <a:ext cx="1306040" cy="551110"/>
        </a:xfrm>
        <a:custGeom>
          <a:avLst/>
          <a:gdLst/>
          <a:ahLst/>
          <a:cxnLst/>
          <a:rect l="0" t="0" r="0" b="0"/>
          <a:pathLst>
            <a:path>
              <a:moveTo>
                <a:pt x="1306040" y="0"/>
              </a:moveTo>
              <a:lnTo>
                <a:pt x="1306040" y="275555"/>
              </a:lnTo>
              <a:lnTo>
                <a:pt x="0" y="275555"/>
              </a:lnTo>
              <a:lnTo>
                <a:pt x="0" y="55111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974179B-B22F-46BC-B1DC-76FC402D3C22}">
      <dsp:nvSpPr>
        <dsp:cNvPr id="0" name=""/>
        <dsp:cNvSpPr/>
      </dsp:nvSpPr>
      <dsp:spPr>
        <a:xfrm>
          <a:off x="1306315" y="634310"/>
          <a:ext cx="2060969" cy="648001"/>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t>进度计划</a:t>
          </a:r>
        </a:p>
      </dsp:txBody>
      <dsp:txXfrm>
        <a:off x="1306315" y="634310"/>
        <a:ext cx="2060969" cy="648001"/>
      </dsp:txXfrm>
    </dsp:sp>
    <dsp:sp modelId="{47CFCCC2-0A9C-4E2E-9C78-5FD11F5E49EF}">
      <dsp:nvSpPr>
        <dsp:cNvPr id="0" name=""/>
        <dsp:cNvSpPr/>
      </dsp:nvSpPr>
      <dsp:spPr>
        <a:xfrm>
          <a:off x="274" y="1833422"/>
          <a:ext cx="2060969" cy="648001"/>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t>传统项目进度计划</a:t>
          </a:r>
        </a:p>
      </dsp:txBody>
      <dsp:txXfrm>
        <a:off x="274" y="1833422"/>
        <a:ext cx="2060969" cy="648001"/>
      </dsp:txXfrm>
    </dsp:sp>
    <dsp:sp modelId="{2F0BD088-BC69-41D4-870C-F03B4CD6DCD1}">
      <dsp:nvSpPr>
        <dsp:cNvPr id="0" name=""/>
        <dsp:cNvSpPr/>
      </dsp:nvSpPr>
      <dsp:spPr>
        <a:xfrm>
          <a:off x="2612355" y="1833422"/>
          <a:ext cx="2060969" cy="648001"/>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t>敏捷项目进度计划</a:t>
          </a:r>
        </a:p>
      </dsp:txBody>
      <dsp:txXfrm>
        <a:off x="2612355" y="1833422"/>
        <a:ext cx="2060969" cy="64800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F1A2CC-DA64-4E6D-800E-759648269836}">
      <dsp:nvSpPr>
        <dsp:cNvPr id="0" name=""/>
        <dsp:cNvSpPr/>
      </dsp:nvSpPr>
      <dsp:spPr>
        <a:xfrm>
          <a:off x="2574286" y="619"/>
          <a:ext cx="1332236" cy="1332236"/>
        </a:xfrm>
        <a:prstGeom prst="ellipse">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7940" tIns="27940" rIns="27940" bIns="27940" numCol="1" spcCol="1270" anchor="t" anchorCtr="0">
          <a:noAutofit/>
        </a:bodyPr>
        <a:lstStyle/>
        <a:p>
          <a:pPr marL="0" lvl="0" indent="0" algn="ctr" defTabSz="977900">
            <a:lnSpc>
              <a:spcPct val="100000"/>
            </a:lnSpc>
            <a:spcBef>
              <a:spcPct val="0"/>
            </a:spcBef>
            <a:spcAft>
              <a:spcPts val="0"/>
            </a:spcAft>
            <a:buNone/>
          </a:pPr>
          <a:r>
            <a:rPr lang="zh-CN" altLang="en-US" sz="2200" kern="1200" dirty="0"/>
            <a:t>范围</a:t>
          </a:r>
          <a:endParaRPr lang="en-US" altLang="zh-CN" sz="2200" kern="1200" dirty="0"/>
        </a:p>
        <a:p>
          <a:pPr marL="0" lvl="0" indent="0" algn="ctr" defTabSz="977900">
            <a:lnSpc>
              <a:spcPct val="100000"/>
            </a:lnSpc>
            <a:spcBef>
              <a:spcPct val="0"/>
            </a:spcBef>
            <a:spcAft>
              <a:spcPts val="0"/>
            </a:spcAft>
            <a:buNone/>
          </a:pPr>
          <a:r>
            <a:rPr lang="en-US" altLang="zh-CN" sz="2200" kern="1200" dirty="0"/>
            <a:t>Scope</a:t>
          </a:r>
          <a:endParaRPr lang="zh-CN" altLang="en-US" sz="2200" kern="1200" dirty="0"/>
        </a:p>
      </dsp:txBody>
      <dsp:txXfrm>
        <a:off x="2769387" y="195720"/>
        <a:ext cx="942034" cy="942034"/>
      </dsp:txXfrm>
    </dsp:sp>
    <dsp:sp modelId="{F5AD4191-EEF8-4A65-ABCF-ECF913895E65}">
      <dsp:nvSpPr>
        <dsp:cNvPr id="0" name=""/>
        <dsp:cNvSpPr/>
      </dsp:nvSpPr>
      <dsp:spPr>
        <a:xfrm rot="3600000">
          <a:off x="3558399" y="1300012"/>
          <a:ext cx="354847" cy="449629"/>
        </a:xfrm>
        <a:prstGeom prst="rightArrow">
          <a:avLst>
            <a:gd name="adj1" fmla="val 60000"/>
            <a:gd name="adj2" fmla="val 5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p>
      </dsp:txBody>
      <dsp:txXfrm>
        <a:off x="3585013" y="1343842"/>
        <a:ext cx="248393" cy="269777"/>
      </dsp:txXfrm>
    </dsp:sp>
    <dsp:sp modelId="{2B85E611-1B0D-45CA-B9E9-D8AD1A1F5E8C}">
      <dsp:nvSpPr>
        <dsp:cNvPr id="0" name=""/>
        <dsp:cNvSpPr/>
      </dsp:nvSpPr>
      <dsp:spPr>
        <a:xfrm>
          <a:off x="3575166" y="1734193"/>
          <a:ext cx="1332236" cy="1332236"/>
        </a:xfrm>
        <a:prstGeom prst="ellipse">
          <a:avLst/>
        </a:prstGeom>
        <a:gradFill rotWithShape="0">
          <a:gsLst>
            <a:gs pos="0">
              <a:schemeClr val="accent4">
                <a:hueOff val="4900445"/>
                <a:satOff val="-20388"/>
                <a:lumOff val="4804"/>
                <a:alphaOff val="0"/>
                <a:satMod val="103000"/>
                <a:lumMod val="102000"/>
                <a:tint val="94000"/>
              </a:schemeClr>
            </a:gs>
            <a:gs pos="50000">
              <a:schemeClr val="accent4">
                <a:hueOff val="4900445"/>
                <a:satOff val="-20388"/>
                <a:lumOff val="4804"/>
                <a:alphaOff val="0"/>
                <a:satMod val="110000"/>
                <a:lumMod val="100000"/>
                <a:shade val="100000"/>
              </a:schemeClr>
            </a:gs>
            <a:gs pos="100000">
              <a:schemeClr val="accent4">
                <a:hueOff val="4900445"/>
                <a:satOff val="-20388"/>
                <a:lumOff val="480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7940" tIns="27940" rIns="27940" bIns="27940" numCol="1" spcCol="1270" anchor="t" anchorCtr="0">
          <a:noAutofit/>
        </a:bodyPr>
        <a:lstStyle/>
        <a:p>
          <a:pPr marL="0" lvl="0" indent="0" algn="ctr" defTabSz="977900">
            <a:lnSpc>
              <a:spcPct val="100000"/>
            </a:lnSpc>
            <a:spcBef>
              <a:spcPct val="0"/>
            </a:spcBef>
            <a:spcAft>
              <a:spcPts val="0"/>
            </a:spcAft>
            <a:buNone/>
          </a:pPr>
          <a:r>
            <a:rPr lang="zh-CN" altLang="en-US" sz="2200" kern="1200"/>
            <a:t>时间</a:t>
          </a:r>
          <a:endParaRPr lang="en-US" altLang="zh-CN" sz="2200" kern="1200"/>
        </a:p>
        <a:p>
          <a:pPr marL="0" lvl="0" indent="0" algn="ctr" defTabSz="977900">
            <a:lnSpc>
              <a:spcPct val="100000"/>
            </a:lnSpc>
            <a:spcBef>
              <a:spcPct val="0"/>
            </a:spcBef>
            <a:spcAft>
              <a:spcPts val="0"/>
            </a:spcAft>
            <a:buNone/>
          </a:pPr>
          <a:r>
            <a:rPr lang="en-US" altLang="zh-CN" sz="2200" kern="1200"/>
            <a:t>Time</a:t>
          </a:r>
          <a:endParaRPr lang="zh-CN" altLang="en-US" sz="2200" kern="1200"/>
        </a:p>
      </dsp:txBody>
      <dsp:txXfrm>
        <a:off x="3770267" y="1929294"/>
        <a:ext cx="942034" cy="942034"/>
      </dsp:txXfrm>
    </dsp:sp>
    <dsp:sp modelId="{03F35830-F120-48A3-87E3-609DB5DAB761}">
      <dsp:nvSpPr>
        <dsp:cNvPr id="0" name=""/>
        <dsp:cNvSpPr/>
      </dsp:nvSpPr>
      <dsp:spPr>
        <a:xfrm rot="10800000">
          <a:off x="3073024" y="2175497"/>
          <a:ext cx="354847" cy="449629"/>
        </a:xfrm>
        <a:prstGeom prst="rightArrow">
          <a:avLst>
            <a:gd name="adj1" fmla="val 60000"/>
            <a:gd name="adj2" fmla="val 50000"/>
          </a:avLst>
        </a:prstGeom>
        <a:gradFill rotWithShape="0">
          <a:gsLst>
            <a:gs pos="0">
              <a:schemeClr val="accent4">
                <a:hueOff val="4900445"/>
                <a:satOff val="-20388"/>
                <a:lumOff val="4804"/>
                <a:alphaOff val="0"/>
                <a:satMod val="103000"/>
                <a:lumMod val="102000"/>
                <a:tint val="94000"/>
              </a:schemeClr>
            </a:gs>
            <a:gs pos="50000">
              <a:schemeClr val="accent4">
                <a:hueOff val="4900445"/>
                <a:satOff val="-20388"/>
                <a:lumOff val="4804"/>
                <a:alphaOff val="0"/>
                <a:satMod val="110000"/>
                <a:lumMod val="100000"/>
                <a:shade val="100000"/>
              </a:schemeClr>
            </a:gs>
            <a:gs pos="100000">
              <a:schemeClr val="accent4">
                <a:hueOff val="4900445"/>
                <a:satOff val="-20388"/>
                <a:lumOff val="480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p>
      </dsp:txBody>
      <dsp:txXfrm rot="10800000">
        <a:off x="3179478" y="2265423"/>
        <a:ext cx="248393" cy="269777"/>
      </dsp:txXfrm>
    </dsp:sp>
    <dsp:sp modelId="{27B9E288-AC43-406C-8A60-33F607417729}">
      <dsp:nvSpPr>
        <dsp:cNvPr id="0" name=""/>
        <dsp:cNvSpPr/>
      </dsp:nvSpPr>
      <dsp:spPr>
        <a:xfrm>
          <a:off x="1573406" y="1734193"/>
          <a:ext cx="1332236" cy="1332236"/>
        </a:xfrm>
        <a:prstGeom prst="ellipse">
          <a:avLst/>
        </a:prstGeom>
        <a:gradFill rotWithShape="0">
          <a:gsLst>
            <a:gs pos="0">
              <a:schemeClr val="accent4">
                <a:hueOff val="9800891"/>
                <a:satOff val="-40777"/>
                <a:lumOff val="9608"/>
                <a:alphaOff val="0"/>
                <a:satMod val="103000"/>
                <a:lumMod val="102000"/>
                <a:tint val="94000"/>
              </a:schemeClr>
            </a:gs>
            <a:gs pos="50000">
              <a:schemeClr val="accent4">
                <a:hueOff val="9800891"/>
                <a:satOff val="-40777"/>
                <a:lumOff val="9608"/>
                <a:alphaOff val="0"/>
                <a:satMod val="110000"/>
                <a:lumMod val="100000"/>
                <a:shade val="100000"/>
              </a:schemeClr>
            </a:gs>
            <a:gs pos="100000">
              <a:schemeClr val="accent4">
                <a:hueOff val="9800891"/>
                <a:satOff val="-40777"/>
                <a:lumOff val="960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7940" tIns="27940" rIns="27940" bIns="27940" numCol="1" spcCol="1270" anchor="t" anchorCtr="0">
          <a:noAutofit/>
        </a:bodyPr>
        <a:lstStyle/>
        <a:p>
          <a:pPr marL="0" lvl="0" indent="0" algn="ctr" defTabSz="977900">
            <a:lnSpc>
              <a:spcPct val="100000"/>
            </a:lnSpc>
            <a:spcBef>
              <a:spcPct val="0"/>
            </a:spcBef>
            <a:spcAft>
              <a:spcPts val="0"/>
            </a:spcAft>
            <a:buNone/>
          </a:pPr>
          <a:r>
            <a:rPr lang="zh-CN" altLang="en-US" sz="2200" kern="1200"/>
            <a:t>成本</a:t>
          </a:r>
          <a:endParaRPr lang="en-US" altLang="zh-CN" sz="2200" kern="1200"/>
        </a:p>
        <a:p>
          <a:pPr marL="0" lvl="0" indent="0" algn="ctr" defTabSz="977900">
            <a:lnSpc>
              <a:spcPct val="100000"/>
            </a:lnSpc>
            <a:spcBef>
              <a:spcPct val="0"/>
            </a:spcBef>
            <a:spcAft>
              <a:spcPts val="0"/>
            </a:spcAft>
            <a:buNone/>
          </a:pPr>
          <a:r>
            <a:rPr lang="en-US" altLang="zh-CN" sz="2200" kern="1200"/>
            <a:t>Cost</a:t>
          </a:r>
          <a:endParaRPr lang="zh-CN" altLang="en-US" sz="2200" kern="1200"/>
        </a:p>
      </dsp:txBody>
      <dsp:txXfrm>
        <a:off x="1768507" y="1929294"/>
        <a:ext cx="942034" cy="942034"/>
      </dsp:txXfrm>
    </dsp:sp>
    <dsp:sp modelId="{657FBBAE-B7ED-45F1-AB9F-4ED5E3C6841B}">
      <dsp:nvSpPr>
        <dsp:cNvPr id="0" name=""/>
        <dsp:cNvSpPr/>
      </dsp:nvSpPr>
      <dsp:spPr>
        <a:xfrm rot="18000000">
          <a:off x="2557520" y="1317407"/>
          <a:ext cx="354847" cy="449629"/>
        </a:xfrm>
        <a:prstGeom prst="rightArrow">
          <a:avLst>
            <a:gd name="adj1" fmla="val 60000"/>
            <a:gd name="adj2" fmla="val 50000"/>
          </a:avLst>
        </a:prstGeom>
        <a:gradFill rotWithShape="0">
          <a:gsLst>
            <a:gs pos="0">
              <a:schemeClr val="accent4">
                <a:hueOff val="9800891"/>
                <a:satOff val="-40777"/>
                <a:lumOff val="9608"/>
                <a:alphaOff val="0"/>
                <a:satMod val="103000"/>
                <a:lumMod val="102000"/>
                <a:tint val="94000"/>
              </a:schemeClr>
            </a:gs>
            <a:gs pos="50000">
              <a:schemeClr val="accent4">
                <a:hueOff val="9800891"/>
                <a:satOff val="-40777"/>
                <a:lumOff val="9608"/>
                <a:alphaOff val="0"/>
                <a:satMod val="110000"/>
                <a:lumMod val="100000"/>
                <a:shade val="100000"/>
              </a:schemeClr>
            </a:gs>
            <a:gs pos="100000">
              <a:schemeClr val="accent4">
                <a:hueOff val="9800891"/>
                <a:satOff val="-40777"/>
                <a:lumOff val="960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p>
      </dsp:txBody>
      <dsp:txXfrm>
        <a:off x="2584134" y="1453429"/>
        <a:ext cx="248393" cy="26977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F1A2CC-DA64-4E6D-800E-759648269836}">
      <dsp:nvSpPr>
        <dsp:cNvPr id="0" name=""/>
        <dsp:cNvSpPr/>
      </dsp:nvSpPr>
      <dsp:spPr>
        <a:xfrm>
          <a:off x="2574286" y="619"/>
          <a:ext cx="1332236" cy="1332236"/>
        </a:xfrm>
        <a:prstGeom prst="ellipse">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7940" tIns="27940" rIns="27940" bIns="27940" numCol="1" spcCol="1270" anchor="t" anchorCtr="0">
          <a:noAutofit/>
        </a:bodyPr>
        <a:lstStyle/>
        <a:p>
          <a:pPr marL="0" lvl="0" indent="0" algn="ctr" defTabSz="977900">
            <a:lnSpc>
              <a:spcPct val="100000"/>
            </a:lnSpc>
            <a:spcBef>
              <a:spcPct val="0"/>
            </a:spcBef>
            <a:spcAft>
              <a:spcPts val="0"/>
            </a:spcAft>
            <a:buNone/>
          </a:pPr>
          <a:r>
            <a:rPr lang="zh-CN" altLang="en-US" sz="2200" kern="1200"/>
            <a:t>范围</a:t>
          </a:r>
          <a:endParaRPr lang="en-US" altLang="zh-CN" sz="2200" kern="1200" dirty="0"/>
        </a:p>
        <a:p>
          <a:pPr marL="0" lvl="0" indent="0" algn="ctr" defTabSz="977900">
            <a:lnSpc>
              <a:spcPct val="100000"/>
            </a:lnSpc>
            <a:spcBef>
              <a:spcPct val="0"/>
            </a:spcBef>
            <a:spcAft>
              <a:spcPts val="0"/>
            </a:spcAft>
            <a:buNone/>
          </a:pPr>
          <a:r>
            <a:rPr lang="en-US" altLang="zh-CN" sz="2200" kern="1200" dirty="0"/>
            <a:t>Scope</a:t>
          </a:r>
          <a:endParaRPr lang="zh-CN" altLang="en-US" sz="2200" kern="1200" dirty="0"/>
        </a:p>
      </dsp:txBody>
      <dsp:txXfrm>
        <a:off x="2769387" y="195720"/>
        <a:ext cx="942034" cy="942034"/>
      </dsp:txXfrm>
    </dsp:sp>
    <dsp:sp modelId="{F5AD4191-EEF8-4A65-ABCF-ECF913895E65}">
      <dsp:nvSpPr>
        <dsp:cNvPr id="0" name=""/>
        <dsp:cNvSpPr/>
      </dsp:nvSpPr>
      <dsp:spPr>
        <a:xfrm rot="3600000">
          <a:off x="3558399" y="1300012"/>
          <a:ext cx="354847" cy="449629"/>
        </a:xfrm>
        <a:prstGeom prst="rightArrow">
          <a:avLst>
            <a:gd name="adj1" fmla="val 60000"/>
            <a:gd name="adj2" fmla="val 5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p>
      </dsp:txBody>
      <dsp:txXfrm>
        <a:off x="3585013" y="1343842"/>
        <a:ext cx="248393" cy="269777"/>
      </dsp:txXfrm>
    </dsp:sp>
    <dsp:sp modelId="{2B85E611-1B0D-45CA-B9E9-D8AD1A1F5E8C}">
      <dsp:nvSpPr>
        <dsp:cNvPr id="0" name=""/>
        <dsp:cNvSpPr/>
      </dsp:nvSpPr>
      <dsp:spPr>
        <a:xfrm>
          <a:off x="3575166" y="1734193"/>
          <a:ext cx="1332236" cy="1332236"/>
        </a:xfrm>
        <a:prstGeom prst="ellipse">
          <a:avLst/>
        </a:prstGeom>
        <a:gradFill rotWithShape="0">
          <a:gsLst>
            <a:gs pos="0">
              <a:schemeClr val="accent4">
                <a:hueOff val="4900445"/>
                <a:satOff val="-20388"/>
                <a:lumOff val="4804"/>
                <a:alphaOff val="0"/>
                <a:satMod val="103000"/>
                <a:lumMod val="102000"/>
                <a:tint val="94000"/>
              </a:schemeClr>
            </a:gs>
            <a:gs pos="50000">
              <a:schemeClr val="accent4">
                <a:hueOff val="4900445"/>
                <a:satOff val="-20388"/>
                <a:lumOff val="4804"/>
                <a:alphaOff val="0"/>
                <a:satMod val="110000"/>
                <a:lumMod val="100000"/>
                <a:shade val="100000"/>
              </a:schemeClr>
            </a:gs>
            <a:gs pos="100000">
              <a:schemeClr val="accent4">
                <a:hueOff val="4900445"/>
                <a:satOff val="-20388"/>
                <a:lumOff val="480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7940" tIns="27940" rIns="27940" bIns="27940" numCol="1" spcCol="1270" anchor="t" anchorCtr="0">
          <a:noAutofit/>
        </a:bodyPr>
        <a:lstStyle/>
        <a:p>
          <a:pPr marL="0" lvl="0" indent="0" algn="ctr" defTabSz="977900">
            <a:lnSpc>
              <a:spcPct val="100000"/>
            </a:lnSpc>
            <a:spcBef>
              <a:spcPct val="0"/>
            </a:spcBef>
            <a:spcAft>
              <a:spcPts val="0"/>
            </a:spcAft>
            <a:buNone/>
          </a:pPr>
          <a:r>
            <a:rPr lang="zh-CN" altLang="en-US" sz="2200" kern="1200"/>
            <a:t>时间</a:t>
          </a:r>
          <a:endParaRPr lang="en-US" altLang="zh-CN" sz="2200" kern="1200"/>
        </a:p>
        <a:p>
          <a:pPr marL="0" lvl="0" indent="0" algn="ctr" defTabSz="977900">
            <a:lnSpc>
              <a:spcPct val="100000"/>
            </a:lnSpc>
            <a:spcBef>
              <a:spcPct val="0"/>
            </a:spcBef>
            <a:spcAft>
              <a:spcPts val="0"/>
            </a:spcAft>
            <a:buNone/>
          </a:pPr>
          <a:r>
            <a:rPr lang="en-US" altLang="zh-CN" sz="2200" kern="1200"/>
            <a:t>Time</a:t>
          </a:r>
          <a:endParaRPr lang="zh-CN" altLang="en-US" sz="2200" kern="1200"/>
        </a:p>
      </dsp:txBody>
      <dsp:txXfrm>
        <a:off x="3770267" y="1929294"/>
        <a:ext cx="942034" cy="942034"/>
      </dsp:txXfrm>
    </dsp:sp>
    <dsp:sp modelId="{03F35830-F120-48A3-87E3-609DB5DAB761}">
      <dsp:nvSpPr>
        <dsp:cNvPr id="0" name=""/>
        <dsp:cNvSpPr/>
      </dsp:nvSpPr>
      <dsp:spPr>
        <a:xfrm rot="10800000">
          <a:off x="3073024" y="2175497"/>
          <a:ext cx="354847" cy="449629"/>
        </a:xfrm>
        <a:prstGeom prst="rightArrow">
          <a:avLst>
            <a:gd name="adj1" fmla="val 60000"/>
            <a:gd name="adj2" fmla="val 50000"/>
          </a:avLst>
        </a:prstGeom>
        <a:gradFill rotWithShape="0">
          <a:gsLst>
            <a:gs pos="0">
              <a:schemeClr val="accent4">
                <a:hueOff val="4900445"/>
                <a:satOff val="-20388"/>
                <a:lumOff val="4804"/>
                <a:alphaOff val="0"/>
                <a:satMod val="103000"/>
                <a:lumMod val="102000"/>
                <a:tint val="94000"/>
              </a:schemeClr>
            </a:gs>
            <a:gs pos="50000">
              <a:schemeClr val="accent4">
                <a:hueOff val="4900445"/>
                <a:satOff val="-20388"/>
                <a:lumOff val="4804"/>
                <a:alphaOff val="0"/>
                <a:satMod val="110000"/>
                <a:lumMod val="100000"/>
                <a:shade val="100000"/>
              </a:schemeClr>
            </a:gs>
            <a:gs pos="100000">
              <a:schemeClr val="accent4">
                <a:hueOff val="4900445"/>
                <a:satOff val="-20388"/>
                <a:lumOff val="480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p>
      </dsp:txBody>
      <dsp:txXfrm rot="10800000">
        <a:off x="3179478" y="2265423"/>
        <a:ext cx="248393" cy="269777"/>
      </dsp:txXfrm>
    </dsp:sp>
    <dsp:sp modelId="{27B9E288-AC43-406C-8A60-33F607417729}">
      <dsp:nvSpPr>
        <dsp:cNvPr id="0" name=""/>
        <dsp:cNvSpPr/>
      </dsp:nvSpPr>
      <dsp:spPr>
        <a:xfrm>
          <a:off x="1573406" y="1734193"/>
          <a:ext cx="1332236" cy="1332236"/>
        </a:xfrm>
        <a:prstGeom prst="ellipse">
          <a:avLst/>
        </a:prstGeom>
        <a:gradFill rotWithShape="0">
          <a:gsLst>
            <a:gs pos="0">
              <a:schemeClr val="accent4">
                <a:hueOff val="9800891"/>
                <a:satOff val="-40777"/>
                <a:lumOff val="9608"/>
                <a:alphaOff val="0"/>
                <a:satMod val="103000"/>
                <a:lumMod val="102000"/>
                <a:tint val="94000"/>
              </a:schemeClr>
            </a:gs>
            <a:gs pos="50000">
              <a:schemeClr val="accent4">
                <a:hueOff val="9800891"/>
                <a:satOff val="-40777"/>
                <a:lumOff val="9608"/>
                <a:alphaOff val="0"/>
                <a:satMod val="110000"/>
                <a:lumMod val="100000"/>
                <a:shade val="100000"/>
              </a:schemeClr>
            </a:gs>
            <a:gs pos="100000">
              <a:schemeClr val="accent4">
                <a:hueOff val="9800891"/>
                <a:satOff val="-40777"/>
                <a:lumOff val="960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7940" tIns="27940" rIns="27940" bIns="27940" numCol="1" spcCol="1270" anchor="t" anchorCtr="0">
          <a:noAutofit/>
        </a:bodyPr>
        <a:lstStyle/>
        <a:p>
          <a:pPr marL="0" lvl="0" indent="0" algn="ctr" defTabSz="977900">
            <a:lnSpc>
              <a:spcPct val="100000"/>
            </a:lnSpc>
            <a:spcBef>
              <a:spcPct val="0"/>
            </a:spcBef>
            <a:spcAft>
              <a:spcPts val="0"/>
            </a:spcAft>
            <a:buNone/>
          </a:pPr>
          <a:r>
            <a:rPr lang="zh-CN" altLang="en-US" sz="2200" kern="1200"/>
            <a:t>成本</a:t>
          </a:r>
          <a:endParaRPr lang="en-US" altLang="zh-CN" sz="2200" kern="1200"/>
        </a:p>
        <a:p>
          <a:pPr marL="0" lvl="0" indent="0" algn="ctr" defTabSz="977900">
            <a:lnSpc>
              <a:spcPct val="100000"/>
            </a:lnSpc>
            <a:spcBef>
              <a:spcPct val="0"/>
            </a:spcBef>
            <a:spcAft>
              <a:spcPts val="0"/>
            </a:spcAft>
            <a:buNone/>
          </a:pPr>
          <a:r>
            <a:rPr lang="en-US" altLang="zh-CN" sz="2200" kern="1200"/>
            <a:t>Cost</a:t>
          </a:r>
          <a:endParaRPr lang="zh-CN" altLang="en-US" sz="2200" kern="1200"/>
        </a:p>
      </dsp:txBody>
      <dsp:txXfrm>
        <a:off x="1768507" y="1929294"/>
        <a:ext cx="942034" cy="942034"/>
      </dsp:txXfrm>
    </dsp:sp>
    <dsp:sp modelId="{657FBBAE-B7ED-45F1-AB9F-4ED5E3C6841B}">
      <dsp:nvSpPr>
        <dsp:cNvPr id="0" name=""/>
        <dsp:cNvSpPr/>
      </dsp:nvSpPr>
      <dsp:spPr>
        <a:xfrm rot="18000000">
          <a:off x="2557520" y="1317407"/>
          <a:ext cx="354847" cy="449629"/>
        </a:xfrm>
        <a:prstGeom prst="rightArrow">
          <a:avLst>
            <a:gd name="adj1" fmla="val 60000"/>
            <a:gd name="adj2" fmla="val 50000"/>
          </a:avLst>
        </a:prstGeom>
        <a:gradFill rotWithShape="0">
          <a:gsLst>
            <a:gs pos="0">
              <a:schemeClr val="accent4">
                <a:hueOff val="9800891"/>
                <a:satOff val="-40777"/>
                <a:lumOff val="9608"/>
                <a:alphaOff val="0"/>
                <a:satMod val="103000"/>
                <a:lumMod val="102000"/>
                <a:tint val="94000"/>
              </a:schemeClr>
            </a:gs>
            <a:gs pos="50000">
              <a:schemeClr val="accent4">
                <a:hueOff val="9800891"/>
                <a:satOff val="-40777"/>
                <a:lumOff val="9608"/>
                <a:alphaOff val="0"/>
                <a:satMod val="110000"/>
                <a:lumMod val="100000"/>
                <a:shade val="100000"/>
              </a:schemeClr>
            </a:gs>
            <a:gs pos="100000">
              <a:schemeClr val="accent4">
                <a:hueOff val="9800891"/>
                <a:satOff val="-40777"/>
                <a:lumOff val="960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p>
      </dsp:txBody>
      <dsp:txXfrm>
        <a:off x="2584134" y="1453429"/>
        <a:ext cx="248393" cy="269777"/>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A9159D-38C1-4756-A832-CEDDEB14E691}">
      <dsp:nvSpPr>
        <dsp:cNvPr id="0" name=""/>
        <dsp:cNvSpPr/>
      </dsp:nvSpPr>
      <dsp:spPr>
        <a:xfrm>
          <a:off x="3167010" y="1470933"/>
          <a:ext cx="1081464" cy="948511"/>
        </a:xfrm>
        <a:prstGeom prst="roundRect">
          <a:avLst/>
        </a:prstGeom>
        <a:solidFill>
          <a:schemeClr val="accent2"/>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880" tIns="55880" rIns="55880" bIns="55880" numCol="1" spcCol="1270" anchor="ctr" anchorCtr="0">
          <a:noAutofit/>
        </a:bodyPr>
        <a:lstStyle/>
        <a:p>
          <a:pPr marL="0" lvl="0" indent="0" algn="ctr" defTabSz="977900">
            <a:lnSpc>
              <a:spcPct val="90000"/>
            </a:lnSpc>
            <a:spcBef>
              <a:spcPct val="0"/>
            </a:spcBef>
            <a:spcAft>
              <a:spcPct val="35000"/>
            </a:spcAft>
            <a:buNone/>
          </a:pPr>
          <a:r>
            <a:rPr lang="zh-CN" altLang="en-US" sz="2200" kern="1200"/>
            <a:t>三要素</a:t>
          </a:r>
        </a:p>
      </dsp:txBody>
      <dsp:txXfrm>
        <a:off x="3213312" y="1517235"/>
        <a:ext cx="988860" cy="855907"/>
      </dsp:txXfrm>
    </dsp:sp>
    <dsp:sp modelId="{E036DDC7-86A9-4942-86FB-0BD5462B5B84}">
      <dsp:nvSpPr>
        <dsp:cNvPr id="0" name=""/>
        <dsp:cNvSpPr/>
      </dsp:nvSpPr>
      <dsp:spPr>
        <a:xfrm rot="16200000">
          <a:off x="3375072" y="1138263"/>
          <a:ext cx="665341" cy="0"/>
        </a:xfrm>
        <a:custGeom>
          <a:avLst/>
          <a:gdLst/>
          <a:ahLst/>
          <a:cxnLst/>
          <a:rect l="0" t="0" r="0" b="0"/>
          <a:pathLst>
            <a:path>
              <a:moveTo>
                <a:pt x="0" y="0"/>
              </a:moveTo>
              <a:lnTo>
                <a:pt x="665341"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AADCF43-3232-40F4-97EF-08E0483DDA09}">
      <dsp:nvSpPr>
        <dsp:cNvPr id="0" name=""/>
        <dsp:cNvSpPr/>
      </dsp:nvSpPr>
      <dsp:spPr>
        <a:xfrm>
          <a:off x="3103815" y="170089"/>
          <a:ext cx="1207855" cy="635502"/>
        </a:xfrm>
        <a:prstGeom prst="roundRect">
          <a:avLst/>
        </a:prstGeom>
        <a:solidFill>
          <a:schemeClr val="accent5">
            <a:hueOff val="-2252848"/>
            <a:satOff val="-5806"/>
            <a:lumOff val="-3922"/>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t>风险事件</a:t>
          </a:r>
        </a:p>
      </dsp:txBody>
      <dsp:txXfrm>
        <a:off x="3134838" y="201112"/>
        <a:ext cx="1145809" cy="573456"/>
      </dsp:txXfrm>
    </dsp:sp>
    <dsp:sp modelId="{67336EBA-D51C-4A59-8645-56330AC30058}">
      <dsp:nvSpPr>
        <dsp:cNvPr id="0" name=""/>
        <dsp:cNvSpPr/>
      </dsp:nvSpPr>
      <dsp:spPr>
        <a:xfrm rot="1800000">
          <a:off x="4233493" y="2313294"/>
          <a:ext cx="223652" cy="0"/>
        </a:xfrm>
        <a:custGeom>
          <a:avLst/>
          <a:gdLst/>
          <a:ahLst/>
          <a:cxnLst/>
          <a:rect l="0" t="0" r="0" b="0"/>
          <a:pathLst>
            <a:path>
              <a:moveTo>
                <a:pt x="0" y="0"/>
              </a:moveTo>
              <a:lnTo>
                <a:pt x="223652"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F0164DC-E322-40FD-9B12-21763D0605E5}">
      <dsp:nvSpPr>
        <dsp:cNvPr id="0" name=""/>
        <dsp:cNvSpPr/>
      </dsp:nvSpPr>
      <dsp:spPr>
        <a:xfrm>
          <a:off x="4442163" y="2356112"/>
          <a:ext cx="1055360" cy="635502"/>
        </a:xfrm>
        <a:prstGeom prst="roundRect">
          <a:avLst/>
        </a:prstGeom>
        <a:solidFill>
          <a:schemeClr val="accent5">
            <a:hueOff val="-4505695"/>
            <a:satOff val="-11613"/>
            <a:lumOff val="-7843"/>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43180" rIns="43180" bIns="43180" numCol="1" spcCol="1270" anchor="ctr" anchorCtr="0">
          <a:noAutofit/>
        </a:bodyPr>
        <a:lstStyle/>
        <a:p>
          <a:pPr marL="0" lvl="0" indent="0" algn="ctr" defTabSz="755650">
            <a:lnSpc>
              <a:spcPct val="90000"/>
            </a:lnSpc>
            <a:spcBef>
              <a:spcPct val="0"/>
            </a:spcBef>
            <a:spcAft>
              <a:spcPct val="35000"/>
            </a:spcAft>
            <a:buNone/>
          </a:pPr>
          <a:r>
            <a:rPr lang="zh-CN" altLang="en-US" sz="1700" kern="1200"/>
            <a:t>事件影响</a:t>
          </a:r>
        </a:p>
      </dsp:txBody>
      <dsp:txXfrm>
        <a:off x="4473186" y="2387135"/>
        <a:ext cx="993314" cy="573456"/>
      </dsp:txXfrm>
    </dsp:sp>
    <dsp:sp modelId="{29F38271-CCB7-4FD1-AC5B-FE0118D83BDF}">
      <dsp:nvSpPr>
        <dsp:cNvPr id="0" name=""/>
        <dsp:cNvSpPr/>
      </dsp:nvSpPr>
      <dsp:spPr>
        <a:xfrm rot="9000000">
          <a:off x="2956899" y="2313680"/>
          <a:ext cx="225196" cy="0"/>
        </a:xfrm>
        <a:custGeom>
          <a:avLst/>
          <a:gdLst/>
          <a:ahLst/>
          <a:cxnLst/>
          <a:rect l="0" t="0" r="0" b="0"/>
          <a:pathLst>
            <a:path>
              <a:moveTo>
                <a:pt x="0" y="0"/>
              </a:moveTo>
              <a:lnTo>
                <a:pt x="225196"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F146E54-6BB3-4FBC-8ADD-0B6ECF04AED9}">
      <dsp:nvSpPr>
        <dsp:cNvPr id="0" name=""/>
        <dsp:cNvSpPr/>
      </dsp:nvSpPr>
      <dsp:spPr>
        <a:xfrm>
          <a:off x="1919299" y="2356112"/>
          <a:ext cx="1052684" cy="635502"/>
        </a:xfrm>
        <a:prstGeom prst="roundRect">
          <a:avLst/>
        </a:prstGeom>
        <a:solidFill>
          <a:schemeClr val="accent5">
            <a:hueOff val="-6758543"/>
            <a:satOff val="-17419"/>
            <a:lumOff val="-11765"/>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43180" rIns="43180" bIns="43180" numCol="1" spcCol="1270" anchor="ctr" anchorCtr="0">
          <a:noAutofit/>
        </a:bodyPr>
        <a:lstStyle/>
        <a:p>
          <a:pPr marL="0" lvl="0" indent="0" algn="ctr" defTabSz="755650">
            <a:lnSpc>
              <a:spcPct val="90000"/>
            </a:lnSpc>
            <a:spcBef>
              <a:spcPct val="0"/>
            </a:spcBef>
            <a:spcAft>
              <a:spcPct val="35000"/>
            </a:spcAft>
            <a:buNone/>
          </a:pPr>
          <a:r>
            <a:rPr lang="zh-CN" altLang="en-US" sz="1700" kern="1200"/>
            <a:t>事件概率</a:t>
          </a:r>
        </a:p>
      </dsp:txBody>
      <dsp:txXfrm>
        <a:off x="1950322" y="2387135"/>
        <a:ext cx="990638" cy="573456"/>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F1A2CC-DA64-4E6D-800E-759648269836}">
      <dsp:nvSpPr>
        <dsp:cNvPr id="0" name=""/>
        <dsp:cNvSpPr/>
      </dsp:nvSpPr>
      <dsp:spPr>
        <a:xfrm>
          <a:off x="2574286" y="619"/>
          <a:ext cx="1332236" cy="1332236"/>
        </a:xfrm>
        <a:prstGeom prst="ellipse">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7940" tIns="27940" rIns="27940" bIns="27940" numCol="1" spcCol="1270" anchor="t" anchorCtr="0">
          <a:noAutofit/>
        </a:bodyPr>
        <a:lstStyle/>
        <a:p>
          <a:pPr marL="0" lvl="0" indent="0" algn="ctr" defTabSz="977900">
            <a:lnSpc>
              <a:spcPct val="90000"/>
            </a:lnSpc>
            <a:spcBef>
              <a:spcPct val="0"/>
            </a:spcBef>
            <a:spcAft>
              <a:spcPct val="35000"/>
            </a:spcAft>
            <a:buNone/>
          </a:pPr>
          <a:r>
            <a:rPr lang="en-US" altLang="zh-CN" sz="2200" kern="1200"/>
            <a:t>Scope</a:t>
          </a:r>
          <a:endParaRPr lang="zh-CN" altLang="en-US" sz="2200" kern="1200"/>
        </a:p>
      </dsp:txBody>
      <dsp:txXfrm>
        <a:off x="2769387" y="195720"/>
        <a:ext cx="942034" cy="942034"/>
      </dsp:txXfrm>
    </dsp:sp>
    <dsp:sp modelId="{F5AD4191-EEF8-4A65-ABCF-ECF913895E65}">
      <dsp:nvSpPr>
        <dsp:cNvPr id="0" name=""/>
        <dsp:cNvSpPr/>
      </dsp:nvSpPr>
      <dsp:spPr>
        <a:xfrm rot="3600000">
          <a:off x="3558399" y="1300012"/>
          <a:ext cx="354847" cy="449629"/>
        </a:xfrm>
        <a:prstGeom prst="rightArrow">
          <a:avLst>
            <a:gd name="adj1" fmla="val 60000"/>
            <a:gd name="adj2" fmla="val 5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p>
      </dsp:txBody>
      <dsp:txXfrm>
        <a:off x="3585013" y="1343842"/>
        <a:ext cx="248393" cy="269777"/>
      </dsp:txXfrm>
    </dsp:sp>
    <dsp:sp modelId="{2B85E611-1B0D-45CA-B9E9-D8AD1A1F5E8C}">
      <dsp:nvSpPr>
        <dsp:cNvPr id="0" name=""/>
        <dsp:cNvSpPr/>
      </dsp:nvSpPr>
      <dsp:spPr>
        <a:xfrm>
          <a:off x="3575166" y="1734193"/>
          <a:ext cx="1332236" cy="1332236"/>
        </a:xfrm>
        <a:prstGeom prst="ellipse">
          <a:avLst/>
        </a:prstGeom>
        <a:gradFill rotWithShape="0">
          <a:gsLst>
            <a:gs pos="0">
              <a:schemeClr val="accent4">
                <a:hueOff val="4900445"/>
                <a:satOff val="-20388"/>
                <a:lumOff val="4804"/>
                <a:alphaOff val="0"/>
                <a:satMod val="103000"/>
                <a:lumMod val="102000"/>
                <a:tint val="94000"/>
              </a:schemeClr>
            </a:gs>
            <a:gs pos="50000">
              <a:schemeClr val="accent4">
                <a:hueOff val="4900445"/>
                <a:satOff val="-20388"/>
                <a:lumOff val="4804"/>
                <a:alphaOff val="0"/>
                <a:satMod val="110000"/>
                <a:lumMod val="100000"/>
                <a:shade val="100000"/>
              </a:schemeClr>
            </a:gs>
            <a:gs pos="100000">
              <a:schemeClr val="accent4">
                <a:hueOff val="4900445"/>
                <a:satOff val="-20388"/>
                <a:lumOff val="480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7940" tIns="27940" rIns="27940" bIns="27940" numCol="1" spcCol="1270" anchor="t" anchorCtr="0">
          <a:noAutofit/>
        </a:bodyPr>
        <a:lstStyle/>
        <a:p>
          <a:pPr marL="0" lvl="0" indent="0" algn="ctr" defTabSz="977900">
            <a:lnSpc>
              <a:spcPct val="90000"/>
            </a:lnSpc>
            <a:spcBef>
              <a:spcPct val="0"/>
            </a:spcBef>
            <a:spcAft>
              <a:spcPct val="35000"/>
            </a:spcAft>
            <a:buNone/>
          </a:pPr>
          <a:r>
            <a:rPr lang="en-US" altLang="zh-CN" sz="2200" kern="1200"/>
            <a:t>Time</a:t>
          </a:r>
          <a:endParaRPr lang="zh-CN" altLang="en-US" sz="2200" kern="1200"/>
        </a:p>
      </dsp:txBody>
      <dsp:txXfrm>
        <a:off x="3770267" y="1929294"/>
        <a:ext cx="942034" cy="942034"/>
      </dsp:txXfrm>
    </dsp:sp>
    <dsp:sp modelId="{03F35830-F120-48A3-87E3-609DB5DAB761}">
      <dsp:nvSpPr>
        <dsp:cNvPr id="0" name=""/>
        <dsp:cNvSpPr/>
      </dsp:nvSpPr>
      <dsp:spPr>
        <a:xfrm rot="10800000">
          <a:off x="3073024" y="2175497"/>
          <a:ext cx="354847" cy="449629"/>
        </a:xfrm>
        <a:prstGeom prst="rightArrow">
          <a:avLst>
            <a:gd name="adj1" fmla="val 60000"/>
            <a:gd name="adj2" fmla="val 50000"/>
          </a:avLst>
        </a:prstGeom>
        <a:gradFill rotWithShape="0">
          <a:gsLst>
            <a:gs pos="0">
              <a:schemeClr val="accent4">
                <a:hueOff val="4900445"/>
                <a:satOff val="-20388"/>
                <a:lumOff val="4804"/>
                <a:alphaOff val="0"/>
                <a:satMod val="103000"/>
                <a:lumMod val="102000"/>
                <a:tint val="94000"/>
              </a:schemeClr>
            </a:gs>
            <a:gs pos="50000">
              <a:schemeClr val="accent4">
                <a:hueOff val="4900445"/>
                <a:satOff val="-20388"/>
                <a:lumOff val="4804"/>
                <a:alphaOff val="0"/>
                <a:satMod val="110000"/>
                <a:lumMod val="100000"/>
                <a:shade val="100000"/>
              </a:schemeClr>
            </a:gs>
            <a:gs pos="100000">
              <a:schemeClr val="accent4">
                <a:hueOff val="4900445"/>
                <a:satOff val="-20388"/>
                <a:lumOff val="480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p>
      </dsp:txBody>
      <dsp:txXfrm rot="10800000">
        <a:off x="3179478" y="2265423"/>
        <a:ext cx="248393" cy="269777"/>
      </dsp:txXfrm>
    </dsp:sp>
    <dsp:sp modelId="{27B9E288-AC43-406C-8A60-33F607417729}">
      <dsp:nvSpPr>
        <dsp:cNvPr id="0" name=""/>
        <dsp:cNvSpPr/>
      </dsp:nvSpPr>
      <dsp:spPr>
        <a:xfrm>
          <a:off x="1573406" y="1734193"/>
          <a:ext cx="1332236" cy="1332236"/>
        </a:xfrm>
        <a:prstGeom prst="ellipse">
          <a:avLst/>
        </a:prstGeom>
        <a:gradFill rotWithShape="0">
          <a:gsLst>
            <a:gs pos="0">
              <a:schemeClr val="accent4">
                <a:hueOff val="9800891"/>
                <a:satOff val="-40777"/>
                <a:lumOff val="9608"/>
                <a:alphaOff val="0"/>
                <a:satMod val="103000"/>
                <a:lumMod val="102000"/>
                <a:tint val="94000"/>
              </a:schemeClr>
            </a:gs>
            <a:gs pos="50000">
              <a:schemeClr val="accent4">
                <a:hueOff val="9800891"/>
                <a:satOff val="-40777"/>
                <a:lumOff val="9608"/>
                <a:alphaOff val="0"/>
                <a:satMod val="110000"/>
                <a:lumMod val="100000"/>
                <a:shade val="100000"/>
              </a:schemeClr>
            </a:gs>
            <a:gs pos="100000">
              <a:schemeClr val="accent4">
                <a:hueOff val="9800891"/>
                <a:satOff val="-40777"/>
                <a:lumOff val="960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7940" tIns="27940" rIns="27940" bIns="27940" numCol="1" spcCol="1270" anchor="t" anchorCtr="0">
          <a:noAutofit/>
        </a:bodyPr>
        <a:lstStyle/>
        <a:p>
          <a:pPr marL="0" lvl="0" indent="0" algn="ctr" defTabSz="977900">
            <a:lnSpc>
              <a:spcPct val="90000"/>
            </a:lnSpc>
            <a:spcBef>
              <a:spcPct val="0"/>
            </a:spcBef>
            <a:spcAft>
              <a:spcPct val="35000"/>
            </a:spcAft>
            <a:buNone/>
          </a:pPr>
          <a:r>
            <a:rPr lang="en-US" altLang="zh-CN" sz="2200" kern="1200"/>
            <a:t>Cost</a:t>
          </a:r>
          <a:endParaRPr lang="zh-CN" altLang="en-US" sz="2200" kern="1200"/>
        </a:p>
      </dsp:txBody>
      <dsp:txXfrm>
        <a:off x="1768507" y="1929294"/>
        <a:ext cx="942034" cy="942034"/>
      </dsp:txXfrm>
    </dsp:sp>
    <dsp:sp modelId="{657FBBAE-B7ED-45F1-AB9F-4ED5E3C6841B}">
      <dsp:nvSpPr>
        <dsp:cNvPr id="0" name=""/>
        <dsp:cNvSpPr/>
      </dsp:nvSpPr>
      <dsp:spPr>
        <a:xfrm rot="18000000">
          <a:off x="2557520" y="1317407"/>
          <a:ext cx="354847" cy="449629"/>
        </a:xfrm>
        <a:prstGeom prst="rightArrow">
          <a:avLst>
            <a:gd name="adj1" fmla="val 60000"/>
            <a:gd name="adj2" fmla="val 50000"/>
          </a:avLst>
        </a:prstGeom>
        <a:gradFill rotWithShape="0">
          <a:gsLst>
            <a:gs pos="0">
              <a:schemeClr val="accent4">
                <a:hueOff val="9800891"/>
                <a:satOff val="-40777"/>
                <a:lumOff val="9608"/>
                <a:alphaOff val="0"/>
                <a:satMod val="103000"/>
                <a:lumMod val="102000"/>
                <a:tint val="94000"/>
              </a:schemeClr>
            </a:gs>
            <a:gs pos="50000">
              <a:schemeClr val="accent4">
                <a:hueOff val="9800891"/>
                <a:satOff val="-40777"/>
                <a:lumOff val="9608"/>
                <a:alphaOff val="0"/>
                <a:satMod val="110000"/>
                <a:lumMod val="100000"/>
                <a:shade val="100000"/>
              </a:schemeClr>
            </a:gs>
            <a:gs pos="100000">
              <a:schemeClr val="accent4">
                <a:hueOff val="9800891"/>
                <a:satOff val="-40777"/>
                <a:lumOff val="960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p>
      </dsp:txBody>
      <dsp:txXfrm>
        <a:off x="2584134" y="1453429"/>
        <a:ext cx="248393" cy="269777"/>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11.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A6F2D3-2395-4AAE-9CF0-95BD3D8E29BD}" type="datetimeFigureOut">
              <a:rPr lang="zh-CN" altLang="en-US" smtClean="0"/>
              <a:t>2026/6/21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27E3F6-C3AC-4131-BD60-F31F1EE091B2}" type="slidenum">
              <a:rPr lang="zh-CN" altLang="en-US" smtClean="0"/>
              <a:t>‹#›</a:t>
            </a:fld>
            <a:endParaRPr lang="zh-CN" altLang="en-US"/>
          </a:p>
        </p:txBody>
      </p:sp>
    </p:spTree>
    <p:extLst>
      <p:ext uri="{BB962C8B-B14F-4D97-AF65-F5344CB8AC3E}">
        <p14:creationId xmlns:p14="http://schemas.microsoft.com/office/powerpoint/2010/main" val="8874320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24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25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25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253.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259.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261.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26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26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270.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272.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276.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278.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279.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280.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287.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290.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294.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29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29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29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301.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302.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304.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305.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306.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307.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310.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311.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312.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313.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315.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317.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319.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32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32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32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328.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333.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334.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339.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345.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347.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352.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353.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358.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361.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363.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364.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366.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370.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371.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386.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387.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389.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395.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397.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398.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400.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405.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408.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409.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410.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413.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417.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418.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419.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429.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432.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434.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4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fld id="{6D27E3F6-C3AC-4131-BD60-F31F1EE091B2}" type="slidenum">
              <a:rPr lang="zh-CN" altLang="en-US" smtClean="0"/>
              <a:t>12</a:t>
            </a:fld>
            <a:endParaRPr lang="zh-CN" altLang="en-US"/>
          </a:p>
        </p:txBody>
      </p:sp>
    </p:spTree>
    <p:extLst>
      <p:ext uri="{BB962C8B-B14F-4D97-AF65-F5344CB8AC3E}">
        <p14:creationId xmlns:p14="http://schemas.microsoft.com/office/powerpoint/2010/main" val="24468469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lang="zh-CN" altLang="en-US"/>
              <a:t>购买碟片 </a:t>
            </a:r>
            <a:r>
              <a:rPr lang="en-US" altLang="zh-CN"/>
              <a:t>vs </a:t>
            </a:r>
            <a:r>
              <a:rPr lang="zh-CN" altLang="en-US"/>
              <a:t>爱奇艺</a:t>
            </a:r>
            <a:endParaRPr lang="en-US" altLang="zh-CN"/>
          </a:p>
          <a:p>
            <a:r>
              <a:rPr lang="zh-CN" altLang="en-US"/>
              <a:t>买车 </a:t>
            </a:r>
            <a:r>
              <a:rPr lang="en-US" altLang="zh-CN"/>
              <a:t>vs </a:t>
            </a:r>
            <a:r>
              <a:rPr lang="zh-CN" altLang="en-US"/>
              <a:t>网约车</a:t>
            </a:r>
            <a:endParaRPr lang="en-US" altLang="zh-CN"/>
          </a:p>
          <a:p>
            <a:r>
              <a:rPr lang="en-US" altLang="zh-CN"/>
              <a:t>IDE vs </a:t>
            </a:r>
            <a:r>
              <a:rPr lang="zh-CN" altLang="en-US"/>
              <a:t>云开发</a:t>
            </a:r>
          </a:p>
        </p:txBody>
      </p:sp>
      <p:sp>
        <p:nvSpPr>
          <p:cNvPr id="4" name="Slide Number Placeholder 3"/>
          <p:cNvSpPr>
            <a:spLocks noGrp="1"/>
          </p:cNvSpPr>
          <p:nvPr>
            <p:ph type="sldNum" sz="quarter" idx="5"/>
          </p:nvPr>
        </p:nvSpPr>
        <p:spPr/>
        <p:txBody>
          <a:bodyPr/>
          <a:lstStyle/>
          <a:p>
            <a:fld id="{6D27E3F6-C3AC-4131-BD60-F31F1EE091B2}" type="slidenum">
              <a:rPr lang="zh-CN" altLang="en-US" smtClean="0"/>
              <a:t>13</a:t>
            </a:fld>
            <a:endParaRPr lang="zh-CN" altLang="en-US"/>
          </a:p>
        </p:txBody>
      </p:sp>
    </p:spTree>
    <p:extLst>
      <p:ext uri="{BB962C8B-B14F-4D97-AF65-F5344CB8AC3E}">
        <p14:creationId xmlns:p14="http://schemas.microsoft.com/office/powerpoint/2010/main" val="34173085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EB73F-F85A-4773-0DD1-8E5730B281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EACB1D-01F7-2A78-DEC9-F0BCC7116BD2}"/>
              </a:ext>
            </a:extLst>
          </p:cNvPr>
          <p:cNvSpPr>
            <a:spLocks noGrp="1" noRot="1" noChangeAspect="1"/>
          </p:cNvSpPr>
          <p:nvPr>
            <p:ph type="sldImg"/>
          </p:nvPr>
        </p:nvSpPr>
        <p:spPr/>
        <p:txBody>
          <a:bodyPr/>
          <a:lstStyle/>
          <a:p>
            <a:endParaRPr lang="zh-CN" altLang="en-US"/>
          </a:p>
        </p:txBody>
      </p:sp>
      <p:sp>
        <p:nvSpPr>
          <p:cNvPr id="3" name="Notes Placeholder 2">
            <a:extLst>
              <a:ext uri="{FF2B5EF4-FFF2-40B4-BE49-F238E27FC236}">
                <a16:creationId xmlns:a16="http://schemas.microsoft.com/office/drawing/2014/main" id="{C53378CB-1F12-2F06-6254-65CB659931F8}"/>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C0CE84CD-9C4A-FE24-21A7-6437AA71F5CA}"/>
              </a:ext>
            </a:extLst>
          </p:cNvPr>
          <p:cNvSpPr>
            <a:spLocks noGrp="1"/>
          </p:cNvSpPr>
          <p:nvPr>
            <p:ph type="sldNum" sz="quarter" idx="5"/>
          </p:nvPr>
        </p:nvSpPr>
        <p:spPr/>
        <p:txBody>
          <a:bodyPr/>
          <a:lstStyle/>
          <a:p>
            <a:fld id="{6D27E3F6-C3AC-4131-BD60-F31F1EE091B2}" type="slidenum">
              <a:rPr lang="zh-CN" altLang="en-US" smtClean="0"/>
              <a:t>14</a:t>
            </a:fld>
            <a:endParaRPr lang="zh-CN" altLang="en-US"/>
          </a:p>
        </p:txBody>
      </p:sp>
    </p:spTree>
    <p:extLst>
      <p:ext uri="{BB962C8B-B14F-4D97-AF65-F5344CB8AC3E}">
        <p14:creationId xmlns:p14="http://schemas.microsoft.com/office/powerpoint/2010/main" val="20259710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lang="en-US" altLang="zh-CN"/>
              <a:t>Do the project right</a:t>
            </a:r>
          </a:p>
          <a:p>
            <a:r>
              <a:rPr lang="en-US" altLang="zh-CN"/>
              <a:t>Do the right project</a:t>
            </a:r>
          </a:p>
          <a:p>
            <a:endParaRPr lang="en-US" altLang="zh-CN"/>
          </a:p>
          <a:p>
            <a:r>
              <a:rPr lang="en-US" altLang="zh-CN"/>
              <a:t>Output (</a:t>
            </a:r>
            <a:r>
              <a:rPr lang="zh-CN" altLang="en-US"/>
              <a:t>产出</a:t>
            </a:r>
            <a:r>
              <a:rPr lang="en-US" altLang="zh-CN"/>
              <a:t>) = </a:t>
            </a:r>
            <a:r>
              <a:rPr lang="zh-CN" altLang="en-US"/>
              <a:t>我们做了什么？（关注工作量</a:t>
            </a:r>
            <a:r>
              <a:rPr lang="en-US" altLang="zh-CN"/>
              <a:t>/</a:t>
            </a:r>
            <a:r>
              <a:rPr lang="zh-CN" altLang="en-US"/>
              <a:t>交付物）</a:t>
            </a:r>
          </a:p>
          <a:p>
            <a:r>
              <a:rPr lang="en-US" altLang="zh-CN"/>
              <a:t>Outcome (</a:t>
            </a:r>
            <a:r>
              <a:rPr lang="zh-CN" altLang="en-US"/>
              <a:t>成果</a:t>
            </a:r>
            <a:r>
              <a:rPr lang="en-US" altLang="zh-CN"/>
              <a:t>) = </a:t>
            </a:r>
            <a:r>
              <a:rPr lang="zh-CN" altLang="en-US"/>
              <a:t>我们达成了什么效果？（关注价值</a:t>
            </a:r>
            <a:r>
              <a:rPr lang="en-US" altLang="zh-CN"/>
              <a:t>/</a:t>
            </a:r>
            <a:r>
              <a:rPr lang="zh-CN" altLang="en-US"/>
              <a:t>影响力）</a:t>
            </a:r>
          </a:p>
        </p:txBody>
      </p:sp>
      <p:sp>
        <p:nvSpPr>
          <p:cNvPr id="4" name="Slide Number Placeholder 3"/>
          <p:cNvSpPr>
            <a:spLocks noGrp="1"/>
          </p:cNvSpPr>
          <p:nvPr>
            <p:ph type="sldNum" sz="quarter" idx="5"/>
          </p:nvPr>
        </p:nvSpPr>
        <p:spPr/>
        <p:txBody>
          <a:bodyPr/>
          <a:lstStyle/>
          <a:p>
            <a:fld id="{6D27E3F6-C3AC-4131-BD60-F31F1EE091B2}" type="slidenum">
              <a:rPr lang="zh-CN" altLang="en-US" smtClean="0"/>
              <a:t>19</a:t>
            </a:fld>
            <a:endParaRPr lang="zh-CN" altLang="en-US"/>
          </a:p>
        </p:txBody>
      </p:sp>
    </p:spTree>
    <p:extLst>
      <p:ext uri="{BB962C8B-B14F-4D97-AF65-F5344CB8AC3E}">
        <p14:creationId xmlns:p14="http://schemas.microsoft.com/office/powerpoint/2010/main" val="30575156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fld id="{6D27E3F6-C3AC-4131-BD60-F31F1EE091B2}" type="slidenum">
              <a:rPr lang="zh-CN" altLang="en-US" smtClean="0"/>
              <a:t>21</a:t>
            </a:fld>
            <a:endParaRPr lang="zh-CN" altLang="en-US"/>
          </a:p>
        </p:txBody>
      </p:sp>
    </p:spTree>
    <p:extLst>
      <p:ext uri="{BB962C8B-B14F-4D97-AF65-F5344CB8AC3E}">
        <p14:creationId xmlns:p14="http://schemas.microsoft.com/office/powerpoint/2010/main" val="5368878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97E45-E552-3766-6948-B5455AF042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4BA732-A509-D09C-2282-937BDA1D70E4}"/>
              </a:ext>
            </a:extLst>
          </p:cNvPr>
          <p:cNvSpPr>
            <a:spLocks noGrp="1" noRot="1" noChangeAspect="1"/>
          </p:cNvSpPr>
          <p:nvPr>
            <p:ph type="sldImg"/>
          </p:nvPr>
        </p:nvSpPr>
        <p:spPr/>
        <p:txBody>
          <a:bodyPr/>
          <a:lstStyle/>
          <a:p>
            <a:endParaRPr lang="zh-CN" altLang="en-US"/>
          </a:p>
        </p:txBody>
      </p:sp>
      <p:sp>
        <p:nvSpPr>
          <p:cNvPr id="3" name="Notes Placeholder 2">
            <a:extLst>
              <a:ext uri="{FF2B5EF4-FFF2-40B4-BE49-F238E27FC236}">
                <a16:creationId xmlns:a16="http://schemas.microsoft.com/office/drawing/2014/main" id="{16A5CEA0-619B-D4FB-0C1E-D4B2E9F03D71}"/>
              </a:ext>
            </a:extLst>
          </p:cNvPr>
          <p:cNvSpPr>
            <a:spLocks noGrp="1"/>
          </p:cNvSpPr>
          <p:nvPr>
            <p:ph type="body" idx="1"/>
          </p:nvPr>
        </p:nvSpPr>
        <p:spPr/>
        <p:txBody>
          <a:bodyPr/>
          <a:lstStyle/>
          <a:p>
            <a:r>
              <a:rPr lang="zh-CN" altLang="en-US"/>
              <a:t>体现管理；好的规划，是为了更好的执行，创造价值</a:t>
            </a:r>
            <a:endParaRPr lang="en-US" altLang="zh-CN"/>
          </a:p>
          <a:p>
            <a:r>
              <a:rPr lang="zh-CN" altLang="en-US"/>
              <a:t>规划要细，执行要狠，监控要勤，收尾要稳</a:t>
            </a:r>
          </a:p>
        </p:txBody>
      </p:sp>
      <p:sp>
        <p:nvSpPr>
          <p:cNvPr id="4" name="Slide Number Placeholder 3">
            <a:extLst>
              <a:ext uri="{FF2B5EF4-FFF2-40B4-BE49-F238E27FC236}">
                <a16:creationId xmlns:a16="http://schemas.microsoft.com/office/drawing/2014/main" id="{AA15ACD8-B9C6-5403-7731-7BC3EF80912C}"/>
              </a:ext>
            </a:extLst>
          </p:cNvPr>
          <p:cNvSpPr>
            <a:spLocks noGrp="1"/>
          </p:cNvSpPr>
          <p:nvPr>
            <p:ph type="sldNum" sz="quarter" idx="5"/>
          </p:nvPr>
        </p:nvSpPr>
        <p:spPr/>
        <p:txBody>
          <a:bodyPr/>
          <a:lstStyle/>
          <a:p>
            <a:fld id="{6D27E3F6-C3AC-4131-BD60-F31F1EE091B2}" type="slidenum">
              <a:rPr lang="zh-CN" altLang="en-US" smtClean="0"/>
              <a:t>22</a:t>
            </a:fld>
            <a:endParaRPr lang="zh-CN" altLang="en-US"/>
          </a:p>
        </p:txBody>
      </p:sp>
    </p:spTree>
    <p:extLst>
      <p:ext uri="{BB962C8B-B14F-4D97-AF65-F5344CB8AC3E}">
        <p14:creationId xmlns:p14="http://schemas.microsoft.com/office/powerpoint/2010/main" val="38547684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23</a:t>
            </a:fld>
            <a:endParaRPr lang="zh-CN" altLang="en-US"/>
          </a:p>
        </p:txBody>
      </p:sp>
    </p:spTree>
    <p:extLst>
      <p:ext uri="{BB962C8B-B14F-4D97-AF65-F5344CB8AC3E}">
        <p14:creationId xmlns:p14="http://schemas.microsoft.com/office/powerpoint/2010/main" val="5304943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lang="zh-CN" altLang="en-US"/>
              <a:t>第</a:t>
            </a:r>
            <a:r>
              <a:rPr lang="en-US" altLang="zh-CN"/>
              <a:t>7</a:t>
            </a:r>
            <a:r>
              <a:rPr lang="zh-CN" altLang="en-US"/>
              <a:t>版不再像第</a:t>
            </a:r>
            <a:r>
              <a:rPr lang="en-US" altLang="zh-CN"/>
              <a:t>6</a:t>
            </a:r>
            <a:r>
              <a:rPr lang="zh-CN" altLang="en-US"/>
              <a:t>版那样提供详细的“输入</a:t>
            </a:r>
            <a:r>
              <a:rPr lang="en-US" altLang="zh-CN"/>
              <a:t>-</a:t>
            </a:r>
            <a:r>
              <a:rPr lang="zh-CN" altLang="en-US"/>
              <a:t>工具</a:t>
            </a:r>
            <a:r>
              <a:rPr lang="en-US" altLang="zh-CN"/>
              <a:t>-</a:t>
            </a:r>
            <a:r>
              <a:rPr lang="zh-CN" altLang="en-US"/>
              <a:t>输出 </a:t>
            </a:r>
            <a:r>
              <a:rPr lang="en-US" altLang="zh-CN"/>
              <a:t>(ITTO)”</a:t>
            </a:r>
            <a:r>
              <a:rPr lang="zh-CN" altLang="en-US"/>
              <a:t>矩阵，而是期望项目经理基于这</a:t>
            </a:r>
            <a:r>
              <a:rPr lang="en-US" altLang="zh-CN"/>
              <a:t>12</a:t>
            </a:r>
            <a:r>
              <a:rPr lang="zh-CN" altLang="en-US"/>
              <a:t>项原则，在</a:t>
            </a:r>
            <a:r>
              <a:rPr lang="en-US" altLang="zh-CN"/>
              <a:t>8</a:t>
            </a:r>
            <a:r>
              <a:rPr lang="zh-CN" altLang="en-US"/>
              <a:t>大绩效域中灵活运用各种工具和剪裁方法，以实现价值交付</a:t>
            </a:r>
            <a:endParaRPr lang="en-US" altLang="zh-CN"/>
          </a:p>
        </p:txBody>
      </p:sp>
      <p:sp>
        <p:nvSpPr>
          <p:cNvPr id="4" name="Slide Number Placeholder 3"/>
          <p:cNvSpPr>
            <a:spLocks noGrp="1"/>
          </p:cNvSpPr>
          <p:nvPr>
            <p:ph type="sldNum" sz="quarter" idx="5"/>
          </p:nvPr>
        </p:nvSpPr>
        <p:spPr/>
        <p:txBody>
          <a:bodyPr/>
          <a:lstStyle/>
          <a:p>
            <a:fld id="{6D27E3F6-C3AC-4131-BD60-F31F1EE091B2}" type="slidenum">
              <a:rPr lang="zh-CN" altLang="en-US" smtClean="0"/>
              <a:t>24</a:t>
            </a:fld>
            <a:endParaRPr lang="zh-CN" altLang="en-US"/>
          </a:p>
        </p:txBody>
      </p:sp>
    </p:spTree>
    <p:extLst>
      <p:ext uri="{BB962C8B-B14F-4D97-AF65-F5344CB8AC3E}">
        <p14:creationId xmlns:p14="http://schemas.microsoft.com/office/powerpoint/2010/main" val="40785607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lang="en-US" altLang="zh-CN" dirty="0"/>
              <a:t>As nouns the difference between housekeeper and steward is that housekeeper is one who </a:t>
            </a:r>
            <a:r>
              <a:rPr lang="en-US" altLang="zh-CN" b="1" dirty="0"/>
              <a:t>looks after </a:t>
            </a:r>
            <a:r>
              <a:rPr lang="en-US" altLang="zh-CN" dirty="0"/>
              <a:t>the home by herself; either as a wife or a hired servant </a:t>
            </a:r>
          </a:p>
          <a:p>
            <a:r>
              <a:rPr lang="en-US" altLang="zh-CN" dirty="0"/>
              <a:t>while steward is a person who </a:t>
            </a:r>
            <a:r>
              <a:rPr lang="en-US" altLang="zh-CN" b="1" dirty="0"/>
              <a:t>manages</a:t>
            </a:r>
            <a:r>
              <a:rPr lang="en-US" altLang="zh-CN" dirty="0"/>
              <a:t> the property or affairs for another entity.</a:t>
            </a:r>
          </a:p>
          <a:p>
            <a:r>
              <a:rPr lang="en-US" altLang="zh-CN" dirty="0"/>
              <a:t>Stewardship is about being </a:t>
            </a:r>
            <a:r>
              <a:rPr lang="en-US" altLang="zh-CN" b="1" dirty="0"/>
              <a:t>responsible</a:t>
            </a:r>
            <a:r>
              <a:rPr lang="en-US" altLang="zh-CN" dirty="0"/>
              <a:t> for the resources, processes, and trust that have been entrusted to us. </a:t>
            </a:r>
          </a:p>
          <a:p>
            <a:r>
              <a:rPr lang="en-US" altLang="zh-CN" dirty="0"/>
              <a:t>It involves acting with integrity, compliance, and respect for people and the environment."</a:t>
            </a:r>
          </a:p>
          <a:p>
            <a:r>
              <a:rPr lang="en-US" altLang="zh-CN" dirty="0"/>
              <a:t>"Project managers act as stewards by ensuring compliance with legal and regulatory requirements, safeguarding safety and security, and managing resources sustainably."</a:t>
            </a:r>
            <a:endParaRPr lang="zh-CN" altLang="en-US" dirty="0"/>
          </a:p>
        </p:txBody>
      </p:sp>
      <p:sp>
        <p:nvSpPr>
          <p:cNvPr id="4" name="Slide Number Placeholder 3"/>
          <p:cNvSpPr>
            <a:spLocks noGrp="1"/>
          </p:cNvSpPr>
          <p:nvPr>
            <p:ph type="sldNum" sz="quarter" idx="5"/>
          </p:nvPr>
        </p:nvSpPr>
        <p:spPr/>
        <p:txBody>
          <a:bodyPr/>
          <a:lstStyle/>
          <a:p>
            <a:fld id="{6D27E3F6-C3AC-4131-BD60-F31F1EE091B2}" type="slidenum">
              <a:rPr lang="zh-CN" altLang="en-US" smtClean="0"/>
              <a:t>26</a:t>
            </a:fld>
            <a:endParaRPr lang="zh-CN" altLang="en-US"/>
          </a:p>
        </p:txBody>
      </p:sp>
    </p:spTree>
    <p:extLst>
      <p:ext uri="{BB962C8B-B14F-4D97-AF65-F5344CB8AC3E}">
        <p14:creationId xmlns:p14="http://schemas.microsoft.com/office/powerpoint/2010/main" val="11592730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50CD0-D4BA-2846-6B7E-7EEC435A44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10C0EB-FA0F-65F6-AD10-4BA88D708CEC}"/>
              </a:ext>
            </a:extLst>
          </p:cNvPr>
          <p:cNvSpPr>
            <a:spLocks noGrp="1" noRot="1" noChangeAspect="1"/>
          </p:cNvSpPr>
          <p:nvPr>
            <p:ph type="sldImg"/>
          </p:nvPr>
        </p:nvSpPr>
        <p:spPr/>
        <p:txBody>
          <a:bodyPr/>
          <a:lstStyle/>
          <a:p>
            <a:endParaRPr lang="zh-CN" altLang="en-US"/>
          </a:p>
        </p:txBody>
      </p:sp>
      <p:sp>
        <p:nvSpPr>
          <p:cNvPr id="3" name="Notes Placeholder 2">
            <a:extLst>
              <a:ext uri="{FF2B5EF4-FFF2-40B4-BE49-F238E27FC236}">
                <a16:creationId xmlns:a16="http://schemas.microsoft.com/office/drawing/2014/main" id="{F15953AC-6D01-A761-93CD-83FD62FCEBAB}"/>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7B4AE972-887B-3197-39F9-91F70477A53A}"/>
              </a:ext>
            </a:extLst>
          </p:cNvPr>
          <p:cNvSpPr>
            <a:spLocks noGrp="1"/>
          </p:cNvSpPr>
          <p:nvPr>
            <p:ph type="sldNum" sz="quarter" idx="5"/>
          </p:nvPr>
        </p:nvSpPr>
        <p:spPr/>
        <p:txBody>
          <a:bodyPr/>
          <a:lstStyle/>
          <a:p>
            <a:fld id="{6D27E3F6-C3AC-4131-BD60-F31F1EE091B2}" type="slidenum">
              <a:rPr lang="zh-CN" altLang="en-US" smtClean="0"/>
              <a:t>27</a:t>
            </a:fld>
            <a:endParaRPr lang="zh-CN" altLang="en-US"/>
          </a:p>
        </p:txBody>
      </p:sp>
    </p:spTree>
    <p:extLst>
      <p:ext uri="{BB962C8B-B14F-4D97-AF65-F5344CB8AC3E}">
        <p14:creationId xmlns:p14="http://schemas.microsoft.com/office/powerpoint/2010/main" val="2469341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绩效域 </a:t>
            </a:r>
            <a:r>
              <a:rPr lang="en-US" altLang="zh-CN"/>
              <a:t>Domains </a:t>
            </a:r>
            <a:r>
              <a:rPr lang="zh-CN" altLang="en-US"/>
              <a:t>是雷达图：</a:t>
            </a:r>
            <a:endParaRPr lang="en-US" altLang="zh-CN"/>
          </a:p>
          <a:p>
            <a:r>
              <a:rPr lang="zh-CN" altLang="en-US"/>
              <a:t>告诉你需要同时关注哪些关键领域，这些领域之间是动态平衡的；例如：在关注交付的同时，不能忽视团队或不确定性</a:t>
            </a:r>
          </a:p>
          <a:p>
            <a:endParaRPr lang="zh-CN" altLang="en-US"/>
          </a:p>
          <a:p>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28</a:t>
            </a:fld>
            <a:endParaRPr lang="zh-CN" altLang="en-US"/>
          </a:p>
        </p:txBody>
      </p:sp>
    </p:spTree>
    <p:extLst>
      <p:ext uri="{BB962C8B-B14F-4D97-AF65-F5344CB8AC3E}">
        <p14:creationId xmlns:p14="http://schemas.microsoft.com/office/powerpoint/2010/main" val="41777005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over</a:t>
            </a:r>
            <a:r>
              <a:rPr lang="zh-CN" altLang="en-US"/>
              <a:t>胜于</a:t>
            </a:r>
            <a:r>
              <a:rPr lang="en-US" altLang="zh-CN"/>
              <a:t>/</a:t>
            </a:r>
            <a:r>
              <a:rPr lang="zh-CN" altLang="en-US"/>
              <a:t>优于</a:t>
            </a: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并没有否定</a:t>
            </a:r>
          </a:p>
          <a:p>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36</a:t>
            </a:fld>
            <a:endParaRPr lang="zh-CN" altLang="en-US"/>
          </a:p>
        </p:txBody>
      </p:sp>
    </p:spTree>
    <p:extLst>
      <p:ext uri="{BB962C8B-B14F-4D97-AF65-F5344CB8AC3E}">
        <p14:creationId xmlns:p14="http://schemas.microsoft.com/office/powerpoint/2010/main" val="6735118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用人不疑</a:t>
            </a:r>
            <a:endParaRPr lang="en-US" altLang="zh-CN"/>
          </a:p>
          <a:p>
            <a:r>
              <a:rPr lang="zh-CN" altLang="en-US"/>
              <a:t>可工作：应用</a:t>
            </a:r>
            <a:endParaRPr lang="en-US" altLang="zh-CN"/>
          </a:p>
          <a:p>
            <a:r>
              <a:rPr lang="en-US" altLang="zh-CN"/>
              <a:t>5. </a:t>
            </a:r>
            <a:r>
              <a:rPr lang="zh-CN" altLang="en-US"/>
              <a:t>要我学 → 我想学</a:t>
            </a:r>
            <a:endParaRPr lang="en-US" altLang="zh-CN"/>
          </a:p>
          <a:p>
            <a:r>
              <a:rPr lang="zh-CN" altLang="en-US"/>
              <a:t>复盘</a:t>
            </a:r>
            <a:endParaRPr lang="en-US" altLang="zh-CN"/>
          </a:p>
          <a:p>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37</a:t>
            </a:fld>
            <a:endParaRPr lang="zh-CN" altLang="en-US"/>
          </a:p>
        </p:txBody>
      </p:sp>
    </p:spTree>
    <p:extLst>
      <p:ext uri="{BB962C8B-B14F-4D97-AF65-F5344CB8AC3E}">
        <p14:creationId xmlns:p14="http://schemas.microsoft.com/office/powerpoint/2010/main" val="41800919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E7F94-C43A-BE31-639B-B0D8401F7EC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1F0DBD8-FF0B-D91D-FCA9-B500E3D4BB3C}"/>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028D23A0-E481-22AE-2942-4C4935BCCAAC}"/>
              </a:ext>
            </a:extLst>
          </p:cNvPr>
          <p:cNvSpPr>
            <a:spLocks noGrp="1"/>
          </p:cNvSpPr>
          <p:nvPr>
            <p:ph type="body" idx="1"/>
          </p:nvPr>
        </p:nvSpPr>
        <p:spPr/>
        <p:txBody>
          <a:bodyPr/>
          <a:lstStyle/>
          <a:p>
            <a:r>
              <a:rPr lang="zh-CN" altLang="en-US"/>
              <a:t>用人不疑</a:t>
            </a:r>
            <a:endParaRPr lang="en-US" altLang="zh-CN"/>
          </a:p>
          <a:p>
            <a:r>
              <a:rPr lang="zh-CN" altLang="en-US"/>
              <a:t>可工作：应用</a:t>
            </a:r>
            <a:endParaRPr lang="en-US" altLang="zh-CN"/>
          </a:p>
          <a:p>
            <a:r>
              <a:rPr lang="zh-CN" altLang="en-US"/>
              <a:t>团队稳定、不加班</a:t>
            </a:r>
            <a:r>
              <a:rPr lang="en-US" altLang="zh-CN"/>
              <a:t>-8-</a:t>
            </a:r>
            <a:r>
              <a:rPr lang="zh-CN" altLang="en-US"/>
              <a:t>人文关怀</a:t>
            </a:r>
            <a:endParaRPr lang="en-US" altLang="zh-CN"/>
          </a:p>
          <a:p>
            <a:r>
              <a:rPr lang="zh-CN" altLang="en-US"/>
              <a:t>复盘</a:t>
            </a:r>
            <a:endParaRPr lang="en-US" altLang="zh-CN"/>
          </a:p>
          <a:p>
            <a:r>
              <a:rPr lang="en-US" altLang="zh-CN"/>
              <a:t>10 </a:t>
            </a:r>
            <a:r>
              <a:rPr lang="zh-CN" altLang="en-US"/>
              <a:t>精简机构；简洁是交付完整的核心价值，剔除多余的边角料。它是“精瘦”，不是“残疾”</a:t>
            </a:r>
            <a:endParaRPr lang="en-US" altLang="zh-CN"/>
          </a:p>
          <a:p>
            <a:r>
              <a:rPr lang="zh-CN" altLang="en-US"/>
              <a:t>项目启动时定义的“范围”（</a:t>
            </a:r>
            <a:r>
              <a:rPr lang="en-US" altLang="zh-CN"/>
              <a:t>Scope</a:t>
            </a:r>
            <a:r>
              <a:rPr lang="zh-CN" altLang="en-US"/>
              <a:t>），通常基于当时的认知、市场预测和用户访谈；</a:t>
            </a:r>
            <a:endParaRPr lang="en-US" altLang="zh-CN"/>
          </a:p>
          <a:p>
            <a:r>
              <a:rPr lang="zh-CN" altLang="en-US"/>
              <a:t>范围本质上都是一个“未经完全验证的假设；</a:t>
            </a:r>
            <a:endParaRPr lang="en-US" altLang="zh-CN"/>
          </a:p>
          <a:p>
            <a:r>
              <a:rPr lang="zh-CN" altLang="en-US"/>
              <a:t>“范围”不是一道不可逾越的铁律，而是一个待优化的假设集合；</a:t>
            </a:r>
            <a:endParaRPr lang="en-US" altLang="zh-CN"/>
          </a:p>
          <a:p>
            <a:r>
              <a:rPr lang="zh-CN" altLang="en-US"/>
              <a:t>这才是真正的以价值为导向，而不是以文档为导向</a:t>
            </a:r>
            <a:endParaRPr lang="en-US" altLang="zh-CN"/>
          </a:p>
          <a:p>
            <a:endParaRPr lang="en-US" altLang="zh-CN"/>
          </a:p>
          <a:p>
            <a:r>
              <a:rPr lang="en-US" altLang="zh-CN"/>
              <a:t>11</a:t>
            </a:r>
            <a:r>
              <a:rPr lang="zh-CN" altLang="en-US"/>
              <a:t>最具颠覆性的一条，因为它直接挑战了传统管理中的“命令与控制”（</a:t>
            </a:r>
            <a:r>
              <a:rPr lang="en-US" altLang="zh-CN"/>
              <a:t>Command and Control</a:t>
            </a:r>
            <a:r>
              <a:rPr lang="zh-CN" altLang="en-US"/>
              <a:t>）模式</a:t>
            </a:r>
            <a:endParaRPr lang="en-US" altLang="zh-CN"/>
          </a:p>
          <a:p>
            <a:r>
              <a:rPr lang="zh-CN" altLang="en-US"/>
              <a:t>自主</a:t>
            </a:r>
            <a:endParaRPr lang="en-US" altLang="zh-CN"/>
          </a:p>
          <a:p>
            <a:r>
              <a:rPr lang="zh-CN" altLang="en-US"/>
              <a:t>“涌现”意味着结果不是被预先设计好、然后强行执行的；而是在团队互动的过程中，随着对问题理解的加深，自然生长出来的</a:t>
            </a:r>
            <a:endParaRPr lang="en-US" altLang="zh-CN"/>
          </a:p>
          <a:p>
            <a:r>
              <a:rPr lang="en-US" altLang="zh-CN"/>
              <a:t>-</a:t>
            </a:r>
            <a:r>
              <a:rPr lang="zh-CN" altLang="en-US"/>
              <a:t>不再分配任务：不要说“</a:t>
            </a:r>
            <a:r>
              <a:rPr lang="en-US" altLang="zh-CN"/>
              <a:t>A</a:t>
            </a:r>
            <a:r>
              <a:rPr lang="zh-CN" altLang="en-US"/>
              <a:t>你做这个，</a:t>
            </a:r>
            <a:r>
              <a:rPr lang="en-US" altLang="zh-CN"/>
              <a:t>B</a:t>
            </a:r>
            <a:r>
              <a:rPr lang="zh-CN" altLang="en-US"/>
              <a:t>你做那个”。而是说“这是我们的目标，你们觉得怎么分工最合适？”</a:t>
            </a:r>
          </a:p>
          <a:p>
            <a:r>
              <a:rPr lang="en-US" altLang="zh-CN"/>
              <a:t>-</a:t>
            </a:r>
            <a:r>
              <a:rPr lang="zh-CN" altLang="en-US"/>
              <a:t>提供环境而非答案：你的工作是确保团队有合适的工具、清晰的目标、透明的信息流，以及心理安全感（敢于试错）。</a:t>
            </a:r>
          </a:p>
          <a:p>
            <a:r>
              <a:rPr lang="en-US" altLang="zh-CN"/>
              <a:t>-</a:t>
            </a:r>
            <a:r>
              <a:rPr lang="zh-CN" altLang="en-US"/>
              <a:t>信任与放手：即使你觉得团队的方法不是最优的，只要风险可控，也要让他们去尝试。失败也是学习的一部分，是从错误中“涌现”出正确方案的必经之路。</a:t>
            </a:r>
          </a:p>
          <a:p>
            <a:r>
              <a:rPr lang="en-US" altLang="zh-CN"/>
              <a:t>-</a:t>
            </a:r>
            <a:r>
              <a:rPr lang="zh-CN" altLang="en-US"/>
              <a:t>保护团队：阻挡外部的干扰和无理的需求变更，让团队能专注于创造价值。</a:t>
            </a:r>
            <a:endParaRPr lang="en-US" altLang="zh-CN"/>
          </a:p>
          <a:p>
            <a:r>
              <a:rPr lang="zh-CN" altLang="en-US"/>
              <a:t>如果是被指令驱动的团队，他们只会机械地执行预设的（可能是错误的）方案，永远无法触及那个“最好”的解</a:t>
            </a:r>
            <a:endParaRPr lang="en-US" altLang="zh-CN"/>
          </a:p>
          <a:p>
            <a:r>
              <a:rPr lang="zh-CN" altLang="en-US"/>
              <a:t>中国诗人海子的</a:t>
            </a:r>
            <a:r>
              <a:rPr lang="en-US" altLang="zh-CN"/>
              <a:t>《</a:t>
            </a:r>
            <a:r>
              <a:rPr lang="zh-CN" altLang="en-US"/>
              <a:t>面朝大海，春暖花开</a:t>
            </a:r>
            <a:r>
              <a:rPr lang="en-US" altLang="zh-CN"/>
              <a:t>》</a:t>
            </a:r>
            <a:endParaRPr lang="zh-CN" altLang="en-US"/>
          </a:p>
        </p:txBody>
      </p:sp>
      <p:sp>
        <p:nvSpPr>
          <p:cNvPr id="4" name="灯片编号占位符 3">
            <a:extLst>
              <a:ext uri="{FF2B5EF4-FFF2-40B4-BE49-F238E27FC236}">
                <a16:creationId xmlns:a16="http://schemas.microsoft.com/office/drawing/2014/main" id="{6A5E2018-3C81-E7CB-72E9-E22A1E7927BC}"/>
              </a:ext>
            </a:extLst>
          </p:cNvPr>
          <p:cNvSpPr>
            <a:spLocks noGrp="1"/>
          </p:cNvSpPr>
          <p:nvPr>
            <p:ph type="sldNum" sz="quarter" idx="5"/>
          </p:nvPr>
        </p:nvSpPr>
        <p:spPr/>
        <p:txBody>
          <a:bodyPr/>
          <a:lstStyle/>
          <a:p>
            <a:fld id="{6D27E3F6-C3AC-4131-BD60-F31F1EE091B2}" type="slidenum">
              <a:rPr lang="zh-CN" altLang="en-US" smtClean="0"/>
              <a:t>38</a:t>
            </a:fld>
            <a:endParaRPr lang="zh-CN" altLang="en-US"/>
          </a:p>
        </p:txBody>
      </p:sp>
    </p:spTree>
    <p:extLst>
      <p:ext uri="{BB962C8B-B14F-4D97-AF65-F5344CB8AC3E}">
        <p14:creationId xmlns:p14="http://schemas.microsoft.com/office/powerpoint/2010/main" val="14056641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PMBOK </a:t>
            </a:r>
            <a:r>
              <a:rPr lang="zh-CN" altLang="en-US"/>
              <a:t>第 </a:t>
            </a:r>
            <a:r>
              <a:rPr lang="en-US" altLang="zh-CN"/>
              <a:t>7 </a:t>
            </a:r>
            <a:r>
              <a:rPr lang="zh-CN" altLang="en-US"/>
              <a:t>版的 </a:t>
            </a:r>
            <a:r>
              <a:rPr lang="en-US" altLang="zh-CN"/>
              <a:t>12 </a:t>
            </a:r>
            <a:r>
              <a:rPr lang="zh-CN" altLang="en-US"/>
              <a:t>项原则实际上“包含”并“扩展”了敏捷的原则</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39</a:t>
            </a:fld>
            <a:endParaRPr lang="zh-CN" altLang="en-US"/>
          </a:p>
        </p:txBody>
      </p:sp>
    </p:spTree>
    <p:extLst>
      <p:ext uri="{BB962C8B-B14F-4D97-AF65-F5344CB8AC3E}">
        <p14:creationId xmlns:p14="http://schemas.microsoft.com/office/powerpoint/2010/main" val="26378072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1. </a:t>
            </a:r>
            <a:r>
              <a:rPr lang="zh-CN" altLang="en-US"/>
              <a:t>根据前期的项目评估报告，拟定项目申请建议书，提交评审委员会审核</a:t>
            </a:r>
            <a:endParaRPr lang="en-US" altLang="zh-CN"/>
          </a:p>
          <a:p>
            <a:r>
              <a:rPr lang="en-US" altLang="zh-CN"/>
              <a:t>2. </a:t>
            </a:r>
            <a:r>
              <a:rPr lang="zh-CN" altLang="en-US"/>
              <a:t>评审委员会审核后，提交立项审核报告 </a:t>
            </a:r>
            <a:r>
              <a:rPr lang="en-US" altLang="zh-CN"/>
              <a:t>Project Initiation Review Report</a:t>
            </a:r>
            <a:r>
              <a:rPr lang="zh-CN" altLang="en-US"/>
              <a:t>，决定是否准予立项</a:t>
            </a:r>
            <a:endParaRPr lang="en-US" altLang="zh-CN"/>
          </a:p>
          <a:p>
            <a:r>
              <a:rPr lang="zh-CN" altLang="en-US"/>
              <a:t>对已提交的立项申请进行正式审查，决定是否批准立项 </a:t>
            </a:r>
            <a:r>
              <a:rPr lang="en-US" altLang="zh-CN"/>
              <a:t>- </a:t>
            </a:r>
            <a:r>
              <a:rPr lang="zh-CN" altLang="en-US"/>
              <a:t>双重评估机制</a:t>
            </a: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a:solidFill>
                  <a:schemeClr val="tx1"/>
                </a:solidFill>
              </a:rPr>
              <a:t>立项评审报告</a:t>
            </a:r>
            <a:r>
              <a:rPr lang="zh-CN" altLang="en-US"/>
              <a:t> </a:t>
            </a:r>
            <a:r>
              <a:rPr lang="en-US" altLang="zh-CN"/>
              <a:t>- </a:t>
            </a:r>
            <a:r>
              <a:rPr lang="zh-CN" altLang="en-US"/>
              <a:t>由评审委员会、专家组或相关管理部门，对</a:t>
            </a:r>
            <a:r>
              <a:rPr lang="en-US" altLang="zh-CN"/>
              <a:t>《</a:t>
            </a:r>
            <a:r>
              <a:rPr lang="zh-CN" altLang="en-US"/>
              <a:t>项目立项申请建议书</a:t>
            </a:r>
            <a:r>
              <a:rPr lang="en-US" altLang="zh-CN"/>
              <a:t>》</a:t>
            </a:r>
            <a:r>
              <a:rPr lang="zh-CN" altLang="en-US"/>
              <a:t>及相关资料进行系统性审查后形成的结论性文件</a:t>
            </a:r>
            <a:r>
              <a:rPr lang="en-US" altLang="zh-CN"/>
              <a:t> - </a:t>
            </a:r>
            <a:r>
              <a:rPr lang="zh-CN" altLang="en-US"/>
              <a:t>看病的病历</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47</a:t>
            </a:fld>
            <a:endParaRPr lang="zh-CN" altLang="en-US"/>
          </a:p>
        </p:txBody>
      </p:sp>
    </p:spTree>
    <p:extLst>
      <p:ext uri="{BB962C8B-B14F-4D97-AF65-F5344CB8AC3E}">
        <p14:creationId xmlns:p14="http://schemas.microsoft.com/office/powerpoint/2010/main" val="12517945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招标书</a:t>
            </a:r>
            <a:r>
              <a:rPr lang="en-US" altLang="zh-CN"/>
              <a:t>/Tender Document</a:t>
            </a:r>
          </a:p>
          <a:p>
            <a:r>
              <a:rPr lang="zh-CN" altLang="en-US"/>
              <a:t>投标书</a:t>
            </a:r>
            <a:r>
              <a:rPr lang="en-US" altLang="zh-CN"/>
              <a:t>/Bid Proposal/Tender Response</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48</a:t>
            </a:fld>
            <a:endParaRPr lang="zh-CN" altLang="en-US"/>
          </a:p>
        </p:txBody>
      </p:sp>
    </p:spTree>
    <p:extLst>
      <p:ext uri="{BB962C8B-B14F-4D97-AF65-F5344CB8AC3E}">
        <p14:creationId xmlns:p14="http://schemas.microsoft.com/office/powerpoint/2010/main" val="40477623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F67B5-DCCD-0996-9FE0-52350573C92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5F75599-9719-7CC2-91A8-98BC79F48928}"/>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9615EC3D-DEC0-548D-4BFA-AC67CFBACF1F}"/>
              </a:ext>
            </a:extLst>
          </p:cNvPr>
          <p:cNvSpPr>
            <a:spLocks noGrp="1"/>
          </p:cNvSpPr>
          <p:nvPr>
            <p:ph type="body" idx="1"/>
          </p:nvPr>
        </p:nvSpPr>
        <p:spPr/>
        <p:txBody>
          <a:bodyPr/>
          <a:lstStyle/>
          <a:p>
            <a:r>
              <a:rPr lang="zh-CN" altLang="en-US"/>
              <a:t>招标书</a:t>
            </a:r>
            <a:r>
              <a:rPr lang="en-US" altLang="zh-CN"/>
              <a:t>/Tender Document</a:t>
            </a:r>
          </a:p>
        </p:txBody>
      </p:sp>
      <p:sp>
        <p:nvSpPr>
          <p:cNvPr id="4" name="灯片编号占位符 3">
            <a:extLst>
              <a:ext uri="{FF2B5EF4-FFF2-40B4-BE49-F238E27FC236}">
                <a16:creationId xmlns:a16="http://schemas.microsoft.com/office/drawing/2014/main" id="{E446FB44-77E0-A985-9701-2C4F0C9D2673}"/>
              </a:ext>
            </a:extLst>
          </p:cNvPr>
          <p:cNvSpPr>
            <a:spLocks noGrp="1"/>
          </p:cNvSpPr>
          <p:nvPr>
            <p:ph type="sldNum" sz="quarter" idx="5"/>
          </p:nvPr>
        </p:nvSpPr>
        <p:spPr/>
        <p:txBody>
          <a:bodyPr/>
          <a:lstStyle/>
          <a:p>
            <a:fld id="{6D27E3F6-C3AC-4131-BD60-F31F1EE091B2}" type="slidenum">
              <a:rPr lang="zh-CN" altLang="en-US" smtClean="0"/>
              <a:t>49</a:t>
            </a:fld>
            <a:endParaRPr lang="zh-CN" altLang="en-US"/>
          </a:p>
        </p:txBody>
      </p:sp>
    </p:spTree>
    <p:extLst>
      <p:ext uri="{BB962C8B-B14F-4D97-AF65-F5344CB8AC3E}">
        <p14:creationId xmlns:p14="http://schemas.microsoft.com/office/powerpoint/2010/main" val="18451815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7BC84-6D9D-21F2-C315-E5ECE308BFF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75AADEA-2146-AA92-D15C-D1668CB2E542}"/>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80E7CD2C-FA29-80A0-7297-2FCBE714FD87}"/>
              </a:ext>
            </a:extLst>
          </p:cNvPr>
          <p:cNvSpPr>
            <a:spLocks noGrp="1"/>
          </p:cNvSpPr>
          <p:nvPr>
            <p:ph type="body" idx="1"/>
          </p:nvPr>
        </p:nvSpPr>
        <p:spPr/>
        <p:txBody>
          <a:bodyPr/>
          <a:lstStyle/>
          <a:p>
            <a:r>
              <a:rPr lang="zh-CN" altLang="en-US"/>
              <a:t>投标书</a:t>
            </a:r>
            <a:r>
              <a:rPr lang="en-US" altLang="zh-CN"/>
              <a:t>/Bid Proposal/Tender Response</a:t>
            </a:r>
          </a:p>
          <a:p>
            <a:r>
              <a:rPr lang="en-US" altLang="zh-CN"/>
              <a:t>SOW : Statement of work</a:t>
            </a:r>
            <a:endParaRPr lang="zh-CN" altLang="en-US"/>
          </a:p>
        </p:txBody>
      </p:sp>
      <p:sp>
        <p:nvSpPr>
          <p:cNvPr id="4" name="灯片编号占位符 3">
            <a:extLst>
              <a:ext uri="{FF2B5EF4-FFF2-40B4-BE49-F238E27FC236}">
                <a16:creationId xmlns:a16="http://schemas.microsoft.com/office/drawing/2014/main" id="{8C65D8F7-AD7C-C199-56FE-1A76413ECF28}"/>
              </a:ext>
            </a:extLst>
          </p:cNvPr>
          <p:cNvSpPr>
            <a:spLocks noGrp="1"/>
          </p:cNvSpPr>
          <p:nvPr>
            <p:ph type="sldNum" sz="quarter" idx="5"/>
          </p:nvPr>
        </p:nvSpPr>
        <p:spPr/>
        <p:txBody>
          <a:bodyPr/>
          <a:lstStyle/>
          <a:p>
            <a:fld id="{6D27E3F6-C3AC-4131-BD60-F31F1EE091B2}" type="slidenum">
              <a:rPr lang="zh-CN" altLang="en-US" smtClean="0"/>
              <a:t>50</a:t>
            </a:fld>
            <a:endParaRPr lang="zh-CN" altLang="en-US"/>
          </a:p>
        </p:txBody>
      </p:sp>
    </p:spTree>
    <p:extLst>
      <p:ext uri="{BB962C8B-B14F-4D97-AF65-F5344CB8AC3E}">
        <p14:creationId xmlns:p14="http://schemas.microsoft.com/office/powerpoint/2010/main" val="16087814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C8ED4-9D7B-8399-7E94-4E435B7D493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914FB82-6C82-02D0-4106-22899A3A4BAF}"/>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6AF2A996-9DA4-06EF-5E6A-2F54456F4A57}"/>
              </a:ext>
            </a:extLst>
          </p:cNvPr>
          <p:cNvSpPr>
            <a:spLocks noGrp="1"/>
          </p:cNvSpPr>
          <p:nvPr>
            <p:ph type="body" idx="1"/>
          </p:nvPr>
        </p:nvSpPr>
        <p:spPr/>
        <p:txBody>
          <a:bodyPr/>
          <a:lstStyle/>
          <a:p>
            <a:r>
              <a:rPr lang="en-US" altLang="zh-CN"/>
              <a:t>SOW : Statement of work</a:t>
            </a:r>
            <a:endParaRPr lang="zh-CN" altLang="en-US"/>
          </a:p>
        </p:txBody>
      </p:sp>
      <p:sp>
        <p:nvSpPr>
          <p:cNvPr id="4" name="灯片编号占位符 3">
            <a:extLst>
              <a:ext uri="{FF2B5EF4-FFF2-40B4-BE49-F238E27FC236}">
                <a16:creationId xmlns:a16="http://schemas.microsoft.com/office/drawing/2014/main" id="{6A6957F6-09C1-F56A-6FD6-CA1D5891CFA5}"/>
              </a:ext>
            </a:extLst>
          </p:cNvPr>
          <p:cNvSpPr>
            <a:spLocks noGrp="1"/>
          </p:cNvSpPr>
          <p:nvPr>
            <p:ph type="sldNum" sz="quarter" idx="5"/>
          </p:nvPr>
        </p:nvSpPr>
        <p:spPr/>
        <p:txBody>
          <a:bodyPr/>
          <a:lstStyle/>
          <a:p>
            <a:fld id="{6D27E3F6-C3AC-4131-BD60-F31F1EE091B2}" type="slidenum">
              <a:rPr lang="zh-CN" altLang="en-US" smtClean="0"/>
              <a:t>51</a:t>
            </a:fld>
            <a:endParaRPr lang="zh-CN" altLang="en-US"/>
          </a:p>
        </p:txBody>
      </p:sp>
    </p:spTree>
    <p:extLst>
      <p:ext uri="{BB962C8B-B14F-4D97-AF65-F5344CB8AC3E}">
        <p14:creationId xmlns:p14="http://schemas.microsoft.com/office/powerpoint/2010/main" val="16059477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项目名称</a:t>
            </a:r>
          </a:p>
          <a:p>
            <a:r>
              <a:rPr lang="zh-CN" altLang="en-US"/>
              <a:t>项目背景 </a:t>
            </a:r>
            <a:r>
              <a:rPr lang="en-US" altLang="zh-CN"/>
              <a:t>/ </a:t>
            </a:r>
            <a:r>
              <a:rPr lang="zh-CN" altLang="en-US"/>
              <a:t>商业需求</a:t>
            </a:r>
          </a:p>
          <a:p>
            <a:r>
              <a:rPr lang="zh-CN" altLang="en-US"/>
              <a:t>干系人名单（关键干系人）</a:t>
            </a:r>
          </a:p>
          <a:p>
            <a:r>
              <a:rPr lang="zh-CN" altLang="en-US"/>
              <a:t>总体里程碑进度表</a:t>
            </a:r>
          </a:p>
          <a:p>
            <a:r>
              <a:rPr lang="zh-CN" altLang="en-US"/>
              <a:t>成功标准（如何才算项目成功？）</a:t>
            </a:r>
          </a:p>
          <a:p>
            <a:r>
              <a:rPr lang="zh-CN" altLang="en-US"/>
              <a:t>假设条件与制约因素</a:t>
            </a:r>
          </a:p>
          <a:p>
            <a:r>
              <a:rPr lang="zh-CN" altLang="en-US"/>
              <a:t>审批要求（谁签字生效？）</a:t>
            </a:r>
            <a:endParaRPr lang="en-US" altLang="zh-CN"/>
          </a:p>
          <a:p>
            <a:endParaRPr lang="en-US" altLang="zh-CN"/>
          </a:p>
          <a:p>
            <a:r>
              <a:rPr lang="zh-CN" altLang="en-US"/>
              <a:t>一句话：我们为什么要做这个项目？谁负责？花多少钱？做到什么程度算成功？这一切都经过高层拍板</a:t>
            </a:r>
            <a:endParaRPr lang="en-US" altLang="zh-CN"/>
          </a:p>
          <a:p>
            <a:endParaRPr lang="zh-CN" altLang="en-US"/>
          </a:p>
          <a:p>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52</a:t>
            </a:fld>
            <a:endParaRPr lang="zh-CN" altLang="en-US"/>
          </a:p>
        </p:txBody>
      </p:sp>
    </p:spTree>
    <p:extLst>
      <p:ext uri="{BB962C8B-B14F-4D97-AF65-F5344CB8AC3E}">
        <p14:creationId xmlns:p14="http://schemas.microsoft.com/office/powerpoint/2010/main" val="33613616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73594-FEF0-E194-C5D8-9D0537D24C6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0CA214C-F32B-E490-783C-5FBCA7D2BBBC}"/>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72EC4727-50E8-2CCE-5C10-4A5E0F77CD65}"/>
              </a:ext>
            </a:extLst>
          </p:cNvPr>
          <p:cNvSpPr>
            <a:spLocks noGrp="1"/>
          </p:cNvSpPr>
          <p:nvPr>
            <p:ph type="body" idx="1"/>
          </p:nvPr>
        </p:nvSpPr>
        <p:spPr/>
        <p:txBody>
          <a:bodyPr/>
          <a:lstStyle/>
          <a:p>
            <a:r>
              <a:rPr lang="zh-CN" altLang="en-US"/>
              <a:t>项目名称</a:t>
            </a:r>
          </a:p>
          <a:p>
            <a:r>
              <a:rPr lang="zh-CN" altLang="en-US"/>
              <a:t>项目背景 </a:t>
            </a:r>
            <a:r>
              <a:rPr lang="en-US" altLang="zh-CN"/>
              <a:t>/ </a:t>
            </a:r>
            <a:r>
              <a:rPr lang="zh-CN" altLang="en-US"/>
              <a:t>商业需求</a:t>
            </a:r>
          </a:p>
          <a:p>
            <a:r>
              <a:rPr lang="zh-CN" altLang="en-US"/>
              <a:t>干系人名单（关键干系人）</a:t>
            </a:r>
          </a:p>
          <a:p>
            <a:r>
              <a:rPr lang="zh-CN" altLang="en-US"/>
              <a:t>总体里程碑进度表</a:t>
            </a:r>
          </a:p>
          <a:p>
            <a:r>
              <a:rPr lang="zh-CN" altLang="en-US"/>
              <a:t>成功标准（如何才算项目成功？）</a:t>
            </a:r>
          </a:p>
          <a:p>
            <a:r>
              <a:rPr lang="zh-CN" altLang="en-US"/>
              <a:t>假设条件与制约因素</a:t>
            </a:r>
          </a:p>
          <a:p>
            <a:r>
              <a:rPr lang="zh-CN" altLang="en-US"/>
              <a:t>审批要求（谁签字生效？）</a:t>
            </a:r>
            <a:endParaRPr lang="en-US" altLang="zh-CN"/>
          </a:p>
          <a:p>
            <a:endParaRPr lang="en-US" altLang="zh-CN"/>
          </a:p>
          <a:p>
            <a:r>
              <a:rPr lang="zh-CN" altLang="en-US"/>
              <a:t>一句话：我们为什么要做这个项目？谁负责？花多少钱？做到什么程度算成功？这一切都经过高层拍板</a:t>
            </a:r>
            <a:endParaRPr lang="en-US" altLang="zh-CN"/>
          </a:p>
          <a:p>
            <a:endParaRPr lang="zh-CN" altLang="en-US"/>
          </a:p>
          <a:p>
            <a:endParaRPr lang="zh-CN" altLang="en-US"/>
          </a:p>
        </p:txBody>
      </p:sp>
      <p:sp>
        <p:nvSpPr>
          <p:cNvPr id="4" name="灯片编号占位符 3">
            <a:extLst>
              <a:ext uri="{FF2B5EF4-FFF2-40B4-BE49-F238E27FC236}">
                <a16:creationId xmlns:a16="http://schemas.microsoft.com/office/drawing/2014/main" id="{658A3560-E790-1851-D582-F26A01F761BC}"/>
              </a:ext>
            </a:extLst>
          </p:cNvPr>
          <p:cNvSpPr>
            <a:spLocks noGrp="1"/>
          </p:cNvSpPr>
          <p:nvPr>
            <p:ph type="sldNum" sz="quarter" idx="5"/>
          </p:nvPr>
        </p:nvSpPr>
        <p:spPr/>
        <p:txBody>
          <a:bodyPr/>
          <a:lstStyle/>
          <a:p>
            <a:fld id="{6D27E3F6-C3AC-4131-BD60-F31F1EE091B2}" type="slidenum">
              <a:rPr lang="zh-CN" altLang="en-US" smtClean="0"/>
              <a:t>53</a:t>
            </a:fld>
            <a:endParaRPr lang="zh-CN" altLang="en-US"/>
          </a:p>
        </p:txBody>
      </p:sp>
    </p:spTree>
    <p:extLst>
      <p:ext uri="{BB962C8B-B14F-4D97-AF65-F5344CB8AC3E}">
        <p14:creationId xmlns:p14="http://schemas.microsoft.com/office/powerpoint/2010/main" val="26761633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01637-D952-D6C2-E786-0BC51949199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9934D71-7138-4F62-9E78-AD6CD07F444D}"/>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4947BEEC-E26E-7B89-8AC8-BC6311549FEB}"/>
              </a:ext>
            </a:extLst>
          </p:cNvPr>
          <p:cNvSpPr>
            <a:spLocks noGrp="1"/>
          </p:cNvSpPr>
          <p:nvPr>
            <p:ph type="body" idx="1"/>
          </p:nvPr>
        </p:nvSpPr>
        <p:spPr/>
        <p:txBody>
          <a:bodyPr/>
          <a:lstStyle/>
          <a:p>
            <a:r>
              <a:rPr lang="zh-CN" altLang="en-US"/>
              <a:t>项目名称</a:t>
            </a:r>
          </a:p>
          <a:p>
            <a:r>
              <a:rPr lang="zh-CN" altLang="en-US"/>
              <a:t>项目背景 </a:t>
            </a:r>
            <a:r>
              <a:rPr lang="en-US" altLang="zh-CN"/>
              <a:t>/ </a:t>
            </a:r>
            <a:r>
              <a:rPr lang="zh-CN" altLang="en-US"/>
              <a:t>商业需求</a:t>
            </a:r>
          </a:p>
          <a:p>
            <a:r>
              <a:rPr lang="zh-CN" altLang="en-US"/>
              <a:t>干系人名单（关键干系人）</a:t>
            </a:r>
          </a:p>
          <a:p>
            <a:r>
              <a:rPr lang="zh-CN" altLang="en-US"/>
              <a:t>总体里程碑进度表</a:t>
            </a:r>
          </a:p>
          <a:p>
            <a:r>
              <a:rPr lang="zh-CN" altLang="en-US"/>
              <a:t>成功标准（如何才算项目成功？）</a:t>
            </a:r>
          </a:p>
          <a:p>
            <a:r>
              <a:rPr lang="zh-CN" altLang="en-US"/>
              <a:t>假设条件与制约因素</a:t>
            </a:r>
          </a:p>
          <a:p>
            <a:r>
              <a:rPr lang="zh-CN" altLang="en-US"/>
              <a:t>审批要求（谁签字生效？）</a:t>
            </a:r>
            <a:endParaRPr lang="en-US" altLang="zh-CN"/>
          </a:p>
          <a:p>
            <a:endParaRPr lang="en-US" altLang="zh-CN"/>
          </a:p>
          <a:p>
            <a:r>
              <a:rPr lang="zh-CN" altLang="en-US"/>
              <a:t>一句话：我们为什么要做这个项目？谁负责？花多少钱？做到什么程度算成功？这一切都经过高层拍板</a:t>
            </a:r>
            <a:endParaRPr lang="en-US" altLang="zh-CN"/>
          </a:p>
          <a:p>
            <a:endParaRPr lang="zh-CN" altLang="en-US"/>
          </a:p>
          <a:p>
            <a:endParaRPr lang="zh-CN" altLang="en-US"/>
          </a:p>
        </p:txBody>
      </p:sp>
      <p:sp>
        <p:nvSpPr>
          <p:cNvPr id="4" name="灯片编号占位符 3">
            <a:extLst>
              <a:ext uri="{FF2B5EF4-FFF2-40B4-BE49-F238E27FC236}">
                <a16:creationId xmlns:a16="http://schemas.microsoft.com/office/drawing/2014/main" id="{8C3DEC73-2B6A-FBA2-6336-3DD7F728D004}"/>
              </a:ext>
            </a:extLst>
          </p:cNvPr>
          <p:cNvSpPr>
            <a:spLocks noGrp="1"/>
          </p:cNvSpPr>
          <p:nvPr>
            <p:ph type="sldNum" sz="quarter" idx="5"/>
          </p:nvPr>
        </p:nvSpPr>
        <p:spPr/>
        <p:txBody>
          <a:bodyPr/>
          <a:lstStyle/>
          <a:p>
            <a:fld id="{6D27E3F6-C3AC-4131-BD60-F31F1EE091B2}" type="slidenum">
              <a:rPr lang="zh-CN" altLang="en-US" smtClean="0"/>
              <a:t>54</a:t>
            </a:fld>
            <a:endParaRPr lang="zh-CN" altLang="en-US"/>
          </a:p>
        </p:txBody>
      </p:sp>
    </p:spTree>
    <p:extLst>
      <p:ext uri="{BB962C8B-B14F-4D97-AF65-F5344CB8AC3E}">
        <p14:creationId xmlns:p14="http://schemas.microsoft.com/office/powerpoint/2010/main" val="6674661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011AB-B446-461E-D8D6-D126143679E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51A8F3A-46C0-4E67-1AFF-A2BE57388F37}"/>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16740837-08E5-3E90-6165-5831AACB2D08}"/>
              </a:ext>
            </a:extLst>
          </p:cNvPr>
          <p:cNvSpPr>
            <a:spLocks noGrp="1"/>
          </p:cNvSpPr>
          <p:nvPr>
            <p:ph type="body" idx="1"/>
          </p:nvPr>
        </p:nvSpPr>
        <p:spPr/>
        <p:txBody>
          <a:bodyPr/>
          <a:lstStyle/>
          <a:p>
            <a:r>
              <a:rPr lang="zh-CN" altLang="en-US"/>
              <a:t>项目名称</a:t>
            </a:r>
          </a:p>
          <a:p>
            <a:r>
              <a:rPr lang="zh-CN" altLang="en-US"/>
              <a:t>项目背景 </a:t>
            </a:r>
            <a:r>
              <a:rPr lang="en-US" altLang="zh-CN"/>
              <a:t>/ </a:t>
            </a:r>
            <a:r>
              <a:rPr lang="zh-CN" altLang="en-US"/>
              <a:t>商业需求</a:t>
            </a:r>
          </a:p>
          <a:p>
            <a:r>
              <a:rPr lang="zh-CN" altLang="en-US"/>
              <a:t>干系人名单（关键干系人）</a:t>
            </a:r>
          </a:p>
          <a:p>
            <a:r>
              <a:rPr lang="zh-CN" altLang="en-US"/>
              <a:t>总体里程碑进度表</a:t>
            </a:r>
          </a:p>
          <a:p>
            <a:r>
              <a:rPr lang="zh-CN" altLang="en-US"/>
              <a:t>成功标准（如何才算项目成功？）</a:t>
            </a:r>
          </a:p>
          <a:p>
            <a:r>
              <a:rPr lang="zh-CN" altLang="en-US"/>
              <a:t>假设条件与制约因素</a:t>
            </a:r>
          </a:p>
          <a:p>
            <a:r>
              <a:rPr lang="zh-CN" altLang="en-US"/>
              <a:t>审批要求（谁签字生效？）</a:t>
            </a:r>
            <a:endParaRPr lang="en-US" altLang="zh-CN"/>
          </a:p>
          <a:p>
            <a:endParaRPr lang="en-US" altLang="zh-CN"/>
          </a:p>
          <a:p>
            <a:r>
              <a:rPr lang="zh-CN" altLang="en-US"/>
              <a:t>一句话：我们为什么要做这个项目？谁负责？花多少钱？做到什么程度算成功？这一切都经过高层拍板</a:t>
            </a:r>
            <a:endParaRPr lang="en-US" altLang="zh-CN"/>
          </a:p>
          <a:p>
            <a:endParaRPr lang="zh-CN" altLang="en-US"/>
          </a:p>
          <a:p>
            <a:endParaRPr lang="zh-CN" altLang="en-US"/>
          </a:p>
        </p:txBody>
      </p:sp>
      <p:sp>
        <p:nvSpPr>
          <p:cNvPr id="4" name="灯片编号占位符 3">
            <a:extLst>
              <a:ext uri="{FF2B5EF4-FFF2-40B4-BE49-F238E27FC236}">
                <a16:creationId xmlns:a16="http://schemas.microsoft.com/office/drawing/2014/main" id="{220F7704-4A98-916F-B819-8AACB68F6403}"/>
              </a:ext>
            </a:extLst>
          </p:cNvPr>
          <p:cNvSpPr>
            <a:spLocks noGrp="1"/>
          </p:cNvSpPr>
          <p:nvPr>
            <p:ph type="sldNum" sz="quarter" idx="5"/>
          </p:nvPr>
        </p:nvSpPr>
        <p:spPr/>
        <p:txBody>
          <a:bodyPr/>
          <a:lstStyle/>
          <a:p>
            <a:fld id="{6D27E3F6-C3AC-4131-BD60-F31F1EE091B2}" type="slidenum">
              <a:rPr lang="zh-CN" altLang="en-US" smtClean="0"/>
              <a:t>56</a:t>
            </a:fld>
            <a:endParaRPr lang="zh-CN" altLang="en-US"/>
          </a:p>
        </p:txBody>
      </p:sp>
    </p:spTree>
    <p:extLst>
      <p:ext uri="{BB962C8B-B14F-4D97-AF65-F5344CB8AC3E}">
        <p14:creationId xmlns:p14="http://schemas.microsoft.com/office/powerpoint/2010/main" val="21086506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“Ways of Working” encompasses the methods, tools, techniques, and approaches used to deliver value — whether through predictive, agile, hybrid, or other emerging frameworks. It’s not just about ‘project management’ anymore; it’s about how work gets done in any context.</a:t>
            </a:r>
          </a:p>
          <a:p>
            <a:endParaRPr lang="en-US" altLang="zh-CN"/>
          </a:p>
          <a:p>
            <a:r>
              <a:rPr lang="en-US" altLang="zh-CN"/>
              <a:t>“Power Skills” refer to the interpersonal abilities that enable individuals to influence, inspire, collaborate, and lead — regardless of formal authority. These include emotional intelligence, communication, negotiation, conflict resolution, and storytelling.</a:t>
            </a:r>
          </a:p>
          <a:p>
            <a:endParaRPr lang="en-US" altLang="zh-CN"/>
          </a:p>
          <a:p>
            <a:r>
              <a:rPr lang="en-US" altLang="zh-CN"/>
              <a:t>Business Acumen” is the ability to understand how businesses operate, make money, and create value — and to apply that understanding to drive decisions that support organizational strategy and financial health.</a:t>
            </a:r>
          </a:p>
          <a:p>
            <a:endParaRPr lang="en-US" altLang="zh-CN"/>
          </a:p>
          <a:p>
            <a:r>
              <a:rPr lang="en-US" altLang="zh-CN"/>
              <a:t>DAO</a:t>
            </a:r>
            <a:r>
              <a:rPr lang="zh-CN" altLang="en-US"/>
              <a:t>（</a:t>
            </a:r>
            <a:r>
              <a:rPr lang="en-US" altLang="zh-CN"/>
              <a:t>Decentralized Autonomous Organization</a:t>
            </a:r>
            <a:r>
              <a:rPr lang="zh-CN" altLang="en-US"/>
              <a:t>，去中心化自治组织）是</a:t>
            </a:r>
            <a:r>
              <a:rPr lang="en-US" altLang="zh-CN"/>
              <a:t>WEB3.0</a:t>
            </a:r>
            <a:r>
              <a:rPr lang="zh-CN" altLang="en-US"/>
              <a:t>时代的一个重要产物。它通过智能合约和区块链技术，实现了组织管理的去中心化。在</a:t>
            </a:r>
            <a:r>
              <a:rPr lang="en-US" altLang="zh-CN"/>
              <a:t>DAO</a:t>
            </a:r>
            <a:r>
              <a:rPr lang="zh-CN" altLang="en-US"/>
              <a:t>中，成员可以通过代币投票参与决策，每个人都有发言权，决策过程透明，资金流动也可追溯，这大大增加了信任感。</a:t>
            </a:r>
            <a:r>
              <a:rPr lang="en-US" altLang="zh-CN"/>
              <a:t>DAO</a:t>
            </a:r>
            <a:r>
              <a:rPr lang="zh-CN" altLang="en-US"/>
              <a:t>的特点也很突出：民主治理：所有成员都有平等的发言权，决策不再是少数人的“黑箱操作”，而是透明、公开的。资金透明：所有资金流动都在区块链上记录，任何人都可以查看，不用担心资金被滥用或挪用。全球参与：不受地域限制，无论你身处何地，只要有网络，就可以参与</a:t>
            </a:r>
            <a:r>
              <a:rPr lang="en-US" altLang="zh-CN"/>
              <a:t>DAO</a:t>
            </a:r>
            <a:r>
              <a:rPr lang="zh-CN" altLang="en-US"/>
              <a:t>的活动。</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60</a:t>
            </a:fld>
            <a:endParaRPr lang="zh-CN" altLang="en-US"/>
          </a:p>
        </p:txBody>
      </p:sp>
    </p:spTree>
    <p:extLst>
      <p:ext uri="{BB962C8B-B14F-4D97-AF65-F5344CB8AC3E}">
        <p14:creationId xmlns:p14="http://schemas.microsoft.com/office/powerpoint/2010/main" val="36960956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Period</a:t>
            </a:r>
          </a:p>
          <a:p>
            <a:r>
              <a:rPr lang="en-US" altLang="zh-CN"/>
              <a:t>Duration</a:t>
            </a:r>
          </a:p>
          <a:p>
            <a:r>
              <a:rPr lang="en-US" altLang="zh-CN"/>
              <a:t>Lifecycle</a:t>
            </a:r>
          </a:p>
          <a:p>
            <a:r>
              <a:rPr lang="en-US" altLang="zh-CN"/>
              <a:t>SDLC software development life cycle</a:t>
            </a:r>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62</a:t>
            </a:fld>
            <a:endParaRPr lang="zh-CN" altLang="en-US"/>
          </a:p>
        </p:txBody>
      </p:sp>
    </p:spTree>
    <p:extLst>
      <p:ext uri="{BB962C8B-B14F-4D97-AF65-F5344CB8AC3E}">
        <p14:creationId xmlns:p14="http://schemas.microsoft.com/office/powerpoint/2010/main" val="18151198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a:buNone/>
            </a:pPr>
            <a:r>
              <a:rPr lang="en-US" altLang="zh-CN" sz="1200">
                <a:solidFill>
                  <a:sysClr val="windowText" lastClr="000000"/>
                </a:solidFill>
              </a:rPr>
              <a:t>Scope, schedule, and cost defined early; </a:t>
            </a:r>
          </a:p>
          <a:p>
            <a:pPr>
              <a:buNone/>
            </a:pPr>
            <a:r>
              <a:rPr lang="en-US" altLang="zh-CN" sz="1200">
                <a:solidFill>
                  <a:sysClr val="windowText" lastClr="000000"/>
                </a:solidFill>
              </a:rPr>
              <a:t>low tolerance for change</a:t>
            </a:r>
          </a:p>
          <a:p>
            <a:pPr>
              <a:buNone/>
            </a:pPr>
            <a:r>
              <a:rPr lang="zh-CN" altLang="en-US" sz="1200">
                <a:solidFill>
                  <a:sysClr val="windowText" lastClr="000000"/>
                </a:solidFill>
              </a:rPr>
              <a:t>瀑布模型不是“过时”，而是“严谨”的代名词</a:t>
            </a:r>
            <a:endParaRPr lang="en-US" altLang="zh-CN" sz="1200">
              <a:solidFill>
                <a:sysClr val="windowText" lastClr="000000"/>
              </a:solidFill>
            </a:endParaRPr>
          </a:p>
          <a:p>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64</a:t>
            </a:fld>
            <a:endParaRPr lang="zh-CN" altLang="en-US"/>
          </a:p>
        </p:txBody>
      </p:sp>
    </p:spTree>
    <p:extLst>
      <p:ext uri="{BB962C8B-B14F-4D97-AF65-F5344CB8AC3E}">
        <p14:creationId xmlns:p14="http://schemas.microsoft.com/office/powerpoint/2010/main" val="21549556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65</a:t>
            </a:fld>
            <a:endParaRPr lang="zh-CN" altLang="en-US"/>
          </a:p>
        </p:txBody>
      </p:sp>
    </p:spTree>
    <p:extLst>
      <p:ext uri="{BB962C8B-B14F-4D97-AF65-F5344CB8AC3E}">
        <p14:creationId xmlns:p14="http://schemas.microsoft.com/office/powerpoint/2010/main" val="7894376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Verification: Are we building the product right?</a:t>
            </a:r>
          </a:p>
          <a:p>
            <a:r>
              <a:rPr lang="zh-CN" altLang="en-US"/>
              <a:t>验证：我们是否正确地构建了产品？（是否符合规格说明书？）</a:t>
            </a:r>
          </a:p>
          <a:p>
            <a:r>
              <a:rPr lang="en-US" altLang="zh-CN"/>
              <a:t>Validation: Are we building the right product?</a:t>
            </a:r>
          </a:p>
          <a:p>
            <a:r>
              <a:rPr lang="zh-CN" altLang="en-US"/>
              <a:t>确认：我们是否构建了正确的产品？（是否满足用户的真实需求？）</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66</a:t>
            </a:fld>
            <a:endParaRPr lang="zh-CN" altLang="en-US"/>
          </a:p>
        </p:txBody>
      </p:sp>
    </p:spTree>
    <p:extLst>
      <p:ext uri="{BB962C8B-B14F-4D97-AF65-F5344CB8AC3E}">
        <p14:creationId xmlns:p14="http://schemas.microsoft.com/office/powerpoint/2010/main" val="23509651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a:buNone/>
            </a:pPr>
            <a:r>
              <a:rPr lang="en-US" altLang="zh-CN" sz="1200">
                <a:solidFill>
                  <a:sysClr val="windowText" lastClr="000000"/>
                </a:solidFill>
              </a:rPr>
              <a:t>Product refined over cycles; </a:t>
            </a:r>
          </a:p>
          <a:p>
            <a:pPr>
              <a:buNone/>
            </a:pPr>
            <a:r>
              <a:rPr lang="en-US" altLang="zh-CN" sz="1200">
                <a:solidFill>
                  <a:sysClr val="windowText" lastClr="000000"/>
                </a:solidFill>
              </a:rPr>
              <a:t>each iteration improves design/understanding</a:t>
            </a:r>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68</a:t>
            </a:fld>
            <a:endParaRPr lang="zh-CN" altLang="en-US"/>
          </a:p>
        </p:txBody>
      </p:sp>
    </p:spTree>
    <p:extLst>
      <p:ext uri="{BB962C8B-B14F-4D97-AF65-F5344CB8AC3E}">
        <p14:creationId xmlns:p14="http://schemas.microsoft.com/office/powerpoint/2010/main" val="9797389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a:buNone/>
            </a:pPr>
            <a:r>
              <a:rPr lang="en-US" altLang="zh-CN" sz="1200">
                <a:solidFill>
                  <a:sysClr val="windowText" lastClr="000000"/>
                </a:solidFill>
              </a:rPr>
              <a:t>Product refined over cycles; </a:t>
            </a:r>
          </a:p>
          <a:p>
            <a:pPr>
              <a:buNone/>
            </a:pPr>
            <a:r>
              <a:rPr lang="en-US" altLang="zh-CN" sz="1200">
                <a:solidFill>
                  <a:sysClr val="windowText" lastClr="000000"/>
                </a:solidFill>
              </a:rPr>
              <a:t>each iteration improves design/understanding</a:t>
            </a:r>
          </a:p>
          <a:p>
            <a:pPr>
              <a:buNone/>
            </a:pPr>
            <a:r>
              <a:rPr lang="zh-CN" altLang="en-US"/>
              <a:t>图中的 </a:t>
            </a:r>
            <a:r>
              <a:rPr lang="en-US" altLang="zh-CN"/>
              <a:t>Planning + Requirement + Design + Coding ≈ Scrum </a:t>
            </a:r>
            <a:r>
              <a:rPr lang="zh-CN" altLang="en-US"/>
              <a:t>的一个 </a:t>
            </a:r>
            <a:r>
              <a:rPr lang="en-US" altLang="zh-CN"/>
              <a:t>Sprint (</a:t>
            </a:r>
            <a:r>
              <a:rPr lang="zh-CN" altLang="en-US"/>
              <a:t>冲刺</a:t>
            </a:r>
            <a:r>
              <a:rPr lang="en-US" altLang="zh-CN"/>
              <a:t>)</a:t>
            </a:r>
            <a:endParaRPr lang="zh-CN" altLang="en-US"/>
          </a:p>
          <a:p>
            <a:pPr>
              <a:buNone/>
            </a:pPr>
            <a:r>
              <a:rPr lang="zh-CN" altLang="en-US"/>
              <a:t>图中的 </a:t>
            </a:r>
            <a:r>
              <a:rPr lang="en-US" altLang="zh-CN"/>
              <a:t>Evaluation ≈ Scrum </a:t>
            </a:r>
            <a:r>
              <a:rPr lang="zh-CN" altLang="en-US"/>
              <a:t>的 </a:t>
            </a:r>
            <a:r>
              <a:rPr lang="en-US" altLang="zh-CN"/>
              <a:t>Sprint Review (</a:t>
            </a:r>
            <a:r>
              <a:rPr lang="zh-CN" altLang="en-US"/>
              <a:t>评审</a:t>
            </a:r>
            <a:r>
              <a:rPr lang="en-US" altLang="zh-CN"/>
              <a:t>) </a:t>
            </a:r>
            <a:r>
              <a:rPr lang="zh-CN" altLang="en-US"/>
              <a:t>和 </a:t>
            </a:r>
            <a:r>
              <a:rPr lang="en-US" altLang="zh-CN"/>
              <a:t>Retrospective (</a:t>
            </a:r>
            <a:r>
              <a:rPr lang="zh-CN" altLang="en-US"/>
              <a:t>回顾</a:t>
            </a:r>
            <a:r>
              <a:rPr lang="en-US" altLang="zh-CN"/>
              <a:t>)</a:t>
            </a:r>
            <a:endParaRPr lang="zh-CN" altLang="en-US"/>
          </a:p>
          <a:p>
            <a:pPr>
              <a:buNone/>
            </a:pPr>
            <a:r>
              <a:rPr lang="zh-CN" altLang="en-US"/>
              <a:t>图中的 </a:t>
            </a:r>
            <a:r>
              <a:rPr lang="en-US" altLang="zh-CN"/>
              <a:t>Deployment ≈ Scrum </a:t>
            </a:r>
            <a:r>
              <a:rPr lang="zh-CN" altLang="en-US"/>
              <a:t>的 </a:t>
            </a:r>
            <a:r>
              <a:rPr lang="en-US" altLang="zh-CN"/>
              <a:t>Increment (</a:t>
            </a:r>
            <a:r>
              <a:rPr lang="zh-CN" altLang="en-US"/>
              <a:t>增量发布</a:t>
            </a:r>
            <a:r>
              <a:rPr lang="en-US" altLang="zh-CN"/>
              <a:t>)</a:t>
            </a:r>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69</a:t>
            </a:fld>
            <a:endParaRPr lang="zh-CN" altLang="en-US"/>
          </a:p>
        </p:txBody>
      </p:sp>
    </p:spTree>
    <p:extLst>
      <p:ext uri="{BB962C8B-B14F-4D97-AF65-F5344CB8AC3E}">
        <p14:creationId xmlns:p14="http://schemas.microsoft.com/office/powerpoint/2010/main" val="214662880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a:buNone/>
            </a:pPr>
            <a:r>
              <a:rPr lang="en-US" altLang="zh-CN" sz="1200">
                <a:solidFill>
                  <a:sysClr val="windowText" lastClr="000000"/>
                </a:solidFill>
              </a:rPr>
              <a:t>Product delivered in usable chunks; </a:t>
            </a:r>
          </a:p>
          <a:p>
            <a:pPr>
              <a:buNone/>
            </a:pPr>
            <a:r>
              <a:rPr lang="en-US" altLang="zh-CN" sz="1200">
                <a:solidFill>
                  <a:sysClr val="windowText" lastClr="000000"/>
                </a:solidFill>
              </a:rPr>
              <a:t>each increment adds functionality</a:t>
            </a:r>
          </a:p>
          <a:p>
            <a:pPr>
              <a:buNone/>
            </a:pPr>
            <a:r>
              <a:rPr lang="zh-CN" altLang="en-US" sz="1200">
                <a:solidFill>
                  <a:sysClr val="windowText" lastClr="000000"/>
                </a:solidFill>
              </a:rPr>
              <a:t>迭代 </a:t>
            </a:r>
            <a:r>
              <a:rPr lang="en-US" altLang="zh-CN" sz="1200">
                <a:solidFill>
                  <a:sysClr val="windowText" lastClr="000000"/>
                </a:solidFill>
              </a:rPr>
              <a:t>(Iteration) </a:t>
            </a:r>
            <a:r>
              <a:rPr lang="zh-CN" altLang="en-US" sz="1200">
                <a:solidFill>
                  <a:sysClr val="windowText" lastClr="000000"/>
                </a:solidFill>
              </a:rPr>
              <a:t>关注的是 “重复” </a:t>
            </a:r>
            <a:r>
              <a:rPr lang="en-US" altLang="zh-CN" sz="1200">
                <a:solidFill>
                  <a:sysClr val="windowText" lastClr="000000"/>
                </a:solidFill>
              </a:rPr>
              <a:t>(Refining / </a:t>
            </a:r>
            <a:r>
              <a:rPr lang="zh-CN" altLang="en-US" sz="1200">
                <a:solidFill>
                  <a:sysClr val="windowText" lastClr="000000"/>
                </a:solidFill>
              </a:rPr>
              <a:t>完善</a:t>
            </a:r>
            <a:r>
              <a:rPr lang="en-US" altLang="zh-CN" sz="1200">
                <a:solidFill>
                  <a:sysClr val="windowText" lastClr="000000"/>
                </a:solidFill>
              </a:rPr>
              <a:t>)</a:t>
            </a:r>
          </a:p>
          <a:p>
            <a:pPr>
              <a:buNone/>
            </a:pPr>
            <a:r>
              <a:rPr lang="zh-CN" altLang="en-US" sz="1200">
                <a:solidFill>
                  <a:sysClr val="windowText" lastClr="000000"/>
                </a:solidFill>
              </a:rPr>
              <a:t>增量 </a:t>
            </a:r>
            <a:r>
              <a:rPr lang="en-US" altLang="zh-CN" sz="1200">
                <a:solidFill>
                  <a:sysClr val="windowText" lastClr="000000"/>
                </a:solidFill>
              </a:rPr>
              <a:t>(Increment) </a:t>
            </a:r>
            <a:r>
              <a:rPr lang="zh-CN" altLang="en-US" sz="1200">
                <a:solidFill>
                  <a:sysClr val="windowText" lastClr="000000"/>
                </a:solidFill>
              </a:rPr>
              <a:t>关注的是 “增加” </a:t>
            </a:r>
            <a:r>
              <a:rPr lang="en-US" altLang="zh-CN" sz="1200">
                <a:solidFill>
                  <a:sysClr val="windowText" lastClr="000000"/>
                </a:solidFill>
              </a:rPr>
              <a:t>(Adding / </a:t>
            </a:r>
            <a:r>
              <a:rPr lang="zh-CN" altLang="en-US" sz="1200">
                <a:solidFill>
                  <a:sysClr val="windowText" lastClr="000000"/>
                </a:solidFill>
              </a:rPr>
              <a:t>扩充</a:t>
            </a:r>
            <a:r>
              <a:rPr lang="en-US" altLang="zh-CN" sz="1200">
                <a:solidFill>
                  <a:sysClr val="windowText" lastClr="000000"/>
                </a:solidFill>
              </a:rPr>
              <a:t>)</a:t>
            </a:r>
          </a:p>
          <a:p>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70</a:t>
            </a:fld>
            <a:endParaRPr lang="zh-CN" altLang="en-US"/>
          </a:p>
        </p:txBody>
      </p:sp>
    </p:spTree>
    <p:extLst>
      <p:ext uri="{BB962C8B-B14F-4D97-AF65-F5344CB8AC3E}">
        <p14:creationId xmlns:p14="http://schemas.microsoft.com/office/powerpoint/2010/main" val="21620149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过程：边建造边边验收，不断完善功能</a:t>
            </a:r>
            <a:endParaRPr lang="en-US" altLang="zh-CN"/>
          </a:p>
          <a:p>
            <a:r>
              <a:rPr lang="zh-CN" altLang="en-US"/>
              <a:t>预测只交付</a:t>
            </a:r>
            <a:r>
              <a:rPr lang="en-US" altLang="zh-CN"/>
              <a:t>1</a:t>
            </a:r>
            <a:r>
              <a:rPr lang="zh-CN" altLang="en-US"/>
              <a:t>次</a:t>
            </a:r>
            <a:endParaRPr lang="en-US" altLang="zh-CN"/>
          </a:p>
          <a:p>
            <a:r>
              <a:rPr lang="zh-CN" altLang="en-US"/>
              <a:t>增量多次交付</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73</a:t>
            </a:fld>
            <a:endParaRPr lang="zh-CN" altLang="en-US"/>
          </a:p>
        </p:txBody>
      </p:sp>
    </p:spTree>
    <p:extLst>
      <p:ext uri="{BB962C8B-B14F-4D97-AF65-F5344CB8AC3E}">
        <p14:creationId xmlns:p14="http://schemas.microsoft.com/office/powerpoint/2010/main" val="190565913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a:buNone/>
            </a:pPr>
            <a:r>
              <a:rPr lang="en-US" altLang="zh-CN" sz="1200">
                <a:solidFill>
                  <a:sysClr val="windowText" lastClr="000000"/>
                </a:solidFill>
              </a:rPr>
              <a:t>Combines iterative + incremental; </a:t>
            </a:r>
          </a:p>
          <a:p>
            <a:pPr>
              <a:buNone/>
            </a:pPr>
            <a:r>
              <a:rPr lang="en-US" altLang="zh-CN" sz="1200">
                <a:solidFill>
                  <a:sysClr val="windowText" lastClr="000000"/>
                </a:solidFill>
              </a:rPr>
              <a:t>high responsiveness to change; </a:t>
            </a:r>
          </a:p>
          <a:p>
            <a:pPr>
              <a:buNone/>
            </a:pPr>
            <a:r>
              <a:rPr lang="en-US" altLang="zh-CN" sz="1200">
                <a:solidFill>
                  <a:sysClr val="windowText" lastClr="000000"/>
                </a:solidFill>
              </a:rPr>
              <a:t>stakeholder feedback</a:t>
            </a:r>
          </a:p>
          <a:p>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74</a:t>
            </a:fld>
            <a:endParaRPr lang="zh-CN" altLang="en-US"/>
          </a:p>
        </p:txBody>
      </p:sp>
    </p:spTree>
    <p:extLst>
      <p:ext uri="{BB962C8B-B14F-4D97-AF65-F5344CB8AC3E}">
        <p14:creationId xmlns:p14="http://schemas.microsoft.com/office/powerpoint/2010/main" val="20516972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B936F-FB30-1E32-5928-A0AF3C26763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0894088-5CF2-68B5-C031-2AEC5A32A40E}"/>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83A5EACD-0126-28A1-2BDE-E8FEE892019F}"/>
              </a:ext>
            </a:extLst>
          </p:cNvPr>
          <p:cNvSpPr>
            <a:spLocks noGrp="1"/>
          </p:cNvSpPr>
          <p:nvPr>
            <p:ph type="body" idx="1"/>
          </p:nvPr>
        </p:nvSpPr>
        <p:spPr/>
        <p:txBody>
          <a:bodyPr/>
          <a:lstStyle/>
          <a:p>
            <a:pPr>
              <a:buNone/>
            </a:pPr>
            <a:r>
              <a:rPr lang="en-US" altLang="zh-CN" sz="1200">
                <a:solidFill>
                  <a:sysClr val="windowText" lastClr="000000"/>
                </a:solidFill>
              </a:rPr>
              <a:t>Combines iterative + incremental; </a:t>
            </a:r>
          </a:p>
          <a:p>
            <a:pPr>
              <a:buNone/>
            </a:pPr>
            <a:r>
              <a:rPr lang="en-US" altLang="zh-CN" sz="1200">
                <a:solidFill>
                  <a:sysClr val="windowText" lastClr="000000"/>
                </a:solidFill>
              </a:rPr>
              <a:t>high responsiveness to change; </a:t>
            </a:r>
          </a:p>
          <a:p>
            <a:pPr>
              <a:buNone/>
            </a:pPr>
            <a:r>
              <a:rPr lang="en-US" altLang="zh-CN" sz="1200">
                <a:solidFill>
                  <a:sysClr val="windowText" lastClr="000000"/>
                </a:solidFill>
              </a:rPr>
              <a:t>stakeholder feedback</a:t>
            </a:r>
          </a:p>
          <a:p>
            <a:endParaRPr lang="zh-CN" altLang="en-US"/>
          </a:p>
        </p:txBody>
      </p:sp>
      <p:sp>
        <p:nvSpPr>
          <p:cNvPr id="4" name="灯片编号占位符 3">
            <a:extLst>
              <a:ext uri="{FF2B5EF4-FFF2-40B4-BE49-F238E27FC236}">
                <a16:creationId xmlns:a16="http://schemas.microsoft.com/office/drawing/2014/main" id="{6B107F17-7C89-E23F-E4FA-F61D88F3A50D}"/>
              </a:ext>
            </a:extLst>
          </p:cNvPr>
          <p:cNvSpPr>
            <a:spLocks noGrp="1"/>
          </p:cNvSpPr>
          <p:nvPr>
            <p:ph type="sldNum" sz="quarter" idx="5"/>
          </p:nvPr>
        </p:nvSpPr>
        <p:spPr/>
        <p:txBody>
          <a:bodyPr/>
          <a:lstStyle/>
          <a:p>
            <a:fld id="{6D27E3F6-C3AC-4131-BD60-F31F1EE091B2}" type="slidenum">
              <a:rPr lang="zh-CN" altLang="en-US" smtClean="0"/>
              <a:t>75</a:t>
            </a:fld>
            <a:endParaRPr lang="zh-CN" altLang="en-US"/>
          </a:p>
        </p:txBody>
      </p:sp>
    </p:spTree>
    <p:extLst>
      <p:ext uri="{BB962C8B-B14F-4D97-AF65-F5344CB8AC3E}">
        <p14:creationId xmlns:p14="http://schemas.microsoft.com/office/powerpoint/2010/main" val="140864528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EA14E-A758-4E38-802E-B6A49FFDC57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4A1278C-3A9C-451F-2EAA-0AE023E32C7A}"/>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C89956AD-FEEA-351F-48F0-0456E63B7C3F}"/>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23177734-CFD7-FD60-FF11-D08796F274DD}"/>
              </a:ext>
            </a:extLst>
          </p:cNvPr>
          <p:cNvSpPr>
            <a:spLocks noGrp="1"/>
          </p:cNvSpPr>
          <p:nvPr>
            <p:ph type="sldNum" sz="quarter" idx="5"/>
          </p:nvPr>
        </p:nvSpPr>
        <p:spPr/>
        <p:txBody>
          <a:bodyPr/>
          <a:lstStyle/>
          <a:p>
            <a:fld id="{6D27E3F6-C3AC-4131-BD60-F31F1EE091B2}" type="slidenum">
              <a:rPr lang="zh-CN" altLang="en-US" smtClean="0"/>
              <a:t>82</a:t>
            </a:fld>
            <a:endParaRPr lang="zh-CN" altLang="en-US"/>
          </a:p>
        </p:txBody>
      </p:sp>
    </p:spTree>
    <p:extLst>
      <p:ext uri="{BB962C8B-B14F-4D97-AF65-F5344CB8AC3E}">
        <p14:creationId xmlns:p14="http://schemas.microsoft.com/office/powerpoint/2010/main" val="61183207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26E0D-50E2-FE18-C554-0EE9B9388FA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F3E1DAA-F7B8-80CB-7D87-F5D1EA0D0B8E}"/>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A150F8C3-AF3F-EDB2-4850-8020DD58A1AE}"/>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AE9D9896-EDD6-0EF5-BB7B-C730D19FDFEA}"/>
              </a:ext>
            </a:extLst>
          </p:cNvPr>
          <p:cNvSpPr>
            <a:spLocks noGrp="1"/>
          </p:cNvSpPr>
          <p:nvPr>
            <p:ph type="sldNum" sz="quarter" idx="5"/>
          </p:nvPr>
        </p:nvSpPr>
        <p:spPr/>
        <p:txBody>
          <a:bodyPr/>
          <a:lstStyle/>
          <a:p>
            <a:fld id="{6D27E3F6-C3AC-4131-BD60-F31F1EE091B2}" type="slidenum">
              <a:rPr lang="zh-CN" altLang="en-US" smtClean="0"/>
              <a:t>83</a:t>
            </a:fld>
            <a:endParaRPr lang="zh-CN" altLang="en-US"/>
          </a:p>
        </p:txBody>
      </p:sp>
    </p:spTree>
    <p:extLst>
      <p:ext uri="{BB962C8B-B14F-4D97-AF65-F5344CB8AC3E}">
        <p14:creationId xmlns:p14="http://schemas.microsoft.com/office/powerpoint/2010/main" val="139225416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84</a:t>
            </a:fld>
            <a:endParaRPr lang="zh-CN" altLang="en-US"/>
          </a:p>
        </p:txBody>
      </p:sp>
    </p:spTree>
    <p:extLst>
      <p:ext uri="{BB962C8B-B14F-4D97-AF65-F5344CB8AC3E}">
        <p14:creationId xmlns:p14="http://schemas.microsoft.com/office/powerpoint/2010/main" val="43323486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特性（</a:t>
            </a:r>
            <a:r>
              <a:rPr lang="en-US" altLang="zh-CN"/>
              <a:t>Feature</a:t>
            </a:r>
            <a:r>
              <a:rPr lang="zh-CN" altLang="en-US"/>
              <a:t>）是“做什么”（业务功能单元）</a:t>
            </a:r>
          </a:p>
          <a:p>
            <a:r>
              <a:rPr lang="zh-CN" altLang="en-US"/>
              <a:t>增量（</a:t>
            </a:r>
            <a:r>
              <a:rPr lang="en-US" altLang="zh-CN"/>
              <a:t>Increment</a:t>
            </a:r>
            <a:r>
              <a:rPr lang="zh-CN" altLang="en-US"/>
              <a:t>）是“交付了什么”（可运行的软件版本）</a:t>
            </a:r>
            <a:endParaRPr lang="en-US" altLang="zh-CN"/>
          </a:p>
          <a:p>
            <a:r>
              <a:rPr lang="zh-CN" altLang="en-US" sz="1200" b="0" i="0" kern="1200">
                <a:solidFill>
                  <a:schemeClr val="tx1"/>
                </a:solidFill>
                <a:effectLst/>
                <a:latin typeface="+mn-lt"/>
                <a:ea typeface="+mn-ea"/>
                <a:cs typeface="+mn-cs"/>
              </a:rPr>
              <a:t>特性关注的是局部功能的完成。</a:t>
            </a:r>
          </a:p>
          <a:p>
            <a:r>
              <a:rPr lang="zh-CN" altLang="en-US" sz="1200" b="0" i="0" kern="1200">
                <a:solidFill>
                  <a:schemeClr val="tx1"/>
                </a:solidFill>
                <a:effectLst/>
                <a:latin typeface="+mn-lt"/>
                <a:ea typeface="+mn-ea"/>
                <a:cs typeface="+mn-cs"/>
              </a:rPr>
              <a:t>增量关注的是整体系统的可用性和稳定性。</a:t>
            </a:r>
          </a:p>
          <a:p>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85</a:t>
            </a:fld>
            <a:endParaRPr lang="zh-CN" altLang="en-US"/>
          </a:p>
        </p:txBody>
      </p:sp>
    </p:spTree>
    <p:extLst>
      <p:ext uri="{BB962C8B-B14F-4D97-AF65-F5344CB8AC3E}">
        <p14:creationId xmlns:p14="http://schemas.microsoft.com/office/powerpoint/2010/main" val="342828993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Empirical Process Control" (</a:t>
            </a:r>
            <a:r>
              <a:rPr lang="zh-CN" altLang="en-US"/>
              <a:t>经验过程控制</a:t>
            </a:r>
            <a:r>
              <a:rPr lang="en-US" altLang="zh-CN"/>
              <a:t>)</a:t>
            </a:r>
          </a:p>
          <a:p>
            <a:r>
              <a:rPr lang="en-US" altLang="zh-CN"/>
              <a:t>Technical Excellence" (</a:t>
            </a:r>
            <a:r>
              <a:rPr lang="zh-CN" altLang="en-US"/>
              <a:t>技术卓越</a:t>
            </a:r>
            <a:r>
              <a:rPr lang="en-US" altLang="zh-CN"/>
              <a:t>)</a:t>
            </a:r>
          </a:p>
          <a:p>
            <a:r>
              <a:rPr lang="en-US" altLang="zh-CN"/>
              <a:t>People over Processes" (</a:t>
            </a:r>
            <a:r>
              <a:rPr lang="zh-CN" altLang="en-US"/>
              <a:t>以人为本，胜过流程</a:t>
            </a:r>
            <a:r>
              <a:rPr lang="en-US" altLang="zh-CN"/>
              <a:t>)</a:t>
            </a:r>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92</a:t>
            </a:fld>
            <a:endParaRPr lang="zh-CN" altLang="en-US"/>
          </a:p>
        </p:txBody>
      </p:sp>
    </p:spTree>
    <p:extLst>
      <p:ext uri="{BB962C8B-B14F-4D97-AF65-F5344CB8AC3E}">
        <p14:creationId xmlns:p14="http://schemas.microsoft.com/office/powerpoint/2010/main" val="245965111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挑肥拣瘦”式的敏捷，只想要敏捷的好处（快、灵活），却不想承担敏捷的纪律（透明、检视、适应）</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93</a:t>
            </a:fld>
            <a:endParaRPr lang="zh-CN" altLang="en-US"/>
          </a:p>
        </p:txBody>
      </p:sp>
    </p:spTree>
    <p:extLst>
      <p:ext uri="{BB962C8B-B14F-4D97-AF65-F5344CB8AC3E}">
        <p14:creationId xmlns:p14="http://schemas.microsoft.com/office/powerpoint/2010/main" val="158028087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纪委</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94</a:t>
            </a:fld>
            <a:endParaRPr lang="zh-CN" altLang="en-US"/>
          </a:p>
        </p:txBody>
      </p:sp>
    </p:spTree>
    <p:extLst>
      <p:ext uri="{BB962C8B-B14F-4D97-AF65-F5344CB8AC3E}">
        <p14:creationId xmlns:p14="http://schemas.microsoft.com/office/powerpoint/2010/main" val="19329546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思想引导</a:t>
            </a:r>
            <a:endParaRPr lang="en-US" altLang="zh-CN"/>
          </a:p>
          <a:p>
            <a:r>
              <a:rPr lang="zh-CN" altLang="en-US"/>
              <a:t>道不同不相为谋</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96</a:t>
            </a:fld>
            <a:endParaRPr lang="zh-CN" altLang="en-US"/>
          </a:p>
        </p:txBody>
      </p:sp>
    </p:spTree>
    <p:extLst>
      <p:ext uri="{BB962C8B-B14F-4D97-AF65-F5344CB8AC3E}">
        <p14:creationId xmlns:p14="http://schemas.microsoft.com/office/powerpoint/2010/main" val="175988066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如何要所有人真正参与于到每日站会而不流于形式？随机请人复述其它某个人的站会事项</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97</a:t>
            </a:fld>
            <a:endParaRPr lang="zh-CN" altLang="en-US"/>
          </a:p>
        </p:txBody>
      </p:sp>
    </p:spTree>
    <p:extLst>
      <p:ext uri="{BB962C8B-B14F-4D97-AF65-F5344CB8AC3E}">
        <p14:creationId xmlns:p14="http://schemas.microsoft.com/office/powerpoint/2010/main" val="257083841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不拆台</a:t>
            </a:r>
            <a:endParaRPr lang="en-US" altLang="zh-CN"/>
          </a:p>
          <a:p>
            <a:r>
              <a:rPr lang="zh-CN" altLang="en-US"/>
              <a:t>开发：透明。中国人，报喜不报忧</a:t>
            </a:r>
            <a:endParaRPr lang="en-US" altLang="zh-CN"/>
          </a:p>
          <a:p>
            <a:r>
              <a:rPr lang="zh-CN" altLang="en-US"/>
              <a:t>相信团队的每一个人</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98</a:t>
            </a:fld>
            <a:endParaRPr lang="zh-CN" altLang="en-US"/>
          </a:p>
        </p:txBody>
      </p:sp>
    </p:spTree>
    <p:extLst>
      <p:ext uri="{BB962C8B-B14F-4D97-AF65-F5344CB8AC3E}">
        <p14:creationId xmlns:p14="http://schemas.microsoft.com/office/powerpoint/2010/main" val="269722556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en-US" altLang="zh-CN"/>
          </a:p>
        </p:txBody>
      </p:sp>
      <p:sp>
        <p:nvSpPr>
          <p:cNvPr id="4" name="灯片编号占位符 3"/>
          <p:cNvSpPr>
            <a:spLocks noGrp="1"/>
          </p:cNvSpPr>
          <p:nvPr>
            <p:ph type="sldNum" sz="quarter" idx="5"/>
          </p:nvPr>
        </p:nvSpPr>
        <p:spPr/>
        <p:txBody>
          <a:bodyPr/>
          <a:lstStyle/>
          <a:p>
            <a:fld id="{6D27E3F6-C3AC-4131-BD60-F31F1EE091B2}" type="slidenum">
              <a:rPr lang="zh-CN" altLang="en-US" smtClean="0"/>
              <a:t>99</a:t>
            </a:fld>
            <a:endParaRPr lang="zh-CN" altLang="en-US"/>
          </a:p>
        </p:txBody>
      </p:sp>
    </p:spTree>
    <p:extLst>
      <p:ext uri="{BB962C8B-B14F-4D97-AF65-F5344CB8AC3E}">
        <p14:creationId xmlns:p14="http://schemas.microsoft.com/office/powerpoint/2010/main" val="402459198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DoD</a:t>
            </a:r>
            <a:r>
              <a:rPr lang="zh-CN" altLang="en-US"/>
              <a:t>：完成定义，是一个共享的、明确的清单，列出了某项工作（如用户故事、功能模块）要达到什么标准才算“真正做完”</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100</a:t>
            </a:fld>
            <a:endParaRPr lang="zh-CN" altLang="en-US"/>
          </a:p>
        </p:txBody>
      </p:sp>
    </p:spTree>
    <p:extLst>
      <p:ext uri="{BB962C8B-B14F-4D97-AF65-F5344CB8AC3E}">
        <p14:creationId xmlns:p14="http://schemas.microsoft.com/office/powerpoint/2010/main" val="341017911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dirty="0"/>
              <a:t>Developing</a:t>
            </a:r>
            <a:r>
              <a:rPr lang="zh-CN" altLang="en-US" dirty="0"/>
              <a:t>：有发展和变化的意思。不单单是制定</a:t>
            </a:r>
            <a:endParaRPr lang="en-US" altLang="zh-CN" dirty="0"/>
          </a:p>
          <a:p>
            <a:r>
              <a:rPr lang="zh-CN" altLang="en-US" dirty="0"/>
              <a:t>自己理解产品目标，转化为</a:t>
            </a:r>
            <a:r>
              <a:rPr lang="en-US" altLang="zh-CN" dirty="0"/>
              <a:t>backlog</a:t>
            </a:r>
            <a:r>
              <a:rPr lang="zh-CN" altLang="en-US" dirty="0"/>
              <a:t>并保证团队能理解</a:t>
            </a:r>
            <a:endParaRPr lang="en-US" altLang="zh-CN" dirty="0"/>
          </a:p>
          <a:p>
            <a:r>
              <a:rPr lang="en-US" altLang="zh-CN" dirty="0"/>
              <a:t>123</a:t>
            </a:r>
            <a:r>
              <a:rPr lang="zh-CN" altLang="en-US" dirty="0"/>
              <a:t>是动作，是因</a:t>
            </a:r>
            <a:endParaRPr lang="en-US" altLang="zh-CN" dirty="0"/>
          </a:p>
          <a:p>
            <a:r>
              <a:rPr lang="en-US" altLang="zh-CN" dirty="0"/>
              <a:t>4</a:t>
            </a:r>
            <a:r>
              <a:rPr lang="zh-CN" altLang="en-US" dirty="0"/>
              <a:t>是果。做了不一定有结果。创建了不一定别人能理解。。。</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101</a:t>
            </a:fld>
            <a:endParaRPr lang="zh-CN" altLang="en-US"/>
          </a:p>
        </p:txBody>
      </p:sp>
    </p:spTree>
    <p:extLst>
      <p:ext uri="{BB962C8B-B14F-4D97-AF65-F5344CB8AC3E}">
        <p14:creationId xmlns:p14="http://schemas.microsoft.com/office/powerpoint/2010/main" val="4290411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PM </a:t>
            </a:r>
            <a:r>
              <a:rPr lang="zh-CN" altLang="en-US"/>
              <a:t>是为“项目结果”负责的管家；敏捷教练是为“团队能力”负责的导师。好的组织需要两者，但不能让他们在同一个场景下用错误的身份说话</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102</a:t>
            </a:fld>
            <a:endParaRPr lang="zh-CN" altLang="en-US"/>
          </a:p>
        </p:txBody>
      </p:sp>
    </p:spTree>
    <p:extLst>
      <p:ext uri="{BB962C8B-B14F-4D97-AF65-F5344CB8AC3E}">
        <p14:creationId xmlns:p14="http://schemas.microsoft.com/office/powerpoint/2010/main" val="268440098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88985-1BFE-1E38-7FE1-978FF49EAAE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8A39D2A-C2CF-DF6C-8862-63F6EB8A80BD}"/>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47D88D0F-FA79-F9C6-A8CE-BEAB23EBF847}"/>
              </a:ext>
            </a:extLst>
          </p:cNvPr>
          <p:cNvSpPr>
            <a:spLocks noGrp="1"/>
          </p:cNvSpPr>
          <p:nvPr>
            <p:ph type="body" idx="1"/>
          </p:nvPr>
        </p:nvSpPr>
        <p:spPr/>
        <p:txBody>
          <a:bodyPr/>
          <a:lstStyle/>
          <a:p>
            <a:r>
              <a:rPr lang="en-US" altLang="zh-CN"/>
              <a:t>1. Why not mentor</a:t>
            </a:r>
            <a:r>
              <a:rPr lang="zh-CN" altLang="en-US"/>
              <a:t>？</a:t>
            </a:r>
            <a:endParaRPr lang="en-US" altLang="zh-CN"/>
          </a:p>
          <a:p>
            <a:r>
              <a:rPr lang="en-US" altLang="zh-CN"/>
              <a:t>4. Causing </a:t>
            </a:r>
            <a:r>
              <a:rPr lang="zh-CN" altLang="en-US"/>
              <a:t>：不是每次都亲历亲为，而是促使移除障碍的完成；完美地体现 影响力 </a:t>
            </a:r>
            <a:r>
              <a:rPr lang="en-US" altLang="zh-CN"/>
              <a:t>(Influence) </a:t>
            </a:r>
            <a:r>
              <a:rPr lang="zh-CN" altLang="en-US"/>
              <a:t>和 推动力 </a:t>
            </a:r>
            <a:r>
              <a:rPr lang="en-US" altLang="zh-CN"/>
              <a:t>(Facilitation)</a:t>
            </a:r>
            <a:r>
              <a:rPr lang="zh-CN" altLang="en-US"/>
              <a:t>，而不仅仅是 执行力 </a:t>
            </a:r>
            <a:r>
              <a:rPr lang="en-US" altLang="zh-CN"/>
              <a:t>(Execution)</a:t>
            </a:r>
            <a:r>
              <a:rPr lang="zh-CN" altLang="en-US"/>
              <a:t>。</a:t>
            </a:r>
            <a:endParaRPr lang="en-US" altLang="zh-CN"/>
          </a:p>
          <a:p>
            <a:r>
              <a:rPr lang="en-US" altLang="zh-CN"/>
              <a:t>2.</a:t>
            </a:r>
            <a:r>
              <a:rPr lang="zh-CN" altLang="en-US"/>
              <a:t>目标与方向</a:t>
            </a:r>
            <a:r>
              <a:rPr lang="en-US" altLang="zh-CN"/>
              <a:t>-</a:t>
            </a:r>
            <a:r>
              <a:rPr lang="zh-CN" altLang="en-US"/>
              <a:t>做什么</a:t>
            </a:r>
            <a:endParaRPr lang="en-US" altLang="zh-CN"/>
          </a:p>
          <a:p>
            <a:r>
              <a:rPr lang="en-US" altLang="zh-CN"/>
              <a:t>4. </a:t>
            </a:r>
            <a:r>
              <a:rPr lang="zh-CN" altLang="en-US"/>
              <a:t>执行与环境</a:t>
            </a:r>
            <a:r>
              <a:rPr lang="en-US" altLang="zh-CN"/>
              <a:t>-</a:t>
            </a:r>
            <a:r>
              <a:rPr lang="zh-CN" altLang="en-US"/>
              <a:t>怎么做）</a:t>
            </a:r>
          </a:p>
        </p:txBody>
      </p:sp>
      <p:sp>
        <p:nvSpPr>
          <p:cNvPr id="4" name="灯片编号占位符 3">
            <a:extLst>
              <a:ext uri="{FF2B5EF4-FFF2-40B4-BE49-F238E27FC236}">
                <a16:creationId xmlns:a16="http://schemas.microsoft.com/office/drawing/2014/main" id="{62FD090C-9997-2C3A-68E9-CB4629DC3C1B}"/>
              </a:ext>
            </a:extLst>
          </p:cNvPr>
          <p:cNvSpPr>
            <a:spLocks noGrp="1"/>
          </p:cNvSpPr>
          <p:nvPr>
            <p:ph type="sldNum" sz="quarter" idx="5"/>
          </p:nvPr>
        </p:nvSpPr>
        <p:spPr/>
        <p:txBody>
          <a:bodyPr/>
          <a:lstStyle/>
          <a:p>
            <a:fld id="{6D27E3F6-C3AC-4131-BD60-F31F1EE091B2}" type="slidenum">
              <a:rPr lang="zh-CN" altLang="en-US" smtClean="0"/>
              <a:t>103</a:t>
            </a:fld>
            <a:endParaRPr lang="zh-CN" altLang="en-US"/>
          </a:p>
        </p:txBody>
      </p:sp>
    </p:spTree>
    <p:extLst>
      <p:ext uri="{BB962C8B-B14F-4D97-AF65-F5344CB8AC3E}">
        <p14:creationId xmlns:p14="http://schemas.microsoft.com/office/powerpoint/2010/main" val="376159316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Enact</a:t>
            </a:r>
            <a:r>
              <a:rPr lang="zh-CN" altLang="en-US"/>
              <a:t>：</a:t>
            </a:r>
            <a:r>
              <a:rPr lang="en-US" altLang="zh-CN" err="1"/>
              <a:t>en</a:t>
            </a:r>
            <a:r>
              <a:rPr lang="en-US" altLang="zh-CN"/>
              <a:t>-act</a:t>
            </a:r>
            <a:r>
              <a:rPr lang="zh-CN" altLang="en-US"/>
              <a:t>，付诸实践”、“践行” 或 “将</a:t>
            </a:r>
            <a:r>
              <a:rPr lang="en-US" altLang="zh-CN"/>
              <a:t>……</a:t>
            </a:r>
            <a:r>
              <a:rPr lang="zh-CN" altLang="en-US"/>
              <a:t>转化为实际行动，强调执行力</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105</a:t>
            </a:fld>
            <a:endParaRPr lang="zh-CN" altLang="en-US"/>
          </a:p>
        </p:txBody>
      </p:sp>
    </p:spTree>
    <p:extLst>
      <p:ext uri="{BB962C8B-B14F-4D97-AF65-F5344CB8AC3E}">
        <p14:creationId xmlns:p14="http://schemas.microsoft.com/office/powerpoint/2010/main" val="340086660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83A18-A8BC-4089-5A75-422129070BD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E52A0FB-9913-CC99-E989-693E8A8FD358}"/>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FD950F57-7FF7-CCC9-D4BE-E81DB647C152}"/>
              </a:ext>
            </a:extLst>
          </p:cNvPr>
          <p:cNvSpPr>
            <a:spLocks noGrp="1"/>
          </p:cNvSpPr>
          <p:nvPr>
            <p:ph type="body" idx="1"/>
          </p:nvPr>
        </p:nvSpPr>
        <p:spPr/>
        <p:txBody>
          <a:bodyPr/>
          <a:lstStyle/>
          <a:p>
            <a:endParaRPr lang="en-US" altLang="zh-CN"/>
          </a:p>
        </p:txBody>
      </p:sp>
      <p:sp>
        <p:nvSpPr>
          <p:cNvPr id="4" name="灯片编号占位符 3">
            <a:extLst>
              <a:ext uri="{FF2B5EF4-FFF2-40B4-BE49-F238E27FC236}">
                <a16:creationId xmlns:a16="http://schemas.microsoft.com/office/drawing/2014/main" id="{711DF6DB-172C-C723-2E5B-A4E8E68BC5BC}"/>
              </a:ext>
            </a:extLst>
          </p:cNvPr>
          <p:cNvSpPr>
            <a:spLocks noGrp="1"/>
          </p:cNvSpPr>
          <p:nvPr>
            <p:ph type="sldNum" sz="quarter" idx="5"/>
          </p:nvPr>
        </p:nvSpPr>
        <p:spPr/>
        <p:txBody>
          <a:bodyPr/>
          <a:lstStyle/>
          <a:p>
            <a:fld id="{6D27E3F6-C3AC-4131-BD60-F31F1EE091B2}" type="slidenum">
              <a:rPr lang="zh-CN" altLang="en-US" smtClean="0"/>
              <a:t>107</a:t>
            </a:fld>
            <a:endParaRPr lang="zh-CN" altLang="en-US"/>
          </a:p>
        </p:txBody>
      </p:sp>
    </p:spTree>
    <p:extLst>
      <p:ext uri="{BB962C8B-B14F-4D97-AF65-F5344CB8AC3E}">
        <p14:creationId xmlns:p14="http://schemas.microsoft.com/office/powerpoint/2010/main" val="207917313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The Sprint is a container for all other events.</a:t>
            </a:r>
            <a:r>
              <a:rPr lang="zh-CN" altLang="en-US"/>
              <a:t>；冲刺类型学期</a:t>
            </a: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Scrum </a:t>
            </a:r>
            <a:r>
              <a:rPr lang="zh-CN" altLang="en-US"/>
              <a:t>框架（包括 </a:t>
            </a:r>
            <a:r>
              <a:rPr lang="en-US" altLang="zh-CN"/>
              <a:t>Sprints</a:t>
            </a:r>
            <a:r>
              <a:rPr lang="zh-CN" altLang="en-US"/>
              <a:t>）只是提供了一个容器和机制。它创造了一个环境，让“可预测性”变得可能。但是否真的实现了可预测性，还取决于团队是否真正有效地进行了“检视（</a:t>
            </a:r>
            <a:r>
              <a:rPr lang="en-US" altLang="zh-CN"/>
              <a:t>inspection</a:t>
            </a:r>
            <a:r>
              <a:rPr lang="zh-CN" altLang="en-US"/>
              <a:t>）”和“适应（</a:t>
            </a:r>
            <a:r>
              <a:rPr lang="en-US" altLang="zh-CN"/>
              <a:t>adaptation</a:t>
            </a:r>
            <a:r>
              <a:rPr lang="zh-CN" altLang="en-US"/>
              <a:t>）</a:t>
            </a: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err="1"/>
              <a:t>Planing</a:t>
            </a:r>
            <a:r>
              <a:rPr lang="zh-CN" altLang="en-US"/>
              <a:t>：</a:t>
            </a:r>
            <a:r>
              <a:rPr lang="en-US" altLang="zh-CN"/>
              <a:t>eight hours for a one-month Sprint</a:t>
            </a:r>
            <a:r>
              <a:rPr lang="zh-CN" altLang="en-US"/>
              <a:t>；</a:t>
            </a:r>
            <a:r>
              <a:rPr lang="en-US" altLang="zh-CN"/>
              <a:t>2h/week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Daily</a:t>
            </a:r>
            <a:r>
              <a:rPr lang="zh-CN" altLang="en-US"/>
              <a:t>：</a:t>
            </a:r>
            <a:r>
              <a:rPr lang="en-US" altLang="zh-CN"/>
              <a:t>15min</a:t>
            </a:r>
            <a:r>
              <a:rPr lang="zh-CN" altLang="en-US"/>
              <a:t>；检查进度</a:t>
            </a:r>
            <a:r>
              <a:rPr lang="en-US" altLang="zh-CN" sz="1200" b="0" i="0" kern="1200">
                <a:solidFill>
                  <a:schemeClr val="tx1"/>
                </a:solidFill>
                <a:effectLst/>
                <a:latin typeface="+mn-lt"/>
                <a:ea typeface="+mn-ea"/>
                <a:cs typeface="+mn-cs"/>
              </a:rPr>
              <a:t>inspect </a:t>
            </a:r>
            <a:r>
              <a:rPr lang="zh-CN" altLang="en-US" sz="1200" b="0" i="0" kern="1200">
                <a:solidFill>
                  <a:schemeClr val="tx1"/>
                </a:solidFill>
                <a:effectLst/>
                <a:latin typeface="+mn-lt"/>
                <a:ea typeface="+mn-ea"/>
                <a:cs typeface="+mn-cs"/>
              </a:rPr>
              <a:t>，</a:t>
            </a:r>
            <a:r>
              <a:rPr lang="zh-CN" altLang="en-US"/>
              <a:t>同步信息：完成什么。计划完成什么；什么障碍；但是不解决问题；团队成员都可以主持</a:t>
            </a: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a:solidFill>
                  <a:schemeClr val="tx1"/>
                </a:solidFill>
                <a:effectLst/>
                <a:latin typeface="+mn-lt"/>
                <a:ea typeface="+mn-ea"/>
                <a:cs typeface="+mn-cs"/>
              </a:rPr>
              <a:t>冲刺评审：对于一个月的冲刺，时间限制在最多四小时，</a:t>
            </a:r>
            <a:r>
              <a:rPr lang="en-US" altLang="zh-CN" sz="1200" b="0" i="0" kern="1200">
                <a:solidFill>
                  <a:schemeClr val="tx1"/>
                </a:solidFill>
                <a:effectLst/>
                <a:latin typeface="+mn-lt"/>
                <a:ea typeface="+mn-ea"/>
                <a:cs typeface="+mn-cs"/>
              </a:rPr>
              <a:t>1h/week</a:t>
            </a:r>
            <a:endParaRPr lang="en-US" altLang="zh-CN"/>
          </a:p>
          <a:p>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108</a:t>
            </a:fld>
            <a:endParaRPr lang="zh-CN" altLang="en-US"/>
          </a:p>
        </p:txBody>
      </p:sp>
    </p:spTree>
    <p:extLst>
      <p:ext uri="{BB962C8B-B14F-4D97-AF65-F5344CB8AC3E}">
        <p14:creationId xmlns:p14="http://schemas.microsoft.com/office/powerpoint/2010/main" val="126348399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冲刺目标不可动摇、</a:t>
            </a:r>
            <a:endParaRPr lang="en-US" altLang="zh-CN"/>
          </a:p>
          <a:p>
            <a:r>
              <a:rPr lang="zh-CN" altLang="en-US"/>
              <a:t>可以调整实现方法和途径</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109</a:t>
            </a:fld>
            <a:endParaRPr lang="zh-CN" altLang="en-US"/>
          </a:p>
        </p:txBody>
      </p:sp>
    </p:spTree>
    <p:extLst>
      <p:ext uri="{BB962C8B-B14F-4D97-AF65-F5344CB8AC3E}">
        <p14:creationId xmlns:p14="http://schemas.microsoft.com/office/powerpoint/2010/main" val="32249271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8h</a:t>
            </a:r>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110</a:t>
            </a:fld>
            <a:endParaRPr lang="zh-CN" altLang="en-US"/>
          </a:p>
        </p:txBody>
      </p:sp>
    </p:spTree>
    <p:extLst>
      <p:ext uri="{BB962C8B-B14F-4D97-AF65-F5344CB8AC3E}">
        <p14:creationId xmlns:p14="http://schemas.microsoft.com/office/powerpoint/2010/main" val="38061129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每日站会能够改善沟通、识别障碍、促进快速决策，从而消除对其他会议的需求</a:t>
            </a:r>
            <a:endParaRPr lang="en-US" altLang="zh-CN"/>
          </a:p>
          <a:p>
            <a:r>
              <a:rPr lang="zh-CN" altLang="en-US"/>
              <a:t>随时见面</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111</a:t>
            </a:fld>
            <a:endParaRPr lang="zh-CN" altLang="en-US"/>
          </a:p>
        </p:txBody>
      </p:sp>
    </p:spTree>
    <p:extLst>
      <p:ext uri="{BB962C8B-B14F-4D97-AF65-F5344CB8AC3E}">
        <p14:creationId xmlns:p14="http://schemas.microsoft.com/office/powerpoint/2010/main" val="200745951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人 </a:t>
            </a:r>
            <a:r>
              <a:rPr lang="en-US" altLang="zh-CN"/>
              <a:t>(People)</a:t>
            </a:r>
            <a:r>
              <a:rPr lang="zh-CN" altLang="en-US"/>
              <a:t>：团队成员之间的协作如何？沟通是否顺畅？士气如何？</a:t>
            </a:r>
          </a:p>
          <a:p>
            <a:r>
              <a:rPr lang="zh-CN" altLang="en-US"/>
              <a:t>流程 </a:t>
            </a:r>
            <a:r>
              <a:rPr lang="en-US" altLang="zh-CN"/>
              <a:t>(Process)</a:t>
            </a:r>
            <a:r>
              <a:rPr lang="zh-CN" altLang="en-US"/>
              <a:t>：工作流程是否高效？工具是否顺手？每日站会是否有价值？</a:t>
            </a:r>
          </a:p>
          <a:p>
            <a:r>
              <a:rPr lang="zh-CN" altLang="en-US"/>
              <a:t>产品 </a:t>
            </a:r>
            <a:r>
              <a:rPr lang="en-US" altLang="zh-CN"/>
              <a:t>(Product)</a:t>
            </a:r>
            <a:r>
              <a:rPr lang="zh-CN" altLang="en-US"/>
              <a:t>：交付的增量质量如何？是否满足了 </a:t>
            </a:r>
            <a:r>
              <a:rPr lang="en-US" altLang="zh-CN"/>
              <a:t>DoD</a:t>
            </a:r>
            <a:r>
              <a:rPr lang="zh-CN" altLang="en-US"/>
              <a:t>（完成定义）？用户反馈如何？</a:t>
            </a:r>
          </a:p>
          <a:p>
            <a:r>
              <a:rPr lang="zh-CN" altLang="en-US"/>
              <a:t>关系 </a:t>
            </a:r>
            <a:r>
              <a:rPr lang="en-US" altLang="zh-CN"/>
              <a:t>(Relationships)</a:t>
            </a:r>
            <a:r>
              <a:rPr lang="zh-CN" altLang="en-US"/>
              <a:t>：团队与利益相关者的互动如何？</a:t>
            </a:r>
            <a:endParaRPr lang="en-US" altLang="zh-CN"/>
          </a:p>
          <a:p>
            <a:r>
              <a:rPr lang="zh-CN" altLang="en-US"/>
              <a:t>确定未来的调整；反馈 </a:t>
            </a:r>
            <a:r>
              <a:rPr lang="en-US" altLang="zh-CN"/>
              <a:t>feedback</a:t>
            </a:r>
          </a:p>
          <a:p>
            <a:endParaRPr lang="en-US" altLang="zh-CN"/>
          </a:p>
          <a:p>
            <a:r>
              <a:rPr lang="zh-CN" altLang="en-US"/>
              <a:t>团队向关键干系人展示工作成果，并共同探讨向产品目标迈进的进展</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112</a:t>
            </a:fld>
            <a:endParaRPr lang="zh-CN" altLang="en-US"/>
          </a:p>
        </p:txBody>
      </p:sp>
    </p:spTree>
    <p:extLst>
      <p:ext uri="{BB962C8B-B14F-4D97-AF65-F5344CB8AC3E}">
        <p14:creationId xmlns:p14="http://schemas.microsoft.com/office/powerpoint/2010/main" val="244521634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Concludes: </a:t>
            </a:r>
            <a:r>
              <a:rPr lang="zh-CN" altLang="en-US"/>
              <a:t>表示通过一个正式的仪式、活动或最后的动作，使整个过程完整地完成</a:t>
            </a:r>
            <a:endParaRPr lang="en-US" altLang="zh-CN"/>
          </a:p>
          <a:p>
            <a:r>
              <a:rPr lang="zh-CN" altLang="en-US"/>
              <a:t>总结 </a:t>
            </a:r>
            <a:r>
              <a:rPr lang="en-US" altLang="zh-CN"/>
              <a:t>summary</a:t>
            </a:r>
          </a:p>
          <a:p>
            <a:r>
              <a:rPr lang="zh-CN" altLang="en-US"/>
              <a:t>规划提升质量与效能的方法</a:t>
            </a:r>
            <a:endParaRPr lang="en-US" altLang="zh-CN"/>
          </a:p>
          <a:p>
            <a:r>
              <a:rPr lang="zh-CN" altLang="en-US"/>
              <a:t>监视 识别 讨论 规划 行动</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113</a:t>
            </a:fld>
            <a:endParaRPr lang="zh-CN" altLang="en-US"/>
          </a:p>
        </p:txBody>
      </p:sp>
    </p:spTree>
    <p:extLst>
      <p:ext uri="{BB962C8B-B14F-4D97-AF65-F5344CB8AC3E}">
        <p14:creationId xmlns:p14="http://schemas.microsoft.com/office/powerpoint/2010/main" val="297639034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Product Backlog</a:t>
            </a:r>
            <a:r>
              <a:rPr lang="zh-CN" altLang="en-US"/>
              <a:t>：有序列表；每</a:t>
            </a:r>
            <a:r>
              <a:rPr lang="en-US" altLang="zh-CN"/>
              <a:t>2</a:t>
            </a:r>
            <a:r>
              <a:rPr lang="zh-CN" altLang="en-US"/>
              <a:t>周选最重要的几项（</a:t>
            </a:r>
            <a:r>
              <a:rPr lang="en-US" altLang="zh-CN"/>
              <a:t>Sprint Goal</a:t>
            </a:r>
            <a:r>
              <a:rPr lang="zh-CN" altLang="en-US"/>
              <a:t>），再拆成每天任务 </a:t>
            </a:r>
            <a:r>
              <a:rPr lang="en-US" altLang="zh-CN"/>
              <a:t>Sprint Backlog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Increment</a:t>
            </a:r>
            <a:r>
              <a:rPr lang="zh-CN" altLang="en-US"/>
              <a:t>：当前冲刺阶段完成且</a:t>
            </a:r>
            <a:r>
              <a:rPr lang="en-US" altLang="zh-CN"/>
              <a:t>PO</a:t>
            </a:r>
            <a:r>
              <a:rPr lang="zh-CN" altLang="en-US"/>
              <a:t>审核通过，可以交付的价值</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114</a:t>
            </a:fld>
            <a:endParaRPr lang="zh-CN" altLang="en-US"/>
          </a:p>
        </p:txBody>
      </p:sp>
    </p:spTree>
    <p:extLst>
      <p:ext uri="{BB962C8B-B14F-4D97-AF65-F5344CB8AC3E}">
        <p14:creationId xmlns:p14="http://schemas.microsoft.com/office/powerpoint/2010/main" val="140502225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CA629-3CF6-461A-D469-DF58E3C0E1D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48BFEBA-21E3-AF77-3F95-A2CE08AF0781}"/>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89A6EB3B-E901-E91D-802F-D699AEECE111}"/>
              </a:ext>
            </a:extLst>
          </p:cNvPr>
          <p:cNvSpPr>
            <a:spLocks noGrp="1"/>
          </p:cNvSpPr>
          <p:nvPr>
            <p:ph type="body" idx="1"/>
          </p:nvPr>
        </p:nvSpPr>
        <p:spPr/>
        <p:txBody>
          <a:bodyPr/>
          <a:lstStyle/>
          <a:p>
            <a:r>
              <a:rPr lang="en-US" altLang="zh-CN"/>
              <a:t>Product Backlog </a:t>
            </a:r>
            <a:r>
              <a:rPr lang="zh-CN" altLang="en-US"/>
              <a:t>是一个由 </a:t>
            </a:r>
            <a:r>
              <a:rPr lang="en-US" altLang="zh-CN"/>
              <a:t>PO </a:t>
            </a:r>
            <a:r>
              <a:rPr lang="zh-CN" altLang="en-US"/>
              <a:t>负责排序和内容、由 </a:t>
            </a:r>
            <a:r>
              <a:rPr lang="en-US" altLang="zh-CN"/>
              <a:t>Developers </a:t>
            </a:r>
            <a:r>
              <a:rPr lang="zh-CN" altLang="en-US"/>
              <a:t>负责估算和技术实现的、动态演进的“唯一工作清单”，它不仅包含功能，还包含修复和技术改进，且越靠近顶部的条目越清晰、越小。</a:t>
            </a:r>
            <a:endParaRPr lang="en-US" altLang="zh-CN"/>
          </a:p>
          <a:p>
            <a:r>
              <a:rPr lang="zh-CN" altLang="en-US"/>
              <a:t>所有条目最终服务于 </a:t>
            </a:r>
            <a:r>
              <a:rPr lang="en-US" altLang="zh-CN"/>
              <a:t>Product Goal</a:t>
            </a:r>
            <a:r>
              <a:rPr lang="zh-CN" altLang="en-US"/>
              <a:t>（产品目标）</a:t>
            </a:r>
            <a:endParaRPr lang="en-US" altLang="zh-CN"/>
          </a:p>
          <a:p>
            <a:r>
              <a:rPr lang="zh-CN" altLang="en-US"/>
              <a:t>产品待办列表是一个随着认知深入而逐渐清晰（涌现）、且经过优先级排序的列表：动态和方向</a:t>
            </a:r>
            <a:endParaRPr lang="en-US" altLang="zh-CN"/>
          </a:p>
          <a:p>
            <a:r>
              <a:rPr lang="zh-CN" altLang="en-US"/>
              <a:t>价值清晰（</a:t>
            </a:r>
            <a:r>
              <a:rPr lang="en-US" altLang="zh-CN"/>
              <a:t>PO </a:t>
            </a:r>
            <a:r>
              <a:rPr lang="zh-CN" altLang="en-US"/>
              <a:t>确认）</a:t>
            </a:r>
          </a:p>
          <a:p>
            <a:r>
              <a:rPr lang="zh-CN" altLang="en-US"/>
              <a:t>大小合适（</a:t>
            </a:r>
            <a:r>
              <a:rPr lang="en-US" altLang="zh-CN"/>
              <a:t>Dev </a:t>
            </a:r>
            <a:r>
              <a:rPr lang="zh-CN" altLang="en-US"/>
              <a:t>确认能在一个 </a:t>
            </a:r>
            <a:r>
              <a:rPr lang="en-US" altLang="zh-CN"/>
              <a:t>Sprint </a:t>
            </a:r>
            <a:r>
              <a:rPr lang="zh-CN" altLang="en-US"/>
              <a:t>做完）</a:t>
            </a:r>
          </a:p>
          <a:p>
            <a:r>
              <a:rPr lang="zh-CN" altLang="en-US"/>
              <a:t>方案可行（团队达成共识）</a:t>
            </a:r>
            <a:endParaRPr lang="en-US" altLang="zh-CN"/>
          </a:p>
          <a:p>
            <a:endParaRPr lang="en-US" altLang="zh-CN"/>
          </a:p>
          <a:p>
            <a:r>
              <a:rPr lang="en-US" altLang="zh-CN"/>
              <a:t>Single</a:t>
            </a:r>
            <a:r>
              <a:rPr lang="zh-CN" altLang="en-US"/>
              <a:t>：单一的，唯一的，从数量上限制了团队任务的来源；</a:t>
            </a:r>
            <a:r>
              <a:rPr lang="en-US" altLang="zh-CN"/>
              <a:t>unique</a:t>
            </a:r>
            <a:r>
              <a:rPr lang="zh-CN" altLang="en-US"/>
              <a:t>的性质唯一、独特。</a:t>
            </a:r>
          </a:p>
        </p:txBody>
      </p:sp>
      <p:sp>
        <p:nvSpPr>
          <p:cNvPr id="4" name="灯片编号占位符 3">
            <a:extLst>
              <a:ext uri="{FF2B5EF4-FFF2-40B4-BE49-F238E27FC236}">
                <a16:creationId xmlns:a16="http://schemas.microsoft.com/office/drawing/2014/main" id="{B9710D17-F882-5BCE-1F43-D732D75F7F5F}"/>
              </a:ext>
            </a:extLst>
          </p:cNvPr>
          <p:cNvSpPr>
            <a:spLocks noGrp="1"/>
          </p:cNvSpPr>
          <p:nvPr>
            <p:ph type="sldNum" sz="quarter" idx="5"/>
          </p:nvPr>
        </p:nvSpPr>
        <p:spPr/>
        <p:txBody>
          <a:bodyPr/>
          <a:lstStyle/>
          <a:p>
            <a:fld id="{6D27E3F6-C3AC-4131-BD60-F31F1EE091B2}" type="slidenum">
              <a:rPr lang="zh-CN" altLang="en-US" smtClean="0"/>
              <a:t>115</a:t>
            </a:fld>
            <a:endParaRPr lang="zh-CN" altLang="en-US"/>
          </a:p>
        </p:txBody>
      </p:sp>
    </p:spTree>
    <p:extLst>
      <p:ext uri="{BB962C8B-B14F-4D97-AF65-F5344CB8AC3E}">
        <p14:creationId xmlns:p14="http://schemas.microsoft.com/office/powerpoint/2010/main" val="387382725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E5908-DDD1-0DCC-4EA2-F3B7B1E07B3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DE8C31A-EA7B-FB61-20A4-30B92129806F}"/>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5B364ADE-8AA9-70CC-8EB2-0D1254F758A5}"/>
              </a:ext>
            </a:extLst>
          </p:cNvPr>
          <p:cNvSpPr>
            <a:spLocks noGrp="1"/>
          </p:cNvSpPr>
          <p:nvPr>
            <p:ph type="body" idx="1"/>
          </p:nvPr>
        </p:nvSpPr>
        <p:spPr/>
        <p:txBody>
          <a:bodyPr/>
          <a:lstStyle/>
          <a:p>
            <a:r>
              <a:rPr lang="zh-CN" altLang="en-US"/>
              <a:t>不要为了忙碌而忙碌，要为了达成目标而协同作战</a:t>
            </a:r>
          </a:p>
        </p:txBody>
      </p:sp>
      <p:sp>
        <p:nvSpPr>
          <p:cNvPr id="4" name="灯片编号占位符 3">
            <a:extLst>
              <a:ext uri="{FF2B5EF4-FFF2-40B4-BE49-F238E27FC236}">
                <a16:creationId xmlns:a16="http://schemas.microsoft.com/office/drawing/2014/main" id="{A61B287A-D843-D12A-67EC-6A7CFD9047A8}"/>
              </a:ext>
            </a:extLst>
          </p:cNvPr>
          <p:cNvSpPr>
            <a:spLocks noGrp="1"/>
          </p:cNvSpPr>
          <p:nvPr>
            <p:ph type="sldNum" sz="quarter" idx="5"/>
          </p:nvPr>
        </p:nvSpPr>
        <p:spPr/>
        <p:txBody>
          <a:bodyPr/>
          <a:lstStyle/>
          <a:p>
            <a:fld id="{6D27E3F6-C3AC-4131-BD60-F31F1EE091B2}" type="slidenum">
              <a:rPr lang="zh-CN" altLang="en-US" smtClean="0"/>
              <a:t>116</a:t>
            </a:fld>
            <a:endParaRPr lang="zh-CN" altLang="en-US"/>
          </a:p>
        </p:txBody>
      </p:sp>
    </p:spTree>
    <p:extLst>
      <p:ext uri="{BB962C8B-B14F-4D97-AF65-F5344CB8AC3E}">
        <p14:creationId xmlns:p14="http://schemas.microsoft.com/office/powerpoint/2010/main" val="326452547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EBABC-F113-873B-78E9-0679F0AEB50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BDFB303-12DC-B404-5DB7-E139845FC9A0}"/>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045F8045-BE10-DFB0-7E9F-50B62DEBCF8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Increment</a:t>
            </a:r>
            <a:r>
              <a:rPr lang="zh-CN" altLang="en-US"/>
              <a:t>：当前冲刺阶段完成且</a:t>
            </a:r>
            <a:r>
              <a:rPr lang="en-US" altLang="zh-CN"/>
              <a:t>PO</a:t>
            </a:r>
            <a:r>
              <a:rPr lang="zh-CN" altLang="en-US"/>
              <a:t>审核通过，可以交付的价值</a:t>
            </a: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不能破坏之前的提交</a:t>
            </a: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 </a:t>
            </a:r>
            <a:r>
              <a:rPr lang="en-US" altLang="zh-CN"/>
              <a:t>DoD </a:t>
            </a:r>
            <a:r>
              <a:rPr lang="zh-CN" altLang="en-US"/>
              <a:t>：代码已审查 </a:t>
            </a:r>
            <a:r>
              <a:rPr lang="en-US" altLang="zh-CN"/>
              <a:t>+ </a:t>
            </a:r>
            <a:r>
              <a:rPr lang="zh-CN" altLang="en-US"/>
              <a:t>单元测试通过 </a:t>
            </a:r>
            <a:r>
              <a:rPr lang="en-US" altLang="zh-CN"/>
              <a:t>+ </a:t>
            </a:r>
            <a:r>
              <a:rPr lang="zh-CN" altLang="en-US"/>
              <a:t>文档已更新</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只有当这三件事全部做完时，该工作项才算“完成</a:t>
            </a:r>
          </a:p>
        </p:txBody>
      </p:sp>
      <p:sp>
        <p:nvSpPr>
          <p:cNvPr id="4" name="灯片编号占位符 3">
            <a:extLst>
              <a:ext uri="{FF2B5EF4-FFF2-40B4-BE49-F238E27FC236}">
                <a16:creationId xmlns:a16="http://schemas.microsoft.com/office/drawing/2014/main" id="{F51DC19F-48BE-EDAB-729A-0FA138E03E0B}"/>
              </a:ext>
            </a:extLst>
          </p:cNvPr>
          <p:cNvSpPr>
            <a:spLocks noGrp="1"/>
          </p:cNvSpPr>
          <p:nvPr>
            <p:ph type="sldNum" sz="quarter" idx="5"/>
          </p:nvPr>
        </p:nvSpPr>
        <p:spPr/>
        <p:txBody>
          <a:bodyPr/>
          <a:lstStyle/>
          <a:p>
            <a:fld id="{6D27E3F6-C3AC-4131-BD60-F31F1EE091B2}" type="slidenum">
              <a:rPr lang="zh-CN" altLang="en-US" smtClean="0"/>
              <a:t>117</a:t>
            </a:fld>
            <a:endParaRPr lang="zh-CN" altLang="en-US"/>
          </a:p>
        </p:txBody>
      </p:sp>
    </p:spTree>
    <p:extLst>
      <p:ext uri="{BB962C8B-B14F-4D97-AF65-F5344CB8AC3E}">
        <p14:creationId xmlns:p14="http://schemas.microsoft.com/office/powerpoint/2010/main" val="92470337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Backlog</a:t>
            </a:r>
            <a:r>
              <a:rPr lang="zh-CN" altLang="en-US"/>
              <a:t>（产品待办列表）</a:t>
            </a:r>
          </a:p>
          <a:p>
            <a:r>
              <a:rPr lang="zh-CN" altLang="en-US"/>
              <a:t>定义：所有未来可能做的功能、改进、修复的集合。</a:t>
            </a:r>
          </a:p>
          <a:p>
            <a:r>
              <a:rPr lang="zh-CN" altLang="en-US"/>
              <a:t>特点：</a:t>
            </a:r>
          </a:p>
          <a:p>
            <a:r>
              <a:rPr lang="zh-CN" altLang="en-US"/>
              <a:t>包含大量条目，有些甚至还没细化。</a:t>
            </a:r>
          </a:p>
          <a:p>
            <a:r>
              <a:rPr lang="zh-CN" altLang="en-US"/>
              <a:t>优先级不固定，随时可以调整或删除。</a:t>
            </a:r>
          </a:p>
          <a:p>
            <a:r>
              <a:rPr lang="zh-CN" altLang="en-US"/>
              <a:t>通常由产品经理</a:t>
            </a:r>
            <a:r>
              <a:rPr lang="en-US" altLang="zh-CN"/>
              <a:t>/PO </a:t>
            </a:r>
            <a:r>
              <a:rPr lang="zh-CN" altLang="en-US"/>
              <a:t>维护。</a:t>
            </a:r>
          </a:p>
          <a:p>
            <a:r>
              <a:rPr lang="zh-CN" altLang="en-US"/>
              <a:t>是“战略层”的任务池。</a:t>
            </a:r>
            <a:endParaRPr lang="en-US" altLang="zh-CN"/>
          </a:p>
          <a:p>
            <a:endParaRPr lang="en-US" altLang="zh-CN"/>
          </a:p>
          <a:p>
            <a:r>
              <a:rPr lang="en-US" altLang="zh-CN"/>
              <a:t>To Do</a:t>
            </a:r>
            <a:r>
              <a:rPr lang="zh-CN" altLang="en-US"/>
              <a:t>（待办列）</a:t>
            </a:r>
          </a:p>
          <a:p>
            <a:r>
              <a:rPr lang="zh-CN" altLang="en-US"/>
              <a:t>定义：从 </a:t>
            </a:r>
            <a:r>
              <a:rPr lang="en-US" altLang="zh-CN"/>
              <a:t>Backlog </a:t>
            </a:r>
            <a:r>
              <a:rPr lang="zh-CN" altLang="en-US"/>
              <a:t>中挑选出来、准备在下一个周期（如本周</a:t>
            </a:r>
            <a:r>
              <a:rPr lang="en-US" altLang="zh-CN"/>
              <a:t>/</a:t>
            </a:r>
            <a:r>
              <a:rPr lang="zh-CN" altLang="en-US"/>
              <a:t>本迭代）开始执行的任务。</a:t>
            </a:r>
          </a:p>
          <a:p>
            <a:r>
              <a:rPr lang="zh-CN" altLang="en-US"/>
              <a:t>特点：</a:t>
            </a:r>
          </a:p>
          <a:p>
            <a:r>
              <a:rPr lang="zh-CN" altLang="en-US"/>
              <a:t>已经经过筛选、估算、排期。</a:t>
            </a:r>
          </a:p>
          <a:p>
            <a:r>
              <a:rPr lang="zh-CN" altLang="en-US"/>
              <a:t>优先级明确，团队承诺要完成。</a:t>
            </a:r>
          </a:p>
          <a:p>
            <a:r>
              <a:rPr lang="zh-CN" altLang="en-US"/>
              <a:t>通常是当前工作流的起点。</a:t>
            </a:r>
          </a:p>
          <a:p>
            <a:r>
              <a:rPr lang="zh-CN" altLang="en-US"/>
              <a:t>属于“战术层”的执行计划。</a:t>
            </a:r>
          </a:p>
          <a:p>
            <a:endParaRPr lang="en-US" altLang="zh-CN"/>
          </a:p>
        </p:txBody>
      </p:sp>
      <p:sp>
        <p:nvSpPr>
          <p:cNvPr id="4" name="灯片编号占位符 3"/>
          <p:cNvSpPr>
            <a:spLocks noGrp="1"/>
          </p:cNvSpPr>
          <p:nvPr>
            <p:ph type="sldNum" sz="quarter" idx="5"/>
          </p:nvPr>
        </p:nvSpPr>
        <p:spPr/>
        <p:txBody>
          <a:bodyPr/>
          <a:lstStyle/>
          <a:p>
            <a:fld id="{6D27E3F6-C3AC-4131-BD60-F31F1EE091B2}" type="slidenum">
              <a:rPr lang="zh-CN" altLang="en-US" smtClean="0"/>
              <a:t>118</a:t>
            </a:fld>
            <a:endParaRPr lang="zh-CN" altLang="en-US"/>
          </a:p>
        </p:txBody>
      </p:sp>
    </p:spTree>
    <p:extLst>
      <p:ext uri="{BB962C8B-B14F-4D97-AF65-F5344CB8AC3E}">
        <p14:creationId xmlns:p14="http://schemas.microsoft.com/office/powerpoint/2010/main" val="307492544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126</a:t>
            </a:fld>
            <a:endParaRPr lang="zh-CN" altLang="en-US"/>
          </a:p>
        </p:txBody>
      </p:sp>
    </p:spTree>
    <p:extLst>
      <p:ext uri="{BB962C8B-B14F-4D97-AF65-F5344CB8AC3E}">
        <p14:creationId xmlns:p14="http://schemas.microsoft.com/office/powerpoint/2010/main" val="105075298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E01C0-3163-80A6-BF98-40BEC9A6811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1F50DF3-2548-EA71-3A72-EC7E3D2A6AAC}"/>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456DFB58-8819-0B0A-94B1-45428DDA4536}"/>
              </a:ext>
            </a:extLst>
          </p:cNvPr>
          <p:cNvSpPr>
            <a:spLocks noGrp="1"/>
          </p:cNvSpPr>
          <p:nvPr>
            <p:ph type="body" idx="1"/>
          </p:nvPr>
        </p:nvSpPr>
        <p:spPr/>
        <p:txBody>
          <a:bodyPr/>
          <a:lstStyle/>
          <a:p>
            <a:r>
              <a:rPr lang="zh-CN" altLang="en-US"/>
              <a:t>在项目启动阶段：</a:t>
            </a:r>
          </a:p>
          <a:p>
            <a:r>
              <a:rPr lang="zh-CN" altLang="en-US"/>
              <a:t>先明确业务需求（为什么做？）</a:t>
            </a:r>
          </a:p>
          <a:p>
            <a:r>
              <a:rPr lang="zh-CN" altLang="en-US"/>
              <a:t>再调研用户需求（谁要用？怎么用？）</a:t>
            </a:r>
          </a:p>
          <a:p>
            <a:r>
              <a:rPr lang="zh-CN" altLang="en-US"/>
              <a:t>最后细化功能需求（系统怎么实现？）</a:t>
            </a:r>
            <a:endParaRPr lang="en-US" altLang="zh-CN"/>
          </a:p>
          <a:p>
            <a:endParaRPr lang="en-US" altLang="zh-CN"/>
          </a:p>
          <a:p>
            <a:r>
              <a:rPr lang="zh-CN" altLang="en-US"/>
              <a:t>不能以口头约定代替规约</a:t>
            </a:r>
          </a:p>
        </p:txBody>
      </p:sp>
      <p:sp>
        <p:nvSpPr>
          <p:cNvPr id="4" name="灯片编号占位符 3">
            <a:extLst>
              <a:ext uri="{FF2B5EF4-FFF2-40B4-BE49-F238E27FC236}">
                <a16:creationId xmlns:a16="http://schemas.microsoft.com/office/drawing/2014/main" id="{51A2653C-B701-119A-961A-DEA23EE9F5EC}"/>
              </a:ext>
            </a:extLst>
          </p:cNvPr>
          <p:cNvSpPr>
            <a:spLocks noGrp="1"/>
          </p:cNvSpPr>
          <p:nvPr>
            <p:ph type="sldNum" sz="quarter" idx="5"/>
          </p:nvPr>
        </p:nvSpPr>
        <p:spPr/>
        <p:txBody>
          <a:bodyPr/>
          <a:lstStyle/>
          <a:p>
            <a:fld id="{6D27E3F6-C3AC-4131-BD60-F31F1EE091B2}" type="slidenum">
              <a:rPr lang="zh-CN" altLang="en-US" smtClean="0"/>
              <a:t>127</a:t>
            </a:fld>
            <a:endParaRPr lang="zh-CN" altLang="en-US"/>
          </a:p>
        </p:txBody>
      </p:sp>
    </p:spTree>
    <p:extLst>
      <p:ext uri="{BB962C8B-B14F-4D97-AF65-F5344CB8AC3E}">
        <p14:creationId xmlns:p14="http://schemas.microsoft.com/office/powerpoint/2010/main" val="385344208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128</a:t>
            </a:fld>
            <a:endParaRPr lang="zh-CN" altLang="en-US"/>
          </a:p>
        </p:txBody>
      </p:sp>
    </p:spTree>
    <p:extLst>
      <p:ext uri="{BB962C8B-B14F-4D97-AF65-F5344CB8AC3E}">
        <p14:creationId xmlns:p14="http://schemas.microsoft.com/office/powerpoint/2010/main" val="81476802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9F40E-5872-D4D0-5495-B96A39CFF7C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981A644-CDBD-18D0-8FE9-E5559F545A2F}"/>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5238FD18-78CE-057C-4BFE-F062B6CE1FDA}"/>
              </a:ext>
            </a:extLst>
          </p:cNvPr>
          <p:cNvSpPr>
            <a:spLocks noGrp="1"/>
          </p:cNvSpPr>
          <p:nvPr>
            <p:ph type="body" idx="1"/>
          </p:nvPr>
        </p:nvSpPr>
        <p:spPr/>
        <p:txBody>
          <a:bodyPr/>
          <a:lstStyle/>
          <a:p>
            <a:r>
              <a:rPr lang="zh-CN" altLang="en-US"/>
              <a:t>在项目启动阶段：</a:t>
            </a:r>
          </a:p>
          <a:p>
            <a:r>
              <a:rPr lang="zh-CN" altLang="en-US"/>
              <a:t>先明确业务需求（为什么做？）</a:t>
            </a:r>
          </a:p>
          <a:p>
            <a:r>
              <a:rPr lang="zh-CN" altLang="en-US"/>
              <a:t>再调研用户需求（谁要用？怎么用？）</a:t>
            </a:r>
          </a:p>
          <a:p>
            <a:r>
              <a:rPr lang="zh-CN" altLang="en-US"/>
              <a:t>最后细化功能需求（系统怎么实现？）</a:t>
            </a:r>
            <a:endParaRPr lang="en-US" altLang="zh-CN"/>
          </a:p>
        </p:txBody>
      </p:sp>
      <p:sp>
        <p:nvSpPr>
          <p:cNvPr id="4" name="灯片编号占位符 3">
            <a:extLst>
              <a:ext uri="{FF2B5EF4-FFF2-40B4-BE49-F238E27FC236}">
                <a16:creationId xmlns:a16="http://schemas.microsoft.com/office/drawing/2014/main" id="{17B3BFD6-65D7-E9B4-248D-F8C40BEB3DA2}"/>
              </a:ext>
            </a:extLst>
          </p:cNvPr>
          <p:cNvSpPr>
            <a:spLocks noGrp="1"/>
          </p:cNvSpPr>
          <p:nvPr>
            <p:ph type="sldNum" sz="quarter" idx="5"/>
          </p:nvPr>
        </p:nvSpPr>
        <p:spPr/>
        <p:txBody>
          <a:bodyPr/>
          <a:lstStyle/>
          <a:p>
            <a:fld id="{6D27E3F6-C3AC-4131-BD60-F31F1EE091B2}" type="slidenum">
              <a:rPr lang="zh-CN" altLang="en-US" smtClean="0"/>
              <a:t>129</a:t>
            </a:fld>
            <a:endParaRPr lang="zh-CN" altLang="en-US"/>
          </a:p>
        </p:txBody>
      </p:sp>
    </p:spTree>
    <p:extLst>
      <p:ext uri="{BB962C8B-B14F-4D97-AF65-F5344CB8AC3E}">
        <p14:creationId xmlns:p14="http://schemas.microsoft.com/office/powerpoint/2010/main" val="403331678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E6B92-B118-698E-3EF0-858AD42C222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41F0C2E-49CA-0639-A6EE-F3CAD596EB03}"/>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48F5E2F0-0AF7-9B7F-5F08-2FC624AD0B03}"/>
              </a:ext>
            </a:extLst>
          </p:cNvPr>
          <p:cNvSpPr>
            <a:spLocks noGrp="1"/>
          </p:cNvSpPr>
          <p:nvPr>
            <p:ph type="body" idx="1"/>
          </p:nvPr>
        </p:nvSpPr>
        <p:spPr/>
        <p:txBody>
          <a:bodyPr/>
          <a:lstStyle/>
          <a:p>
            <a:r>
              <a:rPr lang="zh-CN" altLang="en-US"/>
              <a:t>不要只听“领导说”或“产品经理想”，要找到最终使用系统的人</a:t>
            </a:r>
            <a:endParaRPr lang="en-US" altLang="zh-CN"/>
          </a:p>
          <a:p>
            <a:r>
              <a:rPr lang="zh-CN" altLang="en-US"/>
              <a:t>把“决策者”当成“使用者”（如老板提需求，但一线员工不用）；</a:t>
            </a:r>
          </a:p>
          <a:p>
            <a:r>
              <a:rPr lang="zh-CN" altLang="en-US"/>
              <a:t>忽略间接用户（如管理员、运维人员、客户服务中心）；</a:t>
            </a:r>
          </a:p>
          <a:p>
            <a:r>
              <a:rPr lang="zh-CN" altLang="en-US"/>
              <a:t>混淆“付费客户”与“终端用户”（如企业采购系统，使用者是员工，付款的是公司）</a:t>
            </a:r>
          </a:p>
        </p:txBody>
      </p:sp>
      <p:sp>
        <p:nvSpPr>
          <p:cNvPr id="4" name="灯片编号占位符 3">
            <a:extLst>
              <a:ext uri="{FF2B5EF4-FFF2-40B4-BE49-F238E27FC236}">
                <a16:creationId xmlns:a16="http://schemas.microsoft.com/office/drawing/2014/main" id="{9A5928A9-75C2-F59B-88F8-5DAB04171DF3}"/>
              </a:ext>
            </a:extLst>
          </p:cNvPr>
          <p:cNvSpPr>
            <a:spLocks noGrp="1"/>
          </p:cNvSpPr>
          <p:nvPr>
            <p:ph type="sldNum" sz="quarter" idx="5"/>
          </p:nvPr>
        </p:nvSpPr>
        <p:spPr/>
        <p:txBody>
          <a:bodyPr/>
          <a:lstStyle/>
          <a:p>
            <a:fld id="{6D27E3F6-C3AC-4131-BD60-F31F1EE091B2}" type="slidenum">
              <a:rPr lang="zh-CN" altLang="en-US" smtClean="0"/>
              <a:t>130</a:t>
            </a:fld>
            <a:endParaRPr lang="zh-CN" altLang="en-US"/>
          </a:p>
        </p:txBody>
      </p:sp>
    </p:spTree>
    <p:extLst>
      <p:ext uri="{BB962C8B-B14F-4D97-AF65-F5344CB8AC3E}">
        <p14:creationId xmlns:p14="http://schemas.microsoft.com/office/powerpoint/2010/main" val="43494647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6029F-4344-51B1-81EB-804941FF541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8CFA0A3-DAA3-2CDC-7FF4-57A498882237}"/>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9FD9C9B6-D2EA-130F-D3F6-197FE95329D2}"/>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225D41E-C1E5-0381-1909-8DA4E7D3B61A}"/>
              </a:ext>
            </a:extLst>
          </p:cNvPr>
          <p:cNvSpPr>
            <a:spLocks noGrp="1"/>
          </p:cNvSpPr>
          <p:nvPr>
            <p:ph type="sldNum" sz="quarter" idx="5"/>
          </p:nvPr>
        </p:nvSpPr>
        <p:spPr/>
        <p:txBody>
          <a:bodyPr/>
          <a:lstStyle/>
          <a:p>
            <a:fld id="{6D27E3F6-C3AC-4131-BD60-F31F1EE091B2}" type="slidenum">
              <a:rPr lang="zh-CN" altLang="en-US" smtClean="0"/>
              <a:t>131</a:t>
            </a:fld>
            <a:endParaRPr lang="zh-CN" altLang="en-US"/>
          </a:p>
        </p:txBody>
      </p:sp>
    </p:spTree>
    <p:extLst>
      <p:ext uri="{BB962C8B-B14F-4D97-AF65-F5344CB8AC3E}">
        <p14:creationId xmlns:p14="http://schemas.microsoft.com/office/powerpoint/2010/main" val="332448172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81AA2-6DC3-1126-E620-B715FE36D44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B2CAC12-D8B7-45B4-969D-69635BC2C014}"/>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8F80FA12-667E-232D-C00C-5C893A01308A}"/>
              </a:ext>
            </a:extLst>
          </p:cNvPr>
          <p:cNvSpPr>
            <a:spLocks noGrp="1"/>
          </p:cNvSpPr>
          <p:nvPr>
            <p:ph type="body" idx="1"/>
          </p:nvPr>
        </p:nvSpPr>
        <p:spPr/>
        <p:txBody>
          <a:bodyPr/>
          <a:lstStyle/>
          <a:p>
            <a:r>
              <a:rPr lang="zh-CN" altLang="en-US"/>
              <a:t>不能以口头约定代替规约</a:t>
            </a:r>
          </a:p>
        </p:txBody>
      </p:sp>
      <p:sp>
        <p:nvSpPr>
          <p:cNvPr id="4" name="灯片编号占位符 3">
            <a:extLst>
              <a:ext uri="{FF2B5EF4-FFF2-40B4-BE49-F238E27FC236}">
                <a16:creationId xmlns:a16="http://schemas.microsoft.com/office/drawing/2014/main" id="{4A0B7C54-65C2-51E0-C884-C2EF629A6BF3}"/>
              </a:ext>
            </a:extLst>
          </p:cNvPr>
          <p:cNvSpPr>
            <a:spLocks noGrp="1"/>
          </p:cNvSpPr>
          <p:nvPr>
            <p:ph type="sldNum" sz="quarter" idx="5"/>
          </p:nvPr>
        </p:nvSpPr>
        <p:spPr/>
        <p:txBody>
          <a:bodyPr/>
          <a:lstStyle/>
          <a:p>
            <a:fld id="{6D27E3F6-C3AC-4131-BD60-F31F1EE091B2}" type="slidenum">
              <a:rPr lang="zh-CN" altLang="en-US" smtClean="0"/>
              <a:t>132</a:t>
            </a:fld>
            <a:endParaRPr lang="zh-CN" altLang="en-US"/>
          </a:p>
        </p:txBody>
      </p:sp>
    </p:spTree>
    <p:extLst>
      <p:ext uri="{BB962C8B-B14F-4D97-AF65-F5344CB8AC3E}">
        <p14:creationId xmlns:p14="http://schemas.microsoft.com/office/powerpoint/2010/main" val="108976911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235F2-26EE-50BD-8859-6BC1DA49F0C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BC67E26-1816-DC89-A951-F2DF26C83BE7}"/>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F6CE010A-3874-489A-5FC1-C4CFA11E2909}"/>
              </a:ext>
            </a:extLst>
          </p:cNvPr>
          <p:cNvSpPr>
            <a:spLocks noGrp="1"/>
          </p:cNvSpPr>
          <p:nvPr>
            <p:ph type="body" idx="1"/>
          </p:nvPr>
        </p:nvSpPr>
        <p:spPr/>
        <p:txBody>
          <a:bodyPr/>
          <a:lstStyle/>
          <a:p>
            <a:r>
              <a:rPr lang="zh-CN" altLang="en-US"/>
              <a:t>需求追踪矩阵（</a:t>
            </a:r>
            <a:r>
              <a:rPr lang="en-US" altLang="zh-CN"/>
              <a:t>Requirements Traceability Matrix</a:t>
            </a:r>
            <a:r>
              <a:rPr lang="zh-CN" altLang="en-US"/>
              <a:t>，简称 </a:t>
            </a:r>
            <a:r>
              <a:rPr lang="en-US" altLang="zh-CN"/>
              <a:t>RTM</a:t>
            </a:r>
            <a:endParaRPr lang="zh-CN" altLang="en-US"/>
          </a:p>
        </p:txBody>
      </p:sp>
      <p:sp>
        <p:nvSpPr>
          <p:cNvPr id="4" name="灯片编号占位符 3">
            <a:extLst>
              <a:ext uri="{FF2B5EF4-FFF2-40B4-BE49-F238E27FC236}">
                <a16:creationId xmlns:a16="http://schemas.microsoft.com/office/drawing/2014/main" id="{27405D2F-7EC1-E58C-0C68-76E74238C116}"/>
              </a:ext>
            </a:extLst>
          </p:cNvPr>
          <p:cNvSpPr>
            <a:spLocks noGrp="1"/>
          </p:cNvSpPr>
          <p:nvPr>
            <p:ph type="sldNum" sz="quarter" idx="5"/>
          </p:nvPr>
        </p:nvSpPr>
        <p:spPr/>
        <p:txBody>
          <a:bodyPr/>
          <a:lstStyle/>
          <a:p>
            <a:fld id="{6D27E3F6-C3AC-4131-BD60-F31F1EE091B2}" type="slidenum">
              <a:rPr lang="zh-CN" altLang="en-US" smtClean="0"/>
              <a:t>134</a:t>
            </a:fld>
            <a:endParaRPr lang="zh-CN" altLang="en-US"/>
          </a:p>
        </p:txBody>
      </p:sp>
    </p:spTree>
    <p:extLst>
      <p:ext uri="{BB962C8B-B14F-4D97-AF65-F5344CB8AC3E}">
        <p14:creationId xmlns:p14="http://schemas.microsoft.com/office/powerpoint/2010/main" val="27303562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736A8-D6E0-4028-0A3F-C1399A985A4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1AFB718-D2E3-788E-073D-38398E7319D9}"/>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6A3062E5-B7E2-8D9F-FE11-ADEA9FC6315C}"/>
              </a:ext>
            </a:extLst>
          </p:cNvPr>
          <p:cNvSpPr>
            <a:spLocks noGrp="1"/>
          </p:cNvSpPr>
          <p:nvPr>
            <p:ph type="body" idx="1"/>
          </p:nvPr>
        </p:nvSpPr>
        <p:spPr/>
        <p:txBody>
          <a:bodyPr/>
          <a:lstStyle/>
          <a:p>
            <a:r>
              <a:rPr lang="en-US" altLang="zh-CN"/>
              <a:t>| </a:t>
            </a:r>
            <a:r>
              <a:rPr lang="zh-CN" altLang="en-US"/>
              <a:t>角色 </a:t>
            </a:r>
            <a:r>
              <a:rPr lang="en-US" altLang="zh-CN"/>
              <a:t>| </a:t>
            </a:r>
            <a:r>
              <a:rPr lang="zh-CN" altLang="en-US"/>
              <a:t>职责 </a:t>
            </a:r>
            <a:r>
              <a:rPr lang="en-US" altLang="zh-CN"/>
              <a:t>|</a:t>
            </a:r>
          </a:p>
          <a:p>
            <a:r>
              <a:rPr lang="en-US" altLang="zh-CN"/>
              <a:t>|------|------|</a:t>
            </a:r>
          </a:p>
          <a:p>
            <a:r>
              <a:rPr lang="en-US" altLang="zh-CN"/>
              <a:t>| </a:t>
            </a:r>
            <a:r>
              <a:rPr lang="zh-CN" altLang="en-US"/>
              <a:t>主席（通常为项目经理或产品负责人） </a:t>
            </a:r>
            <a:r>
              <a:rPr lang="en-US" altLang="zh-CN"/>
              <a:t>| </a:t>
            </a:r>
            <a:r>
              <a:rPr lang="zh-CN" altLang="en-US"/>
              <a:t>主持会议、推动决策、确保流程执行 </a:t>
            </a:r>
            <a:r>
              <a:rPr lang="en-US" altLang="zh-CN"/>
              <a:t>|</a:t>
            </a:r>
          </a:p>
          <a:p>
            <a:r>
              <a:rPr lang="en-US" altLang="zh-CN"/>
              <a:t>| </a:t>
            </a:r>
            <a:r>
              <a:rPr lang="zh-CN" altLang="en-US"/>
              <a:t>产品经理</a:t>
            </a:r>
            <a:r>
              <a:rPr lang="en-US" altLang="zh-CN"/>
              <a:t>/</a:t>
            </a:r>
            <a:r>
              <a:rPr lang="zh-CN" altLang="en-US"/>
              <a:t>业务代表 </a:t>
            </a:r>
            <a:r>
              <a:rPr lang="en-US" altLang="zh-CN"/>
              <a:t>| </a:t>
            </a:r>
            <a:r>
              <a:rPr lang="zh-CN" altLang="en-US"/>
              <a:t>评估变更对业务目标的影响、优先级判断 </a:t>
            </a:r>
            <a:r>
              <a:rPr lang="en-US" altLang="zh-CN"/>
              <a:t>|</a:t>
            </a:r>
          </a:p>
          <a:p>
            <a:r>
              <a:rPr lang="en-US" altLang="zh-CN"/>
              <a:t>| </a:t>
            </a:r>
            <a:r>
              <a:rPr lang="zh-CN" altLang="en-US"/>
              <a:t>架构师</a:t>
            </a:r>
            <a:r>
              <a:rPr lang="en-US" altLang="zh-CN"/>
              <a:t>/</a:t>
            </a:r>
            <a:r>
              <a:rPr lang="zh-CN" altLang="en-US"/>
              <a:t>技术负责人 </a:t>
            </a:r>
            <a:r>
              <a:rPr lang="en-US" altLang="zh-CN"/>
              <a:t>| </a:t>
            </a:r>
            <a:r>
              <a:rPr lang="zh-CN" altLang="en-US"/>
              <a:t>评估技术可行性、架构影响、工作量估算 </a:t>
            </a:r>
            <a:r>
              <a:rPr lang="en-US" altLang="zh-CN"/>
              <a:t>|</a:t>
            </a:r>
          </a:p>
          <a:p>
            <a:r>
              <a:rPr lang="en-US" altLang="zh-CN"/>
              <a:t>| </a:t>
            </a:r>
            <a:r>
              <a:rPr lang="zh-CN" altLang="en-US"/>
              <a:t>测试负责人 </a:t>
            </a:r>
            <a:r>
              <a:rPr lang="en-US" altLang="zh-CN"/>
              <a:t>| </a:t>
            </a:r>
            <a:r>
              <a:rPr lang="zh-CN" altLang="en-US"/>
              <a:t>评估测试范围扩大、回归测试成本、质量风险 </a:t>
            </a:r>
            <a:r>
              <a:rPr lang="en-US" altLang="zh-CN"/>
              <a:t>|</a:t>
            </a:r>
          </a:p>
          <a:p>
            <a:r>
              <a:rPr lang="en-US" altLang="zh-CN"/>
              <a:t>| </a:t>
            </a:r>
            <a:r>
              <a:rPr lang="zh-CN" altLang="en-US"/>
              <a:t>配置管理员 </a:t>
            </a:r>
            <a:r>
              <a:rPr lang="en-US" altLang="zh-CN"/>
              <a:t>| </a:t>
            </a:r>
            <a:r>
              <a:rPr lang="zh-CN" altLang="en-US"/>
              <a:t>记录变更、维护基线、版本控制 </a:t>
            </a:r>
            <a:r>
              <a:rPr lang="en-US" altLang="zh-CN"/>
              <a:t>|</a:t>
            </a:r>
          </a:p>
          <a:p>
            <a:r>
              <a:rPr lang="en-US" altLang="zh-CN"/>
              <a:t>| </a:t>
            </a:r>
            <a:r>
              <a:rPr lang="zh-CN" altLang="en-US"/>
              <a:t>客户代表（可选） </a:t>
            </a:r>
            <a:r>
              <a:rPr lang="en-US" altLang="zh-CN"/>
              <a:t>| </a:t>
            </a:r>
            <a:r>
              <a:rPr lang="zh-CN" altLang="en-US"/>
              <a:t>在外包或定制化项目中参与决策 </a:t>
            </a:r>
            <a:r>
              <a:rPr lang="en-US" altLang="zh-CN"/>
              <a:t>|</a:t>
            </a:r>
          </a:p>
          <a:p>
            <a:endParaRPr lang="en-US" altLang="zh-CN"/>
          </a:p>
        </p:txBody>
      </p:sp>
      <p:sp>
        <p:nvSpPr>
          <p:cNvPr id="4" name="灯片编号占位符 3">
            <a:extLst>
              <a:ext uri="{FF2B5EF4-FFF2-40B4-BE49-F238E27FC236}">
                <a16:creationId xmlns:a16="http://schemas.microsoft.com/office/drawing/2014/main" id="{30748DBB-414F-6005-32EE-063C5C11D569}"/>
              </a:ext>
            </a:extLst>
          </p:cNvPr>
          <p:cNvSpPr>
            <a:spLocks noGrp="1"/>
          </p:cNvSpPr>
          <p:nvPr>
            <p:ph type="sldNum" sz="quarter" idx="5"/>
          </p:nvPr>
        </p:nvSpPr>
        <p:spPr/>
        <p:txBody>
          <a:bodyPr/>
          <a:lstStyle/>
          <a:p>
            <a:fld id="{6D27E3F6-C3AC-4131-BD60-F31F1EE091B2}" type="slidenum">
              <a:rPr lang="zh-CN" altLang="en-US" smtClean="0"/>
              <a:t>135</a:t>
            </a:fld>
            <a:endParaRPr lang="zh-CN" altLang="en-US"/>
          </a:p>
        </p:txBody>
      </p:sp>
    </p:spTree>
    <p:extLst>
      <p:ext uri="{BB962C8B-B14F-4D97-AF65-F5344CB8AC3E}">
        <p14:creationId xmlns:p14="http://schemas.microsoft.com/office/powerpoint/2010/main" val="138045945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数据字典和数据流图（</a:t>
            </a:r>
            <a:r>
              <a:rPr lang="en-US" altLang="zh-CN"/>
              <a:t>DFD</a:t>
            </a:r>
            <a:r>
              <a:rPr lang="zh-CN" altLang="en-US"/>
              <a:t>）是结构化分析方法中相辅相成的两个核心组成部分，它们共同构成了对系统需求的完整描述。</a:t>
            </a:r>
            <a:r>
              <a:rPr lang="en-US" altLang="zh-CN"/>
              <a:t>DFD</a:t>
            </a:r>
            <a:r>
              <a:rPr lang="zh-CN" altLang="en-US"/>
              <a:t>提供图形化的系统功能与数据流动视图，而数据字典则提供对</a:t>
            </a:r>
            <a:r>
              <a:rPr lang="en-US" altLang="zh-CN"/>
              <a:t>DFD</a:t>
            </a:r>
            <a:r>
              <a:rPr lang="zh-CN" altLang="en-US"/>
              <a:t>中所有元素的精确文字定义和详细说明。</a:t>
            </a:r>
            <a:endParaRPr lang="en-US" altLang="zh-CN"/>
          </a:p>
          <a:p>
            <a:endParaRPr lang="en-US" altLang="zh-CN"/>
          </a:p>
          <a:p>
            <a:r>
              <a:rPr lang="zh-CN" altLang="en-US"/>
              <a:t>实体</a:t>
            </a:r>
            <a:endParaRPr lang="en-US" altLang="zh-CN"/>
          </a:p>
          <a:p>
            <a:r>
              <a:rPr lang="zh-CN" altLang="en-US"/>
              <a:t>加工</a:t>
            </a:r>
            <a:r>
              <a:rPr lang="en-US" altLang="zh-CN"/>
              <a:t>/</a:t>
            </a:r>
            <a:r>
              <a:rPr lang="zh-CN" altLang="en-US"/>
              <a:t>处理</a:t>
            </a:r>
            <a:endParaRPr lang="en-US" altLang="zh-CN"/>
          </a:p>
          <a:p>
            <a:r>
              <a:rPr lang="zh-CN" altLang="en-US"/>
              <a:t>数据流</a:t>
            </a:r>
            <a:endParaRPr lang="en-US" altLang="zh-CN"/>
          </a:p>
          <a:p>
            <a:r>
              <a:rPr lang="zh-CN" altLang="en-US"/>
              <a:t>存储</a:t>
            </a:r>
            <a:endParaRPr lang="en-US" altLang="zh-CN"/>
          </a:p>
          <a:p>
            <a:endParaRPr lang="en-US" altLang="zh-CN"/>
          </a:p>
          <a:p>
            <a:r>
              <a:rPr lang="zh-CN" altLang="en-US"/>
              <a:t>用例图</a:t>
            </a:r>
            <a:endParaRPr lang="en-US" altLang="zh-CN"/>
          </a:p>
          <a:p>
            <a:r>
              <a:rPr lang="zh-CN" altLang="en-US" sz="1200" b="0" i="0" kern="1200">
                <a:solidFill>
                  <a:schemeClr val="tx1"/>
                </a:solidFill>
                <a:effectLst/>
                <a:latin typeface="+mn-lt"/>
                <a:ea typeface="+mn-ea"/>
                <a:cs typeface="+mn-cs"/>
              </a:rPr>
              <a:t>参与者（</a:t>
            </a:r>
            <a:r>
              <a:rPr lang="en-US" altLang="zh-CN" sz="1200" b="0" i="0" kern="1200">
                <a:solidFill>
                  <a:schemeClr val="tx1"/>
                </a:solidFill>
                <a:effectLst/>
                <a:latin typeface="+mn-lt"/>
                <a:ea typeface="+mn-ea"/>
                <a:cs typeface="+mn-cs"/>
              </a:rPr>
              <a:t>Actor</a:t>
            </a:r>
            <a:r>
              <a:rPr lang="zh-CN" altLang="en-US" sz="1200" b="0" i="0" kern="1200">
                <a:solidFill>
                  <a:schemeClr val="tx1"/>
                </a:solidFill>
                <a:effectLst/>
                <a:latin typeface="+mn-lt"/>
                <a:ea typeface="+mn-ea"/>
                <a:cs typeface="+mn-cs"/>
              </a:rPr>
              <a:t>）：系统外部的人或系统（如：用户、管理员、支付网关）。</a:t>
            </a:r>
          </a:p>
          <a:p>
            <a:r>
              <a:rPr lang="zh-CN" altLang="en-US" sz="1200" b="0" i="0" kern="1200">
                <a:solidFill>
                  <a:schemeClr val="tx1"/>
                </a:solidFill>
                <a:effectLst/>
                <a:latin typeface="+mn-lt"/>
                <a:ea typeface="+mn-ea"/>
                <a:cs typeface="+mn-cs"/>
              </a:rPr>
              <a:t>用例（</a:t>
            </a:r>
            <a:r>
              <a:rPr lang="en-US" altLang="zh-CN" sz="1200" b="0" i="0" kern="1200">
                <a:solidFill>
                  <a:schemeClr val="tx1"/>
                </a:solidFill>
                <a:effectLst/>
                <a:latin typeface="+mn-lt"/>
                <a:ea typeface="+mn-ea"/>
                <a:cs typeface="+mn-cs"/>
              </a:rPr>
              <a:t>Use Case</a:t>
            </a:r>
            <a:r>
              <a:rPr lang="zh-CN" altLang="en-US" sz="1200" b="0" i="0" kern="1200">
                <a:solidFill>
                  <a:schemeClr val="tx1"/>
                </a:solidFill>
                <a:effectLst/>
                <a:latin typeface="+mn-lt"/>
                <a:ea typeface="+mn-ea"/>
                <a:cs typeface="+mn-cs"/>
              </a:rPr>
              <a:t>）：系统提供的具体功能（如：登录、下单、查询订单）。</a:t>
            </a:r>
          </a:p>
          <a:p>
            <a:r>
              <a:rPr lang="zh-CN" altLang="en-US" sz="1200" b="0" i="0" kern="1200">
                <a:solidFill>
                  <a:schemeClr val="tx1"/>
                </a:solidFill>
                <a:effectLst/>
                <a:latin typeface="+mn-lt"/>
                <a:ea typeface="+mn-ea"/>
                <a:cs typeface="+mn-cs"/>
              </a:rPr>
              <a:t>关系：关联、包含（</a:t>
            </a:r>
            <a:r>
              <a:rPr lang="en-US" altLang="zh-CN" sz="1200" b="0" i="0" kern="1200">
                <a:solidFill>
                  <a:schemeClr val="tx1"/>
                </a:solidFill>
                <a:effectLst/>
                <a:latin typeface="+mn-lt"/>
                <a:ea typeface="+mn-ea"/>
                <a:cs typeface="+mn-cs"/>
              </a:rPr>
              <a:t>include</a:t>
            </a:r>
            <a:r>
              <a:rPr lang="zh-CN" altLang="en-US" sz="1200" b="0" i="0" kern="1200">
                <a:solidFill>
                  <a:schemeClr val="tx1"/>
                </a:solidFill>
                <a:effectLst/>
                <a:latin typeface="+mn-lt"/>
                <a:ea typeface="+mn-ea"/>
                <a:cs typeface="+mn-cs"/>
              </a:rPr>
              <a:t>）、扩展（</a:t>
            </a:r>
            <a:r>
              <a:rPr lang="en-US" altLang="zh-CN" sz="1200" b="0" i="0" kern="1200">
                <a:solidFill>
                  <a:schemeClr val="tx1"/>
                </a:solidFill>
                <a:effectLst/>
                <a:latin typeface="+mn-lt"/>
                <a:ea typeface="+mn-ea"/>
                <a:cs typeface="+mn-cs"/>
              </a:rPr>
              <a:t>extend</a:t>
            </a:r>
            <a:r>
              <a:rPr lang="zh-CN" altLang="en-US" sz="1200" b="0" i="0" kern="1200">
                <a:solidFill>
                  <a:schemeClr val="tx1"/>
                </a:solidFill>
                <a:effectLst/>
                <a:latin typeface="+mn-lt"/>
                <a:ea typeface="+mn-ea"/>
                <a:cs typeface="+mn-cs"/>
              </a:rPr>
              <a:t>）、泛化。</a:t>
            </a:r>
            <a:endParaRPr lang="en-US" altLang="zh-CN" sz="1200" b="0" i="0" kern="1200">
              <a:solidFill>
                <a:schemeClr val="tx1"/>
              </a:solidFill>
              <a:effectLst/>
              <a:latin typeface="+mn-lt"/>
              <a:ea typeface="+mn-ea"/>
              <a:cs typeface="+mn-cs"/>
            </a:endParaRPr>
          </a:p>
          <a:p>
            <a:endParaRPr lang="en-US" altLang="zh-CN" sz="1200" b="0" i="0" kern="1200">
              <a:solidFill>
                <a:schemeClr val="tx1"/>
              </a:solidFill>
              <a:effectLst/>
              <a:latin typeface="+mn-lt"/>
              <a:ea typeface="+mn-ea"/>
              <a:cs typeface="+mn-cs"/>
            </a:endParaRPr>
          </a:p>
          <a:p>
            <a:r>
              <a:rPr lang="en-US" altLang="zh-CN" sz="1200" b="0" i="0" kern="1200">
                <a:solidFill>
                  <a:schemeClr val="tx1"/>
                </a:solidFill>
                <a:effectLst/>
                <a:latin typeface="+mn-lt"/>
                <a:ea typeface="+mn-ea"/>
                <a:cs typeface="+mn-cs"/>
              </a:rPr>
              <a:t>E-R </a:t>
            </a:r>
            <a:r>
              <a:rPr lang="zh-CN" altLang="en-US" sz="1200" b="0" i="0" kern="1200">
                <a:solidFill>
                  <a:schemeClr val="tx1"/>
                </a:solidFill>
                <a:effectLst/>
                <a:latin typeface="+mn-lt"/>
                <a:ea typeface="+mn-ea"/>
                <a:cs typeface="+mn-cs"/>
              </a:rPr>
              <a:t>图：数据库的“建筑蓝图”</a:t>
            </a:r>
            <a:endParaRPr lang="en-US" altLang="zh-CN" sz="1200" b="0" i="0" kern="1200">
              <a:solidFill>
                <a:schemeClr val="tx1"/>
              </a:solidFill>
              <a:effectLst/>
              <a:latin typeface="+mn-lt"/>
              <a:ea typeface="+mn-ea"/>
              <a:cs typeface="+mn-cs"/>
            </a:endParaRPr>
          </a:p>
          <a:p>
            <a:r>
              <a:rPr lang="zh-CN" altLang="en-US" sz="1200" b="0" i="0" kern="1200">
                <a:solidFill>
                  <a:schemeClr val="tx1"/>
                </a:solidFill>
                <a:effectLst/>
                <a:latin typeface="+mn-lt"/>
                <a:ea typeface="+mn-ea"/>
                <a:cs typeface="+mn-cs"/>
              </a:rPr>
              <a:t>内容：它只关心数据。</a:t>
            </a:r>
          </a:p>
          <a:p>
            <a:r>
              <a:rPr lang="zh-CN" altLang="en-US" sz="1200" b="0" i="0" kern="1200">
                <a:solidFill>
                  <a:schemeClr val="tx1"/>
                </a:solidFill>
                <a:effectLst/>
                <a:latin typeface="+mn-lt"/>
                <a:ea typeface="+mn-ea"/>
                <a:cs typeface="+mn-cs"/>
              </a:rPr>
              <a:t>实体 </a:t>
            </a:r>
            <a:r>
              <a:rPr lang="en-US" altLang="zh-CN" sz="1200" b="0" i="0" kern="1200">
                <a:solidFill>
                  <a:schemeClr val="tx1"/>
                </a:solidFill>
                <a:effectLst/>
                <a:latin typeface="+mn-lt"/>
                <a:ea typeface="+mn-ea"/>
                <a:cs typeface="+mn-cs"/>
              </a:rPr>
              <a:t>(Entity)</a:t>
            </a:r>
            <a:r>
              <a:rPr lang="zh-CN" altLang="en-US" sz="1200" b="0" i="0" kern="1200">
                <a:solidFill>
                  <a:schemeClr val="tx1"/>
                </a:solidFill>
                <a:effectLst/>
                <a:latin typeface="+mn-lt"/>
                <a:ea typeface="+mn-ea"/>
                <a:cs typeface="+mn-cs"/>
              </a:rPr>
              <a:t>：对应数据库中的表 </a:t>
            </a:r>
            <a:r>
              <a:rPr lang="en-US" altLang="zh-CN" sz="1200" b="0" i="0" kern="1200">
                <a:solidFill>
                  <a:schemeClr val="tx1"/>
                </a:solidFill>
                <a:effectLst/>
                <a:latin typeface="+mn-lt"/>
                <a:ea typeface="+mn-ea"/>
                <a:cs typeface="+mn-cs"/>
              </a:rPr>
              <a:t>(Table)</a:t>
            </a:r>
            <a:r>
              <a:rPr lang="zh-CN" altLang="en-US" sz="1200" b="0" i="0" kern="1200">
                <a:solidFill>
                  <a:schemeClr val="tx1"/>
                </a:solidFill>
                <a:effectLst/>
                <a:latin typeface="+mn-lt"/>
                <a:ea typeface="+mn-ea"/>
                <a:cs typeface="+mn-cs"/>
              </a:rPr>
              <a:t>。例如：用户表 、 订单表。</a:t>
            </a:r>
          </a:p>
          <a:p>
            <a:r>
              <a:rPr lang="zh-CN" altLang="en-US" sz="1200" b="0" i="0" kern="1200">
                <a:solidFill>
                  <a:schemeClr val="tx1"/>
                </a:solidFill>
                <a:effectLst/>
                <a:latin typeface="+mn-lt"/>
                <a:ea typeface="+mn-ea"/>
                <a:cs typeface="+mn-cs"/>
              </a:rPr>
              <a:t>属性 </a:t>
            </a:r>
            <a:r>
              <a:rPr lang="en-US" altLang="zh-CN" sz="1200" b="0" i="0" kern="1200">
                <a:solidFill>
                  <a:schemeClr val="tx1"/>
                </a:solidFill>
                <a:effectLst/>
                <a:latin typeface="+mn-lt"/>
                <a:ea typeface="+mn-ea"/>
                <a:cs typeface="+mn-cs"/>
              </a:rPr>
              <a:t>(Attribute)</a:t>
            </a:r>
            <a:r>
              <a:rPr lang="zh-CN" altLang="en-US" sz="1200" b="0" i="0" kern="1200">
                <a:solidFill>
                  <a:schemeClr val="tx1"/>
                </a:solidFill>
                <a:effectLst/>
                <a:latin typeface="+mn-lt"/>
                <a:ea typeface="+mn-ea"/>
                <a:cs typeface="+mn-cs"/>
              </a:rPr>
              <a:t>：对应表中的列 </a:t>
            </a:r>
            <a:r>
              <a:rPr lang="en-US" altLang="zh-CN" sz="1200" b="0" i="0" kern="1200">
                <a:solidFill>
                  <a:schemeClr val="tx1"/>
                </a:solidFill>
                <a:effectLst/>
                <a:latin typeface="+mn-lt"/>
                <a:ea typeface="+mn-ea"/>
                <a:cs typeface="+mn-cs"/>
              </a:rPr>
              <a:t>(Column)</a:t>
            </a:r>
            <a:r>
              <a:rPr lang="zh-CN" altLang="en-US" sz="1200" b="0" i="0" kern="1200">
                <a:solidFill>
                  <a:schemeClr val="tx1"/>
                </a:solidFill>
                <a:effectLst/>
                <a:latin typeface="+mn-lt"/>
                <a:ea typeface="+mn-ea"/>
                <a:cs typeface="+mn-cs"/>
              </a:rPr>
              <a:t>。例如：用户名 、 价格。</a:t>
            </a:r>
          </a:p>
          <a:p>
            <a:r>
              <a:rPr lang="zh-CN" altLang="en-US" sz="1200" b="0" i="0" kern="1200">
                <a:solidFill>
                  <a:schemeClr val="tx1"/>
                </a:solidFill>
                <a:effectLst/>
                <a:latin typeface="+mn-lt"/>
                <a:ea typeface="+mn-ea"/>
                <a:cs typeface="+mn-cs"/>
              </a:rPr>
              <a:t>关系 </a:t>
            </a:r>
            <a:r>
              <a:rPr lang="en-US" altLang="zh-CN" sz="1200" b="0" i="0" kern="1200">
                <a:solidFill>
                  <a:schemeClr val="tx1"/>
                </a:solidFill>
                <a:effectLst/>
                <a:latin typeface="+mn-lt"/>
                <a:ea typeface="+mn-ea"/>
                <a:cs typeface="+mn-cs"/>
              </a:rPr>
              <a:t>(Relationship)</a:t>
            </a:r>
            <a:r>
              <a:rPr lang="zh-CN" altLang="en-US" sz="1200" b="0" i="0" kern="1200">
                <a:solidFill>
                  <a:schemeClr val="tx1"/>
                </a:solidFill>
                <a:effectLst/>
                <a:latin typeface="+mn-lt"/>
                <a:ea typeface="+mn-ea"/>
                <a:cs typeface="+mn-cs"/>
              </a:rPr>
              <a:t>：对应表之间的外键约束。例如：</a:t>
            </a:r>
            <a:r>
              <a:rPr lang="en-US" altLang="zh-CN" sz="1200" b="0" i="0" kern="1200">
                <a:solidFill>
                  <a:schemeClr val="tx1"/>
                </a:solidFill>
                <a:effectLst/>
                <a:latin typeface="+mn-lt"/>
                <a:ea typeface="+mn-ea"/>
                <a:cs typeface="+mn-cs"/>
              </a:rPr>
              <a:t>1 </a:t>
            </a:r>
            <a:r>
              <a:rPr lang="zh-CN" altLang="en-US" sz="1200" b="0" i="0" kern="1200">
                <a:solidFill>
                  <a:schemeClr val="tx1"/>
                </a:solidFill>
                <a:effectLst/>
                <a:latin typeface="+mn-lt"/>
                <a:ea typeface="+mn-ea"/>
                <a:cs typeface="+mn-cs"/>
              </a:rPr>
              <a:t>个用户 对应 </a:t>
            </a:r>
            <a:r>
              <a:rPr lang="en-US" altLang="zh-CN" sz="1200" b="0" i="0" kern="1200">
                <a:solidFill>
                  <a:schemeClr val="tx1"/>
                </a:solidFill>
                <a:effectLst/>
                <a:latin typeface="+mn-lt"/>
                <a:ea typeface="+mn-ea"/>
                <a:cs typeface="+mn-cs"/>
              </a:rPr>
              <a:t>N </a:t>
            </a:r>
            <a:r>
              <a:rPr lang="zh-CN" altLang="en-US" sz="1200" b="0" i="0" kern="1200">
                <a:solidFill>
                  <a:schemeClr val="tx1"/>
                </a:solidFill>
                <a:effectLst/>
                <a:latin typeface="+mn-lt"/>
                <a:ea typeface="+mn-ea"/>
                <a:cs typeface="+mn-cs"/>
              </a:rPr>
              <a:t>个订单 </a:t>
            </a:r>
            <a:r>
              <a:rPr lang="en-US" altLang="zh-CN" sz="1200" b="0" i="0" kern="1200">
                <a:solidFill>
                  <a:schemeClr val="tx1"/>
                </a:solidFill>
                <a:effectLst/>
                <a:latin typeface="+mn-lt"/>
                <a:ea typeface="+mn-ea"/>
                <a:cs typeface="+mn-cs"/>
              </a:rPr>
              <a:t>(1:N)</a:t>
            </a:r>
            <a:r>
              <a:rPr lang="zh-CN" altLang="en-US" sz="1200" b="0" i="0" kern="1200">
                <a:solidFill>
                  <a:schemeClr val="tx1"/>
                </a:solidFill>
                <a:effectLst/>
                <a:latin typeface="+mn-lt"/>
                <a:ea typeface="+mn-ea"/>
                <a:cs typeface="+mn-cs"/>
              </a:rPr>
              <a:t>。</a:t>
            </a:r>
          </a:p>
          <a:p>
            <a:r>
              <a:rPr lang="zh-CN" altLang="en-US" sz="1200" b="0" i="0" kern="1200">
                <a:solidFill>
                  <a:schemeClr val="tx1"/>
                </a:solidFill>
                <a:effectLst/>
                <a:latin typeface="+mn-lt"/>
                <a:ea typeface="+mn-ea"/>
                <a:cs typeface="+mn-cs"/>
              </a:rPr>
              <a:t>产出：最终转化为 </a:t>
            </a:r>
            <a:r>
              <a:rPr lang="en-US" altLang="zh-CN" sz="1200" b="0" i="0" kern="1200">
                <a:solidFill>
                  <a:schemeClr val="tx1"/>
                </a:solidFill>
                <a:effectLst/>
                <a:latin typeface="+mn-lt"/>
                <a:ea typeface="+mn-ea"/>
                <a:cs typeface="+mn-cs"/>
              </a:rPr>
              <a:t>SQL </a:t>
            </a:r>
            <a:r>
              <a:rPr lang="zh-CN" altLang="en-US" sz="1200" b="0" i="0" kern="1200">
                <a:solidFill>
                  <a:schemeClr val="tx1"/>
                </a:solidFill>
                <a:effectLst/>
                <a:latin typeface="+mn-lt"/>
                <a:ea typeface="+mn-ea"/>
                <a:cs typeface="+mn-cs"/>
              </a:rPr>
              <a:t>脚本，用来在数据库里建表。</a:t>
            </a:r>
            <a:endParaRPr lang="en-US" altLang="zh-CN" sz="1200" b="0" i="0" kern="1200">
              <a:solidFill>
                <a:schemeClr val="tx1"/>
              </a:solidFill>
              <a:effectLst/>
              <a:latin typeface="+mn-lt"/>
              <a:ea typeface="+mn-ea"/>
              <a:cs typeface="+mn-cs"/>
            </a:endParaRPr>
          </a:p>
          <a:p>
            <a:endParaRPr lang="en-US" altLang="zh-CN" sz="1200" b="0" i="0" kern="1200">
              <a:solidFill>
                <a:schemeClr val="tx1"/>
              </a:solidFill>
              <a:effectLst/>
              <a:latin typeface="+mn-lt"/>
              <a:ea typeface="+mn-ea"/>
              <a:cs typeface="+mn-cs"/>
            </a:endParaRPr>
          </a:p>
          <a:p>
            <a:r>
              <a:rPr lang="en-US" altLang="zh-CN" sz="1200" b="0" i="0" kern="1200">
                <a:solidFill>
                  <a:schemeClr val="tx1"/>
                </a:solidFill>
                <a:effectLst/>
                <a:latin typeface="+mn-lt"/>
                <a:ea typeface="+mn-ea"/>
                <a:cs typeface="+mn-cs"/>
              </a:rPr>
              <a:t>UML</a:t>
            </a:r>
            <a:r>
              <a:rPr lang="zh-CN" altLang="en-US" sz="1200" b="0" i="0" kern="1200">
                <a:solidFill>
                  <a:schemeClr val="tx1"/>
                </a:solidFill>
                <a:effectLst/>
                <a:latin typeface="+mn-lt"/>
                <a:ea typeface="+mn-ea"/>
                <a:cs typeface="+mn-cs"/>
              </a:rPr>
              <a:t>：软件的“全景地图”；</a:t>
            </a:r>
            <a:r>
              <a:rPr lang="en-US" altLang="zh-CN" sz="1200" b="0" i="0" kern="1200">
                <a:solidFill>
                  <a:schemeClr val="tx1"/>
                </a:solidFill>
                <a:effectLst/>
                <a:latin typeface="+mn-lt"/>
                <a:ea typeface="+mn-ea"/>
                <a:cs typeface="+mn-cs"/>
              </a:rPr>
              <a:t>14 </a:t>
            </a:r>
            <a:r>
              <a:rPr lang="zh-CN" altLang="en-US" sz="1200" b="0" i="0" kern="1200">
                <a:solidFill>
                  <a:schemeClr val="tx1"/>
                </a:solidFill>
                <a:effectLst/>
                <a:latin typeface="+mn-lt"/>
                <a:ea typeface="+mn-ea"/>
                <a:cs typeface="+mn-cs"/>
              </a:rPr>
              <a:t>种图；类图 </a:t>
            </a:r>
            <a:r>
              <a:rPr lang="en-US" altLang="zh-CN" sz="1200" b="0" i="0" kern="1200">
                <a:solidFill>
                  <a:schemeClr val="tx1"/>
                </a:solidFill>
                <a:effectLst/>
                <a:latin typeface="+mn-lt"/>
                <a:ea typeface="+mn-ea"/>
                <a:cs typeface="+mn-cs"/>
              </a:rPr>
              <a:t>(Class Diagram)</a:t>
            </a:r>
            <a:r>
              <a:rPr lang="zh-CN" altLang="en-US" sz="1200" b="0" i="0" kern="1200">
                <a:solidFill>
                  <a:schemeClr val="tx1"/>
                </a:solidFill>
                <a:effectLst/>
                <a:latin typeface="+mn-lt"/>
                <a:ea typeface="+mn-ea"/>
                <a:cs typeface="+mn-cs"/>
              </a:rPr>
              <a:t>长得有点像 </a:t>
            </a:r>
            <a:r>
              <a:rPr lang="en-US" altLang="zh-CN" sz="1200" b="0" i="0" kern="1200">
                <a:solidFill>
                  <a:schemeClr val="tx1"/>
                </a:solidFill>
                <a:effectLst/>
                <a:latin typeface="+mn-lt"/>
                <a:ea typeface="+mn-ea"/>
                <a:cs typeface="+mn-cs"/>
              </a:rPr>
              <a:t>E-R </a:t>
            </a:r>
            <a:r>
              <a:rPr lang="zh-CN" altLang="en-US" sz="1200" b="0" i="0" kern="1200">
                <a:solidFill>
                  <a:schemeClr val="tx1"/>
                </a:solidFill>
                <a:effectLst/>
                <a:latin typeface="+mn-lt"/>
                <a:ea typeface="+mn-ea"/>
                <a:cs typeface="+mn-cs"/>
              </a:rPr>
              <a:t>图，但类图包含方法 </a:t>
            </a:r>
            <a:r>
              <a:rPr lang="en-US" altLang="zh-CN" sz="1200" b="0" i="0" kern="1200">
                <a:solidFill>
                  <a:schemeClr val="tx1"/>
                </a:solidFill>
                <a:effectLst/>
                <a:latin typeface="+mn-lt"/>
                <a:ea typeface="+mn-ea"/>
                <a:cs typeface="+mn-cs"/>
              </a:rPr>
              <a:t>(</a:t>
            </a:r>
            <a:r>
              <a:rPr lang="zh-CN" altLang="en-US" sz="1200" b="0" i="0" kern="1200">
                <a:solidFill>
                  <a:schemeClr val="tx1"/>
                </a:solidFill>
                <a:effectLst/>
                <a:latin typeface="+mn-lt"/>
                <a:ea typeface="+mn-ea"/>
                <a:cs typeface="+mn-cs"/>
              </a:rPr>
              <a:t>函数</a:t>
            </a:r>
            <a:r>
              <a:rPr lang="en-US" altLang="zh-CN" sz="1200" b="0" i="0" kern="1200">
                <a:solidFill>
                  <a:schemeClr val="tx1"/>
                </a:solidFill>
                <a:effectLst/>
                <a:latin typeface="+mn-lt"/>
                <a:ea typeface="+mn-ea"/>
                <a:cs typeface="+mn-cs"/>
              </a:rPr>
              <a:t>) </a:t>
            </a:r>
            <a:r>
              <a:rPr lang="zh-CN" altLang="en-US" sz="1200" b="0" i="0" kern="1200">
                <a:solidFill>
                  <a:schemeClr val="tx1"/>
                </a:solidFill>
                <a:effectLst/>
                <a:latin typeface="+mn-lt"/>
                <a:ea typeface="+mn-ea"/>
                <a:cs typeface="+mn-cs"/>
              </a:rPr>
              <a:t>和 行为逻辑，而 </a:t>
            </a:r>
            <a:r>
              <a:rPr lang="en-US" altLang="zh-CN" sz="1200" b="0" i="0" kern="1200">
                <a:solidFill>
                  <a:schemeClr val="tx1"/>
                </a:solidFill>
                <a:effectLst/>
                <a:latin typeface="+mn-lt"/>
                <a:ea typeface="+mn-ea"/>
                <a:cs typeface="+mn-cs"/>
              </a:rPr>
              <a:t>E-R </a:t>
            </a:r>
            <a:r>
              <a:rPr lang="zh-CN" altLang="en-US" sz="1200" b="0" i="0" kern="1200">
                <a:solidFill>
                  <a:schemeClr val="tx1"/>
                </a:solidFill>
                <a:effectLst/>
                <a:latin typeface="+mn-lt"/>
                <a:ea typeface="+mn-ea"/>
                <a:cs typeface="+mn-cs"/>
              </a:rPr>
              <a:t>图只包含数据。</a:t>
            </a:r>
            <a:endParaRPr lang="en-US" altLang="zh-CN" sz="1200" b="0" i="0" kern="1200">
              <a:solidFill>
                <a:schemeClr val="tx1"/>
              </a:solidFill>
              <a:effectLst/>
              <a:latin typeface="+mn-lt"/>
              <a:ea typeface="+mn-ea"/>
              <a:cs typeface="+mn-cs"/>
            </a:endParaRPr>
          </a:p>
          <a:p>
            <a:endParaRPr lang="en-US" altLang="zh-CN" sz="1200" b="0" i="0" kern="1200">
              <a:solidFill>
                <a:schemeClr val="tx1"/>
              </a:solidFill>
              <a:effectLst/>
              <a:latin typeface="+mn-lt"/>
              <a:ea typeface="+mn-ea"/>
              <a:cs typeface="+mn-cs"/>
            </a:endParaRPr>
          </a:p>
          <a:p>
            <a:r>
              <a:rPr lang="zh-CN" altLang="en-US" sz="1200" b="0" i="0" kern="1200">
                <a:solidFill>
                  <a:schemeClr val="tx1"/>
                </a:solidFill>
                <a:effectLst/>
                <a:latin typeface="+mn-lt"/>
                <a:ea typeface="+mn-ea"/>
                <a:cs typeface="+mn-cs"/>
              </a:rPr>
              <a:t>你可以画一个 </a:t>
            </a:r>
            <a:r>
              <a:rPr lang="en-US" altLang="zh-CN" sz="1200" b="0" i="0" kern="1200">
                <a:solidFill>
                  <a:schemeClr val="tx1"/>
                </a:solidFill>
                <a:effectLst/>
                <a:latin typeface="+mn-lt"/>
                <a:ea typeface="+mn-ea"/>
                <a:cs typeface="+mn-cs"/>
              </a:rPr>
              <a:t>UML </a:t>
            </a:r>
            <a:r>
              <a:rPr lang="zh-CN" altLang="en-US" sz="1200" b="0" i="0" kern="1200">
                <a:solidFill>
                  <a:schemeClr val="tx1"/>
                </a:solidFill>
                <a:effectLst/>
                <a:latin typeface="+mn-lt"/>
                <a:ea typeface="+mn-ea"/>
                <a:cs typeface="+mn-cs"/>
              </a:rPr>
              <a:t>类图，然后让工具自动把它转换成 数据库表（</a:t>
            </a:r>
            <a:r>
              <a:rPr lang="en-US" altLang="zh-CN" sz="1200" b="0" i="0" kern="1200">
                <a:solidFill>
                  <a:schemeClr val="tx1"/>
                </a:solidFill>
                <a:effectLst/>
                <a:latin typeface="+mn-lt"/>
                <a:ea typeface="+mn-ea"/>
                <a:cs typeface="+mn-cs"/>
              </a:rPr>
              <a:t>ORM </a:t>
            </a:r>
            <a:r>
              <a:rPr lang="zh-CN" altLang="en-US" sz="1200" b="0" i="0" kern="1200">
                <a:solidFill>
                  <a:schemeClr val="tx1"/>
                </a:solidFill>
                <a:effectLst/>
                <a:latin typeface="+mn-lt"/>
                <a:ea typeface="+mn-ea"/>
                <a:cs typeface="+mn-cs"/>
              </a:rPr>
              <a:t>映射）</a:t>
            </a:r>
            <a:endParaRPr lang="en-US" altLang="zh-CN" sz="1200" b="0" i="0" kern="1200">
              <a:solidFill>
                <a:schemeClr val="tx1"/>
              </a:solidFill>
              <a:effectLst/>
              <a:latin typeface="+mn-lt"/>
              <a:ea typeface="+mn-ea"/>
              <a:cs typeface="+mn-cs"/>
            </a:endParaRPr>
          </a:p>
          <a:p>
            <a:r>
              <a:rPr lang="en-US" altLang="zh-CN" sz="1200" b="0" i="0" kern="1200">
                <a:solidFill>
                  <a:schemeClr val="tx1"/>
                </a:solidFill>
                <a:effectLst/>
                <a:latin typeface="+mn-lt"/>
                <a:ea typeface="+mn-ea"/>
                <a:cs typeface="+mn-cs"/>
              </a:rPr>
              <a:t>Object-Relational Mapping</a:t>
            </a:r>
            <a:endParaRPr lang="zh-CN" altLang="en-US" sz="1200" b="0" i="0" kern="1200">
              <a:solidFill>
                <a:schemeClr val="tx1"/>
              </a:solidFill>
              <a:effectLst/>
              <a:latin typeface="+mn-lt"/>
              <a:ea typeface="+mn-ea"/>
              <a:cs typeface="+mn-cs"/>
            </a:endParaRPr>
          </a:p>
          <a:p>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136</a:t>
            </a:fld>
            <a:endParaRPr lang="zh-CN" altLang="en-US"/>
          </a:p>
        </p:txBody>
      </p:sp>
    </p:spTree>
    <p:extLst>
      <p:ext uri="{BB962C8B-B14F-4D97-AF65-F5344CB8AC3E}">
        <p14:creationId xmlns:p14="http://schemas.microsoft.com/office/powerpoint/2010/main" val="233850833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A03F5-A6EE-82B9-6723-30A26BC984D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AC2032F-22C2-A1FC-516F-75CAA35B2FC6}"/>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B0CBD772-9443-1DD2-A26F-D7E5100371CE}"/>
              </a:ext>
            </a:extLst>
          </p:cNvPr>
          <p:cNvSpPr>
            <a:spLocks noGrp="1"/>
          </p:cNvSpPr>
          <p:nvPr>
            <p:ph type="body" idx="1"/>
          </p:nvPr>
        </p:nvSpPr>
        <p:spPr/>
        <p:txBody>
          <a:bodyPr/>
          <a:lstStyle/>
          <a:p>
            <a:r>
              <a:rPr lang="zh-CN" altLang="en-US"/>
              <a:t>顶层、中间和底层</a:t>
            </a:r>
            <a:r>
              <a:rPr lang="en-US" altLang="zh-CN"/>
              <a:t>DFD</a:t>
            </a:r>
          </a:p>
          <a:p>
            <a:r>
              <a:rPr lang="en-US" altLang="zh-CN"/>
              <a:t>DFD</a:t>
            </a:r>
            <a:r>
              <a:rPr lang="zh-CN" altLang="en-US"/>
              <a:t>看数据，流程图看步骤，用例图看用户，时序图看交互，</a:t>
            </a:r>
            <a:r>
              <a:rPr lang="en-US" altLang="zh-CN"/>
              <a:t>E-R</a:t>
            </a:r>
            <a:r>
              <a:rPr lang="zh-CN" altLang="en-US"/>
              <a:t>图看结构</a:t>
            </a:r>
          </a:p>
        </p:txBody>
      </p:sp>
      <p:sp>
        <p:nvSpPr>
          <p:cNvPr id="4" name="灯片编号占位符 3">
            <a:extLst>
              <a:ext uri="{FF2B5EF4-FFF2-40B4-BE49-F238E27FC236}">
                <a16:creationId xmlns:a16="http://schemas.microsoft.com/office/drawing/2014/main" id="{98C7DA82-D2A4-F158-FF65-2994645B29D1}"/>
              </a:ext>
            </a:extLst>
          </p:cNvPr>
          <p:cNvSpPr>
            <a:spLocks noGrp="1"/>
          </p:cNvSpPr>
          <p:nvPr>
            <p:ph type="sldNum" sz="quarter" idx="5"/>
          </p:nvPr>
        </p:nvSpPr>
        <p:spPr/>
        <p:txBody>
          <a:bodyPr/>
          <a:lstStyle/>
          <a:p>
            <a:fld id="{6D27E3F6-C3AC-4131-BD60-F31F1EE091B2}" type="slidenum">
              <a:rPr lang="zh-CN" altLang="en-US" smtClean="0"/>
              <a:t>137</a:t>
            </a:fld>
            <a:endParaRPr lang="zh-CN" altLang="en-US"/>
          </a:p>
        </p:txBody>
      </p:sp>
    </p:spTree>
    <p:extLst>
      <p:ext uri="{BB962C8B-B14F-4D97-AF65-F5344CB8AC3E}">
        <p14:creationId xmlns:p14="http://schemas.microsoft.com/office/powerpoint/2010/main" val="266747866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E1542-7AF3-DFC6-C253-B925EECA485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F5F71E2-005D-DB05-90D5-261DEF00FB52}"/>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19F73E57-7583-F18C-390C-D2711EC8F615}"/>
              </a:ext>
            </a:extLst>
          </p:cNvPr>
          <p:cNvSpPr>
            <a:spLocks noGrp="1"/>
          </p:cNvSpPr>
          <p:nvPr>
            <p:ph type="body" idx="1"/>
          </p:nvPr>
        </p:nvSpPr>
        <p:spPr/>
        <p:txBody>
          <a:bodyPr/>
          <a:lstStyle/>
          <a:p>
            <a:r>
              <a:rPr lang="zh-CN" altLang="en-US"/>
              <a:t>顶层、中间和底层</a:t>
            </a:r>
            <a:r>
              <a:rPr lang="en-US" altLang="zh-CN"/>
              <a:t>DFD</a:t>
            </a:r>
          </a:p>
          <a:p>
            <a:r>
              <a:rPr lang="en-US" altLang="zh-CN"/>
              <a:t>DFD</a:t>
            </a:r>
            <a:r>
              <a:rPr lang="zh-CN" altLang="en-US"/>
              <a:t>看数据，流程图看步骤，用例图看用户，时序图看交互，</a:t>
            </a:r>
            <a:r>
              <a:rPr lang="en-US" altLang="zh-CN"/>
              <a:t>E-R</a:t>
            </a:r>
            <a:r>
              <a:rPr lang="zh-CN" altLang="en-US"/>
              <a:t>图看结构</a:t>
            </a:r>
          </a:p>
        </p:txBody>
      </p:sp>
      <p:sp>
        <p:nvSpPr>
          <p:cNvPr id="4" name="灯片编号占位符 3">
            <a:extLst>
              <a:ext uri="{FF2B5EF4-FFF2-40B4-BE49-F238E27FC236}">
                <a16:creationId xmlns:a16="http://schemas.microsoft.com/office/drawing/2014/main" id="{06B0B3EC-20CE-9A04-0E73-74060DD18013}"/>
              </a:ext>
            </a:extLst>
          </p:cNvPr>
          <p:cNvSpPr>
            <a:spLocks noGrp="1"/>
          </p:cNvSpPr>
          <p:nvPr>
            <p:ph type="sldNum" sz="quarter" idx="5"/>
          </p:nvPr>
        </p:nvSpPr>
        <p:spPr/>
        <p:txBody>
          <a:bodyPr/>
          <a:lstStyle/>
          <a:p>
            <a:fld id="{6D27E3F6-C3AC-4131-BD60-F31F1EE091B2}" type="slidenum">
              <a:rPr lang="zh-CN" altLang="en-US" smtClean="0"/>
              <a:t>138</a:t>
            </a:fld>
            <a:endParaRPr lang="zh-CN" altLang="en-US"/>
          </a:p>
        </p:txBody>
      </p:sp>
    </p:spTree>
    <p:extLst>
      <p:ext uri="{BB962C8B-B14F-4D97-AF65-F5344CB8AC3E}">
        <p14:creationId xmlns:p14="http://schemas.microsoft.com/office/powerpoint/2010/main" val="244539545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09CDB-55C5-E6E5-738C-B6C20EED973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F9E7F86-CBB7-CDAF-5B8D-E911B7026F50}"/>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3532AB7C-6CFF-9222-CF26-625D912E53E2}"/>
              </a:ext>
            </a:extLst>
          </p:cNvPr>
          <p:cNvSpPr>
            <a:spLocks noGrp="1"/>
          </p:cNvSpPr>
          <p:nvPr>
            <p:ph type="body" idx="1"/>
          </p:nvPr>
        </p:nvSpPr>
        <p:spPr/>
        <p:txBody>
          <a:bodyPr/>
          <a:lstStyle/>
          <a:p>
            <a:r>
              <a:rPr lang="zh-CN" altLang="en-US"/>
              <a:t>顶层、中间和底层</a:t>
            </a:r>
            <a:r>
              <a:rPr lang="en-US" altLang="zh-CN"/>
              <a:t>DFD</a:t>
            </a:r>
          </a:p>
          <a:p>
            <a:r>
              <a:rPr lang="en-US" altLang="zh-CN"/>
              <a:t>DFD</a:t>
            </a:r>
            <a:r>
              <a:rPr lang="zh-CN" altLang="en-US"/>
              <a:t>看数据，流程图看步骤，用例图看用户，时序图看交互，</a:t>
            </a:r>
            <a:r>
              <a:rPr lang="en-US" altLang="zh-CN"/>
              <a:t>E-R</a:t>
            </a:r>
            <a:r>
              <a:rPr lang="zh-CN" altLang="en-US"/>
              <a:t>图看结构</a:t>
            </a:r>
          </a:p>
        </p:txBody>
      </p:sp>
      <p:sp>
        <p:nvSpPr>
          <p:cNvPr id="4" name="灯片编号占位符 3">
            <a:extLst>
              <a:ext uri="{FF2B5EF4-FFF2-40B4-BE49-F238E27FC236}">
                <a16:creationId xmlns:a16="http://schemas.microsoft.com/office/drawing/2014/main" id="{2230EA11-0434-B024-3E26-FBE8CA0E4E67}"/>
              </a:ext>
            </a:extLst>
          </p:cNvPr>
          <p:cNvSpPr>
            <a:spLocks noGrp="1"/>
          </p:cNvSpPr>
          <p:nvPr>
            <p:ph type="sldNum" sz="quarter" idx="5"/>
          </p:nvPr>
        </p:nvSpPr>
        <p:spPr/>
        <p:txBody>
          <a:bodyPr/>
          <a:lstStyle/>
          <a:p>
            <a:fld id="{6D27E3F6-C3AC-4131-BD60-F31F1EE091B2}" type="slidenum">
              <a:rPr lang="zh-CN" altLang="en-US" smtClean="0"/>
              <a:t>141</a:t>
            </a:fld>
            <a:endParaRPr lang="zh-CN" altLang="en-US"/>
          </a:p>
        </p:txBody>
      </p:sp>
    </p:spTree>
    <p:extLst>
      <p:ext uri="{BB962C8B-B14F-4D97-AF65-F5344CB8AC3E}">
        <p14:creationId xmlns:p14="http://schemas.microsoft.com/office/powerpoint/2010/main" val="252573362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目标 </a:t>
            </a:r>
            <a:r>
              <a:rPr lang="en-US" altLang="zh-CN"/>
              <a:t>(Goal)</a:t>
            </a:r>
            <a:r>
              <a:rPr lang="zh-CN" altLang="en-US"/>
              <a:t>、角色 </a:t>
            </a:r>
            <a:r>
              <a:rPr lang="en-US" altLang="zh-CN"/>
              <a:t>(Actor)</a:t>
            </a:r>
            <a:r>
              <a:rPr lang="zh-CN" altLang="en-US"/>
              <a:t>、影响 </a:t>
            </a:r>
            <a:r>
              <a:rPr lang="en-US" altLang="zh-CN"/>
              <a:t>(Impact)</a:t>
            </a:r>
            <a:r>
              <a:rPr lang="zh-CN" altLang="en-US"/>
              <a:t>、交付物 </a:t>
            </a:r>
            <a:r>
              <a:rPr lang="en-US" altLang="zh-CN"/>
              <a:t>(Deliverable)</a:t>
            </a:r>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142</a:t>
            </a:fld>
            <a:endParaRPr lang="zh-CN" altLang="en-US"/>
          </a:p>
        </p:txBody>
      </p:sp>
    </p:spTree>
    <p:extLst>
      <p:ext uri="{BB962C8B-B14F-4D97-AF65-F5344CB8AC3E}">
        <p14:creationId xmlns:p14="http://schemas.microsoft.com/office/powerpoint/2010/main" val="358656187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Obstruct</a:t>
            </a:r>
            <a:r>
              <a:rPr lang="zh-CN" altLang="en-US"/>
              <a:t>：阻碍</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143</a:t>
            </a:fld>
            <a:endParaRPr lang="zh-CN" altLang="en-US"/>
          </a:p>
        </p:txBody>
      </p:sp>
    </p:spTree>
    <p:extLst>
      <p:ext uri="{BB962C8B-B14F-4D97-AF65-F5344CB8AC3E}">
        <p14:creationId xmlns:p14="http://schemas.microsoft.com/office/powerpoint/2010/main" val="372914833"/>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最佳实践，但它并不是唯一实践。你可以以任何你喜欢的方式编写用户故事</a:t>
            </a:r>
            <a:endParaRPr lang="en-US" altLang="zh-CN"/>
          </a:p>
          <a:p>
            <a:r>
              <a:rPr lang="en-US" altLang="zh-CN"/>
              <a:t>It's important to understand that while Rachel Davies' story format is best practice, it isn't the ONLY practice</a:t>
            </a:r>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148</a:t>
            </a:fld>
            <a:endParaRPr lang="zh-CN" altLang="en-US"/>
          </a:p>
        </p:txBody>
      </p:sp>
    </p:spTree>
    <p:extLst>
      <p:ext uri="{BB962C8B-B14F-4D97-AF65-F5344CB8AC3E}">
        <p14:creationId xmlns:p14="http://schemas.microsoft.com/office/powerpoint/2010/main" val="36583670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152</a:t>
            </a:fld>
            <a:endParaRPr lang="zh-CN" altLang="en-US"/>
          </a:p>
        </p:txBody>
      </p:sp>
    </p:spTree>
    <p:extLst>
      <p:ext uri="{BB962C8B-B14F-4D97-AF65-F5344CB8AC3E}">
        <p14:creationId xmlns:p14="http://schemas.microsoft.com/office/powerpoint/2010/main" val="356363317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MVP (</a:t>
            </a:r>
            <a:r>
              <a:rPr lang="zh-CN" altLang="en-US"/>
              <a:t>最小可行性产品</a:t>
            </a:r>
            <a:r>
              <a:rPr lang="en-US" altLang="zh-CN"/>
              <a:t>) </a:t>
            </a:r>
            <a:r>
              <a:rPr lang="zh-CN" altLang="en-US"/>
              <a:t>版</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153</a:t>
            </a:fld>
            <a:endParaRPr lang="zh-CN" altLang="en-US"/>
          </a:p>
        </p:txBody>
      </p:sp>
    </p:spTree>
    <p:extLst>
      <p:ext uri="{BB962C8B-B14F-4D97-AF65-F5344CB8AC3E}">
        <p14:creationId xmlns:p14="http://schemas.microsoft.com/office/powerpoint/2010/main" val="241954531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Organize Email</a:t>
            </a:r>
            <a:r>
              <a:rPr lang="zh-CN" altLang="en-US"/>
              <a:t>（组织邮件）</a:t>
            </a:r>
            <a:endParaRPr lang="en-US" altLang="zh-CN"/>
          </a:p>
          <a:p>
            <a:r>
              <a:rPr lang="zh-CN" altLang="en-US"/>
              <a:t>用户目标：“我想让我的邮箱井井有条，方便以后查找。”</a:t>
            </a:r>
            <a:endParaRPr lang="en-US" altLang="zh-CN"/>
          </a:p>
          <a:p>
            <a:endParaRPr lang="en-US" altLang="zh-CN"/>
          </a:p>
          <a:p>
            <a:r>
              <a:rPr lang="en-US" altLang="zh-CN"/>
              <a:t>Manage Email</a:t>
            </a:r>
            <a:r>
              <a:rPr lang="zh-CN" altLang="en-US"/>
              <a:t>（管理邮件）</a:t>
            </a:r>
            <a:endParaRPr lang="en-US" altLang="zh-CN"/>
          </a:p>
          <a:p>
            <a:r>
              <a:rPr lang="zh-CN" altLang="en-US"/>
              <a:t>用户目标：“我要处理这些邮件</a:t>
            </a:r>
            <a:r>
              <a:rPr lang="en-US" altLang="zh-CN"/>
              <a:t>——</a:t>
            </a:r>
            <a:r>
              <a:rPr lang="zh-CN" altLang="en-US"/>
              <a:t>写、发、删、移、回复。”</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154</a:t>
            </a:fld>
            <a:endParaRPr lang="zh-CN" altLang="en-US"/>
          </a:p>
        </p:txBody>
      </p:sp>
    </p:spTree>
    <p:extLst>
      <p:ext uri="{BB962C8B-B14F-4D97-AF65-F5344CB8AC3E}">
        <p14:creationId xmlns:p14="http://schemas.microsoft.com/office/powerpoint/2010/main" val="138683993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155</a:t>
            </a:fld>
            <a:endParaRPr lang="zh-CN" altLang="en-US"/>
          </a:p>
        </p:txBody>
      </p:sp>
    </p:spTree>
    <p:extLst>
      <p:ext uri="{BB962C8B-B14F-4D97-AF65-F5344CB8AC3E}">
        <p14:creationId xmlns:p14="http://schemas.microsoft.com/office/powerpoint/2010/main" val="1588324318"/>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关注行为：行为驱动开发关注的是从用户角度出发的应用行为。团队专注于编写描述应用预期行为的用户故事和场景</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协作：行为驱动开发（</a:t>
            </a:r>
            <a:r>
              <a:rPr lang="en-US" altLang="zh-CN" sz="1200" b="0" i="0" kern="1200" dirty="0">
                <a:solidFill>
                  <a:schemeClr val="tx1"/>
                </a:solidFill>
                <a:effectLst/>
                <a:latin typeface="+mn-lt"/>
                <a:ea typeface="+mn-ea"/>
                <a:cs typeface="+mn-cs"/>
              </a:rPr>
              <a:t>BDD</a:t>
            </a:r>
            <a:r>
              <a:rPr lang="zh-CN" altLang="en-US" sz="1200" b="0" i="0" kern="1200" dirty="0">
                <a:solidFill>
                  <a:schemeClr val="tx1"/>
                </a:solidFill>
                <a:effectLst/>
                <a:latin typeface="+mn-lt"/>
                <a:ea typeface="+mn-ea"/>
                <a:cs typeface="+mn-cs"/>
              </a:rPr>
              <a:t>）是一个涉及开发者、测试人员和业务利益相关者的协作过程。大家共同努力，理</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可执行规范：行为驱动开发（</a:t>
            </a:r>
            <a:r>
              <a:rPr lang="en-US" altLang="zh-CN" sz="1200" b="0" i="0" kern="1200" dirty="0">
                <a:solidFill>
                  <a:schemeClr val="tx1"/>
                </a:solidFill>
                <a:effectLst/>
                <a:latin typeface="+mn-lt"/>
                <a:ea typeface="+mn-ea"/>
                <a:cs typeface="+mn-cs"/>
              </a:rPr>
              <a:t>BDD</a:t>
            </a:r>
            <a:r>
              <a:rPr lang="zh-CN" altLang="en-US" sz="1200" b="0" i="0" kern="1200" dirty="0">
                <a:solidFill>
                  <a:schemeClr val="tx1"/>
                </a:solidFill>
                <a:effectLst/>
                <a:latin typeface="+mn-lt"/>
                <a:ea typeface="+mn-ea"/>
                <a:cs typeface="+mn-cs"/>
              </a:rPr>
              <a:t>）使用特定领域语言（</a:t>
            </a:r>
            <a:r>
              <a:rPr lang="en-US" altLang="zh-CN" sz="1200" b="0" i="0" kern="1200" dirty="0">
                <a:solidFill>
                  <a:schemeClr val="tx1"/>
                </a:solidFill>
                <a:effectLst/>
                <a:latin typeface="+mn-lt"/>
                <a:ea typeface="+mn-ea"/>
                <a:cs typeface="+mn-cs"/>
              </a:rPr>
              <a:t>DSL</a:t>
            </a:r>
            <a:r>
              <a:rPr lang="zh-CN" altLang="en-US" sz="1200" b="0" i="0" kern="1200" dirty="0">
                <a:solidFill>
                  <a:schemeClr val="tx1"/>
                </a:solidFill>
                <a:effectLst/>
                <a:latin typeface="+mn-lt"/>
                <a:ea typeface="+mn-ea"/>
                <a:cs typeface="+mn-cs"/>
              </a:rPr>
              <a:t>）来编写可执行规范。这些规范可用于生成测试并自动记录需求解需求并确保应用程序满足用户的需求</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TDD</a:t>
            </a:r>
            <a:r>
              <a:rPr lang="zh-CN" altLang="en-US" sz="1200" b="0" i="0" kern="1200" dirty="0">
                <a:solidFill>
                  <a:schemeClr val="tx1"/>
                </a:solidFill>
                <a:effectLst/>
                <a:latin typeface="+mn-lt"/>
                <a:ea typeface="+mn-ea"/>
                <a:cs typeface="+mn-cs"/>
              </a:rPr>
              <a:t>涉及将应用程序分解为功能，开发者为每个单元创建测试以验证代码</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156</a:t>
            </a:fld>
            <a:endParaRPr lang="zh-CN" altLang="en-US"/>
          </a:p>
        </p:txBody>
      </p:sp>
    </p:spTree>
    <p:extLst>
      <p:ext uri="{BB962C8B-B14F-4D97-AF65-F5344CB8AC3E}">
        <p14:creationId xmlns:p14="http://schemas.microsoft.com/office/powerpoint/2010/main" val="98807060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这是不切实际的。这影响了建设预算，承包商的利润空间以及进度表。</a:t>
            </a:r>
          </a:p>
          <a:p>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163</a:t>
            </a:fld>
            <a:endParaRPr lang="zh-CN" altLang="en-US"/>
          </a:p>
        </p:txBody>
      </p:sp>
    </p:spTree>
    <p:extLst>
      <p:ext uri="{BB962C8B-B14F-4D97-AF65-F5344CB8AC3E}">
        <p14:creationId xmlns:p14="http://schemas.microsoft.com/office/powerpoint/2010/main" val="230737114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这将影响材料、设计和生产时间，削减预算和时间表</a:t>
            </a:r>
          </a:p>
          <a:p>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164</a:t>
            </a:fld>
            <a:endParaRPr lang="zh-CN" altLang="en-US"/>
          </a:p>
        </p:txBody>
      </p:sp>
    </p:spTree>
    <p:extLst>
      <p:ext uri="{BB962C8B-B14F-4D97-AF65-F5344CB8AC3E}">
        <p14:creationId xmlns:p14="http://schemas.microsoft.com/office/powerpoint/2010/main" val="3516657348"/>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A scope of work in project management is a formal document that defines the specific tasks, deliverables, timelines and responsibilities required to complete a project.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It establishes clear boundaries by outlining what is included and excluded, setting expectations for performance standards, acceptance criteria and work requirements.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以下为“范围外”项目内容： </a:t>
            </a: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1. </a:t>
            </a:r>
            <a:r>
              <a:rPr lang="zh-CN" altLang="en-US"/>
              <a:t>维护现有系统的升级与更新</a:t>
            </a: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2. </a:t>
            </a:r>
            <a:r>
              <a:rPr lang="zh-CN" altLang="en-US"/>
              <a:t>为项目提供长期的技术支持</a:t>
            </a: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3. </a:t>
            </a:r>
            <a:r>
              <a:rPr lang="zh-CN" altLang="en-US"/>
              <a:t>负责项目的市场营销与推广 </a:t>
            </a: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4. </a:t>
            </a:r>
            <a:r>
              <a:rPr lang="zh-CN" altLang="en-US"/>
              <a:t>完成项目外的任何额外研究或调查 </a:t>
            </a: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5. </a:t>
            </a:r>
            <a:r>
              <a:rPr lang="zh-CN" altLang="en-US"/>
              <a:t>项目相关的法律、税务咨询 </a:t>
            </a: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6. </a:t>
            </a:r>
            <a:r>
              <a:rPr lang="zh-CN" altLang="en-US"/>
              <a:t>项目相关的内部培训与指导 </a:t>
            </a: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7. </a:t>
            </a:r>
            <a:r>
              <a:rPr lang="zh-CN" altLang="en-US"/>
              <a:t>项目的扩展功能开发，除非在合同中特别约定 </a:t>
            </a: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8. </a:t>
            </a:r>
            <a:r>
              <a:rPr lang="zh-CN" altLang="en-US"/>
              <a:t>任何不在合同明确范围内的工作内容</a:t>
            </a:r>
          </a:p>
          <a:p>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166</a:t>
            </a:fld>
            <a:endParaRPr lang="zh-CN" altLang="en-US"/>
          </a:p>
        </p:txBody>
      </p:sp>
    </p:spTree>
    <p:extLst>
      <p:ext uri="{BB962C8B-B14F-4D97-AF65-F5344CB8AC3E}">
        <p14:creationId xmlns:p14="http://schemas.microsoft.com/office/powerpoint/2010/main" val="333936490"/>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167</a:t>
            </a:fld>
            <a:endParaRPr lang="zh-CN" altLang="en-US"/>
          </a:p>
        </p:txBody>
      </p:sp>
    </p:spTree>
    <p:extLst>
      <p:ext uri="{BB962C8B-B14F-4D97-AF65-F5344CB8AC3E}">
        <p14:creationId xmlns:p14="http://schemas.microsoft.com/office/powerpoint/2010/main" val="4255620978"/>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7212E-9E22-82F6-13F4-2AB3DD30772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797800D-A8BE-3090-96FD-BA3B25A11E59}"/>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277855E8-B2DB-266C-8661-32350E3A992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C4317DF-263F-186E-E56A-D0BBD8E249CE}"/>
              </a:ext>
            </a:extLst>
          </p:cNvPr>
          <p:cNvSpPr>
            <a:spLocks noGrp="1"/>
          </p:cNvSpPr>
          <p:nvPr>
            <p:ph type="sldNum" sz="quarter" idx="5"/>
          </p:nvPr>
        </p:nvSpPr>
        <p:spPr/>
        <p:txBody>
          <a:bodyPr/>
          <a:lstStyle/>
          <a:p>
            <a:fld id="{6D27E3F6-C3AC-4131-BD60-F31F1EE091B2}" type="slidenum">
              <a:rPr lang="zh-CN" altLang="en-US" smtClean="0"/>
              <a:t>168</a:t>
            </a:fld>
            <a:endParaRPr lang="zh-CN" altLang="en-US"/>
          </a:p>
        </p:txBody>
      </p:sp>
    </p:spTree>
    <p:extLst>
      <p:ext uri="{BB962C8B-B14F-4D97-AF65-F5344CB8AC3E}">
        <p14:creationId xmlns:p14="http://schemas.microsoft.com/office/powerpoint/2010/main" val="2883364548"/>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在实际工作中，我们通常先用“用户地图”梳理流程（确定做什么 </a:t>
            </a:r>
            <a:r>
              <a:rPr lang="en-US" altLang="zh-CN"/>
              <a:t>Feature</a:t>
            </a:r>
            <a:r>
              <a:rPr lang="zh-CN" altLang="en-US"/>
              <a:t>），然后再用“工作分解图”把 </a:t>
            </a:r>
            <a:r>
              <a:rPr lang="en-US" altLang="zh-CN"/>
              <a:t>Feature </a:t>
            </a:r>
            <a:r>
              <a:rPr lang="zh-CN" altLang="en-US"/>
              <a:t>拆成 </a:t>
            </a:r>
            <a:r>
              <a:rPr lang="en-US" altLang="zh-CN"/>
              <a:t>Story </a:t>
            </a:r>
            <a:r>
              <a:rPr lang="zh-CN" altLang="en-US"/>
              <a:t>和 </a:t>
            </a:r>
            <a:r>
              <a:rPr lang="en-US" altLang="zh-CN"/>
              <a:t>Task</a:t>
            </a:r>
            <a:r>
              <a:rPr lang="zh-CN" altLang="en-US"/>
              <a:t>（确定怎么干）。</a:t>
            </a:r>
            <a:endParaRPr lang="en-US" altLang="zh-CN"/>
          </a:p>
          <a:p>
            <a:r>
              <a:rPr lang="zh-CN" altLang="en-US"/>
              <a:t>两者是互补的，而不是对立的。</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176</a:t>
            </a:fld>
            <a:endParaRPr lang="zh-CN" altLang="en-US"/>
          </a:p>
        </p:txBody>
      </p:sp>
    </p:spTree>
    <p:extLst>
      <p:ext uri="{BB962C8B-B14F-4D97-AF65-F5344CB8AC3E}">
        <p14:creationId xmlns:p14="http://schemas.microsoft.com/office/powerpoint/2010/main" val="912956725"/>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Epic</a:t>
            </a:r>
            <a:r>
              <a:rPr lang="zh-CN" altLang="en-US"/>
              <a:t>：通常是战略级目标，可能跨越数月、多个团队、多个发布版本。</a:t>
            </a:r>
          </a:p>
          <a:p>
            <a:r>
              <a:rPr lang="zh-CN" altLang="en-US"/>
              <a:t>例：“构建完整的在线支付系统”</a:t>
            </a:r>
          </a:p>
          <a:p>
            <a:r>
              <a:rPr lang="en-US" altLang="zh-CN"/>
              <a:t>Feature</a:t>
            </a:r>
            <a:r>
              <a:rPr lang="zh-CN" altLang="en-US"/>
              <a:t>：是 </a:t>
            </a:r>
            <a:r>
              <a:rPr lang="en-US" altLang="zh-CN"/>
              <a:t>Epic </a:t>
            </a:r>
            <a:r>
              <a:rPr lang="zh-CN" altLang="en-US"/>
              <a:t>下的一个功能性子集，通常可以在一个或几个迭代内完成，代表一个独立可用的功能模块。</a:t>
            </a:r>
          </a:p>
          <a:p>
            <a:r>
              <a:rPr lang="zh-CN" altLang="en-US"/>
              <a:t>例：“支持信用卡支付”、“支持支付宝扫码支付”、“支持分期付款”</a:t>
            </a:r>
          </a:p>
          <a:p>
            <a:r>
              <a:rPr lang="en-US" altLang="zh-CN"/>
              <a:t>User Story</a:t>
            </a:r>
            <a:r>
              <a:rPr lang="zh-CN" altLang="en-US"/>
              <a:t>：是从用户角度描述的具体功能点，可在单个迭代内完成。</a:t>
            </a:r>
          </a:p>
          <a:p>
            <a:r>
              <a:rPr lang="zh-CN" altLang="en-US"/>
              <a:t>例：“作为用户，我可以在 </a:t>
            </a:r>
            <a:r>
              <a:rPr lang="en-US" altLang="zh-CN"/>
              <a:t>checkout </a:t>
            </a:r>
            <a:r>
              <a:rPr lang="zh-CN" altLang="en-US"/>
              <a:t>页面选择信用卡支付方式”</a:t>
            </a:r>
            <a:endParaRPr lang="en-US" altLang="zh-CN"/>
          </a:p>
          <a:p>
            <a:endParaRPr lang="en-US" altLang="zh-CN"/>
          </a:p>
          <a:p>
            <a:r>
              <a:rPr lang="zh-CN" altLang="en-US"/>
              <a:t>以“网上买书”为例</a:t>
            </a:r>
          </a:p>
          <a:p>
            <a:r>
              <a:rPr lang="en-US" altLang="zh-CN"/>
              <a:t>1. </a:t>
            </a:r>
            <a:r>
              <a:rPr lang="zh-CN" altLang="en-US"/>
              <a:t>用户地图视角 </a:t>
            </a:r>
            <a:r>
              <a:rPr lang="en-US" altLang="zh-CN"/>
              <a:t>(</a:t>
            </a:r>
            <a:r>
              <a:rPr lang="zh-CN" altLang="en-US"/>
              <a:t>用户怎么买书？</a:t>
            </a:r>
            <a:r>
              <a:rPr lang="en-US" altLang="zh-CN"/>
              <a:t>)</a:t>
            </a:r>
          </a:p>
          <a:p>
            <a:r>
              <a:rPr lang="en-US" altLang="zh-CN"/>
              <a:t>Activity (</a:t>
            </a:r>
            <a:r>
              <a:rPr lang="zh-CN" altLang="en-US"/>
              <a:t>活动</a:t>
            </a:r>
            <a:r>
              <a:rPr lang="en-US" altLang="zh-CN"/>
              <a:t>): </a:t>
            </a:r>
            <a:r>
              <a:rPr lang="zh-CN" altLang="en-US"/>
              <a:t>购买书籍</a:t>
            </a:r>
          </a:p>
          <a:p>
            <a:r>
              <a:rPr lang="en-US" altLang="zh-CN"/>
              <a:t>Task (</a:t>
            </a:r>
            <a:r>
              <a:rPr lang="zh-CN" altLang="en-US"/>
              <a:t>用户任务</a:t>
            </a:r>
            <a:r>
              <a:rPr lang="en-US" altLang="zh-CN"/>
              <a:t>): </a:t>
            </a:r>
            <a:r>
              <a:rPr lang="zh-CN" altLang="en-US"/>
              <a:t>搜索书籍 </a:t>
            </a:r>
            <a:r>
              <a:rPr lang="en-US" altLang="zh-CN"/>
              <a:t>-&gt; </a:t>
            </a:r>
            <a:r>
              <a:rPr lang="zh-CN" altLang="en-US"/>
              <a:t>查看详情 </a:t>
            </a:r>
            <a:r>
              <a:rPr lang="en-US" altLang="zh-CN"/>
              <a:t>-&gt; </a:t>
            </a:r>
            <a:r>
              <a:rPr lang="zh-CN" altLang="en-US"/>
              <a:t>加入购物车 </a:t>
            </a:r>
            <a:r>
              <a:rPr lang="en-US" altLang="zh-CN"/>
              <a:t>-&gt; </a:t>
            </a:r>
            <a:r>
              <a:rPr lang="zh-CN" altLang="en-US"/>
              <a:t>支付</a:t>
            </a:r>
          </a:p>
          <a:p>
            <a:r>
              <a:rPr lang="en-US" altLang="zh-CN"/>
              <a:t>Feature (</a:t>
            </a:r>
            <a:r>
              <a:rPr lang="zh-CN" altLang="en-US"/>
              <a:t>特性</a:t>
            </a:r>
            <a:r>
              <a:rPr lang="en-US" altLang="zh-CN"/>
              <a:t>/</a:t>
            </a:r>
            <a:r>
              <a:rPr lang="zh-CN" altLang="en-US"/>
              <a:t>功能</a:t>
            </a:r>
            <a:r>
              <a:rPr lang="en-US" altLang="zh-CN"/>
              <a:t>): </a:t>
            </a:r>
            <a:r>
              <a:rPr lang="zh-CN" altLang="en-US"/>
              <a:t>搜索框、商品详情页、购物车图标、支付宝接口</a:t>
            </a:r>
          </a:p>
          <a:p>
            <a:r>
              <a:rPr lang="en-US" altLang="zh-CN"/>
              <a:t>(</a:t>
            </a:r>
            <a:r>
              <a:rPr lang="zh-CN" altLang="en-US"/>
              <a:t>这里是从左到右的时间流</a:t>
            </a:r>
            <a:r>
              <a:rPr lang="en-US" altLang="zh-CN"/>
              <a:t>)</a:t>
            </a:r>
          </a:p>
          <a:p>
            <a:endParaRPr lang="en-US" altLang="zh-CN"/>
          </a:p>
          <a:p>
            <a:r>
              <a:rPr lang="en-US" altLang="zh-CN"/>
              <a:t>2. </a:t>
            </a:r>
            <a:r>
              <a:rPr lang="zh-CN" altLang="en-US"/>
              <a:t>工作分解视角 </a:t>
            </a:r>
            <a:r>
              <a:rPr lang="en-US" altLang="zh-CN"/>
              <a:t>(</a:t>
            </a:r>
            <a:r>
              <a:rPr lang="zh-CN" altLang="en-US"/>
              <a:t>团队怎么做“购物车”这个功能？</a:t>
            </a:r>
            <a:r>
              <a:rPr lang="en-US" altLang="zh-CN"/>
              <a:t>)</a:t>
            </a:r>
          </a:p>
          <a:p>
            <a:r>
              <a:rPr lang="en-US" altLang="zh-CN"/>
              <a:t>Epic: </a:t>
            </a:r>
            <a:r>
              <a:rPr lang="zh-CN" altLang="en-US"/>
              <a:t>构建电商平台</a:t>
            </a:r>
          </a:p>
          <a:p>
            <a:r>
              <a:rPr lang="en-US" altLang="zh-CN"/>
              <a:t>Feature: </a:t>
            </a:r>
            <a:r>
              <a:rPr lang="zh-CN" altLang="en-US"/>
              <a:t>购物车模块</a:t>
            </a:r>
          </a:p>
          <a:p>
            <a:r>
              <a:rPr lang="en-US" altLang="zh-CN"/>
              <a:t>User Story: </a:t>
            </a:r>
            <a:r>
              <a:rPr lang="zh-CN" altLang="en-US"/>
              <a:t>作为用户，我想把书加入购物车，以便稍后一起结账。</a:t>
            </a:r>
          </a:p>
          <a:p>
            <a:r>
              <a:rPr lang="en-US" altLang="zh-CN"/>
              <a:t>Task (</a:t>
            </a:r>
            <a:r>
              <a:rPr lang="zh-CN" altLang="en-US"/>
              <a:t>开发任务</a:t>
            </a:r>
            <a:r>
              <a:rPr lang="en-US" altLang="zh-CN"/>
              <a:t>):</a:t>
            </a:r>
          </a:p>
          <a:p>
            <a:r>
              <a:rPr lang="zh-CN" altLang="en-US"/>
              <a:t>后端：创建 </a:t>
            </a:r>
            <a:r>
              <a:rPr lang="en-US" altLang="zh-CN"/>
              <a:t>Cart </a:t>
            </a:r>
            <a:r>
              <a:rPr lang="zh-CN" altLang="en-US"/>
              <a:t>数据库表</a:t>
            </a:r>
          </a:p>
          <a:p>
            <a:r>
              <a:rPr lang="zh-CN" altLang="en-US"/>
              <a:t>前端：绘制购物车图标</a:t>
            </a:r>
          </a:p>
          <a:p>
            <a:r>
              <a:rPr lang="zh-CN" altLang="en-US"/>
              <a:t>测试：验证添加数量上限</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177</a:t>
            </a:fld>
            <a:endParaRPr lang="zh-CN" altLang="en-US"/>
          </a:p>
        </p:txBody>
      </p:sp>
    </p:spTree>
    <p:extLst>
      <p:ext uri="{BB962C8B-B14F-4D97-AF65-F5344CB8AC3E}">
        <p14:creationId xmlns:p14="http://schemas.microsoft.com/office/powerpoint/2010/main" val="178872067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178</a:t>
            </a:fld>
            <a:endParaRPr lang="zh-CN" altLang="en-US"/>
          </a:p>
        </p:txBody>
      </p:sp>
    </p:spTree>
    <p:extLst>
      <p:ext uri="{BB962C8B-B14F-4D97-AF65-F5344CB8AC3E}">
        <p14:creationId xmlns:p14="http://schemas.microsoft.com/office/powerpoint/2010/main" val="2123342698"/>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用户故事主体（经典三段式）聚焦于用户视角 </a:t>
            </a:r>
            <a:r>
              <a:rPr lang="en-US" altLang="zh-CN" dirty="0"/>
              <a:t>+ </a:t>
            </a:r>
            <a:r>
              <a:rPr lang="zh-CN" altLang="en-US" dirty="0"/>
              <a:t>业务价值</a:t>
            </a:r>
            <a:endParaRPr lang="en-US" altLang="zh-CN" dirty="0"/>
          </a:p>
          <a:p>
            <a:r>
              <a:rPr lang="zh-CN" altLang="en-US" dirty="0"/>
              <a:t>角色（</a:t>
            </a:r>
            <a:r>
              <a:rPr lang="en-US" altLang="zh-CN" dirty="0"/>
              <a:t>As a...</a:t>
            </a:r>
            <a:r>
              <a:rPr lang="zh-CN" altLang="en-US" dirty="0"/>
              <a:t>）：银行员工 </a:t>
            </a:r>
            <a:r>
              <a:rPr lang="en-US" altLang="zh-CN" dirty="0"/>
              <a:t>—— </a:t>
            </a:r>
            <a:r>
              <a:rPr lang="zh-CN" altLang="en-US" dirty="0"/>
              <a:t>明确谁使用这个功能</a:t>
            </a:r>
          </a:p>
          <a:p>
            <a:r>
              <a:rPr lang="zh-CN" altLang="en-US" dirty="0"/>
              <a:t>目标（</a:t>
            </a:r>
            <a:r>
              <a:rPr lang="en-US" altLang="zh-CN" dirty="0"/>
              <a:t>I want to...</a:t>
            </a:r>
            <a:r>
              <a:rPr lang="zh-CN" altLang="en-US" dirty="0"/>
              <a:t>）：为现有客户创建指定类型的账户，并生成唯一的账号和</a:t>
            </a:r>
            <a:r>
              <a:rPr lang="en-US" altLang="zh-CN" dirty="0"/>
              <a:t>PIN</a:t>
            </a:r>
            <a:r>
              <a:rPr lang="zh-CN" altLang="en-US" dirty="0"/>
              <a:t>码</a:t>
            </a:r>
          </a:p>
          <a:p>
            <a:r>
              <a:rPr lang="zh-CN" altLang="en-US" dirty="0"/>
              <a:t>价值（</a:t>
            </a:r>
            <a:r>
              <a:rPr lang="en-US" altLang="zh-CN" dirty="0"/>
              <a:t>So that...</a:t>
            </a:r>
            <a:r>
              <a:rPr lang="zh-CN" altLang="en-US" dirty="0"/>
              <a:t>）：目的是能成功开户并通知客户 </a:t>
            </a:r>
            <a:r>
              <a:rPr lang="en-US" altLang="zh-CN" dirty="0"/>
              <a:t>—— </a:t>
            </a:r>
            <a:r>
              <a:rPr lang="zh-CN" altLang="en-US" dirty="0"/>
              <a:t>强调业务价值，不是技术实现</a:t>
            </a:r>
            <a:endParaRPr lang="en-US" altLang="zh-CN" dirty="0"/>
          </a:p>
          <a:p>
            <a:endParaRPr lang="en-US" altLang="zh-CN" dirty="0"/>
          </a:p>
          <a:p>
            <a:r>
              <a:rPr lang="en-US" altLang="zh-CN" dirty="0"/>
              <a:t>12</a:t>
            </a:r>
            <a:r>
              <a:rPr lang="zh-CN" altLang="en-US" dirty="0"/>
              <a:t>：实现功能</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179</a:t>
            </a:fld>
            <a:endParaRPr lang="zh-CN" altLang="en-US"/>
          </a:p>
        </p:txBody>
      </p:sp>
    </p:spTree>
    <p:extLst>
      <p:ext uri="{BB962C8B-B14F-4D97-AF65-F5344CB8AC3E}">
        <p14:creationId xmlns:p14="http://schemas.microsoft.com/office/powerpoint/2010/main" val="1754586150"/>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44E1A-DB23-A1DA-514A-76C4B3C895E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DCFCAF5-970B-93FC-E122-01960E69EAAA}"/>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CE758B7F-B497-9068-4719-8B542D363EDD}"/>
              </a:ext>
            </a:extLst>
          </p:cNvPr>
          <p:cNvSpPr>
            <a:spLocks noGrp="1"/>
          </p:cNvSpPr>
          <p:nvPr>
            <p:ph type="body" idx="1"/>
          </p:nvPr>
        </p:nvSpPr>
        <p:spPr/>
        <p:txBody>
          <a:bodyPr/>
          <a:lstStyle/>
          <a:p>
            <a:r>
              <a:rPr lang="zh-CN" altLang="en-US" dirty="0"/>
              <a:t>用户故事主体（经典三段式）聚焦于用户视角 </a:t>
            </a:r>
            <a:r>
              <a:rPr lang="en-US" altLang="zh-CN" dirty="0"/>
              <a:t>+ </a:t>
            </a:r>
            <a:r>
              <a:rPr lang="zh-CN" altLang="en-US" dirty="0"/>
              <a:t>业务价值</a:t>
            </a:r>
            <a:endParaRPr lang="en-US" altLang="zh-CN" dirty="0"/>
          </a:p>
          <a:p>
            <a:r>
              <a:rPr lang="zh-CN" altLang="en-US" dirty="0"/>
              <a:t>角色（</a:t>
            </a:r>
            <a:r>
              <a:rPr lang="en-US" altLang="zh-CN" dirty="0"/>
              <a:t>As a...</a:t>
            </a:r>
            <a:r>
              <a:rPr lang="zh-CN" altLang="en-US" dirty="0"/>
              <a:t>）：银行员工 </a:t>
            </a:r>
            <a:r>
              <a:rPr lang="en-US" altLang="zh-CN" dirty="0"/>
              <a:t>—— </a:t>
            </a:r>
            <a:r>
              <a:rPr lang="zh-CN" altLang="en-US" dirty="0"/>
              <a:t>明确谁使用这个功能</a:t>
            </a:r>
          </a:p>
          <a:p>
            <a:r>
              <a:rPr lang="zh-CN" altLang="en-US" dirty="0"/>
              <a:t>目标（</a:t>
            </a:r>
            <a:r>
              <a:rPr lang="en-US" altLang="zh-CN" dirty="0"/>
              <a:t>I want to...</a:t>
            </a:r>
            <a:r>
              <a:rPr lang="zh-CN" altLang="en-US" dirty="0"/>
              <a:t>）：为现有客户创建指定类型的账户，并生成唯一的账号和</a:t>
            </a:r>
            <a:r>
              <a:rPr lang="en-US" altLang="zh-CN" dirty="0"/>
              <a:t>PIN</a:t>
            </a:r>
            <a:r>
              <a:rPr lang="zh-CN" altLang="en-US" dirty="0"/>
              <a:t>码</a:t>
            </a:r>
          </a:p>
          <a:p>
            <a:r>
              <a:rPr lang="zh-CN" altLang="en-US" dirty="0"/>
              <a:t>价值（</a:t>
            </a:r>
            <a:r>
              <a:rPr lang="en-US" altLang="zh-CN" dirty="0"/>
              <a:t>So that...</a:t>
            </a:r>
            <a:r>
              <a:rPr lang="zh-CN" altLang="en-US" dirty="0"/>
              <a:t>）：目的是能成功开户并通知客户 </a:t>
            </a:r>
            <a:r>
              <a:rPr lang="en-US" altLang="zh-CN" dirty="0"/>
              <a:t>—— </a:t>
            </a:r>
            <a:r>
              <a:rPr lang="zh-CN" altLang="en-US" dirty="0"/>
              <a:t>强调业务价值，不是技术实现</a:t>
            </a:r>
            <a:endParaRPr lang="en-US" altLang="zh-CN" dirty="0"/>
          </a:p>
          <a:p>
            <a:endParaRPr lang="en-US" altLang="zh-CN" dirty="0"/>
          </a:p>
          <a:p>
            <a:r>
              <a:rPr lang="en-US" altLang="zh-CN" dirty="0"/>
              <a:t>12</a:t>
            </a:r>
            <a:r>
              <a:rPr lang="zh-CN" altLang="en-US" dirty="0"/>
              <a:t>：实现功能</a:t>
            </a:r>
          </a:p>
        </p:txBody>
      </p:sp>
      <p:sp>
        <p:nvSpPr>
          <p:cNvPr id="4" name="灯片编号占位符 3">
            <a:extLst>
              <a:ext uri="{FF2B5EF4-FFF2-40B4-BE49-F238E27FC236}">
                <a16:creationId xmlns:a16="http://schemas.microsoft.com/office/drawing/2014/main" id="{9F55A2EA-651A-1F45-D608-14D0A1D397B6}"/>
              </a:ext>
            </a:extLst>
          </p:cNvPr>
          <p:cNvSpPr>
            <a:spLocks noGrp="1"/>
          </p:cNvSpPr>
          <p:nvPr>
            <p:ph type="sldNum" sz="quarter" idx="5"/>
          </p:nvPr>
        </p:nvSpPr>
        <p:spPr/>
        <p:txBody>
          <a:bodyPr/>
          <a:lstStyle/>
          <a:p>
            <a:fld id="{6D27E3F6-C3AC-4131-BD60-F31F1EE091B2}" type="slidenum">
              <a:rPr lang="zh-CN" altLang="en-US" smtClean="0"/>
              <a:t>180</a:t>
            </a:fld>
            <a:endParaRPr lang="zh-CN" altLang="en-US"/>
          </a:p>
        </p:txBody>
      </p:sp>
    </p:spTree>
    <p:extLst>
      <p:ext uri="{BB962C8B-B14F-4D97-AF65-F5344CB8AC3E}">
        <p14:creationId xmlns:p14="http://schemas.microsoft.com/office/powerpoint/2010/main" val="3725996832"/>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定义完成标准 → 避免“我以为你做完了”的误会</a:t>
            </a:r>
          </a:p>
          <a:p>
            <a:r>
              <a:rPr lang="zh-CN" altLang="en-US"/>
              <a:t>促进团队共识 → 让所有人对“做什么、为什么做”达成一致</a:t>
            </a:r>
          </a:p>
          <a:p>
            <a:r>
              <a:rPr lang="zh-CN" altLang="en-US"/>
              <a:t>驱动质量保障 → 成为测试设计和自动化脚本的基础</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181</a:t>
            </a:fld>
            <a:endParaRPr lang="zh-CN" altLang="en-US"/>
          </a:p>
        </p:txBody>
      </p:sp>
    </p:spTree>
    <p:extLst>
      <p:ext uri="{BB962C8B-B14F-4D97-AF65-F5344CB8AC3E}">
        <p14:creationId xmlns:p14="http://schemas.microsoft.com/office/powerpoint/2010/main" val="3891181529"/>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dirty="0"/>
              <a:t>SOW </a:t>
            </a:r>
            <a:r>
              <a:rPr lang="zh-CN" altLang="en-US" dirty="0"/>
              <a:t>是你和建筑公司签的合同，规定了盖什么样的楼、什么时候盖好、多少钱。</a:t>
            </a:r>
          </a:p>
          <a:p>
            <a:r>
              <a:rPr lang="en-US" altLang="zh-CN" dirty="0"/>
              <a:t>SRS </a:t>
            </a:r>
            <a:r>
              <a:rPr lang="zh-CN" altLang="en-US" dirty="0"/>
              <a:t>是详细的设计图纸，规定了窗户多高、电线怎么走、用什么标号的水泥。</a:t>
            </a:r>
          </a:p>
          <a:p>
            <a:r>
              <a:rPr lang="en-US" altLang="zh-CN" dirty="0"/>
              <a:t>WBS </a:t>
            </a:r>
            <a:r>
              <a:rPr lang="zh-CN" altLang="en-US" dirty="0"/>
              <a:t>是把盖楼这件事拆解成的任务清单（挖地基、砌墙、装水电）。</a:t>
            </a:r>
          </a:p>
          <a:p>
            <a:r>
              <a:rPr lang="en-US" altLang="zh-CN" dirty="0"/>
              <a:t>PACKAGE </a:t>
            </a:r>
            <a:r>
              <a:rPr lang="zh-CN" altLang="en-US" dirty="0"/>
              <a:t>是任务清单里最底层的具体“工作包”，比如“安装一楼大厅的水晶灯”，这是可以分配给具体某个人去干的活。</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182</a:t>
            </a:fld>
            <a:endParaRPr lang="zh-CN" altLang="en-US"/>
          </a:p>
        </p:txBody>
      </p:sp>
    </p:spTree>
    <p:extLst>
      <p:ext uri="{BB962C8B-B14F-4D97-AF65-F5344CB8AC3E}">
        <p14:creationId xmlns:p14="http://schemas.microsoft.com/office/powerpoint/2010/main" val="3648506290"/>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183</a:t>
            </a:fld>
            <a:endParaRPr lang="zh-CN" altLang="en-US"/>
          </a:p>
        </p:txBody>
      </p:sp>
    </p:spTree>
    <p:extLst>
      <p:ext uri="{BB962C8B-B14F-4D97-AF65-F5344CB8AC3E}">
        <p14:creationId xmlns:p14="http://schemas.microsoft.com/office/powerpoint/2010/main" val="1773423942"/>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前期低价中标，占地盘；后期漫天要价，绑架客户</a:t>
            </a:r>
          </a:p>
          <a:p>
            <a:r>
              <a:rPr lang="zh-CN" altLang="en-US" sz="1200" b="0" i="0" kern="1200" dirty="0">
                <a:solidFill>
                  <a:schemeClr val="tx1"/>
                </a:solidFill>
                <a:effectLst/>
                <a:latin typeface="+mn-lt"/>
                <a:ea typeface="+mn-ea"/>
                <a:cs typeface="+mn-cs"/>
              </a:rPr>
              <a:t>缺少科学客观的评估依据；烫手山芋，六拍法</a:t>
            </a:r>
            <a:endParaRPr lang="en-US" altLang="zh-CN" sz="1200" b="0" i="0" kern="1200" dirty="0">
              <a:solidFill>
                <a:schemeClr val="tx1"/>
              </a:solidFill>
              <a:effectLst/>
              <a:latin typeface="+mn-lt"/>
              <a:ea typeface="+mn-ea"/>
              <a:cs typeface="+mn-cs"/>
            </a:endParaRPr>
          </a:p>
          <a:p>
            <a:endParaRPr lang="zh-CN" altLang="en-US"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双方无法界定软件成本： 买卖双方对于软件开发究竟需要多少人力、物力和时间，往往没有统一的认知标准，导致成本界定模糊。</a:t>
            </a:r>
          </a:p>
          <a:p>
            <a:r>
              <a:rPr lang="zh-CN" altLang="en-US" sz="1200" b="0" i="0" kern="1200" dirty="0">
                <a:solidFill>
                  <a:schemeClr val="tx1"/>
                </a:solidFill>
                <a:effectLst/>
                <a:latin typeface="+mn-lt"/>
                <a:ea typeface="+mn-ea"/>
                <a:cs typeface="+mn-cs"/>
              </a:rPr>
              <a:t>缺乏合理的议价依据：由于成本不清，谈判时没有客观的基准，双方只能凭借经验和直觉进行拉锯战，难以达成一个公平合理的交易价格</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无法就变更范围达成一致： 软件项目的需求变更是常态，但当需要为这些变更付费时，双方往往对“变更是否发生”、“变更的范围有多大”产生严重分歧。</a:t>
            </a:r>
          </a:p>
          <a:p>
            <a:r>
              <a:rPr lang="zh-CN" altLang="en-US" sz="1200" b="0" i="0" kern="1200" dirty="0">
                <a:solidFill>
                  <a:schemeClr val="tx1"/>
                </a:solidFill>
                <a:effectLst/>
                <a:latin typeface="+mn-lt"/>
                <a:ea typeface="+mn-ea"/>
                <a:cs typeface="+mn-cs"/>
              </a:rPr>
              <a:t>变更内容的计价难题： 即使确认了变更，如何对这些变更的工作量进行定价也是一个巨大的挑战，没有标准的计价模型，导致结算过程纠缠不清，充满“扯皮”。</a:t>
            </a:r>
          </a:p>
          <a:p>
            <a:endParaRPr lang="zh-CN" altLang="en-US" sz="1200" b="0" i="0" kern="1200" dirty="0">
              <a:solidFill>
                <a:schemeClr val="tx1"/>
              </a:solidFill>
              <a:effectLst/>
              <a:latin typeface="+mn-lt"/>
              <a:ea typeface="+mn-ea"/>
              <a:cs typeface="+mn-cs"/>
            </a:endParaRPr>
          </a:p>
          <a:p>
            <a:r>
              <a:rPr lang="zh-CN" altLang="en-US" dirty="0"/>
              <a:t>门难进、脸难看，事难办</a:t>
            </a:r>
            <a:endParaRPr lang="en-US" altLang="zh-CN" dirty="0"/>
          </a:p>
          <a:p>
            <a:r>
              <a:rPr lang="zh-CN" altLang="en-US" dirty="0"/>
              <a:t>约号</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186</a:t>
            </a:fld>
            <a:endParaRPr lang="zh-CN" altLang="en-US"/>
          </a:p>
        </p:txBody>
      </p:sp>
    </p:spTree>
    <p:extLst>
      <p:ext uri="{BB962C8B-B14F-4D97-AF65-F5344CB8AC3E}">
        <p14:creationId xmlns:p14="http://schemas.microsoft.com/office/powerpoint/2010/main" val="877362215"/>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187</a:t>
            </a:fld>
            <a:endParaRPr lang="zh-CN" altLang="en-US"/>
          </a:p>
        </p:txBody>
      </p:sp>
    </p:spTree>
    <p:extLst>
      <p:ext uri="{BB962C8B-B14F-4D97-AF65-F5344CB8AC3E}">
        <p14:creationId xmlns:p14="http://schemas.microsoft.com/office/powerpoint/2010/main" val="1003359398"/>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人天：指一个人在一个标准工作日内完成的工作量，通常按</a:t>
            </a:r>
            <a:r>
              <a:rPr lang="en-US" altLang="zh-CN" dirty="0"/>
              <a:t>8</a:t>
            </a:r>
            <a:r>
              <a:rPr lang="zh-CN" altLang="en-US" dirty="0"/>
              <a:t>小时计算。例如，一个任务需要“</a:t>
            </a:r>
            <a:r>
              <a:rPr lang="en-US" altLang="zh-CN" dirty="0"/>
              <a:t>5</a:t>
            </a:r>
            <a:r>
              <a:rPr lang="zh-CN" altLang="en-US" dirty="0"/>
              <a:t>人天”，意味着一个人需要</a:t>
            </a:r>
            <a:r>
              <a:rPr lang="en-US" altLang="zh-CN" dirty="0"/>
              <a:t>5</a:t>
            </a:r>
            <a:r>
              <a:rPr lang="zh-CN" altLang="en-US" dirty="0"/>
              <a:t>天完成，或</a:t>
            </a:r>
            <a:r>
              <a:rPr lang="en-US" altLang="zh-CN" dirty="0"/>
              <a:t>5</a:t>
            </a:r>
            <a:r>
              <a:rPr lang="zh-CN" altLang="en-US" dirty="0"/>
              <a:t>个人</a:t>
            </a:r>
            <a:r>
              <a:rPr lang="en-US" altLang="zh-CN" dirty="0"/>
              <a:t>1</a:t>
            </a:r>
            <a:r>
              <a:rPr lang="zh-CN" altLang="en-US" dirty="0"/>
              <a:t>天完成，或</a:t>
            </a:r>
            <a:r>
              <a:rPr lang="en-US" altLang="zh-CN" dirty="0"/>
              <a:t>2</a:t>
            </a:r>
            <a:r>
              <a:rPr lang="zh-CN" altLang="en-US" dirty="0"/>
              <a:t>个人</a:t>
            </a:r>
            <a:r>
              <a:rPr lang="en-US" altLang="zh-CN" dirty="0"/>
              <a:t>2.5</a:t>
            </a:r>
            <a:r>
              <a:rPr lang="zh-CN" altLang="en-US" dirty="0"/>
              <a:t>天完成，核心是总工作量为</a:t>
            </a:r>
            <a:r>
              <a:rPr lang="en-US" altLang="zh-CN" dirty="0"/>
              <a:t>5</a:t>
            </a:r>
            <a:r>
              <a:rPr lang="zh-CN" altLang="en-US" dirty="0"/>
              <a:t>个“人天”。</a:t>
            </a:r>
          </a:p>
          <a:p>
            <a:r>
              <a:rPr lang="zh-CN" altLang="en-US" dirty="0"/>
              <a:t>人月：指一个人在一个标准工作月内完成的工作量，通常按</a:t>
            </a:r>
            <a:r>
              <a:rPr lang="en-US" altLang="zh-CN" dirty="0"/>
              <a:t>20</a:t>
            </a:r>
            <a:r>
              <a:rPr lang="zh-CN" altLang="en-US" dirty="0"/>
              <a:t>个工作日、</a:t>
            </a:r>
            <a:r>
              <a:rPr lang="en-US" altLang="zh-CN" dirty="0"/>
              <a:t>160</a:t>
            </a:r>
            <a:r>
              <a:rPr lang="zh-CN" altLang="en-US" dirty="0"/>
              <a:t>小时计算。例如，一个项目需要“</a:t>
            </a:r>
            <a:r>
              <a:rPr lang="en-US" altLang="zh-CN" dirty="0"/>
              <a:t>3</a:t>
            </a:r>
            <a:r>
              <a:rPr lang="zh-CN" altLang="en-US" dirty="0"/>
              <a:t>人月”，意味着一个人需要</a:t>
            </a:r>
            <a:r>
              <a:rPr lang="en-US" altLang="zh-CN" dirty="0"/>
              <a:t>3</a:t>
            </a:r>
            <a:r>
              <a:rPr lang="zh-CN" altLang="en-US" dirty="0"/>
              <a:t>个月完成，或</a:t>
            </a:r>
            <a:r>
              <a:rPr lang="en-US" altLang="zh-CN" dirty="0"/>
              <a:t>3</a:t>
            </a:r>
            <a:r>
              <a:rPr lang="zh-CN" altLang="en-US" dirty="0"/>
              <a:t>个人</a:t>
            </a:r>
            <a:r>
              <a:rPr lang="en-US" altLang="zh-CN" dirty="0"/>
              <a:t>1</a:t>
            </a:r>
            <a:r>
              <a:rPr lang="zh-CN" altLang="en-US" dirty="0"/>
              <a:t>个月完成，或</a:t>
            </a:r>
            <a:r>
              <a:rPr lang="en-US" altLang="zh-CN" dirty="0"/>
              <a:t>6</a:t>
            </a:r>
            <a:r>
              <a:rPr lang="zh-CN" altLang="en-US" dirty="0"/>
              <a:t>个人半个月完成。</a:t>
            </a:r>
          </a:p>
          <a:p>
            <a:r>
              <a:rPr lang="zh-CN" altLang="en-US" dirty="0"/>
              <a:t>人年：指一个人在一个标准工作年内完成的工作量，通常按</a:t>
            </a:r>
            <a:r>
              <a:rPr lang="en-US" altLang="zh-CN" dirty="0"/>
              <a:t>12</a:t>
            </a:r>
            <a:r>
              <a:rPr lang="zh-CN" altLang="en-US" dirty="0"/>
              <a:t>个月、</a:t>
            </a:r>
            <a:r>
              <a:rPr lang="en-US" altLang="zh-CN" dirty="0"/>
              <a:t>240</a:t>
            </a:r>
            <a:r>
              <a:rPr lang="zh-CN" altLang="en-US" dirty="0"/>
              <a:t>个工作日、</a:t>
            </a:r>
            <a:r>
              <a:rPr lang="en-US" altLang="zh-CN" dirty="0"/>
              <a:t>1920</a:t>
            </a:r>
            <a:r>
              <a:rPr lang="zh-CN" altLang="en-US" dirty="0"/>
              <a:t>小时计算。例如，一个项目需要“</a:t>
            </a:r>
            <a:r>
              <a:rPr lang="en-US" altLang="zh-CN" dirty="0"/>
              <a:t>2</a:t>
            </a:r>
            <a:r>
              <a:rPr lang="zh-CN" altLang="en-US" dirty="0"/>
              <a:t>人年”，意味着一个人需要</a:t>
            </a:r>
            <a:r>
              <a:rPr lang="en-US" altLang="zh-CN" dirty="0"/>
              <a:t>2</a:t>
            </a:r>
            <a:r>
              <a:rPr lang="zh-CN" altLang="en-US" dirty="0"/>
              <a:t>年完成，或</a:t>
            </a:r>
            <a:r>
              <a:rPr lang="en-US" altLang="zh-CN" dirty="0"/>
              <a:t>2</a:t>
            </a:r>
            <a:r>
              <a:rPr lang="zh-CN" altLang="en-US" dirty="0"/>
              <a:t>个人</a:t>
            </a:r>
            <a:r>
              <a:rPr lang="en-US" altLang="zh-CN" dirty="0"/>
              <a:t>1</a:t>
            </a:r>
            <a:r>
              <a:rPr lang="zh-CN" altLang="en-US" dirty="0"/>
              <a:t>年完成，或</a:t>
            </a:r>
            <a:r>
              <a:rPr lang="en-US" altLang="zh-CN" dirty="0"/>
              <a:t>24</a:t>
            </a:r>
            <a:r>
              <a:rPr lang="zh-CN" altLang="en-US" dirty="0"/>
              <a:t>个人</a:t>
            </a:r>
            <a:r>
              <a:rPr lang="en-US" altLang="zh-CN" dirty="0"/>
              <a:t>1</a:t>
            </a:r>
            <a:r>
              <a:rPr lang="zh-CN" altLang="en-US" dirty="0"/>
              <a:t>个月完成</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188</a:t>
            </a:fld>
            <a:endParaRPr lang="zh-CN" altLang="en-US"/>
          </a:p>
        </p:txBody>
      </p:sp>
    </p:spTree>
    <p:extLst>
      <p:ext uri="{BB962C8B-B14F-4D97-AF65-F5344CB8AC3E}">
        <p14:creationId xmlns:p14="http://schemas.microsoft.com/office/powerpoint/2010/main" val="3780432470"/>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是否与项目直接相关？是否可分摊？是否已发生？</a:t>
            </a:r>
            <a:endParaRPr lang="en-US" altLang="zh-CN" dirty="0"/>
          </a:p>
          <a:p>
            <a:r>
              <a:rPr lang="zh-CN" altLang="en-US" sz="1200" b="0" i="0" kern="1200" dirty="0">
                <a:solidFill>
                  <a:schemeClr val="tx1"/>
                </a:solidFill>
                <a:effectLst/>
                <a:latin typeface="+mn-lt"/>
                <a:ea typeface="+mn-ea"/>
                <a:cs typeface="+mn-cs"/>
              </a:rPr>
              <a:t>区分直接人力成本与间接人力成本的核心标准之一。在成本管理中，这种区分主要基于成本是否能直接追溯到具体项目，而非单纯看人员归属</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间接成本需要分摊</a:t>
            </a:r>
            <a:endParaRPr lang="en-US" altLang="zh-CN" dirty="0"/>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189</a:t>
            </a:fld>
            <a:endParaRPr lang="zh-CN" altLang="en-US"/>
          </a:p>
        </p:txBody>
      </p:sp>
    </p:spTree>
    <p:extLst>
      <p:ext uri="{BB962C8B-B14F-4D97-AF65-F5344CB8AC3E}">
        <p14:creationId xmlns:p14="http://schemas.microsoft.com/office/powerpoint/2010/main" val="1036546965"/>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dirty="0"/>
              <a:t>False</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190</a:t>
            </a:fld>
            <a:endParaRPr lang="zh-CN" altLang="en-US"/>
          </a:p>
        </p:txBody>
      </p:sp>
    </p:spTree>
    <p:extLst>
      <p:ext uri="{BB962C8B-B14F-4D97-AF65-F5344CB8AC3E}">
        <p14:creationId xmlns:p14="http://schemas.microsoft.com/office/powerpoint/2010/main" val="796971099"/>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dirty="0"/>
              <a:t>1. </a:t>
            </a:r>
            <a:r>
              <a:rPr lang="zh-CN" altLang="en-US" dirty="0"/>
              <a:t>固定成本（</a:t>
            </a:r>
            <a:r>
              <a:rPr lang="en-US" altLang="zh-CN" dirty="0"/>
              <a:t>Fixed Costs</a:t>
            </a:r>
            <a:r>
              <a:rPr lang="zh-CN" altLang="en-US" dirty="0"/>
              <a:t>）</a:t>
            </a:r>
          </a:p>
          <a:p>
            <a:r>
              <a:rPr lang="zh-CN" altLang="en-US" dirty="0"/>
              <a:t>定义：在一定业务量范围内，不随产量</a:t>
            </a:r>
            <a:r>
              <a:rPr lang="en-US" altLang="zh-CN" dirty="0"/>
              <a:t>/</a:t>
            </a:r>
            <a:r>
              <a:rPr lang="zh-CN" altLang="en-US" dirty="0"/>
              <a:t>销量变化而变化的成本（如厂房租金、管理人员工资）。</a:t>
            </a:r>
          </a:p>
          <a:p>
            <a:r>
              <a:rPr lang="zh-CN" altLang="en-US" dirty="0"/>
              <a:t>特点：总额固定，单位成本随产量增加而递减（“摊薄效应”）。</a:t>
            </a:r>
          </a:p>
          <a:p>
            <a:r>
              <a:rPr lang="en-US" altLang="zh-CN" dirty="0"/>
              <a:t>2. </a:t>
            </a:r>
            <a:r>
              <a:rPr lang="zh-CN" altLang="en-US" dirty="0"/>
              <a:t>可变成本（</a:t>
            </a:r>
            <a:r>
              <a:rPr lang="en-US" altLang="zh-CN" dirty="0"/>
              <a:t>Variable Costs</a:t>
            </a:r>
            <a:r>
              <a:rPr lang="zh-CN" altLang="en-US" dirty="0"/>
              <a:t>）</a:t>
            </a:r>
          </a:p>
          <a:p>
            <a:r>
              <a:rPr lang="zh-CN" altLang="en-US" dirty="0"/>
              <a:t>定义：随产量</a:t>
            </a:r>
            <a:r>
              <a:rPr lang="en-US" altLang="zh-CN" dirty="0"/>
              <a:t>/</a:t>
            </a:r>
            <a:r>
              <a:rPr lang="zh-CN" altLang="en-US" dirty="0"/>
              <a:t>销量变化成正比例变化的成本（如原材料、计件工资）。</a:t>
            </a:r>
          </a:p>
          <a:p>
            <a:r>
              <a:rPr lang="zh-CN" altLang="en-US" dirty="0"/>
              <a:t>特点：单位成本固定，总额随产量增加而递增。</a:t>
            </a:r>
          </a:p>
          <a:p>
            <a:r>
              <a:rPr lang="en-US" altLang="zh-CN" dirty="0"/>
              <a:t>3. </a:t>
            </a:r>
            <a:r>
              <a:rPr lang="zh-CN" altLang="en-US" dirty="0"/>
              <a:t>直接成本（</a:t>
            </a:r>
            <a:r>
              <a:rPr lang="en-US" altLang="zh-CN" dirty="0"/>
              <a:t>Direct Costs</a:t>
            </a:r>
            <a:r>
              <a:rPr lang="zh-CN" altLang="en-US" dirty="0"/>
              <a:t>）</a:t>
            </a:r>
          </a:p>
          <a:p>
            <a:r>
              <a:rPr lang="zh-CN" altLang="en-US" dirty="0"/>
              <a:t>定义：可直接追溯到特定产品</a:t>
            </a:r>
            <a:r>
              <a:rPr lang="en-US" altLang="zh-CN" dirty="0"/>
              <a:t>/</a:t>
            </a:r>
            <a:r>
              <a:rPr lang="zh-CN" altLang="en-US" dirty="0"/>
              <a:t>服务的成本（如生产某产品的专属原材料）。</a:t>
            </a:r>
          </a:p>
          <a:p>
            <a:r>
              <a:rPr lang="zh-CN" altLang="en-US" dirty="0"/>
              <a:t>特点：与“成本对象”（如某产品）的关联性强，核算时无需分摊。</a:t>
            </a:r>
          </a:p>
          <a:p>
            <a:r>
              <a:rPr lang="en-US" altLang="zh-CN" dirty="0"/>
              <a:t>4. </a:t>
            </a:r>
            <a:r>
              <a:rPr lang="zh-CN" altLang="en-US" dirty="0"/>
              <a:t>间接成本（</a:t>
            </a:r>
            <a:r>
              <a:rPr lang="en-US" altLang="zh-CN" dirty="0"/>
              <a:t>Indirect Costs</a:t>
            </a:r>
            <a:r>
              <a:rPr lang="zh-CN" altLang="en-US" dirty="0"/>
              <a:t>）</a:t>
            </a:r>
          </a:p>
          <a:p>
            <a:r>
              <a:rPr lang="zh-CN" altLang="en-US" dirty="0"/>
              <a:t>定义：需分摊到多个产品</a:t>
            </a:r>
            <a:r>
              <a:rPr lang="en-US" altLang="zh-CN" dirty="0"/>
              <a:t>/</a:t>
            </a:r>
            <a:r>
              <a:rPr lang="zh-CN" altLang="en-US" dirty="0"/>
              <a:t>服务的成本（如车间水电费、通用设备折旧）。</a:t>
            </a:r>
          </a:p>
          <a:p>
            <a:r>
              <a:rPr lang="zh-CN" altLang="en-US" dirty="0"/>
              <a:t>特点：与“成本对象”的关联性弱，需通过合理方法（如工时、产量）分摊。</a:t>
            </a:r>
          </a:p>
          <a:p>
            <a:r>
              <a:rPr lang="en-US" altLang="zh-CN" dirty="0"/>
              <a:t>5. </a:t>
            </a:r>
            <a:r>
              <a:rPr lang="zh-CN" altLang="en-US" dirty="0"/>
              <a:t>机会成本（</a:t>
            </a:r>
            <a:r>
              <a:rPr lang="en-US" altLang="zh-CN" dirty="0"/>
              <a:t>Opportunity Cost</a:t>
            </a:r>
            <a:r>
              <a:rPr lang="zh-CN" altLang="en-US" dirty="0"/>
              <a:t>）</a:t>
            </a:r>
          </a:p>
          <a:p>
            <a:r>
              <a:rPr lang="zh-CN" altLang="en-US" dirty="0"/>
              <a:t>定义：选择某方案时，放弃的其他方案的最大收益（如用资金投资</a:t>
            </a:r>
            <a:r>
              <a:rPr lang="en-US" altLang="zh-CN" dirty="0"/>
              <a:t>A</a:t>
            </a:r>
            <a:r>
              <a:rPr lang="zh-CN" altLang="en-US" dirty="0"/>
              <a:t>项目，放弃</a:t>
            </a:r>
            <a:r>
              <a:rPr lang="en-US" altLang="zh-CN" dirty="0"/>
              <a:t>B</a:t>
            </a:r>
            <a:r>
              <a:rPr lang="zh-CN" altLang="en-US" dirty="0"/>
              <a:t>项目的潜在收益）。</a:t>
            </a:r>
          </a:p>
          <a:p>
            <a:r>
              <a:rPr lang="zh-CN" altLang="en-US" dirty="0"/>
              <a:t>特点：无实际现金流出，但影响决策（“隐性成本”）。</a:t>
            </a:r>
            <a:endParaRPr lang="en-US" altLang="zh-CN" dirty="0"/>
          </a:p>
          <a:p>
            <a:r>
              <a:rPr lang="zh-CN" altLang="en-US" dirty="0"/>
              <a:t>例子：你自己开店，虽然没有给自己发工资（显性成本为</a:t>
            </a:r>
            <a:r>
              <a:rPr lang="en-US" altLang="zh-CN" dirty="0"/>
              <a:t>0</a:t>
            </a:r>
            <a:r>
              <a:rPr lang="zh-CN" altLang="en-US" dirty="0"/>
              <a:t>），但你放弃了去别处打工能赚到的薪水，这部分就是你开店的隐性机会成本。</a:t>
            </a:r>
          </a:p>
          <a:p>
            <a:r>
              <a:rPr lang="en-US" altLang="zh-CN" dirty="0"/>
              <a:t>6. </a:t>
            </a:r>
            <a:r>
              <a:rPr lang="zh-CN" altLang="en-US" dirty="0"/>
              <a:t>沉默成本（</a:t>
            </a:r>
            <a:r>
              <a:rPr lang="en-US" altLang="zh-CN" dirty="0"/>
              <a:t>Sunk Cost</a:t>
            </a:r>
            <a:r>
              <a:rPr lang="zh-CN" altLang="en-US" dirty="0"/>
              <a:t>）</a:t>
            </a:r>
          </a:p>
          <a:p>
            <a:r>
              <a:rPr lang="zh-CN" altLang="en-US" dirty="0"/>
              <a:t>定义：已发生且不可收回的成本（如已投入的研发费用、设备购置款）。</a:t>
            </a:r>
          </a:p>
          <a:p>
            <a:r>
              <a:rPr lang="zh-CN" altLang="en-US" dirty="0"/>
              <a:t>特点：与未来决策无关（决策应基于“未来收益”，而非“过去投入”）。</a:t>
            </a:r>
            <a:endParaRPr lang="en-US" altLang="zh-CN" dirty="0"/>
          </a:p>
          <a:p>
            <a:r>
              <a:rPr lang="zh-CN" altLang="en-US" dirty="0"/>
              <a:t>也叫历史数据</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191</a:t>
            </a:fld>
            <a:endParaRPr lang="zh-CN" altLang="en-US"/>
          </a:p>
        </p:txBody>
      </p:sp>
    </p:spTree>
    <p:extLst>
      <p:ext uri="{BB962C8B-B14F-4D97-AF65-F5344CB8AC3E}">
        <p14:creationId xmlns:p14="http://schemas.microsoft.com/office/powerpoint/2010/main" val="2590403190"/>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dirty="0"/>
              <a:t>False</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192</a:t>
            </a:fld>
            <a:endParaRPr lang="zh-CN" altLang="en-US"/>
          </a:p>
        </p:txBody>
      </p:sp>
    </p:spTree>
    <p:extLst>
      <p:ext uri="{BB962C8B-B14F-4D97-AF65-F5344CB8AC3E}">
        <p14:creationId xmlns:p14="http://schemas.microsoft.com/office/powerpoint/2010/main" val="3079555145"/>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如何显示行号？</a:t>
            </a:r>
            <a:endParaRPr lang="en-US" altLang="zh-CN" dirty="0"/>
          </a:p>
          <a:p>
            <a:r>
              <a:rPr lang="zh-CN" altLang="en-US" dirty="0"/>
              <a:t>参数估算：使用数学模型；依赖历史数据；准确性由模型质量和数据可靠性决定的方法</a:t>
            </a:r>
          </a:p>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195</a:t>
            </a:fld>
            <a:endParaRPr lang="zh-CN" altLang="en-US"/>
          </a:p>
        </p:txBody>
      </p:sp>
    </p:spTree>
    <p:extLst>
      <p:ext uri="{BB962C8B-B14F-4D97-AF65-F5344CB8AC3E}">
        <p14:creationId xmlns:p14="http://schemas.microsoft.com/office/powerpoint/2010/main" val="3241392762"/>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197</a:t>
            </a:fld>
            <a:endParaRPr lang="zh-CN" altLang="en-US"/>
          </a:p>
        </p:txBody>
      </p:sp>
    </p:spTree>
    <p:extLst>
      <p:ext uri="{BB962C8B-B14F-4D97-AF65-F5344CB8AC3E}">
        <p14:creationId xmlns:p14="http://schemas.microsoft.com/office/powerpoint/2010/main" val="238344657"/>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通过用户</a:t>
            </a:r>
            <a:endParaRPr lang="en-US" altLang="zh-CN" dirty="0"/>
          </a:p>
          <a:p>
            <a:r>
              <a:rPr lang="zh-CN" altLang="en-US" dirty="0"/>
              <a:t>通过接口文件</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198</a:t>
            </a:fld>
            <a:endParaRPr lang="zh-CN" altLang="en-US"/>
          </a:p>
        </p:txBody>
      </p:sp>
    </p:spTree>
    <p:extLst>
      <p:ext uri="{BB962C8B-B14F-4D97-AF65-F5344CB8AC3E}">
        <p14:creationId xmlns:p14="http://schemas.microsoft.com/office/powerpoint/2010/main" val="2747813760"/>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dirty="0"/>
              <a:t>P163</a:t>
            </a:r>
          </a:p>
          <a:p>
            <a:r>
              <a:rPr lang="zh-CN" altLang="en-US" dirty="0"/>
              <a:t>顺序：表</a:t>
            </a:r>
            <a:r>
              <a:rPr lang="en-US" altLang="zh-CN" dirty="0"/>
              <a:t>6-11</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204</a:t>
            </a:fld>
            <a:endParaRPr lang="zh-CN" altLang="en-US"/>
          </a:p>
        </p:txBody>
      </p:sp>
    </p:spTree>
    <p:extLst>
      <p:ext uri="{BB962C8B-B14F-4D97-AF65-F5344CB8AC3E}">
        <p14:creationId xmlns:p14="http://schemas.microsoft.com/office/powerpoint/2010/main" val="852470693"/>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205</a:t>
            </a:fld>
            <a:endParaRPr lang="zh-CN" altLang="en-US"/>
          </a:p>
        </p:txBody>
      </p:sp>
    </p:spTree>
    <p:extLst>
      <p:ext uri="{BB962C8B-B14F-4D97-AF65-F5344CB8AC3E}">
        <p14:creationId xmlns:p14="http://schemas.microsoft.com/office/powerpoint/2010/main" val="4058653116"/>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dirty="0"/>
              <a:t>P163</a:t>
            </a:r>
          </a:p>
          <a:p>
            <a:r>
              <a:rPr lang="zh-CN" altLang="en-US" dirty="0"/>
              <a:t>错误</a:t>
            </a:r>
            <a:r>
              <a:rPr lang="en-US" altLang="zh-CN" dirty="0"/>
              <a:t>EIF </a:t>
            </a:r>
            <a:r>
              <a:rPr lang="zh-CN" altLang="en-US" dirty="0"/>
              <a:t>→ </a:t>
            </a:r>
            <a:r>
              <a:rPr lang="en-US" altLang="zh-CN" dirty="0"/>
              <a:t>EIL</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206</a:t>
            </a:fld>
            <a:endParaRPr lang="zh-CN" altLang="en-US"/>
          </a:p>
        </p:txBody>
      </p:sp>
    </p:spTree>
    <p:extLst>
      <p:ext uri="{BB962C8B-B14F-4D97-AF65-F5344CB8AC3E}">
        <p14:creationId xmlns:p14="http://schemas.microsoft.com/office/powerpoint/2010/main" val="2333208247"/>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公式 </a:t>
            </a:r>
            <a:r>
              <a:rPr lang="en-US" altLang="zh-CN" dirty="0"/>
              <a:t>6-8</a:t>
            </a:r>
          </a:p>
          <a:p>
            <a:r>
              <a:rPr lang="zh-CN" altLang="en-US" dirty="0"/>
              <a:t>公式 </a:t>
            </a:r>
            <a:r>
              <a:rPr lang="en-US" altLang="zh-CN" dirty="0"/>
              <a:t>6-11</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211</a:t>
            </a:fld>
            <a:endParaRPr lang="zh-CN" altLang="en-US"/>
          </a:p>
        </p:txBody>
      </p:sp>
    </p:spTree>
    <p:extLst>
      <p:ext uri="{BB962C8B-B14F-4D97-AF65-F5344CB8AC3E}">
        <p14:creationId xmlns:p14="http://schemas.microsoft.com/office/powerpoint/2010/main" val="1762782956"/>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dirty="0"/>
              <a:t>M: </a:t>
            </a:r>
            <a:r>
              <a:rPr lang="zh-CN" altLang="en-US" dirty="0"/>
              <a:t>项目经理 </a:t>
            </a:r>
            <a:r>
              <a:rPr lang="en-US" altLang="zh-CN" dirty="0"/>
              <a:t>(Manager)</a:t>
            </a:r>
          </a:p>
          <a:p>
            <a:r>
              <a:rPr lang="en-US" altLang="zh-CN" dirty="0"/>
              <a:t>D: </a:t>
            </a:r>
            <a:r>
              <a:rPr lang="zh-CN" altLang="en-US" dirty="0"/>
              <a:t>开发人员 </a:t>
            </a:r>
            <a:r>
              <a:rPr lang="en-US" altLang="zh-CN" dirty="0"/>
              <a:t>(Developer)</a:t>
            </a:r>
          </a:p>
          <a:p>
            <a:r>
              <a:rPr lang="en-US" altLang="zh-CN" dirty="0"/>
              <a:t>Q: </a:t>
            </a:r>
            <a:r>
              <a:rPr lang="zh-CN" altLang="en-US" dirty="0"/>
              <a:t>测试人员 </a:t>
            </a:r>
            <a:r>
              <a:rPr lang="en-US" altLang="zh-CN" dirty="0"/>
              <a:t>(Quality Assurance)</a:t>
            </a:r>
          </a:p>
          <a:p>
            <a:r>
              <a:rPr lang="en-US" altLang="zh-CN" dirty="0"/>
              <a:t>S: </a:t>
            </a:r>
            <a:r>
              <a:rPr lang="zh-CN" altLang="en-US" dirty="0"/>
              <a:t>架构师</a:t>
            </a:r>
            <a:r>
              <a:rPr lang="en-US" altLang="zh-CN" dirty="0"/>
              <a:t>/</a:t>
            </a:r>
            <a:r>
              <a:rPr lang="zh-CN" altLang="en-US" dirty="0"/>
              <a:t>高级工程师 </a:t>
            </a:r>
            <a:r>
              <a:rPr lang="en-US" altLang="zh-CN" dirty="0"/>
              <a:t>(System Architect / Senior)</a:t>
            </a:r>
          </a:p>
          <a:p>
            <a:r>
              <a:rPr lang="zh-CN" altLang="en-US" dirty="0"/>
              <a:t>数字为人数</a:t>
            </a:r>
            <a:endParaRPr lang="en-US" altLang="zh-CN" dirty="0"/>
          </a:p>
          <a:p>
            <a:r>
              <a:rPr lang="zh-CN" altLang="en-US" dirty="0"/>
              <a:t>总成本 </a:t>
            </a:r>
            <a:r>
              <a:rPr lang="en-US" altLang="zh-CN" dirty="0"/>
              <a:t>= (M</a:t>
            </a:r>
            <a:r>
              <a:rPr lang="zh-CN" altLang="en-US" dirty="0"/>
              <a:t>人数 </a:t>
            </a:r>
            <a:r>
              <a:rPr lang="en-US" altLang="zh-CN" dirty="0"/>
              <a:t>× M</a:t>
            </a:r>
            <a:r>
              <a:rPr lang="zh-CN" altLang="en-US" dirty="0"/>
              <a:t>月薪 </a:t>
            </a:r>
            <a:r>
              <a:rPr lang="en-US" altLang="zh-CN" dirty="0"/>
              <a:t>+ D</a:t>
            </a:r>
            <a:r>
              <a:rPr lang="zh-CN" altLang="en-US" dirty="0"/>
              <a:t>人数 </a:t>
            </a:r>
            <a:r>
              <a:rPr lang="en-US" altLang="zh-CN" dirty="0"/>
              <a:t>× D</a:t>
            </a:r>
            <a:r>
              <a:rPr lang="zh-CN" altLang="en-US" dirty="0"/>
              <a:t>月薪 </a:t>
            </a:r>
            <a:r>
              <a:rPr lang="en-US" altLang="zh-CN" dirty="0"/>
              <a:t>+ Q</a:t>
            </a:r>
            <a:r>
              <a:rPr lang="zh-CN" altLang="en-US" dirty="0"/>
              <a:t>人数 </a:t>
            </a:r>
            <a:r>
              <a:rPr lang="en-US" altLang="zh-CN" dirty="0"/>
              <a:t>× Q</a:t>
            </a:r>
            <a:r>
              <a:rPr lang="zh-CN" altLang="en-US" dirty="0"/>
              <a:t>月薪 </a:t>
            </a:r>
            <a:r>
              <a:rPr lang="en-US" altLang="zh-CN" dirty="0"/>
              <a:t>+ S</a:t>
            </a:r>
            <a:r>
              <a:rPr lang="zh-CN" altLang="en-US" dirty="0"/>
              <a:t>人数 </a:t>
            </a:r>
            <a:r>
              <a:rPr lang="en-US" altLang="zh-CN" dirty="0"/>
              <a:t>× S</a:t>
            </a:r>
            <a:r>
              <a:rPr lang="zh-CN" altLang="en-US" dirty="0"/>
              <a:t>月薪</a:t>
            </a:r>
            <a:r>
              <a:rPr lang="en-US" altLang="zh-CN" dirty="0"/>
              <a:t>) × </a:t>
            </a:r>
            <a:r>
              <a:rPr lang="zh-CN" altLang="en-US" dirty="0"/>
              <a:t>时间（月）</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214</a:t>
            </a:fld>
            <a:endParaRPr lang="zh-CN" altLang="en-US"/>
          </a:p>
        </p:txBody>
      </p:sp>
    </p:spTree>
    <p:extLst>
      <p:ext uri="{BB962C8B-B14F-4D97-AF65-F5344CB8AC3E}">
        <p14:creationId xmlns:p14="http://schemas.microsoft.com/office/powerpoint/2010/main" val="2110631416"/>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贝塔分布（基于</a:t>
            </a:r>
            <a:r>
              <a:rPr lang="en-US" altLang="zh-CN" dirty="0"/>
              <a:t>PERT</a:t>
            </a:r>
            <a:r>
              <a:rPr lang="zh-CN" altLang="en-US" dirty="0"/>
              <a:t>技术）</a:t>
            </a:r>
            <a:endParaRPr lang="en-US" altLang="zh-CN" dirty="0"/>
          </a:p>
          <a:p>
            <a:r>
              <a:rPr lang="zh-CN" altLang="en-US" sz="1200" b="0" i="0" kern="1200" dirty="0">
                <a:solidFill>
                  <a:schemeClr val="tx1"/>
                </a:solidFill>
                <a:effectLst/>
                <a:latin typeface="+mn-lt"/>
                <a:ea typeface="+mn-ea"/>
                <a:cs typeface="+mn-cs"/>
              </a:rPr>
              <a:t>对“最可能成本”赋予了更高的权重（乘以</a:t>
            </a:r>
            <a:r>
              <a:rPr lang="en-US" altLang="zh-CN" sz="1200" b="0" i="0" kern="1200" dirty="0">
                <a:solidFill>
                  <a:schemeClr val="tx1"/>
                </a:solidFill>
                <a:effectLst/>
                <a:latin typeface="+mn-lt"/>
                <a:ea typeface="+mn-ea"/>
                <a:cs typeface="+mn-cs"/>
              </a:rPr>
              <a:t>4</a:t>
            </a:r>
            <a:r>
              <a:rPr lang="zh-CN" altLang="en-US" sz="1200" b="0" i="0" kern="1200" dirty="0">
                <a:solidFill>
                  <a:schemeClr val="tx1"/>
                </a:solidFill>
                <a:effectLst/>
                <a:latin typeface="+mn-lt"/>
                <a:ea typeface="+mn-ea"/>
                <a:cs typeface="+mn-cs"/>
              </a:rPr>
              <a:t>），认为实际情况更倾向于接近最可能的结果。这是项目管理中更常用的方法，因为它更能反映现实世界的概率分布</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215</a:t>
            </a:fld>
            <a:endParaRPr lang="zh-CN" altLang="en-US"/>
          </a:p>
        </p:txBody>
      </p:sp>
    </p:spTree>
    <p:extLst>
      <p:ext uri="{BB962C8B-B14F-4D97-AF65-F5344CB8AC3E}">
        <p14:creationId xmlns:p14="http://schemas.microsoft.com/office/powerpoint/2010/main" val="27574483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超过</a:t>
            </a:r>
            <a:r>
              <a:rPr lang="en-US" altLang="zh-CN" dirty="0"/>
              <a:t>12</a:t>
            </a:r>
            <a:r>
              <a:rPr lang="zh-CN" altLang="en-US" dirty="0"/>
              <a:t>的故事点，认为是 </a:t>
            </a:r>
            <a:r>
              <a:rPr lang="en-US" altLang="zh-CN" dirty="0"/>
              <a:t>epic</a:t>
            </a:r>
            <a:r>
              <a:rPr lang="zh-CN" altLang="en-US" dirty="0"/>
              <a:t>，就需要分解</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220</a:t>
            </a:fld>
            <a:endParaRPr lang="zh-CN" altLang="en-US"/>
          </a:p>
        </p:txBody>
      </p:sp>
    </p:spTree>
    <p:extLst>
      <p:ext uri="{BB962C8B-B14F-4D97-AF65-F5344CB8AC3E}">
        <p14:creationId xmlns:p14="http://schemas.microsoft.com/office/powerpoint/2010/main" val="1066184720"/>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B8731-485E-3452-834F-5FC4705BA02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634D26A-1E39-F318-ED7A-23114D0D64BE}"/>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7D342ED2-269F-062E-0DC9-CE08E0982127}"/>
              </a:ext>
            </a:extLst>
          </p:cNvPr>
          <p:cNvSpPr>
            <a:spLocks noGrp="1"/>
          </p:cNvSpPr>
          <p:nvPr>
            <p:ph type="body" idx="1"/>
          </p:nvPr>
        </p:nvSpPr>
        <p:spPr/>
        <p:txBody>
          <a:bodyPr/>
          <a:lstStyle/>
          <a:p>
            <a:r>
              <a:rPr lang="zh-CN" altLang="en-US" dirty="0"/>
              <a:t>超过</a:t>
            </a:r>
            <a:r>
              <a:rPr lang="en-US" altLang="zh-CN" dirty="0"/>
              <a:t>12</a:t>
            </a:r>
            <a:r>
              <a:rPr lang="zh-CN" altLang="en-US" dirty="0"/>
              <a:t>的故事点，认为是 </a:t>
            </a:r>
            <a:r>
              <a:rPr lang="en-US" altLang="zh-CN" dirty="0"/>
              <a:t>epic</a:t>
            </a:r>
            <a:r>
              <a:rPr lang="zh-CN" altLang="en-US" dirty="0"/>
              <a:t>，就需要分解</a:t>
            </a:r>
          </a:p>
        </p:txBody>
      </p:sp>
      <p:sp>
        <p:nvSpPr>
          <p:cNvPr id="4" name="灯片编号占位符 3">
            <a:extLst>
              <a:ext uri="{FF2B5EF4-FFF2-40B4-BE49-F238E27FC236}">
                <a16:creationId xmlns:a16="http://schemas.microsoft.com/office/drawing/2014/main" id="{CB7C7D12-0760-EAF4-CF68-0B8F748716E6}"/>
              </a:ext>
            </a:extLst>
          </p:cNvPr>
          <p:cNvSpPr>
            <a:spLocks noGrp="1"/>
          </p:cNvSpPr>
          <p:nvPr>
            <p:ph type="sldNum" sz="quarter" idx="5"/>
          </p:nvPr>
        </p:nvSpPr>
        <p:spPr/>
        <p:txBody>
          <a:bodyPr/>
          <a:lstStyle/>
          <a:p>
            <a:fld id="{6D27E3F6-C3AC-4131-BD60-F31F1EE091B2}" type="slidenum">
              <a:rPr lang="zh-CN" altLang="en-US" smtClean="0"/>
              <a:t>221</a:t>
            </a:fld>
            <a:endParaRPr lang="zh-CN" altLang="en-US"/>
          </a:p>
        </p:txBody>
      </p:sp>
    </p:spTree>
    <p:extLst>
      <p:ext uri="{BB962C8B-B14F-4D97-AF65-F5344CB8AC3E}">
        <p14:creationId xmlns:p14="http://schemas.microsoft.com/office/powerpoint/2010/main" val="4089333638"/>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dirty="0"/>
              <a:t>A</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223</a:t>
            </a:fld>
            <a:endParaRPr lang="zh-CN" altLang="en-US"/>
          </a:p>
        </p:txBody>
      </p:sp>
    </p:spTree>
    <p:extLst>
      <p:ext uri="{BB962C8B-B14F-4D97-AF65-F5344CB8AC3E}">
        <p14:creationId xmlns:p14="http://schemas.microsoft.com/office/powerpoint/2010/main" val="2766810160"/>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dirty="0"/>
              <a:t>Team members form a line</a:t>
            </a:r>
          </a:p>
          <a:p>
            <a:r>
              <a:rPr lang="en-US" altLang="zh-CN" dirty="0"/>
              <a:t>The first team member is asked to place a story under the column that he/she thinks represents the correct story point value</a:t>
            </a:r>
          </a:p>
          <a:p>
            <a:r>
              <a:rPr lang="en-US" altLang="zh-CN" dirty="0"/>
              <a:t>The first team member moves to the end of the line</a:t>
            </a:r>
          </a:p>
          <a:p>
            <a:r>
              <a:rPr lang="en-US" altLang="zh-CN" dirty="0"/>
              <a:t>The next team member can either move the story that’s already been placed or can chose another story to place under the story point column he/she thinks represents the correct story point value</a:t>
            </a:r>
          </a:p>
          <a:p>
            <a:r>
              <a:rPr lang="en-US" altLang="zh-CN" dirty="0"/>
              <a:t>And so on until all stories are placed under a column</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225</a:t>
            </a:fld>
            <a:endParaRPr lang="zh-CN" altLang="en-US"/>
          </a:p>
        </p:txBody>
      </p:sp>
    </p:spTree>
    <p:extLst>
      <p:ext uri="{BB962C8B-B14F-4D97-AF65-F5344CB8AC3E}">
        <p14:creationId xmlns:p14="http://schemas.microsoft.com/office/powerpoint/2010/main" val="99208746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D906D-AC3F-8EF3-23E4-4CCAA6E3C79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EE72781-2D56-1579-3028-C6B5B61484F7}"/>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403016BE-F6DA-2613-E9F6-047BCF1CA478}"/>
              </a:ext>
            </a:extLst>
          </p:cNvPr>
          <p:cNvSpPr>
            <a:spLocks noGrp="1"/>
          </p:cNvSpPr>
          <p:nvPr>
            <p:ph type="body" idx="1"/>
          </p:nvPr>
        </p:nvSpPr>
        <p:spPr/>
        <p:txBody>
          <a:bodyPr/>
          <a:lstStyle/>
          <a:p>
            <a:r>
              <a:rPr lang="en-US" altLang="zh-CN" dirty="0"/>
              <a:t>Team members form a line</a:t>
            </a:r>
          </a:p>
          <a:p>
            <a:r>
              <a:rPr lang="en-US" altLang="zh-CN" dirty="0"/>
              <a:t>The first team member is asked to place a story under the column that he/she thinks represents the correct story point value</a:t>
            </a:r>
          </a:p>
          <a:p>
            <a:r>
              <a:rPr lang="en-US" altLang="zh-CN" dirty="0"/>
              <a:t>The first team member moves to the end of the line</a:t>
            </a:r>
          </a:p>
          <a:p>
            <a:r>
              <a:rPr lang="en-US" altLang="zh-CN" dirty="0"/>
              <a:t>The next team member can either move the story that’s already been placed or can chose another story to place under the story point column he/she thinks represents the correct story point value</a:t>
            </a:r>
          </a:p>
          <a:p>
            <a:r>
              <a:rPr lang="en-US" altLang="zh-CN" dirty="0"/>
              <a:t>And so on until all stories are placed under a column</a:t>
            </a:r>
            <a:endParaRPr lang="zh-CN" altLang="en-US" dirty="0"/>
          </a:p>
        </p:txBody>
      </p:sp>
      <p:sp>
        <p:nvSpPr>
          <p:cNvPr id="4" name="灯片编号占位符 3">
            <a:extLst>
              <a:ext uri="{FF2B5EF4-FFF2-40B4-BE49-F238E27FC236}">
                <a16:creationId xmlns:a16="http://schemas.microsoft.com/office/drawing/2014/main" id="{89CD51C4-7360-4568-511B-D926CD94053B}"/>
              </a:ext>
            </a:extLst>
          </p:cNvPr>
          <p:cNvSpPr>
            <a:spLocks noGrp="1"/>
          </p:cNvSpPr>
          <p:nvPr>
            <p:ph type="sldNum" sz="quarter" idx="5"/>
          </p:nvPr>
        </p:nvSpPr>
        <p:spPr/>
        <p:txBody>
          <a:bodyPr/>
          <a:lstStyle/>
          <a:p>
            <a:fld id="{6D27E3F6-C3AC-4131-BD60-F31F1EE091B2}" type="slidenum">
              <a:rPr lang="zh-CN" altLang="en-US" smtClean="0"/>
              <a:t>226</a:t>
            </a:fld>
            <a:endParaRPr lang="zh-CN" altLang="en-US"/>
          </a:p>
        </p:txBody>
      </p:sp>
    </p:spTree>
    <p:extLst>
      <p:ext uri="{BB962C8B-B14F-4D97-AF65-F5344CB8AC3E}">
        <p14:creationId xmlns:p14="http://schemas.microsoft.com/office/powerpoint/2010/main" val="3158071029"/>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dirty="0"/>
              <a:t>There will be stories that bounce back and forth between columns – the facilitator of the process can move those above the columns for discussion at the end of the exercise</a:t>
            </a:r>
          </a:p>
          <a:p>
            <a:r>
              <a:rPr lang="en-US" altLang="zh-CN" dirty="0"/>
              <a:t>When most stories are placed, ask the team to vote on which column the “bouncing” stories belong under</a:t>
            </a:r>
          </a:p>
          <a:p>
            <a:r>
              <a:rPr lang="en-US" altLang="zh-CN" dirty="0"/>
              <a:t>If they still can’t agree, place the story under the column with the highest number of points</a:t>
            </a:r>
          </a:p>
          <a:p>
            <a:endParaRPr lang="en-US" altLang="zh-CN" dirty="0"/>
          </a:p>
          <a:p>
            <a:r>
              <a:rPr lang="en-US" altLang="zh-CN" dirty="0"/>
              <a:t>There will be some stories that the team needs more info on – place these under the “?” column</a:t>
            </a:r>
          </a:p>
          <a:p>
            <a:r>
              <a:rPr lang="en-US" altLang="zh-CN" dirty="0"/>
              <a:t>Keep these to a minimum</a:t>
            </a:r>
          </a:p>
          <a:p>
            <a:r>
              <a:rPr lang="en-US" altLang="zh-CN" dirty="0"/>
              <a:t>If there are a lot, another Backlog Grooming Session may be needed so the team is clearer on the story details</a:t>
            </a:r>
          </a:p>
          <a:p>
            <a:r>
              <a:rPr lang="en-US" altLang="zh-CN" dirty="0"/>
              <a:t>The entire process of placing stories and negotiating any ones in dispute will move very quickly</a:t>
            </a:r>
          </a:p>
          <a:p>
            <a:r>
              <a:rPr lang="en-US" altLang="zh-CN" dirty="0"/>
              <a:t>Teams generally have fun in the process of placing stories</a:t>
            </a:r>
          </a:p>
          <a:p>
            <a:r>
              <a:rPr lang="en-US" altLang="zh-CN" dirty="0"/>
              <a:t>Once the team is okay with where stories are placed, add up the stories in each column and multiply by the column heading to get total story points</a:t>
            </a:r>
          </a:p>
          <a:p>
            <a:endParaRPr lang="en-US" altLang="zh-CN" dirty="0"/>
          </a:p>
          <a:p>
            <a:r>
              <a:rPr lang="en-US" altLang="zh-CN" dirty="0"/>
              <a:t>add up the stories in each column and multiply by the column heading to get total story points</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227</a:t>
            </a:fld>
            <a:endParaRPr lang="zh-CN" altLang="en-US"/>
          </a:p>
        </p:txBody>
      </p:sp>
    </p:spTree>
    <p:extLst>
      <p:ext uri="{BB962C8B-B14F-4D97-AF65-F5344CB8AC3E}">
        <p14:creationId xmlns:p14="http://schemas.microsoft.com/office/powerpoint/2010/main" val="1361576978"/>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1B26D-17AE-F5FC-98B5-6F9AFFD2B7A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72D6D39-090F-44EC-5000-B5E64F318755}"/>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EF82F395-4124-2DCA-81FB-77EA38EBF114}"/>
              </a:ext>
            </a:extLst>
          </p:cNvPr>
          <p:cNvSpPr>
            <a:spLocks noGrp="1"/>
          </p:cNvSpPr>
          <p:nvPr>
            <p:ph type="body" idx="1"/>
          </p:nvPr>
        </p:nvSpPr>
        <p:spPr/>
        <p:txBody>
          <a:bodyPr/>
          <a:lstStyle/>
          <a:p>
            <a:r>
              <a:rPr lang="en-US" altLang="zh-CN" dirty="0"/>
              <a:t>There will be stories that bounce back and forth between columns – the facilitator of the process can move those above the columns for discussion at the end of the exercise</a:t>
            </a:r>
          </a:p>
          <a:p>
            <a:r>
              <a:rPr lang="en-US" altLang="zh-CN" dirty="0"/>
              <a:t>When most stories are placed, ask the team to vote on which column the “bouncing” stories belong under</a:t>
            </a:r>
          </a:p>
          <a:p>
            <a:r>
              <a:rPr lang="en-US" altLang="zh-CN" dirty="0"/>
              <a:t>If they still can’t agree, place the story under the column with the highest number of points</a:t>
            </a:r>
          </a:p>
          <a:p>
            <a:endParaRPr lang="en-US" altLang="zh-CN" dirty="0"/>
          </a:p>
          <a:p>
            <a:r>
              <a:rPr lang="en-US" altLang="zh-CN" dirty="0"/>
              <a:t>There will be some stories that the team needs more info on – place these under the “?” column</a:t>
            </a:r>
          </a:p>
          <a:p>
            <a:r>
              <a:rPr lang="en-US" altLang="zh-CN" dirty="0"/>
              <a:t>Keep these to a minimum</a:t>
            </a:r>
          </a:p>
          <a:p>
            <a:r>
              <a:rPr lang="en-US" altLang="zh-CN" dirty="0"/>
              <a:t>If there are a lot, another Backlog Grooming Session may be needed so the team is clearer on the story details</a:t>
            </a:r>
          </a:p>
          <a:p>
            <a:r>
              <a:rPr lang="en-US" altLang="zh-CN" dirty="0"/>
              <a:t>The entire process of placing stories and negotiating any ones in dispute will move very quickly</a:t>
            </a:r>
          </a:p>
          <a:p>
            <a:r>
              <a:rPr lang="en-US" altLang="zh-CN" dirty="0"/>
              <a:t>Teams generally have fun in the process of placing stories</a:t>
            </a:r>
          </a:p>
          <a:p>
            <a:r>
              <a:rPr lang="en-US" altLang="zh-CN" dirty="0"/>
              <a:t>Once the team is okay with where stories are placed, add up the stories in each column and multiply by the column heading to get total story points</a:t>
            </a:r>
          </a:p>
          <a:p>
            <a:endParaRPr lang="en-US" altLang="zh-CN" dirty="0"/>
          </a:p>
          <a:p>
            <a:r>
              <a:rPr lang="en-US" altLang="zh-CN" dirty="0"/>
              <a:t>add up the stories in each column and multiply by the column heading to get total story points</a:t>
            </a:r>
            <a:endParaRPr lang="zh-CN" altLang="en-US" dirty="0"/>
          </a:p>
        </p:txBody>
      </p:sp>
      <p:sp>
        <p:nvSpPr>
          <p:cNvPr id="4" name="灯片编号占位符 3">
            <a:extLst>
              <a:ext uri="{FF2B5EF4-FFF2-40B4-BE49-F238E27FC236}">
                <a16:creationId xmlns:a16="http://schemas.microsoft.com/office/drawing/2014/main" id="{7DD63D0F-D12E-366B-CF11-C42A6003F973}"/>
              </a:ext>
            </a:extLst>
          </p:cNvPr>
          <p:cNvSpPr>
            <a:spLocks noGrp="1"/>
          </p:cNvSpPr>
          <p:nvPr>
            <p:ph type="sldNum" sz="quarter" idx="5"/>
          </p:nvPr>
        </p:nvSpPr>
        <p:spPr/>
        <p:txBody>
          <a:bodyPr/>
          <a:lstStyle/>
          <a:p>
            <a:fld id="{6D27E3F6-C3AC-4131-BD60-F31F1EE091B2}" type="slidenum">
              <a:rPr lang="zh-CN" altLang="en-US" smtClean="0"/>
              <a:t>228</a:t>
            </a:fld>
            <a:endParaRPr lang="zh-CN" altLang="en-US"/>
          </a:p>
        </p:txBody>
      </p:sp>
    </p:spTree>
    <p:extLst>
      <p:ext uri="{BB962C8B-B14F-4D97-AF65-F5344CB8AC3E}">
        <p14:creationId xmlns:p14="http://schemas.microsoft.com/office/powerpoint/2010/main" val="1353761405"/>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D6267-AF18-140A-9C37-998EF07C7E6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46E360A-A164-4657-25B0-3E0793F0D918}"/>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B199E170-5AAC-5A33-1859-C7ECD7FFF09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7B28B23-3B62-1393-15B2-E773419BE923}"/>
              </a:ext>
            </a:extLst>
          </p:cNvPr>
          <p:cNvSpPr>
            <a:spLocks noGrp="1"/>
          </p:cNvSpPr>
          <p:nvPr>
            <p:ph type="sldNum" sz="quarter" idx="5"/>
          </p:nvPr>
        </p:nvSpPr>
        <p:spPr/>
        <p:txBody>
          <a:bodyPr/>
          <a:lstStyle/>
          <a:p>
            <a:fld id="{6D27E3F6-C3AC-4131-BD60-F31F1EE091B2}" type="slidenum">
              <a:rPr lang="zh-CN" altLang="en-US" smtClean="0"/>
              <a:t>229</a:t>
            </a:fld>
            <a:endParaRPr lang="zh-CN" altLang="en-US"/>
          </a:p>
        </p:txBody>
      </p:sp>
    </p:spTree>
    <p:extLst>
      <p:ext uri="{BB962C8B-B14F-4D97-AF65-F5344CB8AC3E}">
        <p14:creationId xmlns:p14="http://schemas.microsoft.com/office/powerpoint/2010/main" val="2142437747"/>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D6267-AF18-140A-9C37-998EF07C7E6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46E360A-A164-4657-25B0-3E0793F0D918}"/>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B199E170-5AAC-5A33-1859-C7ECD7FFF09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7B28B23-3B62-1393-15B2-E773419BE923}"/>
              </a:ext>
            </a:extLst>
          </p:cNvPr>
          <p:cNvSpPr>
            <a:spLocks noGrp="1"/>
          </p:cNvSpPr>
          <p:nvPr>
            <p:ph type="sldNum" sz="quarter" idx="5"/>
          </p:nvPr>
        </p:nvSpPr>
        <p:spPr/>
        <p:txBody>
          <a:bodyPr/>
          <a:lstStyle/>
          <a:p>
            <a:fld id="{6D27E3F6-C3AC-4131-BD60-F31F1EE091B2}" type="slidenum">
              <a:rPr lang="zh-CN" altLang="en-US" smtClean="0"/>
              <a:t>230</a:t>
            </a:fld>
            <a:endParaRPr lang="zh-CN" altLang="en-US"/>
          </a:p>
        </p:txBody>
      </p:sp>
    </p:spTree>
    <p:extLst>
      <p:ext uri="{BB962C8B-B14F-4D97-AF65-F5344CB8AC3E}">
        <p14:creationId xmlns:p14="http://schemas.microsoft.com/office/powerpoint/2010/main" val="1224037329"/>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231</a:t>
            </a:fld>
            <a:endParaRPr lang="zh-CN" altLang="en-US"/>
          </a:p>
        </p:txBody>
      </p:sp>
    </p:spTree>
    <p:extLst>
      <p:ext uri="{BB962C8B-B14F-4D97-AF65-F5344CB8AC3E}">
        <p14:creationId xmlns:p14="http://schemas.microsoft.com/office/powerpoint/2010/main" val="2987993995"/>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DA307-C606-1CA9-E060-D80A6DF0BCE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9548757-D408-3076-A68B-F0D444E264FC}"/>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4BE14321-0F2E-43CC-4E01-AE855005E39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B8A55F7-6323-32D3-CD4B-63FBC25BCCE1}"/>
              </a:ext>
            </a:extLst>
          </p:cNvPr>
          <p:cNvSpPr>
            <a:spLocks noGrp="1"/>
          </p:cNvSpPr>
          <p:nvPr>
            <p:ph type="sldNum" sz="quarter" idx="5"/>
          </p:nvPr>
        </p:nvSpPr>
        <p:spPr/>
        <p:txBody>
          <a:bodyPr/>
          <a:lstStyle/>
          <a:p>
            <a:fld id="{6D27E3F6-C3AC-4131-BD60-F31F1EE091B2}" type="slidenum">
              <a:rPr lang="zh-CN" altLang="en-US" smtClean="0"/>
              <a:t>232</a:t>
            </a:fld>
            <a:endParaRPr lang="zh-CN" altLang="en-US"/>
          </a:p>
        </p:txBody>
      </p:sp>
    </p:spTree>
    <p:extLst>
      <p:ext uri="{BB962C8B-B14F-4D97-AF65-F5344CB8AC3E}">
        <p14:creationId xmlns:p14="http://schemas.microsoft.com/office/powerpoint/2010/main" val="3715984017"/>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A8702-FF43-6113-0A08-BD6A6927EDA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6F5BBB9-C468-FA8F-5295-178538E15586}"/>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DA3EB86D-D3E6-6A8F-5E77-0957FC2D16C2}"/>
              </a:ext>
            </a:extLst>
          </p:cNvPr>
          <p:cNvSpPr>
            <a:spLocks noGrp="1"/>
          </p:cNvSpPr>
          <p:nvPr>
            <p:ph type="body" idx="1"/>
          </p:nvPr>
        </p:nvSpPr>
        <p:spPr/>
        <p:txBody>
          <a:bodyPr/>
          <a:lstStyle/>
          <a:p>
            <a:r>
              <a:rPr lang="en-US" altLang="zh-CN" dirty="0"/>
              <a:t>B</a:t>
            </a:r>
            <a:endParaRPr lang="zh-CN" altLang="en-US" dirty="0"/>
          </a:p>
        </p:txBody>
      </p:sp>
      <p:sp>
        <p:nvSpPr>
          <p:cNvPr id="4" name="灯片编号占位符 3">
            <a:extLst>
              <a:ext uri="{FF2B5EF4-FFF2-40B4-BE49-F238E27FC236}">
                <a16:creationId xmlns:a16="http://schemas.microsoft.com/office/drawing/2014/main" id="{8ECA2611-C1DE-BA39-6184-EC1B1A8F042E}"/>
              </a:ext>
            </a:extLst>
          </p:cNvPr>
          <p:cNvSpPr>
            <a:spLocks noGrp="1"/>
          </p:cNvSpPr>
          <p:nvPr>
            <p:ph type="sldNum" sz="quarter" idx="5"/>
          </p:nvPr>
        </p:nvSpPr>
        <p:spPr/>
        <p:txBody>
          <a:bodyPr/>
          <a:lstStyle/>
          <a:p>
            <a:fld id="{6D27E3F6-C3AC-4131-BD60-F31F1EE091B2}" type="slidenum">
              <a:rPr lang="zh-CN" altLang="en-US" smtClean="0"/>
              <a:t>234</a:t>
            </a:fld>
            <a:endParaRPr lang="zh-CN" altLang="en-US"/>
          </a:p>
        </p:txBody>
      </p:sp>
    </p:spTree>
    <p:extLst>
      <p:ext uri="{BB962C8B-B14F-4D97-AF65-F5344CB8AC3E}">
        <p14:creationId xmlns:p14="http://schemas.microsoft.com/office/powerpoint/2010/main" val="652328018"/>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成本和钱打交道</a:t>
            </a:r>
            <a:endParaRPr lang="en-US" altLang="zh-CN" dirty="0"/>
          </a:p>
          <a:p>
            <a:r>
              <a:rPr lang="zh-CN" altLang="en-US" dirty="0"/>
              <a:t>进度和时间打交道</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240</a:t>
            </a:fld>
            <a:endParaRPr lang="zh-CN" altLang="en-US"/>
          </a:p>
        </p:txBody>
      </p:sp>
    </p:spTree>
    <p:extLst>
      <p:ext uri="{BB962C8B-B14F-4D97-AF65-F5344CB8AC3E}">
        <p14:creationId xmlns:p14="http://schemas.microsoft.com/office/powerpoint/2010/main" val="2305500860"/>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通过图形化方式展示项目中各项活动的逻辑关系、先后顺序和时间依赖，帮助识别关键路径、优化资源分配并降低延期风险</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245</a:t>
            </a:fld>
            <a:endParaRPr lang="zh-CN" altLang="en-US"/>
          </a:p>
        </p:txBody>
      </p:sp>
    </p:spTree>
    <p:extLst>
      <p:ext uri="{BB962C8B-B14F-4D97-AF65-F5344CB8AC3E}">
        <p14:creationId xmlns:p14="http://schemas.microsoft.com/office/powerpoint/2010/main" val="1797192930"/>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默认情况下，紧前活动结束后，紧后活动马上开始</a:t>
            </a:r>
            <a:endParaRPr lang="en-US" altLang="zh-CN" dirty="0"/>
          </a:p>
          <a:p>
            <a:r>
              <a:rPr lang="en-US" altLang="zh-CN" dirty="0"/>
              <a:t>D</a:t>
            </a:r>
            <a:r>
              <a:rPr lang="zh-CN" altLang="en-US" dirty="0"/>
              <a:t>提前</a:t>
            </a:r>
            <a:r>
              <a:rPr lang="en-US" altLang="zh-CN" dirty="0"/>
              <a:t>2</a:t>
            </a:r>
            <a:r>
              <a:rPr lang="zh-CN" altLang="en-US" dirty="0"/>
              <a:t>天开始</a:t>
            </a:r>
            <a:endParaRPr lang="en-US" altLang="zh-CN" dirty="0"/>
          </a:p>
          <a:p>
            <a:r>
              <a:rPr lang="en-US" altLang="zh-CN" dirty="0"/>
              <a:t>F</a:t>
            </a:r>
            <a:r>
              <a:rPr lang="zh-CN" altLang="en-US" dirty="0"/>
              <a:t>推迟</a:t>
            </a:r>
            <a:r>
              <a:rPr lang="en-US" altLang="zh-CN" dirty="0"/>
              <a:t>3</a:t>
            </a:r>
            <a:r>
              <a:rPr lang="zh-CN" altLang="en-US" dirty="0"/>
              <a:t>天开始</a:t>
            </a:r>
          </a:p>
          <a:p>
            <a:r>
              <a:rPr lang="en-US" altLang="zh-CN" dirty="0"/>
              <a:t>SS+2 </a:t>
            </a:r>
            <a:r>
              <a:rPr lang="zh-CN" altLang="en-US" dirty="0"/>
              <a:t>：紧后活动必须在紧前活动开始之后 </a:t>
            </a:r>
            <a:r>
              <a:rPr lang="en-US" altLang="zh-CN" dirty="0"/>
              <a:t>2 </a:t>
            </a:r>
            <a:r>
              <a:rPr lang="zh-CN" altLang="en-US" dirty="0"/>
              <a:t>天才能开始</a:t>
            </a:r>
            <a:endParaRPr lang="en-US" altLang="zh-CN" dirty="0"/>
          </a:p>
          <a:p>
            <a:r>
              <a:rPr lang="en-US" altLang="zh-CN" dirty="0"/>
              <a:t>SS+0</a:t>
            </a:r>
            <a:r>
              <a:rPr lang="zh-CN" altLang="en-US" dirty="0"/>
              <a:t>：紧后活动与紧前活动同时开始（这才是“同时开始”）</a:t>
            </a:r>
            <a:endParaRPr lang="en-US" altLang="zh-CN" dirty="0"/>
          </a:p>
          <a:p>
            <a:r>
              <a:rPr lang="en-US" altLang="zh-CN" dirty="0"/>
              <a:t>FS+3</a:t>
            </a:r>
            <a:r>
              <a:rPr lang="zh-CN" altLang="en-US" dirty="0"/>
              <a:t>：紧后活动必须在紧前活动完成后</a:t>
            </a:r>
            <a:r>
              <a:rPr lang="en-US" altLang="zh-CN" dirty="0"/>
              <a:t>3</a:t>
            </a:r>
            <a:r>
              <a:rPr lang="zh-CN" altLang="en-US" dirty="0"/>
              <a:t>天才能开始。</a:t>
            </a:r>
            <a:endParaRPr lang="en-US" altLang="zh-CN" dirty="0"/>
          </a:p>
          <a:p>
            <a:r>
              <a:rPr lang="zh-CN" altLang="en-US" dirty="0"/>
              <a:t>加号（</a:t>
            </a:r>
            <a:r>
              <a:rPr lang="en-US" altLang="zh-CN" dirty="0"/>
              <a:t>+</a:t>
            </a:r>
            <a:r>
              <a:rPr lang="zh-CN" altLang="en-US" dirty="0"/>
              <a:t>） 代表滞后，意味着中间有等待时间，会让工期变长。</a:t>
            </a:r>
          </a:p>
          <a:p>
            <a:r>
              <a:rPr lang="zh-CN" altLang="en-US" dirty="0"/>
              <a:t>减号（</a:t>
            </a:r>
            <a:r>
              <a:rPr lang="en-US" altLang="zh-CN" dirty="0"/>
              <a:t>-</a:t>
            </a:r>
            <a:r>
              <a:rPr lang="zh-CN" altLang="en-US" dirty="0"/>
              <a:t>） 代表提前，意味着两个活动有重叠时间，会让工期缩短。</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248</a:t>
            </a:fld>
            <a:endParaRPr lang="zh-CN" altLang="en-US"/>
          </a:p>
        </p:txBody>
      </p:sp>
    </p:spTree>
    <p:extLst>
      <p:ext uri="{BB962C8B-B14F-4D97-AF65-F5344CB8AC3E}">
        <p14:creationId xmlns:p14="http://schemas.microsoft.com/office/powerpoint/2010/main" val="116976327"/>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249</a:t>
            </a:fld>
            <a:endParaRPr lang="zh-CN" altLang="en-US"/>
          </a:p>
        </p:txBody>
      </p:sp>
    </p:spTree>
    <p:extLst>
      <p:ext uri="{BB962C8B-B14F-4D97-AF65-F5344CB8AC3E}">
        <p14:creationId xmlns:p14="http://schemas.microsoft.com/office/powerpoint/2010/main" val="2132133857"/>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B7B7E-2D3A-6604-48CE-9374FA670D6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A7E4ACB-CE7C-3106-817E-D53BE1653E75}"/>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C026FC91-01D4-082D-BC40-40624634E00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513FABC-F436-8416-4CDB-616F214A2550}"/>
              </a:ext>
            </a:extLst>
          </p:cNvPr>
          <p:cNvSpPr>
            <a:spLocks noGrp="1"/>
          </p:cNvSpPr>
          <p:nvPr>
            <p:ph type="sldNum" sz="quarter" idx="5"/>
          </p:nvPr>
        </p:nvSpPr>
        <p:spPr/>
        <p:txBody>
          <a:bodyPr/>
          <a:lstStyle/>
          <a:p>
            <a:fld id="{6D27E3F6-C3AC-4131-BD60-F31F1EE091B2}" type="slidenum">
              <a:rPr lang="zh-CN" altLang="en-US" smtClean="0"/>
              <a:t>250</a:t>
            </a:fld>
            <a:endParaRPr lang="zh-CN" altLang="en-US"/>
          </a:p>
        </p:txBody>
      </p:sp>
    </p:spTree>
    <p:extLst>
      <p:ext uri="{BB962C8B-B14F-4D97-AF65-F5344CB8AC3E}">
        <p14:creationId xmlns:p14="http://schemas.microsoft.com/office/powerpoint/2010/main" val="4133774276"/>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F5C3D-DD5B-C972-3FED-D0FD93882F1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6F3D0DA-D7EF-AB7F-9DD5-18C02A4FE8CD}"/>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C0615B4E-AB82-AF0E-3682-044FEFBDC72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F2F15F1-3A71-5496-80B9-FB90CD14DCE9}"/>
              </a:ext>
            </a:extLst>
          </p:cNvPr>
          <p:cNvSpPr>
            <a:spLocks noGrp="1"/>
          </p:cNvSpPr>
          <p:nvPr>
            <p:ph type="sldNum" sz="quarter" idx="5"/>
          </p:nvPr>
        </p:nvSpPr>
        <p:spPr/>
        <p:txBody>
          <a:bodyPr/>
          <a:lstStyle/>
          <a:p>
            <a:fld id="{6D27E3F6-C3AC-4131-BD60-F31F1EE091B2}" type="slidenum">
              <a:rPr lang="zh-CN" altLang="en-US" smtClean="0"/>
              <a:t>251</a:t>
            </a:fld>
            <a:endParaRPr lang="zh-CN" altLang="en-US"/>
          </a:p>
        </p:txBody>
      </p:sp>
    </p:spTree>
    <p:extLst>
      <p:ext uri="{BB962C8B-B14F-4D97-AF65-F5344CB8AC3E}">
        <p14:creationId xmlns:p14="http://schemas.microsoft.com/office/powerpoint/2010/main" val="3311340536"/>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253</a:t>
            </a:fld>
            <a:endParaRPr lang="zh-CN" altLang="en-US"/>
          </a:p>
        </p:txBody>
      </p:sp>
    </p:spTree>
    <p:extLst>
      <p:ext uri="{BB962C8B-B14F-4D97-AF65-F5344CB8AC3E}">
        <p14:creationId xmlns:p14="http://schemas.microsoft.com/office/powerpoint/2010/main" val="3830274130"/>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259</a:t>
            </a:fld>
            <a:endParaRPr lang="zh-CN" altLang="en-US"/>
          </a:p>
        </p:txBody>
      </p:sp>
    </p:spTree>
    <p:extLst>
      <p:ext uri="{BB962C8B-B14F-4D97-AF65-F5344CB8AC3E}">
        <p14:creationId xmlns:p14="http://schemas.microsoft.com/office/powerpoint/2010/main" val="1360128429"/>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水平轴表示时间</a:t>
            </a:r>
            <a:endParaRPr lang="en-US" altLang="zh-CN" dirty="0"/>
          </a:p>
          <a:p>
            <a:r>
              <a:rPr lang="zh-CN" altLang="en-US" dirty="0"/>
              <a:t>垂直轴表示工作量</a:t>
            </a:r>
            <a:endParaRPr lang="en-US" altLang="zh-CN" dirty="0"/>
          </a:p>
          <a:p>
            <a:r>
              <a:rPr lang="zh-CN" altLang="en-US" dirty="0"/>
              <a:t>两条不同的数据线：一条显示已完成的工作总量；另一条显示剩余的工作总量</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261</a:t>
            </a:fld>
            <a:endParaRPr lang="zh-CN" altLang="en-US"/>
          </a:p>
        </p:txBody>
      </p:sp>
    </p:spTree>
    <p:extLst>
      <p:ext uri="{BB962C8B-B14F-4D97-AF65-F5344CB8AC3E}">
        <p14:creationId xmlns:p14="http://schemas.microsoft.com/office/powerpoint/2010/main" val="2075536965"/>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265</a:t>
            </a:fld>
            <a:endParaRPr lang="zh-CN" altLang="en-US"/>
          </a:p>
        </p:txBody>
      </p:sp>
    </p:spTree>
    <p:extLst>
      <p:ext uri="{BB962C8B-B14F-4D97-AF65-F5344CB8AC3E}">
        <p14:creationId xmlns:p14="http://schemas.microsoft.com/office/powerpoint/2010/main" val="1041824142"/>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dirty="0"/>
              <a:t>64</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266</a:t>
            </a:fld>
            <a:endParaRPr lang="zh-CN" altLang="en-US"/>
          </a:p>
        </p:txBody>
      </p:sp>
    </p:spTree>
    <p:extLst>
      <p:ext uri="{BB962C8B-B14F-4D97-AF65-F5344CB8AC3E}">
        <p14:creationId xmlns:p14="http://schemas.microsoft.com/office/powerpoint/2010/main" val="1312822992"/>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270</a:t>
            </a:fld>
            <a:endParaRPr lang="zh-CN" altLang="en-US"/>
          </a:p>
        </p:txBody>
      </p:sp>
    </p:spTree>
    <p:extLst>
      <p:ext uri="{BB962C8B-B14F-4D97-AF65-F5344CB8AC3E}">
        <p14:creationId xmlns:p14="http://schemas.microsoft.com/office/powerpoint/2010/main" val="2826384609"/>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根据正态分布的统计规律：</a:t>
                </a:r>
              </a:p>
              <a:p>
                <a14:m>
                  <m:oMath xmlns:m="http://schemas.openxmlformats.org/officeDocument/2006/math">
                    <m:r>
                      <a:rPr lang="en-US" altLang="zh-CN" sz="1200" kern="1200">
                        <a:solidFill>
                          <a:schemeClr val="tx1"/>
                        </a:solidFill>
                        <a:latin typeface="Cambria Math" panose="02040503050406030204" pitchFamily="18" charset="0"/>
                        <a:ea typeface="+mn-ea"/>
                        <a:cs typeface="+mn-cs"/>
                      </a:rPr>
                      <m:t>±</m:t>
                    </m:r>
                    <m:r>
                      <a:rPr lang="en-US" altLang="zh-CN" sz="1200" i="0" kern="1200">
                        <a:solidFill>
                          <a:schemeClr val="tx1"/>
                        </a:solidFill>
                        <a:latin typeface="Cambria Math" panose="02040503050406030204" pitchFamily="18" charset="0"/>
                        <a:ea typeface="+mn-ea"/>
                        <a:cs typeface="+mn-cs"/>
                      </a:rPr>
                      <m:t>1</m:t>
                    </m:r>
                    <m:r>
                      <a:rPr lang="zh-CN" altLang="en-US" sz="1200" i="1" kern="1200">
                        <a:solidFill>
                          <a:schemeClr val="tx1"/>
                        </a:solidFill>
                        <a:latin typeface="Cambria Math" panose="02040503050406030204" pitchFamily="18" charset="0"/>
                        <a:ea typeface="+mn-ea"/>
                        <a:cs typeface="+mn-cs"/>
                      </a:rPr>
                      <m:t>𝜎</m:t>
                    </m:r>
                  </m:oMath>
                </a14:m>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个标准差）：覆盖约 </a:t>
                </a:r>
                <a:r>
                  <a:rPr lang="en-US" altLang="zh-CN" sz="1200" b="0" i="0" kern="1200" dirty="0">
                    <a:solidFill>
                      <a:schemeClr val="tx1"/>
                    </a:solidFill>
                    <a:effectLst/>
                    <a:latin typeface="+mn-lt"/>
                    <a:ea typeface="+mn-ea"/>
                    <a:cs typeface="+mn-cs"/>
                  </a:rPr>
                  <a:t>68.3% </a:t>
                </a:r>
                <a:r>
                  <a:rPr lang="zh-CN" altLang="en-US" sz="1200" b="0" i="0" kern="1200" dirty="0">
                    <a:solidFill>
                      <a:schemeClr val="tx1"/>
                    </a:solidFill>
                    <a:effectLst/>
                    <a:latin typeface="+mn-lt"/>
                    <a:ea typeface="+mn-ea"/>
                    <a:cs typeface="+mn-cs"/>
                  </a:rPr>
                  <a:t>的概率。</a:t>
                </a:r>
              </a:p>
              <a:p>
                <a14:m>
                  <m:oMath xmlns:m="http://schemas.openxmlformats.org/officeDocument/2006/math">
                    <m:r>
                      <a:rPr lang="en-US" altLang="zh-CN" sz="1200" kern="1200">
                        <a:solidFill>
                          <a:schemeClr val="tx1"/>
                        </a:solidFill>
                        <a:latin typeface="Cambria Math" panose="02040503050406030204" pitchFamily="18" charset="0"/>
                        <a:ea typeface="+mn-ea"/>
                        <a:cs typeface="+mn-cs"/>
                      </a:rPr>
                      <m:t>±</m:t>
                    </m:r>
                    <m:r>
                      <a:rPr lang="en-US" altLang="zh-CN" sz="1200" i="0" kern="1200">
                        <a:solidFill>
                          <a:schemeClr val="tx1"/>
                        </a:solidFill>
                        <a:latin typeface="Cambria Math" panose="02040503050406030204" pitchFamily="18" charset="0"/>
                        <a:ea typeface="+mn-ea"/>
                        <a:cs typeface="+mn-cs"/>
                      </a:rPr>
                      <m:t>2</m:t>
                    </m:r>
                    <m:r>
                      <a:rPr lang="zh-CN" altLang="en-US" sz="1200" i="1" kern="1200">
                        <a:solidFill>
                          <a:schemeClr val="tx1"/>
                        </a:solidFill>
                        <a:latin typeface="Cambria Math" panose="02040503050406030204" pitchFamily="18" charset="0"/>
                        <a:ea typeface="+mn-ea"/>
                        <a:cs typeface="+mn-cs"/>
                      </a:rPr>
                      <m:t>𝜎</m:t>
                    </m:r>
                  </m:oMath>
                </a14:m>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个标准差）：覆盖约 </a:t>
                </a:r>
                <a:r>
                  <a:rPr lang="en-US" altLang="zh-CN" sz="1200" b="0" i="0" kern="1200" dirty="0">
                    <a:solidFill>
                      <a:schemeClr val="tx1"/>
                    </a:solidFill>
                    <a:effectLst/>
                    <a:latin typeface="+mn-lt"/>
                    <a:ea typeface="+mn-ea"/>
                    <a:cs typeface="+mn-cs"/>
                  </a:rPr>
                  <a:t>95.5% </a:t>
                </a:r>
                <a:r>
                  <a:rPr lang="zh-CN" altLang="en-US" sz="1200" b="0" i="0" kern="1200" dirty="0">
                    <a:solidFill>
                      <a:schemeClr val="tx1"/>
                    </a:solidFill>
                    <a:effectLst/>
                    <a:latin typeface="+mn-lt"/>
                    <a:ea typeface="+mn-ea"/>
                    <a:cs typeface="+mn-cs"/>
                  </a:rPr>
                  <a:t>的概率。</a:t>
                </a:r>
              </a:p>
              <a:p>
                <a14:m>
                  <m:oMath xmlns:m="http://schemas.openxmlformats.org/officeDocument/2006/math">
                    <m:r>
                      <a:rPr lang="en-US" altLang="zh-CN" sz="1200" kern="1200">
                        <a:solidFill>
                          <a:schemeClr val="tx1"/>
                        </a:solidFill>
                        <a:latin typeface="Cambria Math" panose="02040503050406030204" pitchFamily="18" charset="0"/>
                        <a:ea typeface="+mn-ea"/>
                        <a:cs typeface="+mn-cs"/>
                      </a:rPr>
                      <m:t>±</m:t>
                    </m:r>
                    <m:r>
                      <a:rPr lang="en-US" altLang="zh-CN" sz="1200" i="0" kern="1200">
                        <a:solidFill>
                          <a:schemeClr val="tx1"/>
                        </a:solidFill>
                        <a:latin typeface="Cambria Math" panose="02040503050406030204" pitchFamily="18" charset="0"/>
                        <a:ea typeface="+mn-ea"/>
                        <a:cs typeface="+mn-cs"/>
                      </a:rPr>
                      <m:t>3</m:t>
                    </m:r>
                    <m:r>
                      <a:rPr lang="zh-CN" altLang="en-US" sz="1200" i="1" kern="1200">
                        <a:solidFill>
                          <a:schemeClr val="tx1"/>
                        </a:solidFill>
                        <a:latin typeface="Cambria Math" panose="02040503050406030204" pitchFamily="18" charset="0"/>
                        <a:ea typeface="+mn-ea"/>
                        <a:cs typeface="+mn-cs"/>
                      </a:rPr>
                      <m:t>𝜎</m:t>
                    </m:r>
                  </m:oMath>
                </a14:m>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3</a:t>
                </a:r>
                <a:r>
                  <a:rPr lang="zh-CN" altLang="en-US" sz="1200" b="0" i="0" kern="1200" dirty="0">
                    <a:solidFill>
                      <a:schemeClr val="tx1"/>
                    </a:solidFill>
                    <a:effectLst/>
                    <a:latin typeface="+mn-lt"/>
                    <a:ea typeface="+mn-ea"/>
                    <a:cs typeface="+mn-cs"/>
                  </a:rPr>
                  <a:t>个标准差）：覆盖约 </a:t>
                </a:r>
                <a:r>
                  <a:rPr lang="en-US" altLang="zh-CN" sz="1200" b="0" i="0" kern="1200" dirty="0">
                    <a:solidFill>
                      <a:schemeClr val="tx1"/>
                    </a:solidFill>
                    <a:effectLst/>
                    <a:latin typeface="+mn-lt"/>
                    <a:ea typeface="+mn-ea"/>
                    <a:cs typeface="+mn-cs"/>
                  </a:rPr>
                  <a:t>99.7% </a:t>
                </a:r>
                <a:r>
                  <a:rPr lang="zh-CN" altLang="en-US" sz="1200" b="0" i="0" kern="1200" dirty="0">
                    <a:solidFill>
                      <a:schemeClr val="tx1"/>
                    </a:solidFill>
                    <a:effectLst/>
                    <a:latin typeface="+mn-lt"/>
                    <a:ea typeface="+mn-ea"/>
                    <a:cs typeface="+mn-cs"/>
                  </a:rPr>
                  <a:t>的概率。</a:t>
                </a:r>
              </a:p>
              <a:p>
                <a:endParaRPr lang="zh-CN" altLang="en-US" dirty="0"/>
              </a:p>
            </p:txBody>
          </p:sp>
        </mc:Choice>
        <mc:Fallback xmlns="">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根据正态分布的统计规律：</a:t>
                </a:r>
              </a:p>
              <a:p>
                <a:r>
                  <a:rPr lang="en-US" altLang="zh-CN" sz="1200" i="0" kern="1200">
                    <a:solidFill>
                      <a:schemeClr val="tx1"/>
                    </a:solidFill>
                    <a:latin typeface="+mn-lt"/>
                    <a:ea typeface="+mn-ea"/>
                    <a:cs typeface="+mn-cs"/>
                  </a:rPr>
                  <a:t>±1</a:t>
                </a:r>
                <a:r>
                  <a:rPr lang="zh-CN" altLang="en-US" sz="1200" i="0" kern="1200">
                    <a:solidFill>
                      <a:schemeClr val="tx1"/>
                    </a:solidFill>
                    <a:latin typeface="+mn-lt"/>
                    <a:ea typeface="+mn-ea"/>
                    <a:cs typeface="+mn-cs"/>
                  </a:rPr>
                  <a:t>𝜎</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个标准差）：覆盖约 </a:t>
                </a:r>
                <a:r>
                  <a:rPr lang="en-US" altLang="zh-CN" sz="1200" b="0" i="0" kern="1200" dirty="0">
                    <a:solidFill>
                      <a:schemeClr val="tx1"/>
                    </a:solidFill>
                    <a:effectLst/>
                    <a:latin typeface="+mn-lt"/>
                    <a:ea typeface="+mn-ea"/>
                    <a:cs typeface="+mn-cs"/>
                  </a:rPr>
                  <a:t>68.3% </a:t>
                </a:r>
                <a:r>
                  <a:rPr lang="zh-CN" altLang="en-US" sz="1200" b="0" i="0" kern="1200" dirty="0">
                    <a:solidFill>
                      <a:schemeClr val="tx1"/>
                    </a:solidFill>
                    <a:effectLst/>
                    <a:latin typeface="+mn-lt"/>
                    <a:ea typeface="+mn-ea"/>
                    <a:cs typeface="+mn-cs"/>
                  </a:rPr>
                  <a:t>的概率。</a:t>
                </a:r>
              </a:p>
              <a:p>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𝜎</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个标准差）：覆盖约 </a:t>
                </a:r>
                <a:r>
                  <a:rPr lang="en-US" altLang="zh-CN" sz="1200" b="0" i="0" kern="1200" dirty="0">
                    <a:solidFill>
                      <a:schemeClr val="tx1"/>
                    </a:solidFill>
                    <a:effectLst/>
                    <a:latin typeface="+mn-lt"/>
                    <a:ea typeface="+mn-ea"/>
                    <a:cs typeface="+mn-cs"/>
                  </a:rPr>
                  <a:t>95.5% </a:t>
                </a:r>
                <a:r>
                  <a:rPr lang="zh-CN" altLang="en-US" sz="1200" b="0" i="0" kern="1200" dirty="0">
                    <a:solidFill>
                      <a:schemeClr val="tx1"/>
                    </a:solidFill>
                    <a:effectLst/>
                    <a:latin typeface="+mn-lt"/>
                    <a:ea typeface="+mn-ea"/>
                    <a:cs typeface="+mn-cs"/>
                  </a:rPr>
                  <a:t>的概率。</a:t>
                </a:r>
              </a:p>
              <a:p>
                <a:r>
                  <a:rPr lang="en-US" altLang="zh-CN" sz="1200" i="0" kern="1200">
                    <a:solidFill>
                      <a:schemeClr val="tx1"/>
                    </a:solidFill>
                    <a:latin typeface="+mn-lt"/>
                    <a:ea typeface="+mn-ea"/>
                    <a:cs typeface="+mn-cs"/>
                  </a:rPr>
                  <a:t>±3</a:t>
                </a:r>
                <a:r>
                  <a:rPr lang="zh-CN" altLang="en-US" sz="1200" i="0" kern="1200">
                    <a:solidFill>
                      <a:schemeClr val="tx1"/>
                    </a:solidFill>
                    <a:latin typeface="+mn-lt"/>
                    <a:ea typeface="+mn-ea"/>
                    <a:cs typeface="+mn-cs"/>
                  </a:rPr>
                  <a:t>𝜎</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3</a:t>
                </a:r>
                <a:r>
                  <a:rPr lang="zh-CN" altLang="en-US" sz="1200" b="0" i="0" kern="1200" dirty="0">
                    <a:solidFill>
                      <a:schemeClr val="tx1"/>
                    </a:solidFill>
                    <a:effectLst/>
                    <a:latin typeface="+mn-lt"/>
                    <a:ea typeface="+mn-ea"/>
                    <a:cs typeface="+mn-cs"/>
                  </a:rPr>
                  <a:t>个标准差）：覆盖约 </a:t>
                </a:r>
                <a:r>
                  <a:rPr lang="en-US" altLang="zh-CN" sz="1200" b="0" i="0" kern="1200" dirty="0">
                    <a:solidFill>
                      <a:schemeClr val="tx1"/>
                    </a:solidFill>
                    <a:effectLst/>
                    <a:latin typeface="+mn-lt"/>
                    <a:ea typeface="+mn-ea"/>
                    <a:cs typeface="+mn-cs"/>
                  </a:rPr>
                  <a:t>99.7% </a:t>
                </a:r>
                <a:r>
                  <a:rPr lang="zh-CN" altLang="en-US" sz="1200" b="0" i="0" kern="1200" dirty="0">
                    <a:solidFill>
                      <a:schemeClr val="tx1"/>
                    </a:solidFill>
                    <a:effectLst/>
                    <a:latin typeface="+mn-lt"/>
                    <a:ea typeface="+mn-ea"/>
                    <a:cs typeface="+mn-cs"/>
                  </a:rPr>
                  <a:t>的概率。</a:t>
                </a:r>
              </a:p>
              <a:p>
                <a:endParaRPr lang="zh-CN" altLang="en-US" dirty="0"/>
              </a:p>
            </p:txBody>
          </p:sp>
        </mc:Fallback>
      </mc:AlternateContent>
      <p:sp>
        <p:nvSpPr>
          <p:cNvPr id="4" name="灯片编号占位符 3"/>
          <p:cNvSpPr>
            <a:spLocks noGrp="1"/>
          </p:cNvSpPr>
          <p:nvPr>
            <p:ph type="sldNum" sz="quarter" idx="5"/>
          </p:nvPr>
        </p:nvSpPr>
        <p:spPr/>
        <p:txBody>
          <a:bodyPr/>
          <a:lstStyle/>
          <a:p>
            <a:fld id="{6D27E3F6-C3AC-4131-BD60-F31F1EE091B2}" type="slidenum">
              <a:rPr lang="zh-CN" altLang="en-US" smtClean="0"/>
              <a:t>272</a:t>
            </a:fld>
            <a:endParaRPr lang="zh-CN" altLang="en-US"/>
          </a:p>
        </p:txBody>
      </p:sp>
    </p:spTree>
    <p:extLst>
      <p:ext uri="{BB962C8B-B14F-4D97-AF65-F5344CB8AC3E}">
        <p14:creationId xmlns:p14="http://schemas.microsoft.com/office/powerpoint/2010/main" val="3599008787"/>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EFC9B-787E-C9A8-84D2-7FAF292CEF9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8610CFC-73C8-3AB3-E997-74E793A17822}"/>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CE2A1103-32F2-709A-D429-9C1579DD1B5F}"/>
              </a:ext>
            </a:extLst>
          </p:cNvPr>
          <p:cNvSpPr>
            <a:spLocks noGrp="1"/>
          </p:cNvSpPr>
          <p:nvPr>
            <p:ph type="body" idx="1"/>
          </p:nvPr>
        </p:nvSpPr>
        <p:spPr/>
        <p:txBody>
          <a:bodyPr/>
          <a:lstStyle/>
          <a:p>
            <a:r>
              <a:rPr lang="zh-CN" altLang="en-US"/>
              <a:t>如果总浮动时间 </a:t>
            </a:r>
            <a:r>
              <a:rPr lang="en-US" altLang="zh-CN"/>
              <a:t>&gt; 0</a:t>
            </a:r>
            <a:r>
              <a:rPr lang="zh-CN" altLang="en-US"/>
              <a:t>，则说明该任务不在关键路径上，可以延迟而不影响项目工期</a:t>
            </a:r>
          </a:p>
        </p:txBody>
      </p:sp>
      <p:sp>
        <p:nvSpPr>
          <p:cNvPr id="4" name="灯片编号占位符 3">
            <a:extLst>
              <a:ext uri="{FF2B5EF4-FFF2-40B4-BE49-F238E27FC236}">
                <a16:creationId xmlns:a16="http://schemas.microsoft.com/office/drawing/2014/main" id="{D7C86BC0-5F69-2A26-27F4-41C4C5E21DC6}"/>
              </a:ext>
            </a:extLst>
          </p:cNvPr>
          <p:cNvSpPr>
            <a:spLocks noGrp="1"/>
          </p:cNvSpPr>
          <p:nvPr>
            <p:ph type="sldNum" sz="quarter" idx="5"/>
          </p:nvPr>
        </p:nvSpPr>
        <p:spPr/>
        <p:txBody>
          <a:bodyPr/>
          <a:lstStyle/>
          <a:p>
            <a:fld id="{6D27E3F6-C3AC-4131-BD60-F31F1EE091B2}" type="slidenum">
              <a:rPr lang="zh-CN" altLang="en-US" smtClean="0"/>
              <a:t>276</a:t>
            </a:fld>
            <a:endParaRPr lang="zh-CN" altLang="en-US"/>
          </a:p>
        </p:txBody>
      </p:sp>
    </p:spTree>
    <p:extLst>
      <p:ext uri="{BB962C8B-B14F-4D97-AF65-F5344CB8AC3E}">
        <p14:creationId xmlns:p14="http://schemas.microsoft.com/office/powerpoint/2010/main" val="800507522"/>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0E879-B3EB-FD8C-9F3F-55FB396BA77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58C2B4E-450D-6145-96A3-73A20BD94530}"/>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B3EAEB7B-A35C-1B8B-E584-8F9A4C044FA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DF1F56A-C2C3-1E13-F3EB-56479329AE8B}"/>
              </a:ext>
            </a:extLst>
          </p:cNvPr>
          <p:cNvSpPr>
            <a:spLocks noGrp="1"/>
          </p:cNvSpPr>
          <p:nvPr>
            <p:ph type="sldNum" sz="quarter" idx="5"/>
          </p:nvPr>
        </p:nvSpPr>
        <p:spPr/>
        <p:txBody>
          <a:bodyPr/>
          <a:lstStyle/>
          <a:p>
            <a:fld id="{6D27E3F6-C3AC-4131-BD60-F31F1EE091B2}" type="slidenum">
              <a:rPr lang="zh-CN" altLang="en-US" smtClean="0"/>
              <a:t>278</a:t>
            </a:fld>
            <a:endParaRPr lang="zh-CN" altLang="en-US"/>
          </a:p>
        </p:txBody>
      </p:sp>
    </p:spTree>
    <p:extLst>
      <p:ext uri="{BB962C8B-B14F-4D97-AF65-F5344CB8AC3E}">
        <p14:creationId xmlns:p14="http://schemas.microsoft.com/office/powerpoint/2010/main" val="361889002"/>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279</a:t>
            </a:fld>
            <a:endParaRPr lang="zh-CN" altLang="en-US"/>
          </a:p>
        </p:txBody>
      </p:sp>
    </p:spTree>
    <p:extLst>
      <p:ext uri="{BB962C8B-B14F-4D97-AF65-F5344CB8AC3E}">
        <p14:creationId xmlns:p14="http://schemas.microsoft.com/office/powerpoint/2010/main" val="3531428726"/>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默认项目必须按计划完工，不允许无故拖延</a:t>
            </a:r>
            <a:endParaRPr lang="en-US" altLang="zh-CN" dirty="0"/>
          </a:p>
          <a:p>
            <a:r>
              <a:rPr lang="zh-CN" altLang="en-US" dirty="0"/>
              <a:t>倒推的规则：以“最早完工时间”作为“最晚期限”</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280</a:t>
            </a:fld>
            <a:endParaRPr lang="zh-CN" altLang="en-US"/>
          </a:p>
        </p:txBody>
      </p:sp>
    </p:spTree>
    <p:extLst>
      <p:ext uri="{BB962C8B-B14F-4D97-AF65-F5344CB8AC3E}">
        <p14:creationId xmlns:p14="http://schemas.microsoft.com/office/powerpoint/2010/main" val="3718913442"/>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慢工出细活</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287</a:t>
            </a:fld>
            <a:endParaRPr lang="zh-CN" altLang="en-US"/>
          </a:p>
        </p:txBody>
      </p:sp>
    </p:spTree>
    <p:extLst>
      <p:ext uri="{BB962C8B-B14F-4D97-AF65-F5344CB8AC3E}">
        <p14:creationId xmlns:p14="http://schemas.microsoft.com/office/powerpoint/2010/main" val="344205276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压缩</a:t>
            </a:r>
            <a:r>
              <a:rPr lang="en-US" altLang="zh-CN" dirty="0"/>
              <a:t>C</a:t>
            </a:r>
            <a:r>
              <a:rPr lang="zh-CN" altLang="en-US" dirty="0"/>
              <a:t>的成本低</a:t>
            </a:r>
            <a:r>
              <a:rPr lang="en-US" altLang="zh-CN" dirty="0"/>
              <a:t>-0.5</a:t>
            </a:r>
          </a:p>
          <a:p>
            <a:r>
              <a:rPr lang="zh-CN" altLang="en-US" dirty="0"/>
              <a:t>压缩</a:t>
            </a:r>
            <a:r>
              <a:rPr lang="en-US" altLang="zh-CN" dirty="0"/>
              <a:t>D</a:t>
            </a:r>
            <a:r>
              <a:rPr lang="zh-CN" altLang="en-US" dirty="0"/>
              <a:t>的成本高</a:t>
            </a:r>
            <a:r>
              <a:rPr lang="en-US" altLang="zh-CN" dirty="0"/>
              <a:t>-0.6</a:t>
            </a:r>
          </a:p>
          <a:p>
            <a:endParaRPr lang="en-US" altLang="zh-CN" dirty="0"/>
          </a:p>
          <a:p>
            <a:r>
              <a:rPr lang="en-US" altLang="zh-CN" dirty="0"/>
              <a:t>16</a:t>
            </a:r>
            <a:r>
              <a:rPr lang="zh-CN" altLang="en-US" dirty="0"/>
              <a:t>周：</a:t>
            </a:r>
            <a:r>
              <a:rPr lang="en-US" altLang="zh-CN" dirty="0"/>
              <a:t>C</a:t>
            </a:r>
            <a:r>
              <a:rPr lang="zh-CN" altLang="en-US" dirty="0"/>
              <a:t>已经压缩到</a:t>
            </a:r>
            <a:r>
              <a:rPr lang="en-US" altLang="zh-CN" dirty="0"/>
              <a:t>9</a:t>
            </a:r>
            <a:r>
              <a:rPr lang="zh-CN" altLang="en-US" dirty="0"/>
              <a:t>，无法再压缩，只能压缩</a:t>
            </a:r>
            <a:r>
              <a:rPr lang="en-US" altLang="zh-CN" dirty="0"/>
              <a:t>D</a:t>
            </a:r>
          </a:p>
          <a:p>
            <a:endParaRPr lang="en-US" altLang="zh-CN" dirty="0"/>
          </a:p>
          <a:p>
            <a:r>
              <a:rPr lang="en-US" altLang="zh-CN" dirty="0"/>
              <a:t>15</a:t>
            </a:r>
            <a:r>
              <a:rPr lang="zh-CN" altLang="en-US" dirty="0"/>
              <a:t>周：</a:t>
            </a:r>
            <a:r>
              <a:rPr lang="en-US" altLang="zh-CN" dirty="0"/>
              <a:t>AB</a:t>
            </a:r>
            <a:r>
              <a:rPr lang="zh-CN" altLang="en-US" dirty="0"/>
              <a:t>也要压缩。</a:t>
            </a:r>
            <a:endParaRPr lang="en-US" altLang="zh-CN" dirty="0"/>
          </a:p>
          <a:p>
            <a:r>
              <a:rPr lang="zh-CN" altLang="en-US" dirty="0"/>
              <a:t>关键路径会变</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290</a:t>
            </a:fld>
            <a:endParaRPr lang="zh-CN" altLang="en-US"/>
          </a:p>
        </p:txBody>
      </p:sp>
    </p:spTree>
    <p:extLst>
      <p:ext uri="{BB962C8B-B14F-4D97-AF65-F5344CB8AC3E}">
        <p14:creationId xmlns:p14="http://schemas.microsoft.com/office/powerpoint/2010/main" val="1001247884"/>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工期仍然为</a:t>
            </a:r>
            <a:r>
              <a:rPr lang="en-US" altLang="zh-CN" dirty="0"/>
              <a:t>5</a:t>
            </a:r>
            <a:r>
              <a:rPr lang="zh-CN" altLang="en-US" dirty="0"/>
              <a:t>天</a:t>
            </a:r>
            <a:endParaRPr lang="en-US" altLang="zh-CN" dirty="0"/>
          </a:p>
          <a:p>
            <a:r>
              <a:rPr lang="zh-CN" altLang="en-US" dirty="0"/>
              <a:t>但是人数少了</a:t>
            </a:r>
            <a:r>
              <a:rPr lang="en-US" altLang="zh-CN" dirty="0"/>
              <a:t>2</a:t>
            </a:r>
            <a:r>
              <a:rPr lang="zh-CN" altLang="en-US" dirty="0"/>
              <a:t>人</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294</a:t>
            </a:fld>
            <a:endParaRPr lang="zh-CN" altLang="en-US"/>
          </a:p>
        </p:txBody>
      </p:sp>
    </p:spTree>
    <p:extLst>
      <p:ext uri="{BB962C8B-B14F-4D97-AF65-F5344CB8AC3E}">
        <p14:creationId xmlns:p14="http://schemas.microsoft.com/office/powerpoint/2010/main" val="2904211252"/>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如果总浮动时间 </a:t>
            </a:r>
            <a:r>
              <a:rPr lang="en-US" altLang="zh-CN"/>
              <a:t>&gt; 0</a:t>
            </a:r>
            <a:r>
              <a:rPr lang="zh-CN" altLang="en-US"/>
              <a:t>，则说明该任务不在关键路径上，可以延迟而不影响项目工期</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296</a:t>
            </a:fld>
            <a:endParaRPr lang="zh-CN" altLang="en-US"/>
          </a:p>
        </p:txBody>
      </p:sp>
    </p:spTree>
    <p:extLst>
      <p:ext uri="{BB962C8B-B14F-4D97-AF65-F5344CB8AC3E}">
        <p14:creationId xmlns:p14="http://schemas.microsoft.com/office/powerpoint/2010/main" val="1188644560"/>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D</a:t>
            </a:r>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297</a:t>
            </a:fld>
            <a:endParaRPr lang="zh-CN" altLang="en-US"/>
          </a:p>
        </p:txBody>
      </p:sp>
    </p:spTree>
    <p:extLst>
      <p:ext uri="{BB962C8B-B14F-4D97-AF65-F5344CB8AC3E}">
        <p14:creationId xmlns:p14="http://schemas.microsoft.com/office/powerpoint/2010/main" val="1774958165"/>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ACDGH</a:t>
            </a:r>
          </a:p>
          <a:p>
            <a:r>
              <a:rPr lang="en-US" altLang="zh-CN"/>
              <a:t>44</a:t>
            </a:r>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298</a:t>
            </a:fld>
            <a:endParaRPr lang="zh-CN" altLang="en-US"/>
          </a:p>
        </p:txBody>
      </p:sp>
    </p:spTree>
    <p:extLst>
      <p:ext uri="{BB962C8B-B14F-4D97-AF65-F5344CB8AC3E}">
        <p14:creationId xmlns:p14="http://schemas.microsoft.com/office/powerpoint/2010/main" val="928120056"/>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chemeClr val="bg1"/>
                </a:solidFill>
              </a:rPr>
              <a:t>经过双方确认、可以量化和验证</a:t>
            </a:r>
          </a:p>
          <a:p>
            <a:endParaRPr lang="en-US" altLang="zh-CN" dirty="0"/>
          </a:p>
          <a:p>
            <a:r>
              <a:rPr lang="zh-CN" altLang="en-US" dirty="0"/>
              <a:t>体验</a:t>
            </a:r>
            <a:r>
              <a:rPr lang="en-US" altLang="zh-CN" dirty="0"/>
              <a:t>/</a:t>
            </a:r>
            <a:r>
              <a:rPr lang="zh-CN" altLang="en-US" dirty="0"/>
              <a:t>期望</a:t>
            </a:r>
            <a:r>
              <a:rPr lang="en-US" altLang="zh-CN" dirty="0"/>
              <a:t>/</a:t>
            </a:r>
            <a:r>
              <a:rPr lang="zh-CN" altLang="en-US" dirty="0"/>
              <a:t>惯例</a:t>
            </a:r>
            <a:r>
              <a:rPr lang="en-US" altLang="zh-CN" dirty="0"/>
              <a:t>/</a:t>
            </a:r>
            <a:r>
              <a:rPr lang="zh-CN" altLang="en-US" dirty="0"/>
              <a:t>公知</a:t>
            </a:r>
            <a:endParaRPr lang="en-US" altLang="zh-CN" dirty="0"/>
          </a:p>
          <a:p>
            <a:endParaRPr lang="en-US" altLang="zh-CN" dirty="0"/>
          </a:p>
          <a:p>
            <a:r>
              <a:rPr lang="zh-CN" altLang="en-US" dirty="0"/>
              <a:t>质量形成于产品或者服务的开发过程中，而不是事后的检查（测试）把关</a:t>
            </a:r>
          </a:p>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301</a:t>
            </a:fld>
            <a:endParaRPr lang="zh-CN" altLang="en-US"/>
          </a:p>
        </p:txBody>
      </p:sp>
    </p:spTree>
    <p:extLst>
      <p:ext uri="{BB962C8B-B14F-4D97-AF65-F5344CB8AC3E}">
        <p14:creationId xmlns:p14="http://schemas.microsoft.com/office/powerpoint/2010/main" val="2316966073"/>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srgbClr val="FFFF00"/>
                </a:solidFill>
              </a:rPr>
              <a:t>预防成本 </a:t>
            </a:r>
            <a:r>
              <a:rPr lang="en-US" altLang="zh-CN" dirty="0">
                <a:solidFill>
                  <a:srgbClr val="FFFF00"/>
                </a:solidFill>
              </a:rPr>
              <a:t>&gt; </a:t>
            </a:r>
            <a:r>
              <a:rPr lang="zh-CN" altLang="en-US" dirty="0">
                <a:solidFill>
                  <a:srgbClr val="FFFF00"/>
                </a:solidFill>
              </a:rPr>
              <a:t>缺陷成本</a:t>
            </a:r>
            <a:endParaRPr lang="en-US" altLang="zh-CN" dirty="0">
              <a:solidFill>
                <a:srgbClr val="FFFF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srgbClr val="FFFF00"/>
                </a:solidFill>
              </a:rPr>
              <a:t>预防成本，在专业领域常被称为“一致性成本”。这是你为了“第一次就把事情做对”而主动投入的钱。这部分钱花得越多，后面的损失通常就越少</a:t>
            </a:r>
            <a:endParaRPr lang="en-US" altLang="zh-CN" dirty="0">
              <a:solidFill>
                <a:srgbClr val="FFFF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srgbClr val="FFFF00"/>
                </a:solidFill>
              </a:rPr>
              <a:t>磨刀不误砍柴工”里的磨刀钱</a:t>
            </a:r>
            <a:endParaRPr lang="en-US" altLang="zh-CN" dirty="0">
              <a:solidFill>
                <a:srgbClr val="FFFF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srgbClr val="FFFF00"/>
                </a:solidFill>
              </a:rPr>
              <a:t>评估成本：这就是“体检费”，虽然不直接治病，但能让你发现隐患。</a:t>
            </a:r>
            <a:endParaRPr lang="en-US" altLang="zh-CN" dirty="0">
              <a:solidFill>
                <a:srgbClr val="FFFF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solidFill>
                <a:srgbClr val="FFFF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srgbClr val="FFFF00"/>
                </a:solidFill>
              </a:rPr>
              <a:t>没把事情做对”而被迫赔进去的钱</a:t>
            </a:r>
            <a:endParaRPr lang="en-US" altLang="zh-CN" dirty="0">
              <a:solidFill>
                <a:srgbClr val="FFFF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solidFill>
                <a:srgbClr val="FFFF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srgbClr val="FFFF00"/>
                </a:solidFill>
              </a:rPr>
              <a:t>内测</a:t>
            </a:r>
            <a:r>
              <a:rPr lang="en-US" altLang="zh-CN" dirty="0">
                <a:solidFill>
                  <a:srgbClr val="FFFF00"/>
                </a:solidFill>
              </a:rPr>
              <a:t>/</a:t>
            </a:r>
            <a:r>
              <a:rPr lang="zh-CN" altLang="en-US" dirty="0">
                <a:solidFill>
                  <a:srgbClr val="FFFF00"/>
                </a:solidFill>
              </a:rPr>
              <a:t>未发布</a:t>
            </a:r>
            <a:endParaRPr lang="en-US" altLang="zh-CN" dirty="0">
              <a:solidFill>
                <a:srgbClr val="FFFF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srgbClr val="FFFF00"/>
                </a:solidFill>
              </a:rPr>
              <a:t>运营</a:t>
            </a:r>
            <a:r>
              <a:rPr lang="en-US" altLang="zh-CN" dirty="0">
                <a:solidFill>
                  <a:srgbClr val="FFFF00"/>
                </a:solidFill>
              </a:rPr>
              <a:t>/</a:t>
            </a:r>
            <a:r>
              <a:rPr lang="zh-CN" altLang="en-US" dirty="0">
                <a:solidFill>
                  <a:srgbClr val="FFFF00"/>
                </a:solidFill>
              </a:rPr>
              <a:t>已发布</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302</a:t>
            </a:fld>
            <a:endParaRPr lang="zh-CN" altLang="en-US"/>
          </a:p>
        </p:txBody>
      </p:sp>
    </p:spTree>
    <p:extLst>
      <p:ext uri="{BB962C8B-B14F-4D97-AF65-F5344CB8AC3E}">
        <p14:creationId xmlns:p14="http://schemas.microsoft.com/office/powerpoint/2010/main" val="2513959769"/>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504C5-5FCA-F074-797F-5FF73FF878E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E63DD7A-4A49-A970-970A-BCF21F2661E3}"/>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049CA005-5282-19E1-2939-61513E51889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防患于未然</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培训费用、过程改进、需求评审、设计评审与架构优化</a:t>
            </a:r>
          </a:p>
          <a:p>
            <a:endParaRPr lang="en-US" altLang="zh-CN" dirty="0"/>
          </a:p>
          <a:p>
            <a:endParaRPr lang="zh-CN" altLang="en-US" dirty="0"/>
          </a:p>
        </p:txBody>
      </p:sp>
      <p:sp>
        <p:nvSpPr>
          <p:cNvPr id="4" name="灯片编号占位符 3">
            <a:extLst>
              <a:ext uri="{FF2B5EF4-FFF2-40B4-BE49-F238E27FC236}">
                <a16:creationId xmlns:a16="http://schemas.microsoft.com/office/drawing/2014/main" id="{3D694379-3564-78CF-73B5-2C715DC570BF}"/>
              </a:ext>
            </a:extLst>
          </p:cNvPr>
          <p:cNvSpPr>
            <a:spLocks noGrp="1"/>
          </p:cNvSpPr>
          <p:nvPr>
            <p:ph type="sldNum" sz="quarter" idx="5"/>
          </p:nvPr>
        </p:nvSpPr>
        <p:spPr/>
        <p:txBody>
          <a:bodyPr/>
          <a:lstStyle/>
          <a:p>
            <a:fld id="{6D27E3F6-C3AC-4131-BD60-F31F1EE091B2}" type="slidenum">
              <a:rPr lang="zh-CN" altLang="en-US" smtClean="0"/>
              <a:t>304</a:t>
            </a:fld>
            <a:endParaRPr lang="zh-CN" altLang="en-US"/>
          </a:p>
        </p:txBody>
      </p:sp>
    </p:spTree>
    <p:extLst>
      <p:ext uri="{BB962C8B-B14F-4D97-AF65-F5344CB8AC3E}">
        <p14:creationId xmlns:p14="http://schemas.microsoft.com/office/powerpoint/2010/main" val="1113851866"/>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9816D-F097-F051-7933-FC9E463525B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9291CD0-FB3E-0C2B-C0A8-53224A95DFE2}"/>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8410FD77-6E81-F941-AD92-A6BE4039012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BD0B26A-E37A-3633-2A62-F62793ABBC94}"/>
              </a:ext>
            </a:extLst>
          </p:cNvPr>
          <p:cNvSpPr>
            <a:spLocks noGrp="1"/>
          </p:cNvSpPr>
          <p:nvPr>
            <p:ph type="sldNum" sz="quarter" idx="5"/>
          </p:nvPr>
        </p:nvSpPr>
        <p:spPr/>
        <p:txBody>
          <a:bodyPr/>
          <a:lstStyle/>
          <a:p>
            <a:fld id="{6D27E3F6-C3AC-4131-BD60-F31F1EE091B2}" type="slidenum">
              <a:rPr lang="zh-CN" altLang="en-US" smtClean="0"/>
              <a:t>305</a:t>
            </a:fld>
            <a:endParaRPr lang="zh-CN" altLang="en-US"/>
          </a:p>
        </p:txBody>
      </p:sp>
    </p:spTree>
    <p:extLst>
      <p:ext uri="{BB962C8B-B14F-4D97-AF65-F5344CB8AC3E}">
        <p14:creationId xmlns:p14="http://schemas.microsoft.com/office/powerpoint/2010/main" val="2575415417"/>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高质量的软件是通过不断的系统测试实现 </a:t>
            </a:r>
            <a:r>
              <a:rPr lang="en-US" altLang="zh-CN" dirty="0"/>
              <a:t>×</a:t>
            </a:r>
          </a:p>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306</a:t>
            </a:fld>
            <a:endParaRPr lang="zh-CN" altLang="en-US"/>
          </a:p>
        </p:txBody>
      </p:sp>
    </p:spTree>
    <p:extLst>
      <p:ext uri="{BB962C8B-B14F-4D97-AF65-F5344CB8AC3E}">
        <p14:creationId xmlns:p14="http://schemas.microsoft.com/office/powerpoint/2010/main" val="921781659"/>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如果一个产品做的很成功，但是过程中消耗了大量的资源，那也不是一个成功的产品</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307</a:t>
            </a:fld>
            <a:endParaRPr lang="zh-CN" altLang="en-US"/>
          </a:p>
        </p:txBody>
      </p:sp>
    </p:spTree>
    <p:extLst>
      <p:ext uri="{BB962C8B-B14F-4D97-AF65-F5344CB8AC3E}">
        <p14:creationId xmlns:p14="http://schemas.microsoft.com/office/powerpoint/2010/main" val="1946939787"/>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自保含</a:t>
            </a:r>
            <a:endParaRPr lang="en-US" altLang="zh-CN" dirty="0"/>
          </a:p>
          <a:p>
            <a:r>
              <a:rPr lang="en-US" altLang="zh-CN" dirty="0"/>
              <a:t>Reliability</a:t>
            </a:r>
            <a:r>
              <a:rPr lang="zh-CN" altLang="en-US" dirty="0"/>
              <a:t>（可靠性）分支：防错与隔离</a:t>
            </a:r>
            <a:endParaRPr lang="en-US" altLang="zh-CN" dirty="0"/>
          </a:p>
          <a:p>
            <a:r>
              <a:rPr lang="en-US" altLang="zh-CN" dirty="0"/>
              <a:t>Portability</a:t>
            </a:r>
            <a:r>
              <a:rPr lang="zh-CN" altLang="en-US" dirty="0"/>
              <a:t>（可移植性）分支：易于搬迁</a:t>
            </a:r>
            <a:endParaRPr lang="en-US" altLang="zh-CN" dirty="0"/>
          </a:p>
          <a:p>
            <a:endParaRPr lang="en-US" altLang="zh-CN" dirty="0"/>
          </a:p>
          <a:p>
            <a:r>
              <a:rPr lang="en-US" altLang="zh-CN" sz="1200" dirty="0">
                <a:solidFill>
                  <a:srgbClr val="FFFF00"/>
                </a:solidFill>
              </a:rPr>
              <a:t>Accessibility</a:t>
            </a:r>
          </a:p>
          <a:p>
            <a:r>
              <a:rPr lang="en-US" altLang="zh-CN" sz="1200" b="0" i="0" kern="1200" dirty="0">
                <a:solidFill>
                  <a:schemeClr val="tx1"/>
                </a:solidFill>
                <a:effectLst/>
                <a:latin typeface="+mn-lt"/>
                <a:ea typeface="+mn-ea"/>
                <a:cs typeface="+mn-cs"/>
              </a:rPr>
              <a:t>Efficiency</a:t>
            </a:r>
            <a:r>
              <a:rPr lang="zh-CN" altLang="en-US" sz="1200" b="0" i="0" kern="1200" dirty="0">
                <a:solidFill>
                  <a:schemeClr val="tx1"/>
                </a:solidFill>
                <a:effectLst/>
                <a:latin typeface="+mn-lt"/>
                <a:ea typeface="+mn-ea"/>
                <a:cs typeface="+mn-cs"/>
              </a:rPr>
              <a:t>（效率）”分支下</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核心含义：存取性 </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访问效率</a:t>
            </a:r>
          </a:p>
          <a:p>
            <a:r>
              <a:rPr lang="en-US" altLang="zh-CN" sz="1200" b="0" i="0" kern="1200" dirty="0">
                <a:solidFill>
                  <a:schemeClr val="tx1"/>
                </a:solidFill>
                <a:effectLst/>
                <a:latin typeface="+mn-lt"/>
                <a:ea typeface="+mn-ea"/>
                <a:cs typeface="+mn-cs"/>
              </a:rPr>
              <a:t>Human Engineering</a:t>
            </a:r>
            <a:r>
              <a:rPr lang="zh-CN" altLang="en-US" sz="1200" b="0" i="0" kern="1200" dirty="0">
                <a:solidFill>
                  <a:schemeClr val="tx1"/>
                </a:solidFill>
                <a:effectLst/>
                <a:latin typeface="+mn-lt"/>
                <a:ea typeface="+mn-ea"/>
                <a:cs typeface="+mn-cs"/>
              </a:rPr>
              <a:t>（人机工程学）”分支下</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核心含义：无障碍性 </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易操作性</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Consistency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Reliability </a:t>
            </a:r>
            <a:r>
              <a:rPr lang="zh-CN" altLang="en-US" dirty="0"/>
              <a:t>逻辑</a:t>
            </a:r>
            <a:r>
              <a:rPr lang="en-US" altLang="zh-CN" dirty="0"/>
              <a:t>/</a:t>
            </a:r>
            <a:r>
              <a:rPr lang="zh-CN" altLang="en-US" dirty="0"/>
              <a:t>数据一致性</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Understandability </a:t>
            </a:r>
            <a:r>
              <a:rPr lang="zh-CN" altLang="en-US" dirty="0"/>
              <a:t>规范</a:t>
            </a:r>
            <a:r>
              <a:rPr lang="en-US" altLang="zh-CN" dirty="0"/>
              <a:t>/</a:t>
            </a:r>
            <a:r>
              <a:rPr lang="zh-CN" altLang="en-US" dirty="0"/>
              <a:t>风格一致性</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在可靠性里，它指的是软件与人的沟通（界面友好）。</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在可测试性里，它指的是代码与程序员的沟通（代码易读）</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Self-descriptiveness </a:t>
            </a:r>
            <a:r>
              <a:rPr lang="zh-CN" altLang="en-US" dirty="0"/>
              <a:t>的意思是 “自描述性”。</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它的核心含义是：代码本身就像一份说明书，不需要你额外去翻文档或问作者，就能让人（或测试工具）看懂它是干嘛的。</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如果一个软件具有高 </a:t>
            </a:r>
            <a:r>
              <a:rPr lang="en-US" altLang="zh-CN" dirty="0"/>
              <a:t>Self-descriptiveness</a:t>
            </a:r>
            <a:r>
              <a:rPr lang="zh-CN" altLang="en-US" dirty="0"/>
              <a:t>，那么测试人员在设计测试用例，或者维护人员在排查问题时，就能通过阅读代码直接理解逻辑，而不需要猜测。</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核心逻辑：代码即文档</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不要炫技</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Conciseness </a:t>
            </a:r>
            <a:r>
              <a:rPr lang="zh-CN" altLang="en-US" dirty="0"/>
              <a:t>的意思是 “简明性” 或 “紧凑性”。</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它的核心含义是：用最少的代码行数或最精简的逻辑，表达出完整的功能，没有冗余。</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核心逻辑：少即是多</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err="1"/>
              <a:t>Augmentability</a:t>
            </a:r>
            <a:r>
              <a:rPr lang="en-US" altLang="zh-CN" dirty="0"/>
              <a:t> </a:t>
            </a:r>
            <a:r>
              <a:rPr lang="zh-CN" altLang="en-US" dirty="0"/>
              <a:t>核心含义：做“加法”的能力</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指的是：在不破坏现有结构的前提下，给软件添加新功能或新特性的容易程度。</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它强调的是扩展，而不是修复。</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修复（</a:t>
            </a:r>
            <a:r>
              <a:rPr lang="en-US" altLang="zh-CN" dirty="0"/>
              <a:t>Correction</a:t>
            </a:r>
            <a:r>
              <a:rPr lang="zh-CN" altLang="en-US" dirty="0"/>
              <a:t>）：代码写错了，我要改过来。</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增强（</a:t>
            </a:r>
            <a:r>
              <a:rPr lang="en-US" altLang="zh-CN" dirty="0"/>
              <a:t>Augmentation</a:t>
            </a:r>
            <a:r>
              <a:rPr lang="zh-CN" altLang="en-US" dirty="0"/>
              <a:t>）：代码没写错，但现在用户想要个新功能，我要加进去。</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310</a:t>
            </a:fld>
            <a:endParaRPr lang="zh-CN" altLang="en-US"/>
          </a:p>
        </p:txBody>
      </p:sp>
    </p:spTree>
    <p:extLst>
      <p:ext uri="{BB962C8B-B14F-4D97-AF65-F5344CB8AC3E}">
        <p14:creationId xmlns:p14="http://schemas.microsoft.com/office/powerpoint/2010/main" val="1738508326"/>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dirty="0"/>
              <a:t>McCall </a:t>
            </a:r>
            <a:r>
              <a:rPr lang="zh-CN" altLang="en-US" dirty="0"/>
              <a:t>模型是“祖师爷”级别的存在。</a:t>
            </a:r>
            <a:endParaRPr lang="en-US" altLang="zh-CN" dirty="0"/>
          </a:p>
          <a:p>
            <a:r>
              <a:rPr lang="zh-CN" altLang="en-US" dirty="0"/>
              <a:t>现在的 </a:t>
            </a:r>
            <a:r>
              <a:rPr lang="en-US" altLang="zh-CN" dirty="0"/>
              <a:t>ISO/IEC 25010 </a:t>
            </a:r>
            <a:r>
              <a:rPr lang="zh-CN" altLang="en-US" dirty="0"/>
              <a:t>标准（包含功能性、可靠性、易用性、性能效率、兼容性、安全性、可维护性、可移植性）实际上就是 </a:t>
            </a:r>
            <a:r>
              <a:rPr lang="en-US" altLang="zh-CN" dirty="0"/>
              <a:t>McCall </a:t>
            </a:r>
            <a:r>
              <a:rPr lang="zh-CN" altLang="en-US" dirty="0"/>
              <a:t>模型的继承和扩展。</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311</a:t>
            </a:fld>
            <a:endParaRPr lang="zh-CN" altLang="en-US"/>
          </a:p>
        </p:txBody>
      </p:sp>
    </p:spTree>
    <p:extLst>
      <p:ext uri="{BB962C8B-B14F-4D97-AF65-F5344CB8AC3E}">
        <p14:creationId xmlns:p14="http://schemas.microsoft.com/office/powerpoint/2010/main" val="1091929510"/>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开发和运维团队</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312</a:t>
            </a:fld>
            <a:endParaRPr lang="zh-CN" altLang="en-US"/>
          </a:p>
        </p:txBody>
      </p:sp>
    </p:spTree>
    <p:extLst>
      <p:ext uri="{BB962C8B-B14F-4D97-AF65-F5344CB8AC3E}">
        <p14:creationId xmlns:p14="http://schemas.microsoft.com/office/powerpoint/2010/main" val="2536853616"/>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dirty="0"/>
              <a:t>Functionality</a:t>
            </a:r>
          </a:p>
          <a:p>
            <a:r>
              <a:rPr lang="en-US" altLang="zh-CN" dirty="0"/>
              <a:t>Reliability</a:t>
            </a:r>
          </a:p>
          <a:p>
            <a:r>
              <a:rPr lang="en-US" altLang="zh-CN" dirty="0"/>
              <a:t>Usability</a:t>
            </a:r>
          </a:p>
          <a:p>
            <a:r>
              <a:rPr lang="en-US" altLang="zh-CN" dirty="0"/>
              <a:t>Efficiency</a:t>
            </a:r>
          </a:p>
          <a:p>
            <a:r>
              <a:rPr lang="en-US" altLang="zh-CN" dirty="0"/>
              <a:t>Maintainability</a:t>
            </a:r>
          </a:p>
          <a:p>
            <a:r>
              <a:rPr lang="en-US" altLang="zh-CN" dirty="0"/>
              <a:t>Portability</a:t>
            </a:r>
          </a:p>
          <a:p>
            <a:r>
              <a:rPr lang="zh-CN" altLang="en-US" dirty="0"/>
              <a:t>安全性首先是一种“功能需求”，而不是一种“质量属性”</a:t>
            </a:r>
            <a:endParaRPr lang="en-US" altLang="zh-CN" dirty="0"/>
          </a:p>
          <a:p>
            <a:r>
              <a:rPr lang="zh-CN" altLang="en-US" dirty="0"/>
              <a:t>强调的是“具备防御机制的能力”（如加密、鉴权）</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313</a:t>
            </a:fld>
            <a:endParaRPr lang="zh-CN" altLang="en-US"/>
          </a:p>
        </p:txBody>
      </p:sp>
    </p:spTree>
    <p:extLst>
      <p:ext uri="{BB962C8B-B14F-4D97-AF65-F5344CB8AC3E}">
        <p14:creationId xmlns:p14="http://schemas.microsoft.com/office/powerpoint/2010/main" val="422711032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dirty="0"/>
              <a:t>A</a:t>
            </a:r>
          </a:p>
          <a:p>
            <a:r>
              <a:rPr lang="zh-CN" altLang="en-US" dirty="0"/>
              <a:t>安全性被视为一种特定的能力。例如：登录功能、加密功能、权限控制功能。如果软件没有这些机制，它就无法提供“安全”这项功能。</a:t>
            </a:r>
            <a:endParaRPr lang="en-US" altLang="zh-CN" dirty="0"/>
          </a:p>
          <a:p>
            <a:r>
              <a:rPr lang="zh-CN" altLang="en-US" dirty="0"/>
              <a:t>最新的 </a:t>
            </a:r>
            <a:r>
              <a:rPr lang="en-US" altLang="zh-CN" dirty="0"/>
              <a:t>ISO/IEC 25010 </a:t>
            </a:r>
            <a:r>
              <a:rPr lang="zh-CN" altLang="en-US" dirty="0"/>
              <a:t>标准中，分类发生了变化：</a:t>
            </a:r>
          </a:p>
          <a:p>
            <a:r>
              <a:rPr lang="zh-CN" altLang="en-US" dirty="0"/>
              <a:t>在 </a:t>
            </a:r>
            <a:r>
              <a:rPr lang="en-US" altLang="zh-CN" dirty="0"/>
              <a:t>ISO/IEC 25010 </a:t>
            </a:r>
            <a:r>
              <a:rPr lang="zh-CN" altLang="en-US" dirty="0"/>
              <a:t>中，安全性被提升为与“功能性”、“可靠性”并列的一级特性。</a:t>
            </a:r>
          </a:p>
          <a:p>
            <a:r>
              <a:rPr lang="zh-CN" altLang="en-US" dirty="0"/>
              <a:t>这意味着现代软件工程认为：安全性不仅仅是一个功能，它是贯穿整个系统架构的核心质量属性，与功能、性能、可靠性同等重要，不再依附于功能性。</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315</a:t>
            </a:fld>
            <a:endParaRPr lang="zh-CN" altLang="en-US"/>
          </a:p>
        </p:txBody>
      </p:sp>
    </p:spTree>
    <p:extLst>
      <p:ext uri="{BB962C8B-B14F-4D97-AF65-F5344CB8AC3E}">
        <p14:creationId xmlns:p14="http://schemas.microsoft.com/office/powerpoint/2010/main" val="48033296"/>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它检查你在写代码之前，需求文档写得规不规范？设计评审做了没有？流程对不对？目的是“预防缺陷”</a:t>
            </a:r>
            <a:endParaRPr lang="en-US" altLang="zh-CN" dirty="0"/>
          </a:p>
          <a:p>
            <a:r>
              <a:rPr lang="zh-CN" altLang="en-US" dirty="0"/>
              <a:t>在产品阶段：这里的 </a:t>
            </a:r>
            <a:r>
              <a:rPr lang="en-US" altLang="zh-CN" dirty="0"/>
              <a:t>QA </a:t>
            </a:r>
            <a:r>
              <a:rPr lang="zh-CN" altLang="en-US" dirty="0"/>
              <a:t>可能指质量体系的审计，或者是对交付流程的合规性检查（例如：是否具备发布标准？文档是否齐全？）。</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317</a:t>
            </a:fld>
            <a:endParaRPr lang="zh-CN" altLang="en-US"/>
          </a:p>
        </p:txBody>
      </p:sp>
    </p:spTree>
    <p:extLst>
      <p:ext uri="{BB962C8B-B14F-4D97-AF65-F5344CB8AC3E}">
        <p14:creationId xmlns:p14="http://schemas.microsoft.com/office/powerpoint/2010/main" val="3961163492"/>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借钱</a:t>
            </a:r>
            <a:endParaRPr lang="en-US" altLang="zh-CN" dirty="0"/>
          </a:p>
          <a:p>
            <a:r>
              <a:rPr lang="zh-CN" altLang="en-US" sz="1200" b="0" i="0" kern="1200" dirty="0">
                <a:solidFill>
                  <a:schemeClr val="tx1"/>
                </a:solidFill>
                <a:effectLst/>
                <a:latin typeface="+mn-lt"/>
                <a:ea typeface="+mn-ea"/>
                <a:cs typeface="+mn-cs"/>
              </a:rPr>
              <a:t>审核资质（过程审计）：你会去查借款人的征信报告，看他以前有没有按时还钱（历史代码质量）。</a:t>
            </a:r>
          </a:p>
          <a:p>
            <a:r>
              <a:rPr lang="zh-CN" altLang="en-US" sz="1200" b="0" i="0" kern="1200" dirty="0">
                <a:solidFill>
                  <a:schemeClr val="tx1"/>
                </a:solidFill>
                <a:effectLst/>
                <a:latin typeface="+mn-lt"/>
                <a:ea typeface="+mn-ea"/>
                <a:cs typeface="+mn-cs"/>
              </a:rPr>
              <a:t>确认用途（需求分析）：你会问他借钱干嘛？是去创业（靠谱）还是去赌博（高风险）？</a:t>
            </a:r>
          </a:p>
          <a:p>
            <a:r>
              <a:rPr lang="zh-CN" altLang="en-US" sz="1200" b="0" i="0" kern="1200" dirty="0">
                <a:solidFill>
                  <a:schemeClr val="tx1"/>
                </a:solidFill>
                <a:effectLst/>
                <a:latin typeface="+mn-lt"/>
                <a:ea typeface="+mn-ea"/>
                <a:cs typeface="+mn-cs"/>
              </a:rPr>
              <a:t>制定规则（流程制定）：你会跟他约法三章，“这钱必须专款专用，每个月要把账单发给我看”。</a:t>
            </a:r>
          </a:p>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319</a:t>
            </a:fld>
            <a:endParaRPr lang="zh-CN" altLang="en-US"/>
          </a:p>
        </p:txBody>
      </p:sp>
    </p:spTree>
    <p:extLst>
      <p:ext uri="{BB962C8B-B14F-4D97-AF65-F5344CB8AC3E}">
        <p14:creationId xmlns:p14="http://schemas.microsoft.com/office/powerpoint/2010/main" val="2679213910"/>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凤姐再美，美不过范冰冰</a:t>
            </a:r>
            <a:endParaRPr lang="en-US" altLang="zh-CN"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322</a:t>
            </a:fld>
            <a:endParaRPr lang="zh-CN" altLang="en-US"/>
          </a:p>
        </p:txBody>
      </p:sp>
    </p:spTree>
    <p:extLst>
      <p:ext uri="{BB962C8B-B14F-4D97-AF65-F5344CB8AC3E}">
        <p14:creationId xmlns:p14="http://schemas.microsoft.com/office/powerpoint/2010/main" val="4005728502"/>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131E3-CCD0-2659-13A4-13E8A60B740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8965A16-7F3D-DE8A-3257-80A340135B1B}"/>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2738B5AD-F307-3E25-D891-94154213B630}"/>
              </a:ext>
            </a:extLst>
          </p:cNvPr>
          <p:cNvSpPr>
            <a:spLocks noGrp="1"/>
          </p:cNvSpPr>
          <p:nvPr>
            <p:ph type="body" idx="1"/>
          </p:nvPr>
        </p:nvSpPr>
        <p:spPr/>
        <p:txBody>
          <a:bodyPr/>
          <a:lstStyle/>
          <a:p>
            <a:r>
              <a:rPr lang="zh-CN" altLang="en-US" dirty="0"/>
              <a:t>√</a:t>
            </a:r>
          </a:p>
        </p:txBody>
      </p:sp>
      <p:sp>
        <p:nvSpPr>
          <p:cNvPr id="4" name="灯片编号占位符 3">
            <a:extLst>
              <a:ext uri="{FF2B5EF4-FFF2-40B4-BE49-F238E27FC236}">
                <a16:creationId xmlns:a16="http://schemas.microsoft.com/office/drawing/2014/main" id="{2BEA37D0-8E3C-89FC-C405-139C4DE8AEED}"/>
              </a:ext>
            </a:extLst>
          </p:cNvPr>
          <p:cNvSpPr>
            <a:spLocks noGrp="1"/>
          </p:cNvSpPr>
          <p:nvPr>
            <p:ph type="sldNum" sz="quarter" idx="5"/>
          </p:nvPr>
        </p:nvSpPr>
        <p:spPr/>
        <p:txBody>
          <a:bodyPr/>
          <a:lstStyle/>
          <a:p>
            <a:fld id="{6D27E3F6-C3AC-4131-BD60-F31F1EE091B2}" type="slidenum">
              <a:rPr lang="zh-CN" altLang="en-US" smtClean="0"/>
              <a:t>323</a:t>
            </a:fld>
            <a:endParaRPr lang="zh-CN" altLang="en-US"/>
          </a:p>
        </p:txBody>
      </p:sp>
    </p:spTree>
    <p:extLst>
      <p:ext uri="{BB962C8B-B14F-4D97-AF65-F5344CB8AC3E}">
        <p14:creationId xmlns:p14="http://schemas.microsoft.com/office/powerpoint/2010/main" val="2227406749"/>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合适的标准非常关键</a:t>
            </a:r>
          </a:p>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324</a:t>
            </a:fld>
            <a:endParaRPr lang="zh-CN" altLang="en-US"/>
          </a:p>
        </p:txBody>
      </p:sp>
    </p:spTree>
    <p:extLst>
      <p:ext uri="{BB962C8B-B14F-4D97-AF65-F5344CB8AC3E}">
        <p14:creationId xmlns:p14="http://schemas.microsoft.com/office/powerpoint/2010/main" val="2482557854"/>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程序流程图</a:t>
            </a:r>
            <a:endParaRPr lang="en-US" altLang="zh-CN" dirty="0"/>
          </a:p>
          <a:p>
            <a:r>
              <a:rPr lang="zh-CN" altLang="en-US" dirty="0"/>
              <a:t>先和还是先加</a:t>
            </a:r>
            <a:r>
              <a:rPr lang="en-US" altLang="zh-CN" dirty="0"/>
              <a:t>1</a:t>
            </a:r>
            <a:r>
              <a:rPr lang="zh-CN" altLang="en-US" dirty="0"/>
              <a:t>？</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328</a:t>
            </a:fld>
            <a:endParaRPr lang="zh-CN" altLang="en-US"/>
          </a:p>
        </p:txBody>
      </p:sp>
    </p:spTree>
    <p:extLst>
      <p:ext uri="{BB962C8B-B14F-4D97-AF65-F5344CB8AC3E}">
        <p14:creationId xmlns:p14="http://schemas.microsoft.com/office/powerpoint/2010/main" val="1051238208"/>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直方图最好的画法，其实是给</a:t>
            </a:r>
            <a:r>
              <a:rPr lang="en-US" altLang="zh-CN" dirty="0"/>
              <a:t>Excel</a:t>
            </a:r>
            <a:r>
              <a:rPr lang="zh-CN" altLang="en-US" dirty="0"/>
              <a:t>一列“原始数据”，让它自己算频数</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333</a:t>
            </a:fld>
            <a:endParaRPr lang="zh-CN" altLang="en-US"/>
          </a:p>
        </p:txBody>
      </p:sp>
    </p:spTree>
    <p:extLst>
      <p:ext uri="{BB962C8B-B14F-4D97-AF65-F5344CB8AC3E}">
        <p14:creationId xmlns:p14="http://schemas.microsoft.com/office/powerpoint/2010/main" val="4261969149"/>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5F884-C2BE-F710-A611-A5859EC945F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B1028AE-6E79-6643-6709-9E3B0FCF92F5}"/>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834FF5CD-5E9C-6221-C0FB-DCFEBFB9988A}"/>
              </a:ext>
            </a:extLst>
          </p:cNvPr>
          <p:cNvSpPr>
            <a:spLocks noGrp="1"/>
          </p:cNvSpPr>
          <p:nvPr>
            <p:ph type="body" idx="1"/>
          </p:nvPr>
        </p:nvSpPr>
        <p:spPr/>
        <p:txBody>
          <a:bodyPr/>
          <a:lstStyle/>
          <a:p>
            <a:r>
              <a:rPr lang="zh-CN" altLang="en-US" dirty="0"/>
              <a:t>直方图最好的画法，其实是给</a:t>
            </a:r>
            <a:r>
              <a:rPr lang="en-US" altLang="zh-CN" dirty="0"/>
              <a:t>Excel</a:t>
            </a:r>
            <a:r>
              <a:rPr lang="zh-CN" altLang="en-US" dirty="0"/>
              <a:t>一列“原始数据”，让它自己算频数</a:t>
            </a:r>
          </a:p>
        </p:txBody>
      </p:sp>
      <p:sp>
        <p:nvSpPr>
          <p:cNvPr id="4" name="灯片编号占位符 3">
            <a:extLst>
              <a:ext uri="{FF2B5EF4-FFF2-40B4-BE49-F238E27FC236}">
                <a16:creationId xmlns:a16="http://schemas.microsoft.com/office/drawing/2014/main" id="{8C190CD9-D4C3-E276-3DA4-611C05C46ECE}"/>
              </a:ext>
            </a:extLst>
          </p:cNvPr>
          <p:cNvSpPr>
            <a:spLocks noGrp="1"/>
          </p:cNvSpPr>
          <p:nvPr>
            <p:ph type="sldNum" sz="quarter" idx="5"/>
          </p:nvPr>
        </p:nvSpPr>
        <p:spPr/>
        <p:txBody>
          <a:bodyPr/>
          <a:lstStyle/>
          <a:p>
            <a:fld id="{6D27E3F6-C3AC-4131-BD60-F31F1EE091B2}" type="slidenum">
              <a:rPr lang="zh-CN" altLang="en-US" smtClean="0"/>
              <a:t>334</a:t>
            </a:fld>
            <a:endParaRPr lang="zh-CN" altLang="en-US"/>
          </a:p>
        </p:txBody>
      </p:sp>
    </p:spTree>
    <p:extLst>
      <p:ext uri="{BB962C8B-B14F-4D97-AF65-F5344CB8AC3E}">
        <p14:creationId xmlns:p14="http://schemas.microsoft.com/office/powerpoint/2010/main" val="3173686690"/>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在当下已经显得过于温和。现实情况远比这更为严峻</a:t>
            </a:r>
            <a:endParaRPr lang="en-US" altLang="zh-CN" dirty="0"/>
          </a:p>
          <a:p>
            <a:r>
              <a:rPr lang="zh-CN" altLang="en-US" dirty="0"/>
              <a:t>在软件质量中应用帕累托法则，就是拒绝“平均主义”，将有限的精力集中在那些“牵一发而动全身”的关键点上</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339</a:t>
            </a:fld>
            <a:endParaRPr lang="zh-CN" altLang="en-US"/>
          </a:p>
        </p:txBody>
      </p:sp>
    </p:spTree>
    <p:extLst>
      <p:ext uri="{BB962C8B-B14F-4D97-AF65-F5344CB8AC3E}">
        <p14:creationId xmlns:p14="http://schemas.microsoft.com/office/powerpoint/2010/main" val="2406773539"/>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476E6-5AAD-9522-10B2-8C5AAC3B68E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3DD5EDF-5347-926A-F474-A6CDD16058F6}"/>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23A783C8-B88D-3470-9DC0-9CBE8802647E}"/>
              </a:ext>
            </a:extLst>
          </p:cNvPr>
          <p:cNvSpPr>
            <a:spLocks noGrp="1"/>
          </p:cNvSpPr>
          <p:nvPr>
            <p:ph type="body" idx="1"/>
          </p:nvPr>
        </p:nvSpPr>
        <p:spPr/>
        <p:txBody>
          <a:bodyPr/>
          <a:lstStyle/>
          <a:p>
            <a:r>
              <a:rPr lang="en-US" altLang="zh-CN" dirty="0"/>
              <a:t>B</a:t>
            </a:r>
            <a:endParaRPr lang="zh-CN" altLang="en-US" dirty="0"/>
          </a:p>
        </p:txBody>
      </p:sp>
      <p:sp>
        <p:nvSpPr>
          <p:cNvPr id="4" name="灯片编号占位符 3">
            <a:extLst>
              <a:ext uri="{FF2B5EF4-FFF2-40B4-BE49-F238E27FC236}">
                <a16:creationId xmlns:a16="http://schemas.microsoft.com/office/drawing/2014/main" id="{39733F16-5AB0-D930-40C4-A14D390FF137}"/>
              </a:ext>
            </a:extLst>
          </p:cNvPr>
          <p:cNvSpPr>
            <a:spLocks noGrp="1"/>
          </p:cNvSpPr>
          <p:nvPr>
            <p:ph type="sldNum" sz="quarter" idx="5"/>
          </p:nvPr>
        </p:nvSpPr>
        <p:spPr/>
        <p:txBody>
          <a:bodyPr/>
          <a:lstStyle/>
          <a:p>
            <a:fld id="{6D27E3F6-C3AC-4131-BD60-F31F1EE091B2}" type="slidenum">
              <a:rPr lang="zh-CN" altLang="en-US" smtClean="0"/>
              <a:t>345</a:t>
            </a:fld>
            <a:endParaRPr lang="zh-CN" altLang="en-US"/>
          </a:p>
        </p:txBody>
      </p:sp>
    </p:spTree>
    <p:extLst>
      <p:ext uri="{BB962C8B-B14F-4D97-AF65-F5344CB8AC3E}">
        <p14:creationId xmlns:p14="http://schemas.microsoft.com/office/powerpoint/2010/main" val="540756103"/>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行为驱动开发 </a:t>
            </a:r>
            <a:r>
              <a:rPr lang="en-US" altLang="zh-CN" dirty="0"/>
              <a:t>BDD</a:t>
            </a:r>
            <a:r>
              <a:rPr lang="zh-CN" altLang="en-US" dirty="0"/>
              <a:t>，</a:t>
            </a:r>
            <a:r>
              <a:rPr lang="en-US" altLang="zh-CN" dirty="0"/>
              <a:t>Behavior-Driven Development</a:t>
            </a:r>
          </a:p>
          <a:p>
            <a:r>
              <a:rPr lang="zh-CN" altLang="en-US" dirty="0"/>
              <a:t>一个非常重要的实践方法论</a:t>
            </a:r>
          </a:p>
          <a:p>
            <a:r>
              <a:rPr lang="zh-CN" altLang="en-US" dirty="0"/>
              <a:t>起源于测试驱动开发 </a:t>
            </a:r>
            <a:r>
              <a:rPr lang="en-US" altLang="zh-CN" dirty="0"/>
              <a:t>TDD</a:t>
            </a:r>
            <a:r>
              <a:rPr lang="zh-CN" altLang="en-US" dirty="0"/>
              <a:t>，</a:t>
            </a:r>
            <a:r>
              <a:rPr lang="en-US" altLang="zh-CN" dirty="0"/>
              <a:t>Test-Driven Development</a:t>
            </a:r>
          </a:p>
          <a:p>
            <a:r>
              <a:rPr lang="zh-CN" altLang="en-US" dirty="0"/>
              <a:t>以用户行为</a:t>
            </a:r>
            <a:r>
              <a:rPr lang="en-US" altLang="zh-CN" dirty="0"/>
              <a:t>/</a:t>
            </a:r>
            <a:r>
              <a:rPr lang="zh-CN" altLang="en-US" dirty="0"/>
              <a:t>业务期望为中心的软件设计、开发和测试协作方法</a:t>
            </a:r>
          </a:p>
          <a:p>
            <a:r>
              <a:rPr lang="zh-CN" altLang="en-US" dirty="0"/>
              <a:t>不应该只关心代码怎么写，而应该先明确系统应该怎么表现</a:t>
            </a:r>
            <a:r>
              <a:rPr lang="en-US" altLang="zh-CN" dirty="0"/>
              <a:t>/</a:t>
            </a:r>
            <a:r>
              <a:rPr lang="zh-CN" altLang="en-US" dirty="0"/>
              <a:t>行为 </a:t>
            </a:r>
            <a:r>
              <a:rPr lang="en-US" altLang="zh-CN" dirty="0"/>
              <a:t>behave</a:t>
            </a:r>
          </a:p>
          <a:p>
            <a:r>
              <a:rPr lang="zh-CN" altLang="en-US" dirty="0"/>
              <a:t>强调开发人员、测试人员和利益相关者之间的协作，以确保开发的软件满足预期的行为或功能</a:t>
            </a:r>
          </a:p>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347</a:t>
            </a:fld>
            <a:endParaRPr lang="zh-CN" altLang="en-US"/>
          </a:p>
        </p:txBody>
      </p:sp>
    </p:spTree>
    <p:extLst>
      <p:ext uri="{BB962C8B-B14F-4D97-AF65-F5344CB8AC3E}">
        <p14:creationId xmlns:p14="http://schemas.microsoft.com/office/powerpoint/2010/main" val="2704590806"/>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dirty="0"/>
              <a:t>B</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352</a:t>
            </a:fld>
            <a:endParaRPr lang="zh-CN" altLang="en-US"/>
          </a:p>
        </p:txBody>
      </p:sp>
    </p:spTree>
    <p:extLst>
      <p:ext uri="{BB962C8B-B14F-4D97-AF65-F5344CB8AC3E}">
        <p14:creationId xmlns:p14="http://schemas.microsoft.com/office/powerpoint/2010/main" val="1111604004"/>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C</a:t>
            </a:r>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353</a:t>
            </a:fld>
            <a:endParaRPr lang="zh-CN" altLang="en-US"/>
          </a:p>
        </p:txBody>
      </p:sp>
    </p:spTree>
    <p:extLst>
      <p:ext uri="{BB962C8B-B14F-4D97-AF65-F5344CB8AC3E}">
        <p14:creationId xmlns:p14="http://schemas.microsoft.com/office/powerpoint/2010/main" val="181595778"/>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358</a:t>
            </a:fld>
            <a:endParaRPr lang="zh-CN" altLang="en-US"/>
          </a:p>
        </p:txBody>
      </p:sp>
    </p:spTree>
    <p:extLst>
      <p:ext uri="{BB962C8B-B14F-4D97-AF65-F5344CB8AC3E}">
        <p14:creationId xmlns:p14="http://schemas.microsoft.com/office/powerpoint/2010/main" val="4266676628"/>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dirty="0"/>
              <a:t>PO</a:t>
            </a:r>
            <a:r>
              <a:rPr lang="zh-CN" altLang="en-US" dirty="0"/>
              <a:t>：只对产品的“内容”和“价值”负责。</a:t>
            </a:r>
            <a:endParaRPr lang="en-US" altLang="zh-CN" dirty="0"/>
          </a:p>
          <a:p>
            <a:r>
              <a:rPr lang="en-US" altLang="zh-CN" dirty="0"/>
              <a:t>PM</a:t>
            </a:r>
            <a:r>
              <a:rPr lang="zh-CN" altLang="en-US" dirty="0"/>
              <a:t>：只对项目的“进度”、“资源”和“流程”负责。</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361</a:t>
            </a:fld>
            <a:endParaRPr lang="zh-CN" altLang="en-US"/>
          </a:p>
        </p:txBody>
      </p:sp>
    </p:spTree>
    <p:extLst>
      <p:ext uri="{BB962C8B-B14F-4D97-AF65-F5344CB8AC3E}">
        <p14:creationId xmlns:p14="http://schemas.microsoft.com/office/powerpoint/2010/main" val="286112192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定规矩。确定什么东西要管（配置项），怎么命名，怎么分类。</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363</a:t>
            </a:fld>
            <a:endParaRPr lang="zh-CN" altLang="en-US"/>
          </a:p>
        </p:txBody>
      </p:sp>
    </p:spTree>
    <p:extLst>
      <p:ext uri="{BB962C8B-B14F-4D97-AF65-F5344CB8AC3E}">
        <p14:creationId xmlns:p14="http://schemas.microsoft.com/office/powerpoint/2010/main" val="1352286686"/>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364</a:t>
            </a:fld>
            <a:endParaRPr lang="zh-CN" altLang="en-US"/>
          </a:p>
        </p:txBody>
      </p:sp>
    </p:spTree>
    <p:extLst>
      <p:ext uri="{BB962C8B-B14F-4D97-AF65-F5344CB8AC3E}">
        <p14:creationId xmlns:p14="http://schemas.microsoft.com/office/powerpoint/2010/main" val="8537025"/>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环节 侧重点 灵魂拷问 谁来验证 </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批准环节 价值与风险 “我们应该做这个变更吗？” 变更控制委员会、项目经理 </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实现环节 质量与结果 “我们做完且做对了吗？” 测试人员、质量保证人员 </a:t>
            </a: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366</a:t>
            </a:fld>
            <a:endParaRPr lang="zh-CN" altLang="en-US"/>
          </a:p>
        </p:txBody>
      </p:sp>
    </p:spTree>
    <p:extLst>
      <p:ext uri="{BB962C8B-B14F-4D97-AF65-F5344CB8AC3E}">
        <p14:creationId xmlns:p14="http://schemas.microsoft.com/office/powerpoint/2010/main" val="1496023295"/>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查错纠偏。检查是不是按规定做的，实物和记录对不对得上。</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370</a:t>
            </a:fld>
            <a:endParaRPr lang="zh-CN" altLang="en-US"/>
          </a:p>
        </p:txBody>
      </p:sp>
    </p:spTree>
    <p:extLst>
      <p:ext uri="{BB962C8B-B14F-4D97-AF65-F5344CB8AC3E}">
        <p14:creationId xmlns:p14="http://schemas.microsoft.com/office/powerpoint/2010/main" val="1009551976"/>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记流水账。记录当前是什么状态，谁改了什么，有哪些版本</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371</a:t>
            </a:fld>
            <a:endParaRPr lang="zh-CN" altLang="en-US"/>
          </a:p>
        </p:txBody>
      </p:sp>
    </p:spTree>
    <p:extLst>
      <p:ext uri="{BB962C8B-B14F-4D97-AF65-F5344CB8AC3E}">
        <p14:creationId xmlns:p14="http://schemas.microsoft.com/office/powerpoint/2010/main" val="1908374622"/>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不管在哪个阶段，团队增加或减少人员，都从形成阶段开始</a:t>
            </a:r>
          </a:p>
          <a:p>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386</a:t>
            </a:fld>
            <a:endParaRPr lang="zh-CN" altLang="en-US"/>
          </a:p>
        </p:txBody>
      </p:sp>
    </p:spTree>
    <p:extLst>
      <p:ext uri="{BB962C8B-B14F-4D97-AF65-F5344CB8AC3E}">
        <p14:creationId xmlns:p14="http://schemas.microsoft.com/office/powerpoint/2010/main" val="2756896845"/>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dirty="0"/>
              <a:t>A</a:t>
            </a:r>
          </a:p>
          <a:p>
            <a:r>
              <a:rPr lang="zh-CN" altLang="en-US" dirty="0"/>
              <a:t>只有当计划中规定的条件满足时，才启动人员转移程序，确保人员调整的合规性与项目稳定性</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387</a:t>
            </a:fld>
            <a:endParaRPr lang="zh-CN" altLang="en-US"/>
          </a:p>
        </p:txBody>
      </p:sp>
    </p:spTree>
    <p:extLst>
      <p:ext uri="{BB962C8B-B14F-4D97-AF65-F5344CB8AC3E}">
        <p14:creationId xmlns:p14="http://schemas.microsoft.com/office/powerpoint/2010/main" val="188970828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389</a:t>
            </a:fld>
            <a:endParaRPr lang="zh-CN" altLang="en-US"/>
          </a:p>
        </p:txBody>
      </p:sp>
    </p:spTree>
    <p:extLst>
      <p:ext uri="{BB962C8B-B14F-4D97-AF65-F5344CB8AC3E}">
        <p14:creationId xmlns:p14="http://schemas.microsoft.com/office/powerpoint/2010/main" val="100274770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R (Responsible)</a:t>
            </a:r>
            <a:r>
              <a:rPr lang="zh-CN" altLang="en-US" dirty="0"/>
              <a:t>：负责执行任务的人，即“做”的人。</a:t>
            </a:r>
          </a:p>
          <a:p>
            <a:r>
              <a:rPr lang="en-US" altLang="zh-CN" dirty="0"/>
              <a:t>A (Accountable)</a:t>
            </a:r>
            <a:r>
              <a:rPr lang="zh-CN" altLang="en-US" dirty="0"/>
              <a:t>：对任务负全责的人，拥有否决权，即“拍板”的人。</a:t>
            </a:r>
          </a:p>
          <a:p>
            <a:r>
              <a:rPr lang="en-US" altLang="zh-CN" dirty="0"/>
              <a:t>C (Consulted)</a:t>
            </a:r>
            <a:r>
              <a:rPr lang="zh-CN" altLang="en-US" dirty="0"/>
              <a:t>：在任务执行前或执行中提供意见的专家或相关人员，即“被咨询”的人。提供信息的人，具备专业领域的知识</a:t>
            </a:r>
          </a:p>
          <a:p>
            <a:r>
              <a:rPr lang="en-US" altLang="zh-CN" dirty="0"/>
              <a:t>I (Informed)</a:t>
            </a:r>
            <a:r>
              <a:rPr lang="zh-CN" altLang="en-US" dirty="0"/>
              <a:t>：需要被通知任务进展或结果的人，即“被通知”的人。他们不参与决策或执行，但需要了解情况</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395</a:t>
            </a:fld>
            <a:endParaRPr lang="zh-CN" altLang="en-US"/>
          </a:p>
        </p:txBody>
      </p:sp>
    </p:spTree>
    <p:extLst>
      <p:ext uri="{BB962C8B-B14F-4D97-AF65-F5344CB8AC3E}">
        <p14:creationId xmlns:p14="http://schemas.microsoft.com/office/powerpoint/2010/main" val="3232614679"/>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维护经理的角色定位：侧重于审批与监督</a:t>
            </a:r>
            <a:endParaRPr lang="en-US" altLang="zh-CN" dirty="0"/>
          </a:p>
          <a:p>
            <a:r>
              <a:rPr lang="zh-CN" altLang="en-US" dirty="0"/>
              <a:t>仓库经理的角色定位：侧重于执行与交付</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397</a:t>
            </a:fld>
            <a:endParaRPr lang="zh-CN" altLang="en-US"/>
          </a:p>
        </p:txBody>
      </p:sp>
    </p:spTree>
    <p:extLst>
      <p:ext uri="{BB962C8B-B14F-4D97-AF65-F5344CB8AC3E}">
        <p14:creationId xmlns:p14="http://schemas.microsoft.com/office/powerpoint/2010/main" val="256419745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398</a:t>
            </a:fld>
            <a:endParaRPr lang="zh-CN" altLang="en-US"/>
          </a:p>
        </p:txBody>
      </p:sp>
    </p:spTree>
    <p:extLst>
      <p:ext uri="{BB962C8B-B14F-4D97-AF65-F5344CB8AC3E}">
        <p14:creationId xmlns:p14="http://schemas.microsoft.com/office/powerpoint/2010/main" val="4167163847"/>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16B45-3B65-68AC-028D-9ABD40B4E89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C94949A-8292-9BA0-C9FB-BE054C79F3D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97ACDC9-B4D1-FB66-3931-BEBD1E7BD40D}"/>
              </a:ext>
            </a:extLst>
          </p:cNvPr>
          <p:cNvSpPr>
            <a:spLocks noGrp="1"/>
          </p:cNvSpPr>
          <p:nvPr>
            <p:ph type="body" idx="1"/>
          </p:nvPr>
        </p:nvSpPr>
        <p:spPr/>
        <p:txBody>
          <a:bodyPr/>
          <a:lstStyle/>
          <a:p>
            <a:r>
              <a:rPr lang="en-US" altLang="zh-CN" dirty="0"/>
              <a:t>The 7 steps to effective organization breakdown structures</a:t>
            </a:r>
          </a:p>
          <a:p>
            <a:r>
              <a:rPr lang="zh-CN" altLang="en-US" dirty="0"/>
              <a:t>有效的组织分解结构</a:t>
            </a:r>
            <a:r>
              <a:rPr lang="en-US" altLang="zh-CN" dirty="0"/>
              <a:t>7</a:t>
            </a:r>
            <a:r>
              <a:rPr lang="zh-CN" altLang="en-US" dirty="0"/>
              <a:t>步</a:t>
            </a:r>
          </a:p>
          <a:p>
            <a:endParaRPr lang="zh-CN" altLang="en-US" dirty="0"/>
          </a:p>
          <a:p>
            <a:r>
              <a:rPr lang="en-US" altLang="zh-CN" dirty="0"/>
              <a:t>Scope the project management environment and key stakeholders</a:t>
            </a:r>
          </a:p>
          <a:p>
            <a:r>
              <a:rPr lang="zh-CN" altLang="en-US" dirty="0"/>
              <a:t>界定项目管理环境和关键利益相关者</a:t>
            </a:r>
          </a:p>
          <a:p>
            <a:r>
              <a:rPr lang="en-US" altLang="zh-CN" dirty="0"/>
              <a:t>Develop the project execution strategy</a:t>
            </a:r>
          </a:p>
          <a:p>
            <a:r>
              <a:rPr lang="zh-CN" altLang="en-US" dirty="0"/>
              <a:t>制定项目执行策略</a:t>
            </a:r>
          </a:p>
          <a:p>
            <a:r>
              <a:rPr lang="en-US" altLang="zh-CN" dirty="0"/>
              <a:t>Develop the Organization Breakdown Structure for the project (OBS) covering Engineering, Procurement, Construction and Installation.</a:t>
            </a:r>
          </a:p>
          <a:p>
            <a:r>
              <a:rPr lang="zh-CN" altLang="en-US" dirty="0"/>
              <a:t>为项目（</a:t>
            </a:r>
            <a:r>
              <a:rPr lang="en-US" altLang="zh-CN" dirty="0"/>
              <a:t>OBS</a:t>
            </a:r>
            <a:r>
              <a:rPr lang="zh-CN" altLang="en-US" dirty="0"/>
              <a:t>）制定组织分解结构，涵盖工程、采购、施工和安装。</a:t>
            </a:r>
          </a:p>
          <a:p>
            <a:r>
              <a:rPr lang="en-US" altLang="zh-CN" dirty="0"/>
              <a:t>Identify the project control requirements</a:t>
            </a:r>
          </a:p>
          <a:p>
            <a:r>
              <a:rPr lang="zh-CN" altLang="en-US" dirty="0"/>
              <a:t>识别项目控制要求</a:t>
            </a:r>
          </a:p>
          <a:p>
            <a:r>
              <a:rPr lang="en-US" altLang="zh-CN" dirty="0"/>
              <a:t>Link the OBS to Work Breakdown Structure (WBS)</a:t>
            </a:r>
          </a:p>
          <a:p>
            <a:r>
              <a:rPr lang="zh-CN" altLang="en-US" dirty="0"/>
              <a:t>将</a:t>
            </a:r>
            <a:r>
              <a:rPr lang="en-US" altLang="zh-CN" dirty="0"/>
              <a:t>OBS</a:t>
            </a:r>
            <a:r>
              <a:rPr lang="zh-CN" altLang="en-US" dirty="0"/>
              <a:t>链接到工作分解结构（</a:t>
            </a:r>
            <a:r>
              <a:rPr lang="en-US" altLang="zh-CN" dirty="0"/>
              <a:t>WBS</a:t>
            </a:r>
            <a:r>
              <a:rPr lang="zh-CN" altLang="en-US" dirty="0"/>
              <a:t>）</a:t>
            </a:r>
          </a:p>
          <a:p>
            <a:r>
              <a:rPr lang="en-US" altLang="zh-CN" dirty="0"/>
              <a:t>Develop the Responsibility Assignment Matrix (RAM)</a:t>
            </a:r>
          </a:p>
          <a:p>
            <a:r>
              <a:rPr lang="zh-CN" altLang="en-US" dirty="0"/>
              <a:t>开发责任分配矩阵（</a:t>
            </a:r>
            <a:r>
              <a:rPr lang="en-US" altLang="zh-CN" dirty="0"/>
              <a:t>RAM</a:t>
            </a:r>
            <a:r>
              <a:rPr lang="zh-CN" altLang="en-US" dirty="0"/>
              <a:t>）</a:t>
            </a:r>
          </a:p>
          <a:p>
            <a:r>
              <a:rPr lang="en-US" altLang="zh-CN" dirty="0"/>
              <a:t>Optimize the WBS, OBS and Control accounts</a:t>
            </a:r>
          </a:p>
          <a:p>
            <a:r>
              <a:rPr lang="zh-CN" altLang="en-US" dirty="0"/>
              <a:t>优化</a:t>
            </a:r>
            <a:r>
              <a:rPr lang="en-US" altLang="zh-CN" dirty="0"/>
              <a:t>WBS</a:t>
            </a:r>
            <a:r>
              <a:rPr lang="zh-CN" altLang="en-US" dirty="0"/>
              <a:t>、</a:t>
            </a:r>
            <a:r>
              <a:rPr lang="en-US" altLang="zh-CN" dirty="0"/>
              <a:t>OBS</a:t>
            </a:r>
            <a:r>
              <a:rPr lang="zh-CN" altLang="en-US" dirty="0"/>
              <a:t>和控制账户</a:t>
            </a:r>
          </a:p>
          <a:p>
            <a:endParaRPr lang="zh-CN" altLang="en-US" dirty="0"/>
          </a:p>
        </p:txBody>
      </p:sp>
      <p:sp>
        <p:nvSpPr>
          <p:cNvPr id="4" name="灯片编号占位符 3">
            <a:extLst>
              <a:ext uri="{FF2B5EF4-FFF2-40B4-BE49-F238E27FC236}">
                <a16:creationId xmlns:a16="http://schemas.microsoft.com/office/drawing/2014/main" id="{D6943D07-2C34-B6EB-03CE-5F995FDD3870}"/>
              </a:ext>
            </a:extLst>
          </p:cNvPr>
          <p:cNvSpPr>
            <a:spLocks noGrp="1"/>
          </p:cNvSpPr>
          <p:nvPr>
            <p:ph type="sldNum" sz="quarter" idx="5"/>
          </p:nvPr>
        </p:nvSpPr>
        <p:spPr/>
        <p:txBody>
          <a:bodyPr/>
          <a:lstStyle/>
          <a:p>
            <a:fld id="{6D27E3F6-C3AC-4131-BD60-F31F1EE091B2}" type="slidenum">
              <a:rPr lang="zh-CN" altLang="en-US" smtClean="0"/>
              <a:t>400</a:t>
            </a:fld>
            <a:endParaRPr lang="zh-CN" altLang="en-US"/>
          </a:p>
        </p:txBody>
      </p:sp>
    </p:spTree>
    <p:extLst>
      <p:ext uri="{BB962C8B-B14F-4D97-AF65-F5344CB8AC3E}">
        <p14:creationId xmlns:p14="http://schemas.microsoft.com/office/powerpoint/2010/main" val="424877781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重要性</a:t>
            </a:r>
            <a:endParaRPr lang="en-US" altLang="zh-CN" dirty="0"/>
          </a:p>
          <a:p>
            <a:r>
              <a:rPr lang="zh-CN" altLang="en-US" dirty="0"/>
              <a:t>支持度</a:t>
            </a:r>
            <a:endParaRPr lang="en-US" altLang="zh-CN" dirty="0"/>
          </a:p>
          <a:p>
            <a:r>
              <a:rPr lang="zh-CN" altLang="en-US" dirty="0"/>
              <a:t>非常经典且实用的分析工具</a:t>
            </a:r>
            <a:endParaRPr lang="en-US" altLang="zh-CN" dirty="0"/>
          </a:p>
          <a:p>
            <a:r>
              <a:rPr lang="zh-CN" altLang="en-US" dirty="0"/>
              <a:t>如果一个干系人有权、有理、还很急，他就是项目的核心（统治型），你必须时刻盯着。</a:t>
            </a:r>
          </a:p>
          <a:p>
            <a:r>
              <a:rPr lang="zh-CN" altLang="en-US" dirty="0"/>
              <a:t>如果一个干系人没权、没理、也不急，那你只需要花很少的精力去简单维护即可。</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405</a:t>
            </a:fld>
            <a:endParaRPr lang="zh-CN" altLang="en-US"/>
          </a:p>
        </p:txBody>
      </p:sp>
    </p:spTree>
    <p:extLst>
      <p:ext uri="{BB962C8B-B14F-4D97-AF65-F5344CB8AC3E}">
        <p14:creationId xmlns:p14="http://schemas.microsoft.com/office/powerpoint/2010/main" val="3608003269"/>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他能命令你做什么”，而要理解为“他有能力让你做不成什么；扰乱市场秩序、恶意竞争</a:t>
            </a:r>
            <a:endParaRPr lang="en-US" altLang="zh-CN" dirty="0"/>
          </a:p>
          <a:p>
            <a:r>
              <a:rPr lang="zh-CN" altLang="en-US" dirty="0"/>
              <a:t>依赖</a:t>
            </a:r>
            <a:r>
              <a:rPr lang="en-US" altLang="zh-CN" dirty="0"/>
              <a:t>/</a:t>
            </a:r>
            <a:r>
              <a:rPr lang="zh-CN" altLang="en-US" dirty="0"/>
              <a:t>从众</a:t>
            </a:r>
            <a:endParaRPr lang="en-US" altLang="zh-CN" dirty="0"/>
          </a:p>
          <a:p>
            <a:r>
              <a:rPr lang="zh-CN" altLang="en-US" dirty="0"/>
              <a:t>苛求</a:t>
            </a:r>
            <a:r>
              <a:rPr lang="en-US" altLang="zh-CN" dirty="0"/>
              <a:t>/</a:t>
            </a:r>
            <a:r>
              <a:rPr lang="zh-CN" altLang="en-US" dirty="0"/>
              <a:t>矫情</a:t>
            </a:r>
            <a:endParaRPr lang="en-US" altLang="zh-CN" dirty="0"/>
          </a:p>
          <a:p>
            <a:r>
              <a:rPr lang="zh-CN" altLang="en-US" dirty="0"/>
              <a:t>主导</a:t>
            </a:r>
            <a:r>
              <a:rPr lang="en-US" altLang="zh-CN" dirty="0"/>
              <a:t>/</a:t>
            </a:r>
            <a:r>
              <a:rPr lang="zh-CN" altLang="en-US" dirty="0"/>
              <a:t>权贵</a:t>
            </a:r>
            <a:endParaRPr lang="en-US" altLang="zh-CN" dirty="0"/>
          </a:p>
          <a:p>
            <a:r>
              <a:rPr lang="zh-CN" altLang="en-US" dirty="0"/>
              <a:t>确定</a:t>
            </a:r>
            <a:r>
              <a:rPr lang="en-US" altLang="zh-CN" dirty="0"/>
              <a:t>/</a:t>
            </a:r>
            <a:r>
              <a:rPr lang="zh-CN" altLang="en-US" dirty="0"/>
              <a:t>统治</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408</a:t>
            </a:fld>
            <a:endParaRPr lang="zh-CN" altLang="en-US"/>
          </a:p>
        </p:txBody>
      </p:sp>
    </p:spTree>
    <p:extLst>
      <p:ext uri="{BB962C8B-B14F-4D97-AF65-F5344CB8AC3E}">
        <p14:creationId xmlns:p14="http://schemas.microsoft.com/office/powerpoint/2010/main" val="2734544346"/>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A6EC8-62F6-C1C8-064E-E4A3060557C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8502B93-48A8-4E3C-DBA9-6ABC14D3186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FD1E751-C958-1669-5542-66D4E81E3D31}"/>
              </a:ext>
            </a:extLst>
          </p:cNvPr>
          <p:cNvSpPr>
            <a:spLocks noGrp="1"/>
          </p:cNvSpPr>
          <p:nvPr>
            <p:ph type="body" idx="1"/>
          </p:nvPr>
        </p:nvSpPr>
        <p:spPr/>
        <p:txBody>
          <a:bodyPr/>
          <a:lstStyle/>
          <a:p>
            <a:r>
              <a:rPr lang="zh-CN" altLang="en-US" dirty="0"/>
              <a:t>制定具体的“作战地图”，明确如何把干系人从“当前状态”引导至“期望状态”</a:t>
            </a:r>
          </a:p>
          <a:p>
            <a:endParaRPr lang="zh-CN" altLang="en-US" dirty="0"/>
          </a:p>
        </p:txBody>
      </p:sp>
      <p:sp>
        <p:nvSpPr>
          <p:cNvPr id="4" name="灯片编号占位符 3">
            <a:extLst>
              <a:ext uri="{FF2B5EF4-FFF2-40B4-BE49-F238E27FC236}">
                <a16:creationId xmlns:a16="http://schemas.microsoft.com/office/drawing/2014/main" id="{E1BEBB5A-A2C4-1DBC-6BC4-9D1AA4E92119}"/>
              </a:ext>
            </a:extLst>
          </p:cNvPr>
          <p:cNvSpPr>
            <a:spLocks noGrp="1"/>
          </p:cNvSpPr>
          <p:nvPr>
            <p:ph type="sldNum" sz="quarter" idx="5"/>
          </p:nvPr>
        </p:nvSpPr>
        <p:spPr/>
        <p:txBody>
          <a:bodyPr/>
          <a:lstStyle/>
          <a:p>
            <a:fld id="{6D27E3F6-C3AC-4131-BD60-F31F1EE091B2}" type="slidenum">
              <a:rPr lang="zh-CN" altLang="en-US" smtClean="0"/>
              <a:t>409</a:t>
            </a:fld>
            <a:endParaRPr lang="zh-CN" altLang="en-US"/>
          </a:p>
        </p:txBody>
      </p:sp>
    </p:spTree>
    <p:extLst>
      <p:ext uri="{BB962C8B-B14F-4D97-AF65-F5344CB8AC3E}">
        <p14:creationId xmlns:p14="http://schemas.microsoft.com/office/powerpoint/2010/main" val="2030277805"/>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制定具体的“作战地图”，明确如何把干系人从“当前状态”引导至“期望状态”</a:t>
            </a:r>
          </a:p>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410</a:t>
            </a:fld>
            <a:endParaRPr lang="zh-CN" altLang="en-US"/>
          </a:p>
        </p:txBody>
      </p:sp>
    </p:spTree>
    <p:extLst>
      <p:ext uri="{BB962C8B-B14F-4D97-AF65-F5344CB8AC3E}">
        <p14:creationId xmlns:p14="http://schemas.microsoft.com/office/powerpoint/2010/main" val="1755653803"/>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Maslow's Hierarchy of Needs</a:t>
            </a:r>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413</a:t>
            </a:fld>
            <a:endParaRPr lang="zh-CN" altLang="en-US"/>
          </a:p>
        </p:txBody>
      </p:sp>
    </p:spTree>
    <p:extLst>
      <p:ext uri="{BB962C8B-B14F-4D97-AF65-F5344CB8AC3E}">
        <p14:creationId xmlns:p14="http://schemas.microsoft.com/office/powerpoint/2010/main" val="3975839108"/>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417</a:t>
            </a:fld>
            <a:endParaRPr lang="zh-CN" altLang="en-US"/>
          </a:p>
        </p:txBody>
      </p:sp>
    </p:spTree>
    <p:extLst>
      <p:ext uri="{BB962C8B-B14F-4D97-AF65-F5344CB8AC3E}">
        <p14:creationId xmlns:p14="http://schemas.microsoft.com/office/powerpoint/2010/main" val="809038677"/>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紧急情况，使用口头沟通</a:t>
            </a:r>
          </a:p>
          <a:p>
            <a:r>
              <a:rPr lang="zh-CN" altLang="en-US" dirty="0"/>
              <a:t>重要事项，书面沟通</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418</a:t>
            </a:fld>
            <a:endParaRPr lang="zh-CN" altLang="en-US"/>
          </a:p>
        </p:txBody>
      </p:sp>
    </p:spTree>
    <p:extLst>
      <p:ext uri="{BB962C8B-B14F-4D97-AF65-F5344CB8AC3E}">
        <p14:creationId xmlns:p14="http://schemas.microsoft.com/office/powerpoint/2010/main" val="3500072887"/>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t>6</a:t>
            </a:r>
            <a:r>
              <a:rPr lang="zh-CN" altLang="en-US" sz="1200" dirty="0"/>
              <a:t>个人</a:t>
            </a:r>
            <a:r>
              <a:rPr lang="en-US" altLang="zh-CN" sz="1200" dirty="0"/>
              <a:t>8</a:t>
            </a:r>
            <a:r>
              <a:rPr lang="zh-CN" altLang="en-US" sz="1200" dirty="0"/>
              <a:t>个微信群</a:t>
            </a:r>
            <a:r>
              <a:rPr lang="en-US" altLang="zh-CN" sz="1200" dirty="0"/>
              <a:t>…</a:t>
            </a:r>
          </a:p>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419</a:t>
            </a:fld>
            <a:endParaRPr lang="zh-CN" altLang="en-US"/>
          </a:p>
        </p:txBody>
      </p:sp>
    </p:spTree>
    <p:extLst>
      <p:ext uri="{BB962C8B-B14F-4D97-AF65-F5344CB8AC3E}">
        <p14:creationId xmlns:p14="http://schemas.microsoft.com/office/powerpoint/2010/main" val="2161483684"/>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A</a:t>
            </a:r>
            <a:r>
              <a:rPr lang="zh-CN" altLang="en-US"/>
              <a:t>：无法消除</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429</a:t>
            </a:fld>
            <a:endParaRPr lang="zh-CN" altLang="en-US"/>
          </a:p>
        </p:txBody>
      </p:sp>
    </p:spTree>
    <p:extLst>
      <p:ext uri="{BB962C8B-B14F-4D97-AF65-F5344CB8AC3E}">
        <p14:creationId xmlns:p14="http://schemas.microsoft.com/office/powerpoint/2010/main" val="3176450880"/>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432</a:t>
            </a:fld>
            <a:endParaRPr lang="zh-CN" altLang="en-US"/>
          </a:p>
        </p:txBody>
      </p:sp>
    </p:spTree>
    <p:extLst>
      <p:ext uri="{BB962C8B-B14F-4D97-AF65-F5344CB8AC3E}">
        <p14:creationId xmlns:p14="http://schemas.microsoft.com/office/powerpoint/2010/main" val="320146036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风险识别是识别风险事件</a:t>
            </a:r>
            <a:r>
              <a:rPr lang="en-US" altLang="zh-CN" dirty="0"/>
              <a:t>, </a:t>
            </a:r>
            <a:r>
              <a:rPr lang="zh-CN" altLang="en-US" dirty="0"/>
              <a:t>系统化地确定对项目计划的威胁，识别已知和可预测的风险</a:t>
            </a:r>
            <a:endParaRPr lang="en-US" altLang="zh-CN" dirty="0"/>
          </a:p>
          <a:p>
            <a:endParaRPr lang="en-US" altLang="zh-CN" dirty="0"/>
          </a:p>
          <a:p>
            <a:r>
              <a:rPr lang="zh-CN" altLang="en-US" dirty="0"/>
              <a:t>对风险事件发生概率的评估，对项目风险影响的评估，给出项目风险排序</a:t>
            </a:r>
            <a:endParaRPr lang="en-US" altLang="zh-CN" dirty="0"/>
          </a:p>
          <a:p>
            <a:endParaRPr lang="en-US" altLang="zh-CN" dirty="0"/>
          </a:p>
          <a:p>
            <a:r>
              <a:rPr lang="zh-CN" altLang="en-US" dirty="0"/>
              <a:t>针对风险分析的结果，制定一定的行动和策略来对付、减少、以至于消灭风险事件造成的影响</a:t>
            </a:r>
          </a:p>
          <a:p>
            <a:endParaRPr lang="en-US" altLang="zh-CN" dirty="0"/>
          </a:p>
          <a:p>
            <a:r>
              <a:rPr lang="zh-CN" altLang="en-US" dirty="0"/>
              <a:t>风险控制是在项目执行过程中实施和监控风险计划，同时，不断进行风险识别、风险分析、风险规划的过程。</a:t>
            </a: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434</a:t>
            </a:fld>
            <a:endParaRPr lang="zh-CN" altLang="en-US"/>
          </a:p>
        </p:txBody>
      </p:sp>
    </p:spTree>
    <p:extLst>
      <p:ext uri="{BB962C8B-B14F-4D97-AF65-F5344CB8AC3E}">
        <p14:creationId xmlns:p14="http://schemas.microsoft.com/office/powerpoint/2010/main" val="3256401110"/>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总价：乙方</a:t>
            </a:r>
            <a:r>
              <a:rPr lang="en-US" altLang="zh-CN"/>
              <a:t>/</a:t>
            </a:r>
            <a:r>
              <a:rPr lang="zh-CN" altLang="en-US"/>
              <a:t>承包人风险大</a:t>
            </a:r>
            <a:endParaRPr lang="en-US" altLang="zh-CN"/>
          </a:p>
          <a:p>
            <a:r>
              <a:rPr lang="zh-CN" altLang="en-US"/>
              <a:t>补偿：实报实销；甲方</a:t>
            </a:r>
            <a:r>
              <a:rPr lang="en-US" altLang="zh-CN"/>
              <a:t>/</a:t>
            </a:r>
            <a:r>
              <a:rPr lang="zh-CN" altLang="en-US"/>
              <a:t>出包人风险大</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454</a:t>
            </a:fld>
            <a:endParaRPr lang="zh-CN" altLang="en-US"/>
          </a:p>
        </p:txBody>
      </p:sp>
    </p:spTree>
    <p:extLst>
      <p:ext uri="{BB962C8B-B14F-4D97-AF65-F5344CB8AC3E}">
        <p14:creationId xmlns:p14="http://schemas.microsoft.com/office/powerpoint/2010/main" val="7454524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2" name="任意多边形: 形状 11">
            <a:extLst>
              <a:ext uri="{FF2B5EF4-FFF2-40B4-BE49-F238E27FC236}">
                <a16:creationId xmlns:a16="http://schemas.microsoft.com/office/drawing/2014/main" id="{35018243-8368-3C35-D7EF-4E82F0195AB2}"/>
              </a:ext>
            </a:extLst>
          </p:cNvPr>
          <p:cNvSpPr/>
          <p:nvPr userDrawn="1"/>
        </p:nvSpPr>
        <p:spPr>
          <a:xfrm>
            <a:off x="0" y="5662289"/>
            <a:ext cx="12191998" cy="864346"/>
          </a:xfrm>
          <a:custGeom>
            <a:avLst/>
            <a:gdLst>
              <a:gd name="csX0" fmla="*/ 0 w 12191998"/>
              <a:gd name="csY0" fmla="*/ 0 h 864346"/>
              <a:gd name="csX1" fmla="*/ 46681 w 12191998"/>
              <a:gd name="csY1" fmla="*/ 55327 h 864346"/>
              <a:gd name="csX2" fmla="*/ 1135002 w 12191998"/>
              <a:gd name="csY2" fmla="*/ 320734 h 864346"/>
              <a:gd name="csX3" fmla="*/ 4914859 w 12191998"/>
              <a:gd name="csY3" fmla="*/ 320734 h 864346"/>
              <a:gd name="csX4" fmla="*/ 6096000 w 12191998"/>
              <a:gd name="csY4" fmla="*/ 755290 h 864346"/>
              <a:gd name="csX5" fmla="*/ 7277141 w 12191998"/>
              <a:gd name="csY5" fmla="*/ 320734 h 864346"/>
              <a:gd name="csX6" fmla="*/ 11056998 w 12191998"/>
              <a:gd name="csY6" fmla="*/ 320734 h 864346"/>
              <a:gd name="csX7" fmla="*/ 12145319 w 12191998"/>
              <a:gd name="csY7" fmla="*/ 55327 h 864346"/>
              <a:gd name="csX8" fmla="*/ 12191998 w 12191998"/>
              <a:gd name="csY8" fmla="*/ 2 h 864346"/>
              <a:gd name="csX9" fmla="*/ 12191998 w 12191998"/>
              <a:gd name="csY9" fmla="*/ 864346 h 864346"/>
              <a:gd name="csX10" fmla="*/ 0 w 12191998"/>
              <a:gd name="csY10" fmla="*/ 864346 h 8643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191998" h="864346">
                <a:moveTo>
                  <a:pt x="0" y="0"/>
                </a:moveTo>
                <a:lnTo>
                  <a:pt x="46681" y="55327"/>
                </a:lnTo>
                <a:cubicBezTo>
                  <a:pt x="225988" y="211295"/>
                  <a:pt x="645757" y="320734"/>
                  <a:pt x="1135002" y="320734"/>
                </a:cubicBezTo>
                <a:lnTo>
                  <a:pt x="4914859" y="320734"/>
                </a:lnTo>
                <a:cubicBezTo>
                  <a:pt x="5567185" y="320734"/>
                  <a:pt x="6096000" y="515291"/>
                  <a:pt x="6096000" y="755290"/>
                </a:cubicBezTo>
                <a:cubicBezTo>
                  <a:pt x="6096000" y="515291"/>
                  <a:pt x="6624815" y="320734"/>
                  <a:pt x="7277141" y="320734"/>
                </a:cubicBezTo>
                <a:lnTo>
                  <a:pt x="11056998" y="320734"/>
                </a:lnTo>
                <a:cubicBezTo>
                  <a:pt x="11546243" y="320734"/>
                  <a:pt x="11966012" y="211295"/>
                  <a:pt x="12145319" y="55327"/>
                </a:cubicBezTo>
                <a:lnTo>
                  <a:pt x="12191998" y="2"/>
                </a:lnTo>
                <a:lnTo>
                  <a:pt x="12191998" y="864346"/>
                </a:lnTo>
                <a:lnTo>
                  <a:pt x="0" y="864346"/>
                </a:lnTo>
                <a:close/>
              </a:path>
            </a:pathLst>
          </a:cu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a:solidFill>
                <a:schemeClr val="tx1"/>
              </a:solidFill>
            </a:endParaRPr>
          </a:p>
        </p:txBody>
      </p:sp>
      <p:sp>
        <p:nvSpPr>
          <p:cNvPr id="13" name="任意多边形: 形状 12">
            <a:extLst>
              <a:ext uri="{FF2B5EF4-FFF2-40B4-BE49-F238E27FC236}">
                <a16:creationId xmlns:a16="http://schemas.microsoft.com/office/drawing/2014/main" id="{FDDA0925-7EFE-1EF5-4848-F173FAD94EE7}"/>
              </a:ext>
            </a:extLst>
          </p:cNvPr>
          <p:cNvSpPr/>
          <p:nvPr userDrawn="1"/>
        </p:nvSpPr>
        <p:spPr>
          <a:xfrm>
            <a:off x="0" y="5772744"/>
            <a:ext cx="12191998" cy="864346"/>
          </a:xfrm>
          <a:custGeom>
            <a:avLst/>
            <a:gdLst>
              <a:gd name="csX0" fmla="*/ 0 w 12191998"/>
              <a:gd name="csY0" fmla="*/ 0 h 864346"/>
              <a:gd name="csX1" fmla="*/ 46681 w 12191998"/>
              <a:gd name="csY1" fmla="*/ 55327 h 864346"/>
              <a:gd name="csX2" fmla="*/ 1135002 w 12191998"/>
              <a:gd name="csY2" fmla="*/ 320734 h 864346"/>
              <a:gd name="csX3" fmla="*/ 4914859 w 12191998"/>
              <a:gd name="csY3" fmla="*/ 320734 h 864346"/>
              <a:gd name="csX4" fmla="*/ 6096000 w 12191998"/>
              <a:gd name="csY4" fmla="*/ 755290 h 864346"/>
              <a:gd name="csX5" fmla="*/ 7277141 w 12191998"/>
              <a:gd name="csY5" fmla="*/ 320734 h 864346"/>
              <a:gd name="csX6" fmla="*/ 11056998 w 12191998"/>
              <a:gd name="csY6" fmla="*/ 320734 h 864346"/>
              <a:gd name="csX7" fmla="*/ 12145319 w 12191998"/>
              <a:gd name="csY7" fmla="*/ 55327 h 864346"/>
              <a:gd name="csX8" fmla="*/ 12191998 w 12191998"/>
              <a:gd name="csY8" fmla="*/ 2 h 864346"/>
              <a:gd name="csX9" fmla="*/ 12191998 w 12191998"/>
              <a:gd name="csY9" fmla="*/ 864346 h 864346"/>
              <a:gd name="csX10" fmla="*/ 0 w 12191998"/>
              <a:gd name="csY10" fmla="*/ 864346 h 8643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191998" h="864346">
                <a:moveTo>
                  <a:pt x="0" y="0"/>
                </a:moveTo>
                <a:lnTo>
                  <a:pt x="46681" y="55327"/>
                </a:lnTo>
                <a:cubicBezTo>
                  <a:pt x="225988" y="211295"/>
                  <a:pt x="645757" y="320734"/>
                  <a:pt x="1135002" y="320734"/>
                </a:cubicBezTo>
                <a:lnTo>
                  <a:pt x="4914859" y="320734"/>
                </a:lnTo>
                <a:cubicBezTo>
                  <a:pt x="5567185" y="320734"/>
                  <a:pt x="6096000" y="515291"/>
                  <a:pt x="6096000" y="755290"/>
                </a:cubicBezTo>
                <a:cubicBezTo>
                  <a:pt x="6096000" y="515291"/>
                  <a:pt x="6624815" y="320734"/>
                  <a:pt x="7277141" y="320734"/>
                </a:cubicBezTo>
                <a:lnTo>
                  <a:pt x="11056998" y="320734"/>
                </a:lnTo>
                <a:cubicBezTo>
                  <a:pt x="11546243" y="320734"/>
                  <a:pt x="11966012" y="211295"/>
                  <a:pt x="12145319" y="55327"/>
                </a:cubicBezTo>
                <a:lnTo>
                  <a:pt x="12191998" y="2"/>
                </a:lnTo>
                <a:lnTo>
                  <a:pt x="12191998" y="864346"/>
                </a:lnTo>
                <a:lnTo>
                  <a:pt x="0" y="864346"/>
                </a:ln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a:solidFill>
                <a:schemeClr val="tx1"/>
              </a:solidFill>
            </a:endParaRPr>
          </a:p>
        </p:txBody>
      </p:sp>
      <p:sp>
        <p:nvSpPr>
          <p:cNvPr id="14" name="任意多边形: 形状 13">
            <a:extLst>
              <a:ext uri="{FF2B5EF4-FFF2-40B4-BE49-F238E27FC236}">
                <a16:creationId xmlns:a16="http://schemas.microsoft.com/office/drawing/2014/main" id="{6833F8F8-9C07-E67E-F79A-395B5108E8DD}"/>
              </a:ext>
            </a:extLst>
          </p:cNvPr>
          <p:cNvSpPr/>
          <p:nvPr userDrawn="1"/>
        </p:nvSpPr>
        <p:spPr>
          <a:xfrm>
            <a:off x="0" y="5883199"/>
            <a:ext cx="12191998" cy="864346"/>
          </a:xfrm>
          <a:custGeom>
            <a:avLst/>
            <a:gdLst>
              <a:gd name="csX0" fmla="*/ 0 w 12191998"/>
              <a:gd name="csY0" fmla="*/ 0 h 864346"/>
              <a:gd name="csX1" fmla="*/ 46681 w 12191998"/>
              <a:gd name="csY1" fmla="*/ 55327 h 864346"/>
              <a:gd name="csX2" fmla="*/ 1135002 w 12191998"/>
              <a:gd name="csY2" fmla="*/ 320734 h 864346"/>
              <a:gd name="csX3" fmla="*/ 4914859 w 12191998"/>
              <a:gd name="csY3" fmla="*/ 320734 h 864346"/>
              <a:gd name="csX4" fmla="*/ 6096000 w 12191998"/>
              <a:gd name="csY4" fmla="*/ 755290 h 864346"/>
              <a:gd name="csX5" fmla="*/ 7277141 w 12191998"/>
              <a:gd name="csY5" fmla="*/ 320734 h 864346"/>
              <a:gd name="csX6" fmla="*/ 11056998 w 12191998"/>
              <a:gd name="csY6" fmla="*/ 320734 h 864346"/>
              <a:gd name="csX7" fmla="*/ 12145319 w 12191998"/>
              <a:gd name="csY7" fmla="*/ 55327 h 864346"/>
              <a:gd name="csX8" fmla="*/ 12191998 w 12191998"/>
              <a:gd name="csY8" fmla="*/ 2 h 864346"/>
              <a:gd name="csX9" fmla="*/ 12191998 w 12191998"/>
              <a:gd name="csY9" fmla="*/ 864346 h 864346"/>
              <a:gd name="csX10" fmla="*/ 0 w 12191998"/>
              <a:gd name="csY10" fmla="*/ 864346 h 8643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191998" h="864346">
                <a:moveTo>
                  <a:pt x="0" y="0"/>
                </a:moveTo>
                <a:lnTo>
                  <a:pt x="46681" y="55327"/>
                </a:lnTo>
                <a:cubicBezTo>
                  <a:pt x="225988" y="211295"/>
                  <a:pt x="645757" y="320734"/>
                  <a:pt x="1135002" y="320734"/>
                </a:cubicBezTo>
                <a:lnTo>
                  <a:pt x="4914859" y="320734"/>
                </a:lnTo>
                <a:cubicBezTo>
                  <a:pt x="5567185" y="320734"/>
                  <a:pt x="6096000" y="515291"/>
                  <a:pt x="6096000" y="755290"/>
                </a:cubicBezTo>
                <a:cubicBezTo>
                  <a:pt x="6096000" y="515291"/>
                  <a:pt x="6624815" y="320734"/>
                  <a:pt x="7277141" y="320734"/>
                </a:cubicBezTo>
                <a:lnTo>
                  <a:pt x="11056998" y="320734"/>
                </a:lnTo>
                <a:cubicBezTo>
                  <a:pt x="11546243" y="320734"/>
                  <a:pt x="11966012" y="211295"/>
                  <a:pt x="12145319" y="55327"/>
                </a:cubicBezTo>
                <a:lnTo>
                  <a:pt x="12191998" y="2"/>
                </a:lnTo>
                <a:lnTo>
                  <a:pt x="12191998" y="864346"/>
                </a:lnTo>
                <a:lnTo>
                  <a:pt x="0" y="864346"/>
                </a:lnTo>
                <a:close/>
              </a:path>
            </a:pathLst>
          </a:cu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a:solidFill>
                <a:schemeClr val="tx1"/>
              </a:solidFill>
            </a:endParaRPr>
          </a:p>
        </p:txBody>
      </p:sp>
      <p:sp>
        <p:nvSpPr>
          <p:cNvPr id="15" name="任意多边形: 形状 14">
            <a:extLst>
              <a:ext uri="{FF2B5EF4-FFF2-40B4-BE49-F238E27FC236}">
                <a16:creationId xmlns:a16="http://schemas.microsoft.com/office/drawing/2014/main" id="{E2D85B70-A8EA-2CB9-7AA1-E34F6DD90D3A}"/>
              </a:ext>
            </a:extLst>
          </p:cNvPr>
          <p:cNvSpPr/>
          <p:nvPr userDrawn="1"/>
        </p:nvSpPr>
        <p:spPr>
          <a:xfrm>
            <a:off x="0" y="5993654"/>
            <a:ext cx="12191998" cy="864346"/>
          </a:xfrm>
          <a:custGeom>
            <a:avLst/>
            <a:gdLst>
              <a:gd name="csX0" fmla="*/ 0 w 12191998"/>
              <a:gd name="csY0" fmla="*/ 0 h 864346"/>
              <a:gd name="csX1" fmla="*/ 46681 w 12191998"/>
              <a:gd name="csY1" fmla="*/ 55327 h 864346"/>
              <a:gd name="csX2" fmla="*/ 1135002 w 12191998"/>
              <a:gd name="csY2" fmla="*/ 320734 h 864346"/>
              <a:gd name="csX3" fmla="*/ 4914859 w 12191998"/>
              <a:gd name="csY3" fmla="*/ 320734 h 864346"/>
              <a:gd name="csX4" fmla="*/ 6096000 w 12191998"/>
              <a:gd name="csY4" fmla="*/ 755290 h 864346"/>
              <a:gd name="csX5" fmla="*/ 7277141 w 12191998"/>
              <a:gd name="csY5" fmla="*/ 320734 h 864346"/>
              <a:gd name="csX6" fmla="*/ 11056998 w 12191998"/>
              <a:gd name="csY6" fmla="*/ 320734 h 864346"/>
              <a:gd name="csX7" fmla="*/ 12145319 w 12191998"/>
              <a:gd name="csY7" fmla="*/ 55327 h 864346"/>
              <a:gd name="csX8" fmla="*/ 12191998 w 12191998"/>
              <a:gd name="csY8" fmla="*/ 2 h 864346"/>
              <a:gd name="csX9" fmla="*/ 12191998 w 12191998"/>
              <a:gd name="csY9" fmla="*/ 864346 h 864346"/>
              <a:gd name="csX10" fmla="*/ 0 w 12191998"/>
              <a:gd name="csY10" fmla="*/ 864346 h 8643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191998" h="864346">
                <a:moveTo>
                  <a:pt x="0" y="0"/>
                </a:moveTo>
                <a:lnTo>
                  <a:pt x="46681" y="55327"/>
                </a:lnTo>
                <a:cubicBezTo>
                  <a:pt x="225988" y="211295"/>
                  <a:pt x="645757" y="320734"/>
                  <a:pt x="1135002" y="320734"/>
                </a:cubicBezTo>
                <a:lnTo>
                  <a:pt x="4914859" y="320734"/>
                </a:lnTo>
                <a:cubicBezTo>
                  <a:pt x="5567185" y="320734"/>
                  <a:pt x="6096000" y="515291"/>
                  <a:pt x="6096000" y="755290"/>
                </a:cubicBezTo>
                <a:cubicBezTo>
                  <a:pt x="6096000" y="515291"/>
                  <a:pt x="6624815" y="320734"/>
                  <a:pt x="7277141" y="320734"/>
                </a:cubicBezTo>
                <a:lnTo>
                  <a:pt x="11056998" y="320734"/>
                </a:lnTo>
                <a:cubicBezTo>
                  <a:pt x="11546243" y="320734"/>
                  <a:pt x="11966012" y="211295"/>
                  <a:pt x="12145319" y="55327"/>
                </a:cubicBezTo>
                <a:lnTo>
                  <a:pt x="12191998" y="2"/>
                </a:lnTo>
                <a:lnTo>
                  <a:pt x="12191998" y="864346"/>
                </a:lnTo>
                <a:lnTo>
                  <a:pt x="0" y="864346"/>
                </a:lnTo>
                <a:close/>
              </a:path>
            </a:pathLst>
          </a:cu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a:solidFill>
                <a:schemeClr val="tx1"/>
              </a:solidFill>
            </a:endParaRPr>
          </a:p>
        </p:txBody>
      </p:sp>
      <p:sp>
        <p:nvSpPr>
          <p:cNvPr id="2" name="标题 1">
            <a:extLst>
              <a:ext uri="{FF2B5EF4-FFF2-40B4-BE49-F238E27FC236}">
                <a16:creationId xmlns:a16="http://schemas.microsoft.com/office/drawing/2014/main" id="{72F450D1-2B98-9869-554D-D0BA13E48E58}"/>
              </a:ext>
            </a:extLst>
          </p:cNvPr>
          <p:cNvSpPr>
            <a:spLocks noGrp="1"/>
          </p:cNvSpPr>
          <p:nvPr userDrawn="1">
            <p:ph type="ctrTitle"/>
          </p:nvPr>
        </p:nvSpPr>
        <p:spPr>
          <a:xfrm>
            <a:off x="2464886" y="4681056"/>
            <a:ext cx="7262228" cy="798491"/>
          </a:xfrm>
          <a:noFill/>
        </p:spPr>
        <p:txBody>
          <a:bodyPr wrap="square" lIns="180000" tIns="72000" rIns="180000" bIns="72000" anchor="b" anchorCtr="0">
            <a:noAutofit/>
          </a:bodyPr>
          <a:lstStyle>
            <a:lvl1pPr algn="ctr">
              <a:defRPr sz="4000" spc="200" baseline="0">
                <a:solidFill>
                  <a:srgbClr val="00B0F0"/>
                </a:solidFill>
              </a:defRPr>
            </a:lvl1pPr>
          </a:lstStyle>
          <a:p>
            <a:r>
              <a:rPr lang="zh-CN" altLang="en-US" dirty="0"/>
              <a:t>单击此处编辑母版标题样式</a:t>
            </a:r>
          </a:p>
        </p:txBody>
      </p:sp>
      <p:sp>
        <p:nvSpPr>
          <p:cNvPr id="3" name="副标题 2">
            <a:extLst>
              <a:ext uri="{FF2B5EF4-FFF2-40B4-BE49-F238E27FC236}">
                <a16:creationId xmlns:a16="http://schemas.microsoft.com/office/drawing/2014/main" id="{A87B90A3-455D-D324-B463-CDE9FC6BE089}"/>
              </a:ext>
            </a:extLst>
          </p:cNvPr>
          <p:cNvSpPr>
            <a:spLocks noGrp="1"/>
          </p:cNvSpPr>
          <p:nvPr userDrawn="1">
            <p:ph type="subTitle" idx="1"/>
          </p:nvPr>
        </p:nvSpPr>
        <p:spPr>
          <a:xfrm>
            <a:off x="2464886" y="5479548"/>
            <a:ext cx="7262228" cy="458180"/>
          </a:xfrm>
          <a:noFill/>
        </p:spPr>
        <p:txBody>
          <a:bodyPr wrap="square" lIns="180000" tIns="72000" rIns="180000" bIns="72000">
            <a:noAutofit/>
          </a:bodyPr>
          <a:lstStyle>
            <a:lvl1pPr marL="0" indent="0" algn="ctr">
              <a:buNone/>
              <a:defRPr sz="2400">
                <a:solidFill>
                  <a:srgbClr val="00B0F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22" name="文本占位符 21">
            <a:extLst>
              <a:ext uri="{FF2B5EF4-FFF2-40B4-BE49-F238E27FC236}">
                <a16:creationId xmlns:a16="http://schemas.microsoft.com/office/drawing/2014/main" id="{A1F7BB37-E4C0-C016-3E58-F8D62C5C16A4}"/>
              </a:ext>
            </a:extLst>
          </p:cNvPr>
          <p:cNvSpPr>
            <a:spLocks noGrp="1"/>
          </p:cNvSpPr>
          <p:nvPr userDrawn="1">
            <p:ph type="body" sz="quarter" idx="11"/>
          </p:nvPr>
        </p:nvSpPr>
        <p:spPr>
          <a:xfrm>
            <a:off x="3883891" y="2047875"/>
            <a:ext cx="4424219" cy="2531269"/>
          </a:xfrm>
        </p:spPr>
        <p:txBody>
          <a:bodyPr/>
          <a:lstStyle>
            <a:lvl1pPr algn="l">
              <a:buFont typeface="+mj-lt"/>
              <a:buAutoNum type="arabicPeriod"/>
              <a:defRPr sz="2000" baseline="0">
                <a:latin typeface="Roboto Mono" pitchFamily="2" charset="0"/>
              </a:defRPr>
            </a:lvl1pPr>
          </a:lstStyle>
          <a:p>
            <a:pPr lvl="0"/>
            <a:r>
              <a:rPr lang="zh-CN" altLang="en-US" dirty="0"/>
              <a:t>单击此处编辑母版文本样式</a:t>
            </a:r>
          </a:p>
        </p:txBody>
      </p:sp>
      <p:pic>
        <p:nvPicPr>
          <p:cNvPr id="11" name="图片 10">
            <a:extLst>
              <a:ext uri="{FF2B5EF4-FFF2-40B4-BE49-F238E27FC236}">
                <a16:creationId xmlns:a16="http://schemas.microsoft.com/office/drawing/2014/main" id="{AAD46275-3AD6-767E-0713-088117FF7C2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47801" y="84798"/>
            <a:ext cx="900000" cy="900000"/>
          </a:xfrm>
          <a:prstGeom prst="rect">
            <a:avLst/>
          </a:prstGeom>
        </p:spPr>
      </p:pic>
    </p:spTree>
    <p:extLst>
      <p:ext uri="{BB962C8B-B14F-4D97-AF65-F5344CB8AC3E}">
        <p14:creationId xmlns:p14="http://schemas.microsoft.com/office/powerpoint/2010/main" val="39040826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6456F5-2A18-8257-6B35-05010BF45EAB}"/>
              </a:ext>
            </a:extLst>
          </p:cNvPr>
          <p:cNvSpPr>
            <a:spLocks noGrp="1"/>
          </p:cNvSpPr>
          <p:nvPr>
            <p:ph type="title"/>
          </p:nvPr>
        </p:nvSpPr>
        <p:spPr>
          <a:xfrm>
            <a:off x="694800" y="360000"/>
            <a:ext cx="6375921" cy="429413"/>
          </a:xfrm>
        </p:spPr>
        <p:txBody>
          <a:bodyPr>
            <a:noAutofit/>
          </a:bodyPr>
          <a:lstStyle>
            <a:lvl1pPr>
              <a:defRPr lang="zh-CN" altLang="en-US" dirty="0"/>
            </a:lvl1pPr>
          </a:lstStyle>
          <a:p>
            <a:r>
              <a:rPr lang="zh-CN" altLang="en-US" dirty="0"/>
              <a:t>单击此处编辑母版标题样式</a:t>
            </a:r>
          </a:p>
        </p:txBody>
      </p:sp>
      <p:sp>
        <p:nvSpPr>
          <p:cNvPr id="3" name="内容占位符 2">
            <a:extLst>
              <a:ext uri="{FF2B5EF4-FFF2-40B4-BE49-F238E27FC236}">
                <a16:creationId xmlns:a16="http://schemas.microsoft.com/office/drawing/2014/main" id="{41776D05-FCCE-6B04-6AA1-6194D1436192}"/>
              </a:ext>
            </a:extLst>
          </p:cNvPr>
          <p:cNvSpPr>
            <a:spLocks noGrp="1"/>
          </p:cNvSpPr>
          <p:nvPr>
            <p:ph idx="1"/>
          </p:nvPr>
        </p:nvSpPr>
        <p:spPr>
          <a:xfrm>
            <a:off x="694800" y="1338697"/>
            <a:ext cx="10800000" cy="4925303"/>
          </a:xfrm>
        </p:spPr>
        <p:txBody>
          <a:bodyPr/>
          <a:lstStyle>
            <a:lvl1pPr algn="l">
              <a:defRPr/>
            </a:lvl1pPr>
            <a:lvl2pPr marL="432000" indent="-180000" algn="l">
              <a:buFont typeface="Montserrat" panose="00000500000000000000" pitchFamily="2" charset="0"/>
              <a:buChar char="‐"/>
              <a:defRPr/>
            </a:lvl2pPr>
            <a:lvl3pPr marL="648000" indent="-180000" algn="l">
              <a:defRPr/>
            </a:lvl3pPr>
            <a:lvl4pPr marL="864000" indent="-180000" algn="l">
              <a:defRPr/>
            </a:lvl4pPr>
            <a:lvl5pPr marL="1080000" indent="-180000" algn="l">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5" name="文本占位符 4">
            <a:extLst>
              <a:ext uri="{FF2B5EF4-FFF2-40B4-BE49-F238E27FC236}">
                <a16:creationId xmlns:a16="http://schemas.microsoft.com/office/drawing/2014/main" id="{9F828CC5-6987-894B-DEE9-D85BFBE13D32}"/>
              </a:ext>
            </a:extLst>
          </p:cNvPr>
          <p:cNvSpPr>
            <a:spLocks noGrp="1"/>
          </p:cNvSpPr>
          <p:nvPr>
            <p:ph type="body" sz="quarter" idx="10" hasCustomPrompt="1"/>
          </p:nvPr>
        </p:nvSpPr>
        <p:spPr>
          <a:xfrm>
            <a:off x="7071919" y="448519"/>
            <a:ext cx="4424080" cy="338554"/>
          </a:xfrm>
        </p:spPr>
        <p:txBody>
          <a:bodyPr anchor="b" anchorCtr="0">
            <a:spAutoFit/>
          </a:bodyPr>
          <a:lstStyle>
            <a:lvl1pPr marL="0" indent="0" algn="r">
              <a:spcAft>
                <a:spcPts val="0"/>
              </a:spcAft>
              <a:buNone/>
              <a:defRPr sz="1600" baseline="0"/>
            </a:lvl1pPr>
          </a:lstStyle>
          <a:p>
            <a:pPr lvl="0"/>
            <a:r>
              <a:rPr lang="zh-CN" altLang="en-US" dirty="0"/>
              <a:t>单击此处编辑母版文本样式</a:t>
            </a:r>
          </a:p>
        </p:txBody>
      </p:sp>
      <p:sp>
        <p:nvSpPr>
          <p:cNvPr id="4" name="任意多边形 17">
            <a:extLst>
              <a:ext uri="{FF2B5EF4-FFF2-40B4-BE49-F238E27FC236}">
                <a16:creationId xmlns:a16="http://schemas.microsoft.com/office/drawing/2014/main" id="{38C9E751-9946-8375-545E-D94B5921ACE4}"/>
              </a:ext>
            </a:extLst>
          </p:cNvPr>
          <p:cNvSpPr/>
          <p:nvPr userDrawn="1"/>
        </p:nvSpPr>
        <p:spPr>
          <a:xfrm>
            <a:off x="576466" y="146471"/>
            <a:ext cx="714380" cy="642942"/>
          </a:xfrm>
          <a:custGeom>
            <a:avLst/>
            <a:gdLst>
              <a:gd name="connsiteX0" fmla="*/ 0 w 864000"/>
              <a:gd name="connsiteY0" fmla="*/ 0 h 864000"/>
              <a:gd name="connsiteX1" fmla="*/ 864000 w 864000"/>
              <a:gd name="connsiteY1" fmla="*/ 0 h 864000"/>
              <a:gd name="connsiteX2" fmla="*/ 864000 w 864000"/>
              <a:gd name="connsiteY2" fmla="*/ 261737 h 864000"/>
              <a:gd name="connsiteX3" fmla="*/ 751007 w 864000"/>
              <a:gd name="connsiteY3" fmla="*/ 261737 h 864000"/>
              <a:gd name="connsiteX4" fmla="*/ 751007 w 864000"/>
              <a:gd name="connsiteY4" fmla="*/ 112993 h 864000"/>
              <a:gd name="connsiteX5" fmla="*/ 112993 w 864000"/>
              <a:gd name="connsiteY5" fmla="*/ 112993 h 864000"/>
              <a:gd name="connsiteX6" fmla="*/ 112993 w 864000"/>
              <a:gd name="connsiteY6" fmla="*/ 751007 h 864000"/>
              <a:gd name="connsiteX7" fmla="*/ 246681 w 864000"/>
              <a:gd name="connsiteY7" fmla="*/ 751007 h 864000"/>
              <a:gd name="connsiteX8" fmla="*/ 246681 w 864000"/>
              <a:gd name="connsiteY8" fmla="*/ 864000 h 864000"/>
              <a:gd name="connsiteX9" fmla="*/ 0 w 864000"/>
              <a:gd name="connsiteY9" fmla="*/ 86400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4000" h="864000">
                <a:moveTo>
                  <a:pt x="0" y="0"/>
                </a:moveTo>
                <a:lnTo>
                  <a:pt x="864000" y="0"/>
                </a:lnTo>
                <a:lnTo>
                  <a:pt x="864000" y="261737"/>
                </a:lnTo>
                <a:lnTo>
                  <a:pt x="751007" y="261737"/>
                </a:lnTo>
                <a:lnTo>
                  <a:pt x="751007" y="112993"/>
                </a:lnTo>
                <a:lnTo>
                  <a:pt x="112993" y="112993"/>
                </a:lnTo>
                <a:lnTo>
                  <a:pt x="112993" y="751007"/>
                </a:lnTo>
                <a:lnTo>
                  <a:pt x="246681" y="751007"/>
                </a:lnTo>
                <a:lnTo>
                  <a:pt x="246681" y="864000"/>
                </a:lnTo>
                <a:lnTo>
                  <a:pt x="0" y="864000"/>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占位符 6">
            <a:extLst>
              <a:ext uri="{FF2B5EF4-FFF2-40B4-BE49-F238E27FC236}">
                <a16:creationId xmlns:a16="http://schemas.microsoft.com/office/drawing/2014/main" id="{60737263-B700-BD99-FCA2-0BA0DEFD8547}"/>
              </a:ext>
            </a:extLst>
          </p:cNvPr>
          <p:cNvSpPr>
            <a:spLocks noGrp="1"/>
          </p:cNvSpPr>
          <p:nvPr>
            <p:ph type="body" sz="quarter" idx="11"/>
          </p:nvPr>
        </p:nvSpPr>
        <p:spPr>
          <a:xfrm>
            <a:off x="694800" y="864000"/>
            <a:ext cx="6203950" cy="400110"/>
          </a:xfrm>
        </p:spPr>
        <p:txBody>
          <a:bodyPr anchor="ctr" anchorCtr="0">
            <a:spAutoFit/>
          </a:bodyPr>
          <a:lstStyle>
            <a:lvl1pPr>
              <a:buNone/>
              <a:defRPr/>
            </a:lvl1pPr>
            <a:lvl2pPr>
              <a:buNone/>
              <a:defRPr/>
            </a:lvl2pPr>
            <a:lvl3pPr>
              <a:buNone/>
              <a:defRPr/>
            </a:lvl3pPr>
            <a:lvl4pPr>
              <a:buNone/>
              <a:defRPr/>
            </a:lvl4pPr>
            <a:lvl5pPr>
              <a:buNone/>
              <a:defRPr/>
            </a:lvl5pPr>
          </a:lstStyle>
          <a:p>
            <a:pPr lvl="0"/>
            <a:r>
              <a:rPr lang="zh-CN" altLang="en-US" dirty="0"/>
              <a:t>单击此处编辑母版文本样式</a:t>
            </a:r>
          </a:p>
        </p:txBody>
      </p:sp>
    </p:spTree>
    <p:extLst>
      <p:ext uri="{BB962C8B-B14F-4D97-AF65-F5344CB8AC3E}">
        <p14:creationId xmlns:p14="http://schemas.microsoft.com/office/powerpoint/2010/main" val="938100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AEA411-AF1F-D336-508E-AFF9090E7372}"/>
              </a:ext>
            </a:extLst>
          </p:cNvPr>
          <p:cNvSpPr>
            <a:spLocks noGrp="1"/>
          </p:cNvSpPr>
          <p:nvPr>
            <p:ph type="title"/>
          </p:nvPr>
        </p:nvSpPr>
        <p:spPr>
          <a:xfrm>
            <a:off x="696000" y="360000"/>
            <a:ext cx="5400000" cy="429413"/>
          </a:xfrm>
        </p:spPr>
        <p:txBody>
          <a:bodyPr/>
          <a:lstStyle/>
          <a:p>
            <a:r>
              <a:rPr lang="zh-CN" altLang="en-US" dirty="0"/>
              <a:t>单击此处编辑母版标题样式</a:t>
            </a:r>
          </a:p>
        </p:txBody>
      </p:sp>
      <p:sp>
        <p:nvSpPr>
          <p:cNvPr id="3" name="任意多边形 17">
            <a:extLst>
              <a:ext uri="{FF2B5EF4-FFF2-40B4-BE49-F238E27FC236}">
                <a16:creationId xmlns:a16="http://schemas.microsoft.com/office/drawing/2014/main" id="{890B5453-1D5B-E368-D964-F4837BC227AF}"/>
              </a:ext>
            </a:extLst>
          </p:cNvPr>
          <p:cNvSpPr/>
          <p:nvPr userDrawn="1"/>
        </p:nvSpPr>
        <p:spPr>
          <a:xfrm>
            <a:off x="576466" y="146471"/>
            <a:ext cx="714380" cy="642942"/>
          </a:xfrm>
          <a:custGeom>
            <a:avLst/>
            <a:gdLst>
              <a:gd name="connsiteX0" fmla="*/ 0 w 864000"/>
              <a:gd name="connsiteY0" fmla="*/ 0 h 864000"/>
              <a:gd name="connsiteX1" fmla="*/ 864000 w 864000"/>
              <a:gd name="connsiteY1" fmla="*/ 0 h 864000"/>
              <a:gd name="connsiteX2" fmla="*/ 864000 w 864000"/>
              <a:gd name="connsiteY2" fmla="*/ 261737 h 864000"/>
              <a:gd name="connsiteX3" fmla="*/ 751007 w 864000"/>
              <a:gd name="connsiteY3" fmla="*/ 261737 h 864000"/>
              <a:gd name="connsiteX4" fmla="*/ 751007 w 864000"/>
              <a:gd name="connsiteY4" fmla="*/ 112993 h 864000"/>
              <a:gd name="connsiteX5" fmla="*/ 112993 w 864000"/>
              <a:gd name="connsiteY5" fmla="*/ 112993 h 864000"/>
              <a:gd name="connsiteX6" fmla="*/ 112993 w 864000"/>
              <a:gd name="connsiteY6" fmla="*/ 751007 h 864000"/>
              <a:gd name="connsiteX7" fmla="*/ 246681 w 864000"/>
              <a:gd name="connsiteY7" fmla="*/ 751007 h 864000"/>
              <a:gd name="connsiteX8" fmla="*/ 246681 w 864000"/>
              <a:gd name="connsiteY8" fmla="*/ 864000 h 864000"/>
              <a:gd name="connsiteX9" fmla="*/ 0 w 864000"/>
              <a:gd name="connsiteY9" fmla="*/ 86400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4000" h="864000">
                <a:moveTo>
                  <a:pt x="0" y="0"/>
                </a:moveTo>
                <a:lnTo>
                  <a:pt x="864000" y="0"/>
                </a:lnTo>
                <a:lnTo>
                  <a:pt x="864000" y="261737"/>
                </a:lnTo>
                <a:lnTo>
                  <a:pt x="751007" y="261737"/>
                </a:lnTo>
                <a:lnTo>
                  <a:pt x="751007" y="112993"/>
                </a:lnTo>
                <a:lnTo>
                  <a:pt x="112993" y="112993"/>
                </a:lnTo>
                <a:lnTo>
                  <a:pt x="112993" y="751007"/>
                </a:lnTo>
                <a:lnTo>
                  <a:pt x="246681" y="751007"/>
                </a:lnTo>
                <a:lnTo>
                  <a:pt x="246681" y="864000"/>
                </a:lnTo>
                <a:lnTo>
                  <a:pt x="0" y="864000"/>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681905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l2">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0C8346-C666-A5FF-9492-1442B9BDBF61}"/>
              </a:ext>
            </a:extLst>
          </p:cNvPr>
          <p:cNvSpPr>
            <a:spLocks noGrp="1"/>
          </p:cNvSpPr>
          <p:nvPr>
            <p:ph type="title"/>
          </p:nvPr>
        </p:nvSpPr>
        <p:spPr>
          <a:xfrm>
            <a:off x="696000" y="360000"/>
            <a:ext cx="10800000" cy="429413"/>
          </a:xfrm>
        </p:spPr>
        <p:txBody>
          <a:bodyPr>
            <a:noAutofit/>
          </a:bodyPr>
          <a:lstStyle>
            <a:lvl1pPr>
              <a:defRPr lang="zh-CN" altLang="en-US" dirty="0"/>
            </a:lvl1pPr>
          </a:lstStyle>
          <a:p>
            <a:r>
              <a:rPr lang="zh-CN" altLang="en-US" dirty="0"/>
              <a:t>单击此处编辑母版标题样式</a:t>
            </a:r>
          </a:p>
        </p:txBody>
      </p:sp>
      <p:sp>
        <p:nvSpPr>
          <p:cNvPr id="4" name="内容占位符 3">
            <a:extLst>
              <a:ext uri="{FF2B5EF4-FFF2-40B4-BE49-F238E27FC236}">
                <a16:creationId xmlns:a16="http://schemas.microsoft.com/office/drawing/2014/main" id="{374A661E-0644-2D4B-E381-2E8C530FD7CF}"/>
              </a:ext>
            </a:extLst>
          </p:cNvPr>
          <p:cNvSpPr>
            <a:spLocks noGrp="1"/>
          </p:cNvSpPr>
          <p:nvPr>
            <p:ph sz="quarter" idx="10"/>
          </p:nvPr>
        </p:nvSpPr>
        <p:spPr>
          <a:xfrm>
            <a:off x="695325" y="864000"/>
            <a:ext cx="5040000" cy="5400000"/>
          </a:xfrm>
        </p:spPr>
        <p:txBody>
          <a:bodyPr/>
          <a:lstStyle>
            <a:lvl2pPr marL="432000" indent="-180000">
              <a:buFont typeface="Montserrat" panose="00000500000000000000" pitchFamily="2" charset="0"/>
              <a:buChar char="‐"/>
              <a:defRPr/>
            </a:lvl2pPr>
            <a:lvl3pPr marL="648000" indent="-180000">
              <a:defRPr/>
            </a:lvl3pPr>
            <a:lvl4pPr marL="864000" indent="-180000">
              <a:defRPr/>
            </a:lvl4pPr>
            <a:lvl5pPr marL="1080000" indent="-180000">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7" name="内容占位符 6">
            <a:extLst>
              <a:ext uri="{FF2B5EF4-FFF2-40B4-BE49-F238E27FC236}">
                <a16:creationId xmlns:a16="http://schemas.microsoft.com/office/drawing/2014/main" id="{25546139-86B4-486C-6EA6-5F04E9CFD7D0}"/>
              </a:ext>
            </a:extLst>
          </p:cNvPr>
          <p:cNvSpPr>
            <a:spLocks noGrp="1"/>
          </p:cNvSpPr>
          <p:nvPr>
            <p:ph sz="quarter" idx="11"/>
          </p:nvPr>
        </p:nvSpPr>
        <p:spPr>
          <a:xfrm>
            <a:off x="6095325" y="864000"/>
            <a:ext cx="5400675" cy="5400000"/>
          </a:xfrm>
        </p:spPr>
        <p:txBody>
          <a:bodyPr/>
          <a:lstStyle>
            <a:lvl2pPr marL="432000" indent="-180000">
              <a:buFont typeface="Montserrat" panose="00000500000000000000" pitchFamily="2" charset="0"/>
              <a:buChar char="‐"/>
              <a:defRPr/>
            </a:lvl2pPr>
            <a:lvl3pPr marL="648000" indent="-180000">
              <a:defRPr/>
            </a:lvl3pPr>
            <a:lvl4pPr marL="864000" indent="-180000">
              <a:defRPr/>
            </a:lvl4pPr>
            <a:lvl5pPr marL="1080000" indent="-180000">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3" name="矩形 6">
            <a:extLst>
              <a:ext uri="{FF2B5EF4-FFF2-40B4-BE49-F238E27FC236}">
                <a16:creationId xmlns:a16="http://schemas.microsoft.com/office/drawing/2014/main" id="{721DC2F1-FD5D-DDAE-DDA6-BBDB5870A0F3}"/>
              </a:ext>
            </a:extLst>
          </p:cNvPr>
          <p:cNvSpPr/>
          <p:nvPr userDrawn="1"/>
        </p:nvSpPr>
        <p:spPr>
          <a:xfrm>
            <a:off x="696000" y="792000"/>
            <a:ext cx="10800000" cy="36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任意多边形 17">
            <a:extLst>
              <a:ext uri="{FF2B5EF4-FFF2-40B4-BE49-F238E27FC236}">
                <a16:creationId xmlns:a16="http://schemas.microsoft.com/office/drawing/2014/main" id="{B0BA56AC-6D9F-2029-D199-F8C819E346DB}"/>
              </a:ext>
            </a:extLst>
          </p:cNvPr>
          <p:cNvSpPr/>
          <p:nvPr userDrawn="1"/>
        </p:nvSpPr>
        <p:spPr>
          <a:xfrm>
            <a:off x="576466" y="146471"/>
            <a:ext cx="714380" cy="642942"/>
          </a:xfrm>
          <a:custGeom>
            <a:avLst/>
            <a:gdLst>
              <a:gd name="connsiteX0" fmla="*/ 0 w 864000"/>
              <a:gd name="connsiteY0" fmla="*/ 0 h 864000"/>
              <a:gd name="connsiteX1" fmla="*/ 864000 w 864000"/>
              <a:gd name="connsiteY1" fmla="*/ 0 h 864000"/>
              <a:gd name="connsiteX2" fmla="*/ 864000 w 864000"/>
              <a:gd name="connsiteY2" fmla="*/ 261737 h 864000"/>
              <a:gd name="connsiteX3" fmla="*/ 751007 w 864000"/>
              <a:gd name="connsiteY3" fmla="*/ 261737 h 864000"/>
              <a:gd name="connsiteX4" fmla="*/ 751007 w 864000"/>
              <a:gd name="connsiteY4" fmla="*/ 112993 h 864000"/>
              <a:gd name="connsiteX5" fmla="*/ 112993 w 864000"/>
              <a:gd name="connsiteY5" fmla="*/ 112993 h 864000"/>
              <a:gd name="connsiteX6" fmla="*/ 112993 w 864000"/>
              <a:gd name="connsiteY6" fmla="*/ 751007 h 864000"/>
              <a:gd name="connsiteX7" fmla="*/ 246681 w 864000"/>
              <a:gd name="connsiteY7" fmla="*/ 751007 h 864000"/>
              <a:gd name="connsiteX8" fmla="*/ 246681 w 864000"/>
              <a:gd name="connsiteY8" fmla="*/ 864000 h 864000"/>
              <a:gd name="connsiteX9" fmla="*/ 0 w 864000"/>
              <a:gd name="connsiteY9" fmla="*/ 86400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4000" h="864000">
                <a:moveTo>
                  <a:pt x="0" y="0"/>
                </a:moveTo>
                <a:lnTo>
                  <a:pt x="864000" y="0"/>
                </a:lnTo>
                <a:lnTo>
                  <a:pt x="864000" y="261737"/>
                </a:lnTo>
                <a:lnTo>
                  <a:pt x="751007" y="261737"/>
                </a:lnTo>
                <a:lnTo>
                  <a:pt x="751007" y="112993"/>
                </a:lnTo>
                <a:lnTo>
                  <a:pt x="112993" y="112993"/>
                </a:lnTo>
                <a:lnTo>
                  <a:pt x="112993" y="751007"/>
                </a:lnTo>
                <a:lnTo>
                  <a:pt x="246681" y="751007"/>
                </a:lnTo>
                <a:lnTo>
                  <a:pt x="246681" y="864000"/>
                </a:lnTo>
                <a:lnTo>
                  <a:pt x="0" y="864000"/>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962912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xample">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EABB6A93-D02D-918B-2B1D-A3357BCA5056}"/>
              </a:ext>
            </a:extLst>
          </p:cNvPr>
          <p:cNvSpPr/>
          <p:nvPr userDrawn="1"/>
        </p:nvSpPr>
        <p:spPr>
          <a:xfrm>
            <a:off x="0" y="1"/>
            <a:ext cx="2880000" cy="6858000"/>
          </a:xfrm>
          <a:prstGeom prst="rect">
            <a:avLst/>
          </a:prstGeom>
          <a:gradFill>
            <a:gsLst>
              <a:gs pos="0">
                <a:srgbClr val="00B0F0"/>
              </a:gs>
              <a:gs pos="100000">
                <a:srgbClr val="2E75B6"/>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16E90887-707D-F2D6-AF72-59ADDF4E06DA}"/>
              </a:ext>
            </a:extLst>
          </p:cNvPr>
          <p:cNvSpPr txBox="1"/>
          <p:nvPr userDrawn="1"/>
        </p:nvSpPr>
        <p:spPr>
          <a:xfrm>
            <a:off x="2079781" y="5234475"/>
            <a:ext cx="800219" cy="461665"/>
          </a:xfrm>
          <a:prstGeom prst="rect">
            <a:avLst/>
          </a:prstGeom>
          <a:noFill/>
        </p:spPr>
        <p:txBody>
          <a:bodyPr wrap="none" rtlCol="0">
            <a:spAutoFit/>
          </a:bodyPr>
          <a:lstStyle/>
          <a:p>
            <a:pPr algn="r"/>
            <a:r>
              <a:rPr lang="zh-CN" altLang="en-US" sz="2400">
                <a:solidFill>
                  <a:schemeClr val="bg1"/>
                </a:solidFill>
              </a:rPr>
              <a:t>例题</a:t>
            </a:r>
          </a:p>
        </p:txBody>
      </p:sp>
      <p:sp>
        <p:nvSpPr>
          <p:cNvPr id="5" name="文本框 4">
            <a:extLst>
              <a:ext uri="{FF2B5EF4-FFF2-40B4-BE49-F238E27FC236}">
                <a16:creationId xmlns:a16="http://schemas.microsoft.com/office/drawing/2014/main" id="{E72B00FE-3D5A-99D1-2D7E-EE4F6C75F589}"/>
              </a:ext>
            </a:extLst>
          </p:cNvPr>
          <p:cNvSpPr txBox="1"/>
          <p:nvPr userDrawn="1"/>
        </p:nvSpPr>
        <p:spPr>
          <a:xfrm>
            <a:off x="2280157" y="5610808"/>
            <a:ext cx="599843" cy="338554"/>
          </a:xfrm>
          <a:prstGeom prst="rect">
            <a:avLst/>
          </a:prstGeom>
          <a:noFill/>
        </p:spPr>
        <p:txBody>
          <a:bodyPr wrap="none" rtlCol="0">
            <a:spAutoFit/>
          </a:bodyPr>
          <a:lstStyle/>
          <a:p>
            <a:pPr algn="r"/>
            <a:r>
              <a:rPr lang="en-US" altLang="zh-CN" sz="1600" dirty="0">
                <a:solidFill>
                  <a:schemeClr val="bg1"/>
                </a:solidFill>
              </a:rPr>
              <a:t>Drill</a:t>
            </a:r>
            <a:endParaRPr lang="zh-CN" altLang="en-US" sz="1600" dirty="0">
              <a:solidFill>
                <a:schemeClr val="bg1"/>
              </a:solidFill>
            </a:endParaRPr>
          </a:p>
        </p:txBody>
      </p:sp>
      <p:sp>
        <p:nvSpPr>
          <p:cNvPr id="7" name="文本占位符 6">
            <a:extLst>
              <a:ext uri="{FF2B5EF4-FFF2-40B4-BE49-F238E27FC236}">
                <a16:creationId xmlns:a16="http://schemas.microsoft.com/office/drawing/2014/main" id="{ED9FA67D-111C-00A7-E4D4-00847D2E834F}"/>
              </a:ext>
            </a:extLst>
          </p:cNvPr>
          <p:cNvSpPr>
            <a:spLocks noGrp="1"/>
          </p:cNvSpPr>
          <p:nvPr>
            <p:ph type="body" sz="quarter" idx="10"/>
          </p:nvPr>
        </p:nvSpPr>
        <p:spPr>
          <a:xfrm>
            <a:off x="3219345" y="1629000"/>
            <a:ext cx="8640000" cy="3600000"/>
          </a:xfrm>
        </p:spPr>
        <p:txBody>
          <a:bodyPr/>
          <a:lstStyle>
            <a:lvl1pPr marL="0" indent="0" algn="l">
              <a:spcAft>
                <a:spcPts val="0"/>
              </a:spcAft>
              <a:buNone/>
              <a:defRPr/>
            </a:lvl1pPr>
            <a:lvl2pPr>
              <a:buNone/>
              <a:defRPr/>
            </a:lvl2pPr>
            <a:lvl3pPr>
              <a:buNone/>
              <a:defRPr/>
            </a:lvl3pPr>
            <a:lvl4pPr>
              <a:buNone/>
              <a:defRPr/>
            </a:lvl4pPr>
            <a:lvl5pPr>
              <a:buNone/>
              <a:defRPr/>
            </a:lvl5pPr>
          </a:lstStyle>
          <a:p>
            <a:pPr lvl="0"/>
            <a:r>
              <a:rPr lang="zh-CN" altLang="en-US" dirty="0"/>
              <a:t>单击此处编辑母版文本样式</a:t>
            </a:r>
          </a:p>
        </p:txBody>
      </p:sp>
    </p:spTree>
    <p:extLst>
      <p:ext uri="{BB962C8B-B14F-4D97-AF65-F5344CB8AC3E}">
        <p14:creationId xmlns:p14="http://schemas.microsoft.com/office/powerpoint/2010/main" val="2103166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649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F9F6B20-C300-A63B-D488-71A839D2D2D3}"/>
              </a:ext>
            </a:extLst>
          </p:cNvPr>
          <p:cNvSpPr>
            <a:spLocks noGrp="1"/>
          </p:cNvSpPr>
          <p:nvPr>
            <p:ph type="title"/>
          </p:nvPr>
        </p:nvSpPr>
        <p:spPr>
          <a:xfrm>
            <a:off x="696000" y="360000"/>
            <a:ext cx="10800000" cy="429413"/>
          </a:xfrm>
          <a:prstGeom prst="rect">
            <a:avLst/>
          </a:prstGeom>
        </p:spPr>
        <p:txBody>
          <a:bodyPr vert="horz" lIns="91440" tIns="45720" rIns="91440" bIns="45720" rtlCol="0" anchor="ctr">
            <a:no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C7A0E102-0853-B518-A26D-A96099C58AF1}"/>
              </a:ext>
            </a:extLst>
          </p:cNvPr>
          <p:cNvSpPr>
            <a:spLocks noGrp="1"/>
          </p:cNvSpPr>
          <p:nvPr>
            <p:ph type="body" idx="1"/>
          </p:nvPr>
        </p:nvSpPr>
        <p:spPr>
          <a:xfrm>
            <a:off x="696000" y="864000"/>
            <a:ext cx="10800000" cy="5400000"/>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7" name="椭圆 6">
            <a:extLst>
              <a:ext uri="{FF2B5EF4-FFF2-40B4-BE49-F238E27FC236}">
                <a16:creationId xmlns:a16="http://schemas.microsoft.com/office/drawing/2014/main" id="{D580EE5F-8A4F-3247-D288-DBB8A01CAEC2}"/>
              </a:ext>
            </a:extLst>
          </p:cNvPr>
          <p:cNvSpPr>
            <a:spLocks noChangeAspect="1"/>
          </p:cNvSpPr>
          <p:nvPr userDrawn="1"/>
        </p:nvSpPr>
        <p:spPr>
          <a:xfrm>
            <a:off x="5880000" y="6379535"/>
            <a:ext cx="432000" cy="432000"/>
          </a:xfrm>
          <a:prstGeom prst="ellipse">
            <a:avLst/>
          </a:prstGeom>
          <a:blipFill>
            <a:blip r:embed="rId8"/>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1F252007-0065-B7F2-785D-39982B9CF0CF}"/>
              </a:ext>
            </a:extLst>
          </p:cNvPr>
          <p:cNvSpPr txBox="1"/>
          <p:nvPr userDrawn="1"/>
        </p:nvSpPr>
        <p:spPr>
          <a:xfrm>
            <a:off x="6456000" y="6441647"/>
            <a:ext cx="5040000" cy="307777"/>
          </a:xfrm>
          <a:prstGeom prst="rect">
            <a:avLst/>
          </a:prstGeom>
        </p:spPr>
        <p:txBody>
          <a:bodyPr vert="horz" anchor="ctr" anchorCtr="0"/>
          <a:lstStyle>
            <a:defPPr>
              <a:defRPr lang="zh-CN"/>
            </a:defPPr>
            <a:lvl1pPr algn="r" eaLnBrk="1" latinLnBrk="0" hangingPunct="1">
              <a:defRPr kumimoji="0" sz="1400">
                <a:solidFill>
                  <a:schemeClr val="tx2"/>
                </a:solidFill>
                <a:latin typeface="Montserrat" panose="00000500000000000000" pitchFamily="2" charset="0"/>
                <a:cs typeface="Times New Roman" panose="02020603050405020304" pitchFamily="18" charset="0"/>
              </a:defRPr>
            </a:lvl1pPr>
          </a:lstStyle>
          <a:p>
            <a:pPr lvl="0" algn="l"/>
            <a:r>
              <a:rPr lang="en-US" altLang="zh-CN" sz="1200" dirty="0">
                <a:solidFill>
                  <a:schemeClr val="tx1"/>
                </a:solidFill>
              </a:rPr>
              <a:t>glplaman.github.io</a:t>
            </a:r>
          </a:p>
        </p:txBody>
      </p:sp>
      <p:sp>
        <p:nvSpPr>
          <p:cNvPr id="9" name="文本框 8">
            <a:extLst>
              <a:ext uri="{FF2B5EF4-FFF2-40B4-BE49-F238E27FC236}">
                <a16:creationId xmlns:a16="http://schemas.microsoft.com/office/drawing/2014/main" id="{CE46BE85-4554-3B10-94EB-7C6CB7CA174C}"/>
              </a:ext>
            </a:extLst>
          </p:cNvPr>
          <p:cNvSpPr txBox="1"/>
          <p:nvPr userDrawn="1"/>
        </p:nvSpPr>
        <p:spPr>
          <a:xfrm>
            <a:off x="696000" y="6441647"/>
            <a:ext cx="5040000" cy="307777"/>
          </a:xfrm>
          <a:prstGeom prst="rect">
            <a:avLst/>
          </a:prstGeom>
        </p:spPr>
        <p:txBody>
          <a:bodyPr vert="horz" anchor="ctr" anchorCtr="0"/>
          <a:lstStyle>
            <a:defPPr>
              <a:defRPr lang="zh-CN"/>
            </a:defPPr>
            <a:lvl1pPr lvl="0" algn="r" eaLnBrk="1" latinLnBrk="0" hangingPunct="1">
              <a:defRPr kumimoji="0" sz="1400">
                <a:solidFill>
                  <a:schemeClr val="tx2"/>
                </a:solidFill>
                <a:latin typeface="Montserrat" panose="00000500000000000000" pitchFamily="2" charset="0"/>
                <a:cs typeface="Times New Roman" panose="02020603050405020304" pitchFamily="18" charset="0"/>
              </a:defRPr>
            </a:lvl1pPr>
          </a:lstStyle>
          <a:p>
            <a:pPr lvl="0" algn="r"/>
            <a:r>
              <a:rPr lang="en-US" altLang="zh-CN" sz="1200">
                <a:solidFill>
                  <a:schemeClr val="tx1"/>
                </a:solidFill>
              </a:rPr>
              <a:t>Software Project Management</a:t>
            </a:r>
          </a:p>
        </p:txBody>
      </p:sp>
    </p:spTree>
    <p:extLst>
      <p:ext uri="{BB962C8B-B14F-4D97-AF65-F5344CB8AC3E}">
        <p14:creationId xmlns:p14="http://schemas.microsoft.com/office/powerpoint/2010/main" val="18073043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8" r:id="rId3"/>
    <p:sldLayoutId id="2147483657" r:id="rId4"/>
    <p:sldLayoutId id="2147483656" r:id="rId5"/>
    <p:sldLayoutId id="2147483655" r:id="rId6"/>
  </p:sldLayoutIdLst>
  <p:txStyles>
    <p:titleStyle>
      <a:lvl1pPr algn="l" defTabSz="914400" rtl="0" eaLnBrk="1" latinLnBrk="0" hangingPunct="1">
        <a:lnSpc>
          <a:spcPct val="90000"/>
        </a:lnSpc>
        <a:spcBef>
          <a:spcPct val="0"/>
        </a:spcBef>
        <a:buNone/>
        <a:defRPr sz="2400" kern="1200" baseline="0">
          <a:solidFill>
            <a:srgbClr val="00B0F0"/>
          </a:solidFill>
          <a:latin typeface="Roboto Mono" pitchFamily="2" charset="0"/>
          <a:ea typeface="微软雅黑" panose="020B0503020204020204" pitchFamily="34" charset="-122"/>
          <a:cs typeface="+mj-cs"/>
        </a:defRPr>
      </a:lvl1pPr>
    </p:titleStyle>
    <p:bodyStyle>
      <a:lvl1pPr marL="228600" indent="-216000" algn="l" defTabSz="914400" rtl="0" eaLnBrk="1" latinLnBrk="0" hangingPunct="1">
        <a:lnSpc>
          <a:spcPct val="100000"/>
        </a:lnSpc>
        <a:spcBef>
          <a:spcPts val="0"/>
        </a:spcBef>
        <a:spcAft>
          <a:spcPts val="600"/>
        </a:spcAft>
        <a:buFont typeface="Arial" panose="020B0604020202020204" pitchFamily="34" charset="0"/>
        <a:buChar char="•"/>
        <a:defRPr sz="2000" kern="1200" baseline="0">
          <a:solidFill>
            <a:schemeClr val="tx1"/>
          </a:solidFill>
          <a:latin typeface="Montserrat" panose="00000500000000000000" pitchFamily="2" charset="0"/>
          <a:ea typeface="微软雅黑 Light" panose="020B0502040204020203" pitchFamily="34" charset="-122"/>
          <a:cs typeface="+mn-cs"/>
        </a:defRPr>
      </a:lvl1pPr>
      <a:lvl2pPr marL="432000" indent="-180000" algn="l" defTabSz="914400" rtl="0" eaLnBrk="1" latinLnBrk="0" hangingPunct="1">
        <a:lnSpc>
          <a:spcPct val="100000"/>
        </a:lnSpc>
        <a:spcBef>
          <a:spcPts val="0"/>
        </a:spcBef>
        <a:spcAft>
          <a:spcPts val="600"/>
        </a:spcAft>
        <a:buFont typeface="Montserrat" panose="00000500000000000000" pitchFamily="2" charset="0"/>
        <a:buChar char="‐"/>
        <a:defRPr sz="1800" kern="1200" baseline="0">
          <a:solidFill>
            <a:schemeClr val="tx1"/>
          </a:solidFill>
          <a:latin typeface="Montserrat" panose="00000500000000000000" pitchFamily="2" charset="0"/>
          <a:ea typeface="微软雅黑 Light" panose="020B0502040204020203" pitchFamily="34" charset="-122"/>
          <a:cs typeface="+mn-cs"/>
        </a:defRPr>
      </a:lvl2pPr>
      <a:lvl3pPr marL="648000" indent="-180000" algn="l" defTabSz="914400" rtl="0" eaLnBrk="1" latinLnBrk="0" hangingPunct="1">
        <a:lnSpc>
          <a:spcPct val="100000"/>
        </a:lnSpc>
        <a:spcBef>
          <a:spcPts val="0"/>
        </a:spcBef>
        <a:spcAft>
          <a:spcPts val="600"/>
        </a:spcAft>
        <a:buFont typeface="Arial" panose="020B0604020202020204" pitchFamily="34" charset="0"/>
        <a:buChar char="•"/>
        <a:defRPr sz="1600" kern="1200" baseline="0">
          <a:solidFill>
            <a:schemeClr val="tx1"/>
          </a:solidFill>
          <a:latin typeface="Montserrat" panose="00000500000000000000" pitchFamily="2" charset="0"/>
          <a:ea typeface="微软雅黑 Light" panose="020B0502040204020203" pitchFamily="34" charset="-122"/>
          <a:cs typeface="+mn-cs"/>
        </a:defRPr>
      </a:lvl3pPr>
      <a:lvl4pPr marL="864000" indent="-180000" algn="l" defTabSz="914400" rtl="0" eaLnBrk="1" latinLnBrk="0" hangingPunct="1">
        <a:lnSpc>
          <a:spcPct val="100000"/>
        </a:lnSpc>
        <a:spcBef>
          <a:spcPts val="0"/>
        </a:spcBef>
        <a:spcAft>
          <a:spcPts val="600"/>
        </a:spcAft>
        <a:buFont typeface="Arial" panose="020B0604020202020204" pitchFamily="34" charset="0"/>
        <a:buChar char="•"/>
        <a:defRPr sz="1600" kern="1200" baseline="0">
          <a:solidFill>
            <a:schemeClr val="tx1"/>
          </a:solidFill>
          <a:latin typeface="Montserrat" panose="00000500000000000000" pitchFamily="2" charset="0"/>
          <a:ea typeface="微软雅黑 Light" panose="020B0502040204020203" pitchFamily="34" charset="-122"/>
          <a:cs typeface="+mn-cs"/>
        </a:defRPr>
      </a:lvl4pPr>
      <a:lvl5pPr marL="1080000" indent="-180000" algn="l" defTabSz="914400" rtl="0" eaLnBrk="1" latinLnBrk="0" hangingPunct="1">
        <a:lnSpc>
          <a:spcPct val="100000"/>
        </a:lnSpc>
        <a:spcBef>
          <a:spcPts val="0"/>
        </a:spcBef>
        <a:spcAft>
          <a:spcPts val="600"/>
        </a:spcAft>
        <a:buFont typeface="Arial" panose="020B0604020202020204" pitchFamily="34" charset="0"/>
        <a:buChar char="•"/>
        <a:defRPr sz="1600" kern="1200" baseline="0">
          <a:solidFill>
            <a:schemeClr val="tx1"/>
          </a:solidFill>
          <a:latin typeface="Montserrat" panose="00000500000000000000" pitchFamily="2" charset="0"/>
          <a:ea typeface="微软雅黑 Light" panose="020B0502040204020203"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8" Type="http://schemas.openxmlformats.org/officeDocument/2006/relationships/slide" Target="slide349.xml"/><Relationship Id="rId13" Type="http://schemas.openxmlformats.org/officeDocument/2006/relationships/slide" Target="slide462.xml"/><Relationship Id="rId3" Type="http://schemas.openxmlformats.org/officeDocument/2006/relationships/slide" Target="slide41.xml"/><Relationship Id="rId7" Type="http://schemas.openxmlformats.org/officeDocument/2006/relationships/slide" Target="slide299.xml"/><Relationship Id="rId12" Type="http://schemas.openxmlformats.org/officeDocument/2006/relationships/slide" Target="slide449.xml"/><Relationship Id="rId2" Type="http://schemas.openxmlformats.org/officeDocument/2006/relationships/slide" Target="slide3.xml"/><Relationship Id="rId1" Type="http://schemas.openxmlformats.org/officeDocument/2006/relationships/slideLayout" Target="../slideLayouts/slideLayout6.xml"/><Relationship Id="rId6" Type="http://schemas.openxmlformats.org/officeDocument/2006/relationships/slide" Target="slide239.xml"/><Relationship Id="rId11" Type="http://schemas.openxmlformats.org/officeDocument/2006/relationships/slide" Target="slide469.xml"/><Relationship Id="rId5" Type="http://schemas.openxmlformats.org/officeDocument/2006/relationships/slide" Target="slide183.xml"/><Relationship Id="rId10" Type="http://schemas.openxmlformats.org/officeDocument/2006/relationships/slide" Target="slide426.xml"/><Relationship Id="rId4" Type="http://schemas.openxmlformats.org/officeDocument/2006/relationships/slide" Target="slide121.xml"/><Relationship Id="rId9" Type="http://schemas.openxmlformats.org/officeDocument/2006/relationships/slide" Target="slide38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hyperlink" Target="../../img/ppt0.jpg"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codepen.io/"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https://github.com/" TargetMode="External"/><Relationship Id="rId4" Type="http://schemas.openxmlformats.org/officeDocument/2006/relationships/hyperlink" Target="https://supabase.com/"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6.xml"/><Relationship Id="rId4" Type="http://schemas.openxmlformats.org/officeDocument/2006/relationships/image" Target="../media/image7.jpg"/></Relationships>
</file>

<file path=ppt/slides/_rels/slide3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6.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slides/_rels/slide35.xml.rels><?xml version="1.0" encoding="UTF-8" standalone="yes"?>
<Relationships xmlns="http://schemas.openxmlformats.org/package/2006/relationships"><Relationship Id="rId2" Type="http://schemas.openxmlformats.org/officeDocument/2006/relationships/hyperlink" Target="https://agilemanifesto.org/"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6.svg"/><Relationship Id="rId5" Type="http://schemas.openxmlformats.org/officeDocument/2006/relationships/image" Target="../media/image15.sv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sv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3" Type="http://schemas.openxmlformats.org/officeDocument/2006/relationships/hyperlink" Target="https://xp123.com/" TargetMode="External"/><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30.webp"/><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3" Type="http://schemas.openxmlformats.org/officeDocument/2006/relationships/hyperlink" Target="https://scrumguides.org/" TargetMode="External"/><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8" Type="http://schemas.openxmlformats.org/officeDocument/2006/relationships/image" Target="../media/image37.svg"/><Relationship Id="rId3" Type="http://schemas.openxmlformats.org/officeDocument/2006/relationships/image" Target="../media/image32.svg"/><Relationship Id="rId7" Type="http://schemas.openxmlformats.org/officeDocument/2006/relationships/image" Target="../media/image36.svg"/><Relationship Id="rId2" Type="http://schemas.openxmlformats.org/officeDocument/2006/relationships/notesSlide" Target="../notesSlides/notesSlide44.xml"/><Relationship Id="rId1" Type="http://schemas.openxmlformats.org/officeDocument/2006/relationships/slideLayout" Target="../slideLayouts/slideLayout6.xml"/><Relationship Id="rId6" Type="http://schemas.openxmlformats.org/officeDocument/2006/relationships/image" Target="../media/image35.svg"/><Relationship Id="rId5" Type="http://schemas.openxmlformats.org/officeDocument/2006/relationships/image" Target="../media/image34.svg"/><Relationship Id="rId4" Type="http://schemas.openxmlformats.org/officeDocument/2006/relationships/image" Target="../media/image33.svg"/><Relationship Id="rId9" Type="http://schemas.openxmlformats.org/officeDocument/2006/relationships/image" Target="../media/image38.svg"/></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4.xml.rels><?xml version="1.0" encoding="UTF-8" standalone="yes"?>
<Relationships xmlns="http://schemas.openxmlformats.org/package/2006/relationships"><Relationship Id="rId2" Type="http://schemas.openxmlformats.org/officeDocument/2006/relationships/hyperlink" Target="https://www.projectmanager.com/training/write-scope-work" TargetMode="Externa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hyperlink" Target="https://www.perforce.com/blog/alm/how-write-software-requirements-specification-srs-document" TargetMode="External"/><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hyperlink" Target="https://t2informatik.de/en/smartpedia/change-control-board/" TargetMode="External"/><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6.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hyperlink" Target="https://www.impactmapping.org/" TargetMode="External"/><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6.xml"/></Relationships>
</file>

<file path=ppt/slides/_rels/slide14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hyperlink" Target="https://resources.scrumalliance.org/Article/anatomy-user-story" TargetMode="Externa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6.xml"/></Relationships>
</file>

<file path=ppt/slides/_rels/slide15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2.xml"/><Relationship Id="rId1" Type="http://schemas.openxmlformats.org/officeDocument/2006/relationships/slideLayout" Target="../slideLayouts/slideLayout6.xml"/></Relationships>
</file>

<file path=ppt/slides/_rels/slide155.xml.rels><?xml version="1.0" encoding="UTF-8" standalone="yes"?>
<Relationships xmlns="http://schemas.openxmlformats.org/package/2006/relationships"><Relationship Id="rId3" Type="http://schemas.openxmlformats.org/officeDocument/2006/relationships/hyperlink" Target="https://xp123.com/invest-in-good-stories-and-smart-tasks/" TargetMode="External"/><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hyperlink" Target="https://www.testmuai.com/learning-hub/behavior-driven-development/" TargetMode="External"/><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5.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5.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6.xml.rels><?xml version="1.0" encoding="UTF-8" standalone="yes"?>
<Relationships xmlns="http://schemas.openxmlformats.org/package/2006/relationships"><Relationship Id="rId3" Type="http://schemas.openxmlformats.org/officeDocument/2006/relationships/hyperlink" Target="https://www.projectmanager.com/training/write-scope-work" TargetMode="External"/><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6.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6.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6.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6.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6.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6.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6.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6.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6.xml"/></Relationships>
</file>

<file path=ppt/slides/_rels/slide193.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94.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6.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08.xml"/><Relationship Id="rId1" Type="http://schemas.openxmlformats.org/officeDocument/2006/relationships/slideLayout" Target="../slideLayouts/slideLayout6.xml"/></Relationships>
</file>

<file path=ppt/slides/_rels/slide20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09.xml"/><Relationship Id="rId1" Type="http://schemas.openxmlformats.org/officeDocument/2006/relationships/slideLayout" Target="../slideLayouts/slideLayout6.xml"/><Relationship Id="rId4" Type="http://schemas.openxmlformats.org/officeDocument/2006/relationships/image" Target="../media/image46.png"/></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6.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6.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0.xml.rels><?xml version="1.0" encoding="UTF-8" standalone="yes"?>
<Relationships xmlns="http://schemas.openxmlformats.org/package/2006/relationships"><Relationship Id="rId3" Type="http://schemas.openxmlformats.org/officeDocument/2006/relationships/hyperlink" Target="https://plan.io/blog/how-to-use-story-points-in-agile/#how-to-start-using-agile-story-points-with-your-team-today" TargetMode="External"/><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6.xml"/></Relationships>
</file>

<file path=ppt/slides/_rels/slide224.xml.rels><?xml version="1.0" encoding="UTF-8" standalone="yes"?>
<Relationships xmlns="http://schemas.openxmlformats.org/package/2006/relationships"><Relationship Id="rId2" Type="http://schemas.openxmlformats.org/officeDocument/2006/relationships/hyperlink" Target="https://www.infoq.com/articles/fast-story-points/" TargetMode="External"/><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17.xml"/><Relationship Id="rId1" Type="http://schemas.openxmlformats.org/officeDocument/2006/relationships/slideLayout" Target="../slideLayouts/slideLayout6.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6.xml"/></Relationships>
</file>

<file path=ppt/slides/_rels/slide22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19.xml"/><Relationship Id="rId1" Type="http://schemas.openxmlformats.org/officeDocument/2006/relationships/slideLayout" Target="../slideLayouts/slideLayout6.xml"/></Relationships>
</file>

<file path=ppt/slides/_rels/slide22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20.xml"/><Relationship Id="rId1" Type="http://schemas.openxmlformats.org/officeDocument/2006/relationships/slideLayout" Target="../slideLayouts/slideLayout6.xml"/></Relationships>
</file>

<file path=ppt/slides/_rels/slide229.xml.rels><?xml version="1.0" encoding="UTF-8" standalone="yes"?>
<Relationships xmlns="http://schemas.openxmlformats.org/package/2006/relationships"><Relationship Id="rId8" Type="http://schemas.openxmlformats.org/officeDocument/2006/relationships/image" Target="../media/image52.svg"/><Relationship Id="rId3" Type="http://schemas.openxmlformats.org/officeDocument/2006/relationships/hyperlink" Target="https://planningpokeronline.com/" TargetMode="External"/><Relationship Id="rId7" Type="http://schemas.openxmlformats.org/officeDocument/2006/relationships/image" Target="../media/image51.svg"/><Relationship Id="rId2" Type="http://schemas.openxmlformats.org/officeDocument/2006/relationships/notesSlide" Target="../notesSlides/notesSlide121.xml"/><Relationship Id="rId1" Type="http://schemas.openxmlformats.org/officeDocument/2006/relationships/slideLayout" Target="../slideLayouts/slideLayout2.xml"/><Relationship Id="rId6" Type="http://schemas.openxmlformats.org/officeDocument/2006/relationships/image" Target="../media/image50.svg"/><Relationship Id="rId5" Type="http://schemas.openxmlformats.org/officeDocument/2006/relationships/image" Target="../media/image49.svg"/><Relationship Id="rId4" Type="http://schemas.openxmlformats.org/officeDocument/2006/relationships/image" Target="../media/image48.svg"/></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6.xml"/></Relationships>
</file>

<file path=ppt/slides/_rels/slide231.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6.xml"/></Relationships>
</file>

<file path=ppt/slides/_rels/slide232.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6.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6.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8.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6.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0.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6.xml"/></Relationships>
</file>

<file path=ppt/slides/_rels/slide24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6.xml"/></Relationships>
</file>

<file path=ppt/slides/_rels/slide24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6.xml"/></Relationships>
</file>

<file path=ppt/slides/_rels/slide25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6.xml"/></Relationships>
</file>

<file path=ppt/slides/_rels/slide25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6.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6.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8.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png"/><Relationship Id="rId3" Type="http://schemas.openxmlformats.org/officeDocument/2006/relationships/image" Target="../media/image55.svg"/><Relationship Id="rId7" Type="http://schemas.openxmlformats.org/officeDocument/2006/relationships/image" Target="../media/image59.png"/><Relationship Id="rId12" Type="http://schemas.openxmlformats.org/officeDocument/2006/relationships/image" Target="../media/image64.png"/><Relationship Id="rId2" Type="http://schemas.openxmlformats.org/officeDocument/2006/relationships/image" Target="../media/image54.svg"/><Relationship Id="rId16" Type="http://schemas.openxmlformats.org/officeDocument/2006/relationships/image" Target="../media/image68.png"/><Relationship Id="rId1" Type="http://schemas.openxmlformats.org/officeDocument/2006/relationships/slideLayout" Target="../slideLayouts/slideLayout6.xml"/><Relationship Id="rId6" Type="http://schemas.openxmlformats.org/officeDocument/2006/relationships/image" Target="../media/image58.png"/><Relationship Id="rId11" Type="http://schemas.openxmlformats.org/officeDocument/2006/relationships/image" Target="../media/image63.png"/><Relationship Id="rId5" Type="http://schemas.openxmlformats.org/officeDocument/2006/relationships/image" Target="../media/image57.png"/><Relationship Id="rId15" Type="http://schemas.openxmlformats.org/officeDocument/2006/relationships/image" Target="../media/image67.png"/><Relationship Id="rId10" Type="http://schemas.openxmlformats.org/officeDocument/2006/relationships/image" Target="../media/image62.png"/><Relationship Id="rId4" Type="http://schemas.openxmlformats.org/officeDocument/2006/relationships/image" Target="../media/image56.svg"/><Relationship Id="rId9" Type="http://schemas.openxmlformats.org/officeDocument/2006/relationships/image" Target="../media/image61.jpg"/><Relationship Id="rId14" Type="http://schemas.openxmlformats.org/officeDocument/2006/relationships/image" Target="../media/image66.svg"/></Relationships>
</file>

<file path=ppt/slides/_rels/slide259.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6.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6.xml"/></Relationships>
</file>

<file path=ppt/slides/_rels/slide266.xml.rels><?xml version="1.0" encoding="UTF-8" standalone="yes"?>
<Relationships xmlns="http://schemas.openxmlformats.org/package/2006/relationships"><Relationship Id="rId3" Type="http://schemas.openxmlformats.org/officeDocument/2006/relationships/image" Target="../media/image69.svg"/><Relationship Id="rId7" Type="http://schemas.openxmlformats.org/officeDocument/2006/relationships/image" Target="../media/image73.svg"/><Relationship Id="rId2" Type="http://schemas.openxmlformats.org/officeDocument/2006/relationships/notesSlide" Target="../notesSlides/notesSlide136.xml"/><Relationship Id="rId1" Type="http://schemas.openxmlformats.org/officeDocument/2006/relationships/slideLayout" Target="../slideLayouts/slideLayout2.xml"/><Relationship Id="rId6" Type="http://schemas.openxmlformats.org/officeDocument/2006/relationships/image" Target="../media/image72.svg"/><Relationship Id="rId5" Type="http://schemas.openxmlformats.org/officeDocument/2006/relationships/image" Target="../media/image71.svg"/><Relationship Id="rId4" Type="http://schemas.openxmlformats.org/officeDocument/2006/relationships/image" Target="../media/image70.svg"/></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0.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2.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6.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8.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6.xml"/></Relationships>
</file>

<file path=ppt/slides/_rels/slide279.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6.xml"/></Relationships>
</file>

<file path=ppt/slides/_rels/slide280.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6.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7.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6.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6.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2.xml.rels><?xml version="1.0" encoding="UTF-8" standalone="yes"?>
<Relationships xmlns="http://schemas.openxmlformats.org/package/2006/relationships"><Relationship Id="rId3" Type="http://schemas.openxmlformats.org/officeDocument/2006/relationships/hyperlink" Target="https://thedigitalprojectmanager.com/project-management/resource-leveling-vs-resource-smoothing/#h-what-is-resource-smoothing" TargetMode="External"/><Relationship Id="rId2" Type="http://schemas.openxmlformats.org/officeDocument/2006/relationships/hyperlink" Target="https://plane.so/blog/what-is-resource-leveling-definition-techniques-and-best-practices" TargetMode="External"/><Relationship Id="rId1" Type="http://schemas.openxmlformats.org/officeDocument/2006/relationships/slideLayout" Target="../slideLayouts/slideLayout2.xml"/></Relationships>
</file>

<file path=ppt/slides/_rels/slide293.xml.rels><?xml version="1.0" encoding="UTF-8" standalone="yes"?>
<Relationships xmlns="http://schemas.openxmlformats.org/package/2006/relationships"><Relationship Id="rId3" Type="http://schemas.openxmlformats.org/officeDocument/2006/relationships/image" Target="../media/image75.svg"/><Relationship Id="rId2" Type="http://schemas.openxmlformats.org/officeDocument/2006/relationships/image" Target="../media/image74.svg"/><Relationship Id="rId1" Type="http://schemas.openxmlformats.org/officeDocument/2006/relationships/slideLayout" Target="../slideLayouts/slideLayout6.xml"/><Relationship Id="rId6" Type="http://schemas.openxmlformats.org/officeDocument/2006/relationships/image" Target="../media/image78.svg"/><Relationship Id="rId5" Type="http://schemas.openxmlformats.org/officeDocument/2006/relationships/image" Target="../media/image77.svg"/><Relationship Id="rId4" Type="http://schemas.openxmlformats.org/officeDocument/2006/relationships/image" Target="../media/image76.svg"/></Relationships>
</file>

<file path=ppt/slides/_rels/slide294.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6.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29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5.xml"/></Relationships>
</file>

<file path=ppt/slides/_rels/slide29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5.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1.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302.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4.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305.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306.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6.xml"/></Relationships>
</file>

<file path=ppt/slides/_rels/slide307.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0.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6.xml"/></Relationships>
</file>

<file path=ppt/slides/_rels/slide311.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6.xml"/></Relationships>
</file>

<file path=ppt/slides/_rels/slide312.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6.xml"/></Relationships>
</file>

<file path=ppt/slides/_rels/slide313.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6.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5.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5.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7.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6.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9.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2.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323.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6.xml"/></Relationships>
</file>

<file path=ppt/slides/_rels/slide324.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8.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6.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3.xml.rels><?xml version="1.0" encoding="UTF-8" standalone="yes"?>
<Relationships xmlns="http://schemas.openxmlformats.org/package/2006/relationships"><Relationship Id="rId3" Type="http://schemas.microsoft.com/office/2014/relationships/chartEx" Target="../charts/chartEx1.xml"/><Relationship Id="rId2" Type="http://schemas.openxmlformats.org/officeDocument/2006/relationships/notesSlide" Target="../notesSlides/notesSlide166.xml"/><Relationship Id="rId1" Type="http://schemas.openxmlformats.org/officeDocument/2006/relationships/slideLayout" Target="../slideLayouts/slideLayout6.xml"/><Relationship Id="rId4" Type="http://schemas.openxmlformats.org/officeDocument/2006/relationships/image" Target="../media/image75.png"/></Relationships>
</file>

<file path=ppt/slides/_rels/slide334.xml.rels><?xml version="1.0" encoding="UTF-8" standalone="yes"?>
<Relationships xmlns="http://schemas.openxmlformats.org/package/2006/relationships"><Relationship Id="rId3" Type="http://schemas.microsoft.com/office/2014/relationships/chartEx" Target="../charts/chartEx2.xml"/><Relationship Id="rId2" Type="http://schemas.openxmlformats.org/officeDocument/2006/relationships/notesSlide" Target="../notesSlides/notesSlide167.xml"/><Relationship Id="rId1" Type="http://schemas.openxmlformats.org/officeDocument/2006/relationships/slideLayout" Target="../slideLayouts/slideLayout6.xml"/><Relationship Id="rId4" Type="http://schemas.openxmlformats.org/officeDocument/2006/relationships/image" Target="../media/image76.png"/></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6.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6.xml"/></Relationships>
</file>

<file path=ppt/slides/_rels/slide337.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6.xml"/></Relationships>
</file>

<file path=ppt/slides/_rels/slide338.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6.xml"/></Relationships>
</file>

<file path=ppt/slides/_rels/slide339.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5.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6.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7.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2.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1.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352.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5.xml"/></Relationships>
</file>

<file path=ppt/slides/_rels/slide353.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5.xml"/></Relationships>
</file>

<file path=ppt/slides/_rels/slide354.xml.rels><?xml version="1.0" encoding="UTF-8" standalone="yes"?>
<Relationships xmlns="http://schemas.openxmlformats.org/package/2006/relationships"><Relationship Id="rId8" Type="http://schemas.openxmlformats.org/officeDocument/2006/relationships/image" Target="../media/image85.svg"/><Relationship Id="rId3" Type="http://schemas.openxmlformats.org/officeDocument/2006/relationships/image" Target="../media/image80.svg"/><Relationship Id="rId7" Type="http://schemas.openxmlformats.org/officeDocument/2006/relationships/image" Target="../media/image84.svg"/><Relationship Id="rId2" Type="http://schemas.openxmlformats.org/officeDocument/2006/relationships/image" Target="../media/image79.svg"/><Relationship Id="rId1" Type="http://schemas.openxmlformats.org/officeDocument/2006/relationships/slideLayout" Target="../slideLayouts/slideLayout6.xml"/><Relationship Id="rId6" Type="http://schemas.openxmlformats.org/officeDocument/2006/relationships/image" Target="../media/image83.svg"/><Relationship Id="rId5" Type="http://schemas.openxmlformats.org/officeDocument/2006/relationships/image" Target="../media/image82.svg"/><Relationship Id="rId10" Type="http://schemas.openxmlformats.org/officeDocument/2006/relationships/image" Target="../media/image87.svg"/><Relationship Id="rId4" Type="http://schemas.openxmlformats.org/officeDocument/2006/relationships/image" Target="../media/image81.svg"/><Relationship Id="rId9" Type="http://schemas.openxmlformats.org/officeDocument/2006/relationships/image" Target="../media/image86.svg"/></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7.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slideLayout" Target="../slideLayouts/slideLayout2.xml"/><Relationship Id="rId4" Type="http://schemas.openxmlformats.org/officeDocument/2006/relationships/tags" Target="../tags/tag4.xml"/></Relationships>
</file>

<file path=ppt/slides/_rels/slide358.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5.xml"/></Relationships>
</file>

<file path=ppt/slides/_rels/slide359.xml.rels><?xml version="1.0" encoding="UTF-8" standalone="yes"?>
<Relationships xmlns="http://schemas.openxmlformats.org/package/2006/relationships"><Relationship Id="rId8" Type="http://schemas.openxmlformats.org/officeDocument/2006/relationships/tags" Target="../tags/tag12.xml"/><Relationship Id="rId3" Type="http://schemas.openxmlformats.org/officeDocument/2006/relationships/tags" Target="../tags/tag7.xml"/><Relationship Id="rId7" Type="http://schemas.openxmlformats.org/officeDocument/2006/relationships/tags" Target="../tags/tag11.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tags" Target="../tags/tag10.xml"/><Relationship Id="rId5" Type="http://schemas.openxmlformats.org/officeDocument/2006/relationships/tags" Target="../tags/tag9.xml"/><Relationship Id="rId10" Type="http://schemas.openxmlformats.org/officeDocument/2006/relationships/slideLayout" Target="../slideLayouts/slideLayout2.xml"/><Relationship Id="rId4" Type="http://schemas.openxmlformats.org/officeDocument/2006/relationships/tags" Target="../tags/tag8.xml"/><Relationship Id="rId9" Type="http://schemas.openxmlformats.org/officeDocument/2006/relationships/tags" Target="../tags/tag13.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1.xml.rels><?xml version="1.0" encoding="UTF-8" standalone="yes"?>
<Relationships xmlns="http://schemas.openxmlformats.org/package/2006/relationships"><Relationship Id="rId3" Type="http://schemas.openxmlformats.org/officeDocument/2006/relationships/hyperlink" Target="https://t2informatik.de/en/smartpedia/change-control-board/" TargetMode="External"/><Relationship Id="rId2" Type="http://schemas.openxmlformats.org/officeDocument/2006/relationships/notesSlide" Target="../notesSlides/notesSlide174.xml"/><Relationship Id="rId1" Type="http://schemas.openxmlformats.org/officeDocument/2006/relationships/slideLayout" Target="../slideLayouts/slideLayout2.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3.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364.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6.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0.xml.rels><?xml version="1.0" encoding="UTF-8" standalone="yes"?>
<Relationships xmlns="http://schemas.openxmlformats.org/package/2006/relationships"><Relationship Id="rId2" Type="http://schemas.openxmlformats.org/officeDocument/2006/relationships/notesSlide" Target="../notesSlides/notesSlide178.xml"/><Relationship Id="rId1" Type="http://schemas.openxmlformats.org/officeDocument/2006/relationships/slideLayout" Target="../slideLayouts/slideLayout2.xml"/></Relationships>
</file>

<file path=ppt/slides/_rels/slide371.xml.rels><?xml version="1.0" encoding="UTF-8" standalone="yes"?>
<Relationships xmlns="http://schemas.openxmlformats.org/package/2006/relationships"><Relationship Id="rId3" Type="http://schemas.openxmlformats.org/officeDocument/2006/relationships/image" Target="../media/image88.svg"/><Relationship Id="rId2" Type="http://schemas.openxmlformats.org/officeDocument/2006/relationships/notesSlide" Target="../notesSlides/notesSlide179.xml"/><Relationship Id="rId1" Type="http://schemas.openxmlformats.org/officeDocument/2006/relationships/slideLayout" Target="../slideLayouts/slideLayout2.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3.xml.rels><?xml version="1.0" encoding="UTF-8" standalone="yes"?>
<Relationships xmlns="http://schemas.openxmlformats.org/package/2006/relationships"><Relationship Id="rId3" Type="http://schemas.openxmlformats.org/officeDocument/2006/relationships/hyperlink" Target="https://github.com/" TargetMode="External"/><Relationship Id="rId2" Type="http://schemas.openxmlformats.org/officeDocument/2006/relationships/hyperlink" Target="https://git-scm.com/" TargetMode="External"/><Relationship Id="rId1" Type="http://schemas.openxmlformats.org/officeDocument/2006/relationships/slideLayout" Target="../slideLayouts/slideLayout2.xml"/><Relationship Id="rId4" Type="http://schemas.openxmlformats.org/officeDocument/2006/relationships/hyperlink" Target="https://gitee.com/" TargetMode="Externa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6.xml.rels><?xml version="1.0" encoding="UTF-8" standalone="yes"?>
<Relationships xmlns="http://schemas.openxmlformats.org/package/2006/relationships"><Relationship Id="rId2" Type="http://schemas.openxmlformats.org/officeDocument/2006/relationships/notesSlide" Target="../notesSlides/notesSlide180.xml"/><Relationship Id="rId1" Type="http://schemas.openxmlformats.org/officeDocument/2006/relationships/slideLayout" Target="../slideLayouts/slideLayout5.xml"/></Relationships>
</file>

<file path=ppt/slides/_rels/slide387.xml.rels><?xml version="1.0" encoding="UTF-8" standalone="yes"?>
<Relationships xmlns="http://schemas.openxmlformats.org/package/2006/relationships"><Relationship Id="rId2" Type="http://schemas.openxmlformats.org/officeDocument/2006/relationships/notesSlide" Target="../notesSlides/notesSlide181.xml"/><Relationship Id="rId1" Type="http://schemas.openxmlformats.org/officeDocument/2006/relationships/slideLayout" Target="../slideLayouts/slideLayout5.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9.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3.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2.xml.rels><?xml version="1.0" encoding="UTF-8" standalone="yes"?>
<Relationships xmlns="http://schemas.openxmlformats.org/package/2006/relationships"><Relationship Id="rId2" Type="http://schemas.openxmlformats.org/officeDocument/2006/relationships/image" Target="../media/image89.svg"/><Relationship Id="rId1" Type="http://schemas.openxmlformats.org/officeDocument/2006/relationships/slideLayout" Target="../slideLayouts/slideLayout2.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5.xml.rels><?xml version="1.0" encoding="UTF-8" standalone="yes"?>
<Relationships xmlns="http://schemas.openxmlformats.org/package/2006/relationships"><Relationship Id="rId2" Type="http://schemas.openxmlformats.org/officeDocument/2006/relationships/notesSlide" Target="../notesSlides/notesSlide183.xml"/><Relationship Id="rId1" Type="http://schemas.openxmlformats.org/officeDocument/2006/relationships/slideLayout" Target="../slideLayouts/slideLayout3.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7.xml.rels><?xml version="1.0" encoding="UTF-8" standalone="yes"?>
<Relationships xmlns="http://schemas.openxmlformats.org/package/2006/relationships"><Relationship Id="rId2" Type="http://schemas.openxmlformats.org/officeDocument/2006/relationships/notesSlide" Target="../notesSlides/notesSlide184.xml"/><Relationship Id="rId1" Type="http://schemas.openxmlformats.org/officeDocument/2006/relationships/slideLayout" Target="../slideLayouts/slideLayout3.xml"/></Relationships>
</file>

<file path=ppt/slides/_rels/slide398.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2.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0.xml.rels><?xml version="1.0" encoding="UTF-8" standalone="yes"?>
<Relationships xmlns="http://schemas.openxmlformats.org/package/2006/relationships"><Relationship Id="rId2" Type="http://schemas.openxmlformats.org/officeDocument/2006/relationships/notesSlide" Target="../notesSlides/notesSlide186.xml"/><Relationship Id="rId1" Type="http://schemas.openxmlformats.org/officeDocument/2006/relationships/slideLayout" Target="../slideLayouts/slideLayout3.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2.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3.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4.xml.rels><?xml version="1.0" encoding="UTF-8" standalone="yes"?>
<Relationships xmlns="http://schemas.openxmlformats.org/package/2006/relationships"><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tags" Target="../tags/tag14.xml"/><Relationship Id="rId4" Type="http://schemas.openxmlformats.org/officeDocument/2006/relationships/slideLayout" Target="../slideLayouts/slideLayout6.xml"/></Relationships>
</file>

<file path=ppt/slides/_rels/slide405.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notesSlide" Target="../notesSlides/notesSlide187.xml"/><Relationship Id="rId4" Type="http://schemas.openxmlformats.org/officeDocument/2006/relationships/slideLayout" Target="../slideLayouts/slideLayout6.xml"/></Relationships>
</file>

<file path=ppt/slides/_rels/slide406.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4" Type="http://schemas.openxmlformats.org/officeDocument/2006/relationships/slideLayout" Target="../slideLayouts/slideLayout6.xml"/></Relationships>
</file>

<file path=ppt/slides/_rels/slide407.xml.rels><?xml version="1.0" encoding="UTF-8" standalone="yes"?>
<Relationships xmlns="http://schemas.openxmlformats.org/package/2006/relationships"><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tags" Target="../tags/tag23.xml"/><Relationship Id="rId4" Type="http://schemas.openxmlformats.org/officeDocument/2006/relationships/slideLayout" Target="../slideLayouts/slideLayout6.xml"/></Relationships>
</file>

<file path=ppt/slides/_rels/slide408.xml.rels><?xml version="1.0" encoding="UTF-8" standalone="yes"?>
<Relationships xmlns="http://schemas.openxmlformats.org/package/2006/relationships"><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tags" Target="../tags/tag26.xml"/><Relationship Id="rId5" Type="http://schemas.openxmlformats.org/officeDocument/2006/relationships/notesSlide" Target="../notesSlides/notesSlide188.xml"/><Relationship Id="rId4" Type="http://schemas.openxmlformats.org/officeDocument/2006/relationships/slideLayout" Target="../slideLayouts/slideLayout6.xml"/></Relationships>
</file>

<file path=ppt/slides/_rels/slide409.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 Id="rId5" Type="http://schemas.openxmlformats.org/officeDocument/2006/relationships/notesSlide" Target="../notesSlides/notesSlide189.xml"/><Relationship Id="rId4" Type="http://schemas.openxmlformats.org/officeDocument/2006/relationships/slideLayout" Target="../slideLayouts/slideLayout6.xml"/></Relationships>
</file>

<file path=ppt/slides/_rels/slide410.xml.rels><?xml version="1.0" encoding="UTF-8" standalone="yes"?>
<Relationships xmlns="http://schemas.openxmlformats.org/package/2006/relationships"><Relationship Id="rId8" Type="http://schemas.openxmlformats.org/officeDocument/2006/relationships/image" Target="../media/image93.svg"/><Relationship Id="rId3" Type="http://schemas.openxmlformats.org/officeDocument/2006/relationships/tags" Target="../tags/tag34.xml"/><Relationship Id="rId7" Type="http://schemas.openxmlformats.org/officeDocument/2006/relationships/image" Target="../media/image92.svg"/><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image" Target="../media/image91.svg"/><Relationship Id="rId5" Type="http://schemas.openxmlformats.org/officeDocument/2006/relationships/notesSlide" Target="../notesSlides/notesSlide190.xml"/><Relationship Id="rId4" Type="http://schemas.openxmlformats.org/officeDocument/2006/relationships/slideLayout" Target="../slideLayouts/slideLayout6.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3.xml.rels><?xml version="1.0" encoding="UTF-8" standalone="yes"?>
<Relationships xmlns="http://schemas.openxmlformats.org/package/2006/relationships"><Relationship Id="rId2" Type="http://schemas.openxmlformats.org/officeDocument/2006/relationships/notesSlide" Target="../notesSlides/notesSlide191.xml"/><Relationship Id="rId1" Type="http://schemas.openxmlformats.org/officeDocument/2006/relationships/slideLayout" Target="../slideLayouts/slideLayout6.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7.xml.rels><?xml version="1.0" encoding="UTF-8" standalone="yes"?>
<Relationships xmlns="http://schemas.openxmlformats.org/package/2006/relationships"><Relationship Id="rId2" Type="http://schemas.openxmlformats.org/officeDocument/2006/relationships/notesSlide" Target="../notesSlides/notesSlide192.xml"/><Relationship Id="rId1" Type="http://schemas.openxmlformats.org/officeDocument/2006/relationships/slideLayout" Target="../slideLayouts/slideLayout3.xml"/></Relationships>
</file>

<file path=ppt/slides/_rels/slide418.xml.rels><?xml version="1.0" encoding="UTF-8" standalone="yes"?>
<Relationships xmlns="http://schemas.openxmlformats.org/package/2006/relationships"><Relationship Id="rId3" Type="http://schemas.openxmlformats.org/officeDocument/2006/relationships/image" Target="../media/image94.svg"/><Relationship Id="rId2" Type="http://schemas.openxmlformats.org/officeDocument/2006/relationships/notesSlide" Target="../notesSlides/notesSlide193.xml"/><Relationship Id="rId1" Type="http://schemas.openxmlformats.org/officeDocument/2006/relationships/slideLayout" Target="../slideLayouts/slideLayout3.xml"/></Relationships>
</file>

<file path=ppt/slides/_rels/slide419.xml.rels><?xml version="1.0" encoding="UTF-8" standalone="yes"?>
<Relationships xmlns="http://schemas.openxmlformats.org/package/2006/relationships"><Relationship Id="rId3" Type="http://schemas.openxmlformats.org/officeDocument/2006/relationships/image" Target="../media/image89.svg"/><Relationship Id="rId2" Type="http://schemas.openxmlformats.org/officeDocument/2006/relationships/notesSlide" Target="../notesSlides/notesSlide194.xml"/><Relationship Id="rId1" Type="http://schemas.openxmlformats.org/officeDocument/2006/relationships/slideLayout" Target="../slideLayouts/slideLayout3.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4.xml.rels><?xml version="1.0" encoding="UTF-8" standalone="yes"?>
<Relationships xmlns="http://schemas.openxmlformats.org/package/2006/relationships"><Relationship Id="rId2" Type="http://schemas.openxmlformats.org/officeDocument/2006/relationships/hyperlink" Target="https://agilemanifesto.org/" TargetMode="External"/><Relationship Id="rId1" Type="http://schemas.openxmlformats.org/officeDocument/2006/relationships/slideLayout" Target="../slideLayouts/slideLayout2.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9.xml.rels><?xml version="1.0" encoding="UTF-8" standalone="yes"?>
<Relationships xmlns="http://schemas.openxmlformats.org/package/2006/relationships"><Relationship Id="rId2" Type="http://schemas.openxmlformats.org/officeDocument/2006/relationships/notesSlide" Target="../notesSlides/notesSlide195.xml"/><Relationship Id="rId1" Type="http://schemas.openxmlformats.org/officeDocument/2006/relationships/slideLayout" Target="../slideLayouts/slideLayout5.xml"/></Relationships>
</file>

<file path=ppt/slides/_rels/slide430.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2.xml.rels><?xml version="1.0" encoding="UTF-8" standalone="yes"?>
<Relationships xmlns="http://schemas.openxmlformats.org/package/2006/relationships"><Relationship Id="rId2" Type="http://schemas.openxmlformats.org/officeDocument/2006/relationships/notesSlide" Target="../notesSlides/notesSlide196.xml"/><Relationship Id="rId1" Type="http://schemas.openxmlformats.org/officeDocument/2006/relationships/slideLayout" Target="../slideLayouts/slideLayout5.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4.xml.rels><?xml version="1.0" encoding="UTF-8" standalone="yes"?>
<Relationships xmlns="http://schemas.openxmlformats.org/package/2006/relationships"><Relationship Id="rId3" Type="http://schemas.openxmlformats.org/officeDocument/2006/relationships/image" Target="../media/image95.svg"/><Relationship Id="rId2" Type="http://schemas.openxmlformats.org/officeDocument/2006/relationships/notesSlide" Target="../notesSlides/notesSlide197.xml"/><Relationship Id="rId1" Type="http://schemas.openxmlformats.org/officeDocument/2006/relationships/slideLayout" Target="../slideLayouts/slideLayout2.xml"/><Relationship Id="rId6" Type="http://schemas.openxmlformats.org/officeDocument/2006/relationships/image" Target="../media/image98.svg"/><Relationship Id="rId5" Type="http://schemas.openxmlformats.org/officeDocument/2006/relationships/image" Target="../media/image97.svg"/><Relationship Id="rId4" Type="http://schemas.openxmlformats.org/officeDocument/2006/relationships/image" Target="../media/image96.svg"/></Relationships>
</file>

<file path=ppt/slides/_rels/slide435.xml.rels><?xml version="1.0" encoding="UTF-8" standalone="yes"?>
<Relationships xmlns="http://schemas.openxmlformats.org/package/2006/relationships"><Relationship Id="rId3" Type="http://schemas.openxmlformats.org/officeDocument/2006/relationships/image" Target="../media/image100.svg"/><Relationship Id="rId2" Type="http://schemas.openxmlformats.org/officeDocument/2006/relationships/image" Target="../media/image99.svg"/><Relationship Id="rId1" Type="http://schemas.openxmlformats.org/officeDocument/2006/relationships/slideLayout" Target="../slideLayouts/slideLayout6.xml"/><Relationship Id="rId5" Type="http://schemas.openxmlformats.org/officeDocument/2006/relationships/image" Target="../media/image102.svg"/><Relationship Id="rId4" Type="http://schemas.openxmlformats.org/officeDocument/2006/relationships/image" Target="../media/image101.svg"/></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2.xml.rels><?xml version="1.0" encoding="UTF-8" standalone="yes"?>
<Relationships xmlns="http://schemas.openxmlformats.org/package/2006/relationships"><Relationship Id="rId8" Type="http://schemas.openxmlformats.org/officeDocument/2006/relationships/image" Target="../media/image109.svg"/><Relationship Id="rId3" Type="http://schemas.openxmlformats.org/officeDocument/2006/relationships/image" Target="../media/image104.svg"/><Relationship Id="rId7" Type="http://schemas.openxmlformats.org/officeDocument/2006/relationships/image" Target="../media/image108.svg"/><Relationship Id="rId2" Type="http://schemas.openxmlformats.org/officeDocument/2006/relationships/image" Target="../media/image103.svg"/><Relationship Id="rId1" Type="http://schemas.openxmlformats.org/officeDocument/2006/relationships/slideLayout" Target="../slideLayouts/slideLayout6.xml"/><Relationship Id="rId6" Type="http://schemas.openxmlformats.org/officeDocument/2006/relationships/image" Target="../media/image107.svg"/><Relationship Id="rId5" Type="http://schemas.openxmlformats.org/officeDocument/2006/relationships/image" Target="../media/image106.svg"/><Relationship Id="rId4" Type="http://schemas.openxmlformats.org/officeDocument/2006/relationships/image" Target="../media/image105.svg"/><Relationship Id="rId9" Type="http://schemas.openxmlformats.org/officeDocument/2006/relationships/image" Target="../media/image110.svg"/></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1.xml.rels><?xml version="1.0" encoding="UTF-8" standalone="yes"?>
<Relationships xmlns="http://schemas.openxmlformats.org/package/2006/relationships"><Relationship Id="rId2" Type="http://schemas.openxmlformats.org/officeDocument/2006/relationships/image" Target="../media/image111.svg"/><Relationship Id="rId1" Type="http://schemas.openxmlformats.org/officeDocument/2006/relationships/slideLayout" Target="../slideLayouts/slideLayout6.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4.xml.rels><?xml version="1.0" encoding="UTF-8" standalone="yes"?>
<Relationships xmlns="http://schemas.openxmlformats.org/package/2006/relationships"><Relationship Id="rId2" Type="http://schemas.openxmlformats.org/officeDocument/2006/relationships/notesSlide" Target="../notesSlides/notesSlide198.xml"/><Relationship Id="rId1" Type="http://schemas.openxmlformats.org/officeDocument/2006/relationships/slideLayout" Target="../slideLayouts/slideLayout2.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5.xml.rels><?xml version="1.0" encoding="UTF-8" standalone="yes"?>
<Relationships xmlns="http://schemas.openxmlformats.org/package/2006/relationships"><Relationship Id="rId8" Type="http://schemas.openxmlformats.org/officeDocument/2006/relationships/image" Target="../media/image113.svg"/><Relationship Id="rId3" Type="http://schemas.openxmlformats.org/officeDocument/2006/relationships/diagramLayout" Target="../diagrams/layout12.xml"/><Relationship Id="rId7" Type="http://schemas.openxmlformats.org/officeDocument/2006/relationships/image" Target="../media/image112.svg"/><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 Id="rId9" Type="http://schemas.openxmlformats.org/officeDocument/2006/relationships/image" Target="../media/image114.svg"/></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137275AA-5811-41B9-72BE-9695E4246938}"/>
              </a:ext>
            </a:extLst>
          </p:cNvPr>
          <p:cNvPicPr>
            <a:picLocks noChangeAspect="1"/>
          </p:cNvPicPr>
          <p:nvPr/>
        </p:nvPicPr>
        <p:blipFill>
          <a:blip r:embed="rId2"/>
          <a:stretch>
            <a:fillRect/>
          </a:stretch>
        </p:blipFill>
        <p:spPr>
          <a:xfrm>
            <a:off x="2198703" y="506027"/>
            <a:ext cx="7794595" cy="5845946"/>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3898396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490498C8-8E18-2935-7BB3-5CD29002EBD0}"/>
              </a:ext>
            </a:extLst>
          </p:cNvPr>
          <p:cNvSpPr/>
          <p:nvPr/>
        </p:nvSpPr>
        <p:spPr>
          <a:xfrm>
            <a:off x="0" y="1"/>
            <a:ext cx="2880000" cy="6858000"/>
          </a:xfrm>
          <a:prstGeom prst="rect">
            <a:avLst/>
          </a:prstGeom>
          <a:gradFill>
            <a:gsLst>
              <a:gs pos="0">
                <a:srgbClr val="00B0F0"/>
              </a:gs>
              <a:gs pos="100000">
                <a:srgbClr val="2E75B6"/>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679EECE7-4975-DFE6-9980-3C4EB6136B03}"/>
              </a:ext>
            </a:extLst>
          </p:cNvPr>
          <p:cNvSpPr txBox="1"/>
          <p:nvPr/>
        </p:nvSpPr>
        <p:spPr>
          <a:xfrm>
            <a:off x="2079780" y="5234475"/>
            <a:ext cx="800220" cy="461665"/>
          </a:xfrm>
          <a:prstGeom prst="rect">
            <a:avLst/>
          </a:prstGeom>
          <a:noFill/>
        </p:spPr>
        <p:txBody>
          <a:bodyPr wrap="none" rtlCol="0">
            <a:spAutoFit/>
          </a:bodyPr>
          <a:lstStyle/>
          <a:p>
            <a:pPr algn="r"/>
            <a:r>
              <a:rPr lang="zh-CN" altLang="en-US" sz="2400" dirty="0">
                <a:solidFill>
                  <a:schemeClr val="bg1"/>
                </a:solidFill>
              </a:rPr>
              <a:t>内容</a:t>
            </a:r>
          </a:p>
        </p:txBody>
      </p:sp>
      <p:sp>
        <p:nvSpPr>
          <p:cNvPr id="17" name="文本框 16">
            <a:extLst>
              <a:ext uri="{FF2B5EF4-FFF2-40B4-BE49-F238E27FC236}">
                <a16:creationId xmlns:a16="http://schemas.microsoft.com/office/drawing/2014/main" id="{DE921A57-9A39-CD8B-BE96-3A2CF2A2095F}"/>
              </a:ext>
            </a:extLst>
          </p:cNvPr>
          <p:cNvSpPr txBox="1"/>
          <p:nvPr/>
        </p:nvSpPr>
        <p:spPr>
          <a:xfrm>
            <a:off x="1749562" y="5610808"/>
            <a:ext cx="1130438" cy="338554"/>
          </a:xfrm>
          <a:prstGeom prst="rect">
            <a:avLst/>
          </a:prstGeom>
          <a:noFill/>
        </p:spPr>
        <p:txBody>
          <a:bodyPr wrap="none" rtlCol="0">
            <a:spAutoFit/>
          </a:bodyPr>
          <a:lstStyle/>
          <a:p>
            <a:pPr algn="r"/>
            <a:r>
              <a:rPr lang="en-US" altLang="zh-CN" sz="1600">
                <a:solidFill>
                  <a:schemeClr val="bg1"/>
                </a:solidFill>
              </a:rPr>
              <a:t>Contents</a:t>
            </a:r>
            <a:endParaRPr lang="zh-CN" altLang="en-US" sz="1600">
              <a:solidFill>
                <a:schemeClr val="bg1"/>
              </a:solidFill>
            </a:endParaRPr>
          </a:p>
        </p:txBody>
      </p:sp>
      <p:sp>
        <p:nvSpPr>
          <p:cNvPr id="2" name="文本框 1">
            <a:hlinkClick r:id="rId2" action="ppaction://hlinksldjump"/>
            <a:extLst>
              <a:ext uri="{FF2B5EF4-FFF2-40B4-BE49-F238E27FC236}">
                <a16:creationId xmlns:a16="http://schemas.microsoft.com/office/drawing/2014/main" id="{7B8A3D34-93A8-1BAC-C6D5-EF8FF375E2CB}"/>
              </a:ext>
            </a:extLst>
          </p:cNvPr>
          <p:cNvSpPr txBox="1"/>
          <p:nvPr/>
        </p:nvSpPr>
        <p:spPr>
          <a:xfrm>
            <a:off x="3486150" y="621268"/>
            <a:ext cx="3164649" cy="369332"/>
          </a:xfrm>
          <a:prstGeom prst="rect">
            <a:avLst/>
          </a:prstGeom>
          <a:noFill/>
        </p:spPr>
        <p:txBody>
          <a:bodyPr wrap="none" rtlCol="0">
            <a:spAutoFit/>
          </a:bodyPr>
          <a:lstStyle/>
          <a:p>
            <a:r>
              <a:rPr lang="en-US" altLang="zh-CN" dirty="0"/>
              <a:t>Section 1</a:t>
            </a:r>
            <a:r>
              <a:rPr lang="zh-CN" altLang="en-US" dirty="0"/>
              <a:t>  软件项目管理概述</a:t>
            </a:r>
          </a:p>
        </p:txBody>
      </p:sp>
      <p:sp>
        <p:nvSpPr>
          <p:cNvPr id="3" name="文本框 2">
            <a:hlinkClick r:id="rId3" action="ppaction://hlinksldjump"/>
            <a:extLst>
              <a:ext uri="{FF2B5EF4-FFF2-40B4-BE49-F238E27FC236}">
                <a16:creationId xmlns:a16="http://schemas.microsoft.com/office/drawing/2014/main" id="{56E53695-0662-FBE4-B1AE-3A13402FCD56}"/>
              </a:ext>
            </a:extLst>
          </p:cNvPr>
          <p:cNvSpPr txBox="1"/>
          <p:nvPr/>
        </p:nvSpPr>
        <p:spPr>
          <a:xfrm>
            <a:off x="3486150" y="1098189"/>
            <a:ext cx="2289409" cy="369332"/>
          </a:xfrm>
          <a:prstGeom prst="rect">
            <a:avLst/>
          </a:prstGeom>
          <a:noFill/>
        </p:spPr>
        <p:txBody>
          <a:bodyPr wrap="none" rtlCol="0">
            <a:spAutoFit/>
          </a:bodyPr>
          <a:lstStyle/>
          <a:p>
            <a:r>
              <a:rPr lang="en-US" altLang="zh-CN" dirty="0"/>
              <a:t>Section 2</a:t>
            </a:r>
            <a:r>
              <a:rPr lang="zh-CN" altLang="en-US" dirty="0"/>
              <a:t>  项目初始</a:t>
            </a:r>
          </a:p>
        </p:txBody>
      </p:sp>
      <p:sp>
        <p:nvSpPr>
          <p:cNvPr id="4" name="文本框 3">
            <a:hlinkClick r:id="rId4" action="ppaction://hlinksldjump"/>
            <a:extLst>
              <a:ext uri="{FF2B5EF4-FFF2-40B4-BE49-F238E27FC236}">
                <a16:creationId xmlns:a16="http://schemas.microsoft.com/office/drawing/2014/main" id="{E3C60F7C-631D-19D9-7294-2E33ADE87BBB}"/>
              </a:ext>
            </a:extLst>
          </p:cNvPr>
          <p:cNvSpPr txBox="1"/>
          <p:nvPr/>
        </p:nvSpPr>
        <p:spPr>
          <a:xfrm>
            <a:off x="3486150" y="1575110"/>
            <a:ext cx="3211135" cy="369332"/>
          </a:xfrm>
          <a:prstGeom prst="rect">
            <a:avLst/>
          </a:prstGeom>
          <a:noFill/>
        </p:spPr>
        <p:txBody>
          <a:bodyPr wrap="none" rtlCol="0">
            <a:spAutoFit/>
          </a:bodyPr>
          <a:lstStyle/>
          <a:p>
            <a:r>
              <a:rPr lang="en-US" altLang="zh-CN" dirty="0"/>
              <a:t>Section 3</a:t>
            </a:r>
            <a:r>
              <a:rPr lang="zh-CN" altLang="en-US" dirty="0"/>
              <a:t>  软件项目范围计划</a:t>
            </a:r>
          </a:p>
        </p:txBody>
      </p:sp>
      <p:sp>
        <p:nvSpPr>
          <p:cNvPr id="5" name="文本框 4">
            <a:hlinkClick r:id="rId5" action="ppaction://hlinksldjump"/>
            <a:extLst>
              <a:ext uri="{FF2B5EF4-FFF2-40B4-BE49-F238E27FC236}">
                <a16:creationId xmlns:a16="http://schemas.microsoft.com/office/drawing/2014/main" id="{DC68FC58-0DFF-8774-4FAA-2C0EFE2A5B7E}"/>
              </a:ext>
            </a:extLst>
          </p:cNvPr>
          <p:cNvSpPr txBox="1"/>
          <p:nvPr/>
        </p:nvSpPr>
        <p:spPr>
          <a:xfrm>
            <a:off x="3486150" y="2052031"/>
            <a:ext cx="3002745" cy="369332"/>
          </a:xfrm>
          <a:prstGeom prst="rect">
            <a:avLst/>
          </a:prstGeom>
          <a:noFill/>
        </p:spPr>
        <p:txBody>
          <a:bodyPr wrap="none" rtlCol="0">
            <a:spAutoFit/>
          </a:bodyPr>
          <a:lstStyle/>
          <a:p>
            <a:r>
              <a:rPr lang="en-US" altLang="zh-CN" dirty="0"/>
              <a:t>Section 4</a:t>
            </a:r>
            <a:r>
              <a:rPr lang="zh-CN" altLang="en-US" dirty="0"/>
              <a:t>  件项目成本计划</a:t>
            </a:r>
          </a:p>
        </p:txBody>
      </p:sp>
      <p:sp>
        <p:nvSpPr>
          <p:cNvPr id="6" name="文本框 5">
            <a:hlinkClick r:id="rId6" action="ppaction://hlinksldjump"/>
            <a:extLst>
              <a:ext uri="{FF2B5EF4-FFF2-40B4-BE49-F238E27FC236}">
                <a16:creationId xmlns:a16="http://schemas.microsoft.com/office/drawing/2014/main" id="{0C9FD650-0723-05FB-0E9D-FDF9688CCD9E}"/>
              </a:ext>
            </a:extLst>
          </p:cNvPr>
          <p:cNvSpPr txBox="1"/>
          <p:nvPr/>
        </p:nvSpPr>
        <p:spPr>
          <a:xfrm>
            <a:off x="3486150" y="2528952"/>
            <a:ext cx="3212739" cy="369332"/>
          </a:xfrm>
          <a:prstGeom prst="rect">
            <a:avLst/>
          </a:prstGeom>
          <a:noFill/>
        </p:spPr>
        <p:txBody>
          <a:bodyPr wrap="none" rtlCol="0">
            <a:spAutoFit/>
          </a:bodyPr>
          <a:lstStyle/>
          <a:p>
            <a:r>
              <a:rPr lang="en-US" altLang="zh-CN" dirty="0"/>
              <a:t>Section 5</a:t>
            </a:r>
            <a:r>
              <a:rPr lang="zh-CN" altLang="en-US" dirty="0"/>
              <a:t>  软件项目进度计划</a:t>
            </a:r>
          </a:p>
        </p:txBody>
      </p:sp>
      <p:sp>
        <p:nvSpPr>
          <p:cNvPr id="7" name="文本框 6">
            <a:hlinkClick r:id="rId7" action="ppaction://hlinksldjump"/>
            <a:extLst>
              <a:ext uri="{FF2B5EF4-FFF2-40B4-BE49-F238E27FC236}">
                <a16:creationId xmlns:a16="http://schemas.microsoft.com/office/drawing/2014/main" id="{C68909EA-4AD9-3D29-E5C8-26BECE8D612C}"/>
              </a:ext>
            </a:extLst>
          </p:cNvPr>
          <p:cNvSpPr txBox="1"/>
          <p:nvPr/>
        </p:nvSpPr>
        <p:spPr>
          <a:xfrm>
            <a:off x="3486150" y="3005873"/>
            <a:ext cx="3222357" cy="369332"/>
          </a:xfrm>
          <a:prstGeom prst="rect">
            <a:avLst/>
          </a:prstGeom>
          <a:noFill/>
        </p:spPr>
        <p:txBody>
          <a:bodyPr wrap="none" rtlCol="0">
            <a:spAutoFit/>
          </a:bodyPr>
          <a:lstStyle/>
          <a:p>
            <a:r>
              <a:rPr lang="en-US" altLang="zh-CN" dirty="0"/>
              <a:t>Section 6</a:t>
            </a:r>
            <a:r>
              <a:rPr lang="zh-CN" altLang="en-US" dirty="0"/>
              <a:t>  软件项目质量计划</a:t>
            </a:r>
          </a:p>
        </p:txBody>
      </p:sp>
      <p:sp>
        <p:nvSpPr>
          <p:cNvPr id="8" name="文本框 7">
            <a:hlinkClick r:id="rId8" action="ppaction://hlinksldjump"/>
            <a:extLst>
              <a:ext uri="{FF2B5EF4-FFF2-40B4-BE49-F238E27FC236}">
                <a16:creationId xmlns:a16="http://schemas.microsoft.com/office/drawing/2014/main" id="{5796415E-5902-49BB-C3DC-3E2B42EEB5B7}"/>
              </a:ext>
            </a:extLst>
          </p:cNvPr>
          <p:cNvSpPr txBox="1"/>
          <p:nvPr/>
        </p:nvSpPr>
        <p:spPr>
          <a:xfrm>
            <a:off x="3486150" y="3482794"/>
            <a:ext cx="3217547" cy="369332"/>
          </a:xfrm>
          <a:prstGeom prst="rect">
            <a:avLst/>
          </a:prstGeom>
          <a:noFill/>
        </p:spPr>
        <p:txBody>
          <a:bodyPr wrap="none" rtlCol="0">
            <a:spAutoFit/>
          </a:bodyPr>
          <a:lstStyle/>
          <a:p>
            <a:r>
              <a:rPr lang="en-US" altLang="zh-CN" dirty="0"/>
              <a:t>Section 7</a:t>
            </a:r>
            <a:r>
              <a:rPr lang="zh-CN" altLang="en-US" dirty="0"/>
              <a:t>  软件配置管理计划</a:t>
            </a:r>
          </a:p>
        </p:txBody>
      </p:sp>
      <p:sp>
        <p:nvSpPr>
          <p:cNvPr id="9" name="文本框 8">
            <a:hlinkClick r:id="rId9" action="ppaction://hlinksldjump"/>
            <a:extLst>
              <a:ext uri="{FF2B5EF4-FFF2-40B4-BE49-F238E27FC236}">
                <a16:creationId xmlns:a16="http://schemas.microsoft.com/office/drawing/2014/main" id="{CE6F83FE-1E76-2C8E-C6E8-D60597CC550A}"/>
              </a:ext>
            </a:extLst>
          </p:cNvPr>
          <p:cNvSpPr txBox="1"/>
          <p:nvPr/>
        </p:nvSpPr>
        <p:spPr>
          <a:xfrm>
            <a:off x="3486150" y="3959715"/>
            <a:ext cx="3228769" cy="369332"/>
          </a:xfrm>
          <a:prstGeom prst="rect">
            <a:avLst/>
          </a:prstGeom>
          <a:noFill/>
        </p:spPr>
        <p:txBody>
          <a:bodyPr wrap="none" rtlCol="0">
            <a:spAutoFit/>
          </a:bodyPr>
          <a:lstStyle/>
          <a:p>
            <a:r>
              <a:rPr lang="en-US" altLang="zh-CN" dirty="0"/>
              <a:t>Section 8</a:t>
            </a:r>
            <a:r>
              <a:rPr lang="zh-CN" altLang="en-US" dirty="0"/>
              <a:t>  软件项目团队计划</a:t>
            </a:r>
          </a:p>
        </p:txBody>
      </p:sp>
      <p:sp>
        <p:nvSpPr>
          <p:cNvPr id="10" name="文本框 9">
            <a:hlinkClick r:id="rId10" action="ppaction://hlinksldjump"/>
            <a:extLst>
              <a:ext uri="{FF2B5EF4-FFF2-40B4-BE49-F238E27FC236}">
                <a16:creationId xmlns:a16="http://schemas.microsoft.com/office/drawing/2014/main" id="{0C565392-86B3-EBB4-C713-FF691903D7E7}"/>
              </a:ext>
            </a:extLst>
          </p:cNvPr>
          <p:cNvSpPr txBox="1"/>
          <p:nvPr/>
        </p:nvSpPr>
        <p:spPr>
          <a:xfrm>
            <a:off x="3486150" y="4436636"/>
            <a:ext cx="3222357" cy="369332"/>
          </a:xfrm>
          <a:prstGeom prst="rect">
            <a:avLst/>
          </a:prstGeom>
          <a:noFill/>
        </p:spPr>
        <p:txBody>
          <a:bodyPr wrap="none" rtlCol="0">
            <a:spAutoFit/>
          </a:bodyPr>
          <a:lstStyle/>
          <a:p>
            <a:r>
              <a:rPr lang="en-US" altLang="zh-CN" dirty="0"/>
              <a:t>Section 9</a:t>
            </a:r>
            <a:r>
              <a:rPr lang="zh-CN" altLang="en-US" dirty="0"/>
              <a:t>  软件项目风险计划</a:t>
            </a:r>
          </a:p>
        </p:txBody>
      </p:sp>
      <p:sp>
        <p:nvSpPr>
          <p:cNvPr id="11" name="文本框 10">
            <a:hlinkClick r:id="rId11" action="ppaction://hlinksldjump"/>
            <a:extLst>
              <a:ext uri="{FF2B5EF4-FFF2-40B4-BE49-F238E27FC236}">
                <a16:creationId xmlns:a16="http://schemas.microsoft.com/office/drawing/2014/main" id="{559251C1-763A-4442-B24D-A6BE2D7E3DEC}"/>
              </a:ext>
            </a:extLst>
          </p:cNvPr>
          <p:cNvSpPr txBox="1"/>
          <p:nvPr/>
        </p:nvSpPr>
        <p:spPr>
          <a:xfrm>
            <a:off x="3486150" y="5867400"/>
            <a:ext cx="2311851" cy="369332"/>
          </a:xfrm>
          <a:prstGeom prst="rect">
            <a:avLst/>
          </a:prstGeom>
          <a:noFill/>
        </p:spPr>
        <p:txBody>
          <a:bodyPr wrap="none" rtlCol="0">
            <a:spAutoFit/>
          </a:bodyPr>
          <a:lstStyle/>
          <a:p>
            <a:r>
              <a:rPr lang="en-US" altLang="zh-CN" dirty="0"/>
              <a:t>Section 12</a:t>
            </a:r>
            <a:r>
              <a:rPr lang="zh-CN" altLang="en-US" dirty="0"/>
              <a:t> 项目结束</a:t>
            </a:r>
          </a:p>
        </p:txBody>
      </p:sp>
      <p:sp>
        <p:nvSpPr>
          <p:cNvPr id="12" name="文本框 11">
            <a:hlinkClick r:id="rId12" action="ppaction://hlinksldjump"/>
            <a:extLst>
              <a:ext uri="{FF2B5EF4-FFF2-40B4-BE49-F238E27FC236}">
                <a16:creationId xmlns:a16="http://schemas.microsoft.com/office/drawing/2014/main" id="{CDD8CF8E-9528-5349-BBE0-27DB89847DE8}"/>
              </a:ext>
            </a:extLst>
          </p:cNvPr>
          <p:cNvSpPr txBox="1"/>
          <p:nvPr/>
        </p:nvSpPr>
        <p:spPr>
          <a:xfrm>
            <a:off x="3486150" y="4913557"/>
            <a:ext cx="3256020" cy="369332"/>
          </a:xfrm>
          <a:prstGeom prst="rect">
            <a:avLst/>
          </a:prstGeom>
          <a:noFill/>
        </p:spPr>
        <p:txBody>
          <a:bodyPr wrap="none" rtlCol="0">
            <a:spAutoFit/>
          </a:bodyPr>
          <a:lstStyle/>
          <a:p>
            <a:r>
              <a:rPr lang="en-US" altLang="zh-CN" dirty="0"/>
              <a:t>Section 10</a:t>
            </a:r>
            <a:r>
              <a:rPr lang="zh-CN" altLang="en-US" dirty="0"/>
              <a:t> 软件项目合同计划</a:t>
            </a:r>
          </a:p>
        </p:txBody>
      </p:sp>
      <p:sp>
        <p:nvSpPr>
          <p:cNvPr id="13" name="文本框 12">
            <a:hlinkClick r:id="rId13" action="ppaction://hlinksldjump"/>
            <a:extLst>
              <a:ext uri="{FF2B5EF4-FFF2-40B4-BE49-F238E27FC236}">
                <a16:creationId xmlns:a16="http://schemas.microsoft.com/office/drawing/2014/main" id="{A1FAB756-B978-D64E-FA4A-6C6B392E91DC}"/>
              </a:ext>
            </a:extLst>
          </p:cNvPr>
          <p:cNvSpPr txBox="1"/>
          <p:nvPr/>
        </p:nvSpPr>
        <p:spPr>
          <a:xfrm>
            <a:off x="3486150" y="5390478"/>
            <a:ext cx="2725426" cy="369332"/>
          </a:xfrm>
          <a:prstGeom prst="rect">
            <a:avLst/>
          </a:prstGeom>
          <a:noFill/>
        </p:spPr>
        <p:txBody>
          <a:bodyPr wrap="none" rtlCol="0">
            <a:spAutoFit/>
          </a:bodyPr>
          <a:lstStyle/>
          <a:p>
            <a:r>
              <a:rPr lang="en-US" altLang="zh-CN" dirty="0"/>
              <a:t>Section 11</a:t>
            </a:r>
            <a:r>
              <a:rPr lang="zh-CN" altLang="en-US" dirty="0"/>
              <a:t> 项目执行控制</a:t>
            </a:r>
          </a:p>
        </p:txBody>
      </p:sp>
      <p:sp>
        <p:nvSpPr>
          <p:cNvPr id="19" name="矩形 18">
            <a:extLst>
              <a:ext uri="{FF2B5EF4-FFF2-40B4-BE49-F238E27FC236}">
                <a16:creationId xmlns:a16="http://schemas.microsoft.com/office/drawing/2014/main" id="{2CC4DFFA-5AE3-3DBA-535D-6F3B23A66BD8}"/>
              </a:ext>
            </a:extLst>
          </p:cNvPr>
          <p:cNvSpPr/>
          <p:nvPr/>
        </p:nvSpPr>
        <p:spPr>
          <a:xfrm>
            <a:off x="3398458" y="751934"/>
            <a:ext cx="108000" cy="10800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0DAC2F15-7860-ADED-4E01-8EF899B01609}"/>
              </a:ext>
            </a:extLst>
          </p:cNvPr>
          <p:cNvSpPr/>
          <p:nvPr/>
        </p:nvSpPr>
        <p:spPr>
          <a:xfrm>
            <a:off x="3398458" y="1228855"/>
            <a:ext cx="108000" cy="10800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A1087749-F1B2-BEEC-434A-6568C10F33E0}"/>
              </a:ext>
            </a:extLst>
          </p:cNvPr>
          <p:cNvSpPr/>
          <p:nvPr/>
        </p:nvSpPr>
        <p:spPr>
          <a:xfrm>
            <a:off x="3398458" y="2182697"/>
            <a:ext cx="108000" cy="10800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a:extLst>
              <a:ext uri="{FF2B5EF4-FFF2-40B4-BE49-F238E27FC236}">
                <a16:creationId xmlns:a16="http://schemas.microsoft.com/office/drawing/2014/main" id="{97B396DB-4D80-F87A-CFB3-8DDCB3B84485}"/>
              </a:ext>
            </a:extLst>
          </p:cNvPr>
          <p:cNvSpPr/>
          <p:nvPr/>
        </p:nvSpPr>
        <p:spPr>
          <a:xfrm>
            <a:off x="3398458" y="2659618"/>
            <a:ext cx="108000" cy="10800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a:extLst>
              <a:ext uri="{FF2B5EF4-FFF2-40B4-BE49-F238E27FC236}">
                <a16:creationId xmlns:a16="http://schemas.microsoft.com/office/drawing/2014/main" id="{A490EC31-EFEE-ECDD-35F4-E61703E4E489}"/>
              </a:ext>
            </a:extLst>
          </p:cNvPr>
          <p:cNvSpPr/>
          <p:nvPr/>
        </p:nvSpPr>
        <p:spPr>
          <a:xfrm>
            <a:off x="3398458" y="3136539"/>
            <a:ext cx="108000" cy="10800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a:extLst>
              <a:ext uri="{FF2B5EF4-FFF2-40B4-BE49-F238E27FC236}">
                <a16:creationId xmlns:a16="http://schemas.microsoft.com/office/drawing/2014/main" id="{B31EFFAF-1C51-203A-09A5-AE953C0BC731}"/>
              </a:ext>
            </a:extLst>
          </p:cNvPr>
          <p:cNvSpPr/>
          <p:nvPr/>
        </p:nvSpPr>
        <p:spPr>
          <a:xfrm>
            <a:off x="3398458" y="3613460"/>
            <a:ext cx="108000" cy="10800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a:extLst>
              <a:ext uri="{FF2B5EF4-FFF2-40B4-BE49-F238E27FC236}">
                <a16:creationId xmlns:a16="http://schemas.microsoft.com/office/drawing/2014/main" id="{720410A0-FBE9-3369-15B1-E9BC8DB110A8}"/>
              </a:ext>
            </a:extLst>
          </p:cNvPr>
          <p:cNvSpPr/>
          <p:nvPr/>
        </p:nvSpPr>
        <p:spPr>
          <a:xfrm>
            <a:off x="3398458" y="4090381"/>
            <a:ext cx="108000" cy="10800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a:extLst>
              <a:ext uri="{FF2B5EF4-FFF2-40B4-BE49-F238E27FC236}">
                <a16:creationId xmlns:a16="http://schemas.microsoft.com/office/drawing/2014/main" id="{CD6FD518-A1A6-4C2C-3FE0-82CA5150C01E}"/>
              </a:ext>
            </a:extLst>
          </p:cNvPr>
          <p:cNvSpPr/>
          <p:nvPr/>
        </p:nvSpPr>
        <p:spPr>
          <a:xfrm>
            <a:off x="3398458" y="4567302"/>
            <a:ext cx="108000" cy="10800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id="{3AE6D12D-C7B6-DFD3-B8DE-AD7C82443590}"/>
              </a:ext>
            </a:extLst>
          </p:cNvPr>
          <p:cNvSpPr/>
          <p:nvPr/>
        </p:nvSpPr>
        <p:spPr>
          <a:xfrm>
            <a:off x="3398458" y="5044223"/>
            <a:ext cx="108000" cy="10800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a:extLst>
              <a:ext uri="{FF2B5EF4-FFF2-40B4-BE49-F238E27FC236}">
                <a16:creationId xmlns:a16="http://schemas.microsoft.com/office/drawing/2014/main" id="{D9ECCD33-99AD-6FAB-2D80-686B617B041D}"/>
              </a:ext>
            </a:extLst>
          </p:cNvPr>
          <p:cNvSpPr/>
          <p:nvPr/>
        </p:nvSpPr>
        <p:spPr>
          <a:xfrm>
            <a:off x="3398458" y="5521144"/>
            <a:ext cx="108000" cy="10800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a:extLst>
              <a:ext uri="{FF2B5EF4-FFF2-40B4-BE49-F238E27FC236}">
                <a16:creationId xmlns:a16="http://schemas.microsoft.com/office/drawing/2014/main" id="{F58B7036-EB74-A360-788C-81DBFE4193EF}"/>
              </a:ext>
            </a:extLst>
          </p:cNvPr>
          <p:cNvSpPr/>
          <p:nvPr/>
        </p:nvSpPr>
        <p:spPr>
          <a:xfrm>
            <a:off x="3398458" y="5998066"/>
            <a:ext cx="108000" cy="10800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a:extLst>
              <a:ext uri="{FF2B5EF4-FFF2-40B4-BE49-F238E27FC236}">
                <a16:creationId xmlns:a16="http://schemas.microsoft.com/office/drawing/2014/main" id="{7DFC13E3-DEA6-F52C-3A8E-A89A5387CF16}"/>
              </a:ext>
            </a:extLst>
          </p:cNvPr>
          <p:cNvSpPr/>
          <p:nvPr/>
        </p:nvSpPr>
        <p:spPr>
          <a:xfrm>
            <a:off x="3398458" y="1705776"/>
            <a:ext cx="108000" cy="10800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TextBox 13">
            <a:extLst>
              <a:ext uri="{FF2B5EF4-FFF2-40B4-BE49-F238E27FC236}">
                <a16:creationId xmlns:a16="http://schemas.microsoft.com/office/drawing/2014/main" id="{5C9BFF20-316B-CCE9-5224-104D762331FE}"/>
              </a:ext>
            </a:extLst>
          </p:cNvPr>
          <p:cNvSpPr txBox="1"/>
          <p:nvPr/>
        </p:nvSpPr>
        <p:spPr>
          <a:xfrm>
            <a:off x="7549336" y="621268"/>
            <a:ext cx="316112" cy="369332"/>
          </a:xfrm>
          <a:prstGeom prst="rect">
            <a:avLst/>
          </a:prstGeom>
          <a:noFill/>
        </p:spPr>
        <p:txBody>
          <a:bodyPr wrap="none" rtlCol="0">
            <a:spAutoFit/>
          </a:bodyPr>
          <a:lstStyle/>
          <a:p>
            <a:pPr algn="ctr"/>
            <a:r>
              <a:rPr lang="en-US" altLang="zh-CN"/>
              <a:t>2</a:t>
            </a:r>
            <a:endParaRPr lang="zh-CN" altLang="en-US"/>
          </a:p>
        </p:txBody>
      </p:sp>
      <p:sp>
        <p:nvSpPr>
          <p:cNvPr id="18" name="TextBox 17">
            <a:extLst>
              <a:ext uri="{FF2B5EF4-FFF2-40B4-BE49-F238E27FC236}">
                <a16:creationId xmlns:a16="http://schemas.microsoft.com/office/drawing/2014/main" id="{F99B3F5F-FC57-8ADF-0D1E-A67FE1E06292}"/>
              </a:ext>
            </a:extLst>
          </p:cNvPr>
          <p:cNvSpPr txBox="1"/>
          <p:nvPr/>
        </p:nvSpPr>
        <p:spPr>
          <a:xfrm>
            <a:off x="7550137" y="1098189"/>
            <a:ext cx="314510" cy="369332"/>
          </a:xfrm>
          <a:prstGeom prst="rect">
            <a:avLst/>
          </a:prstGeom>
          <a:noFill/>
        </p:spPr>
        <p:txBody>
          <a:bodyPr wrap="none" rtlCol="0">
            <a:spAutoFit/>
          </a:bodyPr>
          <a:lstStyle/>
          <a:p>
            <a:pPr algn="ctr"/>
            <a:r>
              <a:rPr lang="en-US" altLang="zh-CN"/>
              <a:t>3</a:t>
            </a:r>
            <a:endParaRPr lang="zh-CN" altLang="en-US"/>
          </a:p>
        </p:txBody>
      </p:sp>
      <p:sp>
        <p:nvSpPr>
          <p:cNvPr id="21" name="TextBox 20">
            <a:extLst>
              <a:ext uri="{FF2B5EF4-FFF2-40B4-BE49-F238E27FC236}">
                <a16:creationId xmlns:a16="http://schemas.microsoft.com/office/drawing/2014/main" id="{32A04720-419A-44DF-872A-9825B82FADC5}"/>
              </a:ext>
            </a:extLst>
          </p:cNvPr>
          <p:cNvSpPr txBox="1"/>
          <p:nvPr/>
        </p:nvSpPr>
        <p:spPr>
          <a:xfrm>
            <a:off x="7538916" y="1575110"/>
            <a:ext cx="336952" cy="369332"/>
          </a:xfrm>
          <a:prstGeom prst="rect">
            <a:avLst/>
          </a:prstGeom>
          <a:noFill/>
        </p:spPr>
        <p:txBody>
          <a:bodyPr wrap="none" rtlCol="0">
            <a:spAutoFit/>
          </a:bodyPr>
          <a:lstStyle/>
          <a:p>
            <a:pPr algn="ctr"/>
            <a:r>
              <a:rPr lang="en-US" altLang="zh-CN"/>
              <a:t>4</a:t>
            </a:r>
            <a:endParaRPr lang="zh-CN" altLang="en-US"/>
          </a:p>
        </p:txBody>
      </p:sp>
      <p:sp>
        <p:nvSpPr>
          <p:cNvPr id="23" name="TextBox 22">
            <a:extLst>
              <a:ext uri="{FF2B5EF4-FFF2-40B4-BE49-F238E27FC236}">
                <a16:creationId xmlns:a16="http://schemas.microsoft.com/office/drawing/2014/main" id="{51B59FFC-570C-2F81-7DAA-326EE718A800}"/>
              </a:ext>
            </a:extLst>
          </p:cNvPr>
          <p:cNvSpPr txBox="1"/>
          <p:nvPr/>
        </p:nvSpPr>
        <p:spPr>
          <a:xfrm>
            <a:off x="7549336" y="2052031"/>
            <a:ext cx="316112" cy="369332"/>
          </a:xfrm>
          <a:prstGeom prst="rect">
            <a:avLst/>
          </a:prstGeom>
          <a:noFill/>
        </p:spPr>
        <p:txBody>
          <a:bodyPr wrap="none" rtlCol="0">
            <a:spAutoFit/>
          </a:bodyPr>
          <a:lstStyle/>
          <a:p>
            <a:pPr algn="ctr"/>
            <a:r>
              <a:rPr lang="en-US" altLang="zh-CN"/>
              <a:t>2</a:t>
            </a:r>
            <a:endParaRPr lang="zh-CN" altLang="en-US"/>
          </a:p>
        </p:txBody>
      </p:sp>
      <p:sp>
        <p:nvSpPr>
          <p:cNvPr id="33" name="TextBox 32">
            <a:extLst>
              <a:ext uri="{FF2B5EF4-FFF2-40B4-BE49-F238E27FC236}">
                <a16:creationId xmlns:a16="http://schemas.microsoft.com/office/drawing/2014/main" id="{1EF28686-660B-D3B4-62A6-C17EB55B7B68}"/>
              </a:ext>
            </a:extLst>
          </p:cNvPr>
          <p:cNvSpPr txBox="1"/>
          <p:nvPr/>
        </p:nvSpPr>
        <p:spPr>
          <a:xfrm>
            <a:off x="7550137" y="2528952"/>
            <a:ext cx="314510" cy="369332"/>
          </a:xfrm>
          <a:prstGeom prst="rect">
            <a:avLst/>
          </a:prstGeom>
          <a:noFill/>
        </p:spPr>
        <p:txBody>
          <a:bodyPr wrap="none" rtlCol="0">
            <a:spAutoFit/>
          </a:bodyPr>
          <a:lstStyle/>
          <a:p>
            <a:pPr algn="ctr"/>
            <a:r>
              <a:rPr lang="en-US" altLang="zh-CN"/>
              <a:t>3</a:t>
            </a:r>
            <a:endParaRPr lang="zh-CN" altLang="en-US"/>
          </a:p>
        </p:txBody>
      </p:sp>
      <p:sp>
        <p:nvSpPr>
          <p:cNvPr id="34" name="TextBox 33">
            <a:extLst>
              <a:ext uri="{FF2B5EF4-FFF2-40B4-BE49-F238E27FC236}">
                <a16:creationId xmlns:a16="http://schemas.microsoft.com/office/drawing/2014/main" id="{A600B197-6332-621E-A992-AB6FAAD93ABA}"/>
              </a:ext>
            </a:extLst>
          </p:cNvPr>
          <p:cNvSpPr txBox="1"/>
          <p:nvPr/>
        </p:nvSpPr>
        <p:spPr>
          <a:xfrm>
            <a:off x="7550137" y="3005873"/>
            <a:ext cx="314510" cy="369332"/>
          </a:xfrm>
          <a:prstGeom prst="rect">
            <a:avLst/>
          </a:prstGeom>
          <a:noFill/>
        </p:spPr>
        <p:txBody>
          <a:bodyPr wrap="none" rtlCol="0">
            <a:spAutoFit/>
          </a:bodyPr>
          <a:lstStyle/>
          <a:p>
            <a:pPr algn="ctr"/>
            <a:r>
              <a:rPr lang="en-US" altLang="zh-CN"/>
              <a:t>3</a:t>
            </a:r>
            <a:endParaRPr lang="zh-CN" altLang="en-US"/>
          </a:p>
        </p:txBody>
      </p:sp>
      <p:sp>
        <p:nvSpPr>
          <p:cNvPr id="35" name="TextBox 34">
            <a:extLst>
              <a:ext uri="{FF2B5EF4-FFF2-40B4-BE49-F238E27FC236}">
                <a16:creationId xmlns:a16="http://schemas.microsoft.com/office/drawing/2014/main" id="{10ED4C7B-B30F-2210-A743-F4DEB5412E18}"/>
              </a:ext>
            </a:extLst>
          </p:cNvPr>
          <p:cNvSpPr txBox="1"/>
          <p:nvPr/>
        </p:nvSpPr>
        <p:spPr>
          <a:xfrm>
            <a:off x="7549336" y="3482794"/>
            <a:ext cx="316112" cy="369332"/>
          </a:xfrm>
          <a:prstGeom prst="rect">
            <a:avLst/>
          </a:prstGeom>
          <a:noFill/>
        </p:spPr>
        <p:txBody>
          <a:bodyPr wrap="none" rtlCol="0">
            <a:spAutoFit/>
          </a:bodyPr>
          <a:lstStyle/>
          <a:p>
            <a:pPr algn="ctr"/>
            <a:r>
              <a:rPr lang="en-US" altLang="zh-CN"/>
              <a:t>2</a:t>
            </a:r>
            <a:endParaRPr lang="zh-CN" altLang="en-US"/>
          </a:p>
        </p:txBody>
      </p:sp>
      <p:sp>
        <p:nvSpPr>
          <p:cNvPr id="36" name="TextBox 35">
            <a:extLst>
              <a:ext uri="{FF2B5EF4-FFF2-40B4-BE49-F238E27FC236}">
                <a16:creationId xmlns:a16="http://schemas.microsoft.com/office/drawing/2014/main" id="{B8FC007B-059C-8D43-A866-FE6BD38E53D7}"/>
              </a:ext>
            </a:extLst>
          </p:cNvPr>
          <p:cNvSpPr txBox="1"/>
          <p:nvPr/>
        </p:nvSpPr>
        <p:spPr>
          <a:xfrm>
            <a:off x="7549336" y="3959715"/>
            <a:ext cx="316112" cy="369332"/>
          </a:xfrm>
          <a:prstGeom prst="rect">
            <a:avLst/>
          </a:prstGeom>
          <a:noFill/>
        </p:spPr>
        <p:txBody>
          <a:bodyPr wrap="none" rtlCol="0">
            <a:spAutoFit/>
          </a:bodyPr>
          <a:lstStyle/>
          <a:p>
            <a:pPr algn="ctr"/>
            <a:r>
              <a:rPr lang="en-US" altLang="zh-CN"/>
              <a:t>2</a:t>
            </a:r>
            <a:endParaRPr lang="zh-CN" altLang="en-US"/>
          </a:p>
        </p:txBody>
      </p:sp>
      <p:sp>
        <p:nvSpPr>
          <p:cNvPr id="37" name="TextBox 36">
            <a:extLst>
              <a:ext uri="{FF2B5EF4-FFF2-40B4-BE49-F238E27FC236}">
                <a16:creationId xmlns:a16="http://schemas.microsoft.com/office/drawing/2014/main" id="{5978E88D-1F9F-4289-0C39-E44C5BBF889C}"/>
              </a:ext>
            </a:extLst>
          </p:cNvPr>
          <p:cNvSpPr txBox="1"/>
          <p:nvPr/>
        </p:nvSpPr>
        <p:spPr>
          <a:xfrm>
            <a:off x="7549336" y="4436636"/>
            <a:ext cx="316112" cy="369332"/>
          </a:xfrm>
          <a:prstGeom prst="rect">
            <a:avLst/>
          </a:prstGeom>
          <a:noFill/>
        </p:spPr>
        <p:txBody>
          <a:bodyPr wrap="none" rtlCol="0">
            <a:spAutoFit/>
          </a:bodyPr>
          <a:lstStyle/>
          <a:p>
            <a:pPr algn="ctr"/>
            <a:r>
              <a:rPr lang="en-US" altLang="zh-CN"/>
              <a:t>2</a:t>
            </a:r>
            <a:endParaRPr lang="zh-CN" altLang="en-US"/>
          </a:p>
        </p:txBody>
      </p:sp>
      <p:sp>
        <p:nvSpPr>
          <p:cNvPr id="38" name="TextBox 37">
            <a:extLst>
              <a:ext uri="{FF2B5EF4-FFF2-40B4-BE49-F238E27FC236}">
                <a16:creationId xmlns:a16="http://schemas.microsoft.com/office/drawing/2014/main" id="{E67A6F50-FFBA-A322-7FC5-991B3BDDE9FB}"/>
              </a:ext>
            </a:extLst>
          </p:cNvPr>
          <p:cNvSpPr txBox="1"/>
          <p:nvPr/>
        </p:nvSpPr>
        <p:spPr>
          <a:xfrm>
            <a:off x="7549336" y="4913557"/>
            <a:ext cx="316112" cy="369332"/>
          </a:xfrm>
          <a:prstGeom prst="rect">
            <a:avLst/>
          </a:prstGeom>
          <a:noFill/>
        </p:spPr>
        <p:txBody>
          <a:bodyPr wrap="none" rtlCol="0">
            <a:spAutoFit/>
          </a:bodyPr>
          <a:lstStyle/>
          <a:p>
            <a:pPr algn="ctr"/>
            <a:r>
              <a:rPr lang="en-US" altLang="zh-CN"/>
              <a:t>2</a:t>
            </a:r>
            <a:endParaRPr lang="zh-CN" altLang="en-US"/>
          </a:p>
        </p:txBody>
      </p:sp>
      <p:sp>
        <p:nvSpPr>
          <p:cNvPr id="39" name="TextBox 38">
            <a:extLst>
              <a:ext uri="{FF2B5EF4-FFF2-40B4-BE49-F238E27FC236}">
                <a16:creationId xmlns:a16="http://schemas.microsoft.com/office/drawing/2014/main" id="{E42C42A8-A708-CD70-C71B-02D69F5C5CA4}"/>
              </a:ext>
            </a:extLst>
          </p:cNvPr>
          <p:cNvSpPr txBox="1"/>
          <p:nvPr/>
        </p:nvSpPr>
        <p:spPr>
          <a:xfrm>
            <a:off x="7544527" y="5390478"/>
            <a:ext cx="325731" cy="369332"/>
          </a:xfrm>
          <a:prstGeom prst="rect">
            <a:avLst/>
          </a:prstGeom>
          <a:noFill/>
        </p:spPr>
        <p:txBody>
          <a:bodyPr wrap="none" rtlCol="0">
            <a:spAutoFit/>
          </a:bodyPr>
          <a:lstStyle/>
          <a:p>
            <a:pPr algn="ctr"/>
            <a:r>
              <a:rPr lang="en-US" altLang="zh-CN"/>
              <a:t>6</a:t>
            </a:r>
            <a:endParaRPr lang="zh-CN" altLang="en-US"/>
          </a:p>
        </p:txBody>
      </p:sp>
      <p:sp>
        <p:nvSpPr>
          <p:cNvPr id="40" name="TextBox 39">
            <a:extLst>
              <a:ext uri="{FF2B5EF4-FFF2-40B4-BE49-F238E27FC236}">
                <a16:creationId xmlns:a16="http://schemas.microsoft.com/office/drawing/2014/main" id="{0F8FDFBD-A01C-68C9-C0D0-AE0419567660}"/>
              </a:ext>
            </a:extLst>
          </p:cNvPr>
          <p:cNvSpPr txBox="1"/>
          <p:nvPr/>
        </p:nvSpPr>
        <p:spPr>
          <a:xfrm>
            <a:off x="7549336" y="5867400"/>
            <a:ext cx="316112" cy="369332"/>
          </a:xfrm>
          <a:prstGeom prst="rect">
            <a:avLst/>
          </a:prstGeom>
          <a:noFill/>
        </p:spPr>
        <p:txBody>
          <a:bodyPr wrap="none" rtlCol="0">
            <a:spAutoFit/>
          </a:bodyPr>
          <a:lstStyle/>
          <a:p>
            <a:pPr algn="ctr"/>
            <a:r>
              <a:rPr lang="en-US" altLang="zh-CN"/>
              <a:t>2</a:t>
            </a:r>
            <a:endParaRPr lang="zh-CN" altLang="en-US"/>
          </a:p>
        </p:txBody>
      </p:sp>
    </p:spTree>
    <p:extLst>
      <p:ext uri="{BB962C8B-B14F-4D97-AF65-F5344CB8AC3E}">
        <p14:creationId xmlns:p14="http://schemas.microsoft.com/office/powerpoint/2010/main" val="9512580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4CA759-5621-EB6A-3BE8-E0B4F08C2D2D}"/>
              </a:ext>
            </a:extLst>
          </p:cNvPr>
          <p:cNvSpPr>
            <a:spLocks noGrp="1"/>
          </p:cNvSpPr>
          <p:nvPr>
            <p:ph type="ctrTitle"/>
          </p:nvPr>
        </p:nvSpPr>
        <p:spPr>
          <a:xfrm>
            <a:off x="2464886" y="4681056"/>
            <a:ext cx="7262228" cy="798491"/>
          </a:xfrm>
        </p:spPr>
        <p:txBody>
          <a:bodyPr/>
          <a:lstStyle/>
          <a:p>
            <a:r>
              <a:rPr lang="zh-CN" altLang="en-US"/>
              <a:t>软件项目管理概述</a:t>
            </a:r>
          </a:p>
        </p:txBody>
      </p:sp>
      <p:sp>
        <p:nvSpPr>
          <p:cNvPr id="3" name="副标题 2">
            <a:extLst>
              <a:ext uri="{FF2B5EF4-FFF2-40B4-BE49-F238E27FC236}">
                <a16:creationId xmlns:a16="http://schemas.microsoft.com/office/drawing/2014/main" id="{9A649945-96D7-8543-8CFE-9D885EE22BF8}"/>
              </a:ext>
            </a:extLst>
          </p:cNvPr>
          <p:cNvSpPr>
            <a:spLocks noGrp="1"/>
          </p:cNvSpPr>
          <p:nvPr>
            <p:ph type="subTitle" idx="1"/>
          </p:nvPr>
        </p:nvSpPr>
        <p:spPr>
          <a:xfrm>
            <a:off x="2464886" y="5479548"/>
            <a:ext cx="7262228" cy="458180"/>
          </a:xfrm>
        </p:spPr>
        <p:txBody>
          <a:bodyPr/>
          <a:lstStyle/>
          <a:p>
            <a:r>
              <a:rPr lang="en-US" altLang="zh-CN"/>
              <a:t>Section 1 Overview</a:t>
            </a:r>
            <a:endParaRPr lang="zh-CN" altLang="en-US"/>
          </a:p>
        </p:txBody>
      </p:sp>
      <p:sp>
        <p:nvSpPr>
          <p:cNvPr id="9" name="Text Placeholder 8">
            <a:extLst>
              <a:ext uri="{FF2B5EF4-FFF2-40B4-BE49-F238E27FC236}">
                <a16:creationId xmlns:a16="http://schemas.microsoft.com/office/drawing/2014/main" id="{40EC2917-9129-B019-1D79-7D13F0C8FC21}"/>
              </a:ext>
            </a:extLst>
          </p:cNvPr>
          <p:cNvSpPr>
            <a:spLocks noGrp="1"/>
          </p:cNvSpPr>
          <p:nvPr>
            <p:ph type="body" sz="quarter" idx="11"/>
          </p:nvPr>
        </p:nvSpPr>
        <p:spPr>
          <a:xfrm>
            <a:off x="3883891" y="2047875"/>
            <a:ext cx="4424219" cy="2531269"/>
          </a:xfrm>
        </p:spPr>
        <p:txBody>
          <a:bodyPr/>
          <a:lstStyle/>
          <a:p>
            <a:r>
              <a:rPr lang="zh-CN" altLang="en-US"/>
              <a:t>项目与软件项目</a:t>
            </a:r>
          </a:p>
          <a:p>
            <a:r>
              <a:rPr lang="zh-CN" altLang="en-US"/>
              <a:t>项目管理与软件项目管理</a:t>
            </a:r>
          </a:p>
          <a:p>
            <a:r>
              <a:rPr lang="zh-CN" altLang="en-US"/>
              <a:t>传统软件项目管理</a:t>
            </a:r>
          </a:p>
          <a:p>
            <a:r>
              <a:rPr lang="zh-CN" altLang="en-US"/>
              <a:t>敏捷软件项目管理</a:t>
            </a:r>
          </a:p>
          <a:p>
            <a:endParaRPr lang="zh-CN" altLang="en-US"/>
          </a:p>
        </p:txBody>
      </p:sp>
    </p:spTree>
    <p:extLst>
      <p:ext uri="{BB962C8B-B14F-4D97-AF65-F5344CB8AC3E}">
        <p14:creationId xmlns:p14="http://schemas.microsoft.com/office/powerpoint/2010/main" val="20334360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CB481C-BB8D-8881-5F15-37181E213008}"/>
              </a:ext>
            </a:extLst>
          </p:cNvPr>
          <p:cNvSpPr>
            <a:spLocks noGrp="1"/>
          </p:cNvSpPr>
          <p:nvPr>
            <p:ph type="title"/>
          </p:nvPr>
        </p:nvSpPr>
        <p:spPr>
          <a:xfrm>
            <a:off x="792000" y="360000"/>
            <a:ext cx="6375921" cy="429413"/>
          </a:xfrm>
        </p:spPr>
        <p:txBody>
          <a:bodyPr>
            <a:normAutofit/>
          </a:bodyPr>
          <a:lstStyle/>
          <a:p>
            <a:r>
              <a:rPr lang="en-US" altLang="zh-CN"/>
              <a:t>1.1 </a:t>
            </a:r>
            <a:r>
              <a:rPr lang="zh-CN" altLang="en-US"/>
              <a:t>项目</a:t>
            </a:r>
          </a:p>
        </p:txBody>
      </p:sp>
      <p:sp>
        <p:nvSpPr>
          <p:cNvPr id="3" name="内容占位符 2">
            <a:extLst>
              <a:ext uri="{FF2B5EF4-FFF2-40B4-BE49-F238E27FC236}">
                <a16:creationId xmlns:a16="http://schemas.microsoft.com/office/drawing/2014/main" id="{5AB56C25-F459-19D0-36CB-4BA5E15CAD51}"/>
              </a:ext>
            </a:extLst>
          </p:cNvPr>
          <p:cNvSpPr>
            <a:spLocks noGrp="1"/>
          </p:cNvSpPr>
          <p:nvPr>
            <p:ph idx="1"/>
          </p:nvPr>
        </p:nvSpPr>
        <p:spPr>
          <a:xfrm>
            <a:off x="696000" y="864000"/>
            <a:ext cx="10800000" cy="5400000"/>
          </a:xfrm>
        </p:spPr>
        <p:txBody>
          <a:bodyPr/>
          <a:lstStyle/>
          <a:p>
            <a:r>
              <a:rPr lang="zh-CN" altLang="en-US"/>
              <a:t>定义 </a:t>
            </a:r>
            <a:r>
              <a:rPr lang="en-US" altLang="zh-CN"/>
              <a:t>Concept</a:t>
            </a:r>
            <a:r>
              <a:rPr lang="zh-CN" altLang="en-US"/>
              <a:t>：</a:t>
            </a:r>
            <a:endParaRPr lang="en-US" altLang="zh-CN"/>
          </a:p>
          <a:p>
            <a:pPr lvl="1"/>
            <a:r>
              <a:rPr lang="zh-CN" altLang="en-US"/>
              <a:t>为了创造一个唯一的产品或提供一个唯一的服务而进行的临时性的努力</a:t>
            </a:r>
            <a:endParaRPr lang="en-US" altLang="zh-CN"/>
          </a:p>
          <a:p>
            <a:pPr lvl="1"/>
            <a:r>
              <a:rPr lang="en-US" altLang="zh-CN"/>
              <a:t>A project is a temporary endeavor undertaken to create a unique product, service, or result.</a:t>
            </a:r>
          </a:p>
          <a:p>
            <a:endParaRPr lang="zh-CN" altLang="en-US"/>
          </a:p>
        </p:txBody>
      </p:sp>
      <p:sp>
        <p:nvSpPr>
          <p:cNvPr id="6" name="Text Placeholder 5">
            <a:extLst>
              <a:ext uri="{FF2B5EF4-FFF2-40B4-BE49-F238E27FC236}">
                <a16:creationId xmlns:a16="http://schemas.microsoft.com/office/drawing/2014/main" id="{D97DF4B7-1C83-F745-624B-8AE9F2AF4847}"/>
              </a:ext>
            </a:extLst>
          </p:cNvPr>
          <p:cNvSpPr>
            <a:spLocks noGrp="1"/>
          </p:cNvSpPr>
          <p:nvPr>
            <p:ph type="body" sz="quarter" idx="10"/>
          </p:nvPr>
        </p:nvSpPr>
        <p:spPr>
          <a:xfrm>
            <a:off x="7071919" y="448519"/>
            <a:ext cx="4424080" cy="338554"/>
          </a:xfrm>
        </p:spPr>
        <p:txBody>
          <a:bodyPr/>
          <a:lstStyle/>
          <a:p>
            <a:r>
              <a:rPr lang="en-US" altLang="zh-CN"/>
              <a:t>Project</a:t>
            </a:r>
            <a:endParaRPr lang="zh-CN" altLang="en-US"/>
          </a:p>
        </p:txBody>
      </p:sp>
    </p:spTree>
    <p:extLst>
      <p:ext uri="{BB962C8B-B14F-4D97-AF65-F5344CB8AC3E}">
        <p14:creationId xmlns:p14="http://schemas.microsoft.com/office/powerpoint/2010/main" val="1776960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Vs пнг фото">
            <a:extLst>
              <a:ext uri="{FF2B5EF4-FFF2-40B4-BE49-F238E27FC236}">
                <a16:creationId xmlns:a16="http://schemas.microsoft.com/office/drawing/2014/main" id="{86DB531E-C8E9-C6AB-719F-DD228DEE96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36000" y="2353481"/>
            <a:ext cx="2520000" cy="215103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B5A0F44-E7AA-9779-BF63-709C8F4138A1}"/>
              </a:ext>
            </a:extLst>
          </p:cNvPr>
          <p:cNvSpPr txBox="1"/>
          <p:nvPr/>
        </p:nvSpPr>
        <p:spPr>
          <a:xfrm>
            <a:off x="4433855" y="921722"/>
            <a:ext cx="646331" cy="369332"/>
          </a:xfrm>
          <a:prstGeom prst="rect">
            <a:avLst/>
          </a:prstGeom>
          <a:noFill/>
          <a:ln>
            <a:noFill/>
          </a:ln>
          <a:effectLst/>
        </p:spPr>
        <p:style>
          <a:lnRef idx="0">
            <a:schemeClr val="accent2"/>
          </a:lnRef>
          <a:fillRef idx="3">
            <a:schemeClr val="accent2"/>
          </a:fillRef>
          <a:effectRef idx="3">
            <a:schemeClr val="accent2"/>
          </a:effectRef>
          <a:fontRef idx="minor">
            <a:schemeClr val="lt1"/>
          </a:fontRef>
        </p:style>
        <p:txBody>
          <a:bodyPr vert="horz" wrap="none" rtlCol="0" anchor="ctr" anchorCtr="0">
            <a:spAutoFit/>
          </a:bodyPr>
          <a:lstStyle/>
          <a:p>
            <a:pPr algn="ctr"/>
            <a:r>
              <a:rPr lang="zh-CN" altLang="en-US" dirty="0">
                <a:solidFill>
                  <a:sysClr val="windowText" lastClr="000000"/>
                </a:solidFill>
              </a:rPr>
              <a:t>项目</a:t>
            </a:r>
          </a:p>
        </p:txBody>
      </p:sp>
      <p:sp>
        <p:nvSpPr>
          <p:cNvPr id="6" name="TextBox 5">
            <a:extLst>
              <a:ext uri="{FF2B5EF4-FFF2-40B4-BE49-F238E27FC236}">
                <a16:creationId xmlns:a16="http://schemas.microsoft.com/office/drawing/2014/main" id="{50A82F39-AEE8-7C68-7521-3FF4AC011EFF}"/>
              </a:ext>
            </a:extLst>
          </p:cNvPr>
          <p:cNvSpPr txBox="1"/>
          <p:nvPr/>
        </p:nvSpPr>
        <p:spPr>
          <a:xfrm>
            <a:off x="7111813" y="921722"/>
            <a:ext cx="646331" cy="369332"/>
          </a:xfrm>
          <a:prstGeom prst="rect">
            <a:avLst/>
          </a:prstGeom>
          <a:noFill/>
          <a:ln>
            <a:noFill/>
          </a:ln>
          <a:effectLst/>
        </p:spPr>
        <p:style>
          <a:lnRef idx="0">
            <a:schemeClr val="accent6"/>
          </a:lnRef>
          <a:fillRef idx="3">
            <a:schemeClr val="accent6"/>
          </a:fillRef>
          <a:effectRef idx="3">
            <a:schemeClr val="accent6"/>
          </a:effectRef>
          <a:fontRef idx="minor">
            <a:schemeClr val="lt1"/>
          </a:fontRef>
        </p:style>
        <p:txBody>
          <a:bodyPr vert="horz" wrap="none" rtlCol="0" anchor="ctr" anchorCtr="0">
            <a:spAutoFit/>
          </a:bodyPr>
          <a:lstStyle/>
          <a:p>
            <a:pPr algn="ctr"/>
            <a:r>
              <a:rPr lang="zh-CN" altLang="en-US">
                <a:solidFill>
                  <a:sysClr val="windowText" lastClr="000000"/>
                </a:solidFill>
              </a:rPr>
              <a:t>运作</a:t>
            </a:r>
          </a:p>
        </p:txBody>
      </p:sp>
      <p:sp>
        <p:nvSpPr>
          <p:cNvPr id="12" name="TextBox 11">
            <a:extLst>
              <a:ext uri="{FF2B5EF4-FFF2-40B4-BE49-F238E27FC236}">
                <a16:creationId xmlns:a16="http://schemas.microsoft.com/office/drawing/2014/main" id="{4F17EFBC-64A3-3882-A64E-9D7A88AF6FB7}"/>
              </a:ext>
            </a:extLst>
          </p:cNvPr>
          <p:cNvSpPr txBox="1"/>
          <p:nvPr/>
        </p:nvSpPr>
        <p:spPr>
          <a:xfrm>
            <a:off x="3020584" y="1720840"/>
            <a:ext cx="1736437" cy="3416320"/>
          </a:xfrm>
          <a:prstGeom prst="rect">
            <a:avLst/>
          </a:prstGeom>
          <a:noFill/>
        </p:spPr>
        <p:txBody>
          <a:bodyPr wrap="none" rtlCol="0">
            <a:spAutoFit/>
          </a:bodyPr>
          <a:lstStyle/>
          <a:p>
            <a:pPr algn="r"/>
            <a:r>
              <a:rPr lang="zh-CN" altLang="en-US" dirty="0"/>
              <a:t>搬家 </a:t>
            </a:r>
            <a:r>
              <a:rPr lang="zh-CN" altLang="en-US" dirty="0">
                <a:sym typeface="Wingdings" panose="05000000000000000000" pitchFamily="2" charset="2"/>
              </a:rPr>
              <a:t></a:t>
            </a:r>
            <a:endParaRPr lang="en-US" altLang="zh-CN" dirty="0"/>
          </a:p>
          <a:p>
            <a:pPr algn="r"/>
            <a:r>
              <a:rPr lang="zh-CN" altLang="en-US" dirty="0"/>
              <a:t>野炊 </a:t>
            </a:r>
            <a:r>
              <a:rPr lang="zh-CN" altLang="en-US" dirty="0">
                <a:sym typeface="Wingdings" panose="05000000000000000000" pitchFamily="2" charset="2"/>
              </a:rPr>
              <a:t></a:t>
            </a:r>
            <a:endParaRPr lang="en-US" altLang="zh-CN" dirty="0"/>
          </a:p>
          <a:p>
            <a:pPr algn="r"/>
            <a:r>
              <a:rPr lang="zh-CN" altLang="en-US" dirty="0"/>
              <a:t>生日聚会 </a:t>
            </a:r>
            <a:r>
              <a:rPr lang="zh-CN" altLang="en-US" dirty="0">
                <a:sym typeface="Wingdings" panose="05000000000000000000" pitchFamily="2" charset="2"/>
              </a:rPr>
              <a:t></a:t>
            </a:r>
            <a:endParaRPr lang="en-US" altLang="zh-CN" dirty="0"/>
          </a:p>
          <a:p>
            <a:pPr algn="r"/>
            <a:r>
              <a:rPr lang="zh-CN" altLang="en-US" dirty="0"/>
              <a:t>婚礼 </a:t>
            </a:r>
            <a:r>
              <a:rPr lang="zh-CN" altLang="en-US" dirty="0">
                <a:sym typeface="Wingdings" panose="05000000000000000000" pitchFamily="2" charset="2"/>
              </a:rPr>
              <a:t></a:t>
            </a:r>
            <a:endParaRPr lang="en-US" altLang="zh-CN" dirty="0"/>
          </a:p>
          <a:p>
            <a:pPr algn="r"/>
            <a:endParaRPr lang="en-US" altLang="zh-CN" dirty="0"/>
          </a:p>
          <a:p>
            <a:pPr algn="r"/>
            <a:r>
              <a:rPr lang="zh-CN" altLang="en-US" dirty="0"/>
              <a:t>认证考试 </a:t>
            </a:r>
            <a:r>
              <a:rPr lang="zh-CN" altLang="en-US" dirty="0">
                <a:sym typeface="Wingdings" panose="05000000000000000000" pitchFamily="2" charset="2"/>
              </a:rPr>
              <a:t></a:t>
            </a:r>
            <a:endParaRPr lang="en-US" altLang="zh-CN" dirty="0"/>
          </a:p>
          <a:p>
            <a:pPr algn="r"/>
            <a:r>
              <a:rPr lang="zh-CN" altLang="en-US" dirty="0"/>
              <a:t>学历教育 </a:t>
            </a:r>
            <a:r>
              <a:rPr lang="zh-CN" altLang="en-US" dirty="0">
                <a:sym typeface="Wingdings" panose="05000000000000000000" pitchFamily="2" charset="2"/>
              </a:rPr>
              <a:t></a:t>
            </a:r>
            <a:endParaRPr lang="en-US" altLang="zh-CN" dirty="0"/>
          </a:p>
          <a:p>
            <a:pPr algn="r"/>
            <a:r>
              <a:rPr lang="zh-CN" altLang="en-US" dirty="0"/>
              <a:t>驾照考试 </a:t>
            </a:r>
            <a:r>
              <a:rPr lang="zh-CN" altLang="en-US" dirty="0">
                <a:sym typeface="Wingdings" panose="05000000000000000000" pitchFamily="2" charset="2"/>
              </a:rPr>
              <a:t></a:t>
            </a:r>
            <a:endParaRPr lang="zh-CN" altLang="en-US" dirty="0"/>
          </a:p>
          <a:p>
            <a:pPr algn="r"/>
            <a:endParaRPr lang="en-US" altLang="zh-CN" dirty="0"/>
          </a:p>
          <a:p>
            <a:pPr algn="r"/>
            <a:r>
              <a:rPr lang="zh-CN" altLang="en-US" dirty="0"/>
              <a:t>毕业设计 </a:t>
            </a:r>
            <a:r>
              <a:rPr lang="zh-CN" altLang="en-US" dirty="0">
                <a:sym typeface="Wingdings" panose="05000000000000000000" pitchFamily="2" charset="2"/>
              </a:rPr>
              <a:t></a:t>
            </a:r>
            <a:endParaRPr lang="en-US" altLang="zh-CN" dirty="0"/>
          </a:p>
          <a:p>
            <a:pPr algn="r"/>
            <a:r>
              <a:rPr lang="zh-CN" altLang="en-US" dirty="0"/>
              <a:t>电商小程序 </a:t>
            </a:r>
            <a:r>
              <a:rPr lang="zh-CN" altLang="en-US" dirty="0">
                <a:sym typeface="Wingdings" panose="05000000000000000000" pitchFamily="2" charset="2"/>
              </a:rPr>
              <a:t></a:t>
            </a:r>
            <a:endParaRPr lang="en-US" altLang="zh-CN" dirty="0"/>
          </a:p>
          <a:p>
            <a:pPr algn="r"/>
            <a:r>
              <a:rPr lang="zh-CN" altLang="en-US" dirty="0"/>
              <a:t>后台管理系统 </a:t>
            </a:r>
            <a:r>
              <a:rPr lang="zh-CN" altLang="en-US" dirty="0">
                <a:sym typeface="Wingdings" panose="05000000000000000000" pitchFamily="2" charset="2"/>
              </a:rPr>
              <a:t></a:t>
            </a:r>
            <a:endParaRPr lang="en-US" altLang="zh-CN" dirty="0"/>
          </a:p>
        </p:txBody>
      </p:sp>
      <p:sp>
        <p:nvSpPr>
          <p:cNvPr id="13" name="TextBox 12">
            <a:extLst>
              <a:ext uri="{FF2B5EF4-FFF2-40B4-BE49-F238E27FC236}">
                <a16:creationId xmlns:a16="http://schemas.microsoft.com/office/drawing/2014/main" id="{997C2C4F-DAD8-7AEA-B00B-A7DF3CAFF585}"/>
              </a:ext>
            </a:extLst>
          </p:cNvPr>
          <p:cNvSpPr txBox="1"/>
          <p:nvPr/>
        </p:nvSpPr>
        <p:spPr>
          <a:xfrm>
            <a:off x="7434979" y="2136339"/>
            <a:ext cx="1274708" cy="2585323"/>
          </a:xfrm>
          <a:prstGeom prst="rect">
            <a:avLst/>
          </a:prstGeom>
          <a:noFill/>
        </p:spPr>
        <p:txBody>
          <a:bodyPr wrap="none" rtlCol="0">
            <a:spAutoFit/>
          </a:bodyPr>
          <a:lstStyle/>
          <a:p>
            <a:r>
              <a:rPr lang="zh-CN" altLang="en-US">
                <a:sym typeface="Wingdings" panose="05000000000000000000" pitchFamily="2" charset="2"/>
              </a:rPr>
              <a:t> </a:t>
            </a:r>
            <a:r>
              <a:rPr lang="zh-CN" altLang="en-US"/>
              <a:t>保洁</a:t>
            </a:r>
            <a:endParaRPr lang="en-US" altLang="zh-CN"/>
          </a:p>
          <a:p>
            <a:r>
              <a:rPr lang="zh-CN" altLang="en-US">
                <a:sym typeface="Wingdings" panose="05000000000000000000" pitchFamily="2" charset="2"/>
              </a:rPr>
              <a:t> </a:t>
            </a:r>
            <a:r>
              <a:rPr lang="zh-CN" altLang="en-US"/>
              <a:t>安保</a:t>
            </a:r>
            <a:endParaRPr lang="en-US" altLang="zh-CN"/>
          </a:p>
          <a:p>
            <a:endParaRPr lang="en-US" altLang="zh-CN"/>
          </a:p>
          <a:p>
            <a:r>
              <a:rPr lang="zh-CN" altLang="en-US">
                <a:sym typeface="Wingdings" panose="05000000000000000000" pitchFamily="2" charset="2"/>
              </a:rPr>
              <a:t> </a:t>
            </a:r>
            <a:r>
              <a:rPr lang="zh-CN" altLang="en-US"/>
              <a:t>上课</a:t>
            </a:r>
            <a:endParaRPr lang="en-US" altLang="zh-CN"/>
          </a:p>
          <a:p>
            <a:r>
              <a:rPr lang="zh-CN" altLang="en-US">
                <a:sym typeface="Wingdings" panose="05000000000000000000" pitchFamily="2" charset="2"/>
              </a:rPr>
              <a:t> 党团日</a:t>
            </a:r>
            <a:endParaRPr lang="en-US" altLang="zh-CN">
              <a:sym typeface="Wingdings" panose="05000000000000000000" pitchFamily="2" charset="2"/>
            </a:endParaRPr>
          </a:p>
          <a:p>
            <a:r>
              <a:rPr lang="zh-CN" altLang="en-US">
                <a:sym typeface="Wingdings" panose="05000000000000000000" pitchFamily="2" charset="2"/>
              </a:rPr>
              <a:t> 班会</a:t>
            </a:r>
            <a:endParaRPr lang="en-US" altLang="zh-CN"/>
          </a:p>
          <a:p>
            <a:r>
              <a:rPr lang="zh-CN" altLang="en-US"/>
              <a:t> </a:t>
            </a:r>
            <a:endParaRPr lang="en-US" altLang="zh-CN"/>
          </a:p>
          <a:p>
            <a:r>
              <a:rPr lang="zh-CN" altLang="en-US">
                <a:sym typeface="Wingdings" panose="05000000000000000000" pitchFamily="2" charset="2"/>
              </a:rPr>
              <a:t> 电商客服</a:t>
            </a:r>
            <a:endParaRPr lang="en-US" altLang="zh-CN">
              <a:sym typeface="Wingdings" panose="05000000000000000000" pitchFamily="2" charset="2"/>
            </a:endParaRPr>
          </a:p>
          <a:p>
            <a:r>
              <a:rPr lang="zh-CN" altLang="en-US">
                <a:sym typeface="Wingdings" panose="05000000000000000000" pitchFamily="2" charset="2"/>
              </a:rPr>
              <a:t> </a:t>
            </a:r>
            <a:r>
              <a:rPr lang="zh-CN" altLang="en-US"/>
              <a:t>系统运维</a:t>
            </a:r>
            <a:endParaRPr lang="en-US" altLang="zh-CN"/>
          </a:p>
        </p:txBody>
      </p:sp>
      <p:sp>
        <p:nvSpPr>
          <p:cNvPr id="14" name="TextBox 13">
            <a:extLst>
              <a:ext uri="{FF2B5EF4-FFF2-40B4-BE49-F238E27FC236}">
                <a16:creationId xmlns:a16="http://schemas.microsoft.com/office/drawing/2014/main" id="{22CB7CFA-C10B-230A-8CD0-BF08A89AED0E}"/>
              </a:ext>
            </a:extLst>
          </p:cNvPr>
          <p:cNvSpPr txBox="1"/>
          <p:nvPr/>
        </p:nvSpPr>
        <p:spPr>
          <a:xfrm>
            <a:off x="4251114" y="5562137"/>
            <a:ext cx="1011815" cy="369332"/>
          </a:xfrm>
          <a:prstGeom prst="rect">
            <a:avLst/>
          </a:prstGeom>
          <a:noFill/>
          <a:ln>
            <a:noFill/>
          </a:ln>
          <a:effectLst/>
        </p:spPr>
        <p:style>
          <a:lnRef idx="0">
            <a:schemeClr val="accent2"/>
          </a:lnRef>
          <a:fillRef idx="3">
            <a:schemeClr val="accent2"/>
          </a:fillRef>
          <a:effectRef idx="3">
            <a:schemeClr val="accent2"/>
          </a:effectRef>
          <a:fontRef idx="minor">
            <a:schemeClr val="lt1"/>
          </a:fontRef>
        </p:style>
        <p:txBody>
          <a:bodyPr vert="horz" wrap="none" rtlCol="0" anchor="ctr" anchorCtr="0">
            <a:spAutoFit/>
          </a:bodyPr>
          <a:lstStyle/>
          <a:p>
            <a:pPr algn="ctr"/>
            <a:r>
              <a:rPr lang="en-US" altLang="zh-CN" dirty="0">
                <a:solidFill>
                  <a:schemeClr val="tx1"/>
                </a:solidFill>
              </a:rPr>
              <a:t>Project</a:t>
            </a:r>
            <a:endParaRPr lang="zh-CN" altLang="en-US" dirty="0">
              <a:solidFill>
                <a:schemeClr val="tx1"/>
              </a:solidFill>
            </a:endParaRPr>
          </a:p>
        </p:txBody>
      </p:sp>
      <p:sp>
        <p:nvSpPr>
          <p:cNvPr id="15" name="TextBox 14">
            <a:extLst>
              <a:ext uri="{FF2B5EF4-FFF2-40B4-BE49-F238E27FC236}">
                <a16:creationId xmlns:a16="http://schemas.microsoft.com/office/drawing/2014/main" id="{0F8740B0-9A18-0B1F-1D57-2411F6436EB5}"/>
              </a:ext>
            </a:extLst>
          </p:cNvPr>
          <p:cNvSpPr txBox="1"/>
          <p:nvPr/>
        </p:nvSpPr>
        <p:spPr>
          <a:xfrm>
            <a:off x="6755146" y="5573611"/>
            <a:ext cx="1359668" cy="369332"/>
          </a:xfrm>
          <a:prstGeom prst="rect">
            <a:avLst/>
          </a:prstGeom>
          <a:noFill/>
          <a:ln>
            <a:noFill/>
          </a:ln>
          <a:effectLst/>
        </p:spPr>
        <p:style>
          <a:lnRef idx="0">
            <a:schemeClr val="accent6"/>
          </a:lnRef>
          <a:fillRef idx="3">
            <a:schemeClr val="accent6"/>
          </a:fillRef>
          <a:effectRef idx="3">
            <a:schemeClr val="accent6"/>
          </a:effectRef>
          <a:fontRef idx="minor">
            <a:schemeClr val="lt1"/>
          </a:fontRef>
        </p:style>
        <p:txBody>
          <a:bodyPr vert="horz" wrap="none" rtlCol="0" anchor="ctr" anchorCtr="0">
            <a:spAutoFit/>
          </a:bodyPr>
          <a:lstStyle/>
          <a:p>
            <a:pPr algn="ctr"/>
            <a:r>
              <a:rPr lang="en-US" altLang="zh-CN">
                <a:solidFill>
                  <a:schemeClr val="tx1"/>
                </a:solidFill>
              </a:rPr>
              <a:t>Operation</a:t>
            </a:r>
            <a:endParaRPr lang="zh-CN" altLang="en-US">
              <a:solidFill>
                <a:schemeClr val="tx1"/>
              </a:solidFill>
            </a:endParaRPr>
          </a:p>
        </p:txBody>
      </p:sp>
      <p:cxnSp>
        <p:nvCxnSpPr>
          <p:cNvPr id="17" name="Straight Connector 16">
            <a:extLst>
              <a:ext uri="{FF2B5EF4-FFF2-40B4-BE49-F238E27FC236}">
                <a16:creationId xmlns:a16="http://schemas.microsoft.com/office/drawing/2014/main" id="{148E07E2-7DAD-BDE9-6EAF-7A45FF2F4706}"/>
              </a:ext>
            </a:extLst>
          </p:cNvPr>
          <p:cNvCxnSpPr>
            <a:stCxn id="5" idx="2"/>
            <a:endCxn id="14" idx="0"/>
          </p:cNvCxnSpPr>
          <p:nvPr/>
        </p:nvCxnSpPr>
        <p:spPr>
          <a:xfrm>
            <a:off x="4757021" y="1291054"/>
            <a:ext cx="1" cy="42710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5BB1433-000E-8D7F-2E3F-31680BE1DE25}"/>
              </a:ext>
            </a:extLst>
          </p:cNvPr>
          <p:cNvCxnSpPr>
            <a:stCxn id="6" idx="2"/>
            <a:endCxn id="15" idx="0"/>
          </p:cNvCxnSpPr>
          <p:nvPr/>
        </p:nvCxnSpPr>
        <p:spPr>
          <a:xfrm>
            <a:off x="7434979" y="1291054"/>
            <a:ext cx="1" cy="428255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34894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任意多边形: 形状 5">
            <a:extLst>
              <a:ext uri="{FF2B5EF4-FFF2-40B4-BE49-F238E27FC236}">
                <a16:creationId xmlns:a16="http://schemas.microsoft.com/office/drawing/2014/main" id="{B11962CC-5FD7-7938-727B-C1FC1834D1AC}"/>
              </a:ext>
            </a:extLst>
          </p:cNvPr>
          <p:cNvSpPr/>
          <p:nvPr/>
        </p:nvSpPr>
        <p:spPr>
          <a:xfrm>
            <a:off x="1874566" y="1671657"/>
            <a:ext cx="2388242" cy="4315128"/>
          </a:xfrm>
          <a:custGeom>
            <a:avLst/>
            <a:gdLst>
              <a:gd name="csX0" fmla="*/ 230678 w 2388242"/>
              <a:gd name="csY0" fmla="*/ 0 h 4315128"/>
              <a:gd name="csX1" fmla="*/ 2388242 w 2388242"/>
              <a:gd name="csY1" fmla="*/ 2157564 h 4315128"/>
              <a:gd name="csX2" fmla="*/ 230678 w 2388242"/>
              <a:gd name="csY2" fmla="*/ 4315128 h 4315128"/>
              <a:gd name="csX3" fmla="*/ 10080 w 2388242"/>
              <a:gd name="csY3" fmla="*/ 4303989 h 4315128"/>
              <a:gd name="csX4" fmla="*/ 0 w 2388242"/>
              <a:gd name="csY4" fmla="*/ 4302451 h 4315128"/>
              <a:gd name="csX5" fmla="*/ 204147 w 2388242"/>
              <a:gd name="csY5" fmla="*/ 4271294 h 4315128"/>
              <a:gd name="csX6" fmla="*/ 1926886 w 2388242"/>
              <a:gd name="csY6" fmla="*/ 2157564 h 4315128"/>
              <a:gd name="csX7" fmla="*/ 204147 w 2388242"/>
              <a:gd name="csY7" fmla="*/ 43834 h 4315128"/>
              <a:gd name="csX8" fmla="*/ 0 w 2388242"/>
              <a:gd name="csY8" fmla="*/ 12678 h 4315128"/>
              <a:gd name="csX9" fmla="*/ 10080 w 2388242"/>
              <a:gd name="csY9" fmla="*/ 11139 h 4315128"/>
              <a:gd name="csX10" fmla="*/ 230678 w 2388242"/>
              <a:gd name="csY10" fmla="*/ 0 h 43151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388242" h="4315128">
                <a:moveTo>
                  <a:pt x="230678" y="0"/>
                </a:moveTo>
                <a:cubicBezTo>
                  <a:pt x="1422268" y="0"/>
                  <a:pt x="2388242" y="965974"/>
                  <a:pt x="2388242" y="2157564"/>
                </a:cubicBezTo>
                <a:cubicBezTo>
                  <a:pt x="2388242" y="3349154"/>
                  <a:pt x="1422268" y="4315128"/>
                  <a:pt x="230678" y="4315128"/>
                </a:cubicBezTo>
                <a:cubicBezTo>
                  <a:pt x="156204" y="4315128"/>
                  <a:pt x="82611" y="4311355"/>
                  <a:pt x="10080" y="4303989"/>
                </a:cubicBezTo>
                <a:lnTo>
                  <a:pt x="0" y="4302451"/>
                </a:lnTo>
                <a:lnTo>
                  <a:pt x="204147" y="4271294"/>
                </a:lnTo>
                <a:cubicBezTo>
                  <a:pt x="1187312" y="4070110"/>
                  <a:pt x="1926886" y="3200206"/>
                  <a:pt x="1926886" y="2157564"/>
                </a:cubicBezTo>
                <a:cubicBezTo>
                  <a:pt x="1926886" y="1114923"/>
                  <a:pt x="1187312" y="245019"/>
                  <a:pt x="204147" y="43834"/>
                </a:cubicBezTo>
                <a:lnTo>
                  <a:pt x="0" y="12678"/>
                </a:lnTo>
                <a:lnTo>
                  <a:pt x="10080" y="11139"/>
                </a:lnTo>
                <a:cubicBezTo>
                  <a:pt x="82611" y="3773"/>
                  <a:pt x="156204" y="0"/>
                  <a:pt x="230678" y="0"/>
                </a:cubicBezTo>
                <a:close/>
              </a:path>
            </a:pathLst>
          </a:cu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dirty="0">
              <a:solidFill>
                <a:schemeClr val="tx1"/>
              </a:solidFill>
            </a:endParaRPr>
          </a:p>
        </p:txBody>
      </p:sp>
      <p:sp>
        <p:nvSpPr>
          <p:cNvPr id="2" name="标题 1">
            <a:extLst>
              <a:ext uri="{FF2B5EF4-FFF2-40B4-BE49-F238E27FC236}">
                <a16:creationId xmlns:a16="http://schemas.microsoft.com/office/drawing/2014/main" id="{8F982661-5AAD-D544-4A07-E00C15249E9E}"/>
              </a:ext>
            </a:extLst>
          </p:cNvPr>
          <p:cNvSpPr>
            <a:spLocks noGrp="1"/>
          </p:cNvSpPr>
          <p:nvPr>
            <p:ph type="title"/>
          </p:nvPr>
        </p:nvSpPr>
        <p:spPr>
          <a:xfrm>
            <a:off x="792000" y="360000"/>
            <a:ext cx="6375921" cy="429413"/>
          </a:xfrm>
        </p:spPr>
        <p:txBody>
          <a:bodyPr>
            <a:normAutofit/>
          </a:bodyPr>
          <a:lstStyle/>
          <a:p>
            <a:r>
              <a:rPr lang="en-US" altLang="zh-CN"/>
              <a:t>1.1 </a:t>
            </a:r>
            <a:r>
              <a:rPr lang="zh-CN" altLang="en-US"/>
              <a:t>项目</a:t>
            </a:r>
          </a:p>
        </p:txBody>
      </p:sp>
      <p:sp>
        <p:nvSpPr>
          <p:cNvPr id="13" name="Content Placeholder 12">
            <a:extLst>
              <a:ext uri="{FF2B5EF4-FFF2-40B4-BE49-F238E27FC236}">
                <a16:creationId xmlns:a16="http://schemas.microsoft.com/office/drawing/2014/main" id="{E7BCACD0-60D6-FDBC-D073-B054E90DBD02}"/>
              </a:ext>
            </a:extLst>
          </p:cNvPr>
          <p:cNvSpPr>
            <a:spLocks noGrp="1"/>
          </p:cNvSpPr>
          <p:nvPr>
            <p:ph idx="1"/>
          </p:nvPr>
        </p:nvSpPr>
        <p:spPr>
          <a:xfrm>
            <a:off x="696000" y="864000"/>
            <a:ext cx="10800000" cy="5400000"/>
          </a:xfrm>
        </p:spPr>
        <p:txBody>
          <a:bodyPr/>
          <a:lstStyle/>
          <a:p>
            <a:r>
              <a:rPr lang="zh-CN" altLang="en-US" dirty="0"/>
              <a:t>特征 </a:t>
            </a:r>
            <a:r>
              <a:rPr lang="en-US" altLang="zh-CN" dirty="0"/>
              <a:t>Features</a:t>
            </a:r>
            <a:endParaRPr lang="zh-CN" altLang="en-US" dirty="0"/>
          </a:p>
        </p:txBody>
      </p:sp>
      <p:sp>
        <p:nvSpPr>
          <p:cNvPr id="7" name="Text Placeholder 6">
            <a:extLst>
              <a:ext uri="{FF2B5EF4-FFF2-40B4-BE49-F238E27FC236}">
                <a16:creationId xmlns:a16="http://schemas.microsoft.com/office/drawing/2014/main" id="{52CD0E60-CC5C-E003-8004-1462D0C4147D}"/>
              </a:ext>
            </a:extLst>
          </p:cNvPr>
          <p:cNvSpPr>
            <a:spLocks noGrp="1"/>
          </p:cNvSpPr>
          <p:nvPr>
            <p:ph type="body" sz="quarter" idx="10"/>
          </p:nvPr>
        </p:nvSpPr>
        <p:spPr>
          <a:xfrm>
            <a:off x="7071919" y="448519"/>
            <a:ext cx="4424080" cy="338554"/>
          </a:xfrm>
        </p:spPr>
        <p:txBody>
          <a:bodyPr/>
          <a:lstStyle/>
          <a:p>
            <a:r>
              <a:rPr lang="en-US" altLang="zh-CN"/>
              <a:t>Project</a:t>
            </a:r>
            <a:endParaRPr lang="zh-CN" altLang="en-US"/>
          </a:p>
        </p:txBody>
      </p:sp>
      <p:sp>
        <p:nvSpPr>
          <p:cNvPr id="18" name="任意多边形: 形状 17">
            <a:extLst>
              <a:ext uri="{FF2B5EF4-FFF2-40B4-BE49-F238E27FC236}">
                <a16:creationId xmlns:a16="http://schemas.microsoft.com/office/drawing/2014/main" id="{E82D1315-05F3-171B-C2D8-67857B102232}"/>
              </a:ext>
            </a:extLst>
          </p:cNvPr>
          <p:cNvSpPr/>
          <p:nvPr/>
        </p:nvSpPr>
        <p:spPr>
          <a:xfrm>
            <a:off x="3403812" y="1715290"/>
            <a:ext cx="5698723" cy="497506"/>
          </a:xfrm>
          <a:custGeom>
            <a:avLst/>
            <a:gdLst>
              <a:gd name="csX0" fmla="*/ 0 w 5698723"/>
              <a:gd name="csY0" fmla="*/ 0 h 497506"/>
              <a:gd name="csX1" fmla="*/ 5698723 w 5698723"/>
              <a:gd name="csY1" fmla="*/ 0 h 497506"/>
              <a:gd name="csX2" fmla="*/ 5698723 w 5698723"/>
              <a:gd name="csY2" fmla="*/ 497506 h 497506"/>
              <a:gd name="csX3" fmla="*/ 0 w 5698723"/>
              <a:gd name="csY3" fmla="*/ 497506 h 497506"/>
              <a:gd name="csX4" fmla="*/ 0 w 5698723"/>
              <a:gd name="csY4" fmla="*/ 0 h 497506"/>
            </a:gdLst>
            <a:ahLst/>
            <a:cxnLst>
              <a:cxn ang="0">
                <a:pos x="csX0" y="csY0"/>
              </a:cxn>
              <a:cxn ang="0">
                <a:pos x="csX1" y="csY1"/>
              </a:cxn>
              <a:cxn ang="0">
                <a:pos x="csX2" y="csY2"/>
              </a:cxn>
              <a:cxn ang="0">
                <a:pos x="csX3" y="csY3"/>
              </a:cxn>
              <a:cxn ang="0">
                <a:pos x="csX4" y="csY4"/>
              </a:cxn>
            </a:cxnLst>
            <a:rect l="l" t="t" r="r" b="b"/>
            <a:pathLst>
              <a:path w="5698723" h="497506">
                <a:moveTo>
                  <a:pt x="0" y="0"/>
                </a:moveTo>
                <a:lnTo>
                  <a:pt x="5698723" y="0"/>
                </a:lnTo>
                <a:lnTo>
                  <a:pt x="5698723" y="497506"/>
                </a:lnTo>
                <a:lnTo>
                  <a:pt x="0" y="497506"/>
                </a:lnTo>
                <a:lnTo>
                  <a:pt x="0" y="0"/>
                </a:lnTo>
                <a:close/>
              </a:path>
            </a:pathLst>
          </a:custGeom>
          <a:noFill/>
          <a:ln w="12700">
            <a:solidFill>
              <a:schemeClr val="bg1"/>
            </a:solidFill>
          </a:ln>
        </p:spPr>
        <p:style>
          <a:lnRef idx="2">
            <a:scrgbClr r="0" g="0" b="0"/>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394896" tIns="40640" rIns="40640" bIns="40640" numCol="1" spcCol="1270" anchor="ctr" anchorCtr="0">
            <a:noAutofit/>
          </a:bodyPr>
          <a:lstStyle/>
          <a:p>
            <a:pPr marL="0" lvl="0" indent="0" algn="l" defTabSz="711200">
              <a:lnSpc>
                <a:spcPct val="90000"/>
              </a:lnSpc>
              <a:spcBef>
                <a:spcPct val="0"/>
              </a:spcBef>
              <a:spcAft>
                <a:spcPct val="35000"/>
              </a:spcAft>
              <a:buNone/>
            </a:pPr>
            <a:r>
              <a:rPr lang="zh-CN" altLang="en-US" dirty="0">
                <a:solidFill>
                  <a:schemeClr val="tx1"/>
                </a:solidFill>
              </a:rPr>
              <a:t>目标性 </a:t>
            </a:r>
            <a:r>
              <a:rPr lang="en-US" altLang="zh-CN" dirty="0">
                <a:solidFill>
                  <a:schemeClr val="tx1"/>
                </a:solidFill>
              </a:rPr>
              <a:t>Target</a:t>
            </a:r>
            <a:endParaRPr lang="zh-CN" altLang="en-US" dirty="0">
              <a:solidFill>
                <a:schemeClr val="tx1"/>
              </a:solidFill>
            </a:endParaRPr>
          </a:p>
        </p:txBody>
      </p:sp>
      <p:sp useBgFill="1">
        <p:nvSpPr>
          <p:cNvPr id="19" name="椭圆 18">
            <a:extLst>
              <a:ext uri="{FF2B5EF4-FFF2-40B4-BE49-F238E27FC236}">
                <a16:creationId xmlns:a16="http://schemas.microsoft.com/office/drawing/2014/main" id="{3A33B2DD-E46C-070C-B8D2-E5320B99488C}"/>
              </a:ext>
            </a:extLst>
          </p:cNvPr>
          <p:cNvSpPr/>
          <p:nvPr/>
        </p:nvSpPr>
        <p:spPr>
          <a:xfrm>
            <a:off x="3092871" y="1653102"/>
            <a:ext cx="621883" cy="621883"/>
          </a:xfrm>
          <a:prstGeom prst="ellipse">
            <a:avLst/>
          </a:prstGeom>
          <a:ln w="38100">
            <a:solidFill>
              <a:srgbClr val="00B0F0"/>
            </a:solidFill>
          </a:ln>
        </p:spPr>
        <p:style>
          <a:lnRef idx="2">
            <a:schemeClr val="accent5">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algn="ctr"/>
            <a:r>
              <a:rPr lang="en-US" altLang="zh-CN"/>
              <a:t>1</a:t>
            </a:r>
            <a:endParaRPr lang="zh-CN" altLang="en-US"/>
          </a:p>
        </p:txBody>
      </p:sp>
      <p:sp>
        <p:nvSpPr>
          <p:cNvPr id="20" name="任意多边形: 形状 19">
            <a:extLst>
              <a:ext uri="{FF2B5EF4-FFF2-40B4-BE49-F238E27FC236}">
                <a16:creationId xmlns:a16="http://schemas.microsoft.com/office/drawing/2014/main" id="{D699CAF5-EB85-AC93-21F9-35572745A0F1}"/>
              </a:ext>
            </a:extLst>
          </p:cNvPr>
          <p:cNvSpPr/>
          <p:nvPr/>
        </p:nvSpPr>
        <p:spPr>
          <a:xfrm>
            <a:off x="3813046" y="2461456"/>
            <a:ext cx="5289490" cy="497506"/>
          </a:xfrm>
          <a:custGeom>
            <a:avLst/>
            <a:gdLst>
              <a:gd name="csX0" fmla="*/ 0 w 5289490"/>
              <a:gd name="csY0" fmla="*/ 0 h 497506"/>
              <a:gd name="csX1" fmla="*/ 5289490 w 5289490"/>
              <a:gd name="csY1" fmla="*/ 0 h 497506"/>
              <a:gd name="csX2" fmla="*/ 5289490 w 5289490"/>
              <a:gd name="csY2" fmla="*/ 497506 h 497506"/>
              <a:gd name="csX3" fmla="*/ 0 w 5289490"/>
              <a:gd name="csY3" fmla="*/ 497506 h 497506"/>
              <a:gd name="csX4" fmla="*/ 0 w 5289490"/>
              <a:gd name="csY4" fmla="*/ 0 h 497506"/>
            </a:gdLst>
            <a:ahLst/>
            <a:cxnLst>
              <a:cxn ang="0">
                <a:pos x="csX0" y="csY0"/>
              </a:cxn>
              <a:cxn ang="0">
                <a:pos x="csX1" y="csY1"/>
              </a:cxn>
              <a:cxn ang="0">
                <a:pos x="csX2" y="csY2"/>
              </a:cxn>
              <a:cxn ang="0">
                <a:pos x="csX3" y="csY3"/>
              </a:cxn>
              <a:cxn ang="0">
                <a:pos x="csX4" y="csY4"/>
              </a:cxn>
            </a:cxnLst>
            <a:rect l="l" t="t" r="r" b="b"/>
            <a:pathLst>
              <a:path w="5289490" h="497506">
                <a:moveTo>
                  <a:pt x="0" y="0"/>
                </a:moveTo>
                <a:lnTo>
                  <a:pt x="5289490" y="0"/>
                </a:lnTo>
                <a:lnTo>
                  <a:pt x="5289490" y="497506"/>
                </a:lnTo>
                <a:lnTo>
                  <a:pt x="0" y="497506"/>
                </a:lnTo>
                <a:lnTo>
                  <a:pt x="0" y="0"/>
                </a:lnTo>
                <a:close/>
              </a:path>
            </a:pathLst>
          </a:custGeom>
          <a:noFill/>
          <a:ln w="12700">
            <a:solidFill>
              <a:schemeClr val="bg1"/>
            </a:solidFill>
          </a:ln>
        </p:spPr>
        <p:style>
          <a:lnRef idx="2">
            <a:scrgbClr r="0" g="0" b="0"/>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394896" tIns="40640" rIns="40640" bIns="40640" numCol="1" spcCol="1270" anchor="ctr" anchorCtr="0">
            <a:noAutofit/>
          </a:bodyPr>
          <a:lstStyle/>
          <a:p>
            <a:pPr defTabSz="711200">
              <a:lnSpc>
                <a:spcPct val="90000"/>
              </a:lnSpc>
              <a:spcBef>
                <a:spcPct val="0"/>
              </a:spcBef>
              <a:spcAft>
                <a:spcPct val="35000"/>
              </a:spcAft>
            </a:pPr>
            <a:r>
              <a:rPr lang="zh-CN" altLang="en-US">
                <a:solidFill>
                  <a:schemeClr val="tx1"/>
                </a:solidFill>
              </a:rPr>
              <a:t>相关性 </a:t>
            </a:r>
            <a:r>
              <a:rPr lang="en-US" altLang="zh-CN">
                <a:solidFill>
                  <a:schemeClr val="tx1"/>
                </a:solidFill>
              </a:rPr>
              <a:t>Relevant</a:t>
            </a:r>
            <a:endParaRPr lang="zh-CN" altLang="en-US">
              <a:solidFill>
                <a:schemeClr val="tx1"/>
              </a:solidFill>
            </a:endParaRPr>
          </a:p>
        </p:txBody>
      </p:sp>
      <p:sp useBgFill="1">
        <p:nvSpPr>
          <p:cNvPr id="21" name="椭圆 20">
            <a:extLst>
              <a:ext uri="{FF2B5EF4-FFF2-40B4-BE49-F238E27FC236}">
                <a16:creationId xmlns:a16="http://schemas.microsoft.com/office/drawing/2014/main" id="{C7EE5B34-BBB0-54E3-8685-EBD49159777A}"/>
              </a:ext>
            </a:extLst>
          </p:cNvPr>
          <p:cNvSpPr/>
          <p:nvPr/>
        </p:nvSpPr>
        <p:spPr>
          <a:xfrm>
            <a:off x="3502104" y="2399267"/>
            <a:ext cx="621883" cy="621883"/>
          </a:xfrm>
          <a:prstGeom prst="ellipse">
            <a:avLst/>
          </a:prstGeom>
          <a:ln w="38100">
            <a:solidFill>
              <a:srgbClr val="00B0F0"/>
            </a:solidFill>
          </a:ln>
        </p:spPr>
        <p:style>
          <a:lnRef idx="2">
            <a:schemeClr val="accent5">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algn="ctr"/>
            <a:r>
              <a:rPr lang="en-US" altLang="zh-CN"/>
              <a:t>2</a:t>
            </a:r>
            <a:endParaRPr lang="zh-CN" altLang="en-US"/>
          </a:p>
        </p:txBody>
      </p:sp>
      <p:sp>
        <p:nvSpPr>
          <p:cNvPr id="22" name="任意多边形: 形状 21">
            <a:extLst>
              <a:ext uri="{FF2B5EF4-FFF2-40B4-BE49-F238E27FC236}">
                <a16:creationId xmlns:a16="http://schemas.microsoft.com/office/drawing/2014/main" id="{6AF24067-BA59-4CFF-A069-5324BAFC89C7}"/>
              </a:ext>
            </a:extLst>
          </p:cNvPr>
          <p:cNvSpPr/>
          <p:nvPr/>
        </p:nvSpPr>
        <p:spPr>
          <a:xfrm>
            <a:off x="4000178" y="3207621"/>
            <a:ext cx="5102358" cy="497506"/>
          </a:xfrm>
          <a:custGeom>
            <a:avLst/>
            <a:gdLst>
              <a:gd name="csX0" fmla="*/ 0 w 5102358"/>
              <a:gd name="csY0" fmla="*/ 0 h 497506"/>
              <a:gd name="csX1" fmla="*/ 5102358 w 5102358"/>
              <a:gd name="csY1" fmla="*/ 0 h 497506"/>
              <a:gd name="csX2" fmla="*/ 5102358 w 5102358"/>
              <a:gd name="csY2" fmla="*/ 497506 h 497506"/>
              <a:gd name="csX3" fmla="*/ 0 w 5102358"/>
              <a:gd name="csY3" fmla="*/ 497506 h 497506"/>
              <a:gd name="csX4" fmla="*/ 0 w 5102358"/>
              <a:gd name="csY4" fmla="*/ 0 h 497506"/>
            </a:gdLst>
            <a:ahLst/>
            <a:cxnLst>
              <a:cxn ang="0">
                <a:pos x="csX0" y="csY0"/>
              </a:cxn>
              <a:cxn ang="0">
                <a:pos x="csX1" y="csY1"/>
              </a:cxn>
              <a:cxn ang="0">
                <a:pos x="csX2" y="csY2"/>
              </a:cxn>
              <a:cxn ang="0">
                <a:pos x="csX3" y="csY3"/>
              </a:cxn>
              <a:cxn ang="0">
                <a:pos x="csX4" y="csY4"/>
              </a:cxn>
            </a:cxnLst>
            <a:rect l="l" t="t" r="r" b="b"/>
            <a:pathLst>
              <a:path w="5102358" h="497506">
                <a:moveTo>
                  <a:pt x="0" y="0"/>
                </a:moveTo>
                <a:lnTo>
                  <a:pt x="5102358" y="0"/>
                </a:lnTo>
                <a:lnTo>
                  <a:pt x="5102358" y="497506"/>
                </a:lnTo>
                <a:lnTo>
                  <a:pt x="0" y="497506"/>
                </a:lnTo>
                <a:lnTo>
                  <a:pt x="0" y="0"/>
                </a:lnTo>
                <a:close/>
              </a:path>
            </a:pathLst>
          </a:custGeom>
          <a:noFill/>
          <a:ln w="12700">
            <a:solidFill>
              <a:schemeClr val="bg1"/>
            </a:solidFill>
          </a:ln>
        </p:spPr>
        <p:style>
          <a:lnRef idx="2">
            <a:scrgbClr r="0" g="0" b="0"/>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394896" tIns="40640" rIns="40640" bIns="40640" numCol="1" spcCol="1270" anchor="ctr" anchorCtr="0">
            <a:noAutofit/>
          </a:bodyPr>
          <a:lstStyle/>
          <a:p>
            <a:pPr defTabSz="711200">
              <a:lnSpc>
                <a:spcPct val="90000"/>
              </a:lnSpc>
              <a:spcBef>
                <a:spcPct val="0"/>
              </a:spcBef>
              <a:spcAft>
                <a:spcPct val="35000"/>
              </a:spcAft>
            </a:pPr>
            <a:r>
              <a:rPr lang="zh-CN" altLang="en-US">
                <a:solidFill>
                  <a:schemeClr val="tx1"/>
                </a:solidFill>
              </a:rPr>
              <a:t>临时性 </a:t>
            </a:r>
            <a:r>
              <a:rPr lang="en-US" altLang="zh-CN">
                <a:solidFill>
                  <a:schemeClr val="tx1"/>
                </a:solidFill>
              </a:rPr>
              <a:t>Temporary</a:t>
            </a:r>
            <a:endParaRPr lang="zh-CN" altLang="en-US">
              <a:solidFill>
                <a:schemeClr val="tx1"/>
              </a:solidFill>
            </a:endParaRPr>
          </a:p>
        </p:txBody>
      </p:sp>
      <p:sp useBgFill="1">
        <p:nvSpPr>
          <p:cNvPr id="23" name="椭圆 22">
            <a:extLst>
              <a:ext uri="{FF2B5EF4-FFF2-40B4-BE49-F238E27FC236}">
                <a16:creationId xmlns:a16="http://schemas.microsoft.com/office/drawing/2014/main" id="{DA2D6E0B-F205-B621-3FD2-2345937FA9FE}"/>
              </a:ext>
            </a:extLst>
          </p:cNvPr>
          <p:cNvSpPr/>
          <p:nvPr/>
        </p:nvSpPr>
        <p:spPr>
          <a:xfrm>
            <a:off x="3689236" y="3145433"/>
            <a:ext cx="621883" cy="621883"/>
          </a:xfrm>
          <a:prstGeom prst="ellipse">
            <a:avLst/>
          </a:prstGeom>
          <a:ln w="38100">
            <a:solidFill>
              <a:srgbClr val="00B0F0"/>
            </a:solidFill>
          </a:ln>
        </p:spPr>
        <p:style>
          <a:lnRef idx="2">
            <a:schemeClr val="accent5">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algn="ctr"/>
            <a:r>
              <a:rPr lang="en-US" altLang="zh-CN"/>
              <a:t>3</a:t>
            </a:r>
            <a:endParaRPr lang="zh-CN" altLang="en-US"/>
          </a:p>
        </p:txBody>
      </p:sp>
      <p:sp>
        <p:nvSpPr>
          <p:cNvPr id="24" name="任意多边形: 形状 23">
            <a:extLst>
              <a:ext uri="{FF2B5EF4-FFF2-40B4-BE49-F238E27FC236}">
                <a16:creationId xmlns:a16="http://schemas.microsoft.com/office/drawing/2014/main" id="{529A6B9B-D016-7162-BF0B-9F9032C340F6}"/>
              </a:ext>
            </a:extLst>
          </p:cNvPr>
          <p:cNvSpPr/>
          <p:nvPr/>
        </p:nvSpPr>
        <p:spPr>
          <a:xfrm>
            <a:off x="4000178" y="3953314"/>
            <a:ext cx="5102358" cy="497506"/>
          </a:xfrm>
          <a:custGeom>
            <a:avLst/>
            <a:gdLst>
              <a:gd name="csX0" fmla="*/ 0 w 5102358"/>
              <a:gd name="csY0" fmla="*/ 0 h 497506"/>
              <a:gd name="csX1" fmla="*/ 5102358 w 5102358"/>
              <a:gd name="csY1" fmla="*/ 0 h 497506"/>
              <a:gd name="csX2" fmla="*/ 5102358 w 5102358"/>
              <a:gd name="csY2" fmla="*/ 497506 h 497506"/>
              <a:gd name="csX3" fmla="*/ 0 w 5102358"/>
              <a:gd name="csY3" fmla="*/ 497506 h 497506"/>
              <a:gd name="csX4" fmla="*/ 0 w 5102358"/>
              <a:gd name="csY4" fmla="*/ 0 h 497506"/>
            </a:gdLst>
            <a:ahLst/>
            <a:cxnLst>
              <a:cxn ang="0">
                <a:pos x="csX0" y="csY0"/>
              </a:cxn>
              <a:cxn ang="0">
                <a:pos x="csX1" y="csY1"/>
              </a:cxn>
              <a:cxn ang="0">
                <a:pos x="csX2" y="csY2"/>
              </a:cxn>
              <a:cxn ang="0">
                <a:pos x="csX3" y="csY3"/>
              </a:cxn>
              <a:cxn ang="0">
                <a:pos x="csX4" y="csY4"/>
              </a:cxn>
            </a:cxnLst>
            <a:rect l="l" t="t" r="r" b="b"/>
            <a:pathLst>
              <a:path w="5102358" h="497506">
                <a:moveTo>
                  <a:pt x="0" y="0"/>
                </a:moveTo>
                <a:lnTo>
                  <a:pt x="5102358" y="0"/>
                </a:lnTo>
                <a:lnTo>
                  <a:pt x="5102358" y="497506"/>
                </a:lnTo>
                <a:lnTo>
                  <a:pt x="0" y="497506"/>
                </a:lnTo>
                <a:lnTo>
                  <a:pt x="0" y="0"/>
                </a:lnTo>
                <a:close/>
              </a:path>
            </a:pathLst>
          </a:custGeom>
          <a:noFill/>
          <a:ln w="12700">
            <a:solidFill>
              <a:schemeClr val="bg1"/>
            </a:solidFill>
          </a:ln>
        </p:spPr>
        <p:style>
          <a:lnRef idx="2">
            <a:scrgbClr r="0" g="0" b="0"/>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394896" tIns="40640" rIns="40640" bIns="40640" numCol="1" spcCol="1270" anchor="ctr" anchorCtr="0">
            <a:noAutofit/>
          </a:bodyPr>
          <a:lstStyle/>
          <a:p>
            <a:pPr defTabSz="711200">
              <a:lnSpc>
                <a:spcPct val="90000"/>
              </a:lnSpc>
              <a:spcBef>
                <a:spcPct val="0"/>
              </a:spcBef>
              <a:spcAft>
                <a:spcPct val="35000"/>
              </a:spcAft>
            </a:pPr>
            <a:r>
              <a:rPr lang="zh-CN" altLang="en-US" dirty="0">
                <a:solidFill>
                  <a:schemeClr val="tx1"/>
                </a:solidFill>
              </a:rPr>
              <a:t>独特性 </a:t>
            </a:r>
            <a:r>
              <a:rPr lang="en-US" altLang="zh-CN" dirty="0">
                <a:solidFill>
                  <a:schemeClr val="tx1"/>
                </a:solidFill>
              </a:rPr>
              <a:t>Unique</a:t>
            </a:r>
            <a:endParaRPr lang="zh-CN" altLang="en-US" dirty="0">
              <a:solidFill>
                <a:schemeClr val="tx1"/>
              </a:solidFill>
            </a:endParaRPr>
          </a:p>
        </p:txBody>
      </p:sp>
      <p:sp useBgFill="1">
        <p:nvSpPr>
          <p:cNvPr id="25" name="椭圆 24">
            <a:extLst>
              <a:ext uri="{FF2B5EF4-FFF2-40B4-BE49-F238E27FC236}">
                <a16:creationId xmlns:a16="http://schemas.microsoft.com/office/drawing/2014/main" id="{856B8485-F052-AC04-0E2B-67D4BFE77D4C}"/>
              </a:ext>
            </a:extLst>
          </p:cNvPr>
          <p:cNvSpPr/>
          <p:nvPr/>
        </p:nvSpPr>
        <p:spPr>
          <a:xfrm>
            <a:off x="3689236" y="3891126"/>
            <a:ext cx="621883" cy="621883"/>
          </a:xfrm>
          <a:prstGeom prst="ellipse">
            <a:avLst/>
          </a:prstGeom>
          <a:ln w="38100">
            <a:solidFill>
              <a:srgbClr val="00B0F0"/>
            </a:solidFill>
          </a:ln>
        </p:spPr>
        <p:style>
          <a:lnRef idx="2">
            <a:schemeClr val="accent5">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algn="ctr"/>
            <a:r>
              <a:rPr lang="en-US" altLang="zh-CN"/>
              <a:t>4</a:t>
            </a:r>
            <a:endParaRPr lang="zh-CN" altLang="en-US"/>
          </a:p>
        </p:txBody>
      </p:sp>
      <p:sp>
        <p:nvSpPr>
          <p:cNvPr id="26" name="任意多边形: 形状 25">
            <a:extLst>
              <a:ext uri="{FF2B5EF4-FFF2-40B4-BE49-F238E27FC236}">
                <a16:creationId xmlns:a16="http://schemas.microsoft.com/office/drawing/2014/main" id="{1679A506-E841-08A2-BE5E-A8B1C69D1E38}"/>
              </a:ext>
            </a:extLst>
          </p:cNvPr>
          <p:cNvSpPr/>
          <p:nvPr/>
        </p:nvSpPr>
        <p:spPr>
          <a:xfrm>
            <a:off x="3813046" y="4699480"/>
            <a:ext cx="5289490" cy="497506"/>
          </a:xfrm>
          <a:custGeom>
            <a:avLst/>
            <a:gdLst>
              <a:gd name="csX0" fmla="*/ 0 w 5289490"/>
              <a:gd name="csY0" fmla="*/ 0 h 497506"/>
              <a:gd name="csX1" fmla="*/ 5289490 w 5289490"/>
              <a:gd name="csY1" fmla="*/ 0 h 497506"/>
              <a:gd name="csX2" fmla="*/ 5289490 w 5289490"/>
              <a:gd name="csY2" fmla="*/ 497506 h 497506"/>
              <a:gd name="csX3" fmla="*/ 0 w 5289490"/>
              <a:gd name="csY3" fmla="*/ 497506 h 497506"/>
              <a:gd name="csX4" fmla="*/ 0 w 5289490"/>
              <a:gd name="csY4" fmla="*/ 0 h 497506"/>
            </a:gdLst>
            <a:ahLst/>
            <a:cxnLst>
              <a:cxn ang="0">
                <a:pos x="csX0" y="csY0"/>
              </a:cxn>
              <a:cxn ang="0">
                <a:pos x="csX1" y="csY1"/>
              </a:cxn>
              <a:cxn ang="0">
                <a:pos x="csX2" y="csY2"/>
              </a:cxn>
              <a:cxn ang="0">
                <a:pos x="csX3" y="csY3"/>
              </a:cxn>
              <a:cxn ang="0">
                <a:pos x="csX4" y="csY4"/>
              </a:cxn>
            </a:cxnLst>
            <a:rect l="l" t="t" r="r" b="b"/>
            <a:pathLst>
              <a:path w="5289490" h="497506">
                <a:moveTo>
                  <a:pt x="0" y="0"/>
                </a:moveTo>
                <a:lnTo>
                  <a:pt x="5289490" y="0"/>
                </a:lnTo>
                <a:lnTo>
                  <a:pt x="5289490" y="497506"/>
                </a:lnTo>
                <a:lnTo>
                  <a:pt x="0" y="497506"/>
                </a:lnTo>
                <a:lnTo>
                  <a:pt x="0" y="0"/>
                </a:lnTo>
                <a:close/>
              </a:path>
            </a:pathLst>
          </a:custGeom>
          <a:noFill/>
          <a:ln w="12700">
            <a:solidFill>
              <a:schemeClr val="bg1"/>
            </a:solidFill>
          </a:ln>
        </p:spPr>
        <p:style>
          <a:lnRef idx="2">
            <a:scrgbClr r="0" g="0" b="0"/>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394896" tIns="40640" rIns="40640" bIns="40640" numCol="1" spcCol="1270" anchor="ctr" anchorCtr="0">
            <a:noAutofit/>
          </a:bodyPr>
          <a:lstStyle/>
          <a:p>
            <a:pPr defTabSz="711200">
              <a:lnSpc>
                <a:spcPct val="90000"/>
              </a:lnSpc>
              <a:spcBef>
                <a:spcPct val="0"/>
              </a:spcBef>
              <a:spcAft>
                <a:spcPct val="35000"/>
              </a:spcAft>
            </a:pPr>
            <a:r>
              <a:rPr lang="zh-CN" altLang="en-US" dirty="0">
                <a:solidFill>
                  <a:schemeClr val="tx1"/>
                </a:solidFill>
              </a:rPr>
              <a:t>资源约束性 </a:t>
            </a:r>
            <a:r>
              <a:rPr lang="en-US" altLang="zh-CN" dirty="0">
                <a:solidFill>
                  <a:schemeClr val="tx1"/>
                </a:solidFill>
              </a:rPr>
              <a:t>Constrain</a:t>
            </a:r>
            <a:endParaRPr lang="zh-CN" altLang="en-US" dirty="0">
              <a:solidFill>
                <a:schemeClr val="tx1"/>
              </a:solidFill>
            </a:endParaRPr>
          </a:p>
        </p:txBody>
      </p:sp>
      <p:sp useBgFill="1">
        <p:nvSpPr>
          <p:cNvPr id="27" name="椭圆 26">
            <a:extLst>
              <a:ext uri="{FF2B5EF4-FFF2-40B4-BE49-F238E27FC236}">
                <a16:creationId xmlns:a16="http://schemas.microsoft.com/office/drawing/2014/main" id="{BFB6CA8A-33A3-A0DE-1D02-A7D6F66DB09B}"/>
              </a:ext>
            </a:extLst>
          </p:cNvPr>
          <p:cNvSpPr/>
          <p:nvPr/>
        </p:nvSpPr>
        <p:spPr>
          <a:xfrm>
            <a:off x="3502104" y="4637291"/>
            <a:ext cx="621883" cy="621883"/>
          </a:xfrm>
          <a:prstGeom prst="ellipse">
            <a:avLst/>
          </a:prstGeom>
          <a:ln w="38100">
            <a:solidFill>
              <a:srgbClr val="00B0F0"/>
            </a:solidFill>
          </a:ln>
        </p:spPr>
        <p:style>
          <a:lnRef idx="2">
            <a:schemeClr val="accent5">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algn="ctr"/>
            <a:r>
              <a:rPr lang="en-US" altLang="zh-CN"/>
              <a:t>5</a:t>
            </a:r>
            <a:endParaRPr lang="zh-CN" altLang="en-US"/>
          </a:p>
        </p:txBody>
      </p:sp>
      <p:sp>
        <p:nvSpPr>
          <p:cNvPr id="28" name="任意多边形: 形状 27">
            <a:hlinkClick r:id="rId2" action="ppaction://hlinkfile"/>
            <a:extLst>
              <a:ext uri="{FF2B5EF4-FFF2-40B4-BE49-F238E27FC236}">
                <a16:creationId xmlns:a16="http://schemas.microsoft.com/office/drawing/2014/main" id="{CA270720-DADF-7ED6-D84D-D0C7AAABC6BC}"/>
              </a:ext>
            </a:extLst>
          </p:cNvPr>
          <p:cNvSpPr/>
          <p:nvPr/>
        </p:nvSpPr>
        <p:spPr>
          <a:xfrm>
            <a:off x="3403812" y="5445645"/>
            <a:ext cx="5698723" cy="497506"/>
          </a:xfrm>
          <a:custGeom>
            <a:avLst/>
            <a:gdLst>
              <a:gd name="csX0" fmla="*/ 0 w 5698723"/>
              <a:gd name="csY0" fmla="*/ 0 h 497506"/>
              <a:gd name="csX1" fmla="*/ 5698723 w 5698723"/>
              <a:gd name="csY1" fmla="*/ 0 h 497506"/>
              <a:gd name="csX2" fmla="*/ 5698723 w 5698723"/>
              <a:gd name="csY2" fmla="*/ 497506 h 497506"/>
              <a:gd name="csX3" fmla="*/ 0 w 5698723"/>
              <a:gd name="csY3" fmla="*/ 497506 h 497506"/>
              <a:gd name="csX4" fmla="*/ 0 w 5698723"/>
              <a:gd name="csY4" fmla="*/ 0 h 497506"/>
            </a:gdLst>
            <a:ahLst/>
            <a:cxnLst>
              <a:cxn ang="0">
                <a:pos x="csX0" y="csY0"/>
              </a:cxn>
              <a:cxn ang="0">
                <a:pos x="csX1" y="csY1"/>
              </a:cxn>
              <a:cxn ang="0">
                <a:pos x="csX2" y="csY2"/>
              </a:cxn>
              <a:cxn ang="0">
                <a:pos x="csX3" y="csY3"/>
              </a:cxn>
              <a:cxn ang="0">
                <a:pos x="csX4" y="csY4"/>
              </a:cxn>
            </a:cxnLst>
            <a:rect l="l" t="t" r="r" b="b"/>
            <a:pathLst>
              <a:path w="5698723" h="497506">
                <a:moveTo>
                  <a:pt x="0" y="0"/>
                </a:moveTo>
                <a:lnTo>
                  <a:pt x="5698723" y="0"/>
                </a:lnTo>
                <a:lnTo>
                  <a:pt x="5698723" y="497506"/>
                </a:lnTo>
                <a:lnTo>
                  <a:pt x="0" y="497506"/>
                </a:lnTo>
                <a:lnTo>
                  <a:pt x="0" y="0"/>
                </a:lnTo>
                <a:close/>
              </a:path>
            </a:pathLst>
          </a:custGeom>
          <a:noFill/>
          <a:ln w="12700">
            <a:solidFill>
              <a:schemeClr val="bg1"/>
            </a:solidFill>
          </a:ln>
        </p:spPr>
        <p:style>
          <a:lnRef idx="2">
            <a:scrgbClr r="0" g="0" b="0"/>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394896" tIns="40640" rIns="40640" bIns="40640" numCol="1" spcCol="1270" anchor="ctr" anchorCtr="0">
            <a:noAutofit/>
          </a:bodyPr>
          <a:lstStyle/>
          <a:p>
            <a:pPr defTabSz="711200">
              <a:lnSpc>
                <a:spcPct val="90000"/>
              </a:lnSpc>
              <a:spcBef>
                <a:spcPct val="0"/>
              </a:spcBef>
              <a:spcAft>
                <a:spcPct val="35000"/>
              </a:spcAft>
            </a:pPr>
            <a:r>
              <a:rPr lang="zh-CN" altLang="en-US">
                <a:solidFill>
                  <a:schemeClr val="tx1"/>
                </a:solidFill>
              </a:rPr>
              <a:t>不确定性 </a:t>
            </a:r>
            <a:r>
              <a:rPr lang="en-US" altLang="zh-CN">
                <a:solidFill>
                  <a:schemeClr val="tx1"/>
                </a:solidFill>
              </a:rPr>
              <a:t>Uncertainty</a:t>
            </a:r>
            <a:endParaRPr lang="zh-CN" altLang="en-US">
              <a:solidFill>
                <a:schemeClr val="tx1"/>
              </a:solidFill>
            </a:endParaRPr>
          </a:p>
        </p:txBody>
      </p:sp>
      <p:sp useBgFill="1">
        <p:nvSpPr>
          <p:cNvPr id="29" name="椭圆 28">
            <a:extLst>
              <a:ext uri="{FF2B5EF4-FFF2-40B4-BE49-F238E27FC236}">
                <a16:creationId xmlns:a16="http://schemas.microsoft.com/office/drawing/2014/main" id="{95D5CA2F-9AA0-FFE6-197F-E485F8041B06}"/>
              </a:ext>
            </a:extLst>
          </p:cNvPr>
          <p:cNvSpPr/>
          <p:nvPr/>
        </p:nvSpPr>
        <p:spPr>
          <a:xfrm>
            <a:off x="3092871" y="5383457"/>
            <a:ext cx="621883" cy="621883"/>
          </a:xfrm>
          <a:prstGeom prst="ellipse">
            <a:avLst/>
          </a:prstGeom>
          <a:ln w="38100">
            <a:solidFill>
              <a:srgbClr val="00B0F0"/>
            </a:solidFill>
          </a:ln>
        </p:spPr>
        <p:style>
          <a:lnRef idx="2">
            <a:schemeClr val="accent5">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algn="ctr"/>
            <a:r>
              <a:rPr lang="en-US" altLang="zh-CN"/>
              <a:t>6</a:t>
            </a:r>
            <a:endParaRPr lang="zh-CN" altLang="en-US"/>
          </a:p>
        </p:txBody>
      </p:sp>
    </p:spTree>
    <p:extLst>
      <p:ext uri="{BB962C8B-B14F-4D97-AF65-F5344CB8AC3E}">
        <p14:creationId xmlns:p14="http://schemas.microsoft.com/office/powerpoint/2010/main" val="3330553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7D898-6CA5-DF8D-3867-946973C4151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46A44D7-13A8-A7D3-6ADC-230FACD64D93}"/>
              </a:ext>
            </a:extLst>
          </p:cNvPr>
          <p:cNvSpPr>
            <a:spLocks noGrp="1"/>
          </p:cNvSpPr>
          <p:nvPr>
            <p:ph type="title"/>
          </p:nvPr>
        </p:nvSpPr>
        <p:spPr>
          <a:xfrm>
            <a:off x="792000" y="360000"/>
            <a:ext cx="6375921" cy="429413"/>
          </a:xfrm>
        </p:spPr>
        <p:txBody>
          <a:bodyPr>
            <a:normAutofit/>
          </a:bodyPr>
          <a:lstStyle/>
          <a:p>
            <a:r>
              <a:rPr lang="en-US" altLang="zh-CN"/>
              <a:t>1.2 </a:t>
            </a:r>
            <a:r>
              <a:rPr lang="zh-CN" altLang="en-US"/>
              <a:t>子项目</a:t>
            </a:r>
          </a:p>
        </p:txBody>
      </p:sp>
      <p:sp>
        <p:nvSpPr>
          <p:cNvPr id="3" name="内容占位符 2">
            <a:extLst>
              <a:ext uri="{FF2B5EF4-FFF2-40B4-BE49-F238E27FC236}">
                <a16:creationId xmlns:a16="http://schemas.microsoft.com/office/drawing/2014/main" id="{94C81D6F-98FA-295E-2CE3-460F0E34B562}"/>
              </a:ext>
            </a:extLst>
          </p:cNvPr>
          <p:cNvSpPr>
            <a:spLocks noGrp="1"/>
          </p:cNvSpPr>
          <p:nvPr>
            <p:ph idx="1"/>
          </p:nvPr>
        </p:nvSpPr>
        <p:spPr>
          <a:xfrm>
            <a:off x="696000" y="864000"/>
            <a:ext cx="10800000" cy="5400000"/>
          </a:xfrm>
        </p:spPr>
        <p:txBody>
          <a:bodyPr>
            <a:normAutofit/>
          </a:bodyPr>
          <a:lstStyle/>
          <a:p>
            <a:r>
              <a:rPr lang="zh-CN" altLang="en-US"/>
              <a:t>将项目分解为更小的单位</a:t>
            </a:r>
            <a:endParaRPr lang="en-US" altLang="zh-CN"/>
          </a:p>
          <a:p>
            <a:r>
              <a:rPr lang="zh-CN" altLang="en-US"/>
              <a:t>便于更好的控制项目</a:t>
            </a:r>
            <a:endParaRPr lang="en-US" altLang="zh-CN"/>
          </a:p>
          <a:p>
            <a:r>
              <a:rPr lang="zh-CN" altLang="en-US"/>
              <a:t>划分很灵活</a:t>
            </a:r>
            <a:endParaRPr lang="en-US" altLang="zh-CN"/>
          </a:p>
          <a:p>
            <a:endParaRPr lang="zh-CN" altLang="en-US"/>
          </a:p>
          <a:p>
            <a:endParaRPr lang="zh-CN" altLang="en-US"/>
          </a:p>
          <a:p>
            <a:endParaRPr lang="zh-CN" altLang="en-US"/>
          </a:p>
        </p:txBody>
      </p:sp>
      <p:sp>
        <p:nvSpPr>
          <p:cNvPr id="6" name="Text Placeholder 5">
            <a:extLst>
              <a:ext uri="{FF2B5EF4-FFF2-40B4-BE49-F238E27FC236}">
                <a16:creationId xmlns:a16="http://schemas.microsoft.com/office/drawing/2014/main" id="{9B5FCF29-2473-C810-D4D3-405B8A2DB7B5}"/>
              </a:ext>
            </a:extLst>
          </p:cNvPr>
          <p:cNvSpPr>
            <a:spLocks noGrp="1"/>
          </p:cNvSpPr>
          <p:nvPr>
            <p:ph type="body" sz="quarter" idx="10"/>
          </p:nvPr>
        </p:nvSpPr>
        <p:spPr>
          <a:xfrm>
            <a:off x="7071919" y="448519"/>
            <a:ext cx="4424080" cy="338554"/>
          </a:xfrm>
        </p:spPr>
        <p:txBody>
          <a:bodyPr/>
          <a:lstStyle/>
          <a:p>
            <a:r>
              <a:rPr lang="en-US" altLang="zh-CN"/>
              <a:t>Sub-Program</a:t>
            </a:r>
            <a:endParaRPr lang="zh-CN" altLang="en-US"/>
          </a:p>
        </p:txBody>
      </p:sp>
    </p:spTree>
    <p:extLst>
      <p:ext uri="{BB962C8B-B14F-4D97-AF65-F5344CB8AC3E}">
        <p14:creationId xmlns:p14="http://schemas.microsoft.com/office/powerpoint/2010/main" val="20401971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161405-C853-3F50-B3A0-E0D973E7F3FD}"/>
              </a:ext>
            </a:extLst>
          </p:cNvPr>
          <p:cNvSpPr>
            <a:spLocks noGrp="1"/>
          </p:cNvSpPr>
          <p:nvPr>
            <p:ph type="title"/>
          </p:nvPr>
        </p:nvSpPr>
        <p:spPr>
          <a:xfrm>
            <a:off x="792000" y="360000"/>
            <a:ext cx="6375921" cy="429413"/>
          </a:xfrm>
        </p:spPr>
        <p:txBody>
          <a:bodyPr>
            <a:normAutofit/>
          </a:bodyPr>
          <a:lstStyle/>
          <a:p>
            <a:r>
              <a:rPr lang="en-US" altLang="zh-CN"/>
              <a:t>1.3 </a:t>
            </a:r>
            <a:r>
              <a:rPr lang="zh-CN" altLang="en-US"/>
              <a:t>项目集</a:t>
            </a:r>
          </a:p>
        </p:txBody>
      </p:sp>
      <p:sp>
        <p:nvSpPr>
          <p:cNvPr id="3" name="内容占位符 2">
            <a:extLst>
              <a:ext uri="{FF2B5EF4-FFF2-40B4-BE49-F238E27FC236}">
                <a16:creationId xmlns:a16="http://schemas.microsoft.com/office/drawing/2014/main" id="{7D33A585-C003-C1AF-99E1-DDFEA3EFC716}"/>
              </a:ext>
            </a:extLst>
          </p:cNvPr>
          <p:cNvSpPr>
            <a:spLocks noGrp="1"/>
          </p:cNvSpPr>
          <p:nvPr>
            <p:ph idx="1"/>
          </p:nvPr>
        </p:nvSpPr>
        <p:spPr>
          <a:xfrm>
            <a:off x="696000" y="864000"/>
            <a:ext cx="10800000" cy="5400000"/>
          </a:xfrm>
        </p:spPr>
        <p:txBody>
          <a:bodyPr>
            <a:normAutofit/>
          </a:bodyPr>
          <a:lstStyle/>
          <a:p>
            <a:r>
              <a:rPr lang="zh-CN" altLang="en-US"/>
              <a:t>一组相互关联的项目、子项目和受控过程的活动</a:t>
            </a:r>
            <a:endParaRPr lang="en-US" altLang="zh-CN"/>
          </a:p>
          <a:p>
            <a:r>
              <a:rPr lang="zh-CN" altLang="en-US"/>
              <a:t>也称为大型项目</a:t>
            </a:r>
          </a:p>
          <a:p>
            <a:r>
              <a:rPr lang="zh-CN" altLang="en-US"/>
              <a:t>目的：通过协同管理获取单独管理各个部分时无法实现的额外效益</a:t>
            </a:r>
          </a:p>
          <a:p>
            <a:r>
              <a:rPr lang="zh-CN" altLang="en-US"/>
              <a:t>相互关联的项目：多个项目之间存在逻辑或目标上的联系</a:t>
            </a:r>
          </a:p>
          <a:p>
            <a:r>
              <a:rPr lang="zh-CN" altLang="en-US"/>
              <a:t>协调管理：统一规划、组织与控制，以确保整体一致性</a:t>
            </a:r>
          </a:p>
          <a:p>
            <a:r>
              <a:rPr lang="zh-CN" altLang="en-US"/>
              <a:t>核心价值：整体大于部分之和</a:t>
            </a:r>
          </a:p>
          <a:p>
            <a:endParaRPr lang="zh-CN" altLang="en-US"/>
          </a:p>
          <a:p>
            <a:endParaRPr lang="zh-CN" altLang="en-US"/>
          </a:p>
          <a:p>
            <a:endParaRPr lang="zh-CN" altLang="en-US"/>
          </a:p>
        </p:txBody>
      </p:sp>
      <p:sp>
        <p:nvSpPr>
          <p:cNvPr id="6" name="Text Placeholder 5">
            <a:extLst>
              <a:ext uri="{FF2B5EF4-FFF2-40B4-BE49-F238E27FC236}">
                <a16:creationId xmlns:a16="http://schemas.microsoft.com/office/drawing/2014/main" id="{CF565ED4-05EB-A0D7-70F9-321BDB6EA3C2}"/>
              </a:ext>
            </a:extLst>
          </p:cNvPr>
          <p:cNvSpPr>
            <a:spLocks noGrp="1"/>
          </p:cNvSpPr>
          <p:nvPr>
            <p:ph type="body" sz="quarter" idx="10"/>
          </p:nvPr>
        </p:nvSpPr>
        <p:spPr>
          <a:xfrm>
            <a:off x="7071919" y="448519"/>
            <a:ext cx="4424080" cy="338554"/>
          </a:xfrm>
        </p:spPr>
        <p:txBody>
          <a:bodyPr/>
          <a:lstStyle/>
          <a:p>
            <a:r>
              <a:rPr lang="en-US" altLang="zh-CN"/>
              <a:t>Program</a:t>
            </a:r>
            <a:endParaRPr lang="zh-CN" altLang="en-US"/>
          </a:p>
        </p:txBody>
      </p:sp>
    </p:spTree>
    <p:extLst>
      <p:ext uri="{BB962C8B-B14F-4D97-AF65-F5344CB8AC3E}">
        <p14:creationId xmlns:p14="http://schemas.microsoft.com/office/powerpoint/2010/main" val="2151493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4DCD3D-6D38-3329-3963-48458FF2AB20}"/>
              </a:ext>
            </a:extLst>
          </p:cNvPr>
          <p:cNvSpPr>
            <a:spLocks noGrp="1"/>
          </p:cNvSpPr>
          <p:nvPr>
            <p:ph type="title"/>
          </p:nvPr>
        </p:nvSpPr>
        <p:spPr>
          <a:xfrm>
            <a:off x="792000" y="360000"/>
            <a:ext cx="6375921" cy="429413"/>
          </a:xfrm>
        </p:spPr>
        <p:txBody>
          <a:bodyPr>
            <a:normAutofit/>
          </a:bodyPr>
          <a:lstStyle/>
          <a:p>
            <a:r>
              <a:rPr lang="en-US" altLang="zh-CN"/>
              <a:t>1.4 </a:t>
            </a:r>
            <a:r>
              <a:rPr lang="zh-CN" altLang="en-US"/>
              <a:t>项目组合</a:t>
            </a:r>
          </a:p>
        </p:txBody>
      </p:sp>
      <p:sp>
        <p:nvSpPr>
          <p:cNvPr id="3" name="内容占位符 2">
            <a:extLst>
              <a:ext uri="{FF2B5EF4-FFF2-40B4-BE49-F238E27FC236}">
                <a16:creationId xmlns:a16="http://schemas.microsoft.com/office/drawing/2014/main" id="{95D0D1E3-9D28-9D35-C380-9AB9BEE94183}"/>
              </a:ext>
            </a:extLst>
          </p:cNvPr>
          <p:cNvSpPr>
            <a:spLocks noGrp="1"/>
          </p:cNvSpPr>
          <p:nvPr>
            <p:ph idx="1"/>
          </p:nvPr>
        </p:nvSpPr>
        <p:spPr>
          <a:xfrm>
            <a:off x="696000" y="864000"/>
            <a:ext cx="10800000" cy="5400000"/>
          </a:xfrm>
        </p:spPr>
        <p:txBody>
          <a:bodyPr>
            <a:normAutofit/>
          </a:bodyPr>
          <a:lstStyle/>
          <a:p>
            <a:r>
              <a:rPr lang="zh-CN" altLang="en-US"/>
              <a:t>项目组合是为实现战略目标而整合管理的一系列项目、项目集和运营活动的集合</a:t>
            </a:r>
            <a:endParaRPr lang="en-US" altLang="zh-CN"/>
          </a:p>
          <a:p>
            <a:r>
              <a:rPr lang="zh-CN" altLang="en-US"/>
              <a:t>特点</a:t>
            </a:r>
          </a:p>
          <a:p>
            <a:pPr lvl="1"/>
            <a:r>
              <a:rPr lang="zh-CN" altLang="en-US"/>
              <a:t>项目或项目集之间不一定彼此依赖或直接相关</a:t>
            </a:r>
          </a:p>
          <a:p>
            <a:pPr lvl="1"/>
            <a:r>
              <a:rPr lang="zh-CN" altLang="en-US"/>
              <a:t>管理重点在于战略对齐，而非技术或执行上的关联性</a:t>
            </a:r>
            <a:endParaRPr lang="en-US" altLang="zh-CN"/>
          </a:p>
          <a:p>
            <a:r>
              <a:rPr lang="zh-CN" altLang="en-US"/>
              <a:t>战略导向：项目组合的管理是为了达成组织的战略目标</a:t>
            </a:r>
          </a:p>
          <a:p>
            <a:r>
              <a:rPr lang="zh-CN" altLang="en-US"/>
              <a:t>多样化组成：包含项目、项目集、子项目组合及运营工作</a:t>
            </a:r>
          </a:p>
          <a:p>
            <a:r>
              <a:rPr lang="zh-CN" altLang="en-US"/>
              <a:t>非依赖性：组合内的元素可以独立运作，无需相互依赖</a:t>
            </a:r>
          </a:p>
          <a:p>
            <a:r>
              <a:rPr lang="zh-CN" altLang="en-US"/>
              <a:t>统一管理：通过集中管理实现资源优化、优先级排序和战略一致性</a:t>
            </a:r>
            <a:endParaRPr lang="en-US" altLang="zh-CN"/>
          </a:p>
          <a:p>
            <a:r>
              <a:rPr lang="zh-CN" altLang="en-US"/>
              <a:t>强调</a:t>
            </a:r>
            <a:endParaRPr lang="en-US" altLang="zh-CN"/>
          </a:p>
          <a:p>
            <a:pPr lvl="1"/>
            <a:r>
              <a:rPr lang="zh-CN" altLang="en-US"/>
              <a:t>战略价值和整体效益</a:t>
            </a:r>
            <a:endParaRPr lang="en-US" altLang="zh-CN"/>
          </a:p>
        </p:txBody>
      </p:sp>
      <p:sp>
        <p:nvSpPr>
          <p:cNvPr id="6" name="Text Placeholder 5">
            <a:extLst>
              <a:ext uri="{FF2B5EF4-FFF2-40B4-BE49-F238E27FC236}">
                <a16:creationId xmlns:a16="http://schemas.microsoft.com/office/drawing/2014/main" id="{4C89C4BE-6E0A-D7A7-92F8-593BA70847D7}"/>
              </a:ext>
            </a:extLst>
          </p:cNvPr>
          <p:cNvSpPr>
            <a:spLocks noGrp="1"/>
          </p:cNvSpPr>
          <p:nvPr>
            <p:ph type="body" sz="quarter" idx="10"/>
          </p:nvPr>
        </p:nvSpPr>
        <p:spPr>
          <a:xfrm>
            <a:off x="7071919" y="448519"/>
            <a:ext cx="4424080" cy="338554"/>
          </a:xfrm>
        </p:spPr>
        <p:txBody>
          <a:bodyPr/>
          <a:lstStyle/>
          <a:p>
            <a:r>
              <a:rPr lang="en-US" altLang="zh-CN"/>
              <a:t>Portfolio</a:t>
            </a:r>
            <a:endParaRPr lang="zh-CN" altLang="en-US"/>
          </a:p>
        </p:txBody>
      </p:sp>
    </p:spTree>
    <p:extLst>
      <p:ext uri="{BB962C8B-B14F-4D97-AF65-F5344CB8AC3E}">
        <p14:creationId xmlns:p14="http://schemas.microsoft.com/office/powerpoint/2010/main" val="22143100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67276B0-97E8-FEAC-606F-E7922E51291C}"/>
              </a:ext>
            </a:extLst>
          </p:cNvPr>
          <p:cNvSpPr txBox="1"/>
          <p:nvPr/>
        </p:nvSpPr>
        <p:spPr>
          <a:xfrm>
            <a:off x="3656582" y="1370555"/>
            <a:ext cx="2520000" cy="432000"/>
          </a:xfrm>
          <a:prstGeom prst="roundRect">
            <a:avLst/>
          </a:prstGeom>
        </p:spPr>
        <p:style>
          <a:lnRef idx="0">
            <a:schemeClr val="accent2"/>
          </a:lnRef>
          <a:fillRef idx="3">
            <a:schemeClr val="accent2"/>
          </a:fillRef>
          <a:effectRef idx="3">
            <a:schemeClr val="accent2"/>
          </a:effectRef>
          <a:fontRef idx="minor">
            <a:schemeClr val="lt1"/>
          </a:fontRef>
        </p:style>
        <p:txBody>
          <a:bodyPr wrap="none" rtlCol="0" anchor="ctr" anchorCtr="0">
            <a:noAutofit/>
          </a:bodyPr>
          <a:lstStyle/>
          <a:p>
            <a:pPr algn="ctr"/>
            <a:r>
              <a:rPr lang="zh-CN" altLang="en-US" sz="1400" dirty="0"/>
              <a:t>项目组合 </a:t>
            </a:r>
            <a:r>
              <a:rPr lang="en-US" altLang="zh-CN" sz="1400" dirty="0"/>
              <a:t>Portfolio</a:t>
            </a:r>
            <a:endParaRPr lang="zh-CN" altLang="en-US" sz="1400" dirty="0"/>
          </a:p>
        </p:txBody>
      </p:sp>
      <p:sp>
        <p:nvSpPr>
          <p:cNvPr id="7" name="TextBox 6">
            <a:extLst>
              <a:ext uri="{FF2B5EF4-FFF2-40B4-BE49-F238E27FC236}">
                <a16:creationId xmlns:a16="http://schemas.microsoft.com/office/drawing/2014/main" id="{DE02FC16-E28D-C052-7E99-C517F8D2441F}"/>
              </a:ext>
            </a:extLst>
          </p:cNvPr>
          <p:cNvSpPr txBox="1"/>
          <p:nvPr/>
        </p:nvSpPr>
        <p:spPr>
          <a:xfrm>
            <a:off x="4016582" y="1995715"/>
            <a:ext cx="2160000" cy="432000"/>
          </a:xfrm>
          <a:prstGeom prst="roundRect">
            <a:avLst/>
          </a:prstGeom>
        </p:spPr>
        <p:style>
          <a:lnRef idx="0">
            <a:schemeClr val="accent5"/>
          </a:lnRef>
          <a:fillRef idx="3">
            <a:schemeClr val="accent5"/>
          </a:fillRef>
          <a:effectRef idx="3">
            <a:schemeClr val="accent5"/>
          </a:effectRef>
          <a:fontRef idx="minor">
            <a:schemeClr val="lt1"/>
          </a:fontRef>
        </p:style>
        <p:txBody>
          <a:bodyPr wrap="none" rtlCol="0" anchor="ctr" anchorCtr="0">
            <a:noAutofit/>
          </a:bodyPr>
          <a:lstStyle/>
          <a:p>
            <a:pPr algn="ctr"/>
            <a:r>
              <a:rPr lang="zh-CN" altLang="en-US" sz="1400"/>
              <a:t>项目集 </a:t>
            </a:r>
            <a:r>
              <a:rPr lang="en-US" altLang="zh-CN" sz="1400"/>
              <a:t>Program</a:t>
            </a:r>
            <a:endParaRPr lang="zh-CN" altLang="en-US" sz="1400"/>
          </a:p>
        </p:txBody>
      </p:sp>
      <p:sp>
        <p:nvSpPr>
          <p:cNvPr id="8" name="TextBox 7">
            <a:extLst>
              <a:ext uri="{FF2B5EF4-FFF2-40B4-BE49-F238E27FC236}">
                <a16:creationId xmlns:a16="http://schemas.microsoft.com/office/drawing/2014/main" id="{876D520E-5758-F261-3BAE-7C4704E0BD3A}"/>
              </a:ext>
            </a:extLst>
          </p:cNvPr>
          <p:cNvSpPr txBox="1"/>
          <p:nvPr/>
        </p:nvSpPr>
        <p:spPr>
          <a:xfrm>
            <a:off x="4376582" y="2636264"/>
            <a:ext cx="1800000" cy="432000"/>
          </a:xfrm>
          <a:prstGeom prst="roundRect">
            <a:avLst/>
          </a:prstGeom>
        </p:spPr>
        <p:style>
          <a:lnRef idx="0">
            <a:schemeClr val="accent6"/>
          </a:lnRef>
          <a:fillRef idx="3">
            <a:schemeClr val="accent6"/>
          </a:fillRef>
          <a:effectRef idx="3">
            <a:schemeClr val="accent6"/>
          </a:effectRef>
          <a:fontRef idx="minor">
            <a:schemeClr val="lt1"/>
          </a:fontRef>
        </p:style>
        <p:txBody>
          <a:bodyPr wrap="none" rtlCol="0" anchor="ctr" anchorCtr="0">
            <a:noAutofit/>
          </a:bodyPr>
          <a:lstStyle/>
          <a:p>
            <a:pPr algn="ctr"/>
            <a:r>
              <a:rPr lang="zh-CN" altLang="en-US" sz="1400"/>
              <a:t>项目 </a:t>
            </a:r>
            <a:r>
              <a:rPr lang="en-US" altLang="zh-CN" sz="1400"/>
              <a:t>Project</a:t>
            </a:r>
            <a:endParaRPr lang="zh-CN" altLang="en-US" sz="1400"/>
          </a:p>
        </p:txBody>
      </p:sp>
      <p:sp>
        <p:nvSpPr>
          <p:cNvPr id="9" name="TextBox 8">
            <a:extLst>
              <a:ext uri="{FF2B5EF4-FFF2-40B4-BE49-F238E27FC236}">
                <a16:creationId xmlns:a16="http://schemas.microsoft.com/office/drawing/2014/main" id="{DA719B57-5201-657D-49F5-1C2584F863A4}"/>
              </a:ext>
            </a:extLst>
          </p:cNvPr>
          <p:cNvSpPr txBox="1"/>
          <p:nvPr/>
        </p:nvSpPr>
        <p:spPr>
          <a:xfrm>
            <a:off x="4376582" y="3261423"/>
            <a:ext cx="1800000" cy="432000"/>
          </a:xfrm>
          <a:prstGeom prst="roundRect">
            <a:avLst/>
          </a:prstGeom>
        </p:spPr>
        <p:style>
          <a:lnRef idx="0">
            <a:schemeClr val="accent6"/>
          </a:lnRef>
          <a:fillRef idx="3">
            <a:schemeClr val="accent6"/>
          </a:fillRef>
          <a:effectRef idx="3">
            <a:schemeClr val="accent6"/>
          </a:effectRef>
          <a:fontRef idx="minor">
            <a:schemeClr val="lt1"/>
          </a:fontRef>
        </p:style>
        <p:txBody>
          <a:bodyPr wrap="none" rtlCol="0" anchor="ctr" anchorCtr="0">
            <a:noAutofit/>
          </a:bodyPr>
          <a:lstStyle>
            <a:defPPr>
              <a:defRPr lang="zh-CN"/>
            </a:defPPr>
            <a:lvl1pPr>
              <a:defRPr sz="1600"/>
            </a:lvl1pPr>
          </a:lstStyle>
          <a:p>
            <a:pPr algn="ctr"/>
            <a:r>
              <a:rPr lang="zh-CN" altLang="en-US" sz="1200"/>
              <a:t>项目 </a:t>
            </a:r>
            <a:r>
              <a:rPr lang="en-US" altLang="zh-CN" sz="1200"/>
              <a:t>Project</a:t>
            </a:r>
            <a:endParaRPr lang="zh-CN" altLang="en-US" sz="1200"/>
          </a:p>
        </p:txBody>
      </p:sp>
      <p:sp>
        <p:nvSpPr>
          <p:cNvPr id="10" name="TextBox 9">
            <a:extLst>
              <a:ext uri="{FF2B5EF4-FFF2-40B4-BE49-F238E27FC236}">
                <a16:creationId xmlns:a16="http://schemas.microsoft.com/office/drawing/2014/main" id="{BF081D08-DC57-1243-0D45-BD248632C8B5}"/>
              </a:ext>
            </a:extLst>
          </p:cNvPr>
          <p:cNvSpPr txBox="1"/>
          <p:nvPr/>
        </p:nvSpPr>
        <p:spPr>
          <a:xfrm>
            <a:off x="4736582" y="3901971"/>
            <a:ext cx="1440000" cy="432000"/>
          </a:xfrm>
          <a:prstGeom prst="roundRect">
            <a:avLst/>
          </a:prstGeom>
        </p:spPr>
        <p:style>
          <a:lnRef idx="0">
            <a:schemeClr val="accent4"/>
          </a:lnRef>
          <a:fillRef idx="3">
            <a:schemeClr val="accent4"/>
          </a:fillRef>
          <a:effectRef idx="3">
            <a:schemeClr val="accent4"/>
          </a:effectRef>
          <a:fontRef idx="minor">
            <a:schemeClr val="lt1"/>
          </a:fontRef>
        </p:style>
        <p:txBody>
          <a:bodyPr wrap="none" rtlCol="0" anchor="ctr" anchorCtr="0">
            <a:noAutofit/>
          </a:bodyPr>
          <a:lstStyle/>
          <a:p>
            <a:pPr algn="ctr"/>
            <a:r>
              <a:rPr lang="zh-CN" altLang="en-US" sz="1400"/>
              <a:t>子项目 </a:t>
            </a:r>
            <a:r>
              <a:rPr lang="en-US" altLang="zh-CN" sz="1400"/>
              <a:t>Project</a:t>
            </a:r>
            <a:endParaRPr lang="zh-CN" altLang="en-US" sz="1400"/>
          </a:p>
        </p:txBody>
      </p:sp>
      <p:sp>
        <p:nvSpPr>
          <p:cNvPr id="11" name="TextBox 10">
            <a:extLst>
              <a:ext uri="{FF2B5EF4-FFF2-40B4-BE49-F238E27FC236}">
                <a16:creationId xmlns:a16="http://schemas.microsoft.com/office/drawing/2014/main" id="{AB7E9C71-2845-C277-9B3F-EE8F43CD8367}"/>
              </a:ext>
            </a:extLst>
          </p:cNvPr>
          <p:cNvSpPr txBox="1"/>
          <p:nvPr/>
        </p:nvSpPr>
        <p:spPr>
          <a:xfrm>
            <a:off x="4736582" y="4527133"/>
            <a:ext cx="1440000" cy="432000"/>
          </a:xfrm>
          <a:prstGeom prst="roundRect">
            <a:avLst/>
          </a:prstGeom>
        </p:spPr>
        <p:style>
          <a:lnRef idx="0">
            <a:schemeClr val="accent4"/>
          </a:lnRef>
          <a:fillRef idx="3">
            <a:schemeClr val="accent4"/>
          </a:fillRef>
          <a:effectRef idx="3">
            <a:schemeClr val="accent4"/>
          </a:effectRef>
          <a:fontRef idx="minor">
            <a:schemeClr val="lt1"/>
          </a:fontRef>
        </p:style>
        <p:txBody>
          <a:bodyPr wrap="none" rtlCol="0" anchor="ctr" anchorCtr="0">
            <a:noAutofit/>
          </a:bodyPr>
          <a:lstStyle/>
          <a:p>
            <a:pPr algn="ctr"/>
            <a:r>
              <a:rPr lang="zh-CN" altLang="en-US" sz="1400"/>
              <a:t>子项目 </a:t>
            </a:r>
            <a:r>
              <a:rPr lang="en-US" altLang="zh-CN" sz="1400"/>
              <a:t>Project</a:t>
            </a:r>
            <a:endParaRPr lang="zh-CN" altLang="en-US" sz="1400"/>
          </a:p>
        </p:txBody>
      </p:sp>
      <p:cxnSp>
        <p:nvCxnSpPr>
          <p:cNvPr id="13" name="Connector: Elbow 12">
            <a:extLst>
              <a:ext uri="{FF2B5EF4-FFF2-40B4-BE49-F238E27FC236}">
                <a16:creationId xmlns:a16="http://schemas.microsoft.com/office/drawing/2014/main" id="{E2CDE2B9-A78F-F5A8-419E-7CF909E9D3A5}"/>
              </a:ext>
            </a:extLst>
          </p:cNvPr>
          <p:cNvCxnSpPr/>
          <p:nvPr/>
        </p:nvCxnSpPr>
        <p:spPr>
          <a:xfrm rot="10800000" flipH="1" flipV="1">
            <a:off x="3656582" y="1586555"/>
            <a:ext cx="360000" cy="625160"/>
          </a:xfrm>
          <a:prstGeom prst="bentConnector3">
            <a:avLst>
              <a:gd name="adj1" fmla="val -635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E1ECB411-0D13-77E6-F09B-E7905128B557}"/>
              </a:ext>
            </a:extLst>
          </p:cNvPr>
          <p:cNvCxnSpPr/>
          <p:nvPr/>
        </p:nvCxnSpPr>
        <p:spPr>
          <a:xfrm rot="10800000" flipH="1" flipV="1">
            <a:off x="4016582" y="2211714"/>
            <a:ext cx="360000" cy="640549"/>
          </a:xfrm>
          <a:prstGeom prst="bentConnector3">
            <a:avLst>
              <a:gd name="adj1" fmla="val -635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DAAD6E5E-3080-D03B-753F-B64CE10F8F52}"/>
              </a:ext>
            </a:extLst>
          </p:cNvPr>
          <p:cNvCxnSpPr>
            <a:cxnSpLocks/>
          </p:cNvCxnSpPr>
          <p:nvPr/>
        </p:nvCxnSpPr>
        <p:spPr>
          <a:xfrm rot="10800000" flipH="1" flipV="1">
            <a:off x="4016582" y="2211715"/>
            <a:ext cx="360000" cy="1265708"/>
          </a:xfrm>
          <a:prstGeom prst="bentConnector3">
            <a:avLst>
              <a:gd name="adj1" fmla="val -635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EBB7A034-1EF8-6FD2-C47F-22EA7B115C9A}"/>
              </a:ext>
            </a:extLst>
          </p:cNvPr>
          <p:cNvCxnSpPr>
            <a:cxnSpLocks/>
          </p:cNvCxnSpPr>
          <p:nvPr/>
        </p:nvCxnSpPr>
        <p:spPr>
          <a:xfrm rot="10800000" flipV="1">
            <a:off x="4736582" y="4117971"/>
            <a:ext cx="12700" cy="1246920"/>
          </a:xfrm>
          <a:prstGeom prst="bentConnector3">
            <a:avLst>
              <a:gd name="adj1" fmla="val 1800000"/>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DE7FB9B2-1380-A09A-A8C5-5542D6E354BA}"/>
              </a:ext>
            </a:extLst>
          </p:cNvPr>
          <p:cNvSpPr txBox="1"/>
          <p:nvPr/>
        </p:nvSpPr>
        <p:spPr>
          <a:xfrm>
            <a:off x="6734925" y="1401889"/>
            <a:ext cx="1338828" cy="369332"/>
          </a:xfrm>
          <a:prstGeom prst="rect">
            <a:avLst/>
          </a:prstGeom>
          <a:noFill/>
        </p:spPr>
        <p:txBody>
          <a:bodyPr wrap="none" rtlCol="0">
            <a:spAutoFit/>
          </a:bodyPr>
          <a:lstStyle/>
          <a:p>
            <a:r>
              <a:rPr lang="zh-CN" altLang="en-US"/>
              <a:t>承办奥运会</a:t>
            </a:r>
          </a:p>
        </p:txBody>
      </p:sp>
      <p:sp>
        <p:nvSpPr>
          <p:cNvPr id="21" name="TextBox 20">
            <a:extLst>
              <a:ext uri="{FF2B5EF4-FFF2-40B4-BE49-F238E27FC236}">
                <a16:creationId xmlns:a16="http://schemas.microsoft.com/office/drawing/2014/main" id="{E8ACC35B-39C5-9B2D-81E3-AA4C58769BCC}"/>
              </a:ext>
            </a:extLst>
          </p:cNvPr>
          <p:cNvSpPr txBox="1"/>
          <p:nvPr/>
        </p:nvSpPr>
        <p:spPr>
          <a:xfrm>
            <a:off x="6734925" y="2031612"/>
            <a:ext cx="1800493" cy="369332"/>
          </a:xfrm>
          <a:prstGeom prst="rect">
            <a:avLst/>
          </a:prstGeom>
          <a:noFill/>
        </p:spPr>
        <p:txBody>
          <a:bodyPr wrap="none" rtlCol="0">
            <a:spAutoFit/>
          </a:bodyPr>
          <a:lstStyle/>
          <a:p>
            <a:r>
              <a:rPr lang="zh-CN" altLang="en-US"/>
              <a:t>奥运体育馆建设</a:t>
            </a:r>
          </a:p>
        </p:txBody>
      </p:sp>
      <p:sp>
        <p:nvSpPr>
          <p:cNvPr id="22" name="TextBox 21">
            <a:extLst>
              <a:ext uri="{FF2B5EF4-FFF2-40B4-BE49-F238E27FC236}">
                <a16:creationId xmlns:a16="http://schemas.microsoft.com/office/drawing/2014/main" id="{A8A75E9E-C422-559F-53C3-29B19863F7B5}"/>
              </a:ext>
            </a:extLst>
          </p:cNvPr>
          <p:cNvSpPr txBox="1"/>
          <p:nvPr/>
        </p:nvSpPr>
        <p:spPr>
          <a:xfrm>
            <a:off x="6734925" y="2661335"/>
            <a:ext cx="1569660" cy="369332"/>
          </a:xfrm>
          <a:prstGeom prst="rect">
            <a:avLst/>
          </a:prstGeom>
          <a:noFill/>
        </p:spPr>
        <p:txBody>
          <a:bodyPr wrap="none" rtlCol="0">
            <a:spAutoFit/>
          </a:bodyPr>
          <a:lstStyle/>
          <a:p>
            <a:r>
              <a:rPr lang="zh-CN" altLang="en-US"/>
              <a:t>羽毛球馆建设</a:t>
            </a:r>
          </a:p>
        </p:txBody>
      </p:sp>
      <p:sp>
        <p:nvSpPr>
          <p:cNvPr id="23" name="TextBox 22">
            <a:extLst>
              <a:ext uri="{FF2B5EF4-FFF2-40B4-BE49-F238E27FC236}">
                <a16:creationId xmlns:a16="http://schemas.microsoft.com/office/drawing/2014/main" id="{A5C0C4CB-88B3-E790-FFDB-B703A0766547}"/>
              </a:ext>
            </a:extLst>
          </p:cNvPr>
          <p:cNvSpPr txBox="1"/>
          <p:nvPr/>
        </p:nvSpPr>
        <p:spPr>
          <a:xfrm>
            <a:off x="6734925" y="3291058"/>
            <a:ext cx="1338828" cy="369332"/>
          </a:xfrm>
          <a:prstGeom prst="rect">
            <a:avLst/>
          </a:prstGeom>
          <a:noFill/>
        </p:spPr>
        <p:txBody>
          <a:bodyPr wrap="none" rtlCol="0">
            <a:spAutoFit/>
          </a:bodyPr>
          <a:lstStyle/>
          <a:p>
            <a:r>
              <a:rPr lang="zh-CN" altLang="en-US"/>
              <a:t>游泳馆建设</a:t>
            </a:r>
          </a:p>
        </p:txBody>
      </p:sp>
      <p:sp>
        <p:nvSpPr>
          <p:cNvPr id="24" name="TextBox 23">
            <a:extLst>
              <a:ext uri="{FF2B5EF4-FFF2-40B4-BE49-F238E27FC236}">
                <a16:creationId xmlns:a16="http://schemas.microsoft.com/office/drawing/2014/main" id="{E2A0EB8B-3698-A851-FF55-AEF0B8CB4B15}"/>
              </a:ext>
            </a:extLst>
          </p:cNvPr>
          <p:cNvSpPr txBox="1"/>
          <p:nvPr/>
        </p:nvSpPr>
        <p:spPr>
          <a:xfrm>
            <a:off x="6734925" y="3920781"/>
            <a:ext cx="1338828" cy="369332"/>
          </a:xfrm>
          <a:prstGeom prst="rect">
            <a:avLst/>
          </a:prstGeom>
          <a:noFill/>
        </p:spPr>
        <p:txBody>
          <a:bodyPr wrap="none" rtlCol="0">
            <a:spAutoFit/>
          </a:bodyPr>
          <a:lstStyle/>
          <a:p>
            <a:r>
              <a:rPr lang="zh-CN" altLang="en-US"/>
              <a:t>游泳池建造</a:t>
            </a:r>
          </a:p>
        </p:txBody>
      </p:sp>
      <p:sp>
        <p:nvSpPr>
          <p:cNvPr id="25" name="TextBox 24">
            <a:extLst>
              <a:ext uri="{FF2B5EF4-FFF2-40B4-BE49-F238E27FC236}">
                <a16:creationId xmlns:a16="http://schemas.microsoft.com/office/drawing/2014/main" id="{8EF04BF9-8526-C812-BF93-B397E8DAE73E}"/>
              </a:ext>
            </a:extLst>
          </p:cNvPr>
          <p:cNvSpPr txBox="1"/>
          <p:nvPr/>
        </p:nvSpPr>
        <p:spPr>
          <a:xfrm>
            <a:off x="6734925" y="4550504"/>
            <a:ext cx="1338828" cy="369332"/>
          </a:xfrm>
          <a:prstGeom prst="rect">
            <a:avLst/>
          </a:prstGeom>
          <a:noFill/>
        </p:spPr>
        <p:txBody>
          <a:bodyPr wrap="none" rtlCol="0">
            <a:spAutoFit/>
          </a:bodyPr>
          <a:lstStyle/>
          <a:p>
            <a:r>
              <a:rPr lang="zh-CN" altLang="en-US"/>
              <a:t>淋浴房建造</a:t>
            </a:r>
          </a:p>
        </p:txBody>
      </p:sp>
      <p:cxnSp>
        <p:nvCxnSpPr>
          <p:cNvPr id="31" name="Connector: Elbow 30">
            <a:extLst>
              <a:ext uri="{FF2B5EF4-FFF2-40B4-BE49-F238E27FC236}">
                <a16:creationId xmlns:a16="http://schemas.microsoft.com/office/drawing/2014/main" id="{A98AACC7-45AC-FBD9-2926-A808B5B26175}"/>
              </a:ext>
            </a:extLst>
          </p:cNvPr>
          <p:cNvCxnSpPr>
            <a:cxnSpLocks/>
          </p:cNvCxnSpPr>
          <p:nvPr/>
        </p:nvCxnSpPr>
        <p:spPr>
          <a:xfrm rot="10800000" flipH="1" flipV="1">
            <a:off x="4376582" y="3477423"/>
            <a:ext cx="360000" cy="1265710"/>
          </a:xfrm>
          <a:prstGeom prst="bentConnector3">
            <a:avLst>
              <a:gd name="adj1" fmla="val -635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3594C84E-71DC-B50D-6333-43A466E63D66}"/>
              </a:ext>
            </a:extLst>
          </p:cNvPr>
          <p:cNvSpPr txBox="1"/>
          <p:nvPr/>
        </p:nvSpPr>
        <p:spPr>
          <a:xfrm>
            <a:off x="4736582" y="5148891"/>
            <a:ext cx="1440000" cy="432000"/>
          </a:xfrm>
          <a:prstGeom prst="roundRect">
            <a:avLst/>
          </a:prstGeom>
        </p:spPr>
        <p:style>
          <a:lnRef idx="0">
            <a:schemeClr val="accent4"/>
          </a:lnRef>
          <a:fillRef idx="3">
            <a:schemeClr val="accent4"/>
          </a:fillRef>
          <a:effectRef idx="3">
            <a:schemeClr val="accent4"/>
          </a:effectRef>
          <a:fontRef idx="minor">
            <a:schemeClr val="lt1"/>
          </a:fontRef>
        </p:style>
        <p:txBody>
          <a:bodyPr wrap="none" rtlCol="0" anchor="ctr" anchorCtr="0">
            <a:noAutofit/>
          </a:bodyPr>
          <a:lstStyle/>
          <a:p>
            <a:pPr algn="ctr"/>
            <a:r>
              <a:rPr lang="zh-CN" altLang="en-US" sz="1400"/>
              <a:t>子项目 </a:t>
            </a:r>
            <a:r>
              <a:rPr lang="en-US" altLang="zh-CN" sz="1400"/>
              <a:t>Project</a:t>
            </a:r>
            <a:endParaRPr lang="zh-CN" altLang="en-US" sz="1400"/>
          </a:p>
        </p:txBody>
      </p:sp>
      <p:sp>
        <p:nvSpPr>
          <p:cNvPr id="35" name="TextBox 34">
            <a:extLst>
              <a:ext uri="{FF2B5EF4-FFF2-40B4-BE49-F238E27FC236}">
                <a16:creationId xmlns:a16="http://schemas.microsoft.com/office/drawing/2014/main" id="{DE1122C3-A63B-CDED-2777-077145811F43}"/>
              </a:ext>
            </a:extLst>
          </p:cNvPr>
          <p:cNvSpPr txBox="1"/>
          <p:nvPr/>
        </p:nvSpPr>
        <p:spPr>
          <a:xfrm>
            <a:off x="6734925" y="5180225"/>
            <a:ext cx="543739" cy="369332"/>
          </a:xfrm>
          <a:prstGeom prst="rect">
            <a:avLst/>
          </a:prstGeom>
          <a:noFill/>
        </p:spPr>
        <p:txBody>
          <a:bodyPr wrap="none" rtlCol="0">
            <a:spAutoFit/>
          </a:bodyPr>
          <a:lstStyle/>
          <a:p>
            <a:r>
              <a:rPr lang="en-US" altLang="zh-CN" dirty="0"/>
              <a:t>… …</a:t>
            </a:r>
            <a:endParaRPr lang="zh-CN" altLang="en-US" dirty="0"/>
          </a:p>
        </p:txBody>
      </p:sp>
      <p:sp>
        <p:nvSpPr>
          <p:cNvPr id="2" name="TextBox 1">
            <a:extLst>
              <a:ext uri="{FF2B5EF4-FFF2-40B4-BE49-F238E27FC236}">
                <a16:creationId xmlns:a16="http://schemas.microsoft.com/office/drawing/2014/main" id="{68C69C74-D053-48A5-C86D-81B178396642}"/>
              </a:ext>
            </a:extLst>
          </p:cNvPr>
          <p:cNvSpPr txBox="1"/>
          <p:nvPr/>
        </p:nvSpPr>
        <p:spPr>
          <a:xfrm>
            <a:off x="9262879" y="1401889"/>
            <a:ext cx="646331" cy="369332"/>
          </a:xfrm>
          <a:prstGeom prst="rect">
            <a:avLst/>
          </a:prstGeom>
          <a:noFill/>
        </p:spPr>
        <p:txBody>
          <a:bodyPr wrap="none" rtlCol="0">
            <a:spAutoFit/>
          </a:bodyPr>
          <a:lstStyle/>
          <a:p>
            <a:r>
              <a:rPr lang="zh-CN" altLang="en-US"/>
              <a:t>长期</a:t>
            </a:r>
          </a:p>
        </p:txBody>
      </p:sp>
      <p:cxnSp>
        <p:nvCxnSpPr>
          <p:cNvPr id="4" name="Straight Arrow Connector 3">
            <a:extLst>
              <a:ext uri="{FF2B5EF4-FFF2-40B4-BE49-F238E27FC236}">
                <a16:creationId xmlns:a16="http://schemas.microsoft.com/office/drawing/2014/main" id="{94C900FD-AB0B-CB5F-F0DE-4CA322CD8EA9}"/>
              </a:ext>
            </a:extLst>
          </p:cNvPr>
          <p:cNvCxnSpPr>
            <a:stCxn id="20" idx="3"/>
            <a:endCxn id="2" idx="1"/>
          </p:cNvCxnSpPr>
          <p:nvPr/>
        </p:nvCxnSpPr>
        <p:spPr>
          <a:xfrm>
            <a:off x="8073753" y="1586555"/>
            <a:ext cx="118912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A36AB012-2FDF-EC85-F190-5C6AE174DB01}"/>
              </a:ext>
            </a:extLst>
          </p:cNvPr>
          <p:cNvSpPr txBox="1"/>
          <p:nvPr/>
        </p:nvSpPr>
        <p:spPr>
          <a:xfrm>
            <a:off x="9262878" y="2031612"/>
            <a:ext cx="877163" cy="369332"/>
          </a:xfrm>
          <a:prstGeom prst="rect">
            <a:avLst/>
          </a:prstGeom>
          <a:noFill/>
        </p:spPr>
        <p:txBody>
          <a:bodyPr wrap="none" rtlCol="0">
            <a:spAutoFit/>
          </a:bodyPr>
          <a:lstStyle/>
          <a:p>
            <a:r>
              <a:rPr lang="zh-CN" altLang="en-US"/>
              <a:t>中长期</a:t>
            </a:r>
          </a:p>
        </p:txBody>
      </p:sp>
      <p:cxnSp>
        <p:nvCxnSpPr>
          <p:cNvPr id="14" name="Straight Arrow Connector 13">
            <a:extLst>
              <a:ext uri="{FF2B5EF4-FFF2-40B4-BE49-F238E27FC236}">
                <a16:creationId xmlns:a16="http://schemas.microsoft.com/office/drawing/2014/main" id="{1D684A42-CAF5-48F0-49A0-840501E828DC}"/>
              </a:ext>
            </a:extLst>
          </p:cNvPr>
          <p:cNvCxnSpPr>
            <a:stCxn id="21" idx="3"/>
            <a:endCxn id="5" idx="1"/>
          </p:cNvCxnSpPr>
          <p:nvPr/>
        </p:nvCxnSpPr>
        <p:spPr>
          <a:xfrm>
            <a:off x="8535418" y="2216278"/>
            <a:ext cx="72746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749FADB0-08CE-CD88-BC04-5FA8AD2CA325}"/>
              </a:ext>
            </a:extLst>
          </p:cNvPr>
          <p:cNvSpPr txBox="1"/>
          <p:nvPr/>
        </p:nvSpPr>
        <p:spPr>
          <a:xfrm>
            <a:off x="9262878" y="2657403"/>
            <a:ext cx="877163" cy="369332"/>
          </a:xfrm>
          <a:prstGeom prst="rect">
            <a:avLst/>
          </a:prstGeom>
          <a:noFill/>
        </p:spPr>
        <p:txBody>
          <a:bodyPr wrap="none" rtlCol="0">
            <a:spAutoFit/>
          </a:bodyPr>
          <a:lstStyle/>
          <a:p>
            <a:r>
              <a:rPr lang="zh-CN" altLang="en-US"/>
              <a:t>中长期</a:t>
            </a:r>
          </a:p>
        </p:txBody>
      </p:sp>
      <p:cxnSp>
        <p:nvCxnSpPr>
          <p:cNvPr id="26" name="Straight Arrow Connector 25">
            <a:extLst>
              <a:ext uri="{FF2B5EF4-FFF2-40B4-BE49-F238E27FC236}">
                <a16:creationId xmlns:a16="http://schemas.microsoft.com/office/drawing/2014/main" id="{601AE609-7AD9-FEC4-D364-B146415B676C}"/>
              </a:ext>
            </a:extLst>
          </p:cNvPr>
          <p:cNvCxnSpPr>
            <a:stCxn id="22" idx="3"/>
            <a:endCxn id="16" idx="1"/>
          </p:cNvCxnSpPr>
          <p:nvPr/>
        </p:nvCxnSpPr>
        <p:spPr>
          <a:xfrm flipV="1">
            <a:off x="8304585" y="2842069"/>
            <a:ext cx="958293" cy="393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34694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55A89-383F-D7DE-49EB-516143BAE06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AFA46C6-529A-1FB0-2DCA-2FDF71E11B79}"/>
              </a:ext>
            </a:extLst>
          </p:cNvPr>
          <p:cNvSpPr>
            <a:spLocks noGrp="1"/>
          </p:cNvSpPr>
          <p:nvPr>
            <p:ph type="title"/>
          </p:nvPr>
        </p:nvSpPr>
        <p:spPr>
          <a:xfrm>
            <a:off x="792000" y="360000"/>
            <a:ext cx="6375921" cy="429413"/>
          </a:xfrm>
        </p:spPr>
        <p:txBody>
          <a:bodyPr>
            <a:normAutofit/>
          </a:bodyPr>
          <a:lstStyle/>
          <a:p>
            <a:r>
              <a:rPr lang="en-US" altLang="zh-CN"/>
              <a:t>1.5 </a:t>
            </a:r>
            <a:r>
              <a:rPr lang="zh-CN" altLang="en-US"/>
              <a:t>软件项目</a:t>
            </a:r>
          </a:p>
        </p:txBody>
      </p:sp>
      <p:sp>
        <p:nvSpPr>
          <p:cNvPr id="3" name="内容占位符 2">
            <a:extLst>
              <a:ext uri="{FF2B5EF4-FFF2-40B4-BE49-F238E27FC236}">
                <a16:creationId xmlns:a16="http://schemas.microsoft.com/office/drawing/2014/main" id="{01135036-3A8E-2545-5B7E-39C1D659629A}"/>
              </a:ext>
            </a:extLst>
          </p:cNvPr>
          <p:cNvSpPr>
            <a:spLocks noGrp="1"/>
          </p:cNvSpPr>
          <p:nvPr>
            <p:ph idx="1"/>
          </p:nvPr>
        </p:nvSpPr>
        <p:spPr>
          <a:xfrm>
            <a:off x="696000" y="864000"/>
            <a:ext cx="10800000" cy="5400000"/>
          </a:xfrm>
        </p:spPr>
        <p:txBody>
          <a:bodyPr>
            <a:normAutofit/>
          </a:bodyPr>
          <a:lstStyle/>
          <a:p>
            <a:r>
              <a:rPr lang="zh-CN" altLang="en-US"/>
              <a:t>含义 </a:t>
            </a:r>
            <a:r>
              <a:rPr lang="en-US" altLang="zh-CN"/>
              <a:t>Concept</a:t>
            </a:r>
          </a:p>
          <a:p>
            <a:pPr lvl="1"/>
            <a:r>
              <a:rPr lang="zh-CN" altLang="en-US"/>
              <a:t>计算机程序以及说明程序的各种文档</a:t>
            </a:r>
            <a:endParaRPr lang="en-US" altLang="zh-CN"/>
          </a:p>
          <a:p>
            <a:r>
              <a:rPr lang="zh-CN" altLang="en-US"/>
              <a:t>组成要素 </a:t>
            </a:r>
            <a:r>
              <a:rPr lang="en-US" altLang="zh-CN"/>
              <a:t>Component</a:t>
            </a:r>
          </a:p>
          <a:p>
            <a:pPr lvl="1"/>
            <a:r>
              <a:rPr lang="zh-CN" altLang="en-US"/>
              <a:t>程序</a:t>
            </a:r>
            <a:endParaRPr lang="en-US" altLang="zh-CN"/>
          </a:p>
          <a:p>
            <a:pPr lvl="1"/>
            <a:r>
              <a:rPr lang="zh-CN" altLang="en-US"/>
              <a:t>数据</a:t>
            </a:r>
            <a:endParaRPr lang="en-US" altLang="zh-CN"/>
          </a:p>
          <a:p>
            <a:pPr lvl="1"/>
            <a:r>
              <a:rPr lang="zh-CN" altLang="en-US"/>
              <a:t>相关文档</a:t>
            </a:r>
            <a:endParaRPr lang="en-US" altLang="zh-CN"/>
          </a:p>
          <a:p>
            <a:r>
              <a:rPr lang="zh-CN" altLang="en-US"/>
              <a:t>特点 </a:t>
            </a:r>
            <a:r>
              <a:rPr lang="en-US" altLang="zh-CN"/>
              <a:t>Feature</a:t>
            </a:r>
          </a:p>
          <a:p>
            <a:pPr lvl="1"/>
            <a:r>
              <a:rPr lang="zh-CN" altLang="en-US"/>
              <a:t>逻辑实体</a:t>
            </a:r>
            <a:endParaRPr lang="en-US" altLang="zh-CN"/>
          </a:p>
          <a:p>
            <a:pPr lvl="1"/>
            <a:r>
              <a:rPr lang="zh-CN" altLang="en-US"/>
              <a:t>同硬件相比，没有生产、磨损和老化</a:t>
            </a:r>
            <a:endParaRPr lang="en-US" altLang="zh-CN"/>
          </a:p>
          <a:p>
            <a:pPr lvl="1"/>
            <a:r>
              <a:rPr lang="zh-CN" altLang="en-US"/>
              <a:t>开发受计算机系统限制</a:t>
            </a:r>
            <a:endParaRPr lang="en-US" altLang="zh-CN"/>
          </a:p>
          <a:p>
            <a:pPr lvl="1"/>
            <a:r>
              <a:rPr lang="zh-CN" altLang="en-US"/>
              <a:t>技术复杂、更新迭代快</a:t>
            </a:r>
            <a:endParaRPr lang="en-US" altLang="zh-CN"/>
          </a:p>
          <a:p>
            <a:pPr lvl="1"/>
            <a:r>
              <a:rPr lang="zh-CN" altLang="en-US"/>
              <a:t>开发成本低和学习成本高</a:t>
            </a:r>
            <a:endParaRPr lang="en-US" altLang="zh-CN"/>
          </a:p>
          <a:p>
            <a:pPr lvl="1"/>
            <a:r>
              <a:rPr lang="zh-CN" altLang="en-US"/>
              <a:t>涉及多方面因素</a:t>
            </a:r>
            <a:endParaRPr lang="en-US" altLang="zh-CN"/>
          </a:p>
          <a:p>
            <a:pPr lvl="1"/>
            <a:r>
              <a:rPr lang="zh-CN" altLang="en-US"/>
              <a:t>在</a:t>
            </a:r>
            <a:r>
              <a:rPr lang="en-US" altLang="zh-CN"/>
              <a:t>AI</a:t>
            </a:r>
            <a:r>
              <a:rPr lang="zh-CN" altLang="en-US"/>
              <a:t>盛行的当下，仍然严重依赖人工</a:t>
            </a:r>
            <a:endParaRPr lang="en-US" altLang="zh-CN"/>
          </a:p>
          <a:p>
            <a:pPr lvl="1"/>
            <a:endParaRPr lang="zh-CN" altLang="en-US"/>
          </a:p>
        </p:txBody>
      </p:sp>
      <p:sp>
        <p:nvSpPr>
          <p:cNvPr id="6" name="Text Placeholder 5">
            <a:extLst>
              <a:ext uri="{FF2B5EF4-FFF2-40B4-BE49-F238E27FC236}">
                <a16:creationId xmlns:a16="http://schemas.microsoft.com/office/drawing/2014/main" id="{37432D34-A6C8-90EA-7648-62E3CAE31000}"/>
              </a:ext>
            </a:extLst>
          </p:cNvPr>
          <p:cNvSpPr>
            <a:spLocks noGrp="1"/>
          </p:cNvSpPr>
          <p:nvPr>
            <p:ph type="body" sz="quarter" idx="10"/>
          </p:nvPr>
        </p:nvSpPr>
        <p:spPr>
          <a:xfrm>
            <a:off x="7071919" y="448519"/>
            <a:ext cx="4424080" cy="338554"/>
          </a:xfrm>
        </p:spPr>
        <p:txBody>
          <a:bodyPr/>
          <a:lstStyle/>
          <a:p>
            <a:r>
              <a:rPr lang="en-US" altLang="zh-CN"/>
              <a:t>Software</a:t>
            </a:r>
            <a:r>
              <a:rPr lang="zh-CN" altLang="en-US"/>
              <a:t> </a:t>
            </a:r>
            <a:r>
              <a:rPr lang="en-US" altLang="zh-CN"/>
              <a:t>Project</a:t>
            </a:r>
            <a:endParaRPr lang="zh-CN" altLang="en-US"/>
          </a:p>
        </p:txBody>
      </p:sp>
    </p:spTree>
    <p:extLst>
      <p:ext uri="{BB962C8B-B14F-4D97-AF65-F5344CB8AC3E}">
        <p14:creationId xmlns:p14="http://schemas.microsoft.com/office/powerpoint/2010/main" val="491549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B0EC0-BB17-5319-2406-1157E8086EC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B7D487E-8186-0097-11B9-C73C618B5A2D}"/>
              </a:ext>
            </a:extLst>
          </p:cNvPr>
          <p:cNvSpPr>
            <a:spLocks noGrp="1"/>
          </p:cNvSpPr>
          <p:nvPr>
            <p:ph type="title"/>
          </p:nvPr>
        </p:nvSpPr>
        <p:spPr>
          <a:xfrm>
            <a:off x="792000" y="360000"/>
            <a:ext cx="6375921" cy="429413"/>
          </a:xfrm>
        </p:spPr>
        <p:txBody>
          <a:bodyPr>
            <a:normAutofit/>
          </a:bodyPr>
          <a:lstStyle/>
          <a:p>
            <a:r>
              <a:rPr lang="en-US" altLang="zh-CN"/>
              <a:t>1.5 </a:t>
            </a:r>
            <a:r>
              <a:rPr lang="zh-CN" altLang="en-US"/>
              <a:t>软件项目</a:t>
            </a:r>
          </a:p>
        </p:txBody>
      </p:sp>
      <p:sp>
        <p:nvSpPr>
          <p:cNvPr id="3" name="内容占位符 2">
            <a:extLst>
              <a:ext uri="{FF2B5EF4-FFF2-40B4-BE49-F238E27FC236}">
                <a16:creationId xmlns:a16="http://schemas.microsoft.com/office/drawing/2014/main" id="{6142ECA3-5E8F-BFCA-108A-D4503FE349DF}"/>
              </a:ext>
            </a:extLst>
          </p:cNvPr>
          <p:cNvSpPr>
            <a:spLocks noGrp="1"/>
          </p:cNvSpPr>
          <p:nvPr>
            <p:ph idx="1"/>
          </p:nvPr>
        </p:nvSpPr>
        <p:spPr>
          <a:xfrm>
            <a:off x="696000" y="864000"/>
            <a:ext cx="10800000" cy="5400000"/>
          </a:xfrm>
        </p:spPr>
        <p:txBody>
          <a:bodyPr>
            <a:normAutofit/>
          </a:bodyPr>
          <a:lstStyle/>
          <a:p>
            <a:r>
              <a:rPr lang="zh-CN" altLang="en-US"/>
              <a:t>制约 </a:t>
            </a:r>
            <a:r>
              <a:rPr lang="en-US" altLang="zh-CN"/>
              <a:t>Constrain</a:t>
            </a:r>
          </a:p>
          <a:p>
            <a:pPr lvl="1"/>
            <a:r>
              <a:rPr lang="zh-CN" altLang="en-US"/>
              <a:t>项目范围 </a:t>
            </a:r>
            <a:r>
              <a:rPr lang="en-US" altLang="zh-CN"/>
              <a:t>Scope</a:t>
            </a:r>
          </a:p>
          <a:p>
            <a:pPr lvl="1"/>
            <a:r>
              <a:rPr lang="zh-CN" altLang="en-US"/>
              <a:t>进度计划 </a:t>
            </a:r>
            <a:r>
              <a:rPr lang="en-US" altLang="zh-CN"/>
              <a:t>Schedule / Time</a:t>
            </a:r>
          </a:p>
          <a:p>
            <a:pPr lvl="1"/>
            <a:r>
              <a:rPr lang="zh-CN" altLang="en-US"/>
              <a:t>成本 </a:t>
            </a:r>
            <a:r>
              <a:rPr lang="en-US" altLang="zh-CN"/>
              <a:t>Cost / Budget</a:t>
            </a:r>
          </a:p>
          <a:p>
            <a:pPr lvl="1"/>
            <a:r>
              <a:rPr lang="zh-CN" altLang="en-US"/>
              <a:t>用户满意度 </a:t>
            </a:r>
            <a:r>
              <a:rPr lang="en-US" altLang="zh-CN"/>
              <a:t>User Satisfaction / Quality</a:t>
            </a:r>
            <a:endParaRPr lang="zh-CN" altLang="en-US"/>
          </a:p>
        </p:txBody>
      </p:sp>
      <p:sp>
        <p:nvSpPr>
          <p:cNvPr id="6" name="Text Placeholder 5">
            <a:extLst>
              <a:ext uri="{FF2B5EF4-FFF2-40B4-BE49-F238E27FC236}">
                <a16:creationId xmlns:a16="http://schemas.microsoft.com/office/drawing/2014/main" id="{B8115DE6-6377-94AA-C8C8-4DE879DC571E}"/>
              </a:ext>
            </a:extLst>
          </p:cNvPr>
          <p:cNvSpPr>
            <a:spLocks noGrp="1"/>
          </p:cNvSpPr>
          <p:nvPr>
            <p:ph type="body" sz="quarter" idx="10"/>
          </p:nvPr>
        </p:nvSpPr>
        <p:spPr>
          <a:xfrm>
            <a:off x="7071919" y="448519"/>
            <a:ext cx="4424080" cy="338554"/>
          </a:xfrm>
        </p:spPr>
        <p:txBody>
          <a:bodyPr/>
          <a:lstStyle/>
          <a:p>
            <a:r>
              <a:rPr lang="en-US" altLang="zh-CN"/>
              <a:t>Software</a:t>
            </a:r>
            <a:r>
              <a:rPr lang="zh-CN" altLang="en-US"/>
              <a:t> </a:t>
            </a:r>
            <a:r>
              <a:rPr lang="en-US" altLang="zh-CN"/>
              <a:t>Project</a:t>
            </a:r>
            <a:endParaRPr lang="zh-CN" altLang="en-US"/>
          </a:p>
        </p:txBody>
      </p:sp>
      <p:graphicFrame>
        <p:nvGraphicFramePr>
          <p:cNvPr id="10" name="Chart 9">
            <a:extLst>
              <a:ext uri="{FF2B5EF4-FFF2-40B4-BE49-F238E27FC236}">
                <a16:creationId xmlns:a16="http://schemas.microsoft.com/office/drawing/2014/main" id="{D05A59A4-3BCC-F06D-15DD-9D42016DE20B}"/>
              </a:ext>
            </a:extLst>
          </p:cNvPr>
          <p:cNvGraphicFramePr/>
          <p:nvPr>
            <p:extLst>
              <p:ext uri="{D42A27DB-BD31-4B8C-83A1-F6EECF244321}">
                <p14:modId xmlns:p14="http://schemas.microsoft.com/office/powerpoint/2010/main" val="3478859134"/>
              </p:ext>
            </p:extLst>
          </p:nvPr>
        </p:nvGraphicFramePr>
        <p:xfrm>
          <a:off x="3521435" y="863600"/>
          <a:ext cx="8128000" cy="541866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9240665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FD235-02CA-3A0B-ECB6-086E93AE7FD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9243C01-BD0E-F31B-FD1B-7BC436A640D2}"/>
              </a:ext>
            </a:extLst>
          </p:cNvPr>
          <p:cNvSpPr>
            <a:spLocks noGrp="1"/>
          </p:cNvSpPr>
          <p:nvPr>
            <p:ph type="title"/>
          </p:nvPr>
        </p:nvSpPr>
        <p:spPr>
          <a:xfrm>
            <a:off x="792000" y="360000"/>
            <a:ext cx="6375921" cy="429413"/>
          </a:xfrm>
        </p:spPr>
        <p:txBody>
          <a:bodyPr>
            <a:normAutofit/>
          </a:bodyPr>
          <a:lstStyle/>
          <a:p>
            <a:r>
              <a:rPr lang="en-US" altLang="zh-CN"/>
              <a:t>1.5 </a:t>
            </a:r>
            <a:r>
              <a:rPr lang="zh-CN" altLang="en-US"/>
              <a:t>软件项目</a:t>
            </a:r>
          </a:p>
        </p:txBody>
      </p:sp>
      <p:sp>
        <p:nvSpPr>
          <p:cNvPr id="3" name="内容占位符 2">
            <a:extLst>
              <a:ext uri="{FF2B5EF4-FFF2-40B4-BE49-F238E27FC236}">
                <a16:creationId xmlns:a16="http://schemas.microsoft.com/office/drawing/2014/main" id="{A1606CA1-6411-FE3D-47A2-4EFF1D356E14}"/>
              </a:ext>
            </a:extLst>
          </p:cNvPr>
          <p:cNvSpPr>
            <a:spLocks noGrp="1"/>
          </p:cNvSpPr>
          <p:nvPr>
            <p:ph idx="1"/>
          </p:nvPr>
        </p:nvSpPr>
        <p:spPr>
          <a:xfrm>
            <a:off x="696000" y="864000"/>
            <a:ext cx="10800000" cy="5400000"/>
          </a:xfrm>
        </p:spPr>
        <p:txBody>
          <a:bodyPr>
            <a:normAutofit/>
          </a:bodyPr>
          <a:lstStyle/>
          <a:p>
            <a:r>
              <a:rPr lang="zh-CN" altLang="en-US"/>
              <a:t>趋势 </a:t>
            </a:r>
            <a:r>
              <a:rPr lang="en-US" altLang="zh-CN"/>
              <a:t>Trend</a:t>
            </a:r>
          </a:p>
          <a:p>
            <a:pPr lvl="1"/>
            <a:r>
              <a:rPr lang="zh-CN" altLang="en-US"/>
              <a:t>当前软件项目开发正从“本地部署、一次性交付”转向“云端托管、持续迭代、服务化运营”</a:t>
            </a:r>
            <a:endParaRPr lang="en-US" altLang="zh-CN"/>
          </a:p>
          <a:p>
            <a:pPr lvl="1"/>
            <a:r>
              <a:rPr lang="en-US" altLang="zh-CN"/>
              <a:t>SaaS + Cloud </a:t>
            </a:r>
            <a:r>
              <a:rPr lang="zh-CN" altLang="en-US"/>
              <a:t>已成主流范式，推动软件产业向更灵活、高效、智能的方向演进</a:t>
            </a:r>
            <a:endParaRPr lang="en-US" altLang="zh-CN"/>
          </a:p>
          <a:p>
            <a:pPr lvl="1"/>
            <a:r>
              <a:rPr lang="zh-CN" altLang="en-US"/>
              <a:t>基于云平台构建 </a:t>
            </a:r>
            <a:r>
              <a:rPr lang="en-US" altLang="zh-CN"/>
              <a:t>SaaS </a:t>
            </a:r>
            <a:r>
              <a:rPr lang="zh-CN" altLang="en-US"/>
              <a:t>应用，实现“开箱即用、按需付费、全球可达”</a:t>
            </a:r>
          </a:p>
        </p:txBody>
      </p:sp>
      <p:sp>
        <p:nvSpPr>
          <p:cNvPr id="6" name="Text Placeholder 5">
            <a:extLst>
              <a:ext uri="{FF2B5EF4-FFF2-40B4-BE49-F238E27FC236}">
                <a16:creationId xmlns:a16="http://schemas.microsoft.com/office/drawing/2014/main" id="{3EDAD5E0-EF5D-E234-BE8D-5E5CC51B74E6}"/>
              </a:ext>
            </a:extLst>
          </p:cNvPr>
          <p:cNvSpPr>
            <a:spLocks noGrp="1"/>
          </p:cNvSpPr>
          <p:nvPr>
            <p:ph type="body" sz="quarter" idx="10"/>
          </p:nvPr>
        </p:nvSpPr>
        <p:spPr>
          <a:xfrm>
            <a:off x="7071919" y="448519"/>
            <a:ext cx="4424080" cy="338554"/>
          </a:xfrm>
        </p:spPr>
        <p:txBody>
          <a:bodyPr/>
          <a:lstStyle/>
          <a:p>
            <a:r>
              <a:rPr lang="en-US" altLang="zh-CN"/>
              <a:t>Software</a:t>
            </a:r>
            <a:r>
              <a:rPr lang="zh-CN" altLang="en-US"/>
              <a:t> </a:t>
            </a:r>
            <a:r>
              <a:rPr lang="en-US" altLang="zh-CN"/>
              <a:t>Project</a:t>
            </a:r>
            <a:endParaRPr lang="zh-CN" altLang="en-US"/>
          </a:p>
        </p:txBody>
      </p:sp>
      <p:graphicFrame>
        <p:nvGraphicFramePr>
          <p:cNvPr id="9" name="Table 8">
            <a:extLst>
              <a:ext uri="{FF2B5EF4-FFF2-40B4-BE49-F238E27FC236}">
                <a16:creationId xmlns:a16="http://schemas.microsoft.com/office/drawing/2014/main" id="{DD8FB6FC-37BC-85DD-7A4C-F4959AC19B62}"/>
              </a:ext>
            </a:extLst>
          </p:cNvPr>
          <p:cNvGraphicFramePr>
            <a:graphicFrameLocks noGrp="1"/>
          </p:cNvGraphicFramePr>
          <p:nvPr>
            <p:extLst>
              <p:ext uri="{D42A27DB-BD31-4B8C-83A1-F6EECF244321}">
                <p14:modId xmlns:p14="http://schemas.microsoft.com/office/powerpoint/2010/main" val="1721802087"/>
              </p:ext>
            </p:extLst>
          </p:nvPr>
        </p:nvGraphicFramePr>
        <p:xfrm>
          <a:off x="695325" y="3431209"/>
          <a:ext cx="10801350" cy="2072640"/>
        </p:xfrm>
        <a:graphic>
          <a:graphicData uri="http://schemas.openxmlformats.org/drawingml/2006/table">
            <a:tbl>
              <a:tblPr/>
              <a:tblGrid>
                <a:gridCol w="709269">
                  <a:extLst>
                    <a:ext uri="{9D8B030D-6E8A-4147-A177-3AD203B41FA5}">
                      <a16:colId xmlns:a16="http://schemas.microsoft.com/office/drawing/2014/main" val="1501163733"/>
                    </a:ext>
                  </a:extLst>
                </a:gridCol>
                <a:gridCol w="2950590">
                  <a:extLst>
                    <a:ext uri="{9D8B030D-6E8A-4147-A177-3AD203B41FA5}">
                      <a16:colId xmlns:a16="http://schemas.microsoft.com/office/drawing/2014/main" val="2025283877"/>
                    </a:ext>
                  </a:extLst>
                </a:gridCol>
                <a:gridCol w="1659117">
                  <a:extLst>
                    <a:ext uri="{9D8B030D-6E8A-4147-A177-3AD203B41FA5}">
                      <a16:colId xmlns:a16="http://schemas.microsoft.com/office/drawing/2014/main" val="173135749"/>
                    </a:ext>
                  </a:extLst>
                </a:gridCol>
                <a:gridCol w="3544478">
                  <a:extLst>
                    <a:ext uri="{9D8B030D-6E8A-4147-A177-3AD203B41FA5}">
                      <a16:colId xmlns:a16="http://schemas.microsoft.com/office/drawing/2014/main" val="974387085"/>
                    </a:ext>
                  </a:extLst>
                </a:gridCol>
                <a:gridCol w="1937896">
                  <a:extLst>
                    <a:ext uri="{9D8B030D-6E8A-4147-A177-3AD203B41FA5}">
                      <a16:colId xmlns:a16="http://schemas.microsoft.com/office/drawing/2014/main" val="2492545226"/>
                    </a:ext>
                  </a:extLst>
                </a:gridCol>
              </a:tblGrid>
              <a:tr h="0">
                <a:tc>
                  <a:txBody>
                    <a:bodyPr/>
                    <a:lstStyle/>
                    <a:p>
                      <a:pPr algn="l">
                        <a:lnSpc>
                          <a:spcPct val="100000"/>
                        </a:lnSpc>
                        <a:buNone/>
                      </a:pPr>
                      <a:r>
                        <a:rPr lang="en-US" altLang="zh-CN" sz="1600" dirty="0">
                          <a:solidFill>
                            <a:schemeClr val="bg1"/>
                          </a:solidFill>
                        </a:rPr>
                        <a:t>Item</a:t>
                      </a:r>
                      <a:endParaRPr lang="zh-CN" altLang="en-US" sz="16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lnSpc>
                          <a:spcPct val="100000"/>
                        </a:lnSpc>
                        <a:buNone/>
                      </a:pPr>
                      <a:r>
                        <a:rPr lang="en-US" altLang="zh-CN" sz="1600" dirty="0">
                          <a:solidFill>
                            <a:schemeClr val="bg1"/>
                          </a:solidFill>
                        </a:rPr>
                        <a:t>English</a:t>
                      </a:r>
                      <a:endParaRPr lang="zh-CN" altLang="en-US" sz="16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lnSpc>
                          <a:spcPct val="100000"/>
                        </a:lnSpc>
                        <a:buNone/>
                      </a:pPr>
                      <a:r>
                        <a:rPr lang="en-US" altLang="zh-CN" sz="1600" dirty="0">
                          <a:solidFill>
                            <a:schemeClr val="bg1"/>
                          </a:solidFill>
                        </a:rPr>
                        <a:t>Chinese</a:t>
                      </a:r>
                      <a:endParaRPr lang="zh-CN" altLang="en-US" sz="16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lnSpc>
                          <a:spcPct val="100000"/>
                        </a:lnSpc>
                        <a:buNone/>
                      </a:pPr>
                      <a:r>
                        <a:rPr lang="en-US" altLang="zh-CN" sz="1600" dirty="0">
                          <a:solidFill>
                            <a:schemeClr val="bg1"/>
                          </a:solidFill>
                        </a:rPr>
                        <a:t>Description</a:t>
                      </a:r>
                      <a:endParaRPr lang="zh-CN" altLang="en-US" sz="16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lnSpc>
                          <a:spcPct val="100000"/>
                        </a:lnSpc>
                        <a:buNone/>
                      </a:pPr>
                      <a:r>
                        <a:rPr lang="en-US" altLang="zh-CN" sz="1600" dirty="0">
                          <a:solidFill>
                            <a:schemeClr val="bg1"/>
                          </a:solidFill>
                        </a:rPr>
                        <a:t>Relevant</a:t>
                      </a:r>
                      <a:endParaRPr lang="zh-CN" altLang="en-US" sz="16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3784947567"/>
                  </a:ext>
                </a:extLst>
              </a:tr>
              <a:tr h="0">
                <a:tc>
                  <a:txBody>
                    <a:bodyPr/>
                    <a:lstStyle/>
                    <a:p>
                      <a:pPr algn="l">
                        <a:lnSpc>
                          <a:spcPct val="100000"/>
                        </a:lnSpc>
                        <a:buNone/>
                      </a:pPr>
                      <a:r>
                        <a:rPr lang="en-US" sz="1600"/>
                        <a:t>IaaS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en-US" sz="1600"/>
                        <a:t>Infrastructure as a Service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zh-CN" altLang="en-US" sz="1600"/>
                        <a:t>基础设施即服务</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zh-CN" altLang="en-US" sz="1600"/>
                        <a:t>提供虚拟机、存储、网络等底层资源（如 </a:t>
                      </a:r>
                      <a:r>
                        <a:rPr lang="en-US" altLang="zh-CN" sz="1600"/>
                        <a:t>AWS EC2</a:t>
                      </a:r>
                      <a:r>
                        <a:rPr lang="zh-CN" altLang="en-US" sz="1600"/>
                        <a:t>、阿里云 </a:t>
                      </a:r>
                      <a:r>
                        <a:rPr lang="en-US" altLang="zh-CN" sz="1600"/>
                        <a:t>ECS</a:t>
                      </a:r>
                      <a:r>
                        <a:rPr lang="zh-CN" altLang="en-US" sz="16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fi-FI" sz="1600"/>
                        <a:t>SaaS 可构建在 IaaS 之上</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9741195"/>
                  </a:ext>
                </a:extLst>
              </a:tr>
              <a:tr h="0">
                <a:tc>
                  <a:txBody>
                    <a:bodyPr/>
                    <a:lstStyle/>
                    <a:p>
                      <a:pPr algn="l">
                        <a:lnSpc>
                          <a:spcPct val="100000"/>
                        </a:lnSpc>
                        <a:buNone/>
                      </a:pPr>
                      <a:r>
                        <a:rPr lang="en-US" sz="1600"/>
                        <a:t>PaaS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en-US" sz="1600"/>
                        <a:t>Platform as a Service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zh-CN" altLang="en-US" sz="1600"/>
                        <a:t>平台即服务</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zh-CN" altLang="en-US" sz="1600"/>
                        <a:t>提供开发、部署、运行环境（如 </a:t>
                      </a:r>
                      <a:r>
                        <a:rPr lang="en-US" sz="1600"/>
                        <a:t>Google App </a:t>
                      </a:r>
                      <a:r>
                        <a:rPr lang="en-US" sz="1600" err="1"/>
                        <a:t>Engine、Heroku</a:t>
                      </a:r>
                      <a:r>
                        <a:rPr lang="en-US" sz="16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en-US" sz="1600"/>
                        <a:t>SaaS </a:t>
                      </a:r>
                      <a:r>
                        <a:rPr lang="zh-CN" altLang="en-US" sz="1600"/>
                        <a:t>开发者常使用 </a:t>
                      </a:r>
                      <a:r>
                        <a:rPr lang="en-US" sz="1600"/>
                        <a:t>PaaS </a:t>
                      </a:r>
                      <a:r>
                        <a:rPr lang="zh-CN" altLang="en-US" sz="1600"/>
                        <a:t>加速开发</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8938405"/>
                  </a:ext>
                </a:extLst>
              </a:tr>
              <a:tr h="0">
                <a:tc>
                  <a:txBody>
                    <a:bodyPr/>
                    <a:lstStyle/>
                    <a:p>
                      <a:pPr algn="l">
                        <a:lnSpc>
                          <a:spcPct val="100000"/>
                        </a:lnSpc>
                        <a:buNone/>
                      </a:pPr>
                      <a:r>
                        <a:rPr lang="en-US" sz="1600"/>
                        <a:t>SaaS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en-US" sz="1600"/>
                        <a:t>Software as a Service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zh-CN" altLang="en-US" sz="1600"/>
                        <a:t>软件即服务</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zh-CN" altLang="en-US" sz="1600"/>
                        <a:t>直接面向终端用户的完整应用（如钉钉、</a:t>
                      </a:r>
                      <a:r>
                        <a:rPr lang="en-US" sz="1600" err="1"/>
                        <a:t>Salesforce、Notion</a:t>
                      </a:r>
                      <a:r>
                        <a:rPr lang="en-US" sz="16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zh-CN" altLang="en-US" sz="1600" dirty="0"/>
                        <a:t>最终交付形态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86328283"/>
                  </a:ext>
                </a:extLst>
              </a:tr>
            </a:tbl>
          </a:graphicData>
        </a:graphic>
      </p:graphicFrame>
    </p:spTree>
    <p:extLst>
      <p:ext uri="{BB962C8B-B14F-4D97-AF65-F5344CB8AC3E}">
        <p14:creationId xmlns:p14="http://schemas.microsoft.com/office/powerpoint/2010/main" val="6663855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9AD81-6CD0-AAE9-D505-7F152FC27C3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12D2C0C-82AE-C704-3EFC-D814F05EB031}"/>
              </a:ext>
            </a:extLst>
          </p:cNvPr>
          <p:cNvSpPr>
            <a:spLocks noGrp="1"/>
          </p:cNvSpPr>
          <p:nvPr>
            <p:ph type="title"/>
          </p:nvPr>
        </p:nvSpPr>
        <p:spPr>
          <a:xfrm>
            <a:off x="792000" y="360000"/>
            <a:ext cx="6375921" cy="429413"/>
          </a:xfrm>
        </p:spPr>
        <p:txBody>
          <a:bodyPr>
            <a:normAutofit/>
          </a:bodyPr>
          <a:lstStyle/>
          <a:p>
            <a:r>
              <a:rPr lang="en-US" altLang="zh-CN"/>
              <a:t>1.5 </a:t>
            </a:r>
            <a:r>
              <a:rPr lang="zh-CN" altLang="en-US"/>
              <a:t>软件项目</a:t>
            </a:r>
          </a:p>
        </p:txBody>
      </p:sp>
      <p:sp>
        <p:nvSpPr>
          <p:cNvPr id="3" name="内容占位符 2">
            <a:extLst>
              <a:ext uri="{FF2B5EF4-FFF2-40B4-BE49-F238E27FC236}">
                <a16:creationId xmlns:a16="http://schemas.microsoft.com/office/drawing/2014/main" id="{EB7ECD50-255C-4ACA-46C8-3AA8293A33CA}"/>
              </a:ext>
            </a:extLst>
          </p:cNvPr>
          <p:cNvSpPr>
            <a:spLocks noGrp="1"/>
          </p:cNvSpPr>
          <p:nvPr>
            <p:ph idx="1"/>
          </p:nvPr>
        </p:nvSpPr>
        <p:spPr>
          <a:xfrm>
            <a:off x="696000" y="864000"/>
            <a:ext cx="10800000" cy="5400000"/>
          </a:xfrm>
        </p:spPr>
        <p:txBody>
          <a:bodyPr>
            <a:normAutofit/>
          </a:bodyPr>
          <a:lstStyle/>
          <a:p>
            <a:r>
              <a:rPr lang="zh-CN" altLang="en-US"/>
              <a:t>例子 </a:t>
            </a:r>
            <a:r>
              <a:rPr lang="en-US" altLang="zh-CN"/>
              <a:t>Example</a:t>
            </a:r>
          </a:p>
          <a:p>
            <a:pPr lvl="1"/>
            <a:r>
              <a:rPr lang="zh-CN" altLang="en-US"/>
              <a:t>本地 </a:t>
            </a:r>
            <a:r>
              <a:rPr lang="en-US" altLang="zh-CN"/>
              <a:t>IDE vs </a:t>
            </a:r>
            <a:r>
              <a:rPr lang="zh-CN" altLang="en-US"/>
              <a:t>云开发；</a:t>
            </a:r>
            <a:r>
              <a:rPr lang="en-US" altLang="zh-CN" err="1">
                <a:hlinkClick r:id="rId3"/>
              </a:rPr>
              <a:t>CodePen</a:t>
            </a:r>
            <a:endParaRPr lang="en-US" altLang="zh-CN"/>
          </a:p>
          <a:p>
            <a:pPr lvl="1"/>
            <a:r>
              <a:rPr lang="en-US" altLang="zh-CN"/>
              <a:t>DIY </a:t>
            </a:r>
            <a:r>
              <a:rPr lang="zh-CN" altLang="en-US"/>
              <a:t>自建服务器 </a:t>
            </a:r>
            <a:r>
              <a:rPr lang="en-US" altLang="zh-CN"/>
              <a:t>vs </a:t>
            </a:r>
            <a:r>
              <a:rPr lang="zh-CN" altLang="en-US"/>
              <a:t>云服务器；阿里云 </a:t>
            </a:r>
            <a:r>
              <a:rPr lang="en-US" altLang="zh-CN"/>
              <a:t>ECS</a:t>
            </a:r>
            <a:r>
              <a:rPr lang="zh-CN" altLang="en-US"/>
              <a:t>，腾讯云 </a:t>
            </a:r>
            <a:r>
              <a:rPr lang="en-US" altLang="zh-CN"/>
              <a:t>CVM</a:t>
            </a:r>
            <a:r>
              <a:rPr lang="zh-CN" altLang="en-US"/>
              <a:t>，亚马逊 </a:t>
            </a:r>
            <a:r>
              <a:rPr lang="en-US" altLang="zh-CN"/>
              <a:t>AWS</a:t>
            </a:r>
          </a:p>
          <a:p>
            <a:pPr lvl="1"/>
            <a:r>
              <a:rPr lang="zh-CN" altLang="en-US"/>
              <a:t>传统办公</a:t>
            </a:r>
            <a:r>
              <a:rPr lang="en-US" altLang="zh-CN"/>
              <a:t> vs OA</a:t>
            </a:r>
            <a:r>
              <a:rPr lang="zh-CN" altLang="en-US"/>
              <a:t>；腾讯文档、金山文档、钉钉、飞书</a:t>
            </a:r>
            <a:endParaRPr lang="en-US" altLang="zh-CN"/>
          </a:p>
          <a:p>
            <a:pPr lvl="1"/>
            <a:r>
              <a:rPr lang="zh-CN" altLang="en-US"/>
              <a:t>其它：</a:t>
            </a:r>
            <a:r>
              <a:rPr lang="en-US" altLang="zh-CN" err="1">
                <a:hlinkClick r:id="rId4"/>
              </a:rPr>
              <a:t>Supabase</a:t>
            </a:r>
            <a:r>
              <a:rPr lang="zh-CN" altLang="en-US"/>
              <a:t>、</a:t>
            </a:r>
            <a:r>
              <a:rPr lang="en-US" altLang="zh-CN">
                <a:hlinkClick r:id="rId5"/>
              </a:rPr>
              <a:t>GitHub</a:t>
            </a:r>
            <a:r>
              <a:rPr lang="en-US" altLang="zh-CN"/>
              <a:t> </a:t>
            </a:r>
            <a:endParaRPr lang="zh-CN" altLang="en-US"/>
          </a:p>
        </p:txBody>
      </p:sp>
      <p:sp>
        <p:nvSpPr>
          <p:cNvPr id="6" name="Text Placeholder 5">
            <a:extLst>
              <a:ext uri="{FF2B5EF4-FFF2-40B4-BE49-F238E27FC236}">
                <a16:creationId xmlns:a16="http://schemas.microsoft.com/office/drawing/2014/main" id="{947A0081-5B87-9EF4-D707-215ABC88F643}"/>
              </a:ext>
            </a:extLst>
          </p:cNvPr>
          <p:cNvSpPr>
            <a:spLocks noGrp="1"/>
          </p:cNvSpPr>
          <p:nvPr>
            <p:ph type="body" sz="quarter" idx="10"/>
          </p:nvPr>
        </p:nvSpPr>
        <p:spPr>
          <a:xfrm>
            <a:off x="7071919" y="448519"/>
            <a:ext cx="4424080" cy="338554"/>
          </a:xfrm>
        </p:spPr>
        <p:txBody>
          <a:bodyPr/>
          <a:lstStyle/>
          <a:p>
            <a:r>
              <a:rPr lang="en-US" altLang="zh-CN"/>
              <a:t>Software</a:t>
            </a:r>
            <a:r>
              <a:rPr lang="zh-CN" altLang="en-US"/>
              <a:t> </a:t>
            </a:r>
            <a:r>
              <a:rPr lang="en-US" altLang="zh-CN"/>
              <a:t>Project</a:t>
            </a:r>
            <a:endParaRPr lang="zh-CN" altLang="en-US"/>
          </a:p>
        </p:txBody>
      </p:sp>
      <p:sp>
        <p:nvSpPr>
          <p:cNvPr id="8" name="文本框 5">
            <a:extLst>
              <a:ext uri="{FF2B5EF4-FFF2-40B4-BE49-F238E27FC236}">
                <a16:creationId xmlns:a16="http://schemas.microsoft.com/office/drawing/2014/main" id="{3BD2AB02-51EA-BF22-8A24-54B89CE6447E}"/>
              </a:ext>
            </a:extLst>
          </p:cNvPr>
          <p:cNvSpPr txBox="1"/>
          <p:nvPr/>
        </p:nvSpPr>
        <p:spPr>
          <a:xfrm>
            <a:off x="696000" y="5044359"/>
            <a:ext cx="10800001" cy="1147705"/>
          </a:xfrm>
          <a:prstGeom prst="rect">
            <a:avLst/>
          </a:prstGeom>
          <a:solidFill>
            <a:srgbClr val="00B0F0"/>
          </a:solidFill>
        </p:spPr>
        <p:txBody>
          <a:bodyPr wrap="square" lIns="180000" tIns="180000" rIns="180000" bIns="180000" rtlCol="0">
            <a:spAutoFit/>
          </a:bodyPr>
          <a:lstStyle/>
          <a:p>
            <a:pPr>
              <a:lnSpc>
                <a:spcPct val="150000"/>
              </a:lnSpc>
            </a:pPr>
            <a:r>
              <a:rPr lang="zh-CN" altLang="en-US">
                <a:solidFill>
                  <a:schemeClr val="bg1"/>
                </a:solidFill>
              </a:rPr>
              <a:t>没有必要为了喝口奶而养一头牛</a:t>
            </a:r>
            <a:endParaRPr lang="en-US" altLang="zh-CN">
              <a:solidFill>
                <a:schemeClr val="bg1"/>
              </a:solidFill>
            </a:endParaRPr>
          </a:p>
          <a:p>
            <a:pPr>
              <a:lnSpc>
                <a:spcPct val="150000"/>
              </a:lnSpc>
            </a:pPr>
            <a:r>
              <a:rPr lang="en-US" altLang="zh-CN">
                <a:solidFill>
                  <a:schemeClr val="bg1"/>
                </a:solidFill>
              </a:rPr>
              <a:t>Why buy the cow when you only need the milk?</a:t>
            </a:r>
          </a:p>
        </p:txBody>
      </p:sp>
    </p:spTree>
    <p:extLst>
      <p:ext uri="{BB962C8B-B14F-4D97-AF65-F5344CB8AC3E}">
        <p14:creationId xmlns:p14="http://schemas.microsoft.com/office/powerpoint/2010/main" val="1398073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E069F-4CA2-41F5-36C6-99433EBD71E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BDA507A-9715-EA8B-0263-3F4F7C64C512}"/>
              </a:ext>
            </a:extLst>
          </p:cNvPr>
          <p:cNvSpPr>
            <a:spLocks noGrp="1"/>
          </p:cNvSpPr>
          <p:nvPr>
            <p:ph type="title"/>
          </p:nvPr>
        </p:nvSpPr>
        <p:spPr>
          <a:xfrm>
            <a:off x="792000" y="360000"/>
            <a:ext cx="6375921" cy="429413"/>
          </a:xfrm>
        </p:spPr>
        <p:txBody>
          <a:bodyPr>
            <a:normAutofit/>
          </a:bodyPr>
          <a:lstStyle/>
          <a:p>
            <a:r>
              <a:rPr lang="en-US" altLang="zh-CN"/>
              <a:t>2.1 </a:t>
            </a:r>
            <a:r>
              <a:rPr lang="zh-CN" altLang="en-US"/>
              <a:t>项目管理</a:t>
            </a:r>
          </a:p>
        </p:txBody>
      </p:sp>
      <p:sp>
        <p:nvSpPr>
          <p:cNvPr id="15" name="Content Placeholder 14">
            <a:extLst>
              <a:ext uri="{FF2B5EF4-FFF2-40B4-BE49-F238E27FC236}">
                <a16:creationId xmlns:a16="http://schemas.microsoft.com/office/drawing/2014/main" id="{AD52FBFF-FC1D-29E1-D6C9-25AA1057433C}"/>
              </a:ext>
            </a:extLst>
          </p:cNvPr>
          <p:cNvSpPr>
            <a:spLocks noGrp="1"/>
          </p:cNvSpPr>
          <p:nvPr>
            <p:ph idx="1"/>
          </p:nvPr>
        </p:nvSpPr>
        <p:spPr>
          <a:xfrm>
            <a:off x="696000" y="864000"/>
            <a:ext cx="10800000" cy="5400000"/>
          </a:xfrm>
        </p:spPr>
        <p:txBody>
          <a:bodyPr/>
          <a:lstStyle/>
          <a:p>
            <a:r>
              <a:rPr lang="zh-CN" altLang="en-US"/>
              <a:t>项目管理是一定的主体，为了实现目标，利用各种有效手段，对执行中的项目周期的各个阶段进行计划、组织、协调、指挥、控制，以取得良好经济效益的各项活动的总和</a:t>
            </a:r>
          </a:p>
        </p:txBody>
      </p:sp>
      <p:sp>
        <p:nvSpPr>
          <p:cNvPr id="6" name="Text Placeholder 5">
            <a:extLst>
              <a:ext uri="{FF2B5EF4-FFF2-40B4-BE49-F238E27FC236}">
                <a16:creationId xmlns:a16="http://schemas.microsoft.com/office/drawing/2014/main" id="{6BEF2175-F196-BB5F-F887-727C6830E153}"/>
              </a:ext>
            </a:extLst>
          </p:cNvPr>
          <p:cNvSpPr>
            <a:spLocks noGrp="1"/>
          </p:cNvSpPr>
          <p:nvPr>
            <p:ph type="body" sz="quarter" idx="10"/>
          </p:nvPr>
        </p:nvSpPr>
        <p:spPr>
          <a:xfrm>
            <a:off x="7071919" y="448519"/>
            <a:ext cx="4424080" cy="338554"/>
          </a:xfrm>
        </p:spPr>
        <p:txBody>
          <a:bodyPr/>
          <a:lstStyle/>
          <a:p>
            <a:r>
              <a:rPr lang="en-US" altLang="zh-CN"/>
              <a:t>Project Management</a:t>
            </a:r>
            <a:endParaRPr lang="zh-CN" altLang="en-US"/>
          </a:p>
        </p:txBody>
      </p:sp>
    </p:spTree>
    <p:extLst>
      <p:ext uri="{BB962C8B-B14F-4D97-AF65-F5344CB8AC3E}">
        <p14:creationId xmlns:p14="http://schemas.microsoft.com/office/powerpoint/2010/main" val="4100669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36E6B-E6B3-0F7A-3C60-419F40F17FA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43CAB87-5155-DA15-375B-14F2BF75A70F}"/>
              </a:ext>
            </a:extLst>
          </p:cNvPr>
          <p:cNvSpPr>
            <a:spLocks noGrp="1"/>
          </p:cNvSpPr>
          <p:nvPr>
            <p:ph type="title"/>
          </p:nvPr>
        </p:nvSpPr>
        <p:spPr>
          <a:xfrm>
            <a:off x="792000" y="360000"/>
            <a:ext cx="6375921" cy="429413"/>
          </a:xfrm>
        </p:spPr>
        <p:txBody>
          <a:bodyPr>
            <a:normAutofit/>
          </a:bodyPr>
          <a:lstStyle/>
          <a:p>
            <a:r>
              <a:rPr lang="en-US" altLang="zh-CN"/>
              <a:t>2.2 </a:t>
            </a:r>
            <a:r>
              <a:rPr lang="zh-CN" altLang="en-US"/>
              <a:t>软件项目管理</a:t>
            </a:r>
          </a:p>
        </p:txBody>
      </p:sp>
      <p:sp>
        <p:nvSpPr>
          <p:cNvPr id="15" name="Content Placeholder 14">
            <a:extLst>
              <a:ext uri="{FF2B5EF4-FFF2-40B4-BE49-F238E27FC236}">
                <a16:creationId xmlns:a16="http://schemas.microsoft.com/office/drawing/2014/main" id="{01590A73-ADAA-3C4F-5F39-147CDA3F5923}"/>
              </a:ext>
            </a:extLst>
          </p:cNvPr>
          <p:cNvSpPr>
            <a:spLocks noGrp="1"/>
          </p:cNvSpPr>
          <p:nvPr>
            <p:ph idx="1"/>
          </p:nvPr>
        </p:nvSpPr>
        <p:spPr>
          <a:xfrm>
            <a:off x="696000" y="864000"/>
            <a:ext cx="10800000" cy="5400000"/>
          </a:xfrm>
        </p:spPr>
        <p:txBody>
          <a:bodyPr/>
          <a:lstStyle/>
          <a:p>
            <a:r>
              <a:rPr lang="zh-CN" altLang="en-US"/>
              <a:t>软件工程组成部分</a:t>
            </a:r>
            <a:endParaRPr lang="en-US" altLang="zh-CN"/>
          </a:p>
          <a:p>
            <a:r>
              <a:rPr lang="zh-CN" altLang="en-US"/>
              <a:t>确保软件项目满足预算，成本等约束，提交高质量软件产品</a:t>
            </a:r>
          </a:p>
        </p:txBody>
      </p:sp>
      <p:sp>
        <p:nvSpPr>
          <p:cNvPr id="6" name="Text Placeholder 5">
            <a:extLst>
              <a:ext uri="{FF2B5EF4-FFF2-40B4-BE49-F238E27FC236}">
                <a16:creationId xmlns:a16="http://schemas.microsoft.com/office/drawing/2014/main" id="{427BED5E-276E-5046-7960-FD89EFB59BC1}"/>
              </a:ext>
            </a:extLst>
          </p:cNvPr>
          <p:cNvSpPr>
            <a:spLocks noGrp="1"/>
          </p:cNvSpPr>
          <p:nvPr>
            <p:ph type="body" sz="quarter" idx="10"/>
          </p:nvPr>
        </p:nvSpPr>
        <p:spPr>
          <a:xfrm>
            <a:off x="7071919" y="448519"/>
            <a:ext cx="4424080" cy="338554"/>
          </a:xfrm>
        </p:spPr>
        <p:txBody>
          <a:bodyPr/>
          <a:lstStyle/>
          <a:p>
            <a:r>
              <a:rPr lang="en-US" altLang="zh-CN"/>
              <a:t>Software</a:t>
            </a:r>
            <a:r>
              <a:rPr lang="zh-CN" altLang="en-US"/>
              <a:t> </a:t>
            </a:r>
            <a:r>
              <a:rPr lang="en-US" altLang="zh-CN"/>
              <a:t>Project Management</a:t>
            </a:r>
            <a:endParaRPr lang="zh-CN" altLang="en-US"/>
          </a:p>
        </p:txBody>
      </p:sp>
      <p:graphicFrame>
        <p:nvGraphicFramePr>
          <p:cNvPr id="5" name="Chart 4">
            <a:extLst>
              <a:ext uri="{FF2B5EF4-FFF2-40B4-BE49-F238E27FC236}">
                <a16:creationId xmlns:a16="http://schemas.microsoft.com/office/drawing/2014/main" id="{41E5BFA3-1726-83A6-D380-565A77116915}"/>
              </a:ext>
            </a:extLst>
          </p:cNvPr>
          <p:cNvGraphicFramePr>
            <a:graphicFrameLocks noChangeAspect="1"/>
          </p:cNvGraphicFramePr>
          <p:nvPr>
            <p:extLst>
              <p:ext uri="{D42A27DB-BD31-4B8C-83A1-F6EECF244321}">
                <p14:modId xmlns:p14="http://schemas.microsoft.com/office/powerpoint/2010/main" val="4043075705"/>
              </p:ext>
            </p:extLst>
          </p:nvPr>
        </p:nvGraphicFramePr>
        <p:xfrm>
          <a:off x="2856000" y="1944275"/>
          <a:ext cx="6480000" cy="4320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011049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6733F-CF70-9090-C379-23734D73F54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8FFDA2E-8742-3D78-735B-EBAFD4A775AF}"/>
              </a:ext>
            </a:extLst>
          </p:cNvPr>
          <p:cNvSpPr>
            <a:spLocks noGrp="1"/>
          </p:cNvSpPr>
          <p:nvPr>
            <p:ph type="title"/>
          </p:nvPr>
        </p:nvSpPr>
        <p:spPr>
          <a:xfrm>
            <a:off x="792000" y="360000"/>
            <a:ext cx="6375921" cy="429413"/>
          </a:xfrm>
        </p:spPr>
        <p:txBody>
          <a:bodyPr>
            <a:normAutofit/>
          </a:bodyPr>
          <a:lstStyle/>
          <a:p>
            <a:r>
              <a:rPr lang="en-US" altLang="zh-CN"/>
              <a:t>2.2 </a:t>
            </a:r>
            <a:r>
              <a:rPr lang="zh-CN" altLang="en-US"/>
              <a:t>软件项目管理</a:t>
            </a:r>
          </a:p>
        </p:txBody>
      </p:sp>
      <p:sp>
        <p:nvSpPr>
          <p:cNvPr id="15" name="Content Placeholder 14">
            <a:extLst>
              <a:ext uri="{FF2B5EF4-FFF2-40B4-BE49-F238E27FC236}">
                <a16:creationId xmlns:a16="http://schemas.microsoft.com/office/drawing/2014/main" id="{BC426A4C-F4A0-220C-55D5-803D8CE4DA02}"/>
              </a:ext>
            </a:extLst>
          </p:cNvPr>
          <p:cNvSpPr>
            <a:spLocks noGrp="1"/>
          </p:cNvSpPr>
          <p:nvPr>
            <p:ph idx="1"/>
          </p:nvPr>
        </p:nvSpPr>
        <p:spPr>
          <a:xfrm>
            <a:off x="696000" y="864000"/>
            <a:ext cx="10800000" cy="5400000"/>
          </a:xfrm>
        </p:spPr>
        <p:txBody>
          <a:bodyPr/>
          <a:lstStyle/>
          <a:p>
            <a:r>
              <a:rPr lang="zh-CN" altLang="en-US"/>
              <a:t>项目管理铁三角</a:t>
            </a:r>
          </a:p>
        </p:txBody>
      </p:sp>
      <p:sp>
        <p:nvSpPr>
          <p:cNvPr id="6" name="Text Placeholder 5">
            <a:extLst>
              <a:ext uri="{FF2B5EF4-FFF2-40B4-BE49-F238E27FC236}">
                <a16:creationId xmlns:a16="http://schemas.microsoft.com/office/drawing/2014/main" id="{AEBEE3EA-5CE8-9ADF-5A4A-5F6827C4CD90}"/>
              </a:ext>
            </a:extLst>
          </p:cNvPr>
          <p:cNvSpPr>
            <a:spLocks noGrp="1"/>
          </p:cNvSpPr>
          <p:nvPr>
            <p:ph type="body" sz="quarter" idx="10"/>
          </p:nvPr>
        </p:nvSpPr>
        <p:spPr>
          <a:xfrm>
            <a:off x="7071919" y="448519"/>
            <a:ext cx="4424080" cy="338554"/>
          </a:xfrm>
        </p:spPr>
        <p:txBody>
          <a:bodyPr/>
          <a:lstStyle/>
          <a:p>
            <a:r>
              <a:rPr lang="en-US" altLang="zh-CN"/>
              <a:t>Software</a:t>
            </a:r>
            <a:r>
              <a:rPr lang="zh-CN" altLang="en-US"/>
              <a:t> </a:t>
            </a:r>
            <a:r>
              <a:rPr lang="en-US" altLang="zh-CN"/>
              <a:t>Project Management</a:t>
            </a:r>
            <a:endParaRPr lang="zh-CN" altLang="en-US"/>
          </a:p>
        </p:txBody>
      </p:sp>
      <p:graphicFrame>
        <p:nvGraphicFramePr>
          <p:cNvPr id="10" name="内容占位符 8">
            <a:extLst>
              <a:ext uri="{FF2B5EF4-FFF2-40B4-BE49-F238E27FC236}">
                <a16:creationId xmlns:a16="http://schemas.microsoft.com/office/drawing/2014/main" id="{FA665FAB-6103-E654-2DBA-A2891337A351}"/>
              </a:ext>
            </a:extLst>
          </p:cNvPr>
          <p:cNvGraphicFramePr>
            <a:graphicFrameLocks noChangeAspect="1"/>
          </p:cNvGraphicFramePr>
          <p:nvPr>
            <p:extLst>
              <p:ext uri="{D42A27DB-BD31-4B8C-83A1-F6EECF244321}">
                <p14:modId xmlns:p14="http://schemas.microsoft.com/office/powerpoint/2010/main" val="3124676829"/>
              </p:ext>
            </p:extLst>
          </p:nvPr>
        </p:nvGraphicFramePr>
        <p:xfrm>
          <a:off x="2855595" y="2215986"/>
          <a:ext cx="6480810" cy="30670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209879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1E3B4-50F2-024E-875F-1A4AE19C23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1E381F-16E8-75FE-E528-237F3B19DACF}"/>
              </a:ext>
            </a:extLst>
          </p:cNvPr>
          <p:cNvSpPr>
            <a:spLocks noGrp="1"/>
          </p:cNvSpPr>
          <p:nvPr>
            <p:ph type="title"/>
          </p:nvPr>
        </p:nvSpPr>
        <p:spPr>
          <a:xfrm>
            <a:off x="792000" y="360000"/>
            <a:ext cx="6375921" cy="429413"/>
          </a:xfrm>
        </p:spPr>
        <p:txBody>
          <a:bodyPr>
            <a:normAutofit/>
          </a:bodyPr>
          <a:lstStyle/>
          <a:p>
            <a:r>
              <a:rPr lang="en-US" altLang="zh-CN"/>
              <a:t>3 </a:t>
            </a:r>
            <a:r>
              <a:rPr lang="zh-CN" altLang="en-US"/>
              <a:t>传统软件项目管理</a:t>
            </a:r>
          </a:p>
        </p:txBody>
      </p:sp>
      <p:sp>
        <p:nvSpPr>
          <p:cNvPr id="5" name="Content Placeholder 4">
            <a:extLst>
              <a:ext uri="{FF2B5EF4-FFF2-40B4-BE49-F238E27FC236}">
                <a16:creationId xmlns:a16="http://schemas.microsoft.com/office/drawing/2014/main" id="{61BF6B86-44F2-19A2-ED52-F737EEE9C3FC}"/>
              </a:ext>
            </a:extLst>
          </p:cNvPr>
          <p:cNvSpPr>
            <a:spLocks noGrp="1"/>
          </p:cNvSpPr>
          <p:nvPr>
            <p:ph idx="1"/>
          </p:nvPr>
        </p:nvSpPr>
        <p:spPr>
          <a:xfrm>
            <a:off x="696000" y="864000"/>
            <a:ext cx="10800000" cy="5400000"/>
          </a:xfrm>
        </p:spPr>
        <p:txBody>
          <a:bodyPr/>
          <a:lstStyle/>
          <a:p>
            <a:r>
              <a:rPr lang="zh-CN" altLang="en-US"/>
              <a:t>基于经验，现在需要系统学习</a:t>
            </a:r>
            <a:endParaRPr lang="en-US" altLang="zh-CN"/>
          </a:p>
          <a:p>
            <a:r>
              <a:rPr lang="en-US" altLang="zh-CN"/>
              <a:t>PMP</a:t>
            </a:r>
          </a:p>
          <a:p>
            <a:pPr lvl="1"/>
            <a:r>
              <a:rPr lang="en-US" altLang="zh-CN"/>
              <a:t>100</a:t>
            </a:r>
            <a:r>
              <a:rPr lang="zh-CN" altLang="en-US"/>
              <a:t>多个国家认可</a:t>
            </a:r>
            <a:endParaRPr lang="en-US" altLang="zh-CN"/>
          </a:p>
          <a:p>
            <a:pPr lvl="1"/>
            <a:r>
              <a:rPr lang="zh-CN" altLang="en-US"/>
              <a:t>基于 </a:t>
            </a:r>
            <a:r>
              <a:rPr lang="en-US" altLang="zh-CN"/>
              <a:t>PMBOK 7th</a:t>
            </a:r>
            <a:r>
              <a:rPr lang="zh-CN" altLang="en-US"/>
              <a:t>，同时结合了</a:t>
            </a:r>
            <a:r>
              <a:rPr lang="en-US" altLang="zh-CN"/>
              <a:t>《</a:t>
            </a:r>
            <a:r>
              <a:rPr lang="zh-CN" altLang="en-US"/>
              <a:t>敏捷实践指南</a:t>
            </a:r>
            <a:r>
              <a:rPr lang="en-US" altLang="zh-CN"/>
              <a:t>》</a:t>
            </a:r>
            <a:r>
              <a:rPr lang="zh-CN" altLang="en-US"/>
              <a:t>。</a:t>
            </a:r>
          </a:p>
          <a:p>
            <a:pPr lvl="1"/>
            <a:r>
              <a:rPr lang="zh-CN" altLang="en-US"/>
              <a:t>考试中很少再考某个过程的输入输出是什么（</a:t>
            </a:r>
            <a:r>
              <a:rPr lang="en-US" altLang="zh-CN"/>
              <a:t>ITTO</a:t>
            </a:r>
            <a:r>
              <a:rPr lang="zh-CN" altLang="en-US"/>
              <a:t>记忆题大幅减少）</a:t>
            </a:r>
          </a:p>
          <a:p>
            <a:pPr lvl="1"/>
            <a:r>
              <a:rPr lang="zh-CN" altLang="en-US"/>
              <a:t>更多考的是情景题：面对这种情况，项目经理应该秉持什么原则？优先关注哪个绩效域？</a:t>
            </a:r>
          </a:p>
          <a:p>
            <a:pPr lvl="1"/>
            <a:r>
              <a:rPr lang="zh-CN" altLang="en-US"/>
              <a:t>敏捷和混合题型占比高达 </a:t>
            </a:r>
            <a:r>
              <a:rPr lang="en-US" altLang="zh-CN"/>
              <a:t>50%</a:t>
            </a:r>
            <a:endParaRPr lang="zh-CN" altLang="en-US"/>
          </a:p>
        </p:txBody>
      </p:sp>
      <p:sp>
        <p:nvSpPr>
          <p:cNvPr id="7" name="Text Placeholder 6">
            <a:extLst>
              <a:ext uri="{FF2B5EF4-FFF2-40B4-BE49-F238E27FC236}">
                <a16:creationId xmlns:a16="http://schemas.microsoft.com/office/drawing/2014/main" id="{7C4C9ED5-CA02-1242-4915-BF8DD68B756F}"/>
              </a:ext>
            </a:extLst>
          </p:cNvPr>
          <p:cNvSpPr>
            <a:spLocks noGrp="1"/>
          </p:cNvSpPr>
          <p:nvPr>
            <p:ph type="body" sz="quarter" idx="10"/>
          </p:nvPr>
        </p:nvSpPr>
        <p:spPr>
          <a:xfrm>
            <a:off x="7071919" y="448519"/>
            <a:ext cx="4424080" cy="338554"/>
          </a:xfrm>
        </p:spPr>
        <p:txBody>
          <a:bodyPr/>
          <a:lstStyle/>
          <a:p>
            <a:r>
              <a:rPr lang="en-US" altLang="zh-CN"/>
              <a:t>PMBOK</a:t>
            </a:r>
            <a:endParaRPr lang="zh-CN" altLang="en-US"/>
          </a:p>
        </p:txBody>
      </p:sp>
      <p:graphicFrame>
        <p:nvGraphicFramePr>
          <p:cNvPr id="12" name="内容占位符 3">
            <a:extLst>
              <a:ext uri="{FF2B5EF4-FFF2-40B4-BE49-F238E27FC236}">
                <a16:creationId xmlns:a16="http://schemas.microsoft.com/office/drawing/2014/main" id="{7B6DB4EB-BAC5-4021-9102-B1F07975AAC4}"/>
              </a:ext>
            </a:extLst>
          </p:cNvPr>
          <p:cNvGraphicFramePr>
            <a:graphicFrameLocks/>
          </p:cNvGraphicFramePr>
          <p:nvPr>
            <p:extLst>
              <p:ext uri="{D42A27DB-BD31-4B8C-83A1-F6EECF244321}">
                <p14:modId xmlns:p14="http://schemas.microsoft.com/office/powerpoint/2010/main" val="271182156"/>
              </p:ext>
            </p:extLst>
          </p:nvPr>
        </p:nvGraphicFramePr>
        <p:xfrm>
          <a:off x="559766" y="4305300"/>
          <a:ext cx="11072469" cy="1676400"/>
        </p:xfrm>
        <a:graphic>
          <a:graphicData uri="http://schemas.openxmlformats.org/drawingml/2006/table">
            <a:tbl>
              <a:tblPr firstRow="1" bandRow="1">
                <a:tableStyleId>{72833802-FEF1-4C79-8D5D-14CF1EAF98D9}</a:tableStyleId>
              </a:tblPr>
              <a:tblGrid>
                <a:gridCol w="1734532">
                  <a:extLst>
                    <a:ext uri="{9D8B030D-6E8A-4147-A177-3AD203B41FA5}">
                      <a16:colId xmlns:a16="http://schemas.microsoft.com/office/drawing/2014/main" val="3401312939"/>
                    </a:ext>
                  </a:extLst>
                </a:gridCol>
                <a:gridCol w="6372520">
                  <a:extLst>
                    <a:ext uri="{9D8B030D-6E8A-4147-A177-3AD203B41FA5}">
                      <a16:colId xmlns:a16="http://schemas.microsoft.com/office/drawing/2014/main" val="370412264"/>
                    </a:ext>
                  </a:extLst>
                </a:gridCol>
                <a:gridCol w="2965417">
                  <a:extLst>
                    <a:ext uri="{9D8B030D-6E8A-4147-A177-3AD203B41FA5}">
                      <a16:colId xmlns:a16="http://schemas.microsoft.com/office/drawing/2014/main" val="1004544071"/>
                    </a:ext>
                  </a:extLst>
                </a:gridCol>
              </a:tblGrid>
              <a:tr h="236917">
                <a:tc>
                  <a:txBody>
                    <a:bodyPr/>
                    <a:lstStyle/>
                    <a:p>
                      <a:pPr>
                        <a:lnSpc>
                          <a:spcPct val="100000"/>
                        </a:lnSpc>
                        <a:buNone/>
                      </a:pPr>
                      <a:endParaRPr lang="zh-CN" altLang="en-US" sz="1600"/>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a:lnSpc>
                          <a:spcPct val="100000"/>
                        </a:lnSpc>
                        <a:buNone/>
                      </a:pPr>
                      <a:r>
                        <a:rPr lang="en-US" altLang="zh-CN" sz="1600"/>
                        <a:t>Title</a:t>
                      </a:r>
                      <a:endParaRPr lang="zh-CN" altLang="en-US" sz="1600"/>
                    </a:p>
                  </a:txBody>
                  <a:tcPr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a:lnSpc>
                          <a:spcPct val="100000"/>
                        </a:lnSpc>
                        <a:buNone/>
                      </a:pPr>
                      <a:r>
                        <a:rPr lang="en-US" altLang="zh-CN" sz="1600"/>
                        <a:t>Description</a:t>
                      </a:r>
                      <a:endParaRPr lang="zh-CN" altLang="en-US" sz="1600"/>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3522540848"/>
                  </a:ext>
                </a:extLst>
              </a:tr>
              <a:tr h="236917">
                <a:tc>
                  <a:txBody>
                    <a:bodyPr/>
                    <a:lstStyle/>
                    <a:p>
                      <a:pPr>
                        <a:lnSpc>
                          <a:spcPct val="100000"/>
                        </a:lnSpc>
                        <a:buNone/>
                      </a:pPr>
                      <a:endParaRPr lang="zh-CN" altLang="en-US" sz="1600"/>
                    </a:p>
                  </a:txBody>
                  <a:tcPr anchor="ctr">
                    <a:lnL w="6350" cap="flat" cmpd="sng" algn="ctr">
                      <a:noFill/>
                      <a:prstDash val="solid"/>
                      <a:miter lim="800000"/>
                    </a:lnL>
                    <a:lnR>
                      <a:noFill/>
                    </a:lnR>
                    <a:lnT w="6350" cap="flat" cmpd="sng" algn="ctr">
                      <a:noFill/>
                      <a:prstDash val="solid"/>
                      <a:miter lim="800000"/>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pPr>
                      <a:r>
                        <a:rPr lang="en-US" altLang="zh-CN" sz="1600"/>
                        <a:t>Project Management Professional</a:t>
                      </a:r>
                    </a:p>
                  </a:txBody>
                  <a:tcPr anchor="ctr">
                    <a:lnL>
                      <a:noFill/>
                    </a:lnL>
                    <a:lnR>
                      <a:noFill/>
                    </a:lnR>
                    <a:lnT w="6350" cap="flat" cmpd="sng" algn="ctr">
                      <a:noFill/>
                      <a:prstDash val="solid"/>
                      <a:miter lim="800000"/>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a:t>项目管理专业资质认证</a:t>
                      </a:r>
                    </a:p>
                  </a:txBody>
                  <a:tcPr anchor="ctr">
                    <a:lnL>
                      <a:noFill/>
                    </a:lnL>
                    <a:lnR w="6350" cap="flat" cmpd="sng" algn="ctr">
                      <a:noFill/>
                      <a:prstDash val="solid"/>
                      <a:miter lim="800000"/>
                    </a:lnR>
                    <a:lnT w="6350" cap="flat" cmpd="sng" algn="ctr">
                      <a:noFill/>
                      <a:prstDash val="solid"/>
                      <a:miter lim="800000"/>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68597692"/>
                  </a:ext>
                </a:extLst>
              </a:tr>
              <a:tr h="236917">
                <a:tc>
                  <a:txBody>
                    <a:bodyPr/>
                    <a:lstStyle/>
                    <a:p>
                      <a:pPr>
                        <a:lnSpc>
                          <a:spcPct val="100000"/>
                        </a:lnSpc>
                        <a:buNone/>
                      </a:pPr>
                      <a:endParaRPr lang="zh-CN" altLang="en-US" sz="1600"/>
                    </a:p>
                  </a:txBody>
                  <a:tcPr anchor="ctr">
                    <a:lnL w="6350" cap="flat" cmpd="sng" algn="ctr">
                      <a:noFill/>
                      <a:prstDash val="solid"/>
                      <a:miter lim="800000"/>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pPr>
                      <a:r>
                        <a:rPr lang="en-US" altLang="zh-CN" sz="1600" dirty="0"/>
                        <a:t>Project Management Institute</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项目管理委员会</a:t>
                      </a:r>
                      <a:endParaRPr lang="en-US" altLang="zh-CN" sz="1600"/>
                    </a:p>
                  </a:txBody>
                  <a:tcPr anchor="ctr">
                    <a:lnL>
                      <a:noFill/>
                    </a:lnL>
                    <a:lnR w="6350" cap="flat" cmpd="sng" algn="ctr">
                      <a:noFill/>
                      <a:prstDash val="solid"/>
                      <a:miter lim="800000"/>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88565667"/>
                  </a:ext>
                </a:extLst>
              </a:tr>
              <a:tr h="236917">
                <a:tc>
                  <a:txBody>
                    <a:bodyPr/>
                    <a:lstStyle/>
                    <a:p>
                      <a:pPr>
                        <a:lnSpc>
                          <a:spcPct val="100000"/>
                        </a:lnSpc>
                        <a:buNone/>
                      </a:pPr>
                      <a:endParaRPr lang="zh-CN" altLang="en-US" sz="1600"/>
                    </a:p>
                  </a:txBody>
                  <a:tcPr anchor="ctr">
                    <a:lnL w="6350" cap="flat" cmpd="sng" algn="ctr">
                      <a:noFill/>
                      <a:prstDash val="solid"/>
                      <a:miter lim="800000"/>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en-US" altLang="zh-CN" sz="1600"/>
                        <a:t>Project Management Body of Knowledge, 6th Edition</a:t>
                      </a:r>
                      <a:endParaRPr lang="zh-CN" altLang="en-US" sz="1600"/>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项目管理知识体系，第</a:t>
                      </a:r>
                      <a:r>
                        <a:rPr lang="en-US" altLang="zh-CN" sz="1600"/>
                        <a:t>6</a:t>
                      </a:r>
                      <a:r>
                        <a:rPr lang="zh-CN" altLang="en-US" sz="1600"/>
                        <a:t>版</a:t>
                      </a:r>
                      <a:endParaRPr lang="en-US" altLang="zh-CN" sz="1600"/>
                    </a:p>
                  </a:txBody>
                  <a:tcPr anchor="ctr">
                    <a:lnL>
                      <a:noFill/>
                    </a:lnL>
                    <a:lnR w="6350" cap="flat" cmpd="sng" algn="ctr">
                      <a:noFill/>
                      <a:prstDash val="solid"/>
                      <a:miter lim="800000"/>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24873842"/>
                  </a:ext>
                </a:extLst>
              </a:tr>
              <a:tr h="236917">
                <a:tc>
                  <a:txBody>
                    <a:bodyPr/>
                    <a:lstStyle/>
                    <a:p>
                      <a:pPr>
                        <a:lnSpc>
                          <a:spcPct val="100000"/>
                        </a:lnSpc>
                        <a:buNone/>
                      </a:pPr>
                      <a:endParaRPr lang="zh-CN" altLang="en-US" sz="1600"/>
                    </a:p>
                  </a:txBody>
                  <a:tcPr anchor="ctr">
                    <a:lnL w="6350" cap="flat" cmpd="sng" algn="ctr">
                      <a:noFill/>
                      <a:prstDash val="solid"/>
                      <a:miter lim="800000"/>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en-US" altLang="zh-CN" sz="1600"/>
                        <a:t>Project Management Body of Knowledge, 7th Edition</a:t>
                      </a:r>
                      <a:endParaRPr lang="zh-CN" altLang="en-US" sz="1600"/>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dirty="0"/>
                        <a:t>项目管理知识体系，第</a:t>
                      </a:r>
                      <a:r>
                        <a:rPr lang="en-US" altLang="zh-CN" sz="1600" dirty="0"/>
                        <a:t>7</a:t>
                      </a:r>
                      <a:r>
                        <a:rPr lang="zh-CN" altLang="en-US" sz="1600" dirty="0"/>
                        <a:t>版</a:t>
                      </a:r>
                      <a:endParaRPr lang="en-US" altLang="zh-CN" sz="1600" dirty="0"/>
                    </a:p>
                  </a:txBody>
                  <a:tcPr anchor="ctr">
                    <a:lnL>
                      <a:noFill/>
                    </a:lnL>
                    <a:lnR w="6350" cap="flat" cmpd="sng" algn="ctr">
                      <a:noFill/>
                      <a:prstDash val="solid"/>
                      <a:miter lim="800000"/>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2128013"/>
                  </a:ext>
                </a:extLst>
              </a:tr>
            </a:tbl>
          </a:graphicData>
        </a:graphic>
      </p:graphicFrame>
      <p:sp>
        <p:nvSpPr>
          <p:cNvPr id="11" name="等腰三角形 3">
            <a:extLst>
              <a:ext uri="{FF2B5EF4-FFF2-40B4-BE49-F238E27FC236}">
                <a16:creationId xmlns:a16="http://schemas.microsoft.com/office/drawing/2014/main" id="{4CECD60C-E550-DAAC-EB72-6514CA68181C}"/>
              </a:ext>
            </a:extLst>
          </p:cNvPr>
          <p:cNvSpPr/>
          <p:nvPr/>
        </p:nvSpPr>
        <p:spPr>
          <a:xfrm>
            <a:off x="1971581" y="4017096"/>
            <a:ext cx="464058" cy="288000"/>
          </a:xfrm>
          <a:prstGeom prst="triangle">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2">
            <a:extLst>
              <a:ext uri="{FF2B5EF4-FFF2-40B4-BE49-F238E27FC236}">
                <a16:creationId xmlns:a16="http://schemas.microsoft.com/office/drawing/2014/main" id="{50EA3D72-5C64-1A2D-791E-84117868EA2B}"/>
              </a:ext>
            </a:extLst>
          </p:cNvPr>
          <p:cNvSpPr/>
          <p:nvPr/>
        </p:nvSpPr>
        <p:spPr>
          <a:xfrm>
            <a:off x="766021" y="4010993"/>
            <a:ext cx="1440000" cy="2307257"/>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4" name="内容占位符 6">
            <a:extLst>
              <a:ext uri="{FF2B5EF4-FFF2-40B4-BE49-F238E27FC236}">
                <a16:creationId xmlns:a16="http://schemas.microsoft.com/office/drawing/2014/main" id="{B57B7CC3-9232-8EAC-8A02-2EB94AA63E5B}"/>
              </a:ext>
            </a:extLst>
          </p:cNvPr>
          <p:cNvGraphicFramePr>
            <a:graphicFrameLocks/>
          </p:cNvGraphicFramePr>
          <p:nvPr>
            <p:extLst>
              <p:ext uri="{D42A27DB-BD31-4B8C-83A1-F6EECF244321}">
                <p14:modId xmlns:p14="http://schemas.microsoft.com/office/powerpoint/2010/main" val="1229695228"/>
              </p:ext>
            </p:extLst>
          </p:nvPr>
        </p:nvGraphicFramePr>
        <p:xfrm>
          <a:off x="672888" y="4303192"/>
          <a:ext cx="1621409" cy="1854200"/>
        </p:xfrm>
        <a:graphic>
          <a:graphicData uri="http://schemas.openxmlformats.org/drawingml/2006/table">
            <a:tbl>
              <a:tblPr firstRow="1" bandRow="1">
                <a:tableStyleId>{5C22544A-7EE6-4342-B048-85BDC9FD1C3A}</a:tableStyleId>
              </a:tblPr>
              <a:tblGrid>
                <a:gridCol w="1621409">
                  <a:extLst>
                    <a:ext uri="{9D8B030D-6E8A-4147-A177-3AD203B41FA5}">
                      <a16:colId xmlns:a16="http://schemas.microsoft.com/office/drawing/2014/main" val="3766040380"/>
                    </a:ext>
                  </a:extLst>
                </a:gridCol>
              </a:tblGrid>
              <a:tr h="370840">
                <a:tc>
                  <a:txBody>
                    <a:bodyPr/>
                    <a:lstStyle/>
                    <a:p>
                      <a:pPr algn="ctr">
                        <a:lnSpc>
                          <a:spcPct val="100000"/>
                        </a:lnSpc>
                        <a:buNone/>
                      </a:pPr>
                      <a:r>
                        <a:rPr lang="en-US" altLang="zh-CN" sz="1600" b="0" i="0" baseline="0">
                          <a:solidFill>
                            <a:schemeClr val="bg1"/>
                          </a:solidFill>
                          <a:latin typeface="Montserrat" panose="00000500000000000000" pitchFamily="2" charset="0"/>
                          <a:ea typeface="微软雅黑 Light" panose="020B0502040204020203" pitchFamily="34" charset="-122"/>
                        </a:rPr>
                        <a:t>Item</a:t>
                      </a:r>
                      <a:endParaRPr lang="zh-CN" altLang="en-US" sz="1600" b="0" i="0" baseline="0">
                        <a:solidFill>
                          <a:schemeClr val="bg1"/>
                        </a:solidFill>
                        <a:latin typeface="Montserrat" panose="00000500000000000000" pitchFamily="2" charset="0"/>
                        <a:ea typeface="微软雅黑 Light" panose="020B0502040204020203" pitchFamily="34" charset="-122"/>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59951062"/>
                  </a:ext>
                </a:extLst>
              </a:tr>
              <a:tr h="370840">
                <a:tc>
                  <a:txBody>
                    <a:bodyPr/>
                    <a:lstStyle/>
                    <a:p>
                      <a:pPr algn="ctr">
                        <a:lnSpc>
                          <a:spcPct val="100000"/>
                        </a:lnSpc>
                        <a:buNone/>
                      </a:pPr>
                      <a:r>
                        <a:rPr lang="en-US" altLang="zh-CN" sz="1600" baseline="0">
                          <a:solidFill>
                            <a:schemeClr val="bg1"/>
                          </a:solidFill>
                        </a:rPr>
                        <a:t>PMP</a:t>
                      </a:r>
                      <a:endParaRPr lang="zh-CN" altLang="en-US" sz="1600" b="0" i="0" baseline="0">
                        <a:solidFill>
                          <a:schemeClr val="bg1"/>
                        </a:solidFill>
                        <a:latin typeface="Montserrat" panose="00000500000000000000" pitchFamily="2" charset="0"/>
                        <a:ea typeface="微软雅黑 Light" panose="020B0502040204020203" pitchFamily="34" charset="-122"/>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35449991"/>
                  </a:ext>
                </a:extLst>
              </a:tr>
              <a:tr h="370840">
                <a:tc>
                  <a:txBody>
                    <a:bodyPr/>
                    <a:lstStyle/>
                    <a:p>
                      <a:pPr algn="ctr">
                        <a:lnSpc>
                          <a:spcPct val="100000"/>
                        </a:lnSpc>
                        <a:buNone/>
                      </a:pPr>
                      <a:r>
                        <a:rPr lang="en-US" altLang="zh-CN" sz="1600" b="0" i="0" baseline="0">
                          <a:solidFill>
                            <a:schemeClr val="bg1"/>
                          </a:solidFill>
                          <a:latin typeface="Montserrat" panose="00000500000000000000" pitchFamily="2" charset="0"/>
                          <a:ea typeface="微软雅黑 Light" panose="020B0502040204020203" pitchFamily="34" charset="-122"/>
                        </a:rPr>
                        <a:t>PMI</a:t>
                      </a:r>
                      <a:endParaRPr lang="zh-CN" altLang="en-US" sz="1600" b="0" i="0" baseline="0">
                        <a:solidFill>
                          <a:schemeClr val="bg1"/>
                        </a:solidFill>
                        <a:latin typeface="Montserrat" panose="00000500000000000000" pitchFamily="2" charset="0"/>
                        <a:ea typeface="微软雅黑 Light" panose="020B0502040204020203" pitchFamily="34" charset="-122"/>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44786421"/>
                  </a:ext>
                </a:extLst>
              </a:tr>
              <a:tr h="370840">
                <a:tc>
                  <a:txBody>
                    <a:bodyPr/>
                    <a:lstStyle/>
                    <a:p>
                      <a:pPr algn="ctr">
                        <a:lnSpc>
                          <a:spcPct val="100000"/>
                        </a:lnSpc>
                        <a:buNone/>
                      </a:pPr>
                      <a:r>
                        <a:rPr lang="en-US" altLang="zh-CN" sz="1600" b="0" i="0" baseline="0">
                          <a:solidFill>
                            <a:schemeClr val="bg1"/>
                          </a:solidFill>
                          <a:latin typeface="Montserrat" panose="00000500000000000000" pitchFamily="2" charset="0"/>
                          <a:ea typeface="微软雅黑 Light" panose="020B0502040204020203" pitchFamily="34" charset="-122"/>
                        </a:rPr>
                        <a:t>PMBOK 6</a:t>
                      </a:r>
                      <a:r>
                        <a:rPr lang="en-US" altLang="zh-CN" sz="1600" b="0" i="0" baseline="30000">
                          <a:solidFill>
                            <a:schemeClr val="bg1"/>
                          </a:solidFill>
                          <a:latin typeface="Montserrat" panose="00000500000000000000" pitchFamily="2" charset="0"/>
                          <a:ea typeface="微软雅黑 Light" panose="020B0502040204020203" pitchFamily="34" charset="-122"/>
                        </a:rPr>
                        <a:t>th</a:t>
                      </a:r>
                      <a:endParaRPr lang="zh-CN" altLang="en-US" sz="1600" b="0" i="0" baseline="30000">
                        <a:solidFill>
                          <a:schemeClr val="bg1"/>
                        </a:solidFill>
                        <a:latin typeface="Montserrat" panose="00000500000000000000" pitchFamily="2" charset="0"/>
                        <a:ea typeface="微软雅黑 Light" panose="020B0502040204020203" pitchFamily="34" charset="-122"/>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46253306"/>
                  </a:ext>
                </a:extLst>
              </a:tr>
              <a:tr h="370840">
                <a:tc>
                  <a:txBody>
                    <a:bodyPr/>
                    <a:lstStyle/>
                    <a:p>
                      <a:pPr algn="ctr">
                        <a:lnSpc>
                          <a:spcPct val="100000"/>
                        </a:lnSpc>
                        <a:buNone/>
                      </a:pPr>
                      <a:r>
                        <a:rPr lang="en-US" altLang="zh-CN" sz="1600" b="0" i="0" baseline="0">
                          <a:solidFill>
                            <a:schemeClr val="bg1"/>
                          </a:solidFill>
                          <a:latin typeface="Montserrat" panose="00000500000000000000" pitchFamily="2" charset="0"/>
                          <a:ea typeface="微软雅黑 Light" panose="020B0502040204020203" pitchFamily="34" charset="-122"/>
                        </a:rPr>
                        <a:t>PMBOK 7</a:t>
                      </a:r>
                      <a:r>
                        <a:rPr lang="en-US" altLang="zh-CN" sz="1600" b="0" i="0" baseline="30000">
                          <a:solidFill>
                            <a:schemeClr val="bg1"/>
                          </a:solidFill>
                          <a:latin typeface="Montserrat" panose="00000500000000000000" pitchFamily="2" charset="0"/>
                          <a:ea typeface="微软雅黑 Light" panose="020B0502040204020203" pitchFamily="34" charset="-122"/>
                        </a:rPr>
                        <a:t>th</a:t>
                      </a:r>
                      <a:endParaRPr lang="zh-CN" altLang="en-US" sz="1600" b="0" i="0" baseline="0">
                        <a:solidFill>
                          <a:schemeClr val="bg1"/>
                        </a:solidFill>
                        <a:latin typeface="Montserrat" panose="00000500000000000000" pitchFamily="2" charset="0"/>
                        <a:ea typeface="微软雅黑 Light" panose="020B0502040204020203" pitchFamily="34" charset="-122"/>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10684257"/>
                  </a:ext>
                </a:extLst>
              </a:tr>
            </a:tbl>
          </a:graphicData>
        </a:graphic>
      </p:graphicFrame>
    </p:spTree>
    <p:extLst>
      <p:ext uri="{BB962C8B-B14F-4D97-AF65-F5344CB8AC3E}">
        <p14:creationId xmlns:p14="http://schemas.microsoft.com/office/powerpoint/2010/main" val="1207861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1549A8E5-33F0-51B7-216A-BB0304033513}"/>
              </a:ext>
            </a:extLst>
          </p:cNvPr>
          <p:cNvGraphicFramePr>
            <a:graphicFrameLocks noGrp="1"/>
          </p:cNvGraphicFramePr>
          <p:nvPr>
            <p:extLst>
              <p:ext uri="{D42A27DB-BD31-4B8C-83A1-F6EECF244321}">
                <p14:modId xmlns:p14="http://schemas.microsoft.com/office/powerpoint/2010/main" val="582239501"/>
              </p:ext>
            </p:extLst>
          </p:nvPr>
        </p:nvGraphicFramePr>
        <p:xfrm>
          <a:off x="695325" y="1630680"/>
          <a:ext cx="10801350" cy="3596640"/>
        </p:xfrm>
        <a:graphic>
          <a:graphicData uri="http://schemas.openxmlformats.org/drawingml/2006/table">
            <a:tbl>
              <a:tblPr/>
              <a:tblGrid>
                <a:gridCol w="2594630">
                  <a:extLst>
                    <a:ext uri="{9D8B030D-6E8A-4147-A177-3AD203B41FA5}">
                      <a16:colId xmlns:a16="http://schemas.microsoft.com/office/drawing/2014/main" val="305993827"/>
                    </a:ext>
                  </a:extLst>
                </a:gridCol>
                <a:gridCol w="3780148">
                  <a:extLst>
                    <a:ext uri="{9D8B030D-6E8A-4147-A177-3AD203B41FA5}">
                      <a16:colId xmlns:a16="http://schemas.microsoft.com/office/drawing/2014/main" val="1205577403"/>
                    </a:ext>
                  </a:extLst>
                </a:gridCol>
                <a:gridCol w="4426572">
                  <a:extLst>
                    <a:ext uri="{9D8B030D-6E8A-4147-A177-3AD203B41FA5}">
                      <a16:colId xmlns:a16="http://schemas.microsoft.com/office/drawing/2014/main" val="2538711916"/>
                    </a:ext>
                  </a:extLst>
                </a:gridCol>
              </a:tblGrid>
              <a:tr h="0">
                <a:tc>
                  <a:txBody>
                    <a:bodyPr/>
                    <a:lstStyle/>
                    <a:p>
                      <a:pPr algn="l">
                        <a:lnSpc>
                          <a:spcPct val="100000"/>
                        </a:lnSpc>
                        <a:buNone/>
                      </a:pPr>
                      <a:r>
                        <a:rPr lang="en-US" altLang="zh-CN" sz="1600" dirty="0">
                          <a:solidFill>
                            <a:schemeClr val="bg1"/>
                          </a:solidFill>
                        </a:rPr>
                        <a:t>Aspect</a:t>
                      </a:r>
                      <a:endParaRPr lang="zh-CN" altLang="en-US" sz="1600" dirty="0">
                        <a:solidFill>
                          <a:schemeClr val="bg1"/>
                        </a:solidFill>
                      </a:endParaRPr>
                    </a:p>
                  </a:txBody>
                  <a:tcPr anchor="ctr">
                    <a:lnL>
                      <a:noFill/>
                    </a:lnL>
                    <a:lnR>
                      <a:noFill/>
                    </a:lnR>
                    <a:lnT>
                      <a:noFill/>
                    </a:lnT>
                    <a:lnB>
                      <a:noFill/>
                    </a:lnB>
                    <a:solidFill>
                      <a:srgbClr val="00B0F0"/>
                    </a:solidFill>
                  </a:tcPr>
                </a:tc>
                <a:tc>
                  <a:txBody>
                    <a:bodyPr/>
                    <a:lstStyle/>
                    <a:p>
                      <a:pPr algn="l">
                        <a:lnSpc>
                          <a:spcPct val="100000"/>
                        </a:lnSpc>
                        <a:buNone/>
                      </a:pPr>
                      <a:r>
                        <a:rPr lang="en-US" sz="1600" dirty="0">
                          <a:solidFill>
                            <a:schemeClr val="bg1"/>
                          </a:solidFill>
                        </a:rPr>
                        <a:t>PMBOK </a:t>
                      </a:r>
                      <a:r>
                        <a:rPr lang="en-US" altLang="zh-CN" sz="1600" dirty="0">
                          <a:solidFill>
                            <a:schemeClr val="bg1"/>
                          </a:solidFill>
                        </a:rPr>
                        <a:t>6th</a:t>
                      </a:r>
                      <a:endParaRPr lang="zh-CN" altLang="en-US" sz="1600" dirty="0">
                        <a:solidFill>
                          <a:schemeClr val="bg1"/>
                        </a:solidFill>
                      </a:endParaRPr>
                    </a:p>
                  </a:txBody>
                  <a:tcPr anchor="ctr">
                    <a:lnL>
                      <a:noFill/>
                    </a:lnL>
                    <a:lnR>
                      <a:noFill/>
                    </a:lnR>
                    <a:lnT>
                      <a:noFill/>
                    </a:lnT>
                    <a:lnB>
                      <a:noFill/>
                    </a:lnB>
                    <a:solidFill>
                      <a:srgbClr val="00B0F0"/>
                    </a:solidFill>
                  </a:tcPr>
                </a:tc>
                <a:tc>
                  <a:txBody>
                    <a:bodyPr/>
                    <a:lstStyle/>
                    <a:p>
                      <a:pPr algn="l">
                        <a:lnSpc>
                          <a:spcPct val="100000"/>
                        </a:lnSpc>
                        <a:buNone/>
                      </a:pPr>
                      <a:r>
                        <a:rPr lang="en-US" sz="1600" dirty="0">
                          <a:solidFill>
                            <a:schemeClr val="bg1"/>
                          </a:solidFill>
                        </a:rPr>
                        <a:t>PMBOK </a:t>
                      </a:r>
                      <a:r>
                        <a:rPr lang="en-US" altLang="zh-CN" sz="1600" dirty="0">
                          <a:solidFill>
                            <a:schemeClr val="bg1"/>
                          </a:solidFill>
                        </a:rPr>
                        <a:t>7th</a:t>
                      </a:r>
                      <a:endParaRPr lang="zh-CN" altLang="en-US" sz="1600" dirty="0">
                        <a:solidFill>
                          <a:schemeClr val="bg1"/>
                        </a:solidFill>
                      </a:endParaRPr>
                    </a:p>
                  </a:txBody>
                  <a:tcPr anchor="ctr">
                    <a:lnL>
                      <a:noFill/>
                    </a:lnL>
                    <a:lnR>
                      <a:noFill/>
                    </a:lnR>
                    <a:lnT>
                      <a:noFill/>
                    </a:lnT>
                    <a:lnB>
                      <a:noFill/>
                    </a:lnB>
                    <a:solidFill>
                      <a:srgbClr val="00B0F0"/>
                    </a:solidFill>
                  </a:tcPr>
                </a:tc>
                <a:extLst>
                  <a:ext uri="{0D108BD9-81ED-4DB2-BD59-A6C34878D82A}">
                    <a16:rowId xmlns:a16="http://schemas.microsoft.com/office/drawing/2014/main" val="1658896584"/>
                  </a:ext>
                </a:extLst>
              </a:tr>
              <a:tr h="0">
                <a:tc>
                  <a:txBody>
                    <a:bodyPr/>
                    <a:lstStyle/>
                    <a:p>
                      <a:pPr algn="l">
                        <a:lnSpc>
                          <a:spcPct val="100000"/>
                        </a:lnSpc>
                        <a:buNone/>
                      </a:pPr>
                      <a:r>
                        <a:rPr lang="en-US" altLang="zh-CN" sz="1600"/>
                        <a:t>Philosophy</a:t>
                      </a:r>
                      <a:endParaRPr lang="zh-CN" altLang="en-US" sz="1600"/>
                    </a:p>
                  </a:txBody>
                  <a:tcPr anchor="ctr">
                    <a:lnL>
                      <a:noFill/>
                    </a:lnL>
                    <a:lnR>
                      <a:noFill/>
                    </a:lnR>
                    <a:lnT>
                      <a:noFill/>
                    </a:lnT>
                    <a:lnB w="12700" cap="flat" cmpd="sng" algn="ctr">
                      <a:solidFill>
                        <a:schemeClr val="bg1"/>
                      </a:solidFill>
                      <a:prstDash val="solid"/>
                      <a:round/>
                      <a:headEnd type="none" w="med" len="med"/>
                      <a:tailEnd type="none" w="med" len="med"/>
                    </a:lnB>
                    <a:noFill/>
                  </a:tcPr>
                </a:tc>
                <a:tc>
                  <a:txBody>
                    <a:bodyPr/>
                    <a:lstStyle/>
                    <a:p>
                      <a:pPr algn="l">
                        <a:lnSpc>
                          <a:spcPct val="100000"/>
                        </a:lnSpc>
                        <a:buNone/>
                      </a:pPr>
                      <a:r>
                        <a:rPr lang="zh-CN" altLang="en-US" sz="1600"/>
                        <a:t>基于过程 </a:t>
                      </a:r>
                      <a:r>
                        <a:rPr lang="en-US" sz="1600"/>
                        <a:t>Process-Based</a:t>
                      </a:r>
                    </a:p>
                  </a:txBody>
                  <a:tcPr anchor="ctr">
                    <a:lnL>
                      <a:noFill/>
                    </a:lnL>
                    <a:lnR>
                      <a:noFill/>
                    </a:lnR>
                    <a:lnT>
                      <a:noFill/>
                    </a:lnT>
                    <a:lnB w="12700" cap="flat" cmpd="sng" algn="ctr">
                      <a:solidFill>
                        <a:schemeClr val="bg1"/>
                      </a:solidFill>
                      <a:prstDash val="solid"/>
                      <a:round/>
                      <a:headEnd type="none" w="med" len="med"/>
                      <a:tailEnd type="none" w="med" len="med"/>
                    </a:lnB>
                    <a:noFill/>
                  </a:tcPr>
                </a:tc>
                <a:tc>
                  <a:txBody>
                    <a:bodyPr/>
                    <a:lstStyle/>
                    <a:p>
                      <a:pPr algn="l">
                        <a:lnSpc>
                          <a:spcPct val="100000"/>
                        </a:lnSpc>
                        <a:buNone/>
                      </a:pPr>
                      <a:r>
                        <a:rPr lang="zh-CN" altLang="en-US" sz="1600"/>
                        <a:t>基于原则 </a:t>
                      </a:r>
                      <a:r>
                        <a:rPr lang="en-US" sz="1600"/>
                        <a:t>Principle-Based</a:t>
                      </a:r>
                    </a:p>
                  </a:txBody>
                  <a:tcPr anchor="ctr">
                    <a:lnL>
                      <a:noFill/>
                    </a:lnL>
                    <a:lnR>
                      <a:noFill/>
                    </a:lnR>
                    <a:lnT>
                      <a:noFill/>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662044"/>
                  </a:ext>
                </a:extLst>
              </a:tr>
              <a:tr h="0">
                <a:tc>
                  <a:txBody>
                    <a:bodyPr/>
                    <a:lstStyle/>
                    <a:p>
                      <a:pPr algn="l">
                        <a:lnSpc>
                          <a:spcPct val="100000"/>
                        </a:lnSpc>
                        <a:buNone/>
                      </a:pPr>
                      <a:r>
                        <a:rPr lang="en-US" altLang="zh-CN" sz="1600"/>
                        <a:t>Structure</a:t>
                      </a:r>
                      <a:endParaRPr lang="zh-CN" altLang="en-US" sz="1600"/>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l">
                        <a:lnSpc>
                          <a:spcPct val="100000"/>
                        </a:lnSpc>
                        <a:buNone/>
                      </a:pPr>
                      <a:r>
                        <a:rPr lang="en-US" altLang="zh-CN" sz="1600" dirty="0"/>
                        <a:t>5</a:t>
                      </a:r>
                      <a:r>
                        <a:rPr lang="zh-CN" altLang="en-US" sz="1600" dirty="0"/>
                        <a:t>大过程组 </a:t>
                      </a:r>
                      <a:r>
                        <a:rPr lang="en-US" altLang="zh-CN" sz="1600" dirty="0"/>
                        <a:t>+ 10</a:t>
                      </a:r>
                      <a:r>
                        <a:rPr lang="zh-CN" altLang="en-US" sz="1600" dirty="0"/>
                        <a:t>大知识领域</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l">
                        <a:lnSpc>
                          <a:spcPct val="100000"/>
                        </a:lnSpc>
                        <a:buNone/>
                      </a:pPr>
                      <a:r>
                        <a:rPr lang="en-US" altLang="zh-CN" sz="1600"/>
                        <a:t>12</a:t>
                      </a:r>
                      <a:r>
                        <a:rPr lang="zh-CN" altLang="en-US" sz="1600"/>
                        <a:t>项原则 </a:t>
                      </a:r>
                      <a:r>
                        <a:rPr lang="en-US" altLang="zh-CN" sz="1600"/>
                        <a:t>+ 8</a:t>
                      </a:r>
                      <a:r>
                        <a:rPr lang="zh-CN" altLang="en-US" sz="1600"/>
                        <a:t>大绩效域</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512076787"/>
                  </a:ext>
                </a:extLst>
              </a:tr>
              <a:tr h="0">
                <a:tc>
                  <a:txBody>
                    <a:bodyPr/>
                    <a:lstStyle/>
                    <a:p>
                      <a:pPr algn="l">
                        <a:lnSpc>
                          <a:spcPct val="100000"/>
                        </a:lnSpc>
                        <a:buNone/>
                      </a:pPr>
                      <a:r>
                        <a:rPr lang="en-US" altLang="zh-CN" sz="1600"/>
                        <a:t>Focus</a:t>
                      </a:r>
                      <a:endParaRPr lang="zh-CN" altLang="en-US" sz="1600"/>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l">
                        <a:lnSpc>
                          <a:spcPct val="100000"/>
                        </a:lnSpc>
                        <a:buNone/>
                      </a:pPr>
                      <a:r>
                        <a:rPr lang="zh-CN" altLang="en-US" sz="1600"/>
                        <a:t>产出 </a:t>
                      </a:r>
                      <a:r>
                        <a:rPr lang="en-US" sz="1600"/>
                        <a:t>Outputs</a:t>
                      </a:r>
                      <a:endParaRPr lang="en-US" altLang="zh-CN" sz="1600"/>
                    </a:p>
                    <a:p>
                      <a:pPr algn="l">
                        <a:lnSpc>
                          <a:spcPct val="100000"/>
                        </a:lnSpc>
                        <a:buNone/>
                      </a:pPr>
                      <a:r>
                        <a:rPr lang="zh-CN" altLang="en-US" sz="1600"/>
                        <a:t>交付了什么文件</a:t>
                      </a:r>
                      <a:r>
                        <a:rPr lang="en-US" altLang="zh-CN" sz="1600"/>
                        <a:t>/</a:t>
                      </a:r>
                      <a:r>
                        <a:rPr lang="zh-CN" altLang="en-US" sz="1600"/>
                        <a:t>产品？</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l">
                        <a:lnSpc>
                          <a:spcPct val="100000"/>
                        </a:lnSpc>
                        <a:buNone/>
                      </a:pPr>
                      <a:r>
                        <a:rPr lang="zh-CN" altLang="en-US" sz="1600"/>
                        <a:t>成果 </a:t>
                      </a:r>
                      <a:r>
                        <a:rPr lang="en-US" sz="1600"/>
                        <a:t>Outcomes &amp; </a:t>
                      </a:r>
                      <a:r>
                        <a:rPr lang="zh-CN" altLang="en-US" sz="1600"/>
                        <a:t>价值 </a:t>
                      </a:r>
                      <a:r>
                        <a:rPr lang="en-US" sz="1600"/>
                        <a:t>Value </a:t>
                      </a:r>
                      <a:br>
                        <a:rPr lang="en-US" sz="1600"/>
                      </a:br>
                      <a:r>
                        <a:rPr lang="zh-CN" altLang="en-US" sz="1600"/>
                        <a:t>实现了什么业务目标？</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434473040"/>
                  </a:ext>
                </a:extLst>
              </a:tr>
              <a:tr h="0">
                <a:tc>
                  <a:txBody>
                    <a:bodyPr/>
                    <a:lstStyle/>
                    <a:p>
                      <a:pPr algn="l">
                        <a:lnSpc>
                          <a:spcPct val="100000"/>
                        </a:lnSpc>
                        <a:buNone/>
                      </a:pPr>
                      <a:r>
                        <a:rPr lang="en-US" altLang="zh-CN" sz="1600"/>
                        <a:t>Methodology Scope</a:t>
                      </a:r>
                      <a:endParaRPr lang="zh-CN" altLang="en-US" sz="1600"/>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l">
                        <a:lnSpc>
                          <a:spcPct val="100000"/>
                        </a:lnSpc>
                        <a:buNone/>
                      </a:pPr>
                      <a:r>
                        <a:rPr lang="zh-CN" altLang="en-US" sz="1600"/>
                        <a:t>偏向预测型 </a:t>
                      </a:r>
                      <a:r>
                        <a:rPr lang="en-US" altLang="zh-CN" sz="1600"/>
                        <a:t>(</a:t>
                      </a:r>
                      <a:r>
                        <a:rPr lang="zh-CN" altLang="en-US" sz="1600"/>
                        <a:t>瀑布式</a:t>
                      </a:r>
                      <a:r>
                        <a:rPr lang="en-US" altLang="zh-CN" sz="1600"/>
                        <a:t>)</a:t>
                      </a:r>
                      <a:endParaRPr lang="zh-CN" altLang="en-US" sz="1600"/>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l">
                        <a:lnSpc>
                          <a:spcPct val="100000"/>
                        </a:lnSpc>
                        <a:buNone/>
                      </a:pPr>
                      <a:r>
                        <a:rPr lang="zh-CN" altLang="en-US" sz="1600"/>
                        <a:t>全生命周期适用 </a:t>
                      </a:r>
                      <a:r>
                        <a:rPr lang="en-US" altLang="zh-CN" sz="1600"/>
                        <a:t>(</a:t>
                      </a:r>
                      <a:r>
                        <a:rPr lang="zh-CN" altLang="en-US" sz="1600"/>
                        <a:t>预测型、敏捷型、混合型融合</a:t>
                      </a:r>
                      <a:r>
                        <a:rPr lang="en-US" altLang="zh-CN" sz="1600"/>
                        <a:t>)</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314180528"/>
                  </a:ext>
                </a:extLst>
              </a:tr>
              <a:tr h="0">
                <a:tc>
                  <a:txBody>
                    <a:bodyPr/>
                    <a:lstStyle/>
                    <a:p>
                      <a:pPr algn="l">
                        <a:lnSpc>
                          <a:spcPct val="100000"/>
                        </a:lnSpc>
                        <a:buNone/>
                      </a:pPr>
                      <a:r>
                        <a:rPr lang="en-US" altLang="zh-CN" sz="1600"/>
                        <a:t>PM</a:t>
                      </a:r>
                      <a:r>
                        <a:rPr lang="zh-CN" altLang="en-US" sz="1600"/>
                        <a:t> </a:t>
                      </a:r>
                      <a:r>
                        <a:rPr lang="en-US" altLang="zh-CN" sz="1600"/>
                        <a:t>role</a:t>
                      </a:r>
                      <a:endParaRPr lang="zh-CN" altLang="en-US" sz="1600"/>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l">
                        <a:lnSpc>
                          <a:spcPct val="100000"/>
                        </a:lnSpc>
                        <a:buNone/>
                      </a:pPr>
                      <a:r>
                        <a:rPr lang="zh-CN" altLang="en-US" sz="1600"/>
                        <a:t>执行者、控制者、流程管理者</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l">
                        <a:lnSpc>
                          <a:spcPct val="100000"/>
                        </a:lnSpc>
                        <a:buNone/>
                      </a:pPr>
                      <a:r>
                        <a:rPr lang="zh-CN" altLang="en-US" sz="1600"/>
                        <a:t>服务型领导、变革推动者、价值交付者</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520392344"/>
                  </a:ext>
                </a:extLst>
              </a:tr>
              <a:tr h="0">
                <a:tc>
                  <a:txBody>
                    <a:bodyPr/>
                    <a:lstStyle/>
                    <a:p>
                      <a:pPr algn="l">
                        <a:lnSpc>
                          <a:spcPct val="100000"/>
                        </a:lnSpc>
                        <a:buNone/>
                      </a:pPr>
                      <a:r>
                        <a:rPr lang="en-US" altLang="zh-CN" sz="1600"/>
                        <a:t>Tailoring</a:t>
                      </a:r>
                      <a:endParaRPr lang="zh-CN" altLang="en-US" sz="1600"/>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l">
                        <a:lnSpc>
                          <a:spcPct val="100000"/>
                        </a:lnSpc>
                        <a:buNone/>
                      </a:pPr>
                      <a:r>
                        <a:rPr lang="zh-CN" altLang="en-US" sz="1600"/>
                        <a:t>较僵化，强调遵循标准流程</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l">
                        <a:lnSpc>
                          <a:spcPct val="100000"/>
                        </a:lnSpc>
                        <a:buNone/>
                      </a:pPr>
                      <a:r>
                        <a:rPr lang="zh-CN" altLang="en-US" sz="1600"/>
                        <a:t>高度灵活，强调根据环境裁剪 </a:t>
                      </a:r>
                      <a:r>
                        <a:rPr lang="en-US" altLang="zh-CN" sz="1600"/>
                        <a:t>(Tailoring)</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06997171"/>
                  </a:ext>
                </a:extLst>
              </a:tr>
              <a:tr h="0">
                <a:tc>
                  <a:txBody>
                    <a:bodyPr/>
                    <a:lstStyle/>
                    <a:p>
                      <a:pPr algn="l">
                        <a:lnSpc>
                          <a:spcPct val="100000"/>
                        </a:lnSpc>
                        <a:buNone/>
                      </a:pPr>
                      <a:r>
                        <a:rPr lang="en-US" altLang="zh-CN" sz="1600"/>
                        <a:t>Definition of Success</a:t>
                      </a:r>
                      <a:endParaRPr lang="zh-CN" altLang="en-US" sz="1600"/>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l">
                        <a:lnSpc>
                          <a:spcPct val="100000"/>
                        </a:lnSpc>
                        <a:buNone/>
                      </a:pPr>
                      <a:r>
                        <a:rPr lang="zh-CN" altLang="en-US" sz="1600"/>
                        <a:t>按时、按预算、按范围交付 </a:t>
                      </a:r>
                      <a:r>
                        <a:rPr lang="en-US" altLang="zh-CN" sz="1600"/>
                        <a:t>(</a:t>
                      </a:r>
                      <a:r>
                        <a:rPr lang="zh-CN" altLang="en-US" sz="1600"/>
                        <a:t>铁三角</a:t>
                      </a:r>
                      <a:r>
                        <a:rPr lang="en-US" altLang="zh-CN" sz="1600"/>
                        <a:t>)</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l">
                        <a:lnSpc>
                          <a:spcPct val="100000"/>
                        </a:lnSpc>
                        <a:buNone/>
                      </a:pPr>
                      <a:r>
                        <a:rPr lang="zh-CN" altLang="en-US" sz="1600"/>
                        <a:t>交付价值、满足干系人期望、实现战略目标</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440767506"/>
                  </a:ext>
                </a:extLst>
              </a:tr>
              <a:tr h="0">
                <a:tc>
                  <a:txBody>
                    <a:bodyPr/>
                    <a:lstStyle/>
                    <a:p>
                      <a:pPr algn="l">
                        <a:lnSpc>
                          <a:spcPct val="100000"/>
                        </a:lnSpc>
                        <a:buNone/>
                      </a:pPr>
                      <a:r>
                        <a:rPr lang="en-US" altLang="zh-CN" sz="1600"/>
                        <a:t>Format &amp; Length</a:t>
                      </a:r>
                      <a:endParaRPr lang="zh-CN" altLang="en-US" sz="1600"/>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l">
                        <a:lnSpc>
                          <a:spcPct val="100000"/>
                        </a:lnSpc>
                        <a:buNone/>
                      </a:pPr>
                      <a:r>
                        <a:rPr lang="zh-CN" altLang="en-US" sz="1600"/>
                        <a:t>厚书，充满</a:t>
                      </a:r>
                      <a:r>
                        <a:rPr lang="en-US" altLang="zh-CN" sz="1600"/>
                        <a:t>ITTO (</a:t>
                      </a:r>
                      <a:r>
                        <a:rPr lang="zh-CN" altLang="en-US" sz="1600"/>
                        <a:t>输入</a:t>
                      </a:r>
                      <a:r>
                        <a:rPr lang="en-US" altLang="zh-CN" sz="1600"/>
                        <a:t>/</a:t>
                      </a:r>
                      <a:r>
                        <a:rPr lang="zh-CN" altLang="en-US" sz="1600"/>
                        <a:t>工具</a:t>
                      </a:r>
                      <a:r>
                        <a:rPr lang="en-US" altLang="zh-CN" sz="1600"/>
                        <a:t>/</a:t>
                      </a:r>
                      <a:r>
                        <a:rPr lang="zh-CN" altLang="en-US" sz="1600"/>
                        <a:t>输出</a:t>
                      </a:r>
                      <a:r>
                        <a:rPr lang="en-US" altLang="zh-CN" sz="1600"/>
                        <a:t>) </a:t>
                      </a:r>
                      <a:r>
                        <a:rPr lang="zh-CN" altLang="en-US" sz="1600"/>
                        <a:t>表格</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l">
                        <a:lnSpc>
                          <a:spcPct val="100000"/>
                        </a:lnSpc>
                        <a:buNone/>
                      </a:pPr>
                      <a:r>
                        <a:rPr lang="zh-CN" altLang="en-US" sz="1600"/>
                        <a:t>更薄，更像指导手册，去除了大量</a:t>
                      </a:r>
                      <a:r>
                        <a:rPr lang="en-US" altLang="zh-CN" sz="1600"/>
                        <a:t>ITTO</a:t>
                      </a:r>
                      <a:r>
                        <a:rPr lang="zh-CN" altLang="en-US" sz="1600"/>
                        <a:t>细节</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998364373"/>
                  </a:ext>
                </a:extLst>
              </a:tr>
              <a:tr h="0">
                <a:tc>
                  <a:txBody>
                    <a:bodyPr/>
                    <a:lstStyle/>
                    <a:p>
                      <a:pPr algn="l">
                        <a:lnSpc>
                          <a:spcPct val="100000"/>
                        </a:lnSpc>
                        <a:buNone/>
                      </a:pPr>
                      <a:r>
                        <a:rPr lang="en-US" altLang="zh-CN" sz="1600"/>
                        <a:t>In a word</a:t>
                      </a:r>
                      <a:endParaRPr lang="zh-CN" altLang="en-US" sz="1600"/>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l">
                        <a:lnSpc>
                          <a:spcPct val="100000"/>
                        </a:lnSpc>
                        <a:buNone/>
                      </a:pPr>
                      <a:r>
                        <a:rPr lang="en-US" altLang="zh-CN" sz="1600"/>
                        <a:t>Do the project right</a:t>
                      </a:r>
                      <a:endParaRPr lang="zh-CN" altLang="en-US" sz="1600"/>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l">
                        <a:lnSpc>
                          <a:spcPct val="100000"/>
                        </a:lnSpc>
                        <a:buNone/>
                      </a:pPr>
                      <a:r>
                        <a:rPr lang="en-US" altLang="zh-CN" sz="1600" dirty="0"/>
                        <a:t>Do the right project</a:t>
                      </a:r>
                      <a:endParaRPr lang="zh-CN" altLang="en-US" sz="1600" dirty="0"/>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431192574"/>
                  </a:ext>
                </a:extLst>
              </a:tr>
            </a:tbl>
          </a:graphicData>
        </a:graphic>
      </p:graphicFrame>
    </p:spTree>
    <p:extLst>
      <p:ext uri="{BB962C8B-B14F-4D97-AF65-F5344CB8AC3E}">
        <p14:creationId xmlns:p14="http://schemas.microsoft.com/office/powerpoint/2010/main" val="17111408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954F7-F146-B7A5-860B-1B0FD98693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19FDF-B853-2A57-6D6A-0062AC97AC34}"/>
              </a:ext>
            </a:extLst>
          </p:cNvPr>
          <p:cNvSpPr>
            <a:spLocks noGrp="1"/>
          </p:cNvSpPr>
          <p:nvPr>
            <p:ph type="title"/>
          </p:nvPr>
        </p:nvSpPr>
        <p:spPr>
          <a:xfrm>
            <a:off x="792000" y="360000"/>
            <a:ext cx="6375921" cy="429413"/>
          </a:xfrm>
        </p:spPr>
        <p:txBody>
          <a:bodyPr>
            <a:normAutofit/>
          </a:bodyPr>
          <a:lstStyle/>
          <a:p>
            <a:r>
              <a:rPr lang="en-US" altLang="zh-CN"/>
              <a:t>3.1 PMBOK </a:t>
            </a:r>
            <a:r>
              <a:rPr lang="zh-CN" altLang="zh-CN"/>
              <a:t>第</a:t>
            </a:r>
            <a:r>
              <a:rPr lang="en-US" altLang="zh-CN"/>
              <a:t>6</a:t>
            </a:r>
            <a:r>
              <a:rPr lang="zh-CN" altLang="zh-CN"/>
              <a:t>版</a:t>
            </a:r>
            <a:endParaRPr lang="zh-CN" altLang="en-US"/>
          </a:p>
        </p:txBody>
      </p:sp>
      <p:sp>
        <p:nvSpPr>
          <p:cNvPr id="5" name="Content Placeholder 4">
            <a:extLst>
              <a:ext uri="{FF2B5EF4-FFF2-40B4-BE49-F238E27FC236}">
                <a16:creationId xmlns:a16="http://schemas.microsoft.com/office/drawing/2014/main" id="{C9F59B7C-4C57-0601-9730-BFE454120EA9}"/>
              </a:ext>
            </a:extLst>
          </p:cNvPr>
          <p:cNvSpPr>
            <a:spLocks noGrp="1"/>
          </p:cNvSpPr>
          <p:nvPr>
            <p:ph idx="1"/>
          </p:nvPr>
        </p:nvSpPr>
        <p:spPr>
          <a:xfrm>
            <a:off x="696000" y="864000"/>
            <a:ext cx="10800000" cy="5400000"/>
          </a:xfrm>
        </p:spPr>
        <p:txBody>
          <a:bodyPr/>
          <a:lstStyle/>
          <a:p>
            <a:r>
              <a:rPr lang="en-US" altLang="zh-CN" dirty="0"/>
              <a:t>2017</a:t>
            </a:r>
            <a:r>
              <a:rPr lang="zh-CN" altLang="en-US" dirty="0"/>
              <a:t>年</a:t>
            </a:r>
            <a:r>
              <a:rPr lang="en-US" altLang="zh-CN" dirty="0"/>
              <a:t>9</a:t>
            </a:r>
            <a:r>
              <a:rPr lang="zh-CN" altLang="en-US" dirty="0"/>
              <a:t>月发布</a:t>
            </a:r>
            <a:endParaRPr lang="en-US" altLang="zh-CN" dirty="0"/>
          </a:p>
          <a:p>
            <a:r>
              <a:rPr lang="zh-CN" altLang="en-US" dirty="0"/>
              <a:t>传统项目管理方法的集大成者，强调怎么做 </a:t>
            </a:r>
            <a:r>
              <a:rPr lang="en-US" altLang="zh-CN" dirty="0"/>
              <a:t>How to do</a:t>
            </a:r>
          </a:p>
          <a:p>
            <a:r>
              <a:rPr lang="zh-CN" altLang="en-US" dirty="0"/>
              <a:t>基于过程 </a:t>
            </a:r>
            <a:r>
              <a:rPr lang="en-US" altLang="zh-CN" dirty="0"/>
              <a:t>Process-Based</a:t>
            </a:r>
          </a:p>
          <a:p>
            <a:r>
              <a:rPr lang="zh-CN" altLang="en-US" dirty="0"/>
              <a:t>核心理念 </a:t>
            </a:r>
            <a:r>
              <a:rPr lang="en-US" altLang="zh-CN" dirty="0"/>
              <a:t>Philosophy</a:t>
            </a:r>
            <a:endParaRPr lang="zh-CN" altLang="en-US" dirty="0"/>
          </a:p>
          <a:p>
            <a:pPr lvl="1"/>
            <a:r>
              <a:rPr lang="zh-CN" altLang="en-US" dirty="0"/>
              <a:t>合规性与标准化：强调遵循既定的流程和规范</a:t>
            </a:r>
          </a:p>
          <a:p>
            <a:pPr lvl="1"/>
            <a:r>
              <a:rPr lang="zh-CN" altLang="en-US" dirty="0"/>
              <a:t>可交付成果导向：关注是否按时、按预算完成了规定的产出</a:t>
            </a:r>
          </a:p>
          <a:p>
            <a:pPr lvl="1"/>
            <a:r>
              <a:rPr lang="zh-CN" altLang="en-US" dirty="0"/>
              <a:t>预测型为主：虽然包含了敏捷内容（附录），但主体逻辑仍偏向瀑布式（预测型）管理</a:t>
            </a:r>
            <a:endParaRPr lang="en-US" altLang="zh-CN" dirty="0"/>
          </a:p>
          <a:p>
            <a:r>
              <a:rPr lang="zh-CN" altLang="en-US" dirty="0"/>
              <a:t>核心架构 </a:t>
            </a:r>
            <a:r>
              <a:rPr lang="en-US" altLang="zh-CN" dirty="0"/>
              <a:t>Structure</a:t>
            </a:r>
            <a:endParaRPr lang="zh-CN" altLang="en-US" dirty="0"/>
          </a:p>
          <a:p>
            <a:pPr lvl="1"/>
            <a:r>
              <a:rPr lang="zh-CN" altLang="en-US" dirty="0"/>
              <a:t>五大标准过程组 </a:t>
            </a:r>
            <a:r>
              <a:rPr lang="en-US" altLang="zh-CN" dirty="0"/>
              <a:t>(5 Process Groups)</a:t>
            </a:r>
            <a:r>
              <a:rPr lang="zh-CN" altLang="en-US" dirty="0"/>
              <a:t>：按时间顺序排列的项目生命周期阶段</a:t>
            </a:r>
            <a:endParaRPr lang="en-US" altLang="zh-CN" dirty="0"/>
          </a:p>
          <a:p>
            <a:pPr lvl="1"/>
            <a:r>
              <a:rPr lang="zh-CN" altLang="en-US" dirty="0"/>
              <a:t>十大知识领域 </a:t>
            </a:r>
            <a:r>
              <a:rPr lang="en-US" altLang="zh-CN" dirty="0"/>
              <a:t>(10 Knowledge Areas)</a:t>
            </a:r>
            <a:r>
              <a:rPr lang="zh-CN" altLang="en-US" dirty="0"/>
              <a:t>：按专业职能划分的管理领域</a:t>
            </a:r>
            <a:endParaRPr lang="en-US" altLang="zh-CN" dirty="0"/>
          </a:p>
          <a:p>
            <a:r>
              <a:rPr lang="zh-CN" altLang="en-US" dirty="0"/>
              <a:t>缺点 </a:t>
            </a:r>
            <a:r>
              <a:rPr lang="en-US" altLang="zh-CN" dirty="0"/>
              <a:t>Drawback</a:t>
            </a:r>
          </a:p>
          <a:p>
            <a:pPr lvl="1"/>
            <a:r>
              <a:rPr lang="zh-CN" altLang="en-US" dirty="0"/>
              <a:t>为了走流程而走流程，忽视实际效果</a:t>
            </a:r>
          </a:p>
        </p:txBody>
      </p:sp>
      <p:sp>
        <p:nvSpPr>
          <p:cNvPr id="7" name="Text Placeholder 6">
            <a:extLst>
              <a:ext uri="{FF2B5EF4-FFF2-40B4-BE49-F238E27FC236}">
                <a16:creationId xmlns:a16="http://schemas.microsoft.com/office/drawing/2014/main" id="{D665B0B3-692B-319A-4CF4-C880C52F6EA2}"/>
              </a:ext>
            </a:extLst>
          </p:cNvPr>
          <p:cNvSpPr>
            <a:spLocks noGrp="1"/>
          </p:cNvSpPr>
          <p:nvPr>
            <p:ph type="body" sz="quarter" idx="10"/>
          </p:nvPr>
        </p:nvSpPr>
        <p:spPr>
          <a:xfrm>
            <a:off x="7071919" y="448519"/>
            <a:ext cx="4424080" cy="338554"/>
          </a:xfrm>
        </p:spPr>
        <p:txBody>
          <a:bodyPr/>
          <a:lstStyle/>
          <a:p>
            <a:r>
              <a:rPr lang="en-US" altLang="zh-CN"/>
              <a:t>PMBOK 6th</a:t>
            </a:r>
            <a:endParaRPr lang="zh-CN" altLang="en-US"/>
          </a:p>
        </p:txBody>
      </p:sp>
    </p:spTree>
    <p:extLst>
      <p:ext uri="{BB962C8B-B14F-4D97-AF65-F5344CB8AC3E}">
        <p14:creationId xmlns:p14="http://schemas.microsoft.com/office/powerpoint/2010/main" val="38396815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290990-A3A3-FED8-21B8-78D81BB021EF}"/>
              </a:ext>
            </a:extLst>
          </p:cNvPr>
          <p:cNvSpPr>
            <a:spLocks noGrp="1"/>
          </p:cNvSpPr>
          <p:nvPr>
            <p:ph type="title"/>
          </p:nvPr>
        </p:nvSpPr>
        <p:spPr>
          <a:xfrm>
            <a:off x="792000" y="360000"/>
            <a:ext cx="6375921" cy="429413"/>
          </a:xfrm>
          <a:solidFill>
            <a:schemeClr val="bg1"/>
          </a:solidFill>
        </p:spPr>
        <p:txBody>
          <a:bodyPr>
            <a:normAutofit/>
          </a:bodyPr>
          <a:lstStyle/>
          <a:p>
            <a:r>
              <a:rPr lang="en-US" altLang="zh-CN"/>
              <a:t>3.1.1 </a:t>
            </a:r>
            <a:r>
              <a:rPr lang="zh-CN" altLang="en-US"/>
              <a:t>五大标准过程组</a:t>
            </a:r>
          </a:p>
        </p:txBody>
      </p:sp>
      <p:sp>
        <p:nvSpPr>
          <p:cNvPr id="6" name="内容占位符 5">
            <a:extLst>
              <a:ext uri="{FF2B5EF4-FFF2-40B4-BE49-F238E27FC236}">
                <a16:creationId xmlns:a16="http://schemas.microsoft.com/office/drawing/2014/main" id="{24EF7835-5163-ADC1-FD38-D29243F242CB}"/>
              </a:ext>
            </a:extLst>
          </p:cNvPr>
          <p:cNvSpPr>
            <a:spLocks noGrp="1"/>
          </p:cNvSpPr>
          <p:nvPr>
            <p:ph idx="1"/>
          </p:nvPr>
        </p:nvSpPr>
        <p:spPr/>
        <p:txBody>
          <a:bodyPr/>
          <a:lstStyle/>
          <a:p>
            <a:endParaRPr lang="zh-CN" altLang="en-US"/>
          </a:p>
        </p:txBody>
      </p:sp>
      <p:sp>
        <p:nvSpPr>
          <p:cNvPr id="5" name="Text Placeholder 4">
            <a:extLst>
              <a:ext uri="{FF2B5EF4-FFF2-40B4-BE49-F238E27FC236}">
                <a16:creationId xmlns:a16="http://schemas.microsoft.com/office/drawing/2014/main" id="{23B72AEF-972E-7C1E-4E67-E6E04B412866}"/>
              </a:ext>
            </a:extLst>
          </p:cNvPr>
          <p:cNvSpPr>
            <a:spLocks noGrp="1"/>
          </p:cNvSpPr>
          <p:nvPr>
            <p:ph type="body" sz="quarter" idx="10"/>
          </p:nvPr>
        </p:nvSpPr>
        <p:spPr>
          <a:xfrm>
            <a:off x="7071919" y="448519"/>
            <a:ext cx="4424080" cy="338554"/>
          </a:xfrm>
          <a:solidFill>
            <a:schemeClr val="bg1"/>
          </a:solidFill>
        </p:spPr>
        <p:txBody>
          <a:bodyPr>
            <a:normAutofit/>
          </a:bodyPr>
          <a:lstStyle/>
          <a:p>
            <a:r>
              <a:rPr lang="en-US" altLang="zh-CN"/>
              <a:t>5 Process Groups/PMBOK 6th</a:t>
            </a:r>
            <a:endParaRPr lang="zh-CN" altLang="en-US"/>
          </a:p>
        </p:txBody>
      </p:sp>
      <p:sp>
        <p:nvSpPr>
          <p:cNvPr id="21" name="Oval 20">
            <a:extLst>
              <a:ext uri="{FF2B5EF4-FFF2-40B4-BE49-F238E27FC236}">
                <a16:creationId xmlns:a16="http://schemas.microsoft.com/office/drawing/2014/main" id="{6D7884CF-ECA9-28BC-7B9D-ED60D504AECE}"/>
              </a:ext>
            </a:extLst>
          </p:cNvPr>
          <p:cNvSpPr/>
          <p:nvPr/>
        </p:nvSpPr>
        <p:spPr>
          <a:xfrm>
            <a:off x="2554664" y="2130458"/>
            <a:ext cx="2073897" cy="810705"/>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ysClr val="windowText" lastClr="000000"/>
                </a:solidFill>
              </a:rPr>
              <a:t>Initiating</a:t>
            </a:r>
            <a:endParaRPr lang="zh-CN" altLang="en-US" sz="1400">
              <a:solidFill>
                <a:sysClr val="windowText" lastClr="000000"/>
              </a:solidFill>
            </a:endParaRPr>
          </a:p>
        </p:txBody>
      </p:sp>
      <p:sp>
        <p:nvSpPr>
          <p:cNvPr id="22" name="Oval 21">
            <a:extLst>
              <a:ext uri="{FF2B5EF4-FFF2-40B4-BE49-F238E27FC236}">
                <a16:creationId xmlns:a16="http://schemas.microsoft.com/office/drawing/2014/main" id="{D6AA744F-34C8-1FDC-C942-05CD1739D3D2}"/>
              </a:ext>
            </a:extLst>
          </p:cNvPr>
          <p:cNvSpPr/>
          <p:nvPr/>
        </p:nvSpPr>
        <p:spPr>
          <a:xfrm>
            <a:off x="7563441" y="2130458"/>
            <a:ext cx="2073897" cy="810705"/>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ysClr val="windowText" lastClr="000000"/>
                </a:solidFill>
              </a:rPr>
              <a:t>Planning</a:t>
            </a:r>
            <a:endParaRPr lang="zh-CN" altLang="en-US" sz="1400">
              <a:solidFill>
                <a:sysClr val="windowText" lastClr="000000"/>
              </a:solidFill>
            </a:endParaRPr>
          </a:p>
        </p:txBody>
      </p:sp>
      <p:sp>
        <p:nvSpPr>
          <p:cNvPr id="23" name="Oval 22">
            <a:extLst>
              <a:ext uri="{FF2B5EF4-FFF2-40B4-BE49-F238E27FC236}">
                <a16:creationId xmlns:a16="http://schemas.microsoft.com/office/drawing/2014/main" id="{36512A73-564B-143A-6237-79D2B9BDA61E}"/>
              </a:ext>
            </a:extLst>
          </p:cNvPr>
          <p:cNvSpPr/>
          <p:nvPr/>
        </p:nvSpPr>
        <p:spPr>
          <a:xfrm>
            <a:off x="3728303" y="3511485"/>
            <a:ext cx="2073897" cy="810705"/>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ysClr val="windowText" lastClr="000000"/>
                </a:solidFill>
              </a:rPr>
              <a:t>Monitoring &amp; Controlling</a:t>
            </a:r>
            <a:endParaRPr lang="zh-CN" altLang="en-US" sz="1400">
              <a:solidFill>
                <a:sysClr val="windowText" lastClr="000000"/>
              </a:solidFill>
            </a:endParaRPr>
          </a:p>
        </p:txBody>
      </p:sp>
      <p:sp>
        <p:nvSpPr>
          <p:cNvPr id="24" name="Oval 23">
            <a:extLst>
              <a:ext uri="{FF2B5EF4-FFF2-40B4-BE49-F238E27FC236}">
                <a16:creationId xmlns:a16="http://schemas.microsoft.com/office/drawing/2014/main" id="{EDB26A52-E5C1-E7F2-45BC-8FD492E4F2CE}"/>
              </a:ext>
            </a:extLst>
          </p:cNvPr>
          <p:cNvSpPr/>
          <p:nvPr/>
        </p:nvSpPr>
        <p:spPr>
          <a:xfrm>
            <a:off x="6389802" y="3511485"/>
            <a:ext cx="2073897" cy="810705"/>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ysClr val="windowText" lastClr="000000"/>
                </a:solidFill>
              </a:rPr>
              <a:t>Executing</a:t>
            </a:r>
            <a:endParaRPr lang="zh-CN" altLang="en-US" sz="1400">
              <a:solidFill>
                <a:sysClr val="windowText" lastClr="000000"/>
              </a:solidFill>
            </a:endParaRPr>
          </a:p>
        </p:txBody>
      </p:sp>
      <p:sp>
        <p:nvSpPr>
          <p:cNvPr id="25" name="Oval 24">
            <a:extLst>
              <a:ext uri="{FF2B5EF4-FFF2-40B4-BE49-F238E27FC236}">
                <a16:creationId xmlns:a16="http://schemas.microsoft.com/office/drawing/2014/main" id="{C5EE56B7-EE2B-3F9C-DB64-5C70EE90A651}"/>
              </a:ext>
            </a:extLst>
          </p:cNvPr>
          <p:cNvSpPr/>
          <p:nvPr/>
        </p:nvSpPr>
        <p:spPr>
          <a:xfrm>
            <a:off x="5059051" y="4887879"/>
            <a:ext cx="2073897" cy="810705"/>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ysClr val="windowText" lastClr="000000"/>
                </a:solidFill>
              </a:rPr>
              <a:t>Closing</a:t>
            </a:r>
            <a:endParaRPr lang="zh-CN" altLang="en-US" sz="1400">
              <a:solidFill>
                <a:sysClr val="windowText" lastClr="000000"/>
              </a:solidFill>
            </a:endParaRPr>
          </a:p>
        </p:txBody>
      </p:sp>
      <p:cxnSp>
        <p:nvCxnSpPr>
          <p:cNvPr id="27" name="Straight Arrow Connector 26">
            <a:extLst>
              <a:ext uri="{FF2B5EF4-FFF2-40B4-BE49-F238E27FC236}">
                <a16:creationId xmlns:a16="http://schemas.microsoft.com/office/drawing/2014/main" id="{835C141E-8F36-FAB8-4DE8-04CF725FB55C}"/>
              </a:ext>
            </a:extLst>
          </p:cNvPr>
          <p:cNvCxnSpPr>
            <a:stCxn id="21" idx="6"/>
          </p:cNvCxnSpPr>
          <p:nvPr/>
        </p:nvCxnSpPr>
        <p:spPr>
          <a:xfrm flipV="1">
            <a:off x="4628561" y="2535810"/>
            <a:ext cx="2934880"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309353F6-84C4-CFCB-F1D4-3812381A5266}"/>
              </a:ext>
            </a:extLst>
          </p:cNvPr>
          <p:cNvCxnSpPr>
            <a:stCxn id="22" idx="4"/>
            <a:endCxn id="24" idx="0"/>
          </p:cNvCxnSpPr>
          <p:nvPr/>
        </p:nvCxnSpPr>
        <p:spPr>
          <a:xfrm flipH="1">
            <a:off x="7426751" y="2941163"/>
            <a:ext cx="1173639" cy="57032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B4FE9D0C-AC3D-BA17-2FC3-71492DAEA0B3}"/>
              </a:ext>
            </a:extLst>
          </p:cNvPr>
          <p:cNvCxnSpPr>
            <a:cxnSpLocks/>
            <a:stCxn id="23" idx="7"/>
            <a:endCxn id="24" idx="1"/>
          </p:cNvCxnSpPr>
          <p:nvPr/>
        </p:nvCxnSpPr>
        <p:spPr>
          <a:xfrm>
            <a:off x="5498485" y="3630210"/>
            <a:ext cx="119503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CDF891A8-A26B-6E58-E7F8-537237BB6188}"/>
              </a:ext>
            </a:extLst>
          </p:cNvPr>
          <p:cNvCxnSpPr>
            <a:stCxn id="24" idx="3"/>
            <a:endCxn id="23" idx="5"/>
          </p:cNvCxnSpPr>
          <p:nvPr/>
        </p:nvCxnSpPr>
        <p:spPr>
          <a:xfrm flipH="1">
            <a:off x="5498485" y="4203465"/>
            <a:ext cx="119503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477664DB-0EB8-1FFD-8D92-6BC5191D7B1A}"/>
              </a:ext>
            </a:extLst>
          </p:cNvPr>
          <p:cNvCxnSpPr>
            <a:stCxn id="23" idx="4"/>
            <a:endCxn id="25" idx="0"/>
          </p:cNvCxnSpPr>
          <p:nvPr/>
        </p:nvCxnSpPr>
        <p:spPr>
          <a:xfrm>
            <a:off x="4765252" y="4322190"/>
            <a:ext cx="1330748" cy="56568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B514607A-7BB8-6425-1125-855123F0267B}"/>
              </a:ext>
            </a:extLst>
          </p:cNvPr>
          <p:cNvCxnSpPr>
            <a:stCxn id="23" idx="0"/>
            <a:endCxn id="22" idx="3"/>
          </p:cNvCxnSpPr>
          <p:nvPr/>
        </p:nvCxnSpPr>
        <p:spPr>
          <a:xfrm flipV="1">
            <a:off x="4765252" y="2822438"/>
            <a:ext cx="3101904" cy="6890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63973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1EDDD-D7C9-9FCA-B9DD-A060AEA7E01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34504B5-DD17-C76F-7B53-C0BBD83FF870}"/>
              </a:ext>
            </a:extLst>
          </p:cNvPr>
          <p:cNvSpPr>
            <a:spLocks noGrp="1"/>
          </p:cNvSpPr>
          <p:nvPr>
            <p:ph type="title"/>
          </p:nvPr>
        </p:nvSpPr>
        <p:spPr>
          <a:xfrm>
            <a:off x="792000" y="360000"/>
            <a:ext cx="6375921" cy="429413"/>
          </a:xfrm>
        </p:spPr>
        <p:txBody>
          <a:bodyPr>
            <a:normAutofit/>
          </a:bodyPr>
          <a:lstStyle/>
          <a:p>
            <a:r>
              <a:rPr lang="en-US" altLang="zh-CN"/>
              <a:t>3.1.1 </a:t>
            </a:r>
            <a:r>
              <a:rPr lang="zh-CN" altLang="en-US"/>
              <a:t>五大标准过程组</a:t>
            </a:r>
          </a:p>
        </p:txBody>
      </p:sp>
      <p:sp>
        <p:nvSpPr>
          <p:cNvPr id="17" name="Content Placeholder 16">
            <a:extLst>
              <a:ext uri="{FF2B5EF4-FFF2-40B4-BE49-F238E27FC236}">
                <a16:creationId xmlns:a16="http://schemas.microsoft.com/office/drawing/2014/main" id="{2FA9FD19-C670-6FF5-7C79-AD596AC84232}"/>
              </a:ext>
            </a:extLst>
          </p:cNvPr>
          <p:cNvSpPr>
            <a:spLocks noGrp="1"/>
          </p:cNvSpPr>
          <p:nvPr>
            <p:ph idx="1"/>
          </p:nvPr>
        </p:nvSpPr>
        <p:spPr>
          <a:xfrm>
            <a:off x="696000" y="864000"/>
            <a:ext cx="10800000" cy="5400000"/>
          </a:xfrm>
        </p:spPr>
        <p:txBody>
          <a:bodyPr/>
          <a:lstStyle/>
          <a:p>
            <a:r>
              <a:rPr lang="zh-CN" altLang="en-US"/>
              <a:t>含</a:t>
            </a:r>
            <a:r>
              <a:rPr lang="en-US" altLang="zh-CN"/>
              <a:t>49</a:t>
            </a:r>
            <a:r>
              <a:rPr lang="zh-CN" altLang="en-US"/>
              <a:t>个过程（表</a:t>
            </a:r>
            <a:r>
              <a:rPr lang="en-US" altLang="zh-CN"/>
              <a:t>1-1</a:t>
            </a:r>
            <a:r>
              <a:rPr lang="zh-CN" altLang="en-US"/>
              <a:t>，</a:t>
            </a:r>
            <a:r>
              <a:rPr lang="en-US" altLang="zh-CN"/>
              <a:t>P19</a:t>
            </a:r>
            <a:r>
              <a:rPr lang="zh-CN" altLang="en-US"/>
              <a:t>）</a:t>
            </a:r>
          </a:p>
        </p:txBody>
      </p:sp>
      <p:sp>
        <p:nvSpPr>
          <p:cNvPr id="5" name="Text Placeholder 4">
            <a:extLst>
              <a:ext uri="{FF2B5EF4-FFF2-40B4-BE49-F238E27FC236}">
                <a16:creationId xmlns:a16="http://schemas.microsoft.com/office/drawing/2014/main" id="{7CBC7046-772F-91CE-FA64-5FCA430026D2}"/>
              </a:ext>
            </a:extLst>
          </p:cNvPr>
          <p:cNvSpPr>
            <a:spLocks noGrp="1"/>
          </p:cNvSpPr>
          <p:nvPr>
            <p:ph type="body" sz="quarter" idx="10"/>
          </p:nvPr>
        </p:nvSpPr>
        <p:spPr>
          <a:xfrm>
            <a:off x="7071919" y="448519"/>
            <a:ext cx="4424080" cy="338554"/>
          </a:xfrm>
        </p:spPr>
        <p:txBody>
          <a:bodyPr>
            <a:normAutofit/>
          </a:bodyPr>
          <a:lstStyle/>
          <a:p>
            <a:r>
              <a:rPr lang="en-US" altLang="zh-CN"/>
              <a:t>5 Process Groups/PMBOK 6th</a:t>
            </a:r>
            <a:endParaRPr lang="zh-CN" altLang="en-US"/>
          </a:p>
        </p:txBody>
      </p:sp>
      <p:graphicFrame>
        <p:nvGraphicFramePr>
          <p:cNvPr id="10" name="内容占位符 3">
            <a:extLst>
              <a:ext uri="{FF2B5EF4-FFF2-40B4-BE49-F238E27FC236}">
                <a16:creationId xmlns:a16="http://schemas.microsoft.com/office/drawing/2014/main" id="{1D151939-CAE9-BAFF-DBF5-07974425F37B}"/>
              </a:ext>
            </a:extLst>
          </p:cNvPr>
          <p:cNvGraphicFramePr>
            <a:graphicFrameLocks/>
          </p:cNvGraphicFramePr>
          <p:nvPr>
            <p:extLst>
              <p:ext uri="{D42A27DB-BD31-4B8C-83A1-F6EECF244321}">
                <p14:modId xmlns:p14="http://schemas.microsoft.com/office/powerpoint/2010/main" val="2882572000"/>
              </p:ext>
            </p:extLst>
          </p:nvPr>
        </p:nvGraphicFramePr>
        <p:xfrm>
          <a:off x="695325" y="3033120"/>
          <a:ext cx="10801350" cy="3230880"/>
        </p:xfrm>
        <a:graphic>
          <a:graphicData uri="http://schemas.openxmlformats.org/drawingml/2006/table">
            <a:tbl>
              <a:tblPr firstRow="1" bandRow="1">
                <a:tableStyleId>{72833802-FEF1-4C79-8D5D-14CF1EAF98D9}</a:tableStyleId>
              </a:tblPr>
              <a:tblGrid>
                <a:gridCol w="456727">
                  <a:extLst>
                    <a:ext uri="{9D8B030D-6E8A-4147-A177-3AD203B41FA5}">
                      <a16:colId xmlns:a16="http://schemas.microsoft.com/office/drawing/2014/main" val="784792021"/>
                    </a:ext>
                  </a:extLst>
                </a:gridCol>
                <a:gridCol w="3749886">
                  <a:extLst>
                    <a:ext uri="{9D8B030D-6E8A-4147-A177-3AD203B41FA5}">
                      <a16:colId xmlns:a16="http://schemas.microsoft.com/office/drawing/2014/main" val="3401312939"/>
                    </a:ext>
                  </a:extLst>
                </a:gridCol>
                <a:gridCol w="5156462">
                  <a:extLst>
                    <a:ext uri="{9D8B030D-6E8A-4147-A177-3AD203B41FA5}">
                      <a16:colId xmlns:a16="http://schemas.microsoft.com/office/drawing/2014/main" val="370412264"/>
                    </a:ext>
                  </a:extLst>
                </a:gridCol>
                <a:gridCol w="1438275">
                  <a:extLst>
                    <a:ext uri="{9D8B030D-6E8A-4147-A177-3AD203B41FA5}">
                      <a16:colId xmlns:a16="http://schemas.microsoft.com/office/drawing/2014/main" val="2396350941"/>
                    </a:ext>
                  </a:extLst>
                </a:gridCol>
              </a:tblGrid>
              <a:tr h="120025">
                <a:tc>
                  <a:txBody>
                    <a:bodyPr/>
                    <a:lstStyle/>
                    <a:p>
                      <a:pPr algn="l">
                        <a:lnSpc>
                          <a:spcPct val="100000"/>
                        </a:lnSpc>
                        <a:buNone/>
                      </a:pPr>
                      <a:endParaRPr lang="zh-CN" altLang="en-US" sz="1600" dirty="0"/>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rgbClr val="00B0F0"/>
                    </a:solidFill>
                  </a:tcPr>
                </a:tc>
                <a:tc>
                  <a:txBody>
                    <a:bodyPr/>
                    <a:lstStyle/>
                    <a:p>
                      <a:pPr algn="l">
                        <a:lnSpc>
                          <a:spcPct val="100000"/>
                        </a:lnSpc>
                        <a:buNone/>
                      </a:pPr>
                      <a:r>
                        <a:rPr lang="en-US" altLang="zh-CN" sz="1600" dirty="0"/>
                        <a:t>Process Group</a:t>
                      </a:r>
                      <a:endParaRPr lang="zh-CN" altLang="en-US" sz="1600" dirty="0"/>
                    </a:p>
                  </a:txBody>
                  <a:tcPr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rgbClr val="00B0F0"/>
                    </a:solidFill>
                  </a:tcPr>
                </a:tc>
                <a:tc>
                  <a:txBody>
                    <a:bodyPr/>
                    <a:lstStyle/>
                    <a:p>
                      <a:pPr algn="l">
                        <a:lnSpc>
                          <a:spcPct val="100000"/>
                        </a:lnSpc>
                        <a:buNone/>
                      </a:pPr>
                      <a:r>
                        <a:rPr lang="en-US" altLang="zh-CN" sz="1600" dirty="0"/>
                        <a:t>Description</a:t>
                      </a:r>
                      <a:endParaRPr lang="zh-CN" altLang="en-US" sz="1600" dirty="0"/>
                    </a:p>
                  </a:txBody>
                  <a:tcPr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rgbClr val="00B0F0"/>
                    </a:solidFill>
                  </a:tcPr>
                </a:tc>
                <a:tc>
                  <a:txBody>
                    <a:bodyPr/>
                    <a:lstStyle/>
                    <a:p>
                      <a:pPr algn="l">
                        <a:lnSpc>
                          <a:spcPct val="100000"/>
                        </a:lnSpc>
                        <a:buNone/>
                      </a:pPr>
                      <a:r>
                        <a:rPr lang="en-US" altLang="zh-CN" sz="1600" dirty="0"/>
                        <a:t>Process</a:t>
                      </a:r>
                      <a:endParaRPr lang="zh-CN" altLang="en-US" sz="1600" dirty="0"/>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3522540848"/>
                  </a:ext>
                </a:extLst>
              </a:tr>
              <a:tr h="187437">
                <a:tc>
                  <a:txBody>
                    <a:bodyPr/>
                    <a:lstStyle/>
                    <a:p>
                      <a:pPr algn="ctr">
                        <a:lnSpc>
                          <a:spcPct val="100000"/>
                        </a:lnSpc>
                        <a:buNone/>
                      </a:pPr>
                      <a:r>
                        <a:rPr lang="en-US" altLang="zh-CN" sz="1600"/>
                        <a:t>1</a:t>
                      </a:r>
                    </a:p>
                  </a:txBody>
                  <a:tcPr anchor="ctr">
                    <a:lnL w="6350" cap="flat" cmpd="sng" algn="ctr">
                      <a:noFill/>
                      <a:prstDash val="solid"/>
                      <a:miter lim="800000"/>
                    </a:lnL>
                    <a:lnR>
                      <a:noFill/>
                    </a:lnR>
                    <a:lnT w="6350" cap="flat" cmpd="sng" algn="ctr">
                      <a:noFill/>
                      <a:prstDash val="solid"/>
                      <a:miter lim="800000"/>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100000"/>
                        </a:lnSpc>
                        <a:buNone/>
                      </a:pPr>
                      <a:r>
                        <a:rPr lang="zh-CN" altLang="en-US" sz="1600"/>
                        <a:t>启动 </a:t>
                      </a:r>
                      <a:r>
                        <a:rPr lang="en-US" altLang="zh-CN" sz="1600"/>
                        <a:t>Initiating</a:t>
                      </a:r>
                    </a:p>
                  </a:txBody>
                  <a:tcPr anchor="ctr">
                    <a:lnL>
                      <a:noFill/>
                    </a:lnL>
                    <a:lnR>
                      <a:noFill/>
                    </a:lnR>
                    <a:lnT w="6350" cap="flat" cmpd="sng" algn="ctr">
                      <a:noFill/>
                      <a:prstDash val="solid"/>
                      <a:miter lim="800000"/>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定义新项目或阶段，获得授权</a:t>
                      </a:r>
                    </a:p>
                    <a:p>
                      <a:pPr>
                        <a:lnSpc>
                          <a:spcPct val="100000"/>
                        </a:lnSpc>
                        <a:buNone/>
                      </a:pPr>
                      <a:r>
                        <a:rPr lang="zh-CN" altLang="en-US" sz="1600"/>
                        <a:t>关键输出：项目章程、识别干系人</a:t>
                      </a:r>
                    </a:p>
                  </a:txBody>
                  <a:tcPr anchor="ctr">
                    <a:lnL>
                      <a:noFill/>
                    </a:lnL>
                    <a:lnR>
                      <a:noFill/>
                    </a:lnR>
                    <a:lnT w="6350" cap="flat" cmpd="sng" algn="ctr">
                      <a:noFill/>
                      <a:prstDash val="solid"/>
                      <a:miter lim="800000"/>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en-US" altLang="zh-CN" sz="1600"/>
                        <a:t>2</a:t>
                      </a:r>
                      <a:endParaRPr lang="zh-CN" altLang="en-US" sz="1600"/>
                    </a:p>
                  </a:txBody>
                  <a:tcPr anchor="ctr">
                    <a:lnL>
                      <a:noFill/>
                    </a:lnL>
                    <a:lnR w="6350" cap="flat" cmpd="sng" algn="ctr">
                      <a:noFill/>
                      <a:prstDash val="solid"/>
                      <a:miter lim="800000"/>
                    </a:lnR>
                    <a:lnT w="6350" cap="flat" cmpd="sng" algn="ctr">
                      <a:noFill/>
                      <a:prstDash val="solid"/>
                      <a:miter lim="800000"/>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68597692"/>
                  </a:ext>
                </a:extLst>
              </a:tr>
              <a:tr h="187437">
                <a:tc>
                  <a:txBody>
                    <a:bodyPr/>
                    <a:lstStyle/>
                    <a:p>
                      <a:pPr algn="ctr">
                        <a:lnSpc>
                          <a:spcPct val="100000"/>
                        </a:lnSpc>
                        <a:buNone/>
                      </a:pPr>
                      <a:r>
                        <a:rPr lang="en-US" altLang="zh-CN" sz="1600"/>
                        <a:t>2</a:t>
                      </a:r>
                    </a:p>
                  </a:txBody>
                  <a:tcPr anchor="ctr">
                    <a:lnL w="6350" cap="flat" cmpd="sng" algn="ctr">
                      <a:noFill/>
                      <a:prstDash val="solid"/>
                      <a:miter lim="800000"/>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100000"/>
                        </a:lnSpc>
                        <a:buNone/>
                      </a:pPr>
                      <a:r>
                        <a:rPr lang="zh-CN" altLang="en-US" sz="1600"/>
                        <a:t>规划 </a:t>
                      </a:r>
                      <a:r>
                        <a:rPr lang="en-US" altLang="zh-CN" sz="1600"/>
                        <a:t>Planning</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制定范围、进度、成本、质量、风险等计划</a:t>
                      </a:r>
                    </a:p>
                    <a:p>
                      <a:pPr>
                        <a:lnSpc>
                          <a:spcPct val="100000"/>
                        </a:lnSpc>
                        <a:buNone/>
                      </a:pPr>
                      <a:r>
                        <a:rPr lang="zh-CN" altLang="en-US" sz="1600"/>
                        <a:t>过程占比最大，强调滚动式规划</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en-US" altLang="zh-CN" sz="1600"/>
                        <a:t>24</a:t>
                      </a:r>
                      <a:endParaRPr lang="zh-CN" altLang="en-US" sz="1600"/>
                    </a:p>
                  </a:txBody>
                  <a:tcPr anchor="ctr">
                    <a:lnL>
                      <a:noFill/>
                    </a:lnL>
                    <a:lnR w="6350" cap="flat" cmpd="sng" algn="ctr">
                      <a:noFill/>
                      <a:prstDash val="solid"/>
                      <a:miter lim="800000"/>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88565667"/>
                  </a:ext>
                </a:extLst>
              </a:tr>
              <a:tr h="187437">
                <a:tc>
                  <a:txBody>
                    <a:bodyPr/>
                    <a:lstStyle/>
                    <a:p>
                      <a:pPr algn="ctr">
                        <a:lnSpc>
                          <a:spcPct val="100000"/>
                        </a:lnSpc>
                        <a:buNone/>
                      </a:pPr>
                      <a:r>
                        <a:rPr lang="en-US" altLang="zh-CN" sz="1600"/>
                        <a:t>3</a:t>
                      </a:r>
                    </a:p>
                  </a:txBody>
                  <a:tcPr anchor="ctr">
                    <a:lnL w="6350" cap="flat" cmpd="sng" algn="ctr">
                      <a:noFill/>
                      <a:prstDash val="solid"/>
                      <a:miter lim="800000"/>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100000"/>
                        </a:lnSpc>
                        <a:buNone/>
                      </a:pPr>
                      <a:r>
                        <a:rPr lang="zh-CN" altLang="en-US" sz="1600"/>
                        <a:t>执行 </a:t>
                      </a:r>
                      <a:r>
                        <a:rPr lang="en-US" altLang="zh-CN" sz="1600"/>
                        <a:t>Executing</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完成项目工作，满足范围说明书要求</a:t>
                      </a:r>
                    </a:p>
                    <a:p>
                      <a:pPr>
                        <a:lnSpc>
                          <a:spcPct val="100000"/>
                        </a:lnSpc>
                        <a:buNone/>
                      </a:pPr>
                      <a:r>
                        <a:rPr lang="zh-CN" altLang="en-US" sz="1600"/>
                        <a:t>包括团队建设、质量保证、采购实施等</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en-US" altLang="zh-CN" sz="1600"/>
                        <a:t>10</a:t>
                      </a:r>
                      <a:endParaRPr lang="zh-CN" altLang="en-US" sz="1600"/>
                    </a:p>
                  </a:txBody>
                  <a:tcPr anchor="ctr">
                    <a:lnL>
                      <a:noFill/>
                    </a:lnL>
                    <a:lnR w="6350" cap="flat" cmpd="sng" algn="ctr">
                      <a:noFill/>
                      <a:prstDash val="solid"/>
                      <a:miter lim="800000"/>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24873842"/>
                  </a:ext>
                </a:extLst>
              </a:tr>
              <a:tr h="187437">
                <a:tc>
                  <a:txBody>
                    <a:bodyPr/>
                    <a:lstStyle/>
                    <a:p>
                      <a:pPr algn="ctr">
                        <a:lnSpc>
                          <a:spcPct val="100000"/>
                        </a:lnSpc>
                        <a:buNone/>
                      </a:pPr>
                      <a:r>
                        <a:rPr lang="en-US" altLang="zh-CN" sz="1600"/>
                        <a:t>4</a:t>
                      </a:r>
                    </a:p>
                  </a:txBody>
                  <a:tcPr anchor="ctr">
                    <a:lnL w="6350" cap="flat" cmpd="sng" algn="ctr">
                      <a:noFill/>
                      <a:prstDash val="solid"/>
                      <a:miter lim="800000"/>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100000"/>
                        </a:lnSpc>
                        <a:buNone/>
                      </a:pPr>
                      <a:r>
                        <a:rPr lang="zh-CN" altLang="en-US" sz="1600"/>
                        <a:t>监控 </a:t>
                      </a:r>
                      <a:r>
                        <a:rPr lang="en-US" altLang="zh-CN" sz="1600"/>
                        <a:t>Monitoring &amp; Controlling</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跟踪、审查和调整项目进展与绩效</a:t>
                      </a:r>
                    </a:p>
                    <a:p>
                      <a:pPr>
                        <a:lnSpc>
                          <a:spcPct val="100000"/>
                        </a:lnSpc>
                        <a:buNone/>
                      </a:pPr>
                      <a:r>
                        <a:rPr lang="zh-CN" altLang="en-US" sz="1600"/>
                        <a:t>核心：变更控制和偏差分析</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en-US" altLang="zh-CN" sz="1600"/>
                        <a:t>12</a:t>
                      </a:r>
                      <a:endParaRPr lang="zh-CN" altLang="en-US" sz="1600"/>
                    </a:p>
                  </a:txBody>
                  <a:tcPr anchor="ctr">
                    <a:lnL>
                      <a:noFill/>
                    </a:lnL>
                    <a:lnR w="6350" cap="flat" cmpd="sng" algn="ctr">
                      <a:noFill/>
                      <a:prstDash val="solid"/>
                      <a:miter lim="800000"/>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21566994"/>
                  </a:ext>
                </a:extLst>
              </a:tr>
              <a:tr h="187437">
                <a:tc>
                  <a:txBody>
                    <a:bodyPr/>
                    <a:lstStyle/>
                    <a:p>
                      <a:pPr algn="ctr">
                        <a:lnSpc>
                          <a:spcPct val="100000"/>
                        </a:lnSpc>
                        <a:buNone/>
                      </a:pPr>
                      <a:r>
                        <a:rPr lang="en-US" altLang="zh-CN" sz="1600"/>
                        <a:t>5</a:t>
                      </a:r>
                      <a:endParaRPr lang="zh-CN" altLang="en-US" sz="1600"/>
                    </a:p>
                  </a:txBody>
                  <a:tcPr anchor="ctr">
                    <a:lnL w="6350" cap="flat" cmpd="sng" algn="ctr">
                      <a:noFill/>
                      <a:prstDash val="solid"/>
                      <a:miter lim="800000"/>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100000"/>
                        </a:lnSpc>
                        <a:buNone/>
                      </a:pPr>
                      <a:r>
                        <a:rPr lang="zh-CN" altLang="en-US" sz="1600"/>
                        <a:t>结束 </a:t>
                      </a:r>
                      <a:r>
                        <a:rPr lang="en-US" altLang="zh-CN" sz="1600"/>
                        <a:t>Closing</a:t>
                      </a:r>
                      <a:endParaRPr lang="zh-CN" altLang="en-US" sz="1600"/>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正式结束项目或阶段</a:t>
                      </a:r>
                      <a:endParaRPr lang="en-US" altLang="zh-CN" sz="1600"/>
                    </a:p>
                    <a:p>
                      <a:pPr>
                        <a:lnSpc>
                          <a:spcPct val="100000"/>
                        </a:lnSpc>
                        <a:buNone/>
                      </a:pPr>
                      <a:r>
                        <a:rPr lang="zh-CN" altLang="en-US" sz="1600"/>
                        <a:t>移交成果，总结经验</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en-US" altLang="zh-CN" sz="1600" dirty="0"/>
                        <a:t>1</a:t>
                      </a:r>
                      <a:endParaRPr lang="zh-CN" altLang="en-US" sz="1600" dirty="0"/>
                    </a:p>
                  </a:txBody>
                  <a:tcPr anchor="ctr">
                    <a:lnL>
                      <a:noFill/>
                    </a:lnL>
                    <a:lnR w="6350" cap="flat" cmpd="sng" algn="ctr">
                      <a:noFill/>
                      <a:prstDash val="solid"/>
                      <a:miter lim="800000"/>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61976425"/>
                  </a:ext>
                </a:extLst>
              </a:tr>
            </a:tbl>
          </a:graphicData>
        </a:graphic>
      </p:graphicFrame>
    </p:spTree>
    <p:extLst>
      <p:ext uri="{BB962C8B-B14F-4D97-AF65-F5344CB8AC3E}">
        <p14:creationId xmlns:p14="http://schemas.microsoft.com/office/powerpoint/2010/main" val="21405176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917EB-CB8B-937C-591C-8A6BA9392578}"/>
              </a:ext>
            </a:extLst>
          </p:cNvPr>
          <p:cNvSpPr>
            <a:spLocks noGrp="1"/>
          </p:cNvSpPr>
          <p:nvPr>
            <p:ph type="title"/>
          </p:nvPr>
        </p:nvSpPr>
        <p:spPr>
          <a:xfrm>
            <a:off x="792000" y="360000"/>
            <a:ext cx="6375921" cy="429413"/>
          </a:xfrm>
        </p:spPr>
        <p:txBody>
          <a:bodyPr>
            <a:normAutofit/>
          </a:bodyPr>
          <a:lstStyle/>
          <a:p>
            <a:r>
              <a:rPr lang="en-US" altLang="zh-CN"/>
              <a:t>3.1.2 </a:t>
            </a:r>
            <a:r>
              <a:rPr lang="zh-CN" altLang="en-US"/>
              <a:t>十大知识领域</a:t>
            </a:r>
          </a:p>
        </p:txBody>
      </p:sp>
      <p:sp>
        <p:nvSpPr>
          <p:cNvPr id="6" name="Content Placeholder 5">
            <a:extLst>
              <a:ext uri="{FF2B5EF4-FFF2-40B4-BE49-F238E27FC236}">
                <a16:creationId xmlns:a16="http://schemas.microsoft.com/office/drawing/2014/main" id="{421F0D5F-8DDD-35FF-0F76-CEC407DFEBAF}"/>
              </a:ext>
            </a:extLst>
          </p:cNvPr>
          <p:cNvSpPr>
            <a:spLocks noGrp="1"/>
          </p:cNvSpPr>
          <p:nvPr>
            <p:ph idx="1"/>
          </p:nvPr>
        </p:nvSpPr>
        <p:spPr>
          <a:xfrm>
            <a:off x="696000" y="864000"/>
            <a:ext cx="10800000" cy="5400000"/>
          </a:xfrm>
        </p:spPr>
        <p:txBody>
          <a:bodyPr/>
          <a:lstStyle/>
          <a:p>
            <a:r>
              <a:rPr lang="zh-CN" altLang="en-US"/>
              <a:t>每个领域涉及诺干过程</a:t>
            </a:r>
            <a:endParaRPr lang="en-US" altLang="zh-CN"/>
          </a:p>
          <a:p>
            <a:r>
              <a:rPr lang="zh-CN" altLang="en-US"/>
              <a:t>每个过程都有详细的 </a:t>
            </a:r>
            <a:r>
              <a:rPr lang="en-US" altLang="zh-CN"/>
              <a:t>ITTO (</a:t>
            </a:r>
            <a:r>
              <a:rPr lang="zh-CN" altLang="en-US"/>
              <a:t>输入 </a:t>
            </a:r>
            <a:r>
              <a:rPr lang="en-US" altLang="zh-CN"/>
              <a:t>Input</a:t>
            </a:r>
            <a:r>
              <a:rPr lang="zh-CN" altLang="en-US"/>
              <a:t>、工具 </a:t>
            </a:r>
            <a:r>
              <a:rPr lang="en-US" altLang="zh-CN"/>
              <a:t>Tools </a:t>
            </a:r>
            <a:r>
              <a:rPr lang="zh-CN" altLang="en-US"/>
              <a:t>与技术 </a:t>
            </a:r>
            <a:r>
              <a:rPr lang="en-US" altLang="zh-CN"/>
              <a:t>Techniques</a:t>
            </a:r>
            <a:r>
              <a:rPr lang="zh-CN" altLang="en-US"/>
              <a:t>、输出 </a:t>
            </a:r>
            <a:r>
              <a:rPr lang="en-US" altLang="zh-CN"/>
              <a:t>Output)</a:t>
            </a:r>
          </a:p>
          <a:p>
            <a:pPr lvl="1"/>
            <a:r>
              <a:rPr lang="zh-CN" altLang="en-US"/>
              <a:t>如成本管理（图</a:t>
            </a:r>
            <a:r>
              <a:rPr lang="en-US" altLang="zh-CN"/>
              <a:t>1-8</a:t>
            </a:r>
            <a:r>
              <a:rPr lang="zh-CN" altLang="en-US"/>
              <a:t>，</a:t>
            </a:r>
            <a:r>
              <a:rPr lang="en-US" altLang="zh-CN"/>
              <a:t>P14</a:t>
            </a:r>
            <a:r>
              <a:rPr lang="zh-CN" altLang="en-US"/>
              <a:t>）</a:t>
            </a:r>
          </a:p>
        </p:txBody>
      </p:sp>
      <p:sp>
        <p:nvSpPr>
          <p:cNvPr id="5" name="Text Placeholder 4">
            <a:extLst>
              <a:ext uri="{FF2B5EF4-FFF2-40B4-BE49-F238E27FC236}">
                <a16:creationId xmlns:a16="http://schemas.microsoft.com/office/drawing/2014/main" id="{AD5A5FB9-FD1E-6238-08CD-FFE0606A85A0}"/>
              </a:ext>
            </a:extLst>
          </p:cNvPr>
          <p:cNvSpPr>
            <a:spLocks noGrp="1"/>
          </p:cNvSpPr>
          <p:nvPr>
            <p:ph type="body" sz="quarter" idx="10"/>
          </p:nvPr>
        </p:nvSpPr>
        <p:spPr>
          <a:xfrm>
            <a:off x="7071919" y="448519"/>
            <a:ext cx="4424080" cy="338554"/>
          </a:xfrm>
        </p:spPr>
        <p:txBody>
          <a:bodyPr>
            <a:normAutofit/>
          </a:bodyPr>
          <a:lstStyle/>
          <a:p>
            <a:r>
              <a:rPr lang="en-US" altLang="zh-CN"/>
              <a:t>10 Knowledge Areas/PMBOK 6th</a:t>
            </a:r>
            <a:endParaRPr lang="zh-CN" altLang="en-US"/>
          </a:p>
        </p:txBody>
      </p:sp>
      <p:graphicFrame>
        <p:nvGraphicFramePr>
          <p:cNvPr id="9" name="内容占位符 3">
            <a:extLst>
              <a:ext uri="{FF2B5EF4-FFF2-40B4-BE49-F238E27FC236}">
                <a16:creationId xmlns:a16="http://schemas.microsoft.com/office/drawing/2014/main" id="{C1F4BF11-4C89-7F9F-E67E-D373E4D93433}"/>
              </a:ext>
            </a:extLst>
          </p:cNvPr>
          <p:cNvGraphicFramePr>
            <a:graphicFrameLocks/>
          </p:cNvGraphicFramePr>
          <p:nvPr>
            <p:extLst>
              <p:ext uri="{D42A27DB-BD31-4B8C-83A1-F6EECF244321}">
                <p14:modId xmlns:p14="http://schemas.microsoft.com/office/powerpoint/2010/main" val="305254612"/>
              </p:ext>
            </p:extLst>
          </p:nvPr>
        </p:nvGraphicFramePr>
        <p:xfrm>
          <a:off x="695325" y="2575920"/>
          <a:ext cx="10800001" cy="3688080"/>
        </p:xfrm>
        <a:graphic>
          <a:graphicData uri="http://schemas.openxmlformats.org/drawingml/2006/table">
            <a:tbl>
              <a:tblPr firstRow="1" bandRow="1">
                <a:tableStyleId>{72833802-FEF1-4C79-8D5D-14CF1EAF98D9}</a:tableStyleId>
              </a:tblPr>
              <a:tblGrid>
                <a:gridCol w="788494">
                  <a:extLst>
                    <a:ext uri="{9D8B030D-6E8A-4147-A177-3AD203B41FA5}">
                      <a16:colId xmlns:a16="http://schemas.microsoft.com/office/drawing/2014/main" val="3085945329"/>
                    </a:ext>
                  </a:extLst>
                </a:gridCol>
                <a:gridCol w="3851457">
                  <a:extLst>
                    <a:ext uri="{9D8B030D-6E8A-4147-A177-3AD203B41FA5}">
                      <a16:colId xmlns:a16="http://schemas.microsoft.com/office/drawing/2014/main" val="3401312939"/>
                    </a:ext>
                  </a:extLst>
                </a:gridCol>
                <a:gridCol w="6160050">
                  <a:extLst>
                    <a:ext uri="{9D8B030D-6E8A-4147-A177-3AD203B41FA5}">
                      <a16:colId xmlns:a16="http://schemas.microsoft.com/office/drawing/2014/main" val="370412264"/>
                    </a:ext>
                  </a:extLst>
                </a:gridCol>
              </a:tblGrid>
              <a:tr h="236917">
                <a:tc>
                  <a:txBody>
                    <a:bodyPr/>
                    <a:lstStyle/>
                    <a:p>
                      <a:pPr algn="ctr">
                        <a:lnSpc>
                          <a:spcPct val="100000"/>
                        </a:lnSpc>
                        <a:buNone/>
                      </a:pPr>
                      <a:endParaRPr lang="zh-CN" altLang="en-US" sz="1600" dirty="0"/>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rgbClr val="00B0F0"/>
                    </a:solidFill>
                  </a:tcPr>
                </a:tc>
                <a:tc>
                  <a:txBody>
                    <a:bodyPr/>
                    <a:lstStyle/>
                    <a:p>
                      <a:pPr>
                        <a:lnSpc>
                          <a:spcPct val="100000"/>
                        </a:lnSpc>
                        <a:buNone/>
                      </a:pPr>
                      <a:r>
                        <a:rPr lang="en-US" altLang="zh-CN" sz="1600" dirty="0"/>
                        <a:t>Areas</a:t>
                      </a:r>
                      <a:endParaRPr lang="zh-CN" altLang="en-US" sz="1600" dirty="0"/>
                    </a:p>
                  </a:txBody>
                  <a:tcPr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rgbClr val="00B0F0"/>
                    </a:solidFill>
                  </a:tcPr>
                </a:tc>
                <a:tc>
                  <a:txBody>
                    <a:bodyPr/>
                    <a:lstStyle/>
                    <a:p>
                      <a:pPr>
                        <a:lnSpc>
                          <a:spcPct val="100000"/>
                        </a:lnSpc>
                        <a:buNone/>
                      </a:pPr>
                      <a:r>
                        <a:rPr lang="en-US" altLang="zh-CN" sz="1600" dirty="0"/>
                        <a:t>Description</a:t>
                      </a:r>
                      <a:endParaRPr lang="zh-CN" altLang="en-US" sz="1600" dirty="0"/>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3522540848"/>
                  </a:ext>
                </a:extLst>
              </a:tr>
              <a:tr h="236917">
                <a:tc>
                  <a:txBody>
                    <a:bodyPr/>
                    <a:lstStyle/>
                    <a:p>
                      <a:pPr algn="ctr">
                        <a:lnSpc>
                          <a:spcPct val="100000"/>
                        </a:lnSpc>
                        <a:buNone/>
                      </a:pPr>
                      <a:r>
                        <a:rPr lang="en-US" altLang="zh-CN" sz="1600"/>
                        <a:t>1</a:t>
                      </a:r>
                      <a:endParaRPr lang="zh-CN" altLang="en-US" sz="1600"/>
                    </a:p>
                  </a:txBody>
                  <a:tcPr anchor="ctr">
                    <a:lnL w="6350" cap="flat" cmpd="sng" algn="ctr">
                      <a:noFill/>
                      <a:prstDash val="solid"/>
                      <a:miter lim="800000"/>
                    </a:lnL>
                    <a:lnR>
                      <a:noFill/>
                    </a:lnR>
                    <a:lnT w="6350" cap="flat" cmpd="sng" algn="ctr">
                      <a:noFill/>
                      <a:prstDash val="solid"/>
                      <a:miter lim="800000"/>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项目集成管理 </a:t>
                      </a:r>
                      <a:r>
                        <a:rPr lang="en-US" altLang="zh-CN" sz="1600"/>
                        <a:t>Integration </a:t>
                      </a:r>
                      <a:endParaRPr lang="zh-CN" altLang="en-US" sz="1600"/>
                    </a:p>
                  </a:txBody>
                  <a:tcPr anchor="ctr">
                    <a:lnL>
                      <a:noFill/>
                    </a:lnL>
                    <a:lnR>
                      <a:noFill/>
                    </a:lnR>
                    <a:lnT w="6350" cap="flat" cmpd="sng" algn="ctr">
                      <a:noFill/>
                      <a:prstDash val="solid"/>
                      <a:miter lim="800000"/>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统一协调各过程，如制定章程、项目管理计划、变更控制</a:t>
                      </a:r>
                    </a:p>
                  </a:txBody>
                  <a:tcPr anchor="ctr">
                    <a:lnL>
                      <a:noFill/>
                    </a:lnL>
                    <a:lnR w="6350" cap="flat" cmpd="sng" algn="ctr">
                      <a:noFill/>
                      <a:prstDash val="solid"/>
                      <a:miter lim="800000"/>
                    </a:lnR>
                    <a:lnT w="6350" cap="flat" cmpd="sng" algn="ctr">
                      <a:noFill/>
                      <a:prstDash val="solid"/>
                      <a:miter lim="800000"/>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68597692"/>
                  </a:ext>
                </a:extLst>
              </a:tr>
              <a:tr h="236917">
                <a:tc>
                  <a:txBody>
                    <a:bodyPr/>
                    <a:lstStyle/>
                    <a:p>
                      <a:pPr algn="ctr">
                        <a:lnSpc>
                          <a:spcPct val="100000"/>
                        </a:lnSpc>
                        <a:buNone/>
                      </a:pPr>
                      <a:r>
                        <a:rPr lang="en-US" altLang="zh-CN" sz="1600"/>
                        <a:t>2</a:t>
                      </a:r>
                      <a:endParaRPr lang="zh-CN" altLang="en-US" sz="1600"/>
                    </a:p>
                  </a:txBody>
                  <a:tcPr anchor="ctr">
                    <a:lnL w="6350" cap="flat" cmpd="sng" algn="ctr">
                      <a:noFill/>
                      <a:prstDash val="solid"/>
                      <a:miter lim="800000"/>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项目范围管理 </a:t>
                      </a:r>
                      <a:r>
                        <a:rPr lang="en-US" altLang="zh-CN" sz="1600"/>
                        <a:t>Scope</a:t>
                      </a:r>
                      <a:endParaRPr lang="zh-CN" altLang="en-US" sz="1600"/>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定义和控制做哪些工作，防止范围蔓延</a:t>
                      </a:r>
                    </a:p>
                  </a:txBody>
                  <a:tcPr anchor="ctr">
                    <a:lnL>
                      <a:noFill/>
                    </a:lnL>
                    <a:lnR w="6350" cap="flat" cmpd="sng" algn="ctr">
                      <a:noFill/>
                      <a:prstDash val="solid"/>
                      <a:miter lim="800000"/>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88565667"/>
                  </a:ext>
                </a:extLst>
              </a:tr>
              <a:tr h="236917">
                <a:tc>
                  <a:txBody>
                    <a:bodyPr/>
                    <a:lstStyle/>
                    <a:p>
                      <a:pPr algn="ctr">
                        <a:lnSpc>
                          <a:spcPct val="100000"/>
                        </a:lnSpc>
                        <a:buNone/>
                      </a:pPr>
                      <a:r>
                        <a:rPr lang="en-US" altLang="zh-CN" sz="1600"/>
                        <a:t>3</a:t>
                      </a:r>
                      <a:endParaRPr lang="zh-CN" altLang="en-US" sz="1600"/>
                    </a:p>
                  </a:txBody>
                  <a:tcPr anchor="ctr">
                    <a:lnL w="6350" cap="flat" cmpd="sng" algn="ctr">
                      <a:noFill/>
                      <a:prstDash val="solid"/>
                      <a:miter lim="800000"/>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项目进度管理 </a:t>
                      </a:r>
                      <a:r>
                        <a:rPr lang="en-US" altLang="zh-CN" sz="1600"/>
                        <a:t>Schedule </a:t>
                      </a:r>
                      <a:endParaRPr lang="zh-CN" altLang="en-US" sz="1600"/>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活动定义、排序、估算、制定进度计划</a:t>
                      </a:r>
                    </a:p>
                  </a:txBody>
                  <a:tcPr anchor="ctr">
                    <a:lnL>
                      <a:noFill/>
                    </a:lnL>
                    <a:lnR w="6350" cap="flat" cmpd="sng" algn="ctr">
                      <a:noFill/>
                      <a:prstDash val="solid"/>
                      <a:miter lim="800000"/>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24873842"/>
                  </a:ext>
                </a:extLst>
              </a:tr>
              <a:tr h="236917">
                <a:tc>
                  <a:txBody>
                    <a:bodyPr/>
                    <a:lstStyle/>
                    <a:p>
                      <a:pPr algn="ctr">
                        <a:lnSpc>
                          <a:spcPct val="100000"/>
                        </a:lnSpc>
                        <a:buNone/>
                      </a:pPr>
                      <a:r>
                        <a:rPr lang="en-US" altLang="zh-CN" sz="1600"/>
                        <a:t>4</a:t>
                      </a:r>
                      <a:endParaRPr lang="zh-CN" altLang="en-US" sz="1600"/>
                    </a:p>
                  </a:txBody>
                  <a:tcPr anchor="ctr">
                    <a:lnL w="6350" cap="flat" cmpd="sng" algn="ctr">
                      <a:noFill/>
                      <a:prstDash val="solid"/>
                      <a:miter lim="800000"/>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项目成本管理 </a:t>
                      </a:r>
                      <a:r>
                        <a:rPr lang="en-US" altLang="zh-CN" sz="1600"/>
                        <a:t>Cost</a:t>
                      </a:r>
                      <a:endParaRPr lang="zh-CN" altLang="en-US" sz="1600"/>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估算、预算、控制成本</a:t>
                      </a:r>
                    </a:p>
                  </a:txBody>
                  <a:tcPr anchor="ctr">
                    <a:lnL>
                      <a:noFill/>
                    </a:lnL>
                    <a:lnR w="6350" cap="flat" cmpd="sng" algn="ctr">
                      <a:noFill/>
                      <a:prstDash val="solid"/>
                      <a:miter lim="800000"/>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21566994"/>
                  </a:ext>
                </a:extLst>
              </a:tr>
              <a:tr h="236917">
                <a:tc>
                  <a:txBody>
                    <a:bodyPr/>
                    <a:lstStyle/>
                    <a:p>
                      <a:pPr algn="ctr">
                        <a:lnSpc>
                          <a:spcPct val="100000"/>
                        </a:lnSpc>
                        <a:buNone/>
                      </a:pPr>
                      <a:r>
                        <a:rPr lang="en-US" altLang="zh-CN" sz="1600"/>
                        <a:t>5</a:t>
                      </a:r>
                      <a:endParaRPr lang="zh-CN" altLang="en-US" sz="1600"/>
                    </a:p>
                  </a:txBody>
                  <a:tcPr anchor="ctr">
                    <a:lnL w="6350" cap="flat" cmpd="sng" algn="ctr">
                      <a:noFill/>
                      <a:prstDash val="solid"/>
                      <a:miter lim="800000"/>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项目质量管理 </a:t>
                      </a:r>
                      <a:r>
                        <a:rPr lang="en-US" altLang="zh-CN" sz="1600"/>
                        <a:t>Quality</a:t>
                      </a:r>
                      <a:endParaRPr lang="zh-CN" altLang="en-US" sz="1600"/>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规划质量、管理质量、控制质量</a:t>
                      </a:r>
                    </a:p>
                  </a:txBody>
                  <a:tcPr anchor="ctr">
                    <a:lnL>
                      <a:noFill/>
                    </a:lnL>
                    <a:lnR w="6350" cap="flat" cmpd="sng" algn="ctr">
                      <a:noFill/>
                      <a:prstDash val="solid"/>
                      <a:miter lim="800000"/>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61976425"/>
                  </a:ext>
                </a:extLst>
              </a:tr>
              <a:tr h="236917">
                <a:tc>
                  <a:txBody>
                    <a:bodyPr/>
                    <a:lstStyle/>
                    <a:p>
                      <a:pPr algn="ctr">
                        <a:lnSpc>
                          <a:spcPct val="100000"/>
                        </a:lnSpc>
                        <a:buNone/>
                      </a:pPr>
                      <a:r>
                        <a:rPr lang="en-US" altLang="zh-CN" sz="1600"/>
                        <a:t>6</a:t>
                      </a:r>
                      <a:endParaRPr lang="zh-CN" altLang="en-US" sz="1600"/>
                    </a:p>
                  </a:txBody>
                  <a:tcPr anchor="ctr">
                    <a:lnL w="6350" cap="flat" cmpd="sng" algn="ctr">
                      <a:noFill/>
                      <a:prstDash val="solid"/>
                      <a:miter lim="800000"/>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项目资源管理 </a:t>
                      </a:r>
                      <a:r>
                        <a:rPr lang="en-US" altLang="zh-CN" sz="1600"/>
                        <a:t>Resource</a:t>
                      </a:r>
                      <a:endParaRPr lang="zh-CN" altLang="en-US" sz="1600"/>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获取、发展、管理团队及实物资源</a:t>
                      </a:r>
                    </a:p>
                  </a:txBody>
                  <a:tcPr anchor="ctr">
                    <a:lnL>
                      <a:noFill/>
                    </a:lnL>
                    <a:lnR w="6350" cap="flat" cmpd="sng" algn="ctr">
                      <a:noFill/>
                      <a:prstDash val="solid"/>
                      <a:miter lim="800000"/>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3909409"/>
                  </a:ext>
                </a:extLst>
              </a:tr>
              <a:tr h="236917">
                <a:tc>
                  <a:txBody>
                    <a:bodyPr/>
                    <a:lstStyle/>
                    <a:p>
                      <a:pPr algn="ctr">
                        <a:lnSpc>
                          <a:spcPct val="100000"/>
                        </a:lnSpc>
                        <a:buNone/>
                      </a:pPr>
                      <a:r>
                        <a:rPr lang="en-US" altLang="zh-CN" sz="1600"/>
                        <a:t>7</a:t>
                      </a:r>
                      <a:endParaRPr lang="zh-CN" altLang="en-US" sz="1600"/>
                    </a:p>
                  </a:txBody>
                  <a:tcPr anchor="ctr">
                    <a:lnL w="6350" cap="flat" cmpd="sng" algn="ctr">
                      <a:noFill/>
                      <a:prstDash val="solid"/>
                      <a:miter lim="800000"/>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项目沟通管理 </a:t>
                      </a:r>
                      <a:r>
                        <a:rPr lang="en-US" altLang="zh-CN" sz="1600"/>
                        <a:t>Communication</a:t>
                      </a:r>
                      <a:endParaRPr lang="zh-CN" altLang="en-US" sz="1600"/>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规划、管理、监督沟通</a:t>
                      </a:r>
                    </a:p>
                  </a:txBody>
                  <a:tcPr anchor="ctr">
                    <a:lnL>
                      <a:noFill/>
                    </a:lnL>
                    <a:lnR w="6350" cap="flat" cmpd="sng" algn="ctr">
                      <a:noFill/>
                      <a:prstDash val="solid"/>
                      <a:miter lim="800000"/>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73125882"/>
                  </a:ext>
                </a:extLst>
              </a:tr>
              <a:tr h="236917">
                <a:tc>
                  <a:txBody>
                    <a:bodyPr/>
                    <a:lstStyle/>
                    <a:p>
                      <a:pPr algn="ctr">
                        <a:lnSpc>
                          <a:spcPct val="100000"/>
                        </a:lnSpc>
                        <a:buNone/>
                      </a:pPr>
                      <a:r>
                        <a:rPr lang="en-US" altLang="zh-CN" sz="1600"/>
                        <a:t>8</a:t>
                      </a:r>
                      <a:endParaRPr lang="zh-CN" altLang="en-US" sz="1600"/>
                    </a:p>
                  </a:txBody>
                  <a:tcPr anchor="ctr">
                    <a:lnL w="6350" cap="flat" cmpd="sng" algn="ctr">
                      <a:noFill/>
                      <a:prstDash val="solid"/>
                      <a:miter lim="800000"/>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项目风险管理 </a:t>
                      </a:r>
                      <a:r>
                        <a:rPr lang="en-US" altLang="zh-CN" sz="1600"/>
                        <a:t>Risk</a:t>
                      </a:r>
                      <a:endParaRPr lang="zh-CN" altLang="en-US" sz="1600"/>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识别、分析、应对不确定性</a:t>
                      </a:r>
                    </a:p>
                  </a:txBody>
                  <a:tcPr anchor="ctr">
                    <a:lnL>
                      <a:noFill/>
                    </a:lnL>
                    <a:lnR w="6350" cap="flat" cmpd="sng" algn="ctr">
                      <a:noFill/>
                      <a:prstDash val="solid"/>
                      <a:miter lim="800000"/>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04933583"/>
                  </a:ext>
                </a:extLst>
              </a:tr>
              <a:tr h="236917">
                <a:tc>
                  <a:txBody>
                    <a:bodyPr/>
                    <a:lstStyle/>
                    <a:p>
                      <a:pPr algn="ctr">
                        <a:lnSpc>
                          <a:spcPct val="100000"/>
                        </a:lnSpc>
                        <a:buNone/>
                      </a:pPr>
                      <a:r>
                        <a:rPr lang="en-US" altLang="zh-CN" sz="1600"/>
                        <a:t>9</a:t>
                      </a:r>
                      <a:endParaRPr lang="zh-CN" altLang="en-US" sz="1600"/>
                    </a:p>
                  </a:txBody>
                  <a:tcPr anchor="ctr">
                    <a:lnL w="6350" cap="flat" cmpd="sng" algn="ctr">
                      <a:noFill/>
                      <a:prstDash val="solid"/>
                      <a:miter lim="800000"/>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项目采购管理 </a:t>
                      </a:r>
                      <a:r>
                        <a:rPr lang="en-US" altLang="zh-CN" sz="1600"/>
                        <a:t>Procurement</a:t>
                      </a:r>
                      <a:endParaRPr lang="zh-CN" altLang="en-US" sz="1600"/>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从外部获取产品</a:t>
                      </a:r>
                      <a:r>
                        <a:rPr lang="en-US" altLang="zh-CN" sz="1600"/>
                        <a:t>/</a:t>
                      </a:r>
                      <a:r>
                        <a:rPr lang="zh-CN" altLang="en-US" sz="1600"/>
                        <a:t>服务</a:t>
                      </a:r>
                    </a:p>
                  </a:txBody>
                  <a:tcPr anchor="ctr">
                    <a:lnL>
                      <a:noFill/>
                    </a:lnL>
                    <a:lnR w="6350" cap="flat" cmpd="sng" algn="ctr">
                      <a:noFill/>
                      <a:prstDash val="solid"/>
                      <a:miter lim="800000"/>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55479412"/>
                  </a:ext>
                </a:extLst>
              </a:tr>
              <a:tr h="236917">
                <a:tc>
                  <a:txBody>
                    <a:bodyPr/>
                    <a:lstStyle/>
                    <a:p>
                      <a:pPr algn="ctr">
                        <a:lnSpc>
                          <a:spcPct val="100000"/>
                        </a:lnSpc>
                        <a:buNone/>
                      </a:pPr>
                      <a:r>
                        <a:rPr lang="en-US" altLang="zh-CN" sz="1600"/>
                        <a:t>10</a:t>
                      </a:r>
                      <a:endParaRPr lang="zh-CN" altLang="en-US" sz="1600"/>
                    </a:p>
                  </a:txBody>
                  <a:tcPr anchor="ctr">
                    <a:lnL w="6350" cap="flat" cmpd="sng" algn="ctr">
                      <a:noFill/>
                      <a:prstDash val="solid"/>
                      <a:miter lim="800000"/>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项目干系人管理 </a:t>
                      </a:r>
                      <a:r>
                        <a:rPr lang="en-US" altLang="zh-CN" sz="1600"/>
                        <a:t>Stakeholder</a:t>
                      </a:r>
                      <a:endParaRPr lang="zh-CN" altLang="en-US" sz="1600"/>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dirty="0"/>
                        <a:t>识别干系人、制定参与策略、管理期望</a:t>
                      </a:r>
                    </a:p>
                  </a:txBody>
                  <a:tcPr anchor="ctr">
                    <a:lnL>
                      <a:noFill/>
                    </a:lnL>
                    <a:lnR w="6350" cap="flat" cmpd="sng" algn="ctr">
                      <a:noFill/>
                      <a:prstDash val="solid"/>
                      <a:miter lim="800000"/>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16840895"/>
                  </a:ext>
                </a:extLst>
              </a:tr>
            </a:tbl>
          </a:graphicData>
        </a:graphic>
      </p:graphicFrame>
    </p:spTree>
    <p:extLst>
      <p:ext uri="{BB962C8B-B14F-4D97-AF65-F5344CB8AC3E}">
        <p14:creationId xmlns:p14="http://schemas.microsoft.com/office/powerpoint/2010/main" val="2118386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89B10-6292-E109-3189-FCE3094903D2}"/>
              </a:ext>
            </a:extLst>
          </p:cNvPr>
          <p:cNvSpPr>
            <a:spLocks noGrp="1"/>
          </p:cNvSpPr>
          <p:nvPr>
            <p:ph type="title"/>
          </p:nvPr>
        </p:nvSpPr>
        <p:spPr>
          <a:xfrm>
            <a:off x="792000" y="360000"/>
            <a:ext cx="6375921" cy="429413"/>
          </a:xfrm>
        </p:spPr>
        <p:txBody>
          <a:bodyPr>
            <a:normAutofit/>
          </a:bodyPr>
          <a:lstStyle/>
          <a:p>
            <a:r>
              <a:rPr lang="en-US" altLang="zh-CN"/>
              <a:t>3.2 PMBOK</a:t>
            </a:r>
            <a:r>
              <a:rPr lang="zh-CN" altLang="zh-CN"/>
              <a:t>第</a:t>
            </a:r>
            <a:r>
              <a:rPr lang="en-US" altLang="zh-CN"/>
              <a:t>7</a:t>
            </a:r>
            <a:r>
              <a:rPr lang="zh-CN" altLang="zh-CN"/>
              <a:t>版</a:t>
            </a:r>
            <a:endParaRPr lang="zh-CN" altLang="en-US"/>
          </a:p>
        </p:txBody>
      </p:sp>
      <p:sp>
        <p:nvSpPr>
          <p:cNvPr id="5" name="Content Placeholder 4">
            <a:extLst>
              <a:ext uri="{FF2B5EF4-FFF2-40B4-BE49-F238E27FC236}">
                <a16:creationId xmlns:a16="http://schemas.microsoft.com/office/drawing/2014/main" id="{6BBA832C-A6AB-BAD5-11DD-A6D12B12B05A}"/>
              </a:ext>
            </a:extLst>
          </p:cNvPr>
          <p:cNvSpPr>
            <a:spLocks noGrp="1"/>
          </p:cNvSpPr>
          <p:nvPr>
            <p:ph idx="1"/>
          </p:nvPr>
        </p:nvSpPr>
        <p:spPr>
          <a:xfrm>
            <a:off x="696000" y="864000"/>
            <a:ext cx="10800000" cy="5400000"/>
          </a:xfrm>
        </p:spPr>
        <p:txBody>
          <a:bodyPr>
            <a:normAutofit/>
          </a:bodyPr>
          <a:lstStyle/>
          <a:p>
            <a:r>
              <a:rPr lang="en-US" altLang="zh-CN" dirty="0"/>
              <a:t>2021</a:t>
            </a:r>
            <a:r>
              <a:rPr lang="zh-CN" altLang="en-US" dirty="0"/>
              <a:t>年</a:t>
            </a:r>
            <a:r>
              <a:rPr lang="en-US" altLang="zh-CN" dirty="0"/>
              <a:t>7</a:t>
            </a:r>
            <a:r>
              <a:rPr lang="zh-CN" altLang="en-US" dirty="0"/>
              <a:t>月发布</a:t>
            </a:r>
            <a:endParaRPr lang="en-US" altLang="zh-CN" dirty="0"/>
          </a:p>
          <a:p>
            <a:r>
              <a:rPr lang="zh-CN" altLang="en-US" dirty="0"/>
              <a:t>强调做什么 </a:t>
            </a:r>
            <a:r>
              <a:rPr lang="en-US" altLang="zh-CN" dirty="0"/>
              <a:t>What </a:t>
            </a:r>
            <a:r>
              <a:rPr lang="zh-CN" altLang="en-US" dirty="0"/>
              <a:t>和为什么做</a:t>
            </a:r>
            <a:r>
              <a:rPr lang="en-US" altLang="zh-CN" dirty="0"/>
              <a:t> Why</a:t>
            </a:r>
          </a:p>
          <a:p>
            <a:r>
              <a:rPr lang="zh-CN" altLang="en-US" dirty="0"/>
              <a:t>基于原则 </a:t>
            </a:r>
            <a:r>
              <a:rPr lang="en-US" altLang="zh-CN" dirty="0"/>
              <a:t>Principle-Based</a:t>
            </a:r>
          </a:p>
          <a:p>
            <a:r>
              <a:rPr lang="zh-CN" altLang="en-US" dirty="0"/>
              <a:t>核心理念 </a:t>
            </a:r>
            <a:r>
              <a:rPr lang="en-US" altLang="zh-CN" dirty="0"/>
              <a:t>Philosophy</a:t>
            </a:r>
            <a:endParaRPr lang="zh-CN" altLang="en-US" dirty="0"/>
          </a:p>
          <a:p>
            <a:pPr lvl="1"/>
            <a:r>
              <a:rPr lang="zh-CN" altLang="en-US" dirty="0"/>
              <a:t>价值导向：不仅关注产出 </a:t>
            </a:r>
            <a:r>
              <a:rPr lang="en-US" altLang="zh-CN" dirty="0"/>
              <a:t>Output</a:t>
            </a:r>
            <a:r>
              <a:rPr lang="zh-CN" altLang="en-US" dirty="0"/>
              <a:t>，更关注成果 </a:t>
            </a:r>
            <a:r>
              <a:rPr lang="en-US" altLang="zh-CN" dirty="0"/>
              <a:t>Outcome</a:t>
            </a:r>
            <a:r>
              <a:rPr lang="zh-CN" altLang="en-US" dirty="0"/>
              <a:t> 和商业价值</a:t>
            </a:r>
          </a:p>
          <a:p>
            <a:pPr lvl="1"/>
            <a:r>
              <a:rPr lang="zh-CN" altLang="en-US" dirty="0"/>
              <a:t>灵活性与裁剪：没有一刀切的流程，鼓励根据项目情境选择合适的方法（敏捷、混合或预测）</a:t>
            </a:r>
          </a:p>
          <a:p>
            <a:pPr lvl="1"/>
            <a:r>
              <a:rPr lang="zh-CN" altLang="en-US" dirty="0"/>
              <a:t>系统性思维：将项目视为复杂系统的一部分，强调应对不确定性和变革</a:t>
            </a:r>
          </a:p>
          <a:p>
            <a:r>
              <a:rPr lang="zh-CN" altLang="en-US" dirty="0"/>
              <a:t>核心架构 </a:t>
            </a:r>
            <a:r>
              <a:rPr lang="en-US" altLang="zh-CN" dirty="0"/>
              <a:t>Structure</a:t>
            </a:r>
            <a:endParaRPr lang="zh-CN" altLang="en-US" dirty="0"/>
          </a:p>
          <a:p>
            <a:pPr lvl="1"/>
            <a:r>
              <a:rPr lang="zh-CN" altLang="en-US" dirty="0"/>
              <a:t>十二项原则 </a:t>
            </a:r>
            <a:r>
              <a:rPr lang="en-US" altLang="zh-CN" dirty="0"/>
              <a:t>(12 Principles)</a:t>
            </a:r>
            <a:r>
              <a:rPr lang="zh-CN" altLang="en-US" dirty="0"/>
              <a:t>：指导项目行为的核心价值观，适用于任何方法论（预测、敏捷、混合）</a:t>
            </a:r>
          </a:p>
          <a:p>
            <a:pPr lvl="1"/>
            <a:r>
              <a:rPr lang="zh-CN" altLang="en-US" dirty="0"/>
              <a:t>八大绩效域 </a:t>
            </a:r>
            <a:r>
              <a:rPr lang="en-US" altLang="zh-CN" dirty="0"/>
              <a:t>(8 Performance Domains)</a:t>
            </a:r>
            <a:r>
              <a:rPr lang="zh-CN" altLang="en-US" dirty="0"/>
              <a:t>：取代了知识领域，强调这些领域需要同时关注、相互作用，以交付项目成果</a:t>
            </a:r>
            <a:endParaRPr lang="en-US" altLang="zh-CN" dirty="0"/>
          </a:p>
        </p:txBody>
      </p:sp>
      <p:sp>
        <p:nvSpPr>
          <p:cNvPr id="7" name="Text Placeholder 6">
            <a:extLst>
              <a:ext uri="{FF2B5EF4-FFF2-40B4-BE49-F238E27FC236}">
                <a16:creationId xmlns:a16="http://schemas.microsoft.com/office/drawing/2014/main" id="{D47A560A-20AE-69FB-8E0D-6DA0346E69D9}"/>
              </a:ext>
            </a:extLst>
          </p:cNvPr>
          <p:cNvSpPr>
            <a:spLocks noGrp="1"/>
          </p:cNvSpPr>
          <p:nvPr>
            <p:ph type="body" sz="quarter" idx="10"/>
          </p:nvPr>
        </p:nvSpPr>
        <p:spPr>
          <a:xfrm>
            <a:off x="7071919" y="448519"/>
            <a:ext cx="4424080" cy="338554"/>
          </a:xfrm>
        </p:spPr>
        <p:txBody>
          <a:bodyPr/>
          <a:lstStyle/>
          <a:p>
            <a:r>
              <a:rPr lang="en-US" altLang="zh-CN"/>
              <a:t>PMBOK 7th</a:t>
            </a:r>
            <a:endParaRPr lang="zh-CN" altLang="en-US"/>
          </a:p>
        </p:txBody>
      </p:sp>
    </p:spTree>
    <p:extLst>
      <p:ext uri="{BB962C8B-B14F-4D97-AF65-F5344CB8AC3E}">
        <p14:creationId xmlns:p14="http://schemas.microsoft.com/office/powerpoint/2010/main" val="373502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89B10-6292-E109-3189-FCE3094903D2}"/>
              </a:ext>
            </a:extLst>
          </p:cNvPr>
          <p:cNvSpPr>
            <a:spLocks noGrp="1"/>
          </p:cNvSpPr>
          <p:nvPr>
            <p:ph type="title"/>
          </p:nvPr>
        </p:nvSpPr>
        <p:spPr>
          <a:xfrm>
            <a:off x="792000" y="360000"/>
            <a:ext cx="6375921" cy="429413"/>
          </a:xfrm>
        </p:spPr>
        <p:txBody>
          <a:bodyPr>
            <a:normAutofit/>
          </a:bodyPr>
          <a:lstStyle/>
          <a:p>
            <a:r>
              <a:rPr lang="en-US" altLang="zh-CN"/>
              <a:t>3.2 PMBOK</a:t>
            </a:r>
            <a:r>
              <a:rPr lang="zh-CN" altLang="zh-CN"/>
              <a:t>第</a:t>
            </a:r>
            <a:r>
              <a:rPr lang="en-US" altLang="zh-CN"/>
              <a:t>7</a:t>
            </a:r>
            <a:r>
              <a:rPr lang="zh-CN" altLang="zh-CN"/>
              <a:t>版</a:t>
            </a:r>
            <a:endParaRPr lang="zh-CN" altLang="en-US"/>
          </a:p>
        </p:txBody>
      </p:sp>
      <p:sp>
        <p:nvSpPr>
          <p:cNvPr id="5" name="Content Placeholder 4">
            <a:extLst>
              <a:ext uri="{FF2B5EF4-FFF2-40B4-BE49-F238E27FC236}">
                <a16:creationId xmlns:a16="http://schemas.microsoft.com/office/drawing/2014/main" id="{6BBA832C-A6AB-BAD5-11DD-A6D12B12B05A}"/>
              </a:ext>
            </a:extLst>
          </p:cNvPr>
          <p:cNvSpPr>
            <a:spLocks noGrp="1"/>
          </p:cNvSpPr>
          <p:nvPr>
            <p:ph idx="1"/>
          </p:nvPr>
        </p:nvSpPr>
        <p:spPr>
          <a:xfrm>
            <a:off x="696000" y="864000"/>
            <a:ext cx="10800000" cy="5400000"/>
          </a:xfrm>
        </p:spPr>
        <p:txBody>
          <a:bodyPr wrap="square">
            <a:normAutofit/>
          </a:bodyPr>
          <a:lstStyle/>
          <a:p>
            <a:r>
              <a:rPr lang="zh-CN" altLang="en-US"/>
              <a:t>注重价值交付和适应性</a:t>
            </a:r>
            <a:endParaRPr lang="en-US" altLang="zh-CN"/>
          </a:p>
          <a:p>
            <a:r>
              <a:rPr lang="zh-CN" altLang="zh-CN"/>
              <a:t>不是对第</a:t>
            </a:r>
            <a:r>
              <a:rPr lang="en-US" altLang="zh-CN"/>
              <a:t>6</a:t>
            </a:r>
            <a:r>
              <a:rPr lang="zh-CN" altLang="zh-CN"/>
              <a:t>版推翻、不是替代第</a:t>
            </a:r>
            <a:r>
              <a:rPr lang="en-US" altLang="zh-CN"/>
              <a:t>6</a:t>
            </a:r>
            <a:r>
              <a:rPr lang="zh-CN" altLang="zh-CN"/>
              <a:t>版</a:t>
            </a:r>
            <a:endParaRPr lang="en-US" altLang="zh-CN"/>
          </a:p>
          <a:p>
            <a:r>
              <a:rPr lang="zh-CN" altLang="zh-CN"/>
              <a:t>而是对第</a:t>
            </a:r>
            <a:r>
              <a:rPr lang="en-US" altLang="zh-CN"/>
              <a:t>6</a:t>
            </a:r>
            <a:r>
              <a:rPr lang="zh-CN" altLang="zh-CN"/>
              <a:t>版中项目管理核心精髓的延伸，是对第</a:t>
            </a:r>
            <a:r>
              <a:rPr lang="en-US" altLang="zh-CN"/>
              <a:t>6</a:t>
            </a:r>
            <a:r>
              <a:rPr lang="zh-CN" altLang="zh-CN"/>
              <a:t>版知识领域与过程组高层次、高维度的承接，再度续写下个项目管理标准构架的辉煌</a:t>
            </a:r>
            <a:endParaRPr lang="zh-CN" altLang="en-US"/>
          </a:p>
          <a:p>
            <a:r>
              <a:rPr lang="zh-CN" altLang="zh-CN"/>
              <a:t>与第</a:t>
            </a:r>
            <a:r>
              <a:rPr lang="en-US" altLang="zh-CN"/>
              <a:t>6</a:t>
            </a:r>
            <a:r>
              <a:rPr lang="zh-CN" altLang="zh-CN"/>
              <a:t>版</a:t>
            </a:r>
            <a:r>
              <a:rPr lang="zh-CN" altLang="en-US"/>
              <a:t>长期</a:t>
            </a:r>
            <a:r>
              <a:rPr lang="zh-CN" altLang="zh-CN"/>
              <a:t>共存</a:t>
            </a:r>
            <a:endParaRPr lang="en-US" altLang="zh-CN"/>
          </a:p>
          <a:p>
            <a:r>
              <a:rPr lang="en-US" altLang="zh-CN"/>
              <a:t>PMBOK </a:t>
            </a:r>
            <a:r>
              <a:rPr lang="zh-CN" altLang="en-US"/>
              <a:t>第八版（</a:t>
            </a:r>
            <a:r>
              <a:rPr lang="en-US" altLang="zh-CN"/>
              <a:t>2025</a:t>
            </a:r>
            <a:r>
              <a:rPr lang="zh-CN" altLang="en-US"/>
              <a:t>年</a:t>
            </a:r>
            <a:r>
              <a:rPr lang="en-US" altLang="zh-CN"/>
              <a:t>11</a:t>
            </a:r>
            <a:r>
              <a:rPr lang="zh-CN" altLang="en-US"/>
              <a:t>月发布）把</a:t>
            </a:r>
            <a:r>
              <a:rPr lang="en-US" altLang="zh-CN"/>
              <a:t>8</a:t>
            </a:r>
            <a:r>
              <a:rPr lang="zh-CN" altLang="en-US"/>
              <a:t>大绩效域又改成了</a:t>
            </a:r>
            <a:r>
              <a:rPr lang="en-US" altLang="zh-CN"/>
              <a:t>7</a:t>
            </a:r>
            <a:r>
              <a:rPr lang="zh-CN" altLang="en-US"/>
              <a:t>大绩效域</a:t>
            </a:r>
            <a:endParaRPr lang="en-US" altLang="zh-CN"/>
          </a:p>
          <a:p>
            <a:r>
              <a:rPr lang="zh-CN" altLang="en-US"/>
              <a:t>体系框架动态发展</a:t>
            </a:r>
            <a:endParaRPr lang="en-US" altLang="zh-CN"/>
          </a:p>
          <a:p>
            <a:endParaRPr lang="zh-CN" altLang="en-US"/>
          </a:p>
        </p:txBody>
      </p:sp>
      <p:sp>
        <p:nvSpPr>
          <p:cNvPr id="37" name="Text Placeholder 36">
            <a:extLst>
              <a:ext uri="{FF2B5EF4-FFF2-40B4-BE49-F238E27FC236}">
                <a16:creationId xmlns:a16="http://schemas.microsoft.com/office/drawing/2014/main" id="{9C5FC84B-59EE-1E35-ED55-4DE08D3ED184}"/>
              </a:ext>
            </a:extLst>
          </p:cNvPr>
          <p:cNvSpPr>
            <a:spLocks noGrp="1"/>
          </p:cNvSpPr>
          <p:nvPr>
            <p:ph type="body" sz="quarter" idx="10"/>
          </p:nvPr>
        </p:nvSpPr>
        <p:spPr>
          <a:xfrm>
            <a:off x="7071919" y="448519"/>
            <a:ext cx="4424080" cy="338554"/>
          </a:xfrm>
        </p:spPr>
        <p:txBody>
          <a:bodyPr/>
          <a:lstStyle/>
          <a:p>
            <a:r>
              <a:rPr lang="en-US" altLang="zh-CN"/>
              <a:t>PMBOK 7th</a:t>
            </a:r>
            <a:endParaRPr lang="zh-CN" altLang="en-US"/>
          </a:p>
        </p:txBody>
      </p:sp>
    </p:spTree>
    <p:extLst>
      <p:ext uri="{BB962C8B-B14F-4D97-AF65-F5344CB8AC3E}">
        <p14:creationId xmlns:p14="http://schemas.microsoft.com/office/powerpoint/2010/main" val="34744696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6F4CB5A-A8EF-06E5-4A2E-423A9A2903B5}"/>
              </a:ext>
            </a:extLst>
          </p:cNvPr>
          <p:cNvSpPr>
            <a:spLocks noGrp="1"/>
          </p:cNvSpPr>
          <p:nvPr>
            <p:ph type="title"/>
          </p:nvPr>
        </p:nvSpPr>
        <p:spPr>
          <a:xfrm>
            <a:off x="792000" y="360000"/>
            <a:ext cx="6375921" cy="429413"/>
          </a:xfrm>
        </p:spPr>
        <p:txBody>
          <a:bodyPr>
            <a:normAutofit/>
          </a:bodyPr>
          <a:lstStyle/>
          <a:p>
            <a:r>
              <a:rPr lang="en-US" altLang="zh-CN"/>
              <a:t>3.2.1 </a:t>
            </a:r>
            <a:r>
              <a:rPr lang="zh-CN" altLang="en-US"/>
              <a:t>十二项原则</a:t>
            </a:r>
          </a:p>
        </p:txBody>
      </p:sp>
      <p:sp>
        <p:nvSpPr>
          <p:cNvPr id="5" name="内容占位符 4">
            <a:extLst>
              <a:ext uri="{FF2B5EF4-FFF2-40B4-BE49-F238E27FC236}">
                <a16:creationId xmlns:a16="http://schemas.microsoft.com/office/drawing/2014/main" id="{C9C7090E-8B5E-A936-63E3-A0061FC794DB}"/>
              </a:ext>
            </a:extLst>
          </p:cNvPr>
          <p:cNvSpPr>
            <a:spLocks noGrp="1"/>
          </p:cNvSpPr>
          <p:nvPr>
            <p:ph idx="1"/>
          </p:nvPr>
        </p:nvSpPr>
        <p:spPr/>
        <p:txBody>
          <a:bodyPr/>
          <a:lstStyle/>
          <a:p>
            <a:endParaRPr lang="zh-CN" altLang="en-US"/>
          </a:p>
        </p:txBody>
      </p:sp>
      <p:sp>
        <p:nvSpPr>
          <p:cNvPr id="10" name="Text Placeholder 9">
            <a:extLst>
              <a:ext uri="{FF2B5EF4-FFF2-40B4-BE49-F238E27FC236}">
                <a16:creationId xmlns:a16="http://schemas.microsoft.com/office/drawing/2014/main" id="{B6D6918B-E4BB-B047-2D6B-F354350C4942}"/>
              </a:ext>
            </a:extLst>
          </p:cNvPr>
          <p:cNvSpPr>
            <a:spLocks noGrp="1"/>
          </p:cNvSpPr>
          <p:nvPr>
            <p:ph type="body" sz="quarter" idx="10"/>
          </p:nvPr>
        </p:nvSpPr>
        <p:spPr>
          <a:xfrm>
            <a:off x="7071919" y="448519"/>
            <a:ext cx="4424080" cy="338554"/>
          </a:xfrm>
        </p:spPr>
        <p:txBody>
          <a:bodyPr/>
          <a:lstStyle/>
          <a:p>
            <a:r>
              <a:rPr lang="en-US" altLang="zh-CN"/>
              <a:t>12 Principles/PMBOK 7th</a:t>
            </a:r>
            <a:endParaRPr lang="zh-CN" altLang="en-US"/>
          </a:p>
        </p:txBody>
      </p:sp>
      <p:graphicFrame>
        <p:nvGraphicFramePr>
          <p:cNvPr id="29" name="内容占位符 22">
            <a:extLst>
              <a:ext uri="{FF2B5EF4-FFF2-40B4-BE49-F238E27FC236}">
                <a16:creationId xmlns:a16="http://schemas.microsoft.com/office/drawing/2014/main" id="{AD0B7B4B-2113-348A-B67E-2845D98245F6}"/>
              </a:ext>
            </a:extLst>
          </p:cNvPr>
          <p:cNvGraphicFramePr>
            <a:graphicFrameLocks/>
          </p:cNvGraphicFramePr>
          <p:nvPr>
            <p:extLst>
              <p:ext uri="{D42A27DB-BD31-4B8C-83A1-F6EECF244321}">
                <p14:modId xmlns:p14="http://schemas.microsoft.com/office/powerpoint/2010/main" val="4224422795"/>
              </p:ext>
            </p:extLst>
          </p:nvPr>
        </p:nvGraphicFramePr>
        <p:xfrm>
          <a:off x="695325" y="1874880"/>
          <a:ext cx="10801352" cy="4389120"/>
        </p:xfrm>
        <a:graphic>
          <a:graphicData uri="http://schemas.openxmlformats.org/drawingml/2006/table">
            <a:tbl>
              <a:tblPr/>
              <a:tblGrid>
                <a:gridCol w="533400">
                  <a:extLst>
                    <a:ext uri="{9D8B030D-6E8A-4147-A177-3AD203B41FA5}">
                      <a16:colId xmlns:a16="http://schemas.microsoft.com/office/drawing/2014/main" val="4233815403"/>
                    </a:ext>
                  </a:extLst>
                </a:gridCol>
                <a:gridCol w="1600200">
                  <a:extLst>
                    <a:ext uri="{9D8B030D-6E8A-4147-A177-3AD203B41FA5}">
                      <a16:colId xmlns:a16="http://schemas.microsoft.com/office/drawing/2014/main" val="1611770076"/>
                    </a:ext>
                  </a:extLst>
                </a:gridCol>
                <a:gridCol w="2333625">
                  <a:extLst>
                    <a:ext uri="{9D8B030D-6E8A-4147-A177-3AD203B41FA5}">
                      <a16:colId xmlns:a16="http://schemas.microsoft.com/office/drawing/2014/main" val="4047330409"/>
                    </a:ext>
                  </a:extLst>
                </a:gridCol>
                <a:gridCol w="6334127">
                  <a:extLst>
                    <a:ext uri="{9D8B030D-6E8A-4147-A177-3AD203B41FA5}">
                      <a16:colId xmlns:a16="http://schemas.microsoft.com/office/drawing/2014/main" val="2143904950"/>
                    </a:ext>
                  </a:extLst>
                </a:gridCol>
              </a:tblGrid>
              <a:tr h="354659">
                <a:tc>
                  <a:txBody>
                    <a:bodyPr/>
                    <a:lstStyle/>
                    <a:p>
                      <a:pPr algn="ctr" fontAlgn="ctr" latinLnBrk="0">
                        <a:lnSpc>
                          <a:spcPct val="100000"/>
                        </a:lnSpc>
                        <a:buNone/>
                      </a:pPr>
                      <a:r>
                        <a:rPr lang="en-US" altLang="zh-CN" sz="1400"/>
                        <a:t>1</a:t>
                      </a:r>
                      <a:endParaRPr lang="zh-CN" altLang="en-US" sz="14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zh-CN" altLang="en-US" sz="1400" dirty="0"/>
                        <a:t>尽职、尊重和关心</a:t>
                      </a:r>
                      <a:r>
                        <a:rPr lang="en-US" altLang="zh-CN" sz="1400" dirty="0"/>
                        <a:t>(</a:t>
                      </a:r>
                      <a:r>
                        <a:rPr lang="zh-CN" altLang="en-US" sz="1400" dirty="0"/>
                        <a:t>管家精神</a:t>
                      </a:r>
                      <a:r>
                        <a:rPr lang="en-US" altLang="zh-CN" sz="1400" dirty="0"/>
                        <a: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en-US" sz="1400"/>
                        <a:t>Be a diligent, respectful, and caring steward.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zh-CN" altLang="en-US" sz="1400"/>
                        <a:t>核心： 建立信任与责任感。</a:t>
                      </a:r>
                      <a:br>
                        <a:rPr lang="zh-CN" altLang="en-US" sz="1400"/>
                      </a:br>
                      <a:r>
                        <a:rPr lang="zh-CN" altLang="en-US" sz="1400"/>
                        <a:t>项目经理应像“管家”一样，以诚信、关怀和尊重的态度管理资源（包括人、财、物和环境），严守合规与安全底线，追求长期可持续性。</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436914081"/>
                  </a:ext>
                </a:extLst>
              </a:tr>
              <a:tr h="354659">
                <a:tc>
                  <a:txBody>
                    <a:bodyPr/>
                    <a:lstStyle/>
                    <a:p>
                      <a:pPr algn="ctr" fontAlgn="ctr" latinLnBrk="0">
                        <a:lnSpc>
                          <a:spcPct val="100000"/>
                        </a:lnSpc>
                        <a:buNone/>
                      </a:pPr>
                      <a:r>
                        <a:rPr lang="en-US" altLang="zh-CN" sz="1400"/>
                        <a:t>2</a:t>
                      </a:r>
                      <a:endParaRPr lang="zh-CN" altLang="en-US" sz="14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zh-CN" altLang="en-US" sz="1400"/>
                        <a:t>营造协作的项目团队环境</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en-US" sz="1400"/>
                        <a:t>Create a collaborative project team environment.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zh-CN" altLang="en-US" sz="1400"/>
                        <a:t>核心： 团队效能高于个人总和。</a:t>
                      </a:r>
                      <a:br>
                        <a:rPr lang="zh-CN" altLang="en-US" sz="1400"/>
                      </a:br>
                      <a:r>
                        <a:rPr lang="zh-CN" altLang="en-US" sz="1400"/>
                        <a:t>创造一个心理安全、开放沟通的环境，鼓励团队成员共享知识、互相支持。高效的协作能激发创新，提升解决问题的能力。</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444869903"/>
                  </a:ext>
                </a:extLst>
              </a:tr>
              <a:tr h="354659">
                <a:tc>
                  <a:txBody>
                    <a:bodyPr/>
                    <a:lstStyle/>
                    <a:p>
                      <a:pPr algn="ctr" fontAlgn="ctr" latinLnBrk="0">
                        <a:lnSpc>
                          <a:spcPct val="100000"/>
                        </a:lnSpc>
                        <a:buNone/>
                      </a:pPr>
                      <a:r>
                        <a:rPr lang="en-US" altLang="zh-CN" sz="1400"/>
                        <a:t>3</a:t>
                      </a:r>
                      <a:endParaRPr lang="zh-CN" altLang="en-US" sz="14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zh-CN" altLang="en-US" sz="1400"/>
                        <a:t>有效参与相关方</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en-US" sz="1400"/>
                        <a:t>Effectively engage with stakeholders.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zh-CN" altLang="en-US" sz="1400"/>
                        <a:t>核心： 双向沟通与期望管理。</a:t>
                      </a:r>
                      <a:br>
                        <a:rPr lang="zh-CN" altLang="en-US" sz="1400"/>
                      </a:br>
                      <a:r>
                        <a:rPr lang="zh-CN" altLang="en-US" sz="1400"/>
                        <a:t>主动识别相关方，理解他们的需求和期望，并通过持续的对话建立伙伴关系。成功的项目取决于相关方的支持和参与，而不仅仅是交付产品。</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642163448"/>
                  </a:ext>
                </a:extLst>
              </a:tr>
              <a:tr h="354659">
                <a:tc>
                  <a:txBody>
                    <a:bodyPr/>
                    <a:lstStyle/>
                    <a:p>
                      <a:pPr algn="ctr" fontAlgn="ctr" latinLnBrk="0">
                        <a:lnSpc>
                          <a:spcPct val="100000"/>
                        </a:lnSpc>
                        <a:buNone/>
                      </a:pPr>
                      <a:r>
                        <a:rPr lang="en-US" altLang="zh-CN" sz="1400"/>
                        <a:t>4</a:t>
                      </a:r>
                      <a:endParaRPr lang="zh-CN" altLang="en-US" sz="14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zh-CN" altLang="en-US" sz="1400"/>
                        <a:t>聚焦于价值</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en-US" sz="1400"/>
                        <a:t>Focus on value.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zh-CN" altLang="en-US" sz="1400"/>
                        <a:t>核心： 价值是最终目标。</a:t>
                      </a:r>
                      <a:br>
                        <a:rPr lang="zh-CN" altLang="en-US" sz="1400"/>
                      </a:br>
                      <a:r>
                        <a:rPr lang="zh-CN" altLang="en-US" sz="1400"/>
                        <a:t>项目的存在是为了创造价值（商业价值、社会效益等）。所有决策和行动都应以“是否最大化价值”为衡量标准，避免为了做项目而做项目。</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25939027"/>
                  </a:ext>
                </a:extLst>
              </a:tr>
              <a:tr h="354659">
                <a:tc>
                  <a:txBody>
                    <a:bodyPr/>
                    <a:lstStyle/>
                    <a:p>
                      <a:pPr algn="ctr" fontAlgn="ctr" latinLnBrk="0">
                        <a:lnSpc>
                          <a:spcPct val="100000"/>
                        </a:lnSpc>
                        <a:buNone/>
                      </a:pPr>
                      <a:r>
                        <a:rPr lang="en-US" altLang="zh-CN" sz="1400"/>
                        <a:t>5</a:t>
                      </a:r>
                      <a:endParaRPr lang="zh-CN" altLang="en-US" sz="14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zh-CN" altLang="en-US" sz="1400"/>
                        <a:t>识别、评估和响应系统交互</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en-US" sz="1400"/>
                        <a:t>Recognize, evaluate, and respond to system interactions.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zh-CN" altLang="en-US" sz="1400"/>
                        <a:t>核心： 系统思维 </a:t>
                      </a:r>
                      <a:r>
                        <a:rPr lang="en-US" altLang="zh-CN" sz="1400"/>
                        <a:t>(Systems Thinking)</a:t>
                      </a:r>
                      <a:r>
                        <a:rPr lang="zh-CN" altLang="en-US" sz="1400"/>
                        <a:t>。</a:t>
                      </a:r>
                      <a:br>
                        <a:rPr lang="zh-CN" altLang="en-US" sz="1400"/>
                      </a:br>
                      <a:r>
                        <a:rPr lang="zh-CN" altLang="en-US" sz="1400"/>
                        <a:t>项目不是孤立存在的，它处于更大的组织和社会系统中。必须理解项目内部各要素之间，以及项目与外部环境之间的复杂互动关系，以预测连锁反应。</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893484236"/>
                  </a:ext>
                </a:extLst>
              </a:tr>
              <a:tr h="354659">
                <a:tc>
                  <a:txBody>
                    <a:bodyPr/>
                    <a:lstStyle/>
                    <a:p>
                      <a:pPr algn="ctr" fontAlgn="ctr" latinLnBrk="0">
                        <a:lnSpc>
                          <a:spcPct val="100000"/>
                        </a:lnSpc>
                        <a:buNone/>
                      </a:pPr>
                      <a:r>
                        <a:rPr lang="en-US" altLang="zh-CN" sz="1400"/>
                        <a:t>6</a:t>
                      </a:r>
                      <a:endParaRPr lang="zh-CN" altLang="en-US" sz="14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zh-CN" altLang="en-US" sz="1400"/>
                        <a:t>展现领导力行为</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en-US" sz="1400"/>
                        <a:t>Demonstrate leadership behaviors.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zh-CN" altLang="en-US" sz="1400" dirty="0"/>
                        <a:t>核心： 领导力人人可为。</a:t>
                      </a:r>
                      <a:br>
                        <a:rPr lang="zh-CN" altLang="en-US" sz="1400" dirty="0"/>
                      </a:br>
                      <a:r>
                        <a:rPr lang="zh-CN" altLang="en-US" sz="1400" dirty="0"/>
                        <a:t>领导力不仅仅是项目经理的职权，而是一种行为。无论角色如何，每个人都应在适当的时候展现领导力，激励团队、解决冲突并指引方向。</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556682421"/>
                  </a:ext>
                </a:extLst>
              </a:tr>
            </a:tbl>
          </a:graphicData>
        </a:graphic>
      </p:graphicFrame>
    </p:spTree>
    <p:extLst>
      <p:ext uri="{BB962C8B-B14F-4D97-AF65-F5344CB8AC3E}">
        <p14:creationId xmlns:p14="http://schemas.microsoft.com/office/powerpoint/2010/main" val="10006041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93753-3B7D-8400-2FFF-A165640C6F5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609C306-2EF4-1E6B-C16D-9F52B50818FB}"/>
              </a:ext>
            </a:extLst>
          </p:cNvPr>
          <p:cNvSpPr>
            <a:spLocks noGrp="1"/>
          </p:cNvSpPr>
          <p:nvPr>
            <p:ph type="title"/>
          </p:nvPr>
        </p:nvSpPr>
        <p:spPr>
          <a:xfrm>
            <a:off x="792000" y="360000"/>
            <a:ext cx="6375921" cy="429413"/>
          </a:xfrm>
        </p:spPr>
        <p:txBody>
          <a:bodyPr>
            <a:normAutofit/>
          </a:bodyPr>
          <a:lstStyle/>
          <a:p>
            <a:r>
              <a:rPr lang="en-US" altLang="zh-CN"/>
              <a:t>3.2.1 </a:t>
            </a:r>
            <a:r>
              <a:rPr lang="zh-CN" altLang="en-US"/>
              <a:t>十二项原则</a:t>
            </a:r>
          </a:p>
        </p:txBody>
      </p:sp>
      <p:sp>
        <p:nvSpPr>
          <p:cNvPr id="5" name="内容占位符 4">
            <a:extLst>
              <a:ext uri="{FF2B5EF4-FFF2-40B4-BE49-F238E27FC236}">
                <a16:creationId xmlns:a16="http://schemas.microsoft.com/office/drawing/2014/main" id="{ED665F57-9B3E-7096-52CB-6720E5EFA779}"/>
              </a:ext>
            </a:extLst>
          </p:cNvPr>
          <p:cNvSpPr>
            <a:spLocks noGrp="1"/>
          </p:cNvSpPr>
          <p:nvPr>
            <p:ph idx="1"/>
          </p:nvPr>
        </p:nvSpPr>
        <p:spPr/>
        <p:txBody>
          <a:bodyPr/>
          <a:lstStyle/>
          <a:p>
            <a:endParaRPr lang="zh-CN" altLang="en-US"/>
          </a:p>
        </p:txBody>
      </p:sp>
      <p:sp>
        <p:nvSpPr>
          <p:cNvPr id="10" name="Text Placeholder 9">
            <a:extLst>
              <a:ext uri="{FF2B5EF4-FFF2-40B4-BE49-F238E27FC236}">
                <a16:creationId xmlns:a16="http://schemas.microsoft.com/office/drawing/2014/main" id="{77BB8ABA-E58B-A67D-13E7-BC361552312D}"/>
              </a:ext>
            </a:extLst>
          </p:cNvPr>
          <p:cNvSpPr>
            <a:spLocks noGrp="1"/>
          </p:cNvSpPr>
          <p:nvPr>
            <p:ph type="body" sz="quarter" idx="10"/>
          </p:nvPr>
        </p:nvSpPr>
        <p:spPr>
          <a:xfrm>
            <a:off x="7071919" y="448519"/>
            <a:ext cx="4424080" cy="338554"/>
          </a:xfrm>
        </p:spPr>
        <p:txBody>
          <a:bodyPr/>
          <a:lstStyle/>
          <a:p>
            <a:r>
              <a:rPr lang="en-US" altLang="zh-CN"/>
              <a:t>12 Principles/PMBOK 7th</a:t>
            </a:r>
            <a:endParaRPr lang="zh-CN" altLang="en-US"/>
          </a:p>
        </p:txBody>
      </p:sp>
      <p:graphicFrame>
        <p:nvGraphicFramePr>
          <p:cNvPr id="7" name="内容占位符 22">
            <a:extLst>
              <a:ext uri="{FF2B5EF4-FFF2-40B4-BE49-F238E27FC236}">
                <a16:creationId xmlns:a16="http://schemas.microsoft.com/office/drawing/2014/main" id="{E29038A4-F378-5BB2-FF25-790AB3645BD2}"/>
              </a:ext>
            </a:extLst>
          </p:cNvPr>
          <p:cNvGraphicFramePr>
            <a:graphicFrameLocks/>
          </p:cNvGraphicFramePr>
          <p:nvPr>
            <p:extLst>
              <p:ext uri="{D42A27DB-BD31-4B8C-83A1-F6EECF244321}">
                <p14:modId xmlns:p14="http://schemas.microsoft.com/office/powerpoint/2010/main" val="3517589193"/>
              </p:ext>
            </p:extLst>
          </p:nvPr>
        </p:nvGraphicFramePr>
        <p:xfrm>
          <a:off x="695325" y="1874880"/>
          <a:ext cx="10801352" cy="4389120"/>
        </p:xfrm>
        <a:graphic>
          <a:graphicData uri="http://schemas.openxmlformats.org/drawingml/2006/table">
            <a:tbl>
              <a:tblPr/>
              <a:tblGrid>
                <a:gridCol w="533400">
                  <a:extLst>
                    <a:ext uri="{9D8B030D-6E8A-4147-A177-3AD203B41FA5}">
                      <a16:colId xmlns:a16="http://schemas.microsoft.com/office/drawing/2014/main" val="4233815403"/>
                    </a:ext>
                  </a:extLst>
                </a:gridCol>
                <a:gridCol w="1600200">
                  <a:extLst>
                    <a:ext uri="{9D8B030D-6E8A-4147-A177-3AD203B41FA5}">
                      <a16:colId xmlns:a16="http://schemas.microsoft.com/office/drawing/2014/main" val="1611770076"/>
                    </a:ext>
                  </a:extLst>
                </a:gridCol>
                <a:gridCol w="2333625">
                  <a:extLst>
                    <a:ext uri="{9D8B030D-6E8A-4147-A177-3AD203B41FA5}">
                      <a16:colId xmlns:a16="http://schemas.microsoft.com/office/drawing/2014/main" val="4047330409"/>
                    </a:ext>
                  </a:extLst>
                </a:gridCol>
                <a:gridCol w="6334127">
                  <a:extLst>
                    <a:ext uri="{9D8B030D-6E8A-4147-A177-3AD203B41FA5}">
                      <a16:colId xmlns:a16="http://schemas.microsoft.com/office/drawing/2014/main" val="2143904950"/>
                    </a:ext>
                  </a:extLst>
                </a:gridCol>
              </a:tblGrid>
              <a:tr h="421700">
                <a:tc>
                  <a:txBody>
                    <a:bodyPr/>
                    <a:lstStyle/>
                    <a:p>
                      <a:pPr algn="ctr" fontAlgn="ctr" latinLnBrk="0">
                        <a:lnSpc>
                          <a:spcPct val="100000"/>
                        </a:lnSpc>
                        <a:buNone/>
                      </a:pPr>
                      <a:r>
                        <a:rPr lang="en-US" altLang="zh-CN" sz="1400"/>
                        <a:t>7</a:t>
                      </a:r>
                      <a:endParaRPr lang="zh-CN" altLang="en-US" sz="14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zh-CN" altLang="en-US" sz="1400"/>
                        <a:t>根据情境进行裁剪</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en-US" sz="1400"/>
                        <a:t>Tailor based on context.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zh-CN" altLang="en-US" sz="1400"/>
                        <a:t>核心： 没有“一刀切”的方法。</a:t>
                      </a:r>
                      <a:br>
                        <a:rPr lang="zh-CN" altLang="en-US" sz="1400"/>
                      </a:br>
                      <a:r>
                        <a:rPr lang="zh-CN" altLang="en-US" sz="1400"/>
                        <a:t>每个项目都是独特的。必须根据项目的规模、复杂性、不确定性、相关方需求及组织文化，灵活调整方法、流程和工件（无论是敏捷、预测还是混合模式）。</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436914081"/>
                  </a:ext>
                </a:extLst>
              </a:tr>
              <a:tr h="421700">
                <a:tc>
                  <a:txBody>
                    <a:bodyPr/>
                    <a:lstStyle/>
                    <a:p>
                      <a:pPr algn="ctr" fontAlgn="ctr" latinLnBrk="0">
                        <a:lnSpc>
                          <a:spcPct val="100000"/>
                        </a:lnSpc>
                        <a:buNone/>
                      </a:pPr>
                      <a:r>
                        <a:rPr lang="en-US" altLang="zh-CN" sz="1400"/>
                        <a:t>8</a:t>
                      </a:r>
                      <a:endParaRPr lang="zh-CN" altLang="en-US" sz="14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zh-CN" altLang="en-US" sz="1400"/>
                        <a:t>将质量融入过程和可交付成果</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en-US" sz="1400"/>
                        <a:t>Build quality into processes and deliverables.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zh-CN" altLang="en-US" sz="1400"/>
                        <a:t>核心： 预防胜于检查。</a:t>
                      </a:r>
                      <a:br>
                        <a:rPr lang="zh-CN" altLang="en-US" sz="1400"/>
                      </a:br>
                      <a:r>
                        <a:rPr lang="zh-CN" altLang="en-US" sz="1400"/>
                        <a:t>质量不是最后检验出来的，而是规划和执行出来的。通过优化流程和标准，确保可交付成果从一开始就符合要求和预期，减少返工。</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444869903"/>
                  </a:ext>
                </a:extLst>
              </a:tr>
              <a:tr h="0">
                <a:tc>
                  <a:txBody>
                    <a:bodyPr/>
                    <a:lstStyle/>
                    <a:p>
                      <a:pPr algn="ctr" fontAlgn="ctr" latinLnBrk="0">
                        <a:lnSpc>
                          <a:spcPct val="100000"/>
                        </a:lnSpc>
                        <a:buNone/>
                      </a:pPr>
                      <a:r>
                        <a:rPr lang="en-US" altLang="zh-CN" sz="1400"/>
                        <a:t>9</a:t>
                      </a:r>
                      <a:endParaRPr lang="zh-CN" altLang="en-US" sz="14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zh-CN" altLang="en-US" sz="1400"/>
                        <a:t>驾驭复杂性</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en-US" sz="1400"/>
                        <a:t>Navigate complexity.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zh-CN" altLang="en-US" sz="1400"/>
                        <a:t>核心： 在混乱中寻找路径。</a:t>
                      </a:r>
                      <a:br>
                        <a:rPr lang="zh-CN" altLang="en-US" sz="1400"/>
                      </a:br>
                      <a:r>
                        <a:rPr lang="zh-CN" altLang="en-US" sz="1400"/>
                        <a:t>项目常面临人类行为、系统技术或环境模糊性带来的复杂性。管理者需利用经验、直觉和分析工具，在不确定中做出决策，化繁为简。</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642163448"/>
                  </a:ext>
                </a:extLst>
              </a:tr>
              <a:tr h="0">
                <a:tc>
                  <a:txBody>
                    <a:bodyPr/>
                    <a:lstStyle/>
                    <a:p>
                      <a:pPr algn="ctr" fontAlgn="ctr" latinLnBrk="0">
                        <a:lnSpc>
                          <a:spcPct val="100000"/>
                        </a:lnSpc>
                        <a:buNone/>
                      </a:pPr>
                      <a:r>
                        <a:rPr lang="en-US" altLang="zh-CN" sz="1400"/>
                        <a:t>10</a:t>
                      </a:r>
                      <a:endParaRPr lang="zh-CN" altLang="en-US" sz="14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zh-CN" altLang="en-US" sz="1400"/>
                        <a:t>优化风险应对</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en-US" sz="1400"/>
                        <a:t>Optimize risk responses.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zh-CN" altLang="en-US" sz="1400"/>
                        <a:t>核心： 拥抱不确定性。</a:t>
                      </a:r>
                      <a:br>
                        <a:rPr lang="zh-CN" altLang="en-US" sz="1400"/>
                      </a:br>
                      <a:r>
                        <a:rPr lang="zh-CN" altLang="en-US" sz="1400"/>
                        <a:t>风险既包含威胁也包含机会。不仅要规避负面风险，更要主动捕捉正面风险。通过持续的风险管理，将不确定性对项目目标的影响降至最低或转为优势。</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25939027"/>
                  </a:ext>
                </a:extLst>
              </a:tr>
              <a:tr h="421700">
                <a:tc>
                  <a:txBody>
                    <a:bodyPr/>
                    <a:lstStyle/>
                    <a:p>
                      <a:pPr algn="ctr" fontAlgn="ctr" latinLnBrk="0">
                        <a:lnSpc>
                          <a:spcPct val="100000"/>
                        </a:lnSpc>
                        <a:buNone/>
                      </a:pPr>
                      <a:r>
                        <a:rPr lang="en-US" altLang="zh-CN" sz="1400"/>
                        <a:t>11</a:t>
                      </a:r>
                      <a:endParaRPr lang="zh-CN" altLang="en-US" sz="14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zh-CN" altLang="en-US" sz="1400"/>
                        <a:t>拥抱适应性和韧性</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en-US" sz="1400"/>
                        <a:t>Embrace adaptability and resiliency.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zh-CN" altLang="en-US" sz="1400"/>
                        <a:t>核心： 在变化中生存与发展。</a:t>
                      </a:r>
                      <a:br>
                        <a:rPr lang="zh-CN" altLang="en-US" sz="1400"/>
                      </a:br>
                      <a:r>
                        <a:rPr lang="zh-CN" altLang="en-US" sz="1400"/>
                        <a:t>面对快速变化的环境，团队需要具备适应性（灵活调整方法）和韧性（从挫折中恢复的能力）。要求建立反馈循环，快速学习并迭代。</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893484236"/>
                  </a:ext>
                </a:extLst>
              </a:tr>
              <a:tr h="421700">
                <a:tc>
                  <a:txBody>
                    <a:bodyPr/>
                    <a:lstStyle/>
                    <a:p>
                      <a:pPr algn="ctr" fontAlgn="ctr" latinLnBrk="0">
                        <a:lnSpc>
                          <a:spcPct val="100000"/>
                        </a:lnSpc>
                        <a:buNone/>
                      </a:pPr>
                      <a:r>
                        <a:rPr lang="en-US" altLang="zh-CN" sz="1400"/>
                        <a:t>12</a:t>
                      </a:r>
                      <a:endParaRPr lang="zh-CN" altLang="en-US" sz="14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zh-CN" altLang="en-US" sz="1400"/>
                        <a:t>为实现目标而驱动变革</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en-US" sz="1400"/>
                        <a:t>Enable change to achieve the envisioned future state.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zh-CN" altLang="en-US" sz="1400" dirty="0"/>
                        <a:t>核心： 项目即变革。</a:t>
                      </a:r>
                      <a:br>
                        <a:rPr lang="zh-CN" altLang="en-US" sz="1400" dirty="0"/>
                      </a:br>
                      <a:r>
                        <a:rPr lang="zh-CN" altLang="en-US" sz="1400" dirty="0"/>
                        <a:t>项目的目的是推动组织从“当前状态”走向“未来愿景”。不仅要交付产出，还要管理变革过程，帮助人们接受新方式，确保成果被真正采用并产生效益。</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556682421"/>
                  </a:ext>
                </a:extLst>
              </a:tr>
            </a:tbl>
          </a:graphicData>
        </a:graphic>
      </p:graphicFrame>
    </p:spTree>
    <p:extLst>
      <p:ext uri="{BB962C8B-B14F-4D97-AF65-F5344CB8AC3E}">
        <p14:creationId xmlns:p14="http://schemas.microsoft.com/office/powerpoint/2010/main" val="13275218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14397-0972-E24D-67B3-C92D4F0551D0}"/>
              </a:ext>
            </a:extLst>
          </p:cNvPr>
          <p:cNvSpPr>
            <a:spLocks noGrp="1"/>
          </p:cNvSpPr>
          <p:nvPr>
            <p:ph type="title"/>
          </p:nvPr>
        </p:nvSpPr>
        <p:spPr>
          <a:xfrm>
            <a:off x="792000" y="360000"/>
            <a:ext cx="6375921" cy="429413"/>
          </a:xfrm>
        </p:spPr>
        <p:txBody>
          <a:bodyPr>
            <a:normAutofit/>
          </a:bodyPr>
          <a:lstStyle/>
          <a:p>
            <a:r>
              <a:rPr lang="en-US" altLang="zh-CN"/>
              <a:t>3.2.2 </a:t>
            </a:r>
            <a:r>
              <a:rPr lang="zh-CN" altLang="en-US"/>
              <a:t>八大绩效域</a:t>
            </a:r>
          </a:p>
        </p:txBody>
      </p:sp>
      <p:sp>
        <p:nvSpPr>
          <p:cNvPr id="40" name="Content Placeholder 39">
            <a:extLst>
              <a:ext uri="{FF2B5EF4-FFF2-40B4-BE49-F238E27FC236}">
                <a16:creationId xmlns:a16="http://schemas.microsoft.com/office/drawing/2014/main" id="{7CED25BF-3522-EEA1-F3E9-336F91FEA40F}"/>
              </a:ext>
            </a:extLst>
          </p:cNvPr>
          <p:cNvSpPr>
            <a:spLocks noGrp="1"/>
          </p:cNvSpPr>
          <p:nvPr>
            <p:ph idx="1"/>
          </p:nvPr>
        </p:nvSpPr>
        <p:spPr>
          <a:xfrm>
            <a:off x="696000" y="864000"/>
            <a:ext cx="10800000" cy="5400000"/>
          </a:xfrm>
        </p:spPr>
        <p:txBody>
          <a:bodyPr/>
          <a:lstStyle/>
          <a:p>
            <a:r>
              <a:rPr lang="zh-CN" altLang="en-US" dirty="0"/>
              <a:t>项目在实现预期成果和价值方面的整体表现 </a:t>
            </a:r>
            <a:r>
              <a:rPr lang="en-US" altLang="zh-CN" dirty="0"/>
              <a:t>Performance</a:t>
            </a:r>
          </a:p>
          <a:p>
            <a:r>
              <a:rPr lang="zh-CN" altLang="en-US" dirty="0"/>
              <a:t>一组相互关联的项目活动，对于有效交付项目成果至关重要</a:t>
            </a:r>
            <a:endParaRPr lang="en-US" altLang="zh-CN" dirty="0"/>
          </a:p>
          <a:p>
            <a:r>
              <a:rPr lang="zh-CN" altLang="en-US" dirty="0"/>
              <a:t>同时发生、动态交织、需要持续关注</a:t>
            </a:r>
          </a:p>
          <a:p>
            <a:endParaRPr lang="en-US" altLang="zh-CN" dirty="0"/>
          </a:p>
        </p:txBody>
      </p:sp>
      <p:sp>
        <p:nvSpPr>
          <p:cNvPr id="8" name="Text Placeholder 7">
            <a:extLst>
              <a:ext uri="{FF2B5EF4-FFF2-40B4-BE49-F238E27FC236}">
                <a16:creationId xmlns:a16="http://schemas.microsoft.com/office/drawing/2014/main" id="{38863361-7E41-BD1B-7331-08D46EDD37A3}"/>
              </a:ext>
            </a:extLst>
          </p:cNvPr>
          <p:cNvSpPr>
            <a:spLocks noGrp="1"/>
          </p:cNvSpPr>
          <p:nvPr>
            <p:ph type="body" sz="quarter" idx="10"/>
          </p:nvPr>
        </p:nvSpPr>
        <p:spPr>
          <a:xfrm>
            <a:off x="7071919" y="448519"/>
            <a:ext cx="4424080" cy="338554"/>
          </a:xfrm>
        </p:spPr>
        <p:txBody>
          <a:bodyPr/>
          <a:lstStyle/>
          <a:p>
            <a:r>
              <a:rPr lang="en-US" altLang="zh-CN"/>
              <a:t>8 Performance Domains/PMBOK 7th</a:t>
            </a:r>
            <a:endParaRPr lang="zh-CN" altLang="en-US"/>
          </a:p>
        </p:txBody>
      </p:sp>
      <p:graphicFrame>
        <p:nvGraphicFramePr>
          <p:cNvPr id="10" name="Table 4">
            <a:extLst>
              <a:ext uri="{FF2B5EF4-FFF2-40B4-BE49-F238E27FC236}">
                <a16:creationId xmlns:a16="http://schemas.microsoft.com/office/drawing/2014/main" id="{EC07CDCE-2943-D3AB-731E-CD3C318BF8D4}"/>
              </a:ext>
            </a:extLst>
          </p:cNvPr>
          <p:cNvGraphicFramePr>
            <a:graphicFrameLocks noGrp="1"/>
          </p:cNvGraphicFramePr>
          <p:nvPr>
            <p:extLst>
              <p:ext uri="{D42A27DB-BD31-4B8C-83A1-F6EECF244321}">
                <p14:modId xmlns:p14="http://schemas.microsoft.com/office/powerpoint/2010/main" val="1845067704"/>
              </p:ext>
            </p:extLst>
          </p:nvPr>
        </p:nvGraphicFramePr>
        <p:xfrm>
          <a:off x="696000" y="2240915"/>
          <a:ext cx="10800000" cy="4236720"/>
        </p:xfrm>
        <a:graphic>
          <a:graphicData uri="http://schemas.openxmlformats.org/drawingml/2006/table">
            <a:tbl>
              <a:tblPr/>
              <a:tblGrid>
                <a:gridCol w="561300">
                  <a:extLst>
                    <a:ext uri="{9D8B030D-6E8A-4147-A177-3AD203B41FA5}">
                      <a16:colId xmlns:a16="http://schemas.microsoft.com/office/drawing/2014/main" val="197264077"/>
                    </a:ext>
                  </a:extLst>
                </a:gridCol>
                <a:gridCol w="3390900">
                  <a:extLst>
                    <a:ext uri="{9D8B030D-6E8A-4147-A177-3AD203B41FA5}">
                      <a16:colId xmlns:a16="http://schemas.microsoft.com/office/drawing/2014/main" val="4210001443"/>
                    </a:ext>
                  </a:extLst>
                </a:gridCol>
                <a:gridCol w="2491509">
                  <a:extLst>
                    <a:ext uri="{9D8B030D-6E8A-4147-A177-3AD203B41FA5}">
                      <a16:colId xmlns:a16="http://schemas.microsoft.com/office/drawing/2014/main" val="543007001"/>
                    </a:ext>
                  </a:extLst>
                </a:gridCol>
                <a:gridCol w="4356291">
                  <a:extLst>
                    <a:ext uri="{9D8B030D-6E8A-4147-A177-3AD203B41FA5}">
                      <a16:colId xmlns:a16="http://schemas.microsoft.com/office/drawing/2014/main" val="1459750022"/>
                    </a:ext>
                  </a:extLst>
                </a:gridCol>
              </a:tblGrid>
              <a:tr h="0">
                <a:tc>
                  <a:txBody>
                    <a:bodyPr/>
                    <a:lstStyle/>
                    <a:p>
                      <a:pPr algn="ctr">
                        <a:buNone/>
                      </a:pPr>
                      <a:endParaRPr lang="zh-CN" altLang="en-US" sz="14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buNone/>
                      </a:pPr>
                      <a:r>
                        <a:rPr lang="en-US" sz="1400" dirty="0">
                          <a:solidFill>
                            <a:schemeClr val="bg1"/>
                          </a:solidFill>
                        </a:rPr>
                        <a:t>English</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buNone/>
                      </a:pPr>
                      <a:r>
                        <a:rPr lang="en-US" sz="1400" dirty="0">
                          <a:solidFill>
                            <a:schemeClr val="bg1"/>
                          </a:solidFill>
                        </a:rPr>
                        <a:t>Chinese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buNone/>
                      </a:pPr>
                      <a:r>
                        <a:rPr lang="en-US" altLang="zh-CN" sz="1400" dirty="0">
                          <a:solidFill>
                            <a:schemeClr val="bg1"/>
                          </a:solidFill>
                        </a:rPr>
                        <a:t>Description</a:t>
                      </a:r>
                      <a:endParaRPr lang="zh-CN" altLang="en-US" sz="14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1644523495"/>
                  </a:ext>
                </a:extLst>
              </a:tr>
              <a:tr h="0">
                <a:tc>
                  <a:txBody>
                    <a:bodyPr/>
                    <a:lstStyle/>
                    <a:p>
                      <a:pPr algn="ctr">
                        <a:buNone/>
                      </a:pPr>
                      <a:r>
                        <a:rPr lang="en-US" altLang="zh-CN" sz="1400"/>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sz="1400"/>
                        <a:t>Stakeholder Performance Domain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相关方绩效域</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管理与相关方的互动，建立共识，确保持续参与和支持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3655787"/>
                  </a:ext>
                </a:extLst>
              </a:tr>
              <a:tr h="0">
                <a:tc>
                  <a:txBody>
                    <a:bodyPr/>
                    <a:lstStyle/>
                    <a:p>
                      <a:pPr algn="ctr">
                        <a:buNone/>
                      </a:pPr>
                      <a:r>
                        <a:rPr lang="en-US" altLang="zh-CN" sz="1400"/>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sz="1400"/>
                        <a:t>Team Performance Domain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团队绩效域</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发展团队技能，促进协作，解决冲突，提升团队绩效</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52831730"/>
                  </a:ext>
                </a:extLst>
              </a:tr>
              <a:tr h="228978">
                <a:tc>
                  <a:txBody>
                    <a:bodyPr/>
                    <a:lstStyle/>
                    <a:p>
                      <a:pPr algn="ctr">
                        <a:buNone/>
                      </a:pPr>
                      <a:r>
                        <a:rPr lang="en-US" altLang="zh-CN" sz="1400"/>
                        <a:t>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sz="1400"/>
                        <a:t>Development Approach and Life Cycle Performance Domain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开发方法和生命周期绩效域</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选择适合项目的开发方法（预测、迭代、增量、敏捷或混合）及生命周期阶段</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1778776"/>
                  </a:ext>
                </a:extLst>
              </a:tr>
              <a:tr h="228978">
                <a:tc>
                  <a:txBody>
                    <a:bodyPr/>
                    <a:lstStyle/>
                    <a:p>
                      <a:pPr algn="ctr">
                        <a:buNone/>
                      </a:pPr>
                      <a:r>
                        <a:rPr lang="en-US" altLang="zh-CN" sz="1400"/>
                        <a:t>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sz="1400"/>
                        <a:t>Planning Performance Domain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dirty="0"/>
                        <a:t>规划绩效域</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制定初始及持续的计划，协调范围、进度、成本等，以指导项目执行</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0953972"/>
                  </a:ext>
                </a:extLst>
              </a:tr>
              <a:tr h="228978">
                <a:tc>
                  <a:txBody>
                    <a:bodyPr/>
                    <a:lstStyle/>
                    <a:p>
                      <a:pPr algn="ctr">
                        <a:buNone/>
                      </a:pPr>
                      <a:r>
                        <a:rPr lang="en-US" altLang="zh-CN" sz="1400"/>
                        <a:t>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sz="1400"/>
                        <a:t>Project Work Performance Domain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项目工作绩效域</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管理实际的项目执行工作，包括资源分配、沟通、问题解决和知识管理</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6638779"/>
                  </a:ext>
                </a:extLst>
              </a:tr>
              <a:tr h="228978">
                <a:tc>
                  <a:txBody>
                    <a:bodyPr/>
                    <a:lstStyle/>
                    <a:p>
                      <a:pPr algn="ctr">
                        <a:buNone/>
                      </a:pPr>
                      <a:r>
                        <a:rPr lang="en-US" altLang="zh-CN" sz="1400"/>
                        <a:t>6</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sz="1400"/>
                        <a:t>Delivery Performance Domain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交付绩效域</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确保项目产出符合预期，满足质量要求，并最终实现预期的商业价值</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48436765"/>
                  </a:ext>
                </a:extLst>
              </a:tr>
              <a:tr h="228978">
                <a:tc>
                  <a:txBody>
                    <a:bodyPr/>
                    <a:lstStyle/>
                    <a:p>
                      <a:pPr algn="ctr">
                        <a:buNone/>
                      </a:pPr>
                      <a:r>
                        <a:rPr lang="en-US" altLang="zh-CN" sz="1400"/>
                        <a:t>7</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sz="1400"/>
                        <a:t>Measurement Performance Domain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测量绩效域</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评估项目绩效，通过指标和数据了解项目健康状况，支持决策</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9444266"/>
                  </a:ext>
                </a:extLst>
              </a:tr>
              <a:tr h="228978">
                <a:tc>
                  <a:txBody>
                    <a:bodyPr/>
                    <a:lstStyle/>
                    <a:p>
                      <a:pPr algn="ctr">
                        <a:buNone/>
                      </a:pPr>
                      <a:r>
                        <a:rPr lang="en-US" altLang="zh-CN" sz="1400"/>
                        <a:t>8</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sz="1400"/>
                        <a:t>Uncertainty Performance Domain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不确定性绩效域</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dirty="0"/>
                        <a:t>应对</a:t>
                      </a:r>
                      <a:r>
                        <a:rPr lang="en-US" altLang="zh-CN" sz="1400" dirty="0"/>
                        <a:t>VUCA</a:t>
                      </a:r>
                      <a:r>
                        <a:rPr lang="zh-CN" altLang="en-US" sz="1400" dirty="0"/>
                        <a:t>，制定应对策略。</a:t>
                      </a:r>
                      <a:endParaRPr lang="en-US" altLang="zh-CN" sz="1400" dirty="0"/>
                    </a:p>
                    <a:p>
                      <a:pPr algn="l">
                        <a:buNone/>
                      </a:pPr>
                      <a:r>
                        <a:rPr lang="zh-CN" altLang="en-US" sz="1400" dirty="0"/>
                        <a:t>不是消除，而是驾驭，将其转化为机会或可控的损失</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24753281"/>
                  </a:ext>
                </a:extLst>
              </a:tr>
            </a:tbl>
          </a:graphicData>
        </a:graphic>
      </p:graphicFrame>
    </p:spTree>
    <p:extLst>
      <p:ext uri="{BB962C8B-B14F-4D97-AF65-F5344CB8AC3E}">
        <p14:creationId xmlns:p14="http://schemas.microsoft.com/office/powerpoint/2010/main" val="16319260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748C5-50CE-A699-AAFF-29AB3E1010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7D0244-99F9-EB6E-9511-91685A17F5A5}"/>
              </a:ext>
            </a:extLst>
          </p:cNvPr>
          <p:cNvSpPr>
            <a:spLocks noGrp="1"/>
          </p:cNvSpPr>
          <p:nvPr>
            <p:ph type="title"/>
          </p:nvPr>
        </p:nvSpPr>
        <p:spPr>
          <a:xfrm>
            <a:off x="792000" y="360000"/>
            <a:ext cx="6375921" cy="429413"/>
          </a:xfrm>
        </p:spPr>
        <p:txBody>
          <a:bodyPr>
            <a:normAutofit/>
          </a:bodyPr>
          <a:lstStyle/>
          <a:p>
            <a:r>
              <a:rPr lang="en-US" altLang="zh-CN"/>
              <a:t>3.2.2 </a:t>
            </a:r>
            <a:r>
              <a:rPr lang="zh-CN" altLang="en-US"/>
              <a:t>八大绩效域</a:t>
            </a:r>
          </a:p>
        </p:txBody>
      </p:sp>
      <p:sp>
        <p:nvSpPr>
          <p:cNvPr id="12" name="内容占位符 11">
            <a:extLst>
              <a:ext uri="{FF2B5EF4-FFF2-40B4-BE49-F238E27FC236}">
                <a16:creationId xmlns:a16="http://schemas.microsoft.com/office/drawing/2014/main" id="{26C5271D-8DC1-F25D-2A68-00950F3DF790}"/>
              </a:ext>
            </a:extLst>
          </p:cNvPr>
          <p:cNvSpPr>
            <a:spLocks noGrp="1"/>
          </p:cNvSpPr>
          <p:nvPr>
            <p:ph idx="1"/>
          </p:nvPr>
        </p:nvSpPr>
        <p:spPr/>
        <p:txBody>
          <a:bodyPr/>
          <a:lstStyle/>
          <a:p>
            <a:endParaRPr lang="zh-CN" altLang="en-US"/>
          </a:p>
        </p:txBody>
      </p:sp>
      <p:sp>
        <p:nvSpPr>
          <p:cNvPr id="8" name="Text Placeholder 7">
            <a:extLst>
              <a:ext uri="{FF2B5EF4-FFF2-40B4-BE49-F238E27FC236}">
                <a16:creationId xmlns:a16="http://schemas.microsoft.com/office/drawing/2014/main" id="{4DD1F2A6-94C6-61D6-EBD7-CE3A7C5ADB79}"/>
              </a:ext>
            </a:extLst>
          </p:cNvPr>
          <p:cNvSpPr>
            <a:spLocks noGrp="1"/>
          </p:cNvSpPr>
          <p:nvPr>
            <p:ph type="body" sz="quarter" idx="10"/>
          </p:nvPr>
        </p:nvSpPr>
        <p:spPr>
          <a:xfrm>
            <a:off x="7071919" y="448519"/>
            <a:ext cx="4424080" cy="338554"/>
          </a:xfrm>
        </p:spPr>
        <p:txBody>
          <a:bodyPr/>
          <a:lstStyle/>
          <a:p>
            <a:r>
              <a:rPr lang="en-US" altLang="zh-CN"/>
              <a:t>8 Performance Domains/PMBOK 7th</a:t>
            </a:r>
            <a:endParaRPr lang="zh-CN" altLang="en-US"/>
          </a:p>
        </p:txBody>
      </p:sp>
      <p:sp>
        <p:nvSpPr>
          <p:cNvPr id="32" name="TextBox 31">
            <a:extLst>
              <a:ext uri="{FF2B5EF4-FFF2-40B4-BE49-F238E27FC236}">
                <a16:creationId xmlns:a16="http://schemas.microsoft.com/office/drawing/2014/main" id="{115F66AA-AED0-CB5E-8B21-3547F639EA48}"/>
              </a:ext>
            </a:extLst>
          </p:cNvPr>
          <p:cNvSpPr txBox="1"/>
          <p:nvPr/>
        </p:nvSpPr>
        <p:spPr>
          <a:xfrm>
            <a:off x="5016000" y="1443980"/>
            <a:ext cx="2160000" cy="584775"/>
          </a:xfrm>
          <a:prstGeom prst="roundRect">
            <a:avLst/>
          </a:prstGeom>
        </p:spPr>
        <p:style>
          <a:lnRef idx="0">
            <a:schemeClr val="accent2"/>
          </a:lnRef>
          <a:fillRef idx="3">
            <a:schemeClr val="accent2"/>
          </a:fillRef>
          <a:effectRef idx="3">
            <a:schemeClr val="accent2"/>
          </a:effectRef>
          <a:fontRef idx="minor">
            <a:schemeClr val="lt1"/>
          </a:fontRef>
        </p:style>
        <p:txBody>
          <a:bodyPr wrap="none" rtlCol="0">
            <a:noAutofit/>
          </a:bodyPr>
          <a:lstStyle/>
          <a:p>
            <a:pPr algn="ctr"/>
            <a:r>
              <a:rPr lang="zh-CN" altLang="en-US" sz="1400"/>
              <a:t>干系人绩效域</a:t>
            </a:r>
            <a:endParaRPr lang="en-US" altLang="zh-CN" sz="1400"/>
          </a:p>
          <a:p>
            <a:pPr algn="ctr"/>
            <a:r>
              <a:rPr lang="en-US" altLang="zh-CN" sz="1400"/>
              <a:t>Stakeholder</a:t>
            </a:r>
            <a:endParaRPr lang="zh-CN" altLang="en-US" sz="1400"/>
          </a:p>
        </p:txBody>
      </p:sp>
      <p:sp>
        <p:nvSpPr>
          <p:cNvPr id="33" name="TextBox 32">
            <a:extLst>
              <a:ext uri="{FF2B5EF4-FFF2-40B4-BE49-F238E27FC236}">
                <a16:creationId xmlns:a16="http://schemas.microsoft.com/office/drawing/2014/main" id="{38697FDE-A5B6-F7AF-FD39-DE65B8CD80CA}"/>
              </a:ext>
            </a:extLst>
          </p:cNvPr>
          <p:cNvSpPr txBox="1"/>
          <p:nvPr/>
        </p:nvSpPr>
        <p:spPr>
          <a:xfrm>
            <a:off x="5016000" y="2393311"/>
            <a:ext cx="2160000" cy="584775"/>
          </a:xfrm>
          <a:prstGeom prst="roundRect">
            <a:avLst/>
          </a:prstGeom>
        </p:spPr>
        <p:style>
          <a:lnRef idx="0">
            <a:schemeClr val="accent6"/>
          </a:lnRef>
          <a:fillRef idx="3">
            <a:schemeClr val="accent6"/>
          </a:fillRef>
          <a:effectRef idx="3">
            <a:schemeClr val="accent6"/>
          </a:effectRef>
          <a:fontRef idx="minor">
            <a:schemeClr val="lt1"/>
          </a:fontRef>
        </p:style>
        <p:txBody>
          <a:bodyPr wrap="none" rtlCol="0">
            <a:noAutofit/>
          </a:bodyPr>
          <a:lstStyle/>
          <a:p>
            <a:pPr algn="ctr"/>
            <a:r>
              <a:rPr lang="zh-CN" altLang="en-US" sz="1400"/>
              <a:t>团队绩效域</a:t>
            </a:r>
            <a:endParaRPr lang="en-US" altLang="zh-CN" sz="1400"/>
          </a:p>
          <a:p>
            <a:pPr algn="ctr"/>
            <a:r>
              <a:rPr lang="en-US" altLang="zh-CN" sz="1400"/>
              <a:t>Team</a:t>
            </a:r>
            <a:endParaRPr lang="zh-CN" altLang="en-US" sz="1400"/>
          </a:p>
        </p:txBody>
      </p:sp>
      <p:sp>
        <p:nvSpPr>
          <p:cNvPr id="34" name="TextBox 33">
            <a:extLst>
              <a:ext uri="{FF2B5EF4-FFF2-40B4-BE49-F238E27FC236}">
                <a16:creationId xmlns:a16="http://schemas.microsoft.com/office/drawing/2014/main" id="{E0ACE511-F899-5865-BACF-B92BDB6D674E}"/>
              </a:ext>
            </a:extLst>
          </p:cNvPr>
          <p:cNvSpPr txBox="1"/>
          <p:nvPr/>
        </p:nvSpPr>
        <p:spPr>
          <a:xfrm>
            <a:off x="3936000" y="4291973"/>
            <a:ext cx="4320000" cy="584775"/>
          </a:xfrm>
          <a:prstGeom prst="roundRect">
            <a:avLst/>
          </a:prstGeom>
        </p:spPr>
        <p:style>
          <a:lnRef idx="0">
            <a:schemeClr val="accent4"/>
          </a:lnRef>
          <a:fillRef idx="3">
            <a:schemeClr val="accent4"/>
          </a:fillRef>
          <a:effectRef idx="3">
            <a:schemeClr val="accent4"/>
          </a:effectRef>
          <a:fontRef idx="minor">
            <a:schemeClr val="lt1"/>
          </a:fontRef>
        </p:style>
        <p:txBody>
          <a:bodyPr wrap="none" rtlCol="0">
            <a:noAutofit/>
          </a:bodyPr>
          <a:lstStyle/>
          <a:p>
            <a:pPr algn="ctr"/>
            <a:r>
              <a:rPr lang="zh-CN" altLang="en-US" sz="1400"/>
              <a:t>开发方法和生命周期绩效域</a:t>
            </a:r>
            <a:endParaRPr lang="en-US" altLang="zh-CN" sz="1400"/>
          </a:p>
          <a:p>
            <a:pPr algn="ctr"/>
            <a:r>
              <a:rPr lang="en-US" altLang="zh-CN" sz="1400"/>
              <a:t>Development Approach and Life Cycle</a:t>
            </a:r>
            <a:endParaRPr lang="zh-CN" altLang="en-US" sz="1400"/>
          </a:p>
        </p:txBody>
      </p:sp>
      <p:sp>
        <p:nvSpPr>
          <p:cNvPr id="3" name="TextBox 2">
            <a:extLst>
              <a:ext uri="{FF2B5EF4-FFF2-40B4-BE49-F238E27FC236}">
                <a16:creationId xmlns:a16="http://schemas.microsoft.com/office/drawing/2014/main" id="{7EB3C091-FB47-08BE-44F8-01F5BCA90E39}"/>
              </a:ext>
            </a:extLst>
          </p:cNvPr>
          <p:cNvSpPr txBox="1"/>
          <p:nvPr/>
        </p:nvSpPr>
        <p:spPr>
          <a:xfrm>
            <a:off x="1374472" y="3342642"/>
            <a:ext cx="2160000" cy="584775"/>
          </a:xfrm>
          <a:prstGeom prst="roundRect">
            <a:avLst/>
          </a:prstGeom>
        </p:spPr>
        <p:style>
          <a:lnRef idx="0">
            <a:schemeClr val="accent5"/>
          </a:lnRef>
          <a:fillRef idx="3">
            <a:schemeClr val="accent5"/>
          </a:fillRef>
          <a:effectRef idx="3">
            <a:schemeClr val="accent5"/>
          </a:effectRef>
          <a:fontRef idx="minor">
            <a:schemeClr val="lt1"/>
          </a:fontRef>
        </p:style>
        <p:txBody>
          <a:bodyPr wrap="none" rtlCol="0">
            <a:noAutofit/>
          </a:bodyPr>
          <a:lstStyle/>
          <a:p>
            <a:pPr algn="ctr"/>
            <a:r>
              <a:rPr lang="zh-CN" altLang="en-US" sz="1400"/>
              <a:t>规划绩效域</a:t>
            </a:r>
            <a:endParaRPr lang="en-US" altLang="zh-CN" sz="1400"/>
          </a:p>
          <a:p>
            <a:pPr algn="ctr"/>
            <a:r>
              <a:rPr lang="en-US" altLang="zh-CN" sz="1400"/>
              <a:t>Planning </a:t>
            </a:r>
            <a:endParaRPr lang="zh-CN" altLang="en-US" sz="1400"/>
          </a:p>
        </p:txBody>
      </p:sp>
      <p:sp>
        <p:nvSpPr>
          <p:cNvPr id="4" name="TextBox 3">
            <a:extLst>
              <a:ext uri="{FF2B5EF4-FFF2-40B4-BE49-F238E27FC236}">
                <a16:creationId xmlns:a16="http://schemas.microsoft.com/office/drawing/2014/main" id="{8C974166-AE43-0975-242D-7FFBF6B550C0}"/>
              </a:ext>
            </a:extLst>
          </p:cNvPr>
          <p:cNvSpPr txBox="1"/>
          <p:nvPr/>
        </p:nvSpPr>
        <p:spPr>
          <a:xfrm>
            <a:off x="3802158" y="3342642"/>
            <a:ext cx="2160000" cy="584775"/>
          </a:xfrm>
          <a:prstGeom prst="roundRect">
            <a:avLst/>
          </a:prstGeom>
        </p:spPr>
        <p:style>
          <a:lnRef idx="0">
            <a:schemeClr val="accent5"/>
          </a:lnRef>
          <a:fillRef idx="3">
            <a:schemeClr val="accent5"/>
          </a:fillRef>
          <a:effectRef idx="3">
            <a:schemeClr val="accent5"/>
          </a:effectRef>
          <a:fontRef idx="minor">
            <a:schemeClr val="lt1"/>
          </a:fontRef>
        </p:style>
        <p:txBody>
          <a:bodyPr wrap="none" rtlCol="0">
            <a:noAutofit/>
          </a:bodyPr>
          <a:lstStyle/>
          <a:p>
            <a:pPr algn="ctr"/>
            <a:r>
              <a:rPr lang="zh-CN" altLang="en-US" sz="1400"/>
              <a:t>项目工作绩效域</a:t>
            </a:r>
            <a:endParaRPr lang="en-US" altLang="zh-CN" sz="1400"/>
          </a:p>
          <a:p>
            <a:pPr algn="ctr"/>
            <a:r>
              <a:rPr lang="en-US" altLang="zh-CN" sz="1400"/>
              <a:t>Project Work</a:t>
            </a:r>
            <a:endParaRPr lang="zh-CN" altLang="en-US" sz="1400"/>
          </a:p>
        </p:txBody>
      </p:sp>
      <p:sp>
        <p:nvSpPr>
          <p:cNvPr id="6" name="TextBox 5">
            <a:extLst>
              <a:ext uri="{FF2B5EF4-FFF2-40B4-BE49-F238E27FC236}">
                <a16:creationId xmlns:a16="http://schemas.microsoft.com/office/drawing/2014/main" id="{38457831-FBE9-F277-539C-428E14F5C06F}"/>
              </a:ext>
            </a:extLst>
          </p:cNvPr>
          <p:cNvSpPr txBox="1"/>
          <p:nvPr/>
        </p:nvSpPr>
        <p:spPr>
          <a:xfrm>
            <a:off x="8657528" y="3342642"/>
            <a:ext cx="2160000" cy="584775"/>
          </a:xfrm>
          <a:prstGeom prst="roundRect">
            <a:avLst/>
          </a:prstGeom>
        </p:spPr>
        <p:style>
          <a:lnRef idx="0">
            <a:schemeClr val="accent5"/>
          </a:lnRef>
          <a:fillRef idx="3">
            <a:schemeClr val="accent5"/>
          </a:fillRef>
          <a:effectRef idx="3">
            <a:schemeClr val="accent5"/>
          </a:effectRef>
          <a:fontRef idx="minor">
            <a:schemeClr val="lt1"/>
          </a:fontRef>
        </p:style>
        <p:txBody>
          <a:bodyPr wrap="none" rtlCol="0">
            <a:noAutofit/>
          </a:bodyPr>
          <a:lstStyle/>
          <a:p>
            <a:pPr algn="ctr"/>
            <a:r>
              <a:rPr lang="zh-CN" altLang="en-US" sz="1400"/>
              <a:t>交付绩效域</a:t>
            </a:r>
            <a:endParaRPr lang="en-US" altLang="zh-CN" sz="1400"/>
          </a:p>
          <a:p>
            <a:pPr algn="ctr"/>
            <a:r>
              <a:rPr lang="en-US" altLang="zh-CN" sz="1400"/>
              <a:t>Delivery </a:t>
            </a:r>
            <a:endParaRPr lang="zh-CN" altLang="en-US" sz="1400"/>
          </a:p>
        </p:txBody>
      </p:sp>
      <p:sp>
        <p:nvSpPr>
          <p:cNvPr id="7" name="TextBox 6">
            <a:extLst>
              <a:ext uri="{FF2B5EF4-FFF2-40B4-BE49-F238E27FC236}">
                <a16:creationId xmlns:a16="http://schemas.microsoft.com/office/drawing/2014/main" id="{C9A7E3F7-FA98-9786-FA80-B1788B571FE2}"/>
              </a:ext>
            </a:extLst>
          </p:cNvPr>
          <p:cNvSpPr txBox="1"/>
          <p:nvPr/>
        </p:nvSpPr>
        <p:spPr>
          <a:xfrm>
            <a:off x="6229844" y="3342642"/>
            <a:ext cx="2160000" cy="584775"/>
          </a:xfrm>
          <a:prstGeom prst="roundRect">
            <a:avLst/>
          </a:prstGeom>
        </p:spPr>
        <p:style>
          <a:lnRef idx="0">
            <a:schemeClr val="accent5"/>
          </a:lnRef>
          <a:fillRef idx="3">
            <a:schemeClr val="accent5"/>
          </a:fillRef>
          <a:effectRef idx="3">
            <a:schemeClr val="accent5"/>
          </a:effectRef>
          <a:fontRef idx="minor">
            <a:schemeClr val="lt1"/>
          </a:fontRef>
        </p:style>
        <p:txBody>
          <a:bodyPr wrap="none" rtlCol="0">
            <a:noAutofit/>
          </a:bodyPr>
          <a:lstStyle/>
          <a:p>
            <a:pPr algn="ctr"/>
            <a:r>
              <a:rPr lang="zh-CN" altLang="en-US" sz="1400"/>
              <a:t>测量绩效域</a:t>
            </a:r>
            <a:endParaRPr lang="en-US" altLang="zh-CN" sz="1400"/>
          </a:p>
          <a:p>
            <a:pPr algn="ctr"/>
            <a:r>
              <a:rPr lang="en-US" altLang="zh-CN" sz="1400"/>
              <a:t>Measurement</a:t>
            </a:r>
            <a:endParaRPr lang="zh-CN" altLang="en-US" sz="1400"/>
          </a:p>
        </p:txBody>
      </p:sp>
      <p:sp>
        <p:nvSpPr>
          <p:cNvPr id="9" name="TextBox 8">
            <a:extLst>
              <a:ext uri="{FF2B5EF4-FFF2-40B4-BE49-F238E27FC236}">
                <a16:creationId xmlns:a16="http://schemas.microsoft.com/office/drawing/2014/main" id="{397EF974-C518-CFEC-FA3F-B4A3839C1145}"/>
              </a:ext>
            </a:extLst>
          </p:cNvPr>
          <p:cNvSpPr txBox="1"/>
          <p:nvPr/>
        </p:nvSpPr>
        <p:spPr>
          <a:xfrm>
            <a:off x="5016000" y="5241303"/>
            <a:ext cx="2160000" cy="584775"/>
          </a:xfrm>
          <a:prstGeom prst="roundRect">
            <a:avLst/>
          </a:prstGeom>
        </p:spPr>
        <p:style>
          <a:lnRef idx="0">
            <a:schemeClr val="accent3"/>
          </a:lnRef>
          <a:fillRef idx="3">
            <a:schemeClr val="accent3"/>
          </a:fillRef>
          <a:effectRef idx="3">
            <a:schemeClr val="accent3"/>
          </a:effectRef>
          <a:fontRef idx="minor">
            <a:schemeClr val="lt1"/>
          </a:fontRef>
        </p:style>
        <p:txBody>
          <a:bodyPr wrap="none" rtlCol="0">
            <a:noAutofit/>
          </a:bodyPr>
          <a:lstStyle/>
          <a:p>
            <a:pPr algn="ctr"/>
            <a:r>
              <a:rPr lang="zh-CN" altLang="en-US" sz="1400"/>
              <a:t>不确定性绩效域</a:t>
            </a:r>
            <a:endParaRPr lang="en-US" altLang="zh-CN" sz="1400"/>
          </a:p>
          <a:p>
            <a:pPr algn="ctr"/>
            <a:r>
              <a:rPr lang="en-US" altLang="zh-CN" sz="1400"/>
              <a:t>Uncertainty </a:t>
            </a:r>
            <a:endParaRPr lang="zh-CN" altLang="en-US" sz="1400"/>
          </a:p>
        </p:txBody>
      </p:sp>
      <p:sp>
        <p:nvSpPr>
          <p:cNvPr id="16" name="Arrow: Down 15">
            <a:extLst>
              <a:ext uri="{FF2B5EF4-FFF2-40B4-BE49-F238E27FC236}">
                <a16:creationId xmlns:a16="http://schemas.microsoft.com/office/drawing/2014/main" id="{BF3E0255-EE0E-521C-5066-208078392715}"/>
              </a:ext>
            </a:extLst>
          </p:cNvPr>
          <p:cNvSpPr/>
          <p:nvPr/>
        </p:nvSpPr>
        <p:spPr>
          <a:xfrm>
            <a:off x="6006000" y="2121478"/>
            <a:ext cx="180000" cy="179110"/>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Arrow: Down 16">
            <a:extLst>
              <a:ext uri="{FF2B5EF4-FFF2-40B4-BE49-F238E27FC236}">
                <a16:creationId xmlns:a16="http://schemas.microsoft.com/office/drawing/2014/main" id="{69EB9B5B-84C6-63C6-FFDD-FEB7F3E08C75}"/>
              </a:ext>
            </a:extLst>
          </p:cNvPr>
          <p:cNvSpPr/>
          <p:nvPr/>
        </p:nvSpPr>
        <p:spPr>
          <a:xfrm>
            <a:off x="6006000" y="3070809"/>
            <a:ext cx="180000" cy="179110"/>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Arrow: Down 17">
            <a:extLst>
              <a:ext uri="{FF2B5EF4-FFF2-40B4-BE49-F238E27FC236}">
                <a16:creationId xmlns:a16="http://schemas.microsoft.com/office/drawing/2014/main" id="{DA90FDF5-B7EC-AC7A-7E43-23C7CFDFE7C2}"/>
              </a:ext>
            </a:extLst>
          </p:cNvPr>
          <p:cNvSpPr/>
          <p:nvPr/>
        </p:nvSpPr>
        <p:spPr>
          <a:xfrm flipV="1">
            <a:off x="6006000" y="4969471"/>
            <a:ext cx="180000" cy="179110"/>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Arrow: Down 18">
            <a:extLst>
              <a:ext uri="{FF2B5EF4-FFF2-40B4-BE49-F238E27FC236}">
                <a16:creationId xmlns:a16="http://schemas.microsoft.com/office/drawing/2014/main" id="{262623E1-D483-32E7-12FD-3BD4974E49E8}"/>
              </a:ext>
            </a:extLst>
          </p:cNvPr>
          <p:cNvSpPr/>
          <p:nvPr/>
        </p:nvSpPr>
        <p:spPr>
          <a:xfrm flipV="1">
            <a:off x="6006000" y="4020140"/>
            <a:ext cx="180000" cy="179110"/>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Arrow: Down 19">
            <a:extLst>
              <a:ext uri="{FF2B5EF4-FFF2-40B4-BE49-F238E27FC236}">
                <a16:creationId xmlns:a16="http://schemas.microsoft.com/office/drawing/2014/main" id="{ADA851D5-43FB-9367-3941-57F337DDC3E8}"/>
              </a:ext>
            </a:extLst>
          </p:cNvPr>
          <p:cNvSpPr/>
          <p:nvPr/>
        </p:nvSpPr>
        <p:spPr>
          <a:xfrm rot="16200000">
            <a:off x="3578315" y="3545475"/>
            <a:ext cx="180000" cy="179110"/>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Arrow: Down 21">
            <a:extLst>
              <a:ext uri="{FF2B5EF4-FFF2-40B4-BE49-F238E27FC236}">
                <a16:creationId xmlns:a16="http://schemas.microsoft.com/office/drawing/2014/main" id="{AD0001B2-D25B-35CB-D478-573908FBA75A}"/>
              </a:ext>
            </a:extLst>
          </p:cNvPr>
          <p:cNvSpPr/>
          <p:nvPr/>
        </p:nvSpPr>
        <p:spPr>
          <a:xfrm rot="16200000">
            <a:off x="6006001" y="3545475"/>
            <a:ext cx="180000" cy="179110"/>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Arrow: Down 22">
            <a:extLst>
              <a:ext uri="{FF2B5EF4-FFF2-40B4-BE49-F238E27FC236}">
                <a16:creationId xmlns:a16="http://schemas.microsoft.com/office/drawing/2014/main" id="{2D31F1B6-A238-3C6A-350E-F67B359502A4}"/>
              </a:ext>
            </a:extLst>
          </p:cNvPr>
          <p:cNvSpPr/>
          <p:nvPr/>
        </p:nvSpPr>
        <p:spPr>
          <a:xfrm rot="16200000">
            <a:off x="8433687" y="3545474"/>
            <a:ext cx="180000" cy="179110"/>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594779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84882-2B9B-B188-F4FA-90409DAB3F3D}"/>
              </a:ext>
            </a:extLst>
          </p:cNvPr>
          <p:cNvSpPr>
            <a:spLocks noGrp="1"/>
          </p:cNvSpPr>
          <p:nvPr>
            <p:ph type="title"/>
          </p:nvPr>
        </p:nvSpPr>
        <p:spPr>
          <a:xfrm>
            <a:off x="792000" y="360000"/>
            <a:ext cx="6375921" cy="429413"/>
          </a:xfrm>
        </p:spPr>
        <p:txBody>
          <a:bodyPr/>
          <a:lstStyle/>
          <a:p>
            <a:r>
              <a:rPr lang="en-US" altLang="zh-CN"/>
              <a:t>VUCA</a:t>
            </a:r>
            <a:endParaRPr lang="zh-CN" altLang="en-US"/>
          </a:p>
        </p:txBody>
      </p:sp>
      <p:sp>
        <p:nvSpPr>
          <p:cNvPr id="10" name="Content Placeholder 9">
            <a:extLst>
              <a:ext uri="{FF2B5EF4-FFF2-40B4-BE49-F238E27FC236}">
                <a16:creationId xmlns:a16="http://schemas.microsoft.com/office/drawing/2014/main" id="{D442E39E-6857-6D6B-E84F-80F1385667FA}"/>
              </a:ext>
            </a:extLst>
          </p:cNvPr>
          <p:cNvSpPr>
            <a:spLocks noGrp="1"/>
          </p:cNvSpPr>
          <p:nvPr>
            <p:ph idx="1"/>
          </p:nvPr>
        </p:nvSpPr>
        <p:spPr>
          <a:xfrm>
            <a:off x="696000" y="864000"/>
            <a:ext cx="10800000" cy="5400000"/>
          </a:xfrm>
        </p:spPr>
        <p:txBody>
          <a:bodyPr>
            <a:normAutofit/>
          </a:bodyPr>
          <a:lstStyle/>
          <a:p>
            <a:r>
              <a:rPr lang="zh-CN" altLang="en-US"/>
              <a:t>描述当今商业环境的特征</a:t>
            </a:r>
            <a:endParaRPr lang="en-US" altLang="zh-CN"/>
          </a:p>
          <a:p>
            <a:r>
              <a:rPr lang="en-US" altLang="zh-CN"/>
              <a:t>PMBOK </a:t>
            </a:r>
            <a:r>
              <a:rPr lang="zh-CN" altLang="en-US"/>
              <a:t>指南的演变史，就是一部对抗 </a:t>
            </a:r>
            <a:r>
              <a:rPr lang="en-US" altLang="zh-CN"/>
              <a:t>VUCA</a:t>
            </a:r>
            <a:r>
              <a:rPr lang="zh-CN" altLang="en-US"/>
              <a:t> 的历史</a:t>
            </a:r>
          </a:p>
        </p:txBody>
      </p:sp>
      <p:sp>
        <p:nvSpPr>
          <p:cNvPr id="7" name="文本占位符 6">
            <a:extLst>
              <a:ext uri="{FF2B5EF4-FFF2-40B4-BE49-F238E27FC236}">
                <a16:creationId xmlns:a16="http://schemas.microsoft.com/office/drawing/2014/main" id="{B64EBBA0-D0C1-7C1D-A564-220058389A15}"/>
              </a:ext>
            </a:extLst>
          </p:cNvPr>
          <p:cNvSpPr>
            <a:spLocks noGrp="1"/>
          </p:cNvSpPr>
          <p:nvPr>
            <p:ph type="body" sz="quarter" idx="10"/>
          </p:nvPr>
        </p:nvSpPr>
        <p:spPr/>
        <p:txBody>
          <a:bodyPr/>
          <a:lstStyle/>
          <a:p>
            <a:endParaRPr lang="zh-CN" altLang="en-US"/>
          </a:p>
        </p:txBody>
      </p:sp>
      <p:graphicFrame>
        <p:nvGraphicFramePr>
          <p:cNvPr id="5" name="Table 4">
            <a:extLst>
              <a:ext uri="{FF2B5EF4-FFF2-40B4-BE49-F238E27FC236}">
                <a16:creationId xmlns:a16="http://schemas.microsoft.com/office/drawing/2014/main" id="{A895CBB5-2664-2CF1-5735-B20F7421DE8B}"/>
              </a:ext>
            </a:extLst>
          </p:cNvPr>
          <p:cNvGraphicFramePr>
            <a:graphicFrameLocks noGrp="1"/>
          </p:cNvGraphicFramePr>
          <p:nvPr>
            <p:extLst>
              <p:ext uri="{D42A27DB-BD31-4B8C-83A1-F6EECF244321}">
                <p14:modId xmlns:p14="http://schemas.microsoft.com/office/powerpoint/2010/main" val="3320536193"/>
              </p:ext>
            </p:extLst>
          </p:nvPr>
        </p:nvGraphicFramePr>
        <p:xfrm>
          <a:off x="695325" y="3612515"/>
          <a:ext cx="10801350" cy="2377440"/>
        </p:xfrm>
        <a:graphic>
          <a:graphicData uri="http://schemas.openxmlformats.org/drawingml/2006/table">
            <a:tbl>
              <a:tblPr/>
              <a:tblGrid>
                <a:gridCol w="1133475">
                  <a:extLst>
                    <a:ext uri="{9D8B030D-6E8A-4147-A177-3AD203B41FA5}">
                      <a16:colId xmlns:a16="http://schemas.microsoft.com/office/drawing/2014/main" val="3948350717"/>
                    </a:ext>
                  </a:extLst>
                </a:gridCol>
                <a:gridCol w="1715678">
                  <a:extLst>
                    <a:ext uri="{9D8B030D-6E8A-4147-A177-3AD203B41FA5}">
                      <a16:colId xmlns:a16="http://schemas.microsoft.com/office/drawing/2014/main" val="2290632334"/>
                    </a:ext>
                  </a:extLst>
                </a:gridCol>
                <a:gridCol w="1847654">
                  <a:extLst>
                    <a:ext uri="{9D8B030D-6E8A-4147-A177-3AD203B41FA5}">
                      <a16:colId xmlns:a16="http://schemas.microsoft.com/office/drawing/2014/main" val="3065943033"/>
                    </a:ext>
                  </a:extLst>
                </a:gridCol>
                <a:gridCol w="6104543">
                  <a:extLst>
                    <a:ext uri="{9D8B030D-6E8A-4147-A177-3AD203B41FA5}">
                      <a16:colId xmlns:a16="http://schemas.microsoft.com/office/drawing/2014/main" val="2815620651"/>
                    </a:ext>
                  </a:extLst>
                </a:gridCol>
              </a:tblGrid>
              <a:tr h="0">
                <a:tc>
                  <a:txBody>
                    <a:bodyPr/>
                    <a:lstStyle/>
                    <a:p>
                      <a:pPr algn="l">
                        <a:lnSpc>
                          <a:spcPct val="100000"/>
                        </a:lnSpc>
                        <a:buNone/>
                      </a:pPr>
                      <a:r>
                        <a:rPr lang="en-US" altLang="zh-CN" sz="1400" dirty="0">
                          <a:solidFill>
                            <a:schemeClr val="bg1"/>
                          </a:solidFill>
                        </a:rPr>
                        <a:t>Char</a:t>
                      </a:r>
                      <a:endParaRPr lang="zh-CN" altLang="en-US" sz="14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lnSpc>
                          <a:spcPct val="100000"/>
                        </a:lnSpc>
                        <a:buNone/>
                      </a:pPr>
                      <a:r>
                        <a:rPr lang="en-US" altLang="zh-CN" sz="1400" dirty="0">
                          <a:solidFill>
                            <a:schemeClr val="bg1"/>
                          </a:solidFill>
                        </a:rPr>
                        <a:t>English</a:t>
                      </a:r>
                      <a:endParaRPr lang="zh-CN" altLang="en-US" sz="14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lnSpc>
                          <a:spcPct val="100000"/>
                        </a:lnSpc>
                        <a:buNone/>
                      </a:pPr>
                      <a:r>
                        <a:rPr lang="en-US" altLang="zh-CN" sz="1400" dirty="0">
                          <a:solidFill>
                            <a:schemeClr val="bg1"/>
                          </a:solidFill>
                        </a:rPr>
                        <a:t>Chinese</a:t>
                      </a:r>
                      <a:endParaRPr lang="zh-CN" altLang="en-US" sz="14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lnSpc>
                          <a:spcPct val="100000"/>
                        </a:lnSpc>
                        <a:buNone/>
                      </a:pPr>
                      <a:r>
                        <a:rPr lang="en-US" altLang="zh-CN" sz="1400" dirty="0">
                          <a:solidFill>
                            <a:schemeClr val="bg1"/>
                          </a:solidFill>
                        </a:rPr>
                        <a:t>Description</a:t>
                      </a:r>
                      <a:endParaRPr lang="zh-CN" altLang="en-US" sz="14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598835100"/>
                  </a:ext>
                </a:extLst>
              </a:tr>
              <a:tr h="0">
                <a:tc>
                  <a:txBody>
                    <a:bodyPr/>
                    <a:lstStyle/>
                    <a:p>
                      <a:pPr algn="l">
                        <a:lnSpc>
                          <a:spcPct val="100000"/>
                        </a:lnSpc>
                        <a:buNone/>
                      </a:pPr>
                      <a:r>
                        <a:rPr lang="en-US" sz="1400"/>
                        <a:t>V</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en-US" sz="1400"/>
                        <a:t>Volatility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zh-CN" altLang="en-US" sz="1400"/>
                        <a:t>易变性</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zh-CN" altLang="en-US" sz="1400"/>
                        <a:t>变化发生的速度极快，幅度极大</a:t>
                      </a:r>
                      <a:endParaRPr lang="en-US" altLang="zh-CN" sz="140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a:t>计划赶不上变化，需求频繁变更</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07491448"/>
                  </a:ext>
                </a:extLst>
              </a:tr>
              <a:tr h="0">
                <a:tc>
                  <a:txBody>
                    <a:bodyPr/>
                    <a:lstStyle/>
                    <a:p>
                      <a:pPr algn="l">
                        <a:lnSpc>
                          <a:spcPct val="100000"/>
                        </a:lnSpc>
                        <a:buNone/>
                      </a:pPr>
                      <a:r>
                        <a:rPr lang="en-US" sz="1400"/>
                        <a:t>U</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en-US" sz="1400"/>
                        <a:t>Uncertainty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zh-CN" altLang="en-US" sz="1400"/>
                        <a:t>不确定性</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zh-CN" altLang="en-US" sz="1400"/>
                        <a:t>缺乏信息，难以预测未来，因果关系不明</a:t>
                      </a:r>
                    </a:p>
                    <a:p>
                      <a:pPr algn="l">
                        <a:lnSpc>
                          <a:spcPct val="100000"/>
                        </a:lnSpc>
                        <a:buNone/>
                      </a:pPr>
                      <a:r>
                        <a:rPr lang="zh-CN" altLang="en-US" sz="1400"/>
                        <a:t>风险难以识别，传统预测失效</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0132012"/>
                  </a:ext>
                </a:extLst>
              </a:tr>
              <a:tr h="0">
                <a:tc>
                  <a:txBody>
                    <a:bodyPr/>
                    <a:lstStyle/>
                    <a:p>
                      <a:pPr algn="l">
                        <a:lnSpc>
                          <a:spcPct val="100000"/>
                        </a:lnSpc>
                        <a:buNone/>
                      </a:pPr>
                      <a:r>
                        <a:rPr lang="en-US" sz="1400"/>
                        <a:t>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en-US" sz="1400"/>
                        <a:t>Complexity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zh-CN" altLang="en-US" sz="1400"/>
                        <a:t>复杂性</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zh-CN" altLang="en-US" sz="1400"/>
                        <a:t>影响因素众多，相互交织，牵一发而动全身</a:t>
                      </a:r>
                    </a:p>
                    <a:p>
                      <a:pPr algn="l">
                        <a:lnSpc>
                          <a:spcPct val="100000"/>
                        </a:lnSpc>
                        <a:buNone/>
                      </a:pPr>
                      <a:r>
                        <a:rPr lang="zh-CN" altLang="en-US" sz="1400"/>
                        <a:t>单一解决方案无效，需要系统思考</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9204373"/>
                  </a:ext>
                </a:extLst>
              </a:tr>
              <a:tr h="0">
                <a:tc>
                  <a:txBody>
                    <a:bodyPr/>
                    <a:lstStyle/>
                    <a:p>
                      <a:pPr algn="l">
                        <a:lnSpc>
                          <a:spcPct val="100000"/>
                        </a:lnSpc>
                        <a:buNone/>
                      </a:pPr>
                      <a:r>
                        <a:rPr lang="en-US" sz="1400"/>
                        <a:t>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en-US" sz="1400"/>
                        <a:t>Ambiguity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zh-CN" altLang="en-US" sz="1400"/>
                        <a:t>模糊性</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zh-CN" altLang="en-US" sz="1400" dirty="0"/>
                        <a:t>情况模棱两可，容易产生误解，没有先例可循</a:t>
                      </a:r>
                    </a:p>
                    <a:p>
                      <a:pPr algn="l">
                        <a:lnSpc>
                          <a:spcPct val="100000"/>
                        </a:lnSpc>
                        <a:buNone/>
                      </a:pPr>
                      <a:r>
                        <a:rPr lang="zh-CN" altLang="en-US" sz="1400" dirty="0"/>
                        <a:t>目标不清晰，需求难以定义</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9533284"/>
                  </a:ext>
                </a:extLst>
              </a:tr>
            </a:tbl>
          </a:graphicData>
        </a:graphic>
      </p:graphicFrame>
    </p:spTree>
    <p:extLst>
      <p:ext uri="{BB962C8B-B14F-4D97-AF65-F5344CB8AC3E}">
        <p14:creationId xmlns:p14="http://schemas.microsoft.com/office/powerpoint/2010/main" val="14958583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a:extLst>
              <a:ext uri="{FF2B5EF4-FFF2-40B4-BE49-F238E27FC236}">
                <a16:creationId xmlns:a16="http://schemas.microsoft.com/office/drawing/2014/main" id="{121E5B2E-9514-DB9B-DAB4-9AF65D522F7B}"/>
              </a:ext>
            </a:extLst>
          </p:cNvPr>
          <p:cNvSpPr>
            <a:spLocks noGrp="1"/>
          </p:cNvSpPr>
          <p:nvPr>
            <p:ph type="body" sz="quarter" idx="10"/>
          </p:nvPr>
        </p:nvSpPr>
        <p:spPr>
          <a:xfrm>
            <a:off x="3219345" y="1629000"/>
            <a:ext cx="8640000" cy="3600000"/>
          </a:xfrm>
        </p:spPr>
        <p:txBody>
          <a:bodyPr/>
          <a:lstStyle/>
          <a:p>
            <a:r>
              <a:rPr lang="zh-CN" altLang="en-US" dirty="0"/>
              <a:t>一家电商公司要在“双</a:t>
            </a:r>
            <a:r>
              <a:rPr lang="en-US" altLang="zh-CN" dirty="0"/>
              <a:t>11”</a:t>
            </a:r>
            <a:r>
              <a:rPr lang="zh-CN" altLang="en-US" dirty="0"/>
              <a:t>前上线一个新的促销系统。距离上线只剩</a:t>
            </a:r>
            <a:r>
              <a:rPr lang="en-US" altLang="zh-CN" dirty="0"/>
              <a:t>3</a:t>
            </a:r>
            <a:r>
              <a:rPr lang="zh-CN" altLang="en-US" dirty="0"/>
              <a:t>周，突然核心开发人员离职，且发现了一个严重的安全漏洞。</a:t>
            </a:r>
            <a:endParaRPr lang="en-US" altLang="zh-CN" dirty="0"/>
          </a:p>
          <a:p>
            <a:r>
              <a:rPr lang="zh-CN" altLang="en-US" dirty="0"/>
              <a:t>以下哪些做法体现了</a:t>
            </a:r>
            <a:r>
              <a:rPr lang="en-US" altLang="zh-CN" dirty="0"/>
              <a:t>PMBOK7</a:t>
            </a:r>
            <a:r>
              <a:rPr lang="zh-CN" altLang="en-US" dirty="0"/>
              <a:t>的思想？</a:t>
            </a:r>
            <a:endParaRPr lang="en-US" altLang="zh-CN" dirty="0"/>
          </a:p>
          <a:p>
            <a:endParaRPr lang="en-US" altLang="zh-CN" dirty="0"/>
          </a:p>
          <a:p>
            <a:r>
              <a:rPr lang="en-US" altLang="zh-CN" dirty="0"/>
              <a:t>A</a:t>
            </a:r>
            <a:r>
              <a:rPr lang="zh-CN" altLang="en-US" dirty="0"/>
              <a:t>：打开</a:t>
            </a:r>
            <a:r>
              <a:rPr lang="en-US" altLang="zh-CN" dirty="0"/>
              <a:t>《</a:t>
            </a:r>
            <a:r>
              <a:rPr lang="zh-CN" altLang="en-US" dirty="0"/>
              <a:t>风险登记册</a:t>
            </a:r>
            <a:r>
              <a:rPr lang="en-US" altLang="zh-CN" dirty="0"/>
              <a:t>》</a:t>
            </a:r>
            <a:r>
              <a:rPr lang="zh-CN" altLang="en-US" dirty="0"/>
              <a:t>，走变更流程，申请延期</a:t>
            </a:r>
          </a:p>
          <a:p>
            <a:r>
              <a:rPr lang="en-US" altLang="zh-CN" dirty="0"/>
              <a:t>B</a:t>
            </a:r>
            <a:r>
              <a:rPr lang="zh-CN" altLang="en-US" dirty="0"/>
              <a:t>：按“资源管理计划”去招聘新人</a:t>
            </a:r>
            <a:endParaRPr lang="en-US" altLang="zh-CN" dirty="0"/>
          </a:p>
          <a:p>
            <a:r>
              <a:rPr lang="en-US" altLang="zh-CN" dirty="0"/>
              <a:t>C</a:t>
            </a:r>
            <a:r>
              <a:rPr lang="zh-CN" altLang="en-US" dirty="0"/>
              <a:t>：立即承认原计划已失效。不再试图消除风险，而是启动应急预案</a:t>
            </a:r>
            <a:endParaRPr lang="en-US" altLang="zh-CN" dirty="0"/>
          </a:p>
          <a:p>
            <a:r>
              <a:rPr lang="en-US" altLang="zh-CN" dirty="0"/>
              <a:t>D</a:t>
            </a:r>
            <a:r>
              <a:rPr lang="zh-CN" altLang="en-US" dirty="0"/>
              <a:t>：立刻找</a:t>
            </a:r>
            <a:r>
              <a:rPr lang="en-US" altLang="zh-CN" dirty="0"/>
              <a:t>CEO</a:t>
            </a:r>
            <a:r>
              <a:rPr lang="zh-CN" altLang="en-US" dirty="0"/>
              <a:t>和业务方沟通，获得授权，调整范围</a:t>
            </a:r>
            <a:endParaRPr lang="en-US" altLang="zh-CN" dirty="0"/>
          </a:p>
          <a:p>
            <a:r>
              <a:rPr lang="en-US" altLang="zh-CN" dirty="0"/>
              <a:t>E</a:t>
            </a:r>
            <a:r>
              <a:rPr lang="zh-CN" altLang="en-US" dirty="0"/>
              <a:t>：重新定义最小可行产品 </a:t>
            </a:r>
            <a:r>
              <a:rPr lang="en-US" altLang="zh-CN" dirty="0"/>
              <a:t>MVP</a:t>
            </a:r>
            <a:r>
              <a:rPr lang="zh-CN" altLang="en-US" dirty="0"/>
              <a:t>，保证双</a:t>
            </a:r>
            <a:r>
              <a:rPr lang="en-US" altLang="zh-CN" dirty="0"/>
              <a:t>11</a:t>
            </a:r>
            <a:r>
              <a:rPr lang="zh-CN" altLang="en-US" dirty="0"/>
              <a:t>当天能下单、能支付</a:t>
            </a:r>
            <a:endParaRPr lang="en-US" altLang="zh-CN" dirty="0"/>
          </a:p>
          <a:p>
            <a:r>
              <a:rPr lang="en-US" altLang="zh-CN" dirty="0"/>
              <a:t>F</a:t>
            </a:r>
            <a:r>
              <a:rPr lang="zh-CN" altLang="en-US" dirty="0"/>
              <a:t>：召开紧急动员会，透明化危机；邀请资深架构师临时顶岗</a:t>
            </a:r>
            <a:endParaRPr lang="en-US" altLang="zh-CN" dirty="0"/>
          </a:p>
        </p:txBody>
      </p:sp>
    </p:spTree>
    <p:extLst>
      <p:ext uri="{BB962C8B-B14F-4D97-AF65-F5344CB8AC3E}">
        <p14:creationId xmlns:p14="http://schemas.microsoft.com/office/powerpoint/2010/main" val="28122691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A84B1-D781-1162-3DD1-A02CAD5A9BA9}"/>
              </a:ext>
            </a:extLst>
          </p:cNvPr>
          <p:cNvSpPr>
            <a:spLocks noGrp="1"/>
          </p:cNvSpPr>
          <p:nvPr>
            <p:ph type="title"/>
          </p:nvPr>
        </p:nvSpPr>
        <p:spPr>
          <a:xfrm>
            <a:off x="792000" y="360000"/>
            <a:ext cx="6375921" cy="429413"/>
          </a:xfrm>
        </p:spPr>
        <p:txBody>
          <a:bodyPr>
            <a:normAutofit/>
          </a:bodyPr>
          <a:lstStyle/>
          <a:p>
            <a:r>
              <a:rPr lang="en-US" altLang="zh-CN"/>
              <a:t>4.1 </a:t>
            </a:r>
            <a:r>
              <a:rPr lang="zh-CN" altLang="en-US"/>
              <a:t>敏捷开发</a:t>
            </a:r>
          </a:p>
        </p:txBody>
      </p:sp>
      <p:sp>
        <p:nvSpPr>
          <p:cNvPr id="10" name="Content Placeholder 9">
            <a:extLst>
              <a:ext uri="{FF2B5EF4-FFF2-40B4-BE49-F238E27FC236}">
                <a16:creationId xmlns:a16="http://schemas.microsoft.com/office/drawing/2014/main" id="{D6231B5E-58F6-FDDC-859B-0D66134270CC}"/>
              </a:ext>
            </a:extLst>
          </p:cNvPr>
          <p:cNvSpPr>
            <a:spLocks noGrp="1"/>
          </p:cNvSpPr>
          <p:nvPr>
            <p:ph idx="1"/>
          </p:nvPr>
        </p:nvSpPr>
        <p:spPr>
          <a:xfrm>
            <a:off x="696000" y="864000"/>
            <a:ext cx="10800000" cy="5400000"/>
          </a:xfrm>
        </p:spPr>
        <p:txBody>
          <a:bodyPr/>
          <a:lstStyle/>
          <a:p>
            <a:r>
              <a:rPr lang="zh-CN" altLang="en-US" dirty="0"/>
              <a:t>软件项目快速多变的环境要求快速的开发和提交</a:t>
            </a:r>
            <a:endParaRPr lang="en-US" altLang="zh-CN" dirty="0"/>
          </a:p>
          <a:p>
            <a:pPr lvl="1"/>
            <a:r>
              <a:rPr lang="zh-CN" altLang="en-US" dirty="0"/>
              <a:t>部分可用、阶段可用、多次交付</a:t>
            </a:r>
            <a:endParaRPr lang="en-US" altLang="zh-CN" dirty="0"/>
          </a:p>
          <a:p>
            <a:pPr lvl="1"/>
            <a:r>
              <a:rPr lang="zh-CN" altLang="en-US" dirty="0"/>
              <a:t>试水</a:t>
            </a:r>
            <a:endParaRPr lang="en-US" altLang="zh-CN" dirty="0"/>
          </a:p>
          <a:p>
            <a:pPr lvl="1"/>
            <a:r>
              <a:rPr lang="zh-CN" altLang="en-US" dirty="0"/>
              <a:t>看市场反映</a:t>
            </a:r>
            <a:endParaRPr lang="en-US" altLang="zh-CN" dirty="0"/>
          </a:p>
          <a:p>
            <a:pPr lvl="1"/>
            <a:r>
              <a:rPr lang="zh-CN" altLang="en-US" dirty="0"/>
              <a:t>及时止损</a:t>
            </a:r>
          </a:p>
        </p:txBody>
      </p:sp>
      <p:sp>
        <p:nvSpPr>
          <p:cNvPr id="4" name="Text Placeholder 3">
            <a:extLst>
              <a:ext uri="{FF2B5EF4-FFF2-40B4-BE49-F238E27FC236}">
                <a16:creationId xmlns:a16="http://schemas.microsoft.com/office/drawing/2014/main" id="{BEA5BCFB-F7A5-02C6-47EA-132CEEDBBD9D}"/>
              </a:ext>
            </a:extLst>
          </p:cNvPr>
          <p:cNvSpPr>
            <a:spLocks noGrp="1"/>
          </p:cNvSpPr>
          <p:nvPr>
            <p:ph type="body" sz="quarter" idx="10"/>
          </p:nvPr>
        </p:nvSpPr>
        <p:spPr>
          <a:xfrm>
            <a:off x="7071919" y="448519"/>
            <a:ext cx="4424080" cy="338554"/>
          </a:xfrm>
        </p:spPr>
        <p:txBody>
          <a:bodyPr/>
          <a:lstStyle/>
          <a:p>
            <a:r>
              <a:rPr lang="en-US" altLang="zh-CN"/>
              <a:t>Agile Development</a:t>
            </a:r>
            <a:endParaRPr lang="zh-CN" altLang="en-US"/>
          </a:p>
        </p:txBody>
      </p:sp>
      <p:sp>
        <p:nvSpPr>
          <p:cNvPr id="5" name="矩形 4">
            <a:extLst>
              <a:ext uri="{FF2B5EF4-FFF2-40B4-BE49-F238E27FC236}">
                <a16:creationId xmlns:a16="http://schemas.microsoft.com/office/drawing/2014/main" id="{F8385DDC-0F08-85A1-F776-AE6CCADAA2C9}"/>
              </a:ext>
            </a:extLst>
          </p:cNvPr>
          <p:cNvSpPr/>
          <p:nvPr/>
        </p:nvSpPr>
        <p:spPr>
          <a:xfrm>
            <a:off x="695324" y="1611984"/>
            <a:ext cx="10532000" cy="4579266"/>
          </a:xfrm>
          <a:prstGeom prst="rect">
            <a:avLst/>
          </a:prstGeom>
          <a:ln w="12700">
            <a:noFill/>
          </a:ln>
        </p:spPr>
        <p:txBody>
          <a:bodyPr/>
          <a:lstStyle/>
          <a:p>
            <a:endParaRPr lang="zh-CN" altLang="en-US"/>
          </a:p>
        </p:txBody>
      </p:sp>
      <p:sp>
        <p:nvSpPr>
          <p:cNvPr id="6" name="任意多边形: 形状 5">
            <a:extLst>
              <a:ext uri="{FF2B5EF4-FFF2-40B4-BE49-F238E27FC236}">
                <a16:creationId xmlns:a16="http://schemas.microsoft.com/office/drawing/2014/main" id="{4CE500E8-9576-5524-7522-BCDBFCE0CD89}"/>
              </a:ext>
            </a:extLst>
          </p:cNvPr>
          <p:cNvSpPr/>
          <p:nvPr/>
        </p:nvSpPr>
        <p:spPr>
          <a:xfrm>
            <a:off x="5506214" y="3376095"/>
            <a:ext cx="1080001" cy="1080001"/>
          </a:xfrm>
          <a:custGeom>
            <a:avLst/>
            <a:gdLst>
              <a:gd name="csX0" fmla="*/ 0 w 1080001"/>
              <a:gd name="csY0" fmla="*/ 540001 h 1080001"/>
              <a:gd name="csX1" fmla="*/ 540001 w 1080001"/>
              <a:gd name="csY1" fmla="*/ 0 h 1080001"/>
              <a:gd name="csX2" fmla="*/ 1080002 w 1080001"/>
              <a:gd name="csY2" fmla="*/ 540001 h 1080001"/>
              <a:gd name="csX3" fmla="*/ 540001 w 1080001"/>
              <a:gd name="csY3" fmla="*/ 1080002 h 1080001"/>
              <a:gd name="csX4" fmla="*/ 0 w 1080001"/>
              <a:gd name="csY4" fmla="*/ 540001 h 1080001"/>
            </a:gdLst>
            <a:ahLst/>
            <a:cxnLst>
              <a:cxn ang="0">
                <a:pos x="csX0" y="csY0"/>
              </a:cxn>
              <a:cxn ang="0">
                <a:pos x="csX1" y="csY1"/>
              </a:cxn>
              <a:cxn ang="0">
                <a:pos x="csX2" y="csY2"/>
              </a:cxn>
              <a:cxn ang="0">
                <a:pos x="csX3" y="csY3"/>
              </a:cxn>
              <a:cxn ang="0">
                <a:pos x="csX4" y="csY4"/>
              </a:cxn>
            </a:cxnLst>
            <a:rect l="l" t="t" r="r" b="b"/>
            <a:pathLst>
              <a:path w="1080001" h="1080001">
                <a:moveTo>
                  <a:pt x="0" y="540001"/>
                </a:moveTo>
                <a:cubicBezTo>
                  <a:pt x="0" y="241767"/>
                  <a:pt x="241767" y="0"/>
                  <a:pt x="540001" y="0"/>
                </a:cubicBezTo>
                <a:cubicBezTo>
                  <a:pt x="838235" y="0"/>
                  <a:pt x="1080002" y="241767"/>
                  <a:pt x="1080002" y="540001"/>
                </a:cubicBezTo>
                <a:cubicBezTo>
                  <a:pt x="1080002" y="838235"/>
                  <a:pt x="838235" y="1080002"/>
                  <a:pt x="540001" y="1080002"/>
                </a:cubicBezTo>
                <a:cubicBezTo>
                  <a:pt x="241767" y="1080002"/>
                  <a:pt x="0" y="838235"/>
                  <a:pt x="0" y="540001"/>
                </a:cubicBezTo>
                <a:close/>
              </a:path>
            </a:pathLst>
          </a:custGeom>
          <a:solidFill>
            <a:schemeClr val="accent2"/>
          </a:solidFill>
        </p:spPr>
        <p:style>
          <a:lnRef idx="0">
            <a:schemeClr val="lt1">
              <a:hueOff val="0"/>
              <a:satOff val="0"/>
              <a:lumOff val="0"/>
              <a:alphaOff val="0"/>
            </a:schemeClr>
          </a:lnRef>
          <a:fillRef idx="3">
            <a:scrgbClr r="0" g="0" b="0"/>
          </a:fillRef>
          <a:effectRef idx="2">
            <a:schemeClr val="accent3">
              <a:hueOff val="0"/>
              <a:satOff val="0"/>
              <a:lumOff val="0"/>
              <a:alphaOff val="0"/>
            </a:schemeClr>
          </a:effectRef>
          <a:fontRef idx="minor">
            <a:schemeClr val="lt1"/>
          </a:fontRef>
        </p:style>
        <p:txBody>
          <a:bodyPr spcFirstLastPara="0" vert="horz" wrap="square" lIns="168322" tIns="168322" rIns="168322" bIns="168322" numCol="1" spcCol="1270" anchor="ctr" anchorCtr="0">
            <a:noAutofit/>
          </a:bodyPr>
          <a:lstStyle/>
          <a:p>
            <a:pPr marL="0" lvl="0" indent="0" algn="ctr" defTabSz="711200">
              <a:lnSpc>
                <a:spcPct val="90000"/>
              </a:lnSpc>
              <a:spcBef>
                <a:spcPct val="0"/>
              </a:spcBef>
              <a:spcAft>
                <a:spcPct val="35000"/>
              </a:spcAft>
              <a:buNone/>
            </a:pPr>
            <a:r>
              <a:rPr lang="en-US" altLang="zh-CN" sz="1600" kern="1200"/>
              <a:t>Why</a:t>
            </a:r>
            <a:endParaRPr lang="zh-CN" altLang="en-US" sz="1600" kern="1200"/>
          </a:p>
        </p:txBody>
      </p:sp>
      <p:sp>
        <p:nvSpPr>
          <p:cNvPr id="8" name="矩形: 圆角 7">
            <a:extLst>
              <a:ext uri="{FF2B5EF4-FFF2-40B4-BE49-F238E27FC236}">
                <a16:creationId xmlns:a16="http://schemas.microsoft.com/office/drawing/2014/main" id="{FFB85EC0-65C2-54D0-DF37-43C436EB8286}"/>
              </a:ext>
            </a:extLst>
          </p:cNvPr>
          <p:cNvSpPr/>
          <p:nvPr/>
        </p:nvSpPr>
        <p:spPr>
          <a:xfrm>
            <a:off x="5326215" y="2476199"/>
            <a:ext cx="1440000" cy="432000"/>
          </a:xfrm>
          <a:prstGeom prst="roundRect">
            <a:avLst/>
          </a:prstGeom>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196179" tIns="126146" rIns="196179" bIns="126146" numCol="1" spcCol="1270" anchor="ctr" anchorCtr="0">
            <a:noAutofit/>
          </a:bodyPr>
          <a:lstStyle/>
          <a:p>
            <a:pPr marL="0" lvl="0" indent="0" algn="ctr" defTabSz="711200">
              <a:lnSpc>
                <a:spcPct val="90000"/>
              </a:lnSpc>
              <a:spcBef>
                <a:spcPct val="0"/>
              </a:spcBef>
              <a:spcAft>
                <a:spcPct val="35000"/>
              </a:spcAft>
              <a:buNone/>
            </a:pPr>
            <a:r>
              <a:rPr lang="zh-CN" altLang="en-US" sz="1600" kern="1200"/>
              <a:t>更加灵活</a:t>
            </a:r>
          </a:p>
        </p:txBody>
      </p:sp>
      <p:sp>
        <p:nvSpPr>
          <p:cNvPr id="12" name="矩形: 圆角 11">
            <a:extLst>
              <a:ext uri="{FF2B5EF4-FFF2-40B4-BE49-F238E27FC236}">
                <a16:creationId xmlns:a16="http://schemas.microsoft.com/office/drawing/2014/main" id="{28211CC8-45C0-4DBD-90EC-EC31DEF1A945}"/>
              </a:ext>
            </a:extLst>
          </p:cNvPr>
          <p:cNvSpPr/>
          <p:nvPr/>
        </p:nvSpPr>
        <p:spPr>
          <a:xfrm>
            <a:off x="6978469" y="3700095"/>
            <a:ext cx="1440000" cy="432000"/>
          </a:xfrm>
          <a:prstGeom prst="roundRect">
            <a:avLst/>
          </a:prstGeom>
        </p:spPr>
        <p:style>
          <a:lnRef idx="0">
            <a:schemeClr val="lt1">
              <a:hueOff val="0"/>
              <a:satOff val="0"/>
              <a:lumOff val="0"/>
              <a:alphaOff val="0"/>
            </a:schemeClr>
          </a:lnRef>
          <a:fillRef idx="3">
            <a:schemeClr val="accent4">
              <a:hueOff val="3266964"/>
              <a:satOff val="-13592"/>
              <a:lumOff val="3203"/>
              <a:alphaOff val="0"/>
            </a:schemeClr>
          </a:fillRef>
          <a:effectRef idx="2">
            <a:schemeClr val="accent4">
              <a:hueOff val="3266964"/>
              <a:satOff val="-13592"/>
              <a:lumOff val="3203"/>
              <a:alphaOff val="0"/>
            </a:schemeClr>
          </a:effectRef>
          <a:fontRef idx="minor">
            <a:schemeClr val="lt1"/>
          </a:fontRef>
        </p:style>
        <p:txBody>
          <a:bodyPr spcFirstLastPara="0" vert="horz" wrap="square" lIns="196179" tIns="126146" rIns="196179" bIns="126146" numCol="1" spcCol="1270" anchor="ctr" anchorCtr="0">
            <a:noAutofit/>
          </a:bodyPr>
          <a:lstStyle/>
          <a:p>
            <a:pPr marL="0" lvl="0" indent="0" algn="ctr" defTabSz="711200">
              <a:lnSpc>
                <a:spcPct val="90000"/>
              </a:lnSpc>
              <a:spcBef>
                <a:spcPct val="0"/>
              </a:spcBef>
              <a:spcAft>
                <a:spcPct val="35000"/>
              </a:spcAft>
              <a:buNone/>
            </a:pPr>
            <a:r>
              <a:rPr lang="zh-CN" altLang="en-US" sz="1600" kern="1200"/>
              <a:t>快速交付</a:t>
            </a:r>
          </a:p>
        </p:txBody>
      </p:sp>
      <p:sp>
        <p:nvSpPr>
          <p:cNvPr id="14" name="矩形: 圆角 13">
            <a:extLst>
              <a:ext uri="{FF2B5EF4-FFF2-40B4-BE49-F238E27FC236}">
                <a16:creationId xmlns:a16="http://schemas.microsoft.com/office/drawing/2014/main" id="{92C30747-6E88-DE49-CCAC-FF77124317AA}"/>
              </a:ext>
            </a:extLst>
          </p:cNvPr>
          <p:cNvSpPr/>
          <p:nvPr/>
        </p:nvSpPr>
        <p:spPr>
          <a:xfrm>
            <a:off x="5326215" y="4923991"/>
            <a:ext cx="1440000" cy="432000"/>
          </a:xfrm>
          <a:prstGeom prst="roundRect">
            <a:avLst/>
          </a:prstGeom>
        </p:spPr>
        <p:style>
          <a:lnRef idx="0">
            <a:schemeClr val="lt1">
              <a:hueOff val="0"/>
              <a:satOff val="0"/>
              <a:lumOff val="0"/>
              <a:alphaOff val="0"/>
            </a:schemeClr>
          </a:lnRef>
          <a:fillRef idx="3">
            <a:schemeClr val="accent4">
              <a:hueOff val="6533927"/>
              <a:satOff val="-27185"/>
              <a:lumOff val="6405"/>
              <a:alphaOff val="0"/>
            </a:schemeClr>
          </a:fillRef>
          <a:effectRef idx="2">
            <a:schemeClr val="accent4">
              <a:hueOff val="6533927"/>
              <a:satOff val="-27185"/>
              <a:lumOff val="6405"/>
              <a:alphaOff val="0"/>
            </a:schemeClr>
          </a:effectRef>
          <a:fontRef idx="minor">
            <a:schemeClr val="lt1"/>
          </a:fontRef>
        </p:style>
        <p:txBody>
          <a:bodyPr spcFirstLastPara="0" vert="horz" wrap="square" lIns="196179" tIns="126146" rIns="196179" bIns="126146" numCol="1" spcCol="1270" anchor="ctr" anchorCtr="0">
            <a:noAutofit/>
          </a:bodyPr>
          <a:lstStyle/>
          <a:p>
            <a:pPr marL="0" lvl="0" indent="0" algn="ctr" defTabSz="711200">
              <a:lnSpc>
                <a:spcPct val="90000"/>
              </a:lnSpc>
              <a:spcBef>
                <a:spcPct val="0"/>
              </a:spcBef>
              <a:spcAft>
                <a:spcPct val="35000"/>
              </a:spcAft>
              <a:buNone/>
            </a:pPr>
            <a:r>
              <a:rPr lang="zh-CN" altLang="en-US" sz="1600" kern="1200"/>
              <a:t>持续改进</a:t>
            </a:r>
          </a:p>
        </p:txBody>
      </p:sp>
      <p:sp>
        <p:nvSpPr>
          <p:cNvPr id="16" name="矩形: 圆角 15">
            <a:extLst>
              <a:ext uri="{FF2B5EF4-FFF2-40B4-BE49-F238E27FC236}">
                <a16:creationId xmlns:a16="http://schemas.microsoft.com/office/drawing/2014/main" id="{70F3B8E4-EBAE-671C-23DB-A0DF5A329867}"/>
              </a:ext>
            </a:extLst>
          </p:cNvPr>
          <p:cNvSpPr/>
          <p:nvPr/>
        </p:nvSpPr>
        <p:spPr>
          <a:xfrm>
            <a:off x="3673961" y="3700095"/>
            <a:ext cx="1440000" cy="432000"/>
          </a:xfrm>
          <a:prstGeom prst="roundRect">
            <a:avLst/>
          </a:prstGeom>
        </p:spPr>
        <p:style>
          <a:lnRef idx="0">
            <a:schemeClr val="lt1">
              <a:hueOff val="0"/>
              <a:satOff val="0"/>
              <a:lumOff val="0"/>
              <a:alphaOff val="0"/>
            </a:schemeClr>
          </a:lnRef>
          <a:fillRef idx="3">
            <a:schemeClr val="accent4">
              <a:hueOff val="9800891"/>
              <a:satOff val="-40777"/>
              <a:lumOff val="9608"/>
              <a:alphaOff val="0"/>
            </a:schemeClr>
          </a:fillRef>
          <a:effectRef idx="2">
            <a:schemeClr val="accent4">
              <a:hueOff val="9800891"/>
              <a:satOff val="-40777"/>
              <a:lumOff val="9608"/>
              <a:alphaOff val="0"/>
            </a:schemeClr>
          </a:effectRef>
          <a:fontRef idx="minor">
            <a:schemeClr val="lt1"/>
          </a:fontRef>
        </p:style>
        <p:txBody>
          <a:bodyPr spcFirstLastPara="0" vert="horz" wrap="square" lIns="196179" tIns="126146" rIns="196179" bIns="126146" numCol="1" spcCol="1270" anchor="ctr" anchorCtr="0">
            <a:noAutofit/>
          </a:bodyPr>
          <a:lstStyle/>
          <a:p>
            <a:pPr marL="0" lvl="0" indent="0" algn="ctr" defTabSz="711200">
              <a:lnSpc>
                <a:spcPct val="90000"/>
              </a:lnSpc>
              <a:spcBef>
                <a:spcPct val="0"/>
              </a:spcBef>
              <a:spcAft>
                <a:spcPct val="35000"/>
              </a:spcAft>
              <a:buNone/>
            </a:pPr>
            <a:r>
              <a:rPr lang="zh-CN" altLang="en-US" sz="1600" kern="1200"/>
              <a:t>更低风险</a:t>
            </a:r>
          </a:p>
        </p:txBody>
      </p:sp>
      <p:cxnSp>
        <p:nvCxnSpPr>
          <p:cNvPr id="18" name="直接连接符 17">
            <a:extLst>
              <a:ext uri="{FF2B5EF4-FFF2-40B4-BE49-F238E27FC236}">
                <a16:creationId xmlns:a16="http://schemas.microsoft.com/office/drawing/2014/main" id="{CFFC823B-DE55-1555-D5D6-437116836A96}"/>
              </a:ext>
            </a:extLst>
          </p:cNvPr>
          <p:cNvCxnSpPr>
            <a:stCxn id="6" idx="2"/>
            <a:endCxn id="12" idx="1"/>
          </p:cNvCxnSpPr>
          <p:nvPr/>
        </p:nvCxnSpPr>
        <p:spPr>
          <a:xfrm flipV="1">
            <a:off x="6586216" y="3916095"/>
            <a:ext cx="392253" cy="1"/>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CC4147DC-C5DF-FBD5-7A6E-E5FBD8DB21AB}"/>
              </a:ext>
            </a:extLst>
          </p:cNvPr>
          <p:cNvCxnSpPr>
            <a:stCxn id="6" idx="1"/>
            <a:endCxn id="8" idx="2"/>
          </p:cNvCxnSpPr>
          <p:nvPr/>
        </p:nvCxnSpPr>
        <p:spPr>
          <a:xfrm flipV="1">
            <a:off x="6046215" y="2908199"/>
            <a:ext cx="0" cy="467896"/>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3E822E5E-F8B2-EA72-616F-BEA7DFC23842}"/>
              </a:ext>
            </a:extLst>
          </p:cNvPr>
          <p:cNvCxnSpPr>
            <a:stCxn id="6" idx="0"/>
            <a:endCxn id="16" idx="3"/>
          </p:cNvCxnSpPr>
          <p:nvPr/>
        </p:nvCxnSpPr>
        <p:spPr>
          <a:xfrm flipH="1" flipV="1">
            <a:off x="5113961" y="3916095"/>
            <a:ext cx="392253" cy="1"/>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D056DE1F-FC13-A548-3C46-406EBA28D486}"/>
              </a:ext>
            </a:extLst>
          </p:cNvPr>
          <p:cNvCxnSpPr>
            <a:stCxn id="6" idx="3"/>
            <a:endCxn id="14" idx="0"/>
          </p:cNvCxnSpPr>
          <p:nvPr/>
        </p:nvCxnSpPr>
        <p:spPr>
          <a:xfrm>
            <a:off x="6046215" y="4456097"/>
            <a:ext cx="0" cy="467894"/>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79719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DFAC1FE6-F622-CBB6-162C-7B5046F2884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1460" y="0"/>
            <a:ext cx="3070746" cy="6858000"/>
          </a:xfrm>
          <a:custGeom>
            <a:avLst/>
            <a:gdLst>
              <a:gd name="csX0" fmla="*/ 604996 w 3070746"/>
              <a:gd name="csY0" fmla="*/ 424207 h 6858000"/>
              <a:gd name="csX1" fmla="*/ 604996 w 3070746"/>
              <a:gd name="csY1" fmla="*/ 603315 h 6858000"/>
              <a:gd name="csX2" fmla="*/ 1000996 w 3070746"/>
              <a:gd name="csY2" fmla="*/ 603315 h 6858000"/>
              <a:gd name="csX3" fmla="*/ 1000996 w 3070746"/>
              <a:gd name="csY3" fmla="*/ 424207 h 6858000"/>
              <a:gd name="csX4" fmla="*/ 0 w 3070746"/>
              <a:gd name="csY4" fmla="*/ 0 h 6858000"/>
              <a:gd name="csX5" fmla="*/ 3070746 w 3070746"/>
              <a:gd name="csY5" fmla="*/ 0 h 6858000"/>
              <a:gd name="csX6" fmla="*/ 3070746 w 3070746"/>
              <a:gd name="csY6" fmla="*/ 6858000 h 6858000"/>
              <a:gd name="csX7" fmla="*/ 0 w 3070746"/>
              <a:gd name="csY7"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070746" h="6858000">
                <a:moveTo>
                  <a:pt x="604996" y="424207"/>
                </a:moveTo>
                <a:lnTo>
                  <a:pt x="604996" y="603315"/>
                </a:lnTo>
                <a:lnTo>
                  <a:pt x="1000996" y="603315"/>
                </a:lnTo>
                <a:lnTo>
                  <a:pt x="1000996" y="424207"/>
                </a:lnTo>
                <a:close/>
                <a:moveTo>
                  <a:pt x="0" y="0"/>
                </a:moveTo>
                <a:lnTo>
                  <a:pt x="3070746" y="0"/>
                </a:lnTo>
                <a:lnTo>
                  <a:pt x="3070746" y="6858000"/>
                </a:lnTo>
                <a:lnTo>
                  <a:pt x="0" y="6858000"/>
                </a:lnTo>
                <a:close/>
              </a:path>
            </a:pathLst>
          </a:custGeom>
        </p:spPr>
      </p:pic>
      <p:pic>
        <p:nvPicPr>
          <p:cNvPr id="18" name="Picture 17">
            <a:extLst>
              <a:ext uri="{FF2B5EF4-FFF2-40B4-BE49-F238E27FC236}">
                <a16:creationId xmlns:a16="http://schemas.microsoft.com/office/drawing/2014/main" id="{D3C3DF6D-99BC-7825-0019-F3B9951D8BD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9119794" y="0"/>
            <a:ext cx="3070746" cy="6858000"/>
          </a:xfrm>
          <a:custGeom>
            <a:avLst/>
            <a:gdLst>
              <a:gd name="csX0" fmla="*/ 1178726 w 3070746"/>
              <a:gd name="csY0" fmla="*/ 5005635 h 6858000"/>
              <a:gd name="csX1" fmla="*/ 1178726 w 3070746"/>
              <a:gd name="csY1" fmla="*/ 5149635 h 6858000"/>
              <a:gd name="csX2" fmla="*/ 2042726 w 3070746"/>
              <a:gd name="csY2" fmla="*/ 5149635 h 6858000"/>
              <a:gd name="csX3" fmla="*/ 2042726 w 3070746"/>
              <a:gd name="csY3" fmla="*/ 5005635 h 6858000"/>
              <a:gd name="csX4" fmla="*/ 592693 w 3070746"/>
              <a:gd name="csY4" fmla="*/ 3429000 h 6858000"/>
              <a:gd name="csX5" fmla="*/ 592693 w 3070746"/>
              <a:gd name="csY5" fmla="*/ 4317478 h 6858000"/>
              <a:gd name="csX6" fmla="*/ 1535373 w 3070746"/>
              <a:gd name="csY6" fmla="*/ 4317478 h 6858000"/>
              <a:gd name="csX7" fmla="*/ 1535373 w 3070746"/>
              <a:gd name="csY7" fmla="*/ 3429000 h 6858000"/>
              <a:gd name="csX8" fmla="*/ 526704 w 3070746"/>
              <a:gd name="csY8" fmla="*/ 711721 h 6858000"/>
              <a:gd name="csX9" fmla="*/ 526704 w 3070746"/>
              <a:gd name="csY9" fmla="*/ 855721 h 6858000"/>
              <a:gd name="csX10" fmla="*/ 1210704 w 3070746"/>
              <a:gd name="csY10" fmla="*/ 855721 h 6858000"/>
              <a:gd name="csX11" fmla="*/ 1210704 w 3070746"/>
              <a:gd name="csY11" fmla="*/ 711721 h 6858000"/>
              <a:gd name="csX12" fmla="*/ 486119 w 3070746"/>
              <a:gd name="csY12" fmla="*/ 424207 h 6858000"/>
              <a:gd name="csX13" fmla="*/ 486119 w 3070746"/>
              <a:gd name="csY13" fmla="*/ 603315 h 6858000"/>
              <a:gd name="csX14" fmla="*/ 882119 w 3070746"/>
              <a:gd name="csY14" fmla="*/ 603315 h 6858000"/>
              <a:gd name="csX15" fmla="*/ 882119 w 3070746"/>
              <a:gd name="csY15" fmla="*/ 424207 h 6858000"/>
              <a:gd name="csX16" fmla="*/ 0 w 3070746"/>
              <a:gd name="csY16" fmla="*/ 0 h 6858000"/>
              <a:gd name="csX17" fmla="*/ 3070746 w 3070746"/>
              <a:gd name="csY17" fmla="*/ 0 h 6858000"/>
              <a:gd name="csX18" fmla="*/ 3070746 w 3070746"/>
              <a:gd name="csY18" fmla="*/ 6858000 h 6858000"/>
              <a:gd name="csX19" fmla="*/ 0 w 3070746"/>
              <a:gd name="csY19"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3070746" h="6858000">
                <a:moveTo>
                  <a:pt x="1178726" y="5005635"/>
                </a:moveTo>
                <a:lnTo>
                  <a:pt x="1178726" y="5149635"/>
                </a:lnTo>
                <a:lnTo>
                  <a:pt x="2042726" y="5149635"/>
                </a:lnTo>
                <a:lnTo>
                  <a:pt x="2042726" y="5005635"/>
                </a:lnTo>
                <a:close/>
                <a:moveTo>
                  <a:pt x="592693" y="3429000"/>
                </a:moveTo>
                <a:lnTo>
                  <a:pt x="592693" y="4317478"/>
                </a:lnTo>
                <a:lnTo>
                  <a:pt x="1535373" y="4317478"/>
                </a:lnTo>
                <a:lnTo>
                  <a:pt x="1535373" y="3429000"/>
                </a:lnTo>
                <a:close/>
                <a:moveTo>
                  <a:pt x="526704" y="711721"/>
                </a:moveTo>
                <a:lnTo>
                  <a:pt x="526704" y="855721"/>
                </a:lnTo>
                <a:lnTo>
                  <a:pt x="1210704" y="855721"/>
                </a:lnTo>
                <a:lnTo>
                  <a:pt x="1210704" y="711721"/>
                </a:lnTo>
                <a:close/>
                <a:moveTo>
                  <a:pt x="486119" y="424207"/>
                </a:moveTo>
                <a:lnTo>
                  <a:pt x="486119" y="603315"/>
                </a:lnTo>
                <a:lnTo>
                  <a:pt x="882119" y="603315"/>
                </a:lnTo>
                <a:lnTo>
                  <a:pt x="882119" y="424207"/>
                </a:lnTo>
                <a:close/>
                <a:moveTo>
                  <a:pt x="0" y="0"/>
                </a:moveTo>
                <a:lnTo>
                  <a:pt x="3070746" y="0"/>
                </a:lnTo>
                <a:lnTo>
                  <a:pt x="3070746" y="6858000"/>
                </a:lnTo>
                <a:lnTo>
                  <a:pt x="0" y="6858000"/>
                </a:lnTo>
                <a:close/>
              </a:path>
            </a:pathLst>
          </a:custGeom>
        </p:spPr>
      </p:pic>
      <p:pic>
        <p:nvPicPr>
          <p:cNvPr id="17" name="Picture 16">
            <a:extLst>
              <a:ext uri="{FF2B5EF4-FFF2-40B4-BE49-F238E27FC236}">
                <a16:creationId xmlns:a16="http://schemas.microsoft.com/office/drawing/2014/main" id="{AFE53AAD-0C6D-3D60-27FC-7D539BABA65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a:off x="4560628" y="0"/>
            <a:ext cx="3070746" cy="6858000"/>
          </a:xfrm>
          <a:custGeom>
            <a:avLst/>
            <a:gdLst>
              <a:gd name="csX0" fmla="*/ 644539 w 3070746"/>
              <a:gd name="csY0" fmla="*/ 424207 h 6858000"/>
              <a:gd name="csX1" fmla="*/ 644539 w 3070746"/>
              <a:gd name="csY1" fmla="*/ 603315 h 6858000"/>
              <a:gd name="csX2" fmla="*/ 1040539 w 3070746"/>
              <a:gd name="csY2" fmla="*/ 603315 h 6858000"/>
              <a:gd name="csX3" fmla="*/ 1040539 w 3070746"/>
              <a:gd name="csY3" fmla="*/ 424207 h 6858000"/>
              <a:gd name="csX4" fmla="*/ 0 w 3070746"/>
              <a:gd name="csY4" fmla="*/ 0 h 6858000"/>
              <a:gd name="csX5" fmla="*/ 3070746 w 3070746"/>
              <a:gd name="csY5" fmla="*/ 0 h 6858000"/>
              <a:gd name="csX6" fmla="*/ 3070746 w 3070746"/>
              <a:gd name="csY6" fmla="*/ 6858000 h 6858000"/>
              <a:gd name="csX7" fmla="*/ 0 w 3070746"/>
              <a:gd name="csY7"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070746" h="6858000">
                <a:moveTo>
                  <a:pt x="644539" y="424207"/>
                </a:moveTo>
                <a:lnTo>
                  <a:pt x="644539" y="603315"/>
                </a:lnTo>
                <a:lnTo>
                  <a:pt x="1040539" y="603315"/>
                </a:lnTo>
                <a:lnTo>
                  <a:pt x="1040539" y="424207"/>
                </a:lnTo>
                <a:close/>
                <a:moveTo>
                  <a:pt x="0" y="0"/>
                </a:moveTo>
                <a:lnTo>
                  <a:pt x="3070746" y="0"/>
                </a:lnTo>
                <a:lnTo>
                  <a:pt x="3070746" y="6858000"/>
                </a:lnTo>
                <a:lnTo>
                  <a:pt x="0" y="6858000"/>
                </a:lnTo>
                <a:close/>
              </a:path>
            </a:pathLst>
          </a:custGeom>
        </p:spPr>
      </p:pic>
      <p:sp>
        <p:nvSpPr>
          <p:cNvPr id="2" name="箭头: 右 1">
            <a:extLst>
              <a:ext uri="{FF2B5EF4-FFF2-40B4-BE49-F238E27FC236}">
                <a16:creationId xmlns:a16="http://schemas.microsoft.com/office/drawing/2014/main" id="{3CC07BE3-36FD-1A5E-E30E-0BFCD4E5D20D}"/>
              </a:ext>
            </a:extLst>
          </p:cNvPr>
          <p:cNvSpPr/>
          <p:nvPr/>
        </p:nvSpPr>
        <p:spPr>
          <a:xfrm>
            <a:off x="3679257" y="3302000"/>
            <a:ext cx="274320" cy="254000"/>
          </a:xfrm>
          <a:prstGeom prst="rightArrow">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tx1"/>
              </a:solidFill>
            </a:endParaRPr>
          </a:p>
        </p:txBody>
      </p:sp>
      <p:sp>
        <p:nvSpPr>
          <p:cNvPr id="3" name="箭头: 右 2">
            <a:extLst>
              <a:ext uri="{FF2B5EF4-FFF2-40B4-BE49-F238E27FC236}">
                <a16:creationId xmlns:a16="http://schemas.microsoft.com/office/drawing/2014/main" id="{7983FC76-3895-2C7E-B132-708320AA1426}"/>
              </a:ext>
            </a:extLst>
          </p:cNvPr>
          <p:cNvSpPr/>
          <p:nvPr/>
        </p:nvSpPr>
        <p:spPr>
          <a:xfrm>
            <a:off x="8238425" y="3302000"/>
            <a:ext cx="274320" cy="254000"/>
          </a:xfrm>
          <a:prstGeom prst="rightArrow">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tx1"/>
              </a:solidFill>
            </a:endParaRPr>
          </a:p>
        </p:txBody>
      </p:sp>
    </p:spTree>
    <p:extLst>
      <p:ext uri="{BB962C8B-B14F-4D97-AF65-F5344CB8AC3E}">
        <p14:creationId xmlns:p14="http://schemas.microsoft.com/office/powerpoint/2010/main" val="36429072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内容占位符 4" descr="男人">
            <a:extLst>
              <a:ext uri="{FF2B5EF4-FFF2-40B4-BE49-F238E27FC236}">
                <a16:creationId xmlns:a16="http://schemas.microsoft.com/office/drawing/2014/main" id="{946485A4-AE83-C5CE-6A48-6FB70BB2DCB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912480" y="1842609"/>
            <a:ext cx="914400" cy="914400"/>
          </a:xfrm>
          <a:prstGeom prst="rect">
            <a:avLst/>
          </a:prstGeom>
        </p:spPr>
      </p:pic>
      <p:pic>
        <p:nvPicPr>
          <p:cNvPr id="13" name="图形 12" descr="妇女">
            <a:extLst>
              <a:ext uri="{FF2B5EF4-FFF2-40B4-BE49-F238E27FC236}">
                <a16:creationId xmlns:a16="http://schemas.microsoft.com/office/drawing/2014/main" id="{5A12281A-450C-A64B-2134-FF0F8D5B4E8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7526" y="1842609"/>
            <a:ext cx="914400" cy="914400"/>
          </a:xfrm>
          <a:prstGeom prst="rect">
            <a:avLst/>
          </a:prstGeom>
        </p:spPr>
      </p:pic>
      <p:sp>
        <p:nvSpPr>
          <p:cNvPr id="14" name="思想气泡: 云 13">
            <a:extLst>
              <a:ext uri="{FF2B5EF4-FFF2-40B4-BE49-F238E27FC236}">
                <a16:creationId xmlns:a16="http://schemas.microsoft.com/office/drawing/2014/main" id="{7C49250D-BBB0-1FFC-6A0F-E9B346BF33AE}"/>
              </a:ext>
            </a:extLst>
          </p:cNvPr>
          <p:cNvSpPr/>
          <p:nvPr/>
        </p:nvSpPr>
        <p:spPr>
          <a:xfrm>
            <a:off x="896152" y="738888"/>
            <a:ext cx="1364776" cy="914400"/>
          </a:xfrm>
          <a:prstGeom prst="cloudCallout">
            <a:avLst>
              <a:gd name="adj1" fmla="val 2572"/>
              <a:gd name="adj2" fmla="val 75968"/>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ysClr val="windowText" lastClr="000000"/>
                </a:solidFill>
              </a:rPr>
              <a:t>？？？</a:t>
            </a:r>
          </a:p>
        </p:txBody>
      </p:sp>
      <p:sp>
        <p:nvSpPr>
          <p:cNvPr id="3" name="TextBox 2">
            <a:extLst>
              <a:ext uri="{FF2B5EF4-FFF2-40B4-BE49-F238E27FC236}">
                <a16:creationId xmlns:a16="http://schemas.microsoft.com/office/drawing/2014/main" id="{CB58A849-2D08-15CD-D67D-34F923F0C21F}"/>
              </a:ext>
            </a:extLst>
          </p:cNvPr>
          <p:cNvSpPr txBox="1"/>
          <p:nvPr/>
        </p:nvSpPr>
        <p:spPr>
          <a:xfrm>
            <a:off x="992585" y="2917183"/>
            <a:ext cx="2839239" cy="369332"/>
          </a:xfrm>
          <a:prstGeom prst="rect">
            <a:avLst/>
          </a:prstGeom>
          <a:noFill/>
        </p:spPr>
        <p:txBody>
          <a:bodyPr wrap="none" rtlCol="0">
            <a:spAutoFit/>
          </a:bodyPr>
          <a:lstStyle/>
          <a:p>
            <a:pPr algn="ctr"/>
            <a:r>
              <a:rPr lang="en-US" altLang="zh-CN"/>
              <a:t>Case 1 Client </a:t>
            </a:r>
            <a:r>
              <a:rPr lang="zh-CN" altLang="en-US"/>
              <a:t>不知道需求</a:t>
            </a:r>
          </a:p>
        </p:txBody>
      </p:sp>
      <p:pic>
        <p:nvPicPr>
          <p:cNvPr id="8" name="内容占位符 4" descr="男人">
            <a:extLst>
              <a:ext uri="{FF2B5EF4-FFF2-40B4-BE49-F238E27FC236}">
                <a16:creationId xmlns:a16="http://schemas.microsoft.com/office/drawing/2014/main" id="{1FEDB702-4B99-B75E-CC3A-CC2E6766536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742388" y="1842609"/>
            <a:ext cx="914400" cy="914400"/>
          </a:xfrm>
          <a:prstGeom prst="rect">
            <a:avLst/>
          </a:prstGeom>
        </p:spPr>
      </p:pic>
      <p:pic>
        <p:nvPicPr>
          <p:cNvPr id="10" name="图形 9" descr="妇女">
            <a:extLst>
              <a:ext uri="{FF2B5EF4-FFF2-40B4-BE49-F238E27FC236}">
                <a16:creationId xmlns:a16="http://schemas.microsoft.com/office/drawing/2014/main" id="{FC9F066E-8DB2-87F6-F20A-50C12CD64C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27434" y="1842609"/>
            <a:ext cx="914400" cy="914400"/>
          </a:xfrm>
          <a:prstGeom prst="rect">
            <a:avLst/>
          </a:prstGeom>
        </p:spPr>
      </p:pic>
      <p:sp>
        <p:nvSpPr>
          <p:cNvPr id="6" name="思想气泡: 云 10">
            <a:extLst>
              <a:ext uri="{FF2B5EF4-FFF2-40B4-BE49-F238E27FC236}">
                <a16:creationId xmlns:a16="http://schemas.microsoft.com/office/drawing/2014/main" id="{EA78D8F5-4510-AB68-8011-C7005792AB88}"/>
              </a:ext>
            </a:extLst>
          </p:cNvPr>
          <p:cNvSpPr/>
          <p:nvPr/>
        </p:nvSpPr>
        <p:spPr>
          <a:xfrm>
            <a:off x="4663516" y="694175"/>
            <a:ext cx="1364776" cy="914400"/>
          </a:xfrm>
          <a:prstGeom prst="cloudCallout">
            <a:avLst>
              <a:gd name="adj1" fmla="val 1896"/>
              <a:gd name="adj2" fmla="val 84048"/>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solidFill>
                  <a:sysClr val="windowText" lastClr="000000"/>
                </a:solidFill>
              </a:rPr>
              <a:t>A</a:t>
            </a:r>
            <a:endParaRPr lang="zh-CN" altLang="en-US">
              <a:solidFill>
                <a:sysClr val="windowText" lastClr="000000"/>
              </a:solidFill>
            </a:endParaRPr>
          </a:p>
        </p:txBody>
      </p:sp>
      <p:sp>
        <p:nvSpPr>
          <p:cNvPr id="7" name="思想气泡: 云 11">
            <a:extLst>
              <a:ext uri="{FF2B5EF4-FFF2-40B4-BE49-F238E27FC236}">
                <a16:creationId xmlns:a16="http://schemas.microsoft.com/office/drawing/2014/main" id="{4FB31F1F-F801-5426-BC72-84EA641D04DA}"/>
              </a:ext>
            </a:extLst>
          </p:cNvPr>
          <p:cNvSpPr/>
          <p:nvPr/>
        </p:nvSpPr>
        <p:spPr>
          <a:xfrm>
            <a:off x="5799278" y="1379236"/>
            <a:ext cx="914400" cy="692727"/>
          </a:xfrm>
          <a:prstGeom prst="cloudCallout">
            <a:avLst>
              <a:gd name="adj1" fmla="val -65834"/>
              <a:gd name="adj2" fmla="val 43388"/>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t>B</a:t>
            </a:r>
            <a:endParaRPr lang="zh-CN" altLang="en-US"/>
          </a:p>
        </p:txBody>
      </p:sp>
      <p:sp>
        <p:nvSpPr>
          <p:cNvPr id="9" name="TextBox 8">
            <a:extLst>
              <a:ext uri="{FF2B5EF4-FFF2-40B4-BE49-F238E27FC236}">
                <a16:creationId xmlns:a16="http://schemas.microsoft.com/office/drawing/2014/main" id="{F2C124C7-5E4C-A9C5-FD69-E36868611428}"/>
              </a:ext>
            </a:extLst>
          </p:cNvPr>
          <p:cNvSpPr txBox="1"/>
          <p:nvPr/>
        </p:nvSpPr>
        <p:spPr>
          <a:xfrm>
            <a:off x="4439588" y="2917183"/>
            <a:ext cx="4041492" cy="369332"/>
          </a:xfrm>
          <a:prstGeom prst="rect">
            <a:avLst/>
          </a:prstGeom>
          <a:noFill/>
        </p:spPr>
        <p:txBody>
          <a:bodyPr wrap="none" rtlCol="0">
            <a:spAutoFit/>
          </a:bodyPr>
          <a:lstStyle/>
          <a:p>
            <a:pPr algn="ctr"/>
            <a:r>
              <a:rPr lang="en-US" altLang="zh-CN"/>
              <a:t>Case 2 Client </a:t>
            </a:r>
            <a:r>
              <a:rPr lang="zh-CN" altLang="en-US"/>
              <a:t>知道需求但是表达错误</a:t>
            </a:r>
          </a:p>
        </p:txBody>
      </p:sp>
      <p:pic>
        <p:nvPicPr>
          <p:cNvPr id="19" name="内容占位符 4" descr="男人">
            <a:extLst>
              <a:ext uri="{FF2B5EF4-FFF2-40B4-BE49-F238E27FC236}">
                <a16:creationId xmlns:a16="http://schemas.microsoft.com/office/drawing/2014/main" id="{5021FD43-3E88-FEF7-0E04-4CA8E798810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572298" y="1842609"/>
            <a:ext cx="914400" cy="914400"/>
          </a:xfrm>
          <a:prstGeom prst="rect">
            <a:avLst/>
          </a:prstGeom>
        </p:spPr>
      </p:pic>
      <p:pic>
        <p:nvPicPr>
          <p:cNvPr id="20" name="图形 9" descr="妇女">
            <a:extLst>
              <a:ext uri="{FF2B5EF4-FFF2-40B4-BE49-F238E27FC236}">
                <a16:creationId xmlns:a16="http://schemas.microsoft.com/office/drawing/2014/main" id="{DA235D09-5ECC-788B-099D-70909130D4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57342" y="1842609"/>
            <a:ext cx="914400" cy="914400"/>
          </a:xfrm>
          <a:prstGeom prst="rect">
            <a:avLst/>
          </a:prstGeom>
        </p:spPr>
      </p:pic>
      <p:sp>
        <p:nvSpPr>
          <p:cNvPr id="21" name="思想气泡: 云 10">
            <a:extLst>
              <a:ext uri="{FF2B5EF4-FFF2-40B4-BE49-F238E27FC236}">
                <a16:creationId xmlns:a16="http://schemas.microsoft.com/office/drawing/2014/main" id="{06746333-38A1-56B4-289E-B5B010AD751F}"/>
              </a:ext>
            </a:extLst>
          </p:cNvPr>
          <p:cNvSpPr/>
          <p:nvPr/>
        </p:nvSpPr>
        <p:spPr>
          <a:xfrm>
            <a:off x="8749923" y="700267"/>
            <a:ext cx="1364776" cy="914400"/>
          </a:xfrm>
          <a:prstGeom prst="cloudCallout">
            <a:avLst>
              <a:gd name="adj1" fmla="val -10285"/>
              <a:gd name="adj2" fmla="val 87079"/>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solidFill>
                  <a:sysClr val="windowText" lastClr="000000"/>
                </a:solidFill>
              </a:rPr>
              <a:t>A </a:t>
            </a:r>
            <a:r>
              <a:rPr lang="zh-CN" altLang="en-US">
                <a:solidFill>
                  <a:sysClr val="windowText" lastClr="000000"/>
                </a:solidFill>
              </a:rPr>
              <a:t>→ </a:t>
            </a:r>
            <a:r>
              <a:rPr lang="en-US" altLang="zh-CN">
                <a:solidFill>
                  <a:sysClr val="windowText" lastClr="000000"/>
                </a:solidFill>
              </a:rPr>
              <a:t>B</a:t>
            </a:r>
            <a:endParaRPr lang="zh-CN" altLang="en-US">
              <a:solidFill>
                <a:sysClr val="windowText" lastClr="000000"/>
              </a:solidFill>
            </a:endParaRPr>
          </a:p>
        </p:txBody>
      </p:sp>
      <p:sp>
        <p:nvSpPr>
          <p:cNvPr id="22" name="思想气泡: 云 11">
            <a:extLst>
              <a:ext uri="{FF2B5EF4-FFF2-40B4-BE49-F238E27FC236}">
                <a16:creationId xmlns:a16="http://schemas.microsoft.com/office/drawing/2014/main" id="{60B0CA74-E7F0-FC6F-4CB0-60C879442836}"/>
              </a:ext>
            </a:extLst>
          </p:cNvPr>
          <p:cNvSpPr/>
          <p:nvPr/>
        </p:nvSpPr>
        <p:spPr>
          <a:xfrm>
            <a:off x="10168104" y="664215"/>
            <a:ext cx="1364776" cy="914400"/>
          </a:xfrm>
          <a:prstGeom prst="cloudCallout">
            <a:avLst>
              <a:gd name="adj1" fmla="val 1727"/>
              <a:gd name="adj2" fmla="val 90697"/>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solidFill>
                  <a:sysClr val="windowText" lastClr="000000"/>
                </a:solidFill>
              </a:rPr>
              <a:t>A</a:t>
            </a:r>
            <a:endParaRPr lang="zh-CN" altLang="en-US">
              <a:solidFill>
                <a:sysClr val="windowText" lastClr="000000"/>
              </a:solidFill>
            </a:endParaRPr>
          </a:p>
        </p:txBody>
      </p:sp>
      <p:sp>
        <p:nvSpPr>
          <p:cNvPr id="23" name="TextBox 22">
            <a:extLst>
              <a:ext uri="{FF2B5EF4-FFF2-40B4-BE49-F238E27FC236}">
                <a16:creationId xmlns:a16="http://schemas.microsoft.com/office/drawing/2014/main" id="{D958F8FD-3573-3953-0450-C6114A96F894}"/>
              </a:ext>
            </a:extLst>
          </p:cNvPr>
          <p:cNvSpPr txBox="1"/>
          <p:nvPr/>
        </p:nvSpPr>
        <p:spPr>
          <a:xfrm>
            <a:off x="8493255" y="2809461"/>
            <a:ext cx="3809056" cy="646331"/>
          </a:xfrm>
          <a:prstGeom prst="rect">
            <a:avLst/>
          </a:prstGeom>
          <a:noFill/>
        </p:spPr>
        <p:txBody>
          <a:bodyPr wrap="none" rtlCol="0">
            <a:spAutoFit/>
          </a:bodyPr>
          <a:lstStyle/>
          <a:p>
            <a:r>
              <a:rPr lang="en-US" altLang="zh-CN"/>
              <a:t>Case 3 Client </a:t>
            </a:r>
            <a:r>
              <a:rPr lang="zh-CN" altLang="en-US"/>
              <a:t>知道并清晰传达需求</a:t>
            </a:r>
            <a:endParaRPr lang="en-US" altLang="zh-CN"/>
          </a:p>
          <a:p>
            <a:r>
              <a:rPr lang="zh-CN" altLang="en-US"/>
              <a:t>但是交互时，需求发生变化</a:t>
            </a:r>
          </a:p>
        </p:txBody>
      </p:sp>
      <p:sp>
        <p:nvSpPr>
          <p:cNvPr id="25" name="思想气泡: 云 10">
            <a:extLst>
              <a:ext uri="{FF2B5EF4-FFF2-40B4-BE49-F238E27FC236}">
                <a16:creationId xmlns:a16="http://schemas.microsoft.com/office/drawing/2014/main" id="{D5317B92-3613-F7BA-B8F1-A70B5385D705}"/>
              </a:ext>
            </a:extLst>
          </p:cNvPr>
          <p:cNvSpPr/>
          <p:nvPr/>
        </p:nvSpPr>
        <p:spPr>
          <a:xfrm>
            <a:off x="997526" y="3707350"/>
            <a:ext cx="1364776" cy="914400"/>
          </a:xfrm>
          <a:prstGeom prst="cloudCallout">
            <a:avLst>
              <a:gd name="adj1" fmla="val 26936"/>
              <a:gd name="adj2" fmla="val 69907"/>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ysClr val="windowText" lastClr="000000"/>
                </a:solidFill>
              </a:rPr>
              <a:t>A</a:t>
            </a:r>
            <a:endParaRPr lang="zh-CN" altLang="en-US" dirty="0">
              <a:solidFill>
                <a:sysClr val="windowText" lastClr="000000"/>
              </a:solidFill>
            </a:endParaRPr>
          </a:p>
        </p:txBody>
      </p:sp>
      <p:sp>
        <p:nvSpPr>
          <p:cNvPr id="26" name="思想气泡: 云 11">
            <a:extLst>
              <a:ext uri="{FF2B5EF4-FFF2-40B4-BE49-F238E27FC236}">
                <a16:creationId xmlns:a16="http://schemas.microsoft.com/office/drawing/2014/main" id="{1A43EA31-7F2E-9167-5603-1A74157CCDBB}"/>
              </a:ext>
            </a:extLst>
          </p:cNvPr>
          <p:cNvSpPr/>
          <p:nvPr/>
        </p:nvSpPr>
        <p:spPr>
          <a:xfrm>
            <a:off x="3876763" y="3707350"/>
            <a:ext cx="1364776" cy="914400"/>
          </a:xfrm>
          <a:prstGeom prst="cloudCallout">
            <a:avLst>
              <a:gd name="adj1" fmla="val -18802"/>
              <a:gd name="adj2" fmla="val 74873"/>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solidFill>
                  <a:sysClr val="windowText" lastClr="000000"/>
                </a:solidFill>
              </a:rPr>
              <a:t>？？？</a:t>
            </a:r>
            <a:r>
              <a:rPr lang="en-US" altLang="zh-CN">
                <a:solidFill>
                  <a:sysClr val="windowText" lastClr="000000"/>
                </a:solidFill>
              </a:rPr>
              <a:t>/ B</a:t>
            </a:r>
            <a:endParaRPr lang="zh-CN" altLang="en-US">
              <a:solidFill>
                <a:sysClr val="windowText" lastClr="000000"/>
              </a:solidFill>
            </a:endParaRPr>
          </a:p>
        </p:txBody>
      </p:sp>
      <p:pic>
        <p:nvPicPr>
          <p:cNvPr id="27" name="内容占位符 4" descr="男人">
            <a:extLst>
              <a:ext uri="{FF2B5EF4-FFF2-40B4-BE49-F238E27FC236}">
                <a16:creationId xmlns:a16="http://schemas.microsoft.com/office/drawing/2014/main" id="{179C1D82-66F3-08BA-876B-6D6FF460942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64770" y="4818696"/>
            <a:ext cx="914400" cy="914400"/>
          </a:xfrm>
          <a:prstGeom prst="rect">
            <a:avLst/>
          </a:prstGeom>
        </p:spPr>
      </p:pic>
      <p:pic>
        <p:nvPicPr>
          <p:cNvPr id="28" name="图形 4" descr="男人群">
            <a:extLst>
              <a:ext uri="{FF2B5EF4-FFF2-40B4-BE49-F238E27FC236}">
                <a16:creationId xmlns:a16="http://schemas.microsoft.com/office/drawing/2014/main" id="{10CF149A-3219-47E6-5104-A65692BF793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833879" y="4818696"/>
            <a:ext cx="914400" cy="914400"/>
          </a:xfrm>
          <a:prstGeom prst="rect">
            <a:avLst/>
          </a:prstGeom>
        </p:spPr>
      </p:pic>
      <p:sp>
        <p:nvSpPr>
          <p:cNvPr id="29" name="TextBox 28">
            <a:extLst>
              <a:ext uri="{FF2B5EF4-FFF2-40B4-BE49-F238E27FC236}">
                <a16:creationId xmlns:a16="http://schemas.microsoft.com/office/drawing/2014/main" id="{E7D29100-51F6-964B-7AEE-B2D4802A81D9}"/>
              </a:ext>
            </a:extLst>
          </p:cNvPr>
          <p:cNvSpPr txBox="1"/>
          <p:nvPr/>
        </p:nvSpPr>
        <p:spPr>
          <a:xfrm>
            <a:off x="1764770" y="5801053"/>
            <a:ext cx="3783408" cy="369332"/>
          </a:xfrm>
          <a:prstGeom prst="rect">
            <a:avLst/>
          </a:prstGeom>
          <a:noFill/>
        </p:spPr>
        <p:txBody>
          <a:bodyPr wrap="none" rtlCol="0">
            <a:spAutoFit/>
          </a:bodyPr>
          <a:lstStyle/>
          <a:p>
            <a:r>
              <a:rPr lang="en-US" altLang="zh-CN"/>
              <a:t>Case 4 </a:t>
            </a:r>
            <a:r>
              <a:rPr lang="zh-CN" altLang="en-US"/>
              <a:t>团队无法领悟或理解有偏差</a:t>
            </a:r>
          </a:p>
        </p:txBody>
      </p:sp>
      <p:sp>
        <p:nvSpPr>
          <p:cNvPr id="31" name="思想气泡: 云 10">
            <a:extLst>
              <a:ext uri="{FF2B5EF4-FFF2-40B4-BE49-F238E27FC236}">
                <a16:creationId xmlns:a16="http://schemas.microsoft.com/office/drawing/2014/main" id="{17414C63-64EA-04AF-BD71-D022B1D5B3CA}"/>
              </a:ext>
            </a:extLst>
          </p:cNvPr>
          <p:cNvSpPr/>
          <p:nvPr/>
        </p:nvSpPr>
        <p:spPr>
          <a:xfrm>
            <a:off x="6460333" y="3707350"/>
            <a:ext cx="1364776" cy="914400"/>
          </a:xfrm>
          <a:prstGeom prst="cloudCallout">
            <a:avLst>
              <a:gd name="adj1" fmla="val 29643"/>
              <a:gd name="adj2" fmla="val 80008"/>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solidFill>
                  <a:sysClr val="windowText" lastClr="000000"/>
                </a:solidFill>
              </a:rPr>
              <a:t>A</a:t>
            </a:r>
            <a:endParaRPr lang="zh-CN" altLang="en-US">
              <a:solidFill>
                <a:sysClr val="windowText" lastClr="000000"/>
              </a:solidFill>
            </a:endParaRPr>
          </a:p>
        </p:txBody>
      </p:sp>
      <p:sp>
        <p:nvSpPr>
          <p:cNvPr id="32" name="思想气泡: 云 11">
            <a:extLst>
              <a:ext uri="{FF2B5EF4-FFF2-40B4-BE49-F238E27FC236}">
                <a16:creationId xmlns:a16="http://schemas.microsoft.com/office/drawing/2014/main" id="{5376AA21-9A1B-AAB2-6F44-BBE749871FC5}"/>
              </a:ext>
            </a:extLst>
          </p:cNvPr>
          <p:cNvSpPr/>
          <p:nvPr/>
        </p:nvSpPr>
        <p:spPr>
          <a:xfrm>
            <a:off x="9339570" y="3707350"/>
            <a:ext cx="1364776" cy="914400"/>
          </a:xfrm>
          <a:prstGeom prst="cloudCallout">
            <a:avLst>
              <a:gd name="adj1" fmla="val -9327"/>
              <a:gd name="adj2" fmla="val 82954"/>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t>A</a:t>
            </a:r>
            <a:endParaRPr lang="zh-CN" altLang="en-US"/>
          </a:p>
        </p:txBody>
      </p:sp>
      <p:pic>
        <p:nvPicPr>
          <p:cNvPr id="33" name="内容占位符 4" descr="男人">
            <a:extLst>
              <a:ext uri="{FF2B5EF4-FFF2-40B4-BE49-F238E27FC236}">
                <a16:creationId xmlns:a16="http://schemas.microsoft.com/office/drawing/2014/main" id="{05C51AB8-DB60-4791-1880-623C77C4A7E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12099" y="4818696"/>
            <a:ext cx="914400" cy="914400"/>
          </a:xfrm>
          <a:prstGeom prst="rect">
            <a:avLst/>
          </a:prstGeom>
        </p:spPr>
      </p:pic>
      <p:pic>
        <p:nvPicPr>
          <p:cNvPr id="34" name="图形 6" descr="妇女">
            <a:extLst>
              <a:ext uri="{FF2B5EF4-FFF2-40B4-BE49-F238E27FC236}">
                <a16:creationId xmlns:a16="http://schemas.microsoft.com/office/drawing/2014/main" id="{8ADAC87F-2967-A4F7-76F8-6FDCE999DDF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260622" y="4818696"/>
            <a:ext cx="914400" cy="914400"/>
          </a:xfrm>
          <a:prstGeom prst="rect">
            <a:avLst/>
          </a:prstGeom>
        </p:spPr>
      </p:pic>
      <p:sp>
        <p:nvSpPr>
          <p:cNvPr id="35" name="TextBox 34">
            <a:extLst>
              <a:ext uri="{FF2B5EF4-FFF2-40B4-BE49-F238E27FC236}">
                <a16:creationId xmlns:a16="http://schemas.microsoft.com/office/drawing/2014/main" id="{F8FC975C-0EDE-ABA2-30B2-FEC74836C0BB}"/>
              </a:ext>
            </a:extLst>
          </p:cNvPr>
          <p:cNvSpPr txBox="1"/>
          <p:nvPr/>
        </p:nvSpPr>
        <p:spPr>
          <a:xfrm>
            <a:off x="7260622" y="5801053"/>
            <a:ext cx="3762568" cy="369332"/>
          </a:xfrm>
          <a:prstGeom prst="rect">
            <a:avLst/>
          </a:prstGeom>
          <a:noFill/>
        </p:spPr>
        <p:txBody>
          <a:bodyPr wrap="none" rtlCol="0">
            <a:spAutoFit/>
          </a:bodyPr>
          <a:lstStyle/>
          <a:p>
            <a:r>
              <a:rPr lang="en-US" altLang="zh-CN"/>
              <a:t>Case 5 </a:t>
            </a:r>
            <a:r>
              <a:rPr lang="zh-CN" altLang="en-US"/>
              <a:t>大环境变化、发生不可抗力</a:t>
            </a:r>
          </a:p>
        </p:txBody>
      </p:sp>
      <p:cxnSp>
        <p:nvCxnSpPr>
          <p:cNvPr id="4" name="Straight Connector 3">
            <a:extLst>
              <a:ext uri="{FF2B5EF4-FFF2-40B4-BE49-F238E27FC236}">
                <a16:creationId xmlns:a16="http://schemas.microsoft.com/office/drawing/2014/main" id="{32ABFEAE-7244-D9CF-5C9C-0CB171C487F6}"/>
              </a:ext>
            </a:extLst>
          </p:cNvPr>
          <p:cNvCxnSpPr>
            <a:cxnSpLocks/>
          </p:cNvCxnSpPr>
          <p:nvPr/>
        </p:nvCxnSpPr>
        <p:spPr>
          <a:xfrm>
            <a:off x="156000" y="3429000"/>
            <a:ext cx="11880000" cy="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2EE2C7C-8897-2E42-795D-954C02769D69}"/>
              </a:ext>
            </a:extLst>
          </p:cNvPr>
          <p:cNvCxnSpPr>
            <a:cxnSpLocks/>
          </p:cNvCxnSpPr>
          <p:nvPr/>
        </p:nvCxnSpPr>
        <p:spPr>
          <a:xfrm rot="16200000">
            <a:off x="2753357" y="1989000"/>
            <a:ext cx="2880000" cy="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864610C-F9AB-90B4-85FA-7F1CAE095461}"/>
              </a:ext>
            </a:extLst>
          </p:cNvPr>
          <p:cNvCxnSpPr>
            <a:cxnSpLocks/>
          </p:cNvCxnSpPr>
          <p:nvPr/>
        </p:nvCxnSpPr>
        <p:spPr>
          <a:xfrm rot="16200000">
            <a:off x="6855585" y="1989000"/>
            <a:ext cx="2880000" cy="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15A841B-D411-274D-BF64-82C9DE422161}"/>
              </a:ext>
            </a:extLst>
          </p:cNvPr>
          <p:cNvCxnSpPr>
            <a:cxnSpLocks/>
          </p:cNvCxnSpPr>
          <p:nvPr/>
        </p:nvCxnSpPr>
        <p:spPr>
          <a:xfrm rot="16200000">
            <a:off x="4590936" y="4689001"/>
            <a:ext cx="2520000" cy="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06470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D0F49E-FB0F-5357-6A08-33C3C75459CB}"/>
              </a:ext>
            </a:extLst>
          </p:cNvPr>
          <p:cNvSpPr>
            <a:spLocks noGrp="1"/>
          </p:cNvSpPr>
          <p:nvPr>
            <p:ph type="title"/>
          </p:nvPr>
        </p:nvSpPr>
        <p:spPr>
          <a:xfrm>
            <a:off x="792000" y="360000"/>
            <a:ext cx="6375921" cy="429413"/>
          </a:xfrm>
        </p:spPr>
        <p:txBody>
          <a:bodyPr>
            <a:normAutofit/>
          </a:bodyPr>
          <a:lstStyle/>
          <a:p>
            <a:r>
              <a:rPr lang="en-US" altLang="zh-CN"/>
              <a:t>4.2 </a:t>
            </a:r>
            <a:r>
              <a:rPr lang="zh-CN" altLang="en-US"/>
              <a:t>敏捷软件开发宣言</a:t>
            </a:r>
          </a:p>
        </p:txBody>
      </p:sp>
      <p:sp>
        <p:nvSpPr>
          <p:cNvPr id="3" name="内容占位符 2">
            <a:extLst>
              <a:ext uri="{FF2B5EF4-FFF2-40B4-BE49-F238E27FC236}">
                <a16:creationId xmlns:a16="http://schemas.microsoft.com/office/drawing/2014/main" id="{740A8104-58F8-B7FC-F758-820F715C8DA3}"/>
              </a:ext>
            </a:extLst>
          </p:cNvPr>
          <p:cNvSpPr>
            <a:spLocks noGrp="1"/>
          </p:cNvSpPr>
          <p:nvPr>
            <p:ph idx="1"/>
          </p:nvPr>
        </p:nvSpPr>
        <p:spPr>
          <a:xfrm>
            <a:off x="696000" y="864000"/>
            <a:ext cx="10800000" cy="5400000"/>
          </a:xfrm>
        </p:spPr>
        <p:txBody>
          <a:bodyPr/>
          <a:lstStyle/>
          <a:p>
            <a:r>
              <a:rPr lang="en-US" altLang="zh-CN" dirty="0"/>
              <a:t>Manifesto for Agile Software Development</a:t>
            </a:r>
          </a:p>
          <a:p>
            <a:r>
              <a:rPr lang="zh-CN" altLang="en-US" dirty="0"/>
              <a:t>简称敏捷宣言</a:t>
            </a:r>
            <a:endParaRPr lang="en-US" altLang="zh-CN" dirty="0"/>
          </a:p>
          <a:p>
            <a:r>
              <a:rPr lang="zh-CN" altLang="en-US" dirty="0"/>
              <a:t>聚焦软件项目管理</a:t>
            </a:r>
            <a:endParaRPr lang="en-US" altLang="zh-CN" dirty="0"/>
          </a:p>
          <a:p>
            <a:r>
              <a:rPr lang="en-US" altLang="zh-CN" dirty="0"/>
              <a:t>2001</a:t>
            </a:r>
            <a:r>
              <a:rPr lang="zh-CN" altLang="en-US" dirty="0"/>
              <a:t>年，</a:t>
            </a:r>
            <a:r>
              <a:rPr lang="en-US" altLang="zh-CN" dirty="0"/>
              <a:t>17</a:t>
            </a:r>
            <a:r>
              <a:rPr lang="zh-CN" altLang="en-US" dirty="0"/>
              <a:t>位软件开发专家在美国犹他州雪鸟滑雪度假村聚会，共同起草</a:t>
            </a:r>
            <a:endParaRPr lang="en-US" altLang="zh-CN" dirty="0"/>
          </a:p>
          <a:p>
            <a:r>
              <a:rPr lang="zh-CN" altLang="en-US" dirty="0"/>
              <a:t>应对迅速变化需求的快速软件开发方法</a:t>
            </a:r>
          </a:p>
          <a:p>
            <a:r>
              <a:rPr lang="zh-CN" altLang="en-US" dirty="0"/>
              <a:t>是一种迭代、循序渐进的开发方法</a:t>
            </a:r>
            <a:endParaRPr lang="en-US" altLang="zh-CN" dirty="0"/>
          </a:p>
          <a:p>
            <a:r>
              <a:rPr lang="zh-CN" altLang="en-US" dirty="0"/>
              <a:t>体现的是一种思维模式 </a:t>
            </a:r>
            <a:r>
              <a:rPr lang="en-US" altLang="zh-CN" dirty="0"/>
              <a:t> Thinking</a:t>
            </a:r>
          </a:p>
          <a:p>
            <a:r>
              <a:rPr lang="en-US" altLang="zh-CN" dirty="0">
                <a:hlinkClick r:id="rId2"/>
              </a:rPr>
              <a:t>https://agilemanifesto.org/</a:t>
            </a:r>
            <a:r>
              <a:rPr lang="en-US" altLang="zh-CN" dirty="0"/>
              <a:t> </a:t>
            </a:r>
          </a:p>
          <a:p>
            <a:endParaRPr lang="en-US" altLang="zh-CN" dirty="0"/>
          </a:p>
          <a:p>
            <a:endParaRPr lang="en-US" altLang="zh-CN" dirty="0"/>
          </a:p>
        </p:txBody>
      </p:sp>
      <p:sp>
        <p:nvSpPr>
          <p:cNvPr id="9" name="文本占位符 8">
            <a:extLst>
              <a:ext uri="{FF2B5EF4-FFF2-40B4-BE49-F238E27FC236}">
                <a16:creationId xmlns:a16="http://schemas.microsoft.com/office/drawing/2014/main" id="{77F24199-1982-7096-8E97-BE02B9BC6B49}"/>
              </a:ext>
            </a:extLst>
          </p:cNvPr>
          <p:cNvSpPr>
            <a:spLocks noGrp="1"/>
          </p:cNvSpPr>
          <p:nvPr>
            <p:ph type="body" sz="quarter" idx="10"/>
          </p:nvPr>
        </p:nvSpPr>
        <p:spPr>
          <a:xfrm>
            <a:off x="7071919" y="448519"/>
            <a:ext cx="4424080" cy="338554"/>
          </a:xfrm>
        </p:spPr>
        <p:txBody>
          <a:bodyPr/>
          <a:lstStyle/>
          <a:p>
            <a:r>
              <a:rPr lang="en-US" altLang="zh-CN"/>
              <a:t>Agile Manifesto</a:t>
            </a:r>
            <a:endParaRPr lang="zh-CN" altLang="en-US"/>
          </a:p>
        </p:txBody>
      </p:sp>
      <p:sp>
        <p:nvSpPr>
          <p:cNvPr id="6" name="文本框 5">
            <a:extLst>
              <a:ext uri="{FF2B5EF4-FFF2-40B4-BE49-F238E27FC236}">
                <a16:creationId xmlns:a16="http://schemas.microsoft.com/office/drawing/2014/main" id="{A95BC040-B8D3-AE12-64EE-BE02F88BE487}"/>
              </a:ext>
            </a:extLst>
          </p:cNvPr>
          <p:cNvSpPr txBox="1"/>
          <p:nvPr/>
        </p:nvSpPr>
        <p:spPr>
          <a:xfrm>
            <a:off x="696000" y="5044359"/>
            <a:ext cx="10800001" cy="1147641"/>
          </a:xfrm>
          <a:prstGeom prst="rect">
            <a:avLst/>
          </a:prstGeom>
          <a:solidFill>
            <a:srgbClr val="00B0F0"/>
          </a:solidFill>
        </p:spPr>
        <p:txBody>
          <a:bodyPr wrap="square" lIns="180000" tIns="180000" rIns="180000" bIns="180000" rtlCol="0">
            <a:spAutoFit/>
          </a:bodyPr>
          <a:lstStyle/>
          <a:p>
            <a:pPr>
              <a:lnSpc>
                <a:spcPct val="150000"/>
              </a:lnSpc>
            </a:pPr>
            <a:r>
              <a:rPr lang="zh-CN" altLang="en-US">
                <a:solidFill>
                  <a:schemeClr val="bg1"/>
                </a:solidFill>
              </a:rPr>
              <a:t>敏捷是创造并响应变化，从而在动荡的商业环境中创造利润的能力。敏捷是平衡灵活性和稳定性的能力。</a:t>
            </a:r>
            <a:endParaRPr lang="en-US" altLang="zh-CN">
              <a:solidFill>
                <a:schemeClr val="bg1"/>
              </a:solidFill>
            </a:endParaRPr>
          </a:p>
          <a:p>
            <a:pPr algn="r">
              <a:lnSpc>
                <a:spcPct val="150000"/>
              </a:lnSpc>
            </a:pPr>
            <a:r>
              <a:rPr lang="en-US" altLang="zh-CN">
                <a:solidFill>
                  <a:schemeClr val="bg1"/>
                </a:solidFill>
              </a:rPr>
              <a:t>——</a:t>
            </a:r>
            <a:r>
              <a:rPr lang="zh-CN" altLang="en-US">
                <a:solidFill>
                  <a:schemeClr val="bg1"/>
                </a:solidFill>
              </a:rPr>
              <a:t>吉姆</a:t>
            </a:r>
            <a:r>
              <a:rPr lang="en-US" altLang="zh-CN">
                <a:solidFill>
                  <a:schemeClr val="bg1"/>
                </a:solidFill>
              </a:rPr>
              <a:t>·</a:t>
            </a:r>
            <a:r>
              <a:rPr lang="zh-CN" altLang="en-US">
                <a:solidFill>
                  <a:schemeClr val="bg1"/>
                </a:solidFill>
              </a:rPr>
              <a:t>海斯密斯，</a:t>
            </a:r>
            <a:r>
              <a:rPr lang="en-US" altLang="zh-CN">
                <a:solidFill>
                  <a:schemeClr val="bg1"/>
                </a:solidFill>
              </a:rPr>
              <a:t>2002</a:t>
            </a:r>
          </a:p>
        </p:txBody>
      </p:sp>
    </p:spTree>
    <p:extLst>
      <p:ext uri="{BB962C8B-B14F-4D97-AF65-F5344CB8AC3E}">
        <p14:creationId xmlns:p14="http://schemas.microsoft.com/office/powerpoint/2010/main" val="16070473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A49F7-8190-50B9-6A92-7C330DB83C8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4319126-8297-1510-7CBE-0592B6A35BD6}"/>
              </a:ext>
            </a:extLst>
          </p:cNvPr>
          <p:cNvSpPr>
            <a:spLocks noGrp="1"/>
          </p:cNvSpPr>
          <p:nvPr>
            <p:ph type="title"/>
          </p:nvPr>
        </p:nvSpPr>
        <p:spPr>
          <a:xfrm>
            <a:off x="792000" y="360000"/>
            <a:ext cx="6375921" cy="429413"/>
          </a:xfrm>
        </p:spPr>
        <p:txBody>
          <a:bodyPr>
            <a:normAutofit/>
          </a:bodyPr>
          <a:lstStyle/>
          <a:p>
            <a:r>
              <a:rPr lang="en-US" altLang="zh-CN"/>
              <a:t>4.2.1 </a:t>
            </a:r>
            <a:r>
              <a:rPr lang="zh-CN" altLang="en-US"/>
              <a:t>敏捷宣言四个核心价值</a:t>
            </a:r>
            <a:endParaRPr lang="en-US" altLang="zh-CN"/>
          </a:p>
        </p:txBody>
      </p:sp>
      <p:sp>
        <p:nvSpPr>
          <p:cNvPr id="15" name="内容占位符 14">
            <a:extLst>
              <a:ext uri="{FF2B5EF4-FFF2-40B4-BE49-F238E27FC236}">
                <a16:creationId xmlns:a16="http://schemas.microsoft.com/office/drawing/2014/main" id="{4162015B-2082-67D7-E7A0-D838B09E96BE}"/>
              </a:ext>
            </a:extLst>
          </p:cNvPr>
          <p:cNvSpPr>
            <a:spLocks noGrp="1"/>
          </p:cNvSpPr>
          <p:nvPr>
            <p:ph idx="1"/>
          </p:nvPr>
        </p:nvSpPr>
        <p:spPr/>
        <p:txBody>
          <a:bodyPr/>
          <a:lstStyle/>
          <a:p>
            <a:endParaRPr lang="zh-CN" altLang="en-US"/>
          </a:p>
        </p:txBody>
      </p:sp>
      <p:sp>
        <p:nvSpPr>
          <p:cNvPr id="12" name="文本占位符 11">
            <a:extLst>
              <a:ext uri="{FF2B5EF4-FFF2-40B4-BE49-F238E27FC236}">
                <a16:creationId xmlns:a16="http://schemas.microsoft.com/office/drawing/2014/main" id="{C3F013C6-5D6E-27F7-DF1A-F254BEF644B3}"/>
              </a:ext>
            </a:extLst>
          </p:cNvPr>
          <p:cNvSpPr>
            <a:spLocks noGrp="1"/>
          </p:cNvSpPr>
          <p:nvPr>
            <p:ph type="body" sz="quarter" idx="10"/>
          </p:nvPr>
        </p:nvSpPr>
        <p:spPr>
          <a:xfrm>
            <a:off x="7071919" y="448519"/>
            <a:ext cx="4424080" cy="338554"/>
          </a:xfrm>
        </p:spPr>
        <p:txBody>
          <a:bodyPr/>
          <a:lstStyle/>
          <a:p>
            <a:r>
              <a:rPr lang="en-US" altLang="zh-CN"/>
              <a:t>4 Values/Agile Manifesto</a:t>
            </a:r>
          </a:p>
        </p:txBody>
      </p:sp>
      <p:sp>
        <p:nvSpPr>
          <p:cNvPr id="9" name="文本框 8">
            <a:extLst>
              <a:ext uri="{FF2B5EF4-FFF2-40B4-BE49-F238E27FC236}">
                <a16:creationId xmlns:a16="http://schemas.microsoft.com/office/drawing/2014/main" id="{0FE6CF8F-BD5F-E135-0F2D-21B70FDB2323}"/>
              </a:ext>
            </a:extLst>
          </p:cNvPr>
          <p:cNvSpPr txBox="1"/>
          <p:nvPr/>
        </p:nvSpPr>
        <p:spPr>
          <a:xfrm>
            <a:off x="4049489" y="1453904"/>
            <a:ext cx="1338828" cy="369332"/>
          </a:xfrm>
          <a:prstGeom prst="rect">
            <a:avLst/>
          </a:prstGeom>
          <a:noFill/>
        </p:spPr>
        <p:txBody>
          <a:bodyPr wrap="none" rtlCol="0">
            <a:spAutoFit/>
          </a:bodyPr>
          <a:lstStyle/>
          <a:p>
            <a:pPr algn="r"/>
            <a:r>
              <a:rPr lang="zh-CN" altLang="en-US"/>
              <a:t>个体和互动</a:t>
            </a:r>
          </a:p>
        </p:txBody>
      </p:sp>
      <p:sp>
        <p:nvSpPr>
          <p:cNvPr id="10" name="文本框 9">
            <a:extLst>
              <a:ext uri="{FF2B5EF4-FFF2-40B4-BE49-F238E27FC236}">
                <a16:creationId xmlns:a16="http://schemas.microsoft.com/office/drawing/2014/main" id="{EDD6D666-A088-8C5D-7DAE-F1E26A4DF678}"/>
              </a:ext>
            </a:extLst>
          </p:cNvPr>
          <p:cNvSpPr txBox="1"/>
          <p:nvPr/>
        </p:nvSpPr>
        <p:spPr>
          <a:xfrm>
            <a:off x="6803683" y="1453904"/>
            <a:ext cx="1338828" cy="369332"/>
          </a:xfrm>
          <a:prstGeom prst="rect">
            <a:avLst/>
          </a:prstGeom>
          <a:noFill/>
        </p:spPr>
        <p:txBody>
          <a:bodyPr wrap="none" rtlCol="0">
            <a:spAutoFit/>
          </a:bodyPr>
          <a:lstStyle/>
          <a:p>
            <a:r>
              <a:rPr lang="zh-CN" altLang="en-US" dirty="0"/>
              <a:t>流程和工具</a:t>
            </a:r>
          </a:p>
        </p:txBody>
      </p:sp>
      <p:sp>
        <p:nvSpPr>
          <p:cNvPr id="13" name="文本框 12">
            <a:extLst>
              <a:ext uri="{FF2B5EF4-FFF2-40B4-BE49-F238E27FC236}">
                <a16:creationId xmlns:a16="http://schemas.microsoft.com/office/drawing/2014/main" id="{80F824E1-2583-7B1D-6E68-179253CC3562}"/>
              </a:ext>
            </a:extLst>
          </p:cNvPr>
          <p:cNvSpPr txBox="1"/>
          <p:nvPr/>
        </p:nvSpPr>
        <p:spPr>
          <a:xfrm>
            <a:off x="3818657" y="2208647"/>
            <a:ext cx="1569660" cy="369332"/>
          </a:xfrm>
          <a:prstGeom prst="rect">
            <a:avLst/>
          </a:prstGeom>
          <a:noFill/>
        </p:spPr>
        <p:txBody>
          <a:bodyPr wrap="none" rtlCol="0">
            <a:spAutoFit/>
          </a:bodyPr>
          <a:lstStyle/>
          <a:p>
            <a:pPr algn="r"/>
            <a:r>
              <a:rPr lang="zh-CN" altLang="en-US"/>
              <a:t>可工作的软件</a:t>
            </a:r>
          </a:p>
        </p:txBody>
      </p:sp>
      <p:sp>
        <p:nvSpPr>
          <p:cNvPr id="14" name="文本框 13">
            <a:extLst>
              <a:ext uri="{FF2B5EF4-FFF2-40B4-BE49-F238E27FC236}">
                <a16:creationId xmlns:a16="http://schemas.microsoft.com/office/drawing/2014/main" id="{B71D254C-C20A-C823-CA43-A206200E3AB4}"/>
              </a:ext>
            </a:extLst>
          </p:cNvPr>
          <p:cNvSpPr txBox="1"/>
          <p:nvPr/>
        </p:nvSpPr>
        <p:spPr>
          <a:xfrm>
            <a:off x="6803683" y="2208647"/>
            <a:ext cx="1338828" cy="369332"/>
          </a:xfrm>
          <a:prstGeom prst="rect">
            <a:avLst/>
          </a:prstGeom>
          <a:noFill/>
        </p:spPr>
        <p:txBody>
          <a:bodyPr wrap="none" rtlCol="0">
            <a:spAutoFit/>
          </a:bodyPr>
          <a:lstStyle/>
          <a:p>
            <a:r>
              <a:rPr lang="zh-CN" altLang="en-US"/>
              <a:t>详尽的文档</a:t>
            </a:r>
          </a:p>
        </p:txBody>
      </p:sp>
      <p:sp>
        <p:nvSpPr>
          <p:cNvPr id="16" name="文本框 15">
            <a:extLst>
              <a:ext uri="{FF2B5EF4-FFF2-40B4-BE49-F238E27FC236}">
                <a16:creationId xmlns:a16="http://schemas.microsoft.com/office/drawing/2014/main" id="{4D3F9E93-8B0D-B66D-FCD2-F22E153806DC}"/>
              </a:ext>
            </a:extLst>
          </p:cNvPr>
          <p:cNvSpPr txBox="1"/>
          <p:nvPr/>
        </p:nvSpPr>
        <p:spPr>
          <a:xfrm>
            <a:off x="4280321" y="2963390"/>
            <a:ext cx="1107996" cy="369332"/>
          </a:xfrm>
          <a:prstGeom prst="rect">
            <a:avLst/>
          </a:prstGeom>
          <a:noFill/>
        </p:spPr>
        <p:txBody>
          <a:bodyPr wrap="none" rtlCol="0">
            <a:spAutoFit/>
          </a:bodyPr>
          <a:lstStyle/>
          <a:p>
            <a:pPr algn="r"/>
            <a:r>
              <a:rPr lang="zh-CN" altLang="en-US"/>
              <a:t>客户合作</a:t>
            </a:r>
          </a:p>
        </p:txBody>
      </p:sp>
      <p:sp>
        <p:nvSpPr>
          <p:cNvPr id="17" name="文本框 16">
            <a:extLst>
              <a:ext uri="{FF2B5EF4-FFF2-40B4-BE49-F238E27FC236}">
                <a16:creationId xmlns:a16="http://schemas.microsoft.com/office/drawing/2014/main" id="{90F8E0AF-A800-07ED-9D43-CB17C26196BD}"/>
              </a:ext>
            </a:extLst>
          </p:cNvPr>
          <p:cNvSpPr txBox="1"/>
          <p:nvPr/>
        </p:nvSpPr>
        <p:spPr>
          <a:xfrm>
            <a:off x="6803683" y="2963390"/>
            <a:ext cx="1107996" cy="369332"/>
          </a:xfrm>
          <a:prstGeom prst="rect">
            <a:avLst/>
          </a:prstGeom>
          <a:noFill/>
        </p:spPr>
        <p:txBody>
          <a:bodyPr wrap="none" rtlCol="0">
            <a:spAutoFit/>
          </a:bodyPr>
          <a:lstStyle/>
          <a:p>
            <a:r>
              <a:rPr lang="zh-CN" altLang="en-US"/>
              <a:t>合同谈判</a:t>
            </a:r>
          </a:p>
        </p:txBody>
      </p:sp>
      <p:sp>
        <p:nvSpPr>
          <p:cNvPr id="19" name="文本框 18">
            <a:extLst>
              <a:ext uri="{FF2B5EF4-FFF2-40B4-BE49-F238E27FC236}">
                <a16:creationId xmlns:a16="http://schemas.microsoft.com/office/drawing/2014/main" id="{C50ECDB9-4680-E8A2-23D4-9417CCDC8F56}"/>
              </a:ext>
            </a:extLst>
          </p:cNvPr>
          <p:cNvSpPr txBox="1"/>
          <p:nvPr/>
        </p:nvSpPr>
        <p:spPr>
          <a:xfrm>
            <a:off x="4280321" y="3718133"/>
            <a:ext cx="1107996" cy="369332"/>
          </a:xfrm>
          <a:prstGeom prst="rect">
            <a:avLst/>
          </a:prstGeom>
          <a:noFill/>
        </p:spPr>
        <p:txBody>
          <a:bodyPr wrap="none" rtlCol="0">
            <a:spAutoFit/>
          </a:bodyPr>
          <a:lstStyle/>
          <a:p>
            <a:pPr algn="r"/>
            <a:r>
              <a:rPr lang="zh-CN" altLang="en-US"/>
              <a:t>响应变化</a:t>
            </a:r>
          </a:p>
        </p:txBody>
      </p:sp>
      <p:sp>
        <p:nvSpPr>
          <p:cNvPr id="20" name="文本框 19">
            <a:extLst>
              <a:ext uri="{FF2B5EF4-FFF2-40B4-BE49-F238E27FC236}">
                <a16:creationId xmlns:a16="http://schemas.microsoft.com/office/drawing/2014/main" id="{B68726CA-34C5-5EA9-646A-0A4BA49CFF2A}"/>
              </a:ext>
            </a:extLst>
          </p:cNvPr>
          <p:cNvSpPr txBox="1"/>
          <p:nvPr/>
        </p:nvSpPr>
        <p:spPr>
          <a:xfrm>
            <a:off x="6803683" y="3718133"/>
            <a:ext cx="1107996" cy="369332"/>
          </a:xfrm>
          <a:prstGeom prst="rect">
            <a:avLst/>
          </a:prstGeom>
          <a:noFill/>
        </p:spPr>
        <p:txBody>
          <a:bodyPr wrap="none" rtlCol="0">
            <a:spAutoFit/>
          </a:bodyPr>
          <a:lstStyle/>
          <a:p>
            <a:r>
              <a:rPr lang="zh-CN" altLang="en-US"/>
              <a:t>遵循计划</a:t>
            </a:r>
          </a:p>
        </p:txBody>
      </p:sp>
      <p:sp>
        <p:nvSpPr>
          <p:cNvPr id="23" name="箭头: 右 22">
            <a:extLst>
              <a:ext uri="{FF2B5EF4-FFF2-40B4-BE49-F238E27FC236}">
                <a16:creationId xmlns:a16="http://schemas.microsoft.com/office/drawing/2014/main" id="{E2B3E1C9-9C14-E9CC-3404-F28F9BA1CAB7}"/>
              </a:ext>
            </a:extLst>
          </p:cNvPr>
          <p:cNvSpPr/>
          <p:nvPr/>
        </p:nvSpPr>
        <p:spPr>
          <a:xfrm>
            <a:off x="6521217" y="1542931"/>
            <a:ext cx="289249" cy="191278"/>
          </a:xfrm>
          <a:prstGeom prst="rightArrow">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sp>
        <p:nvSpPr>
          <p:cNvPr id="24" name="箭头: 右 23">
            <a:extLst>
              <a:ext uri="{FF2B5EF4-FFF2-40B4-BE49-F238E27FC236}">
                <a16:creationId xmlns:a16="http://schemas.microsoft.com/office/drawing/2014/main" id="{EFBE2482-DBFF-80CF-A9F1-8D1467668880}"/>
              </a:ext>
            </a:extLst>
          </p:cNvPr>
          <p:cNvSpPr/>
          <p:nvPr/>
        </p:nvSpPr>
        <p:spPr>
          <a:xfrm flipH="1">
            <a:off x="5381534" y="1542931"/>
            <a:ext cx="289249" cy="191278"/>
          </a:xfrm>
          <a:prstGeom prst="rightArrow">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sp>
        <p:nvSpPr>
          <p:cNvPr id="27" name="箭头: 右 26">
            <a:extLst>
              <a:ext uri="{FF2B5EF4-FFF2-40B4-BE49-F238E27FC236}">
                <a16:creationId xmlns:a16="http://schemas.microsoft.com/office/drawing/2014/main" id="{AE6DEB4B-473F-1560-49AC-FDA98BBD325E}"/>
              </a:ext>
            </a:extLst>
          </p:cNvPr>
          <p:cNvSpPr/>
          <p:nvPr/>
        </p:nvSpPr>
        <p:spPr>
          <a:xfrm>
            <a:off x="6521217" y="2297674"/>
            <a:ext cx="289249" cy="191278"/>
          </a:xfrm>
          <a:prstGeom prst="rightArrow">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zh-CN" altLang="en-US"/>
          </a:p>
        </p:txBody>
      </p:sp>
      <p:sp>
        <p:nvSpPr>
          <p:cNvPr id="28" name="箭头: 右 27">
            <a:extLst>
              <a:ext uri="{FF2B5EF4-FFF2-40B4-BE49-F238E27FC236}">
                <a16:creationId xmlns:a16="http://schemas.microsoft.com/office/drawing/2014/main" id="{ADC70125-0912-DA1C-7E15-A62DCEEE3881}"/>
              </a:ext>
            </a:extLst>
          </p:cNvPr>
          <p:cNvSpPr/>
          <p:nvPr/>
        </p:nvSpPr>
        <p:spPr>
          <a:xfrm flipH="1">
            <a:off x="5381534" y="2297674"/>
            <a:ext cx="289249" cy="191278"/>
          </a:xfrm>
          <a:prstGeom prst="rightArrow">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zh-CN" altLang="en-US"/>
          </a:p>
        </p:txBody>
      </p:sp>
      <p:sp>
        <p:nvSpPr>
          <p:cNvPr id="30" name="箭头: 右 29">
            <a:extLst>
              <a:ext uri="{FF2B5EF4-FFF2-40B4-BE49-F238E27FC236}">
                <a16:creationId xmlns:a16="http://schemas.microsoft.com/office/drawing/2014/main" id="{3D17E2DC-EC6F-5A26-C493-33E17F34A045}"/>
              </a:ext>
            </a:extLst>
          </p:cNvPr>
          <p:cNvSpPr/>
          <p:nvPr/>
        </p:nvSpPr>
        <p:spPr>
          <a:xfrm>
            <a:off x="6521217" y="3052417"/>
            <a:ext cx="289249" cy="191278"/>
          </a:xfrm>
          <a:prstGeom prst="rightArrow">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31" name="箭头: 右 30">
            <a:extLst>
              <a:ext uri="{FF2B5EF4-FFF2-40B4-BE49-F238E27FC236}">
                <a16:creationId xmlns:a16="http://schemas.microsoft.com/office/drawing/2014/main" id="{3DFF4F37-E924-F619-EB24-EB79BBB364EC}"/>
              </a:ext>
            </a:extLst>
          </p:cNvPr>
          <p:cNvSpPr/>
          <p:nvPr/>
        </p:nvSpPr>
        <p:spPr>
          <a:xfrm flipH="1">
            <a:off x="5381534" y="3052417"/>
            <a:ext cx="289249" cy="191278"/>
          </a:xfrm>
          <a:prstGeom prst="rightArrow">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33" name="箭头: 右 32">
            <a:extLst>
              <a:ext uri="{FF2B5EF4-FFF2-40B4-BE49-F238E27FC236}">
                <a16:creationId xmlns:a16="http://schemas.microsoft.com/office/drawing/2014/main" id="{304A44ED-5196-828A-3B1C-29FA336C0B13}"/>
              </a:ext>
            </a:extLst>
          </p:cNvPr>
          <p:cNvSpPr/>
          <p:nvPr/>
        </p:nvSpPr>
        <p:spPr>
          <a:xfrm>
            <a:off x="6521217" y="3807160"/>
            <a:ext cx="289249" cy="191278"/>
          </a:xfrm>
          <a:prstGeom prst="rightArrow">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34" name="箭头: 右 33">
            <a:extLst>
              <a:ext uri="{FF2B5EF4-FFF2-40B4-BE49-F238E27FC236}">
                <a16:creationId xmlns:a16="http://schemas.microsoft.com/office/drawing/2014/main" id="{80F1BCC5-3E18-E230-C4FF-AE375EF44A4B}"/>
              </a:ext>
            </a:extLst>
          </p:cNvPr>
          <p:cNvSpPr/>
          <p:nvPr/>
        </p:nvSpPr>
        <p:spPr>
          <a:xfrm flipH="1">
            <a:off x="5381534" y="3807160"/>
            <a:ext cx="289249" cy="191278"/>
          </a:xfrm>
          <a:prstGeom prst="rightArrow">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DE3AEB75-F575-0B94-5645-AB22AFCBB6E2}"/>
              </a:ext>
            </a:extLst>
          </p:cNvPr>
          <p:cNvSpPr/>
          <p:nvPr/>
        </p:nvSpPr>
        <p:spPr>
          <a:xfrm>
            <a:off x="5664000" y="2213313"/>
            <a:ext cx="864000" cy="360000"/>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altLang="zh-CN"/>
              <a:t>over</a:t>
            </a:r>
            <a:endParaRPr lang="zh-CN" altLang="en-US"/>
          </a:p>
        </p:txBody>
      </p:sp>
      <p:sp>
        <p:nvSpPr>
          <p:cNvPr id="6" name="椭圆 5">
            <a:extLst>
              <a:ext uri="{FF2B5EF4-FFF2-40B4-BE49-F238E27FC236}">
                <a16:creationId xmlns:a16="http://schemas.microsoft.com/office/drawing/2014/main" id="{6900F5E0-4106-1950-B85B-99633AD2659E}"/>
              </a:ext>
            </a:extLst>
          </p:cNvPr>
          <p:cNvSpPr/>
          <p:nvPr/>
        </p:nvSpPr>
        <p:spPr>
          <a:xfrm>
            <a:off x="5664000" y="1458570"/>
            <a:ext cx="864000" cy="360000"/>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CN"/>
              <a:t>Over</a:t>
            </a:r>
            <a:endParaRPr lang="zh-CN" altLang="en-US"/>
          </a:p>
        </p:txBody>
      </p:sp>
      <p:sp>
        <p:nvSpPr>
          <p:cNvPr id="7" name="椭圆 6">
            <a:extLst>
              <a:ext uri="{FF2B5EF4-FFF2-40B4-BE49-F238E27FC236}">
                <a16:creationId xmlns:a16="http://schemas.microsoft.com/office/drawing/2014/main" id="{DA023A71-64A8-65B7-D208-F51499E3C351}"/>
              </a:ext>
            </a:extLst>
          </p:cNvPr>
          <p:cNvSpPr/>
          <p:nvPr/>
        </p:nvSpPr>
        <p:spPr>
          <a:xfrm>
            <a:off x="5664000" y="2968056"/>
            <a:ext cx="864000" cy="360000"/>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altLang="zh-CN"/>
              <a:t>over</a:t>
            </a:r>
            <a:endParaRPr lang="zh-CN" altLang="en-US"/>
          </a:p>
        </p:txBody>
      </p:sp>
      <p:sp>
        <p:nvSpPr>
          <p:cNvPr id="8" name="椭圆 7">
            <a:extLst>
              <a:ext uri="{FF2B5EF4-FFF2-40B4-BE49-F238E27FC236}">
                <a16:creationId xmlns:a16="http://schemas.microsoft.com/office/drawing/2014/main" id="{5143D818-39E5-8E6C-464D-9035C1B36C3D}"/>
              </a:ext>
            </a:extLst>
          </p:cNvPr>
          <p:cNvSpPr/>
          <p:nvPr/>
        </p:nvSpPr>
        <p:spPr>
          <a:xfrm>
            <a:off x="5664000" y="3722799"/>
            <a:ext cx="864000" cy="360000"/>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a:t>over</a:t>
            </a:r>
            <a:endParaRPr lang="zh-CN" altLang="en-US"/>
          </a:p>
        </p:txBody>
      </p:sp>
      <p:pic>
        <p:nvPicPr>
          <p:cNvPr id="35" name="图形 34" descr="女人群">
            <a:extLst>
              <a:ext uri="{FF2B5EF4-FFF2-40B4-BE49-F238E27FC236}">
                <a16:creationId xmlns:a16="http://schemas.microsoft.com/office/drawing/2014/main" id="{F0D1B064-ABB9-E1A3-1F77-0C7AC3F1B1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33806" y="1368570"/>
            <a:ext cx="540000" cy="540000"/>
          </a:xfrm>
          <a:prstGeom prst="rect">
            <a:avLst/>
          </a:prstGeom>
        </p:spPr>
      </p:pic>
      <p:pic>
        <p:nvPicPr>
          <p:cNvPr id="37" name="图形 36" descr="工作流">
            <a:extLst>
              <a:ext uri="{FF2B5EF4-FFF2-40B4-BE49-F238E27FC236}">
                <a16:creationId xmlns:a16="http://schemas.microsoft.com/office/drawing/2014/main" id="{298F81CE-AB95-0602-9FD6-6C76D85EB05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418194" y="1368570"/>
            <a:ext cx="540000" cy="540000"/>
          </a:xfrm>
          <a:prstGeom prst="rect">
            <a:avLst/>
          </a:prstGeom>
        </p:spPr>
      </p:pic>
      <p:pic>
        <p:nvPicPr>
          <p:cNvPr id="39" name="图形 38" descr="会议室">
            <a:extLst>
              <a:ext uri="{FF2B5EF4-FFF2-40B4-BE49-F238E27FC236}">
                <a16:creationId xmlns:a16="http://schemas.microsoft.com/office/drawing/2014/main" id="{2904CFFF-FDCE-8F65-0ED4-AF03939B75D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418194" y="2878056"/>
            <a:ext cx="540000" cy="540000"/>
          </a:xfrm>
          <a:prstGeom prst="rect">
            <a:avLst/>
          </a:prstGeom>
        </p:spPr>
      </p:pic>
      <p:pic>
        <p:nvPicPr>
          <p:cNvPr id="41" name="图形 40" descr="清单">
            <a:extLst>
              <a:ext uri="{FF2B5EF4-FFF2-40B4-BE49-F238E27FC236}">
                <a16:creationId xmlns:a16="http://schemas.microsoft.com/office/drawing/2014/main" id="{C31E3BF3-841F-0A27-7143-781506213F6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418194" y="3633167"/>
            <a:ext cx="540000" cy="540000"/>
          </a:xfrm>
          <a:prstGeom prst="rect">
            <a:avLst/>
          </a:prstGeom>
        </p:spPr>
      </p:pic>
      <p:pic>
        <p:nvPicPr>
          <p:cNvPr id="43" name="图形 42" descr="握手">
            <a:extLst>
              <a:ext uri="{FF2B5EF4-FFF2-40B4-BE49-F238E27FC236}">
                <a16:creationId xmlns:a16="http://schemas.microsoft.com/office/drawing/2014/main" id="{C32202C2-4317-E86E-C68F-B2D33C5823F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233806" y="2878056"/>
            <a:ext cx="540000" cy="540000"/>
          </a:xfrm>
          <a:prstGeom prst="rect">
            <a:avLst/>
          </a:prstGeom>
        </p:spPr>
      </p:pic>
      <p:pic>
        <p:nvPicPr>
          <p:cNvPr id="45" name="图形 44" descr="剪刀">
            <a:extLst>
              <a:ext uri="{FF2B5EF4-FFF2-40B4-BE49-F238E27FC236}">
                <a16:creationId xmlns:a16="http://schemas.microsoft.com/office/drawing/2014/main" id="{FB62840E-4A7F-9DB1-433B-4746014C97E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217064" y="3632799"/>
            <a:ext cx="540000" cy="540000"/>
          </a:xfrm>
          <a:prstGeom prst="rect">
            <a:avLst/>
          </a:prstGeom>
        </p:spPr>
      </p:pic>
      <p:pic>
        <p:nvPicPr>
          <p:cNvPr id="47" name="图形 46" descr="硬币">
            <a:extLst>
              <a:ext uri="{FF2B5EF4-FFF2-40B4-BE49-F238E27FC236}">
                <a16:creationId xmlns:a16="http://schemas.microsoft.com/office/drawing/2014/main" id="{7D139B55-ACC5-69AB-99B1-5BF5C293C0D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217064" y="2123313"/>
            <a:ext cx="540000" cy="540000"/>
          </a:xfrm>
          <a:prstGeom prst="rect">
            <a:avLst/>
          </a:prstGeom>
        </p:spPr>
      </p:pic>
      <p:graphicFrame>
        <p:nvGraphicFramePr>
          <p:cNvPr id="60" name="表格 59">
            <a:extLst>
              <a:ext uri="{FF2B5EF4-FFF2-40B4-BE49-F238E27FC236}">
                <a16:creationId xmlns:a16="http://schemas.microsoft.com/office/drawing/2014/main" id="{75C35E4B-E91C-C124-C09B-3FC17D6439C9}"/>
              </a:ext>
            </a:extLst>
          </p:cNvPr>
          <p:cNvGraphicFramePr>
            <a:graphicFrameLocks noGrp="1"/>
          </p:cNvGraphicFramePr>
          <p:nvPr>
            <p:extLst>
              <p:ext uri="{D42A27DB-BD31-4B8C-83A1-F6EECF244321}">
                <p14:modId xmlns:p14="http://schemas.microsoft.com/office/powerpoint/2010/main" val="1062976759"/>
              </p:ext>
            </p:extLst>
          </p:nvPr>
        </p:nvGraphicFramePr>
        <p:xfrm>
          <a:off x="696675" y="4587600"/>
          <a:ext cx="10800000" cy="1676400"/>
        </p:xfrm>
        <a:graphic>
          <a:graphicData uri="http://schemas.openxmlformats.org/drawingml/2006/table">
            <a:tbl>
              <a:tblPr firstRow="1" bandRow="1">
                <a:tableStyleId>{2D5ABB26-0587-4C30-8999-92F81FD0307C}</a:tableStyleId>
              </a:tblPr>
              <a:tblGrid>
                <a:gridCol w="693975">
                  <a:extLst>
                    <a:ext uri="{9D8B030D-6E8A-4147-A177-3AD203B41FA5}">
                      <a16:colId xmlns:a16="http://schemas.microsoft.com/office/drawing/2014/main" val="3725992743"/>
                    </a:ext>
                  </a:extLst>
                </a:gridCol>
                <a:gridCol w="6753225">
                  <a:extLst>
                    <a:ext uri="{9D8B030D-6E8A-4147-A177-3AD203B41FA5}">
                      <a16:colId xmlns:a16="http://schemas.microsoft.com/office/drawing/2014/main" val="4196879630"/>
                    </a:ext>
                  </a:extLst>
                </a:gridCol>
                <a:gridCol w="3352800">
                  <a:extLst>
                    <a:ext uri="{9D8B030D-6E8A-4147-A177-3AD203B41FA5}">
                      <a16:colId xmlns:a16="http://schemas.microsoft.com/office/drawing/2014/main" val="4052226736"/>
                    </a:ext>
                  </a:extLst>
                </a:gridCol>
              </a:tblGrid>
              <a:tr h="0">
                <a:tc>
                  <a:txBody>
                    <a:bodyPr/>
                    <a:lstStyle/>
                    <a:p>
                      <a:pPr algn="ctr"/>
                      <a:endParaRPr lang="zh-CN" altLang="en-US" sz="1600" dirty="0">
                        <a:solidFill>
                          <a:schemeClr val="bg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altLang="zh-CN" sz="1600" dirty="0">
                          <a:solidFill>
                            <a:schemeClr val="bg1"/>
                          </a:solidFill>
                        </a:rPr>
                        <a:t>Values</a:t>
                      </a:r>
                      <a:endParaRPr lang="zh-CN" altLang="en-US" sz="1600" dirty="0">
                        <a:solidFill>
                          <a:schemeClr val="bg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altLang="zh-CN" sz="1600" dirty="0">
                          <a:solidFill>
                            <a:schemeClr val="bg1"/>
                          </a:solidFill>
                        </a:rPr>
                        <a:t>Description</a:t>
                      </a:r>
                      <a:endParaRPr lang="zh-CN" altLang="en-US" sz="1600" dirty="0">
                        <a:solidFill>
                          <a:schemeClr val="bg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427310528"/>
                  </a:ext>
                </a:extLst>
              </a:tr>
              <a:tr h="0">
                <a:tc>
                  <a:txBody>
                    <a:bodyPr/>
                    <a:lstStyle/>
                    <a:p>
                      <a:pPr algn="ctr"/>
                      <a:r>
                        <a:rPr lang="en-US" altLang="zh-CN" sz="1600"/>
                        <a:t>1</a:t>
                      </a:r>
                      <a:endParaRPr lang="zh-CN" altLang="en-US" sz="16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a:t>Individuals and interactions over processes and tools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a:t>以人为本</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61210562"/>
                  </a:ext>
                </a:extLst>
              </a:tr>
              <a:tr h="0">
                <a:tc>
                  <a:txBody>
                    <a:bodyPr/>
                    <a:lstStyle/>
                    <a:p>
                      <a:pPr algn="ctr"/>
                      <a:r>
                        <a:rPr lang="en-US" altLang="zh-CN" sz="1600"/>
                        <a:t>2</a:t>
                      </a:r>
                      <a:endParaRPr lang="zh-CN" altLang="en-US" sz="16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a:t>Working software over comprehensive documentation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a:t>以价值为导向</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0372813"/>
                  </a:ext>
                </a:extLst>
              </a:tr>
              <a:tr h="0">
                <a:tc>
                  <a:txBody>
                    <a:bodyPr/>
                    <a:lstStyle/>
                    <a:p>
                      <a:pPr algn="ctr"/>
                      <a:r>
                        <a:rPr lang="en-US" altLang="zh-CN" sz="1600"/>
                        <a:t>3</a:t>
                      </a:r>
                      <a:endParaRPr lang="zh-CN" altLang="en-US" sz="16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a:t>Customer collaboration over contract negotiation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a:t>合作共赢</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75891638"/>
                  </a:ext>
                </a:extLst>
              </a:tr>
              <a:tr h="0">
                <a:tc>
                  <a:txBody>
                    <a:bodyPr/>
                    <a:lstStyle/>
                    <a:p>
                      <a:pPr algn="ctr"/>
                      <a:r>
                        <a:rPr lang="en-US" altLang="zh-CN" sz="1600"/>
                        <a:t>4</a:t>
                      </a:r>
                      <a:endParaRPr lang="zh-CN" altLang="en-US" sz="16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a:t>Responding to change over following a plan</a:t>
                      </a:r>
                      <a:endParaRPr lang="zh-CN" altLang="en-US" sz="16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CN" altLang="en-US" sz="1600" dirty="0"/>
                        <a:t>拥抱变化</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07981243"/>
                  </a:ext>
                </a:extLst>
              </a:tr>
            </a:tbl>
          </a:graphicData>
        </a:graphic>
      </p:graphicFrame>
      <p:pic>
        <p:nvPicPr>
          <p:cNvPr id="97" name="内容占位符 28" descr="文档">
            <a:extLst>
              <a:ext uri="{FF2B5EF4-FFF2-40B4-BE49-F238E27FC236}">
                <a16:creationId xmlns:a16="http://schemas.microsoft.com/office/drawing/2014/main" id="{CD79E5BA-E4F2-F03C-64BA-0CBECD25DDD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418194" y="2126153"/>
            <a:ext cx="540000" cy="540000"/>
          </a:xfrm>
          <a:prstGeom prst="rect">
            <a:avLst/>
          </a:prstGeom>
        </p:spPr>
      </p:pic>
    </p:spTree>
    <p:extLst>
      <p:ext uri="{BB962C8B-B14F-4D97-AF65-F5344CB8AC3E}">
        <p14:creationId xmlns:p14="http://schemas.microsoft.com/office/powerpoint/2010/main" val="220140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D600E-28CA-0BEF-11BE-560AC5BFB15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411A204-C0B4-8807-2C19-980922710B79}"/>
              </a:ext>
            </a:extLst>
          </p:cNvPr>
          <p:cNvSpPr>
            <a:spLocks noGrp="1"/>
          </p:cNvSpPr>
          <p:nvPr>
            <p:ph type="title"/>
          </p:nvPr>
        </p:nvSpPr>
        <p:spPr>
          <a:xfrm>
            <a:off x="792000" y="360000"/>
            <a:ext cx="6375921" cy="429413"/>
          </a:xfrm>
        </p:spPr>
        <p:txBody>
          <a:bodyPr>
            <a:normAutofit/>
          </a:bodyPr>
          <a:lstStyle/>
          <a:p>
            <a:r>
              <a:rPr lang="en-US" altLang="zh-CN"/>
              <a:t>4.2.2 </a:t>
            </a:r>
            <a:r>
              <a:rPr lang="zh-CN" altLang="en-US"/>
              <a:t>敏捷宣言十二项原则</a:t>
            </a:r>
            <a:endParaRPr lang="en-US" altLang="zh-CN"/>
          </a:p>
        </p:txBody>
      </p:sp>
      <p:sp>
        <p:nvSpPr>
          <p:cNvPr id="9" name="内容占位符 8">
            <a:extLst>
              <a:ext uri="{FF2B5EF4-FFF2-40B4-BE49-F238E27FC236}">
                <a16:creationId xmlns:a16="http://schemas.microsoft.com/office/drawing/2014/main" id="{26014FC5-2A51-4FA2-3282-61CEB7DEA9E5}"/>
              </a:ext>
            </a:extLst>
          </p:cNvPr>
          <p:cNvSpPr>
            <a:spLocks noGrp="1"/>
          </p:cNvSpPr>
          <p:nvPr>
            <p:ph idx="1"/>
          </p:nvPr>
        </p:nvSpPr>
        <p:spPr>
          <a:xfrm>
            <a:off x="696000" y="864000"/>
            <a:ext cx="10800000" cy="5400000"/>
          </a:xfrm>
        </p:spPr>
        <p:txBody>
          <a:bodyPr/>
          <a:lstStyle/>
          <a:p>
            <a:r>
              <a:rPr lang="zh-CN" altLang="en-US"/>
              <a:t>第 </a:t>
            </a:r>
            <a:r>
              <a:rPr lang="en-US" altLang="zh-CN"/>
              <a:t>1-3 </a:t>
            </a:r>
            <a:r>
              <a:rPr lang="zh-CN" altLang="en-US"/>
              <a:t>条：关注“做什么”（交付价值、应对变化、快速产出）</a:t>
            </a:r>
          </a:p>
          <a:p>
            <a:r>
              <a:rPr lang="zh-CN" altLang="en-US"/>
              <a:t>第 </a:t>
            </a:r>
            <a:r>
              <a:rPr lang="en-US" altLang="zh-CN"/>
              <a:t>4-6 </a:t>
            </a:r>
            <a:r>
              <a:rPr lang="zh-CN" altLang="en-US"/>
              <a:t>条：关注“谁来做”和“怎么做”（人、沟通、信任）</a:t>
            </a:r>
          </a:p>
        </p:txBody>
      </p:sp>
      <p:sp>
        <p:nvSpPr>
          <p:cNvPr id="6" name="文本占位符 5">
            <a:extLst>
              <a:ext uri="{FF2B5EF4-FFF2-40B4-BE49-F238E27FC236}">
                <a16:creationId xmlns:a16="http://schemas.microsoft.com/office/drawing/2014/main" id="{2F7647FF-48FB-E14E-CC67-151DF02AD363}"/>
              </a:ext>
            </a:extLst>
          </p:cNvPr>
          <p:cNvSpPr>
            <a:spLocks noGrp="1"/>
          </p:cNvSpPr>
          <p:nvPr>
            <p:ph type="body" sz="quarter" idx="10"/>
          </p:nvPr>
        </p:nvSpPr>
        <p:spPr>
          <a:xfrm>
            <a:off x="7071919" y="448519"/>
            <a:ext cx="4424080" cy="338554"/>
          </a:xfrm>
        </p:spPr>
        <p:txBody>
          <a:bodyPr/>
          <a:lstStyle/>
          <a:p>
            <a:r>
              <a:rPr lang="en-US" altLang="zh-CN"/>
              <a:t>12 Principles/Agile Manifesto</a:t>
            </a:r>
          </a:p>
        </p:txBody>
      </p:sp>
      <p:graphicFrame>
        <p:nvGraphicFramePr>
          <p:cNvPr id="10" name="表格 9">
            <a:extLst>
              <a:ext uri="{FF2B5EF4-FFF2-40B4-BE49-F238E27FC236}">
                <a16:creationId xmlns:a16="http://schemas.microsoft.com/office/drawing/2014/main" id="{81D00E33-6098-7F64-F31C-7A0A85E5494E}"/>
              </a:ext>
            </a:extLst>
          </p:cNvPr>
          <p:cNvGraphicFramePr>
            <a:graphicFrameLocks noGrp="1"/>
          </p:cNvGraphicFramePr>
          <p:nvPr>
            <p:extLst>
              <p:ext uri="{D42A27DB-BD31-4B8C-83A1-F6EECF244321}">
                <p14:modId xmlns:p14="http://schemas.microsoft.com/office/powerpoint/2010/main" val="3609650908"/>
              </p:ext>
            </p:extLst>
          </p:nvPr>
        </p:nvGraphicFramePr>
        <p:xfrm>
          <a:off x="695997" y="1783440"/>
          <a:ext cx="10800000" cy="4480560"/>
        </p:xfrm>
        <a:graphic>
          <a:graphicData uri="http://schemas.openxmlformats.org/drawingml/2006/table">
            <a:tbl>
              <a:tblPr/>
              <a:tblGrid>
                <a:gridCol w="523203">
                  <a:extLst>
                    <a:ext uri="{9D8B030D-6E8A-4147-A177-3AD203B41FA5}">
                      <a16:colId xmlns:a16="http://schemas.microsoft.com/office/drawing/2014/main" val="2860001393"/>
                    </a:ext>
                  </a:extLst>
                </a:gridCol>
                <a:gridCol w="5286375">
                  <a:extLst>
                    <a:ext uri="{9D8B030D-6E8A-4147-A177-3AD203B41FA5}">
                      <a16:colId xmlns:a16="http://schemas.microsoft.com/office/drawing/2014/main" val="2023839401"/>
                    </a:ext>
                  </a:extLst>
                </a:gridCol>
                <a:gridCol w="2619375">
                  <a:extLst>
                    <a:ext uri="{9D8B030D-6E8A-4147-A177-3AD203B41FA5}">
                      <a16:colId xmlns:a16="http://schemas.microsoft.com/office/drawing/2014/main" val="2009573802"/>
                    </a:ext>
                  </a:extLst>
                </a:gridCol>
                <a:gridCol w="2371047">
                  <a:extLst>
                    <a:ext uri="{9D8B030D-6E8A-4147-A177-3AD203B41FA5}">
                      <a16:colId xmlns:a16="http://schemas.microsoft.com/office/drawing/2014/main" val="3315196770"/>
                    </a:ext>
                  </a:extLst>
                </a:gridCol>
              </a:tblGrid>
              <a:tr h="163118">
                <a:tc>
                  <a:txBody>
                    <a:bodyPr/>
                    <a:lstStyle/>
                    <a:p>
                      <a:pPr algn="ctr" fontAlgn="ctr" latinLnBrk="0">
                        <a:lnSpc>
                          <a:spcPct val="100000"/>
                        </a:lnSpc>
                        <a:buNone/>
                      </a:pPr>
                      <a:endParaRPr lang="zh-CN" altLang="en-US" sz="1400" dirty="0">
                        <a:solidFill>
                          <a:schemeClr val="bg1"/>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fontAlgn="ctr" latinLnBrk="0">
                        <a:lnSpc>
                          <a:spcPct val="100000"/>
                        </a:lnSpc>
                        <a:buNone/>
                      </a:pPr>
                      <a:r>
                        <a:rPr lang="en-US" sz="1400" dirty="0">
                          <a:solidFill>
                            <a:schemeClr val="bg1"/>
                          </a:solidFill>
                        </a:rPr>
                        <a:t>English</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fontAlgn="ctr" latinLnBrk="0">
                        <a:lnSpc>
                          <a:spcPct val="100000"/>
                        </a:lnSpc>
                        <a:buNone/>
                      </a:pPr>
                      <a:r>
                        <a:rPr lang="en-US" altLang="zh-CN" sz="1400" dirty="0">
                          <a:solidFill>
                            <a:schemeClr val="bg1"/>
                          </a:solidFill>
                        </a:rPr>
                        <a:t>Chinese </a:t>
                      </a:r>
                      <a:endParaRPr lang="zh-CN" altLang="en-US" sz="1400" dirty="0">
                        <a:solidFill>
                          <a:schemeClr val="bg1"/>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fontAlgn="ctr" latinLnBrk="0">
                        <a:lnSpc>
                          <a:spcPct val="100000"/>
                        </a:lnSpc>
                        <a:buNone/>
                      </a:pPr>
                      <a:r>
                        <a:rPr lang="en-US" sz="1400" dirty="0">
                          <a:solidFill>
                            <a:schemeClr val="bg1"/>
                          </a:solidFill>
                        </a:rPr>
                        <a:t>Key Focus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3442844722"/>
                  </a:ext>
                </a:extLst>
              </a:tr>
              <a:tr h="277300">
                <a:tc>
                  <a:txBody>
                    <a:bodyPr/>
                    <a:lstStyle/>
                    <a:p>
                      <a:pPr algn="ctr" fontAlgn="ctr" latinLnBrk="0">
                        <a:lnSpc>
                          <a:spcPct val="100000"/>
                        </a:lnSpc>
                        <a:buNone/>
                      </a:pPr>
                      <a:r>
                        <a:rPr lang="en-US" altLang="zh-CN" sz="1400"/>
                        <a:t>1</a:t>
                      </a:r>
                      <a:endParaRPr lang="zh-CN" altLang="en-US" sz="140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en-US" sz="1400" dirty="0"/>
                        <a:t>Our highest priority is to satisfy the customer through early and continuous delivery of valuable software.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zh-CN" altLang="en-US" sz="1400"/>
                        <a:t>我们的最高目标，是通过尽早并持续交付有价值的软件来满足客户。</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zh-CN" altLang="en-US" sz="1400"/>
                        <a:t>价值交付</a:t>
                      </a:r>
                      <a:br>
                        <a:rPr lang="zh-CN" altLang="en-US" sz="1400"/>
                      </a:br>
                      <a:r>
                        <a:rPr lang="en-US" sz="1400"/>
                        <a:t>Value &amp; Delivery</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3285344"/>
                  </a:ext>
                </a:extLst>
              </a:tr>
              <a:tr h="391483">
                <a:tc>
                  <a:txBody>
                    <a:bodyPr/>
                    <a:lstStyle/>
                    <a:p>
                      <a:pPr algn="ctr" fontAlgn="ctr" latinLnBrk="0">
                        <a:lnSpc>
                          <a:spcPct val="100000"/>
                        </a:lnSpc>
                        <a:buNone/>
                      </a:pPr>
                      <a:r>
                        <a:rPr lang="en-US" altLang="zh-CN" sz="1400"/>
                        <a:t>2</a:t>
                      </a:r>
                      <a:endParaRPr lang="zh-CN" altLang="en-US" sz="140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en-US" sz="1400"/>
                        <a:t>Welcome changing requirements, even late in development. Agile processes harness change for the customer's competitive advantage.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zh-CN" altLang="en-US" sz="1400"/>
                        <a:t>欢迎需求变化，即使是在开发后期。敏捷过程善于利用变化来为客户创造竞争优势。</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zh-CN" altLang="en-US" sz="1400"/>
                        <a:t>拥抱变化</a:t>
                      </a:r>
                      <a:br>
                        <a:rPr lang="zh-CN" altLang="en-US" sz="1400"/>
                      </a:br>
                      <a:r>
                        <a:rPr lang="en-US" sz="1400"/>
                        <a:t>Embrace Change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3348231"/>
                  </a:ext>
                </a:extLst>
              </a:tr>
              <a:tr h="277300">
                <a:tc>
                  <a:txBody>
                    <a:bodyPr/>
                    <a:lstStyle/>
                    <a:p>
                      <a:pPr algn="ctr" fontAlgn="ctr" latinLnBrk="0">
                        <a:lnSpc>
                          <a:spcPct val="100000"/>
                        </a:lnSpc>
                        <a:buNone/>
                      </a:pPr>
                      <a:r>
                        <a:rPr lang="en-US" altLang="zh-CN" sz="1400"/>
                        <a:t>3</a:t>
                      </a:r>
                      <a:endParaRPr lang="zh-CN" altLang="en-US" sz="140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en-US" sz="1400"/>
                        <a:t>Deliver working software frequently, from a couple of weeks to a couple of months, with a preference to the shorter timescale.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zh-CN" altLang="en-US" sz="1400"/>
                        <a:t>频繁地交付可工作的软件，周期可以从几周到几个月，倾向于更短的周期。</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zh-CN" altLang="en-US" sz="1400"/>
                        <a:t>频繁迭代</a:t>
                      </a:r>
                      <a:br>
                        <a:rPr lang="zh-CN" altLang="en-US" sz="1400"/>
                      </a:br>
                      <a:r>
                        <a:rPr lang="en-US" sz="1400"/>
                        <a:t>Frequency</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81104537"/>
                  </a:ext>
                </a:extLst>
              </a:tr>
              <a:tr h="277300">
                <a:tc>
                  <a:txBody>
                    <a:bodyPr/>
                    <a:lstStyle/>
                    <a:p>
                      <a:pPr algn="ctr" fontAlgn="ctr" latinLnBrk="0">
                        <a:lnSpc>
                          <a:spcPct val="100000"/>
                        </a:lnSpc>
                        <a:buNone/>
                      </a:pPr>
                      <a:r>
                        <a:rPr lang="en-US" altLang="zh-CN" sz="1400"/>
                        <a:t>4</a:t>
                      </a:r>
                      <a:endParaRPr lang="zh-CN" altLang="en-US" sz="140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en-US" sz="1400"/>
                        <a:t>Business people and developers must work together daily throughout the project.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zh-CN" altLang="en-US" sz="1400"/>
                        <a:t>业务人员和开发人员必须在整个项目期间每天一起工作。</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zh-CN" altLang="en-US" sz="1400"/>
                        <a:t>协作沟通</a:t>
                      </a:r>
                      <a:br>
                        <a:rPr lang="zh-CN" altLang="en-US" sz="1400"/>
                      </a:br>
                      <a:r>
                        <a:rPr lang="en-US" sz="1400"/>
                        <a:t>Collaboration</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31614805"/>
                  </a:ext>
                </a:extLst>
              </a:tr>
              <a:tr h="277300">
                <a:tc>
                  <a:txBody>
                    <a:bodyPr/>
                    <a:lstStyle/>
                    <a:p>
                      <a:pPr algn="ctr" fontAlgn="ctr" latinLnBrk="0">
                        <a:lnSpc>
                          <a:spcPct val="100000"/>
                        </a:lnSpc>
                        <a:buNone/>
                      </a:pPr>
                      <a:r>
                        <a:rPr lang="en-US" altLang="zh-CN" sz="1400"/>
                        <a:t>5</a:t>
                      </a:r>
                      <a:endParaRPr lang="zh-CN" altLang="en-US" sz="140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en-US" sz="1400"/>
                        <a:t>Build projects around motivated individuals. Give them the environment and support they need, and trust them to get the job done.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zh-CN" altLang="en-US" sz="1400"/>
                        <a:t>围绕有积极性的个体构建项目。给予他们所需的环境和支持，并信任他们能够完成工作。</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zh-CN" altLang="en-US" sz="1400"/>
                        <a:t>信任与激励</a:t>
                      </a:r>
                      <a:br>
                        <a:rPr lang="zh-CN" altLang="en-US" sz="1400"/>
                      </a:br>
                      <a:r>
                        <a:rPr lang="en-US" sz="1400"/>
                        <a:t>Trust &amp; Motivation</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12493322"/>
                  </a:ext>
                </a:extLst>
              </a:tr>
              <a:tr h="391483">
                <a:tc>
                  <a:txBody>
                    <a:bodyPr/>
                    <a:lstStyle/>
                    <a:p>
                      <a:pPr algn="ctr" fontAlgn="ctr" latinLnBrk="0">
                        <a:lnSpc>
                          <a:spcPct val="100000"/>
                        </a:lnSpc>
                        <a:buNone/>
                      </a:pPr>
                      <a:r>
                        <a:rPr lang="en-US" altLang="zh-CN" sz="1400"/>
                        <a:t>6</a:t>
                      </a:r>
                      <a:endParaRPr lang="zh-CN" altLang="en-US" sz="140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en-US" sz="1400"/>
                        <a:t>The most efficient and effective method of conveying information to and within a development team is face-to-face conversation.</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zh-CN" altLang="en-US" sz="1400"/>
                        <a:t>面对面交谈是团队内部传递信息的最有效方式。</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zh-CN" altLang="en-US" sz="1400" dirty="0"/>
                        <a:t>高效沟通</a:t>
                      </a:r>
                      <a:br>
                        <a:rPr lang="zh-CN" altLang="en-US" sz="1400" dirty="0"/>
                      </a:br>
                      <a:r>
                        <a:rPr lang="en-US" sz="1400" dirty="0"/>
                        <a:t>Face-to-Face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578673"/>
                  </a:ext>
                </a:extLst>
              </a:tr>
            </a:tbl>
          </a:graphicData>
        </a:graphic>
      </p:graphicFrame>
    </p:spTree>
    <p:extLst>
      <p:ext uri="{BB962C8B-B14F-4D97-AF65-F5344CB8AC3E}">
        <p14:creationId xmlns:p14="http://schemas.microsoft.com/office/powerpoint/2010/main" val="1938643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2D3DF-86DA-C821-810A-E70376416B2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9235B59-3EAD-DAEC-90CA-EECE1155CADA}"/>
              </a:ext>
            </a:extLst>
          </p:cNvPr>
          <p:cNvSpPr>
            <a:spLocks noGrp="1"/>
          </p:cNvSpPr>
          <p:nvPr>
            <p:ph type="title"/>
          </p:nvPr>
        </p:nvSpPr>
        <p:spPr>
          <a:xfrm>
            <a:off x="792000" y="360000"/>
            <a:ext cx="6375921" cy="429413"/>
          </a:xfrm>
        </p:spPr>
        <p:txBody>
          <a:bodyPr>
            <a:normAutofit/>
          </a:bodyPr>
          <a:lstStyle/>
          <a:p>
            <a:r>
              <a:rPr lang="en-US" altLang="zh-CN"/>
              <a:t>4.2.2 </a:t>
            </a:r>
            <a:r>
              <a:rPr lang="zh-CN" altLang="en-US"/>
              <a:t>敏捷宣言十二项原则</a:t>
            </a:r>
            <a:endParaRPr lang="en-US" altLang="zh-CN"/>
          </a:p>
        </p:txBody>
      </p:sp>
      <p:sp>
        <p:nvSpPr>
          <p:cNvPr id="9" name="内容占位符 8">
            <a:extLst>
              <a:ext uri="{FF2B5EF4-FFF2-40B4-BE49-F238E27FC236}">
                <a16:creationId xmlns:a16="http://schemas.microsoft.com/office/drawing/2014/main" id="{DDEA841F-B625-AA67-F15A-386025B80CA2}"/>
              </a:ext>
            </a:extLst>
          </p:cNvPr>
          <p:cNvSpPr>
            <a:spLocks noGrp="1"/>
          </p:cNvSpPr>
          <p:nvPr>
            <p:ph idx="1"/>
          </p:nvPr>
        </p:nvSpPr>
        <p:spPr>
          <a:xfrm>
            <a:off x="696000" y="864000"/>
            <a:ext cx="10800000" cy="5400000"/>
          </a:xfrm>
        </p:spPr>
        <p:txBody>
          <a:bodyPr/>
          <a:lstStyle/>
          <a:p>
            <a:r>
              <a:rPr lang="zh-CN" altLang="en-US"/>
              <a:t>第 </a:t>
            </a:r>
            <a:r>
              <a:rPr lang="en-US" altLang="zh-CN"/>
              <a:t>7-9 </a:t>
            </a:r>
            <a:r>
              <a:rPr lang="zh-CN" altLang="en-US"/>
              <a:t>条：关注“做得怎么样”（进度标准、节奏、质量）</a:t>
            </a:r>
          </a:p>
          <a:p>
            <a:r>
              <a:rPr lang="zh-CN" altLang="en-US"/>
              <a:t>第 </a:t>
            </a:r>
            <a:r>
              <a:rPr lang="en-US" altLang="zh-CN"/>
              <a:t>10-12 </a:t>
            </a:r>
            <a:r>
              <a:rPr lang="zh-CN" altLang="en-US"/>
              <a:t>条：关注“如何进化”（做减法、自组织、复盘）</a:t>
            </a:r>
          </a:p>
          <a:p>
            <a:endParaRPr lang="zh-CN" altLang="en-US"/>
          </a:p>
        </p:txBody>
      </p:sp>
      <p:sp>
        <p:nvSpPr>
          <p:cNvPr id="6" name="文本占位符 5">
            <a:extLst>
              <a:ext uri="{FF2B5EF4-FFF2-40B4-BE49-F238E27FC236}">
                <a16:creationId xmlns:a16="http://schemas.microsoft.com/office/drawing/2014/main" id="{43E0A98B-A492-34B2-052A-E9D466420650}"/>
              </a:ext>
            </a:extLst>
          </p:cNvPr>
          <p:cNvSpPr>
            <a:spLocks noGrp="1"/>
          </p:cNvSpPr>
          <p:nvPr>
            <p:ph type="body" sz="quarter" idx="10"/>
          </p:nvPr>
        </p:nvSpPr>
        <p:spPr>
          <a:xfrm>
            <a:off x="7071919" y="448519"/>
            <a:ext cx="4424080" cy="338554"/>
          </a:xfrm>
        </p:spPr>
        <p:txBody>
          <a:bodyPr/>
          <a:lstStyle/>
          <a:p>
            <a:r>
              <a:rPr lang="en-US" altLang="zh-CN"/>
              <a:t>12 Principles/Agile Manifesto</a:t>
            </a:r>
          </a:p>
        </p:txBody>
      </p:sp>
      <p:graphicFrame>
        <p:nvGraphicFramePr>
          <p:cNvPr id="4" name="表格 3">
            <a:extLst>
              <a:ext uri="{FF2B5EF4-FFF2-40B4-BE49-F238E27FC236}">
                <a16:creationId xmlns:a16="http://schemas.microsoft.com/office/drawing/2014/main" id="{7D3358B7-5B05-0C08-2671-EE53BC397327}"/>
              </a:ext>
            </a:extLst>
          </p:cNvPr>
          <p:cNvGraphicFramePr>
            <a:graphicFrameLocks noGrp="1"/>
          </p:cNvGraphicFramePr>
          <p:nvPr>
            <p:extLst>
              <p:ext uri="{D42A27DB-BD31-4B8C-83A1-F6EECF244321}">
                <p14:modId xmlns:p14="http://schemas.microsoft.com/office/powerpoint/2010/main" val="699093807"/>
              </p:ext>
            </p:extLst>
          </p:nvPr>
        </p:nvGraphicFramePr>
        <p:xfrm>
          <a:off x="695997" y="2423520"/>
          <a:ext cx="10800000" cy="3840480"/>
        </p:xfrm>
        <a:graphic>
          <a:graphicData uri="http://schemas.openxmlformats.org/drawingml/2006/table">
            <a:tbl>
              <a:tblPr/>
              <a:tblGrid>
                <a:gridCol w="523203">
                  <a:extLst>
                    <a:ext uri="{9D8B030D-6E8A-4147-A177-3AD203B41FA5}">
                      <a16:colId xmlns:a16="http://schemas.microsoft.com/office/drawing/2014/main" val="2860001393"/>
                    </a:ext>
                  </a:extLst>
                </a:gridCol>
                <a:gridCol w="5286375">
                  <a:extLst>
                    <a:ext uri="{9D8B030D-6E8A-4147-A177-3AD203B41FA5}">
                      <a16:colId xmlns:a16="http://schemas.microsoft.com/office/drawing/2014/main" val="2023839401"/>
                    </a:ext>
                  </a:extLst>
                </a:gridCol>
                <a:gridCol w="2619375">
                  <a:extLst>
                    <a:ext uri="{9D8B030D-6E8A-4147-A177-3AD203B41FA5}">
                      <a16:colId xmlns:a16="http://schemas.microsoft.com/office/drawing/2014/main" val="2009573802"/>
                    </a:ext>
                  </a:extLst>
                </a:gridCol>
                <a:gridCol w="2371047">
                  <a:extLst>
                    <a:ext uri="{9D8B030D-6E8A-4147-A177-3AD203B41FA5}">
                      <a16:colId xmlns:a16="http://schemas.microsoft.com/office/drawing/2014/main" val="3315196770"/>
                    </a:ext>
                  </a:extLst>
                </a:gridCol>
              </a:tblGrid>
              <a:tr h="163118">
                <a:tc>
                  <a:txBody>
                    <a:bodyPr/>
                    <a:lstStyle/>
                    <a:p>
                      <a:pPr algn="ctr" fontAlgn="ctr" latinLnBrk="0">
                        <a:lnSpc>
                          <a:spcPct val="100000"/>
                        </a:lnSpc>
                        <a:buNone/>
                      </a:pPr>
                      <a:endParaRPr lang="zh-CN" altLang="en-US" sz="14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fontAlgn="ctr" latinLnBrk="0">
                        <a:lnSpc>
                          <a:spcPct val="100000"/>
                        </a:lnSpc>
                        <a:buNone/>
                      </a:pPr>
                      <a:r>
                        <a:rPr lang="en-US" sz="1400" dirty="0">
                          <a:solidFill>
                            <a:schemeClr val="bg1"/>
                          </a:solidFill>
                        </a:rPr>
                        <a:t>English</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fontAlgn="ctr" latinLnBrk="0">
                        <a:lnSpc>
                          <a:spcPct val="100000"/>
                        </a:lnSpc>
                        <a:buNone/>
                      </a:pPr>
                      <a:r>
                        <a:rPr lang="en-US" altLang="zh-CN" sz="1400" dirty="0">
                          <a:solidFill>
                            <a:schemeClr val="bg1"/>
                          </a:solidFill>
                        </a:rPr>
                        <a:t>Chinese </a:t>
                      </a:r>
                      <a:endParaRPr lang="zh-CN" altLang="en-US" sz="14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fontAlgn="ctr" latinLnBrk="0">
                        <a:lnSpc>
                          <a:spcPct val="100000"/>
                        </a:lnSpc>
                        <a:buNone/>
                      </a:pPr>
                      <a:r>
                        <a:rPr lang="en-US" sz="1400" dirty="0">
                          <a:solidFill>
                            <a:schemeClr val="bg1"/>
                          </a:solidFill>
                        </a:rPr>
                        <a:t>Key Focus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3442844722"/>
                  </a:ext>
                </a:extLst>
              </a:tr>
              <a:tr h="277300">
                <a:tc>
                  <a:txBody>
                    <a:bodyPr/>
                    <a:lstStyle/>
                    <a:p>
                      <a:pPr algn="ctr" fontAlgn="ctr" latinLnBrk="0">
                        <a:lnSpc>
                          <a:spcPct val="100000"/>
                        </a:lnSpc>
                        <a:buNone/>
                      </a:pPr>
                      <a:r>
                        <a:rPr lang="en-US" altLang="zh-CN" sz="1400"/>
                        <a:t>7</a:t>
                      </a:r>
                      <a:endParaRPr lang="zh-CN" altLang="en-US" sz="14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en-US" sz="1400"/>
                        <a:t>Working software is the primary measure of progress.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zh-CN" altLang="en-US" sz="1400"/>
                        <a:t>可工作的软件是衡量进展的首要标准。</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zh-CN" altLang="en-US" sz="1400"/>
                        <a:t>结果导向</a:t>
                      </a:r>
                      <a:br>
                        <a:rPr lang="zh-CN" altLang="en-US" sz="1400"/>
                      </a:br>
                      <a:r>
                        <a:rPr lang="en-US" sz="1400"/>
                        <a:t>Working Software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3285344"/>
                  </a:ext>
                </a:extLst>
              </a:tr>
              <a:tr h="391483">
                <a:tc>
                  <a:txBody>
                    <a:bodyPr/>
                    <a:lstStyle/>
                    <a:p>
                      <a:pPr algn="ctr" fontAlgn="ctr" latinLnBrk="0">
                        <a:lnSpc>
                          <a:spcPct val="100000"/>
                        </a:lnSpc>
                        <a:buNone/>
                      </a:pPr>
                      <a:r>
                        <a:rPr lang="en-US" altLang="zh-CN" sz="1400"/>
                        <a:t>8</a:t>
                      </a:r>
                      <a:endParaRPr lang="zh-CN" altLang="en-US" sz="14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en-US" sz="1400"/>
                        <a:t>Agile processes promote sustainable development. The sponsors, developers, and users should be able to maintain a constant pace indefinitely.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zh-CN" altLang="en-US" sz="1400"/>
                        <a:t>敏捷过程提倡可持续的开发节奏。赞助者、开发者和用户应该能够长期保持恒定的速度。</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zh-CN" altLang="en-US" sz="1400"/>
                        <a:t>可持续发展</a:t>
                      </a:r>
                      <a:br>
                        <a:rPr lang="zh-CN" altLang="en-US" sz="1400"/>
                      </a:br>
                      <a:r>
                        <a:rPr lang="en-US" sz="1400"/>
                        <a:t>Sustainability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3348231"/>
                  </a:ext>
                </a:extLst>
              </a:tr>
              <a:tr h="277300">
                <a:tc>
                  <a:txBody>
                    <a:bodyPr/>
                    <a:lstStyle/>
                    <a:p>
                      <a:pPr algn="ctr" fontAlgn="ctr" latinLnBrk="0">
                        <a:lnSpc>
                          <a:spcPct val="100000"/>
                        </a:lnSpc>
                        <a:buNone/>
                      </a:pPr>
                      <a:r>
                        <a:rPr lang="en-US" altLang="zh-CN" sz="1400"/>
                        <a:t>9</a:t>
                      </a:r>
                      <a:endParaRPr lang="zh-CN" altLang="en-US" sz="14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en-US" sz="1400"/>
                        <a:t>Continuous attention to technical excellence and good design enhances agility.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zh-CN" altLang="en-US" sz="1400"/>
                        <a:t>持续关注技术卓越和良好设计，以增强敏捷能力。</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zh-CN" altLang="en-US" sz="1400"/>
                        <a:t>技术卓越</a:t>
                      </a:r>
                      <a:br>
                        <a:rPr lang="zh-CN" altLang="en-US" sz="1400"/>
                      </a:br>
                      <a:r>
                        <a:rPr lang="en-US" sz="1400"/>
                        <a:t>Technical Excellence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81104537"/>
                  </a:ext>
                </a:extLst>
              </a:tr>
              <a:tr h="277300">
                <a:tc>
                  <a:txBody>
                    <a:bodyPr/>
                    <a:lstStyle/>
                    <a:p>
                      <a:pPr algn="ctr" fontAlgn="ctr" latinLnBrk="0">
                        <a:lnSpc>
                          <a:spcPct val="100000"/>
                        </a:lnSpc>
                        <a:buNone/>
                      </a:pPr>
                      <a:r>
                        <a:rPr lang="en-US" altLang="zh-CN" sz="1400"/>
                        <a:t>10</a:t>
                      </a:r>
                      <a:endParaRPr lang="zh-CN" altLang="en-US" sz="14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en-US" sz="1400"/>
                        <a:t>Simplicity—the art of maximizing the amount of work not done—is essential.</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zh-CN" altLang="en-US" sz="1400"/>
                        <a:t>简洁 </a:t>
                      </a:r>
                      <a:r>
                        <a:rPr lang="en-US" altLang="zh-CN" sz="1400"/>
                        <a:t>- </a:t>
                      </a:r>
                      <a:r>
                        <a:rPr lang="zh-CN" altLang="en-US" sz="1400"/>
                        <a:t>最大化未完成工作量的艺术 </a:t>
                      </a:r>
                      <a:r>
                        <a:rPr lang="en-US" altLang="zh-CN" sz="1400"/>
                        <a:t>- </a:t>
                      </a:r>
                      <a:r>
                        <a:rPr lang="zh-CN" altLang="en-US" sz="1400"/>
                        <a:t>是根本的。</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zh-CN" altLang="en-US" sz="1400"/>
                        <a:t>极简主义</a:t>
                      </a:r>
                      <a:br>
                        <a:rPr lang="zh-CN" altLang="en-US" sz="1400"/>
                      </a:br>
                      <a:r>
                        <a:rPr lang="en-US" sz="1400"/>
                        <a:t>Simplicity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31614805"/>
                  </a:ext>
                </a:extLst>
              </a:tr>
              <a:tr h="277300">
                <a:tc>
                  <a:txBody>
                    <a:bodyPr/>
                    <a:lstStyle/>
                    <a:p>
                      <a:pPr algn="ctr" fontAlgn="ctr" latinLnBrk="0">
                        <a:lnSpc>
                          <a:spcPct val="100000"/>
                        </a:lnSpc>
                        <a:buNone/>
                      </a:pPr>
                      <a:r>
                        <a:rPr lang="en-US" altLang="zh-CN" sz="1400"/>
                        <a:t>11</a:t>
                      </a:r>
                      <a:endParaRPr lang="zh-CN" altLang="en-US" sz="14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en-US" sz="1400"/>
                        <a:t>The best architectures, requirements, and designs emerge from self-organizing teams.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zh-CN" altLang="en-US" sz="1400"/>
                        <a:t>最好的架构、需求和设计出自自组织团队。</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zh-CN" altLang="en-US" sz="1400"/>
                        <a:t>自组织</a:t>
                      </a:r>
                      <a:br>
                        <a:rPr lang="zh-CN" altLang="en-US" sz="1400"/>
                      </a:br>
                      <a:r>
                        <a:rPr lang="en-US" sz="1400"/>
                        <a:t>Self-Organization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12493322"/>
                  </a:ext>
                </a:extLst>
              </a:tr>
              <a:tr h="391483">
                <a:tc>
                  <a:txBody>
                    <a:bodyPr/>
                    <a:lstStyle/>
                    <a:p>
                      <a:pPr algn="ctr" fontAlgn="ctr" latinLnBrk="0">
                        <a:lnSpc>
                          <a:spcPct val="100000"/>
                        </a:lnSpc>
                        <a:buNone/>
                      </a:pPr>
                      <a:r>
                        <a:rPr lang="en-US" altLang="zh-CN" sz="1400"/>
                        <a:t>12</a:t>
                      </a:r>
                      <a:endParaRPr lang="zh-CN" altLang="en-US" sz="14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en-US" sz="1400"/>
                        <a:t>At regular intervals, the team reflects on how to become more effective, then tunes and adjusts its behavior accordingly.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zh-CN" altLang="en-US" sz="1400"/>
                        <a:t>团队定期反思如何变得更高效，并相应地调整自身行为。</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zh-CN" altLang="en-US" sz="1400" dirty="0"/>
                        <a:t>持续改进</a:t>
                      </a:r>
                      <a:br>
                        <a:rPr lang="zh-CN" altLang="en-US" sz="1400" dirty="0"/>
                      </a:br>
                      <a:r>
                        <a:rPr lang="en-US" sz="1400" dirty="0"/>
                        <a:t>Reflection &amp; Adjustment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578673"/>
                  </a:ext>
                </a:extLst>
              </a:tr>
            </a:tbl>
          </a:graphicData>
        </a:graphic>
      </p:graphicFrame>
    </p:spTree>
    <p:extLst>
      <p:ext uri="{BB962C8B-B14F-4D97-AF65-F5344CB8AC3E}">
        <p14:creationId xmlns:p14="http://schemas.microsoft.com/office/powerpoint/2010/main" val="34865375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644404FD-42CB-D845-39BB-81F15C0CC198}"/>
              </a:ext>
            </a:extLst>
          </p:cNvPr>
          <p:cNvGraphicFramePr>
            <a:graphicFrameLocks noGrp="1"/>
          </p:cNvGraphicFramePr>
          <p:nvPr>
            <p:extLst>
              <p:ext uri="{D42A27DB-BD31-4B8C-83A1-F6EECF244321}">
                <p14:modId xmlns:p14="http://schemas.microsoft.com/office/powerpoint/2010/main" val="3629420919"/>
              </p:ext>
            </p:extLst>
          </p:nvPr>
        </p:nvGraphicFramePr>
        <p:xfrm>
          <a:off x="695325" y="2103120"/>
          <a:ext cx="10801350" cy="2651760"/>
        </p:xfrm>
        <a:graphic>
          <a:graphicData uri="http://schemas.openxmlformats.org/drawingml/2006/table">
            <a:tbl>
              <a:tblPr/>
              <a:tblGrid>
                <a:gridCol w="1699083">
                  <a:extLst>
                    <a:ext uri="{9D8B030D-6E8A-4147-A177-3AD203B41FA5}">
                      <a16:colId xmlns:a16="http://schemas.microsoft.com/office/drawing/2014/main" val="3441983078"/>
                    </a:ext>
                  </a:extLst>
                </a:gridCol>
                <a:gridCol w="3799002">
                  <a:extLst>
                    <a:ext uri="{9D8B030D-6E8A-4147-A177-3AD203B41FA5}">
                      <a16:colId xmlns:a16="http://schemas.microsoft.com/office/drawing/2014/main" val="3949452080"/>
                    </a:ext>
                  </a:extLst>
                </a:gridCol>
                <a:gridCol w="5303265">
                  <a:extLst>
                    <a:ext uri="{9D8B030D-6E8A-4147-A177-3AD203B41FA5}">
                      <a16:colId xmlns:a16="http://schemas.microsoft.com/office/drawing/2014/main" val="116939384"/>
                    </a:ext>
                  </a:extLst>
                </a:gridCol>
              </a:tblGrid>
              <a:tr h="0">
                <a:tc>
                  <a:txBody>
                    <a:bodyPr/>
                    <a:lstStyle/>
                    <a:p>
                      <a:pPr algn="l">
                        <a:lnSpc>
                          <a:spcPct val="100000"/>
                        </a:lnSpc>
                        <a:buNone/>
                      </a:pPr>
                      <a:r>
                        <a:rPr lang="zh-CN" altLang="en-US" sz="1600" dirty="0">
                          <a:solidFill>
                            <a:schemeClr val="bg1"/>
                          </a:solidFill>
                        </a:rPr>
                        <a:t>维度</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lnSpc>
                          <a:spcPct val="100000"/>
                        </a:lnSpc>
                        <a:buNone/>
                      </a:pPr>
                      <a:r>
                        <a:rPr lang="zh-CN" altLang="en-US" sz="1600" dirty="0">
                          <a:solidFill>
                            <a:schemeClr val="bg1"/>
                          </a:solidFill>
                        </a:rPr>
                        <a:t>敏捷 </a:t>
                      </a:r>
                      <a:r>
                        <a:rPr lang="en-US" altLang="zh-CN" sz="1600" dirty="0">
                          <a:solidFill>
                            <a:schemeClr val="bg1"/>
                          </a:solidFill>
                        </a:rPr>
                        <a:t>12 </a:t>
                      </a:r>
                      <a:r>
                        <a:rPr lang="zh-CN" altLang="en-US" sz="1600" dirty="0">
                          <a:solidFill>
                            <a:schemeClr val="bg1"/>
                          </a:solidFill>
                        </a:rPr>
                        <a:t>原则</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lnSpc>
                          <a:spcPct val="100000"/>
                        </a:lnSpc>
                        <a:buNone/>
                      </a:pPr>
                      <a:r>
                        <a:rPr lang="en-US" sz="1600" dirty="0">
                          <a:solidFill>
                            <a:schemeClr val="bg1"/>
                          </a:solidFill>
                        </a:rPr>
                        <a:t>PMBOK 7 </a:t>
                      </a:r>
                      <a:r>
                        <a:rPr lang="zh-CN" altLang="en-US" sz="1600" dirty="0">
                          <a:solidFill>
                            <a:schemeClr val="bg1"/>
                          </a:solidFill>
                        </a:rPr>
                        <a:t>的 </a:t>
                      </a:r>
                      <a:r>
                        <a:rPr lang="en-US" altLang="zh-CN" sz="1600" dirty="0">
                          <a:solidFill>
                            <a:schemeClr val="bg1"/>
                          </a:solidFill>
                        </a:rPr>
                        <a:t>12 </a:t>
                      </a:r>
                      <a:r>
                        <a:rPr lang="zh-CN" altLang="en-US" sz="1600" dirty="0">
                          <a:solidFill>
                            <a:schemeClr val="bg1"/>
                          </a:solidFill>
                        </a:rPr>
                        <a:t>原则</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2799584510"/>
                  </a:ext>
                </a:extLst>
              </a:tr>
              <a:tr h="131467">
                <a:tc>
                  <a:txBody>
                    <a:bodyPr/>
                    <a:lstStyle/>
                    <a:p>
                      <a:pPr algn="l">
                        <a:lnSpc>
                          <a:spcPct val="100000"/>
                        </a:lnSpc>
                        <a:buNone/>
                      </a:pPr>
                      <a:r>
                        <a:rPr lang="zh-CN" altLang="en-US" sz="1600"/>
                        <a:t>适用范围</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zh-CN" altLang="en-US" sz="1600"/>
                        <a:t>狭义</a:t>
                      </a:r>
                      <a:endParaRPr lang="en-US" altLang="zh-CN" sz="1600"/>
                    </a:p>
                    <a:p>
                      <a:pPr algn="l">
                        <a:lnSpc>
                          <a:spcPct val="100000"/>
                        </a:lnSpc>
                        <a:buNone/>
                      </a:pPr>
                      <a:r>
                        <a:rPr lang="zh-CN" altLang="en-US" sz="1600"/>
                        <a:t>主要针对软件开发、</a:t>
                      </a:r>
                      <a:r>
                        <a:rPr lang="en-US" altLang="zh-CN" sz="1600"/>
                        <a:t>IT </a:t>
                      </a:r>
                      <a:r>
                        <a:rPr lang="zh-CN" altLang="en-US" sz="1600"/>
                        <a:t>项目</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zh-CN" altLang="en-US" sz="1600"/>
                        <a:t>广义</a:t>
                      </a:r>
                      <a:endParaRPr lang="en-US" altLang="zh-CN" sz="1600"/>
                    </a:p>
                    <a:p>
                      <a:pPr algn="l">
                        <a:lnSpc>
                          <a:spcPct val="100000"/>
                        </a:lnSpc>
                        <a:buNone/>
                      </a:pPr>
                      <a:r>
                        <a:rPr lang="zh-CN" altLang="en-US" sz="1600"/>
                        <a:t>适用于建筑、医疗、活动、软件、制造等所有行业</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47923211"/>
                  </a:ext>
                </a:extLst>
              </a:tr>
              <a:tr h="131467">
                <a:tc>
                  <a:txBody>
                    <a:bodyPr/>
                    <a:lstStyle/>
                    <a:p>
                      <a:pPr algn="l">
                        <a:lnSpc>
                          <a:spcPct val="100000"/>
                        </a:lnSpc>
                        <a:buNone/>
                      </a:pPr>
                      <a:r>
                        <a:rPr lang="zh-CN" altLang="en-US" sz="1600"/>
                        <a:t>关注点</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zh-CN" altLang="en-US" sz="1600" dirty="0"/>
                        <a:t>怎么做软件</a:t>
                      </a:r>
                      <a:endParaRPr lang="en-US" altLang="zh-CN" sz="1600" dirty="0"/>
                    </a:p>
                    <a:p>
                      <a:pPr algn="l">
                        <a:lnSpc>
                          <a:spcPct val="100000"/>
                        </a:lnSpc>
                        <a:buNone/>
                      </a:pPr>
                      <a:r>
                        <a:rPr lang="zh-CN" altLang="en-US" sz="1600" dirty="0"/>
                        <a:t>强调迭代、代码、客户协作</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zh-CN" altLang="en-US" sz="1600"/>
                        <a:t>怎么管项目</a:t>
                      </a:r>
                      <a:endParaRPr lang="en-US" altLang="zh-CN" sz="1600"/>
                    </a:p>
                    <a:p>
                      <a:pPr algn="l">
                        <a:lnSpc>
                          <a:spcPct val="100000"/>
                        </a:lnSpc>
                        <a:buNone/>
                      </a:pPr>
                      <a:r>
                        <a:rPr lang="zh-CN" altLang="en-US" sz="1600"/>
                        <a:t>强调价值、系统、道德、领导力、不确定性</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1556770"/>
                  </a:ext>
                </a:extLst>
              </a:tr>
              <a:tr h="131467">
                <a:tc>
                  <a:txBody>
                    <a:bodyPr/>
                    <a:lstStyle/>
                    <a:p>
                      <a:pPr algn="l">
                        <a:lnSpc>
                          <a:spcPct val="100000"/>
                        </a:lnSpc>
                        <a:buNone/>
                      </a:pPr>
                      <a:r>
                        <a:rPr lang="zh-CN" altLang="en-US" sz="1600"/>
                        <a:t>语言风格</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zh-CN" altLang="en-US" sz="1600"/>
                        <a:t>行动导向</a:t>
                      </a:r>
                      <a:endParaRPr lang="en-US" altLang="zh-CN" sz="1600"/>
                    </a:p>
                    <a:p>
                      <a:pPr algn="l">
                        <a:lnSpc>
                          <a:spcPct val="100000"/>
                        </a:lnSpc>
                        <a:buNone/>
                      </a:pPr>
                      <a:r>
                        <a:rPr lang="zh-CN" altLang="en-US" sz="1600"/>
                        <a:t>交付软件、欢迎变更、每天一起</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zh-CN" altLang="en-US" sz="1600"/>
                        <a:t>思维导向</a:t>
                      </a:r>
                      <a:endParaRPr lang="en-US" altLang="zh-CN" sz="1600"/>
                    </a:p>
                    <a:p>
                      <a:pPr algn="l">
                        <a:lnSpc>
                          <a:spcPct val="100000"/>
                        </a:lnSpc>
                        <a:buNone/>
                      </a:pPr>
                      <a:r>
                        <a:rPr lang="zh-CN" altLang="en-US" sz="1600"/>
                        <a:t>聚焦价值、系统思考、驾驭复杂性</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90702870"/>
                  </a:ext>
                </a:extLst>
              </a:tr>
              <a:tr h="131467">
                <a:tc>
                  <a:txBody>
                    <a:bodyPr/>
                    <a:lstStyle/>
                    <a:p>
                      <a:pPr algn="l">
                        <a:lnSpc>
                          <a:spcPct val="100000"/>
                        </a:lnSpc>
                        <a:buNone/>
                      </a:pPr>
                      <a:r>
                        <a:rPr lang="zh-CN" altLang="en-US" sz="1600"/>
                        <a:t>对瀑布的态度</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zh-CN" altLang="en-US" sz="1600"/>
                        <a:t>隐含对立</a:t>
                      </a:r>
                      <a:endParaRPr lang="en-US" altLang="zh-CN" sz="1600"/>
                    </a:p>
                    <a:p>
                      <a:pPr algn="l">
                        <a:lnSpc>
                          <a:spcPct val="100000"/>
                        </a:lnSpc>
                        <a:buNone/>
                      </a:pPr>
                      <a:r>
                        <a:rPr lang="zh-CN" altLang="en-US" sz="1600"/>
                        <a:t>旨在解决瀑布的痛点</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zh-CN" altLang="en-US" sz="1600" dirty="0"/>
                        <a:t>包容融合</a:t>
                      </a:r>
                      <a:endParaRPr lang="en-US" altLang="zh-CN" sz="1600" dirty="0"/>
                    </a:p>
                    <a:p>
                      <a:pPr algn="l">
                        <a:lnSpc>
                          <a:spcPct val="100000"/>
                        </a:lnSpc>
                        <a:buNone/>
                      </a:pPr>
                      <a:r>
                        <a:rPr lang="zh-CN" altLang="en-US" sz="1600" dirty="0"/>
                        <a:t>认为瀑布、敏捷、混合都是工具，视情况裁</a:t>
                      </a:r>
                      <a:endParaRPr lang="en-US"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1035251"/>
                  </a:ext>
                </a:extLst>
              </a:tr>
            </a:tbl>
          </a:graphicData>
        </a:graphic>
      </p:graphicFrame>
    </p:spTree>
    <p:extLst>
      <p:ext uri="{BB962C8B-B14F-4D97-AF65-F5344CB8AC3E}">
        <p14:creationId xmlns:p14="http://schemas.microsoft.com/office/powerpoint/2010/main" val="15659481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D5F130A-5A7A-C77B-A15E-E3CB82E0688C}"/>
              </a:ext>
            </a:extLst>
          </p:cNvPr>
          <p:cNvSpPr txBox="1"/>
          <p:nvPr/>
        </p:nvSpPr>
        <p:spPr>
          <a:xfrm>
            <a:off x="696000" y="1634185"/>
            <a:ext cx="2465740" cy="369332"/>
          </a:xfrm>
          <a:prstGeom prst="rect">
            <a:avLst/>
          </a:prstGeom>
          <a:noFill/>
        </p:spPr>
        <p:txBody>
          <a:bodyPr wrap="none" rtlCol="0">
            <a:spAutoFit/>
          </a:bodyPr>
          <a:lstStyle/>
          <a:p>
            <a:r>
              <a:rPr lang="zh-CN" altLang="en-US" dirty="0"/>
              <a:t>课后思考 </a:t>
            </a:r>
            <a:r>
              <a:rPr lang="en-US" altLang="zh-CN" dirty="0"/>
              <a:t>Homework</a:t>
            </a:r>
            <a:endParaRPr lang="zh-CN" altLang="en-US" dirty="0"/>
          </a:p>
        </p:txBody>
      </p:sp>
      <p:cxnSp>
        <p:nvCxnSpPr>
          <p:cNvPr id="4" name="Straight Connector 3">
            <a:extLst>
              <a:ext uri="{FF2B5EF4-FFF2-40B4-BE49-F238E27FC236}">
                <a16:creationId xmlns:a16="http://schemas.microsoft.com/office/drawing/2014/main" id="{2B34B79E-76CE-229C-63C8-C95264500C74}"/>
              </a:ext>
            </a:extLst>
          </p:cNvPr>
          <p:cNvCxnSpPr>
            <a:cxnSpLocks/>
          </p:cNvCxnSpPr>
          <p:nvPr/>
        </p:nvCxnSpPr>
        <p:spPr>
          <a:xfrm>
            <a:off x="696000" y="2003517"/>
            <a:ext cx="10800000" cy="0"/>
          </a:xfrm>
          <a:prstGeom prst="line">
            <a:avLst/>
          </a:prstGeom>
          <a:ln w="38100">
            <a:gradFill>
              <a:gsLst>
                <a:gs pos="70000">
                  <a:schemeClr val="accent2"/>
                </a:gs>
                <a:gs pos="0">
                  <a:schemeClr val="accent2"/>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35805F23-376A-7F09-3354-30020221AEE6}"/>
              </a:ext>
            </a:extLst>
          </p:cNvPr>
          <p:cNvSpPr txBox="1"/>
          <p:nvPr/>
        </p:nvSpPr>
        <p:spPr>
          <a:xfrm>
            <a:off x="696000" y="2003517"/>
            <a:ext cx="4339650" cy="369332"/>
          </a:xfrm>
          <a:prstGeom prst="rect">
            <a:avLst/>
          </a:prstGeom>
          <a:noFill/>
        </p:spPr>
        <p:txBody>
          <a:bodyPr wrap="none" rtlCol="0">
            <a:spAutoFit/>
          </a:bodyPr>
          <a:lstStyle/>
          <a:p>
            <a:pPr algn="ctr"/>
            <a:r>
              <a:rPr lang="zh-CN" altLang="en-US" dirty="0"/>
              <a:t>是不是所有的项目都应该采取敏捷开发？</a:t>
            </a:r>
          </a:p>
        </p:txBody>
      </p:sp>
    </p:spTree>
    <p:extLst>
      <p:ext uri="{BB962C8B-B14F-4D97-AF65-F5344CB8AC3E}">
        <p14:creationId xmlns:p14="http://schemas.microsoft.com/office/powerpoint/2010/main" val="35641986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8AF9B-1193-7998-3569-EE3C16444A3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8F6789C-3CFD-8184-F7E4-4098D724FF3E}"/>
              </a:ext>
            </a:extLst>
          </p:cNvPr>
          <p:cNvSpPr>
            <a:spLocks noGrp="1"/>
          </p:cNvSpPr>
          <p:nvPr>
            <p:ph type="ctrTitle"/>
          </p:nvPr>
        </p:nvSpPr>
        <p:spPr>
          <a:xfrm>
            <a:off x="2464886" y="4681056"/>
            <a:ext cx="7262228" cy="798491"/>
          </a:xfrm>
        </p:spPr>
        <p:txBody>
          <a:bodyPr/>
          <a:lstStyle/>
          <a:p>
            <a:r>
              <a:rPr lang="zh-CN" altLang="en-US"/>
              <a:t>项目初始</a:t>
            </a:r>
          </a:p>
        </p:txBody>
      </p:sp>
      <p:sp>
        <p:nvSpPr>
          <p:cNvPr id="3" name="副标题 2">
            <a:extLst>
              <a:ext uri="{FF2B5EF4-FFF2-40B4-BE49-F238E27FC236}">
                <a16:creationId xmlns:a16="http://schemas.microsoft.com/office/drawing/2014/main" id="{81C8CC4C-2E8E-B353-5957-AAE14F72B6FF}"/>
              </a:ext>
            </a:extLst>
          </p:cNvPr>
          <p:cNvSpPr>
            <a:spLocks noGrp="1"/>
          </p:cNvSpPr>
          <p:nvPr>
            <p:ph type="subTitle" idx="1"/>
          </p:nvPr>
        </p:nvSpPr>
        <p:spPr>
          <a:xfrm>
            <a:off x="2464886" y="5479548"/>
            <a:ext cx="7262228" cy="458180"/>
          </a:xfrm>
        </p:spPr>
        <p:txBody>
          <a:bodyPr/>
          <a:lstStyle/>
          <a:p>
            <a:r>
              <a:rPr lang="en-US" altLang="zh-CN"/>
              <a:t>Section 2 Project Initialization</a:t>
            </a:r>
            <a:endParaRPr lang="zh-CN" altLang="en-US"/>
          </a:p>
        </p:txBody>
      </p:sp>
      <p:sp>
        <p:nvSpPr>
          <p:cNvPr id="8" name="文本占位符 7">
            <a:extLst>
              <a:ext uri="{FF2B5EF4-FFF2-40B4-BE49-F238E27FC236}">
                <a16:creationId xmlns:a16="http://schemas.microsoft.com/office/drawing/2014/main" id="{2D983AE9-5BAA-65A6-5C49-FC55E9EB413D}"/>
              </a:ext>
            </a:extLst>
          </p:cNvPr>
          <p:cNvSpPr>
            <a:spLocks noGrp="1"/>
          </p:cNvSpPr>
          <p:nvPr>
            <p:ph type="body" sz="quarter" idx="11"/>
          </p:nvPr>
        </p:nvSpPr>
        <p:spPr>
          <a:xfrm>
            <a:off x="3883891" y="2047875"/>
            <a:ext cx="4424219" cy="2531269"/>
          </a:xfrm>
        </p:spPr>
        <p:txBody>
          <a:bodyPr>
            <a:normAutofit/>
          </a:bodyPr>
          <a:lstStyle/>
          <a:p>
            <a:pPr lvl="0"/>
            <a:r>
              <a:rPr lang="zh-CN" altLang="zh-CN" dirty="0"/>
              <a:t>项目评估</a:t>
            </a:r>
          </a:p>
          <a:p>
            <a:pPr lvl="0"/>
            <a:r>
              <a:rPr lang="zh-CN" altLang="zh-CN" dirty="0"/>
              <a:t>项目立项</a:t>
            </a:r>
          </a:p>
          <a:p>
            <a:pPr lvl="0"/>
            <a:r>
              <a:rPr lang="zh-CN" altLang="zh-CN" dirty="0"/>
              <a:t>项目招投标</a:t>
            </a:r>
          </a:p>
          <a:p>
            <a:pPr lvl="0"/>
            <a:r>
              <a:rPr lang="zh-CN" altLang="zh-CN" dirty="0"/>
              <a:t>项目章程</a:t>
            </a:r>
          </a:p>
          <a:p>
            <a:pPr lvl="0"/>
            <a:r>
              <a:rPr lang="zh-CN" altLang="zh-CN" dirty="0"/>
              <a:t>软件项目生存期模型</a:t>
            </a:r>
            <a:endParaRPr lang="en-US" altLang="zh-CN" dirty="0"/>
          </a:p>
          <a:p>
            <a:pPr lvl="0"/>
            <a:r>
              <a:rPr lang="en-US" altLang="zh-CN" dirty="0"/>
              <a:t>Scrum</a:t>
            </a:r>
            <a:endParaRPr lang="zh-CN" altLang="zh-CN" dirty="0"/>
          </a:p>
        </p:txBody>
      </p:sp>
    </p:spTree>
    <p:extLst>
      <p:ext uri="{BB962C8B-B14F-4D97-AF65-F5344CB8AC3E}">
        <p14:creationId xmlns:p14="http://schemas.microsoft.com/office/powerpoint/2010/main" val="30637871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EFE04-0C55-09A4-9152-E231DB1A6B1D}"/>
            </a:ext>
          </a:extLst>
        </p:cNvPr>
        <p:cNvGrpSpPr/>
        <p:nvPr/>
      </p:nvGrpSpPr>
      <p:grpSpPr>
        <a:xfrm>
          <a:off x="0" y="0"/>
          <a:ext cx="0" cy="0"/>
          <a:chOff x="0" y="0"/>
          <a:chExt cx="0" cy="0"/>
        </a:xfrm>
      </p:grpSpPr>
      <p:sp>
        <p:nvSpPr>
          <p:cNvPr id="5" name="箭头: V 形 4">
            <a:extLst>
              <a:ext uri="{FF2B5EF4-FFF2-40B4-BE49-F238E27FC236}">
                <a16:creationId xmlns:a16="http://schemas.microsoft.com/office/drawing/2014/main" id="{2558A5D8-2C91-4087-0B76-BFD03C0B2E8A}"/>
              </a:ext>
            </a:extLst>
          </p:cNvPr>
          <p:cNvSpPr/>
          <p:nvPr/>
        </p:nvSpPr>
        <p:spPr>
          <a:xfrm>
            <a:off x="2454444" y="1897626"/>
            <a:ext cx="1800000" cy="360000"/>
          </a:xfrm>
          <a:prstGeom prst="chevron">
            <a:avLst/>
          </a:prstGeom>
          <a:solidFill>
            <a:srgbClr val="00B0F0"/>
          </a:solidFill>
          <a:ln>
            <a:solidFill>
              <a:srgbClr val="F4B1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solidFill>
              </a:rPr>
              <a:t>项目开始</a:t>
            </a:r>
          </a:p>
        </p:txBody>
      </p:sp>
      <p:sp>
        <p:nvSpPr>
          <p:cNvPr id="6" name="箭头: V 形 5">
            <a:extLst>
              <a:ext uri="{FF2B5EF4-FFF2-40B4-BE49-F238E27FC236}">
                <a16:creationId xmlns:a16="http://schemas.microsoft.com/office/drawing/2014/main" id="{A485B16D-4470-BFD2-9553-93D925795AD8}"/>
              </a:ext>
            </a:extLst>
          </p:cNvPr>
          <p:cNvSpPr/>
          <p:nvPr/>
        </p:nvSpPr>
        <p:spPr>
          <a:xfrm>
            <a:off x="4180548" y="1897626"/>
            <a:ext cx="1800000" cy="360000"/>
          </a:xfrm>
          <a:prstGeom prst="chevron">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项目计划</a:t>
            </a:r>
          </a:p>
        </p:txBody>
      </p:sp>
      <p:sp>
        <p:nvSpPr>
          <p:cNvPr id="7" name="箭头: V 形 6">
            <a:extLst>
              <a:ext uri="{FF2B5EF4-FFF2-40B4-BE49-F238E27FC236}">
                <a16:creationId xmlns:a16="http://schemas.microsoft.com/office/drawing/2014/main" id="{A65A649C-5BD5-9691-D233-ACD0FA4594B9}"/>
              </a:ext>
            </a:extLst>
          </p:cNvPr>
          <p:cNvSpPr/>
          <p:nvPr/>
        </p:nvSpPr>
        <p:spPr>
          <a:xfrm>
            <a:off x="5906652" y="1897626"/>
            <a:ext cx="1800000" cy="360000"/>
          </a:xfrm>
          <a:prstGeom prst="chevron">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rPr>
              <a:t>项目执行控制</a:t>
            </a:r>
          </a:p>
        </p:txBody>
      </p:sp>
      <p:sp>
        <p:nvSpPr>
          <p:cNvPr id="8" name="箭头: V 形 7">
            <a:extLst>
              <a:ext uri="{FF2B5EF4-FFF2-40B4-BE49-F238E27FC236}">
                <a16:creationId xmlns:a16="http://schemas.microsoft.com/office/drawing/2014/main" id="{FA46A5C4-2E29-88D2-28B0-66492FADFFD8}"/>
              </a:ext>
            </a:extLst>
          </p:cNvPr>
          <p:cNvSpPr/>
          <p:nvPr/>
        </p:nvSpPr>
        <p:spPr>
          <a:xfrm>
            <a:off x="7632755" y="1897626"/>
            <a:ext cx="1800000" cy="360000"/>
          </a:xfrm>
          <a:prstGeom prst="chevron">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rPr>
              <a:t>项目结束</a:t>
            </a:r>
          </a:p>
        </p:txBody>
      </p:sp>
      <p:sp>
        <p:nvSpPr>
          <p:cNvPr id="10" name="箭头: V 形 9">
            <a:extLst>
              <a:ext uri="{FF2B5EF4-FFF2-40B4-BE49-F238E27FC236}">
                <a16:creationId xmlns:a16="http://schemas.microsoft.com/office/drawing/2014/main" id="{BFAAA251-79A5-9A78-F7F0-F316BD6D4E45}"/>
              </a:ext>
            </a:extLst>
          </p:cNvPr>
          <p:cNvSpPr/>
          <p:nvPr/>
        </p:nvSpPr>
        <p:spPr>
          <a:xfrm>
            <a:off x="2223231" y="3124316"/>
            <a:ext cx="1440000" cy="432000"/>
          </a:xfrm>
          <a:prstGeom prst="chevron">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noAutofit/>
          </a:bodyPr>
          <a:lstStyle/>
          <a:p>
            <a:pPr algn="ctr"/>
            <a:r>
              <a:rPr lang="zh-CN" altLang="en-US" sz="1600" dirty="0">
                <a:solidFill>
                  <a:schemeClr val="tx1"/>
                </a:solidFill>
              </a:rPr>
              <a:t>项目确立</a:t>
            </a:r>
          </a:p>
        </p:txBody>
      </p:sp>
      <p:sp>
        <p:nvSpPr>
          <p:cNvPr id="11" name="箭头: V 形 10">
            <a:extLst>
              <a:ext uri="{FF2B5EF4-FFF2-40B4-BE49-F238E27FC236}">
                <a16:creationId xmlns:a16="http://schemas.microsoft.com/office/drawing/2014/main" id="{16E230DC-1FA8-2B0D-96F5-96AC78093097}"/>
              </a:ext>
            </a:extLst>
          </p:cNvPr>
          <p:cNvSpPr/>
          <p:nvPr/>
        </p:nvSpPr>
        <p:spPr>
          <a:xfrm>
            <a:off x="3534444" y="3124316"/>
            <a:ext cx="1440000" cy="432000"/>
          </a:xfrm>
          <a:prstGeom prst="chevron">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noAutofit/>
          </a:bodyPr>
          <a:lstStyle/>
          <a:p>
            <a:pPr algn="ctr"/>
            <a:r>
              <a:rPr lang="zh-CN" altLang="en-US" sz="1600">
                <a:solidFill>
                  <a:schemeClr val="tx1"/>
                </a:solidFill>
              </a:rPr>
              <a:t>生存期</a:t>
            </a:r>
          </a:p>
        </p:txBody>
      </p:sp>
      <p:sp>
        <p:nvSpPr>
          <p:cNvPr id="2" name="梯形 1">
            <a:extLst>
              <a:ext uri="{FF2B5EF4-FFF2-40B4-BE49-F238E27FC236}">
                <a16:creationId xmlns:a16="http://schemas.microsoft.com/office/drawing/2014/main" id="{A6CC57D3-E980-A5C2-17D5-74782EB0EECB}"/>
              </a:ext>
            </a:extLst>
          </p:cNvPr>
          <p:cNvSpPr/>
          <p:nvPr/>
        </p:nvSpPr>
        <p:spPr>
          <a:xfrm>
            <a:off x="2247966" y="2349909"/>
            <a:ext cx="2488259" cy="648930"/>
          </a:xfrm>
          <a:custGeom>
            <a:avLst/>
            <a:gdLst>
              <a:gd name="csX0" fmla="*/ 0 w 1800000"/>
              <a:gd name="csY0" fmla="*/ 639097 h 639097"/>
              <a:gd name="csX1" fmla="*/ 159774 w 1800000"/>
              <a:gd name="csY1" fmla="*/ 0 h 639097"/>
              <a:gd name="csX2" fmla="*/ 1640226 w 1800000"/>
              <a:gd name="csY2" fmla="*/ 0 h 639097"/>
              <a:gd name="csX3" fmla="*/ 1800000 w 1800000"/>
              <a:gd name="csY3" fmla="*/ 639097 h 639097"/>
              <a:gd name="csX4" fmla="*/ 0 w 1800000"/>
              <a:gd name="csY4" fmla="*/ 639097 h 639097"/>
              <a:gd name="csX0" fmla="*/ 0 w 2006478"/>
              <a:gd name="csY0" fmla="*/ 639097 h 639097"/>
              <a:gd name="csX1" fmla="*/ 366252 w 2006478"/>
              <a:gd name="csY1" fmla="*/ 0 h 639097"/>
              <a:gd name="csX2" fmla="*/ 1846704 w 2006478"/>
              <a:gd name="csY2" fmla="*/ 0 h 639097"/>
              <a:gd name="csX3" fmla="*/ 2006478 w 2006478"/>
              <a:gd name="csY3" fmla="*/ 639097 h 639097"/>
              <a:gd name="csX4" fmla="*/ 0 w 2006478"/>
              <a:gd name="csY4" fmla="*/ 639097 h 639097"/>
              <a:gd name="csX0" fmla="*/ 0 w 2488259"/>
              <a:gd name="csY0" fmla="*/ 639097 h 639097"/>
              <a:gd name="csX1" fmla="*/ 366252 w 2488259"/>
              <a:gd name="csY1" fmla="*/ 0 h 639097"/>
              <a:gd name="csX2" fmla="*/ 1846704 w 2488259"/>
              <a:gd name="csY2" fmla="*/ 0 h 639097"/>
              <a:gd name="csX3" fmla="*/ 2488259 w 2488259"/>
              <a:gd name="csY3" fmla="*/ 629265 h 639097"/>
              <a:gd name="csX4" fmla="*/ 0 w 2488259"/>
              <a:gd name="csY4" fmla="*/ 639097 h 639097"/>
              <a:gd name="csX0" fmla="*/ 0 w 2488259"/>
              <a:gd name="csY0" fmla="*/ 648930 h 648930"/>
              <a:gd name="csX1" fmla="*/ 248265 w 2488259"/>
              <a:gd name="csY1" fmla="*/ 0 h 648930"/>
              <a:gd name="csX2" fmla="*/ 1846704 w 2488259"/>
              <a:gd name="csY2" fmla="*/ 9833 h 648930"/>
              <a:gd name="csX3" fmla="*/ 2488259 w 2488259"/>
              <a:gd name="csY3" fmla="*/ 639098 h 648930"/>
              <a:gd name="csX4" fmla="*/ 0 w 2488259"/>
              <a:gd name="csY4" fmla="*/ 648930 h 648930"/>
            </a:gdLst>
            <a:ahLst/>
            <a:cxnLst>
              <a:cxn ang="0">
                <a:pos x="csX0" y="csY0"/>
              </a:cxn>
              <a:cxn ang="0">
                <a:pos x="csX1" y="csY1"/>
              </a:cxn>
              <a:cxn ang="0">
                <a:pos x="csX2" y="csY2"/>
              </a:cxn>
              <a:cxn ang="0">
                <a:pos x="csX3" y="csY3"/>
              </a:cxn>
              <a:cxn ang="0">
                <a:pos x="csX4" y="csY4"/>
              </a:cxn>
            </a:cxnLst>
            <a:rect l="l" t="t" r="r" b="b"/>
            <a:pathLst>
              <a:path w="2488259" h="648930">
                <a:moveTo>
                  <a:pt x="0" y="648930"/>
                </a:moveTo>
                <a:lnTo>
                  <a:pt x="248265" y="0"/>
                </a:lnTo>
                <a:lnTo>
                  <a:pt x="1846704" y="9833"/>
                </a:lnTo>
                <a:lnTo>
                  <a:pt x="2488259" y="639098"/>
                </a:lnTo>
                <a:lnTo>
                  <a:pt x="0" y="648930"/>
                </a:lnTo>
                <a:close/>
              </a:path>
            </a:pathLst>
          </a:custGeom>
          <a:gradFill flip="none" rotWithShape="1">
            <a:gsLst>
              <a:gs pos="0">
                <a:srgbClr val="00B0F0"/>
              </a:gs>
              <a:gs pos="100000">
                <a:schemeClr val="bg1">
                  <a:alpha val="0"/>
                </a:scheme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tx1"/>
              </a:solidFill>
            </a:endParaRPr>
          </a:p>
        </p:txBody>
      </p:sp>
    </p:spTree>
    <p:extLst>
      <p:ext uri="{BB962C8B-B14F-4D97-AF65-F5344CB8AC3E}">
        <p14:creationId xmlns:p14="http://schemas.microsoft.com/office/powerpoint/2010/main" val="9468667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B62A5-3375-DD6F-B2F4-5601C332E4C4}"/>
              </a:ext>
            </a:extLst>
          </p:cNvPr>
          <p:cNvSpPr>
            <a:spLocks noGrp="1"/>
          </p:cNvSpPr>
          <p:nvPr>
            <p:ph type="title"/>
          </p:nvPr>
        </p:nvSpPr>
        <p:spPr>
          <a:xfrm>
            <a:off x="792000" y="360000"/>
            <a:ext cx="6375921" cy="429413"/>
          </a:xfrm>
        </p:spPr>
        <p:txBody>
          <a:bodyPr/>
          <a:lstStyle/>
          <a:p>
            <a:r>
              <a:rPr lang="en-US" altLang="zh-CN"/>
              <a:t>2.1 </a:t>
            </a:r>
            <a:r>
              <a:rPr lang="zh-CN" altLang="en-US"/>
              <a:t>项目评估</a:t>
            </a:r>
          </a:p>
        </p:txBody>
      </p:sp>
      <p:sp>
        <p:nvSpPr>
          <p:cNvPr id="3" name="Content Placeholder 2">
            <a:extLst>
              <a:ext uri="{FF2B5EF4-FFF2-40B4-BE49-F238E27FC236}">
                <a16:creationId xmlns:a16="http://schemas.microsoft.com/office/drawing/2014/main" id="{D4F0DEA7-43F7-9A91-D074-8C00F888D470}"/>
              </a:ext>
            </a:extLst>
          </p:cNvPr>
          <p:cNvSpPr>
            <a:spLocks noGrp="1"/>
          </p:cNvSpPr>
          <p:nvPr>
            <p:ph idx="1"/>
          </p:nvPr>
        </p:nvSpPr>
        <p:spPr>
          <a:xfrm>
            <a:off x="696000" y="864000"/>
            <a:ext cx="10800000" cy="5400000"/>
          </a:xfrm>
        </p:spPr>
        <p:txBody>
          <a:bodyPr/>
          <a:lstStyle/>
          <a:p>
            <a:r>
              <a:rPr lang="zh-CN" altLang="en-US"/>
              <a:t>项目启动</a:t>
            </a:r>
            <a:endParaRPr lang="en-US" altLang="zh-CN"/>
          </a:p>
          <a:p>
            <a:r>
              <a:rPr lang="zh-CN" altLang="en-US"/>
              <a:t>项目可行性分析</a:t>
            </a:r>
            <a:endParaRPr lang="en-US" altLang="zh-CN"/>
          </a:p>
          <a:p>
            <a:r>
              <a:rPr lang="zh-CN" altLang="en-US"/>
              <a:t>项目经济性分析</a:t>
            </a:r>
            <a:endParaRPr lang="en-US" altLang="zh-CN"/>
          </a:p>
          <a:p>
            <a:r>
              <a:rPr lang="zh-CN" altLang="en-US"/>
              <a:t>目的</a:t>
            </a:r>
            <a:endParaRPr lang="en-US" altLang="zh-CN"/>
          </a:p>
          <a:p>
            <a:pPr lvl="1"/>
            <a:r>
              <a:rPr lang="zh-CN" altLang="en-US"/>
              <a:t>初步判断项目的可行性、必要性、资源需求等。</a:t>
            </a:r>
          </a:p>
          <a:p>
            <a:pPr lvl="1"/>
            <a:r>
              <a:rPr lang="zh-CN" altLang="en-US"/>
              <a:t>属于前期调研</a:t>
            </a:r>
            <a:r>
              <a:rPr lang="en-US" altLang="zh-CN"/>
              <a:t>/</a:t>
            </a:r>
            <a:r>
              <a:rPr lang="zh-CN" altLang="en-US"/>
              <a:t>预研性质</a:t>
            </a:r>
            <a:endParaRPr lang="en-US" altLang="zh-CN"/>
          </a:p>
          <a:p>
            <a:r>
              <a:rPr lang="zh-CN" altLang="en-US"/>
              <a:t>输出</a:t>
            </a:r>
            <a:endParaRPr lang="en-US" altLang="zh-CN"/>
          </a:p>
          <a:p>
            <a:pPr lvl="1"/>
            <a:r>
              <a:rPr lang="zh-CN" altLang="en-US"/>
              <a:t>项目评估报告</a:t>
            </a:r>
          </a:p>
          <a:p>
            <a:endParaRPr lang="zh-CN" altLang="en-US"/>
          </a:p>
        </p:txBody>
      </p:sp>
      <p:sp>
        <p:nvSpPr>
          <p:cNvPr id="27" name="文本占位符 26">
            <a:extLst>
              <a:ext uri="{FF2B5EF4-FFF2-40B4-BE49-F238E27FC236}">
                <a16:creationId xmlns:a16="http://schemas.microsoft.com/office/drawing/2014/main" id="{72697BBD-C82C-BAED-50D5-52577C5BBB47}"/>
              </a:ext>
            </a:extLst>
          </p:cNvPr>
          <p:cNvSpPr>
            <a:spLocks noGrp="1"/>
          </p:cNvSpPr>
          <p:nvPr>
            <p:ph type="body" sz="quarter" idx="10"/>
          </p:nvPr>
        </p:nvSpPr>
        <p:spPr>
          <a:xfrm>
            <a:off x="7071919" y="448519"/>
            <a:ext cx="4424080" cy="338554"/>
          </a:xfrm>
        </p:spPr>
        <p:txBody>
          <a:bodyPr/>
          <a:lstStyle/>
          <a:p>
            <a:r>
              <a:rPr lang="en-US" altLang="zh-CN"/>
              <a:t>Evaluation</a:t>
            </a:r>
            <a:endParaRPr lang="zh-CN" altLang="en-US"/>
          </a:p>
        </p:txBody>
      </p:sp>
    </p:spTree>
    <p:extLst>
      <p:ext uri="{BB962C8B-B14F-4D97-AF65-F5344CB8AC3E}">
        <p14:creationId xmlns:p14="http://schemas.microsoft.com/office/powerpoint/2010/main" val="17369705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A985C-5701-DA71-3FF1-21746A5FC5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CFC156-DE25-A965-0F6A-05B5F38537CC}"/>
              </a:ext>
            </a:extLst>
          </p:cNvPr>
          <p:cNvSpPr>
            <a:spLocks noGrp="1"/>
          </p:cNvSpPr>
          <p:nvPr>
            <p:ph type="title"/>
          </p:nvPr>
        </p:nvSpPr>
        <p:spPr>
          <a:xfrm>
            <a:off x="792000" y="360000"/>
            <a:ext cx="6375921" cy="429413"/>
          </a:xfrm>
        </p:spPr>
        <p:txBody>
          <a:bodyPr/>
          <a:lstStyle/>
          <a:p>
            <a:r>
              <a:rPr lang="en-US" altLang="zh-CN"/>
              <a:t>2.1.1 </a:t>
            </a:r>
            <a:r>
              <a:rPr lang="zh-CN" altLang="en-US"/>
              <a:t>净现金值</a:t>
            </a:r>
          </a:p>
        </p:txBody>
      </p:sp>
      <p:sp>
        <p:nvSpPr>
          <p:cNvPr id="3" name="Content Placeholder 2">
            <a:extLst>
              <a:ext uri="{FF2B5EF4-FFF2-40B4-BE49-F238E27FC236}">
                <a16:creationId xmlns:a16="http://schemas.microsoft.com/office/drawing/2014/main" id="{5823E337-A878-85CD-4237-73989F71443B}"/>
              </a:ext>
            </a:extLst>
          </p:cNvPr>
          <p:cNvSpPr>
            <a:spLocks noGrp="1"/>
          </p:cNvSpPr>
          <p:nvPr>
            <p:ph idx="1"/>
          </p:nvPr>
        </p:nvSpPr>
        <p:spPr>
          <a:xfrm>
            <a:off x="696000" y="864000"/>
            <a:ext cx="10800000" cy="5400000"/>
          </a:xfrm>
        </p:spPr>
        <p:txBody>
          <a:bodyPr/>
          <a:lstStyle/>
          <a:p>
            <a:r>
              <a:rPr lang="en-US" altLang="zh-CN" err="1"/>
              <a:t>Inputt</a:t>
            </a:r>
            <a:r>
              <a:rPr lang="zh-CN" altLang="en-US"/>
              <a:t>：第</a:t>
            </a:r>
            <a:r>
              <a:rPr lang="en-US" altLang="zh-CN"/>
              <a:t>t</a:t>
            </a:r>
            <a:r>
              <a:rPr lang="zh-CN" altLang="en-US"/>
              <a:t>年的现金流入量</a:t>
            </a:r>
            <a:endParaRPr lang="en-US" altLang="zh-CN"/>
          </a:p>
          <a:p>
            <a:r>
              <a:rPr lang="en-US" altLang="zh-CN" err="1"/>
              <a:t>Outputt</a:t>
            </a:r>
            <a:r>
              <a:rPr lang="zh-CN" altLang="en-US"/>
              <a:t>：第</a:t>
            </a:r>
            <a:r>
              <a:rPr lang="en-US" altLang="zh-CN"/>
              <a:t>t</a:t>
            </a:r>
            <a:r>
              <a:rPr lang="zh-CN" altLang="en-US"/>
              <a:t>年的现金流出量</a:t>
            </a:r>
            <a:endParaRPr lang="en-US" altLang="zh-CN"/>
          </a:p>
          <a:p>
            <a:r>
              <a:rPr lang="en-US" altLang="zh-CN" err="1"/>
              <a:t>CFt</a:t>
            </a:r>
            <a:r>
              <a:rPr lang="zh-CN" altLang="en-US"/>
              <a:t>：</a:t>
            </a:r>
            <a:r>
              <a:rPr lang="en-US" altLang="zh-CN"/>
              <a:t>Current Flow at time t</a:t>
            </a:r>
            <a:r>
              <a:rPr lang="zh-CN" altLang="en-US"/>
              <a:t>，当前净现金流 </a:t>
            </a:r>
            <a:r>
              <a:rPr lang="en-US" altLang="zh-CN"/>
              <a:t>= It - Ot</a:t>
            </a:r>
          </a:p>
          <a:p>
            <a:r>
              <a:rPr lang="en-US" altLang="zh-CN"/>
              <a:t>r</a:t>
            </a:r>
            <a:r>
              <a:rPr lang="zh-CN" altLang="en-US"/>
              <a:t>：贴现率</a:t>
            </a:r>
            <a:endParaRPr lang="en-US" altLang="zh-CN"/>
          </a:p>
          <a:p>
            <a:r>
              <a:rPr lang="en-US" altLang="zh-CN"/>
              <a:t>NPV</a:t>
            </a:r>
            <a:r>
              <a:rPr lang="zh-CN" altLang="en-US"/>
              <a:t>：</a:t>
            </a:r>
            <a:r>
              <a:rPr lang="en-US" altLang="zh-CN"/>
              <a:t>Net Present Value</a:t>
            </a:r>
            <a:r>
              <a:rPr lang="zh-CN" altLang="en-US"/>
              <a:t>，净现金值</a:t>
            </a:r>
            <a:endParaRPr lang="en-US" altLang="zh-CN"/>
          </a:p>
          <a:p>
            <a:endParaRPr lang="zh-CN" altLang="en-US"/>
          </a:p>
          <a:p>
            <a:endParaRPr lang="zh-CN" altLang="en-US"/>
          </a:p>
        </p:txBody>
      </p:sp>
      <p:sp>
        <p:nvSpPr>
          <p:cNvPr id="15" name="文本占位符 14">
            <a:extLst>
              <a:ext uri="{FF2B5EF4-FFF2-40B4-BE49-F238E27FC236}">
                <a16:creationId xmlns:a16="http://schemas.microsoft.com/office/drawing/2014/main" id="{94E07A77-CE22-02AB-05A2-1FC29A17C5BE}"/>
              </a:ext>
            </a:extLst>
          </p:cNvPr>
          <p:cNvSpPr>
            <a:spLocks noGrp="1"/>
          </p:cNvSpPr>
          <p:nvPr>
            <p:ph type="body" sz="quarter" idx="10"/>
          </p:nvPr>
        </p:nvSpPr>
        <p:spPr>
          <a:xfrm>
            <a:off x="7071919" y="448519"/>
            <a:ext cx="4424080" cy="338554"/>
          </a:xfrm>
        </p:spPr>
        <p:txBody>
          <a:bodyPr/>
          <a:lstStyle/>
          <a:p>
            <a:r>
              <a:rPr lang="en-US" altLang="zh-CN"/>
              <a:t>NPV</a:t>
            </a:r>
            <a:endParaRPr lang="zh-CN" altLang="en-US"/>
          </a:p>
        </p:txBody>
      </p:sp>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63677D6A-F391-A4E6-D9FC-7E5173BB4605}"/>
                  </a:ext>
                </a:extLst>
              </p:cNvPr>
              <p:cNvSpPr txBox="1"/>
              <p:nvPr/>
            </p:nvSpPr>
            <p:spPr>
              <a:xfrm>
                <a:off x="5073637" y="2977374"/>
                <a:ext cx="2044727" cy="75642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bg1"/>
                          </a:solidFill>
                          <a:latin typeface="Cambria Math" panose="02040503050406030204" pitchFamily="18" charset="0"/>
                        </a:rPr>
                        <m:t>𝑁𝑃𝑉</m:t>
                      </m:r>
                      <m:r>
                        <a:rPr lang="en-US" altLang="zh-CN" b="0" i="1" smtClean="0">
                          <a:solidFill>
                            <a:schemeClr val="bg1"/>
                          </a:solidFill>
                          <a:latin typeface="Cambria Math" panose="02040503050406030204" pitchFamily="18" charset="0"/>
                        </a:rPr>
                        <m:t>=</m:t>
                      </m:r>
                      <m:nary>
                        <m:naryPr>
                          <m:chr m:val="∑"/>
                          <m:ctrlPr>
                            <a:rPr lang="en-US" altLang="zh-CN" b="0" i="1" smtClean="0">
                              <a:solidFill>
                                <a:schemeClr val="bg1"/>
                              </a:solidFill>
                              <a:latin typeface="Cambria Math" panose="02040503050406030204" pitchFamily="18" charset="0"/>
                            </a:rPr>
                          </m:ctrlPr>
                        </m:naryPr>
                        <m:sub>
                          <m:r>
                            <m:rPr>
                              <m:brk m:alnAt="23"/>
                            </m:rPr>
                            <a:rPr lang="en-US" altLang="zh-CN" b="0" i="1" smtClean="0">
                              <a:solidFill>
                                <a:schemeClr val="bg1"/>
                              </a:solidFill>
                              <a:latin typeface="Cambria Math" panose="02040503050406030204" pitchFamily="18" charset="0"/>
                            </a:rPr>
                            <m:t>𝑡</m:t>
                          </m:r>
                          <m:r>
                            <a:rPr lang="en-US" altLang="zh-CN" b="0" i="1" smtClean="0">
                              <a:solidFill>
                                <a:schemeClr val="bg1"/>
                              </a:solidFill>
                              <a:latin typeface="Cambria Math" panose="02040503050406030204" pitchFamily="18" charset="0"/>
                            </a:rPr>
                            <m:t>=0</m:t>
                          </m:r>
                        </m:sub>
                        <m:sup>
                          <m:r>
                            <a:rPr lang="en-US" altLang="zh-CN" b="0" i="1" smtClean="0">
                              <a:solidFill>
                                <a:schemeClr val="bg1"/>
                              </a:solidFill>
                              <a:latin typeface="Cambria Math" panose="02040503050406030204" pitchFamily="18" charset="0"/>
                            </a:rPr>
                            <m:t>𝑛</m:t>
                          </m:r>
                        </m:sup>
                        <m:e>
                          <m:f>
                            <m:fPr>
                              <m:ctrlPr>
                                <a:rPr lang="en-US" altLang="zh-CN" b="0" i="1" smtClean="0">
                                  <a:solidFill>
                                    <a:schemeClr val="bg1"/>
                                  </a:solidFill>
                                  <a:latin typeface="Cambria Math" panose="02040503050406030204" pitchFamily="18" charset="0"/>
                                </a:rPr>
                              </m:ctrlPr>
                            </m:fPr>
                            <m:num>
                              <m:r>
                                <a:rPr lang="en-US" altLang="zh-CN" b="0" i="1" smtClean="0">
                                  <a:solidFill>
                                    <a:schemeClr val="bg1"/>
                                  </a:solidFill>
                                  <a:latin typeface="Cambria Math" panose="02040503050406030204" pitchFamily="18" charset="0"/>
                                </a:rPr>
                                <m:t>𝐶</m:t>
                              </m:r>
                              <m:sSub>
                                <m:sSubPr>
                                  <m:ctrlPr>
                                    <a:rPr lang="en-US" altLang="zh-CN" b="0" i="1" smtClean="0">
                                      <a:solidFill>
                                        <a:schemeClr val="bg1"/>
                                      </a:solidFill>
                                      <a:latin typeface="Cambria Math" panose="02040503050406030204" pitchFamily="18" charset="0"/>
                                    </a:rPr>
                                  </m:ctrlPr>
                                </m:sSubPr>
                                <m:e>
                                  <m:r>
                                    <a:rPr lang="en-US" altLang="zh-CN" b="0" i="1" smtClean="0">
                                      <a:solidFill>
                                        <a:schemeClr val="bg1"/>
                                      </a:solidFill>
                                      <a:latin typeface="Cambria Math" panose="02040503050406030204" pitchFamily="18" charset="0"/>
                                    </a:rPr>
                                    <m:t>𝐹</m:t>
                                  </m:r>
                                </m:e>
                                <m:sub>
                                  <m:r>
                                    <a:rPr lang="en-US" altLang="zh-CN" b="0" i="1" smtClean="0">
                                      <a:solidFill>
                                        <a:schemeClr val="bg1"/>
                                      </a:solidFill>
                                      <a:latin typeface="Cambria Math" panose="02040503050406030204" pitchFamily="18" charset="0"/>
                                    </a:rPr>
                                    <m:t>𝑡</m:t>
                                  </m:r>
                                </m:sub>
                              </m:sSub>
                            </m:num>
                            <m:den>
                              <m:sSup>
                                <m:sSupPr>
                                  <m:ctrlPr>
                                    <a:rPr lang="en-US" altLang="zh-CN" b="0" i="1" smtClean="0">
                                      <a:solidFill>
                                        <a:schemeClr val="bg1"/>
                                      </a:solidFill>
                                      <a:latin typeface="Cambria Math" panose="02040503050406030204" pitchFamily="18" charset="0"/>
                                    </a:rPr>
                                  </m:ctrlPr>
                                </m:sSupPr>
                                <m:e>
                                  <m:r>
                                    <a:rPr lang="en-US" altLang="zh-CN" b="0" i="1" smtClean="0">
                                      <a:solidFill>
                                        <a:schemeClr val="bg1"/>
                                      </a:solidFill>
                                      <a:latin typeface="Cambria Math" panose="02040503050406030204" pitchFamily="18" charset="0"/>
                                    </a:rPr>
                                    <m:t>(1+</m:t>
                                  </m:r>
                                  <m:r>
                                    <a:rPr lang="en-US" altLang="zh-CN" b="0" i="1" smtClean="0">
                                      <a:solidFill>
                                        <a:schemeClr val="bg1"/>
                                      </a:solidFill>
                                      <a:latin typeface="Cambria Math" panose="02040503050406030204" pitchFamily="18" charset="0"/>
                                    </a:rPr>
                                    <m:t>𝑟</m:t>
                                  </m:r>
                                  <m:r>
                                    <a:rPr lang="en-US" altLang="zh-CN" b="0" i="1" smtClean="0">
                                      <a:solidFill>
                                        <a:schemeClr val="bg1"/>
                                      </a:solidFill>
                                      <a:latin typeface="Cambria Math" panose="02040503050406030204" pitchFamily="18" charset="0"/>
                                    </a:rPr>
                                    <m:t>)</m:t>
                                  </m:r>
                                </m:e>
                                <m:sup>
                                  <m:r>
                                    <a:rPr lang="en-US" altLang="zh-CN" b="0" i="1" smtClean="0">
                                      <a:solidFill>
                                        <a:schemeClr val="bg1"/>
                                      </a:solidFill>
                                      <a:latin typeface="Cambria Math" panose="02040503050406030204" pitchFamily="18" charset="0"/>
                                    </a:rPr>
                                    <m:t>𝑡</m:t>
                                  </m:r>
                                </m:sup>
                              </m:sSup>
                            </m:den>
                          </m:f>
                        </m:e>
                      </m:nary>
                    </m:oMath>
                  </m:oMathPara>
                </a14:m>
                <a:endParaRPr lang="zh-CN" altLang="en-US">
                  <a:solidFill>
                    <a:schemeClr val="bg1"/>
                  </a:solidFill>
                </a:endParaRPr>
              </a:p>
            </p:txBody>
          </p:sp>
        </mc:Choice>
        <mc:Fallback xmlns="">
          <p:sp>
            <p:nvSpPr>
              <p:cNvPr id="28" name="文本框 27">
                <a:extLst>
                  <a:ext uri="{FF2B5EF4-FFF2-40B4-BE49-F238E27FC236}">
                    <a16:creationId xmlns:a16="http://schemas.microsoft.com/office/drawing/2014/main" id="{63677D6A-F391-A4E6-D9FC-7E5173BB4605}"/>
                  </a:ext>
                </a:extLst>
              </p:cNvPr>
              <p:cNvSpPr txBox="1">
                <a:spLocks noRot="1" noChangeAspect="1" noMove="1" noResize="1" noEditPoints="1" noAdjustHandles="1" noChangeArrowheads="1" noChangeShapeType="1" noTextEdit="1"/>
              </p:cNvSpPr>
              <p:nvPr/>
            </p:nvSpPr>
            <p:spPr>
              <a:xfrm>
                <a:off x="5073637" y="2977374"/>
                <a:ext cx="2044727" cy="756426"/>
              </a:xfrm>
              <a:prstGeom prst="rect">
                <a:avLst/>
              </a:prstGeo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551052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A985C-5701-DA71-3FF1-21746A5FC5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CFC156-DE25-A965-0F6A-05B5F38537CC}"/>
              </a:ext>
            </a:extLst>
          </p:cNvPr>
          <p:cNvSpPr>
            <a:spLocks noGrp="1"/>
          </p:cNvSpPr>
          <p:nvPr>
            <p:ph type="title"/>
          </p:nvPr>
        </p:nvSpPr>
        <p:spPr>
          <a:xfrm>
            <a:off x="792000" y="360000"/>
            <a:ext cx="6375921" cy="429413"/>
          </a:xfrm>
        </p:spPr>
        <p:txBody>
          <a:bodyPr/>
          <a:lstStyle/>
          <a:p>
            <a:r>
              <a:rPr lang="en-US" altLang="zh-CN"/>
              <a:t>2.1.1 </a:t>
            </a:r>
            <a:r>
              <a:rPr lang="zh-CN" altLang="en-US"/>
              <a:t>净现金值</a:t>
            </a:r>
          </a:p>
        </p:txBody>
      </p:sp>
      <p:sp>
        <p:nvSpPr>
          <p:cNvPr id="3" name="Content Placeholder 2">
            <a:extLst>
              <a:ext uri="{FF2B5EF4-FFF2-40B4-BE49-F238E27FC236}">
                <a16:creationId xmlns:a16="http://schemas.microsoft.com/office/drawing/2014/main" id="{5823E337-A878-85CD-4237-73989F71443B}"/>
              </a:ext>
            </a:extLst>
          </p:cNvPr>
          <p:cNvSpPr>
            <a:spLocks noGrp="1"/>
          </p:cNvSpPr>
          <p:nvPr>
            <p:ph idx="1"/>
          </p:nvPr>
        </p:nvSpPr>
        <p:spPr>
          <a:xfrm>
            <a:off x="696000" y="864000"/>
            <a:ext cx="10800000" cy="5400000"/>
          </a:xfrm>
        </p:spPr>
        <p:txBody>
          <a:bodyPr/>
          <a:lstStyle/>
          <a:p>
            <a:r>
              <a:rPr lang="zh-CN" altLang="en-US" dirty="0"/>
              <a:t>例</a:t>
            </a:r>
            <a:r>
              <a:rPr lang="en-US" altLang="zh-CN" dirty="0"/>
              <a:t>1. </a:t>
            </a:r>
            <a:r>
              <a:rPr lang="zh-CN" altLang="en-US" dirty="0"/>
              <a:t>某软件公司准备投标某项目，估计成本是</a:t>
            </a:r>
            <a:r>
              <a:rPr lang="en-US" altLang="zh-CN" dirty="0"/>
              <a:t>75.95</a:t>
            </a:r>
            <a:r>
              <a:rPr lang="zh-CN" altLang="en-US" dirty="0"/>
              <a:t>万，项目的合同金额</a:t>
            </a:r>
            <a:r>
              <a:rPr lang="en-US" altLang="zh-CN" dirty="0"/>
              <a:t>100</a:t>
            </a:r>
            <a:r>
              <a:rPr lang="zh-CN" altLang="en-US" dirty="0"/>
              <a:t>万，分</a:t>
            </a:r>
            <a:r>
              <a:rPr lang="en-US" altLang="zh-CN" dirty="0"/>
              <a:t>2</a:t>
            </a:r>
            <a:r>
              <a:rPr lang="zh-CN" altLang="en-US" dirty="0"/>
              <a:t>次支付，项目开始支付</a:t>
            </a:r>
            <a:r>
              <a:rPr lang="en-US" altLang="zh-CN" dirty="0"/>
              <a:t>50</a:t>
            </a:r>
            <a:r>
              <a:rPr lang="zh-CN" altLang="en-US" dirty="0"/>
              <a:t>万，项目结束</a:t>
            </a:r>
            <a:r>
              <a:rPr lang="en-US" altLang="zh-CN" dirty="0"/>
              <a:t>50</a:t>
            </a:r>
            <a:r>
              <a:rPr lang="zh-CN" altLang="en-US" dirty="0"/>
              <a:t>万，项目周期</a:t>
            </a:r>
            <a:r>
              <a:rPr lang="en-US" altLang="zh-CN" dirty="0"/>
              <a:t>2</a:t>
            </a:r>
            <a:r>
              <a:rPr lang="zh-CN" altLang="en-US" dirty="0"/>
              <a:t>年，贴现率为</a:t>
            </a:r>
            <a:r>
              <a:rPr lang="en-US" altLang="zh-CN" dirty="0"/>
              <a:t>8%</a:t>
            </a:r>
            <a:r>
              <a:rPr lang="zh-CN" altLang="en-US" dirty="0"/>
              <a:t>，请计算</a:t>
            </a:r>
            <a:r>
              <a:rPr lang="en-US" altLang="zh-CN" dirty="0"/>
              <a:t>NPV</a:t>
            </a:r>
            <a:r>
              <a:rPr lang="zh-CN" altLang="en-US" dirty="0"/>
              <a:t>。</a:t>
            </a:r>
            <a:endParaRPr lang="en-US" altLang="zh-CN" dirty="0"/>
          </a:p>
          <a:p>
            <a:endParaRPr lang="zh-CN" altLang="en-US" dirty="0"/>
          </a:p>
        </p:txBody>
      </p:sp>
      <p:sp>
        <p:nvSpPr>
          <p:cNvPr id="6" name="文本占位符 5">
            <a:extLst>
              <a:ext uri="{FF2B5EF4-FFF2-40B4-BE49-F238E27FC236}">
                <a16:creationId xmlns:a16="http://schemas.microsoft.com/office/drawing/2014/main" id="{92982456-E000-142B-2367-6F097C383F13}"/>
              </a:ext>
            </a:extLst>
          </p:cNvPr>
          <p:cNvSpPr>
            <a:spLocks noGrp="1"/>
          </p:cNvSpPr>
          <p:nvPr>
            <p:ph type="body" sz="quarter" idx="10"/>
          </p:nvPr>
        </p:nvSpPr>
        <p:spPr>
          <a:xfrm>
            <a:off x="7071919" y="448519"/>
            <a:ext cx="4424080" cy="338554"/>
          </a:xfrm>
        </p:spPr>
        <p:txBody>
          <a:bodyPr/>
          <a:lstStyle/>
          <a:p>
            <a:r>
              <a:rPr lang="en-US" altLang="zh-CN"/>
              <a:t>NPV</a:t>
            </a:r>
            <a:endParaRPr lang="zh-CN" altLang="en-US"/>
          </a:p>
        </p:txBody>
      </p:sp>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63677D6A-F391-A4E6-D9FC-7E5173BB4605}"/>
                  </a:ext>
                </a:extLst>
              </p:cNvPr>
              <p:cNvSpPr txBox="1"/>
              <p:nvPr/>
            </p:nvSpPr>
            <p:spPr>
              <a:xfrm>
                <a:off x="1281112" y="4510899"/>
                <a:ext cx="4777462" cy="75642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𝑁𝑃𝑉</m:t>
                      </m:r>
                      <m:r>
                        <a:rPr lang="en-US" altLang="zh-CN" i="1">
                          <a:latin typeface="Cambria Math" panose="02040503050406030204" pitchFamily="18" charset="0"/>
                        </a:rPr>
                        <m:t>=</m:t>
                      </m:r>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𝑡</m:t>
                          </m:r>
                          <m:r>
                            <a:rPr lang="en-US" altLang="zh-CN" i="1">
                              <a:latin typeface="Cambria Math" panose="02040503050406030204" pitchFamily="18" charset="0"/>
                            </a:rPr>
                            <m:t>=0</m:t>
                          </m:r>
                        </m:sub>
                        <m:sup>
                          <m:r>
                            <a:rPr lang="en-US" altLang="zh-CN" i="1">
                              <a:latin typeface="Cambria Math" panose="02040503050406030204" pitchFamily="18" charset="0"/>
                            </a:rPr>
                            <m:t>𝑛</m:t>
                          </m:r>
                        </m:sup>
                        <m:e>
                          <m:f>
                            <m:fPr>
                              <m:ctrlPr>
                                <a:rPr lang="en-US" altLang="zh-CN" i="1">
                                  <a:latin typeface="Cambria Math" panose="02040503050406030204" pitchFamily="18" charset="0"/>
                                </a:rPr>
                              </m:ctrlPr>
                            </m:fPr>
                            <m:num>
                              <m:r>
                                <a:rPr lang="en-US" altLang="zh-CN" i="1">
                                  <a:latin typeface="Cambria Math" panose="02040503050406030204" pitchFamily="18" charset="0"/>
                                </a:rPr>
                                <m:t>𝐶</m:t>
                              </m:r>
                              <m:sSub>
                                <m:sSubPr>
                                  <m:ctrlPr>
                                    <a:rPr lang="en-US" altLang="zh-CN" i="1">
                                      <a:latin typeface="Cambria Math" panose="02040503050406030204" pitchFamily="18" charset="0"/>
                                    </a:rPr>
                                  </m:ctrlPr>
                                </m:sSubPr>
                                <m:e>
                                  <m:r>
                                    <a:rPr lang="en-US" altLang="zh-CN" i="1">
                                      <a:latin typeface="Cambria Math" panose="02040503050406030204" pitchFamily="18" charset="0"/>
                                    </a:rPr>
                                    <m:t>𝐹</m:t>
                                  </m:r>
                                </m:e>
                                <m:sub>
                                  <m:r>
                                    <a:rPr lang="en-US" altLang="zh-CN" i="1">
                                      <a:latin typeface="Cambria Math" panose="02040503050406030204" pitchFamily="18" charset="0"/>
                                    </a:rPr>
                                    <m:t>𝑡</m:t>
                                  </m:r>
                                </m:sub>
                              </m:sSub>
                            </m:num>
                            <m:den>
                              <m:sSup>
                                <m:sSupPr>
                                  <m:ctrlPr>
                                    <a:rPr lang="en-US" altLang="zh-CN" i="1">
                                      <a:latin typeface="Cambria Math" panose="02040503050406030204" pitchFamily="18" charset="0"/>
                                    </a:rPr>
                                  </m:ctrlPr>
                                </m:sSupPr>
                                <m:e>
                                  <m:r>
                                    <a:rPr lang="en-US" altLang="zh-CN" i="1">
                                      <a:latin typeface="Cambria Math" panose="02040503050406030204" pitchFamily="18" charset="0"/>
                                    </a:rPr>
                                    <m:t>(1+</m:t>
                                  </m:r>
                                  <m:r>
                                    <a:rPr lang="en-US" altLang="zh-CN" i="1">
                                      <a:latin typeface="Cambria Math" panose="02040503050406030204" pitchFamily="18" charset="0"/>
                                    </a:rPr>
                                    <m:t>𝑟</m:t>
                                  </m:r>
                                  <m:r>
                                    <a:rPr lang="en-US" altLang="zh-CN" i="1">
                                      <a:latin typeface="Cambria Math" panose="02040503050406030204" pitchFamily="18" charset="0"/>
                                    </a:rPr>
                                    <m:t>)</m:t>
                                  </m:r>
                                </m:e>
                                <m:sup>
                                  <m:r>
                                    <a:rPr lang="en-US" altLang="zh-CN" i="1">
                                      <a:latin typeface="Cambria Math" panose="02040503050406030204" pitchFamily="18" charset="0"/>
                                    </a:rPr>
                                    <m:t>𝑡</m:t>
                                  </m:r>
                                </m:sup>
                              </m:sSup>
                            </m:den>
                          </m:f>
                          <m:r>
                            <a:rPr lang="en-US" altLang="zh-CN" i="1">
                              <a:latin typeface="Cambria Math" panose="02040503050406030204" pitchFamily="18" charset="0"/>
                            </a:rPr>
                            <m:t>=−25.95+0+</m:t>
                          </m:r>
                          <m:f>
                            <m:fPr>
                              <m:ctrlPr>
                                <a:rPr lang="en-US" altLang="zh-CN" i="1">
                                  <a:latin typeface="Cambria Math" panose="02040503050406030204" pitchFamily="18" charset="0"/>
                                </a:rPr>
                              </m:ctrlPr>
                            </m:fPr>
                            <m:num>
                              <m:r>
                                <a:rPr lang="en-US" altLang="zh-CN" i="1">
                                  <a:latin typeface="Cambria Math" panose="02040503050406030204" pitchFamily="18" charset="0"/>
                                </a:rPr>
                                <m:t>50</m:t>
                              </m:r>
                            </m:num>
                            <m:den>
                              <m:sSup>
                                <m:sSupPr>
                                  <m:ctrlPr>
                                    <a:rPr lang="en-US" altLang="zh-CN" i="1">
                                      <a:latin typeface="Cambria Math" panose="02040503050406030204" pitchFamily="18" charset="0"/>
                                    </a:rPr>
                                  </m:ctrlPr>
                                </m:sSupPr>
                                <m:e>
                                  <m:r>
                                    <a:rPr lang="en-US" altLang="zh-CN" i="1">
                                      <a:latin typeface="Cambria Math" panose="02040503050406030204" pitchFamily="18" charset="0"/>
                                    </a:rPr>
                                    <m:t>(1+8%)</m:t>
                                  </m:r>
                                </m:e>
                                <m:sup>
                                  <m:r>
                                    <a:rPr lang="en-US" altLang="zh-CN" i="1">
                                      <a:latin typeface="Cambria Math" panose="02040503050406030204" pitchFamily="18" charset="0"/>
                                    </a:rPr>
                                    <m:t>2</m:t>
                                  </m:r>
                                </m:sup>
                              </m:sSup>
                            </m:den>
                          </m:f>
                        </m:e>
                      </m:nary>
                    </m:oMath>
                  </m:oMathPara>
                </a14:m>
                <a:endParaRPr lang="zh-CN" altLang="en-US" dirty="0"/>
              </a:p>
            </p:txBody>
          </p:sp>
        </mc:Choice>
        <mc:Fallback xmlns="">
          <p:sp>
            <p:nvSpPr>
              <p:cNvPr id="28" name="文本框 27">
                <a:extLst>
                  <a:ext uri="{FF2B5EF4-FFF2-40B4-BE49-F238E27FC236}">
                    <a16:creationId xmlns:a16="http://schemas.microsoft.com/office/drawing/2014/main" id="{63677D6A-F391-A4E6-D9FC-7E5173BB4605}"/>
                  </a:ext>
                </a:extLst>
              </p:cNvPr>
              <p:cNvSpPr txBox="1">
                <a:spLocks noRot="1" noChangeAspect="1" noMove="1" noResize="1" noEditPoints="1" noAdjustHandles="1" noChangeArrowheads="1" noChangeShapeType="1" noTextEdit="1"/>
              </p:cNvSpPr>
              <p:nvPr/>
            </p:nvSpPr>
            <p:spPr>
              <a:xfrm>
                <a:off x="1281112" y="4510899"/>
                <a:ext cx="4777462" cy="756426"/>
              </a:xfrm>
              <a:prstGeom prst="rect">
                <a:avLst/>
              </a:prstGeom>
              <a:blipFill>
                <a:blip r:embed="rId2"/>
                <a:stretch>
                  <a:fillRect/>
                </a:stretch>
              </a:blipFill>
            </p:spPr>
            <p:txBody>
              <a:bodyPr/>
              <a:lstStyle/>
              <a:p>
                <a:r>
                  <a:rPr lang="zh-CN" altLang="en-US">
                    <a:noFill/>
                  </a:rPr>
                  <a:t> </a:t>
                </a:r>
              </a:p>
            </p:txBody>
          </p:sp>
        </mc:Fallback>
      </mc:AlternateContent>
      <p:graphicFrame>
        <p:nvGraphicFramePr>
          <p:cNvPr id="13" name="表格 12">
            <a:extLst>
              <a:ext uri="{FF2B5EF4-FFF2-40B4-BE49-F238E27FC236}">
                <a16:creationId xmlns:a16="http://schemas.microsoft.com/office/drawing/2014/main" id="{00B8DDFF-8BE2-5C65-8A0A-1D7558C492D3}"/>
              </a:ext>
            </a:extLst>
          </p:cNvPr>
          <p:cNvGraphicFramePr>
            <a:graphicFrameLocks noGrp="1"/>
          </p:cNvGraphicFramePr>
          <p:nvPr>
            <p:extLst>
              <p:ext uri="{D42A27DB-BD31-4B8C-83A1-F6EECF244321}">
                <p14:modId xmlns:p14="http://schemas.microsoft.com/office/powerpoint/2010/main" val="2348947296"/>
              </p:ext>
            </p:extLst>
          </p:nvPr>
        </p:nvGraphicFramePr>
        <p:xfrm>
          <a:off x="1281112" y="2235694"/>
          <a:ext cx="9629776" cy="1483360"/>
        </p:xfrm>
        <a:graphic>
          <a:graphicData uri="http://schemas.openxmlformats.org/drawingml/2006/table">
            <a:tbl>
              <a:tblPr firstRow="1" bandRow="1">
                <a:tableStyleId>{2D5ABB26-0587-4C30-8999-92F81FD0307C}</a:tableStyleId>
              </a:tblPr>
              <a:tblGrid>
                <a:gridCol w="675604">
                  <a:extLst>
                    <a:ext uri="{9D8B030D-6E8A-4147-A177-3AD203B41FA5}">
                      <a16:colId xmlns:a16="http://schemas.microsoft.com/office/drawing/2014/main" val="311535220"/>
                    </a:ext>
                  </a:extLst>
                </a:gridCol>
                <a:gridCol w="2238543">
                  <a:extLst>
                    <a:ext uri="{9D8B030D-6E8A-4147-A177-3AD203B41FA5}">
                      <a16:colId xmlns:a16="http://schemas.microsoft.com/office/drawing/2014/main" val="568075132"/>
                    </a:ext>
                  </a:extLst>
                </a:gridCol>
                <a:gridCol w="2238543">
                  <a:extLst>
                    <a:ext uri="{9D8B030D-6E8A-4147-A177-3AD203B41FA5}">
                      <a16:colId xmlns:a16="http://schemas.microsoft.com/office/drawing/2014/main" val="4016926542"/>
                    </a:ext>
                  </a:extLst>
                </a:gridCol>
                <a:gridCol w="2238543">
                  <a:extLst>
                    <a:ext uri="{9D8B030D-6E8A-4147-A177-3AD203B41FA5}">
                      <a16:colId xmlns:a16="http://schemas.microsoft.com/office/drawing/2014/main" val="964501289"/>
                    </a:ext>
                  </a:extLst>
                </a:gridCol>
                <a:gridCol w="2238543">
                  <a:extLst>
                    <a:ext uri="{9D8B030D-6E8A-4147-A177-3AD203B41FA5}">
                      <a16:colId xmlns:a16="http://schemas.microsoft.com/office/drawing/2014/main" val="1942525"/>
                    </a:ext>
                  </a:extLst>
                </a:gridCol>
              </a:tblGrid>
              <a:tr h="370840">
                <a:tc>
                  <a:txBody>
                    <a:bodyPr/>
                    <a:lstStyle/>
                    <a:p>
                      <a:pPr algn="ctr"/>
                      <a:r>
                        <a:rPr lang="en-US" altLang="zh-CN" sz="1400" dirty="0">
                          <a:solidFill>
                            <a:schemeClr val="bg1"/>
                          </a:solidFill>
                        </a:rPr>
                        <a:t>t</a:t>
                      </a:r>
                      <a:endParaRPr lang="zh-CN" altLang="en-US" sz="1400" dirty="0">
                        <a:solidFill>
                          <a:schemeClr val="bg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altLang="zh-CN" sz="1400" dirty="0">
                          <a:solidFill>
                            <a:schemeClr val="bg1"/>
                          </a:solidFill>
                        </a:rPr>
                        <a:t>Input</a:t>
                      </a:r>
                      <a:r>
                        <a:rPr lang="zh-CN" altLang="en-US" sz="1400" dirty="0">
                          <a:solidFill>
                            <a:schemeClr val="bg1"/>
                          </a:solidFill>
                        </a:rPr>
                        <a:t>流入</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altLang="zh-CN" sz="1400" dirty="0">
                          <a:solidFill>
                            <a:schemeClr val="bg1"/>
                          </a:solidFill>
                        </a:rPr>
                        <a:t>Output</a:t>
                      </a:r>
                      <a:r>
                        <a:rPr lang="zh-CN" altLang="en-US" sz="1400" dirty="0">
                          <a:solidFill>
                            <a:schemeClr val="bg1"/>
                          </a:solidFill>
                        </a:rPr>
                        <a:t>流出</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altLang="zh-CN" sz="1400" dirty="0">
                          <a:solidFill>
                            <a:schemeClr val="bg1"/>
                          </a:solidFill>
                        </a:rPr>
                        <a:t>Input-Output</a:t>
                      </a:r>
                      <a:r>
                        <a:rPr lang="zh-CN" altLang="en-US" sz="1400" dirty="0">
                          <a:solidFill>
                            <a:schemeClr val="bg1"/>
                          </a:solidFill>
                        </a:rPr>
                        <a:t>净值</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altLang="zh-CN" sz="1400" dirty="0" err="1">
                          <a:solidFill>
                            <a:schemeClr val="bg1"/>
                          </a:solidFill>
                        </a:rPr>
                        <a:t>NPVt</a:t>
                      </a:r>
                      <a:endParaRPr lang="zh-CN" altLang="en-US" sz="1400" dirty="0">
                        <a:solidFill>
                          <a:schemeClr val="bg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3763449487"/>
                  </a:ext>
                </a:extLst>
              </a:tr>
              <a:tr h="370840">
                <a:tc>
                  <a:txBody>
                    <a:bodyPr/>
                    <a:lstStyle/>
                    <a:p>
                      <a:pPr algn="ctr"/>
                      <a:r>
                        <a:rPr lang="en-US" altLang="zh-CN" sz="1400"/>
                        <a:t>t0</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a:t>50</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a:t>75.95</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a:t>-25.95</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a:t>-25.95</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67430578"/>
                  </a:ext>
                </a:extLst>
              </a:tr>
              <a:tr h="370840">
                <a:tc>
                  <a:txBody>
                    <a:bodyPr/>
                    <a:lstStyle/>
                    <a:p>
                      <a:pPr algn="ctr"/>
                      <a:r>
                        <a:rPr lang="en-US" altLang="zh-CN" sz="1400"/>
                        <a:t>t1</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a:t>0</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a:t>0</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a:t>0</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a:t>0</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24996604"/>
                  </a:ext>
                </a:extLst>
              </a:tr>
              <a:tr h="370840">
                <a:tc>
                  <a:txBody>
                    <a:bodyPr/>
                    <a:lstStyle/>
                    <a:p>
                      <a:pPr algn="ctr"/>
                      <a:r>
                        <a:rPr lang="en-US" altLang="zh-CN" sz="1400"/>
                        <a:t>t2</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a:t>50</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a:t>0</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a:t>50</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dirty="0"/>
                        <a:t>50/(1+8%)2</a:t>
                      </a:r>
                      <a:endParaRPr lang="zh-CN"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71425175"/>
                  </a:ext>
                </a:extLst>
              </a:tr>
            </a:tbl>
          </a:graphicData>
        </a:graphic>
      </p:graphicFrame>
    </p:spTree>
    <p:extLst>
      <p:ext uri="{BB962C8B-B14F-4D97-AF65-F5344CB8AC3E}">
        <p14:creationId xmlns:p14="http://schemas.microsoft.com/office/powerpoint/2010/main" val="25639307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83501-F2AB-3381-DE10-97D084BC69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F44198-205A-5403-B4A3-7170A50E9BD3}"/>
              </a:ext>
            </a:extLst>
          </p:cNvPr>
          <p:cNvSpPr>
            <a:spLocks noGrp="1"/>
          </p:cNvSpPr>
          <p:nvPr>
            <p:ph type="title"/>
          </p:nvPr>
        </p:nvSpPr>
        <p:spPr>
          <a:xfrm>
            <a:off x="792000" y="360000"/>
            <a:ext cx="6375921" cy="429413"/>
          </a:xfrm>
        </p:spPr>
        <p:txBody>
          <a:bodyPr/>
          <a:lstStyle/>
          <a:p>
            <a:r>
              <a:rPr lang="en-US" altLang="zh-CN"/>
              <a:t>2.1.1 </a:t>
            </a:r>
            <a:r>
              <a:rPr lang="zh-CN" altLang="en-US"/>
              <a:t>净现金值</a:t>
            </a:r>
          </a:p>
        </p:txBody>
      </p:sp>
      <p:sp>
        <p:nvSpPr>
          <p:cNvPr id="3" name="Content Placeholder 2">
            <a:extLst>
              <a:ext uri="{FF2B5EF4-FFF2-40B4-BE49-F238E27FC236}">
                <a16:creationId xmlns:a16="http://schemas.microsoft.com/office/drawing/2014/main" id="{1A455E26-0B1B-FC39-FB56-46E4901A5B69}"/>
              </a:ext>
            </a:extLst>
          </p:cNvPr>
          <p:cNvSpPr>
            <a:spLocks noGrp="1"/>
          </p:cNvSpPr>
          <p:nvPr>
            <p:ph idx="1"/>
          </p:nvPr>
        </p:nvSpPr>
        <p:spPr>
          <a:xfrm>
            <a:off x="696000" y="864000"/>
            <a:ext cx="10800000" cy="5400000"/>
          </a:xfrm>
        </p:spPr>
        <p:txBody>
          <a:bodyPr/>
          <a:lstStyle/>
          <a:p>
            <a:r>
              <a:rPr lang="zh-CN" altLang="en-US"/>
              <a:t>例</a:t>
            </a:r>
            <a:r>
              <a:rPr lang="en-US" altLang="zh-CN"/>
              <a:t>2. </a:t>
            </a:r>
            <a:r>
              <a:rPr lang="zh-CN" altLang="en-US"/>
              <a:t>某软件公司准备投标某项目，项目的合同金额</a:t>
            </a:r>
            <a:r>
              <a:rPr lang="en-US" altLang="zh-CN"/>
              <a:t>100</a:t>
            </a:r>
            <a:r>
              <a:rPr lang="zh-CN" altLang="en-US"/>
              <a:t>万，分</a:t>
            </a:r>
            <a:r>
              <a:rPr lang="en-US" altLang="zh-CN"/>
              <a:t>2</a:t>
            </a:r>
            <a:r>
              <a:rPr lang="zh-CN" altLang="en-US"/>
              <a:t>次支付，项目开始支付</a:t>
            </a:r>
            <a:r>
              <a:rPr lang="en-US" altLang="zh-CN"/>
              <a:t>50</a:t>
            </a:r>
            <a:r>
              <a:rPr lang="zh-CN" altLang="en-US"/>
              <a:t>万，项目结束</a:t>
            </a:r>
            <a:r>
              <a:rPr lang="en-US" altLang="zh-CN"/>
              <a:t>50</a:t>
            </a:r>
            <a:r>
              <a:rPr lang="zh-CN" altLang="en-US"/>
              <a:t>万，项目周期</a:t>
            </a:r>
            <a:r>
              <a:rPr lang="en-US" altLang="zh-CN"/>
              <a:t>2</a:t>
            </a:r>
            <a:r>
              <a:rPr lang="zh-CN" altLang="en-US"/>
              <a:t>年，贴现率为</a:t>
            </a:r>
            <a:r>
              <a:rPr lang="en-US" altLang="zh-CN"/>
              <a:t>8%</a:t>
            </a:r>
            <a:r>
              <a:rPr lang="zh-CN" altLang="en-US"/>
              <a:t>，求</a:t>
            </a:r>
            <a:r>
              <a:rPr lang="en-US" altLang="zh-CN"/>
              <a:t>NPV</a:t>
            </a:r>
            <a:r>
              <a:rPr lang="zh-CN" altLang="en-US"/>
              <a:t>。</a:t>
            </a:r>
          </a:p>
        </p:txBody>
      </p:sp>
      <p:sp>
        <p:nvSpPr>
          <p:cNvPr id="7" name="文本占位符 6">
            <a:extLst>
              <a:ext uri="{FF2B5EF4-FFF2-40B4-BE49-F238E27FC236}">
                <a16:creationId xmlns:a16="http://schemas.microsoft.com/office/drawing/2014/main" id="{CA6A3EDF-670F-05A8-CA19-6F4B442BCB09}"/>
              </a:ext>
            </a:extLst>
          </p:cNvPr>
          <p:cNvSpPr>
            <a:spLocks noGrp="1"/>
          </p:cNvSpPr>
          <p:nvPr>
            <p:ph type="body" sz="quarter" idx="10"/>
          </p:nvPr>
        </p:nvSpPr>
        <p:spPr>
          <a:xfrm>
            <a:off x="7071919" y="448519"/>
            <a:ext cx="4424080" cy="338554"/>
          </a:xfrm>
        </p:spPr>
        <p:txBody>
          <a:bodyPr/>
          <a:lstStyle/>
          <a:p>
            <a:r>
              <a:rPr lang="en-US" altLang="zh-CN"/>
              <a:t>NPV</a:t>
            </a:r>
            <a:endParaRPr lang="zh-CN" altLang="en-US"/>
          </a:p>
        </p:txBody>
      </p:sp>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AA767A63-3DD3-3479-FB37-79F99FD8A6B4}"/>
                  </a:ext>
                </a:extLst>
              </p:cNvPr>
              <p:cNvSpPr txBox="1"/>
              <p:nvPr/>
            </p:nvSpPr>
            <p:spPr>
              <a:xfrm>
                <a:off x="1281112" y="4510899"/>
                <a:ext cx="4777462" cy="75642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𝑁𝑃𝑉</m:t>
                      </m:r>
                      <m:r>
                        <a:rPr lang="en-US" altLang="zh-CN" i="1">
                          <a:latin typeface="Cambria Math" panose="02040503050406030204" pitchFamily="18" charset="0"/>
                        </a:rPr>
                        <m:t>=</m:t>
                      </m:r>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𝑡</m:t>
                          </m:r>
                          <m:r>
                            <a:rPr lang="en-US" altLang="zh-CN" i="1">
                              <a:latin typeface="Cambria Math" panose="02040503050406030204" pitchFamily="18" charset="0"/>
                            </a:rPr>
                            <m:t>=0</m:t>
                          </m:r>
                        </m:sub>
                        <m:sup>
                          <m:r>
                            <a:rPr lang="en-US" altLang="zh-CN" i="1">
                              <a:latin typeface="Cambria Math" panose="02040503050406030204" pitchFamily="18" charset="0"/>
                            </a:rPr>
                            <m:t>𝑛</m:t>
                          </m:r>
                        </m:sup>
                        <m:e>
                          <m:f>
                            <m:fPr>
                              <m:ctrlPr>
                                <a:rPr lang="en-US" altLang="zh-CN" i="1">
                                  <a:latin typeface="Cambria Math" panose="02040503050406030204" pitchFamily="18" charset="0"/>
                                </a:rPr>
                              </m:ctrlPr>
                            </m:fPr>
                            <m:num>
                              <m:r>
                                <a:rPr lang="en-US" altLang="zh-CN" i="1">
                                  <a:latin typeface="Cambria Math" panose="02040503050406030204" pitchFamily="18" charset="0"/>
                                </a:rPr>
                                <m:t>𝐶</m:t>
                              </m:r>
                              <m:sSub>
                                <m:sSubPr>
                                  <m:ctrlPr>
                                    <a:rPr lang="en-US" altLang="zh-CN" i="1">
                                      <a:latin typeface="Cambria Math" panose="02040503050406030204" pitchFamily="18" charset="0"/>
                                    </a:rPr>
                                  </m:ctrlPr>
                                </m:sSubPr>
                                <m:e>
                                  <m:r>
                                    <a:rPr lang="en-US" altLang="zh-CN" i="1">
                                      <a:latin typeface="Cambria Math" panose="02040503050406030204" pitchFamily="18" charset="0"/>
                                    </a:rPr>
                                    <m:t>𝐹</m:t>
                                  </m:r>
                                </m:e>
                                <m:sub>
                                  <m:r>
                                    <a:rPr lang="en-US" altLang="zh-CN" i="1">
                                      <a:latin typeface="Cambria Math" panose="02040503050406030204" pitchFamily="18" charset="0"/>
                                    </a:rPr>
                                    <m:t>𝑡</m:t>
                                  </m:r>
                                </m:sub>
                              </m:sSub>
                            </m:num>
                            <m:den>
                              <m:sSup>
                                <m:sSupPr>
                                  <m:ctrlPr>
                                    <a:rPr lang="en-US" altLang="zh-CN" i="1">
                                      <a:latin typeface="Cambria Math" panose="02040503050406030204" pitchFamily="18" charset="0"/>
                                    </a:rPr>
                                  </m:ctrlPr>
                                </m:sSupPr>
                                <m:e>
                                  <m:r>
                                    <a:rPr lang="en-US" altLang="zh-CN" i="1">
                                      <a:latin typeface="Cambria Math" panose="02040503050406030204" pitchFamily="18" charset="0"/>
                                    </a:rPr>
                                    <m:t>(1+</m:t>
                                  </m:r>
                                  <m:r>
                                    <a:rPr lang="en-US" altLang="zh-CN" i="1">
                                      <a:latin typeface="Cambria Math" panose="02040503050406030204" pitchFamily="18" charset="0"/>
                                    </a:rPr>
                                    <m:t>𝑟</m:t>
                                  </m:r>
                                  <m:r>
                                    <a:rPr lang="en-US" altLang="zh-CN" i="1">
                                      <a:latin typeface="Cambria Math" panose="02040503050406030204" pitchFamily="18" charset="0"/>
                                    </a:rPr>
                                    <m:t>)</m:t>
                                  </m:r>
                                </m:e>
                                <m:sup>
                                  <m:r>
                                    <a:rPr lang="en-US" altLang="zh-CN" i="1">
                                      <a:latin typeface="Cambria Math" panose="02040503050406030204" pitchFamily="18" charset="0"/>
                                    </a:rPr>
                                    <m:t>𝑡</m:t>
                                  </m:r>
                                </m:sup>
                              </m:sSup>
                            </m:den>
                          </m:f>
                          <m:r>
                            <a:rPr lang="en-US" altLang="zh-CN" i="1">
                              <a:latin typeface="Cambria Math" panose="02040503050406030204" pitchFamily="18" charset="0"/>
                            </a:rPr>
                            <m:t>=50+0+</m:t>
                          </m:r>
                          <m:f>
                            <m:fPr>
                              <m:ctrlPr>
                                <a:rPr lang="en-US" altLang="zh-CN" i="1">
                                  <a:latin typeface="Cambria Math" panose="02040503050406030204" pitchFamily="18" charset="0"/>
                                </a:rPr>
                              </m:ctrlPr>
                            </m:fPr>
                            <m:num>
                              <m:r>
                                <a:rPr lang="en-US" altLang="zh-CN" i="1">
                                  <a:latin typeface="Cambria Math" panose="02040503050406030204" pitchFamily="18" charset="0"/>
                                </a:rPr>
                                <m:t>50</m:t>
                              </m:r>
                            </m:num>
                            <m:den>
                              <m:sSup>
                                <m:sSupPr>
                                  <m:ctrlPr>
                                    <a:rPr lang="en-US" altLang="zh-CN" i="1">
                                      <a:latin typeface="Cambria Math" panose="02040503050406030204" pitchFamily="18" charset="0"/>
                                    </a:rPr>
                                  </m:ctrlPr>
                                </m:sSupPr>
                                <m:e>
                                  <m:r>
                                    <a:rPr lang="en-US" altLang="zh-CN" i="1">
                                      <a:latin typeface="Cambria Math" panose="02040503050406030204" pitchFamily="18" charset="0"/>
                                    </a:rPr>
                                    <m:t>(1+8%)</m:t>
                                  </m:r>
                                </m:e>
                                <m:sup>
                                  <m:r>
                                    <a:rPr lang="en-US" altLang="zh-CN" i="1">
                                      <a:latin typeface="Cambria Math" panose="02040503050406030204" pitchFamily="18" charset="0"/>
                                    </a:rPr>
                                    <m:t>2</m:t>
                                  </m:r>
                                </m:sup>
                              </m:sSup>
                            </m:den>
                          </m:f>
                        </m:e>
                      </m:nary>
                    </m:oMath>
                  </m:oMathPara>
                </a14:m>
                <a:endParaRPr lang="zh-CN" altLang="en-US" dirty="0"/>
              </a:p>
            </p:txBody>
          </p:sp>
        </mc:Choice>
        <mc:Fallback xmlns="">
          <p:sp>
            <p:nvSpPr>
              <p:cNvPr id="28" name="文本框 27">
                <a:extLst>
                  <a:ext uri="{FF2B5EF4-FFF2-40B4-BE49-F238E27FC236}">
                    <a16:creationId xmlns:a16="http://schemas.microsoft.com/office/drawing/2014/main" id="{AA767A63-3DD3-3479-FB37-79F99FD8A6B4}"/>
                  </a:ext>
                </a:extLst>
              </p:cNvPr>
              <p:cNvSpPr txBox="1">
                <a:spLocks noRot="1" noChangeAspect="1" noMove="1" noResize="1" noEditPoints="1" noAdjustHandles="1" noChangeArrowheads="1" noChangeShapeType="1" noTextEdit="1"/>
              </p:cNvSpPr>
              <p:nvPr/>
            </p:nvSpPr>
            <p:spPr>
              <a:xfrm>
                <a:off x="1281112" y="4510899"/>
                <a:ext cx="4777462" cy="756426"/>
              </a:xfrm>
              <a:prstGeom prst="rect">
                <a:avLst/>
              </a:prstGeom>
              <a:blipFill>
                <a:blip r:embed="rId2"/>
                <a:stretch>
                  <a:fillRect/>
                </a:stretch>
              </a:blipFill>
            </p:spPr>
            <p:txBody>
              <a:bodyPr/>
              <a:lstStyle/>
              <a:p>
                <a:r>
                  <a:rPr lang="zh-CN" altLang="en-US">
                    <a:noFill/>
                  </a:rPr>
                  <a:t> </a:t>
                </a:r>
              </a:p>
            </p:txBody>
          </p:sp>
        </mc:Fallback>
      </mc:AlternateContent>
      <p:graphicFrame>
        <p:nvGraphicFramePr>
          <p:cNvPr id="13" name="表格 12">
            <a:extLst>
              <a:ext uri="{FF2B5EF4-FFF2-40B4-BE49-F238E27FC236}">
                <a16:creationId xmlns:a16="http://schemas.microsoft.com/office/drawing/2014/main" id="{FD017FA2-98E3-15BA-AA40-369F89CDB09A}"/>
              </a:ext>
            </a:extLst>
          </p:cNvPr>
          <p:cNvGraphicFramePr>
            <a:graphicFrameLocks noGrp="1"/>
          </p:cNvGraphicFramePr>
          <p:nvPr>
            <p:extLst>
              <p:ext uri="{D42A27DB-BD31-4B8C-83A1-F6EECF244321}">
                <p14:modId xmlns:p14="http://schemas.microsoft.com/office/powerpoint/2010/main" val="3260727067"/>
              </p:ext>
            </p:extLst>
          </p:nvPr>
        </p:nvGraphicFramePr>
        <p:xfrm>
          <a:off x="1281112" y="2235694"/>
          <a:ext cx="9629776" cy="1483360"/>
        </p:xfrm>
        <a:graphic>
          <a:graphicData uri="http://schemas.openxmlformats.org/drawingml/2006/table">
            <a:tbl>
              <a:tblPr firstRow="1" bandRow="1">
                <a:tableStyleId>{2D5ABB26-0587-4C30-8999-92F81FD0307C}</a:tableStyleId>
              </a:tblPr>
              <a:tblGrid>
                <a:gridCol w="675604">
                  <a:extLst>
                    <a:ext uri="{9D8B030D-6E8A-4147-A177-3AD203B41FA5}">
                      <a16:colId xmlns:a16="http://schemas.microsoft.com/office/drawing/2014/main" val="311535220"/>
                    </a:ext>
                  </a:extLst>
                </a:gridCol>
                <a:gridCol w="2238543">
                  <a:extLst>
                    <a:ext uri="{9D8B030D-6E8A-4147-A177-3AD203B41FA5}">
                      <a16:colId xmlns:a16="http://schemas.microsoft.com/office/drawing/2014/main" val="568075132"/>
                    </a:ext>
                  </a:extLst>
                </a:gridCol>
                <a:gridCol w="2238543">
                  <a:extLst>
                    <a:ext uri="{9D8B030D-6E8A-4147-A177-3AD203B41FA5}">
                      <a16:colId xmlns:a16="http://schemas.microsoft.com/office/drawing/2014/main" val="4016926542"/>
                    </a:ext>
                  </a:extLst>
                </a:gridCol>
                <a:gridCol w="2238543">
                  <a:extLst>
                    <a:ext uri="{9D8B030D-6E8A-4147-A177-3AD203B41FA5}">
                      <a16:colId xmlns:a16="http://schemas.microsoft.com/office/drawing/2014/main" val="964501289"/>
                    </a:ext>
                  </a:extLst>
                </a:gridCol>
                <a:gridCol w="2238543">
                  <a:extLst>
                    <a:ext uri="{9D8B030D-6E8A-4147-A177-3AD203B41FA5}">
                      <a16:colId xmlns:a16="http://schemas.microsoft.com/office/drawing/2014/main" val="1942525"/>
                    </a:ext>
                  </a:extLst>
                </a:gridCol>
              </a:tblGrid>
              <a:tr h="370840">
                <a:tc>
                  <a:txBody>
                    <a:bodyPr/>
                    <a:lstStyle/>
                    <a:p>
                      <a:pPr algn="ctr"/>
                      <a:r>
                        <a:rPr lang="en-US" altLang="zh-CN" sz="1400" dirty="0">
                          <a:solidFill>
                            <a:schemeClr val="bg1"/>
                          </a:solidFill>
                        </a:rPr>
                        <a:t>t</a:t>
                      </a:r>
                      <a:endParaRPr lang="zh-CN" altLang="en-US" sz="1400" dirty="0">
                        <a:solidFill>
                          <a:schemeClr val="bg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altLang="zh-CN" sz="1400" dirty="0">
                          <a:solidFill>
                            <a:schemeClr val="bg1"/>
                          </a:solidFill>
                        </a:rPr>
                        <a:t>Input</a:t>
                      </a:r>
                      <a:r>
                        <a:rPr lang="zh-CN" altLang="en-US" sz="1400" dirty="0">
                          <a:solidFill>
                            <a:schemeClr val="bg1"/>
                          </a:solidFill>
                        </a:rPr>
                        <a:t>流入</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altLang="zh-CN" sz="1400" dirty="0">
                          <a:solidFill>
                            <a:schemeClr val="bg1"/>
                          </a:solidFill>
                        </a:rPr>
                        <a:t>Output</a:t>
                      </a:r>
                      <a:r>
                        <a:rPr lang="zh-CN" altLang="en-US" sz="1400" dirty="0">
                          <a:solidFill>
                            <a:schemeClr val="bg1"/>
                          </a:solidFill>
                        </a:rPr>
                        <a:t>流出</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altLang="zh-CN" sz="1400" dirty="0">
                          <a:solidFill>
                            <a:schemeClr val="bg1"/>
                          </a:solidFill>
                        </a:rPr>
                        <a:t>Input-Output</a:t>
                      </a:r>
                      <a:r>
                        <a:rPr lang="zh-CN" altLang="en-US" sz="1400" dirty="0">
                          <a:solidFill>
                            <a:schemeClr val="bg1"/>
                          </a:solidFill>
                        </a:rPr>
                        <a:t>净值</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altLang="zh-CN" sz="1400" dirty="0" err="1">
                          <a:solidFill>
                            <a:schemeClr val="bg1"/>
                          </a:solidFill>
                        </a:rPr>
                        <a:t>NPVt</a:t>
                      </a:r>
                      <a:endParaRPr lang="zh-CN" altLang="en-US" sz="1400" dirty="0">
                        <a:solidFill>
                          <a:schemeClr val="bg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3763449487"/>
                  </a:ext>
                </a:extLst>
              </a:tr>
              <a:tr h="370840">
                <a:tc>
                  <a:txBody>
                    <a:bodyPr/>
                    <a:lstStyle/>
                    <a:p>
                      <a:pPr algn="ctr"/>
                      <a:r>
                        <a:rPr lang="en-US" altLang="zh-CN" sz="1400"/>
                        <a:t>t0</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a:t>50</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a:t>0</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a:t>50</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a:t>50</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67430578"/>
                  </a:ext>
                </a:extLst>
              </a:tr>
              <a:tr h="370840">
                <a:tc>
                  <a:txBody>
                    <a:bodyPr/>
                    <a:lstStyle/>
                    <a:p>
                      <a:pPr algn="ctr"/>
                      <a:r>
                        <a:rPr lang="en-US" altLang="zh-CN" sz="1400"/>
                        <a:t>t1</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a:t>0</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a:t>0</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a:t>0</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a:t>0</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24996604"/>
                  </a:ext>
                </a:extLst>
              </a:tr>
              <a:tr h="370840">
                <a:tc>
                  <a:txBody>
                    <a:bodyPr/>
                    <a:lstStyle/>
                    <a:p>
                      <a:pPr algn="ctr"/>
                      <a:r>
                        <a:rPr lang="en-US" altLang="zh-CN" sz="1400"/>
                        <a:t>t2</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a:t>50</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a:t>0</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a:t>50</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dirty="0"/>
                        <a:t>50/(1+8%)2</a:t>
                      </a:r>
                      <a:endParaRPr lang="zh-CN"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71425175"/>
                  </a:ext>
                </a:extLst>
              </a:tr>
            </a:tbl>
          </a:graphicData>
        </a:graphic>
      </p:graphicFrame>
    </p:spTree>
    <p:extLst>
      <p:ext uri="{BB962C8B-B14F-4D97-AF65-F5344CB8AC3E}">
        <p14:creationId xmlns:p14="http://schemas.microsoft.com/office/powerpoint/2010/main" val="14585188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2B4C5A-3592-368F-3CAD-EDF8B0555D6C}"/>
              </a:ext>
            </a:extLst>
          </p:cNvPr>
          <p:cNvSpPr>
            <a:spLocks noGrp="1"/>
          </p:cNvSpPr>
          <p:nvPr>
            <p:ph type="title"/>
          </p:nvPr>
        </p:nvSpPr>
        <p:spPr>
          <a:xfrm>
            <a:off x="792000" y="360000"/>
            <a:ext cx="6375921" cy="429413"/>
          </a:xfrm>
        </p:spPr>
        <p:txBody>
          <a:bodyPr>
            <a:normAutofit/>
          </a:bodyPr>
          <a:lstStyle/>
          <a:p>
            <a:r>
              <a:rPr lang="en-US" altLang="zh-CN"/>
              <a:t>2.2 </a:t>
            </a:r>
            <a:r>
              <a:rPr lang="zh-CN" altLang="en-US"/>
              <a:t>项目立项</a:t>
            </a:r>
          </a:p>
        </p:txBody>
      </p:sp>
      <p:sp>
        <p:nvSpPr>
          <p:cNvPr id="6" name="内容占位符 5">
            <a:extLst>
              <a:ext uri="{FF2B5EF4-FFF2-40B4-BE49-F238E27FC236}">
                <a16:creationId xmlns:a16="http://schemas.microsoft.com/office/drawing/2014/main" id="{350AEF4B-1D97-659F-97E2-D7D266103EB1}"/>
              </a:ext>
            </a:extLst>
          </p:cNvPr>
          <p:cNvSpPr>
            <a:spLocks noGrp="1"/>
          </p:cNvSpPr>
          <p:nvPr>
            <p:ph idx="1"/>
          </p:nvPr>
        </p:nvSpPr>
        <p:spPr/>
        <p:txBody>
          <a:bodyPr/>
          <a:lstStyle/>
          <a:p>
            <a:endParaRPr lang="zh-CN" altLang="en-US"/>
          </a:p>
        </p:txBody>
      </p:sp>
      <p:sp>
        <p:nvSpPr>
          <p:cNvPr id="5" name="文本占位符 4">
            <a:extLst>
              <a:ext uri="{FF2B5EF4-FFF2-40B4-BE49-F238E27FC236}">
                <a16:creationId xmlns:a16="http://schemas.microsoft.com/office/drawing/2014/main" id="{40AB9CE1-DA87-29E2-2C72-E5C2B99A40D0}"/>
              </a:ext>
            </a:extLst>
          </p:cNvPr>
          <p:cNvSpPr>
            <a:spLocks noGrp="1"/>
          </p:cNvSpPr>
          <p:nvPr>
            <p:ph type="body" sz="quarter" idx="10"/>
          </p:nvPr>
        </p:nvSpPr>
        <p:spPr>
          <a:xfrm>
            <a:off x="7071919" y="448519"/>
            <a:ext cx="4424080" cy="338554"/>
          </a:xfrm>
        </p:spPr>
        <p:txBody>
          <a:bodyPr/>
          <a:lstStyle/>
          <a:p>
            <a:r>
              <a:rPr lang="en-US" altLang="zh-CN"/>
              <a:t>Project Approval</a:t>
            </a:r>
            <a:endParaRPr lang="zh-CN" altLang="en-US"/>
          </a:p>
        </p:txBody>
      </p:sp>
      <p:sp>
        <p:nvSpPr>
          <p:cNvPr id="10" name="矩形: 圆角 9">
            <a:extLst>
              <a:ext uri="{FF2B5EF4-FFF2-40B4-BE49-F238E27FC236}">
                <a16:creationId xmlns:a16="http://schemas.microsoft.com/office/drawing/2014/main" id="{F36EC085-A2DA-158A-8012-4D05CA4E4605}"/>
              </a:ext>
            </a:extLst>
          </p:cNvPr>
          <p:cNvSpPr/>
          <p:nvPr/>
        </p:nvSpPr>
        <p:spPr>
          <a:xfrm>
            <a:off x="5030288" y="1143000"/>
            <a:ext cx="1440000" cy="360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ysClr val="windowText" lastClr="000000"/>
                </a:solidFill>
              </a:rPr>
              <a:t>开始</a:t>
            </a:r>
          </a:p>
        </p:txBody>
      </p:sp>
      <p:sp>
        <p:nvSpPr>
          <p:cNvPr id="11" name="矩形: 圆角 10">
            <a:extLst>
              <a:ext uri="{FF2B5EF4-FFF2-40B4-BE49-F238E27FC236}">
                <a16:creationId xmlns:a16="http://schemas.microsoft.com/office/drawing/2014/main" id="{58CF2407-9E9A-ED6D-387C-A06BC6754DE3}"/>
              </a:ext>
            </a:extLst>
          </p:cNvPr>
          <p:cNvSpPr/>
          <p:nvPr/>
        </p:nvSpPr>
        <p:spPr>
          <a:xfrm>
            <a:off x="5030288" y="5641575"/>
            <a:ext cx="1440000" cy="360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结束</a:t>
            </a:r>
          </a:p>
        </p:txBody>
      </p:sp>
      <p:sp>
        <p:nvSpPr>
          <p:cNvPr id="12" name="矩形 11">
            <a:extLst>
              <a:ext uri="{FF2B5EF4-FFF2-40B4-BE49-F238E27FC236}">
                <a16:creationId xmlns:a16="http://schemas.microsoft.com/office/drawing/2014/main" id="{0BC184B8-03A2-F58A-102E-F19FDA903335}"/>
              </a:ext>
            </a:extLst>
          </p:cNvPr>
          <p:cNvSpPr/>
          <p:nvPr/>
        </p:nvSpPr>
        <p:spPr>
          <a:xfrm>
            <a:off x="5030288" y="1790150"/>
            <a:ext cx="144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ysClr val="windowText" lastClr="000000"/>
                </a:solidFill>
              </a:rPr>
              <a:t>识别发起的项目</a:t>
            </a:r>
          </a:p>
        </p:txBody>
      </p:sp>
      <p:sp>
        <p:nvSpPr>
          <p:cNvPr id="13" name="矩形 12">
            <a:extLst>
              <a:ext uri="{FF2B5EF4-FFF2-40B4-BE49-F238E27FC236}">
                <a16:creationId xmlns:a16="http://schemas.microsoft.com/office/drawing/2014/main" id="{6E3FDA58-A5E4-C625-061E-1F6900A5FC20}"/>
              </a:ext>
            </a:extLst>
          </p:cNvPr>
          <p:cNvSpPr/>
          <p:nvPr/>
        </p:nvSpPr>
        <p:spPr>
          <a:xfrm>
            <a:off x="5030288" y="2437300"/>
            <a:ext cx="144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ysClr val="windowText" lastClr="000000"/>
                </a:solidFill>
              </a:rPr>
              <a:t>论证项目</a:t>
            </a:r>
          </a:p>
        </p:txBody>
      </p:sp>
      <p:sp>
        <p:nvSpPr>
          <p:cNvPr id="14" name="矩形 13">
            <a:extLst>
              <a:ext uri="{FF2B5EF4-FFF2-40B4-BE49-F238E27FC236}">
                <a16:creationId xmlns:a16="http://schemas.microsoft.com/office/drawing/2014/main" id="{678C57EA-737A-6D76-D444-032FDEBE31C1}"/>
              </a:ext>
            </a:extLst>
          </p:cNvPr>
          <p:cNvSpPr/>
          <p:nvPr/>
        </p:nvSpPr>
        <p:spPr>
          <a:xfrm>
            <a:off x="5030288" y="3084450"/>
            <a:ext cx="144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ysClr val="windowText" lastClr="000000"/>
                </a:solidFill>
              </a:rPr>
              <a:t>申请项目</a:t>
            </a:r>
          </a:p>
        </p:txBody>
      </p:sp>
      <p:sp>
        <p:nvSpPr>
          <p:cNvPr id="15" name="菱形 14">
            <a:extLst>
              <a:ext uri="{FF2B5EF4-FFF2-40B4-BE49-F238E27FC236}">
                <a16:creationId xmlns:a16="http://schemas.microsoft.com/office/drawing/2014/main" id="{A8882B3B-77B0-68FD-E022-6A08C9E7B59F}"/>
              </a:ext>
            </a:extLst>
          </p:cNvPr>
          <p:cNvSpPr/>
          <p:nvPr/>
        </p:nvSpPr>
        <p:spPr>
          <a:xfrm>
            <a:off x="4850288" y="3857594"/>
            <a:ext cx="1800000" cy="720000"/>
          </a:xfrm>
          <a:prstGeom prst="diamond">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ysClr val="windowText" lastClr="000000"/>
                </a:solidFill>
              </a:rPr>
              <a:t>审核项目</a:t>
            </a:r>
          </a:p>
        </p:txBody>
      </p:sp>
      <p:sp>
        <p:nvSpPr>
          <p:cNvPr id="16" name="矩形 15">
            <a:extLst>
              <a:ext uri="{FF2B5EF4-FFF2-40B4-BE49-F238E27FC236}">
                <a16:creationId xmlns:a16="http://schemas.microsoft.com/office/drawing/2014/main" id="{74D429BA-996F-3D73-3EE6-D40D0D9A91EF}"/>
              </a:ext>
            </a:extLst>
          </p:cNvPr>
          <p:cNvSpPr/>
          <p:nvPr/>
        </p:nvSpPr>
        <p:spPr>
          <a:xfrm>
            <a:off x="5030288" y="4990737"/>
            <a:ext cx="144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ysClr val="windowText" lastClr="000000"/>
                </a:solidFill>
              </a:rPr>
              <a:t>确定项目立项</a:t>
            </a:r>
          </a:p>
        </p:txBody>
      </p:sp>
      <p:sp>
        <p:nvSpPr>
          <p:cNvPr id="17" name="矩形 16">
            <a:extLst>
              <a:ext uri="{FF2B5EF4-FFF2-40B4-BE49-F238E27FC236}">
                <a16:creationId xmlns:a16="http://schemas.microsoft.com/office/drawing/2014/main" id="{C22DF741-916E-36CD-24E8-2BAE20C8F75B}"/>
              </a:ext>
            </a:extLst>
          </p:cNvPr>
          <p:cNvSpPr/>
          <p:nvPr/>
        </p:nvSpPr>
        <p:spPr>
          <a:xfrm>
            <a:off x="7440113" y="4037594"/>
            <a:ext cx="144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ysClr val="windowText" lastClr="000000"/>
                </a:solidFill>
              </a:rPr>
              <a:t>取消项目立项</a:t>
            </a:r>
          </a:p>
        </p:txBody>
      </p:sp>
      <p:sp>
        <p:nvSpPr>
          <p:cNvPr id="18" name="矩形: 圆角 17">
            <a:extLst>
              <a:ext uri="{FF2B5EF4-FFF2-40B4-BE49-F238E27FC236}">
                <a16:creationId xmlns:a16="http://schemas.microsoft.com/office/drawing/2014/main" id="{43280337-CD28-CD87-2AE6-5A1673AF96A1}"/>
              </a:ext>
            </a:extLst>
          </p:cNvPr>
          <p:cNvSpPr/>
          <p:nvPr/>
        </p:nvSpPr>
        <p:spPr>
          <a:xfrm>
            <a:off x="2887163" y="4001594"/>
            <a:ext cx="1440000" cy="432000"/>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rPr>
              <a:t>立项评审报告</a:t>
            </a:r>
          </a:p>
        </p:txBody>
      </p:sp>
      <p:sp>
        <p:nvSpPr>
          <p:cNvPr id="19" name="矩形 18">
            <a:extLst>
              <a:ext uri="{FF2B5EF4-FFF2-40B4-BE49-F238E27FC236}">
                <a16:creationId xmlns:a16="http://schemas.microsoft.com/office/drawing/2014/main" id="{0F863E9A-8BE1-F116-A6F7-32D95F84B546}"/>
              </a:ext>
            </a:extLst>
          </p:cNvPr>
          <p:cNvSpPr/>
          <p:nvPr/>
        </p:nvSpPr>
        <p:spPr>
          <a:xfrm>
            <a:off x="7440113" y="2437300"/>
            <a:ext cx="1440000" cy="36000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项目评估报告</a:t>
            </a:r>
          </a:p>
        </p:txBody>
      </p:sp>
      <p:sp>
        <p:nvSpPr>
          <p:cNvPr id="20" name="矩形: 圆角 19">
            <a:extLst>
              <a:ext uri="{FF2B5EF4-FFF2-40B4-BE49-F238E27FC236}">
                <a16:creationId xmlns:a16="http://schemas.microsoft.com/office/drawing/2014/main" id="{4B57DB1D-1FDB-4D10-8B0A-BF2EAB88ECD6}"/>
              </a:ext>
            </a:extLst>
          </p:cNvPr>
          <p:cNvSpPr/>
          <p:nvPr/>
        </p:nvSpPr>
        <p:spPr>
          <a:xfrm>
            <a:off x="7440113" y="3056742"/>
            <a:ext cx="2160000" cy="432000"/>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项目立项申请建议书</a:t>
            </a:r>
          </a:p>
        </p:txBody>
      </p:sp>
      <p:cxnSp>
        <p:nvCxnSpPr>
          <p:cNvPr id="22" name="直接箭头连接符 21">
            <a:extLst>
              <a:ext uri="{FF2B5EF4-FFF2-40B4-BE49-F238E27FC236}">
                <a16:creationId xmlns:a16="http://schemas.microsoft.com/office/drawing/2014/main" id="{C6C7CFB0-7460-217D-BD91-829B632D67C5}"/>
              </a:ext>
            </a:extLst>
          </p:cNvPr>
          <p:cNvCxnSpPr>
            <a:stCxn id="10" idx="2"/>
            <a:endCxn id="12" idx="0"/>
          </p:cNvCxnSpPr>
          <p:nvPr/>
        </p:nvCxnSpPr>
        <p:spPr>
          <a:xfrm>
            <a:off x="5750288" y="1503000"/>
            <a:ext cx="0" cy="2871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7F6609C2-726E-5A75-4F92-73619BD4A074}"/>
              </a:ext>
            </a:extLst>
          </p:cNvPr>
          <p:cNvCxnSpPr>
            <a:stCxn id="12" idx="2"/>
            <a:endCxn id="13" idx="0"/>
          </p:cNvCxnSpPr>
          <p:nvPr/>
        </p:nvCxnSpPr>
        <p:spPr>
          <a:xfrm>
            <a:off x="5750288" y="2150150"/>
            <a:ext cx="0" cy="2871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50C2D98D-C38B-2CF5-744F-C1F992987E2B}"/>
              </a:ext>
            </a:extLst>
          </p:cNvPr>
          <p:cNvCxnSpPr>
            <a:stCxn id="13" idx="2"/>
            <a:endCxn id="14" idx="0"/>
          </p:cNvCxnSpPr>
          <p:nvPr/>
        </p:nvCxnSpPr>
        <p:spPr>
          <a:xfrm>
            <a:off x="5750288" y="2797300"/>
            <a:ext cx="0" cy="2871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B96BC729-AF7F-7E61-4D40-D8C91DFB5B62}"/>
              </a:ext>
            </a:extLst>
          </p:cNvPr>
          <p:cNvCxnSpPr>
            <a:cxnSpLocks/>
            <a:stCxn id="15" idx="2"/>
            <a:endCxn id="16" idx="0"/>
          </p:cNvCxnSpPr>
          <p:nvPr/>
        </p:nvCxnSpPr>
        <p:spPr>
          <a:xfrm>
            <a:off x="5750288" y="4577594"/>
            <a:ext cx="0" cy="41314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14FC2D3A-C9CC-F58E-A1FF-12094CAE1A25}"/>
              </a:ext>
            </a:extLst>
          </p:cNvPr>
          <p:cNvCxnSpPr>
            <a:cxnSpLocks/>
            <a:stCxn id="14" idx="2"/>
            <a:endCxn id="15" idx="0"/>
          </p:cNvCxnSpPr>
          <p:nvPr/>
        </p:nvCxnSpPr>
        <p:spPr>
          <a:xfrm>
            <a:off x="5750288" y="3444450"/>
            <a:ext cx="0" cy="41314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6F86D67D-DE6A-09F6-4EB1-B1AFB66A2692}"/>
              </a:ext>
            </a:extLst>
          </p:cNvPr>
          <p:cNvCxnSpPr>
            <a:stCxn id="16" idx="2"/>
            <a:endCxn id="11" idx="0"/>
          </p:cNvCxnSpPr>
          <p:nvPr/>
        </p:nvCxnSpPr>
        <p:spPr>
          <a:xfrm>
            <a:off x="5750288" y="5350737"/>
            <a:ext cx="0" cy="290838"/>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8CD4431D-E1E3-621A-E4A3-E9BD69FC262B}"/>
              </a:ext>
            </a:extLst>
          </p:cNvPr>
          <p:cNvCxnSpPr>
            <a:stCxn id="15" idx="3"/>
            <a:endCxn id="17" idx="1"/>
          </p:cNvCxnSpPr>
          <p:nvPr/>
        </p:nvCxnSpPr>
        <p:spPr>
          <a:xfrm>
            <a:off x="6650288" y="4217594"/>
            <a:ext cx="78982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8D14AEAF-835A-B7A6-41C7-CEA5EBE68CEF}"/>
              </a:ext>
            </a:extLst>
          </p:cNvPr>
          <p:cNvCxnSpPr>
            <a:stCxn id="13" idx="3"/>
            <a:endCxn id="19" idx="1"/>
          </p:cNvCxnSpPr>
          <p:nvPr/>
        </p:nvCxnSpPr>
        <p:spPr>
          <a:xfrm>
            <a:off x="6470288" y="2617300"/>
            <a:ext cx="969825"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a16="http://schemas.microsoft.com/office/drawing/2014/main" id="{89D247EB-C6E2-9900-813D-AE617F07CA31}"/>
              </a:ext>
            </a:extLst>
          </p:cNvPr>
          <p:cNvCxnSpPr>
            <a:stCxn id="14" idx="3"/>
          </p:cNvCxnSpPr>
          <p:nvPr/>
        </p:nvCxnSpPr>
        <p:spPr>
          <a:xfrm>
            <a:off x="6470288" y="3264450"/>
            <a:ext cx="96982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a:extLst>
              <a:ext uri="{FF2B5EF4-FFF2-40B4-BE49-F238E27FC236}">
                <a16:creationId xmlns:a16="http://schemas.microsoft.com/office/drawing/2014/main" id="{F9E928B6-5400-2421-2D0D-7D6D22EEB1DB}"/>
              </a:ext>
            </a:extLst>
          </p:cNvPr>
          <p:cNvCxnSpPr>
            <a:stCxn id="15" idx="1"/>
          </p:cNvCxnSpPr>
          <p:nvPr/>
        </p:nvCxnSpPr>
        <p:spPr>
          <a:xfrm flipH="1">
            <a:off x="4327163" y="4217594"/>
            <a:ext cx="52312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文本框 45">
            <a:extLst>
              <a:ext uri="{FF2B5EF4-FFF2-40B4-BE49-F238E27FC236}">
                <a16:creationId xmlns:a16="http://schemas.microsoft.com/office/drawing/2014/main" id="{3A4035D8-CA62-E94C-F7DE-1B8C67966F36}"/>
              </a:ext>
            </a:extLst>
          </p:cNvPr>
          <p:cNvSpPr txBox="1"/>
          <p:nvPr/>
        </p:nvSpPr>
        <p:spPr>
          <a:xfrm>
            <a:off x="5750288" y="4609706"/>
            <a:ext cx="543739" cy="307777"/>
          </a:xfrm>
          <a:prstGeom prst="rect">
            <a:avLst/>
          </a:prstGeom>
          <a:noFill/>
          <a:ln>
            <a:noFill/>
          </a:ln>
        </p:spPr>
        <p:txBody>
          <a:bodyPr wrap="none" rtlCol="0">
            <a:spAutoFit/>
          </a:bodyPr>
          <a:lstStyle/>
          <a:p>
            <a:r>
              <a:rPr lang="zh-CN" altLang="en-US" sz="1400">
                <a:solidFill>
                  <a:schemeClr val="accent2"/>
                </a:solidFill>
              </a:rPr>
              <a:t>通过</a:t>
            </a:r>
          </a:p>
        </p:txBody>
      </p:sp>
      <p:sp>
        <p:nvSpPr>
          <p:cNvPr id="47" name="文本框 46">
            <a:extLst>
              <a:ext uri="{FF2B5EF4-FFF2-40B4-BE49-F238E27FC236}">
                <a16:creationId xmlns:a16="http://schemas.microsoft.com/office/drawing/2014/main" id="{01F5B80F-AF65-2C34-6BC1-EAB0C6A315AB}"/>
              </a:ext>
            </a:extLst>
          </p:cNvPr>
          <p:cNvSpPr txBox="1"/>
          <p:nvPr/>
        </p:nvSpPr>
        <p:spPr>
          <a:xfrm>
            <a:off x="6686824" y="3909817"/>
            <a:ext cx="723275" cy="307777"/>
          </a:xfrm>
          <a:prstGeom prst="rect">
            <a:avLst/>
          </a:prstGeom>
          <a:noFill/>
          <a:ln>
            <a:noFill/>
          </a:ln>
        </p:spPr>
        <p:txBody>
          <a:bodyPr wrap="none" rtlCol="0">
            <a:spAutoFit/>
          </a:bodyPr>
          <a:lstStyle/>
          <a:p>
            <a:r>
              <a:rPr lang="zh-CN" altLang="en-US" sz="1400">
                <a:solidFill>
                  <a:schemeClr val="accent2"/>
                </a:solidFill>
              </a:rPr>
              <a:t>不通过</a:t>
            </a:r>
          </a:p>
        </p:txBody>
      </p:sp>
    </p:spTree>
    <p:extLst>
      <p:ext uri="{BB962C8B-B14F-4D97-AF65-F5344CB8AC3E}">
        <p14:creationId xmlns:p14="http://schemas.microsoft.com/office/powerpoint/2010/main" val="16808066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F673B-15EE-A3F1-F92E-CC17395DED6B}"/>
              </a:ext>
            </a:extLst>
          </p:cNvPr>
          <p:cNvSpPr>
            <a:spLocks noGrp="1"/>
          </p:cNvSpPr>
          <p:nvPr>
            <p:ph type="title"/>
          </p:nvPr>
        </p:nvSpPr>
        <p:spPr>
          <a:xfrm>
            <a:off x="792000" y="360000"/>
            <a:ext cx="6375921" cy="429413"/>
          </a:xfrm>
        </p:spPr>
        <p:txBody>
          <a:bodyPr/>
          <a:lstStyle/>
          <a:p>
            <a:r>
              <a:rPr lang="en-US" altLang="zh-CN"/>
              <a:t>2.3 </a:t>
            </a:r>
            <a:r>
              <a:rPr lang="zh-CN" altLang="en-US"/>
              <a:t>项目招投标</a:t>
            </a:r>
          </a:p>
        </p:txBody>
      </p:sp>
      <p:sp>
        <p:nvSpPr>
          <p:cNvPr id="12" name="内容占位符 11">
            <a:extLst>
              <a:ext uri="{FF2B5EF4-FFF2-40B4-BE49-F238E27FC236}">
                <a16:creationId xmlns:a16="http://schemas.microsoft.com/office/drawing/2014/main" id="{B528A81D-651E-CFDD-20D1-BCFB4EBDC836}"/>
              </a:ext>
            </a:extLst>
          </p:cNvPr>
          <p:cNvSpPr>
            <a:spLocks noGrp="1"/>
          </p:cNvSpPr>
          <p:nvPr>
            <p:ph idx="1"/>
          </p:nvPr>
        </p:nvSpPr>
        <p:spPr/>
        <p:txBody>
          <a:bodyPr/>
          <a:lstStyle/>
          <a:p>
            <a:endParaRPr lang="zh-CN" altLang="en-US"/>
          </a:p>
        </p:txBody>
      </p:sp>
      <p:sp>
        <p:nvSpPr>
          <p:cNvPr id="9" name="文本占位符 8">
            <a:extLst>
              <a:ext uri="{FF2B5EF4-FFF2-40B4-BE49-F238E27FC236}">
                <a16:creationId xmlns:a16="http://schemas.microsoft.com/office/drawing/2014/main" id="{CD0A6345-74F4-A1FF-70E8-09460855F2BB}"/>
              </a:ext>
            </a:extLst>
          </p:cNvPr>
          <p:cNvSpPr>
            <a:spLocks noGrp="1"/>
          </p:cNvSpPr>
          <p:nvPr>
            <p:ph type="body" sz="quarter" idx="10"/>
          </p:nvPr>
        </p:nvSpPr>
        <p:spPr>
          <a:xfrm>
            <a:off x="7071919" y="448519"/>
            <a:ext cx="4424080" cy="338554"/>
          </a:xfrm>
        </p:spPr>
        <p:txBody>
          <a:bodyPr/>
          <a:lstStyle/>
          <a:p>
            <a:r>
              <a:rPr lang="en-US" altLang="zh-CN"/>
              <a:t>Bidding</a:t>
            </a:r>
            <a:endParaRPr lang="zh-CN" altLang="en-US"/>
          </a:p>
        </p:txBody>
      </p:sp>
      <p:sp>
        <p:nvSpPr>
          <p:cNvPr id="5" name="矩形 4">
            <a:extLst>
              <a:ext uri="{FF2B5EF4-FFF2-40B4-BE49-F238E27FC236}">
                <a16:creationId xmlns:a16="http://schemas.microsoft.com/office/drawing/2014/main" id="{C289A8E6-6B33-1C09-E5C9-1F53149CB4E0}"/>
              </a:ext>
            </a:extLst>
          </p:cNvPr>
          <p:cNvSpPr/>
          <p:nvPr/>
        </p:nvSpPr>
        <p:spPr>
          <a:xfrm>
            <a:off x="4213950" y="2306025"/>
            <a:ext cx="144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rPr>
              <a:t>甲方招标书定义</a:t>
            </a:r>
          </a:p>
        </p:txBody>
      </p:sp>
      <p:sp>
        <p:nvSpPr>
          <p:cNvPr id="6" name="矩形 5">
            <a:extLst>
              <a:ext uri="{FF2B5EF4-FFF2-40B4-BE49-F238E27FC236}">
                <a16:creationId xmlns:a16="http://schemas.microsoft.com/office/drawing/2014/main" id="{28F3D54D-DF35-C1C6-2672-72CDB0A606B6}"/>
              </a:ext>
            </a:extLst>
          </p:cNvPr>
          <p:cNvSpPr/>
          <p:nvPr/>
        </p:nvSpPr>
        <p:spPr>
          <a:xfrm>
            <a:off x="4213950" y="2934675"/>
            <a:ext cx="144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rPr>
              <a:t>乙方分析项目</a:t>
            </a:r>
          </a:p>
        </p:txBody>
      </p:sp>
      <p:sp>
        <p:nvSpPr>
          <p:cNvPr id="7" name="矩形 6">
            <a:extLst>
              <a:ext uri="{FF2B5EF4-FFF2-40B4-BE49-F238E27FC236}">
                <a16:creationId xmlns:a16="http://schemas.microsoft.com/office/drawing/2014/main" id="{AD0BE342-87A1-0022-9A90-E2937772EF81}"/>
              </a:ext>
            </a:extLst>
          </p:cNvPr>
          <p:cNvSpPr/>
          <p:nvPr/>
        </p:nvSpPr>
        <p:spPr>
          <a:xfrm>
            <a:off x="4213950" y="3563325"/>
            <a:ext cx="144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rPr>
              <a:t>招标与竞标</a:t>
            </a:r>
          </a:p>
        </p:txBody>
      </p:sp>
      <p:sp>
        <p:nvSpPr>
          <p:cNvPr id="8" name="矩形 7">
            <a:extLst>
              <a:ext uri="{FF2B5EF4-FFF2-40B4-BE49-F238E27FC236}">
                <a16:creationId xmlns:a16="http://schemas.microsoft.com/office/drawing/2014/main" id="{1C60078C-F478-8748-FBDE-F933166698DA}"/>
              </a:ext>
            </a:extLst>
          </p:cNvPr>
          <p:cNvSpPr/>
          <p:nvPr/>
        </p:nvSpPr>
        <p:spPr>
          <a:xfrm>
            <a:off x="4213950" y="4191975"/>
            <a:ext cx="144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rPr>
              <a:t>合同签署</a:t>
            </a:r>
          </a:p>
        </p:txBody>
      </p:sp>
      <p:cxnSp>
        <p:nvCxnSpPr>
          <p:cNvPr id="10" name="直接箭头连接符 9">
            <a:extLst>
              <a:ext uri="{FF2B5EF4-FFF2-40B4-BE49-F238E27FC236}">
                <a16:creationId xmlns:a16="http://schemas.microsoft.com/office/drawing/2014/main" id="{52020C37-C8BF-05D0-0938-1EBDD0A377D4}"/>
              </a:ext>
            </a:extLst>
          </p:cNvPr>
          <p:cNvCxnSpPr>
            <a:cxnSpLocks/>
            <a:stCxn id="5" idx="2"/>
          </p:cNvCxnSpPr>
          <p:nvPr/>
        </p:nvCxnSpPr>
        <p:spPr>
          <a:xfrm>
            <a:off x="4933950" y="2666025"/>
            <a:ext cx="0" cy="3057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186E6F24-EF0F-5F52-B1B9-A3BC0BDDDD6F}"/>
              </a:ext>
            </a:extLst>
          </p:cNvPr>
          <p:cNvCxnSpPr>
            <a:stCxn id="6" idx="2"/>
          </p:cNvCxnSpPr>
          <p:nvPr/>
        </p:nvCxnSpPr>
        <p:spPr>
          <a:xfrm>
            <a:off x="4933950" y="3294675"/>
            <a:ext cx="0" cy="2686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11AE9A87-D3F4-F451-3621-D44B0B073633}"/>
              </a:ext>
            </a:extLst>
          </p:cNvPr>
          <p:cNvCxnSpPr>
            <a:stCxn id="7" idx="2"/>
            <a:endCxn id="8" idx="0"/>
          </p:cNvCxnSpPr>
          <p:nvPr/>
        </p:nvCxnSpPr>
        <p:spPr>
          <a:xfrm>
            <a:off x="4933950" y="3923325"/>
            <a:ext cx="0" cy="2686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矩形: 圆角 17">
            <a:extLst>
              <a:ext uri="{FF2B5EF4-FFF2-40B4-BE49-F238E27FC236}">
                <a16:creationId xmlns:a16="http://schemas.microsoft.com/office/drawing/2014/main" id="{7345EBE1-17E5-4881-612E-6D3A8BA61333}"/>
              </a:ext>
            </a:extLst>
          </p:cNvPr>
          <p:cNvSpPr/>
          <p:nvPr/>
        </p:nvSpPr>
        <p:spPr>
          <a:xfrm>
            <a:off x="6192337" y="2306025"/>
            <a:ext cx="1440000" cy="360000"/>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招标书</a:t>
            </a:r>
          </a:p>
        </p:txBody>
      </p:sp>
      <p:sp>
        <p:nvSpPr>
          <p:cNvPr id="19" name="矩形: 圆角 18">
            <a:extLst>
              <a:ext uri="{FF2B5EF4-FFF2-40B4-BE49-F238E27FC236}">
                <a16:creationId xmlns:a16="http://schemas.microsoft.com/office/drawing/2014/main" id="{E7D6AD60-579A-356A-5A98-ECDB59BDFC34}"/>
              </a:ext>
            </a:extLst>
          </p:cNvPr>
          <p:cNvSpPr/>
          <p:nvPr/>
        </p:nvSpPr>
        <p:spPr>
          <a:xfrm>
            <a:off x="6192338" y="2934675"/>
            <a:ext cx="1440000" cy="360000"/>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投标书</a:t>
            </a:r>
          </a:p>
        </p:txBody>
      </p:sp>
      <p:cxnSp>
        <p:nvCxnSpPr>
          <p:cNvPr id="21" name="直接箭头连接符 20">
            <a:extLst>
              <a:ext uri="{FF2B5EF4-FFF2-40B4-BE49-F238E27FC236}">
                <a16:creationId xmlns:a16="http://schemas.microsoft.com/office/drawing/2014/main" id="{1EE82A72-DBD2-AE9D-F0A3-A9A7F3B38893}"/>
              </a:ext>
            </a:extLst>
          </p:cNvPr>
          <p:cNvCxnSpPr>
            <a:cxnSpLocks/>
            <a:stCxn id="5" idx="3"/>
          </p:cNvCxnSpPr>
          <p:nvPr/>
        </p:nvCxnSpPr>
        <p:spPr>
          <a:xfrm>
            <a:off x="5653950" y="2486025"/>
            <a:ext cx="53838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36ED9D99-B50E-B924-1E38-D92434443E00}"/>
              </a:ext>
            </a:extLst>
          </p:cNvPr>
          <p:cNvCxnSpPr>
            <a:stCxn id="6" idx="3"/>
          </p:cNvCxnSpPr>
          <p:nvPr/>
        </p:nvCxnSpPr>
        <p:spPr>
          <a:xfrm>
            <a:off x="5653950" y="3114675"/>
            <a:ext cx="53838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矩形: 圆角 23">
            <a:extLst>
              <a:ext uri="{FF2B5EF4-FFF2-40B4-BE49-F238E27FC236}">
                <a16:creationId xmlns:a16="http://schemas.microsoft.com/office/drawing/2014/main" id="{97A5186D-DA0E-EF3C-1726-C809D3BCD520}"/>
              </a:ext>
            </a:extLst>
          </p:cNvPr>
          <p:cNvSpPr/>
          <p:nvPr/>
        </p:nvSpPr>
        <p:spPr>
          <a:xfrm>
            <a:off x="6192338" y="4191975"/>
            <a:ext cx="1440000" cy="360000"/>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合同</a:t>
            </a:r>
          </a:p>
        </p:txBody>
      </p:sp>
      <p:cxnSp>
        <p:nvCxnSpPr>
          <p:cNvPr id="26" name="直接箭头连接符 25">
            <a:extLst>
              <a:ext uri="{FF2B5EF4-FFF2-40B4-BE49-F238E27FC236}">
                <a16:creationId xmlns:a16="http://schemas.microsoft.com/office/drawing/2014/main" id="{59432C7F-7F93-6C4C-73C2-4F0181E5A5B4}"/>
              </a:ext>
            </a:extLst>
          </p:cNvPr>
          <p:cNvCxnSpPr>
            <a:stCxn id="8" idx="3"/>
          </p:cNvCxnSpPr>
          <p:nvPr/>
        </p:nvCxnSpPr>
        <p:spPr>
          <a:xfrm>
            <a:off x="5653950" y="4371975"/>
            <a:ext cx="53838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文本框 37">
            <a:extLst>
              <a:ext uri="{FF2B5EF4-FFF2-40B4-BE49-F238E27FC236}">
                <a16:creationId xmlns:a16="http://schemas.microsoft.com/office/drawing/2014/main" id="{F067E38B-8628-172C-2C17-0EFD8C5E8D2F}"/>
              </a:ext>
            </a:extLst>
          </p:cNvPr>
          <p:cNvSpPr txBox="1"/>
          <p:nvPr/>
        </p:nvSpPr>
        <p:spPr>
          <a:xfrm>
            <a:off x="6192337" y="4626987"/>
            <a:ext cx="2097049" cy="307777"/>
          </a:xfrm>
          <a:prstGeom prst="rect">
            <a:avLst/>
          </a:prstGeom>
          <a:noFill/>
          <a:ln>
            <a:noFill/>
          </a:ln>
        </p:spPr>
        <p:txBody>
          <a:bodyPr wrap="none" rtlCol="0">
            <a:spAutoFit/>
          </a:bodyPr>
          <a:lstStyle/>
          <a:p>
            <a:r>
              <a:rPr lang="en-US" altLang="zh-CN" sz="1400"/>
              <a:t>+ </a:t>
            </a:r>
            <a:r>
              <a:rPr lang="zh-CN" altLang="en-US" sz="1400"/>
              <a:t>工作任务说明书 </a:t>
            </a:r>
            <a:r>
              <a:rPr lang="en-US" altLang="zh-CN" sz="1400"/>
              <a:t>SOW</a:t>
            </a:r>
          </a:p>
        </p:txBody>
      </p:sp>
    </p:spTree>
    <p:extLst>
      <p:ext uri="{BB962C8B-B14F-4D97-AF65-F5344CB8AC3E}">
        <p14:creationId xmlns:p14="http://schemas.microsoft.com/office/powerpoint/2010/main" val="182349185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ED06D-AC5A-D75C-FA43-12A4052482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D26F98-3B68-3216-93F5-68C09B1CB549}"/>
              </a:ext>
            </a:extLst>
          </p:cNvPr>
          <p:cNvSpPr>
            <a:spLocks noGrp="1"/>
          </p:cNvSpPr>
          <p:nvPr>
            <p:ph type="title"/>
          </p:nvPr>
        </p:nvSpPr>
        <p:spPr>
          <a:xfrm>
            <a:off x="792000" y="360000"/>
            <a:ext cx="6375921" cy="429413"/>
          </a:xfrm>
        </p:spPr>
        <p:txBody>
          <a:bodyPr/>
          <a:lstStyle/>
          <a:p>
            <a:r>
              <a:rPr lang="en-US" altLang="zh-CN"/>
              <a:t>2.3.1 </a:t>
            </a:r>
            <a:r>
              <a:rPr lang="zh-CN" altLang="en-US"/>
              <a:t>招标书</a:t>
            </a:r>
          </a:p>
        </p:txBody>
      </p:sp>
      <p:sp>
        <p:nvSpPr>
          <p:cNvPr id="9" name="内容占位符 8">
            <a:extLst>
              <a:ext uri="{FF2B5EF4-FFF2-40B4-BE49-F238E27FC236}">
                <a16:creationId xmlns:a16="http://schemas.microsoft.com/office/drawing/2014/main" id="{F4BB1821-59ED-E95D-BDA1-BDD1B70145B7}"/>
              </a:ext>
            </a:extLst>
          </p:cNvPr>
          <p:cNvSpPr>
            <a:spLocks noGrp="1"/>
          </p:cNvSpPr>
          <p:nvPr>
            <p:ph idx="1"/>
          </p:nvPr>
        </p:nvSpPr>
        <p:spPr>
          <a:xfrm>
            <a:off x="696000" y="864000"/>
            <a:ext cx="10800000" cy="5400000"/>
          </a:xfrm>
        </p:spPr>
        <p:txBody>
          <a:bodyPr/>
          <a:lstStyle/>
          <a:p>
            <a:r>
              <a:rPr lang="en-US" altLang="zh-CN"/>
              <a:t>IFB - Invitation for Bid</a:t>
            </a:r>
            <a:r>
              <a:rPr lang="zh-CN" altLang="en-US"/>
              <a:t>（投标邀请）</a:t>
            </a:r>
            <a:endParaRPr lang="en-US" altLang="zh-CN"/>
          </a:p>
          <a:p>
            <a:pPr lvl="1"/>
            <a:r>
              <a:rPr lang="zh-CN" altLang="en-US"/>
              <a:t>最正式，全面考察</a:t>
            </a:r>
          </a:p>
          <a:p>
            <a:r>
              <a:rPr lang="en-US" altLang="zh-CN"/>
              <a:t>RFP - Request for Proposal</a:t>
            </a:r>
            <a:r>
              <a:rPr lang="zh-CN" altLang="en-US"/>
              <a:t>（建议书提交邀请）</a:t>
            </a:r>
            <a:endParaRPr lang="en-US" altLang="zh-CN"/>
          </a:p>
          <a:p>
            <a:pPr lvl="1"/>
            <a:r>
              <a:rPr lang="zh-CN" altLang="en-US"/>
              <a:t>看看你的方案</a:t>
            </a:r>
          </a:p>
          <a:p>
            <a:r>
              <a:rPr lang="en-US" altLang="zh-CN"/>
              <a:t>RFQ - Request for Quotation</a:t>
            </a:r>
            <a:r>
              <a:rPr lang="zh-CN" altLang="en-US"/>
              <a:t>（报价邀请）</a:t>
            </a:r>
            <a:endParaRPr lang="en-US" altLang="zh-CN"/>
          </a:p>
          <a:p>
            <a:pPr lvl="1"/>
            <a:r>
              <a:rPr lang="zh-CN" altLang="en-US"/>
              <a:t>看看你的报价</a:t>
            </a:r>
            <a:endParaRPr lang="en-US" altLang="zh-CN"/>
          </a:p>
          <a:p>
            <a:r>
              <a:rPr lang="en-US" altLang="zh-CN"/>
              <a:t>IFN – Invitation for Negotiation</a:t>
            </a:r>
            <a:r>
              <a:rPr lang="zh-CN" altLang="en-US"/>
              <a:t>（谈判邀请）</a:t>
            </a:r>
            <a:endParaRPr lang="en-US" altLang="zh-CN"/>
          </a:p>
          <a:p>
            <a:pPr lvl="1"/>
            <a:r>
              <a:rPr lang="zh-CN" altLang="en-US"/>
              <a:t>非正式</a:t>
            </a:r>
          </a:p>
          <a:p>
            <a:endParaRPr lang="zh-CN" altLang="en-US"/>
          </a:p>
        </p:txBody>
      </p:sp>
      <p:sp>
        <p:nvSpPr>
          <p:cNvPr id="34" name="文本占位符 33">
            <a:extLst>
              <a:ext uri="{FF2B5EF4-FFF2-40B4-BE49-F238E27FC236}">
                <a16:creationId xmlns:a16="http://schemas.microsoft.com/office/drawing/2014/main" id="{F9308559-5308-7B28-8224-39A1EA6A8326}"/>
              </a:ext>
            </a:extLst>
          </p:cNvPr>
          <p:cNvSpPr>
            <a:spLocks noGrp="1"/>
          </p:cNvSpPr>
          <p:nvPr>
            <p:ph type="body" sz="quarter" idx="10"/>
          </p:nvPr>
        </p:nvSpPr>
        <p:spPr>
          <a:xfrm>
            <a:off x="7071919" y="448519"/>
            <a:ext cx="4424080" cy="338554"/>
          </a:xfrm>
        </p:spPr>
        <p:txBody>
          <a:bodyPr/>
          <a:lstStyle/>
          <a:p>
            <a:r>
              <a:rPr lang="en-US" altLang="zh-CN"/>
              <a:t>Tender Document</a:t>
            </a:r>
            <a:endParaRPr lang="zh-CN" altLang="en-US"/>
          </a:p>
        </p:txBody>
      </p:sp>
      <p:sp>
        <p:nvSpPr>
          <p:cNvPr id="3" name="矩形 2">
            <a:extLst>
              <a:ext uri="{FF2B5EF4-FFF2-40B4-BE49-F238E27FC236}">
                <a16:creationId xmlns:a16="http://schemas.microsoft.com/office/drawing/2014/main" id="{7512E9F0-594D-5F79-4AB8-3FA56286FD42}"/>
              </a:ext>
            </a:extLst>
          </p:cNvPr>
          <p:cNvSpPr/>
          <p:nvPr/>
        </p:nvSpPr>
        <p:spPr>
          <a:xfrm>
            <a:off x="7779194" y="2306025"/>
            <a:ext cx="144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rPr>
              <a:t>甲方招标书定义</a:t>
            </a:r>
          </a:p>
        </p:txBody>
      </p:sp>
      <p:sp>
        <p:nvSpPr>
          <p:cNvPr id="4" name="矩形 3">
            <a:extLst>
              <a:ext uri="{FF2B5EF4-FFF2-40B4-BE49-F238E27FC236}">
                <a16:creationId xmlns:a16="http://schemas.microsoft.com/office/drawing/2014/main" id="{C7AFA702-50D6-8CC7-B1F8-713026189595}"/>
              </a:ext>
            </a:extLst>
          </p:cNvPr>
          <p:cNvSpPr/>
          <p:nvPr/>
        </p:nvSpPr>
        <p:spPr>
          <a:xfrm>
            <a:off x="7779194" y="2934675"/>
            <a:ext cx="144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rPr>
              <a:t>乙方分析项目</a:t>
            </a:r>
          </a:p>
        </p:txBody>
      </p:sp>
      <p:sp>
        <p:nvSpPr>
          <p:cNvPr id="5" name="矩形 4">
            <a:extLst>
              <a:ext uri="{FF2B5EF4-FFF2-40B4-BE49-F238E27FC236}">
                <a16:creationId xmlns:a16="http://schemas.microsoft.com/office/drawing/2014/main" id="{056A5E99-836B-6DA7-2342-82B27A797905}"/>
              </a:ext>
            </a:extLst>
          </p:cNvPr>
          <p:cNvSpPr/>
          <p:nvPr/>
        </p:nvSpPr>
        <p:spPr>
          <a:xfrm>
            <a:off x="7779194" y="3563325"/>
            <a:ext cx="144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rPr>
              <a:t>招标与竞标</a:t>
            </a:r>
          </a:p>
        </p:txBody>
      </p:sp>
      <p:sp>
        <p:nvSpPr>
          <p:cNvPr id="6" name="矩形 5">
            <a:extLst>
              <a:ext uri="{FF2B5EF4-FFF2-40B4-BE49-F238E27FC236}">
                <a16:creationId xmlns:a16="http://schemas.microsoft.com/office/drawing/2014/main" id="{34FD2EF7-193B-3776-048F-EDC7DA265AE3}"/>
              </a:ext>
            </a:extLst>
          </p:cNvPr>
          <p:cNvSpPr/>
          <p:nvPr/>
        </p:nvSpPr>
        <p:spPr>
          <a:xfrm>
            <a:off x="7779194" y="4191975"/>
            <a:ext cx="144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rPr>
              <a:t>合同签署</a:t>
            </a:r>
          </a:p>
        </p:txBody>
      </p:sp>
      <p:cxnSp>
        <p:nvCxnSpPr>
          <p:cNvPr id="7" name="直接箭头连接符 6">
            <a:extLst>
              <a:ext uri="{FF2B5EF4-FFF2-40B4-BE49-F238E27FC236}">
                <a16:creationId xmlns:a16="http://schemas.microsoft.com/office/drawing/2014/main" id="{3FF71AE2-FFF0-F37B-9340-ED7E6E3927E2}"/>
              </a:ext>
            </a:extLst>
          </p:cNvPr>
          <p:cNvCxnSpPr>
            <a:cxnSpLocks/>
            <a:stCxn id="3" idx="2"/>
          </p:cNvCxnSpPr>
          <p:nvPr/>
        </p:nvCxnSpPr>
        <p:spPr>
          <a:xfrm>
            <a:off x="8499194" y="2666025"/>
            <a:ext cx="0" cy="3057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4197B09C-8D22-8873-6CEE-2F6672AC2B4A}"/>
              </a:ext>
            </a:extLst>
          </p:cNvPr>
          <p:cNvCxnSpPr>
            <a:stCxn id="4" idx="2"/>
          </p:cNvCxnSpPr>
          <p:nvPr/>
        </p:nvCxnSpPr>
        <p:spPr>
          <a:xfrm>
            <a:off x="8499194" y="3294675"/>
            <a:ext cx="0" cy="2686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DE4EEA43-A098-49D0-FA94-444C17FCB076}"/>
              </a:ext>
            </a:extLst>
          </p:cNvPr>
          <p:cNvCxnSpPr>
            <a:stCxn id="5" idx="2"/>
            <a:endCxn id="6" idx="0"/>
          </p:cNvCxnSpPr>
          <p:nvPr/>
        </p:nvCxnSpPr>
        <p:spPr>
          <a:xfrm>
            <a:off x="8499194" y="3923325"/>
            <a:ext cx="0" cy="2686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矩形: 圆角 10">
            <a:extLst>
              <a:ext uri="{FF2B5EF4-FFF2-40B4-BE49-F238E27FC236}">
                <a16:creationId xmlns:a16="http://schemas.microsoft.com/office/drawing/2014/main" id="{CBA3BFC9-301A-921D-5957-BE8FD3FC8C3D}"/>
              </a:ext>
            </a:extLst>
          </p:cNvPr>
          <p:cNvSpPr/>
          <p:nvPr/>
        </p:nvSpPr>
        <p:spPr>
          <a:xfrm>
            <a:off x="9757581" y="2306025"/>
            <a:ext cx="1440000" cy="360000"/>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招标书</a:t>
            </a:r>
          </a:p>
        </p:txBody>
      </p:sp>
      <p:sp>
        <p:nvSpPr>
          <p:cNvPr id="12" name="矩形: 圆角 11">
            <a:extLst>
              <a:ext uri="{FF2B5EF4-FFF2-40B4-BE49-F238E27FC236}">
                <a16:creationId xmlns:a16="http://schemas.microsoft.com/office/drawing/2014/main" id="{25A60122-E137-8D85-67E7-784BA2E0FAFB}"/>
              </a:ext>
            </a:extLst>
          </p:cNvPr>
          <p:cNvSpPr/>
          <p:nvPr/>
        </p:nvSpPr>
        <p:spPr>
          <a:xfrm>
            <a:off x="9757582" y="2934675"/>
            <a:ext cx="1440000" cy="360000"/>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投标书</a:t>
            </a:r>
          </a:p>
        </p:txBody>
      </p:sp>
      <p:cxnSp>
        <p:nvCxnSpPr>
          <p:cNvPr id="13" name="直接箭头连接符 12">
            <a:extLst>
              <a:ext uri="{FF2B5EF4-FFF2-40B4-BE49-F238E27FC236}">
                <a16:creationId xmlns:a16="http://schemas.microsoft.com/office/drawing/2014/main" id="{3A14B600-D7F8-60A4-7A84-DC3897F18F71}"/>
              </a:ext>
            </a:extLst>
          </p:cNvPr>
          <p:cNvCxnSpPr>
            <a:cxnSpLocks/>
            <a:stCxn id="3" idx="3"/>
          </p:cNvCxnSpPr>
          <p:nvPr/>
        </p:nvCxnSpPr>
        <p:spPr>
          <a:xfrm>
            <a:off x="9219194" y="2486025"/>
            <a:ext cx="53838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69A45339-D7D6-095D-B6EB-04283573527B}"/>
              </a:ext>
            </a:extLst>
          </p:cNvPr>
          <p:cNvCxnSpPr>
            <a:stCxn id="4" idx="3"/>
          </p:cNvCxnSpPr>
          <p:nvPr/>
        </p:nvCxnSpPr>
        <p:spPr>
          <a:xfrm>
            <a:off x="9219194" y="3114675"/>
            <a:ext cx="53838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矩形: 圆角 14">
            <a:extLst>
              <a:ext uri="{FF2B5EF4-FFF2-40B4-BE49-F238E27FC236}">
                <a16:creationId xmlns:a16="http://schemas.microsoft.com/office/drawing/2014/main" id="{C31BFB6B-FAD0-0B65-6E1B-6AEFCF2A2B52}"/>
              </a:ext>
            </a:extLst>
          </p:cNvPr>
          <p:cNvSpPr/>
          <p:nvPr/>
        </p:nvSpPr>
        <p:spPr>
          <a:xfrm>
            <a:off x="9757582" y="4191975"/>
            <a:ext cx="1440000" cy="360000"/>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合同</a:t>
            </a:r>
          </a:p>
        </p:txBody>
      </p:sp>
      <p:cxnSp>
        <p:nvCxnSpPr>
          <p:cNvPr id="16" name="直接箭头连接符 15">
            <a:extLst>
              <a:ext uri="{FF2B5EF4-FFF2-40B4-BE49-F238E27FC236}">
                <a16:creationId xmlns:a16="http://schemas.microsoft.com/office/drawing/2014/main" id="{4C1A2892-C268-A985-CF1F-B0364AC8A7AC}"/>
              </a:ext>
            </a:extLst>
          </p:cNvPr>
          <p:cNvCxnSpPr>
            <a:stCxn id="6" idx="3"/>
          </p:cNvCxnSpPr>
          <p:nvPr/>
        </p:nvCxnSpPr>
        <p:spPr>
          <a:xfrm>
            <a:off x="9219194" y="4371975"/>
            <a:ext cx="53838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AB51BDC4-6607-47DE-DEAE-21B517FE1008}"/>
              </a:ext>
            </a:extLst>
          </p:cNvPr>
          <p:cNvSpPr txBox="1"/>
          <p:nvPr/>
        </p:nvSpPr>
        <p:spPr>
          <a:xfrm>
            <a:off x="9757581" y="4626987"/>
            <a:ext cx="2097049" cy="307777"/>
          </a:xfrm>
          <a:prstGeom prst="rect">
            <a:avLst/>
          </a:prstGeom>
          <a:noFill/>
          <a:ln>
            <a:noFill/>
          </a:ln>
        </p:spPr>
        <p:txBody>
          <a:bodyPr wrap="none" rtlCol="0">
            <a:spAutoFit/>
          </a:bodyPr>
          <a:lstStyle/>
          <a:p>
            <a:r>
              <a:rPr lang="en-US" altLang="zh-CN" sz="1400"/>
              <a:t>+ </a:t>
            </a:r>
            <a:r>
              <a:rPr lang="zh-CN" altLang="en-US" sz="1400"/>
              <a:t>工作任务说明书 </a:t>
            </a:r>
            <a:r>
              <a:rPr lang="en-US" altLang="zh-CN" sz="1400"/>
              <a:t>SOW</a:t>
            </a:r>
          </a:p>
        </p:txBody>
      </p:sp>
    </p:spTree>
    <p:extLst>
      <p:ext uri="{BB962C8B-B14F-4D97-AF65-F5344CB8AC3E}">
        <p14:creationId xmlns:p14="http://schemas.microsoft.com/office/powerpoint/2010/main" val="14347254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71699-3A92-B0BB-40D9-1E118A0261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43A999-B390-6C70-C9F0-8747A3DC33C9}"/>
              </a:ext>
            </a:extLst>
          </p:cNvPr>
          <p:cNvSpPr>
            <a:spLocks noGrp="1"/>
          </p:cNvSpPr>
          <p:nvPr>
            <p:ph type="title"/>
          </p:nvPr>
        </p:nvSpPr>
        <p:spPr>
          <a:xfrm>
            <a:off x="792000" y="360000"/>
            <a:ext cx="6375921" cy="429413"/>
          </a:xfrm>
        </p:spPr>
        <p:txBody>
          <a:bodyPr/>
          <a:lstStyle/>
          <a:p>
            <a:r>
              <a:rPr lang="en-US" altLang="zh-CN"/>
              <a:t>2.3.2 </a:t>
            </a:r>
            <a:r>
              <a:rPr lang="zh-CN" altLang="en-US"/>
              <a:t>投标书</a:t>
            </a:r>
          </a:p>
        </p:txBody>
      </p:sp>
      <p:sp>
        <p:nvSpPr>
          <p:cNvPr id="4" name="内容占位符 3">
            <a:extLst>
              <a:ext uri="{FF2B5EF4-FFF2-40B4-BE49-F238E27FC236}">
                <a16:creationId xmlns:a16="http://schemas.microsoft.com/office/drawing/2014/main" id="{B6A04FD2-128D-A3A0-5D0E-767D6D3C6673}"/>
              </a:ext>
            </a:extLst>
          </p:cNvPr>
          <p:cNvSpPr>
            <a:spLocks noGrp="1"/>
          </p:cNvSpPr>
          <p:nvPr>
            <p:ph idx="1"/>
          </p:nvPr>
        </p:nvSpPr>
        <p:spPr>
          <a:xfrm>
            <a:off x="696000" y="864000"/>
            <a:ext cx="10800000" cy="5400000"/>
          </a:xfrm>
        </p:spPr>
        <p:txBody>
          <a:bodyPr/>
          <a:lstStyle/>
          <a:p>
            <a:r>
              <a:rPr lang="zh-CN" altLang="en-US"/>
              <a:t>建议书 </a:t>
            </a:r>
            <a:r>
              <a:rPr lang="en-US" altLang="zh-CN"/>
              <a:t>Proposal</a:t>
            </a:r>
          </a:p>
          <a:p>
            <a:r>
              <a:rPr lang="zh-CN" altLang="en-US"/>
              <a:t>报价单 </a:t>
            </a:r>
            <a:r>
              <a:rPr lang="en-US" altLang="zh-CN"/>
              <a:t>Quotation</a:t>
            </a:r>
            <a:endParaRPr lang="zh-CN" altLang="en-US"/>
          </a:p>
        </p:txBody>
      </p:sp>
      <p:sp>
        <p:nvSpPr>
          <p:cNvPr id="5" name="文本占位符 4">
            <a:extLst>
              <a:ext uri="{FF2B5EF4-FFF2-40B4-BE49-F238E27FC236}">
                <a16:creationId xmlns:a16="http://schemas.microsoft.com/office/drawing/2014/main" id="{9311CBA1-5F5F-D9BE-8617-80B7E56D9850}"/>
              </a:ext>
            </a:extLst>
          </p:cNvPr>
          <p:cNvSpPr>
            <a:spLocks noGrp="1"/>
          </p:cNvSpPr>
          <p:nvPr>
            <p:ph type="body" sz="quarter" idx="10"/>
          </p:nvPr>
        </p:nvSpPr>
        <p:spPr>
          <a:xfrm>
            <a:off x="7071919" y="448519"/>
            <a:ext cx="4424080" cy="338554"/>
          </a:xfrm>
        </p:spPr>
        <p:txBody>
          <a:bodyPr/>
          <a:lstStyle/>
          <a:p>
            <a:r>
              <a:rPr lang="en-US" altLang="zh-CN"/>
              <a:t>Bid Proposal</a:t>
            </a:r>
            <a:endParaRPr lang="zh-CN" altLang="en-US"/>
          </a:p>
        </p:txBody>
      </p:sp>
      <p:sp>
        <p:nvSpPr>
          <p:cNvPr id="3" name="矩形 2">
            <a:extLst>
              <a:ext uri="{FF2B5EF4-FFF2-40B4-BE49-F238E27FC236}">
                <a16:creationId xmlns:a16="http://schemas.microsoft.com/office/drawing/2014/main" id="{9286A6AA-EF78-E815-260D-B7EF61B7C380}"/>
              </a:ext>
            </a:extLst>
          </p:cNvPr>
          <p:cNvSpPr/>
          <p:nvPr/>
        </p:nvSpPr>
        <p:spPr>
          <a:xfrm>
            <a:off x="7779194" y="2306025"/>
            <a:ext cx="144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rPr>
              <a:t>甲方招标书定义</a:t>
            </a:r>
          </a:p>
        </p:txBody>
      </p:sp>
      <p:sp>
        <p:nvSpPr>
          <p:cNvPr id="6" name="矩形 5">
            <a:extLst>
              <a:ext uri="{FF2B5EF4-FFF2-40B4-BE49-F238E27FC236}">
                <a16:creationId xmlns:a16="http://schemas.microsoft.com/office/drawing/2014/main" id="{3174CF22-1A73-3D81-9084-435EC37BF90D}"/>
              </a:ext>
            </a:extLst>
          </p:cNvPr>
          <p:cNvSpPr/>
          <p:nvPr/>
        </p:nvSpPr>
        <p:spPr>
          <a:xfrm>
            <a:off x="7779194" y="2934675"/>
            <a:ext cx="144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rPr>
              <a:t>乙方分析项目</a:t>
            </a:r>
          </a:p>
        </p:txBody>
      </p:sp>
      <p:sp>
        <p:nvSpPr>
          <p:cNvPr id="7" name="矩形 6">
            <a:extLst>
              <a:ext uri="{FF2B5EF4-FFF2-40B4-BE49-F238E27FC236}">
                <a16:creationId xmlns:a16="http://schemas.microsoft.com/office/drawing/2014/main" id="{93F38A45-A66F-F778-14A3-4CEB3F36DF34}"/>
              </a:ext>
            </a:extLst>
          </p:cNvPr>
          <p:cNvSpPr/>
          <p:nvPr/>
        </p:nvSpPr>
        <p:spPr>
          <a:xfrm>
            <a:off x="7779194" y="3563325"/>
            <a:ext cx="144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rPr>
              <a:t>招标与竞标</a:t>
            </a:r>
          </a:p>
        </p:txBody>
      </p:sp>
      <p:sp>
        <p:nvSpPr>
          <p:cNvPr id="8" name="矩形 7">
            <a:extLst>
              <a:ext uri="{FF2B5EF4-FFF2-40B4-BE49-F238E27FC236}">
                <a16:creationId xmlns:a16="http://schemas.microsoft.com/office/drawing/2014/main" id="{352A5E6F-75FB-F942-9535-6ECC189C96AA}"/>
              </a:ext>
            </a:extLst>
          </p:cNvPr>
          <p:cNvSpPr/>
          <p:nvPr/>
        </p:nvSpPr>
        <p:spPr>
          <a:xfrm>
            <a:off x="7779194" y="4191975"/>
            <a:ext cx="144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rPr>
              <a:t>合同签署</a:t>
            </a:r>
          </a:p>
        </p:txBody>
      </p:sp>
      <p:cxnSp>
        <p:nvCxnSpPr>
          <p:cNvPr id="9" name="直接箭头连接符 8">
            <a:extLst>
              <a:ext uri="{FF2B5EF4-FFF2-40B4-BE49-F238E27FC236}">
                <a16:creationId xmlns:a16="http://schemas.microsoft.com/office/drawing/2014/main" id="{B4F4D869-2EBA-536E-E5E1-5232252D1D90}"/>
              </a:ext>
            </a:extLst>
          </p:cNvPr>
          <p:cNvCxnSpPr>
            <a:cxnSpLocks/>
            <a:stCxn id="3" idx="2"/>
          </p:cNvCxnSpPr>
          <p:nvPr/>
        </p:nvCxnSpPr>
        <p:spPr>
          <a:xfrm>
            <a:off x="8499194" y="2666025"/>
            <a:ext cx="0" cy="3057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793B9439-9FE5-7277-AC0F-7A18E2629D52}"/>
              </a:ext>
            </a:extLst>
          </p:cNvPr>
          <p:cNvCxnSpPr>
            <a:stCxn id="6" idx="2"/>
          </p:cNvCxnSpPr>
          <p:nvPr/>
        </p:nvCxnSpPr>
        <p:spPr>
          <a:xfrm>
            <a:off x="8499194" y="3294675"/>
            <a:ext cx="0" cy="2686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F59BA091-BC9E-5714-4788-7C422E26E8C6}"/>
              </a:ext>
            </a:extLst>
          </p:cNvPr>
          <p:cNvCxnSpPr>
            <a:stCxn id="7" idx="2"/>
            <a:endCxn id="8" idx="0"/>
          </p:cNvCxnSpPr>
          <p:nvPr/>
        </p:nvCxnSpPr>
        <p:spPr>
          <a:xfrm>
            <a:off x="8499194" y="3923325"/>
            <a:ext cx="0" cy="2686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矩形: 圆角 11">
            <a:extLst>
              <a:ext uri="{FF2B5EF4-FFF2-40B4-BE49-F238E27FC236}">
                <a16:creationId xmlns:a16="http://schemas.microsoft.com/office/drawing/2014/main" id="{33A09714-2BA1-B311-3E15-9ABC53C754C9}"/>
              </a:ext>
            </a:extLst>
          </p:cNvPr>
          <p:cNvSpPr/>
          <p:nvPr/>
        </p:nvSpPr>
        <p:spPr>
          <a:xfrm>
            <a:off x="9757581" y="2306025"/>
            <a:ext cx="1440000" cy="360000"/>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招标书</a:t>
            </a:r>
          </a:p>
        </p:txBody>
      </p:sp>
      <p:sp>
        <p:nvSpPr>
          <p:cNvPr id="13" name="矩形: 圆角 12">
            <a:extLst>
              <a:ext uri="{FF2B5EF4-FFF2-40B4-BE49-F238E27FC236}">
                <a16:creationId xmlns:a16="http://schemas.microsoft.com/office/drawing/2014/main" id="{ABE32954-0844-5E53-CB7C-61DC9856C3DE}"/>
              </a:ext>
            </a:extLst>
          </p:cNvPr>
          <p:cNvSpPr/>
          <p:nvPr/>
        </p:nvSpPr>
        <p:spPr>
          <a:xfrm>
            <a:off x="9757582" y="2934675"/>
            <a:ext cx="1440000" cy="360000"/>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投标书</a:t>
            </a:r>
          </a:p>
        </p:txBody>
      </p:sp>
      <p:cxnSp>
        <p:nvCxnSpPr>
          <p:cNvPr id="14" name="直接箭头连接符 13">
            <a:extLst>
              <a:ext uri="{FF2B5EF4-FFF2-40B4-BE49-F238E27FC236}">
                <a16:creationId xmlns:a16="http://schemas.microsoft.com/office/drawing/2014/main" id="{D9566682-39F0-A793-B457-198D05A0A6FD}"/>
              </a:ext>
            </a:extLst>
          </p:cNvPr>
          <p:cNvCxnSpPr>
            <a:cxnSpLocks/>
            <a:stCxn id="3" idx="3"/>
          </p:cNvCxnSpPr>
          <p:nvPr/>
        </p:nvCxnSpPr>
        <p:spPr>
          <a:xfrm>
            <a:off x="9219194" y="2486025"/>
            <a:ext cx="53838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DC96BD40-0B67-AECE-33AF-D6D95BBCAD87}"/>
              </a:ext>
            </a:extLst>
          </p:cNvPr>
          <p:cNvCxnSpPr>
            <a:stCxn id="6" idx="3"/>
          </p:cNvCxnSpPr>
          <p:nvPr/>
        </p:nvCxnSpPr>
        <p:spPr>
          <a:xfrm>
            <a:off x="9219194" y="3114675"/>
            <a:ext cx="53838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矩形: 圆角 15">
            <a:extLst>
              <a:ext uri="{FF2B5EF4-FFF2-40B4-BE49-F238E27FC236}">
                <a16:creationId xmlns:a16="http://schemas.microsoft.com/office/drawing/2014/main" id="{7E24EBFF-EAC0-5E18-74ED-BB25A3BF22F5}"/>
              </a:ext>
            </a:extLst>
          </p:cNvPr>
          <p:cNvSpPr/>
          <p:nvPr/>
        </p:nvSpPr>
        <p:spPr>
          <a:xfrm>
            <a:off x="9757582" y="4191975"/>
            <a:ext cx="1440000" cy="360000"/>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合同</a:t>
            </a:r>
          </a:p>
        </p:txBody>
      </p:sp>
      <p:cxnSp>
        <p:nvCxnSpPr>
          <p:cNvPr id="17" name="直接箭头连接符 16">
            <a:extLst>
              <a:ext uri="{FF2B5EF4-FFF2-40B4-BE49-F238E27FC236}">
                <a16:creationId xmlns:a16="http://schemas.microsoft.com/office/drawing/2014/main" id="{C915BF63-70BF-1A24-B735-791479EFB6B1}"/>
              </a:ext>
            </a:extLst>
          </p:cNvPr>
          <p:cNvCxnSpPr>
            <a:stCxn id="8" idx="3"/>
          </p:cNvCxnSpPr>
          <p:nvPr/>
        </p:nvCxnSpPr>
        <p:spPr>
          <a:xfrm>
            <a:off x="9219194" y="4371975"/>
            <a:ext cx="53838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B6505081-EACC-B183-A6EE-66702CC8A80A}"/>
              </a:ext>
            </a:extLst>
          </p:cNvPr>
          <p:cNvSpPr txBox="1"/>
          <p:nvPr/>
        </p:nvSpPr>
        <p:spPr>
          <a:xfrm>
            <a:off x="9757581" y="4626987"/>
            <a:ext cx="2097049" cy="307777"/>
          </a:xfrm>
          <a:prstGeom prst="rect">
            <a:avLst/>
          </a:prstGeom>
          <a:noFill/>
          <a:ln>
            <a:noFill/>
          </a:ln>
        </p:spPr>
        <p:txBody>
          <a:bodyPr wrap="none" rtlCol="0">
            <a:spAutoFit/>
          </a:bodyPr>
          <a:lstStyle/>
          <a:p>
            <a:r>
              <a:rPr lang="en-US" altLang="zh-CN" sz="1400"/>
              <a:t>+ </a:t>
            </a:r>
            <a:r>
              <a:rPr lang="zh-CN" altLang="en-US" sz="1400"/>
              <a:t>工作任务说明书 </a:t>
            </a:r>
            <a:r>
              <a:rPr lang="en-US" altLang="zh-CN" sz="1400"/>
              <a:t>SOW</a:t>
            </a:r>
          </a:p>
        </p:txBody>
      </p:sp>
    </p:spTree>
    <p:extLst>
      <p:ext uri="{BB962C8B-B14F-4D97-AF65-F5344CB8AC3E}">
        <p14:creationId xmlns:p14="http://schemas.microsoft.com/office/powerpoint/2010/main" val="302117940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B72F4-564B-AB5D-6BF4-AC895308D3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A73D7A-0EC7-A39E-2AB8-97393928A36B}"/>
              </a:ext>
            </a:extLst>
          </p:cNvPr>
          <p:cNvSpPr>
            <a:spLocks noGrp="1"/>
          </p:cNvSpPr>
          <p:nvPr>
            <p:ph type="title"/>
          </p:nvPr>
        </p:nvSpPr>
        <p:spPr>
          <a:xfrm>
            <a:off x="792000" y="360000"/>
            <a:ext cx="6375921" cy="429413"/>
          </a:xfrm>
        </p:spPr>
        <p:txBody>
          <a:bodyPr/>
          <a:lstStyle/>
          <a:p>
            <a:r>
              <a:rPr lang="en-US" altLang="zh-CN"/>
              <a:t>2.3.3 </a:t>
            </a:r>
            <a:r>
              <a:rPr lang="zh-CN" altLang="en-US"/>
              <a:t>合同</a:t>
            </a:r>
          </a:p>
        </p:txBody>
      </p:sp>
      <p:sp>
        <p:nvSpPr>
          <p:cNvPr id="9" name="内容占位符 8">
            <a:extLst>
              <a:ext uri="{FF2B5EF4-FFF2-40B4-BE49-F238E27FC236}">
                <a16:creationId xmlns:a16="http://schemas.microsoft.com/office/drawing/2014/main" id="{013BEA87-BD94-CA8E-CCD3-7D5FB18C71F7}"/>
              </a:ext>
            </a:extLst>
          </p:cNvPr>
          <p:cNvSpPr>
            <a:spLocks noGrp="1"/>
          </p:cNvSpPr>
          <p:nvPr>
            <p:ph idx="1"/>
          </p:nvPr>
        </p:nvSpPr>
        <p:spPr>
          <a:xfrm>
            <a:off x="696000" y="864000"/>
            <a:ext cx="10800000" cy="5400000"/>
          </a:xfrm>
        </p:spPr>
        <p:txBody>
          <a:bodyPr/>
          <a:lstStyle/>
          <a:p>
            <a:r>
              <a:rPr lang="zh-CN" altLang="en-US"/>
              <a:t>更好的管理和约束双方的权力和义务</a:t>
            </a:r>
            <a:endParaRPr lang="en-US" altLang="zh-CN"/>
          </a:p>
        </p:txBody>
      </p:sp>
      <p:sp>
        <p:nvSpPr>
          <p:cNvPr id="5" name="文本占位符 4">
            <a:extLst>
              <a:ext uri="{FF2B5EF4-FFF2-40B4-BE49-F238E27FC236}">
                <a16:creationId xmlns:a16="http://schemas.microsoft.com/office/drawing/2014/main" id="{906EB9B4-0530-A01C-1517-0605BDD9AB0F}"/>
              </a:ext>
            </a:extLst>
          </p:cNvPr>
          <p:cNvSpPr>
            <a:spLocks noGrp="1"/>
          </p:cNvSpPr>
          <p:nvPr>
            <p:ph type="body" sz="quarter" idx="10"/>
          </p:nvPr>
        </p:nvSpPr>
        <p:spPr>
          <a:xfrm>
            <a:off x="7071919" y="448519"/>
            <a:ext cx="4424080" cy="338554"/>
          </a:xfrm>
        </p:spPr>
        <p:txBody>
          <a:bodyPr/>
          <a:lstStyle/>
          <a:p>
            <a:r>
              <a:rPr lang="en-US" altLang="zh-CN"/>
              <a:t>Contract</a:t>
            </a:r>
            <a:endParaRPr lang="zh-CN" altLang="en-US"/>
          </a:p>
        </p:txBody>
      </p:sp>
      <p:sp>
        <p:nvSpPr>
          <p:cNvPr id="3" name="矩形 2">
            <a:extLst>
              <a:ext uri="{FF2B5EF4-FFF2-40B4-BE49-F238E27FC236}">
                <a16:creationId xmlns:a16="http://schemas.microsoft.com/office/drawing/2014/main" id="{D6F58050-8F46-967F-1B5A-8DA048A66D56}"/>
              </a:ext>
            </a:extLst>
          </p:cNvPr>
          <p:cNvSpPr/>
          <p:nvPr/>
        </p:nvSpPr>
        <p:spPr>
          <a:xfrm>
            <a:off x="7779194" y="2306025"/>
            <a:ext cx="144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rPr>
              <a:t>甲方招标书定义</a:t>
            </a:r>
          </a:p>
        </p:txBody>
      </p:sp>
      <p:sp>
        <p:nvSpPr>
          <p:cNvPr id="4" name="矩形 3">
            <a:extLst>
              <a:ext uri="{FF2B5EF4-FFF2-40B4-BE49-F238E27FC236}">
                <a16:creationId xmlns:a16="http://schemas.microsoft.com/office/drawing/2014/main" id="{F7999FEA-0EAC-588B-D7E3-9B7B50971FA5}"/>
              </a:ext>
            </a:extLst>
          </p:cNvPr>
          <p:cNvSpPr/>
          <p:nvPr/>
        </p:nvSpPr>
        <p:spPr>
          <a:xfrm>
            <a:off x="7779194" y="2934675"/>
            <a:ext cx="144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rPr>
              <a:t>乙方分析项目</a:t>
            </a:r>
          </a:p>
        </p:txBody>
      </p:sp>
      <p:sp>
        <p:nvSpPr>
          <p:cNvPr id="6" name="矩形 5">
            <a:extLst>
              <a:ext uri="{FF2B5EF4-FFF2-40B4-BE49-F238E27FC236}">
                <a16:creationId xmlns:a16="http://schemas.microsoft.com/office/drawing/2014/main" id="{6BB74E91-7403-976E-6743-E24E1C82ABF9}"/>
              </a:ext>
            </a:extLst>
          </p:cNvPr>
          <p:cNvSpPr/>
          <p:nvPr/>
        </p:nvSpPr>
        <p:spPr>
          <a:xfrm>
            <a:off x="7779194" y="3563325"/>
            <a:ext cx="144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rPr>
              <a:t>招标与竞标</a:t>
            </a:r>
          </a:p>
        </p:txBody>
      </p:sp>
      <p:sp>
        <p:nvSpPr>
          <p:cNvPr id="7" name="矩形 6">
            <a:extLst>
              <a:ext uri="{FF2B5EF4-FFF2-40B4-BE49-F238E27FC236}">
                <a16:creationId xmlns:a16="http://schemas.microsoft.com/office/drawing/2014/main" id="{3CCC825F-DB41-1F0D-FB06-FAAB6C342BB7}"/>
              </a:ext>
            </a:extLst>
          </p:cNvPr>
          <p:cNvSpPr/>
          <p:nvPr/>
        </p:nvSpPr>
        <p:spPr>
          <a:xfrm>
            <a:off x="7779194" y="4191975"/>
            <a:ext cx="144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rPr>
              <a:t>合同签署</a:t>
            </a:r>
          </a:p>
        </p:txBody>
      </p:sp>
      <p:cxnSp>
        <p:nvCxnSpPr>
          <p:cNvPr id="8" name="直接箭头连接符 7">
            <a:extLst>
              <a:ext uri="{FF2B5EF4-FFF2-40B4-BE49-F238E27FC236}">
                <a16:creationId xmlns:a16="http://schemas.microsoft.com/office/drawing/2014/main" id="{DBB20D6A-FC63-A14B-1F69-D01EBFFB428D}"/>
              </a:ext>
            </a:extLst>
          </p:cNvPr>
          <p:cNvCxnSpPr>
            <a:cxnSpLocks/>
            <a:stCxn id="3" idx="2"/>
          </p:cNvCxnSpPr>
          <p:nvPr/>
        </p:nvCxnSpPr>
        <p:spPr>
          <a:xfrm>
            <a:off x="8499194" y="2666025"/>
            <a:ext cx="0" cy="3057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50925B99-2304-045F-25FE-3F0F13253CDC}"/>
              </a:ext>
            </a:extLst>
          </p:cNvPr>
          <p:cNvCxnSpPr>
            <a:stCxn id="4" idx="2"/>
          </p:cNvCxnSpPr>
          <p:nvPr/>
        </p:nvCxnSpPr>
        <p:spPr>
          <a:xfrm>
            <a:off x="8499194" y="3294675"/>
            <a:ext cx="0" cy="2686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CCFD4FB2-9963-B79D-C8B4-5BE6C157E3BA}"/>
              </a:ext>
            </a:extLst>
          </p:cNvPr>
          <p:cNvCxnSpPr>
            <a:stCxn id="6" idx="2"/>
            <a:endCxn id="7" idx="0"/>
          </p:cNvCxnSpPr>
          <p:nvPr/>
        </p:nvCxnSpPr>
        <p:spPr>
          <a:xfrm>
            <a:off x="8499194" y="3923325"/>
            <a:ext cx="0" cy="2686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矩形: 圆角 11">
            <a:extLst>
              <a:ext uri="{FF2B5EF4-FFF2-40B4-BE49-F238E27FC236}">
                <a16:creationId xmlns:a16="http://schemas.microsoft.com/office/drawing/2014/main" id="{6AEB236C-4878-CF7E-6681-6900235FD28C}"/>
              </a:ext>
            </a:extLst>
          </p:cNvPr>
          <p:cNvSpPr/>
          <p:nvPr/>
        </p:nvSpPr>
        <p:spPr>
          <a:xfrm>
            <a:off x="9757581" y="2306025"/>
            <a:ext cx="1440000" cy="360000"/>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招标书</a:t>
            </a:r>
          </a:p>
        </p:txBody>
      </p:sp>
      <p:sp>
        <p:nvSpPr>
          <p:cNvPr id="13" name="矩形: 圆角 12">
            <a:extLst>
              <a:ext uri="{FF2B5EF4-FFF2-40B4-BE49-F238E27FC236}">
                <a16:creationId xmlns:a16="http://schemas.microsoft.com/office/drawing/2014/main" id="{D2B67C2D-6903-374E-C29E-CE14BA55F981}"/>
              </a:ext>
            </a:extLst>
          </p:cNvPr>
          <p:cNvSpPr/>
          <p:nvPr/>
        </p:nvSpPr>
        <p:spPr>
          <a:xfrm>
            <a:off x="9757582" y="2934675"/>
            <a:ext cx="1440000" cy="360000"/>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投标书</a:t>
            </a:r>
          </a:p>
        </p:txBody>
      </p:sp>
      <p:cxnSp>
        <p:nvCxnSpPr>
          <p:cNvPr id="14" name="直接箭头连接符 13">
            <a:extLst>
              <a:ext uri="{FF2B5EF4-FFF2-40B4-BE49-F238E27FC236}">
                <a16:creationId xmlns:a16="http://schemas.microsoft.com/office/drawing/2014/main" id="{8EC7B117-5DA0-8D12-EAF7-8BB58831A70A}"/>
              </a:ext>
            </a:extLst>
          </p:cNvPr>
          <p:cNvCxnSpPr>
            <a:cxnSpLocks/>
            <a:stCxn id="3" idx="3"/>
          </p:cNvCxnSpPr>
          <p:nvPr/>
        </p:nvCxnSpPr>
        <p:spPr>
          <a:xfrm>
            <a:off x="9219194" y="2486025"/>
            <a:ext cx="53838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B55F1808-92F5-03BE-EB8A-A6F729D763A8}"/>
              </a:ext>
            </a:extLst>
          </p:cNvPr>
          <p:cNvCxnSpPr>
            <a:stCxn id="4" idx="3"/>
          </p:cNvCxnSpPr>
          <p:nvPr/>
        </p:nvCxnSpPr>
        <p:spPr>
          <a:xfrm>
            <a:off x="9219194" y="3114675"/>
            <a:ext cx="53838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矩形: 圆角 15">
            <a:extLst>
              <a:ext uri="{FF2B5EF4-FFF2-40B4-BE49-F238E27FC236}">
                <a16:creationId xmlns:a16="http://schemas.microsoft.com/office/drawing/2014/main" id="{D29B182C-C0FB-EDBE-8BEC-6C42F11E3FE4}"/>
              </a:ext>
            </a:extLst>
          </p:cNvPr>
          <p:cNvSpPr/>
          <p:nvPr/>
        </p:nvSpPr>
        <p:spPr>
          <a:xfrm>
            <a:off x="9757582" y="4191975"/>
            <a:ext cx="1440000" cy="360000"/>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合同</a:t>
            </a:r>
          </a:p>
        </p:txBody>
      </p:sp>
      <p:cxnSp>
        <p:nvCxnSpPr>
          <p:cNvPr id="17" name="直接箭头连接符 16">
            <a:extLst>
              <a:ext uri="{FF2B5EF4-FFF2-40B4-BE49-F238E27FC236}">
                <a16:creationId xmlns:a16="http://schemas.microsoft.com/office/drawing/2014/main" id="{29E14D5B-3B39-2707-6011-7E500867C9A0}"/>
              </a:ext>
            </a:extLst>
          </p:cNvPr>
          <p:cNvCxnSpPr>
            <a:stCxn id="7" idx="3"/>
          </p:cNvCxnSpPr>
          <p:nvPr/>
        </p:nvCxnSpPr>
        <p:spPr>
          <a:xfrm>
            <a:off x="9219194" y="4371975"/>
            <a:ext cx="53838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D7858771-E274-30B0-328B-E603C6D91540}"/>
              </a:ext>
            </a:extLst>
          </p:cNvPr>
          <p:cNvSpPr txBox="1"/>
          <p:nvPr/>
        </p:nvSpPr>
        <p:spPr>
          <a:xfrm>
            <a:off x="9757581" y="4626987"/>
            <a:ext cx="2097049" cy="307777"/>
          </a:xfrm>
          <a:prstGeom prst="rect">
            <a:avLst/>
          </a:prstGeom>
          <a:noFill/>
          <a:ln>
            <a:noFill/>
          </a:ln>
        </p:spPr>
        <p:txBody>
          <a:bodyPr wrap="none" rtlCol="0">
            <a:spAutoFit/>
          </a:bodyPr>
          <a:lstStyle/>
          <a:p>
            <a:r>
              <a:rPr lang="en-US" altLang="zh-CN" sz="1400"/>
              <a:t>+ </a:t>
            </a:r>
            <a:r>
              <a:rPr lang="zh-CN" altLang="en-US" sz="1400"/>
              <a:t>工作任务说明书 </a:t>
            </a:r>
            <a:r>
              <a:rPr lang="en-US" altLang="zh-CN" sz="1400"/>
              <a:t>SOW</a:t>
            </a:r>
          </a:p>
        </p:txBody>
      </p:sp>
    </p:spTree>
    <p:extLst>
      <p:ext uri="{BB962C8B-B14F-4D97-AF65-F5344CB8AC3E}">
        <p14:creationId xmlns:p14="http://schemas.microsoft.com/office/powerpoint/2010/main" val="80867429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6B9A99-5A27-A74D-B567-E3DF420A6D85}"/>
              </a:ext>
            </a:extLst>
          </p:cNvPr>
          <p:cNvSpPr>
            <a:spLocks noGrp="1"/>
          </p:cNvSpPr>
          <p:nvPr>
            <p:ph type="title"/>
          </p:nvPr>
        </p:nvSpPr>
        <p:spPr>
          <a:xfrm>
            <a:off x="792000" y="360000"/>
            <a:ext cx="6375921" cy="429413"/>
          </a:xfrm>
        </p:spPr>
        <p:txBody>
          <a:bodyPr>
            <a:normAutofit/>
          </a:bodyPr>
          <a:lstStyle/>
          <a:p>
            <a:r>
              <a:rPr lang="en-US" altLang="zh-CN"/>
              <a:t>2.4 </a:t>
            </a:r>
            <a:r>
              <a:rPr lang="zh-CN" altLang="en-US"/>
              <a:t>项目章程</a:t>
            </a:r>
          </a:p>
        </p:txBody>
      </p:sp>
      <p:sp>
        <p:nvSpPr>
          <p:cNvPr id="3" name="内容占位符 2">
            <a:extLst>
              <a:ext uri="{FF2B5EF4-FFF2-40B4-BE49-F238E27FC236}">
                <a16:creationId xmlns:a16="http://schemas.microsoft.com/office/drawing/2014/main" id="{C5AA769D-A128-6467-C065-875D6E15AF61}"/>
              </a:ext>
            </a:extLst>
          </p:cNvPr>
          <p:cNvSpPr>
            <a:spLocks noGrp="1"/>
          </p:cNvSpPr>
          <p:nvPr>
            <p:ph idx="1"/>
          </p:nvPr>
        </p:nvSpPr>
        <p:spPr>
          <a:xfrm>
            <a:off x="696000" y="864000"/>
            <a:ext cx="10800000" cy="5400000"/>
          </a:xfrm>
        </p:spPr>
        <p:txBody>
          <a:bodyPr>
            <a:normAutofit/>
          </a:bodyPr>
          <a:lstStyle/>
          <a:p>
            <a:r>
              <a:rPr lang="zh-CN" altLang="en-US"/>
              <a:t>指项目执行组织高层批准的一份以书面签署的确认项目存在的文件，包括对项目的确认、对项目经理的授权和项目目标的概述</a:t>
            </a:r>
            <a:endParaRPr lang="en-US" altLang="zh-CN"/>
          </a:p>
          <a:p>
            <a:pPr lvl="1"/>
            <a:r>
              <a:rPr lang="zh-CN" altLang="en-US"/>
              <a:t>为项目提供合法性基础：正式文档；正式批准项目启动</a:t>
            </a:r>
            <a:endParaRPr lang="en-US" altLang="zh-CN"/>
          </a:p>
          <a:p>
            <a:pPr lvl="1"/>
            <a:r>
              <a:rPr lang="zh-CN" altLang="en-US"/>
              <a:t>谁签发谁修改：项目发起人、出资人、高层管理签发</a:t>
            </a:r>
            <a:endParaRPr lang="en-US" altLang="zh-CN"/>
          </a:p>
          <a:p>
            <a:pPr lvl="1"/>
            <a:r>
              <a:rPr lang="zh-CN" altLang="en-US"/>
              <a:t>不能频繁修改</a:t>
            </a:r>
            <a:endParaRPr lang="en-US" altLang="zh-CN"/>
          </a:p>
          <a:p>
            <a:r>
              <a:rPr lang="zh-CN" altLang="en-US"/>
              <a:t>说明</a:t>
            </a:r>
          </a:p>
          <a:p>
            <a:pPr lvl="1"/>
            <a:r>
              <a:rPr lang="zh-CN" altLang="en-US"/>
              <a:t>不要写成论文：控制在 </a:t>
            </a:r>
            <a:r>
              <a:rPr lang="en-US" altLang="zh-CN"/>
              <a:t>2~5 </a:t>
            </a:r>
            <a:r>
              <a:rPr lang="zh-CN" altLang="en-US"/>
              <a:t>页内，重点突出目标、授权、范围、预算</a:t>
            </a:r>
          </a:p>
          <a:p>
            <a:pPr lvl="1"/>
            <a:r>
              <a:rPr lang="zh-CN" altLang="en-US"/>
              <a:t>保持相对稳定：如需重大变更（如目标调整、预算翻倍），必须重新走审批流程</a:t>
            </a:r>
            <a:endParaRPr lang="en-US" altLang="zh-CN"/>
          </a:p>
        </p:txBody>
      </p:sp>
      <p:sp>
        <p:nvSpPr>
          <p:cNvPr id="6" name="Text Placeholder 5">
            <a:extLst>
              <a:ext uri="{FF2B5EF4-FFF2-40B4-BE49-F238E27FC236}">
                <a16:creationId xmlns:a16="http://schemas.microsoft.com/office/drawing/2014/main" id="{338EA43D-2065-87EB-81F9-2219206BFB7E}"/>
              </a:ext>
            </a:extLst>
          </p:cNvPr>
          <p:cNvSpPr>
            <a:spLocks noGrp="1"/>
          </p:cNvSpPr>
          <p:nvPr>
            <p:ph type="body" sz="quarter" idx="10"/>
          </p:nvPr>
        </p:nvSpPr>
        <p:spPr>
          <a:xfrm>
            <a:off x="7071919" y="448519"/>
            <a:ext cx="4424080" cy="338554"/>
          </a:xfrm>
        </p:spPr>
        <p:txBody>
          <a:bodyPr/>
          <a:lstStyle/>
          <a:p>
            <a:r>
              <a:rPr lang="en-US" altLang="zh-CN"/>
              <a:t>Charter</a:t>
            </a:r>
            <a:endParaRPr lang="zh-CN" altLang="en-US"/>
          </a:p>
        </p:txBody>
      </p:sp>
    </p:spTree>
    <p:extLst>
      <p:ext uri="{BB962C8B-B14F-4D97-AF65-F5344CB8AC3E}">
        <p14:creationId xmlns:p14="http://schemas.microsoft.com/office/powerpoint/2010/main" val="25477817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364F3-9061-1E42-B628-C3560055AAA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5614DBB-3E01-A901-64C6-8A573474CBB8}"/>
              </a:ext>
            </a:extLst>
          </p:cNvPr>
          <p:cNvSpPr>
            <a:spLocks noGrp="1"/>
          </p:cNvSpPr>
          <p:nvPr>
            <p:ph type="title"/>
          </p:nvPr>
        </p:nvSpPr>
        <p:spPr>
          <a:xfrm>
            <a:off x="792000" y="360000"/>
            <a:ext cx="6375921" cy="429413"/>
          </a:xfrm>
        </p:spPr>
        <p:txBody>
          <a:bodyPr>
            <a:normAutofit/>
          </a:bodyPr>
          <a:lstStyle/>
          <a:p>
            <a:r>
              <a:rPr lang="en-US" altLang="zh-CN"/>
              <a:t>2.4 </a:t>
            </a:r>
            <a:r>
              <a:rPr lang="zh-CN" altLang="en-US"/>
              <a:t>项目章程</a:t>
            </a:r>
          </a:p>
        </p:txBody>
      </p:sp>
      <p:sp>
        <p:nvSpPr>
          <p:cNvPr id="7" name="内容占位符 6">
            <a:extLst>
              <a:ext uri="{FF2B5EF4-FFF2-40B4-BE49-F238E27FC236}">
                <a16:creationId xmlns:a16="http://schemas.microsoft.com/office/drawing/2014/main" id="{323B154C-1708-9BD9-72B8-43ED81844471}"/>
              </a:ext>
            </a:extLst>
          </p:cNvPr>
          <p:cNvSpPr>
            <a:spLocks noGrp="1"/>
          </p:cNvSpPr>
          <p:nvPr>
            <p:ph idx="1"/>
          </p:nvPr>
        </p:nvSpPr>
        <p:spPr>
          <a:xfrm>
            <a:off x="696000" y="864000"/>
            <a:ext cx="10800000" cy="5400000"/>
          </a:xfrm>
        </p:spPr>
        <p:txBody>
          <a:bodyPr numCol="2">
            <a:normAutofit/>
          </a:bodyPr>
          <a:lstStyle/>
          <a:p>
            <a:r>
              <a:rPr lang="zh-CN" altLang="en-US"/>
              <a:t>项目名称</a:t>
            </a:r>
            <a:endParaRPr lang="en-US" altLang="zh-CN"/>
          </a:p>
          <a:p>
            <a:r>
              <a:rPr lang="zh-CN" altLang="en-US"/>
              <a:t>项目发起人及联系方式</a:t>
            </a:r>
            <a:endParaRPr lang="en-US" altLang="zh-CN"/>
          </a:p>
          <a:p>
            <a:r>
              <a:rPr lang="zh-CN" altLang="en-US"/>
              <a:t>项目经理及联系方式</a:t>
            </a:r>
            <a:endParaRPr lang="en-US" altLang="zh-CN"/>
          </a:p>
          <a:p>
            <a:r>
              <a:rPr lang="zh-CN" altLang="en-US"/>
              <a:t>项目目标</a:t>
            </a:r>
            <a:endParaRPr lang="en-US" altLang="zh-CN"/>
          </a:p>
          <a:p>
            <a:r>
              <a:rPr lang="zh-CN" altLang="en-US"/>
              <a:t>业务范围</a:t>
            </a:r>
            <a:endParaRPr lang="en-US" altLang="zh-CN"/>
          </a:p>
          <a:p>
            <a:r>
              <a:rPr lang="zh-CN" altLang="en-US"/>
              <a:t>工作描述</a:t>
            </a:r>
            <a:r>
              <a:rPr lang="en-US" altLang="zh-CN"/>
              <a:t>/ </a:t>
            </a:r>
            <a:r>
              <a:rPr lang="zh-CN" altLang="en-US"/>
              <a:t>主要交付物概述</a:t>
            </a:r>
            <a:endParaRPr lang="en-US" altLang="zh-CN"/>
          </a:p>
          <a:p>
            <a:r>
              <a:rPr lang="zh-CN" altLang="en-US"/>
              <a:t>可交付成果（明确列出最终产出物）</a:t>
            </a:r>
            <a:endParaRPr lang="en-US" altLang="zh-CN"/>
          </a:p>
          <a:p>
            <a:r>
              <a:rPr lang="zh-CN" altLang="en-US"/>
              <a:t>时间安排</a:t>
            </a:r>
            <a:r>
              <a:rPr lang="en-US" altLang="zh-CN"/>
              <a:t>/ </a:t>
            </a:r>
            <a:r>
              <a:rPr lang="zh-CN" altLang="en-US"/>
              <a:t>高层级里程碑计划（非详细进度，而是关键节点）</a:t>
            </a:r>
            <a:endParaRPr lang="en-US" altLang="zh-CN"/>
          </a:p>
          <a:p>
            <a:r>
              <a:rPr lang="zh-CN" altLang="en-US"/>
              <a:t>项目预算</a:t>
            </a:r>
            <a:endParaRPr lang="en-US" altLang="zh-CN"/>
          </a:p>
          <a:p>
            <a:r>
              <a:rPr lang="zh-CN" altLang="en-US"/>
              <a:t>成员</a:t>
            </a:r>
            <a:r>
              <a:rPr lang="en-US" altLang="zh-CN"/>
              <a:t>/ </a:t>
            </a:r>
            <a:r>
              <a:rPr lang="zh-CN" altLang="en-US"/>
              <a:t>核心团队角色与职责概要</a:t>
            </a:r>
            <a:endParaRPr lang="en-US" altLang="zh-CN"/>
          </a:p>
          <a:p>
            <a:r>
              <a:rPr lang="zh-CN" altLang="en-US"/>
              <a:t>项目审批要求（谁有权批准变更？验收标准是什么？）</a:t>
            </a:r>
            <a:endParaRPr lang="en-US" altLang="zh-CN"/>
          </a:p>
          <a:p>
            <a:endParaRPr lang="zh-CN" altLang="en-US"/>
          </a:p>
          <a:p>
            <a:r>
              <a:rPr lang="zh-CN" altLang="en-US"/>
              <a:t>项目退出标准 </a:t>
            </a:r>
            <a:r>
              <a:rPr lang="en-US" altLang="zh-CN"/>
              <a:t>/ </a:t>
            </a:r>
            <a:r>
              <a:rPr lang="zh-CN" altLang="en-US"/>
              <a:t>成功标准（如何判断项目成功？）</a:t>
            </a:r>
          </a:p>
          <a:p>
            <a:r>
              <a:rPr lang="zh-CN" altLang="en-US"/>
              <a:t>主要风险摘要（高层级风险识别，如市场、技术、资源等）</a:t>
            </a:r>
          </a:p>
          <a:p>
            <a:r>
              <a:rPr lang="zh-CN" altLang="en-US"/>
              <a:t>假设条件与制约因素</a:t>
            </a:r>
          </a:p>
          <a:p>
            <a:r>
              <a:rPr lang="zh-CN" altLang="en-US"/>
              <a:t>项目授权声明（正式任命项目经理，赋予其动用组织资源的权力）</a:t>
            </a:r>
          </a:p>
          <a:p>
            <a:r>
              <a:rPr lang="zh-CN" altLang="en-US"/>
              <a:t>干系人清单（初步）（关键内外部干系人及其期望</a:t>
            </a:r>
            <a:r>
              <a:rPr lang="en-US" altLang="zh-CN"/>
              <a:t>/</a:t>
            </a:r>
            <a:r>
              <a:rPr lang="zh-CN" altLang="en-US"/>
              <a:t>影响力）</a:t>
            </a:r>
          </a:p>
          <a:p>
            <a:r>
              <a:rPr lang="zh-CN" altLang="en-US"/>
              <a:t>参考文件 </a:t>
            </a:r>
            <a:r>
              <a:rPr lang="en-US" altLang="zh-CN"/>
              <a:t>/ </a:t>
            </a:r>
            <a:r>
              <a:rPr lang="zh-CN" altLang="en-US"/>
              <a:t>依据（如合同、可行性研究报告、战略规划等）</a:t>
            </a:r>
            <a:endParaRPr lang="en-US" altLang="zh-CN"/>
          </a:p>
          <a:p>
            <a:r>
              <a:rPr lang="zh-CN" altLang="en-US"/>
              <a:t>供应商 </a:t>
            </a:r>
            <a:r>
              <a:rPr lang="en-US" altLang="zh-CN"/>
              <a:t>/ </a:t>
            </a:r>
            <a:r>
              <a:rPr lang="zh-CN" altLang="en-US"/>
              <a:t>外部合作方信息</a:t>
            </a:r>
          </a:p>
        </p:txBody>
      </p:sp>
      <p:sp>
        <p:nvSpPr>
          <p:cNvPr id="6" name="Text Placeholder 5">
            <a:extLst>
              <a:ext uri="{FF2B5EF4-FFF2-40B4-BE49-F238E27FC236}">
                <a16:creationId xmlns:a16="http://schemas.microsoft.com/office/drawing/2014/main" id="{0ABAE165-2CB1-1511-7981-1F4936B54599}"/>
              </a:ext>
            </a:extLst>
          </p:cNvPr>
          <p:cNvSpPr>
            <a:spLocks noGrp="1"/>
          </p:cNvSpPr>
          <p:nvPr>
            <p:ph type="body" sz="quarter" idx="10"/>
          </p:nvPr>
        </p:nvSpPr>
        <p:spPr>
          <a:xfrm>
            <a:off x="7071919" y="448519"/>
            <a:ext cx="4424080" cy="338554"/>
          </a:xfrm>
        </p:spPr>
        <p:txBody>
          <a:bodyPr/>
          <a:lstStyle/>
          <a:p>
            <a:r>
              <a:rPr lang="en-US" altLang="zh-CN"/>
              <a:t>Charter</a:t>
            </a:r>
            <a:endParaRPr lang="zh-CN" altLang="en-US"/>
          </a:p>
        </p:txBody>
      </p:sp>
    </p:spTree>
    <p:extLst>
      <p:ext uri="{BB962C8B-B14F-4D97-AF65-F5344CB8AC3E}">
        <p14:creationId xmlns:p14="http://schemas.microsoft.com/office/powerpoint/2010/main" val="101809374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145B8-328A-2B42-996B-2FB85DD629B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3F7FEF8-CF45-A152-F715-963A54C17CBE}"/>
              </a:ext>
            </a:extLst>
          </p:cNvPr>
          <p:cNvSpPr>
            <a:spLocks noGrp="1"/>
          </p:cNvSpPr>
          <p:nvPr>
            <p:ph type="title"/>
          </p:nvPr>
        </p:nvSpPr>
        <p:spPr>
          <a:xfrm>
            <a:off x="792000" y="360000"/>
            <a:ext cx="6375921" cy="429413"/>
          </a:xfrm>
        </p:spPr>
        <p:txBody>
          <a:bodyPr>
            <a:normAutofit/>
          </a:bodyPr>
          <a:lstStyle/>
          <a:p>
            <a:r>
              <a:rPr lang="en-US" altLang="zh-CN"/>
              <a:t>2.4.1 </a:t>
            </a:r>
            <a:r>
              <a:rPr lang="zh-CN" altLang="en-US"/>
              <a:t>项目章程 </a:t>
            </a:r>
            <a:r>
              <a:rPr lang="en-US" altLang="zh-CN"/>
              <a:t>- </a:t>
            </a:r>
            <a:r>
              <a:rPr lang="zh-CN" altLang="en-US"/>
              <a:t>风险摘要</a:t>
            </a:r>
          </a:p>
        </p:txBody>
      </p:sp>
      <p:sp>
        <p:nvSpPr>
          <p:cNvPr id="7" name="内容占位符 6">
            <a:extLst>
              <a:ext uri="{FF2B5EF4-FFF2-40B4-BE49-F238E27FC236}">
                <a16:creationId xmlns:a16="http://schemas.microsoft.com/office/drawing/2014/main" id="{9D4401DD-51B3-AD5F-7FC6-F4CD499853F2}"/>
              </a:ext>
            </a:extLst>
          </p:cNvPr>
          <p:cNvSpPr>
            <a:spLocks noGrp="1"/>
          </p:cNvSpPr>
          <p:nvPr>
            <p:ph idx="1"/>
          </p:nvPr>
        </p:nvSpPr>
        <p:spPr>
          <a:xfrm>
            <a:off x="696000" y="864000"/>
            <a:ext cx="10800000" cy="5400000"/>
          </a:xfrm>
        </p:spPr>
        <p:txBody>
          <a:bodyPr numCol="1">
            <a:normAutofit/>
          </a:bodyPr>
          <a:lstStyle/>
          <a:p>
            <a:r>
              <a:rPr lang="zh-CN" altLang="en-US"/>
              <a:t>高层级、战略性风险</a:t>
            </a:r>
            <a:endParaRPr lang="en-US" altLang="zh-CN"/>
          </a:p>
          <a:p>
            <a:r>
              <a:rPr lang="zh-CN" altLang="en-US"/>
              <a:t>可能直接导致项目失败或严重偏离目标的重大威胁或重大机会</a:t>
            </a:r>
            <a:endParaRPr lang="en-US" altLang="zh-CN"/>
          </a:p>
          <a:p>
            <a:r>
              <a:rPr lang="zh-CN" altLang="en-US"/>
              <a:t>不是详细的风险分析或计划</a:t>
            </a:r>
            <a:endParaRPr lang="en-US" altLang="zh-CN"/>
          </a:p>
          <a:p>
            <a:r>
              <a:rPr lang="zh-CN" altLang="en-US"/>
              <a:t>作用</a:t>
            </a:r>
            <a:endParaRPr lang="en-US" altLang="zh-CN"/>
          </a:p>
          <a:p>
            <a:pPr lvl="1"/>
            <a:r>
              <a:rPr lang="zh-CN" altLang="en-US"/>
              <a:t>预警机制：提醒发起人和管理层，这个项目不是稳赢的，存在哪些致命隐患</a:t>
            </a:r>
          </a:p>
          <a:p>
            <a:pPr lvl="1"/>
            <a:r>
              <a:rPr lang="zh-CN" altLang="en-US"/>
              <a:t>决策依据：帮助发起人判断是否值得批准该项目（例如：技术风险太高，是否还要投钱？）</a:t>
            </a:r>
          </a:p>
          <a:p>
            <a:pPr lvl="1"/>
            <a:r>
              <a:rPr lang="zh-CN" altLang="en-US"/>
              <a:t>资源预留：为后续制定应急储备（</a:t>
            </a:r>
            <a:r>
              <a:rPr lang="en-US" altLang="zh-CN"/>
              <a:t>Contingency Reserve</a:t>
            </a:r>
            <a:r>
              <a:rPr lang="zh-CN" altLang="en-US"/>
              <a:t>）提供初步依据</a:t>
            </a:r>
          </a:p>
        </p:txBody>
      </p:sp>
      <p:sp>
        <p:nvSpPr>
          <p:cNvPr id="6" name="Text Placeholder 5">
            <a:extLst>
              <a:ext uri="{FF2B5EF4-FFF2-40B4-BE49-F238E27FC236}">
                <a16:creationId xmlns:a16="http://schemas.microsoft.com/office/drawing/2014/main" id="{8B8B5191-D8B8-664C-68A9-FF62348574A8}"/>
              </a:ext>
            </a:extLst>
          </p:cNvPr>
          <p:cNvSpPr>
            <a:spLocks noGrp="1"/>
          </p:cNvSpPr>
          <p:nvPr>
            <p:ph type="body" sz="quarter" idx="10"/>
          </p:nvPr>
        </p:nvSpPr>
        <p:spPr>
          <a:xfrm>
            <a:off x="7071919" y="448519"/>
            <a:ext cx="4424080" cy="338554"/>
          </a:xfrm>
        </p:spPr>
        <p:txBody>
          <a:bodyPr/>
          <a:lstStyle/>
          <a:p>
            <a:r>
              <a:rPr lang="en-US" altLang="zh-CN"/>
              <a:t>Charter</a:t>
            </a:r>
            <a:endParaRPr lang="zh-CN" altLang="en-US"/>
          </a:p>
        </p:txBody>
      </p:sp>
      <p:graphicFrame>
        <p:nvGraphicFramePr>
          <p:cNvPr id="20" name="表格 19">
            <a:extLst>
              <a:ext uri="{FF2B5EF4-FFF2-40B4-BE49-F238E27FC236}">
                <a16:creationId xmlns:a16="http://schemas.microsoft.com/office/drawing/2014/main" id="{B56CCC4F-28B7-E22F-F868-CE81E8B5F32D}"/>
              </a:ext>
            </a:extLst>
          </p:cNvPr>
          <p:cNvGraphicFramePr>
            <a:graphicFrameLocks noGrp="1"/>
          </p:cNvGraphicFramePr>
          <p:nvPr>
            <p:extLst>
              <p:ext uri="{D42A27DB-BD31-4B8C-83A1-F6EECF244321}">
                <p14:modId xmlns:p14="http://schemas.microsoft.com/office/powerpoint/2010/main" val="854928094"/>
              </p:ext>
            </p:extLst>
          </p:nvPr>
        </p:nvGraphicFramePr>
        <p:xfrm>
          <a:off x="695325" y="4252595"/>
          <a:ext cx="10801350" cy="2011680"/>
        </p:xfrm>
        <a:graphic>
          <a:graphicData uri="http://schemas.openxmlformats.org/drawingml/2006/table">
            <a:tbl>
              <a:tblPr/>
              <a:tblGrid>
                <a:gridCol w="3040933">
                  <a:extLst>
                    <a:ext uri="{9D8B030D-6E8A-4147-A177-3AD203B41FA5}">
                      <a16:colId xmlns:a16="http://schemas.microsoft.com/office/drawing/2014/main" val="3055693187"/>
                    </a:ext>
                  </a:extLst>
                </a:gridCol>
                <a:gridCol w="7760417">
                  <a:extLst>
                    <a:ext uri="{9D8B030D-6E8A-4147-A177-3AD203B41FA5}">
                      <a16:colId xmlns:a16="http://schemas.microsoft.com/office/drawing/2014/main" val="1937490183"/>
                    </a:ext>
                  </a:extLst>
                </a:gridCol>
              </a:tblGrid>
              <a:tr h="126976">
                <a:tc>
                  <a:txBody>
                    <a:bodyPr/>
                    <a:lstStyle/>
                    <a:p>
                      <a:pPr algn="l">
                        <a:buNone/>
                      </a:pPr>
                      <a:r>
                        <a:rPr lang="en-US" altLang="zh-CN" sz="1600" dirty="0">
                          <a:solidFill>
                            <a:schemeClr val="bg1"/>
                          </a:solidFill>
                        </a:rPr>
                        <a:t>Items</a:t>
                      </a:r>
                      <a:endParaRPr lang="zh-CN" altLang="en-US" sz="16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buNone/>
                      </a:pPr>
                      <a:r>
                        <a:rPr lang="en-US" altLang="zh-CN" sz="1600" dirty="0">
                          <a:solidFill>
                            <a:schemeClr val="bg1"/>
                          </a:solidFill>
                        </a:rPr>
                        <a:t>Sample</a:t>
                      </a:r>
                      <a:endParaRPr lang="zh-CN" altLang="en-US" sz="16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2521874666"/>
                  </a:ext>
                </a:extLst>
              </a:tr>
              <a:tr h="126976">
                <a:tc>
                  <a:txBody>
                    <a:bodyPr/>
                    <a:lstStyle/>
                    <a:p>
                      <a:pPr algn="l">
                        <a:buNone/>
                      </a:pPr>
                      <a:r>
                        <a:rPr lang="zh-CN" altLang="en-US" sz="1600" dirty="0">
                          <a:solidFill>
                            <a:schemeClr val="tx1"/>
                          </a:solidFill>
                        </a:rPr>
                        <a:t>技术风险 </a:t>
                      </a:r>
                      <a:r>
                        <a:rPr lang="en-US" altLang="zh-CN" sz="1600" dirty="0">
                          <a:solidFill>
                            <a:schemeClr val="tx1"/>
                          </a:solidFill>
                        </a:rPr>
                        <a:t>Technology</a:t>
                      </a:r>
                      <a:endParaRPr lang="zh-CN" altLang="en-US" sz="16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tx1"/>
                          </a:solidFill>
                        </a:rPr>
                        <a:t>尚未在大规模数据下验证，过渡依赖热门</a:t>
                      </a:r>
                      <a:r>
                        <a:rPr lang="en-US" altLang="zh-CN" sz="1600">
                          <a:solidFill>
                            <a:schemeClr val="tx1"/>
                          </a:solidFill>
                        </a:rPr>
                        <a:t>AI</a:t>
                      </a:r>
                      <a:r>
                        <a:rPr lang="zh-CN" altLang="en-US" sz="1600">
                          <a:solidFill>
                            <a:schemeClr val="tx1"/>
                          </a:solidFill>
                        </a:rPr>
                        <a:t>，存在性能不达标的风险。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3522404"/>
                  </a:ext>
                </a:extLst>
              </a:tr>
              <a:tr h="126976">
                <a:tc>
                  <a:txBody>
                    <a:bodyPr/>
                    <a:lstStyle/>
                    <a:p>
                      <a:pPr algn="l">
                        <a:buNone/>
                      </a:pPr>
                      <a:r>
                        <a:rPr lang="zh-CN" altLang="en-US" sz="1600" dirty="0">
                          <a:solidFill>
                            <a:schemeClr val="tx1"/>
                          </a:solidFill>
                        </a:rPr>
                        <a:t>市场</a:t>
                      </a:r>
                      <a:r>
                        <a:rPr lang="en-US" altLang="zh-CN" sz="1600" dirty="0">
                          <a:solidFill>
                            <a:schemeClr val="tx1"/>
                          </a:solidFill>
                        </a:rPr>
                        <a:t>/</a:t>
                      </a:r>
                      <a:r>
                        <a:rPr lang="zh-CN" altLang="en-US" sz="1600" dirty="0">
                          <a:solidFill>
                            <a:schemeClr val="tx1"/>
                          </a:solidFill>
                        </a:rPr>
                        <a:t>商业风险 </a:t>
                      </a:r>
                      <a:r>
                        <a:rPr lang="en-US" altLang="zh-CN" sz="1600" dirty="0">
                          <a:solidFill>
                            <a:schemeClr val="tx1"/>
                          </a:solidFill>
                        </a:rPr>
                        <a:t>Market</a:t>
                      </a:r>
                      <a:endParaRPr lang="zh-CN" altLang="en-US" sz="16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dirty="0">
                          <a:solidFill>
                            <a:schemeClr val="tx1"/>
                          </a:solidFill>
                        </a:rPr>
                        <a:t>竞争对手可能在项目上线前</a:t>
                      </a:r>
                      <a:r>
                        <a:rPr lang="en-US" altLang="zh-CN" sz="1600" dirty="0">
                          <a:solidFill>
                            <a:schemeClr val="tx1"/>
                          </a:solidFill>
                        </a:rPr>
                        <a:t>3</a:t>
                      </a:r>
                      <a:r>
                        <a:rPr lang="zh-CN" altLang="en-US" sz="1600" dirty="0">
                          <a:solidFill>
                            <a:schemeClr val="tx1"/>
                          </a:solidFill>
                        </a:rPr>
                        <a:t>个月发布同类低价产品，导致市场份额预期下降</a:t>
                      </a:r>
                      <a:r>
                        <a:rPr lang="en-US" altLang="zh-CN" sz="1600" dirty="0">
                          <a:solidFill>
                            <a:schemeClr val="tx1"/>
                          </a:solidFill>
                        </a:rPr>
                        <a:t>50%</a:t>
                      </a:r>
                      <a:r>
                        <a:rPr lang="zh-CN" altLang="en-US" sz="1600" dirty="0">
                          <a:solidFill>
                            <a:schemeClr val="tx1"/>
                          </a:solidFill>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1301155"/>
                  </a:ext>
                </a:extLst>
              </a:tr>
              <a:tr h="126976">
                <a:tc>
                  <a:txBody>
                    <a:bodyPr/>
                    <a:lstStyle/>
                    <a:p>
                      <a:pPr algn="l">
                        <a:buNone/>
                      </a:pPr>
                      <a:r>
                        <a:rPr lang="zh-CN" altLang="en-US" sz="1600">
                          <a:solidFill>
                            <a:schemeClr val="tx1"/>
                          </a:solidFill>
                        </a:rPr>
                        <a:t>资源风险 </a:t>
                      </a:r>
                      <a:r>
                        <a:rPr lang="en-US" altLang="zh-CN" sz="1600">
                          <a:solidFill>
                            <a:schemeClr val="tx1"/>
                          </a:solidFill>
                        </a:rPr>
                        <a:t>Resource</a:t>
                      </a:r>
                      <a:endParaRPr lang="zh-CN" altLang="en-US" sz="160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dirty="0">
                          <a:solidFill>
                            <a:schemeClr val="tx1"/>
                          </a:solidFill>
                        </a:rPr>
                        <a:t>核心架构师未及时到位，可能导致前期设计延期。</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99637220"/>
                  </a:ext>
                </a:extLst>
              </a:tr>
              <a:tr h="126976">
                <a:tc>
                  <a:txBody>
                    <a:bodyPr/>
                    <a:lstStyle/>
                    <a:p>
                      <a:pPr algn="l">
                        <a:buNone/>
                      </a:pPr>
                      <a:r>
                        <a:rPr lang="zh-CN" altLang="en-US" sz="1600">
                          <a:solidFill>
                            <a:schemeClr val="tx1"/>
                          </a:solidFill>
                        </a:rPr>
                        <a:t>合规</a:t>
                      </a:r>
                      <a:r>
                        <a:rPr lang="en-US" altLang="zh-CN" sz="1600">
                          <a:solidFill>
                            <a:schemeClr val="tx1"/>
                          </a:solidFill>
                        </a:rPr>
                        <a:t>/</a:t>
                      </a:r>
                      <a:r>
                        <a:rPr lang="zh-CN" altLang="en-US" sz="1600">
                          <a:solidFill>
                            <a:schemeClr val="tx1"/>
                          </a:solidFill>
                        </a:rPr>
                        <a:t>法律风险 </a:t>
                      </a:r>
                      <a:r>
                        <a:rPr lang="en-US" altLang="zh-CN" sz="1600">
                          <a:solidFill>
                            <a:schemeClr val="tx1"/>
                          </a:solidFill>
                        </a:rPr>
                        <a:t>Compliance</a:t>
                      </a:r>
                      <a:endParaRPr lang="zh-CN" altLang="en-US" sz="160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dirty="0">
                          <a:solidFill>
                            <a:schemeClr val="tx1"/>
                          </a:solidFill>
                        </a:rPr>
                        <a:t>新出台的数据隐私法规可能导致当前设计方案需重新调整。</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95208304"/>
                  </a:ext>
                </a:extLst>
              </a:tr>
              <a:tr h="126976">
                <a:tc>
                  <a:txBody>
                    <a:bodyPr/>
                    <a:lstStyle/>
                    <a:p>
                      <a:pPr algn="l">
                        <a:buNone/>
                      </a:pPr>
                      <a:r>
                        <a:rPr lang="zh-CN" altLang="en-US" sz="1600">
                          <a:solidFill>
                            <a:schemeClr val="tx1"/>
                          </a:solidFill>
                        </a:rPr>
                        <a:t>外部依赖风险 </a:t>
                      </a:r>
                      <a:r>
                        <a:rPr lang="en-US" altLang="zh-CN" sz="1600">
                          <a:solidFill>
                            <a:schemeClr val="tx1"/>
                          </a:solidFill>
                        </a:rPr>
                        <a:t>Dependence</a:t>
                      </a:r>
                      <a:endParaRPr lang="zh-CN" altLang="en-US" sz="160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dirty="0">
                          <a:solidFill>
                            <a:schemeClr val="tx1"/>
                          </a:solidFill>
                        </a:rPr>
                        <a:t>项目依赖第三方供应商的</a:t>
                      </a:r>
                      <a:r>
                        <a:rPr lang="en-US" altLang="zh-CN" sz="1600" dirty="0">
                          <a:solidFill>
                            <a:schemeClr val="tx1"/>
                          </a:solidFill>
                        </a:rPr>
                        <a:t>API</a:t>
                      </a:r>
                      <a:r>
                        <a:rPr lang="zh-CN" altLang="en-US" sz="1600" dirty="0">
                          <a:solidFill>
                            <a:schemeClr val="tx1"/>
                          </a:solidFill>
                        </a:rPr>
                        <a:t>接口，若对方延期交付，整个系统将无法联调。</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98580628"/>
                  </a:ext>
                </a:extLst>
              </a:tr>
            </a:tbl>
          </a:graphicData>
        </a:graphic>
      </p:graphicFrame>
    </p:spTree>
    <p:extLst>
      <p:ext uri="{BB962C8B-B14F-4D97-AF65-F5344CB8AC3E}">
        <p14:creationId xmlns:p14="http://schemas.microsoft.com/office/powerpoint/2010/main" val="247920436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81CA6DF6-743A-8041-D6B5-55E00BF41E45}"/>
              </a:ext>
            </a:extLst>
          </p:cNvPr>
          <p:cNvSpPr>
            <a:spLocks noGrp="1"/>
          </p:cNvSpPr>
          <p:nvPr>
            <p:ph type="title"/>
          </p:nvPr>
        </p:nvSpPr>
        <p:spPr>
          <a:xfrm>
            <a:off x="792000" y="360000"/>
            <a:ext cx="6375921" cy="429413"/>
          </a:xfrm>
        </p:spPr>
        <p:txBody>
          <a:bodyPr/>
          <a:lstStyle/>
          <a:p>
            <a:r>
              <a:rPr lang="en-US" altLang="zh-CN"/>
              <a:t>2.4.1 </a:t>
            </a:r>
            <a:r>
              <a:rPr lang="zh-CN" altLang="en-US"/>
              <a:t>项目章程 </a:t>
            </a:r>
            <a:r>
              <a:rPr lang="en-US" altLang="zh-CN"/>
              <a:t>- </a:t>
            </a:r>
            <a:r>
              <a:rPr lang="zh-CN" altLang="en-US"/>
              <a:t>风险摘要</a:t>
            </a:r>
          </a:p>
        </p:txBody>
      </p:sp>
      <p:sp>
        <p:nvSpPr>
          <p:cNvPr id="3" name="内容占位符 2">
            <a:extLst>
              <a:ext uri="{FF2B5EF4-FFF2-40B4-BE49-F238E27FC236}">
                <a16:creationId xmlns:a16="http://schemas.microsoft.com/office/drawing/2014/main" id="{95553B9B-B360-B9BE-ED8F-F20C83FEB4D8}"/>
              </a:ext>
            </a:extLst>
          </p:cNvPr>
          <p:cNvSpPr>
            <a:spLocks noGrp="1"/>
          </p:cNvSpPr>
          <p:nvPr>
            <p:ph idx="1"/>
          </p:nvPr>
        </p:nvSpPr>
        <p:spPr>
          <a:xfrm>
            <a:off x="696000" y="864000"/>
            <a:ext cx="10800000" cy="5400000"/>
          </a:xfrm>
        </p:spPr>
        <p:txBody>
          <a:bodyPr/>
          <a:lstStyle/>
          <a:p>
            <a:r>
              <a:rPr lang="zh-CN" altLang="en-US"/>
              <a:t>更多合规</a:t>
            </a:r>
            <a:r>
              <a:rPr lang="en-US" altLang="zh-CN"/>
              <a:t>/</a:t>
            </a:r>
            <a:r>
              <a:rPr lang="zh-CN" altLang="en-US"/>
              <a:t>法律风险 </a:t>
            </a:r>
            <a:r>
              <a:rPr lang="en-US" altLang="zh-CN"/>
              <a:t>Compliance</a:t>
            </a:r>
            <a:endParaRPr lang="zh-CN" altLang="en-US"/>
          </a:p>
        </p:txBody>
      </p:sp>
      <p:sp>
        <p:nvSpPr>
          <p:cNvPr id="11" name="文本占位符 10">
            <a:extLst>
              <a:ext uri="{FF2B5EF4-FFF2-40B4-BE49-F238E27FC236}">
                <a16:creationId xmlns:a16="http://schemas.microsoft.com/office/drawing/2014/main" id="{CC47DD74-A415-B060-AF39-F7528085D500}"/>
              </a:ext>
            </a:extLst>
          </p:cNvPr>
          <p:cNvSpPr>
            <a:spLocks noGrp="1"/>
          </p:cNvSpPr>
          <p:nvPr>
            <p:ph type="body" sz="quarter" idx="10"/>
          </p:nvPr>
        </p:nvSpPr>
        <p:spPr>
          <a:xfrm>
            <a:off x="7071919" y="448519"/>
            <a:ext cx="4424080" cy="338554"/>
          </a:xfrm>
        </p:spPr>
        <p:txBody>
          <a:bodyPr/>
          <a:lstStyle/>
          <a:p>
            <a:r>
              <a:rPr lang="en-US" altLang="zh-CN"/>
              <a:t>Charter</a:t>
            </a:r>
            <a:endParaRPr lang="zh-CN" altLang="en-US"/>
          </a:p>
        </p:txBody>
      </p:sp>
      <p:graphicFrame>
        <p:nvGraphicFramePr>
          <p:cNvPr id="5" name="表格 4">
            <a:extLst>
              <a:ext uri="{FF2B5EF4-FFF2-40B4-BE49-F238E27FC236}">
                <a16:creationId xmlns:a16="http://schemas.microsoft.com/office/drawing/2014/main" id="{C6168A9A-1EC6-4BCA-C453-7E7B575B9A06}"/>
              </a:ext>
            </a:extLst>
          </p:cNvPr>
          <p:cNvGraphicFramePr>
            <a:graphicFrameLocks noGrp="1"/>
          </p:cNvGraphicFramePr>
          <p:nvPr>
            <p:extLst>
              <p:ext uri="{D42A27DB-BD31-4B8C-83A1-F6EECF244321}">
                <p14:modId xmlns:p14="http://schemas.microsoft.com/office/powerpoint/2010/main" val="2073245618"/>
              </p:ext>
            </p:extLst>
          </p:nvPr>
        </p:nvGraphicFramePr>
        <p:xfrm>
          <a:off x="695325" y="2146617"/>
          <a:ext cx="10801350" cy="2346960"/>
        </p:xfrm>
        <a:graphic>
          <a:graphicData uri="http://schemas.openxmlformats.org/drawingml/2006/table">
            <a:tbl>
              <a:tblPr/>
              <a:tblGrid>
                <a:gridCol w="1467772">
                  <a:extLst>
                    <a:ext uri="{9D8B030D-6E8A-4147-A177-3AD203B41FA5}">
                      <a16:colId xmlns:a16="http://schemas.microsoft.com/office/drawing/2014/main" val="2694124379"/>
                    </a:ext>
                  </a:extLst>
                </a:gridCol>
                <a:gridCol w="5733128">
                  <a:extLst>
                    <a:ext uri="{9D8B030D-6E8A-4147-A177-3AD203B41FA5}">
                      <a16:colId xmlns:a16="http://schemas.microsoft.com/office/drawing/2014/main" val="896520459"/>
                    </a:ext>
                  </a:extLst>
                </a:gridCol>
                <a:gridCol w="3600450">
                  <a:extLst>
                    <a:ext uri="{9D8B030D-6E8A-4147-A177-3AD203B41FA5}">
                      <a16:colId xmlns:a16="http://schemas.microsoft.com/office/drawing/2014/main" val="167479894"/>
                    </a:ext>
                  </a:extLst>
                </a:gridCol>
              </a:tblGrid>
              <a:tr h="0">
                <a:tc>
                  <a:txBody>
                    <a:bodyPr/>
                    <a:lstStyle/>
                    <a:p>
                      <a:pPr algn="l">
                        <a:buNone/>
                      </a:pPr>
                      <a:r>
                        <a:rPr lang="zh-CN" altLang="en-US" sz="1600" dirty="0">
                          <a:solidFill>
                            <a:schemeClr val="bg1"/>
                          </a:solidFill>
                        </a:rPr>
                        <a:t>场景</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buNone/>
                      </a:pPr>
                      <a:r>
                        <a:rPr lang="zh-CN" altLang="en-US" sz="1600" dirty="0">
                          <a:solidFill>
                            <a:schemeClr val="bg1"/>
                          </a:solidFill>
                        </a:rPr>
                        <a:t>风险描述示例</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buNone/>
                      </a:pPr>
                      <a:r>
                        <a:rPr lang="zh-CN" altLang="en-US" sz="1600" dirty="0">
                          <a:solidFill>
                            <a:schemeClr val="bg1"/>
                          </a:solidFill>
                        </a:rPr>
                        <a:t>后果</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1955753585"/>
                  </a:ext>
                </a:extLst>
              </a:tr>
              <a:tr h="0">
                <a:tc>
                  <a:txBody>
                    <a:bodyPr/>
                    <a:lstStyle/>
                    <a:p>
                      <a:pPr algn="l">
                        <a:buNone/>
                      </a:pPr>
                      <a:r>
                        <a:rPr lang="zh-CN" altLang="en-US" sz="1600" dirty="0">
                          <a:solidFill>
                            <a:schemeClr val="tx1"/>
                          </a:solidFill>
                        </a:rPr>
                        <a:t>数据隐私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tx1"/>
                          </a:solidFill>
                        </a:rPr>
                        <a:t>个人信息保护法升级，导致当前用户数据采集方案违规</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tx1"/>
                          </a:solidFill>
                        </a:rPr>
                        <a:t>必须重构系统，否则面临巨额罚款</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9210207"/>
                  </a:ext>
                </a:extLst>
              </a:tr>
              <a:tr h="0">
                <a:tc>
                  <a:txBody>
                    <a:bodyPr/>
                    <a:lstStyle/>
                    <a:p>
                      <a:pPr algn="l">
                        <a:buNone/>
                      </a:pPr>
                      <a:r>
                        <a:rPr lang="zh-CN" altLang="en-US" sz="1600">
                          <a:solidFill>
                            <a:schemeClr val="tx1"/>
                          </a:solidFill>
                        </a:rPr>
                        <a:t>行业准入</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dirty="0">
                          <a:solidFill>
                            <a:schemeClr val="tx1"/>
                          </a:solidFill>
                        </a:rPr>
                        <a:t>医疗项目未在预计时间内获得药监局</a:t>
                      </a:r>
                      <a:r>
                        <a:rPr lang="en-US" altLang="zh-CN" sz="1600" dirty="0">
                          <a:solidFill>
                            <a:schemeClr val="tx1"/>
                          </a:solidFill>
                        </a:rPr>
                        <a:t>(NMPA)</a:t>
                      </a:r>
                      <a:r>
                        <a:rPr lang="zh-CN" altLang="en-US" sz="1600" dirty="0">
                          <a:solidFill>
                            <a:schemeClr val="tx1"/>
                          </a:solidFill>
                        </a:rPr>
                        <a:t>的临床试验批件</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tx1"/>
                          </a:solidFill>
                        </a:rPr>
                        <a:t>项目暂停，无法进入下一阶段</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0262762"/>
                  </a:ext>
                </a:extLst>
              </a:tr>
              <a:tr h="0">
                <a:tc>
                  <a:txBody>
                    <a:bodyPr/>
                    <a:lstStyle/>
                    <a:p>
                      <a:pPr algn="l">
                        <a:buNone/>
                      </a:pPr>
                      <a:r>
                        <a:rPr lang="zh-CN" altLang="en-US" sz="1600">
                          <a:solidFill>
                            <a:schemeClr val="tx1"/>
                          </a:solidFill>
                        </a:rPr>
                        <a:t>环保法规</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dirty="0">
                          <a:solidFill>
                            <a:schemeClr val="tx1"/>
                          </a:solidFill>
                        </a:rPr>
                        <a:t>新环保法禁止在特定区域施工，而项目选址恰好在此</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tx1"/>
                          </a:solidFill>
                        </a:rPr>
                        <a:t>选址变更或停工整改</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9401928"/>
                  </a:ext>
                </a:extLst>
              </a:tr>
              <a:tr h="0">
                <a:tc>
                  <a:txBody>
                    <a:bodyPr/>
                    <a:lstStyle/>
                    <a:p>
                      <a:pPr algn="l">
                        <a:buNone/>
                      </a:pPr>
                      <a:r>
                        <a:rPr lang="zh-CN" altLang="en-US" sz="1600">
                          <a:solidFill>
                            <a:schemeClr val="tx1"/>
                          </a:solidFill>
                        </a:rPr>
                        <a:t>劳工法</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tx1"/>
                          </a:solidFill>
                        </a:rPr>
                        <a:t>项目计划大量使用外包人员，但新劳动法限制了外包比例</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dirty="0">
                          <a:solidFill>
                            <a:schemeClr val="tx1"/>
                          </a:solidFill>
                        </a:rPr>
                        <a:t>人力成本激增或招聘计划受阻</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36916385"/>
                  </a:ext>
                </a:extLst>
              </a:tr>
              <a:tr h="0">
                <a:tc>
                  <a:txBody>
                    <a:bodyPr/>
                    <a:lstStyle/>
                    <a:p>
                      <a:pPr algn="l">
                        <a:buNone/>
                      </a:pPr>
                      <a:r>
                        <a:rPr lang="zh-CN" altLang="en-US" sz="1600">
                          <a:solidFill>
                            <a:schemeClr val="tx1"/>
                          </a:solidFill>
                        </a:rPr>
                        <a:t>知识产权</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tx1"/>
                          </a:solidFill>
                        </a:rPr>
                        <a:t>竞品公司起诉我方技术侵犯其专利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dirty="0">
                          <a:solidFill>
                            <a:schemeClr val="tx1"/>
                          </a:solidFill>
                        </a:rPr>
                        <a:t>产品禁售或支付高额赔偿金</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44396879"/>
                  </a:ext>
                </a:extLst>
              </a:tr>
              <a:tr h="0">
                <a:tc>
                  <a:txBody>
                    <a:bodyPr/>
                    <a:lstStyle/>
                    <a:p>
                      <a:pPr algn="l">
                        <a:buNone/>
                      </a:pPr>
                      <a:r>
                        <a:rPr lang="zh-CN" altLang="en-US" sz="1600">
                          <a:solidFill>
                            <a:schemeClr val="tx1"/>
                          </a:solidFill>
                        </a:rPr>
                        <a:t>进出口管制</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tx1"/>
                          </a:solidFill>
                        </a:rPr>
                        <a:t>项目依赖的关键芯片被列入出口管制清单，无法进口</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dirty="0">
                          <a:solidFill>
                            <a:schemeClr val="tx1"/>
                          </a:solidFill>
                        </a:rPr>
                        <a:t>供应链断裂，硬件无法生产</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7009754"/>
                  </a:ext>
                </a:extLst>
              </a:tr>
            </a:tbl>
          </a:graphicData>
        </a:graphic>
      </p:graphicFrame>
    </p:spTree>
    <p:extLst>
      <p:ext uri="{BB962C8B-B14F-4D97-AF65-F5344CB8AC3E}">
        <p14:creationId xmlns:p14="http://schemas.microsoft.com/office/powerpoint/2010/main" val="196215544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94D40-845B-06EE-26A3-956AFDD3B09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8AE3EB4-18C4-B234-BE39-4688478E39B4}"/>
              </a:ext>
            </a:extLst>
          </p:cNvPr>
          <p:cNvSpPr>
            <a:spLocks noGrp="1"/>
          </p:cNvSpPr>
          <p:nvPr>
            <p:ph type="title"/>
          </p:nvPr>
        </p:nvSpPr>
        <p:spPr>
          <a:xfrm>
            <a:off x="792000" y="360000"/>
            <a:ext cx="6375921" cy="429413"/>
          </a:xfrm>
        </p:spPr>
        <p:txBody>
          <a:bodyPr>
            <a:normAutofit/>
          </a:bodyPr>
          <a:lstStyle/>
          <a:p>
            <a:r>
              <a:rPr lang="en-US" altLang="zh-CN"/>
              <a:t>2.4.2 </a:t>
            </a:r>
            <a:r>
              <a:rPr lang="zh-CN" altLang="en-US"/>
              <a:t>项目章程 </a:t>
            </a:r>
            <a:r>
              <a:rPr lang="en-US" altLang="zh-CN"/>
              <a:t>- </a:t>
            </a:r>
            <a:r>
              <a:rPr lang="zh-CN" altLang="en-US"/>
              <a:t>假设条件与制约因素</a:t>
            </a:r>
          </a:p>
        </p:txBody>
      </p:sp>
      <p:sp>
        <p:nvSpPr>
          <p:cNvPr id="7" name="内容占位符 6">
            <a:extLst>
              <a:ext uri="{FF2B5EF4-FFF2-40B4-BE49-F238E27FC236}">
                <a16:creationId xmlns:a16="http://schemas.microsoft.com/office/drawing/2014/main" id="{0705894C-7BED-0A43-12AA-575B14629480}"/>
              </a:ext>
            </a:extLst>
          </p:cNvPr>
          <p:cNvSpPr>
            <a:spLocks noGrp="1"/>
          </p:cNvSpPr>
          <p:nvPr>
            <p:ph idx="1"/>
          </p:nvPr>
        </p:nvSpPr>
        <p:spPr>
          <a:xfrm>
            <a:off x="696000" y="864000"/>
            <a:ext cx="10800000" cy="5400000"/>
          </a:xfrm>
        </p:spPr>
        <p:txBody>
          <a:bodyPr numCol="1">
            <a:normAutofit/>
          </a:bodyPr>
          <a:lstStyle/>
          <a:p>
            <a:r>
              <a:rPr lang="zh-CN" altLang="en-US"/>
              <a:t>假设条件</a:t>
            </a:r>
            <a:endParaRPr lang="en-US" altLang="zh-CN"/>
          </a:p>
          <a:p>
            <a:pPr lvl="1"/>
            <a:r>
              <a:rPr lang="zh-CN" altLang="en-US"/>
              <a:t>定义：制定计划时，被认为是真实、实际或确定的因素，但实际上并未得到证实。</a:t>
            </a:r>
          </a:p>
          <a:p>
            <a:pPr lvl="1"/>
            <a:r>
              <a:rPr lang="zh-CN" altLang="en-US"/>
              <a:t>本质：我们赌它会是这样。如果假设错误，就会变成风险。</a:t>
            </a:r>
            <a:endParaRPr lang="en-US" altLang="zh-CN"/>
          </a:p>
          <a:p>
            <a:r>
              <a:rPr lang="zh-CN" altLang="en-US"/>
              <a:t>制约因素</a:t>
            </a:r>
            <a:endParaRPr lang="en-US" altLang="zh-CN"/>
          </a:p>
          <a:p>
            <a:pPr lvl="1"/>
            <a:r>
              <a:rPr lang="zh-CN" altLang="en-US"/>
              <a:t>定义：限制项目团队行动的强制性限制。团队必须在这些框框内工作，没有商量余地。</a:t>
            </a:r>
          </a:p>
          <a:p>
            <a:pPr lvl="1"/>
            <a:r>
              <a:rPr lang="zh-CN" altLang="en-US"/>
              <a:t>本质：“我们必须在这个范围内做”。</a:t>
            </a:r>
          </a:p>
          <a:p>
            <a:pPr lvl="1"/>
            <a:endParaRPr lang="zh-CN" altLang="en-US"/>
          </a:p>
          <a:p>
            <a:endParaRPr lang="zh-CN" altLang="en-US"/>
          </a:p>
        </p:txBody>
      </p:sp>
      <p:sp>
        <p:nvSpPr>
          <p:cNvPr id="6" name="Text Placeholder 5">
            <a:extLst>
              <a:ext uri="{FF2B5EF4-FFF2-40B4-BE49-F238E27FC236}">
                <a16:creationId xmlns:a16="http://schemas.microsoft.com/office/drawing/2014/main" id="{B37C1A04-A0A4-4665-C50D-7A45ABA8DB58}"/>
              </a:ext>
            </a:extLst>
          </p:cNvPr>
          <p:cNvSpPr>
            <a:spLocks noGrp="1"/>
          </p:cNvSpPr>
          <p:nvPr>
            <p:ph type="body" sz="quarter" idx="10"/>
          </p:nvPr>
        </p:nvSpPr>
        <p:spPr>
          <a:xfrm>
            <a:off x="7071919" y="448519"/>
            <a:ext cx="4424080" cy="338554"/>
          </a:xfrm>
        </p:spPr>
        <p:txBody>
          <a:bodyPr/>
          <a:lstStyle/>
          <a:p>
            <a:r>
              <a:rPr lang="en-US" altLang="zh-CN"/>
              <a:t>Charter</a:t>
            </a:r>
            <a:endParaRPr lang="zh-CN" altLang="en-US"/>
          </a:p>
        </p:txBody>
      </p:sp>
      <p:graphicFrame>
        <p:nvGraphicFramePr>
          <p:cNvPr id="24" name="表格 23">
            <a:extLst>
              <a:ext uri="{FF2B5EF4-FFF2-40B4-BE49-F238E27FC236}">
                <a16:creationId xmlns:a16="http://schemas.microsoft.com/office/drawing/2014/main" id="{91E808F4-D449-0AA5-E1CB-0FCDD03946BB}"/>
              </a:ext>
            </a:extLst>
          </p:cNvPr>
          <p:cNvGraphicFramePr>
            <a:graphicFrameLocks noGrp="1"/>
          </p:cNvGraphicFramePr>
          <p:nvPr>
            <p:extLst>
              <p:ext uri="{D42A27DB-BD31-4B8C-83A1-F6EECF244321}">
                <p14:modId xmlns:p14="http://schemas.microsoft.com/office/powerpoint/2010/main" val="925764594"/>
              </p:ext>
            </p:extLst>
          </p:nvPr>
        </p:nvGraphicFramePr>
        <p:xfrm>
          <a:off x="695325" y="4252595"/>
          <a:ext cx="10801350" cy="2011680"/>
        </p:xfrm>
        <a:graphic>
          <a:graphicData uri="http://schemas.openxmlformats.org/drawingml/2006/table">
            <a:tbl>
              <a:tblPr/>
              <a:tblGrid>
                <a:gridCol w="2539488">
                  <a:extLst>
                    <a:ext uri="{9D8B030D-6E8A-4147-A177-3AD203B41FA5}">
                      <a16:colId xmlns:a16="http://schemas.microsoft.com/office/drawing/2014/main" val="1608412307"/>
                    </a:ext>
                  </a:extLst>
                </a:gridCol>
                <a:gridCol w="4385187">
                  <a:extLst>
                    <a:ext uri="{9D8B030D-6E8A-4147-A177-3AD203B41FA5}">
                      <a16:colId xmlns:a16="http://schemas.microsoft.com/office/drawing/2014/main" val="2136814041"/>
                    </a:ext>
                  </a:extLst>
                </a:gridCol>
                <a:gridCol w="3876675">
                  <a:extLst>
                    <a:ext uri="{9D8B030D-6E8A-4147-A177-3AD203B41FA5}">
                      <a16:colId xmlns:a16="http://schemas.microsoft.com/office/drawing/2014/main" val="311717617"/>
                    </a:ext>
                  </a:extLst>
                </a:gridCol>
              </a:tblGrid>
              <a:tr h="0">
                <a:tc>
                  <a:txBody>
                    <a:bodyPr/>
                    <a:lstStyle/>
                    <a:p>
                      <a:pPr algn="l">
                        <a:buNone/>
                      </a:pPr>
                      <a:endParaRPr lang="zh-CN" altLang="en-US" sz="16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buNone/>
                      </a:pPr>
                      <a:r>
                        <a:rPr lang="zh-CN" altLang="en-US" sz="1600" dirty="0">
                          <a:solidFill>
                            <a:schemeClr val="bg1"/>
                          </a:solidFill>
                        </a:rPr>
                        <a:t>假设条件 </a:t>
                      </a:r>
                      <a:r>
                        <a:rPr lang="en-US" sz="1600" dirty="0">
                          <a:solidFill>
                            <a:schemeClr val="bg1"/>
                          </a:solidFill>
                        </a:rPr>
                        <a:t>Assumptions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buNone/>
                      </a:pPr>
                      <a:r>
                        <a:rPr lang="zh-CN" altLang="en-US" sz="1600" dirty="0">
                          <a:solidFill>
                            <a:schemeClr val="bg1"/>
                          </a:solidFill>
                        </a:rPr>
                        <a:t>制约因素 </a:t>
                      </a:r>
                      <a:r>
                        <a:rPr lang="en-US" sz="1600" dirty="0">
                          <a:solidFill>
                            <a:schemeClr val="bg1"/>
                          </a:solidFill>
                        </a:rPr>
                        <a:t>Constraints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3287775788"/>
                  </a:ext>
                </a:extLst>
              </a:tr>
              <a:tr h="0">
                <a:tc>
                  <a:txBody>
                    <a:bodyPr/>
                    <a:lstStyle/>
                    <a:p>
                      <a:pPr algn="l">
                        <a:buNone/>
                      </a:pPr>
                      <a:r>
                        <a:rPr lang="zh-CN" altLang="en-US" sz="1600" dirty="0">
                          <a:solidFill>
                            <a:schemeClr val="tx1"/>
                          </a:solidFill>
                        </a:rPr>
                        <a:t>性质</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tx1"/>
                          </a:solidFill>
                        </a:rPr>
                        <a:t>我们认为是真的（但不确定）</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tx1"/>
                          </a:solidFill>
                        </a:rPr>
                        <a:t>必须遵守的限制（确定的）</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19125384"/>
                  </a:ext>
                </a:extLst>
              </a:tr>
              <a:tr h="0">
                <a:tc>
                  <a:txBody>
                    <a:bodyPr/>
                    <a:lstStyle/>
                    <a:p>
                      <a:pPr algn="l">
                        <a:buNone/>
                      </a:pPr>
                      <a:r>
                        <a:rPr lang="zh-CN" altLang="en-US" sz="1600" dirty="0">
                          <a:solidFill>
                            <a:schemeClr val="tx1"/>
                          </a:solidFill>
                        </a:rPr>
                        <a:t>如果出错</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dirty="0">
                          <a:solidFill>
                            <a:schemeClr val="tx1"/>
                          </a:solidFill>
                        </a:rPr>
                        <a:t>会变成风险 </a:t>
                      </a:r>
                      <a:r>
                        <a:rPr lang="en-US" altLang="zh-CN" sz="1600" dirty="0">
                          <a:solidFill>
                            <a:schemeClr val="tx1"/>
                          </a:solidFill>
                        </a:rPr>
                        <a:t>(</a:t>
                      </a:r>
                      <a:r>
                        <a:rPr lang="en-US" sz="1600" dirty="0">
                          <a:solidFill>
                            <a:schemeClr val="tx1"/>
                          </a:solidFill>
                        </a:rPr>
                        <a:t>Risk)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tx1"/>
                          </a:solidFill>
                        </a:rPr>
                        <a:t>会导致违规或项目失败</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73618575"/>
                  </a:ext>
                </a:extLst>
              </a:tr>
              <a:tr h="0">
                <a:tc>
                  <a:txBody>
                    <a:bodyPr/>
                    <a:lstStyle/>
                    <a:p>
                      <a:pPr algn="l">
                        <a:buNone/>
                      </a:pPr>
                      <a:r>
                        <a:rPr lang="zh-CN" altLang="en-US" sz="1600">
                          <a:solidFill>
                            <a:schemeClr val="tx1"/>
                          </a:solidFill>
                        </a:rPr>
                        <a:t>灵活性</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dirty="0">
                          <a:solidFill>
                            <a:schemeClr val="tx1"/>
                          </a:solidFill>
                        </a:rPr>
                        <a:t>相对较高，可随信息明确而修正</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tx1"/>
                          </a:solidFill>
                        </a:rPr>
                        <a:t>极低，通常由高层或合同强制规定</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8180259"/>
                  </a:ext>
                </a:extLst>
              </a:tr>
              <a:tr h="0">
                <a:tc>
                  <a:txBody>
                    <a:bodyPr/>
                    <a:lstStyle/>
                    <a:p>
                      <a:pPr algn="l">
                        <a:buNone/>
                      </a:pPr>
                      <a:r>
                        <a:rPr lang="zh-CN" altLang="en-US" sz="1600">
                          <a:solidFill>
                            <a:schemeClr val="tx1"/>
                          </a:solidFill>
                        </a:rPr>
                        <a:t>口头禅</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tx1"/>
                          </a:solidFill>
                        </a:rPr>
                        <a:t>我们假定</a:t>
                      </a:r>
                      <a:r>
                        <a:rPr lang="en-US" altLang="zh-CN" sz="1600">
                          <a:solidFill>
                            <a:schemeClr val="tx1"/>
                          </a:solidFill>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dirty="0">
                          <a:solidFill>
                            <a:schemeClr val="tx1"/>
                          </a:solidFill>
                        </a:rPr>
                        <a:t>我们必须</a:t>
                      </a:r>
                      <a:r>
                        <a:rPr lang="en-US" altLang="zh-CN" sz="1600" dirty="0">
                          <a:solidFill>
                            <a:schemeClr val="tx1"/>
                          </a:solidFill>
                        </a:rPr>
                        <a:t>...” / “</a:t>
                      </a:r>
                      <a:r>
                        <a:rPr lang="zh-CN" altLang="en-US" sz="1600" dirty="0">
                          <a:solidFill>
                            <a:schemeClr val="tx1"/>
                          </a:solidFill>
                        </a:rPr>
                        <a:t>不能超过</a:t>
                      </a:r>
                      <a:r>
                        <a:rPr lang="en-US" altLang="zh-CN" sz="1600" dirty="0">
                          <a:solidFill>
                            <a:schemeClr val="tx1"/>
                          </a:solidFill>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1294210"/>
                  </a:ext>
                </a:extLst>
              </a:tr>
              <a:tr h="0">
                <a:tc>
                  <a:txBody>
                    <a:bodyPr/>
                    <a:lstStyle/>
                    <a:p>
                      <a:pPr algn="l">
                        <a:buNone/>
                      </a:pPr>
                      <a:r>
                        <a:rPr lang="zh-CN" altLang="en-US" sz="1600">
                          <a:solidFill>
                            <a:schemeClr val="tx1"/>
                          </a:solidFill>
                        </a:rPr>
                        <a:t>例子</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tx1"/>
                          </a:solidFill>
                        </a:rPr>
                        <a:t>假定雨季不会影响室外施工。</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dirty="0">
                          <a:solidFill>
                            <a:schemeClr val="tx1"/>
                          </a:solidFill>
                        </a:rPr>
                        <a:t>必须在雨季结束前完工。</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62016895"/>
                  </a:ext>
                </a:extLst>
              </a:tr>
            </a:tbl>
          </a:graphicData>
        </a:graphic>
      </p:graphicFrame>
    </p:spTree>
    <p:extLst>
      <p:ext uri="{BB962C8B-B14F-4D97-AF65-F5344CB8AC3E}">
        <p14:creationId xmlns:p14="http://schemas.microsoft.com/office/powerpoint/2010/main" val="223604255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4353083B-FA8B-1D14-94BC-BCD3C69E90A4}"/>
              </a:ext>
            </a:extLst>
          </p:cNvPr>
          <p:cNvSpPr>
            <a:spLocks noGrp="1"/>
          </p:cNvSpPr>
          <p:nvPr>
            <p:ph type="title"/>
          </p:nvPr>
        </p:nvSpPr>
        <p:spPr>
          <a:xfrm>
            <a:off x="792000" y="360000"/>
            <a:ext cx="6375921" cy="429413"/>
          </a:xfrm>
        </p:spPr>
        <p:txBody>
          <a:bodyPr/>
          <a:lstStyle/>
          <a:p>
            <a:r>
              <a:rPr lang="en-US" altLang="zh-CN"/>
              <a:t>2.4.2 </a:t>
            </a:r>
            <a:r>
              <a:rPr lang="zh-CN" altLang="en-US"/>
              <a:t>项目章程 </a:t>
            </a:r>
            <a:r>
              <a:rPr lang="en-US" altLang="zh-CN"/>
              <a:t>– </a:t>
            </a:r>
            <a:r>
              <a:rPr lang="zh-CN" altLang="en-US"/>
              <a:t>示例</a:t>
            </a:r>
          </a:p>
        </p:txBody>
      </p:sp>
      <p:sp>
        <p:nvSpPr>
          <p:cNvPr id="3" name="内容占位符 2">
            <a:extLst>
              <a:ext uri="{FF2B5EF4-FFF2-40B4-BE49-F238E27FC236}">
                <a16:creationId xmlns:a16="http://schemas.microsoft.com/office/drawing/2014/main" id="{170CEA44-783E-FC1C-B35A-EC738A56AEE6}"/>
              </a:ext>
            </a:extLst>
          </p:cNvPr>
          <p:cNvSpPr>
            <a:spLocks noGrp="1"/>
          </p:cNvSpPr>
          <p:nvPr>
            <p:ph idx="1"/>
          </p:nvPr>
        </p:nvSpPr>
        <p:spPr>
          <a:xfrm>
            <a:off x="696000" y="864000"/>
            <a:ext cx="10800000" cy="5400000"/>
          </a:xfrm>
        </p:spPr>
        <p:txBody>
          <a:bodyPr/>
          <a:lstStyle/>
          <a:p>
            <a:r>
              <a:rPr lang="zh-CN" altLang="en-US"/>
              <a:t>主要风险 </a:t>
            </a:r>
            <a:r>
              <a:rPr lang="en-US" altLang="zh-CN"/>
              <a:t>Key Risks</a:t>
            </a:r>
          </a:p>
          <a:p>
            <a:pPr lvl="1"/>
            <a:r>
              <a:rPr lang="zh-CN" altLang="en-US"/>
              <a:t>关键资源依赖：核心架构师到位延迟，存在前期设计延期及资源闲置风险。</a:t>
            </a:r>
          </a:p>
          <a:p>
            <a:pPr lvl="1"/>
            <a:r>
              <a:rPr lang="zh-CN" altLang="en-US"/>
              <a:t>合规不确定性：新数据隐私法规可能导致技术方案返工。</a:t>
            </a:r>
          </a:p>
          <a:p>
            <a:pPr lvl="1"/>
            <a:r>
              <a:rPr lang="zh-CN" altLang="en-US"/>
              <a:t>市场窗口：若无法在年底前上线，将错失春节营销高峰。</a:t>
            </a:r>
          </a:p>
        </p:txBody>
      </p:sp>
      <p:sp>
        <p:nvSpPr>
          <p:cNvPr id="7" name="文本占位符 6">
            <a:extLst>
              <a:ext uri="{FF2B5EF4-FFF2-40B4-BE49-F238E27FC236}">
                <a16:creationId xmlns:a16="http://schemas.microsoft.com/office/drawing/2014/main" id="{37C32B0E-12CA-B36E-2A22-5325060E9054}"/>
              </a:ext>
            </a:extLst>
          </p:cNvPr>
          <p:cNvSpPr>
            <a:spLocks noGrp="1"/>
          </p:cNvSpPr>
          <p:nvPr>
            <p:ph type="body" sz="quarter" idx="10"/>
          </p:nvPr>
        </p:nvSpPr>
        <p:spPr>
          <a:xfrm>
            <a:off x="7071919" y="448519"/>
            <a:ext cx="4424080" cy="338554"/>
          </a:xfrm>
        </p:spPr>
        <p:txBody>
          <a:bodyPr/>
          <a:lstStyle/>
          <a:p>
            <a:r>
              <a:rPr lang="en-US" altLang="zh-CN"/>
              <a:t>Charter</a:t>
            </a:r>
            <a:endParaRPr lang="zh-CN" altLang="en-US"/>
          </a:p>
        </p:txBody>
      </p:sp>
    </p:spTree>
    <p:extLst>
      <p:ext uri="{BB962C8B-B14F-4D97-AF65-F5344CB8AC3E}">
        <p14:creationId xmlns:p14="http://schemas.microsoft.com/office/powerpoint/2010/main" val="163365284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213FC-8D90-9FC2-FD2C-B0DA3F0C3C5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F51EF75-AFE7-8A5B-B98B-D7BD2AB5CC78}"/>
              </a:ext>
            </a:extLst>
          </p:cNvPr>
          <p:cNvSpPr>
            <a:spLocks noGrp="1"/>
          </p:cNvSpPr>
          <p:nvPr>
            <p:ph type="title"/>
          </p:nvPr>
        </p:nvSpPr>
        <p:spPr>
          <a:xfrm>
            <a:off x="792000" y="360000"/>
            <a:ext cx="6375921" cy="429413"/>
          </a:xfrm>
        </p:spPr>
        <p:txBody>
          <a:bodyPr/>
          <a:lstStyle/>
          <a:p>
            <a:r>
              <a:rPr lang="en-US" altLang="zh-CN"/>
              <a:t>2.4.3 </a:t>
            </a:r>
            <a:r>
              <a:rPr lang="zh-CN" altLang="en-US"/>
              <a:t>项目经理</a:t>
            </a:r>
          </a:p>
        </p:txBody>
      </p:sp>
      <p:sp>
        <p:nvSpPr>
          <p:cNvPr id="10" name="内容占位符 9">
            <a:extLst>
              <a:ext uri="{FF2B5EF4-FFF2-40B4-BE49-F238E27FC236}">
                <a16:creationId xmlns:a16="http://schemas.microsoft.com/office/drawing/2014/main" id="{16897844-2C2F-07A9-32FE-A9BA13E398AE}"/>
              </a:ext>
            </a:extLst>
          </p:cNvPr>
          <p:cNvSpPr>
            <a:spLocks noGrp="1"/>
          </p:cNvSpPr>
          <p:nvPr>
            <p:ph idx="1"/>
          </p:nvPr>
        </p:nvSpPr>
        <p:spPr>
          <a:xfrm>
            <a:off x="696000" y="864000"/>
            <a:ext cx="10800000" cy="5400000"/>
          </a:xfrm>
        </p:spPr>
        <p:txBody>
          <a:bodyPr/>
          <a:lstStyle/>
          <a:p>
            <a:r>
              <a:rPr lang="zh-CN" altLang="en-US"/>
              <a:t>职责</a:t>
            </a:r>
            <a:endParaRPr lang="en-US" altLang="zh-CN"/>
          </a:p>
          <a:p>
            <a:pPr lvl="1"/>
            <a:r>
              <a:rPr lang="zh-CN" altLang="en-US"/>
              <a:t>开发计划</a:t>
            </a:r>
            <a:endParaRPr lang="en-US" altLang="zh-CN"/>
          </a:p>
          <a:p>
            <a:pPr lvl="1"/>
            <a:r>
              <a:rPr lang="zh-CN" altLang="en-US"/>
              <a:t>组织实施</a:t>
            </a:r>
            <a:endParaRPr lang="en-US" altLang="zh-CN"/>
          </a:p>
          <a:p>
            <a:pPr lvl="1"/>
            <a:r>
              <a:rPr lang="zh-CN" altLang="en-US"/>
              <a:t>项目控制</a:t>
            </a:r>
            <a:endParaRPr lang="en-US" altLang="zh-CN"/>
          </a:p>
          <a:p>
            <a:endParaRPr lang="zh-CN" altLang="en-US"/>
          </a:p>
        </p:txBody>
      </p:sp>
      <p:sp>
        <p:nvSpPr>
          <p:cNvPr id="4" name="文本占位符 3">
            <a:extLst>
              <a:ext uri="{FF2B5EF4-FFF2-40B4-BE49-F238E27FC236}">
                <a16:creationId xmlns:a16="http://schemas.microsoft.com/office/drawing/2014/main" id="{B8DDF3F7-09B7-9214-C5BE-1A683681C6D9}"/>
              </a:ext>
            </a:extLst>
          </p:cNvPr>
          <p:cNvSpPr>
            <a:spLocks noGrp="1"/>
          </p:cNvSpPr>
          <p:nvPr>
            <p:ph type="body" sz="quarter" idx="10"/>
          </p:nvPr>
        </p:nvSpPr>
        <p:spPr>
          <a:xfrm>
            <a:off x="7071919" y="448519"/>
            <a:ext cx="4424080" cy="338554"/>
          </a:xfrm>
        </p:spPr>
        <p:txBody>
          <a:bodyPr/>
          <a:lstStyle/>
          <a:p>
            <a:r>
              <a:rPr lang="en-US" altLang="zh-CN"/>
              <a:t>Project manager</a:t>
            </a:r>
            <a:endParaRPr lang="zh-CN" altLang="en-US"/>
          </a:p>
        </p:txBody>
      </p:sp>
    </p:spTree>
    <p:extLst>
      <p:ext uri="{BB962C8B-B14F-4D97-AF65-F5344CB8AC3E}">
        <p14:creationId xmlns:p14="http://schemas.microsoft.com/office/powerpoint/2010/main" val="219832051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FB79AA-D96B-403F-50A8-32D511051501}"/>
              </a:ext>
            </a:extLst>
          </p:cNvPr>
          <p:cNvSpPr>
            <a:spLocks noGrp="1"/>
          </p:cNvSpPr>
          <p:nvPr>
            <p:ph type="title"/>
          </p:nvPr>
        </p:nvSpPr>
        <p:spPr>
          <a:xfrm>
            <a:off x="792000" y="360000"/>
            <a:ext cx="6375921" cy="429413"/>
          </a:xfrm>
        </p:spPr>
        <p:txBody>
          <a:bodyPr/>
          <a:lstStyle/>
          <a:p>
            <a:r>
              <a:rPr lang="en-US" altLang="zh-CN"/>
              <a:t>2.4.3.1 </a:t>
            </a:r>
            <a:r>
              <a:rPr lang="zh-CN" altLang="en-US"/>
              <a:t>项目经理</a:t>
            </a:r>
          </a:p>
        </p:txBody>
      </p:sp>
      <p:sp>
        <p:nvSpPr>
          <p:cNvPr id="10" name="内容占位符 9">
            <a:extLst>
              <a:ext uri="{FF2B5EF4-FFF2-40B4-BE49-F238E27FC236}">
                <a16:creationId xmlns:a16="http://schemas.microsoft.com/office/drawing/2014/main" id="{8A9775CC-46B1-281F-3C1F-23876021B48D}"/>
              </a:ext>
            </a:extLst>
          </p:cNvPr>
          <p:cNvSpPr>
            <a:spLocks noGrp="1"/>
          </p:cNvSpPr>
          <p:nvPr>
            <p:ph idx="1"/>
          </p:nvPr>
        </p:nvSpPr>
        <p:spPr>
          <a:xfrm>
            <a:off x="696000" y="864000"/>
            <a:ext cx="10800000" cy="5400000"/>
          </a:xfrm>
        </p:spPr>
        <p:txBody>
          <a:bodyPr/>
          <a:lstStyle/>
          <a:p>
            <a:r>
              <a:rPr lang="en-US" altLang="zh-CN"/>
              <a:t>PMI</a:t>
            </a:r>
            <a:r>
              <a:rPr lang="zh-CN" altLang="en-US"/>
              <a:t>人才三角 </a:t>
            </a:r>
            <a:r>
              <a:rPr lang="en-US" altLang="zh-CN"/>
              <a:t>- PMI Talent Triangle</a:t>
            </a:r>
          </a:p>
          <a:p>
            <a:r>
              <a:rPr lang="zh-CN" altLang="en-US"/>
              <a:t>三者同等重要、缺一不可</a:t>
            </a:r>
            <a:endParaRPr lang="en-US" altLang="zh-CN"/>
          </a:p>
          <a:p>
            <a:endParaRPr lang="zh-CN" altLang="en-US"/>
          </a:p>
        </p:txBody>
      </p:sp>
      <p:sp>
        <p:nvSpPr>
          <p:cNvPr id="4" name="文本占位符 3">
            <a:extLst>
              <a:ext uri="{FF2B5EF4-FFF2-40B4-BE49-F238E27FC236}">
                <a16:creationId xmlns:a16="http://schemas.microsoft.com/office/drawing/2014/main" id="{6739C3D2-629D-553F-FC6B-B1A298725F97}"/>
              </a:ext>
            </a:extLst>
          </p:cNvPr>
          <p:cNvSpPr>
            <a:spLocks noGrp="1"/>
          </p:cNvSpPr>
          <p:nvPr>
            <p:ph type="body" sz="quarter" idx="10"/>
          </p:nvPr>
        </p:nvSpPr>
        <p:spPr>
          <a:xfrm>
            <a:off x="7071919" y="448519"/>
            <a:ext cx="4424080" cy="338554"/>
          </a:xfrm>
        </p:spPr>
        <p:txBody>
          <a:bodyPr/>
          <a:lstStyle/>
          <a:p>
            <a:r>
              <a:rPr lang="en-US" altLang="zh-CN"/>
              <a:t>Project manager</a:t>
            </a:r>
            <a:endParaRPr lang="zh-CN" altLang="en-US"/>
          </a:p>
        </p:txBody>
      </p:sp>
      <p:pic>
        <p:nvPicPr>
          <p:cNvPr id="26" name="图片 25">
            <a:extLst>
              <a:ext uri="{FF2B5EF4-FFF2-40B4-BE49-F238E27FC236}">
                <a16:creationId xmlns:a16="http://schemas.microsoft.com/office/drawing/2014/main" id="{FAE53F7D-FEF8-0730-52A8-85955E444F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76000" y="1094318"/>
            <a:ext cx="3240000" cy="2783414"/>
          </a:xfrm>
          <a:prstGeom prst="rect">
            <a:avLst/>
          </a:prstGeom>
        </p:spPr>
      </p:pic>
      <p:graphicFrame>
        <p:nvGraphicFramePr>
          <p:cNvPr id="32" name="表格 31">
            <a:extLst>
              <a:ext uri="{FF2B5EF4-FFF2-40B4-BE49-F238E27FC236}">
                <a16:creationId xmlns:a16="http://schemas.microsoft.com/office/drawing/2014/main" id="{931D2074-636B-1643-E9F7-957A4E58D60B}"/>
              </a:ext>
            </a:extLst>
          </p:cNvPr>
          <p:cNvGraphicFramePr>
            <a:graphicFrameLocks noGrp="1"/>
          </p:cNvGraphicFramePr>
          <p:nvPr>
            <p:extLst>
              <p:ext uri="{D42A27DB-BD31-4B8C-83A1-F6EECF244321}">
                <p14:modId xmlns:p14="http://schemas.microsoft.com/office/powerpoint/2010/main" val="269266768"/>
              </p:ext>
            </p:extLst>
          </p:nvPr>
        </p:nvGraphicFramePr>
        <p:xfrm>
          <a:off x="695325" y="4191635"/>
          <a:ext cx="10801350" cy="2072640"/>
        </p:xfrm>
        <a:graphic>
          <a:graphicData uri="http://schemas.openxmlformats.org/drawingml/2006/table">
            <a:tbl>
              <a:tblPr/>
              <a:tblGrid>
                <a:gridCol w="4276725">
                  <a:extLst>
                    <a:ext uri="{9D8B030D-6E8A-4147-A177-3AD203B41FA5}">
                      <a16:colId xmlns:a16="http://schemas.microsoft.com/office/drawing/2014/main" val="1613235729"/>
                    </a:ext>
                  </a:extLst>
                </a:gridCol>
                <a:gridCol w="6524625">
                  <a:extLst>
                    <a:ext uri="{9D8B030D-6E8A-4147-A177-3AD203B41FA5}">
                      <a16:colId xmlns:a16="http://schemas.microsoft.com/office/drawing/2014/main" val="2647818768"/>
                    </a:ext>
                  </a:extLst>
                </a:gridCol>
              </a:tblGrid>
              <a:tr h="0">
                <a:tc>
                  <a:txBody>
                    <a:bodyPr/>
                    <a:lstStyle/>
                    <a:p>
                      <a:pPr>
                        <a:buNone/>
                      </a:pPr>
                      <a:r>
                        <a:rPr lang="en-US" altLang="zh-CN" sz="1600" dirty="0">
                          <a:solidFill>
                            <a:schemeClr val="bg1"/>
                          </a:solidFill>
                        </a:rPr>
                        <a:t>Item</a:t>
                      </a:r>
                      <a:endParaRPr lang="zh-CN" altLang="en-US" sz="16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buNone/>
                      </a:pPr>
                      <a:r>
                        <a:rPr lang="en-US" altLang="zh-CN" sz="1600" dirty="0">
                          <a:solidFill>
                            <a:schemeClr val="bg1"/>
                          </a:solidFill>
                        </a:rPr>
                        <a:t>Description</a:t>
                      </a:r>
                      <a:endParaRPr lang="zh-CN" altLang="en-US" sz="16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1129582857"/>
                  </a:ext>
                </a:extLst>
              </a:tr>
              <a:tr h="119983">
                <a:tc>
                  <a:txBody>
                    <a:bodyPr/>
                    <a:lstStyle/>
                    <a:p>
                      <a:pPr>
                        <a:buNone/>
                      </a:pPr>
                      <a:r>
                        <a:rPr lang="zh-CN" altLang="en-US" sz="1600" dirty="0">
                          <a:solidFill>
                            <a:schemeClr val="tx1"/>
                          </a:solidFill>
                        </a:rPr>
                        <a:t>技术项目管理</a:t>
                      </a:r>
                      <a:endParaRPr lang="en-US" altLang="zh-CN" sz="1600" dirty="0">
                        <a:solidFill>
                          <a:schemeClr val="tx1"/>
                        </a:solidFill>
                      </a:endParaRPr>
                    </a:p>
                    <a:p>
                      <a:pPr>
                        <a:buNone/>
                      </a:pPr>
                      <a:r>
                        <a:rPr lang="en-US" altLang="zh-CN" sz="1600" dirty="0">
                          <a:solidFill>
                            <a:schemeClr val="tx1"/>
                          </a:solidFill>
                        </a:rPr>
                        <a:t>Technical Project Management</a:t>
                      </a:r>
                      <a:endParaRPr lang="zh-CN" altLang="en-US" sz="16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solidFill>
                            <a:schemeClr val="tx1"/>
                          </a:solidFill>
                        </a:rPr>
                        <a:t>与项目、项目集和项目组合管理特定领域相关的知识、技能和行为</a:t>
                      </a:r>
                      <a:endParaRPr lang="en-US" altLang="zh-CN" sz="1600">
                        <a:solidFill>
                          <a:schemeClr val="tx1"/>
                        </a:solidFill>
                      </a:endParaRPr>
                    </a:p>
                    <a:p>
                      <a:pPr>
                        <a:buNone/>
                      </a:pPr>
                      <a:r>
                        <a:rPr lang="zh-CN" altLang="en-US" sz="1600">
                          <a:solidFill>
                            <a:schemeClr val="tx1"/>
                          </a:solidFill>
                        </a:rPr>
                        <a:t>即执行你岗位</a:t>
                      </a:r>
                      <a:r>
                        <a:rPr lang="en-US" altLang="zh-CN" sz="1600">
                          <a:solidFill>
                            <a:schemeClr val="tx1"/>
                          </a:solidFill>
                        </a:rPr>
                        <a:t>/</a:t>
                      </a:r>
                      <a:r>
                        <a:rPr lang="zh-CN" altLang="en-US" sz="1600">
                          <a:solidFill>
                            <a:schemeClr val="tx1"/>
                          </a:solidFill>
                        </a:rPr>
                        <a:t>角色所需的技术性方面</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7171563"/>
                  </a:ext>
                </a:extLst>
              </a:tr>
              <a:tr h="119983">
                <a:tc>
                  <a:txBody>
                    <a:bodyPr/>
                    <a:lstStyle/>
                    <a:p>
                      <a:pPr>
                        <a:buNone/>
                      </a:pPr>
                      <a:r>
                        <a:rPr lang="zh-CN" altLang="en-US" sz="1600" dirty="0">
                          <a:solidFill>
                            <a:schemeClr val="tx1"/>
                          </a:solidFill>
                        </a:rPr>
                        <a:t>领导力</a:t>
                      </a:r>
                      <a:endParaRPr lang="en-US" altLang="zh-CN" sz="1600" dirty="0">
                        <a:solidFill>
                          <a:schemeClr val="tx1"/>
                        </a:solidFill>
                      </a:endParaRPr>
                    </a:p>
                    <a:p>
                      <a:pPr>
                        <a:buNone/>
                      </a:pPr>
                      <a:r>
                        <a:rPr lang="en-US" altLang="zh-CN" sz="1600" dirty="0">
                          <a:solidFill>
                            <a:schemeClr val="tx1"/>
                          </a:solidFill>
                        </a:rPr>
                        <a:t>Leadership</a:t>
                      </a:r>
                      <a:endParaRPr lang="zh-CN" altLang="en-US" sz="16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dirty="0">
                          <a:solidFill>
                            <a:schemeClr val="tx1"/>
                          </a:solidFill>
                        </a:rPr>
                        <a:t>涉及引导、激励和</a:t>
                      </a:r>
                      <a:r>
                        <a:rPr lang="en-US" altLang="zh-CN" sz="1600" dirty="0">
                          <a:solidFill>
                            <a:schemeClr val="tx1"/>
                          </a:solidFill>
                        </a:rPr>
                        <a:t>/</a:t>
                      </a:r>
                      <a:r>
                        <a:rPr lang="zh-CN" altLang="en-US" sz="1600" dirty="0">
                          <a:solidFill>
                            <a:schemeClr val="tx1"/>
                          </a:solidFill>
                        </a:rPr>
                        <a:t>或指导他人以实现目标的知识、技能和行为</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9323219"/>
                  </a:ext>
                </a:extLst>
              </a:tr>
              <a:tr h="119983">
                <a:tc>
                  <a:txBody>
                    <a:bodyPr/>
                    <a:lstStyle/>
                    <a:p>
                      <a:pPr>
                        <a:buNone/>
                      </a:pPr>
                      <a:r>
                        <a:rPr lang="zh-CN" altLang="en-US" sz="1600">
                          <a:solidFill>
                            <a:schemeClr val="tx1"/>
                          </a:solidFill>
                        </a:rPr>
                        <a:t>战略与商业管理</a:t>
                      </a:r>
                      <a:endParaRPr lang="en-US" altLang="zh-CN" sz="1600">
                        <a:solidFill>
                          <a:schemeClr val="tx1"/>
                        </a:solidFill>
                      </a:endParaRPr>
                    </a:p>
                    <a:p>
                      <a:pPr>
                        <a:buNone/>
                      </a:pPr>
                      <a:r>
                        <a:rPr lang="en-US" altLang="zh-CN" sz="1600">
                          <a:solidFill>
                            <a:schemeClr val="tx1"/>
                          </a:solidFill>
                        </a:rPr>
                        <a:t>Strategic and Business Management</a:t>
                      </a:r>
                      <a:endParaRPr lang="zh-CN" altLang="en-US" sz="160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dirty="0">
                          <a:solidFill>
                            <a:schemeClr val="tx1"/>
                          </a:solidFill>
                        </a:rPr>
                        <a:t>对行业</a:t>
                      </a:r>
                      <a:r>
                        <a:rPr lang="en-US" altLang="zh-CN" sz="1600" dirty="0">
                          <a:solidFill>
                            <a:schemeClr val="tx1"/>
                          </a:solidFill>
                        </a:rPr>
                        <a:t>/</a:t>
                      </a:r>
                      <a:r>
                        <a:rPr lang="zh-CN" altLang="en-US" sz="1600" dirty="0">
                          <a:solidFill>
                            <a:schemeClr val="tx1"/>
                          </a:solidFill>
                        </a:rPr>
                        <a:t>组织的知识与专长，帮助你以增强绩效并更好交付业务成果的方式协调团队</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7996534"/>
                  </a:ext>
                </a:extLst>
              </a:tr>
            </a:tbl>
          </a:graphicData>
        </a:graphic>
      </p:graphicFrame>
    </p:spTree>
    <p:extLst>
      <p:ext uri="{BB962C8B-B14F-4D97-AF65-F5344CB8AC3E}">
        <p14:creationId xmlns:p14="http://schemas.microsoft.com/office/powerpoint/2010/main" val="69608844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4B6F4-4D85-A2C4-167A-31BAF1C6B08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60A4524-5C08-806B-20D2-44883E5747C5}"/>
              </a:ext>
            </a:extLst>
          </p:cNvPr>
          <p:cNvSpPr>
            <a:spLocks noGrp="1"/>
          </p:cNvSpPr>
          <p:nvPr>
            <p:ph type="title"/>
          </p:nvPr>
        </p:nvSpPr>
        <p:spPr>
          <a:xfrm>
            <a:off x="792000" y="360000"/>
            <a:ext cx="6375921" cy="429413"/>
          </a:xfrm>
        </p:spPr>
        <p:txBody>
          <a:bodyPr/>
          <a:lstStyle/>
          <a:p>
            <a:r>
              <a:rPr lang="en-US" altLang="zh-CN"/>
              <a:t>2.4.3.2 </a:t>
            </a:r>
            <a:r>
              <a:rPr lang="zh-CN" altLang="en-US"/>
              <a:t>项目经理</a:t>
            </a:r>
          </a:p>
        </p:txBody>
      </p:sp>
      <p:sp>
        <p:nvSpPr>
          <p:cNvPr id="10" name="内容占位符 9">
            <a:extLst>
              <a:ext uri="{FF2B5EF4-FFF2-40B4-BE49-F238E27FC236}">
                <a16:creationId xmlns:a16="http://schemas.microsoft.com/office/drawing/2014/main" id="{292FB337-DA83-6EC2-D306-1D232F30D63B}"/>
              </a:ext>
            </a:extLst>
          </p:cNvPr>
          <p:cNvSpPr>
            <a:spLocks noGrp="1"/>
          </p:cNvSpPr>
          <p:nvPr>
            <p:ph idx="1"/>
          </p:nvPr>
        </p:nvSpPr>
        <p:spPr>
          <a:xfrm>
            <a:off x="696000" y="864000"/>
            <a:ext cx="10800000" cy="5400000"/>
          </a:xfrm>
        </p:spPr>
        <p:txBody>
          <a:bodyPr/>
          <a:lstStyle/>
          <a:p>
            <a:r>
              <a:rPr lang="en-US" altLang="zh-CN"/>
              <a:t>PMI</a:t>
            </a:r>
            <a:r>
              <a:rPr lang="zh-CN" altLang="en-US"/>
              <a:t>人才三角演进版</a:t>
            </a:r>
            <a:endParaRPr lang="en-US" altLang="zh-CN"/>
          </a:p>
          <a:p>
            <a:endParaRPr lang="zh-CN" altLang="en-US"/>
          </a:p>
        </p:txBody>
      </p:sp>
      <p:sp>
        <p:nvSpPr>
          <p:cNvPr id="4" name="文本占位符 3">
            <a:extLst>
              <a:ext uri="{FF2B5EF4-FFF2-40B4-BE49-F238E27FC236}">
                <a16:creationId xmlns:a16="http://schemas.microsoft.com/office/drawing/2014/main" id="{783EEEEF-0980-EA16-23C0-CEB4AD960366}"/>
              </a:ext>
            </a:extLst>
          </p:cNvPr>
          <p:cNvSpPr>
            <a:spLocks noGrp="1"/>
          </p:cNvSpPr>
          <p:nvPr>
            <p:ph type="body" sz="quarter" idx="10"/>
          </p:nvPr>
        </p:nvSpPr>
        <p:spPr>
          <a:xfrm>
            <a:off x="7071919" y="448519"/>
            <a:ext cx="4424080" cy="338554"/>
          </a:xfrm>
        </p:spPr>
        <p:txBody>
          <a:bodyPr/>
          <a:lstStyle/>
          <a:p>
            <a:r>
              <a:rPr lang="en-US" altLang="zh-CN"/>
              <a:t>Project manager</a:t>
            </a:r>
            <a:endParaRPr lang="zh-CN" altLang="en-US"/>
          </a:p>
        </p:txBody>
      </p:sp>
      <p:pic>
        <p:nvPicPr>
          <p:cNvPr id="24" name="图片 23">
            <a:extLst>
              <a:ext uri="{FF2B5EF4-FFF2-40B4-BE49-F238E27FC236}">
                <a16:creationId xmlns:a16="http://schemas.microsoft.com/office/drawing/2014/main" id="{E57F7413-768D-A436-D6E5-61448DF74E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96000" y="1031131"/>
            <a:ext cx="3600000" cy="2992974"/>
          </a:xfrm>
          <a:prstGeom prst="rect">
            <a:avLst/>
          </a:prstGeom>
        </p:spPr>
      </p:pic>
      <p:graphicFrame>
        <p:nvGraphicFramePr>
          <p:cNvPr id="18" name="表格 17">
            <a:extLst>
              <a:ext uri="{FF2B5EF4-FFF2-40B4-BE49-F238E27FC236}">
                <a16:creationId xmlns:a16="http://schemas.microsoft.com/office/drawing/2014/main" id="{249CC306-AB3C-D75C-1B3D-2AA78241DA35}"/>
              </a:ext>
            </a:extLst>
          </p:cNvPr>
          <p:cNvGraphicFramePr>
            <a:graphicFrameLocks noGrp="1"/>
          </p:cNvGraphicFramePr>
          <p:nvPr>
            <p:extLst>
              <p:ext uri="{D42A27DB-BD31-4B8C-83A1-F6EECF244321}">
                <p14:modId xmlns:p14="http://schemas.microsoft.com/office/powerpoint/2010/main" val="867564404"/>
              </p:ext>
            </p:extLst>
          </p:nvPr>
        </p:nvGraphicFramePr>
        <p:xfrm>
          <a:off x="695325" y="4191635"/>
          <a:ext cx="10801350" cy="2072640"/>
        </p:xfrm>
        <a:graphic>
          <a:graphicData uri="http://schemas.openxmlformats.org/drawingml/2006/table">
            <a:tbl>
              <a:tblPr/>
              <a:tblGrid>
                <a:gridCol w="2686050">
                  <a:extLst>
                    <a:ext uri="{9D8B030D-6E8A-4147-A177-3AD203B41FA5}">
                      <a16:colId xmlns:a16="http://schemas.microsoft.com/office/drawing/2014/main" val="1613235729"/>
                    </a:ext>
                  </a:extLst>
                </a:gridCol>
                <a:gridCol w="8115300">
                  <a:extLst>
                    <a:ext uri="{9D8B030D-6E8A-4147-A177-3AD203B41FA5}">
                      <a16:colId xmlns:a16="http://schemas.microsoft.com/office/drawing/2014/main" val="2647818768"/>
                    </a:ext>
                  </a:extLst>
                </a:gridCol>
              </a:tblGrid>
              <a:tr h="0">
                <a:tc>
                  <a:txBody>
                    <a:bodyPr/>
                    <a:lstStyle/>
                    <a:p>
                      <a:pPr>
                        <a:buNone/>
                      </a:pPr>
                      <a:r>
                        <a:rPr lang="en-US" altLang="zh-CN" sz="1600" dirty="0">
                          <a:solidFill>
                            <a:schemeClr val="bg1"/>
                          </a:solidFill>
                        </a:rPr>
                        <a:t>Item</a:t>
                      </a:r>
                      <a:endParaRPr lang="zh-CN" altLang="en-US" sz="16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buNone/>
                      </a:pPr>
                      <a:r>
                        <a:rPr lang="en-US" altLang="zh-CN" sz="1600" dirty="0">
                          <a:solidFill>
                            <a:schemeClr val="bg1"/>
                          </a:solidFill>
                        </a:rPr>
                        <a:t>Description</a:t>
                      </a:r>
                      <a:endParaRPr lang="zh-CN" altLang="en-US" sz="16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1129582857"/>
                  </a:ext>
                </a:extLst>
              </a:tr>
              <a:tr h="159506">
                <a:tc>
                  <a:txBody>
                    <a:bodyPr/>
                    <a:lstStyle/>
                    <a:p>
                      <a:pPr>
                        <a:buNone/>
                      </a:pPr>
                      <a:r>
                        <a:rPr lang="zh-CN" altLang="en-US" sz="1600" dirty="0">
                          <a:solidFill>
                            <a:schemeClr val="tx1"/>
                          </a:solidFill>
                        </a:rPr>
                        <a:t>工作方式</a:t>
                      </a:r>
                      <a:endParaRPr lang="en-US" altLang="zh-CN" sz="1600" dirty="0">
                        <a:solidFill>
                          <a:schemeClr val="tx1"/>
                        </a:solidFill>
                      </a:endParaRPr>
                    </a:p>
                    <a:p>
                      <a:pPr>
                        <a:buNone/>
                      </a:pPr>
                      <a:r>
                        <a:rPr lang="en-US" altLang="zh-CN" sz="1600" dirty="0">
                          <a:solidFill>
                            <a:schemeClr val="tx1"/>
                          </a:solidFill>
                        </a:rPr>
                        <a:t>Ways of Working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dirty="0">
                          <a:solidFill>
                            <a:schemeClr val="tx1"/>
                          </a:solidFill>
                        </a:rPr>
                        <a:t>涵盖交付价值的方法、工具、技术和途径 </a:t>
                      </a:r>
                      <a:r>
                        <a:rPr lang="en-US" altLang="zh-CN" sz="1600" dirty="0">
                          <a:solidFill>
                            <a:schemeClr val="tx1"/>
                          </a:solidFill>
                        </a:rPr>
                        <a:t>- </a:t>
                      </a:r>
                      <a:r>
                        <a:rPr lang="zh-CN" altLang="en-US" sz="1600" dirty="0">
                          <a:solidFill>
                            <a:schemeClr val="tx1"/>
                          </a:solidFill>
                        </a:rPr>
                        <a:t>无论是预测型、敏捷型、混合型还是其他新兴框架；不再局限于“项目管理”，而是关注“在任何情境下完成工作”</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7171563"/>
                  </a:ext>
                </a:extLst>
              </a:tr>
              <a:tr h="159506">
                <a:tc>
                  <a:txBody>
                    <a:bodyPr/>
                    <a:lstStyle/>
                    <a:p>
                      <a:pPr>
                        <a:buNone/>
                      </a:pPr>
                      <a:r>
                        <a:rPr lang="zh-CN" altLang="en-US" sz="1600">
                          <a:solidFill>
                            <a:schemeClr val="tx1"/>
                          </a:solidFill>
                        </a:rPr>
                        <a:t>能力技能</a:t>
                      </a:r>
                      <a:endParaRPr lang="en-US" altLang="zh-CN" sz="1600">
                        <a:solidFill>
                          <a:schemeClr val="tx1"/>
                        </a:solidFill>
                      </a:endParaRPr>
                    </a:p>
                    <a:p>
                      <a:pPr>
                        <a:buNone/>
                      </a:pPr>
                      <a:r>
                        <a:rPr lang="en-US" altLang="zh-CN" sz="1600">
                          <a:solidFill>
                            <a:schemeClr val="tx1"/>
                          </a:solidFill>
                        </a:rPr>
                        <a:t>Power Skills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dirty="0">
                          <a:solidFill>
                            <a:schemeClr val="tx1"/>
                          </a:solidFill>
                        </a:rPr>
                        <a:t>指使个人能够影响、激励、协作和领导的人际能力</a:t>
                      </a:r>
                      <a:r>
                        <a:rPr lang="en-US" altLang="zh-CN" sz="1600" dirty="0">
                          <a:solidFill>
                            <a:schemeClr val="tx1"/>
                          </a:solidFill>
                        </a:rPr>
                        <a:t> - </a:t>
                      </a:r>
                      <a:r>
                        <a:rPr lang="zh-CN" altLang="en-US" sz="1600" dirty="0">
                          <a:solidFill>
                            <a:schemeClr val="tx1"/>
                          </a:solidFill>
                        </a:rPr>
                        <a:t>无论是否拥有正式职权。包括情绪智力、沟通、谈判、冲突解决和故事讲述等</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9323219"/>
                  </a:ext>
                </a:extLst>
              </a:tr>
              <a:tr h="159506">
                <a:tc>
                  <a:txBody>
                    <a:bodyPr/>
                    <a:lstStyle/>
                    <a:p>
                      <a:pPr>
                        <a:buNone/>
                      </a:pPr>
                      <a:r>
                        <a:rPr lang="zh-CN" altLang="en-US" sz="1600">
                          <a:solidFill>
                            <a:schemeClr val="tx1"/>
                          </a:solidFill>
                        </a:rPr>
                        <a:t>商业洞察力</a:t>
                      </a:r>
                      <a:endParaRPr lang="en-US" altLang="zh-CN" sz="1600">
                        <a:solidFill>
                          <a:schemeClr val="tx1"/>
                        </a:solidFill>
                      </a:endParaRPr>
                    </a:p>
                    <a:p>
                      <a:pPr>
                        <a:buNone/>
                      </a:pPr>
                      <a:r>
                        <a:rPr lang="en-US" altLang="zh-CN" sz="1600">
                          <a:solidFill>
                            <a:schemeClr val="tx1"/>
                          </a:solidFill>
                        </a:rPr>
                        <a:t>Business Acumen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dirty="0">
                          <a:solidFill>
                            <a:schemeClr val="tx1"/>
                          </a:solidFill>
                        </a:rPr>
                        <a:t>指理解企业如何运作、盈利和创造价值的能力，并能运用这种理解来支持组织战略和财务健康的决策</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7996534"/>
                  </a:ext>
                </a:extLst>
              </a:tr>
            </a:tbl>
          </a:graphicData>
        </a:graphic>
      </p:graphicFrame>
    </p:spTree>
    <p:extLst>
      <p:ext uri="{BB962C8B-B14F-4D97-AF65-F5344CB8AC3E}">
        <p14:creationId xmlns:p14="http://schemas.microsoft.com/office/powerpoint/2010/main" val="297729292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88ABBE4D-7DD3-6684-964A-87539403D5FB}"/>
              </a:ext>
            </a:extLst>
          </p:cNvPr>
          <p:cNvSpPr>
            <a:spLocks noGrp="1"/>
          </p:cNvSpPr>
          <p:nvPr>
            <p:ph type="title"/>
          </p:nvPr>
        </p:nvSpPr>
        <p:spPr>
          <a:xfrm>
            <a:off x="792000" y="360000"/>
            <a:ext cx="6375921" cy="429413"/>
          </a:xfrm>
        </p:spPr>
        <p:txBody>
          <a:bodyPr/>
          <a:lstStyle/>
          <a:p>
            <a:r>
              <a:rPr lang="en-US" altLang="zh-CN"/>
              <a:t>2.4.3.3 </a:t>
            </a:r>
            <a:r>
              <a:rPr lang="zh-CN" altLang="en-US"/>
              <a:t>项目经理</a:t>
            </a:r>
          </a:p>
        </p:txBody>
      </p:sp>
      <p:sp>
        <p:nvSpPr>
          <p:cNvPr id="14" name="内容占位符 13">
            <a:extLst>
              <a:ext uri="{FF2B5EF4-FFF2-40B4-BE49-F238E27FC236}">
                <a16:creationId xmlns:a16="http://schemas.microsoft.com/office/drawing/2014/main" id="{26B2149F-40EA-E866-C285-E20A9855982F}"/>
              </a:ext>
            </a:extLst>
          </p:cNvPr>
          <p:cNvSpPr>
            <a:spLocks noGrp="1"/>
          </p:cNvSpPr>
          <p:nvPr>
            <p:ph idx="1"/>
          </p:nvPr>
        </p:nvSpPr>
        <p:spPr>
          <a:xfrm>
            <a:off x="696000" y="864000"/>
            <a:ext cx="10800000" cy="5400000"/>
          </a:xfrm>
        </p:spPr>
        <p:txBody>
          <a:bodyPr/>
          <a:lstStyle/>
          <a:p>
            <a:r>
              <a:rPr lang="zh-CN" altLang="en-US"/>
              <a:t>标志着项目管理</a:t>
            </a:r>
            <a:endParaRPr lang="en-US" altLang="zh-CN"/>
          </a:p>
          <a:p>
            <a:pPr lvl="1"/>
            <a:r>
              <a:rPr lang="zh-CN" altLang="en-US"/>
              <a:t>从“技术驱动”迈向“价值驱动”</a:t>
            </a:r>
            <a:endParaRPr lang="en-US" altLang="zh-CN"/>
          </a:p>
          <a:p>
            <a:pPr lvl="1"/>
            <a:r>
              <a:rPr lang="zh-CN" altLang="en-US"/>
              <a:t>从“岗位能力”转向“通用胜任力”</a:t>
            </a:r>
            <a:endParaRPr lang="en-US" altLang="zh-CN"/>
          </a:p>
          <a:p>
            <a:r>
              <a:rPr lang="zh-CN" altLang="en-US"/>
              <a:t>最终目标</a:t>
            </a:r>
            <a:endParaRPr lang="en-US" altLang="zh-CN"/>
          </a:p>
          <a:p>
            <a:pPr lvl="1"/>
            <a:r>
              <a:rPr lang="zh-CN" altLang="en-US"/>
              <a:t>培养能在复杂环境中持续创造商业影响力的复合型人才</a:t>
            </a:r>
          </a:p>
        </p:txBody>
      </p:sp>
      <p:sp>
        <p:nvSpPr>
          <p:cNvPr id="11" name="文本占位符 10">
            <a:extLst>
              <a:ext uri="{FF2B5EF4-FFF2-40B4-BE49-F238E27FC236}">
                <a16:creationId xmlns:a16="http://schemas.microsoft.com/office/drawing/2014/main" id="{8D9D7561-9CD9-A171-7AC8-E74A221BA44B}"/>
              </a:ext>
            </a:extLst>
          </p:cNvPr>
          <p:cNvSpPr>
            <a:spLocks noGrp="1"/>
          </p:cNvSpPr>
          <p:nvPr>
            <p:ph type="body" sz="quarter" idx="10"/>
          </p:nvPr>
        </p:nvSpPr>
        <p:spPr>
          <a:xfrm>
            <a:off x="7071919" y="448519"/>
            <a:ext cx="4424080" cy="338554"/>
          </a:xfrm>
        </p:spPr>
        <p:txBody>
          <a:bodyPr/>
          <a:lstStyle/>
          <a:p>
            <a:r>
              <a:rPr lang="en-US" altLang="zh-CN"/>
              <a:t>Project manager</a:t>
            </a:r>
            <a:endParaRPr lang="zh-CN" altLang="en-US"/>
          </a:p>
        </p:txBody>
      </p:sp>
      <p:graphicFrame>
        <p:nvGraphicFramePr>
          <p:cNvPr id="5" name="表格 4">
            <a:extLst>
              <a:ext uri="{FF2B5EF4-FFF2-40B4-BE49-F238E27FC236}">
                <a16:creationId xmlns:a16="http://schemas.microsoft.com/office/drawing/2014/main" id="{4DBCABE6-4435-30E8-43DA-3A85E38E580A}"/>
              </a:ext>
            </a:extLst>
          </p:cNvPr>
          <p:cNvGraphicFramePr>
            <a:graphicFrameLocks noGrp="1"/>
          </p:cNvGraphicFramePr>
          <p:nvPr>
            <p:extLst>
              <p:ext uri="{D42A27DB-BD31-4B8C-83A1-F6EECF244321}">
                <p14:modId xmlns:p14="http://schemas.microsoft.com/office/powerpoint/2010/main" val="2486599890"/>
              </p:ext>
            </p:extLst>
          </p:nvPr>
        </p:nvGraphicFramePr>
        <p:xfrm>
          <a:off x="695326" y="4191360"/>
          <a:ext cx="10801348" cy="2072640"/>
        </p:xfrm>
        <a:graphic>
          <a:graphicData uri="http://schemas.openxmlformats.org/drawingml/2006/table">
            <a:tbl>
              <a:tblPr/>
              <a:tblGrid>
                <a:gridCol w="1028699">
                  <a:extLst>
                    <a:ext uri="{9D8B030D-6E8A-4147-A177-3AD203B41FA5}">
                      <a16:colId xmlns:a16="http://schemas.microsoft.com/office/drawing/2014/main" val="1556667817"/>
                    </a:ext>
                  </a:extLst>
                </a:gridCol>
                <a:gridCol w="4124325">
                  <a:extLst>
                    <a:ext uri="{9D8B030D-6E8A-4147-A177-3AD203B41FA5}">
                      <a16:colId xmlns:a16="http://schemas.microsoft.com/office/drawing/2014/main" val="875267354"/>
                    </a:ext>
                  </a:extLst>
                </a:gridCol>
                <a:gridCol w="2667000">
                  <a:extLst>
                    <a:ext uri="{9D8B030D-6E8A-4147-A177-3AD203B41FA5}">
                      <a16:colId xmlns:a16="http://schemas.microsoft.com/office/drawing/2014/main" val="3986834464"/>
                    </a:ext>
                  </a:extLst>
                </a:gridCol>
                <a:gridCol w="2981324">
                  <a:extLst>
                    <a:ext uri="{9D8B030D-6E8A-4147-A177-3AD203B41FA5}">
                      <a16:colId xmlns:a16="http://schemas.microsoft.com/office/drawing/2014/main" val="3462028451"/>
                    </a:ext>
                  </a:extLst>
                </a:gridCol>
              </a:tblGrid>
              <a:tr h="187225">
                <a:tc>
                  <a:txBody>
                    <a:bodyPr/>
                    <a:lstStyle/>
                    <a:p>
                      <a:pPr>
                        <a:buNone/>
                      </a:pPr>
                      <a:r>
                        <a:rPr lang="en-US" altLang="zh-CN" sz="1600" dirty="0">
                          <a:solidFill>
                            <a:schemeClr val="bg1"/>
                          </a:solidFill>
                        </a:rPr>
                        <a:t>Item</a:t>
                      </a:r>
                      <a:endParaRPr lang="zh-CN" altLang="en-US" sz="16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buNone/>
                      </a:pPr>
                      <a:r>
                        <a:rPr lang="en-US" altLang="zh-CN" sz="1600" dirty="0">
                          <a:solidFill>
                            <a:schemeClr val="bg1"/>
                          </a:solidFill>
                        </a:rPr>
                        <a:t>Former</a:t>
                      </a:r>
                      <a:endParaRPr lang="zh-CN" altLang="en-US" sz="16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buNone/>
                      </a:pPr>
                      <a:r>
                        <a:rPr lang="en-US" altLang="zh-CN" sz="1600" dirty="0">
                          <a:solidFill>
                            <a:schemeClr val="bg1"/>
                          </a:solidFill>
                        </a:rPr>
                        <a:t>later</a:t>
                      </a:r>
                      <a:endParaRPr lang="zh-CN" altLang="en-US" sz="16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buNone/>
                      </a:pPr>
                      <a:r>
                        <a:rPr lang="en-US" altLang="zh-CN" sz="1600" dirty="0">
                          <a:solidFill>
                            <a:schemeClr val="bg1"/>
                          </a:solidFill>
                        </a:rPr>
                        <a:t>Description</a:t>
                      </a:r>
                      <a:endParaRPr lang="zh-CN" altLang="en-US" sz="16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2460554950"/>
                  </a:ext>
                </a:extLst>
              </a:tr>
              <a:tr h="323388">
                <a:tc>
                  <a:txBody>
                    <a:bodyPr/>
                    <a:lstStyle/>
                    <a:p>
                      <a:pPr>
                        <a:buNone/>
                      </a:pPr>
                      <a:r>
                        <a:rPr lang="zh-CN" altLang="en-US" sz="1600" dirty="0">
                          <a:solidFill>
                            <a:schemeClr val="tx1"/>
                          </a:solidFill>
                        </a:rPr>
                        <a:t>技术侧</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dirty="0">
                          <a:solidFill>
                            <a:schemeClr val="tx1"/>
                          </a:solidFill>
                        </a:rPr>
                        <a:t>Technical Project Management</a:t>
                      </a:r>
                      <a:br>
                        <a:rPr lang="en-US" sz="1600" dirty="0">
                          <a:solidFill>
                            <a:schemeClr val="tx1"/>
                          </a:solidFill>
                        </a:rPr>
                      </a:br>
                      <a:r>
                        <a:rPr lang="zh-CN" altLang="en-US" sz="1600" dirty="0">
                          <a:solidFill>
                            <a:schemeClr val="tx1"/>
                          </a:solidFill>
                        </a:rPr>
                        <a:t>技术项目管理</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a:solidFill>
                            <a:schemeClr val="tx1"/>
                          </a:solidFill>
                        </a:rPr>
                        <a:t>Ways of Working</a:t>
                      </a:r>
                      <a:br>
                        <a:rPr lang="en-US" sz="1600">
                          <a:solidFill>
                            <a:schemeClr val="tx1"/>
                          </a:solidFill>
                        </a:rPr>
                      </a:br>
                      <a:r>
                        <a:rPr lang="en-US" sz="1600" err="1">
                          <a:solidFill>
                            <a:schemeClr val="tx1"/>
                          </a:solidFill>
                        </a:rPr>
                        <a:t>工作方式</a:t>
                      </a:r>
                      <a:endParaRPr lang="en-US" sz="160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solidFill>
                            <a:schemeClr val="tx1"/>
                          </a:solidFill>
                        </a:rPr>
                        <a:t>更强调方法论灵活性，而非仅限于项目管理本身</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05100506"/>
                  </a:ext>
                </a:extLst>
              </a:tr>
              <a:tr h="323388">
                <a:tc>
                  <a:txBody>
                    <a:bodyPr/>
                    <a:lstStyle/>
                    <a:p>
                      <a:pPr>
                        <a:buNone/>
                      </a:pPr>
                      <a:r>
                        <a:rPr lang="zh-CN" altLang="en-US" sz="1600">
                          <a:solidFill>
                            <a:schemeClr val="tx1"/>
                          </a:solidFill>
                        </a:rPr>
                        <a:t>领导力侧</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dirty="0">
                          <a:solidFill>
                            <a:schemeClr val="tx1"/>
                          </a:solidFill>
                        </a:rPr>
                        <a:t>Leadership</a:t>
                      </a:r>
                    </a:p>
                    <a:p>
                      <a:pPr>
                        <a:buNone/>
                      </a:pPr>
                      <a:r>
                        <a:rPr lang="zh-CN" altLang="en-US" sz="1600" dirty="0">
                          <a:solidFill>
                            <a:schemeClr val="tx1"/>
                          </a:solidFill>
                        </a:rPr>
                        <a:t>领导力</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dirty="0">
                          <a:solidFill>
                            <a:schemeClr val="tx1"/>
                          </a:solidFill>
                        </a:rPr>
                        <a:t>Power Skills</a:t>
                      </a:r>
                      <a:br>
                        <a:rPr lang="en-US" sz="1600" dirty="0">
                          <a:solidFill>
                            <a:schemeClr val="tx1"/>
                          </a:solidFill>
                        </a:rPr>
                      </a:br>
                      <a:r>
                        <a:rPr lang="zh-CN" altLang="en-US" sz="1600" dirty="0">
                          <a:solidFill>
                            <a:schemeClr val="tx1"/>
                          </a:solidFill>
                        </a:rPr>
                        <a:t>权力技能 </a:t>
                      </a:r>
                      <a:r>
                        <a:rPr lang="en-US" altLang="zh-CN" sz="1600" dirty="0">
                          <a:solidFill>
                            <a:schemeClr val="tx1"/>
                          </a:solidFill>
                        </a:rPr>
                        <a:t>/ </a:t>
                      </a:r>
                      <a:r>
                        <a:rPr lang="zh-CN" altLang="en-US" sz="1600" dirty="0">
                          <a:solidFill>
                            <a:schemeClr val="tx1"/>
                          </a:solidFill>
                        </a:rPr>
                        <a:t>影响力技能</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solidFill>
                            <a:schemeClr val="tx1"/>
                          </a:solidFill>
                        </a:rPr>
                        <a:t>突出影响他人的核心能力</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83800013"/>
                  </a:ext>
                </a:extLst>
              </a:tr>
              <a:tr h="323388">
                <a:tc>
                  <a:txBody>
                    <a:bodyPr/>
                    <a:lstStyle/>
                    <a:p>
                      <a:pPr>
                        <a:buNone/>
                      </a:pPr>
                      <a:r>
                        <a:rPr lang="zh-CN" altLang="en-US" sz="1600">
                          <a:solidFill>
                            <a:schemeClr val="tx1"/>
                          </a:solidFill>
                        </a:rPr>
                        <a:t>商业侧</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a:solidFill>
                            <a:schemeClr val="tx1"/>
                          </a:solidFill>
                        </a:rPr>
                        <a:t>Strategic and Business Management</a:t>
                      </a:r>
                      <a:br>
                        <a:rPr lang="en-US" sz="1600">
                          <a:solidFill>
                            <a:schemeClr val="tx1"/>
                          </a:solidFill>
                        </a:rPr>
                      </a:br>
                      <a:r>
                        <a:rPr lang="zh-CN" altLang="en-US" sz="1600">
                          <a:solidFill>
                            <a:schemeClr val="tx1"/>
                          </a:solidFill>
                        </a:rPr>
                        <a:t>战略与商业管理</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dirty="0">
                          <a:solidFill>
                            <a:schemeClr val="tx1"/>
                          </a:solidFill>
                        </a:rPr>
                        <a:t>Business Acumen</a:t>
                      </a:r>
                      <a:br>
                        <a:rPr lang="en-US" sz="1600" dirty="0">
                          <a:solidFill>
                            <a:schemeClr val="tx1"/>
                          </a:solidFill>
                        </a:rPr>
                      </a:br>
                      <a:r>
                        <a:rPr lang="zh-CN" altLang="en-US" sz="1600" dirty="0">
                          <a:solidFill>
                            <a:schemeClr val="tx1"/>
                          </a:solidFill>
                        </a:rPr>
                        <a:t>商业敏锐度</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dirty="0">
                          <a:solidFill>
                            <a:schemeClr val="tx1"/>
                          </a:solidFill>
                        </a:rPr>
                        <a:t>更简洁、聚焦于“理解业务并创造价值”的本质</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5527658"/>
                  </a:ext>
                </a:extLst>
              </a:tr>
            </a:tbl>
          </a:graphicData>
        </a:graphic>
      </p:graphicFrame>
    </p:spTree>
    <p:extLst>
      <p:ext uri="{BB962C8B-B14F-4D97-AF65-F5344CB8AC3E}">
        <p14:creationId xmlns:p14="http://schemas.microsoft.com/office/powerpoint/2010/main" val="34614835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ACDE4E-0E93-7EE1-78FB-37D799B9C8E1}"/>
              </a:ext>
            </a:extLst>
          </p:cNvPr>
          <p:cNvSpPr>
            <a:spLocks noGrp="1"/>
          </p:cNvSpPr>
          <p:nvPr>
            <p:ph type="title"/>
          </p:nvPr>
        </p:nvSpPr>
        <p:spPr>
          <a:xfrm>
            <a:off x="792000" y="360000"/>
            <a:ext cx="6375921" cy="429413"/>
          </a:xfrm>
        </p:spPr>
        <p:txBody>
          <a:bodyPr>
            <a:normAutofit/>
          </a:bodyPr>
          <a:lstStyle/>
          <a:p>
            <a:r>
              <a:rPr lang="en-US" altLang="zh-CN"/>
              <a:t>2.5 </a:t>
            </a:r>
            <a:r>
              <a:rPr lang="zh-CN" altLang="en-US"/>
              <a:t>软件项目生存期模型</a:t>
            </a:r>
          </a:p>
        </p:txBody>
      </p:sp>
      <p:sp>
        <p:nvSpPr>
          <p:cNvPr id="11" name="内容占位符 10">
            <a:extLst>
              <a:ext uri="{FF2B5EF4-FFF2-40B4-BE49-F238E27FC236}">
                <a16:creationId xmlns:a16="http://schemas.microsoft.com/office/drawing/2014/main" id="{7E379A49-97EA-A196-596E-B684984664D9}"/>
              </a:ext>
            </a:extLst>
          </p:cNvPr>
          <p:cNvSpPr>
            <a:spLocks noGrp="1"/>
          </p:cNvSpPr>
          <p:nvPr>
            <p:ph idx="1"/>
          </p:nvPr>
        </p:nvSpPr>
        <p:spPr>
          <a:xfrm>
            <a:off x="696000" y="864000"/>
            <a:ext cx="10800000" cy="5400000"/>
          </a:xfrm>
        </p:spPr>
        <p:txBody>
          <a:bodyPr/>
          <a:lstStyle/>
          <a:p>
            <a:r>
              <a:rPr lang="zh-CN" altLang="en-US"/>
              <a:t>描述开发主要阶段</a:t>
            </a:r>
            <a:endParaRPr lang="en-US" altLang="zh-CN"/>
          </a:p>
          <a:p>
            <a:r>
              <a:rPr lang="zh-CN" altLang="en-US"/>
              <a:t>定义每个阶段要完成的主要过程和活动</a:t>
            </a:r>
            <a:endParaRPr lang="en-US" altLang="zh-CN"/>
          </a:p>
          <a:p>
            <a:r>
              <a:rPr lang="zh-CN" altLang="en-US"/>
              <a:t>规范每个阶段的输入和输出</a:t>
            </a:r>
            <a:endParaRPr lang="en-US" altLang="zh-CN"/>
          </a:p>
          <a:p>
            <a:endParaRPr lang="zh-CN" altLang="en-US"/>
          </a:p>
        </p:txBody>
      </p:sp>
      <p:sp>
        <p:nvSpPr>
          <p:cNvPr id="4" name="文本占位符 3">
            <a:extLst>
              <a:ext uri="{FF2B5EF4-FFF2-40B4-BE49-F238E27FC236}">
                <a16:creationId xmlns:a16="http://schemas.microsoft.com/office/drawing/2014/main" id="{015D7454-D130-725F-915B-E3090B9C7497}"/>
              </a:ext>
            </a:extLst>
          </p:cNvPr>
          <p:cNvSpPr>
            <a:spLocks noGrp="1"/>
          </p:cNvSpPr>
          <p:nvPr>
            <p:ph type="body" sz="quarter" idx="10"/>
          </p:nvPr>
        </p:nvSpPr>
        <p:spPr>
          <a:xfrm>
            <a:off x="7071919" y="448519"/>
            <a:ext cx="4424080" cy="338554"/>
          </a:xfrm>
        </p:spPr>
        <p:txBody>
          <a:bodyPr/>
          <a:lstStyle/>
          <a:p>
            <a:r>
              <a:rPr lang="en-US" altLang="zh-CN"/>
              <a:t>Project Life Cycle Types</a:t>
            </a:r>
            <a:endParaRPr lang="zh-CN" altLang="en-US"/>
          </a:p>
        </p:txBody>
      </p:sp>
      <p:graphicFrame>
        <p:nvGraphicFramePr>
          <p:cNvPr id="12" name="图示 11">
            <a:extLst>
              <a:ext uri="{FF2B5EF4-FFF2-40B4-BE49-F238E27FC236}">
                <a16:creationId xmlns:a16="http://schemas.microsoft.com/office/drawing/2014/main" id="{063E787D-0CC1-C631-5510-2A0C6E347452}"/>
              </a:ext>
            </a:extLst>
          </p:cNvPr>
          <p:cNvGraphicFramePr/>
          <p:nvPr>
            <p:extLst>
              <p:ext uri="{D42A27DB-BD31-4B8C-83A1-F6EECF244321}">
                <p14:modId xmlns:p14="http://schemas.microsoft.com/office/powerpoint/2010/main" val="3819120269"/>
              </p:ext>
            </p:extLst>
          </p:nvPr>
        </p:nvGraphicFramePr>
        <p:xfrm>
          <a:off x="695999" y="3677256"/>
          <a:ext cx="10799999" cy="4356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3186457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446A2-A475-D300-6E24-DC4CBF873B0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7EF1B26-DCA3-ECFE-3D0A-C3A5EA34F135}"/>
              </a:ext>
            </a:extLst>
          </p:cNvPr>
          <p:cNvSpPr>
            <a:spLocks noGrp="1"/>
          </p:cNvSpPr>
          <p:nvPr>
            <p:ph type="title"/>
          </p:nvPr>
        </p:nvSpPr>
        <p:spPr>
          <a:xfrm>
            <a:off x="792000" y="360000"/>
            <a:ext cx="6375921" cy="429413"/>
          </a:xfrm>
        </p:spPr>
        <p:txBody>
          <a:bodyPr>
            <a:normAutofit/>
          </a:bodyPr>
          <a:lstStyle/>
          <a:p>
            <a:r>
              <a:rPr lang="en-US" altLang="zh-CN"/>
              <a:t>2.5 </a:t>
            </a:r>
            <a:r>
              <a:rPr lang="zh-CN" altLang="en-US"/>
              <a:t>软件项目生存期模型</a:t>
            </a:r>
          </a:p>
        </p:txBody>
      </p:sp>
      <p:sp>
        <p:nvSpPr>
          <p:cNvPr id="17" name="内容占位符 16">
            <a:extLst>
              <a:ext uri="{FF2B5EF4-FFF2-40B4-BE49-F238E27FC236}">
                <a16:creationId xmlns:a16="http://schemas.microsoft.com/office/drawing/2014/main" id="{695272F4-2C52-2D7C-EC10-FAF3515BA9CE}"/>
              </a:ext>
            </a:extLst>
          </p:cNvPr>
          <p:cNvSpPr>
            <a:spLocks noGrp="1"/>
          </p:cNvSpPr>
          <p:nvPr>
            <p:ph idx="1"/>
          </p:nvPr>
        </p:nvSpPr>
        <p:spPr/>
        <p:txBody>
          <a:bodyPr/>
          <a:lstStyle/>
          <a:p>
            <a:endParaRPr lang="zh-CN" altLang="en-US"/>
          </a:p>
        </p:txBody>
      </p:sp>
      <p:sp>
        <p:nvSpPr>
          <p:cNvPr id="4" name="文本占位符 3">
            <a:extLst>
              <a:ext uri="{FF2B5EF4-FFF2-40B4-BE49-F238E27FC236}">
                <a16:creationId xmlns:a16="http://schemas.microsoft.com/office/drawing/2014/main" id="{BF2B21F6-3603-2BBB-25C2-B94BE009CD34}"/>
              </a:ext>
            </a:extLst>
          </p:cNvPr>
          <p:cNvSpPr>
            <a:spLocks noGrp="1"/>
          </p:cNvSpPr>
          <p:nvPr>
            <p:ph type="body" sz="quarter" idx="10"/>
          </p:nvPr>
        </p:nvSpPr>
        <p:spPr>
          <a:xfrm>
            <a:off x="7071919" y="448519"/>
            <a:ext cx="4424080" cy="338554"/>
          </a:xfrm>
        </p:spPr>
        <p:txBody>
          <a:bodyPr/>
          <a:lstStyle/>
          <a:p>
            <a:r>
              <a:rPr lang="en-US" altLang="zh-CN"/>
              <a:t>Project Life Cycle Types</a:t>
            </a:r>
            <a:endParaRPr lang="zh-CN" altLang="en-US"/>
          </a:p>
        </p:txBody>
      </p:sp>
      <p:graphicFrame>
        <p:nvGraphicFramePr>
          <p:cNvPr id="16" name="内容占位符 2">
            <a:extLst>
              <a:ext uri="{FF2B5EF4-FFF2-40B4-BE49-F238E27FC236}">
                <a16:creationId xmlns:a16="http://schemas.microsoft.com/office/drawing/2014/main" id="{9EE1DA3E-4DCF-A90E-64B6-2FE19C55488E}"/>
              </a:ext>
            </a:extLst>
          </p:cNvPr>
          <p:cNvGraphicFramePr>
            <a:graphicFrameLocks/>
          </p:cNvGraphicFramePr>
          <p:nvPr>
            <p:extLst>
              <p:ext uri="{D42A27DB-BD31-4B8C-83A1-F6EECF244321}">
                <p14:modId xmlns:p14="http://schemas.microsoft.com/office/powerpoint/2010/main" val="596946211"/>
              </p:ext>
            </p:extLst>
          </p:nvPr>
        </p:nvGraphicFramePr>
        <p:xfrm>
          <a:off x="695325" y="4587600"/>
          <a:ext cx="10801350" cy="1676400"/>
        </p:xfrm>
        <a:graphic>
          <a:graphicData uri="http://schemas.openxmlformats.org/drawingml/2006/table">
            <a:tbl>
              <a:tblPr/>
              <a:tblGrid>
                <a:gridCol w="2136365">
                  <a:extLst>
                    <a:ext uri="{9D8B030D-6E8A-4147-A177-3AD203B41FA5}">
                      <a16:colId xmlns:a16="http://schemas.microsoft.com/office/drawing/2014/main" val="4006582783"/>
                    </a:ext>
                  </a:extLst>
                </a:gridCol>
                <a:gridCol w="658762">
                  <a:extLst>
                    <a:ext uri="{9D8B030D-6E8A-4147-A177-3AD203B41FA5}">
                      <a16:colId xmlns:a16="http://schemas.microsoft.com/office/drawing/2014/main" val="4276722972"/>
                    </a:ext>
                  </a:extLst>
                </a:gridCol>
                <a:gridCol w="2025445">
                  <a:extLst>
                    <a:ext uri="{9D8B030D-6E8A-4147-A177-3AD203B41FA5}">
                      <a16:colId xmlns:a16="http://schemas.microsoft.com/office/drawing/2014/main" val="871455100"/>
                    </a:ext>
                  </a:extLst>
                </a:gridCol>
                <a:gridCol w="1986116">
                  <a:extLst>
                    <a:ext uri="{9D8B030D-6E8A-4147-A177-3AD203B41FA5}">
                      <a16:colId xmlns:a16="http://schemas.microsoft.com/office/drawing/2014/main" val="1263484822"/>
                    </a:ext>
                  </a:extLst>
                </a:gridCol>
                <a:gridCol w="3994662">
                  <a:extLst>
                    <a:ext uri="{9D8B030D-6E8A-4147-A177-3AD203B41FA5}">
                      <a16:colId xmlns:a16="http://schemas.microsoft.com/office/drawing/2014/main" val="3321411109"/>
                    </a:ext>
                  </a:extLst>
                </a:gridCol>
              </a:tblGrid>
              <a:tr h="0">
                <a:tc>
                  <a:txBody>
                    <a:bodyPr/>
                    <a:lstStyle/>
                    <a:p>
                      <a:pPr algn="l">
                        <a:buNone/>
                      </a:pPr>
                      <a:r>
                        <a:rPr lang="zh-CN" altLang="en-US" sz="1600" dirty="0">
                          <a:solidFill>
                            <a:schemeClr val="bg1"/>
                          </a:solidFill>
                        </a:rPr>
                        <a:t>方法</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buNone/>
                      </a:pPr>
                      <a:r>
                        <a:rPr lang="zh-CN" altLang="en-US" sz="1600" dirty="0">
                          <a:solidFill>
                            <a:schemeClr val="bg1"/>
                          </a:solidFill>
                        </a:rPr>
                        <a:t>需求</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buNone/>
                      </a:pPr>
                      <a:r>
                        <a:rPr lang="zh-CN" altLang="en-US" sz="1600" dirty="0">
                          <a:solidFill>
                            <a:schemeClr val="bg1"/>
                          </a:solidFill>
                        </a:rPr>
                        <a:t>活动</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buNone/>
                      </a:pPr>
                      <a:r>
                        <a:rPr lang="zh-CN" altLang="en-US" sz="1600" dirty="0">
                          <a:solidFill>
                            <a:schemeClr val="bg1"/>
                          </a:solidFill>
                        </a:rPr>
                        <a:t>交付</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buNone/>
                      </a:pPr>
                      <a:r>
                        <a:rPr lang="zh-CN" altLang="en-US" sz="1600" dirty="0">
                          <a:solidFill>
                            <a:schemeClr val="bg1"/>
                          </a:solidFill>
                        </a:rPr>
                        <a:t>目标</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188049931"/>
                  </a:ext>
                </a:extLst>
              </a:tr>
              <a:tr h="0">
                <a:tc>
                  <a:txBody>
                    <a:bodyPr/>
                    <a:lstStyle/>
                    <a:p>
                      <a:pPr algn="l">
                        <a:buNone/>
                      </a:pPr>
                      <a:r>
                        <a:rPr lang="zh-CN" altLang="en-US" sz="1600" dirty="0">
                          <a:solidFill>
                            <a:schemeClr val="tx1"/>
                          </a:solidFill>
                        </a:rPr>
                        <a:t>预测型 </a:t>
                      </a:r>
                      <a:r>
                        <a:rPr lang="en-US" sz="1600" dirty="0">
                          <a:solidFill>
                            <a:schemeClr val="tx1"/>
                          </a:solidFill>
                        </a:rPr>
                        <a:t>Predictive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dirty="0">
                          <a:solidFill>
                            <a:schemeClr val="tx1"/>
                          </a:solidFill>
                        </a:rPr>
                        <a:t>固定</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dirty="0">
                          <a:solidFill>
                            <a:schemeClr val="tx1"/>
                          </a:solidFill>
                        </a:rPr>
                        <a:t>整个项目仅执行一次</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dirty="0">
                          <a:solidFill>
                            <a:schemeClr val="tx1"/>
                          </a:solidFill>
                        </a:rPr>
                        <a:t>一次交付</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tx1"/>
                          </a:solidFill>
                        </a:rPr>
                        <a:t>管理成本</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59572773"/>
                  </a:ext>
                </a:extLst>
              </a:tr>
              <a:tr h="0">
                <a:tc>
                  <a:txBody>
                    <a:bodyPr/>
                    <a:lstStyle/>
                    <a:p>
                      <a:pPr algn="l">
                        <a:buNone/>
                      </a:pPr>
                      <a:r>
                        <a:rPr lang="zh-CN" altLang="en-US" sz="1600">
                          <a:solidFill>
                            <a:schemeClr val="tx1"/>
                          </a:solidFill>
                        </a:rPr>
                        <a:t>迭代型 </a:t>
                      </a:r>
                      <a:r>
                        <a:rPr lang="en-US" sz="1600">
                          <a:solidFill>
                            <a:schemeClr val="tx1"/>
                          </a:solidFill>
                        </a:rPr>
                        <a:t>Iterative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tx1"/>
                          </a:solidFill>
                        </a:rPr>
                        <a:t>动态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tx1"/>
                          </a:solidFill>
                        </a:rPr>
                        <a:t>反复执行直至修正</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dirty="0">
                          <a:solidFill>
                            <a:schemeClr val="tx1"/>
                          </a:solidFill>
                        </a:rPr>
                        <a:t>一次交付</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dirty="0">
                          <a:solidFill>
                            <a:schemeClr val="tx1"/>
                          </a:solidFill>
                        </a:rPr>
                        <a:t>解决方案的正确性</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51702963"/>
                  </a:ext>
                </a:extLst>
              </a:tr>
              <a:tr h="0">
                <a:tc>
                  <a:txBody>
                    <a:bodyPr/>
                    <a:lstStyle/>
                    <a:p>
                      <a:pPr algn="l">
                        <a:buNone/>
                      </a:pPr>
                      <a:r>
                        <a:rPr lang="zh-CN" altLang="en-US" sz="1600">
                          <a:solidFill>
                            <a:schemeClr val="tx1"/>
                          </a:solidFill>
                        </a:rPr>
                        <a:t>增量型 </a:t>
                      </a:r>
                      <a:r>
                        <a:rPr lang="en-US" sz="1600">
                          <a:solidFill>
                            <a:schemeClr val="tx1"/>
                          </a:solidFill>
                        </a:rPr>
                        <a:t>Incremental</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tx1"/>
                          </a:solidFill>
                        </a:rPr>
                        <a:t>动态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tx1"/>
                          </a:solidFill>
                        </a:rPr>
                        <a:t>对给定增量执行一次</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tx1"/>
                          </a:solidFill>
                        </a:rPr>
                        <a:t>频繁更小规模交付</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dirty="0">
                          <a:solidFill>
                            <a:schemeClr val="tx1"/>
                          </a:solidFill>
                        </a:rPr>
                        <a:t>速度</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9705839"/>
                  </a:ext>
                </a:extLst>
              </a:tr>
              <a:tr h="0">
                <a:tc>
                  <a:txBody>
                    <a:bodyPr/>
                    <a:lstStyle/>
                    <a:p>
                      <a:pPr algn="l">
                        <a:buNone/>
                      </a:pPr>
                      <a:r>
                        <a:rPr lang="zh-CN" altLang="en-US" sz="1600">
                          <a:solidFill>
                            <a:schemeClr val="tx1"/>
                          </a:solidFill>
                        </a:rPr>
                        <a:t>敏捷型 </a:t>
                      </a:r>
                      <a:r>
                        <a:rPr lang="en-US" sz="1600">
                          <a:solidFill>
                            <a:schemeClr val="tx1"/>
                          </a:solidFill>
                        </a:rPr>
                        <a:t>Agile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tx1"/>
                          </a:solidFill>
                        </a:rPr>
                        <a:t>动态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tx1"/>
                          </a:solidFill>
                        </a:rPr>
                        <a:t>反复执行直至修正</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tx1"/>
                          </a:solidFill>
                        </a:rPr>
                        <a:t>频繁小规模交付</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dirty="0">
                          <a:solidFill>
                            <a:schemeClr val="tx1"/>
                          </a:solidFill>
                        </a:rPr>
                        <a:t>通过频繁小规模交付和反馈实现客户价值</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2667832"/>
                  </a:ext>
                </a:extLst>
              </a:tr>
            </a:tbl>
          </a:graphicData>
        </a:graphic>
      </p:graphicFrame>
      <p:grpSp>
        <p:nvGrpSpPr>
          <p:cNvPr id="15" name="组合 14">
            <a:extLst>
              <a:ext uri="{FF2B5EF4-FFF2-40B4-BE49-F238E27FC236}">
                <a16:creationId xmlns:a16="http://schemas.microsoft.com/office/drawing/2014/main" id="{913886C7-6D7E-C2C6-011E-F983D22DEC89}"/>
              </a:ext>
            </a:extLst>
          </p:cNvPr>
          <p:cNvGrpSpPr/>
          <p:nvPr/>
        </p:nvGrpSpPr>
        <p:grpSpPr>
          <a:xfrm>
            <a:off x="4697501" y="1366684"/>
            <a:ext cx="2796999" cy="2796999"/>
            <a:chOff x="1541969" y="1366684"/>
            <a:chExt cx="2796999" cy="2796999"/>
          </a:xfrm>
        </p:grpSpPr>
        <p:cxnSp>
          <p:nvCxnSpPr>
            <p:cNvPr id="5" name="直接箭头连接符 4">
              <a:extLst>
                <a:ext uri="{FF2B5EF4-FFF2-40B4-BE49-F238E27FC236}">
                  <a16:creationId xmlns:a16="http://schemas.microsoft.com/office/drawing/2014/main" id="{4010D7DB-FCC5-B93F-96CC-33B18A21CB2B}"/>
                </a:ext>
              </a:extLst>
            </p:cNvPr>
            <p:cNvCxnSpPr>
              <a:cxnSpLocks/>
            </p:cNvCxnSpPr>
            <p:nvPr/>
          </p:nvCxnSpPr>
          <p:spPr>
            <a:xfrm>
              <a:off x="1818968" y="3886684"/>
              <a:ext cx="25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70D30185-13CB-C62E-5AA1-E3E694DF51AC}"/>
                </a:ext>
              </a:extLst>
            </p:cNvPr>
            <p:cNvCxnSpPr>
              <a:cxnSpLocks/>
            </p:cNvCxnSpPr>
            <p:nvPr/>
          </p:nvCxnSpPr>
          <p:spPr>
            <a:xfrm flipV="1">
              <a:off x="1818968" y="1366684"/>
              <a:ext cx="0" cy="25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箭头: 上下 7">
              <a:extLst>
                <a:ext uri="{FF2B5EF4-FFF2-40B4-BE49-F238E27FC236}">
                  <a16:creationId xmlns:a16="http://schemas.microsoft.com/office/drawing/2014/main" id="{06DC2EBA-EB26-863E-556C-068B7D8BF08C}"/>
                </a:ext>
              </a:extLst>
            </p:cNvPr>
            <p:cNvSpPr/>
            <p:nvPr/>
          </p:nvSpPr>
          <p:spPr>
            <a:xfrm rot="2700000">
              <a:off x="2718968" y="1726684"/>
              <a:ext cx="720000" cy="1800000"/>
            </a:xfrm>
            <a:prstGeom prst="upDown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tx1"/>
                </a:solidFill>
              </a:endParaRPr>
            </a:p>
          </p:txBody>
        </p:sp>
        <p:sp>
          <p:nvSpPr>
            <p:cNvPr id="9" name="文本框 8">
              <a:extLst>
                <a:ext uri="{FF2B5EF4-FFF2-40B4-BE49-F238E27FC236}">
                  <a16:creationId xmlns:a16="http://schemas.microsoft.com/office/drawing/2014/main" id="{A4161D61-58A0-5B43-9E88-FB1C55B73F88}"/>
                </a:ext>
              </a:extLst>
            </p:cNvPr>
            <p:cNvSpPr txBox="1"/>
            <p:nvPr/>
          </p:nvSpPr>
          <p:spPr>
            <a:xfrm>
              <a:off x="2281314" y="3886684"/>
              <a:ext cx="1595309" cy="276999"/>
            </a:xfrm>
            <a:prstGeom prst="rect">
              <a:avLst/>
            </a:prstGeom>
            <a:noFill/>
          </p:spPr>
          <p:txBody>
            <a:bodyPr wrap="none" rtlCol="0">
              <a:spAutoFit/>
            </a:bodyPr>
            <a:lstStyle/>
            <a:p>
              <a:pPr algn="ctr"/>
              <a:r>
                <a:rPr lang="en-US" altLang="zh-CN" sz="1200"/>
                <a:t>Degree of Change</a:t>
              </a:r>
              <a:endParaRPr lang="zh-CN" altLang="en-US" sz="1200"/>
            </a:p>
          </p:txBody>
        </p:sp>
        <p:sp>
          <p:nvSpPr>
            <p:cNvPr id="10" name="文本框 9">
              <a:extLst>
                <a:ext uri="{FF2B5EF4-FFF2-40B4-BE49-F238E27FC236}">
                  <a16:creationId xmlns:a16="http://schemas.microsoft.com/office/drawing/2014/main" id="{B84DB059-DC16-A4A9-E7DD-E5DE118F3863}"/>
                </a:ext>
              </a:extLst>
            </p:cNvPr>
            <p:cNvSpPr txBox="1"/>
            <p:nvPr/>
          </p:nvSpPr>
          <p:spPr>
            <a:xfrm rot="16200000">
              <a:off x="748162" y="2488184"/>
              <a:ext cx="1864613" cy="276999"/>
            </a:xfrm>
            <a:prstGeom prst="rect">
              <a:avLst/>
            </a:prstGeom>
            <a:noFill/>
          </p:spPr>
          <p:txBody>
            <a:bodyPr wrap="none" rtlCol="0">
              <a:spAutoFit/>
            </a:bodyPr>
            <a:lstStyle/>
            <a:p>
              <a:pPr algn="ctr"/>
              <a:r>
                <a:rPr lang="en-US" altLang="zh-CN" sz="1200"/>
                <a:t>Frequency of Delivery</a:t>
              </a:r>
              <a:endParaRPr lang="zh-CN" altLang="en-US" sz="1200"/>
            </a:p>
          </p:txBody>
        </p:sp>
        <p:sp>
          <p:nvSpPr>
            <p:cNvPr id="11" name="文本框 10">
              <a:extLst>
                <a:ext uri="{FF2B5EF4-FFF2-40B4-BE49-F238E27FC236}">
                  <a16:creationId xmlns:a16="http://schemas.microsoft.com/office/drawing/2014/main" id="{F42AC2F8-A9AB-B022-79A5-27F230060FBC}"/>
                </a:ext>
              </a:extLst>
            </p:cNvPr>
            <p:cNvSpPr txBox="1"/>
            <p:nvPr/>
          </p:nvSpPr>
          <p:spPr>
            <a:xfrm>
              <a:off x="1878637" y="3477739"/>
              <a:ext cx="1132041" cy="307777"/>
            </a:xfrm>
            <a:prstGeom prst="rect">
              <a:avLst/>
            </a:prstGeom>
            <a:noFill/>
          </p:spPr>
          <p:txBody>
            <a:bodyPr wrap="none" rtlCol="0">
              <a:spAutoFit/>
            </a:bodyPr>
            <a:lstStyle/>
            <a:p>
              <a:r>
                <a:rPr lang="en-US" altLang="zh-CN" sz="1400"/>
                <a:t>Predictive</a:t>
              </a:r>
              <a:endParaRPr lang="zh-CN" altLang="en-US" sz="1400"/>
            </a:p>
          </p:txBody>
        </p:sp>
        <p:sp>
          <p:nvSpPr>
            <p:cNvPr id="12" name="文本框 11">
              <a:extLst>
                <a:ext uri="{FF2B5EF4-FFF2-40B4-BE49-F238E27FC236}">
                  <a16:creationId xmlns:a16="http://schemas.microsoft.com/office/drawing/2014/main" id="{D33DD4B2-06CB-E470-B1CF-2AD87C96F45C}"/>
                </a:ext>
              </a:extLst>
            </p:cNvPr>
            <p:cNvSpPr txBox="1"/>
            <p:nvPr/>
          </p:nvSpPr>
          <p:spPr>
            <a:xfrm>
              <a:off x="3413715" y="3458373"/>
              <a:ext cx="925253" cy="307777"/>
            </a:xfrm>
            <a:prstGeom prst="rect">
              <a:avLst/>
            </a:prstGeom>
            <a:noFill/>
          </p:spPr>
          <p:txBody>
            <a:bodyPr wrap="none" rtlCol="0">
              <a:spAutoFit/>
            </a:bodyPr>
            <a:lstStyle/>
            <a:p>
              <a:r>
                <a:rPr lang="en-US" altLang="zh-CN" sz="1400"/>
                <a:t>Iterative</a:t>
              </a:r>
              <a:endParaRPr lang="zh-CN" altLang="en-US" sz="1400"/>
            </a:p>
          </p:txBody>
        </p:sp>
        <p:sp>
          <p:nvSpPr>
            <p:cNvPr id="13" name="文本框 12">
              <a:extLst>
                <a:ext uri="{FF2B5EF4-FFF2-40B4-BE49-F238E27FC236}">
                  <a16:creationId xmlns:a16="http://schemas.microsoft.com/office/drawing/2014/main" id="{965559BC-4FA1-D22C-3EA3-E733491CFE96}"/>
                </a:ext>
              </a:extLst>
            </p:cNvPr>
            <p:cNvSpPr txBox="1"/>
            <p:nvPr/>
          </p:nvSpPr>
          <p:spPr>
            <a:xfrm>
              <a:off x="1878637" y="1366684"/>
              <a:ext cx="1290738" cy="307777"/>
            </a:xfrm>
            <a:prstGeom prst="rect">
              <a:avLst/>
            </a:prstGeom>
            <a:noFill/>
          </p:spPr>
          <p:txBody>
            <a:bodyPr wrap="none" rtlCol="0">
              <a:spAutoFit/>
            </a:bodyPr>
            <a:lstStyle/>
            <a:p>
              <a:r>
                <a:rPr lang="en-US" altLang="zh-CN" sz="1400" dirty="0"/>
                <a:t>Incremental</a:t>
              </a:r>
              <a:endParaRPr lang="zh-CN" altLang="en-US" sz="1400" dirty="0"/>
            </a:p>
          </p:txBody>
        </p:sp>
        <p:sp>
          <p:nvSpPr>
            <p:cNvPr id="14" name="文本框 13">
              <a:extLst>
                <a:ext uri="{FF2B5EF4-FFF2-40B4-BE49-F238E27FC236}">
                  <a16:creationId xmlns:a16="http://schemas.microsoft.com/office/drawing/2014/main" id="{0DEC9A66-72FD-C00A-8A1B-8191D522DBA5}"/>
                </a:ext>
              </a:extLst>
            </p:cNvPr>
            <p:cNvSpPr txBox="1"/>
            <p:nvPr/>
          </p:nvSpPr>
          <p:spPr>
            <a:xfrm>
              <a:off x="3697446" y="1366684"/>
              <a:ext cx="641522" cy="307777"/>
            </a:xfrm>
            <a:prstGeom prst="rect">
              <a:avLst/>
            </a:prstGeom>
            <a:noFill/>
          </p:spPr>
          <p:txBody>
            <a:bodyPr wrap="none" rtlCol="0">
              <a:spAutoFit/>
            </a:bodyPr>
            <a:lstStyle/>
            <a:p>
              <a:r>
                <a:rPr lang="en-US" altLang="zh-CN" sz="1400"/>
                <a:t>Agile</a:t>
              </a:r>
              <a:endParaRPr lang="zh-CN" altLang="en-US" sz="1400"/>
            </a:p>
          </p:txBody>
        </p:sp>
      </p:grpSp>
    </p:spTree>
    <p:extLst>
      <p:ext uri="{BB962C8B-B14F-4D97-AF65-F5344CB8AC3E}">
        <p14:creationId xmlns:p14="http://schemas.microsoft.com/office/powerpoint/2010/main" val="276170094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50BDD1-EBB6-4170-204F-6AA41BC60B87}"/>
              </a:ext>
            </a:extLst>
          </p:cNvPr>
          <p:cNvSpPr>
            <a:spLocks noGrp="1"/>
          </p:cNvSpPr>
          <p:nvPr>
            <p:ph type="title"/>
          </p:nvPr>
        </p:nvSpPr>
        <p:spPr>
          <a:xfrm>
            <a:off x="792000" y="360000"/>
            <a:ext cx="6375921" cy="429413"/>
          </a:xfrm>
        </p:spPr>
        <p:txBody>
          <a:bodyPr>
            <a:normAutofit/>
          </a:bodyPr>
          <a:lstStyle/>
          <a:p>
            <a:r>
              <a:rPr lang="en-US" altLang="zh-CN"/>
              <a:t>2.5.1 </a:t>
            </a:r>
            <a:r>
              <a:rPr lang="zh-CN" altLang="en-US"/>
              <a:t>预测型</a:t>
            </a:r>
          </a:p>
        </p:txBody>
      </p:sp>
      <p:sp>
        <p:nvSpPr>
          <p:cNvPr id="3" name="内容占位符 2">
            <a:extLst>
              <a:ext uri="{FF2B5EF4-FFF2-40B4-BE49-F238E27FC236}">
                <a16:creationId xmlns:a16="http://schemas.microsoft.com/office/drawing/2014/main" id="{8ADB95AD-419E-9B8D-E406-13E30DDD37D5}"/>
              </a:ext>
            </a:extLst>
          </p:cNvPr>
          <p:cNvSpPr>
            <a:spLocks noGrp="1"/>
          </p:cNvSpPr>
          <p:nvPr>
            <p:ph idx="1"/>
          </p:nvPr>
        </p:nvSpPr>
        <p:spPr>
          <a:xfrm>
            <a:off x="696000" y="864000"/>
            <a:ext cx="10800000" cy="5400000"/>
          </a:xfrm>
        </p:spPr>
        <p:txBody>
          <a:bodyPr>
            <a:normAutofit/>
          </a:bodyPr>
          <a:lstStyle/>
          <a:p>
            <a:r>
              <a:rPr lang="zh-CN" altLang="en-US"/>
              <a:t>范围、进度、成本早期定义；对变化容忍度低</a:t>
            </a:r>
            <a:endParaRPr lang="en-US" altLang="zh-CN"/>
          </a:p>
          <a:p>
            <a:pPr lvl="1"/>
            <a:r>
              <a:rPr lang="en-US" altLang="zh-CN"/>
              <a:t>Scope, schedule, and cost defined early; low tolerance for change</a:t>
            </a:r>
          </a:p>
          <a:p>
            <a:r>
              <a:rPr lang="zh-CN" altLang="en-US"/>
              <a:t>特点</a:t>
            </a:r>
            <a:endParaRPr lang="en-US" altLang="zh-CN"/>
          </a:p>
          <a:p>
            <a:pPr lvl="1"/>
            <a:r>
              <a:rPr lang="zh-CN" altLang="en-US"/>
              <a:t>需求清晰</a:t>
            </a:r>
            <a:endParaRPr lang="en-US" altLang="zh-CN"/>
          </a:p>
          <a:p>
            <a:pPr lvl="1"/>
            <a:r>
              <a:rPr lang="zh-CN" altLang="en-US"/>
              <a:t>结构化</a:t>
            </a:r>
            <a:endParaRPr lang="en-US" altLang="zh-CN"/>
          </a:p>
          <a:p>
            <a:pPr lvl="1"/>
            <a:r>
              <a:rPr lang="zh-CN" altLang="en-US"/>
              <a:t>在项目启动阶段就锁定范围、时间、成本（铁三角），后续严格执行</a:t>
            </a:r>
          </a:p>
          <a:p>
            <a:pPr lvl="1"/>
            <a:r>
              <a:rPr lang="zh-CN" altLang="en-US"/>
              <a:t>变更被视为“异常”，需要走严格的变更控制流程</a:t>
            </a:r>
            <a:endParaRPr lang="en-US" altLang="zh-CN"/>
          </a:p>
          <a:p>
            <a:r>
              <a:rPr lang="zh-CN" altLang="en-US"/>
              <a:t>适用场景</a:t>
            </a:r>
            <a:endParaRPr lang="en-US" altLang="zh-CN"/>
          </a:p>
          <a:p>
            <a:pPr lvl="1"/>
            <a:r>
              <a:rPr lang="zh-CN" altLang="en-US"/>
              <a:t>需求稳定、技术成熟、法规约束强的项目（如建筑、航天、医疗设备）</a:t>
            </a:r>
          </a:p>
          <a:p>
            <a:r>
              <a:rPr lang="zh-CN" altLang="en-US"/>
              <a:t>风险：</a:t>
            </a:r>
          </a:p>
          <a:p>
            <a:pPr lvl="1"/>
            <a:r>
              <a:rPr lang="zh-CN" altLang="en-US"/>
              <a:t>如果前期判断错误，后期修正代价极高</a:t>
            </a:r>
          </a:p>
          <a:p>
            <a:pPr lvl="1"/>
            <a:r>
              <a:rPr lang="zh-CN" altLang="en-US"/>
              <a:t>客户直到最后才能看到成果，容易货不对板</a:t>
            </a:r>
          </a:p>
        </p:txBody>
      </p:sp>
      <p:sp>
        <p:nvSpPr>
          <p:cNvPr id="4" name="文本占位符 3">
            <a:extLst>
              <a:ext uri="{FF2B5EF4-FFF2-40B4-BE49-F238E27FC236}">
                <a16:creationId xmlns:a16="http://schemas.microsoft.com/office/drawing/2014/main" id="{DB3AD9D0-3054-B3CE-A948-83258182B893}"/>
              </a:ext>
            </a:extLst>
          </p:cNvPr>
          <p:cNvSpPr>
            <a:spLocks noGrp="1"/>
          </p:cNvSpPr>
          <p:nvPr>
            <p:ph type="body" sz="quarter" idx="10"/>
          </p:nvPr>
        </p:nvSpPr>
        <p:spPr>
          <a:xfrm>
            <a:off x="7071919" y="448519"/>
            <a:ext cx="4424080" cy="338554"/>
          </a:xfrm>
        </p:spPr>
        <p:txBody>
          <a:bodyPr/>
          <a:lstStyle/>
          <a:p>
            <a:r>
              <a:rPr lang="en-US" altLang="zh-CN"/>
              <a:t>Predictive</a:t>
            </a:r>
          </a:p>
        </p:txBody>
      </p:sp>
    </p:spTree>
    <p:extLst>
      <p:ext uri="{BB962C8B-B14F-4D97-AF65-F5344CB8AC3E}">
        <p14:creationId xmlns:p14="http://schemas.microsoft.com/office/powerpoint/2010/main" val="398825041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A0E5F-3014-D510-3D15-B8CF5E93311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D037F48-6B12-C849-64E3-5C0423A68A45}"/>
              </a:ext>
            </a:extLst>
          </p:cNvPr>
          <p:cNvSpPr>
            <a:spLocks noGrp="1"/>
          </p:cNvSpPr>
          <p:nvPr>
            <p:ph type="title"/>
          </p:nvPr>
        </p:nvSpPr>
        <p:spPr>
          <a:xfrm>
            <a:off x="792000" y="360000"/>
            <a:ext cx="6375921" cy="429413"/>
          </a:xfrm>
        </p:spPr>
        <p:txBody>
          <a:bodyPr>
            <a:normAutofit/>
          </a:bodyPr>
          <a:lstStyle/>
          <a:p>
            <a:r>
              <a:rPr lang="en-US" altLang="zh-CN"/>
              <a:t>2.5.1.1 </a:t>
            </a:r>
            <a:r>
              <a:rPr lang="zh-CN" altLang="en-US"/>
              <a:t>瀑布模型</a:t>
            </a:r>
          </a:p>
        </p:txBody>
      </p:sp>
      <p:sp>
        <p:nvSpPr>
          <p:cNvPr id="3" name="内容占位符 2">
            <a:extLst>
              <a:ext uri="{FF2B5EF4-FFF2-40B4-BE49-F238E27FC236}">
                <a16:creationId xmlns:a16="http://schemas.microsoft.com/office/drawing/2014/main" id="{C136C125-925F-F99A-2A07-B196FBC3DA3C}"/>
              </a:ext>
            </a:extLst>
          </p:cNvPr>
          <p:cNvSpPr>
            <a:spLocks noGrp="1"/>
          </p:cNvSpPr>
          <p:nvPr>
            <p:ph idx="1"/>
          </p:nvPr>
        </p:nvSpPr>
        <p:spPr>
          <a:xfrm>
            <a:off x="696000" y="864000"/>
            <a:ext cx="10800000" cy="5400000"/>
          </a:xfrm>
        </p:spPr>
        <p:txBody>
          <a:bodyPr/>
          <a:lstStyle/>
          <a:p>
            <a:r>
              <a:rPr lang="en-US" altLang="zh-CN" dirty="0"/>
              <a:t>Waterfall Model</a:t>
            </a:r>
          </a:p>
          <a:p>
            <a:r>
              <a:rPr lang="en-US" altLang="zh-CN" dirty="0"/>
              <a:t>Winston Royce </a:t>
            </a:r>
            <a:r>
              <a:rPr lang="zh-CN" altLang="en-US" dirty="0"/>
              <a:t>于</a:t>
            </a:r>
            <a:r>
              <a:rPr lang="en-US" altLang="zh-CN" dirty="0"/>
              <a:t>1970</a:t>
            </a:r>
            <a:r>
              <a:rPr lang="zh-CN" altLang="en-US" dirty="0"/>
              <a:t>年提出</a:t>
            </a:r>
            <a:endParaRPr lang="en-US" altLang="zh-CN" dirty="0"/>
          </a:p>
          <a:p>
            <a:r>
              <a:rPr lang="zh-CN" altLang="en-US" dirty="0"/>
              <a:t>它将软件开发生命周期划分为若干线性阶段</a:t>
            </a:r>
            <a:endParaRPr lang="en-US" altLang="zh-CN" dirty="0"/>
          </a:p>
          <a:p>
            <a:r>
              <a:rPr lang="zh-CN" altLang="en-US" dirty="0"/>
              <a:t>每个阶段完成后才能进入下一个阶段</a:t>
            </a:r>
            <a:endParaRPr lang="en-US" altLang="zh-CN" dirty="0"/>
          </a:p>
          <a:p>
            <a:r>
              <a:rPr lang="zh-CN" altLang="en-US" dirty="0"/>
              <a:t>阶段分明、顺序执行、没有重叠</a:t>
            </a:r>
          </a:p>
          <a:p>
            <a:r>
              <a:rPr lang="zh-CN" altLang="en-US" dirty="0"/>
              <a:t>特点</a:t>
            </a:r>
          </a:p>
          <a:p>
            <a:pPr lvl="1"/>
            <a:r>
              <a:rPr lang="zh-CN" altLang="en-US" dirty="0"/>
              <a:t>各阶段严格顺序、不可回溯（理想情况下）</a:t>
            </a:r>
          </a:p>
          <a:p>
            <a:pPr lvl="1"/>
            <a:r>
              <a:rPr lang="zh-CN" altLang="en-US" dirty="0"/>
              <a:t>文档驱动，强调前期需求明确</a:t>
            </a:r>
          </a:p>
          <a:p>
            <a:pPr lvl="1"/>
            <a:r>
              <a:rPr lang="zh-CN" altLang="en-US" dirty="0"/>
              <a:t>测试集中在开发后期</a:t>
            </a:r>
          </a:p>
          <a:p>
            <a:pPr lvl="1"/>
            <a:r>
              <a:rPr lang="zh-CN" altLang="en-US" dirty="0"/>
              <a:t>不适合需求频繁变更的项目</a:t>
            </a:r>
            <a:r>
              <a:rPr lang="en-US" altLang="zh-CN" dirty="0"/>
              <a:t>/</a:t>
            </a:r>
            <a:r>
              <a:rPr lang="zh-CN" altLang="en-US" dirty="0"/>
              <a:t>返工</a:t>
            </a:r>
            <a:endParaRPr lang="en-US" altLang="zh-CN" dirty="0"/>
          </a:p>
          <a:p>
            <a:pPr lvl="1"/>
            <a:endParaRPr lang="en-US" altLang="zh-CN" dirty="0"/>
          </a:p>
        </p:txBody>
      </p:sp>
      <p:sp>
        <p:nvSpPr>
          <p:cNvPr id="4" name="文本占位符 3">
            <a:extLst>
              <a:ext uri="{FF2B5EF4-FFF2-40B4-BE49-F238E27FC236}">
                <a16:creationId xmlns:a16="http://schemas.microsoft.com/office/drawing/2014/main" id="{E32D4ADB-6F16-E3EF-C1F8-CA6B2541D8F9}"/>
              </a:ext>
            </a:extLst>
          </p:cNvPr>
          <p:cNvSpPr>
            <a:spLocks noGrp="1"/>
          </p:cNvSpPr>
          <p:nvPr>
            <p:ph type="body" sz="quarter" idx="10"/>
          </p:nvPr>
        </p:nvSpPr>
        <p:spPr>
          <a:xfrm>
            <a:off x="7071919" y="448519"/>
            <a:ext cx="4424080" cy="338554"/>
          </a:xfrm>
        </p:spPr>
        <p:txBody>
          <a:bodyPr/>
          <a:lstStyle/>
          <a:p>
            <a:r>
              <a:rPr lang="en-US" altLang="zh-CN"/>
              <a:t>Waterfall Mode /Predictive</a:t>
            </a:r>
          </a:p>
        </p:txBody>
      </p:sp>
      <p:grpSp>
        <p:nvGrpSpPr>
          <p:cNvPr id="1032" name="组合 1031">
            <a:extLst>
              <a:ext uri="{FF2B5EF4-FFF2-40B4-BE49-F238E27FC236}">
                <a16:creationId xmlns:a16="http://schemas.microsoft.com/office/drawing/2014/main" id="{A7514798-8B7E-D7C3-1659-6D5257D7D197}"/>
              </a:ext>
            </a:extLst>
          </p:cNvPr>
          <p:cNvGrpSpPr/>
          <p:nvPr/>
        </p:nvGrpSpPr>
        <p:grpSpPr>
          <a:xfrm>
            <a:off x="6038144" y="1389275"/>
            <a:ext cx="6086120" cy="4801975"/>
            <a:chOff x="5725427" y="1940677"/>
            <a:chExt cx="6086120" cy="4801975"/>
          </a:xfrm>
        </p:grpSpPr>
        <p:grpSp>
          <p:nvGrpSpPr>
            <p:cNvPr id="33" name="组合 32">
              <a:extLst>
                <a:ext uri="{FF2B5EF4-FFF2-40B4-BE49-F238E27FC236}">
                  <a16:creationId xmlns:a16="http://schemas.microsoft.com/office/drawing/2014/main" id="{3E34C81F-E32F-9D3F-8F54-6EAA0D9E0068}"/>
                </a:ext>
              </a:extLst>
            </p:cNvPr>
            <p:cNvGrpSpPr/>
            <p:nvPr/>
          </p:nvGrpSpPr>
          <p:grpSpPr>
            <a:xfrm>
              <a:off x="5725427" y="1940677"/>
              <a:ext cx="4341595" cy="4696244"/>
              <a:chOff x="4326605" y="2074027"/>
              <a:chExt cx="4341595" cy="4696244"/>
            </a:xfrm>
          </p:grpSpPr>
          <p:grpSp>
            <p:nvGrpSpPr>
              <p:cNvPr id="18" name="组合 17">
                <a:extLst>
                  <a:ext uri="{FF2B5EF4-FFF2-40B4-BE49-F238E27FC236}">
                    <a16:creationId xmlns:a16="http://schemas.microsoft.com/office/drawing/2014/main" id="{51C853F4-A0F9-3F0B-2DCD-32121CF092B9}"/>
                  </a:ext>
                </a:extLst>
              </p:cNvPr>
              <p:cNvGrpSpPr/>
              <p:nvPr/>
            </p:nvGrpSpPr>
            <p:grpSpPr>
              <a:xfrm>
                <a:off x="4326605" y="2074027"/>
                <a:ext cx="2042895" cy="1792726"/>
                <a:chOff x="4326605" y="2074027"/>
                <a:chExt cx="2042895" cy="1792726"/>
              </a:xfrm>
            </p:grpSpPr>
            <p:grpSp>
              <p:nvGrpSpPr>
                <p:cNvPr id="14" name="组合 13">
                  <a:extLst>
                    <a:ext uri="{FF2B5EF4-FFF2-40B4-BE49-F238E27FC236}">
                      <a16:creationId xmlns:a16="http://schemas.microsoft.com/office/drawing/2014/main" id="{050341AF-7853-CE6F-52D2-4523D9AA79CE}"/>
                    </a:ext>
                  </a:extLst>
                </p:cNvPr>
                <p:cNvGrpSpPr/>
                <p:nvPr/>
              </p:nvGrpSpPr>
              <p:grpSpPr>
                <a:xfrm>
                  <a:off x="4326605" y="2074027"/>
                  <a:ext cx="1479042" cy="1074297"/>
                  <a:chOff x="4326605" y="2074027"/>
                  <a:chExt cx="1479042" cy="1074297"/>
                </a:xfrm>
              </p:grpSpPr>
              <p:sp>
                <p:nvSpPr>
                  <p:cNvPr id="12" name="平行四边形 11">
                    <a:extLst>
                      <a:ext uri="{FF2B5EF4-FFF2-40B4-BE49-F238E27FC236}">
                        <a16:creationId xmlns:a16="http://schemas.microsoft.com/office/drawing/2014/main" id="{CBAB835B-C4A0-AC6B-AA92-0A5F5E04E41B}"/>
                      </a:ext>
                    </a:extLst>
                  </p:cNvPr>
                  <p:cNvSpPr/>
                  <p:nvPr/>
                </p:nvSpPr>
                <p:spPr>
                  <a:xfrm rot="20100000" flipV="1">
                    <a:off x="4365647" y="2644324"/>
                    <a:ext cx="1440000" cy="504000"/>
                  </a:xfrm>
                  <a:prstGeom prst="parallelogram">
                    <a:avLst>
                      <a:gd name="adj" fmla="val 79938"/>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平行四边形 12">
                    <a:extLst>
                      <a:ext uri="{FF2B5EF4-FFF2-40B4-BE49-F238E27FC236}">
                        <a16:creationId xmlns:a16="http://schemas.microsoft.com/office/drawing/2014/main" id="{4D2D1B06-F33E-A38A-DC03-8AA943DA9CCC}"/>
                      </a:ext>
                    </a:extLst>
                  </p:cNvPr>
                  <p:cNvSpPr/>
                  <p:nvPr/>
                </p:nvSpPr>
                <p:spPr>
                  <a:xfrm rot="5400000" flipV="1">
                    <a:off x="4345850" y="2054782"/>
                    <a:ext cx="917221" cy="955711"/>
                  </a:xfrm>
                  <a:prstGeom prst="parallelogram">
                    <a:avLst>
                      <a:gd name="adj" fmla="val 49232"/>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15" name="组合 14">
                  <a:extLst>
                    <a:ext uri="{FF2B5EF4-FFF2-40B4-BE49-F238E27FC236}">
                      <a16:creationId xmlns:a16="http://schemas.microsoft.com/office/drawing/2014/main" id="{2285813B-8410-0947-9030-DA8526CE125E}"/>
                    </a:ext>
                  </a:extLst>
                </p:cNvPr>
                <p:cNvGrpSpPr/>
                <p:nvPr/>
              </p:nvGrpSpPr>
              <p:grpSpPr>
                <a:xfrm>
                  <a:off x="4890458" y="2792456"/>
                  <a:ext cx="1479042" cy="1074297"/>
                  <a:chOff x="4326605" y="2074027"/>
                  <a:chExt cx="1479042" cy="1074297"/>
                </a:xfrm>
              </p:grpSpPr>
              <p:sp>
                <p:nvSpPr>
                  <p:cNvPr id="16" name="平行四边形 15">
                    <a:extLst>
                      <a:ext uri="{FF2B5EF4-FFF2-40B4-BE49-F238E27FC236}">
                        <a16:creationId xmlns:a16="http://schemas.microsoft.com/office/drawing/2014/main" id="{4DAB1EC9-F5EE-D687-E9B0-D0B8464570F5}"/>
                      </a:ext>
                    </a:extLst>
                  </p:cNvPr>
                  <p:cNvSpPr/>
                  <p:nvPr/>
                </p:nvSpPr>
                <p:spPr>
                  <a:xfrm rot="20100000" flipV="1">
                    <a:off x="4365647" y="2644324"/>
                    <a:ext cx="1440000" cy="504000"/>
                  </a:xfrm>
                  <a:prstGeom prst="parallelogram">
                    <a:avLst>
                      <a:gd name="adj" fmla="val 79938"/>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7" name="平行四边形 16">
                    <a:extLst>
                      <a:ext uri="{FF2B5EF4-FFF2-40B4-BE49-F238E27FC236}">
                        <a16:creationId xmlns:a16="http://schemas.microsoft.com/office/drawing/2014/main" id="{B8E0010C-5634-535E-597D-1314A34A8DCD}"/>
                      </a:ext>
                    </a:extLst>
                  </p:cNvPr>
                  <p:cNvSpPr/>
                  <p:nvPr/>
                </p:nvSpPr>
                <p:spPr>
                  <a:xfrm rot="5400000" flipV="1">
                    <a:off x="4345850" y="2054782"/>
                    <a:ext cx="917221" cy="955711"/>
                  </a:xfrm>
                  <a:prstGeom prst="parallelogram">
                    <a:avLst>
                      <a:gd name="adj" fmla="val 49232"/>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19" name="组合 18">
                <a:extLst>
                  <a:ext uri="{FF2B5EF4-FFF2-40B4-BE49-F238E27FC236}">
                    <a16:creationId xmlns:a16="http://schemas.microsoft.com/office/drawing/2014/main" id="{DB459553-94F9-525F-6A8D-075008035051}"/>
                  </a:ext>
                </a:extLst>
              </p:cNvPr>
              <p:cNvGrpSpPr/>
              <p:nvPr/>
            </p:nvGrpSpPr>
            <p:grpSpPr>
              <a:xfrm>
                <a:off x="5469605" y="3519829"/>
                <a:ext cx="2042895" cy="1792726"/>
                <a:chOff x="4326605" y="2074027"/>
                <a:chExt cx="2042895" cy="1792726"/>
              </a:xfrm>
            </p:grpSpPr>
            <p:grpSp>
              <p:nvGrpSpPr>
                <p:cNvPr id="20" name="组合 19">
                  <a:extLst>
                    <a:ext uri="{FF2B5EF4-FFF2-40B4-BE49-F238E27FC236}">
                      <a16:creationId xmlns:a16="http://schemas.microsoft.com/office/drawing/2014/main" id="{637D8399-9D30-2E73-7B7B-D1988E3B919E}"/>
                    </a:ext>
                  </a:extLst>
                </p:cNvPr>
                <p:cNvGrpSpPr/>
                <p:nvPr/>
              </p:nvGrpSpPr>
              <p:grpSpPr>
                <a:xfrm>
                  <a:off x="4326605" y="2074027"/>
                  <a:ext cx="1479042" cy="1074297"/>
                  <a:chOff x="4326605" y="2074027"/>
                  <a:chExt cx="1479042" cy="1074297"/>
                </a:xfrm>
              </p:grpSpPr>
              <p:sp>
                <p:nvSpPr>
                  <p:cNvPr id="24" name="平行四边形 23">
                    <a:extLst>
                      <a:ext uri="{FF2B5EF4-FFF2-40B4-BE49-F238E27FC236}">
                        <a16:creationId xmlns:a16="http://schemas.microsoft.com/office/drawing/2014/main" id="{9DA418D2-566B-4C18-7AA4-2880A60A312D}"/>
                      </a:ext>
                    </a:extLst>
                  </p:cNvPr>
                  <p:cNvSpPr/>
                  <p:nvPr/>
                </p:nvSpPr>
                <p:spPr>
                  <a:xfrm rot="20100000" flipV="1">
                    <a:off x="4365647" y="2644324"/>
                    <a:ext cx="1440000" cy="504000"/>
                  </a:xfrm>
                  <a:prstGeom prst="parallelogram">
                    <a:avLst>
                      <a:gd name="adj" fmla="val 79938"/>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5" name="平行四边形 24">
                    <a:extLst>
                      <a:ext uri="{FF2B5EF4-FFF2-40B4-BE49-F238E27FC236}">
                        <a16:creationId xmlns:a16="http://schemas.microsoft.com/office/drawing/2014/main" id="{AF91D15C-9F0D-4AA6-278D-CAA3B4C89BA2}"/>
                      </a:ext>
                    </a:extLst>
                  </p:cNvPr>
                  <p:cNvSpPr/>
                  <p:nvPr/>
                </p:nvSpPr>
                <p:spPr>
                  <a:xfrm rot="5400000" flipV="1">
                    <a:off x="4345850" y="2054782"/>
                    <a:ext cx="917221" cy="955711"/>
                  </a:xfrm>
                  <a:prstGeom prst="parallelogram">
                    <a:avLst>
                      <a:gd name="adj" fmla="val 49232"/>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21" name="组合 20">
                  <a:extLst>
                    <a:ext uri="{FF2B5EF4-FFF2-40B4-BE49-F238E27FC236}">
                      <a16:creationId xmlns:a16="http://schemas.microsoft.com/office/drawing/2014/main" id="{B8E00B04-87E6-866E-7C89-06D54E43A128}"/>
                    </a:ext>
                  </a:extLst>
                </p:cNvPr>
                <p:cNvGrpSpPr/>
                <p:nvPr/>
              </p:nvGrpSpPr>
              <p:grpSpPr>
                <a:xfrm>
                  <a:off x="4890458" y="2792456"/>
                  <a:ext cx="1479042" cy="1074297"/>
                  <a:chOff x="4326605" y="2074027"/>
                  <a:chExt cx="1479042" cy="1074297"/>
                </a:xfrm>
              </p:grpSpPr>
              <p:sp>
                <p:nvSpPr>
                  <p:cNvPr id="22" name="平行四边形 21">
                    <a:extLst>
                      <a:ext uri="{FF2B5EF4-FFF2-40B4-BE49-F238E27FC236}">
                        <a16:creationId xmlns:a16="http://schemas.microsoft.com/office/drawing/2014/main" id="{BEA25E8A-19C8-2E65-D313-664673138B80}"/>
                      </a:ext>
                    </a:extLst>
                  </p:cNvPr>
                  <p:cNvSpPr/>
                  <p:nvPr/>
                </p:nvSpPr>
                <p:spPr>
                  <a:xfrm rot="20100000" flipV="1">
                    <a:off x="4365647" y="2644324"/>
                    <a:ext cx="1440000" cy="504000"/>
                  </a:xfrm>
                  <a:prstGeom prst="parallelogram">
                    <a:avLst>
                      <a:gd name="adj" fmla="val 79938"/>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 name="平行四边形 22">
                    <a:extLst>
                      <a:ext uri="{FF2B5EF4-FFF2-40B4-BE49-F238E27FC236}">
                        <a16:creationId xmlns:a16="http://schemas.microsoft.com/office/drawing/2014/main" id="{166822F4-0408-D755-7C25-30FE8A8E85EA}"/>
                      </a:ext>
                    </a:extLst>
                  </p:cNvPr>
                  <p:cNvSpPr/>
                  <p:nvPr/>
                </p:nvSpPr>
                <p:spPr>
                  <a:xfrm rot="5400000" flipV="1">
                    <a:off x="4345850" y="2054782"/>
                    <a:ext cx="917221" cy="955711"/>
                  </a:xfrm>
                  <a:prstGeom prst="parallelogram">
                    <a:avLst>
                      <a:gd name="adj" fmla="val 49232"/>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26" name="组合 25">
                <a:extLst>
                  <a:ext uri="{FF2B5EF4-FFF2-40B4-BE49-F238E27FC236}">
                    <a16:creationId xmlns:a16="http://schemas.microsoft.com/office/drawing/2014/main" id="{5621674B-787D-6B39-A821-FE87BD74A7EE}"/>
                  </a:ext>
                </a:extLst>
              </p:cNvPr>
              <p:cNvGrpSpPr/>
              <p:nvPr/>
            </p:nvGrpSpPr>
            <p:grpSpPr>
              <a:xfrm>
                <a:off x="6625305" y="4977545"/>
                <a:ext cx="2042895" cy="1792726"/>
                <a:chOff x="4326605" y="2074027"/>
                <a:chExt cx="2042895" cy="1792726"/>
              </a:xfrm>
            </p:grpSpPr>
            <p:grpSp>
              <p:nvGrpSpPr>
                <p:cNvPr id="27" name="组合 26">
                  <a:extLst>
                    <a:ext uri="{FF2B5EF4-FFF2-40B4-BE49-F238E27FC236}">
                      <a16:creationId xmlns:a16="http://schemas.microsoft.com/office/drawing/2014/main" id="{74BDA3BA-9ECC-9FD6-EF08-7CE3E5B21155}"/>
                    </a:ext>
                  </a:extLst>
                </p:cNvPr>
                <p:cNvGrpSpPr/>
                <p:nvPr/>
              </p:nvGrpSpPr>
              <p:grpSpPr>
                <a:xfrm>
                  <a:off x="4326605" y="2074027"/>
                  <a:ext cx="1479042" cy="1074297"/>
                  <a:chOff x="4326605" y="2074027"/>
                  <a:chExt cx="1479042" cy="1074297"/>
                </a:xfrm>
              </p:grpSpPr>
              <p:sp>
                <p:nvSpPr>
                  <p:cNvPr id="31" name="平行四边形 30">
                    <a:extLst>
                      <a:ext uri="{FF2B5EF4-FFF2-40B4-BE49-F238E27FC236}">
                        <a16:creationId xmlns:a16="http://schemas.microsoft.com/office/drawing/2014/main" id="{3752443C-0876-E482-4332-09C1CA595A23}"/>
                      </a:ext>
                    </a:extLst>
                  </p:cNvPr>
                  <p:cNvSpPr/>
                  <p:nvPr/>
                </p:nvSpPr>
                <p:spPr>
                  <a:xfrm rot="20100000" flipV="1">
                    <a:off x="4365647" y="2644324"/>
                    <a:ext cx="1440000" cy="504000"/>
                  </a:xfrm>
                  <a:prstGeom prst="parallelogram">
                    <a:avLst>
                      <a:gd name="adj" fmla="val 79938"/>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2" name="平行四边形 31">
                    <a:extLst>
                      <a:ext uri="{FF2B5EF4-FFF2-40B4-BE49-F238E27FC236}">
                        <a16:creationId xmlns:a16="http://schemas.microsoft.com/office/drawing/2014/main" id="{00CA5CE4-344F-14EC-AAC4-6C220A7FBECA}"/>
                      </a:ext>
                    </a:extLst>
                  </p:cNvPr>
                  <p:cNvSpPr/>
                  <p:nvPr/>
                </p:nvSpPr>
                <p:spPr>
                  <a:xfrm rot="5400000" flipV="1">
                    <a:off x="4345850" y="2054782"/>
                    <a:ext cx="917221" cy="955711"/>
                  </a:xfrm>
                  <a:prstGeom prst="parallelogram">
                    <a:avLst>
                      <a:gd name="adj" fmla="val 49232"/>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28" name="组合 27">
                  <a:extLst>
                    <a:ext uri="{FF2B5EF4-FFF2-40B4-BE49-F238E27FC236}">
                      <a16:creationId xmlns:a16="http://schemas.microsoft.com/office/drawing/2014/main" id="{7FC97493-DB6B-8776-E7C4-1E7CA810C767}"/>
                    </a:ext>
                  </a:extLst>
                </p:cNvPr>
                <p:cNvGrpSpPr/>
                <p:nvPr/>
              </p:nvGrpSpPr>
              <p:grpSpPr>
                <a:xfrm>
                  <a:off x="4890458" y="2792456"/>
                  <a:ext cx="1479042" cy="1074297"/>
                  <a:chOff x="4326605" y="2074027"/>
                  <a:chExt cx="1479042" cy="1074297"/>
                </a:xfrm>
              </p:grpSpPr>
              <p:sp>
                <p:nvSpPr>
                  <p:cNvPr id="29" name="平行四边形 28">
                    <a:extLst>
                      <a:ext uri="{FF2B5EF4-FFF2-40B4-BE49-F238E27FC236}">
                        <a16:creationId xmlns:a16="http://schemas.microsoft.com/office/drawing/2014/main" id="{DA4056FF-C9A1-F05C-04D8-E287C67F2C41}"/>
                      </a:ext>
                    </a:extLst>
                  </p:cNvPr>
                  <p:cNvSpPr/>
                  <p:nvPr/>
                </p:nvSpPr>
                <p:spPr>
                  <a:xfrm rot="20100000" flipV="1">
                    <a:off x="4365647" y="2644324"/>
                    <a:ext cx="1440000" cy="504000"/>
                  </a:xfrm>
                  <a:prstGeom prst="parallelogram">
                    <a:avLst>
                      <a:gd name="adj" fmla="val 79938"/>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0" name="平行四边形 29">
                    <a:extLst>
                      <a:ext uri="{FF2B5EF4-FFF2-40B4-BE49-F238E27FC236}">
                        <a16:creationId xmlns:a16="http://schemas.microsoft.com/office/drawing/2014/main" id="{98D63DC8-758D-6E6D-1B08-40AF2CB36CF8}"/>
                      </a:ext>
                    </a:extLst>
                  </p:cNvPr>
                  <p:cNvSpPr/>
                  <p:nvPr/>
                </p:nvSpPr>
                <p:spPr>
                  <a:xfrm rot="5400000" flipV="1">
                    <a:off x="4345850" y="2054782"/>
                    <a:ext cx="917221" cy="955711"/>
                  </a:xfrm>
                  <a:prstGeom prst="parallelogram">
                    <a:avLst>
                      <a:gd name="adj" fmla="val 49232"/>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
          <p:nvSpPr>
            <p:cNvPr id="34" name="文本框 33">
              <a:extLst>
                <a:ext uri="{FF2B5EF4-FFF2-40B4-BE49-F238E27FC236}">
                  <a16:creationId xmlns:a16="http://schemas.microsoft.com/office/drawing/2014/main" id="{61F72329-9523-40C7-A658-411AF0AFC128}"/>
                </a:ext>
              </a:extLst>
            </p:cNvPr>
            <p:cNvSpPr txBox="1"/>
            <p:nvPr/>
          </p:nvSpPr>
          <p:spPr>
            <a:xfrm>
              <a:off x="7242065" y="2198944"/>
              <a:ext cx="4123245" cy="369332"/>
            </a:xfrm>
            <a:prstGeom prst="rect">
              <a:avLst/>
            </a:prstGeom>
            <a:noFill/>
          </p:spPr>
          <p:txBody>
            <a:bodyPr wrap="none" rtlCol="0">
              <a:spAutoFit/>
            </a:bodyPr>
            <a:lstStyle/>
            <a:p>
              <a:r>
                <a:rPr lang="en-US" altLang="zh-CN" dirty="0"/>
                <a:t>Requirement gathering &amp; analysis</a:t>
              </a:r>
              <a:endParaRPr lang="zh-CN" altLang="en-US" dirty="0"/>
            </a:p>
          </p:txBody>
        </p:sp>
        <p:sp>
          <p:nvSpPr>
            <p:cNvPr id="35" name="文本框 34">
              <a:extLst>
                <a:ext uri="{FF2B5EF4-FFF2-40B4-BE49-F238E27FC236}">
                  <a16:creationId xmlns:a16="http://schemas.microsoft.com/office/drawing/2014/main" id="{EA7C6A17-1759-8FF1-D979-9E729D42E751}"/>
                </a:ext>
              </a:extLst>
            </p:cNvPr>
            <p:cNvSpPr txBox="1"/>
            <p:nvPr/>
          </p:nvSpPr>
          <p:spPr>
            <a:xfrm>
              <a:off x="7804438" y="2908202"/>
              <a:ext cx="1888659" cy="369332"/>
            </a:xfrm>
            <a:prstGeom prst="rect">
              <a:avLst/>
            </a:prstGeom>
            <a:noFill/>
          </p:spPr>
          <p:txBody>
            <a:bodyPr wrap="none" rtlCol="0">
              <a:spAutoFit/>
            </a:bodyPr>
            <a:lstStyle/>
            <a:p>
              <a:r>
                <a:rPr lang="en-US" altLang="zh-CN"/>
                <a:t>System design</a:t>
              </a:r>
              <a:endParaRPr lang="zh-CN" altLang="en-US"/>
            </a:p>
          </p:txBody>
        </p:sp>
        <p:sp>
          <p:nvSpPr>
            <p:cNvPr id="36" name="文本框 35">
              <a:extLst>
                <a:ext uri="{FF2B5EF4-FFF2-40B4-BE49-F238E27FC236}">
                  <a16:creationId xmlns:a16="http://schemas.microsoft.com/office/drawing/2014/main" id="{DBEABF73-D1EF-67D8-C44A-7096395EC269}"/>
                </a:ext>
              </a:extLst>
            </p:cNvPr>
            <p:cNvSpPr txBox="1"/>
            <p:nvPr/>
          </p:nvSpPr>
          <p:spPr>
            <a:xfrm>
              <a:off x="8391347" y="3617460"/>
              <a:ext cx="2137124" cy="369332"/>
            </a:xfrm>
            <a:prstGeom prst="rect">
              <a:avLst/>
            </a:prstGeom>
            <a:noFill/>
          </p:spPr>
          <p:txBody>
            <a:bodyPr wrap="none" rtlCol="0">
              <a:spAutoFit/>
            </a:bodyPr>
            <a:lstStyle/>
            <a:p>
              <a:r>
                <a:rPr lang="en-US" altLang="zh-CN"/>
                <a:t>Implementation</a:t>
              </a:r>
              <a:endParaRPr lang="zh-CN" altLang="en-US"/>
            </a:p>
          </p:txBody>
        </p:sp>
        <p:sp>
          <p:nvSpPr>
            <p:cNvPr id="37" name="文本框 36">
              <a:extLst>
                <a:ext uri="{FF2B5EF4-FFF2-40B4-BE49-F238E27FC236}">
                  <a16:creationId xmlns:a16="http://schemas.microsoft.com/office/drawing/2014/main" id="{48BE4FBC-2556-B62D-48AE-2833DAC88CB5}"/>
                </a:ext>
              </a:extLst>
            </p:cNvPr>
            <p:cNvSpPr txBox="1"/>
            <p:nvPr/>
          </p:nvSpPr>
          <p:spPr>
            <a:xfrm>
              <a:off x="8963915" y="4326718"/>
              <a:ext cx="2238113" cy="369332"/>
            </a:xfrm>
            <a:prstGeom prst="rect">
              <a:avLst/>
            </a:prstGeom>
            <a:noFill/>
          </p:spPr>
          <p:txBody>
            <a:bodyPr wrap="none" rtlCol="0">
              <a:spAutoFit/>
            </a:bodyPr>
            <a:lstStyle/>
            <a:p>
              <a:r>
                <a:rPr lang="en-US" altLang="zh-CN"/>
                <a:t>Integration &amp; Test</a:t>
              </a:r>
              <a:endParaRPr lang="zh-CN" altLang="en-US"/>
            </a:p>
          </p:txBody>
        </p:sp>
        <p:sp>
          <p:nvSpPr>
            <p:cNvPr id="38" name="文本框 37">
              <a:extLst>
                <a:ext uri="{FF2B5EF4-FFF2-40B4-BE49-F238E27FC236}">
                  <a16:creationId xmlns:a16="http://schemas.microsoft.com/office/drawing/2014/main" id="{2EB77278-94B6-410B-B087-E6C83E37493E}"/>
                </a:ext>
              </a:extLst>
            </p:cNvPr>
            <p:cNvSpPr txBox="1"/>
            <p:nvPr/>
          </p:nvSpPr>
          <p:spPr>
            <a:xfrm>
              <a:off x="9535937" y="5035976"/>
              <a:ext cx="1697901" cy="369332"/>
            </a:xfrm>
            <a:prstGeom prst="rect">
              <a:avLst/>
            </a:prstGeom>
            <a:noFill/>
          </p:spPr>
          <p:txBody>
            <a:bodyPr wrap="none" rtlCol="0">
              <a:spAutoFit/>
            </a:bodyPr>
            <a:lstStyle/>
            <a:p>
              <a:r>
                <a:rPr lang="en-US" altLang="zh-CN"/>
                <a:t>Deployment </a:t>
              </a:r>
              <a:endParaRPr lang="zh-CN" altLang="en-US"/>
            </a:p>
          </p:txBody>
        </p:sp>
        <p:sp>
          <p:nvSpPr>
            <p:cNvPr id="39" name="文本框 38">
              <a:extLst>
                <a:ext uri="{FF2B5EF4-FFF2-40B4-BE49-F238E27FC236}">
                  <a16:creationId xmlns:a16="http://schemas.microsoft.com/office/drawing/2014/main" id="{42C4FD93-449E-9185-B568-6D4C5DD893DE}"/>
                </a:ext>
              </a:extLst>
            </p:cNvPr>
            <p:cNvSpPr txBox="1"/>
            <p:nvPr/>
          </p:nvSpPr>
          <p:spPr>
            <a:xfrm>
              <a:off x="10102425" y="5745236"/>
              <a:ext cx="1709122" cy="369332"/>
            </a:xfrm>
            <a:prstGeom prst="rect">
              <a:avLst/>
            </a:prstGeom>
            <a:noFill/>
          </p:spPr>
          <p:txBody>
            <a:bodyPr wrap="none" rtlCol="0">
              <a:spAutoFit/>
            </a:bodyPr>
            <a:lstStyle/>
            <a:p>
              <a:r>
                <a:rPr lang="en-US" altLang="zh-CN"/>
                <a:t>Maintenance</a:t>
              </a:r>
              <a:endParaRPr lang="zh-CN" altLang="en-US"/>
            </a:p>
          </p:txBody>
        </p:sp>
        <p:grpSp>
          <p:nvGrpSpPr>
            <p:cNvPr id="43" name="组合 42">
              <a:extLst>
                <a:ext uri="{FF2B5EF4-FFF2-40B4-BE49-F238E27FC236}">
                  <a16:creationId xmlns:a16="http://schemas.microsoft.com/office/drawing/2014/main" id="{D0C6ABE2-9CC0-F3B5-F4A5-904554F4BA0B}"/>
                </a:ext>
              </a:extLst>
            </p:cNvPr>
            <p:cNvGrpSpPr/>
            <p:nvPr/>
          </p:nvGrpSpPr>
          <p:grpSpPr>
            <a:xfrm flipH="1" flipV="1">
              <a:off x="5761525" y="2046408"/>
              <a:ext cx="4341595" cy="4696244"/>
              <a:chOff x="4326605" y="2074027"/>
              <a:chExt cx="4341595" cy="4696244"/>
            </a:xfrm>
          </p:grpSpPr>
          <p:grpSp>
            <p:nvGrpSpPr>
              <p:cNvPr id="44" name="组合 43">
                <a:extLst>
                  <a:ext uri="{FF2B5EF4-FFF2-40B4-BE49-F238E27FC236}">
                    <a16:creationId xmlns:a16="http://schemas.microsoft.com/office/drawing/2014/main" id="{9D77A664-3D2F-72F2-3461-231CA16863B0}"/>
                  </a:ext>
                </a:extLst>
              </p:cNvPr>
              <p:cNvGrpSpPr/>
              <p:nvPr/>
            </p:nvGrpSpPr>
            <p:grpSpPr>
              <a:xfrm>
                <a:off x="4326605" y="2074027"/>
                <a:ext cx="2042895" cy="1792726"/>
                <a:chOff x="4326605" y="2074027"/>
                <a:chExt cx="2042895" cy="1792726"/>
              </a:xfrm>
            </p:grpSpPr>
            <p:grpSp>
              <p:nvGrpSpPr>
                <p:cNvPr id="59" name="组合 58">
                  <a:extLst>
                    <a:ext uri="{FF2B5EF4-FFF2-40B4-BE49-F238E27FC236}">
                      <a16:creationId xmlns:a16="http://schemas.microsoft.com/office/drawing/2014/main" id="{0D100E40-E271-4610-A349-284338F437D6}"/>
                    </a:ext>
                  </a:extLst>
                </p:cNvPr>
                <p:cNvGrpSpPr/>
                <p:nvPr/>
              </p:nvGrpSpPr>
              <p:grpSpPr>
                <a:xfrm>
                  <a:off x="4326605" y="2074027"/>
                  <a:ext cx="1479042" cy="1074297"/>
                  <a:chOff x="4326605" y="2074027"/>
                  <a:chExt cx="1479042" cy="1074297"/>
                </a:xfrm>
              </p:grpSpPr>
              <p:sp>
                <p:nvSpPr>
                  <p:cNvPr id="63" name="平行四边形 62">
                    <a:extLst>
                      <a:ext uri="{FF2B5EF4-FFF2-40B4-BE49-F238E27FC236}">
                        <a16:creationId xmlns:a16="http://schemas.microsoft.com/office/drawing/2014/main" id="{61735E6E-A166-06B6-61E6-FD406FB9BBDD}"/>
                      </a:ext>
                    </a:extLst>
                  </p:cNvPr>
                  <p:cNvSpPr/>
                  <p:nvPr/>
                </p:nvSpPr>
                <p:spPr>
                  <a:xfrm rot="20100000" flipV="1">
                    <a:off x="4365647" y="2644324"/>
                    <a:ext cx="1440000" cy="504000"/>
                  </a:xfrm>
                  <a:prstGeom prst="parallelogram">
                    <a:avLst>
                      <a:gd name="adj" fmla="val 79938"/>
                    </a:avLst>
                  </a:prstGeom>
                  <a:solidFill>
                    <a:srgbClr val="99867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24" name="平行四边形 1023">
                    <a:extLst>
                      <a:ext uri="{FF2B5EF4-FFF2-40B4-BE49-F238E27FC236}">
                        <a16:creationId xmlns:a16="http://schemas.microsoft.com/office/drawing/2014/main" id="{988529FB-2AB6-6FC6-5626-FDA84A913897}"/>
                      </a:ext>
                    </a:extLst>
                  </p:cNvPr>
                  <p:cNvSpPr/>
                  <p:nvPr/>
                </p:nvSpPr>
                <p:spPr>
                  <a:xfrm rot="5400000" flipV="1">
                    <a:off x="4345850" y="2054782"/>
                    <a:ext cx="917221" cy="955711"/>
                  </a:xfrm>
                  <a:prstGeom prst="parallelogram">
                    <a:avLst>
                      <a:gd name="adj" fmla="val 49232"/>
                    </a:avLst>
                  </a:prstGeom>
                  <a:solidFill>
                    <a:srgbClr val="7F6F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60" name="组合 59">
                  <a:extLst>
                    <a:ext uri="{FF2B5EF4-FFF2-40B4-BE49-F238E27FC236}">
                      <a16:creationId xmlns:a16="http://schemas.microsoft.com/office/drawing/2014/main" id="{719632E8-34E2-D80B-8370-C976DC515E96}"/>
                    </a:ext>
                  </a:extLst>
                </p:cNvPr>
                <p:cNvGrpSpPr/>
                <p:nvPr/>
              </p:nvGrpSpPr>
              <p:grpSpPr>
                <a:xfrm>
                  <a:off x="4890458" y="2792456"/>
                  <a:ext cx="1479042" cy="1074297"/>
                  <a:chOff x="4326605" y="2074027"/>
                  <a:chExt cx="1479042" cy="1074297"/>
                </a:xfrm>
              </p:grpSpPr>
              <p:sp>
                <p:nvSpPr>
                  <p:cNvPr id="61" name="平行四边形 60">
                    <a:extLst>
                      <a:ext uri="{FF2B5EF4-FFF2-40B4-BE49-F238E27FC236}">
                        <a16:creationId xmlns:a16="http://schemas.microsoft.com/office/drawing/2014/main" id="{A10831B7-9C3E-402A-3AA6-38B234550AB5}"/>
                      </a:ext>
                    </a:extLst>
                  </p:cNvPr>
                  <p:cNvSpPr/>
                  <p:nvPr/>
                </p:nvSpPr>
                <p:spPr>
                  <a:xfrm rot="20100000" flipV="1">
                    <a:off x="4365647" y="2644324"/>
                    <a:ext cx="1440000" cy="504000"/>
                  </a:xfrm>
                  <a:prstGeom prst="parallelogram">
                    <a:avLst>
                      <a:gd name="adj" fmla="val 79938"/>
                    </a:avLst>
                  </a:prstGeom>
                  <a:solidFill>
                    <a:srgbClr val="EADAC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2" name="平行四边形 61">
                    <a:extLst>
                      <a:ext uri="{FF2B5EF4-FFF2-40B4-BE49-F238E27FC236}">
                        <a16:creationId xmlns:a16="http://schemas.microsoft.com/office/drawing/2014/main" id="{7AB68F96-01BC-0BA8-B40D-AAB15AFAB658}"/>
                      </a:ext>
                    </a:extLst>
                  </p:cNvPr>
                  <p:cNvSpPr/>
                  <p:nvPr/>
                </p:nvSpPr>
                <p:spPr>
                  <a:xfrm rot="5400000" flipV="1">
                    <a:off x="4345850" y="2054782"/>
                    <a:ext cx="917221" cy="955711"/>
                  </a:xfrm>
                  <a:prstGeom prst="parallelogram">
                    <a:avLst>
                      <a:gd name="adj" fmla="val 49232"/>
                    </a:avLst>
                  </a:prstGeom>
                  <a:solidFill>
                    <a:srgbClr val="CCBF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45" name="组合 44">
                <a:extLst>
                  <a:ext uri="{FF2B5EF4-FFF2-40B4-BE49-F238E27FC236}">
                    <a16:creationId xmlns:a16="http://schemas.microsoft.com/office/drawing/2014/main" id="{7EC73E99-790D-0E7D-A83F-E77104648BDA}"/>
                  </a:ext>
                </a:extLst>
              </p:cNvPr>
              <p:cNvGrpSpPr/>
              <p:nvPr/>
            </p:nvGrpSpPr>
            <p:grpSpPr>
              <a:xfrm>
                <a:off x="5469605" y="3519829"/>
                <a:ext cx="2042895" cy="1792726"/>
                <a:chOff x="4326605" y="2074027"/>
                <a:chExt cx="2042895" cy="1792726"/>
              </a:xfrm>
            </p:grpSpPr>
            <p:grpSp>
              <p:nvGrpSpPr>
                <p:cNvPr id="53" name="组合 52">
                  <a:extLst>
                    <a:ext uri="{FF2B5EF4-FFF2-40B4-BE49-F238E27FC236}">
                      <a16:creationId xmlns:a16="http://schemas.microsoft.com/office/drawing/2014/main" id="{7E91599A-CF0E-319C-6B30-ECDA404144F0}"/>
                    </a:ext>
                  </a:extLst>
                </p:cNvPr>
                <p:cNvGrpSpPr/>
                <p:nvPr/>
              </p:nvGrpSpPr>
              <p:grpSpPr>
                <a:xfrm>
                  <a:off x="4326605" y="2074027"/>
                  <a:ext cx="1479042" cy="1074297"/>
                  <a:chOff x="4326605" y="2074027"/>
                  <a:chExt cx="1479042" cy="1074297"/>
                </a:xfrm>
              </p:grpSpPr>
              <p:sp>
                <p:nvSpPr>
                  <p:cNvPr id="57" name="平行四边形 56">
                    <a:extLst>
                      <a:ext uri="{FF2B5EF4-FFF2-40B4-BE49-F238E27FC236}">
                        <a16:creationId xmlns:a16="http://schemas.microsoft.com/office/drawing/2014/main" id="{BC180C4F-F9EF-C093-4256-E979A029916C}"/>
                      </a:ext>
                    </a:extLst>
                  </p:cNvPr>
                  <p:cNvSpPr/>
                  <p:nvPr/>
                </p:nvSpPr>
                <p:spPr>
                  <a:xfrm rot="20100000" flipV="1">
                    <a:off x="4365647" y="2644324"/>
                    <a:ext cx="1440000" cy="504000"/>
                  </a:xfrm>
                  <a:prstGeom prst="parallelogram">
                    <a:avLst>
                      <a:gd name="adj" fmla="val 79938"/>
                    </a:avLst>
                  </a:prstGeom>
                  <a:solidFill>
                    <a:srgbClr val="5CC1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8" name="平行四边形 57">
                    <a:extLst>
                      <a:ext uri="{FF2B5EF4-FFF2-40B4-BE49-F238E27FC236}">
                        <a16:creationId xmlns:a16="http://schemas.microsoft.com/office/drawing/2014/main" id="{EE322FD4-FAF8-ACC6-8705-F2A794A5CD60}"/>
                      </a:ext>
                    </a:extLst>
                  </p:cNvPr>
                  <p:cNvSpPr/>
                  <p:nvPr/>
                </p:nvSpPr>
                <p:spPr>
                  <a:xfrm rot="5400000" flipV="1">
                    <a:off x="4345850" y="2054782"/>
                    <a:ext cx="917221" cy="955711"/>
                  </a:xfrm>
                  <a:prstGeom prst="parallelogram">
                    <a:avLst>
                      <a:gd name="adj" fmla="val 49232"/>
                    </a:avLst>
                  </a:prstGeom>
                  <a:solidFill>
                    <a:srgbClr val="4D997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54" name="组合 53">
                  <a:extLst>
                    <a:ext uri="{FF2B5EF4-FFF2-40B4-BE49-F238E27FC236}">
                      <a16:creationId xmlns:a16="http://schemas.microsoft.com/office/drawing/2014/main" id="{BEED3E0B-5F91-6C4D-79A2-A91A8AE062CC}"/>
                    </a:ext>
                  </a:extLst>
                </p:cNvPr>
                <p:cNvGrpSpPr/>
                <p:nvPr/>
              </p:nvGrpSpPr>
              <p:grpSpPr>
                <a:xfrm>
                  <a:off x="4890458" y="2792456"/>
                  <a:ext cx="1479042" cy="1074297"/>
                  <a:chOff x="4326605" y="2074027"/>
                  <a:chExt cx="1479042" cy="1074297"/>
                </a:xfrm>
              </p:grpSpPr>
              <p:sp>
                <p:nvSpPr>
                  <p:cNvPr id="55" name="平行四边形 54">
                    <a:extLst>
                      <a:ext uri="{FF2B5EF4-FFF2-40B4-BE49-F238E27FC236}">
                        <a16:creationId xmlns:a16="http://schemas.microsoft.com/office/drawing/2014/main" id="{6843A8AC-0B16-7AFF-FC66-A6E8D0051DF7}"/>
                      </a:ext>
                    </a:extLst>
                  </p:cNvPr>
                  <p:cNvSpPr/>
                  <p:nvPr/>
                </p:nvSpPr>
                <p:spPr>
                  <a:xfrm rot="20100000" flipV="1">
                    <a:off x="4365647" y="2644324"/>
                    <a:ext cx="1440000" cy="504000"/>
                  </a:xfrm>
                  <a:prstGeom prst="parallelogram">
                    <a:avLst>
                      <a:gd name="adj" fmla="val 79938"/>
                    </a:avLst>
                  </a:prstGeom>
                  <a:solidFill>
                    <a:srgbClr val="F8D0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6" name="平行四边形 55">
                    <a:extLst>
                      <a:ext uri="{FF2B5EF4-FFF2-40B4-BE49-F238E27FC236}">
                        <a16:creationId xmlns:a16="http://schemas.microsoft.com/office/drawing/2014/main" id="{D7F56D88-68BC-A2E0-F6FD-B007F8662882}"/>
                      </a:ext>
                    </a:extLst>
                  </p:cNvPr>
                  <p:cNvSpPr/>
                  <p:nvPr/>
                </p:nvSpPr>
                <p:spPr>
                  <a:xfrm rot="5400000" flipV="1">
                    <a:off x="4345850" y="2054782"/>
                    <a:ext cx="917221" cy="955711"/>
                  </a:xfrm>
                  <a:prstGeom prst="parallelogram">
                    <a:avLst>
                      <a:gd name="adj" fmla="val 49232"/>
                    </a:avLst>
                  </a:prstGeom>
                  <a:solidFill>
                    <a:srgbClr val="CDA8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46" name="组合 45">
                <a:extLst>
                  <a:ext uri="{FF2B5EF4-FFF2-40B4-BE49-F238E27FC236}">
                    <a16:creationId xmlns:a16="http://schemas.microsoft.com/office/drawing/2014/main" id="{BC2765D4-436E-ECAB-FD0A-6CDDEE88B0BB}"/>
                  </a:ext>
                </a:extLst>
              </p:cNvPr>
              <p:cNvGrpSpPr/>
              <p:nvPr/>
            </p:nvGrpSpPr>
            <p:grpSpPr>
              <a:xfrm>
                <a:off x="6625305" y="4977545"/>
                <a:ext cx="2042895" cy="1792726"/>
                <a:chOff x="4326605" y="2074027"/>
                <a:chExt cx="2042895" cy="1792726"/>
              </a:xfrm>
            </p:grpSpPr>
            <p:grpSp>
              <p:nvGrpSpPr>
                <p:cNvPr id="47" name="组合 46">
                  <a:extLst>
                    <a:ext uri="{FF2B5EF4-FFF2-40B4-BE49-F238E27FC236}">
                      <a16:creationId xmlns:a16="http://schemas.microsoft.com/office/drawing/2014/main" id="{DDCED362-8014-F6C5-7F8A-EBD27A82D486}"/>
                    </a:ext>
                  </a:extLst>
                </p:cNvPr>
                <p:cNvGrpSpPr/>
                <p:nvPr/>
              </p:nvGrpSpPr>
              <p:grpSpPr>
                <a:xfrm>
                  <a:off x="4326605" y="2074027"/>
                  <a:ext cx="1479042" cy="1074297"/>
                  <a:chOff x="4326605" y="2074027"/>
                  <a:chExt cx="1479042" cy="1074297"/>
                </a:xfrm>
              </p:grpSpPr>
              <p:sp>
                <p:nvSpPr>
                  <p:cNvPr id="51" name="平行四边形 50">
                    <a:extLst>
                      <a:ext uri="{FF2B5EF4-FFF2-40B4-BE49-F238E27FC236}">
                        <a16:creationId xmlns:a16="http://schemas.microsoft.com/office/drawing/2014/main" id="{BC98081B-1294-D62C-3969-2D5EC1ACF218}"/>
                      </a:ext>
                    </a:extLst>
                  </p:cNvPr>
                  <p:cNvSpPr/>
                  <p:nvPr/>
                </p:nvSpPr>
                <p:spPr>
                  <a:xfrm rot="20100000" flipV="1">
                    <a:off x="4365647" y="2644324"/>
                    <a:ext cx="1440000" cy="504000"/>
                  </a:xfrm>
                  <a:prstGeom prst="parallelogram">
                    <a:avLst>
                      <a:gd name="adj" fmla="val 79938"/>
                    </a:avLst>
                  </a:prstGeom>
                  <a:solidFill>
                    <a:srgbClr val="FB89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2" name="平行四边形 51">
                    <a:extLst>
                      <a:ext uri="{FF2B5EF4-FFF2-40B4-BE49-F238E27FC236}">
                        <a16:creationId xmlns:a16="http://schemas.microsoft.com/office/drawing/2014/main" id="{64F39BE7-3DDB-A421-F27D-8A6480749644}"/>
                      </a:ext>
                    </a:extLst>
                  </p:cNvPr>
                  <p:cNvSpPr/>
                  <p:nvPr/>
                </p:nvSpPr>
                <p:spPr>
                  <a:xfrm rot="5400000" flipV="1">
                    <a:off x="4345850" y="2054782"/>
                    <a:ext cx="917221" cy="955711"/>
                  </a:xfrm>
                  <a:prstGeom prst="parallelogram">
                    <a:avLst>
                      <a:gd name="adj" fmla="val 49232"/>
                    </a:avLst>
                  </a:prstGeom>
                  <a:solidFill>
                    <a:srgbClr val="CD6B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48" name="组合 47">
                  <a:extLst>
                    <a:ext uri="{FF2B5EF4-FFF2-40B4-BE49-F238E27FC236}">
                      <a16:creationId xmlns:a16="http://schemas.microsoft.com/office/drawing/2014/main" id="{E0C8488B-CD8A-6544-6B77-14009B8F26A8}"/>
                    </a:ext>
                  </a:extLst>
                </p:cNvPr>
                <p:cNvGrpSpPr/>
                <p:nvPr/>
              </p:nvGrpSpPr>
              <p:grpSpPr>
                <a:xfrm>
                  <a:off x="4890458" y="2792456"/>
                  <a:ext cx="1479042" cy="1074297"/>
                  <a:chOff x="4326605" y="2074027"/>
                  <a:chExt cx="1479042" cy="1074297"/>
                </a:xfrm>
              </p:grpSpPr>
              <p:sp>
                <p:nvSpPr>
                  <p:cNvPr id="49" name="平行四边形 48">
                    <a:extLst>
                      <a:ext uri="{FF2B5EF4-FFF2-40B4-BE49-F238E27FC236}">
                        <a16:creationId xmlns:a16="http://schemas.microsoft.com/office/drawing/2014/main" id="{9E54ED6A-5C40-31A9-7702-507BB46593DE}"/>
                      </a:ext>
                    </a:extLst>
                  </p:cNvPr>
                  <p:cNvSpPr/>
                  <p:nvPr/>
                </p:nvSpPr>
                <p:spPr>
                  <a:xfrm rot="20100000" flipV="1">
                    <a:off x="4365647" y="2644324"/>
                    <a:ext cx="1440000" cy="504000"/>
                  </a:xfrm>
                  <a:prstGeom prst="parallelogram">
                    <a:avLst>
                      <a:gd name="adj" fmla="val 79938"/>
                    </a:avLst>
                  </a:prstGeom>
                  <a:solidFill>
                    <a:srgbClr val="EE5C6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0" name="平行四边形 49">
                    <a:extLst>
                      <a:ext uri="{FF2B5EF4-FFF2-40B4-BE49-F238E27FC236}">
                        <a16:creationId xmlns:a16="http://schemas.microsoft.com/office/drawing/2014/main" id="{E3A3B7E3-5F88-5E55-9278-1E9445186CCE}"/>
                      </a:ext>
                    </a:extLst>
                  </p:cNvPr>
                  <p:cNvSpPr/>
                  <p:nvPr/>
                </p:nvSpPr>
                <p:spPr>
                  <a:xfrm rot="5400000" flipV="1">
                    <a:off x="4345850" y="2054782"/>
                    <a:ext cx="917221" cy="955711"/>
                  </a:xfrm>
                  <a:prstGeom prst="parallelogram">
                    <a:avLst>
                      <a:gd name="adj" fmla="val 49232"/>
                    </a:avLst>
                  </a:prstGeom>
                  <a:solidFill>
                    <a:srgbClr val="CD52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
          <p:nvSpPr>
            <p:cNvPr id="1025" name="弧形 1024">
              <a:extLst>
                <a:ext uri="{FF2B5EF4-FFF2-40B4-BE49-F238E27FC236}">
                  <a16:creationId xmlns:a16="http://schemas.microsoft.com/office/drawing/2014/main" id="{78E50ACA-2334-A8D3-902C-5217D8120EA9}"/>
                </a:ext>
              </a:extLst>
            </p:cNvPr>
            <p:cNvSpPr>
              <a:spLocks noChangeAspect="1"/>
            </p:cNvSpPr>
            <p:nvPr/>
          </p:nvSpPr>
          <p:spPr>
            <a:xfrm>
              <a:off x="6158183" y="2308050"/>
              <a:ext cx="720000" cy="720000"/>
            </a:xfrm>
            <a:prstGeom prst="arc">
              <a:avLst/>
            </a:prstGeom>
            <a:ln w="12700">
              <a:solidFill>
                <a:schemeClr val="tx1"/>
              </a:solidFill>
              <a:prstDash val="dash"/>
              <a:tailEnd type="triangl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27" name="弧形 1026">
              <a:extLst>
                <a:ext uri="{FF2B5EF4-FFF2-40B4-BE49-F238E27FC236}">
                  <a16:creationId xmlns:a16="http://schemas.microsoft.com/office/drawing/2014/main" id="{9FAA769F-0D33-C3F3-54F8-E4A69B19823E}"/>
                </a:ext>
              </a:extLst>
            </p:cNvPr>
            <p:cNvSpPr>
              <a:spLocks noChangeAspect="1"/>
            </p:cNvSpPr>
            <p:nvPr/>
          </p:nvSpPr>
          <p:spPr>
            <a:xfrm>
              <a:off x="6702425" y="2984431"/>
              <a:ext cx="720000" cy="720000"/>
            </a:xfrm>
            <a:prstGeom prst="arc">
              <a:avLst/>
            </a:prstGeom>
            <a:ln w="12700">
              <a:solidFill>
                <a:schemeClr val="tx1"/>
              </a:solidFill>
              <a:prstDash val="dash"/>
              <a:tailEnd type="triangl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28" name="弧形 1027">
              <a:extLst>
                <a:ext uri="{FF2B5EF4-FFF2-40B4-BE49-F238E27FC236}">
                  <a16:creationId xmlns:a16="http://schemas.microsoft.com/office/drawing/2014/main" id="{3793B269-3E92-3BED-7514-A36D246D3387}"/>
                </a:ext>
              </a:extLst>
            </p:cNvPr>
            <p:cNvSpPr>
              <a:spLocks noChangeAspect="1"/>
            </p:cNvSpPr>
            <p:nvPr/>
          </p:nvSpPr>
          <p:spPr>
            <a:xfrm>
              <a:off x="7283669" y="3794340"/>
              <a:ext cx="720000" cy="720000"/>
            </a:xfrm>
            <a:prstGeom prst="arc">
              <a:avLst/>
            </a:prstGeom>
            <a:ln w="12700">
              <a:solidFill>
                <a:schemeClr val="tx1"/>
              </a:solidFill>
              <a:prstDash val="dash"/>
              <a:tailEnd type="triangl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29" name="弧形 1028">
              <a:extLst>
                <a:ext uri="{FF2B5EF4-FFF2-40B4-BE49-F238E27FC236}">
                  <a16:creationId xmlns:a16="http://schemas.microsoft.com/office/drawing/2014/main" id="{C3606245-198D-50D2-1600-3C9D6AA4C32E}"/>
                </a:ext>
              </a:extLst>
            </p:cNvPr>
            <p:cNvSpPr>
              <a:spLocks noChangeAspect="1"/>
            </p:cNvSpPr>
            <p:nvPr/>
          </p:nvSpPr>
          <p:spPr>
            <a:xfrm>
              <a:off x="7924622" y="4490618"/>
              <a:ext cx="720000" cy="720000"/>
            </a:xfrm>
            <a:prstGeom prst="arc">
              <a:avLst/>
            </a:prstGeom>
            <a:ln w="12700">
              <a:solidFill>
                <a:schemeClr val="tx1"/>
              </a:solidFill>
              <a:prstDash val="dash"/>
              <a:tailEnd type="triangl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30" name="弧形 1029">
              <a:extLst>
                <a:ext uri="{FF2B5EF4-FFF2-40B4-BE49-F238E27FC236}">
                  <a16:creationId xmlns:a16="http://schemas.microsoft.com/office/drawing/2014/main" id="{343CA6DB-1FA7-BAAE-F1A7-AE5D18889FE1}"/>
                </a:ext>
              </a:extLst>
            </p:cNvPr>
            <p:cNvSpPr>
              <a:spLocks noChangeAspect="1"/>
            </p:cNvSpPr>
            <p:nvPr/>
          </p:nvSpPr>
          <p:spPr>
            <a:xfrm>
              <a:off x="8428769" y="5184392"/>
              <a:ext cx="720000" cy="720000"/>
            </a:xfrm>
            <a:prstGeom prst="arc">
              <a:avLst/>
            </a:prstGeom>
            <a:ln w="12700">
              <a:solidFill>
                <a:schemeClr val="tx1"/>
              </a:solidFill>
              <a:prstDash val="dash"/>
              <a:tailEnd type="triangl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31" name="弧形 1030">
              <a:extLst>
                <a:ext uri="{FF2B5EF4-FFF2-40B4-BE49-F238E27FC236}">
                  <a16:creationId xmlns:a16="http://schemas.microsoft.com/office/drawing/2014/main" id="{8982F63C-F1B3-E220-F85B-4B5221C342C9}"/>
                </a:ext>
              </a:extLst>
            </p:cNvPr>
            <p:cNvSpPr>
              <a:spLocks noChangeAspect="1"/>
            </p:cNvSpPr>
            <p:nvPr/>
          </p:nvSpPr>
          <p:spPr>
            <a:xfrm>
              <a:off x="9000898" y="5841611"/>
              <a:ext cx="720000" cy="720000"/>
            </a:xfrm>
            <a:prstGeom prst="arc">
              <a:avLst/>
            </a:prstGeom>
            <a:ln w="12700">
              <a:solidFill>
                <a:schemeClr val="tx1"/>
              </a:solidFill>
              <a:prstDash val="dash"/>
              <a:tailEnd type="triangl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Tree>
    <p:extLst>
      <p:ext uri="{BB962C8B-B14F-4D97-AF65-F5344CB8AC3E}">
        <p14:creationId xmlns:p14="http://schemas.microsoft.com/office/powerpoint/2010/main" val="243107213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05A25-DE83-31C7-F3AC-3C7AFC2FCF3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E8FF708-A676-0792-B857-1B8EE339994C}"/>
              </a:ext>
            </a:extLst>
          </p:cNvPr>
          <p:cNvSpPr>
            <a:spLocks noGrp="1"/>
          </p:cNvSpPr>
          <p:nvPr>
            <p:ph type="title"/>
          </p:nvPr>
        </p:nvSpPr>
        <p:spPr>
          <a:xfrm>
            <a:off x="792000" y="360000"/>
            <a:ext cx="6375921" cy="429413"/>
          </a:xfrm>
        </p:spPr>
        <p:txBody>
          <a:bodyPr>
            <a:normAutofit/>
          </a:bodyPr>
          <a:lstStyle/>
          <a:p>
            <a:r>
              <a:rPr lang="en-US" altLang="zh-CN"/>
              <a:t>2.5.1.2 V</a:t>
            </a:r>
            <a:r>
              <a:rPr lang="zh-CN" altLang="en-US"/>
              <a:t>模型</a:t>
            </a:r>
          </a:p>
        </p:txBody>
      </p:sp>
      <p:sp>
        <p:nvSpPr>
          <p:cNvPr id="3" name="内容占位符 2">
            <a:extLst>
              <a:ext uri="{FF2B5EF4-FFF2-40B4-BE49-F238E27FC236}">
                <a16:creationId xmlns:a16="http://schemas.microsoft.com/office/drawing/2014/main" id="{191741D2-A99E-D400-3015-FC3F9FA74F4D}"/>
              </a:ext>
            </a:extLst>
          </p:cNvPr>
          <p:cNvSpPr>
            <a:spLocks noGrp="1"/>
          </p:cNvSpPr>
          <p:nvPr>
            <p:ph idx="1"/>
          </p:nvPr>
        </p:nvSpPr>
        <p:spPr>
          <a:xfrm>
            <a:off x="696000" y="864000"/>
            <a:ext cx="10800000" cy="5400000"/>
          </a:xfrm>
        </p:spPr>
        <p:txBody>
          <a:bodyPr>
            <a:normAutofit/>
          </a:bodyPr>
          <a:lstStyle/>
          <a:p>
            <a:r>
              <a:rPr lang="en-US" altLang="zh-CN"/>
              <a:t>Verification and Validation Model</a:t>
            </a:r>
          </a:p>
          <a:p>
            <a:r>
              <a:rPr lang="zh-CN" altLang="en-US"/>
              <a:t>瀑布模型的扩展和改进版本，强调测试与开发阶段的对应关系</a:t>
            </a:r>
            <a:endParaRPr lang="en-US" altLang="zh-CN"/>
          </a:p>
          <a:p>
            <a:r>
              <a:rPr lang="zh-CN" altLang="en-US"/>
              <a:t>其名称来源于图形呈现为</a:t>
            </a:r>
            <a:r>
              <a:rPr lang="en-US" altLang="zh-CN"/>
              <a:t>V</a:t>
            </a:r>
            <a:r>
              <a:rPr lang="zh-CN" altLang="en-US"/>
              <a:t>字形</a:t>
            </a:r>
            <a:endParaRPr lang="en-US" altLang="zh-CN"/>
          </a:p>
          <a:p>
            <a:pPr lvl="1"/>
            <a:r>
              <a:rPr lang="zh-CN" altLang="en-US"/>
              <a:t>左侧是开发阶段</a:t>
            </a:r>
            <a:endParaRPr lang="en-US" altLang="zh-CN"/>
          </a:p>
          <a:p>
            <a:pPr lvl="1"/>
            <a:r>
              <a:rPr lang="zh-CN" altLang="en-US"/>
              <a:t>右侧是对应的测试</a:t>
            </a:r>
            <a:r>
              <a:rPr lang="en-US" altLang="zh-CN"/>
              <a:t>/</a:t>
            </a:r>
            <a:r>
              <a:rPr lang="zh-CN" altLang="en-US"/>
              <a:t>验证阶段</a:t>
            </a:r>
          </a:p>
          <a:p>
            <a:r>
              <a:rPr lang="zh-CN" altLang="en-US"/>
              <a:t>特点</a:t>
            </a:r>
            <a:endParaRPr lang="en-US" altLang="zh-CN"/>
          </a:p>
          <a:p>
            <a:pPr lvl="1"/>
            <a:r>
              <a:rPr lang="zh-CN" altLang="en-US"/>
              <a:t>测试计划在开发早期就制定</a:t>
            </a:r>
          </a:p>
          <a:p>
            <a:pPr lvl="1"/>
            <a:r>
              <a:rPr lang="zh-CN" altLang="en-US"/>
              <a:t>强调尽早测试理念</a:t>
            </a:r>
          </a:p>
          <a:p>
            <a:pPr lvl="1"/>
            <a:r>
              <a:rPr lang="zh-CN" altLang="en-US"/>
              <a:t>仍为线性模型，灵活性有限</a:t>
            </a:r>
            <a:endParaRPr lang="en-US" altLang="zh-CN"/>
          </a:p>
          <a:p>
            <a:r>
              <a:rPr lang="zh-CN" altLang="en-US"/>
              <a:t>适用</a:t>
            </a:r>
            <a:endParaRPr lang="en-US" altLang="zh-CN"/>
          </a:p>
          <a:p>
            <a:pPr lvl="1"/>
            <a:r>
              <a:rPr lang="zh-CN" altLang="en-US"/>
              <a:t>需求明确、不能出错、且需要严格验证的项目</a:t>
            </a:r>
            <a:endParaRPr lang="en-US" altLang="zh-CN"/>
          </a:p>
          <a:p>
            <a:pPr lvl="1"/>
            <a:r>
              <a:rPr lang="zh-CN" altLang="en-US"/>
              <a:t>质量保障体系模型</a:t>
            </a:r>
          </a:p>
        </p:txBody>
      </p:sp>
      <p:sp>
        <p:nvSpPr>
          <p:cNvPr id="4" name="文本占位符 3">
            <a:extLst>
              <a:ext uri="{FF2B5EF4-FFF2-40B4-BE49-F238E27FC236}">
                <a16:creationId xmlns:a16="http://schemas.microsoft.com/office/drawing/2014/main" id="{0A67D371-ADD8-6542-43C7-27A4CCD91EEB}"/>
              </a:ext>
            </a:extLst>
          </p:cNvPr>
          <p:cNvSpPr>
            <a:spLocks noGrp="1"/>
          </p:cNvSpPr>
          <p:nvPr>
            <p:ph type="body" sz="quarter" idx="10"/>
          </p:nvPr>
        </p:nvSpPr>
        <p:spPr>
          <a:xfrm>
            <a:off x="7071919" y="448519"/>
            <a:ext cx="4424080" cy="338554"/>
          </a:xfrm>
        </p:spPr>
        <p:txBody>
          <a:bodyPr/>
          <a:lstStyle/>
          <a:p>
            <a:r>
              <a:rPr lang="en-US" altLang="zh-CN"/>
              <a:t>V Mode /Predictive</a:t>
            </a:r>
          </a:p>
        </p:txBody>
      </p:sp>
      <p:sp>
        <p:nvSpPr>
          <p:cNvPr id="123" name="任意多边形: 形状 122">
            <a:extLst>
              <a:ext uri="{FF2B5EF4-FFF2-40B4-BE49-F238E27FC236}">
                <a16:creationId xmlns:a16="http://schemas.microsoft.com/office/drawing/2014/main" id="{26C74922-51F2-9983-CF6F-DAC81DD498F8}"/>
              </a:ext>
            </a:extLst>
          </p:cNvPr>
          <p:cNvSpPr/>
          <p:nvPr/>
        </p:nvSpPr>
        <p:spPr>
          <a:xfrm flipH="1">
            <a:off x="6096000" y="1806150"/>
            <a:ext cx="1800378" cy="700889"/>
          </a:xfrm>
          <a:custGeom>
            <a:avLst/>
            <a:gdLst>
              <a:gd name="csX0" fmla="*/ 1565381 w 1565381"/>
              <a:gd name="csY0" fmla="*/ 0 h 650070"/>
              <a:gd name="csX1" fmla="*/ 157543 w 1565381"/>
              <a:gd name="csY1" fmla="*/ 0 h 650070"/>
              <a:gd name="csX2" fmla="*/ 0 w 1565381"/>
              <a:gd name="csY2" fmla="*/ 650070 h 650070"/>
              <a:gd name="csX3" fmla="*/ 1407838 w 1565381"/>
              <a:gd name="csY3" fmla="*/ 650070 h 650070"/>
              <a:gd name="csX4" fmla="*/ 1565381 w 1565381"/>
              <a:gd name="csY4" fmla="*/ 0 h 650070"/>
            </a:gdLst>
            <a:ahLst/>
            <a:cxnLst>
              <a:cxn ang="0">
                <a:pos x="csX0" y="csY0"/>
              </a:cxn>
              <a:cxn ang="0">
                <a:pos x="csX1" y="csY1"/>
              </a:cxn>
              <a:cxn ang="0">
                <a:pos x="csX2" y="csY2"/>
              </a:cxn>
              <a:cxn ang="0">
                <a:pos x="csX3" y="csY3"/>
              </a:cxn>
              <a:cxn ang="0">
                <a:pos x="csX4" y="csY4"/>
              </a:cxn>
            </a:cxnLst>
            <a:rect l="l" t="t" r="r" b="b"/>
            <a:pathLst>
              <a:path w="1565381" h="650070">
                <a:moveTo>
                  <a:pt x="1565381" y="0"/>
                </a:moveTo>
                <a:lnTo>
                  <a:pt x="157543" y="0"/>
                </a:lnTo>
                <a:lnTo>
                  <a:pt x="0" y="650070"/>
                </a:lnTo>
                <a:lnTo>
                  <a:pt x="1407838" y="650070"/>
                </a:lnTo>
                <a:lnTo>
                  <a:pt x="1565381" y="0"/>
                </a:lnTo>
                <a:close/>
              </a:path>
            </a:pathLst>
          </a:custGeom>
          <a:solidFill>
            <a:srgbClr val="EE5C6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600"/>
              <a:t>Requirement design</a:t>
            </a:r>
          </a:p>
        </p:txBody>
      </p:sp>
      <p:sp>
        <p:nvSpPr>
          <p:cNvPr id="122" name="任意多边形: 形状 121">
            <a:extLst>
              <a:ext uri="{FF2B5EF4-FFF2-40B4-BE49-F238E27FC236}">
                <a16:creationId xmlns:a16="http://schemas.microsoft.com/office/drawing/2014/main" id="{F05703A2-B3B3-FC99-D9B6-9029CE901CF8}"/>
              </a:ext>
            </a:extLst>
          </p:cNvPr>
          <p:cNvSpPr/>
          <p:nvPr/>
        </p:nvSpPr>
        <p:spPr>
          <a:xfrm flipH="1">
            <a:off x="9060618" y="1806150"/>
            <a:ext cx="1800377" cy="700889"/>
          </a:xfrm>
          <a:custGeom>
            <a:avLst/>
            <a:gdLst>
              <a:gd name="csX0" fmla="*/ 1407837 w 1565380"/>
              <a:gd name="csY0" fmla="*/ 0 h 650070"/>
              <a:gd name="csX1" fmla="*/ 0 w 1565380"/>
              <a:gd name="csY1" fmla="*/ 0 h 650070"/>
              <a:gd name="csX2" fmla="*/ 157543 w 1565380"/>
              <a:gd name="csY2" fmla="*/ 650070 h 650070"/>
              <a:gd name="csX3" fmla="*/ 1565380 w 1565380"/>
              <a:gd name="csY3" fmla="*/ 650070 h 650070"/>
              <a:gd name="csX4" fmla="*/ 1407837 w 1565380"/>
              <a:gd name="csY4" fmla="*/ 0 h 650070"/>
            </a:gdLst>
            <a:ahLst/>
            <a:cxnLst>
              <a:cxn ang="0">
                <a:pos x="csX0" y="csY0"/>
              </a:cxn>
              <a:cxn ang="0">
                <a:pos x="csX1" y="csY1"/>
              </a:cxn>
              <a:cxn ang="0">
                <a:pos x="csX2" y="csY2"/>
              </a:cxn>
              <a:cxn ang="0">
                <a:pos x="csX3" y="csY3"/>
              </a:cxn>
              <a:cxn ang="0">
                <a:pos x="csX4" y="csY4"/>
              </a:cxn>
            </a:cxnLst>
            <a:rect l="l" t="t" r="r" b="b"/>
            <a:pathLst>
              <a:path w="1565380" h="650070">
                <a:moveTo>
                  <a:pt x="1407837" y="0"/>
                </a:moveTo>
                <a:lnTo>
                  <a:pt x="0" y="0"/>
                </a:lnTo>
                <a:lnTo>
                  <a:pt x="157543" y="650070"/>
                </a:lnTo>
                <a:lnTo>
                  <a:pt x="1565380" y="650070"/>
                </a:lnTo>
                <a:lnTo>
                  <a:pt x="1407837" y="0"/>
                </a:lnTo>
                <a:close/>
              </a:path>
            </a:pathLst>
          </a:custGeom>
          <a:solidFill>
            <a:srgbClr val="EE5C6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600"/>
              <a:t>Acceptance</a:t>
            </a:r>
          </a:p>
          <a:p>
            <a:pPr algn="ctr"/>
            <a:r>
              <a:rPr lang="en-US" altLang="zh-CN" sz="1600"/>
              <a:t>test</a:t>
            </a:r>
            <a:endParaRPr lang="zh-CN" altLang="en-US" sz="1600"/>
          </a:p>
        </p:txBody>
      </p:sp>
      <p:sp>
        <p:nvSpPr>
          <p:cNvPr id="118" name="任意多边形: 形状 117">
            <a:extLst>
              <a:ext uri="{FF2B5EF4-FFF2-40B4-BE49-F238E27FC236}">
                <a16:creationId xmlns:a16="http://schemas.microsoft.com/office/drawing/2014/main" id="{5E3BFE4A-B4D8-F4B6-7CD0-41FCE89F98A2}"/>
              </a:ext>
            </a:extLst>
          </p:cNvPr>
          <p:cNvSpPr/>
          <p:nvPr/>
        </p:nvSpPr>
        <p:spPr>
          <a:xfrm flipH="1">
            <a:off x="6287228" y="2545853"/>
            <a:ext cx="1800377" cy="700889"/>
          </a:xfrm>
          <a:custGeom>
            <a:avLst/>
            <a:gdLst>
              <a:gd name="csX0" fmla="*/ 1565380 w 1565380"/>
              <a:gd name="csY0" fmla="*/ 0 h 650070"/>
              <a:gd name="csX1" fmla="*/ 157543 w 1565380"/>
              <a:gd name="csY1" fmla="*/ 0 h 650070"/>
              <a:gd name="csX2" fmla="*/ 0 w 1565380"/>
              <a:gd name="csY2" fmla="*/ 650070 h 650070"/>
              <a:gd name="csX3" fmla="*/ 1407837 w 1565380"/>
              <a:gd name="csY3" fmla="*/ 650070 h 650070"/>
              <a:gd name="csX4" fmla="*/ 1565380 w 1565380"/>
              <a:gd name="csY4" fmla="*/ 0 h 650070"/>
            </a:gdLst>
            <a:ahLst/>
            <a:cxnLst>
              <a:cxn ang="0">
                <a:pos x="csX0" y="csY0"/>
              </a:cxn>
              <a:cxn ang="0">
                <a:pos x="csX1" y="csY1"/>
              </a:cxn>
              <a:cxn ang="0">
                <a:pos x="csX2" y="csY2"/>
              </a:cxn>
              <a:cxn ang="0">
                <a:pos x="csX3" y="csY3"/>
              </a:cxn>
              <a:cxn ang="0">
                <a:pos x="csX4" y="csY4"/>
              </a:cxn>
            </a:cxnLst>
            <a:rect l="l" t="t" r="r" b="b"/>
            <a:pathLst>
              <a:path w="1565380" h="650070">
                <a:moveTo>
                  <a:pt x="1565380" y="0"/>
                </a:moveTo>
                <a:lnTo>
                  <a:pt x="157543" y="0"/>
                </a:lnTo>
                <a:lnTo>
                  <a:pt x="0" y="650070"/>
                </a:lnTo>
                <a:lnTo>
                  <a:pt x="1407837" y="650070"/>
                </a:lnTo>
                <a:lnTo>
                  <a:pt x="1565380" y="0"/>
                </a:lnTo>
                <a:close/>
              </a:path>
            </a:pathLst>
          </a:custGeom>
          <a:solidFill>
            <a:srgbClr val="FB897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600"/>
              <a:t>System</a:t>
            </a:r>
          </a:p>
          <a:p>
            <a:pPr algn="ctr"/>
            <a:r>
              <a:rPr lang="en-US" altLang="zh-CN" sz="1600"/>
              <a:t>design</a:t>
            </a:r>
            <a:endParaRPr lang="zh-CN" altLang="en-US" sz="1600"/>
          </a:p>
        </p:txBody>
      </p:sp>
      <p:sp>
        <p:nvSpPr>
          <p:cNvPr id="117" name="任意多边形: 形状 116">
            <a:extLst>
              <a:ext uri="{FF2B5EF4-FFF2-40B4-BE49-F238E27FC236}">
                <a16:creationId xmlns:a16="http://schemas.microsoft.com/office/drawing/2014/main" id="{0000A36F-3772-FB0B-CF5D-7AEAB38D2FAC}"/>
              </a:ext>
            </a:extLst>
          </p:cNvPr>
          <p:cNvSpPr/>
          <p:nvPr/>
        </p:nvSpPr>
        <p:spPr>
          <a:xfrm flipH="1">
            <a:off x="8869391" y="2545853"/>
            <a:ext cx="1800377" cy="700889"/>
          </a:xfrm>
          <a:custGeom>
            <a:avLst/>
            <a:gdLst>
              <a:gd name="csX0" fmla="*/ 1407837 w 1565380"/>
              <a:gd name="csY0" fmla="*/ 0 h 650070"/>
              <a:gd name="csX1" fmla="*/ 0 w 1565380"/>
              <a:gd name="csY1" fmla="*/ 0 h 650070"/>
              <a:gd name="csX2" fmla="*/ 157543 w 1565380"/>
              <a:gd name="csY2" fmla="*/ 650070 h 650070"/>
              <a:gd name="csX3" fmla="*/ 1565380 w 1565380"/>
              <a:gd name="csY3" fmla="*/ 650070 h 650070"/>
              <a:gd name="csX4" fmla="*/ 1407837 w 1565380"/>
              <a:gd name="csY4" fmla="*/ 0 h 650070"/>
            </a:gdLst>
            <a:ahLst/>
            <a:cxnLst>
              <a:cxn ang="0">
                <a:pos x="csX0" y="csY0"/>
              </a:cxn>
              <a:cxn ang="0">
                <a:pos x="csX1" y="csY1"/>
              </a:cxn>
              <a:cxn ang="0">
                <a:pos x="csX2" y="csY2"/>
              </a:cxn>
              <a:cxn ang="0">
                <a:pos x="csX3" y="csY3"/>
              </a:cxn>
              <a:cxn ang="0">
                <a:pos x="csX4" y="csY4"/>
              </a:cxn>
            </a:cxnLst>
            <a:rect l="l" t="t" r="r" b="b"/>
            <a:pathLst>
              <a:path w="1565380" h="650070">
                <a:moveTo>
                  <a:pt x="1407837" y="0"/>
                </a:moveTo>
                <a:lnTo>
                  <a:pt x="0" y="0"/>
                </a:lnTo>
                <a:lnTo>
                  <a:pt x="157543" y="650070"/>
                </a:lnTo>
                <a:lnTo>
                  <a:pt x="1565380" y="650070"/>
                </a:lnTo>
                <a:lnTo>
                  <a:pt x="1407837" y="0"/>
                </a:lnTo>
                <a:close/>
              </a:path>
            </a:pathLst>
          </a:custGeom>
          <a:solidFill>
            <a:srgbClr val="FB897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600"/>
              <a:t>System</a:t>
            </a:r>
          </a:p>
          <a:p>
            <a:pPr algn="ctr"/>
            <a:r>
              <a:rPr lang="en-US" altLang="zh-CN" sz="1600"/>
              <a:t>test</a:t>
            </a:r>
            <a:endParaRPr lang="zh-CN" altLang="en-US" sz="1600"/>
          </a:p>
        </p:txBody>
      </p:sp>
      <p:sp>
        <p:nvSpPr>
          <p:cNvPr id="113" name="任意多边形: 形状 112">
            <a:extLst>
              <a:ext uri="{FF2B5EF4-FFF2-40B4-BE49-F238E27FC236}">
                <a16:creationId xmlns:a16="http://schemas.microsoft.com/office/drawing/2014/main" id="{91F9BCD8-93BF-A192-9583-F658B8C4CA6D}"/>
              </a:ext>
            </a:extLst>
          </p:cNvPr>
          <p:cNvSpPr/>
          <p:nvPr/>
        </p:nvSpPr>
        <p:spPr>
          <a:xfrm flipH="1">
            <a:off x="6478456" y="3285557"/>
            <a:ext cx="1800378" cy="700889"/>
          </a:xfrm>
          <a:custGeom>
            <a:avLst/>
            <a:gdLst>
              <a:gd name="csX0" fmla="*/ 1565381 w 1565381"/>
              <a:gd name="csY0" fmla="*/ 0 h 650070"/>
              <a:gd name="csX1" fmla="*/ 157543 w 1565381"/>
              <a:gd name="csY1" fmla="*/ 0 h 650070"/>
              <a:gd name="csX2" fmla="*/ 0 w 1565381"/>
              <a:gd name="csY2" fmla="*/ 650070 h 650070"/>
              <a:gd name="csX3" fmla="*/ 1407837 w 1565381"/>
              <a:gd name="csY3" fmla="*/ 650070 h 650070"/>
              <a:gd name="csX4" fmla="*/ 1565381 w 1565381"/>
              <a:gd name="csY4" fmla="*/ 0 h 650070"/>
            </a:gdLst>
            <a:ahLst/>
            <a:cxnLst>
              <a:cxn ang="0">
                <a:pos x="csX0" y="csY0"/>
              </a:cxn>
              <a:cxn ang="0">
                <a:pos x="csX1" y="csY1"/>
              </a:cxn>
              <a:cxn ang="0">
                <a:pos x="csX2" y="csY2"/>
              </a:cxn>
              <a:cxn ang="0">
                <a:pos x="csX3" y="csY3"/>
              </a:cxn>
              <a:cxn ang="0">
                <a:pos x="csX4" y="csY4"/>
              </a:cxn>
            </a:cxnLst>
            <a:rect l="l" t="t" r="r" b="b"/>
            <a:pathLst>
              <a:path w="1565381" h="650070">
                <a:moveTo>
                  <a:pt x="1565381" y="0"/>
                </a:moveTo>
                <a:lnTo>
                  <a:pt x="157543" y="0"/>
                </a:lnTo>
                <a:lnTo>
                  <a:pt x="0" y="650070"/>
                </a:lnTo>
                <a:lnTo>
                  <a:pt x="1407837" y="650070"/>
                </a:lnTo>
                <a:lnTo>
                  <a:pt x="1565381" y="0"/>
                </a:lnTo>
                <a:close/>
              </a:path>
            </a:pathLst>
          </a:cu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600"/>
              <a:t>Architecture design</a:t>
            </a:r>
            <a:endParaRPr lang="zh-CN" altLang="en-US" sz="1600"/>
          </a:p>
        </p:txBody>
      </p:sp>
      <p:sp>
        <p:nvSpPr>
          <p:cNvPr id="112" name="任意多边形: 形状 111">
            <a:extLst>
              <a:ext uri="{FF2B5EF4-FFF2-40B4-BE49-F238E27FC236}">
                <a16:creationId xmlns:a16="http://schemas.microsoft.com/office/drawing/2014/main" id="{FE949885-72FD-EB39-59E0-B504B4B13C9E}"/>
              </a:ext>
            </a:extLst>
          </p:cNvPr>
          <p:cNvSpPr/>
          <p:nvPr/>
        </p:nvSpPr>
        <p:spPr>
          <a:xfrm flipH="1">
            <a:off x="8678163" y="3285557"/>
            <a:ext cx="1800377" cy="700889"/>
          </a:xfrm>
          <a:custGeom>
            <a:avLst/>
            <a:gdLst>
              <a:gd name="csX0" fmla="*/ 1407837 w 1565380"/>
              <a:gd name="csY0" fmla="*/ 0 h 650070"/>
              <a:gd name="csX1" fmla="*/ 0 w 1565380"/>
              <a:gd name="csY1" fmla="*/ 0 h 650070"/>
              <a:gd name="csX2" fmla="*/ 157543 w 1565380"/>
              <a:gd name="csY2" fmla="*/ 650070 h 650070"/>
              <a:gd name="csX3" fmla="*/ 1565380 w 1565380"/>
              <a:gd name="csY3" fmla="*/ 650070 h 650070"/>
              <a:gd name="csX4" fmla="*/ 1407837 w 1565380"/>
              <a:gd name="csY4" fmla="*/ 0 h 650070"/>
            </a:gdLst>
            <a:ahLst/>
            <a:cxnLst>
              <a:cxn ang="0">
                <a:pos x="csX0" y="csY0"/>
              </a:cxn>
              <a:cxn ang="0">
                <a:pos x="csX1" y="csY1"/>
              </a:cxn>
              <a:cxn ang="0">
                <a:pos x="csX2" y="csY2"/>
              </a:cxn>
              <a:cxn ang="0">
                <a:pos x="csX3" y="csY3"/>
              </a:cxn>
              <a:cxn ang="0">
                <a:pos x="csX4" y="csY4"/>
              </a:cxn>
            </a:cxnLst>
            <a:rect l="l" t="t" r="r" b="b"/>
            <a:pathLst>
              <a:path w="1565380" h="650070">
                <a:moveTo>
                  <a:pt x="1407837" y="0"/>
                </a:moveTo>
                <a:lnTo>
                  <a:pt x="0" y="0"/>
                </a:lnTo>
                <a:lnTo>
                  <a:pt x="157543" y="650070"/>
                </a:lnTo>
                <a:lnTo>
                  <a:pt x="1565380" y="650070"/>
                </a:lnTo>
                <a:lnTo>
                  <a:pt x="1407837" y="0"/>
                </a:lnTo>
                <a:close/>
              </a:path>
            </a:pathLst>
          </a:cu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600"/>
              <a:t>Integration</a:t>
            </a:r>
          </a:p>
          <a:p>
            <a:pPr algn="ctr"/>
            <a:r>
              <a:rPr lang="en-US" altLang="zh-CN" sz="1600"/>
              <a:t>test</a:t>
            </a:r>
            <a:endParaRPr lang="zh-CN" altLang="en-US" sz="1600"/>
          </a:p>
        </p:txBody>
      </p:sp>
      <p:sp>
        <p:nvSpPr>
          <p:cNvPr id="108" name="任意多边形: 形状 107">
            <a:extLst>
              <a:ext uri="{FF2B5EF4-FFF2-40B4-BE49-F238E27FC236}">
                <a16:creationId xmlns:a16="http://schemas.microsoft.com/office/drawing/2014/main" id="{9C83D160-5B9E-F6B7-EED3-BE5700F3B514}"/>
              </a:ext>
            </a:extLst>
          </p:cNvPr>
          <p:cNvSpPr/>
          <p:nvPr/>
        </p:nvSpPr>
        <p:spPr>
          <a:xfrm flipH="1">
            <a:off x="6669684" y="4025260"/>
            <a:ext cx="1800377" cy="700889"/>
          </a:xfrm>
          <a:custGeom>
            <a:avLst/>
            <a:gdLst>
              <a:gd name="csX0" fmla="*/ 1565380 w 1565380"/>
              <a:gd name="csY0" fmla="*/ 0 h 650070"/>
              <a:gd name="csX1" fmla="*/ 157543 w 1565380"/>
              <a:gd name="csY1" fmla="*/ 0 h 650070"/>
              <a:gd name="csX2" fmla="*/ 0 w 1565380"/>
              <a:gd name="csY2" fmla="*/ 650070 h 650070"/>
              <a:gd name="csX3" fmla="*/ 1407837 w 1565380"/>
              <a:gd name="csY3" fmla="*/ 650070 h 650070"/>
              <a:gd name="csX4" fmla="*/ 1565380 w 1565380"/>
              <a:gd name="csY4" fmla="*/ 0 h 650070"/>
            </a:gdLst>
            <a:ahLst/>
            <a:cxnLst>
              <a:cxn ang="0">
                <a:pos x="csX0" y="csY0"/>
              </a:cxn>
              <a:cxn ang="0">
                <a:pos x="csX1" y="csY1"/>
              </a:cxn>
              <a:cxn ang="0">
                <a:pos x="csX2" y="csY2"/>
              </a:cxn>
              <a:cxn ang="0">
                <a:pos x="csX3" y="csY3"/>
              </a:cxn>
              <a:cxn ang="0">
                <a:pos x="csX4" y="csY4"/>
              </a:cxn>
            </a:cxnLst>
            <a:rect l="l" t="t" r="r" b="b"/>
            <a:pathLst>
              <a:path w="1565380" h="650070">
                <a:moveTo>
                  <a:pt x="1565380" y="0"/>
                </a:moveTo>
                <a:lnTo>
                  <a:pt x="157543" y="0"/>
                </a:lnTo>
                <a:lnTo>
                  <a:pt x="0" y="650070"/>
                </a:lnTo>
                <a:lnTo>
                  <a:pt x="1407837" y="650070"/>
                </a:lnTo>
                <a:lnTo>
                  <a:pt x="1565380" y="0"/>
                </a:lnTo>
                <a:close/>
              </a:path>
            </a:pathLst>
          </a:custGeom>
          <a:solidFill>
            <a:srgbClr val="5CC197"/>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600"/>
              <a:t>Modular</a:t>
            </a:r>
          </a:p>
          <a:p>
            <a:pPr algn="ctr"/>
            <a:r>
              <a:rPr lang="en-US" altLang="zh-CN" sz="1600"/>
              <a:t>design</a:t>
            </a:r>
            <a:endParaRPr lang="zh-CN" altLang="en-US" sz="1600"/>
          </a:p>
        </p:txBody>
      </p:sp>
      <p:sp>
        <p:nvSpPr>
          <p:cNvPr id="107" name="任意多边形: 形状 106">
            <a:extLst>
              <a:ext uri="{FF2B5EF4-FFF2-40B4-BE49-F238E27FC236}">
                <a16:creationId xmlns:a16="http://schemas.microsoft.com/office/drawing/2014/main" id="{EA99CD7B-1FC3-E80B-2296-0541150FF6BF}"/>
              </a:ext>
            </a:extLst>
          </p:cNvPr>
          <p:cNvSpPr/>
          <p:nvPr/>
        </p:nvSpPr>
        <p:spPr>
          <a:xfrm flipH="1">
            <a:off x="8486935" y="4025260"/>
            <a:ext cx="1800377" cy="700889"/>
          </a:xfrm>
          <a:custGeom>
            <a:avLst/>
            <a:gdLst>
              <a:gd name="csX0" fmla="*/ 1407837 w 1565380"/>
              <a:gd name="csY0" fmla="*/ 0 h 650070"/>
              <a:gd name="csX1" fmla="*/ 0 w 1565380"/>
              <a:gd name="csY1" fmla="*/ 0 h 650070"/>
              <a:gd name="csX2" fmla="*/ 157543 w 1565380"/>
              <a:gd name="csY2" fmla="*/ 650070 h 650070"/>
              <a:gd name="csX3" fmla="*/ 1565380 w 1565380"/>
              <a:gd name="csY3" fmla="*/ 650070 h 650070"/>
              <a:gd name="csX4" fmla="*/ 1407837 w 1565380"/>
              <a:gd name="csY4" fmla="*/ 0 h 650070"/>
            </a:gdLst>
            <a:ahLst/>
            <a:cxnLst>
              <a:cxn ang="0">
                <a:pos x="csX0" y="csY0"/>
              </a:cxn>
              <a:cxn ang="0">
                <a:pos x="csX1" y="csY1"/>
              </a:cxn>
              <a:cxn ang="0">
                <a:pos x="csX2" y="csY2"/>
              </a:cxn>
              <a:cxn ang="0">
                <a:pos x="csX3" y="csY3"/>
              </a:cxn>
              <a:cxn ang="0">
                <a:pos x="csX4" y="csY4"/>
              </a:cxn>
            </a:cxnLst>
            <a:rect l="l" t="t" r="r" b="b"/>
            <a:pathLst>
              <a:path w="1565380" h="650070">
                <a:moveTo>
                  <a:pt x="1407837" y="0"/>
                </a:moveTo>
                <a:lnTo>
                  <a:pt x="0" y="0"/>
                </a:lnTo>
                <a:lnTo>
                  <a:pt x="157543" y="650070"/>
                </a:lnTo>
                <a:lnTo>
                  <a:pt x="1565380" y="650070"/>
                </a:lnTo>
                <a:lnTo>
                  <a:pt x="1407837" y="0"/>
                </a:lnTo>
                <a:close/>
              </a:path>
            </a:pathLst>
          </a:custGeom>
          <a:solidFill>
            <a:srgbClr val="5CC197"/>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600"/>
              <a:t>Unit</a:t>
            </a:r>
          </a:p>
          <a:p>
            <a:pPr algn="ctr"/>
            <a:r>
              <a:rPr lang="zh-CN" altLang="en-US" sz="1600"/>
              <a:t> </a:t>
            </a:r>
            <a:r>
              <a:rPr lang="en-US" altLang="zh-CN" sz="1600"/>
              <a:t>test</a:t>
            </a:r>
            <a:endParaRPr lang="zh-CN" altLang="en-US" sz="1600"/>
          </a:p>
        </p:txBody>
      </p:sp>
      <p:sp>
        <p:nvSpPr>
          <p:cNvPr id="140" name="任意多边形: 形状 139">
            <a:extLst>
              <a:ext uri="{FF2B5EF4-FFF2-40B4-BE49-F238E27FC236}">
                <a16:creationId xmlns:a16="http://schemas.microsoft.com/office/drawing/2014/main" id="{A50E3835-0E24-2F07-52B6-CD9EA200176A}"/>
              </a:ext>
            </a:extLst>
          </p:cNvPr>
          <p:cNvSpPr/>
          <p:nvPr/>
        </p:nvSpPr>
        <p:spPr>
          <a:xfrm flipH="1">
            <a:off x="6860911" y="4758785"/>
            <a:ext cx="3235172" cy="707065"/>
          </a:xfrm>
          <a:custGeom>
            <a:avLst/>
            <a:gdLst>
              <a:gd name="csX0" fmla="*/ 1406448 w 2812896"/>
              <a:gd name="csY0" fmla="*/ 0 h 655798"/>
              <a:gd name="csX1" fmla="*/ 1405059 w 2812896"/>
              <a:gd name="csY1" fmla="*/ 5730 h 655798"/>
              <a:gd name="csX2" fmla="*/ 0 w 2812896"/>
              <a:gd name="csY2" fmla="*/ 5730 h 655798"/>
              <a:gd name="csX3" fmla="*/ 157542 w 2812896"/>
              <a:gd name="csY3" fmla="*/ 655798 h 655798"/>
              <a:gd name="csX4" fmla="*/ 1247517 w 2812896"/>
              <a:gd name="csY4" fmla="*/ 655798 h 655798"/>
              <a:gd name="csX5" fmla="*/ 1565379 w 2812896"/>
              <a:gd name="csY5" fmla="*/ 655798 h 655798"/>
              <a:gd name="csX6" fmla="*/ 2655354 w 2812896"/>
              <a:gd name="csY6" fmla="*/ 655798 h 655798"/>
              <a:gd name="csX7" fmla="*/ 2812896 w 2812896"/>
              <a:gd name="csY7" fmla="*/ 5730 h 655798"/>
              <a:gd name="csX8" fmla="*/ 1407837 w 2812896"/>
              <a:gd name="csY8" fmla="*/ 5730 h 6557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812896" h="655798">
                <a:moveTo>
                  <a:pt x="1406448" y="0"/>
                </a:moveTo>
                <a:lnTo>
                  <a:pt x="1405059" y="5730"/>
                </a:lnTo>
                <a:lnTo>
                  <a:pt x="0" y="5730"/>
                </a:lnTo>
                <a:lnTo>
                  <a:pt x="157542" y="655798"/>
                </a:lnTo>
                <a:lnTo>
                  <a:pt x="1247517" y="655798"/>
                </a:lnTo>
                <a:lnTo>
                  <a:pt x="1565379" y="655798"/>
                </a:lnTo>
                <a:lnTo>
                  <a:pt x="2655354" y="655798"/>
                </a:lnTo>
                <a:lnTo>
                  <a:pt x="2812896" y="5730"/>
                </a:lnTo>
                <a:lnTo>
                  <a:pt x="1407837" y="5730"/>
                </a:lnTo>
                <a:close/>
              </a:path>
            </a:pathLst>
          </a:custGeom>
          <a:solidFill>
            <a:srgbClr val="7F6F6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600"/>
              <a:t>Coding</a:t>
            </a:r>
            <a:endParaRPr lang="zh-CN" altLang="en-US" sz="1600"/>
          </a:p>
        </p:txBody>
      </p:sp>
      <p:cxnSp>
        <p:nvCxnSpPr>
          <p:cNvPr id="25" name="直接箭头连接符 24">
            <a:extLst>
              <a:ext uri="{FF2B5EF4-FFF2-40B4-BE49-F238E27FC236}">
                <a16:creationId xmlns:a16="http://schemas.microsoft.com/office/drawing/2014/main" id="{B570F9E8-C7F8-470D-9293-994F51BAFC0C}"/>
              </a:ext>
            </a:extLst>
          </p:cNvPr>
          <p:cNvCxnSpPr>
            <a:cxnSpLocks/>
          </p:cNvCxnSpPr>
          <p:nvPr/>
        </p:nvCxnSpPr>
        <p:spPr>
          <a:xfrm>
            <a:off x="7799038" y="2156594"/>
            <a:ext cx="1343025" cy="0"/>
          </a:xfrm>
          <a:prstGeom prst="straightConnector1">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1CCA199C-EEEF-61A7-5449-6624DAD98DA7}"/>
              </a:ext>
            </a:extLst>
          </p:cNvPr>
          <p:cNvCxnSpPr>
            <a:cxnSpLocks/>
          </p:cNvCxnSpPr>
          <p:nvPr/>
        </p:nvCxnSpPr>
        <p:spPr>
          <a:xfrm>
            <a:off x="7930550" y="2896297"/>
            <a:ext cx="1080000" cy="0"/>
          </a:xfrm>
          <a:prstGeom prst="straightConnector1">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CFCEE13A-4FD6-268D-7ACC-1E6020F5B0EB}"/>
              </a:ext>
            </a:extLst>
          </p:cNvPr>
          <p:cNvCxnSpPr>
            <a:cxnSpLocks/>
          </p:cNvCxnSpPr>
          <p:nvPr/>
        </p:nvCxnSpPr>
        <p:spPr>
          <a:xfrm>
            <a:off x="8146550" y="3636000"/>
            <a:ext cx="648000" cy="0"/>
          </a:xfrm>
          <a:prstGeom prst="straightConnector1">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1CA54654-9047-93A3-B560-B7E7522AC91C}"/>
              </a:ext>
            </a:extLst>
          </p:cNvPr>
          <p:cNvCxnSpPr>
            <a:cxnSpLocks/>
          </p:cNvCxnSpPr>
          <p:nvPr/>
        </p:nvCxnSpPr>
        <p:spPr>
          <a:xfrm>
            <a:off x="8326550" y="4375704"/>
            <a:ext cx="288000" cy="0"/>
          </a:xfrm>
          <a:prstGeom prst="straightConnector1">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F08E98B1-041D-4187-D326-5660D72B9AF6}"/>
              </a:ext>
            </a:extLst>
          </p:cNvPr>
          <p:cNvSpPr txBox="1"/>
          <p:nvPr/>
        </p:nvSpPr>
        <p:spPr>
          <a:xfrm>
            <a:off x="4387839" y="5894668"/>
            <a:ext cx="3416321" cy="369332"/>
          </a:xfrm>
          <a:prstGeom prst="rect">
            <a:avLst/>
          </a:prstGeom>
          <a:noFill/>
        </p:spPr>
        <p:txBody>
          <a:bodyPr wrap="none" rtlCol="0">
            <a:spAutoFit/>
          </a:bodyPr>
          <a:lstStyle/>
          <a:p>
            <a:pPr algn="ctr"/>
            <a:r>
              <a:rPr lang="zh-CN" altLang="en-US" b="1"/>
              <a:t>同步规划、并行设计、串行执行</a:t>
            </a:r>
          </a:p>
        </p:txBody>
      </p:sp>
    </p:spTree>
    <p:extLst>
      <p:ext uri="{BB962C8B-B14F-4D97-AF65-F5344CB8AC3E}">
        <p14:creationId xmlns:p14="http://schemas.microsoft.com/office/powerpoint/2010/main" val="126683423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内容占位符 2">
            <a:extLst>
              <a:ext uri="{FF2B5EF4-FFF2-40B4-BE49-F238E27FC236}">
                <a16:creationId xmlns:a16="http://schemas.microsoft.com/office/drawing/2014/main" id="{F9745432-056A-9A43-02D0-EDE4B51F6A5F}"/>
              </a:ext>
            </a:extLst>
          </p:cNvPr>
          <p:cNvGraphicFramePr>
            <a:graphicFrameLocks/>
          </p:cNvGraphicFramePr>
          <p:nvPr>
            <p:extLst>
              <p:ext uri="{D42A27DB-BD31-4B8C-83A1-F6EECF244321}">
                <p14:modId xmlns:p14="http://schemas.microsoft.com/office/powerpoint/2010/main" val="4133004840"/>
              </p:ext>
            </p:extLst>
          </p:nvPr>
        </p:nvGraphicFramePr>
        <p:xfrm>
          <a:off x="695325" y="2758440"/>
          <a:ext cx="10800000" cy="1341120"/>
        </p:xfrm>
        <a:graphic>
          <a:graphicData uri="http://schemas.openxmlformats.org/drawingml/2006/table">
            <a:tbl>
              <a:tblPr/>
              <a:tblGrid>
                <a:gridCol w="2278634">
                  <a:extLst>
                    <a:ext uri="{9D8B030D-6E8A-4147-A177-3AD203B41FA5}">
                      <a16:colId xmlns:a16="http://schemas.microsoft.com/office/drawing/2014/main" val="4006582783"/>
                    </a:ext>
                  </a:extLst>
                </a:gridCol>
                <a:gridCol w="4260683">
                  <a:extLst>
                    <a:ext uri="{9D8B030D-6E8A-4147-A177-3AD203B41FA5}">
                      <a16:colId xmlns:a16="http://schemas.microsoft.com/office/drawing/2014/main" val="2904907447"/>
                    </a:ext>
                  </a:extLst>
                </a:gridCol>
                <a:gridCol w="4260683">
                  <a:extLst>
                    <a:ext uri="{9D8B030D-6E8A-4147-A177-3AD203B41FA5}">
                      <a16:colId xmlns:a16="http://schemas.microsoft.com/office/drawing/2014/main" val="3321411109"/>
                    </a:ext>
                  </a:extLst>
                </a:gridCol>
              </a:tblGrid>
              <a:tr h="0">
                <a:tc>
                  <a:txBody>
                    <a:bodyPr/>
                    <a:lstStyle/>
                    <a:p>
                      <a:pPr algn="l">
                        <a:buNone/>
                      </a:pPr>
                      <a:r>
                        <a:rPr lang="zh-CN" altLang="en-US" sz="1600" dirty="0">
                          <a:solidFill>
                            <a:schemeClr val="bg1"/>
                          </a:solidFill>
                        </a:rPr>
                        <a:t>方法</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a:solidFill>
                            <a:schemeClr val="bg1"/>
                          </a:solidFill>
                        </a:rPr>
                        <a:t>Waterfall Model</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buNone/>
                      </a:pPr>
                      <a:r>
                        <a:rPr lang="en-US" altLang="zh-CN" sz="1600" dirty="0">
                          <a:solidFill>
                            <a:schemeClr val="bg1"/>
                          </a:solidFill>
                        </a:rPr>
                        <a:t>V Model</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188049931"/>
                  </a:ext>
                </a:extLst>
              </a:tr>
              <a:tr h="0">
                <a:tc>
                  <a:txBody>
                    <a:bodyPr/>
                    <a:lstStyle/>
                    <a:p>
                      <a:pPr algn="l">
                        <a:buNone/>
                      </a:pPr>
                      <a:r>
                        <a:rPr lang="zh-CN" altLang="en-US" sz="1600" dirty="0">
                          <a:solidFill>
                            <a:schemeClr val="tx1"/>
                          </a:solidFill>
                        </a:rPr>
                        <a:t>测试目的</a:t>
                      </a:r>
                      <a:endParaRPr lang="en-US" altLang="zh-CN" sz="16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dirty="0">
                          <a:solidFill>
                            <a:schemeClr val="tx1"/>
                          </a:solidFill>
                        </a:rPr>
                        <a:t>检错</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tx1"/>
                          </a:solidFill>
                        </a:rPr>
                        <a:t>验证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59572773"/>
                  </a:ext>
                </a:extLst>
              </a:tr>
              <a:tr h="0">
                <a:tc>
                  <a:txBody>
                    <a:bodyPr/>
                    <a:lstStyle/>
                    <a:p>
                      <a:r>
                        <a:rPr lang="zh-CN" altLang="en-US" sz="1600">
                          <a:solidFill>
                            <a:schemeClr val="tx1"/>
                          </a:solidFill>
                        </a:rPr>
                        <a:t>测试计划</a:t>
                      </a:r>
                      <a:endParaRPr lang="en-US" altLang="zh-CN" sz="160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dirty="0">
                          <a:solidFill>
                            <a:schemeClr val="tx1"/>
                          </a:solidFill>
                        </a:rPr>
                        <a:t>最后</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dirty="0">
                          <a:solidFill>
                            <a:schemeClr val="tx1"/>
                          </a:solidFill>
                        </a:rPr>
                        <a:t>同时</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0850864"/>
                  </a:ext>
                </a:extLst>
              </a:tr>
              <a:tr h="0">
                <a:tc>
                  <a:txBody>
                    <a:bodyPr/>
                    <a:lstStyle/>
                    <a:p>
                      <a:r>
                        <a:rPr lang="zh-CN" altLang="en-US" sz="1600">
                          <a:solidFill>
                            <a:schemeClr val="tx1"/>
                          </a:solidFill>
                        </a:rPr>
                        <a:t>测试执行</a:t>
                      </a:r>
                      <a:endParaRPr lang="en-US" altLang="zh-CN" sz="160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tx1"/>
                          </a:solidFill>
                        </a:rPr>
                        <a:t>最后</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dirty="0">
                          <a:solidFill>
                            <a:schemeClr val="tx1"/>
                          </a:solidFill>
                        </a:rPr>
                        <a:t>先后</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8044648"/>
                  </a:ext>
                </a:extLst>
              </a:tr>
            </a:tbl>
          </a:graphicData>
        </a:graphic>
      </p:graphicFrame>
    </p:spTree>
    <p:extLst>
      <p:ext uri="{BB962C8B-B14F-4D97-AF65-F5344CB8AC3E}">
        <p14:creationId xmlns:p14="http://schemas.microsoft.com/office/powerpoint/2010/main" val="393882334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6774DB-C436-60D8-D2B9-02B661ACD5B9}"/>
              </a:ext>
            </a:extLst>
          </p:cNvPr>
          <p:cNvSpPr>
            <a:spLocks noGrp="1"/>
          </p:cNvSpPr>
          <p:nvPr>
            <p:ph type="title"/>
          </p:nvPr>
        </p:nvSpPr>
        <p:spPr>
          <a:xfrm>
            <a:off x="792000" y="360000"/>
            <a:ext cx="6375921" cy="429413"/>
          </a:xfrm>
        </p:spPr>
        <p:txBody>
          <a:bodyPr>
            <a:normAutofit/>
          </a:bodyPr>
          <a:lstStyle/>
          <a:p>
            <a:r>
              <a:rPr lang="en-US" altLang="zh-CN"/>
              <a:t>2.5.2 </a:t>
            </a:r>
            <a:r>
              <a:rPr lang="zh-CN" altLang="en-US"/>
              <a:t>迭代型</a:t>
            </a:r>
          </a:p>
        </p:txBody>
      </p:sp>
      <p:sp>
        <p:nvSpPr>
          <p:cNvPr id="7" name="内容占位符 6">
            <a:extLst>
              <a:ext uri="{FF2B5EF4-FFF2-40B4-BE49-F238E27FC236}">
                <a16:creationId xmlns:a16="http://schemas.microsoft.com/office/drawing/2014/main" id="{9CA8D7B0-A6AA-3E98-14E8-28EFF1E23145}"/>
              </a:ext>
            </a:extLst>
          </p:cNvPr>
          <p:cNvSpPr>
            <a:spLocks noGrp="1"/>
          </p:cNvSpPr>
          <p:nvPr>
            <p:ph idx="1"/>
          </p:nvPr>
        </p:nvSpPr>
        <p:spPr>
          <a:xfrm>
            <a:off x="696000" y="864000"/>
            <a:ext cx="10800000" cy="5400000"/>
          </a:xfrm>
        </p:spPr>
        <p:txBody>
          <a:bodyPr/>
          <a:lstStyle/>
          <a:p>
            <a:r>
              <a:rPr lang="zh-CN" altLang="en-US"/>
              <a:t>通过迭代向基础软件产品中添加后续功能，直到最终系统完成</a:t>
            </a:r>
            <a:endParaRPr lang="en-US" altLang="zh-CN"/>
          </a:p>
          <a:p>
            <a:pPr lvl="1"/>
            <a:r>
              <a:rPr lang="zh-CN" altLang="en-US"/>
              <a:t>产品通过循环逐步 </a:t>
            </a:r>
            <a:r>
              <a:rPr lang="en-US" altLang="zh-CN"/>
              <a:t>refinement</a:t>
            </a:r>
          </a:p>
          <a:p>
            <a:pPr lvl="1"/>
            <a:r>
              <a:rPr lang="zh-CN" altLang="en-US"/>
              <a:t>每次迭代改进设计或理解</a:t>
            </a:r>
            <a:endParaRPr lang="en-US" altLang="zh-CN"/>
          </a:p>
          <a:p>
            <a:pPr lvl="1"/>
            <a:r>
              <a:rPr lang="en-US" altLang="zh-CN"/>
              <a:t>Product refined over cycles; each iteration improves design/understanding</a:t>
            </a:r>
          </a:p>
          <a:p>
            <a:r>
              <a:rPr lang="zh-CN" altLang="en-US"/>
              <a:t>不追求一次性做对，而是通过多次循环（迭代）不断优化设计方案或对问题的理解</a:t>
            </a:r>
            <a:endParaRPr lang="en-US" altLang="zh-CN"/>
          </a:p>
          <a:p>
            <a:pPr lvl="1"/>
            <a:r>
              <a:rPr lang="zh-CN" altLang="en-US"/>
              <a:t>也被称为循环模型</a:t>
            </a:r>
          </a:p>
          <a:p>
            <a:r>
              <a:rPr lang="zh-CN" altLang="en-US"/>
              <a:t>典型例子</a:t>
            </a:r>
            <a:endParaRPr lang="en-US" altLang="zh-CN"/>
          </a:p>
          <a:p>
            <a:pPr lvl="1"/>
            <a:r>
              <a:rPr lang="zh-CN" altLang="en-US"/>
              <a:t>科研实验</a:t>
            </a:r>
            <a:endParaRPr lang="en-US" altLang="zh-CN"/>
          </a:p>
          <a:p>
            <a:pPr lvl="1"/>
            <a:r>
              <a:rPr lang="zh-CN" altLang="en-US"/>
              <a:t>算法优化</a:t>
            </a:r>
            <a:endParaRPr lang="en-US" altLang="zh-CN"/>
          </a:p>
          <a:p>
            <a:pPr lvl="1"/>
            <a:r>
              <a:rPr lang="en-US" altLang="zh-CN"/>
              <a:t>UI/UX </a:t>
            </a:r>
            <a:r>
              <a:rPr lang="zh-CN" altLang="en-US"/>
              <a:t>原型测试</a:t>
            </a:r>
          </a:p>
          <a:p>
            <a:r>
              <a:rPr lang="zh-CN" altLang="en-US"/>
              <a:t>局限</a:t>
            </a:r>
            <a:endParaRPr lang="en-US" altLang="zh-CN"/>
          </a:p>
          <a:p>
            <a:pPr lvl="1"/>
            <a:r>
              <a:rPr lang="zh-CN" altLang="en-US"/>
              <a:t>虽然内部在进化，但外部用户看不到价值，缺乏反馈闭环</a:t>
            </a:r>
          </a:p>
          <a:p>
            <a:endParaRPr lang="zh-CN" altLang="en-US"/>
          </a:p>
        </p:txBody>
      </p:sp>
      <p:sp>
        <p:nvSpPr>
          <p:cNvPr id="4" name="文本占位符 3">
            <a:extLst>
              <a:ext uri="{FF2B5EF4-FFF2-40B4-BE49-F238E27FC236}">
                <a16:creationId xmlns:a16="http://schemas.microsoft.com/office/drawing/2014/main" id="{E45B5FD3-73D0-0EAC-AD54-DE761675CF3D}"/>
              </a:ext>
            </a:extLst>
          </p:cNvPr>
          <p:cNvSpPr>
            <a:spLocks noGrp="1"/>
          </p:cNvSpPr>
          <p:nvPr>
            <p:ph type="body" sz="quarter" idx="10"/>
          </p:nvPr>
        </p:nvSpPr>
        <p:spPr>
          <a:xfrm>
            <a:off x="7071919" y="448519"/>
            <a:ext cx="4424080" cy="338554"/>
          </a:xfrm>
        </p:spPr>
        <p:txBody>
          <a:bodyPr/>
          <a:lstStyle/>
          <a:p>
            <a:r>
              <a:rPr lang="en-US" altLang="zh-CN"/>
              <a:t>Iterative Mode</a:t>
            </a:r>
          </a:p>
        </p:txBody>
      </p:sp>
    </p:spTree>
    <p:extLst>
      <p:ext uri="{BB962C8B-B14F-4D97-AF65-F5344CB8AC3E}">
        <p14:creationId xmlns:p14="http://schemas.microsoft.com/office/powerpoint/2010/main" val="260778009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a:extLst>
              <a:ext uri="{FF2B5EF4-FFF2-40B4-BE49-F238E27FC236}">
                <a16:creationId xmlns:a16="http://schemas.microsoft.com/office/drawing/2014/main" id="{BCEB39AF-33DB-6B02-D2C6-3C6416E65701}"/>
              </a:ext>
            </a:extLst>
          </p:cNvPr>
          <p:cNvGrpSpPr/>
          <p:nvPr/>
        </p:nvGrpSpPr>
        <p:grpSpPr>
          <a:xfrm>
            <a:off x="1267854" y="1048092"/>
            <a:ext cx="1633169" cy="435622"/>
            <a:chOff x="599260" y="949770"/>
            <a:chExt cx="1633169" cy="435622"/>
          </a:xfrm>
        </p:grpSpPr>
        <p:sp>
          <p:nvSpPr>
            <p:cNvPr id="5" name="矩形: 圆角 4">
              <a:extLst>
                <a:ext uri="{FF2B5EF4-FFF2-40B4-BE49-F238E27FC236}">
                  <a16:creationId xmlns:a16="http://schemas.microsoft.com/office/drawing/2014/main" id="{2A3C4448-EDEA-E7B4-B074-4010A296C9D1}"/>
                </a:ext>
              </a:extLst>
            </p:cNvPr>
            <p:cNvSpPr/>
            <p:nvPr/>
          </p:nvSpPr>
          <p:spPr>
            <a:xfrm>
              <a:off x="599260" y="949770"/>
              <a:ext cx="1633169" cy="435622"/>
            </a:xfrm>
            <a:prstGeom prst="roundRect">
              <a:avLst>
                <a:gd name="adj" fmla="val 10000"/>
              </a:avLst>
            </a:prstGeom>
            <a:ln>
              <a:noFill/>
            </a:ln>
          </p:spPr>
          <p:style>
            <a:lnRef idx="2">
              <a:schemeClr val="lt1">
                <a:hueOff val="0"/>
                <a:satOff val="0"/>
                <a:lumOff val="0"/>
                <a:alphaOff val="0"/>
              </a:schemeClr>
            </a:lnRef>
            <a:fillRef idx="1">
              <a:schemeClr val="accent5">
                <a:hueOff val="-1689636"/>
                <a:satOff val="-4355"/>
                <a:lumOff val="-2941"/>
                <a:alphaOff val="0"/>
              </a:schemeClr>
            </a:fillRef>
            <a:effectRef idx="0">
              <a:schemeClr val="accent5">
                <a:hueOff val="-1689636"/>
                <a:satOff val="-4355"/>
                <a:lumOff val="-2941"/>
                <a:alphaOff val="0"/>
              </a:schemeClr>
            </a:effectRef>
            <a:fontRef idx="minor">
              <a:schemeClr val="lt1"/>
            </a:fontRef>
          </p:style>
          <p:txBody>
            <a:bodyPr/>
            <a:lstStyle/>
            <a:p>
              <a:endParaRPr lang="zh-CN" altLang="en-US"/>
            </a:p>
          </p:txBody>
        </p:sp>
        <p:sp>
          <p:nvSpPr>
            <p:cNvPr id="6" name="矩形: 圆角 4">
              <a:extLst>
                <a:ext uri="{FF2B5EF4-FFF2-40B4-BE49-F238E27FC236}">
                  <a16:creationId xmlns:a16="http://schemas.microsoft.com/office/drawing/2014/main" id="{3CC5BF9F-B862-3BE2-5785-0308550D043A}"/>
                </a:ext>
              </a:extLst>
            </p:cNvPr>
            <p:cNvSpPr txBox="1"/>
            <p:nvPr/>
          </p:nvSpPr>
          <p:spPr>
            <a:xfrm>
              <a:off x="612019" y="962529"/>
              <a:ext cx="1607651" cy="410104"/>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altLang="zh-CN" sz="1600" kern="1200"/>
                <a:t>Initialization</a:t>
              </a:r>
              <a:endParaRPr lang="zh-CN" altLang="en-US" sz="1600" kern="1200"/>
            </a:p>
          </p:txBody>
        </p:sp>
      </p:grpSp>
      <p:grpSp>
        <p:nvGrpSpPr>
          <p:cNvPr id="14" name="组合 13">
            <a:extLst>
              <a:ext uri="{FF2B5EF4-FFF2-40B4-BE49-F238E27FC236}">
                <a16:creationId xmlns:a16="http://schemas.microsoft.com/office/drawing/2014/main" id="{BADCC926-615D-2FE0-A182-03C00A7F981D}"/>
              </a:ext>
            </a:extLst>
          </p:cNvPr>
          <p:cNvGrpSpPr/>
          <p:nvPr/>
        </p:nvGrpSpPr>
        <p:grpSpPr>
          <a:xfrm>
            <a:off x="2231417" y="2369128"/>
            <a:ext cx="1633169" cy="435622"/>
            <a:chOff x="1552991" y="2276705"/>
            <a:chExt cx="1633169" cy="435622"/>
          </a:xfrm>
        </p:grpSpPr>
        <p:sp>
          <p:nvSpPr>
            <p:cNvPr id="9" name="矩形: 圆角 8">
              <a:extLst>
                <a:ext uri="{FF2B5EF4-FFF2-40B4-BE49-F238E27FC236}">
                  <a16:creationId xmlns:a16="http://schemas.microsoft.com/office/drawing/2014/main" id="{B82AB9CB-7D78-50C1-4220-B3CCDC7D0D09}"/>
                </a:ext>
              </a:extLst>
            </p:cNvPr>
            <p:cNvSpPr/>
            <p:nvPr/>
          </p:nvSpPr>
          <p:spPr>
            <a:xfrm>
              <a:off x="1552991" y="2276705"/>
              <a:ext cx="1633169" cy="435622"/>
            </a:xfrm>
            <a:prstGeom prst="roundRect">
              <a:avLst>
                <a:gd name="adj" fmla="val 10000"/>
              </a:avLst>
            </a:prstGeom>
            <a:ln>
              <a:noFill/>
            </a:ln>
          </p:spPr>
          <p:style>
            <a:lnRef idx="2">
              <a:schemeClr val="lt1">
                <a:hueOff val="0"/>
                <a:satOff val="0"/>
                <a:lumOff val="0"/>
                <a:alphaOff val="0"/>
              </a:schemeClr>
            </a:lnRef>
            <a:fillRef idx="1">
              <a:schemeClr val="accent5">
                <a:hueOff val="-6758543"/>
                <a:satOff val="-17419"/>
                <a:lumOff val="-11765"/>
                <a:alphaOff val="0"/>
              </a:schemeClr>
            </a:fillRef>
            <a:effectRef idx="0">
              <a:schemeClr val="accent5">
                <a:hueOff val="-6758543"/>
                <a:satOff val="-17419"/>
                <a:lumOff val="-11765"/>
                <a:alphaOff val="0"/>
              </a:schemeClr>
            </a:effectRef>
            <a:fontRef idx="minor">
              <a:schemeClr val="lt1"/>
            </a:fontRef>
          </p:style>
          <p:txBody>
            <a:bodyPr/>
            <a:lstStyle/>
            <a:p>
              <a:endParaRPr lang="zh-CN" altLang="en-US"/>
            </a:p>
          </p:txBody>
        </p:sp>
        <p:sp>
          <p:nvSpPr>
            <p:cNvPr id="10" name="矩形: 圆角 4">
              <a:extLst>
                <a:ext uri="{FF2B5EF4-FFF2-40B4-BE49-F238E27FC236}">
                  <a16:creationId xmlns:a16="http://schemas.microsoft.com/office/drawing/2014/main" id="{E3BE891A-B46E-EE90-6E0A-EFD7EC5DA5D4}"/>
                </a:ext>
              </a:extLst>
            </p:cNvPr>
            <p:cNvSpPr txBox="1"/>
            <p:nvPr/>
          </p:nvSpPr>
          <p:spPr>
            <a:xfrm>
              <a:off x="1565750" y="2289464"/>
              <a:ext cx="1607651" cy="410104"/>
            </a:xfrm>
            <a:prstGeom prst="rect">
              <a:avLst/>
            </a:prstGeom>
            <a:ln>
              <a:noFill/>
            </a:ln>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altLang="zh-CN" sz="1600" kern="1200"/>
                <a:t>Planning</a:t>
              </a:r>
              <a:endParaRPr lang="zh-CN" altLang="en-US" sz="1600" kern="1200"/>
            </a:p>
          </p:txBody>
        </p:sp>
      </p:grpSp>
      <p:grpSp>
        <p:nvGrpSpPr>
          <p:cNvPr id="16" name="组合 15">
            <a:extLst>
              <a:ext uri="{FF2B5EF4-FFF2-40B4-BE49-F238E27FC236}">
                <a16:creationId xmlns:a16="http://schemas.microsoft.com/office/drawing/2014/main" id="{F3991402-E0E3-632D-291C-5D5431E68515}"/>
              </a:ext>
            </a:extLst>
          </p:cNvPr>
          <p:cNvGrpSpPr/>
          <p:nvPr/>
        </p:nvGrpSpPr>
        <p:grpSpPr>
          <a:xfrm>
            <a:off x="4251687" y="2369128"/>
            <a:ext cx="3053681" cy="435622"/>
            <a:chOff x="1552991" y="2276705"/>
            <a:chExt cx="1633169" cy="435622"/>
          </a:xfrm>
        </p:grpSpPr>
        <p:sp>
          <p:nvSpPr>
            <p:cNvPr id="17" name="矩形: 圆角 16">
              <a:extLst>
                <a:ext uri="{FF2B5EF4-FFF2-40B4-BE49-F238E27FC236}">
                  <a16:creationId xmlns:a16="http://schemas.microsoft.com/office/drawing/2014/main" id="{ECEB0762-CB44-1912-BA7F-E375C89264E6}"/>
                </a:ext>
              </a:extLst>
            </p:cNvPr>
            <p:cNvSpPr/>
            <p:nvPr/>
          </p:nvSpPr>
          <p:spPr>
            <a:xfrm>
              <a:off x="1552991" y="2276705"/>
              <a:ext cx="1633169" cy="435622"/>
            </a:xfrm>
            <a:prstGeom prst="roundRect">
              <a:avLst>
                <a:gd name="adj" fmla="val 10000"/>
              </a:avLst>
            </a:prstGeom>
            <a:ln>
              <a:noFill/>
            </a:ln>
          </p:spPr>
          <p:style>
            <a:lnRef idx="2">
              <a:schemeClr val="lt1">
                <a:hueOff val="0"/>
                <a:satOff val="0"/>
                <a:lumOff val="0"/>
                <a:alphaOff val="0"/>
              </a:schemeClr>
            </a:lnRef>
            <a:fillRef idx="1">
              <a:schemeClr val="accent5">
                <a:hueOff val="-6758543"/>
                <a:satOff val="-17419"/>
                <a:lumOff val="-11765"/>
                <a:alphaOff val="0"/>
              </a:schemeClr>
            </a:fillRef>
            <a:effectRef idx="0">
              <a:schemeClr val="accent5">
                <a:hueOff val="-6758543"/>
                <a:satOff val="-17419"/>
                <a:lumOff val="-11765"/>
                <a:alphaOff val="0"/>
              </a:schemeClr>
            </a:effectRef>
            <a:fontRef idx="minor">
              <a:schemeClr val="lt1"/>
            </a:fontRef>
          </p:style>
          <p:txBody>
            <a:bodyPr/>
            <a:lstStyle/>
            <a:p>
              <a:endParaRPr lang="zh-CN" altLang="en-US"/>
            </a:p>
          </p:txBody>
        </p:sp>
        <p:sp>
          <p:nvSpPr>
            <p:cNvPr id="18" name="矩形: 圆角 4">
              <a:extLst>
                <a:ext uri="{FF2B5EF4-FFF2-40B4-BE49-F238E27FC236}">
                  <a16:creationId xmlns:a16="http://schemas.microsoft.com/office/drawing/2014/main" id="{5559095C-6FC3-A80C-17C7-18AF7D9563F6}"/>
                </a:ext>
              </a:extLst>
            </p:cNvPr>
            <p:cNvSpPr txBox="1"/>
            <p:nvPr/>
          </p:nvSpPr>
          <p:spPr>
            <a:xfrm>
              <a:off x="1565750" y="2289464"/>
              <a:ext cx="1607651" cy="410104"/>
            </a:xfrm>
            <a:prstGeom prst="rect">
              <a:avLst/>
            </a:prstGeom>
            <a:ln>
              <a:noFill/>
            </a:ln>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altLang="zh-CN" sz="1600" kern="1200"/>
                <a:t>Requirement Gathering</a:t>
              </a:r>
              <a:endParaRPr lang="zh-CN" altLang="en-US" sz="1600" kern="1200"/>
            </a:p>
          </p:txBody>
        </p:sp>
      </p:grpSp>
      <p:grpSp>
        <p:nvGrpSpPr>
          <p:cNvPr id="19" name="组合 18">
            <a:extLst>
              <a:ext uri="{FF2B5EF4-FFF2-40B4-BE49-F238E27FC236}">
                <a16:creationId xmlns:a16="http://schemas.microsoft.com/office/drawing/2014/main" id="{7B762D4B-0877-4378-632C-4C3ACEA92CD5}"/>
              </a:ext>
            </a:extLst>
          </p:cNvPr>
          <p:cNvGrpSpPr/>
          <p:nvPr/>
        </p:nvGrpSpPr>
        <p:grpSpPr>
          <a:xfrm>
            <a:off x="7815157" y="2369128"/>
            <a:ext cx="1633169" cy="435622"/>
            <a:chOff x="1552991" y="2276705"/>
            <a:chExt cx="1633169" cy="435622"/>
          </a:xfrm>
        </p:grpSpPr>
        <p:sp>
          <p:nvSpPr>
            <p:cNvPr id="20" name="矩形: 圆角 19">
              <a:extLst>
                <a:ext uri="{FF2B5EF4-FFF2-40B4-BE49-F238E27FC236}">
                  <a16:creationId xmlns:a16="http://schemas.microsoft.com/office/drawing/2014/main" id="{8F3F1F20-A525-7A1E-07FA-0C212159AD2C}"/>
                </a:ext>
              </a:extLst>
            </p:cNvPr>
            <p:cNvSpPr/>
            <p:nvPr/>
          </p:nvSpPr>
          <p:spPr>
            <a:xfrm>
              <a:off x="1552991" y="2276705"/>
              <a:ext cx="1633169" cy="435622"/>
            </a:xfrm>
            <a:prstGeom prst="roundRect">
              <a:avLst>
                <a:gd name="adj" fmla="val 10000"/>
              </a:avLst>
            </a:prstGeom>
            <a:ln>
              <a:noFill/>
            </a:ln>
          </p:spPr>
          <p:style>
            <a:lnRef idx="2">
              <a:schemeClr val="lt1">
                <a:hueOff val="0"/>
                <a:satOff val="0"/>
                <a:lumOff val="0"/>
                <a:alphaOff val="0"/>
              </a:schemeClr>
            </a:lnRef>
            <a:fillRef idx="1">
              <a:schemeClr val="accent5">
                <a:hueOff val="-6758543"/>
                <a:satOff val="-17419"/>
                <a:lumOff val="-11765"/>
                <a:alphaOff val="0"/>
              </a:schemeClr>
            </a:fillRef>
            <a:effectRef idx="0">
              <a:schemeClr val="accent5">
                <a:hueOff val="-6758543"/>
                <a:satOff val="-17419"/>
                <a:lumOff val="-11765"/>
                <a:alphaOff val="0"/>
              </a:schemeClr>
            </a:effectRef>
            <a:fontRef idx="minor">
              <a:schemeClr val="lt1"/>
            </a:fontRef>
          </p:style>
          <p:txBody>
            <a:bodyPr/>
            <a:lstStyle/>
            <a:p>
              <a:endParaRPr lang="zh-CN" altLang="en-US"/>
            </a:p>
          </p:txBody>
        </p:sp>
        <p:sp>
          <p:nvSpPr>
            <p:cNvPr id="21" name="矩形: 圆角 4">
              <a:extLst>
                <a:ext uri="{FF2B5EF4-FFF2-40B4-BE49-F238E27FC236}">
                  <a16:creationId xmlns:a16="http://schemas.microsoft.com/office/drawing/2014/main" id="{01DBE11A-C38F-77AC-E93F-FE9DA361CBDF}"/>
                </a:ext>
              </a:extLst>
            </p:cNvPr>
            <p:cNvSpPr txBox="1"/>
            <p:nvPr/>
          </p:nvSpPr>
          <p:spPr>
            <a:xfrm>
              <a:off x="1565750" y="2289464"/>
              <a:ext cx="1607651" cy="410104"/>
            </a:xfrm>
            <a:prstGeom prst="rect">
              <a:avLst/>
            </a:prstGeom>
            <a:ln>
              <a:noFill/>
            </a:ln>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altLang="zh-CN" sz="1600" kern="1200"/>
                <a:t>Design</a:t>
              </a:r>
              <a:endParaRPr lang="zh-CN" altLang="en-US" sz="1600" kern="1200"/>
            </a:p>
          </p:txBody>
        </p:sp>
      </p:grpSp>
      <p:grpSp>
        <p:nvGrpSpPr>
          <p:cNvPr id="22" name="组合 21">
            <a:extLst>
              <a:ext uri="{FF2B5EF4-FFF2-40B4-BE49-F238E27FC236}">
                <a16:creationId xmlns:a16="http://schemas.microsoft.com/office/drawing/2014/main" id="{CE5CBD48-C08B-C7E5-91BB-0BB9A58AC42A}"/>
              </a:ext>
            </a:extLst>
          </p:cNvPr>
          <p:cNvGrpSpPr/>
          <p:nvPr/>
        </p:nvGrpSpPr>
        <p:grpSpPr>
          <a:xfrm>
            <a:off x="2231417" y="3730612"/>
            <a:ext cx="1633169" cy="435622"/>
            <a:chOff x="1552991" y="2276705"/>
            <a:chExt cx="1633169" cy="435622"/>
          </a:xfrm>
        </p:grpSpPr>
        <p:sp>
          <p:nvSpPr>
            <p:cNvPr id="23" name="矩形: 圆角 22">
              <a:extLst>
                <a:ext uri="{FF2B5EF4-FFF2-40B4-BE49-F238E27FC236}">
                  <a16:creationId xmlns:a16="http://schemas.microsoft.com/office/drawing/2014/main" id="{170FAE65-EC78-6B28-E68C-F6C24C16CEB4}"/>
                </a:ext>
              </a:extLst>
            </p:cNvPr>
            <p:cNvSpPr/>
            <p:nvPr/>
          </p:nvSpPr>
          <p:spPr>
            <a:xfrm>
              <a:off x="1552991" y="2276705"/>
              <a:ext cx="1633169" cy="435622"/>
            </a:xfrm>
            <a:prstGeom prst="roundRect">
              <a:avLst>
                <a:gd name="adj" fmla="val 10000"/>
              </a:avLst>
            </a:prstGeom>
            <a:ln>
              <a:noFill/>
            </a:ln>
          </p:spPr>
          <p:style>
            <a:lnRef idx="2">
              <a:schemeClr val="lt1">
                <a:hueOff val="0"/>
                <a:satOff val="0"/>
                <a:lumOff val="0"/>
                <a:alphaOff val="0"/>
              </a:schemeClr>
            </a:lnRef>
            <a:fillRef idx="1">
              <a:schemeClr val="accent5">
                <a:hueOff val="-6758543"/>
                <a:satOff val="-17419"/>
                <a:lumOff val="-11765"/>
                <a:alphaOff val="0"/>
              </a:schemeClr>
            </a:fillRef>
            <a:effectRef idx="0">
              <a:schemeClr val="accent5">
                <a:hueOff val="-6758543"/>
                <a:satOff val="-17419"/>
                <a:lumOff val="-11765"/>
                <a:alphaOff val="0"/>
              </a:schemeClr>
            </a:effectRef>
            <a:fontRef idx="minor">
              <a:schemeClr val="lt1"/>
            </a:fontRef>
          </p:style>
          <p:txBody>
            <a:bodyPr/>
            <a:lstStyle/>
            <a:p>
              <a:endParaRPr lang="zh-CN" altLang="en-US"/>
            </a:p>
          </p:txBody>
        </p:sp>
        <p:sp>
          <p:nvSpPr>
            <p:cNvPr id="24" name="矩形: 圆角 4">
              <a:extLst>
                <a:ext uri="{FF2B5EF4-FFF2-40B4-BE49-F238E27FC236}">
                  <a16:creationId xmlns:a16="http://schemas.microsoft.com/office/drawing/2014/main" id="{E8A84556-1BC7-A72B-FEA1-40F0C9178666}"/>
                </a:ext>
              </a:extLst>
            </p:cNvPr>
            <p:cNvSpPr txBox="1"/>
            <p:nvPr/>
          </p:nvSpPr>
          <p:spPr>
            <a:xfrm>
              <a:off x="1565750" y="2289464"/>
              <a:ext cx="1607651" cy="410104"/>
            </a:xfrm>
            <a:prstGeom prst="rect">
              <a:avLst/>
            </a:prstGeom>
            <a:ln>
              <a:noFill/>
            </a:ln>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altLang="zh-CN" sz="1600" kern="1200"/>
                <a:t>Evaluation</a:t>
              </a:r>
              <a:endParaRPr lang="zh-CN" altLang="en-US" sz="1600" kern="1200"/>
            </a:p>
          </p:txBody>
        </p:sp>
      </p:grpSp>
      <p:grpSp>
        <p:nvGrpSpPr>
          <p:cNvPr id="25" name="组合 24">
            <a:extLst>
              <a:ext uri="{FF2B5EF4-FFF2-40B4-BE49-F238E27FC236}">
                <a16:creationId xmlns:a16="http://schemas.microsoft.com/office/drawing/2014/main" id="{8AD77840-8837-BE62-AAA9-D98BC5AB4EB3}"/>
              </a:ext>
            </a:extLst>
          </p:cNvPr>
          <p:cNvGrpSpPr/>
          <p:nvPr/>
        </p:nvGrpSpPr>
        <p:grpSpPr>
          <a:xfrm>
            <a:off x="4973169" y="3730612"/>
            <a:ext cx="1633169" cy="435622"/>
            <a:chOff x="1552991" y="2276705"/>
            <a:chExt cx="1633169" cy="435622"/>
          </a:xfrm>
        </p:grpSpPr>
        <p:sp>
          <p:nvSpPr>
            <p:cNvPr id="26" name="矩形: 圆角 25">
              <a:extLst>
                <a:ext uri="{FF2B5EF4-FFF2-40B4-BE49-F238E27FC236}">
                  <a16:creationId xmlns:a16="http://schemas.microsoft.com/office/drawing/2014/main" id="{9E66B27E-2967-495E-C889-BF50FDAB2098}"/>
                </a:ext>
              </a:extLst>
            </p:cNvPr>
            <p:cNvSpPr/>
            <p:nvPr/>
          </p:nvSpPr>
          <p:spPr>
            <a:xfrm>
              <a:off x="1552991" y="2276705"/>
              <a:ext cx="1633169" cy="435622"/>
            </a:xfrm>
            <a:prstGeom prst="roundRect">
              <a:avLst>
                <a:gd name="adj" fmla="val 10000"/>
              </a:avLst>
            </a:prstGeom>
            <a:ln>
              <a:noFill/>
            </a:ln>
          </p:spPr>
          <p:style>
            <a:lnRef idx="2">
              <a:schemeClr val="lt1">
                <a:hueOff val="0"/>
                <a:satOff val="0"/>
                <a:lumOff val="0"/>
                <a:alphaOff val="0"/>
              </a:schemeClr>
            </a:lnRef>
            <a:fillRef idx="1">
              <a:schemeClr val="accent5">
                <a:hueOff val="-6758543"/>
                <a:satOff val="-17419"/>
                <a:lumOff val="-11765"/>
                <a:alphaOff val="0"/>
              </a:schemeClr>
            </a:fillRef>
            <a:effectRef idx="0">
              <a:schemeClr val="accent5">
                <a:hueOff val="-6758543"/>
                <a:satOff val="-17419"/>
                <a:lumOff val="-11765"/>
                <a:alphaOff val="0"/>
              </a:schemeClr>
            </a:effectRef>
            <a:fontRef idx="minor">
              <a:schemeClr val="lt1"/>
            </a:fontRef>
          </p:style>
          <p:txBody>
            <a:bodyPr/>
            <a:lstStyle/>
            <a:p>
              <a:endParaRPr lang="zh-CN" altLang="en-US"/>
            </a:p>
          </p:txBody>
        </p:sp>
        <p:sp>
          <p:nvSpPr>
            <p:cNvPr id="27" name="矩形: 圆角 4">
              <a:extLst>
                <a:ext uri="{FF2B5EF4-FFF2-40B4-BE49-F238E27FC236}">
                  <a16:creationId xmlns:a16="http://schemas.microsoft.com/office/drawing/2014/main" id="{926C7503-7209-37EC-1FAF-70F205D12883}"/>
                </a:ext>
              </a:extLst>
            </p:cNvPr>
            <p:cNvSpPr txBox="1"/>
            <p:nvPr/>
          </p:nvSpPr>
          <p:spPr>
            <a:xfrm>
              <a:off x="1565750" y="2289464"/>
              <a:ext cx="1607651" cy="410104"/>
            </a:xfrm>
            <a:prstGeom prst="rect">
              <a:avLst/>
            </a:prstGeom>
            <a:ln>
              <a:noFill/>
            </a:ln>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altLang="zh-CN" sz="1600" kern="1200"/>
                <a:t>Planning</a:t>
              </a:r>
              <a:endParaRPr lang="zh-CN" altLang="en-US" sz="1600" kern="1200"/>
            </a:p>
          </p:txBody>
        </p:sp>
      </p:grpSp>
      <p:grpSp>
        <p:nvGrpSpPr>
          <p:cNvPr id="28" name="组合 27">
            <a:extLst>
              <a:ext uri="{FF2B5EF4-FFF2-40B4-BE49-F238E27FC236}">
                <a16:creationId xmlns:a16="http://schemas.microsoft.com/office/drawing/2014/main" id="{5346724F-F083-3DFF-37CF-1D0D8C890AFC}"/>
              </a:ext>
            </a:extLst>
          </p:cNvPr>
          <p:cNvGrpSpPr/>
          <p:nvPr/>
        </p:nvGrpSpPr>
        <p:grpSpPr>
          <a:xfrm>
            <a:off x="7815157" y="3730612"/>
            <a:ext cx="1633169" cy="435622"/>
            <a:chOff x="1552991" y="2276705"/>
            <a:chExt cx="1633169" cy="435622"/>
          </a:xfrm>
        </p:grpSpPr>
        <p:sp>
          <p:nvSpPr>
            <p:cNvPr id="29" name="矩形: 圆角 28">
              <a:extLst>
                <a:ext uri="{FF2B5EF4-FFF2-40B4-BE49-F238E27FC236}">
                  <a16:creationId xmlns:a16="http://schemas.microsoft.com/office/drawing/2014/main" id="{2996AF8D-2467-61B4-5220-7B99804915C8}"/>
                </a:ext>
              </a:extLst>
            </p:cNvPr>
            <p:cNvSpPr/>
            <p:nvPr/>
          </p:nvSpPr>
          <p:spPr>
            <a:xfrm>
              <a:off x="1552991" y="2276705"/>
              <a:ext cx="1633169" cy="435622"/>
            </a:xfrm>
            <a:prstGeom prst="roundRect">
              <a:avLst>
                <a:gd name="adj" fmla="val 10000"/>
              </a:avLst>
            </a:prstGeom>
            <a:ln>
              <a:noFill/>
            </a:ln>
          </p:spPr>
          <p:style>
            <a:lnRef idx="2">
              <a:schemeClr val="lt1">
                <a:hueOff val="0"/>
                <a:satOff val="0"/>
                <a:lumOff val="0"/>
                <a:alphaOff val="0"/>
              </a:schemeClr>
            </a:lnRef>
            <a:fillRef idx="1">
              <a:schemeClr val="accent5">
                <a:hueOff val="-6758543"/>
                <a:satOff val="-17419"/>
                <a:lumOff val="-11765"/>
                <a:alphaOff val="0"/>
              </a:schemeClr>
            </a:fillRef>
            <a:effectRef idx="0">
              <a:schemeClr val="accent5">
                <a:hueOff val="-6758543"/>
                <a:satOff val="-17419"/>
                <a:lumOff val="-11765"/>
                <a:alphaOff val="0"/>
              </a:schemeClr>
            </a:effectRef>
            <a:fontRef idx="minor">
              <a:schemeClr val="lt1"/>
            </a:fontRef>
          </p:style>
          <p:txBody>
            <a:bodyPr/>
            <a:lstStyle/>
            <a:p>
              <a:endParaRPr lang="zh-CN" altLang="en-US"/>
            </a:p>
          </p:txBody>
        </p:sp>
        <p:sp>
          <p:nvSpPr>
            <p:cNvPr id="30" name="矩形: 圆角 4">
              <a:extLst>
                <a:ext uri="{FF2B5EF4-FFF2-40B4-BE49-F238E27FC236}">
                  <a16:creationId xmlns:a16="http://schemas.microsoft.com/office/drawing/2014/main" id="{6EDE2DDA-B430-68DD-564B-D89FB53C360C}"/>
                </a:ext>
              </a:extLst>
            </p:cNvPr>
            <p:cNvSpPr txBox="1"/>
            <p:nvPr/>
          </p:nvSpPr>
          <p:spPr>
            <a:xfrm>
              <a:off x="1565750" y="2289464"/>
              <a:ext cx="1607651" cy="410104"/>
            </a:xfrm>
            <a:prstGeom prst="rect">
              <a:avLst/>
            </a:prstGeom>
            <a:ln>
              <a:noFill/>
            </a:ln>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altLang="zh-CN" sz="1600" kern="1200"/>
                <a:t>Coding</a:t>
              </a:r>
              <a:endParaRPr lang="zh-CN" altLang="en-US" sz="1600" kern="1200"/>
            </a:p>
          </p:txBody>
        </p:sp>
      </p:grpSp>
      <p:sp>
        <p:nvSpPr>
          <p:cNvPr id="33" name="矩形: 圆角 4">
            <a:extLst>
              <a:ext uri="{FF2B5EF4-FFF2-40B4-BE49-F238E27FC236}">
                <a16:creationId xmlns:a16="http://schemas.microsoft.com/office/drawing/2014/main" id="{A35D34CE-A768-B21B-48C8-90BD039656A6}"/>
              </a:ext>
            </a:extLst>
          </p:cNvPr>
          <p:cNvSpPr txBox="1"/>
          <p:nvPr/>
        </p:nvSpPr>
        <p:spPr>
          <a:xfrm>
            <a:off x="8877040" y="5009083"/>
            <a:ext cx="1607651" cy="410104"/>
          </a:xfrm>
          <a:prstGeom prst="round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altLang="zh-CN" sz="1600" kern="1200"/>
              <a:t>Deployment</a:t>
            </a:r>
            <a:endParaRPr lang="zh-CN" altLang="en-US" sz="1600" kern="1200"/>
          </a:p>
        </p:txBody>
      </p:sp>
      <p:cxnSp>
        <p:nvCxnSpPr>
          <p:cNvPr id="35" name="连接符: 肘形 34">
            <a:extLst>
              <a:ext uri="{FF2B5EF4-FFF2-40B4-BE49-F238E27FC236}">
                <a16:creationId xmlns:a16="http://schemas.microsoft.com/office/drawing/2014/main" id="{E8BED79B-4269-F78B-2E01-DF2B9035A623}"/>
              </a:ext>
            </a:extLst>
          </p:cNvPr>
          <p:cNvCxnSpPr>
            <a:stCxn id="5" idx="2"/>
            <a:endCxn id="10" idx="1"/>
          </p:cNvCxnSpPr>
          <p:nvPr/>
        </p:nvCxnSpPr>
        <p:spPr>
          <a:xfrm rot="16200000" flipH="1">
            <a:off x="1612695" y="1955457"/>
            <a:ext cx="1103225" cy="159737"/>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1C848473-26C4-0E56-F4FA-4FB6DE03B904}"/>
              </a:ext>
            </a:extLst>
          </p:cNvPr>
          <p:cNvCxnSpPr>
            <a:stCxn id="10" idx="3"/>
            <a:endCxn id="17" idx="1"/>
          </p:cNvCxnSpPr>
          <p:nvPr/>
        </p:nvCxnSpPr>
        <p:spPr>
          <a:xfrm>
            <a:off x="3851827" y="2586939"/>
            <a:ext cx="39986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38997121-D955-C782-02F2-3ACE5532FD8A}"/>
              </a:ext>
            </a:extLst>
          </p:cNvPr>
          <p:cNvCxnSpPr>
            <a:stCxn id="18" idx="3"/>
            <a:endCxn id="20" idx="1"/>
          </p:cNvCxnSpPr>
          <p:nvPr/>
        </p:nvCxnSpPr>
        <p:spPr>
          <a:xfrm>
            <a:off x="7281512" y="2586939"/>
            <a:ext cx="53364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65EB9293-F37C-39FB-99D0-F9BE2027989C}"/>
              </a:ext>
            </a:extLst>
          </p:cNvPr>
          <p:cNvCxnSpPr>
            <a:stCxn id="27" idx="1"/>
            <a:endCxn id="23" idx="3"/>
          </p:cNvCxnSpPr>
          <p:nvPr/>
        </p:nvCxnSpPr>
        <p:spPr>
          <a:xfrm flipH="1">
            <a:off x="3864586" y="3948423"/>
            <a:ext cx="1121342"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14235197-11D4-50DE-2EF9-469B29135EAF}"/>
              </a:ext>
            </a:extLst>
          </p:cNvPr>
          <p:cNvCxnSpPr>
            <a:stCxn id="30" idx="1"/>
            <a:endCxn id="27" idx="3"/>
          </p:cNvCxnSpPr>
          <p:nvPr/>
        </p:nvCxnSpPr>
        <p:spPr>
          <a:xfrm flipH="1">
            <a:off x="6593579" y="3948423"/>
            <a:ext cx="123433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连接符: 肘形 44">
            <a:extLst>
              <a:ext uri="{FF2B5EF4-FFF2-40B4-BE49-F238E27FC236}">
                <a16:creationId xmlns:a16="http://schemas.microsoft.com/office/drawing/2014/main" id="{052D03AB-BBFE-F650-E6DB-365A91DFBB83}"/>
              </a:ext>
            </a:extLst>
          </p:cNvPr>
          <p:cNvCxnSpPr>
            <a:cxnSpLocks/>
            <a:stCxn id="29" idx="3"/>
          </p:cNvCxnSpPr>
          <p:nvPr/>
        </p:nvCxnSpPr>
        <p:spPr>
          <a:xfrm>
            <a:off x="9448326" y="3948423"/>
            <a:ext cx="232540" cy="1060660"/>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122C0876-9B77-575A-9D22-A894231B91C1}"/>
              </a:ext>
            </a:extLst>
          </p:cNvPr>
          <p:cNvCxnSpPr>
            <a:cxnSpLocks/>
            <a:stCxn id="21" idx="2"/>
            <a:endCxn id="30" idx="0"/>
          </p:cNvCxnSpPr>
          <p:nvPr/>
        </p:nvCxnSpPr>
        <p:spPr>
          <a:xfrm>
            <a:off x="8631742" y="2791991"/>
            <a:ext cx="0" cy="95138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F47A15D8-70BC-D036-2686-EC3FA55979F1}"/>
              </a:ext>
            </a:extLst>
          </p:cNvPr>
          <p:cNvCxnSpPr>
            <a:stCxn id="24" idx="0"/>
            <a:endCxn id="9" idx="2"/>
          </p:cNvCxnSpPr>
          <p:nvPr/>
        </p:nvCxnSpPr>
        <p:spPr>
          <a:xfrm flipV="1">
            <a:off x="3048002" y="2804750"/>
            <a:ext cx="0" cy="93862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650027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002F98-FAE2-7D7A-816E-EF6A979960A9}"/>
              </a:ext>
            </a:extLst>
          </p:cNvPr>
          <p:cNvSpPr>
            <a:spLocks noGrp="1"/>
          </p:cNvSpPr>
          <p:nvPr>
            <p:ph type="title"/>
          </p:nvPr>
        </p:nvSpPr>
        <p:spPr>
          <a:xfrm>
            <a:off x="792000" y="360000"/>
            <a:ext cx="6375921" cy="429413"/>
          </a:xfrm>
        </p:spPr>
        <p:txBody>
          <a:bodyPr>
            <a:normAutofit/>
          </a:bodyPr>
          <a:lstStyle/>
          <a:p>
            <a:r>
              <a:rPr lang="en-US" altLang="zh-CN"/>
              <a:t>2.5.3 </a:t>
            </a:r>
            <a:r>
              <a:rPr lang="zh-CN" altLang="en-US"/>
              <a:t>增量型</a:t>
            </a:r>
          </a:p>
        </p:txBody>
      </p:sp>
      <p:sp>
        <p:nvSpPr>
          <p:cNvPr id="7" name="内容占位符 6">
            <a:extLst>
              <a:ext uri="{FF2B5EF4-FFF2-40B4-BE49-F238E27FC236}">
                <a16:creationId xmlns:a16="http://schemas.microsoft.com/office/drawing/2014/main" id="{7E7FA345-19A2-7A80-BE19-18107E566D8B}"/>
              </a:ext>
            </a:extLst>
          </p:cNvPr>
          <p:cNvSpPr>
            <a:spLocks noGrp="1"/>
          </p:cNvSpPr>
          <p:nvPr>
            <p:ph idx="1"/>
          </p:nvPr>
        </p:nvSpPr>
        <p:spPr>
          <a:xfrm>
            <a:off x="696000" y="864000"/>
            <a:ext cx="10800000" cy="5400000"/>
          </a:xfrm>
        </p:spPr>
        <p:txBody>
          <a:bodyPr>
            <a:normAutofit/>
          </a:bodyPr>
          <a:lstStyle/>
          <a:p>
            <a:r>
              <a:rPr lang="zh-CN" altLang="en-US"/>
              <a:t>复杂的项目划分为更小、独立的模块，这些模块被称为增量</a:t>
            </a:r>
            <a:endParaRPr lang="en-US" altLang="zh-CN"/>
          </a:p>
          <a:p>
            <a:pPr lvl="1"/>
            <a:r>
              <a:rPr lang="zh-CN" altLang="en-US"/>
              <a:t>每完成一块就交付一部分功能</a:t>
            </a:r>
          </a:p>
          <a:p>
            <a:pPr lvl="1"/>
            <a:r>
              <a:rPr lang="zh-CN" altLang="en-US"/>
              <a:t>每个增量增加功能</a:t>
            </a:r>
          </a:p>
          <a:p>
            <a:pPr lvl="1"/>
            <a:r>
              <a:rPr lang="en-US" altLang="zh-CN"/>
              <a:t>Product delivered in usable chunks; each increment adds functionality</a:t>
            </a:r>
          </a:p>
          <a:p>
            <a:r>
              <a:rPr lang="zh-CN" altLang="en-US"/>
              <a:t>用户能尽早使用部分功能，团队也能获得早期反馈</a:t>
            </a:r>
            <a:endParaRPr lang="en-US" altLang="zh-CN"/>
          </a:p>
          <a:p>
            <a:pPr lvl="1"/>
            <a:r>
              <a:rPr lang="zh-CN" altLang="en-US"/>
              <a:t>快速交付价值 → 速度</a:t>
            </a:r>
            <a:endParaRPr lang="en-US" altLang="zh-CN"/>
          </a:p>
          <a:p>
            <a:pPr lvl="1"/>
            <a:r>
              <a:rPr lang="zh-CN" altLang="en-US"/>
              <a:t>持续评估、反馈和调整是这个模型的核心，能够迅速识别和纠正错误</a:t>
            </a:r>
          </a:p>
          <a:p>
            <a:r>
              <a:rPr lang="zh-CN" altLang="en-US"/>
              <a:t>典型例子</a:t>
            </a:r>
          </a:p>
          <a:p>
            <a:pPr lvl="1"/>
            <a:r>
              <a:rPr lang="zh-CN" altLang="en-US"/>
              <a:t>软件模块化开发（先上线登录注册，再上线支付）</a:t>
            </a:r>
            <a:endParaRPr lang="en-US" altLang="zh-CN"/>
          </a:p>
          <a:p>
            <a:pPr lvl="1"/>
            <a:r>
              <a:rPr lang="zh-CN" altLang="en-US"/>
              <a:t>房地产分期交房</a:t>
            </a:r>
            <a:endParaRPr lang="en-US" altLang="zh-CN"/>
          </a:p>
          <a:p>
            <a:pPr lvl="1"/>
            <a:r>
              <a:rPr lang="zh-CN" altLang="en-US"/>
              <a:t>拼图</a:t>
            </a:r>
          </a:p>
          <a:p>
            <a:r>
              <a:rPr lang="zh-CN" altLang="en-US"/>
              <a:t>局限</a:t>
            </a:r>
          </a:p>
          <a:p>
            <a:pPr lvl="1"/>
            <a:r>
              <a:rPr lang="zh-CN" altLang="en-US"/>
              <a:t>如果整体架构没想清楚，可能导致拼凑式系统，后期难以维护</a:t>
            </a:r>
          </a:p>
          <a:p>
            <a:pPr lvl="1"/>
            <a:r>
              <a:rPr lang="zh-CN" altLang="en-US"/>
              <a:t>缺乏反复修正的机制，可能方向跑偏</a:t>
            </a:r>
          </a:p>
          <a:p>
            <a:pPr lvl="1"/>
            <a:endParaRPr lang="zh-CN" altLang="en-US"/>
          </a:p>
          <a:p>
            <a:endParaRPr lang="en-US" altLang="zh-CN"/>
          </a:p>
        </p:txBody>
      </p:sp>
      <p:sp>
        <p:nvSpPr>
          <p:cNvPr id="4" name="文本占位符 3">
            <a:extLst>
              <a:ext uri="{FF2B5EF4-FFF2-40B4-BE49-F238E27FC236}">
                <a16:creationId xmlns:a16="http://schemas.microsoft.com/office/drawing/2014/main" id="{B3375682-E5CF-9CE6-9BB3-FD0363F796CF}"/>
              </a:ext>
            </a:extLst>
          </p:cNvPr>
          <p:cNvSpPr>
            <a:spLocks noGrp="1"/>
          </p:cNvSpPr>
          <p:nvPr>
            <p:ph type="body" sz="quarter" idx="10"/>
          </p:nvPr>
        </p:nvSpPr>
        <p:spPr>
          <a:xfrm>
            <a:off x="7071919" y="448519"/>
            <a:ext cx="4424080" cy="338554"/>
          </a:xfrm>
        </p:spPr>
        <p:txBody>
          <a:bodyPr/>
          <a:lstStyle/>
          <a:p>
            <a:r>
              <a:rPr lang="en-US" altLang="zh-CN"/>
              <a:t>Incremental Mode</a:t>
            </a:r>
            <a:endParaRPr lang="zh-CN" altLang="en-US"/>
          </a:p>
        </p:txBody>
      </p:sp>
    </p:spTree>
    <p:extLst>
      <p:ext uri="{BB962C8B-B14F-4D97-AF65-F5344CB8AC3E}">
        <p14:creationId xmlns:p14="http://schemas.microsoft.com/office/powerpoint/2010/main" val="34772131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4B5B5B-07CD-963E-A8F3-A82CEE525FB3}"/>
              </a:ext>
            </a:extLst>
          </p:cNvPr>
          <p:cNvSpPr>
            <a:spLocks noGrp="1"/>
          </p:cNvSpPr>
          <p:nvPr>
            <p:ph type="title"/>
          </p:nvPr>
        </p:nvSpPr>
        <p:spPr>
          <a:xfrm>
            <a:off x="792000" y="360000"/>
            <a:ext cx="6375921" cy="429413"/>
          </a:xfrm>
        </p:spPr>
        <p:txBody>
          <a:bodyPr/>
          <a:lstStyle/>
          <a:p>
            <a:r>
              <a:rPr lang="en-US" altLang="zh-CN"/>
              <a:t>2.5.3 </a:t>
            </a:r>
            <a:r>
              <a:rPr lang="zh-CN" altLang="en-US"/>
              <a:t>增量型</a:t>
            </a:r>
          </a:p>
        </p:txBody>
      </p:sp>
      <p:sp>
        <p:nvSpPr>
          <p:cNvPr id="3" name="内容占位符 2">
            <a:extLst>
              <a:ext uri="{FF2B5EF4-FFF2-40B4-BE49-F238E27FC236}">
                <a16:creationId xmlns:a16="http://schemas.microsoft.com/office/drawing/2014/main" id="{268C1F9C-253F-E541-5E95-2A8FA1CE2FB4}"/>
              </a:ext>
            </a:extLst>
          </p:cNvPr>
          <p:cNvSpPr>
            <a:spLocks noGrp="1"/>
          </p:cNvSpPr>
          <p:nvPr>
            <p:ph idx="1"/>
          </p:nvPr>
        </p:nvSpPr>
        <p:spPr>
          <a:xfrm>
            <a:off x="696000" y="864000"/>
            <a:ext cx="10800000" cy="5400000"/>
          </a:xfrm>
        </p:spPr>
        <p:txBody>
          <a:bodyPr>
            <a:normAutofit/>
          </a:bodyPr>
          <a:lstStyle/>
          <a:p>
            <a:r>
              <a:rPr lang="zh-CN" altLang="en-US"/>
              <a:t>过程</a:t>
            </a:r>
            <a:endParaRPr lang="en-US" altLang="zh-CN"/>
          </a:p>
          <a:p>
            <a:pPr lvl="1"/>
            <a:r>
              <a:rPr lang="zh-CN" altLang="en-US"/>
              <a:t>需求收集 </a:t>
            </a:r>
            <a:r>
              <a:rPr lang="en-US" altLang="zh-CN"/>
              <a:t>Requirements Gathering</a:t>
            </a:r>
            <a:endParaRPr lang="zh-CN" altLang="en-US"/>
          </a:p>
          <a:p>
            <a:pPr lvl="1"/>
            <a:r>
              <a:rPr lang="zh-CN" altLang="en-US"/>
              <a:t>设计 </a:t>
            </a:r>
            <a:r>
              <a:rPr lang="en-US" altLang="zh-CN"/>
              <a:t>Design</a:t>
            </a:r>
          </a:p>
          <a:p>
            <a:pPr lvl="1"/>
            <a:r>
              <a:rPr lang="zh-CN" altLang="en-US"/>
              <a:t>实现 </a:t>
            </a:r>
            <a:r>
              <a:rPr lang="en-US" altLang="zh-CN"/>
              <a:t>Implementation</a:t>
            </a:r>
          </a:p>
          <a:p>
            <a:pPr lvl="1"/>
            <a:r>
              <a:rPr lang="zh-CN" altLang="en-US"/>
              <a:t>测试 </a:t>
            </a:r>
            <a:r>
              <a:rPr lang="en-US" altLang="zh-CN"/>
              <a:t>Testing</a:t>
            </a:r>
          </a:p>
          <a:p>
            <a:pPr lvl="1"/>
            <a:r>
              <a:rPr lang="zh-CN" altLang="en-US"/>
              <a:t>集成 </a:t>
            </a:r>
            <a:r>
              <a:rPr lang="en-US" altLang="zh-CN"/>
              <a:t>Integration</a:t>
            </a:r>
          </a:p>
          <a:p>
            <a:pPr lvl="1"/>
            <a:r>
              <a:rPr lang="zh-CN" altLang="en-US"/>
              <a:t>评估和反馈 </a:t>
            </a:r>
            <a:r>
              <a:rPr lang="en-US" altLang="zh-CN"/>
              <a:t>Evaluation and Feedback</a:t>
            </a:r>
          </a:p>
          <a:p>
            <a:pPr lvl="1"/>
            <a:r>
              <a:rPr lang="zh-CN" altLang="en-US"/>
              <a:t>迭代过程 </a:t>
            </a:r>
            <a:r>
              <a:rPr lang="en-US" altLang="zh-CN"/>
              <a:t>Iterative Process</a:t>
            </a:r>
            <a:endParaRPr lang="zh-CN" altLang="en-US"/>
          </a:p>
        </p:txBody>
      </p:sp>
      <p:sp>
        <p:nvSpPr>
          <p:cNvPr id="4" name="文本占位符 3">
            <a:extLst>
              <a:ext uri="{FF2B5EF4-FFF2-40B4-BE49-F238E27FC236}">
                <a16:creationId xmlns:a16="http://schemas.microsoft.com/office/drawing/2014/main" id="{83461855-6FDD-19AC-E8BE-20FF83A4B53B}"/>
              </a:ext>
            </a:extLst>
          </p:cNvPr>
          <p:cNvSpPr>
            <a:spLocks noGrp="1"/>
          </p:cNvSpPr>
          <p:nvPr>
            <p:ph type="body" sz="quarter" idx="10"/>
          </p:nvPr>
        </p:nvSpPr>
        <p:spPr>
          <a:xfrm>
            <a:off x="7071919" y="448519"/>
            <a:ext cx="4424080" cy="338554"/>
          </a:xfrm>
        </p:spPr>
        <p:txBody>
          <a:bodyPr/>
          <a:lstStyle/>
          <a:p>
            <a:r>
              <a:rPr lang="en-US" altLang="zh-CN"/>
              <a:t>Incremental Mode</a:t>
            </a:r>
            <a:endParaRPr lang="zh-CN" altLang="en-US"/>
          </a:p>
        </p:txBody>
      </p:sp>
    </p:spTree>
    <p:extLst>
      <p:ext uri="{BB962C8B-B14F-4D97-AF65-F5344CB8AC3E}">
        <p14:creationId xmlns:p14="http://schemas.microsoft.com/office/powerpoint/2010/main" val="33348014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CDAB7652-3B05-442E-72DA-61C0BE70E305}"/>
              </a:ext>
            </a:extLst>
          </p:cNvPr>
          <p:cNvGraphicFramePr>
            <a:graphicFrameLocks noGrp="1"/>
          </p:cNvGraphicFramePr>
          <p:nvPr>
            <p:extLst>
              <p:ext uri="{D42A27DB-BD31-4B8C-83A1-F6EECF244321}">
                <p14:modId xmlns:p14="http://schemas.microsoft.com/office/powerpoint/2010/main" val="2807166592"/>
              </p:ext>
            </p:extLst>
          </p:nvPr>
        </p:nvGraphicFramePr>
        <p:xfrm>
          <a:off x="695325" y="2255520"/>
          <a:ext cx="10801350" cy="2133600"/>
        </p:xfrm>
        <a:graphic>
          <a:graphicData uri="http://schemas.openxmlformats.org/drawingml/2006/table">
            <a:tbl>
              <a:tblPr/>
              <a:tblGrid>
                <a:gridCol w="1261294">
                  <a:extLst>
                    <a:ext uri="{9D8B030D-6E8A-4147-A177-3AD203B41FA5}">
                      <a16:colId xmlns:a16="http://schemas.microsoft.com/office/drawing/2014/main" val="2254505056"/>
                    </a:ext>
                  </a:extLst>
                </a:gridCol>
                <a:gridCol w="4955458">
                  <a:extLst>
                    <a:ext uri="{9D8B030D-6E8A-4147-A177-3AD203B41FA5}">
                      <a16:colId xmlns:a16="http://schemas.microsoft.com/office/drawing/2014/main" val="4094901967"/>
                    </a:ext>
                  </a:extLst>
                </a:gridCol>
                <a:gridCol w="4584598">
                  <a:extLst>
                    <a:ext uri="{9D8B030D-6E8A-4147-A177-3AD203B41FA5}">
                      <a16:colId xmlns:a16="http://schemas.microsoft.com/office/drawing/2014/main" val="2647136496"/>
                    </a:ext>
                  </a:extLst>
                </a:gridCol>
              </a:tblGrid>
              <a:tr h="0">
                <a:tc>
                  <a:txBody>
                    <a:bodyPr/>
                    <a:lstStyle/>
                    <a:p>
                      <a:pPr algn="l">
                        <a:buNone/>
                      </a:pPr>
                      <a:endParaRPr lang="zh-CN" altLang="en-US" sz="14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buNone/>
                      </a:pPr>
                      <a:r>
                        <a:rPr lang="zh-CN" altLang="en-US" sz="1400" dirty="0">
                          <a:solidFill>
                            <a:schemeClr val="bg1"/>
                          </a:solidFill>
                        </a:rPr>
                        <a:t>迭代 </a:t>
                      </a:r>
                      <a:r>
                        <a:rPr lang="en-US" sz="1400" dirty="0">
                          <a:solidFill>
                            <a:schemeClr val="bg1"/>
                          </a:solidFill>
                        </a:rPr>
                        <a:t>Iteration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buNone/>
                      </a:pPr>
                      <a:r>
                        <a:rPr lang="zh-CN" altLang="en-US" sz="1400" dirty="0">
                          <a:solidFill>
                            <a:schemeClr val="bg1"/>
                          </a:solidFill>
                        </a:rPr>
                        <a:t>增量 </a:t>
                      </a:r>
                      <a:r>
                        <a:rPr lang="en-US" sz="1400" dirty="0">
                          <a:solidFill>
                            <a:schemeClr val="bg1"/>
                          </a:solidFill>
                        </a:rPr>
                        <a:t>Increment</a:t>
                      </a:r>
                      <a:r>
                        <a:rPr lang="en-US" altLang="zh-CN" sz="1400" dirty="0">
                          <a:solidFill>
                            <a:schemeClr val="bg1"/>
                          </a:solidFill>
                        </a:rPr>
                        <a:t>al</a:t>
                      </a:r>
                      <a:endParaRPr lang="en-US" sz="14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47242012"/>
                  </a:ext>
                </a:extLst>
              </a:tr>
              <a:tr h="0">
                <a:tc>
                  <a:txBody>
                    <a:bodyPr/>
                    <a:lstStyle/>
                    <a:p>
                      <a:pPr algn="l">
                        <a:buNone/>
                      </a:pPr>
                      <a:r>
                        <a:rPr lang="zh-CN" altLang="en-US" sz="1400" dirty="0">
                          <a:solidFill>
                            <a:schemeClr val="tx1"/>
                          </a:solidFill>
                        </a:rPr>
                        <a:t>核心动作</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dirty="0">
                          <a:solidFill>
                            <a:schemeClr val="tx1"/>
                          </a:solidFill>
                        </a:rPr>
                        <a:t>重复 </a:t>
                      </a:r>
                      <a:r>
                        <a:rPr lang="en-US" altLang="zh-CN" sz="1400" dirty="0">
                          <a:solidFill>
                            <a:schemeClr val="tx1"/>
                          </a:solidFill>
                        </a:rPr>
                        <a:t>(</a:t>
                      </a:r>
                      <a:r>
                        <a:rPr lang="en-US" sz="1400" dirty="0">
                          <a:solidFill>
                            <a:schemeClr val="tx1"/>
                          </a:solidFill>
                        </a:rPr>
                        <a:t>Repeat)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solidFill>
                            <a:schemeClr val="tx1"/>
                          </a:solidFill>
                        </a:rPr>
                        <a:t>增加 </a:t>
                      </a:r>
                      <a:r>
                        <a:rPr lang="en-US" altLang="zh-CN" sz="1400">
                          <a:solidFill>
                            <a:schemeClr val="tx1"/>
                          </a:solidFill>
                        </a:rPr>
                        <a:t>(</a:t>
                      </a:r>
                      <a:r>
                        <a:rPr lang="en-US" sz="1400">
                          <a:solidFill>
                            <a:schemeClr val="tx1"/>
                          </a:solidFill>
                        </a:rPr>
                        <a:t>Add)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5205760"/>
                  </a:ext>
                </a:extLst>
              </a:tr>
              <a:tr h="0">
                <a:tc>
                  <a:txBody>
                    <a:bodyPr/>
                    <a:lstStyle/>
                    <a:p>
                      <a:pPr algn="l">
                        <a:buNone/>
                      </a:pPr>
                      <a:r>
                        <a:rPr lang="zh-CN" altLang="en-US" sz="1400">
                          <a:solidFill>
                            <a:schemeClr val="tx1"/>
                          </a:solidFill>
                        </a:rPr>
                        <a:t>关注点</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dirty="0">
                          <a:solidFill>
                            <a:schemeClr val="tx1"/>
                          </a:solidFill>
                        </a:rPr>
                        <a:t>质量 </a:t>
                      </a:r>
                      <a:r>
                        <a:rPr lang="en-US" altLang="zh-CN" sz="1400" dirty="0">
                          <a:solidFill>
                            <a:schemeClr val="tx1"/>
                          </a:solidFill>
                        </a:rPr>
                        <a:t>(</a:t>
                      </a:r>
                      <a:r>
                        <a:rPr lang="en-US" sz="1400" dirty="0">
                          <a:solidFill>
                            <a:schemeClr val="tx1"/>
                          </a:solidFill>
                        </a:rPr>
                        <a:t>Quality)：</a:t>
                      </a:r>
                      <a:r>
                        <a:rPr lang="zh-CN" altLang="en-US" sz="1400" dirty="0">
                          <a:solidFill>
                            <a:schemeClr val="tx1"/>
                          </a:solidFill>
                        </a:rPr>
                        <a:t>把现有的做得更好、更稳</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solidFill>
                            <a:schemeClr val="tx1"/>
                          </a:solidFill>
                        </a:rPr>
                        <a:t>范围 </a:t>
                      </a:r>
                      <a:r>
                        <a:rPr lang="en-US" altLang="zh-CN" sz="1400">
                          <a:solidFill>
                            <a:schemeClr val="tx1"/>
                          </a:solidFill>
                        </a:rPr>
                        <a:t>(</a:t>
                      </a:r>
                      <a:r>
                        <a:rPr lang="en-US" sz="1400">
                          <a:solidFill>
                            <a:schemeClr val="tx1"/>
                          </a:solidFill>
                        </a:rPr>
                        <a:t>Scope)：</a:t>
                      </a:r>
                      <a:r>
                        <a:rPr lang="zh-CN" altLang="en-US" sz="1400">
                          <a:solidFill>
                            <a:schemeClr val="tx1"/>
                          </a:solidFill>
                        </a:rPr>
                        <a:t>把功能做得更多、更全</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30213443"/>
                  </a:ext>
                </a:extLst>
              </a:tr>
              <a:tr h="0">
                <a:tc>
                  <a:txBody>
                    <a:bodyPr/>
                    <a:lstStyle/>
                    <a:p>
                      <a:pPr algn="l">
                        <a:buNone/>
                      </a:pPr>
                      <a:r>
                        <a:rPr lang="zh-CN" altLang="en-US" sz="1400">
                          <a:solidFill>
                            <a:schemeClr val="tx1"/>
                          </a:solidFill>
                        </a:rPr>
                        <a:t>产出物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dirty="0">
                          <a:solidFill>
                            <a:schemeClr val="tx1"/>
                          </a:solidFill>
                        </a:rPr>
                        <a:t>一个更完善的版本（功能可能没变多，但更好用了）</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solidFill>
                            <a:schemeClr val="tx1"/>
                          </a:solidFill>
                        </a:rPr>
                        <a:t>一个功能更多的版本（多了新模块、新按钮）</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78136575"/>
                  </a:ext>
                </a:extLst>
              </a:tr>
              <a:tr h="0">
                <a:tc>
                  <a:txBody>
                    <a:bodyPr/>
                    <a:lstStyle/>
                    <a:p>
                      <a:pPr algn="l">
                        <a:buNone/>
                      </a:pPr>
                      <a:r>
                        <a:rPr lang="zh-CN" altLang="en-US" sz="1400">
                          <a:solidFill>
                            <a:schemeClr val="tx1"/>
                          </a:solidFill>
                        </a:rPr>
                        <a:t>风险策略</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solidFill>
                            <a:schemeClr val="tx1"/>
                          </a:solidFill>
                        </a:rPr>
                        <a:t>通过早期原型降低理解风险（是不是做错了？）</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dirty="0">
                          <a:solidFill>
                            <a:schemeClr val="tx1"/>
                          </a:solidFill>
                        </a:rPr>
                        <a:t>通过分批交付降低交付风险（能不能按时做完？）</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66295567"/>
                  </a:ext>
                </a:extLst>
              </a:tr>
              <a:tr h="0">
                <a:tc>
                  <a:txBody>
                    <a:bodyPr/>
                    <a:lstStyle/>
                    <a:p>
                      <a:pPr algn="l">
                        <a:buNone/>
                      </a:pPr>
                      <a:r>
                        <a:rPr lang="zh-CN" altLang="en-US" sz="1400">
                          <a:solidFill>
                            <a:schemeClr val="tx1"/>
                          </a:solidFill>
                        </a:rPr>
                        <a:t>用户视角</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solidFill>
                            <a:schemeClr val="tx1"/>
                          </a:solidFill>
                        </a:rPr>
                        <a:t>哇，这个功能比上次快了很多</a:t>
                      </a:r>
                      <a:r>
                        <a:rPr lang="en-US" altLang="zh-CN" sz="1400">
                          <a:solidFill>
                            <a:schemeClr val="tx1"/>
                          </a:solidFill>
                        </a:rPr>
                        <a:t>/</a:t>
                      </a:r>
                      <a:r>
                        <a:rPr lang="zh-CN" altLang="en-US" sz="1400">
                          <a:solidFill>
                            <a:schemeClr val="tx1"/>
                          </a:solidFill>
                        </a:rPr>
                        <a:t>好看了很多！</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dirty="0">
                          <a:solidFill>
                            <a:schemeClr val="tx1"/>
                          </a:solidFill>
                        </a:rPr>
                        <a:t>哇，这次多了一个新功能！</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9732859"/>
                  </a:ext>
                </a:extLst>
              </a:tr>
              <a:tr h="0">
                <a:tc>
                  <a:txBody>
                    <a:bodyPr/>
                    <a:lstStyle/>
                    <a:p>
                      <a:pPr algn="l">
                        <a:buNone/>
                      </a:pPr>
                      <a:r>
                        <a:rPr lang="zh-CN" altLang="en-US" sz="1400">
                          <a:solidFill>
                            <a:schemeClr val="tx1"/>
                          </a:solidFill>
                        </a:rPr>
                        <a:t>英文词根</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sz="1400">
                          <a:solidFill>
                            <a:schemeClr val="tx1"/>
                          </a:solidFill>
                        </a:rPr>
                        <a:t>Iterate (</a:t>
                      </a:r>
                      <a:r>
                        <a:rPr lang="zh-CN" altLang="en-US" sz="1400">
                          <a:solidFill>
                            <a:schemeClr val="tx1"/>
                          </a:solidFill>
                        </a:rPr>
                        <a:t>重做</a:t>
                      </a:r>
                      <a:r>
                        <a:rPr lang="en-US" altLang="zh-CN" sz="1400">
                          <a:solidFill>
                            <a:schemeClr val="tx1"/>
                          </a:solidFill>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sz="1400" dirty="0">
                          <a:solidFill>
                            <a:schemeClr val="tx1"/>
                          </a:solidFill>
                        </a:rPr>
                        <a:t>Increment (</a:t>
                      </a:r>
                      <a:r>
                        <a:rPr lang="zh-CN" altLang="en-US" sz="1400" dirty="0">
                          <a:solidFill>
                            <a:schemeClr val="tx1"/>
                          </a:solidFill>
                        </a:rPr>
                        <a:t>增长</a:t>
                      </a:r>
                      <a:r>
                        <a:rPr lang="en-US" altLang="zh-CN" sz="1400" dirty="0">
                          <a:solidFill>
                            <a:schemeClr val="tx1"/>
                          </a:solidFill>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2950446"/>
                  </a:ext>
                </a:extLst>
              </a:tr>
            </a:tbl>
          </a:graphicData>
        </a:graphic>
      </p:graphicFrame>
    </p:spTree>
    <p:extLst>
      <p:ext uri="{BB962C8B-B14F-4D97-AF65-F5344CB8AC3E}">
        <p14:creationId xmlns:p14="http://schemas.microsoft.com/office/powerpoint/2010/main" val="74144570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a:extLst>
              <a:ext uri="{FF2B5EF4-FFF2-40B4-BE49-F238E27FC236}">
                <a16:creationId xmlns:a16="http://schemas.microsoft.com/office/drawing/2014/main" id="{1793F6CE-F46D-5E7B-1BD7-6A4EDB007217}"/>
              </a:ext>
            </a:extLst>
          </p:cNvPr>
          <p:cNvSpPr>
            <a:spLocks noGrp="1"/>
          </p:cNvSpPr>
          <p:nvPr>
            <p:ph type="body" sz="quarter" idx="10"/>
          </p:nvPr>
        </p:nvSpPr>
        <p:spPr>
          <a:xfrm>
            <a:off x="3219345" y="1629000"/>
            <a:ext cx="8640000" cy="3600000"/>
          </a:xfrm>
        </p:spPr>
        <p:txBody>
          <a:bodyPr/>
          <a:lstStyle/>
          <a:p>
            <a:r>
              <a:rPr lang="zh-CN" altLang="en-US"/>
              <a:t>装修房子的过程是什么模型？</a:t>
            </a:r>
          </a:p>
        </p:txBody>
      </p:sp>
    </p:spTree>
    <p:extLst>
      <p:ext uri="{BB962C8B-B14F-4D97-AF65-F5344CB8AC3E}">
        <p14:creationId xmlns:p14="http://schemas.microsoft.com/office/powerpoint/2010/main" val="39808651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8E9A5A-E4EF-BFA7-5D45-9875F87C04F7}"/>
              </a:ext>
            </a:extLst>
          </p:cNvPr>
          <p:cNvSpPr>
            <a:spLocks noGrp="1"/>
          </p:cNvSpPr>
          <p:nvPr>
            <p:ph type="title"/>
          </p:nvPr>
        </p:nvSpPr>
        <p:spPr>
          <a:xfrm>
            <a:off x="792000" y="360000"/>
            <a:ext cx="6375921" cy="429413"/>
          </a:xfrm>
        </p:spPr>
        <p:txBody>
          <a:bodyPr>
            <a:normAutofit/>
          </a:bodyPr>
          <a:lstStyle/>
          <a:p>
            <a:r>
              <a:rPr lang="en-US" altLang="zh-CN"/>
              <a:t>2.5.4 </a:t>
            </a:r>
            <a:r>
              <a:rPr lang="zh-CN" altLang="en-US"/>
              <a:t>敏捷型</a:t>
            </a:r>
          </a:p>
        </p:txBody>
      </p:sp>
      <p:sp>
        <p:nvSpPr>
          <p:cNvPr id="6" name="Content Placeholder 5">
            <a:extLst>
              <a:ext uri="{FF2B5EF4-FFF2-40B4-BE49-F238E27FC236}">
                <a16:creationId xmlns:a16="http://schemas.microsoft.com/office/drawing/2014/main" id="{C154822F-F89D-B946-B741-513BFA5EAC61}"/>
              </a:ext>
            </a:extLst>
          </p:cNvPr>
          <p:cNvSpPr>
            <a:spLocks noGrp="1"/>
          </p:cNvSpPr>
          <p:nvPr>
            <p:ph idx="1"/>
          </p:nvPr>
        </p:nvSpPr>
        <p:spPr>
          <a:xfrm>
            <a:off x="696000" y="864000"/>
            <a:ext cx="10800000" cy="5400000"/>
          </a:xfrm>
        </p:spPr>
        <p:txBody>
          <a:bodyPr>
            <a:normAutofit/>
          </a:bodyPr>
          <a:lstStyle/>
          <a:p>
            <a:r>
              <a:rPr lang="zh-CN" altLang="en-US"/>
              <a:t>本质</a:t>
            </a:r>
          </a:p>
          <a:p>
            <a:pPr lvl="1"/>
            <a:r>
              <a:rPr lang="zh-CN" altLang="en-US"/>
              <a:t>敏捷 </a:t>
            </a:r>
            <a:r>
              <a:rPr lang="en-US" altLang="zh-CN"/>
              <a:t>= </a:t>
            </a:r>
            <a:r>
              <a:rPr lang="zh-CN" altLang="en-US"/>
              <a:t>迭代 </a:t>
            </a:r>
            <a:r>
              <a:rPr lang="en-US" altLang="zh-CN"/>
              <a:t>× </a:t>
            </a:r>
            <a:r>
              <a:rPr lang="zh-CN" altLang="en-US"/>
              <a:t>增量 </a:t>
            </a:r>
            <a:r>
              <a:rPr lang="en-US" altLang="zh-CN"/>
              <a:t>× </a:t>
            </a:r>
            <a:r>
              <a:rPr lang="zh-CN" altLang="en-US"/>
              <a:t>反馈 </a:t>
            </a:r>
            <a:r>
              <a:rPr lang="en-US" altLang="zh-CN"/>
              <a:t>feedback</a:t>
            </a:r>
            <a:endParaRPr lang="zh-CN" altLang="en-US"/>
          </a:p>
          <a:p>
            <a:pPr lvl="1"/>
            <a:r>
              <a:rPr lang="zh-CN" altLang="en-US"/>
              <a:t>它是一个自适应系统，而非固定流程</a:t>
            </a:r>
          </a:p>
          <a:p>
            <a:r>
              <a:rPr lang="zh-CN" altLang="en-US"/>
              <a:t>高响应变化；依赖干系人反馈</a:t>
            </a:r>
            <a:endParaRPr lang="en-US" altLang="zh-CN"/>
          </a:p>
          <a:p>
            <a:pPr lvl="1"/>
            <a:r>
              <a:rPr lang="en-US" altLang="zh-CN"/>
              <a:t>Combines iterative + incremental; high responsiveness to change; stakeholder feedback</a:t>
            </a:r>
          </a:p>
          <a:p>
            <a:r>
              <a:rPr lang="zh-CN" altLang="en-US"/>
              <a:t>不是简单叠加，而是有机融合：</a:t>
            </a:r>
          </a:p>
          <a:p>
            <a:pPr lvl="2"/>
            <a:r>
              <a:rPr lang="zh-CN" altLang="en-US"/>
              <a:t>用迭代来应对不确定性（不断试错、调整方向）</a:t>
            </a:r>
          </a:p>
          <a:p>
            <a:pPr lvl="2"/>
            <a:r>
              <a:rPr lang="zh-CN" altLang="en-US"/>
              <a:t>用增量来确保价值流动（每个迭代都交付可用成果）</a:t>
            </a:r>
          </a:p>
          <a:p>
            <a:pPr lvl="2"/>
            <a:r>
              <a:rPr lang="zh-CN" altLang="en-US"/>
              <a:t>用反馈来驱动决策（客户</a:t>
            </a:r>
            <a:r>
              <a:rPr lang="en-US" altLang="zh-CN"/>
              <a:t>/</a:t>
            </a:r>
            <a:r>
              <a:rPr lang="zh-CN" altLang="en-US"/>
              <a:t>用户参与评审，决定下一步做什么）</a:t>
            </a:r>
          </a:p>
          <a:p>
            <a:pPr lvl="1"/>
            <a:r>
              <a:rPr lang="zh-CN" altLang="en-US"/>
              <a:t>高响应变化是结果，频繁反馈是手段。</a:t>
            </a:r>
          </a:p>
          <a:p>
            <a:r>
              <a:rPr lang="zh-CN" altLang="en-US"/>
              <a:t>目标</a:t>
            </a:r>
          </a:p>
          <a:p>
            <a:pPr lvl="1"/>
            <a:r>
              <a:rPr lang="zh-CN" altLang="en-US"/>
              <a:t>最大化客户价值</a:t>
            </a:r>
            <a:endParaRPr lang="en-US" altLang="zh-CN"/>
          </a:p>
          <a:p>
            <a:pPr lvl="1"/>
            <a:r>
              <a:rPr lang="zh-CN" altLang="en-US"/>
              <a:t>通过频繁小规模交付和反馈实现的客户价值</a:t>
            </a:r>
          </a:p>
        </p:txBody>
      </p:sp>
      <p:sp>
        <p:nvSpPr>
          <p:cNvPr id="4" name="文本占位符 3">
            <a:extLst>
              <a:ext uri="{FF2B5EF4-FFF2-40B4-BE49-F238E27FC236}">
                <a16:creationId xmlns:a16="http://schemas.microsoft.com/office/drawing/2014/main" id="{9C392903-4C00-10DF-7FCF-770BC8EA1A95}"/>
              </a:ext>
            </a:extLst>
          </p:cNvPr>
          <p:cNvSpPr>
            <a:spLocks noGrp="1"/>
          </p:cNvSpPr>
          <p:nvPr>
            <p:ph type="body" sz="quarter" idx="10"/>
          </p:nvPr>
        </p:nvSpPr>
        <p:spPr>
          <a:xfrm>
            <a:off x="7071919" y="448519"/>
            <a:ext cx="4424080" cy="338554"/>
          </a:xfrm>
        </p:spPr>
        <p:txBody>
          <a:bodyPr/>
          <a:lstStyle/>
          <a:p>
            <a:r>
              <a:rPr lang="en-US" altLang="zh-CN"/>
              <a:t>Agile</a:t>
            </a:r>
            <a:endParaRPr lang="zh-CN" altLang="en-US"/>
          </a:p>
        </p:txBody>
      </p:sp>
    </p:spTree>
    <p:extLst>
      <p:ext uri="{BB962C8B-B14F-4D97-AF65-F5344CB8AC3E}">
        <p14:creationId xmlns:p14="http://schemas.microsoft.com/office/powerpoint/2010/main" val="13297108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419CC-9E81-006E-77BD-72CA7F2FEF0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1817683-CD45-16BD-14FB-9F6065C2DF30}"/>
              </a:ext>
            </a:extLst>
          </p:cNvPr>
          <p:cNvSpPr>
            <a:spLocks noGrp="1"/>
          </p:cNvSpPr>
          <p:nvPr>
            <p:ph type="title"/>
          </p:nvPr>
        </p:nvSpPr>
        <p:spPr>
          <a:xfrm>
            <a:off x="792000" y="360000"/>
            <a:ext cx="6375921" cy="429413"/>
          </a:xfrm>
        </p:spPr>
        <p:txBody>
          <a:bodyPr>
            <a:normAutofit/>
          </a:bodyPr>
          <a:lstStyle/>
          <a:p>
            <a:r>
              <a:rPr lang="en-US" altLang="zh-CN"/>
              <a:t>2.5.4 </a:t>
            </a:r>
            <a:r>
              <a:rPr lang="zh-CN" altLang="en-US"/>
              <a:t>敏捷型</a:t>
            </a:r>
          </a:p>
        </p:txBody>
      </p:sp>
      <p:sp>
        <p:nvSpPr>
          <p:cNvPr id="8" name="内容占位符 7">
            <a:extLst>
              <a:ext uri="{FF2B5EF4-FFF2-40B4-BE49-F238E27FC236}">
                <a16:creationId xmlns:a16="http://schemas.microsoft.com/office/drawing/2014/main" id="{5979937E-A227-BA01-BD87-40E031A8441E}"/>
              </a:ext>
            </a:extLst>
          </p:cNvPr>
          <p:cNvSpPr>
            <a:spLocks noGrp="1"/>
          </p:cNvSpPr>
          <p:nvPr>
            <p:ph idx="1"/>
          </p:nvPr>
        </p:nvSpPr>
        <p:spPr>
          <a:xfrm>
            <a:off x="696000" y="864000"/>
            <a:ext cx="10800000" cy="5400000"/>
          </a:xfrm>
        </p:spPr>
        <p:txBody>
          <a:bodyPr/>
          <a:lstStyle/>
          <a:p>
            <a:r>
              <a:rPr lang="zh-CN" altLang="en-US"/>
              <a:t>常见应用框架</a:t>
            </a:r>
          </a:p>
        </p:txBody>
      </p:sp>
      <p:sp>
        <p:nvSpPr>
          <p:cNvPr id="4" name="文本占位符 3">
            <a:extLst>
              <a:ext uri="{FF2B5EF4-FFF2-40B4-BE49-F238E27FC236}">
                <a16:creationId xmlns:a16="http://schemas.microsoft.com/office/drawing/2014/main" id="{91B6B93D-2807-69DA-F708-0806EA54FB56}"/>
              </a:ext>
            </a:extLst>
          </p:cNvPr>
          <p:cNvSpPr>
            <a:spLocks noGrp="1"/>
          </p:cNvSpPr>
          <p:nvPr>
            <p:ph type="body" sz="quarter" idx="10"/>
          </p:nvPr>
        </p:nvSpPr>
        <p:spPr>
          <a:xfrm>
            <a:off x="7071919" y="448519"/>
            <a:ext cx="4424080" cy="338554"/>
          </a:xfrm>
        </p:spPr>
        <p:txBody>
          <a:bodyPr/>
          <a:lstStyle/>
          <a:p>
            <a:r>
              <a:rPr lang="en-US" altLang="zh-CN"/>
              <a:t>Agile</a:t>
            </a:r>
            <a:endParaRPr lang="zh-CN" altLang="en-US"/>
          </a:p>
        </p:txBody>
      </p:sp>
      <p:graphicFrame>
        <p:nvGraphicFramePr>
          <p:cNvPr id="3" name="表格 2">
            <a:extLst>
              <a:ext uri="{FF2B5EF4-FFF2-40B4-BE49-F238E27FC236}">
                <a16:creationId xmlns:a16="http://schemas.microsoft.com/office/drawing/2014/main" id="{D02CF5D7-CC17-0D4C-4862-FACDAD24888E}"/>
              </a:ext>
            </a:extLst>
          </p:cNvPr>
          <p:cNvGraphicFramePr>
            <a:graphicFrameLocks noGrp="1"/>
          </p:cNvGraphicFramePr>
          <p:nvPr>
            <p:extLst>
              <p:ext uri="{D42A27DB-BD31-4B8C-83A1-F6EECF244321}">
                <p14:modId xmlns:p14="http://schemas.microsoft.com/office/powerpoint/2010/main" val="2726230725"/>
              </p:ext>
            </p:extLst>
          </p:nvPr>
        </p:nvGraphicFramePr>
        <p:xfrm>
          <a:off x="695325" y="4252595"/>
          <a:ext cx="10801350" cy="2042160"/>
        </p:xfrm>
        <a:graphic>
          <a:graphicData uri="http://schemas.openxmlformats.org/drawingml/2006/table">
            <a:tbl>
              <a:tblPr/>
              <a:tblGrid>
                <a:gridCol w="1693914">
                  <a:extLst>
                    <a:ext uri="{9D8B030D-6E8A-4147-A177-3AD203B41FA5}">
                      <a16:colId xmlns:a16="http://schemas.microsoft.com/office/drawing/2014/main" val="4243255836"/>
                    </a:ext>
                  </a:extLst>
                </a:gridCol>
                <a:gridCol w="1455174">
                  <a:extLst>
                    <a:ext uri="{9D8B030D-6E8A-4147-A177-3AD203B41FA5}">
                      <a16:colId xmlns:a16="http://schemas.microsoft.com/office/drawing/2014/main" val="2516230689"/>
                    </a:ext>
                  </a:extLst>
                </a:gridCol>
                <a:gridCol w="2418735">
                  <a:extLst>
                    <a:ext uri="{9D8B030D-6E8A-4147-A177-3AD203B41FA5}">
                      <a16:colId xmlns:a16="http://schemas.microsoft.com/office/drawing/2014/main" val="1191142745"/>
                    </a:ext>
                  </a:extLst>
                </a:gridCol>
                <a:gridCol w="2536723">
                  <a:extLst>
                    <a:ext uri="{9D8B030D-6E8A-4147-A177-3AD203B41FA5}">
                      <a16:colId xmlns:a16="http://schemas.microsoft.com/office/drawing/2014/main" val="2129465298"/>
                    </a:ext>
                  </a:extLst>
                </a:gridCol>
                <a:gridCol w="2696804">
                  <a:extLst>
                    <a:ext uri="{9D8B030D-6E8A-4147-A177-3AD203B41FA5}">
                      <a16:colId xmlns:a16="http://schemas.microsoft.com/office/drawing/2014/main" val="3996353846"/>
                    </a:ext>
                  </a:extLst>
                </a:gridCol>
              </a:tblGrid>
              <a:tr h="0">
                <a:tc>
                  <a:txBody>
                    <a:bodyPr/>
                    <a:lstStyle/>
                    <a:p>
                      <a:pPr algn="l">
                        <a:buNone/>
                      </a:pPr>
                      <a:r>
                        <a:rPr lang="zh-CN" altLang="en-US" sz="1400" dirty="0">
                          <a:solidFill>
                            <a:schemeClr val="bg1"/>
                          </a:solidFill>
                        </a:rPr>
                        <a:t>模型</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buNone/>
                      </a:pPr>
                      <a:r>
                        <a:rPr lang="zh-CN" altLang="en-US" sz="1400" dirty="0">
                          <a:solidFill>
                            <a:schemeClr val="bg1"/>
                          </a:solidFill>
                        </a:rPr>
                        <a:t>核心关注点</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buNone/>
                      </a:pPr>
                      <a:r>
                        <a:rPr lang="zh-CN" altLang="en-US" sz="1400" dirty="0">
                          <a:solidFill>
                            <a:schemeClr val="bg1"/>
                          </a:solidFill>
                        </a:rPr>
                        <a:t>节奏</a:t>
                      </a:r>
                      <a:r>
                        <a:rPr lang="en-US" altLang="zh-CN" sz="1400" dirty="0">
                          <a:solidFill>
                            <a:schemeClr val="bg1"/>
                          </a:solidFill>
                        </a:rPr>
                        <a:t>/</a:t>
                      </a:r>
                      <a:r>
                        <a:rPr lang="zh-CN" altLang="en-US" sz="1400" dirty="0">
                          <a:solidFill>
                            <a:schemeClr val="bg1"/>
                          </a:solidFill>
                        </a:rPr>
                        <a:t>周期</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buNone/>
                      </a:pPr>
                      <a:r>
                        <a:rPr lang="zh-CN" altLang="en-US" sz="1400" dirty="0">
                          <a:solidFill>
                            <a:schemeClr val="bg1"/>
                          </a:solidFill>
                        </a:rPr>
                        <a:t>角色定义</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buNone/>
                      </a:pPr>
                      <a:r>
                        <a:rPr lang="zh-CN" altLang="en-US" sz="1400" dirty="0">
                          <a:solidFill>
                            <a:schemeClr val="bg1"/>
                          </a:solidFill>
                        </a:rPr>
                        <a:t>最佳适用场景</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3749275536"/>
                  </a:ext>
                </a:extLst>
              </a:tr>
              <a:tr h="200694">
                <a:tc>
                  <a:txBody>
                    <a:bodyPr/>
                    <a:lstStyle/>
                    <a:p>
                      <a:pPr algn="l">
                        <a:buNone/>
                      </a:pPr>
                      <a:r>
                        <a:rPr lang="en-US" sz="1400" dirty="0"/>
                        <a:t>Scrum </a:t>
                      </a:r>
                      <a:r>
                        <a:rPr lang="zh-CN" altLang="en-US" sz="1400" dirty="0"/>
                        <a:t>敏捷</a:t>
                      </a:r>
                      <a:endParaRPr 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迭代与增量</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固定 </a:t>
                      </a:r>
                      <a:r>
                        <a:rPr lang="en-US" sz="1400"/>
                        <a:t>Sprint (2-4</a:t>
                      </a:r>
                      <a:r>
                        <a:rPr lang="zh-CN" altLang="en-US" sz="1400"/>
                        <a:t>周</a:t>
                      </a:r>
                      <a:r>
                        <a:rPr lang="en-US" altLang="zh-CN" sz="14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严格 </a:t>
                      </a:r>
                      <a:r>
                        <a:rPr lang="en-US" altLang="zh-CN" sz="1400"/>
                        <a:t>(</a:t>
                      </a:r>
                      <a:r>
                        <a:rPr lang="en-US" sz="1400"/>
                        <a:t>PO/SM/Team)</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新产品开发，需求多变</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4532577"/>
                  </a:ext>
                </a:extLst>
              </a:tr>
              <a:tr h="200694">
                <a:tc>
                  <a:txBody>
                    <a:bodyPr/>
                    <a:lstStyle/>
                    <a:p>
                      <a:pPr algn="l">
                        <a:buNone/>
                      </a:pPr>
                      <a:r>
                        <a:rPr lang="en-US" sz="1400"/>
                        <a:t>Kanban </a:t>
                      </a:r>
                      <a:r>
                        <a:rPr lang="zh-CN" altLang="en-US" sz="1400"/>
                        <a:t>看板</a:t>
                      </a:r>
                      <a:endParaRPr lang="en-US" sz="14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流动与效率</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持续流动 </a:t>
                      </a:r>
                      <a:r>
                        <a:rPr lang="en-US" altLang="zh-CN" sz="1400"/>
                        <a:t>(</a:t>
                      </a:r>
                      <a:r>
                        <a:rPr lang="zh-CN" altLang="en-US" sz="1400"/>
                        <a:t>无固定周期</a:t>
                      </a:r>
                      <a:r>
                        <a:rPr lang="en-US" altLang="zh-CN" sz="14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灵活 </a:t>
                      </a:r>
                      <a:r>
                        <a:rPr lang="en-US" altLang="zh-CN" sz="1400"/>
                        <a:t>(</a:t>
                      </a:r>
                      <a:r>
                        <a:rPr lang="zh-CN" altLang="en-US" sz="1400"/>
                        <a:t>无特定角色</a:t>
                      </a:r>
                      <a:r>
                        <a:rPr lang="en-US" altLang="zh-CN" sz="14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运维、支持、持续交付</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0437675"/>
                  </a:ext>
                </a:extLst>
              </a:tr>
              <a:tr h="200694">
                <a:tc>
                  <a:txBody>
                    <a:bodyPr/>
                    <a:lstStyle/>
                    <a:p>
                      <a:pPr algn="l">
                        <a:buNone/>
                      </a:pPr>
                      <a:r>
                        <a:rPr lang="en-US" sz="1400"/>
                        <a:t>XP </a:t>
                      </a:r>
                      <a:r>
                        <a:rPr lang="zh-CN" altLang="en-US" sz="1400"/>
                        <a:t>极限编程</a:t>
                      </a:r>
                      <a:endParaRPr lang="en-US" sz="14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工程质量</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通常配合 </a:t>
                      </a:r>
                      <a:r>
                        <a:rPr lang="en-US" sz="1400"/>
                        <a:t>Scrum </a:t>
                      </a:r>
                      <a:r>
                        <a:rPr lang="zh-CN" altLang="en-US" sz="1400"/>
                        <a:t>使用</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灵活 </a:t>
                      </a:r>
                      <a:r>
                        <a:rPr lang="en-US" altLang="zh-CN" sz="1400"/>
                        <a:t>(</a:t>
                      </a:r>
                      <a:r>
                        <a:rPr lang="zh-CN" altLang="en-US" sz="1400"/>
                        <a:t>强调结对</a:t>
                      </a:r>
                      <a:r>
                        <a:rPr lang="en-US" altLang="zh-CN" sz="14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高复杂度、高质量要求的代码开发</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0807287"/>
                  </a:ext>
                </a:extLst>
              </a:tr>
              <a:tr h="200694">
                <a:tc>
                  <a:txBody>
                    <a:bodyPr/>
                    <a:lstStyle/>
                    <a:p>
                      <a:pPr algn="l">
                        <a:buNone/>
                      </a:pPr>
                      <a:r>
                        <a:rPr lang="en-US" sz="1400"/>
                        <a:t>FDD </a:t>
                      </a:r>
                      <a:r>
                        <a:rPr lang="zh-CN" altLang="en-US" sz="1400"/>
                        <a:t>特性驱动</a:t>
                      </a:r>
                      <a:endParaRPr lang="en-US" sz="14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功能特性</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按特性交付</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较正式 </a:t>
                      </a:r>
                      <a:r>
                        <a:rPr lang="en-US" altLang="zh-CN" sz="1400"/>
                        <a:t>(</a:t>
                      </a:r>
                      <a:r>
                        <a:rPr lang="zh-CN" altLang="en-US" sz="1400"/>
                        <a:t>首席程序员等</a:t>
                      </a:r>
                      <a:r>
                        <a:rPr lang="en-US" altLang="zh-CN" sz="14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大型项目，需明确进度</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6809000"/>
                  </a:ext>
                </a:extLst>
              </a:tr>
              <a:tr h="200694">
                <a:tc>
                  <a:txBody>
                    <a:bodyPr/>
                    <a:lstStyle/>
                    <a:p>
                      <a:pPr algn="l">
                        <a:buNone/>
                      </a:pPr>
                      <a:r>
                        <a:rPr lang="en-US" sz="1400"/>
                        <a:t>Crystal </a:t>
                      </a:r>
                      <a:r>
                        <a:rPr lang="zh-CN" altLang="en-US" sz="1400"/>
                        <a:t>水晶</a:t>
                      </a:r>
                      <a:endParaRPr lang="en-US" sz="14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人与沟通</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灵活</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灵活</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dirty="0"/>
                        <a:t>强调团队协作的文化建设</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2003630"/>
                  </a:ext>
                </a:extLst>
              </a:tr>
            </a:tbl>
          </a:graphicData>
        </a:graphic>
      </p:graphicFrame>
    </p:spTree>
    <p:extLst>
      <p:ext uri="{BB962C8B-B14F-4D97-AF65-F5344CB8AC3E}">
        <p14:creationId xmlns:p14="http://schemas.microsoft.com/office/powerpoint/2010/main" val="233282634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0BD86-4599-E43C-4B41-E19A306A138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CFB3CF9-F3DC-3366-8BCB-59570683B3F7}"/>
              </a:ext>
            </a:extLst>
          </p:cNvPr>
          <p:cNvSpPr>
            <a:spLocks noGrp="1"/>
          </p:cNvSpPr>
          <p:nvPr>
            <p:ph type="title"/>
          </p:nvPr>
        </p:nvSpPr>
        <p:spPr>
          <a:xfrm>
            <a:off x="696000" y="360000"/>
            <a:ext cx="10800000" cy="429413"/>
          </a:xfrm>
        </p:spPr>
        <p:txBody>
          <a:bodyPr>
            <a:normAutofit/>
          </a:bodyPr>
          <a:lstStyle/>
          <a:p>
            <a:r>
              <a:rPr lang="en-US" altLang="zh-CN"/>
              <a:t>2.5.4.1 Scrum</a:t>
            </a:r>
            <a:endParaRPr lang="zh-CN" altLang="en-US"/>
          </a:p>
        </p:txBody>
      </p:sp>
      <p:sp>
        <p:nvSpPr>
          <p:cNvPr id="3" name="内容占位符 2">
            <a:extLst>
              <a:ext uri="{FF2B5EF4-FFF2-40B4-BE49-F238E27FC236}">
                <a16:creationId xmlns:a16="http://schemas.microsoft.com/office/drawing/2014/main" id="{15780787-8DE9-A954-129B-C9315F9232A7}"/>
              </a:ext>
            </a:extLst>
          </p:cNvPr>
          <p:cNvSpPr>
            <a:spLocks noGrp="1"/>
          </p:cNvSpPr>
          <p:nvPr>
            <p:ph sz="quarter" idx="10"/>
          </p:nvPr>
        </p:nvSpPr>
        <p:spPr>
          <a:xfrm>
            <a:off x="695325" y="864000"/>
            <a:ext cx="5040000" cy="5400000"/>
          </a:xfrm>
        </p:spPr>
        <p:txBody>
          <a:bodyPr>
            <a:normAutofit fontScale="92500" lnSpcReduction="10000"/>
          </a:bodyPr>
          <a:lstStyle/>
          <a:p>
            <a:r>
              <a:rPr lang="zh-CN" altLang="en-US"/>
              <a:t>源于橄榄球比赛中的争球（</a:t>
            </a:r>
            <a:r>
              <a:rPr lang="en-US" altLang="zh-CN"/>
              <a:t>Scrum</a:t>
            </a:r>
            <a:r>
              <a:rPr lang="zh-CN" altLang="en-US"/>
              <a:t>）</a:t>
            </a:r>
            <a:endParaRPr lang="en-US" altLang="zh-CN"/>
          </a:p>
          <a:p>
            <a:r>
              <a:rPr lang="zh-CN" altLang="en-US"/>
              <a:t>在橄榄球中，争球是比赛暂停后重新开始的方式：双方前锋队员紧密围拢，低头抵肩，形成密集阵型，共同协作以争夺控球权</a:t>
            </a:r>
            <a:endParaRPr lang="en-US" altLang="zh-CN"/>
          </a:p>
          <a:p>
            <a:r>
              <a:rPr lang="en-US" altLang="zh-CN"/>
              <a:t>1986</a:t>
            </a:r>
            <a:r>
              <a:rPr lang="zh-CN" altLang="en-US"/>
              <a:t>年被哈佛大学教授竹内弘高和野中郁次郎引入管理学领域。在</a:t>
            </a:r>
            <a:r>
              <a:rPr lang="en-US" altLang="zh-CN"/>
              <a:t>《</a:t>
            </a:r>
            <a:r>
              <a:rPr lang="zh-CN" altLang="en-US"/>
              <a:t>哈佛商业评论</a:t>
            </a:r>
            <a:r>
              <a:rPr lang="en-US" altLang="zh-CN"/>
              <a:t>》</a:t>
            </a:r>
            <a:r>
              <a:rPr lang="zh-CN" altLang="en-US"/>
              <a:t>发表的</a:t>
            </a:r>
            <a:r>
              <a:rPr lang="en-US" altLang="zh-CN"/>
              <a:t>《</a:t>
            </a:r>
            <a:r>
              <a:rPr lang="zh-CN" altLang="en-US"/>
              <a:t>新新产品开发游戏</a:t>
            </a:r>
            <a:r>
              <a:rPr lang="en-US" altLang="zh-CN"/>
              <a:t>》</a:t>
            </a:r>
            <a:r>
              <a:rPr lang="zh-CN" altLang="en-US"/>
              <a:t>一文中，用来比喻高效团队的工作方式：团队作为一个整体，在明确的目标下紧密协作、灵活应变、共同前进</a:t>
            </a:r>
            <a:endParaRPr lang="en-US" altLang="zh-CN"/>
          </a:p>
          <a:p>
            <a:r>
              <a:rPr lang="zh-CN" altLang="en-US"/>
              <a:t>这一比喻随后被杰夫</a:t>
            </a:r>
            <a:r>
              <a:rPr lang="en-US" altLang="zh-CN"/>
              <a:t>·</a:t>
            </a:r>
            <a:r>
              <a:rPr lang="zh-CN" altLang="en-US"/>
              <a:t>萨瑟兰等人借鉴，并融合了迭代、增量开发等思想</a:t>
            </a:r>
            <a:endParaRPr lang="en-US" altLang="zh-CN"/>
          </a:p>
          <a:p>
            <a:r>
              <a:rPr lang="en-US" altLang="zh-CN"/>
              <a:t>1990s</a:t>
            </a:r>
            <a:r>
              <a:rPr lang="zh-CN" altLang="en-US"/>
              <a:t>，形成了现代的</a:t>
            </a:r>
            <a:r>
              <a:rPr lang="en-US" altLang="zh-CN"/>
              <a:t>Scrum</a:t>
            </a:r>
            <a:r>
              <a:rPr lang="zh-CN" altLang="en-US"/>
              <a:t>敏捷开发框架</a:t>
            </a:r>
            <a:endParaRPr lang="en-US" altLang="zh-CN"/>
          </a:p>
          <a:p>
            <a:r>
              <a:rPr lang="zh-CN" altLang="en-US"/>
              <a:t>其核心精神与橄榄球争球高度一致：强调团队的自组织、跨职能协作、快速响应变化，以及为了同一个目标而并肩努力</a:t>
            </a:r>
            <a:endParaRPr lang="en-US" altLang="zh-CN"/>
          </a:p>
          <a:p>
            <a:r>
              <a:rPr lang="en-US" altLang="zh-CN"/>
              <a:t>Scrum</a:t>
            </a:r>
            <a:r>
              <a:rPr lang="zh-CN" altLang="en-US"/>
              <a:t>一词不仅是一个名称，更形象地传达了其团队协作与敏捷的核心哲学</a:t>
            </a:r>
            <a:endParaRPr lang="en-US" altLang="zh-CN"/>
          </a:p>
          <a:p>
            <a:endParaRPr lang="en-US" altLang="zh-CN"/>
          </a:p>
        </p:txBody>
      </p:sp>
      <p:pic>
        <p:nvPicPr>
          <p:cNvPr id="5" name="内容占位符 4">
            <a:extLst>
              <a:ext uri="{FF2B5EF4-FFF2-40B4-BE49-F238E27FC236}">
                <a16:creationId xmlns:a16="http://schemas.microsoft.com/office/drawing/2014/main" id="{A53AA19A-1E08-47C0-D3FB-C68E81E3CF80}"/>
              </a:ext>
            </a:extLst>
          </p:cNvPr>
          <p:cNvPicPr>
            <a:picLocks noGrp="1" noChangeAspect="1"/>
          </p:cNvPicPr>
          <p:nvPr>
            <p:ph sz="quarter" idx="11"/>
          </p:nvPr>
        </p:nvPicPr>
        <p:blipFill>
          <a:blip r:embed="rId2"/>
          <a:stretch>
            <a:fillRect/>
          </a:stretch>
        </p:blipFill>
        <p:spPr>
          <a:xfrm>
            <a:off x="6096000" y="1762723"/>
            <a:ext cx="5400675" cy="3602428"/>
          </a:xfrm>
        </p:spPr>
      </p:pic>
    </p:spTree>
    <p:extLst>
      <p:ext uri="{BB962C8B-B14F-4D97-AF65-F5344CB8AC3E}">
        <p14:creationId xmlns:p14="http://schemas.microsoft.com/office/powerpoint/2010/main" val="198656589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2B8834-A60F-4877-8328-06ACE68C4EF9}"/>
              </a:ext>
            </a:extLst>
          </p:cNvPr>
          <p:cNvSpPr>
            <a:spLocks noGrp="1"/>
          </p:cNvSpPr>
          <p:nvPr>
            <p:ph type="title"/>
          </p:nvPr>
        </p:nvSpPr>
        <p:spPr>
          <a:xfrm>
            <a:off x="792000" y="360000"/>
            <a:ext cx="6375921" cy="429413"/>
          </a:xfrm>
        </p:spPr>
        <p:txBody>
          <a:bodyPr/>
          <a:lstStyle/>
          <a:p>
            <a:r>
              <a:rPr lang="en-US" altLang="zh-CN"/>
              <a:t>2.5.4.2 </a:t>
            </a:r>
            <a:r>
              <a:rPr lang="zh-CN" altLang="en-US"/>
              <a:t>看板</a:t>
            </a:r>
          </a:p>
        </p:txBody>
      </p:sp>
      <p:sp>
        <p:nvSpPr>
          <p:cNvPr id="34" name="内容占位符 33">
            <a:extLst>
              <a:ext uri="{FF2B5EF4-FFF2-40B4-BE49-F238E27FC236}">
                <a16:creationId xmlns:a16="http://schemas.microsoft.com/office/drawing/2014/main" id="{8CCC7851-6551-32B3-A2B6-229FFE352F72}"/>
              </a:ext>
            </a:extLst>
          </p:cNvPr>
          <p:cNvSpPr>
            <a:spLocks noGrp="1"/>
          </p:cNvSpPr>
          <p:nvPr>
            <p:ph idx="1"/>
          </p:nvPr>
        </p:nvSpPr>
        <p:spPr>
          <a:xfrm>
            <a:off x="696000" y="864000"/>
            <a:ext cx="10800000" cy="5400000"/>
          </a:xfrm>
        </p:spPr>
        <p:txBody>
          <a:bodyPr/>
          <a:lstStyle/>
          <a:p>
            <a:r>
              <a:rPr lang="zh-CN" altLang="en-US"/>
              <a:t>看板是日语中的一个词</a:t>
            </a:r>
            <a:endParaRPr lang="en-US" altLang="zh-CN"/>
          </a:p>
          <a:p>
            <a:r>
              <a:rPr lang="en-US" altLang="zh-CN"/>
              <a:t>1940s</a:t>
            </a:r>
            <a:r>
              <a:rPr lang="zh-CN" altLang="en-US"/>
              <a:t>，日本丰田汽车公司提出</a:t>
            </a:r>
            <a:endParaRPr lang="en-US" altLang="zh-CN"/>
          </a:p>
          <a:p>
            <a:pPr lvl="1"/>
            <a:r>
              <a:rPr lang="zh-CN" altLang="en-US"/>
              <a:t>为了管理制造过程而发明</a:t>
            </a:r>
            <a:endParaRPr lang="en-US" altLang="zh-CN"/>
          </a:p>
          <a:p>
            <a:pPr lvl="1"/>
            <a:r>
              <a:rPr lang="zh-CN" altLang="en-US"/>
              <a:t>包含完成产品所需所有信息的卡片，记录了产品从开始到完成的每个阶段</a:t>
            </a:r>
            <a:endParaRPr lang="en-US" altLang="zh-CN"/>
          </a:p>
          <a:p>
            <a:r>
              <a:rPr lang="zh-CN" altLang="en-US"/>
              <a:t>这个框架或方法在软件测试中广泛应用，尤其是在敏捷方法中</a:t>
            </a:r>
            <a:endParaRPr lang="en-US" altLang="zh-CN"/>
          </a:p>
          <a:p>
            <a:r>
              <a:rPr lang="zh-CN" altLang="en-US"/>
              <a:t>强调持续改进和工作流程开放性的视觉项目管理模型</a:t>
            </a:r>
            <a:endParaRPr lang="en-US" altLang="zh-CN"/>
          </a:p>
          <a:p>
            <a:r>
              <a:rPr lang="zh-CN" altLang="en-US"/>
              <a:t>在软件测试中，看板的主要作用是展示项目状态，以便清楚地了解待办事项中等待被选择的工作，正在进行的任务，以及已完成的工作</a:t>
            </a:r>
            <a:endParaRPr lang="en-US" altLang="zh-CN"/>
          </a:p>
          <a:p>
            <a:r>
              <a:rPr lang="zh-CN" altLang="en-US"/>
              <a:t>在软件测试中，看板有助于提高组织效率，保持项目流程的连贯性，并在整个过程中促进工作状态的透明度</a:t>
            </a:r>
          </a:p>
        </p:txBody>
      </p:sp>
      <p:sp>
        <p:nvSpPr>
          <p:cNvPr id="13" name="文本占位符 12">
            <a:extLst>
              <a:ext uri="{FF2B5EF4-FFF2-40B4-BE49-F238E27FC236}">
                <a16:creationId xmlns:a16="http://schemas.microsoft.com/office/drawing/2014/main" id="{05A97A07-7573-2D29-D65A-024007791A91}"/>
              </a:ext>
            </a:extLst>
          </p:cNvPr>
          <p:cNvSpPr>
            <a:spLocks noGrp="1"/>
          </p:cNvSpPr>
          <p:nvPr>
            <p:ph type="body" sz="quarter" idx="10"/>
          </p:nvPr>
        </p:nvSpPr>
        <p:spPr>
          <a:xfrm>
            <a:off x="7071919" y="448519"/>
            <a:ext cx="4424080" cy="338554"/>
          </a:xfrm>
        </p:spPr>
        <p:txBody>
          <a:bodyPr/>
          <a:lstStyle/>
          <a:p>
            <a:r>
              <a:rPr lang="en-US" altLang="zh-CN"/>
              <a:t>Kanban</a:t>
            </a:r>
            <a:endParaRPr lang="zh-CN" altLang="en-US"/>
          </a:p>
        </p:txBody>
      </p:sp>
    </p:spTree>
    <p:extLst>
      <p:ext uri="{BB962C8B-B14F-4D97-AF65-F5344CB8AC3E}">
        <p14:creationId xmlns:p14="http://schemas.microsoft.com/office/powerpoint/2010/main" val="364801281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A29F4C9C-CF35-6EFD-AFF1-8DEC2AC889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828817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61857524-F31B-2EF0-F825-5990D2AEA6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0150" y="0"/>
            <a:ext cx="979011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847012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687DB9E3-0665-6134-C070-DCDED6B9E77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07" t="1004" r="645" b="2223"/>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670304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表格 9">
            <a:extLst>
              <a:ext uri="{FF2B5EF4-FFF2-40B4-BE49-F238E27FC236}">
                <a16:creationId xmlns:a16="http://schemas.microsoft.com/office/drawing/2014/main" id="{CFDD572B-E7CA-D0EC-CE98-D4CCB68278A9}"/>
              </a:ext>
            </a:extLst>
          </p:cNvPr>
          <p:cNvGraphicFramePr>
            <a:graphicFrameLocks noGrp="1"/>
          </p:cNvGraphicFramePr>
          <p:nvPr>
            <p:extLst>
              <p:ext uri="{D42A27DB-BD31-4B8C-83A1-F6EECF244321}">
                <p14:modId xmlns:p14="http://schemas.microsoft.com/office/powerpoint/2010/main" val="2321497576"/>
              </p:ext>
            </p:extLst>
          </p:nvPr>
        </p:nvGraphicFramePr>
        <p:xfrm>
          <a:off x="695325" y="846460"/>
          <a:ext cx="10800676" cy="5400675"/>
        </p:xfrm>
        <a:graphic>
          <a:graphicData uri="http://schemas.openxmlformats.org/drawingml/2006/table">
            <a:tbl>
              <a:tblPr/>
              <a:tblGrid>
                <a:gridCol w="2116701">
                  <a:extLst>
                    <a:ext uri="{9D8B030D-6E8A-4147-A177-3AD203B41FA5}">
                      <a16:colId xmlns:a16="http://schemas.microsoft.com/office/drawing/2014/main" val="587529516"/>
                    </a:ext>
                  </a:extLst>
                </a:gridCol>
                <a:gridCol w="2467897">
                  <a:extLst>
                    <a:ext uri="{9D8B030D-6E8A-4147-A177-3AD203B41FA5}">
                      <a16:colId xmlns:a16="http://schemas.microsoft.com/office/drawing/2014/main" val="1768948301"/>
                    </a:ext>
                  </a:extLst>
                </a:gridCol>
                <a:gridCol w="3108039">
                  <a:extLst>
                    <a:ext uri="{9D8B030D-6E8A-4147-A177-3AD203B41FA5}">
                      <a16:colId xmlns:a16="http://schemas.microsoft.com/office/drawing/2014/main" val="2241009426"/>
                    </a:ext>
                  </a:extLst>
                </a:gridCol>
                <a:gridCol w="3108039">
                  <a:extLst>
                    <a:ext uri="{9D8B030D-6E8A-4147-A177-3AD203B41FA5}">
                      <a16:colId xmlns:a16="http://schemas.microsoft.com/office/drawing/2014/main" val="2032985488"/>
                    </a:ext>
                  </a:extLst>
                </a:gridCol>
              </a:tblGrid>
              <a:tr h="342900">
                <a:tc>
                  <a:txBody>
                    <a:bodyPr/>
                    <a:lstStyle/>
                    <a:p>
                      <a:pPr>
                        <a:buNone/>
                      </a:pPr>
                      <a:r>
                        <a:rPr lang="en-US" altLang="zh-CN" sz="1400" dirty="0">
                          <a:solidFill>
                            <a:schemeClr val="bg1"/>
                          </a:solidFill>
                        </a:rPr>
                        <a:t>Column</a:t>
                      </a:r>
                      <a:endParaRPr lang="zh-CN" altLang="en-US" sz="1400" dirty="0">
                        <a:solidFill>
                          <a:schemeClr val="bg1"/>
                        </a:solidFill>
                      </a:endParaRP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buNone/>
                      </a:pPr>
                      <a:r>
                        <a:rPr lang="en-US" altLang="zh-CN" sz="1400" dirty="0">
                          <a:solidFill>
                            <a:schemeClr val="bg1"/>
                          </a:solidFill>
                        </a:rPr>
                        <a:t>Icon</a:t>
                      </a:r>
                      <a:endParaRPr lang="zh-CN" altLang="en-US" sz="1400" dirty="0">
                        <a:solidFill>
                          <a:schemeClr val="bg1"/>
                        </a:solidFill>
                      </a:endParaRP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buNone/>
                      </a:pPr>
                      <a:r>
                        <a:rPr lang="en-US" altLang="zh-CN" sz="1400" dirty="0">
                          <a:solidFill>
                            <a:schemeClr val="bg1"/>
                          </a:solidFill>
                        </a:rPr>
                        <a:t>Description</a:t>
                      </a:r>
                      <a:endParaRPr lang="zh-CN" altLang="en-US" sz="1400" dirty="0">
                        <a:solidFill>
                          <a:schemeClr val="bg1"/>
                        </a:solidFill>
                      </a:endParaRP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buNone/>
                      </a:pPr>
                      <a:r>
                        <a:rPr lang="en-US" altLang="zh-CN" sz="1400" dirty="0">
                          <a:solidFill>
                            <a:schemeClr val="bg1"/>
                          </a:solidFill>
                        </a:rPr>
                        <a:t>Role</a:t>
                      </a:r>
                      <a:endParaRPr lang="zh-CN" altLang="en-US" sz="1400" dirty="0">
                        <a:solidFill>
                          <a:schemeClr val="bg1"/>
                        </a:solidFill>
                      </a:endParaRP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2161160263"/>
                  </a:ext>
                </a:extLst>
              </a:tr>
              <a:tr h="857250">
                <a:tc>
                  <a:txBody>
                    <a:bodyPr/>
                    <a:lstStyle/>
                    <a:p>
                      <a:pPr>
                        <a:buNone/>
                      </a:pPr>
                      <a:r>
                        <a:rPr lang="en-US" sz="1400"/>
                        <a:t>To Do</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a:t>📋 待办清单</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a:t>尚未开始的工作项（如用户故事、</a:t>
                      </a:r>
                      <a:r>
                        <a:rPr lang="en-US" altLang="zh-CN" sz="1400"/>
                        <a:t>Bug</a:t>
                      </a:r>
                      <a:r>
                        <a:rPr lang="zh-CN" altLang="en-US" sz="1400"/>
                        <a:t>、技术债等）</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a:t>输入池，等待被拉取进入流程</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22587138"/>
                  </a:ext>
                </a:extLst>
              </a:tr>
              <a:tr h="600075">
                <a:tc>
                  <a:txBody>
                    <a:bodyPr/>
                    <a:lstStyle/>
                    <a:p>
                      <a:pPr>
                        <a:buNone/>
                      </a:pPr>
                      <a:r>
                        <a:rPr lang="en-US" sz="1400"/>
                        <a:t>Requirement</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dirty="0"/>
                        <a:t>✅ 需求确认</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a:t>需求已明确、可执行（可能包含验收标准）</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a:t>“就绪”状态，确保下游不会因需求模糊而阻塞</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60544597"/>
                  </a:ext>
                </a:extLst>
              </a:tr>
              <a:tr h="600075">
                <a:tc>
                  <a:txBody>
                    <a:bodyPr/>
                    <a:lstStyle/>
                    <a:p>
                      <a:pPr>
                        <a:buNone/>
                      </a:pPr>
                      <a:r>
                        <a:rPr lang="en-US" sz="1400"/>
                        <a:t>Design</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a:t>🔗 系统设计</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a:t>架构</a:t>
                      </a:r>
                      <a:r>
                        <a:rPr lang="en-US" altLang="zh-CN" sz="1400"/>
                        <a:t>/</a:t>
                      </a:r>
                      <a:r>
                        <a:rPr lang="zh-CN" altLang="en-US" sz="1400"/>
                        <a:t>界面</a:t>
                      </a:r>
                      <a:r>
                        <a:rPr lang="en-US" altLang="zh-CN" sz="1400"/>
                        <a:t>/</a:t>
                      </a:r>
                      <a:r>
                        <a:rPr lang="zh-CN" altLang="en-US" sz="1400"/>
                        <a:t>接口设计完成</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a:t>防止开发中途返工，提升质量前置</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6723705"/>
                  </a:ext>
                </a:extLst>
              </a:tr>
              <a:tr h="600075">
                <a:tc>
                  <a:txBody>
                    <a:bodyPr/>
                    <a:lstStyle/>
                    <a:p>
                      <a:pPr>
                        <a:buNone/>
                      </a:pPr>
                      <a:r>
                        <a:rPr lang="en-US" sz="1400"/>
                        <a:t>Development</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a:t>💻 编码实现</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a:t>正在编写代码、单元测试</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a:t>核心价值创造环节，通常 </a:t>
                      </a:r>
                      <a:r>
                        <a:rPr lang="en-US" altLang="zh-CN" sz="1400"/>
                        <a:t>WIP </a:t>
                      </a:r>
                      <a:r>
                        <a:rPr lang="zh-CN" altLang="en-US" sz="1400"/>
                        <a:t>限制最严</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2223918"/>
                  </a:ext>
                </a:extLst>
              </a:tr>
              <a:tr h="600075">
                <a:tc>
                  <a:txBody>
                    <a:bodyPr/>
                    <a:lstStyle/>
                    <a:p>
                      <a:pPr>
                        <a:buNone/>
                      </a:pPr>
                      <a:r>
                        <a:rPr lang="en-US" sz="1400"/>
                        <a:t>Testing</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a:t>✔️ 测试验证</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altLang="zh-CN" sz="1400"/>
                        <a:t>QA </a:t>
                      </a:r>
                      <a:r>
                        <a:rPr lang="zh-CN" altLang="en-US" sz="1400"/>
                        <a:t>或自动化测试进行中</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a:t>质量保证关卡，防止缺陷流入生产</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1476921"/>
                  </a:ext>
                </a:extLst>
              </a:tr>
              <a:tr h="600075">
                <a:tc>
                  <a:txBody>
                    <a:bodyPr/>
                    <a:lstStyle/>
                    <a:p>
                      <a:pPr>
                        <a:buNone/>
                      </a:pPr>
                      <a:r>
                        <a:rPr lang="en-US" sz="1400"/>
                        <a:t>Acceptance</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a:t>👥 用户</a:t>
                      </a:r>
                      <a:r>
                        <a:rPr lang="en-US" altLang="zh-CN" sz="1400"/>
                        <a:t>/</a:t>
                      </a:r>
                      <a:r>
                        <a:rPr lang="en-US" sz="1400"/>
                        <a:t>PO </a:t>
                      </a:r>
                      <a:r>
                        <a:rPr lang="zh-CN" altLang="en-US" sz="1400"/>
                        <a:t>验收</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a:t>产品负责人或客户确认功能符合预期</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a:t>最终业务价值确认，避免“做错了事”</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6229138"/>
                  </a:ext>
                </a:extLst>
              </a:tr>
              <a:tr h="600075">
                <a:tc>
                  <a:txBody>
                    <a:bodyPr/>
                    <a:lstStyle/>
                    <a:p>
                      <a:pPr>
                        <a:buNone/>
                      </a:pPr>
                      <a:r>
                        <a:rPr lang="en-US" sz="1400"/>
                        <a:t>Deployment</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a:t>⚙️ 部署发布</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a:t>自动或手动部署到预发</a:t>
                      </a:r>
                      <a:r>
                        <a:rPr lang="en-US" altLang="zh-CN" sz="1400"/>
                        <a:t>/</a:t>
                      </a:r>
                      <a:r>
                        <a:rPr lang="zh-CN" altLang="en-US" sz="1400"/>
                        <a:t>生产环境</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a:t>技术就绪，准备对外服务</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6921987"/>
                  </a:ext>
                </a:extLst>
              </a:tr>
              <a:tr h="600075">
                <a:tc>
                  <a:txBody>
                    <a:bodyPr/>
                    <a:lstStyle/>
                    <a:p>
                      <a:pPr>
                        <a:buNone/>
                      </a:pPr>
                      <a:r>
                        <a:rPr lang="en-US" sz="1400"/>
                        <a:t>Launch</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a:t>🚀 正式上线</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a:t>功能对用户可见、产生实际价值</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dirty="0"/>
                        <a:t>价值交付终点，也是 </a:t>
                      </a:r>
                      <a:r>
                        <a:rPr lang="en-US" altLang="zh-CN" sz="1400" dirty="0"/>
                        <a:t>Outcome </a:t>
                      </a:r>
                      <a:r>
                        <a:rPr lang="zh-CN" altLang="en-US" sz="1400" dirty="0"/>
                        <a:t>的起点</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72053"/>
                  </a:ext>
                </a:extLst>
              </a:tr>
            </a:tbl>
          </a:graphicData>
        </a:graphic>
      </p:graphicFrame>
    </p:spTree>
    <p:extLst>
      <p:ext uri="{BB962C8B-B14F-4D97-AF65-F5344CB8AC3E}">
        <p14:creationId xmlns:p14="http://schemas.microsoft.com/office/powerpoint/2010/main" val="36014143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96DE1-BC7B-F1FA-F610-29BF5CBE187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244F7D3-788B-E8A2-CE2D-C4BC20AC69D2}"/>
              </a:ext>
            </a:extLst>
          </p:cNvPr>
          <p:cNvSpPr>
            <a:spLocks noGrp="1"/>
          </p:cNvSpPr>
          <p:nvPr>
            <p:ph type="title"/>
          </p:nvPr>
        </p:nvSpPr>
        <p:spPr>
          <a:xfrm>
            <a:off x="792000" y="360000"/>
            <a:ext cx="6375921" cy="429413"/>
          </a:xfrm>
        </p:spPr>
        <p:txBody>
          <a:bodyPr/>
          <a:lstStyle/>
          <a:p>
            <a:r>
              <a:rPr lang="en-US" altLang="zh-CN"/>
              <a:t>2.5.4.3 </a:t>
            </a:r>
            <a:r>
              <a:rPr lang="zh-CN" altLang="en-US"/>
              <a:t>极限编程</a:t>
            </a:r>
          </a:p>
        </p:txBody>
      </p:sp>
      <p:sp>
        <p:nvSpPr>
          <p:cNvPr id="12" name="内容占位符 11">
            <a:extLst>
              <a:ext uri="{FF2B5EF4-FFF2-40B4-BE49-F238E27FC236}">
                <a16:creationId xmlns:a16="http://schemas.microsoft.com/office/drawing/2014/main" id="{877CA60E-837E-D56A-3E66-3C538AFF7BE1}"/>
              </a:ext>
            </a:extLst>
          </p:cNvPr>
          <p:cNvSpPr>
            <a:spLocks noGrp="1"/>
          </p:cNvSpPr>
          <p:nvPr>
            <p:ph idx="1"/>
          </p:nvPr>
        </p:nvSpPr>
        <p:spPr>
          <a:xfrm>
            <a:off x="696000" y="864000"/>
            <a:ext cx="10800000" cy="5400000"/>
          </a:xfrm>
        </p:spPr>
        <p:txBody>
          <a:bodyPr>
            <a:normAutofit/>
          </a:bodyPr>
          <a:lstStyle/>
          <a:p>
            <a:r>
              <a:rPr lang="zh-CN" altLang="en-US">
                <a:hlinkClick r:id="rId3"/>
              </a:rPr>
              <a:t>极限编程 </a:t>
            </a:r>
            <a:r>
              <a:rPr lang="en-US" altLang="zh-CN">
                <a:hlinkClick r:id="rId3"/>
              </a:rPr>
              <a:t>XP</a:t>
            </a:r>
            <a:endParaRPr lang="en-US" altLang="zh-CN"/>
          </a:p>
          <a:p>
            <a:r>
              <a:rPr lang="zh-CN" altLang="en-US"/>
              <a:t>敏捷开发家族中最具体、最严格、最具工程实践性的方法论</a:t>
            </a:r>
            <a:endParaRPr lang="en-US" altLang="zh-CN"/>
          </a:p>
          <a:p>
            <a:r>
              <a:rPr lang="en-US" altLang="zh-CN"/>
              <a:t>1990s</a:t>
            </a:r>
            <a:r>
              <a:rPr lang="zh-CN" altLang="en-US"/>
              <a:t>，</a:t>
            </a:r>
            <a:r>
              <a:rPr lang="en-US" altLang="zh-CN"/>
              <a:t>Kent Beck</a:t>
            </a:r>
            <a:r>
              <a:rPr lang="zh-CN" altLang="en-US"/>
              <a:t>提出</a:t>
            </a:r>
            <a:endParaRPr lang="en-US" altLang="zh-CN"/>
          </a:p>
          <a:p>
            <a:pPr lvl="1"/>
            <a:r>
              <a:rPr lang="zh-CN" altLang="en-US"/>
              <a:t>把软件开发中所有有益的做法，都做到极致</a:t>
            </a:r>
            <a:endParaRPr lang="en-US" altLang="zh-CN"/>
          </a:p>
          <a:p>
            <a:r>
              <a:rPr lang="zh-CN" altLang="en-US"/>
              <a:t>适用场景：需求不明确、变化极快、风险高、对代码质量要求高</a:t>
            </a:r>
            <a:endParaRPr lang="en-US" altLang="zh-CN"/>
          </a:p>
          <a:p>
            <a:endParaRPr lang="zh-CN" altLang="en-US"/>
          </a:p>
        </p:txBody>
      </p:sp>
      <p:sp>
        <p:nvSpPr>
          <p:cNvPr id="13" name="文本占位符 12">
            <a:extLst>
              <a:ext uri="{FF2B5EF4-FFF2-40B4-BE49-F238E27FC236}">
                <a16:creationId xmlns:a16="http://schemas.microsoft.com/office/drawing/2014/main" id="{AD5AE6BE-03AE-2A51-91AB-CD191D6C1777}"/>
              </a:ext>
            </a:extLst>
          </p:cNvPr>
          <p:cNvSpPr>
            <a:spLocks noGrp="1"/>
          </p:cNvSpPr>
          <p:nvPr>
            <p:ph type="body" sz="quarter" idx="10"/>
          </p:nvPr>
        </p:nvSpPr>
        <p:spPr>
          <a:xfrm>
            <a:off x="7071919" y="448519"/>
            <a:ext cx="4424080" cy="338554"/>
          </a:xfrm>
        </p:spPr>
        <p:txBody>
          <a:bodyPr/>
          <a:lstStyle/>
          <a:p>
            <a:r>
              <a:rPr lang="en-US" altLang="zh-CN"/>
              <a:t>Extreme Programming </a:t>
            </a:r>
            <a:endParaRPr lang="zh-CN" altLang="en-US"/>
          </a:p>
        </p:txBody>
      </p:sp>
    </p:spTree>
    <p:extLst>
      <p:ext uri="{BB962C8B-B14F-4D97-AF65-F5344CB8AC3E}">
        <p14:creationId xmlns:p14="http://schemas.microsoft.com/office/powerpoint/2010/main" val="308079089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B2999-11AA-7A78-ADA6-529959C387D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0E22E4A-6EEF-F4BE-8D7E-A2B3BFBEAF60}"/>
              </a:ext>
            </a:extLst>
          </p:cNvPr>
          <p:cNvSpPr>
            <a:spLocks noGrp="1"/>
          </p:cNvSpPr>
          <p:nvPr>
            <p:ph type="title"/>
          </p:nvPr>
        </p:nvSpPr>
        <p:spPr>
          <a:xfrm>
            <a:off x="792000" y="360000"/>
            <a:ext cx="6375921" cy="429413"/>
          </a:xfrm>
        </p:spPr>
        <p:txBody>
          <a:bodyPr/>
          <a:lstStyle/>
          <a:p>
            <a:r>
              <a:rPr lang="en-US" altLang="zh-CN"/>
              <a:t>2.5.4.3 </a:t>
            </a:r>
            <a:r>
              <a:rPr lang="zh-CN" altLang="en-US"/>
              <a:t>极限编程</a:t>
            </a:r>
          </a:p>
        </p:txBody>
      </p:sp>
      <p:sp>
        <p:nvSpPr>
          <p:cNvPr id="12" name="内容占位符 11">
            <a:extLst>
              <a:ext uri="{FF2B5EF4-FFF2-40B4-BE49-F238E27FC236}">
                <a16:creationId xmlns:a16="http://schemas.microsoft.com/office/drawing/2014/main" id="{30EAD50D-D019-5A2A-1451-4FA129BB263D}"/>
              </a:ext>
            </a:extLst>
          </p:cNvPr>
          <p:cNvSpPr>
            <a:spLocks noGrp="1"/>
          </p:cNvSpPr>
          <p:nvPr>
            <p:ph idx="1"/>
          </p:nvPr>
        </p:nvSpPr>
        <p:spPr>
          <a:xfrm>
            <a:off x="696000" y="864000"/>
            <a:ext cx="10800000" cy="5400000"/>
          </a:xfrm>
        </p:spPr>
        <p:txBody>
          <a:bodyPr>
            <a:normAutofit/>
          </a:bodyPr>
          <a:lstStyle/>
          <a:p>
            <a:r>
              <a:rPr lang="en-US" altLang="zh-CN"/>
              <a:t>13</a:t>
            </a:r>
            <a:r>
              <a:rPr lang="zh-CN" altLang="en-US"/>
              <a:t>个敏捷实践</a:t>
            </a:r>
            <a:endParaRPr lang="en-US" altLang="zh-CN"/>
          </a:p>
          <a:p>
            <a:pPr lvl="1"/>
            <a:r>
              <a:rPr lang="zh-CN" altLang="en-US"/>
              <a:t>统一团队</a:t>
            </a:r>
            <a:endParaRPr lang="en-US" altLang="zh-CN"/>
          </a:p>
          <a:p>
            <a:pPr lvl="1"/>
            <a:r>
              <a:rPr lang="zh-CN" altLang="en-US"/>
              <a:t>策划游戏</a:t>
            </a:r>
            <a:endParaRPr lang="en-US" altLang="zh-CN"/>
          </a:p>
          <a:p>
            <a:pPr lvl="1"/>
            <a:r>
              <a:rPr lang="zh-CN" altLang="en-US"/>
              <a:t>小型发布</a:t>
            </a:r>
            <a:endParaRPr lang="en-US" altLang="zh-CN"/>
          </a:p>
          <a:p>
            <a:pPr lvl="1"/>
            <a:r>
              <a:rPr lang="zh-CN" altLang="en-US"/>
              <a:t>客户验收</a:t>
            </a:r>
            <a:endParaRPr lang="en-US" altLang="zh-CN"/>
          </a:p>
          <a:p>
            <a:pPr lvl="1"/>
            <a:r>
              <a:rPr lang="zh-CN" altLang="en-US"/>
              <a:t>代码集体所有</a:t>
            </a:r>
            <a:endParaRPr lang="en-US" altLang="zh-CN"/>
          </a:p>
          <a:p>
            <a:pPr lvl="1"/>
            <a:r>
              <a:rPr lang="zh-CN" altLang="en-US"/>
              <a:t>编码标准</a:t>
            </a:r>
            <a:endParaRPr lang="en-US" altLang="zh-CN"/>
          </a:p>
          <a:p>
            <a:pPr lvl="1"/>
            <a:r>
              <a:rPr lang="zh-CN" altLang="en-US"/>
              <a:t>恒定速率</a:t>
            </a:r>
            <a:endParaRPr lang="en-US" altLang="zh-CN"/>
          </a:p>
          <a:p>
            <a:pPr lvl="1"/>
            <a:r>
              <a:rPr lang="zh-CN" altLang="en-US"/>
              <a:t>系统隐喻</a:t>
            </a:r>
            <a:endParaRPr lang="en-US" altLang="zh-CN"/>
          </a:p>
          <a:p>
            <a:pPr lvl="1"/>
            <a:r>
              <a:rPr lang="zh-CN" altLang="en-US"/>
              <a:t>持续集成</a:t>
            </a:r>
            <a:endParaRPr lang="en-US" altLang="zh-CN"/>
          </a:p>
          <a:p>
            <a:pPr lvl="1"/>
            <a:r>
              <a:rPr lang="zh-CN" altLang="en-US"/>
              <a:t>简单设计</a:t>
            </a:r>
            <a:endParaRPr lang="en-US" altLang="zh-CN"/>
          </a:p>
          <a:p>
            <a:pPr lvl="1"/>
            <a:r>
              <a:rPr lang="zh-CN" altLang="en-US"/>
              <a:t>结对编程</a:t>
            </a:r>
            <a:endParaRPr lang="en-US" altLang="zh-CN"/>
          </a:p>
          <a:p>
            <a:pPr lvl="1"/>
            <a:r>
              <a:rPr lang="zh-CN" altLang="en-US"/>
              <a:t>测试驱动开发</a:t>
            </a:r>
            <a:endParaRPr lang="en-US" altLang="zh-CN"/>
          </a:p>
          <a:p>
            <a:pPr lvl="1"/>
            <a:r>
              <a:rPr lang="zh-CN" altLang="en-US"/>
              <a:t>重构</a:t>
            </a:r>
          </a:p>
        </p:txBody>
      </p:sp>
      <p:sp>
        <p:nvSpPr>
          <p:cNvPr id="13" name="文本占位符 12">
            <a:extLst>
              <a:ext uri="{FF2B5EF4-FFF2-40B4-BE49-F238E27FC236}">
                <a16:creationId xmlns:a16="http://schemas.microsoft.com/office/drawing/2014/main" id="{6ABB7630-2A3B-A181-E410-93FDBE65BB75}"/>
              </a:ext>
            </a:extLst>
          </p:cNvPr>
          <p:cNvSpPr>
            <a:spLocks noGrp="1"/>
          </p:cNvSpPr>
          <p:nvPr>
            <p:ph type="body" sz="quarter" idx="10"/>
          </p:nvPr>
        </p:nvSpPr>
        <p:spPr>
          <a:xfrm>
            <a:off x="7071919" y="448519"/>
            <a:ext cx="4424080" cy="338554"/>
          </a:xfrm>
        </p:spPr>
        <p:txBody>
          <a:bodyPr/>
          <a:lstStyle/>
          <a:p>
            <a:r>
              <a:rPr lang="en-US" altLang="zh-CN"/>
              <a:t>Extreme Programming </a:t>
            </a:r>
            <a:endParaRPr lang="zh-CN" altLang="en-US"/>
          </a:p>
        </p:txBody>
      </p:sp>
      <p:graphicFrame>
        <p:nvGraphicFramePr>
          <p:cNvPr id="5" name="图示 4">
            <a:extLst>
              <a:ext uri="{FF2B5EF4-FFF2-40B4-BE49-F238E27FC236}">
                <a16:creationId xmlns:a16="http://schemas.microsoft.com/office/drawing/2014/main" id="{07C4F0F0-0BBF-9C75-D490-70B7290B2C63}"/>
              </a:ext>
            </a:extLst>
          </p:cNvPr>
          <p:cNvGraphicFramePr>
            <a:graphicFrameLocks noChangeAspect="1"/>
          </p:cNvGraphicFramePr>
          <p:nvPr>
            <p:extLst>
              <p:ext uri="{D42A27DB-BD31-4B8C-83A1-F6EECF244321}">
                <p14:modId xmlns:p14="http://schemas.microsoft.com/office/powerpoint/2010/main" val="1797760372"/>
              </p:ext>
            </p:extLst>
          </p:nvPr>
        </p:nvGraphicFramePr>
        <p:xfrm>
          <a:off x="6230374" y="1803400"/>
          <a:ext cx="4876800" cy="3251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936713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A87FD-E833-DC86-C1D8-23E7E040CAF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E196B22-A63F-0F30-2E83-3D3F4C63AB1B}"/>
              </a:ext>
            </a:extLst>
          </p:cNvPr>
          <p:cNvSpPr>
            <a:spLocks noGrp="1"/>
          </p:cNvSpPr>
          <p:nvPr>
            <p:ph type="title"/>
          </p:nvPr>
        </p:nvSpPr>
        <p:spPr>
          <a:xfrm>
            <a:off x="792000" y="360000"/>
            <a:ext cx="6375921" cy="429413"/>
          </a:xfrm>
        </p:spPr>
        <p:txBody>
          <a:bodyPr/>
          <a:lstStyle/>
          <a:p>
            <a:r>
              <a:rPr lang="en-US" altLang="zh-CN"/>
              <a:t>2.5.4.3 </a:t>
            </a:r>
            <a:r>
              <a:rPr lang="zh-CN" altLang="en-US"/>
              <a:t>极限编程</a:t>
            </a:r>
          </a:p>
        </p:txBody>
      </p:sp>
      <p:sp>
        <p:nvSpPr>
          <p:cNvPr id="12" name="内容占位符 11">
            <a:extLst>
              <a:ext uri="{FF2B5EF4-FFF2-40B4-BE49-F238E27FC236}">
                <a16:creationId xmlns:a16="http://schemas.microsoft.com/office/drawing/2014/main" id="{73177BD5-7780-207C-EAF8-FE356E61252E}"/>
              </a:ext>
            </a:extLst>
          </p:cNvPr>
          <p:cNvSpPr>
            <a:spLocks noGrp="1"/>
          </p:cNvSpPr>
          <p:nvPr>
            <p:ph idx="1"/>
          </p:nvPr>
        </p:nvSpPr>
        <p:spPr>
          <a:xfrm>
            <a:off x="696000" y="864000"/>
            <a:ext cx="10800000" cy="5400000"/>
          </a:xfrm>
        </p:spPr>
        <p:txBody>
          <a:bodyPr>
            <a:normAutofit/>
          </a:bodyPr>
          <a:lstStyle/>
          <a:p>
            <a:r>
              <a:rPr lang="en-US" altLang="zh-CN"/>
              <a:t>4</a:t>
            </a:r>
            <a:r>
              <a:rPr lang="zh-CN" altLang="en-US"/>
              <a:t>大价值观 </a:t>
            </a:r>
            <a:r>
              <a:rPr lang="en-US" altLang="zh-CN"/>
              <a:t>Values</a:t>
            </a:r>
          </a:p>
          <a:p>
            <a:pPr lvl="1"/>
            <a:r>
              <a:rPr lang="zh-CN" altLang="en-US"/>
              <a:t>沟通 </a:t>
            </a:r>
            <a:r>
              <a:rPr lang="en-US" altLang="zh-CN"/>
              <a:t>Communication</a:t>
            </a:r>
            <a:r>
              <a:rPr lang="zh-CN" altLang="en-US"/>
              <a:t>：面对面交流胜过文档。程序员必须结对，必须和客户坐在一起</a:t>
            </a:r>
          </a:p>
          <a:p>
            <a:pPr lvl="1"/>
            <a:r>
              <a:rPr lang="zh-CN" altLang="en-US"/>
              <a:t>简单 </a:t>
            </a:r>
            <a:r>
              <a:rPr lang="en-US" altLang="zh-CN"/>
              <a:t>Simplicity</a:t>
            </a:r>
            <a:r>
              <a:rPr lang="zh-CN" altLang="en-US"/>
              <a:t>：只做当前需要做的事；不要过度设计，不要为未来可能的需求写代码</a:t>
            </a:r>
          </a:p>
          <a:p>
            <a:pPr lvl="1"/>
            <a:r>
              <a:rPr lang="zh-CN" altLang="en-US"/>
              <a:t>反馈 </a:t>
            </a:r>
            <a:r>
              <a:rPr lang="en-US" altLang="zh-CN"/>
              <a:t>Feedback</a:t>
            </a:r>
            <a:r>
              <a:rPr lang="zh-CN" altLang="en-US"/>
              <a:t>：快速获得反馈。通过单元测试、持续集成、短迭代，立刻知道代码有没有错</a:t>
            </a:r>
          </a:p>
          <a:p>
            <a:pPr lvl="1"/>
            <a:r>
              <a:rPr lang="zh-CN" altLang="en-US"/>
              <a:t>勇气 </a:t>
            </a:r>
            <a:r>
              <a:rPr lang="en-US" altLang="zh-CN"/>
              <a:t>Courage</a:t>
            </a:r>
            <a:r>
              <a:rPr lang="zh-CN" altLang="en-US"/>
              <a:t>：敢于重构代码，敢于说“不”，敢于在发现错误时立刻停下来修复，而不是掩盖</a:t>
            </a:r>
          </a:p>
          <a:p>
            <a:pPr lvl="1"/>
            <a:r>
              <a:rPr lang="zh-CN" altLang="en-US"/>
              <a:t>尊重 </a:t>
            </a:r>
            <a:r>
              <a:rPr lang="en-US" altLang="zh-CN"/>
              <a:t>Respect</a:t>
            </a:r>
            <a:r>
              <a:rPr lang="zh-CN" altLang="en-US"/>
              <a:t>：</a:t>
            </a:r>
            <a:r>
              <a:rPr lang="en-US" altLang="zh-CN"/>
              <a:t>+</a:t>
            </a:r>
            <a:endParaRPr lang="zh-CN" altLang="en-US"/>
          </a:p>
          <a:p>
            <a:endParaRPr lang="zh-CN" altLang="en-US"/>
          </a:p>
          <a:p>
            <a:endParaRPr lang="zh-CN" altLang="en-US"/>
          </a:p>
        </p:txBody>
      </p:sp>
      <p:sp>
        <p:nvSpPr>
          <p:cNvPr id="13" name="文本占位符 12">
            <a:extLst>
              <a:ext uri="{FF2B5EF4-FFF2-40B4-BE49-F238E27FC236}">
                <a16:creationId xmlns:a16="http://schemas.microsoft.com/office/drawing/2014/main" id="{729F4895-29A0-28DF-229B-7EF0D6133D60}"/>
              </a:ext>
            </a:extLst>
          </p:cNvPr>
          <p:cNvSpPr>
            <a:spLocks noGrp="1"/>
          </p:cNvSpPr>
          <p:nvPr>
            <p:ph type="body" sz="quarter" idx="10"/>
          </p:nvPr>
        </p:nvSpPr>
        <p:spPr>
          <a:xfrm>
            <a:off x="7071919" y="448519"/>
            <a:ext cx="4424080" cy="338554"/>
          </a:xfrm>
        </p:spPr>
        <p:txBody>
          <a:bodyPr/>
          <a:lstStyle/>
          <a:p>
            <a:r>
              <a:rPr lang="en-US" altLang="zh-CN"/>
              <a:t>Extreme Programming </a:t>
            </a:r>
            <a:endParaRPr lang="zh-CN" altLang="en-US"/>
          </a:p>
        </p:txBody>
      </p:sp>
    </p:spTree>
    <p:extLst>
      <p:ext uri="{BB962C8B-B14F-4D97-AF65-F5344CB8AC3E}">
        <p14:creationId xmlns:p14="http://schemas.microsoft.com/office/powerpoint/2010/main" val="134719895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2B8834-A60F-4877-8328-06ACE68C4EF9}"/>
              </a:ext>
            </a:extLst>
          </p:cNvPr>
          <p:cNvSpPr>
            <a:spLocks noGrp="1"/>
          </p:cNvSpPr>
          <p:nvPr>
            <p:ph type="title"/>
          </p:nvPr>
        </p:nvSpPr>
        <p:spPr>
          <a:xfrm>
            <a:off x="792000" y="360000"/>
            <a:ext cx="6375921" cy="429413"/>
          </a:xfrm>
        </p:spPr>
        <p:txBody>
          <a:bodyPr/>
          <a:lstStyle/>
          <a:p>
            <a:r>
              <a:rPr lang="en-US" altLang="zh-CN"/>
              <a:t>2.5.4.4 </a:t>
            </a:r>
            <a:r>
              <a:rPr lang="zh-CN" altLang="en-US"/>
              <a:t>特性驱动开发</a:t>
            </a:r>
          </a:p>
        </p:txBody>
      </p:sp>
      <p:sp>
        <p:nvSpPr>
          <p:cNvPr id="16" name="内容占位符 15">
            <a:extLst>
              <a:ext uri="{FF2B5EF4-FFF2-40B4-BE49-F238E27FC236}">
                <a16:creationId xmlns:a16="http://schemas.microsoft.com/office/drawing/2014/main" id="{6703D578-D0A4-D93C-BC47-7EAB869B49D4}"/>
              </a:ext>
            </a:extLst>
          </p:cNvPr>
          <p:cNvSpPr>
            <a:spLocks noGrp="1"/>
          </p:cNvSpPr>
          <p:nvPr>
            <p:ph idx="1"/>
          </p:nvPr>
        </p:nvSpPr>
        <p:spPr>
          <a:xfrm>
            <a:off x="696000" y="864000"/>
            <a:ext cx="10800000" cy="5400000"/>
          </a:xfrm>
        </p:spPr>
        <p:txBody>
          <a:bodyPr>
            <a:normAutofit/>
          </a:bodyPr>
          <a:lstStyle/>
          <a:p>
            <a:r>
              <a:rPr lang="en-US" altLang="zh-CN"/>
              <a:t>FDD</a:t>
            </a:r>
          </a:p>
          <a:p>
            <a:r>
              <a:rPr lang="en-US" altLang="zh-CN"/>
              <a:t>1990s</a:t>
            </a:r>
            <a:r>
              <a:rPr lang="zh-CN" altLang="en-US"/>
              <a:t>，</a:t>
            </a:r>
            <a:r>
              <a:rPr lang="en-US" altLang="zh-CN"/>
              <a:t>Jeff De Luca</a:t>
            </a:r>
            <a:r>
              <a:rPr lang="zh-CN" altLang="en-US"/>
              <a:t> 和 </a:t>
            </a:r>
            <a:r>
              <a:rPr lang="en-US" altLang="zh-CN"/>
              <a:t>Peter Coad</a:t>
            </a:r>
            <a:r>
              <a:rPr lang="zh-CN" altLang="en-US"/>
              <a:t> 提出</a:t>
            </a:r>
            <a:endParaRPr lang="en-US" altLang="zh-CN"/>
          </a:p>
          <a:p>
            <a:pPr lvl="1"/>
            <a:r>
              <a:rPr lang="zh-CN" altLang="en-US"/>
              <a:t>最初是为了解决大型银行系统（如新加坡大华银行）开发中遇到的复杂性和延期问题</a:t>
            </a:r>
            <a:endParaRPr lang="en-US" altLang="zh-CN"/>
          </a:p>
          <a:p>
            <a:r>
              <a:rPr lang="zh-CN" altLang="en-US"/>
              <a:t>主要目标是向客户提供及时更新且功能完善的软件</a:t>
            </a:r>
            <a:endParaRPr lang="en-US" altLang="zh-CN"/>
          </a:p>
          <a:p>
            <a:r>
              <a:rPr lang="zh-CN" altLang="en-US"/>
              <a:t>在</a:t>
            </a:r>
            <a:r>
              <a:rPr lang="en-US" altLang="zh-CN"/>
              <a:t>FDD</a:t>
            </a:r>
            <a:r>
              <a:rPr lang="zh-CN" altLang="en-US"/>
              <a:t>的所有级别，都需要进行报告和进度跟踪</a:t>
            </a:r>
            <a:endParaRPr lang="en-US" altLang="zh-CN"/>
          </a:p>
          <a:p>
            <a:r>
              <a:rPr lang="zh-CN" altLang="en-US"/>
              <a:t>设计和构建功能是此方法的核心</a:t>
            </a:r>
            <a:endParaRPr lang="en-US" altLang="zh-CN"/>
          </a:p>
          <a:p>
            <a:r>
              <a:rPr lang="en-US" altLang="zh-CN"/>
              <a:t>FDD</a:t>
            </a:r>
            <a:r>
              <a:rPr lang="zh-CN" altLang="en-US"/>
              <a:t>的生命周期：</a:t>
            </a:r>
          </a:p>
          <a:p>
            <a:pPr lvl="1"/>
            <a:r>
              <a:rPr lang="zh-CN" altLang="en-US"/>
              <a:t>构建整个模型 </a:t>
            </a:r>
            <a:r>
              <a:rPr lang="en-US" altLang="zh-CN"/>
              <a:t>- First of all entire model is built</a:t>
            </a:r>
          </a:p>
          <a:p>
            <a:pPr lvl="1"/>
            <a:r>
              <a:rPr lang="zh-CN" altLang="en-US"/>
              <a:t>模型完成后，准备特征列表 </a:t>
            </a:r>
            <a:r>
              <a:rPr lang="en-US" altLang="zh-CN"/>
              <a:t>- After the model is done, the feature list is prepared</a:t>
            </a:r>
          </a:p>
          <a:p>
            <a:pPr lvl="1"/>
            <a:r>
              <a:rPr lang="zh-CN" altLang="en-US"/>
              <a:t>然后根据功能制定计划 </a:t>
            </a:r>
            <a:r>
              <a:rPr lang="en-US" altLang="zh-CN"/>
              <a:t>- Then plan according to feature</a:t>
            </a:r>
          </a:p>
          <a:p>
            <a:pPr lvl="1"/>
            <a:r>
              <a:rPr lang="zh-CN" altLang="en-US"/>
              <a:t>根据特性设计 </a:t>
            </a:r>
            <a:r>
              <a:rPr lang="en-US" altLang="zh-CN"/>
              <a:t>- Design according to feature </a:t>
            </a:r>
          </a:p>
          <a:p>
            <a:pPr lvl="1"/>
            <a:r>
              <a:rPr lang="zh-CN" altLang="en-US"/>
              <a:t>最后根据功能构建 </a:t>
            </a:r>
            <a:r>
              <a:rPr lang="en-US" altLang="zh-CN"/>
              <a:t>- At last build according to feature</a:t>
            </a:r>
            <a:endParaRPr lang="zh-CN" altLang="en-US"/>
          </a:p>
        </p:txBody>
      </p:sp>
      <p:sp>
        <p:nvSpPr>
          <p:cNvPr id="13" name="文本占位符 12">
            <a:extLst>
              <a:ext uri="{FF2B5EF4-FFF2-40B4-BE49-F238E27FC236}">
                <a16:creationId xmlns:a16="http://schemas.microsoft.com/office/drawing/2014/main" id="{05A97A07-7573-2D29-D65A-024007791A91}"/>
              </a:ext>
            </a:extLst>
          </p:cNvPr>
          <p:cNvSpPr>
            <a:spLocks noGrp="1"/>
          </p:cNvSpPr>
          <p:nvPr>
            <p:ph type="body" sz="quarter" idx="10"/>
          </p:nvPr>
        </p:nvSpPr>
        <p:spPr>
          <a:xfrm>
            <a:off x="7071919" y="448519"/>
            <a:ext cx="4424080" cy="338554"/>
          </a:xfrm>
        </p:spPr>
        <p:txBody>
          <a:bodyPr/>
          <a:lstStyle/>
          <a:p>
            <a:r>
              <a:rPr lang="en-US" altLang="zh-CN"/>
              <a:t>Feature Driven Development</a:t>
            </a:r>
            <a:endParaRPr lang="zh-CN" altLang="en-US"/>
          </a:p>
        </p:txBody>
      </p:sp>
    </p:spTree>
    <p:extLst>
      <p:ext uri="{BB962C8B-B14F-4D97-AF65-F5344CB8AC3E}">
        <p14:creationId xmlns:p14="http://schemas.microsoft.com/office/powerpoint/2010/main" val="64946965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3023EE70-1841-5FC4-247F-D03B5B5C8596}"/>
              </a:ext>
            </a:extLst>
          </p:cNvPr>
          <p:cNvSpPr>
            <a:spLocks noGrp="1"/>
          </p:cNvSpPr>
          <p:nvPr>
            <p:ph type="title"/>
          </p:nvPr>
        </p:nvSpPr>
        <p:spPr>
          <a:xfrm>
            <a:off x="792000" y="360000"/>
            <a:ext cx="6375921" cy="429413"/>
          </a:xfrm>
        </p:spPr>
        <p:txBody>
          <a:bodyPr/>
          <a:lstStyle/>
          <a:p>
            <a:r>
              <a:rPr lang="en-US" altLang="zh-CN"/>
              <a:t>2.5.4.4 </a:t>
            </a:r>
            <a:r>
              <a:rPr lang="zh-CN" altLang="en-US"/>
              <a:t>特性驱动开发</a:t>
            </a:r>
          </a:p>
        </p:txBody>
      </p:sp>
      <p:sp>
        <p:nvSpPr>
          <p:cNvPr id="3" name="内容占位符 2">
            <a:extLst>
              <a:ext uri="{FF2B5EF4-FFF2-40B4-BE49-F238E27FC236}">
                <a16:creationId xmlns:a16="http://schemas.microsoft.com/office/drawing/2014/main" id="{0FB5CE89-EFF6-3CD8-62F2-4C573D339104}"/>
              </a:ext>
            </a:extLst>
          </p:cNvPr>
          <p:cNvSpPr>
            <a:spLocks noGrp="1"/>
          </p:cNvSpPr>
          <p:nvPr>
            <p:ph idx="1"/>
          </p:nvPr>
        </p:nvSpPr>
        <p:spPr>
          <a:xfrm>
            <a:off x="696000" y="864000"/>
            <a:ext cx="10800000" cy="5400000"/>
          </a:xfrm>
        </p:spPr>
        <p:txBody>
          <a:bodyPr/>
          <a:lstStyle/>
          <a:p>
            <a:r>
              <a:rPr lang="zh-CN" altLang="en-US"/>
              <a:t>特性不是模糊的需求，而是一个小的、客户可见的、有价值的功能单元</a:t>
            </a:r>
            <a:endParaRPr lang="en-US" altLang="zh-CN"/>
          </a:p>
          <a:p>
            <a:r>
              <a:rPr lang="zh-CN" altLang="en-US"/>
              <a:t>不是“模块”，不是任务，更不是技术实现，而是业务价值的最小交付切片</a:t>
            </a:r>
            <a:endParaRPr lang="en-US" altLang="zh-CN"/>
          </a:p>
          <a:p>
            <a:r>
              <a:rPr lang="zh-CN" altLang="en-US"/>
              <a:t>有一个严格的定义格式</a:t>
            </a:r>
            <a:endParaRPr lang="en-US" altLang="zh-CN"/>
          </a:p>
          <a:p>
            <a:pPr lvl="1"/>
            <a:r>
              <a:rPr lang="zh-CN" altLang="en-US"/>
              <a:t>动作 </a:t>
            </a:r>
            <a:r>
              <a:rPr lang="en-US" altLang="zh-CN"/>
              <a:t>Verb</a:t>
            </a:r>
            <a:r>
              <a:rPr lang="zh-CN" altLang="en-US"/>
              <a:t>：描述系统要执行的操作（如：计算、验证、生成、记录）。</a:t>
            </a:r>
          </a:p>
          <a:p>
            <a:pPr lvl="1"/>
            <a:r>
              <a:rPr lang="zh-CN" altLang="en-US"/>
              <a:t>结果 </a:t>
            </a:r>
            <a:r>
              <a:rPr lang="en-US" altLang="zh-CN"/>
              <a:t>Result</a:t>
            </a:r>
            <a:r>
              <a:rPr lang="zh-CN" altLang="en-US"/>
              <a:t>：描述操作产生的具体产出或状态变化。</a:t>
            </a:r>
          </a:p>
          <a:p>
            <a:pPr lvl="1"/>
            <a:r>
              <a:rPr lang="zh-CN" altLang="en-US"/>
              <a:t>对象 </a:t>
            </a:r>
            <a:r>
              <a:rPr lang="en-US" altLang="zh-CN"/>
              <a:t>Object</a:t>
            </a:r>
            <a:r>
              <a:rPr lang="zh-CN" altLang="en-US"/>
              <a:t>：描述操作针对的具体业务实体（如：订单、用户、报告）。</a:t>
            </a:r>
          </a:p>
          <a:p>
            <a:endParaRPr lang="zh-CN" altLang="en-US"/>
          </a:p>
        </p:txBody>
      </p:sp>
      <p:sp>
        <p:nvSpPr>
          <p:cNvPr id="7" name="文本占位符 6">
            <a:extLst>
              <a:ext uri="{FF2B5EF4-FFF2-40B4-BE49-F238E27FC236}">
                <a16:creationId xmlns:a16="http://schemas.microsoft.com/office/drawing/2014/main" id="{4A707291-3E8A-2A66-93A8-C6A1ED3DA3A9}"/>
              </a:ext>
            </a:extLst>
          </p:cNvPr>
          <p:cNvSpPr>
            <a:spLocks noGrp="1"/>
          </p:cNvSpPr>
          <p:nvPr>
            <p:ph type="body" sz="quarter" idx="10"/>
          </p:nvPr>
        </p:nvSpPr>
        <p:spPr>
          <a:xfrm>
            <a:off x="7071919" y="448519"/>
            <a:ext cx="4424080" cy="338554"/>
          </a:xfrm>
        </p:spPr>
        <p:txBody>
          <a:bodyPr/>
          <a:lstStyle/>
          <a:p>
            <a:r>
              <a:rPr lang="en-US" altLang="zh-CN"/>
              <a:t>Feature Driven Development</a:t>
            </a:r>
            <a:endParaRPr lang="zh-CN" altLang="en-US"/>
          </a:p>
        </p:txBody>
      </p:sp>
      <p:sp>
        <p:nvSpPr>
          <p:cNvPr id="20" name="文本框 19">
            <a:extLst>
              <a:ext uri="{FF2B5EF4-FFF2-40B4-BE49-F238E27FC236}">
                <a16:creationId xmlns:a16="http://schemas.microsoft.com/office/drawing/2014/main" id="{B2B7C918-1BAC-7596-1926-BBB7388920BE}"/>
              </a:ext>
            </a:extLst>
          </p:cNvPr>
          <p:cNvSpPr txBox="1"/>
          <p:nvPr/>
        </p:nvSpPr>
        <p:spPr>
          <a:xfrm>
            <a:off x="4214716" y="3433747"/>
            <a:ext cx="3762568" cy="830997"/>
          </a:xfrm>
          <a:prstGeom prst="rect">
            <a:avLst/>
          </a:prstGeom>
          <a:noFill/>
        </p:spPr>
        <p:txBody>
          <a:bodyPr wrap="none" rtlCol="0">
            <a:spAutoFit/>
          </a:bodyPr>
          <a:lstStyle/>
          <a:p>
            <a:pPr algn="ctr"/>
            <a:r>
              <a:rPr lang="en-US" altLang="zh-CN" sz="2400" dirty="0">
                <a:solidFill>
                  <a:srgbClr val="00B0F0"/>
                </a:solidFill>
              </a:rPr>
              <a:t>&lt;</a:t>
            </a:r>
            <a:r>
              <a:rPr lang="zh-CN" altLang="en-US" sz="2400" dirty="0">
                <a:solidFill>
                  <a:srgbClr val="00B0F0"/>
                </a:solidFill>
              </a:rPr>
              <a:t>动作</a:t>
            </a:r>
            <a:r>
              <a:rPr lang="en-US" altLang="zh-CN" sz="2400" dirty="0">
                <a:solidFill>
                  <a:srgbClr val="00B0F0"/>
                </a:solidFill>
              </a:rPr>
              <a:t>&gt; + &lt;</a:t>
            </a:r>
            <a:r>
              <a:rPr lang="zh-CN" altLang="en-US" sz="2400" dirty="0">
                <a:solidFill>
                  <a:srgbClr val="00B0F0"/>
                </a:solidFill>
              </a:rPr>
              <a:t>结果</a:t>
            </a:r>
            <a:r>
              <a:rPr lang="en-US" altLang="zh-CN" sz="2400" dirty="0">
                <a:solidFill>
                  <a:srgbClr val="00B0F0"/>
                </a:solidFill>
              </a:rPr>
              <a:t>&gt; + &lt;</a:t>
            </a:r>
            <a:r>
              <a:rPr lang="zh-CN" altLang="en-US" sz="2400" dirty="0">
                <a:solidFill>
                  <a:srgbClr val="00B0F0"/>
                </a:solidFill>
              </a:rPr>
              <a:t>对象</a:t>
            </a:r>
            <a:r>
              <a:rPr lang="en-US" altLang="zh-CN" sz="2400" dirty="0">
                <a:solidFill>
                  <a:srgbClr val="00B0F0"/>
                </a:solidFill>
              </a:rPr>
              <a:t>&gt;</a:t>
            </a:r>
            <a:br>
              <a:rPr lang="zh-CN" altLang="en-US" sz="2400" dirty="0">
                <a:solidFill>
                  <a:srgbClr val="00B0F0"/>
                </a:solidFill>
              </a:rPr>
            </a:br>
            <a:r>
              <a:rPr lang="en-US" altLang="zh-CN" sz="2400" dirty="0">
                <a:solidFill>
                  <a:srgbClr val="00B0F0"/>
                </a:solidFill>
              </a:rPr>
              <a:t>(Verb-Result-Object)</a:t>
            </a:r>
            <a:endParaRPr lang="zh-CN" altLang="en-US" sz="2400" dirty="0">
              <a:solidFill>
                <a:srgbClr val="00B0F0"/>
              </a:solidFill>
            </a:endParaRPr>
          </a:p>
        </p:txBody>
      </p:sp>
    </p:spTree>
    <p:extLst>
      <p:ext uri="{BB962C8B-B14F-4D97-AF65-F5344CB8AC3E}">
        <p14:creationId xmlns:p14="http://schemas.microsoft.com/office/powerpoint/2010/main" val="16640339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3023EE70-1841-5FC4-247F-D03B5B5C8596}"/>
              </a:ext>
            </a:extLst>
          </p:cNvPr>
          <p:cNvSpPr>
            <a:spLocks noGrp="1"/>
          </p:cNvSpPr>
          <p:nvPr>
            <p:ph type="title"/>
          </p:nvPr>
        </p:nvSpPr>
        <p:spPr>
          <a:xfrm>
            <a:off x="792000" y="360000"/>
            <a:ext cx="6375921" cy="429413"/>
          </a:xfrm>
        </p:spPr>
        <p:txBody>
          <a:bodyPr/>
          <a:lstStyle/>
          <a:p>
            <a:r>
              <a:rPr lang="en-US" altLang="zh-CN"/>
              <a:t>2.5.4.4 </a:t>
            </a:r>
            <a:r>
              <a:rPr lang="zh-CN" altLang="en-US"/>
              <a:t>特性驱动开发</a:t>
            </a:r>
          </a:p>
        </p:txBody>
      </p:sp>
      <p:sp>
        <p:nvSpPr>
          <p:cNvPr id="3" name="内容占位符 2">
            <a:extLst>
              <a:ext uri="{FF2B5EF4-FFF2-40B4-BE49-F238E27FC236}">
                <a16:creationId xmlns:a16="http://schemas.microsoft.com/office/drawing/2014/main" id="{0FB5CE89-EFF6-3CD8-62F2-4C573D339104}"/>
              </a:ext>
            </a:extLst>
          </p:cNvPr>
          <p:cNvSpPr>
            <a:spLocks noGrp="1"/>
          </p:cNvSpPr>
          <p:nvPr>
            <p:ph idx="1"/>
          </p:nvPr>
        </p:nvSpPr>
        <p:spPr>
          <a:xfrm>
            <a:off x="696000" y="864000"/>
            <a:ext cx="10800000" cy="5400000"/>
          </a:xfrm>
        </p:spPr>
        <p:txBody>
          <a:bodyPr/>
          <a:lstStyle/>
          <a:p>
            <a:r>
              <a:rPr lang="zh-CN" altLang="en-US"/>
              <a:t>银行系统的“登录”功能</a:t>
            </a:r>
          </a:p>
          <a:p>
            <a:endParaRPr lang="zh-CN" altLang="en-US"/>
          </a:p>
        </p:txBody>
      </p:sp>
      <p:sp>
        <p:nvSpPr>
          <p:cNvPr id="7" name="文本占位符 6">
            <a:extLst>
              <a:ext uri="{FF2B5EF4-FFF2-40B4-BE49-F238E27FC236}">
                <a16:creationId xmlns:a16="http://schemas.microsoft.com/office/drawing/2014/main" id="{4A707291-3E8A-2A66-93A8-C6A1ED3DA3A9}"/>
              </a:ext>
            </a:extLst>
          </p:cNvPr>
          <p:cNvSpPr>
            <a:spLocks noGrp="1"/>
          </p:cNvSpPr>
          <p:nvPr>
            <p:ph type="body" sz="quarter" idx="10"/>
          </p:nvPr>
        </p:nvSpPr>
        <p:spPr>
          <a:xfrm>
            <a:off x="7071919" y="448519"/>
            <a:ext cx="4424080" cy="338554"/>
          </a:xfrm>
        </p:spPr>
        <p:txBody>
          <a:bodyPr/>
          <a:lstStyle/>
          <a:p>
            <a:r>
              <a:rPr lang="en-US" altLang="zh-CN"/>
              <a:t>Feature Driven Development</a:t>
            </a:r>
            <a:endParaRPr lang="zh-CN" altLang="en-US"/>
          </a:p>
        </p:txBody>
      </p:sp>
      <p:graphicFrame>
        <p:nvGraphicFramePr>
          <p:cNvPr id="2" name="表格 1">
            <a:extLst>
              <a:ext uri="{FF2B5EF4-FFF2-40B4-BE49-F238E27FC236}">
                <a16:creationId xmlns:a16="http://schemas.microsoft.com/office/drawing/2014/main" id="{9F2D9E60-EAAE-B08C-BE3C-1EC3098425F3}"/>
              </a:ext>
            </a:extLst>
          </p:cNvPr>
          <p:cNvGraphicFramePr>
            <a:graphicFrameLocks noGrp="1"/>
          </p:cNvGraphicFramePr>
          <p:nvPr>
            <p:extLst>
              <p:ext uri="{D42A27DB-BD31-4B8C-83A1-F6EECF244321}">
                <p14:modId xmlns:p14="http://schemas.microsoft.com/office/powerpoint/2010/main" val="1399584669"/>
              </p:ext>
            </p:extLst>
          </p:nvPr>
        </p:nvGraphicFramePr>
        <p:xfrm>
          <a:off x="695325" y="2423160"/>
          <a:ext cx="10801350" cy="1828800"/>
        </p:xfrm>
        <a:graphic>
          <a:graphicData uri="http://schemas.openxmlformats.org/drawingml/2006/table">
            <a:tbl>
              <a:tblPr/>
              <a:tblGrid>
                <a:gridCol w="2077372">
                  <a:extLst>
                    <a:ext uri="{9D8B030D-6E8A-4147-A177-3AD203B41FA5}">
                      <a16:colId xmlns:a16="http://schemas.microsoft.com/office/drawing/2014/main" val="4286079812"/>
                    </a:ext>
                  </a:extLst>
                </a:gridCol>
                <a:gridCol w="5604387">
                  <a:extLst>
                    <a:ext uri="{9D8B030D-6E8A-4147-A177-3AD203B41FA5}">
                      <a16:colId xmlns:a16="http://schemas.microsoft.com/office/drawing/2014/main" val="3319651944"/>
                    </a:ext>
                  </a:extLst>
                </a:gridCol>
                <a:gridCol w="3119591">
                  <a:extLst>
                    <a:ext uri="{9D8B030D-6E8A-4147-A177-3AD203B41FA5}">
                      <a16:colId xmlns:a16="http://schemas.microsoft.com/office/drawing/2014/main" val="87422268"/>
                    </a:ext>
                  </a:extLst>
                </a:gridCol>
              </a:tblGrid>
              <a:tr h="0">
                <a:tc>
                  <a:txBody>
                    <a:bodyPr/>
                    <a:lstStyle/>
                    <a:p>
                      <a:pPr algn="l">
                        <a:buNone/>
                      </a:pPr>
                      <a:r>
                        <a:rPr lang="zh-CN" altLang="en-US" sz="1400" dirty="0">
                          <a:solidFill>
                            <a:schemeClr val="bg1"/>
                          </a:solidFill>
                        </a:rPr>
                        <a:t>类型</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buNone/>
                      </a:pPr>
                      <a:r>
                        <a:rPr lang="zh-CN" altLang="en-US" sz="1400" dirty="0">
                          <a:solidFill>
                            <a:schemeClr val="bg1"/>
                          </a:solidFill>
                        </a:rPr>
                        <a:t>描述</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buNone/>
                      </a:pPr>
                      <a:r>
                        <a:rPr lang="zh-CN" altLang="en-US" sz="1400" dirty="0">
                          <a:solidFill>
                            <a:schemeClr val="bg1"/>
                          </a:solidFill>
                        </a:rPr>
                        <a:t>评价</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1598881430"/>
                  </a:ext>
                </a:extLst>
              </a:tr>
              <a:tr h="0">
                <a:tc>
                  <a:txBody>
                    <a:bodyPr/>
                    <a:lstStyle/>
                    <a:p>
                      <a:pPr algn="l">
                        <a:buNone/>
                      </a:pPr>
                      <a:r>
                        <a:rPr lang="zh-CN" altLang="en-US" sz="1400"/>
                        <a:t>❌ 错误</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用户认证系统</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太大，像是一个子系统</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5839901"/>
                  </a:ext>
                </a:extLst>
              </a:tr>
              <a:tr h="0">
                <a:tc>
                  <a:txBody>
                    <a:bodyPr/>
                    <a:lstStyle/>
                    <a:p>
                      <a:pPr algn="l">
                        <a:buNone/>
                      </a:pPr>
                      <a:r>
                        <a:rPr lang="zh-CN" altLang="en-US" sz="1400"/>
                        <a:t>❌ 错误</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编写登录界面的 </a:t>
                      </a:r>
                      <a:r>
                        <a:rPr lang="en-US" altLang="zh-CN" sz="1400"/>
                        <a:t>HTML</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技术任务，不是业务特性</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42372035"/>
                  </a:ext>
                </a:extLst>
              </a:tr>
              <a:tr h="0">
                <a:tc>
                  <a:txBody>
                    <a:bodyPr/>
                    <a:lstStyle/>
                    <a:p>
                      <a:pPr algn="l">
                        <a:buNone/>
                      </a:pPr>
                      <a:r>
                        <a:rPr lang="zh-CN" altLang="en-US" sz="1400"/>
                        <a:t>✅ 正确</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验证 </a:t>
                      </a:r>
                      <a:r>
                        <a:rPr lang="en-US" altLang="zh-CN" sz="1400"/>
                        <a:t>(</a:t>
                      </a:r>
                      <a:r>
                        <a:rPr lang="zh-CN" altLang="en-US" sz="1400"/>
                        <a:t>动作</a:t>
                      </a:r>
                      <a:r>
                        <a:rPr lang="en-US" altLang="zh-CN" sz="1400"/>
                        <a:t>) </a:t>
                      </a:r>
                      <a:r>
                        <a:rPr lang="zh-CN" altLang="en-US" sz="1400"/>
                        <a:t>用户输入的密码 </a:t>
                      </a:r>
                      <a:r>
                        <a:rPr lang="en-US" altLang="zh-CN" sz="1400"/>
                        <a:t>(</a:t>
                      </a:r>
                      <a:r>
                        <a:rPr lang="zh-CN" altLang="en-US" sz="1400"/>
                        <a:t>结果</a:t>
                      </a:r>
                      <a:r>
                        <a:rPr lang="en-US" altLang="zh-CN" sz="1400"/>
                        <a:t>/</a:t>
                      </a:r>
                      <a:r>
                        <a:rPr lang="zh-CN" altLang="en-US" sz="1400"/>
                        <a:t>对象</a:t>
                      </a:r>
                      <a:r>
                        <a:rPr lang="en-US" altLang="zh-CN" sz="14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符合格式，可独立测试</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1852790"/>
                  </a:ext>
                </a:extLst>
              </a:tr>
              <a:tr h="0">
                <a:tc>
                  <a:txBody>
                    <a:bodyPr/>
                    <a:lstStyle/>
                    <a:p>
                      <a:pPr algn="l">
                        <a:buNone/>
                      </a:pPr>
                      <a:r>
                        <a:rPr lang="zh-CN" altLang="en-US" sz="1400"/>
                        <a:t>✅ 正确</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锁定 </a:t>
                      </a:r>
                      <a:r>
                        <a:rPr lang="en-US" altLang="zh-CN" sz="1400"/>
                        <a:t>(</a:t>
                      </a:r>
                      <a:r>
                        <a:rPr lang="zh-CN" altLang="en-US" sz="1400"/>
                        <a:t>动作</a:t>
                      </a:r>
                      <a:r>
                        <a:rPr lang="en-US" altLang="zh-CN" sz="1400"/>
                        <a:t>) </a:t>
                      </a:r>
                      <a:r>
                        <a:rPr lang="zh-CN" altLang="en-US" sz="1400"/>
                        <a:t>账户在 </a:t>
                      </a:r>
                      <a:r>
                        <a:rPr lang="en-US" altLang="zh-CN" sz="1400"/>
                        <a:t>(</a:t>
                      </a:r>
                      <a:r>
                        <a:rPr lang="zh-CN" altLang="en-US" sz="1400"/>
                        <a:t>结果</a:t>
                      </a:r>
                      <a:r>
                        <a:rPr lang="en-US" altLang="zh-CN" sz="1400"/>
                        <a:t>) 5 </a:t>
                      </a:r>
                      <a:r>
                        <a:rPr lang="zh-CN" altLang="en-US" sz="1400"/>
                        <a:t>次失败尝试后 </a:t>
                      </a:r>
                      <a:r>
                        <a:rPr lang="en-US" altLang="zh-CN" sz="1400"/>
                        <a:t>(</a:t>
                      </a:r>
                      <a:r>
                        <a:rPr lang="zh-CN" altLang="en-US" sz="1400"/>
                        <a:t>对象</a:t>
                      </a:r>
                      <a:r>
                        <a:rPr lang="en-US" altLang="zh-CN" sz="1400"/>
                        <a:t>/</a:t>
                      </a:r>
                      <a:r>
                        <a:rPr lang="zh-CN" altLang="en-US" sz="1400"/>
                        <a:t>条件</a:t>
                      </a:r>
                      <a:r>
                        <a:rPr lang="en-US" altLang="zh-CN" sz="14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具体的业务规则</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30240495"/>
                  </a:ext>
                </a:extLst>
              </a:tr>
              <a:tr h="0">
                <a:tc>
                  <a:txBody>
                    <a:bodyPr/>
                    <a:lstStyle/>
                    <a:p>
                      <a:pPr algn="l">
                        <a:buNone/>
                      </a:pPr>
                      <a:r>
                        <a:rPr lang="zh-CN" altLang="en-US" sz="1400"/>
                        <a:t>✅ 正确</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生成 </a:t>
                      </a:r>
                      <a:r>
                        <a:rPr lang="en-US" altLang="zh-CN" sz="1400"/>
                        <a:t>(</a:t>
                      </a:r>
                      <a:r>
                        <a:rPr lang="zh-CN" altLang="en-US" sz="1400"/>
                        <a:t>动作</a:t>
                      </a:r>
                      <a:r>
                        <a:rPr lang="en-US" altLang="zh-CN" sz="1400"/>
                        <a:t>) </a:t>
                      </a:r>
                      <a:r>
                        <a:rPr lang="zh-CN" altLang="en-US" sz="1400"/>
                        <a:t>临时登录会话令牌 </a:t>
                      </a:r>
                      <a:r>
                        <a:rPr lang="en-US" altLang="zh-CN" sz="1400"/>
                        <a:t>(</a:t>
                      </a:r>
                      <a:r>
                        <a:rPr lang="zh-CN" altLang="en-US" sz="1400"/>
                        <a:t>结果</a:t>
                      </a:r>
                      <a:r>
                        <a:rPr lang="en-US" altLang="zh-CN" sz="14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dirty="0"/>
                        <a:t>明确的技术业务价值</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7105911"/>
                  </a:ext>
                </a:extLst>
              </a:tr>
            </a:tbl>
          </a:graphicData>
        </a:graphic>
      </p:graphicFrame>
    </p:spTree>
    <p:extLst>
      <p:ext uri="{BB962C8B-B14F-4D97-AF65-F5344CB8AC3E}">
        <p14:creationId xmlns:p14="http://schemas.microsoft.com/office/powerpoint/2010/main" val="272153154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5A445-13B4-578E-4B1F-CDCF8A72D15D}"/>
            </a:ext>
          </a:extLst>
        </p:cNvPr>
        <p:cNvGrpSpPr/>
        <p:nvPr/>
      </p:nvGrpSpPr>
      <p:grpSpPr>
        <a:xfrm>
          <a:off x="0" y="0"/>
          <a:ext cx="0" cy="0"/>
          <a:chOff x="0" y="0"/>
          <a:chExt cx="0" cy="0"/>
        </a:xfrm>
      </p:grpSpPr>
      <p:pic>
        <p:nvPicPr>
          <p:cNvPr id="6146" name="Picture 2" descr="千库网_3D立体透明水晶堆_元素编号13457539">
            <a:extLst>
              <a:ext uri="{FF2B5EF4-FFF2-40B4-BE49-F238E27FC236}">
                <a16:creationId xmlns:a16="http://schemas.microsoft.com/office/drawing/2014/main" id="{6AAAAA63-99FC-1A5D-9AFC-D6725AB25EE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595" t="10872" r="7830" b="18481"/>
          <a:stretch>
            <a:fillRect/>
          </a:stretch>
        </p:blipFill>
        <p:spPr bwMode="auto">
          <a:xfrm>
            <a:off x="7678993" y="3043084"/>
            <a:ext cx="4513007" cy="3814916"/>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a:extLst>
              <a:ext uri="{FF2B5EF4-FFF2-40B4-BE49-F238E27FC236}">
                <a16:creationId xmlns:a16="http://schemas.microsoft.com/office/drawing/2014/main" id="{7E55CEA2-2CF0-BFD9-EFE6-69B65808F4CF}"/>
              </a:ext>
            </a:extLst>
          </p:cNvPr>
          <p:cNvSpPr>
            <a:spLocks noGrp="1"/>
          </p:cNvSpPr>
          <p:nvPr>
            <p:ph type="title"/>
          </p:nvPr>
        </p:nvSpPr>
        <p:spPr>
          <a:xfrm>
            <a:off x="792000" y="360000"/>
            <a:ext cx="6375921" cy="429413"/>
          </a:xfrm>
        </p:spPr>
        <p:txBody>
          <a:bodyPr/>
          <a:lstStyle/>
          <a:p>
            <a:r>
              <a:rPr lang="en-US" altLang="zh-CN"/>
              <a:t>2.5.4.5 </a:t>
            </a:r>
            <a:r>
              <a:rPr lang="zh-CN" altLang="en-US"/>
              <a:t>水晶</a:t>
            </a:r>
          </a:p>
        </p:txBody>
      </p:sp>
      <p:sp>
        <p:nvSpPr>
          <p:cNvPr id="16" name="内容占位符 15">
            <a:extLst>
              <a:ext uri="{FF2B5EF4-FFF2-40B4-BE49-F238E27FC236}">
                <a16:creationId xmlns:a16="http://schemas.microsoft.com/office/drawing/2014/main" id="{295F0AB5-5CE2-25F7-534C-2B9D334A6DD3}"/>
              </a:ext>
            </a:extLst>
          </p:cNvPr>
          <p:cNvSpPr>
            <a:spLocks noGrp="1"/>
          </p:cNvSpPr>
          <p:nvPr>
            <p:ph idx="1"/>
          </p:nvPr>
        </p:nvSpPr>
        <p:spPr>
          <a:xfrm>
            <a:off x="696000" y="864000"/>
            <a:ext cx="10800000" cy="5400000"/>
          </a:xfrm>
        </p:spPr>
        <p:txBody>
          <a:bodyPr/>
          <a:lstStyle/>
          <a:p>
            <a:r>
              <a:rPr lang="en-US" altLang="zh-CN"/>
              <a:t>1990s</a:t>
            </a:r>
            <a:r>
              <a:rPr lang="zh-CN" altLang="en-US"/>
              <a:t>，</a:t>
            </a:r>
            <a:r>
              <a:rPr lang="en-US" altLang="zh-CN"/>
              <a:t>Listair Cockburn</a:t>
            </a:r>
            <a:r>
              <a:rPr lang="zh-CN" altLang="en-US"/>
              <a:t>提出</a:t>
            </a:r>
            <a:endParaRPr lang="en-US" altLang="zh-CN"/>
          </a:p>
          <a:p>
            <a:r>
              <a:rPr lang="zh-CN" altLang="en-US"/>
              <a:t>方法论家族</a:t>
            </a:r>
            <a:endParaRPr lang="en-US" altLang="zh-CN"/>
          </a:p>
          <a:p>
            <a:r>
              <a:rPr lang="zh-CN" altLang="en-US"/>
              <a:t>是开发软件中最轻量级和灵活的方法之一</a:t>
            </a:r>
            <a:endParaRPr lang="en-US" altLang="zh-CN"/>
          </a:p>
          <a:p>
            <a:r>
              <a:rPr lang="zh-CN" altLang="en-US"/>
              <a:t>它由多个敏捷流程组成，包括清晰、水晶黄、水晶橙以及其他具有独特特征的方法</a:t>
            </a:r>
            <a:endParaRPr lang="en-US" altLang="zh-CN"/>
          </a:p>
          <a:p>
            <a:r>
              <a:rPr lang="zh-CN" altLang="en-US"/>
              <a:t>用水晶来比喻这个模型，有两层含义：</a:t>
            </a:r>
          </a:p>
          <a:p>
            <a:pPr lvl="1"/>
            <a:r>
              <a:rPr lang="zh-CN" altLang="en-US"/>
              <a:t>透明性：像水晶一样透明，强调团队内部的沟通清晰、可见</a:t>
            </a:r>
          </a:p>
          <a:p>
            <a:pPr lvl="1"/>
            <a:r>
              <a:rPr lang="zh-CN" altLang="en-US"/>
              <a:t>多面性：像水晶有多个切面一样，</a:t>
            </a:r>
            <a:r>
              <a:rPr lang="en-US" altLang="zh-CN"/>
              <a:t>Crystal </a:t>
            </a:r>
            <a:r>
              <a:rPr lang="zh-CN" altLang="en-US"/>
              <a:t>家族有多种颜色（变体），针对不同大小的项目</a:t>
            </a:r>
          </a:p>
          <a:p>
            <a:r>
              <a:rPr lang="zh-CN" altLang="en-US"/>
              <a:t>核心理念</a:t>
            </a:r>
          </a:p>
          <a:p>
            <a:pPr lvl="1"/>
            <a:r>
              <a:rPr lang="zh-CN" altLang="en-US"/>
              <a:t>方法和流程应该根据项目的规模 </a:t>
            </a:r>
            <a:r>
              <a:rPr lang="en-US" altLang="zh-CN"/>
              <a:t>Size</a:t>
            </a:r>
            <a:r>
              <a:rPr lang="zh-CN" altLang="en-US"/>
              <a:t>、团队人数和系统的关键性 </a:t>
            </a:r>
            <a:r>
              <a:rPr lang="en-US" altLang="zh-CN"/>
              <a:t>Criticality </a:t>
            </a:r>
            <a:r>
              <a:rPr lang="zh-CN" altLang="en-US"/>
              <a:t>进行量身定制</a:t>
            </a:r>
            <a:endParaRPr lang="en-US" altLang="zh-CN"/>
          </a:p>
          <a:p>
            <a:pPr lvl="1"/>
            <a:r>
              <a:rPr lang="zh-CN" altLang="en-US"/>
              <a:t>不能一刀切</a:t>
            </a:r>
            <a:endParaRPr lang="en-US" altLang="zh-CN"/>
          </a:p>
          <a:p>
            <a:r>
              <a:rPr lang="zh-CN" altLang="en-US"/>
              <a:t>强调：人及人与人之间的互动，比流程和工具更重要</a:t>
            </a:r>
            <a:endParaRPr lang="en-US" altLang="zh-CN"/>
          </a:p>
          <a:p>
            <a:pPr lvl="1"/>
            <a:endParaRPr lang="zh-CN" altLang="en-US"/>
          </a:p>
          <a:p>
            <a:endParaRPr lang="zh-CN" altLang="en-US"/>
          </a:p>
        </p:txBody>
      </p:sp>
      <p:sp>
        <p:nvSpPr>
          <p:cNvPr id="13" name="文本占位符 12">
            <a:extLst>
              <a:ext uri="{FF2B5EF4-FFF2-40B4-BE49-F238E27FC236}">
                <a16:creationId xmlns:a16="http://schemas.microsoft.com/office/drawing/2014/main" id="{9346B28D-2796-C5A5-4819-C8174AAB7894}"/>
              </a:ext>
            </a:extLst>
          </p:cNvPr>
          <p:cNvSpPr>
            <a:spLocks noGrp="1"/>
          </p:cNvSpPr>
          <p:nvPr>
            <p:ph type="body" sz="quarter" idx="10"/>
          </p:nvPr>
        </p:nvSpPr>
        <p:spPr>
          <a:xfrm>
            <a:off x="7071919" y="448519"/>
            <a:ext cx="4424080" cy="338554"/>
          </a:xfrm>
        </p:spPr>
        <p:txBody>
          <a:bodyPr/>
          <a:lstStyle/>
          <a:p>
            <a:r>
              <a:rPr lang="en-US" altLang="zh-CN"/>
              <a:t>Crystal</a:t>
            </a:r>
            <a:endParaRPr lang="zh-CN" altLang="en-US"/>
          </a:p>
        </p:txBody>
      </p:sp>
    </p:spTree>
    <p:extLst>
      <p:ext uri="{BB962C8B-B14F-4D97-AF65-F5344CB8AC3E}">
        <p14:creationId xmlns:p14="http://schemas.microsoft.com/office/powerpoint/2010/main" val="35326373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5A445-13B4-578E-4B1F-CDCF8A72D15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E55CEA2-2CF0-BFD9-EFE6-69B65808F4CF}"/>
              </a:ext>
            </a:extLst>
          </p:cNvPr>
          <p:cNvSpPr>
            <a:spLocks noGrp="1"/>
          </p:cNvSpPr>
          <p:nvPr>
            <p:ph type="title"/>
          </p:nvPr>
        </p:nvSpPr>
        <p:spPr>
          <a:xfrm>
            <a:off x="792000" y="360000"/>
            <a:ext cx="6375921" cy="429413"/>
          </a:xfrm>
        </p:spPr>
        <p:txBody>
          <a:bodyPr/>
          <a:lstStyle/>
          <a:p>
            <a:r>
              <a:rPr lang="en-US" altLang="zh-CN"/>
              <a:t>2.5.4.5 </a:t>
            </a:r>
            <a:r>
              <a:rPr lang="zh-CN" altLang="en-US"/>
              <a:t>水晶</a:t>
            </a:r>
          </a:p>
        </p:txBody>
      </p:sp>
      <p:sp>
        <p:nvSpPr>
          <p:cNvPr id="16" name="内容占位符 15">
            <a:extLst>
              <a:ext uri="{FF2B5EF4-FFF2-40B4-BE49-F238E27FC236}">
                <a16:creationId xmlns:a16="http://schemas.microsoft.com/office/drawing/2014/main" id="{295F0AB5-5CE2-25F7-534C-2B9D334A6DD3}"/>
              </a:ext>
            </a:extLst>
          </p:cNvPr>
          <p:cNvSpPr>
            <a:spLocks noGrp="1"/>
          </p:cNvSpPr>
          <p:nvPr>
            <p:ph idx="1"/>
          </p:nvPr>
        </p:nvSpPr>
        <p:spPr>
          <a:xfrm>
            <a:off x="696000" y="864000"/>
            <a:ext cx="10800000" cy="5400000"/>
          </a:xfrm>
        </p:spPr>
        <p:txBody>
          <a:bodyPr/>
          <a:lstStyle/>
          <a:p>
            <a:r>
              <a:rPr lang="zh-CN" altLang="en-US"/>
              <a:t>根据团队人数和系统失败后的后果（关键性），将方法分为不同的颜色</a:t>
            </a:r>
            <a:endParaRPr lang="en-US" altLang="zh-CN"/>
          </a:p>
          <a:p>
            <a:r>
              <a:rPr lang="zh-CN" altLang="en-US"/>
              <a:t>团队越大、系统越关键，流程就越重（颜色越深）</a:t>
            </a:r>
          </a:p>
        </p:txBody>
      </p:sp>
      <p:sp>
        <p:nvSpPr>
          <p:cNvPr id="13" name="文本占位符 12">
            <a:extLst>
              <a:ext uri="{FF2B5EF4-FFF2-40B4-BE49-F238E27FC236}">
                <a16:creationId xmlns:a16="http://schemas.microsoft.com/office/drawing/2014/main" id="{9346B28D-2796-C5A5-4819-C8174AAB7894}"/>
              </a:ext>
            </a:extLst>
          </p:cNvPr>
          <p:cNvSpPr>
            <a:spLocks noGrp="1"/>
          </p:cNvSpPr>
          <p:nvPr>
            <p:ph type="body" sz="quarter" idx="10"/>
          </p:nvPr>
        </p:nvSpPr>
        <p:spPr>
          <a:xfrm>
            <a:off x="7071919" y="448519"/>
            <a:ext cx="4424080" cy="338554"/>
          </a:xfrm>
        </p:spPr>
        <p:txBody>
          <a:bodyPr/>
          <a:lstStyle/>
          <a:p>
            <a:r>
              <a:rPr lang="en-US" altLang="zh-CN"/>
              <a:t>Crystal</a:t>
            </a:r>
            <a:endParaRPr lang="zh-CN" altLang="en-US"/>
          </a:p>
        </p:txBody>
      </p:sp>
      <p:graphicFrame>
        <p:nvGraphicFramePr>
          <p:cNvPr id="3" name="表格 2">
            <a:extLst>
              <a:ext uri="{FF2B5EF4-FFF2-40B4-BE49-F238E27FC236}">
                <a16:creationId xmlns:a16="http://schemas.microsoft.com/office/drawing/2014/main" id="{2D32DA1E-113A-2453-71BA-C24576BC3457}"/>
              </a:ext>
            </a:extLst>
          </p:cNvPr>
          <p:cNvGraphicFramePr>
            <a:graphicFrameLocks noGrp="1"/>
          </p:cNvGraphicFramePr>
          <p:nvPr>
            <p:extLst>
              <p:ext uri="{D42A27DB-BD31-4B8C-83A1-F6EECF244321}">
                <p14:modId xmlns:p14="http://schemas.microsoft.com/office/powerpoint/2010/main" val="3095439939"/>
              </p:ext>
            </p:extLst>
          </p:nvPr>
        </p:nvGraphicFramePr>
        <p:xfrm>
          <a:off x="695326" y="2987380"/>
          <a:ext cx="10801348" cy="3002575"/>
        </p:xfrm>
        <a:graphic>
          <a:graphicData uri="http://schemas.openxmlformats.org/drawingml/2006/table">
            <a:tbl>
              <a:tblPr/>
              <a:tblGrid>
                <a:gridCol w="1920055">
                  <a:extLst>
                    <a:ext uri="{9D8B030D-6E8A-4147-A177-3AD203B41FA5}">
                      <a16:colId xmlns:a16="http://schemas.microsoft.com/office/drawing/2014/main" val="1805883648"/>
                    </a:ext>
                  </a:extLst>
                </a:gridCol>
                <a:gridCol w="1543664">
                  <a:extLst>
                    <a:ext uri="{9D8B030D-6E8A-4147-A177-3AD203B41FA5}">
                      <a16:colId xmlns:a16="http://schemas.microsoft.com/office/drawing/2014/main" val="206858588"/>
                    </a:ext>
                  </a:extLst>
                </a:gridCol>
                <a:gridCol w="2035278">
                  <a:extLst>
                    <a:ext uri="{9D8B030D-6E8A-4147-A177-3AD203B41FA5}">
                      <a16:colId xmlns:a16="http://schemas.microsoft.com/office/drawing/2014/main" val="447211499"/>
                    </a:ext>
                  </a:extLst>
                </a:gridCol>
                <a:gridCol w="5302351">
                  <a:extLst>
                    <a:ext uri="{9D8B030D-6E8A-4147-A177-3AD203B41FA5}">
                      <a16:colId xmlns:a16="http://schemas.microsoft.com/office/drawing/2014/main" val="2403001245"/>
                    </a:ext>
                  </a:extLst>
                </a:gridCol>
              </a:tblGrid>
              <a:tr h="192349">
                <a:tc>
                  <a:txBody>
                    <a:bodyPr/>
                    <a:lstStyle/>
                    <a:p>
                      <a:pPr algn="l">
                        <a:buNone/>
                      </a:pPr>
                      <a:r>
                        <a:rPr lang="zh-CN" altLang="en-US" sz="1400" dirty="0">
                          <a:solidFill>
                            <a:schemeClr val="bg1"/>
                          </a:solidFill>
                        </a:rPr>
                        <a:t>颜色</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buNone/>
                      </a:pPr>
                      <a:r>
                        <a:rPr lang="zh-CN" altLang="en-US" sz="1400" dirty="0">
                          <a:solidFill>
                            <a:schemeClr val="bg1"/>
                          </a:solidFill>
                        </a:rPr>
                        <a:t>适用团队规模</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buNone/>
                      </a:pPr>
                      <a:r>
                        <a:rPr lang="zh-CN" altLang="en-US" sz="1400" dirty="0">
                          <a:solidFill>
                            <a:schemeClr val="bg1"/>
                          </a:solidFill>
                        </a:rPr>
                        <a:t>关键性 </a:t>
                      </a:r>
                      <a:r>
                        <a:rPr lang="en-US" sz="1400" dirty="0">
                          <a:solidFill>
                            <a:schemeClr val="bg1"/>
                          </a:solidFill>
                        </a:rPr>
                        <a:t>Criticality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buNone/>
                      </a:pPr>
                      <a:r>
                        <a:rPr lang="zh-CN" altLang="en-US" sz="1400" dirty="0">
                          <a:solidFill>
                            <a:schemeClr val="bg1"/>
                          </a:solidFill>
                        </a:rPr>
                        <a:t>特点描述</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966257271"/>
                  </a:ext>
                </a:extLst>
              </a:tr>
              <a:tr h="480873">
                <a:tc>
                  <a:txBody>
                    <a:bodyPr/>
                    <a:lstStyle/>
                    <a:p>
                      <a:pPr algn="l">
                        <a:buNone/>
                      </a:pPr>
                      <a:r>
                        <a:rPr lang="en-US" sz="1400"/>
                        <a:t>Crystal Clear</a:t>
                      </a:r>
                      <a:br>
                        <a:rPr lang="en-US" sz="1400"/>
                      </a:br>
                      <a:r>
                        <a:rPr lang="zh-CN" altLang="en-US" sz="1400"/>
                        <a:t>透明水晶</a:t>
                      </a:r>
                      <a:endParaRPr lang="en-US" altLang="zh-CN" sz="14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altLang="zh-CN" sz="1400"/>
                        <a:t>1 ~ 8 </a:t>
                      </a:r>
                      <a:r>
                        <a:rPr lang="zh-CN" altLang="en-US" sz="1400"/>
                        <a:t>人</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低 </a:t>
                      </a:r>
                      <a:r>
                        <a:rPr lang="en-US" altLang="zh-CN" sz="1400"/>
                        <a:t>(</a:t>
                      </a:r>
                      <a:r>
                        <a:rPr lang="zh-CN" altLang="en-US" sz="1400"/>
                        <a:t>舒适型</a:t>
                      </a:r>
                      <a:r>
                        <a:rPr lang="en-US" altLang="zh-CN" sz="14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最轻量级。几乎不需要文档，靠面对面沟通</a:t>
                      </a:r>
                      <a:endParaRPr lang="en-US" altLang="zh-CN" sz="1400"/>
                    </a:p>
                    <a:p>
                      <a:pPr algn="l">
                        <a:buNone/>
                      </a:pPr>
                      <a:r>
                        <a:rPr lang="zh-CN" altLang="en-US" sz="1400"/>
                        <a:t>适合小工具、内部系统</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8514794"/>
                  </a:ext>
                </a:extLst>
              </a:tr>
              <a:tr h="480873">
                <a:tc>
                  <a:txBody>
                    <a:bodyPr/>
                    <a:lstStyle/>
                    <a:p>
                      <a:pPr algn="l">
                        <a:buNone/>
                      </a:pPr>
                      <a:r>
                        <a:rPr lang="en-US" sz="1400"/>
                        <a:t>Crystal Yellow</a:t>
                      </a:r>
                      <a:br>
                        <a:rPr lang="en-US" sz="1400"/>
                      </a:br>
                      <a:r>
                        <a:rPr lang="zh-CN" altLang="en-US" sz="1400"/>
                        <a:t>黄水晶</a:t>
                      </a:r>
                      <a:endParaRPr lang="en-US" altLang="zh-CN" sz="14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altLang="zh-CN" sz="1400"/>
                        <a:t>10 ~ 20 </a:t>
                      </a:r>
                      <a:r>
                        <a:rPr lang="zh-CN" altLang="en-US" sz="1400"/>
                        <a:t>人</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中 </a:t>
                      </a:r>
                      <a:r>
                        <a:rPr lang="en-US" altLang="zh-CN" sz="1400"/>
                        <a:t>(</a:t>
                      </a:r>
                      <a:r>
                        <a:rPr lang="zh-CN" altLang="en-US" sz="1400"/>
                        <a:t>重要型</a:t>
                      </a:r>
                      <a:r>
                        <a:rPr lang="en-US" altLang="zh-CN" sz="14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需要少量的文档和定期的里程碑检查</a:t>
                      </a:r>
                      <a:endParaRPr lang="en-US" altLang="zh-CN" sz="1400"/>
                    </a:p>
                    <a:p>
                      <a:pPr algn="l">
                        <a:buNone/>
                      </a:pPr>
                      <a:r>
                        <a:rPr lang="zh-CN" altLang="en-US" sz="1400"/>
                        <a:t>适合一般商业应用</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1173598"/>
                  </a:ext>
                </a:extLst>
              </a:tr>
              <a:tr h="480873">
                <a:tc>
                  <a:txBody>
                    <a:bodyPr/>
                    <a:lstStyle/>
                    <a:p>
                      <a:pPr algn="l">
                        <a:buNone/>
                      </a:pPr>
                      <a:r>
                        <a:rPr lang="en-US" sz="1400"/>
                        <a:t>Crystal Orange</a:t>
                      </a:r>
                      <a:br>
                        <a:rPr lang="en-US" sz="1400"/>
                      </a:br>
                      <a:r>
                        <a:rPr lang="zh-CN" altLang="en-US" sz="1400"/>
                        <a:t>橙水晶</a:t>
                      </a:r>
                      <a:endParaRPr lang="en-US" altLang="zh-CN" sz="14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altLang="zh-CN" sz="1400"/>
                        <a:t>20 ~ 50 </a:t>
                      </a:r>
                      <a:r>
                        <a:rPr lang="zh-CN" altLang="en-US" sz="1400"/>
                        <a:t>人</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高 </a:t>
                      </a:r>
                      <a:r>
                        <a:rPr lang="en-US" altLang="zh-CN" sz="1400"/>
                        <a:t>(</a:t>
                      </a:r>
                      <a:r>
                        <a:rPr lang="zh-CN" altLang="en-US" sz="1400"/>
                        <a:t>关键型</a:t>
                      </a:r>
                      <a:r>
                        <a:rPr lang="en-US" altLang="zh-CN" sz="14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需要更正式的架构设计、详细的文档和严格的测试</a:t>
                      </a:r>
                      <a:endParaRPr lang="en-US" altLang="zh-CN" sz="1400"/>
                    </a:p>
                    <a:p>
                      <a:pPr algn="l">
                        <a:buNone/>
                      </a:pPr>
                      <a:r>
                        <a:rPr lang="zh-CN" altLang="en-US" sz="1400"/>
                        <a:t>适合银行、医疗系统</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1140109"/>
                  </a:ext>
                </a:extLst>
              </a:tr>
              <a:tr h="625135">
                <a:tc>
                  <a:txBody>
                    <a:bodyPr/>
                    <a:lstStyle/>
                    <a:p>
                      <a:pPr algn="l">
                        <a:buNone/>
                      </a:pPr>
                      <a:r>
                        <a:rPr lang="en-US" sz="1400"/>
                        <a:t>Crystal Red</a:t>
                      </a:r>
                      <a:br>
                        <a:rPr lang="en-US" sz="1400"/>
                      </a:br>
                      <a:r>
                        <a:rPr lang="zh-CN" altLang="en-US" sz="1400"/>
                        <a:t>红水晶</a:t>
                      </a:r>
                      <a:endParaRPr lang="en-US" altLang="zh-CN" sz="14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altLang="zh-CN" sz="1400"/>
                        <a:t>50 ~ 100 </a:t>
                      </a:r>
                      <a:r>
                        <a:rPr lang="zh-CN" altLang="en-US" sz="1400"/>
                        <a:t>人</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极高 </a:t>
                      </a:r>
                      <a:r>
                        <a:rPr lang="en-US" altLang="zh-CN" sz="1400"/>
                        <a:t>(</a:t>
                      </a:r>
                      <a:r>
                        <a:rPr lang="zh-CN" altLang="en-US" sz="1400"/>
                        <a:t>生命攸关</a:t>
                      </a:r>
                      <a:r>
                        <a:rPr lang="en-US" altLang="zh-CN" sz="14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非常严格，接近传统瀑布模型的严谨性，但保留敏捷迭代</a:t>
                      </a:r>
                      <a:endParaRPr lang="en-US" altLang="zh-CN" sz="1400"/>
                    </a:p>
                    <a:p>
                      <a:pPr algn="l">
                        <a:buNone/>
                      </a:pPr>
                      <a:r>
                        <a:rPr lang="zh-CN" altLang="en-US" sz="1400"/>
                        <a:t>适合航空控制、核电系统</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020850"/>
                  </a:ext>
                </a:extLst>
              </a:tr>
              <a:tr h="480873">
                <a:tc>
                  <a:txBody>
                    <a:bodyPr/>
                    <a:lstStyle/>
                    <a:p>
                      <a:pPr algn="l">
                        <a:buNone/>
                      </a:pPr>
                      <a:r>
                        <a:rPr lang="en-US" altLang="zh-CN" sz="14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dirty="0"/>
                        <a:t>更大</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altLang="zh-CN" sz="14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dirty="0"/>
                        <a:t>还有 </a:t>
                      </a:r>
                      <a:r>
                        <a:rPr lang="en-US" altLang="zh-CN" sz="1400" dirty="0"/>
                        <a:t>Diamond (</a:t>
                      </a:r>
                      <a:r>
                        <a:rPr lang="zh-CN" altLang="en-US" sz="1400" dirty="0"/>
                        <a:t>钻石</a:t>
                      </a:r>
                      <a:r>
                        <a:rPr lang="en-US" altLang="zh-CN" sz="1400" dirty="0"/>
                        <a:t>) </a:t>
                      </a:r>
                      <a:r>
                        <a:rPr lang="zh-CN" altLang="en-US" sz="1400" dirty="0"/>
                        <a:t>等更重的变体</a:t>
                      </a:r>
                      <a:endParaRPr lang="en-US" altLang="zh-CN" sz="1400" dirty="0"/>
                    </a:p>
                    <a:p>
                      <a:pPr algn="l">
                        <a:buNone/>
                      </a:pPr>
                      <a:r>
                        <a:rPr lang="zh-CN" altLang="en-US" sz="1400" dirty="0"/>
                        <a:t>用于超大型项目</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48531"/>
                  </a:ext>
                </a:extLst>
              </a:tr>
            </a:tbl>
          </a:graphicData>
        </a:graphic>
      </p:graphicFrame>
    </p:spTree>
    <p:extLst>
      <p:ext uri="{BB962C8B-B14F-4D97-AF65-F5344CB8AC3E}">
        <p14:creationId xmlns:p14="http://schemas.microsoft.com/office/powerpoint/2010/main" val="249326294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F3E3D-798E-541D-897D-9B5D39F0F839}"/>
            </a:ext>
          </a:extLst>
        </p:cNvPr>
        <p:cNvGrpSpPr/>
        <p:nvPr/>
      </p:nvGrpSpPr>
      <p:grpSpPr>
        <a:xfrm>
          <a:off x="0" y="0"/>
          <a:ext cx="0" cy="0"/>
          <a:chOff x="0" y="0"/>
          <a:chExt cx="0" cy="0"/>
        </a:xfrm>
      </p:grpSpPr>
      <p:pic>
        <p:nvPicPr>
          <p:cNvPr id="10" name="图片 9">
            <a:extLst>
              <a:ext uri="{FF2B5EF4-FFF2-40B4-BE49-F238E27FC236}">
                <a16:creationId xmlns:a16="http://schemas.microsoft.com/office/drawing/2014/main" id="{C38EF9B9-102F-E5D5-FCDF-EE7E8790B2FB}"/>
              </a:ext>
            </a:extLst>
          </p:cNvPr>
          <p:cNvPicPr>
            <a:picLocks noChangeAspect="1"/>
          </p:cNvPicPr>
          <p:nvPr/>
        </p:nvPicPr>
        <p:blipFill>
          <a:blip r:embed="rId2">
            <a:extLst>
              <a:ext uri="{28A0092B-C50C-407E-A947-70E740481C1C}">
                <a14:useLocalDpi xmlns:a14="http://schemas.microsoft.com/office/drawing/2010/main" val="0"/>
              </a:ext>
            </a:extLst>
          </a:blip>
          <a:srcRect t="15431" b="24748"/>
          <a:stretch>
            <a:fillRect/>
          </a:stretch>
        </p:blipFill>
        <p:spPr>
          <a:xfrm>
            <a:off x="1416000" y="2738323"/>
            <a:ext cx="9360000" cy="1381355"/>
          </a:xfrm>
          <a:prstGeom prst="rect">
            <a:avLst/>
          </a:prstGeom>
        </p:spPr>
      </p:pic>
    </p:spTree>
    <p:extLst>
      <p:ext uri="{BB962C8B-B14F-4D97-AF65-F5344CB8AC3E}">
        <p14:creationId xmlns:p14="http://schemas.microsoft.com/office/powerpoint/2010/main" val="325478104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Crystal Criticality">
            <a:extLst>
              <a:ext uri="{FF2B5EF4-FFF2-40B4-BE49-F238E27FC236}">
                <a16:creationId xmlns:a16="http://schemas.microsoft.com/office/drawing/2014/main" id="{D0F65BAD-BB39-F692-E050-8E04C3F9F2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89750" y="1629000"/>
            <a:ext cx="4812500" cy="360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520918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格 5">
            <a:extLst>
              <a:ext uri="{FF2B5EF4-FFF2-40B4-BE49-F238E27FC236}">
                <a16:creationId xmlns:a16="http://schemas.microsoft.com/office/drawing/2014/main" id="{46DD97CA-2C91-6249-A32B-C7DB45787201}"/>
              </a:ext>
            </a:extLst>
          </p:cNvPr>
          <p:cNvGraphicFramePr>
            <a:graphicFrameLocks noGrp="1"/>
          </p:cNvGraphicFramePr>
          <p:nvPr>
            <p:extLst>
              <p:ext uri="{D42A27DB-BD31-4B8C-83A1-F6EECF244321}">
                <p14:modId xmlns:p14="http://schemas.microsoft.com/office/powerpoint/2010/main" val="1235338980"/>
              </p:ext>
            </p:extLst>
          </p:nvPr>
        </p:nvGraphicFramePr>
        <p:xfrm>
          <a:off x="695326" y="1645920"/>
          <a:ext cx="10801348" cy="3566160"/>
        </p:xfrm>
        <a:graphic>
          <a:graphicData uri="http://schemas.openxmlformats.org/drawingml/2006/table">
            <a:tbl>
              <a:tblPr/>
              <a:tblGrid>
                <a:gridCol w="1497268">
                  <a:extLst>
                    <a:ext uri="{9D8B030D-6E8A-4147-A177-3AD203B41FA5}">
                      <a16:colId xmlns:a16="http://schemas.microsoft.com/office/drawing/2014/main" val="2447770270"/>
                    </a:ext>
                  </a:extLst>
                </a:gridCol>
                <a:gridCol w="3136490">
                  <a:extLst>
                    <a:ext uri="{9D8B030D-6E8A-4147-A177-3AD203B41FA5}">
                      <a16:colId xmlns:a16="http://schemas.microsoft.com/office/drawing/2014/main" val="2006862090"/>
                    </a:ext>
                  </a:extLst>
                </a:gridCol>
                <a:gridCol w="3467253">
                  <a:extLst>
                    <a:ext uri="{9D8B030D-6E8A-4147-A177-3AD203B41FA5}">
                      <a16:colId xmlns:a16="http://schemas.microsoft.com/office/drawing/2014/main" val="915951268"/>
                    </a:ext>
                  </a:extLst>
                </a:gridCol>
                <a:gridCol w="2700337">
                  <a:extLst>
                    <a:ext uri="{9D8B030D-6E8A-4147-A177-3AD203B41FA5}">
                      <a16:colId xmlns:a16="http://schemas.microsoft.com/office/drawing/2014/main" val="4161480708"/>
                    </a:ext>
                  </a:extLst>
                </a:gridCol>
              </a:tblGrid>
              <a:tr h="365760">
                <a:tc>
                  <a:txBody>
                    <a:bodyPr/>
                    <a:lstStyle/>
                    <a:p>
                      <a:pPr algn="l">
                        <a:buNone/>
                      </a:pPr>
                      <a:endParaRPr lang="zh-CN" altLang="en-US" sz="14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buNone/>
                      </a:pPr>
                      <a:r>
                        <a:rPr lang="en-US" sz="1400" dirty="0">
                          <a:solidFill>
                            <a:schemeClr val="bg1"/>
                          </a:solidFill>
                        </a:rPr>
                        <a:t>Scrum</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buNone/>
                      </a:pPr>
                      <a:r>
                        <a:rPr lang="en-US" sz="1400" dirty="0">
                          <a:solidFill>
                            <a:schemeClr val="bg1"/>
                          </a:solidFill>
                        </a:rPr>
                        <a:t>XP</a:t>
                      </a:r>
                      <a:endParaRPr lang="en-US" altLang="zh-CN" sz="14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buNone/>
                      </a:pPr>
                      <a:r>
                        <a:rPr lang="en-US" sz="1400" dirty="0">
                          <a:solidFill>
                            <a:schemeClr val="bg1"/>
                          </a:solidFill>
                        </a:rPr>
                        <a:t>Crystal</a:t>
                      </a:r>
                      <a:endParaRPr lang="en-US" altLang="zh-CN" sz="14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3632227031"/>
                  </a:ext>
                </a:extLst>
              </a:tr>
              <a:tr h="640080">
                <a:tc>
                  <a:txBody>
                    <a:bodyPr/>
                    <a:lstStyle/>
                    <a:p>
                      <a:pPr algn="l">
                        <a:buNone/>
                      </a:pPr>
                      <a:r>
                        <a:rPr lang="zh-CN" altLang="en-US" sz="1400"/>
                        <a:t>核心关注点</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流程框架 </a:t>
                      </a:r>
                      <a:r>
                        <a:rPr lang="en-US" altLang="zh-CN" sz="1400"/>
                        <a:t>(</a:t>
                      </a:r>
                      <a:r>
                        <a:rPr lang="zh-CN" altLang="en-US" sz="1400"/>
                        <a:t>角色、会议、工件</a:t>
                      </a:r>
                      <a:r>
                        <a:rPr lang="en-US" altLang="zh-CN" sz="14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工程实践 </a:t>
                      </a:r>
                      <a:r>
                        <a:rPr lang="en-US" altLang="zh-CN" sz="1400"/>
                        <a:t>(</a:t>
                      </a:r>
                      <a:r>
                        <a:rPr lang="zh-CN" altLang="en-US" sz="1400"/>
                        <a:t>结对编程、</a:t>
                      </a:r>
                      <a:r>
                        <a:rPr lang="en-US" altLang="zh-CN" sz="1400"/>
                        <a:t>TDD</a:t>
                      </a:r>
                      <a:r>
                        <a:rPr lang="zh-CN" altLang="en-US" sz="1400"/>
                        <a:t>、重构</a:t>
                      </a:r>
                      <a:r>
                        <a:rPr lang="en-US" altLang="zh-CN" sz="14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人与沟通 </a:t>
                      </a:r>
                      <a:r>
                        <a:rPr lang="en-US" altLang="zh-CN" sz="1400"/>
                        <a:t>(</a:t>
                      </a:r>
                      <a:r>
                        <a:rPr lang="zh-CN" altLang="en-US" sz="1400"/>
                        <a:t>根据情境调整</a:t>
                      </a:r>
                      <a:r>
                        <a:rPr lang="en-US" altLang="zh-CN" sz="14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5935461"/>
                  </a:ext>
                </a:extLst>
              </a:tr>
              <a:tr h="640080">
                <a:tc>
                  <a:txBody>
                    <a:bodyPr/>
                    <a:lstStyle/>
                    <a:p>
                      <a:pPr algn="l">
                        <a:buNone/>
                      </a:pPr>
                      <a:r>
                        <a:rPr lang="zh-CN" altLang="en-US" sz="1400"/>
                        <a:t>灵活性</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中等 </a:t>
                      </a:r>
                      <a:r>
                        <a:rPr lang="en-US" altLang="zh-CN" sz="1400"/>
                        <a:t>(</a:t>
                      </a:r>
                      <a:r>
                        <a:rPr lang="zh-CN" altLang="en-US" sz="1400"/>
                        <a:t>规则相对固定</a:t>
                      </a:r>
                      <a:r>
                        <a:rPr lang="en-US" altLang="zh-CN" sz="14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低 </a:t>
                      </a:r>
                      <a:r>
                        <a:rPr lang="en-US" altLang="zh-CN" sz="1400"/>
                        <a:t>(</a:t>
                      </a:r>
                      <a:r>
                        <a:rPr lang="zh-CN" altLang="en-US" sz="1400"/>
                        <a:t>必须遵守严格的技术实践</a:t>
                      </a:r>
                      <a:r>
                        <a:rPr lang="en-US" altLang="zh-CN" sz="14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极高 </a:t>
                      </a:r>
                      <a:r>
                        <a:rPr lang="en-US" altLang="zh-CN" sz="1400"/>
                        <a:t>(</a:t>
                      </a:r>
                      <a:r>
                        <a:rPr lang="zh-CN" altLang="en-US" sz="1400"/>
                        <a:t>没有固定规则，按需定制</a:t>
                      </a:r>
                      <a:r>
                        <a:rPr lang="en-US" altLang="zh-CN" sz="14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84878275"/>
                  </a:ext>
                </a:extLst>
              </a:tr>
              <a:tr h="640080">
                <a:tc>
                  <a:txBody>
                    <a:bodyPr/>
                    <a:lstStyle/>
                    <a:p>
                      <a:pPr algn="l">
                        <a:buNone/>
                      </a:pPr>
                      <a:r>
                        <a:rPr lang="zh-CN" altLang="en-US" sz="1400"/>
                        <a:t>适用场景</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大多数敏捷项目</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对代码质量要求极高的项目</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各种规模和关键性的项目</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0496211"/>
                  </a:ext>
                </a:extLst>
              </a:tr>
              <a:tr h="640080">
                <a:tc>
                  <a:txBody>
                    <a:bodyPr/>
                    <a:lstStyle/>
                    <a:p>
                      <a:pPr algn="l">
                        <a:buNone/>
                      </a:pPr>
                      <a:r>
                        <a:rPr lang="zh-CN" altLang="en-US" sz="1400"/>
                        <a:t>文档要求</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适中 </a:t>
                      </a:r>
                      <a:r>
                        <a:rPr lang="en-US" altLang="zh-CN" sz="1400"/>
                        <a:t>(</a:t>
                      </a:r>
                      <a:r>
                        <a:rPr lang="en-US" sz="1400"/>
                        <a:t>Backlog, Burn-down)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低 </a:t>
                      </a:r>
                      <a:r>
                        <a:rPr lang="en-US" altLang="zh-CN" sz="1400"/>
                        <a:t>(</a:t>
                      </a:r>
                      <a:r>
                        <a:rPr lang="zh-CN" altLang="en-US" sz="1400"/>
                        <a:t>代码即文档</a:t>
                      </a:r>
                      <a:r>
                        <a:rPr lang="en-US" altLang="zh-CN" sz="14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动态调整 </a:t>
                      </a:r>
                      <a:r>
                        <a:rPr lang="en-US" altLang="zh-CN" sz="1400"/>
                        <a:t>(Clear </a:t>
                      </a:r>
                      <a:r>
                        <a:rPr lang="zh-CN" altLang="en-US" sz="1400"/>
                        <a:t>几乎无文档，</a:t>
                      </a:r>
                      <a:r>
                        <a:rPr lang="en-US" altLang="zh-CN" sz="1400"/>
                        <a:t>Red </a:t>
                      </a:r>
                      <a:r>
                        <a:rPr lang="zh-CN" altLang="en-US" sz="1400"/>
                        <a:t>大量文档</a:t>
                      </a:r>
                      <a:r>
                        <a:rPr lang="en-US" altLang="zh-CN" sz="14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2824656"/>
                  </a:ext>
                </a:extLst>
              </a:tr>
              <a:tr h="640080">
                <a:tc>
                  <a:txBody>
                    <a:bodyPr/>
                    <a:lstStyle/>
                    <a:p>
                      <a:pPr algn="l">
                        <a:buNone/>
                      </a:pPr>
                      <a:r>
                        <a:rPr lang="zh-CN" altLang="en-US" sz="1400"/>
                        <a:t>口号</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sz="1400" dirty="0"/>
                        <a:t>Empirical Process Control</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sz="1400"/>
                        <a:t>Technical Excellence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sz="1400" dirty="0"/>
                        <a:t>People over Processes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851025"/>
                  </a:ext>
                </a:extLst>
              </a:tr>
            </a:tbl>
          </a:graphicData>
        </a:graphic>
      </p:graphicFrame>
    </p:spTree>
    <p:extLst>
      <p:ext uri="{BB962C8B-B14F-4D97-AF65-F5344CB8AC3E}">
        <p14:creationId xmlns:p14="http://schemas.microsoft.com/office/powerpoint/2010/main" val="3278299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3BB0B-EBBC-B5F4-326B-1EB6080A077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52C5629-3A80-C8BD-6DE2-0AA9D3276054}"/>
              </a:ext>
            </a:extLst>
          </p:cNvPr>
          <p:cNvSpPr>
            <a:spLocks noGrp="1"/>
          </p:cNvSpPr>
          <p:nvPr>
            <p:ph type="title"/>
          </p:nvPr>
        </p:nvSpPr>
        <p:spPr>
          <a:xfrm>
            <a:off x="792000" y="360000"/>
            <a:ext cx="6375921" cy="429413"/>
          </a:xfrm>
        </p:spPr>
        <p:txBody>
          <a:bodyPr>
            <a:normAutofit/>
          </a:bodyPr>
          <a:lstStyle/>
          <a:p>
            <a:r>
              <a:rPr lang="en-US" altLang="zh-CN"/>
              <a:t>2.6 </a:t>
            </a:r>
            <a:r>
              <a:rPr lang="zh-CN" altLang="en-US"/>
              <a:t>敏捷</a:t>
            </a:r>
          </a:p>
        </p:txBody>
      </p:sp>
      <p:sp>
        <p:nvSpPr>
          <p:cNvPr id="6" name="内容占位符 5">
            <a:extLst>
              <a:ext uri="{FF2B5EF4-FFF2-40B4-BE49-F238E27FC236}">
                <a16:creationId xmlns:a16="http://schemas.microsoft.com/office/drawing/2014/main" id="{FAE3DC8B-6232-F774-4204-CC79DA82A881}"/>
              </a:ext>
            </a:extLst>
          </p:cNvPr>
          <p:cNvSpPr>
            <a:spLocks noGrp="1"/>
          </p:cNvSpPr>
          <p:nvPr>
            <p:ph idx="1"/>
          </p:nvPr>
        </p:nvSpPr>
        <p:spPr>
          <a:xfrm>
            <a:off x="696000" y="864000"/>
            <a:ext cx="10800000" cy="5400000"/>
          </a:xfrm>
        </p:spPr>
        <p:txBody>
          <a:bodyPr/>
          <a:lstStyle/>
          <a:p>
            <a:r>
              <a:rPr lang="en-US" altLang="zh-CN" dirty="0">
                <a:hlinkClick r:id="rId3"/>
              </a:rPr>
              <a:t>https://scrumguides.org</a:t>
            </a:r>
            <a:r>
              <a:rPr lang="en-US" altLang="zh-CN" dirty="0"/>
              <a:t> </a:t>
            </a:r>
          </a:p>
          <a:p>
            <a:r>
              <a:rPr lang="en-US" altLang="zh-CN" dirty="0"/>
              <a:t>Scrum is a lightweight framework that helps people, teams and organizations generate value through adaptive solutions for complex problems. </a:t>
            </a:r>
            <a:endParaRPr lang="zh-CN" altLang="en-US" dirty="0"/>
          </a:p>
          <a:p>
            <a:endParaRPr lang="en-US" altLang="zh-CN" dirty="0"/>
          </a:p>
          <a:p>
            <a:r>
              <a:rPr lang="en-US" altLang="zh-CN" dirty="0"/>
              <a:t>Changing the core design or ideas of Scrum</a:t>
            </a:r>
          </a:p>
          <a:p>
            <a:r>
              <a:rPr lang="en-US" altLang="zh-CN" dirty="0"/>
              <a:t>leaving out elements</a:t>
            </a:r>
          </a:p>
          <a:p>
            <a:r>
              <a:rPr lang="en-US" altLang="zh-CN" dirty="0"/>
              <a:t>not following the rules of Scrum</a:t>
            </a:r>
          </a:p>
          <a:p>
            <a:endParaRPr lang="en-US" altLang="zh-CN" dirty="0"/>
          </a:p>
          <a:p>
            <a:r>
              <a:rPr lang="en-US" altLang="zh-CN" dirty="0"/>
              <a:t>covers up problems and limits the benefits of Scrum</a:t>
            </a:r>
          </a:p>
          <a:p>
            <a:r>
              <a:rPr lang="en-US" altLang="zh-CN" dirty="0"/>
              <a:t>potentially even rendering it useless.</a:t>
            </a:r>
            <a:endParaRPr lang="zh-CN" altLang="en-US" dirty="0"/>
          </a:p>
        </p:txBody>
      </p:sp>
      <p:sp>
        <p:nvSpPr>
          <p:cNvPr id="4" name="文本占位符 3">
            <a:extLst>
              <a:ext uri="{FF2B5EF4-FFF2-40B4-BE49-F238E27FC236}">
                <a16:creationId xmlns:a16="http://schemas.microsoft.com/office/drawing/2014/main" id="{5578EAC2-90A1-A7A9-0BD8-D7604CB6EDE2}"/>
              </a:ext>
            </a:extLst>
          </p:cNvPr>
          <p:cNvSpPr>
            <a:spLocks noGrp="1"/>
          </p:cNvSpPr>
          <p:nvPr>
            <p:ph type="body" sz="quarter" idx="10"/>
          </p:nvPr>
        </p:nvSpPr>
        <p:spPr>
          <a:xfrm>
            <a:off x="7071919" y="448519"/>
            <a:ext cx="4424080" cy="338554"/>
          </a:xfrm>
        </p:spPr>
        <p:txBody>
          <a:bodyPr/>
          <a:lstStyle/>
          <a:p>
            <a:r>
              <a:rPr lang="en-US" altLang="zh-CN"/>
              <a:t>Scrum</a:t>
            </a:r>
            <a:endParaRPr lang="zh-CN" altLang="en-US"/>
          </a:p>
        </p:txBody>
      </p:sp>
      <p:sp>
        <p:nvSpPr>
          <p:cNvPr id="8" name="箭头: 下 7">
            <a:extLst>
              <a:ext uri="{FF2B5EF4-FFF2-40B4-BE49-F238E27FC236}">
                <a16:creationId xmlns:a16="http://schemas.microsoft.com/office/drawing/2014/main" id="{76E0C081-2213-6CF3-8DF6-719693E0A751}"/>
              </a:ext>
            </a:extLst>
          </p:cNvPr>
          <p:cNvSpPr>
            <a:spLocks noChangeAspect="1"/>
          </p:cNvSpPr>
          <p:nvPr/>
        </p:nvSpPr>
        <p:spPr>
          <a:xfrm>
            <a:off x="2130836" y="3421628"/>
            <a:ext cx="216000" cy="436076"/>
          </a:xfrm>
          <a:prstGeom prst="downArrow">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tx1"/>
              </a:solidFill>
            </a:endParaRPr>
          </a:p>
        </p:txBody>
      </p:sp>
    </p:spTree>
    <p:extLst>
      <p:ext uri="{BB962C8B-B14F-4D97-AF65-F5344CB8AC3E}">
        <p14:creationId xmlns:p14="http://schemas.microsoft.com/office/powerpoint/2010/main" val="120864289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3BB0B-EBBC-B5F4-326B-1EB6080A077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52C5629-3A80-C8BD-6DE2-0AA9D3276054}"/>
              </a:ext>
            </a:extLst>
          </p:cNvPr>
          <p:cNvSpPr>
            <a:spLocks noGrp="1"/>
          </p:cNvSpPr>
          <p:nvPr>
            <p:ph type="title"/>
          </p:nvPr>
        </p:nvSpPr>
        <p:spPr>
          <a:xfrm>
            <a:off x="792000" y="360000"/>
            <a:ext cx="6375921" cy="429413"/>
          </a:xfrm>
        </p:spPr>
        <p:txBody>
          <a:bodyPr>
            <a:normAutofit/>
          </a:bodyPr>
          <a:lstStyle/>
          <a:p>
            <a:r>
              <a:rPr lang="en-US" altLang="zh-CN"/>
              <a:t>2.6.1 </a:t>
            </a:r>
            <a:r>
              <a:rPr lang="zh-CN" altLang="en-US"/>
              <a:t>敏捷理念 </a:t>
            </a:r>
            <a:r>
              <a:rPr lang="en-US" altLang="zh-CN"/>
              <a:t>Scrum Theory</a:t>
            </a:r>
            <a:endParaRPr lang="zh-CN" altLang="en-US"/>
          </a:p>
        </p:txBody>
      </p:sp>
      <p:sp>
        <p:nvSpPr>
          <p:cNvPr id="6" name="内容占位符 5">
            <a:extLst>
              <a:ext uri="{FF2B5EF4-FFF2-40B4-BE49-F238E27FC236}">
                <a16:creationId xmlns:a16="http://schemas.microsoft.com/office/drawing/2014/main" id="{FAE3DC8B-6232-F774-4204-CC79DA82A881}"/>
              </a:ext>
            </a:extLst>
          </p:cNvPr>
          <p:cNvSpPr>
            <a:spLocks noGrp="1"/>
          </p:cNvSpPr>
          <p:nvPr>
            <p:ph idx="1"/>
          </p:nvPr>
        </p:nvSpPr>
        <p:spPr>
          <a:xfrm>
            <a:off x="696000" y="864000"/>
            <a:ext cx="10800000" cy="5400000"/>
          </a:xfrm>
        </p:spPr>
        <p:txBody>
          <a:bodyPr/>
          <a:lstStyle/>
          <a:p>
            <a:r>
              <a:rPr lang="zh-CN" altLang="en-US" dirty="0"/>
              <a:t>透明性 </a:t>
            </a:r>
            <a:r>
              <a:rPr lang="en-US" altLang="zh-CN" dirty="0"/>
              <a:t>Transparency</a:t>
            </a:r>
          </a:p>
          <a:p>
            <a:pPr lvl="1"/>
            <a:r>
              <a:rPr lang="en-US" altLang="zh-CN" dirty="0"/>
              <a:t>must be visible to those performing the work as well as those receiving the work</a:t>
            </a:r>
          </a:p>
          <a:p>
            <a:pPr lvl="1"/>
            <a:r>
              <a:rPr lang="en-US" altLang="zh-CN" dirty="0"/>
              <a:t>low transparency can lead to decisions that diminish value and increase risk</a:t>
            </a:r>
          </a:p>
          <a:p>
            <a:pPr lvl="1"/>
            <a:r>
              <a:rPr lang="en-US" altLang="zh-CN" dirty="0"/>
              <a:t>Inspection without transparency is misleading and wasteful.</a:t>
            </a:r>
          </a:p>
          <a:p>
            <a:r>
              <a:rPr lang="zh-CN" altLang="en-US" dirty="0"/>
              <a:t>检视 </a:t>
            </a:r>
            <a:r>
              <a:rPr lang="en-US" altLang="zh-CN" dirty="0"/>
              <a:t>Inspection</a:t>
            </a:r>
          </a:p>
          <a:p>
            <a:pPr lvl="1"/>
            <a:r>
              <a:rPr lang="en-US" altLang="zh-CN" dirty="0"/>
              <a:t>must be inspected frequently and diligently to detect potentially undesirable variances or problems</a:t>
            </a:r>
          </a:p>
          <a:p>
            <a:r>
              <a:rPr lang="zh-CN" altLang="en-US" dirty="0"/>
              <a:t>适应 </a:t>
            </a:r>
            <a:r>
              <a:rPr lang="en-US" altLang="zh-CN" dirty="0"/>
              <a:t>Adaptation</a:t>
            </a:r>
          </a:p>
          <a:p>
            <a:pPr lvl="1"/>
            <a:r>
              <a:rPr lang="en-US" altLang="zh-CN" dirty="0"/>
              <a:t>Case1</a:t>
            </a:r>
            <a:r>
              <a:rPr lang="zh-CN" altLang="en-US" dirty="0"/>
              <a:t>：</a:t>
            </a:r>
            <a:r>
              <a:rPr lang="en-US" altLang="zh-CN" dirty="0"/>
              <a:t>any aspects of a process deviate outside acceptable limits</a:t>
            </a:r>
          </a:p>
          <a:p>
            <a:pPr lvl="1"/>
            <a:r>
              <a:rPr lang="en-US" altLang="zh-CN" dirty="0"/>
              <a:t>Case2</a:t>
            </a:r>
            <a:r>
              <a:rPr lang="zh-CN" altLang="en-US" dirty="0"/>
              <a:t>：</a:t>
            </a:r>
            <a:r>
              <a:rPr lang="en-US" altLang="zh-CN" dirty="0"/>
              <a:t>the resulting product is unacceptable</a:t>
            </a:r>
          </a:p>
          <a:p>
            <a:pPr lvl="1"/>
            <a:r>
              <a:rPr lang="en-US" altLang="zh-CN" dirty="0"/>
              <a:t>Case3</a:t>
            </a:r>
            <a:r>
              <a:rPr lang="zh-CN" altLang="en-US" dirty="0"/>
              <a:t>：</a:t>
            </a:r>
            <a:r>
              <a:rPr lang="en-US" altLang="zh-CN" dirty="0"/>
              <a:t>expected to adapt the moment it learns anything new through inspection</a:t>
            </a:r>
          </a:p>
          <a:p>
            <a:pPr lvl="1"/>
            <a:r>
              <a:rPr lang="en-US" altLang="zh-CN" dirty="0"/>
              <a:t>becomes more difficult when the people involved are not empowered or self-managing</a:t>
            </a:r>
            <a:endParaRPr lang="zh-CN" altLang="en-US" dirty="0"/>
          </a:p>
        </p:txBody>
      </p:sp>
      <p:sp>
        <p:nvSpPr>
          <p:cNvPr id="4" name="文本占位符 3">
            <a:extLst>
              <a:ext uri="{FF2B5EF4-FFF2-40B4-BE49-F238E27FC236}">
                <a16:creationId xmlns:a16="http://schemas.microsoft.com/office/drawing/2014/main" id="{5578EAC2-90A1-A7A9-0BD8-D7604CB6EDE2}"/>
              </a:ext>
            </a:extLst>
          </p:cNvPr>
          <p:cNvSpPr>
            <a:spLocks noGrp="1"/>
          </p:cNvSpPr>
          <p:nvPr>
            <p:ph type="body" sz="quarter" idx="10"/>
          </p:nvPr>
        </p:nvSpPr>
        <p:spPr>
          <a:xfrm>
            <a:off x="7071919" y="448519"/>
            <a:ext cx="4424080" cy="338554"/>
          </a:xfrm>
        </p:spPr>
        <p:txBody>
          <a:bodyPr/>
          <a:lstStyle/>
          <a:p>
            <a:r>
              <a:rPr lang="en-US" altLang="zh-CN"/>
              <a:t>Scrum /Agile</a:t>
            </a:r>
            <a:endParaRPr lang="zh-CN" altLang="en-US"/>
          </a:p>
        </p:txBody>
      </p:sp>
    </p:spTree>
    <p:extLst>
      <p:ext uri="{BB962C8B-B14F-4D97-AF65-F5344CB8AC3E}">
        <p14:creationId xmlns:p14="http://schemas.microsoft.com/office/powerpoint/2010/main" val="373593372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3BB0B-EBBC-B5F4-326B-1EB6080A077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52C5629-3A80-C8BD-6DE2-0AA9D3276054}"/>
              </a:ext>
            </a:extLst>
          </p:cNvPr>
          <p:cNvSpPr>
            <a:spLocks noGrp="1"/>
          </p:cNvSpPr>
          <p:nvPr>
            <p:ph type="title"/>
          </p:nvPr>
        </p:nvSpPr>
        <p:spPr>
          <a:xfrm>
            <a:off x="792000" y="360000"/>
            <a:ext cx="6375921" cy="429413"/>
          </a:xfrm>
        </p:spPr>
        <p:txBody>
          <a:bodyPr>
            <a:normAutofit/>
          </a:bodyPr>
          <a:lstStyle/>
          <a:p>
            <a:r>
              <a:rPr lang="en-US" altLang="zh-CN"/>
              <a:t>2.6.1 </a:t>
            </a:r>
            <a:r>
              <a:rPr lang="zh-CN" altLang="en-US"/>
              <a:t>敏捷理念 </a:t>
            </a:r>
            <a:r>
              <a:rPr lang="en-US" altLang="zh-CN"/>
              <a:t>Scrum Theory</a:t>
            </a:r>
            <a:endParaRPr lang="zh-CN" altLang="en-US"/>
          </a:p>
        </p:txBody>
      </p:sp>
      <p:sp>
        <p:nvSpPr>
          <p:cNvPr id="10" name="内容占位符 9">
            <a:extLst>
              <a:ext uri="{FF2B5EF4-FFF2-40B4-BE49-F238E27FC236}">
                <a16:creationId xmlns:a16="http://schemas.microsoft.com/office/drawing/2014/main" id="{C3ABE7BA-30C8-9147-D1F7-D7F47557A810}"/>
              </a:ext>
            </a:extLst>
          </p:cNvPr>
          <p:cNvSpPr>
            <a:spLocks noGrp="1"/>
          </p:cNvSpPr>
          <p:nvPr>
            <p:ph idx="1"/>
          </p:nvPr>
        </p:nvSpPr>
        <p:spPr/>
        <p:txBody>
          <a:bodyPr/>
          <a:lstStyle/>
          <a:p>
            <a:endParaRPr lang="zh-CN" altLang="en-US"/>
          </a:p>
        </p:txBody>
      </p:sp>
      <p:sp>
        <p:nvSpPr>
          <p:cNvPr id="4" name="文本占位符 3">
            <a:extLst>
              <a:ext uri="{FF2B5EF4-FFF2-40B4-BE49-F238E27FC236}">
                <a16:creationId xmlns:a16="http://schemas.microsoft.com/office/drawing/2014/main" id="{5578EAC2-90A1-A7A9-0BD8-D7604CB6EDE2}"/>
              </a:ext>
            </a:extLst>
          </p:cNvPr>
          <p:cNvSpPr>
            <a:spLocks noGrp="1"/>
          </p:cNvSpPr>
          <p:nvPr>
            <p:ph type="body" sz="quarter" idx="10"/>
          </p:nvPr>
        </p:nvSpPr>
        <p:spPr>
          <a:xfrm>
            <a:off x="7071919" y="448519"/>
            <a:ext cx="4424080" cy="338554"/>
          </a:xfrm>
        </p:spPr>
        <p:txBody>
          <a:bodyPr/>
          <a:lstStyle/>
          <a:p>
            <a:r>
              <a:rPr lang="en-US" altLang="zh-CN"/>
              <a:t>Scrum /Agile</a:t>
            </a:r>
            <a:endParaRPr lang="zh-CN" altLang="en-US"/>
          </a:p>
        </p:txBody>
      </p:sp>
      <p:grpSp>
        <p:nvGrpSpPr>
          <p:cNvPr id="7" name="组合 6">
            <a:extLst>
              <a:ext uri="{FF2B5EF4-FFF2-40B4-BE49-F238E27FC236}">
                <a16:creationId xmlns:a16="http://schemas.microsoft.com/office/drawing/2014/main" id="{B28B744E-946A-3078-DDC2-FBCD33F1DECF}"/>
              </a:ext>
            </a:extLst>
          </p:cNvPr>
          <p:cNvGrpSpPr/>
          <p:nvPr/>
        </p:nvGrpSpPr>
        <p:grpSpPr>
          <a:xfrm>
            <a:off x="695324" y="1339271"/>
            <a:ext cx="3240000" cy="4442097"/>
            <a:chOff x="695324" y="1339271"/>
            <a:chExt cx="3240000" cy="4442097"/>
          </a:xfrm>
        </p:grpSpPr>
        <p:sp>
          <p:nvSpPr>
            <p:cNvPr id="12" name="TextBox 11">
              <a:extLst>
                <a:ext uri="{FF2B5EF4-FFF2-40B4-BE49-F238E27FC236}">
                  <a16:creationId xmlns:a16="http://schemas.microsoft.com/office/drawing/2014/main" id="{50841E2C-1314-450F-DBE1-CB2815A416EC}"/>
                </a:ext>
              </a:extLst>
            </p:cNvPr>
            <p:cNvSpPr txBox="1"/>
            <p:nvPr/>
          </p:nvSpPr>
          <p:spPr>
            <a:xfrm>
              <a:off x="695324" y="1893455"/>
              <a:ext cx="3240000" cy="3887913"/>
            </a:xfrm>
            <a:prstGeom prst="rect">
              <a:avLst/>
            </a:prstGeom>
            <a:noFill/>
            <a:ln>
              <a:noFill/>
            </a:ln>
          </p:spPr>
          <p:txBody>
            <a:bodyPr wrap="square" rtlCol="0">
              <a:noAutofit/>
            </a:bodyPr>
            <a:lstStyle/>
            <a:p>
              <a:pPr marL="285750" indent="-285750" algn="just">
                <a:buFont typeface="Arial" panose="020B0604020202020204" pitchFamily="34" charset="0"/>
                <a:buChar char="•"/>
              </a:pPr>
              <a:r>
                <a:rPr lang="zh-CN" altLang="en-US" sz="1600"/>
                <a:t>所有与过程、工作、进展和挑战相关的信息必须对团队和干系人清晰可见</a:t>
              </a:r>
            </a:p>
            <a:p>
              <a:pPr marL="285750" indent="-285750" algn="just">
                <a:buFont typeface="Arial" panose="020B0604020202020204" pitchFamily="34" charset="0"/>
                <a:buChar char="•"/>
              </a:pPr>
              <a:r>
                <a:rPr lang="zh-CN" altLang="en-US" sz="1600"/>
                <a:t>工作项（如 </a:t>
              </a:r>
              <a:r>
                <a:rPr lang="en-US" altLang="zh-CN" sz="1600"/>
                <a:t>Product Backlog</a:t>
              </a:r>
              <a:r>
                <a:rPr lang="zh-CN" altLang="en-US" sz="1600"/>
                <a:t>）的内容、状态和优先级必须公开</a:t>
              </a:r>
            </a:p>
            <a:p>
              <a:pPr marL="285750" indent="-285750" algn="just">
                <a:buFont typeface="Arial" panose="020B0604020202020204" pitchFamily="34" charset="0"/>
                <a:buChar char="•"/>
              </a:pPr>
              <a:r>
                <a:rPr lang="zh-CN" altLang="en-US" sz="1600"/>
                <a:t>团队使用统一的术语（如完成定义 </a:t>
              </a:r>
              <a:r>
                <a:rPr lang="en-US" altLang="zh-CN" sz="1600"/>
                <a:t>- Definition of Done</a:t>
              </a:r>
              <a:r>
                <a:rPr lang="zh-CN" altLang="en-US" sz="1600"/>
                <a:t>）</a:t>
              </a:r>
            </a:p>
            <a:p>
              <a:pPr marL="285750" indent="-285750" algn="just">
                <a:buFont typeface="Arial" panose="020B0604020202020204" pitchFamily="34" charset="0"/>
                <a:buChar char="•"/>
              </a:pPr>
              <a:r>
                <a:rPr lang="zh-CN" altLang="en-US" sz="1600"/>
                <a:t>进度通过可视化工具（如 </a:t>
              </a:r>
              <a:r>
                <a:rPr lang="en-US" altLang="zh-CN" sz="1600"/>
                <a:t>Sprint Burndown Chart</a:t>
              </a:r>
              <a:r>
                <a:rPr lang="zh-CN" altLang="en-US" sz="1600"/>
                <a:t>、看板）展示</a:t>
              </a:r>
            </a:p>
            <a:p>
              <a:pPr marL="285750" indent="-285750" algn="just">
                <a:buFont typeface="Arial" panose="020B0604020202020204" pitchFamily="34" charset="0"/>
                <a:buChar char="•"/>
              </a:pPr>
              <a:r>
                <a:rPr lang="zh-CN" altLang="en-US" sz="1600"/>
                <a:t>目的：确保所有人基于相同事实做决策，避免误解和隐藏问题</a:t>
              </a:r>
            </a:p>
          </p:txBody>
        </p:sp>
        <p:sp>
          <p:nvSpPr>
            <p:cNvPr id="16" name="Rectangle 15">
              <a:extLst>
                <a:ext uri="{FF2B5EF4-FFF2-40B4-BE49-F238E27FC236}">
                  <a16:creationId xmlns:a16="http://schemas.microsoft.com/office/drawing/2014/main" id="{24290764-14D2-7936-9313-21DD7B82F22D}"/>
                </a:ext>
              </a:extLst>
            </p:cNvPr>
            <p:cNvSpPr/>
            <p:nvPr/>
          </p:nvSpPr>
          <p:spPr>
            <a:xfrm>
              <a:off x="695324" y="1339271"/>
              <a:ext cx="3240000" cy="432000"/>
            </a:xfrm>
            <a:prstGeom prst="rect">
              <a:avLst/>
            </a:prstGeom>
            <a:ln>
              <a:noFill/>
            </a:ln>
            <a:effectLst/>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sz="1600"/>
                <a:t>透明性 </a:t>
              </a:r>
              <a:r>
                <a:rPr lang="en-US" altLang="zh-CN" sz="1600"/>
                <a:t>Transparency</a:t>
              </a:r>
              <a:endParaRPr lang="zh-CN" altLang="en-US" sz="1600"/>
            </a:p>
          </p:txBody>
        </p:sp>
      </p:grpSp>
      <p:grpSp>
        <p:nvGrpSpPr>
          <p:cNvPr id="3" name="组合 2">
            <a:extLst>
              <a:ext uri="{FF2B5EF4-FFF2-40B4-BE49-F238E27FC236}">
                <a16:creationId xmlns:a16="http://schemas.microsoft.com/office/drawing/2014/main" id="{F79935C3-78EF-B58F-0896-68355AD5ED50}"/>
              </a:ext>
            </a:extLst>
          </p:cNvPr>
          <p:cNvGrpSpPr/>
          <p:nvPr/>
        </p:nvGrpSpPr>
        <p:grpSpPr>
          <a:xfrm>
            <a:off x="8256000" y="1339271"/>
            <a:ext cx="3240000" cy="4442095"/>
            <a:chOff x="4476000" y="1339271"/>
            <a:chExt cx="3240000" cy="4442095"/>
          </a:xfrm>
        </p:grpSpPr>
        <p:sp>
          <p:nvSpPr>
            <p:cNvPr id="14" name="TextBox 13">
              <a:extLst>
                <a:ext uri="{FF2B5EF4-FFF2-40B4-BE49-F238E27FC236}">
                  <a16:creationId xmlns:a16="http://schemas.microsoft.com/office/drawing/2014/main" id="{590E775E-DF1C-A695-8EC9-BD2A949E6FB7}"/>
                </a:ext>
              </a:extLst>
            </p:cNvPr>
            <p:cNvSpPr txBox="1"/>
            <p:nvPr/>
          </p:nvSpPr>
          <p:spPr>
            <a:xfrm>
              <a:off x="4476000" y="1893453"/>
              <a:ext cx="3240000" cy="3887913"/>
            </a:xfrm>
            <a:prstGeom prst="rect">
              <a:avLst/>
            </a:prstGeom>
            <a:noFill/>
            <a:ln>
              <a:noFill/>
            </a:ln>
          </p:spPr>
          <p:txBody>
            <a:bodyPr wrap="square" rtlCol="0">
              <a:noAutofit/>
            </a:bodyPr>
            <a:lstStyle/>
            <a:p>
              <a:pPr marL="285750" indent="-285750" algn="just">
                <a:buFont typeface="Arial" panose="020B0604020202020204" pitchFamily="34" charset="0"/>
                <a:buChar char="•"/>
              </a:pPr>
              <a:r>
                <a:rPr lang="zh-CN" altLang="en-US" sz="1600"/>
                <a:t>基于检视结果，团队必须迅速调整行为、计划或方法</a:t>
              </a:r>
            </a:p>
            <a:p>
              <a:pPr marL="285750" indent="-285750" algn="just">
                <a:buFont typeface="Arial" panose="020B0604020202020204" pitchFamily="34" charset="0"/>
                <a:buChar char="•"/>
              </a:pPr>
              <a:r>
                <a:rPr lang="zh-CN" altLang="en-US" sz="1600"/>
                <a:t>如果发现产品方向偏离，可在下个 </a:t>
              </a:r>
              <a:r>
                <a:rPr lang="en-US" altLang="zh-CN" sz="1600"/>
                <a:t>Sprint </a:t>
              </a:r>
              <a:r>
                <a:rPr lang="zh-CN" altLang="en-US" sz="1600"/>
                <a:t>调整 </a:t>
              </a:r>
              <a:r>
                <a:rPr lang="en-US" altLang="zh-CN" sz="1600"/>
                <a:t>Backlog</a:t>
              </a:r>
              <a:endParaRPr lang="zh-CN" altLang="en-US" sz="1600"/>
            </a:p>
            <a:p>
              <a:pPr marL="285750" indent="-285750" algn="just">
                <a:buFont typeface="Arial" panose="020B0604020202020204" pitchFamily="34" charset="0"/>
                <a:buChar char="•"/>
              </a:pPr>
              <a:r>
                <a:rPr lang="zh-CN" altLang="en-US" sz="1600"/>
                <a:t>如果流程效率低，可在 </a:t>
              </a:r>
              <a:r>
                <a:rPr lang="en-US" altLang="zh-CN" sz="1600"/>
                <a:t>Retrospective </a:t>
              </a:r>
              <a:r>
                <a:rPr lang="zh-CN" altLang="en-US" sz="1600"/>
                <a:t>后改进工作方式</a:t>
              </a:r>
            </a:p>
            <a:p>
              <a:pPr marL="285750" indent="-285750" algn="just">
                <a:buFont typeface="Arial" panose="020B0604020202020204" pitchFamily="34" charset="0"/>
                <a:buChar char="•"/>
              </a:pPr>
              <a:r>
                <a:rPr lang="zh-CN" altLang="en-US" sz="1600"/>
                <a:t>适应必须在可接受的时间窗口内发生（通常在下一个 </a:t>
              </a:r>
              <a:r>
                <a:rPr lang="en-US" altLang="zh-CN" sz="1600"/>
                <a:t>Sprint </a:t>
              </a:r>
              <a:r>
                <a:rPr lang="zh-CN" altLang="en-US" sz="1600"/>
                <a:t>开始前）</a:t>
              </a:r>
            </a:p>
            <a:p>
              <a:pPr marL="285750" indent="-285750" algn="just">
                <a:buFont typeface="Arial" panose="020B0604020202020204" pitchFamily="34" charset="0"/>
                <a:buChar char="•"/>
              </a:pPr>
              <a:r>
                <a:rPr lang="zh-CN" altLang="en-US" sz="1600"/>
                <a:t>目的：持续优化交付价值的能力和团队效能</a:t>
              </a:r>
            </a:p>
          </p:txBody>
        </p:sp>
        <p:sp>
          <p:nvSpPr>
            <p:cNvPr id="17" name="Rectangle 16">
              <a:extLst>
                <a:ext uri="{FF2B5EF4-FFF2-40B4-BE49-F238E27FC236}">
                  <a16:creationId xmlns:a16="http://schemas.microsoft.com/office/drawing/2014/main" id="{C1E832B5-A547-FC64-84F2-5EA4A6C8D9DB}"/>
                </a:ext>
              </a:extLst>
            </p:cNvPr>
            <p:cNvSpPr/>
            <p:nvPr/>
          </p:nvSpPr>
          <p:spPr>
            <a:xfrm>
              <a:off x="4476000" y="1339271"/>
              <a:ext cx="3240000" cy="432000"/>
            </a:xfrm>
            <a:prstGeom prst="rect">
              <a:avLst/>
            </a:prstGeom>
            <a:ln>
              <a:noFill/>
            </a:ln>
            <a:effectLst/>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sz="1600"/>
                <a:t>适应 </a:t>
              </a:r>
              <a:r>
                <a:rPr lang="en-US" altLang="zh-CN" sz="1600"/>
                <a:t>Adaptation</a:t>
              </a:r>
            </a:p>
          </p:txBody>
        </p:sp>
      </p:grpSp>
      <p:grpSp>
        <p:nvGrpSpPr>
          <p:cNvPr id="5" name="组合 4">
            <a:extLst>
              <a:ext uri="{FF2B5EF4-FFF2-40B4-BE49-F238E27FC236}">
                <a16:creationId xmlns:a16="http://schemas.microsoft.com/office/drawing/2014/main" id="{223DFFC2-4857-1809-38B8-7FFFE6DEE7AF}"/>
              </a:ext>
            </a:extLst>
          </p:cNvPr>
          <p:cNvGrpSpPr/>
          <p:nvPr/>
        </p:nvGrpSpPr>
        <p:grpSpPr>
          <a:xfrm>
            <a:off x="4475662" y="1339271"/>
            <a:ext cx="3240000" cy="4442095"/>
            <a:chOff x="8256675" y="1339271"/>
            <a:chExt cx="3240000" cy="4442095"/>
          </a:xfrm>
        </p:grpSpPr>
        <p:sp>
          <p:nvSpPr>
            <p:cNvPr id="13" name="TextBox 12">
              <a:extLst>
                <a:ext uri="{FF2B5EF4-FFF2-40B4-BE49-F238E27FC236}">
                  <a16:creationId xmlns:a16="http://schemas.microsoft.com/office/drawing/2014/main" id="{255E1BCE-EA06-9F7F-0587-769BC02C12E9}"/>
                </a:ext>
              </a:extLst>
            </p:cNvPr>
            <p:cNvSpPr txBox="1"/>
            <p:nvPr/>
          </p:nvSpPr>
          <p:spPr>
            <a:xfrm>
              <a:off x="8256675" y="1893454"/>
              <a:ext cx="3240000" cy="3887912"/>
            </a:xfrm>
            <a:prstGeom prst="rect">
              <a:avLst/>
            </a:prstGeom>
            <a:noFill/>
            <a:ln>
              <a:noFill/>
            </a:ln>
          </p:spPr>
          <p:txBody>
            <a:bodyPr wrap="square" rtlCol="0">
              <a:noAutofit/>
            </a:bodyPr>
            <a:lstStyle/>
            <a:p>
              <a:pPr marL="285750" indent="-285750" algn="just">
                <a:buFont typeface="Arial" panose="020B0604020202020204" pitchFamily="34" charset="0"/>
                <a:buChar char="•"/>
              </a:pPr>
              <a:r>
                <a:rPr lang="en-US" altLang="zh-CN" sz="1600"/>
                <a:t>Scrum </a:t>
              </a:r>
              <a:r>
                <a:rPr lang="zh-CN" altLang="en-US" sz="1600"/>
                <a:t>团队定期检查产品、过程和计划，以识别偏差或改进机会</a:t>
              </a:r>
            </a:p>
            <a:p>
              <a:pPr marL="285750" indent="-285750" algn="just">
                <a:buFont typeface="Arial" panose="020B0604020202020204" pitchFamily="34" charset="0"/>
                <a:buChar char="•"/>
              </a:pPr>
              <a:r>
                <a:rPr lang="zh-CN" altLang="en-US" sz="1600"/>
                <a:t>在固定时间点进行：</a:t>
              </a:r>
            </a:p>
            <a:p>
              <a:pPr marL="285750" indent="-285750" algn="just">
                <a:buFont typeface="Arial" panose="020B0604020202020204" pitchFamily="34" charset="0"/>
                <a:buChar char="•"/>
              </a:pPr>
              <a:r>
                <a:rPr lang="en-US" altLang="zh-CN" sz="1600"/>
                <a:t>Daily Scrum</a:t>
              </a:r>
              <a:r>
                <a:rPr lang="zh-CN" altLang="en-US" sz="1600"/>
                <a:t>：每日检视进度与障碍</a:t>
              </a:r>
            </a:p>
            <a:p>
              <a:pPr marL="285750" indent="-285750" algn="just">
                <a:buFont typeface="Arial" panose="020B0604020202020204" pitchFamily="34" charset="0"/>
                <a:buChar char="•"/>
              </a:pPr>
              <a:r>
                <a:rPr lang="en-US" altLang="zh-CN" sz="1600"/>
                <a:t>Sprint Review</a:t>
              </a:r>
              <a:r>
                <a:rPr lang="zh-CN" altLang="en-US" sz="1600"/>
                <a:t>：检视可交付成果是否满足目标</a:t>
              </a:r>
            </a:p>
            <a:p>
              <a:pPr marL="285750" indent="-285750" algn="just">
                <a:buFont typeface="Arial" panose="020B0604020202020204" pitchFamily="34" charset="0"/>
                <a:buChar char="•"/>
              </a:pPr>
              <a:r>
                <a:rPr lang="en-US" altLang="zh-CN" sz="1600"/>
                <a:t>Sprint Retrospective</a:t>
              </a:r>
              <a:r>
                <a:rPr lang="zh-CN" altLang="en-US" sz="1600"/>
                <a:t>：检视流程与协作方式</a:t>
              </a:r>
            </a:p>
            <a:p>
              <a:pPr marL="285750" indent="-285750" algn="just">
                <a:buFont typeface="Arial" panose="020B0604020202020204" pitchFamily="34" charset="0"/>
                <a:buChar char="•"/>
              </a:pPr>
              <a:r>
                <a:rPr lang="zh-CN" altLang="en-US" sz="1600"/>
                <a:t>检视必须及时（不能等到项目结束），且不影响正常工作流</a:t>
              </a:r>
            </a:p>
            <a:p>
              <a:pPr marL="285750" indent="-285750" algn="just">
                <a:buFont typeface="Arial" panose="020B0604020202020204" pitchFamily="34" charset="0"/>
                <a:buChar char="•"/>
              </a:pPr>
              <a:r>
                <a:rPr lang="zh-CN" altLang="en-US" sz="1600"/>
                <a:t>目的：尽早发现问题，防止小偏差演变成大风险</a:t>
              </a:r>
            </a:p>
          </p:txBody>
        </p:sp>
        <p:sp>
          <p:nvSpPr>
            <p:cNvPr id="18" name="Rectangle 17">
              <a:extLst>
                <a:ext uri="{FF2B5EF4-FFF2-40B4-BE49-F238E27FC236}">
                  <a16:creationId xmlns:a16="http://schemas.microsoft.com/office/drawing/2014/main" id="{9788AF76-B448-9EAB-756A-851C875C9E5E}"/>
                </a:ext>
              </a:extLst>
            </p:cNvPr>
            <p:cNvSpPr/>
            <p:nvPr/>
          </p:nvSpPr>
          <p:spPr>
            <a:xfrm>
              <a:off x="8256675" y="1339271"/>
              <a:ext cx="3240000" cy="432000"/>
            </a:xfrm>
            <a:prstGeom prst="rect">
              <a:avLst/>
            </a:prstGeom>
            <a:ln>
              <a:noFill/>
            </a:ln>
            <a:effectLst/>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sz="1600"/>
                <a:t>检视 </a:t>
              </a:r>
              <a:r>
                <a:rPr lang="en-US" altLang="zh-CN" sz="1600" dirty="0"/>
                <a:t>Inspection</a:t>
              </a:r>
            </a:p>
          </p:txBody>
        </p:sp>
      </p:grpSp>
    </p:spTree>
    <p:extLst>
      <p:ext uri="{BB962C8B-B14F-4D97-AF65-F5344CB8AC3E}">
        <p14:creationId xmlns:p14="http://schemas.microsoft.com/office/powerpoint/2010/main" val="383549778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5B8EA-AE95-3281-C3B9-A9F926531F00}"/>
              </a:ext>
            </a:extLst>
          </p:cNvPr>
          <p:cNvSpPr>
            <a:spLocks noGrp="1"/>
          </p:cNvSpPr>
          <p:nvPr>
            <p:ph type="title"/>
          </p:nvPr>
        </p:nvSpPr>
        <p:spPr>
          <a:xfrm>
            <a:off x="792000" y="360000"/>
            <a:ext cx="6375921" cy="429413"/>
          </a:xfrm>
        </p:spPr>
        <p:txBody>
          <a:bodyPr/>
          <a:lstStyle/>
          <a:p>
            <a:r>
              <a:rPr lang="en-US" altLang="zh-CN"/>
              <a:t>2.6.2 </a:t>
            </a:r>
            <a:r>
              <a:rPr lang="zh-CN" altLang="en-US"/>
              <a:t>体系</a:t>
            </a:r>
          </a:p>
        </p:txBody>
      </p:sp>
      <p:sp>
        <p:nvSpPr>
          <p:cNvPr id="7" name="内容占位符 6">
            <a:extLst>
              <a:ext uri="{FF2B5EF4-FFF2-40B4-BE49-F238E27FC236}">
                <a16:creationId xmlns:a16="http://schemas.microsoft.com/office/drawing/2014/main" id="{53EE0A2E-B347-B79E-24DE-35064E4A92D3}"/>
              </a:ext>
            </a:extLst>
          </p:cNvPr>
          <p:cNvSpPr>
            <a:spLocks noGrp="1"/>
          </p:cNvSpPr>
          <p:nvPr>
            <p:ph idx="1"/>
          </p:nvPr>
        </p:nvSpPr>
        <p:spPr/>
        <p:txBody>
          <a:bodyPr/>
          <a:lstStyle/>
          <a:p>
            <a:endParaRPr lang="zh-CN" altLang="en-US"/>
          </a:p>
        </p:txBody>
      </p:sp>
      <p:sp>
        <p:nvSpPr>
          <p:cNvPr id="4" name="Text Placeholder 3">
            <a:extLst>
              <a:ext uri="{FF2B5EF4-FFF2-40B4-BE49-F238E27FC236}">
                <a16:creationId xmlns:a16="http://schemas.microsoft.com/office/drawing/2014/main" id="{BF2FFCA6-7626-9771-0ADA-629FEAA3C107}"/>
              </a:ext>
            </a:extLst>
          </p:cNvPr>
          <p:cNvSpPr>
            <a:spLocks noGrp="1"/>
          </p:cNvSpPr>
          <p:nvPr>
            <p:ph type="body" sz="quarter" idx="10"/>
          </p:nvPr>
        </p:nvSpPr>
        <p:spPr>
          <a:xfrm>
            <a:off x="7071919" y="448519"/>
            <a:ext cx="4424080" cy="338554"/>
          </a:xfrm>
        </p:spPr>
        <p:txBody>
          <a:bodyPr/>
          <a:lstStyle/>
          <a:p>
            <a:r>
              <a:rPr lang="en-US" altLang="zh-CN"/>
              <a:t>Scrum /Agile</a:t>
            </a:r>
            <a:endParaRPr lang="zh-CN" altLang="en-US"/>
          </a:p>
        </p:txBody>
      </p:sp>
      <p:graphicFrame>
        <p:nvGraphicFramePr>
          <p:cNvPr id="8" name="Table 7">
            <a:extLst>
              <a:ext uri="{FF2B5EF4-FFF2-40B4-BE49-F238E27FC236}">
                <a16:creationId xmlns:a16="http://schemas.microsoft.com/office/drawing/2014/main" id="{A96257D8-1CB1-6C66-C3D9-DC9BD2C5162A}"/>
              </a:ext>
            </a:extLst>
          </p:cNvPr>
          <p:cNvGraphicFramePr>
            <a:graphicFrameLocks noGrp="1"/>
          </p:cNvGraphicFramePr>
          <p:nvPr>
            <p:extLst>
              <p:ext uri="{D42A27DB-BD31-4B8C-83A1-F6EECF244321}">
                <p14:modId xmlns:p14="http://schemas.microsoft.com/office/powerpoint/2010/main" val="2789348520"/>
              </p:ext>
            </p:extLst>
          </p:nvPr>
        </p:nvGraphicFramePr>
        <p:xfrm>
          <a:off x="695325" y="1626235"/>
          <a:ext cx="10801350" cy="4638040"/>
        </p:xfrm>
        <a:graphic>
          <a:graphicData uri="http://schemas.openxmlformats.org/drawingml/2006/table">
            <a:tbl>
              <a:tblPr firstRow="1" bandRow="1">
                <a:tableStyleId>{2D5ABB26-0587-4C30-8999-92F81FD0307C}</a:tableStyleId>
              </a:tblPr>
              <a:tblGrid>
                <a:gridCol w="1274877">
                  <a:extLst>
                    <a:ext uri="{9D8B030D-6E8A-4147-A177-3AD203B41FA5}">
                      <a16:colId xmlns:a16="http://schemas.microsoft.com/office/drawing/2014/main" val="3703345355"/>
                    </a:ext>
                  </a:extLst>
                </a:gridCol>
                <a:gridCol w="2300140">
                  <a:extLst>
                    <a:ext uri="{9D8B030D-6E8A-4147-A177-3AD203B41FA5}">
                      <a16:colId xmlns:a16="http://schemas.microsoft.com/office/drawing/2014/main" val="2021597401"/>
                    </a:ext>
                  </a:extLst>
                </a:gridCol>
                <a:gridCol w="7226333">
                  <a:extLst>
                    <a:ext uri="{9D8B030D-6E8A-4147-A177-3AD203B41FA5}">
                      <a16:colId xmlns:a16="http://schemas.microsoft.com/office/drawing/2014/main" val="2036264542"/>
                    </a:ext>
                  </a:extLst>
                </a:gridCol>
              </a:tblGrid>
              <a:tr h="370840">
                <a:tc>
                  <a:txBody>
                    <a:bodyPr/>
                    <a:lstStyle/>
                    <a:p>
                      <a:pPr algn="ctr"/>
                      <a:endParaRPr lang="zh-CN" altLang="en-US" sz="16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altLang="zh-CN" sz="1600" dirty="0">
                          <a:solidFill>
                            <a:schemeClr val="bg1"/>
                          </a:solidFill>
                        </a:rPr>
                        <a:t>Items</a:t>
                      </a:r>
                      <a:endParaRPr lang="zh-CN" altLang="en-US" sz="1600" dirty="0">
                        <a:solidFill>
                          <a:schemeClr val="bg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altLang="zh-CN" sz="1600" dirty="0">
                          <a:solidFill>
                            <a:schemeClr val="bg1"/>
                          </a:solidFill>
                        </a:rPr>
                        <a:t>Description</a:t>
                      </a:r>
                      <a:endParaRPr lang="zh-CN" altLang="en-US" sz="1600" dirty="0">
                        <a:solidFill>
                          <a:schemeClr val="bg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3496229957"/>
                  </a:ext>
                </a:extLst>
              </a:tr>
              <a:tr h="370840">
                <a:tc>
                  <a:txBody>
                    <a:bodyPr/>
                    <a:lstStyle/>
                    <a:p>
                      <a:pPr algn="ctr"/>
                      <a:r>
                        <a:rPr lang="en-US" altLang="zh-CN" sz="1600"/>
                        <a:t>5</a:t>
                      </a:r>
                      <a:endParaRPr lang="zh-CN" altLang="en-US" sz="16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CN" altLang="en-US" sz="1600" dirty="0"/>
                        <a:t>价值观 </a:t>
                      </a:r>
                      <a:r>
                        <a:rPr lang="en-US" altLang="zh-CN" sz="1600" dirty="0"/>
                        <a:t>Values</a:t>
                      </a:r>
                      <a:endParaRPr lang="zh-CN" altLang="en-US"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t>承诺 </a:t>
                      </a:r>
                      <a:r>
                        <a:rPr lang="en-US" altLang="zh-CN" sz="1600" dirty="0"/>
                        <a:t>Commitment</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t>专注 </a:t>
                      </a:r>
                      <a:r>
                        <a:rPr lang="en-US" altLang="zh-CN" sz="1600" dirty="0"/>
                        <a:t>Focus</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t>开放</a:t>
                      </a:r>
                      <a:r>
                        <a:rPr lang="en-US" altLang="zh-CN" sz="1600" dirty="0"/>
                        <a:t> Openness</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t>尊重</a:t>
                      </a:r>
                      <a:r>
                        <a:rPr lang="en-US" altLang="zh-CN" sz="1600" dirty="0"/>
                        <a:t> Respect</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t>勇气</a:t>
                      </a:r>
                      <a:r>
                        <a:rPr lang="en-US" altLang="zh-CN" sz="1600" dirty="0"/>
                        <a:t> Courage</a:t>
                      </a:r>
                      <a:endParaRPr lang="zh-CN" altLang="en-US"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18090371"/>
                  </a:ext>
                </a:extLst>
              </a:tr>
              <a:tr h="370840">
                <a:tc>
                  <a:txBody>
                    <a:bodyPr/>
                    <a:lstStyle/>
                    <a:p>
                      <a:pPr algn="ctr"/>
                      <a:r>
                        <a:rPr lang="en-US" altLang="zh-CN" sz="1600"/>
                        <a:t>3</a:t>
                      </a:r>
                      <a:endParaRPr lang="zh-CN" altLang="en-US" sz="16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CN" altLang="en-US" sz="1600"/>
                        <a:t>团队 </a:t>
                      </a:r>
                      <a:r>
                        <a:rPr lang="en-US" altLang="zh-CN" sz="1600"/>
                        <a:t>Team</a:t>
                      </a:r>
                      <a:endParaRPr lang="zh-CN" altLang="en-US" sz="16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a:t>开发者 </a:t>
                      </a:r>
                      <a:r>
                        <a:rPr lang="en-US" altLang="zh-CN" sz="1600"/>
                        <a:t>Developer</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a:t>产品负责人 </a:t>
                      </a:r>
                      <a:r>
                        <a:rPr lang="en-US" altLang="zh-CN" sz="1600"/>
                        <a:t>Product Owner</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a:t>敏捷教练 </a:t>
                      </a:r>
                      <a:r>
                        <a:rPr lang="en-US" altLang="zh-CN" sz="1600"/>
                        <a:t>Scrum Master</a:t>
                      </a:r>
                      <a:endParaRPr lang="zh-CN" altLang="en-US" sz="16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33466322"/>
                  </a:ext>
                </a:extLst>
              </a:tr>
              <a:tr h="370840">
                <a:tc>
                  <a:txBody>
                    <a:bodyPr/>
                    <a:lstStyle/>
                    <a:p>
                      <a:pPr algn="ctr"/>
                      <a:r>
                        <a:rPr lang="en-US" altLang="zh-CN" sz="1600"/>
                        <a:t>5</a:t>
                      </a:r>
                      <a:endParaRPr lang="zh-CN" altLang="en-US" sz="16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CN" altLang="en-US" sz="1600"/>
                        <a:t>事件 </a:t>
                      </a:r>
                      <a:r>
                        <a:rPr lang="en-US" altLang="zh-CN" sz="1600"/>
                        <a:t>Events</a:t>
                      </a:r>
                      <a:endParaRPr lang="zh-CN" altLang="en-US" sz="16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a:t>冲刺 </a:t>
                      </a:r>
                      <a:r>
                        <a:rPr lang="en-US" altLang="zh-CN" sz="1600"/>
                        <a:t>The Sprint </a:t>
                      </a:r>
                      <a:endParaRPr lang="zh-CN" altLang="en-US" sz="160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a:t>冲刺规划 </a:t>
                      </a:r>
                      <a:r>
                        <a:rPr lang="en-US" altLang="zh-CN" sz="1600"/>
                        <a:t>Sprint Planning </a:t>
                      </a:r>
                      <a:endParaRPr lang="zh-CN" altLang="en-US" sz="160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a:t>每日站会 </a:t>
                      </a:r>
                      <a:r>
                        <a:rPr lang="en-US" altLang="zh-CN" sz="1600"/>
                        <a:t>Daily Scrum </a:t>
                      </a:r>
                      <a:endParaRPr lang="zh-CN" altLang="en-US" sz="160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a:t>冲刺评审 </a:t>
                      </a:r>
                      <a:r>
                        <a:rPr lang="en-US" altLang="zh-CN" sz="1600"/>
                        <a:t>Sprint Review </a:t>
                      </a:r>
                      <a:endParaRPr lang="zh-CN" altLang="en-US" sz="160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a:t>冲刺回顾 </a:t>
                      </a:r>
                      <a:r>
                        <a:rPr lang="en-US" altLang="zh-CN" sz="1600"/>
                        <a:t>Sprint Retrospective </a:t>
                      </a:r>
                      <a:endParaRPr lang="zh-CN" altLang="en-US" sz="16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29475179"/>
                  </a:ext>
                </a:extLst>
              </a:tr>
              <a:tr h="370840">
                <a:tc>
                  <a:txBody>
                    <a:bodyPr/>
                    <a:lstStyle/>
                    <a:p>
                      <a:pPr algn="ctr"/>
                      <a:r>
                        <a:rPr lang="en-US" altLang="zh-CN" sz="1600"/>
                        <a:t>3</a:t>
                      </a:r>
                      <a:endParaRPr lang="zh-CN" altLang="en-US" sz="16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CN" altLang="en-US" sz="1600"/>
                        <a:t>工件 </a:t>
                      </a:r>
                      <a:r>
                        <a:rPr lang="en-US" altLang="zh-CN" sz="1600"/>
                        <a:t>Aircrafts</a:t>
                      </a:r>
                      <a:endParaRPr lang="zh-CN" altLang="en-US" sz="16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t>产品待办事项 </a:t>
                      </a:r>
                      <a:r>
                        <a:rPr lang="en-US" altLang="zh-CN" sz="1600" dirty="0"/>
                        <a:t>Product Backlog </a:t>
                      </a:r>
                      <a:endParaRPr lang="zh-CN" altLang="en-US" sz="16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t>迭代待办列表 </a:t>
                      </a:r>
                      <a:r>
                        <a:rPr lang="en-US" altLang="zh-CN" sz="1600" dirty="0"/>
                        <a:t>Sprint Backlog </a:t>
                      </a:r>
                      <a:endParaRPr lang="zh-CN" altLang="en-US" sz="16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t>增加 </a:t>
                      </a:r>
                      <a:r>
                        <a:rPr lang="en-US" altLang="zh-CN" sz="1600" dirty="0"/>
                        <a:t>Increment </a:t>
                      </a:r>
                      <a:endParaRPr lang="zh-CN" altLang="en-US"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56230981"/>
                  </a:ext>
                </a:extLst>
              </a:tr>
            </a:tbl>
          </a:graphicData>
        </a:graphic>
      </p:graphicFrame>
    </p:spTree>
    <p:extLst>
      <p:ext uri="{BB962C8B-B14F-4D97-AF65-F5344CB8AC3E}">
        <p14:creationId xmlns:p14="http://schemas.microsoft.com/office/powerpoint/2010/main" val="17970716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圆角 4">
            <a:extLst>
              <a:ext uri="{FF2B5EF4-FFF2-40B4-BE49-F238E27FC236}">
                <a16:creationId xmlns:a16="http://schemas.microsoft.com/office/drawing/2014/main" id="{B31D0B73-147B-625B-DF1F-1C975580759C}"/>
              </a:ext>
            </a:extLst>
          </p:cNvPr>
          <p:cNvSpPr/>
          <p:nvPr/>
        </p:nvSpPr>
        <p:spPr>
          <a:xfrm>
            <a:off x="1199750" y="4411581"/>
            <a:ext cx="540000" cy="360000"/>
          </a:xfrm>
          <a:prstGeom prst="roundRect">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sp>
        <p:nvSpPr>
          <p:cNvPr id="6" name="矩形: 圆角 5">
            <a:extLst>
              <a:ext uri="{FF2B5EF4-FFF2-40B4-BE49-F238E27FC236}">
                <a16:creationId xmlns:a16="http://schemas.microsoft.com/office/drawing/2014/main" id="{A9EDADA6-51DE-A6F4-9D65-A2A946731806}"/>
              </a:ext>
            </a:extLst>
          </p:cNvPr>
          <p:cNvSpPr/>
          <p:nvPr/>
        </p:nvSpPr>
        <p:spPr>
          <a:xfrm>
            <a:off x="1199750" y="4820181"/>
            <a:ext cx="540000" cy="360000"/>
          </a:xfrm>
          <a:prstGeom prst="roundRect">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sp>
        <p:nvSpPr>
          <p:cNvPr id="7" name="矩形: 圆角 6">
            <a:extLst>
              <a:ext uri="{FF2B5EF4-FFF2-40B4-BE49-F238E27FC236}">
                <a16:creationId xmlns:a16="http://schemas.microsoft.com/office/drawing/2014/main" id="{E7C6F2D2-0C3E-707C-DBC1-FE27FF3C61BA}"/>
              </a:ext>
            </a:extLst>
          </p:cNvPr>
          <p:cNvSpPr/>
          <p:nvPr/>
        </p:nvSpPr>
        <p:spPr>
          <a:xfrm>
            <a:off x="1199750" y="5228781"/>
            <a:ext cx="540000" cy="360000"/>
          </a:xfrm>
          <a:prstGeom prst="roundRect">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sp>
        <p:nvSpPr>
          <p:cNvPr id="10" name="矩形: 圆角 9">
            <a:extLst>
              <a:ext uri="{FF2B5EF4-FFF2-40B4-BE49-F238E27FC236}">
                <a16:creationId xmlns:a16="http://schemas.microsoft.com/office/drawing/2014/main" id="{68132CFB-F09F-C0D9-D627-AF12629EACC3}"/>
              </a:ext>
            </a:extLst>
          </p:cNvPr>
          <p:cNvSpPr/>
          <p:nvPr/>
        </p:nvSpPr>
        <p:spPr>
          <a:xfrm>
            <a:off x="3811622" y="4411581"/>
            <a:ext cx="540000" cy="180000"/>
          </a:xfrm>
          <a:prstGeom prst="roundRect">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11" name="矩形: 圆角 10">
            <a:extLst>
              <a:ext uri="{FF2B5EF4-FFF2-40B4-BE49-F238E27FC236}">
                <a16:creationId xmlns:a16="http://schemas.microsoft.com/office/drawing/2014/main" id="{79C77528-0F72-6C04-82C1-D6CACF1F1853}"/>
              </a:ext>
            </a:extLst>
          </p:cNvPr>
          <p:cNvSpPr/>
          <p:nvPr/>
        </p:nvSpPr>
        <p:spPr>
          <a:xfrm>
            <a:off x="3809727" y="4660881"/>
            <a:ext cx="540000" cy="180000"/>
          </a:xfrm>
          <a:prstGeom prst="roundRect">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12" name="矩形: 圆角 11">
            <a:extLst>
              <a:ext uri="{FF2B5EF4-FFF2-40B4-BE49-F238E27FC236}">
                <a16:creationId xmlns:a16="http://schemas.microsoft.com/office/drawing/2014/main" id="{C646DCCB-5721-2031-8798-9B5A9CEE0141}"/>
              </a:ext>
            </a:extLst>
          </p:cNvPr>
          <p:cNvSpPr/>
          <p:nvPr/>
        </p:nvSpPr>
        <p:spPr>
          <a:xfrm>
            <a:off x="3809727" y="5159481"/>
            <a:ext cx="540000" cy="180000"/>
          </a:xfrm>
          <a:prstGeom prst="roundRect">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DA7F826F-2505-2BB1-0337-957126B6BE8C}"/>
              </a:ext>
            </a:extLst>
          </p:cNvPr>
          <p:cNvSpPr/>
          <p:nvPr/>
        </p:nvSpPr>
        <p:spPr>
          <a:xfrm>
            <a:off x="3809727" y="4910181"/>
            <a:ext cx="540000" cy="180000"/>
          </a:xfrm>
          <a:prstGeom prst="roundRect">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4D36BC18-F6EF-E685-3419-1A6C89F2B15B}"/>
              </a:ext>
            </a:extLst>
          </p:cNvPr>
          <p:cNvSpPr/>
          <p:nvPr/>
        </p:nvSpPr>
        <p:spPr>
          <a:xfrm>
            <a:off x="3809727" y="5408781"/>
            <a:ext cx="540000" cy="180000"/>
          </a:xfrm>
          <a:prstGeom prst="roundRect">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40FBFD0A-8E11-E36D-B89F-C5F8892CA549}"/>
              </a:ext>
            </a:extLst>
          </p:cNvPr>
          <p:cNvSpPr txBox="1"/>
          <p:nvPr/>
        </p:nvSpPr>
        <p:spPr>
          <a:xfrm>
            <a:off x="405196" y="5825192"/>
            <a:ext cx="2129109" cy="369332"/>
          </a:xfrm>
          <a:prstGeom prst="rect">
            <a:avLst/>
          </a:prstGeom>
          <a:noFill/>
        </p:spPr>
        <p:txBody>
          <a:bodyPr wrap="none" rtlCol="0">
            <a:spAutoFit/>
          </a:bodyPr>
          <a:lstStyle/>
          <a:p>
            <a:pPr algn="ctr"/>
            <a:r>
              <a:rPr lang="en-US" altLang="zh-CN"/>
              <a:t>Product Backlog</a:t>
            </a:r>
            <a:endParaRPr lang="zh-CN" altLang="en-US"/>
          </a:p>
        </p:txBody>
      </p:sp>
      <p:sp>
        <p:nvSpPr>
          <p:cNvPr id="16" name="文本框 15">
            <a:extLst>
              <a:ext uri="{FF2B5EF4-FFF2-40B4-BE49-F238E27FC236}">
                <a16:creationId xmlns:a16="http://schemas.microsoft.com/office/drawing/2014/main" id="{4262DDDD-FE14-AFB9-5B56-9B47A1F90D75}"/>
              </a:ext>
            </a:extLst>
          </p:cNvPr>
          <p:cNvSpPr txBox="1"/>
          <p:nvPr/>
        </p:nvSpPr>
        <p:spPr>
          <a:xfrm>
            <a:off x="3094375" y="5825192"/>
            <a:ext cx="1895071" cy="369332"/>
          </a:xfrm>
          <a:prstGeom prst="rect">
            <a:avLst/>
          </a:prstGeom>
          <a:noFill/>
        </p:spPr>
        <p:txBody>
          <a:bodyPr wrap="none" rtlCol="0">
            <a:spAutoFit/>
          </a:bodyPr>
          <a:lstStyle/>
          <a:p>
            <a:pPr algn="ctr"/>
            <a:r>
              <a:rPr lang="en-US" altLang="zh-CN"/>
              <a:t>Sprint Backlog</a:t>
            </a:r>
            <a:endParaRPr lang="zh-CN" altLang="en-US"/>
          </a:p>
        </p:txBody>
      </p:sp>
      <p:sp>
        <p:nvSpPr>
          <p:cNvPr id="19" name="文本框 18">
            <a:extLst>
              <a:ext uri="{FF2B5EF4-FFF2-40B4-BE49-F238E27FC236}">
                <a16:creationId xmlns:a16="http://schemas.microsoft.com/office/drawing/2014/main" id="{51C05E4B-16AF-EB18-51CD-5143A0C4944C}"/>
              </a:ext>
            </a:extLst>
          </p:cNvPr>
          <p:cNvSpPr txBox="1"/>
          <p:nvPr/>
        </p:nvSpPr>
        <p:spPr>
          <a:xfrm>
            <a:off x="7539040" y="5825192"/>
            <a:ext cx="1404552" cy="369332"/>
          </a:xfrm>
          <a:prstGeom prst="rect">
            <a:avLst/>
          </a:prstGeom>
          <a:noFill/>
        </p:spPr>
        <p:txBody>
          <a:bodyPr wrap="none" rtlCol="0">
            <a:spAutoFit/>
          </a:bodyPr>
          <a:lstStyle/>
          <a:p>
            <a:pPr algn="ctr"/>
            <a:r>
              <a:rPr lang="en-US" altLang="zh-CN"/>
              <a:t>Increment</a:t>
            </a:r>
            <a:endParaRPr lang="zh-CN" altLang="en-US"/>
          </a:p>
        </p:txBody>
      </p:sp>
      <p:sp>
        <p:nvSpPr>
          <p:cNvPr id="28" name="文本框 27">
            <a:extLst>
              <a:ext uri="{FF2B5EF4-FFF2-40B4-BE49-F238E27FC236}">
                <a16:creationId xmlns:a16="http://schemas.microsoft.com/office/drawing/2014/main" id="{5EA054E3-2D8B-30EB-1FB9-D427AB4834B5}"/>
              </a:ext>
            </a:extLst>
          </p:cNvPr>
          <p:cNvSpPr txBox="1"/>
          <p:nvPr/>
        </p:nvSpPr>
        <p:spPr>
          <a:xfrm>
            <a:off x="1886265" y="4433319"/>
            <a:ext cx="1992854" cy="369332"/>
          </a:xfrm>
          <a:prstGeom prst="rect">
            <a:avLst/>
          </a:prstGeom>
          <a:noFill/>
        </p:spPr>
        <p:txBody>
          <a:bodyPr wrap="none" rtlCol="0">
            <a:spAutoFit/>
          </a:bodyPr>
          <a:lstStyle/>
          <a:p>
            <a:pPr algn="ctr"/>
            <a:r>
              <a:rPr lang="en-US" altLang="zh-CN"/>
              <a:t>Sprint planning</a:t>
            </a:r>
            <a:endParaRPr lang="zh-CN" altLang="en-US"/>
          </a:p>
        </p:txBody>
      </p:sp>
      <p:sp>
        <p:nvSpPr>
          <p:cNvPr id="29" name="文本框 28">
            <a:extLst>
              <a:ext uri="{FF2B5EF4-FFF2-40B4-BE49-F238E27FC236}">
                <a16:creationId xmlns:a16="http://schemas.microsoft.com/office/drawing/2014/main" id="{A99EDA19-CDB9-E837-B15A-D53478C112FE}"/>
              </a:ext>
            </a:extLst>
          </p:cNvPr>
          <p:cNvSpPr txBox="1"/>
          <p:nvPr/>
        </p:nvSpPr>
        <p:spPr>
          <a:xfrm>
            <a:off x="9153193" y="5320601"/>
            <a:ext cx="1021434" cy="369332"/>
          </a:xfrm>
          <a:prstGeom prst="rect">
            <a:avLst/>
          </a:prstGeom>
          <a:noFill/>
        </p:spPr>
        <p:txBody>
          <a:bodyPr wrap="none" rtlCol="0">
            <a:spAutoFit/>
          </a:bodyPr>
          <a:lstStyle/>
          <a:p>
            <a:pPr algn="ctr"/>
            <a:r>
              <a:rPr lang="en-US" altLang="zh-CN"/>
              <a:t>Review</a:t>
            </a:r>
            <a:endParaRPr lang="zh-CN" altLang="en-US"/>
          </a:p>
        </p:txBody>
      </p:sp>
      <p:sp>
        <p:nvSpPr>
          <p:cNvPr id="54" name="文本框 53">
            <a:extLst>
              <a:ext uri="{FF2B5EF4-FFF2-40B4-BE49-F238E27FC236}">
                <a16:creationId xmlns:a16="http://schemas.microsoft.com/office/drawing/2014/main" id="{8CB15623-04C7-DD26-E5DC-1D79846BF18D}"/>
              </a:ext>
            </a:extLst>
          </p:cNvPr>
          <p:cNvSpPr txBox="1"/>
          <p:nvPr/>
        </p:nvSpPr>
        <p:spPr>
          <a:xfrm>
            <a:off x="5046578" y="3507896"/>
            <a:ext cx="1622560" cy="646331"/>
          </a:xfrm>
          <a:prstGeom prst="rect">
            <a:avLst/>
          </a:prstGeom>
          <a:noFill/>
        </p:spPr>
        <p:txBody>
          <a:bodyPr wrap="none" rtlCol="0">
            <a:spAutoFit/>
          </a:bodyPr>
          <a:lstStyle/>
          <a:p>
            <a:pPr algn="ctr"/>
            <a:r>
              <a:rPr lang="en-US" altLang="zh-CN"/>
              <a:t>Sprint</a:t>
            </a:r>
          </a:p>
          <a:p>
            <a:pPr algn="ctr"/>
            <a:r>
              <a:rPr lang="en-US" altLang="zh-CN"/>
              <a:t>2 to 4 weeks</a:t>
            </a:r>
            <a:endParaRPr lang="zh-CN" altLang="en-US"/>
          </a:p>
        </p:txBody>
      </p:sp>
      <p:sp>
        <p:nvSpPr>
          <p:cNvPr id="2075" name="任意多边形: 形状 2074">
            <a:extLst>
              <a:ext uri="{FF2B5EF4-FFF2-40B4-BE49-F238E27FC236}">
                <a16:creationId xmlns:a16="http://schemas.microsoft.com/office/drawing/2014/main" id="{581CF433-7D6E-1FE3-6AA0-7BB4DBB921F9}"/>
              </a:ext>
            </a:extLst>
          </p:cNvPr>
          <p:cNvSpPr/>
          <p:nvPr/>
        </p:nvSpPr>
        <p:spPr>
          <a:xfrm>
            <a:off x="4537639" y="2099582"/>
            <a:ext cx="2955073" cy="3614972"/>
          </a:xfrm>
          <a:custGeom>
            <a:avLst/>
            <a:gdLst>
              <a:gd name="csX0" fmla="*/ 1350132 w 2955073"/>
              <a:gd name="csY0" fmla="*/ 1222504 h 3614972"/>
              <a:gd name="csX1" fmla="*/ 1354318 w 2955073"/>
              <a:gd name="csY1" fmla="*/ 1222504 h 3614972"/>
              <a:gd name="csX2" fmla="*/ 1352225 w 2955073"/>
              <a:gd name="csY2" fmla="*/ 1222715 h 3614972"/>
              <a:gd name="csX3" fmla="*/ 1352225 w 2955073"/>
              <a:gd name="csY3" fmla="*/ 0 h 3614972"/>
              <a:gd name="csX4" fmla="*/ 1951161 w 2955073"/>
              <a:gd name="csY4" fmla="*/ 488147 h 3614972"/>
              <a:gd name="csX5" fmla="*/ 1953857 w 2955073"/>
              <a:gd name="csY5" fmla="*/ 514883 h 3614972"/>
              <a:gd name="csX6" fmla="*/ 2096086 w 2955073"/>
              <a:gd name="csY6" fmla="*/ 538338 h 3614972"/>
              <a:gd name="csX7" fmla="*/ 1949118 w 2955073"/>
              <a:gd name="csY7" fmla="*/ 741149 h 3614972"/>
              <a:gd name="csX8" fmla="*/ 1859910 w 2955073"/>
              <a:gd name="csY8" fmla="*/ 864253 h 3614972"/>
              <a:gd name="csX9" fmla="*/ 1820895 w 2955073"/>
              <a:gd name="csY9" fmla="*/ 738223 h 3614972"/>
              <a:gd name="csX10" fmla="*/ 1740883 w 2955073"/>
              <a:gd name="csY10" fmla="*/ 479763 h 3614972"/>
              <a:gd name="csX11" fmla="*/ 1823665 w 2955073"/>
              <a:gd name="csY11" fmla="*/ 493414 h 3614972"/>
              <a:gd name="csX12" fmla="*/ 1801377 w 2955073"/>
              <a:gd name="csY12" fmla="*/ 421616 h 3614972"/>
              <a:gd name="csX13" fmla="*/ 1352225 w 2955073"/>
              <a:gd name="csY13" fmla="*/ 123898 h 3614972"/>
              <a:gd name="csX14" fmla="*/ 864766 w 2955073"/>
              <a:gd name="csY14" fmla="*/ 611357 h 3614972"/>
              <a:gd name="csX15" fmla="*/ 991399 w 2955073"/>
              <a:gd name="csY15" fmla="*/ 939114 h 3614972"/>
              <a:gd name="csX16" fmla="*/ 1049300 w 2955073"/>
              <a:gd name="csY16" fmla="*/ 989255 h 3614972"/>
              <a:gd name="csX17" fmla="*/ 1197738 w 2955073"/>
              <a:gd name="csY17" fmla="*/ 952112 h 3614972"/>
              <a:gd name="csX18" fmla="*/ 1409085 w 2955073"/>
              <a:gd name="csY18" fmla="*/ 934793 h 3614972"/>
              <a:gd name="csX19" fmla="*/ 2692475 w 2955073"/>
              <a:gd name="csY19" fmla="*/ 2218183 h 3614972"/>
              <a:gd name="csX20" fmla="*/ 2126641 w 2955073"/>
              <a:gd name="csY20" fmla="*/ 3282390 h 3614972"/>
              <a:gd name="csX21" fmla="*/ 2112515 w 2955073"/>
              <a:gd name="csY21" fmla="*/ 3290972 h 3614972"/>
              <a:gd name="csX22" fmla="*/ 2739073 w 2955073"/>
              <a:gd name="csY22" fmla="*/ 3290972 h 3614972"/>
              <a:gd name="csX23" fmla="*/ 2739073 w 2955073"/>
              <a:gd name="csY23" fmla="*/ 3182972 h 3614972"/>
              <a:gd name="csX24" fmla="*/ 2955073 w 2955073"/>
              <a:gd name="csY24" fmla="*/ 3398972 h 3614972"/>
              <a:gd name="csX25" fmla="*/ 2739073 w 2955073"/>
              <a:gd name="csY25" fmla="*/ 3614972 h 3614972"/>
              <a:gd name="csX26" fmla="*/ 2739073 w 2955073"/>
              <a:gd name="csY26" fmla="*/ 3506972 h 3614972"/>
              <a:gd name="csX27" fmla="*/ 228975 w 2955073"/>
              <a:gd name="csY27" fmla="*/ 3506972 h 3614972"/>
              <a:gd name="csX28" fmla="*/ 228975 w 2955073"/>
              <a:gd name="csY28" fmla="*/ 3290972 h 3614972"/>
              <a:gd name="csX29" fmla="*/ 705655 w 2955073"/>
              <a:gd name="csY29" fmla="*/ 3290972 h 3614972"/>
              <a:gd name="csX30" fmla="*/ 797344 w 2955073"/>
              <a:gd name="csY30" fmla="*/ 3346675 h 3614972"/>
              <a:gd name="csX31" fmla="*/ 797370 w 2955073"/>
              <a:gd name="csY31" fmla="*/ 3346687 h 3614972"/>
              <a:gd name="csX32" fmla="*/ 902346 w 2955073"/>
              <a:gd name="csY32" fmla="*/ 3397653 h 3614972"/>
              <a:gd name="csX33" fmla="*/ 924218 w 2955073"/>
              <a:gd name="csY33" fmla="*/ 3405889 h 3614972"/>
              <a:gd name="csX34" fmla="*/ 938497 w 2955073"/>
              <a:gd name="csY34" fmla="*/ 3412553 h 3614972"/>
              <a:gd name="csX35" fmla="*/ 963212 w 2955073"/>
              <a:gd name="csY35" fmla="*/ 3420571 h 3614972"/>
              <a:gd name="csX36" fmla="*/ 1012414 w 2955073"/>
              <a:gd name="csY36" fmla="*/ 3439098 h 3614972"/>
              <a:gd name="csX37" fmla="*/ 1063057 w 2955073"/>
              <a:gd name="csY37" fmla="*/ 3452965 h 3614972"/>
              <a:gd name="csX38" fmla="*/ 1088345 w 2955073"/>
              <a:gd name="csY38" fmla="*/ 3461169 h 3614972"/>
              <a:gd name="csX39" fmla="*/ 1103866 w 2955073"/>
              <a:gd name="csY39" fmla="*/ 3464139 h 3614972"/>
              <a:gd name="csX40" fmla="*/ 1127019 w 2955073"/>
              <a:gd name="csY40" fmla="*/ 3470478 h 3614972"/>
              <a:gd name="csX41" fmla="*/ 1245621 w 2955073"/>
              <a:gd name="csY41" fmla="*/ 3491261 h 3614972"/>
              <a:gd name="csX42" fmla="*/ 1245627 w 2955073"/>
              <a:gd name="csY42" fmla="*/ 3491262 h 3614972"/>
              <a:gd name="csX43" fmla="*/ 1409084 w 2955073"/>
              <a:gd name="csY43" fmla="*/ 3501573 h 3614972"/>
              <a:gd name="csX44" fmla="*/ 1409085 w 2955073"/>
              <a:gd name="csY44" fmla="*/ 3501573 h 3614972"/>
              <a:gd name="csX45" fmla="*/ 1245628 w 2955073"/>
              <a:gd name="csY45" fmla="*/ 3491262 h 3614972"/>
              <a:gd name="csX46" fmla="*/ 1245621 w 2955073"/>
              <a:gd name="csY46" fmla="*/ 3491261 h 3614972"/>
              <a:gd name="csX47" fmla="*/ 1103866 w 2955073"/>
              <a:gd name="csY47" fmla="*/ 3464139 h 3614972"/>
              <a:gd name="csX48" fmla="*/ 1063057 w 2955073"/>
              <a:gd name="csY48" fmla="*/ 3452965 h 3614972"/>
              <a:gd name="csX49" fmla="*/ 963212 w 2955073"/>
              <a:gd name="csY49" fmla="*/ 3420571 h 3614972"/>
              <a:gd name="csX50" fmla="*/ 924218 w 2955073"/>
              <a:gd name="csY50" fmla="*/ 3405889 h 3614972"/>
              <a:gd name="csX51" fmla="*/ 797370 w 2955073"/>
              <a:gd name="csY51" fmla="*/ 3346687 h 3614972"/>
              <a:gd name="csX52" fmla="*/ 797345 w 2955073"/>
              <a:gd name="csY52" fmla="*/ 3346675 h 3614972"/>
              <a:gd name="csX53" fmla="*/ 705656 w 2955073"/>
              <a:gd name="csY53" fmla="*/ 3290972 h 3614972"/>
              <a:gd name="csX54" fmla="*/ 1266550 w 2955073"/>
              <a:gd name="csY54" fmla="*/ 3290972 h 3614972"/>
              <a:gd name="csX55" fmla="*/ 1551619 w 2955073"/>
              <a:gd name="csY55" fmla="*/ 3290972 h 3614972"/>
              <a:gd name="csX56" fmla="*/ 1627393 w 2955073"/>
              <a:gd name="csY56" fmla="*/ 3279408 h 3614972"/>
              <a:gd name="csX57" fmla="*/ 2492316 w 2955073"/>
              <a:gd name="csY57" fmla="*/ 2218183 h 3614972"/>
              <a:gd name="csX58" fmla="*/ 1409084 w 2955073"/>
              <a:gd name="csY58" fmla="*/ 1134951 h 3614972"/>
              <a:gd name="csX59" fmla="*/ 374552 w 2955073"/>
              <a:gd name="csY59" fmla="*/ 1896063 h 3614972"/>
              <a:gd name="csX60" fmla="*/ 362067 w 2955073"/>
              <a:gd name="csY60" fmla="*/ 1944618 h 3614972"/>
              <a:gd name="csX61" fmla="*/ 520755 w 2955073"/>
              <a:gd name="csY61" fmla="*/ 1962116 h 3614972"/>
              <a:gd name="csX62" fmla="*/ 329117 w 2955073"/>
              <a:gd name="csY62" fmla="*/ 2282824 h 3614972"/>
              <a:gd name="csX63" fmla="*/ 197575 w 2955073"/>
              <a:gd name="csY63" fmla="*/ 2502959 h 3614972"/>
              <a:gd name="csX64" fmla="*/ 129696 w 2955073"/>
              <a:gd name="csY64" fmla="*/ 2297420 h 3614972"/>
              <a:gd name="csX65" fmla="*/ 0 w 2955073"/>
              <a:gd name="csY65" fmla="*/ 1904695 h 3614972"/>
              <a:gd name="csX66" fmla="*/ 161297 w 2955073"/>
              <a:gd name="csY66" fmla="*/ 1922481 h 3614972"/>
              <a:gd name="csX67" fmla="*/ 183394 w 2955073"/>
              <a:gd name="csY67" fmla="*/ 1836542 h 3614972"/>
              <a:gd name="csX68" fmla="*/ 811034 w 2955073"/>
              <a:gd name="csY68" fmla="*/ 1082363 h 3614972"/>
              <a:gd name="csX69" fmla="*/ 914998 w 2955073"/>
              <a:gd name="csY69" fmla="*/ 1037674 h 3614972"/>
              <a:gd name="csX70" fmla="*/ 845279 w 2955073"/>
              <a:gd name="csY70" fmla="*/ 953173 h 3614972"/>
              <a:gd name="csX71" fmla="*/ 740868 w 2955073"/>
              <a:gd name="csY71" fmla="*/ 611357 h 3614972"/>
              <a:gd name="csX72" fmla="*/ 1352225 w 2955073"/>
              <a:gd name="csY72" fmla="*/ 0 h 36149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Lst>
            <a:rect l="l" t="t" r="r" b="b"/>
            <a:pathLst>
              <a:path w="2955073" h="3614972">
                <a:moveTo>
                  <a:pt x="1350132" y="1222504"/>
                </a:moveTo>
                <a:lnTo>
                  <a:pt x="1354318" y="1222504"/>
                </a:lnTo>
                <a:lnTo>
                  <a:pt x="1352225" y="1222715"/>
                </a:lnTo>
                <a:close/>
                <a:moveTo>
                  <a:pt x="1352225" y="0"/>
                </a:moveTo>
                <a:cubicBezTo>
                  <a:pt x="1647663" y="0"/>
                  <a:pt x="1894155" y="209562"/>
                  <a:pt x="1951161" y="488147"/>
                </a:cubicBezTo>
                <a:lnTo>
                  <a:pt x="1953857" y="514883"/>
                </a:lnTo>
                <a:lnTo>
                  <a:pt x="2096086" y="538338"/>
                </a:lnTo>
                <a:lnTo>
                  <a:pt x="1949118" y="741149"/>
                </a:lnTo>
                <a:lnTo>
                  <a:pt x="1859910" y="864253"/>
                </a:lnTo>
                <a:lnTo>
                  <a:pt x="1820895" y="738223"/>
                </a:lnTo>
                <a:lnTo>
                  <a:pt x="1740883" y="479763"/>
                </a:lnTo>
                <a:lnTo>
                  <a:pt x="1823665" y="493414"/>
                </a:lnTo>
                <a:lnTo>
                  <a:pt x="1801377" y="421616"/>
                </a:lnTo>
                <a:cubicBezTo>
                  <a:pt x="1727377" y="246660"/>
                  <a:pt x="1554137" y="123898"/>
                  <a:pt x="1352225" y="123898"/>
                </a:cubicBezTo>
                <a:cubicBezTo>
                  <a:pt x="1083009" y="123898"/>
                  <a:pt x="864766" y="342141"/>
                  <a:pt x="864766" y="611357"/>
                </a:cubicBezTo>
                <a:cubicBezTo>
                  <a:pt x="864766" y="737552"/>
                  <a:pt x="912720" y="852547"/>
                  <a:pt x="991399" y="939114"/>
                </a:cubicBezTo>
                <a:lnTo>
                  <a:pt x="1049300" y="989255"/>
                </a:lnTo>
                <a:lnTo>
                  <a:pt x="1197738" y="952112"/>
                </a:lnTo>
                <a:cubicBezTo>
                  <a:pt x="1266495" y="940720"/>
                  <a:pt x="1337098" y="934793"/>
                  <a:pt x="1409085" y="934793"/>
                </a:cubicBezTo>
                <a:cubicBezTo>
                  <a:pt x="2117882" y="934793"/>
                  <a:pt x="2692475" y="1509386"/>
                  <a:pt x="2692475" y="2218183"/>
                </a:cubicBezTo>
                <a:cubicBezTo>
                  <a:pt x="2692475" y="2661181"/>
                  <a:pt x="2468025" y="3051756"/>
                  <a:pt x="2126641" y="3282390"/>
                </a:cubicBezTo>
                <a:lnTo>
                  <a:pt x="2112515" y="3290972"/>
                </a:lnTo>
                <a:lnTo>
                  <a:pt x="2739073" y="3290972"/>
                </a:lnTo>
                <a:lnTo>
                  <a:pt x="2739073" y="3182972"/>
                </a:lnTo>
                <a:lnTo>
                  <a:pt x="2955073" y="3398972"/>
                </a:lnTo>
                <a:lnTo>
                  <a:pt x="2739073" y="3614972"/>
                </a:lnTo>
                <a:lnTo>
                  <a:pt x="2739073" y="3506972"/>
                </a:lnTo>
                <a:lnTo>
                  <a:pt x="228975" y="3506972"/>
                </a:lnTo>
                <a:lnTo>
                  <a:pt x="228975" y="3290972"/>
                </a:lnTo>
                <a:lnTo>
                  <a:pt x="705655" y="3290972"/>
                </a:lnTo>
                <a:lnTo>
                  <a:pt x="797344" y="3346675"/>
                </a:lnTo>
                <a:lnTo>
                  <a:pt x="797370" y="3346687"/>
                </a:lnTo>
                <a:lnTo>
                  <a:pt x="902346" y="3397653"/>
                </a:lnTo>
                <a:lnTo>
                  <a:pt x="924218" y="3405889"/>
                </a:lnTo>
                <a:lnTo>
                  <a:pt x="938497" y="3412553"/>
                </a:lnTo>
                <a:lnTo>
                  <a:pt x="963212" y="3420571"/>
                </a:lnTo>
                <a:lnTo>
                  <a:pt x="1012414" y="3439098"/>
                </a:lnTo>
                <a:lnTo>
                  <a:pt x="1063057" y="3452965"/>
                </a:lnTo>
                <a:lnTo>
                  <a:pt x="1088345" y="3461169"/>
                </a:lnTo>
                <a:lnTo>
                  <a:pt x="1103866" y="3464139"/>
                </a:lnTo>
                <a:lnTo>
                  <a:pt x="1127019" y="3470478"/>
                </a:lnTo>
                <a:lnTo>
                  <a:pt x="1245621" y="3491261"/>
                </a:lnTo>
                <a:lnTo>
                  <a:pt x="1245627" y="3491262"/>
                </a:lnTo>
                <a:cubicBezTo>
                  <a:pt x="1299154" y="3498066"/>
                  <a:pt x="1353710" y="3501573"/>
                  <a:pt x="1409084" y="3501573"/>
                </a:cubicBezTo>
                <a:lnTo>
                  <a:pt x="1409085" y="3501573"/>
                </a:lnTo>
                <a:lnTo>
                  <a:pt x="1245628" y="3491262"/>
                </a:lnTo>
                <a:lnTo>
                  <a:pt x="1245621" y="3491261"/>
                </a:lnTo>
                <a:lnTo>
                  <a:pt x="1103866" y="3464139"/>
                </a:lnTo>
                <a:lnTo>
                  <a:pt x="1063057" y="3452965"/>
                </a:lnTo>
                <a:lnTo>
                  <a:pt x="963212" y="3420571"/>
                </a:lnTo>
                <a:lnTo>
                  <a:pt x="924218" y="3405889"/>
                </a:lnTo>
                <a:lnTo>
                  <a:pt x="797370" y="3346687"/>
                </a:lnTo>
                <a:lnTo>
                  <a:pt x="797345" y="3346675"/>
                </a:lnTo>
                <a:lnTo>
                  <a:pt x="705656" y="3290972"/>
                </a:lnTo>
                <a:lnTo>
                  <a:pt x="1266550" y="3290972"/>
                </a:lnTo>
                <a:lnTo>
                  <a:pt x="1551619" y="3290972"/>
                </a:lnTo>
                <a:lnTo>
                  <a:pt x="1627393" y="3279408"/>
                </a:lnTo>
                <a:cubicBezTo>
                  <a:pt x="2121004" y="3178401"/>
                  <a:pt x="2492316" y="2741655"/>
                  <a:pt x="2492316" y="2218183"/>
                </a:cubicBezTo>
                <a:cubicBezTo>
                  <a:pt x="2492316" y="1619930"/>
                  <a:pt x="2007337" y="1134951"/>
                  <a:pt x="1409084" y="1134951"/>
                </a:cubicBezTo>
                <a:cubicBezTo>
                  <a:pt x="923004" y="1134951"/>
                  <a:pt x="511702" y="1455113"/>
                  <a:pt x="374552" y="1896063"/>
                </a:cubicBezTo>
                <a:lnTo>
                  <a:pt x="362067" y="1944618"/>
                </a:lnTo>
                <a:lnTo>
                  <a:pt x="520755" y="1962116"/>
                </a:lnTo>
                <a:lnTo>
                  <a:pt x="329117" y="2282824"/>
                </a:lnTo>
                <a:lnTo>
                  <a:pt x="197575" y="2502959"/>
                </a:lnTo>
                <a:lnTo>
                  <a:pt x="129696" y="2297420"/>
                </a:lnTo>
                <a:lnTo>
                  <a:pt x="0" y="1904695"/>
                </a:lnTo>
                <a:lnTo>
                  <a:pt x="161297" y="1922481"/>
                </a:lnTo>
                <a:lnTo>
                  <a:pt x="183394" y="1836542"/>
                </a:lnTo>
                <a:cubicBezTo>
                  <a:pt x="284951" y="1510025"/>
                  <a:pt x="513388" y="1239408"/>
                  <a:pt x="811034" y="1082363"/>
                </a:cubicBezTo>
                <a:lnTo>
                  <a:pt x="914998" y="1037674"/>
                </a:lnTo>
                <a:lnTo>
                  <a:pt x="845279" y="953173"/>
                </a:lnTo>
                <a:cubicBezTo>
                  <a:pt x="779360" y="855599"/>
                  <a:pt x="740868" y="737973"/>
                  <a:pt x="740868" y="611357"/>
                </a:cubicBezTo>
                <a:cubicBezTo>
                  <a:pt x="740868" y="273714"/>
                  <a:pt x="1014582" y="0"/>
                  <a:pt x="1352225" y="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076" name="箭头: 右 2075">
            <a:extLst>
              <a:ext uri="{FF2B5EF4-FFF2-40B4-BE49-F238E27FC236}">
                <a16:creationId xmlns:a16="http://schemas.microsoft.com/office/drawing/2014/main" id="{5A9E423A-5D87-EE68-FE2B-87AA1D1BC6CE}"/>
              </a:ext>
            </a:extLst>
          </p:cNvPr>
          <p:cNvSpPr/>
          <p:nvPr/>
        </p:nvSpPr>
        <p:spPr>
          <a:xfrm>
            <a:off x="2610559" y="5381878"/>
            <a:ext cx="360000" cy="216000"/>
          </a:xfrm>
          <a:prstGeom prst="rightArrow">
            <a:avLst/>
          </a:prstGeom>
          <a:solidFill>
            <a:schemeClr val="tx1"/>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2077" name="文本框 2076">
            <a:extLst>
              <a:ext uri="{FF2B5EF4-FFF2-40B4-BE49-F238E27FC236}">
                <a16:creationId xmlns:a16="http://schemas.microsoft.com/office/drawing/2014/main" id="{A3FFB23E-4458-EE53-9B4F-78D23F2375CA}"/>
              </a:ext>
            </a:extLst>
          </p:cNvPr>
          <p:cNvSpPr txBox="1"/>
          <p:nvPr/>
        </p:nvSpPr>
        <p:spPr>
          <a:xfrm>
            <a:off x="5452431" y="2514197"/>
            <a:ext cx="862737" cy="369332"/>
          </a:xfrm>
          <a:prstGeom prst="rect">
            <a:avLst/>
          </a:prstGeom>
          <a:noFill/>
        </p:spPr>
        <p:txBody>
          <a:bodyPr wrap="none" rtlCol="0">
            <a:spAutoFit/>
          </a:bodyPr>
          <a:lstStyle/>
          <a:p>
            <a:pPr algn="ctr"/>
            <a:r>
              <a:rPr lang="en-US" altLang="zh-CN"/>
              <a:t>15min</a:t>
            </a:r>
            <a:endParaRPr lang="zh-CN" altLang="en-US"/>
          </a:p>
        </p:txBody>
      </p:sp>
      <p:sp>
        <p:nvSpPr>
          <p:cNvPr id="17" name="文本框 16">
            <a:extLst>
              <a:ext uri="{FF2B5EF4-FFF2-40B4-BE49-F238E27FC236}">
                <a16:creationId xmlns:a16="http://schemas.microsoft.com/office/drawing/2014/main" id="{563A674A-A145-FECB-1FF2-11714DBBF3F7}"/>
              </a:ext>
            </a:extLst>
          </p:cNvPr>
          <p:cNvSpPr txBox="1"/>
          <p:nvPr/>
        </p:nvSpPr>
        <p:spPr>
          <a:xfrm>
            <a:off x="10389416" y="5320601"/>
            <a:ext cx="1779654" cy="369332"/>
          </a:xfrm>
          <a:prstGeom prst="rect">
            <a:avLst/>
          </a:prstGeom>
          <a:noFill/>
        </p:spPr>
        <p:txBody>
          <a:bodyPr wrap="none" rtlCol="0">
            <a:spAutoFit/>
          </a:bodyPr>
          <a:lstStyle/>
          <a:p>
            <a:pPr algn="ctr"/>
            <a:r>
              <a:rPr lang="en-US" altLang="zh-CN"/>
              <a:t>Retrospective</a:t>
            </a:r>
            <a:endParaRPr lang="zh-CN" altLang="en-US"/>
          </a:p>
        </p:txBody>
      </p:sp>
      <p:sp>
        <p:nvSpPr>
          <p:cNvPr id="32" name="文本框 31">
            <a:extLst>
              <a:ext uri="{FF2B5EF4-FFF2-40B4-BE49-F238E27FC236}">
                <a16:creationId xmlns:a16="http://schemas.microsoft.com/office/drawing/2014/main" id="{95F543A5-685E-23F0-388A-B0E3AC76F149}"/>
              </a:ext>
            </a:extLst>
          </p:cNvPr>
          <p:cNvSpPr txBox="1"/>
          <p:nvPr/>
        </p:nvSpPr>
        <p:spPr>
          <a:xfrm>
            <a:off x="5205552" y="1734851"/>
            <a:ext cx="1558440" cy="369332"/>
          </a:xfrm>
          <a:prstGeom prst="rect">
            <a:avLst/>
          </a:prstGeom>
          <a:noFill/>
        </p:spPr>
        <p:txBody>
          <a:bodyPr wrap="none" rtlCol="0">
            <a:spAutoFit/>
          </a:bodyPr>
          <a:lstStyle/>
          <a:p>
            <a:pPr algn="ctr"/>
            <a:r>
              <a:rPr lang="en-US" altLang="zh-CN"/>
              <a:t>Daily scrum</a:t>
            </a:r>
            <a:endParaRPr lang="zh-CN" altLang="en-US"/>
          </a:p>
        </p:txBody>
      </p:sp>
      <p:sp>
        <p:nvSpPr>
          <p:cNvPr id="33" name="箭头: 右 32">
            <a:extLst>
              <a:ext uri="{FF2B5EF4-FFF2-40B4-BE49-F238E27FC236}">
                <a16:creationId xmlns:a16="http://schemas.microsoft.com/office/drawing/2014/main" id="{7B68A4F3-AE6D-A214-58F3-7D6B6DCF90F1}"/>
              </a:ext>
            </a:extLst>
          </p:cNvPr>
          <p:cNvSpPr/>
          <p:nvPr/>
        </p:nvSpPr>
        <p:spPr>
          <a:xfrm>
            <a:off x="10178959" y="5381878"/>
            <a:ext cx="360000" cy="216000"/>
          </a:xfrm>
          <a:prstGeom prst="rightArrow">
            <a:avLst/>
          </a:prstGeom>
          <a:solidFill>
            <a:schemeClr val="bg1"/>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34" name="箭头: 右 33">
            <a:extLst>
              <a:ext uri="{FF2B5EF4-FFF2-40B4-BE49-F238E27FC236}">
                <a16:creationId xmlns:a16="http://schemas.microsoft.com/office/drawing/2014/main" id="{EC192313-67AC-46D0-A9B0-1C96D482D672}"/>
              </a:ext>
            </a:extLst>
          </p:cNvPr>
          <p:cNvSpPr/>
          <p:nvPr/>
        </p:nvSpPr>
        <p:spPr>
          <a:xfrm>
            <a:off x="8776705" y="5381878"/>
            <a:ext cx="360000" cy="216000"/>
          </a:xfrm>
          <a:prstGeom prst="rightArrow">
            <a:avLst/>
          </a:prstGeom>
          <a:solidFill>
            <a:schemeClr val="tx1"/>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38" name="矩形: 圆角 37">
            <a:extLst>
              <a:ext uri="{FF2B5EF4-FFF2-40B4-BE49-F238E27FC236}">
                <a16:creationId xmlns:a16="http://schemas.microsoft.com/office/drawing/2014/main" id="{08FBA653-DB7F-B13D-A336-524B12F6EF31}"/>
              </a:ext>
            </a:extLst>
          </p:cNvPr>
          <p:cNvSpPr/>
          <p:nvPr/>
        </p:nvSpPr>
        <p:spPr>
          <a:xfrm>
            <a:off x="1199750" y="3187039"/>
            <a:ext cx="540000" cy="360000"/>
          </a:xfrm>
          <a:prstGeom prst="roundRect">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sp>
        <p:nvSpPr>
          <p:cNvPr id="39" name="矩形: 圆角 38">
            <a:extLst>
              <a:ext uri="{FF2B5EF4-FFF2-40B4-BE49-F238E27FC236}">
                <a16:creationId xmlns:a16="http://schemas.microsoft.com/office/drawing/2014/main" id="{D7AE4E2E-23C2-36FB-F5AB-BD12A25FC71D}"/>
              </a:ext>
            </a:extLst>
          </p:cNvPr>
          <p:cNvSpPr/>
          <p:nvPr/>
        </p:nvSpPr>
        <p:spPr>
          <a:xfrm>
            <a:off x="1199750" y="3595639"/>
            <a:ext cx="540000" cy="360000"/>
          </a:xfrm>
          <a:prstGeom prst="roundRect">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sp>
        <p:nvSpPr>
          <p:cNvPr id="40" name="矩形: 圆角 39">
            <a:extLst>
              <a:ext uri="{FF2B5EF4-FFF2-40B4-BE49-F238E27FC236}">
                <a16:creationId xmlns:a16="http://schemas.microsoft.com/office/drawing/2014/main" id="{18CBC69D-9C08-A40B-0496-91AAAB225B01}"/>
              </a:ext>
            </a:extLst>
          </p:cNvPr>
          <p:cNvSpPr/>
          <p:nvPr/>
        </p:nvSpPr>
        <p:spPr>
          <a:xfrm>
            <a:off x="1199750" y="4004239"/>
            <a:ext cx="540000" cy="360000"/>
          </a:xfrm>
          <a:prstGeom prst="roundRect">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pic>
        <p:nvPicPr>
          <p:cNvPr id="43" name="图形 42" descr="用户">
            <a:extLst>
              <a:ext uri="{FF2B5EF4-FFF2-40B4-BE49-F238E27FC236}">
                <a16:creationId xmlns:a16="http://schemas.microsoft.com/office/drawing/2014/main" id="{BD83FB83-79C8-6824-DCE7-F64AC6A08EE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919242" y="4709481"/>
            <a:ext cx="720000" cy="720000"/>
          </a:xfrm>
          <a:prstGeom prst="rect">
            <a:avLst/>
          </a:prstGeom>
        </p:spPr>
      </p:pic>
      <p:pic>
        <p:nvPicPr>
          <p:cNvPr id="44" name="图形 43" descr="用户">
            <a:extLst>
              <a:ext uri="{FF2B5EF4-FFF2-40B4-BE49-F238E27FC236}">
                <a16:creationId xmlns:a16="http://schemas.microsoft.com/office/drawing/2014/main" id="{136D29EF-6BAC-8590-3C22-8C12EAA34B2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24772" y="1172275"/>
            <a:ext cx="720000" cy="720000"/>
          </a:xfrm>
          <a:prstGeom prst="rect">
            <a:avLst/>
          </a:prstGeom>
        </p:spPr>
      </p:pic>
      <p:pic>
        <p:nvPicPr>
          <p:cNvPr id="45" name="图形 44" descr="用户">
            <a:extLst>
              <a:ext uri="{FF2B5EF4-FFF2-40B4-BE49-F238E27FC236}">
                <a16:creationId xmlns:a16="http://schemas.microsoft.com/office/drawing/2014/main" id="{A965042A-9FF6-8606-FA97-26DA6629D7A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22690" y="3924672"/>
            <a:ext cx="720000" cy="720000"/>
          </a:xfrm>
          <a:prstGeom prst="rect">
            <a:avLst/>
          </a:prstGeom>
        </p:spPr>
      </p:pic>
      <p:pic>
        <p:nvPicPr>
          <p:cNvPr id="47" name="图形 46" descr="办公室职员">
            <a:extLst>
              <a:ext uri="{FF2B5EF4-FFF2-40B4-BE49-F238E27FC236}">
                <a16:creationId xmlns:a16="http://schemas.microsoft.com/office/drawing/2014/main" id="{D3F47B48-CA6C-1625-8A50-C9A47B0090B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0925" y="4739626"/>
            <a:ext cx="720000" cy="720000"/>
          </a:xfrm>
          <a:prstGeom prst="rect">
            <a:avLst/>
          </a:prstGeom>
        </p:spPr>
      </p:pic>
      <p:pic>
        <p:nvPicPr>
          <p:cNvPr id="49" name="图形 48" descr="用户">
            <a:extLst>
              <a:ext uri="{FF2B5EF4-FFF2-40B4-BE49-F238E27FC236}">
                <a16:creationId xmlns:a16="http://schemas.microsoft.com/office/drawing/2014/main" id="{A5F91706-9013-B82B-43C5-96C070D3060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321623" y="1636526"/>
            <a:ext cx="720000" cy="720000"/>
          </a:xfrm>
          <a:prstGeom prst="rect">
            <a:avLst/>
          </a:prstGeom>
        </p:spPr>
      </p:pic>
      <p:sp>
        <p:nvSpPr>
          <p:cNvPr id="50" name="文本框 49">
            <a:extLst>
              <a:ext uri="{FF2B5EF4-FFF2-40B4-BE49-F238E27FC236}">
                <a16:creationId xmlns:a16="http://schemas.microsoft.com/office/drawing/2014/main" id="{96E2230A-514A-6740-09DE-4F10C02DD844}"/>
              </a:ext>
            </a:extLst>
          </p:cNvPr>
          <p:cNvSpPr txBox="1"/>
          <p:nvPr/>
        </p:nvSpPr>
        <p:spPr>
          <a:xfrm>
            <a:off x="3175716" y="2297887"/>
            <a:ext cx="1011815" cy="369332"/>
          </a:xfrm>
          <a:prstGeom prst="rect">
            <a:avLst/>
          </a:prstGeom>
          <a:noFill/>
        </p:spPr>
        <p:txBody>
          <a:bodyPr wrap="none" rtlCol="0">
            <a:spAutoFit/>
          </a:bodyPr>
          <a:lstStyle/>
          <a:p>
            <a:pPr algn="ctr"/>
            <a:r>
              <a:rPr lang="en-US" altLang="zh-CN"/>
              <a:t>SM/PM</a:t>
            </a:r>
            <a:endParaRPr lang="zh-CN" altLang="en-US"/>
          </a:p>
        </p:txBody>
      </p:sp>
      <p:sp>
        <p:nvSpPr>
          <p:cNvPr id="51" name="文本框 50">
            <a:extLst>
              <a:ext uri="{FF2B5EF4-FFF2-40B4-BE49-F238E27FC236}">
                <a16:creationId xmlns:a16="http://schemas.microsoft.com/office/drawing/2014/main" id="{A29F0030-8404-5B6F-5078-F5171BA0A0BA}"/>
              </a:ext>
            </a:extLst>
          </p:cNvPr>
          <p:cNvSpPr txBox="1"/>
          <p:nvPr/>
        </p:nvSpPr>
        <p:spPr>
          <a:xfrm>
            <a:off x="319055" y="5368433"/>
            <a:ext cx="543740" cy="369332"/>
          </a:xfrm>
          <a:prstGeom prst="rect">
            <a:avLst/>
          </a:prstGeom>
          <a:noFill/>
        </p:spPr>
        <p:txBody>
          <a:bodyPr wrap="none" rtlCol="0">
            <a:spAutoFit/>
          </a:bodyPr>
          <a:lstStyle/>
          <a:p>
            <a:pPr algn="ctr"/>
            <a:r>
              <a:rPr lang="en-US" altLang="zh-CN"/>
              <a:t>PO</a:t>
            </a:r>
            <a:endParaRPr lang="zh-CN" altLang="en-US"/>
          </a:p>
        </p:txBody>
      </p:sp>
      <p:pic>
        <p:nvPicPr>
          <p:cNvPr id="53" name="图形 52" descr="重复">
            <a:extLst>
              <a:ext uri="{FF2B5EF4-FFF2-40B4-BE49-F238E27FC236}">
                <a16:creationId xmlns:a16="http://schemas.microsoft.com/office/drawing/2014/main" id="{9AF55B47-C2CD-120B-3543-BC528D69BB0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289750" y="2778439"/>
            <a:ext cx="360000" cy="360000"/>
          </a:xfrm>
          <a:prstGeom prst="rect">
            <a:avLst/>
          </a:prstGeom>
        </p:spPr>
      </p:pic>
      <p:pic>
        <p:nvPicPr>
          <p:cNvPr id="56" name="图形 55" descr="客户审核">
            <a:extLst>
              <a:ext uri="{FF2B5EF4-FFF2-40B4-BE49-F238E27FC236}">
                <a16:creationId xmlns:a16="http://schemas.microsoft.com/office/drawing/2014/main" id="{A28456B8-FF19-FBCD-8F56-324916007C2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303909" y="4709481"/>
            <a:ext cx="720000" cy="720000"/>
          </a:xfrm>
          <a:prstGeom prst="rect">
            <a:avLst/>
          </a:prstGeom>
        </p:spPr>
      </p:pic>
      <p:pic>
        <p:nvPicPr>
          <p:cNvPr id="58" name="图形 57" descr="男人群">
            <a:extLst>
              <a:ext uri="{FF2B5EF4-FFF2-40B4-BE49-F238E27FC236}">
                <a16:creationId xmlns:a16="http://schemas.microsoft.com/office/drawing/2014/main" id="{D75596BC-C8FC-669D-6A60-352BFA96BF1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937086" y="4471432"/>
            <a:ext cx="720000" cy="720000"/>
          </a:xfrm>
          <a:prstGeom prst="rect">
            <a:avLst/>
          </a:prstGeom>
        </p:spPr>
      </p:pic>
      <p:sp>
        <p:nvSpPr>
          <p:cNvPr id="59" name="文本框 58">
            <a:extLst>
              <a:ext uri="{FF2B5EF4-FFF2-40B4-BE49-F238E27FC236}">
                <a16:creationId xmlns:a16="http://schemas.microsoft.com/office/drawing/2014/main" id="{40E65857-7150-05C9-4E0E-17CD0892C137}"/>
              </a:ext>
            </a:extLst>
          </p:cNvPr>
          <p:cNvSpPr txBox="1"/>
          <p:nvPr/>
        </p:nvSpPr>
        <p:spPr>
          <a:xfrm>
            <a:off x="4609237" y="5092484"/>
            <a:ext cx="1375698" cy="369332"/>
          </a:xfrm>
          <a:prstGeom prst="rect">
            <a:avLst/>
          </a:prstGeom>
          <a:noFill/>
        </p:spPr>
        <p:txBody>
          <a:bodyPr wrap="none" rtlCol="0">
            <a:spAutoFit/>
          </a:bodyPr>
          <a:lstStyle/>
          <a:p>
            <a:pPr algn="ctr"/>
            <a:r>
              <a:rPr lang="en-US" altLang="zh-CN"/>
              <a:t>Developer</a:t>
            </a:r>
            <a:endParaRPr lang="zh-CN" altLang="en-US"/>
          </a:p>
        </p:txBody>
      </p:sp>
      <p:pic>
        <p:nvPicPr>
          <p:cNvPr id="61" name="图形 60" descr="框">
            <a:extLst>
              <a:ext uri="{FF2B5EF4-FFF2-40B4-BE49-F238E27FC236}">
                <a16:creationId xmlns:a16="http://schemas.microsoft.com/office/drawing/2014/main" id="{C8C19A9F-916C-B822-7753-6B8702A15B2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881316" y="5159481"/>
            <a:ext cx="720000" cy="720000"/>
          </a:xfrm>
          <a:prstGeom prst="rect">
            <a:avLst/>
          </a:prstGeom>
        </p:spPr>
      </p:pic>
    </p:spTree>
    <p:extLst>
      <p:ext uri="{BB962C8B-B14F-4D97-AF65-F5344CB8AC3E}">
        <p14:creationId xmlns:p14="http://schemas.microsoft.com/office/powerpoint/2010/main" val="398552894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5622D-0428-1B1A-2A34-CD96D271DEA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3C5E438-A38E-6D1D-CC5A-591C385E636F}"/>
              </a:ext>
            </a:extLst>
          </p:cNvPr>
          <p:cNvSpPr>
            <a:spLocks noGrp="1"/>
          </p:cNvSpPr>
          <p:nvPr>
            <p:ph type="title"/>
          </p:nvPr>
        </p:nvSpPr>
        <p:spPr>
          <a:xfrm>
            <a:off x="792000" y="360000"/>
            <a:ext cx="6375921" cy="429413"/>
          </a:xfrm>
        </p:spPr>
        <p:txBody>
          <a:bodyPr>
            <a:normAutofit/>
          </a:bodyPr>
          <a:lstStyle/>
          <a:p>
            <a:r>
              <a:rPr lang="en-US" altLang="zh-CN"/>
              <a:t>2.6.3 </a:t>
            </a:r>
            <a:r>
              <a:rPr lang="zh-CN" altLang="en-US"/>
              <a:t>敏捷价值观 </a:t>
            </a:r>
            <a:r>
              <a:rPr lang="en-US" altLang="zh-CN"/>
              <a:t>Scrum Values</a:t>
            </a:r>
            <a:endParaRPr lang="zh-CN" altLang="en-US"/>
          </a:p>
        </p:txBody>
      </p:sp>
      <p:sp>
        <p:nvSpPr>
          <p:cNvPr id="3" name="内容占位符 2">
            <a:extLst>
              <a:ext uri="{FF2B5EF4-FFF2-40B4-BE49-F238E27FC236}">
                <a16:creationId xmlns:a16="http://schemas.microsoft.com/office/drawing/2014/main" id="{37FEA803-AB11-4232-CE10-AC497E832AB0}"/>
              </a:ext>
            </a:extLst>
          </p:cNvPr>
          <p:cNvSpPr>
            <a:spLocks noGrp="1"/>
          </p:cNvSpPr>
          <p:nvPr>
            <p:ph idx="1"/>
          </p:nvPr>
        </p:nvSpPr>
        <p:spPr>
          <a:xfrm>
            <a:off x="696000" y="864000"/>
            <a:ext cx="10800000" cy="5400000"/>
          </a:xfrm>
        </p:spPr>
        <p:txBody>
          <a:bodyPr>
            <a:normAutofit/>
          </a:bodyPr>
          <a:lstStyle/>
          <a:p>
            <a:r>
              <a:rPr lang="en-US" altLang="zh-CN"/>
              <a:t>5</a:t>
            </a:r>
            <a:r>
              <a:rPr lang="zh-CN" altLang="en-US"/>
              <a:t>个价值 </a:t>
            </a:r>
            <a:r>
              <a:rPr lang="en-US" altLang="zh-CN"/>
              <a:t>values</a:t>
            </a:r>
          </a:p>
          <a:p>
            <a:r>
              <a:rPr lang="en-US" altLang="zh-CN"/>
              <a:t>Successful use of Scrum depends on people becoming more proficient in living five values: </a:t>
            </a:r>
          </a:p>
          <a:p>
            <a:pPr lvl="1"/>
            <a:r>
              <a:rPr lang="en-US" altLang="zh-CN"/>
              <a:t>Commitment</a:t>
            </a:r>
            <a:r>
              <a:rPr lang="zh-CN" altLang="en-US"/>
              <a:t>：</a:t>
            </a:r>
            <a:r>
              <a:rPr lang="en-US" altLang="zh-CN"/>
              <a:t>supporting each other</a:t>
            </a:r>
          </a:p>
          <a:p>
            <a:pPr lvl="1"/>
            <a:r>
              <a:rPr lang="en-US" altLang="zh-CN"/>
              <a:t>Focus</a:t>
            </a:r>
            <a:r>
              <a:rPr lang="zh-CN" altLang="en-US"/>
              <a:t>：</a:t>
            </a:r>
            <a:r>
              <a:rPr lang="en-US" altLang="zh-CN"/>
              <a:t>the work of the Sprint</a:t>
            </a:r>
          </a:p>
          <a:p>
            <a:pPr lvl="1"/>
            <a:r>
              <a:rPr lang="en-US" altLang="zh-CN"/>
              <a:t>Openness</a:t>
            </a:r>
            <a:r>
              <a:rPr lang="zh-CN" altLang="en-US"/>
              <a:t>：</a:t>
            </a:r>
            <a:r>
              <a:rPr lang="en-US" altLang="zh-CN"/>
              <a:t> about the work and the challenges</a:t>
            </a:r>
          </a:p>
          <a:p>
            <a:pPr lvl="1"/>
            <a:r>
              <a:rPr lang="en-US" altLang="zh-CN"/>
              <a:t>Respect</a:t>
            </a:r>
            <a:r>
              <a:rPr lang="zh-CN" altLang="en-US"/>
              <a:t>：</a:t>
            </a:r>
            <a:r>
              <a:rPr lang="en-US" altLang="zh-CN"/>
              <a:t> to be capable, independent people</a:t>
            </a:r>
          </a:p>
          <a:p>
            <a:pPr lvl="1"/>
            <a:r>
              <a:rPr lang="en-US" altLang="zh-CN"/>
              <a:t>Courage</a:t>
            </a:r>
            <a:r>
              <a:rPr lang="zh-CN" altLang="en-US"/>
              <a:t>：</a:t>
            </a:r>
            <a:r>
              <a:rPr lang="en-US" altLang="zh-CN"/>
              <a:t>to do the right thing, to work on tough problems</a:t>
            </a:r>
          </a:p>
          <a:p>
            <a:endParaRPr lang="zh-CN" altLang="en-US"/>
          </a:p>
        </p:txBody>
      </p:sp>
      <p:sp>
        <p:nvSpPr>
          <p:cNvPr id="4" name="文本占位符 3">
            <a:extLst>
              <a:ext uri="{FF2B5EF4-FFF2-40B4-BE49-F238E27FC236}">
                <a16:creationId xmlns:a16="http://schemas.microsoft.com/office/drawing/2014/main" id="{8E819F04-543D-0150-D418-FBA1A1176E1D}"/>
              </a:ext>
            </a:extLst>
          </p:cNvPr>
          <p:cNvSpPr>
            <a:spLocks noGrp="1"/>
          </p:cNvSpPr>
          <p:nvPr>
            <p:ph type="body" sz="quarter" idx="10"/>
          </p:nvPr>
        </p:nvSpPr>
        <p:spPr>
          <a:xfrm>
            <a:off x="7071919" y="448519"/>
            <a:ext cx="4424080" cy="338554"/>
          </a:xfrm>
        </p:spPr>
        <p:txBody>
          <a:bodyPr/>
          <a:lstStyle/>
          <a:p>
            <a:r>
              <a:rPr lang="en-US" altLang="zh-CN"/>
              <a:t>Scrum /Agile</a:t>
            </a:r>
            <a:endParaRPr lang="zh-CN" altLang="en-US"/>
          </a:p>
        </p:txBody>
      </p:sp>
      <p:grpSp>
        <p:nvGrpSpPr>
          <p:cNvPr id="15" name="Group 14">
            <a:extLst>
              <a:ext uri="{FF2B5EF4-FFF2-40B4-BE49-F238E27FC236}">
                <a16:creationId xmlns:a16="http://schemas.microsoft.com/office/drawing/2014/main" id="{FDEBC3F9-A58A-E7D9-E3F8-6759F0D8E5ED}"/>
              </a:ext>
            </a:extLst>
          </p:cNvPr>
          <p:cNvGrpSpPr/>
          <p:nvPr/>
        </p:nvGrpSpPr>
        <p:grpSpPr>
          <a:xfrm>
            <a:off x="695325" y="4223281"/>
            <a:ext cx="1800000" cy="1350000"/>
            <a:chOff x="695325" y="2206067"/>
            <a:chExt cx="1800000" cy="1350000"/>
          </a:xfrm>
        </p:grpSpPr>
        <p:sp>
          <p:nvSpPr>
            <p:cNvPr id="21" name="文本框 20">
              <a:extLst>
                <a:ext uri="{FF2B5EF4-FFF2-40B4-BE49-F238E27FC236}">
                  <a16:creationId xmlns:a16="http://schemas.microsoft.com/office/drawing/2014/main" id="{DCF03C1D-5E51-CF36-4DCA-6EBB50B1AE80}"/>
                </a:ext>
              </a:extLst>
            </p:cNvPr>
            <p:cNvSpPr txBox="1"/>
            <p:nvPr/>
          </p:nvSpPr>
          <p:spPr>
            <a:xfrm>
              <a:off x="707903" y="2909736"/>
              <a:ext cx="1774845" cy="646331"/>
            </a:xfrm>
            <a:prstGeom prst="rect">
              <a:avLst/>
            </a:prstGeom>
            <a:noFill/>
          </p:spPr>
          <p:txBody>
            <a:bodyPr wrap="none" rtlCol="0">
              <a:spAutoFit/>
            </a:bodyPr>
            <a:lstStyle/>
            <a:p>
              <a:pPr algn="ctr"/>
              <a:r>
                <a:rPr lang="en-US" altLang="zh-CN"/>
                <a:t>Commitment</a:t>
              </a:r>
            </a:p>
            <a:p>
              <a:pPr algn="ctr"/>
              <a:r>
                <a:rPr lang="zh-CN" altLang="en-US"/>
                <a:t>承诺</a:t>
              </a:r>
            </a:p>
          </p:txBody>
        </p:sp>
        <p:sp>
          <p:nvSpPr>
            <p:cNvPr id="9" name="Rectangle 8">
              <a:extLst>
                <a:ext uri="{FF2B5EF4-FFF2-40B4-BE49-F238E27FC236}">
                  <a16:creationId xmlns:a16="http://schemas.microsoft.com/office/drawing/2014/main" id="{5305C787-E09A-D23E-9FF9-78429AD7DF15}"/>
                </a:ext>
              </a:extLst>
            </p:cNvPr>
            <p:cNvSpPr/>
            <p:nvPr/>
          </p:nvSpPr>
          <p:spPr>
            <a:xfrm>
              <a:off x="695325" y="2476067"/>
              <a:ext cx="1800000" cy="1080000"/>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Oval 9">
              <a:extLst>
                <a:ext uri="{FF2B5EF4-FFF2-40B4-BE49-F238E27FC236}">
                  <a16:creationId xmlns:a16="http://schemas.microsoft.com/office/drawing/2014/main" id="{1BC00F5E-DE7A-F064-4D35-E3A4A211828A}"/>
                </a:ext>
              </a:extLst>
            </p:cNvPr>
            <p:cNvSpPr/>
            <p:nvPr/>
          </p:nvSpPr>
          <p:spPr>
            <a:xfrm>
              <a:off x="1325325" y="2206067"/>
              <a:ext cx="540000" cy="540000"/>
            </a:xfrm>
            <a:prstGeom prst="ellipse">
              <a:avLst/>
            </a:prstGeom>
            <a:effectLst/>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CN"/>
                <a:t>1</a:t>
              </a:r>
              <a:endParaRPr lang="zh-CN" altLang="en-US"/>
            </a:p>
          </p:txBody>
        </p:sp>
      </p:grpSp>
      <p:grpSp>
        <p:nvGrpSpPr>
          <p:cNvPr id="16" name="Group 15">
            <a:extLst>
              <a:ext uri="{FF2B5EF4-FFF2-40B4-BE49-F238E27FC236}">
                <a16:creationId xmlns:a16="http://schemas.microsoft.com/office/drawing/2014/main" id="{8F22E41C-CE27-E0F4-0831-5844E85DF44F}"/>
              </a:ext>
            </a:extLst>
          </p:cNvPr>
          <p:cNvGrpSpPr/>
          <p:nvPr/>
        </p:nvGrpSpPr>
        <p:grpSpPr>
          <a:xfrm>
            <a:off x="2945663" y="4223281"/>
            <a:ext cx="1800000" cy="1350000"/>
            <a:chOff x="695325" y="2206067"/>
            <a:chExt cx="1800000" cy="1350000"/>
          </a:xfrm>
        </p:grpSpPr>
        <p:sp>
          <p:nvSpPr>
            <p:cNvPr id="17" name="文本框 20">
              <a:extLst>
                <a:ext uri="{FF2B5EF4-FFF2-40B4-BE49-F238E27FC236}">
                  <a16:creationId xmlns:a16="http://schemas.microsoft.com/office/drawing/2014/main" id="{AAE9C69B-6A4F-F1E8-F4A8-03791AA95237}"/>
                </a:ext>
              </a:extLst>
            </p:cNvPr>
            <p:cNvSpPr txBox="1"/>
            <p:nvPr/>
          </p:nvSpPr>
          <p:spPr>
            <a:xfrm>
              <a:off x="1159148" y="2909736"/>
              <a:ext cx="872355" cy="646331"/>
            </a:xfrm>
            <a:prstGeom prst="rect">
              <a:avLst/>
            </a:prstGeom>
            <a:noFill/>
          </p:spPr>
          <p:txBody>
            <a:bodyPr wrap="none" rtlCol="0">
              <a:spAutoFit/>
            </a:bodyPr>
            <a:lstStyle/>
            <a:p>
              <a:pPr algn="ctr"/>
              <a:r>
                <a:rPr lang="en-US" altLang="zh-CN"/>
                <a:t>Focus</a:t>
              </a:r>
            </a:p>
            <a:p>
              <a:pPr algn="ctr"/>
              <a:r>
                <a:rPr lang="zh-CN" altLang="en-US"/>
                <a:t>专注</a:t>
              </a:r>
            </a:p>
          </p:txBody>
        </p:sp>
        <p:sp>
          <p:nvSpPr>
            <p:cNvPr id="18" name="Rectangle 17">
              <a:extLst>
                <a:ext uri="{FF2B5EF4-FFF2-40B4-BE49-F238E27FC236}">
                  <a16:creationId xmlns:a16="http://schemas.microsoft.com/office/drawing/2014/main" id="{0FA5C43D-0F14-4CB4-9C5B-98819210D133}"/>
                </a:ext>
              </a:extLst>
            </p:cNvPr>
            <p:cNvSpPr/>
            <p:nvPr/>
          </p:nvSpPr>
          <p:spPr>
            <a:xfrm>
              <a:off x="695325" y="2476067"/>
              <a:ext cx="1800000" cy="1080000"/>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Oval 18">
              <a:extLst>
                <a:ext uri="{FF2B5EF4-FFF2-40B4-BE49-F238E27FC236}">
                  <a16:creationId xmlns:a16="http://schemas.microsoft.com/office/drawing/2014/main" id="{57158175-57DE-43E9-5394-B3F365BD0304}"/>
                </a:ext>
              </a:extLst>
            </p:cNvPr>
            <p:cNvSpPr/>
            <p:nvPr/>
          </p:nvSpPr>
          <p:spPr>
            <a:xfrm>
              <a:off x="1325325" y="2206067"/>
              <a:ext cx="540000" cy="540000"/>
            </a:xfrm>
            <a:prstGeom prst="ellipse">
              <a:avLst/>
            </a:prstGeom>
            <a:effectLst/>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CN"/>
                <a:t>2</a:t>
              </a:r>
              <a:endParaRPr lang="zh-CN" altLang="en-US"/>
            </a:p>
          </p:txBody>
        </p:sp>
      </p:grpSp>
      <p:grpSp>
        <p:nvGrpSpPr>
          <p:cNvPr id="20" name="Group 19">
            <a:extLst>
              <a:ext uri="{FF2B5EF4-FFF2-40B4-BE49-F238E27FC236}">
                <a16:creationId xmlns:a16="http://schemas.microsoft.com/office/drawing/2014/main" id="{06CDFDA8-7D55-91B9-DF92-4C9A33B30379}"/>
              </a:ext>
            </a:extLst>
          </p:cNvPr>
          <p:cNvGrpSpPr/>
          <p:nvPr/>
        </p:nvGrpSpPr>
        <p:grpSpPr>
          <a:xfrm>
            <a:off x="5196001" y="4223281"/>
            <a:ext cx="1800000" cy="1350000"/>
            <a:chOff x="695325" y="2206067"/>
            <a:chExt cx="1800000" cy="1350000"/>
          </a:xfrm>
        </p:grpSpPr>
        <p:sp>
          <p:nvSpPr>
            <p:cNvPr id="26" name="文本框 20">
              <a:extLst>
                <a:ext uri="{FF2B5EF4-FFF2-40B4-BE49-F238E27FC236}">
                  <a16:creationId xmlns:a16="http://schemas.microsoft.com/office/drawing/2014/main" id="{DB06260B-75B7-6141-7270-598A1E3BEF81}"/>
                </a:ext>
              </a:extLst>
            </p:cNvPr>
            <p:cNvSpPr txBox="1"/>
            <p:nvPr/>
          </p:nvSpPr>
          <p:spPr>
            <a:xfrm>
              <a:off x="920301" y="2909736"/>
              <a:ext cx="1350050" cy="646331"/>
            </a:xfrm>
            <a:prstGeom prst="rect">
              <a:avLst/>
            </a:prstGeom>
            <a:noFill/>
          </p:spPr>
          <p:txBody>
            <a:bodyPr wrap="none" rtlCol="0">
              <a:spAutoFit/>
            </a:bodyPr>
            <a:lstStyle/>
            <a:p>
              <a:pPr algn="ctr"/>
              <a:r>
                <a:rPr lang="en-US" altLang="zh-CN"/>
                <a:t>Openness</a:t>
              </a:r>
            </a:p>
            <a:p>
              <a:pPr algn="ctr"/>
              <a:r>
                <a:rPr lang="zh-CN" altLang="en-US"/>
                <a:t>开放</a:t>
              </a:r>
            </a:p>
          </p:txBody>
        </p:sp>
        <p:sp>
          <p:nvSpPr>
            <p:cNvPr id="27" name="Rectangle 26">
              <a:extLst>
                <a:ext uri="{FF2B5EF4-FFF2-40B4-BE49-F238E27FC236}">
                  <a16:creationId xmlns:a16="http://schemas.microsoft.com/office/drawing/2014/main" id="{CFE9B6C4-6AE3-0146-C1BA-BAACBC2C61B7}"/>
                </a:ext>
              </a:extLst>
            </p:cNvPr>
            <p:cNvSpPr/>
            <p:nvPr/>
          </p:nvSpPr>
          <p:spPr>
            <a:xfrm>
              <a:off x="695325" y="2476067"/>
              <a:ext cx="1800000" cy="1080000"/>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Oval 27">
              <a:extLst>
                <a:ext uri="{FF2B5EF4-FFF2-40B4-BE49-F238E27FC236}">
                  <a16:creationId xmlns:a16="http://schemas.microsoft.com/office/drawing/2014/main" id="{37A2F200-5DE7-FD2A-698D-9D64F25EBF0F}"/>
                </a:ext>
              </a:extLst>
            </p:cNvPr>
            <p:cNvSpPr/>
            <p:nvPr/>
          </p:nvSpPr>
          <p:spPr>
            <a:xfrm>
              <a:off x="1325325" y="2206067"/>
              <a:ext cx="540000" cy="540000"/>
            </a:xfrm>
            <a:prstGeom prst="ellipse">
              <a:avLst/>
            </a:prstGeom>
            <a:effectLst/>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CN"/>
                <a:t>3</a:t>
              </a:r>
              <a:endParaRPr lang="zh-CN" altLang="en-US"/>
            </a:p>
          </p:txBody>
        </p:sp>
      </p:grpSp>
      <p:grpSp>
        <p:nvGrpSpPr>
          <p:cNvPr id="29" name="Group 28">
            <a:extLst>
              <a:ext uri="{FF2B5EF4-FFF2-40B4-BE49-F238E27FC236}">
                <a16:creationId xmlns:a16="http://schemas.microsoft.com/office/drawing/2014/main" id="{D1883459-EC95-3094-2FA1-2ABB02474CBB}"/>
              </a:ext>
            </a:extLst>
          </p:cNvPr>
          <p:cNvGrpSpPr/>
          <p:nvPr/>
        </p:nvGrpSpPr>
        <p:grpSpPr>
          <a:xfrm>
            <a:off x="7446339" y="4223281"/>
            <a:ext cx="1800000" cy="1350000"/>
            <a:chOff x="695325" y="2206067"/>
            <a:chExt cx="1800000" cy="1350000"/>
          </a:xfrm>
        </p:grpSpPr>
        <p:sp>
          <p:nvSpPr>
            <p:cNvPr id="30" name="文本框 20">
              <a:extLst>
                <a:ext uri="{FF2B5EF4-FFF2-40B4-BE49-F238E27FC236}">
                  <a16:creationId xmlns:a16="http://schemas.microsoft.com/office/drawing/2014/main" id="{ECFFD0A0-BBDE-42F6-31AE-44B4EDA03E1B}"/>
                </a:ext>
              </a:extLst>
            </p:cNvPr>
            <p:cNvSpPr txBox="1"/>
            <p:nvPr/>
          </p:nvSpPr>
          <p:spPr>
            <a:xfrm>
              <a:off x="1034114" y="2909736"/>
              <a:ext cx="1122422" cy="646331"/>
            </a:xfrm>
            <a:prstGeom prst="rect">
              <a:avLst/>
            </a:prstGeom>
            <a:noFill/>
          </p:spPr>
          <p:txBody>
            <a:bodyPr wrap="none" rtlCol="0">
              <a:spAutoFit/>
            </a:bodyPr>
            <a:lstStyle/>
            <a:p>
              <a:pPr algn="ctr"/>
              <a:r>
                <a:rPr lang="en-US" altLang="zh-CN"/>
                <a:t>Respect</a:t>
              </a:r>
            </a:p>
            <a:p>
              <a:pPr algn="ctr"/>
              <a:r>
                <a:rPr lang="zh-CN" altLang="en-US"/>
                <a:t>尊重</a:t>
              </a:r>
            </a:p>
          </p:txBody>
        </p:sp>
        <p:sp>
          <p:nvSpPr>
            <p:cNvPr id="31" name="Rectangle 30">
              <a:extLst>
                <a:ext uri="{FF2B5EF4-FFF2-40B4-BE49-F238E27FC236}">
                  <a16:creationId xmlns:a16="http://schemas.microsoft.com/office/drawing/2014/main" id="{BE8F6E0E-4517-CB1E-2D35-43945E9F2FA0}"/>
                </a:ext>
              </a:extLst>
            </p:cNvPr>
            <p:cNvSpPr/>
            <p:nvPr/>
          </p:nvSpPr>
          <p:spPr>
            <a:xfrm>
              <a:off x="695325" y="2476067"/>
              <a:ext cx="1800000" cy="1080000"/>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Oval 31">
              <a:extLst>
                <a:ext uri="{FF2B5EF4-FFF2-40B4-BE49-F238E27FC236}">
                  <a16:creationId xmlns:a16="http://schemas.microsoft.com/office/drawing/2014/main" id="{DC400CFB-BBAB-51FC-9503-63396CBDCE73}"/>
                </a:ext>
              </a:extLst>
            </p:cNvPr>
            <p:cNvSpPr/>
            <p:nvPr/>
          </p:nvSpPr>
          <p:spPr>
            <a:xfrm>
              <a:off x="1325325" y="2206067"/>
              <a:ext cx="540000" cy="540000"/>
            </a:xfrm>
            <a:prstGeom prst="ellipse">
              <a:avLst/>
            </a:prstGeom>
            <a:effectLst/>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CN"/>
                <a:t>4</a:t>
              </a:r>
              <a:endParaRPr lang="zh-CN" altLang="en-US"/>
            </a:p>
          </p:txBody>
        </p:sp>
      </p:grpSp>
      <p:grpSp>
        <p:nvGrpSpPr>
          <p:cNvPr id="33" name="Group 32">
            <a:extLst>
              <a:ext uri="{FF2B5EF4-FFF2-40B4-BE49-F238E27FC236}">
                <a16:creationId xmlns:a16="http://schemas.microsoft.com/office/drawing/2014/main" id="{60FB258C-1A65-95CE-4CE2-DF3FDDF476A7}"/>
              </a:ext>
            </a:extLst>
          </p:cNvPr>
          <p:cNvGrpSpPr/>
          <p:nvPr/>
        </p:nvGrpSpPr>
        <p:grpSpPr>
          <a:xfrm>
            <a:off x="9696675" y="4223281"/>
            <a:ext cx="1800000" cy="1350000"/>
            <a:chOff x="695325" y="2206067"/>
            <a:chExt cx="1800000" cy="1350000"/>
          </a:xfrm>
        </p:grpSpPr>
        <p:sp>
          <p:nvSpPr>
            <p:cNvPr id="34" name="文本框 20">
              <a:extLst>
                <a:ext uri="{FF2B5EF4-FFF2-40B4-BE49-F238E27FC236}">
                  <a16:creationId xmlns:a16="http://schemas.microsoft.com/office/drawing/2014/main" id="{C2D7E661-E0AE-1796-2727-F26250029569}"/>
                </a:ext>
              </a:extLst>
            </p:cNvPr>
            <p:cNvSpPr txBox="1"/>
            <p:nvPr/>
          </p:nvSpPr>
          <p:spPr>
            <a:xfrm>
              <a:off x="1006061" y="2909736"/>
              <a:ext cx="1178528" cy="646331"/>
            </a:xfrm>
            <a:prstGeom prst="rect">
              <a:avLst/>
            </a:prstGeom>
            <a:noFill/>
          </p:spPr>
          <p:txBody>
            <a:bodyPr wrap="none" rtlCol="0">
              <a:spAutoFit/>
            </a:bodyPr>
            <a:lstStyle/>
            <a:p>
              <a:pPr algn="ctr"/>
              <a:r>
                <a:rPr lang="en-US" altLang="zh-CN"/>
                <a:t>Courage</a:t>
              </a:r>
              <a:endParaRPr lang="zh-CN" altLang="en-US"/>
            </a:p>
            <a:p>
              <a:pPr algn="ctr"/>
              <a:r>
                <a:rPr lang="zh-CN" altLang="en-US"/>
                <a:t>勇气</a:t>
              </a:r>
            </a:p>
          </p:txBody>
        </p:sp>
        <p:sp>
          <p:nvSpPr>
            <p:cNvPr id="35" name="Rectangle 34">
              <a:extLst>
                <a:ext uri="{FF2B5EF4-FFF2-40B4-BE49-F238E27FC236}">
                  <a16:creationId xmlns:a16="http://schemas.microsoft.com/office/drawing/2014/main" id="{84EEB97E-DD3A-BE97-6C98-759D5BAB0FD8}"/>
                </a:ext>
              </a:extLst>
            </p:cNvPr>
            <p:cNvSpPr/>
            <p:nvPr/>
          </p:nvSpPr>
          <p:spPr>
            <a:xfrm>
              <a:off x="695325" y="2476067"/>
              <a:ext cx="1800000" cy="1080000"/>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Oval 35">
              <a:extLst>
                <a:ext uri="{FF2B5EF4-FFF2-40B4-BE49-F238E27FC236}">
                  <a16:creationId xmlns:a16="http://schemas.microsoft.com/office/drawing/2014/main" id="{CCEA5DDB-A69A-CFAB-8500-FF848B2634B3}"/>
                </a:ext>
              </a:extLst>
            </p:cNvPr>
            <p:cNvSpPr/>
            <p:nvPr/>
          </p:nvSpPr>
          <p:spPr>
            <a:xfrm>
              <a:off x="1325325" y="2206067"/>
              <a:ext cx="540000" cy="540000"/>
            </a:xfrm>
            <a:prstGeom prst="ellipse">
              <a:avLst/>
            </a:prstGeom>
            <a:effectLst/>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CN"/>
                <a:t>5</a:t>
              </a:r>
              <a:endParaRPr lang="zh-CN" altLang="en-US"/>
            </a:p>
          </p:txBody>
        </p:sp>
      </p:grpSp>
    </p:spTree>
    <p:extLst>
      <p:ext uri="{BB962C8B-B14F-4D97-AF65-F5344CB8AC3E}">
        <p14:creationId xmlns:p14="http://schemas.microsoft.com/office/powerpoint/2010/main" val="46128615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5622D-0428-1B1A-2A34-CD96D271DEA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3C5E438-A38E-6D1D-CC5A-591C385E636F}"/>
              </a:ext>
            </a:extLst>
          </p:cNvPr>
          <p:cNvSpPr>
            <a:spLocks noGrp="1"/>
          </p:cNvSpPr>
          <p:nvPr>
            <p:ph type="title"/>
          </p:nvPr>
        </p:nvSpPr>
        <p:spPr>
          <a:xfrm>
            <a:off x="792000" y="360000"/>
            <a:ext cx="6375921" cy="429413"/>
          </a:xfrm>
        </p:spPr>
        <p:txBody>
          <a:bodyPr>
            <a:normAutofit/>
          </a:bodyPr>
          <a:lstStyle/>
          <a:p>
            <a:r>
              <a:rPr lang="en-US" altLang="zh-CN"/>
              <a:t>2.6.4 </a:t>
            </a:r>
            <a:r>
              <a:rPr lang="zh-CN" altLang="en-US"/>
              <a:t>敏捷团队 </a:t>
            </a:r>
            <a:r>
              <a:rPr lang="en-US" altLang="zh-CN"/>
              <a:t>Scrum Team</a:t>
            </a:r>
            <a:endParaRPr lang="zh-CN" altLang="en-US"/>
          </a:p>
        </p:txBody>
      </p:sp>
      <p:sp>
        <p:nvSpPr>
          <p:cNvPr id="3" name="内容占位符 2">
            <a:extLst>
              <a:ext uri="{FF2B5EF4-FFF2-40B4-BE49-F238E27FC236}">
                <a16:creationId xmlns:a16="http://schemas.microsoft.com/office/drawing/2014/main" id="{37FEA803-AB11-4232-CE10-AC497E832AB0}"/>
              </a:ext>
            </a:extLst>
          </p:cNvPr>
          <p:cNvSpPr>
            <a:spLocks noGrp="1"/>
          </p:cNvSpPr>
          <p:nvPr>
            <p:ph idx="1"/>
          </p:nvPr>
        </p:nvSpPr>
        <p:spPr>
          <a:xfrm>
            <a:off x="696000" y="864000"/>
            <a:ext cx="10800000" cy="5400000"/>
          </a:xfrm>
        </p:spPr>
        <p:txBody>
          <a:bodyPr>
            <a:normAutofit/>
          </a:bodyPr>
          <a:lstStyle/>
          <a:p>
            <a:r>
              <a:rPr lang="en-US" altLang="zh-CN"/>
              <a:t>3</a:t>
            </a:r>
            <a:r>
              <a:rPr lang="zh-CN" altLang="en-US"/>
              <a:t>个角色 </a:t>
            </a:r>
            <a:r>
              <a:rPr lang="en-US" altLang="zh-CN"/>
              <a:t>Roles</a:t>
            </a:r>
            <a:endParaRPr lang="zh-CN" altLang="en-US"/>
          </a:p>
        </p:txBody>
      </p:sp>
      <p:sp>
        <p:nvSpPr>
          <p:cNvPr id="4" name="文本占位符 3">
            <a:extLst>
              <a:ext uri="{FF2B5EF4-FFF2-40B4-BE49-F238E27FC236}">
                <a16:creationId xmlns:a16="http://schemas.microsoft.com/office/drawing/2014/main" id="{8E819F04-543D-0150-D418-FBA1A1176E1D}"/>
              </a:ext>
            </a:extLst>
          </p:cNvPr>
          <p:cNvSpPr>
            <a:spLocks noGrp="1"/>
          </p:cNvSpPr>
          <p:nvPr>
            <p:ph type="body" sz="quarter" idx="10"/>
          </p:nvPr>
        </p:nvSpPr>
        <p:spPr>
          <a:xfrm>
            <a:off x="7071919" y="448519"/>
            <a:ext cx="4424080" cy="338554"/>
          </a:xfrm>
        </p:spPr>
        <p:txBody>
          <a:bodyPr/>
          <a:lstStyle/>
          <a:p>
            <a:r>
              <a:rPr lang="en-US" altLang="zh-CN"/>
              <a:t>Scrum /Agile</a:t>
            </a:r>
            <a:endParaRPr lang="zh-CN" altLang="en-US"/>
          </a:p>
        </p:txBody>
      </p:sp>
      <p:sp>
        <p:nvSpPr>
          <p:cNvPr id="6" name="任意多边形: 形状 5">
            <a:extLst>
              <a:ext uri="{FF2B5EF4-FFF2-40B4-BE49-F238E27FC236}">
                <a16:creationId xmlns:a16="http://schemas.microsoft.com/office/drawing/2014/main" id="{5344A21E-59D9-0847-CDA9-C1269120F217}"/>
              </a:ext>
            </a:extLst>
          </p:cNvPr>
          <p:cNvSpPr/>
          <p:nvPr/>
        </p:nvSpPr>
        <p:spPr>
          <a:xfrm>
            <a:off x="6096000" y="3074671"/>
            <a:ext cx="3067529" cy="567070"/>
          </a:xfrm>
          <a:custGeom>
            <a:avLst/>
            <a:gdLst/>
            <a:ahLst/>
            <a:cxnLst/>
            <a:rect l="0" t="0" r="0" b="0"/>
            <a:pathLst>
              <a:path>
                <a:moveTo>
                  <a:pt x="0" y="0"/>
                </a:moveTo>
                <a:lnTo>
                  <a:pt x="0" y="283535"/>
                </a:lnTo>
                <a:lnTo>
                  <a:pt x="3067529" y="283535"/>
                </a:lnTo>
                <a:lnTo>
                  <a:pt x="3067529" y="567070"/>
                </a:lnTo>
              </a:path>
            </a:pathLst>
          </a:custGeom>
          <a:noFill/>
          <a:ln w="12700">
            <a:solidFill>
              <a:schemeClr val="tx1"/>
            </a:solidFill>
          </a:ln>
        </p:spPr>
        <p:style>
          <a:lnRef idx="2">
            <a:schemeClr val="accent5">
              <a:hueOff val="0"/>
              <a:satOff val="0"/>
              <a:lumOff val="0"/>
              <a:alphaOff val="0"/>
            </a:schemeClr>
          </a:lnRef>
          <a:fillRef idx="0">
            <a:scrgbClr r="0" g="0" b="0"/>
          </a:fillRef>
          <a:effectRef idx="0">
            <a:schemeClr val="accent4">
              <a:tint val="90000"/>
              <a:hueOff val="0"/>
              <a:satOff val="0"/>
              <a:lumOff val="0"/>
              <a:alphaOff val="0"/>
            </a:schemeClr>
          </a:effectRef>
          <a:fontRef idx="minor">
            <a:schemeClr val="tx1">
              <a:hueOff val="0"/>
              <a:satOff val="0"/>
              <a:lumOff val="0"/>
              <a:alphaOff val="0"/>
            </a:schemeClr>
          </a:fontRef>
        </p:style>
        <p:txBody>
          <a:bodyPr/>
          <a:lstStyle/>
          <a:p>
            <a:endParaRPr lang="zh-CN" altLang="en-US"/>
          </a:p>
        </p:txBody>
      </p:sp>
      <p:sp>
        <p:nvSpPr>
          <p:cNvPr id="7" name="任意多边形: 形状 6">
            <a:extLst>
              <a:ext uri="{FF2B5EF4-FFF2-40B4-BE49-F238E27FC236}">
                <a16:creationId xmlns:a16="http://schemas.microsoft.com/office/drawing/2014/main" id="{8E46336B-C745-5415-8919-8DEF04FC0EDD}"/>
              </a:ext>
            </a:extLst>
          </p:cNvPr>
          <p:cNvSpPr/>
          <p:nvPr/>
        </p:nvSpPr>
        <p:spPr>
          <a:xfrm>
            <a:off x="6050280" y="3074671"/>
            <a:ext cx="91440" cy="567070"/>
          </a:xfrm>
          <a:custGeom>
            <a:avLst/>
            <a:gdLst/>
            <a:ahLst/>
            <a:cxnLst/>
            <a:rect l="0" t="0" r="0" b="0"/>
            <a:pathLst>
              <a:path>
                <a:moveTo>
                  <a:pt x="45720" y="0"/>
                </a:moveTo>
                <a:lnTo>
                  <a:pt x="45720" y="567070"/>
                </a:lnTo>
              </a:path>
            </a:pathLst>
          </a:custGeom>
          <a:noFill/>
          <a:ln w="12700">
            <a:solidFill>
              <a:schemeClr val="tx1"/>
            </a:solidFill>
          </a:ln>
        </p:spPr>
        <p:style>
          <a:lnRef idx="2">
            <a:schemeClr val="accent5">
              <a:hueOff val="0"/>
              <a:satOff val="0"/>
              <a:lumOff val="0"/>
              <a:alphaOff val="0"/>
            </a:schemeClr>
          </a:lnRef>
          <a:fillRef idx="0">
            <a:scrgbClr r="0" g="0" b="0"/>
          </a:fillRef>
          <a:effectRef idx="0">
            <a:schemeClr val="accent4">
              <a:tint val="90000"/>
              <a:hueOff val="0"/>
              <a:satOff val="0"/>
              <a:lumOff val="0"/>
              <a:alphaOff val="0"/>
            </a:schemeClr>
          </a:effectRef>
          <a:fontRef idx="minor">
            <a:schemeClr val="tx1">
              <a:hueOff val="0"/>
              <a:satOff val="0"/>
              <a:lumOff val="0"/>
              <a:alphaOff val="0"/>
            </a:schemeClr>
          </a:fontRef>
        </p:style>
        <p:txBody>
          <a:bodyPr/>
          <a:lstStyle/>
          <a:p>
            <a:endParaRPr lang="zh-CN" altLang="en-US"/>
          </a:p>
        </p:txBody>
      </p:sp>
      <p:sp>
        <p:nvSpPr>
          <p:cNvPr id="8" name="任意多边形: 形状 7">
            <a:extLst>
              <a:ext uri="{FF2B5EF4-FFF2-40B4-BE49-F238E27FC236}">
                <a16:creationId xmlns:a16="http://schemas.microsoft.com/office/drawing/2014/main" id="{4F72B4FF-E1DA-CAA1-4A1A-E91CA7697A50}"/>
              </a:ext>
            </a:extLst>
          </p:cNvPr>
          <p:cNvSpPr/>
          <p:nvPr/>
        </p:nvSpPr>
        <p:spPr>
          <a:xfrm>
            <a:off x="3028470" y="3074671"/>
            <a:ext cx="3067529" cy="567070"/>
          </a:xfrm>
          <a:custGeom>
            <a:avLst/>
            <a:gdLst/>
            <a:ahLst/>
            <a:cxnLst/>
            <a:rect l="0" t="0" r="0" b="0"/>
            <a:pathLst>
              <a:path>
                <a:moveTo>
                  <a:pt x="3067529" y="0"/>
                </a:moveTo>
                <a:lnTo>
                  <a:pt x="3067529" y="283535"/>
                </a:lnTo>
                <a:lnTo>
                  <a:pt x="0" y="283535"/>
                </a:lnTo>
                <a:lnTo>
                  <a:pt x="0" y="567070"/>
                </a:lnTo>
              </a:path>
            </a:pathLst>
          </a:custGeom>
          <a:noFill/>
          <a:ln w="12700">
            <a:solidFill>
              <a:schemeClr val="tx1"/>
            </a:solidFill>
          </a:ln>
        </p:spPr>
        <p:style>
          <a:lnRef idx="2">
            <a:schemeClr val="accent5">
              <a:hueOff val="0"/>
              <a:satOff val="0"/>
              <a:lumOff val="0"/>
              <a:alphaOff val="0"/>
            </a:schemeClr>
          </a:lnRef>
          <a:fillRef idx="0">
            <a:scrgbClr r="0" g="0" b="0"/>
          </a:fillRef>
          <a:effectRef idx="0">
            <a:schemeClr val="accent4">
              <a:tint val="90000"/>
              <a:hueOff val="0"/>
              <a:satOff val="0"/>
              <a:lumOff val="0"/>
              <a:alphaOff val="0"/>
            </a:schemeClr>
          </a:effectRef>
          <a:fontRef idx="minor">
            <a:schemeClr val="tx1">
              <a:hueOff val="0"/>
              <a:satOff val="0"/>
              <a:lumOff val="0"/>
              <a:alphaOff val="0"/>
            </a:schemeClr>
          </a:fontRef>
        </p:style>
        <p:txBody>
          <a:bodyPr/>
          <a:lstStyle/>
          <a:p>
            <a:endParaRPr lang="zh-CN" altLang="en-US"/>
          </a:p>
        </p:txBody>
      </p:sp>
      <p:sp>
        <p:nvSpPr>
          <p:cNvPr id="10" name="矩形: 圆角 9">
            <a:extLst>
              <a:ext uri="{FF2B5EF4-FFF2-40B4-BE49-F238E27FC236}">
                <a16:creationId xmlns:a16="http://schemas.microsoft.com/office/drawing/2014/main" id="{0A154760-09CB-D635-1E66-DD9AE7546B7E}"/>
              </a:ext>
            </a:extLst>
          </p:cNvPr>
          <p:cNvSpPr/>
          <p:nvPr/>
        </p:nvSpPr>
        <p:spPr>
          <a:xfrm>
            <a:off x="4845770" y="2305061"/>
            <a:ext cx="2500458" cy="769609"/>
          </a:xfrm>
          <a:prstGeom prst="roundRect">
            <a:avLst/>
          </a:prstGeom>
          <a:solidFill>
            <a:schemeClr val="accent2"/>
          </a:solidFill>
          <a:ln>
            <a:noFill/>
          </a:ln>
        </p:spPr>
        <p:style>
          <a:lnRef idx="2">
            <a:schemeClr val="lt1">
              <a:hueOff val="0"/>
              <a:satOff val="0"/>
              <a:lumOff val="0"/>
              <a:alphaOff val="0"/>
            </a:schemeClr>
          </a:lnRef>
          <a:fillRef idx="1">
            <a:scrgbClr r="0" g="0" b="0"/>
          </a:fillRef>
          <a:effectRef idx="0">
            <a:schemeClr val="accent3">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100000"/>
              </a:lnSpc>
              <a:spcBef>
                <a:spcPct val="0"/>
              </a:spcBef>
              <a:spcAft>
                <a:spcPts val="0"/>
              </a:spcAft>
              <a:buNone/>
            </a:pPr>
            <a:r>
              <a:rPr lang="en-US" altLang="zh-CN" sz="1600" kern="1200"/>
              <a:t>Scrum Team</a:t>
            </a:r>
          </a:p>
          <a:p>
            <a:pPr marL="0" lvl="0" indent="0" algn="ctr" defTabSz="711200">
              <a:lnSpc>
                <a:spcPct val="100000"/>
              </a:lnSpc>
              <a:spcBef>
                <a:spcPct val="0"/>
              </a:spcBef>
              <a:spcAft>
                <a:spcPts val="0"/>
              </a:spcAft>
              <a:buNone/>
            </a:pPr>
            <a:r>
              <a:rPr lang="zh-CN" altLang="en-US" sz="1600" kern="1200"/>
              <a:t>团队</a:t>
            </a:r>
          </a:p>
        </p:txBody>
      </p:sp>
      <p:sp>
        <p:nvSpPr>
          <p:cNvPr id="11" name="矩形: 圆角 10">
            <a:extLst>
              <a:ext uri="{FF2B5EF4-FFF2-40B4-BE49-F238E27FC236}">
                <a16:creationId xmlns:a16="http://schemas.microsoft.com/office/drawing/2014/main" id="{25DAC169-0AD3-771E-609C-8AF652C24DFD}"/>
              </a:ext>
            </a:extLst>
          </p:cNvPr>
          <p:cNvSpPr/>
          <p:nvPr/>
        </p:nvSpPr>
        <p:spPr>
          <a:xfrm>
            <a:off x="1778241" y="3641742"/>
            <a:ext cx="2500458" cy="769609"/>
          </a:xfrm>
          <a:prstGeom prst="roundRect">
            <a:avLst/>
          </a:prstGeom>
          <a:ln>
            <a:noFill/>
          </a:ln>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100000"/>
              </a:lnSpc>
              <a:spcBef>
                <a:spcPct val="0"/>
              </a:spcBef>
              <a:spcAft>
                <a:spcPts val="0"/>
              </a:spcAft>
              <a:buNone/>
            </a:pPr>
            <a:r>
              <a:rPr lang="en-US" altLang="zh-CN" sz="1600" kern="1200"/>
              <a:t>Developer</a:t>
            </a:r>
          </a:p>
          <a:p>
            <a:pPr marL="0" lvl="0" indent="0" algn="ctr" defTabSz="711200">
              <a:lnSpc>
                <a:spcPct val="100000"/>
              </a:lnSpc>
              <a:spcBef>
                <a:spcPct val="0"/>
              </a:spcBef>
              <a:spcAft>
                <a:spcPts val="0"/>
              </a:spcAft>
              <a:buNone/>
            </a:pPr>
            <a:r>
              <a:rPr lang="zh-CN" altLang="en-US" sz="1600" kern="1200"/>
              <a:t>开发者</a:t>
            </a:r>
          </a:p>
        </p:txBody>
      </p:sp>
      <p:sp>
        <p:nvSpPr>
          <p:cNvPr id="12" name="矩形: 圆角 11">
            <a:extLst>
              <a:ext uri="{FF2B5EF4-FFF2-40B4-BE49-F238E27FC236}">
                <a16:creationId xmlns:a16="http://schemas.microsoft.com/office/drawing/2014/main" id="{118A4B60-7120-1F21-456F-6DA122072775}"/>
              </a:ext>
            </a:extLst>
          </p:cNvPr>
          <p:cNvSpPr/>
          <p:nvPr/>
        </p:nvSpPr>
        <p:spPr>
          <a:xfrm>
            <a:off x="4845770" y="3641742"/>
            <a:ext cx="2500458" cy="769609"/>
          </a:xfrm>
          <a:prstGeom prst="roundRect">
            <a:avLst/>
          </a:prstGeom>
          <a:solidFill>
            <a:srgbClr val="00B050"/>
          </a:solidFill>
          <a:ln>
            <a:noFill/>
          </a:ln>
        </p:spPr>
        <p:style>
          <a:lnRef idx="2">
            <a:schemeClr val="lt1">
              <a:hueOff val="0"/>
              <a:satOff val="0"/>
              <a:lumOff val="0"/>
              <a:alphaOff val="0"/>
            </a:schemeClr>
          </a:lnRef>
          <a:fillRef idx="1">
            <a:scrgbClr r="0" g="0" b="0"/>
          </a:fillRef>
          <a:effectRef idx="0">
            <a:schemeClr val="accent5">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100000"/>
              </a:lnSpc>
              <a:spcBef>
                <a:spcPct val="0"/>
              </a:spcBef>
              <a:spcAft>
                <a:spcPts val="0"/>
              </a:spcAft>
              <a:buNone/>
            </a:pPr>
            <a:r>
              <a:rPr lang="en-US" altLang="zh-CN" sz="1600" kern="1200"/>
              <a:t>Scrum Master</a:t>
            </a:r>
          </a:p>
          <a:p>
            <a:pPr marL="0" lvl="0" indent="0" algn="ctr" defTabSz="711200">
              <a:lnSpc>
                <a:spcPct val="100000"/>
              </a:lnSpc>
              <a:spcBef>
                <a:spcPct val="0"/>
              </a:spcBef>
              <a:spcAft>
                <a:spcPts val="0"/>
              </a:spcAft>
              <a:buNone/>
            </a:pPr>
            <a:r>
              <a:rPr lang="zh-CN" altLang="en-US" sz="1600" kern="1200"/>
              <a:t>敏捷教练</a:t>
            </a:r>
          </a:p>
        </p:txBody>
      </p:sp>
      <p:sp>
        <p:nvSpPr>
          <p:cNvPr id="13" name="矩形: 圆角 12">
            <a:extLst>
              <a:ext uri="{FF2B5EF4-FFF2-40B4-BE49-F238E27FC236}">
                <a16:creationId xmlns:a16="http://schemas.microsoft.com/office/drawing/2014/main" id="{FF31B6E5-B4B8-8B36-9162-D917C5D8AF73}"/>
              </a:ext>
            </a:extLst>
          </p:cNvPr>
          <p:cNvSpPr/>
          <p:nvPr/>
        </p:nvSpPr>
        <p:spPr>
          <a:xfrm>
            <a:off x="7913300" y="3641742"/>
            <a:ext cx="2500458" cy="769609"/>
          </a:xfrm>
          <a:prstGeom prst="roundRect">
            <a:avLst/>
          </a:prstGeom>
          <a:ln>
            <a:noFill/>
          </a:ln>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100000"/>
              </a:lnSpc>
              <a:spcBef>
                <a:spcPct val="0"/>
              </a:spcBef>
              <a:spcAft>
                <a:spcPts val="0"/>
              </a:spcAft>
              <a:buNone/>
            </a:pPr>
            <a:r>
              <a:rPr lang="en-US" altLang="zh-CN" sz="1600" kern="1200"/>
              <a:t>Product Owner</a:t>
            </a:r>
          </a:p>
          <a:p>
            <a:pPr marL="0" lvl="0" indent="0" algn="ctr" defTabSz="711200">
              <a:lnSpc>
                <a:spcPct val="100000"/>
              </a:lnSpc>
              <a:spcBef>
                <a:spcPct val="0"/>
              </a:spcBef>
              <a:spcAft>
                <a:spcPts val="0"/>
              </a:spcAft>
              <a:buNone/>
            </a:pPr>
            <a:r>
              <a:rPr lang="zh-CN" altLang="en-US" sz="1600" kern="1200"/>
              <a:t>产品负责人</a:t>
            </a:r>
          </a:p>
        </p:txBody>
      </p:sp>
      <p:cxnSp>
        <p:nvCxnSpPr>
          <p:cNvPr id="15" name="直接箭头连接符 14">
            <a:extLst>
              <a:ext uri="{FF2B5EF4-FFF2-40B4-BE49-F238E27FC236}">
                <a16:creationId xmlns:a16="http://schemas.microsoft.com/office/drawing/2014/main" id="{ACE5352D-1711-4C15-8844-0CBF67DE4B7E}"/>
              </a:ext>
            </a:extLst>
          </p:cNvPr>
          <p:cNvCxnSpPr>
            <a:cxnSpLocks/>
          </p:cNvCxnSpPr>
          <p:nvPr/>
        </p:nvCxnSpPr>
        <p:spPr>
          <a:xfrm>
            <a:off x="4278699" y="4050890"/>
            <a:ext cx="567071" cy="0"/>
          </a:xfrm>
          <a:prstGeom prst="straightConnector1">
            <a:avLst/>
          </a:prstGeom>
          <a:ln>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4911CC70-1382-D5FA-684F-2A86583E436F}"/>
              </a:ext>
            </a:extLst>
          </p:cNvPr>
          <p:cNvCxnSpPr>
            <a:cxnSpLocks/>
          </p:cNvCxnSpPr>
          <p:nvPr/>
        </p:nvCxnSpPr>
        <p:spPr>
          <a:xfrm>
            <a:off x="7346228" y="4050890"/>
            <a:ext cx="567071" cy="0"/>
          </a:xfrm>
          <a:prstGeom prst="straightConnector1">
            <a:avLst/>
          </a:prstGeom>
          <a:ln>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478991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EFA025-951A-B307-A948-CDC36CF2F010}"/>
              </a:ext>
            </a:extLst>
          </p:cNvPr>
          <p:cNvSpPr>
            <a:spLocks noGrp="1"/>
          </p:cNvSpPr>
          <p:nvPr>
            <p:ph type="title"/>
          </p:nvPr>
        </p:nvSpPr>
        <p:spPr>
          <a:xfrm>
            <a:off x="792000" y="360000"/>
            <a:ext cx="6375921" cy="429413"/>
          </a:xfrm>
        </p:spPr>
        <p:txBody>
          <a:bodyPr/>
          <a:lstStyle/>
          <a:p>
            <a:pPr lvl="0"/>
            <a:r>
              <a:rPr lang="en-US" altLang="zh-CN"/>
              <a:t>2.6.4.1 </a:t>
            </a:r>
            <a:r>
              <a:rPr lang="zh-CN" altLang="en-US"/>
              <a:t>开发者</a:t>
            </a:r>
          </a:p>
        </p:txBody>
      </p:sp>
      <p:sp>
        <p:nvSpPr>
          <p:cNvPr id="10" name="内容占位符 9">
            <a:extLst>
              <a:ext uri="{FF2B5EF4-FFF2-40B4-BE49-F238E27FC236}">
                <a16:creationId xmlns:a16="http://schemas.microsoft.com/office/drawing/2014/main" id="{DD8BAC52-0920-707D-19F7-1B7A62436758}"/>
              </a:ext>
            </a:extLst>
          </p:cNvPr>
          <p:cNvSpPr>
            <a:spLocks noGrp="1"/>
          </p:cNvSpPr>
          <p:nvPr>
            <p:ph idx="1"/>
          </p:nvPr>
        </p:nvSpPr>
        <p:spPr>
          <a:xfrm>
            <a:off x="696000" y="864000"/>
            <a:ext cx="10800000" cy="5400000"/>
          </a:xfrm>
        </p:spPr>
        <p:txBody>
          <a:bodyPr/>
          <a:lstStyle/>
          <a:p>
            <a:pPr lvl="0"/>
            <a:r>
              <a:rPr lang="zh-CN" altLang="en-US"/>
              <a:t>制定计划，确定冲刺代办列表</a:t>
            </a:r>
            <a:endParaRPr lang="en-US" altLang="zh-CN"/>
          </a:p>
          <a:p>
            <a:pPr lvl="1"/>
            <a:r>
              <a:rPr lang="en-US" altLang="zh-CN"/>
              <a:t>Creating a plan for the Sprint, the Sprint Backlog</a:t>
            </a:r>
          </a:p>
          <a:p>
            <a:pPr lvl="0"/>
            <a:r>
              <a:rPr lang="zh-CN" altLang="en-US"/>
              <a:t>根据完成定义，坚守质量标准</a:t>
            </a:r>
            <a:endParaRPr lang="en-US" altLang="zh-CN"/>
          </a:p>
          <a:p>
            <a:pPr lvl="1"/>
            <a:r>
              <a:rPr lang="en-US" altLang="zh-CN"/>
              <a:t>Instilling quality by adhering to a Definition of Done</a:t>
            </a:r>
            <a:r>
              <a:rPr lang="zh-CN" altLang="en-US"/>
              <a:t>（</a:t>
            </a:r>
            <a:r>
              <a:rPr lang="en-US" altLang="zh-CN"/>
              <a:t>DOD</a:t>
            </a:r>
            <a:r>
              <a:rPr lang="zh-CN" altLang="en-US"/>
              <a:t>）</a:t>
            </a:r>
            <a:endParaRPr lang="en-US" altLang="zh-CN"/>
          </a:p>
          <a:p>
            <a:pPr lvl="0"/>
            <a:r>
              <a:rPr lang="zh-CN" altLang="en-US"/>
              <a:t>根据目标调整计划</a:t>
            </a:r>
            <a:endParaRPr lang="en-US" altLang="zh-CN"/>
          </a:p>
          <a:p>
            <a:pPr lvl="1"/>
            <a:r>
              <a:rPr lang="en-US" altLang="zh-CN"/>
              <a:t>Adapting their plan each day toward the Sprint Goal</a:t>
            </a:r>
          </a:p>
          <a:p>
            <a:r>
              <a:rPr lang="zh-CN" altLang="en-US"/>
              <a:t>作为专业人员，要互相负责</a:t>
            </a:r>
            <a:endParaRPr lang="en-US" altLang="zh-CN"/>
          </a:p>
          <a:p>
            <a:pPr lvl="1"/>
            <a:r>
              <a:rPr lang="en-US" altLang="zh-CN"/>
              <a:t>Holding each other accountable as professionals.</a:t>
            </a:r>
          </a:p>
          <a:p>
            <a:pPr lvl="1"/>
            <a:endParaRPr lang="en-US" altLang="zh-CN"/>
          </a:p>
          <a:p>
            <a:pPr lvl="0"/>
            <a:r>
              <a:rPr lang="zh-CN" altLang="en-US"/>
              <a:t>将冲刺目标转化为增量交付的任何方面的人员</a:t>
            </a:r>
            <a:endParaRPr lang="en-US" altLang="zh-CN"/>
          </a:p>
          <a:p>
            <a:pPr lvl="0"/>
            <a:r>
              <a:rPr lang="zh-CN" altLang="en-US"/>
              <a:t>创造增量</a:t>
            </a:r>
            <a:r>
              <a:rPr lang="en-US" altLang="zh-CN"/>
              <a:t>/</a:t>
            </a:r>
            <a:r>
              <a:rPr lang="zh-CN" altLang="en-US"/>
              <a:t>价值</a:t>
            </a:r>
            <a:endParaRPr lang="en-US" altLang="zh-CN"/>
          </a:p>
          <a:p>
            <a:pPr lvl="0"/>
            <a:r>
              <a:rPr lang="zh-CN" altLang="en-US"/>
              <a:t>不仅仅是单纯的开发团队</a:t>
            </a:r>
            <a:endParaRPr lang="en-US" altLang="zh-CN"/>
          </a:p>
          <a:p>
            <a:pPr lvl="0"/>
            <a:r>
              <a:rPr lang="en-US" altLang="zh-CN"/>
              <a:t>5-9</a:t>
            </a:r>
            <a:r>
              <a:rPr lang="zh-CN" altLang="en-US"/>
              <a:t>人</a:t>
            </a:r>
          </a:p>
        </p:txBody>
      </p:sp>
      <p:sp>
        <p:nvSpPr>
          <p:cNvPr id="4" name="文本占位符 3">
            <a:extLst>
              <a:ext uri="{FF2B5EF4-FFF2-40B4-BE49-F238E27FC236}">
                <a16:creationId xmlns:a16="http://schemas.microsoft.com/office/drawing/2014/main" id="{4EFEC0C1-0ED5-06C7-F2F3-5E6666970865}"/>
              </a:ext>
            </a:extLst>
          </p:cNvPr>
          <p:cNvSpPr>
            <a:spLocks noGrp="1"/>
          </p:cNvSpPr>
          <p:nvPr>
            <p:ph type="body" sz="quarter" idx="10"/>
          </p:nvPr>
        </p:nvSpPr>
        <p:spPr>
          <a:xfrm>
            <a:off x="7071919" y="448519"/>
            <a:ext cx="4424080" cy="338554"/>
          </a:xfrm>
        </p:spPr>
        <p:txBody>
          <a:bodyPr/>
          <a:lstStyle/>
          <a:p>
            <a:r>
              <a:rPr lang="en-US" altLang="zh-CN"/>
              <a:t>Developer</a:t>
            </a:r>
            <a:endParaRPr lang="zh-CN" altLang="en-US"/>
          </a:p>
        </p:txBody>
      </p:sp>
    </p:spTree>
    <p:extLst>
      <p:ext uri="{BB962C8B-B14F-4D97-AF65-F5344CB8AC3E}">
        <p14:creationId xmlns:p14="http://schemas.microsoft.com/office/powerpoint/2010/main" val="177467304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11C1B-05DA-60D0-34C6-62F7C6B6999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1781519-0944-C675-951A-CD714D42C39B}"/>
              </a:ext>
            </a:extLst>
          </p:cNvPr>
          <p:cNvSpPr>
            <a:spLocks noGrp="1"/>
          </p:cNvSpPr>
          <p:nvPr>
            <p:ph type="title"/>
          </p:nvPr>
        </p:nvSpPr>
        <p:spPr>
          <a:xfrm>
            <a:off x="792000" y="360000"/>
            <a:ext cx="6375921" cy="429413"/>
          </a:xfrm>
        </p:spPr>
        <p:txBody>
          <a:bodyPr/>
          <a:lstStyle/>
          <a:p>
            <a:pPr lvl="0"/>
            <a:r>
              <a:rPr lang="en-US" altLang="zh-CN"/>
              <a:t>2.6.4.2 </a:t>
            </a:r>
            <a:r>
              <a:rPr lang="zh-CN" altLang="en-US"/>
              <a:t>产品负责人</a:t>
            </a:r>
          </a:p>
        </p:txBody>
      </p:sp>
      <p:sp>
        <p:nvSpPr>
          <p:cNvPr id="10" name="内容占位符 9">
            <a:extLst>
              <a:ext uri="{FF2B5EF4-FFF2-40B4-BE49-F238E27FC236}">
                <a16:creationId xmlns:a16="http://schemas.microsoft.com/office/drawing/2014/main" id="{025F0A1F-00E5-3599-6618-036018999D2E}"/>
              </a:ext>
            </a:extLst>
          </p:cNvPr>
          <p:cNvSpPr>
            <a:spLocks noGrp="1"/>
          </p:cNvSpPr>
          <p:nvPr>
            <p:ph idx="1"/>
          </p:nvPr>
        </p:nvSpPr>
        <p:spPr>
          <a:xfrm>
            <a:off x="696000" y="864000"/>
            <a:ext cx="10800000" cy="5400000"/>
          </a:xfrm>
        </p:spPr>
        <p:txBody>
          <a:bodyPr/>
          <a:lstStyle/>
          <a:p>
            <a:r>
              <a:rPr lang="zh-CN" altLang="en-US"/>
              <a:t>开发并明确地表达产品目标</a:t>
            </a:r>
            <a:endParaRPr lang="en-US" altLang="zh-CN"/>
          </a:p>
          <a:p>
            <a:pPr lvl="1"/>
            <a:r>
              <a:rPr lang="en-US" altLang="zh-CN"/>
              <a:t>Developing and explicitly communicating the Product Goal</a:t>
            </a:r>
          </a:p>
          <a:p>
            <a:r>
              <a:rPr lang="zh-CN" altLang="en-US"/>
              <a:t>创建并清晰地传达产品代办事项</a:t>
            </a:r>
            <a:endParaRPr lang="en-US" altLang="zh-CN"/>
          </a:p>
          <a:p>
            <a:pPr lvl="1"/>
            <a:r>
              <a:rPr lang="en-US" altLang="zh-CN"/>
              <a:t>Creating and clearly communicating Product Backlog items</a:t>
            </a:r>
          </a:p>
          <a:p>
            <a:r>
              <a:rPr lang="zh-CN" altLang="en-US"/>
              <a:t>对产品代办事项排序</a:t>
            </a:r>
            <a:endParaRPr lang="en-US" altLang="zh-CN"/>
          </a:p>
          <a:p>
            <a:pPr lvl="1"/>
            <a:r>
              <a:rPr lang="en-US" altLang="zh-CN"/>
              <a:t>Ordering Product Backlog items</a:t>
            </a:r>
          </a:p>
          <a:p>
            <a:r>
              <a:rPr lang="zh-CN" altLang="en-US"/>
              <a:t>确保产品代办事项透明、可见和可理解</a:t>
            </a:r>
            <a:endParaRPr lang="en-US" altLang="zh-CN"/>
          </a:p>
          <a:p>
            <a:pPr lvl="1"/>
            <a:r>
              <a:rPr lang="en-US" altLang="zh-CN"/>
              <a:t>Ensuring that the Product Backlog is transparent, visible and understood</a:t>
            </a:r>
          </a:p>
          <a:p>
            <a:pPr lvl="1"/>
            <a:endParaRPr lang="en-US" altLang="zh-CN"/>
          </a:p>
          <a:p>
            <a:pPr lvl="0"/>
            <a:r>
              <a:rPr lang="en-US" altLang="zh-CN"/>
              <a:t>PO</a:t>
            </a:r>
          </a:p>
          <a:p>
            <a:pPr lvl="0"/>
            <a:r>
              <a:rPr lang="zh-CN" altLang="en-US"/>
              <a:t>是一个人，而不是一个委员会</a:t>
            </a:r>
            <a:endParaRPr lang="en-US" altLang="zh-CN"/>
          </a:p>
          <a:p>
            <a:pPr lvl="0"/>
            <a:r>
              <a:rPr lang="zh-CN" altLang="en-US"/>
              <a:t>可以委托其它人，但最终负责人还是他</a:t>
            </a:r>
            <a:endParaRPr lang="en-US" altLang="zh-CN"/>
          </a:p>
          <a:p>
            <a:pPr lvl="1"/>
            <a:endParaRPr lang="zh-CN" altLang="en-US"/>
          </a:p>
          <a:p>
            <a:endParaRPr lang="zh-CN" altLang="en-US"/>
          </a:p>
        </p:txBody>
      </p:sp>
      <p:sp>
        <p:nvSpPr>
          <p:cNvPr id="4" name="文本占位符 3">
            <a:extLst>
              <a:ext uri="{FF2B5EF4-FFF2-40B4-BE49-F238E27FC236}">
                <a16:creationId xmlns:a16="http://schemas.microsoft.com/office/drawing/2014/main" id="{4BA7F5A2-627F-F3DD-8017-10302AD5FD90}"/>
              </a:ext>
            </a:extLst>
          </p:cNvPr>
          <p:cNvSpPr>
            <a:spLocks noGrp="1"/>
          </p:cNvSpPr>
          <p:nvPr>
            <p:ph type="body" sz="quarter" idx="10"/>
          </p:nvPr>
        </p:nvSpPr>
        <p:spPr>
          <a:xfrm>
            <a:off x="7071919" y="448519"/>
            <a:ext cx="4424080" cy="338554"/>
          </a:xfrm>
        </p:spPr>
        <p:txBody>
          <a:bodyPr/>
          <a:lstStyle/>
          <a:p>
            <a:r>
              <a:rPr lang="en-US" altLang="zh-CN"/>
              <a:t>Product Owner</a:t>
            </a:r>
            <a:endParaRPr lang="zh-CN" altLang="en-US"/>
          </a:p>
        </p:txBody>
      </p:sp>
      <p:sp>
        <p:nvSpPr>
          <p:cNvPr id="8" name="任意多边形: 形状 7">
            <a:extLst>
              <a:ext uri="{FF2B5EF4-FFF2-40B4-BE49-F238E27FC236}">
                <a16:creationId xmlns:a16="http://schemas.microsoft.com/office/drawing/2014/main" id="{3216076A-D122-D427-59A7-EB4CCA373D4B}"/>
              </a:ext>
            </a:extLst>
          </p:cNvPr>
          <p:cNvSpPr/>
          <p:nvPr/>
        </p:nvSpPr>
        <p:spPr>
          <a:xfrm>
            <a:off x="10019074" y="1002890"/>
            <a:ext cx="288000" cy="2753033"/>
          </a:xfrm>
          <a:custGeom>
            <a:avLst/>
            <a:gdLst>
              <a:gd name="csX0" fmla="*/ 108155 w 432619"/>
              <a:gd name="csY0" fmla="*/ 1958898 h 2753033"/>
              <a:gd name="csX1" fmla="*/ 324464 w 432619"/>
              <a:gd name="csY1" fmla="*/ 1958898 h 2753033"/>
              <a:gd name="csX2" fmla="*/ 324464 w 432619"/>
              <a:gd name="csY2" fmla="*/ 2536724 h 2753033"/>
              <a:gd name="csX3" fmla="*/ 432619 w 432619"/>
              <a:gd name="csY3" fmla="*/ 2536724 h 2753033"/>
              <a:gd name="csX4" fmla="*/ 216310 w 432619"/>
              <a:gd name="csY4" fmla="*/ 2753033 h 2753033"/>
              <a:gd name="csX5" fmla="*/ 0 w 432619"/>
              <a:gd name="csY5" fmla="*/ 2536724 h 2753033"/>
              <a:gd name="csX6" fmla="*/ 108155 w 432619"/>
              <a:gd name="csY6" fmla="*/ 2536724 h 2753033"/>
              <a:gd name="csX7" fmla="*/ 108155 w 432619"/>
              <a:gd name="csY7" fmla="*/ 1236226 h 2753033"/>
              <a:gd name="csX8" fmla="*/ 324464 w 432619"/>
              <a:gd name="csY8" fmla="*/ 1236226 h 2753033"/>
              <a:gd name="csX9" fmla="*/ 324464 w 432619"/>
              <a:gd name="csY9" fmla="*/ 1814898 h 2753033"/>
              <a:gd name="csX10" fmla="*/ 108155 w 432619"/>
              <a:gd name="csY10" fmla="*/ 1814898 h 2753033"/>
              <a:gd name="csX11" fmla="*/ 108155 w 432619"/>
              <a:gd name="csY11" fmla="*/ 513554 h 2753033"/>
              <a:gd name="csX12" fmla="*/ 324464 w 432619"/>
              <a:gd name="csY12" fmla="*/ 513554 h 2753033"/>
              <a:gd name="csX13" fmla="*/ 324464 w 432619"/>
              <a:gd name="csY13" fmla="*/ 1092226 h 2753033"/>
              <a:gd name="csX14" fmla="*/ 108155 w 432619"/>
              <a:gd name="csY14" fmla="*/ 1092226 h 2753033"/>
              <a:gd name="csX15" fmla="*/ 108155 w 432619"/>
              <a:gd name="csY15" fmla="*/ 0 h 2753033"/>
              <a:gd name="csX16" fmla="*/ 324464 w 432619"/>
              <a:gd name="csY16" fmla="*/ 0 h 2753033"/>
              <a:gd name="csX17" fmla="*/ 324464 w 432619"/>
              <a:gd name="csY17" fmla="*/ 369554 h 2753033"/>
              <a:gd name="csX18" fmla="*/ 108155 w 432619"/>
              <a:gd name="csY18" fmla="*/ 369554 h 27530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432619" h="2753033">
                <a:moveTo>
                  <a:pt x="108155" y="1958898"/>
                </a:moveTo>
                <a:lnTo>
                  <a:pt x="324464" y="1958898"/>
                </a:lnTo>
                <a:lnTo>
                  <a:pt x="324464" y="2536724"/>
                </a:lnTo>
                <a:lnTo>
                  <a:pt x="432619" y="2536724"/>
                </a:lnTo>
                <a:lnTo>
                  <a:pt x="216310" y="2753033"/>
                </a:lnTo>
                <a:lnTo>
                  <a:pt x="0" y="2536724"/>
                </a:lnTo>
                <a:lnTo>
                  <a:pt x="108155" y="2536724"/>
                </a:lnTo>
                <a:close/>
                <a:moveTo>
                  <a:pt x="108155" y="1236226"/>
                </a:moveTo>
                <a:lnTo>
                  <a:pt x="324464" y="1236226"/>
                </a:lnTo>
                <a:lnTo>
                  <a:pt x="324464" y="1814898"/>
                </a:lnTo>
                <a:lnTo>
                  <a:pt x="108155" y="1814898"/>
                </a:lnTo>
                <a:close/>
                <a:moveTo>
                  <a:pt x="108155" y="513554"/>
                </a:moveTo>
                <a:lnTo>
                  <a:pt x="324464" y="513554"/>
                </a:lnTo>
                <a:lnTo>
                  <a:pt x="324464" y="1092226"/>
                </a:lnTo>
                <a:lnTo>
                  <a:pt x="108155" y="1092226"/>
                </a:lnTo>
                <a:close/>
                <a:moveTo>
                  <a:pt x="108155" y="0"/>
                </a:moveTo>
                <a:lnTo>
                  <a:pt x="324464" y="0"/>
                </a:lnTo>
                <a:lnTo>
                  <a:pt x="324464" y="369554"/>
                </a:lnTo>
                <a:lnTo>
                  <a:pt x="108155" y="369554"/>
                </a:lnTo>
                <a:close/>
              </a:path>
            </a:pathLst>
          </a:custGeom>
          <a:gradFill>
            <a:gsLst>
              <a:gs pos="0">
                <a:schemeClr val="bg1"/>
              </a:gs>
              <a:gs pos="100000">
                <a:srgbClr val="00B0F0"/>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a:solidFill>
                <a:schemeClr val="tx1"/>
              </a:solidFill>
            </a:endParaRPr>
          </a:p>
        </p:txBody>
      </p:sp>
    </p:spTree>
    <p:extLst>
      <p:ext uri="{BB962C8B-B14F-4D97-AF65-F5344CB8AC3E}">
        <p14:creationId xmlns:p14="http://schemas.microsoft.com/office/powerpoint/2010/main" val="26185097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E651D-681C-95CC-AA2A-94E90959C39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245074E-5944-B1EC-6921-3B9D83B6396F}"/>
              </a:ext>
            </a:extLst>
          </p:cNvPr>
          <p:cNvSpPr>
            <a:spLocks noGrp="1"/>
          </p:cNvSpPr>
          <p:nvPr>
            <p:ph type="title"/>
          </p:nvPr>
        </p:nvSpPr>
        <p:spPr>
          <a:xfrm>
            <a:off x="792000" y="360000"/>
            <a:ext cx="6375921" cy="429413"/>
          </a:xfrm>
        </p:spPr>
        <p:txBody>
          <a:bodyPr/>
          <a:lstStyle/>
          <a:p>
            <a:pPr lvl="0"/>
            <a:r>
              <a:rPr lang="en-US" altLang="zh-CN"/>
              <a:t>2.6.4.3 </a:t>
            </a:r>
            <a:r>
              <a:rPr lang="zh-CN" altLang="en-US"/>
              <a:t>敏捷教练</a:t>
            </a:r>
          </a:p>
        </p:txBody>
      </p:sp>
      <p:sp>
        <p:nvSpPr>
          <p:cNvPr id="10" name="内容占位符 9">
            <a:extLst>
              <a:ext uri="{FF2B5EF4-FFF2-40B4-BE49-F238E27FC236}">
                <a16:creationId xmlns:a16="http://schemas.microsoft.com/office/drawing/2014/main" id="{65386F66-FA1F-F7C5-B9C1-9E9D1E13739A}"/>
              </a:ext>
            </a:extLst>
          </p:cNvPr>
          <p:cNvSpPr>
            <a:spLocks noGrp="1"/>
          </p:cNvSpPr>
          <p:nvPr>
            <p:ph idx="1"/>
          </p:nvPr>
        </p:nvSpPr>
        <p:spPr>
          <a:xfrm>
            <a:off x="696000" y="864000"/>
            <a:ext cx="10800000" cy="5400000"/>
          </a:xfrm>
        </p:spPr>
        <p:txBody>
          <a:bodyPr>
            <a:normAutofit/>
          </a:bodyPr>
          <a:lstStyle/>
          <a:p>
            <a:r>
              <a:rPr lang="zh-CN" altLang="en-US"/>
              <a:t>也称项目经理 </a:t>
            </a:r>
            <a:r>
              <a:rPr lang="en-US" altLang="zh-CN"/>
              <a:t>PM</a:t>
            </a:r>
          </a:p>
          <a:p>
            <a:r>
              <a:rPr lang="zh-CN" altLang="en-US"/>
              <a:t>真正的领导者：组建团队、主持冲刺会议、移除开发障碍</a:t>
            </a:r>
            <a:endParaRPr lang="en-US" altLang="zh-CN"/>
          </a:p>
          <a:p>
            <a:r>
              <a:rPr lang="zh-CN" altLang="en-US"/>
              <a:t>仆人式领导 </a:t>
            </a:r>
            <a:r>
              <a:rPr lang="en-US" altLang="zh-CN"/>
              <a:t>a servant-leader</a:t>
            </a:r>
          </a:p>
          <a:p>
            <a:r>
              <a:rPr lang="zh-CN" altLang="en-US"/>
              <a:t>促成者 </a:t>
            </a:r>
            <a:r>
              <a:rPr lang="en-US" altLang="zh-CN"/>
              <a:t> Facilitator</a:t>
            </a:r>
          </a:p>
          <a:p>
            <a:r>
              <a:rPr lang="zh-CN" altLang="en-US"/>
              <a:t>不是团队的保姆或超级英雄</a:t>
            </a:r>
            <a:endParaRPr lang="en-US" altLang="zh-CN"/>
          </a:p>
          <a:p>
            <a:endParaRPr lang="en-US" altLang="zh-CN"/>
          </a:p>
        </p:txBody>
      </p:sp>
      <p:sp>
        <p:nvSpPr>
          <p:cNvPr id="4" name="文本占位符 3">
            <a:extLst>
              <a:ext uri="{FF2B5EF4-FFF2-40B4-BE49-F238E27FC236}">
                <a16:creationId xmlns:a16="http://schemas.microsoft.com/office/drawing/2014/main" id="{4833106C-AF5E-BBE3-2C7D-0419CC791A7C}"/>
              </a:ext>
            </a:extLst>
          </p:cNvPr>
          <p:cNvSpPr>
            <a:spLocks noGrp="1"/>
          </p:cNvSpPr>
          <p:nvPr>
            <p:ph type="body" sz="quarter" idx="10"/>
          </p:nvPr>
        </p:nvSpPr>
        <p:spPr>
          <a:xfrm>
            <a:off x="7071919" y="448519"/>
            <a:ext cx="4424080" cy="338554"/>
          </a:xfrm>
        </p:spPr>
        <p:txBody>
          <a:bodyPr/>
          <a:lstStyle/>
          <a:p>
            <a:r>
              <a:rPr lang="en-US" altLang="zh-CN"/>
              <a:t>Scrum Master</a:t>
            </a:r>
            <a:endParaRPr lang="zh-CN" altLang="en-US"/>
          </a:p>
        </p:txBody>
      </p:sp>
    </p:spTree>
    <p:extLst>
      <p:ext uri="{BB962C8B-B14F-4D97-AF65-F5344CB8AC3E}">
        <p14:creationId xmlns:p14="http://schemas.microsoft.com/office/powerpoint/2010/main" val="192103642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0C7AC-06AD-1F4A-6176-71077B86B35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7B3003C-335C-A690-4BE8-4C698D3D014C}"/>
              </a:ext>
            </a:extLst>
          </p:cNvPr>
          <p:cNvSpPr>
            <a:spLocks noGrp="1"/>
          </p:cNvSpPr>
          <p:nvPr>
            <p:ph type="title"/>
          </p:nvPr>
        </p:nvSpPr>
        <p:spPr>
          <a:xfrm>
            <a:off x="792000" y="360000"/>
            <a:ext cx="6375921" cy="429413"/>
          </a:xfrm>
        </p:spPr>
        <p:txBody>
          <a:bodyPr/>
          <a:lstStyle/>
          <a:p>
            <a:pPr lvl="0"/>
            <a:r>
              <a:rPr lang="en-US" altLang="zh-CN"/>
              <a:t>2.6.4.3 </a:t>
            </a:r>
            <a:r>
              <a:rPr lang="zh-CN" altLang="en-US"/>
              <a:t>敏捷教练</a:t>
            </a:r>
          </a:p>
        </p:txBody>
      </p:sp>
      <p:sp>
        <p:nvSpPr>
          <p:cNvPr id="10" name="内容占位符 9">
            <a:extLst>
              <a:ext uri="{FF2B5EF4-FFF2-40B4-BE49-F238E27FC236}">
                <a16:creationId xmlns:a16="http://schemas.microsoft.com/office/drawing/2014/main" id="{43D3639D-E59D-B1A9-A568-E9BA05ABCE19}"/>
              </a:ext>
            </a:extLst>
          </p:cNvPr>
          <p:cNvSpPr>
            <a:spLocks noGrp="1"/>
          </p:cNvSpPr>
          <p:nvPr>
            <p:ph idx="1"/>
          </p:nvPr>
        </p:nvSpPr>
        <p:spPr>
          <a:xfrm>
            <a:off x="696000" y="864000"/>
            <a:ext cx="10800000" cy="5400000"/>
          </a:xfrm>
        </p:spPr>
        <p:txBody>
          <a:bodyPr>
            <a:normAutofit/>
          </a:bodyPr>
          <a:lstStyle/>
          <a:p>
            <a:r>
              <a:rPr lang="zh-CN" altLang="en-US"/>
              <a:t>作为教练在自管理和跨职能方面辅导团队成员</a:t>
            </a:r>
            <a:endParaRPr lang="en-US" altLang="zh-CN"/>
          </a:p>
          <a:p>
            <a:pPr lvl="1"/>
            <a:r>
              <a:rPr lang="en-US" altLang="zh-CN"/>
              <a:t>Coaching the team members in self-management and cross-functionality</a:t>
            </a:r>
          </a:p>
          <a:p>
            <a:r>
              <a:rPr lang="zh-CN" altLang="en-US"/>
              <a:t>帮助团队专注于创建符合 </a:t>
            </a:r>
            <a:r>
              <a:rPr lang="en-US" altLang="zh-CN"/>
              <a:t>DOD </a:t>
            </a:r>
            <a:r>
              <a:rPr lang="zh-CN" altLang="en-US"/>
              <a:t>的高价值增量</a:t>
            </a:r>
            <a:endParaRPr lang="en-US" altLang="zh-CN"/>
          </a:p>
          <a:p>
            <a:pPr lvl="1"/>
            <a:r>
              <a:rPr lang="en-US" altLang="zh-CN"/>
              <a:t>Helping the Scrum Team focus on creating high-value Increments that meet the Definition of Done</a:t>
            </a:r>
          </a:p>
          <a:p>
            <a:r>
              <a:rPr lang="zh-CN" altLang="en-US"/>
              <a:t>促使移除团队工作进展中的障碍</a:t>
            </a:r>
            <a:endParaRPr lang="en-US" altLang="zh-CN"/>
          </a:p>
          <a:p>
            <a:pPr lvl="1"/>
            <a:r>
              <a:rPr lang="en-US" altLang="zh-CN"/>
              <a:t>Causing the removal of impediments to the Scrum Team’s progress</a:t>
            </a:r>
          </a:p>
          <a:p>
            <a:r>
              <a:rPr lang="zh-CN" altLang="en-US"/>
              <a:t>确保所有 </a:t>
            </a:r>
            <a:r>
              <a:rPr lang="en-US" altLang="zh-CN"/>
              <a:t>Scrum </a:t>
            </a:r>
            <a:r>
              <a:rPr lang="zh-CN" altLang="en-US"/>
              <a:t>事件都发生并且是积极的、富有成效的，并在冲刺时间盒内完成</a:t>
            </a:r>
            <a:endParaRPr lang="en-US" altLang="zh-CN"/>
          </a:p>
          <a:p>
            <a:pPr lvl="1"/>
            <a:r>
              <a:rPr lang="en-US" altLang="zh-CN"/>
              <a:t>Ensuring that all Scrum events take place and are positive, productive, and kept within the timebox</a:t>
            </a:r>
          </a:p>
          <a:p>
            <a:endParaRPr lang="en-US" altLang="zh-CN"/>
          </a:p>
        </p:txBody>
      </p:sp>
      <p:sp>
        <p:nvSpPr>
          <p:cNvPr id="4" name="文本占位符 3">
            <a:extLst>
              <a:ext uri="{FF2B5EF4-FFF2-40B4-BE49-F238E27FC236}">
                <a16:creationId xmlns:a16="http://schemas.microsoft.com/office/drawing/2014/main" id="{961E455C-0C0F-AC1D-F9A9-42003591C9D4}"/>
              </a:ext>
            </a:extLst>
          </p:cNvPr>
          <p:cNvSpPr>
            <a:spLocks noGrp="1"/>
          </p:cNvSpPr>
          <p:nvPr>
            <p:ph type="body" sz="quarter" idx="10"/>
          </p:nvPr>
        </p:nvSpPr>
        <p:spPr>
          <a:xfrm>
            <a:off x="7071919" y="448519"/>
            <a:ext cx="4424080" cy="338554"/>
          </a:xfrm>
        </p:spPr>
        <p:txBody>
          <a:bodyPr/>
          <a:lstStyle/>
          <a:p>
            <a:r>
              <a:rPr lang="en-US" altLang="zh-CN"/>
              <a:t>Scrum Master</a:t>
            </a:r>
            <a:endParaRPr lang="zh-CN" altLang="en-US"/>
          </a:p>
        </p:txBody>
      </p:sp>
      <p:grpSp>
        <p:nvGrpSpPr>
          <p:cNvPr id="30" name="组合 29">
            <a:extLst>
              <a:ext uri="{FF2B5EF4-FFF2-40B4-BE49-F238E27FC236}">
                <a16:creationId xmlns:a16="http://schemas.microsoft.com/office/drawing/2014/main" id="{0D79EB0B-AD98-775E-5D98-5B4F6B8F0FE7}"/>
              </a:ext>
            </a:extLst>
          </p:cNvPr>
          <p:cNvGrpSpPr/>
          <p:nvPr/>
        </p:nvGrpSpPr>
        <p:grpSpPr>
          <a:xfrm>
            <a:off x="4296675" y="2674795"/>
            <a:ext cx="7200000" cy="1800000"/>
            <a:chOff x="3762968" y="4464275"/>
            <a:chExt cx="7200000" cy="1800000"/>
          </a:xfrm>
        </p:grpSpPr>
        <p:cxnSp>
          <p:nvCxnSpPr>
            <p:cNvPr id="28" name="直接连接符 27">
              <a:extLst>
                <a:ext uri="{FF2B5EF4-FFF2-40B4-BE49-F238E27FC236}">
                  <a16:creationId xmlns:a16="http://schemas.microsoft.com/office/drawing/2014/main" id="{24365109-72C5-285D-E0BA-E5C6D3937364}"/>
                </a:ext>
              </a:extLst>
            </p:cNvPr>
            <p:cNvCxnSpPr>
              <a:cxnSpLocks/>
            </p:cNvCxnSpPr>
            <p:nvPr/>
          </p:nvCxnSpPr>
          <p:spPr>
            <a:xfrm>
              <a:off x="10962968" y="4464275"/>
              <a:ext cx="0" cy="1800000"/>
            </a:xfrm>
            <a:prstGeom prst="line">
              <a:avLst/>
            </a:prstGeom>
            <a:ln w="38100">
              <a:solidFill>
                <a:schemeClr val="accent2"/>
              </a:solidFill>
              <a:tailEnd type="none"/>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B8ACD2F3-6B03-D90F-9F6B-927A5D8107E4}"/>
                </a:ext>
              </a:extLst>
            </p:cNvPr>
            <p:cNvCxnSpPr>
              <a:cxnSpLocks/>
            </p:cNvCxnSpPr>
            <p:nvPr/>
          </p:nvCxnSpPr>
          <p:spPr>
            <a:xfrm rot="16200000">
              <a:off x="7362968" y="2664274"/>
              <a:ext cx="0" cy="7200000"/>
            </a:xfrm>
            <a:prstGeom prst="line">
              <a:avLst/>
            </a:prstGeom>
            <a:ln w="38100">
              <a:solidFill>
                <a:schemeClr val="accent2"/>
              </a:solidFill>
              <a:tailEnd type="none"/>
            </a:ln>
          </p:spPr>
          <p:style>
            <a:lnRef idx="1">
              <a:schemeClr val="accent1"/>
            </a:lnRef>
            <a:fillRef idx="0">
              <a:schemeClr val="accent1"/>
            </a:fillRef>
            <a:effectRef idx="0">
              <a:schemeClr val="accent1"/>
            </a:effectRef>
            <a:fontRef idx="minor">
              <a:schemeClr val="tx1"/>
            </a:fontRef>
          </p:style>
        </p:cxnSp>
      </p:grpSp>
      <p:sp>
        <p:nvSpPr>
          <p:cNvPr id="31" name="文本框 30">
            <a:extLst>
              <a:ext uri="{FF2B5EF4-FFF2-40B4-BE49-F238E27FC236}">
                <a16:creationId xmlns:a16="http://schemas.microsoft.com/office/drawing/2014/main" id="{4A3E557D-AE5B-49AE-BAAE-E170332F0B53}"/>
              </a:ext>
            </a:extLst>
          </p:cNvPr>
          <p:cNvSpPr txBox="1"/>
          <p:nvPr/>
        </p:nvSpPr>
        <p:spPr>
          <a:xfrm>
            <a:off x="9267329" y="4522834"/>
            <a:ext cx="2337498" cy="369332"/>
          </a:xfrm>
          <a:prstGeom prst="rect">
            <a:avLst/>
          </a:prstGeom>
          <a:noFill/>
        </p:spPr>
        <p:txBody>
          <a:bodyPr wrap="none" rtlCol="0">
            <a:spAutoFit/>
          </a:bodyPr>
          <a:lstStyle/>
          <a:p>
            <a:pPr algn="r"/>
            <a:r>
              <a:rPr lang="en-US" altLang="zh-CN"/>
              <a:t>- </a:t>
            </a:r>
            <a:r>
              <a:rPr lang="zh-CN" altLang="en-US"/>
              <a:t>服务 </a:t>
            </a:r>
            <a:r>
              <a:rPr lang="en-US" altLang="zh-CN"/>
              <a:t>Scrum Team</a:t>
            </a:r>
            <a:endParaRPr lang="zh-CN" altLang="en-US"/>
          </a:p>
        </p:txBody>
      </p:sp>
    </p:spTree>
    <p:extLst>
      <p:ext uri="{BB962C8B-B14F-4D97-AF65-F5344CB8AC3E}">
        <p14:creationId xmlns:p14="http://schemas.microsoft.com/office/powerpoint/2010/main" val="260375073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E651D-681C-95CC-AA2A-94E90959C39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245074E-5944-B1EC-6921-3B9D83B6396F}"/>
              </a:ext>
            </a:extLst>
          </p:cNvPr>
          <p:cNvSpPr>
            <a:spLocks noGrp="1"/>
          </p:cNvSpPr>
          <p:nvPr>
            <p:ph type="title"/>
          </p:nvPr>
        </p:nvSpPr>
        <p:spPr>
          <a:xfrm>
            <a:off x="792000" y="360000"/>
            <a:ext cx="6375921" cy="429413"/>
          </a:xfrm>
        </p:spPr>
        <p:txBody>
          <a:bodyPr/>
          <a:lstStyle/>
          <a:p>
            <a:pPr lvl="0"/>
            <a:r>
              <a:rPr lang="en-US" altLang="zh-CN"/>
              <a:t>2.6.4.3 </a:t>
            </a:r>
            <a:r>
              <a:rPr lang="zh-CN" altLang="en-US"/>
              <a:t>敏捷教练</a:t>
            </a:r>
          </a:p>
        </p:txBody>
      </p:sp>
      <p:sp>
        <p:nvSpPr>
          <p:cNvPr id="10" name="内容占位符 9">
            <a:extLst>
              <a:ext uri="{FF2B5EF4-FFF2-40B4-BE49-F238E27FC236}">
                <a16:creationId xmlns:a16="http://schemas.microsoft.com/office/drawing/2014/main" id="{65386F66-FA1F-F7C5-B9C1-9E9D1E13739A}"/>
              </a:ext>
            </a:extLst>
          </p:cNvPr>
          <p:cNvSpPr>
            <a:spLocks noGrp="1"/>
          </p:cNvSpPr>
          <p:nvPr>
            <p:ph idx="1"/>
          </p:nvPr>
        </p:nvSpPr>
        <p:spPr>
          <a:xfrm>
            <a:off x="696000" y="864000"/>
            <a:ext cx="10800000" cy="5400000"/>
          </a:xfrm>
        </p:spPr>
        <p:txBody>
          <a:bodyPr>
            <a:normAutofit/>
          </a:bodyPr>
          <a:lstStyle/>
          <a:p>
            <a:r>
              <a:rPr lang="zh-CN" altLang="en-US"/>
              <a:t>帮助找到有效定义产品目标和管理产品代办事项的技巧</a:t>
            </a:r>
            <a:endParaRPr lang="en-US" altLang="zh-CN"/>
          </a:p>
          <a:p>
            <a:pPr lvl="1"/>
            <a:r>
              <a:rPr lang="en-US" altLang="zh-CN"/>
              <a:t>Helping find techniques for effective Product Goal definition and Product Backlog management	</a:t>
            </a:r>
          </a:p>
          <a:p>
            <a:r>
              <a:rPr lang="zh-CN" altLang="en-US"/>
              <a:t>帮助团队理解为何需要清晰且简明的产品代办事项</a:t>
            </a:r>
            <a:endParaRPr lang="en-US" altLang="zh-CN"/>
          </a:p>
          <a:p>
            <a:pPr lvl="1"/>
            <a:r>
              <a:rPr lang="en-US" altLang="zh-CN"/>
              <a:t>Helping the Scrum Team understand the need for clear and concise Product Backlog items</a:t>
            </a:r>
          </a:p>
          <a:p>
            <a:r>
              <a:rPr lang="zh-CN" altLang="en-US"/>
              <a:t>帮助建立针对复杂环境的基于经验主义的产品规划</a:t>
            </a:r>
            <a:endParaRPr lang="en-US" altLang="zh-CN"/>
          </a:p>
          <a:p>
            <a:pPr lvl="1"/>
            <a:r>
              <a:rPr lang="en-US" altLang="zh-CN"/>
              <a:t>Helping establish empirical product planning for a complex environment</a:t>
            </a:r>
          </a:p>
          <a:p>
            <a:r>
              <a:rPr lang="zh-CN" altLang="en-US"/>
              <a:t>当需要或被要求时，引导干系人之间的协作</a:t>
            </a:r>
            <a:endParaRPr lang="en-US" altLang="zh-CN"/>
          </a:p>
          <a:p>
            <a:pPr lvl="1"/>
            <a:r>
              <a:rPr lang="en-US" altLang="zh-CN"/>
              <a:t>Facilitating stakeholder collaboration as requested or needed</a:t>
            </a:r>
          </a:p>
        </p:txBody>
      </p:sp>
      <p:sp>
        <p:nvSpPr>
          <p:cNvPr id="4" name="文本占位符 3">
            <a:extLst>
              <a:ext uri="{FF2B5EF4-FFF2-40B4-BE49-F238E27FC236}">
                <a16:creationId xmlns:a16="http://schemas.microsoft.com/office/drawing/2014/main" id="{4833106C-AF5E-BBE3-2C7D-0419CC791A7C}"/>
              </a:ext>
            </a:extLst>
          </p:cNvPr>
          <p:cNvSpPr>
            <a:spLocks noGrp="1"/>
          </p:cNvSpPr>
          <p:nvPr>
            <p:ph type="body" sz="quarter" idx="10"/>
          </p:nvPr>
        </p:nvSpPr>
        <p:spPr>
          <a:xfrm>
            <a:off x="7071919" y="448519"/>
            <a:ext cx="4424080" cy="338554"/>
          </a:xfrm>
        </p:spPr>
        <p:txBody>
          <a:bodyPr/>
          <a:lstStyle/>
          <a:p>
            <a:r>
              <a:rPr lang="en-US" altLang="zh-CN"/>
              <a:t>Scrum Master</a:t>
            </a:r>
            <a:endParaRPr lang="zh-CN" altLang="en-US"/>
          </a:p>
        </p:txBody>
      </p:sp>
      <p:grpSp>
        <p:nvGrpSpPr>
          <p:cNvPr id="30" name="组合 29">
            <a:extLst>
              <a:ext uri="{FF2B5EF4-FFF2-40B4-BE49-F238E27FC236}">
                <a16:creationId xmlns:a16="http://schemas.microsoft.com/office/drawing/2014/main" id="{A08FED0D-961D-99B7-2596-72AA0832C0DB}"/>
              </a:ext>
            </a:extLst>
          </p:cNvPr>
          <p:cNvGrpSpPr/>
          <p:nvPr/>
        </p:nvGrpSpPr>
        <p:grpSpPr>
          <a:xfrm>
            <a:off x="4296675" y="2674795"/>
            <a:ext cx="7200000" cy="1800000"/>
            <a:chOff x="3762968" y="4464275"/>
            <a:chExt cx="7200000" cy="1800000"/>
          </a:xfrm>
        </p:grpSpPr>
        <p:cxnSp>
          <p:nvCxnSpPr>
            <p:cNvPr id="28" name="直接连接符 27">
              <a:extLst>
                <a:ext uri="{FF2B5EF4-FFF2-40B4-BE49-F238E27FC236}">
                  <a16:creationId xmlns:a16="http://schemas.microsoft.com/office/drawing/2014/main" id="{AB7936BF-DBEC-7B56-2DAB-75A460596AA9}"/>
                </a:ext>
              </a:extLst>
            </p:cNvPr>
            <p:cNvCxnSpPr>
              <a:cxnSpLocks/>
            </p:cNvCxnSpPr>
            <p:nvPr/>
          </p:nvCxnSpPr>
          <p:spPr>
            <a:xfrm>
              <a:off x="10962968" y="4464275"/>
              <a:ext cx="0" cy="1800000"/>
            </a:xfrm>
            <a:prstGeom prst="line">
              <a:avLst/>
            </a:prstGeom>
            <a:ln w="38100">
              <a:solidFill>
                <a:schemeClr val="accent2"/>
              </a:solidFill>
              <a:tailEnd type="none"/>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50C5BDC0-D85C-1765-1EDC-D8177B088458}"/>
                </a:ext>
              </a:extLst>
            </p:cNvPr>
            <p:cNvCxnSpPr>
              <a:cxnSpLocks/>
            </p:cNvCxnSpPr>
            <p:nvPr/>
          </p:nvCxnSpPr>
          <p:spPr>
            <a:xfrm rot="16200000">
              <a:off x="7362968" y="2664274"/>
              <a:ext cx="0" cy="7200000"/>
            </a:xfrm>
            <a:prstGeom prst="line">
              <a:avLst/>
            </a:prstGeom>
            <a:ln w="38100">
              <a:solidFill>
                <a:schemeClr val="accent2"/>
              </a:solidFill>
              <a:tailEnd type="none"/>
            </a:ln>
          </p:spPr>
          <p:style>
            <a:lnRef idx="1">
              <a:schemeClr val="accent1"/>
            </a:lnRef>
            <a:fillRef idx="0">
              <a:schemeClr val="accent1"/>
            </a:fillRef>
            <a:effectRef idx="0">
              <a:schemeClr val="accent1"/>
            </a:effectRef>
            <a:fontRef idx="minor">
              <a:schemeClr val="tx1"/>
            </a:fontRef>
          </p:style>
        </p:cxnSp>
      </p:grpSp>
      <p:sp>
        <p:nvSpPr>
          <p:cNvPr id="31" name="文本框 30">
            <a:extLst>
              <a:ext uri="{FF2B5EF4-FFF2-40B4-BE49-F238E27FC236}">
                <a16:creationId xmlns:a16="http://schemas.microsoft.com/office/drawing/2014/main" id="{BD2330D7-5518-07C1-52CB-46F1FFE3CE37}"/>
              </a:ext>
            </a:extLst>
          </p:cNvPr>
          <p:cNvSpPr txBox="1"/>
          <p:nvPr/>
        </p:nvSpPr>
        <p:spPr>
          <a:xfrm>
            <a:off x="8964361" y="4522834"/>
            <a:ext cx="2640466" cy="369332"/>
          </a:xfrm>
          <a:prstGeom prst="rect">
            <a:avLst/>
          </a:prstGeom>
          <a:noFill/>
        </p:spPr>
        <p:txBody>
          <a:bodyPr wrap="none" rtlCol="0">
            <a:spAutoFit/>
          </a:bodyPr>
          <a:lstStyle/>
          <a:p>
            <a:pPr algn="r"/>
            <a:r>
              <a:rPr lang="en-US" altLang="zh-CN" dirty="0"/>
              <a:t>- </a:t>
            </a:r>
            <a:r>
              <a:rPr lang="zh-CN" altLang="en-US"/>
              <a:t>服务 </a:t>
            </a:r>
            <a:r>
              <a:rPr lang="en-US" altLang="zh-CN" dirty="0"/>
              <a:t>Product Owner</a:t>
            </a:r>
            <a:endParaRPr lang="zh-CN" altLang="en-US" dirty="0"/>
          </a:p>
        </p:txBody>
      </p:sp>
    </p:spTree>
    <p:extLst>
      <p:ext uri="{BB962C8B-B14F-4D97-AF65-F5344CB8AC3E}">
        <p14:creationId xmlns:p14="http://schemas.microsoft.com/office/powerpoint/2010/main" val="95926712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E651D-681C-95CC-AA2A-94E90959C39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245074E-5944-B1EC-6921-3B9D83B6396F}"/>
              </a:ext>
            </a:extLst>
          </p:cNvPr>
          <p:cNvSpPr>
            <a:spLocks noGrp="1"/>
          </p:cNvSpPr>
          <p:nvPr>
            <p:ph type="title"/>
          </p:nvPr>
        </p:nvSpPr>
        <p:spPr>
          <a:xfrm>
            <a:off x="792000" y="360000"/>
            <a:ext cx="6375921" cy="429413"/>
          </a:xfrm>
        </p:spPr>
        <p:txBody>
          <a:bodyPr/>
          <a:lstStyle/>
          <a:p>
            <a:pPr lvl="0"/>
            <a:r>
              <a:rPr lang="en-US" altLang="zh-CN"/>
              <a:t>2.6.4.3 </a:t>
            </a:r>
            <a:r>
              <a:rPr lang="zh-CN" altLang="en-US"/>
              <a:t>敏捷教练</a:t>
            </a:r>
          </a:p>
        </p:txBody>
      </p:sp>
      <p:sp>
        <p:nvSpPr>
          <p:cNvPr id="10" name="内容占位符 9">
            <a:extLst>
              <a:ext uri="{FF2B5EF4-FFF2-40B4-BE49-F238E27FC236}">
                <a16:creationId xmlns:a16="http://schemas.microsoft.com/office/drawing/2014/main" id="{65386F66-FA1F-F7C5-B9C1-9E9D1E13739A}"/>
              </a:ext>
            </a:extLst>
          </p:cNvPr>
          <p:cNvSpPr>
            <a:spLocks noGrp="1"/>
          </p:cNvSpPr>
          <p:nvPr>
            <p:ph idx="1"/>
          </p:nvPr>
        </p:nvSpPr>
        <p:spPr>
          <a:xfrm>
            <a:off x="696000" y="864000"/>
            <a:ext cx="10800000" cy="5400000"/>
          </a:xfrm>
        </p:spPr>
        <p:txBody>
          <a:bodyPr>
            <a:normAutofit/>
          </a:bodyPr>
          <a:lstStyle/>
          <a:p>
            <a:r>
              <a:rPr lang="zh-CN" altLang="en-US" dirty="0"/>
              <a:t>带领、培训和作为教练辅导组织采纳 </a:t>
            </a:r>
            <a:r>
              <a:rPr lang="en-US" altLang="zh-CN" dirty="0"/>
              <a:t>Scrum </a:t>
            </a:r>
          </a:p>
          <a:p>
            <a:pPr lvl="1"/>
            <a:r>
              <a:rPr lang="en-US" altLang="zh-CN" dirty="0"/>
              <a:t>Leading, training, and coaching the organization in its Scrum adoption</a:t>
            </a:r>
          </a:p>
          <a:p>
            <a:r>
              <a:rPr lang="zh-CN" altLang="en-US" dirty="0"/>
              <a:t>在组织范围内规划并建议 </a:t>
            </a:r>
            <a:r>
              <a:rPr lang="en-US" altLang="zh-CN" dirty="0"/>
              <a:t>Scrum </a:t>
            </a:r>
            <a:r>
              <a:rPr lang="zh-CN" altLang="en-US" dirty="0"/>
              <a:t>的实施</a:t>
            </a:r>
            <a:endParaRPr lang="en-US" altLang="zh-CN" dirty="0"/>
          </a:p>
          <a:p>
            <a:pPr lvl="1"/>
            <a:r>
              <a:rPr lang="en-US" altLang="zh-CN" dirty="0"/>
              <a:t>Planning and advising Scrum implementations within the organization</a:t>
            </a:r>
          </a:p>
          <a:p>
            <a:r>
              <a:rPr lang="zh-CN" altLang="en-US" dirty="0"/>
              <a:t>帮助员工和干系人理解并实施针对复杂工作的经验主义方法</a:t>
            </a:r>
            <a:endParaRPr lang="en-US" altLang="zh-CN" dirty="0"/>
          </a:p>
          <a:p>
            <a:pPr lvl="1"/>
            <a:r>
              <a:rPr lang="en-US" altLang="zh-CN" dirty="0"/>
              <a:t>Helping employees and stakeholders understand and enact an empirical approach for complex work</a:t>
            </a:r>
          </a:p>
          <a:p>
            <a:r>
              <a:rPr lang="zh-CN" altLang="en-US" dirty="0"/>
              <a:t>消除干系人和团队之间的隔阂</a:t>
            </a:r>
            <a:endParaRPr lang="en-US" altLang="zh-CN" dirty="0"/>
          </a:p>
          <a:p>
            <a:pPr lvl="1"/>
            <a:r>
              <a:rPr lang="en-US" altLang="zh-CN" dirty="0"/>
              <a:t>Removing barriers between stakeholders and Scrum Teams</a:t>
            </a:r>
          </a:p>
        </p:txBody>
      </p:sp>
      <p:sp>
        <p:nvSpPr>
          <p:cNvPr id="4" name="文本占位符 3">
            <a:extLst>
              <a:ext uri="{FF2B5EF4-FFF2-40B4-BE49-F238E27FC236}">
                <a16:creationId xmlns:a16="http://schemas.microsoft.com/office/drawing/2014/main" id="{4833106C-AF5E-BBE3-2C7D-0419CC791A7C}"/>
              </a:ext>
            </a:extLst>
          </p:cNvPr>
          <p:cNvSpPr>
            <a:spLocks noGrp="1"/>
          </p:cNvSpPr>
          <p:nvPr>
            <p:ph type="body" sz="quarter" idx="10"/>
          </p:nvPr>
        </p:nvSpPr>
        <p:spPr>
          <a:xfrm>
            <a:off x="7071919" y="448519"/>
            <a:ext cx="4424080" cy="338554"/>
          </a:xfrm>
        </p:spPr>
        <p:txBody>
          <a:bodyPr/>
          <a:lstStyle/>
          <a:p>
            <a:r>
              <a:rPr lang="en-US" altLang="zh-CN"/>
              <a:t>Scrum Master</a:t>
            </a:r>
            <a:endParaRPr lang="zh-CN" altLang="en-US"/>
          </a:p>
        </p:txBody>
      </p:sp>
      <p:grpSp>
        <p:nvGrpSpPr>
          <p:cNvPr id="30" name="组合 29">
            <a:extLst>
              <a:ext uri="{FF2B5EF4-FFF2-40B4-BE49-F238E27FC236}">
                <a16:creationId xmlns:a16="http://schemas.microsoft.com/office/drawing/2014/main" id="{A08FED0D-961D-99B7-2596-72AA0832C0DB}"/>
              </a:ext>
            </a:extLst>
          </p:cNvPr>
          <p:cNvGrpSpPr/>
          <p:nvPr/>
        </p:nvGrpSpPr>
        <p:grpSpPr>
          <a:xfrm>
            <a:off x="4296675" y="2674795"/>
            <a:ext cx="7200000" cy="1800000"/>
            <a:chOff x="3762968" y="4464275"/>
            <a:chExt cx="7200000" cy="1800000"/>
          </a:xfrm>
        </p:grpSpPr>
        <p:cxnSp>
          <p:nvCxnSpPr>
            <p:cNvPr id="28" name="直接连接符 27">
              <a:extLst>
                <a:ext uri="{FF2B5EF4-FFF2-40B4-BE49-F238E27FC236}">
                  <a16:creationId xmlns:a16="http://schemas.microsoft.com/office/drawing/2014/main" id="{AB7936BF-DBEC-7B56-2DAB-75A460596AA9}"/>
                </a:ext>
              </a:extLst>
            </p:cNvPr>
            <p:cNvCxnSpPr>
              <a:cxnSpLocks/>
            </p:cNvCxnSpPr>
            <p:nvPr/>
          </p:nvCxnSpPr>
          <p:spPr>
            <a:xfrm>
              <a:off x="10962968" y="4464275"/>
              <a:ext cx="0" cy="1800000"/>
            </a:xfrm>
            <a:prstGeom prst="line">
              <a:avLst/>
            </a:prstGeom>
            <a:ln w="38100">
              <a:solidFill>
                <a:schemeClr val="accent2"/>
              </a:solidFill>
              <a:tailEnd type="none"/>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50C5BDC0-D85C-1765-1EDC-D8177B088458}"/>
                </a:ext>
              </a:extLst>
            </p:cNvPr>
            <p:cNvCxnSpPr>
              <a:cxnSpLocks/>
            </p:cNvCxnSpPr>
            <p:nvPr/>
          </p:nvCxnSpPr>
          <p:spPr>
            <a:xfrm rot="16200000">
              <a:off x="7362968" y="2664274"/>
              <a:ext cx="0" cy="7200000"/>
            </a:xfrm>
            <a:prstGeom prst="line">
              <a:avLst/>
            </a:prstGeom>
            <a:ln w="38100">
              <a:solidFill>
                <a:schemeClr val="accent2"/>
              </a:solidFill>
              <a:tailEnd type="none"/>
            </a:ln>
          </p:spPr>
          <p:style>
            <a:lnRef idx="1">
              <a:schemeClr val="accent1"/>
            </a:lnRef>
            <a:fillRef idx="0">
              <a:schemeClr val="accent1"/>
            </a:fillRef>
            <a:effectRef idx="0">
              <a:schemeClr val="accent1"/>
            </a:effectRef>
            <a:fontRef idx="minor">
              <a:schemeClr val="tx1"/>
            </a:fontRef>
          </p:style>
        </p:cxnSp>
      </p:grpSp>
      <p:sp>
        <p:nvSpPr>
          <p:cNvPr id="31" name="文本框 30">
            <a:extLst>
              <a:ext uri="{FF2B5EF4-FFF2-40B4-BE49-F238E27FC236}">
                <a16:creationId xmlns:a16="http://schemas.microsoft.com/office/drawing/2014/main" id="{BD2330D7-5518-07C1-52CB-46F1FFE3CE37}"/>
              </a:ext>
            </a:extLst>
          </p:cNvPr>
          <p:cNvSpPr txBox="1"/>
          <p:nvPr/>
        </p:nvSpPr>
        <p:spPr>
          <a:xfrm>
            <a:off x="9288167" y="4522834"/>
            <a:ext cx="2316660" cy="369332"/>
          </a:xfrm>
          <a:prstGeom prst="rect">
            <a:avLst/>
          </a:prstGeom>
          <a:noFill/>
        </p:spPr>
        <p:txBody>
          <a:bodyPr wrap="none" rtlCol="0">
            <a:spAutoFit/>
          </a:bodyPr>
          <a:lstStyle/>
          <a:p>
            <a:pPr algn="r"/>
            <a:r>
              <a:rPr lang="en-US" altLang="zh-CN" dirty="0"/>
              <a:t>- </a:t>
            </a:r>
            <a:r>
              <a:rPr lang="zh-CN" altLang="en-US"/>
              <a:t>服务 </a:t>
            </a:r>
            <a:r>
              <a:rPr lang="en-US" altLang="zh-CN" dirty="0"/>
              <a:t>organization</a:t>
            </a:r>
            <a:endParaRPr lang="zh-CN" altLang="en-US" dirty="0"/>
          </a:p>
        </p:txBody>
      </p:sp>
    </p:spTree>
    <p:extLst>
      <p:ext uri="{BB962C8B-B14F-4D97-AF65-F5344CB8AC3E}">
        <p14:creationId xmlns:p14="http://schemas.microsoft.com/office/powerpoint/2010/main" val="65484094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116BFEF-FC7D-0BB1-8D19-2FAF78636823}"/>
              </a:ext>
            </a:extLst>
          </p:cNvPr>
          <p:cNvSpPr txBox="1"/>
          <p:nvPr/>
        </p:nvSpPr>
        <p:spPr>
          <a:xfrm>
            <a:off x="3866864" y="3136612"/>
            <a:ext cx="4458272" cy="584775"/>
          </a:xfrm>
          <a:prstGeom prst="rect">
            <a:avLst/>
          </a:prstGeom>
          <a:noFill/>
        </p:spPr>
        <p:txBody>
          <a:bodyPr wrap="none" rtlCol="0">
            <a:spAutoFit/>
          </a:bodyPr>
          <a:lstStyle/>
          <a:p>
            <a:pPr algn="l"/>
            <a:r>
              <a:rPr lang="en-US" altLang="zh-CN" sz="1600" dirty="0"/>
              <a:t>PO</a:t>
            </a:r>
            <a:r>
              <a:rPr lang="zh-CN" altLang="en-US" sz="1600" dirty="0"/>
              <a:t>：只对产品的“内容”和“价值”负责。</a:t>
            </a:r>
          </a:p>
          <a:p>
            <a:pPr algn="l"/>
            <a:r>
              <a:rPr lang="en-US" altLang="zh-CN" sz="1600" dirty="0"/>
              <a:t>PM</a:t>
            </a:r>
            <a:r>
              <a:rPr lang="zh-CN" altLang="en-US" sz="1600" dirty="0"/>
              <a:t>：只对项目的“进度”、“资源”和“流程”负责。</a:t>
            </a:r>
          </a:p>
        </p:txBody>
      </p:sp>
    </p:spTree>
    <p:extLst>
      <p:ext uri="{BB962C8B-B14F-4D97-AF65-F5344CB8AC3E}">
        <p14:creationId xmlns:p14="http://schemas.microsoft.com/office/powerpoint/2010/main" val="235466406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96989-B986-52F1-0720-B7405EED1BF9}"/>
            </a:ext>
          </a:extLst>
        </p:cNvPr>
        <p:cNvGrpSpPr/>
        <p:nvPr/>
      </p:nvGrpSpPr>
      <p:grpSpPr>
        <a:xfrm>
          <a:off x="0" y="0"/>
          <a:ext cx="0" cy="0"/>
          <a:chOff x="0" y="0"/>
          <a:chExt cx="0" cy="0"/>
        </a:xfrm>
      </p:grpSpPr>
      <p:sp>
        <p:nvSpPr>
          <p:cNvPr id="35" name="Arrow: Right 34">
            <a:extLst>
              <a:ext uri="{FF2B5EF4-FFF2-40B4-BE49-F238E27FC236}">
                <a16:creationId xmlns:a16="http://schemas.microsoft.com/office/drawing/2014/main" id="{830A5471-117D-6C62-DF00-D75E00BF02E9}"/>
              </a:ext>
            </a:extLst>
          </p:cNvPr>
          <p:cNvSpPr/>
          <p:nvPr/>
        </p:nvSpPr>
        <p:spPr>
          <a:xfrm>
            <a:off x="461913" y="3817636"/>
            <a:ext cx="10800000" cy="72000"/>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B951D5FC-6727-0785-1A7A-64A25564BEA8}"/>
              </a:ext>
            </a:extLst>
          </p:cNvPr>
          <p:cNvSpPr txBox="1"/>
          <p:nvPr/>
        </p:nvSpPr>
        <p:spPr>
          <a:xfrm>
            <a:off x="2377238" y="3175437"/>
            <a:ext cx="1189749" cy="646331"/>
          </a:xfrm>
          <a:prstGeom prst="rect">
            <a:avLst/>
          </a:prstGeom>
          <a:noFill/>
        </p:spPr>
        <p:txBody>
          <a:bodyPr wrap="none" rtlCol="0">
            <a:spAutoFit/>
          </a:bodyPr>
          <a:lstStyle/>
          <a:p>
            <a:r>
              <a:rPr lang="zh-CN" altLang="en-US"/>
              <a:t>形成</a:t>
            </a:r>
            <a:endParaRPr lang="en-US" altLang="zh-CN"/>
          </a:p>
          <a:p>
            <a:r>
              <a:rPr lang="en-US" altLang="zh-CN"/>
              <a:t>Forming</a:t>
            </a:r>
            <a:endParaRPr lang="zh-CN" altLang="en-US"/>
          </a:p>
        </p:txBody>
      </p:sp>
      <p:sp>
        <p:nvSpPr>
          <p:cNvPr id="8" name="文本框 7">
            <a:extLst>
              <a:ext uri="{FF2B5EF4-FFF2-40B4-BE49-F238E27FC236}">
                <a16:creationId xmlns:a16="http://schemas.microsoft.com/office/drawing/2014/main" id="{1DB84078-9392-CEAC-1DC1-79A9C4AC5BAE}"/>
              </a:ext>
            </a:extLst>
          </p:cNvPr>
          <p:cNvSpPr txBox="1"/>
          <p:nvPr/>
        </p:nvSpPr>
        <p:spPr>
          <a:xfrm>
            <a:off x="2377238" y="3885505"/>
            <a:ext cx="1114408" cy="646331"/>
          </a:xfrm>
          <a:prstGeom prst="rect">
            <a:avLst/>
          </a:prstGeom>
          <a:noFill/>
        </p:spPr>
        <p:txBody>
          <a:bodyPr wrap="none" rtlCol="0">
            <a:spAutoFit/>
          </a:bodyPr>
          <a:lstStyle/>
          <a:p>
            <a:r>
              <a:rPr lang="zh-CN" altLang="en-US"/>
              <a:t>指导</a:t>
            </a:r>
            <a:endParaRPr lang="en-US" altLang="zh-CN"/>
          </a:p>
          <a:p>
            <a:r>
              <a:rPr lang="en-US" altLang="zh-CN"/>
              <a:t>Guiding</a:t>
            </a:r>
            <a:endParaRPr lang="zh-CN" altLang="en-US"/>
          </a:p>
        </p:txBody>
      </p:sp>
      <p:sp>
        <p:nvSpPr>
          <p:cNvPr id="13" name="文本框 12">
            <a:extLst>
              <a:ext uri="{FF2B5EF4-FFF2-40B4-BE49-F238E27FC236}">
                <a16:creationId xmlns:a16="http://schemas.microsoft.com/office/drawing/2014/main" id="{204911E3-1783-5E2A-B2C1-7D684A13AAB5}"/>
              </a:ext>
            </a:extLst>
          </p:cNvPr>
          <p:cNvSpPr txBox="1"/>
          <p:nvPr/>
        </p:nvSpPr>
        <p:spPr>
          <a:xfrm>
            <a:off x="4120789" y="3175437"/>
            <a:ext cx="1279517" cy="646331"/>
          </a:xfrm>
          <a:prstGeom prst="rect">
            <a:avLst/>
          </a:prstGeom>
          <a:noFill/>
        </p:spPr>
        <p:txBody>
          <a:bodyPr wrap="none" rtlCol="0">
            <a:spAutoFit/>
          </a:bodyPr>
          <a:lstStyle/>
          <a:p>
            <a:r>
              <a:rPr lang="zh-CN" altLang="en-US"/>
              <a:t>震荡</a:t>
            </a:r>
            <a:endParaRPr lang="en-US" altLang="zh-CN"/>
          </a:p>
          <a:p>
            <a:r>
              <a:rPr lang="en-US" altLang="zh-CN"/>
              <a:t>Storming</a:t>
            </a:r>
            <a:endParaRPr lang="zh-CN" altLang="en-US"/>
          </a:p>
        </p:txBody>
      </p:sp>
      <p:sp>
        <p:nvSpPr>
          <p:cNvPr id="14" name="文本框 13">
            <a:extLst>
              <a:ext uri="{FF2B5EF4-FFF2-40B4-BE49-F238E27FC236}">
                <a16:creationId xmlns:a16="http://schemas.microsoft.com/office/drawing/2014/main" id="{56DB0103-73F7-5CB0-6DF5-D6B269CF630C}"/>
              </a:ext>
            </a:extLst>
          </p:cNvPr>
          <p:cNvSpPr txBox="1"/>
          <p:nvPr/>
        </p:nvSpPr>
        <p:spPr>
          <a:xfrm>
            <a:off x="4120789" y="3885505"/>
            <a:ext cx="1293944" cy="646331"/>
          </a:xfrm>
          <a:prstGeom prst="rect">
            <a:avLst/>
          </a:prstGeom>
          <a:noFill/>
        </p:spPr>
        <p:txBody>
          <a:bodyPr wrap="none" rtlCol="0">
            <a:spAutoFit/>
          </a:bodyPr>
          <a:lstStyle/>
          <a:p>
            <a:r>
              <a:rPr lang="zh-CN" altLang="en-US"/>
              <a:t>教练</a:t>
            </a:r>
            <a:endParaRPr lang="en-US" altLang="zh-CN"/>
          </a:p>
          <a:p>
            <a:r>
              <a:rPr lang="en-US" altLang="zh-CN"/>
              <a:t>Coaching</a:t>
            </a:r>
            <a:endParaRPr lang="zh-CN" altLang="en-US"/>
          </a:p>
        </p:txBody>
      </p:sp>
      <p:sp>
        <p:nvSpPr>
          <p:cNvPr id="17" name="文本框 16">
            <a:extLst>
              <a:ext uri="{FF2B5EF4-FFF2-40B4-BE49-F238E27FC236}">
                <a16:creationId xmlns:a16="http://schemas.microsoft.com/office/drawing/2014/main" id="{E043D0E5-7470-3CA7-FE38-2330E88A4427}"/>
              </a:ext>
            </a:extLst>
          </p:cNvPr>
          <p:cNvSpPr txBox="1"/>
          <p:nvPr/>
        </p:nvSpPr>
        <p:spPr>
          <a:xfrm>
            <a:off x="5864340" y="3175437"/>
            <a:ext cx="1231427" cy="646331"/>
          </a:xfrm>
          <a:prstGeom prst="rect">
            <a:avLst/>
          </a:prstGeom>
          <a:noFill/>
        </p:spPr>
        <p:txBody>
          <a:bodyPr wrap="none" rtlCol="0">
            <a:spAutoFit/>
          </a:bodyPr>
          <a:lstStyle/>
          <a:p>
            <a:r>
              <a:rPr lang="zh-CN" altLang="en-US"/>
              <a:t>规范</a:t>
            </a:r>
            <a:endParaRPr lang="en-US" altLang="zh-CN"/>
          </a:p>
          <a:p>
            <a:r>
              <a:rPr lang="en-US" altLang="zh-CN"/>
              <a:t>Norming</a:t>
            </a:r>
            <a:endParaRPr lang="zh-CN" altLang="en-US"/>
          </a:p>
        </p:txBody>
      </p:sp>
      <p:sp>
        <p:nvSpPr>
          <p:cNvPr id="18" name="文本框 17">
            <a:extLst>
              <a:ext uri="{FF2B5EF4-FFF2-40B4-BE49-F238E27FC236}">
                <a16:creationId xmlns:a16="http://schemas.microsoft.com/office/drawing/2014/main" id="{C2EF03C7-4501-9849-E7EF-BC0B547D5E4F}"/>
              </a:ext>
            </a:extLst>
          </p:cNvPr>
          <p:cNvSpPr txBox="1"/>
          <p:nvPr/>
        </p:nvSpPr>
        <p:spPr>
          <a:xfrm>
            <a:off x="5864340" y="3885505"/>
            <a:ext cx="1750800" cy="646331"/>
          </a:xfrm>
          <a:prstGeom prst="rect">
            <a:avLst/>
          </a:prstGeom>
          <a:noFill/>
        </p:spPr>
        <p:txBody>
          <a:bodyPr wrap="none" rtlCol="0">
            <a:spAutoFit/>
          </a:bodyPr>
          <a:lstStyle/>
          <a:p>
            <a:r>
              <a:rPr lang="zh-CN" altLang="en-US"/>
              <a:t>参与</a:t>
            </a:r>
            <a:endParaRPr lang="en-US" altLang="zh-CN"/>
          </a:p>
          <a:p>
            <a:r>
              <a:rPr lang="en-US" altLang="zh-CN"/>
              <a:t>Participating </a:t>
            </a:r>
            <a:endParaRPr lang="zh-CN" altLang="en-US"/>
          </a:p>
        </p:txBody>
      </p:sp>
      <p:sp>
        <p:nvSpPr>
          <p:cNvPr id="21" name="文本框 20">
            <a:extLst>
              <a:ext uri="{FF2B5EF4-FFF2-40B4-BE49-F238E27FC236}">
                <a16:creationId xmlns:a16="http://schemas.microsoft.com/office/drawing/2014/main" id="{9E5BC592-D92B-FF0A-4B76-54F0B41BC81D}"/>
              </a:ext>
            </a:extLst>
          </p:cNvPr>
          <p:cNvSpPr txBox="1"/>
          <p:nvPr/>
        </p:nvSpPr>
        <p:spPr>
          <a:xfrm>
            <a:off x="7607891" y="3175437"/>
            <a:ext cx="1519968" cy="646331"/>
          </a:xfrm>
          <a:prstGeom prst="rect">
            <a:avLst/>
          </a:prstGeom>
          <a:noFill/>
        </p:spPr>
        <p:txBody>
          <a:bodyPr wrap="none" rtlCol="0">
            <a:spAutoFit/>
          </a:bodyPr>
          <a:lstStyle/>
          <a:p>
            <a:r>
              <a:rPr lang="zh-CN" altLang="en-US"/>
              <a:t>成熟</a:t>
            </a:r>
            <a:endParaRPr lang="en-US" altLang="zh-CN"/>
          </a:p>
          <a:p>
            <a:r>
              <a:rPr lang="en-US" altLang="zh-CN"/>
              <a:t>Performing</a:t>
            </a:r>
            <a:endParaRPr lang="zh-CN" altLang="en-US"/>
          </a:p>
        </p:txBody>
      </p:sp>
      <p:sp>
        <p:nvSpPr>
          <p:cNvPr id="22" name="文本框 21">
            <a:extLst>
              <a:ext uri="{FF2B5EF4-FFF2-40B4-BE49-F238E27FC236}">
                <a16:creationId xmlns:a16="http://schemas.microsoft.com/office/drawing/2014/main" id="{53D15627-CC8C-65A6-D2F5-3EB58FC125D7}"/>
              </a:ext>
            </a:extLst>
          </p:cNvPr>
          <p:cNvSpPr txBox="1"/>
          <p:nvPr/>
        </p:nvSpPr>
        <p:spPr>
          <a:xfrm>
            <a:off x="7607891" y="3885505"/>
            <a:ext cx="1697901" cy="646331"/>
          </a:xfrm>
          <a:prstGeom prst="rect">
            <a:avLst/>
          </a:prstGeom>
          <a:noFill/>
        </p:spPr>
        <p:txBody>
          <a:bodyPr wrap="none" rtlCol="0">
            <a:spAutoFit/>
          </a:bodyPr>
          <a:lstStyle/>
          <a:p>
            <a:r>
              <a:rPr lang="zh-CN" altLang="en-US"/>
              <a:t>授权</a:t>
            </a:r>
            <a:endParaRPr lang="en-US" altLang="zh-CN"/>
          </a:p>
          <a:p>
            <a:r>
              <a:rPr lang="en-US" altLang="zh-CN"/>
              <a:t>Empowering</a:t>
            </a:r>
            <a:endParaRPr lang="zh-CN" altLang="en-US"/>
          </a:p>
        </p:txBody>
      </p:sp>
      <p:sp>
        <p:nvSpPr>
          <p:cNvPr id="25" name="文本框 24">
            <a:extLst>
              <a:ext uri="{FF2B5EF4-FFF2-40B4-BE49-F238E27FC236}">
                <a16:creationId xmlns:a16="http://schemas.microsoft.com/office/drawing/2014/main" id="{893ABB7C-855E-A57A-A9A4-8471674896A8}"/>
              </a:ext>
            </a:extLst>
          </p:cNvPr>
          <p:cNvSpPr txBox="1"/>
          <p:nvPr/>
        </p:nvSpPr>
        <p:spPr>
          <a:xfrm>
            <a:off x="9351442" y="3175437"/>
            <a:ext cx="1494320" cy="646331"/>
          </a:xfrm>
          <a:prstGeom prst="rect">
            <a:avLst/>
          </a:prstGeom>
          <a:noFill/>
        </p:spPr>
        <p:txBody>
          <a:bodyPr wrap="none" rtlCol="0">
            <a:spAutoFit/>
          </a:bodyPr>
          <a:lstStyle/>
          <a:p>
            <a:r>
              <a:rPr lang="zh-CN" altLang="en-US"/>
              <a:t>解散</a:t>
            </a:r>
            <a:endParaRPr lang="en-US" altLang="zh-CN"/>
          </a:p>
          <a:p>
            <a:r>
              <a:rPr lang="en-US" altLang="zh-CN"/>
              <a:t>Adjourning</a:t>
            </a:r>
            <a:endParaRPr lang="zh-CN" altLang="en-US"/>
          </a:p>
        </p:txBody>
      </p:sp>
      <p:sp>
        <p:nvSpPr>
          <p:cNvPr id="42" name="Isosceles Triangle 41">
            <a:extLst>
              <a:ext uri="{FF2B5EF4-FFF2-40B4-BE49-F238E27FC236}">
                <a16:creationId xmlns:a16="http://schemas.microsoft.com/office/drawing/2014/main" id="{8DEF9255-9072-EC32-C8BD-CB0EAFC614FE}"/>
              </a:ext>
            </a:extLst>
          </p:cNvPr>
          <p:cNvSpPr/>
          <p:nvPr/>
        </p:nvSpPr>
        <p:spPr>
          <a:xfrm rot="5400000">
            <a:off x="11034570" y="3668971"/>
            <a:ext cx="301657" cy="369332"/>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Rectangle 39">
            <a:extLst>
              <a:ext uri="{FF2B5EF4-FFF2-40B4-BE49-F238E27FC236}">
                <a16:creationId xmlns:a16="http://schemas.microsoft.com/office/drawing/2014/main" id="{4C5874C0-A90E-88F9-5819-500E842963B5}"/>
              </a:ext>
            </a:extLst>
          </p:cNvPr>
          <p:cNvSpPr/>
          <p:nvPr/>
        </p:nvSpPr>
        <p:spPr>
          <a:xfrm>
            <a:off x="461913" y="3380532"/>
            <a:ext cx="1800000" cy="43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t>Team</a:t>
            </a:r>
          </a:p>
        </p:txBody>
      </p:sp>
      <p:sp>
        <p:nvSpPr>
          <p:cNvPr id="41" name="Rectangle 40">
            <a:extLst>
              <a:ext uri="{FF2B5EF4-FFF2-40B4-BE49-F238E27FC236}">
                <a16:creationId xmlns:a16="http://schemas.microsoft.com/office/drawing/2014/main" id="{6419E630-1197-93FB-0508-7B0C9D5745FA}"/>
              </a:ext>
            </a:extLst>
          </p:cNvPr>
          <p:cNvSpPr/>
          <p:nvPr/>
        </p:nvSpPr>
        <p:spPr>
          <a:xfrm>
            <a:off x="461913" y="3885505"/>
            <a:ext cx="1800000" cy="43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t>Scrum Master</a:t>
            </a:r>
          </a:p>
        </p:txBody>
      </p:sp>
    </p:spTree>
    <p:extLst>
      <p:ext uri="{BB962C8B-B14F-4D97-AF65-F5344CB8AC3E}">
        <p14:creationId xmlns:p14="http://schemas.microsoft.com/office/powerpoint/2010/main" val="303334585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ECA2C8-FA71-8616-8B2E-40AE1800314F}"/>
              </a:ext>
            </a:extLst>
          </p:cNvPr>
          <p:cNvSpPr>
            <a:spLocks noGrp="1"/>
          </p:cNvSpPr>
          <p:nvPr>
            <p:ph type="title"/>
          </p:nvPr>
        </p:nvSpPr>
        <p:spPr>
          <a:xfrm>
            <a:off x="792000" y="360000"/>
            <a:ext cx="6375921" cy="429413"/>
          </a:xfrm>
        </p:spPr>
        <p:txBody>
          <a:bodyPr>
            <a:normAutofit/>
          </a:bodyPr>
          <a:lstStyle/>
          <a:p>
            <a:r>
              <a:rPr lang="en-US" altLang="zh-CN"/>
              <a:t>2.6.5 </a:t>
            </a:r>
            <a:r>
              <a:rPr lang="zh-CN" altLang="en-US"/>
              <a:t>敏捷活动</a:t>
            </a:r>
          </a:p>
        </p:txBody>
      </p:sp>
      <p:sp>
        <p:nvSpPr>
          <p:cNvPr id="17" name="内容占位符 16">
            <a:extLst>
              <a:ext uri="{FF2B5EF4-FFF2-40B4-BE49-F238E27FC236}">
                <a16:creationId xmlns:a16="http://schemas.microsoft.com/office/drawing/2014/main" id="{EA3816E0-FB94-2648-5E22-3FE08E30DA90}"/>
              </a:ext>
            </a:extLst>
          </p:cNvPr>
          <p:cNvSpPr>
            <a:spLocks noGrp="1"/>
          </p:cNvSpPr>
          <p:nvPr>
            <p:ph idx="1"/>
          </p:nvPr>
        </p:nvSpPr>
        <p:spPr>
          <a:xfrm>
            <a:off x="696000" y="864000"/>
            <a:ext cx="10800000" cy="5400000"/>
          </a:xfrm>
        </p:spPr>
        <p:txBody>
          <a:bodyPr/>
          <a:lstStyle/>
          <a:p>
            <a:r>
              <a:rPr lang="en-US" altLang="zh-CN"/>
              <a:t>5</a:t>
            </a:r>
            <a:r>
              <a:rPr lang="zh-CN" altLang="en-US"/>
              <a:t>个事件 </a:t>
            </a:r>
            <a:r>
              <a:rPr lang="en-US" altLang="zh-CN"/>
              <a:t>Events</a:t>
            </a:r>
          </a:p>
        </p:txBody>
      </p:sp>
      <p:sp>
        <p:nvSpPr>
          <p:cNvPr id="18" name="文本占位符 17">
            <a:extLst>
              <a:ext uri="{FF2B5EF4-FFF2-40B4-BE49-F238E27FC236}">
                <a16:creationId xmlns:a16="http://schemas.microsoft.com/office/drawing/2014/main" id="{FA45CF84-A816-7BD1-F5CA-88546510CE69}"/>
              </a:ext>
            </a:extLst>
          </p:cNvPr>
          <p:cNvSpPr>
            <a:spLocks noGrp="1"/>
          </p:cNvSpPr>
          <p:nvPr>
            <p:ph type="body" sz="quarter" idx="10"/>
          </p:nvPr>
        </p:nvSpPr>
        <p:spPr>
          <a:xfrm>
            <a:off x="7071919" y="448519"/>
            <a:ext cx="4424080" cy="338554"/>
          </a:xfrm>
        </p:spPr>
        <p:txBody>
          <a:bodyPr/>
          <a:lstStyle/>
          <a:p>
            <a:r>
              <a:rPr lang="en-US" altLang="zh-CN"/>
              <a:t>Scrum Events</a:t>
            </a:r>
            <a:endParaRPr lang="zh-CN" altLang="en-US"/>
          </a:p>
        </p:txBody>
      </p:sp>
      <p:sp>
        <p:nvSpPr>
          <p:cNvPr id="4" name="任意多边形: 形状 3">
            <a:extLst>
              <a:ext uri="{FF2B5EF4-FFF2-40B4-BE49-F238E27FC236}">
                <a16:creationId xmlns:a16="http://schemas.microsoft.com/office/drawing/2014/main" id="{CD20B4E4-0503-F63B-EAB6-1A325A9DC519}"/>
              </a:ext>
            </a:extLst>
          </p:cNvPr>
          <p:cNvSpPr/>
          <p:nvPr/>
        </p:nvSpPr>
        <p:spPr>
          <a:xfrm>
            <a:off x="684588" y="1210012"/>
            <a:ext cx="10801350" cy="1011581"/>
          </a:xfrm>
          <a:custGeom>
            <a:avLst/>
            <a:gdLst>
              <a:gd name="csX0" fmla="*/ 0 w 7577955"/>
              <a:gd name="csY0" fmla="*/ 252895 h 1011581"/>
              <a:gd name="csX1" fmla="*/ 7072165 w 7577955"/>
              <a:gd name="csY1" fmla="*/ 252895 h 1011581"/>
              <a:gd name="csX2" fmla="*/ 7072165 w 7577955"/>
              <a:gd name="csY2" fmla="*/ 0 h 1011581"/>
              <a:gd name="csX3" fmla="*/ 7577955 w 7577955"/>
              <a:gd name="csY3" fmla="*/ 505791 h 1011581"/>
              <a:gd name="csX4" fmla="*/ 7072165 w 7577955"/>
              <a:gd name="csY4" fmla="*/ 1011581 h 1011581"/>
              <a:gd name="csX5" fmla="*/ 7072165 w 7577955"/>
              <a:gd name="csY5" fmla="*/ 758686 h 1011581"/>
              <a:gd name="csX6" fmla="*/ 0 w 7577955"/>
              <a:gd name="csY6" fmla="*/ 758686 h 1011581"/>
              <a:gd name="csX7" fmla="*/ 0 w 7577955"/>
              <a:gd name="csY7" fmla="*/ 252895 h 10115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577955" h="1011581">
                <a:moveTo>
                  <a:pt x="0" y="252895"/>
                </a:moveTo>
                <a:lnTo>
                  <a:pt x="7072165" y="252895"/>
                </a:lnTo>
                <a:lnTo>
                  <a:pt x="7072165" y="0"/>
                </a:lnTo>
                <a:lnTo>
                  <a:pt x="7577955" y="505791"/>
                </a:lnTo>
                <a:lnTo>
                  <a:pt x="7072165" y="1011581"/>
                </a:lnTo>
                <a:lnTo>
                  <a:pt x="7072165" y="758686"/>
                </a:lnTo>
                <a:lnTo>
                  <a:pt x="0" y="758686"/>
                </a:lnTo>
                <a:lnTo>
                  <a:pt x="0" y="252895"/>
                </a:lnTo>
                <a:close/>
              </a:path>
            </a:pathLst>
          </a:custGeom>
          <a:ln>
            <a:noFill/>
          </a:ln>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60960" tIns="396895" rIns="506895" bIns="396895" numCol="1" spcCol="1270" anchor="ctr" anchorCtr="0">
            <a:noAutofit/>
          </a:bodyPr>
          <a:lstStyle/>
          <a:p>
            <a:pPr marL="0" lvl="0" indent="0" algn="l" defTabSz="711200">
              <a:lnSpc>
                <a:spcPct val="90000"/>
              </a:lnSpc>
              <a:spcBef>
                <a:spcPct val="0"/>
              </a:spcBef>
              <a:spcAft>
                <a:spcPct val="35000"/>
              </a:spcAft>
              <a:buNone/>
            </a:pPr>
            <a:r>
              <a:rPr lang="en-US" altLang="zh-CN" sz="1600"/>
              <a:t>Sprint</a:t>
            </a:r>
            <a:endParaRPr lang="zh-CN" altLang="en-US" sz="1600"/>
          </a:p>
        </p:txBody>
      </p:sp>
      <p:sp>
        <p:nvSpPr>
          <p:cNvPr id="5" name="任意多边形: 形状 4">
            <a:extLst>
              <a:ext uri="{FF2B5EF4-FFF2-40B4-BE49-F238E27FC236}">
                <a16:creationId xmlns:a16="http://schemas.microsoft.com/office/drawing/2014/main" id="{9247C78C-39B0-5A69-1CA4-9713529A1507}"/>
              </a:ext>
            </a:extLst>
          </p:cNvPr>
          <p:cNvSpPr/>
          <p:nvPr/>
        </p:nvSpPr>
        <p:spPr>
          <a:xfrm>
            <a:off x="713192" y="1978949"/>
            <a:ext cx="10259608" cy="4285325"/>
          </a:xfrm>
          <a:custGeom>
            <a:avLst/>
            <a:gdLst>
              <a:gd name="csX0" fmla="*/ 0 w 1285587"/>
              <a:gd name="csY0" fmla="*/ 0 h 1857425"/>
              <a:gd name="csX1" fmla="*/ 1285587 w 1285587"/>
              <a:gd name="csY1" fmla="*/ 0 h 1857425"/>
              <a:gd name="csX2" fmla="*/ 1285587 w 1285587"/>
              <a:gd name="csY2" fmla="*/ 1857425 h 1857425"/>
              <a:gd name="csX3" fmla="*/ 0 w 1285587"/>
              <a:gd name="csY3" fmla="*/ 1857425 h 1857425"/>
              <a:gd name="csX4" fmla="*/ 0 w 1285587"/>
              <a:gd name="csY4" fmla="*/ 0 h 1857425"/>
            </a:gdLst>
            <a:ahLst/>
            <a:cxnLst>
              <a:cxn ang="0">
                <a:pos x="csX0" y="csY0"/>
              </a:cxn>
              <a:cxn ang="0">
                <a:pos x="csX1" y="csY1"/>
              </a:cxn>
              <a:cxn ang="0">
                <a:pos x="csX2" y="csY2"/>
              </a:cxn>
              <a:cxn ang="0">
                <a:pos x="csX3" y="csY3"/>
              </a:cxn>
              <a:cxn ang="0">
                <a:pos x="csX4" y="csY4"/>
              </a:cxn>
            </a:cxnLst>
            <a:rect l="l" t="t" r="r" b="b"/>
            <a:pathLst>
              <a:path w="1285587" h="1857425">
                <a:moveTo>
                  <a:pt x="0" y="0"/>
                </a:moveTo>
                <a:lnTo>
                  <a:pt x="1285587" y="0"/>
                </a:lnTo>
                <a:lnTo>
                  <a:pt x="1285587" y="1857425"/>
                </a:lnTo>
                <a:lnTo>
                  <a:pt x="0" y="1857425"/>
                </a:lnTo>
                <a:lnTo>
                  <a:pt x="0" y="0"/>
                </a:lnTo>
                <a:close/>
              </a:path>
            </a:pathLst>
          </a:custGeom>
          <a:noFill/>
          <a:ln>
            <a:solidFill>
              <a:schemeClr val="bg1"/>
            </a:solidFill>
          </a:ln>
        </p:spPr>
        <p:style>
          <a:lnRef idx="2">
            <a:schemeClr val="accent5">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zh-CN" altLang="en-US" sz="1600"/>
              <a:t>冲刺</a:t>
            </a:r>
            <a:endParaRPr lang="en-US" altLang="zh-CN" sz="1600"/>
          </a:p>
          <a:p>
            <a:pPr marL="0" lvl="0" indent="0" algn="l" defTabSz="711200">
              <a:lnSpc>
                <a:spcPct val="90000"/>
              </a:lnSpc>
              <a:spcBef>
                <a:spcPct val="0"/>
              </a:spcBef>
              <a:spcAft>
                <a:spcPct val="35000"/>
              </a:spcAft>
              <a:buNone/>
            </a:pPr>
            <a:r>
              <a:rPr lang="zh-CN" altLang="en-US" sz="1600"/>
              <a:t>容器</a:t>
            </a:r>
            <a:endParaRPr lang="en-US" altLang="zh-CN" sz="1600"/>
          </a:p>
          <a:p>
            <a:pPr marL="0" lvl="0" indent="0" algn="l" defTabSz="711200">
              <a:lnSpc>
                <a:spcPct val="90000"/>
              </a:lnSpc>
              <a:spcBef>
                <a:spcPct val="0"/>
              </a:spcBef>
              <a:spcAft>
                <a:spcPct val="35000"/>
              </a:spcAft>
              <a:buNone/>
            </a:pPr>
            <a:r>
              <a:rPr lang="zh-CN" altLang="en-US" sz="1600"/>
              <a:t>时间盒 </a:t>
            </a:r>
            <a:r>
              <a:rPr lang="en-US" altLang="zh-CN" sz="1600"/>
              <a:t>Time-box</a:t>
            </a:r>
          </a:p>
          <a:p>
            <a:pPr defTabSz="711200">
              <a:lnSpc>
                <a:spcPct val="90000"/>
              </a:lnSpc>
              <a:spcBef>
                <a:spcPct val="0"/>
              </a:spcBef>
              <a:spcAft>
                <a:spcPct val="35000"/>
              </a:spcAft>
            </a:pPr>
            <a:r>
              <a:rPr lang="en-US" altLang="zh-CN" sz="1600"/>
              <a:t>PO </a:t>
            </a:r>
            <a:r>
              <a:rPr lang="zh-CN" altLang="en-US" sz="1600"/>
              <a:t>可以取消冲刺</a:t>
            </a:r>
          </a:p>
          <a:p>
            <a:pPr marL="0" lvl="0" indent="0" algn="l" defTabSz="711200">
              <a:lnSpc>
                <a:spcPct val="90000"/>
              </a:lnSpc>
              <a:spcBef>
                <a:spcPct val="0"/>
              </a:spcBef>
              <a:spcAft>
                <a:spcPct val="35000"/>
              </a:spcAft>
              <a:buNone/>
            </a:pPr>
            <a:r>
              <a:rPr lang="en-US" altLang="zh-CN" sz="1600"/>
              <a:t>1month or less</a:t>
            </a:r>
          </a:p>
        </p:txBody>
      </p:sp>
      <p:sp>
        <p:nvSpPr>
          <p:cNvPr id="6" name="任意多边形: 形状 5">
            <a:extLst>
              <a:ext uri="{FF2B5EF4-FFF2-40B4-BE49-F238E27FC236}">
                <a16:creationId xmlns:a16="http://schemas.microsoft.com/office/drawing/2014/main" id="{C52295D2-CE3C-F8E6-E4D2-83DFF48DDC6D}"/>
              </a:ext>
            </a:extLst>
          </p:cNvPr>
          <p:cNvSpPr/>
          <p:nvPr/>
        </p:nvSpPr>
        <p:spPr>
          <a:xfrm>
            <a:off x="3126659" y="1601412"/>
            <a:ext cx="8349460" cy="1011581"/>
          </a:xfrm>
          <a:custGeom>
            <a:avLst/>
            <a:gdLst>
              <a:gd name="csX0" fmla="*/ 0 w 6272869"/>
              <a:gd name="csY0" fmla="*/ 252895 h 1011581"/>
              <a:gd name="csX1" fmla="*/ 5767079 w 6272869"/>
              <a:gd name="csY1" fmla="*/ 252895 h 1011581"/>
              <a:gd name="csX2" fmla="*/ 5767079 w 6272869"/>
              <a:gd name="csY2" fmla="*/ 0 h 1011581"/>
              <a:gd name="csX3" fmla="*/ 6272869 w 6272869"/>
              <a:gd name="csY3" fmla="*/ 505791 h 1011581"/>
              <a:gd name="csX4" fmla="*/ 5767079 w 6272869"/>
              <a:gd name="csY4" fmla="*/ 1011581 h 1011581"/>
              <a:gd name="csX5" fmla="*/ 5767079 w 6272869"/>
              <a:gd name="csY5" fmla="*/ 758686 h 1011581"/>
              <a:gd name="csX6" fmla="*/ 0 w 6272869"/>
              <a:gd name="csY6" fmla="*/ 758686 h 1011581"/>
              <a:gd name="csX7" fmla="*/ 0 w 6272869"/>
              <a:gd name="csY7" fmla="*/ 252895 h 10115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272869" h="1011581">
                <a:moveTo>
                  <a:pt x="0" y="252895"/>
                </a:moveTo>
                <a:lnTo>
                  <a:pt x="5767079" y="252895"/>
                </a:lnTo>
                <a:lnTo>
                  <a:pt x="5767079" y="0"/>
                </a:lnTo>
                <a:lnTo>
                  <a:pt x="6272869" y="505791"/>
                </a:lnTo>
                <a:lnTo>
                  <a:pt x="5767079" y="1011581"/>
                </a:lnTo>
                <a:lnTo>
                  <a:pt x="5767079" y="758686"/>
                </a:lnTo>
                <a:lnTo>
                  <a:pt x="0" y="758686"/>
                </a:lnTo>
                <a:lnTo>
                  <a:pt x="0" y="252895"/>
                </a:lnTo>
                <a:close/>
              </a:path>
            </a:pathLst>
          </a:custGeom>
          <a:ln>
            <a:noFill/>
          </a:ln>
        </p:spPr>
        <p:style>
          <a:lnRef idx="2">
            <a:schemeClr val="lt1">
              <a:hueOff val="0"/>
              <a:satOff val="0"/>
              <a:lumOff val="0"/>
              <a:alphaOff val="0"/>
            </a:schemeClr>
          </a:lnRef>
          <a:fillRef idx="1">
            <a:schemeClr val="accent5">
              <a:hueOff val="-1689636"/>
              <a:satOff val="-4355"/>
              <a:lumOff val="-2941"/>
              <a:alphaOff val="0"/>
            </a:schemeClr>
          </a:fillRef>
          <a:effectRef idx="0">
            <a:schemeClr val="accent5">
              <a:hueOff val="-1689636"/>
              <a:satOff val="-4355"/>
              <a:lumOff val="-2941"/>
              <a:alphaOff val="0"/>
            </a:schemeClr>
          </a:effectRef>
          <a:fontRef idx="minor">
            <a:schemeClr val="lt1"/>
          </a:fontRef>
        </p:style>
        <p:txBody>
          <a:bodyPr spcFirstLastPara="0" vert="horz" wrap="square" lIns="60960" tIns="396895" rIns="506895" bIns="396895" numCol="1" spcCol="1270" anchor="ctr" anchorCtr="0">
            <a:noAutofit/>
          </a:bodyPr>
          <a:lstStyle/>
          <a:p>
            <a:pPr marL="0" lvl="0" indent="0" algn="l" defTabSz="711200">
              <a:lnSpc>
                <a:spcPct val="90000"/>
              </a:lnSpc>
              <a:spcBef>
                <a:spcPct val="0"/>
              </a:spcBef>
              <a:spcAft>
                <a:spcPct val="35000"/>
              </a:spcAft>
              <a:buNone/>
            </a:pPr>
            <a:r>
              <a:rPr lang="en-US" altLang="zh-CN" sz="1600"/>
              <a:t>Spring Planning</a:t>
            </a:r>
            <a:endParaRPr lang="zh-CN" altLang="en-US" sz="1600"/>
          </a:p>
        </p:txBody>
      </p:sp>
      <p:sp>
        <p:nvSpPr>
          <p:cNvPr id="7" name="任意多边形: 形状 6">
            <a:extLst>
              <a:ext uri="{FF2B5EF4-FFF2-40B4-BE49-F238E27FC236}">
                <a16:creationId xmlns:a16="http://schemas.microsoft.com/office/drawing/2014/main" id="{5805AF75-B8E3-ECBC-92BB-9413D8FC5FAC}"/>
              </a:ext>
            </a:extLst>
          </p:cNvPr>
          <p:cNvSpPr/>
          <p:nvPr/>
        </p:nvSpPr>
        <p:spPr>
          <a:xfrm>
            <a:off x="3123971" y="2365434"/>
            <a:ext cx="1993423" cy="2767006"/>
          </a:xfrm>
          <a:custGeom>
            <a:avLst/>
            <a:gdLst>
              <a:gd name="csX0" fmla="*/ 0 w 1285587"/>
              <a:gd name="csY0" fmla="*/ 0 h 1857425"/>
              <a:gd name="csX1" fmla="*/ 1285587 w 1285587"/>
              <a:gd name="csY1" fmla="*/ 0 h 1857425"/>
              <a:gd name="csX2" fmla="*/ 1285587 w 1285587"/>
              <a:gd name="csY2" fmla="*/ 1857425 h 1857425"/>
              <a:gd name="csX3" fmla="*/ 0 w 1285587"/>
              <a:gd name="csY3" fmla="*/ 1857425 h 1857425"/>
              <a:gd name="csX4" fmla="*/ 0 w 1285587"/>
              <a:gd name="csY4" fmla="*/ 0 h 1857425"/>
            </a:gdLst>
            <a:ahLst/>
            <a:cxnLst>
              <a:cxn ang="0">
                <a:pos x="csX0" y="csY0"/>
              </a:cxn>
              <a:cxn ang="0">
                <a:pos x="csX1" y="csY1"/>
              </a:cxn>
              <a:cxn ang="0">
                <a:pos x="csX2" y="csY2"/>
              </a:cxn>
              <a:cxn ang="0">
                <a:pos x="csX3" y="csY3"/>
              </a:cxn>
              <a:cxn ang="0">
                <a:pos x="csX4" y="csY4"/>
              </a:cxn>
            </a:cxnLst>
            <a:rect l="l" t="t" r="r" b="b"/>
            <a:pathLst>
              <a:path w="1285587" h="1857425">
                <a:moveTo>
                  <a:pt x="0" y="0"/>
                </a:moveTo>
                <a:lnTo>
                  <a:pt x="1285587" y="0"/>
                </a:lnTo>
                <a:lnTo>
                  <a:pt x="1285587" y="1857425"/>
                </a:lnTo>
                <a:lnTo>
                  <a:pt x="0" y="1857425"/>
                </a:lnTo>
                <a:lnTo>
                  <a:pt x="0" y="0"/>
                </a:lnTo>
                <a:close/>
              </a:path>
            </a:pathLst>
          </a:custGeom>
          <a:noFill/>
          <a:ln>
            <a:noFill/>
          </a:ln>
        </p:spPr>
        <p:style>
          <a:lnRef idx="2">
            <a:schemeClr val="accent5">
              <a:hueOff val="-1689636"/>
              <a:satOff val="-4355"/>
              <a:lumOff val="-2941"/>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zh-CN" altLang="en-US" sz="1600"/>
              <a:t>规划</a:t>
            </a:r>
            <a:endParaRPr lang="en-US" altLang="zh-CN" sz="1600"/>
          </a:p>
          <a:p>
            <a:pPr marL="0" lvl="0" indent="0" algn="l" defTabSz="711200">
              <a:lnSpc>
                <a:spcPct val="90000"/>
              </a:lnSpc>
              <a:spcBef>
                <a:spcPct val="0"/>
              </a:spcBef>
              <a:spcAft>
                <a:spcPct val="35000"/>
              </a:spcAft>
              <a:buNone/>
            </a:pPr>
            <a:r>
              <a:rPr lang="zh-CN" altLang="en-US" sz="1600"/>
              <a:t>会议</a:t>
            </a:r>
            <a:endParaRPr lang="en-US" altLang="zh-CN" sz="1600"/>
          </a:p>
          <a:p>
            <a:pPr lvl="0" defTabSz="711200">
              <a:lnSpc>
                <a:spcPct val="90000"/>
              </a:lnSpc>
              <a:spcBef>
                <a:spcPct val="0"/>
              </a:spcBef>
              <a:spcAft>
                <a:spcPct val="35000"/>
              </a:spcAft>
            </a:pPr>
            <a:r>
              <a:rPr lang="zh-CN" altLang="en-US" sz="1600"/>
              <a:t>第一个事件</a:t>
            </a:r>
            <a:endParaRPr lang="en-US" altLang="zh-CN" sz="1600"/>
          </a:p>
          <a:p>
            <a:pPr lvl="0" defTabSz="711200">
              <a:lnSpc>
                <a:spcPct val="90000"/>
              </a:lnSpc>
              <a:spcBef>
                <a:spcPct val="0"/>
              </a:spcBef>
              <a:spcAft>
                <a:spcPct val="35000"/>
              </a:spcAft>
            </a:pPr>
            <a:r>
              <a:rPr lang="en-US" altLang="zh-CN" sz="1600"/>
              <a:t>Why </a:t>
            </a:r>
            <a:r>
              <a:rPr lang="zh-CN" altLang="en-US" sz="1600"/>
              <a:t>为什么</a:t>
            </a:r>
            <a:endParaRPr lang="en-US" altLang="zh-CN" sz="1600"/>
          </a:p>
          <a:p>
            <a:pPr lvl="0" defTabSz="711200">
              <a:lnSpc>
                <a:spcPct val="90000"/>
              </a:lnSpc>
              <a:spcBef>
                <a:spcPct val="0"/>
              </a:spcBef>
              <a:spcAft>
                <a:spcPct val="35000"/>
              </a:spcAft>
            </a:pPr>
            <a:r>
              <a:rPr lang="en-US" altLang="zh-CN" sz="1600"/>
              <a:t>What </a:t>
            </a:r>
            <a:r>
              <a:rPr lang="zh-CN" altLang="en-US" sz="1600"/>
              <a:t>做什么</a:t>
            </a:r>
            <a:endParaRPr lang="en-US" altLang="zh-CN" sz="1600"/>
          </a:p>
          <a:p>
            <a:pPr lvl="0" defTabSz="711200">
              <a:lnSpc>
                <a:spcPct val="90000"/>
              </a:lnSpc>
              <a:spcBef>
                <a:spcPct val="0"/>
              </a:spcBef>
              <a:spcAft>
                <a:spcPct val="35000"/>
              </a:spcAft>
            </a:pPr>
            <a:r>
              <a:rPr lang="en-US" altLang="zh-CN" sz="1600"/>
              <a:t>How </a:t>
            </a:r>
            <a:r>
              <a:rPr lang="zh-CN" altLang="en-US" sz="1600"/>
              <a:t>如何做</a:t>
            </a:r>
            <a:endParaRPr lang="en-US" altLang="zh-CN" sz="1600"/>
          </a:p>
          <a:p>
            <a:pPr marL="0" lvl="0" indent="0" algn="l" defTabSz="711200">
              <a:lnSpc>
                <a:spcPct val="90000"/>
              </a:lnSpc>
              <a:spcBef>
                <a:spcPct val="0"/>
              </a:spcBef>
              <a:spcAft>
                <a:spcPct val="35000"/>
              </a:spcAft>
              <a:buNone/>
            </a:pPr>
            <a:r>
              <a:rPr lang="en-US" altLang="zh-CN" sz="1600"/>
              <a:t>8h</a:t>
            </a:r>
          </a:p>
          <a:p>
            <a:pPr marL="0" lvl="0" indent="0" algn="l" defTabSz="711200">
              <a:lnSpc>
                <a:spcPct val="90000"/>
              </a:lnSpc>
              <a:spcBef>
                <a:spcPct val="0"/>
              </a:spcBef>
              <a:spcAft>
                <a:spcPct val="35000"/>
              </a:spcAft>
              <a:buNone/>
            </a:pPr>
            <a:endParaRPr lang="en-US" altLang="zh-CN" sz="1600"/>
          </a:p>
          <a:p>
            <a:pPr marL="0" lvl="0" indent="0" algn="l" defTabSz="711200">
              <a:lnSpc>
                <a:spcPct val="90000"/>
              </a:lnSpc>
              <a:spcBef>
                <a:spcPct val="0"/>
              </a:spcBef>
              <a:spcAft>
                <a:spcPct val="35000"/>
              </a:spcAft>
              <a:buNone/>
            </a:pPr>
            <a:endParaRPr lang="zh-CN" altLang="en-US" sz="1600"/>
          </a:p>
        </p:txBody>
      </p:sp>
      <p:sp>
        <p:nvSpPr>
          <p:cNvPr id="8" name="任意多边形: 形状 7">
            <a:extLst>
              <a:ext uri="{FF2B5EF4-FFF2-40B4-BE49-F238E27FC236}">
                <a16:creationId xmlns:a16="http://schemas.microsoft.com/office/drawing/2014/main" id="{942EBA69-E512-98D2-7283-FB23330EBAAD}"/>
              </a:ext>
            </a:extLst>
          </p:cNvPr>
          <p:cNvSpPr/>
          <p:nvPr/>
        </p:nvSpPr>
        <p:spPr>
          <a:xfrm>
            <a:off x="5120082" y="1992812"/>
            <a:ext cx="6376593" cy="1011581"/>
          </a:xfrm>
          <a:custGeom>
            <a:avLst/>
            <a:gdLst>
              <a:gd name="csX0" fmla="*/ 0 w 5028534"/>
              <a:gd name="csY0" fmla="*/ 252895 h 1011581"/>
              <a:gd name="csX1" fmla="*/ 4522744 w 5028534"/>
              <a:gd name="csY1" fmla="*/ 252895 h 1011581"/>
              <a:gd name="csX2" fmla="*/ 4522744 w 5028534"/>
              <a:gd name="csY2" fmla="*/ 0 h 1011581"/>
              <a:gd name="csX3" fmla="*/ 5028534 w 5028534"/>
              <a:gd name="csY3" fmla="*/ 505791 h 1011581"/>
              <a:gd name="csX4" fmla="*/ 4522744 w 5028534"/>
              <a:gd name="csY4" fmla="*/ 1011581 h 1011581"/>
              <a:gd name="csX5" fmla="*/ 4522744 w 5028534"/>
              <a:gd name="csY5" fmla="*/ 758686 h 1011581"/>
              <a:gd name="csX6" fmla="*/ 0 w 5028534"/>
              <a:gd name="csY6" fmla="*/ 758686 h 1011581"/>
              <a:gd name="csX7" fmla="*/ 0 w 5028534"/>
              <a:gd name="csY7" fmla="*/ 252895 h 10115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028534" h="1011581">
                <a:moveTo>
                  <a:pt x="0" y="252895"/>
                </a:moveTo>
                <a:lnTo>
                  <a:pt x="4522744" y="252895"/>
                </a:lnTo>
                <a:lnTo>
                  <a:pt x="4522744" y="0"/>
                </a:lnTo>
                <a:lnTo>
                  <a:pt x="5028534" y="505791"/>
                </a:lnTo>
                <a:lnTo>
                  <a:pt x="4522744" y="1011581"/>
                </a:lnTo>
                <a:lnTo>
                  <a:pt x="4522744" y="758686"/>
                </a:lnTo>
                <a:lnTo>
                  <a:pt x="0" y="758686"/>
                </a:lnTo>
                <a:lnTo>
                  <a:pt x="0" y="252895"/>
                </a:lnTo>
                <a:close/>
              </a:path>
            </a:pathLst>
          </a:custGeom>
          <a:ln>
            <a:noFill/>
          </a:ln>
        </p:spPr>
        <p:style>
          <a:lnRef idx="2">
            <a:schemeClr val="lt1">
              <a:hueOff val="0"/>
              <a:satOff val="0"/>
              <a:lumOff val="0"/>
              <a:alphaOff val="0"/>
            </a:schemeClr>
          </a:lnRef>
          <a:fillRef idx="1">
            <a:schemeClr val="accent5">
              <a:hueOff val="-3379271"/>
              <a:satOff val="-8710"/>
              <a:lumOff val="-5883"/>
              <a:alphaOff val="0"/>
            </a:schemeClr>
          </a:fillRef>
          <a:effectRef idx="0">
            <a:schemeClr val="accent5">
              <a:hueOff val="-3379271"/>
              <a:satOff val="-8710"/>
              <a:lumOff val="-5883"/>
              <a:alphaOff val="0"/>
            </a:schemeClr>
          </a:effectRef>
          <a:fontRef idx="minor">
            <a:schemeClr val="lt1"/>
          </a:fontRef>
        </p:style>
        <p:txBody>
          <a:bodyPr spcFirstLastPara="0" vert="horz" wrap="square" lIns="60960" tIns="396895" rIns="506895" bIns="396895" numCol="1" spcCol="1270" anchor="ctr" anchorCtr="0">
            <a:noAutofit/>
          </a:bodyPr>
          <a:lstStyle/>
          <a:p>
            <a:pPr marL="0" lvl="0" indent="0" algn="l" defTabSz="711200">
              <a:lnSpc>
                <a:spcPct val="90000"/>
              </a:lnSpc>
              <a:spcBef>
                <a:spcPct val="0"/>
              </a:spcBef>
              <a:spcAft>
                <a:spcPct val="35000"/>
              </a:spcAft>
              <a:buNone/>
            </a:pPr>
            <a:r>
              <a:rPr lang="en-US" altLang="zh-CN" sz="1600"/>
              <a:t>Daily Scrum</a:t>
            </a:r>
            <a:endParaRPr lang="zh-CN" altLang="en-US" sz="1600"/>
          </a:p>
        </p:txBody>
      </p:sp>
      <p:sp>
        <p:nvSpPr>
          <p:cNvPr id="9" name="任意多边形: 形状 8">
            <a:extLst>
              <a:ext uri="{FF2B5EF4-FFF2-40B4-BE49-F238E27FC236}">
                <a16:creationId xmlns:a16="http://schemas.microsoft.com/office/drawing/2014/main" id="{95F7A082-CD9F-5050-A53C-69BA22B02D0A}"/>
              </a:ext>
            </a:extLst>
          </p:cNvPr>
          <p:cNvSpPr/>
          <p:nvPr/>
        </p:nvSpPr>
        <p:spPr>
          <a:xfrm>
            <a:off x="5120083" y="2751918"/>
            <a:ext cx="1985819" cy="2394384"/>
          </a:xfrm>
          <a:custGeom>
            <a:avLst/>
            <a:gdLst>
              <a:gd name="csX0" fmla="*/ 0 w 1285587"/>
              <a:gd name="csY0" fmla="*/ 0 h 1857425"/>
              <a:gd name="csX1" fmla="*/ 1285587 w 1285587"/>
              <a:gd name="csY1" fmla="*/ 0 h 1857425"/>
              <a:gd name="csX2" fmla="*/ 1285587 w 1285587"/>
              <a:gd name="csY2" fmla="*/ 1857425 h 1857425"/>
              <a:gd name="csX3" fmla="*/ 0 w 1285587"/>
              <a:gd name="csY3" fmla="*/ 1857425 h 1857425"/>
              <a:gd name="csX4" fmla="*/ 0 w 1285587"/>
              <a:gd name="csY4" fmla="*/ 0 h 1857425"/>
            </a:gdLst>
            <a:ahLst/>
            <a:cxnLst>
              <a:cxn ang="0">
                <a:pos x="csX0" y="csY0"/>
              </a:cxn>
              <a:cxn ang="0">
                <a:pos x="csX1" y="csY1"/>
              </a:cxn>
              <a:cxn ang="0">
                <a:pos x="csX2" y="csY2"/>
              </a:cxn>
              <a:cxn ang="0">
                <a:pos x="csX3" y="csY3"/>
              </a:cxn>
              <a:cxn ang="0">
                <a:pos x="csX4" y="csY4"/>
              </a:cxn>
            </a:cxnLst>
            <a:rect l="l" t="t" r="r" b="b"/>
            <a:pathLst>
              <a:path w="1285587" h="1857425">
                <a:moveTo>
                  <a:pt x="0" y="0"/>
                </a:moveTo>
                <a:lnTo>
                  <a:pt x="1285587" y="0"/>
                </a:lnTo>
                <a:lnTo>
                  <a:pt x="1285587" y="1857425"/>
                </a:lnTo>
                <a:lnTo>
                  <a:pt x="0" y="1857425"/>
                </a:lnTo>
                <a:lnTo>
                  <a:pt x="0" y="0"/>
                </a:lnTo>
                <a:close/>
              </a:path>
            </a:pathLst>
          </a:custGeom>
          <a:noFill/>
          <a:ln>
            <a:noFill/>
          </a:ln>
        </p:spPr>
        <p:style>
          <a:lnRef idx="2">
            <a:schemeClr val="accent5">
              <a:hueOff val="-3379271"/>
              <a:satOff val="-8710"/>
              <a:lumOff val="-5883"/>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zh-CN" altLang="en-US" sz="1600"/>
              <a:t>每日站会</a:t>
            </a:r>
            <a:endParaRPr lang="en-US" altLang="zh-CN" sz="1600"/>
          </a:p>
          <a:p>
            <a:pPr lvl="0" defTabSz="711200">
              <a:lnSpc>
                <a:spcPct val="90000"/>
              </a:lnSpc>
              <a:spcBef>
                <a:spcPct val="0"/>
              </a:spcBef>
              <a:spcAft>
                <a:spcPct val="35000"/>
              </a:spcAft>
            </a:pPr>
            <a:r>
              <a:rPr lang="zh-CN" altLang="en-US" sz="1600"/>
              <a:t>固定时间和地点</a:t>
            </a:r>
            <a:endParaRPr lang="en-US" altLang="zh-CN" sz="1600"/>
          </a:p>
          <a:p>
            <a:pPr lvl="0" defTabSz="711200">
              <a:lnSpc>
                <a:spcPct val="90000"/>
              </a:lnSpc>
              <a:spcBef>
                <a:spcPct val="0"/>
              </a:spcBef>
              <a:spcAft>
                <a:spcPct val="35000"/>
              </a:spcAft>
            </a:pPr>
            <a:r>
              <a:rPr lang="zh-CN" altLang="en-US" sz="1600"/>
              <a:t>检查进度</a:t>
            </a:r>
            <a:endParaRPr lang="en-US" altLang="zh-CN" sz="1600"/>
          </a:p>
          <a:p>
            <a:pPr lvl="0" defTabSz="711200">
              <a:lnSpc>
                <a:spcPct val="90000"/>
              </a:lnSpc>
              <a:spcBef>
                <a:spcPct val="0"/>
              </a:spcBef>
              <a:spcAft>
                <a:spcPct val="35000"/>
              </a:spcAft>
            </a:pPr>
            <a:r>
              <a:rPr lang="zh-CN" altLang="en-US" sz="1600"/>
              <a:t>同步信息</a:t>
            </a:r>
            <a:endParaRPr lang="en-US" altLang="zh-CN" sz="1600"/>
          </a:p>
          <a:p>
            <a:pPr lvl="0" defTabSz="711200">
              <a:lnSpc>
                <a:spcPct val="90000"/>
              </a:lnSpc>
              <a:spcBef>
                <a:spcPct val="0"/>
              </a:spcBef>
              <a:spcAft>
                <a:spcPct val="35000"/>
              </a:spcAft>
            </a:pPr>
            <a:r>
              <a:rPr lang="zh-CN" altLang="en-US" sz="1600"/>
              <a:t>调整计划及工作</a:t>
            </a:r>
          </a:p>
          <a:p>
            <a:pPr marL="0" lvl="0" indent="0" algn="l" defTabSz="711200">
              <a:lnSpc>
                <a:spcPct val="90000"/>
              </a:lnSpc>
              <a:spcBef>
                <a:spcPct val="0"/>
              </a:spcBef>
              <a:spcAft>
                <a:spcPct val="35000"/>
              </a:spcAft>
              <a:buNone/>
            </a:pPr>
            <a:r>
              <a:rPr lang="en-US" altLang="zh-CN" sz="1600"/>
              <a:t>15min</a:t>
            </a:r>
          </a:p>
        </p:txBody>
      </p:sp>
      <p:sp>
        <p:nvSpPr>
          <p:cNvPr id="10" name="任意多边形: 形状 9">
            <a:extLst>
              <a:ext uri="{FF2B5EF4-FFF2-40B4-BE49-F238E27FC236}">
                <a16:creationId xmlns:a16="http://schemas.microsoft.com/office/drawing/2014/main" id="{3346163A-DE8F-D83B-2581-D5CB2C3D997C}"/>
              </a:ext>
            </a:extLst>
          </p:cNvPr>
          <p:cNvSpPr/>
          <p:nvPr/>
        </p:nvSpPr>
        <p:spPr>
          <a:xfrm>
            <a:off x="7071919" y="2384212"/>
            <a:ext cx="4406889" cy="1011581"/>
          </a:xfrm>
          <a:custGeom>
            <a:avLst/>
            <a:gdLst>
              <a:gd name="csX0" fmla="*/ 0 w 3706657"/>
              <a:gd name="csY0" fmla="*/ 252895 h 1011581"/>
              <a:gd name="csX1" fmla="*/ 3200867 w 3706657"/>
              <a:gd name="csY1" fmla="*/ 252895 h 1011581"/>
              <a:gd name="csX2" fmla="*/ 3200867 w 3706657"/>
              <a:gd name="csY2" fmla="*/ 0 h 1011581"/>
              <a:gd name="csX3" fmla="*/ 3706657 w 3706657"/>
              <a:gd name="csY3" fmla="*/ 505791 h 1011581"/>
              <a:gd name="csX4" fmla="*/ 3200867 w 3706657"/>
              <a:gd name="csY4" fmla="*/ 1011581 h 1011581"/>
              <a:gd name="csX5" fmla="*/ 3200867 w 3706657"/>
              <a:gd name="csY5" fmla="*/ 758686 h 1011581"/>
              <a:gd name="csX6" fmla="*/ 0 w 3706657"/>
              <a:gd name="csY6" fmla="*/ 758686 h 1011581"/>
              <a:gd name="csX7" fmla="*/ 0 w 3706657"/>
              <a:gd name="csY7" fmla="*/ 252895 h 10115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706657" h="1011581">
                <a:moveTo>
                  <a:pt x="0" y="252895"/>
                </a:moveTo>
                <a:lnTo>
                  <a:pt x="3200867" y="252895"/>
                </a:lnTo>
                <a:lnTo>
                  <a:pt x="3200867" y="0"/>
                </a:lnTo>
                <a:lnTo>
                  <a:pt x="3706657" y="505791"/>
                </a:lnTo>
                <a:lnTo>
                  <a:pt x="3200867" y="1011581"/>
                </a:lnTo>
                <a:lnTo>
                  <a:pt x="3200867" y="758686"/>
                </a:lnTo>
                <a:lnTo>
                  <a:pt x="0" y="758686"/>
                </a:lnTo>
                <a:lnTo>
                  <a:pt x="0" y="252895"/>
                </a:lnTo>
                <a:close/>
              </a:path>
            </a:pathLst>
          </a:custGeom>
          <a:ln>
            <a:noFill/>
          </a:ln>
        </p:spPr>
        <p:style>
          <a:lnRef idx="2">
            <a:schemeClr val="lt1">
              <a:hueOff val="0"/>
              <a:satOff val="0"/>
              <a:lumOff val="0"/>
              <a:alphaOff val="0"/>
            </a:schemeClr>
          </a:lnRef>
          <a:fillRef idx="1">
            <a:schemeClr val="accent5">
              <a:hueOff val="-5068907"/>
              <a:satOff val="-13064"/>
              <a:lumOff val="-8824"/>
              <a:alphaOff val="0"/>
            </a:schemeClr>
          </a:fillRef>
          <a:effectRef idx="0">
            <a:schemeClr val="accent5">
              <a:hueOff val="-5068907"/>
              <a:satOff val="-13064"/>
              <a:lumOff val="-8824"/>
              <a:alphaOff val="0"/>
            </a:schemeClr>
          </a:effectRef>
          <a:fontRef idx="minor">
            <a:schemeClr val="lt1"/>
          </a:fontRef>
        </p:style>
        <p:txBody>
          <a:bodyPr spcFirstLastPara="0" vert="horz" wrap="square" lIns="60960" tIns="396895" rIns="506895" bIns="396895" numCol="1" spcCol="1270" anchor="ctr" anchorCtr="0">
            <a:noAutofit/>
          </a:bodyPr>
          <a:lstStyle/>
          <a:p>
            <a:pPr marL="0" lvl="0" indent="0" algn="l" defTabSz="711200">
              <a:lnSpc>
                <a:spcPct val="90000"/>
              </a:lnSpc>
              <a:spcBef>
                <a:spcPct val="0"/>
              </a:spcBef>
              <a:spcAft>
                <a:spcPct val="35000"/>
              </a:spcAft>
              <a:buNone/>
            </a:pPr>
            <a:r>
              <a:rPr lang="en-US" altLang="zh-CN" sz="1600"/>
              <a:t>Review</a:t>
            </a:r>
            <a:endParaRPr lang="zh-CN" altLang="en-US" sz="1600"/>
          </a:p>
        </p:txBody>
      </p:sp>
      <p:sp>
        <p:nvSpPr>
          <p:cNvPr id="11" name="任意多边形: 形状 10">
            <a:extLst>
              <a:ext uri="{FF2B5EF4-FFF2-40B4-BE49-F238E27FC236}">
                <a16:creationId xmlns:a16="http://schemas.microsoft.com/office/drawing/2014/main" id="{E1D23A52-85E0-B825-0D1D-E3502F06B0B0}"/>
              </a:ext>
            </a:extLst>
          </p:cNvPr>
          <p:cNvSpPr/>
          <p:nvPr/>
        </p:nvSpPr>
        <p:spPr>
          <a:xfrm>
            <a:off x="7071919" y="3138402"/>
            <a:ext cx="1985819" cy="1994038"/>
          </a:xfrm>
          <a:custGeom>
            <a:avLst/>
            <a:gdLst>
              <a:gd name="csX0" fmla="*/ 0 w 1285587"/>
              <a:gd name="csY0" fmla="*/ 0 h 1857425"/>
              <a:gd name="csX1" fmla="*/ 1285587 w 1285587"/>
              <a:gd name="csY1" fmla="*/ 0 h 1857425"/>
              <a:gd name="csX2" fmla="*/ 1285587 w 1285587"/>
              <a:gd name="csY2" fmla="*/ 1857425 h 1857425"/>
              <a:gd name="csX3" fmla="*/ 0 w 1285587"/>
              <a:gd name="csY3" fmla="*/ 1857425 h 1857425"/>
              <a:gd name="csX4" fmla="*/ 0 w 1285587"/>
              <a:gd name="csY4" fmla="*/ 0 h 1857425"/>
            </a:gdLst>
            <a:ahLst/>
            <a:cxnLst>
              <a:cxn ang="0">
                <a:pos x="csX0" y="csY0"/>
              </a:cxn>
              <a:cxn ang="0">
                <a:pos x="csX1" y="csY1"/>
              </a:cxn>
              <a:cxn ang="0">
                <a:pos x="csX2" y="csY2"/>
              </a:cxn>
              <a:cxn ang="0">
                <a:pos x="csX3" y="csY3"/>
              </a:cxn>
              <a:cxn ang="0">
                <a:pos x="csX4" y="csY4"/>
              </a:cxn>
            </a:cxnLst>
            <a:rect l="l" t="t" r="r" b="b"/>
            <a:pathLst>
              <a:path w="1285587" h="1857425">
                <a:moveTo>
                  <a:pt x="0" y="0"/>
                </a:moveTo>
                <a:lnTo>
                  <a:pt x="1285587" y="0"/>
                </a:lnTo>
                <a:lnTo>
                  <a:pt x="1285587" y="1857425"/>
                </a:lnTo>
                <a:lnTo>
                  <a:pt x="0" y="1857425"/>
                </a:lnTo>
                <a:lnTo>
                  <a:pt x="0" y="0"/>
                </a:lnTo>
                <a:close/>
              </a:path>
            </a:pathLst>
          </a:custGeom>
          <a:noFill/>
          <a:ln>
            <a:noFill/>
          </a:ln>
        </p:spPr>
        <p:style>
          <a:lnRef idx="2">
            <a:schemeClr val="accent5">
              <a:hueOff val="-5068907"/>
              <a:satOff val="-13064"/>
              <a:lumOff val="-8824"/>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zh-CN" altLang="en-US" sz="1600"/>
              <a:t>评审</a:t>
            </a:r>
            <a:endParaRPr lang="en-US" altLang="zh-CN" sz="1600"/>
          </a:p>
          <a:p>
            <a:pPr marL="0" lvl="0" indent="0" algn="l" defTabSz="711200">
              <a:lnSpc>
                <a:spcPct val="90000"/>
              </a:lnSpc>
              <a:spcBef>
                <a:spcPct val="0"/>
              </a:spcBef>
              <a:spcAft>
                <a:spcPct val="35000"/>
              </a:spcAft>
              <a:buNone/>
            </a:pPr>
            <a:r>
              <a:rPr lang="zh-CN" altLang="en-US" sz="1600"/>
              <a:t>监视冲刺成果</a:t>
            </a:r>
            <a:endParaRPr lang="en-US" altLang="zh-CN" sz="1600"/>
          </a:p>
          <a:p>
            <a:pPr marL="0" lvl="0" indent="0" algn="l" defTabSz="711200">
              <a:lnSpc>
                <a:spcPct val="90000"/>
              </a:lnSpc>
              <a:spcBef>
                <a:spcPct val="0"/>
              </a:spcBef>
              <a:spcAft>
                <a:spcPct val="35000"/>
              </a:spcAft>
              <a:buNone/>
            </a:pPr>
            <a:r>
              <a:rPr lang="zh-CN" altLang="en-US" sz="1600"/>
              <a:t>搜集反馈</a:t>
            </a:r>
            <a:endParaRPr lang="en-US" altLang="zh-CN" sz="1600"/>
          </a:p>
          <a:p>
            <a:pPr marL="0" lvl="0" indent="0" algn="l" defTabSz="711200">
              <a:lnSpc>
                <a:spcPct val="90000"/>
              </a:lnSpc>
              <a:spcBef>
                <a:spcPct val="0"/>
              </a:spcBef>
              <a:spcAft>
                <a:spcPct val="35000"/>
              </a:spcAft>
              <a:buNone/>
            </a:pPr>
            <a:r>
              <a:rPr lang="zh-CN" altLang="en-US" sz="1600"/>
              <a:t>调整方向</a:t>
            </a:r>
            <a:endParaRPr lang="en-US" altLang="zh-CN" sz="1600"/>
          </a:p>
          <a:p>
            <a:pPr marL="0" lvl="0" indent="0" algn="l" defTabSz="711200">
              <a:lnSpc>
                <a:spcPct val="90000"/>
              </a:lnSpc>
              <a:spcBef>
                <a:spcPct val="0"/>
              </a:spcBef>
              <a:spcAft>
                <a:spcPct val="35000"/>
              </a:spcAft>
              <a:buNone/>
            </a:pPr>
            <a:r>
              <a:rPr lang="zh-CN" altLang="en-US" sz="1600"/>
              <a:t>促进协作和透明</a:t>
            </a:r>
            <a:endParaRPr lang="en-US" altLang="zh-CN" sz="1600"/>
          </a:p>
          <a:p>
            <a:pPr defTabSz="711200">
              <a:lnSpc>
                <a:spcPct val="90000"/>
              </a:lnSpc>
              <a:spcBef>
                <a:spcPct val="0"/>
              </a:spcBef>
              <a:spcAft>
                <a:spcPct val="35000"/>
              </a:spcAft>
            </a:pPr>
            <a:r>
              <a:rPr lang="zh-CN" altLang="en-US" sz="1600"/>
              <a:t>非仅仅展示</a:t>
            </a:r>
          </a:p>
          <a:p>
            <a:pPr marL="0" lvl="0" indent="0" algn="l" defTabSz="711200">
              <a:lnSpc>
                <a:spcPct val="90000"/>
              </a:lnSpc>
              <a:spcBef>
                <a:spcPct val="0"/>
              </a:spcBef>
              <a:spcAft>
                <a:spcPct val="35000"/>
              </a:spcAft>
              <a:buNone/>
            </a:pPr>
            <a:r>
              <a:rPr lang="en-US" altLang="zh-CN" sz="1600"/>
              <a:t>4h</a:t>
            </a:r>
          </a:p>
        </p:txBody>
      </p:sp>
      <p:sp>
        <p:nvSpPr>
          <p:cNvPr id="13" name="任意多边形: 形状 12">
            <a:extLst>
              <a:ext uri="{FF2B5EF4-FFF2-40B4-BE49-F238E27FC236}">
                <a16:creationId xmlns:a16="http://schemas.microsoft.com/office/drawing/2014/main" id="{82705CF4-7057-910B-5907-A87C903A2056}"/>
              </a:ext>
            </a:extLst>
          </p:cNvPr>
          <p:cNvSpPr/>
          <p:nvPr/>
        </p:nvSpPr>
        <p:spPr>
          <a:xfrm>
            <a:off x="9073690" y="2775611"/>
            <a:ext cx="2389028" cy="1011581"/>
          </a:xfrm>
          <a:custGeom>
            <a:avLst/>
            <a:gdLst>
              <a:gd name="csX0" fmla="*/ 0 w 2389028"/>
              <a:gd name="csY0" fmla="*/ 252895 h 1011581"/>
              <a:gd name="csX1" fmla="*/ 1883238 w 2389028"/>
              <a:gd name="csY1" fmla="*/ 252895 h 1011581"/>
              <a:gd name="csX2" fmla="*/ 1883238 w 2389028"/>
              <a:gd name="csY2" fmla="*/ 0 h 1011581"/>
              <a:gd name="csX3" fmla="*/ 2389028 w 2389028"/>
              <a:gd name="csY3" fmla="*/ 505791 h 1011581"/>
              <a:gd name="csX4" fmla="*/ 1883238 w 2389028"/>
              <a:gd name="csY4" fmla="*/ 1011581 h 1011581"/>
              <a:gd name="csX5" fmla="*/ 1883238 w 2389028"/>
              <a:gd name="csY5" fmla="*/ 758686 h 1011581"/>
              <a:gd name="csX6" fmla="*/ 0 w 2389028"/>
              <a:gd name="csY6" fmla="*/ 758686 h 1011581"/>
              <a:gd name="csX7" fmla="*/ 0 w 2389028"/>
              <a:gd name="csY7" fmla="*/ 252895 h 10115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389028" h="1011581">
                <a:moveTo>
                  <a:pt x="0" y="252895"/>
                </a:moveTo>
                <a:lnTo>
                  <a:pt x="1883238" y="252895"/>
                </a:lnTo>
                <a:lnTo>
                  <a:pt x="1883238" y="0"/>
                </a:lnTo>
                <a:lnTo>
                  <a:pt x="2389028" y="505791"/>
                </a:lnTo>
                <a:lnTo>
                  <a:pt x="1883238" y="1011581"/>
                </a:lnTo>
                <a:lnTo>
                  <a:pt x="1883238" y="758686"/>
                </a:lnTo>
                <a:lnTo>
                  <a:pt x="0" y="758686"/>
                </a:lnTo>
                <a:lnTo>
                  <a:pt x="0" y="252895"/>
                </a:lnTo>
                <a:close/>
              </a:path>
            </a:pathLst>
          </a:custGeom>
          <a:ln>
            <a:noFill/>
          </a:ln>
        </p:spPr>
        <p:style>
          <a:lnRef idx="2">
            <a:schemeClr val="lt1">
              <a:hueOff val="0"/>
              <a:satOff val="0"/>
              <a:lumOff val="0"/>
              <a:alphaOff val="0"/>
            </a:schemeClr>
          </a:lnRef>
          <a:fillRef idx="1">
            <a:schemeClr val="accent5">
              <a:hueOff val="-6758543"/>
              <a:satOff val="-17419"/>
              <a:lumOff val="-11765"/>
              <a:alphaOff val="0"/>
            </a:schemeClr>
          </a:fillRef>
          <a:effectRef idx="0">
            <a:schemeClr val="accent5">
              <a:hueOff val="-6758543"/>
              <a:satOff val="-17419"/>
              <a:lumOff val="-11765"/>
              <a:alphaOff val="0"/>
            </a:schemeClr>
          </a:effectRef>
          <a:fontRef idx="minor">
            <a:schemeClr val="lt1"/>
          </a:fontRef>
        </p:style>
        <p:txBody>
          <a:bodyPr spcFirstLastPara="0" vert="horz" wrap="square" lIns="60960" tIns="396895" rIns="506895" bIns="396895" numCol="1" spcCol="1270" anchor="ctr" anchorCtr="0">
            <a:noAutofit/>
          </a:bodyPr>
          <a:lstStyle/>
          <a:p>
            <a:pPr marL="0" lvl="0" indent="0" algn="l" defTabSz="711200">
              <a:lnSpc>
                <a:spcPct val="90000"/>
              </a:lnSpc>
              <a:spcBef>
                <a:spcPct val="0"/>
              </a:spcBef>
              <a:spcAft>
                <a:spcPct val="35000"/>
              </a:spcAft>
              <a:buNone/>
            </a:pPr>
            <a:r>
              <a:rPr lang="en-US" altLang="zh-CN" sz="1600"/>
              <a:t>Retrospective</a:t>
            </a:r>
            <a:endParaRPr lang="zh-CN" altLang="en-US" sz="1600"/>
          </a:p>
        </p:txBody>
      </p:sp>
      <p:sp>
        <p:nvSpPr>
          <p:cNvPr id="14" name="任意多边形: 形状 13">
            <a:extLst>
              <a:ext uri="{FF2B5EF4-FFF2-40B4-BE49-F238E27FC236}">
                <a16:creationId xmlns:a16="http://schemas.microsoft.com/office/drawing/2014/main" id="{0AE37BB5-9D64-178F-D325-C79C75F2FBE0}"/>
              </a:ext>
            </a:extLst>
          </p:cNvPr>
          <p:cNvSpPr/>
          <p:nvPr/>
        </p:nvSpPr>
        <p:spPr>
          <a:xfrm>
            <a:off x="9073690" y="3524885"/>
            <a:ext cx="1899110" cy="1621417"/>
          </a:xfrm>
          <a:custGeom>
            <a:avLst/>
            <a:gdLst>
              <a:gd name="csX0" fmla="*/ 0 w 1285587"/>
              <a:gd name="csY0" fmla="*/ 0 h 1857425"/>
              <a:gd name="csX1" fmla="*/ 1285587 w 1285587"/>
              <a:gd name="csY1" fmla="*/ 0 h 1857425"/>
              <a:gd name="csX2" fmla="*/ 1285587 w 1285587"/>
              <a:gd name="csY2" fmla="*/ 1857425 h 1857425"/>
              <a:gd name="csX3" fmla="*/ 0 w 1285587"/>
              <a:gd name="csY3" fmla="*/ 1857425 h 1857425"/>
              <a:gd name="csX4" fmla="*/ 0 w 1285587"/>
              <a:gd name="csY4" fmla="*/ 0 h 1857425"/>
            </a:gdLst>
            <a:ahLst/>
            <a:cxnLst>
              <a:cxn ang="0">
                <a:pos x="csX0" y="csY0"/>
              </a:cxn>
              <a:cxn ang="0">
                <a:pos x="csX1" y="csY1"/>
              </a:cxn>
              <a:cxn ang="0">
                <a:pos x="csX2" y="csY2"/>
              </a:cxn>
              <a:cxn ang="0">
                <a:pos x="csX3" y="csY3"/>
              </a:cxn>
              <a:cxn ang="0">
                <a:pos x="csX4" y="csY4"/>
              </a:cxn>
            </a:cxnLst>
            <a:rect l="l" t="t" r="r" b="b"/>
            <a:pathLst>
              <a:path w="1285587" h="1857425">
                <a:moveTo>
                  <a:pt x="0" y="0"/>
                </a:moveTo>
                <a:lnTo>
                  <a:pt x="1285587" y="0"/>
                </a:lnTo>
                <a:lnTo>
                  <a:pt x="1285587" y="1857425"/>
                </a:lnTo>
                <a:lnTo>
                  <a:pt x="0" y="1857425"/>
                </a:lnTo>
                <a:lnTo>
                  <a:pt x="0" y="0"/>
                </a:lnTo>
                <a:close/>
              </a:path>
            </a:pathLst>
          </a:custGeom>
          <a:noFill/>
          <a:ln>
            <a:noFill/>
          </a:ln>
        </p:spPr>
        <p:style>
          <a:lnRef idx="2">
            <a:schemeClr val="accent5">
              <a:hueOff val="-6758543"/>
              <a:satOff val="-17419"/>
              <a:lumOff val="-11765"/>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zh-CN" altLang="en-US" sz="1600"/>
              <a:t>回顾</a:t>
            </a:r>
            <a:endParaRPr lang="en-US" altLang="zh-CN" sz="1600"/>
          </a:p>
          <a:p>
            <a:pPr lvl="0" defTabSz="711200">
              <a:lnSpc>
                <a:spcPct val="90000"/>
              </a:lnSpc>
              <a:spcBef>
                <a:spcPct val="0"/>
              </a:spcBef>
              <a:spcAft>
                <a:spcPct val="35000"/>
              </a:spcAft>
            </a:pPr>
            <a:r>
              <a:rPr lang="zh-CN" altLang="en-US" sz="1600"/>
              <a:t>最后一个事件</a:t>
            </a:r>
            <a:endParaRPr lang="en-US" altLang="zh-CN" sz="1600"/>
          </a:p>
          <a:p>
            <a:pPr lvl="0" defTabSz="711200">
              <a:lnSpc>
                <a:spcPct val="90000"/>
              </a:lnSpc>
              <a:spcBef>
                <a:spcPct val="0"/>
              </a:spcBef>
              <a:spcAft>
                <a:spcPct val="35000"/>
              </a:spcAft>
            </a:pPr>
            <a:r>
              <a:rPr lang="zh-CN" altLang="en-US" sz="1600"/>
              <a:t>监视整个 </a:t>
            </a:r>
            <a:r>
              <a:rPr lang="en-US" altLang="zh-CN" sz="1600"/>
              <a:t>Sprint</a:t>
            </a:r>
          </a:p>
          <a:p>
            <a:pPr lvl="0" defTabSz="711200">
              <a:lnSpc>
                <a:spcPct val="90000"/>
              </a:lnSpc>
              <a:spcBef>
                <a:spcPct val="0"/>
              </a:spcBef>
              <a:spcAft>
                <a:spcPct val="35000"/>
              </a:spcAft>
            </a:pPr>
            <a:r>
              <a:rPr lang="zh-CN" altLang="en-US" sz="1600"/>
              <a:t>仅团队成员参加</a:t>
            </a:r>
            <a:endParaRPr lang="en-US" altLang="zh-CN" sz="1600"/>
          </a:p>
          <a:p>
            <a:pPr marL="0" lvl="0" indent="0" algn="l" defTabSz="711200">
              <a:lnSpc>
                <a:spcPct val="90000"/>
              </a:lnSpc>
              <a:spcBef>
                <a:spcPct val="0"/>
              </a:spcBef>
              <a:spcAft>
                <a:spcPct val="35000"/>
              </a:spcAft>
              <a:buNone/>
            </a:pPr>
            <a:r>
              <a:rPr lang="en-US" altLang="zh-CN" sz="1600"/>
              <a:t>3h</a:t>
            </a:r>
          </a:p>
        </p:txBody>
      </p:sp>
    </p:spTree>
    <p:extLst>
      <p:ext uri="{BB962C8B-B14F-4D97-AF65-F5344CB8AC3E}">
        <p14:creationId xmlns:p14="http://schemas.microsoft.com/office/powerpoint/2010/main" val="259632493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4D5441-EBFD-69E6-6226-DF57229080E7}"/>
              </a:ext>
            </a:extLst>
          </p:cNvPr>
          <p:cNvSpPr>
            <a:spLocks noGrp="1"/>
          </p:cNvSpPr>
          <p:nvPr>
            <p:ph type="title"/>
          </p:nvPr>
        </p:nvSpPr>
        <p:spPr>
          <a:xfrm>
            <a:off x="792000" y="360000"/>
            <a:ext cx="6375921" cy="429413"/>
          </a:xfrm>
        </p:spPr>
        <p:txBody>
          <a:bodyPr/>
          <a:lstStyle/>
          <a:p>
            <a:r>
              <a:rPr lang="en-US" altLang="zh-CN"/>
              <a:t>2.6.5.1 </a:t>
            </a:r>
            <a:r>
              <a:rPr lang="zh-CN" altLang="en-US"/>
              <a:t>冲刺</a:t>
            </a:r>
          </a:p>
        </p:txBody>
      </p:sp>
      <p:sp>
        <p:nvSpPr>
          <p:cNvPr id="3" name="内容占位符 2">
            <a:extLst>
              <a:ext uri="{FF2B5EF4-FFF2-40B4-BE49-F238E27FC236}">
                <a16:creationId xmlns:a16="http://schemas.microsoft.com/office/drawing/2014/main" id="{48D554B0-AF84-B69A-EC4B-13529DB37D08}"/>
              </a:ext>
            </a:extLst>
          </p:cNvPr>
          <p:cNvSpPr>
            <a:spLocks noGrp="1"/>
          </p:cNvSpPr>
          <p:nvPr>
            <p:ph idx="1"/>
          </p:nvPr>
        </p:nvSpPr>
        <p:spPr>
          <a:xfrm>
            <a:off x="696000" y="864000"/>
            <a:ext cx="10800000" cy="5400000"/>
          </a:xfrm>
        </p:spPr>
        <p:txBody>
          <a:bodyPr/>
          <a:lstStyle/>
          <a:p>
            <a:r>
              <a:rPr lang="en-US" altLang="zh-CN"/>
              <a:t>No changes are made that would endanger the Sprint Goal</a:t>
            </a:r>
          </a:p>
          <a:p>
            <a:r>
              <a:rPr lang="en-US" altLang="zh-CN"/>
              <a:t>Quality does not decrease</a:t>
            </a:r>
          </a:p>
          <a:p>
            <a:r>
              <a:rPr lang="en-US" altLang="zh-CN"/>
              <a:t>The Product Backlog is refined as needed</a:t>
            </a:r>
          </a:p>
          <a:p>
            <a:r>
              <a:rPr lang="en-US" altLang="zh-CN"/>
              <a:t>Scope may be clarified and renegotiated with the Product Owner as more is learned</a:t>
            </a:r>
          </a:p>
          <a:p>
            <a:endParaRPr lang="en-US" altLang="zh-CN"/>
          </a:p>
          <a:p>
            <a:r>
              <a:rPr lang="en-US" altLang="zh-CN"/>
              <a:t>A Sprint could be cancelled if the Sprint Goal becomes obsolete</a:t>
            </a:r>
          </a:p>
          <a:p>
            <a:r>
              <a:rPr lang="en-US" altLang="zh-CN"/>
              <a:t>Only the Product Owner has the authority to cancel the Sprint</a:t>
            </a:r>
          </a:p>
          <a:p>
            <a:endParaRPr lang="en-US" altLang="zh-CN"/>
          </a:p>
          <a:p>
            <a:r>
              <a:rPr lang="en-US" altLang="zh-CN"/>
              <a:t>Tips</a:t>
            </a:r>
          </a:p>
          <a:p>
            <a:pPr lvl="1"/>
            <a:r>
              <a:rPr lang="zh-CN" altLang="en-US"/>
              <a:t>自然月 </a:t>
            </a:r>
            <a:r>
              <a:rPr lang="en-US" altLang="zh-CN"/>
              <a:t>Calendar Month vs </a:t>
            </a:r>
            <a:r>
              <a:rPr lang="zh-CN" altLang="en-US"/>
              <a:t>滚动月</a:t>
            </a:r>
            <a:r>
              <a:rPr lang="en-US" altLang="zh-CN"/>
              <a:t>Rolling Month</a:t>
            </a:r>
            <a:endParaRPr lang="zh-CN" altLang="en-US"/>
          </a:p>
        </p:txBody>
      </p:sp>
      <p:sp>
        <p:nvSpPr>
          <p:cNvPr id="4" name="文本占位符 3">
            <a:extLst>
              <a:ext uri="{FF2B5EF4-FFF2-40B4-BE49-F238E27FC236}">
                <a16:creationId xmlns:a16="http://schemas.microsoft.com/office/drawing/2014/main" id="{819CA702-2E75-0746-28EA-70F36B580B6A}"/>
              </a:ext>
            </a:extLst>
          </p:cNvPr>
          <p:cNvSpPr>
            <a:spLocks noGrp="1"/>
          </p:cNvSpPr>
          <p:nvPr>
            <p:ph type="body" sz="quarter" idx="10"/>
          </p:nvPr>
        </p:nvSpPr>
        <p:spPr>
          <a:xfrm>
            <a:off x="7071919" y="448519"/>
            <a:ext cx="4424080" cy="338554"/>
          </a:xfrm>
        </p:spPr>
        <p:txBody>
          <a:bodyPr/>
          <a:lstStyle/>
          <a:p>
            <a:r>
              <a:rPr lang="en-US" altLang="zh-CN"/>
              <a:t>Sprint</a:t>
            </a:r>
            <a:endParaRPr lang="zh-CN" altLang="en-US"/>
          </a:p>
        </p:txBody>
      </p:sp>
    </p:spTree>
    <p:extLst>
      <p:ext uri="{BB962C8B-B14F-4D97-AF65-F5344CB8AC3E}">
        <p14:creationId xmlns:p14="http://schemas.microsoft.com/office/powerpoint/2010/main" val="346884336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D1C1A-E92C-BEE7-FE41-B38A45D1A6B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61436EA-B0CB-DA13-5613-5A5556178BA3}"/>
              </a:ext>
            </a:extLst>
          </p:cNvPr>
          <p:cNvSpPr>
            <a:spLocks noGrp="1"/>
          </p:cNvSpPr>
          <p:nvPr>
            <p:ph type="title"/>
          </p:nvPr>
        </p:nvSpPr>
        <p:spPr>
          <a:xfrm>
            <a:off x="792000" y="360000"/>
            <a:ext cx="6375921" cy="429413"/>
          </a:xfrm>
        </p:spPr>
        <p:txBody>
          <a:bodyPr/>
          <a:lstStyle/>
          <a:p>
            <a:r>
              <a:rPr lang="en-US" altLang="zh-CN"/>
              <a:t>2.6.5.2 </a:t>
            </a:r>
            <a:r>
              <a:rPr lang="zh-CN" altLang="en-US"/>
              <a:t>冲刺计划</a:t>
            </a:r>
          </a:p>
        </p:txBody>
      </p:sp>
      <p:sp>
        <p:nvSpPr>
          <p:cNvPr id="3" name="内容占位符 2">
            <a:extLst>
              <a:ext uri="{FF2B5EF4-FFF2-40B4-BE49-F238E27FC236}">
                <a16:creationId xmlns:a16="http://schemas.microsoft.com/office/drawing/2014/main" id="{87A983A9-C0EA-8834-4185-BFF766D1665D}"/>
              </a:ext>
            </a:extLst>
          </p:cNvPr>
          <p:cNvSpPr>
            <a:spLocks noGrp="1"/>
          </p:cNvSpPr>
          <p:nvPr>
            <p:ph idx="1"/>
          </p:nvPr>
        </p:nvSpPr>
        <p:spPr>
          <a:xfrm>
            <a:off x="696000" y="864000"/>
            <a:ext cx="10800000" cy="5400000"/>
          </a:xfrm>
        </p:spPr>
        <p:txBody>
          <a:bodyPr/>
          <a:lstStyle/>
          <a:p>
            <a:r>
              <a:rPr lang="en-US" altLang="zh-CN"/>
              <a:t>Topics</a:t>
            </a:r>
            <a:r>
              <a:rPr lang="zh-CN" altLang="en-US"/>
              <a:t>：</a:t>
            </a:r>
            <a:endParaRPr lang="en-US" altLang="zh-CN"/>
          </a:p>
          <a:p>
            <a:pPr lvl="1"/>
            <a:r>
              <a:rPr lang="en-US" altLang="zh-CN"/>
              <a:t>Topic One: Why is this Sprint valuable?</a:t>
            </a:r>
          </a:p>
          <a:p>
            <a:pPr lvl="1"/>
            <a:r>
              <a:rPr lang="en-US" altLang="zh-CN"/>
              <a:t>Topic Two: What can be Done this Sprint?</a:t>
            </a:r>
          </a:p>
          <a:p>
            <a:pPr lvl="1"/>
            <a:r>
              <a:rPr lang="en-US" altLang="zh-CN"/>
              <a:t>Topic Three: How will the chosen work get done?</a:t>
            </a:r>
          </a:p>
          <a:p>
            <a:r>
              <a:rPr lang="en-US" altLang="zh-CN"/>
              <a:t>is timeboxed to a maximum of eight hours for a one-month Sprint</a:t>
            </a:r>
            <a:endParaRPr lang="zh-CN" altLang="en-US"/>
          </a:p>
        </p:txBody>
      </p:sp>
      <p:sp>
        <p:nvSpPr>
          <p:cNvPr id="4" name="文本占位符 3">
            <a:extLst>
              <a:ext uri="{FF2B5EF4-FFF2-40B4-BE49-F238E27FC236}">
                <a16:creationId xmlns:a16="http://schemas.microsoft.com/office/drawing/2014/main" id="{6618F1C2-DDB0-904E-CEE9-18C4BF744D12}"/>
              </a:ext>
            </a:extLst>
          </p:cNvPr>
          <p:cNvSpPr>
            <a:spLocks noGrp="1"/>
          </p:cNvSpPr>
          <p:nvPr>
            <p:ph type="body" sz="quarter" idx="10"/>
          </p:nvPr>
        </p:nvSpPr>
        <p:spPr>
          <a:xfrm>
            <a:off x="7071919" y="448519"/>
            <a:ext cx="4424080" cy="338554"/>
          </a:xfrm>
        </p:spPr>
        <p:txBody>
          <a:bodyPr/>
          <a:lstStyle/>
          <a:p>
            <a:r>
              <a:rPr lang="en-US" altLang="zh-CN"/>
              <a:t>Sprint planning</a:t>
            </a:r>
            <a:endParaRPr lang="zh-CN" altLang="en-US"/>
          </a:p>
        </p:txBody>
      </p:sp>
    </p:spTree>
    <p:extLst>
      <p:ext uri="{BB962C8B-B14F-4D97-AF65-F5344CB8AC3E}">
        <p14:creationId xmlns:p14="http://schemas.microsoft.com/office/powerpoint/2010/main" val="305709435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C2049-CD25-9BE3-973C-D849554F16F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048BFF2-F452-0D67-280D-A55635017782}"/>
              </a:ext>
            </a:extLst>
          </p:cNvPr>
          <p:cNvSpPr>
            <a:spLocks noGrp="1"/>
          </p:cNvSpPr>
          <p:nvPr>
            <p:ph type="title"/>
          </p:nvPr>
        </p:nvSpPr>
        <p:spPr>
          <a:xfrm>
            <a:off x="792000" y="360000"/>
            <a:ext cx="6375921" cy="429413"/>
          </a:xfrm>
        </p:spPr>
        <p:txBody>
          <a:bodyPr/>
          <a:lstStyle/>
          <a:p>
            <a:r>
              <a:rPr lang="en-US" altLang="zh-CN"/>
              <a:t>2.6.5.3 </a:t>
            </a:r>
            <a:r>
              <a:rPr lang="zh-CN" altLang="en-US"/>
              <a:t>每日站会</a:t>
            </a:r>
          </a:p>
        </p:txBody>
      </p:sp>
      <p:sp>
        <p:nvSpPr>
          <p:cNvPr id="7" name="内容占位符 6">
            <a:extLst>
              <a:ext uri="{FF2B5EF4-FFF2-40B4-BE49-F238E27FC236}">
                <a16:creationId xmlns:a16="http://schemas.microsoft.com/office/drawing/2014/main" id="{8FC31593-BBF7-E3CB-628C-A1280E773663}"/>
              </a:ext>
            </a:extLst>
          </p:cNvPr>
          <p:cNvSpPr>
            <a:spLocks noGrp="1"/>
          </p:cNvSpPr>
          <p:nvPr>
            <p:ph idx="1"/>
          </p:nvPr>
        </p:nvSpPr>
        <p:spPr>
          <a:xfrm>
            <a:off x="696000" y="864000"/>
            <a:ext cx="10800000" cy="5400000"/>
          </a:xfrm>
        </p:spPr>
        <p:txBody>
          <a:bodyPr/>
          <a:lstStyle/>
          <a:p>
            <a:r>
              <a:rPr lang="en-US" altLang="zh-CN"/>
              <a:t>to inspect progress toward the Sprint Goal and adapt the Sprint Backlog as necessary, adjusting the upcoming planned work</a:t>
            </a:r>
          </a:p>
          <a:p>
            <a:r>
              <a:rPr lang="en-US" altLang="zh-CN"/>
              <a:t>a 15-minute event</a:t>
            </a:r>
          </a:p>
          <a:p>
            <a:r>
              <a:rPr lang="en-US" altLang="zh-CN"/>
              <a:t>at the same time and place every working day</a:t>
            </a:r>
          </a:p>
          <a:p>
            <a:r>
              <a:rPr lang="en-US" altLang="zh-CN"/>
              <a:t>improve communications, identify impediments, promote quick decision-making, and consequently eliminate the need for other meetings</a:t>
            </a:r>
          </a:p>
          <a:p>
            <a:r>
              <a:rPr lang="en-US" altLang="zh-CN"/>
              <a:t>often meet throughout the day</a:t>
            </a:r>
            <a:endParaRPr lang="zh-CN" altLang="en-US"/>
          </a:p>
        </p:txBody>
      </p:sp>
      <p:sp>
        <p:nvSpPr>
          <p:cNvPr id="4" name="文本占位符 3">
            <a:extLst>
              <a:ext uri="{FF2B5EF4-FFF2-40B4-BE49-F238E27FC236}">
                <a16:creationId xmlns:a16="http://schemas.microsoft.com/office/drawing/2014/main" id="{C9101E6F-A3BA-1197-E530-7402F23A5AEB}"/>
              </a:ext>
            </a:extLst>
          </p:cNvPr>
          <p:cNvSpPr>
            <a:spLocks noGrp="1"/>
          </p:cNvSpPr>
          <p:nvPr>
            <p:ph type="body" sz="quarter" idx="10"/>
          </p:nvPr>
        </p:nvSpPr>
        <p:spPr>
          <a:xfrm>
            <a:off x="7071919" y="448519"/>
            <a:ext cx="4424080" cy="338554"/>
          </a:xfrm>
        </p:spPr>
        <p:txBody>
          <a:bodyPr/>
          <a:lstStyle/>
          <a:p>
            <a:r>
              <a:rPr lang="en-US" altLang="zh-CN"/>
              <a:t>Daily scrum</a:t>
            </a:r>
            <a:endParaRPr lang="zh-CN" altLang="en-US"/>
          </a:p>
        </p:txBody>
      </p:sp>
    </p:spTree>
    <p:extLst>
      <p:ext uri="{BB962C8B-B14F-4D97-AF65-F5344CB8AC3E}">
        <p14:creationId xmlns:p14="http://schemas.microsoft.com/office/powerpoint/2010/main" val="52565204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B159F-09B7-BF6A-6C42-E1241234A2E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2AAF167-B579-4524-099E-B47FF64C98A6}"/>
              </a:ext>
            </a:extLst>
          </p:cNvPr>
          <p:cNvSpPr>
            <a:spLocks noGrp="1"/>
          </p:cNvSpPr>
          <p:nvPr>
            <p:ph type="title"/>
          </p:nvPr>
        </p:nvSpPr>
        <p:spPr>
          <a:xfrm>
            <a:off x="792000" y="360000"/>
            <a:ext cx="6375921" cy="429413"/>
          </a:xfrm>
        </p:spPr>
        <p:txBody>
          <a:bodyPr/>
          <a:lstStyle/>
          <a:p>
            <a:r>
              <a:rPr lang="en-US" altLang="zh-CN"/>
              <a:t>2.6.5.4 </a:t>
            </a:r>
            <a:r>
              <a:rPr lang="zh-CN" altLang="en-US"/>
              <a:t>冲刺评审</a:t>
            </a:r>
          </a:p>
        </p:txBody>
      </p:sp>
      <p:sp>
        <p:nvSpPr>
          <p:cNvPr id="7" name="内容占位符 6">
            <a:extLst>
              <a:ext uri="{FF2B5EF4-FFF2-40B4-BE49-F238E27FC236}">
                <a16:creationId xmlns:a16="http://schemas.microsoft.com/office/drawing/2014/main" id="{1E8F2881-4406-D0F7-DAB7-4223A054D78F}"/>
              </a:ext>
            </a:extLst>
          </p:cNvPr>
          <p:cNvSpPr>
            <a:spLocks noGrp="1"/>
          </p:cNvSpPr>
          <p:nvPr>
            <p:ph idx="1"/>
          </p:nvPr>
        </p:nvSpPr>
        <p:spPr>
          <a:xfrm>
            <a:off x="696000" y="864000"/>
            <a:ext cx="10800000" cy="5400000"/>
          </a:xfrm>
        </p:spPr>
        <p:txBody>
          <a:bodyPr/>
          <a:lstStyle/>
          <a:p>
            <a:r>
              <a:rPr lang="en-US" altLang="zh-CN"/>
              <a:t>inspect the outcome of the Sprint and determine future adaptations</a:t>
            </a:r>
          </a:p>
          <a:p>
            <a:r>
              <a:rPr lang="en-US" altLang="zh-CN"/>
              <a:t>presents the results of their work to key stakeholders</a:t>
            </a:r>
          </a:p>
          <a:p>
            <a:r>
              <a:rPr lang="en-US" altLang="zh-CN"/>
              <a:t>progress toward the Product Goal is discussed</a:t>
            </a:r>
          </a:p>
          <a:p>
            <a:r>
              <a:rPr lang="en-US" altLang="zh-CN"/>
              <a:t>The Product Backlog may also be adjusted to meet new opportunities</a:t>
            </a:r>
          </a:p>
          <a:p>
            <a:r>
              <a:rPr lang="en-US" altLang="zh-CN"/>
              <a:t>avoid limiting it to a presentation</a:t>
            </a:r>
          </a:p>
          <a:p>
            <a:r>
              <a:rPr lang="en-US" altLang="zh-CN"/>
              <a:t>the second to last event of the Sprint</a:t>
            </a:r>
          </a:p>
          <a:p>
            <a:r>
              <a:rPr lang="en-US" altLang="zh-CN"/>
              <a:t>is timeboxed to a maximum of four hours for a one-month Sprint</a:t>
            </a:r>
          </a:p>
          <a:p>
            <a:endParaRPr lang="zh-CN" altLang="en-US"/>
          </a:p>
        </p:txBody>
      </p:sp>
      <p:sp>
        <p:nvSpPr>
          <p:cNvPr id="4" name="文本占位符 3">
            <a:extLst>
              <a:ext uri="{FF2B5EF4-FFF2-40B4-BE49-F238E27FC236}">
                <a16:creationId xmlns:a16="http://schemas.microsoft.com/office/drawing/2014/main" id="{DD4A3D7D-74CD-5F79-1AC1-2E1C639473B0}"/>
              </a:ext>
            </a:extLst>
          </p:cNvPr>
          <p:cNvSpPr>
            <a:spLocks noGrp="1"/>
          </p:cNvSpPr>
          <p:nvPr>
            <p:ph type="body" sz="quarter" idx="10"/>
          </p:nvPr>
        </p:nvSpPr>
        <p:spPr>
          <a:xfrm>
            <a:off x="7071919" y="448519"/>
            <a:ext cx="4424080" cy="338554"/>
          </a:xfrm>
        </p:spPr>
        <p:txBody>
          <a:bodyPr/>
          <a:lstStyle/>
          <a:p>
            <a:r>
              <a:rPr lang="en-US" altLang="zh-CN"/>
              <a:t>Sprint Review</a:t>
            </a:r>
            <a:endParaRPr lang="zh-CN" altLang="en-US"/>
          </a:p>
        </p:txBody>
      </p:sp>
    </p:spTree>
    <p:extLst>
      <p:ext uri="{BB962C8B-B14F-4D97-AF65-F5344CB8AC3E}">
        <p14:creationId xmlns:p14="http://schemas.microsoft.com/office/powerpoint/2010/main" val="222648000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8368E-FC16-7F1A-43D8-9CE01BE3B7F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7B1C4B1-82DE-7548-3EE8-B4906BBF715F}"/>
              </a:ext>
            </a:extLst>
          </p:cNvPr>
          <p:cNvSpPr>
            <a:spLocks noGrp="1"/>
          </p:cNvSpPr>
          <p:nvPr>
            <p:ph type="title"/>
          </p:nvPr>
        </p:nvSpPr>
        <p:spPr>
          <a:xfrm>
            <a:off x="792000" y="360000"/>
            <a:ext cx="6375921" cy="429413"/>
          </a:xfrm>
        </p:spPr>
        <p:txBody>
          <a:bodyPr/>
          <a:lstStyle/>
          <a:p>
            <a:r>
              <a:rPr lang="en-US" altLang="zh-CN"/>
              <a:t>2.6.5.5 </a:t>
            </a:r>
            <a:r>
              <a:rPr lang="zh-CN" altLang="en-US"/>
              <a:t>冲刺回顾</a:t>
            </a:r>
          </a:p>
        </p:txBody>
      </p:sp>
      <p:sp>
        <p:nvSpPr>
          <p:cNvPr id="10" name="内容占位符 9">
            <a:extLst>
              <a:ext uri="{FF2B5EF4-FFF2-40B4-BE49-F238E27FC236}">
                <a16:creationId xmlns:a16="http://schemas.microsoft.com/office/drawing/2014/main" id="{1550FB92-2484-D646-82B6-ECE9EC45CEC0}"/>
              </a:ext>
            </a:extLst>
          </p:cNvPr>
          <p:cNvSpPr>
            <a:spLocks noGrp="1"/>
          </p:cNvSpPr>
          <p:nvPr>
            <p:ph idx="1"/>
          </p:nvPr>
        </p:nvSpPr>
        <p:spPr>
          <a:xfrm>
            <a:off x="696000" y="864000"/>
            <a:ext cx="10800000" cy="5400000"/>
          </a:xfrm>
        </p:spPr>
        <p:txBody>
          <a:bodyPr/>
          <a:lstStyle/>
          <a:p>
            <a:r>
              <a:rPr lang="en-US" altLang="zh-CN"/>
              <a:t>The Sprint Retrospective concludes the Sprint</a:t>
            </a:r>
          </a:p>
          <a:p>
            <a:r>
              <a:rPr lang="en-US" altLang="zh-CN"/>
              <a:t>Purpose</a:t>
            </a:r>
            <a:r>
              <a:rPr lang="zh-CN" altLang="en-US"/>
              <a:t>：</a:t>
            </a:r>
            <a:r>
              <a:rPr lang="en-US" altLang="zh-CN"/>
              <a:t>to plan ways to increase quality and effectiveness</a:t>
            </a:r>
          </a:p>
          <a:p>
            <a:r>
              <a:rPr lang="en-US" altLang="zh-CN"/>
              <a:t>Discusses</a:t>
            </a:r>
          </a:p>
          <a:p>
            <a:pPr lvl="1"/>
            <a:r>
              <a:rPr lang="en-US" altLang="zh-CN"/>
              <a:t>what went well during the Sprint</a:t>
            </a:r>
          </a:p>
          <a:p>
            <a:pPr lvl="1"/>
            <a:r>
              <a:rPr lang="en-US" altLang="zh-CN"/>
              <a:t>what problems it encountered</a:t>
            </a:r>
          </a:p>
          <a:p>
            <a:pPr lvl="1"/>
            <a:r>
              <a:rPr lang="en-US" altLang="zh-CN"/>
              <a:t>how those problems were (or were not) solved</a:t>
            </a:r>
          </a:p>
          <a:p>
            <a:r>
              <a:rPr lang="en-US" altLang="zh-CN"/>
              <a:t>identifies the most helpful changes … for the next Sprint</a:t>
            </a:r>
          </a:p>
          <a:p>
            <a:r>
              <a:rPr lang="en-US" altLang="zh-CN"/>
              <a:t>is timeboxed to a maximum of three hours for a one month Sprint</a:t>
            </a:r>
          </a:p>
          <a:p>
            <a:endParaRPr lang="zh-CN" altLang="en-US"/>
          </a:p>
        </p:txBody>
      </p:sp>
      <p:sp>
        <p:nvSpPr>
          <p:cNvPr id="4" name="文本占位符 3">
            <a:extLst>
              <a:ext uri="{FF2B5EF4-FFF2-40B4-BE49-F238E27FC236}">
                <a16:creationId xmlns:a16="http://schemas.microsoft.com/office/drawing/2014/main" id="{A6B335A3-D243-AC15-A822-014298FF4F6E}"/>
              </a:ext>
            </a:extLst>
          </p:cNvPr>
          <p:cNvSpPr>
            <a:spLocks noGrp="1"/>
          </p:cNvSpPr>
          <p:nvPr>
            <p:ph type="body" sz="quarter" idx="10"/>
          </p:nvPr>
        </p:nvSpPr>
        <p:spPr>
          <a:xfrm>
            <a:off x="7071919" y="448519"/>
            <a:ext cx="4424080" cy="338554"/>
          </a:xfrm>
        </p:spPr>
        <p:txBody>
          <a:bodyPr/>
          <a:lstStyle/>
          <a:p>
            <a:r>
              <a:rPr lang="en-US" altLang="zh-CN"/>
              <a:t>Sprint Retrospective</a:t>
            </a:r>
            <a:endParaRPr lang="zh-CN" altLang="en-US"/>
          </a:p>
        </p:txBody>
      </p:sp>
    </p:spTree>
    <p:extLst>
      <p:ext uri="{BB962C8B-B14F-4D97-AF65-F5344CB8AC3E}">
        <p14:creationId xmlns:p14="http://schemas.microsoft.com/office/powerpoint/2010/main" val="85417793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FE2394-ECB3-7620-55FD-DE65CCB01B97}"/>
              </a:ext>
            </a:extLst>
          </p:cNvPr>
          <p:cNvSpPr>
            <a:spLocks noGrp="1"/>
          </p:cNvSpPr>
          <p:nvPr>
            <p:ph type="title"/>
          </p:nvPr>
        </p:nvSpPr>
        <p:spPr>
          <a:xfrm>
            <a:off x="792000" y="360000"/>
            <a:ext cx="6375921" cy="429413"/>
          </a:xfrm>
        </p:spPr>
        <p:txBody>
          <a:bodyPr>
            <a:normAutofit/>
          </a:bodyPr>
          <a:lstStyle/>
          <a:p>
            <a:r>
              <a:rPr lang="en-US" altLang="zh-CN"/>
              <a:t>2.6.6 </a:t>
            </a:r>
            <a:r>
              <a:rPr lang="zh-CN" altLang="en-US"/>
              <a:t>敏捷工件</a:t>
            </a:r>
          </a:p>
        </p:txBody>
      </p:sp>
      <p:sp>
        <p:nvSpPr>
          <p:cNvPr id="11" name="内容占位符 10">
            <a:extLst>
              <a:ext uri="{FF2B5EF4-FFF2-40B4-BE49-F238E27FC236}">
                <a16:creationId xmlns:a16="http://schemas.microsoft.com/office/drawing/2014/main" id="{1F129EC0-C5B1-6B10-226D-A777604FF15E}"/>
              </a:ext>
            </a:extLst>
          </p:cNvPr>
          <p:cNvSpPr>
            <a:spLocks noGrp="1"/>
          </p:cNvSpPr>
          <p:nvPr>
            <p:ph idx="1"/>
          </p:nvPr>
        </p:nvSpPr>
        <p:spPr>
          <a:xfrm>
            <a:off x="696000" y="864000"/>
            <a:ext cx="10800000" cy="5400000"/>
          </a:xfrm>
        </p:spPr>
        <p:txBody>
          <a:bodyPr/>
          <a:lstStyle/>
          <a:p>
            <a:r>
              <a:rPr lang="en-US" altLang="zh-CN"/>
              <a:t>3</a:t>
            </a:r>
            <a:r>
              <a:rPr lang="zh-CN" altLang="en-US"/>
              <a:t>个工件 </a:t>
            </a:r>
            <a:r>
              <a:rPr lang="en-US" altLang="zh-CN"/>
              <a:t>Aircrafts</a:t>
            </a:r>
          </a:p>
          <a:p>
            <a:r>
              <a:rPr lang="zh-CN" altLang="en-US"/>
              <a:t>代表工作或者价值</a:t>
            </a:r>
          </a:p>
        </p:txBody>
      </p:sp>
      <p:sp>
        <p:nvSpPr>
          <p:cNvPr id="4" name="文本占位符 3">
            <a:extLst>
              <a:ext uri="{FF2B5EF4-FFF2-40B4-BE49-F238E27FC236}">
                <a16:creationId xmlns:a16="http://schemas.microsoft.com/office/drawing/2014/main" id="{4EBBFC66-5A08-6FEF-F7CF-0FDBBEC5911A}"/>
              </a:ext>
            </a:extLst>
          </p:cNvPr>
          <p:cNvSpPr>
            <a:spLocks noGrp="1"/>
          </p:cNvSpPr>
          <p:nvPr>
            <p:ph type="body" sz="quarter" idx="10"/>
          </p:nvPr>
        </p:nvSpPr>
        <p:spPr>
          <a:xfrm>
            <a:off x="7071919" y="448519"/>
            <a:ext cx="4424080" cy="338554"/>
          </a:xfrm>
        </p:spPr>
        <p:txBody>
          <a:bodyPr/>
          <a:lstStyle/>
          <a:p>
            <a:r>
              <a:rPr lang="en-US" altLang="zh-CN"/>
              <a:t>Scrum Artifacts</a:t>
            </a:r>
            <a:endParaRPr lang="zh-CN" altLang="en-US"/>
          </a:p>
        </p:txBody>
      </p:sp>
      <p:graphicFrame>
        <p:nvGraphicFramePr>
          <p:cNvPr id="8" name="图示 7">
            <a:extLst>
              <a:ext uri="{FF2B5EF4-FFF2-40B4-BE49-F238E27FC236}">
                <a16:creationId xmlns:a16="http://schemas.microsoft.com/office/drawing/2014/main" id="{FFC84889-F498-3AB3-3F7C-FBC90C200DF6}"/>
              </a:ext>
            </a:extLst>
          </p:cNvPr>
          <p:cNvGraphicFramePr>
            <a:graphicFrameLocks noChangeAspect="1"/>
          </p:cNvGraphicFramePr>
          <p:nvPr>
            <p:extLst>
              <p:ext uri="{D42A27DB-BD31-4B8C-83A1-F6EECF244321}">
                <p14:modId xmlns:p14="http://schemas.microsoft.com/office/powerpoint/2010/main" val="3491237136"/>
              </p:ext>
            </p:extLst>
          </p:nvPr>
        </p:nvGraphicFramePr>
        <p:xfrm>
          <a:off x="3396000" y="1629000"/>
          <a:ext cx="5400000" cy="3600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文本框 2">
            <a:extLst>
              <a:ext uri="{FF2B5EF4-FFF2-40B4-BE49-F238E27FC236}">
                <a16:creationId xmlns:a16="http://schemas.microsoft.com/office/drawing/2014/main" id="{AA585EF1-4CF1-A164-A458-7D07AD287E38}"/>
              </a:ext>
            </a:extLst>
          </p:cNvPr>
          <p:cNvSpPr txBox="1"/>
          <p:nvPr/>
        </p:nvSpPr>
        <p:spPr>
          <a:xfrm>
            <a:off x="7849907" y="3507656"/>
            <a:ext cx="1071127" cy="307777"/>
          </a:xfrm>
          <a:prstGeom prst="rect">
            <a:avLst/>
          </a:prstGeom>
          <a:noFill/>
        </p:spPr>
        <p:txBody>
          <a:bodyPr wrap="none" rtlCol="0">
            <a:spAutoFit/>
          </a:bodyPr>
          <a:lstStyle/>
          <a:p>
            <a:r>
              <a:rPr lang="en-US" altLang="zh-CN" sz="1400"/>
              <a:t>To do lists</a:t>
            </a:r>
            <a:endParaRPr lang="zh-CN" altLang="en-US" sz="1400"/>
          </a:p>
        </p:txBody>
      </p:sp>
    </p:spTree>
    <p:extLst>
      <p:ext uri="{BB962C8B-B14F-4D97-AF65-F5344CB8AC3E}">
        <p14:creationId xmlns:p14="http://schemas.microsoft.com/office/powerpoint/2010/main" val="175382507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09D11-AE50-FCDE-91FA-FDA58FF1472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872038E-09FB-AFD8-947E-AA0F3B772490}"/>
              </a:ext>
            </a:extLst>
          </p:cNvPr>
          <p:cNvSpPr>
            <a:spLocks noGrp="1"/>
          </p:cNvSpPr>
          <p:nvPr>
            <p:ph type="title"/>
          </p:nvPr>
        </p:nvSpPr>
        <p:spPr>
          <a:xfrm>
            <a:off x="792000" y="360000"/>
            <a:ext cx="6375921" cy="429413"/>
          </a:xfrm>
        </p:spPr>
        <p:txBody>
          <a:bodyPr>
            <a:normAutofit/>
          </a:bodyPr>
          <a:lstStyle/>
          <a:p>
            <a:r>
              <a:rPr lang="en-US" altLang="zh-CN"/>
              <a:t>2.6.6.1 </a:t>
            </a:r>
            <a:r>
              <a:rPr lang="zh-CN" altLang="en-US"/>
              <a:t>产品待办事项 </a:t>
            </a:r>
          </a:p>
        </p:txBody>
      </p:sp>
      <p:sp>
        <p:nvSpPr>
          <p:cNvPr id="11" name="内容占位符 10">
            <a:extLst>
              <a:ext uri="{FF2B5EF4-FFF2-40B4-BE49-F238E27FC236}">
                <a16:creationId xmlns:a16="http://schemas.microsoft.com/office/drawing/2014/main" id="{B7A1A00E-3DBB-1D58-E29C-46C3EC7A39BB}"/>
              </a:ext>
            </a:extLst>
          </p:cNvPr>
          <p:cNvSpPr>
            <a:spLocks noGrp="1"/>
          </p:cNvSpPr>
          <p:nvPr>
            <p:ph idx="1"/>
          </p:nvPr>
        </p:nvSpPr>
        <p:spPr>
          <a:xfrm>
            <a:off x="696000" y="864000"/>
            <a:ext cx="10800000" cy="5400000"/>
          </a:xfrm>
        </p:spPr>
        <p:txBody>
          <a:bodyPr/>
          <a:lstStyle/>
          <a:p>
            <a:pPr lvl="0"/>
            <a:r>
              <a:rPr lang="en-US" altLang="zh-CN"/>
              <a:t>Product Backlog </a:t>
            </a:r>
            <a:r>
              <a:rPr lang="zh-CN" altLang="en-US"/>
              <a:t>产品待办事项 </a:t>
            </a:r>
            <a:endParaRPr lang="en-US" altLang="zh-CN"/>
          </a:p>
          <a:p>
            <a:pPr lvl="1"/>
            <a:r>
              <a:rPr lang="zh-CN" altLang="en-US"/>
              <a:t>包含产品目标 </a:t>
            </a:r>
            <a:r>
              <a:rPr lang="en-US" altLang="zh-CN"/>
              <a:t>Product Goal </a:t>
            </a:r>
            <a:r>
              <a:rPr lang="zh-CN" altLang="en-US"/>
              <a:t>以及为实现该目标需要做的事项 </a:t>
            </a:r>
            <a:r>
              <a:rPr lang="en-US" altLang="zh-CN"/>
              <a:t>items</a:t>
            </a:r>
          </a:p>
          <a:p>
            <a:pPr lvl="1"/>
            <a:r>
              <a:rPr lang="zh-CN" altLang="en-US"/>
              <a:t>涌现 </a:t>
            </a:r>
            <a:r>
              <a:rPr lang="en-US" altLang="zh-CN"/>
              <a:t>Emergent</a:t>
            </a:r>
            <a:r>
              <a:rPr lang="zh-CN" altLang="en-US"/>
              <a:t>，随着项目深入而逐渐清晰</a:t>
            </a:r>
          </a:p>
          <a:p>
            <a:pPr lvl="1"/>
            <a:r>
              <a:rPr lang="zh-CN" altLang="en-US"/>
              <a:t>有序清单 </a:t>
            </a:r>
            <a:r>
              <a:rPr lang="en-US" altLang="zh-CN"/>
              <a:t>ordered</a:t>
            </a:r>
            <a:r>
              <a:rPr lang="zh-CN" altLang="en-US"/>
              <a:t>，通常按价值、风险、必要性排序</a:t>
            </a:r>
            <a:endParaRPr lang="en-US" altLang="zh-CN"/>
          </a:p>
          <a:p>
            <a:pPr lvl="1"/>
            <a:r>
              <a:rPr lang="en-US" altLang="zh-CN"/>
              <a:t>Team </a:t>
            </a:r>
            <a:r>
              <a:rPr lang="zh-CN" altLang="en-US"/>
              <a:t>工作的单一 </a:t>
            </a:r>
            <a:r>
              <a:rPr lang="en-US" altLang="zh-CN"/>
              <a:t>single </a:t>
            </a:r>
            <a:r>
              <a:rPr lang="zh-CN" altLang="en-US"/>
              <a:t>来源；不在其中的事项，可以不执行</a:t>
            </a:r>
            <a:endParaRPr lang="en-US" altLang="zh-CN"/>
          </a:p>
          <a:p>
            <a:pPr lvl="1"/>
            <a:r>
              <a:rPr lang="en-US" altLang="zh-CN"/>
              <a:t>PO </a:t>
            </a:r>
            <a:r>
              <a:rPr lang="zh-CN" altLang="en-US"/>
              <a:t>负责排序</a:t>
            </a:r>
            <a:endParaRPr lang="en-US" altLang="zh-CN"/>
          </a:p>
          <a:p>
            <a:pPr lvl="1"/>
            <a:r>
              <a:rPr lang="en-US" altLang="zh-CN"/>
              <a:t>Developer </a:t>
            </a:r>
            <a:r>
              <a:rPr lang="zh-CN" altLang="en-US"/>
              <a:t>决定每个 </a:t>
            </a:r>
            <a:r>
              <a:rPr lang="en-US" altLang="zh-CN"/>
              <a:t>item </a:t>
            </a:r>
            <a:r>
              <a:rPr lang="zh-CN" altLang="en-US"/>
              <a:t>的规模 </a:t>
            </a:r>
            <a:r>
              <a:rPr lang="en-US" altLang="zh-CN"/>
              <a:t>Size</a:t>
            </a:r>
          </a:p>
          <a:p>
            <a:pPr lvl="1"/>
            <a:r>
              <a:rPr lang="en-US" altLang="zh-CN"/>
              <a:t>PO </a:t>
            </a:r>
            <a:r>
              <a:rPr lang="zh-CN" altLang="en-US"/>
              <a:t>可以影响但不是命令</a:t>
            </a:r>
            <a:endParaRPr lang="en-US" altLang="zh-CN"/>
          </a:p>
          <a:p>
            <a:pPr lvl="1"/>
            <a:r>
              <a:rPr lang="zh-CN" altLang="en-US"/>
              <a:t>一个 </a:t>
            </a:r>
            <a:r>
              <a:rPr lang="en-US" altLang="zh-CN"/>
              <a:t>Sprint </a:t>
            </a:r>
            <a:r>
              <a:rPr lang="zh-CN" altLang="en-US"/>
              <a:t>内可以完成</a:t>
            </a:r>
            <a:endParaRPr lang="en-US" altLang="zh-CN"/>
          </a:p>
        </p:txBody>
      </p:sp>
      <p:sp>
        <p:nvSpPr>
          <p:cNvPr id="4" name="文本占位符 3">
            <a:extLst>
              <a:ext uri="{FF2B5EF4-FFF2-40B4-BE49-F238E27FC236}">
                <a16:creationId xmlns:a16="http://schemas.microsoft.com/office/drawing/2014/main" id="{6B1761B8-948D-28D9-611B-01FC48ACEE35}"/>
              </a:ext>
            </a:extLst>
          </p:cNvPr>
          <p:cNvSpPr>
            <a:spLocks noGrp="1"/>
          </p:cNvSpPr>
          <p:nvPr>
            <p:ph type="body" sz="quarter" idx="10"/>
          </p:nvPr>
        </p:nvSpPr>
        <p:spPr>
          <a:xfrm>
            <a:off x="7071919" y="448519"/>
            <a:ext cx="4424080" cy="338554"/>
          </a:xfrm>
        </p:spPr>
        <p:txBody>
          <a:bodyPr/>
          <a:lstStyle/>
          <a:p>
            <a:r>
              <a:rPr lang="en-US" altLang="zh-CN"/>
              <a:t>Product Backlog/Scrum Artifacts</a:t>
            </a:r>
            <a:endParaRPr lang="zh-CN" altLang="en-US"/>
          </a:p>
        </p:txBody>
      </p:sp>
      <p:sp>
        <p:nvSpPr>
          <p:cNvPr id="28" name="矩形: 圆角 27">
            <a:extLst>
              <a:ext uri="{FF2B5EF4-FFF2-40B4-BE49-F238E27FC236}">
                <a16:creationId xmlns:a16="http://schemas.microsoft.com/office/drawing/2014/main" id="{5FE0D07A-491F-6663-8E0F-BE85DB418EF8}"/>
              </a:ext>
            </a:extLst>
          </p:cNvPr>
          <p:cNvSpPr/>
          <p:nvPr/>
        </p:nvSpPr>
        <p:spPr>
          <a:xfrm>
            <a:off x="8556018" y="2117683"/>
            <a:ext cx="1800000" cy="432000"/>
          </a:xfrm>
          <a:prstGeom prst="roundRect">
            <a:avLst/>
          </a:prstGeom>
          <a:ln>
            <a:noFill/>
          </a:ln>
        </p:spPr>
        <p:style>
          <a:lnRef idx="0">
            <a:schemeClr val="accent3"/>
          </a:lnRef>
          <a:fillRef idx="3">
            <a:schemeClr val="accent3"/>
          </a:fillRef>
          <a:effectRef idx="3">
            <a:schemeClr val="accent3"/>
          </a:effectRef>
          <a:fontRef idx="minor">
            <a:schemeClr val="lt1"/>
          </a:fontRef>
        </p:style>
        <p:txBody>
          <a:bodyPr rtlCol="0" anchor="ctr"/>
          <a:lstStyle/>
          <a:p>
            <a:pPr algn="ctr"/>
            <a:r>
              <a:rPr lang="en-US" altLang="zh-CN" sz="1400"/>
              <a:t>PO </a:t>
            </a:r>
            <a:r>
              <a:rPr lang="zh-CN" altLang="en-US" sz="1400"/>
              <a:t>列举 </a:t>
            </a:r>
            <a:r>
              <a:rPr lang="en-US" altLang="zh-CN" sz="1400"/>
              <a:t>items</a:t>
            </a:r>
            <a:endParaRPr lang="zh-CN" altLang="en-US" sz="1400"/>
          </a:p>
        </p:txBody>
      </p:sp>
      <p:sp>
        <p:nvSpPr>
          <p:cNvPr id="29" name="矩形: 圆角 28">
            <a:extLst>
              <a:ext uri="{FF2B5EF4-FFF2-40B4-BE49-F238E27FC236}">
                <a16:creationId xmlns:a16="http://schemas.microsoft.com/office/drawing/2014/main" id="{1E76B0AA-ECFF-6A17-8286-C7CC91FA946A}"/>
              </a:ext>
            </a:extLst>
          </p:cNvPr>
          <p:cNvSpPr/>
          <p:nvPr/>
        </p:nvSpPr>
        <p:spPr>
          <a:xfrm>
            <a:off x="8376018" y="2895710"/>
            <a:ext cx="2160000" cy="432000"/>
          </a:xfrm>
          <a:prstGeom prst="roundRect">
            <a:avLst/>
          </a:prstGeom>
          <a:ln>
            <a:noFill/>
          </a:ln>
        </p:spPr>
        <p:style>
          <a:lnRef idx="0">
            <a:schemeClr val="accent6"/>
          </a:lnRef>
          <a:fillRef idx="3">
            <a:schemeClr val="accent6"/>
          </a:fillRef>
          <a:effectRef idx="3">
            <a:schemeClr val="accent6"/>
          </a:effectRef>
          <a:fontRef idx="minor">
            <a:schemeClr val="lt1"/>
          </a:fontRef>
        </p:style>
        <p:txBody>
          <a:bodyPr rtlCol="0" anchor="ctr"/>
          <a:lstStyle/>
          <a:p>
            <a:pPr algn="ctr"/>
            <a:r>
              <a:rPr lang="en-US" altLang="zh-CN" sz="1400"/>
              <a:t>Developer </a:t>
            </a:r>
            <a:r>
              <a:rPr lang="zh-CN" altLang="en-US" sz="1400"/>
              <a:t>决定 </a:t>
            </a:r>
            <a:r>
              <a:rPr lang="en-US" altLang="zh-CN" sz="1400"/>
              <a:t>size</a:t>
            </a:r>
            <a:endParaRPr lang="zh-CN" altLang="en-US" sz="1400"/>
          </a:p>
        </p:txBody>
      </p:sp>
      <p:cxnSp>
        <p:nvCxnSpPr>
          <p:cNvPr id="31" name="直接箭头连接符 30">
            <a:extLst>
              <a:ext uri="{FF2B5EF4-FFF2-40B4-BE49-F238E27FC236}">
                <a16:creationId xmlns:a16="http://schemas.microsoft.com/office/drawing/2014/main" id="{DC1AF3D7-F0F3-C0C5-2393-CCBF79D1E963}"/>
              </a:ext>
            </a:extLst>
          </p:cNvPr>
          <p:cNvCxnSpPr>
            <a:stCxn id="28" idx="2"/>
            <a:endCxn id="29" idx="0"/>
          </p:cNvCxnSpPr>
          <p:nvPr/>
        </p:nvCxnSpPr>
        <p:spPr>
          <a:xfrm>
            <a:off x="9456018" y="2549683"/>
            <a:ext cx="0" cy="34602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矩形: 圆角 31">
            <a:extLst>
              <a:ext uri="{FF2B5EF4-FFF2-40B4-BE49-F238E27FC236}">
                <a16:creationId xmlns:a16="http://schemas.microsoft.com/office/drawing/2014/main" id="{F481CF46-2898-FA5B-AC83-3935D3CD4C30}"/>
              </a:ext>
            </a:extLst>
          </p:cNvPr>
          <p:cNvSpPr/>
          <p:nvPr/>
        </p:nvSpPr>
        <p:spPr>
          <a:xfrm>
            <a:off x="8556018" y="3671937"/>
            <a:ext cx="1800000" cy="432000"/>
          </a:xfrm>
          <a:prstGeom prst="roundRect">
            <a:avLst/>
          </a:prstGeom>
          <a:ln>
            <a:noFill/>
          </a:ln>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sz="1400"/>
              <a:t>PO </a:t>
            </a:r>
            <a:r>
              <a:rPr lang="zh-CN" altLang="en-US" sz="1400"/>
              <a:t>同意</a:t>
            </a:r>
          </a:p>
        </p:txBody>
      </p:sp>
      <p:cxnSp>
        <p:nvCxnSpPr>
          <p:cNvPr id="34" name="直接箭头连接符 33">
            <a:extLst>
              <a:ext uri="{FF2B5EF4-FFF2-40B4-BE49-F238E27FC236}">
                <a16:creationId xmlns:a16="http://schemas.microsoft.com/office/drawing/2014/main" id="{DC8F7C2D-76C0-7420-4054-1E0D0D908BD0}"/>
              </a:ext>
            </a:extLst>
          </p:cNvPr>
          <p:cNvCxnSpPr>
            <a:stCxn id="29" idx="2"/>
            <a:endCxn id="32" idx="0"/>
          </p:cNvCxnSpPr>
          <p:nvPr/>
        </p:nvCxnSpPr>
        <p:spPr>
          <a:xfrm>
            <a:off x="9456018" y="3327710"/>
            <a:ext cx="0" cy="34422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矩形: 圆角 36">
            <a:extLst>
              <a:ext uri="{FF2B5EF4-FFF2-40B4-BE49-F238E27FC236}">
                <a16:creationId xmlns:a16="http://schemas.microsoft.com/office/drawing/2014/main" id="{03A2B1D9-0757-B4C2-466E-75D92CA524DA}"/>
              </a:ext>
            </a:extLst>
          </p:cNvPr>
          <p:cNvSpPr/>
          <p:nvPr/>
        </p:nvSpPr>
        <p:spPr>
          <a:xfrm>
            <a:off x="8556018" y="4448164"/>
            <a:ext cx="1800000" cy="432000"/>
          </a:xfrm>
          <a:prstGeom prst="roundRect">
            <a:avLst/>
          </a:prstGeom>
          <a:ln>
            <a:no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CN" sz="1400"/>
              <a:t>Backlog</a:t>
            </a:r>
            <a:endParaRPr lang="zh-CN" altLang="en-US" sz="1400"/>
          </a:p>
        </p:txBody>
      </p:sp>
      <p:cxnSp>
        <p:nvCxnSpPr>
          <p:cNvPr id="39" name="直接箭头连接符 38">
            <a:extLst>
              <a:ext uri="{FF2B5EF4-FFF2-40B4-BE49-F238E27FC236}">
                <a16:creationId xmlns:a16="http://schemas.microsoft.com/office/drawing/2014/main" id="{13C54090-94E8-F1F7-F98A-B213C68949D6}"/>
              </a:ext>
            </a:extLst>
          </p:cNvPr>
          <p:cNvCxnSpPr>
            <a:stCxn id="32" idx="2"/>
            <a:endCxn id="37" idx="0"/>
          </p:cNvCxnSpPr>
          <p:nvPr/>
        </p:nvCxnSpPr>
        <p:spPr>
          <a:xfrm>
            <a:off x="9456018" y="4103937"/>
            <a:ext cx="0" cy="34422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连接符: 肘形 46">
            <a:extLst>
              <a:ext uri="{FF2B5EF4-FFF2-40B4-BE49-F238E27FC236}">
                <a16:creationId xmlns:a16="http://schemas.microsoft.com/office/drawing/2014/main" id="{478B9E4D-BE4F-7AD6-6A23-5EBEDC79E42B}"/>
              </a:ext>
            </a:extLst>
          </p:cNvPr>
          <p:cNvCxnSpPr>
            <a:stCxn id="32" idx="3"/>
            <a:endCxn id="29" idx="3"/>
          </p:cNvCxnSpPr>
          <p:nvPr/>
        </p:nvCxnSpPr>
        <p:spPr>
          <a:xfrm flipV="1">
            <a:off x="10356018" y="3111710"/>
            <a:ext cx="180000" cy="776227"/>
          </a:xfrm>
          <a:prstGeom prst="bentConnector3">
            <a:avLst>
              <a:gd name="adj1" fmla="val 227000"/>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48" name="文本框 47">
            <a:extLst>
              <a:ext uri="{FF2B5EF4-FFF2-40B4-BE49-F238E27FC236}">
                <a16:creationId xmlns:a16="http://schemas.microsoft.com/office/drawing/2014/main" id="{12DD1254-A1DB-FAC1-A2D5-72A06CACE97C}"/>
              </a:ext>
            </a:extLst>
          </p:cNvPr>
          <p:cNvSpPr txBox="1"/>
          <p:nvPr/>
        </p:nvSpPr>
        <p:spPr>
          <a:xfrm>
            <a:off x="10770194" y="3345935"/>
            <a:ext cx="726481" cy="307777"/>
          </a:xfrm>
          <a:prstGeom prst="rect">
            <a:avLst/>
          </a:prstGeom>
          <a:noFill/>
          <a:ln>
            <a:noFill/>
          </a:ln>
        </p:spPr>
        <p:txBody>
          <a:bodyPr wrap="none" rtlCol="0">
            <a:spAutoFit/>
          </a:bodyPr>
          <a:lstStyle/>
          <a:p>
            <a:r>
              <a:rPr lang="en-US" altLang="zh-CN" sz="1400"/>
              <a:t>Battle</a:t>
            </a:r>
            <a:endParaRPr lang="zh-CN" altLang="en-US" sz="1400"/>
          </a:p>
        </p:txBody>
      </p:sp>
      <p:cxnSp>
        <p:nvCxnSpPr>
          <p:cNvPr id="56" name="连接符: 肘形 55">
            <a:extLst>
              <a:ext uri="{FF2B5EF4-FFF2-40B4-BE49-F238E27FC236}">
                <a16:creationId xmlns:a16="http://schemas.microsoft.com/office/drawing/2014/main" id="{436C99B5-1F4E-5615-FC92-4C53B258035A}"/>
              </a:ext>
            </a:extLst>
          </p:cNvPr>
          <p:cNvCxnSpPr>
            <a:stCxn id="28" idx="3"/>
            <a:endCxn id="37" idx="3"/>
          </p:cNvCxnSpPr>
          <p:nvPr/>
        </p:nvCxnSpPr>
        <p:spPr>
          <a:xfrm>
            <a:off x="10356018" y="2333683"/>
            <a:ext cx="12700" cy="2330481"/>
          </a:xfrm>
          <a:prstGeom prst="bentConnector3">
            <a:avLst>
              <a:gd name="adj1" fmla="val 9309677"/>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58" name="文本框 57">
            <a:extLst>
              <a:ext uri="{FF2B5EF4-FFF2-40B4-BE49-F238E27FC236}">
                <a16:creationId xmlns:a16="http://schemas.microsoft.com/office/drawing/2014/main" id="{5915A121-C6B5-0911-73DF-40CAC0F857CE}"/>
              </a:ext>
            </a:extLst>
          </p:cNvPr>
          <p:cNvSpPr txBox="1"/>
          <p:nvPr/>
        </p:nvSpPr>
        <p:spPr>
          <a:xfrm>
            <a:off x="10350016" y="2025906"/>
            <a:ext cx="466794" cy="307777"/>
          </a:xfrm>
          <a:prstGeom prst="rect">
            <a:avLst/>
          </a:prstGeom>
          <a:noFill/>
          <a:ln>
            <a:noFill/>
          </a:ln>
        </p:spPr>
        <p:txBody>
          <a:bodyPr wrap="none" rtlCol="0">
            <a:spAutoFit/>
          </a:bodyPr>
          <a:lstStyle/>
          <a:p>
            <a:r>
              <a:rPr lang="en-US" altLang="zh-CN" sz="1400"/>
              <a:t>SM</a:t>
            </a:r>
            <a:endParaRPr lang="zh-CN" altLang="en-US" sz="1400"/>
          </a:p>
        </p:txBody>
      </p:sp>
    </p:spTree>
    <p:extLst>
      <p:ext uri="{BB962C8B-B14F-4D97-AF65-F5344CB8AC3E}">
        <p14:creationId xmlns:p14="http://schemas.microsoft.com/office/powerpoint/2010/main" val="29053490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47D34-2BB3-B33C-22A8-92747E316F0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2400089-1A20-5F22-CF8E-DA1723A47C93}"/>
              </a:ext>
            </a:extLst>
          </p:cNvPr>
          <p:cNvSpPr>
            <a:spLocks noGrp="1"/>
          </p:cNvSpPr>
          <p:nvPr>
            <p:ph type="title"/>
          </p:nvPr>
        </p:nvSpPr>
        <p:spPr>
          <a:xfrm>
            <a:off x="792000" y="360000"/>
            <a:ext cx="6375921" cy="429413"/>
          </a:xfrm>
        </p:spPr>
        <p:txBody>
          <a:bodyPr>
            <a:normAutofit/>
          </a:bodyPr>
          <a:lstStyle/>
          <a:p>
            <a:r>
              <a:rPr lang="en-US" altLang="zh-CN"/>
              <a:t>2.6.6.2 </a:t>
            </a:r>
            <a:r>
              <a:rPr lang="zh-CN" altLang="en-US"/>
              <a:t>冲刺待办事项</a:t>
            </a:r>
          </a:p>
        </p:txBody>
      </p:sp>
      <p:sp>
        <p:nvSpPr>
          <p:cNvPr id="11" name="内容占位符 10">
            <a:extLst>
              <a:ext uri="{FF2B5EF4-FFF2-40B4-BE49-F238E27FC236}">
                <a16:creationId xmlns:a16="http://schemas.microsoft.com/office/drawing/2014/main" id="{9D038873-9E0C-8AEA-B673-73EF291A7AC4}"/>
              </a:ext>
            </a:extLst>
          </p:cNvPr>
          <p:cNvSpPr>
            <a:spLocks noGrp="1"/>
          </p:cNvSpPr>
          <p:nvPr>
            <p:ph idx="1"/>
          </p:nvPr>
        </p:nvSpPr>
        <p:spPr>
          <a:xfrm>
            <a:off x="696000" y="864000"/>
            <a:ext cx="10800000" cy="5400000"/>
          </a:xfrm>
        </p:spPr>
        <p:txBody>
          <a:bodyPr/>
          <a:lstStyle/>
          <a:p>
            <a:pPr lvl="0"/>
            <a:r>
              <a:rPr lang="zh-CN" altLang="en-US"/>
              <a:t>一份计划 </a:t>
            </a:r>
            <a:r>
              <a:rPr lang="en-US" altLang="zh-CN"/>
              <a:t>Plan</a:t>
            </a:r>
          </a:p>
          <a:p>
            <a:pPr lvl="0"/>
            <a:r>
              <a:rPr lang="zh-CN" altLang="en-US"/>
              <a:t>组成 </a:t>
            </a:r>
            <a:r>
              <a:rPr lang="en-US" altLang="zh-CN"/>
              <a:t>composition</a:t>
            </a:r>
          </a:p>
          <a:p>
            <a:pPr lvl="1"/>
            <a:r>
              <a:rPr lang="en-US" altLang="zh-CN"/>
              <a:t>Why</a:t>
            </a:r>
            <a:r>
              <a:rPr lang="zh-CN" altLang="en-US"/>
              <a:t>：实现冲刺目标 </a:t>
            </a:r>
            <a:r>
              <a:rPr lang="en-US" altLang="zh-CN"/>
              <a:t>Sprint Goal</a:t>
            </a:r>
          </a:p>
          <a:p>
            <a:pPr lvl="1"/>
            <a:r>
              <a:rPr lang="en-US" altLang="zh-CN"/>
              <a:t>What</a:t>
            </a:r>
            <a:r>
              <a:rPr lang="zh-CN" altLang="en-US"/>
              <a:t>：从产品代办事项中选出的事项集合 </a:t>
            </a:r>
            <a:r>
              <a:rPr lang="en-US" altLang="zh-CN"/>
              <a:t>Set</a:t>
            </a:r>
          </a:p>
          <a:p>
            <a:pPr lvl="1"/>
            <a:r>
              <a:rPr lang="en-US" altLang="zh-CN"/>
              <a:t>How</a:t>
            </a:r>
            <a:r>
              <a:rPr lang="zh-CN" altLang="en-US"/>
              <a:t>：为了实现交付需要制定可行 </a:t>
            </a:r>
            <a:r>
              <a:rPr lang="en-US" altLang="zh-CN"/>
              <a:t>Actionable </a:t>
            </a:r>
            <a:r>
              <a:rPr lang="zh-CN" altLang="en-US"/>
              <a:t>的计划</a:t>
            </a:r>
            <a:endParaRPr lang="en-US" altLang="zh-CN"/>
          </a:p>
          <a:p>
            <a:r>
              <a:rPr lang="zh-CN" altLang="en-US"/>
              <a:t>在冲刺计划 </a:t>
            </a:r>
            <a:r>
              <a:rPr lang="en-US" altLang="zh-CN"/>
              <a:t>Sprint planning </a:t>
            </a:r>
            <a:r>
              <a:rPr lang="zh-CN" altLang="en-US"/>
              <a:t>中确定</a:t>
            </a:r>
            <a:endParaRPr lang="en-US" altLang="zh-CN"/>
          </a:p>
          <a:p>
            <a:r>
              <a:rPr lang="zh-CN" altLang="en-US"/>
              <a:t>由 </a:t>
            </a:r>
            <a:r>
              <a:rPr lang="en-US" altLang="zh-CN"/>
              <a:t>Developer </a:t>
            </a:r>
            <a:r>
              <a:rPr lang="zh-CN" altLang="en-US"/>
              <a:t>制定并实施 </a:t>
            </a:r>
            <a:r>
              <a:rPr lang="en-US" altLang="zh-CN"/>
              <a:t>by and for</a:t>
            </a:r>
            <a:r>
              <a:rPr lang="zh-CN" altLang="en-US"/>
              <a:t>；体现自组织 </a:t>
            </a:r>
            <a:r>
              <a:rPr lang="en-US" altLang="zh-CN"/>
              <a:t>Self-Management</a:t>
            </a:r>
          </a:p>
          <a:p>
            <a:r>
              <a:rPr lang="zh-CN" altLang="en-US"/>
              <a:t>彼此连贯 </a:t>
            </a:r>
            <a:r>
              <a:rPr lang="en-US" altLang="zh-CN"/>
              <a:t>Coherence</a:t>
            </a:r>
            <a:r>
              <a:rPr lang="zh-CN" altLang="en-US"/>
              <a:t>，聚焦冲刺目标</a:t>
            </a:r>
            <a:endParaRPr lang="en-US" altLang="zh-CN"/>
          </a:p>
          <a:p>
            <a:r>
              <a:rPr lang="zh-CN" altLang="en-US"/>
              <a:t>随着认知的深入，可以更新 </a:t>
            </a:r>
            <a:r>
              <a:rPr lang="en-US" altLang="zh-CN"/>
              <a:t>updated throughout</a:t>
            </a:r>
            <a:r>
              <a:rPr lang="zh-CN" altLang="en-US"/>
              <a:t>，以保持计划的真实性和有效性</a:t>
            </a:r>
            <a:endParaRPr lang="en-US" altLang="zh-CN"/>
          </a:p>
          <a:p>
            <a:r>
              <a:rPr lang="zh-CN" altLang="en-US"/>
              <a:t>工作偏离时，需要和 </a:t>
            </a:r>
            <a:r>
              <a:rPr lang="en-US" altLang="zh-CN"/>
              <a:t>PO </a:t>
            </a:r>
            <a:r>
              <a:rPr lang="zh-CN" altLang="en-US"/>
              <a:t>重新协商调整冲刺范围，不能影响冲刺目标；否则可能需要取消 </a:t>
            </a:r>
            <a:r>
              <a:rPr lang="en-US" altLang="zh-CN"/>
              <a:t>Sprint </a:t>
            </a:r>
            <a:r>
              <a:rPr lang="zh-CN" altLang="en-US"/>
              <a:t>或重新规划</a:t>
            </a:r>
          </a:p>
        </p:txBody>
      </p:sp>
      <p:sp>
        <p:nvSpPr>
          <p:cNvPr id="4" name="文本占位符 3">
            <a:extLst>
              <a:ext uri="{FF2B5EF4-FFF2-40B4-BE49-F238E27FC236}">
                <a16:creationId xmlns:a16="http://schemas.microsoft.com/office/drawing/2014/main" id="{96256328-1B0A-8643-661B-E06A03D570B9}"/>
              </a:ext>
            </a:extLst>
          </p:cNvPr>
          <p:cNvSpPr>
            <a:spLocks noGrp="1"/>
          </p:cNvSpPr>
          <p:nvPr>
            <p:ph type="body" sz="quarter" idx="10"/>
          </p:nvPr>
        </p:nvSpPr>
        <p:spPr>
          <a:xfrm>
            <a:off x="7071919" y="448519"/>
            <a:ext cx="4424080" cy="338554"/>
          </a:xfrm>
        </p:spPr>
        <p:txBody>
          <a:bodyPr/>
          <a:lstStyle/>
          <a:p>
            <a:r>
              <a:rPr lang="en-US" altLang="zh-CN"/>
              <a:t>Sprint Backlog/Scrum Artifacts</a:t>
            </a:r>
            <a:endParaRPr lang="zh-CN" altLang="en-US"/>
          </a:p>
        </p:txBody>
      </p:sp>
    </p:spTree>
    <p:extLst>
      <p:ext uri="{BB962C8B-B14F-4D97-AF65-F5344CB8AC3E}">
        <p14:creationId xmlns:p14="http://schemas.microsoft.com/office/powerpoint/2010/main" val="302077688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C499E-6EED-69E5-32DB-932094382D8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3C86DB9-4A35-A1A8-89EE-1F780FB3E474}"/>
              </a:ext>
            </a:extLst>
          </p:cNvPr>
          <p:cNvSpPr>
            <a:spLocks noGrp="1"/>
          </p:cNvSpPr>
          <p:nvPr>
            <p:ph type="title"/>
          </p:nvPr>
        </p:nvSpPr>
        <p:spPr>
          <a:xfrm>
            <a:off x="792000" y="360000"/>
            <a:ext cx="6375921" cy="429413"/>
          </a:xfrm>
        </p:spPr>
        <p:txBody>
          <a:bodyPr>
            <a:normAutofit/>
          </a:bodyPr>
          <a:lstStyle/>
          <a:p>
            <a:r>
              <a:rPr lang="en-US" altLang="zh-CN"/>
              <a:t>2.6.6.3 </a:t>
            </a:r>
            <a:r>
              <a:rPr lang="zh-CN" altLang="en-US"/>
              <a:t>增量</a:t>
            </a:r>
          </a:p>
        </p:txBody>
      </p:sp>
      <p:sp>
        <p:nvSpPr>
          <p:cNvPr id="11" name="内容占位符 10">
            <a:extLst>
              <a:ext uri="{FF2B5EF4-FFF2-40B4-BE49-F238E27FC236}">
                <a16:creationId xmlns:a16="http://schemas.microsoft.com/office/drawing/2014/main" id="{73A18975-E8CD-AB9A-FEAB-3B6E5E098A42}"/>
              </a:ext>
            </a:extLst>
          </p:cNvPr>
          <p:cNvSpPr>
            <a:spLocks noGrp="1"/>
          </p:cNvSpPr>
          <p:nvPr>
            <p:ph idx="1"/>
          </p:nvPr>
        </p:nvSpPr>
        <p:spPr>
          <a:xfrm>
            <a:off x="696000" y="864000"/>
            <a:ext cx="10800000" cy="5400000"/>
          </a:xfrm>
        </p:spPr>
        <p:txBody>
          <a:bodyPr/>
          <a:lstStyle/>
          <a:p>
            <a:pPr lvl="0"/>
            <a:r>
              <a:rPr lang="zh-CN" altLang="en-US"/>
              <a:t>为实现目标的坚实基石 </a:t>
            </a:r>
            <a:r>
              <a:rPr lang="en-US" altLang="zh-CN"/>
              <a:t>concrete stepping stone</a:t>
            </a:r>
          </a:p>
          <a:p>
            <a:pPr lvl="0"/>
            <a:r>
              <a:rPr lang="zh-CN" altLang="en-US"/>
              <a:t>必须有用 </a:t>
            </a:r>
            <a:r>
              <a:rPr lang="en-US" altLang="zh-CN"/>
              <a:t>Usable</a:t>
            </a:r>
            <a:r>
              <a:rPr lang="zh-CN" altLang="en-US"/>
              <a:t>，且经过检验 </a:t>
            </a:r>
            <a:r>
              <a:rPr lang="en-US" altLang="zh-CN"/>
              <a:t>Verified</a:t>
            </a:r>
            <a:r>
              <a:rPr lang="zh-CN" altLang="en-US"/>
              <a:t>，价值累加 </a:t>
            </a:r>
            <a:r>
              <a:rPr lang="en-US" altLang="zh-CN"/>
              <a:t>Additive</a:t>
            </a:r>
          </a:p>
          <a:p>
            <a:pPr lvl="0"/>
            <a:r>
              <a:rPr lang="zh-CN" altLang="en-US"/>
              <a:t>确保之前所有的增量能一起工作 </a:t>
            </a:r>
            <a:r>
              <a:rPr lang="en-US" altLang="zh-CN"/>
              <a:t>Work Together</a:t>
            </a:r>
          </a:p>
          <a:p>
            <a:pPr lvl="0"/>
            <a:r>
              <a:rPr lang="zh-CN" altLang="en-US"/>
              <a:t>一个冲刺可以实现多个 </a:t>
            </a:r>
            <a:r>
              <a:rPr lang="en-US" altLang="zh-CN"/>
              <a:t>Multiple </a:t>
            </a:r>
            <a:r>
              <a:rPr lang="zh-CN" altLang="en-US"/>
              <a:t>增量</a:t>
            </a:r>
            <a:endParaRPr lang="en-US" altLang="zh-CN"/>
          </a:p>
          <a:p>
            <a:pPr lvl="0"/>
            <a:r>
              <a:rPr lang="zh-CN" altLang="en-US"/>
              <a:t>完成定义 </a:t>
            </a:r>
            <a:r>
              <a:rPr lang="en-US" altLang="zh-CN"/>
              <a:t>DOD(Definition of Done)</a:t>
            </a:r>
          </a:p>
          <a:p>
            <a:pPr lvl="1"/>
            <a:r>
              <a:rPr lang="zh-CN" altLang="en-US"/>
              <a:t>只有符合完成定义 </a:t>
            </a:r>
            <a:r>
              <a:rPr lang="en-US" altLang="zh-CN"/>
              <a:t>DOD</a:t>
            </a:r>
            <a:r>
              <a:rPr lang="zh-CN" altLang="en-US"/>
              <a:t>，才可被视作增量的一部分</a:t>
            </a:r>
            <a:endParaRPr lang="en-US" altLang="zh-CN"/>
          </a:p>
          <a:p>
            <a:pPr lvl="1"/>
            <a:r>
              <a:rPr lang="zh-CN" altLang="en-US"/>
              <a:t>一旦一个 </a:t>
            </a:r>
            <a:r>
              <a:rPr lang="en-US" altLang="zh-CN"/>
              <a:t>item </a:t>
            </a:r>
            <a:r>
              <a:rPr lang="zh-CN" altLang="en-US"/>
              <a:t>满足了完成定义，一个增量就诞生了</a:t>
            </a:r>
            <a:endParaRPr lang="en-US" altLang="zh-CN"/>
          </a:p>
          <a:p>
            <a:pPr lvl="1"/>
            <a:r>
              <a:rPr lang="zh-CN" altLang="en-US"/>
              <a:t>可以提前交付 </a:t>
            </a:r>
            <a:r>
              <a:rPr lang="en-US" altLang="zh-CN"/>
              <a:t>prior to</a:t>
            </a:r>
            <a:r>
              <a:rPr lang="zh-CN" altLang="en-US"/>
              <a:t>，不用等到冲刺结束</a:t>
            </a:r>
            <a:r>
              <a:rPr lang="en-US" altLang="zh-CN"/>
              <a:t>/</a:t>
            </a:r>
            <a:r>
              <a:rPr lang="zh-CN" altLang="en-US"/>
              <a:t>不需要冲刺审核通过</a:t>
            </a:r>
            <a:endParaRPr lang="en-US" altLang="zh-CN"/>
          </a:p>
          <a:p>
            <a:pPr lvl="1"/>
            <a:r>
              <a:rPr lang="zh-CN" altLang="en-US"/>
              <a:t>没有完成定义的 </a:t>
            </a:r>
            <a:r>
              <a:rPr lang="en-US" altLang="zh-CN"/>
              <a:t>item </a:t>
            </a:r>
            <a:r>
              <a:rPr lang="zh-CN" altLang="en-US"/>
              <a:t>不能发布，甚至不用在审查会议上展示，但需要重新在产品代办事项中考虑</a:t>
            </a:r>
            <a:endParaRPr lang="en-US" altLang="zh-CN"/>
          </a:p>
          <a:p>
            <a:pPr lvl="1"/>
            <a:r>
              <a:rPr lang="en-US" altLang="zh-CN"/>
              <a:t>DOD </a:t>
            </a:r>
            <a:r>
              <a:rPr lang="zh-CN" altLang="en-US"/>
              <a:t>可以由组织制定，所有团队遵守 </a:t>
            </a:r>
            <a:r>
              <a:rPr lang="en-US" altLang="zh-CN"/>
              <a:t>– </a:t>
            </a:r>
            <a:r>
              <a:rPr lang="zh-CN" altLang="en-US"/>
              <a:t>最低标准 </a:t>
            </a:r>
            <a:r>
              <a:rPr lang="en-US" altLang="zh-CN"/>
              <a:t>as a minimum</a:t>
            </a:r>
          </a:p>
          <a:p>
            <a:pPr lvl="1"/>
            <a:r>
              <a:rPr lang="zh-CN" altLang="en-US"/>
              <a:t>也可以由某个团队制定并遵守 </a:t>
            </a:r>
            <a:r>
              <a:rPr lang="en-US" altLang="zh-CN"/>
              <a:t>– </a:t>
            </a:r>
            <a:r>
              <a:rPr lang="zh-CN" altLang="en-US"/>
              <a:t>定制标准</a:t>
            </a:r>
            <a:endParaRPr lang="en-US" altLang="zh-CN"/>
          </a:p>
          <a:p>
            <a:pPr lvl="1"/>
            <a:r>
              <a:rPr lang="zh-CN" altLang="en-US"/>
              <a:t>通常是</a:t>
            </a:r>
            <a:r>
              <a:rPr lang="en-US" altLang="zh-CN"/>
              <a:t>2</a:t>
            </a:r>
            <a:r>
              <a:rPr lang="zh-CN" altLang="en-US"/>
              <a:t>者兼有</a:t>
            </a:r>
          </a:p>
        </p:txBody>
      </p:sp>
      <p:sp>
        <p:nvSpPr>
          <p:cNvPr id="4" name="文本占位符 3">
            <a:extLst>
              <a:ext uri="{FF2B5EF4-FFF2-40B4-BE49-F238E27FC236}">
                <a16:creationId xmlns:a16="http://schemas.microsoft.com/office/drawing/2014/main" id="{6EFE7DD9-DF23-360E-6683-76C98EF7E732}"/>
              </a:ext>
            </a:extLst>
          </p:cNvPr>
          <p:cNvSpPr>
            <a:spLocks noGrp="1"/>
          </p:cNvSpPr>
          <p:nvPr>
            <p:ph type="body" sz="quarter" idx="10"/>
          </p:nvPr>
        </p:nvSpPr>
        <p:spPr>
          <a:xfrm>
            <a:off x="7071919" y="448519"/>
            <a:ext cx="4424080" cy="338554"/>
          </a:xfrm>
        </p:spPr>
        <p:txBody>
          <a:bodyPr/>
          <a:lstStyle/>
          <a:p>
            <a:r>
              <a:rPr lang="en-US" altLang="zh-CN"/>
              <a:t>Increment/Scrum Artifacts</a:t>
            </a:r>
            <a:endParaRPr lang="zh-CN" altLang="en-US"/>
          </a:p>
        </p:txBody>
      </p:sp>
    </p:spTree>
    <p:extLst>
      <p:ext uri="{BB962C8B-B14F-4D97-AF65-F5344CB8AC3E}">
        <p14:creationId xmlns:p14="http://schemas.microsoft.com/office/powerpoint/2010/main" val="260734475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7CD30C-28A2-77FB-4A3C-AEF8275EECA2}"/>
              </a:ext>
            </a:extLst>
          </p:cNvPr>
          <p:cNvSpPr>
            <a:spLocks noGrp="1"/>
          </p:cNvSpPr>
          <p:nvPr>
            <p:ph type="title"/>
          </p:nvPr>
        </p:nvSpPr>
        <p:spPr>
          <a:xfrm>
            <a:off x="792000" y="360000"/>
            <a:ext cx="6375921" cy="429413"/>
          </a:xfrm>
        </p:spPr>
        <p:txBody>
          <a:bodyPr/>
          <a:lstStyle/>
          <a:p>
            <a:r>
              <a:rPr lang="en-US" altLang="zh-CN"/>
              <a:t>2.7 </a:t>
            </a:r>
            <a:r>
              <a:rPr lang="zh-CN" altLang="en-US"/>
              <a:t>开发流程</a:t>
            </a:r>
          </a:p>
        </p:txBody>
      </p:sp>
      <p:sp>
        <p:nvSpPr>
          <p:cNvPr id="3" name="内容占位符 2">
            <a:extLst>
              <a:ext uri="{FF2B5EF4-FFF2-40B4-BE49-F238E27FC236}">
                <a16:creationId xmlns:a16="http://schemas.microsoft.com/office/drawing/2014/main" id="{47338198-83BC-37AF-39E2-D0642DC07DB0}"/>
              </a:ext>
            </a:extLst>
          </p:cNvPr>
          <p:cNvSpPr>
            <a:spLocks noGrp="1"/>
          </p:cNvSpPr>
          <p:nvPr>
            <p:ph idx="1"/>
          </p:nvPr>
        </p:nvSpPr>
        <p:spPr>
          <a:xfrm>
            <a:off x="696000" y="864000"/>
            <a:ext cx="10800000" cy="5400000"/>
          </a:xfrm>
        </p:spPr>
        <p:txBody>
          <a:bodyPr/>
          <a:lstStyle/>
          <a:p>
            <a:r>
              <a:rPr lang="zh-CN" altLang="en-US"/>
              <a:t>每次敏捷迭代被称为冲刺</a:t>
            </a:r>
          </a:p>
          <a:p>
            <a:pPr lvl="1"/>
            <a:r>
              <a:rPr lang="en-US" altLang="zh-CN"/>
              <a:t>Each iteration of a scrum is termed as Sprint.</a:t>
            </a:r>
          </a:p>
          <a:p>
            <a:r>
              <a:rPr lang="zh-CN" altLang="en-US"/>
              <a:t>产品待办事项列表是包含创建最终产品所需所有信息的列表</a:t>
            </a:r>
          </a:p>
          <a:p>
            <a:pPr lvl="1"/>
            <a:r>
              <a:rPr lang="en-US" altLang="zh-CN"/>
              <a:t>A product backlog is a list that contains all of the information needed to create the final product.</a:t>
            </a:r>
          </a:p>
          <a:p>
            <a:r>
              <a:rPr lang="zh-CN" altLang="en-US"/>
              <a:t>每个迭代周期，从产品待办事项中挑选出顶级用户故事，并将其翻译到迭代待办事项中</a:t>
            </a:r>
          </a:p>
          <a:p>
            <a:pPr lvl="1"/>
            <a:r>
              <a:rPr lang="en-US" altLang="zh-CN"/>
              <a:t>The top user stories from the Product backlog are chosen and translated into Sprint backlogs during each Sprint.</a:t>
            </a:r>
          </a:p>
          <a:p>
            <a:r>
              <a:rPr lang="zh-CN" altLang="en-US"/>
              <a:t>团队处理已建立的冲刺待办事项</a:t>
            </a:r>
          </a:p>
          <a:p>
            <a:pPr lvl="1"/>
            <a:r>
              <a:rPr lang="en-US" altLang="zh-CN"/>
              <a:t>The team works on the sprint backlog that has been established.</a:t>
            </a:r>
          </a:p>
          <a:p>
            <a:r>
              <a:rPr lang="zh-CN" altLang="en-US"/>
              <a:t>团队会双重检查日常工作</a:t>
            </a:r>
          </a:p>
          <a:p>
            <a:pPr lvl="1"/>
            <a:r>
              <a:rPr lang="en-US" altLang="zh-CN"/>
              <a:t>The team double-checks the everyday job.</a:t>
            </a:r>
          </a:p>
          <a:p>
            <a:r>
              <a:rPr lang="zh-CN" altLang="en-US"/>
              <a:t>团队在冲刺结束时交付产品功能</a:t>
            </a:r>
          </a:p>
          <a:p>
            <a:pPr lvl="1"/>
            <a:r>
              <a:rPr lang="en-US" altLang="zh-CN"/>
              <a:t>The team delivers product functionality at the end of the sprint.</a:t>
            </a:r>
          </a:p>
          <a:p>
            <a:endParaRPr lang="zh-CN" altLang="en-US"/>
          </a:p>
        </p:txBody>
      </p:sp>
      <p:sp>
        <p:nvSpPr>
          <p:cNvPr id="4" name="文本占位符 3">
            <a:extLst>
              <a:ext uri="{FF2B5EF4-FFF2-40B4-BE49-F238E27FC236}">
                <a16:creationId xmlns:a16="http://schemas.microsoft.com/office/drawing/2014/main" id="{01EE63DD-E822-9633-5613-63A718EAD1B3}"/>
              </a:ext>
            </a:extLst>
          </p:cNvPr>
          <p:cNvSpPr>
            <a:spLocks noGrp="1"/>
          </p:cNvSpPr>
          <p:nvPr>
            <p:ph type="body" sz="quarter" idx="10"/>
          </p:nvPr>
        </p:nvSpPr>
        <p:spPr>
          <a:xfrm>
            <a:off x="7071919" y="448519"/>
            <a:ext cx="4424080" cy="338554"/>
          </a:xfrm>
        </p:spPr>
        <p:txBody>
          <a:bodyPr/>
          <a:lstStyle/>
          <a:p>
            <a:r>
              <a:rPr lang="en-US" altLang="zh-CN"/>
              <a:t>Process flow</a:t>
            </a:r>
            <a:endParaRPr lang="zh-CN" altLang="en-US"/>
          </a:p>
        </p:txBody>
      </p:sp>
    </p:spTree>
    <p:extLst>
      <p:ext uri="{BB962C8B-B14F-4D97-AF65-F5344CB8AC3E}">
        <p14:creationId xmlns:p14="http://schemas.microsoft.com/office/powerpoint/2010/main" val="276003709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1727F555-CAF1-0D3F-ACD9-7B2FF8D9EBA4}"/>
              </a:ext>
            </a:extLst>
          </p:cNvPr>
          <p:cNvGraphicFramePr>
            <a:graphicFrameLocks noGrp="1"/>
          </p:cNvGraphicFramePr>
          <p:nvPr>
            <p:extLst>
              <p:ext uri="{D42A27DB-BD31-4B8C-83A1-F6EECF244321}">
                <p14:modId xmlns:p14="http://schemas.microsoft.com/office/powerpoint/2010/main" val="1506185088"/>
              </p:ext>
            </p:extLst>
          </p:nvPr>
        </p:nvGraphicFramePr>
        <p:xfrm>
          <a:off x="695325" y="2255520"/>
          <a:ext cx="10801350" cy="2346960"/>
        </p:xfrm>
        <a:graphic>
          <a:graphicData uri="http://schemas.openxmlformats.org/drawingml/2006/table">
            <a:tbl>
              <a:tblPr/>
              <a:tblGrid>
                <a:gridCol w="1861062">
                  <a:extLst>
                    <a:ext uri="{9D8B030D-6E8A-4147-A177-3AD203B41FA5}">
                      <a16:colId xmlns:a16="http://schemas.microsoft.com/office/drawing/2014/main" val="713579413"/>
                    </a:ext>
                  </a:extLst>
                </a:gridCol>
                <a:gridCol w="3962400">
                  <a:extLst>
                    <a:ext uri="{9D8B030D-6E8A-4147-A177-3AD203B41FA5}">
                      <a16:colId xmlns:a16="http://schemas.microsoft.com/office/drawing/2014/main" val="2697331974"/>
                    </a:ext>
                  </a:extLst>
                </a:gridCol>
                <a:gridCol w="4977888">
                  <a:extLst>
                    <a:ext uri="{9D8B030D-6E8A-4147-A177-3AD203B41FA5}">
                      <a16:colId xmlns:a16="http://schemas.microsoft.com/office/drawing/2014/main" val="3990686425"/>
                    </a:ext>
                  </a:extLst>
                </a:gridCol>
              </a:tblGrid>
              <a:tr h="0">
                <a:tc>
                  <a:txBody>
                    <a:bodyPr/>
                    <a:lstStyle/>
                    <a:p>
                      <a:pPr>
                        <a:buNone/>
                      </a:pPr>
                      <a:endParaRPr lang="zh-CN" altLang="en-US" sz="16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buNone/>
                      </a:pPr>
                      <a:r>
                        <a:rPr lang="en-US" sz="1600" dirty="0">
                          <a:solidFill>
                            <a:schemeClr val="bg1"/>
                          </a:solidFill>
                        </a:rPr>
                        <a:t>Backlog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buNone/>
                      </a:pPr>
                      <a:r>
                        <a:rPr lang="en-US" sz="1600" dirty="0">
                          <a:solidFill>
                            <a:schemeClr val="bg1"/>
                          </a:solidFill>
                        </a:rPr>
                        <a:t>To Do</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3449365441"/>
                  </a:ext>
                </a:extLst>
              </a:tr>
              <a:tr h="0">
                <a:tc>
                  <a:txBody>
                    <a:bodyPr/>
                    <a:lstStyle/>
                    <a:p>
                      <a:pPr>
                        <a:buNone/>
                      </a:pPr>
                      <a:r>
                        <a:rPr lang="zh-CN" altLang="en-US" sz="1600"/>
                        <a:t>含义</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所有潜在任务的总池</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即将执行的任务子集</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286771"/>
                  </a:ext>
                </a:extLst>
              </a:tr>
              <a:tr h="0">
                <a:tc>
                  <a:txBody>
                    <a:bodyPr/>
                    <a:lstStyle/>
                    <a:p>
                      <a:pPr>
                        <a:buNone/>
                      </a:pPr>
                      <a:r>
                        <a:rPr lang="zh-CN" altLang="en-US" sz="1600"/>
                        <a:t>优先级</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动态调整，无强制顺序</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已排序，高优先级</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85281986"/>
                  </a:ext>
                </a:extLst>
              </a:tr>
              <a:tr h="0">
                <a:tc>
                  <a:txBody>
                    <a:bodyPr/>
                    <a:lstStyle/>
                    <a:p>
                      <a:pPr>
                        <a:buNone/>
                      </a:pPr>
                      <a:r>
                        <a:rPr lang="zh-CN" altLang="en-US" sz="1600"/>
                        <a:t>粒度</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可粗可细</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通常已拆解为可执行单元</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0948076"/>
                  </a:ext>
                </a:extLst>
              </a:tr>
              <a:tr h="0">
                <a:tc>
                  <a:txBody>
                    <a:bodyPr/>
                    <a:lstStyle/>
                    <a:p>
                      <a:pPr>
                        <a:buNone/>
                      </a:pPr>
                      <a:r>
                        <a:rPr lang="zh-CN" altLang="en-US" sz="1600"/>
                        <a:t>管理者</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产品经理 </a:t>
                      </a:r>
                      <a:r>
                        <a:rPr lang="en-US" altLang="zh-CN" sz="1600"/>
                        <a:t>/ </a:t>
                      </a:r>
                      <a:r>
                        <a:rPr lang="en-US" sz="1600"/>
                        <a:t>PO</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团队共同确认</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4604113"/>
                  </a:ext>
                </a:extLst>
              </a:tr>
              <a:tr h="0">
                <a:tc>
                  <a:txBody>
                    <a:bodyPr/>
                    <a:lstStyle/>
                    <a:p>
                      <a:pPr>
                        <a:buNone/>
                      </a:pPr>
                      <a:r>
                        <a:rPr lang="zh-CN" altLang="en-US" sz="1600"/>
                        <a:t>更新频率</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持续添加</a:t>
                      </a:r>
                      <a:r>
                        <a:rPr lang="en-US" altLang="zh-CN" sz="1600"/>
                        <a:t>/</a:t>
                      </a:r>
                      <a:r>
                        <a:rPr lang="zh-CN" altLang="en-US" sz="1600"/>
                        <a:t>删除</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每轮迭代前更新</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23710017"/>
                  </a:ext>
                </a:extLst>
              </a:tr>
              <a:tr h="0">
                <a:tc>
                  <a:txBody>
                    <a:bodyPr/>
                    <a:lstStyle/>
                    <a:p>
                      <a:pPr>
                        <a:buNone/>
                      </a:pPr>
                      <a:r>
                        <a:rPr lang="zh-CN" altLang="en-US" sz="1600"/>
                        <a:t>类比</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人生愿望清单</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dirty="0"/>
                        <a:t>今日待办事项</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7882566"/>
                  </a:ext>
                </a:extLst>
              </a:tr>
            </a:tbl>
          </a:graphicData>
        </a:graphic>
      </p:graphicFrame>
    </p:spTree>
    <p:extLst>
      <p:ext uri="{BB962C8B-B14F-4D97-AF65-F5344CB8AC3E}">
        <p14:creationId xmlns:p14="http://schemas.microsoft.com/office/powerpoint/2010/main" val="418445596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DDD16D6C-FAE2-BCF4-E8E6-96003ABB6351}"/>
              </a:ext>
            </a:extLst>
          </p:cNvPr>
          <p:cNvGraphicFramePr>
            <a:graphicFrameLocks noGrp="1"/>
          </p:cNvGraphicFramePr>
          <p:nvPr>
            <p:extLst>
              <p:ext uri="{D42A27DB-BD31-4B8C-83A1-F6EECF244321}">
                <p14:modId xmlns:p14="http://schemas.microsoft.com/office/powerpoint/2010/main" val="3729097699"/>
              </p:ext>
            </p:extLst>
          </p:nvPr>
        </p:nvGraphicFramePr>
        <p:xfrm>
          <a:off x="695325" y="1965960"/>
          <a:ext cx="10801350" cy="2926080"/>
        </p:xfrm>
        <a:graphic>
          <a:graphicData uri="http://schemas.openxmlformats.org/drawingml/2006/table">
            <a:tbl>
              <a:tblPr/>
              <a:tblGrid>
                <a:gridCol w="1664417">
                  <a:extLst>
                    <a:ext uri="{9D8B030D-6E8A-4147-A177-3AD203B41FA5}">
                      <a16:colId xmlns:a16="http://schemas.microsoft.com/office/drawing/2014/main" val="3304585830"/>
                    </a:ext>
                  </a:extLst>
                </a:gridCol>
                <a:gridCol w="3913239">
                  <a:extLst>
                    <a:ext uri="{9D8B030D-6E8A-4147-A177-3AD203B41FA5}">
                      <a16:colId xmlns:a16="http://schemas.microsoft.com/office/drawing/2014/main" val="1853662817"/>
                    </a:ext>
                  </a:extLst>
                </a:gridCol>
                <a:gridCol w="5223694">
                  <a:extLst>
                    <a:ext uri="{9D8B030D-6E8A-4147-A177-3AD203B41FA5}">
                      <a16:colId xmlns:a16="http://schemas.microsoft.com/office/drawing/2014/main" val="753807895"/>
                    </a:ext>
                  </a:extLst>
                </a:gridCol>
              </a:tblGrid>
              <a:tr h="0">
                <a:tc>
                  <a:txBody>
                    <a:bodyPr/>
                    <a:lstStyle/>
                    <a:p>
                      <a:pPr algn="l">
                        <a:buNone/>
                      </a:pPr>
                      <a:r>
                        <a:rPr lang="zh-CN" altLang="en-US" sz="1600" dirty="0">
                          <a:solidFill>
                            <a:schemeClr val="bg1"/>
                          </a:solidFill>
                        </a:rPr>
                        <a:t>维度</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buNone/>
                      </a:pPr>
                      <a:r>
                        <a:rPr lang="zh-CN" altLang="en-US" sz="1600" dirty="0">
                          <a:solidFill>
                            <a:schemeClr val="bg1"/>
                          </a:solidFill>
                        </a:rPr>
                        <a:t>特性 </a:t>
                      </a:r>
                      <a:r>
                        <a:rPr lang="en-US" sz="1600" dirty="0">
                          <a:solidFill>
                            <a:schemeClr val="bg1"/>
                          </a:solidFill>
                        </a:rPr>
                        <a:t>Feature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buNone/>
                      </a:pPr>
                      <a:r>
                        <a:rPr lang="zh-CN" altLang="en-US" sz="1600" dirty="0">
                          <a:solidFill>
                            <a:schemeClr val="bg1"/>
                          </a:solidFill>
                        </a:rPr>
                        <a:t>增量 </a:t>
                      </a:r>
                      <a:r>
                        <a:rPr lang="en-US" sz="1600" dirty="0">
                          <a:solidFill>
                            <a:schemeClr val="bg1"/>
                          </a:solidFill>
                        </a:rPr>
                        <a:t>Increment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4162318852"/>
                  </a:ext>
                </a:extLst>
              </a:tr>
              <a:tr h="0">
                <a:tc>
                  <a:txBody>
                    <a:bodyPr/>
                    <a:lstStyle/>
                    <a:p>
                      <a:pPr algn="l">
                        <a:buNone/>
                      </a:pPr>
                      <a:r>
                        <a:rPr lang="zh-CN" altLang="en-US" sz="1600"/>
                        <a:t>定义</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t>单个、独立的业务功能单元</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t>在原有软件基础上，新增功能后形成的新的、可运行的整体版本</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2875405"/>
                  </a:ext>
                </a:extLst>
              </a:tr>
              <a:tr h="0">
                <a:tc>
                  <a:txBody>
                    <a:bodyPr/>
                    <a:lstStyle/>
                    <a:p>
                      <a:pPr algn="l">
                        <a:buNone/>
                      </a:pPr>
                      <a:r>
                        <a:rPr lang="zh-CN" altLang="en-US" sz="1600"/>
                        <a:t>视角</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t>业务</a:t>
                      </a:r>
                      <a:r>
                        <a:rPr lang="en-US" altLang="zh-CN" sz="1600"/>
                        <a:t>/</a:t>
                      </a:r>
                      <a:r>
                        <a:rPr lang="zh-CN" altLang="en-US" sz="1600"/>
                        <a:t>功能视角（用户能用什么新功能？）</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t>产品</a:t>
                      </a:r>
                      <a:r>
                        <a:rPr lang="en-US" altLang="zh-CN" sz="1600"/>
                        <a:t>/</a:t>
                      </a:r>
                      <a:r>
                        <a:rPr lang="zh-CN" altLang="en-US" sz="1600"/>
                        <a:t>版本视角（系统现在变成了什么样？）</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713005"/>
                  </a:ext>
                </a:extLst>
              </a:tr>
              <a:tr h="0">
                <a:tc>
                  <a:txBody>
                    <a:bodyPr/>
                    <a:lstStyle/>
                    <a:p>
                      <a:pPr algn="l">
                        <a:buNone/>
                      </a:pPr>
                      <a:r>
                        <a:rPr lang="zh-CN" altLang="en-US" sz="1600"/>
                        <a:t>构成</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t>代码 </a:t>
                      </a:r>
                      <a:r>
                        <a:rPr lang="en-US" altLang="zh-CN" sz="1600"/>
                        <a:t>+ </a:t>
                      </a:r>
                      <a:r>
                        <a:rPr lang="zh-CN" altLang="en-US" sz="1600"/>
                        <a:t>测试 </a:t>
                      </a:r>
                      <a:r>
                        <a:rPr lang="en-US" altLang="zh-CN" sz="1600"/>
                        <a:t>+ </a:t>
                      </a:r>
                      <a:r>
                        <a:rPr lang="zh-CN" altLang="en-US" sz="1600"/>
                        <a:t>文档（针对单一功能）</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t>所有已完成的特性 </a:t>
                      </a:r>
                      <a:r>
                        <a:rPr lang="en-US" altLang="zh-CN" sz="1600"/>
                        <a:t>+ </a:t>
                      </a:r>
                      <a:r>
                        <a:rPr lang="zh-CN" altLang="en-US" sz="1600"/>
                        <a:t>旧功能 </a:t>
                      </a:r>
                      <a:r>
                        <a:rPr lang="en-US" altLang="zh-CN" sz="1600"/>
                        <a:t>+ </a:t>
                      </a:r>
                      <a:r>
                        <a:rPr lang="zh-CN" altLang="en-US" sz="1600"/>
                        <a:t>修复的</a:t>
                      </a:r>
                      <a:r>
                        <a:rPr lang="en-US" altLang="zh-CN" sz="1600"/>
                        <a:t>Bug + </a:t>
                      </a:r>
                      <a:r>
                        <a:rPr lang="zh-CN" altLang="en-US" sz="1600"/>
                        <a:t>性能优化</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30275403"/>
                  </a:ext>
                </a:extLst>
              </a:tr>
              <a:tr h="0">
                <a:tc>
                  <a:txBody>
                    <a:bodyPr/>
                    <a:lstStyle/>
                    <a:p>
                      <a:pPr algn="l">
                        <a:buNone/>
                      </a:pPr>
                      <a:r>
                        <a:rPr lang="zh-CN" altLang="en-US" sz="1600"/>
                        <a:t>独立性</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t>逻辑上独立，但可能依赖底层架构</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t>必须独立可运行，不能依赖未完成的部分</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85690415"/>
                  </a:ext>
                </a:extLst>
              </a:tr>
              <a:tr h="0">
                <a:tc>
                  <a:txBody>
                    <a:bodyPr/>
                    <a:lstStyle/>
                    <a:p>
                      <a:pPr algn="l">
                        <a:buNone/>
                      </a:pPr>
                      <a:r>
                        <a:rPr lang="zh-CN" altLang="en-US" sz="1600"/>
                        <a:t>累积性</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t>不累积（它是一个点）</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t>强累积（</a:t>
                      </a:r>
                      <a:r>
                        <a:rPr lang="en-US" sz="1600"/>
                        <a:t>Increment 2 = Increment 1 + </a:t>
                      </a:r>
                      <a:r>
                        <a:rPr lang="zh-CN" altLang="en-US" sz="1600"/>
                        <a:t>新特性）</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65209504"/>
                  </a:ext>
                </a:extLst>
              </a:tr>
              <a:tr h="0">
                <a:tc>
                  <a:txBody>
                    <a:bodyPr/>
                    <a:lstStyle/>
                    <a:p>
                      <a:pPr algn="l">
                        <a:buNone/>
                      </a:pPr>
                      <a:r>
                        <a:rPr lang="zh-CN" altLang="en-US" sz="1600"/>
                        <a:t>时间粒度</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t>较小（通常几天到两周）</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t>较大（通常是一个迭代</a:t>
                      </a:r>
                      <a:r>
                        <a:rPr lang="en-US" altLang="zh-CN" sz="1600"/>
                        <a:t>/Sprint</a:t>
                      </a:r>
                      <a:r>
                        <a:rPr lang="zh-CN" altLang="en-US" sz="1600"/>
                        <a:t>结束，或一个月发布一次）</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80416970"/>
                  </a:ext>
                </a:extLst>
              </a:tr>
              <a:tr h="0">
                <a:tc>
                  <a:txBody>
                    <a:bodyPr/>
                    <a:lstStyle/>
                    <a:p>
                      <a:pPr algn="l">
                        <a:buNone/>
                      </a:pPr>
                      <a:r>
                        <a:rPr lang="en-US" sz="1600"/>
                        <a:t>FDD</a:t>
                      </a:r>
                      <a:r>
                        <a:rPr lang="zh-CN" altLang="en-US" sz="1600"/>
                        <a:t>中的角色</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altLang="zh-CN" sz="1600"/>
                        <a:t>FDD</a:t>
                      </a:r>
                      <a:r>
                        <a:rPr lang="zh-CN" altLang="en-US" sz="1600"/>
                        <a:t>的核心驱动单位（按特性开发）</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altLang="zh-CN" sz="1600" dirty="0"/>
                        <a:t>FDD</a:t>
                      </a:r>
                      <a:r>
                        <a:rPr lang="zh-CN" altLang="en-US" sz="1600" dirty="0"/>
                        <a:t>的结果（每完成一组特性，就形成一个增量）</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6632810"/>
                  </a:ext>
                </a:extLst>
              </a:tr>
            </a:tbl>
          </a:graphicData>
        </a:graphic>
      </p:graphicFrame>
    </p:spTree>
    <p:extLst>
      <p:ext uri="{BB962C8B-B14F-4D97-AF65-F5344CB8AC3E}">
        <p14:creationId xmlns:p14="http://schemas.microsoft.com/office/powerpoint/2010/main" val="316212856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71A49-6642-96FF-D3E8-245E268CA1E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83CDE23-4F7C-273E-9402-14A5FA8E90A4}"/>
              </a:ext>
            </a:extLst>
          </p:cNvPr>
          <p:cNvSpPr>
            <a:spLocks noGrp="1"/>
          </p:cNvSpPr>
          <p:nvPr>
            <p:ph type="ctrTitle"/>
          </p:nvPr>
        </p:nvSpPr>
        <p:spPr>
          <a:xfrm>
            <a:off x="2464886" y="4681056"/>
            <a:ext cx="7262228" cy="798491"/>
          </a:xfrm>
        </p:spPr>
        <p:txBody>
          <a:bodyPr/>
          <a:lstStyle/>
          <a:p>
            <a:r>
              <a:rPr lang="zh-CN" altLang="en-US"/>
              <a:t>软件项目范围计划</a:t>
            </a:r>
          </a:p>
        </p:txBody>
      </p:sp>
      <p:sp>
        <p:nvSpPr>
          <p:cNvPr id="3" name="副标题 2">
            <a:extLst>
              <a:ext uri="{FF2B5EF4-FFF2-40B4-BE49-F238E27FC236}">
                <a16:creationId xmlns:a16="http://schemas.microsoft.com/office/drawing/2014/main" id="{FFCF073F-5134-EF70-B114-973586DD9916}"/>
              </a:ext>
            </a:extLst>
          </p:cNvPr>
          <p:cNvSpPr>
            <a:spLocks noGrp="1"/>
          </p:cNvSpPr>
          <p:nvPr>
            <p:ph type="subTitle" idx="1"/>
          </p:nvPr>
        </p:nvSpPr>
        <p:spPr>
          <a:xfrm>
            <a:off x="2464886" y="5479548"/>
            <a:ext cx="7262228" cy="458180"/>
          </a:xfrm>
        </p:spPr>
        <p:txBody>
          <a:bodyPr/>
          <a:lstStyle/>
          <a:p>
            <a:r>
              <a:rPr lang="en-US" altLang="zh-CN"/>
              <a:t>Section 3 Project Scope</a:t>
            </a:r>
            <a:endParaRPr lang="zh-CN" altLang="en-US"/>
          </a:p>
        </p:txBody>
      </p:sp>
      <p:sp>
        <p:nvSpPr>
          <p:cNvPr id="7" name="文本占位符 6">
            <a:extLst>
              <a:ext uri="{FF2B5EF4-FFF2-40B4-BE49-F238E27FC236}">
                <a16:creationId xmlns:a16="http://schemas.microsoft.com/office/drawing/2014/main" id="{6E8BAE8B-2F22-D362-1B32-D4595C7339D9}"/>
              </a:ext>
            </a:extLst>
          </p:cNvPr>
          <p:cNvSpPr>
            <a:spLocks noGrp="1"/>
          </p:cNvSpPr>
          <p:nvPr>
            <p:ph type="body" sz="quarter" idx="11"/>
          </p:nvPr>
        </p:nvSpPr>
        <p:spPr>
          <a:xfrm>
            <a:off x="3883891" y="2047875"/>
            <a:ext cx="4424219" cy="2531269"/>
          </a:xfrm>
        </p:spPr>
        <p:txBody>
          <a:bodyPr>
            <a:normAutofit/>
          </a:bodyPr>
          <a:lstStyle/>
          <a:p>
            <a:r>
              <a:rPr lang="zh-CN" altLang="en-US"/>
              <a:t>需求管理</a:t>
            </a:r>
            <a:endParaRPr lang="en-US" altLang="zh-CN"/>
          </a:p>
          <a:p>
            <a:r>
              <a:rPr lang="zh-CN" altLang="en-US"/>
              <a:t>传统项目需求分析</a:t>
            </a:r>
            <a:endParaRPr lang="en-US" altLang="zh-CN"/>
          </a:p>
          <a:p>
            <a:r>
              <a:rPr lang="zh-CN" altLang="en-US"/>
              <a:t>敏捷项目需求分析</a:t>
            </a:r>
            <a:endParaRPr lang="en-US" altLang="zh-CN"/>
          </a:p>
          <a:p>
            <a:r>
              <a:rPr lang="zh-CN" altLang="en-US"/>
              <a:t>工作范围</a:t>
            </a:r>
            <a:endParaRPr lang="en-US" altLang="zh-CN"/>
          </a:p>
          <a:p>
            <a:r>
              <a:rPr lang="zh-CN" altLang="en-US"/>
              <a:t>任务分解</a:t>
            </a:r>
            <a:endParaRPr lang="en-US" altLang="zh-CN"/>
          </a:p>
          <a:p>
            <a:r>
              <a:rPr lang="zh-CN" altLang="en-US"/>
              <a:t>敏捷任务分解</a:t>
            </a:r>
          </a:p>
        </p:txBody>
      </p:sp>
    </p:spTree>
    <p:extLst>
      <p:ext uri="{BB962C8B-B14F-4D97-AF65-F5344CB8AC3E}">
        <p14:creationId xmlns:p14="http://schemas.microsoft.com/office/powerpoint/2010/main" val="8063145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1B6CD-2821-8D97-CF70-BFE248B8E9AA}"/>
            </a:ext>
          </a:extLst>
        </p:cNvPr>
        <p:cNvGrpSpPr/>
        <p:nvPr/>
      </p:nvGrpSpPr>
      <p:grpSpPr>
        <a:xfrm>
          <a:off x="0" y="0"/>
          <a:ext cx="0" cy="0"/>
          <a:chOff x="0" y="0"/>
          <a:chExt cx="0" cy="0"/>
        </a:xfrm>
      </p:grpSpPr>
      <p:sp>
        <p:nvSpPr>
          <p:cNvPr id="5" name="箭头: V 形 4">
            <a:extLst>
              <a:ext uri="{FF2B5EF4-FFF2-40B4-BE49-F238E27FC236}">
                <a16:creationId xmlns:a16="http://schemas.microsoft.com/office/drawing/2014/main" id="{1C8D09A6-AAA8-0CB0-1495-83B0B7B35FAD}"/>
              </a:ext>
            </a:extLst>
          </p:cNvPr>
          <p:cNvSpPr/>
          <p:nvPr/>
        </p:nvSpPr>
        <p:spPr>
          <a:xfrm>
            <a:off x="2454444" y="1897626"/>
            <a:ext cx="1800000" cy="360000"/>
          </a:xfrm>
          <a:prstGeom prst="chevron">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rPr>
              <a:t>项目开始</a:t>
            </a:r>
          </a:p>
        </p:txBody>
      </p:sp>
      <p:sp>
        <p:nvSpPr>
          <p:cNvPr id="6" name="箭头: V 形 5">
            <a:extLst>
              <a:ext uri="{FF2B5EF4-FFF2-40B4-BE49-F238E27FC236}">
                <a16:creationId xmlns:a16="http://schemas.microsoft.com/office/drawing/2014/main" id="{528160D3-2122-79BB-75BA-3EC3FDC3199C}"/>
              </a:ext>
            </a:extLst>
          </p:cNvPr>
          <p:cNvSpPr/>
          <p:nvPr/>
        </p:nvSpPr>
        <p:spPr>
          <a:xfrm>
            <a:off x="4180548" y="1897626"/>
            <a:ext cx="1800000" cy="360000"/>
          </a:xfrm>
          <a:prstGeom prst="chevron">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solidFill>
              </a:rPr>
              <a:t>项目计划</a:t>
            </a:r>
          </a:p>
        </p:txBody>
      </p:sp>
      <p:sp>
        <p:nvSpPr>
          <p:cNvPr id="7" name="箭头: V 形 6">
            <a:extLst>
              <a:ext uri="{FF2B5EF4-FFF2-40B4-BE49-F238E27FC236}">
                <a16:creationId xmlns:a16="http://schemas.microsoft.com/office/drawing/2014/main" id="{7719EE9C-1DDA-5D18-B6F2-2449583A67AA}"/>
              </a:ext>
            </a:extLst>
          </p:cNvPr>
          <p:cNvSpPr/>
          <p:nvPr/>
        </p:nvSpPr>
        <p:spPr>
          <a:xfrm>
            <a:off x="5906652" y="1897626"/>
            <a:ext cx="1800000" cy="360000"/>
          </a:xfrm>
          <a:prstGeom prst="chevron">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rPr>
              <a:t>项目执行控制</a:t>
            </a:r>
          </a:p>
        </p:txBody>
      </p:sp>
      <p:sp>
        <p:nvSpPr>
          <p:cNvPr id="8" name="箭头: V 形 7">
            <a:extLst>
              <a:ext uri="{FF2B5EF4-FFF2-40B4-BE49-F238E27FC236}">
                <a16:creationId xmlns:a16="http://schemas.microsoft.com/office/drawing/2014/main" id="{B2FEDFBA-B342-47D4-F8CE-891903D97A93}"/>
              </a:ext>
            </a:extLst>
          </p:cNvPr>
          <p:cNvSpPr/>
          <p:nvPr/>
        </p:nvSpPr>
        <p:spPr>
          <a:xfrm>
            <a:off x="7632755" y="1897626"/>
            <a:ext cx="1800000" cy="360000"/>
          </a:xfrm>
          <a:prstGeom prst="chevron">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rPr>
              <a:t>项目结束</a:t>
            </a:r>
          </a:p>
        </p:txBody>
      </p:sp>
      <p:sp>
        <p:nvSpPr>
          <p:cNvPr id="9" name="矩形 8">
            <a:extLst>
              <a:ext uri="{FF2B5EF4-FFF2-40B4-BE49-F238E27FC236}">
                <a16:creationId xmlns:a16="http://schemas.microsoft.com/office/drawing/2014/main" id="{2566E38D-D49F-86D8-EFAA-EE198FC57E5E}"/>
              </a:ext>
            </a:extLst>
          </p:cNvPr>
          <p:cNvSpPr/>
          <p:nvPr/>
        </p:nvSpPr>
        <p:spPr>
          <a:xfrm>
            <a:off x="3453041" y="2998839"/>
            <a:ext cx="430887" cy="216000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bg1"/>
                </a:solidFill>
              </a:rPr>
              <a:t>范围计划</a:t>
            </a:r>
          </a:p>
        </p:txBody>
      </p:sp>
      <p:sp>
        <p:nvSpPr>
          <p:cNvPr id="10" name="矩形 9">
            <a:extLst>
              <a:ext uri="{FF2B5EF4-FFF2-40B4-BE49-F238E27FC236}">
                <a16:creationId xmlns:a16="http://schemas.microsoft.com/office/drawing/2014/main" id="{6F99D44F-7EE5-B94D-C03F-A2C8C0CEA4BD}"/>
              </a:ext>
            </a:extLst>
          </p:cNvPr>
          <p:cNvSpPr/>
          <p:nvPr/>
        </p:nvSpPr>
        <p:spPr>
          <a:xfrm>
            <a:off x="4147174" y="2998839"/>
            <a:ext cx="430887" cy="2160000"/>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成本计划</a:t>
            </a:r>
          </a:p>
        </p:txBody>
      </p:sp>
      <p:sp>
        <p:nvSpPr>
          <p:cNvPr id="11" name="矩形 10">
            <a:extLst>
              <a:ext uri="{FF2B5EF4-FFF2-40B4-BE49-F238E27FC236}">
                <a16:creationId xmlns:a16="http://schemas.microsoft.com/office/drawing/2014/main" id="{035FEBA3-10E5-1B8E-2B26-546B6C332C3D}"/>
              </a:ext>
            </a:extLst>
          </p:cNvPr>
          <p:cNvSpPr/>
          <p:nvPr/>
        </p:nvSpPr>
        <p:spPr>
          <a:xfrm>
            <a:off x="4840750" y="2998839"/>
            <a:ext cx="430887" cy="2160000"/>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进度计划</a:t>
            </a:r>
          </a:p>
        </p:txBody>
      </p:sp>
      <p:sp>
        <p:nvSpPr>
          <p:cNvPr id="12" name="矩形 11">
            <a:extLst>
              <a:ext uri="{FF2B5EF4-FFF2-40B4-BE49-F238E27FC236}">
                <a16:creationId xmlns:a16="http://schemas.microsoft.com/office/drawing/2014/main" id="{625D6DDE-3AB6-5016-3B62-AC827235C00E}"/>
              </a:ext>
            </a:extLst>
          </p:cNvPr>
          <p:cNvSpPr/>
          <p:nvPr/>
        </p:nvSpPr>
        <p:spPr>
          <a:xfrm>
            <a:off x="5534326" y="2998839"/>
            <a:ext cx="430887" cy="2160000"/>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质量计划</a:t>
            </a:r>
          </a:p>
        </p:txBody>
      </p:sp>
      <p:sp>
        <p:nvSpPr>
          <p:cNvPr id="13" name="矩形 12">
            <a:extLst>
              <a:ext uri="{FF2B5EF4-FFF2-40B4-BE49-F238E27FC236}">
                <a16:creationId xmlns:a16="http://schemas.microsoft.com/office/drawing/2014/main" id="{8F6CC8E7-8609-5AC8-A81C-B408EDEDA3D5}"/>
              </a:ext>
            </a:extLst>
          </p:cNvPr>
          <p:cNvSpPr/>
          <p:nvPr/>
        </p:nvSpPr>
        <p:spPr>
          <a:xfrm>
            <a:off x="6227902" y="2998839"/>
            <a:ext cx="430887" cy="2160000"/>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配置管理计划</a:t>
            </a:r>
          </a:p>
        </p:txBody>
      </p:sp>
      <p:sp>
        <p:nvSpPr>
          <p:cNvPr id="14" name="矩形 13">
            <a:extLst>
              <a:ext uri="{FF2B5EF4-FFF2-40B4-BE49-F238E27FC236}">
                <a16:creationId xmlns:a16="http://schemas.microsoft.com/office/drawing/2014/main" id="{CAB11DA4-DE03-B05D-26A6-0343DBE620DB}"/>
              </a:ext>
            </a:extLst>
          </p:cNvPr>
          <p:cNvSpPr/>
          <p:nvPr/>
        </p:nvSpPr>
        <p:spPr>
          <a:xfrm>
            <a:off x="6921478" y="2998839"/>
            <a:ext cx="430887" cy="2160000"/>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团队计划</a:t>
            </a:r>
          </a:p>
        </p:txBody>
      </p:sp>
      <p:sp>
        <p:nvSpPr>
          <p:cNvPr id="15" name="矩形 14">
            <a:extLst>
              <a:ext uri="{FF2B5EF4-FFF2-40B4-BE49-F238E27FC236}">
                <a16:creationId xmlns:a16="http://schemas.microsoft.com/office/drawing/2014/main" id="{3165500D-4931-0F51-61A0-D7BBE51485AA}"/>
              </a:ext>
            </a:extLst>
          </p:cNvPr>
          <p:cNvSpPr/>
          <p:nvPr/>
        </p:nvSpPr>
        <p:spPr>
          <a:xfrm>
            <a:off x="7615054" y="2998839"/>
            <a:ext cx="430887" cy="2160000"/>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风险计划</a:t>
            </a:r>
          </a:p>
        </p:txBody>
      </p:sp>
      <p:sp>
        <p:nvSpPr>
          <p:cNvPr id="16" name="矩形 15">
            <a:extLst>
              <a:ext uri="{FF2B5EF4-FFF2-40B4-BE49-F238E27FC236}">
                <a16:creationId xmlns:a16="http://schemas.microsoft.com/office/drawing/2014/main" id="{293B3A09-877F-726F-D7B7-0C0679047EFB}"/>
              </a:ext>
            </a:extLst>
          </p:cNvPr>
          <p:cNvSpPr/>
          <p:nvPr/>
        </p:nvSpPr>
        <p:spPr>
          <a:xfrm>
            <a:off x="8308629" y="2998839"/>
            <a:ext cx="430887" cy="2160000"/>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合同计划</a:t>
            </a:r>
          </a:p>
        </p:txBody>
      </p:sp>
      <p:sp>
        <p:nvSpPr>
          <p:cNvPr id="17" name="梯形 27">
            <a:extLst>
              <a:ext uri="{FF2B5EF4-FFF2-40B4-BE49-F238E27FC236}">
                <a16:creationId xmlns:a16="http://schemas.microsoft.com/office/drawing/2014/main" id="{E22877EF-D6EE-F23A-8EB9-07413335C1CA}"/>
              </a:ext>
            </a:extLst>
          </p:cNvPr>
          <p:cNvSpPr/>
          <p:nvPr/>
        </p:nvSpPr>
        <p:spPr>
          <a:xfrm>
            <a:off x="3452485" y="2359742"/>
            <a:ext cx="5287031" cy="639097"/>
          </a:xfrm>
          <a:custGeom>
            <a:avLst/>
            <a:gdLst>
              <a:gd name="csX0" fmla="*/ 0 w 5287031"/>
              <a:gd name="csY0" fmla="*/ 629265 h 629265"/>
              <a:gd name="csX1" fmla="*/ 688259 w 5287031"/>
              <a:gd name="csY1" fmla="*/ 0 h 629265"/>
              <a:gd name="csX2" fmla="*/ 4598772 w 5287031"/>
              <a:gd name="csY2" fmla="*/ 0 h 629265"/>
              <a:gd name="csX3" fmla="*/ 5287031 w 5287031"/>
              <a:gd name="csY3" fmla="*/ 629265 h 629265"/>
              <a:gd name="csX4" fmla="*/ 0 w 5287031"/>
              <a:gd name="csY4" fmla="*/ 629265 h 629265"/>
              <a:gd name="csX0" fmla="*/ 0 w 5287031"/>
              <a:gd name="csY0" fmla="*/ 639097 h 639097"/>
              <a:gd name="csX1" fmla="*/ 688259 w 5287031"/>
              <a:gd name="csY1" fmla="*/ 9832 h 639097"/>
              <a:gd name="csX2" fmla="*/ 2327520 w 5287031"/>
              <a:gd name="csY2" fmla="*/ 0 h 639097"/>
              <a:gd name="csX3" fmla="*/ 5287031 w 5287031"/>
              <a:gd name="csY3" fmla="*/ 639097 h 639097"/>
              <a:gd name="csX4" fmla="*/ 0 w 5287031"/>
              <a:gd name="csY4" fmla="*/ 639097 h 639097"/>
            </a:gdLst>
            <a:ahLst/>
            <a:cxnLst>
              <a:cxn ang="0">
                <a:pos x="csX0" y="csY0"/>
              </a:cxn>
              <a:cxn ang="0">
                <a:pos x="csX1" y="csY1"/>
              </a:cxn>
              <a:cxn ang="0">
                <a:pos x="csX2" y="csY2"/>
              </a:cxn>
              <a:cxn ang="0">
                <a:pos x="csX3" y="csY3"/>
              </a:cxn>
              <a:cxn ang="0">
                <a:pos x="csX4" y="csY4"/>
              </a:cxn>
            </a:cxnLst>
            <a:rect l="l" t="t" r="r" b="b"/>
            <a:pathLst>
              <a:path w="5287031" h="639097">
                <a:moveTo>
                  <a:pt x="0" y="639097"/>
                </a:moveTo>
                <a:lnTo>
                  <a:pt x="688259" y="9832"/>
                </a:lnTo>
                <a:lnTo>
                  <a:pt x="2327520" y="0"/>
                </a:lnTo>
                <a:lnTo>
                  <a:pt x="5287031" y="639097"/>
                </a:lnTo>
                <a:lnTo>
                  <a:pt x="0" y="639097"/>
                </a:lnTo>
                <a:close/>
              </a:path>
            </a:pathLst>
          </a:custGeom>
          <a:gradFill flip="none" rotWithShape="1">
            <a:gsLst>
              <a:gs pos="0">
                <a:srgbClr val="00B0F0"/>
              </a:gs>
              <a:gs pos="100000">
                <a:schemeClr val="bg1">
                  <a:alpha val="0"/>
                </a:scheme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tx1"/>
              </a:solidFill>
            </a:endParaRPr>
          </a:p>
        </p:txBody>
      </p:sp>
    </p:spTree>
    <p:extLst>
      <p:ext uri="{BB962C8B-B14F-4D97-AF65-F5344CB8AC3E}">
        <p14:creationId xmlns:p14="http://schemas.microsoft.com/office/powerpoint/2010/main" val="365931196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3C650F3A-1925-D4AB-1C2F-FBC72098EC31}"/>
              </a:ext>
            </a:extLst>
          </p:cNvPr>
          <p:cNvSpPr txBox="1"/>
          <p:nvPr/>
        </p:nvSpPr>
        <p:spPr>
          <a:xfrm>
            <a:off x="5740775" y="2456507"/>
            <a:ext cx="710451" cy="338554"/>
          </a:xfrm>
          <a:prstGeom prst="rect">
            <a:avLst/>
          </a:prstGeom>
          <a:noFill/>
          <a:ln>
            <a:solidFill>
              <a:schemeClr val="tx1"/>
            </a:solidFill>
          </a:ln>
        </p:spPr>
        <p:txBody>
          <a:bodyPr wrap="none" rtlCol="0">
            <a:spAutoFit/>
          </a:bodyPr>
          <a:lstStyle/>
          <a:p>
            <a:pPr algn="ctr"/>
            <a:r>
              <a:rPr lang="en-US" altLang="zh-CN" sz="1600" dirty="0"/>
              <a:t>SOW</a:t>
            </a:r>
            <a:endParaRPr lang="zh-CN" altLang="en-US" sz="1600" dirty="0"/>
          </a:p>
        </p:txBody>
      </p:sp>
      <p:sp>
        <p:nvSpPr>
          <p:cNvPr id="3" name="文本框 2">
            <a:extLst>
              <a:ext uri="{FF2B5EF4-FFF2-40B4-BE49-F238E27FC236}">
                <a16:creationId xmlns:a16="http://schemas.microsoft.com/office/drawing/2014/main" id="{DFEC9C8F-EDD0-1044-F95B-45D0B6E10E50}"/>
              </a:ext>
            </a:extLst>
          </p:cNvPr>
          <p:cNvSpPr txBox="1"/>
          <p:nvPr/>
        </p:nvSpPr>
        <p:spPr>
          <a:xfrm>
            <a:off x="5802491" y="2991985"/>
            <a:ext cx="587019" cy="338554"/>
          </a:xfrm>
          <a:prstGeom prst="rect">
            <a:avLst/>
          </a:prstGeom>
          <a:noFill/>
          <a:ln>
            <a:solidFill>
              <a:schemeClr val="tx1"/>
            </a:solidFill>
          </a:ln>
        </p:spPr>
        <p:txBody>
          <a:bodyPr wrap="none" rtlCol="0">
            <a:spAutoFit/>
          </a:bodyPr>
          <a:lstStyle/>
          <a:p>
            <a:pPr algn="ctr"/>
            <a:r>
              <a:rPr lang="en-US" altLang="zh-CN" sz="1600" dirty="0"/>
              <a:t>SRS</a:t>
            </a:r>
            <a:endParaRPr lang="zh-CN" altLang="en-US" sz="1600" dirty="0"/>
          </a:p>
        </p:txBody>
      </p:sp>
      <p:sp>
        <p:nvSpPr>
          <p:cNvPr id="4" name="文本框 3">
            <a:extLst>
              <a:ext uri="{FF2B5EF4-FFF2-40B4-BE49-F238E27FC236}">
                <a16:creationId xmlns:a16="http://schemas.microsoft.com/office/drawing/2014/main" id="{C3B1F37D-C855-4E97-E03C-0C328C4C657C}"/>
              </a:ext>
            </a:extLst>
          </p:cNvPr>
          <p:cNvSpPr txBox="1"/>
          <p:nvPr/>
        </p:nvSpPr>
        <p:spPr>
          <a:xfrm>
            <a:off x="5748790" y="3527463"/>
            <a:ext cx="694421" cy="338554"/>
          </a:xfrm>
          <a:prstGeom prst="rect">
            <a:avLst/>
          </a:prstGeom>
          <a:noFill/>
          <a:ln>
            <a:solidFill>
              <a:schemeClr val="tx1"/>
            </a:solidFill>
          </a:ln>
        </p:spPr>
        <p:txBody>
          <a:bodyPr wrap="none" rtlCol="0">
            <a:spAutoFit/>
          </a:bodyPr>
          <a:lstStyle/>
          <a:p>
            <a:pPr algn="ctr"/>
            <a:r>
              <a:rPr lang="en-US" altLang="zh-CN" sz="1600" dirty="0"/>
              <a:t>WBS</a:t>
            </a:r>
            <a:endParaRPr lang="zh-CN" altLang="en-US" sz="1600" dirty="0"/>
          </a:p>
        </p:txBody>
      </p:sp>
      <p:sp>
        <p:nvSpPr>
          <p:cNvPr id="5" name="文本框 4">
            <a:extLst>
              <a:ext uri="{FF2B5EF4-FFF2-40B4-BE49-F238E27FC236}">
                <a16:creationId xmlns:a16="http://schemas.microsoft.com/office/drawing/2014/main" id="{318E8237-4CFD-6A59-C4DE-07B7AA86F5FE}"/>
              </a:ext>
            </a:extLst>
          </p:cNvPr>
          <p:cNvSpPr txBox="1"/>
          <p:nvPr/>
        </p:nvSpPr>
        <p:spPr>
          <a:xfrm>
            <a:off x="5556429" y="4062940"/>
            <a:ext cx="1079142" cy="338554"/>
          </a:xfrm>
          <a:prstGeom prst="rect">
            <a:avLst/>
          </a:prstGeom>
          <a:noFill/>
          <a:ln>
            <a:solidFill>
              <a:schemeClr val="tx1"/>
            </a:solidFill>
          </a:ln>
        </p:spPr>
        <p:txBody>
          <a:bodyPr wrap="none" rtlCol="0">
            <a:spAutoFit/>
          </a:bodyPr>
          <a:lstStyle/>
          <a:p>
            <a:pPr algn="ctr"/>
            <a:r>
              <a:rPr lang="en-US" altLang="zh-CN" sz="1600" dirty="0"/>
              <a:t>Package</a:t>
            </a:r>
            <a:endParaRPr lang="zh-CN" altLang="en-US" sz="1600" dirty="0"/>
          </a:p>
        </p:txBody>
      </p:sp>
      <p:cxnSp>
        <p:nvCxnSpPr>
          <p:cNvPr id="8" name="直接箭头连接符 7">
            <a:extLst>
              <a:ext uri="{FF2B5EF4-FFF2-40B4-BE49-F238E27FC236}">
                <a16:creationId xmlns:a16="http://schemas.microsoft.com/office/drawing/2014/main" id="{E1B50B47-6B69-E9DA-37EB-40CE97948307}"/>
              </a:ext>
            </a:extLst>
          </p:cNvPr>
          <p:cNvCxnSpPr>
            <a:stCxn id="2" idx="2"/>
            <a:endCxn id="3" idx="0"/>
          </p:cNvCxnSpPr>
          <p:nvPr/>
        </p:nvCxnSpPr>
        <p:spPr>
          <a:xfrm>
            <a:off x="6096001" y="2795061"/>
            <a:ext cx="0" cy="19692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6ACCC05E-C646-C0E9-DE93-3A47C4CBF10B}"/>
              </a:ext>
            </a:extLst>
          </p:cNvPr>
          <p:cNvCxnSpPr>
            <a:stCxn id="3" idx="2"/>
            <a:endCxn id="4" idx="0"/>
          </p:cNvCxnSpPr>
          <p:nvPr/>
        </p:nvCxnSpPr>
        <p:spPr>
          <a:xfrm>
            <a:off x="6096001" y="3330539"/>
            <a:ext cx="0" cy="19692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6B915D98-2383-7333-B9C4-60ABA7EF4047}"/>
              </a:ext>
            </a:extLst>
          </p:cNvPr>
          <p:cNvCxnSpPr>
            <a:stCxn id="4" idx="2"/>
            <a:endCxn id="5" idx="0"/>
          </p:cNvCxnSpPr>
          <p:nvPr/>
        </p:nvCxnSpPr>
        <p:spPr>
          <a:xfrm flipH="1">
            <a:off x="6096000" y="3866017"/>
            <a:ext cx="1" cy="19692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EC30D3BF-04A5-CBE2-A4B0-BA1860764D6F}"/>
              </a:ext>
            </a:extLst>
          </p:cNvPr>
          <p:cNvSpPr txBox="1"/>
          <p:nvPr/>
        </p:nvSpPr>
        <p:spPr>
          <a:xfrm>
            <a:off x="7213268" y="2456507"/>
            <a:ext cx="1210588" cy="338554"/>
          </a:xfrm>
          <a:prstGeom prst="rect">
            <a:avLst/>
          </a:prstGeom>
          <a:noFill/>
          <a:ln>
            <a:solidFill>
              <a:schemeClr val="tx1"/>
            </a:solidFill>
          </a:ln>
        </p:spPr>
        <p:txBody>
          <a:bodyPr wrap="none" rtlCol="0">
            <a:spAutoFit/>
          </a:bodyPr>
          <a:lstStyle/>
          <a:p>
            <a:r>
              <a:rPr lang="zh-CN" altLang="en-US" sz="1600" dirty="0"/>
              <a:t>工作说明书</a:t>
            </a:r>
          </a:p>
        </p:txBody>
      </p:sp>
      <p:sp>
        <p:nvSpPr>
          <p:cNvPr id="14" name="文本框 13">
            <a:extLst>
              <a:ext uri="{FF2B5EF4-FFF2-40B4-BE49-F238E27FC236}">
                <a16:creationId xmlns:a16="http://schemas.microsoft.com/office/drawing/2014/main" id="{0B87C4C6-9406-6A93-D19F-2AF7478F9806}"/>
              </a:ext>
            </a:extLst>
          </p:cNvPr>
          <p:cNvSpPr txBox="1"/>
          <p:nvPr/>
        </p:nvSpPr>
        <p:spPr>
          <a:xfrm>
            <a:off x="7213268" y="2991985"/>
            <a:ext cx="2031325" cy="338554"/>
          </a:xfrm>
          <a:prstGeom prst="rect">
            <a:avLst/>
          </a:prstGeom>
          <a:noFill/>
          <a:ln>
            <a:solidFill>
              <a:schemeClr val="tx1"/>
            </a:solidFill>
          </a:ln>
        </p:spPr>
        <p:txBody>
          <a:bodyPr wrap="none" rtlCol="0">
            <a:spAutoFit/>
          </a:bodyPr>
          <a:lstStyle/>
          <a:p>
            <a:r>
              <a:rPr lang="zh-CN" altLang="en-US" sz="1600" dirty="0"/>
              <a:t>软件需求规格说明书</a:t>
            </a:r>
          </a:p>
        </p:txBody>
      </p:sp>
      <p:sp>
        <p:nvSpPr>
          <p:cNvPr id="15" name="文本框 14">
            <a:extLst>
              <a:ext uri="{FF2B5EF4-FFF2-40B4-BE49-F238E27FC236}">
                <a16:creationId xmlns:a16="http://schemas.microsoft.com/office/drawing/2014/main" id="{181E4BD1-60E9-E2B6-95CF-25D43E3B373B}"/>
              </a:ext>
            </a:extLst>
          </p:cNvPr>
          <p:cNvSpPr txBox="1"/>
          <p:nvPr/>
        </p:nvSpPr>
        <p:spPr>
          <a:xfrm>
            <a:off x="7213268" y="3527463"/>
            <a:ext cx="1415772" cy="338554"/>
          </a:xfrm>
          <a:prstGeom prst="rect">
            <a:avLst/>
          </a:prstGeom>
          <a:noFill/>
          <a:ln>
            <a:solidFill>
              <a:schemeClr val="tx1"/>
            </a:solidFill>
          </a:ln>
        </p:spPr>
        <p:txBody>
          <a:bodyPr wrap="none" rtlCol="0">
            <a:spAutoFit/>
          </a:bodyPr>
          <a:lstStyle/>
          <a:p>
            <a:r>
              <a:rPr lang="zh-CN" altLang="en-US" sz="1600" dirty="0"/>
              <a:t>工作分解结构</a:t>
            </a:r>
          </a:p>
        </p:txBody>
      </p:sp>
      <p:sp>
        <p:nvSpPr>
          <p:cNvPr id="16" name="文本框 15">
            <a:extLst>
              <a:ext uri="{FF2B5EF4-FFF2-40B4-BE49-F238E27FC236}">
                <a16:creationId xmlns:a16="http://schemas.microsoft.com/office/drawing/2014/main" id="{88E17A1A-509B-C80B-0491-2A982B45D290}"/>
              </a:ext>
            </a:extLst>
          </p:cNvPr>
          <p:cNvSpPr txBox="1"/>
          <p:nvPr/>
        </p:nvSpPr>
        <p:spPr>
          <a:xfrm>
            <a:off x="7213268" y="4062940"/>
            <a:ext cx="800219" cy="338554"/>
          </a:xfrm>
          <a:prstGeom prst="rect">
            <a:avLst/>
          </a:prstGeom>
          <a:noFill/>
          <a:ln>
            <a:solidFill>
              <a:schemeClr val="tx1"/>
            </a:solidFill>
          </a:ln>
        </p:spPr>
        <p:txBody>
          <a:bodyPr wrap="none" rtlCol="0">
            <a:spAutoFit/>
          </a:bodyPr>
          <a:lstStyle/>
          <a:p>
            <a:r>
              <a:rPr lang="zh-CN" altLang="en-US" sz="1600" dirty="0"/>
              <a:t>工作包</a:t>
            </a:r>
          </a:p>
        </p:txBody>
      </p:sp>
      <p:cxnSp>
        <p:nvCxnSpPr>
          <p:cNvPr id="18" name="直接箭头连接符 17">
            <a:extLst>
              <a:ext uri="{FF2B5EF4-FFF2-40B4-BE49-F238E27FC236}">
                <a16:creationId xmlns:a16="http://schemas.microsoft.com/office/drawing/2014/main" id="{E5ED8B6A-247E-A21F-18F7-AC7990C36F45}"/>
              </a:ext>
            </a:extLst>
          </p:cNvPr>
          <p:cNvCxnSpPr>
            <a:stCxn id="2" idx="3"/>
            <a:endCxn id="13" idx="1"/>
          </p:cNvCxnSpPr>
          <p:nvPr/>
        </p:nvCxnSpPr>
        <p:spPr>
          <a:xfrm>
            <a:off x="6451226" y="2625784"/>
            <a:ext cx="762042" cy="0"/>
          </a:xfrm>
          <a:prstGeom prst="straightConnector1">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C2AC4A43-0621-8841-51FF-34A72088E34E}"/>
              </a:ext>
            </a:extLst>
          </p:cNvPr>
          <p:cNvCxnSpPr>
            <a:stCxn id="3" idx="3"/>
            <a:endCxn id="14" idx="1"/>
          </p:cNvCxnSpPr>
          <p:nvPr/>
        </p:nvCxnSpPr>
        <p:spPr>
          <a:xfrm>
            <a:off x="6389510" y="3161262"/>
            <a:ext cx="823758" cy="0"/>
          </a:xfrm>
          <a:prstGeom prst="straightConnector1">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571DABFE-949A-2743-52F1-362E0BD770C7}"/>
              </a:ext>
            </a:extLst>
          </p:cNvPr>
          <p:cNvCxnSpPr>
            <a:stCxn id="4" idx="3"/>
            <a:endCxn id="15" idx="1"/>
          </p:cNvCxnSpPr>
          <p:nvPr/>
        </p:nvCxnSpPr>
        <p:spPr>
          <a:xfrm>
            <a:off x="6443211" y="3696740"/>
            <a:ext cx="770057" cy="0"/>
          </a:xfrm>
          <a:prstGeom prst="straightConnector1">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06C8BC0C-FF7A-555D-4262-9C873F430CF1}"/>
              </a:ext>
            </a:extLst>
          </p:cNvPr>
          <p:cNvCxnSpPr>
            <a:stCxn id="5" idx="3"/>
            <a:endCxn id="16" idx="1"/>
          </p:cNvCxnSpPr>
          <p:nvPr/>
        </p:nvCxnSpPr>
        <p:spPr>
          <a:xfrm>
            <a:off x="6635571" y="4232217"/>
            <a:ext cx="577697" cy="0"/>
          </a:xfrm>
          <a:prstGeom prst="straightConnector1">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008112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52CC29-439F-793E-203E-071762287136}"/>
              </a:ext>
            </a:extLst>
          </p:cNvPr>
          <p:cNvSpPr>
            <a:spLocks noGrp="1"/>
          </p:cNvSpPr>
          <p:nvPr>
            <p:ph type="title"/>
          </p:nvPr>
        </p:nvSpPr>
        <p:spPr>
          <a:xfrm>
            <a:off x="792000" y="360000"/>
            <a:ext cx="6375921" cy="429413"/>
          </a:xfrm>
        </p:spPr>
        <p:txBody>
          <a:bodyPr/>
          <a:lstStyle/>
          <a:p>
            <a:r>
              <a:rPr lang="zh-CN" altLang="en-US" dirty="0"/>
              <a:t>项目范围</a:t>
            </a:r>
          </a:p>
        </p:txBody>
      </p:sp>
      <p:sp>
        <p:nvSpPr>
          <p:cNvPr id="3" name="内容占位符 2">
            <a:extLst>
              <a:ext uri="{FF2B5EF4-FFF2-40B4-BE49-F238E27FC236}">
                <a16:creationId xmlns:a16="http://schemas.microsoft.com/office/drawing/2014/main" id="{A1BC5544-5504-294C-F71A-02AB77A9A581}"/>
              </a:ext>
            </a:extLst>
          </p:cNvPr>
          <p:cNvSpPr>
            <a:spLocks noGrp="1"/>
          </p:cNvSpPr>
          <p:nvPr>
            <p:ph idx="1"/>
          </p:nvPr>
        </p:nvSpPr>
        <p:spPr>
          <a:xfrm>
            <a:off x="696000" y="864000"/>
            <a:ext cx="10800000" cy="5400000"/>
          </a:xfrm>
        </p:spPr>
        <p:txBody>
          <a:bodyPr/>
          <a:lstStyle/>
          <a:p>
            <a:r>
              <a:rPr lang="en-US" altLang="zh-CN" dirty="0"/>
              <a:t>SOW - </a:t>
            </a:r>
            <a:r>
              <a:rPr lang="en-US" altLang="zh-CN" dirty="0">
                <a:hlinkClick r:id="rId2"/>
              </a:rPr>
              <a:t>Statement of Work</a:t>
            </a:r>
            <a:endParaRPr lang="en-US" altLang="zh-CN" dirty="0"/>
          </a:p>
          <a:p>
            <a:pPr lvl="1"/>
            <a:r>
              <a:rPr lang="zh-CN" altLang="en-US" dirty="0"/>
              <a:t>讲做什么、多少钱、什么时候交，给老板和法务看</a:t>
            </a:r>
            <a:endParaRPr lang="en-US" altLang="zh-CN" dirty="0"/>
          </a:p>
          <a:p>
            <a:pPr lvl="1"/>
            <a:r>
              <a:rPr lang="zh-CN" altLang="en-US" dirty="0"/>
              <a:t>战略级文档</a:t>
            </a:r>
            <a:endParaRPr lang="en-US" altLang="zh-CN" dirty="0"/>
          </a:p>
          <a:p>
            <a:pPr lvl="1"/>
            <a:r>
              <a:rPr lang="zh-CN" altLang="en-US" dirty="0"/>
              <a:t>合同的附件，用来防止项目范围无限蔓延 </a:t>
            </a:r>
            <a:r>
              <a:rPr lang="en-US" altLang="zh-CN" dirty="0"/>
              <a:t>Scope Creep</a:t>
            </a:r>
          </a:p>
          <a:p>
            <a:pPr lvl="1"/>
            <a:r>
              <a:rPr lang="en-US" altLang="zh-CN" dirty="0"/>
              <a:t>A scope of work in project management is a formal document that defines the specific tasks, deliverables, timelines and responsibilities required to complete a project. </a:t>
            </a:r>
          </a:p>
          <a:p>
            <a:endParaRPr lang="zh-CN" altLang="en-US" dirty="0"/>
          </a:p>
        </p:txBody>
      </p:sp>
      <p:sp>
        <p:nvSpPr>
          <p:cNvPr id="4" name="文本占位符 3">
            <a:extLst>
              <a:ext uri="{FF2B5EF4-FFF2-40B4-BE49-F238E27FC236}">
                <a16:creationId xmlns:a16="http://schemas.microsoft.com/office/drawing/2014/main" id="{BF88ADC4-5BC0-F0B1-5AC0-1B28C176FD42}"/>
              </a:ext>
            </a:extLst>
          </p:cNvPr>
          <p:cNvSpPr>
            <a:spLocks noGrp="1"/>
          </p:cNvSpPr>
          <p:nvPr>
            <p:ph type="body" sz="quarter" idx="10"/>
          </p:nvPr>
        </p:nvSpPr>
        <p:spPr>
          <a:xfrm>
            <a:off x="7071919" y="448519"/>
            <a:ext cx="4424080" cy="338554"/>
          </a:xfrm>
        </p:spPr>
        <p:txBody>
          <a:bodyPr/>
          <a:lstStyle/>
          <a:p>
            <a:r>
              <a:rPr lang="en-US" altLang="zh-CN" dirty="0"/>
              <a:t>SOW</a:t>
            </a:r>
            <a:endParaRPr lang="zh-CN" altLang="en-US" dirty="0"/>
          </a:p>
        </p:txBody>
      </p:sp>
    </p:spTree>
    <p:extLst>
      <p:ext uri="{BB962C8B-B14F-4D97-AF65-F5344CB8AC3E}">
        <p14:creationId xmlns:p14="http://schemas.microsoft.com/office/powerpoint/2010/main" val="40018112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6" name="表格 405">
            <a:extLst>
              <a:ext uri="{FF2B5EF4-FFF2-40B4-BE49-F238E27FC236}">
                <a16:creationId xmlns:a16="http://schemas.microsoft.com/office/drawing/2014/main" id="{D6B7B114-8EF2-8465-3EF2-FB5AF2A6FE07}"/>
              </a:ext>
            </a:extLst>
          </p:cNvPr>
          <p:cNvGraphicFramePr>
            <a:graphicFrameLocks noGrp="1"/>
          </p:cNvGraphicFramePr>
          <p:nvPr>
            <p:extLst>
              <p:ext uri="{D42A27DB-BD31-4B8C-83A1-F6EECF244321}">
                <p14:modId xmlns:p14="http://schemas.microsoft.com/office/powerpoint/2010/main" val="1301352438"/>
              </p:ext>
            </p:extLst>
          </p:nvPr>
        </p:nvGraphicFramePr>
        <p:xfrm>
          <a:off x="580102" y="1716586"/>
          <a:ext cx="11031796" cy="3424828"/>
        </p:xfrm>
        <a:graphic>
          <a:graphicData uri="http://schemas.openxmlformats.org/drawingml/2006/table">
            <a:tbl>
              <a:tblPr/>
              <a:tblGrid>
                <a:gridCol w="865239">
                  <a:extLst>
                    <a:ext uri="{9D8B030D-6E8A-4147-A177-3AD203B41FA5}">
                      <a16:colId xmlns:a16="http://schemas.microsoft.com/office/drawing/2014/main" val="3871176651"/>
                    </a:ext>
                  </a:extLst>
                </a:gridCol>
                <a:gridCol w="5712542">
                  <a:extLst>
                    <a:ext uri="{9D8B030D-6E8A-4147-A177-3AD203B41FA5}">
                      <a16:colId xmlns:a16="http://schemas.microsoft.com/office/drawing/2014/main" val="2335876"/>
                    </a:ext>
                  </a:extLst>
                </a:gridCol>
                <a:gridCol w="3460955">
                  <a:extLst>
                    <a:ext uri="{9D8B030D-6E8A-4147-A177-3AD203B41FA5}">
                      <a16:colId xmlns:a16="http://schemas.microsoft.com/office/drawing/2014/main" val="3609104247"/>
                    </a:ext>
                  </a:extLst>
                </a:gridCol>
                <a:gridCol w="993060">
                  <a:extLst>
                    <a:ext uri="{9D8B030D-6E8A-4147-A177-3AD203B41FA5}">
                      <a16:colId xmlns:a16="http://schemas.microsoft.com/office/drawing/2014/main" val="684226483"/>
                    </a:ext>
                  </a:extLst>
                </a:gridCol>
              </a:tblGrid>
              <a:tr h="0">
                <a:tc>
                  <a:txBody>
                    <a:bodyPr/>
                    <a:lstStyle/>
                    <a:p>
                      <a:pPr algn="ctr">
                        <a:buNone/>
                      </a:pPr>
                      <a:r>
                        <a:rPr lang="en-US" altLang="zh-CN" sz="1600" dirty="0">
                          <a:solidFill>
                            <a:schemeClr val="bg1"/>
                          </a:solidFill>
                        </a:rPr>
                        <a:t>Rank</a:t>
                      </a:r>
                      <a:endParaRPr lang="zh-CN" altLang="en-US" sz="1600" dirty="0">
                        <a:solidFill>
                          <a:schemeClr val="bg1"/>
                        </a:solidFill>
                      </a:endParaRP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buNone/>
                      </a:pPr>
                      <a:r>
                        <a:rPr lang="en-US" altLang="zh-CN" sz="1600" dirty="0">
                          <a:solidFill>
                            <a:schemeClr val="bg1"/>
                          </a:solidFill>
                        </a:rPr>
                        <a:t>English</a:t>
                      </a:r>
                      <a:endParaRPr lang="zh-CN" altLang="en-US" sz="1600" dirty="0">
                        <a:solidFill>
                          <a:schemeClr val="bg1"/>
                        </a:solidFill>
                      </a:endParaRP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buNone/>
                      </a:pPr>
                      <a:r>
                        <a:rPr lang="en-US" altLang="zh-CN" sz="1600" dirty="0">
                          <a:solidFill>
                            <a:schemeClr val="bg1"/>
                          </a:solidFill>
                        </a:rPr>
                        <a:t>Chinese</a:t>
                      </a:r>
                      <a:endParaRPr lang="zh-CN" altLang="en-US" sz="1600" dirty="0">
                        <a:solidFill>
                          <a:schemeClr val="bg1"/>
                        </a:solidFill>
                      </a:endParaRP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buNone/>
                      </a:pPr>
                      <a:r>
                        <a:rPr lang="en-US" altLang="zh-CN" sz="1600" dirty="0">
                          <a:solidFill>
                            <a:schemeClr val="bg1"/>
                          </a:solidFill>
                        </a:rPr>
                        <a:t>Average</a:t>
                      </a:r>
                      <a:endParaRPr lang="zh-CN" altLang="en-US" sz="1600" dirty="0">
                        <a:solidFill>
                          <a:schemeClr val="bg1"/>
                        </a:solidFill>
                      </a:endParaRP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4104703908"/>
                  </a:ext>
                </a:extLst>
              </a:tr>
              <a:tr h="0">
                <a:tc>
                  <a:txBody>
                    <a:bodyPr/>
                    <a:lstStyle/>
                    <a:p>
                      <a:pPr algn="ctr">
                        <a:buNone/>
                      </a:pPr>
                      <a:r>
                        <a:rPr lang="en-US" altLang="zh-CN" sz="1600"/>
                        <a:t>1</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a:t>Inadequate requirements specification</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dirty="0"/>
                        <a:t>不充分的需求规范</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altLang="zh-CN" sz="1600"/>
                        <a:t>4.5</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9951141"/>
                  </a:ext>
                </a:extLst>
              </a:tr>
              <a:tr h="0">
                <a:tc>
                  <a:txBody>
                    <a:bodyPr/>
                    <a:lstStyle/>
                    <a:p>
                      <a:pPr algn="ctr">
                        <a:buNone/>
                      </a:pPr>
                      <a:r>
                        <a:rPr lang="en-US" altLang="zh-CN" sz="1600"/>
                        <a:t>2</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a:t>Changes in requirements</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需求的改变</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altLang="zh-CN" sz="1600"/>
                        <a:t>4.3</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34754884"/>
                  </a:ext>
                </a:extLst>
              </a:tr>
              <a:tr h="0">
                <a:tc>
                  <a:txBody>
                    <a:bodyPr/>
                    <a:lstStyle/>
                    <a:p>
                      <a:pPr algn="ctr">
                        <a:buNone/>
                      </a:pPr>
                      <a:r>
                        <a:rPr lang="en-US" altLang="zh-CN" sz="1600"/>
                        <a:t>3</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a:t>Shortage of systems engineers</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缺乏系统工程师</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altLang="zh-CN" sz="1600"/>
                        <a:t>4.2</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66542195"/>
                  </a:ext>
                </a:extLst>
              </a:tr>
              <a:tr h="0">
                <a:tc>
                  <a:txBody>
                    <a:bodyPr/>
                    <a:lstStyle/>
                    <a:p>
                      <a:pPr algn="ctr">
                        <a:buNone/>
                      </a:pPr>
                      <a:r>
                        <a:rPr lang="en-US" altLang="zh-CN" sz="1600"/>
                        <a:t>4</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a:t>Shortage of software managers</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缺乏了解软件特性的经理人</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altLang="zh-CN" sz="1600"/>
                        <a:t>4.1</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99465746"/>
                  </a:ext>
                </a:extLst>
              </a:tr>
              <a:tr h="0">
                <a:tc>
                  <a:txBody>
                    <a:bodyPr/>
                    <a:lstStyle/>
                    <a:p>
                      <a:pPr algn="ctr">
                        <a:buNone/>
                      </a:pPr>
                      <a:r>
                        <a:rPr lang="en-US" altLang="zh-CN" sz="1600"/>
                        <a:t>5</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a:t>Shortage of qualified project managers</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缺乏合格的项目经理</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altLang="zh-CN" sz="1600"/>
                        <a:t>4.1</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9214140"/>
                  </a:ext>
                </a:extLst>
              </a:tr>
              <a:tr h="0">
                <a:tc>
                  <a:txBody>
                    <a:bodyPr/>
                    <a:lstStyle/>
                    <a:p>
                      <a:pPr algn="ctr">
                        <a:buNone/>
                      </a:pPr>
                      <a:r>
                        <a:rPr lang="en-US" altLang="zh-CN" sz="1600"/>
                        <a:t>6</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a:t>Shortage of software engineers</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缺乏软件工程师</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altLang="zh-CN" sz="1600"/>
                        <a:t>3.9</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9431038"/>
                  </a:ext>
                </a:extLst>
              </a:tr>
              <a:tr h="0">
                <a:tc>
                  <a:txBody>
                    <a:bodyPr/>
                    <a:lstStyle/>
                    <a:p>
                      <a:pPr algn="ctr">
                        <a:buNone/>
                      </a:pPr>
                      <a:r>
                        <a:rPr lang="en-US" altLang="zh-CN" sz="1600"/>
                        <a:t>7</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a:t>Fixed-price contract</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固定价合同</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altLang="zh-CN" sz="1600"/>
                        <a:t>3.8</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01775017"/>
                  </a:ext>
                </a:extLst>
              </a:tr>
              <a:tr h="0">
                <a:tc>
                  <a:txBody>
                    <a:bodyPr/>
                    <a:lstStyle/>
                    <a:p>
                      <a:pPr algn="ctr">
                        <a:buNone/>
                      </a:pPr>
                      <a:r>
                        <a:rPr lang="en-US" altLang="zh-CN" sz="1600"/>
                        <a:t>8</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a:t>Inadequate communications for system integration</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系统集成阶段，交流与沟通不充分</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altLang="zh-CN" sz="1600"/>
                        <a:t>3.8</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125985"/>
                  </a:ext>
                </a:extLst>
              </a:tr>
              <a:tr h="0">
                <a:tc>
                  <a:txBody>
                    <a:bodyPr/>
                    <a:lstStyle/>
                    <a:p>
                      <a:pPr algn="ctr">
                        <a:buNone/>
                      </a:pPr>
                      <a:r>
                        <a:rPr lang="en-US" altLang="zh-CN" sz="1600"/>
                        <a:t>9</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a:t>Insufficient experience as team</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团队缺乏经验</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altLang="zh-CN" sz="1600"/>
                        <a:t>3.6</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0973147"/>
                  </a:ext>
                </a:extLst>
              </a:tr>
              <a:tr h="0">
                <a:tc>
                  <a:txBody>
                    <a:bodyPr/>
                    <a:lstStyle/>
                    <a:p>
                      <a:pPr algn="ctr">
                        <a:buNone/>
                      </a:pPr>
                      <a:r>
                        <a:rPr lang="en-US" altLang="zh-CN" sz="1600"/>
                        <a:t>10</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a:t>Shortage of application domain experts</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缺乏应用领域专家</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altLang="zh-CN" sz="1600" dirty="0"/>
                        <a:t>3.6</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44647477"/>
                  </a:ext>
                </a:extLst>
              </a:tr>
            </a:tbl>
          </a:graphicData>
        </a:graphic>
      </p:graphicFrame>
    </p:spTree>
    <p:extLst>
      <p:ext uri="{BB962C8B-B14F-4D97-AF65-F5344CB8AC3E}">
        <p14:creationId xmlns:p14="http://schemas.microsoft.com/office/powerpoint/2010/main" val="201479016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41B1FE-B5AB-C287-1DD8-77B1FF37B373}"/>
              </a:ext>
            </a:extLst>
          </p:cNvPr>
          <p:cNvSpPr>
            <a:spLocks noGrp="1"/>
          </p:cNvSpPr>
          <p:nvPr>
            <p:ph type="title"/>
          </p:nvPr>
        </p:nvSpPr>
        <p:spPr>
          <a:xfrm>
            <a:off x="792000" y="360000"/>
            <a:ext cx="6375921" cy="429413"/>
          </a:xfrm>
        </p:spPr>
        <p:txBody>
          <a:bodyPr/>
          <a:lstStyle/>
          <a:p>
            <a:r>
              <a:rPr lang="en-US" altLang="zh-CN"/>
              <a:t>1. </a:t>
            </a:r>
            <a:r>
              <a:rPr lang="zh-CN" altLang="en-US"/>
              <a:t>项目需求涵义</a:t>
            </a:r>
          </a:p>
        </p:txBody>
      </p:sp>
      <p:sp>
        <p:nvSpPr>
          <p:cNvPr id="3" name="内容占位符 2">
            <a:extLst>
              <a:ext uri="{FF2B5EF4-FFF2-40B4-BE49-F238E27FC236}">
                <a16:creationId xmlns:a16="http://schemas.microsoft.com/office/drawing/2014/main" id="{5A1F2112-27C4-25BB-C531-056DA2351A52}"/>
              </a:ext>
            </a:extLst>
          </p:cNvPr>
          <p:cNvSpPr>
            <a:spLocks noGrp="1"/>
          </p:cNvSpPr>
          <p:nvPr>
            <p:ph idx="1"/>
          </p:nvPr>
        </p:nvSpPr>
        <p:spPr>
          <a:xfrm>
            <a:off x="696000" y="864000"/>
            <a:ext cx="10800000" cy="5400000"/>
          </a:xfrm>
        </p:spPr>
        <p:txBody>
          <a:bodyPr/>
          <a:lstStyle/>
          <a:p>
            <a:r>
              <a:rPr lang="zh-CN" altLang="en-US" dirty="0"/>
              <a:t>是软件工程中将用户模糊的业务期望转化为清晰、可执行、可验证的系统规格说明的过程</a:t>
            </a:r>
            <a:endParaRPr lang="en-US" altLang="zh-CN" dirty="0"/>
          </a:p>
          <a:p>
            <a:r>
              <a:rPr lang="zh-CN" altLang="en-US" dirty="0"/>
              <a:t>它是连接“用户想要什么”与“开发团队做什么”的桥梁，直接决定了项目的成败</a:t>
            </a:r>
            <a:endParaRPr lang="en-US" altLang="zh-CN" dirty="0"/>
          </a:p>
          <a:p>
            <a:r>
              <a:rPr lang="zh-CN" altLang="en-US" dirty="0"/>
              <a:t>开发的基础</a:t>
            </a:r>
            <a:endParaRPr lang="en-US" altLang="zh-CN" dirty="0"/>
          </a:p>
          <a:p>
            <a:pPr lvl="1"/>
            <a:r>
              <a:rPr lang="zh-CN" altLang="en-US" dirty="0"/>
              <a:t>做什么</a:t>
            </a:r>
            <a:endParaRPr lang="en-US" altLang="zh-CN" dirty="0"/>
          </a:p>
          <a:p>
            <a:pPr lvl="1"/>
            <a:r>
              <a:rPr lang="zh-CN" altLang="en-US" dirty="0"/>
              <a:t>具备什么功能</a:t>
            </a:r>
            <a:endParaRPr lang="en-US" altLang="zh-CN" dirty="0"/>
          </a:p>
          <a:p>
            <a:pPr lvl="1"/>
            <a:r>
              <a:rPr lang="zh-CN" altLang="en-US" dirty="0"/>
              <a:t>达到怎样的性能</a:t>
            </a:r>
            <a:endParaRPr lang="en-US" altLang="zh-CN" dirty="0"/>
          </a:p>
          <a:p>
            <a:endParaRPr lang="en-US" altLang="zh-CN" dirty="0"/>
          </a:p>
          <a:p>
            <a:endParaRPr lang="zh-CN" altLang="en-US" dirty="0"/>
          </a:p>
        </p:txBody>
      </p:sp>
      <p:sp>
        <p:nvSpPr>
          <p:cNvPr id="4" name="文本占位符 3">
            <a:extLst>
              <a:ext uri="{FF2B5EF4-FFF2-40B4-BE49-F238E27FC236}">
                <a16:creationId xmlns:a16="http://schemas.microsoft.com/office/drawing/2014/main" id="{E72576CC-499B-7AFE-407C-00ECC8C25501}"/>
              </a:ext>
            </a:extLst>
          </p:cNvPr>
          <p:cNvSpPr>
            <a:spLocks noGrp="1"/>
          </p:cNvSpPr>
          <p:nvPr>
            <p:ph type="body" sz="quarter" idx="10"/>
          </p:nvPr>
        </p:nvSpPr>
        <p:spPr>
          <a:xfrm>
            <a:off x="7071919" y="448519"/>
            <a:ext cx="4424080" cy="338554"/>
          </a:xfrm>
        </p:spPr>
        <p:txBody>
          <a:bodyPr/>
          <a:lstStyle/>
          <a:p>
            <a:r>
              <a:rPr lang="en-US" altLang="zh-CN"/>
              <a:t>Requirement</a:t>
            </a:r>
            <a:endParaRPr lang="zh-CN" altLang="en-US"/>
          </a:p>
        </p:txBody>
      </p:sp>
    </p:spTree>
    <p:extLst>
      <p:ext uri="{BB962C8B-B14F-4D97-AF65-F5344CB8AC3E}">
        <p14:creationId xmlns:p14="http://schemas.microsoft.com/office/powerpoint/2010/main" val="72212051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2E50D-8F35-462B-6843-ACB57EC9DF4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C4A7A6F-37EE-61DB-6537-42C03BA4D6C5}"/>
              </a:ext>
            </a:extLst>
          </p:cNvPr>
          <p:cNvSpPr>
            <a:spLocks noGrp="1"/>
          </p:cNvSpPr>
          <p:nvPr>
            <p:ph type="title"/>
          </p:nvPr>
        </p:nvSpPr>
        <p:spPr>
          <a:xfrm>
            <a:off x="792000" y="360000"/>
            <a:ext cx="6375921" cy="429413"/>
          </a:xfrm>
        </p:spPr>
        <p:txBody>
          <a:bodyPr/>
          <a:lstStyle/>
          <a:p>
            <a:r>
              <a:rPr lang="en-US" altLang="zh-CN"/>
              <a:t>1.1 </a:t>
            </a:r>
            <a:r>
              <a:rPr lang="zh-CN" altLang="en-US"/>
              <a:t>项目需求</a:t>
            </a:r>
          </a:p>
        </p:txBody>
      </p:sp>
      <p:sp>
        <p:nvSpPr>
          <p:cNvPr id="3" name="内容占位符 2">
            <a:extLst>
              <a:ext uri="{FF2B5EF4-FFF2-40B4-BE49-F238E27FC236}">
                <a16:creationId xmlns:a16="http://schemas.microsoft.com/office/drawing/2014/main" id="{F929526C-DACD-36EA-7DEA-3DF2F0753B68}"/>
              </a:ext>
            </a:extLst>
          </p:cNvPr>
          <p:cNvSpPr>
            <a:spLocks noGrp="1"/>
          </p:cNvSpPr>
          <p:nvPr>
            <p:ph idx="1"/>
          </p:nvPr>
        </p:nvSpPr>
        <p:spPr>
          <a:xfrm>
            <a:off x="696000" y="864000"/>
            <a:ext cx="10800000" cy="5400000"/>
          </a:xfrm>
        </p:spPr>
        <p:txBody>
          <a:bodyPr>
            <a:normAutofit/>
          </a:bodyPr>
          <a:lstStyle/>
          <a:p>
            <a:r>
              <a:rPr lang="zh-CN" altLang="en-US"/>
              <a:t>业务需求 </a:t>
            </a:r>
            <a:r>
              <a:rPr lang="en-US" altLang="zh-CN"/>
              <a:t>business requirement</a:t>
            </a:r>
          </a:p>
          <a:p>
            <a:pPr lvl="1"/>
            <a:r>
              <a:rPr lang="zh-CN" altLang="en-US"/>
              <a:t>关注商业价值、战略目标、投资回报等</a:t>
            </a:r>
            <a:endParaRPr lang="en-US" altLang="zh-CN"/>
          </a:p>
          <a:p>
            <a:pPr lvl="1"/>
            <a:r>
              <a:rPr lang="en-US" altLang="zh-CN"/>
              <a:t>Why?</a:t>
            </a:r>
          </a:p>
          <a:p>
            <a:r>
              <a:rPr lang="zh-CN" altLang="en-US"/>
              <a:t>用户需求 </a:t>
            </a:r>
            <a:r>
              <a:rPr lang="en-US" altLang="zh-CN"/>
              <a:t>user requirement</a:t>
            </a:r>
          </a:p>
          <a:p>
            <a:pPr lvl="1"/>
            <a:r>
              <a:rPr lang="en-US" altLang="zh-CN"/>
              <a:t>C</a:t>
            </a:r>
            <a:r>
              <a:rPr lang="zh-CN" altLang="en-US"/>
              <a:t>端的需求</a:t>
            </a:r>
            <a:endParaRPr lang="en-US" altLang="zh-CN"/>
          </a:p>
          <a:p>
            <a:pPr lvl="1"/>
            <a:r>
              <a:rPr lang="en-US" altLang="zh-CN"/>
              <a:t>What?</a:t>
            </a:r>
          </a:p>
          <a:p>
            <a:r>
              <a:rPr lang="zh-CN" altLang="en-US"/>
              <a:t>功能需求 </a:t>
            </a:r>
            <a:r>
              <a:rPr lang="en-US" altLang="zh-CN"/>
              <a:t>functional requirement</a:t>
            </a:r>
          </a:p>
          <a:p>
            <a:pPr lvl="1"/>
            <a:r>
              <a:rPr lang="zh-CN" altLang="en-US"/>
              <a:t>必须具备哪些具体功能来满足用户需求</a:t>
            </a:r>
            <a:endParaRPr lang="en-US" altLang="zh-CN"/>
          </a:p>
          <a:p>
            <a:pPr lvl="1"/>
            <a:r>
              <a:rPr lang="en-US" altLang="zh-CN"/>
              <a:t>How?</a:t>
            </a:r>
          </a:p>
          <a:p>
            <a:endParaRPr lang="en-US" altLang="zh-CN"/>
          </a:p>
        </p:txBody>
      </p:sp>
      <p:sp>
        <p:nvSpPr>
          <p:cNvPr id="4" name="文本占位符 3">
            <a:extLst>
              <a:ext uri="{FF2B5EF4-FFF2-40B4-BE49-F238E27FC236}">
                <a16:creationId xmlns:a16="http://schemas.microsoft.com/office/drawing/2014/main" id="{9E8F397C-5A0C-DAE9-870C-87386687CE2D}"/>
              </a:ext>
            </a:extLst>
          </p:cNvPr>
          <p:cNvSpPr>
            <a:spLocks noGrp="1"/>
          </p:cNvSpPr>
          <p:nvPr>
            <p:ph type="body" sz="quarter" idx="10"/>
          </p:nvPr>
        </p:nvSpPr>
        <p:spPr>
          <a:xfrm>
            <a:off x="7071919" y="448519"/>
            <a:ext cx="4424080" cy="338554"/>
          </a:xfrm>
        </p:spPr>
        <p:txBody>
          <a:bodyPr/>
          <a:lstStyle/>
          <a:p>
            <a:r>
              <a:rPr lang="en-US" altLang="zh-CN"/>
              <a:t>Requirement</a:t>
            </a:r>
            <a:endParaRPr lang="zh-CN" altLang="en-US"/>
          </a:p>
        </p:txBody>
      </p:sp>
    </p:spTree>
    <p:extLst>
      <p:ext uri="{BB962C8B-B14F-4D97-AF65-F5344CB8AC3E}">
        <p14:creationId xmlns:p14="http://schemas.microsoft.com/office/powerpoint/2010/main" val="11548554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BEC8950F-5AFA-1BD9-51E9-156D627DADA1}"/>
              </a:ext>
            </a:extLst>
          </p:cNvPr>
          <p:cNvSpPr txBox="1"/>
          <p:nvPr/>
        </p:nvSpPr>
        <p:spPr>
          <a:xfrm>
            <a:off x="696001" y="1305342"/>
            <a:ext cx="10799999" cy="4247317"/>
          </a:xfrm>
          <a:prstGeom prst="rect">
            <a:avLst/>
          </a:prstGeom>
          <a:noFill/>
        </p:spPr>
        <p:txBody>
          <a:bodyPr wrap="square" rtlCol="0">
            <a:spAutoFit/>
          </a:bodyPr>
          <a:lstStyle/>
          <a:p>
            <a:r>
              <a:rPr lang="zh-CN" altLang="en-US" dirty="0"/>
              <a:t>背景：某电商公司计划开发一键退货功能。</a:t>
            </a:r>
          </a:p>
          <a:p>
            <a:r>
              <a:rPr lang="zh-CN" altLang="en-US" dirty="0"/>
              <a:t>描述</a:t>
            </a:r>
            <a:r>
              <a:rPr lang="en-US" altLang="zh-CN" dirty="0"/>
              <a:t>1</a:t>
            </a:r>
            <a:r>
              <a:rPr lang="zh-CN" altLang="en-US" dirty="0"/>
              <a:t>：为了降低客服人力成本（预计减少</a:t>
            </a:r>
            <a:r>
              <a:rPr lang="en-US" altLang="zh-CN" dirty="0"/>
              <a:t>30%</a:t>
            </a:r>
            <a:r>
              <a:rPr lang="zh-CN" altLang="en-US" dirty="0"/>
              <a:t>），并提升客户复购率，公司决定优化售后流程</a:t>
            </a:r>
            <a:br>
              <a:rPr lang="zh-CN" altLang="en-US" dirty="0"/>
            </a:br>
            <a:endParaRPr lang="en-US" altLang="zh-CN" dirty="0"/>
          </a:p>
          <a:p>
            <a:r>
              <a:rPr lang="zh-CN" altLang="en-US" dirty="0"/>
              <a:t>描述</a:t>
            </a:r>
            <a:r>
              <a:rPr lang="en-US" altLang="zh-CN" dirty="0"/>
              <a:t>2</a:t>
            </a:r>
            <a:r>
              <a:rPr lang="zh-CN" altLang="en-US" dirty="0"/>
              <a:t>：用户反馈希望在收到商品不满意时，不用打电话给客服解释半天，只需要在手机上点一下，快递员就能上门取件，马上退钱</a:t>
            </a:r>
            <a:endParaRPr lang="en-US" altLang="zh-CN" dirty="0"/>
          </a:p>
          <a:p>
            <a:br>
              <a:rPr lang="zh-CN" altLang="en-US" dirty="0"/>
            </a:br>
            <a:r>
              <a:rPr lang="zh-CN" altLang="en-US" dirty="0"/>
              <a:t>描述</a:t>
            </a:r>
            <a:r>
              <a:rPr lang="en-US" altLang="zh-CN" dirty="0"/>
              <a:t>3</a:t>
            </a:r>
            <a:r>
              <a:rPr lang="zh-CN" altLang="en-US" dirty="0"/>
              <a:t>：系统开发人员设计方案：当用户点击申请退货按钮且订单状态为已签收未满</a:t>
            </a:r>
            <a:r>
              <a:rPr lang="en-US" altLang="zh-CN" dirty="0"/>
              <a:t>7</a:t>
            </a:r>
            <a:r>
              <a:rPr lang="zh-CN" altLang="en-US" dirty="0"/>
              <a:t>天时，系统应自动调用物流接口生成取件码，并在数据库中将该订单状态更新为退货中，同时触发财务系统原路退款</a:t>
            </a:r>
            <a:br>
              <a:rPr lang="zh-CN" altLang="en-US" dirty="0"/>
            </a:br>
            <a:endParaRPr lang="en-US" altLang="zh-CN" dirty="0"/>
          </a:p>
          <a:p>
            <a:r>
              <a:rPr lang="zh-CN" altLang="en-US" dirty="0"/>
              <a:t>以上描述分别属于哪类需求？</a:t>
            </a:r>
            <a:endParaRPr lang="en-US" altLang="zh-CN" dirty="0"/>
          </a:p>
          <a:p>
            <a:br>
              <a:rPr lang="zh-CN" altLang="en-US" dirty="0"/>
            </a:br>
            <a:r>
              <a:rPr lang="en-US" altLang="zh-CN" dirty="0"/>
              <a:t>A. </a:t>
            </a:r>
            <a:r>
              <a:rPr lang="zh-CN" altLang="en-US" dirty="0"/>
              <a:t>业务需求</a:t>
            </a:r>
            <a:br>
              <a:rPr lang="zh-CN" altLang="en-US" dirty="0"/>
            </a:br>
            <a:r>
              <a:rPr lang="en-US" altLang="zh-CN" dirty="0"/>
              <a:t>B. </a:t>
            </a:r>
            <a:r>
              <a:rPr lang="zh-CN" altLang="en-US" dirty="0"/>
              <a:t>用户需求</a:t>
            </a:r>
            <a:br>
              <a:rPr lang="zh-CN" altLang="en-US" dirty="0"/>
            </a:br>
            <a:r>
              <a:rPr lang="en-US" altLang="zh-CN" dirty="0"/>
              <a:t>C. </a:t>
            </a:r>
            <a:r>
              <a:rPr lang="zh-CN" altLang="en-US" dirty="0"/>
              <a:t>功能需求</a:t>
            </a:r>
            <a:br>
              <a:rPr lang="zh-CN" altLang="en-US" dirty="0"/>
            </a:br>
            <a:r>
              <a:rPr lang="en-US" altLang="zh-CN" dirty="0"/>
              <a:t>D. </a:t>
            </a:r>
            <a:r>
              <a:rPr lang="zh-CN" altLang="en-US" dirty="0"/>
              <a:t>战略目标</a:t>
            </a:r>
          </a:p>
        </p:txBody>
      </p:sp>
    </p:spTree>
    <p:extLst>
      <p:ext uri="{BB962C8B-B14F-4D97-AF65-F5344CB8AC3E}">
        <p14:creationId xmlns:p14="http://schemas.microsoft.com/office/powerpoint/2010/main" val="244364671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497AA-3B83-E765-02F6-5F3F5D5EB50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6D98553-98F9-3C34-7BCF-EBDEA3AD1EAE}"/>
              </a:ext>
            </a:extLst>
          </p:cNvPr>
          <p:cNvSpPr>
            <a:spLocks noGrp="1"/>
          </p:cNvSpPr>
          <p:nvPr>
            <p:ph type="title"/>
          </p:nvPr>
        </p:nvSpPr>
        <p:spPr>
          <a:xfrm>
            <a:off x="792000" y="360000"/>
            <a:ext cx="6375921" cy="429413"/>
          </a:xfrm>
        </p:spPr>
        <p:txBody>
          <a:bodyPr/>
          <a:lstStyle/>
          <a:p>
            <a:r>
              <a:rPr lang="en-US" altLang="zh-CN"/>
              <a:t>1.2 </a:t>
            </a:r>
            <a:r>
              <a:rPr lang="zh-CN" altLang="en-US"/>
              <a:t>需求过程</a:t>
            </a:r>
          </a:p>
        </p:txBody>
      </p:sp>
      <p:sp>
        <p:nvSpPr>
          <p:cNvPr id="3" name="内容占位符 2">
            <a:extLst>
              <a:ext uri="{FF2B5EF4-FFF2-40B4-BE49-F238E27FC236}">
                <a16:creationId xmlns:a16="http://schemas.microsoft.com/office/drawing/2014/main" id="{81F4E1DD-7342-B2EB-1173-FB42F6B04175}"/>
              </a:ext>
            </a:extLst>
          </p:cNvPr>
          <p:cNvSpPr>
            <a:spLocks noGrp="1"/>
          </p:cNvSpPr>
          <p:nvPr>
            <p:ph idx="1"/>
          </p:nvPr>
        </p:nvSpPr>
        <p:spPr>
          <a:xfrm>
            <a:off x="696000" y="864000"/>
            <a:ext cx="10800000" cy="5400000"/>
          </a:xfrm>
        </p:spPr>
        <p:txBody>
          <a:bodyPr>
            <a:normAutofit/>
          </a:bodyPr>
          <a:lstStyle/>
          <a:p>
            <a:r>
              <a:rPr lang="en-US" altLang="zh-CN"/>
              <a:t>5</a:t>
            </a:r>
            <a:r>
              <a:rPr lang="zh-CN" altLang="en-US"/>
              <a:t>个过程</a:t>
            </a:r>
            <a:endParaRPr lang="en-US" altLang="zh-CN"/>
          </a:p>
        </p:txBody>
      </p:sp>
      <p:sp>
        <p:nvSpPr>
          <p:cNvPr id="4" name="文本占位符 3">
            <a:extLst>
              <a:ext uri="{FF2B5EF4-FFF2-40B4-BE49-F238E27FC236}">
                <a16:creationId xmlns:a16="http://schemas.microsoft.com/office/drawing/2014/main" id="{1322DEA5-B30F-BE61-F8C5-418F51B610E0}"/>
              </a:ext>
            </a:extLst>
          </p:cNvPr>
          <p:cNvSpPr>
            <a:spLocks noGrp="1"/>
          </p:cNvSpPr>
          <p:nvPr>
            <p:ph type="body" sz="quarter" idx="10"/>
          </p:nvPr>
        </p:nvSpPr>
        <p:spPr>
          <a:xfrm>
            <a:off x="7071919" y="448519"/>
            <a:ext cx="4424080" cy="338554"/>
          </a:xfrm>
        </p:spPr>
        <p:txBody>
          <a:bodyPr/>
          <a:lstStyle/>
          <a:p>
            <a:r>
              <a:rPr lang="en-US" altLang="zh-CN"/>
              <a:t>Requirement</a:t>
            </a:r>
            <a:endParaRPr lang="zh-CN" altLang="en-US"/>
          </a:p>
        </p:txBody>
      </p:sp>
      <p:sp>
        <p:nvSpPr>
          <p:cNvPr id="11" name="矩形: 圆角 10">
            <a:extLst>
              <a:ext uri="{FF2B5EF4-FFF2-40B4-BE49-F238E27FC236}">
                <a16:creationId xmlns:a16="http://schemas.microsoft.com/office/drawing/2014/main" id="{2CAD1AB7-6284-F323-27D3-37F654FC67D8}"/>
              </a:ext>
            </a:extLst>
          </p:cNvPr>
          <p:cNvSpPr/>
          <p:nvPr/>
        </p:nvSpPr>
        <p:spPr>
          <a:xfrm>
            <a:off x="4116184" y="2130942"/>
            <a:ext cx="1800000" cy="432000"/>
          </a:xfrm>
          <a:prstGeom prst="roundRect">
            <a:avLst>
              <a:gd name="adj" fmla="val 500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solidFill>
                  <a:sysClr val="windowText" lastClr="000000"/>
                </a:solidFill>
              </a:rPr>
              <a:t>需求获取</a:t>
            </a:r>
          </a:p>
        </p:txBody>
      </p:sp>
      <p:sp>
        <p:nvSpPr>
          <p:cNvPr id="12" name="矩形: 圆角 11">
            <a:extLst>
              <a:ext uri="{FF2B5EF4-FFF2-40B4-BE49-F238E27FC236}">
                <a16:creationId xmlns:a16="http://schemas.microsoft.com/office/drawing/2014/main" id="{F0881128-026E-4063-58C3-D589793CF7DC}"/>
              </a:ext>
            </a:extLst>
          </p:cNvPr>
          <p:cNvSpPr/>
          <p:nvPr/>
        </p:nvSpPr>
        <p:spPr>
          <a:xfrm>
            <a:off x="6338274" y="2130942"/>
            <a:ext cx="1800000" cy="432000"/>
          </a:xfrm>
          <a:prstGeom prst="roundRect">
            <a:avLst>
              <a:gd name="adj" fmla="val 500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solidFill>
                  <a:sysClr val="windowText" lastClr="000000"/>
                </a:solidFill>
              </a:rPr>
              <a:t>需求分析</a:t>
            </a:r>
          </a:p>
        </p:txBody>
      </p:sp>
      <p:sp>
        <p:nvSpPr>
          <p:cNvPr id="13" name="矩形: 圆角 12">
            <a:extLst>
              <a:ext uri="{FF2B5EF4-FFF2-40B4-BE49-F238E27FC236}">
                <a16:creationId xmlns:a16="http://schemas.microsoft.com/office/drawing/2014/main" id="{3F482D1A-9201-E3CC-6A0C-323B4D81756E}"/>
              </a:ext>
            </a:extLst>
          </p:cNvPr>
          <p:cNvSpPr/>
          <p:nvPr/>
        </p:nvSpPr>
        <p:spPr>
          <a:xfrm>
            <a:off x="6338274" y="3124000"/>
            <a:ext cx="1800000" cy="432000"/>
          </a:xfrm>
          <a:prstGeom prst="roundRect">
            <a:avLst>
              <a:gd name="adj" fmla="val 500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solidFill>
                  <a:sysClr val="windowText" lastClr="000000"/>
                </a:solidFill>
              </a:rPr>
              <a:t>需求规约编写</a:t>
            </a:r>
          </a:p>
        </p:txBody>
      </p:sp>
      <p:sp>
        <p:nvSpPr>
          <p:cNvPr id="14" name="矩形: 圆角 13">
            <a:extLst>
              <a:ext uri="{FF2B5EF4-FFF2-40B4-BE49-F238E27FC236}">
                <a16:creationId xmlns:a16="http://schemas.microsoft.com/office/drawing/2014/main" id="{8D4A0BC0-119E-4CBE-A208-7D324B827D9A}"/>
              </a:ext>
            </a:extLst>
          </p:cNvPr>
          <p:cNvSpPr/>
          <p:nvPr/>
        </p:nvSpPr>
        <p:spPr>
          <a:xfrm>
            <a:off x="4116184" y="3118465"/>
            <a:ext cx="1800000" cy="432000"/>
          </a:xfrm>
          <a:prstGeom prst="roundRect">
            <a:avLst>
              <a:gd name="adj" fmla="val 500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solidFill>
                  <a:sysClr val="windowText" lastClr="000000"/>
                </a:solidFill>
              </a:rPr>
              <a:t>需求验证</a:t>
            </a:r>
          </a:p>
        </p:txBody>
      </p:sp>
      <p:sp>
        <p:nvSpPr>
          <p:cNvPr id="15" name="矩形: 圆角 14">
            <a:extLst>
              <a:ext uri="{FF2B5EF4-FFF2-40B4-BE49-F238E27FC236}">
                <a16:creationId xmlns:a16="http://schemas.microsoft.com/office/drawing/2014/main" id="{6814D424-20F2-D81C-5146-474EBF8C8B65}"/>
              </a:ext>
            </a:extLst>
          </p:cNvPr>
          <p:cNvSpPr/>
          <p:nvPr/>
        </p:nvSpPr>
        <p:spPr>
          <a:xfrm>
            <a:off x="6338274" y="4575231"/>
            <a:ext cx="1800000" cy="432000"/>
          </a:xfrm>
          <a:prstGeom prst="roundRect">
            <a:avLst>
              <a:gd name="adj" fmla="val 500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solidFill>
                  <a:sysClr val="windowText" lastClr="000000"/>
                </a:solidFill>
              </a:rPr>
              <a:t>需求变更</a:t>
            </a:r>
          </a:p>
        </p:txBody>
      </p:sp>
      <p:cxnSp>
        <p:nvCxnSpPr>
          <p:cNvPr id="17" name="直接箭头连接符 16">
            <a:extLst>
              <a:ext uri="{FF2B5EF4-FFF2-40B4-BE49-F238E27FC236}">
                <a16:creationId xmlns:a16="http://schemas.microsoft.com/office/drawing/2014/main" id="{5C415D8B-B8AC-8E07-6681-371152FF1696}"/>
              </a:ext>
            </a:extLst>
          </p:cNvPr>
          <p:cNvCxnSpPr>
            <a:stCxn id="11" idx="3"/>
            <a:endCxn id="12" idx="1"/>
          </p:cNvCxnSpPr>
          <p:nvPr/>
        </p:nvCxnSpPr>
        <p:spPr>
          <a:xfrm>
            <a:off x="5916184" y="2346942"/>
            <a:ext cx="42209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8BF7564A-F025-A5AC-0C69-B88DF56094E7}"/>
              </a:ext>
            </a:extLst>
          </p:cNvPr>
          <p:cNvCxnSpPr>
            <a:stCxn id="12" idx="2"/>
            <a:endCxn id="13" idx="0"/>
          </p:cNvCxnSpPr>
          <p:nvPr/>
        </p:nvCxnSpPr>
        <p:spPr>
          <a:xfrm>
            <a:off x="7238274" y="2562942"/>
            <a:ext cx="0" cy="56105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D6BEDF7B-CFCD-01F5-84B2-9479A75B81DE}"/>
              </a:ext>
            </a:extLst>
          </p:cNvPr>
          <p:cNvCxnSpPr>
            <a:stCxn id="13" idx="1"/>
            <a:endCxn id="14" idx="3"/>
          </p:cNvCxnSpPr>
          <p:nvPr/>
        </p:nvCxnSpPr>
        <p:spPr>
          <a:xfrm flipH="1" flipV="1">
            <a:off x="5916184" y="3334465"/>
            <a:ext cx="422090" cy="553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矩形 21">
            <a:extLst>
              <a:ext uri="{FF2B5EF4-FFF2-40B4-BE49-F238E27FC236}">
                <a16:creationId xmlns:a16="http://schemas.microsoft.com/office/drawing/2014/main" id="{22AFA216-48E3-5659-8FFF-544A734C8B1E}"/>
              </a:ext>
            </a:extLst>
          </p:cNvPr>
          <p:cNvSpPr/>
          <p:nvPr/>
        </p:nvSpPr>
        <p:spPr>
          <a:xfrm>
            <a:off x="3395663" y="1796644"/>
            <a:ext cx="5400675" cy="2160000"/>
          </a:xfrm>
          <a:prstGeom prst="rect">
            <a:avLst/>
          </a:prstGeom>
          <a:noFill/>
          <a:ln>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endParaRPr>
          </a:p>
        </p:txBody>
      </p:sp>
      <p:sp>
        <p:nvSpPr>
          <p:cNvPr id="23" name="矩形 22">
            <a:extLst>
              <a:ext uri="{FF2B5EF4-FFF2-40B4-BE49-F238E27FC236}">
                <a16:creationId xmlns:a16="http://schemas.microsoft.com/office/drawing/2014/main" id="{22A5B788-A1F8-1526-5DFC-95C00FADE28C}"/>
              </a:ext>
            </a:extLst>
          </p:cNvPr>
          <p:cNvSpPr/>
          <p:nvPr/>
        </p:nvSpPr>
        <p:spPr>
          <a:xfrm>
            <a:off x="3395663" y="4251231"/>
            <a:ext cx="5400675" cy="1080000"/>
          </a:xfrm>
          <a:prstGeom prst="rect">
            <a:avLst/>
          </a:prstGeom>
          <a:noFill/>
          <a:ln>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endParaRPr>
          </a:p>
        </p:txBody>
      </p:sp>
      <p:sp>
        <p:nvSpPr>
          <p:cNvPr id="25" name="文本框 24">
            <a:extLst>
              <a:ext uri="{FF2B5EF4-FFF2-40B4-BE49-F238E27FC236}">
                <a16:creationId xmlns:a16="http://schemas.microsoft.com/office/drawing/2014/main" id="{4DBF0F29-9678-B5F4-DC8F-A81E603161B0}"/>
              </a:ext>
            </a:extLst>
          </p:cNvPr>
          <p:cNvSpPr txBox="1"/>
          <p:nvPr/>
        </p:nvSpPr>
        <p:spPr>
          <a:xfrm>
            <a:off x="3395663" y="3573307"/>
            <a:ext cx="902811" cy="307777"/>
          </a:xfrm>
          <a:prstGeom prst="rect">
            <a:avLst/>
          </a:prstGeom>
          <a:noFill/>
          <a:ln>
            <a:noFill/>
          </a:ln>
        </p:spPr>
        <p:txBody>
          <a:bodyPr wrap="none" rtlCol="0">
            <a:spAutoFit/>
          </a:bodyPr>
          <a:lstStyle/>
          <a:p>
            <a:r>
              <a:rPr lang="zh-CN" altLang="en-US" sz="1400" dirty="0">
                <a:solidFill>
                  <a:sysClr val="windowText" lastClr="000000"/>
                </a:solidFill>
              </a:rPr>
              <a:t>需求确认</a:t>
            </a:r>
          </a:p>
        </p:txBody>
      </p:sp>
      <p:sp>
        <p:nvSpPr>
          <p:cNvPr id="26" name="文本框 25">
            <a:extLst>
              <a:ext uri="{FF2B5EF4-FFF2-40B4-BE49-F238E27FC236}">
                <a16:creationId xmlns:a16="http://schemas.microsoft.com/office/drawing/2014/main" id="{36ADC767-EC47-4190-3C94-4AD7C52FE06A}"/>
              </a:ext>
            </a:extLst>
          </p:cNvPr>
          <p:cNvSpPr txBox="1"/>
          <p:nvPr/>
        </p:nvSpPr>
        <p:spPr>
          <a:xfrm>
            <a:off x="3395663" y="4251231"/>
            <a:ext cx="902811" cy="307777"/>
          </a:xfrm>
          <a:prstGeom prst="rect">
            <a:avLst/>
          </a:prstGeom>
          <a:noFill/>
          <a:ln>
            <a:noFill/>
          </a:ln>
        </p:spPr>
        <p:txBody>
          <a:bodyPr wrap="none" rtlCol="0">
            <a:spAutoFit/>
          </a:bodyPr>
          <a:lstStyle/>
          <a:p>
            <a:r>
              <a:rPr lang="zh-CN" altLang="en-US" sz="1400">
                <a:solidFill>
                  <a:sysClr val="windowText" lastClr="000000"/>
                </a:solidFill>
              </a:rPr>
              <a:t>需求变更</a:t>
            </a:r>
          </a:p>
        </p:txBody>
      </p:sp>
    </p:spTree>
    <p:extLst>
      <p:ext uri="{BB962C8B-B14F-4D97-AF65-F5344CB8AC3E}">
        <p14:creationId xmlns:p14="http://schemas.microsoft.com/office/powerpoint/2010/main" val="65638254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1DD21-57FB-3760-0F79-CAD50ABD9DC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400CAF1-7466-0BA6-DBAD-87A3C7D798E1}"/>
              </a:ext>
            </a:extLst>
          </p:cNvPr>
          <p:cNvSpPr>
            <a:spLocks noGrp="1"/>
          </p:cNvSpPr>
          <p:nvPr>
            <p:ph type="title"/>
          </p:nvPr>
        </p:nvSpPr>
        <p:spPr>
          <a:xfrm>
            <a:off x="792000" y="360000"/>
            <a:ext cx="6375921" cy="429413"/>
          </a:xfrm>
        </p:spPr>
        <p:txBody>
          <a:bodyPr/>
          <a:lstStyle/>
          <a:p>
            <a:r>
              <a:rPr lang="en-US" altLang="zh-CN"/>
              <a:t>1.2.1 </a:t>
            </a:r>
            <a:r>
              <a:rPr lang="zh-CN" altLang="en-US"/>
              <a:t>需求获取</a:t>
            </a:r>
          </a:p>
        </p:txBody>
      </p:sp>
      <p:sp>
        <p:nvSpPr>
          <p:cNvPr id="3" name="内容占位符 2">
            <a:extLst>
              <a:ext uri="{FF2B5EF4-FFF2-40B4-BE49-F238E27FC236}">
                <a16:creationId xmlns:a16="http://schemas.microsoft.com/office/drawing/2014/main" id="{6567CCF0-C01D-AD4D-2087-277E25F2379B}"/>
              </a:ext>
            </a:extLst>
          </p:cNvPr>
          <p:cNvSpPr>
            <a:spLocks noGrp="1"/>
          </p:cNvSpPr>
          <p:nvPr>
            <p:ph idx="1"/>
          </p:nvPr>
        </p:nvSpPr>
        <p:spPr>
          <a:xfrm>
            <a:off x="696000" y="864000"/>
            <a:ext cx="10800000" cy="5400000"/>
          </a:xfrm>
        </p:spPr>
        <p:txBody>
          <a:bodyPr>
            <a:normAutofit/>
          </a:bodyPr>
          <a:lstStyle/>
          <a:p>
            <a:r>
              <a:rPr lang="zh-CN" altLang="en-US"/>
              <a:t>访谈：面对面沟通、电话、专题会议类 </a:t>
            </a:r>
            <a:r>
              <a:rPr lang="en-US" altLang="zh-CN"/>
              <a:t>…</a:t>
            </a:r>
          </a:p>
          <a:p>
            <a:r>
              <a:rPr lang="zh-CN" altLang="en-US"/>
              <a:t>文档：问卷、数据筛选、电子邮件 </a:t>
            </a:r>
            <a:r>
              <a:rPr lang="en-US" altLang="zh-CN"/>
              <a:t>…</a:t>
            </a:r>
          </a:p>
          <a:p>
            <a:r>
              <a:rPr lang="zh-CN" altLang="en-US"/>
              <a:t>注意：</a:t>
            </a:r>
            <a:endParaRPr lang="en-US" altLang="zh-CN"/>
          </a:p>
          <a:p>
            <a:pPr lvl="1"/>
            <a:r>
              <a:rPr lang="zh-CN" altLang="en-US"/>
              <a:t>识别真正的用户</a:t>
            </a:r>
            <a:r>
              <a:rPr lang="en-US" altLang="zh-CN"/>
              <a:t>/</a:t>
            </a:r>
            <a:r>
              <a:rPr lang="zh-CN" altLang="en-US"/>
              <a:t>干系人</a:t>
            </a:r>
            <a:endParaRPr lang="en-US" altLang="zh-CN"/>
          </a:p>
          <a:p>
            <a:pPr lvl="1"/>
            <a:r>
              <a:rPr lang="zh-CN" altLang="en-US"/>
              <a:t>正确理解用户需求</a:t>
            </a:r>
            <a:endParaRPr lang="en-US" altLang="zh-CN"/>
          </a:p>
          <a:p>
            <a:pPr lvl="1"/>
            <a:r>
              <a:rPr lang="zh-CN" altLang="en-US"/>
              <a:t>耐心</a:t>
            </a:r>
            <a:endParaRPr lang="en-US" altLang="zh-CN"/>
          </a:p>
          <a:p>
            <a:pPr lvl="1"/>
            <a:r>
              <a:rPr lang="zh-CN" altLang="en-US"/>
              <a:t>引导并说服</a:t>
            </a:r>
            <a:endParaRPr lang="en-US" altLang="zh-CN"/>
          </a:p>
        </p:txBody>
      </p:sp>
      <p:sp>
        <p:nvSpPr>
          <p:cNvPr id="4" name="文本占位符 3">
            <a:extLst>
              <a:ext uri="{FF2B5EF4-FFF2-40B4-BE49-F238E27FC236}">
                <a16:creationId xmlns:a16="http://schemas.microsoft.com/office/drawing/2014/main" id="{AC12B03A-49F2-437B-115C-7570B099B773}"/>
              </a:ext>
            </a:extLst>
          </p:cNvPr>
          <p:cNvSpPr>
            <a:spLocks noGrp="1"/>
          </p:cNvSpPr>
          <p:nvPr>
            <p:ph type="body" sz="quarter" idx="10"/>
          </p:nvPr>
        </p:nvSpPr>
        <p:spPr>
          <a:xfrm>
            <a:off x="7071919" y="448519"/>
            <a:ext cx="4424080" cy="338554"/>
          </a:xfrm>
        </p:spPr>
        <p:txBody>
          <a:bodyPr/>
          <a:lstStyle/>
          <a:p>
            <a:r>
              <a:rPr lang="en-US" altLang="zh-CN"/>
              <a:t>Requirement</a:t>
            </a:r>
            <a:endParaRPr lang="zh-CN" altLang="en-US"/>
          </a:p>
        </p:txBody>
      </p:sp>
    </p:spTree>
    <p:extLst>
      <p:ext uri="{BB962C8B-B14F-4D97-AF65-F5344CB8AC3E}">
        <p14:creationId xmlns:p14="http://schemas.microsoft.com/office/powerpoint/2010/main" val="2209536061"/>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D39B3-306C-A28C-B7AD-36C3A622618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F972E35-1DF3-DAD2-3FF5-4320AA049CC3}"/>
              </a:ext>
            </a:extLst>
          </p:cNvPr>
          <p:cNvSpPr>
            <a:spLocks noGrp="1"/>
          </p:cNvSpPr>
          <p:nvPr>
            <p:ph type="title"/>
          </p:nvPr>
        </p:nvSpPr>
        <p:spPr>
          <a:xfrm>
            <a:off x="792000" y="360000"/>
            <a:ext cx="6375921" cy="429413"/>
          </a:xfrm>
        </p:spPr>
        <p:txBody>
          <a:bodyPr/>
          <a:lstStyle/>
          <a:p>
            <a:r>
              <a:rPr lang="en-US" altLang="zh-CN"/>
              <a:t>1.2.2 </a:t>
            </a:r>
            <a:r>
              <a:rPr lang="zh-CN" altLang="en-US"/>
              <a:t>需求分析</a:t>
            </a:r>
          </a:p>
        </p:txBody>
      </p:sp>
      <p:sp>
        <p:nvSpPr>
          <p:cNvPr id="3" name="内容占位符 2">
            <a:extLst>
              <a:ext uri="{FF2B5EF4-FFF2-40B4-BE49-F238E27FC236}">
                <a16:creationId xmlns:a16="http://schemas.microsoft.com/office/drawing/2014/main" id="{142B66A5-2BED-3A68-0171-CF070B29569B}"/>
              </a:ext>
            </a:extLst>
          </p:cNvPr>
          <p:cNvSpPr>
            <a:spLocks noGrp="1"/>
          </p:cNvSpPr>
          <p:nvPr>
            <p:ph idx="1"/>
          </p:nvPr>
        </p:nvSpPr>
        <p:spPr>
          <a:xfrm>
            <a:off x="696000" y="864000"/>
            <a:ext cx="10800000" cy="5400000"/>
          </a:xfrm>
        </p:spPr>
        <p:txBody>
          <a:bodyPr>
            <a:normAutofit/>
          </a:bodyPr>
          <a:lstStyle/>
          <a:p>
            <a:r>
              <a:rPr lang="zh-CN" altLang="en-US"/>
              <a:t>也称系统建模</a:t>
            </a:r>
            <a:endParaRPr lang="en-US" altLang="zh-CN"/>
          </a:p>
          <a:p>
            <a:r>
              <a:rPr lang="zh-CN" altLang="en-US"/>
              <a:t>为最终用户所看到的系统建立一个概念模型，是对需求的抽象描述</a:t>
            </a:r>
            <a:endParaRPr lang="en-US" altLang="zh-CN"/>
          </a:p>
          <a:p>
            <a:r>
              <a:rPr lang="zh-CN" altLang="en-US"/>
              <a:t>尽可能全面、详细</a:t>
            </a:r>
            <a:endParaRPr lang="en-US" altLang="zh-CN"/>
          </a:p>
          <a:p>
            <a:r>
              <a:rPr lang="zh-CN" altLang="en-US"/>
              <a:t>工具类：</a:t>
            </a:r>
            <a:r>
              <a:rPr lang="en-US" altLang="zh-CN"/>
              <a:t>DFD</a:t>
            </a:r>
            <a:r>
              <a:rPr lang="zh-CN" altLang="en-US"/>
              <a:t>看数据，流程图看步骤，用例图看用户，时序图看交互，</a:t>
            </a:r>
            <a:r>
              <a:rPr lang="en-US" altLang="zh-CN"/>
              <a:t>E-R</a:t>
            </a:r>
            <a:r>
              <a:rPr lang="zh-CN" altLang="en-US"/>
              <a:t>图看结构</a:t>
            </a:r>
            <a:r>
              <a:rPr lang="en-US" altLang="zh-CN"/>
              <a:t>…</a:t>
            </a:r>
          </a:p>
          <a:p>
            <a:pPr lvl="1"/>
            <a:r>
              <a:rPr lang="zh-CN" altLang="en-US"/>
              <a:t>用例图（</a:t>
            </a:r>
            <a:r>
              <a:rPr lang="en-US" altLang="zh-CN"/>
              <a:t>Use Case Diagram</a:t>
            </a:r>
            <a:r>
              <a:rPr lang="zh-CN" altLang="en-US"/>
              <a:t>）→ 描述“谁用什么功能”</a:t>
            </a:r>
            <a:endParaRPr lang="en-US" altLang="zh-CN"/>
          </a:p>
          <a:p>
            <a:pPr lvl="1"/>
            <a:r>
              <a:rPr lang="zh-CN" altLang="en-US"/>
              <a:t>活动图 </a:t>
            </a:r>
            <a:r>
              <a:rPr lang="en-US" altLang="zh-CN"/>
              <a:t>/ </a:t>
            </a:r>
            <a:r>
              <a:rPr lang="zh-CN" altLang="en-US"/>
              <a:t>流程图（</a:t>
            </a:r>
            <a:r>
              <a:rPr lang="en-US" altLang="zh-CN"/>
              <a:t>Activity Diagram</a:t>
            </a:r>
            <a:r>
              <a:rPr lang="zh-CN" altLang="en-US"/>
              <a:t>）→ 描述“业务流程怎么走”</a:t>
            </a:r>
            <a:endParaRPr lang="en-US" altLang="zh-CN"/>
          </a:p>
          <a:p>
            <a:pPr lvl="1"/>
            <a:r>
              <a:rPr lang="zh-CN" altLang="en-US"/>
              <a:t>状态图（</a:t>
            </a:r>
            <a:r>
              <a:rPr lang="en-US" altLang="zh-CN"/>
              <a:t>State Diagram</a:t>
            </a:r>
            <a:r>
              <a:rPr lang="zh-CN" altLang="en-US"/>
              <a:t>）→ 描述“对象生命周期变化”</a:t>
            </a:r>
            <a:endParaRPr lang="en-US" altLang="zh-CN"/>
          </a:p>
          <a:p>
            <a:pPr lvl="1"/>
            <a:r>
              <a:rPr lang="zh-CN" altLang="en-US"/>
              <a:t>实体关系图（</a:t>
            </a:r>
            <a:r>
              <a:rPr lang="en-US" altLang="zh-CN"/>
              <a:t>ERD</a:t>
            </a:r>
            <a:r>
              <a:rPr lang="zh-CN" altLang="en-US"/>
              <a:t>）→ 描述“数据怎么组织”</a:t>
            </a:r>
            <a:endParaRPr lang="en-US" altLang="zh-CN"/>
          </a:p>
          <a:p>
            <a:pPr lvl="1"/>
            <a:r>
              <a:rPr lang="zh-CN" altLang="en-US"/>
              <a:t>原型图 </a:t>
            </a:r>
            <a:r>
              <a:rPr lang="en-US" altLang="zh-CN"/>
              <a:t>/ </a:t>
            </a:r>
            <a:r>
              <a:rPr lang="zh-CN" altLang="en-US"/>
              <a:t>线框图（</a:t>
            </a:r>
            <a:r>
              <a:rPr lang="en-US" altLang="zh-CN"/>
              <a:t>Wireframe</a:t>
            </a:r>
            <a:r>
              <a:rPr lang="zh-CN" altLang="en-US"/>
              <a:t>）→ 描述“界面长什么样”</a:t>
            </a:r>
            <a:endParaRPr lang="en-US" altLang="zh-CN"/>
          </a:p>
          <a:p>
            <a:endParaRPr lang="en-US" altLang="zh-CN"/>
          </a:p>
        </p:txBody>
      </p:sp>
      <p:sp>
        <p:nvSpPr>
          <p:cNvPr id="4" name="文本占位符 3">
            <a:extLst>
              <a:ext uri="{FF2B5EF4-FFF2-40B4-BE49-F238E27FC236}">
                <a16:creationId xmlns:a16="http://schemas.microsoft.com/office/drawing/2014/main" id="{58C79665-699E-457D-3086-E729A522AD2A}"/>
              </a:ext>
            </a:extLst>
          </p:cNvPr>
          <p:cNvSpPr>
            <a:spLocks noGrp="1"/>
          </p:cNvSpPr>
          <p:nvPr>
            <p:ph type="body" sz="quarter" idx="10"/>
          </p:nvPr>
        </p:nvSpPr>
        <p:spPr>
          <a:xfrm>
            <a:off x="7071919" y="448519"/>
            <a:ext cx="4424080" cy="338554"/>
          </a:xfrm>
        </p:spPr>
        <p:txBody>
          <a:bodyPr/>
          <a:lstStyle/>
          <a:p>
            <a:r>
              <a:rPr lang="en-US" altLang="zh-CN"/>
              <a:t>Requirement</a:t>
            </a:r>
            <a:endParaRPr lang="zh-CN" altLang="en-US"/>
          </a:p>
        </p:txBody>
      </p:sp>
    </p:spTree>
    <p:extLst>
      <p:ext uri="{BB962C8B-B14F-4D97-AF65-F5344CB8AC3E}">
        <p14:creationId xmlns:p14="http://schemas.microsoft.com/office/powerpoint/2010/main" val="361651869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4CA8F-1E9D-3C80-B0E4-1C1072F0131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99D7A94-7AA3-3755-BAF9-68E96616FD88}"/>
              </a:ext>
            </a:extLst>
          </p:cNvPr>
          <p:cNvSpPr>
            <a:spLocks noGrp="1"/>
          </p:cNvSpPr>
          <p:nvPr>
            <p:ph type="title"/>
          </p:nvPr>
        </p:nvSpPr>
        <p:spPr>
          <a:xfrm>
            <a:off x="792000" y="360000"/>
            <a:ext cx="6375921" cy="429413"/>
          </a:xfrm>
        </p:spPr>
        <p:txBody>
          <a:bodyPr/>
          <a:lstStyle/>
          <a:p>
            <a:r>
              <a:rPr lang="en-US" altLang="zh-CN"/>
              <a:t>1.2.3 </a:t>
            </a:r>
            <a:r>
              <a:rPr lang="zh-CN" altLang="en-US"/>
              <a:t>需求规约编写</a:t>
            </a:r>
          </a:p>
        </p:txBody>
      </p:sp>
      <p:sp>
        <p:nvSpPr>
          <p:cNvPr id="3" name="内容占位符 2">
            <a:extLst>
              <a:ext uri="{FF2B5EF4-FFF2-40B4-BE49-F238E27FC236}">
                <a16:creationId xmlns:a16="http://schemas.microsoft.com/office/drawing/2014/main" id="{4F5258E2-73B7-2438-5DD2-ABA1B98A35A1}"/>
              </a:ext>
            </a:extLst>
          </p:cNvPr>
          <p:cNvSpPr>
            <a:spLocks noGrp="1"/>
          </p:cNvSpPr>
          <p:nvPr>
            <p:ph idx="1"/>
          </p:nvPr>
        </p:nvSpPr>
        <p:spPr>
          <a:xfrm>
            <a:off x="696000" y="864000"/>
            <a:ext cx="10800000" cy="5400000"/>
          </a:xfrm>
        </p:spPr>
        <p:txBody>
          <a:bodyPr>
            <a:normAutofit/>
          </a:bodyPr>
          <a:lstStyle/>
          <a:p>
            <a:r>
              <a:rPr lang="zh-CN" altLang="en-US" dirty="0"/>
              <a:t>需求分析完成的标志，提交软件需求规格说明书 </a:t>
            </a:r>
            <a:endParaRPr lang="en-US" altLang="zh-CN" dirty="0"/>
          </a:p>
          <a:p>
            <a:r>
              <a:rPr lang="en-US" altLang="zh-CN" dirty="0"/>
              <a:t>SRS </a:t>
            </a:r>
            <a:r>
              <a:rPr lang="en-US" altLang="zh-CN" dirty="0">
                <a:hlinkClick r:id="rId3"/>
              </a:rPr>
              <a:t>Software Requirement Specification</a:t>
            </a:r>
            <a:endParaRPr lang="en-US" altLang="zh-CN" dirty="0"/>
          </a:p>
          <a:p>
            <a:pPr lvl="1"/>
            <a:r>
              <a:rPr lang="zh-CN" altLang="en-US" dirty="0"/>
              <a:t>对软件范围正式且书面的界定</a:t>
            </a:r>
            <a:endParaRPr lang="en-US" altLang="zh-CN" dirty="0"/>
          </a:p>
          <a:p>
            <a:pPr lvl="1"/>
            <a:r>
              <a:rPr lang="zh-CN" altLang="en-US" dirty="0"/>
              <a:t>系统具体怎么运作、逻辑是什么、细节有哪些，给开发、测试和产品经理看</a:t>
            </a:r>
            <a:endParaRPr lang="en-US" altLang="zh-CN" dirty="0"/>
          </a:p>
          <a:p>
            <a:pPr lvl="1"/>
            <a:r>
              <a:rPr lang="zh-CN" altLang="en-US" dirty="0"/>
              <a:t>战术级文档</a:t>
            </a:r>
            <a:endParaRPr lang="en-US" altLang="zh-CN" dirty="0"/>
          </a:p>
          <a:p>
            <a:pPr lvl="1"/>
            <a:r>
              <a:rPr lang="en-US" altLang="zh-CN" dirty="0"/>
              <a:t>An SRS document acts as a guide for the development team, detailing how the software should perform and interact. It outlines the purpose, behavior, and functionality of a software application.</a:t>
            </a:r>
          </a:p>
        </p:txBody>
      </p:sp>
      <p:sp>
        <p:nvSpPr>
          <p:cNvPr id="4" name="文本占位符 3">
            <a:extLst>
              <a:ext uri="{FF2B5EF4-FFF2-40B4-BE49-F238E27FC236}">
                <a16:creationId xmlns:a16="http://schemas.microsoft.com/office/drawing/2014/main" id="{FDDFED50-FA4B-E86A-84B3-C11920CCBEF4}"/>
              </a:ext>
            </a:extLst>
          </p:cNvPr>
          <p:cNvSpPr>
            <a:spLocks noGrp="1"/>
          </p:cNvSpPr>
          <p:nvPr>
            <p:ph type="body" sz="quarter" idx="10"/>
          </p:nvPr>
        </p:nvSpPr>
        <p:spPr>
          <a:xfrm>
            <a:off x="7071919" y="448519"/>
            <a:ext cx="4424080" cy="338554"/>
          </a:xfrm>
        </p:spPr>
        <p:txBody>
          <a:bodyPr/>
          <a:lstStyle/>
          <a:p>
            <a:r>
              <a:rPr lang="en-US" altLang="zh-CN"/>
              <a:t>Requirement</a:t>
            </a:r>
            <a:endParaRPr lang="zh-CN" altLang="en-US"/>
          </a:p>
        </p:txBody>
      </p:sp>
    </p:spTree>
    <p:extLst>
      <p:ext uri="{BB962C8B-B14F-4D97-AF65-F5344CB8AC3E}">
        <p14:creationId xmlns:p14="http://schemas.microsoft.com/office/powerpoint/2010/main" val="212548841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格 5">
            <a:extLst>
              <a:ext uri="{FF2B5EF4-FFF2-40B4-BE49-F238E27FC236}">
                <a16:creationId xmlns:a16="http://schemas.microsoft.com/office/drawing/2014/main" id="{4BCE46FC-40FF-10CF-E8B1-B1CEF0279766}"/>
              </a:ext>
            </a:extLst>
          </p:cNvPr>
          <p:cNvGraphicFramePr>
            <a:graphicFrameLocks noGrp="1"/>
          </p:cNvGraphicFramePr>
          <p:nvPr>
            <p:extLst>
              <p:ext uri="{D42A27DB-BD31-4B8C-83A1-F6EECF244321}">
                <p14:modId xmlns:p14="http://schemas.microsoft.com/office/powerpoint/2010/main" val="1784694756"/>
              </p:ext>
            </p:extLst>
          </p:nvPr>
        </p:nvGraphicFramePr>
        <p:xfrm>
          <a:off x="696000" y="1003300"/>
          <a:ext cx="10800000" cy="4851400"/>
        </p:xfrm>
        <a:graphic>
          <a:graphicData uri="http://schemas.openxmlformats.org/drawingml/2006/table">
            <a:tbl>
              <a:tblPr firstRow="1" bandRow="1">
                <a:tableStyleId>{5C22544A-7EE6-4342-B048-85BDC9FD1C3A}</a:tableStyleId>
              </a:tblPr>
              <a:tblGrid>
                <a:gridCol w="10800000">
                  <a:extLst>
                    <a:ext uri="{9D8B030D-6E8A-4147-A177-3AD203B41FA5}">
                      <a16:colId xmlns:a16="http://schemas.microsoft.com/office/drawing/2014/main" val="923585089"/>
                    </a:ext>
                  </a:extLst>
                </a:gridCol>
              </a:tblGrid>
              <a:tr h="370840">
                <a:tc>
                  <a:txBody>
                    <a:bodyPr/>
                    <a:lstStyle/>
                    <a:p>
                      <a:pPr algn="ctr"/>
                      <a:r>
                        <a:rPr lang="en-US" altLang="zh-CN" dirty="0">
                          <a:solidFill>
                            <a:schemeClr val="tx1"/>
                          </a:solidFill>
                        </a:rPr>
                        <a:t>Software Requirement Specification</a:t>
                      </a:r>
                      <a:endParaRPr lang="zh-CN"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55951438"/>
                  </a:ext>
                </a:extLst>
              </a:tr>
              <a:tr h="370840">
                <a:tc>
                  <a:txBody>
                    <a:bodyPr/>
                    <a:lstStyle/>
                    <a:p>
                      <a:r>
                        <a:rPr lang="en-US" altLang="zh-CN" dirty="0">
                          <a:solidFill>
                            <a:schemeClr val="tx1"/>
                          </a:solidFill>
                        </a:rPr>
                        <a:t>1. </a:t>
                      </a:r>
                      <a:r>
                        <a:rPr lang="zh-CN" altLang="en-US" dirty="0">
                          <a:solidFill>
                            <a:schemeClr val="tx1"/>
                          </a:solidFill>
                        </a:rPr>
                        <a:t>引言</a:t>
                      </a:r>
                    </a:p>
                    <a:p>
                      <a:r>
                        <a:rPr lang="zh-CN" altLang="en-US" dirty="0">
                          <a:solidFill>
                            <a:schemeClr val="tx1"/>
                          </a:solidFill>
                        </a:rPr>
                        <a:t>目的、范围、术语定义、参考文献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0210945"/>
                  </a:ext>
                </a:extLst>
              </a:tr>
              <a:tr h="370840">
                <a:tc>
                  <a:txBody>
                    <a:bodyPr/>
                    <a:lstStyle/>
                    <a:p>
                      <a:r>
                        <a:rPr lang="en-US" altLang="zh-CN">
                          <a:solidFill>
                            <a:schemeClr val="tx1"/>
                          </a:solidFill>
                        </a:rPr>
                        <a:t>2. </a:t>
                      </a:r>
                      <a:r>
                        <a:rPr lang="zh-CN" altLang="en-US">
                          <a:solidFill>
                            <a:schemeClr val="tx1"/>
                          </a:solidFill>
                        </a:rPr>
                        <a:t>总体描述</a:t>
                      </a:r>
                    </a:p>
                    <a:p>
                      <a:r>
                        <a:rPr lang="zh-CN" altLang="en-US">
                          <a:solidFill>
                            <a:schemeClr val="tx1"/>
                          </a:solidFill>
                        </a:rPr>
                        <a:t>产品愿景、用户特征、运行环境、假设与依赖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47685735"/>
                  </a:ext>
                </a:extLst>
              </a:tr>
              <a:tr h="370840">
                <a:tc>
                  <a:txBody>
                    <a:bodyPr/>
                    <a:lstStyle/>
                    <a:p>
                      <a:r>
                        <a:rPr lang="en-US" altLang="zh-CN">
                          <a:solidFill>
                            <a:schemeClr val="tx1"/>
                          </a:solidFill>
                        </a:rPr>
                        <a:t>3. </a:t>
                      </a:r>
                      <a:r>
                        <a:rPr lang="zh-CN" altLang="en-US">
                          <a:solidFill>
                            <a:schemeClr val="tx1"/>
                          </a:solidFill>
                        </a:rPr>
                        <a:t>功能需求</a:t>
                      </a:r>
                    </a:p>
                    <a:p>
                      <a:r>
                        <a:rPr lang="zh-CN" altLang="en-US">
                          <a:solidFill>
                            <a:schemeClr val="tx1"/>
                          </a:solidFill>
                        </a:rPr>
                        <a:t>按模块划分，每个功能包含： * 功能编号 * 功能名称 * 描述 * 输入</a:t>
                      </a:r>
                      <a:r>
                        <a:rPr lang="en-US" altLang="zh-CN">
                          <a:solidFill>
                            <a:schemeClr val="tx1"/>
                          </a:solidFill>
                        </a:rPr>
                        <a:t>/</a:t>
                      </a:r>
                      <a:r>
                        <a:rPr lang="zh-CN" altLang="en-US">
                          <a:solidFill>
                            <a:schemeClr val="tx1"/>
                          </a:solidFill>
                        </a:rPr>
                        <a:t>输出 * 处理逻辑 * 异常处理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8856406"/>
                  </a:ext>
                </a:extLst>
              </a:tr>
              <a:tr h="370840">
                <a:tc>
                  <a:txBody>
                    <a:bodyPr/>
                    <a:lstStyle/>
                    <a:p>
                      <a:r>
                        <a:rPr lang="en-US" altLang="zh-CN">
                          <a:solidFill>
                            <a:schemeClr val="tx1"/>
                          </a:solidFill>
                        </a:rPr>
                        <a:t>4. </a:t>
                      </a:r>
                      <a:r>
                        <a:rPr lang="zh-CN" altLang="en-US">
                          <a:solidFill>
                            <a:schemeClr val="tx1"/>
                          </a:solidFill>
                        </a:rPr>
                        <a:t>非功能需求</a:t>
                      </a:r>
                    </a:p>
                    <a:p>
                      <a:r>
                        <a:rPr lang="zh-CN" altLang="en-US">
                          <a:solidFill>
                            <a:schemeClr val="tx1"/>
                          </a:solidFill>
                        </a:rPr>
                        <a:t>性能、安全性、可用性、兼容性、可维护性等</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9039541"/>
                  </a:ext>
                </a:extLst>
              </a:tr>
              <a:tr h="370840">
                <a:tc>
                  <a:txBody>
                    <a:bodyPr/>
                    <a:lstStyle/>
                    <a:p>
                      <a:r>
                        <a:rPr lang="en-US" altLang="zh-CN">
                          <a:solidFill>
                            <a:schemeClr val="tx1"/>
                          </a:solidFill>
                        </a:rPr>
                        <a:t>5. </a:t>
                      </a:r>
                      <a:r>
                        <a:rPr lang="zh-CN" altLang="en-US">
                          <a:solidFill>
                            <a:schemeClr val="tx1"/>
                          </a:solidFill>
                        </a:rPr>
                        <a:t>数据需求</a:t>
                      </a:r>
                    </a:p>
                    <a:p>
                      <a:r>
                        <a:rPr lang="zh-CN" altLang="en-US">
                          <a:solidFill>
                            <a:schemeClr val="tx1"/>
                          </a:solidFill>
                        </a:rPr>
                        <a:t>数据字典、</a:t>
                      </a:r>
                      <a:r>
                        <a:rPr lang="en-US" altLang="zh-CN">
                          <a:solidFill>
                            <a:schemeClr val="tx1"/>
                          </a:solidFill>
                        </a:rPr>
                        <a:t>E-R </a:t>
                      </a:r>
                      <a:r>
                        <a:rPr lang="zh-CN" altLang="en-US">
                          <a:solidFill>
                            <a:schemeClr val="tx1"/>
                          </a:solidFill>
                        </a:rPr>
                        <a:t>图、数据流图</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43068504"/>
                  </a:ext>
                </a:extLst>
              </a:tr>
              <a:tr h="370840">
                <a:tc>
                  <a:txBody>
                    <a:bodyPr/>
                    <a:lstStyle/>
                    <a:p>
                      <a:r>
                        <a:rPr lang="en-US" altLang="zh-CN">
                          <a:solidFill>
                            <a:schemeClr val="tx1"/>
                          </a:solidFill>
                        </a:rPr>
                        <a:t>6. </a:t>
                      </a:r>
                      <a:r>
                        <a:rPr lang="zh-CN" altLang="en-US">
                          <a:solidFill>
                            <a:schemeClr val="tx1"/>
                          </a:solidFill>
                        </a:rPr>
                        <a:t>接口需求</a:t>
                      </a:r>
                    </a:p>
                    <a:p>
                      <a:r>
                        <a:rPr lang="zh-CN" altLang="en-US">
                          <a:solidFill>
                            <a:schemeClr val="tx1"/>
                          </a:solidFill>
                        </a:rPr>
                        <a:t>外部系统接口、硬件接口、通信协议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1930958"/>
                  </a:ext>
                </a:extLst>
              </a:tr>
              <a:tr h="370840">
                <a:tc>
                  <a:txBody>
                    <a:bodyPr/>
                    <a:lstStyle/>
                    <a:p>
                      <a:r>
                        <a:rPr lang="en-US" altLang="zh-CN" dirty="0">
                          <a:solidFill>
                            <a:schemeClr val="tx1"/>
                          </a:solidFill>
                        </a:rPr>
                        <a:t>7. </a:t>
                      </a:r>
                      <a:r>
                        <a:rPr lang="zh-CN" altLang="en-US" dirty="0">
                          <a:solidFill>
                            <a:schemeClr val="tx1"/>
                          </a:solidFill>
                        </a:rPr>
                        <a:t>附录</a:t>
                      </a:r>
                      <a:endParaRPr lang="en-US" altLang="zh-CN" dirty="0">
                        <a:solidFill>
                          <a:schemeClr val="tx1"/>
                        </a:solidFill>
                      </a:endParaRPr>
                    </a:p>
                    <a:p>
                      <a:r>
                        <a:rPr lang="zh-CN" altLang="en-US" dirty="0">
                          <a:solidFill>
                            <a:schemeClr val="tx1"/>
                          </a:solidFill>
                        </a:rPr>
                        <a:t>用例图、活动图、原型截图、会议纪要等</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2323180"/>
                  </a:ext>
                </a:extLst>
              </a:tr>
            </a:tbl>
          </a:graphicData>
        </a:graphic>
      </p:graphicFrame>
    </p:spTree>
    <p:extLst>
      <p:ext uri="{BB962C8B-B14F-4D97-AF65-F5344CB8AC3E}">
        <p14:creationId xmlns:p14="http://schemas.microsoft.com/office/powerpoint/2010/main" val="3979706951"/>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ADC00-668F-232B-54C9-B3AB3B53541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11753F8-ADC5-BE1F-6EC5-150550309270}"/>
              </a:ext>
            </a:extLst>
          </p:cNvPr>
          <p:cNvSpPr>
            <a:spLocks noGrp="1"/>
          </p:cNvSpPr>
          <p:nvPr>
            <p:ph type="title"/>
          </p:nvPr>
        </p:nvSpPr>
        <p:spPr>
          <a:xfrm>
            <a:off x="792000" y="360000"/>
            <a:ext cx="6375921" cy="429413"/>
          </a:xfrm>
        </p:spPr>
        <p:txBody>
          <a:bodyPr/>
          <a:lstStyle/>
          <a:p>
            <a:r>
              <a:rPr lang="en-US" altLang="zh-CN"/>
              <a:t>1.2.4 </a:t>
            </a:r>
            <a:r>
              <a:rPr lang="zh-CN" altLang="en-US"/>
              <a:t>需求验证</a:t>
            </a:r>
          </a:p>
        </p:txBody>
      </p:sp>
      <p:graphicFrame>
        <p:nvGraphicFramePr>
          <p:cNvPr id="5" name="内容占位符 4">
            <a:extLst>
              <a:ext uri="{FF2B5EF4-FFF2-40B4-BE49-F238E27FC236}">
                <a16:creationId xmlns:a16="http://schemas.microsoft.com/office/drawing/2014/main" id="{94E48FC1-EA4A-68B4-B88E-A1CB4D5DEBCD}"/>
              </a:ext>
            </a:extLst>
          </p:cNvPr>
          <p:cNvGraphicFramePr>
            <a:graphicFrameLocks noGrp="1"/>
          </p:cNvGraphicFramePr>
          <p:nvPr>
            <p:ph idx="1"/>
            <p:extLst>
              <p:ext uri="{D42A27DB-BD31-4B8C-83A1-F6EECF244321}">
                <p14:modId xmlns:p14="http://schemas.microsoft.com/office/powerpoint/2010/main" val="3409643637"/>
              </p:ext>
            </p:extLst>
          </p:nvPr>
        </p:nvGraphicFramePr>
        <p:xfrm>
          <a:off x="695325" y="863600"/>
          <a:ext cx="10801350" cy="5400675"/>
        </p:xfrm>
        <a:graphic>
          <a:graphicData uri="http://schemas.openxmlformats.org/drawingml/2006/table">
            <a:tbl>
              <a:tblPr/>
              <a:tblGrid>
                <a:gridCol w="2401837">
                  <a:extLst>
                    <a:ext uri="{9D8B030D-6E8A-4147-A177-3AD203B41FA5}">
                      <a16:colId xmlns:a16="http://schemas.microsoft.com/office/drawing/2014/main" val="3155584670"/>
                    </a:ext>
                  </a:extLst>
                </a:gridCol>
                <a:gridCol w="3539613">
                  <a:extLst>
                    <a:ext uri="{9D8B030D-6E8A-4147-A177-3AD203B41FA5}">
                      <a16:colId xmlns:a16="http://schemas.microsoft.com/office/drawing/2014/main" val="914284030"/>
                    </a:ext>
                  </a:extLst>
                </a:gridCol>
                <a:gridCol w="4859225">
                  <a:extLst>
                    <a:ext uri="{9D8B030D-6E8A-4147-A177-3AD203B41FA5}">
                      <a16:colId xmlns:a16="http://schemas.microsoft.com/office/drawing/2014/main" val="12435453"/>
                    </a:ext>
                  </a:extLst>
                </a:gridCol>
              </a:tblGrid>
              <a:tr h="0">
                <a:tc>
                  <a:txBody>
                    <a:bodyPr/>
                    <a:lstStyle/>
                    <a:p>
                      <a:pPr>
                        <a:buNone/>
                      </a:pPr>
                      <a:r>
                        <a:rPr lang="en-US" altLang="zh-CN" sz="1600" dirty="0">
                          <a:solidFill>
                            <a:schemeClr val="bg1"/>
                          </a:solidFill>
                        </a:rPr>
                        <a:t>Aspect</a:t>
                      </a:r>
                      <a:endParaRPr lang="zh-CN" altLang="en-US" sz="1600" dirty="0">
                        <a:solidFill>
                          <a:schemeClr val="bg1"/>
                        </a:solidFill>
                      </a:endParaRPr>
                    </a:p>
                  </a:txBody>
                  <a:tcPr marL="51435" marR="51435" marT="25717" marB="25717"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buNone/>
                      </a:pPr>
                      <a:r>
                        <a:rPr lang="en-US" altLang="zh-CN" sz="1600" dirty="0">
                          <a:solidFill>
                            <a:schemeClr val="bg1"/>
                          </a:solidFill>
                        </a:rPr>
                        <a:t>Description</a:t>
                      </a:r>
                      <a:endParaRPr lang="zh-CN" altLang="en-US" sz="1600" dirty="0">
                        <a:solidFill>
                          <a:schemeClr val="bg1"/>
                        </a:solidFill>
                      </a:endParaRPr>
                    </a:p>
                  </a:txBody>
                  <a:tcPr marL="51435" marR="51435" marT="25717" marB="25717"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buNone/>
                      </a:pPr>
                      <a:r>
                        <a:rPr lang="en-US" altLang="zh-CN" sz="1600" dirty="0">
                          <a:solidFill>
                            <a:schemeClr val="bg1"/>
                          </a:solidFill>
                        </a:rPr>
                        <a:t>Tools</a:t>
                      </a:r>
                      <a:endParaRPr lang="zh-CN" altLang="en-US" sz="1600" dirty="0">
                        <a:solidFill>
                          <a:schemeClr val="bg1"/>
                        </a:solidFill>
                      </a:endParaRPr>
                    </a:p>
                  </a:txBody>
                  <a:tcPr marL="51435" marR="51435" marT="25717" marB="25717"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25335777"/>
                  </a:ext>
                </a:extLst>
              </a:tr>
              <a:tr h="129354">
                <a:tc>
                  <a:txBody>
                    <a:bodyPr/>
                    <a:lstStyle/>
                    <a:p>
                      <a:pPr>
                        <a:buNone/>
                      </a:pPr>
                      <a:r>
                        <a:rPr lang="zh-CN" altLang="en-US" sz="1600"/>
                        <a:t>正确性 </a:t>
                      </a:r>
                      <a:r>
                        <a:rPr lang="en-US" sz="1600"/>
                        <a:t>Correctness</a:t>
                      </a:r>
                    </a:p>
                  </a:txBody>
                  <a:tcPr marL="51435" marR="51435" marT="25717" marB="25717" anchor="ctr">
                    <a:lnL>
                      <a:noFill/>
                    </a:lnL>
                    <a:lnR>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需求是否准确反映用户真实意图？是否符合业务规则</a:t>
                      </a:r>
                    </a:p>
                  </a:txBody>
                  <a:tcPr marL="51435" marR="51435" marT="25717" marB="25717" anchor="ctr">
                    <a:lnL>
                      <a:noFill/>
                    </a:lnL>
                    <a:lnR>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用户访谈确认、业务流程图比对</a:t>
                      </a:r>
                      <a:br>
                        <a:rPr lang="zh-CN" altLang="en-US" sz="1600"/>
                      </a:br>
                      <a:r>
                        <a:rPr lang="zh-CN" altLang="en-US" sz="1600"/>
                        <a:t>原型演示反馈</a:t>
                      </a:r>
                    </a:p>
                  </a:txBody>
                  <a:tcPr marL="51435" marR="51435" marT="25717" marB="25717" anchor="ctr">
                    <a:lnL>
                      <a:noFill/>
                    </a:lnL>
                    <a:lnR>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48703945"/>
                  </a:ext>
                </a:extLst>
              </a:tr>
              <a:tr h="129354">
                <a:tc>
                  <a:txBody>
                    <a:bodyPr/>
                    <a:lstStyle/>
                    <a:p>
                      <a:pPr>
                        <a:buNone/>
                      </a:pPr>
                      <a:r>
                        <a:rPr lang="zh-CN" altLang="en-US" sz="1600"/>
                        <a:t>完整性 </a:t>
                      </a:r>
                      <a:r>
                        <a:rPr lang="en-US" sz="1600"/>
                        <a:t>Completeness</a:t>
                      </a:r>
                    </a:p>
                  </a:txBody>
                  <a:tcPr marL="51435" marR="51435" marT="25717" marB="25717"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是否覆盖所有功能、非功能、边界条件、异常场景</a:t>
                      </a:r>
                    </a:p>
                  </a:txBody>
                  <a:tcPr marL="51435" marR="51435" marT="25717" marB="25717"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需求追踪矩阵（</a:t>
                      </a:r>
                      <a:r>
                        <a:rPr lang="en-US" altLang="zh-CN" sz="1600"/>
                        <a:t>RTM</a:t>
                      </a:r>
                      <a:r>
                        <a:rPr lang="zh-CN" altLang="en-US" sz="1600"/>
                        <a:t>、用例全覆盖检查</a:t>
                      </a:r>
                      <a:br>
                        <a:rPr lang="zh-CN" altLang="en-US" sz="1600"/>
                      </a:br>
                      <a:r>
                        <a:rPr lang="en-US" altLang="zh-CN" sz="1600"/>
                        <a:t>FURPS+ </a:t>
                      </a:r>
                      <a:r>
                        <a:rPr lang="zh-CN" altLang="en-US" sz="1600"/>
                        <a:t>模型对照</a:t>
                      </a:r>
                    </a:p>
                  </a:txBody>
                  <a:tcPr marL="51435" marR="51435" marT="25717" marB="25717"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70532725"/>
                  </a:ext>
                </a:extLst>
              </a:tr>
              <a:tr h="129354">
                <a:tc>
                  <a:txBody>
                    <a:bodyPr/>
                    <a:lstStyle/>
                    <a:p>
                      <a:pPr>
                        <a:buNone/>
                      </a:pPr>
                      <a:r>
                        <a:rPr lang="zh-CN" altLang="en-US" sz="1600"/>
                        <a:t>一致性 </a:t>
                      </a:r>
                      <a:r>
                        <a:rPr lang="en-US" sz="1600"/>
                        <a:t>Consistency</a:t>
                      </a:r>
                    </a:p>
                  </a:txBody>
                  <a:tcPr marL="51435" marR="51435" marT="25717" marB="25717"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需求之间是否存在矛盾或冲突？术语是否统一</a:t>
                      </a:r>
                    </a:p>
                  </a:txBody>
                  <a:tcPr marL="51435" marR="51435" marT="25717" marB="25717"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需求交叉审查、术语表（</a:t>
                      </a:r>
                      <a:r>
                        <a:rPr lang="en-US" altLang="zh-CN" sz="1600"/>
                        <a:t>Glossary</a:t>
                      </a:r>
                      <a:r>
                        <a:rPr lang="zh-CN" altLang="en-US" sz="1600"/>
                        <a:t>）</a:t>
                      </a:r>
                      <a:br>
                        <a:rPr lang="zh-CN" altLang="en-US" sz="1600"/>
                      </a:br>
                      <a:r>
                        <a:rPr lang="zh-CN" altLang="en-US" sz="1600"/>
                        <a:t>自动化一致性检查工具</a:t>
                      </a:r>
                    </a:p>
                  </a:txBody>
                  <a:tcPr marL="51435" marR="51435" marT="25717" marB="25717"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2435104"/>
                  </a:ext>
                </a:extLst>
              </a:tr>
              <a:tr h="129354">
                <a:tc>
                  <a:txBody>
                    <a:bodyPr/>
                    <a:lstStyle/>
                    <a:p>
                      <a:pPr>
                        <a:buNone/>
                      </a:pPr>
                      <a:r>
                        <a:rPr lang="zh-CN" altLang="en-US" sz="1600"/>
                        <a:t>可行性 </a:t>
                      </a:r>
                      <a:r>
                        <a:rPr lang="en-US" sz="1600"/>
                        <a:t>Feasibility</a:t>
                      </a:r>
                    </a:p>
                  </a:txBody>
                  <a:tcPr marL="51435" marR="51435" marT="25717" marB="25717"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dirty="0"/>
                        <a:t>技术上能否实现？成本</a:t>
                      </a:r>
                      <a:r>
                        <a:rPr lang="en-US" altLang="zh-CN" sz="1600" dirty="0"/>
                        <a:t>/</a:t>
                      </a:r>
                      <a:r>
                        <a:rPr lang="zh-CN" altLang="en-US" sz="1600" dirty="0"/>
                        <a:t>时间是否可控？避免“为了开发而开发”</a:t>
                      </a:r>
                    </a:p>
                  </a:txBody>
                  <a:tcPr marL="51435" marR="51435" marT="25717" marB="25717"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技术预研（</a:t>
                      </a:r>
                      <a:r>
                        <a:rPr lang="en-US" altLang="zh-CN" sz="1600"/>
                        <a:t>PoC</a:t>
                      </a:r>
                      <a:r>
                        <a:rPr lang="zh-CN" altLang="en-US" sz="1600"/>
                        <a:t>）、架构师评估</a:t>
                      </a:r>
                      <a:br>
                        <a:rPr lang="zh-CN" altLang="en-US" sz="1600"/>
                      </a:br>
                      <a:r>
                        <a:rPr lang="en-US" altLang="zh-CN" sz="1600"/>
                        <a:t>ROI </a:t>
                      </a:r>
                      <a:r>
                        <a:rPr lang="zh-CN" altLang="en-US" sz="1600"/>
                        <a:t>分析</a:t>
                      </a:r>
                    </a:p>
                  </a:txBody>
                  <a:tcPr marL="51435" marR="51435" marT="25717" marB="25717"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6258700"/>
                  </a:ext>
                </a:extLst>
              </a:tr>
              <a:tr h="129354">
                <a:tc>
                  <a:txBody>
                    <a:bodyPr/>
                    <a:lstStyle/>
                    <a:p>
                      <a:pPr>
                        <a:buNone/>
                      </a:pPr>
                      <a:r>
                        <a:rPr lang="zh-CN" altLang="en-US" sz="1600"/>
                        <a:t>必要性 </a:t>
                      </a:r>
                      <a:r>
                        <a:rPr lang="en-US" sz="1600"/>
                        <a:t>Necessity</a:t>
                      </a:r>
                    </a:p>
                  </a:txBody>
                  <a:tcPr marL="51435" marR="51435" marT="25717" marB="25717"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该需求是否真正影响核心价值？是否属于 </a:t>
                      </a:r>
                      <a:r>
                        <a:rPr lang="en-US" altLang="zh-CN" sz="1600"/>
                        <a:t>MVP </a:t>
                      </a:r>
                      <a:r>
                        <a:rPr lang="zh-CN" altLang="en-US" sz="1600"/>
                        <a:t>范围</a:t>
                      </a:r>
                    </a:p>
                  </a:txBody>
                  <a:tcPr marL="51435" marR="51435" marT="25717" marB="25717"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err="1"/>
                        <a:t>MoSCoW</a:t>
                      </a:r>
                      <a:r>
                        <a:rPr lang="en-US" sz="1600"/>
                        <a:t> </a:t>
                      </a:r>
                      <a:r>
                        <a:rPr lang="zh-CN" altLang="en-US" sz="1600"/>
                        <a:t>优先级排序、</a:t>
                      </a:r>
                      <a:r>
                        <a:rPr lang="en-US" sz="1600"/>
                        <a:t>Kano </a:t>
                      </a:r>
                      <a:r>
                        <a:rPr lang="zh-CN" altLang="en-US" sz="1600"/>
                        <a:t>模型分析</a:t>
                      </a:r>
                      <a:br>
                        <a:rPr lang="zh-CN" altLang="en-US" sz="1600"/>
                      </a:br>
                      <a:r>
                        <a:rPr lang="zh-CN" altLang="en-US" sz="1600"/>
                        <a:t>业务价值映射</a:t>
                      </a:r>
                    </a:p>
                  </a:txBody>
                  <a:tcPr marL="51435" marR="51435" marT="25717" marB="25717"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0193635"/>
                  </a:ext>
                </a:extLst>
              </a:tr>
              <a:tr h="129354">
                <a:tc>
                  <a:txBody>
                    <a:bodyPr/>
                    <a:lstStyle/>
                    <a:p>
                      <a:pPr>
                        <a:buNone/>
                      </a:pPr>
                      <a:r>
                        <a:rPr lang="zh-CN" altLang="en-US" sz="1600"/>
                        <a:t>可检验性 </a:t>
                      </a:r>
                      <a:r>
                        <a:rPr lang="en-US" sz="1600"/>
                        <a:t>Verifiability </a:t>
                      </a:r>
                    </a:p>
                  </a:txBody>
                  <a:tcPr marL="51435" marR="51435" marT="25717" marB="25717"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是否能通过测试证明其被满足？是否有明确验收标准</a:t>
                      </a:r>
                    </a:p>
                  </a:txBody>
                  <a:tcPr marL="51435" marR="51435" marT="25717" marB="25717"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a:t>Acceptance Criteria </a:t>
                      </a:r>
                      <a:r>
                        <a:rPr lang="zh-CN" altLang="en-US" sz="1600"/>
                        <a:t>编写、</a:t>
                      </a:r>
                      <a:r>
                        <a:rPr lang="en-US" sz="1600"/>
                        <a:t>Gherkin </a:t>
                      </a:r>
                      <a:r>
                        <a:rPr lang="zh-CN" altLang="en-US" sz="1600"/>
                        <a:t>语法</a:t>
                      </a:r>
                      <a:br>
                        <a:rPr lang="en-US" sz="1600"/>
                      </a:br>
                      <a:r>
                        <a:rPr lang="zh-CN" altLang="en-US" sz="1600"/>
                        <a:t>测试用例前置评审</a:t>
                      </a:r>
                    </a:p>
                  </a:txBody>
                  <a:tcPr marL="51435" marR="51435" marT="25717" marB="25717"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4944801"/>
                  </a:ext>
                </a:extLst>
              </a:tr>
              <a:tr h="129354">
                <a:tc>
                  <a:txBody>
                    <a:bodyPr/>
                    <a:lstStyle/>
                    <a:p>
                      <a:pPr>
                        <a:buNone/>
                      </a:pPr>
                      <a:r>
                        <a:rPr lang="zh-CN" altLang="en-US" sz="1600"/>
                        <a:t>可跟踪性 </a:t>
                      </a:r>
                      <a:r>
                        <a:rPr lang="en-US" sz="1600"/>
                        <a:t>Traceability</a:t>
                      </a:r>
                    </a:p>
                  </a:txBody>
                  <a:tcPr marL="51435" marR="51435" marT="25717" marB="25717"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需求能否溯源，并向下关联设计、代码、测试</a:t>
                      </a:r>
                    </a:p>
                  </a:txBody>
                  <a:tcPr marL="51435" marR="51435" marT="25717" marB="25717"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需求追踪矩阵 </a:t>
                      </a:r>
                      <a:r>
                        <a:rPr lang="en-US" sz="1600"/>
                        <a:t>RTM</a:t>
                      </a:r>
                      <a:r>
                        <a:rPr lang="zh-CN" altLang="en-US" sz="1600"/>
                        <a:t>、</a:t>
                      </a:r>
                      <a:r>
                        <a:rPr lang="en-US" altLang="zh-CN" sz="1600"/>
                        <a:t>Jira/TAPD </a:t>
                      </a:r>
                      <a:r>
                        <a:rPr lang="zh-CN" altLang="en-US" sz="1600"/>
                        <a:t>等工具链路</a:t>
                      </a:r>
                      <a:br>
                        <a:rPr lang="en-US" sz="1600"/>
                      </a:br>
                      <a:r>
                        <a:rPr lang="en-US" sz="1600"/>
                        <a:t>Git/GitHub </a:t>
                      </a:r>
                      <a:r>
                        <a:rPr lang="zh-CN" altLang="en-US" sz="1600"/>
                        <a:t>版本控制 </a:t>
                      </a:r>
                      <a:r>
                        <a:rPr lang="en-US" altLang="zh-CN" sz="1600"/>
                        <a:t>+ </a:t>
                      </a:r>
                      <a:r>
                        <a:rPr lang="en-US" sz="1600"/>
                        <a:t>Commit Message </a:t>
                      </a:r>
                      <a:r>
                        <a:rPr lang="zh-CN" altLang="en-US" sz="1600"/>
                        <a:t>规范</a:t>
                      </a:r>
                    </a:p>
                  </a:txBody>
                  <a:tcPr marL="51435" marR="51435" marT="25717" marB="25717"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2333913"/>
                  </a:ext>
                </a:extLst>
              </a:tr>
              <a:tr h="129354">
                <a:tc>
                  <a:txBody>
                    <a:bodyPr/>
                    <a:lstStyle/>
                    <a:p>
                      <a:pPr>
                        <a:buNone/>
                      </a:pPr>
                      <a:r>
                        <a:rPr lang="zh-CN" altLang="en-US" sz="1600"/>
                        <a:t>签字确认 </a:t>
                      </a:r>
                      <a:r>
                        <a:rPr lang="en-US" sz="1600"/>
                        <a:t>Sign-off</a:t>
                      </a:r>
                    </a:p>
                  </a:txBody>
                  <a:tcPr marL="51435" marR="51435" marT="25717" marB="25717"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所有关键干系人（产品、开发、测试、客户）是否正式批准</a:t>
                      </a:r>
                    </a:p>
                  </a:txBody>
                  <a:tcPr marL="51435" marR="51435" marT="25717" marB="25717"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dirty="0"/>
                        <a:t>电子签名系统、会议评审纪要 </a:t>
                      </a:r>
                      <a:r>
                        <a:rPr lang="en-US" altLang="zh-CN" sz="1600" dirty="0"/>
                        <a:t>+ </a:t>
                      </a:r>
                      <a:r>
                        <a:rPr lang="zh-CN" altLang="en-US" sz="1600" dirty="0"/>
                        <a:t>邮件确认</a:t>
                      </a:r>
                      <a:br>
                        <a:rPr lang="zh-CN" altLang="en-US" sz="1600" dirty="0"/>
                      </a:br>
                      <a:r>
                        <a:rPr lang="zh-CN" altLang="en-US" sz="1600" dirty="0"/>
                        <a:t>项目管理系统中的“批准”状态</a:t>
                      </a:r>
                    </a:p>
                  </a:txBody>
                  <a:tcPr marL="51435" marR="51435" marT="25717" marB="25717"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58555883"/>
                  </a:ext>
                </a:extLst>
              </a:tr>
            </a:tbl>
          </a:graphicData>
        </a:graphic>
      </p:graphicFrame>
      <p:sp>
        <p:nvSpPr>
          <p:cNvPr id="4" name="文本占位符 3">
            <a:extLst>
              <a:ext uri="{FF2B5EF4-FFF2-40B4-BE49-F238E27FC236}">
                <a16:creationId xmlns:a16="http://schemas.microsoft.com/office/drawing/2014/main" id="{93375026-EC7D-5373-3793-5E3779A3EDE9}"/>
              </a:ext>
            </a:extLst>
          </p:cNvPr>
          <p:cNvSpPr>
            <a:spLocks noGrp="1"/>
          </p:cNvSpPr>
          <p:nvPr>
            <p:ph type="body" sz="quarter" idx="10"/>
          </p:nvPr>
        </p:nvSpPr>
        <p:spPr>
          <a:xfrm>
            <a:off x="7071919" y="448519"/>
            <a:ext cx="4424080" cy="338554"/>
          </a:xfrm>
        </p:spPr>
        <p:txBody>
          <a:bodyPr/>
          <a:lstStyle/>
          <a:p>
            <a:r>
              <a:rPr lang="en-US" altLang="zh-CN"/>
              <a:t>Requirement</a:t>
            </a:r>
            <a:endParaRPr lang="zh-CN" altLang="en-US"/>
          </a:p>
        </p:txBody>
      </p:sp>
    </p:spTree>
    <p:extLst>
      <p:ext uri="{BB962C8B-B14F-4D97-AF65-F5344CB8AC3E}">
        <p14:creationId xmlns:p14="http://schemas.microsoft.com/office/powerpoint/2010/main" val="3649789274"/>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7BDCF-099C-2B4C-5648-DDED6DADDB6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BE8222B-9DEE-35BF-DE89-71A367132293}"/>
              </a:ext>
            </a:extLst>
          </p:cNvPr>
          <p:cNvSpPr>
            <a:spLocks noGrp="1"/>
          </p:cNvSpPr>
          <p:nvPr>
            <p:ph type="title"/>
          </p:nvPr>
        </p:nvSpPr>
        <p:spPr>
          <a:xfrm>
            <a:off x="792000" y="360000"/>
            <a:ext cx="6375921" cy="429413"/>
          </a:xfrm>
        </p:spPr>
        <p:txBody>
          <a:bodyPr/>
          <a:lstStyle/>
          <a:p>
            <a:r>
              <a:rPr lang="en-US" altLang="zh-CN"/>
              <a:t>1.2.5 </a:t>
            </a:r>
            <a:r>
              <a:rPr lang="zh-CN" altLang="en-US"/>
              <a:t>需求变更</a:t>
            </a:r>
          </a:p>
        </p:txBody>
      </p:sp>
      <p:sp>
        <p:nvSpPr>
          <p:cNvPr id="3" name="内容占位符 2">
            <a:extLst>
              <a:ext uri="{FF2B5EF4-FFF2-40B4-BE49-F238E27FC236}">
                <a16:creationId xmlns:a16="http://schemas.microsoft.com/office/drawing/2014/main" id="{E84D42A3-DE25-D4F8-B6AC-DDE93412782F}"/>
              </a:ext>
            </a:extLst>
          </p:cNvPr>
          <p:cNvSpPr>
            <a:spLocks noGrp="1"/>
          </p:cNvSpPr>
          <p:nvPr>
            <p:ph idx="1"/>
          </p:nvPr>
        </p:nvSpPr>
        <p:spPr>
          <a:xfrm>
            <a:off x="696000" y="864000"/>
            <a:ext cx="10800000" cy="5400000"/>
          </a:xfrm>
        </p:spPr>
        <p:txBody>
          <a:bodyPr/>
          <a:lstStyle/>
          <a:p>
            <a:r>
              <a:rPr lang="zh-CN" altLang="en-US" dirty="0"/>
              <a:t>客观存在：对事务的认知由浅入深、逐步深入、逐步明晰</a:t>
            </a:r>
            <a:endParaRPr lang="en-US" altLang="zh-CN" dirty="0"/>
          </a:p>
          <a:p>
            <a:r>
              <a:rPr lang="zh-CN" altLang="en-US" dirty="0"/>
              <a:t>正视并接受</a:t>
            </a:r>
            <a:endParaRPr lang="en-US" altLang="zh-CN" dirty="0"/>
          </a:p>
          <a:p>
            <a:r>
              <a:rPr lang="zh-CN" altLang="en-US" dirty="0"/>
              <a:t>由变更控制委员会</a:t>
            </a:r>
            <a:r>
              <a:rPr lang="en-US" altLang="zh-CN" dirty="0"/>
              <a:t>SCCB(Software  Change Control Board)</a:t>
            </a:r>
            <a:r>
              <a:rPr lang="zh-CN" altLang="en-US" dirty="0"/>
              <a:t>审核并确定</a:t>
            </a:r>
            <a:endParaRPr lang="en-US" altLang="zh-CN" dirty="0"/>
          </a:p>
          <a:p>
            <a:r>
              <a:rPr lang="zh-CN" altLang="en-US" dirty="0"/>
              <a:t>主要工作</a:t>
            </a:r>
            <a:endParaRPr lang="en-US" altLang="zh-CN" dirty="0"/>
          </a:p>
          <a:p>
            <a:pPr lvl="1"/>
            <a:r>
              <a:rPr lang="zh-CN" altLang="en-US" dirty="0"/>
              <a:t>建立需求基线 </a:t>
            </a:r>
            <a:r>
              <a:rPr lang="en-US" altLang="zh-CN" dirty="0"/>
              <a:t>Requirement Baseline</a:t>
            </a:r>
          </a:p>
          <a:p>
            <a:pPr lvl="1"/>
            <a:r>
              <a:rPr lang="zh-CN" altLang="en-US" dirty="0"/>
              <a:t>确定需求变更过程</a:t>
            </a:r>
            <a:endParaRPr lang="en-US" altLang="zh-CN" dirty="0"/>
          </a:p>
          <a:p>
            <a:pPr lvl="1"/>
            <a:r>
              <a:rPr lang="zh-CN" altLang="en-US" dirty="0"/>
              <a:t>建立变更控制委员会 </a:t>
            </a:r>
            <a:r>
              <a:rPr lang="en-US" altLang="zh-CN" dirty="0">
                <a:hlinkClick r:id="rId3"/>
              </a:rPr>
              <a:t>SCCB</a:t>
            </a:r>
            <a:endParaRPr lang="en-US" altLang="zh-CN" dirty="0"/>
          </a:p>
          <a:p>
            <a:pPr lvl="1"/>
            <a:r>
              <a:rPr lang="zh-CN" altLang="en-US" dirty="0"/>
              <a:t>进行变更影响分析</a:t>
            </a:r>
            <a:endParaRPr lang="en-US" altLang="zh-CN" dirty="0"/>
          </a:p>
          <a:p>
            <a:pPr lvl="1"/>
            <a:r>
              <a:rPr lang="zh-CN" altLang="en-US" dirty="0"/>
              <a:t>跟踪受影响的部分</a:t>
            </a:r>
            <a:endParaRPr lang="en-US" altLang="zh-CN" dirty="0"/>
          </a:p>
          <a:p>
            <a:pPr lvl="1"/>
            <a:r>
              <a:rPr lang="zh-CN" altLang="en-US" dirty="0"/>
              <a:t>建立变更记录</a:t>
            </a:r>
            <a:endParaRPr lang="en-US" altLang="zh-CN" dirty="0"/>
          </a:p>
          <a:p>
            <a:pPr lvl="1"/>
            <a:r>
              <a:rPr lang="zh-CN" altLang="en-US" dirty="0"/>
              <a:t>跟踪状态衡量稳定</a:t>
            </a:r>
            <a:endParaRPr lang="en-US" altLang="zh-CN" dirty="0"/>
          </a:p>
          <a:p>
            <a:pPr lvl="1"/>
            <a:endParaRPr lang="zh-CN" altLang="en-US" dirty="0"/>
          </a:p>
        </p:txBody>
      </p:sp>
      <p:sp>
        <p:nvSpPr>
          <p:cNvPr id="4" name="文本占位符 3">
            <a:extLst>
              <a:ext uri="{FF2B5EF4-FFF2-40B4-BE49-F238E27FC236}">
                <a16:creationId xmlns:a16="http://schemas.microsoft.com/office/drawing/2014/main" id="{62B371E0-993C-6225-64CC-403DEEF51240}"/>
              </a:ext>
            </a:extLst>
          </p:cNvPr>
          <p:cNvSpPr>
            <a:spLocks noGrp="1"/>
          </p:cNvSpPr>
          <p:nvPr>
            <p:ph type="body" sz="quarter" idx="10"/>
          </p:nvPr>
        </p:nvSpPr>
        <p:spPr>
          <a:xfrm>
            <a:off x="7071919" y="448519"/>
            <a:ext cx="4424080" cy="338554"/>
          </a:xfrm>
        </p:spPr>
        <p:txBody>
          <a:bodyPr/>
          <a:lstStyle/>
          <a:p>
            <a:r>
              <a:rPr lang="en-US" altLang="zh-CN"/>
              <a:t>Requirement</a:t>
            </a:r>
            <a:endParaRPr lang="zh-CN" altLang="en-US"/>
          </a:p>
        </p:txBody>
      </p:sp>
    </p:spTree>
    <p:extLst>
      <p:ext uri="{BB962C8B-B14F-4D97-AF65-F5344CB8AC3E}">
        <p14:creationId xmlns:p14="http://schemas.microsoft.com/office/powerpoint/2010/main" val="1851019947"/>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圆角 4">
            <a:extLst>
              <a:ext uri="{FF2B5EF4-FFF2-40B4-BE49-F238E27FC236}">
                <a16:creationId xmlns:a16="http://schemas.microsoft.com/office/drawing/2014/main" id="{179F8868-9064-B42D-B206-D1E063593182}"/>
              </a:ext>
            </a:extLst>
          </p:cNvPr>
          <p:cNvSpPr/>
          <p:nvPr/>
        </p:nvSpPr>
        <p:spPr>
          <a:xfrm>
            <a:off x="5592479" y="501445"/>
            <a:ext cx="1800000" cy="432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ysClr val="windowText" lastClr="000000"/>
                </a:solidFill>
              </a:rPr>
              <a:t>需求分析方法</a:t>
            </a:r>
          </a:p>
        </p:txBody>
      </p:sp>
      <p:sp>
        <p:nvSpPr>
          <p:cNvPr id="7" name="矩形: 圆角 6">
            <a:extLst>
              <a:ext uri="{FF2B5EF4-FFF2-40B4-BE49-F238E27FC236}">
                <a16:creationId xmlns:a16="http://schemas.microsoft.com/office/drawing/2014/main" id="{8AA2A745-2656-1994-7370-89EA19D4711D}"/>
              </a:ext>
            </a:extLst>
          </p:cNvPr>
          <p:cNvSpPr/>
          <p:nvPr/>
        </p:nvSpPr>
        <p:spPr>
          <a:xfrm>
            <a:off x="2820816" y="1572851"/>
            <a:ext cx="1800000" cy="432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ysClr val="windowText" lastClr="000000"/>
                </a:solidFill>
              </a:rPr>
              <a:t>传统需求分析方法</a:t>
            </a:r>
          </a:p>
        </p:txBody>
      </p:sp>
      <p:sp>
        <p:nvSpPr>
          <p:cNvPr id="8" name="矩形: 圆角 7">
            <a:extLst>
              <a:ext uri="{FF2B5EF4-FFF2-40B4-BE49-F238E27FC236}">
                <a16:creationId xmlns:a16="http://schemas.microsoft.com/office/drawing/2014/main" id="{B8A46783-418A-B419-A532-7121BE01247C}"/>
              </a:ext>
            </a:extLst>
          </p:cNvPr>
          <p:cNvSpPr/>
          <p:nvPr/>
        </p:nvSpPr>
        <p:spPr>
          <a:xfrm>
            <a:off x="8364142" y="1572851"/>
            <a:ext cx="1800000" cy="432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ysClr val="windowText" lastClr="000000"/>
                </a:solidFill>
              </a:rPr>
              <a:t>敏捷需求分析方法</a:t>
            </a:r>
          </a:p>
        </p:txBody>
      </p:sp>
      <p:sp>
        <p:nvSpPr>
          <p:cNvPr id="9" name="矩形: 圆角 8">
            <a:extLst>
              <a:ext uri="{FF2B5EF4-FFF2-40B4-BE49-F238E27FC236}">
                <a16:creationId xmlns:a16="http://schemas.microsoft.com/office/drawing/2014/main" id="{9262A569-7822-3DD3-013E-56564334050D}"/>
              </a:ext>
            </a:extLst>
          </p:cNvPr>
          <p:cNvSpPr/>
          <p:nvPr/>
        </p:nvSpPr>
        <p:spPr>
          <a:xfrm>
            <a:off x="1016596" y="2819400"/>
            <a:ext cx="1800000" cy="432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ysClr val="windowText" lastClr="000000"/>
                </a:solidFill>
              </a:rPr>
              <a:t>基于数据流</a:t>
            </a:r>
          </a:p>
        </p:txBody>
      </p:sp>
      <p:sp>
        <p:nvSpPr>
          <p:cNvPr id="10" name="矩形: 圆角 9">
            <a:extLst>
              <a:ext uri="{FF2B5EF4-FFF2-40B4-BE49-F238E27FC236}">
                <a16:creationId xmlns:a16="http://schemas.microsoft.com/office/drawing/2014/main" id="{2C6F5B37-10B1-3FD8-CC8E-B73AC6FF2862}"/>
              </a:ext>
            </a:extLst>
          </p:cNvPr>
          <p:cNvSpPr/>
          <p:nvPr/>
        </p:nvSpPr>
        <p:spPr>
          <a:xfrm>
            <a:off x="4625035" y="2819400"/>
            <a:ext cx="1800000" cy="432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ysClr val="windowText" lastClr="000000"/>
                </a:solidFill>
              </a:rPr>
              <a:t>基于</a:t>
            </a:r>
            <a:r>
              <a:rPr lang="en-US" altLang="zh-CN" sz="1400">
                <a:solidFill>
                  <a:sysClr val="windowText" lastClr="000000"/>
                </a:solidFill>
              </a:rPr>
              <a:t>UML</a:t>
            </a:r>
            <a:endParaRPr lang="zh-CN" altLang="en-US" sz="1400">
              <a:solidFill>
                <a:sysClr val="windowText" lastClr="000000"/>
              </a:solidFill>
            </a:endParaRPr>
          </a:p>
        </p:txBody>
      </p:sp>
      <p:cxnSp>
        <p:nvCxnSpPr>
          <p:cNvPr id="12" name="连接符: 肘形 11">
            <a:extLst>
              <a:ext uri="{FF2B5EF4-FFF2-40B4-BE49-F238E27FC236}">
                <a16:creationId xmlns:a16="http://schemas.microsoft.com/office/drawing/2014/main" id="{E85A3736-4AD7-9A99-0BDF-6711BB3C373C}"/>
              </a:ext>
            </a:extLst>
          </p:cNvPr>
          <p:cNvCxnSpPr>
            <a:cxnSpLocks/>
            <a:stCxn id="7" idx="1"/>
            <a:endCxn id="9" idx="0"/>
          </p:cNvCxnSpPr>
          <p:nvPr/>
        </p:nvCxnSpPr>
        <p:spPr>
          <a:xfrm rot="10800000" flipV="1">
            <a:off x="1916596" y="1788850"/>
            <a:ext cx="904220" cy="103054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连接符: 肘形 13">
            <a:extLst>
              <a:ext uri="{FF2B5EF4-FFF2-40B4-BE49-F238E27FC236}">
                <a16:creationId xmlns:a16="http://schemas.microsoft.com/office/drawing/2014/main" id="{FB6D64F2-F518-344A-D596-6EEB039076A4}"/>
              </a:ext>
            </a:extLst>
          </p:cNvPr>
          <p:cNvCxnSpPr>
            <a:cxnSpLocks/>
            <a:stCxn id="7" idx="3"/>
            <a:endCxn id="10" idx="0"/>
          </p:cNvCxnSpPr>
          <p:nvPr/>
        </p:nvCxnSpPr>
        <p:spPr>
          <a:xfrm>
            <a:off x="4620816" y="1788851"/>
            <a:ext cx="904219" cy="103054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矩形: 圆角 14">
            <a:extLst>
              <a:ext uri="{FF2B5EF4-FFF2-40B4-BE49-F238E27FC236}">
                <a16:creationId xmlns:a16="http://schemas.microsoft.com/office/drawing/2014/main" id="{1EA42520-07D1-0C5C-2E5A-452F83D6FCE0}"/>
              </a:ext>
            </a:extLst>
          </p:cNvPr>
          <p:cNvSpPr/>
          <p:nvPr/>
        </p:nvSpPr>
        <p:spPr>
          <a:xfrm>
            <a:off x="1016596" y="3438525"/>
            <a:ext cx="2880000" cy="432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400">
                <a:solidFill>
                  <a:sysClr val="windowText" lastClr="000000"/>
                </a:solidFill>
              </a:rPr>
              <a:t>系统流程图 </a:t>
            </a:r>
            <a:r>
              <a:rPr lang="en-US" altLang="zh-CN" sz="1400">
                <a:solidFill>
                  <a:sysClr val="windowText" lastClr="000000"/>
                </a:solidFill>
              </a:rPr>
              <a:t>System Flowchart</a:t>
            </a:r>
            <a:endParaRPr lang="zh-CN" altLang="en-US" sz="1400">
              <a:solidFill>
                <a:sysClr val="windowText" lastClr="000000"/>
              </a:solidFill>
            </a:endParaRPr>
          </a:p>
        </p:txBody>
      </p:sp>
      <p:sp>
        <p:nvSpPr>
          <p:cNvPr id="16" name="矩形: 圆角 15">
            <a:extLst>
              <a:ext uri="{FF2B5EF4-FFF2-40B4-BE49-F238E27FC236}">
                <a16:creationId xmlns:a16="http://schemas.microsoft.com/office/drawing/2014/main" id="{5764132A-ABCB-CECA-B693-F4882887E790}"/>
              </a:ext>
            </a:extLst>
          </p:cNvPr>
          <p:cNvSpPr/>
          <p:nvPr/>
        </p:nvSpPr>
        <p:spPr>
          <a:xfrm>
            <a:off x="1016596" y="3984833"/>
            <a:ext cx="2880000" cy="432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400">
                <a:solidFill>
                  <a:sysClr val="windowText" lastClr="000000"/>
                </a:solidFill>
              </a:rPr>
              <a:t>数据流 </a:t>
            </a:r>
            <a:r>
              <a:rPr lang="en-US" altLang="zh-CN" sz="1400">
                <a:solidFill>
                  <a:sysClr val="windowText" lastClr="000000"/>
                </a:solidFill>
              </a:rPr>
              <a:t>Data Flow Diagram</a:t>
            </a:r>
            <a:endParaRPr lang="zh-CN" altLang="en-US" sz="1400">
              <a:solidFill>
                <a:sysClr val="windowText" lastClr="000000"/>
              </a:solidFill>
            </a:endParaRPr>
          </a:p>
        </p:txBody>
      </p:sp>
      <p:sp>
        <p:nvSpPr>
          <p:cNvPr id="17" name="文本框 16">
            <a:extLst>
              <a:ext uri="{FF2B5EF4-FFF2-40B4-BE49-F238E27FC236}">
                <a16:creationId xmlns:a16="http://schemas.microsoft.com/office/drawing/2014/main" id="{683F1ED6-5EF7-7DAE-BED2-BDC31C147A38}"/>
              </a:ext>
            </a:extLst>
          </p:cNvPr>
          <p:cNvSpPr txBox="1"/>
          <p:nvPr/>
        </p:nvSpPr>
        <p:spPr>
          <a:xfrm>
            <a:off x="2669935" y="4525296"/>
            <a:ext cx="902811" cy="307777"/>
          </a:xfrm>
          <a:prstGeom prst="rect">
            <a:avLst/>
          </a:prstGeom>
          <a:noFill/>
          <a:ln>
            <a:solidFill>
              <a:schemeClr val="tx1"/>
            </a:solidFill>
          </a:ln>
        </p:spPr>
        <p:txBody>
          <a:bodyPr wrap="none" rtlCol="0">
            <a:spAutoFit/>
          </a:bodyPr>
          <a:lstStyle/>
          <a:p>
            <a:r>
              <a:rPr lang="zh-CN" altLang="en-US" sz="1400">
                <a:solidFill>
                  <a:sysClr val="windowText" lastClr="000000"/>
                </a:solidFill>
              </a:rPr>
              <a:t>数据词典</a:t>
            </a:r>
          </a:p>
        </p:txBody>
      </p:sp>
      <p:cxnSp>
        <p:nvCxnSpPr>
          <p:cNvPr id="25" name="连接符: 肘形 24">
            <a:extLst>
              <a:ext uri="{FF2B5EF4-FFF2-40B4-BE49-F238E27FC236}">
                <a16:creationId xmlns:a16="http://schemas.microsoft.com/office/drawing/2014/main" id="{55A99DA7-19C1-A104-7018-836F25C3A15F}"/>
              </a:ext>
            </a:extLst>
          </p:cNvPr>
          <p:cNvCxnSpPr>
            <a:cxnSpLocks/>
            <a:stCxn id="16" idx="2"/>
            <a:endCxn id="17" idx="1"/>
          </p:cNvCxnSpPr>
          <p:nvPr/>
        </p:nvCxnSpPr>
        <p:spPr>
          <a:xfrm rot="16200000" flipH="1">
            <a:off x="2432089" y="4441339"/>
            <a:ext cx="262352" cy="21333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连接符: 肘形 26">
            <a:extLst>
              <a:ext uri="{FF2B5EF4-FFF2-40B4-BE49-F238E27FC236}">
                <a16:creationId xmlns:a16="http://schemas.microsoft.com/office/drawing/2014/main" id="{A22A1B8B-396C-FE80-5C67-B050FA23AE00}"/>
              </a:ext>
            </a:extLst>
          </p:cNvPr>
          <p:cNvCxnSpPr>
            <a:stCxn id="5" idx="1"/>
            <a:endCxn id="7" idx="0"/>
          </p:cNvCxnSpPr>
          <p:nvPr/>
        </p:nvCxnSpPr>
        <p:spPr>
          <a:xfrm rot="10800000" flipV="1">
            <a:off x="3720817" y="717445"/>
            <a:ext cx="1871663" cy="855406"/>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连接符: 肘形 28">
            <a:extLst>
              <a:ext uri="{FF2B5EF4-FFF2-40B4-BE49-F238E27FC236}">
                <a16:creationId xmlns:a16="http://schemas.microsoft.com/office/drawing/2014/main" id="{22A94693-4798-D6A2-628A-2023A3357651}"/>
              </a:ext>
            </a:extLst>
          </p:cNvPr>
          <p:cNvCxnSpPr>
            <a:stCxn id="5" idx="3"/>
            <a:endCxn id="8" idx="0"/>
          </p:cNvCxnSpPr>
          <p:nvPr/>
        </p:nvCxnSpPr>
        <p:spPr>
          <a:xfrm>
            <a:off x="7392479" y="717445"/>
            <a:ext cx="1871663" cy="855406"/>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连接符: 肘形 32">
            <a:extLst>
              <a:ext uri="{FF2B5EF4-FFF2-40B4-BE49-F238E27FC236}">
                <a16:creationId xmlns:a16="http://schemas.microsoft.com/office/drawing/2014/main" id="{3BA5256F-D6B0-14BB-889D-C10C72C8184E}"/>
              </a:ext>
            </a:extLst>
          </p:cNvPr>
          <p:cNvCxnSpPr>
            <a:cxnSpLocks/>
            <a:stCxn id="9" idx="1"/>
            <a:endCxn id="34" idx="2"/>
          </p:cNvCxnSpPr>
          <p:nvPr/>
        </p:nvCxnSpPr>
        <p:spPr>
          <a:xfrm rot="10800000" flipV="1">
            <a:off x="783562" y="3035399"/>
            <a:ext cx="233034" cy="892279"/>
          </a:xfrm>
          <a:prstGeom prst="bentConnector3">
            <a:avLst>
              <a:gd name="adj1" fmla="val 19809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椭圆 33">
            <a:extLst>
              <a:ext uri="{FF2B5EF4-FFF2-40B4-BE49-F238E27FC236}">
                <a16:creationId xmlns:a16="http://schemas.microsoft.com/office/drawing/2014/main" id="{5E35368F-C7E4-785F-7D5F-0A88D1C45DD3}"/>
              </a:ext>
            </a:extLst>
          </p:cNvPr>
          <p:cNvSpPr/>
          <p:nvPr/>
        </p:nvSpPr>
        <p:spPr>
          <a:xfrm>
            <a:off x="783562" y="3909679"/>
            <a:ext cx="36000" cy="360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ysClr val="windowText" lastClr="000000"/>
              </a:solidFill>
            </a:endParaRPr>
          </a:p>
        </p:txBody>
      </p:sp>
      <p:sp>
        <p:nvSpPr>
          <p:cNvPr id="39" name="矩形: 圆角 38">
            <a:extLst>
              <a:ext uri="{FF2B5EF4-FFF2-40B4-BE49-F238E27FC236}">
                <a16:creationId xmlns:a16="http://schemas.microsoft.com/office/drawing/2014/main" id="{43CA4D45-39C3-49CE-9423-B5BFDEDCCB52}"/>
              </a:ext>
            </a:extLst>
          </p:cNvPr>
          <p:cNvSpPr/>
          <p:nvPr/>
        </p:nvSpPr>
        <p:spPr>
          <a:xfrm>
            <a:off x="4617109" y="3438525"/>
            <a:ext cx="2160000" cy="432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400">
                <a:solidFill>
                  <a:sysClr val="windowText" lastClr="000000"/>
                </a:solidFill>
              </a:rPr>
              <a:t>用例图 </a:t>
            </a:r>
            <a:r>
              <a:rPr lang="en-US" altLang="zh-CN" sz="1400">
                <a:solidFill>
                  <a:sysClr val="windowText" lastClr="000000"/>
                </a:solidFill>
              </a:rPr>
              <a:t>Use Case</a:t>
            </a:r>
            <a:endParaRPr lang="zh-CN" altLang="en-US" sz="1400">
              <a:solidFill>
                <a:sysClr val="windowText" lastClr="000000"/>
              </a:solidFill>
            </a:endParaRPr>
          </a:p>
        </p:txBody>
      </p:sp>
      <p:sp>
        <p:nvSpPr>
          <p:cNvPr id="40" name="矩形: 圆角 39">
            <a:extLst>
              <a:ext uri="{FF2B5EF4-FFF2-40B4-BE49-F238E27FC236}">
                <a16:creationId xmlns:a16="http://schemas.microsoft.com/office/drawing/2014/main" id="{782E889C-F799-D4A3-C911-5B5E7CE723E1}"/>
              </a:ext>
            </a:extLst>
          </p:cNvPr>
          <p:cNvSpPr/>
          <p:nvPr/>
        </p:nvSpPr>
        <p:spPr>
          <a:xfrm>
            <a:off x="4617109" y="3984833"/>
            <a:ext cx="2160000" cy="432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400">
                <a:solidFill>
                  <a:sysClr val="windowText" lastClr="000000"/>
                </a:solidFill>
              </a:rPr>
              <a:t>活动图 </a:t>
            </a:r>
            <a:r>
              <a:rPr lang="en-US" altLang="zh-CN" sz="1400">
                <a:solidFill>
                  <a:sysClr val="windowText" lastClr="000000"/>
                </a:solidFill>
              </a:rPr>
              <a:t>Activity</a:t>
            </a:r>
            <a:endParaRPr lang="zh-CN" altLang="en-US" sz="1400">
              <a:solidFill>
                <a:sysClr val="windowText" lastClr="000000"/>
              </a:solidFill>
            </a:endParaRPr>
          </a:p>
        </p:txBody>
      </p:sp>
      <p:cxnSp>
        <p:nvCxnSpPr>
          <p:cNvPr id="44" name="连接符: 肘形 43">
            <a:extLst>
              <a:ext uri="{FF2B5EF4-FFF2-40B4-BE49-F238E27FC236}">
                <a16:creationId xmlns:a16="http://schemas.microsoft.com/office/drawing/2014/main" id="{E9AF0839-70B5-9607-51F1-56B02A624B29}"/>
              </a:ext>
            </a:extLst>
          </p:cNvPr>
          <p:cNvCxnSpPr>
            <a:cxnSpLocks/>
            <a:stCxn id="10" idx="1"/>
            <a:endCxn id="45" idx="2"/>
          </p:cNvCxnSpPr>
          <p:nvPr/>
        </p:nvCxnSpPr>
        <p:spPr>
          <a:xfrm rot="10800000" flipV="1">
            <a:off x="4384075" y="3035400"/>
            <a:ext cx="240960" cy="1432742"/>
          </a:xfrm>
          <a:prstGeom prst="bentConnector3">
            <a:avLst>
              <a:gd name="adj1" fmla="val 19487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椭圆 44">
            <a:extLst>
              <a:ext uri="{FF2B5EF4-FFF2-40B4-BE49-F238E27FC236}">
                <a16:creationId xmlns:a16="http://schemas.microsoft.com/office/drawing/2014/main" id="{658CA35B-CAD7-7202-511A-0AF84F6A910A}"/>
              </a:ext>
            </a:extLst>
          </p:cNvPr>
          <p:cNvSpPr/>
          <p:nvPr/>
        </p:nvSpPr>
        <p:spPr>
          <a:xfrm>
            <a:off x="4384075" y="4450142"/>
            <a:ext cx="36000" cy="360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ysClr val="windowText" lastClr="000000"/>
              </a:solidFill>
            </a:endParaRPr>
          </a:p>
        </p:txBody>
      </p:sp>
      <p:sp>
        <p:nvSpPr>
          <p:cNvPr id="48" name="文本框 47">
            <a:extLst>
              <a:ext uri="{FF2B5EF4-FFF2-40B4-BE49-F238E27FC236}">
                <a16:creationId xmlns:a16="http://schemas.microsoft.com/office/drawing/2014/main" id="{58CFC57C-37B8-0D6D-895C-EE2AB7803A52}"/>
              </a:ext>
            </a:extLst>
          </p:cNvPr>
          <p:cNvSpPr txBox="1"/>
          <p:nvPr/>
        </p:nvSpPr>
        <p:spPr>
          <a:xfrm>
            <a:off x="3732191" y="1166361"/>
            <a:ext cx="902811" cy="307777"/>
          </a:xfrm>
          <a:prstGeom prst="rect">
            <a:avLst/>
          </a:prstGeom>
          <a:noFill/>
          <a:ln>
            <a:noFill/>
          </a:ln>
        </p:spPr>
        <p:txBody>
          <a:bodyPr wrap="none" rtlCol="0">
            <a:spAutoFit/>
          </a:bodyPr>
          <a:lstStyle/>
          <a:p>
            <a:pPr algn="l"/>
            <a:r>
              <a:rPr lang="zh-CN" altLang="en-US" sz="1400" dirty="0">
                <a:solidFill>
                  <a:sysClr val="windowText" lastClr="000000"/>
                </a:solidFill>
              </a:rPr>
              <a:t>面向结构</a:t>
            </a:r>
          </a:p>
        </p:txBody>
      </p:sp>
      <p:sp>
        <p:nvSpPr>
          <p:cNvPr id="49" name="文本框 48">
            <a:extLst>
              <a:ext uri="{FF2B5EF4-FFF2-40B4-BE49-F238E27FC236}">
                <a16:creationId xmlns:a16="http://schemas.microsoft.com/office/drawing/2014/main" id="{68527258-48E3-14EE-B35E-4D25DAC7BAA5}"/>
              </a:ext>
            </a:extLst>
          </p:cNvPr>
          <p:cNvSpPr txBox="1"/>
          <p:nvPr/>
        </p:nvSpPr>
        <p:spPr>
          <a:xfrm>
            <a:off x="8256889" y="1166361"/>
            <a:ext cx="902811" cy="307777"/>
          </a:xfrm>
          <a:prstGeom prst="rect">
            <a:avLst/>
          </a:prstGeom>
          <a:noFill/>
          <a:ln>
            <a:noFill/>
          </a:ln>
        </p:spPr>
        <p:txBody>
          <a:bodyPr wrap="none" rtlCol="0">
            <a:spAutoFit/>
          </a:bodyPr>
          <a:lstStyle/>
          <a:p>
            <a:pPr algn="l"/>
            <a:r>
              <a:rPr lang="zh-CN" altLang="en-US" sz="1400">
                <a:solidFill>
                  <a:sysClr val="windowText" lastClr="000000"/>
                </a:solidFill>
              </a:rPr>
              <a:t>面向对象</a:t>
            </a:r>
          </a:p>
        </p:txBody>
      </p:sp>
      <p:sp>
        <p:nvSpPr>
          <p:cNvPr id="50" name="矩形: 圆角 49">
            <a:extLst>
              <a:ext uri="{FF2B5EF4-FFF2-40B4-BE49-F238E27FC236}">
                <a16:creationId xmlns:a16="http://schemas.microsoft.com/office/drawing/2014/main" id="{46E045D6-7C6D-C302-2D6C-64C58EEDE447}"/>
              </a:ext>
            </a:extLst>
          </p:cNvPr>
          <p:cNvSpPr/>
          <p:nvPr/>
        </p:nvSpPr>
        <p:spPr>
          <a:xfrm>
            <a:off x="4629809" y="4525296"/>
            <a:ext cx="2160000" cy="432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400">
                <a:solidFill>
                  <a:sysClr val="windowText" lastClr="000000"/>
                </a:solidFill>
              </a:rPr>
              <a:t>序列图 </a:t>
            </a:r>
            <a:r>
              <a:rPr lang="en-US" altLang="zh-CN" sz="1400">
                <a:solidFill>
                  <a:sysClr val="windowText" lastClr="000000"/>
                </a:solidFill>
              </a:rPr>
              <a:t>Sequence</a:t>
            </a:r>
            <a:endParaRPr lang="zh-CN" altLang="en-US" sz="1400">
              <a:solidFill>
                <a:sysClr val="windowText" lastClr="000000"/>
              </a:solidFill>
            </a:endParaRPr>
          </a:p>
        </p:txBody>
      </p:sp>
      <p:sp>
        <p:nvSpPr>
          <p:cNvPr id="51" name="矩形: 圆角 50">
            <a:extLst>
              <a:ext uri="{FF2B5EF4-FFF2-40B4-BE49-F238E27FC236}">
                <a16:creationId xmlns:a16="http://schemas.microsoft.com/office/drawing/2014/main" id="{4201A84E-55F2-BCF7-586A-0FA5796EF5BB}"/>
              </a:ext>
            </a:extLst>
          </p:cNvPr>
          <p:cNvSpPr/>
          <p:nvPr/>
        </p:nvSpPr>
        <p:spPr>
          <a:xfrm>
            <a:off x="4617108" y="5065759"/>
            <a:ext cx="2160000" cy="432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400">
                <a:solidFill>
                  <a:sysClr val="windowText" lastClr="000000"/>
                </a:solidFill>
              </a:rPr>
              <a:t>状态图 </a:t>
            </a:r>
            <a:r>
              <a:rPr lang="en-US" altLang="zh-CN" sz="1400">
                <a:solidFill>
                  <a:sysClr val="windowText" lastClr="000000"/>
                </a:solidFill>
              </a:rPr>
              <a:t>State Machine</a:t>
            </a:r>
            <a:endParaRPr lang="zh-CN" altLang="en-US" sz="1400">
              <a:solidFill>
                <a:sysClr val="windowText" lastClr="000000"/>
              </a:solidFill>
            </a:endParaRPr>
          </a:p>
        </p:txBody>
      </p:sp>
      <p:sp>
        <p:nvSpPr>
          <p:cNvPr id="56" name="矩形: 圆角 55">
            <a:extLst>
              <a:ext uri="{FF2B5EF4-FFF2-40B4-BE49-F238E27FC236}">
                <a16:creationId xmlns:a16="http://schemas.microsoft.com/office/drawing/2014/main" id="{2B3CBFA8-E366-A16A-0DB9-DC23D30B6607}"/>
              </a:ext>
            </a:extLst>
          </p:cNvPr>
          <p:cNvSpPr/>
          <p:nvPr/>
        </p:nvSpPr>
        <p:spPr>
          <a:xfrm>
            <a:off x="8364142" y="2892217"/>
            <a:ext cx="2520000" cy="432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400">
                <a:solidFill>
                  <a:sysClr val="windowText" lastClr="000000"/>
                </a:solidFill>
              </a:rPr>
              <a:t>影响地图 </a:t>
            </a:r>
            <a:r>
              <a:rPr lang="en-US" altLang="zh-CN" sz="1400">
                <a:solidFill>
                  <a:sysClr val="windowText" lastClr="000000"/>
                </a:solidFill>
              </a:rPr>
              <a:t>Impact Mapping</a:t>
            </a:r>
          </a:p>
        </p:txBody>
      </p:sp>
      <p:sp>
        <p:nvSpPr>
          <p:cNvPr id="57" name="矩形: 圆角 56">
            <a:extLst>
              <a:ext uri="{FF2B5EF4-FFF2-40B4-BE49-F238E27FC236}">
                <a16:creationId xmlns:a16="http://schemas.microsoft.com/office/drawing/2014/main" id="{7FBF96A1-CEF6-2004-7B8A-9CE284774FD4}"/>
              </a:ext>
            </a:extLst>
          </p:cNvPr>
          <p:cNvSpPr/>
          <p:nvPr/>
        </p:nvSpPr>
        <p:spPr>
          <a:xfrm>
            <a:off x="8364142" y="3438525"/>
            <a:ext cx="2520000" cy="432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400">
                <a:solidFill>
                  <a:sysClr val="windowText" lastClr="000000"/>
                </a:solidFill>
              </a:rPr>
              <a:t>需求池 </a:t>
            </a:r>
            <a:r>
              <a:rPr lang="en-US" altLang="zh-CN" sz="1400">
                <a:solidFill>
                  <a:sysClr val="windowText" lastClr="000000"/>
                </a:solidFill>
              </a:rPr>
              <a:t>Product Backlog</a:t>
            </a:r>
          </a:p>
        </p:txBody>
      </p:sp>
      <p:sp>
        <p:nvSpPr>
          <p:cNvPr id="58" name="矩形: 圆角 57">
            <a:extLst>
              <a:ext uri="{FF2B5EF4-FFF2-40B4-BE49-F238E27FC236}">
                <a16:creationId xmlns:a16="http://schemas.microsoft.com/office/drawing/2014/main" id="{7A83A0ED-021D-9944-992C-4BB2DF7041C3}"/>
              </a:ext>
            </a:extLst>
          </p:cNvPr>
          <p:cNvSpPr/>
          <p:nvPr/>
        </p:nvSpPr>
        <p:spPr>
          <a:xfrm>
            <a:off x="8364142" y="3984833"/>
            <a:ext cx="3240000" cy="432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400">
                <a:solidFill>
                  <a:sysClr val="windowText" lastClr="000000"/>
                </a:solidFill>
              </a:rPr>
              <a:t>用户故事地图 </a:t>
            </a:r>
            <a:r>
              <a:rPr lang="en-US" altLang="zh-CN" sz="1400">
                <a:solidFill>
                  <a:sysClr val="windowText" lastClr="000000"/>
                </a:solidFill>
              </a:rPr>
              <a:t>User Story Mapping</a:t>
            </a:r>
          </a:p>
        </p:txBody>
      </p:sp>
      <p:sp>
        <p:nvSpPr>
          <p:cNvPr id="59" name="矩形: 圆角 58">
            <a:extLst>
              <a:ext uri="{FF2B5EF4-FFF2-40B4-BE49-F238E27FC236}">
                <a16:creationId xmlns:a16="http://schemas.microsoft.com/office/drawing/2014/main" id="{518DBAF0-4833-DFA3-9A28-560DD541E88A}"/>
              </a:ext>
            </a:extLst>
          </p:cNvPr>
          <p:cNvSpPr/>
          <p:nvPr/>
        </p:nvSpPr>
        <p:spPr>
          <a:xfrm>
            <a:off x="8364142" y="4525296"/>
            <a:ext cx="3240000" cy="432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400">
                <a:solidFill>
                  <a:sysClr val="windowText" lastClr="000000"/>
                </a:solidFill>
              </a:rPr>
              <a:t>用户故事编写 </a:t>
            </a:r>
            <a:r>
              <a:rPr lang="en-US" altLang="zh-CN" sz="1400">
                <a:solidFill>
                  <a:sysClr val="windowText" lastClr="000000"/>
                </a:solidFill>
              </a:rPr>
              <a:t>User Story Writing</a:t>
            </a:r>
          </a:p>
        </p:txBody>
      </p:sp>
      <p:sp>
        <p:nvSpPr>
          <p:cNvPr id="60" name="矩形: 圆角 59">
            <a:extLst>
              <a:ext uri="{FF2B5EF4-FFF2-40B4-BE49-F238E27FC236}">
                <a16:creationId xmlns:a16="http://schemas.microsoft.com/office/drawing/2014/main" id="{4A6EB610-3B7E-AE18-7519-1637D771FEBD}"/>
              </a:ext>
            </a:extLst>
          </p:cNvPr>
          <p:cNvSpPr/>
          <p:nvPr/>
        </p:nvSpPr>
        <p:spPr>
          <a:xfrm>
            <a:off x="8364142" y="5065759"/>
            <a:ext cx="2520000" cy="432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400">
                <a:solidFill>
                  <a:sysClr val="windowText" lastClr="000000"/>
                </a:solidFill>
              </a:rPr>
              <a:t>INVEST </a:t>
            </a:r>
            <a:r>
              <a:rPr lang="zh-CN" altLang="en-US" sz="1400">
                <a:solidFill>
                  <a:sysClr val="windowText" lastClr="000000"/>
                </a:solidFill>
              </a:rPr>
              <a:t>原则</a:t>
            </a:r>
            <a:endParaRPr lang="en-US" altLang="zh-CN" sz="1400">
              <a:solidFill>
                <a:sysClr val="windowText" lastClr="000000"/>
              </a:solidFill>
            </a:endParaRPr>
          </a:p>
        </p:txBody>
      </p:sp>
      <p:cxnSp>
        <p:nvCxnSpPr>
          <p:cNvPr id="63" name="连接符: 肘形 62">
            <a:extLst>
              <a:ext uri="{FF2B5EF4-FFF2-40B4-BE49-F238E27FC236}">
                <a16:creationId xmlns:a16="http://schemas.microsoft.com/office/drawing/2014/main" id="{4935B680-2217-3867-FA61-43BDA8228DE3}"/>
              </a:ext>
            </a:extLst>
          </p:cNvPr>
          <p:cNvCxnSpPr>
            <a:cxnSpLocks/>
          </p:cNvCxnSpPr>
          <p:nvPr/>
        </p:nvCxnSpPr>
        <p:spPr>
          <a:xfrm rot="10800000" flipV="1">
            <a:off x="1016596" y="3654525"/>
            <a:ext cx="12700" cy="546308"/>
          </a:xfrm>
          <a:prstGeom prst="bentConnector3">
            <a:avLst>
              <a:gd name="adj1" fmla="val 1800000"/>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64" name="矩形: 圆角 63">
            <a:extLst>
              <a:ext uri="{FF2B5EF4-FFF2-40B4-BE49-F238E27FC236}">
                <a16:creationId xmlns:a16="http://schemas.microsoft.com/office/drawing/2014/main" id="{BCFCAC8E-B795-74D0-EDD0-E9F83F18D154}"/>
              </a:ext>
            </a:extLst>
          </p:cNvPr>
          <p:cNvSpPr/>
          <p:nvPr/>
        </p:nvSpPr>
        <p:spPr>
          <a:xfrm>
            <a:off x="8364142" y="5606222"/>
            <a:ext cx="2520000" cy="432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400">
                <a:solidFill>
                  <a:sysClr val="windowText" lastClr="000000"/>
                </a:solidFill>
              </a:rPr>
              <a:t>行为驱动开发 </a:t>
            </a:r>
            <a:r>
              <a:rPr lang="en-US" altLang="zh-CN" sz="1400">
                <a:solidFill>
                  <a:sysClr val="windowText" lastClr="000000"/>
                </a:solidFill>
              </a:rPr>
              <a:t>BDD</a:t>
            </a:r>
          </a:p>
        </p:txBody>
      </p:sp>
      <p:cxnSp>
        <p:nvCxnSpPr>
          <p:cNvPr id="66" name="连接符: 肘形 65">
            <a:extLst>
              <a:ext uri="{FF2B5EF4-FFF2-40B4-BE49-F238E27FC236}">
                <a16:creationId xmlns:a16="http://schemas.microsoft.com/office/drawing/2014/main" id="{E13EE4C1-9241-5463-DB50-5FF8747F31E1}"/>
              </a:ext>
            </a:extLst>
          </p:cNvPr>
          <p:cNvCxnSpPr>
            <a:cxnSpLocks/>
          </p:cNvCxnSpPr>
          <p:nvPr/>
        </p:nvCxnSpPr>
        <p:spPr>
          <a:xfrm rot="10800000" flipV="1">
            <a:off x="8364142" y="3108216"/>
            <a:ext cx="12700" cy="2714005"/>
          </a:xfrm>
          <a:prstGeom prst="bentConnector3">
            <a:avLst>
              <a:gd name="adj1" fmla="val 1800000"/>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7" name="连接符: 肘形 66">
            <a:extLst>
              <a:ext uri="{FF2B5EF4-FFF2-40B4-BE49-F238E27FC236}">
                <a16:creationId xmlns:a16="http://schemas.microsoft.com/office/drawing/2014/main" id="{AEA05C9B-0C35-0669-7870-3577C2600FC3}"/>
              </a:ext>
            </a:extLst>
          </p:cNvPr>
          <p:cNvCxnSpPr>
            <a:cxnSpLocks/>
            <a:stCxn id="8" idx="1"/>
            <a:endCxn id="68" idx="2"/>
          </p:cNvCxnSpPr>
          <p:nvPr/>
        </p:nvCxnSpPr>
        <p:spPr>
          <a:xfrm rot="10800000" flipV="1">
            <a:off x="8123820" y="1788851"/>
            <a:ext cx="240322" cy="2676368"/>
          </a:xfrm>
          <a:prstGeom prst="bentConnector3">
            <a:avLst>
              <a:gd name="adj1" fmla="val 19512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8" name="椭圆 67">
            <a:extLst>
              <a:ext uri="{FF2B5EF4-FFF2-40B4-BE49-F238E27FC236}">
                <a16:creationId xmlns:a16="http://schemas.microsoft.com/office/drawing/2014/main" id="{36637338-F1F1-468E-471C-5AA76237D4BB}"/>
              </a:ext>
            </a:extLst>
          </p:cNvPr>
          <p:cNvSpPr/>
          <p:nvPr/>
        </p:nvSpPr>
        <p:spPr>
          <a:xfrm>
            <a:off x="8123820" y="4447219"/>
            <a:ext cx="36000" cy="360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ysClr val="windowText" lastClr="000000"/>
              </a:solidFill>
            </a:endParaRPr>
          </a:p>
        </p:txBody>
      </p:sp>
      <p:sp>
        <p:nvSpPr>
          <p:cNvPr id="2" name="矩形: 圆角 1">
            <a:extLst>
              <a:ext uri="{FF2B5EF4-FFF2-40B4-BE49-F238E27FC236}">
                <a16:creationId xmlns:a16="http://schemas.microsoft.com/office/drawing/2014/main" id="{D566B97B-72B8-C135-4A93-1792ABC76B7F}"/>
              </a:ext>
            </a:extLst>
          </p:cNvPr>
          <p:cNvSpPr/>
          <p:nvPr/>
        </p:nvSpPr>
        <p:spPr>
          <a:xfrm>
            <a:off x="4616414" y="5606222"/>
            <a:ext cx="2160000" cy="432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400">
                <a:solidFill>
                  <a:sysClr val="windowText" lastClr="000000"/>
                </a:solidFill>
              </a:rPr>
              <a:t>… …</a:t>
            </a:r>
            <a:endParaRPr lang="zh-CN" altLang="en-US" sz="1400">
              <a:solidFill>
                <a:sysClr val="windowText" lastClr="000000"/>
              </a:solidFill>
            </a:endParaRPr>
          </a:p>
        </p:txBody>
      </p:sp>
      <p:cxnSp>
        <p:nvCxnSpPr>
          <p:cNvPr id="6" name="连接符: 肘形 5">
            <a:extLst>
              <a:ext uri="{FF2B5EF4-FFF2-40B4-BE49-F238E27FC236}">
                <a16:creationId xmlns:a16="http://schemas.microsoft.com/office/drawing/2014/main" id="{99D18EC2-05BA-A5C0-F2AC-FDEB56A84A66}"/>
              </a:ext>
            </a:extLst>
          </p:cNvPr>
          <p:cNvCxnSpPr>
            <a:stCxn id="39" idx="1"/>
            <a:endCxn id="2" idx="1"/>
          </p:cNvCxnSpPr>
          <p:nvPr/>
        </p:nvCxnSpPr>
        <p:spPr>
          <a:xfrm rot="10800000" flipV="1">
            <a:off x="4616415" y="3654524"/>
            <a:ext cx="695" cy="2167697"/>
          </a:xfrm>
          <a:prstGeom prst="bentConnector3">
            <a:avLst>
              <a:gd name="adj1" fmla="val 32992086"/>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194384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AA8D0-0669-872F-B258-71853E4B9E2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EFC64F2-A3E8-0C4D-FF7A-21E2C79E73AF}"/>
              </a:ext>
            </a:extLst>
          </p:cNvPr>
          <p:cNvSpPr>
            <a:spLocks noGrp="1"/>
          </p:cNvSpPr>
          <p:nvPr>
            <p:ph type="title"/>
          </p:nvPr>
        </p:nvSpPr>
        <p:spPr>
          <a:xfrm>
            <a:off x="792000" y="360000"/>
            <a:ext cx="6375921" cy="429413"/>
          </a:xfrm>
        </p:spPr>
        <p:txBody>
          <a:bodyPr/>
          <a:lstStyle/>
          <a:p>
            <a:r>
              <a:rPr lang="en-US" altLang="zh-CN"/>
              <a:t>2.1 System Flowchart</a:t>
            </a:r>
            <a:endParaRPr lang="zh-CN" altLang="en-US"/>
          </a:p>
        </p:txBody>
      </p:sp>
      <p:sp>
        <p:nvSpPr>
          <p:cNvPr id="3" name="内容占位符 2">
            <a:extLst>
              <a:ext uri="{FF2B5EF4-FFF2-40B4-BE49-F238E27FC236}">
                <a16:creationId xmlns:a16="http://schemas.microsoft.com/office/drawing/2014/main" id="{997752C3-0CF7-2385-F4A3-7AEE8BB0E854}"/>
              </a:ext>
            </a:extLst>
          </p:cNvPr>
          <p:cNvSpPr>
            <a:spLocks noGrp="1"/>
          </p:cNvSpPr>
          <p:nvPr>
            <p:ph idx="1"/>
          </p:nvPr>
        </p:nvSpPr>
        <p:spPr>
          <a:xfrm>
            <a:off x="696000" y="864000"/>
            <a:ext cx="10800000" cy="5400000"/>
          </a:xfrm>
        </p:spPr>
        <p:txBody>
          <a:bodyPr>
            <a:normAutofit/>
          </a:bodyPr>
          <a:lstStyle/>
          <a:p>
            <a:r>
              <a:rPr lang="zh-CN" altLang="en-US" dirty="0"/>
              <a:t>系统流程图 </a:t>
            </a:r>
            <a:r>
              <a:rPr lang="en-US" altLang="zh-CN" dirty="0"/>
              <a:t>System Flowchart</a:t>
            </a:r>
          </a:p>
          <a:p>
            <a:r>
              <a:rPr lang="zh-CN" altLang="en-US" dirty="0"/>
              <a:t>以图形符号“黑盒子”形式描绘系统内部的各个部件（如程序、文件、数据库、人工过程等），并表达信息在这些部件之间的流动情况</a:t>
            </a:r>
            <a:endParaRPr lang="en-US" altLang="zh-CN" dirty="0"/>
          </a:p>
          <a:p>
            <a:r>
              <a:rPr lang="zh-CN" altLang="en-US" dirty="0"/>
              <a:t>不表示对信息的加工处理控制过程，而是侧重于系统各部件之间的数据流动关系</a:t>
            </a:r>
            <a:endParaRPr lang="en-US" altLang="zh-CN" dirty="0"/>
          </a:p>
          <a:p>
            <a:pPr lvl="1"/>
            <a:r>
              <a:rPr lang="zh-CN" altLang="en-US" dirty="0"/>
              <a:t>只关心“做什么”，不关心“数据存在哪”</a:t>
            </a:r>
            <a:endParaRPr lang="en-US" altLang="zh-CN" dirty="0"/>
          </a:p>
          <a:p>
            <a:r>
              <a:rPr lang="zh-CN" altLang="en-US" dirty="0"/>
              <a:t>基本图例</a:t>
            </a:r>
            <a:endParaRPr lang="en-US" altLang="zh-CN" dirty="0"/>
          </a:p>
          <a:p>
            <a:pPr lvl="1"/>
            <a:r>
              <a:rPr lang="zh-CN" altLang="en-US" dirty="0"/>
              <a:t>开始</a:t>
            </a:r>
            <a:r>
              <a:rPr lang="en-US" altLang="zh-CN" dirty="0"/>
              <a:t>/</a:t>
            </a:r>
            <a:r>
              <a:rPr lang="zh-CN" altLang="en-US" dirty="0"/>
              <a:t>结束</a:t>
            </a:r>
            <a:endParaRPr lang="en-US" altLang="zh-CN" dirty="0"/>
          </a:p>
          <a:p>
            <a:pPr lvl="1"/>
            <a:r>
              <a:rPr lang="zh-CN" altLang="en-US" dirty="0"/>
              <a:t>处理</a:t>
            </a:r>
            <a:endParaRPr lang="en-US" altLang="zh-CN" dirty="0"/>
          </a:p>
          <a:p>
            <a:pPr lvl="1"/>
            <a:r>
              <a:rPr lang="zh-CN" altLang="en-US" dirty="0"/>
              <a:t>判断</a:t>
            </a:r>
            <a:endParaRPr lang="en-US" altLang="zh-CN" dirty="0"/>
          </a:p>
          <a:p>
            <a:pPr lvl="1"/>
            <a:r>
              <a:rPr lang="zh-CN" altLang="en-US" dirty="0"/>
              <a:t>输入</a:t>
            </a:r>
            <a:r>
              <a:rPr lang="en-US" altLang="zh-CN" dirty="0"/>
              <a:t>/</a:t>
            </a:r>
            <a:r>
              <a:rPr lang="zh-CN" altLang="en-US" dirty="0"/>
              <a:t>输出</a:t>
            </a:r>
            <a:endParaRPr lang="en-US" altLang="zh-CN" dirty="0"/>
          </a:p>
          <a:p>
            <a:endParaRPr lang="zh-CN" altLang="en-US" dirty="0"/>
          </a:p>
        </p:txBody>
      </p:sp>
      <p:sp>
        <p:nvSpPr>
          <p:cNvPr id="4" name="文本占位符 3">
            <a:extLst>
              <a:ext uri="{FF2B5EF4-FFF2-40B4-BE49-F238E27FC236}">
                <a16:creationId xmlns:a16="http://schemas.microsoft.com/office/drawing/2014/main" id="{B7FB06C2-28DC-6EDB-F4FE-2734632F21FC}"/>
              </a:ext>
            </a:extLst>
          </p:cNvPr>
          <p:cNvSpPr>
            <a:spLocks noGrp="1"/>
          </p:cNvSpPr>
          <p:nvPr>
            <p:ph type="body" sz="quarter" idx="10"/>
          </p:nvPr>
        </p:nvSpPr>
        <p:spPr>
          <a:xfrm>
            <a:off x="7071919" y="448519"/>
            <a:ext cx="4424080" cy="338554"/>
          </a:xfrm>
        </p:spPr>
        <p:txBody>
          <a:bodyPr/>
          <a:lstStyle/>
          <a:p>
            <a:r>
              <a:rPr lang="en-US" altLang="zh-CN"/>
              <a:t>Traditional</a:t>
            </a:r>
            <a:endParaRPr lang="zh-CN" altLang="en-US"/>
          </a:p>
        </p:txBody>
      </p:sp>
      <p:sp>
        <p:nvSpPr>
          <p:cNvPr id="14" name="流程图: 可选过程 13">
            <a:extLst>
              <a:ext uri="{FF2B5EF4-FFF2-40B4-BE49-F238E27FC236}">
                <a16:creationId xmlns:a16="http://schemas.microsoft.com/office/drawing/2014/main" id="{7280284A-2A10-AAE2-4DB1-2EE124144CB7}"/>
              </a:ext>
            </a:extLst>
          </p:cNvPr>
          <p:cNvSpPr/>
          <p:nvPr/>
        </p:nvSpPr>
        <p:spPr>
          <a:xfrm>
            <a:off x="5545097" y="4261270"/>
            <a:ext cx="1080000" cy="432000"/>
          </a:xfrm>
          <a:prstGeom prst="flowChartAlternate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tx1"/>
                </a:solidFill>
              </a:rPr>
              <a:t>Start </a:t>
            </a:r>
            <a:endParaRPr lang="zh-CN" altLang="en-US" sz="1400">
              <a:solidFill>
                <a:schemeClr val="tx1"/>
              </a:solidFill>
            </a:endParaRPr>
          </a:p>
        </p:txBody>
      </p:sp>
      <p:sp>
        <p:nvSpPr>
          <p:cNvPr id="15" name="流程图: 过程 14">
            <a:extLst>
              <a:ext uri="{FF2B5EF4-FFF2-40B4-BE49-F238E27FC236}">
                <a16:creationId xmlns:a16="http://schemas.microsoft.com/office/drawing/2014/main" id="{47B07B53-E127-90B3-CF47-A1ED992C3837}"/>
              </a:ext>
            </a:extLst>
          </p:cNvPr>
          <p:cNvSpPr/>
          <p:nvPr/>
        </p:nvSpPr>
        <p:spPr>
          <a:xfrm>
            <a:off x="6976956" y="4261270"/>
            <a:ext cx="1080000" cy="432000"/>
          </a:xfrm>
          <a:prstGeom prst="flowChart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tx1"/>
                </a:solidFill>
              </a:rPr>
              <a:t>Process</a:t>
            </a:r>
            <a:endParaRPr lang="zh-CN" altLang="en-US" sz="1400">
              <a:solidFill>
                <a:schemeClr val="tx1"/>
              </a:solidFill>
            </a:endParaRPr>
          </a:p>
        </p:txBody>
      </p:sp>
      <p:sp>
        <p:nvSpPr>
          <p:cNvPr id="16" name="流程图: 决策 15">
            <a:extLst>
              <a:ext uri="{FF2B5EF4-FFF2-40B4-BE49-F238E27FC236}">
                <a16:creationId xmlns:a16="http://schemas.microsoft.com/office/drawing/2014/main" id="{61F66E49-08EB-0939-D474-F7FF95308C39}"/>
              </a:ext>
            </a:extLst>
          </p:cNvPr>
          <p:cNvSpPr/>
          <p:nvPr/>
        </p:nvSpPr>
        <p:spPr>
          <a:xfrm>
            <a:off x="8408815" y="4117270"/>
            <a:ext cx="1656000" cy="720000"/>
          </a:xfrm>
          <a:prstGeom prst="flowChartDecis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tx1"/>
                </a:solidFill>
              </a:rPr>
              <a:t>Decide</a:t>
            </a:r>
            <a:endParaRPr lang="zh-CN" altLang="en-US" sz="1400">
              <a:solidFill>
                <a:schemeClr val="tx1"/>
              </a:solidFill>
            </a:endParaRPr>
          </a:p>
        </p:txBody>
      </p:sp>
      <p:sp>
        <p:nvSpPr>
          <p:cNvPr id="17" name="流程图: 过程 16">
            <a:extLst>
              <a:ext uri="{FF2B5EF4-FFF2-40B4-BE49-F238E27FC236}">
                <a16:creationId xmlns:a16="http://schemas.microsoft.com/office/drawing/2014/main" id="{0E734944-CF37-3EF7-8311-7A3D0778817E}"/>
              </a:ext>
            </a:extLst>
          </p:cNvPr>
          <p:cNvSpPr/>
          <p:nvPr/>
        </p:nvSpPr>
        <p:spPr>
          <a:xfrm>
            <a:off x="10416675" y="4261270"/>
            <a:ext cx="1080000" cy="432000"/>
          </a:xfrm>
          <a:prstGeom prst="flowChart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tx1"/>
                </a:solidFill>
              </a:rPr>
              <a:t>Process</a:t>
            </a:r>
            <a:endParaRPr lang="zh-CN" altLang="en-US" sz="1400">
              <a:solidFill>
                <a:schemeClr val="tx1"/>
              </a:solidFill>
            </a:endParaRPr>
          </a:p>
        </p:txBody>
      </p:sp>
      <p:sp>
        <p:nvSpPr>
          <p:cNvPr id="18" name="流程图: 过程 17">
            <a:extLst>
              <a:ext uri="{FF2B5EF4-FFF2-40B4-BE49-F238E27FC236}">
                <a16:creationId xmlns:a16="http://schemas.microsoft.com/office/drawing/2014/main" id="{3A7225BE-9BAC-8025-7878-7345274BD04A}"/>
              </a:ext>
            </a:extLst>
          </p:cNvPr>
          <p:cNvSpPr/>
          <p:nvPr/>
        </p:nvSpPr>
        <p:spPr>
          <a:xfrm>
            <a:off x="10416675" y="5046773"/>
            <a:ext cx="1080000" cy="432000"/>
          </a:xfrm>
          <a:prstGeom prst="flowChart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tx1"/>
                </a:solidFill>
              </a:rPr>
              <a:t>Process</a:t>
            </a:r>
            <a:endParaRPr lang="zh-CN" altLang="en-US" sz="1400">
              <a:solidFill>
                <a:schemeClr val="tx1"/>
              </a:solidFill>
            </a:endParaRPr>
          </a:p>
        </p:txBody>
      </p:sp>
      <p:cxnSp>
        <p:nvCxnSpPr>
          <p:cNvPr id="21" name="直接箭头连接符 20">
            <a:extLst>
              <a:ext uri="{FF2B5EF4-FFF2-40B4-BE49-F238E27FC236}">
                <a16:creationId xmlns:a16="http://schemas.microsoft.com/office/drawing/2014/main" id="{F16B40D5-42BE-0CD1-FEBB-9B7B54CD06EE}"/>
              </a:ext>
            </a:extLst>
          </p:cNvPr>
          <p:cNvCxnSpPr>
            <a:cxnSpLocks/>
            <a:stCxn id="14" idx="3"/>
            <a:endCxn id="15" idx="1"/>
          </p:cNvCxnSpPr>
          <p:nvPr/>
        </p:nvCxnSpPr>
        <p:spPr>
          <a:xfrm>
            <a:off x="6625097" y="4477270"/>
            <a:ext cx="35185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7FA1081C-B0D8-F84A-EA7A-28826F07A14F}"/>
              </a:ext>
            </a:extLst>
          </p:cNvPr>
          <p:cNvCxnSpPr>
            <a:stCxn id="15" idx="3"/>
            <a:endCxn id="16" idx="1"/>
          </p:cNvCxnSpPr>
          <p:nvPr/>
        </p:nvCxnSpPr>
        <p:spPr>
          <a:xfrm>
            <a:off x="8056956" y="4477270"/>
            <a:ext cx="35185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96F3DA5D-CEB1-F562-A982-E58A18C612C2}"/>
              </a:ext>
            </a:extLst>
          </p:cNvPr>
          <p:cNvCxnSpPr>
            <a:stCxn id="16" idx="3"/>
            <a:endCxn id="17" idx="1"/>
          </p:cNvCxnSpPr>
          <p:nvPr/>
        </p:nvCxnSpPr>
        <p:spPr>
          <a:xfrm>
            <a:off x="10064815" y="4477270"/>
            <a:ext cx="35186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E9934274-5126-AAEF-76F4-C9BF9E9F829B}"/>
              </a:ext>
            </a:extLst>
          </p:cNvPr>
          <p:cNvCxnSpPr>
            <a:cxnSpLocks/>
            <a:stCxn id="17" idx="2"/>
            <a:endCxn id="18" idx="0"/>
          </p:cNvCxnSpPr>
          <p:nvPr/>
        </p:nvCxnSpPr>
        <p:spPr>
          <a:xfrm>
            <a:off x="10956675" y="4693270"/>
            <a:ext cx="0" cy="35350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连接符: 肘形 30">
            <a:extLst>
              <a:ext uri="{FF2B5EF4-FFF2-40B4-BE49-F238E27FC236}">
                <a16:creationId xmlns:a16="http://schemas.microsoft.com/office/drawing/2014/main" id="{35535AA8-8D88-C8ED-838A-AA328FB6CE59}"/>
              </a:ext>
            </a:extLst>
          </p:cNvPr>
          <p:cNvCxnSpPr>
            <a:stCxn id="16" idx="2"/>
            <a:endCxn id="18" idx="1"/>
          </p:cNvCxnSpPr>
          <p:nvPr/>
        </p:nvCxnSpPr>
        <p:spPr>
          <a:xfrm rot="16200000" flipH="1">
            <a:off x="9613994" y="4460091"/>
            <a:ext cx="425503" cy="1179860"/>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流程图: 终止 32">
            <a:extLst>
              <a:ext uri="{FF2B5EF4-FFF2-40B4-BE49-F238E27FC236}">
                <a16:creationId xmlns:a16="http://schemas.microsoft.com/office/drawing/2014/main" id="{94939D4E-CAEC-7302-AB05-B7145B43C7CF}"/>
              </a:ext>
            </a:extLst>
          </p:cNvPr>
          <p:cNvSpPr/>
          <p:nvPr/>
        </p:nvSpPr>
        <p:spPr>
          <a:xfrm>
            <a:off x="10416675" y="5832275"/>
            <a:ext cx="1080000" cy="432000"/>
          </a:xfrm>
          <a:prstGeom prst="flowChartTermina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tx1"/>
                </a:solidFill>
              </a:rPr>
              <a:t>End</a:t>
            </a:r>
            <a:endParaRPr lang="zh-CN" altLang="en-US" sz="1400">
              <a:solidFill>
                <a:schemeClr val="tx1"/>
              </a:solidFill>
            </a:endParaRPr>
          </a:p>
        </p:txBody>
      </p:sp>
      <p:cxnSp>
        <p:nvCxnSpPr>
          <p:cNvPr id="46" name="直接箭头连接符 45">
            <a:extLst>
              <a:ext uri="{FF2B5EF4-FFF2-40B4-BE49-F238E27FC236}">
                <a16:creationId xmlns:a16="http://schemas.microsoft.com/office/drawing/2014/main" id="{87AD7835-9666-8393-F03B-5EC3EC8F9BF8}"/>
              </a:ext>
            </a:extLst>
          </p:cNvPr>
          <p:cNvCxnSpPr>
            <a:cxnSpLocks/>
            <a:endCxn id="33" idx="0"/>
          </p:cNvCxnSpPr>
          <p:nvPr/>
        </p:nvCxnSpPr>
        <p:spPr>
          <a:xfrm>
            <a:off x="10956675" y="5478772"/>
            <a:ext cx="0" cy="35350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629824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5FBFF-AB43-E9E6-FE6B-805846CD0AA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A938B49-D815-C5E5-2ED0-AF66D27E7A66}"/>
              </a:ext>
            </a:extLst>
          </p:cNvPr>
          <p:cNvSpPr>
            <a:spLocks noGrp="1"/>
          </p:cNvSpPr>
          <p:nvPr>
            <p:ph type="title"/>
          </p:nvPr>
        </p:nvSpPr>
        <p:spPr>
          <a:xfrm>
            <a:off x="792000" y="360000"/>
            <a:ext cx="6375921" cy="429413"/>
          </a:xfrm>
        </p:spPr>
        <p:txBody>
          <a:bodyPr/>
          <a:lstStyle/>
          <a:p>
            <a:r>
              <a:rPr lang="en-US" altLang="zh-CN"/>
              <a:t>2.2 DFD</a:t>
            </a:r>
            <a:endParaRPr lang="zh-CN" altLang="en-US"/>
          </a:p>
        </p:txBody>
      </p:sp>
      <p:sp>
        <p:nvSpPr>
          <p:cNvPr id="3" name="内容占位符 2">
            <a:extLst>
              <a:ext uri="{FF2B5EF4-FFF2-40B4-BE49-F238E27FC236}">
                <a16:creationId xmlns:a16="http://schemas.microsoft.com/office/drawing/2014/main" id="{2ECF4E00-7338-51E9-2C4C-D5A4E426D0AE}"/>
              </a:ext>
            </a:extLst>
          </p:cNvPr>
          <p:cNvSpPr>
            <a:spLocks noGrp="1"/>
          </p:cNvSpPr>
          <p:nvPr>
            <p:ph idx="1"/>
          </p:nvPr>
        </p:nvSpPr>
        <p:spPr>
          <a:xfrm>
            <a:off x="696000" y="864000"/>
            <a:ext cx="10800000" cy="5400000"/>
          </a:xfrm>
        </p:spPr>
        <p:txBody>
          <a:bodyPr>
            <a:normAutofit/>
          </a:bodyPr>
          <a:lstStyle/>
          <a:p>
            <a:r>
              <a:rPr lang="zh-CN" altLang="en-US" dirty="0"/>
              <a:t>数据流图 </a:t>
            </a:r>
            <a:r>
              <a:rPr lang="en-US" altLang="zh-CN" dirty="0"/>
              <a:t>DFD(Data Flow Diagram)</a:t>
            </a:r>
          </a:p>
          <a:p>
            <a:pPr lvl="1"/>
            <a:r>
              <a:rPr lang="zh-CN" altLang="en-US" dirty="0"/>
              <a:t>数据被加工处理的过程</a:t>
            </a:r>
            <a:endParaRPr lang="en-US" altLang="zh-CN" dirty="0"/>
          </a:p>
          <a:p>
            <a:r>
              <a:rPr lang="en-US" altLang="zh-CN" dirty="0"/>
              <a:t>4</a:t>
            </a:r>
            <a:r>
              <a:rPr lang="zh-CN" altLang="en-US" dirty="0"/>
              <a:t>个元素：</a:t>
            </a:r>
            <a:endParaRPr lang="en-US" altLang="zh-CN" dirty="0"/>
          </a:p>
          <a:p>
            <a:pPr lvl="1"/>
            <a:r>
              <a:rPr lang="zh-CN" altLang="en-US" dirty="0"/>
              <a:t>实体 </a:t>
            </a:r>
            <a:r>
              <a:rPr lang="en-US" altLang="zh-CN" dirty="0"/>
              <a:t>External Entity </a:t>
            </a:r>
          </a:p>
          <a:p>
            <a:pPr lvl="1"/>
            <a:r>
              <a:rPr lang="zh-CN" altLang="en-US" dirty="0"/>
              <a:t>过程 </a:t>
            </a:r>
            <a:r>
              <a:rPr lang="en-US" altLang="zh-CN" dirty="0"/>
              <a:t>Process </a:t>
            </a:r>
          </a:p>
          <a:p>
            <a:pPr lvl="1"/>
            <a:r>
              <a:rPr lang="zh-CN" altLang="en-US" dirty="0"/>
              <a:t>数据流 </a:t>
            </a:r>
            <a:r>
              <a:rPr lang="en-US" altLang="zh-CN" dirty="0"/>
              <a:t>Data Flow </a:t>
            </a:r>
          </a:p>
          <a:p>
            <a:pPr lvl="1"/>
            <a:r>
              <a:rPr lang="zh-CN" altLang="en-US" dirty="0"/>
              <a:t>存储 </a:t>
            </a:r>
            <a:r>
              <a:rPr lang="en-US" altLang="zh-CN" dirty="0"/>
              <a:t>Data Storage</a:t>
            </a:r>
          </a:p>
          <a:p>
            <a:r>
              <a:rPr lang="zh-CN" altLang="en-US" dirty="0"/>
              <a:t>没有具体的物理部件</a:t>
            </a:r>
          </a:p>
        </p:txBody>
      </p:sp>
      <p:sp>
        <p:nvSpPr>
          <p:cNvPr id="4" name="文本占位符 3">
            <a:extLst>
              <a:ext uri="{FF2B5EF4-FFF2-40B4-BE49-F238E27FC236}">
                <a16:creationId xmlns:a16="http://schemas.microsoft.com/office/drawing/2014/main" id="{DC3BB405-1D40-0E41-A9D4-2467B8A89918}"/>
              </a:ext>
            </a:extLst>
          </p:cNvPr>
          <p:cNvSpPr>
            <a:spLocks noGrp="1"/>
          </p:cNvSpPr>
          <p:nvPr>
            <p:ph type="body" sz="quarter" idx="10"/>
          </p:nvPr>
        </p:nvSpPr>
        <p:spPr>
          <a:xfrm>
            <a:off x="7071919" y="448519"/>
            <a:ext cx="4424080" cy="338554"/>
          </a:xfrm>
          <a:ln>
            <a:solidFill>
              <a:schemeClr val="tx1"/>
            </a:solidFill>
          </a:ln>
        </p:spPr>
        <p:txBody>
          <a:bodyPr/>
          <a:lstStyle/>
          <a:p>
            <a:r>
              <a:rPr lang="en-US" altLang="zh-CN"/>
              <a:t>Traditional</a:t>
            </a:r>
            <a:endParaRPr lang="zh-CN" altLang="en-US"/>
          </a:p>
        </p:txBody>
      </p:sp>
      <p:sp>
        <p:nvSpPr>
          <p:cNvPr id="8" name="矩形 7">
            <a:extLst>
              <a:ext uri="{FF2B5EF4-FFF2-40B4-BE49-F238E27FC236}">
                <a16:creationId xmlns:a16="http://schemas.microsoft.com/office/drawing/2014/main" id="{FDFF49EF-3CAB-DC1E-27FD-F4F41EA747FE}"/>
              </a:ext>
            </a:extLst>
          </p:cNvPr>
          <p:cNvSpPr/>
          <p:nvPr/>
        </p:nvSpPr>
        <p:spPr>
          <a:xfrm>
            <a:off x="6992206" y="2093224"/>
            <a:ext cx="1800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tx1"/>
              </a:solidFill>
            </a:endParaRPr>
          </a:p>
        </p:txBody>
      </p:sp>
      <p:sp>
        <p:nvSpPr>
          <p:cNvPr id="9" name="椭圆 8">
            <a:extLst>
              <a:ext uri="{FF2B5EF4-FFF2-40B4-BE49-F238E27FC236}">
                <a16:creationId xmlns:a16="http://schemas.microsoft.com/office/drawing/2014/main" id="{5E9D9847-36C1-C3DD-70A2-DA4B98FC01FA}"/>
              </a:ext>
            </a:extLst>
          </p:cNvPr>
          <p:cNvSpPr/>
          <p:nvPr/>
        </p:nvSpPr>
        <p:spPr>
          <a:xfrm>
            <a:off x="6632206" y="2847561"/>
            <a:ext cx="720000" cy="72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tx1"/>
              </a:solidFill>
            </a:endParaRPr>
          </a:p>
        </p:txBody>
      </p:sp>
      <p:grpSp>
        <p:nvGrpSpPr>
          <p:cNvPr id="20" name="组合 19">
            <a:extLst>
              <a:ext uri="{FF2B5EF4-FFF2-40B4-BE49-F238E27FC236}">
                <a16:creationId xmlns:a16="http://schemas.microsoft.com/office/drawing/2014/main" id="{03B11A9D-1C8C-A477-AD62-74147497C777}"/>
              </a:ext>
            </a:extLst>
          </p:cNvPr>
          <p:cNvGrpSpPr/>
          <p:nvPr/>
        </p:nvGrpSpPr>
        <p:grpSpPr>
          <a:xfrm>
            <a:off x="6992206" y="4105898"/>
            <a:ext cx="1800000" cy="432000"/>
            <a:chOff x="7443019" y="3106994"/>
            <a:chExt cx="1800000" cy="432000"/>
          </a:xfrm>
        </p:grpSpPr>
        <p:cxnSp>
          <p:nvCxnSpPr>
            <p:cNvPr id="16" name="直接连接符 15">
              <a:extLst>
                <a:ext uri="{FF2B5EF4-FFF2-40B4-BE49-F238E27FC236}">
                  <a16:creationId xmlns:a16="http://schemas.microsoft.com/office/drawing/2014/main" id="{4E9FF47E-5584-09F8-C740-9B6D96DC0DDF}"/>
                </a:ext>
              </a:extLst>
            </p:cNvPr>
            <p:cNvCxnSpPr>
              <a:cxnSpLocks/>
            </p:cNvCxnSpPr>
            <p:nvPr/>
          </p:nvCxnSpPr>
          <p:spPr>
            <a:xfrm>
              <a:off x="7443019" y="3106994"/>
              <a:ext cx="1800000" cy="0"/>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ACDE3103-C904-4396-645B-0276CECEF220}"/>
                </a:ext>
              </a:extLst>
            </p:cNvPr>
            <p:cNvCxnSpPr>
              <a:cxnSpLocks/>
            </p:cNvCxnSpPr>
            <p:nvPr/>
          </p:nvCxnSpPr>
          <p:spPr>
            <a:xfrm>
              <a:off x="7443019" y="3538994"/>
              <a:ext cx="1800000" cy="0"/>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FEC91352-7D4B-AAFE-F08B-83B1CA2DE109}"/>
                </a:ext>
              </a:extLst>
            </p:cNvPr>
            <p:cNvCxnSpPr>
              <a:cxnSpLocks/>
            </p:cNvCxnSpPr>
            <p:nvPr/>
          </p:nvCxnSpPr>
          <p:spPr>
            <a:xfrm>
              <a:off x="7443019" y="3106994"/>
              <a:ext cx="0" cy="432000"/>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grpSp>
      <p:cxnSp>
        <p:nvCxnSpPr>
          <p:cNvPr id="22" name="直接箭头连接符 21">
            <a:extLst>
              <a:ext uri="{FF2B5EF4-FFF2-40B4-BE49-F238E27FC236}">
                <a16:creationId xmlns:a16="http://schemas.microsoft.com/office/drawing/2014/main" id="{4293423A-2219-A3EE-C925-BEC28AC72F0B}"/>
              </a:ext>
            </a:extLst>
          </p:cNvPr>
          <p:cNvCxnSpPr/>
          <p:nvPr/>
        </p:nvCxnSpPr>
        <p:spPr>
          <a:xfrm>
            <a:off x="6992206" y="3840619"/>
            <a:ext cx="180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矩形: 圆角 22">
            <a:extLst>
              <a:ext uri="{FF2B5EF4-FFF2-40B4-BE49-F238E27FC236}">
                <a16:creationId xmlns:a16="http://schemas.microsoft.com/office/drawing/2014/main" id="{21CB760D-2BAF-67D4-3F4E-02786AE2CC84}"/>
              </a:ext>
            </a:extLst>
          </p:cNvPr>
          <p:cNvSpPr/>
          <p:nvPr/>
        </p:nvSpPr>
        <p:spPr>
          <a:xfrm>
            <a:off x="7624440" y="2991561"/>
            <a:ext cx="1800000" cy="432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tx1"/>
              </a:solidFill>
            </a:endParaRPr>
          </a:p>
        </p:txBody>
      </p:sp>
    </p:spTree>
    <p:extLst>
      <p:ext uri="{BB962C8B-B14F-4D97-AF65-F5344CB8AC3E}">
        <p14:creationId xmlns:p14="http://schemas.microsoft.com/office/powerpoint/2010/main" val="1953881346"/>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7D3B09-7ABE-830B-C98C-3826163C8013}"/>
              </a:ext>
            </a:extLst>
          </p:cNvPr>
          <p:cNvSpPr>
            <a:spLocks noGrp="1"/>
          </p:cNvSpPr>
          <p:nvPr>
            <p:ph type="title"/>
          </p:nvPr>
        </p:nvSpPr>
        <p:spPr>
          <a:xfrm>
            <a:off x="792000" y="360000"/>
            <a:ext cx="6375921" cy="429413"/>
          </a:xfrm>
        </p:spPr>
        <p:txBody>
          <a:bodyPr/>
          <a:lstStyle/>
          <a:p>
            <a:r>
              <a:rPr lang="en-US" altLang="zh-CN"/>
              <a:t>2.3 Data Dictionary</a:t>
            </a:r>
            <a:endParaRPr lang="zh-CN" altLang="en-US"/>
          </a:p>
        </p:txBody>
      </p:sp>
      <p:sp>
        <p:nvSpPr>
          <p:cNvPr id="3" name="内容占位符 2">
            <a:extLst>
              <a:ext uri="{FF2B5EF4-FFF2-40B4-BE49-F238E27FC236}">
                <a16:creationId xmlns:a16="http://schemas.microsoft.com/office/drawing/2014/main" id="{84AE5E3A-CBAD-F8C5-84A6-ECC990885F8C}"/>
              </a:ext>
            </a:extLst>
          </p:cNvPr>
          <p:cNvSpPr>
            <a:spLocks noGrp="1"/>
          </p:cNvSpPr>
          <p:nvPr>
            <p:ph idx="1"/>
          </p:nvPr>
        </p:nvSpPr>
        <p:spPr>
          <a:xfrm>
            <a:off x="696000" y="864000"/>
            <a:ext cx="10800000" cy="5400000"/>
          </a:xfrm>
        </p:spPr>
        <p:txBody>
          <a:bodyPr/>
          <a:lstStyle/>
          <a:p>
            <a:r>
              <a:rPr lang="zh-CN" altLang="en-US"/>
              <a:t>数据字典 </a:t>
            </a:r>
            <a:r>
              <a:rPr lang="en-US" altLang="zh-CN"/>
              <a:t>Data Dictionary</a:t>
            </a:r>
          </a:p>
          <a:p>
            <a:r>
              <a:rPr lang="zh-CN" altLang="en-US"/>
              <a:t>关于数据的信息的集合</a:t>
            </a:r>
            <a:endParaRPr lang="en-US" altLang="zh-CN"/>
          </a:p>
          <a:p>
            <a:pPr lvl="1"/>
            <a:r>
              <a:rPr lang="zh-CN" altLang="en-US"/>
              <a:t>对数据流图 </a:t>
            </a:r>
            <a:r>
              <a:rPr lang="en-US" altLang="zh-CN"/>
              <a:t>DFD</a:t>
            </a:r>
            <a:r>
              <a:rPr lang="zh-CN" altLang="en-US"/>
              <a:t> 中所有元素的定义集合</a:t>
            </a:r>
          </a:p>
          <a:p>
            <a:r>
              <a:rPr lang="zh-CN" altLang="en-US"/>
              <a:t>数据流图 </a:t>
            </a:r>
            <a:r>
              <a:rPr lang="en-US" altLang="zh-CN"/>
              <a:t>DFD</a:t>
            </a:r>
            <a:r>
              <a:rPr lang="zh-CN" altLang="en-US"/>
              <a:t> ：是系统分析中用于描述数据流动和处理过程的图形化工具</a:t>
            </a:r>
          </a:p>
          <a:p>
            <a:r>
              <a:rPr lang="zh-CN" altLang="en-US"/>
              <a:t>数据字典的作用：为 </a:t>
            </a:r>
            <a:r>
              <a:rPr lang="en-US" altLang="zh-CN"/>
              <a:t>DFD </a:t>
            </a:r>
            <a:r>
              <a:rPr lang="zh-CN" altLang="en-US"/>
              <a:t>中的每一个元素（如数据流、数据存储、处理过程、外部实体等）提供详细的定义和说明，确保所有参与者对系统中的数据有一致的理解</a:t>
            </a:r>
          </a:p>
          <a:p>
            <a:endParaRPr lang="zh-CN" altLang="en-US"/>
          </a:p>
        </p:txBody>
      </p:sp>
      <p:sp>
        <p:nvSpPr>
          <p:cNvPr id="4" name="文本占位符 3">
            <a:extLst>
              <a:ext uri="{FF2B5EF4-FFF2-40B4-BE49-F238E27FC236}">
                <a16:creationId xmlns:a16="http://schemas.microsoft.com/office/drawing/2014/main" id="{FDB65457-2986-F885-A3B0-8FB68BE9D759}"/>
              </a:ext>
            </a:extLst>
          </p:cNvPr>
          <p:cNvSpPr>
            <a:spLocks noGrp="1"/>
          </p:cNvSpPr>
          <p:nvPr>
            <p:ph type="body" sz="quarter" idx="10"/>
          </p:nvPr>
        </p:nvSpPr>
        <p:spPr>
          <a:xfrm>
            <a:off x="7071919" y="448519"/>
            <a:ext cx="4424080" cy="338554"/>
          </a:xfrm>
        </p:spPr>
        <p:txBody>
          <a:bodyPr/>
          <a:lstStyle/>
          <a:p>
            <a:r>
              <a:rPr lang="en-US" altLang="zh-CN"/>
              <a:t>Traditional</a:t>
            </a:r>
            <a:endParaRPr lang="zh-CN" altLang="en-US"/>
          </a:p>
        </p:txBody>
      </p:sp>
    </p:spTree>
    <p:extLst>
      <p:ext uri="{BB962C8B-B14F-4D97-AF65-F5344CB8AC3E}">
        <p14:creationId xmlns:p14="http://schemas.microsoft.com/office/powerpoint/2010/main" val="1040116811"/>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FB5A6A0E-6449-4C33-5471-C909D98B8F64}"/>
              </a:ext>
            </a:extLst>
          </p:cNvPr>
          <p:cNvGraphicFramePr>
            <a:graphicFrameLocks noGrp="1"/>
          </p:cNvGraphicFramePr>
          <p:nvPr>
            <p:extLst>
              <p:ext uri="{D42A27DB-BD31-4B8C-83A1-F6EECF244321}">
                <p14:modId xmlns:p14="http://schemas.microsoft.com/office/powerpoint/2010/main" val="3543421943"/>
              </p:ext>
            </p:extLst>
          </p:nvPr>
        </p:nvGraphicFramePr>
        <p:xfrm>
          <a:off x="696000" y="1515786"/>
          <a:ext cx="10800000" cy="3341560"/>
        </p:xfrm>
        <a:graphic>
          <a:graphicData uri="http://schemas.openxmlformats.org/drawingml/2006/table">
            <a:tbl>
              <a:tblPr/>
              <a:tblGrid>
                <a:gridCol w="1080000">
                  <a:extLst>
                    <a:ext uri="{9D8B030D-6E8A-4147-A177-3AD203B41FA5}">
                      <a16:colId xmlns:a16="http://schemas.microsoft.com/office/drawing/2014/main" val="2100046245"/>
                    </a:ext>
                  </a:extLst>
                </a:gridCol>
                <a:gridCol w="1440000">
                  <a:extLst>
                    <a:ext uri="{9D8B030D-6E8A-4147-A177-3AD203B41FA5}">
                      <a16:colId xmlns:a16="http://schemas.microsoft.com/office/drawing/2014/main" val="1089623193"/>
                    </a:ext>
                  </a:extLst>
                </a:gridCol>
                <a:gridCol w="1440000">
                  <a:extLst>
                    <a:ext uri="{9D8B030D-6E8A-4147-A177-3AD203B41FA5}">
                      <a16:colId xmlns:a16="http://schemas.microsoft.com/office/drawing/2014/main" val="2837315405"/>
                    </a:ext>
                  </a:extLst>
                </a:gridCol>
                <a:gridCol w="3600000">
                  <a:extLst>
                    <a:ext uri="{9D8B030D-6E8A-4147-A177-3AD203B41FA5}">
                      <a16:colId xmlns:a16="http://schemas.microsoft.com/office/drawing/2014/main" val="4171875191"/>
                    </a:ext>
                  </a:extLst>
                </a:gridCol>
                <a:gridCol w="3240000">
                  <a:extLst>
                    <a:ext uri="{9D8B030D-6E8A-4147-A177-3AD203B41FA5}">
                      <a16:colId xmlns:a16="http://schemas.microsoft.com/office/drawing/2014/main" val="2634054395"/>
                    </a:ext>
                  </a:extLst>
                </a:gridCol>
              </a:tblGrid>
              <a:tr h="179829">
                <a:tc>
                  <a:txBody>
                    <a:bodyPr/>
                    <a:lstStyle/>
                    <a:p>
                      <a:pPr algn="l">
                        <a:buNone/>
                      </a:pPr>
                      <a:r>
                        <a:rPr lang="zh-CN" altLang="en-US" sz="1400" dirty="0">
                          <a:solidFill>
                            <a:schemeClr val="bg1"/>
                          </a:solidFill>
                        </a:rPr>
                        <a:t>符号</a:t>
                      </a:r>
                    </a:p>
                  </a:txBody>
                  <a:tcPr marL="72009" marR="72009" marT="36004" marB="36004" anchor="ctr">
                    <a:lnL>
                      <a:noFill/>
                    </a:lnL>
                    <a:lnR>
                      <a:noFill/>
                    </a:lnR>
                    <a:lnT>
                      <a:noFill/>
                    </a:lnT>
                    <a:lnB>
                      <a:noFill/>
                    </a:lnB>
                    <a:lnTlToBr w="12700" cmpd="sng">
                      <a:noFill/>
                      <a:prstDash val="solid"/>
                    </a:lnTlToBr>
                    <a:lnBlToTr w="12700" cmpd="sng">
                      <a:noFill/>
                      <a:prstDash val="solid"/>
                    </a:lnBlToTr>
                    <a:solidFill>
                      <a:srgbClr val="00B0F0"/>
                    </a:solidFill>
                  </a:tcPr>
                </a:tc>
                <a:tc>
                  <a:txBody>
                    <a:bodyPr/>
                    <a:lstStyle/>
                    <a:p>
                      <a:pPr algn="l">
                        <a:buNone/>
                      </a:pPr>
                      <a:r>
                        <a:rPr lang="zh-CN" altLang="en-US" sz="1400" dirty="0">
                          <a:solidFill>
                            <a:schemeClr val="bg1"/>
                          </a:solidFill>
                        </a:rPr>
                        <a:t>名称</a:t>
                      </a:r>
                    </a:p>
                  </a:txBody>
                  <a:tcPr marL="72009" marR="72009" marT="36004" marB="36004" anchor="ctr">
                    <a:lnL>
                      <a:noFill/>
                    </a:lnL>
                    <a:lnR>
                      <a:noFill/>
                    </a:lnR>
                    <a:lnT>
                      <a:noFill/>
                    </a:lnT>
                    <a:lnB>
                      <a:noFill/>
                    </a:lnB>
                    <a:lnTlToBr w="12700" cmpd="sng">
                      <a:noFill/>
                      <a:prstDash val="solid"/>
                    </a:lnTlToBr>
                    <a:lnBlToTr w="12700" cmpd="sng">
                      <a:noFill/>
                      <a:prstDash val="solid"/>
                    </a:lnBlToTr>
                    <a:solidFill>
                      <a:srgbClr val="00B0F0"/>
                    </a:solidFill>
                  </a:tcPr>
                </a:tc>
                <a:tc>
                  <a:txBody>
                    <a:bodyPr/>
                    <a:lstStyle/>
                    <a:p>
                      <a:pPr algn="l">
                        <a:buNone/>
                      </a:pPr>
                      <a:r>
                        <a:rPr lang="zh-CN" altLang="en-US" sz="1400" dirty="0">
                          <a:solidFill>
                            <a:schemeClr val="bg1"/>
                          </a:solidFill>
                        </a:rPr>
                        <a:t>含义说明</a:t>
                      </a:r>
                    </a:p>
                  </a:txBody>
                  <a:tcPr marL="72009" marR="72009" marT="36004" marB="36004" anchor="ctr">
                    <a:lnL>
                      <a:noFill/>
                    </a:lnL>
                    <a:lnR>
                      <a:noFill/>
                    </a:lnR>
                    <a:lnT>
                      <a:noFill/>
                    </a:lnT>
                    <a:lnB>
                      <a:noFill/>
                    </a:lnB>
                    <a:lnTlToBr w="12700" cmpd="sng">
                      <a:noFill/>
                      <a:prstDash val="solid"/>
                    </a:lnTlToBr>
                    <a:lnBlToTr w="12700" cmpd="sng">
                      <a:noFill/>
                      <a:prstDash val="solid"/>
                    </a:lnBlToTr>
                    <a:solidFill>
                      <a:srgbClr val="00B0F0"/>
                    </a:solidFill>
                  </a:tcPr>
                </a:tc>
                <a:tc>
                  <a:txBody>
                    <a:bodyPr/>
                    <a:lstStyle/>
                    <a:p>
                      <a:pPr algn="l">
                        <a:buNone/>
                      </a:pPr>
                      <a:r>
                        <a:rPr lang="zh-CN" altLang="en-US" sz="1400" dirty="0">
                          <a:solidFill>
                            <a:schemeClr val="bg1"/>
                          </a:solidFill>
                        </a:rPr>
                        <a:t>示例</a:t>
                      </a:r>
                    </a:p>
                  </a:txBody>
                  <a:tcPr marL="72009" marR="72009" marT="36004" marB="36004" anchor="ctr">
                    <a:lnL>
                      <a:noFill/>
                    </a:lnL>
                    <a:lnR>
                      <a:noFill/>
                    </a:lnR>
                    <a:lnT>
                      <a:noFill/>
                    </a:lnT>
                    <a:lnB>
                      <a:noFill/>
                    </a:lnB>
                    <a:lnTlToBr w="12700" cmpd="sng">
                      <a:noFill/>
                      <a:prstDash val="solid"/>
                    </a:lnTlToBr>
                    <a:lnBlToTr w="12700" cmpd="sng">
                      <a:noFill/>
                      <a:prstDash val="solid"/>
                    </a:lnBlToTr>
                    <a:solidFill>
                      <a:srgbClr val="00B0F0"/>
                    </a:solidFill>
                  </a:tcPr>
                </a:tc>
                <a:tc>
                  <a:txBody>
                    <a:bodyPr/>
                    <a:lstStyle/>
                    <a:p>
                      <a:pPr algn="l">
                        <a:buNone/>
                      </a:pPr>
                      <a:r>
                        <a:rPr lang="zh-CN" altLang="en-US" sz="1400" dirty="0">
                          <a:solidFill>
                            <a:schemeClr val="bg1"/>
                          </a:solidFill>
                        </a:rPr>
                        <a:t>解释</a:t>
                      </a:r>
                    </a:p>
                  </a:txBody>
                  <a:tcPr marL="72009" marR="72009" marT="36004" marB="36004" anchor="ctr">
                    <a:lnL>
                      <a:noFill/>
                    </a:lnL>
                    <a:lnR>
                      <a:noFill/>
                    </a:lnR>
                    <a:lnT>
                      <a:noFill/>
                    </a:lnT>
                    <a:lnB>
                      <a:noFill/>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774419942"/>
                  </a:ext>
                </a:extLst>
              </a:tr>
              <a:tr h="318660">
                <a:tc>
                  <a:txBody>
                    <a:bodyPr/>
                    <a:lstStyle/>
                    <a:p>
                      <a:pPr algn="l">
                        <a:buNone/>
                      </a:pPr>
                      <a:r>
                        <a:rPr lang="en-US" altLang="zh-CN" sz="1400"/>
                        <a:t>=</a:t>
                      </a:r>
                    </a:p>
                  </a:txBody>
                  <a:tcPr marL="72009" marR="72009" marT="36004" marB="36004" anchor="ctr">
                    <a:lnL>
                      <a:noFill/>
                    </a:lnL>
                    <a:lnR>
                      <a:noFill/>
                    </a:lnR>
                    <a:lnT>
                      <a:noFill/>
                    </a:lnT>
                    <a:lnB>
                      <a:noFill/>
                    </a:lnB>
                    <a:noFill/>
                  </a:tcPr>
                </a:tc>
                <a:tc>
                  <a:txBody>
                    <a:bodyPr/>
                    <a:lstStyle/>
                    <a:p>
                      <a:pPr algn="l">
                        <a:buNone/>
                      </a:pPr>
                      <a:r>
                        <a:rPr lang="zh-CN" altLang="en-US" sz="1400"/>
                        <a:t>定义符</a:t>
                      </a:r>
                    </a:p>
                  </a:txBody>
                  <a:tcPr marL="72009" marR="72009" marT="36004" marB="36004" anchor="ctr">
                    <a:lnL>
                      <a:noFill/>
                    </a:lnL>
                    <a:lnR>
                      <a:noFill/>
                    </a:lnR>
                    <a:lnT>
                      <a:noFill/>
                    </a:lnT>
                    <a:lnB>
                      <a:noFill/>
                    </a:lnB>
                    <a:noFill/>
                  </a:tcPr>
                </a:tc>
                <a:tc>
                  <a:txBody>
                    <a:bodyPr/>
                    <a:lstStyle/>
                    <a:p>
                      <a:pPr algn="l">
                        <a:buNone/>
                      </a:pPr>
                      <a:r>
                        <a:rPr lang="zh-CN" altLang="en-US" sz="1400"/>
                        <a:t>由</a:t>
                      </a:r>
                      <a:r>
                        <a:rPr lang="en-US" altLang="zh-CN" sz="1400"/>
                        <a:t>……</a:t>
                      </a:r>
                      <a:r>
                        <a:rPr lang="zh-CN" altLang="en-US" sz="1400"/>
                        <a:t>组成</a:t>
                      </a:r>
                    </a:p>
                  </a:txBody>
                  <a:tcPr marL="72009" marR="72009" marT="36004" marB="36004" anchor="ctr">
                    <a:lnL>
                      <a:noFill/>
                    </a:lnL>
                    <a:lnR>
                      <a:noFill/>
                    </a:lnR>
                    <a:lnT>
                      <a:noFill/>
                    </a:lnT>
                    <a:lnB>
                      <a:noFill/>
                    </a:lnB>
                    <a:noFill/>
                  </a:tcPr>
                </a:tc>
                <a:tc>
                  <a:txBody>
                    <a:bodyPr/>
                    <a:lstStyle/>
                    <a:p>
                      <a:pPr algn="l">
                        <a:buNone/>
                      </a:pPr>
                      <a:r>
                        <a:rPr lang="zh-CN" altLang="en-US" sz="1400"/>
                        <a:t>订单 </a:t>
                      </a:r>
                      <a:r>
                        <a:rPr lang="en-US" altLang="zh-CN" sz="1400"/>
                        <a:t>= </a:t>
                      </a:r>
                      <a:r>
                        <a:rPr lang="zh-CN" altLang="en-US" sz="1400"/>
                        <a:t>订单</a:t>
                      </a:r>
                      <a:r>
                        <a:rPr lang="en-US" altLang="zh-CN" sz="1400"/>
                        <a:t>ID + </a:t>
                      </a:r>
                      <a:r>
                        <a:rPr lang="zh-CN" altLang="en-US" sz="1400"/>
                        <a:t>客户名 </a:t>
                      </a:r>
                      <a:r>
                        <a:rPr lang="en-US" altLang="zh-CN" sz="1400"/>
                        <a:t>+ {</a:t>
                      </a:r>
                      <a:r>
                        <a:rPr lang="zh-CN" altLang="en-US" sz="1400"/>
                        <a:t>商品</a:t>
                      </a:r>
                      <a:r>
                        <a:rPr lang="en-US" altLang="zh-CN" sz="1400"/>
                        <a:t>}</a:t>
                      </a:r>
                      <a:endParaRPr lang="zh-CN" altLang="en-US" sz="1400"/>
                    </a:p>
                  </a:txBody>
                  <a:tcPr marL="72009" marR="72009" marT="36004" marB="36004" anchor="ctr">
                    <a:lnL>
                      <a:noFill/>
                    </a:lnL>
                    <a:lnR>
                      <a:noFill/>
                    </a:lnR>
                    <a:lnT>
                      <a:noFill/>
                    </a:lnT>
                    <a:lnB>
                      <a:noFill/>
                    </a:lnB>
                    <a:noFill/>
                  </a:tcPr>
                </a:tc>
                <a:tc>
                  <a:txBody>
                    <a:bodyPr/>
                    <a:lstStyle/>
                    <a:p>
                      <a:pPr algn="l">
                        <a:buNone/>
                      </a:pPr>
                      <a:r>
                        <a:rPr lang="zh-CN" altLang="en-US" sz="1400"/>
                        <a:t>左边的条目由右边的元素构成</a:t>
                      </a:r>
                    </a:p>
                  </a:txBody>
                  <a:tcPr marL="72009" marR="72009" marT="36004" marB="36004" anchor="ctr">
                    <a:lnL>
                      <a:noFill/>
                    </a:lnL>
                    <a:lnR>
                      <a:noFill/>
                    </a:lnR>
                    <a:lnT>
                      <a:noFill/>
                    </a:lnT>
                    <a:lnB>
                      <a:noFill/>
                    </a:lnB>
                    <a:noFill/>
                  </a:tcPr>
                </a:tc>
                <a:extLst>
                  <a:ext uri="{0D108BD9-81ED-4DB2-BD59-A6C34878D82A}">
                    <a16:rowId xmlns:a16="http://schemas.microsoft.com/office/drawing/2014/main" val="368228190"/>
                  </a:ext>
                </a:extLst>
              </a:tr>
              <a:tr h="318660">
                <a:tc>
                  <a:txBody>
                    <a:bodyPr/>
                    <a:lstStyle/>
                    <a:p>
                      <a:pPr algn="l">
                        <a:buNone/>
                      </a:pPr>
                      <a:r>
                        <a:rPr lang="en-US" altLang="zh-CN" sz="1400"/>
                        <a:t>+</a:t>
                      </a:r>
                    </a:p>
                  </a:txBody>
                  <a:tcPr marL="72009" marR="72009" marT="36004" marB="36004" anchor="ctr">
                    <a:lnL>
                      <a:noFill/>
                    </a:lnL>
                    <a:lnR>
                      <a:noFill/>
                    </a:lnR>
                    <a:lnT>
                      <a:noFill/>
                    </a:lnT>
                    <a:lnB>
                      <a:noFill/>
                    </a:lnB>
                    <a:noFill/>
                  </a:tcPr>
                </a:tc>
                <a:tc>
                  <a:txBody>
                    <a:bodyPr/>
                    <a:lstStyle/>
                    <a:p>
                      <a:pPr algn="l">
                        <a:buNone/>
                      </a:pPr>
                      <a:r>
                        <a:rPr lang="zh-CN" altLang="en-US" sz="1400"/>
                        <a:t>连接符</a:t>
                      </a:r>
                    </a:p>
                  </a:txBody>
                  <a:tcPr marL="72009" marR="72009" marT="36004" marB="36004" anchor="ctr">
                    <a:lnL>
                      <a:noFill/>
                    </a:lnL>
                    <a:lnR>
                      <a:noFill/>
                    </a:lnR>
                    <a:lnT>
                      <a:noFill/>
                    </a:lnT>
                    <a:lnB>
                      <a:noFill/>
                    </a:lnB>
                    <a:noFill/>
                  </a:tcPr>
                </a:tc>
                <a:tc>
                  <a:txBody>
                    <a:bodyPr/>
                    <a:lstStyle/>
                    <a:p>
                      <a:pPr algn="l">
                        <a:buNone/>
                      </a:pPr>
                      <a:r>
                        <a:rPr lang="zh-CN" altLang="en-US" sz="1400"/>
                        <a:t>和 </a:t>
                      </a:r>
                      <a:r>
                        <a:rPr lang="en-US" altLang="zh-CN" sz="1400"/>
                        <a:t>/ </a:t>
                      </a:r>
                      <a:r>
                        <a:rPr lang="zh-CN" altLang="en-US" sz="1400"/>
                        <a:t>与</a:t>
                      </a:r>
                    </a:p>
                  </a:txBody>
                  <a:tcPr marL="72009" marR="72009" marT="36004" marB="36004" anchor="ctr">
                    <a:lnL>
                      <a:noFill/>
                    </a:lnL>
                    <a:lnR>
                      <a:noFill/>
                    </a:lnR>
                    <a:lnT>
                      <a:noFill/>
                    </a:lnT>
                    <a:lnB>
                      <a:noFill/>
                    </a:lnB>
                    <a:noFill/>
                  </a:tcPr>
                </a:tc>
                <a:tc>
                  <a:txBody>
                    <a:bodyPr/>
                    <a:lstStyle/>
                    <a:p>
                      <a:pPr algn="l">
                        <a:buNone/>
                      </a:pPr>
                      <a:r>
                        <a:rPr lang="zh-CN" altLang="en-US" sz="1400"/>
                        <a:t>地址 </a:t>
                      </a:r>
                      <a:r>
                        <a:rPr lang="en-US" altLang="zh-CN" sz="1400"/>
                        <a:t>= </a:t>
                      </a:r>
                      <a:r>
                        <a:rPr lang="zh-CN" altLang="en-US" sz="1400"/>
                        <a:t>省 </a:t>
                      </a:r>
                      <a:r>
                        <a:rPr lang="en-US" altLang="zh-CN" sz="1400"/>
                        <a:t>+ </a:t>
                      </a:r>
                      <a:r>
                        <a:rPr lang="zh-CN" altLang="en-US" sz="1400"/>
                        <a:t>市 </a:t>
                      </a:r>
                      <a:r>
                        <a:rPr lang="en-US" altLang="zh-CN" sz="1400"/>
                        <a:t>+ </a:t>
                      </a:r>
                      <a:r>
                        <a:rPr lang="zh-CN" altLang="en-US" sz="1400"/>
                        <a:t>区</a:t>
                      </a:r>
                    </a:p>
                  </a:txBody>
                  <a:tcPr marL="72009" marR="72009" marT="36004" marB="36004" anchor="ctr">
                    <a:lnL>
                      <a:noFill/>
                    </a:lnL>
                    <a:lnR>
                      <a:noFill/>
                    </a:lnR>
                    <a:lnT>
                      <a:noFill/>
                    </a:lnT>
                    <a:lnB>
                      <a:noFill/>
                    </a:lnB>
                    <a:noFill/>
                  </a:tcPr>
                </a:tc>
                <a:tc>
                  <a:txBody>
                    <a:bodyPr/>
                    <a:lstStyle/>
                    <a:p>
                      <a:pPr algn="l">
                        <a:buNone/>
                      </a:pPr>
                      <a:r>
                        <a:rPr lang="zh-CN" altLang="en-US" sz="1400"/>
                        <a:t>表示多个数据项的并列组合</a:t>
                      </a:r>
                    </a:p>
                  </a:txBody>
                  <a:tcPr marL="72009" marR="72009" marT="36004" marB="36004" anchor="ctr">
                    <a:lnL>
                      <a:noFill/>
                    </a:lnL>
                    <a:lnR>
                      <a:noFill/>
                    </a:lnR>
                    <a:lnT>
                      <a:noFill/>
                    </a:lnT>
                    <a:lnB>
                      <a:noFill/>
                    </a:lnB>
                    <a:noFill/>
                  </a:tcPr>
                </a:tc>
                <a:extLst>
                  <a:ext uri="{0D108BD9-81ED-4DB2-BD59-A6C34878D82A}">
                    <a16:rowId xmlns:a16="http://schemas.microsoft.com/office/drawing/2014/main" val="4227657146"/>
                  </a:ext>
                </a:extLst>
              </a:tr>
              <a:tr h="179829">
                <a:tc>
                  <a:txBody>
                    <a:bodyPr/>
                    <a:lstStyle/>
                    <a:p>
                      <a:pPr algn="l">
                        <a:buNone/>
                      </a:pPr>
                      <a:r>
                        <a:rPr lang="en-US" altLang="zh-CN" sz="1400"/>
                        <a:t>[ ]</a:t>
                      </a:r>
                    </a:p>
                  </a:txBody>
                  <a:tcPr marL="72009" marR="72009" marT="36004" marB="36004" anchor="ctr">
                    <a:lnL>
                      <a:noFill/>
                    </a:lnL>
                    <a:lnR>
                      <a:noFill/>
                    </a:lnR>
                    <a:lnT>
                      <a:noFill/>
                    </a:lnT>
                    <a:lnB>
                      <a:noFill/>
                    </a:lnB>
                    <a:noFill/>
                  </a:tcPr>
                </a:tc>
                <a:tc>
                  <a:txBody>
                    <a:bodyPr/>
                    <a:lstStyle/>
                    <a:p>
                      <a:pPr algn="l">
                        <a:buNone/>
                      </a:pPr>
                      <a:r>
                        <a:rPr lang="zh-CN" altLang="en-US" sz="1400"/>
                        <a:t>选择符</a:t>
                      </a:r>
                    </a:p>
                  </a:txBody>
                  <a:tcPr marL="72009" marR="72009" marT="36004" marB="36004" anchor="ctr">
                    <a:lnL>
                      <a:noFill/>
                    </a:lnL>
                    <a:lnR>
                      <a:noFill/>
                    </a:lnR>
                    <a:lnT>
                      <a:noFill/>
                    </a:lnT>
                    <a:lnB>
                      <a:noFill/>
                    </a:lnB>
                    <a:noFill/>
                  </a:tcPr>
                </a:tc>
                <a:tc>
                  <a:txBody>
                    <a:bodyPr/>
                    <a:lstStyle/>
                    <a:p>
                      <a:pPr algn="l">
                        <a:buNone/>
                      </a:pPr>
                      <a:r>
                        <a:rPr lang="zh-CN" altLang="en-US" sz="1400"/>
                        <a:t>或 </a:t>
                      </a:r>
                      <a:r>
                        <a:rPr lang="en-US" altLang="zh-CN" sz="1400"/>
                        <a:t>/ </a:t>
                      </a:r>
                      <a:r>
                        <a:rPr lang="zh-CN" altLang="en-US" sz="1400"/>
                        <a:t>互斥</a:t>
                      </a:r>
                    </a:p>
                  </a:txBody>
                  <a:tcPr marL="72009" marR="72009" marT="36004" marB="36004" anchor="ctr">
                    <a:lnL>
                      <a:noFill/>
                    </a:lnL>
                    <a:lnR>
                      <a:noFill/>
                    </a:lnR>
                    <a:lnT>
                      <a:noFill/>
                    </a:lnT>
                    <a:lnB>
                      <a:noFill/>
                    </a:lnB>
                    <a:noFill/>
                  </a:tcPr>
                </a:tc>
                <a:tc>
                  <a:txBody>
                    <a:bodyPr/>
                    <a:lstStyle/>
                    <a:p>
                      <a:pPr algn="l">
                        <a:buNone/>
                      </a:pPr>
                      <a:r>
                        <a:rPr lang="zh-CN" altLang="en-US" sz="1400"/>
                        <a:t>支付方式 </a:t>
                      </a:r>
                      <a:r>
                        <a:rPr lang="en-US" altLang="zh-CN" sz="1400"/>
                        <a:t>= [</a:t>
                      </a:r>
                      <a:r>
                        <a:rPr lang="zh-CN" altLang="en-US" sz="1400"/>
                        <a:t>支付宝 </a:t>
                      </a:r>
                      <a:r>
                        <a:rPr lang="en-US" altLang="zh-CN" sz="1400"/>
                        <a:t>| </a:t>
                      </a:r>
                      <a:r>
                        <a:rPr lang="zh-CN" altLang="en-US" sz="1400"/>
                        <a:t>微信</a:t>
                      </a:r>
                      <a:r>
                        <a:rPr lang="en-US" altLang="zh-CN" sz="1400"/>
                        <a:t>]</a:t>
                      </a:r>
                      <a:endParaRPr lang="zh-CN" altLang="en-US" sz="1400"/>
                    </a:p>
                  </a:txBody>
                  <a:tcPr marL="72009" marR="72009" marT="36004" marB="36004" anchor="ctr">
                    <a:lnL>
                      <a:noFill/>
                    </a:lnL>
                    <a:lnR>
                      <a:noFill/>
                    </a:lnR>
                    <a:lnT>
                      <a:noFill/>
                    </a:lnT>
                    <a:lnB>
                      <a:noFill/>
                    </a:lnB>
                    <a:noFill/>
                  </a:tcPr>
                </a:tc>
                <a:tc>
                  <a:txBody>
                    <a:bodyPr/>
                    <a:lstStyle/>
                    <a:p>
                      <a:pPr algn="l">
                        <a:buNone/>
                      </a:pPr>
                      <a:r>
                        <a:rPr lang="zh-CN" altLang="en-US" sz="1400"/>
                        <a:t>支付宝或微信</a:t>
                      </a:r>
                    </a:p>
                  </a:txBody>
                  <a:tcPr marL="72009" marR="72009" marT="36004" marB="36004" anchor="ctr">
                    <a:lnL>
                      <a:noFill/>
                    </a:lnL>
                    <a:lnR>
                      <a:noFill/>
                    </a:lnR>
                    <a:lnT>
                      <a:noFill/>
                    </a:lnT>
                    <a:lnB>
                      <a:noFill/>
                    </a:lnB>
                    <a:noFill/>
                  </a:tcPr>
                </a:tc>
                <a:extLst>
                  <a:ext uri="{0D108BD9-81ED-4DB2-BD59-A6C34878D82A}">
                    <a16:rowId xmlns:a16="http://schemas.microsoft.com/office/drawing/2014/main" val="3785771895"/>
                  </a:ext>
                </a:extLst>
              </a:tr>
              <a:tr h="318660">
                <a:tc>
                  <a:txBody>
                    <a:bodyPr/>
                    <a:lstStyle/>
                    <a:p>
                      <a:pPr algn="l">
                        <a:buNone/>
                      </a:pPr>
                      <a:r>
                        <a:rPr lang="en-US" altLang="zh-CN" sz="1400"/>
                        <a:t>( )</a:t>
                      </a:r>
                    </a:p>
                  </a:txBody>
                  <a:tcPr marL="72009" marR="72009" marT="36004" marB="36004" anchor="ctr">
                    <a:lnL>
                      <a:noFill/>
                    </a:lnL>
                    <a:lnR>
                      <a:noFill/>
                    </a:lnR>
                    <a:lnT>
                      <a:noFill/>
                    </a:lnT>
                    <a:lnB>
                      <a:noFill/>
                    </a:lnB>
                    <a:noFill/>
                  </a:tcPr>
                </a:tc>
                <a:tc>
                  <a:txBody>
                    <a:bodyPr/>
                    <a:lstStyle/>
                    <a:p>
                      <a:pPr algn="l">
                        <a:buNone/>
                      </a:pPr>
                      <a:r>
                        <a:rPr lang="zh-CN" altLang="en-US" sz="1400"/>
                        <a:t>可选符</a:t>
                      </a:r>
                    </a:p>
                  </a:txBody>
                  <a:tcPr marL="72009" marR="72009" marT="36004" marB="36004" anchor="ctr">
                    <a:lnL>
                      <a:noFill/>
                    </a:lnL>
                    <a:lnR>
                      <a:noFill/>
                    </a:lnR>
                    <a:lnT>
                      <a:noFill/>
                    </a:lnT>
                    <a:lnB>
                      <a:noFill/>
                    </a:lnB>
                    <a:noFill/>
                  </a:tcPr>
                </a:tc>
                <a:tc>
                  <a:txBody>
                    <a:bodyPr/>
                    <a:lstStyle/>
                    <a:p>
                      <a:pPr algn="l">
                        <a:buNone/>
                      </a:pPr>
                      <a:r>
                        <a:rPr lang="zh-CN" altLang="en-US" sz="1400"/>
                        <a:t>可选</a:t>
                      </a:r>
                    </a:p>
                  </a:txBody>
                  <a:tcPr marL="72009" marR="72009" marT="36004" marB="36004" anchor="ctr">
                    <a:lnL>
                      <a:noFill/>
                    </a:lnL>
                    <a:lnR>
                      <a:noFill/>
                    </a:lnR>
                    <a:lnT>
                      <a:noFill/>
                    </a:lnT>
                    <a:lnB>
                      <a:noFill/>
                    </a:lnB>
                    <a:noFill/>
                  </a:tcPr>
                </a:tc>
                <a:tc>
                  <a:txBody>
                    <a:bodyPr/>
                    <a:lstStyle/>
                    <a:p>
                      <a:pPr algn="l">
                        <a:buNone/>
                      </a:pPr>
                      <a:r>
                        <a:rPr lang="zh-CN" altLang="en-US" sz="1400"/>
                        <a:t>电话 </a:t>
                      </a:r>
                      <a:r>
                        <a:rPr lang="en-US" altLang="zh-CN" sz="1400"/>
                        <a:t>=(</a:t>
                      </a:r>
                      <a:r>
                        <a:rPr lang="zh-CN" altLang="en-US" sz="1400"/>
                        <a:t>区号</a:t>
                      </a:r>
                      <a:r>
                        <a:rPr lang="en-US" altLang="zh-CN" sz="1400"/>
                        <a:t>) + </a:t>
                      </a:r>
                      <a:r>
                        <a:rPr lang="zh-CN" altLang="en-US" sz="1400"/>
                        <a:t>号码</a:t>
                      </a:r>
                    </a:p>
                  </a:txBody>
                  <a:tcPr marL="72009" marR="72009" marT="36004" marB="36004" anchor="ctr">
                    <a:lnL>
                      <a:noFill/>
                    </a:lnL>
                    <a:lnR>
                      <a:noFill/>
                    </a:lnR>
                    <a:lnT>
                      <a:noFill/>
                    </a:lnT>
                    <a:lnB>
                      <a:noFill/>
                    </a:lnB>
                    <a:noFill/>
                  </a:tcPr>
                </a:tc>
                <a:tc>
                  <a:txBody>
                    <a:bodyPr/>
                    <a:lstStyle/>
                    <a:p>
                      <a:pPr algn="l">
                        <a:buNone/>
                      </a:pPr>
                      <a:r>
                        <a:rPr lang="zh-CN" altLang="en-US" sz="1400"/>
                        <a:t>表示圆括号内的元素是可有可无的</a:t>
                      </a:r>
                    </a:p>
                  </a:txBody>
                  <a:tcPr marL="72009" marR="72009" marT="36004" marB="36004" anchor="ctr">
                    <a:lnL>
                      <a:noFill/>
                    </a:lnL>
                    <a:lnR>
                      <a:noFill/>
                    </a:lnR>
                    <a:lnT>
                      <a:noFill/>
                    </a:lnT>
                    <a:lnB>
                      <a:noFill/>
                    </a:lnB>
                    <a:noFill/>
                  </a:tcPr>
                </a:tc>
                <a:extLst>
                  <a:ext uri="{0D108BD9-81ED-4DB2-BD59-A6C34878D82A}">
                    <a16:rowId xmlns:a16="http://schemas.microsoft.com/office/drawing/2014/main" val="1402032865"/>
                  </a:ext>
                </a:extLst>
              </a:tr>
              <a:tr h="457491">
                <a:tc>
                  <a:txBody>
                    <a:bodyPr/>
                    <a:lstStyle/>
                    <a:p>
                      <a:pPr algn="l">
                        <a:buNone/>
                      </a:pPr>
                      <a:r>
                        <a:rPr lang="en-US" altLang="zh-CN" sz="1400"/>
                        <a:t>{ }</a:t>
                      </a:r>
                    </a:p>
                  </a:txBody>
                  <a:tcPr marL="72009" marR="72009" marT="36004" marB="36004" anchor="ctr">
                    <a:lnL>
                      <a:noFill/>
                    </a:lnL>
                    <a:lnR>
                      <a:noFill/>
                    </a:lnR>
                    <a:lnT>
                      <a:noFill/>
                    </a:lnT>
                    <a:lnB>
                      <a:noFill/>
                    </a:lnB>
                    <a:noFill/>
                  </a:tcPr>
                </a:tc>
                <a:tc>
                  <a:txBody>
                    <a:bodyPr/>
                    <a:lstStyle/>
                    <a:p>
                      <a:pPr algn="l">
                        <a:buNone/>
                      </a:pPr>
                      <a:r>
                        <a:rPr lang="zh-CN" altLang="en-US" sz="1400"/>
                        <a:t>重复符</a:t>
                      </a:r>
                    </a:p>
                  </a:txBody>
                  <a:tcPr marL="72009" marR="72009" marT="36004" marB="36004" anchor="ctr">
                    <a:lnL>
                      <a:noFill/>
                    </a:lnL>
                    <a:lnR>
                      <a:noFill/>
                    </a:lnR>
                    <a:lnT>
                      <a:noFill/>
                    </a:lnT>
                    <a:lnB>
                      <a:noFill/>
                    </a:lnB>
                    <a:noFill/>
                  </a:tcPr>
                </a:tc>
                <a:tc>
                  <a:txBody>
                    <a:bodyPr/>
                    <a:lstStyle/>
                    <a:p>
                      <a:pPr algn="l">
                        <a:buNone/>
                      </a:pPr>
                      <a:r>
                        <a:rPr lang="zh-CN" altLang="en-US" sz="1400"/>
                        <a:t>重复</a:t>
                      </a:r>
                    </a:p>
                  </a:txBody>
                  <a:tcPr marL="72009" marR="72009" marT="36004" marB="36004" anchor="ctr">
                    <a:lnL>
                      <a:noFill/>
                    </a:lnL>
                    <a:lnR>
                      <a:noFill/>
                    </a:lnR>
                    <a:lnT>
                      <a:noFill/>
                    </a:lnT>
                    <a:lnB>
                      <a:noFill/>
                    </a:lnB>
                    <a:noFill/>
                  </a:tcPr>
                </a:tc>
                <a:tc>
                  <a:txBody>
                    <a:bodyPr/>
                    <a:lstStyle/>
                    <a:p>
                      <a:pPr algn="l">
                        <a:buNone/>
                      </a:pPr>
                      <a:r>
                        <a:rPr lang="zh-CN" altLang="en-US" sz="1400"/>
                        <a:t>订单明细 </a:t>
                      </a:r>
                      <a:r>
                        <a:rPr lang="en-US" altLang="zh-CN" sz="1400"/>
                        <a:t>= {</a:t>
                      </a:r>
                      <a:r>
                        <a:rPr lang="zh-CN" altLang="en-US" sz="1400"/>
                        <a:t>商品信息</a:t>
                      </a:r>
                      <a:r>
                        <a:rPr lang="en-US" altLang="zh-CN" sz="1400"/>
                        <a:t>}</a:t>
                      </a:r>
                      <a:endParaRPr lang="zh-CN" altLang="en-US" sz="1400"/>
                    </a:p>
                  </a:txBody>
                  <a:tcPr marL="72009" marR="72009" marT="36004" marB="36004" anchor="ctr">
                    <a:lnL>
                      <a:noFill/>
                    </a:lnL>
                    <a:lnR>
                      <a:noFill/>
                    </a:lnR>
                    <a:lnT>
                      <a:noFill/>
                    </a:lnT>
                    <a:lnB>
                      <a:noFill/>
                    </a:lnB>
                    <a:noFill/>
                  </a:tcPr>
                </a:tc>
                <a:tc>
                  <a:txBody>
                    <a:bodyPr/>
                    <a:lstStyle/>
                    <a:p>
                      <a:pPr algn="l">
                        <a:buNone/>
                      </a:pPr>
                      <a:r>
                        <a:rPr lang="zh-CN" altLang="en-US" sz="1400"/>
                        <a:t>表示花括号内的元素可以重复出现（</a:t>
                      </a:r>
                      <a:r>
                        <a:rPr lang="en-US" altLang="zh-CN" sz="1400"/>
                        <a:t>0</a:t>
                      </a:r>
                      <a:r>
                        <a:rPr lang="zh-CN" altLang="en-US" sz="1400"/>
                        <a:t>次或多次）</a:t>
                      </a:r>
                    </a:p>
                  </a:txBody>
                  <a:tcPr marL="72009" marR="72009" marT="36004" marB="36004" anchor="ctr">
                    <a:lnL>
                      <a:noFill/>
                    </a:lnL>
                    <a:lnR>
                      <a:noFill/>
                    </a:lnR>
                    <a:lnT>
                      <a:noFill/>
                    </a:lnT>
                    <a:lnB>
                      <a:noFill/>
                    </a:lnB>
                    <a:noFill/>
                  </a:tcPr>
                </a:tc>
                <a:extLst>
                  <a:ext uri="{0D108BD9-81ED-4DB2-BD59-A6C34878D82A}">
                    <a16:rowId xmlns:a16="http://schemas.microsoft.com/office/drawing/2014/main" val="1540327194"/>
                  </a:ext>
                </a:extLst>
              </a:tr>
              <a:tr h="457491">
                <a:tc>
                  <a:txBody>
                    <a:bodyPr/>
                    <a:lstStyle/>
                    <a:p>
                      <a:pPr algn="l">
                        <a:buNone/>
                      </a:pPr>
                      <a:r>
                        <a:rPr lang="en-US" sz="1400"/>
                        <a:t>{ }n</a:t>
                      </a:r>
                    </a:p>
                  </a:txBody>
                  <a:tcPr marL="72009" marR="72009" marT="36004" marB="36004" anchor="ctr">
                    <a:lnL>
                      <a:noFill/>
                    </a:lnL>
                    <a:lnR>
                      <a:noFill/>
                    </a:lnR>
                    <a:lnT>
                      <a:noFill/>
                    </a:lnT>
                    <a:lnB>
                      <a:noFill/>
                    </a:lnB>
                    <a:noFill/>
                  </a:tcPr>
                </a:tc>
                <a:tc>
                  <a:txBody>
                    <a:bodyPr/>
                    <a:lstStyle/>
                    <a:p>
                      <a:pPr algn="l">
                        <a:buNone/>
                      </a:pPr>
                      <a:r>
                        <a:rPr lang="zh-CN" altLang="en-US" sz="1400"/>
                        <a:t>限定重复符</a:t>
                      </a:r>
                    </a:p>
                  </a:txBody>
                  <a:tcPr marL="72009" marR="72009" marT="36004" marB="36004" anchor="ctr">
                    <a:lnL>
                      <a:noFill/>
                    </a:lnL>
                    <a:lnR>
                      <a:noFill/>
                    </a:lnR>
                    <a:lnT>
                      <a:noFill/>
                    </a:lnT>
                    <a:lnB>
                      <a:noFill/>
                    </a:lnB>
                    <a:noFill/>
                  </a:tcPr>
                </a:tc>
                <a:tc>
                  <a:txBody>
                    <a:bodyPr/>
                    <a:lstStyle/>
                    <a:p>
                      <a:pPr algn="l">
                        <a:buNone/>
                      </a:pPr>
                      <a:r>
                        <a:rPr lang="zh-CN" altLang="en-US" sz="1400"/>
                        <a:t>固定次数重复</a:t>
                      </a:r>
                    </a:p>
                  </a:txBody>
                  <a:tcPr marL="72009" marR="72009" marT="36004" marB="36004" anchor="ctr">
                    <a:lnL>
                      <a:noFill/>
                    </a:lnL>
                    <a:lnR>
                      <a:noFill/>
                    </a:lnR>
                    <a:lnT>
                      <a:noFill/>
                    </a:lnT>
                    <a:lnB>
                      <a:noFill/>
                    </a:lnB>
                    <a:noFill/>
                  </a:tcPr>
                </a:tc>
                <a:tc>
                  <a:txBody>
                    <a:bodyPr/>
                    <a:lstStyle/>
                    <a:p>
                      <a:pPr algn="l">
                        <a:buNone/>
                      </a:pPr>
                      <a:r>
                        <a:rPr lang="zh-CN" altLang="en-US" sz="1400"/>
                        <a:t>坐标 </a:t>
                      </a:r>
                      <a:r>
                        <a:rPr lang="en-US" altLang="zh-CN" sz="1400"/>
                        <a:t>= {</a:t>
                      </a:r>
                      <a:r>
                        <a:rPr lang="zh-CN" altLang="en-US" sz="1400"/>
                        <a:t>数字</a:t>
                      </a:r>
                      <a:r>
                        <a:rPr lang="en-US" altLang="zh-CN" sz="1400"/>
                        <a:t>}2</a:t>
                      </a:r>
                      <a:endParaRPr lang="zh-CN" altLang="en-US" sz="1400"/>
                    </a:p>
                  </a:txBody>
                  <a:tcPr marL="72009" marR="72009" marT="36004" marB="36004" anchor="ctr">
                    <a:lnL>
                      <a:noFill/>
                    </a:lnL>
                    <a:lnR>
                      <a:noFill/>
                    </a:lnR>
                    <a:lnT>
                      <a:noFill/>
                    </a:lnT>
                    <a:lnB>
                      <a:noFill/>
                    </a:lnB>
                    <a:noFill/>
                  </a:tcPr>
                </a:tc>
                <a:tc>
                  <a:txBody>
                    <a:bodyPr/>
                    <a:lstStyle/>
                    <a:p>
                      <a:pPr algn="l">
                        <a:buNone/>
                      </a:pPr>
                      <a:r>
                        <a:rPr lang="zh-CN" altLang="en-US" sz="1400"/>
                        <a:t>表示花括号内的元素必须重复 </a:t>
                      </a:r>
                      <a:r>
                        <a:rPr lang="en-US" altLang="zh-CN" sz="1400"/>
                        <a:t>n </a:t>
                      </a:r>
                      <a:r>
                        <a:rPr lang="zh-CN" altLang="en-US" sz="1400"/>
                        <a:t>次（例如坐标必须有两个数字）</a:t>
                      </a:r>
                    </a:p>
                  </a:txBody>
                  <a:tcPr marL="72009" marR="72009" marT="36004" marB="36004" anchor="ctr">
                    <a:lnL>
                      <a:noFill/>
                    </a:lnL>
                    <a:lnR>
                      <a:noFill/>
                    </a:lnR>
                    <a:lnT>
                      <a:noFill/>
                    </a:lnT>
                    <a:lnB>
                      <a:noFill/>
                    </a:lnB>
                    <a:noFill/>
                  </a:tcPr>
                </a:tc>
                <a:extLst>
                  <a:ext uri="{0D108BD9-81ED-4DB2-BD59-A6C34878D82A}">
                    <a16:rowId xmlns:a16="http://schemas.microsoft.com/office/drawing/2014/main" val="3173369090"/>
                  </a:ext>
                </a:extLst>
              </a:tr>
              <a:tr h="457491">
                <a:tc>
                  <a:txBody>
                    <a:bodyPr/>
                    <a:lstStyle/>
                    <a:p>
                      <a:pPr algn="l">
                        <a:buNone/>
                      </a:pPr>
                      <a:r>
                        <a:rPr lang="en-US" sz="1400"/>
                        <a:t>{ }</a:t>
                      </a:r>
                      <a:r>
                        <a:rPr lang="en-US" sz="1400" err="1"/>
                        <a:t>m,n</a:t>
                      </a:r>
                      <a:endParaRPr lang="en-US" sz="1400"/>
                    </a:p>
                  </a:txBody>
                  <a:tcPr marL="72009" marR="72009" marT="36004" marB="36004" anchor="ctr">
                    <a:lnL>
                      <a:noFill/>
                    </a:lnL>
                    <a:lnR>
                      <a:noFill/>
                    </a:lnR>
                    <a:lnT>
                      <a:noFill/>
                    </a:lnT>
                    <a:lnB>
                      <a:noFill/>
                    </a:lnB>
                    <a:noFill/>
                  </a:tcPr>
                </a:tc>
                <a:tc>
                  <a:txBody>
                    <a:bodyPr/>
                    <a:lstStyle/>
                    <a:p>
                      <a:pPr algn="l">
                        <a:buNone/>
                      </a:pPr>
                      <a:r>
                        <a:rPr lang="zh-CN" altLang="en-US" sz="1400"/>
                        <a:t>范围重复符</a:t>
                      </a:r>
                    </a:p>
                  </a:txBody>
                  <a:tcPr marL="72009" marR="72009" marT="36004" marB="36004" anchor="ctr">
                    <a:lnL>
                      <a:noFill/>
                    </a:lnL>
                    <a:lnR>
                      <a:noFill/>
                    </a:lnR>
                    <a:lnT>
                      <a:noFill/>
                    </a:lnT>
                    <a:lnB>
                      <a:noFill/>
                    </a:lnB>
                    <a:noFill/>
                  </a:tcPr>
                </a:tc>
                <a:tc>
                  <a:txBody>
                    <a:bodyPr/>
                    <a:lstStyle/>
                    <a:p>
                      <a:pPr algn="l">
                        <a:buNone/>
                      </a:pPr>
                      <a:r>
                        <a:rPr lang="zh-CN" altLang="en-US" sz="1400"/>
                        <a:t>范围重复</a:t>
                      </a:r>
                    </a:p>
                  </a:txBody>
                  <a:tcPr marL="72009" marR="72009" marT="36004" marB="36004" anchor="ctr">
                    <a:lnL>
                      <a:noFill/>
                    </a:lnL>
                    <a:lnR>
                      <a:noFill/>
                    </a:lnR>
                    <a:lnT>
                      <a:noFill/>
                    </a:lnT>
                    <a:lnB>
                      <a:noFill/>
                    </a:lnB>
                    <a:noFill/>
                  </a:tcPr>
                </a:tc>
                <a:tc>
                  <a:txBody>
                    <a:bodyPr/>
                    <a:lstStyle/>
                    <a:p>
                      <a:pPr algn="l">
                        <a:buNone/>
                      </a:pPr>
                      <a:r>
                        <a:rPr lang="zh-CN" altLang="en-US" sz="1400"/>
                        <a:t>密码 </a:t>
                      </a:r>
                      <a:r>
                        <a:rPr lang="en-US" altLang="zh-CN" sz="1400"/>
                        <a:t>= {</a:t>
                      </a:r>
                      <a:r>
                        <a:rPr lang="zh-CN" altLang="en-US" sz="1400"/>
                        <a:t>字母或数字</a:t>
                      </a:r>
                      <a:r>
                        <a:rPr lang="en-US" altLang="zh-CN" sz="1400"/>
                        <a:t>}6,12</a:t>
                      </a:r>
                      <a:endParaRPr lang="zh-CN" altLang="en-US" sz="1400"/>
                    </a:p>
                  </a:txBody>
                  <a:tcPr marL="72009" marR="72009" marT="36004" marB="36004" anchor="ctr">
                    <a:lnL>
                      <a:noFill/>
                    </a:lnL>
                    <a:lnR>
                      <a:noFill/>
                    </a:lnR>
                    <a:lnT>
                      <a:noFill/>
                    </a:lnT>
                    <a:lnB>
                      <a:noFill/>
                    </a:lnB>
                    <a:noFill/>
                  </a:tcPr>
                </a:tc>
                <a:tc>
                  <a:txBody>
                    <a:bodyPr/>
                    <a:lstStyle/>
                    <a:p>
                      <a:pPr algn="l">
                        <a:buNone/>
                      </a:pPr>
                      <a:r>
                        <a:rPr lang="zh-CN" altLang="en-US" sz="1400"/>
                        <a:t>表示花括号内的元素重复次数在 </a:t>
                      </a:r>
                      <a:r>
                        <a:rPr lang="en-US" altLang="zh-CN" sz="1400"/>
                        <a:t>m </a:t>
                      </a:r>
                      <a:r>
                        <a:rPr lang="zh-CN" altLang="en-US" sz="1400"/>
                        <a:t>到 </a:t>
                      </a:r>
                      <a:r>
                        <a:rPr lang="en-US" altLang="zh-CN" sz="1400"/>
                        <a:t>n </a:t>
                      </a:r>
                      <a:r>
                        <a:rPr lang="zh-CN" altLang="en-US" sz="1400"/>
                        <a:t>次之间</a:t>
                      </a:r>
                    </a:p>
                  </a:txBody>
                  <a:tcPr marL="72009" marR="72009" marT="36004" marB="36004" anchor="ctr">
                    <a:lnL>
                      <a:noFill/>
                    </a:lnL>
                    <a:lnR>
                      <a:noFill/>
                    </a:lnR>
                    <a:lnT>
                      <a:noFill/>
                    </a:lnT>
                    <a:lnB>
                      <a:noFill/>
                    </a:lnB>
                    <a:noFill/>
                  </a:tcPr>
                </a:tc>
                <a:extLst>
                  <a:ext uri="{0D108BD9-81ED-4DB2-BD59-A6C34878D82A}">
                    <a16:rowId xmlns:a16="http://schemas.microsoft.com/office/drawing/2014/main" val="3601504622"/>
                  </a:ext>
                </a:extLst>
              </a:tr>
              <a:tr h="318660">
                <a:tc>
                  <a:txBody>
                    <a:bodyPr/>
                    <a:lstStyle/>
                    <a:p>
                      <a:pPr algn="l">
                        <a:buNone/>
                      </a:pPr>
                      <a:r>
                        <a:rPr lang="en-US" altLang="zh-CN" sz="1400"/>
                        <a:t>…</a:t>
                      </a:r>
                    </a:p>
                  </a:txBody>
                  <a:tcPr marL="72009" marR="72009" marT="36004" marB="36004" anchor="ctr">
                    <a:lnL>
                      <a:noFill/>
                    </a:lnL>
                    <a:lnR>
                      <a:noFill/>
                    </a:lnR>
                    <a:lnT>
                      <a:noFill/>
                    </a:lnT>
                    <a:lnB>
                      <a:noFill/>
                    </a:lnB>
                    <a:noFill/>
                  </a:tcPr>
                </a:tc>
                <a:tc>
                  <a:txBody>
                    <a:bodyPr/>
                    <a:lstStyle/>
                    <a:p>
                      <a:pPr algn="l">
                        <a:buNone/>
                      </a:pPr>
                      <a:r>
                        <a:rPr lang="zh-CN" altLang="en-US" sz="1400"/>
                        <a:t>省略符</a:t>
                      </a:r>
                    </a:p>
                  </a:txBody>
                  <a:tcPr marL="72009" marR="72009" marT="36004" marB="36004" anchor="ctr">
                    <a:lnL>
                      <a:noFill/>
                    </a:lnL>
                    <a:lnR>
                      <a:noFill/>
                    </a:lnR>
                    <a:lnT>
                      <a:noFill/>
                    </a:lnT>
                    <a:lnB>
                      <a:noFill/>
                    </a:lnB>
                    <a:noFill/>
                  </a:tcPr>
                </a:tc>
                <a:tc>
                  <a:txBody>
                    <a:bodyPr/>
                    <a:lstStyle/>
                    <a:p>
                      <a:pPr algn="l">
                        <a:buNone/>
                      </a:pPr>
                      <a:r>
                        <a:rPr lang="zh-CN" altLang="en-US" sz="1400"/>
                        <a:t>范围</a:t>
                      </a:r>
                    </a:p>
                  </a:txBody>
                  <a:tcPr marL="72009" marR="72009" marT="36004" marB="36004" anchor="ctr">
                    <a:lnL>
                      <a:noFill/>
                    </a:lnL>
                    <a:lnR>
                      <a:noFill/>
                    </a:lnR>
                    <a:lnT>
                      <a:noFill/>
                    </a:lnT>
                    <a:lnB>
                      <a:noFill/>
                    </a:lnB>
                    <a:noFill/>
                  </a:tcPr>
                </a:tc>
                <a:tc>
                  <a:txBody>
                    <a:bodyPr/>
                    <a:lstStyle/>
                    <a:p>
                      <a:pPr algn="l">
                        <a:buNone/>
                      </a:pPr>
                      <a:r>
                        <a:rPr lang="zh-CN" altLang="en-US" sz="1400"/>
                        <a:t>年龄 </a:t>
                      </a:r>
                      <a:r>
                        <a:rPr lang="en-US" altLang="zh-CN" sz="1400"/>
                        <a:t>= 0…150</a:t>
                      </a:r>
                      <a:endParaRPr lang="zh-CN" altLang="en-US" sz="1400"/>
                    </a:p>
                  </a:txBody>
                  <a:tcPr marL="72009" marR="72009" marT="36004" marB="36004" anchor="ctr">
                    <a:lnL>
                      <a:noFill/>
                    </a:lnL>
                    <a:lnR>
                      <a:noFill/>
                    </a:lnR>
                    <a:lnT>
                      <a:noFill/>
                    </a:lnT>
                    <a:lnB>
                      <a:noFill/>
                    </a:lnB>
                    <a:noFill/>
                  </a:tcPr>
                </a:tc>
                <a:tc>
                  <a:txBody>
                    <a:bodyPr/>
                    <a:lstStyle/>
                    <a:p>
                      <a:pPr algn="l">
                        <a:buNone/>
                      </a:pPr>
                      <a:r>
                        <a:rPr lang="zh-CN" altLang="en-US" sz="1400" dirty="0"/>
                        <a:t>表示取值范围是从左边的值到右边的值</a:t>
                      </a:r>
                    </a:p>
                  </a:txBody>
                  <a:tcPr marL="72009" marR="72009" marT="36004" marB="36004" anchor="ctr">
                    <a:lnL>
                      <a:noFill/>
                    </a:lnL>
                    <a:lnR>
                      <a:noFill/>
                    </a:lnR>
                    <a:lnT>
                      <a:noFill/>
                    </a:lnT>
                    <a:lnB>
                      <a:noFill/>
                    </a:lnB>
                    <a:noFill/>
                  </a:tcPr>
                </a:tc>
                <a:extLst>
                  <a:ext uri="{0D108BD9-81ED-4DB2-BD59-A6C34878D82A}">
                    <a16:rowId xmlns:a16="http://schemas.microsoft.com/office/drawing/2014/main" val="1757710848"/>
                  </a:ext>
                </a:extLst>
              </a:tr>
            </a:tbl>
          </a:graphicData>
        </a:graphic>
      </p:graphicFrame>
    </p:spTree>
    <p:extLst>
      <p:ext uri="{BB962C8B-B14F-4D97-AF65-F5344CB8AC3E}">
        <p14:creationId xmlns:p14="http://schemas.microsoft.com/office/powerpoint/2010/main" val="1851487681"/>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506F2-F7E0-0B7C-00C7-FA8DF25DFB5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FFA51DF-401F-E97C-3DB4-CA8DF09D79C0}"/>
              </a:ext>
            </a:extLst>
          </p:cNvPr>
          <p:cNvSpPr>
            <a:spLocks noGrp="1"/>
          </p:cNvSpPr>
          <p:nvPr>
            <p:ph type="title"/>
          </p:nvPr>
        </p:nvSpPr>
        <p:spPr>
          <a:xfrm>
            <a:off x="792000" y="360000"/>
            <a:ext cx="6375921" cy="429413"/>
          </a:xfrm>
        </p:spPr>
        <p:txBody>
          <a:bodyPr/>
          <a:lstStyle/>
          <a:p>
            <a:r>
              <a:rPr lang="en-US" altLang="zh-CN"/>
              <a:t>2.4 UML</a:t>
            </a:r>
            <a:endParaRPr lang="zh-CN" altLang="en-US"/>
          </a:p>
        </p:txBody>
      </p:sp>
      <p:sp>
        <p:nvSpPr>
          <p:cNvPr id="3" name="内容占位符 2">
            <a:extLst>
              <a:ext uri="{FF2B5EF4-FFF2-40B4-BE49-F238E27FC236}">
                <a16:creationId xmlns:a16="http://schemas.microsoft.com/office/drawing/2014/main" id="{8E11DE42-B1AF-8A0C-8732-749BEE5EA576}"/>
              </a:ext>
            </a:extLst>
          </p:cNvPr>
          <p:cNvSpPr>
            <a:spLocks noGrp="1"/>
          </p:cNvSpPr>
          <p:nvPr>
            <p:ph idx="1"/>
          </p:nvPr>
        </p:nvSpPr>
        <p:spPr>
          <a:xfrm>
            <a:off x="696000" y="864000"/>
            <a:ext cx="10800000" cy="5400000"/>
          </a:xfrm>
        </p:spPr>
        <p:txBody>
          <a:bodyPr>
            <a:normAutofit/>
          </a:bodyPr>
          <a:lstStyle/>
          <a:p>
            <a:r>
              <a:rPr lang="zh-CN" altLang="en-US" dirty="0"/>
              <a:t>统一建模语言 </a:t>
            </a:r>
            <a:r>
              <a:rPr lang="en-US" altLang="zh-CN" dirty="0"/>
              <a:t>UML(Unified Modeling Language)</a:t>
            </a:r>
          </a:p>
          <a:p>
            <a:pPr lvl="1"/>
            <a:r>
              <a:rPr lang="zh-CN" altLang="en-US" dirty="0"/>
              <a:t>用例图 </a:t>
            </a:r>
            <a:r>
              <a:rPr lang="en-US" altLang="zh-CN" dirty="0"/>
              <a:t>Use Case Diagram</a:t>
            </a:r>
          </a:p>
          <a:p>
            <a:pPr lvl="2"/>
            <a:r>
              <a:rPr lang="zh-CN" altLang="en-US" dirty="0"/>
              <a:t>系统边界 </a:t>
            </a:r>
            <a:r>
              <a:rPr lang="en-US" altLang="zh-CN" dirty="0"/>
              <a:t>Boundary</a:t>
            </a:r>
          </a:p>
          <a:p>
            <a:pPr lvl="2"/>
            <a:r>
              <a:rPr lang="zh-CN" altLang="en-US" dirty="0"/>
              <a:t>参与者 </a:t>
            </a:r>
            <a:r>
              <a:rPr lang="en-US" altLang="zh-CN" dirty="0"/>
              <a:t>Actor</a:t>
            </a:r>
            <a:endParaRPr lang="zh-CN" altLang="en-US" dirty="0"/>
          </a:p>
          <a:p>
            <a:pPr lvl="2"/>
            <a:r>
              <a:rPr lang="zh-CN" altLang="en-US" dirty="0"/>
              <a:t>用例 </a:t>
            </a:r>
            <a:r>
              <a:rPr lang="en-US" altLang="zh-CN" dirty="0"/>
              <a:t>Use Case</a:t>
            </a:r>
            <a:endParaRPr lang="zh-CN" altLang="en-US" dirty="0"/>
          </a:p>
          <a:p>
            <a:pPr lvl="2"/>
            <a:r>
              <a:rPr lang="zh-CN" altLang="en-US" dirty="0"/>
              <a:t>关联 </a:t>
            </a:r>
            <a:r>
              <a:rPr lang="en-US" altLang="zh-CN" dirty="0"/>
              <a:t>Association</a:t>
            </a:r>
            <a:r>
              <a:rPr lang="zh-CN" altLang="en-US" dirty="0"/>
              <a:t>、包含 </a:t>
            </a:r>
            <a:r>
              <a:rPr lang="en-US" altLang="zh-CN" dirty="0"/>
              <a:t>include</a:t>
            </a:r>
            <a:r>
              <a:rPr lang="zh-CN" altLang="en-US" dirty="0"/>
              <a:t>、扩展 </a:t>
            </a:r>
            <a:r>
              <a:rPr lang="en-US" altLang="zh-CN" dirty="0"/>
              <a:t>extend</a:t>
            </a:r>
            <a:r>
              <a:rPr lang="zh-CN" altLang="en-US" dirty="0"/>
              <a:t>、泛化 </a:t>
            </a:r>
            <a:r>
              <a:rPr lang="en-US" altLang="zh-CN" dirty="0"/>
              <a:t>generalization</a:t>
            </a:r>
          </a:p>
          <a:p>
            <a:pPr lvl="1"/>
            <a:r>
              <a:rPr lang="zh-CN" altLang="en-US" dirty="0"/>
              <a:t>时序图 </a:t>
            </a:r>
            <a:r>
              <a:rPr lang="en-US" altLang="zh-CN" dirty="0"/>
              <a:t>Sequence Diagram</a:t>
            </a:r>
          </a:p>
          <a:p>
            <a:pPr lvl="1"/>
            <a:r>
              <a:rPr lang="en-US" altLang="zh-CN" dirty="0"/>
              <a:t>…</a:t>
            </a:r>
            <a:endParaRPr lang="zh-CN" altLang="en-US" dirty="0"/>
          </a:p>
        </p:txBody>
      </p:sp>
      <p:sp>
        <p:nvSpPr>
          <p:cNvPr id="4" name="文本占位符 3">
            <a:extLst>
              <a:ext uri="{FF2B5EF4-FFF2-40B4-BE49-F238E27FC236}">
                <a16:creationId xmlns:a16="http://schemas.microsoft.com/office/drawing/2014/main" id="{0F72E6B0-722A-9D9E-EBD8-2F56E72C1B33}"/>
              </a:ext>
            </a:extLst>
          </p:cNvPr>
          <p:cNvSpPr>
            <a:spLocks noGrp="1"/>
          </p:cNvSpPr>
          <p:nvPr>
            <p:ph type="body" sz="quarter" idx="10"/>
          </p:nvPr>
        </p:nvSpPr>
        <p:spPr>
          <a:xfrm>
            <a:off x="7071919" y="448519"/>
            <a:ext cx="4424080" cy="338554"/>
          </a:xfrm>
        </p:spPr>
        <p:txBody>
          <a:bodyPr/>
          <a:lstStyle/>
          <a:p>
            <a:r>
              <a:rPr lang="en-US" altLang="zh-CN"/>
              <a:t>Traditional</a:t>
            </a:r>
            <a:endParaRPr lang="zh-CN" altLang="en-US"/>
          </a:p>
        </p:txBody>
      </p:sp>
    </p:spTree>
    <p:extLst>
      <p:ext uri="{BB962C8B-B14F-4D97-AF65-F5344CB8AC3E}">
        <p14:creationId xmlns:p14="http://schemas.microsoft.com/office/powerpoint/2010/main" val="219781564"/>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0C3EE7-C1B1-6EB5-CBE5-7E6469CF00E5}"/>
              </a:ext>
            </a:extLst>
          </p:cNvPr>
          <p:cNvSpPr>
            <a:spLocks noGrp="1"/>
          </p:cNvSpPr>
          <p:nvPr>
            <p:ph type="title"/>
          </p:nvPr>
        </p:nvSpPr>
        <p:spPr>
          <a:xfrm>
            <a:off x="792000" y="360000"/>
            <a:ext cx="6375921" cy="429413"/>
          </a:xfrm>
        </p:spPr>
        <p:txBody>
          <a:bodyPr/>
          <a:lstStyle/>
          <a:p>
            <a:r>
              <a:rPr lang="en-US" altLang="zh-CN"/>
              <a:t>3.1 </a:t>
            </a:r>
            <a:r>
              <a:rPr lang="zh-CN" altLang="en-US"/>
              <a:t>影响地图 </a:t>
            </a:r>
          </a:p>
        </p:txBody>
      </p:sp>
      <p:sp>
        <p:nvSpPr>
          <p:cNvPr id="7" name="内容占位符 6">
            <a:extLst>
              <a:ext uri="{FF2B5EF4-FFF2-40B4-BE49-F238E27FC236}">
                <a16:creationId xmlns:a16="http://schemas.microsoft.com/office/drawing/2014/main" id="{C2A300F1-1B38-27F8-4679-FF6701C46325}"/>
              </a:ext>
            </a:extLst>
          </p:cNvPr>
          <p:cNvSpPr>
            <a:spLocks noGrp="1"/>
          </p:cNvSpPr>
          <p:nvPr>
            <p:ph idx="1"/>
          </p:nvPr>
        </p:nvSpPr>
        <p:spPr>
          <a:xfrm>
            <a:off x="696000" y="864000"/>
            <a:ext cx="10800000" cy="5400000"/>
          </a:xfrm>
        </p:spPr>
        <p:txBody>
          <a:bodyPr/>
          <a:lstStyle/>
          <a:p>
            <a:r>
              <a:rPr lang="zh-CN" altLang="en-US" dirty="0">
                <a:hlinkClick r:id="rId3"/>
              </a:rPr>
              <a:t>影响地图 </a:t>
            </a:r>
            <a:r>
              <a:rPr lang="en-US" altLang="zh-CN" dirty="0">
                <a:hlinkClick r:id="rId3"/>
              </a:rPr>
              <a:t>Impact Mapping</a:t>
            </a:r>
            <a:endParaRPr lang="en-US" altLang="zh-CN" dirty="0"/>
          </a:p>
          <a:p>
            <a:r>
              <a:rPr lang="zh-CN" altLang="en-US" dirty="0"/>
              <a:t>从“业务目标”出发，逆向推导出“应该做什么功能</a:t>
            </a:r>
            <a:endParaRPr lang="en-US" altLang="zh-CN" dirty="0"/>
          </a:p>
          <a:p>
            <a:r>
              <a:rPr lang="zh-CN" altLang="en-US" dirty="0"/>
              <a:t>从一个明确的业务目标出发，通过识别关键角色、期望的行为改变（影响），最终推导出具体的交付物</a:t>
            </a:r>
            <a:endParaRPr lang="en-US" altLang="zh-CN" dirty="0"/>
          </a:p>
          <a:p>
            <a:pPr lvl="1"/>
            <a:r>
              <a:rPr lang="zh-CN" altLang="en-US" dirty="0"/>
              <a:t>为什么做？（业务目标）</a:t>
            </a:r>
          </a:p>
          <a:p>
            <a:pPr lvl="1"/>
            <a:r>
              <a:rPr lang="zh-CN" altLang="en-US" dirty="0"/>
              <a:t>为谁做？（受影响的角色）</a:t>
            </a:r>
          </a:p>
          <a:p>
            <a:pPr lvl="1"/>
            <a:r>
              <a:rPr lang="zh-CN" altLang="en-US" dirty="0"/>
              <a:t>如何影响他们？（行为改变</a:t>
            </a:r>
            <a:r>
              <a:rPr lang="en-US" altLang="zh-CN" dirty="0"/>
              <a:t>/</a:t>
            </a:r>
            <a:r>
              <a:rPr lang="zh-CN" altLang="en-US" dirty="0"/>
              <a:t>影响）</a:t>
            </a:r>
          </a:p>
          <a:p>
            <a:pPr lvl="1"/>
            <a:r>
              <a:rPr lang="zh-CN" altLang="en-US" dirty="0"/>
              <a:t>做什么来实现？（具体功能项）</a:t>
            </a:r>
          </a:p>
          <a:p>
            <a:endParaRPr lang="zh-CN" altLang="en-US" dirty="0"/>
          </a:p>
        </p:txBody>
      </p:sp>
      <p:sp>
        <p:nvSpPr>
          <p:cNvPr id="4" name="文本占位符 3">
            <a:extLst>
              <a:ext uri="{FF2B5EF4-FFF2-40B4-BE49-F238E27FC236}">
                <a16:creationId xmlns:a16="http://schemas.microsoft.com/office/drawing/2014/main" id="{6D1AD4C8-AAF0-5540-8B20-2A477A4A1786}"/>
              </a:ext>
            </a:extLst>
          </p:cNvPr>
          <p:cNvSpPr>
            <a:spLocks noGrp="1"/>
          </p:cNvSpPr>
          <p:nvPr>
            <p:ph type="body" sz="quarter" idx="10"/>
          </p:nvPr>
        </p:nvSpPr>
        <p:spPr>
          <a:xfrm>
            <a:off x="7071919" y="448519"/>
            <a:ext cx="4424080" cy="338554"/>
          </a:xfrm>
        </p:spPr>
        <p:txBody>
          <a:bodyPr/>
          <a:lstStyle/>
          <a:p>
            <a:r>
              <a:rPr lang="en-US" altLang="zh-CN"/>
              <a:t>Impact Mapping/Agile</a:t>
            </a:r>
            <a:endParaRPr lang="zh-CN" altLang="en-US"/>
          </a:p>
        </p:txBody>
      </p:sp>
      <p:sp>
        <p:nvSpPr>
          <p:cNvPr id="14" name="矩形: 圆角 13">
            <a:extLst>
              <a:ext uri="{FF2B5EF4-FFF2-40B4-BE49-F238E27FC236}">
                <a16:creationId xmlns:a16="http://schemas.microsoft.com/office/drawing/2014/main" id="{501F5A51-893A-E04B-F906-C2AB7320A322}"/>
              </a:ext>
            </a:extLst>
          </p:cNvPr>
          <p:cNvSpPr/>
          <p:nvPr/>
        </p:nvSpPr>
        <p:spPr>
          <a:xfrm>
            <a:off x="1645802" y="3955264"/>
            <a:ext cx="1440000" cy="432000"/>
          </a:xfrm>
          <a:prstGeom prst="roundRect">
            <a:avLst/>
          </a:prstGeom>
          <a:ln>
            <a:no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CN" sz="1600"/>
              <a:t>Goal</a:t>
            </a:r>
            <a:endParaRPr lang="zh-CN" altLang="en-US" sz="1600"/>
          </a:p>
        </p:txBody>
      </p:sp>
      <p:sp>
        <p:nvSpPr>
          <p:cNvPr id="15" name="矩形: 圆角 14">
            <a:extLst>
              <a:ext uri="{FF2B5EF4-FFF2-40B4-BE49-F238E27FC236}">
                <a16:creationId xmlns:a16="http://schemas.microsoft.com/office/drawing/2014/main" id="{255DF7D2-EBC9-B6BB-62F5-974317C9C0E2}"/>
              </a:ext>
            </a:extLst>
          </p:cNvPr>
          <p:cNvSpPr/>
          <p:nvPr/>
        </p:nvSpPr>
        <p:spPr>
          <a:xfrm>
            <a:off x="9000331" y="3955264"/>
            <a:ext cx="1440000" cy="432000"/>
          </a:xfrm>
          <a:prstGeom prst="roundRect">
            <a:avLst/>
          </a:prstGeom>
          <a:ln>
            <a:no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CN" sz="1600"/>
              <a:t>Delivery</a:t>
            </a:r>
            <a:endParaRPr lang="zh-CN" altLang="en-US" sz="1600"/>
          </a:p>
        </p:txBody>
      </p:sp>
      <p:cxnSp>
        <p:nvCxnSpPr>
          <p:cNvPr id="17" name="直接箭头连接符 16">
            <a:extLst>
              <a:ext uri="{FF2B5EF4-FFF2-40B4-BE49-F238E27FC236}">
                <a16:creationId xmlns:a16="http://schemas.microsoft.com/office/drawing/2014/main" id="{47B3A7E6-A439-4C21-5714-326E7EC673DC}"/>
              </a:ext>
            </a:extLst>
          </p:cNvPr>
          <p:cNvCxnSpPr>
            <a:cxnSpLocks/>
          </p:cNvCxnSpPr>
          <p:nvPr/>
        </p:nvCxnSpPr>
        <p:spPr>
          <a:xfrm>
            <a:off x="3575170" y="4171264"/>
            <a:ext cx="493579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FCF1747E-4FAD-0596-A5FD-8F658E45257C}"/>
              </a:ext>
            </a:extLst>
          </p:cNvPr>
          <p:cNvSpPr txBox="1"/>
          <p:nvPr/>
        </p:nvSpPr>
        <p:spPr>
          <a:xfrm>
            <a:off x="2365802" y="4951689"/>
            <a:ext cx="662361" cy="338554"/>
          </a:xfrm>
          <a:prstGeom prst="rect">
            <a:avLst/>
          </a:prstGeom>
          <a:noFill/>
          <a:ln>
            <a:noFill/>
          </a:ln>
        </p:spPr>
        <p:txBody>
          <a:bodyPr wrap="none" rtlCol="0">
            <a:spAutoFit/>
          </a:bodyPr>
          <a:lstStyle/>
          <a:p>
            <a:r>
              <a:rPr lang="en-US" altLang="zh-CN" sz="1600"/>
              <a:t>Why</a:t>
            </a:r>
            <a:endParaRPr lang="zh-CN" altLang="en-US" sz="1600"/>
          </a:p>
        </p:txBody>
      </p:sp>
      <p:sp>
        <p:nvSpPr>
          <p:cNvPr id="19" name="文本框 18">
            <a:extLst>
              <a:ext uri="{FF2B5EF4-FFF2-40B4-BE49-F238E27FC236}">
                <a16:creationId xmlns:a16="http://schemas.microsoft.com/office/drawing/2014/main" id="{5C33681C-4D75-DA83-07F2-13211F50ED9C}"/>
              </a:ext>
            </a:extLst>
          </p:cNvPr>
          <p:cNvSpPr txBox="1"/>
          <p:nvPr/>
        </p:nvSpPr>
        <p:spPr>
          <a:xfrm>
            <a:off x="6622087" y="4436379"/>
            <a:ext cx="925253" cy="338554"/>
          </a:xfrm>
          <a:prstGeom prst="rect">
            <a:avLst/>
          </a:prstGeom>
          <a:noFill/>
          <a:ln>
            <a:noFill/>
          </a:ln>
        </p:spPr>
        <p:txBody>
          <a:bodyPr wrap="none" rtlCol="0">
            <a:spAutoFit/>
          </a:bodyPr>
          <a:lstStyle/>
          <a:p>
            <a:r>
              <a:rPr lang="en-US" altLang="zh-CN" sz="1600"/>
              <a:t>Impact</a:t>
            </a:r>
            <a:endParaRPr lang="zh-CN" altLang="en-US" sz="1600"/>
          </a:p>
        </p:txBody>
      </p:sp>
      <p:cxnSp>
        <p:nvCxnSpPr>
          <p:cNvPr id="21" name="直接连接符 20">
            <a:extLst>
              <a:ext uri="{FF2B5EF4-FFF2-40B4-BE49-F238E27FC236}">
                <a16:creationId xmlns:a16="http://schemas.microsoft.com/office/drawing/2014/main" id="{753BD55C-9849-F4D3-CAF9-B03161F8128B}"/>
              </a:ext>
            </a:extLst>
          </p:cNvPr>
          <p:cNvCxnSpPr>
            <a:cxnSpLocks/>
          </p:cNvCxnSpPr>
          <p:nvPr/>
        </p:nvCxnSpPr>
        <p:spPr>
          <a:xfrm>
            <a:off x="4949589" y="3991264"/>
            <a:ext cx="0" cy="360000"/>
          </a:xfrm>
          <a:prstGeom prst="line">
            <a:avLst/>
          </a:prstGeom>
          <a:ln w="28575">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15F1F62F-49F1-BD98-79FB-00C2A7C11876}"/>
              </a:ext>
            </a:extLst>
          </p:cNvPr>
          <p:cNvCxnSpPr>
            <a:cxnSpLocks/>
          </p:cNvCxnSpPr>
          <p:nvPr/>
        </p:nvCxnSpPr>
        <p:spPr>
          <a:xfrm>
            <a:off x="7136542" y="3991264"/>
            <a:ext cx="0" cy="360000"/>
          </a:xfrm>
          <a:prstGeom prst="line">
            <a:avLst/>
          </a:prstGeom>
          <a:ln w="28575">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6FD7194C-6CC7-1224-D3B7-1506E08B2B6E}"/>
              </a:ext>
            </a:extLst>
          </p:cNvPr>
          <p:cNvCxnSpPr>
            <a:cxnSpLocks/>
          </p:cNvCxnSpPr>
          <p:nvPr/>
        </p:nvCxnSpPr>
        <p:spPr>
          <a:xfrm flipV="1">
            <a:off x="2365802" y="4805710"/>
            <a:ext cx="0" cy="1440000"/>
          </a:xfrm>
          <a:prstGeom prst="straightConnector1">
            <a:avLst/>
          </a:prstGeom>
          <a:ln w="12700">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EE807EBF-7EAD-5D06-08CF-A393DF2B6ECE}"/>
              </a:ext>
            </a:extLst>
          </p:cNvPr>
          <p:cNvCxnSpPr>
            <a:cxnSpLocks/>
          </p:cNvCxnSpPr>
          <p:nvPr/>
        </p:nvCxnSpPr>
        <p:spPr>
          <a:xfrm flipV="1">
            <a:off x="4949589" y="4805710"/>
            <a:ext cx="0" cy="1440000"/>
          </a:xfrm>
          <a:prstGeom prst="straightConnector1">
            <a:avLst/>
          </a:prstGeom>
          <a:ln w="12700">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ECD40C30-3D6B-E6D0-C344-88A2E85B52C7}"/>
              </a:ext>
            </a:extLst>
          </p:cNvPr>
          <p:cNvCxnSpPr>
            <a:cxnSpLocks/>
          </p:cNvCxnSpPr>
          <p:nvPr/>
        </p:nvCxnSpPr>
        <p:spPr>
          <a:xfrm flipV="1">
            <a:off x="7136542" y="4805710"/>
            <a:ext cx="0" cy="1440000"/>
          </a:xfrm>
          <a:prstGeom prst="straightConnector1">
            <a:avLst/>
          </a:prstGeom>
          <a:ln w="12700">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7C7BDA69-38D1-117A-A813-87F5008E97FB}"/>
              </a:ext>
            </a:extLst>
          </p:cNvPr>
          <p:cNvCxnSpPr>
            <a:cxnSpLocks/>
          </p:cNvCxnSpPr>
          <p:nvPr/>
        </p:nvCxnSpPr>
        <p:spPr>
          <a:xfrm flipV="1">
            <a:off x="9720331" y="4805710"/>
            <a:ext cx="0" cy="1440000"/>
          </a:xfrm>
          <a:prstGeom prst="straightConnector1">
            <a:avLst/>
          </a:prstGeom>
          <a:ln w="12700">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61A0704B-1F16-F02D-5A3B-C5A39EE1625B}"/>
              </a:ext>
            </a:extLst>
          </p:cNvPr>
          <p:cNvSpPr txBox="1"/>
          <p:nvPr/>
        </p:nvSpPr>
        <p:spPr>
          <a:xfrm>
            <a:off x="4949589" y="4951689"/>
            <a:ext cx="679994" cy="338554"/>
          </a:xfrm>
          <a:prstGeom prst="rect">
            <a:avLst/>
          </a:prstGeom>
          <a:noFill/>
          <a:ln>
            <a:noFill/>
          </a:ln>
        </p:spPr>
        <p:txBody>
          <a:bodyPr wrap="none" rtlCol="0">
            <a:spAutoFit/>
          </a:bodyPr>
          <a:lstStyle/>
          <a:p>
            <a:r>
              <a:rPr lang="en-US" altLang="zh-CN" sz="1600"/>
              <a:t>Who</a:t>
            </a:r>
            <a:endParaRPr lang="zh-CN" altLang="en-US" sz="1600"/>
          </a:p>
        </p:txBody>
      </p:sp>
      <p:sp>
        <p:nvSpPr>
          <p:cNvPr id="29" name="文本框 28">
            <a:extLst>
              <a:ext uri="{FF2B5EF4-FFF2-40B4-BE49-F238E27FC236}">
                <a16:creationId xmlns:a16="http://schemas.microsoft.com/office/drawing/2014/main" id="{85F848DA-D28E-8DA8-A6F9-990C996F5EB7}"/>
              </a:ext>
            </a:extLst>
          </p:cNvPr>
          <p:cNvSpPr txBox="1"/>
          <p:nvPr/>
        </p:nvSpPr>
        <p:spPr>
          <a:xfrm>
            <a:off x="7136542" y="4951689"/>
            <a:ext cx="660758" cy="338554"/>
          </a:xfrm>
          <a:prstGeom prst="rect">
            <a:avLst/>
          </a:prstGeom>
          <a:noFill/>
          <a:ln>
            <a:noFill/>
          </a:ln>
        </p:spPr>
        <p:txBody>
          <a:bodyPr wrap="none" rtlCol="0">
            <a:spAutoFit/>
          </a:bodyPr>
          <a:lstStyle/>
          <a:p>
            <a:r>
              <a:rPr lang="en-US" altLang="zh-CN" sz="1600"/>
              <a:t>How</a:t>
            </a:r>
            <a:endParaRPr lang="zh-CN" altLang="en-US" sz="1600"/>
          </a:p>
        </p:txBody>
      </p:sp>
      <p:sp>
        <p:nvSpPr>
          <p:cNvPr id="30" name="文本框 29">
            <a:extLst>
              <a:ext uri="{FF2B5EF4-FFF2-40B4-BE49-F238E27FC236}">
                <a16:creationId xmlns:a16="http://schemas.microsoft.com/office/drawing/2014/main" id="{5C90C536-A90C-67AF-EF47-83FA34D3241E}"/>
              </a:ext>
            </a:extLst>
          </p:cNvPr>
          <p:cNvSpPr txBox="1"/>
          <p:nvPr/>
        </p:nvSpPr>
        <p:spPr>
          <a:xfrm>
            <a:off x="9720331" y="4951689"/>
            <a:ext cx="756938" cy="338554"/>
          </a:xfrm>
          <a:prstGeom prst="rect">
            <a:avLst/>
          </a:prstGeom>
          <a:noFill/>
          <a:ln>
            <a:noFill/>
          </a:ln>
        </p:spPr>
        <p:txBody>
          <a:bodyPr wrap="none" rtlCol="0">
            <a:spAutoFit/>
          </a:bodyPr>
          <a:lstStyle/>
          <a:p>
            <a:r>
              <a:rPr lang="en-US" altLang="zh-CN" sz="1600"/>
              <a:t>What</a:t>
            </a:r>
            <a:endParaRPr lang="zh-CN" altLang="en-US" sz="1600"/>
          </a:p>
        </p:txBody>
      </p:sp>
      <p:sp>
        <p:nvSpPr>
          <p:cNvPr id="31" name="文本框 30">
            <a:extLst>
              <a:ext uri="{FF2B5EF4-FFF2-40B4-BE49-F238E27FC236}">
                <a16:creationId xmlns:a16="http://schemas.microsoft.com/office/drawing/2014/main" id="{E3B8EFC7-04BE-00F1-E098-FD2109EE631E}"/>
              </a:ext>
            </a:extLst>
          </p:cNvPr>
          <p:cNvSpPr txBox="1"/>
          <p:nvPr/>
        </p:nvSpPr>
        <p:spPr>
          <a:xfrm>
            <a:off x="4449026" y="4436379"/>
            <a:ext cx="740908" cy="338554"/>
          </a:xfrm>
          <a:prstGeom prst="rect">
            <a:avLst/>
          </a:prstGeom>
          <a:noFill/>
          <a:ln>
            <a:noFill/>
          </a:ln>
        </p:spPr>
        <p:txBody>
          <a:bodyPr wrap="none" rtlCol="0">
            <a:spAutoFit/>
          </a:bodyPr>
          <a:lstStyle/>
          <a:p>
            <a:r>
              <a:rPr lang="en-US" altLang="zh-CN" sz="1600"/>
              <a:t>Actor</a:t>
            </a:r>
            <a:endParaRPr lang="zh-CN" altLang="en-US" sz="1600"/>
          </a:p>
        </p:txBody>
      </p:sp>
    </p:spTree>
    <p:extLst>
      <p:ext uri="{BB962C8B-B14F-4D97-AF65-F5344CB8AC3E}">
        <p14:creationId xmlns:p14="http://schemas.microsoft.com/office/powerpoint/2010/main" val="1367269518"/>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6AB83D28-0676-C547-F4EB-AEC54200303B}"/>
              </a:ext>
            </a:extLst>
          </p:cNvPr>
          <p:cNvGraphicFramePr>
            <a:graphicFrameLocks noGrp="1"/>
          </p:cNvGraphicFramePr>
          <p:nvPr>
            <p:extLst>
              <p:ext uri="{D42A27DB-BD31-4B8C-83A1-F6EECF244321}">
                <p14:modId xmlns:p14="http://schemas.microsoft.com/office/powerpoint/2010/main" val="24497991"/>
              </p:ext>
            </p:extLst>
          </p:nvPr>
        </p:nvGraphicFramePr>
        <p:xfrm>
          <a:off x="1302775" y="467360"/>
          <a:ext cx="9586450" cy="4892040"/>
        </p:xfrm>
        <a:graphic>
          <a:graphicData uri="http://schemas.openxmlformats.org/drawingml/2006/table">
            <a:tbl>
              <a:tblPr firstRow="1" bandRow="1">
                <a:tableStyleId>{5C22544A-7EE6-4342-B048-85BDC9FD1C3A}</a:tableStyleId>
              </a:tblPr>
              <a:tblGrid>
                <a:gridCol w="9586450">
                  <a:extLst>
                    <a:ext uri="{9D8B030D-6E8A-4147-A177-3AD203B41FA5}">
                      <a16:colId xmlns:a16="http://schemas.microsoft.com/office/drawing/2014/main" val="1567772971"/>
                    </a:ext>
                  </a:extLst>
                </a:gridCol>
              </a:tblGrid>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zh-CN" sz="1600"/>
                        <a:t>Goal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5736790"/>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zh-CN" sz="1600"/>
                        <a:t>The central of an impact map answers the most important question: Why are we doing this? This is the goal we are trying to achieve.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47057755"/>
                  </a:ext>
                </a:extLst>
              </a:tr>
              <a:tr h="370840">
                <a:tc>
                  <a:txBody>
                    <a:bodyPr/>
                    <a:lstStyle/>
                    <a:p>
                      <a:pPr algn="just" fontAlgn="base"/>
                      <a:r>
                        <a:rPr lang="en-US" altLang="zh-CN" sz="1600" dirty="0"/>
                        <a:t>Actors</a:t>
                      </a:r>
                    </a:p>
                    <a:p>
                      <a:pPr algn="just" fontAlgn="base"/>
                      <a:r>
                        <a:rPr lang="en-US" altLang="zh-CN" sz="1600" dirty="0"/>
                        <a:t>The first branch of an impact map provides answers to the following questions: Who can produce the desired effect? Who can obstruct it? Who are the consumers or users of our product? Who will be impacted by it? These are the actors who can influence the outcome.</a:t>
                      </a:r>
                      <a:endParaRPr lang="zh-CN" altLang="en-US"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30848957"/>
                  </a:ext>
                </a:extLst>
              </a:tr>
              <a:tr h="370840">
                <a:tc>
                  <a:txBody>
                    <a:bodyPr/>
                    <a:lstStyle/>
                    <a:p>
                      <a:pPr algn="just" fontAlgn="base"/>
                      <a:r>
                        <a:rPr lang="en-US" altLang="zh-CN" sz="1600"/>
                        <a:t>Impacts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70985"/>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zh-CN" sz="1600"/>
                        <a:t>The second branch level of an impact map sets the actors in the perspective of our business goal. It answers the following questions: How should our actors’ behaviors change? How can they help us to achieve the goal? How can they obstruct or prevent us from succeeding? These are the impacts that we’re trying to create.</a:t>
                      </a:r>
                      <a:endParaRPr lang="zh-CN" altLang="en-US" sz="16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7321553"/>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zh-CN" sz="1600"/>
                        <a:t>Deliverables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0239"/>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zh-CN" sz="1600" dirty="0"/>
                        <a:t>Once we have the first three questions answered, we can talk about scope. The third branch level of an impact map answers the following question: What can we do, as an organization or a delivery team, to support the required impacts? These are the deliverables, software features and organizational activities.</a:t>
                      </a:r>
                      <a:endParaRPr lang="zh-CN" altLang="en-US"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4113744"/>
                  </a:ext>
                </a:extLst>
              </a:tr>
            </a:tbl>
          </a:graphicData>
        </a:graphic>
      </p:graphicFrame>
    </p:spTree>
    <p:extLst>
      <p:ext uri="{BB962C8B-B14F-4D97-AF65-F5344CB8AC3E}">
        <p14:creationId xmlns:p14="http://schemas.microsoft.com/office/powerpoint/2010/main" val="816773516"/>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B6F77430-16DA-99AF-A882-A5CB97247F1C}"/>
              </a:ext>
            </a:extLst>
          </p:cNvPr>
          <p:cNvPicPr>
            <a:picLocks noChangeAspect="1"/>
          </p:cNvPicPr>
          <p:nvPr/>
        </p:nvPicPr>
        <p:blipFill>
          <a:blip r:embed="rId2"/>
          <a:stretch>
            <a:fillRect/>
          </a:stretch>
        </p:blipFill>
        <p:spPr>
          <a:xfrm>
            <a:off x="690562" y="500062"/>
            <a:ext cx="10810875" cy="5857875"/>
          </a:xfrm>
          <a:prstGeom prst="rect">
            <a:avLst/>
          </a:prstGeom>
        </p:spPr>
      </p:pic>
    </p:spTree>
    <p:extLst>
      <p:ext uri="{BB962C8B-B14F-4D97-AF65-F5344CB8AC3E}">
        <p14:creationId xmlns:p14="http://schemas.microsoft.com/office/powerpoint/2010/main" val="1678642775"/>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22316565-CB62-4048-236A-9007E6B1C5C8}"/>
              </a:ext>
            </a:extLst>
          </p:cNvPr>
          <p:cNvGraphicFramePr>
            <a:graphicFrameLocks noGrp="1"/>
          </p:cNvGraphicFramePr>
          <p:nvPr>
            <p:extLst>
              <p:ext uri="{D42A27DB-BD31-4B8C-83A1-F6EECF244321}">
                <p14:modId xmlns:p14="http://schemas.microsoft.com/office/powerpoint/2010/main" val="561345043"/>
              </p:ext>
            </p:extLst>
          </p:nvPr>
        </p:nvGraphicFramePr>
        <p:xfrm>
          <a:off x="695325" y="2283777"/>
          <a:ext cx="10801350" cy="2072640"/>
        </p:xfrm>
        <a:graphic>
          <a:graphicData uri="http://schemas.openxmlformats.org/drawingml/2006/table">
            <a:tbl>
              <a:tblPr/>
              <a:tblGrid>
                <a:gridCol w="3906172">
                  <a:extLst>
                    <a:ext uri="{9D8B030D-6E8A-4147-A177-3AD203B41FA5}">
                      <a16:colId xmlns:a16="http://schemas.microsoft.com/office/drawing/2014/main" val="1405474354"/>
                    </a:ext>
                  </a:extLst>
                </a:gridCol>
                <a:gridCol w="3824748">
                  <a:extLst>
                    <a:ext uri="{9D8B030D-6E8A-4147-A177-3AD203B41FA5}">
                      <a16:colId xmlns:a16="http://schemas.microsoft.com/office/drawing/2014/main" val="2240367278"/>
                    </a:ext>
                  </a:extLst>
                </a:gridCol>
                <a:gridCol w="3070430">
                  <a:extLst>
                    <a:ext uri="{9D8B030D-6E8A-4147-A177-3AD203B41FA5}">
                      <a16:colId xmlns:a16="http://schemas.microsoft.com/office/drawing/2014/main" val="2741461381"/>
                    </a:ext>
                  </a:extLst>
                </a:gridCol>
              </a:tblGrid>
              <a:tr h="0">
                <a:tc>
                  <a:txBody>
                    <a:bodyPr/>
                    <a:lstStyle/>
                    <a:p>
                      <a:pPr>
                        <a:buNone/>
                      </a:pPr>
                      <a:r>
                        <a:rPr lang="zh-CN" altLang="en-US" sz="1600" dirty="0">
                          <a:solidFill>
                            <a:schemeClr val="bg1"/>
                          </a:solidFill>
                        </a:rPr>
                        <a:t>交付物</a:t>
                      </a:r>
                    </a:p>
                  </a:txBody>
                  <a:tcPr anchor="ctr">
                    <a:lnL>
                      <a:noFill/>
                    </a:lnL>
                    <a:lnR>
                      <a:noFill/>
                    </a:lnR>
                    <a:lnT>
                      <a:noFill/>
                    </a:lnT>
                    <a:lnB>
                      <a:noFill/>
                    </a:lnB>
                    <a:solidFill>
                      <a:srgbClr val="00B0F0"/>
                    </a:solidFill>
                  </a:tcPr>
                </a:tc>
                <a:tc>
                  <a:txBody>
                    <a:bodyPr/>
                    <a:lstStyle/>
                    <a:p>
                      <a:pPr>
                        <a:buNone/>
                      </a:pPr>
                      <a:r>
                        <a:rPr lang="zh-CN" altLang="en-US" sz="1600" dirty="0">
                          <a:solidFill>
                            <a:schemeClr val="bg1"/>
                          </a:solidFill>
                        </a:rPr>
                        <a:t>作用机制</a:t>
                      </a:r>
                    </a:p>
                  </a:txBody>
                  <a:tcPr anchor="ctr">
                    <a:lnL>
                      <a:noFill/>
                    </a:lnL>
                    <a:lnR>
                      <a:noFill/>
                    </a:lnR>
                    <a:lnT>
                      <a:noFill/>
                    </a:lnT>
                    <a:lnB>
                      <a:noFill/>
                    </a:lnB>
                    <a:solidFill>
                      <a:srgbClr val="00B0F0"/>
                    </a:solidFill>
                  </a:tcPr>
                </a:tc>
                <a:tc>
                  <a:txBody>
                    <a:bodyPr/>
                    <a:lstStyle/>
                    <a:p>
                      <a:pPr>
                        <a:buNone/>
                      </a:pPr>
                      <a:r>
                        <a:rPr lang="zh-CN" altLang="en-US" sz="1600" dirty="0">
                          <a:solidFill>
                            <a:schemeClr val="bg1"/>
                          </a:solidFill>
                        </a:rPr>
                        <a:t>预期效果</a:t>
                      </a:r>
                    </a:p>
                  </a:txBody>
                  <a:tcPr anchor="ctr">
                    <a:lnL>
                      <a:noFill/>
                    </a:lnL>
                    <a:lnR>
                      <a:noFill/>
                    </a:lnR>
                    <a:lnT>
                      <a:noFill/>
                    </a:lnT>
                    <a:lnB>
                      <a:noFill/>
                    </a:lnB>
                    <a:solidFill>
                      <a:srgbClr val="00B0F0"/>
                    </a:solidFill>
                  </a:tcPr>
                </a:tc>
                <a:extLst>
                  <a:ext uri="{0D108BD9-81ED-4DB2-BD59-A6C34878D82A}">
                    <a16:rowId xmlns:a16="http://schemas.microsoft.com/office/drawing/2014/main" val="2072298893"/>
                  </a:ext>
                </a:extLst>
              </a:tr>
              <a:tr h="161559">
                <a:tc>
                  <a:txBody>
                    <a:bodyPr/>
                    <a:lstStyle/>
                    <a:p>
                      <a:pPr>
                        <a:buNone/>
                      </a:pPr>
                      <a:r>
                        <a:rPr lang="en-US" sz="1600"/>
                        <a:t>Push updates on the app</a:t>
                      </a:r>
                      <a:br>
                        <a:rPr lang="en-US" sz="1600"/>
                      </a:br>
                      <a:r>
                        <a:rPr lang="en-US" sz="1600" err="1"/>
                        <a:t>App</a:t>
                      </a:r>
                      <a:r>
                        <a:rPr lang="en-US" sz="1600"/>
                        <a:t> </a:t>
                      </a:r>
                      <a:r>
                        <a:rPr lang="zh-CN" altLang="en-US" sz="1600"/>
                        <a:t>内推送更新</a:t>
                      </a:r>
                    </a:p>
                  </a:txBody>
                  <a:tcPr anchor="ctr">
                    <a:lnL>
                      <a:noFill/>
                    </a:lnL>
                    <a:lnR>
                      <a:noFill/>
                    </a:lnR>
                    <a:lnT>
                      <a:noFill/>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主动提醒用户有新内容</a:t>
                      </a:r>
                      <a:r>
                        <a:rPr lang="en-US" altLang="zh-CN" sz="1600"/>
                        <a:t>/</a:t>
                      </a:r>
                      <a:r>
                        <a:rPr lang="zh-CN" altLang="en-US" sz="1600"/>
                        <a:t>活动 → 触发回流</a:t>
                      </a:r>
                    </a:p>
                  </a:txBody>
                  <a:tcPr anchor="ctr">
                    <a:lnL>
                      <a:noFill/>
                    </a:lnL>
                    <a:lnR>
                      <a:noFill/>
                    </a:lnR>
                    <a:lnT>
                      <a:noFill/>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提高日活</a:t>
                      </a:r>
                      <a:r>
                        <a:rPr lang="en-US" altLang="zh-CN" sz="1600"/>
                        <a:t>/</a:t>
                      </a:r>
                      <a:r>
                        <a:rPr lang="zh-CN" altLang="en-US" sz="1600"/>
                        <a:t>周活</a:t>
                      </a:r>
                    </a:p>
                  </a:txBody>
                  <a:tcPr anchor="ctr">
                    <a:lnL>
                      <a:noFill/>
                    </a:lnL>
                    <a:lnR>
                      <a:noFill/>
                    </a:lnR>
                    <a:lnT>
                      <a:noFill/>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106087979"/>
                  </a:ext>
                </a:extLst>
              </a:tr>
              <a:tr h="161559">
                <a:tc>
                  <a:txBody>
                    <a:bodyPr/>
                    <a:lstStyle/>
                    <a:p>
                      <a:pPr>
                        <a:buNone/>
                      </a:pPr>
                      <a:r>
                        <a:rPr lang="en-US" sz="1600"/>
                        <a:t>Special offers every month</a:t>
                      </a:r>
                      <a:br>
                        <a:rPr lang="en-US" sz="1600"/>
                      </a:br>
                      <a:r>
                        <a:rPr lang="zh-CN" altLang="en-US" sz="1600"/>
                        <a:t>每月特别优惠</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制造稀缺感和奖励感 → 激励重复访问</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提升复访率和转化率</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516656013"/>
                  </a:ext>
                </a:extLst>
              </a:tr>
              <a:tr h="229584">
                <a:tc>
                  <a:txBody>
                    <a:bodyPr/>
                    <a:lstStyle/>
                    <a:p>
                      <a:pPr>
                        <a:buNone/>
                      </a:pPr>
                      <a:r>
                        <a:rPr lang="en-US" sz="1600"/>
                        <a:t>Better layout when browsing events</a:t>
                      </a:r>
                      <a:br>
                        <a:rPr lang="en-US" sz="1600"/>
                      </a:br>
                      <a:r>
                        <a:rPr lang="zh-CN" altLang="en-US" sz="1600"/>
                        <a:t>浏览活动时更好的布局</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优化体验 → 减少跳出，延长停留时间</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dirty="0"/>
                        <a:t>间接支持“</a:t>
                      </a:r>
                      <a:r>
                        <a:rPr lang="en-US" sz="1600" dirty="0"/>
                        <a:t>Stay longer”</a:t>
                      </a:r>
                      <a:r>
                        <a:rPr lang="zh-CN" altLang="en-US" sz="1600" dirty="0"/>
                        <a:t>和“</a:t>
                      </a:r>
                      <a:r>
                        <a:rPr lang="en-US" sz="1600" dirty="0"/>
                        <a:t>View more ads”</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757360399"/>
                  </a:ext>
                </a:extLst>
              </a:tr>
            </a:tbl>
          </a:graphicData>
        </a:graphic>
      </p:graphicFrame>
    </p:spTree>
    <p:extLst>
      <p:ext uri="{BB962C8B-B14F-4D97-AF65-F5344CB8AC3E}">
        <p14:creationId xmlns:p14="http://schemas.microsoft.com/office/powerpoint/2010/main" val="280458038"/>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03521-1126-C3FB-AFF5-586A14B4C72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00CB249-AFC9-3589-E731-5AE9214C86A0}"/>
              </a:ext>
            </a:extLst>
          </p:cNvPr>
          <p:cNvSpPr>
            <a:spLocks noGrp="1"/>
          </p:cNvSpPr>
          <p:nvPr>
            <p:ph type="title"/>
          </p:nvPr>
        </p:nvSpPr>
        <p:spPr>
          <a:xfrm>
            <a:off x="792000" y="360000"/>
            <a:ext cx="6375921" cy="429413"/>
          </a:xfrm>
        </p:spPr>
        <p:txBody>
          <a:bodyPr/>
          <a:lstStyle/>
          <a:p>
            <a:r>
              <a:rPr lang="en-US" altLang="zh-CN"/>
              <a:t>3.2 </a:t>
            </a:r>
            <a:r>
              <a:rPr lang="zh-CN" altLang="en-US"/>
              <a:t>需求池</a:t>
            </a:r>
          </a:p>
        </p:txBody>
      </p:sp>
      <p:sp>
        <p:nvSpPr>
          <p:cNvPr id="7" name="内容占位符 6">
            <a:extLst>
              <a:ext uri="{FF2B5EF4-FFF2-40B4-BE49-F238E27FC236}">
                <a16:creationId xmlns:a16="http://schemas.microsoft.com/office/drawing/2014/main" id="{82FFF7B8-5AA5-4C1E-6D5A-668EEF7C2D0C}"/>
              </a:ext>
            </a:extLst>
          </p:cNvPr>
          <p:cNvSpPr>
            <a:spLocks noGrp="1"/>
          </p:cNvSpPr>
          <p:nvPr>
            <p:ph idx="1"/>
          </p:nvPr>
        </p:nvSpPr>
        <p:spPr>
          <a:xfrm>
            <a:off x="696000" y="864000"/>
            <a:ext cx="10800000" cy="5400000"/>
          </a:xfrm>
        </p:spPr>
        <p:txBody>
          <a:bodyPr/>
          <a:lstStyle/>
          <a:p>
            <a:r>
              <a:rPr lang="zh-CN" altLang="en-US" dirty="0"/>
              <a:t>需求池 </a:t>
            </a:r>
            <a:r>
              <a:rPr lang="en-US" altLang="zh-CN" dirty="0"/>
              <a:t>Product Backlog</a:t>
            </a:r>
          </a:p>
          <a:p>
            <a:r>
              <a:rPr lang="zh-CN" altLang="en-US" dirty="0"/>
              <a:t>产品代办事项</a:t>
            </a:r>
            <a:endParaRPr lang="en-US" altLang="zh-CN" dirty="0"/>
          </a:p>
          <a:p>
            <a:endParaRPr lang="zh-CN" altLang="en-US" dirty="0"/>
          </a:p>
        </p:txBody>
      </p:sp>
      <p:sp>
        <p:nvSpPr>
          <p:cNvPr id="4" name="文本占位符 3">
            <a:extLst>
              <a:ext uri="{FF2B5EF4-FFF2-40B4-BE49-F238E27FC236}">
                <a16:creationId xmlns:a16="http://schemas.microsoft.com/office/drawing/2014/main" id="{8803137D-AD6A-E919-8710-380F2DF77997}"/>
              </a:ext>
            </a:extLst>
          </p:cNvPr>
          <p:cNvSpPr>
            <a:spLocks noGrp="1"/>
          </p:cNvSpPr>
          <p:nvPr>
            <p:ph type="body" sz="quarter" idx="10"/>
          </p:nvPr>
        </p:nvSpPr>
        <p:spPr>
          <a:xfrm>
            <a:off x="7071919" y="448519"/>
            <a:ext cx="4424080" cy="338554"/>
          </a:xfrm>
        </p:spPr>
        <p:txBody>
          <a:bodyPr/>
          <a:lstStyle/>
          <a:p>
            <a:r>
              <a:rPr lang="en-US" altLang="zh-CN"/>
              <a:t>Product Backlog/Agile</a:t>
            </a:r>
            <a:endParaRPr lang="zh-CN" altLang="en-US"/>
          </a:p>
        </p:txBody>
      </p:sp>
    </p:spTree>
    <p:extLst>
      <p:ext uri="{BB962C8B-B14F-4D97-AF65-F5344CB8AC3E}">
        <p14:creationId xmlns:p14="http://schemas.microsoft.com/office/powerpoint/2010/main" val="2859936209"/>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759F90-2488-C3DB-0D25-073D28FF11EF}"/>
              </a:ext>
            </a:extLst>
          </p:cNvPr>
          <p:cNvSpPr>
            <a:spLocks noGrp="1"/>
          </p:cNvSpPr>
          <p:nvPr>
            <p:ph type="title"/>
          </p:nvPr>
        </p:nvSpPr>
        <p:spPr>
          <a:xfrm>
            <a:off x="792000" y="360000"/>
            <a:ext cx="6375921" cy="429413"/>
          </a:xfrm>
        </p:spPr>
        <p:txBody>
          <a:bodyPr/>
          <a:lstStyle/>
          <a:p>
            <a:r>
              <a:rPr lang="en-US" altLang="zh-CN"/>
              <a:t>[</a:t>
            </a:r>
            <a:r>
              <a:rPr lang="zh-CN" altLang="en-US"/>
              <a:t>用户故事</a:t>
            </a:r>
            <a:r>
              <a:rPr lang="en-US" altLang="zh-CN"/>
              <a:t>]</a:t>
            </a:r>
            <a:endParaRPr lang="zh-CN" altLang="en-US"/>
          </a:p>
        </p:txBody>
      </p:sp>
      <p:sp>
        <p:nvSpPr>
          <p:cNvPr id="3" name="内容占位符 2">
            <a:extLst>
              <a:ext uri="{FF2B5EF4-FFF2-40B4-BE49-F238E27FC236}">
                <a16:creationId xmlns:a16="http://schemas.microsoft.com/office/drawing/2014/main" id="{A6DD2407-12EC-2FC0-7773-24E09871456E}"/>
              </a:ext>
            </a:extLst>
          </p:cNvPr>
          <p:cNvSpPr>
            <a:spLocks noGrp="1"/>
          </p:cNvSpPr>
          <p:nvPr>
            <p:ph idx="1"/>
          </p:nvPr>
        </p:nvSpPr>
        <p:spPr>
          <a:xfrm>
            <a:off x="696000" y="864000"/>
            <a:ext cx="10800000" cy="5400000"/>
          </a:xfrm>
        </p:spPr>
        <p:txBody>
          <a:bodyPr/>
          <a:lstStyle/>
          <a:p>
            <a:r>
              <a:rPr lang="zh-CN" altLang="en-US"/>
              <a:t>敏捷项目中，使用</a:t>
            </a:r>
            <a:r>
              <a:rPr lang="zh-CN" altLang="en-US">
                <a:hlinkClick r:id="rId2"/>
              </a:rPr>
              <a:t>用户故事 </a:t>
            </a:r>
            <a:r>
              <a:rPr lang="en-US" altLang="zh-CN">
                <a:hlinkClick r:id="rId2"/>
              </a:rPr>
              <a:t>User Story </a:t>
            </a:r>
            <a:r>
              <a:rPr lang="zh-CN" altLang="en-US"/>
              <a:t>描述需求</a:t>
            </a:r>
            <a:endParaRPr lang="en-US" altLang="zh-CN"/>
          </a:p>
          <a:p>
            <a:pPr lvl="1"/>
            <a:r>
              <a:rPr lang="en-US" altLang="zh-CN"/>
              <a:t>In Agile process, user requirements are expressed as user stories.</a:t>
            </a:r>
          </a:p>
          <a:p>
            <a:r>
              <a:rPr lang="zh-CN" altLang="en-US"/>
              <a:t>用户故事是对一个或多个软件系统功能的非正式、自然语言描述</a:t>
            </a:r>
            <a:endParaRPr lang="en-US" altLang="zh-CN"/>
          </a:p>
          <a:p>
            <a:r>
              <a:rPr lang="zh-CN" altLang="en-US"/>
              <a:t>用户故事是敏捷软件开发中用来从最终用户角度捕捉软件功能描述的工具</a:t>
            </a:r>
            <a:endParaRPr lang="en-US" altLang="zh-CN"/>
          </a:p>
          <a:p>
            <a:r>
              <a:rPr lang="zh-CN" altLang="en-US"/>
              <a:t>用户故事描述了用户类型、他们想要什么以及为什么</a:t>
            </a:r>
            <a:endParaRPr lang="en-US" altLang="zh-CN"/>
          </a:p>
          <a:p>
            <a:r>
              <a:rPr lang="zh-CN" altLang="en-US"/>
              <a:t>用户故事有助于创建一个简化的需求描述</a:t>
            </a:r>
            <a:endParaRPr lang="en-US" altLang="zh-CN"/>
          </a:p>
          <a:p>
            <a:r>
              <a:rPr lang="zh-CN" altLang="en-US"/>
              <a:t>用户故事通过强调以客户为中心的对话，减少了撰写详尽文档的时间</a:t>
            </a:r>
            <a:endParaRPr lang="en-US" altLang="zh-CN"/>
          </a:p>
          <a:p>
            <a:r>
              <a:rPr lang="zh-CN" altLang="en-US"/>
              <a:t>用户故事是一种轻量级的方法，用于快速捕捉产品需求的“谁”、“什么”和“为什么”。简单来说，用户故事就是需求的简单表述，表达用户需要什么。用户故事简洁明了，每个要素通常包含少于</a:t>
            </a:r>
            <a:r>
              <a:rPr lang="en-US" altLang="zh-CN"/>
              <a:t>10</a:t>
            </a:r>
            <a:r>
              <a:rPr lang="zh-CN" altLang="en-US"/>
              <a:t>或</a:t>
            </a:r>
            <a:r>
              <a:rPr lang="en-US" altLang="zh-CN"/>
              <a:t>15</a:t>
            </a:r>
            <a:r>
              <a:rPr lang="zh-CN" altLang="en-US"/>
              <a:t>个单词。</a:t>
            </a:r>
            <a:endParaRPr lang="en-US" altLang="zh-CN"/>
          </a:p>
          <a:p>
            <a:endParaRPr lang="en-US" altLang="zh-CN"/>
          </a:p>
          <a:p>
            <a:endParaRPr lang="zh-CN" altLang="en-US"/>
          </a:p>
        </p:txBody>
      </p:sp>
      <p:sp>
        <p:nvSpPr>
          <p:cNvPr id="13" name="文本占位符 12">
            <a:extLst>
              <a:ext uri="{FF2B5EF4-FFF2-40B4-BE49-F238E27FC236}">
                <a16:creationId xmlns:a16="http://schemas.microsoft.com/office/drawing/2014/main" id="{404B5124-E1B3-27AB-D7C2-A3C607A4483A}"/>
              </a:ext>
            </a:extLst>
          </p:cNvPr>
          <p:cNvSpPr>
            <a:spLocks noGrp="1"/>
          </p:cNvSpPr>
          <p:nvPr>
            <p:ph type="body" sz="quarter" idx="10"/>
          </p:nvPr>
        </p:nvSpPr>
        <p:spPr>
          <a:xfrm>
            <a:off x="7071919" y="448519"/>
            <a:ext cx="4424080" cy="338554"/>
          </a:xfrm>
        </p:spPr>
        <p:txBody>
          <a:bodyPr/>
          <a:lstStyle/>
          <a:p>
            <a:r>
              <a:rPr lang="en-US" altLang="zh-CN"/>
              <a:t>user stories</a:t>
            </a:r>
            <a:endParaRPr lang="zh-CN" altLang="en-US"/>
          </a:p>
        </p:txBody>
      </p:sp>
    </p:spTree>
    <p:extLst>
      <p:ext uri="{BB962C8B-B14F-4D97-AF65-F5344CB8AC3E}">
        <p14:creationId xmlns:p14="http://schemas.microsoft.com/office/powerpoint/2010/main" val="3710105005"/>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4050F-5F34-812A-5D5F-F8289D5EEA9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3238DCD-FC4E-16BC-FC66-362E67C0F39C}"/>
              </a:ext>
            </a:extLst>
          </p:cNvPr>
          <p:cNvSpPr>
            <a:spLocks noGrp="1"/>
          </p:cNvSpPr>
          <p:nvPr>
            <p:ph type="title"/>
          </p:nvPr>
        </p:nvSpPr>
        <p:spPr>
          <a:xfrm>
            <a:off x="792000" y="360000"/>
            <a:ext cx="6375921" cy="429413"/>
          </a:xfrm>
        </p:spPr>
        <p:txBody>
          <a:bodyPr/>
          <a:lstStyle/>
          <a:p>
            <a:r>
              <a:rPr lang="en-US" altLang="zh-CN"/>
              <a:t>3.4 </a:t>
            </a:r>
            <a:r>
              <a:rPr lang="zh-CN" altLang="en-US"/>
              <a:t>用户故事编写 </a:t>
            </a:r>
          </a:p>
        </p:txBody>
      </p:sp>
      <p:sp>
        <p:nvSpPr>
          <p:cNvPr id="7" name="内容占位符 6">
            <a:extLst>
              <a:ext uri="{FF2B5EF4-FFF2-40B4-BE49-F238E27FC236}">
                <a16:creationId xmlns:a16="http://schemas.microsoft.com/office/drawing/2014/main" id="{0308B619-3DDA-06C5-7868-F19682FDA462}"/>
              </a:ext>
            </a:extLst>
          </p:cNvPr>
          <p:cNvSpPr>
            <a:spLocks noGrp="1"/>
          </p:cNvSpPr>
          <p:nvPr>
            <p:ph idx="1"/>
          </p:nvPr>
        </p:nvSpPr>
        <p:spPr>
          <a:xfrm>
            <a:off x="696000" y="864000"/>
            <a:ext cx="10800000" cy="5400000"/>
          </a:xfrm>
        </p:spPr>
        <p:txBody>
          <a:bodyPr/>
          <a:lstStyle/>
          <a:p>
            <a:r>
              <a:rPr lang="zh-CN" altLang="en-US"/>
              <a:t>用户故事编写 </a:t>
            </a:r>
            <a:r>
              <a:rPr lang="en-US" altLang="zh-CN"/>
              <a:t>User Story Writing</a:t>
            </a:r>
          </a:p>
          <a:p>
            <a:r>
              <a:rPr lang="en-US" altLang="zh-CN"/>
              <a:t>Rachel Davies </a:t>
            </a:r>
            <a:r>
              <a:rPr lang="zh-CN" altLang="en-US"/>
              <a:t>在 </a:t>
            </a:r>
            <a:r>
              <a:rPr lang="en-US" altLang="zh-CN"/>
              <a:t>2002 </a:t>
            </a:r>
            <a:r>
              <a:rPr lang="zh-CN" altLang="en-US"/>
              <a:t>年提出</a:t>
            </a:r>
            <a:endParaRPr lang="en-US" altLang="zh-CN"/>
          </a:p>
          <a:p>
            <a:r>
              <a:rPr lang="zh-CN" altLang="en-US"/>
              <a:t>完整模板 </a:t>
            </a:r>
            <a:r>
              <a:rPr lang="en-US" altLang="zh-CN"/>
              <a:t>A Complete User story Template</a:t>
            </a:r>
          </a:p>
          <a:p>
            <a:endParaRPr lang="en-US" altLang="zh-CN"/>
          </a:p>
        </p:txBody>
      </p:sp>
      <p:sp>
        <p:nvSpPr>
          <p:cNvPr id="4" name="文本占位符 3">
            <a:extLst>
              <a:ext uri="{FF2B5EF4-FFF2-40B4-BE49-F238E27FC236}">
                <a16:creationId xmlns:a16="http://schemas.microsoft.com/office/drawing/2014/main" id="{8E499245-351F-D865-F198-644B4E2D3CF9}"/>
              </a:ext>
            </a:extLst>
          </p:cNvPr>
          <p:cNvSpPr>
            <a:spLocks noGrp="1"/>
          </p:cNvSpPr>
          <p:nvPr>
            <p:ph type="body" sz="quarter" idx="10"/>
          </p:nvPr>
        </p:nvSpPr>
        <p:spPr>
          <a:xfrm>
            <a:off x="7071919" y="448519"/>
            <a:ext cx="4424080" cy="338554"/>
          </a:xfrm>
        </p:spPr>
        <p:txBody>
          <a:bodyPr/>
          <a:lstStyle/>
          <a:p>
            <a:r>
              <a:rPr lang="en-US" altLang="zh-CN"/>
              <a:t>User Story Writing/Agile</a:t>
            </a:r>
            <a:endParaRPr lang="zh-CN" altLang="en-US"/>
          </a:p>
        </p:txBody>
      </p:sp>
      <p:sp>
        <p:nvSpPr>
          <p:cNvPr id="8" name="文本框 7">
            <a:extLst>
              <a:ext uri="{FF2B5EF4-FFF2-40B4-BE49-F238E27FC236}">
                <a16:creationId xmlns:a16="http://schemas.microsoft.com/office/drawing/2014/main" id="{64760C62-E276-F7A9-502B-ABEFB0F9AFE9}"/>
              </a:ext>
            </a:extLst>
          </p:cNvPr>
          <p:cNvSpPr txBox="1"/>
          <p:nvPr/>
        </p:nvSpPr>
        <p:spPr>
          <a:xfrm>
            <a:off x="695325" y="2880852"/>
            <a:ext cx="10801350" cy="1897314"/>
          </a:xfrm>
          <a:prstGeom prst="rect">
            <a:avLst/>
          </a:prstGeom>
          <a:noFill/>
        </p:spPr>
        <p:txBody>
          <a:bodyPr wrap="square" rtlCol="0">
            <a:spAutoFit/>
          </a:bodyPr>
          <a:lstStyle/>
          <a:p>
            <a:pPr marL="0" lvl="1">
              <a:lnSpc>
                <a:spcPct val="150000"/>
              </a:lnSpc>
            </a:pPr>
            <a:r>
              <a:rPr lang="en-US" altLang="zh-CN" sz="1600" dirty="0"/>
              <a:t>AS A {user | persona | system},</a:t>
            </a:r>
          </a:p>
          <a:p>
            <a:pPr marL="0" lvl="1">
              <a:lnSpc>
                <a:spcPct val="150000"/>
              </a:lnSpc>
            </a:pPr>
            <a:r>
              <a:rPr lang="en-US" altLang="zh-CN" sz="1600" dirty="0"/>
              <a:t>[INSTEAD OF {current condition}]</a:t>
            </a:r>
          </a:p>
          <a:p>
            <a:pPr marL="0" lvl="1">
              <a:lnSpc>
                <a:spcPct val="150000"/>
              </a:lnSpc>
            </a:pPr>
            <a:r>
              <a:rPr lang="en-US" altLang="zh-CN" sz="1600" dirty="0"/>
              <a:t>I WANT TO {action} [IN {mode} TIME | IN {differentiating performance units} TO {utility performance units}</a:t>
            </a:r>
          </a:p>
          <a:p>
            <a:pPr marL="0" lvl="1">
              <a:lnSpc>
                <a:spcPct val="150000"/>
              </a:lnSpc>
            </a:pPr>
            <a:r>
              <a:rPr lang="en-US" altLang="zh-CN" sz="1600" dirty="0"/>
              <a:t>[SO THAT {value or justification}]</a:t>
            </a:r>
          </a:p>
          <a:p>
            <a:pPr marL="0" lvl="1">
              <a:lnSpc>
                <a:spcPct val="150000"/>
              </a:lnSpc>
            </a:pPr>
            <a:r>
              <a:rPr lang="en-US" altLang="zh-CN" sz="1600" dirty="0"/>
              <a:t>[NO LATER THAN {best by date}]</a:t>
            </a:r>
            <a:endParaRPr lang="zh-CN" altLang="en-US" sz="1600" dirty="0"/>
          </a:p>
        </p:txBody>
      </p:sp>
      <p:pic>
        <p:nvPicPr>
          <p:cNvPr id="1026" name="Picture 2">
            <a:extLst>
              <a:ext uri="{FF2B5EF4-FFF2-40B4-BE49-F238E27FC236}">
                <a16:creationId xmlns:a16="http://schemas.microsoft.com/office/drawing/2014/main" id="{B2F4B1A9-67FF-A1A3-85A4-67F3879C37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91162" y="864000"/>
            <a:ext cx="3305175" cy="2619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698362"/>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4050F-5F34-812A-5D5F-F8289D5EEA95}"/>
            </a:ext>
          </a:extLst>
        </p:cNvPr>
        <p:cNvGrpSpPr/>
        <p:nvPr/>
      </p:nvGrpSpPr>
      <p:grpSpPr>
        <a:xfrm>
          <a:off x="0" y="0"/>
          <a:ext cx="0" cy="0"/>
          <a:chOff x="0" y="0"/>
          <a:chExt cx="0" cy="0"/>
        </a:xfrm>
      </p:grpSpPr>
      <p:graphicFrame>
        <p:nvGraphicFramePr>
          <p:cNvPr id="12" name="表格 11">
            <a:extLst>
              <a:ext uri="{FF2B5EF4-FFF2-40B4-BE49-F238E27FC236}">
                <a16:creationId xmlns:a16="http://schemas.microsoft.com/office/drawing/2014/main" id="{09968DBB-00E9-15A7-FC85-A8BDA4D9BA84}"/>
              </a:ext>
            </a:extLst>
          </p:cNvPr>
          <p:cNvGraphicFramePr>
            <a:graphicFrameLocks noGrp="1"/>
          </p:cNvGraphicFramePr>
          <p:nvPr>
            <p:extLst>
              <p:ext uri="{D42A27DB-BD31-4B8C-83A1-F6EECF244321}">
                <p14:modId xmlns:p14="http://schemas.microsoft.com/office/powerpoint/2010/main" val="1383825901"/>
              </p:ext>
            </p:extLst>
          </p:nvPr>
        </p:nvGraphicFramePr>
        <p:xfrm>
          <a:off x="2032000" y="1063795"/>
          <a:ext cx="8128000" cy="222504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782703772"/>
                    </a:ext>
                  </a:extLst>
                </a:gridCol>
                <a:gridCol w="2032000">
                  <a:extLst>
                    <a:ext uri="{9D8B030D-6E8A-4147-A177-3AD203B41FA5}">
                      <a16:colId xmlns:a16="http://schemas.microsoft.com/office/drawing/2014/main" val="3281967711"/>
                    </a:ext>
                  </a:extLst>
                </a:gridCol>
                <a:gridCol w="2032000">
                  <a:extLst>
                    <a:ext uri="{9D8B030D-6E8A-4147-A177-3AD203B41FA5}">
                      <a16:colId xmlns:a16="http://schemas.microsoft.com/office/drawing/2014/main" val="3115624069"/>
                    </a:ext>
                  </a:extLst>
                </a:gridCol>
                <a:gridCol w="2032000">
                  <a:extLst>
                    <a:ext uri="{9D8B030D-6E8A-4147-A177-3AD203B41FA5}">
                      <a16:colId xmlns:a16="http://schemas.microsoft.com/office/drawing/2014/main" val="3942756832"/>
                    </a:ext>
                  </a:extLst>
                </a:gridCol>
              </a:tblGrid>
              <a:tr h="370840">
                <a:tc>
                  <a:txBody>
                    <a:bodyPr/>
                    <a:lstStyle/>
                    <a:p>
                      <a:pPr>
                        <a:lnSpc>
                          <a:spcPct val="100000"/>
                        </a:lnSpc>
                      </a:pPr>
                      <a:r>
                        <a:rPr lang="en-US" altLang="zh-CN" sz="1600" dirty="0">
                          <a:solidFill>
                            <a:schemeClr val="tx1"/>
                          </a:solidFill>
                        </a:rPr>
                        <a:t>Story name</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endParaRPr lang="zh-CN" altLang="en-US" sz="16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r>
                        <a:rPr lang="en-US" altLang="zh-CN" sz="1600">
                          <a:solidFill>
                            <a:schemeClr val="tx1"/>
                          </a:solidFill>
                        </a:rPr>
                        <a:t>Story ID</a:t>
                      </a:r>
                      <a:endParaRPr lang="zh-CN" altLang="en-US" sz="16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endParaRPr lang="zh-CN" altLang="en-US" sz="16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41006335"/>
                  </a:ext>
                </a:extLst>
              </a:tr>
              <a:tr h="1112520">
                <a:tc gridSpan="4">
                  <a:txBody>
                    <a:bodyPr/>
                    <a:lstStyle/>
                    <a:p>
                      <a:pPr>
                        <a:lnSpc>
                          <a:spcPct val="100000"/>
                        </a:lnSpc>
                      </a:pPr>
                      <a:r>
                        <a:rPr lang="en-US" altLang="zh-CN" sz="1600">
                          <a:solidFill>
                            <a:schemeClr val="tx1"/>
                          </a:solidFill>
                        </a:rPr>
                        <a:t>As a …</a:t>
                      </a:r>
                    </a:p>
                    <a:p>
                      <a:pPr>
                        <a:lnSpc>
                          <a:spcPct val="100000"/>
                        </a:lnSpc>
                      </a:pPr>
                      <a:r>
                        <a:rPr lang="en-US" altLang="zh-CN" sz="1600">
                          <a:solidFill>
                            <a:schemeClr val="tx1"/>
                          </a:solidFill>
                        </a:rPr>
                        <a:t>I want to…</a:t>
                      </a:r>
                    </a:p>
                    <a:p>
                      <a:pPr>
                        <a:lnSpc>
                          <a:spcPct val="100000"/>
                        </a:lnSpc>
                      </a:pPr>
                      <a:r>
                        <a:rPr lang="en-US" altLang="zh-CN" sz="1600">
                          <a:solidFill>
                            <a:schemeClr val="tx1"/>
                          </a:solidFill>
                        </a:rPr>
                        <a:t>So that …</a:t>
                      </a:r>
                      <a:endParaRPr lang="zh-CN" altLang="en-US" sz="16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sz="16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sz="16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sz="16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0472361"/>
                  </a:ext>
                </a:extLst>
              </a:tr>
              <a:tr h="370840">
                <a:tc>
                  <a:txBody>
                    <a:bodyPr/>
                    <a:lstStyle/>
                    <a:p>
                      <a:pPr>
                        <a:lnSpc>
                          <a:spcPct val="100000"/>
                        </a:lnSpc>
                      </a:pPr>
                      <a:r>
                        <a:rPr lang="en-US" altLang="zh-CN" sz="1600">
                          <a:solidFill>
                            <a:schemeClr val="tx1"/>
                          </a:solidFill>
                        </a:rPr>
                        <a:t>Priorities </a:t>
                      </a:r>
                      <a:endParaRPr lang="zh-CN" altLang="en-US" sz="16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r>
                        <a:rPr lang="en-US" altLang="zh-CN" sz="1600">
                          <a:solidFill>
                            <a:schemeClr val="tx1"/>
                          </a:solidFill>
                        </a:rPr>
                        <a:t>High 1 2 3 4 5 low</a:t>
                      </a:r>
                      <a:endParaRPr lang="zh-CN" altLang="en-US" sz="16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r>
                        <a:rPr lang="en-US" altLang="zh-CN" sz="1600">
                          <a:solidFill>
                            <a:schemeClr val="tx1"/>
                          </a:solidFill>
                        </a:rPr>
                        <a:t>Iteration number</a:t>
                      </a:r>
                      <a:endParaRPr lang="zh-CN" altLang="en-US" sz="16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endParaRPr lang="zh-CN" altLang="en-US" sz="16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1112191"/>
                  </a:ext>
                </a:extLst>
              </a:tr>
              <a:tr h="370840">
                <a:tc>
                  <a:txBody>
                    <a:bodyPr/>
                    <a:lstStyle/>
                    <a:p>
                      <a:pPr>
                        <a:lnSpc>
                          <a:spcPct val="100000"/>
                        </a:lnSpc>
                      </a:pPr>
                      <a:r>
                        <a:rPr lang="en-US" altLang="zh-CN" sz="1600" dirty="0">
                          <a:solidFill>
                            <a:schemeClr val="tx1"/>
                          </a:solidFill>
                        </a:rPr>
                        <a:t>Date started</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endParaRPr lang="zh-CN" altLang="en-US" sz="16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r>
                        <a:rPr lang="en-US" altLang="zh-CN" sz="1600">
                          <a:solidFill>
                            <a:schemeClr val="tx1"/>
                          </a:solidFill>
                        </a:rPr>
                        <a:t>Date</a:t>
                      </a:r>
                      <a:r>
                        <a:rPr lang="zh-CN" altLang="en-US" sz="1600">
                          <a:solidFill>
                            <a:schemeClr val="tx1"/>
                          </a:solidFill>
                        </a:rPr>
                        <a:t> </a:t>
                      </a:r>
                      <a:r>
                        <a:rPr lang="en-US" altLang="zh-CN" sz="1600">
                          <a:solidFill>
                            <a:schemeClr val="tx1"/>
                          </a:solidFill>
                        </a:rPr>
                        <a:t>finished</a:t>
                      </a:r>
                      <a:endParaRPr lang="zh-CN" altLang="en-US" sz="16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24816574"/>
                  </a:ext>
                </a:extLst>
              </a:tr>
            </a:tbl>
          </a:graphicData>
        </a:graphic>
      </p:graphicFrame>
      <p:graphicFrame>
        <p:nvGraphicFramePr>
          <p:cNvPr id="13" name="表格 12">
            <a:extLst>
              <a:ext uri="{FF2B5EF4-FFF2-40B4-BE49-F238E27FC236}">
                <a16:creationId xmlns:a16="http://schemas.microsoft.com/office/drawing/2014/main" id="{3C47C491-3578-61CB-FEA9-90300236BD22}"/>
              </a:ext>
            </a:extLst>
          </p:cNvPr>
          <p:cNvGraphicFramePr>
            <a:graphicFrameLocks noGrp="1"/>
          </p:cNvGraphicFramePr>
          <p:nvPr>
            <p:extLst>
              <p:ext uri="{D42A27DB-BD31-4B8C-83A1-F6EECF244321}">
                <p14:modId xmlns:p14="http://schemas.microsoft.com/office/powerpoint/2010/main" val="1402904062"/>
              </p:ext>
            </p:extLst>
          </p:nvPr>
        </p:nvGraphicFramePr>
        <p:xfrm>
          <a:off x="2032000" y="3773129"/>
          <a:ext cx="8128000" cy="2225040"/>
        </p:xfrm>
        <a:graphic>
          <a:graphicData uri="http://schemas.openxmlformats.org/drawingml/2006/table">
            <a:tbl>
              <a:tblPr firstRow="1" bandRow="1">
                <a:tableStyleId>{5C22544A-7EE6-4342-B048-85BDC9FD1C3A}</a:tableStyleId>
              </a:tblPr>
              <a:tblGrid>
                <a:gridCol w="8128000">
                  <a:extLst>
                    <a:ext uri="{9D8B030D-6E8A-4147-A177-3AD203B41FA5}">
                      <a16:colId xmlns:a16="http://schemas.microsoft.com/office/drawing/2014/main" val="3782703772"/>
                    </a:ext>
                  </a:extLst>
                </a:gridCol>
              </a:tblGrid>
              <a:tr h="370840">
                <a:tc>
                  <a:txBody>
                    <a:bodyPr/>
                    <a:lstStyle/>
                    <a:p>
                      <a:pPr>
                        <a:lnSpc>
                          <a:spcPct val="100000"/>
                        </a:lnSpc>
                      </a:pPr>
                      <a:r>
                        <a:rPr lang="en-US" altLang="zh-CN" sz="1600" dirty="0">
                          <a:solidFill>
                            <a:schemeClr val="tx1"/>
                          </a:solidFill>
                        </a:rPr>
                        <a:t>Acceptance Criteria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41006335"/>
                  </a:ext>
                </a:extLst>
              </a:tr>
              <a:tr h="1483360">
                <a:tc>
                  <a:txBody>
                    <a:bodyPr/>
                    <a:lstStyle/>
                    <a:p>
                      <a:pPr>
                        <a:lnSpc>
                          <a:spcPct val="100000"/>
                        </a:lnSpc>
                      </a:pP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0472361"/>
                  </a:ext>
                </a:extLst>
              </a:tr>
              <a:tr h="370840">
                <a:tc>
                  <a:txBody>
                    <a:bodyPr/>
                    <a:lstStyle/>
                    <a:p>
                      <a:pPr>
                        <a:lnSpc>
                          <a:spcPct val="100000"/>
                        </a:lnSpc>
                      </a:pPr>
                      <a:r>
                        <a:rPr lang="en-US" altLang="zh-CN" sz="1600" dirty="0">
                          <a:solidFill>
                            <a:schemeClr val="tx1"/>
                          </a:solidFill>
                        </a:rPr>
                        <a:t>Notes:</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24816574"/>
                  </a:ext>
                </a:extLst>
              </a:tr>
            </a:tbl>
          </a:graphicData>
        </a:graphic>
      </p:graphicFrame>
    </p:spTree>
    <p:extLst>
      <p:ext uri="{BB962C8B-B14F-4D97-AF65-F5344CB8AC3E}">
        <p14:creationId xmlns:p14="http://schemas.microsoft.com/office/powerpoint/2010/main" val="3351543908"/>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23A0CF4C-AC92-D4C5-D96B-C7A2A7468F34}"/>
              </a:ext>
            </a:extLst>
          </p:cNvPr>
          <p:cNvGraphicFramePr>
            <a:graphicFrameLocks noGrp="1"/>
          </p:cNvGraphicFramePr>
          <p:nvPr>
            <p:extLst>
              <p:ext uri="{D42A27DB-BD31-4B8C-83A1-F6EECF244321}">
                <p14:modId xmlns:p14="http://schemas.microsoft.com/office/powerpoint/2010/main" val="1146560797"/>
              </p:ext>
            </p:extLst>
          </p:nvPr>
        </p:nvGraphicFramePr>
        <p:xfrm>
          <a:off x="696000" y="1653875"/>
          <a:ext cx="10800000" cy="3550250"/>
        </p:xfrm>
        <a:graphic>
          <a:graphicData uri="http://schemas.openxmlformats.org/drawingml/2006/table">
            <a:tbl>
              <a:tblPr/>
              <a:tblGrid>
                <a:gridCol w="1080000">
                  <a:extLst>
                    <a:ext uri="{9D8B030D-6E8A-4147-A177-3AD203B41FA5}">
                      <a16:colId xmlns:a16="http://schemas.microsoft.com/office/drawing/2014/main" val="835016584"/>
                    </a:ext>
                  </a:extLst>
                </a:gridCol>
                <a:gridCol w="1080000">
                  <a:extLst>
                    <a:ext uri="{9D8B030D-6E8A-4147-A177-3AD203B41FA5}">
                      <a16:colId xmlns:a16="http://schemas.microsoft.com/office/drawing/2014/main" val="1361702487"/>
                    </a:ext>
                  </a:extLst>
                </a:gridCol>
                <a:gridCol w="5040000">
                  <a:extLst>
                    <a:ext uri="{9D8B030D-6E8A-4147-A177-3AD203B41FA5}">
                      <a16:colId xmlns:a16="http://schemas.microsoft.com/office/drawing/2014/main" val="2644325434"/>
                    </a:ext>
                  </a:extLst>
                </a:gridCol>
                <a:gridCol w="3600000">
                  <a:extLst>
                    <a:ext uri="{9D8B030D-6E8A-4147-A177-3AD203B41FA5}">
                      <a16:colId xmlns:a16="http://schemas.microsoft.com/office/drawing/2014/main" val="385814232"/>
                    </a:ext>
                  </a:extLst>
                </a:gridCol>
              </a:tblGrid>
              <a:tr h="223466">
                <a:tc>
                  <a:txBody>
                    <a:bodyPr/>
                    <a:lstStyle/>
                    <a:p>
                      <a:pPr algn="l">
                        <a:buNone/>
                      </a:pPr>
                      <a:r>
                        <a:rPr lang="zh-CN" altLang="en-US" sz="1600"/>
                        <a:t>优先级</a:t>
                      </a:r>
                    </a:p>
                  </a:txBody>
                  <a:tcPr marL="76066" marR="76066" marT="38033" marB="380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t>角色</a:t>
                      </a:r>
                    </a:p>
                  </a:txBody>
                  <a:tcPr marL="76066" marR="76066" marT="38033" marB="380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t>用户故事 </a:t>
                      </a:r>
                      <a:r>
                        <a:rPr lang="en-US" sz="1600"/>
                        <a:t>User Story</a:t>
                      </a:r>
                    </a:p>
                  </a:txBody>
                  <a:tcPr marL="76066" marR="76066" marT="38033" marB="380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t>验收标准示例 </a:t>
                      </a:r>
                      <a:r>
                        <a:rPr lang="en-US" sz="1600"/>
                        <a:t>Acceptance Criteria</a:t>
                      </a:r>
                    </a:p>
                  </a:txBody>
                  <a:tcPr marL="76066" marR="76066" marT="38033" marB="380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6251823"/>
                  </a:ext>
                </a:extLst>
              </a:tr>
              <a:tr h="564127">
                <a:tc>
                  <a:txBody>
                    <a:bodyPr/>
                    <a:lstStyle/>
                    <a:p>
                      <a:pPr algn="l">
                        <a:buNone/>
                      </a:pPr>
                      <a:r>
                        <a:rPr lang="en-US" sz="1600"/>
                        <a:t>P0 (</a:t>
                      </a:r>
                      <a:r>
                        <a:rPr lang="zh-CN" altLang="en-US" sz="1600"/>
                        <a:t>高</a:t>
                      </a:r>
                      <a:r>
                        <a:rPr lang="en-US" altLang="zh-CN" sz="1600"/>
                        <a:t>)</a:t>
                      </a:r>
                    </a:p>
                  </a:txBody>
                  <a:tcPr marL="76066" marR="76066" marT="38033" marB="380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t>购物者</a:t>
                      </a:r>
                    </a:p>
                  </a:txBody>
                  <a:tcPr marL="76066" marR="76066" marT="38033" marB="380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dirty="0"/>
                        <a:t>作为 购物者</a:t>
                      </a:r>
                      <a:br>
                        <a:rPr lang="zh-CN" altLang="en-US" sz="1600" dirty="0"/>
                      </a:br>
                      <a:r>
                        <a:rPr lang="zh-CN" altLang="en-US" sz="1600" dirty="0"/>
                        <a:t>我想要 通过关键词搜索商品</a:t>
                      </a:r>
                      <a:br>
                        <a:rPr lang="zh-CN" altLang="en-US" sz="1600" dirty="0"/>
                      </a:br>
                      <a:r>
                        <a:rPr lang="zh-CN" altLang="en-US" sz="1600" dirty="0"/>
                        <a:t>以便 快速找到我感兴趣的具体产品</a:t>
                      </a:r>
                    </a:p>
                  </a:txBody>
                  <a:tcPr marL="76066" marR="76066" marT="38033" marB="380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altLang="zh-CN" sz="1600"/>
                        <a:t>1. </a:t>
                      </a:r>
                      <a:r>
                        <a:rPr lang="zh-CN" altLang="en-US" sz="1600"/>
                        <a:t>支持模糊匹配</a:t>
                      </a:r>
                      <a:br>
                        <a:rPr lang="zh-CN" altLang="en-US" sz="1600"/>
                      </a:br>
                      <a:r>
                        <a:rPr lang="en-US" altLang="zh-CN" sz="1600"/>
                        <a:t>2. </a:t>
                      </a:r>
                      <a:r>
                        <a:rPr lang="zh-CN" altLang="en-US" sz="1600"/>
                        <a:t>无结果时显示推荐商品</a:t>
                      </a:r>
                    </a:p>
                  </a:txBody>
                  <a:tcPr marL="76066" marR="76066" marT="38033" marB="380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3634368"/>
                  </a:ext>
                </a:extLst>
              </a:tr>
              <a:tr h="564127">
                <a:tc>
                  <a:txBody>
                    <a:bodyPr/>
                    <a:lstStyle/>
                    <a:p>
                      <a:pPr algn="l">
                        <a:buNone/>
                      </a:pPr>
                      <a:r>
                        <a:rPr lang="en-US" sz="1600"/>
                        <a:t>P0 (</a:t>
                      </a:r>
                      <a:r>
                        <a:rPr lang="zh-CN" altLang="en-US" sz="1600"/>
                        <a:t>高</a:t>
                      </a:r>
                      <a:r>
                        <a:rPr lang="en-US" altLang="zh-CN" sz="1600"/>
                        <a:t>)</a:t>
                      </a:r>
                    </a:p>
                  </a:txBody>
                  <a:tcPr marL="76066" marR="76066" marT="38033" marB="380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t>购物者</a:t>
                      </a:r>
                    </a:p>
                  </a:txBody>
                  <a:tcPr marL="76066" marR="76066" marT="38033" marB="380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t>作为 购物者</a:t>
                      </a:r>
                      <a:br>
                        <a:rPr lang="zh-CN" altLang="en-US" sz="1600"/>
                      </a:br>
                      <a:r>
                        <a:rPr lang="zh-CN" altLang="en-US" sz="1600"/>
                        <a:t>我想要 查看商品的详细图片和描述</a:t>
                      </a:r>
                      <a:br>
                        <a:rPr lang="zh-CN" altLang="en-US" sz="1600"/>
                      </a:br>
                      <a:r>
                        <a:rPr lang="zh-CN" altLang="en-US" sz="1600"/>
                        <a:t>以便 了解产品的具体规格和外观</a:t>
                      </a:r>
                    </a:p>
                  </a:txBody>
                  <a:tcPr marL="76066" marR="76066" marT="38033" marB="380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altLang="zh-CN" sz="1600"/>
                        <a:t>1. </a:t>
                      </a:r>
                      <a:r>
                        <a:rPr lang="zh-CN" altLang="en-US" sz="1600"/>
                        <a:t>图片支持放大查看</a:t>
                      </a:r>
                      <a:br>
                        <a:rPr lang="zh-CN" altLang="en-US" sz="1600"/>
                      </a:br>
                      <a:r>
                        <a:rPr lang="en-US" altLang="zh-CN" sz="1600"/>
                        <a:t>2. </a:t>
                      </a:r>
                      <a:r>
                        <a:rPr lang="zh-CN" altLang="en-US" sz="1600"/>
                        <a:t>显示库存状态</a:t>
                      </a:r>
                    </a:p>
                  </a:txBody>
                  <a:tcPr marL="76066" marR="76066" marT="38033" marB="380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5583758"/>
                  </a:ext>
                </a:extLst>
              </a:tr>
              <a:tr h="564127">
                <a:tc>
                  <a:txBody>
                    <a:bodyPr/>
                    <a:lstStyle/>
                    <a:p>
                      <a:pPr algn="l">
                        <a:buNone/>
                      </a:pPr>
                      <a:r>
                        <a:rPr lang="en-US" sz="1600"/>
                        <a:t>P1 (</a:t>
                      </a:r>
                      <a:r>
                        <a:rPr lang="zh-CN" altLang="en-US" sz="1600"/>
                        <a:t>中</a:t>
                      </a:r>
                      <a:r>
                        <a:rPr lang="en-US" altLang="zh-CN" sz="1600"/>
                        <a:t>)</a:t>
                      </a:r>
                    </a:p>
                  </a:txBody>
                  <a:tcPr marL="76066" marR="76066" marT="38033" marB="380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t>购物者</a:t>
                      </a:r>
                    </a:p>
                  </a:txBody>
                  <a:tcPr marL="76066" marR="76066" marT="38033" marB="380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t>作为 购物者</a:t>
                      </a:r>
                      <a:br>
                        <a:rPr lang="zh-CN" altLang="en-US" sz="1600"/>
                      </a:br>
                      <a:r>
                        <a:rPr lang="zh-CN" altLang="en-US" sz="1600"/>
                        <a:t>我想要 按价格或销量对搜索结果排序</a:t>
                      </a:r>
                      <a:br>
                        <a:rPr lang="zh-CN" altLang="en-US" sz="1600"/>
                      </a:br>
                      <a:r>
                        <a:rPr lang="zh-CN" altLang="en-US" sz="1600"/>
                        <a:t>以便 筛选出性价比最高或最热门的商品</a:t>
                      </a:r>
                    </a:p>
                  </a:txBody>
                  <a:tcPr marL="76066" marR="76066" marT="38033" marB="380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altLang="zh-CN" sz="1600"/>
                        <a:t>1. </a:t>
                      </a:r>
                      <a:r>
                        <a:rPr lang="zh-CN" altLang="en-US" sz="1600"/>
                        <a:t>支持升序</a:t>
                      </a:r>
                      <a:r>
                        <a:rPr lang="en-US" altLang="zh-CN" sz="1600"/>
                        <a:t>/</a:t>
                      </a:r>
                      <a:r>
                        <a:rPr lang="zh-CN" altLang="en-US" sz="1600"/>
                        <a:t>降序切换</a:t>
                      </a:r>
                    </a:p>
                  </a:txBody>
                  <a:tcPr marL="76066" marR="76066" marT="38033" marB="380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14657242"/>
                  </a:ext>
                </a:extLst>
              </a:tr>
              <a:tr h="564127">
                <a:tc>
                  <a:txBody>
                    <a:bodyPr/>
                    <a:lstStyle/>
                    <a:p>
                      <a:pPr algn="l">
                        <a:buNone/>
                      </a:pPr>
                      <a:r>
                        <a:rPr lang="en-US" sz="1600"/>
                        <a:t>P2 (</a:t>
                      </a:r>
                      <a:r>
                        <a:rPr lang="zh-CN" altLang="en-US" sz="1600"/>
                        <a:t>低</a:t>
                      </a:r>
                      <a:r>
                        <a:rPr lang="en-US" altLang="zh-CN" sz="1600"/>
                        <a:t>)</a:t>
                      </a:r>
                    </a:p>
                  </a:txBody>
                  <a:tcPr marL="76066" marR="76066" marT="38033" marB="380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t>购物者</a:t>
                      </a:r>
                    </a:p>
                  </a:txBody>
                  <a:tcPr marL="76066" marR="76066" marT="38033" marB="380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t>作为 购物者</a:t>
                      </a:r>
                      <a:br>
                        <a:rPr lang="zh-CN" altLang="en-US" sz="1600"/>
                      </a:br>
                      <a:r>
                        <a:rPr lang="zh-CN" altLang="en-US" sz="1600"/>
                        <a:t>我想要 查看其他用户的商品评价</a:t>
                      </a:r>
                      <a:br>
                        <a:rPr lang="zh-CN" altLang="en-US" sz="1600"/>
                      </a:br>
                      <a:r>
                        <a:rPr lang="zh-CN" altLang="en-US" sz="1600"/>
                        <a:t>以便 辅助我做出购买决策</a:t>
                      </a:r>
                    </a:p>
                  </a:txBody>
                  <a:tcPr marL="76066" marR="76066" marT="38033" marB="380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altLang="zh-CN" sz="1600" dirty="0"/>
                        <a:t>1. </a:t>
                      </a:r>
                      <a:r>
                        <a:rPr lang="zh-CN" altLang="en-US" sz="1600" dirty="0"/>
                        <a:t>显示评分星级</a:t>
                      </a:r>
                      <a:br>
                        <a:rPr lang="zh-CN" altLang="en-US" sz="1600" dirty="0"/>
                      </a:br>
                      <a:r>
                        <a:rPr lang="en-US" altLang="zh-CN" sz="1600" dirty="0"/>
                        <a:t>2. </a:t>
                      </a:r>
                      <a:r>
                        <a:rPr lang="zh-CN" altLang="en-US" sz="1600" dirty="0"/>
                        <a:t>支持查看带图评价</a:t>
                      </a:r>
                    </a:p>
                  </a:txBody>
                  <a:tcPr marL="76066" marR="76066" marT="38033" marB="380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6246346"/>
                  </a:ext>
                </a:extLst>
              </a:tr>
            </a:tbl>
          </a:graphicData>
        </a:graphic>
      </p:graphicFrame>
      <p:sp>
        <p:nvSpPr>
          <p:cNvPr id="6" name="矩形 5">
            <a:extLst>
              <a:ext uri="{FF2B5EF4-FFF2-40B4-BE49-F238E27FC236}">
                <a16:creationId xmlns:a16="http://schemas.microsoft.com/office/drawing/2014/main" id="{DFE199F8-5C7A-DC8C-B594-129E082BA8FB}"/>
              </a:ext>
            </a:extLst>
          </p:cNvPr>
          <p:cNvSpPr/>
          <p:nvPr/>
        </p:nvSpPr>
        <p:spPr>
          <a:xfrm>
            <a:off x="5376000" y="774902"/>
            <a:ext cx="1440000" cy="360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rgbClr val="FFFFFF"/>
                </a:solidFill>
              </a:rPr>
              <a:t>浏览商品</a:t>
            </a:r>
          </a:p>
        </p:txBody>
      </p:sp>
    </p:spTree>
    <p:extLst>
      <p:ext uri="{BB962C8B-B14F-4D97-AF65-F5344CB8AC3E}">
        <p14:creationId xmlns:p14="http://schemas.microsoft.com/office/powerpoint/2010/main" val="3608631762"/>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23A0CF4C-AC92-D4C5-D96B-C7A2A7468F34}"/>
              </a:ext>
            </a:extLst>
          </p:cNvPr>
          <p:cNvGraphicFramePr>
            <a:graphicFrameLocks noGrp="1"/>
          </p:cNvGraphicFramePr>
          <p:nvPr>
            <p:extLst>
              <p:ext uri="{D42A27DB-BD31-4B8C-83A1-F6EECF244321}">
                <p14:modId xmlns:p14="http://schemas.microsoft.com/office/powerpoint/2010/main" val="2022122595"/>
              </p:ext>
            </p:extLst>
          </p:nvPr>
        </p:nvGraphicFramePr>
        <p:xfrm>
          <a:off x="696000" y="1653875"/>
          <a:ext cx="10800000" cy="2804160"/>
        </p:xfrm>
        <a:graphic>
          <a:graphicData uri="http://schemas.openxmlformats.org/drawingml/2006/table">
            <a:tbl>
              <a:tblPr/>
              <a:tblGrid>
                <a:gridCol w="1080000">
                  <a:extLst>
                    <a:ext uri="{9D8B030D-6E8A-4147-A177-3AD203B41FA5}">
                      <a16:colId xmlns:a16="http://schemas.microsoft.com/office/drawing/2014/main" val="835016584"/>
                    </a:ext>
                  </a:extLst>
                </a:gridCol>
                <a:gridCol w="1080000">
                  <a:extLst>
                    <a:ext uri="{9D8B030D-6E8A-4147-A177-3AD203B41FA5}">
                      <a16:colId xmlns:a16="http://schemas.microsoft.com/office/drawing/2014/main" val="1361702487"/>
                    </a:ext>
                  </a:extLst>
                </a:gridCol>
                <a:gridCol w="5040000">
                  <a:extLst>
                    <a:ext uri="{9D8B030D-6E8A-4147-A177-3AD203B41FA5}">
                      <a16:colId xmlns:a16="http://schemas.microsoft.com/office/drawing/2014/main" val="2644325434"/>
                    </a:ext>
                  </a:extLst>
                </a:gridCol>
                <a:gridCol w="3600000">
                  <a:extLst>
                    <a:ext uri="{9D8B030D-6E8A-4147-A177-3AD203B41FA5}">
                      <a16:colId xmlns:a16="http://schemas.microsoft.com/office/drawing/2014/main" val="385814232"/>
                    </a:ext>
                  </a:extLst>
                </a:gridCol>
              </a:tblGrid>
              <a:tr h="143820">
                <a:tc>
                  <a:txBody>
                    <a:bodyPr/>
                    <a:lstStyle/>
                    <a:p>
                      <a:pPr algn="l">
                        <a:buNone/>
                      </a:pPr>
                      <a:r>
                        <a:rPr lang="zh-CN" altLang="en-US" sz="1600"/>
                        <a:t>优先级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a:t>角色</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dirty="0"/>
                        <a:t>用户故事 </a:t>
                      </a:r>
                      <a:r>
                        <a:rPr lang="en-US" sz="1600" dirty="0"/>
                        <a:t>User Story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a:t>验收标准示例 </a:t>
                      </a:r>
                      <a:r>
                        <a:rPr lang="en-US" sz="1600"/>
                        <a:t>Acceptance Criteria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36251823"/>
                  </a:ext>
                </a:extLst>
              </a:tr>
              <a:tr h="353013">
                <a:tc>
                  <a:txBody>
                    <a:bodyPr/>
                    <a:lstStyle/>
                    <a:p>
                      <a:pPr algn="l">
                        <a:buNone/>
                      </a:pPr>
                      <a:r>
                        <a:rPr lang="en-US" sz="1600"/>
                        <a:t>P0 (</a:t>
                      </a:r>
                      <a:r>
                        <a:rPr lang="zh-CN" altLang="en-US" sz="1600"/>
                        <a:t>高</a:t>
                      </a:r>
                      <a:r>
                        <a:rPr lang="en-US" altLang="zh-CN" sz="160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a:t>购物者</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dirty="0"/>
                        <a:t>作为 购物者</a:t>
                      </a:r>
                      <a:br>
                        <a:rPr lang="zh-CN" altLang="en-US" sz="1600" dirty="0"/>
                      </a:br>
                      <a:r>
                        <a:rPr lang="zh-CN" altLang="en-US" sz="1600" dirty="0"/>
                        <a:t>我想要 选择商品的颜色、尺寸等规格</a:t>
                      </a:r>
                      <a:br>
                        <a:rPr lang="zh-CN" altLang="en-US" sz="1600" dirty="0"/>
                      </a:br>
                      <a:r>
                        <a:rPr lang="zh-CN" altLang="en-US" sz="1600" dirty="0"/>
                        <a:t>以便 确保买到符合我需求的款式</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ltLang="zh-CN" sz="1600"/>
                        <a:t>1. </a:t>
                      </a:r>
                      <a:r>
                        <a:rPr lang="zh-CN" altLang="en-US" sz="1600"/>
                        <a:t>缺货规格置灰不可选</a:t>
                      </a:r>
                      <a:br>
                        <a:rPr lang="zh-CN" altLang="en-US" sz="1600"/>
                      </a:br>
                      <a:r>
                        <a:rPr lang="en-US" altLang="zh-CN" sz="1600"/>
                        <a:t>2. </a:t>
                      </a:r>
                      <a:r>
                        <a:rPr lang="zh-CN" altLang="en-US" sz="1600"/>
                        <a:t>选择不同规格价格自动更新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63634368"/>
                  </a:ext>
                </a:extLst>
              </a:tr>
              <a:tr h="353013">
                <a:tc>
                  <a:txBody>
                    <a:bodyPr/>
                    <a:lstStyle/>
                    <a:p>
                      <a:pPr algn="l">
                        <a:buNone/>
                      </a:pPr>
                      <a:r>
                        <a:rPr lang="en-US" sz="1600"/>
                        <a:t>P0 (</a:t>
                      </a:r>
                      <a:r>
                        <a:rPr lang="zh-CN" altLang="en-US" sz="1600"/>
                        <a:t>高</a:t>
                      </a:r>
                      <a:r>
                        <a:rPr lang="en-US" altLang="zh-CN" sz="160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a:t>购物者</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a:t>作为 购物者</a:t>
                      </a:r>
                      <a:br>
                        <a:rPr lang="zh-CN" altLang="en-US" sz="1600"/>
                      </a:br>
                      <a:r>
                        <a:rPr lang="zh-CN" altLang="en-US" sz="1600"/>
                        <a:t>我想要 设定购买数量并添加到购物车</a:t>
                      </a:r>
                      <a:br>
                        <a:rPr lang="zh-CN" altLang="en-US" sz="1600"/>
                      </a:br>
                      <a:r>
                        <a:rPr lang="zh-CN" altLang="en-US" sz="1600"/>
                        <a:t>以便 暂存商品，稍后统一结算</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ltLang="zh-CN" sz="1600"/>
                        <a:t>1. </a:t>
                      </a:r>
                      <a:r>
                        <a:rPr lang="zh-CN" altLang="en-US" sz="1600"/>
                        <a:t>数量不能超过库存上限</a:t>
                      </a:r>
                      <a:br>
                        <a:rPr lang="zh-CN" altLang="en-US" sz="1600"/>
                      </a:br>
                      <a:r>
                        <a:rPr lang="en-US" altLang="zh-CN" sz="1600"/>
                        <a:t>2. </a:t>
                      </a:r>
                      <a:r>
                        <a:rPr lang="zh-CN" altLang="en-US" sz="1600"/>
                        <a:t>添加成功后有明确提示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45583758"/>
                  </a:ext>
                </a:extLst>
              </a:tr>
              <a:tr h="457609">
                <a:tc>
                  <a:txBody>
                    <a:bodyPr/>
                    <a:lstStyle/>
                    <a:p>
                      <a:pPr algn="l">
                        <a:buNone/>
                      </a:pPr>
                      <a:r>
                        <a:rPr lang="en-US" sz="1600"/>
                        <a:t>P1 (</a:t>
                      </a:r>
                      <a:r>
                        <a:rPr lang="zh-CN" altLang="en-US" sz="1600"/>
                        <a:t>中</a:t>
                      </a:r>
                      <a:r>
                        <a:rPr lang="en-US" altLang="zh-CN" sz="160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a:t>购物者</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a:t>作为 购物者</a:t>
                      </a:r>
                      <a:br>
                        <a:rPr lang="zh-CN" altLang="en-US" sz="1600"/>
                      </a:br>
                      <a:r>
                        <a:rPr lang="zh-CN" altLang="en-US" sz="1600"/>
                        <a:t>我想要 在购物车修改已选商品数量或删除商品</a:t>
                      </a:r>
                      <a:br>
                        <a:rPr lang="zh-CN" altLang="en-US" sz="1600"/>
                      </a:br>
                      <a:r>
                        <a:rPr lang="zh-CN" altLang="en-US" sz="1600"/>
                        <a:t>以便 调整我的购买计划</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ltLang="zh-CN" sz="1600" dirty="0"/>
                        <a:t>1. </a:t>
                      </a:r>
                      <a:r>
                        <a:rPr lang="zh-CN" altLang="en-US" sz="1600" dirty="0"/>
                        <a:t>删除需二次确认</a:t>
                      </a:r>
                      <a:br>
                        <a:rPr lang="zh-CN" altLang="en-US" sz="1600" dirty="0"/>
                      </a:br>
                      <a:r>
                        <a:rPr lang="en-US" altLang="zh-CN" sz="1600" dirty="0"/>
                        <a:t>2. </a:t>
                      </a:r>
                      <a:r>
                        <a:rPr lang="zh-CN" altLang="en-US" sz="1600" dirty="0"/>
                        <a:t>总价随数量实时计算</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14657242"/>
                  </a:ext>
                </a:extLst>
              </a:tr>
            </a:tbl>
          </a:graphicData>
        </a:graphic>
      </p:graphicFrame>
      <p:sp>
        <p:nvSpPr>
          <p:cNvPr id="6" name="矩形 5">
            <a:extLst>
              <a:ext uri="{FF2B5EF4-FFF2-40B4-BE49-F238E27FC236}">
                <a16:creationId xmlns:a16="http://schemas.microsoft.com/office/drawing/2014/main" id="{DFE199F8-5C7A-DC8C-B594-129E082BA8FB}"/>
              </a:ext>
            </a:extLst>
          </p:cNvPr>
          <p:cNvSpPr/>
          <p:nvPr/>
        </p:nvSpPr>
        <p:spPr>
          <a:xfrm>
            <a:off x="5376000" y="774902"/>
            <a:ext cx="1440000" cy="360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rgbClr val="FFFFFF"/>
                </a:solidFill>
              </a:rPr>
              <a:t>加入购物车</a:t>
            </a:r>
          </a:p>
        </p:txBody>
      </p:sp>
    </p:spTree>
    <p:extLst>
      <p:ext uri="{BB962C8B-B14F-4D97-AF65-F5344CB8AC3E}">
        <p14:creationId xmlns:p14="http://schemas.microsoft.com/office/powerpoint/2010/main" val="3460112704"/>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07D77-EC84-B34D-09B8-6E6D1B7B978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79D73C5-515C-F85C-85EE-2F6DE92CE83B}"/>
              </a:ext>
            </a:extLst>
          </p:cNvPr>
          <p:cNvSpPr>
            <a:spLocks noGrp="1"/>
          </p:cNvSpPr>
          <p:nvPr>
            <p:ph type="title"/>
          </p:nvPr>
        </p:nvSpPr>
        <p:spPr>
          <a:xfrm>
            <a:off x="792000" y="360000"/>
            <a:ext cx="6375921" cy="429413"/>
          </a:xfrm>
        </p:spPr>
        <p:txBody>
          <a:bodyPr/>
          <a:lstStyle/>
          <a:p>
            <a:r>
              <a:rPr lang="en-US" altLang="zh-CN"/>
              <a:t>3.3 </a:t>
            </a:r>
            <a:r>
              <a:rPr lang="zh-CN" altLang="en-US"/>
              <a:t>用户故事地图 </a:t>
            </a:r>
          </a:p>
        </p:txBody>
      </p:sp>
      <p:sp>
        <p:nvSpPr>
          <p:cNvPr id="7" name="内容占位符 6">
            <a:extLst>
              <a:ext uri="{FF2B5EF4-FFF2-40B4-BE49-F238E27FC236}">
                <a16:creationId xmlns:a16="http://schemas.microsoft.com/office/drawing/2014/main" id="{EE8712AF-FFE7-4E0A-3DEF-DEDABBE3F66F}"/>
              </a:ext>
            </a:extLst>
          </p:cNvPr>
          <p:cNvSpPr>
            <a:spLocks noGrp="1"/>
          </p:cNvSpPr>
          <p:nvPr>
            <p:ph idx="1"/>
          </p:nvPr>
        </p:nvSpPr>
        <p:spPr>
          <a:xfrm>
            <a:off x="696000" y="864000"/>
            <a:ext cx="10800000" cy="5400000"/>
          </a:xfrm>
        </p:spPr>
        <p:txBody>
          <a:bodyPr/>
          <a:lstStyle/>
          <a:p>
            <a:r>
              <a:rPr lang="zh-CN" altLang="en-US" dirty="0"/>
              <a:t>用户故事地图 </a:t>
            </a:r>
            <a:r>
              <a:rPr lang="en-US" altLang="zh-CN" dirty="0"/>
              <a:t>User Story Mapping</a:t>
            </a:r>
          </a:p>
          <a:p>
            <a:pPr lvl="1"/>
            <a:r>
              <a:rPr lang="zh-CN" altLang="en-US" dirty="0"/>
              <a:t>将 </a:t>
            </a:r>
            <a:r>
              <a:rPr lang="en-US" altLang="zh-CN" dirty="0"/>
              <a:t>backlog </a:t>
            </a:r>
            <a:r>
              <a:rPr lang="zh-CN" altLang="en-US" dirty="0"/>
              <a:t>变成一个二维图</a:t>
            </a:r>
            <a:endParaRPr lang="en-US" altLang="zh-CN" dirty="0"/>
          </a:p>
          <a:p>
            <a:pPr lvl="1"/>
            <a:r>
              <a:rPr lang="zh-CN" altLang="en-US" dirty="0"/>
              <a:t>第</a:t>
            </a:r>
            <a:r>
              <a:rPr lang="en-US" altLang="zh-CN" dirty="0"/>
              <a:t>1</a:t>
            </a:r>
            <a:r>
              <a:rPr lang="zh-CN" altLang="en-US" dirty="0"/>
              <a:t>维度：一系列用户故事</a:t>
            </a:r>
            <a:endParaRPr lang="en-US" altLang="zh-CN" dirty="0"/>
          </a:p>
          <a:p>
            <a:pPr lvl="1"/>
            <a:r>
              <a:rPr lang="zh-CN" altLang="en-US" dirty="0"/>
              <a:t>第</a:t>
            </a:r>
            <a:r>
              <a:rPr lang="en-US" altLang="zh-CN" dirty="0"/>
              <a:t>2</a:t>
            </a:r>
            <a:r>
              <a:rPr lang="zh-CN" altLang="en-US" dirty="0"/>
              <a:t>维度：用户故事的不同功能需求</a:t>
            </a:r>
            <a:endParaRPr lang="en-US" altLang="zh-CN" dirty="0"/>
          </a:p>
          <a:p>
            <a:r>
              <a:rPr lang="zh-CN" altLang="en-US" dirty="0"/>
              <a:t>实现</a:t>
            </a:r>
            <a:endParaRPr lang="en-US" altLang="zh-CN" dirty="0"/>
          </a:p>
          <a:p>
            <a:pPr lvl="1"/>
            <a:r>
              <a:rPr lang="zh-CN" altLang="en-US" dirty="0"/>
              <a:t>用户活动 </a:t>
            </a:r>
            <a:r>
              <a:rPr lang="en-US" altLang="zh-CN" dirty="0"/>
              <a:t>User activities</a:t>
            </a:r>
            <a:r>
              <a:rPr lang="zh-CN" altLang="en-US" dirty="0"/>
              <a:t>：高层级的用户目标或阶段，如注册、浏览商品、下单</a:t>
            </a:r>
          </a:p>
          <a:p>
            <a:pPr lvl="1"/>
            <a:r>
              <a:rPr lang="zh-CN" altLang="en-US" dirty="0"/>
              <a:t>用户任务 </a:t>
            </a:r>
            <a:r>
              <a:rPr lang="en-US" altLang="zh-CN" dirty="0"/>
              <a:t>User task</a:t>
            </a:r>
            <a:r>
              <a:rPr lang="zh-CN" altLang="en-US" dirty="0"/>
              <a:t>：完成该活动所需的具体操作步骤</a:t>
            </a:r>
          </a:p>
          <a:p>
            <a:pPr lvl="1"/>
            <a:r>
              <a:rPr lang="zh-CN" altLang="en-US" dirty="0"/>
              <a:t>功能</a:t>
            </a:r>
            <a:r>
              <a:rPr lang="en-US" altLang="zh-CN" dirty="0"/>
              <a:t>/</a:t>
            </a:r>
            <a:r>
              <a:rPr lang="zh-CN" altLang="en-US" dirty="0"/>
              <a:t>用户故事 </a:t>
            </a:r>
            <a:r>
              <a:rPr lang="en-US" altLang="zh-CN" dirty="0"/>
              <a:t>Features</a:t>
            </a:r>
            <a:r>
              <a:rPr lang="zh-CN" altLang="en-US" dirty="0"/>
              <a:t>：支撑每个任务的具体功能点，通常按优先级纵向排列（上高下低）</a:t>
            </a:r>
            <a:endParaRPr lang="en-US" altLang="zh-CN" dirty="0"/>
          </a:p>
          <a:p>
            <a:pPr lvl="1"/>
            <a:r>
              <a:rPr lang="zh-CN" altLang="en-US" dirty="0"/>
              <a:t>强烈建议指定具体的用户</a:t>
            </a:r>
            <a:r>
              <a:rPr lang="en-US" altLang="zh-CN" dirty="0"/>
              <a:t>*</a:t>
            </a:r>
            <a:endParaRPr lang="zh-CN" altLang="en-US" dirty="0"/>
          </a:p>
        </p:txBody>
      </p:sp>
      <p:sp>
        <p:nvSpPr>
          <p:cNvPr id="4" name="文本占位符 3">
            <a:extLst>
              <a:ext uri="{FF2B5EF4-FFF2-40B4-BE49-F238E27FC236}">
                <a16:creationId xmlns:a16="http://schemas.microsoft.com/office/drawing/2014/main" id="{B29CA61B-0865-0FD2-F485-3368B2050AE4}"/>
              </a:ext>
            </a:extLst>
          </p:cNvPr>
          <p:cNvSpPr>
            <a:spLocks noGrp="1"/>
          </p:cNvSpPr>
          <p:nvPr>
            <p:ph type="body" sz="quarter" idx="10"/>
          </p:nvPr>
        </p:nvSpPr>
        <p:spPr>
          <a:xfrm>
            <a:off x="7071919" y="448519"/>
            <a:ext cx="4424080" cy="338554"/>
          </a:xfrm>
        </p:spPr>
        <p:txBody>
          <a:bodyPr/>
          <a:lstStyle/>
          <a:p>
            <a:r>
              <a:rPr lang="en-US" altLang="zh-CN"/>
              <a:t>User Story Mapping/Agile</a:t>
            </a:r>
            <a:endParaRPr lang="zh-CN" altLang="en-US"/>
          </a:p>
        </p:txBody>
      </p:sp>
    </p:spTree>
    <p:extLst>
      <p:ext uri="{BB962C8B-B14F-4D97-AF65-F5344CB8AC3E}">
        <p14:creationId xmlns:p14="http://schemas.microsoft.com/office/powerpoint/2010/main" val="1239224317"/>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07D77-EC84-B34D-09B8-6E6D1B7B9780}"/>
            </a:ext>
          </a:extLst>
        </p:cNvPr>
        <p:cNvGrpSpPr/>
        <p:nvPr/>
      </p:nvGrpSpPr>
      <p:grpSpPr>
        <a:xfrm>
          <a:off x="0" y="0"/>
          <a:ext cx="0" cy="0"/>
          <a:chOff x="0" y="0"/>
          <a:chExt cx="0" cy="0"/>
        </a:xfrm>
      </p:grpSpPr>
      <p:cxnSp>
        <p:nvCxnSpPr>
          <p:cNvPr id="18" name="直接箭头连接符 17">
            <a:extLst>
              <a:ext uri="{FF2B5EF4-FFF2-40B4-BE49-F238E27FC236}">
                <a16:creationId xmlns:a16="http://schemas.microsoft.com/office/drawing/2014/main" id="{2F3D2222-4302-0D1C-808B-772E5010311D}"/>
              </a:ext>
            </a:extLst>
          </p:cNvPr>
          <p:cNvCxnSpPr>
            <a:cxnSpLocks/>
          </p:cNvCxnSpPr>
          <p:nvPr/>
        </p:nvCxnSpPr>
        <p:spPr>
          <a:xfrm>
            <a:off x="1481138" y="3166546"/>
            <a:ext cx="97536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a16="http://schemas.microsoft.com/office/drawing/2014/main" id="{7802DBB9-ABBF-FC0A-1563-B982A4E94E75}"/>
              </a:ext>
            </a:extLst>
          </p:cNvPr>
          <p:cNvSpPr/>
          <p:nvPr/>
        </p:nvSpPr>
        <p:spPr>
          <a:xfrm>
            <a:off x="2423221" y="1871808"/>
            <a:ext cx="1440000" cy="360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rgbClr val="FFFFFF"/>
                </a:solidFill>
              </a:rPr>
              <a:t>浏览商品</a:t>
            </a:r>
          </a:p>
        </p:txBody>
      </p:sp>
      <p:sp>
        <p:nvSpPr>
          <p:cNvPr id="20" name="矩形 19">
            <a:extLst>
              <a:ext uri="{FF2B5EF4-FFF2-40B4-BE49-F238E27FC236}">
                <a16:creationId xmlns:a16="http://schemas.microsoft.com/office/drawing/2014/main" id="{06EF9BF2-2C23-1823-3875-619D4AFE09DE}"/>
              </a:ext>
            </a:extLst>
          </p:cNvPr>
          <p:cNvSpPr/>
          <p:nvPr/>
        </p:nvSpPr>
        <p:spPr>
          <a:xfrm>
            <a:off x="2423221" y="2309343"/>
            <a:ext cx="1440000" cy="360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rgbClr val="FFFFFF"/>
                </a:solidFill>
              </a:rPr>
              <a:t>搜索商品</a:t>
            </a:r>
          </a:p>
        </p:txBody>
      </p:sp>
      <p:sp>
        <p:nvSpPr>
          <p:cNvPr id="21" name="矩形 20">
            <a:extLst>
              <a:ext uri="{FF2B5EF4-FFF2-40B4-BE49-F238E27FC236}">
                <a16:creationId xmlns:a16="http://schemas.microsoft.com/office/drawing/2014/main" id="{CD76FC93-F747-E1A3-36D0-192D2EAD14B0}"/>
              </a:ext>
            </a:extLst>
          </p:cNvPr>
          <p:cNvSpPr/>
          <p:nvPr/>
        </p:nvSpPr>
        <p:spPr>
          <a:xfrm>
            <a:off x="2423221" y="3255921"/>
            <a:ext cx="1440000" cy="36000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用户故事</a:t>
            </a:r>
          </a:p>
        </p:txBody>
      </p:sp>
      <p:sp>
        <p:nvSpPr>
          <p:cNvPr id="22" name="矩形 21">
            <a:extLst>
              <a:ext uri="{FF2B5EF4-FFF2-40B4-BE49-F238E27FC236}">
                <a16:creationId xmlns:a16="http://schemas.microsoft.com/office/drawing/2014/main" id="{D7D2D648-F4A0-74A1-79CB-AFBA6654FE88}"/>
              </a:ext>
            </a:extLst>
          </p:cNvPr>
          <p:cNvSpPr/>
          <p:nvPr/>
        </p:nvSpPr>
        <p:spPr>
          <a:xfrm>
            <a:off x="2423221" y="3712678"/>
            <a:ext cx="1440000" cy="36000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用户故事</a:t>
            </a:r>
          </a:p>
        </p:txBody>
      </p:sp>
      <p:sp>
        <p:nvSpPr>
          <p:cNvPr id="23" name="矩形 22">
            <a:extLst>
              <a:ext uri="{FF2B5EF4-FFF2-40B4-BE49-F238E27FC236}">
                <a16:creationId xmlns:a16="http://schemas.microsoft.com/office/drawing/2014/main" id="{3C848D48-8602-993B-7E54-A0FC40FAAAD7}"/>
              </a:ext>
            </a:extLst>
          </p:cNvPr>
          <p:cNvSpPr/>
          <p:nvPr/>
        </p:nvSpPr>
        <p:spPr>
          <a:xfrm>
            <a:off x="2423221" y="4169435"/>
            <a:ext cx="1440000" cy="36000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用户故事</a:t>
            </a:r>
          </a:p>
        </p:txBody>
      </p:sp>
      <p:sp>
        <p:nvSpPr>
          <p:cNvPr id="24" name="矩形 23">
            <a:extLst>
              <a:ext uri="{FF2B5EF4-FFF2-40B4-BE49-F238E27FC236}">
                <a16:creationId xmlns:a16="http://schemas.microsoft.com/office/drawing/2014/main" id="{240607D8-7861-E5E4-73CD-419B7C9DC726}"/>
              </a:ext>
            </a:extLst>
          </p:cNvPr>
          <p:cNvSpPr/>
          <p:nvPr/>
        </p:nvSpPr>
        <p:spPr>
          <a:xfrm>
            <a:off x="2423221" y="4626192"/>
            <a:ext cx="1440000" cy="36000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用户故事</a:t>
            </a:r>
          </a:p>
        </p:txBody>
      </p:sp>
      <p:sp>
        <p:nvSpPr>
          <p:cNvPr id="25" name="矩形 24">
            <a:extLst>
              <a:ext uri="{FF2B5EF4-FFF2-40B4-BE49-F238E27FC236}">
                <a16:creationId xmlns:a16="http://schemas.microsoft.com/office/drawing/2014/main" id="{2CA980AE-2D2C-3920-363B-837C38ABF414}"/>
              </a:ext>
            </a:extLst>
          </p:cNvPr>
          <p:cNvSpPr/>
          <p:nvPr/>
        </p:nvSpPr>
        <p:spPr>
          <a:xfrm>
            <a:off x="4566366" y="2309343"/>
            <a:ext cx="1440000" cy="360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rgbClr val="FFFFFF"/>
                </a:solidFill>
              </a:rPr>
              <a:t>选择规格数量</a:t>
            </a:r>
          </a:p>
        </p:txBody>
      </p:sp>
      <p:sp>
        <p:nvSpPr>
          <p:cNvPr id="26" name="矩形 25">
            <a:extLst>
              <a:ext uri="{FF2B5EF4-FFF2-40B4-BE49-F238E27FC236}">
                <a16:creationId xmlns:a16="http://schemas.microsoft.com/office/drawing/2014/main" id="{7B86DD8B-B343-45A8-E9C9-EEBD538F6E25}"/>
              </a:ext>
            </a:extLst>
          </p:cNvPr>
          <p:cNvSpPr/>
          <p:nvPr/>
        </p:nvSpPr>
        <p:spPr>
          <a:xfrm>
            <a:off x="4566366" y="3255921"/>
            <a:ext cx="1440000" cy="36000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用户故事</a:t>
            </a:r>
          </a:p>
        </p:txBody>
      </p:sp>
      <p:sp>
        <p:nvSpPr>
          <p:cNvPr id="27" name="矩形 26">
            <a:extLst>
              <a:ext uri="{FF2B5EF4-FFF2-40B4-BE49-F238E27FC236}">
                <a16:creationId xmlns:a16="http://schemas.microsoft.com/office/drawing/2014/main" id="{0E2C0B29-2800-35AB-552D-69A226775747}"/>
              </a:ext>
            </a:extLst>
          </p:cNvPr>
          <p:cNvSpPr/>
          <p:nvPr/>
        </p:nvSpPr>
        <p:spPr>
          <a:xfrm>
            <a:off x="4566366" y="3712678"/>
            <a:ext cx="1440000" cy="36000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用户故事</a:t>
            </a:r>
          </a:p>
        </p:txBody>
      </p:sp>
      <p:sp>
        <p:nvSpPr>
          <p:cNvPr id="30" name="矩形 29">
            <a:extLst>
              <a:ext uri="{FF2B5EF4-FFF2-40B4-BE49-F238E27FC236}">
                <a16:creationId xmlns:a16="http://schemas.microsoft.com/office/drawing/2014/main" id="{87EB58ED-2C84-C985-F464-4F257091FA18}"/>
              </a:ext>
            </a:extLst>
          </p:cNvPr>
          <p:cNvSpPr/>
          <p:nvPr/>
        </p:nvSpPr>
        <p:spPr>
          <a:xfrm>
            <a:off x="6709511" y="2277398"/>
            <a:ext cx="1440000" cy="360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rgbClr val="FFFFFF"/>
                </a:solidFill>
              </a:rPr>
              <a:t>选择配送方式</a:t>
            </a:r>
          </a:p>
        </p:txBody>
      </p:sp>
      <p:sp>
        <p:nvSpPr>
          <p:cNvPr id="31" name="矩形 30">
            <a:extLst>
              <a:ext uri="{FF2B5EF4-FFF2-40B4-BE49-F238E27FC236}">
                <a16:creationId xmlns:a16="http://schemas.microsoft.com/office/drawing/2014/main" id="{4A7F941B-3B05-A7BD-D622-DA4ECDF601FA}"/>
              </a:ext>
            </a:extLst>
          </p:cNvPr>
          <p:cNvSpPr/>
          <p:nvPr/>
        </p:nvSpPr>
        <p:spPr>
          <a:xfrm>
            <a:off x="6709511" y="3223976"/>
            <a:ext cx="1440000" cy="36000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用户故事</a:t>
            </a:r>
          </a:p>
        </p:txBody>
      </p:sp>
      <p:sp>
        <p:nvSpPr>
          <p:cNvPr id="32" name="矩形 31">
            <a:extLst>
              <a:ext uri="{FF2B5EF4-FFF2-40B4-BE49-F238E27FC236}">
                <a16:creationId xmlns:a16="http://schemas.microsoft.com/office/drawing/2014/main" id="{96D3A98D-9C21-D19B-7EBD-D963D58D335B}"/>
              </a:ext>
            </a:extLst>
          </p:cNvPr>
          <p:cNvSpPr/>
          <p:nvPr/>
        </p:nvSpPr>
        <p:spPr>
          <a:xfrm>
            <a:off x="6709511" y="3680733"/>
            <a:ext cx="1440000" cy="36000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用户故事</a:t>
            </a:r>
          </a:p>
        </p:txBody>
      </p:sp>
      <p:sp>
        <p:nvSpPr>
          <p:cNvPr id="33" name="矩形 32">
            <a:extLst>
              <a:ext uri="{FF2B5EF4-FFF2-40B4-BE49-F238E27FC236}">
                <a16:creationId xmlns:a16="http://schemas.microsoft.com/office/drawing/2014/main" id="{F0955BCE-A227-D95A-0419-4A9CC59B8D36}"/>
              </a:ext>
            </a:extLst>
          </p:cNvPr>
          <p:cNvSpPr/>
          <p:nvPr/>
        </p:nvSpPr>
        <p:spPr>
          <a:xfrm>
            <a:off x="6709511" y="4137490"/>
            <a:ext cx="1440000" cy="36000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用户故事</a:t>
            </a:r>
          </a:p>
        </p:txBody>
      </p:sp>
      <p:sp>
        <p:nvSpPr>
          <p:cNvPr id="35" name="矩形 34">
            <a:extLst>
              <a:ext uri="{FF2B5EF4-FFF2-40B4-BE49-F238E27FC236}">
                <a16:creationId xmlns:a16="http://schemas.microsoft.com/office/drawing/2014/main" id="{B1B49939-65FA-3633-1A72-D669D114F1E1}"/>
              </a:ext>
            </a:extLst>
          </p:cNvPr>
          <p:cNvSpPr/>
          <p:nvPr/>
        </p:nvSpPr>
        <p:spPr>
          <a:xfrm>
            <a:off x="8852655" y="2276073"/>
            <a:ext cx="1440000" cy="360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rgbClr val="FFFFFF"/>
                </a:solidFill>
              </a:rPr>
              <a:t>选择支付方式</a:t>
            </a:r>
          </a:p>
        </p:txBody>
      </p:sp>
      <p:sp>
        <p:nvSpPr>
          <p:cNvPr id="36" name="矩形 35">
            <a:extLst>
              <a:ext uri="{FF2B5EF4-FFF2-40B4-BE49-F238E27FC236}">
                <a16:creationId xmlns:a16="http://schemas.microsoft.com/office/drawing/2014/main" id="{00E969F1-495F-B57C-84AF-75C953A3F5E7}"/>
              </a:ext>
            </a:extLst>
          </p:cNvPr>
          <p:cNvSpPr/>
          <p:nvPr/>
        </p:nvSpPr>
        <p:spPr>
          <a:xfrm>
            <a:off x="8852655" y="3222651"/>
            <a:ext cx="1440000" cy="36000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用户故事</a:t>
            </a:r>
          </a:p>
        </p:txBody>
      </p:sp>
      <p:sp>
        <p:nvSpPr>
          <p:cNvPr id="37" name="矩形 36">
            <a:extLst>
              <a:ext uri="{FF2B5EF4-FFF2-40B4-BE49-F238E27FC236}">
                <a16:creationId xmlns:a16="http://schemas.microsoft.com/office/drawing/2014/main" id="{E7A1FF42-1847-2DCB-08B7-1AFAA0105169}"/>
              </a:ext>
            </a:extLst>
          </p:cNvPr>
          <p:cNvSpPr/>
          <p:nvPr/>
        </p:nvSpPr>
        <p:spPr>
          <a:xfrm>
            <a:off x="8852655" y="3679408"/>
            <a:ext cx="1440000" cy="36000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用户故事</a:t>
            </a:r>
          </a:p>
        </p:txBody>
      </p:sp>
      <p:sp>
        <p:nvSpPr>
          <p:cNvPr id="41" name="文本框 40">
            <a:extLst>
              <a:ext uri="{FF2B5EF4-FFF2-40B4-BE49-F238E27FC236}">
                <a16:creationId xmlns:a16="http://schemas.microsoft.com/office/drawing/2014/main" id="{995627AD-191C-41E1-237F-7D0A8F46E67D}"/>
              </a:ext>
            </a:extLst>
          </p:cNvPr>
          <p:cNvSpPr txBox="1"/>
          <p:nvPr/>
        </p:nvSpPr>
        <p:spPr>
          <a:xfrm>
            <a:off x="957264" y="1897920"/>
            <a:ext cx="1433405" cy="307777"/>
          </a:xfrm>
          <a:prstGeom prst="rect">
            <a:avLst/>
          </a:prstGeom>
          <a:noFill/>
        </p:spPr>
        <p:txBody>
          <a:bodyPr wrap="none" rtlCol="0">
            <a:spAutoFit/>
          </a:bodyPr>
          <a:lstStyle/>
          <a:p>
            <a:pPr algn="r"/>
            <a:r>
              <a:rPr lang="en-US" altLang="zh-CN" sz="1400"/>
              <a:t>User activities</a:t>
            </a:r>
            <a:endParaRPr lang="zh-CN" altLang="en-US" sz="1400"/>
          </a:p>
        </p:txBody>
      </p:sp>
      <p:sp>
        <p:nvSpPr>
          <p:cNvPr id="42" name="文本框 41">
            <a:extLst>
              <a:ext uri="{FF2B5EF4-FFF2-40B4-BE49-F238E27FC236}">
                <a16:creationId xmlns:a16="http://schemas.microsoft.com/office/drawing/2014/main" id="{36AC6C27-182E-672F-05E5-4A4BDA1F316F}"/>
              </a:ext>
            </a:extLst>
          </p:cNvPr>
          <p:cNvSpPr txBox="1"/>
          <p:nvPr/>
        </p:nvSpPr>
        <p:spPr>
          <a:xfrm>
            <a:off x="1374045" y="2335455"/>
            <a:ext cx="1016624" cy="307777"/>
          </a:xfrm>
          <a:prstGeom prst="rect">
            <a:avLst/>
          </a:prstGeom>
          <a:noFill/>
        </p:spPr>
        <p:txBody>
          <a:bodyPr wrap="none" rtlCol="0">
            <a:spAutoFit/>
          </a:bodyPr>
          <a:lstStyle/>
          <a:p>
            <a:pPr algn="r"/>
            <a:r>
              <a:rPr lang="en-US" altLang="zh-CN" sz="1400"/>
              <a:t>User task</a:t>
            </a:r>
            <a:endParaRPr lang="zh-CN" altLang="en-US" sz="1400"/>
          </a:p>
        </p:txBody>
      </p:sp>
      <p:sp>
        <p:nvSpPr>
          <p:cNvPr id="43" name="文本框 42">
            <a:extLst>
              <a:ext uri="{FF2B5EF4-FFF2-40B4-BE49-F238E27FC236}">
                <a16:creationId xmlns:a16="http://schemas.microsoft.com/office/drawing/2014/main" id="{356FA6B4-9114-8085-310F-E73485C05FEC}"/>
              </a:ext>
            </a:extLst>
          </p:cNvPr>
          <p:cNvSpPr txBox="1"/>
          <p:nvPr/>
        </p:nvSpPr>
        <p:spPr>
          <a:xfrm>
            <a:off x="1415722" y="3282033"/>
            <a:ext cx="974947" cy="307777"/>
          </a:xfrm>
          <a:prstGeom prst="rect">
            <a:avLst/>
          </a:prstGeom>
          <a:noFill/>
        </p:spPr>
        <p:txBody>
          <a:bodyPr wrap="none" rtlCol="0">
            <a:spAutoFit/>
          </a:bodyPr>
          <a:lstStyle/>
          <a:p>
            <a:pPr algn="r"/>
            <a:r>
              <a:rPr lang="en-US" altLang="zh-CN" sz="1400"/>
              <a:t>Features</a:t>
            </a:r>
            <a:endParaRPr lang="zh-CN" altLang="en-US" sz="1400"/>
          </a:p>
        </p:txBody>
      </p:sp>
      <p:sp>
        <p:nvSpPr>
          <p:cNvPr id="44" name="矩形 43">
            <a:extLst>
              <a:ext uri="{FF2B5EF4-FFF2-40B4-BE49-F238E27FC236}">
                <a16:creationId xmlns:a16="http://schemas.microsoft.com/office/drawing/2014/main" id="{FA187873-75E4-24A2-09C4-E7AC2B7A23B3}"/>
              </a:ext>
            </a:extLst>
          </p:cNvPr>
          <p:cNvSpPr/>
          <p:nvPr/>
        </p:nvSpPr>
        <p:spPr>
          <a:xfrm>
            <a:off x="6709511" y="1871808"/>
            <a:ext cx="1440000" cy="360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rgbClr val="FFFFFF"/>
                </a:solidFill>
              </a:rPr>
              <a:t>提交订单</a:t>
            </a:r>
          </a:p>
        </p:txBody>
      </p:sp>
      <p:sp>
        <p:nvSpPr>
          <p:cNvPr id="3" name="矩形 2">
            <a:extLst>
              <a:ext uri="{FF2B5EF4-FFF2-40B4-BE49-F238E27FC236}">
                <a16:creationId xmlns:a16="http://schemas.microsoft.com/office/drawing/2014/main" id="{64F674B2-1B4F-58A9-2AC7-914A82249472}"/>
              </a:ext>
            </a:extLst>
          </p:cNvPr>
          <p:cNvSpPr/>
          <p:nvPr/>
        </p:nvSpPr>
        <p:spPr>
          <a:xfrm>
            <a:off x="4566366" y="1871808"/>
            <a:ext cx="1440000" cy="360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rgbClr val="FFFFFF"/>
                </a:solidFill>
              </a:rPr>
              <a:t>加入购物车</a:t>
            </a:r>
          </a:p>
        </p:txBody>
      </p:sp>
      <p:sp>
        <p:nvSpPr>
          <p:cNvPr id="5" name="矩形 4">
            <a:extLst>
              <a:ext uri="{FF2B5EF4-FFF2-40B4-BE49-F238E27FC236}">
                <a16:creationId xmlns:a16="http://schemas.microsoft.com/office/drawing/2014/main" id="{D636B4BC-C652-FF1B-0A6C-D8A5D2C2AD22}"/>
              </a:ext>
            </a:extLst>
          </p:cNvPr>
          <p:cNvSpPr/>
          <p:nvPr/>
        </p:nvSpPr>
        <p:spPr>
          <a:xfrm>
            <a:off x="8852655" y="1871808"/>
            <a:ext cx="1440000" cy="360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rgbClr val="FFFFFF"/>
                </a:solidFill>
              </a:rPr>
              <a:t>支付确认</a:t>
            </a:r>
          </a:p>
        </p:txBody>
      </p:sp>
      <p:sp>
        <p:nvSpPr>
          <p:cNvPr id="6" name="矩形 5">
            <a:extLst>
              <a:ext uri="{FF2B5EF4-FFF2-40B4-BE49-F238E27FC236}">
                <a16:creationId xmlns:a16="http://schemas.microsoft.com/office/drawing/2014/main" id="{F8E386CA-8F68-B68C-AC01-EF2BE8940A36}"/>
              </a:ext>
            </a:extLst>
          </p:cNvPr>
          <p:cNvSpPr/>
          <p:nvPr/>
        </p:nvSpPr>
        <p:spPr>
          <a:xfrm>
            <a:off x="2423221" y="2717171"/>
            <a:ext cx="1440000" cy="360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rgbClr val="FFFFFF"/>
                </a:solidFill>
              </a:rPr>
              <a:t>查看商品详情</a:t>
            </a:r>
          </a:p>
        </p:txBody>
      </p:sp>
      <p:sp>
        <p:nvSpPr>
          <p:cNvPr id="8" name="矩形 7">
            <a:extLst>
              <a:ext uri="{FF2B5EF4-FFF2-40B4-BE49-F238E27FC236}">
                <a16:creationId xmlns:a16="http://schemas.microsoft.com/office/drawing/2014/main" id="{8C4CCF3C-D306-4B49-F100-B5D7B39F86AA}"/>
              </a:ext>
            </a:extLst>
          </p:cNvPr>
          <p:cNvSpPr/>
          <p:nvPr/>
        </p:nvSpPr>
        <p:spPr>
          <a:xfrm>
            <a:off x="4566366" y="2717171"/>
            <a:ext cx="1440000" cy="360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rgbClr val="FFFFFF"/>
                </a:solidFill>
              </a:rPr>
              <a:t>添加到购物车</a:t>
            </a:r>
          </a:p>
        </p:txBody>
      </p:sp>
      <p:sp>
        <p:nvSpPr>
          <p:cNvPr id="9" name="矩形 8">
            <a:extLst>
              <a:ext uri="{FF2B5EF4-FFF2-40B4-BE49-F238E27FC236}">
                <a16:creationId xmlns:a16="http://schemas.microsoft.com/office/drawing/2014/main" id="{C6A1D9D5-A494-F4CE-A094-DF8448ADE2D8}"/>
              </a:ext>
            </a:extLst>
          </p:cNvPr>
          <p:cNvSpPr/>
          <p:nvPr/>
        </p:nvSpPr>
        <p:spPr>
          <a:xfrm>
            <a:off x="6709511" y="2685226"/>
            <a:ext cx="1440000" cy="360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rgbClr val="FFFFFF"/>
                </a:solidFill>
              </a:rPr>
              <a:t>选择收货地址</a:t>
            </a:r>
          </a:p>
        </p:txBody>
      </p:sp>
      <p:sp>
        <p:nvSpPr>
          <p:cNvPr id="10" name="矩形 9">
            <a:extLst>
              <a:ext uri="{FF2B5EF4-FFF2-40B4-BE49-F238E27FC236}">
                <a16:creationId xmlns:a16="http://schemas.microsoft.com/office/drawing/2014/main" id="{87C0BFE5-4CCA-BA66-FFCB-226A00970F80}"/>
              </a:ext>
            </a:extLst>
          </p:cNvPr>
          <p:cNvSpPr/>
          <p:nvPr/>
        </p:nvSpPr>
        <p:spPr>
          <a:xfrm>
            <a:off x="8852655" y="2683901"/>
            <a:ext cx="1440000" cy="360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rgbClr val="FFFFFF"/>
                </a:solidFill>
              </a:rPr>
              <a:t>确认订单信息</a:t>
            </a:r>
          </a:p>
        </p:txBody>
      </p:sp>
    </p:spTree>
    <p:extLst>
      <p:ext uri="{BB962C8B-B14F-4D97-AF65-F5344CB8AC3E}">
        <p14:creationId xmlns:p14="http://schemas.microsoft.com/office/powerpoint/2010/main" val="1134852056"/>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a:extLst>
              <a:ext uri="{FF2B5EF4-FFF2-40B4-BE49-F238E27FC236}">
                <a16:creationId xmlns:a16="http://schemas.microsoft.com/office/drawing/2014/main" id="{290091BA-2099-0BDA-B417-98F6F5043762}"/>
              </a:ext>
            </a:extLst>
          </p:cNvPr>
          <p:cNvPicPr>
            <a:picLocks noChangeAspect="1"/>
          </p:cNvPicPr>
          <p:nvPr/>
        </p:nvPicPr>
        <p:blipFill>
          <a:blip r:embed="rId3"/>
          <a:stretch>
            <a:fillRect/>
          </a:stretch>
        </p:blipFill>
        <p:spPr>
          <a:xfrm>
            <a:off x="1752600" y="538162"/>
            <a:ext cx="8686800" cy="5781675"/>
          </a:xfrm>
          <a:prstGeom prst="rect">
            <a:avLst/>
          </a:prstGeom>
        </p:spPr>
      </p:pic>
    </p:spTree>
    <p:extLst>
      <p:ext uri="{BB962C8B-B14F-4D97-AF65-F5344CB8AC3E}">
        <p14:creationId xmlns:p14="http://schemas.microsoft.com/office/powerpoint/2010/main" val="162114366"/>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9F9D1-E209-65CE-BCE8-5AE18779A33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29E5172-CA9F-061D-F63B-5A4C67FDC69D}"/>
              </a:ext>
            </a:extLst>
          </p:cNvPr>
          <p:cNvSpPr>
            <a:spLocks noGrp="1"/>
          </p:cNvSpPr>
          <p:nvPr>
            <p:ph type="title"/>
          </p:nvPr>
        </p:nvSpPr>
        <p:spPr>
          <a:xfrm>
            <a:off x="792000" y="360000"/>
            <a:ext cx="6375921" cy="429413"/>
          </a:xfrm>
        </p:spPr>
        <p:txBody>
          <a:bodyPr/>
          <a:lstStyle/>
          <a:p>
            <a:r>
              <a:rPr lang="en-US" altLang="zh-CN"/>
              <a:t>3.5 INVEST </a:t>
            </a:r>
            <a:r>
              <a:rPr lang="zh-CN" altLang="en-US"/>
              <a:t>原则</a:t>
            </a:r>
          </a:p>
        </p:txBody>
      </p:sp>
      <p:sp>
        <p:nvSpPr>
          <p:cNvPr id="7" name="内容占位符 6">
            <a:extLst>
              <a:ext uri="{FF2B5EF4-FFF2-40B4-BE49-F238E27FC236}">
                <a16:creationId xmlns:a16="http://schemas.microsoft.com/office/drawing/2014/main" id="{723A14AB-6338-158C-9C19-9FC7BE1B40F7}"/>
              </a:ext>
            </a:extLst>
          </p:cNvPr>
          <p:cNvSpPr>
            <a:spLocks noGrp="1"/>
          </p:cNvSpPr>
          <p:nvPr>
            <p:ph idx="1"/>
          </p:nvPr>
        </p:nvSpPr>
        <p:spPr>
          <a:xfrm>
            <a:off x="696000" y="864000"/>
            <a:ext cx="10800000" cy="5400000"/>
          </a:xfrm>
        </p:spPr>
        <p:txBody>
          <a:bodyPr/>
          <a:lstStyle/>
          <a:p>
            <a:r>
              <a:rPr lang="zh-CN" altLang="en-US" dirty="0"/>
              <a:t>由 </a:t>
            </a:r>
            <a:r>
              <a:rPr lang="zh-CN" altLang="en-US" dirty="0">
                <a:hlinkClick r:id="rId3"/>
              </a:rPr>
              <a:t>比尔</a:t>
            </a:r>
            <a:r>
              <a:rPr lang="en-US" altLang="zh-CN" dirty="0">
                <a:hlinkClick r:id="rId3"/>
              </a:rPr>
              <a:t>·</a:t>
            </a:r>
            <a:r>
              <a:rPr lang="zh-CN" altLang="en-US" dirty="0">
                <a:hlinkClick r:id="rId3"/>
              </a:rPr>
              <a:t>韦克 </a:t>
            </a:r>
            <a:r>
              <a:rPr lang="en-US" altLang="zh-CN" dirty="0">
                <a:hlinkClick r:id="rId3"/>
              </a:rPr>
              <a:t>Bill Wake</a:t>
            </a:r>
            <a:r>
              <a:rPr lang="en-US" altLang="zh-CN" dirty="0"/>
              <a:t> 2003 </a:t>
            </a:r>
            <a:r>
              <a:rPr lang="zh-CN" altLang="en-US" dirty="0"/>
              <a:t>年提出 </a:t>
            </a:r>
            <a:endParaRPr lang="en-US" altLang="zh-CN" dirty="0"/>
          </a:p>
          <a:p>
            <a:r>
              <a:rPr lang="zh-CN" altLang="en-US" dirty="0"/>
              <a:t>是敏捷软件开发领域的先驱，极限编程 </a:t>
            </a:r>
            <a:r>
              <a:rPr lang="en-US" altLang="zh-CN" dirty="0"/>
              <a:t>XP </a:t>
            </a:r>
            <a:r>
              <a:rPr lang="zh-CN" altLang="en-US" dirty="0"/>
              <a:t>的倡导者之一</a:t>
            </a:r>
            <a:endParaRPr lang="en-US" altLang="zh-CN" dirty="0"/>
          </a:p>
          <a:p>
            <a:r>
              <a:rPr lang="zh-CN" altLang="en-US" dirty="0"/>
              <a:t>用于评估和撰写高质量“用户故事 </a:t>
            </a:r>
            <a:r>
              <a:rPr lang="en-US" altLang="zh-CN" dirty="0"/>
              <a:t>User Story</a:t>
            </a:r>
            <a:r>
              <a:rPr lang="zh-CN" altLang="en-US" dirty="0"/>
              <a:t> 的黄金标准</a:t>
            </a:r>
            <a:endParaRPr lang="en-US" altLang="zh-CN" dirty="0"/>
          </a:p>
        </p:txBody>
      </p:sp>
      <p:sp>
        <p:nvSpPr>
          <p:cNvPr id="4" name="文本占位符 3">
            <a:extLst>
              <a:ext uri="{FF2B5EF4-FFF2-40B4-BE49-F238E27FC236}">
                <a16:creationId xmlns:a16="http://schemas.microsoft.com/office/drawing/2014/main" id="{42CC86EF-FFBC-632E-740F-7CAC1FE6B64D}"/>
              </a:ext>
            </a:extLst>
          </p:cNvPr>
          <p:cNvSpPr>
            <a:spLocks noGrp="1"/>
          </p:cNvSpPr>
          <p:nvPr>
            <p:ph type="body" sz="quarter" idx="10"/>
          </p:nvPr>
        </p:nvSpPr>
        <p:spPr>
          <a:xfrm>
            <a:off x="7071919" y="448519"/>
            <a:ext cx="4424080" cy="338554"/>
          </a:xfrm>
        </p:spPr>
        <p:txBody>
          <a:bodyPr/>
          <a:lstStyle/>
          <a:p>
            <a:r>
              <a:rPr lang="en-US" altLang="zh-CN"/>
              <a:t>INVEST/Agile</a:t>
            </a:r>
            <a:endParaRPr lang="zh-CN" altLang="en-US"/>
          </a:p>
        </p:txBody>
      </p:sp>
      <p:graphicFrame>
        <p:nvGraphicFramePr>
          <p:cNvPr id="17" name="表格 16">
            <a:extLst>
              <a:ext uri="{FF2B5EF4-FFF2-40B4-BE49-F238E27FC236}">
                <a16:creationId xmlns:a16="http://schemas.microsoft.com/office/drawing/2014/main" id="{0485B869-8F00-A529-B3AE-8DA1DF7605C5}"/>
              </a:ext>
            </a:extLst>
          </p:cNvPr>
          <p:cNvGraphicFramePr>
            <a:graphicFrameLocks noGrp="1"/>
          </p:cNvGraphicFramePr>
          <p:nvPr>
            <p:extLst>
              <p:ext uri="{D42A27DB-BD31-4B8C-83A1-F6EECF244321}">
                <p14:modId xmlns:p14="http://schemas.microsoft.com/office/powerpoint/2010/main" val="2390807743"/>
              </p:ext>
            </p:extLst>
          </p:nvPr>
        </p:nvGraphicFramePr>
        <p:xfrm>
          <a:off x="0" y="2538000"/>
          <a:ext cx="12192000" cy="36000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912543427"/>
                    </a:ext>
                  </a:extLst>
                </a:gridCol>
                <a:gridCol w="2032000">
                  <a:extLst>
                    <a:ext uri="{9D8B030D-6E8A-4147-A177-3AD203B41FA5}">
                      <a16:colId xmlns:a16="http://schemas.microsoft.com/office/drawing/2014/main" val="3686085174"/>
                    </a:ext>
                  </a:extLst>
                </a:gridCol>
                <a:gridCol w="2032000">
                  <a:extLst>
                    <a:ext uri="{9D8B030D-6E8A-4147-A177-3AD203B41FA5}">
                      <a16:colId xmlns:a16="http://schemas.microsoft.com/office/drawing/2014/main" val="2732517800"/>
                    </a:ext>
                  </a:extLst>
                </a:gridCol>
                <a:gridCol w="2032000">
                  <a:extLst>
                    <a:ext uri="{9D8B030D-6E8A-4147-A177-3AD203B41FA5}">
                      <a16:colId xmlns:a16="http://schemas.microsoft.com/office/drawing/2014/main" val="3076511177"/>
                    </a:ext>
                  </a:extLst>
                </a:gridCol>
                <a:gridCol w="2032000">
                  <a:extLst>
                    <a:ext uri="{9D8B030D-6E8A-4147-A177-3AD203B41FA5}">
                      <a16:colId xmlns:a16="http://schemas.microsoft.com/office/drawing/2014/main" val="1296903940"/>
                    </a:ext>
                  </a:extLst>
                </a:gridCol>
                <a:gridCol w="2032000">
                  <a:extLst>
                    <a:ext uri="{9D8B030D-6E8A-4147-A177-3AD203B41FA5}">
                      <a16:colId xmlns:a16="http://schemas.microsoft.com/office/drawing/2014/main" val="20101341"/>
                    </a:ext>
                  </a:extLst>
                </a:gridCol>
              </a:tblGrid>
              <a:tr h="720000">
                <a:tc>
                  <a:txBody>
                    <a:bodyPr/>
                    <a:lstStyle/>
                    <a:p>
                      <a:pPr algn="ctr"/>
                      <a:r>
                        <a:rPr lang="en-US" altLang="zh-CN" sz="3200" b="0">
                          <a:solidFill>
                            <a:schemeClr val="bg1"/>
                          </a:solidFill>
                        </a:rPr>
                        <a:t>I</a:t>
                      </a:r>
                      <a:endParaRPr lang="zh-CN" altLang="en-US" sz="3200" b="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05F73"/>
                    </a:solidFill>
                  </a:tcPr>
                </a:tc>
                <a:tc>
                  <a:txBody>
                    <a:bodyPr/>
                    <a:lstStyle/>
                    <a:p>
                      <a:pPr algn="ctr"/>
                      <a:r>
                        <a:rPr lang="en-US" altLang="zh-CN" sz="3200" b="0">
                          <a:solidFill>
                            <a:schemeClr val="bg1"/>
                          </a:solidFill>
                        </a:rPr>
                        <a:t>N</a:t>
                      </a:r>
                      <a:endParaRPr lang="zh-CN" altLang="en-US" sz="3200" b="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886E"/>
                    </a:solidFill>
                  </a:tcPr>
                </a:tc>
                <a:tc>
                  <a:txBody>
                    <a:bodyPr/>
                    <a:lstStyle/>
                    <a:p>
                      <a:pPr algn="ctr"/>
                      <a:r>
                        <a:rPr lang="en-US" altLang="zh-CN" sz="3200" b="0">
                          <a:solidFill>
                            <a:schemeClr val="bg1"/>
                          </a:solidFill>
                        </a:rPr>
                        <a:t>V</a:t>
                      </a:r>
                      <a:endParaRPr lang="zh-CN" altLang="en-US" sz="3200" b="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6BA4F"/>
                    </a:solidFill>
                  </a:tcPr>
                </a:tc>
                <a:tc>
                  <a:txBody>
                    <a:bodyPr/>
                    <a:lstStyle/>
                    <a:p>
                      <a:pPr algn="ctr"/>
                      <a:r>
                        <a:rPr lang="en-US" altLang="zh-CN" sz="3200" b="0">
                          <a:solidFill>
                            <a:schemeClr val="bg1"/>
                          </a:solidFill>
                        </a:rPr>
                        <a:t>E</a:t>
                      </a:r>
                      <a:endParaRPr lang="zh-CN" altLang="en-US" sz="3200" b="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6CCA94"/>
                    </a:solidFill>
                  </a:tcPr>
                </a:tc>
                <a:tc>
                  <a:txBody>
                    <a:bodyPr/>
                    <a:lstStyle/>
                    <a:p>
                      <a:pPr algn="ctr"/>
                      <a:r>
                        <a:rPr lang="en-US" altLang="zh-CN" sz="3200" b="0">
                          <a:solidFill>
                            <a:schemeClr val="bg1"/>
                          </a:solidFill>
                        </a:rPr>
                        <a:t>S</a:t>
                      </a:r>
                      <a:endParaRPr lang="zh-CN" altLang="en-US" sz="3200" b="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6DB6E6"/>
                    </a:solidFill>
                  </a:tcPr>
                </a:tc>
                <a:tc>
                  <a:txBody>
                    <a:bodyPr/>
                    <a:lstStyle/>
                    <a:p>
                      <a:pPr algn="ctr"/>
                      <a:r>
                        <a:rPr lang="en-US" altLang="zh-CN" sz="3200" b="0">
                          <a:solidFill>
                            <a:schemeClr val="bg1"/>
                          </a:solidFill>
                        </a:rPr>
                        <a:t>T</a:t>
                      </a:r>
                      <a:endParaRPr lang="zh-CN" altLang="en-US" sz="3200" b="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6D96E8"/>
                    </a:solidFill>
                  </a:tcPr>
                </a:tc>
                <a:extLst>
                  <a:ext uri="{0D108BD9-81ED-4DB2-BD59-A6C34878D82A}">
                    <a16:rowId xmlns:a16="http://schemas.microsoft.com/office/drawing/2014/main" val="1790104904"/>
                  </a:ext>
                </a:extLst>
              </a:tr>
              <a:tr h="2880000">
                <a:tc>
                  <a:txBody>
                    <a:bodyPr/>
                    <a:lstStyle/>
                    <a:p>
                      <a:pPr algn="l"/>
                      <a:r>
                        <a:rPr lang="en-US" altLang="zh-CN" sz="1800" b="0" dirty="0">
                          <a:solidFill>
                            <a:schemeClr val="tx1"/>
                          </a:solidFill>
                        </a:rPr>
                        <a:t>Independent</a:t>
                      </a:r>
                    </a:p>
                    <a:p>
                      <a:pPr algn="l"/>
                      <a:r>
                        <a:rPr lang="zh-CN" altLang="en-US" sz="1600" b="0" dirty="0">
                          <a:solidFill>
                            <a:schemeClr val="tx1"/>
                          </a:solidFill>
                        </a:rPr>
                        <a:t>独立的</a:t>
                      </a:r>
                      <a:endParaRPr lang="en-US" altLang="zh-CN" sz="1600" b="0" dirty="0">
                        <a:solidFill>
                          <a:schemeClr val="tx1"/>
                        </a:solidFill>
                      </a:endParaRPr>
                    </a:p>
                    <a:p>
                      <a:pPr algn="l"/>
                      <a:endParaRPr lang="en-US" altLang="zh-CN" sz="1600" b="0" dirty="0">
                        <a:solidFill>
                          <a:schemeClr val="tx1"/>
                        </a:solidFill>
                      </a:endParaRPr>
                    </a:p>
                    <a:p>
                      <a:pPr algn="l"/>
                      <a:r>
                        <a:rPr lang="zh-CN" altLang="en-US" sz="1600" b="0" dirty="0">
                          <a:solidFill>
                            <a:schemeClr val="tx1"/>
                          </a:solidFill>
                        </a:rPr>
                        <a:t>不依赖其他故事以便随时安排实施</a:t>
                      </a:r>
                    </a:p>
                  </a:txBody>
                  <a:tcPr marL="180000" marR="180000"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E05F7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altLang="zh-CN" sz="1800" b="0" dirty="0">
                          <a:solidFill>
                            <a:schemeClr val="tx1"/>
                          </a:solidFill>
                        </a:rPr>
                        <a:t>Negotiable</a:t>
                      </a:r>
                    </a:p>
                    <a:p>
                      <a:pPr algn="l"/>
                      <a:r>
                        <a:rPr lang="zh-CN" altLang="en-US" sz="1600" b="0" dirty="0">
                          <a:solidFill>
                            <a:schemeClr val="tx1"/>
                          </a:solidFill>
                        </a:rPr>
                        <a:t>可协商的</a:t>
                      </a:r>
                      <a:endParaRPr lang="en-US" altLang="zh-CN" sz="1600" b="0" dirty="0">
                        <a:solidFill>
                          <a:schemeClr val="tx1"/>
                        </a:solidFill>
                      </a:endParaRPr>
                    </a:p>
                    <a:p>
                      <a:pPr algn="l"/>
                      <a:endParaRPr lang="en-US" altLang="zh-CN" sz="1600" b="0" dirty="0">
                        <a:solidFill>
                          <a:schemeClr val="tx1"/>
                        </a:solidFill>
                      </a:endParaRPr>
                    </a:p>
                    <a:p>
                      <a:pPr algn="l"/>
                      <a:r>
                        <a:rPr lang="zh-CN" altLang="en-US" sz="1600" b="0" dirty="0">
                          <a:solidFill>
                            <a:schemeClr val="tx1"/>
                          </a:solidFill>
                        </a:rPr>
                        <a:t>捕捉用户需求核心而非详尽合同条款</a:t>
                      </a:r>
                    </a:p>
                  </a:txBody>
                  <a:tcPr marL="180000" marR="180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E7886E"/>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0" dirty="0">
                          <a:solidFill>
                            <a:schemeClr val="tx1"/>
                          </a:solidFill>
                        </a:rPr>
                        <a:t>Valuable</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b="0" dirty="0">
                          <a:solidFill>
                            <a:schemeClr val="tx1"/>
                          </a:solidFill>
                        </a:rPr>
                        <a:t>有价值的</a:t>
                      </a:r>
                      <a:endParaRPr lang="en-US" altLang="zh-CN" sz="1600" b="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600" b="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b="0" dirty="0">
                          <a:solidFill>
                            <a:schemeClr val="tx1"/>
                          </a:solidFill>
                        </a:rPr>
                        <a:t>终极目标为用户提供价值</a:t>
                      </a:r>
                    </a:p>
                  </a:txBody>
                  <a:tcPr marL="180000" marR="180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F6BA4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0" dirty="0">
                          <a:solidFill>
                            <a:schemeClr val="tx1"/>
                          </a:solidFill>
                        </a:rPr>
                        <a:t>Estimable</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b="0" dirty="0">
                          <a:solidFill>
                            <a:schemeClr val="tx1"/>
                          </a:solidFill>
                        </a:rPr>
                        <a:t>可估算的</a:t>
                      </a:r>
                      <a:endParaRPr lang="en-US" altLang="zh-CN" sz="1600" b="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600" b="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b="0" dirty="0">
                          <a:solidFill>
                            <a:schemeClr val="tx1"/>
                          </a:solidFill>
                        </a:rPr>
                        <a:t>足够清晰以便能够估算工作量、排序</a:t>
                      </a:r>
                    </a:p>
                  </a:txBody>
                  <a:tcPr marL="180000" marR="180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6CCA9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0" dirty="0">
                          <a:solidFill>
                            <a:schemeClr val="tx1"/>
                          </a:solidFill>
                        </a:rPr>
                        <a:t>Small</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b="0" dirty="0">
                          <a:solidFill>
                            <a:schemeClr val="tx1"/>
                          </a:solidFill>
                        </a:rPr>
                        <a:t>小的</a:t>
                      </a:r>
                      <a:endParaRPr lang="en-US" altLang="zh-CN" sz="1600" b="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600" b="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b="0" dirty="0">
                          <a:solidFill>
                            <a:schemeClr val="tx1"/>
                          </a:solidFill>
                        </a:rPr>
                        <a:t>小到能在一个迭代内完成</a:t>
                      </a:r>
                    </a:p>
                  </a:txBody>
                  <a:tcPr marL="180000" marR="180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6DB6E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0" dirty="0">
                          <a:solidFill>
                            <a:schemeClr val="tx1"/>
                          </a:solidFill>
                        </a:rPr>
                        <a:t>Testable</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b="0" dirty="0">
                          <a:solidFill>
                            <a:schemeClr val="tx1"/>
                          </a:solidFill>
                        </a:rPr>
                        <a:t>可测试的</a:t>
                      </a:r>
                      <a:endParaRPr lang="en-US" altLang="zh-CN" sz="1600" b="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600" b="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b="0" dirty="0">
                          <a:solidFill>
                            <a:schemeClr val="tx1"/>
                          </a:solidFill>
                        </a:rPr>
                        <a:t>可测试且应尽早制定测试方案</a:t>
                      </a:r>
                    </a:p>
                  </a:txBody>
                  <a:tcPr marL="180000" marR="18000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6D96E8"/>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15347024"/>
                  </a:ext>
                </a:extLst>
              </a:tr>
            </a:tbl>
          </a:graphicData>
        </a:graphic>
      </p:graphicFrame>
    </p:spTree>
    <p:extLst>
      <p:ext uri="{BB962C8B-B14F-4D97-AF65-F5344CB8AC3E}">
        <p14:creationId xmlns:p14="http://schemas.microsoft.com/office/powerpoint/2010/main" val="3502904618"/>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11FD0-4C03-BF1F-9A20-F1E030AB56E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C24DCB9-424F-EC6B-DAB4-F333109FDA4F}"/>
              </a:ext>
            </a:extLst>
          </p:cNvPr>
          <p:cNvSpPr>
            <a:spLocks noGrp="1"/>
          </p:cNvSpPr>
          <p:nvPr>
            <p:ph type="title"/>
          </p:nvPr>
        </p:nvSpPr>
        <p:spPr>
          <a:xfrm>
            <a:off x="792000" y="360000"/>
            <a:ext cx="6375921" cy="429413"/>
          </a:xfrm>
        </p:spPr>
        <p:txBody>
          <a:bodyPr/>
          <a:lstStyle/>
          <a:p>
            <a:r>
              <a:rPr lang="en-US" altLang="zh-CN"/>
              <a:t>3.6 </a:t>
            </a:r>
            <a:r>
              <a:rPr lang="zh-CN" altLang="en-US"/>
              <a:t>行为驱动开发 </a:t>
            </a:r>
          </a:p>
        </p:txBody>
      </p:sp>
      <p:sp>
        <p:nvSpPr>
          <p:cNvPr id="7" name="内容占位符 6">
            <a:extLst>
              <a:ext uri="{FF2B5EF4-FFF2-40B4-BE49-F238E27FC236}">
                <a16:creationId xmlns:a16="http://schemas.microsoft.com/office/drawing/2014/main" id="{33E4CEF8-054F-6569-9292-1259952EA01C}"/>
              </a:ext>
            </a:extLst>
          </p:cNvPr>
          <p:cNvSpPr>
            <a:spLocks noGrp="1"/>
          </p:cNvSpPr>
          <p:nvPr>
            <p:ph idx="1"/>
          </p:nvPr>
        </p:nvSpPr>
        <p:spPr>
          <a:xfrm>
            <a:off x="696000" y="864000"/>
            <a:ext cx="10800000" cy="5400000"/>
          </a:xfrm>
        </p:spPr>
        <p:txBody>
          <a:bodyPr/>
          <a:lstStyle/>
          <a:p>
            <a:r>
              <a:rPr lang="zh-CN" altLang="en-US" dirty="0"/>
              <a:t>行为驱动开发 </a:t>
            </a:r>
            <a:r>
              <a:rPr lang="en-US" altLang="zh-CN" dirty="0"/>
              <a:t>BDD</a:t>
            </a:r>
            <a:r>
              <a:rPr lang="zh-CN" altLang="en-US" dirty="0"/>
              <a:t>，</a:t>
            </a:r>
            <a:r>
              <a:rPr lang="en-US" altLang="zh-CN" dirty="0">
                <a:hlinkClick r:id="rId3"/>
              </a:rPr>
              <a:t>Behavior-Driven Development</a:t>
            </a:r>
            <a:endParaRPr lang="en-US" altLang="zh-CN" dirty="0"/>
          </a:p>
          <a:p>
            <a:r>
              <a:rPr lang="zh-CN" altLang="en-US" dirty="0"/>
              <a:t>一个非常重要的实践方法论</a:t>
            </a:r>
            <a:endParaRPr lang="en-US" altLang="zh-CN" dirty="0"/>
          </a:p>
          <a:p>
            <a:r>
              <a:rPr lang="zh-CN" altLang="en-US" dirty="0"/>
              <a:t>起源于测试驱动开发 </a:t>
            </a:r>
            <a:r>
              <a:rPr lang="en-US" altLang="zh-CN" dirty="0"/>
              <a:t>TDD</a:t>
            </a:r>
            <a:r>
              <a:rPr lang="zh-CN" altLang="en-US" dirty="0"/>
              <a:t>，</a:t>
            </a:r>
            <a:r>
              <a:rPr lang="en-US" altLang="zh-CN" dirty="0"/>
              <a:t>Test-Driven Development</a:t>
            </a:r>
          </a:p>
          <a:p>
            <a:r>
              <a:rPr lang="zh-CN" altLang="en-US" dirty="0"/>
              <a:t>以用户行为</a:t>
            </a:r>
            <a:r>
              <a:rPr lang="en-US" altLang="zh-CN" dirty="0"/>
              <a:t>/</a:t>
            </a:r>
            <a:r>
              <a:rPr lang="zh-CN" altLang="en-US" dirty="0"/>
              <a:t>业务期望为中心的软件设计、开发和测试协作方法</a:t>
            </a:r>
            <a:endParaRPr lang="en-US" altLang="zh-CN" dirty="0"/>
          </a:p>
          <a:p>
            <a:r>
              <a:rPr lang="zh-CN" altLang="en-US" dirty="0"/>
              <a:t>不应该只关心代码怎么写，而应该先明确系统应该怎么表现</a:t>
            </a:r>
            <a:r>
              <a:rPr lang="en-US" altLang="zh-CN" dirty="0"/>
              <a:t>/</a:t>
            </a:r>
            <a:r>
              <a:rPr lang="zh-CN" altLang="en-US" dirty="0"/>
              <a:t>行为 </a:t>
            </a:r>
            <a:r>
              <a:rPr lang="en-US" altLang="zh-CN" dirty="0"/>
              <a:t>behave</a:t>
            </a:r>
          </a:p>
          <a:p>
            <a:pPr lvl="1"/>
            <a:r>
              <a:rPr lang="zh-CN" altLang="en-US" dirty="0"/>
              <a:t>强调开发人员、测试人员和利益相关者之间的协作，以确保开发的软件满足预期的行为或功能</a:t>
            </a:r>
          </a:p>
        </p:txBody>
      </p:sp>
      <p:sp>
        <p:nvSpPr>
          <p:cNvPr id="4" name="文本占位符 3">
            <a:extLst>
              <a:ext uri="{FF2B5EF4-FFF2-40B4-BE49-F238E27FC236}">
                <a16:creationId xmlns:a16="http://schemas.microsoft.com/office/drawing/2014/main" id="{80BEF432-754E-612D-15C5-A955EF37781D}"/>
              </a:ext>
            </a:extLst>
          </p:cNvPr>
          <p:cNvSpPr>
            <a:spLocks noGrp="1"/>
          </p:cNvSpPr>
          <p:nvPr>
            <p:ph type="body" sz="quarter" idx="10"/>
          </p:nvPr>
        </p:nvSpPr>
        <p:spPr>
          <a:xfrm>
            <a:off x="7071919" y="448519"/>
            <a:ext cx="4424080" cy="338554"/>
          </a:xfrm>
        </p:spPr>
        <p:txBody>
          <a:bodyPr/>
          <a:lstStyle/>
          <a:p>
            <a:r>
              <a:rPr lang="en-US" altLang="zh-CN"/>
              <a:t>BDD/Agile</a:t>
            </a:r>
            <a:endParaRPr lang="zh-CN" altLang="en-US"/>
          </a:p>
        </p:txBody>
      </p:sp>
      <p:graphicFrame>
        <p:nvGraphicFramePr>
          <p:cNvPr id="8" name="表格 7">
            <a:extLst>
              <a:ext uri="{FF2B5EF4-FFF2-40B4-BE49-F238E27FC236}">
                <a16:creationId xmlns:a16="http://schemas.microsoft.com/office/drawing/2014/main" id="{C9DC126D-6428-DAC7-8093-5C541F032B4B}"/>
              </a:ext>
            </a:extLst>
          </p:cNvPr>
          <p:cNvGraphicFramePr>
            <a:graphicFrameLocks noGrp="1"/>
          </p:cNvGraphicFramePr>
          <p:nvPr>
            <p:extLst>
              <p:ext uri="{D42A27DB-BD31-4B8C-83A1-F6EECF244321}">
                <p14:modId xmlns:p14="http://schemas.microsoft.com/office/powerpoint/2010/main" val="411507156"/>
              </p:ext>
            </p:extLst>
          </p:nvPr>
        </p:nvGraphicFramePr>
        <p:xfrm>
          <a:off x="695325" y="3461683"/>
          <a:ext cx="10801350" cy="2072640"/>
        </p:xfrm>
        <a:graphic>
          <a:graphicData uri="http://schemas.openxmlformats.org/drawingml/2006/table">
            <a:tbl>
              <a:tblPr/>
              <a:tblGrid>
                <a:gridCol w="4112649">
                  <a:extLst>
                    <a:ext uri="{9D8B030D-6E8A-4147-A177-3AD203B41FA5}">
                      <a16:colId xmlns:a16="http://schemas.microsoft.com/office/drawing/2014/main" val="3679276519"/>
                    </a:ext>
                  </a:extLst>
                </a:gridCol>
                <a:gridCol w="6688701">
                  <a:extLst>
                    <a:ext uri="{9D8B030D-6E8A-4147-A177-3AD203B41FA5}">
                      <a16:colId xmlns:a16="http://schemas.microsoft.com/office/drawing/2014/main" val="2421228598"/>
                    </a:ext>
                  </a:extLst>
                </a:gridCol>
              </a:tblGrid>
              <a:tr h="0">
                <a:tc>
                  <a:txBody>
                    <a:bodyPr/>
                    <a:lstStyle/>
                    <a:p>
                      <a:pPr>
                        <a:buNone/>
                      </a:pPr>
                      <a:r>
                        <a:rPr lang="en-US" altLang="zh-CN" sz="1600" dirty="0">
                          <a:solidFill>
                            <a:schemeClr val="bg1"/>
                          </a:solidFill>
                        </a:rPr>
                        <a:t>Role</a:t>
                      </a:r>
                      <a:endParaRPr lang="zh-CN" altLang="en-US" sz="1600" dirty="0">
                        <a:solidFill>
                          <a:schemeClr val="bg1"/>
                        </a:solidFill>
                      </a:endParaRPr>
                    </a:p>
                  </a:txBody>
                  <a:tcPr anchor="ctr">
                    <a:lnL>
                      <a:noFill/>
                    </a:lnL>
                    <a:lnR>
                      <a:noFill/>
                    </a:lnR>
                    <a:lnT>
                      <a:noFill/>
                    </a:lnT>
                    <a:lnB>
                      <a:noFill/>
                    </a:lnB>
                    <a:solidFill>
                      <a:srgbClr val="00B0F0"/>
                    </a:solidFill>
                  </a:tcPr>
                </a:tc>
                <a:tc>
                  <a:txBody>
                    <a:bodyPr/>
                    <a:lstStyle/>
                    <a:p>
                      <a:pPr>
                        <a:buNone/>
                      </a:pPr>
                      <a:r>
                        <a:rPr lang="en-US" altLang="zh-CN" sz="1600" dirty="0">
                          <a:solidFill>
                            <a:schemeClr val="bg1"/>
                          </a:solidFill>
                        </a:rPr>
                        <a:t>Description</a:t>
                      </a:r>
                      <a:endParaRPr lang="zh-CN" altLang="en-US" sz="1600" dirty="0">
                        <a:solidFill>
                          <a:schemeClr val="bg1"/>
                        </a:solidFill>
                      </a:endParaRPr>
                    </a:p>
                  </a:txBody>
                  <a:tcPr anchor="ctr">
                    <a:lnL>
                      <a:noFill/>
                    </a:lnL>
                    <a:lnR>
                      <a:noFill/>
                    </a:lnR>
                    <a:lnT>
                      <a:noFill/>
                    </a:lnT>
                    <a:lnB>
                      <a:noFill/>
                    </a:lnB>
                    <a:solidFill>
                      <a:srgbClr val="00B0F0"/>
                    </a:solidFill>
                  </a:tcPr>
                </a:tc>
                <a:extLst>
                  <a:ext uri="{0D108BD9-81ED-4DB2-BD59-A6C34878D82A}">
                    <a16:rowId xmlns:a16="http://schemas.microsoft.com/office/drawing/2014/main" val="370110509"/>
                  </a:ext>
                </a:extLst>
              </a:tr>
              <a:tr h="0">
                <a:tc>
                  <a:txBody>
                    <a:bodyPr/>
                    <a:lstStyle/>
                    <a:p>
                      <a:pPr>
                        <a:buNone/>
                      </a:pPr>
                      <a:r>
                        <a:rPr lang="en-US" sz="1600"/>
                        <a:t>Customer / Business</a:t>
                      </a:r>
                    </a:p>
                    <a:p>
                      <a:pPr>
                        <a:buNone/>
                      </a:pPr>
                      <a:r>
                        <a:rPr lang="zh-CN" altLang="en-US" sz="1600"/>
                        <a:t>客户 </a:t>
                      </a:r>
                      <a:r>
                        <a:rPr lang="en-US" altLang="zh-CN" sz="1600"/>
                        <a:t>/ </a:t>
                      </a:r>
                      <a:r>
                        <a:rPr lang="zh-CN" altLang="en-US" sz="1600"/>
                        <a:t>业务方</a:t>
                      </a:r>
                    </a:p>
                  </a:txBody>
                  <a:tcPr anchor="ctr">
                    <a:lnL>
                      <a:noFill/>
                    </a:lnL>
                    <a:lnR>
                      <a:noFill/>
                    </a:lnR>
                    <a:lnT>
                      <a:noFill/>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提出“我希望系统能做什么？”</a:t>
                      </a:r>
                    </a:p>
                  </a:txBody>
                  <a:tcPr anchor="ctr">
                    <a:lnL>
                      <a:noFill/>
                    </a:lnL>
                    <a:lnR>
                      <a:noFill/>
                    </a:lnR>
                    <a:lnT>
                      <a:noFill/>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696113885"/>
                  </a:ext>
                </a:extLst>
              </a:tr>
              <a:tr h="0">
                <a:tc>
                  <a:txBody>
                    <a:bodyPr/>
                    <a:lstStyle/>
                    <a:p>
                      <a:pPr>
                        <a:buNone/>
                      </a:pPr>
                      <a:r>
                        <a:rPr lang="en-US" sz="1600"/>
                        <a:t>Developer</a:t>
                      </a:r>
                    </a:p>
                    <a:p>
                      <a:pPr>
                        <a:buNone/>
                      </a:pPr>
                      <a:r>
                        <a:rPr lang="zh-CN" altLang="en-US" sz="1600"/>
                        <a:t>开发者</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实现“让系统按你说的那样做”</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588760850"/>
                  </a:ext>
                </a:extLst>
              </a:tr>
              <a:tr h="0">
                <a:tc>
                  <a:txBody>
                    <a:bodyPr/>
                    <a:lstStyle/>
                    <a:p>
                      <a:pPr>
                        <a:buNone/>
                      </a:pPr>
                      <a:r>
                        <a:rPr lang="en-US" sz="1600"/>
                        <a:t>Tester / QA</a:t>
                      </a:r>
                    </a:p>
                    <a:p>
                      <a:pPr>
                        <a:buNone/>
                      </a:pPr>
                      <a:r>
                        <a:rPr lang="zh-CN" altLang="en-US" sz="1600"/>
                        <a:t>测试者</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dirty="0"/>
                        <a:t>验证“系统真的那样做了吗？”</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051915185"/>
                  </a:ext>
                </a:extLst>
              </a:tr>
            </a:tbl>
          </a:graphicData>
        </a:graphic>
      </p:graphicFrame>
    </p:spTree>
    <p:extLst>
      <p:ext uri="{BB962C8B-B14F-4D97-AF65-F5344CB8AC3E}">
        <p14:creationId xmlns:p14="http://schemas.microsoft.com/office/powerpoint/2010/main" val="3575379173"/>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144FA-0C48-3B0D-15C6-51F305215A6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EB4945A-2724-9FF7-D942-C40C0444EB67}"/>
              </a:ext>
            </a:extLst>
          </p:cNvPr>
          <p:cNvSpPr>
            <a:spLocks noGrp="1"/>
          </p:cNvSpPr>
          <p:nvPr>
            <p:ph type="title"/>
          </p:nvPr>
        </p:nvSpPr>
        <p:spPr>
          <a:xfrm>
            <a:off x="792000" y="360000"/>
            <a:ext cx="6375921" cy="429413"/>
          </a:xfrm>
        </p:spPr>
        <p:txBody>
          <a:bodyPr/>
          <a:lstStyle/>
          <a:p>
            <a:r>
              <a:rPr lang="en-US" altLang="zh-CN"/>
              <a:t>3.6 </a:t>
            </a:r>
            <a:r>
              <a:rPr lang="zh-CN" altLang="en-US"/>
              <a:t>行为驱动开发 </a:t>
            </a:r>
          </a:p>
        </p:txBody>
      </p:sp>
      <p:sp>
        <p:nvSpPr>
          <p:cNvPr id="7" name="内容占位符 6">
            <a:extLst>
              <a:ext uri="{FF2B5EF4-FFF2-40B4-BE49-F238E27FC236}">
                <a16:creationId xmlns:a16="http://schemas.microsoft.com/office/drawing/2014/main" id="{5E6AC7F4-1059-F669-4C1F-F1ADED8A3F7F}"/>
              </a:ext>
            </a:extLst>
          </p:cNvPr>
          <p:cNvSpPr>
            <a:spLocks noGrp="1"/>
          </p:cNvSpPr>
          <p:nvPr>
            <p:ph idx="1"/>
          </p:nvPr>
        </p:nvSpPr>
        <p:spPr>
          <a:xfrm>
            <a:off x="696000" y="864000"/>
            <a:ext cx="10800000" cy="5400000"/>
          </a:xfrm>
        </p:spPr>
        <p:txBody>
          <a:bodyPr/>
          <a:lstStyle/>
          <a:p>
            <a:r>
              <a:rPr lang="zh-CN" altLang="en-US"/>
              <a:t>表达方式：</a:t>
            </a:r>
            <a:r>
              <a:rPr lang="en-US" altLang="zh-CN"/>
              <a:t>Gherkin </a:t>
            </a:r>
            <a:r>
              <a:rPr lang="zh-CN" altLang="en-US"/>
              <a:t>语法（</a:t>
            </a:r>
            <a:r>
              <a:rPr lang="en-US" altLang="zh-CN"/>
              <a:t>Given-When-Then</a:t>
            </a:r>
            <a:r>
              <a:rPr lang="zh-CN" altLang="en-US"/>
              <a:t>）</a:t>
            </a:r>
          </a:p>
        </p:txBody>
      </p:sp>
      <p:sp>
        <p:nvSpPr>
          <p:cNvPr id="4" name="文本占位符 3">
            <a:extLst>
              <a:ext uri="{FF2B5EF4-FFF2-40B4-BE49-F238E27FC236}">
                <a16:creationId xmlns:a16="http://schemas.microsoft.com/office/drawing/2014/main" id="{56E340E7-A992-20E5-3439-CB32E653FC4B}"/>
              </a:ext>
            </a:extLst>
          </p:cNvPr>
          <p:cNvSpPr>
            <a:spLocks noGrp="1"/>
          </p:cNvSpPr>
          <p:nvPr>
            <p:ph type="body" sz="quarter" idx="10"/>
          </p:nvPr>
        </p:nvSpPr>
        <p:spPr>
          <a:xfrm>
            <a:off x="7071919" y="448519"/>
            <a:ext cx="4424080" cy="338554"/>
          </a:xfrm>
        </p:spPr>
        <p:txBody>
          <a:bodyPr/>
          <a:lstStyle/>
          <a:p>
            <a:r>
              <a:rPr lang="en-US" altLang="zh-CN"/>
              <a:t>BDD/Agile</a:t>
            </a:r>
            <a:endParaRPr lang="zh-CN" altLang="en-US"/>
          </a:p>
        </p:txBody>
      </p:sp>
      <p:grpSp>
        <p:nvGrpSpPr>
          <p:cNvPr id="3" name="组合 2">
            <a:extLst>
              <a:ext uri="{FF2B5EF4-FFF2-40B4-BE49-F238E27FC236}">
                <a16:creationId xmlns:a16="http://schemas.microsoft.com/office/drawing/2014/main" id="{D7193CD3-59F2-5F5F-973E-40ADCCB76B0B}"/>
              </a:ext>
            </a:extLst>
          </p:cNvPr>
          <p:cNvGrpSpPr/>
          <p:nvPr/>
        </p:nvGrpSpPr>
        <p:grpSpPr>
          <a:xfrm>
            <a:off x="4476967" y="2349000"/>
            <a:ext cx="2938305" cy="2160000"/>
            <a:chOff x="2383606" y="1597622"/>
            <a:chExt cx="2938305" cy="2160000"/>
          </a:xfrm>
        </p:grpSpPr>
        <p:sp>
          <p:nvSpPr>
            <p:cNvPr id="9" name="文本框 8">
              <a:extLst>
                <a:ext uri="{FF2B5EF4-FFF2-40B4-BE49-F238E27FC236}">
                  <a16:creationId xmlns:a16="http://schemas.microsoft.com/office/drawing/2014/main" id="{C6086190-0CF9-EE59-FC22-F5C74510AEA8}"/>
                </a:ext>
              </a:extLst>
            </p:cNvPr>
            <p:cNvSpPr txBox="1"/>
            <p:nvPr/>
          </p:nvSpPr>
          <p:spPr>
            <a:xfrm>
              <a:off x="2383606" y="1608099"/>
              <a:ext cx="2938305" cy="2015936"/>
            </a:xfrm>
            <a:prstGeom prst="rect">
              <a:avLst/>
            </a:prstGeom>
            <a:noFill/>
          </p:spPr>
          <p:txBody>
            <a:bodyPr wrap="none" rtlCol="0">
              <a:spAutoFit/>
            </a:bodyPr>
            <a:lstStyle/>
            <a:p>
              <a:pPr marL="360000" algn="l">
                <a:spcAft>
                  <a:spcPts val="600"/>
                </a:spcAft>
              </a:pPr>
              <a:r>
                <a:rPr lang="en-US" altLang="zh-CN" sz="1600"/>
                <a:t>Scenario: [ description ]</a:t>
              </a:r>
              <a:endParaRPr lang="zh-CN" altLang="en-US" sz="1600"/>
            </a:p>
            <a:p>
              <a:pPr marL="720000">
                <a:spcAft>
                  <a:spcPts val="600"/>
                </a:spcAft>
              </a:pPr>
              <a:r>
                <a:rPr lang="en-US" altLang="zh-CN" sz="1600"/>
                <a:t>Given [ context ] </a:t>
              </a:r>
            </a:p>
            <a:p>
              <a:pPr marL="1080000">
                <a:spcAft>
                  <a:spcPts val="600"/>
                </a:spcAft>
              </a:pPr>
              <a:r>
                <a:rPr lang="en-US" altLang="zh-CN" sz="1600"/>
                <a:t>and [context ]</a:t>
              </a:r>
            </a:p>
            <a:p>
              <a:pPr marL="720000" algn="l">
                <a:spcAft>
                  <a:spcPts val="600"/>
                </a:spcAft>
              </a:pPr>
              <a:r>
                <a:rPr lang="en-US" altLang="zh-CN" sz="1600"/>
                <a:t>When [ event ]</a:t>
              </a:r>
              <a:endParaRPr lang="zh-CN" altLang="en-US" sz="1600"/>
            </a:p>
            <a:p>
              <a:pPr marL="720000" algn="l">
                <a:spcAft>
                  <a:spcPts val="600"/>
                </a:spcAft>
              </a:pPr>
              <a:r>
                <a:rPr lang="en-US" altLang="zh-CN" sz="1600"/>
                <a:t>Then [ result ]</a:t>
              </a:r>
            </a:p>
            <a:p>
              <a:pPr marL="1080000">
                <a:spcAft>
                  <a:spcPts val="600"/>
                </a:spcAft>
              </a:pPr>
              <a:r>
                <a:rPr lang="en-US" altLang="zh-CN" sz="1600"/>
                <a:t>And [ result ]</a:t>
              </a:r>
              <a:endParaRPr lang="zh-CN" altLang="en-US" sz="1600"/>
            </a:p>
          </p:txBody>
        </p:sp>
        <p:cxnSp>
          <p:nvCxnSpPr>
            <p:cNvPr id="11" name="直接连接符 10">
              <a:extLst>
                <a:ext uri="{FF2B5EF4-FFF2-40B4-BE49-F238E27FC236}">
                  <a16:creationId xmlns:a16="http://schemas.microsoft.com/office/drawing/2014/main" id="{18C05345-0F10-46D4-F836-728554A685DB}"/>
                </a:ext>
              </a:extLst>
            </p:cNvPr>
            <p:cNvCxnSpPr>
              <a:cxnSpLocks/>
            </p:cNvCxnSpPr>
            <p:nvPr/>
          </p:nvCxnSpPr>
          <p:spPr>
            <a:xfrm>
              <a:off x="2383606" y="1597622"/>
              <a:ext cx="0" cy="2160000"/>
            </a:xfrm>
            <a:prstGeom prst="line">
              <a:avLst/>
            </a:prstGeom>
            <a:ln w="38100">
              <a:solidFill>
                <a:srgbClr val="00B0F0"/>
              </a:solidFill>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52940949"/>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8255C-CDB0-A2E9-D740-F690B2539DFB}"/>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297043FA-0C20-9CCD-FB0F-C2AAC24B4021}"/>
              </a:ext>
            </a:extLst>
          </p:cNvPr>
          <p:cNvSpPr txBox="1"/>
          <p:nvPr/>
        </p:nvSpPr>
        <p:spPr>
          <a:xfrm>
            <a:off x="2383606" y="1159148"/>
            <a:ext cx="7424789" cy="4601260"/>
          </a:xfrm>
          <a:prstGeom prst="rect">
            <a:avLst/>
          </a:prstGeom>
          <a:noFill/>
        </p:spPr>
        <p:txBody>
          <a:bodyPr wrap="none" rtlCol="0">
            <a:spAutoFit/>
          </a:bodyPr>
          <a:lstStyle/>
          <a:p>
            <a:pPr algn="l">
              <a:spcAft>
                <a:spcPts val="600"/>
              </a:spcAft>
            </a:pPr>
            <a:r>
              <a:rPr lang="en-US" altLang="zh-CN" sz="1600"/>
              <a:t>Feature: </a:t>
            </a:r>
            <a:r>
              <a:rPr lang="zh-CN" altLang="en-US" sz="1600"/>
              <a:t>用户登录功能</a:t>
            </a:r>
          </a:p>
          <a:p>
            <a:pPr marL="360000" algn="l">
              <a:spcAft>
                <a:spcPts val="600"/>
              </a:spcAft>
            </a:pPr>
            <a:r>
              <a:rPr lang="zh-CN" altLang="en-US" sz="1600"/>
              <a:t>作为注册用户</a:t>
            </a:r>
          </a:p>
          <a:p>
            <a:pPr marL="360000" algn="l">
              <a:spcAft>
                <a:spcPts val="600"/>
              </a:spcAft>
            </a:pPr>
            <a:r>
              <a:rPr lang="zh-CN" altLang="en-US" sz="1600"/>
              <a:t>我希望能够使用邮箱和密码登录系统</a:t>
            </a:r>
          </a:p>
          <a:p>
            <a:pPr marL="360000" algn="l">
              <a:spcAft>
                <a:spcPts val="600"/>
              </a:spcAft>
            </a:pPr>
            <a:r>
              <a:rPr lang="zh-CN" altLang="en-US" sz="1600"/>
              <a:t>以便访问我的个人账户</a:t>
            </a:r>
          </a:p>
          <a:p>
            <a:pPr marL="360000" algn="l">
              <a:spcAft>
                <a:spcPts val="600"/>
              </a:spcAft>
            </a:pPr>
            <a:endParaRPr lang="zh-CN" altLang="en-US" sz="1600"/>
          </a:p>
          <a:p>
            <a:pPr marL="360000" algn="l">
              <a:spcAft>
                <a:spcPts val="600"/>
              </a:spcAft>
            </a:pPr>
            <a:r>
              <a:rPr lang="en-US" altLang="zh-CN" sz="1600"/>
              <a:t>Scenario: </a:t>
            </a:r>
            <a:r>
              <a:rPr lang="zh-CN" altLang="en-US" sz="1600"/>
              <a:t>成功登录</a:t>
            </a:r>
          </a:p>
          <a:p>
            <a:pPr marL="720000" algn="l">
              <a:spcAft>
                <a:spcPts val="600"/>
              </a:spcAft>
            </a:pPr>
            <a:r>
              <a:rPr lang="en-US" altLang="zh-CN" sz="1600"/>
              <a:t>Given </a:t>
            </a:r>
            <a:r>
              <a:rPr lang="zh-CN" altLang="en-US" sz="1600"/>
              <a:t>我已经注册了一个账号 </a:t>
            </a:r>
            <a:r>
              <a:rPr lang="en-US" altLang="zh-CN" sz="1600"/>
              <a:t>"user@example.com" </a:t>
            </a:r>
            <a:r>
              <a:rPr lang="zh-CN" altLang="en-US" sz="1600"/>
              <a:t>和密码 </a:t>
            </a:r>
            <a:r>
              <a:rPr lang="en-US" altLang="zh-CN" sz="1600"/>
              <a:t>"123456"</a:t>
            </a:r>
          </a:p>
          <a:p>
            <a:pPr marL="720000" algn="l">
              <a:spcAft>
                <a:spcPts val="600"/>
              </a:spcAft>
            </a:pPr>
            <a:r>
              <a:rPr lang="en-US" altLang="zh-CN" sz="1600"/>
              <a:t>When </a:t>
            </a:r>
            <a:r>
              <a:rPr lang="zh-CN" altLang="en-US" sz="1600"/>
              <a:t>我在登录页面输入正确的邮箱和密码</a:t>
            </a:r>
          </a:p>
          <a:p>
            <a:pPr marL="720000" algn="l">
              <a:spcAft>
                <a:spcPts val="600"/>
              </a:spcAft>
            </a:pPr>
            <a:r>
              <a:rPr lang="en-US" altLang="zh-CN" sz="1600"/>
              <a:t>Then </a:t>
            </a:r>
            <a:r>
              <a:rPr lang="zh-CN" altLang="en-US" sz="1600"/>
              <a:t>我应该看到欢迎页面，并显示“欢迎回来，</a:t>
            </a:r>
            <a:r>
              <a:rPr lang="en-US" altLang="zh-CN" sz="1600"/>
              <a:t>user</a:t>
            </a:r>
            <a:r>
              <a:rPr lang="zh-CN" altLang="en-US" sz="1600"/>
              <a:t>！”</a:t>
            </a:r>
          </a:p>
          <a:p>
            <a:pPr marL="360000" algn="l">
              <a:spcAft>
                <a:spcPts val="600"/>
              </a:spcAft>
            </a:pPr>
            <a:endParaRPr lang="zh-CN" altLang="en-US" sz="1600"/>
          </a:p>
          <a:p>
            <a:pPr marL="360000" algn="l">
              <a:spcAft>
                <a:spcPts val="600"/>
              </a:spcAft>
            </a:pPr>
            <a:r>
              <a:rPr lang="zh-CN" altLang="en-US" sz="1600"/>
              <a:t> </a:t>
            </a:r>
            <a:r>
              <a:rPr lang="en-US" altLang="zh-CN" sz="1600"/>
              <a:t>Scenario: </a:t>
            </a:r>
            <a:r>
              <a:rPr lang="zh-CN" altLang="en-US" sz="1600"/>
              <a:t>密码错误时登录失败</a:t>
            </a:r>
          </a:p>
          <a:p>
            <a:pPr marL="720000" algn="l">
              <a:spcAft>
                <a:spcPts val="600"/>
              </a:spcAft>
            </a:pPr>
            <a:r>
              <a:rPr lang="en-US" altLang="zh-CN" sz="1600"/>
              <a:t>Given </a:t>
            </a:r>
            <a:r>
              <a:rPr lang="zh-CN" altLang="en-US" sz="1600"/>
              <a:t>我已经注册了一个账号 </a:t>
            </a:r>
            <a:r>
              <a:rPr lang="en-US" altLang="zh-CN" sz="1600"/>
              <a:t>"user@example.com" </a:t>
            </a:r>
            <a:r>
              <a:rPr lang="zh-CN" altLang="en-US" sz="1600"/>
              <a:t>和密码 </a:t>
            </a:r>
            <a:r>
              <a:rPr lang="en-US" altLang="zh-CN" sz="1600"/>
              <a:t>"123456"</a:t>
            </a:r>
          </a:p>
          <a:p>
            <a:pPr marL="720000" algn="l">
              <a:spcAft>
                <a:spcPts val="600"/>
              </a:spcAft>
            </a:pPr>
            <a:r>
              <a:rPr lang="en-US" altLang="zh-CN" sz="1600"/>
              <a:t>When </a:t>
            </a:r>
            <a:r>
              <a:rPr lang="zh-CN" altLang="en-US" sz="1600"/>
              <a:t>我在登录页面输入错误的密码 </a:t>
            </a:r>
            <a:r>
              <a:rPr lang="en-US" altLang="zh-CN" sz="1600"/>
              <a:t>"wrong"</a:t>
            </a:r>
          </a:p>
          <a:p>
            <a:pPr marL="720000" algn="l">
              <a:spcAft>
                <a:spcPts val="600"/>
              </a:spcAft>
            </a:pPr>
            <a:r>
              <a:rPr lang="en-US" altLang="zh-CN" sz="1600"/>
              <a:t>Then </a:t>
            </a:r>
            <a:r>
              <a:rPr lang="zh-CN" altLang="en-US" sz="1600"/>
              <a:t>我应该看到错误提示：“用户名或密码错误”</a:t>
            </a:r>
          </a:p>
        </p:txBody>
      </p:sp>
      <p:cxnSp>
        <p:nvCxnSpPr>
          <p:cNvPr id="11" name="直接连接符 10">
            <a:extLst>
              <a:ext uri="{FF2B5EF4-FFF2-40B4-BE49-F238E27FC236}">
                <a16:creationId xmlns:a16="http://schemas.microsoft.com/office/drawing/2014/main" id="{7B3C716A-1835-2F46-B8A3-EC55AF17C7ED}"/>
              </a:ext>
            </a:extLst>
          </p:cNvPr>
          <p:cNvCxnSpPr>
            <a:cxnSpLocks/>
          </p:cNvCxnSpPr>
          <p:nvPr/>
        </p:nvCxnSpPr>
        <p:spPr>
          <a:xfrm>
            <a:off x="2383606" y="1089000"/>
            <a:ext cx="0" cy="4680000"/>
          </a:xfrm>
          <a:prstGeom prst="line">
            <a:avLst/>
          </a:prstGeom>
          <a:ln w="38100">
            <a:solidFill>
              <a:srgbClr val="00B0F0"/>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7420420"/>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8255C-CDB0-A2E9-D740-F690B2539DFB}"/>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297043FA-0C20-9CCD-FB0F-C2AAC24B4021}"/>
              </a:ext>
            </a:extLst>
          </p:cNvPr>
          <p:cNvSpPr txBox="1"/>
          <p:nvPr/>
        </p:nvSpPr>
        <p:spPr>
          <a:xfrm>
            <a:off x="2383606" y="2551837"/>
            <a:ext cx="7896714" cy="1323439"/>
          </a:xfrm>
          <a:prstGeom prst="rect">
            <a:avLst/>
          </a:prstGeom>
          <a:noFill/>
        </p:spPr>
        <p:txBody>
          <a:bodyPr wrap="none" rtlCol="0">
            <a:spAutoFit/>
          </a:bodyPr>
          <a:lstStyle/>
          <a:p>
            <a:pPr>
              <a:buNone/>
            </a:pPr>
            <a:r>
              <a:rPr lang="en-US" altLang="zh-CN" sz="1600"/>
              <a:t>Sc</a:t>
            </a:r>
            <a:r>
              <a:rPr lang="az-Cyrl-AZ" altLang="zh-CN" sz="1600"/>
              <a:t>е</a:t>
            </a:r>
            <a:r>
              <a:rPr lang="en-US" altLang="zh-CN" sz="1600" dirty="0"/>
              <a:t>nario 1</a:t>
            </a:r>
            <a:r>
              <a:rPr lang="en-US" altLang="zh-CN" sz="1600"/>
              <a:t>: Succ</a:t>
            </a:r>
            <a:r>
              <a:rPr lang="az-Cyrl-AZ" altLang="zh-CN" sz="1600"/>
              <a:t>е</a:t>
            </a:r>
            <a:r>
              <a:rPr lang="en-US" altLang="zh-CN" sz="1600"/>
              <a:t>ssful</a:t>
            </a:r>
            <a:r>
              <a:rPr lang="en-US" altLang="zh-CN" sz="1600" dirty="0"/>
              <a:t> Login</a:t>
            </a:r>
          </a:p>
          <a:p>
            <a:pPr>
              <a:buNone/>
            </a:pPr>
            <a:r>
              <a:rPr lang="en-US" altLang="zh-CN" sz="1600"/>
              <a:t>Giv</a:t>
            </a:r>
            <a:r>
              <a:rPr lang="az-Cyrl-AZ" altLang="zh-CN" sz="1600"/>
              <a:t>е</a:t>
            </a:r>
            <a:r>
              <a:rPr lang="en-US" altLang="zh-CN" sz="1600" dirty="0"/>
              <a:t>n that </a:t>
            </a:r>
            <a:r>
              <a:rPr lang="en-US" altLang="zh-CN" sz="1600"/>
              <a:t>the us</a:t>
            </a:r>
            <a:r>
              <a:rPr lang="az-Cyrl-AZ" altLang="zh-CN" sz="1600"/>
              <a:t>е</a:t>
            </a:r>
            <a:r>
              <a:rPr lang="en-US" altLang="zh-CN" sz="1600" dirty="0"/>
              <a:t>r is on the login </a:t>
            </a:r>
            <a:r>
              <a:rPr lang="en-US" altLang="zh-CN" sz="1600"/>
              <a:t>form pag</a:t>
            </a:r>
            <a:r>
              <a:rPr lang="az-Cyrl-AZ" altLang="zh-CN" sz="1600" dirty="0"/>
              <a:t>е,</a:t>
            </a:r>
          </a:p>
          <a:p>
            <a:pPr>
              <a:buNone/>
            </a:pPr>
            <a:r>
              <a:rPr lang="en-US" altLang="zh-CN" sz="1600" dirty="0"/>
              <a:t>And </a:t>
            </a:r>
            <a:r>
              <a:rPr lang="en-US" altLang="zh-CN" sz="1600"/>
              <a:t>the us</a:t>
            </a:r>
            <a:r>
              <a:rPr lang="az-Cyrl-AZ" altLang="zh-CN" sz="1600"/>
              <a:t>е</a:t>
            </a:r>
            <a:r>
              <a:rPr lang="en-US" altLang="zh-CN" sz="1600" dirty="0"/>
              <a:t>r </a:t>
            </a:r>
            <a:r>
              <a:rPr lang="en-US" altLang="zh-CN" sz="1600"/>
              <a:t>has </a:t>
            </a:r>
            <a:r>
              <a:rPr lang="az-Cyrl-AZ" altLang="zh-CN" sz="1600"/>
              <a:t>е</a:t>
            </a:r>
            <a:r>
              <a:rPr lang="en-US" altLang="zh-CN" sz="1600"/>
              <a:t>nt</a:t>
            </a:r>
            <a:r>
              <a:rPr lang="az-Cyrl-AZ" altLang="zh-CN" sz="1600"/>
              <a:t>е</a:t>
            </a:r>
            <a:r>
              <a:rPr lang="en-US" altLang="zh-CN" sz="1600"/>
              <a:t>r</a:t>
            </a:r>
            <a:r>
              <a:rPr lang="az-Cyrl-AZ" altLang="zh-CN" sz="1600"/>
              <a:t>е</a:t>
            </a:r>
            <a:r>
              <a:rPr lang="en-US" altLang="zh-CN" sz="1600" dirty="0"/>
              <a:t>d a </a:t>
            </a:r>
            <a:r>
              <a:rPr lang="en-US" altLang="zh-CN" sz="1600"/>
              <a:t>valid us</a:t>
            </a:r>
            <a:r>
              <a:rPr lang="az-Cyrl-AZ" altLang="zh-CN" sz="1600"/>
              <a:t>е</a:t>
            </a:r>
            <a:r>
              <a:rPr lang="en-US" altLang="zh-CN" sz="1600"/>
              <a:t>rnam</a:t>
            </a:r>
            <a:r>
              <a:rPr lang="az-Cyrl-AZ" altLang="zh-CN" sz="1600"/>
              <a:t>е "</a:t>
            </a:r>
            <a:r>
              <a:rPr lang="en-US" altLang="zh-CN" sz="1600"/>
              <a:t>t</a:t>
            </a:r>
            <a:r>
              <a:rPr lang="az-Cyrl-AZ" altLang="zh-CN" sz="1600"/>
              <a:t>е</a:t>
            </a:r>
            <a:r>
              <a:rPr lang="en-US" altLang="zh-CN" sz="1600" dirty="0"/>
              <a:t>st1" and password </a:t>
            </a:r>
            <a:r>
              <a:rPr lang="en-US" altLang="zh-CN" sz="1600"/>
              <a:t>"H</a:t>
            </a:r>
            <a:r>
              <a:rPr lang="az-Cyrl-AZ" altLang="zh-CN" sz="1600"/>
              <a:t>е</a:t>
            </a:r>
            <a:r>
              <a:rPr lang="en-US" altLang="zh-CN" sz="1600" dirty="0"/>
              <a:t>llo123",</a:t>
            </a:r>
          </a:p>
          <a:p>
            <a:pPr>
              <a:buNone/>
            </a:pPr>
            <a:r>
              <a:rPr lang="en-US" altLang="zh-CN" sz="1600"/>
              <a:t>Wh</a:t>
            </a:r>
            <a:r>
              <a:rPr lang="az-Cyrl-AZ" altLang="zh-CN" sz="1600"/>
              <a:t>е</a:t>
            </a:r>
            <a:r>
              <a:rPr lang="en-US" altLang="zh-CN" sz="1600"/>
              <a:t>n th</a:t>
            </a:r>
            <a:r>
              <a:rPr lang="az-Cyrl-AZ" altLang="zh-CN" sz="1600"/>
              <a:t>е </a:t>
            </a:r>
            <a:r>
              <a:rPr lang="en-US" altLang="zh-CN" sz="1600"/>
              <a:t>us</a:t>
            </a:r>
            <a:r>
              <a:rPr lang="az-Cyrl-AZ" altLang="zh-CN" sz="1600"/>
              <a:t>е</a:t>
            </a:r>
            <a:r>
              <a:rPr lang="en-US" altLang="zh-CN" sz="1600" dirty="0"/>
              <a:t>r </a:t>
            </a:r>
            <a:r>
              <a:rPr lang="en-US" altLang="zh-CN" sz="1600"/>
              <a:t>clicks th</a:t>
            </a:r>
            <a:r>
              <a:rPr lang="az-Cyrl-AZ" altLang="zh-CN" sz="1600"/>
              <a:t>е </a:t>
            </a:r>
            <a:r>
              <a:rPr lang="en-US" altLang="zh-CN" sz="1600" dirty="0"/>
              <a:t>login button,</a:t>
            </a:r>
          </a:p>
          <a:p>
            <a:pPr>
              <a:buNone/>
            </a:pPr>
            <a:r>
              <a:rPr lang="en-US" altLang="zh-CN" sz="1600"/>
              <a:t>Th</a:t>
            </a:r>
            <a:r>
              <a:rPr lang="az-Cyrl-AZ" altLang="zh-CN" sz="1600"/>
              <a:t>е</a:t>
            </a:r>
            <a:r>
              <a:rPr lang="en-US" altLang="zh-CN" sz="1600" dirty="0"/>
              <a:t>n</a:t>
            </a:r>
            <a:r>
              <a:rPr lang="en-US" altLang="zh-CN" sz="1600"/>
              <a:t>, th</a:t>
            </a:r>
            <a:r>
              <a:rPr lang="az-Cyrl-AZ" altLang="zh-CN" sz="1600"/>
              <a:t>е </a:t>
            </a:r>
            <a:r>
              <a:rPr lang="en-US" altLang="zh-CN" sz="1600"/>
              <a:t>us</a:t>
            </a:r>
            <a:r>
              <a:rPr lang="az-Cyrl-AZ" altLang="zh-CN" sz="1600"/>
              <a:t>е</a:t>
            </a:r>
            <a:r>
              <a:rPr lang="en-US" altLang="zh-CN" sz="1600" dirty="0"/>
              <a:t>r </a:t>
            </a:r>
            <a:r>
              <a:rPr lang="en-US" altLang="zh-CN" sz="1600"/>
              <a:t>is succ</a:t>
            </a:r>
            <a:r>
              <a:rPr lang="az-Cyrl-AZ" altLang="zh-CN" sz="1600"/>
              <a:t>е</a:t>
            </a:r>
            <a:r>
              <a:rPr lang="en-US" altLang="zh-CN" sz="1600"/>
              <a:t>ssfully dir</a:t>
            </a:r>
            <a:r>
              <a:rPr lang="az-Cyrl-AZ" altLang="zh-CN" sz="1600"/>
              <a:t>е</a:t>
            </a:r>
            <a:r>
              <a:rPr lang="en-US" altLang="zh-CN" sz="1600"/>
              <a:t>ct</a:t>
            </a:r>
            <a:r>
              <a:rPr lang="az-Cyrl-AZ" altLang="zh-CN" sz="1600"/>
              <a:t>е</a:t>
            </a:r>
            <a:r>
              <a:rPr lang="en-US" altLang="zh-CN" sz="1600" dirty="0"/>
              <a:t>d </a:t>
            </a:r>
            <a:r>
              <a:rPr lang="en-US" altLang="zh-CN" sz="1600"/>
              <a:t>to th</a:t>
            </a:r>
            <a:r>
              <a:rPr lang="az-Cyrl-AZ" altLang="zh-CN" sz="1600"/>
              <a:t>е </a:t>
            </a:r>
            <a:r>
              <a:rPr lang="en-US" altLang="zh-CN" sz="1600"/>
              <a:t>hom</a:t>
            </a:r>
            <a:r>
              <a:rPr lang="az-Cyrl-AZ" altLang="zh-CN" sz="1600"/>
              <a:t>е</a:t>
            </a:r>
            <a:r>
              <a:rPr lang="en-US" altLang="zh-CN" sz="1600"/>
              <a:t>pag</a:t>
            </a:r>
            <a:r>
              <a:rPr lang="az-Cyrl-AZ" altLang="zh-CN" sz="1600" dirty="0"/>
              <a:t>е.</a:t>
            </a:r>
          </a:p>
        </p:txBody>
      </p:sp>
      <p:cxnSp>
        <p:nvCxnSpPr>
          <p:cNvPr id="11" name="直接连接符 10">
            <a:extLst>
              <a:ext uri="{FF2B5EF4-FFF2-40B4-BE49-F238E27FC236}">
                <a16:creationId xmlns:a16="http://schemas.microsoft.com/office/drawing/2014/main" id="{7B3C716A-1835-2F46-B8A3-EC55AF17C7ED}"/>
              </a:ext>
            </a:extLst>
          </p:cNvPr>
          <p:cNvCxnSpPr>
            <a:cxnSpLocks/>
          </p:cNvCxnSpPr>
          <p:nvPr/>
        </p:nvCxnSpPr>
        <p:spPr>
          <a:xfrm>
            <a:off x="2383606" y="1089000"/>
            <a:ext cx="0" cy="4680000"/>
          </a:xfrm>
          <a:prstGeom prst="line">
            <a:avLst/>
          </a:prstGeom>
          <a:ln w="38100">
            <a:solidFill>
              <a:srgbClr val="00B0F0"/>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6623357"/>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E19C9-93B5-F3E7-F9E1-0A0A442C2BA4}"/>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6A027298-0DB7-4F89-831D-1599B5DF0F63}"/>
              </a:ext>
            </a:extLst>
          </p:cNvPr>
          <p:cNvSpPr txBox="1"/>
          <p:nvPr/>
        </p:nvSpPr>
        <p:spPr>
          <a:xfrm>
            <a:off x="2383606" y="2551837"/>
            <a:ext cx="5707012" cy="1569660"/>
          </a:xfrm>
          <a:prstGeom prst="rect">
            <a:avLst/>
          </a:prstGeom>
          <a:noFill/>
        </p:spPr>
        <p:txBody>
          <a:bodyPr wrap="none" rtlCol="0">
            <a:spAutoFit/>
          </a:bodyPr>
          <a:lstStyle/>
          <a:p>
            <a:r>
              <a:rPr lang="en-US" altLang="zh-CN" sz="1600"/>
              <a:t>Sc</a:t>
            </a:r>
            <a:r>
              <a:rPr lang="az-Cyrl-AZ" altLang="zh-CN" sz="1600"/>
              <a:t>е</a:t>
            </a:r>
            <a:r>
              <a:rPr lang="en-US" altLang="zh-CN" sz="1600" dirty="0"/>
              <a:t>nario 2: Forgot Password</a:t>
            </a:r>
          </a:p>
          <a:p>
            <a:endParaRPr lang="en-US" altLang="zh-CN" sz="1600" dirty="0"/>
          </a:p>
          <a:p>
            <a:r>
              <a:rPr lang="en-US" altLang="zh-CN" sz="1600"/>
              <a:t>Giv</a:t>
            </a:r>
            <a:r>
              <a:rPr lang="az-Cyrl-AZ" altLang="zh-CN" sz="1600"/>
              <a:t>е</a:t>
            </a:r>
            <a:r>
              <a:rPr lang="en-US" altLang="zh-CN" sz="1600"/>
              <a:t>n th</a:t>
            </a:r>
            <a:r>
              <a:rPr lang="az-Cyrl-AZ" altLang="zh-CN" sz="1600"/>
              <a:t>е </a:t>
            </a:r>
            <a:r>
              <a:rPr lang="en-US" altLang="zh-CN" sz="1600"/>
              <a:t>us</a:t>
            </a:r>
            <a:r>
              <a:rPr lang="az-Cyrl-AZ" altLang="zh-CN" sz="1600"/>
              <a:t>е</a:t>
            </a:r>
            <a:r>
              <a:rPr lang="en-US" altLang="zh-CN" sz="1600" dirty="0"/>
              <a:t>r is </a:t>
            </a:r>
            <a:r>
              <a:rPr lang="en-US" altLang="zh-CN" sz="1600"/>
              <a:t>on th</a:t>
            </a:r>
            <a:r>
              <a:rPr lang="az-Cyrl-AZ" altLang="zh-CN" sz="1600"/>
              <a:t>е </a:t>
            </a:r>
            <a:r>
              <a:rPr lang="en-US" altLang="zh-CN" sz="1600"/>
              <a:t>login pag</a:t>
            </a:r>
            <a:r>
              <a:rPr lang="az-Cyrl-AZ" altLang="zh-CN" sz="1600" dirty="0"/>
              <a:t>е,</a:t>
            </a:r>
          </a:p>
          <a:p>
            <a:r>
              <a:rPr lang="en-US" altLang="zh-CN" sz="1600"/>
              <a:t>And th</a:t>
            </a:r>
            <a:r>
              <a:rPr lang="az-Cyrl-AZ" altLang="zh-CN" sz="1600"/>
              <a:t>е </a:t>
            </a:r>
            <a:r>
              <a:rPr lang="en-US" altLang="zh-CN" sz="1600"/>
              <a:t>us</a:t>
            </a:r>
            <a:r>
              <a:rPr lang="az-Cyrl-AZ" altLang="zh-CN" sz="1600"/>
              <a:t>е</a:t>
            </a:r>
            <a:r>
              <a:rPr lang="en-US" altLang="zh-CN" sz="1600"/>
              <a:t>r </a:t>
            </a:r>
            <a:r>
              <a:rPr lang="az-Cyrl-AZ" altLang="zh-CN" sz="1600"/>
              <a:t>е</a:t>
            </a:r>
            <a:r>
              <a:rPr lang="en-US" altLang="zh-CN" sz="1600"/>
              <a:t>nt</a:t>
            </a:r>
            <a:r>
              <a:rPr lang="az-Cyrl-AZ" altLang="zh-CN" sz="1600"/>
              <a:t>е</a:t>
            </a:r>
            <a:r>
              <a:rPr lang="en-US" altLang="zh-CN" sz="1600"/>
              <a:t>rs th</a:t>
            </a:r>
            <a:r>
              <a:rPr lang="az-Cyrl-AZ" altLang="zh-CN" sz="1600"/>
              <a:t>е</a:t>
            </a:r>
            <a:r>
              <a:rPr lang="en-US" altLang="zh-CN" sz="1600"/>
              <a:t>ir us</a:t>
            </a:r>
            <a:r>
              <a:rPr lang="az-Cyrl-AZ" altLang="zh-CN" sz="1600"/>
              <a:t>е</a:t>
            </a:r>
            <a:r>
              <a:rPr lang="en-US" altLang="zh-CN" sz="1600"/>
              <a:t>rnam</a:t>
            </a:r>
            <a:r>
              <a:rPr lang="az-Cyrl-AZ" altLang="zh-CN" sz="1600"/>
              <a:t>е "</a:t>
            </a:r>
            <a:r>
              <a:rPr lang="en-US" altLang="zh-CN" sz="1600"/>
              <a:t>t</a:t>
            </a:r>
            <a:r>
              <a:rPr lang="az-Cyrl-AZ" altLang="zh-CN" sz="1600"/>
              <a:t>е</a:t>
            </a:r>
            <a:r>
              <a:rPr lang="en-US" altLang="zh-CN" sz="1600" dirty="0"/>
              <a:t>st1",</a:t>
            </a:r>
          </a:p>
          <a:p>
            <a:r>
              <a:rPr lang="en-US" altLang="zh-CN" sz="1600"/>
              <a:t>Wh</a:t>
            </a:r>
            <a:r>
              <a:rPr lang="az-Cyrl-AZ" altLang="zh-CN" sz="1600"/>
              <a:t>е</a:t>
            </a:r>
            <a:r>
              <a:rPr lang="en-US" altLang="zh-CN" sz="1600"/>
              <a:t>n th</a:t>
            </a:r>
            <a:r>
              <a:rPr lang="az-Cyrl-AZ" altLang="zh-CN" sz="1600"/>
              <a:t>е </a:t>
            </a:r>
            <a:r>
              <a:rPr lang="en-US" altLang="zh-CN" sz="1600"/>
              <a:t>us</a:t>
            </a:r>
            <a:r>
              <a:rPr lang="az-Cyrl-AZ" altLang="zh-CN" sz="1600"/>
              <a:t>е</a:t>
            </a:r>
            <a:r>
              <a:rPr lang="en-US" altLang="zh-CN" sz="1600" dirty="0"/>
              <a:t>r </a:t>
            </a:r>
            <a:r>
              <a:rPr lang="en-US" altLang="zh-CN" sz="1600"/>
              <a:t>clicks th</a:t>
            </a:r>
            <a:r>
              <a:rPr lang="az-Cyrl-AZ" altLang="zh-CN" sz="1600"/>
              <a:t>е "</a:t>
            </a:r>
            <a:r>
              <a:rPr lang="en-US" altLang="zh-CN" sz="1600" dirty="0"/>
              <a:t>Forgot Password" link,</a:t>
            </a:r>
          </a:p>
          <a:p>
            <a:r>
              <a:rPr lang="en-US" altLang="zh-CN" sz="1600"/>
              <a:t>Th</a:t>
            </a:r>
            <a:r>
              <a:rPr lang="az-Cyrl-AZ" altLang="zh-CN" sz="1600"/>
              <a:t>е</a:t>
            </a:r>
            <a:r>
              <a:rPr lang="en-US" altLang="zh-CN" sz="1600" dirty="0"/>
              <a:t>n</a:t>
            </a:r>
            <a:r>
              <a:rPr lang="en-US" altLang="zh-CN" sz="1600"/>
              <a:t>, th</a:t>
            </a:r>
            <a:r>
              <a:rPr lang="az-Cyrl-AZ" altLang="zh-CN" sz="1600"/>
              <a:t>е </a:t>
            </a:r>
            <a:r>
              <a:rPr lang="en-US" altLang="zh-CN" sz="1600"/>
              <a:t>us</a:t>
            </a:r>
            <a:r>
              <a:rPr lang="az-Cyrl-AZ" altLang="zh-CN" sz="1600"/>
              <a:t>е</a:t>
            </a:r>
            <a:r>
              <a:rPr lang="en-US" altLang="zh-CN" sz="1600" dirty="0"/>
              <a:t>r </a:t>
            </a:r>
            <a:r>
              <a:rPr lang="en-US" altLang="zh-CN" sz="1600"/>
              <a:t>is dir</a:t>
            </a:r>
            <a:r>
              <a:rPr lang="az-Cyrl-AZ" altLang="zh-CN" sz="1600"/>
              <a:t>е</a:t>
            </a:r>
            <a:r>
              <a:rPr lang="en-US" altLang="zh-CN" sz="1600"/>
              <a:t>ct</a:t>
            </a:r>
            <a:r>
              <a:rPr lang="az-Cyrl-AZ" altLang="zh-CN" sz="1600"/>
              <a:t>е</a:t>
            </a:r>
            <a:r>
              <a:rPr lang="en-US" altLang="zh-CN" sz="1600" dirty="0"/>
              <a:t>d </a:t>
            </a:r>
            <a:r>
              <a:rPr lang="en-US" altLang="zh-CN" sz="1600"/>
              <a:t>to th</a:t>
            </a:r>
            <a:r>
              <a:rPr lang="az-Cyrl-AZ" altLang="zh-CN" sz="1600"/>
              <a:t>е </a:t>
            </a:r>
            <a:r>
              <a:rPr lang="en-US" altLang="zh-CN" sz="1600"/>
              <a:t>r</a:t>
            </a:r>
            <a:r>
              <a:rPr lang="az-Cyrl-AZ" altLang="zh-CN" sz="1600"/>
              <a:t>е</a:t>
            </a:r>
            <a:r>
              <a:rPr lang="en-US" altLang="zh-CN" sz="1600"/>
              <a:t>s</a:t>
            </a:r>
            <a:r>
              <a:rPr lang="az-Cyrl-AZ" altLang="zh-CN" sz="1600"/>
              <a:t>е</a:t>
            </a:r>
            <a:r>
              <a:rPr lang="en-US" altLang="zh-CN" sz="1600" dirty="0"/>
              <a:t>t </a:t>
            </a:r>
            <a:r>
              <a:rPr lang="en-US" altLang="zh-CN" sz="1600"/>
              <a:t>password pag</a:t>
            </a:r>
            <a:r>
              <a:rPr lang="az-Cyrl-AZ" altLang="zh-CN" sz="1600" dirty="0"/>
              <a:t>е.</a:t>
            </a:r>
          </a:p>
        </p:txBody>
      </p:sp>
      <p:cxnSp>
        <p:nvCxnSpPr>
          <p:cNvPr id="11" name="直接连接符 10">
            <a:extLst>
              <a:ext uri="{FF2B5EF4-FFF2-40B4-BE49-F238E27FC236}">
                <a16:creationId xmlns:a16="http://schemas.microsoft.com/office/drawing/2014/main" id="{C37A20CA-2C42-A04C-F7BD-AF4441E540CB}"/>
              </a:ext>
            </a:extLst>
          </p:cNvPr>
          <p:cNvCxnSpPr>
            <a:cxnSpLocks/>
          </p:cNvCxnSpPr>
          <p:nvPr/>
        </p:nvCxnSpPr>
        <p:spPr>
          <a:xfrm>
            <a:off x="2383606" y="1089000"/>
            <a:ext cx="0" cy="4680000"/>
          </a:xfrm>
          <a:prstGeom prst="line">
            <a:avLst/>
          </a:prstGeom>
          <a:ln w="38100">
            <a:solidFill>
              <a:srgbClr val="00B0F0"/>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1137501"/>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24662-D6E6-DFA6-4DD1-D6242C63EE35}"/>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46F5D06A-7583-0577-8153-392C2A875A37}"/>
              </a:ext>
            </a:extLst>
          </p:cNvPr>
          <p:cNvSpPr txBox="1"/>
          <p:nvPr/>
        </p:nvSpPr>
        <p:spPr>
          <a:xfrm>
            <a:off x="2383606" y="2551837"/>
            <a:ext cx="8573181" cy="1846659"/>
          </a:xfrm>
          <a:prstGeom prst="rect">
            <a:avLst/>
          </a:prstGeom>
          <a:noFill/>
        </p:spPr>
        <p:txBody>
          <a:bodyPr wrap="none" rtlCol="0">
            <a:spAutoFit/>
          </a:bodyPr>
          <a:lstStyle/>
          <a:p>
            <a:r>
              <a:rPr lang="en-US" altLang="zh-CN" sz="1600"/>
              <a:t>Sc</a:t>
            </a:r>
            <a:r>
              <a:rPr lang="az-Cyrl-AZ" altLang="zh-CN" sz="1600"/>
              <a:t>е</a:t>
            </a:r>
            <a:r>
              <a:rPr lang="en-US" altLang="zh-CN" sz="1600" dirty="0"/>
              <a:t>nario 3</a:t>
            </a:r>
            <a:r>
              <a:rPr lang="en-US" altLang="zh-CN" sz="1600"/>
              <a:t>: Incorr</a:t>
            </a:r>
            <a:r>
              <a:rPr lang="az-Cyrl-AZ" altLang="zh-CN" sz="1600"/>
              <a:t>е</a:t>
            </a:r>
            <a:r>
              <a:rPr lang="en-US" altLang="zh-CN" sz="1600"/>
              <a:t>ct</a:t>
            </a:r>
            <a:r>
              <a:rPr lang="en-US" altLang="zh-CN" sz="1600" dirty="0"/>
              <a:t> </a:t>
            </a:r>
            <a:r>
              <a:rPr lang="en-US" altLang="zh-CN" sz="1600"/>
              <a:t>Login Cr</a:t>
            </a:r>
            <a:r>
              <a:rPr lang="az-Cyrl-AZ" altLang="zh-CN" sz="1600"/>
              <a:t>е</a:t>
            </a:r>
            <a:r>
              <a:rPr lang="en-US" altLang="zh-CN" sz="1600"/>
              <a:t>d</a:t>
            </a:r>
            <a:r>
              <a:rPr lang="az-Cyrl-AZ" altLang="zh-CN" sz="1600"/>
              <a:t>е</a:t>
            </a:r>
            <a:r>
              <a:rPr lang="en-US" altLang="zh-CN" sz="1600"/>
              <a:t>ntials</a:t>
            </a:r>
            <a:endParaRPr lang="en-US" altLang="zh-CN" sz="1600" dirty="0"/>
          </a:p>
          <a:p>
            <a:endParaRPr lang="en-US" altLang="zh-CN" sz="1600" dirty="0"/>
          </a:p>
          <a:p>
            <a:r>
              <a:rPr lang="en-US" altLang="zh-CN" sz="1600"/>
              <a:t>Giv</a:t>
            </a:r>
            <a:r>
              <a:rPr lang="az-Cyrl-AZ" altLang="zh-CN" sz="1600"/>
              <a:t>е</a:t>
            </a:r>
            <a:r>
              <a:rPr lang="en-US" altLang="zh-CN" sz="1600"/>
              <a:t>n th</a:t>
            </a:r>
            <a:r>
              <a:rPr lang="az-Cyrl-AZ" altLang="zh-CN" sz="1600"/>
              <a:t>е </a:t>
            </a:r>
            <a:r>
              <a:rPr lang="en-US" altLang="zh-CN" sz="1600"/>
              <a:t>us</a:t>
            </a:r>
            <a:r>
              <a:rPr lang="az-Cyrl-AZ" altLang="zh-CN" sz="1600"/>
              <a:t>е</a:t>
            </a:r>
            <a:r>
              <a:rPr lang="en-US" altLang="zh-CN" sz="1600" dirty="0"/>
              <a:t>r is on </a:t>
            </a:r>
            <a:r>
              <a:rPr lang="en-US" altLang="zh-CN" sz="1600"/>
              <a:t>a pag</a:t>
            </a:r>
            <a:r>
              <a:rPr lang="az-Cyrl-AZ" altLang="zh-CN" sz="1600"/>
              <a:t>е </a:t>
            </a:r>
            <a:r>
              <a:rPr lang="en-US" altLang="zh-CN" sz="1600" dirty="0"/>
              <a:t>with </a:t>
            </a:r>
            <a:r>
              <a:rPr lang="en-US" altLang="zh-CN" sz="1600"/>
              <a:t>login fi</a:t>
            </a:r>
            <a:r>
              <a:rPr lang="az-Cyrl-AZ" altLang="zh-CN" sz="1600"/>
              <a:t>е</a:t>
            </a:r>
            <a:r>
              <a:rPr lang="en-US" altLang="zh-CN" sz="1600"/>
              <a:t>lds</a:t>
            </a:r>
            <a:r>
              <a:rPr lang="en-US" altLang="zh-CN" sz="1600" dirty="0"/>
              <a:t>,</a:t>
            </a:r>
          </a:p>
          <a:p>
            <a:r>
              <a:rPr lang="en-US" altLang="zh-CN" sz="1600"/>
              <a:t>And th</a:t>
            </a:r>
            <a:r>
              <a:rPr lang="az-Cyrl-AZ" altLang="zh-CN" sz="1600"/>
              <a:t>е </a:t>
            </a:r>
            <a:r>
              <a:rPr lang="en-US" altLang="zh-CN" sz="1600"/>
              <a:t>us</a:t>
            </a:r>
            <a:r>
              <a:rPr lang="az-Cyrl-AZ" altLang="zh-CN" sz="1600"/>
              <a:t>е</a:t>
            </a:r>
            <a:r>
              <a:rPr lang="en-US" altLang="zh-CN" sz="1600" dirty="0"/>
              <a:t>r </a:t>
            </a:r>
            <a:r>
              <a:rPr lang="en-US" altLang="zh-CN" sz="1600"/>
              <a:t>has </a:t>
            </a:r>
            <a:r>
              <a:rPr lang="az-Cyrl-AZ" altLang="zh-CN" sz="1600"/>
              <a:t>е</a:t>
            </a:r>
            <a:r>
              <a:rPr lang="en-US" altLang="zh-CN" sz="1600"/>
              <a:t>nt</a:t>
            </a:r>
            <a:r>
              <a:rPr lang="az-Cyrl-AZ" altLang="zh-CN" sz="1600"/>
              <a:t>е</a:t>
            </a:r>
            <a:r>
              <a:rPr lang="en-US" altLang="zh-CN" sz="1600"/>
              <a:t>r</a:t>
            </a:r>
            <a:r>
              <a:rPr lang="az-Cyrl-AZ" altLang="zh-CN" sz="1600"/>
              <a:t>е</a:t>
            </a:r>
            <a:r>
              <a:rPr lang="en-US" altLang="zh-CN" sz="1600"/>
              <a:t>d th</a:t>
            </a:r>
            <a:r>
              <a:rPr lang="az-Cyrl-AZ" altLang="zh-CN" sz="1600"/>
              <a:t>е </a:t>
            </a:r>
            <a:r>
              <a:rPr lang="en-US" altLang="zh-CN" sz="1600"/>
              <a:t>incorr</a:t>
            </a:r>
            <a:r>
              <a:rPr lang="az-Cyrl-AZ" altLang="zh-CN" sz="1600"/>
              <a:t>е</a:t>
            </a:r>
            <a:r>
              <a:rPr lang="en-US" altLang="zh-CN" sz="1600"/>
              <a:t>ct us</a:t>
            </a:r>
            <a:r>
              <a:rPr lang="az-Cyrl-AZ" altLang="zh-CN" sz="1600"/>
              <a:t>е</a:t>
            </a:r>
            <a:r>
              <a:rPr lang="en-US" altLang="zh-CN" sz="1600"/>
              <a:t>rnam</a:t>
            </a:r>
            <a:r>
              <a:rPr lang="az-Cyrl-AZ" altLang="zh-CN" sz="1600"/>
              <a:t>е "</a:t>
            </a:r>
            <a:r>
              <a:rPr lang="en-US" altLang="zh-CN" sz="1600"/>
              <a:t>t</a:t>
            </a:r>
            <a:r>
              <a:rPr lang="az-Cyrl-AZ" altLang="zh-CN" sz="1600"/>
              <a:t>е</a:t>
            </a:r>
            <a:r>
              <a:rPr lang="en-US" altLang="zh-CN" sz="1600" dirty="0"/>
              <a:t>st1" and password </a:t>
            </a:r>
            <a:r>
              <a:rPr lang="en-US" altLang="zh-CN" sz="1600"/>
              <a:t>"H</a:t>
            </a:r>
            <a:r>
              <a:rPr lang="az-Cyrl-AZ" altLang="zh-CN" sz="1600"/>
              <a:t>е</a:t>
            </a:r>
            <a:r>
              <a:rPr lang="en-US" altLang="zh-CN" sz="1600" dirty="0"/>
              <a:t>llo321",</a:t>
            </a:r>
          </a:p>
          <a:p>
            <a:r>
              <a:rPr lang="en-US" altLang="zh-CN" sz="1600"/>
              <a:t>Wh</a:t>
            </a:r>
            <a:r>
              <a:rPr lang="az-Cyrl-AZ" altLang="zh-CN" sz="1600"/>
              <a:t>е</a:t>
            </a:r>
            <a:r>
              <a:rPr lang="en-US" altLang="zh-CN" sz="1600"/>
              <a:t>n th</a:t>
            </a:r>
            <a:r>
              <a:rPr lang="az-Cyrl-AZ" altLang="zh-CN" sz="1600"/>
              <a:t>е </a:t>
            </a:r>
            <a:r>
              <a:rPr lang="en-US" altLang="zh-CN" sz="1600"/>
              <a:t>us</a:t>
            </a:r>
            <a:r>
              <a:rPr lang="az-Cyrl-AZ" altLang="zh-CN" sz="1600"/>
              <a:t>е</a:t>
            </a:r>
            <a:r>
              <a:rPr lang="en-US" altLang="zh-CN" sz="1600" dirty="0"/>
              <a:t>r </a:t>
            </a:r>
            <a:r>
              <a:rPr lang="en-US" altLang="zh-CN" sz="1600"/>
              <a:t>clicks th</a:t>
            </a:r>
            <a:r>
              <a:rPr lang="az-Cyrl-AZ" altLang="zh-CN" sz="1600"/>
              <a:t>е </a:t>
            </a:r>
            <a:r>
              <a:rPr lang="en-US" altLang="zh-CN" sz="1600" dirty="0"/>
              <a:t>login button,</a:t>
            </a:r>
          </a:p>
          <a:p>
            <a:r>
              <a:rPr lang="en-US" altLang="zh-CN" sz="1600"/>
              <a:t>Th</a:t>
            </a:r>
            <a:r>
              <a:rPr lang="az-Cyrl-AZ" altLang="zh-CN" sz="1600"/>
              <a:t>е</a:t>
            </a:r>
            <a:r>
              <a:rPr lang="en-US" altLang="zh-CN" sz="1600" dirty="0"/>
              <a:t>n</a:t>
            </a:r>
            <a:r>
              <a:rPr lang="en-US" altLang="zh-CN" sz="1600"/>
              <a:t>, th</a:t>
            </a:r>
            <a:r>
              <a:rPr lang="az-Cyrl-AZ" altLang="zh-CN" sz="1600"/>
              <a:t>е </a:t>
            </a:r>
            <a:r>
              <a:rPr lang="en-US" altLang="zh-CN" sz="1600" dirty="0"/>
              <a:t>login </a:t>
            </a:r>
            <a:r>
              <a:rPr lang="en-US" altLang="zh-CN" sz="1600"/>
              <a:t>form r</a:t>
            </a:r>
            <a:r>
              <a:rPr lang="az-Cyrl-AZ" altLang="zh-CN" sz="1600"/>
              <a:t>е</a:t>
            </a:r>
            <a:r>
              <a:rPr lang="en-US" altLang="zh-CN" sz="1600"/>
              <a:t>app</a:t>
            </a:r>
            <a:r>
              <a:rPr lang="az-Cyrl-AZ" altLang="zh-CN" sz="1600"/>
              <a:t>е</a:t>
            </a:r>
            <a:r>
              <a:rPr lang="en-US" altLang="zh-CN" sz="1600"/>
              <a:t>ars</a:t>
            </a:r>
            <a:r>
              <a:rPr lang="en-US" altLang="zh-CN" sz="1600" dirty="0"/>
              <a:t> </a:t>
            </a:r>
            <a:r>
              <a:rPr lang="en-US" altLang="zh-CN" sz="1600"/>
              <a:t>with th</a:t>
            </a:r>
            <a:r>
              <a:rPr lang="az-Cyrl-AZ" altLang="zh-CN" sz="1600"/>
              <a:t>е </a:t>
            </a:r>
            <a:r>
              <a:rPr lang="en-US" altLang="zh-CN" sz="1600"/>
              <a:t>us</a:t>
            </a:r>
            <a:r>
              <a:rPr lang="az-Cyrl-AZ" altLang="zh-CN" sz="1600"/>
              <a:t>е</a:t>
            </a:r>
            <a:r>
              <a:rPr lang="en-US" altLang="zh-CN" sz="1600"/>
              <a:t>rnam</a:t>
            </a:r>
            <a:r>
              <a:rPr lang="az-Cyrl-AZ" altLang="zh-CN" sz="1600"/>
              <a:t>е </a:t>
            </a:r>
            <a:r>
              <a:rPr lang="en-US" altLang="zh-CN" sz="1600"/>
              <a:t>still fill</a:t>
            </a:r>
            <a:r>
              <a:rPr lang="az-Cyrl-AZ" altLang="zh-CN" sz="1600"/>
              <a:t>е</a:t>
            </a:r>
            <a:r>
              <a:rPr lang="en-US" altLang="zh-CN" sz="1600" dirty="0"/>
              <a:t>d in and displays an </a:t>
            </a:r>
          </a:p>
          <a:p>
            <a:r>
              <a:rPr lang="az-Cyrl-AZ" altLang="zh-CN" sz="1600"/>
              <a:t>е</a:t>
            </a:r>
            <a:r>
              <a:rPr lang="en-US" altLang="zh-CN" sz="1600"/>
              <a:t>rror m</a:t>
            </a:r>
            <a:r>
              <a:rPr lang="az-Cyrl-AZ" altLang="zh-CN" sz="1600"/>
              <a:t>е</a:t>
            </a:r>
            <a:r>
              <a:rPr lang="en-US" altLang="zh-CN" sz="1600"/>
              <a:t>ssag</a:t>
            </a:r>
            <a:r>
              <a:rPr lang="az-Cyrl-AZ" altLang="zh-CN" sz="1600" dirty="0"/>
              <a:t>е.</a:t>
            </a:r>
          </a:p>
        </p:txBody>
      </p:sp>
      <p:cxnSp>
        <p:nvCxnSpPr>
          <p:cNvPr id="11" name="直接连接符 10">
            <a:extLst>
              <a:ext uri="{FF2B5EF4-FFF2-40B4-BE49-F238E27FC236}">
                <a16:creationId xmlns:a16="http://schemas.microsoft.com/office/drawing/2014/main" id="{A749B186-654A-BB4C-CDE8-F6E81C788199}"/>
              </a:ext>
            </a:extLst>
          </p:cNvPr>
          <p:cNvCxnSpPr>
            <a:cxnSpLocks/>
          </p:cNvCxnSpPr>
          <p:nvPr/>
        </p:nvCxnSpPr>
        <p:spPr>
          <a:xfrm>
            <a:off x="2383606" y="1089000"/>
            <a:ext cx="0" cy="4680000"/>
          </a:xfrm>
          <a:prstGeom prst="line">
            <a:avLst/>
          </a:prstGeom>
          <a:ln w="38100">
            <a:solidFill>
              <a:srgbClr val="00B0F0"/>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2244424"/>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A5EDF45A-1074-B3EA-6195-9B145C51F91E}"/>
              </a:ext>
            </a:extLst>
          </p:cNvPr>
          <p:cNvGraphicFramePr>
            <a:graphicFrameLocks noGrp="1"/>
          </p:cNvGraphicFramePr>
          <p:nvPr>
            <p:extLst>
              <p:ext uri="{D42A27DB-BD31-4B8C-83A1-F6EECF244321}">
                <p14:modId xmlns:p14="http://schemas.microsoft.com/office/powerpoint/2010/main" val="2781622159"/>
              </p:ext>
            </p:extLst>
          </p:nvPr>
        </p:nvGraphicFramePr>
        <p:xfrm>
          <a:off x="695325" y="1872297"/>
          <a:ext cx="10801350" cy="2346960"/>
        </p:xfrm>
        <a:graphic>
          <a:graphicData uri="http://schemas.openxmlformats.org/drawingml/2006/table">
            <a:tbl>
              <a:tblPr/>
              <a:tblGrid>
                <a:gridCol w="1359617">
                  <a:extLst>
                    <a:ext uri="{9D8B030D-6E8A-4147-A177-3AD203B41FA5}">
                      <a16:colId xmlns:a16="http://schemas.microsoft.com/office/drawing/2014/main" val="2990873470"/>
                    </a:ext>
                  </a:extLst>
                </a:gridCol>
                <a:gridCol w="4345858">
                  <a:extLst>
                    <a:ext uri="{9D8B030D-6E8A-4147-A177-3AD203B41FA5}">
                      <a16:colId xmlns:a16="http://schemas.microsoft.com/office/drawing/2014/main" val="1361388487"/>
                    </a:ext>
                  </a:extLst>
                </a:gridCol>
                <a:gridCol w="5095875">
                  <a:extLst>
                    <a:ext uri="{9D8B030D-6E8A-4147-A177-3AD203B41FA5}">
                      <a16:colId xmlns:a16="http://schemas.microsoft.com/office/drawing/2014/main" val="4238044401"/>
                    </a:ext>
                  </a:extLst>
                </a:gridCol>
              </a:tblGrid>
              <a:tr h="162339">
                <a:tc>
                  <a:txBody>
                    <a:bodyPr/>
                    <a:lstStyle/>
                    <a:p>
                      <a:pPr>
                        <a:buNone/>
                      </a:pPr>
                      <a:r>
                        <a:rPr lang="zh-CN" altLang="en-US" sz="1600" dirty="0">
                          <a:solidFill>
                            <a:schemeClr val="bg1"/>
                          </a:solidFill>
                        </a:rPr>
                        <a:t>维度</a:t>
                      </a:r>
                    </a:p>
                  </a:txBody>
                  <a:tcPr anchor="ctr">
                    <a:lnL>
                      <a:noFill/>
                    </a:lnL>
                    <a:lnR>
                      <a:noFill/>
                    </a:lnR>
                    <a:lnT>
                      <a:noFill/>
                    </a:lnT>
                    <a:lnB>
                      <a:noFill/>
                    </a:lnB>
                    <a:solidFill>
                      <a:srgbClr val="00B0F0"/>
                    </a:solidFill>
                  </a:tcPr>
                </a:tc>
                <a:tc>
                  <a:txBody>
                    <a:bodyPr/>
                    <a:lstStyle/>
                    <a:p>
                      <a:pPr>
                        <a:buNone/>
                      </a:pPr>
                      <a:r>
                        <a:rPr lang="en-US" sz="1600" dirty="0">
                          <a:solidFill>
                            <a:schemeClr val="bg1"/>
                          </a:solidFill>
                        </a:rPr>
                        <a:t>TDD (Test-Driven Development)</a:t>
                      </a:r>
                    </a:p>
                  </a:txBody>
                  <a:tcPr anchor="ctr">
                    <a:lnL>
                      <a:noFill/>
                    </a:lnL>
                    <a:lnR>
                      <a:noFill/>
                    </a:lnR>
                    <a:lnT>
                      <a:noFill/>
                    </a:lnT>
                    <a:lnB>
                      <a:noFill/>
                    </a:lnB>
                    <a:solidFill>
                      <a:srgbClr val="00B0F0"/>
                    </a:solidFill>
                  </a:tcPr>
                </a:tc>
                <a:tc>
                  <a:txBody>
                    <a:bodyPr/>
                    <a:lstStyle/>
                    <a:p>
                      <a:pPr>
                        <a:buNone/>
                      </a:pPr>
                      <a:r>
                        <a:rPr lang="en-US" sz="1600" dirty="0">
                          <a:solidFill>
                            <a:schemeClr val="bg1"/>
                          </a:solidFill>
                        </a:rPr>
                        <a:t>BDD (Behavior-Driven Development)</a:t>
                      </a:r>
                    </a:p>
                  </a:txBody>
                  <a:tcPr anchor="ctr">
                    <a:lnL>
                      <a:noFill/>
                    </a:lnL>
                    <a:lnR>
                      <a:noFill/>
                    </a:lnR>
                    <a:lnT>
                      <a:noFill/>
                    </a:lnT>
                    <a:lnB>
                      <a:noFill/>
                    </a:lnB>
                    <a:solidFill>
                      <a:srgbClr val="00B0F0"/>
                    </a:solidFill>
                  </a:tcPr>
                </a:tc>
                <a:extLst>
                  <a:ext uri="{0D108BD9-81ED-4DB2-BD59-A6C34878D82A}">
                    <a16:rowId xmlns:a16="http://schemas.microsoft.com/office/drawing/2014/main" val="3878949231"/>
                  </a:ext>
                </a:extLst>
              </a:tr>
              <a:tr h="162339">
                <a:tc>
                  <a:txBody>
                    <a:bodyPr/>
                    <a:lstStyle/>
                    <a:p>
                      <a:pPr>
                        <a:buNone/>
                      </a:pPr>
                      <a:r>
                        <a:rPr lang="zh-CN" altLang="en-US" sz="1600"/>
                        <a:t>驱动源</a:t>
                      </a:r>
                    </a:p>
                  </a:txBody>
                  <a:tcPr anchor="ctr">
                    <a:lnL>
                      <a:noFill/>
                    </a:lnL>
                    <a:lnR>
                      <a:noFill/>
                    </a:lnR>
                    <a:lnT>
                      <a:noFill/>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技术实现细节（函数、类、接口）</a:t>
                      </a:r>
                    </a:p>
                  </a:txBody>
                  <a:tcPr anchor="ctr">
                    <a:lnL>
                      <a:noFill/>
                    </a:lnL>
                    <a:lnR>
                      <a:noFill/>
                    </a:lnR>
                    <a:lnT>
                      <a:noFill/>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用户行为 </a:t>
                      </a:r>
                      <a:r>
                        <a:rPr lang="en-US" altLang="zh-CN" sz="1600"/>
                        <a:t>/ </a:t>
                      </a:r>
                      <a:r>
                        <a:rPr lang="zh-CN" altLang="en-US" sz="1600"/>
                        <a:t>业务价值</a:t>
                      </a:r>
                    </a:p>
                  </a:txBody>
                  <a:tcPr anchor="ctr">
                    <a:lnL>
                      <a:noFill/>
                    </a:lnL>
                    <a:lnR>
                      <a:noFill/>
                    </a:lnR>
                    <a:lnT>
                      <a:noFill/>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702059828"/>
                  </a:ext>
                </a:extLst>
              </a:tr>
              <a:tr h="162339">
                <a:tc>
                  <a:txBody>
                    <a:bodyPr/>
                    <a:lstStyle/>
                    <a:p>
                      <a:pPr>
                        <a:buNone/>
                      </a:pPr>
                      <a:r>
                        <a:rPr lang="zh-CN" altLang="en-US" sz="1600" dirty="0"/>
                        <a:t>测试粒度</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dirty="0"/>
                        <a:t>单个单元测试（</a:t>
                      </a:r>
                      <a:r>
                        <a:rPr lang="en-US" sz="1600" dirty="0"/>
                        <a:t>Unit Test）</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验收测试 </a:t>
                      </a:r>
                      <a:r>
                        <a:rPr lang="en-US" altLang="zh-CN" sz="1600"/>
                        <a:t>/ </a:t>
                      </a:r>
                      <a:r>
                        <a:rPr lang="zh-CN" altLang="en-US" sz="1600"/>
                        <a:t>集成测试（</a:t>
                      </a:r>
                      <a:r>
                        <a:rPr lang="en-US" sz="1600"/>
                        <a:t>Acceptance Test）</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184954705"/>
                  </a:ext>
                </a:extLst>
              </a:tr>
              <a:tr h="162339">
                <a:tc>
                  <a:txBody>
                    <a:bodyPr/>
                    <a:lstStyle/>
                    <a:p>
                      <a:pPr>
                        <a:buNone/>
                      </a:pPr>
                      <a:r>
                        <a:rPr lang="zh-CN" altLang="en-US" sz="1600" dirty="0"/>
                        <a:t>语言</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编程语言（</a:t>
                      </a:r>
                      <a:r>
                        <a:rPr lang="en-US" sz="1600"/>
                        <a:t>Java, Python...）</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自然语言（</a:t>
                      </a:r>
                      <a:r>
                        <a:rPr lang="en-US" sz="1600"/>
                        <a:t>Gherkin）</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364131198"/>
                  </a:ext>
                </a:extLst>
              </a:tr>
              <a:tr h="162339">
                <a:tc>
                  <a:txBody>
                    <a:bodyPr/>
                    <a:lstStyle/>
                    <a:p>
                      <a:pPr>
                        <a:buNone/>
                      </a:pPr>
                      <a:r>
                        <a:rPr lang="zh-CN" altLang="en-US" sz="1600"/>
                        <a:t>参与者</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dirty="0"/>
                        <a:t>主要是开发者</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开发者 </a:t>
                      </a:r>
                      <a:r>
                        <a:rPr lang="en-US" altLang="zh-CN" sz="1600"/>
                        <a:t>+ </a:t>
                      </a:r>
                      <a:r>
                        <a:rPr lang="zh-CN" altLang="en-US" sz="1600"/>
                        <a:t>测试 </a:t>
                      </a:r>
                      <a:r>
                        <a:rPr lang="en-US" altLang="zh-CN" sz="1600"/>
                        <a:t>+ </a:t>
                      </a:r>
                      <a:r>
                        <a:rPr lang="zh-CN" altLang="en-US" sz="1600"/>
                        <a:t>业务方</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292565513"/>
                  </a:ext>
                </a:extLst>
              </a:tr>
              <a:tr h="162339">
                <a:tc>
                  <a:txBody>
                    <a:bodyPr/>
                    <a:lstStyle/>
                    <a:p>
                      <a:pPr>
                        <a:buNone/>
                      </a:pPr>
                      <a:r>
                        <a:rPr lang="zh-CN" altLang="en-US" sz="1600"/>
                        <a:t>目标</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dirty="0"/>
                        <a:t>保证代码质量、可维护性</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dirty="0"/>
                        <a:t>保证系统行为符合业务需求</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548345300"/>
                  </a:ext>
                </a:extLst>
              </a:tr>
              <a:tr h="162339">
                <a:tc>
                  <a:txBody>
                    <a:bodyPr/>
                    <a:lstStyle/>
                    <a:p>
                      <a:pPr>
                        <a:buNone/>
                      </a:pPr>
                      <a:r>
                        <a:rPr lang="zh-CN" altLang="en-US" sz="1600"/>
                        <a:t>示例</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n-US" sz="1600" dirty="0"/>
                        <a:t>test_add_two_numbers()</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n-US" sz="1600" dirty="0"/>
                        <a:t>Scenario: User logs in successfully</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916417238"/>
                  </a:ext>
                </a:extLst>
              </a:tr>
            </a:tbl>
          </a:graphicData>
        </a:graphic>
      </p:graphicFrame>
    </p:spTree>
    <p:extLst>
      <p:ext uri="{BB962C8B-B14F-4D97-AF65-F5344CB8AC3E}">
        <p14:creationId xmlns:p14="http://schemas.microsoft.com/office/powerpoint/2010/main" val="3798335274"/>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7911EB-2FBB-0137-F7C4-6D497643E096}"/>
              </a:ext>
            </a:extLst>
          </p:cNvPr>
          <p:cNvSpPr>
            <a:spLocks noGrp="1"/>
          </p:cNvSpPr>
          <p:nvPr>
            <p:ph type="body" sz="quarter" idx="10"/>
          </p:nvPr>
        </p:nvSpPr>
        <p:spPr>
          <a:xfrm>
            <a:off x="3219345" y="1629000"/>
            <a:ext cx="8640000" cy="3600000"/>
          </a:xfrm>
        </p:spPr>
        <p:txBody>
          <a:bodyPr/>
          <a:lstStyle/>
          <a:p>
            <a:r>
              <a:rPr lang="en-US" altLang="zh-CN" dirty="0"/>
              <a:t>Construction Project Scope Creep Example</a:t>
            </a:r>
          </a:p>
          <a:p>
            <a:endParaRPr lang="en-US" altLang="zh-CN" dirty="0"/>
          </a:p>
          <a:p>
            <a:r>
              <a:rPr lang="en-US" altLang="zh-CN" dirty="0"/>
              <a:t>Acme Builders </a:t>
            </a:r>
            <a:r>
              <a:rPr lang="zh-CN" altLang="en-US" dirty="0"/>
              <a:t>已签订合同，承建一栋三层多户住宅</a:t>
            </a:r>
            <a:endParaRPr lang="en-US" altLang="zh-CN" dirty="0"/>
          </a:p>
          <a:p>
            <a:r>
              <a:rPr lang="zh-CN" altLang="en-US" dirty="0"/>
              <a:t>建设已经开始，当客户找到总承包商时，表示为了使项目对他们作为房东有利可图，他们必须增加一层的建筑，并且要在同一时间内完成</a:t>
            </a:r>
            <a:endParaRPr lang="en-US" altLang="zh-CN" dirty="0"/>
          </a:p>
        </p:txBody>
      </p:sp>
    </p:spTree>
    <p:extLst>
      <p:ext uri="{BB962C8B-B14F-4D97-AF65-F5344CB8AC3E}">
        <p14:creationId xmlns:p14="http://schemas.microsoft.com/office/powerpoint/2010/main" val="4093762368"/>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48014D4-18DB-DBE3-F7BD-15AF4D109A60}"/>
              </a:ext>
            </a:extLst>
          </p:cNvPr>
          <p:cNvSpPr>
            <a:spLocks noGrp="1"/>
          </p:cNvSpPr>
          <p:nvPr>
            <p:ph type="body" sz="quarter" idx="10"/>
          </p:nvPr>
        </p:nvSpPr>
        <p:spPr>
          <a:xfrm>
            <a:off x="3219345" y="1629000"/>
            <a:ext cx="8640000" cy="3600000"/>
          </a:xfrm>
        </p:spPr>
        <p:txBody>
          <a:bodyPr/>
          <a:lstStyle/>
          <a:p>
            <a:r>
              <a:rPr lang="en-US" altLang="zh-CN"/>
              <a:t>Manufacturing Project Scope Creep Example</a:t>
            </a:r>
          </a:p>
          <a:p>
            <a:endParaRPr lang="en-US" altLang="zh-CN"/>
          </a:p>
          <a:p>
            <a:r>
              <a:rPr lang="en-US" altLang="zh-CN"/>
              <a:t>A</a:t>
            </a:r>
            <a:r>
              <a:rPr lang="zh-CN" altLang="en-US"/>
              <a:t>到</a:t>
            </a:r>
            <a:r>
              <a:rPr lang="en-US" altLang="zh-CN"/>
              <a:t>B</a:t>
            </a:r>
            <a:r>
              <a:rPr lang="zh-CN" altLang="en-US"/>
              <a:t>制造商正准备为新产品投入生产，他们已经设计并采购了手机壳的材料</a:t>
            </a:r>
            <a:endParaRPr lang="en-US" altLang="zh-CN"/>
          </a:p>
          <a:p>
            <a:r>
              <a:rPr lang="zh-CN" altLang="en-US"/>
              <a:t>执行团队未经监督地更改了设计，想添加一个夹子，让手机壳能够挂在用户的腰带上</a:t>
            </a:r>
            <a:endParaRPr lang="en-US" altLang="zh-CN"/>
          </a:p>
        </p:txBody>
      </p:sp>
    </p:spTree>
    <p:extLst>
      <p:ext uri="{BB962C8B-B14F-4D97-AF65-F5344CB8AC3E}">
        <p14:creationId xmlns:p14="http://schemas.microsoft.com/office/powerpoint/2010/main" val="3981180929"/>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C31BDE8-4A13-3A98-BD96-6DCCFCAF82BF}"/>
              </a:ext>
            </a:extLst>
          </p:cNvPr>
          <p:cNvSpPr>
            <a:spLocks noGrp="1"/>
          </p:cNvSpPr>
          <p:nvPr>
            <p:ph type="body" sz="quarter" idx="10"/>
          </p:nvPr>
        </p:nvSpPr>
        <p:spPr>
          <a:xfrm>
            <a:off x="3219345" y="1629000"/>
            <a:ext cx="8640000" cy="3600000"/>
          </a:xfrm>
        </p:spPr>
        <p:txBody>
          <a:bodyPr/>
          <a:lstStyle/>
          <a:p>
            <a:r>
              <a:rPr lang="en-US" altLang="zh-CN" dirty="0"/>
              <a:t>IT Project Scope Creep Example</a:t>
            </a:r>
          </a:p>
          <a:p>
            <a:endParaRPr lang="en-US" altLang="zh-CN" dirty="0"/>
          </a:p>
          <a:p>
            <a:r>
              <a:rPr lang="zh-CN" altLang="en-US" dirty="0"/>
              <a:t>三个月内，一位项目经理负责交付一款新的软件</a:t>
            </a:r>
            <a:endParaRPr lang="en-US" altLang="zh-CN" dirty="0"/>
          </a:p>
          <a:p>
            <a:r>
              <a:rPr lang="zh-CN" altLang="en-US" dirty="0"/>
              <a:t>在规划阶段几周后，项目的赞助商增加了新的功能。</a:t>
            </a:r>
            <a:endParaRPr lang="en-US" altLang="zh-CN" dirty="0"/>
          </a:p>
          <a:p>
            <a:r>
              <a:rPr lang="zh-CN" altLang="en-US" dirty="0"/>
              <a:t>在项目经理将新要求纳入项目范围后，赞助商根据项目客户的请求进行了更多更改</a:t>
            </a:r>
          </a:p>
        </p:txBody>
      </p:sp>
    </p:spTree>
    <p:extLst>
      <p:ext uri="{BB962C8B-B14F-4D97-AF65-F5344CB8AC3E}">
        <p14:creationId xmlns:p14="http://schemas.microsoft.com/office/powerpoint/2010/main" val="1948296285"/>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19336A-C039-9D95-BD38-922535D0105E}"/>
              </a:ext>
            </a:extLst>
          </p:cNvPr>
          <p:cNvSpPr>
            <a:spLocks noGrp="1"/>
          </p:cNvSpPr>
          <p:nvPr>
            <p:ph type="title"/>
          </p:nvPr>
        </p:nvSpPr>
        <p:spPr>
          <a:xfrm>
            <a:off x="792000" y="360000"/>
            <a:ext cx="6375921" cy="429413"/>
          </a:xfrm>
        </p:spPr>
        <p:txBody>
          <a:bodyPr>
            <a:normAutofit/>
          </a:bodyPr>
          <a:lstStyle/>
          <a:p>
            <a:r>
              <a:rPr lang="en-US" altLang="zh-CN"/>
              <a:t>4. </a:t>
            </a:r>
            <a:r>
              <a:rPr lang="zh-CN" altLang="en-US"/>
              <a:t>工作范围</a:t>
            </a:r>
          </a:p>
        </p:txBody>
      </p:sp>
      <p:sp>
        <p:nvSpPr>
          <p:cNvPr id="3" name="内容占位符 2">
            <a:extLst>
              <a:ext uri="{FF2B5EF4-FFF2-40B4-BE49-F238E27FC236}">
                <a16:creationId xmlns:a16="http://schemas.microsoft.com/office/drawing/2014/main" id="{F674FFA5-05CF-6980-6C7C-8E3034C17FDE}"/>
              </a:ext>
            </a:extLst>
          </p:cNvPr>
          <p:cNvSpPr>
            <a:spLocks noGrp="1"/>
          </p:cNvSpPr>
          <p:nvPr>
            <p:ph idx="1"/>
          </p:nvPr>
        </p:nvSpPr>
        <p:spPr>
          <a:xfrm>
            <a:off x="696000" y="864000"/>
            <a:ext cx="10800000" cy="5400000"/>
          </a:xfrm>
        </p:spPr>
        <p:txBody>
          <a:bodyPr>
            <a:normAutofit/>
          </a:bodyPr>
          <a:lstStyle/>
          <a:p>
            <a:r>
              <a:rPr lang="en-US" altLang="zh-CN" dirty="0">
                <a:hlinkClick r:id="rId3"/>
              </a:rPr>
              <a:t>Scope of Work</a:t>
            </a:r>
            <a:endParaRPr lang="en-US" altLang="zh-CN" dirty="0"/>
          </a:p>
          <a:p>
            <a:pPr lvl="1"/>
            <a:r>
              <a:rPr lang="zh-CN" altLang="en-US" dirty="0"/>
              <a:t>一份正式文件</a:t>
            </a:r>
            <a:endParaRPr lang="en-US" altLang="zh-CN" dirty="0"/>
          </a:p>
          <a:p>
            <a:pPr lvl="1"/>
            <a:r>
              <a:rPr lang="zh-CN" altLang="en-US" dirty="0"/>
              <a:t>定义了完成项目所需的特定任务、可交付成果、时间表和责任</a:t>
            </a:r>
            <a:endParaRPr lang="en-US" altLang="zh-CN" dirty="0"/>
          </a:p>
          <a:p>
            <a:pPr lvl="1"/>
            <a:r>
              <a:rPr lang="zh-CN" altLang="en-US" dirty="0"/>
              <a:t>在整个执行过程中也起到控制工具的作用</a:t>
            </a:r>
            <a:endParaRPr lang="en-US" altLang="zh-CN" dirty="0"/>
          </a:p>
          <a:p>
            <a:pPr lvl="1"/>
            <a:r>
              <a:rPr lang="zh-CN" altLang="en-US" dirty="0"/>
              <a:t>当出现疑问或变更请求时，团队可以回顾工作范围，以确定请求是否在范围之内</a:t>
            </a:r>
            <a:endParaRPr lang="en-US" altLang="zh-CN" dirty="0"/>
          </a:p>
          <a:p>
            <a:pPr lvl="1"/>
            <a:r>
              <a:rPr lang="zh-CN" altLang="en-US" dirty="0"/>
              <a:t>防止范围蔓延 </a:t>
            </a:r>
            <a:r>
              <a:rPr lang="en-US" altLang="zh-CN" dirty="0"/>
              <a:t>Scope Creep</a:t>
            </a:r>
          </a:p>
          <a:p>
            <a:r>
              <a:rPr lang="zh-CN" altLang="en-US" dirty="0"/>
              <a:t>工作范围旨在</a:t>
            </a:r>
            <a:endParaRPr lang="en-US" altLang="zh-CN" dirty="0"/>
          </a:p>
          <a:p>
            <a:pPr lvl="1"/>
            <a:r>
              <a:rPr lang="zh-CN" altLang="en-US" dirty="0"/>
              <a:t>定义项目可交付成果和边界 </a:t>
            </a:r>
            <a:r>
              <a:rPr lang="en-US" altLang="zh-CN" dirty="0"/>
              <a:t>- Define project deliverables and boundaries</a:t>
            </a:r>
            <a:endParaRPr lang="zh-CN" altLang="en-US" dirty="0"/>
          </a:p>
          <a:p>
            <a:pPr lvl="1"/>
            <a:r>
              <a:rPr lang="zh-CN" altLang="en-US" dirty="0"/>
              <a:t>明确角色、责任和期望 </a:t>
            </a:r>
            <a:r>
              <a:rPr lang="en-US" altLang="zh-CN" dirty="0"/>
              <a:t>- Clarify roles, responsibilities and expectations</a:t>
            </a:r>
          </a:p>
          <a:p>
            <a:pPr lvl="1"/>
            <a:r>
              <a:rPr lang="zh-CN" altLang="en-US" dirty="0"/>
              <a:t>建立时间表、里程碑和假设 </a:t>
            </a:r>
            <a:r>
              <a:rPr lang="en-US" altLang="zh-CN" dirty="0"/>
              <a:t>- Establish timelines, milestones and assumptions</a:t>
            </a:r>
          </a:p>
          <a:p>
            <a:pPr lvl="1"/>
            <a:r>
              <a:rPr lang="zh-CN" altLang="en-US" dirty="0"/>
              <a:t>降低风险、争议和计划外变更 </a:t>
            </a:r>
            <a:r>
              <a:rPr lang="en-US" altLang="zh-CN" dirty="0"/>
              <a:t>- Reduce risk, disputes and unplanned changes</a:t>
            </a:r>
          </a:p>
          <a:p>
            <a:endParaRPr lang="en-US" altLang="zh-CN" dirty="0"/>
          </a:p>
        </p:txBody>
      </p:sp>
      <p:sp>
        <p:nvSpPr>
          <p:cNvPr id="6" name="文本占位符 5">
            <a:extLst>
              <a:ext uri="{FF2B5EF4-FFF2-40B4-BE49-F238E27FC236}">
                <a16:creationId xmlns:a16="http://schemas.microsoft.com/office/drawing/2014/main" id="{CA66C553-3E2C-628E-B840-4CADD1D7CA4A}"/>
              </a:ext>
            </a:extLst>
          </p:cNvPr>
          <p:cNvSpPr>
            <a:spLocks noGrp="1"/>
          </p:cNvSpPr>
          <p:nvPr>
            <p:ph type="body" sz="quarter" idx="10"/>
          </p:nvPr>
        </p:nvSpPr>
        <p:spPr>
          <a:xfrm>
            <a:off x="7071919" y="448519"/>
            <a:ext cx="4424080" cy="338554"/>
          </a:xfrm>
        </p:spPr>
        <p:txBody>
          <a:bodyPr/>
          <a:lstStyle/>
          <a:p>
            <a:r>
              <a:rPr lang="en-US" altLang="zh-CN"/>
              <a:t>SOW</a:t>
            </a:r>
            <a:endParaRPr lang="zh-CN" altLang="en-US"/>
          </a:p>
        </p:txBody>
      </p:sp>
    </p:spTree>
    <p:extLst>
      <p:ext uri="{BB962C8B-B14F-4D97-AF65-F5344CB8AC3E}">
        <p14:creationId xmlns:p14="http://schemas.microsoft.com/office/powerpoint/2010/main" val="503782804"/>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EC6091F0-4FB7-F2A1-25E5-D698071D2D9D}"/>
              </a:ext>
            </a:extLst>
          </p:cNvPr>
          <p:cNvSpPr>
            <a:spLocks noGrp="1"/>
          </p:cNvSpPr>
          <p:nvPr>
            <p:ph type="title"/>
          </p:nvPr>
        </p:nvSpPr>
        <p:spPr>
          <a:xfrm>
            <a:off x="792000" y="360000"/>
            <a:ext cx="6375921" cy="429413"/>
          </a:xfrm>
        </p:spPr>
        <p:txBody>
          <a:bodyPr/>
          <a:lstStyle/>
          <a:p>
            <a:r>
              <a:rPr lang="en-US" altLang="zh-CN"/>
              <a:t>5. </a:t>
            </a:r>
            <a:r>
              <a:rPr lang="zh-CN" altLang="en-US"/>
              <a:t>任务分解</a:t>
            </a:r>
          </a:p>
        </p:txBody>
      </p:sp>
      <p:sp>
        <p:nvSpPr>
          <p:cNvPr id="4" name="内容占位符 3">
            <a:extLst>
              <a:ext uri="{FF2B5EF4-FFF2-40B4-BE49-F238E27FC236}">
                <a16:creationId xmlns:a16="http://schemas.microsoft.com/office/drawing/2014/main" id="{D75A869F-0684-18E0-95A7-87243CAF703E}"/>
              </a:ext>
            </a:extLst>
          </p:cNvPr>
          <p:cNvSpPr>
            <a:spLocks noGrp="1"/>
          </p:cNvSpPr>
          <p:nvPr>
            <p:ph idx="1"/>
          </p:nvPr>
        </p:nvSpPr>
        <p:spPr>
          <a:xfrm>
            <a:off x="696000" y="864000"/>
            <a:ext cx="10800000" cy="5400000"/>
          </a:xfrm>
        </p:spPr>
        <p:txBody>
          <a:bodyPr>
            <a:normAutofit/>
          </a:bodyPr>
          <a:lstStyle/>
          <a:p>
            <a:r>
              <a:rPr lang="zh-CN" altLang="en-US" dirty="0"/>
              <a:t>将一个项目分解为更多的工作细目或者子项目，使项目变得更小、更易管理、更易操作</a:t>
            </a:r>
            <a:endParaRPr lang="en-US" altLang="zh-CN" dirty="0"/>
          </a:p>
          <a:p>
            <a:r>
              <a:rPr lang="zh-CN" altLang="en-US" dirty="0"/>
              <a:t>产出：任务分解结构 </a:t>
            </a:r>
            <a:r>
              <a:rPr lang="en-US" altLang="zh-CN" dirty="0"/>
              <a:t>- Work Breakdown Structure</a:t>
            </a:r>
          </a:p>
          <a:p>
            <a:r>
              <a:rPr lang="en-US" altLang="zh-CN" dirty="0"/>
              <a:t>WBS </a:t>
            </a:r>
            <a:r>
              <a:rPr lang="zh-CN" altLang="en-US" dirty="0"/>
              <a:t>组织并定义整个项目范围；不在其中的，不是项目的工作</a:t>
            </a:r>
            <a:endParaRPr lang="en-US" altLang="zh-CN" dirty="0"/>
          </a:p>
          <a:p>
            <a:r>
              <a:rPr lang="en-US" altLang="zh-CN" dirty="0"/>
              <a:t>WBS </a:t>
            </a:r>
            <a:r>
              <a:rPr lang="zh-CN" altLang="en-US" dirty="0"/>
              <a:t>是对项目由粗到细的分解过程；分级的树形结构</a:t>
            </a:r>
          </a:p>
          <a:p>
            <a:r>
              <a:rPr lang="zh-CN" altLang="en-US" dirty="0"/>
              <a:t>面向交付成果的</a:t>
            </a:r>
            <a:endParaRPr lang="en-US" altLang="zh-CN" dirty="0"/>
          </a:p>
          <a:p>
            <a:r>
              <a:rPr lang="zh-CN" altLang="zh-CN" dirty="0"/>
              <a:t>实现目标的充分必要条件</a:t>
            </a:r>
            <a:endParaRPr lang="en-US" altLang="zh-CN" dirty="0"/>
          </a:p>
          <a:p>
            <a:r>
              <a:rPr lang="zh-CN" altLang="en-US" dirty="0"/>
              <a:t>要求</a:t>
            </a:r>
            <a:endParaRPr lang="en-US" altLang="zh-CN" dirty="0"/>
          </a:p>
          <a:p>
            <a:pPr lvl="1"/>
            <a:r>
              <a:rPr lang="zh-CN" altLang="en-US" dirty="0"/>
              <a:t>一个清晰的任务完成</a:t>
            </a:r>
            <a:endParaRPr lang="en-US" altLang="zh-CN" dirty="0"/>
          </a:p>
          <a:p>
            <a:pPr lvl="1"/>
            <a:r>
              <a:rPr lang="zh-CN" altLang="en-US" dirty="0"/>
              <a:t>一个清晰的责任人；唯一主体负责</a:t>
            </a:r>
            <a:endParaRPr lang="en-US" altLang="zh-CN" dirty="0"/>
          </a:p>
          <a:p>
            <a:pPr lvl="1"/>
            <a:r>
              <a:rPr lang="zh-CN" altLang="en-US" dirty="0"/>
              <a:t>能够估算工期和工作量</a:t>
            </a:r>
            <a:endParaRPr lang="en-US" altLang="zh-CN" dirty="0"/>
          </a:p>
          <a:p>
            <a:pPr lvl="1"/>
            <a:r>
              <a:rPr lang="zh-CN" altLang="en-US" dirty="0"/>
              <a:t>可控制风险</a:t>
            </a:r>
            <a:endParaRPr lang="en-US" altLang="zh-CN" dirty="0"/>
          </a:p>
          <a:p>
            <a:pPr lvl="1"/>
            <a:r>
              <a:rPr lang="zh-CN" altLang="en-US" dirty="0"/>
              <a:t>可追踪</a:t>
            </a:r>
          </a:p>
          <a:p>
            <a:endParaRPr lang="zh-CN" altLang="en-US" dirty="0"/>
          </a:p>
        </p:txBody>
      </p:sp>
      <p:sp>
        <p:nvSpPr>
          <p:cNvPr id="5" name="文本占位符 4">
            <a:extLst>
              <a:ext uri="{FF2B5EF4-FFF2-40B4-BE49-F238E27FC236}">
                <a16:creationId xmlns:a16="http://schemas.microsoft.com/office/drawing/2014/main" id="{94980562-B85C-0543-137D-B269936AFC23}"/>
              </a:ext>
            </a:extLst>
          </p:cNvPr>
          <p:cNvSpPr>
            <a:spLocks noGrp="1"/>
          </p:cNvSpPr>
          <p:nvPr>
            <p:ph type="body" sz="quarter" idx="10"/>
          </p:nvPr>
        </p:nvSpPr>
        <p:spPr>
          <a:xfrm>
            <a:off x="7071919" y="448519"/>
            <a:ext cx="4424080" cy="338554"/>
          </a:xfrm>
        </p:spPr>
        <p:txBody>
          <a:bodyPr/>
          <a:lstStyle/>
          <a:p>
            <a:r>
              <a:rPr lang="en-US" altLang="zh-CN"/>
              <a:t>WBS</a:t>
            </a:r>
            <a:endParaRPr lang="zh-CN" altLang="en-US"/>
          </a:p>
        </p:txBody>
      </p:sp>
    </p:spTree>
    <p:extLst>
      <p:ext uri="{BB962C8B-B14F-4D97-AF65-F5344CB8AC3E}">
        <p14:creationId xmlns:p14="http://schemas.microsoft.com/office/powerpoint/2010/main" val="1100199901"/>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6AAD4-0394-F886-559F-9845A6D7FC2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B07EACB3-829D-A67A-3E40-ABF7E579A8B9}"/>
              </a:ext>
            </a:extLst>
          </p:cNvPr>
          <p:cNvSpPr>
            <a:spLocks noGrp="1"/>
          </p:cNvSpPr>
          <p:nvPr>
            <p:ph type="title"/>
          </p:nvPr>
        </p:nvSpPr>
        <p:spPr>
          <a:xfrm>
            <a:off x="792000" y="360000"/>
            <a:ext cx="6375921" cy="429413"/>
          </a:xfrm>
        </p:spPr>
        <p:txBody>
          <a:bodyPr/>
          <a:lstStyle/>
          <a:p>
            <a:r>
              <a:rPr lang="en-US" altLang="zh-CN" dirty="0"/>
              <a:t>5.1 </a:t>
            </a:r>
            <a:r>
              <a:rPr lang="zh-CN" altLang="en-US" dirty="0"/>
              <a:t>工作包</a:t>
            </a:r>
          </a:p>
        </p:txBody>
      </p:sp>
      <p:sp>
        <p:nvSpPr>
          <p:cNvPr id="4" name="内容占位符 3">
            <a:extLst>
              <a:ext uri="{FF2B5EF4-FFF2-40B4-BE49-F238E27FC236}">
                <a16:creationId xmlns:a16="http://schemas.microsoft.com/office/drawing/2014/main" id="{180A6710-EF77-2D05-D79D-7E163EA01FFB}"/>
              </a:ext>
            </a:extLst>
          </p:cNvPr>
          <p:cNvSpPr>
            <a:spLocks noGrp="1"/>
          </p:cNvSpPr>
          <p:nvPr>
            <p:ph idx="1"/>
          </p:nvPr>
        </p:nvSpPr>
        <p:spPr>
          <a:xfrm>
            <a:off x="696000" y="864000"/>
            <a:ext cx="10800000" cy="5400000"/>
          </a:xfrm>
        </p:spPr>
        <p:txBody>
          <a:bodyPr>
            <a:normAutofit/>
          </a:bodyPr>
          <a:lstStyle/>
          <a:p>
            <a:r>
              <a:rPr lang="en-US" altLang="zh-CN" dirty="0"/>
              <a:t>WBS</a:t>
            </a:r>
            <a:r>
              <a:rPr lang="zh-CN" altLang="en-US" dirty="0"/>
              <a:t>的最小元素</a:t>
            </a:r>
            <a:endParaRPr lang="en-US" altLang="zh-CN" dirty="0"/>
          </a:p>
          <a:p>
            <a:r>
              <a:rPr lang="zh-CN" altLang="en-US" dirty="0"/>
              <a:t>分配编码 </a:t>
            </a:r>
            <a:r>
              <a:rPr lang="en-US" altLang="zh-CN" dirty="0"/>
              <a:t>Code of Accounts</a:t>
            </a:r>
          </a:p>
          <a:p>
            <a:r>
              <a:rPr lang="zh-CN" altLang="en-US" dirty="0"/>
              <a:t>可再分解为活动 </a:t>
            </a:r>
            <a:r>
              <a:rPr lang="en-US" altLang="zh-CN" dirty="0"/>
              <a:t>Activities</a:t>
            </a:r>
          </a:p>
          <a:p>
            <a:endParaRPr lang="zh-CN" altLang="en-US" dirty="0"/>
          </a:p>
        </p:txBody>
      </p:sp>
      <p:sp>
        <p:nvSpPr>
          <p:cNvPr id="5" name="文本占位符 4">
            <a:extLst>
              <a:ext uri="{FF2B5EF4-FFF2-40B4-BE49-F238E27FC236}">
                <a16:creationId xmlns:a16="http://schemas.microsoft.com/office/drawing/2014/main" id="{56B500BC-6D3E-0CB0-548A-89DD4B1B91C3}"/>
              </a:ext>
            </a:extLst>
          </p:cNvPr>
          <p:cNvSpPr>
            <a:spLocks noGrp="1"/>
          </p:cNvSpPr>
          <p:nvPr>
            <p:ph type="body" sz="quarter" idx="10"/>
          </p:nvPr>
        </p:nvSpPr>
        <p:spPr>
          <a:xfrm>
            <a:off x="7071919" y="448519"/>
            <a:ext cx="4424080" cy="338554"/>
          </a:xfrm>
        </p:spPr>
        <p:txBody>
          <a:bodyPr/>
          <a:lstStyle/>
          <a:p>
            <a:r>
              <a:rPr lang="en-US" altLang="zh-CN" dirty="0"/>
              <a:t>Package/WBS</a:t>
            </a:r>
            <a:endParaRPr lang="zh-CN" altLang="en-US" dirty="0"/>
          </a:p>
        </p:txBody>
      </p:sp>
      <p:sp>
        <p:nvSpPr>
          <p:cNvPr id="2" name="矩形 1">
            <a:extLst>
              <a:ext uri="{FF2B5EF4-FFF2-40B4-BE49-F238E27FC236}">
                <a16:creationId xmlns:a16="http://schemas.microsoft.com/office/drawing/2014/main" id="{E0B3CEA0-D4E6-1521-A065-7DBA3BA30296}"/>
              </a:ext>
            </a:extLst>
          </p:cNvPr>
          <p:cNvSpPr/>
          <p:nvPr/>
        </p:nvSpPr>
        <p:spPr>
          <a:xfrm>
            <a:off x="5376001" y="3456884"/>
            <a:ext cx="1440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tx1"/>
                </a:solidFill>
              </a:rPr>
              <a:t>System </a:t>
            </a:r>
            <a:r>
              <a:rPr lang="en-US" altLang="zh-CN" sz="1400" dirty="0">
                <a:solidFill>
                  <a:schemeClr val="tx1"/>
                </a:solidFill>
              </a:rPr>
              <a:t>1</a:t>
            </a:r>
            <a:endParaRPr lang="zh-CN" altLang="en-US" sz="1400" dirty="0">
              <a:solidFill>
                <a:schemeClr val="tx1"/>
              </a:solidFill>
            </a:endParaRPr>
          </a:p>
        </p:txBody>
      </p:sp>
      <p:sp>
        <p:nvSpPr>
          <p:cNvPr id="6" name="矩形 5">
            <a:extLst>
              <a:ext uri="{FF2B5EF4-FFF2-40B4-BE49-F238E27FC236}">
                <a16:creationId xmlns:a16="http://schemas.microsoft.com/office/drawing/2014/main" id="{0248793D-ADF8-C09E-1C29-CC06B765F425}"/>
              </a:ext>
            </a:extLst>
          </p:cNvPr>
          <p:cNvSpPr/>
          <p:nvPr/>
        </p:nvSpPr>
        <p:spPr>
          <a:xfrm>
            <a:off x="1831471" y="4489271"/>
            <a:ext cx="1584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tx1"/>
                </a:solidFill>
              </a:rPr>
              <a:t>Sub-system </a:t>
            </a:r>
            <a:r>
              <a:rPr lang="en-US" altLang="zh-CN" sz="1400" dirty="0">
                <a:solidFill>
                  <a:schemeClr val="tx1"/>
                </a:solidFill>
              </a:rPr>
              <a:t>1.1</a:t>
            </a:r>
            <a:endParaRPr lang="zh-CN" altLang="en-US" sz="1400" dirty="0">
              <a:solidFill>
                <a:schemeClr val="tx1"/>
              </a:solidFill>
            </a:endParaRPr>
          </a:p>
        </p:txBody>
      </p:sp>
      <p:sp>
        <p:nvSpPr>
          <p:cNvPr id="7" name="矩形 6">
            <a:extLst>
              <a:ext uri="{FF2B5EF4-FFF2-40B4-BE49-F238E27FC236}">
                <a16:creationId xmlns:a16="http://schemas.microsoft.com/office/drawing/2014/main" id="{9925C802-A79E-1F9A-33AF-D1A36B1B5B84}"/>
              </a:ext>
            </a:extLst>
          </p:cNvPr>
          <p:cNvSpPr/>
          <p:nvPr/>
        </p:nvSpPr>
        <p:spPr>
          <a:xfrm>
            <a:off x="5304001" y="4494722"/>
            <a:ext cx="1584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tx1"/>
                </a:solidFill>
              </a:rPr>
              <a:t>Sub-system </a:t>
            </a:r>
            <a:r>
              <a:rPr lang="en-US" altLang="zh-CN" sz="1400" dirty="0">
                <a:solidFill>
                  <a:schemeClr val="tx1"/>
                </a:solidFill>
              </a:rPr>
              <a:t>1.2</a:t>
            </a:r>
            <a:endParaRPr lang="zh-CN" altLang="en-US" sz="1400" dirty="0">
              <a:solidFill>
                <a:schemeClr val="tx1"/>
              </a:solidFill>
            </a:endParaRPr>
          </a:p>
        </p:txBody>
      </p:sp>
      <p:sp>
        <p:nvSpPr>
          <p:cNvPr id="8" name="矩形 7">
            <a:extLst>
              <a:ext uri="{FF2B5EF4-FFF2-40B4-BE49-F238E27FC236}">
                <a16:creationId xmlns:a16="http://schemas.microsoft.com/office/drawing/2014/main" id="{F3B94F11-046A-44CF-1C66-52B33B34E1CA}"/>
              </a:ext>
            </a:extLst>
          </p:cNvPr>
          <p:cNvSpPr/>
          <p:nvPr/>
        </p:nvSpPr>
        <p:spPr>
          <a:xfrm>
            <a:off x="8776530" y="4489271"/>
            <a:ext cx="1584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tx1"/>
                </a:solidFill>
              </a:rPr>
              <a:t>Sub-system </a:t>
            </a:r>
            <a:r>
              <a:rPr lang="en-US" altLang="zh-CN" sz="1400" dirty="0">
                <a:solidFill>
                  <a:schemeClr val="tx1"/>
                </a:solidFill>
              </a:rPr>
              <a:t>1.3</a:t>
            </a:r>
            <a:endParaRPr lang="zh-CN" altLang="en-US" sz="1400" dirty="0">
              <a:solidFill>
                <a:schemeClr val="tx1"/>
              </a:solidFill>
            </a:endParaRPr>
          </a:p>
        </p:txBody>
      </p:sp>
      <p:sp>
        <p:nvSpPr>
          <p:cNvPr id="25" name="矩形 24">
            <a:extLst>
              <a:ext uri="{FF2B5EF4-FFF2-40B4-BE49-F238E27FC236}">
                <a16:creationId xmlns:a16="http://schemas.microsoft.com/office/drawing/2014/main" id="{3FA91D77-A18E-5E36-AD6F-CE3398977DD9}"/>
              </a:ext>
            </a:extLst>
          </p:cNvPr>
          <p:cNvSpPr/>
          <p:nvPr/>
        </p:nvSpPr>
        <p:spPr>
          <a:xfrm>
            <a:off x="604459" y="5616736"/>
            <a:ext cx="1260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tx1"/>
                </a:solidFill>
              </a:rPr>
              <a:t>Module </a:t>
            </a:r>
            <a:r>
              <a:rPr lang="en-US" altLang="zh-CN" sz="1400" dirty="0">
                <a:solidFill>
                  <a:schemeClr val="tx1"/>
                </a:solidFill>
              </a:rPr>
              <a:t>1.1.1</a:t>
            </a:r>
            <a:endParaRPr lang="zh-CN" altLang="en-US" sz="1400" dirty="0">
              <a:solidFill>
                <a:schemeClr val="tx1"/>
              </a:solidFill>
            </a:endParaRPr>
          </a:p>
        </p:txBody>
      </p:sp>
      <p:sp>
        <p:nvSpPr>
          <p:cNvPr id="26" name="矩形 25">
            <a:extLst>
              <a:ext uri="{FF2B5EF4-FFF2-40B4-BE49-F238E27FC236}">
                <a16:creationId xmlns:a16="http://schemas.microsoft.com/office/drawing/2014/main" id="{51A6AB56-4198-3952-562F-A672C9169F61}"/>
              </a:ext>
            </a:extLst>
          </p:cNvPr>
          <p:cNvSpPr/>
          <p:nvPr/>
        </p:nvSpPr>
        <p:spPr>
          <a:xfrm>
            <a:off x="1993471" y="5616736"/>
            <a:ext cx="1260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tx1"/>
                </a:solidFill>
              </a:rPr>
              <a:t>Module </a:t>
            </a:r>
            <a:r>
              <a:rPr lang="en-US" altLang="zh-CN" sz="1400" dirty="0">
                <a:solidFill>
                  <a:schemeClr val="tx1"/>
                </a:solidFill>
              </a:rPr>
              <a:t>1.1.2</a:t>
            </a:r>
            <a:endParaRPr lang="zh-CN" altLang="en-US" sz="1400" dirty="0">
              <a:solidFill>
                <a:schemeClr val="tx1"/>
              </a:solidFill>
            </a:endParaRPr>
          </a:p>
        </p:txBody>
      </p:sp>
      <p:sp>
        <p:nvSpPr>
          <p:cNvPr id="29" name="矩形 28">
            <a:extLst>
              <a:ext uri="{FF2B5EF4-FFF2-40B4-BE49-F238E27FC236}">
                <a16:creationId xmlns:a16="http://schemas.microsoft.com/office/drawing/2014/main" id="{746D7446-A9F1-484E-24EC-F381C90C36D0}"/>
              </a:ext>
            </a:extLst>
          </p:cNvPr>
          <p:cNvSpPr/>
          <p:nvPr/>
        </p:nvSpPr>
        <p:spPr>
          <a:xfrm>
            <a:off x="3382483" y="5616736"/>
            <a:ext cx="1260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tx1"/>
                </a:solidFill>
              </a:rPr>
              <a:t>Module </a:t>
            </a:r>
            <a:r>
              <a:rPr lang="en-US" altLang="zh-CN" sz="1400" dirty="0">
                <a:solidFill>
                  <a:schemeClr val="tx1"/>
                </a:solidFill>
              </a:rPr>
              <a:t>1.1.3</a:t>
            </a:r>
            <a:endParaRPr lang="zh-CN" altLang="en-US" sz="1400" dirty="0">
              <a:solidFill>
                <a:schemeClr val="tx1"/>
              </a:solidFill>
            </a:endParaRPr>
          </a:p>
        </p:txBody>
      </p:sp>
      <p:sp>
        <p:nvSpPr>
          <p:cNvPr id="31" name="矩形 30">
            <a:extLst>
              <a:ext uri="{FF2B5EF4-FFF2-40B4-BE49-F238E27FC236}">
                <a16:creationId xmlns:a16="http://schemas.microsoft.com/office/drawing/2014/main" id="{BD32B9D6-B5DF-902A-B4C4-F42CEF2BD905}"/>
              </a:ext>
            </a:extLst>
          </p:cNvPr>
          <p:cNvSpPr/>
          <p:nvPr/>
        </p:nvSpPr>
        <p:spPr>
          <a:xfrm>
            <a:off x="4771495" y="5616736"/>
            <a:ext cx="1260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tx1"/>
                </a:solidFill>
              </a:rPr>
              <a:t>Module </a:t>
            </a:r>
            <a:r>
              <a:rPr lang="en-US" altLang="zh-CN" sz="1400" dirty="0">
                <a:solidFill>
                  <a:schemeClr val="tx1"/>
                </a:solidFill>
              </a:rPr>
              <a:t>1.2.1</a:t>
            </a:r>
            <a:endParaRPr lang="zh-CN" altLang="en-US" sz="1400" dirty="0">
              <a:solidFill>
                <a:schemeClr val="tx1"/>
              </a:solidFill>
            </a:endParaRPr>
          </a:p>
        </p:txBody>
      </p:sp>
      <p:sp>
        <p:nvSpPr>
          <p:cNvPr id="35" name="矩形 34">
            <a:extLst>
              <a:ext uri="{FF2B5EF4-FFF2-40B4-BE49-F238E27FC236}">
                <a16:creationId xmlns:a16="http://schemas.microsoft.com/office/drawing/2014/main" id="{3B77AFBD-A295-986F-E851-A26C72D58020}"/>
              </a:ext>
            </a:extLst>
          </p:cNvPr>
          <p:cNvSpPr/>
          <p:nvPr/>
        </p:nvSpPr>
        <p:spPr>
          <a:xfrm>
            <a:off x="6160507" y="5616736"/>
            <a:ext cx="1260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tx1"/>
                </a:solidFill>
              </a:rPr>
              <a:t>Module </a:t>
            </a:r>
            <a:r>
              <a:rPr lang="en-US" altLang="zh-CN" sz="1400" dirty="0">
                <a:solidFill>
                  <a:schemeClr val="tx1"/>
                </a:solidFill>
              </a:rPr>
              <a:t>1.2.2</a:t>
            </a:r>
            <a:endParaRPr lang="zh-CN" altLang="en-US" sz="1400" dirty="0">
              <a:solidFill>
                <a:schemeClr val="tx1"/>
              </a:solidFill>
            </a:endParaRPr>
          </a:p>
        </p:txBody>
      </p:sp>
      <p:sp>
        <p:nvSpPr>
          <p:cNvPr id="38" name="矩形 37">
            <a:extLst>
              <a:ext uri="{FF2B5EF4-FFF2-40B4-BE49-F238E27FC236}">
                <a16:creationId xmlns:a16="http://schemas.microsoft.com/office/drawing/2014/main" id="{78D0918E-C553-9B85-3EFB-F29B95FD9758}"/>
              </a:ext>
            </a:extLst>
          </p:cNvPr>
          <p:cNvSpPr/>
          <p:nvPr/>
        </p:nvSpPr>
        <p:spPr>
          <a:xfrm>
            <a:off x="7549519" y="5616736"/>
            <a:ext cx="1260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tx1"/>
                </a:solidFill>
              </a:rPr>
              <a:t>Module </a:t>
            </a:r>
            <a:r>
              <a:rPr lang="en-US" altLang="zh-CN" sz="1400" dirty="0">
                <a:solidFill>
                  <a:schemeClr val="tx1"/>
                </a:solidFill>
              </a:rPr>
              <a:t>1.3.1</a:t>
            </a:r>
            <a:endParaRPr lang="zh-CN" altLang="en-US" sz="1400" dirty="0">
              <a:solidFill>
                <a:schemeClr val="tx1"/>
              </a:solidFill>
            </a:endParaRPr>
          </a:p>
        </p:txBody>
      </p:sp>
      <p:sp>
        <p:nvSpPr>
          <p:cNvPr id="39" name="矩形 38">
            <a:extLst>
              <a:ext uri="{FF2B5EF4-FFF2-40B4-BE49-F238E27FC236}">
                <a16:creationId xmlns:a16="http://schemas.microsoft.com/office/drawing/2014/main" id="{6CE60A99-3801-586A-8690-069BFD9CAC63}"/>
              </a:ext>
            </a:extLst>
          </p:cNvPr>
          <p:cNvSpPr/>
          <p:nvPr/>
        </p:nvSpPr>
        <p:spPr>
          <a:xfrm>
            <a:off x="8938531" y="5616736"/>
            <a:ext cx="1260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tx1"/>
                </a:solidFill>
              </a:rPr>
              <a:t>Module </a:t>
            </a:r>
            <a:r>
              <a:rPr lang="en-US" altLang="zh-CN" sz="1400" dirty="0">
                <a:solidFill>
                  <a:schemeClr val="tx1"/>
                </a:solidFill>
              </a:rPr>
              <a:t>1.3.2</a:t>
            </a:r>
            <a:endParaRPr lang="zh-CN" altLang="en-US" sz="1400" dirty="0">
              <a:solidFill>
                <a:schemeClr val="tx1"/>
              </a:solidFill>
            </a:endParaRPr>
          </a:p>
        </p:txBody>
      </p:sp>
      <p:sp>
        <p:nvSpPr>
          <p:cNvPr id="40" name="矩形 39">
            <a:extLst>
              <a:ext uri="{FF2B5EF4-FFF2-40B4-BE49-F238E27FC236}">
                <a16:creationId xmlns:a16="http://schemas.microsoft.com/office/drawing/2014/main" id="{5B9B3F34-E7EC-0475-B573-6C3EEAADC33F}"/>
              </a:ext>
            </a:extLst>
          </p:cNvPr>
          <p:cNvSpPr/>
          <p:nvPr/>
        </p:nvSpPr>
        <p:spPr>
          <a:xfrm>
            <a:off x="10327541" y="5616736"/>
            <a:ext cx="1260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tx1"/>
                </a:solidFill>
              </a:rPr>
              <a:t>Module </a:t>
            </a:r>
            <a:r>
              <a:rPr lang="en-US" altLang="zh-CN" sz="1400" dirty="0">
                <a:solidFill>
                  <a:schemeClr val="tx1"/>
                </a:solidFill>
              </a:rPr>
              <a:t>1.3.3</a:t>
            </a:r>
            <a:endParaRPr lang="zh-CN" altLang="en-US" sz="1400" dirty="0">
              <a:solidFill>
                <a:schemeClr val="tx1"/>
              </a:solidFill>
            </a:endParaRPr>
          </a:p>
        </p:txBody>
      </p:sp>
      <p:cxnSp>
        <p:nvCxnSpPr>
          <p:cNvPr id="42" name="连接符: 肘形 41">
            <a:extLst>
              <a:ext uri="{FF2B5EF4-FFF2-40B4-BE49-F238E27FC236}">
                <a16:creationId xmlns:a16="http://schemas.microsoft.com/office/drawing/2014/main" id="{86E53818-E905-DB23-13BB-E105E35C95DF}"/>
              </a:ext>
            </a:extLst>
          </p:cNvPr>
          <p:cNvCxnSpPr>
            <a:stCxn id="25" idx="0"/>
            <a:endCxn id="6" idx="2"/>
          </p:cNvCxnSpPr>
          <p:nvPr/>
        </p:nvCxnSpPr>
        <p:spPr>
          <a:xfrm rot="5400000" flipH="1" flipV="1">
            <a:off x="1581233" y="4574498"/>
            <a:ext cx="695465" cy="1389012"/>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4" name="连接符: 肘形 43">
            <a:extLst>
              <a:ext uri="{FF2B5EF4-FFF2-40B4-BE49-F238E27FC236}">
                <a16:creationId xmlns:a16="http://schemas.microsoft.com/office/drawing/2014/main" id="{4370C3FD-4D1C-608C-8718-21E7EEE87372}"/>
              </a:ext>
            </a:extLst>
          </p:cNvPr>
          <p:cNvCxnSpPr>
            <a:stCxn id="29" idx="0"/>
            <a:endCxn id="6" idx="2"/>
          </p:cNvCxnSpPr>
          <p:nvPr/>
        </p:nvCxnSpPr>
        <p:spPr>
          <a:xfrm rot="16200000" flipV="1">
            <a:off x="2970245" y="4574498"/>
            <a:ext cx="695465" cy="1389012"/>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F5FD153F-0D26-2B24-A430-8033C949BBDB}"/>
              </a:ext>
            </a:extLst>
          </p:cNvPr>
          <p:cNvCxnSpPr>
            <a:stCxn id="26" idx="0"/>
            <a:endCxn id="6" idx="2"/>
          </p:cNvCxnSpPr>
          <p:nvPr/>
        </p:nvCxnSpPr>
        <p:spPr>
          <a:xfrm flipV="1">
            <a:off x="2623471" y="4921271"/>
            <a:ext cx="0" cy="695465"/>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0" name="连接符: 肘形 49">
            <a:extLst>
              <a:ext uri="{FF2B5EF4-FFF2-40B4-BE49-F238E27FC236}">
                <a16:creationId xmlns:a16="http://schemas.microsoft.com/office/drawing/2014/main" id="{D558E296-38F1-5AA3-50AA-571A74E5D652}"/>
              </a:ext>
            </a:extLst>
          </p:cNvPr>
          <p:cNvCxnSpPr>
            <a:stCxn id="7" idx="2"/>
            <a:endCxn id="31" idx="0"/>
          </p:cNvCxnSpPr>
          <p:nvPr/>
        </p:nvCxnSpPr>
        <p:spPr>
          <a:xfrm rot="5400000">
            <a:off x="5403741" y="4924476"/>
            <a:ext cx="690014" cy="694506"/>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2" name="连接符: 肘形 51">
            <a:extLst>
              <a:ext uri="{FF2B5EF4-FFF2-40B4-BE49-F238E27FC236}">
                <a16:creationId xmlns:a16="http://schemas.microsoft.com/office/drawing/2014/main" id="{BFB94CF6-5BB5-DAB1-1430-3DB7A70B6B70}"/>
              </a:ext>
            </a:extLst>
          </p:cNvPr>
          <p:cNvCxnSpPr>
            <a:stCxn id="35" idx="0"/>
            <a:endCxn id="7" idx="2"/>
          </p:cNvCxnSpPr>
          <p:nvPr/>
        </p:nvCxnSpPr>
        <p:spPr>
          <a:xfrm rot="16200000" flipV="1">
            <a:off x="6098247" y="4924476"/>
            <a:ext cx="690014" cy="694506"/>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4" name="连接符: 肘形 53">
            <a:extLst>
              <a:ext uri="{FF2B5EF4-FFF2-40B4-BE49-F238E27FC236}">
                <a16:creationId xmlns:a16="http://schemas.microsoft.com/office/drawing/2014/main" id="{9BE8A740-16EA-05A6-9BD5-465026078A41}"/>
              </a:ext>
            </a:extLst>
          </p:cNvPr>
          <p:cNvCxnSpPr>
            <a:stCxn id="8" idx="2"/>
            <a:endCxn id="38" idx="0"/>
          </p:cNvCxnSpPr>
          <p:nvPr/>
        </p:nvCxnSpPr>
        <p:spPr>
          <a:xfrm rot="5400000">
            <a:off x="8526293" y="4574498"/>
            <a:ext cx="695465" cy="1389011"/>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6" name="连接符: 肘形 55">
            <a:extLst>
              <a:ext uri="{FF2B5EF4-FFF2-40B4-BE49-F238E27FC236}">
                <a16:creationId xmlns:a16="http://schemas.microsoft.com/office/drawing/2014/main" id="{284B358E-E75C-8C00-FA95-125C00898843}"/>
              </a:ext>
            </a:extLst>
          </p:cNvPr>
          <p:cNvCxnSpPr>
            <a:stCxn id="40" idx="0"/>
            <a:endCxn id="8" idx="2"/>
          </p:cNvCxnSpPr>
          <p:nvPr/>
        </p:nvCxnSpPr>
        <p:spPr>
          <a:xfrm rot="16200000" flipV="1">
            <a:off x="9915304" y="4574498"/>
            <a:ext cx="695465" cy="1389011"/>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A4C4E599-F8D8-F698-5560-265228F94BD3}"/>
              </a:ext>
            </a:extLst>
          </p:cNvPr>
          <p:cNvCxnSpPr>
            <a:stCxn id="39" idx="0"/>
            <a:endCxn id="8" idx="2"/>
          </p:cNvCxnSpPr>
          <p:nvPr/>
        </p:nvCxnSpPr>
        <p:spPr>
          <a:xfrm flipH="1" flipV="1">
            <a:off x="9568530" y="4921271"/>
            <a:ext cx="1" cy="695465"/>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F07779C5-B4C2-1AC4-ECC7-8133B3A97F4B}"/>
              </a:ext>
            </a:extLst>
          </p:cNvPr>
          <p:cNvCxnSpPr>
            <a:stCxn id="2" idx="2"/>
            <a:endCxn id="7" idx="0"/>
          </p:cNvCxnSpPr>
          <p:nvPr/>
        </p:nvCxnSpPr>
        <p:spPr>
          <a:xfrm>
            <a:off x="6096001" y="3888884"/>
            <a:ext cx="0" cy="605838"/>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2" name="连接符: 肘形 61">
            <a:extLst>
              <a:ext uri="{FF2B5EF4-FFF2-40B4-BE49-F238E27FC236}">
                <a16:creationId xmlns:a16="http://schemas.microsoft.com/office/drawing/2014/main" id="{D8AD8577-E79D-B375-7629-AE91BF396781}"/>
              </a:ext>
            </a:extLst>
          </p:cNvPr>
          <p:cNvCxnSpPr>
            <a:stCxn id="6" idx="0"/>
            <a:endCxn id="2" idx="2"/>
          </p:cNvCxnSpPr>
          <p:nvPr/>
        </p:nvCxnSpPr>
        <p:spPr>
          <a:xfrm rot="5400000" flipH="1" flipV="1">
            <a:off x="4059543" y="2452813"/>
            <a:ext cx="600387" cy="3472530"/>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4" name="连接符: 肘形 63">
            <a:extLst>
              <a:ext uri="{FF2B5EF4-FFF2-40B4-BE49-F238E27FC236}">
                <a16:creationId xmlns:a16="http://schemas.microsoft.com/office/drawing/2014/main" id="{9963E1AA-5213-ADC0-8746-F13FF95DA092}"/>
              </a:ext>
            </a:extLst>
          </p:cNvPr>
          <p:cNvCxnSpPr>
            <a:stCxn id="8" idx="0"/>
            <a:endCxn id="2" idx="2"/>
          </p:cNvCxnSpPr>
          <p:nvPr/>
        </p:nvCxnSpPr>
        <p:spPr>
          <a:xfrm rot="16200000" flipV="1">
            <a:off x="7532073" y="2452813"/>
            <a:ext cx="600387" cy="3472529"/>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2362052"/>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2E65E-20A2-FFF4-9F1B-82FBDB76AD9B}"/>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AC5DF0D-D19B-AB08-BF17-1B3314E897B0}"/>
              </a:ext>
            </a:extLst>
          </p:cNvPr>
          <p:cNvSpPr>
            <a:spLocks noGrp="1"/>
          </p:cNvSpPr>
          <p:nvPr>
            <p:ph type="title"/>
          </p:nvPr>
        </p:nvSpPr>
        <p:spPr>
          <a:xfrm>
            <a:off x="792000" y="360000"/>
            <a:ext cx="6375921" cy="429413"/>
          </a:xfrm>
        </p:spPr>
        <p:txBody>
          <a:bodyPr/>
          <a:lstStyle/>
          <a:p>
            <a:r>
              <a:rPr lang="en-US" altLang="zh-CN" dirty="0"/>
              <a:t>5.2 </a:t>
            </a:r>
            <a:r>
              <a:rPr lang="zh-CN" altLang="en-US" dirty="0"/>
              <a:t>任务分解形式</a:t>
            </a:r>
          </a:p>
        </p:txBody>
      </p:sp>
      <p:sp>
        <p:nvSpPr>
          <p:cNvPr id="4" name="内容占位符 3">
            <a:extLst>
              <a:ext uri="{FF2B5EF4-FFF2-40B4-BE49-F238E27FC236}">
                <a16:creationId xmlns:a16="http://schemas.microsoft.com/office/drawing/2014/main" id="{8C649B73-5F64-AD3E-4091-D7FB0DD6C3B3}"/>
              </a:ext>
            </a:extLst>
          </p:cNvPr>
          <p:cNvSpPr>
            <a:spLocks noGrp="1"/>
          </p:cNvSpPr>
          <p:nvPr>
            <p:ph idx="1"/>
          </p:nvPr>
        </p:nvSpPr>
        <p:spPr>
          <a:xfrm>
            <a:off x="696000" y="864000"/>
            <a:ext cx="10800000" cy="5400000"/>
          </a:xfrm>
        </p:spPr>
        <p:txBody>
          <a:bodyPr>
            <a:normAutofit/>
          </a:bodyPr>
          <a:lstStyle/>
          <a:p>
            <a:r>
              <a:rPr lang="zh-CN" altLang="en-US" dirty="0"/>
              <a:t>提纲式</a:t>
            </a:r>
            <a:endParaRPr lang="en-US" altLang="zh-CN" dirty="0"/>
          </a:p>
          <a:p>
            <a:pPr lvl="1"/>
            <a:r>
              <a:rPr lang="zh-CN" altLang="en-US" dirty="0"/>
              <a:t>清单式</a:t>
            </a:r>
            <a:endParaRPr lang="en-US" altLang="zh-CN" dirty="0"/>
          </a:p>
          <a:p>
            <a:pPr lvl="1"/>
            <a:r>
              <a:rPr lang="zh-CN" altLang="en-US" dirty="0"/>
              <a:t>目录式</a:t>
            </a:r>
            <a:endParaRPr lang="en-US" altLang="zh-CN" dirty="0"/>
          </a:p>
          <a:p>
            <a:pPr lvl="1"/>
            <a:r>
              <a:rPr lang="zh-CN" altLang="en-US" dirty="0"/>
              <a:t>以功能为单位</a:t>
            </a:r>
            <a:endParaRPr lang="en-US" altLang="zh-CN" dirty="0"/>
          </a:p>
          <a:p>
            <a:r>
              <a:rPr lang="zh-CN" altLang="en-US" dirty="0"/>
              <a:t>组织结构式</a:t>
            </a:r>
            <a:endParaRPr lang="en-US" altLang="zh-CN" dirty="0"/>
          </a:p>
          <a:p>
            <a:pPr lvl="1"/>
            <a:r>
              <a:rPr lang="zh-CN" altLang="en-US" dirty="0"/>
              <a:t>图表式</a:t>
            </a:r>
            <a:endParaRPr lang="en-US" altLang="zh-CN" dirty="0"/>
          </a:p>
          <a:p>
            <a:pPr lvl="1"/>
            <a:r>
              <a:rPr lang="zh-CN" altLang="en-US" dirty="0"/>
              <a:t>以组织为单位</a:t>
            </a:r>
            <a:endParaRPr lang="en-US" altLang="zh-CN" dirty="0"/>
          </a:p>
        </p:txBody>
      </p:sp>
      <p:sp>
        <p:nvSpPr>
          <p:cNvPr id="5" name="文本占位符 4">
            <a:extLst>
              <a:ext uri="{FF2B5EF4-FFF2-40B4-BE49-F238E27FC236}">
                <a16:creationId xmlns:a16="http://schemas.microsoft.com/office/drawing/2014/main" id="{649706B2-608E-1F7F-17F0-8152F171872B}"/>
              </a:ext>
            </a:extLst>
          </p:cNvPr>
          <p:cNvSpPr>
            <a:spLocks noGrp="1"/>
          </p:cNvSpPr>
          <p:nvPr>
            <p:ph type="body" sz="quarter" idx="10"/>
          </p:nvPr>
        </p:nvSpPr>
        <p:spPr>
          <a:xfrm>
            <a:off x="7071919" y="448519"/>
            <a:ext cx="4424080" cy="338554"/>
          </a:xfrm>
        </p:spPr>
        <p:txBody>
          <a:bodyPr/>
          <a:lstStyle/>
          <a:p>
            <a:r>
              <a:rPr lang="en-US" altLang="zh-CN"/>
              <a:t>Form/WBS</a:t>
            </a:r>
            <a:endParaRPr lang="zh-CN" altLang="en-US"/>
          </a:p>
        </p:txBody>
      </p:sp>
      <p:graphicFrame>
        <p:nvGraphicFramePr>
          <p:cNvPr id="6" name="表格 5">
            <a:extLst>
              <a:ext uri="{FF2B5EF4-FFF2-40B4-BE49-F238E27FC236}">
                <a16:creationId xmlns:a16="http://schemas.microsoft.com/office/drawing/2014/main" id="{B80B79C5-9B69-DBBE-868D-C347A96984D6}"/>
              </a:ext>
            </a:extLst>
          </p:cNvPr>
          <p:cNvGraphicFramePr>
            <a:graphicFrameLocks noGrp="1"/>
          </p:cNvGraphicFramePr>
          <p:nvPr>
            <p:extLst>
              <p:ext uri="{D42A27DB-BD31-4B8C-83A1-F6EECF244321}">
                <p14:modId xmlns:p14="http://schemas.microsoft.com/office/powerpoint/2010/main" val="2060203250"/>
              </p:ext>
            </p:extLst>
          </p:nvPr>
        </p:nvGraphicFramePr>
        <p:xfrm>
          <a:off x="6774426" y="3058160"/>
          <a:ext cx="3240000" cy="741680"/>
        </p:xfrm>
        <a:graphic>
          <a:graphicData uri="http://schemas.openxmlformats.org/drawingml/2006/table">
            <a:tbl>
              <a:tblPr firstRow="1" bandRow="1">
                <a:tableStyleId>{5C22544A-7EE6-4342-B048-85BDC9FD1C3A}</a:tableStyleId>
              </a:tblPr>
              <a:tblGrid>
                <a:gridCol w="1080000">
                  <a:extLst>
                    <a:ext uri="{9D8B030D-6E8A-4147-A177-3AD203B41FA5}">
                      <a16:colId xmlns:a16="http://schemas.microsoft.com/office/drawing/2014/main" val="3792251297"/>
                    </a:ext>
                  </a:extLst>
                </a:gridCol>
                <a:gridCol w="2160000">
                  <a:extLst>
                    <a:ext uri="{9D8B030D-6E8A-4147-A177-3AD203B41FA5}">
                      <a16:colId xmlns:a16="http://schemas.microsoft.com/office/drawing/2014/main" val="3139008361"/>
                    </a:ext>
                  </a:extLst>
                </a:gridCol>
              </a:tblGrid>
              <a:tr h="370840">
                <a:tc>
                  <a:txBody>
                    <a:bodyPr/>
                    <a:lstStyle/>
                    <a:p>
                      <a:pPr algn="l"/>
                      <a:r>
                        <a:rPr lang="en-US" altLang="zh-CN" sz="1800" b="0" dirty="0">
                          <a:solidFill>
                            <a:schemeClr val="tx1"/>
                          </a:solidFill>
                        </a:rPr>
                        <a:t>[Word]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zh-CN" altLang="en-US" sz="1800" b="0" dirty="0">
                          <a:solidFill>
                            <a:schemeClr val="tx1"/>
                          </a:solidFill>
                        </a:rPr>
                        <a:t>目录</a:t>
                      </a:r>
                      <a:endParaRPr lang="zh-CN"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2651324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0" dirty="0">
                          <a:solidFill>
                            <a:schemeClr val="tx1"/>
                          </a:solidFill>
                        </a:rPr>
                        <a:t>[PPT]</a:t>
                      </a:r>
                      <a:endParaRPr lang="zh-CN"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zh-CN" altLang="en-US" sz="1800" b="0" dirty="0">
                          <a:solidFill>
                            <a:schemeClr val="tx1"/>
                          </a:solidFill>
                        </a:rPr>
                        <a:t>组织结构图</a:t>
                      </a:r>
                      <a:endParaRPr lang="zh-CN"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7798265"/>
                  </a:ext>
                </a:extLst>
              </a:tr>
            </a:tbl>
          </a:graphicData>
        </a:graphic>
      </p:graphicFrame>
    </p:spTree>
    <p:extLst>
      <p:ext uri="{BB962C8B-B14F-4D97-AF65-F5344CB8AC3E}">
        <p14:creationId xmlns:p14="http://schemas.microsoft.com/office/powerpoint/2010/main" val="2105721731"/>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44019-4749-CEBE-A752-EF02E103C00C}"/>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8AF315B5-8E6C-49FE-121E-CE694DC05DB8}"/>
              </a:ext>
            </a:extLst>
          </p:cNvPr>
          <p:cNvSpPr>
            <a:spLocks noGrp="1"/>
          </p:cNvSpPr>
          <p:nvPr>
            <p:ph type="title"/>
          </p:nvPr>
        </p:nvSpPr>
        <p:spPr>
          <a:xfrm>
            <a:off x="792000" y="360000"/>
            <a:ext cx="6375921" cy="429413"/>
          </a:xfrm>
        </p:spPr>
        <p:txBody>
          <a:bodyPr/>
          <a:lstStyle/>
          <a:p>
            <a:r>
              <a:rPr lang="en-US" altLang="zh-CN" dirty="0"/>
              <a:t>5.3 </a:t>
            </a:r>
            <a:r>
              <a:rPr lang="zh-CN" altLang="en-US" dirty="0"/>
              <a:t>字典</a:t>
            </a:r>
          </a:p>
        </p:txBody>
      </p:sp>
      <p:sp>
        <p:nvSpPr>
          <p:cNvPr id="4" name="内容占位符 3">
            <a:extLst>
              <a:ext uri="{FF2B5EF4-FFF2-40B4-BE49-F238E27FC236}">
                <a16:creationId xmlns:a16="http://schemas.microsoft.com/office/drawing/2014/main" id="{1370D71E-53FC-4010-7709-93DD0CCDFC9A}"/>
              </a:ext>
            </a:extLst>
          </p:cNvPr>
          <p:cNvSpPr>
            <a:spLocks noGrp="1"/>
          </p:cNvSpPr>
          <p:nvPr>
            <p:ph idx="1"/>
          </p:nvPr>
        </p:nvSpPr>
        <p:spPr>
          <a:xfrm>
            <a:off x="696000" y="864000"/>
            <a:ext cx="10800000" cy="5400000"/>
          </a:xfrm>
        </p:spPr>
        <p:txBody>
          <a:bodyPr>
            <a:normAutofit/>
          </a:bodyPr>
          <a:lstStyle/>
          <a:p>
            <a:r>
              <a:rPr lang="zh-CN" altLang="en-US" dirty="0"/>
              <a:t>字典 </a:t>
            </a:r>
            <a:r>
              <a:rPr lang="en-US" altLang="zh-CN" dirty="0"/>
              <a:t>WBS Dictionary</a:t>
            </a:r>
          </a:p>
          <a:p>
            <a:r>
              <a:rPr lang="zh-CN" altLang="en-US" dirty="0"/>
              <a:t>对 </a:t>
            </a:r>
            <a:r>
              <a:rPr lang="en-US" altLang="zh-CN" dirty="0"/>
              <a:t>WBS </a:t>
            </a:r>
            <a:r>
              <a:rPr lang="zh-CN" altLang="en-US" dirty="0"/>
              <a:t>中的每一个工作包进行详细的文字描述和定义，确保所有项目成员对“这项工作具体包含什么”有统一、清晰的理解</a:t>
            </a:r>
            <a:endParaRPr lang="en-US" altLang="zh-CN" dirty="0"/>
          </a:p>
          <a:p>
            <a:r>
              <a:rPr lang="zh-CN" altLang="en-US" dirty="0"/>
              <a:t>基本要素</a:t>
            </a:r>
            <a:endParaRPr lang="en-US" altLang="zh-CN" dirty="0"/>
          </a:p>
          <a:p>
            <a:pPr lvl="1"/>
            <a:r>
              <a:rPr lang="zh-CN" altLang="en-US" dirty="0"/>
              <a:t>编码： 对应 </a:t>
            </a:r>
            <a:r>
              <a:rPr lang="en-US" altLang="zh-CN" dirty="0"/>
              <a:t>WBS </a:t>
            </a:r>
            <a:r>
              <a:rPr lang="zh-CN" altLang="en-US" dirty="0"/>
              <a:t>图中的编号（如 </a:t>
            </a:r>
            <a:r>
              <a:rPr lang="en-US" altLang="zh-CN" dirty="0"/>
              <a:t>1.1, 1.2.3</a:t>
            </a:r>
            <a:r>
              <a:rPr lang="zh-CN" altLang="en-US" dirty="0"/>
              <a:t>），用于唯一标识该任务</a:t>
            </a:r>
          </a:p>
          <a:p>
            <a:pPr lvl="1"/>
            <a:r>
              <a:rPr lang="zh-CN" altLang="en-US" dirty="0"/>
              <a:t>工作包名称： 任务的简短标题</a:t>
            </a:r>
          </a:p>
          <a:p>
            <a:pPr lvl="1"/>
            <a:r>
              <a:rPr lang="zh-CN" altLang="en-US" dirty="0"/>
              <a:t>工作描述： 详细描述该工作包的具体内容、目标、需要执行的操作以及不包含的内容（界定范围边界）</a:t>
            </a:r>
          </a:p>
          <a:p>
            <a:pPr lvl="1"/>
            <a:r>
              <a:rPr lang="zh-CN" altLang="en-US" dirty="0"/>
              <a:t>负责人</a:t>
            </a:r>
            <a:r>
              <a:rPr lang="en-US" altLang="zh-CN" dirty="0"/>
              <a:t>/</a:t>
            </a:r>
            <a:r>
              <a:rPr lang="zh-CN" altLang="en-US" dirty="0"/>
              <a:t>责任部门： 指定谁负责执行这项工作（通常关联 </a:t>
            </a:r>
            <a:r>
              <a:rPr lang="en-US" altLang="zh-CN" dirty="0"/>
              <a:t>OBS </a:t>
            </a:r>
            <a:r>
              <a:rPr lang="zh-CN" altLang="en-US" dirty="0"/>
              <a:t>组织分解结构）</a:t>
            </a:r>
          </a:p>
          <a:p>
            <a:pPr lvl="1"/>
            <a:r>
              <a:rPr lang="zh-CN" altLang="en-US" dirty="0"/>
              <a:t>可交付成果： 这项工作完成后，需要提交的具体成果（如文档、产品、服务）</a:t>
            </a:r>
          </a:p>
          <a:p>
            <a:pPr lvl="1"/>
            <a:r>
              <a:rPr lang="zh-CN" altLang="en-US" dirty="0"/>
              <a:t>里程碑</a:t>
            </a:r>
            <a:r>
              <a:rPr lang="en-US" altLang="zh-CN" dirty="0"/>
              <a:t>/</a:t>
            </a:r>
            <a:r>
              <a:rPr lang="zh-CN" altLang="en-US" dirty="0"/>
              <a:t>进度要求： 开始和结束时间，或关键的检查节点</a:t>
            </a:r>
          </a:p>
          <a:p>
            <a:pPr lvl="1"/>
            <a:r>
              <a:rPr lang="zh-CN" altLang="en-US" dirty="0"/>
              <a:t>资源与成本预算： 完成该工作所需的人力、设备、材料以及预估的费用</a:t>
            </a:r>
          </a:p>
          <a:p>
            <a:pPr lvl="1"/>
            <a:r>
              <a:rPr lang="zh-CN" altLang="en-US" dirty="0"/>
              <a:t>质量标准： 验收该工作成果的具体标准或规范</a:t>
            </a:r>
          </a:p>
          <a:p>
            <a:pPr lvl="1"/>
            <a:r>
              <a:rPr lang="zh-CN" altLang="en-US" dirty="0"/>
              <a:t>依赖关系： 该任务开始前必须完成的前置任务</a:t>
            </a:r>
          </a:p>
          <a:p>
            <a:endParaRPr lang="en-US" altLang="zh-CN" dirty="0"/>
          </a:p>
        </p:txBody>
      </p:sp>
      <p:sp>
        <p:nvSpPr>
          <p:cNvPr id="5" name="文本占位符 4">
            <a:extLst>
              <a:ext uri="{FF2B5EF4-FFF2-40B4-BE49-F238E27FC236}">
                <a16:creationId xmlns:a16="http://schemas.microsoft.com/office/drawing/2014/main" id="{CD82E482-69EB-A1E9-EA16-28EEDE8AD70B}"/>
              </a:ext>
            </a:extLst>
          </p:cNvPr>
          <p:cNvSpPr>
            <a:spLocks noGrp="1"/>
          </p:cNvSpPr>
          <p:nvPr>
            <p:ph type="body" sz="quarter" idx="10"/>
          </p:nvPr>
        </p:nvSpPr>
        <p:spPr>
          <a:xfrm>
            <a:off x="7071919" y="448519"/>
            <a:ext cx="4424080" cy="338554"/>
          </a:xfrm>
        </p:spPr>
        <p:txBody>
          <a:bodyPr/>
          <a:lstStyle/>
          <a:p>
            <a:r>
              <a:rPr lang="en-US" altLang="zh-CN" dirty="0"/>
              <a:t>Dictionary /WBS</a:t>
            </a:r>
            <a:endParaRPr lang="zh-CN" altLang="en-US" dirty="0"/>
          </a:p>
        </p:txBody>
      </p:sp>
    </p:spTree>
    <p:extLst>
      <p:ext uri="{BB962C8B-B14F-4D97-AF65-F5344CB8AC3E}">
        <p14:creationId xmlns:p14="http://schemas.microsoft.com/office/powerpoint/2010/main" val="3051557196"/>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95F3AB8F-93E1-9F65-9B33-5A44DA533C12}"/>
              </a:ext>
            </a:extLst>
          </p:cNvPr>
          <p:cNvGraphicFramePr>
            <a:graphicFrameLocks noGrp="1"/>
          </p:cNvGraphicFramePr>
          <p:nvPr>
            <p:extLst>
              <p:ext uri="{D42A27DB-BD31-4B8C-83A1-F6EECF244321}">
                <p14:modId xmlns:p14="http://schemas.microsoft.com/office/powerpoint/2010/main" val="1672217600"/>
              </p:ext>
            </p:extLst>
          </p:nvPr>
        </p:nvGraphicFramePr>
        <p:xfrm>
          <a:off x="695325" y="1630680"/>
          <a:ext cx="10801350" cy="3596640"/>
        </p:xfrm>
        <a:graphic>
          <a:graphicData uri="http://schemas.openxmlformats.org/drawingml/2006/table">
            <a:tbl>
              <a:tblPr/>
              <a:tblGrid>
                <a:gridCol w="1241630">
                  <a:extLst>
                    <a:ext uri="{9D8B030D-6E8A-4147-A177-3AD203B41FA5}">
                      <a16:colId xmlns:a16="http://schemas.microsoft.com/office/drawing/2014/main" val="1475204953"/>
                    </a:ext>
                  </a:extLst>
                </a:gridCol>
                <a:gridCol w="9559720">
                  <a:extLst>
                    <a:ext uri="{9D8B030D-6E8A-4147-A177-3AD203B41FA5}">
                      <a16:colId xmlns:a16="http://schemas.microsoft.com/office/drawing/2014/main" val="2353530227"/>
                    </a:ext>
                  </a:extLst>
                </a:gridCol>
              </a:tblGrid>
              <a:tr h="0">
                <a:tc>
                  <a:txBody>
                    <a:bodyPr/>
                    <a:lstStyle/>
                    <a:p>
                      <a:pPr algn="l">
                        <a:buNone/>
                      </a:pPr>
                      <a:r>
                        <a:rPr lang="zh-CN" altLang="en-US" sz="1600" dirty="0">
                          <a:solidFill>
                            <a:schemeClr val="bg1"/>
                          </a:solidFill>
                        </a:rPr>
                        <a:t>属性</a:t>
                      </a:r>
                    </a:p>
                  </a:txBody>
                  <a:tcPr anchor="ctr">
                    <a:lnL>
                      <a:noFill/>
                    </a:lnL>
                    <a:lnR>
                      <a:noFill/>
                    </a:lnR>
                    <a:lnT>
                      <a:noFill/>
                    </a:lnT>
                    <a:lnB>
                      <a:noFill/>
                    </a:lnB>
                    <a:solidFill>
                      <a:srgbClr val="00B0F0"/>
                    </a:solidFill>
                  </a:tcPr>
                </a:tc>
                <a:tc>
                  <a:txBody>
                    <a:bodyPr/>
                    <a:lstStyle/>
                    <a:p>
                      <a:pPr algn="l">
                        <a:buNone/>
                      </a:pPr>
                      <a:r>
                        <a:rPr lang="zh-CN" altLang="en-US" sz="1600" dirty="0">
                          <a:solidFill>
                            <a:schemeClr val="bg1"/>
                          </a:solidFill>
                        </a:rPr>
                        <a:t>内容详情</a:t>
                      </a:r>
                    </a:p>
                  </a:txBody>
                  <a:tcPr anchor="ctr">
                    <a:lnL>
                      <a:noFill/>
                    </a:lnL>
                    <a:lnR>
                      <a:noFill/>
                    </a:lnR>
                    <a:lnT>
                      <a:noFill/>
                    </a:lnT>
                    <a:lnB>
                      <a:noFill/>
                    </a:lnB>
                    <a:solidFill>
                      <a:srgbClr val="00B0F0"/>
                    </a:solidFill>
                  </a:tcPr>
                </a:tc>
                <a:extLst>
                  <a:ext uri="{0D108BD9-81ED-4DB2-BD59-A6C34878D82A}">
                    <a16:rowId xmlns:a16="http://schemas.microsoft.com/office/drawing/2014/main" val="2925805395"/>
                  </a:ext>
                </a:extLst>
              </a:tr>
              <a:tr h="0">
                <a:tc>
                  <a:txBody>
                    <a:bodyPr/>
                    <a:lstStyle/>
                    <a:p>
                      <a:pPr algn="ctr">
                        <a:buNone/>
                      </a:pPr>
                      <a:r>
                        <a:rPr lang="en-US" sz="1600" dirty="0"/>
                        <a:t>WBS </a:t>
                      </a:r>
                      <a:r>
                        <a:rPr lang="zh-CN" altLang="en-US" sz="1600" dirty="0"/>
                        <a:t>编码</a:t>
                      </a:r>
                    </a:p>
                  </a:txBody>
                  <a:tcPr anchor="ctr">
                    <a:lnL>
                      <a:noFill/>
                    </a:lnL>
                    <a:lnR>
                      <a:noFill/>
                    </a:lnR>
                    <a:lnT>
                      <a:noFill/>
                    </a:lnT>
                    <a:lnB>
                      <a:noFill/>
                    </a:lnB>
                    <a:noFill/>
                  </a:tcPr>
                </a:tc>
                <a:tc>
                  <a:txBody>
                    <a:bodyPr/>
                    <a:lstStyle/>
                    <a:p>
                      <a:pPr algn="l">
                        <a:buNone/>
                      </a:pPr>
                      <a:r>
                        <a:rPr lang="en-US" altLang="zh-CN" sz="1600"/>
                        <a:t>1.2.3</a:t>
                      </a:r>
                    </a:p>
                  </a:txBody>
                  <a:tcPr anchor="ctr">
                    <a:lnL>
                      <a:noFill/>
                    </a:lnL>
                    <a:lnR>
                      <a:noFill/>
                    </a:lnR>
                    <a:lnT>
                      <a:noFill/>
                    </a:lnT>
                    <a:lnB>
                      <a:noFill/>
                    </a:lnB>
                    <a:noFill/>
                  </a:tcPr>
                </a:tc>
                <a:extLst>
                  <a:ext uri="{0D108BD9-81ED-4DB2-BD59-A6C34878D82A}">
                    <a16:rowId xmlns:a16="http://schemas.microsoft.com/office/drawing/2014/main" val="1982419140"/>
                  </a:ext>
                </a:extLst>
              </a:tr>
              <a:tr h="0">
                <a:tc>
                  <a:txBody>
                    <a:bodyPr/>
                    <a:lstStyle/>
                    <a:p>
                      <a:pPr algn="ctr">
                        <a:buNone/>
                      </a:pPr>
                      <a:r>
                        <a:rPr lang="zh-CN" altLang="en-US" sz="1600" dirty="0"/>
                        <a:t>工作包名称</a:t>
                      </a:r>
                    </a:p>
                  </a:txBody>
                  <a:tcPr anchor="ctr">
                    <a:lnL>
                      <a:noFill/>
                    </a:lnL>
                    <a:lnR>
                      <a:noFill/>
                    </a:lnR>
                    <a:lnT>
                      <a:noFill/>
                    </a:lnT>
                    <a:lnB>
                      <a:noFill/>
                    </a:lnB>
                    <a:noFill/>
                  </a:tcPr>
                </a:tc>
                <a:tc>
                  <a:txBody>
                    <a:bodyPr/>
                    <a:lstStyle/>
                    <a:p>
                      <a:pPr algn="l">
                        <a:buNone/>
                      </a:pPr>
                      <a:r>
                        <a:rPr lang="zh-CN" altLang="en-US" sz="1600"/>
                        <a:t>酒水采购</a:t>
                      </a:r>
                    </a:p>
                  </a:txBody>
                  <a:tcPr anchor="ctr">
                    <a:lnL>
                      <a:noFill/>
                    </a:lnL>
                    <a:lnR>
                      <a:noFill/>
                    </a:lnR>
                    <a:lnT>
                      <a:noFill/>
                    </a:lnT>
                    <a:lnB>
                      <a:noFill/>
                    </a:lnB>
                    <a:noFill/>
                  </a:tcPr>
                </a:tc>
                <a:extLst>
                  <a:ext uri="{0D108BD9-81ED-4DB2-BD59-A6C34878D82A}">
                    <a16:rowId xmlns:a16="http://schemas.microsoft.com/office/drawing/2014/main" val="1570889918"/>
                  </a:ext>
                </a:extLst>
              </a:tr>
              <a:tr h="0">
                <a:tc>
                  <a:txBody>
                    <a:bodyPr/>
                    <a:lstStyle/>
                    <a:p>
                      <a:pPr algn="ctr">
                        <a:buNone/>
                      </a:pPr>
                      <a:r>
                        <a:rPr lang="zh-CN" altLang="en-US" sz="1600" dirty="0"/>
                        <a:t>负责人</a:t>
                      </a:r>
                    </a:p>
                  </a:txBody>
                  <a:tcPr anchor="ctr">
                    <a:lnL>
                      <a:noFill/>
                    </a:lnL>
                    <a:lnR>
                      <a:noFill/>
                    </a:lnR>
                    <a:lnT>
                      <a:noFill/>
                    </a:lnT>
                    <a:lnB>
                      <a:noFill/>
                    </a:lnB>
                    <a:noFill/>
                  </a:tcPr>
                </a:tc>
                <a:tc>
                  <a:txBody>
                    <a:bodyPr/>
                    <a:lstStyle/>
                    <a:p>
                      <a:pPr algn="l">
                        <a:buNone/>
                      </a:pPr>
                      <a:r>
                        <a:rPr lang="zh-CN" altLang="en-US" sz="1600" dirty="0"/>
                        <a:t>李大力</a:t>
                      </a:r>
                    </a:p>
                  </a:txBody>
                  <a:tcPr anchor="ctr">
                    <a:lnL>
                      <a:noFill/>
                    </a:lnL>
                    <a:lnR>
                      <a:noFill/>
                    </a:lnR>
                    <a:lnT>
                      <a:noFill/>
                    </a:lnT>
                    <a:lnB>
                      <a:noFill/>
                    </a:lnB>
                    <a:noFill/>
                  </a:tcPr>
                </a:tc>
                <a:extLst>
                  <a:ext uri="{0D108BD9-81ED-4DB2-BD59-A6C34878D82A}">
                    <a16:rowId xmlns:a16="http://schemas.microsoft.com/office/drawing/2014/main" val="2691453756"/>
                  </a:ext>
                </a:extLst>
              </a:tr>
              <a:tr h="0">
                <a:tc>
                  <a:txBody>
                    <a:bodyPr/>
                    <a:lstStyle/>
                    <a:p>
                      <a:pPr algn="ctr">
                        <a:buNone/>
                      </a:pPr>
                      <a:r>
                        <a:rPr lang="zh-CN" altLang="en-US" sz="1600" dirty="0"/>
                        <a:t>工作描述</a:t>
                      </a:r>
                    </a:p>
                  </a:txBody>
                  <a:tcPr anchor="ctr">
                    <a:lnL>
                      <a:noFill/>
                    </a:lnL>
                    <a:lnR>
                      <a:noFill/>
                    </a:lnR>
                    <a:lnT>
                      <a:noFill/>
                    </a:lnT>
                    <a:lnB>
                      <a:noFill/>
                    </a:lnB>
                    <a:noFill/>
                  </a:tcPr>
                </a:tc>
                <a:tc>
                  <a:txBody>
                    <a:bodyPr/>
                    <a:lstStyle/>
                    <a:p>
                      <a:pPr algn="l">
                        <a:buNone/>
                      </a:pPr>
                      <a:r>
                        <a:rPr lang="zh-CN" altLang="en-US" sz="1600" dirty="0"/>
                        <a:t>负责年会晚宴所需的所有酒水饮料的选择、购买、运输及现场摆放。包括红酒、白酒、果汁和矿泉水</a:t>
                      </a:r>
                    </a:p>
                  </a:txBody>
                  <a:tcPr anchor="ctr">
                    <a:lnL>
                      <a:noFill/>
                    </a:lnL>
                    <a:lnR>
                      <a:noFill/>
                    </a:lnR>
                    <a:lnT>
                      <a:noFill/>
                    </a:lnT>
                    <a:lnB>
                      <a:noFill/>
                    </a:lnB>
                    <a:noFill/>
                  </a:tcPr>
                </a:tc>
                <a:extLst>
                  <a:ext uri="{0D108BD9-81ED-4DB2-BD59-A6C34878D82A}">
                    <a16:rowId xmlns:a16="http://schemas.microsoft.com/office/drawing/2014/main" val="1184769081"/>
                  </a:ext>
                </a:extLst>
              </a:tr>
              <a:tr h="0">
                <a:tc>
                  <a:txBody>
                    <a:bodyPr/>
                    <a:lstStyle/>
                    <a:p>
                      <a:pPr algn="ctr">
                        <a:buNone/>
                      </a:pPr>
                      <a:r>
                        <a:rPr lang="zh-CN" altLang="en-US" sz="1600" dirty="0"/>
                        <a:t>可交付成果</a:t>
                      </a:r>
                    </a:p>
                  </a:txBody>
                  <a:tcPr anchor="ctr">
                    <a:lnL>
                      <a:noFill/>
                    </a:lnL>
                    <a:lnR>
                      <a:noFill/>
                    </a:lnR>
                    <a:lnT>
                      <a:noFill/>
                    </a:lnT>
                    <a:lnB>
                      <a:noFill/>
                    </a:lnB>
                    <a:noFill/>
                  </a:tcPr>
                </a:tc>
                <a:tc>
                  <a:txBody>
                    <a:bodyPr/>
                    <a:lstStyle/>
                    <a:p>
                      <a:pPr algn="l">
                        <a:buNone/>
                      </a:pPr>
                      <a:r>
                        <a:rPr lang="en-US" altLang="zh-CN" sz="1600"/>
                        <a:t>1. </a:t>
                      </a:r>
                      <a:r>
                        <a:rPr lang="zh-CN" altLang="en-US" sz="1600"/>
                        <a:t>采购清单确认表</a:t>
                      </a:r>
                      <a:br>
                        <a:rPr lang="zh-CN" altLang="en-US" sz="1600"/>
                      </a:br>
                      <a:r>
                        <a:rPr lang="en-US" altLang="zh-CN" sz="1600"/>
                        <a:t>2. </a:t>
                      </a:r>
                      <a:r>
                        <a:rPr lang="zh-CN" altLang="en-US" sz="1600"/>
                        <a:t>实物酒水到位并摆放至餐桌</a:t>
                      </a:r>
                    </a:p>
                  </a:txBody>
                  <a:tcPr anchor="ctr">
                    <a:lnL>
                      <a:noFill/>
                    </a:lnL>
                    <a:lnR>
                      <a:noFill/>
                    </a:lnR>
                    <a:lnT>
                      <a:noFill/>
                    </a:lnT>
                    <a:lnB>
                      <a:noFill/>
                    </a:lnB>
                    <a:noFill/>
                  </a:tcPr>
                </a:tc>
                <a:extLst>
                  <a:ext uri="{0D108BD9-81ED-4DB2-BD59-A6C34878D82A}">
                    <a16:rowId xmlns:a16="http://schemas.microsoft.com/office/drawing/2014/main" val="710327469"/>
                  </a:ext>
                </a:extLst>
              </a:tr>
              <a:tr h="0">
                <a:tc>
                  <a:txBody>
                    <a:bodyPr/>
                    <a:lstStyle/>
                    <a:p>
                      <a:pPr algn="ctr">
                        <a:buNone/>
                      </a:pPr>
                      <a:r>
                        <a:rPr lang="zh-CN" altLang="en-US" sz="1600" dirty="0"/>
                        <a:t>前置任务</a:t>
                      </a:r>
                    </a:p>
                  </a:txBody>
                  <a:tcPr anchor="ctr">
                    <a:lnL>
                      <a:noFill/>
                    </a:lnL>
                    <a:lnR>
                      <a:noFill/>
                    </a:lnR>
                    <a:lnT>
                      <a:noFill/>
                    </a:lnT>
                    <a:lnB>
                      <a:noFill/>
                    </a:lnB>
                    <a:noFill/>
                  </a:tcPr>
                </a:tc>
                <a:tc>
                  <a:txBody>
                    <a:bodyPr/>
                    <a:lstStyle/>
                    <a:p>
                      <a:pPr algn="l">
                        <a:buNone/>
                      </a:pPr>
                      <a:r>
                        <a:rPr lang="en-US" altLang="zh-CN" sz="1600"/>
                        <a:t>1.2.1 </a:t>
                      </a:r>
                      <a:r>
                        <a:rPr lang="zh-CN" altLang="en-US" sz="1600"/>
                        <a:t>确定参会人数</a:t>
                      </a:r>
                    </a:p>
                  </a:txBody>
                  <a:tcPr anchor="ctr">
                    <a:lnL>
                      <a:noFill/>
                    </a:lnL>
                    <a:lnR>
                      <a:noFill/>
                    </a:lnR>
                    <a:lnT>
                      <a:noFill/>
                    </a:lnT>
                    <a:lnB>
                      <a:noFill/>
                    </a:lnB>
                    <a:noFill/>
                  </a:tcPr>
                </a:tc>
                <a:extLst>
                  <a:ext uri="{0D108BD9-81ED-4DB2-BD59-A6C34878D82A}">
                    <a16:rowId xmlns:a16="http://schemas.microsoft.com/office/drawing/2014/main" val="357349806"/>
                  </a:ext>
                </a:extLst>
              </a:tr>
              <a:tr h="0">
                <a:tc>
                  <a:txBody>
                    <a:bodyPr/>
                    <a:lstStyle/>
                    <a:p>
                      <a:pPr algn="ctr">
                        <a:buNone/>
                      </a:pPr>
                      <a:r>
                        <a:rPr lang="zh-CN" altLang="en-US" sz="1600" dirty="0"/>
                        <a:t>时间要求</a:t>
                      </a:r>
                    </a:p>
                  </a:txBody>
                  <a:tcPr anchor="ctr">
                    <a:lnL>
                      <a:noFill/>
                    </a:lnL>
                    <a:lnR>
                      <a:noFill/>
                    </a:lnR>
                    <a:lnT>
                      <a:noFill/>
                    </a:lnT>
                    <a:lnB>
                      <a:noFill/>
                    </a:lnB>
                    <a:noFill/>
                  </a:tcPr>
                </a:tc>
                <a:tc>
                  <a:txBody>
                    <a:bodyPr/>
                    <a:lstStyle/>
                    <a:p>
                      <a:pPr algn="l">
                        <a:buNone/>
                      </a:pPr>
                      <a:r>
                        <a:rPr lang="zh-CN" altLang="en-US" sz="1600"/>
                        <a:t>必须在 </a:t>
                      </a:r>
                      <a:r>
                        <a:rPr lang="en-US" altLang="zh-CN" sz="1600"/>
                        <a:t>12</a:t>
                      </a:r>
                      <a:r>
                        <a:rPr lang="zh-CN" altLang="en-US" sz="1600"/>
                        <a:t>月</a:t>
                      </a:r>
                      <a:r>
                        <a:rPr lang="en-US" altLang="zh-CN" sz="1600"/>
                        <a:t>25</a:t>
                      </a:r>
                      <a:r>
                        <a:rPr lang="zh-CN" altLang="en-US" sz="1600"/>
                        <a:t>日 </a:t>
                      </a:r>
                      <a:r>
                        <a:rPr lang="en-US" altLang="zh-CN" sz="1600"/>
                        <a:t>14:00 </a:t>
                      </a:r>
                      <a:r>
                        <a:rPr lang="zh-CN" altLang="en-US" sz="1600"/>
                        <a:t>前 完成摆放</a:t>
                      </a:r>
                    </a:p>
                  </a:txBody>
                  <a:tcPr anchor="ctr">
                    <a:lnL>
                      <a:noFill/>
                    </a:lnL>
                    <a:lnR>
                      <a:noFill/>
                    </a:lnR>
                    <a:lnT>
                      <a:noFill/>
                    </a:lnT>
                    <a:lnB>
                      <a:noFill/>
                    </a:lnB>
                    <a:noFill/>
                  </a:tcPr>
                </a:tc>
                <a:extLst>
                  <a:ext uri="{0D108BD9-81ED-4DB2-BD59-A6C34878D82A}">
                    <a16:rowId xmlns:a16="http://schemas.microsoft.com/office/drawing/2014/main" val="1277118220"/>
                  </a:ext>
                </a:extLst>
              </a:tr>
              <a:tr h="0">
                <a:tc>
                  <a:txBody>
                    <a:bodyPr/>
                    <a:lstStyle/>
                    <a:p>
                      <a:pPr algn="ctr">
                        <a:buNone/>
                      </a:pPr>
                      <a:r>
                        <a:rPr lang="zh-CN" altLang="en-US" sz="1600" dirty="0"/>
                        <a:t>成本预算</a:t>
                      </a:r>
                    </a:p>
                  </a:txBody>
                  <a:tcPr anchor="ctr">
                    <a:lnL>
                      <a:noFill/>
                    </a:lnL>
                    <a:lnR>
                      <a:noFill/>
                    </a:lnR>
                    <a:lnT>
                      <a:noFill/>
                    </a:lnT>
                    <a:lnB>
                      <a:noFill/>
                    </a:lnB>
                    <a:noFill/>
                  </a:tcPr>
                </a:tc>
                <a:tc>
                  <a:txBody>
                    <a:bodyPr/>
                    <a:lstStyle/>
                    <a:p>
                      <a:pPr algn="l">
                        <a:buNone/>
                      </a:pPr>
                      <a:r>
                        <a:rPr lang="en-US" altLang="zh-CN" sz="1600"/>
                        <a:t>2,000 - 2,500 </a:t>
                      </a:r>
                      <a:r>
                        <a:rPr lang="zh-CN" altLang="en-US" sz="1600"/>
                        <a:t>元人民币</a:t>
                      </a:r>
                    </a:p>
                  </a:txBody>
                  <a:tcPr anchor="ctr">
                    <a:lnL>
                      <a:noFill/>
                    </a:lnL>
                    <a:lnR>
                      <a:noFill/>
                    </a:lnR>
                    <a:lnT>
                      <a:noFill/>
                    </a:lnT>
                    <a:lnB>
                      <a:noFill/>
                    </a:lnB>
                    <a:noFill/>
                  </a:tcPr>
                </a:tc>
                <a:extLst>
                  <a:ext uri="{0D108BD9-81ED-4DB2-BD59-A6C34878D82A}">
                    <a16:rowId xmlns:a16="http://schemas.microsoft.com/office/drawing/2014/main" val="277747770"/>
                  </a:ext>
                </a:extLst>
              </a:tr>
              <a:tr h="0">
                <a:tc>
                  <a:txBody>
                    <a:bodyPr/>
                    <a:lstStyle/>
                    <a:p>
                      <a:pPr algn="ctr">
                        <a:buNone/>
                      </a:pPr>
                      <a:r>
                        <a:rPr lang="zh-CN" altLang="en-US" sz="1600" dirty="0"/>
                        <a:t>质量</a:t>
                      </a:r>
                      <a:r>
                        <a:rPr lang="en-US" altLang="zh-CN" sz="1600" dirty="0"/>
                        <a:t>/</a:t>
                      </a:r>
                      <a:r>
                        <a:rPr lang="zh-CN" altLang="en-US" sz="1600" dirty="0"/>
                        <a:t>要求</a:t>
                      </a:r>
                    </a:p>
                  </a:txBody>
                  <a:tcPr anchor="ctr">
                    <a:lnL>
                      <a:noFill/>
                    </a:lnL>
                    <a:lnR>
                      <a:noFill/>
                    </a:lnR>
                    <a:lnT>
                      <a:noFill/>
                    </a:lnT>
                    <a:lnB>
                      <a:noFill/>
                    </a:lnB>
                    <a:noFill/>
                  </a:tcPr>
                </a:tc>
                <a:tc>
                  <a:txBody>
                    <a:bodyPr/>
                    <a:lstStyle/>
                    <a:p>
                      <a:pPr algn="l">
                        <a:buNone/>
                      </a:pPr>
                      <a:r>
                        <a:rPr lang="zh-CN" altLang="en-US" sz="1600" dirty="0"/>
                        <a:t>必须从正规商超采购，保留发票，酒水品牌需符合公司档次</a:t>
                      </a:r>
                    </a:p>
                  </a:txBody>
                  <a:tcPr anchor="ctr">
                    <a:lnL>
                      <a:noFill/>
                    </a:lnL>
                    <a:lnR>
                      <a:noFill/>
                    </a:lnR>
                    <a:lnT>
                      <a:noFill/>
                    </a:lnT>
                    <a:lnB>
                      <a:noFill/>
                    </a:lnB>
                    <a:noFill/>
                  </a:tcPr>
                </a:tc>
                <a:extLst>
                  <a:ext uri="{0D108BD9-81ED-4DB2-BD59-A6C34878D82A}">
                    <a16:rowId xmlns:a16="http://schemas.microsoft.com/office/drawing/2014/main" val="475888182"/>
                  </a:ext>
                </a:extLst>
              </a:tr>
            </a:tbl>
          </a:graphicData>
        </a:graphic>
      </p:graphicFrame>
    </p:spTree>
    <p:extLst>
      <p:ext uri="{BB962C8B-B14F-4D97-AF65-F5344CB8AC3E}">
        <p14:creationId xmlns:p14="http://schemas.microsoft.com/office/powerpoint/2010/main" val="1877119421"/>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E4F5D4-6B1A-D622-1D54-312387EED1C7}"/>
              </a:ext>
            </a:extLst>
          </p:cNvPr>
          <p:cNvSpPr>
            <a:spLocks noGrp="1"/>
          </p:cNvSpPr>
          <p:nvPr>
            <p:ph type="title"/>
          </p:nvPr>
        </p:nvSpPr>
        <p:spPr>
          <a:xfrm>
            <a:off x="792000" y="360000"/>
            <a:ext cx="6375921" cy="429413"/>
          </a:xfrm>
        </p:spPr>
        <p:txBody>
          <a:bodyPr/>
          <a:lstStyle/>
          <a:p>
            <a:r>
              <a:rPr lang="en-US" altLang="zh-CN" dirty="0"/>
              <a:t>5.4.1 </a:t>
            </a:r>
            <a:r>
              <a:rPr lang="zh-CN" altLang="en-US" dirty="0"/>
              <a:t>模板参照</a:t>
            </a:r>
          </a:p>
        </p:txBody>
      </p:sp>
      <p:sp>
        <p:nvSpPr>
          <p:cNvPr id="3" name="内容占位符 2">
            <a:extLst>
              <a:ext uri="{FF2B5EF4-FFF2-40B4-BE49-F238E27FC236}">
                <a16:creationId xmlns:a16="http://schemas.microsoft.com/office/drawing/2014/main" id="{9E6A87A0-E33E-A808-D2FD-D6EFBD61CD9D}"/>
              </a:ext>
            </a:extLst>
          </p:cNvPr>
          <p:cNvSpPr>
            <a:spLocks noGrp="1"/>
          </p:cNvSpPr>
          <p:nvPr>
            <p:ph idx="1"/>
          </p:nvPr>
        </p:nvSpPr>
        <p:spPr>
          <a:xfrm>
            <a:off x="696000" y="864000"/>
            <a:ext cx="10800000" cy="5400000"/>
          </a:xfrm>
        </p:spPr>
        <p:txBody>
          <a:bodyPr/>
          <a:lstStyle/>
          <a:p>
            <a:r>
              <a:rPr lang="zh-CN" altLang="en-US" dirty="0"/>
              <a:t>太多模板可以借鉴了。。。</a:t>
            </a:r>
            <a:endParaRPr lang="en-US" altLang="zh-CN" dirty="0"/>
          </a:p>
          <a:p>
            <a:r>
              <a:rPr lang="zh-CN" altLang="en-US" dirty="0"/>
              <a:t>拿来主义</a:t>
            </a:r>
            <a:endParaRPr lang="en-US" altLang="zh-CN" dirty="0"/>
          </a:p>
          <a:p>
            <a:r>
              <a:rPr lang="zh-CN" altLang="en-US" dirty="0"/>
              <a:t>标准件</a:t>
            </a:r>
          </a:p>
          <a:p>
            <a:endParaRPr lang="zh-CN" altLang="en-US" dirty="0"/>
          </a:p>
        </p:txBody>
      </p:sp>
      <p:sp>
        <p:nvSpPr>
          <p:cNvPr id="7" name="文本占位符 6">
            <a:extLst>
              <a:ext uri="{FF2B5EF4-FFF2-40B4-BE49-F238E27FC236}">
                <a16:creationId xmlns:a16="http://schemas.microsoft.com/office/drawing/2014/main" id="{B4046A20-C41C-CE20-F74E-D9F323E9EC04}"/>
              </a:ext>
            </a:extLst>
          </p:cNvPr>
          <p:cNvSpPr>
            <a:spLocks noGrp="1"/>
          </p:cNvSpPr>
          <p:nvPr>
            <p:ph type="body" sz="quarter" idx="10"/>
          </p:nvPr>
        </p:nvSpPr>
        <p:spPr>
          <a:xfrm>
            <a:off x="7071919" y="448519"/>
            <a:ext cx="4424080" cy="338554"/>
          </a:xfrm>
        </p:spPr>
        <p:txBody>
          <a:bodyPr/>
          <a:lstStyle/>
          <a:p>
            <a:r>
              <a:rPr lang="en-US" altLang="zh-CN" dirty="0"/>
              <a:t>Template Reference/Method/WBS</a:t>
            </a:r>
            <a:endParaRPr lang="zh-CN" altLang="en-US" dirty="0"/>
          </a:p>
        </p:txBody>
      </p:sp>
    </p:spTree>
    <p:extLst>
      <p:ext uri="{BB962C8B-B14F-4D97-AF65-F5344CB8AC3E}">
        <p14:creationId xmlns:p14="http://schemas.microsoft.com/office/powerpoint/2010/main" val="1213906035"/>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E4F5D4-6B1A-D622-1D54-312387EED1C7}"/>
              </a:ext>
            </a:extLst>
          </p:cNvPr>
          <p:cNvSpPr>
            <a:spLocks noGrp="1"/>
          </p:cNvSpPr>
          <p:nvPr>
            <p:ph type="title"/>
          </p:nvPr>
        </p:nvSpPr>
        <p:spPr>
          <a:xfrm>
            <a:off x="792000" y="360000"/>
            <a:ext cx="6375921" cy="429413"/>
          </a:xfrm>
        </p:spPr>
        <p:txBody>
          <a:bodyPr/>
          <a:lstStyle/>
          <a:p>
            <a:r>
              <a:rPr lang="en-US" altLang="zh-CN" dirty="0"/>
              <a:t>5.4.2 </a:t>
            </a:r>
            <a:r>
              <a:rPr lang="zh-CN" altLang="en-US" dirty="0"/>
              <a:t>类比</a:t>
            </a:r>
          </a:p>
        </p:txBody>
      </p:sp>
      <p:sp>
        <p:nvSpPr>
          <p:cNvPr id="3" name="内容占位符 2">
            <a:extLst>
              <a:ext uri="{FF2B5EF4-FFF2-40B4-BE49-F238E27FC236}">
                <a16:creationId xmlns:a16="http://schemas.microsoft.com/office/drawing/2014/main" id="{9E6A87A0-E33E-A808-D2FD-D6EFBD61CD9D}"/>
              </a:ext>
            </a:extLst>
          </p:cNvPr>
          <p:cNvSpPr>
            <a:spLocks noGrp="1"/>
          </p:cNvSpPr>
          <p:nvPr>
            <p:ph idx="1"/>
          </p:nvPr>
        </p:nvSpPr>
        <p:spPr>
          <a:xfrm>
            <a:off x="696000" y="864000"/>
            <a:ext cx="10800000" cy="5400000"/>
          </a:xfrm>
        </p:spPr>
        <p:txBody>
          <a:bodyPr/>
          <a:lstStyle/>
          <a:p>
            <a:r>
              <a:rPr lang="zh-CN" altLang="en-US" dirty="0"/>
              <a:t>举一反三</a:t>
            </a:r>
            <a:endParaRPr lang="en-US" altLang="zh-CN" dirty="0"/>
          </a:p>
          <a:p>
            <a:r>
              <a:rPr lang="zh-CN" altLang="en-US" dirty="0"/>
              <a:t>复用</a:t>
            </a:r>
          </a:p>
          <a:p>
            <a:endParaRPr lang="zh-CN" altLang="en-US" dirty="0"/>
          </a:p>
        </p:txBody>
      </p:sp>
      <p:sp>
        <p:nvSpPr>
          <p:cNvPr id="7" name="文本占位符 6">
            <a:extLst>
              <a:ext uri="{FF2B5EF4-FFF2-40B4-BE49-F238E27FC236}">
                <a16:creationId xmlns:a16="http://schemas.microsoft.com/office/drawing/2014/main" id="{B4046A20-C41C-CE20-F74E-D9F323E9EC04}"/>
              </a:ext>
            </a:extLst>
          </p:cNvPr>
          <p:cNvSpPr>
            <a:spLocks noGrp="1"/>
          </p:cNvSpPr>
          <p:nvPr>
            <p:ph type="body" sz="quarter" idx="10"/>
          </p:nvPr>
        </p:nvSpPr>
        <p:spPr>
          <a:xfrm>
            <a:off x="7071919" y="448519"/>
            <a:ext cx="4424080" cy="338554"/>
          </a:xfrm>
        </p:spPr>
        <p:txBody>
          <a:bodyPr/>
          <a:lstStyle/>
          <a:p>
            <a:r>
              <a:rPr lang="en-US" altLang="zh-CN" dirty="0"/>
              <a:t>Analogous Estimating/Method/WBS</a:t>
            </a:r>
            <a:endParaRPr lang="zh-CN" altLang="en-US" dirty="0"/>
          </a:p>
        </p:txBody>
      </p:sp>
    </p:spTree>
    <p:extLst>
      <p:ext uri="{BB962C8B-B14F-4D97-AF65-F5344CB8AC3E}">
        <p14:creationId xmlns:p14="http://schemas.microsoft.com/office/powerpoint/2010/main" val="587185458"/>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E4F5D4-6B1A-D622-1D54-312387EED1C7}"/>
              </a:ext>
            </a:extLst>
          </p:cNvPr>
          <p:cNvSpPr>
            <a:spLocks noGrp="1"/>
          </p:cNvSpPr>
          <p:nvPr>
            <p:ph type="title"/>
          </p:nvPr>
        </p:nvSpPr>
        <p:spPr>
          <a:xfrm>
            <a:off x="792000" y="360000"/>
            <a:ext cx="6375921" cy="429413"/>
          </a:xfrm>
        </p:spPr>
        <p:txBody>
          <a:bodyPr/>
          <a:lstStyle/>
          <a:p>
            <a:r>
              <a:rPr lang="en-US" altLang="zh-CN" dirty="0"/>
              <a:t>5.4.3 </a:t>
            </a:r>
            <a:r>
              <a:rPr lang="zh-CN" altLang="en-US" dirty="0"/>
              <a:t>自上而下</a:t>
            </a:r>
          </a:p>
        </p:txBody>
      </p:sp>
      <p:sp>
        <p:nvSpPr>
          <p:cNvPr id="3" name="内容占位符 2">
            <a:extLst>
              <a:ext uri="{FF2B5EF4-FFF2-40B4-BE49-F238E27FC236}">
                <a16:creationId xmlns:a16="http://schemas.microsoft.com/office/drawing/2014/main" id="{9E6A87A0-E33E-A808-D2FD-D6EFBD61CD9D}"/>
              </a:ext>
            </a:extLst>
          </p:cNvPr>
          <p:cNvSpPr>
            <a:spLocks noGrp="1"/>
          </p:cNvSpPr>
          <p:nvPr>
            <p:ph idx="1"/>
          </p:nvPr>
        </p:nvSpPr>
        <p:spPr>
          <a:xfrm>
            <a:off x="696000" y="864000"/>
            <a:ext cx="10800000" cy="5400000"/>
          </a:xfrm>
        </p:spPr>
        <p:txBody>
          <a:bodyPr/>
          <a:lstStyle/>
          <a:p>
            <a:r>
              <a:rPr lang="zh-CN" altLang="en-US" dirty="0"/>
              <a:t>最传统、最常用的方法；逐层细化，直到任务变得具体、可执行</a:t>
            </a:r>
            <a:endParaRPr lang="en-US" altLang="zh-CN" dirty="0"/>
          </a:p>
          <a:p>
            <a:r>
              <a:rPr lang="zh-CN" altLang="en-US" dirty="0"/>
              <a:t>先宏观，后微观</a:t>
            </a:r>
          </a:p>
          <a:p>
            <a:r>
              <a:rPr lang="zh-CN" altLang="en-US" dirty="0"/>
              <a:t>操作流程</a:t>
            </a:r>
          </a:p>
          <a:p>
            <a:pPr lvl="1"/>
            <a:r>
              <a:rPr lang="zh-CN" altLang="en-US" dirty="0"/>
              <a:t>确定项目总目标</a:t>
            </a:r>
          </a:p>
          <a:p>
            <a:pPr lvl="1"/>
            <a:r>
              <a:rPr lang="zh-CN" altLang="en-US" dirty="0"/>
              <a:t>将总目标分解为几个主要的“可交付成果”或“主要阶段”</a:t>
            </a:r>
          </a:p>
          <a:p>
            <a:pPr lvl="1"/>
            <a:r>
              <a:rPr lang="zh-CN" altLang="en-US" dirty="0"/>
              <a:t>继续将主要阶段分解为子任务</a:t>
            </a:r>
          </a:p>
          <a:p>
            <a:pPr lvl="1"/>
            <a:r>
              <a:rPr lang="zh-CN" altLang="en-US" dirty="0"/>
              <a:t>直到分解到工作包（</a:t>
            </a:r>
            <a:r>
              <a:rPr lang="en-US" altLang="zh-CN" dirty="0"/>
              <a:t>Work Package</a:t>
            </a:r>
            <a:r>
              <a:rPr lang="zh-CN" altLang="en-US" dirty="0"/>
              <a:t>）级别，即一线员工可以执行的具体任务</a:t>
            </a:r>
          </a:p>
          <a:p>
            <a:endParaRPr lang="zh-CN" altLang="en-US" dirty="0"/>
          </a:p>
        </p:txBody>
      </p:sp>
      <p:sp>
        <p:nvSpPr>
          <p:cNvPr id="7" name="文本占位符 6">
            <a:extLst>
              <a:ext uri="{FF2B5EF4-FFF2-40B4-BE49-F238E27FC236}">
                <a16:creationId xmlns:a16="http://schemas.microsoft.com/office/drawing/2014/main" id="{B4046A20-C41C-CE20-F74E-D9F323E9EC04}"/>
              </a:ext>
            </a:extLst>
          </p:cNvPr>
          <p:cNvSpPr>
            <a:spLocks noGrp="1"/>
          </p:cNvSpPr>
          <p:nvPr>
            <p:ph type="body" sz="quarter" idx="10"/>
          </p:nvPr>
        </p:nvSpPr>
        <p:spPr>
          <a:xfrm>
            <a:off x="7071919" y="448519"/>
            <a:ext cx="4424080" cy="338554"/>
          </a:xfrm>
        </p:spPr>
        <p:txBody>
          <a:bodyPr/>
          <a:lstStyle/>
          <a:p>
            <a:r>
              <a:rPr lang="en-US" altLang="zh-CN" dirty="0"/>
              <a:t>From top to bottom/Method/WBS</a:t>
            </a:r>
            <a:endParaRPr lang="zh-CN" altLang="en-US" dirty="0"/>
          </a:p>
        </p:txBody>
      </p:sp>
    </p:spTree>
    <p:extLst>
      <p:ext uri="{BB962C8B-B14F-4D97-AF65-F5344CB8AC3E}">
        <p14:creationId xmlns:p14="http://schemas.microsoft.com/office/powerpoint/2010/main" val="1015130215"/>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E4F5D4-6B1A-D622-1D54-312387EED1C7}"/>
              </a:ext>
            </a:extLst>
          </p:cNvPr>
          <p:cNvSpPr>
            <a:spLocks noGrp="1"/>
          </p:cNvSpPr>
          <p:nvPr>
            <p:ph type="title"/>
          </p:nvPr>
        </p:nvSpPr>
        <p:spPr>
          <a:xfrm>
            <a:off x="792000" y="360000"/>
            <a:ext cx="6375921" cy="429413"/>
          </a:xfrm>
        </p:spPr>
        <p:txBody>
          <a:bodyPr/>
          <a:lstStyle/>
          <a:p>
            <a:r>
              <a:rPr lang="en-US" altLang="zh-CN" dirty="0"/>
              <a:t>5.4.4 </a:t>
            </a:r>
            <a:r>
              <a:rPr lang="zh-CN" altLang="en-US" dirty="0"/>
              <a:t>自下而上</a:t>
            </a:r>
          </a:p>
        </p:txBody>
      </p:sp>
      <p:sp>
        <p:nvSpPr>
          <p:cNvPr id="3" name="内容占位符 2">
            <a:extLst>
              <a:ext uri="{FF2B5EF4-FFF2-40B4-BE49-F238E27FC236}">
                <a16:creationId xmlns:a16="http://schemas.microsoft.com/office/drawing/2014/main" id="{9E6A87A0-E33E-A808-D2FD-D6EFBD61CD9D}"/>
              </a:ext>
            </a:extLst>
          </p:cNvPr>
          <p:cNvSpPr>
            <a:spLocks noGrp="1"/>
          </p:cNvSpPr>
          <p:nvPr>
            <p:ph idx="1"/>
          </p:nvPr>
        </p:nvSpPr>
        <p:spPr>
          <a:xfrm>
            <a:off x="696000" y="864000"/>
            <a:ext cx="10800000" cy="5400000"/>
          </a:xfrm>
        </p:spPr>
        <p:txBody>
          <a:bodyPr/>
          <a:lstStyle/>
          <a:p>
            <a:r>
              <a:rPr lang="zh-CN" altLang="en-US" dirty="0"/>
              <a:t>用于特定的复杂场景</a:t>
            </a:r>
          </a:p>
          <a:p>
            <a:r>
              <a:rPr lang="zh-CN" altLang="en-US" dirty="0"/>
              <a:t>不先考虑大局，而是先让团队成员列出所有能想到的具体任务，然后将这些任务归类、汇总，形成上层结构</a:t>
            </a:r>
          </a:p>
          <a:p>
            <a:r>
              <a:rPr lang="zh-CN" altLang="en-US" dirty="0"/>
              <a:t>核心逻辑</a:t>
            </a:r>
          </a:p>
          <a:p>
            <a:pPr lvl="1"/>
            <a:r>
              <a:rPr lang="zh-CN" altLang="en-US" dirty="0"/>
              <a:t>先细节，后整合</a:t>
            </a:r>
            <a:endParaRPr lang="en-US" altLang="zh-CN" dirty="0"/>
          </a:p>
          <a:p>
            <a:r>
              <a:rPr lang="zh-CN" altLang="en-US" dirty="0"/>
              <a:t>操作流程</a:t>
            </a:r>
          </a:p>
          <a:p>
            <a:pPr lvl="1"/>
            <a:r>
              <a:rPr lang="zh-CN" altLang="en-US" dirty="0"/>
              <a:t>召集团队成员（专家或一线人员）进行头脑风暴</a:t>
            </a:r>
          </a:p>
          <a:p>
            <a:pPr lvl="1"/>
            <a:r>
              <a:rPr lang="zh-CN" altLang="en-US" dirty="0"/>
              <a:t>每个人列出自己负责领域内需要做的所有具体工作（写在便利贴上）</a:t>
            </a:r>
          </a:p>
          <a:p>
            <a:pPr lvl="1"/>
            <a:r>
              <a:rPr lang="zh-CN" altLang="en-US" dirty="0"/>
              <a:t>将这些零散的任务进行归类、合并</a:t>
            </a:r>
          </a:p>
          <a:p>
            <a:pPr lvl="1"/>
            <a:r>
              <a:rPr lang="zh-CN" altLang="en-US" dirty="0"/>
              <a:t>逐层向上汇总，形成最终的 </a:t>
            </a:r>
            <a:r>
              <a:rPr lang="en-US" altLang="zh-CN" dirty="0"/>
              <a:t>WBS </a:t>
            </a:r>
            <a:r>
              <a:rPr lang="zh-CN" altLang="en-US" dirty="0"/>
              <a:t>层级</a:t>
            </a:r>
          </a:p>
          <a:p>
            <a:endParaRPr lang="zh-CN" altLang="en-US" dirty="0"/>
          </a:p>
        </p:txBody>
      </p:sp>
      <p:sp>
        <p:nvSpPr>
          <p:cNvPr id="7" name="文本占位符 6">
            <a:extLst>
              <a:ext uri="{FF2B5EF4-FFF2-40B4-BE49-F238E27FC236}">
                <a16:creationId xmlns:a16="http://schemas.microsoft.com/office/drawing/2014/main" id="{B4046A20-C41C-CE20-F74E-D9F323E9EC04}"/>
              </a:ext>
            </a:extLst>
          </p:cNvPr>
          <p:cNvSpPr>
            <a:spLocks noGrp="1"/>
          </p:cNvSpPr>
          <p:nvPr>
            <p:ph type="body" sz="quarter" idx="10"/>
          </p:nvPr>
        </p:nvSpPr>
        <p:spPr>
          <a:xfrm>
            <a:off x="7071919" y="448519"/>
            <a:ext cx="4424080" cy="338554"/>
          </a:xfrm>
        </p:spPr>
        <p:txBody>
          <a:bodyPr/>
          <a:lstStyle/>
          <a:p>
            <a:r>
              <a:rPr lang="en-US" altLang="zh-CN" dirty="0"/>
              <a:t>From bottom to top/Method/WBS</a:t>
            </a:r>
            <a:endParaRPr lang="zh-CN" altLang="en-US" dirty="0"/>
          </a:p>
        </p:txBody>
      </p:sp>
    </p:spTree>
    <p:extLst>
      <p:ext uri="{BB962C8B-B14F-4D97-AF65-F5344CB8AC3E}">
        <p14:creationId xmlns:p14="http://schemas.microsoft.com/office/powerpoint/2010/main" val="3899422835"/>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99035B-EA41-4F57-3E8C-7D552040632C}"/>
              </a:ext>
            </a:extLst>
          </p:cNvPr>
          <p:cNvSpPr>
            <a:spLocks noGrp="1"/>
          </p:cNvSpPr>
          <p:nvPr>
            <p:ph type="title"/>
          </p:nvPr>
        </p:nvSpPr>
        <p:spPr>
          <a:xfrm>
            <a:off x="792000" y="360000"/>
            <a:ext cx="6375921" cy="429413"/>
          </a:xfrm>
        </p:spPr>
        <p:txBody>
          <a:bodyPr/>
          <a:lstStyle/>
          <a:p>
            <a:r>
              <a:rPr lang="en-US" altLang="zh-CN" dirty="0"/>
              <a:t>5.5 </a:t>
            </a:r>
            <a:r>
              <a:rPr lang="zh-CN" altLang="en-US" dirty="0"/>
              <a:t>任务分解建议</a:t>
            </a:r>
          </a:p>
        </p:txBody>
      </p:sp>
      <p:sp>
        <p:nvSpPr>
          <p:cNvPr id="3" name="内容占位符 2">
            <a:extLst>
              <a:ext uri="{FF2B5EF4-FFF2-40B4-BE49-F238E27FC236}">
                <a16:creationId xmlns:a16="http://schemas.microsoft.com/office/drawing/2014/main" id="{64A585A7-FA92-DE6C-6F93-C290CE3A99FC}"/>
              </a:ext>
            </a:extLst>
          </p:cNvPr>
          <p:cNvSpPr>
            <a:spLocks noGrp="1"/>
          </p:cNvSpPr>
          <p:nvPr>
            <p:ph idx="1"/>
          </p:nvPr>
        </p:nvSpPr>
        <p:spPr>
          <a:xfrm>
            <a:off x="696000" y="864000"/>
            <a:ext cx="10800000" cy="5400000"/>
          </a:xfrm>
        </p:spPr>
        <p:txBody>
          <a:bodyPr/>
          <a:lstStyle/>
          <a:p>
            <a:r>
              <a:rPr lang="zh-CN" altLang="en-US" dirty="0"/>
              <a:t>最低层是可控的和可管理的，但是不必要过细</a:t>
            </a:r>
            <a:endParaRPr lang="en-US" altLang="zh-CN" dirty="0"/>
          </a:p>
          <a:p>
            <a:r>
              <a:rPr lang="zh-CN" altLang="en-US" dirty="0"/>
              <a:t>每个 </a:t>
            </a:r>
            <a:r>
              <a:rPr lang="en-US" altLang="zh-CN" dirty="0"/>
              <a:t>Work package </a:t>
            </a:r>
            <a:r>
              <a:rPr lang="zh-CN" altLang="en-US" dirty="0"/>
              <a:t>必须有一个提交物</a:t>
            </a:r>
          </a:p>
          <a:p>
            <a:r>
              <a:rPr lang="zh-CN" altLang="en-US" dirty="0"/>
              <a:t>定义任务完成的标准</a:t>
            </a:r>
          </a:p>
          <a:p>
            <a:r>
              <a:rPr lang="zh-CN" altLang="en-US" dirty="0"/>
              <a:t>有利于责任分配</a:t>
            </a:r>
          </a:p>
          <a:p>
            <a:r>
              <a:rPr lang="zh-CN" altLang="en-US" dirty="0"/>
              <a:t>推荐任务分解到 </a:t>
            </a:r>
            <a:r>
              <a:rPr lang="en-US" altLang="zh-CN" dirty="0"/>
              <a:t>40 </a:t>
            </a:r>
            <a:r>
              <a:rPr lang="zh-CN" altLang="en-US" dirty="0"/>
              <a:t>小时以内，敏捷项目分解到小时</a:t>
            </a:r>
            <a:endParaRPr lang="en-US" altLang="zh-CN" dirty="0"/>
          </a:p>
          <a:p>
            <a:endParaRPr lang="en-US" altLang="zh-CN" dirty="0"/>
          </a:p>
          <a:p>
            <a:endParaRPr lang="zh-CN" altLang="en-US" dirty="0"/>
          </a:p>
        </p:txBody>
      </p:sp>
      <p:sp>
        <p:nvSpPr>
          <p:cNvPr id="7" name="文本占位符 6">
            <a:extLst>
              <a:ext uri="{FF2B5EF4-FFF2-40B4-BE49-F238E27FC236}">
                <a16:creationId xmlns:a16="http://schemas.microsoft.com/office/drawing/2014/main" id="{DC37DB0D-33B4-244E-3758-FA7939B3C51A}"/>
              </a:ext>
            </a:extLst>
          </p:cNvPr>
          <p:cNvSpPr>
            <a:spLocks noGrp="1"/>
          </p:cNvSpPr>
          <p:nvPr>
            <p:ph type="body" sz="quarter" idx="10"/>
          </p:nvPr>
        </p:nvSpPr>
        <p:spPr>
          <a:xfrm>
            <a:off x="7071919" y="448519"/>
            <a:ext cx="4424080" cy="338554"/>
          </a:xfrm>
        </p:spPr>
        <p:txBody>
          <a:bodyPr/>
          <a:lstStyle/>
          <a:p>
            <a:r>
              <a:rPr lang="en-US" altLang="zh-CN"/>
              <a:t>Advice/WBS</a:t>
            </a:r>
            <a:endParaRPr lang="zh-CN" altLang="en-US"/>
          </a:p>
        </p:txBody>
      </p:sp>
    </p:spTree>
    <p:extLst>
      <p:ext uri="{BB962C8B-B14F-4D97-AF65-F5344CB8AC3E}">
        <p14:creationId xmlns:p14="http://schemas.microsoft.com/office/powerpoint/2010/main" val="3094243234"/>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CF4606-84B2-A62F-D87C-25A459CB72DD}"/>
              </a:ext>
            </a:extLst>
          </p:cNvPr>
          <p:cNvSpPr>
            <a:spLocks noGrp="1"/>
          </p:cNvSpPr>
          <p:nvPr>
            <p:ph type="title"/>
          </p:nvPr>
        </p:nvSpPr>
        <p:spPr>
          <a:xfrm>
            <a:off x="792000" y="360000"/>
            <a:ext cx="6375921" cy="429413"/>
          </a:xfrm>
        </p:spPr>
        <p:txBody>
          <a:bodyPr/>
          <a:lstStyle/>
          <a:p>
            <a:r>
              <a:rPr lang="en-US" altLang="zh-CN"/>
              <a:t>6. </a:t>
            </a:r>
            <a:r>
              <a:rPr lang="zh-CN" altLang="en-US"/>
              <a:t>敏捷任务分解</a:t>
            </a:r>
          </a:p>
        </p:txBody>
      </p:sp>
      <p:sp>
        <p:nvSpPr>
          <p:cNvPr id="6" name="内容占位符 5">
            <a:extLst>
              <a:ext uri="{FF2B5EF4-FFF2-40B4-BE49-F238E27FC236}">
                <a16:creationId xmlns:a16="http://schemas.microsoft.com/office/drawing/2014/main" id="{EC39176A-0456-D305-F467-063292FDEE15}"/>
              </a:ext>
            </a:extLst>
          </p:cNvPr>
          <p:cNvSpPr>
            <a:spLocks noGrp="1"/>
          </p:cNvSpPr>
          <p:nvPr>
            <p:ph idx="1"/>
          </p:nvPr>
        </p:nvSpPr>
        <p:spPr>
          <a:xfrm>
            <a:off x="696000" y="864000"/>
            <a:ext cx="10800000" cy="5400000"/>
          </a:xfrm>
        </p:spPr>
        <p:txBody>
          <a:bodyPr/>
          <a:lstStyle/>
          <a:p>
            <a:r>
              <a:rPr lang="zh-CN" altLang="en-US"/>
              <a:t>基于用户故事 </a:t>
            </a:r>
            <a:r>
              <a:rPr lang="en-US" altLang="zh-CN"/>
              <a:t>User Story</a:t>
            </a:r>
            <a:r>
              <a:rPr lang="zh-CN" altLang="en-US"/>
              <a:t> 分解为具体的任务 </a:t>
            </a:r>
            <a:r>
              <a:rPr lang="en-US" altLang="zh-CN"/>
              <a:t>Task</a:t>
            </a:r>
          </a:p>
          <a:p>
            <a:r>
              <a:rPr lang="zh-CN" altLang="en-US"/>
              <a:t>是冲刺计划会议 </a:t>
            </a:r>
            <a:r>
              <a:rPr lang="en-US" altLang="zh-CN"/>
              <a:t>Sprint Planning</a:t>
            </a:r>
            <a:r>
              <a:rPr lang="zh-CN" altLang="en-US"/>
              <a:t> 中的关键环节</a:t>
            </a:r>
            <a:endParaRPr lang="en-US" altLang="zh-CN"/>
          </a:p>
          <a:p>
            <a:r>
              <a:rPr lang="zh-CN" altLang="en-US"/>
              <a:t>有助于团队估算工作量、分配责任并跟踪进度</a:t>
            </a:r>
            <a:endParaRPr lang="en-US" altLang="zh-CN"/>
          </a:p>
          <a:p>
            <a:pPr lvl="1"/>
            <a:r>
              <a:rPr lang="zh-CN" altLang="en-US"/>
              <a:t>好的拆分 </a:t>
            </a:r>
            <a:r>
              <a:rPr lang="en-US" altLang="zh-CN"/>
              <a:t>= </a:t>
            </a:r>
            <a:r>
              <a:rPr lang="zh-CN" altLang="en-US"/>
              <a:t>按用户行为</a:t>
            </a:r>
            <a:r>
              <a:rPr lang="en-US" altLang="zh-CN"/>
              <a:t>/</a:t>
            </a:r>
            <a:r>
              <a:rPr lang="zh-CN" altLang="en-US"/>
              <a:t>功能模块划分</a:t>
            </a:r>
          </a:p>
          <a:p>
            <a:pPr lvl="1"/>
            <a:r>
              <a:rPr lang="zh-CN" altLang="en-US"/>
              <a:t>每个故事应聚焦单一价值点</a:t>
            </a:r>
          </a:p>
          <a:p>
            <a:pPr lvl="1"/>
            <a:r>
              <a:rPr lang="zh-CN" altLang="en-US"/>
              <a:t>优先交付核心功能，再逐步增强体验</a:t>
            </a:r>
          </a:p>
          <a:p>
            <a:pPr lvl="1"/>
            <a:r>
              <a:rPr lang="zh-CN" altLang="en-US"/>
              <a:t>确保每个故事都满足 </a:t>
            </a:r>
            <a:r>
              <a:rPr lang="en-US" altLang="zh-CN"/>
              <a:t>INVEST </a:t>
            </a:r>
            <a:r>
              <a:rPr lang="zh-CN" altLang="en-US"/>
              <a:t>原则</a:t>
            </a:r>
          </a:p>
          <a:p>
            <a:endParaRPr lang="zh-CN" altLang="en-US"/>
          </a:p>
        </p:txBody>
      </p:sp>
      <p:sp>
        <p:nvSpPr>
          <p:cNvPr id="64" name="文本占位符 63">
            <a:extLst>
              <a:ext uri="{FF2B5EF4-FFF2-40B4-BE49-F238E27FC236}">
                <a16:creationId xmlns:a16="http://schemas.microsoft.com/office/drawing/2014/main" id="{E174A86F-24B5-CA11-6ABB-DCCD47E14814}"/>
              </a:ext>
            </a:extLst>
          </p:cNvPr>
          <p:cNvSpPr>
            <a:spLocks noGrp="1"/>
          </p:cNvSpPr>
          <p:nvPr>
            <p:ph type="body" sz="quarter" idx="10"/>
          </p:nvPr>
        </p:nvSpPr>
        <p:spPr>
          <a:xfrm>
            <a:off x="7071919" y="448519"/>
            <a:ext cx="4424080" cy="338554"/>
          </a:xfrm>
        </p:spPr>
        <p:txBody>
          <a:bodyPr/>
          <a:lstStyle/>
          <a:p>
            <a:r>
              <a:rPr lang="en-US" altLang="zh-CN"/>
              <a:t>Scrum/WBS</a:t>
            </a:r>
            <a:endParaRPr lang="zh-CN" altLang="en-US"/>
          </a:p>
        </p:txBody>
      </p:sp>
      <p:grpSp>
        <p:nvGrpSpPr>
          <p:cNvPr id="65" name="组合 64">
            <a:extLst>
              <a:ext uri="{FF2B5EF4-FFF2-40B4-BE49-F238E27FC236}">
                <a16:creationId xmlns:a16="http://schemas.microsoft.com/office/drawing/2014/main" id="{FCBE929B-6BEE-A0E4-5DD6-82A8DA1F8688}"/>
              </a:ext>
            </a:extLst>
          </p:cNvPr>
          <p:cNvGrpSpPr/>
          <p:nvPr/>
        </p:nvGrpSpPr>
        <p:grpSpPr>
          <a:xfrm>
            <a:off x="3052378" y="3685583"/>
            <a:ext cx="6087244" cy="2578692"/>
            <a:chOff x="2804621" y="3322278"/>
            <a:chExt cx="6087244" cy="2578692"/>
          </a:xfrm>
        </p:grpSpPr>
        <p:sp>
          <p:nvSpPr>
            <p:cNvPr id="40" name="矩形: 圆角 4">
              <a:extLst>
                <a:ext uri="{FF2B5EF4-FFF2-40B4-BE49-F238E27FC236}">
                  <a16:creationId xmlns:a16="http://schemas.microsoft.com/office/drawing/2014/main" id="{7E85806B-31B2-6579-0B88-5775303669F8}"/>
                </a:ext>
              </a:extLst>
            </p:cNvPr>
            <p:cNvSpPr txBox="1"/>
            <p:nvPr/>
          </p:nvSpPr>
          <p:spPr>
            <a:xfrm>
              <a:off x="5791017" y="4768004"/>
              <a:ext cx="1607651" cy="410104"/>
            </a:xfrm>
            <a:prstGeom prst="round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altLang="zh-CN" sz="1600" kern="1200"/>
                <a:t>User story</a:t>
              </a:r>
              <a:endParaRPr lang="zh-CN" altLang="en-US" sz="1600" kern="1200"/>
            </a:p>
          </p:txBody>
        </p:sp>
        <p:sp>
          <p:nvSpPr>
            <p:cNvPr id="22" name="矩形: 圆角 4">
              <a:extLst>
                <a:ext uri="{FF2B5EF4-FFF2-40B4-BE49-F238E27FC236}">
                  <a16:creationId xmlns:a16="http://schemas.microsoft.com/office/drawing/2014/main" id="{BAB167AB-C758-6BD6-9600-7FDD14B40557}"/>
                </a:ext>
              </a:extLst>
            </p:cNvPr>
            <p:cNvSpPr txBox="1"/>
            <p:nvPr/>
          </p:nvSpPr>
          <p:spPr>
            <a:xfrm>
              <a:off x="2804621" y="3322278"/>
              <a:ext cx="1607651" cy="410104"/>
            </a:xfrm>
            <a:prstGeom prst="round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altLang="zh-CN" sz="1600" kern="1200" dirty="0"/>
                <a:t>Epic</a:t>
              </a:r>
              <a:endParaRPr lang="zh-CN" altLang="en-US" sz="1600" kern="1200" dirty="0"/>
            </a:p>
          </p:txBody>
        </p:sp>
        <p:sp>
          <p:nvSpPr>
            <p:cNvPr id="25" name="矩形: 圆角 4">
              <a:extLst>
                <a:ext uri="{FF2B5EF4-FFF2-40B4-BE49-F238E27FC236}">
                  <a16:creationId xmlns:a16="http://schemas.microsoft.com/office/drawing/2014/main" id="{314379CE-358D-C64E-52CC-C561DADC8B2B}"/>
                </a:ext>
              </a:extLst>
            </p:cNvPr>
            <p:cNvSpPr txBox="1"/>
            <p:nvPr/>
          </p:nvSpPr>
          <p:spPr>
            <a:xfrm>
              <a:off x="4297819" y="4045141"/>
              <a:ext cx="1607651" cy="410104"/>
            </a:xfrm>
            <a:prstGeom prst="round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altLang="zh-CN" sz="1600" kern="1200"/>
                <a:t>Feature</a:t>
              </a:r>
              <a:endParaRPr lang="zh-CN" altLang="en-US" sz="1600" kern="1200"/>
            </a:p>
          </p:txBody>
        </p:sp>
        <p:sp>
          <p:nvSpPr>
            <p:cNvPr id="41" name="矩形: 圆角 4">
              <a:extLst>
                <a:ext uri="{FF2B5EF4-FFF2-40B4-BE49-F238E27FC236}">
                  <a16:creationId xmlns:a16="http://schemas.microsoft.com/office/drawing/2014/main" id="{2EDBC58B-AEA9-EB0B-B022-ABCA275DB65B}"/>
                </a:ext>
              </a:extLst>
            </p:cNvPr>
            <p:cNvSpPr txBox="1"/>
            <p:nvPr/>
          </p:nvSpPr>
          <p:spPr>
            <a:xfrm>
              <a:off x="7284214" y="5490866"/>
              <a:ext cx="1607651" cy="410104"/>
            </a:xfrm>
            <a:prstGeom prst="round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altLang="zh-CN" sz="1600" kern="1200"/>
                <a:t>Task</a:t>
              </a:r>
              <a:endParaRPr lang="zh-CN" altLang="en-US" sz="1600" kern="1200"/>
            </a:p>
          </p:txBody>
        </p:sp>
        <p:cxnSp>
          <p:nvCxnSpPr>
            <p:cNvPr id="42" name="连接符: 肘形 41">
              <a:extLst>
                <a:ext uri="{FF2B5EF4-FFF2-40B4-BE49-F238E27FC236}">
                  <a16:creationId xmlns:a16="http://schemas.microsoft.com/office/drawing/2014/main" id="{49E28BC4-4B9F-0075-D637-784AF9E68682}"/>
                </a:ext>
              </a:extLst>
            </p:cNvPr>
            <p:cNvCxnSpPr>
              <a:cxnSpLocks/>
            </p:cNvCxnSpPr>
            <p:nvPr/>
          </p:nvCxnSpPr>
          <p:spPr>
            <a:xfrm rot="16200000" flipH="1">
              <a:off x="3694228" y="3646601"/>
              <a:ext cx="517811" cy="689372"/>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连接符: 肘形 46">
              <a:extLst>
                <a:ext uri="{FF2B5EF4-FFF2-40B4-BE49-F238E27FC236}">
                  <a16:creationId xmlns:a16="http://schemas.microsoft.com/office/drawing/2014/main" id="{2D922A08-7D85-4507-AC8C-3ECA68D14465}"/>
                </a:ext>
              </a:extLst>
            </p:cNvPr>
            <p:cNvCxnSpPr>
              <a:cxnSpLocks/>
            </p:cNvCxnSpPr>
            <p:nvPr/>
          </p:nvCxnSpPr>
          <p:spPr>
            <a:xfrm rot="16200000" flipH="1">
              <a:off x="6680623" y="5092327"/>
              <a:ext cx="517810" cy="689371"/>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连接符: 肘形 51">
              <a:extLst>
                <a:ext uri="{FF2B5EF4-FFF2-40B4-BE49-F238E27FC236}">
                  <a16:creationId xmlns:a16="http://schemas.microsoft.com/office/drawing/2014/main" id="{7F711B3C-3E69-B579-1B8D-BADA43105AD1}"/>
                </a:ext>
              </a:extLst>
            </p:cNvPr>
            <p:cNvCxnSpPr>
              <a:cxnSpLocks/>
            </p:cNvCxnSpPr>
            <p:nvPr/>
          </p:nvCxnSpPr>
          <p:spPr>
            <a:xfrm rot="16200000" flipH="1">
              <a:off x="5187426" y="4369464"/>
              <a:ext cx="517811" cy="689372"/>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55244958"/>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605DD-E8BC-0F42-4A3A-8EA035C189C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A98645D-956F-140A-9DAE-C2A728820EDA}"/>
              </a:ext>
            </a:extLst>
          </p:cNvPr>
          <p:cNvSpPr>
            <a:spLocks noGrp="1"/>
          </p:cNvSpPr>
          <p:nvPr>
            <p:ph type="title"/>
          </p:nvPr>
        </p:nvSpPr>
        <p:spPr>
          <a:xfrm>
            <a:off x="792000" y="360000"/>
            <a:ext cx="6375921" cy="429413"/>
          </a:xfrm>
        </p:spPr>
        <p:txBody>
          <a:bodyPr/>
          <a:lstStyle/>
          <a:p>
            <a:r>
              <a:rPr lang="zh-CN" altLang="en-US" dirty="0"/>
              <a:t>史诗</a:t>
            </a:r>
          </a:p>
        </p:txBody>
      </p:sp>
      <p:sp>
        <p:nvSpPr>
          <p:cNvPr id="6" name="内容占位符 5">
            <a:extLst>
              <a:ext uri="{FF2B5EF4-FFF2-40B4-BE49-F238E27FC236}">
                <a16:creationId xmlns:a16="http://schemas.microsoft.com/office/drawing/2014/main" id="{1876C3D2-C21B-E10B-0D3A-16351660AEE1}"/>
              </a:ext>
            </a:extLst>
          </p:cNvPr>
          <p:cNvSpPr>
            <a:spLocks noGrp="1"/>
          </p:cNvSpPr>
          <p:nvPr>
            <p:ph idx="1"/>
          </p:nvPr>
        </p:nvSpPr>
        <p:spPr>
          <a:xfrm>
            <a:off x="696000" y="864000"/>
            <a:ext cx="10800000" cy="5400000"/>
          </a:xfrm>
        </p:spPr>
        <p:txBody>
          <a:bodyPr/>
          <a:lstStyle/>
          <a:p>
            <a:r>
              <a:rPr lang="zh-CN" altLang="en-US" dirty="0"/>
              <a:t>通常是战略级目标，可能跨越数月、多个团队、多个发布版本</a:t>
            </a:r>
            <a:endParaRPr lang="en-US" altLang="zh-CN" dirty="0"/>
          </a:p>
          <a:p>
            <a:pPr lvl="1"/>
            <a:r>
              <a:rPr lang="en-US" altLang="zh-CN" dirty="0"/>
              <a:t>User stories is that they can be written at varying levels of detail.</a:t>
            </a:r>
          </a:p>
          <a:p>
            <a:pPr lvl="1"/>
            <a:r>
              <a:rPr lang="en-US" altLang="zh-CN" dirty="0"/>
              <a:t>Large user stories are generally known as epics.</a:t>
            </a:r>
          </a:p>
          <a:p>
            <a:pPr lvl="1"/>
            <a:r>
              <a:rPr lang="en-US" altLang="zh-CN" dirty="0"/>
              <a:t>Because an epic is generally too large for an agile team to complete in one iteration, it is split into multiple smaller user stories before it is worked on.</a:t>
            </a:r>
          </a:p>
        </p:txBody>
      </p:sp>
      <p:sp>
        <p:nvSpPr>
          <p:cNvPr id="7" name="文本占位符 6">
            <a:extLst>
              <a:ext uri="{FF2B5EF4-FFF2-40B4-BE49-F238E27FC236}">
                <a16:creationId xmlns:a16="http://schemas.microsoft.com/office/drawing/2014/main" id="{6D8768F3-92AD-47C7-DACD-DE3ADC339F4D}"/>
              </a:ext>
            </a:extLst>
          </p:cNvPr>
          <p:cNvSpPr>
            <a:spLocks noGrp="1"/>
          </p:cNvSpPr>
          <p:nvPr>
            <p:ph type="body" sz="quarter" idx="10"/>
          </p:nvPr>
        </p:nvSpPr>
        <p:spPr>
          <a:xfrm>
            <a:off x="7071919" y="448519"/>
            <a:ext cx="4424080" cy="338554"/>
          </a:xfrm>
        </p:spPr>
        <p:txBody>
          <a:bodyPr/>
          <a:lstStyle/>
          <a:p>
            <a:r>
              <a:rPr lang="en-US" altLang="zh-CN" dirty="0"/>
              <a:t>Epics</a:t>
            </a:r>
            <a:endParaRPr lang="zh-CN" altLang="en-US" dirty="0"/>
          </a:p>
        </p:txBody>
      </p:sp>
    </p:spTree>
    <p:extLst>
      <p:ext uri="{BB962C8B-B14F-4D97-AF65-F5344CB8AC3E}">
        <p14:creationId xmlns:p14="http://schemas.microsoft.com/office/powerpoint/2010/main" val="615178240"/>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a:extLst>
              <a:ext uri="{FF2B5EF4-FFF2-40B4-BE49-F238E27FC236}">
                <a16:creationId xmlns:a16="http://schemas.microsoft.com/office/drawing/2014/main" id="{8DF49E8C-5505-3F46-F6CC-92E46AF057EC}"/>
              </a:ext>
            </a:extLst>
          </p:cNvPr>
          <p:cNvSpPr txBox="1"/>
          <p:nvPr/>
        </p:nvSpPr>
        <p:spPr>
          <a:xfrm>
            <a:off x="695998" y="2690336"/>
            <a:ext cx="10800001" cy="1323439"/>
          </a:xfrm>
          <a:prstGeom prst="rect">
            <a:avLst/>
          </a:prstGeom>
          <a:noFill/>
        </p:spPr>
        <p:txBody>
          <a:bodyPr wrap="square" rtlCol="0">
            <a:spAutoFit/>
          </a:bodyPr>
          <a:lstStyle/>
          <a:p>
            <a:r>
              <a:rPr lang="en-US" altLang="zh-CN" sz="1600" dirty="0"/>
              <a:t>Epic</a:t>
            </a:r>
          </a:p>
          <a:p>
            <a:r>
              <a:rPr lang="en-US" altLang="zh-CN" sz="1600" dirty="0"/>
              <a:t>As a busy executive,</a:t>
            </a:r>
            <a:br>
              <a:rPr lang="en-US" altLang="zh-CN" sz="1600" dirty="0"/>
            </a:br>
            <a:r>
              <a:rPr lang="en-US" altLang="zh-CN" sz="1600" dirty="0"/>
              <a:t>I want to be able to save favorites on my mobile weather application</a:t>
            </a:r>
            <a:br>
              <a:rPr lang="en-US" altLang="zh-CN" sz="1600" dirty="0"/>
            </a:br>
            <a:r>
              <a:rPr lang="en-US" altLang="zh-CN" sz="1600" dirty="0"/>
              <a:t>so that I can choose from a finite drop-down list to easily locate the weather in the destination I am travelling to.</a:t>
            </a:r>
          </a:p>
        </p:txBody>
      </p:sp>
    </p:spTree>
    <p:extLst>
      <p:ext uri="{BB962C8B-B14F-4D97-AF65-F5344CB8AC3E}">
        <p14:creationId xmlns:p14="http://schemas.microsoft.com/office/powerpoint/2010/main" val="3952024898"/>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B07BC-8F3A-B8FE-9660-C2DEF4ACD488}"/>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8F4012F9-F9B7-93D3-DD3C-E483DFBC0612}"/>
              </a:ext>
            </a:extLst>
          </p:cNvPr>
          <p:cNvSpPr txBox="1"/>
          <p:nvPr/>
        </p:nvSpPr>
        <p:spPr>
          <a:xfrm>
            <a:off x="695998" y="602222"/>
            <a:ext cx="10800001" cy="1077218"/>
          </a:xfrm>
          <a:prstGeom prst="rect">
            <a:avLst/>
          </a:prstGeom>
          <a:noFill/>
        </p:spPr>
        <p:txBody>
          <a:bodyPr wrap="square" rtlCol="0">
            <a:spAutoFit/>
          </a:bodyPr>
          <a:lstStyle/>
          <a:p>
            <a:r>
              <a:rPr lang="en-US" altLang="zh-CN" sz="1600"/>
              <a:t>Break down story 1</a:t>
            </a:r>
          </a:p>
          <a:p>
            <a:r>
              <a:rPr lang="en-US" altLang="zh-CN" sz="1600"/>
              <a:t>As a busy executive,</a:t>
            </a:r>
            <a:br>
              <a:rPr lang="en-US" altLang="zh-CN" sz="1600"/>
            </a:br>
            <a:r>
              <a:rPr lang="en-US" altLang="zh-CN" sz="1600"/>
              <a:t>I want to be able to save a search location to my list of favorites from my mobile device</a:t>
            </a:r>
            <a:br>
              <a:rPr lang="en-US" altLang="zh-CN" sz="1600"/>
            </a:br>
            <a:r>
              <a:rPr lang="en-US" altLang="zh-CN" sz="1600"/>
              <a:t>So that I can reuse that search on future visits.</a:t>
            </a:r>
            <a:endParaRPr lang="zh-CN" altLang="en-US" sz="1600"/>
          </a:p>
        </p:txBody>
      </p:sp>
      <p:sp>
        <p:nvSpPr>
          <p:cNvPr id="11" name="文本框 10">
            <a:extLst>
              <a:ext uri="{FF2B5EF4-FFF2-40B4-BE49-F238E27FC236}">
                <a16:creationId xmlns:a16="http://schemas.microsoft.com/office/drawing/2014/main" id="{9471EE39-BAE1-215F-F672-6B22E92CA18D}"/>
              </a:ext>
            </a:extLst>
          </p:cNvPr>
          <p:cNvSpPr txBox="1"/>
          <p:nvPr/>
        </p:nvSpPr>
        <p:spPr>
          <a:xfrm>
            <a:off x="695998" y="1831510"/>
            <a:ext cx="10800001" cy="1077218"/>
          </a:xfrm>
          <a:prstGeom prst="rect">
            <a:avLst/>
          </a:prstGeom>
          <a:noFill/>
        </p:spPr>
        <p:txBody>
          <a:bodyPr wrap="square" rtlCol="0">
            <a:spAutoFit/>
          </a:bodyPr>
          <a:lstStyle/>
          <a:p>
            <a:r>
              <a:rPr lang="en-US" altLang="zh-CN" sz="1600" dirty="0"/>
              <a:t>Break down story 2</a:t>
            </a:r>
          </a:p>
          <a:p>
            <a:r>
              <a:rPr lang="en-US" altLang="zh-CN" sz="1600" dirty="0"/>
              <a:t>As a busy executive,</a:t>
            </a:r>
            <a:br>
              <a:rPr lang="en-US" altLang="zh-CN" sz="1600" dirty="0"/>
            </a:br>
            <a:r>
              <a:rPr lang="en-US" altLang="zh-CN" sz="1600" dirty="0"/>
              <a:t>I want to be able to name my saved searches from my mobile device</a:t>
            </a:r>
            <a:br>
              <a:rPr lang="en-US" altLang="zh-CN" sz="1600" dirty="0"/>
            </a:br>
            <a:r>
              <a:rPr lang="en-US" altLang="zh-CN" sz="1600" dirty="0"/>
              <a:t>so that I know how to access each saved search in the future.</a:t>
            </a:r>
            <a:endParaRPr lang="zh-CN" altLang="en-US" sz="1600" dirty="0"/>
          </a:p>
        </p:txBody>
      </p:sp>
      <p:sp>
        <p:nvSpPr>
          <p:cNvPr id="2" name="文本框 1">
            <a:extLst>
              <a:ext uri="{FF2B5EF4-FFF2-40B4-BE49-F238E27FC236}">
                <a16:creationId xmlns:a16="http://schemas.microsoft.com/office/drawing/2014/main" id="{089A9971-BA19-2791-3889-0A6B8358F3A7}"/>
              </a:ext>
            </a:extLst>
          </p:cNvPr>
          <p:cNvSpPr txBox="1"/>
          <p:nvPr/>
        </p:nvSpPr>
        <p:spPr>
          <a:xfrm>
            <a:off x="695998" y="3060798"/>
            <a:ext cx="10800001" cy="1323439"/>
          </a:xfrm>
          <a:prstGeom prst="rect">
            <a:avLst/>
          </a:prstGeom>
          <a:noFill/>
        </p:spPr>
        <p:txBody>
          <a:bodyPr wrap="square" rtlCol="0">
            <a:spAutoFit/>
          </a:bodyPr>
          <a:lstStyle/>
          <a:p>
            <a:r>
              <a:rPr lang="en-US" altLang="zh-CN" sz="1600" dirty="0"/>
              <a:t>Break down story 3</a:t>
            </a:r>
          </a:p>
          <a:p>
            <a:r>
              <a:rPr lang="en-US" altLang="zh-CN" sz="1600" dirty="0"/>
              <a:t>As a busy executive,</a:t>
            </a:r>
            <a:br>
              <a:rPr lang="en-US" altLang="zh-CN" sz="1600" dirty="0"/>
            </a:br>
            <a:r>
              <a:rPr lang="en-US" altLang="zh-CN" sz="1600" dirty="0"/>
              <a:t>I want the name of my saved searches to default to the city name, unless I choose to manually override it</a:t>
            </a:r>
            <a:br>
              <a:rPr lang="en-US" altLang="zh-CN" sz="1600" dirty="0"/>
            </a:br>
            <a:r>
              <a:rPr lang="en-US" altLang="zh-CN" sz="1600" dirty="0"/>
              <a:t>So that I can streamline saving my searches.</a:t>
            </a:r>
          </a:p>
        </p:txBody>
      </p:sp>
      <p:sp>
        <p:nvSpPr>
          <p:cNvPr id="3" name="文本框 2">
            <a:extLst>
              <a:ext uri="{FF2B5EF4-FFF2-40B4-BE49-F238E27FC236}">
                <a16:creationId xmlns:a16="http://schemas.microsoft.com/office/drawing/2014/main" id="{F205F743-763C-90B3-0605-ACE8180D09EC}"/>
              </a:ext>
            </a:extLst>
          </p:cNvPr>
          <p:cNvSpPr txBox="1"/>
          <p:nvPr/>
        </p:nvSpPr>
        <p:spPr>
          <a:xfrm>
            <a:off x="695998" y="4567086"/>
            <a:ext cx="10800001" cy="1569660"/>
          </a:xfrm>
          <a:prstGeom prst="rect">
            <a:avLst/>
          </a:prstGeom>
          <a:noFill/>
        </p:spPr>
        <p:txBody>
          <a:bodyPr wrap="square" rtlCol="0">
            <a:spAutoFit/>
          </a:bodyPr>
          <a:lstStyle/>
          <a:p>
            <a:r>
              <a:rPr lang="en-US" altLang="zh-CN" sz="1600"/>
              <a:t>Break down story 4</a:t>
            </a:r>
          </a:p>
          <a:p>
            <a:r>
              <a:rPr lang="en-US" altLang="zh-CN" sz="1600"/>
              <a:t>As a busy executive,</a:t>
            </a:r>
            <a:br>
              <a:rPr lang="en-US" altLang="zh-CN" sz="1600"/>
            </a:br>
            <a:r>
              <a:rPr lang="en-US" altLang="zh-CN" sz="1600"/>
              <a:t>I want my “saved favorites” option on the user interface to be presented on a mobile device near the “search location”</a:t>
            </a:r>
            <a:br>
              <a:rPr lang="en-US" altLang="zh-CN" sz="1600"/>
            </a:br>
            <a:r>
              <a:rPr lang="en-US" altLang="zh-CN" sz="1600"/>
              <a:t>So that I have the option of starting a new search or using a saved one, and can minimize my keystrokes within the weather application.</a:t>
            </a:r>
          </a:p>
        </p:txBody>
      </p:sp>
    </p:spTree>
    <p:extLst>
      <p:ext uri="{BB962C8B-B14F-4D97-AF65-F5344CB8AC3E}">
        <p14:creationId xmlns:p14="http://schemas.microsoft.com/office/powerpoint/2010/main" val="1895508462"/>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7247F-AD6F-C9A4-AD2F-C41E813C8115}"/>
            </a:ext>
          </a:extLst>
        </p:cNvPr>
        <p:cNvGrpSpPr/>
        <p:nvPr/>
      </p:nvGrpSpPr>
      <p:grpSpPr>
        <a:xfrm>
          <a:off x="0" y="0"/>
          <a:ext cx="0" cy="0"/>
          <a:chOff x="0" y="0"/>
          <a:chExt cx="0" cy="0"/>
        </a:xfrm>
      </p:grpSpPr>
      <p:sp>
        <p:nvSpPr>
          <p:cNvPr id="10" name="文本框 9">
            <a:extLst>
              <a:ext uri="{FF2B5EF4-FFF2-40B4-BE49-F238E27FC236}">
                <a16:creationId xmlns:a16="http://schemas.microsoft.com/office/drawing/2014/main" id="{51A6ED42-CFE9-802B-0554-BD80A0CF813C}"/>
              </a:ext>
            </a:extLst>
          </p:cNvPr>
          <p:cNvSpPr txBox="1"/>
          <p:nvPr/>
        </p:nvSpPr>
        <p:spPr>
          <a:xfrm>
            <a:off x="695998" y="2321005"/>
            <a:ext cx="10800001" cy="2031325"/>
          </a:xfrm>
          <a:prstGeom prst="rect">
            <a:avLst/>
          </a:prstGeom>
          <a:noFill/>
        </p:spPr>
        <p:txBody>
          <a:bodyPr wrap="square" rtlCol="0">
            <a:spAutoFit/>
          </a:bodyPr>
          <a:lstStyle/>
          <a:p>
            <a:pPr>
              <a:spcAft>
                <a:spcPts val="1200"/>
              </a:spcAft>
            </a:pPr>
            <a:r>
              <a:rPr lang="en-US" altLang="zh-CN" sz="1600" dirty="0"/>
              <a:t>Acceptance Criteria</a:t>
            </a:r>
          </a:p>
          <a:p>
            <a:pPr marL="342900" indent="-342900">
              <a:spcAft>
                <a:spcPts val="1200"/>
              </a:spcAft>
              <a:buFont typeface="+mj-lt"/>
              <a:buAutoNum type="arabicPeriod"/>
            </a:pPr>
            <a:r>
              <a:rPr lang="en-US" altLang="zh-CN" sz="1600" dirty="0"/>
              <a:t>Acceptance Criteria is simply a high-level acceptance test that will be true after the agile user story is complete.</a:t>
            </a:r>
          </a:p>
          <a:p>
            <a:pPr marL="342900" indent="-342900">
              <a:spcAft>
                <a:spcPts val="1200"/>
              </a:spcAft>
              <a:buFont typeface="+mj-lt"/>
              <a:buAutoNum type="arabicPeriod"/>
            </a:pPr>
            <a:r>
              <a:rPr lang="en-US" altLang="zh-CN" sz="1600" dirty="0"/>
              <a:t>Normally written on the back of the story card.</a:t>
            </a:r>
          </a:p>
          <a:p>
            <a:pPr marL="342900" indent="-342900">
              <a:spcAft>
                <a:spcPts val="1200"/>
              </a:spcAft>
              <a:buFont typeface="+mj-lt"/>
              <a:buAutoNum type="arabicPeriod"/>
            </a:pPr>
            <a:r>
              <a:rPr lang="en-US" altLang="zh-CN" sz="1600" dirty="0"/>
              <a:t>It is a great way to ensure that a story is understood and to invite negotiation with the team about the business value that we are trying to create.</a:t>
            </a:r>
          </a:p>
        </p:txBody>
      </p:sp>
    </p:spTree>
    <p:extLst>
      <p:ext uri="{BB962C8B-B14F-4D97-AF65-F5344CB8AC3E}">
        <p14:creationId xmlns:p14="http://schemas.microsoft.com/office/powerpoint/2010/main" val="3708229490"/>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2">
            <a:extLst>
              <a:ext uri="{FF2B5EF4-FFF2-40B4-BE49-F238E27FC236}">
                <a16:creationId xmlns:a16="http://schemas.microsoft.com/office/drawing/2014/main" id="{09499DDA-E48D-2091-70B4-34AEE19428A4}"/>
              </a:ext>
            </a:extLst>
          </p:cNvPr>
          <p:cNvSpPr txBox="1"/>
          <p:nvPr/>
        </p:nvSpPr>
        <p:spPr>
          <a:xfrm>
            <a:off x="1056000" y="1603407"/>
            <a:ext cx="2210862" cy="338554"/>
          </a:xfrm>
          <a:prstGeom prst="rect">
            <a:avLst/>
          </a:prstGeom>
          <a:noFill/>
        </p:spPr>
        <p:txBody>
          <a:bodyPr wrap="none" rtlCol="0">
            <a:spAutoFit/>
          </a:bodyPr>
          <a:lstStyle/>
          <a:p>
            <a:r>
              <a:rPr lang="zh-CN" altLang="en-US" sz="1600" dirty="0"/>
              <a:t>课后</a:t>
            </a:r>
            <a:r>
              <a:rPr lang="zh-CN" altLang="en-US" sz="1600"/>
              <a:t>思考 </a:t>
            </a:r>
            <a:r>
              <a:rPr lang="en-US" altLang="zh-CN" sz="1600" dirty="0"/>
              <a:t>Homework</a:t>
            </a:r>
            <a:endParaRPr lang="zh-CN" altLang="en-US" sz="1600" dirty="0"/>
          </a:p>
        </p:txBody>
      </p:sp>
      <p:cxnSp>
        <p:nvCxnSpPr>
          <p:cNvPr id="6" name="Straight Connector 3">
            <a:extLst>
              <a:ext uri="{FF2B5EF4-FFF2-40B4-BE49-F238E27FC236}">
                <a16:creationId xmlns:a16="http://schemas.microsoft.com/office/drawing/2014/main" id="{7DD5BABF-9C63-D0A3-D71F-5229F4EB92F6}"/>
              </a:ext>
            </a:extLst>
          </p:cNvPr>
          <p:cNvCxnSpPr>
            <a:cxnSpLocks/>
          </p:cNvCxnSpPr>
          <p:nvPr/>
        </p:nvCxnSpPr>
        <p:spPr>
          <a:xfrm>
            <a:off x="1056000" y="2003517"/>
            <a:ext cx="10080000" cy="0"/>
          </a:xfrm>
          <a:prstGeom prst="line">
            <a:avLst/>
          </a:prstGeom>
          <a:ln w="38100">
            <a:gradFill>
              <a:gsLst>
                <a:gs pos="70000">
                  <a:schemeClr val="accent2"/>
                </a:gs>
                <a:gs pos="0">
                  <a:schemeClr val="accent2"/>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7" name="TextBox 4">
            <a:extLst>
              <a:ext uri="{FF2B5EF4-FFF2-40B4-BE49-F238E27FC236}">
                <a16:creationId xmlns:a16="http://schemas.microsoft.com/office/drawing/2014/main" id="{A054F132-017B-F799-AE20-3EDB9C67A36E}"/>
              </a:ext>
            </a:extLst>
          </p:cNvPr>
          <p:cNvSpPr txBox="1"/>
          <p:nvPr/>
        </p:nvSpPr>
        <p:spPr>
          <a:xfrm>
            <a:off x="1056000" y="2003517"/>
            <a:ext cx="6407523" cy="338554"/>
          </a:xfrm>
          <a:prstGeom prst="rect">
            <a:avLst/>
          </a:prstGeom>
          <a:noFill/>
        </p:spPr>
        <p:txBody>
          <a:bodyPr wrap="none" rtlCol="0">
            <a:spAutoFit/>
          </a:bodyPr>
          <a:lstStyle/>
          <a:p>
            <a:r>
              <a:rPr lang="zh-CN" altLang="en-US" sz="1600" dirty="0"/>
              <a:t>举例并</a:t>
            </a:r>
            <a:r>
              <a:rPr lang="zh-CN" altLang="en-US" sz="1600"/>
              <a:t>分析：</a:t>
            </a:r>
            <a:r>
              <a:rPr lang="en-US" altLang="zh-CN" sz="1600"/>
              <a:t>SOW</a:t>
            </a:r>
            <a:r>
              <a:rPr lang="zh-CN" altLang="en-US" sz="1600"/>
              <a:t>、</a:t>
            </a:r>
            <a:r>
              <a:rPr lang="en-US" altLang="zh-CN" sz="1600"/>
              <a:t>SRS</a:t>
            </a:r>
            <a:r>
              <a:rPr lang="zh-CN" altLang="en-US" sz="1600"/>
              <a:t>、</a:t>
            </a:r>
            <a:r>
              <a:rPr lang="en-US" altLang="zh-CN" sz="1600"/>
              <a:t>WBS</a:t>
            </a:r>
            <a:r>
              <a:rPr lang="zh-CN" altLang="en-US" sz="1600"/>
              <a:t>、</a:t>
            </a:r>
            <a:r>
              <a:rPr lang="en-US" altLang="zh-CN" sz="1600" dirty="0"/>
              <a:t>Package </a:t>
            </a:r>
            <a:r>
              <a:rPr lang="zh-CN" altLang="en-US" sz="1600"/>
              <a:t>和 </a:t>
            </a:r>
            <a:r>
              <a:rPr lang="en-US" altLang="zh-CN" sz="1600" dirty="0"/>
              <a:t>Dictionary </a:t>
            </a:r>
            <a:r>
              <a:rPr lang="zh-CN" altLang="en-US" sz="1600" dirty="0"/>
              <a:t>的关系</a:t>
            </a:r>
          </a:p>
        </p:txBody>
      </p:sp>
    </p:spTree>
    <p:extLst>
      <p:ext uri="{BB962C8B-B14F-4D97-AF65-F5344CB8AC3E}">
        <p14:creationId xmlns:p14="http://schemas.microsoft.com/office/powerpoint/2010/main" val="1048125161"/>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459CA-3422-05F2-6B02-BAEA21002EE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B3640AA-62E5-79DF-6561-D67CED773395}"/>
              </a:ext>
            </a:extLst>
          </p:cNvPr>
          <p:cNvSpPr>
            <a:spLocks noGrp="1"/>
          </p:cNvSpPr>
          <p:nvPr>
            <p:ph type="ctrTitle"/>
          </p:nvPr>
        </p:nvSpPr>
        <p:spPr>
          <a:xfrm>
            <a:off x="2464886" y="4681056"/>
            <a:ext cx="7262228" cy="798491"/>
          </a:xfrm>
        </p:spPr>
        <p:txBody>
          <a:bodyPr/>
          <a:lstStyle/>
          <a:p>
            <a:r>
              <a:rPr lang="zh-CN" altLang="en-US"/>
              <a:t>软件项目成本计划</a:t>
            </a:r>
          </a:p>
        </p:txBody>
      </p:sp>
      <p:sp>
        <p:nvSpPr>
          <p:cNvPr id="3" name="副标题 2">
            <a:extLst>
              <a:ext uri="{FF2B5EF4-FFF2-40B4-BE49-F238E27FC236}">
                <a16:creationId xmlns:a16="http://schemas.microsoft.com/office/drawing/2014/main" id="{B138680D-15DD-035C-F4EC-29931F7BA0E6}"/>
              </a:ext>
            </a:extLst>
          </p:cNvPr>
          <p:cNvSpPr>
            <a:spLocks noGrp="1"/>
          </p:cNvSpPr>
          <p:nvPr>
            <p:ph type="subTitle" idx="1"/>
          </p:nvPr>
        </p:nvSpPr>
        <p:spPr>
          <a:xfrm>
            <a:off x="2464886" y="5479548"/>
            <a:ext cx="7262228" cy="458180"/>
          </a:xfrm>
        </p:spPr>
        <p:txBody>
          <a:bodyPr/>
          <a:lstStyle/>
          <a:p>
            <a:r>
              <a:rPr lang="en-US" altLang="zh-CN"/>
              <a:t>Section 4 Project Cost</a:t>
            </a:r>
            <a:endParaRPr lang="zh-CN" altLang="en-US"/>
          </a:p>
        </p:txBody>
      </p:sp>
      <p:sp>
        <p:nvSpPr>
          <p:cNvPr id="7" name="文本占位符 6">
            <a:extLst>
              <a:ext uri="{FF2B5EF4-FFF2-40B4-BE49-F238E27FC236}">
                <a16:creationId xmlns:a16="http://schemas.microsoft.com/office/drawing/2014/main" id="{403165B6-7A00-E82A-DCFE-3A6F9D32E758}"/>
              </a:ext>
            </a:extLst>
          </p:cNvPr>
          <p:cNvSpPr>
            <a:spLocks noGrp="1"/>
          </p:cNvSpPr>
          <p:nvPr>
            <p:ph type="body" sz="quarter" idx="11"/>
          </p:nvPr>
        </p:nvSpPr>
        <p:spPr>
          <a:xfrm>
            <a:off x="3883891" y="2047875"/>
            <a:ext cx="4424219" cy="2531269"/>
          </a:xfrm>
        </p:spPr>
        <p:txBody>
          <a:bodyPr/>
          <a:lstStyle/>
          <a:p>
            <a:r>
              <a:rPr lang="zh-CN" altLang="en-US" dirty="0"/>
              <a:t>成本估算</a:t>
            </a:r>
            <a:endParaRPr lang="en-US" altLang="zh-CN" dirty="0"/>
          </a:p>
          <a:p>
            <a:r>
              <a:rPr lang="zh-CN" altLang="en-US" dirty="0"/>
              <a:t>传统项目成本估算</a:t>
            </a:r>
            <a:endParaRPr lang="en-US" altLang="zh-CN" dirty="0"/>
          </a:p>
          <a:p>
            <a:r>
              <a:rPr lang="zh-CN" altLang="en-US" dirty="0"/>
              <a:t>敏捷项目成本估算</a:t>
            </a:r>
            <a:endParaRPr lang="en-US" altLang="zh-CN" dirty="0"/>
          </a:p>
          <a:p>
            <a:r>
              <a:rPr lang="zh-CN" altLang="en-US" dirty="0"/>
              <a:t>成本预算</a:t>
            </a:r>
          </a:p>
        </p:txBody>
      </p:sp>
    </p:spTree>
    <p:extLst>
      <p:ext uri="{BB962C8B-B14F-4D97-AF65-F5344CB8AC3E}">
        <p14:creationId xmlns:p14="http://schemas.microsoft.com/office/powerpoint/2010/main" val="1822699390"/>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EDE52-CA3F-F734-1CA0-12327D700235}"/>
            </a:ext>
          </a:extLst>
        </p:cNvPr>
        <p:cNvGrpSpPr/>
        <p:nvPr/>
      </p:nvGrpSpPr>
      <p:grpSpPr>
        <a:xfrm>
          <a:off x="0" y="0"/>
          <a:ext cx="0" cy="0"/>
          <a:chOff x="0" y="0"/>
          <a:chExt cx="0" cy="0"/>
        </a:xfrm>
      </p:grpSpPr>
      <p:sp>
        <p:nvSpPr>
          <p:cNvPr id="5" name="箭头: V 形 4">
            <a:extLst>
              <a:ext uri="{FF2B5EF4-FFF2-40B4-BE49-F238E27FC236}">
                <a16:creationId xmlns:a16="http://schemas.microsoft.com/office/drawing/2014/main" id="{47262045-1B8C-903E-4933-AE44FCB65D54}"/>
              </a:ext>
            </a:extLst>
          </p:cNvPr>
          <p:cNvSpPr/>
          <p:nvPr/>
        </p:nvSpPr>
        <p:spPr>
          <a:xfrm>
            <a:off x="2454444" y="1897626"/>
            <a:ext cx="1800000" cy="360000"/>
          </a:xfrm>
          <a:prstGeom prst="chevron">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项目开始</a:t>
            </a:r>
          </a:p>
        </p:txBody>
      </p:sp>
      <p:sp>
        <p:nvSpPr>
          <p:cNvPr id="6" name="箭头: V 形 5">
            <a:extLst>
              <a:ext uri="{FF2B5EF4-FFF2-40B4-BE49-F238E27FC236}">
                <a16:creationId xmlns:a16="http://schemas.microsoft.com/office/drawing/2014/main" id="{5C1F8DFE-3F01-656B-3947-45B80B65717B}"/>
              </a:ext>
            </a:extLst>
          </p:cNvPr>
          <p:cNvSpPr/>
          <p:nvPr/>
        </p:nvSpPr>
        <p:spPr>
          <a:xfrm>
            <a:off x="4180548" y="1897626"/>
            <a:ext cx="1800000" cy="360000"/>
          </a:xfrm>
          <a:prstGeom prst="chevron">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solidFill>
              </a:rPr>
              <a:t>项目计划</a:t>
            </a:r>
          </a:p>
        </p:txBody>
      </p:sp>
      <p:sp>
        <p:nvSpPr>
          <p:cNvPr id="7" name="箭头: V 形 6">
            <a:extLst>
              <a:ext uri="{FF2B5EF4-FFF2-40B4-BE49-F238E27FC236}">
                <a16:creationId xmlns:a16="http://schemas.microsoft.com/office/drawing/2014/main" id="{FC921B59-760C-7285-2FAC-FCBACB70FB38}"/>
              </a:ext>
            </a:extLst>
          </p:cNvPr>
          <p:cNvSpPr/>
          <p:nvPr/>
        </p:nvSpPr>
        <p:spPr>
          <a:xfrm>
            <a:off x="5906652" y="1897626"/>
            <a:ext cx="1800000" cy="360000"/>
          </a:xfrm>
          <a:prstGeom prst="chevron">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rPr>
              <a:t>项目执行控制</a:t>
            </a:r>
          </a:p>
        </p:txBody>
      </p:sp>
      <p:sp>
        <p:nvSpPr>
          <p:cNvPr id="8" name="箭头: V 形 7">
            <a:extLst>
              <a:ext uri="{FF2B5EF4-FFF2-40B4-BE49-F238E27FC236}">
                <a16:creationId xmlns:a16="http://schemas.microsoft.com/office/drawing/2014/main" id="{2980D9F0-2A96-32C1-D644-012C40EAF225}"/>
              </a:ext>
            </a:extLst>
          </p:cNvPr>
          <p:cNvSpPr/>
          <p:nvPr/>
        </p:nvSpPr>
        <p:spPr>
          <a:xfrm>
            <a:off x="7632755" y="1897626"/>
            <a:ext cx="1800000" cy="360000"/>
          </a:xfrm>
          <a:prstGeom prst="chevron">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rPr>
              <a:t>项目结束</a:t>
            </a:r>
          </a:p>
        </p:txBody>
      </p:sp>
      <p:sp>
        <p:nvSpPr>
          <p:cNvPr id="9" name="矩形 8">
            <a:extLst>
              <a:ext uri="{FF2B5EF4-FFF2-40B4-BE49-F238E27FC236}">
                <a16:creationId xmlns:a16="http://schemas.microsoft.com/office/drawing/2014/main" id="{513E2CEE-0A0F-5400-18B2-0485026FBC36}"/>
              </a:ext>
            </a:extLst>
          </p:cNvPr>
          <p:cNvSpPr/>
          <p:nvPr/>
        </p:nvSpPr>
        <p:spPr>
          <a:xfrm>
            <a:off x="3453041" y="2998839"/>
            <a:ext cx="430887" cy="2160000"/>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范围计划</a:t>
            </a:r>
          </a:p>
        </p:txBody>
      </p:sp>
      <p:sp>
        <p:nvSpPr>
          <p:cNvPr id="10" name="矩形 9">
            <a:extLst>
              <a:ext uri="{FF2B5EF4-FFF2-40B4-BE49-F238E27FC236}">
                <a16:creationId xmlns:a16="http://schemas.microsoft.com/office/drawing/2014/main" id="{506A6B8F-594B-3E4F-92DC-4978A103224D}"/>
              </a:ext>
            </a:extLst>
          </p:cNvPr>
          <p:cNvSpPr/>
          <p:nvPr/>
        </p:nvSpPr>
        <p:spPr>
          <a:xfrm>
            <a:off x="4147174" y="2998839"/>
            <a:ext cx="430887" cy="216000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bg1"/>
                </a:solidFill>
              </a:rPr>
              <a:t>成本计划</a:t>
            </a:r>
          </a:p>
        </p:txBody>
      </p:sp>
      <p:sp>
        <p:nvSpPr>
          <p:cNvPr id="11" name="矩形 10">
            <a:extLst>
              <a:ext uri="{FF2B5EF4-FFF2-40B4-BE49-F238E27FC236}">
                <a16:creationId xmlns:a16="http://schemas.microsoft.com/office/drawing/2014/main" id="{3A33E050-3E50-EE8D-EC9F-AE865FA2BFF9}"/>
              </a:ext>
            </a:extLst>
          </p:cNvPr>
          <p:cNvSpPr/>
          <p:nvPr/>
        </p:nvSpPr>
        <p:spPr>
          <a:xfrm>
            <a:off x="4840750" y="2998839"/>
            <a:ext cx="430887" cy="2160000"/>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进度计划</a:t>
            </a:r>
          </a:p>
        </p:txBody>
      </p:sp>
      <p:sp>
        <p:nvSpPr>
          <p:cNvPr id="12" name="矩形 11">
            <a:extLst>
              <a:ext uri="{FF2B5EF4-FFF2-40B4-BE49-F238E27FC236}">
                <a16:creationId xmlns:a16="http://schemas.microsoft.com/office/drawing/2014/main" id="{B0CBFCFC-17E7-9AD3-2FCB-EF8B3E4AD7EC}"/>
              </a:ext>
            </a:extLst>
          </p:cNvPr>
          <p:cNvSpPr/>
          <p:nvPr/>
        </p:nvSpPr>
        <p:spPr>
          <a:xfrm>
            <a:off x="5534326" y="2998839"/>
            <a:ext cx="430887" cy="2160000"/>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质量计划</a:t>
            </a:r>
          </a:p>
        </p:txBody>
      </p:sp>
      <p:sp>
        <p:nvSpPr>
          <p:cNvPr id="13" name="矩形 12">
            <a:extLst>
              <a:ext uri="{FF2B5EF4-FFF2-40B4-BE49-F238E27FC236}">
                <a16:creationId xmlns:a16="http://schemas.microsoft.com/office/drawing/2014/main" id="{61CC46FF-28FC-0B9A-4FA6-80F228959D95}"/>
              </a:ext>
            </a:extLst>
          </p:cNvPr>
          <p:cNvSpPr/>
          <p:nvPr/>
        </p:nvSpPr>
        <p:spPr>
          <a:xfrm>
            <a:off x="6227902" y="2998839"/>
            <a:ext cx="430887" cy="2160000"/>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配置管理计划</a:t>
            </a:r>
          </a:p>
        </p:txBody>
      </p:sp>
      <p:sp>
        <p:nvSpPr>
          <p:cNvPr id="14" name="矩形 13">
            <a:extLst>
              <a:ext uri="{FF2B5EF4-FFF2-40B4-BE49-F238E27FC236}">
                <a16:creationId xmlns:a16="http://schemas.microsoft.com/office/drawing/2014/main" id="{AFFE46D4-B39A-652D-0806-0B8156A51034}"/>
              </a:ext>
            </a:extLst>
          </p:cNvPr>
          <p:cNvSpPr/>
          <p:nvPr/>
        </p:nvSpPr>
        <p:spPr>
          <a:xfrm>
            <a:off x="6921478" y="2998839"/>
            <a:ext cx="430887" cy="2160000"/>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团队计划</a:t>
            </a:r>
          </a:p>
        </p:txBody>
      </p:sp>
      <p:sp>
        <p:nvSpPr>
          <p:cNvPr id="15" name="矩形 14">
            <a:extLst>
              <a:ext uri="{FF2B5EF4-FFF2-40B4-BE49-F238E27FC236}">
                <a16:creationId xmlns:a16="http://schemas.microsoft.com/office/drawing/2014/main" id="{70086D4D-B973-7740-94B2-EA7F767225E6}"/>
              </a:ext>
            </a:extLst>
          </p:cNvPr>
          <p:cNvSpPr/>
          <p:nvPr/>
        </p:nvSpPr>
        <p:spPr>
          <a:xfrm>
            <a:off x="7615054" y="2998839"/>
            <a:ext cx="430887" cy="2160000"/>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风险计划</a:t>
            </a:r>
          </a:p>
        </p:txBody>
      </p:sp>
      <p:sp>
        <p:nvSpPr>
          <p:cNvPr id="16" name="矩形 15">
            <a:extLst>
              <a:ext uri="{FF2B5EF4-FFF2-40B4-BE49-F238E27FC236}">
                <a16:creationId xmlns:a16="http://schemas.microsoft.com/office/drawing/2014/main" id="{D1606C1A-77A3-F6B6-A796-6F93D2F6DE4A}"/>
              </a:ext>
            </a:extLst>
          </p:cNvPr>
          <p:cNvSpPr/>
          <p:nvPr/>
        </p:nvSpPr>
        <p:spPr>
          <a:xfrm>
            <a:off x="8308629" y="2998839"/>
            <a:ext cx="430887" cy="2160000"/>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合同计划</a:t>
            </a:r>
          </a:p>
        </p:txBody>
      </p:sp>
      <p:sp>
        <p:nvSpPr>
          <p:cNvPr id="17" name="梯形 27">
            <a:extLst>
              <a:ext uri="{FF2B5EF4-FFF2-40B4-BE49-F238E27FC236}">
                <a16:creationId xmlns:a16="http://schemas.microsoft.com/office/drawing/2014/main" id="{F89B2269-E950-99CE-FD7F-6007080E4274}"/>
              </a:ext>
            </a:extLst>
          </p:cNvPr>
          <p:cNvSpPr/>
          <p:nvPr/>
        </p:nvSpPr>
        <p:spPr>
          <a:xfrm>
            <a:off x="3452485" y="2359742"/>
            <a:ext cx="5287031" cy="639097"/>
          </a:xfrm>
          <a:custGeom>
            <a:avLst/>
            <a:gdLst>
              <a:gd name="csX0" fmla="*/ 0 w 5287031"/>
              <a:gd name="csY0" fmla="*/ 629265 h 629265"/>
              <a:gd name="csX1" fmla="*/ 688259 w 5287031"/>
              <a:gd name="csY1" fmla="*/ 0 h 629265"/>
              <a:gd name="csX2" fmla="*/ 4598772 w 5287031"/>
              <a:gd name="csY2" fmla="*/ 0 h 629265"/>
              <a:gd name="csX3" fmla="*/ 5287031 w 5287031"/>
              <a:gd name="csY3" fmla="*/ 629265 h 629265"/>
              <a:gd name="csX4" fmla="*/ 0 w 5287031"/>
              <a:gd name="csY4" fmla="*/ 629265 h 629265"/>
              <a:gd name="csX0" fmla="*/ 0 w 5287031"/>
              <a:gd name="csY0" fmla="*/ 639097 h 639097"/>
              <a:gd name="csX1" fmla="*/ 688259 w 5287031"/>
              <a:gd name="csY1" fmla="*/ 9832 h 639097"/>
              <a:gd name="csX2" fmla="*/ 2327520 w 5287031"/>
              <a:gd name="csY2" fmla="*/ 0 h 639097"/>
              <a:gd name="csX3" fmla="*/ 5287031 w 5287031"/>
              <a:gd name="csY3" fmla="*/ 639097 h 639097"/>
              <a:gd name="csX4" fmla="*/ 0 w 5287031"/>
              <a:gd name="csY4" fmla="*/ 639097 h 639097"/>
            </a:gdLst>
            <a:ahLst/>
            <a:cxnLst>
              <a:cxn ang="0">
                <a:pos x="csX0" y="csY0"/>
              </a:cxn>
              <a:cxn ang="0">
                <a:pos x="csX1" y="csY1"/>
              </a:cxn>
              <a:cxn ang="0">
                <a:pos x="csX2" y="csY2"/>
              </a:cxn>
              <a:cxn ang="0">
                <a:pos x="csX3" y="csY3"/>
              </a:cxn>
              <a:cxn ang="0">
                <a:pos x="csX4" y="csY4"/>
              </a:cxn>
            </a:cxnLst>
            <a:rect l="l" t="t" r="r" b="b"/>
            <a:pathLst>
              <a:path w="5287031" h="639097">
                <a:moveTo>
                  <a:pt x="0" y="639097"/>
                </a:moveTo>
                <a:lnTo>
                  <a:pt x="688259" y="9832"/>
                </a:lnTo>
                <a:lnTo>
                  <a:pt x="2327520" y="0"/>
                </a:lnTo>
                <a:lnTo>
                  <a:pt x="5287031" y="639097"/>
                </a:lnTo>
                <a:lnTo>
                  <a:pt x="0" y="639097"/>
                </a:lnTo>
                <a:close/>
              </a:path>
            </a:pathLst>
          </a:custGeom>
          <a:gradFill flip="none" rotWithShape="1">
            <a:gsLst>
              <a:gs pos="0">
                <a:srgbClr val="00B0F0"/>
              </a:gs>
              <a:gs pos="100000">
                <a:schemeClr val="bg1">
                  <a:alpha val="0"/>
                </a:scheme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tx1"/>
              </a:solidFill>
            </a:endParaRPr>
          </a:p>
        </p:txBody>
      </p:sp>
    </p:spTree>
    <p:extLst>
      <p:ext uri="{BB962C8B-B14F-4D97-AF65-F5344CB8AC3E}">
        <p14:creationId xmlns:p14="http://schemas.microsoft.com/office/powerpoint/2010/main" val="4276012689"/>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内容占位符 8">
            <a:extLst>
              <a:ext uri="{FF2B5EF4-FFF2-40B4-BE49-F238E27FC236}">
                <a16:creationId xmlns:a16="http://schemas.microsoft.com/office/drawing/2014/main" id="{56CBE3A6-1468-AA91-2804-650F07801D00}"/>
              </a:ext>
            </a:extLst>
          </p:cNvPr>
          <p:cNvGraphicFramePr>
            <a:graphicFrameLocks noChangeAspect="1"/>
          </p:cNvGraphicFramePr>
          <p:nvPr>
            <p:extLst>
              <p:ext uri="{D42A27DB-BD31-4B8C-83A1-F6EECF244321}">
                <p14:modId xmlns:p14="http://schemas.microsoft.com/office/powerpoint/2010/main" val="2902569944"/>
              </p:ext>
            </p:extLst>
          </p:nvPr>
        </p:nvGraphicFramePr>
        <p:xfrm>
          <a:off x="2855595" y="1895475"/>
          <a:ext cx="6480810" cy="30670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48634798"/>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F2D34A03-E45E-E481-E528-8BC6EFA21BDA}"/>
              </a:ext>
            </a:extLst>
          </p:cNvPr>
          <p:cNvSpPr txBox="1"/>
          <p:nvPr/>
        </p:nvSpPr>
        <p:spPr>
          <a:xfrm>
            <a:off x="3333172" y="2884208"/>
            <a:ext cx="1415772" cy="584775"/>
          </a:xfrm>
          <a:prstGeom prst="rect">
            <a:avLst/>
          </a:prstGeom>
          <a:noFill/>
        </p:spPr>
        <p:txBody>
          <a:bodyPr wrap="none" rtlCol="0">
            <a:spAutoFit/>
          </a:bodyPr>
          <a:lstStyle/>
          <a:p>
            <a:r>
              <a:rPr lang="zh-CN" altLang="en-US" sz="3200" dirty="0">
                <a:solidFill>
                  <a:sysClr val="windowText" lastClr="000000"/>
                </a:solidFill>
              </a:rPr>
              <a:t>乱</a:t>
            </a:r>
            <a:r>
              <a:rPr lang="zh-CN" altLang="en-US" sz="1600" dirty="0">
                <a:solidFill>
                  <a:sysClr val="windowText" lastClr="000000"/>
                </a:solidFill>
              </a:rPr>
              <a:t>软件市场</a:t>
            </a:r>
          </a:p>
        </p:txBody>
      </p:sp>
      <p:sp>
        <p:nvSpPr>
          <p:cNvPr id="3" name="文本框 2">
            <a:extLst>
              <a:ext uri="{FF2B5EF4-FFF2-40B4-BE49-F238E27FC236}">
                <a16:creationId xmlns:a16="http://schemas.microsoft.com/office/drawing/2014/main" id="{9A9567BD-EFCC-0FBF-BC58-3B4736DB807C}"/>
              </a:ext>
            </a:extLst>
          </p:cNvPr>
          <p:cNvSpPr txBox="1"/>
          <p:nvPr/>
        </p:nvSpPr>
        <p:spPr>
          <a:xfrm>
            <a:off x="7096322" y="2884208"/>
            <a:ext cx="1415772" cy="584775"/>
          </a:xfrm>
          <a:prstGeom prst="rect">
            <a:avLst/>
          </a:prstGeom>
          <a:noFill/>
        </p:spPr>
        <p:txBody>
          <a:bodyPr wrap="none" rtlCol="0">
            <a:spAutoFit/>
          </a:bodyPr>
          <a:lstStyle/>
          <a:p>
            <a:r>
              <a:rPr lang="zh-CN" altLang="en-US" sz="3200" dirty="0">
                <a:solidFill>
                  <a:sysClr val="windowText" lastClr="000000"/>
                </a:solidFill>
              </a:rPr>
              <a:t>愁</a:t>
            </a:r>
            <a:r>
              <a:rPr lang="zh-CN" altLang="en-US" sz="1600" dirty="0">
                <a:solidFill>
                  <a:sysClr val="windowText" lastClr="000000"/>
                </a:solidFill>
              </a:rPr>
              <a:t>预算审批</a:t>
            </a:r>
          </a:p>
        </p:txBody>
      </p:sp>
      <p:sp>
        <p:nvSpPr>
          <p:cNvPr id="4" name="文本框 3">
            <a:extLst>
              <a:ext uri="{FF2B5EF4-FFF2-40B4-BE49-F238E27FC236}">
                <a16:creationId xmlns:a16="http://schemas.microsoft.com/office/drawing/2014/main" id="{8B8478B1-98AB-D511-860B-F23F30AB3109}"/>
              </a:ext>
            </a:extLst>
          </p:cNvPr>
          <p:cNvSpPr txBox="1"/>
          <p:nvPr/>
        </p:nvSpPr>
        <p:spPr>
          <a:xfrm>
            <a:off x="5214746" y="1406048"/>
            <a:ext cx="1415772" cy="584775"/>
          </a:xfrm>
          <a:prstGeom prst="rect">
            <a:avLst/>
          </a:prstGeom>
          <a:noFill/>
        </p:spPr>
        <p:txBody>
          <a:bodyPr wrap="none" rtlCol="0">
            <a:spAutoFit/>
          </a:bodyPr>
          <a:lstStyle/>
          <a:p>
            <a:r>
              <a:rPr lang="zh-CN" altLang="en-US" sz="3200" dirty="0">
                <a:solidFill>
                  <a:sysClr val="windowText" lastClr="000000"/>
                </a:solidFill>
              </a:rPr>
              <a:t>难</a:t>
            </a:r>
            <a:r>
              <a:rPr lang="zh-CN" altLang="en-US" sz="1600" dirty="0">
                <a:solidFill>
                  <a:sysClr val="windowText" lastClr="000000"/>
                </a:solidFill>
              </a:rPr>
              <a:t>商务谈判</a:t>
            </a:r>
          </a:p>
        </p:txBody>
      </p:sp>
      <p:sp>
        <p:nvSpPr>
          <p:cNvPr id="5" name="文本框 4">
            <a:extLst>
              <a:ext uri="{FF2B5EF4-FFF2-40B4-BE49-F238E27FC236}">
                <a16:creationId xmlns:a16="http://schemas.microsoft.com/office/drawing/2014/main" id="{0E71B2F4-3E57-B920-61BE-AB8DB0686F2F}"/>
              </a:ext>
            </a:extLst>
          </p:cNvPr>
          <p:cNvSpPr txBox="1"/>
          <p:nvPr/>
        </p:nvSpPr>
        <p:spPr>
          <a:xfrm>
            <a:off x="5214746" y="4362366"/>
            <a:ext cx="1415772" cy="584775"/>
          </a:xfrm>
          <a:prstGeom prst="rect">
            <a:avLst/>
          </a:prstGeom>
          <a:noFill/>
        </p:spPr>
        <p:txBody>
          <a:bodyPr wrap="none" rtlCol="0">
            <a:spAutoFit/>
          </a:bodyPr>
          <a:lstStyle/>
          <a:p>
            <a:r>
              <a:rPr lang="zh-CN" altLang="en-US" sz="3200" dirty="0">
                <a:solidFill>
                  <a:sysClr val="windowText" lastClr="000000"/>
                </a:solidFill>
              </a:rPr>
              <a:t>扯</a:t>
            </a:r>
            <a:r>
              <a:rPr lang="zh-CN" altLang="en-US" sz="1600" dirty="0">
                <a:solidFill>
                  <a:sysClr val="windowText" lastClr="000000"/>
                </a:solidFill>
              </a:rPr>
              <a:t>项目结算</a:t>
            </a:r>
          </a:p>
        </p:txBody>
      </p:sp>
      <p:sp>
        <p:nvSpPr>
          <p:cNvPr id="6" name="椭圆 5">
            <a:extLst>
              <a:ext uri="{FF2B5EF4-FFF2-40B4-BE49-F238E27FC236}">
                <a16:creationId xmlns:a16="http://schemas.microsoft.com/office/drawing/2014/main" id="{CD3D08D6-46DF-1F48-E314-33381C3B27D2}"/>
              </a:ext>
            </a:extLst>
          </p:cNvPr>
          <p:cNvSpPr/>
          <p:nvPr/>
        </p:nvSpPr>
        <p:spPr>
          <a:xfrm>
            <a:off x="5456830" y="2710792"/>
            <a:ext cx="931606" cy="931606"/>
          </a:xfrm>
          <a:prstGeom prst="ellipse">
            <a:avLst/>
          </a:prstGeom>
          <a:noFill/>
          <a:ln>
            <a:solidFill>
              <a:srgbClr val="2E75B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ysClr val="windowText" lastClr="000000"/>
                </a:solidFill>
              </a:rPr>
              <a:t>行业问题</a:t>
            </a:r>
          </a:p>
        </p:txBody>
      </p:sp>
      <p:sp>
        <p:nvSpPr>
          <p:cNvPr id="7" name="梯形 6">
            <a:extLst>
              <a:ext uri="{FF2B5EF4-FFF2-40B4-BE49-F238E27FC236}">
                <a16:creationId xmlns:a16="http://schemas.microsoft.com/office/drawing/2014/main" id="{150BC3FE-3E60-8460-7744-D8A57F996DCC}"/>
              </a:ext>
            </a:extLst>
          </p:cNvPr>
          <p:cNvSpPr/>
          <p:nvPr/>
        </p:nvSpPr>
        <p:spPr>
          <a:xfrm rot="5400000">
            <a:off x="4556846" y="2816611"/>
            <a:ext cx="1080000" cy="719968"/>
          </a:xfrm>
          <a:prstGeom prst="trapezoid">
            <a:avLst>
              <a:gd name="adj" fmla="val 53679"/>
            </a:avLst>
          </a:prstGeom>
          <a:gradFill flip="none" rotWithShape="1">
            <a:gsLst>
              <a:gs pos="0">
                <a:srgbClr val="00B0F0"/>
              </a:gs>
              <a:gs pos="100000">
                <a:schemeClr val="bg1">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
        <p:nvSpPr>
          <p:cNvPr id="8" name="梯形 7">
            <a:extLst>
              <a:ext uri="{FF2B5EF4-FFF2-40B4-BE49-F238E27FC236}">
                <a16:creationId xmlns:a16="http://schemas.microsoft.com/office/drawing/2014/main" id="{87E27E3E-D427-7C63-4E37-43D62069F409}"/>
              </a:ext>
            </a:extLst>
          </p:cNvPr>
          <p:cNvSpPr/>
          <p:nvPr/>
        </p:nvSpPr>
        <p:spPr>
          <a:xfrm rot="16200000" flipH="1">
            <a:off x="6208420" y="2816611"/>
            <a:ext cx="1080000" cy="719968"/>
          </a:xfrm>
          <a:prstGeom prst="trapezoid">
            <a:avLst>
              <a:gd name="adj" fmla="val 53679"/>
            </a:avLst>
          </a:prstGeom>
          <a:gradFill flip="none" rotWithShape="1">
            <a:gsLst>
              <a:gs pos="0">
                <a:srgbClr val="00B0F0"/>
              </a:gs>
              <a:gs pos="100000">
                <a:schemeClr val="bg1">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
        <p:nvSpPr>
          <p:cNvPr id="9" name="梯形 8">
            <a:extLst>
              <a:ext uri="{FF2B5EF4-FFF2-40B4-BE49-F238E27FC236}">
                <a16:creationId xmlns:a16="http://schemas.microsoft.com/office/drawing/2014/main" id="{13293E04-B50E-9B89-274F-CF2AF2297E79}"/>
              </a:ext>
            </a:extLst>
          </p:cNvPr>
          <p:cNvSpPr/>
          <p:nvPr/>
        </p:nvSpPr>
        <p:spPr>
          <a:xfrm rot="10800000" flipH="1">
            <a:off x="5382633" y="1990824"/>
            <a:ext cx="1080000" cy="719968"/>
          </a:xfrm>
          <a:prstGeom prst="trapezoid">
            <a:avLst>
              <a:gd name="adj" fmla="val 53679"/>
            </a:avLst>
          </a:prstGeom>
          <a:gradFill flip="none" rotWithShape="1">
            <a:gsLst>
              <a:gs pos="0">
                <a:srgbClr val="00B0F0"/>
              </a:gs>
              <a:gs pos="100000">
                <a:schemeClr val="bg1">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
        <p:nvSpPr>
          <p:cNvPr id="10" name="梯形 9">
            <a:extLst>
              <a:ext uri="{FF2B5EF4-FFF2-40B4-BE49-F238E27FC236}">
                <a16:creationId xmlns:a16="http://schemas.microsoft.com/office/drawing/2014/main" id="{0466FCC1-D611-C136-004B-9B24FD9AC333}"/>
              </a:ext>
            </a:extLst>
          </p:cNvPr>
          <p:cNvSpPr/>
          <p:nvPr/>
        </p:nvSpPr>
        <p:spPr>
          <a:xfrm rot="10800000" flipH="1" flipV="1">
            <a:off x="5382633" y="3642398"/>
            <a:ext cx="1080000" cy="719968"/>
          </a:xfrm>
          <a:prstGeom prst="trapezoid">
            <a:avLst>
              <a:gd name="adj" fmla="val 53679"/>
            </a:avLst>
          </a:prstGeom>
          <a:gradFill flip="none" rotWithShape="1">
            <a:gsLst>
              <a:gs pos="0">
                <a:srgbClr val="00B0F0"/>
              </a:gs>
              <a:gs pos="100000">
                <a:schemeClr val="bg1">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Tree>
    <p:extLst>
      <p:ext uri="{BB962C8B-B14F-4D97-AF65-F5344CB8AC3E}">
        <p14:creationId xmlns:p14="http://schemas.microsoft.com/office/powerpoint/2010/main" val="123387780"/>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10CC7F-E912-B9B2-78E6-B89219524CBB}"/>
              </a:ext>
            </a:extLst>
          </p:cNvPr>
          <p:cNvSpPr>
            <a:spLocks noGrp="1"/>
          </p:cNvSpPr>
          <p:nvPr>
            <p:ph type="title"/>
          </p:nvPr>
        </p:nvSpPr>
        <p:spPr>
          <a:xfrm>
            <a:off x="792000" y="360000"/>
            <a:ext cx="6375921" cy="429413"/>
          </a:xfrm>
        </p:spPr>
        <p:txBody>
          <a:bodyPr>
            <a:normAutofit/>
          </a:bodyPr>
          <a:lstStyle/>
          <a:p>
            <a:r>
              <a:rPr lang="en-US" altLang="zh-CN" dirty="0"/>
              <a:t>6.1.1 </a:t>
            </a:r>
            <a:r>
              <a:rPr lang="zh-CN" altLang="en-US" dirty="0"/>
              <a:t>成本估算</a:t>
            </a:r>
          </a:p>
        </p:txBody>
      </p:sp>
      <p:sp>
        <p:nvSpPr>
          <p:cNvPr id="9" name="内容占位符 8">
            <a:extLst>
              <a:ext uri="{FF2B5EF4-FFF2-40B4-BE49-F238E27FC236}">
                <a16:creationId xmlns:a16="http://schemas.microsoft.com/office/drawing/2014/main" id="{777E3B11-94E3-181A-6E62-437796DDE7EA}"/>
              </a:ext>
            </a:extLst>
          </p:cNvPr>
          <p:cNvSpPr>
            <a:spLocks noGrp="1"/>
          </p:cNvSpPr>
          <p:nvPr>
            <p:ph idx="1"/>
          </p:nvPr>
        </p:nvSpPr>
        <p:spPr>
          <a:xfrm>
            <a:off x="696000" y="864000"/>
            <a:ext cx="10800000" cy="5400000"/>
          </a:xfrm>
        </p:spPr>
        <p:txBody>
          <a:bodyPr/>
          <a:lstStyle/>
          <a:p>
            <a:r>
              <a:rPr lang="zh-CN" altLang="en-US" dirty="0"/>
              <a:t>完成项目所需的估计和计划</a:t>
            </a:r>
            <a:endParaRPr lang="en-US" altLang="zh-CN" dirty="0"/>
          </a:p>
          <a:p>
            <a:r>
              <a:rPr lang="zh-CN" altLang="en-US" dirty="0"/>
              <a:t>是项目计划中一个重要组成部分</a:t>
            </a:r>
            <a:endParaRPr lang="en-US" altLang="zh-CN" dirty="0"/>
          </a:p>
          <a:p>
            <a:r>
              <a:rPr lang="zh-CN" altLang="en-US" dirty="0"/>
              <a:t>不精确、可以有误差、需要调节</a:t>
            </a:r>
            <a:endParaRPr lang="en-US" altLang="zh-CN" dirty="0"/>
          </a:p>
          <a:p>
            <a:r>
              <a:rPr lang="zh-CN" altLang="en-US" dirty="0"/>
              <a:t>超支</a:t>
            </a:r>
            <a:endParaRPr lang="en-US" altLang="zh-CN" dirty="0"/>
          </a:p>
          <a:p>
            <a:r>
              <a:rPr lang="zh-CN" altLang="en-US" dirty="0"/>
              <a:t>软件成本估算</a:t>
            </a:r>
            <a:endParaRPr lang="en-US" altLang="zh-CN" dirty="0"/>
          </a:p>
          <a:p>
            <a:pPr lvl="1"/>
            <a:r>
              <a:rPr lang="zh-CN" altLang="en-US" dirty="0"/>
              <a:t>主要是人的劳动消耗</a:t>
            </a:r>
          </a:p>
          <a:p>
            <a:pPr lvl="1"/>
            <a:r>
              <a:rPr lang="zh-CN" altLang="en-US" dirty="0"/>
              <a:t>不包括原材料和能源的消耗</a:t>
            </a:r>
            <a:endParaRPr lang="en-US" altLang="zh-CN" dirty="0"/>
          </a:p>
          <a:p>
            <a:pPr lvl="1"/>
            <a:r>
              <a:rPr lang="zh-CN" altLang="en-US" dirty="0"/>
              <a:t>贯穿软件的整个生存期</a:t>
            </a:r>
            <a:endParaRPr lang="en-US" altLang="zh-CN" dirty="0"/>
          </a:p>
        </p:txBody>
      </p:sp>
      <p:sp>
        <p:nvSpPr>
          <p:cNvPr id="4" name="文本占位符 3">
            <a:extLst>
              <a:ext uri="{FF2B5EF4-FFF2-40B4-BE49-F238E27FC236}">
                <a16:creationId xmlns:a16="http://schemas.microsoft.com/office/drawing/2014/main" id="{01CF47DA-7FDF-E0F7-95AE-158D3E03229E}"/>
              </a:ext>
            </a:extLst>
          </p:cNvPr>
          <p:cNvSpPr>
            <a:spLocks noGrp="1"/>
          </p:cNvSpPr>
          <p:nvPr>
            <p:ph type="body" sz="quarter" idx="10"/>
          </p:nvPr>
        </p:nvSpPr>
        <p:spPr>
          <a:xfrm>
            <a:off x="7071919" y="448519"/>
            <a:ext cx="4424080" cy="338554"/>
          </a:xfrm>
        </p:spPr>
        <p:txBody>
          <a:bodyPr/>
          <a:lstStyle/>
          <a:p>
            <a:r>
              <a:rPr lang="en-US" altLang="zh-CN"/>
              <a:t>Project Cost</a:t>
            </a:r>
            <a:endParaRPr lang="zh-CN" altLang="en-US"/>
          </a:p>
        </p:txBody>
      </p:sp>
    </p:spTree>
    <p:extLst>
      <p:ext uri="{BB962C8B-B14F-4D97-AF65-F5344CB8AC3E}">
        <p14:creationId xmlns:p14="http://schemas.microsoft.com/office/powerpoint/2010/main" val="983836152"/>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E7C729-3E3F-3DF3-D923-89B9933D9D62}"/>
              </a:ext>
            </a:extLst>
          </p:cNvPr>
          <p:cNvSpPr>
            <a:spLocks noGrp="1"/>
          </p:cNvSpPr>
          <p:nvPr>
            <p:ph type="title"/>
          </p:nvPr>
        </p:nvSpPr>
        <p:spPr>
          <a:xfrm>
            <a:off x="792000" y="360000"/>
            <a:ext cx="6375921" cy="429413"/>
          </a:xfrm>
        </p:spPr>
        <p:txBody>
          <a:bodyPr/>
          <a:lstStyle/>
          <a:p>
            <a:r>
              <a:rPr lang="en-US" altLang="zh-CN" dirty="0"/>
              <a:t>6.1.2 </a:t>
            </a:r>
            <a:r>
              <a:rPr lang="zh-CN" altLang="en-US" dirty="0"/>
              <a:t>衡量单位</a:t>
            </a:r>
          </a:p>
        </p:txBody>
      </p:sp>
      <p:sp>
        <p:nvSpPr>
          <p:cNvPr id="14" name="内容占位符 13">
            <a:extLst>
              <a:ext uri="{FF2B5EF4-FFF2-40B4-BE49-F238E27FC236}">
                <a16:creationId xmlns:a16="http://schemas.microsoft.com/office/drawing/2014/main" id="{CFEB257E-3A50-33A7-BD8B-931DD39AB702}"/>
              </a:ext>
            </a:extLst>
          </p:cNvPr>
          <p:cNvSpPr>
            <a:spLocks noGrp="1"/>
          </p:cNvSpPr>
          <p:nvPr>
            <p:ph idx="1"/>
          </p:nvPr>
        </p:nvSpPr>
        <p:spPr>
          <a:xfrm>
            <a:off x="696000" y="864000"/>
            <a:ext cx="10800000" cy="5400000"/>
          </a:xfrm>
        </p:spPr>
        <p:txBody>
          <a:bodyPr/>
          <a:lstStyle/>
          <a:p>
            <a:r>
              <a:rPr lang="zh-CN" altLang="en-US"/>
              <a:t>工作量</a:t>
            </a:r>
            <a:endParaRPr lang="en-US" altLang="zh-CN" dirty="0"/>
          </a:p>
          <a:p>
            <a:r>
              <a:rPr lang="zh-CN" altLang="en-US"/>
              <a:t>规模</a:t>
            </a:r>
            <a:endParaRPr lang="en-US" altLang="zh-CN" dirty="0"/>
          </a:p>
          <a:p>
            <a:r>
              <a:rPr lang="zh-CN" altLang="en-US" dirty="0"/>
              <a:t>成本</a:t>
            </a:r>
          </a:p>
        </p:txBody>
      </p:sp>
      <p:sp>
        <p:nvSpPr>
          <p:cNvPr id="4" name="文本占位符 3">
            <a:extLst>
              <a:ext uri="{FF2B5EF4-FFF2-40B4-BE49-F238E27FC236}">
                <a16:creationId xmlns:a16="http://schemas.microsoft.com/office/drawing/2014/main" id="{820E53DA-37B5-A5B1-2FCF-B2FB9870F2DA}"/>
              </a:ext>
            </a:extLst>
          </p:cNvPr>
          <p:cNvSpPr>
            <a:spLocks noGrp="1"/>
          </p:cNvSpPr>
          <p:nvPr>
            <p:ph type="body" sz="quarter" idx="10"/>
          </p:nvPr>
        </p:nvSpPr>
        <p:spPr>
          <a:xfrm>
            <a:off x="7071919" y="448519"/>
            <a:ext cx="4424080" cy="338554"/>
          </a:xfrm>
        </p:spPr>
        <p:txBody>
          <a:bodyPr/>
          <a:lstStyle/>
          <a:p>
            <a:r>
              <a:rPr lang="en-US" altLang="zh-CN"/>
              <a:t>Unit</a:t>
            </a:r>
            <a:endParaRPr lang="zh-CN" altLang="en-US" dirty="0"/>
          </a:p>
        </p:txBody>
      </p:sp>
      <p:graphicFrame>
        <p:nvGraphicFramePr>
          <p:cNvPr id="11" name="内容占位符 4">
            <a:extLst>
              <a:ext uri="{FF2B5EF4-FFF2-40B4-BE49-F238E27FC236}">
                <a16:creationId xmlns:a16="http://schemas.microsoft.com/office/drawing/2014/main" id="{BB2EF960-1A79-75F5-AC9C-5358A8B156CF}"/>
              </a:ext>
            </a:extLst>
          </p:cNvPr>
          <p:cNvGraphicFramePr>
            <a:graphicFrameLocks/>
          </p:cNvGraphicFramePr>
          <p:nvPr>
            <p:extLst>
              <p:ext uri="{D42A27DB-BD31-4B8C-83A1-F6EECF244321}">
                <p14:modId xmlns:p14="http://schemas.microsoft.com/office/powerpoint/2010/main" val="1541241420"/>
              </p:ext>
            </p:extLst>
          </p:nvPr>
        </p:nvGraphicFramePr>
        <p:xfrm>
          <a:off x="3216000" y="2758440"/>
          <a:ext cx="5760000" cy="1584960"/>
        </p:xfrm>
        <a:graphic>
          <a:graphicData uri="http://schemas.openxmlformats.org/drawingml/2006/table">
            <a:tbl>
              <a:tblPr firstRow="1" bandRow="1">
                <a:tableStyleId>{5C22544A-7EE6-4342-B048-85BDC9FD1C3A}</a:tableStyleId>
              </a:tblPr>
              <a:tblGrid>
                <a:gridCol w="1080000">
                  <a:extLst>
                    <a:ext uri="{9D8B030D-6E8A-4147-A177-3AD203B41FA5}">
                      <a16:colId xmlns:a16="http://schemas.microsoft.com/office/drawing/2014/main" val="2041386398"/>
                    </a:ext>
                  </a:extLst>
                </a:gridCol>
                <a:gridCol w="1800000">
                  <a:extLst>
                    <a:ext uri="{9D8B030D-6E8A-4147-A177-3AD203B41FA5}">
                      <a16:colId xmlns:a16="http://schemas.microsoft.com/office/drawing/2014/main" val="1771805873"/>
                    </a:ext>
                  </a:extLst>
                </a:gridCol>
                <a:gridCol w="1800000">
                  <a:extLst>
                    <a:ext uri="{9D8B030D-6E8A-4147-A177-3AD203B41FA5}">
                      <a16:colId xmlns:a16="http://schemas.microsoft.com/office/drawing/2014/main" val="3158247597"/>
                    </a:ext>
                  </a:extLst>
                </a:gridCol>
                <a:gridCol w="1080000">
                  <a:extLst>
                    <a:ext uri="{9D8B030D-6E8A-4147-A177-3AD203B41FA5}">
                      <a16:colId xmlns:a16="http://schemas.microsoft.com/office/drawing/2014/main" val="649013234"/>
                    </a:ext>
                  </a:extLst>
                </a:gridCol>
              </a:tblGrid>
              <a:tr h="0">
                <a:tc>
                  <a:txBody>
                    <a:bodyPr/>
                    <a:lstStyle/>
                    <a:p>
                      <a:pPr algn="ctr"/>
                      <a:r>
                        <a:rPr lang="zh-CN" altLang="en-US" sz="1600" dirty="0">
                          <a:solidFill>
                            <a:sysClr val="windowText" lastClr="000000"/>
                          </a:solidFill>
                        </a:rPr>
                        <a:t>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solidFill>
                            <a:sysClr val="windowText" lastClr="000000"/>
                          </a:solidFill>
                        </a:rPr>
                        <a:t>单位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solidFill>
                            <a:sysClr val="windowText" lastClr="000000"/>
                          </a:solidFill>
                        </a:rPr>
                        <a:t>单位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solidFill>
                            <a:sysClr val="windowText" lastClr="000000"/>
                          </a:solidFill>
                        </a:rPr>
                        <a:t>单位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0641831"/>
                  </a:ext>
                </a:extLst>
              </a:tr>
              <a:tr h="0">
                <a:tc>
                  <a:txBody>
                    <a:bodyPr/>
                    <a:lstStyle/>
                    <a:p>
                      <a:pPr algn="ctr"/>
                      <a:r>
                        <a:rPr lang="zh-CN" altLang="en-US" sz="1600" dirty="0">
                          <a:solidFill>
                            <a:sysClr val="windowText" lastClr="000000"/>
                          </a:solidFill>
                        </a:rPr>
                        <a:t>工作量</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solidFill>
                            <a:sysClr val="windowText" lastClr="000000"/>
                          </a:solidFill>
                        </a:rPr>
                        <a:t>人天</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solidFill>
                            <a:sysClr val="windowText" lastClr="000000"/>
                          </a:solidFill>
                        </a:rPr>
                        <a:t>人月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solidFill>
                            <a:sysClr val="windowText" lastClr="000000"/>
                          </a:solidFill>
                        </a:rPr>
                        <a:t>人年</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89448171"/>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solidFill>
                            <a:sysClr val="windowText" lastClr="000000"/>
                          </a:solidFill>
                        </a:rPr>
                        <a:t>规模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zh-CN" altLang="en-US" sz="1600" dirty="0">
                          <a:solidFill>
                            <a:sysClr val="windowText" lastClr="000000"/>
                          </a:solidFill>
                        </a:rPr>
                        <a:t>代码行 </a:t>
                      </a:r>
                      <a:r>
                        <a:rPr lang="en-US" altLang="zh-CN" sz="1600" dirty="0">
                          <a:solidFill>
                            <a:sysClr val="windowText" lastClr="000000"/>
                          </a:solidFill>
                        </a:rPr>
                        <a:t>LOC</a:t>
                      </a:r>
                    </a:p>
                    <a:p>
                      <a:pPr algn="l"/>
                      <a:r>
                        <a:rPr lang="en-US" altLang="zh-CN" sz="1600" dirty="0">
                          <a:solidFill>
                            <a:sysClr val="windowText" lastClr="000000"/>
                          </a:solidFill>
                        </a:rPr>
                        <a:t>Line of Code</a:t>
                      </a:r>
                      <a:endParaRPr lang="zh-CN" altLang="en-US" sz="16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solidFill>
                            <a:sysClr val="windowText" lastClr="000000"/>
                          </a:solidFill>
                        </a:rPr>
                        <a:t>功能点</a:t>
                      </a:r>
                      <a:r>
                        <a:rPr lang="en-US" altLang="zh-CN" sz="1600" dirty="0">
                          <a:solidFill>
                            <a:sysClr val="windowText" lastClr="000000"/>
                          </a:solidFill>
                        </a:rPr>
                        <a:t>FP</a:t>
                      </a:r>
                      <a:r>
                        <a:rPr lang="zh-CN" altLang="en-US" sz="1600" dirty="0">
                          <a:solidFill>
                            <a:sysClr val="windowText" lastClr="000000"/>
                          </a:solidFill>
                        </a:rPr>
                        <a:t> </a:t>
                      </a:r>
                      <a:r>
                        <a:rPr lang="en-US" altLang="zh-CN" sz="1600" dirty="0">
                          <a:solidFill>
                            <a:sysClr val="windowText" lastClr="000000"/>
                          </a:solidFill>
                        </a:rPr>
                        <a:t>Function Point</a:t>
                      </a:r>
                      <a:endParaRPr lang="zh-CN" altLang="en-US" sz="16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zh-CN" altLang="en-US" sz="16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4436365"/>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solidFill>
                            <a:sysClr val="windowText" lastClr="000000"/>
                          </a:solidFill>
                        </a:rPr>
                        <a:t>成本</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zh-CN" altLang="en-US" sz="1600" dirty="0">
                          <a:solidFill>
                            <a:sysClr val="windowText" lastClr="000000"/>
                          </a:solidFill>
                        </a:rPr>
                        <a:t>元</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zh-CN" altLang="en-US" sz="16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zh-CN" altLang="en-US" sz="16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58245898"/>
                  </a:ext>
                </a:extLst>
              </a:tr>
            </a:tbl>
          </a:graphicData>
        </a:graphic>
      </p:graphicFrame>
      <p:sp>
        <p:nvSpPr>
          <p:cNvPr id="8" name="文本框 7">
            <a:extLst>
              <a:ext uri="{FF2B5EF4-FFF2-40B4-BE49-F238E27FC236}">
                <a16:creationId xmlns:a16="http://schemas.microsoft.com/office/drawing/2014/main" id="{C401DF5B-6EEC-A217-8A47-421CFA8906DB}"/>
              </a:ext>
            </a:extLst>
          </p:cNvPr>
          <p:cNvSpPr txBox="1"/>
          <p:nvPr/>
        </p:nvSpPr>
        <p:spPr>
          <a:xfrm>
            <a:off x="695325" y="5679500"/>
            <a:ext cx="1620957" cy="584775"/>
          </a:xfrm>
          <a:prstGeom prst="rect">
            <a:avLst/>
          </a:prstGeom>
          <a:noFill/>
        </p:spPr>
        <p:txBody>
          <a:bodyPr wrap="none" rtlCol="0">
            <a:spAutoFit/>
          </a:bodyPr>
          <a:lstStyle/>
          <a:p>
            <a:pPr algn="l"/>
            <a:r>
              <a:rPr lang="zh-CN" altLang="en-US" sz="1600" dirty="0"/>
              <a:t>人天：做</a:t>
            </a:r>
            <a:r>
              <a:rPr lang="zh-CN" altLang="en-US" sz="1600"/>
              <a:t>多久？</a:t>
            </a:r>
            <a:endParaRPr lang="en-US" altLang="zh-CN" sz="1600" dirty="0"/>
          </a:p>
          <a:p>
            <a:pPr algn="l"/>
            <a:r>
              <a:rPr lang="zh-CN" altLang="en-US" sz="1600" dirty="0"/>
              <a:t>人月：做多久？</a:t>
            </a:r>
          </a:p>
        </p:txBody>
      </p:sp>
    </p:spTree>
    <p:extLst>
      <p:ext uri="{BB962C8B-B14F-4D97-AF65-F5344CB8AC3E}">
        <p14:creationId xmlns:p14="http://schemas.microsoft.com/office/powerpoint/2010/main" val="3884135368"/>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标题 52">
            <a:extLst>
              <a:ext uri="{FF2B5EF4-FFF2-40B4-BE49-F238E27FC236}">
                <a16:creationId xmlns:a16="http://schemas.microsoft.com/office/drawing/2014/main" id="{FF7DC5C3-BD91-9AD7-7050-0A340326C4C8}"/>
              </a:ext>
            </a:extLst>
          </p:cNvPr>
          <p:cNvSpPr>
            <a:spLocks noGrp="1"/>
          </p:cNvSpPr>
          <p:nvPr>
            <p:ph type="title"/>
          </p:nvPr>
        </p:nvSpPr>
        <p:spPr>
          <a:xfrm>
            <a:off x="792000" y="360000"/>
            <a:ext cx="6375921" cy="429413"/>
          </a:xfrm>
        </p:spPr>
        <p:txBody>
          <a:bodyPr/>
          <a:lstStyle/>
          <a:p>
            <a:r>
              <a:rPr lang="en-US" altLang="zh-CN" dirty="0"/>
              <a:t>6.1.3 </a:t>
            </a:r>
            <a:r>
              <a:rPr lang="zh-CN" altLang="en-US" dirty="0"/>
              <a:t>成本分类</a:t>
            </a:r>
          </a:p>
        </p:txBody>
      </p:sp>
      <p:sp>
        <p:nvSpPr>
          <p:cNvPr id="4" name="内容占位符 3">
            <a:extLst>
              <a:ext uri="{FF2B5EF4-FFF2-40B4-BE49-F238E27FC236}">
                <a16:creationId xmlns:a16="http://schemas.microsoft.com/office/drawing/2014/main" id="{93389D6C-B0AF-6DCD-9431-158A954734AC}"/>
              </a:ext>
            </a:extLst>
          </p:cNvPr>
          <p:cNvSpPr>
            <a:spLocks noGrp="1"/>
          </p:cNvSpPr>
          <p:nvPr>
            <p:ph idx="1"/>
          </p:nvPr>
        </p:nvSpPr>
        <p:spPr>
          <a:xfrm>
            <a:off x="696000" y="864000"/>
            <a:ext cx="10800000" cy="5400000"/>
          </a:xfrm>
        </p:spPr>
        <p:txBody>
          <a:bodyPr/>
          <a:lstStyle/>
          <a:p>
            <a:r>
              <a:rPr lang="zh-CN" altLang="en-US" dirty="0"/>
              <a:t>是否直接与项目相关？</a:t>
            </a:r>
          </a:p>
        </p:txBody>
      </p:sp>
      <p:sp>
        <p:nvSpPr>
          <p:cNvPr id="58" name="文本占位符 57">
            <a:extLst>
              <a:ext uri="{FF2B5EF4-FFF2-40B4-BE49-F238E27FC236}">
                <a16:creationId xmlns:a16="http://schemas.microsoft.com/office/drawing/2014/main" id="{2779E7E5-A305-2739-FE6E-D3521924CFF3}"/>
              </a:ext>
            </a:extLst>
          </p:cNvPr>
          <p:cNvSpPr>
            <a:spLocks noGrp="1"/>
          </p:cNvSpPr>
          <p:nvPr>
            <p:ph type="body" sz="quarter" idx="10"/>
          </p:nvPr>
        </p:nvSpPr>
        <p:spPr>
          <a:xfrm>
            <a:off x="7071919" y="448519"/>
            <a:ext cx="4424080" cy="338554"/>
          </a:xfrm>
        </p:spPr>
        <p:txBody>
          <a:bodyPr/>
          <a:lstStyle/>
          <a:p>
            <a:r>
              <a:rPr lang="en-US" altLang="zh-CN" dirty="0"/>
              <a:t>Unit</a:t>
            </a:r>
            <a:endParaRPr lang="zh-CN" altLang="en-US" dirty="0"/>
          </a:p>
        </p:txBody>
      </p:sp>
      <p:sp>
        <p:nvSpPr>
          <p:cNvPr id="11" name="矩形: 圆角 10">
            <a:extLst>
              <a:ext uri="{FF2B5EF4-FFF2-40B4-BE49-F238E27FC236}">
                <a16:creationId xmlns:a16="http://schemas.microsoft.com/office/drawing/2014/main" id="{0DD6A434-91FF-74F3-9876-3BAE5215020C}"/>
              </a:ext>
            </a:extLst>
          </p:cNvPr>
          <p:cNvSpPr/>
          <p:nvPr/>
        </p:nvSpPr>
        <p:spPr>
          <a:xfrm>
            <a:off x="678419" y="3448049"/>
            <a:ext cx="1440000" cy="432619"/>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ysClr val="windowText" lastClr="000000"/>
                </a:solidFill>
              </a:rPr>
              <a:t>软件开发成本</a:t>
            </a:r>
          </a:p>
        </p:txBody>
      </p:sp>
      <p:sp>
        <p:nvSpPr>
          <p:cNvPr id="12" name="矩形: 圆角 11">
            <a:extLst>
              <a:ext uri="{FF2B5EF4-FFF2-40B4-BE49-F238E27FC236}">
                <a16:creationId xmlns:a16="http://schemas.microsoft.com/office/drawing/2014/main" id="{C85B4BB5-32C4-A702-9D55-8F737077A5E5}"/>
              </a:ext>
            </a:extLst>
          </p:cNvPr>
          <p:cNvSpPr/>
          <p:nvPr/>
        </p:nvSpPr>
        <p:spPr>
          <a:xfrm>
            <a:off x="2487807" y="2485717"/>
            <a:ext cx="1440000" cy="432619"/>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ysClr val="windowText" lastClr="000000"/>
                </a:solidFill>
              </a:rPr>
              <a:t>人力成本</a:t>
            </a:r>
          </a:p>
        </p:txBody>
      </p:sp>
      <p:sp>
        <p:nvSpPr>
          <p:cNvPr id="13" name="矩形: 圆角 12">
            <a:extLst>
              <a:ext uri="{FF2B5EF4-FFF2-40B4-BE49-F238E27FC236}">
                <a16:creationId xmlns:a16="http://schemas.microsoft.com/office/drawing/2014/main" id="{2EF64420-6F3B-861F-A803-351664B90032}"/>
              </a:ext>
            </a:extLst>
          </p:cNvPr>
          <p:cNvSpPr/>
          <p:nvPr/>
        </p:nvSpPr>
        <p:spPr>
          <a:xfrm>
            <a:off x="2487807" y="4410381"/>
            <a:ext cx="1440000" cy="432619"/>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ysClr val="windowText" lastClr="000000"/>
                </a:solidFill>
              </a:rPr>
              <a:t>非人力成本</a:t>
            </a:r>
          </a:p>
        </p:txBody>
      </p:sp>
      <p:cxnSp>
        <p:nvCxnSpPr>
          <p:cNvPr id="15" name="连接符: 肘形 14">
            <a:extLst>
              <a:ext uri="{FF2B5EF4-FFF2-40B4-BE49-F238E27FC236}">
                <a16:creationId xmlns:a16="http://schemas.microsoft.com/office/drawing/2014/main" id="{8C67630F-BF67-20D4-2085-7AE0340FE5F2}"/>
              </a:ext>
            </a:extLst>
          </p:cNvPr>
          <p:cNvCxnSpPr>
            <a:stCxn id="11" idx="3"/>
            <a:endCxn id="12" idx="1"/>
          </p:cNvCxnSpPr>
          <p:nvPr/>
        </p:nvCxnSpPr>
        <p:spPr>
          <a:xfrm flipV="1">
            <a:off x="2118419" y="2702027"/>
            <a:ext cx="369388" cy="962332"/>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7" name="连接符: 肘形 16">
            <a:extLst>
              <a:ext uri="{FF2B5EF4-FFF2-40B4-BE49-F238E27FC236}">
                <a16:creationId xmlns:a16="http://schemas.microsoft.com/office/drawing/2014/main" id="{44BD4E32-C547-F4C5-E02F-F36E4847AC49}"/>
              </a:ext>
            </a:extLst>
          </p:cNvPr>
          <p:cNvCxnSpPr>
            <a:stCxn id="13" idx="1"/>
            <a:endCxn id="11" idx="3"/>
          </p:cNvCxnSpPr>
          <p:nvPr/>
        </p:nvCxnSpPr>
        <p:spPr>
          <a:xfrm rot="10800000">
            <a:off x="2118419" y="3664359"/>
            <a:ext cx="369388" cy="962332"/>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8" name="矩形: 圆角 17">
            <a:extLst>
              <a:ext uri="{FF2B5EF4-FFF2-40B4-BE49-F238E27FC236}">
                <a16:creationId xmlns:a16="http://schemas.microsoft.com/office/drawing/2014/main" id="{0922A1E3-0C07-22AD-4BEF-F7584A1941DA}"/>
              </a:ext>
            </a:extLst>
          </p:cNvPr>
          <p:cNvSpPr/>
          <p:nvPr/>
        </p:nvSpPr>
        <p:spPr>
          <a:xfrm>
            <a:off x="4297195" y="1932653"/>
            <a:ext cx="1512000" cy="432619"/>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ysClr val="windowText" lastClr="000000"/>
                </a:solidFill>
              </a:rPr>
              <a:t>直接人力成本</a:t>
            </a:r>
          </a:p>
        </p:txBody>
      </p:sp>
      <p:sp>
        <p:nvSpPr>
          <p:cNvPr id="19" name="矩形: 圆角 18">
            <a:extLst>
              <a:ext uri="{FF2B5EF4-FFF2-40B4-BE49-F238E27FC236}">
                <a16:creationId xmlns:a16="http://schemas.microsoft.com/office/drawing/2014/main" id="{1420863A-79AA-4BCB-FB87-C0F1DCAC3D3B}"/>
              </a:ext>
            </a:extLst>
          </p:cNvPr>
          <p:cNvSpPr/>
          <p:nvPr/>
        </p:nvSpPr>
        <p:spPr>
          <a:xfrm>
            <a:off x="4297195" y="3038782"/>
            <a:ext cx="1512000" cy="432619"/>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ysClr val="windowText" lastClr="000000"/>
                </a:solidFill>
              </a:rPr>
              <a:t>间接人力成本</a:t>
            </a:r>
          </a:p>
        </p:txBody>
      </p:sp>
      <p:cxnSp>
        <p:nvCxnSpPr>
          <p:cNvPr id="21" name="连接符: 肘形 20">
            <a:extLst>
              <a:ext uri="{FF2B5EF4-FFF2-40B4-BE49-F238E27FC236}">
                <a16:creationId xmlns:a16="http://schemas.microsoft.com/office/drawing/2014/main" id="{6911D190-367B-349D-4620-8D30F3B1AAF8}"/>
              </a:ext>
            </a:extLst>
          </p:cNvPr>
          <p:cNvCxnSpPr>
            <a:stCxn id="12" idx="3"/>
            <a:endCxn id="18" idx="1"/>
          </p:cNvCxnSpPr>
          <p:nvPr/>
        </p:nvCxnSpPr>
        <p:spPr>
          <a:xfrm flipV="1">
            <a:off x="3927807" y="2148963"/>
            <a:ext cx="369388" cy="553064"/>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3" name="连接符: 肘形 22">
            <a:extLst>
              <a:ext uri="{FF2B5EF4-FFF2-40B4-BE49-F238E27FC236}">
                <a16:creationId xmlns:a16="http://schemas.microsoft.com/office/drawing/2014/main" id="{DBB129A5-0E49-55D1-07BE-C49ADD86897C}"/>
              </a:ext>
            </a:extLst>
          </p:cNvPr>
          <p:cNvCxnSpPr>
            <a:stCxn id="19" idx="1"/>
            <a:endCxn id="12" idx="3"/>
          </p:cNvCxnSpPr>
          <p:nvPr/>
        </p:nvCxnSpPr>
        <p:spPr>
          <a:xfrm rot="10800000">
            <a:off x="3927807" y="2702028"/>
            <a:ext cx="369388" cy="553065"/>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4" name="矩形: 圆角 23">
            <a:extLst>
              <a:ext uri="{FF2B5EF4-FFF2-40B4-BE49-F238E27FC236}">
                <a16:creationId xmlns:a16="http://schemas.microsoft.com/office/drawing/2014/main" id="{C70F4D59-5AF6-E849-7A97-60870E89B33E}"/>
              </a:ext>
            </a:extLst>
          </p:cNvPr>
          <p:cNvSpPr/>
          <p:nvPr/>
        </p:nvSpPr>
        <p:spPr>
          <a:xfrm>
            <a:off x="4297195" y="3857316"/>
            <a:ext cx="1512000" cy="432619"/>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ysClr val="windowText" lastClr="000000"/>
                </a:solidFill>
              </a:rPr>
              <a:t>直接非人力成本</a:t>
            </a:r>
          </a:p>
        </p:txBody>
      </p:sp>
      <p:sp>
        <p:nvSpPr>
          <p:cNvPr id="25" name="矩形: 圆角 24">
            <a:extLst>
              <a:ext uri="{FF2B5EF4-FFF2-40B4-BE49-F238E27FC236}">
                <a16:creationId xmlns:a16="http://schemas.microsoft.com/office/drawing/2014/main" id="{C92D0D4C-A692-1F73-8EC5-D56D55F97B93}"/>
              </a:ext>
            </a:extLst>
          </p:cNvPr>
          <p:cNvSpPr/>
          <p:nvPr/>
        </p:nvSpPr>
        <p:spPr>
          <a:xfrm>
            <a:off x="4297195" y="4963445"/>
            <a:ext cx="1512000" cy="432619"/>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ysClr val="windowText" lastClr="000000"/>
                </a:solidFill>
              </a:rPr>
              <a:t>间接非人力成本</a:t>
            </a:r>
          </a:p>
        </p:txBody>
      </p:sp>
      <p:cxnSp>
        <p:nvCxnSpPr>
          <p:cNvPr id="27" name="连接符: 肘形 26">
            <a:extLst>
              <a:ext uri="{FF2B5EF4-FFF2-40B4-BE49-F238E27FC236}">
                <a16:creationId xmlns:a16="http://schemas.microsoft.com/office/drawing/2014/main" id="{0B9DB98E-E363-592E-5AA4-1BBAAE30BD6E}"/>
              </a:ext>
            </a:extLst>
          </p:cNvPr>
          <p:cNvCxnSpPr>
            <a:stCxn id="24" idx="1"/>
            <a:endCxn id="13" idx="3"/>
          </p:cNvCxnSpPr>
          <p:nvPr/>
        </p:nvCxnSpPr>
        <p:spPr>
          <a:xfrm rot="10800000" flipV="1">
            <a:off x="3927807" y="4073625"/>
            <a:ext cx="369388" cy="553065"/>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9" name="连接符: 肘形 28">
            <a:extLst>
              <a:ext uri="{FF2B5EF4-FFF2-40B4-BE49-F238E27FC236}">
                <a16:creationId xmlns:a16="http://schemas.microsoft.com/office/drawing/2014/main" id="{DE9D71A6-2A64-3BD6-62E2-1AC8E97F14FB}"/>
              </a:ext>
            </a:extLst>
          </p:cNvPr>
          <p:cNvCxnSpPr>
            <a:stCxn id="25" idx="1"/>
            <a:endCxn id="13" idx="3"/>
          </p:cNvCxnSpPr>
          <p:nvPr/>
        </p:nvCxnSpPr>
        <p:spPr>
          <a:xfrm rot="10800000">
            <a:off x="3927807" y="4626691"/>
            <a:ext cx="369388" cy="553064"/>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09C23B81-E35E-CC84-1696-895966F36285}"/>
              </a:ext>
            </a:extLst>
          </p:cNvPr>
          <p:cNvSpPr txBox="1"/>
          <p:nvPr/>
        </p:nvSpPr>
        <p:spPr>
          <a:xfrm>
            <a:off x="6031098" y="1853993"/>
            <a:ext cx="5314275" cy="584775"/>
          </a:xfrm>
          <a:prstGeom prst="rect">
            <a:avLst/>
          </a:prstGeom>
          <a:noFill/>
          <a:ln>
            <a:noFill/>
          </a:ln>
        </p:spPr>
        <p:txBody>
          <a:bodyPr wrap="none" rtlCol="0">
            <a:spAutoFit/>
          </a:bodyPr>
          <a:lstStyle/>
          <a:p>
            <a:pPr algn="l"/>
            <a:r>
              <a:rPr lang="zh-CN" altLang="en-US" sz="1600" dirty="0">
                <a:solidFill>
                  <a:sysClr val="windowText" lastClr="000000"/>
                </a:solidFill>
              </a:rPr>
              <a:t>为完成特定项目而直接投入的人力成本</a:t>
            </a:r>
            <a:endParaRPr lang="en-US" altLang="zh-CN" sz="1600" dirty="0">
              <a:solidFill>
                <a:sysClr val="windowText" lastClr="000000"/>
              </a:solidFill>
            </a:endParaRPr>
          </a:p>
          <a:p>
            <a:pPr algn="l"/>
            <a:r>
              <a:rPr lang="zh-CN" altLang="en-US" sz="1600" dirty="0">
                <a:solidFill>
                  <a:sysClr val="windowText" lastClr="000000"/>
                </a:solidFill>
              </a:rPr>
              <a:t>通常由项目组成员产生，其工作内容与项目目标直接相关</a:t>
            </a:r>
          </a:p>
        </p:txBody>
      </p:sp>
      <p:cxnSp>
        <p:nvCxnSpPr>
          <p:cNvPr id="34" name="直接连接符 33">
            <a:extLst>
              <a:ext uri="{FF2B5EF4-FFF2-40B4-BE49-F238E27FC236}">
                <a16:creationId xmlns:a16="http://schemas.microsoft.com/office/drawing/2014/main" id="{0EA48845-8293-9AB6-1CDA-535DC123EDED}"/>
              </a:ext>
            </a:extLst>
          </p:cNvPr>
          <p:cNvCxnSpPr>
            <a:cxnSpLocks/>
            <a:stCxn id="18" idx="3"/>
            <a:endCxn id="30" idx="1"/>
          </p:cNvCxnSpPr>
          <p:nvPr/>
        </p:nvCxnSpPr>
        <p:spPr>
          <a:xfrm flipV="1">
            <a:off x="5809195" y="2146381"/>
            <a:ext cx="221903" cy="2582"/>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33463EDB-8563-69FB-47E9-A526F6566B3F}"/>
              </a:ext>
            </a:extLst>
          </p:cNvPr>
          <p:cNvSpPr txBox="1"/>
          <p:nvPr/>
        </p:nvSpPr>
        <p:spPr>
          <a:xfrm>
            <a:off x="6031098" y="4887366"/>
            <a:ext cx="5089855" cy="584775"/>
          </a:xfrm>
          <a:prstGeom prst="rect">
            <a:avLst/>
          </a:prstGeom>
          <a:noFill/>
          <a:ln>
            <a:noFill/>
          </a:ln>
        </p:spPr>
        <p:txBody>
          <a:bodyPr wrap="none" rtlCol="0">
            <a:spAutoFit/>
          </a:bodyPr>
          <a:lstStyle/>
          <a:p>
            <a:pPr algn="l"/>
            <a:r>
              <a:rPr lang="zh-CN" altLang="en-US" sz="1600" dirty="0">
                <a:solidFill>
                  <a:sysClr val="windowText" lastClr="000000"/>
                </a:solidFill>
              </a:rPr>
              <a:t>非特定项目，服务于整体</a:t>
            </a:r>
            <a:endParaRPr lang="en-US" altLang="zh-CN" sz="1600" dirty="0">
              <a:solidFill>
                <a:sysClr val="windowText" lastClr="000000"/>
              </a:solidFill>
            </a:endParaRPr>
          </a:p>
          <a:p>
            <a:pPr algn="l"/>
            <a:r>
              <a:rPr lang="zh-CN" altLang="en-US" sz="1600" dirty="0">
                <a:solidFill>
                  <a:sysClr val="windowText" lastClr="000000"/>
                </a:solidFill>
              </a:rPr>
              <a:t>房租、水电费、物业费、设备租赁和维修、品牌营销</a:t>
            </a:r>
          </a:p>
        </p:txBody>
      </p:sp>
      <p:cxnSp>
        <p:nvCxnSpPr>
          <p:cNvPr id="37" name="直接连接符 36">
            <a:extLst>
              <a:ext uri="{FF2B5EF4-FFF2-40B4-BE49-F238E27FC236}">
                <a16:creationId xmlns:a16="http://schemas.microsoft.com/office/drawing/2014/main" id="{3BC48252-033D-F1F7-48B6-64C40EA68827}"/>
              </a:ext>
            </a:extLst>
          </p:cNvPr>
          <p:cNvCxnSpPr>
            <a:stCxn id="25" idx="3"/>
            <a:endCxn id="35" idx="1"/>
          </p:cNvCxnSpPr>
          <p:nvPr/>
        </p:nvCxnSpPr>
        <p:spPr>
          <a:xfrm flipV="1">
            <a:off x="5809195" y="5179754"/>
            <a:ext cx="221903" cy="1"/>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8" name="文本框 37">
            <a:extLst>
              <a:ext uri="{FF2B5EF4-FFF2-40B4-BE49-F238E27FC236}">
                <a16:creationId xmlns:a16="http://schemas.microsoft.com/office/drawing/2014/main" id="{E4BF1807-6766-8056-8292-131E251CDCA9}"/>
              </a:ext>
            </a:extLst>
          </p:cNvPr>
          <p:cNvSpPr txBox="1"/>
          <p:nvPr/>
        </p:nvSpPr>
        <p:spPr>
          <a:xfrm>
            <a:off x="6031098" y="3781237"/>
            <a:ext cx="3262432" cy="584775"/>
          </a:xfrm>
          <a:prstGeom prst="rect">
            <a:avLst/>
          </a:prstGeom>
          <a:noFill/>
          <a:ln>
            <a:noFill/>
          </a:ln>
        </p:spPr>
        <p:txBody>
          <a:bodyPr wrap="none" rtlCol="0">
            <a:spAutoFit/>
          </a:bodyPr>
          <a:lstStyle/>
          <a:p>
            <a:pPr algn="l"/>
            <a:r>
              <a:rPr lang="zh-CN" altLang="en-US" sz="1600" dirty="0">
                <a:solidFill>
                  <a:sysClr val="windowText" lastClr="000000"/>
                </a:solidFill>
              </a:rPr>
              <a:t>服务于特定项目</a:t>
            </a:r>
            <a:endParaRPr lang="en-US" altLang="zh-CN" sz="1600" dirty="0">
              <a:solidFill>
                <a:sysClr val="windowText" lastClr="000000"/>
              </a:solidFill>
            </a:endParaRPr>
          </a:p>
          <a:p>
            <a:pPr algn="l"/>
            <a:r>
              <a:rPr lang="zh-CN" altLang="en-US" sz="1600" dirty="0">
                <a:solidFill>
                  <a:sysClr val="windowText" lastClr="000000"/>
                </a:solidFill>
              </a:rPr>
              <a:t>差旅费、办公费、培训费、采购费</a:t>
            </a:r>
          </a:p>
        </p:txBody>
      </p:sp>
      <p:cxnSp>
        <p:nvCxnSpPr>
          <p:cNvPr id="40" name="连接符: 肘形 39">
            <a:extLst>
              <a:ext uri="{FF2B5EF4-FFF2-40B4-BE49-F238E27FC236}">
                <a16:creationId xmlns:a16="http://schemas.microsoft.com/office/drawing/2014/main" id="{9C363BDD-F54B-04EA-30CB-E1F9CB0E39ED}"/>
              </a:ext>
            </a:extLst>
          </p:cNvPr>
          <p:cNvCxnSpPr>
            <a:stCxn id="24" idx="3"/>
            <a:endCxn id="38" idx="1"/>
          </p:cNvCxnSpPr>
          <p:nvPr/>
        </p:nvCxnSpPr>
        <p:spPr>
          <a:xfrm flipV="1">
            <a:off x="5809195" y="4073625"/>
            <a:ext cx="221903" cy="1"/>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48" name="文本框 47">
            <a:extLst>
              <a:ext uri="{FF2B5EF4-FFF2-40B4-BE49-F238E27FC236}">
                <a16:creationId xmlns:a16="http://schemas.microsoft.com/office/drawing/2014/main" id="{13E26E9C-7E9B-7C87-145B-E07625A0B3EA}"/>
              </a:ext>
            </a:extLst>
          </p:cNvPr>
          <p:cNvSpPr txBox="1"/>
          <p:nvPr/>
        </p:nvSpPr>
        <p:spPr>
          <a:xfrm>
            <a:off x="6031098" y="2964913"/>
            <a:ext cx="5194051" cy="584775"/>
          </a:xfrm>
          <a:prstGeom prst="rect">
            <a:avLst/>
          </a:prstGeom>
          <a:noFill/>
          <a:ln>
            <a:noFill/>
          </a:ln>
        </p:spPr>
        <p:txBody>
          <a:bodyPr wrap="none" rtlCol="0">
            <a:spAutoFit/>
          </a:bodyPr>
          <a:lstStyle/>
          <a:p>
            <a:pPr algn="l"/>
            <a:r>
              <a:rPr lang="zh-CN" altLang="en-US" sz="1600" dirty="0">
                <a:solidFill>
                  <a:sysClr val="windowText" lastClr="000000"/>
                </a:solidFill>
              </a:rPr>
              <a:t>为支持多个项目或整个组织运营而产生的共同人力成本</a:t>
            </a:r>
            <a:endParaRPr lang="en-US" altLang="zh-CN" sz="1600" dirty="0">
              <a:solidFill>
                <a:sysClr val="windowText" lastClr="000000"/>
              </a:solidFill>
            </a:endParaRPr>
          </a:p>
          <a:p>
            <a:pPr algn="l"/>
            <a:r>
              <a:rPr lang="zh-CN" altLang="en-US" sz="1600" dirty="0">
                <a:solidFill>
                  <a:sysClr val="windowText" lastClr="000000"/>
                </a:solidFill>
              </a:rPr>
              <a:t>通常由非项目组成员</a:t>
            </a:r>
          </a:p>
        </p:txBody>
      </p:sp>
      <p:cxnSp>
        <p:nvCxnSpPr>
          <p:cNvPr id="50" name="直接连接符 49">
            <a:extLst>
              <a:ext uri="{FF2B5EF4-FFF2-40B4-BE49-F238E27FC236}">
                <a16:creationId xmlns:a16="http://schemas.microsoft.com/office/drawing/2014/main" id="{1DA3DF91-0445-3A29-3726-FB96D69E648B}"/>
              </a:ext>
            </a:extLst>
          </p:cNvPr>
          <p:cNvCxnSpPr>
            <a:stCxn id="19" idx="3"/>
            <a:endCxn id="48" idx="1"/>
          </p:cNvCxnSpPr>
          <p:nvPr/>
        </p:nvCxnSpPr>
        <p:spPr>
          <a:xfrm>
            <a:off x="5809195" y="3255092"/>
            <a:ext cx="221903" cy="2209"/>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826520"/>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4F3B7C83-B371-BA90-A139-F006E34AB512}"/>
              </a:ext>
            </a:extLst>
          </p:cNvPr>
          <p:cNvSpPr txBox="1"/>
          <p:nvPr/>
        </p:nvSpPr>
        <p:spPr>
          <a:xfrm>
            <a:off x="1056000" y="1603407"/>
            <a:ext cx="2403222" cy="400110"/>
          </a:xfrm>
          <a:prstGeom prst="rect">
            <a:avLst/>
          </a:prstGeom>
          <a:noFill/>
        </p:spPr>
        <p:txBody>
          <a:bodyPr wrap="none" rtlCol="0">
            <a:spAutoFit/>
          </a:bodyPr>
          <a:lstStyle/>
          <a:p>
            <a:r>
              <a:rPr lang="zh-CN" altLang="en-US" sz="2000" dirty="0"/>
              <a:t>判断 </a:t>
            </a:r>
            <a:r>
              <a:rPr lang="en-US" altLang="zh-CN" sz="2000" dirty="0"/>
              <a:t>True or False</a:t>
            </a:r>
            <a:endParaRPr lang="zh-CN" altLang="en-US" sz="2000" dirty="0"/>
          </a:p>
        </p:txBody>
      </p:sp>
      <p:cxnSp>
        <p:nvCxnSpPr>
          <p:cNvPr id="3" name="Straight Connector 3">
            <a:extLst>
              <a:ext uri="{FF2B5EF4-FFF2-40B4-BE49-F238E27FC236}">
                <a16:creationId xmlns:a16="http://schemas.microsoft.com/office/drawing/2014/main" id="{78694C9D-9B84-756E-8A39-3C6FF9083533}"/>
              </a:ext>
            </a:extLst>
          </p:cNvPr>
          <p:cNvCxnSpPr>
            <a:cxnSpLocks/>
          </p:cNvCxnSpPr>
          <p:nvPr/>
        </p:nvCxnSpPr>
        <p:spPr>
          <a:xfrm>
            <a:off x="1056000" y="2003517"/>
            <a:ext cx="10080000" cy="0"/>
          </a:xfrm>
          <a:prstGeom prst="line">
            <a:avLst/>
          </a:prstGeom>
          <a:ln w="38100">
            <a:gradFill>
              <a:gsLst>
                <a:gs pos="70000">
                  <a:schemeClr val="accent2"/>
                </a:gs>
                <a:gs pos="0">
                  <a:schemeClr val="accent2"/>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4" name="TextBox 4">
            <a:extLst>
              <a:ext uri="{FF2B5EF4-FFF2-40B4-BE49-F238E27FC236}">
                <a16:creationId xmlns:a16="http://schemas.microsoft.com/office/drawing/2014/main" id="{8F8628A1-47E1-A1F0-1C89-5814E3B7CE09}"/>
              </a:ext>
            </a:extLst>
          </p:cNvPr>
          <p:cNvSpPr txBox="1"/>
          <p:nvPr/>
        </p:nvSpPr>
        <p:spPr>
          <a:xfrm>
            <a:off x="1056000" y="2003517"/>
            <a:ext cx="4108817" cy="369332"/>
          </a:xfrm>
          <a:prstGeom prst="rect">
            <a:avLst/>
          </a:prstGeom>
          <a:noFill/>
        </p:spPr>
        <p:txBody>
          <a:bodyPr wrap="none" rtlCol="0">
            <a:spAutoFit/>
          </a:bodyPr>
          <a:lstStyle/>
          <a:p>
            <a:r>
              <a:rPr lang="zh-CN" altLang="en-US" dirty="0"/>
              <a:t>间接成本是一个与具体项目相关的成本</a:t>
            </a:r>
          </a:p>
        </p:txBody>
      </p:sp>
    </p:spTree>
    <p:extLst>
      <p:ext uri="{BB962C8B-B14F-4D97-AF65-F5344CB8AC3E}">
        <p14:creationId xmlns:p14="http://schemas.microsoft.com/office/powerpoint/2010/main" val="4087384598"/>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55B95419-7651-570F-04A0-04ECBA10E3AE}"/>
              </a:ext>
            </a:extLst>
          </p:cNvPr>
          <p:cNvGraphicFramePr>
            <a:graphicFrameLocks noGrp="1"/>
          </p:cNvGraphicFramePr>
          <p:nvPr>
            <p:extLst>
              <p:ext uri="{D42A27DB-BD31-4B8C-83A1-F6EECF244321}">
                <p14:modId xmlns:p14="http://schemas.microsoft.com/office/powerpoint/2010/main" val="3174106521"/>
              </p:ext>
            </p:extLst>
          </p:nvPr>
        </p:nvGraphicFramePr>
        <p:xfrm>
          <a:off x="3216000" y="2423160"/>
          <a:ext cx="5760000" cy="234696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3641768852"/>
                    </a:ext>
                  </a:extLst>
                </a:gridCol>
                <a:gridCol w="2160000">
                  <a:extLst>
                    <a:ext uri="{9D8B030D-6E8A-4147-A177-3AD203B41FA5}">
                      <a16:colId xmlns:a16="http://schemas.microsoft.com/office/drawing/2014/main" val="1125877973"/>
                    </a:ext>
                  </a:extLst>
                </a:gridCol>
                <a:gridCol w="2160000">
                  <a:extLst>
                    <a:ext uri="{9D8B030D-6E8A-4147-A177-3AD203B41FA5}">
                      <a16:colId xmlns:a16="http://schemas.microsoft.com/office/drawing/2014/main" val="597259007"/>
                    </a:ext>
                  </a:extLst>
                </a:gridCol>
              </a:tblGrid>
              <a:tr h="145599">
                <a:tc>
                  <a:txBody>
                    <a:bodyPr/>
                    <a:lstStyle/>
                    <a:p>
                      <a:r>
                        <a:rPr lang="en-US" altLang="zh-CN" sz="1600" dirty="0">
                          <a:solidFill>
                            <a:schemeClr val="bg1"/>
                          </a:solidFill>
                        </a:rPr>
                        <a:t>Type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altLang="zh-CN" sz="1600" dirty="0">
                          <a:solidFill>
                            <a:schemeClr val="bg1"/>
                          </a:solidFill>
                        </a:rPr>
                        <a:t>Desc</a:t>
                      </a:r>
                      <a:endParaRPr lang="zh-CN" altLang="en-US" sz="1600" dirty="0">
                        <a:solidFill>
                          <a:schemeClr val="bg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endParaRPr lang="zh-CN" altLang="en-US" sz="1600" dirty="0">
                        <a:solidFill>
                          <a:schemeClr val="bg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589251913"/>
                  </a:ext>
                </a:extLst>
              </a:tr>
              <a:tr h="145599">
                <a:tc>
                  <a:txBody>
                    <a:bodyPr/>
                    <a:lstStyle/>
                    <a:p>
                      <a:r>
                        <a:rPr lang="zh-CN" altLang="en-US" sz="1600" dirty="0">
                          <a:solidFill>
                            <a:sysClr val="windowText" lastClr="000000"/>
                          </a:solidFill>
                        </a:rPr>
                        <a:t>固定成本</a:t>
                      </a:r>
                      <a:endParaRPr lang="en-US" altLang="zh-CN" sz="1600" dirty="0">
                        <a:solidFill>
                          <a:sysClr val="windowText" lastClr="0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dirty="0">
                          <a:solidFill>
                            <a:sysClr val="windowText" lastClr="000000"/>
                          </a:solidFill>
                        </a:rPr>
                        <a:t>Fixed Costs</a:t>
                      </a:r>
                      <a:endParaRPr lang="zh-CN" altLang="en-US" sz="1600" dirty="0">
                        <a:solidFill>
                          <a:sysClr val="windowText" lastClr="0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zh-CN" altLang="en-US" sz="1600" dirty="0">
                          <a:solidFill>
                            <a:sysClr val="windowText" lastClr="000000"/>
                          </a:solidFill>
                        </a:rPr>
                        <a:t>租金</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8626079"/>
                  </a:ext>
                </a:extLst>
              </a:tr>
              <a:tr h="1455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solidFill>
                            <a:sysClr val="windowText" lastClr="000000"/>
                          </a:solidFill>
                        </a:rPr>
                        <a:t>可变成本</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a:solidFill>
                            <a:sysClr val="windowText" lastClr="000000"/>
                          </a:solidFill>
                        </a:rPr>
                        <a:t>Variable Costs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solidFill>
                            <a:sysClr val="windowText" lastClr="000000"/>
                          </a:solidFill>
                        </a:rPr>
                        <a:t>外聘</a:t>
                      </a:r>
                      <a:endParaRPr lang="en-US" altLang="zh-CN" sz="1600" dirty="0">
                        <a:solidFill>
                          <a:sysClr val="windowText" lastClr="0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7967592"/>
                  </a:ext>
                </a:extLst>
              </a:tr>
              <a:tr h="145599">
                <a:tc>
                  <a:txBody>
                    <a:bodyPr/>
                    <a:lstStyle/>
                    <a:p>
                      <a:r>
                        <a:rPr lang="zh-CN" altLang="en-US" sz="1600" dirty="0">
                          <a:solidFill>
                            <a:sysClr val="windowText" lastClr="000000"/>
                          </a:solidFill>
                        </a:rPr>
                        <a:t>直接成本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a:solidFill>
                            <a:sysClr val="windowText" lastClr="000000"/>
                          </a:solidFill>
                        </a:rPr>
                        <a:t>Direct Costs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solidFill>
                            <a:sysClr val="windowText" lastClr="000000"/>
                          </a:solidFill>
                        </a:rPr>
                        <a:t>专有</a:t>
                      </a:r>
                      <a:endParaRPr lang="en-US" altLang="zh-CN" sz="1600" dirty="0">
                        <a:solidFill>
                          <a:sysClr val="windowText" lastClr="0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3752906"/>
                  </a:ext>
                </a:extLst>
              </a:tr>
              <a:tr h="145599">
                <a:tc>
                  <a:txBody>
                    <a:bodyPr/>
                    <a:lstStyle/>
                    <a:p>
                      <a:r>
                        <a:rPr lang="zh-CN" altLang="en-US" sz="1600" dirty="0">
                          <a:solidFill>
                            <a:sysClr val="windowText" lastClr="000000"/>
                          </a:solidFill>
                        </a:rPr>
                        <a:t>间接成本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a:solidFill>
                            <a:sysClr val="windowText" lastClr="000000"/>
                          </a:solidFill>
                        </a:rPr>
                        <a:t>Indirect Costs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solidFill>
                            <a:sysClr val="windowText" lastClr="000000"/>
                          </a:solidFill>
                        </a:rPr>
                        <a:t>分摊</a:t>
                      </a:r>
                      <a:endParaRPr lang="en-US" altLang="zh-CN" sz="1600" dirty="0">
                        <a:solidFill>
                          <a:sysClr val="windowText" lastClr="0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08572355"/>
                  </a:ext>
                </a:extLst>
              </a:tr>
              <a:tr h="1455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solidFill>
                            <a:sysClr val="windowText" lastClr="000000"/>
                          </a:solidFill>
                        </a:rPr>
                        <a:t>机会成本 </a:t>
                      </a:r>
                      <a:endParaRPr lang="en-US" altLang="zh-CN" sz="1600" dirty="0">
                        <a:solidFill>
                          <a:sysClr val="windowText" lastClr="0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dirty="0">
                          <a:solidFill>
                            <a:sysClr val="windowText" lastClr="000000"/>
                          </a:solidFill>
                        </a:rPr>
                        <a:t>Opportunity Cost</a:t>
                      </a:r>
                      <a:endParaRPr lang="zh-CN" altLang="en-US" sz="1600" dirty="0">
                        <a:solidFill>
                          <a:sysClr val="windowText" lastClr="0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zh-CN" altLang="en-US" sz="1600" dirty="0">
                          <a:solidFill>
                            <a:sysClr val="windowText" lastClr="000000"/>
                          </a:solidFill>
                        </a:rPr>
                        <a:t>决策</a:t>
                      </a:r>
                      <a:r>
                        <a:rPr lang="en-US" altLang="zh-CN" sz="1600" dirty="0">
                          <a:solidFill>
                            <a:sysClr val="windowText" lastClr="000000"/>
                          </a:solidFill>
                        </a:rPr>
                        <a:t>A?B?</a:t>
                      </a:r>
                      <a:endParaRPr lang="zh-CN" altLang="en-US" sz="1600" dirty="0">
                        <a:solidFill>
                          <a:sysClr val="windowText" lastClr="0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62734663"/>
                  </a:ext>
                </a:extLst>
              </a:tr>
              <a:tr h="1455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solidFill>
                            <a:sysClr val="windowText" lastClr="000000"/>
                          </a:solidFill>
                        </a:rPr>
                        <a:t>沉没成本</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dirty="0">
                          <a:solidFill>
                            <a:sysClr val="windowText" lastClr="000000"/>
                          </a:solidFill>
                        </a:rPr>
                        <a:t>Sunk Cost</a:t>
                      </a:r>
                      <a:endParaRPr lang="zh-CN" altLang="en-US" sz="1600" dirty="0">
                        <a:solidFill>
                          <a:sysClr val="windowText" lastClr="0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zh-CN" altLang="en-US" sz="1600" dirty="0">
                          <a:solidFill>
                            <a:sysClr val="windowText" lastClr="000000"/>
                          </a:solidFill>
                        </a:rPr>
                        <a:t>已发生</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5508010"/>
                  </a:ext>
                </a:extLst>
              </a:tr>
            </a:tbl>
          </a:graphicData>
        </a:graphic>
      </p:graphicFrame>
    </p:spTree>
    <p:extLst>
      <p:ext uri="{BB962C8B-B14F-4D97-AF65-F5344CB8AC3E}">
        <p14:creationId xmlns:p14="http://schemas.microsoft.com/office/powerpoint/2010/main" val="1729006732"/>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4F3B7C83-B371-BA90-A139-F006E34AB512}"/>
              </a:ext>
            </a:extLst>
          </p:cNvPr>
          <p:cNvSpPr txBox="1"/>
          <p:nvPr/>
        </p:nvSpPr>
        <p:spPr>
          <a:xfrm>
            <a:off x="1056000" y="1603407"/>
            <a:ext cx="1899879" cy="400110"/>
          </a:xfrm>
          <a:prstGeom prst="rect">
            <a:avLst/>
          </a:prstGeom>
          <a:noFill/>
        </p:spPr>
        <p:txBody>
          <a:bodyPr wrap="none" rtlCol="0">
            <a:spAutoFit/>
          </a:bodyPr>
          <a:lstStyle/>
          <a:p>
            <a:r>
              <a:rPr lang="zh-CN" altLang="en-US" sz="2000" dirty="0"/>
              <a:t>思考 </a:t>
            </a:r>
            <a:r>
              <a:rPr lang="en-US" altLang="zh-CN" sz="2000" dirty="0"/>
              <a:t>Thinking</a:t>
            </a:r>
            <a:endParaRPr lang="zh-CN" altLang="en-US" sz="2000" dirty="0"/>
          </a:p>
        </p:txBody>
      </p:sp>
      <p:cxnSp>
        <p:nvCxnSpPr>
          <p:cNvPr id="3" name="Straight Connector 3">
            <a:extLst>
              <a:ext uri="{FF2B5EF4-FFF2-40B4-BE49-F238E27FC236}">
                <a16:creationId xmlns:a16="http://schemas.microsoft.com/office/drawing/2014/main" id="{78694C9D-9B84-756E-8A39-3C6FF9083533}"/>
              </a:ext>
            </a:extLst>
          </p:cNvPr>
          <p:cNvCxnSpPr>
            <a:cxnSpLocks/>
          </p:cNvCxnSpPr>
          <p:nvPr/>
        </p:nvCxnSpPr>
        <p:spPr>
          <a:xfrm>
            <a:off x="1056000" y="2003517"/>
            <a:ext cx="10080000" cy="0"/>
          </a:xfrm>
          <a:prstGeom prst="line">
            <a:avLst/>
          </a:prstGeom>
          <a:ln w="38100">
            <a:gradFill>
              <a:gsLst>
                <a:gs pos="70000">
                  <a:schemeClr val="accent2"/>
                </a:gs>
                <a:gs pos="0">
                  <a:schemeClr val="accent2"/>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4" name="TextBox 4">
            <a:extLst>
              <a:ext uri="{FF2B5EF4-FFF2-40B4-BE49-F238E27FC236}">
                <a16:creationId xmlns:a16="http://schemas.microsoft.com/office/drawing/2014/main" id="{8F8628A1-47E1-A1F0-1C89-5814E3B7CE09}"/>
              </a:ext>
            </a:extLst>
          </p:cNvPr>
          <p:cNvSpPr txBox="1"/>
          <p:nvPr/>
        </p:nvSpPr>
        <p:spPr>
          <a:xfrm>
            <a:off x="1056000" y="2003517"/>
            <a:ext cx="6413935" cy="369332"/>
          </a:xfrm>
          <a:prstGeom prst="rect">
            <a:avLst/>
          </a:prstGeom>
          <a:noFill/>
        </p:spPr>
        <p:txBody>
          <a:bodyPr wrap="none" rtlCol="0">
            <a:spAutoFit/>
          </a:bodyPr>
          <a:lstStyle/>
          <a:p>
            <a:r>
              <a:rPr lang="zh-CN" altLang="en-US" dirty="0"/>
              <a:t>你花 </a:t>
            </a:r>
            <a:r>
              <a:rPr lang="en-US" altLang="zh-CN" dirty="0"/>
              <a:t>50</a:t>
            </a:r>
            <a:r>
              <a:rPr lang="zh-CN" altLang="en-US" dirty="0"/>
              <a:t>元 买了一张电影票，进场看了</a:t>
            </a:r>
            <a:r>
              <a:rPr lang="en-US" altLang="zh-CN" dirty="0"/>
              <a:t>20</a:t>
            </a:r>
            <a:r>
              <a:rPr lang="zh-CN" altLang="en-US" dirty="0"/>
              <a:t>分钟发现非常难看。</a:t>
            </a:r>
          </a:p>
        </p:txBody>
      </p:sp>
    </p:spTree>
    <p:extLst>
      <p:ext uri="{BB962C8B-B14F-4D97-AF65-F5344CB8AC3E}">
        <p14:creationId xmlns:p14="http://schemas.microsoft.com/office/powerpoint/2010/main" val="1988890727"/>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7D3BAB-CF5F-E83D-4E7D-206A6B634295}"/>
              </a:ext>
            </a:extLst>
          </p:cNvPr>
          <p:cNvSpPr>
            <a:spLocks noGrp="1"/>
          </p:cNvSpPr>
          <p:nvPr>
            <p:ph type="title"/>
          </p:nvPr>
        </p:nvSpPr>
        <p:spPr>
          <a:xfrm>
            <a:off x="792000" y="360000"/>
            <a:ext cx="6375921" cy="429413"/>
          </a:xfrm>
        </p:spPr>
        <p:txBody>
          <a:bodyPr/>
          <a:lstStyle/>
          <a:p>
            <a:r>
              <a:rPr lang="en-US" altLang="zh-CN" dirty="0"/>
              <a:t>6.1.4 </a:t>
            </a:r>
            <a:r>
              <a:rPr lang="zh-CN" altLang="en-US" dirty="0"/>
              <a:t>成本估算过程</a:t>
            </a:r>
          </a:p>
        </p:txBody>
      </p:sp>
      <p:sp>
        <p:nvSpPr>
          <p:cNvPr id="7" name="内容占位符 6">
            <a:extLst>
              <a:ext uri="{FF2B5EF4-FFF2-40B4-BE49-F238E27FC236}">
                <a16:creationId xmlns:a16="http://schemas.microsoft.com/office/drawing/2014/main" id="{B2442F33-4A5D-C775-C7C1-DE9548630B41}"/>
              </a:ext>
            </a:extLst>
          </p:cNvPr>
          <p:cNvSpPr>
            <a:spLocks noGrp="1"/>
          </p:cNvSpPr>
          <p:nvPr>
            <p:ph idx="1"/>
          </p:nvPr>
        </p:nvSpPr>
        <p:spPr/>
        <p:txBody>
          <a:bodyPr/>
          <a:lstStyle/>
          <a:p>
            <a:endParaRPr lang="zh-CN" altLang="en-US"/>
          </a:p>
        </p:txBody>
      </p:sp>
      <p:sp>
        <p:nvSpPr>
          <p:cNvPr id="4" name="文本占位符 3">
            <a:extLst>
              <a:ext uri="{FF2B5EF4-FFF2-40B4-BE49-F238E27FC236}">
                <a16:creationId xmlns:a16="http://schemas.microsoft.com/office/drawing/2014/main" id="{54DE4BF8-859E-109E-D2B2-DA2E30D19F15}"/>
              </a:ext>
            </a:extLst>
          </p:cNvPr>
          <p:cNvSpPr>
            <a:spLocks noGrp="1"/>
          </p:cNvSpPr>
          <p:nvPr>
            <p:ph type="body" sz="quarter" idx="10"/>
          </p:nvPr>
        </p:nvSpPr>
        <p:spPr>
          <a:xfrm>
            <a:off x="7071919" y="448519"/>
            <a:ext cx="4424080" cy="338554"/>
          </a:xfrm>
        </p:spPr>
        <p:txBody>
          <a:bodyPr/>
          <a:lstStyle/>
          <a:p>
            <a:r>
              <a:rPr lang="en-US" altLang="zh-CN" dirty="0"/>
              <a:t>Procedure</a:t>
            </a:r>
            <a:endParaRPr lang="zh-CN" altLang="en-US" dirty="0"/>
          </a:p>
        </p:txBody>
      </p:sp>
      <p:graphicFrame>
        <p:nvGraphicFramePr>
          <p:cNvPr id="11" name="内容占位符 4">
            <a:extLst>
              <a:ext uri="{FF2B5EF4-FFF2-40B4-BE49-F238E27FC236}">
                <a16:creationId xmlns:a16="http://schemas.microsoft.com/office/drawing/2014/main" id="{91FFA317-31D2-3845-AA7B-8EF74E07051D}"/>
              </a:ext>
            </a:extLst>
          </p:cNvPr>
          <p:cNvGraphicFramePr>
            <a:graphicFrameLocks/>
          </p:cNvGraphicFramePr>
          <p:nvPr>
            <p:extLst>
              <p:ext uri="{D42A27DB-BD31-4B8C-83A1-F6EECF244321}">
                <p14:modId xmlns:p14="http://schemas.microsoft.com/office/powerpoint/2010/main" val="776255877"/>
              </p:ext>
            </p:extLst>
          </p:nvPr>
        </p:nvGraphicFramePr>
        <p:xfrm>
          <a:off x="3725734" y="2378867"/>
          <a:ext cx="4740532" cy="23702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20565888"/>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图示 5">
            <a:extLst>
              <a:ext uri="{FF2B5EF4-FFF2-40B4-BE49-F238E27FC236}">
                <a16:creationId xmlns:a16="http://schemas.microsoft.com/office/drawing/2014/main" id="{1F6FCF31-CD1F-620B-1F32-28ADB95D82FA}"/>
              </a:ext>
            </a:extLst>
          </p:cNvPr>
          <p:cNvGraphicFramePr/>
          <p:nvPr>
            <p:extLst>
              <p:ext uri="{D42A27DB-BD31-4B8C-83A1-F6EECF244321}">
                <p14:modId xmlns:p14="http://schemas.microsoft.com/office/powerpoint/2010/main" val="1835091441"/>
              </p:ext>
            </p:extLst>
          </p:nvPr>
        </p:nvGraphicFramePr>
        <p:xfrm>
          <a:off x="1874414" y="1299590"/>
          <a:ext cx="8443173" cy="48554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17246539"/>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DCEF03-1137-4BA8-586E-02E55CF5C4A6}"/>
              </a:ext>
            </a:extLst>
          </p:cNvPr>
          <p:cNvSpPr>
            <a:spLocks noGrp="1"/>
          </p:cNvSpPr>
          <p:nvPr>
            <p:ph type="title"/>
          </p:nvPr>
        </p:nvSpPr>
        <p:spPr>
          <a:xfrm>
            <a:off x="792000" y="360000"/>
            <a:ext cx="6375921" cy="429413"/>
          </a:xfrm>
        </p:spPr>
        <p:txBody>
          <a:bodyPr/>
          <a:lstStyle/>
          <a:p>
            <a:r>
              <a:rPr lang="en-US" altLang="zh-CN" dirty="0"/>
              <a:t>6.2 </a:t>
            </a:r>
            <a:r>
              <a:rPr lang="zh-CN" altLang="en-US" dirty="0"/>
              <a:t>传统项目成本估算方法</a:t>
            </a:r>
          </a:p>
        </p:txBody>
      </p:sp>
      <p:sp>
        <p:nvSpPr>
          <p:cNvPr id="7" name="内容占位符 6">
            <a:extLst>
              <a:ext uri="{FF2B5EF4-FFF2-40B4-BE49-F238E27FC236}">
                <a16:creationId xmlns:a16="http://schemas.microsoft.com/office/drawing/2014/main" id="{674B3C38-81FD-1C1F-30A7-8D4909AEB0E0}"/>
              </a:ext>
            </a:extLst>
          </p:cNvPr>
          <p:cNvSpPr>
            <a:spLocks noGrp="1"/>
          </p:cNvSpPr>
          <p:nvPr>
            <p:ph idx="1"/>
          </p:nvPr>
        </p:nvSpPr>
        <p:spPr/>
        <p:txBody>
          <a:bodyPr/>
          <a:lstStyle/>
          <a:p>
            <a:endParaRPr lang="zh-CN" altLang="en-US"/>
          </a:p>
        </p:txBody>
      </p:sp>
      <p:sp>
        <p:nvSpPr>
          <p:cNvPr id="4" name="文本占位符 3">
            <a:extLst>
              <a:ext uri="{FF2B5EF4-FFF2-40B4-BE49-F238E27FC236}">
                <a16:creationId xmlns:a16="http://schemas.microsoft.com/office/drawing/2014/main" id="{BF7B33AA-25E8-4869-CC44-A74778FD3402}"/>
              </a:ext>
            </a:extLst>
          </p:cNvPr>
          <p:cNvSpPr>
            <a:spLocks noGrp="1"/>
          </p:cNvSpPr>
          <p:nvPr>
            <p:ph type="body" sz="quarter" idx="10"/>
          </p:nvPr>
        </p:nvSpPr>
        <p:spPr>
          <a:xfrm>
            <a:off x="7071919" y="448519"/>
            <a:ext cx="4424080" cy="338554"/>
          </a:xfrm>
        </p:spPr>
        <p:txBody>
          <a:bodyPr/>
          <a:lstStyle/>
          <a:p>
            <a:r>
              <a:rPr lang="en-US" altLang="zh-CN" dirty="0"/>
              <a:t>Traditional</a:t>
            </a:r>
            <a:endParaRPr lang="zh-CN" altLang="en-US" dirty="0"/>
          </a:p>
        </p:txBody>
      </p:sp>
      <p:graphicFrame>
        <p:nvGraphicFramePr>
          <p:cNvPr id="27" name="内容占位符 4">
            <a:extLst>
              <a:ext uri="{FF2B5EF4-FFF2-40B4-BE49-F238E27FC236}">
                <a16:creationId xmlns:a16="http://schemas.microsoft.com/office/drawing/2014/main" id="{C4FBFAF5-D662-CE32-3DF2-2B156D98900A}"/>
              </a:ext>
            </a:extLst>
          </p:cNvPr>
          <p:cNvGraphicFramePr>
            <a:graphicFrameLocks/>
          </p:cNvGraphicFramePr>
          <p:nvPr>
            <p:extLst>
              <p:ext uri="{D42A27DB-BD31-4B8C-83A1-F6EECF244321}">
                <p14:modId xmlns:p14="http://schemas.microsoft.com/office/powerpoint/2010/main" val="1056462004"/>
              </p:ext>
            </p:extLst>
          </p:nvPr>
        </p:nvGraphicFramePr>
        <p:xfrm>
          <a:off x="695325" y="2503920"/>
          <a:ext cx="10800000" cy="3688080"/>
        </p:xfrm>
        <a:graphic>
          <a:graphicData uri="http://schemas.openxmlformats.org/drawingml/2006/table">
            <a:tbl>
              <a:tblPr/>
              <a:tblGrid>
                <a:gridCol w="2333010">
                  <a:extLst>
                    <a:ext uri="{9D8B030D-6E8A-4147-A177-3AD203B41FA5}">
                      <a16:colId xmlns:a16="http://schemas.microsoft.com/office/drawing/2014/main" val="3085145783"/>
                    </a:ext>
                  </a:extLst>
                </a:gridCol>
                <a:gridCol w="8466990">
                  <a:extLst>
                    <a:ext uri="{9D8B030D-6E8A-4147-A177-3AD203B41FA5}">
                      <a16:colId xmlns:a16="http://schemas.microsoft.com/office/drawing/2014/main" val="1127026529"/>
                    </a:ext>
                  </a:extLst>
                </a:gridCol>
              </a:tblGrid>
              <a:tr h="220656">
                <a:tc>
                  <a:txBody>
                    <a:bodyPr/>
                    <a:lstStyle/>
                    <a:p>
                      <a:pPr>
                        <a:buNone/>
                      </a:pPr>
                      <a:r>
                        <a:rPr lang="zh-CN" altLang="en-US" sz="1600" dirty="0">
                          <a:solidFill>
                            <a:schemeClr val="bg1"/>
                          </a:solidFill>
                        </a:rPr>
                        <a:t>方法</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buNone/>
                      </a:pPr>
                      <a:r>
                        <a:rPr lang="zh-CN" altLang="en-US" sz="1600" dirty="0">
                          <a:solidFill>
                            <a:schemeClr val="bg1"/>
                          </a:solidFill>
                        </a:rPr>
                        <a:t>定义</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79677568"/>
                  </a:ext>
                </a:extLst>
              </a:tr>
              <a:tr h="220656">
                <a:tc>
                  <a:txBody>
                    <a:bodyPr/>
                    <a:lstStyle/>
                    <a:p>
                      <a:pPr>
                        <a:buNone/>
                      </a:pPr>
                      <a:r>
                        <a:rPr lang="zh-CN" altLang="en-US" sz="1600" dirty="0"/>
                        <a:t>代码行估算</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altLang="zh-CN" sz="1600" dirty="0"/>
                        <a:t>LOC</a:t>
                      </a:r>
                      <a:r>
                        <a:rPr lang="zh-CN" altLang="en-US" sz="1600" dirty="0"/>
                        <a:t>；</a:t>
                      </a:r>
                      <a:r>
                        <a:rPr lang="en-US" altLang="zh-CN" sz="1600" dirty="0"/>
                        <a:t>Line of Code</a:t>
                      </a:r>
                      <a:r>
                        <a:rPr lang="zh-CN" altLang="en-US" sz="1600" dirty="0"/>
                        <a:t>；根据代码行数</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111801"/>
                  </a:ext>
                </a:extLst>
              </a:tr>
              <a:tr h="2206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t>功能点估算</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altLang="zh-CN" sz="1600" dirty="0"/>
                        <a:t>FP</a:t>
                      </a:r>
                      <a:r>
                        <a:rPr lang="zh-CN" altLang="en-US" sz="1600" dirty="0"/>
                        <a:t>；</a:t>
                      </a:r>
                      <a:r>
                        <a:rPr lang="en-US" altLang="zh-CN" sz="1600" dirty="0"/>
                        <a:t>Function Point</a:t>
                      </a:r>
                      <a:r>
                        <a:rPr lang="zh-CN" altLang="en-US" sz="1600" dirty="0"/>
                        <a:t>；用系统的功能数量来测量</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2883926"/>
                  </a:ext>
                </a:extLst>
              </a:tr>
              <a:tr h="2206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t>用例点估算</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altLang="zh-CN" sz="1600" dirty="0"/>
                        <a:t>UCP</a:t>
                      </a:r>
                      <a:r>
                        <a:rPr lang="zh-CN" altLang="en-US" sz="1600" dirty="0"/>
                        <a:t>；</a:t>
                      </a:r>
                      <a:r>
                        <a:rPr lang="en-US" altLang="zh-CN" sz="1600" dirty="0"/>
                        <a:t>User Case Point</a:t>
                      </a:r>
                      <a:endParaRPr lang="zh-CN" altLang="en-US"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2312070"/>
                  </a:ext>
                </a:extLst>
              </a:tr>
              <a:tr h="220656">
                <a:tc>
                  <a:txBody>
                    <a:bodyPr/>
                    <a:lstStyle/>
                    <a:p>
                      <a:pPr>
                        <a:buNone/>
                      </a:pPr>
                      <a:r>
                        <a:rPr lang="zh-CN" altLang="en-US" sz="1600" dirty="0"/>
                        <a:t>类比估算</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altLang="zh-CN" sz="1600" dirty="0"/>
                        <a:t>Analogy Estimation</a:t>
                      </a:r>
                      <a:r>
                        <a:rPr lang="zh-CN" altLang="en-US" sz="1600" dirty="0"/>
                        <a:t>；使用类似项目的实际数据进行估算</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13466589"/>
                  </a:ext>
                </a:extLst>
              </a:tr>
              <a:tr h="220656">
                <a:tc>
                  <a:txBody>
                    <a:bodyPr/>
                    <a:lstStyle/>
                    <a:p>
                      <a:pPr>
                        <a:buNone/>
                      </a:pPr>
                      <a:r>
                        <a:rPr lang="zh-CN" altLang="en-US" sz="1600"/>
                        <a:t>自上而下估算</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从整体项目开始，分解并分配资源</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6852194"/>
                  </a:ext>
                </a:extLst>
              </a:tr>
              <a:tr h="220656">
                <a:tc>
                  <a:txBody>
                    <a:bodyPr/>
                    <a:lstStyle/>
                    <a:p>
                      <a:pPr>
                        <a:buNone/>
                      </a:pPr>
                      <a:r>
                        <a:rPr lang="zh-CN" altLang="en-US" sz="1600" dirty="0"/>
                        <a:t>自下而上估算</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dirty="0"/>
                        <a:t>先估算每个工作包或活动的成本</a:t>
                      </a:r>
                      <a:r>
                        <a:rPr lang="en-US" altLang="zh-CN" sz="1600" dirty="0"/>
                        <a:t>/</a:t>
                      </a:r>
                      <a:r>
                        <a:rPr lang="zh-CN" altLang="en-US" sz="1600" dirty="0"/>
                        <a:t>工期，再汇总到更高层级</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70663309"/>
                  </a:ext>
                </a:extLst>
              </a:tr>
              <a:tr h="220656">
                <a:tc>
                  <a:txBody>
                    <a:bodyPr/>
                    <a:lstStyle/>
                    <a:p>
                      <a:pPr>
                        <a:buNone/>
                      </a:pPr>
                      <a:r>
                        <a:rPr lang="zh-CN" altLang="en-US" sz="1600"/>
                        <a:t>多方案分析估算</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dirty="0"/>
                        <a:t>比较多种技术或方案的成本</a:t>
                      </a:r>
                      <a:r>
                        <a:rPr lang="en-US" altLang="zh-CN" sz="1600" dirty="0"/>
                        <a:t>/</a:t>
                      </a:r>
                      <a:r>
                        <a:rPr lang="zh-CN" altLang="en-US" sz="1600" dirty="0"/>
                        <a:t>收益</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0496958"/>
                  </a:ext>
                </a:extLst>
              </a:tr>
              <a:tr h="220656">
                <a:tc>
                  <a:txBody>
                    <a:bodyPr/>
                    <a:lstStyle/>
                    <a:p>
                      <a:pPr>
                        <a:buNone/>
                      </a:pPr>
                      <a:r>
                        <a:rPr lang="zh-CN" altLang="en-US" sz="1600"/>
                        <a:t>参数估算</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基于数学模型和历史数据（如每米成本）进行估算</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61272037"/>
                  </a:ext>
                </a:extLst>
              </a:tr>
              <a:tr h="220656">
                <a:tc>
                  <a:txBody>
                    <a:bodyPr/>
                    <a:lstStyle/>
                    <a:p>
                      <a:pPr>
                        <a:buNone/>
                      </a:pPr>
                      <a:r>
                        <a:rPr lang="zh-CN" altLang="en-US" sz="1600" dirty="0"/>
                        <a:t>专家估算</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依靠专家经验进行判断</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2723542"/>
                  </a:ext>
                </a:extLst>
              </a:tr>
              <a:tr h="220656">
                <a:tc>
                  <a:txBody>
                    <a:bodyPr/>
                    <a:lstStyle/>
                    <a:p>
                      <a:pPr>
                        <a:buNone/>
                      </a:pPr>
                      <a:r>
                        <a:rPr lang="zh-CN" altLang="en-US" sz="1600" dirty="0"/>
                        <a:t>三点估算</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dirty="0"/>
                        <a:t>使用乐观</a:t>
                      </a:r>
                      <a:r>
                        <a:rPr lang="en-US" altLang="zh-CN" sz="1600" dirty="0"/>
                        <a:t>O</a:t>
                      </a:r>
                      <a:r>
                        <a:rPr lang="zh-CN" altLang="en-US" sz="1600" dirty="0"/>
                        <a:t>、最可能</a:t>
                      </a:r>
                      <a:r>
                        <a:rPr lang="en-US" altLang="zh-CN" sz="1600" dirty="0"/>
                        <a:t>M</a:t>
                      </a:r>
                      <a:r>
                        <a:rPr lang="zh-CN" altLang="en-US" sz="1600" dirty="0"/>
                        <a:t>、悲观</a:t>
                      </a:r>
                      <a:r>
                        <a:rPr lang="en-US" altLang="zh-CN" sz="1600" dirty="0"/>
                        <a:t>P</a:t>
                      </a:r>
                      <a:r>
                        <a:rPr lang="zh-CN" altLang="en-US" sz="1600" dirty="0"/>
                        <a:t>三个值计算期望工期或成本</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85019332"/>
                  </a:ext>
                </a:extLst>
              </a:tr>
            </a:tbl>
          </a:graphicData>
        </a:graphic>
      </p:graphicFrame>
    </p:spTree>
    <p:extLst>
      <p:ext uri="{BB962C8B-B14F-4D97-AF65-F5344CB8AC3E}">
        <p14:creationId xmlns:p14="http://schemas.microsoft.com/office/powerpoint/2010/main" val="555791037"/>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15F311-F04E-F148-5D6E-8F944D3FEF57}"/>
              </a:ext>
            </a:extLst>
          </p:cNvPr>
          <p:cNvSpPr>
            <a:spLocks noGrp="1"/>
          </p:cNvSpPr>
          <p:nvPr>
            <p:ph type="title"/>
          </p:nvPr>
        </p:nvSpPr>
        <p:spPr>
          <a:xfrm>
            <a:off x="792000" y="360000"/>
            <a:ext cx="6375921" cy="429413"/>
          </a:xfrm>
        </p:spPr>
        <p:txBody>
          <a:bodyPr/>
          <a:lstStyle/>
          <a:p>
            <a:r>
              <a:rPr lang="en-US" altLang="zh-CN" dirty="0"/>
              <a:t>6.2.1 </a:t>
            </a:r>
            <a:r>
              <a:rPr lang="zh-CN" altLang="en-US" dirty="0"/>
              <a:t>代码行估算</a:t>
            </a:r>
            <a:r>
              <a:rPr lang="en-US" altLang="zh-CN" dirty="0"/>
              <a:t> </a:t>
            </a:r>
            <a:endParaRPr lang="zh-CN" altLang="en-US" dirty="0"/>
          </a:p>
        </p:txBody>
      </p:sp>
      <p:sp>
        <p:nvSpPr>
          <p:cNvPr id="10" name="内容占位符 9">
            <a:extLst>
              <a:ext uri="{FF2B5EF4-FFF2-40B4-BE49-F238E27FC236}">
                <a16:creationId xmlns:a16="http://schemas.microsoft.com/office/drawing/2014/main" id="{1D96ED4E-C5BC-C1DA-4B0F-26F9ECC0EB29}"/>
              </a:ext>
            </a:extLst>
          </p:cNvPr>
          <p:cNvSpPr>
            <a:spLocks noGrp="1"/>
          </p:cNvSpPr>
          <p:nvPr>
            <p:ph idx="1"/>
          </p:nvPr>
        </p:nvSpPr>
        <p:spPr>
          <a:xfrm>
            <a:off x="696000" y="864000"/>
            <a:ext cx="10800000" cy="5400000"/>
          </a:xfrm>
        </p:spPr>
        <p:txBody>
          <a:bodyPr/>
          <a:lstStyle/>
          <a:p>
            <a:r>
              <a:rPr lang="en-US" altLang="zh-CN" dirty="0"/>
              <a:t>Line Of Code</a:t>
            </a:r>
          </a:p>
          <a:p>
            <a:r>
              <a:rPr lang="zh-CN" altLang="en-US" dirty="0"/>
              <a:t>没有固定标准</a:t>
            </a:r>
            <a:endParaRPr lang="en-US" altLang="zh-CN" dirty="0"/>
          </a:p>
          <a:p>
            <a:r>
              <a:rPr lang="zh-CN" altLang="en-US" dirty="0"/>
              <a:t>无法在项目早期（需求阶段）进行有效估算，也不便于跨项目对比</a:t>
            </a:r>
            <a:endParaRPr lang="en-US" altLang="zh-CN" dirty="0"/>
          </a:p>
          <a:p>
            <a:r>
              <a:rPr lang="zh-CN" altLang="en-US" dirty="0"/>
              <a:t>主观</a:t>
            </a:r>
            <a:endParaRPr lang="en-US" altLang="zh-CN" dirty="0"/>
          </a:p>
          <a:p>
            <a:r>
              <a:rPr lang="zh-CN" altLang="en-US" dirty="0"/>
              <a:t>依赖编程风格</a:t>
            </a:r>
          </a:p>
          <a:p>
            <a:endParaRPr lang="en-US" altLang="zh-CN" dirty="0"/>
          </a:p>
          <a:p>
            <a:endParaRPr lang="zh-CN" altLang="en-US" dirty="0"/>
          </a:p>
        </p:txBody>
      </p:sp>
      <p:sp>
        <p:nvSpPr>
          <p:cNvPr id="7" name="文本占位符 6">
            <a:extLst>
              <a:ext uri="{FF2B5EF4-FFF2-40B4-BE49-F238E27FC236}">
                <a16:creationId xmlns:a16="http://schemas.microsoft.com/office/drawing/2014/main" id="{0A430156-89D6-2ECA-71F6-3A5D14E2AC00}"/>
              </a:ext>
            </a:extLst>
          </p:cNvPr>
          <p:cNvSpPr>
            <a:spLocks noGrp="1"/>
          </p:cNvSpPr>
          <p:nvPr>
            <p:ph type="body" sz="quarter" idx="10"/>
          </p:nvPr>
        </p:nvSpPr>
        <p:spPr>
          <a:xfrm>
            <a:off x="7071919" y="448519"/>
            <a:ext cx="4424080" cy="338554"/>
          </a:xfrm>
        </p:spPr>
        <p:txBody>
          <a:bodyPr/>
          <a:lstStyle/>
          <a:p>
            <a:r>
              <a:rPr lang="en-US" altLang="zh-CN" dirty="0"/>
              <a:t>LOC/Traditional</a:t>
            </a:r>
            <a:endParaRPr lang="zh-CN" altLang="en-US" dirty="0"/>
          </a:p>
        </p:txBody>
      </p:sp>
    </p:spTree>
    <p:extLst>
      <p:ext uri="{BB962C8B-B14F-4D97-AF65-F5344CB8AC3E}">
        <p14:creationId xmlns:p14="http://schemas.microsoft.com/office/powerpoint/2010/main" val="3619357674"/>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8E0E0-FB3F-51A1-E8B4-BB975D7A023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46243C7-A724-6007-F0F5-9170F2E056C8}"/>
              </a:ext>
            </a:extLst>
          </p:cNvPr>
          <p:cNvSpPr>
            <a:spLocks noGrp="1"/>
          </p:cNvSpPr>
          <p:nvPr>
            <p:ph type="title"/>
          </p:nvPr>
        </p:nvSpPr>
        <p:spPr>
          <a:xfrm>
            <a:off x="792000" y="360000"/>
            <a:ext cx="6375921" cy="429413"/>
          </a:xfrm>
        </p:spPr>
        <p:txBody>
          <a:bodyPr/>
          <a:lstStyle/>
          <a:p>
            <a:r>
              <a:rPr lang="en-US" altLang="zh-CN" dirty="0"/>
              <a:t>6.2.2 </a:t>
            </a:r>
            <a:r>
              <a:rPr lang="zh-CN" altLang="en-US" dirty="0"/>
              <a:t>功能点估算</a:t>
            </a:r>
            <a:r>
              <a:rPr lang="en-US" altLang="zh-CN" dirty="0"/>
              <a:t> </a:t>
            </a:r>
            <a:endParaRPr lang="zh-CN" altLang="en-US" dirty="0"/>
          </a:p>
        </p:txBody>
      </p:sp>
      <p:sp>
        <p:nvSpPr>
          <p:cNvPr id="10" name="内容占位符 9">
            <a:extLst>
              <a:ext uri="{FF2B5EF4-FFF2-40B4-BE49-F238E27FC236}">
                <a16:creationId xmlns:a16="http://schemas.microsoft.com/office/drawing/2014/main" id="{D46E523E-7186-1295-BACA-821DDF6762C5}"/>
              </a:ext>
            </a:extLst>
          </p:cNvPr>
          <p:cNvSpPr>
            <a:spLocks noGrp="1"/>
          </p:cNvSpPr>
          <p:nvPr>
            <p:ph idx="1"/>
          </p:nvPr>
        </p:nvSpPr>
        <p:spPr>
          <a:xfrm>
            <a:off x="696000" y="864000"/>
            <a:ext cx="10800000" cy="5400000"/>
          </a:xfrm>
        </p:spPr>
        <p:txBody>
          <a:bodyPr/>
          <a:lstStyle/>
          <a:p>
            <a:r>
              <a:rPr lang="en-US" altLang="zh-CN" dirty="0"/>
              <a:t>Function Point</a:t>
            </a:r>
          </a:p>
          <a:p>
            <a:r>
              <a:rPr lang="zh-CN" altLang="en-US" dirty="0"/>
              <a:t>系统的功能数量</a:t>
            </a:r>
            <a:endParaRPr lang="en-US" altLang="zh-CN" dirty="0"/>
          </a:p>
          <a:p>
            <a:r>
              <a:rPr lang="zh-CN" altLang="en-US" dirty="0"/>
              <a:t>与实现的语言和技术没有关系</a:t>
            </a:r>
            <a:endParaRPr lang="en-US" altLang="zh-CN" dirty="0"/>
          </a:p>
          <a:p>
            <a:r>
              <a:rPr lang="en-US" altLang="zh-CN" dirty="0"/>
              <a:t>IBM</a:t>
            </a:r>
            <a:r>
              <a:rPr lang="zh-CN" altLang="en-US" dirty="0"/>
              <a:t>工程师</a:t>
            </a:r>
            <a:r>
              <a:rPr lang="en-US" altLang="zh-CN" dirty="0"/>
              <a:t> Alan Albrecht </a:t>
            </a:r>
            <a:r>
              <a:rPr lang="zh-CN" altLang="en-US" dirty="0"/>
              <a:t>于</a:t>
            </a:r>
            <a:r>
              <a:rPr lang="en-US" altLang="zh-CN" dirty="0"/>
              <a:t>1979</a:t>
            </a:r>
            <a:r>
              <a:rPr lang="zh-CN" altLang="en-US" dirty="0"/>
              <a:t>年提出</a:t>
            </a:r>
            <a:endParaRPr lang="en-US" altLang="zh-CN" dirty="0"/>
          </a:p>
          <a:p>
            <a:r>
              <a:rPr lang="zh-CN" altLang="en-US" dirty="0"/>
              <a:t>用户视角：从用户对系统功能的需求出发，而非开发者的实现细节</a:t>
            </a:r>
          </a:p>
          <a:p>
            <a:r>
              <a:rPr lang="zh-CN" altLang="en-US" dirty="0"/>
              <a:t>客观量化：通过标准化的规则，将系统功能分解为可计数的组件，从而提供一种与实现语言和技术无关的估算方式</a:t>
            </a:r>
            <a:endParaRPr lang="en-US" altLang="zh-CN" dirty="0"/>
          </a:p>
          <a:p>
            <a:endParaRPr lang="zh-CN" altLang="en-US" dirty="0"/>
          </a:p>
        </p:txBody>
      </p:sp>
      <p:sp>
        <p:nvSpPr>
          <p:cNvPr id="7" name="文本占位符 6">
            <a:extLst>
              <a:ext uri="{FF2B5EF4-FFF2-40B4-BE49-F238E27FC236}">
                <a16:creationId xmlns:a16="http://schemas.microsoft.com/office/drawing/2014/main" id="{76889871-60EE-442D-13C3-F88BC744CFD2}"/>
              </a:ext>
            </a:extLst>
          </p:cNvPr>
          <p:cNvSpPr>
            <a:spLocks noGrp="1"/>
          </p:cNvSpPr>
          <p:nvPr>
            <p:ph type="body" sz="quarter" idx="10"/>
          </p:nvPr>
        </p:nvSpPr>
        <p:spPr>
          <a:xfrm>
            <a:off x="7071919" y="448519"/>
            <a:ext cx="4424080" cy="338554"/>
          </a:xfrm>
        </p:spPr>
        <p:txBody>
          <a:bodyPr/>
          <a:lstStyle/>
          <a:p>
            <a:r>
              <a:rPr lang="en-US" altLang="zh-CN" dirty="0"/>
              <a:t>FP/Traditional</a:t>
            </a:r>
            <a:endParaRPr lang="zh-CN" altLang="en-US" dirty="0"/>
          </a:p>
        </p:txBody>
      </p:sp>
    </p:spTree>
    <p:extLst>
      <p:ext uri="{BB962C8B-B14F-4D97-AF65-F5344CB8AC3E}">
        <p14:creationId xmlns:p14="http://schemas.microsoft.com/office/powerpoint/2010/main" val="1069492089"/>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标题 37">
            <a:extLst>
              <a:ext uri="{FF2B5EF4-FFF2-40B4-BE49-F238E27FC236}">
                <a16:creationId xmlns:a16="http://schemas.microsoft.com/office/drawing/2014/main" id="{D8E34E8B-985A-6D93-F210-C2BB693645E5}"/>
              </a:ext>
            </a:extLst>
          </p:cNvPr>
          <p:cNvSpPr>
            <a:spLocks noGrp="1"/>
          </p:cNvSpPr>
          <p:nvPr>
            <p:ph type="title"/>
          </p:nvPr>
        </p:nvSpPr>
        <p:spPr>
          <a:xfrm>
            <a:off x="792000" y="360000"/>
            <a:ext cx="6375921" cy="429413"/>
          </a:xfrm>
        </p:spPr>
        <p:txBody>
          <a:bodyPr/>
          <a:lstStyle/>
          <a:p>
            <a:r>
              <a:rPr lang="en-US" altLang="zh-CN" dirty="0"/>
              <a:t>6.2.2 </a:t>
            </a:r>
            <a:r>
              <a:rPr lang="zh-CN" altLang="en-US" dirty="0"/>
              <a:t>功能点估算</a:t>
            </a:r>
          </a:p>
        </p:txBody>
      </p:sp>
      <p:sp>
        <p:nvSpPr>
          <p:cNvPr id="46" name="内容占位符 45">
            <a:extLst>
              <a:ext uri="{FF2B5EF4-FFF2-40B4-BE49-F238E27FC236}">
                <a16:creationId xmlns:a16="http://schemas.microsoft.com/office/drawing/2014/main" id="{F2CC35FF-A304-0E7A-4932-6DA557688C62}"/>
              </a:ext>
            </a:extLst>
          </p:cNvPr>
          <p:cNvSpPr>
            <a:spLocks noGrp="1"/>
          </p:cNvSpPr>
          <p:nvPr>
            <p:ph idx="1"/>
          </p:nvPr>
        </p:nvSpPr>
        <p:spPr>
          <a:xfrm>
            <a:off x="696000" y="864000"/>
            <a:ext cx="10800000" cy="5400000"/>
          </a:xfrm>
        </p:spPr>
        <p:txBody>
          <a:bodyPr>
            <a:normAutofit/>
          </a:bodyPr>
          <a:lstStyle/>
          <a:p>
            <a:r>
              <a:rPr lang="zh-CN" altLang="en-US" dirty="0"/>
              <a:t>功能点：数据功能和事务功能，共</a:t>
            </a:r>
            <a:r>
              <a:rPr lang="en-US" altLang="zh-CN" dirty="0"/>
              <a:t>5</a:t>
            </a:r>
            <a:r>
              <a:rPr lang="zh-CN" altLang="en-US" dirty="0"/>
              <a:t>类组件</a:t>
            </a:r>
          </a:p>
        </p:txBody>
      </p:sp>
      <p:sp>
        <p:nvSpPr>
          <p:cNvPr id="43" name="文本占位符 42">
            <a:extLst>
              <a:ext uri="{FF2B5EF4-FFF2-40B4-BE49-F238E27FC236}">
                <a16:creationId xmlns:a16="http://schemas.microsoft.com/office/drawing/2014/main" id="{B5853758-7617-0F80-8BD2-54672B64782A}"/>
              </a:ext>
            </a:extLst>
          </p:cNvPr>
          <p:cNvSpPr>
            <a:spLocks noGrp="1"/>
          </p:cNvSpPr>
          <p:nvPr>
            <p:ph type="body" sz="quarter" idx="10"/>
          </p:nvPr>
        </p:nvSpPr>
        <p:spPr>
          <a:xfrm>
            <a:off x="7071919" y="448519"/>
            <a:ext cx="4424080" cy="338554"/>
          </a:xfrm>
        </p:spPr>
        <p:txBody>
          <a:bodyPr/>
          <a:lstStyle/>
          <a:p>
            <a:r>
              <a:rPr lang="en-US" altLang="zh-CN" dirty="0"/>
              <a:t>FP/Traditional</a:t>
            </a:r>
            <a:endParaRPr lang="zh-CN" altLang="en-US" dirty="0"/>
          </a:p>
        </p:txBody>
      </p:sp>
      <p:sp>
        <p:nvSpPr>
          <p:cNvPr id="5" name="矩形 4">
            <a:extLst>
              <a:ext uri="{FF2B5EF4-FFF2-40B4-BE49-F238E27FC236}">
                <a16:creationId xmlns:a16="http://schemas.microsoft.com/office/drawing/2014/main" id="{B1834B05-A36B-61EB-5B1E-904F87122C29}"/>
              </a:ext>
            </a:extLst>
          </p:cNvPr>
          <p:cNvSpPr/>
          <p:nvPr/>
        </p:nvSpPr>
        <p:spPr>
          <a:xfrm>
            <a:off x="4095948" y="2407059"/>
            <a:ext cx="2880000" cy="999793"/>
          </a:xfrm>
          <a:prstGeom prst="rect">
            <a:avLst/>
          </a:prstGeom>
          <a:noFill/>
          <a:ln>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altLang="zh-CN" sz="1400" dirty="0">
                <a:solidFill>
                  <a:sysClr val="windowText" lastClr="000000"/>
                </a:solidFill>
              </a:rPr>
              <a:t>System</a:t>
            </a:r>
            <a:endParaRPr lang="zh-CN" altLang="en-US" sz="1400" dirty="0">
              <a:solidFill>
                <a:sysClr val="windowText" lastClr="000000"/>
              </a:solidFill>
            </a:endParaRPr>
          </a:p>
        </p:txBody>
      </p:sp>
      <p:sp>
        <p:nvSpPr>
          <p:cNvPr id="6" name="矩形: 圆角 5">
            <a:extLst>
              <a:ext uri="{FF2B5EF4-FFF2-40B4-BE49-F238E27FC236}">
                <a16:creationId xmlns:a16="http://schemas.microsoft.com/office/drawing/2014/main" id="{E5355481-1CEC-1302-6B20-C3AECBB17AF3}"/>
              </a:ext>
            </a:extLst>
          </p:cNvPr>
          <p:cNvSpPr/>
          <p:nvPr/>
        </p:nvSpPr>
        <p:spPr>
          <a:xfrm>
            <a:off x="4995948" y="1492661"/>
            <a:ext cx="1080000" cy="432619"/>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ysClr val="windowText" lastClr="000000"/>
                </a:solidFill>
              </a:rPr>
              <a:t>User</a:t>
            </a:r>
            <a:endParaRPr lang="zh-CN" altLang="en-US" sz="1400" dirty="0">
              <a:solidFill>
                <a:sysClr val="windowText" lastClr="000000"/>
              </a:solidFill>
            </a:endParaRPr>
          </a:p>
        </p:txBody>
      </p:sp>
      <p:sp>
        <p:nvSpPr>
          <p:cNvPr id="7" name="矩形: 圆角 6">
            <a:extLst>
              <a:ext uri="{FF2B5EF4-FFF2-40B4-BE49-F238E27FC236}">
                <a16:creationId xmlns:a16="http://schemas.microsoft.com/office/drawing/2014/main" id="{882ABDEA-53C6-BF12-E3EA-F822CEC9DE4E}"/>
              </a:ext>
            </a:extLst>
          </p:cNvPr>
          <p:cNvSpPr/>
          <p:nvPr/>
        </p:nvSpPr>
        <p:spPr>
          <a:xfrm>
            <a:off x="2070850" y="2690646"/>
            <a:ext cx="1080000" cy="432619"/>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ysClr val="windowText" lastClr="000000"/>
                </a:solidFill>
              </a:rPr>
              <a:t>User</a:t>
            </a:r>
            <a:endParaRPr lang="zh-CN" altLang="en-US" sz="1400" dirty="0">
              <a:solidFill>
                <a:sysClr val="windowText" lastClr="000000"/>
              </a:solidFill>
            </a:endParaRPr>
          </a:p>
        </p:txBody>
      </p:sp>
      <p:sp>
        <p:nvSpPr>
          <p:cNvPr id="12" name="文本框 11">
            <a:extLst>
              <a:ext uri="{FF2B5EF4-FFF2-40B4-BE49-F238E27FC236}">
                <a16:creationId xmlns:a16="http://schemas.microsoft.com/office/drawing/2014/main" id="{C90AB482-9089-B5AA-5270-CBE848CAD3FD}"/>
              </a:ext>
            </a:extLst>
          </p:cNvPr>
          <p:cNvSpPr txBox="1"/>
          <p:nvPr/>
        </p:nvSpPr>
        <p:spPr>
          <a:xfrm>
            <a:off x="3443702" y="2396339"/>
            <a:ext cx="359393" cy="307777"/>
          </a:xfrm>
          <a:prstGeom prst="rect">
            <a:avLst/>
          </a:prstGeom>
          <a:noFill/>
          <a:ln>
            <a:noFill/>
          </a:ln>
        </p:spPr>
        <p:txBody>
          <a:bodyPr wrap="none" rtlCol="0">
            <a:spAutoFit/>
          </a:bodyPr>
          <a:lstStyle/>
          <a:p>
            <a:pPr algn="ctr"/>
            <a:r>
              <a:rPr lang="en-US" altLang="zh-CN" sz="1400" dirty="0">
                <a:solidFill>
                  <a:sysClr val="windowText" lastClr="000000"/>
                </a:solidFill>
              </a:rPr>
              <a:t>EI</a:t>
            </a:r>
            <a:endParaRPr lang="zh-CN" altLang="en-US" sz="1400" dirty="0">
              <a:solidFill>
                <a:sysClr val="windowText" lastClr="000000"/>
              </a:solidFill>
            </a:endParaRPr>
          </a:p>
        </p:txBody>
      </p:sp>
      <p:sp>
        <p:nvSpPr>
          <p:cNvPr id="13" name="文本框 12">
            <a:extLst>
              <a:ext uri="{FF2B5EF4-FFF2-40B4-BE49-F238E27FC236}">
                <a16:creationId xmlns:a16="http://schemas.microsoft.com/office/drawing/2014/main" id="{AB8D91CB-1808-DEC3-4AF6-29D760081DA5}"/>
              </a:ext>
            </a:extLst>
          </p:cNvPr>
          <p:cNvSpPr txBox="1"/>
          <p:nvPr/>
        </p:nvSpPr>
        <p:spPr>
          <a:xfrm>
            <a:off x="3395612" y="3067515"/>
            <a:ext cx="455573" cy="307777"/>
          </a:xfrm>
          <a:prstGeom prst="rect">
            <a:avLst/>
          </a:prstGeom>
          <a:noFill/>
          <a:ln>
            <a:noFill/>
          </a:ln>
        </p:spPr>
        <p:txBody>
          <a:bodyPr wrap="none" rtlCol="0">
            <a:spAutoFit/>
          </a:bodyPr>
          <a:lstStyle/>
          <a:p>
            <a:pPr algn="ctr"/>
            <a:r>
              <a:rPr lang="en-US" altLang="zh-CN" sz="1400" dirty="0">
                <a:solidFill>
                  <a:sysClr val="windowText" lastClr="000000"/>
                </a:solidFill>
              </a:rPr>
              <a:t>EO</a:t>
            </a:r>
            <a:endParaRPr lang="zh-CN" altLang="en-US" sz="1400" dirty="0">
              <a:solidFill>
                <a:sysClr val="windowText" lastClr="000000"/>
              </a:solidFill>
            </a:endParaRPr>
          </a:p>
        </p:txBody>
      </p:sp>
      <p:sp>
        <p:nvSpPr>
          <p:cNvPr id="14" name="文本框 13">
            <a:extLst>
              <a:ext uri="{FF2B5EF4-FFF2-40B4-BE49-F238E27FC236}">
                <a16:creationId xmlns:a16="http://schemas.microsoft.com/office/drawing/2014/main" id="{AF6F6C8F-2A79-DAA4-FDDF-0509DABFBEC5}"/>
              </a:ext>
            </a:extLst>
          </p:cNvPr>
          <p:cNvSpPr txBox="1"/>
          <p:nvPr/>
        </p:nvSpPr>
        <p:spPr>
          <a:xfrm>
            <a:off x="4933619" y="1996892"/>
            <a:ext cx="455573" cy="307777"/>
          </a:xfrm>
          <a:prstGeom prst="rect">
            <a:avLst/>
          </a:prstGeom>
          <a:noFill/>
          <a:ln>
            <a:noFill/>
          </a:ln>
        </p:spPr>
        <p:txBody>
          <a:bodyPr wrap="none" rtlCol="0">
            <a:spAutoFit/>
          </a:bodyPr>
          <a:lstStyle/>
          <a:p>
            <a:pPr algn="ctr"/>
            <a:r>
              <a:rPr lang="en-US" altLang="zh-CN" sz="1400" dirty="0">
                <a:solidFill>
                  <a:sysClr val="windowText" lastClr="000000"/>
                </a:solidFill>
              </a:rPr>
              <a:t>EQ</a:t>
            </a:r>
            <a:endParaRPr lang="zh-CN" altLang="en-US" sz="1400" dirty="0">
              <a:solidFill>
                <a:sysClr val="windowText" lastClr="000000"/>
              </a:solidFill>
            </a:endParaRPr>
          </a:p>
        </p:txBody>
      </p:sp>
      <p:cxnSp>
        <p:nvCxnSpPr>
          <p:cNvPr id="16" name="直接箭头连接符 15">
            <a:extLst>
              <a:ext uri="{FF2B5EF4-FFF2-40B4-BE49-F238E27FC236}">
                <a16:creationId xmlns:a16="http://schemas.microsoft.com/office/drawing/2014/main" id="{1E6099BF-9396-49BE-2C7E-787DBD6A6FDB}"/>
              </a:ext>
            </a:extLst>
          </p:cNvPr>
          <p:cNvCxnSpPr>
            <a:cxnSpLocks/>
            <a:stCxn id="6" idx="2"/>
            <a:endCxn id="5" idx="0"/>
          </p:cNvCxnSpPr>
          <p:nvPr/>
        </p:nvCxnSpPr>
        <p:spPr>
          <a:xfrm>
            <a:off x="5535948" y="1925280"/>
            <a:ext cx="0" cy="481779"/>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id="{5C8331DE-5D7E-A822-9B8F-F8BA92AA53EB}"/>
              </a:ext>
            </a:extLst>
          </p:cNvPr>
          <p:cNvSpPr/>
          <p:nvPr/>
        </p:nvSpPr>
        <p:spPr>
          <a:xfrm>
            <a:off x="4455948" y="2799107"/>
            <a:ext cx="2160000"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ysClr val="windowText" lastClr="000000"/>
                </a:solidFill>
              </a:rPr>
              <a:t>Interior logical file</a:t>
            </a:r>
            <a:endParaRPr lang="zh-CN" altLang="en-US" sz="1400" dirty="0">
              <a:solidFill>
                <a:sysClr val="windowText" lastClr="000000"/>
              </a:solidFill>
            </a:endParaRPr>
          </a:p>
        </p:txBody>
      </p:sp>
      <p:sp>
        <p:nvSpPr>
          <p:cNvPr id="18" name="矩形 17">
            <a:extLst>
              <a:ext uri="{FF2B5EF4-FFF2-40B4-BE49-F238E27FC236}">
                <a16:creationId xmlns:a16="http://schemas.microsoft.com/office/drawing/2014/main" id="{435A7463-3064-E103-FF74-1B52979D2A27}"/>
              </a:ext>
            </a:extLst>
          </p:cNvPr>
          <p:cNvSpPr/>
          <p:nvPr/>
        </p:nvSpPr>
        <p:spPr>
          <a:xfrm>
            <a:off x="7961150" y="2690955"/>
            <a:ext cx="2160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ysClr val="windowText" lastClr="000000"/>
                </a:solidFill>
              </a:rPr>
              <a:t>External interface file</a:t>
            </a:r>
            <a:endParaRPr lang="zh-CN" altLang="en-US" sz="1400" dirty="0">
              <a:solidFill>
                <a:sysClr val="windowText" lastClr="000000"/>
              </a:solidFill>
            </a:endParaRPr>
          </a:p>
        </p:txBody>
      </p:sp>
      <p:sp>
        <p:nvSpPr>
          <p:cNvPr id="22" name="文本框 21">
            <a:extLst>
              <a:ext uri="{FF2B5EF4-FFF2-40B4-BE49-F238E27FC236}">
                <a16:creationId xmlns:a16="http://schemas.microsoft.com/office/drawing/2014/main" id="{F0DF4AFF-1C0E-87EE-AE90-E61501EC67E6}"/>
              </a:ext>
            </a:extLst>
          </p:cNvPr>
          <p:cNvSpPr txBox="1"/>
          <p:nvPr/>
        </p:nvSpPr>
        <p:spPr>
          <a:xfrm>
            <a:off x="7255920" y="2396338"/>
            <a:ext cx="455573" cy="307777"/>
          </a:xfrm>
          <a:prstGeom prst="rect">
            <a:avLst/>
          </a:prstGeom>
          <a:noFill/>
          <a:ln>
            <a:noFill/>
          </a:ln>
        </p:spPr>
        <p:txBody>
          <a:bodyPr wrap="none" rtlCol="0">
            <a:spAutoFit/>
          </a:bodyPr>
          <a:lstStyle/>
          <a:p>
            <a:pPr algn="ctr"/>
            <a:r>
              <a:rPr lang="en-US" altLang="zh-CN" sz="1400" dirty="0">
                <a:solidFill>
                  <a:sysClr val="windowText" lastClr="000000"/>
                </a:solidFill>
              </a:rPr>
              <a:t>EQ</a:t>
            </a:r>
            <a:endParaRPr lang="zh-CN" altLang="en-US" sz="1400" dirty="0">
              <a:solidFill>
                <a:sysClr val="windowText" lastClr="000000"/>
              </a:solidFill>
            </a:endParaRPr>
          </a:p>
        </p:txBody>
      </p:sp>
      <p:sp>
        <p:nvSpPr>
          <p:cNvPr id="23" name="文本框 22">
            <a:extLst>
              <a:ext uri="{FF2B5EF4-FFF2-40B4-BE49-F238E27FC236}">
                <a16:creationId xmlns:a16="http://schemas.microsoft.com/office/drawing/2014/main" id="{8EF5A49F-D3BC-4A7E-E721-0E191FE4F593}"/>
              </a:ext>
            </a:extLst>
          </p:cNvPr>
          <p:cNvSpPr txBox="1"/>
          <p:nvPr/>
        </p:nvSpPr>
        <p:spPr>
          <a:xfrm>
            <a:off x="7138101" y="3067514"/>
            <a:ext cx="691215" cy="307777"/>
          </a:xfrm>
          <a:prstGeom prst="rect">
            <a:avLst/>
          </a:prstGeom>
          <a:noFill/>
          <a:ln>
            <a:noFill/>
          </a:ln>
        </p:spPr>
        <p:txBody>
          <a:bodyPr wrap="none" rtlCol="0">
            <a:spAutoFit/>
          </a:bodyPr>
          <a:lstStyle/>
          <a:p>
            <a:pPr algn="ctr"/>
            <a:r>
              <a:rPr lang="en-US" altLang="zh-CN" sz="1400" dirty="0">
                <a:solidFill>
                  <a:sysClr val="windowText" lastClr="000000"/>
                </a:solidFill>
              </a:rPr>
              <a:t>EI/EO</a:t>
            </a:r>
            <a:endParaRPr lang="zh-CN" altLang="en-US" sz="1400" dirty="0">
              <a:solidFill>
                <a:sysClr val="windowText" lastClr="000000"/>
              </a:solidFill>
            </a:endParaRPr>
          </a:p>
        </p:txBody>
      </p:sp>
      <p:cxnSp>
        <p:nvCxnSpPr>
          <p:cNvPr id="24" name="直接箭头连接符 23">
            <a:extLst>
              <a:ext uri="{FF2B5EF4-FFF2-40B4-BE49-F238E27FC236}">
                <a16:creationId xmlns:a16="http://schemas.microsoft.com/office/drawing/2014/main" id="{9F69EEA3-DDF9-6EF0-861C-E8A1C0D516C8}"/>
              </a:ext>
            </a:extLst>
          </p:cNvPr>
          <p:cNvCxnSpPr>
            <a:cxnSpLocks/>
            <a:stCxn id="7" idx="3"/>
            <a:endCxn id="5" idx="1"/>
          </p:cNvCxnSpPr>
          <p:nvPr/>
        </p:nvCxnSpPr>
        <p:spPr>
          <a:xfrm>
            <a:off x="3150850" y="2906956"/>
            <a:ext cx="945098"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D5A3E72F-1B49-B56B-3B4B-2D6984D5096D}"/>
              </a:ext>
            </a:extLst>
          </p:cNvPr>
          <p:cNvCxnSpPr>
            <a:cxnSpLocks/>
            <a:stCxn id="5" idx="3"/>
            <a:endCxn id="18" idx="1"/>
          </p:cNvCxnSpPr>
          <p:nvPr/>
        </p:nvCxnSpPr>
        <p:spPr>
          <a:xfrm flipV="1">
            <a:off x="6975948" y="2906955"/>
            <a:ext cx="985202" cy="1"/>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aphicFrame>
        <p:nvGraphicFramePr>
          <p:cNvPr id="2" name="表格 1">
            <a:extLst>
              <a:ext uri="{FF2B5EF4-FFF2-40B4-BE49-F238E27FC236}">
                <a16:creationId xmlns:a16="http://schemas.microsoft.com/office/drawing/2014/main" id="{757BF32E-982C-8E5F-031B-3226C290191E}"/>
              </a:ext>
            </a:extLst>
          </p:cNvPr>
          <p:cNvGraphicFramePr>
            <a:graphicFrameLocks noGrp="1"/>
          </p:cNvGraphicFramePr>
          <p:nvPr>
            <p:extLst>
              <p:ext uri="{D42A27DB-BD31-4B8C-83A1-F6EECF244321}">
                <p14:modId xmlns:p14="http://schemas.microsoft.com/office/powerpoint/2010/main" val="1444472897"/>
              </p:ext>
            </p:extLst>
          </p:nvPr>
        </p:nvGraphicFramePr>
        <p:xfrm>
          <a:off x="3396000" y="4367903"/>
          <a:ext cx="5400000" cy="1676400"/>
        </p:xfrm>
        <a:graphic>
          <a:graphicData uri="http://schemas.openxmlformats.org/drawingml/2006/table">
            <a:tbl>
              <a:tblPr firstRow="1" bandRow="1">
                <a:tableStyleId>{5C22544A-7EE6-4342-B048-85BDC9FD1C3A}</a:tableStyleId>
              </a:tblPr>
              <a:tblGrid>
                <a:gridCol w="900000">
                  <a:extLst>
                    <a:ext uri="{9D8B030D-6E8A-4147-A177-3AD203B41FA5}">
                      <a16:colId xmlns:a16="http://schemas.microsoft.com/office/drawing/2014/main" val="394660770"/>
                    </a:ext>
                  </a:extLst>
                </a:gridCol>
                <a:gridCol w="1620000">
                  <a:extLst>
                    <a:ext uri="{9D8B030D-6E8A-4147-A177-3AD203B41FA5}">
                      <a16:colId xmlns:a16="http://schemas.microsoft.com/office/drawing/2014/main" val="2443653902"/>
                    </a:ext>
                  </a:extLst>
                </a:gridCol>
                <a:gridCol w="2880000">
                  <a:extLst>
                    <a:ext uri="{9D8B030D-6E8A-4147-A177-3AD203B41FA5}">
                      <a16:colId xmlns:a16="http://schemas.microsoft.com/office/drawing/2014/main" val="3403126617"/>
                    </a:ext>
                  </a:extLst>
                </a:gridCol>
              </a:tblGrid>
              <a:tr h="1610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a:solidFill>
                            <a:schemeClr val="bg1"/>
                          </a:solidFill>
                        </a:rPr>
                        <a:t>EI</a:t>
                      </a:r>
                      <a:endParaRPr lang="zh-CN" altLang="en-US" sz="1600" dirty="0">
                        <a:solidFill>
                          <a:schemeClr val="bg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zh-CN" altLang="en-US" sz="1600" dirty="0">
                          <a:solidFill>
                            <a:schemeClr val="bg1"/>
                          </a:solidFill>
                        </a:rPr>
                        <a:t>外部输入</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a:solidFill>
                            <a:schemeClr val="bg1"/>
                          </a:solidFill>
                        </a:rPr>
                        <a:t>External Inputs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781589854"/>
                  </a:ext>
                </a:extLst>
              </a:tr>
              <a:tr h="1610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a:solidFill>
                            <a:schemeClr val="tx1"/>
                          </a:solidFill>
                        </a:rPr>
                        <a:t>EO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zh-CN" altLang="en-US" sz="1600" dirty="0">
                          <a:solidFill>
                            <a:schemeClr val="tx1"/>
                          </a:solidFill>
                        </a:rPr>
                        <a:t>外部输出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dirty="0">
                          <a:solidFill>
                            <a:schemeClr val="tx1"/>
                          </a:solidFill>
                        </a:rPr>
                        <a:t>External Outputs</a:t>
                      </a:r>
                      <a:endParaRPr lang="zh-CN" altLang="en-US" sz="16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21394496"/>
                  </a:ext>
                </a:extLst>
              </a:tr>
              <a:tr h="1610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a:solidFill>
                            <a:schemeClr val="tx1"/>
                          </a:solidFill>
                        </a:rPr>
                        <a:t>EQ</a:t>
                      </a:r>
                      <a:endParaRPr lang="zh-CN" altLang="en-US" sz="16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zh-CN" altLang="en-US" sz="1600" dirty="0">
                          <a:solidFill>
                            <a:schemeClr val="tx1"/>
                          </a:solidFill>
                        </a:rPr>
                        <a:t>外部查询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dirty="0">
                          <a:solidFill>
                            <a:schemeClr val="tx1"/>
                          </a:solidFill>
                        </a:rPr>
                        <a:t>External Inquiry</a:t>
                      </a:r>
                      <a:endParaRPr lang="zh-CN" altLang="en-US" sz="16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4179012"/>
                  </a:ext>
                </a:extLst>
              </a:tr>
              <a:tr h="161067">
                <a:tc>
                  <a:txBody>
                    <a:bodyPr/>
                    <a:lstStyle/>
                    <a:p>
                      <a:pPr marL="0" lvl="1"/>
                      <a:r>
                        <a:rPr lang="en-US" altLang="zh-CN" sz="1600" dirty="0">
                          <a:solidFill>
                            <a:schemeClr val="tx1"/>
                          </a:solidFill>
                        </a:rPr>
                        <a:t>ILF</a:t>
                      </a:r>
                      <a:endParaRPr lang="zh-CN" altLang="en-US" sz="16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zh-CN" altLang="en-US" sz="1600" dirty="0">
                          <a:solidFill>
                            <a:schemeClr val="tx1"/>
                          </a:solidFill>
                        </a:rPr>
                        <a:t>内部逻辑文件</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dirty="0">
                          <a:solidFill>
                            <a:schemeClr val="tx1"/>
                          </a:solidFill>
                        </a:rPr>
                        <a:t>Internal Logical Files</a:t>
                      </a:r>
                      <a:endParaRPr lang="zh-CN" altLang="en-US" sz="16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06481747"/>
                  </a:ext>
                </a:extLst>
              </a:tr>
              <a:tr h="161067">
                <a:tc>
                  <a:txBody>
                    <a:bodyPr/>
                    <a:lstStyle/>
                    <a:p>
                      <a:r>
                        <a:rPr lang="en-US" altLang="zh-CN" sz="1600" dirty="0">
                          <a:solidFill>
                            <a:schemeClr val="tx1"/>
                          </a:solidFill>
                        </a:rPr>
                        <a:t>EIF</a:t>
                      </a:r>
                      <a:endParaRPr lang="zh-CN" altLang="en-US" sz="16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solidFill>
                            <a:schemeClr val="tx1"/>
                          </a:solidFill>
                        </a:rPr>
                        <a:t>外部接口文件</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dirty="0">
                          <a:solidFill>
                            <a:schemeClr val="tx1"/>
                          </a:solidFill>
                        </a:rPr>
                        <a:t>External Interface Files</a:t>
                      </a:r>
                      <a:endParaRPr lang="zh-CN" altLang="en-US" sz="16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1606028"/>
                  </a:ext>
                </a:extLst>
              </a:tr>
            </a:tbl>
          </a:graphicData>
        </a:graphic>
      </p:graphicFrame>
    </p:spTree>
    <p:extLst>
      <p:ext uri="{BB962C8B-B14F-4D97-AF65-F5344CB8AC3E}">
        <p14:creationId xmlns:p14="http://schemas.microsoft.com/office/powerpoint/2010/main" val="749590321"/>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B651B-717D-6802-D261-EC01E629B08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303D2FD-3C1D-4A80-B0AE-67E014B620BE}"/>
              </a:ext>
            </a:extLst>
          </p:cNvPr>
          <p:cNvSpPr>
            <a:spLocks noGrp="1"/>
          </p:cNvSpPr>
          <p:nvPr>
            <p:ph type="title"/>
          </p:nvPr>
        </p:nvSpPr>
        <p:spPr>
          <a:xfrm>
            <a:off x="792000" y="360000"/>
            <a:ext cx="6375921" cy="429413"/>
          </a:xfrm>
        </p:spPr>
        <p:txBody>
          <a:bodyPr/>
          <a:lstStyle/>
          <a:p>
            <a:r>
              <a:rPr lang="en-US" altLang="zh-CN" dirty="0"/>
              <a:t>6.2.2 </a:t>
            </a:r>
            <a:r>
              <a:rPr lang="zh-CN" altLang="en-US" dirty="0"/>
              <a:t>功能点估算</a:t>
            </a:r>
            <a:r>
              <a:rPr lang="en-US" altLang="zh-CN" dirty="0"/>
              <a:t> </a:t>
            </a:r>
            <a:endParaRPr lang="zh-CN" altLang="en-US" dirty="0"/>
          </a:p>
        </p:txBody>
      </p:sp>
      <p:sp>
        <p:nvSpPr>
          <p:cNvPr id="10" name="内容占位符 9">
            <a:extLst>
              <a:ext uri="{FF2B5EF4-FFF2-40B4-BE49-F238E27FC236}">
                <a16:creationId xmlns:a16="http://schemas.microsoft.com/office/drawing/2014/main" id="{DE99D0BE-1CBD-0CD7-7561-F1ABA9FE401A}"/>
              </a:ext>
            </a:extLst>
          </p:cNvPr>
          <p:cNvSpPr>
            <a:spLocks noGrp="1"/>
          </p:cNvSpPr>
          <p:nvPr>
            <p:ph idx="1"/>
          </p:nvPr>
        </p:nvSpPr>
        <p:spPr>
          <a:xfrm>
            <a:off x="696000" y="864000"/>
            <a:ext cx="10800000" cy="5400000"/>
          </a:xfrm>
        </p:spPr>
        <p:txBody>
          <a:bodyPr/>
          <a:lstStyle/>
          <a:p>
            <a:r>
              <a:rPr lang="zh-CN" altLang="en-US" dirty="0"/>
              <a:t>常见估算法标准</a:t>
            </a:r>
            <a:endParaRPr lang="en-US" altLang="zh-CN" dirty="0"/>
          </a:p>
          <a:p>
            <a:pPr lvl="1"/>
            <a:r>
              <a:rPr lang="en-US" altLang="zh-CN" dirty="0"/>
              <a:t>IFPUG (</a:t>
            </a:r>
            <a:r>
              <a:rPr lang="zh-CN" altLang="en-US" dirty="0"/>
              <a:t>国际功能点用户组</a:t>
            </a:r>
            <a:r>
              <a:rPr lang="en-US" altLang="zh-CN" dirty="0"/>
              <a:t>)</a:t>
            </a:r>
          </a:p>
          <a:p>
            <a:pPr lvl="1"/>
            <a:r>
              <a:rPr lang="en-US" altLang="zh-CN" dirty="0"/>
              <a:t>NESMA (</a:t>
            </a:r>
            <a:r>
              <a:rPr lang="zh-CN" altLang="en-US" dirty="0"/>
              <a:t>荷兰软件度量协会</a:t>
            </a:r>
            <a:r>
              <a:rPr lang="en-US" altLang="zh-CN" dirty="0"/>
              <a:t>)</a:t>
            </a:r>
          </a:p>
          <a:p>
            <a:pPr lvl="1"/>
            <a:r>
              <a:rPr lang="en-US" altLang="zh-CN" dirty="0"/>
              <a:t>COSMIC (</a:t>
            </a:r>
            <a:r>
              <a:rPr lang="zh-CN" altLang="en-US" dirty="0"/>
              <a:t>通用软件度量国际联盟</a:t>
            </a:r>
            <a:r>
              <a:rPr lang="en-US" altLang="zh-CN" dirty="0"/>
              <a:t>)</a:t>
            </a:r>
            <a:endParaRPr lang="zh-CN" altLang="en-US" dirty="0"/>
          </a:p>
        </p:txBody>
      </p:sp>
      <p:sp>
        <p:nvSpPr>
          <p:cNvPr id="7" name="文本占位符 6">
            <a:extLst>
              <a:ext uri="{FF2B5EF4-FFF2-40B4-BE49-F238E27FC236}">
                <a16:creationId xmlns:a16="http://schemas.microsoft.com/office/drawing/2014/main" id="{07C33A6F-4CAC-60F4-3635-882878D3F608}"/>
              </a:ext>
            </a:extLst>
          </p:cNvPr>
          <p:cNvSpPr>
            <a:spLocks noGrp="1"/>
          </p:cNvSpPr>
          <p:nvPr>
            <p:ph type="body" sz="quarter" idx="10"/>
          </p:nvPr>
        </p:nvSpPr>
        <p:spPr>
          <a:xfrm>
            <a:off x="7071919" y="448519"/>
            <a:ext cx="4424080" cy="338554"/>
          </a:xfrm>
        </p:spPr>
        <p:txBody>
          <a:bodyPr/>
          <a:lstStyle/>
          <a:p>
            <a:r>
              <a:rPr lang="en-US" altLang="zh-CN" dirty="0"/>
              <a:t>FP/Traditional</a:t>
            </a:r>
            <a:endParaRPr lang="zh-CN" altLang="en-US" dirty="0"/>
          </a:p>
        </p:txBody>
      </p:sp>
    </p:spTree>
    <p:extLst>
      <p:ext uri="{BB962C8B-B14F-4D97-AF65-F5344CB8AC3E}">
        <p14:creationId xmlns:p14="http://schemas.microsoft.com/office/powerpoint/2010/main" val="1983901351"/>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D61DE7-80DB-25F9-C5D0-715768175C7B}"/>
              </a:ext>
            </a:extLst>
          </p:cNvPr>
          <p:cNvSpPr>
            <a:spLocks noGrp="1"/>
          </p:cNvSpPr>
          <p:nvPr>
            <p:ph type="title"/>
          </p:nvPr>
        </p:nvSpPr>
        <p:spPr>
          <a:xfrm>
            <a:off x="792000" y="360000"/>
            <a:ext cx="6375921" cy="429413"/>
          </a:xfrm>
        </p:spPr>
        <p:txBody>
          <a:bodyPr/>
          <a:lstStyle/>
          <a:p>
            <a:r>
              <a:rPr lang="en-US" altLang="zh-CN" dirty="0"/>
              <a:t>6.2.2.1 IFPUG</a:t>
            </a:r>
            <a:endParaRPr lang="zh-CN" altLang="en-US" dirty="0"/>
          </a:p>
        </p:txBody>
      </p:sp>
      <p:sp>
        <p:nvSpPr>
          <p:cNvPr id="3" name="内容占位符 2">
            <a:extLst>
              <a:ext uri="{FF2B5EF4-FFF2-40B4-BE49-F238E27FC236}">
                <a16:creationId xmlns:a16="http://schemas.microsoft.com/office/drawing/2014/main" id="{CB399035-0464-3C6A-5302-6C21D045E7F8}"/>
              </a:ext>
            </a:extLst>
          </p:cNvPr>
          <p:cNvSpPr>
            <a:spLocks noGrp="1"/>
          </p:cNvSpPr>
          <p:nvPr>
            <p:ph idx="1"/>
          </p:nvPr>
        </p:nvSpPr>
        <p:spPr>
          <a:xfrm>
            <a:off x="696000" y="864000"/>
            <a:ext cx="10800000" cy="5400000"/>
          </a:xfrm>
        </p:spPr>
        <p:txBody>
          <a:bodyPr/>
          <a:lstStyle/>
          <a:p>
            <a:r>
              <a:rPr lang="zh-CN" altLang="en-US" dirty="0"/>
              <a:t>经典功能点分析方法</a:t>
            </a:r>
          </a:p>
          <a:p>
            <a:r>
              <a:rPr lang="zh-CN" altLang="en-US" dirty="0"/>
              <a:t>国际上最早推广、应用最广泛的功能点分析方法，也是中国国家标准</a:t>
            </a:r>
            <a:r>
              <a:rPr lang="en-US" altLang="zh-CN" dirty="0"/>
              <a:t>《</a:t>
            </a:r>
            <a:r>
              <a:rPr lang="zh-CN" altLang="en-US" dirty="0"/>
              <a:t>系统与软件工程功能规模测量</a:t>
            </a:r>
            <a:r>
              <a:rPr lang="en-US" altLang="zh-CN" dirty="0"/>
              <a:t>IFPUG</a:t>
            </a:r>
            <a:r>
              <a:rPr lang="zh-CN" altLang="en-US" dirty="0"/>
              <a:t>方法</a:t>
            </a:r>
            <a:r>
              <a:rPr lang="en-US" altLang="zh-CN" dirty="0"/>
              <a:t>》</a:t>
            </a:r>
            <a:r>
              <a:rPr lang="zh-CN" altLang="en-US" dirty="0"/>
              <a:t>（</a:t>
            </a:r>
            <a:r>
              <a:rPr lang="en-US" altLang="zh-CN" dirty="0"/>
              <a:t>GB/T42449-2023</a:t>
            </a:r>
            <a:r>
              <a:rPr lang="zh-CN" altLang="en-US" dirty="0"/>
              <a:t>）的基础</a:t>
            </a:r>
          </a:p>
          <a:p>
            <a:r>
              <a:rPr lang="zh-CN" altLang="en-US" dirty="0"/>
              <a:t>使用技术复杂度因子 </a:t>
            </a:r>
            <a:r>
              <a:rPr lang="en-US" altLang="zh-CN" dirty="0"/>
              <a:t>TCF</a:t>
            </a:r>
            <a:r>
              <a:rPr lang="zh-CN" altLang="en-US" dirty="0"/>
              <a:t> 和未调整功能点 </a:t>
            </a:r>
            <a:r>
              <a:rPr lang="en-US" altLang="zh-CN" dirty="0"/>
              <a:t>UFC</a:t>
            </a:r>
            <a:r>
              <a:rPr lang="zh-CN" altLang="en-US" dirty="0"/>
              <a:t>，评估其内部基本功能和外部基本功能</a:t>
            </a:r>
            <a:endParaRPr lang="en-US" altLang="zh-CN" dirty="0"/>
          </a:p>
          <a:p>
            <a:pPr lvl="1"/>
            <a:r>
              <a:rPr lang="en-US" altLang="zh-CN" dirty="0"/>
              <a:t>TCF</a:t>
            </a:r>
            <a:r>
              <a:rPr lang="zh-CN" altLang="en-US" dirty="0"/>
              <a:t>：</a:t>
            </a:r>
            <a:r>
              <a:rPr lang="en-US" altLang="zh-CN" dirty="0"/>
              <a:t>Technical Complexity Fator</a:t>
            </a:r>
          </a:p>
          <a:p>
            <a:pPr lvl="1"/>
            <a:r>
              <a:rPr lang="en-US" altLang="zh-CN" dirty="0"/>
              <a:t>UFC</a:t>
            </a:r>
            <a:r>
              <a:rPr lang="zh-CN" altLang="en-US" dirty="0"/>
              <a:t>：</a:t>
            </a:r>
            <a:r>
              <a:rPr lang="en-US" altLang="zh-CN" dirty="0"/>
              <a:t>Unadjusted Function Component</a:t>
            </a:r>
          </a:p>
          <a:p>
            <a:r>
              <a:rPr lang="zh-CN" altLang="en-US" dirty="0"/>
              <a:t>适用场景：适用于需求明确、文档完整的项目，是行业标准的基准方法</a:t>
            </a:r>
          </a:p>
          <a:p>
            <a:endParaRPr lang="zh-CN" altLang="en-US" dirty="0"/>
          </a:p>
        </p:txBody>
      </p:sp>
      <p:sp>
        <p:nvSpPr>
          <p:cNvPr id="11" name="文本占位符 10">
            <a:extLst>
              <a:ext uri="{FF2B5EF4-FFF2-40B4-BE49-F238E27FC236}">
                <a16:creationId xmlns:a16="http://schemas.microsoft.com/office/drawing/2014/main" id="{A8A98A97-8872-07AA-67A4-67305E9D7305}"/>
              </a:ext>
            </a:extLst>
          </p:cNvPr>
          <p:cNvSpPr>
            <a:spLocks noGrp="1"/>
          </p:cNvSpPr>
          <p:nvPr>
            <p:ph type="body" sz="quarter" idx="10"/>
          </p:nvPr>
        </p:nvSpPr>
        <p:spPr>
          <a:xfrm>
            <a:off x="7071919" y="448519"/>
            <a:ext cx="4424080" cy="338554"/>
          </a:xfrm>
        </p:spPr>
        <p:txBody>
          <a:bodyPr/>
          <a:lstStyle/>
          <a:p>
            <a:r>
              <a:rPr lang="en-US" altLang="zh-CN" dirty="0"/>
              <a:t>FP/Traditional</a:t>
            </a:r>
            <a:endParaRPr lang="zh-CN" altLang="en-US" dirty="0"/>
          </a:p>
        </p:txBody>
      </p:sp>
    </p:spTree>
    <p:extLst>
      <p:ext uri="{BB962C8B-B14F-4D97-AF65-F5344CB8AC3E}">
        <p14:creationId xmlns:p14="http://schemas.microsoft.com/office/powerpoint/2010/main" val="780685601"/>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E2D77967-6E37-4D02-38BA-7B45EEA60685}"/>
              </a:ext>
            </a:extLst>
          </p:cNvPr>
          <p:cNvSpPr txBox="1"/>
          <p:nvPr/>
        </p:nvSpPr>
        <p:spPr>
          <a:xfrm>
            <a:off x="672466" y="530942"/>
            <a:ext cx="1909497" cy="369332"/>
          </a:xfrm>
          <a:prstGeom prst="rect">
            <a:avLst/>
          </a:prstGeom>
          <a:noFill/>
        </p:spPr>
        <p:txBody>
          <a:bodyPr wrap="none" rtlCol="0">
            <a:spAutoFit/>
          </a:bodyPr>
          <a:lstStyle/>
          <a:p>
            <a:pPr algn="l">
              <a:spcAft>
                <a:spcPts val="600"/>
              </a:spcAft>
            </a:pPr>
            <a:r>
              <a:rPr lang="en-US" altLang="zh-CN" u="heavy" dirty="0">
                <a:uFill>
                  <a:solidFill>
                    <a:srgbClr val="FFFF00"/>
                  </a:solidFill>
                </a:uFill>
              </a:rPr>
              <a:t>IFPUG </a:t>
            </a:r>
            <a:r>
              <a:rPr lang="zh-CN" altLang="en-US" u="heavy" dirty="0">
                <a:uFill>
                  <a:solidFill>
                    <a:srgbClr val="FFFF00"/>
                  </a:solidFill>
                </a:uFill>
              </a:rPr>
              <a:t>计算过程</a:t>
            </a:r>
            <a:endParaRPr lang="zh-CN" altLang="en-US" dirty="0"/>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2E5681E5-B020-F99E-40D6-783F305EA374}"/>
                  </a:ext>
                </a:extLst>
              </p:cNvPr>
              <p:cNvSpPr txBox="1"/>
              <p:nvPr/>
            </p:nvSpPr>
            <p:spPr>
              <a:xfrm>
                <a:off x="3322340" y="4242623"/>
                <a:ext cx="3115020" cy="862993"/>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altLang="zh-CN" sz="2000" b="0" i="1" smtClean="0">
                          <a:solidFill>
                            <a:schemeClr val="tx1"/>
                          </a:solidFill>
                          <a:latin typeface="Cambria Math" panose="02040503050406030204" pitchFamily="18" charset="0"/>
                        </a:rPr>
                        <m:t>𝑇𝐶𝐹</m:t>
                      </m:r>
                      <m:r>
                        <a:rPr lang="en-US" altLang="zh-CN" sz="2000" b="0" i="1" smtClean="0">
                          <a:solidFill>
                            <a:schemeClr val="tx1"/>
                          </a:solidFill>
                          <a:latin typeface="Cambria Math" panose="02040503050406030204" pitchFamily="18" charset="0"/>
                        </a:rPr>
                        <m:t>=0.65×0.01×</m:t>
                      </m:r>
                      <m:nary>
                        <m:naryPr>
                          <m:chr m:val="∑"/>
                          <m:ctrlPr>
                            <a:rPr lang="en-US" altLang="zh-CN" sz="2000" b="0" i="1" smtClean="0">
                              <a:solidFill>
                                <a:schemeClr val="tx1"/>
                              </a:solidFill>
                              <a:latin typeface="Cambria Math" panose="02040503050406030204" pitchFamily="18" charset="0"/>
                              <a:ea typeface="Cambria Math" panose="02040503050406030204" pitchFamily="18" charset="0"/>
                            </a:rPr>
                          </m:ctrlPr>
                        </m:naryPr>
                        <m:sub>
                          <m:r>
                            <m:rPr>
                              <m:sty m:val="p"/>
                              <m:brk m:alnAt="23"/>
                            </m:rPr>
                            <a:rPr lang="en-US" altLang="zh-CN" sz="2000" i="1">
                              <a:solidFill>
                                <a:schemeClr val="tx1"/>
                              </a:solidFill>
                              <a:latin typeface="Cambria Math" panose="02040503050406030204" pitchFamily="18" charset="0"/>
                              <a:ea typeface="Cambria Math" panose="02040503050406030204" pitchFamily="18" charset="0"/>
                            </a:rPr>
                            <m:t>i</m:t>
                          </m:r>
                          <m:r>
                            <a:rPr lang="en-US" altLang="zh-CN" sz="2000" b="0" i="1" smtClean="0">
                              <a:solidFill>
                                <a:schemeClr val="tx1"/>
                              </a:solidFill>
                              <a:latin typeface="Cambria Math" panose="02040503050406030204" pitchFamily="18" charset="0"/>
                              <a:ea typeface="Cambria Math" panose="02040503050406030204" pitchFamily="18" charset="0"/>
                            </a:rPr>
                            <m:t>=1</m:t>
                          </m:r>
                        </m:sub>
                        <m:sup>
                          <m:r>
                            <a:rPr lang="en-US" altLang="zh-CN" sz="2000" b="0" i="1" smtClean="0">
                              <a:solidFill>
                                <a:schemeClr val="tx1"/>
                              </a:solidFill>
                              <a:latin typeface="Cambria Math" panose="02040503050406030204" pitchFamily="18" charset="0"/>
                              <a:ea typeface="Cambria Math" panose="02040503050406030204" pitchFamily="18" charset="0"/>
                            </a:rPr>
                            <m:t>14</m:t>
                          </m:r>
                        </m:sup>
                        <m:e>
                          <m:r>
                            <a:rPr lang="en-US" altLang="zh-CN" sz="2000" b="0" i="1" smtClean="0">
                              <a:solidFill>
                                <a:schemeClr val="tx1"/>
                              </a:solidFill>
                              <a:latin typeface="Cambria Math" panose="02040503050406030204" pitchFamily="18" charset="0"/>
                              <a:ea typeface="Cambria Math" panose="02040503050406030204" pitchFamily="18" charset="0"/>
                            </a:rPr>
                            <m:t>𝐹𝑖</m:t>
                          </m:r>
                        </m:e>
                      </m:nary>
                      <m:r>
                        <a:rPr lang="en-US" altLang="zh-CN" sz="2000" b="0" i="1" smtClean="0">
                          <a:solidFill>
                            <a:schemeClr val="tx1"/>
                          </a:solidFill>
                          <a:latin typeface="Cambria Math" panose="02040503050406030204" pitchFamily="18" charset="0"/>
                        </a:rPr>
                        <m:t> </m:t>
                      </m:r>
                    </m:oMath>
                  </m:oMathPara>
                </a14:m>
                <a:endParaRPr lang="zh-CN" altLang="en-US" sz="2000" dirty="0">
                  <a:solidFill>
                    <a:schemeClr val="tx1"/>
                  </a:solidFill>
                </a:endParaRPr>
              </a:p>
            </p:txBody>
          </p:sp>
        </mc:Choice>
        <mc:Fallback xmlns="">
          <p:sp>
            <p:nvSpPr>
              <p:cNvPr id="9" name="文本框 8">
                <a:extLst>
                  <a:ext uri="{FF2B5EF4-FFF2-40B4-BE49-F238E27FC236}">
                    <a16:creationId xmlns:a16="http://schemas.microsoft.com/office/drawing/2014/main" id="{2E5681E5-B020-F99E-40D6-783F305EA374}"/>
                  </a:ext>
                </a:extLst>
              </p:cNvPr>
              <p:cNvSpPr txBox="1">
                <a:spLocks noRot="1" noChangeAspect="1" noMove="1" noResize="1" noEditPoints="1" noAdjustHandles="1" noChangeArrowheads="1" noChangeShapeType="1" noTextEdit="1"/>
              </p:cNvSpPr>
              <p:nvPr/>
            </p:nvSpPr>
            <p:spPr>
              <a:xfrm>
                <a:off x="3322340" y="4242623"/>
                <a:ext cx="3115020" cy="862993"/>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3DC8BA1A-C435-B014-0564-B732731EDC6A}"/>
                  </a:ext>
                </a:extLst>
              </p:cNvPr>
              <p:cNvSpPr txBox="1"/>
              <p:nvPr/>
            </p:nvSpPr>
            <p:spPr>
              <a:xfrm>
                <a:off x="3322340" y="5474623"/>
                <a:ext cx="1989647" cy="307777"/>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altLang="zh-CN" sz="2000" b="0" i="1" smtClean="0">
                          <a:solidFill>
                            <a:schemeClr val="tx1"/>
                          </a:solidFill>
                          <a:latin typeface="Cambria Math" panose="02040503050406030204" pitchFamily="18" charset="0"/>
                        </a:rPr>
                        <m:t>𝐹𝑃</m:t>
                      </m:r>
                      <m:r>
                        <a:rPr lang="en-US" altLang="zh-CN" sz="2000" b="0" i="1" smtClean="0">
                          <a:solidFill>
                            <a:schemeClr val="tx1"/>
                          </a:solidFill>
                          <a:latin typeface="Cambria Math" panose="02040503050406030204" pitchFamily="18" charset="0"/>
                        </a:rPr>
                        <m:t>=</m:t>
                      </m:r>
                      <m:r>
                        <a:rPr lang="en-US" altLang="zh-CN" sz="2000" b="0" i="1" smtClean="0">
                          <a:solidFill>
                            <a:schemeClr val="tx1"/>
                          </a:solidFill>
                          <a:latin typeface="Cambria Math" panose="02040503050406030204" pitchFamily="18" charset="0"/>
                        </a:rPr>
                        <m:t>𝑈𝐹𝐶</m:t>
                      </m:r>
                      <m:r>
                        <a:rPr lang="en-US" altLang="zh-CN" sz="2000" b="0" i="1" smtClean="0">
                          <a:solidFill>
                            <a:schemeClr val="tx1"/>
                          </a:solidFill>
                          <a:latin typeface="Cambria Math" panose="02040503050406030204" pitchFamily="18" charset="0"/>
                          <a:ea typeface="Cambria Math" panose="02040503050406030204" pitchFamily="18" charset="0"/>
                        </a:rPr>
                        <m:t>×</m:t>
                      </m:r>
                      <m:r>
                        <a:rPr lang="en-US" altLang="zh-CN" sz="2000" b="0" i="1" smtClean="0">
                          <a:solidFill>
                            <a:schemeClr val="tx1"/>
                          </a:solidFill>
                          <a:latin typeface="Cambria Math" panose="02040503050406030204" pitchFamily="18" charset="0"/>
                          <a:ea typeface="Cambria Math" panose="02040503050406030204" pitchFamily="18" charset="0"/>
                        </a:rPr>
                        <m:t>𝑇𝐶𝐹</m:t>
                      </m:r>
                    </m:oMath>
                  </m:oMathPara>
                </a14:m>
                <a:endParaRPr lang="zh-CN" altLang="en-US" sz="2000" dirty="0">
                  <a:solidFill>
                    <a:schemeClr val="tx1"/>
                  </a:solidFill>
                </a:endParaRPr>
              </a:p>
            </p:txBody>
          </p:sp>
        </mc:Choice>
        <mc:Fallback xmlns="">
          <p:sp>
            <p:nvSpPr>
              <p:cNvPr id="10" name="文本框 9">
                <a:extLst>
                  <a:ext uri="{FF2B5EF4-FFF2-40B4-BE49-F238E27FC236}">
                    <a16:creationId xmlns:a16="http://schemas.microsoft.com/office/drawing/2014/main" id="{3DC8BA1A-C435-B014-0564-B732731EDC6A}"/>
                  </a:ext>
                </a:extLst>
              </p:cNvPr>
              <p:cNvSpPr txBox="1">
                <a:spLocks noRot="1" noChangeAspect="1" noMove="1" noResize="1" noEditPoints="1" noAdjustHandles="1" noChangeArrowheads="1" noChangeShapeType="1" noTextEdit="1"/>
              </p:cNvSpPr>
              <p:nvPr/>
            </p:nvSpPr>
            <p:spPr>
              <a:xfrm>
                <a:off x="3322340" y="5474623"/>
                <a:ext cx="1989647" cy="307777"/>
              </a:xfrm>
              <a:prstGeom prst="rect">
                <a:avLst/>
              </a:prstGeom>
              <a:blipFill>
                <a:blip r:embed="rId3"/>
                <a:stretch>
                  <a:fillRect l="-2147" r="-2454" b="-7843"/>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AA3D5E1A-2270-C4A3-AB4D-B0F3AA204D48}"/>
              </a:ext>
            </a:extLst>
          </p:cNvPr>
          <p:cNvSpPr txBox="1"/>
          <p:nvPr/>
        </p:nvSpPr>
        <p:spPr>
          <a:xfrm>
            <a:off x="672466" y="1017111"/>
            <a:ext cx="1260281" cy="338554"/>
          </a:xfrm>
          <a:prstGeom prst="rect">
            <a:avLst/>
          </a:prstGeom>
          <a:noFill/>
        </p:spPr>
        <p:txBody>
          <a:bodyPr wrap="none" rtlCol="0">
            <a:spAutoFit/>
          </a:bodyPr>
          <a:lstStyle/>
          <a:p>
            <a:r>
              <a:rPr lang="en-US" altLang="zh-CN" sz="1600" dirty="0"/>
              <a:t>1. UFC </a:t>
            </a:r>
            <a:r>
              <a:rPr lang="zh-CN" altLang="en-US" sz="1600" dirty="0"/>
              <a:t>计数</a:t>
            </a:r>
            <a:endParaRPr lang="en-US" altLang="zh-CN" sz="1600" dirty="0"/>
          </a:p>
        </p:txBody>
      </p:sp>
      <p:sp>
        <p:nvSpPr>
          <p:cNvPr id="12" name="文本框 11">
            <a:extLst>
              <a:ext uri="{FF2B5EF4-FFF2-40B4-BE49-F238E27FC236}">
                <a16:creationId xmlns:a16="http://schemas.microsoft.com/office/drawing/2014/main" id="{660D4EC1-10F4-822F-02F3-190E52912AC7}"/>
              </a:ext>
            </a:extLst>
          </p:cNvPr>
          <p:cNvSpPr txBox="1"/>
          <p:nvPr/>
        </p:nvSpPr>
        <p:spPr>
          <a:xfrm>
            <a:off x="672466" y="3434168"/>
            <a:ext cx="2124299" cy="338554"/>
          </a:xfrm>
          <a:prstGeom prst="rect">
            <a:avLst/>
          </a:prstGeom>
          <a:noFill/>
        </p:spPr>
        <p:txBody>
          <a:bodyPr wrap="none" rtlCol="0">
            <a:spAutoFit/>
          </a:bodyPr>
          <a:lstStyle/>
          <a:p>
            <a:r>
              <a:rPr lang="en-US" altLang="zh-CN" sz="1600" dirty="0"/>
              <a:t>2. UFC </a:t>
            </a:r>
            <a:r>
              <a:rPr lang="zh-CN" altLang="en-US" sz="1600" dirty="0"/>
              <a:t>定级：高中低</a:t>
            </a:r>
            <a:endParaRPr lang="en-US" altLang="zh-CN" sz="1600" dirty="0"/>
          </a:p>
        </p:txBody>
      </p:sp>
      <p:sp>
        <p:nvSpPr>
          <p:cNvPr id="13" name="文本框 12">
            <a:extLst>
              <a:ext uri="{FF2B5EF4-FFF2-40B4-BE49-F238E27FC236}">
                <a16:creationId xmlns:a16="http://schemas.microsoft.com/office/drawing/2014/main" id="{F0706DC7-EDBB-66B2-458A-CB3D71032D57}"/>
              </a:ext>
            </a:extLst>
          </p:cNvPr>
          <p:cNvSpPr txBox="1"/>
          <p:nvPr/>
        </p:nvSpPr>
        <p:spPr>
          <a:xfrm>
            <a:off x="672466" y="3943763"/>
            <a:ext cx="1257075" cy="338554"/>
          </a:xfrm>
          <a:prstGeom prst="rect">
            <a:avLst/>
          </a:prstGeom>
          <a:noFill/>
        </p:spPr>
        <p:txBody>
          <a:bodyPr wrap="none" rtlCol="0">
            <a:spAutoFit/>
          </a:bodyPr>
          <a:lstStyle/>
          <a:p>
            <a:r>
              <a:rPr lang="en-US" altLang="zh-CN" sz="1600" dirty="0"/>
              <a:t>3. TCF </a:t>
            </a:r>
            <a:r>
              <a:rPr lang="zh-CN" altLang="en-US" sz="1600" dirty="0"/>
              <a:t>调整</a:t>
            </a:r>
            <a:endParaRPr lang="en-US" altLang="zh-CN" sz="1600" dirty="0"/>
          </a:p>
        </p:txBody>
      </p:sp>
      <p:sp>
        <p:nvSpPr>
          <p:cNvPr id="14" name="文本框 13">
            <a:extLst>
              <a:ext uri="{FF2B5EF4-FFF2-40B4-BE49-F238E27FC236}">
                <a16:creationId xmlns:a16="http://schemas.microsoft.com/office/drawing/2014/main" id="{98C59140-4E1D-39F0-D5E6-ADB65A3AC12D}"/>
              </a:ext>
            </a:extLst>
          </p:cNvPr>
          <p:cNvSpPr txBox="1"/>
          <p:nvPr/>
        </p:nvSpPr>
        <p:spPr>
          <a:xfrm>
            <a:off x="672466" y="5102280"/>
            <a:ext cx="829073" cy="338554"/>
          </a:xfrm>
          <a:prstGeom prst="rect">
            <a:avLst/>
          </a:prstGeom>
          <a:noFill/>
        </p:spPr>
        <p:txBody>
          <a:bodyPr wrap="none" rtlCol="0">
            <a:spAutoFit/>
          </a:bodyPr>
          <a:lstStyle/>
          <a:p>
            <a:r>
              <a:rPr lang="en-US" altLang="zh-CN" sz="1600" dirty="0"/>
              <a:t>4. </a:t>
            </a:r>
            <a:r>
              <a:rPr lang="zh-CN" altLang="en-US" sz="1600" dirty="0"/>
              <a:t>计算</a:t>
            </a:r>
          </a:p>
        </p:txBody>
      </p:sp>
      <p:cxnSp>
        <p:nvCxnSpPr>
          <p:cNvPr id="16" name="直接连接符 15">
            <a:extLst>
              <a:ext uri="{FF2B5EF4-FFF2-40B4-BE49-F238E27FC236}">
                <a16:creationId xmlns:a16="http://schemas.microsoft.com/office/drawing/2014/main" id="{FE80B922-1B86-99D2-4268-2533BF62240D}"/>
              </a:ext>
            </a:extLst>
          </p:cNvPr>
          <p:cNvCxnSpPr>
            <a:cxnSpLocks/>
          </p:cNvCxnSpPr>
          <p:nvPr/>
        </p:nvCxnSpPr>
        <p:spPr>
          <a:xfrm>
            <a:off x="1501539" y="5271557"/>
            <a:ext cx="9589248" cy="0"/>
          </a:xfrm>
          <a:prstGeom prst="line">
            <a:avLst/>
          </a:prstGeom>
          <a:ln>
            <a:solidFill>
              <a:schemeClr val="tx1"/>
            </a:solidFill>
            <a:prstDash val="lgDash"/>
            <a:tailEnd type="none"/>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D5FF4920-4D30-1ADF-1B4B-A6D982F8C91A}"/>
              </a:ext>
            </a:extLst>
          </p:cNvPr>
          <p:cNvCxnSpPr>
            <a:cxnSpLocks/>
          </p:cNvCxnSpPr>
          <p:nvPr/>
        </p:nvCxnSpPr>
        <p:spPr>
          <a:xfrm>
            <a:off x="1929541" y="4113040"/>
            <a:ext cx="9161246" cy="0"/>
          </a:xfrm>
          <a:prstGeom prst="line">
            <a:avLst/>
          </a:prstGeom>
          <a:ln>
            <a:solidFill>
              <a:schemeClr val="tx1"/>
            </a:solidFill>
            <a:prstDash val="lgDash"/>
            <a:tailEnd type="none"/>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999FFA37-F679-2587-8533-1B6958B40A43}"/>
              </a:ext>
            </a:extLst>
          </p:cNvPr>
          <p:cNvCxnSpPr>
            <a:cxnSpLocks/>
            <a:stCxn id="12" idx="3"/>
          </p:cNvCxnSpPr>
          <p:nvPr/>
        </p:nvCxnSpPr>
        <p:spPr>
          <a:xfrm>
            <a:off x="2796765" y="3603445"/>
            <a:ext cx="8294022" cy="0"/>
          </a:xfrm>
          <a:prstGeom prst="line">
            <a:avLst/>
          </a:prstGeom>
          <a:ln>
            <a:solidFill>
              <a:schemeClr val="tx1"/>
            </a:solidFill>
            <a:prstDash val="lgDash"/>
            <a:tailEnd type="none"/>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171D8F20-2F30-41D6-CA02-8D9ABA8F9D68}"/>
              </a:ext>
            </a:extLst>
          </p:cNvPr>
          <p:cNvCxnSpPr>
            <a:cxnSpLocks/>
          </p:cNvCxnSpPr>
          <p:nvPr/>
        </p:nvCxnSpPr>
        <p:spPr>
          <a:xfrm>
            <a:off x="1932747" y="1186388"/>
            <a:ext cx="9158040" cy="0"/>
          </a:xfrm>
          <a:prstGeom prst="line">
            <a:avLst/>
          </a:prstGeom>
          <a:ln>
            <a:solidFill>
              <a:schemeClr val="tx1"/>
            </a:solidFill>
            <a:prstDash val="lgDash"/>
            <a:tailEnd type="none"/>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7F067458-92F1-CE2C-CED8-C11C0D61CB9B}"/>
              </a:ext>
            </a:extLst>
          </p:cNvPr>
          <p:cNvSpPr txBox="1"/>
          <p:nvPr/>
        </p:nvSpPr>
        <p:spPr>
          <a:xfrm>
            <a:off x="8160177" y="4606505"/>
            <a:ext cx="2930610" cy="307777"/>
          </a:xfrm>
          <a:prstGeom prst="rect">
            <a:avLst/>
          </a:prstGeom>
          <a:noFill/>
        </p:spPr>
        <p:txBody>
          <a:bodyPr wrap="none" rtlCol="0">
            <a:spAutoFit/>
          </a:bodyPr>
          <a:lstStyle/>
          <a:p>
            <a:pPr algn="l"/>
            <a:r>
              <a:rPr lang="en-US" altLang="zh-CN" sz="1400" i="1" dirty="0"/>
              <a:t>(F</a:t>
            </a:r>
            <a:r>
              <a:rPr lang="zh-CN" altLang="en-US" sz="1400" i="1" dirty="0"/>
              <a:t>是每个通用系统特性的影响程度</a:t>
            </a:r>
            <a:r>
              <a:rPr lang="en-US" altLang="zh-CN" sz="1400" i="1" dirty="0"/>
              <a:t>)</a:t>
            </a:r>
            <a:endParaRPr lang="zh-CN" altLang="en-US" sz="1400" i="1" dirty="0"/>
          </a:p>
        </p:txBody>
      </p:sp>
      <p:graphicFrame>
        <p:nvGraphicFramePr>
          <p:cNvPr id="27" name="表格 26">
            <a:extLst>
              <a:ext uri="{FF2B5EF4-FFF2-40B4-BE49-F238E27FC236}">
                <a16:creationId xmlns:a16="http://schemas.microsoft.com/office/drawing/2014/main" id="{20F83ECB-1E11-D8C9-C4E7-8359164FF491}"/>
              </a:ext>
            </a:extLst>
          </p:cNvPr>
          <p:cNvGraphicFramePr>
            <a:graphicFrameLocks noGrp="1"/>
          </p:cNvGraphicFramePr>
          <p:nvPr>
            <p:extLst>
              <p:ext uri="{D42A27DB-BD31-4B8C-83A1-F6EECF244321}">
                <p14:modId xmlns:p14="http://schemas.microsoft.com/office/powerpoint/2010/main" val="728446005"/>
              </p:ext>
            </p:extLst>
          </p:nvPr>
        </p:nvGraphicFramePr>
        <p:xfrm>
          <a:off x="3216000" y="1304372"/>
          <a:ext cx="5760000" cy="21336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3116677463"/>
                    </a:ext>
                  </a:extLst>
                </a:gridCol>
                <a:gridCol w="1080000">
                  <a:extLst>
                    <a:ext uri="{9D8B030D-6E8A-4147-A177-3AD203B41FA5}">
                      <a16:colId xmlns:a16="http://schemas.microsoft.com/office/drawing/2014/main" val="777816078"/>
                    </a:ext>
                  </a:extLst>
                </a:gridCol>
                <a:gridCol w="1080000">
                  <a:extLst>
                    <a:ext uri="{9D8B030D-6E8A-4147-A177-3AD203B41FA5}">
                      <a16:colId xmlns:a16="http://schemas.microsoft.com/office/drawing/2014/main" val="318618899"/>
                    </a:ext>
                  </a:extLst>
                </a:gridCol>
                <a:gridCol w="1080000">
                  <a:extLst>
                    <a:ext uri="{9D8B030D-6E8A-4147-A177-3AD203B41FA5}">
                      <a16:colId xmlns:a16="http://schemas.microsoft.com/office/drawing/2014/main" val="2546742227"/>
                    </a:ext>
                  </a:extLst>
                </a:gridCol>
                <a:gridCol w="1080000">
                  <a:extLst>
                    <a:ext uri="{9D8B030D-6E8A-4147-A177-3AD203B41FA5}">
                      <a16:colId xmlns:a16="http://schemas.microsoft.com/office/drawing/2014/main" val="2778900052"/>
                    </a:ext>
                  </a:extLst>
                </a:gridCol>
              </a:tblGrid>
              <a:tr h="181720">
                <a:tc rowSpan="2">
                  <a:txBody>
                    <a:bodyPr/>
                    <a:lstStyle/>
                    <a:p>
                      <a:pPr algn="ctr"/>
                      <a:r>
                        <a:rPr lang="zh-CN" altLang="en-US" sz="1400" dirty="0"/>
                        <a:t>组件类型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a:r>
                        <a:rPr lang="zh-CN" altLang="en-US" sz="1400" dirty="0">
                          <a:solidFill>
                            <a:schemeClr val="tx1"/>
                          </a:solidFill>
                        </a:rPr>
                        <a:t>组件复杂度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788899"/>
                  </a:ext>
                </a:extLst>
              </a:tr>
              <a:tr h="181720">
                <a:tc vMerge="1">
                  <a:txBody>
                    <a:bodyPr/>
                    <a:lstStyle/>
                    <a:p>
                      <a:endParaRPr dirty="0"/>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t>简单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t>一般</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t>复杂</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t>全部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7111049"/>
                  </a:ext>
                </a:extLst>
              </a:tr>
              <a:tr h="181720">
                <a:tc>
                  <a:txBody>
                    <a:bodyPr/>
                    <a:lstStyle/>
                    <a:p>
                      <a:r>
                        <a:rPr lang="zh-CN" altLang="en-US" sz="1400" dirty="0"/>
                        <a:t>外部输入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t>__×3= __</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t>__×4= __</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t>__×6= __</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82754"/>
                  </a:ext>
                </a:extLst>
              </a:tr>
              <a:tr h="181720">
                <a:tc>
                  <a:txBody>
                    <a:bodyPr/>
                    <a:lstStyle/>
                    <a:p>
                      <a:r>
                        <a:rPr lang="zh-CN" altLang="en-US" sz="1400" dirty="0"/>
                        <a:t>外部输出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t>__×4= __</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t>__×5= __</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t>__×7= __</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5791767"/>
                  </a:ext>
                </a:extLst>
              </a:tr>
              <a:tr h="181720">
                <a:tc>
                  <a:txBody>
                    <a:bodyPr/>
                    <a:lstStyle/>
                    <a:p>
                      <a:r>
                        <a:rPr lang="zh-CN" altLang="en-US" sz="1400" dirty="0"/>
                        <a:t>外部查询</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t>__×3= __</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t>__×4= __</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t>__×6= __</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3542103"/>
                  </a:ext>
                </a:extLst>
              </a:tr>
              <a:tr h="181720">
                <a:tc>
                  <a:txBody>
                    <a:bodyPr/>
                    <a:lstStyle/>
                    <a:p>
                      <a:r>
                        <a:rPr lang="zh-CN" altLang="en-US" sz="1400" dirty="0"/>
                        <a:t>外部接口文件</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t>__×5= __</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t>__×7= __</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t>__×10= __</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51565742"/>
                  </a:ext>
                </a:extLst>
              </a:tr>
              <a:tr h="1817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a:t>内部逻辑文件</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t>__×7= __</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t>__×10= __</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t>__×15= __</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2509396"/>
                  </a:ext>
                </a:extLst>
              </a:tr>
            </a:tbl>
          </a:graphicData>
        </a:graphic>
      </p:graphicFrame>
    </p:spTree>
    <p:extLst>
      <p:ext uri="{BB962C8B-B14F-4D97-AF65-F5344CB8AC3E}">
        <p14:creationId xmlns:p14="http://schemas.microsoft.com/office/powerpoint/2010/main" val="2636607203"/>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B1865-38E3-4554-7814-F9357E7369CD}"/>
            </a:ext>
          </a:extLst>
        </p:cNvPr>
        <p:cNvGrpSpPr/>
        <p:nvPr/>
      </p:nvGrpSpPr>
      <p:grpSpPr>
        <a:xfrm>
          <a:off x="0" y="0"/>
          <a:ext cx="0" cy="0"/>
          <a:chOff x="0" y="0"/>
          <a:chExt cx="0" cy="0"/>
        </a:xfrm>
      </p:grpSpPr>
      <p:graphicFrame>
        <p:nvGraphicFramePr>
          <p:cNvPr id="6" name="表格 5">
            <a:extLst>
              <a:ext uri="{FF2B5EF4-FFF2-40B4-BE49-F238E27FC236}">
                <a16:creationId xmlns:a16="http://schemas.microsoft.com/office/drawing/2014/main" id="{994D5198-E109-1A08-17D5-C5EC8219EF03}"/>
              </a:ext>
            </a:extLst>
          </p:cNvPr>
          <p:cNvGraphicFramePr>
            <a:graphicFrameLocks noGrp="1"/>
          </p:cNvGraphicFramePr>
          <p:nvPr>
            <p:extLst>
              <p:ext uri="{D42A27DB-BD31-4B8C-83A1-F6EECF244321}">
                <p14:modId xmlns:p14="http://schemas.microsoft.com/office/powerpoint/2010/main" val="3070619063"/>
              </p:ext>
            </p:extLst>
          </p:nvPr>
        </p:nvGraphicFramePr>
        <p:xfrm>
          <a:off x="3396000" y="1641987"/>
          <a:ext cx="5400000" cy="1828800"/>
        </p:xfrm>
        <a:graphic>
          <a:graphicData uri="http://schemas.openxmlformats.org/drawingml/2006/table">
            <a:tbl>
              <a:tblPr firstRow="1" bandRow="1">
                <a:tableStyleId>{5C22544A-7EE6-4342-B048-85BDC9FD1C3A}</a:tableStyleId>
              </a:tblPr>
              <a:tblGrid>
                <a:gridCol w="2160000">
                  <a:extLst>
                    <a:ext uri="{9D8B030D-6E8A-4147-A177-3AD203B41FA5}">
                      <a16:colId xmlns:a16="http://schemas.microsoft.com/office/drawing/2014/main" val="3116677463"/>
                    </a:ext>
                  </a:extLst>
                </a:gridCol>
                <a:gridCol w="1080000">
                  <a:extLst>
                    <a:ext uri="{9D8B030D-6E8A-4147-A177-3AD203B41FA5}">
                      <a16:colId xmlns:a16="http://schemas.microsoft.com/office/drawing/2014/main" val="777816078"/>
                    </a:ext>
                  </a:extLst>
                </a:gridCol>
                <a:gridCol w="1080000">
                  <a:extLst>
                    <a:ext uri="{9D8B030D-6E8A-4147-A177-3AD203B41FA5}">
                      <a16:colId xmlns:a16="http://schemas.microsoft.com/office/drawing/2014/main" val="318618899"/>
                    </a:ext>
                  </a:extLst>
                </a:gridCol>
                <a:gridCol w="1080000">
                  <a:extLst>
                    <a:ext uri="{9D8B030D-6E8A-4147-A177-3AD203B41FA5}">
                      <a16:colId xmlns:a16="http://schemas.microsoft.com/office/drawing/2014/main" val="2546742227"/>
                    </a:ext>
                  </a:extLst>
                </a:gridCol>
              </a:tblGrid>
              <a:tr h="0">
                <a:tc>
                  <a:txBody>
                    <a:bodyPr/>
                    <a:lstStyle/>
                    <a:p>
                      <a:r>
                        <a:rPr lang="zh-CN" altLang="en-US" sz="1400" dirty="0">
                          <a:solidFill>
                            <a:schemeClr val="tx1"/>
                          </a:solidFill>
                        </a:rPr>
                        <a:t>各类计数项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solidFill>
                            <a:schemeClr val="tx1"/>
                          </a:solidFill>
                        </a:rPr>
                        <a:t>简单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solidFill>
                            <a:schemeClr val="tx1"/>
                          </a:solidFill>
                        </a:rPr>
                        <a:t>一般</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solidFill>
                            <a:schemeClr val="tx1"/>
                          </a:solidFill>
                        </a:rPr>
                        <a:t>复杂</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7111049"/>
                  </a:ext>
                </a:extLst>
              </a:tr>
              <a:tr h="0">
                <a:tc>
                  <a:txBody>
                    <a:bodyPr/>
                    <a:lstStyle/>
                    <a:p>
                      <a:r>
                        <a:rPr lang="zh-CN" altLang="en-US" sz="1400" dirty="0">
                          <a:solidFill>
                            <a:schemeClr val="tx1"/>
                          </a:solidFill>
                        </a:rPr>
                        <a:t>外部输入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6</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2</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3</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82754"/>
                  </a:ext>
                </a:extLst>
              </a:tr>
              <a:tr h="0">
                <a:tc>
                  <a:txBody>
                    <a:bodyPr/>
                    <a:lstStyle/>
                    <a:p>
                      <a:r>
                        <a:rPr lang="zh-CN" altLang="en-US" sz="1400" dirty="0">
                          <a:solidFill>
                            <a:schemeClr val="tx1"/>
                          </a:solidFill>
                        </a:rPr>
                        <a:t>外部输出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7</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7</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0</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5791767"/>
                  </a:ext>
                </a:extLst>
              </a:tr>
              <a:tr h="0">
                <a:tc>
                  <a:txBody>
                    <a:bodyPr/>
                    <a:lstStyle/>
                    <a:p>
                      <a:r>
                        <a:rPr lang="zh-CN" altLang="en-US" sz="1400" dirty="0">
                          <a:solidFill>
                            <a:schemeClr val="tx1"/>
                          </a:solidFill>
                        </a:rPr>
                        <a:t>外部查询</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0</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2</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4</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3542103"/>
                  </a:ext>
                </a:extLst>
              </a:tr>
              <a:tr h="0">
                <a:tc>
                  <a:txBody>
                    <a:bodyPr/>
                    <a:lstStyle/>
                    <a:p>
                      <a:r>
                        <a:rPr lang="zh-CN" altLang="en-US" sz="1400" dirty="0">
                          <a:solidFill>
                            <a:schemeClr val="tx1"/>
                          </a:solidFill>
                        </a:rPr>
                        <a:t>外部接口文件</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5</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2</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3</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51565742"/>
                  </a:ext>
                </a:extLst>
              </a:tr>
              <a:tr h="0">
                <a:tc>
                  <a:txBody>
                    <a:bodyPr/>
                    <a:lstStyle/>
                    <a:p>
                      <a:r>
                        <a:rPr lang="zh-CN" altLang="en-US" sz="1400" dirty="0">
                          <a:solidFill>
                            <a:schemeClr val="tx1"/>
                          </a:solidFill>
                        </a:rPr>
                        <a:t>内部逻辑文件</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9</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0</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2</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9775584"/>
                  </a:ext>
                </a:extLst>
              </a:tr>
            </a:tbl>
          </a:graphicData>
        </a:graphic>
      </p:graphicFrame>
      <p:sp>
        <p:nvSpPr>
          <p:cNvPr id="3" name="文本框 2">
            <a:extLst>
              <a:ext uri="{FF2B5EF4-FFF2-40B4-BE49-F238E27FC236}">
                <a16:creationId xmlns:a16="http://schemas.microsoft.com/office/drawing/2014/main" id="{7DA089D8-CF14-71A9-7173-53F23FE5D9C6}"/>
              </a:ext>
            </a:extLst>
          </p:cNvPr>
          <p:cNvSpPr txBox="1"/>
          <p:nvPr/>
        </p:nvSpPr>
        <p:spPr>
          <a:xfrm>
            <a:off x="2800965" y="1641987"/>
            <a:ext cx="595035" cy="338554"/>
          </a:xfrm>
          <a:prstGeom prst="rect">
            <a:avLst/>
          </a:prstGeom>
          <a:noFill/>
        </p:spPr>
        <p:txBody>
          <a:bodyPr wrap="none" rtlCol="0">
            <a:spAutoFit/>
          </a:bodyPr>
          <a:lstStyle/>
          <a:p>
            <a:pPr algn="l">
              <a:spcAft>
                <a:spcPts val="600"/>
              </a:spcAft>
            </a:pPr>
            <a:r>
              <a:rPr lang="zh-CN" altLang="en-US" sz="1600" dirty="0"/>
              <a:t>已知</a:t>
            </a:r>
          </a:p>
        </p:txBody>
      </p:sp>
      <p:sp>
        <p:nvSpPr>
          <p:cNvPr id="5" name="文本框 4">
            <a:extLst>
              <a:ext uri="{FF2B5EF4-FFF2-40B4-BE49-F238E27FC236}">
                <a16:creationId xmlns:a16="http://schemas.microsoft.com/office/drawing/2014/main" id="{0FED9C07-7A3E-8AED-2F82-51186D64AEE2}"/>
              </a:ext>
            </a:extLst>
          </p:cNvPr>
          <p:cNvSpPr txBox="1"/>
          <p:nvPr/>
        </p:nvSpPr>
        <p:spPr>
          <a:xfrm>
            <a:off x="2800965" y="3604347"/>
            <a:ext cx="3986989" cy="338554"/>
          </a:xfrm>
          <a:prstGeom prst="rect">
            <a:avLst/>
          </a:prstGeom>
          <a:noFill/>
        </p:spPr>
        <p:txBody>
          <a:bodyPr wrap="none" rtlCol="0">
            <a:spAutoFit/>
          </a:bodyPr>
          <a:lstStyle/>
          <a:p>
            <a:pPr algn="l">
              <a:spcAft>
                <a:spcPts val="600"/>
              </a:spcAft>
            </a:pPr>
            <a:r>
              <a:rPr lang="zh-CN" altLang="en-US" sz="1600" dirty="0"/>
              <a:t>假设所有的技术复杂度因子均为</a:t>
            </a:r>
            <a:r>
              <a:rPr lang="en-US" altLang="zh-CN" sz="1600" dirty="0"/>
              <a:t>3</a:t>
            </a:r>
            <a:r>
              <a:rPr lang="zh-CN" altLang="en-US" sz="1600" dirty="0"/>
              <a:t>，求 </a:t>
            </a:r>
            <a:r>
              <a:rPr lang="en-US" altLang="zh-CN" sz="1600" dirty="0"/>
              <a:t>FP</a:t>
            </a:r>
            <a:endParaRPr lang="zh-CN" altLang="en-US" sz="1600" dirty="0"/>
          </a:p>
        </p:txBody>
      </p:sp>
    </p:spTree>
    <p:extLst>
      <p:ext uri="{BB962C8B-B14F-4D97-AF65-F5344CB8AC3E}">
        <p14:creationId xmlns:p14="http://schemas.microsoft.com/office/powerpoint/2010/main" val="4196526438"/>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B1865-38E3-4554-7814-F9357E7369CD}"/>
            </a:ext>
          </a:extLst>
        </p:cNvPr>
        <p:cNvGrpSpPr/>
        <p:nvPr/>
      </p:nvGrpSpPr>
      <p:grpSpPr>
        <a:xfrm>
          <a:off x="0" y="0"/>
          <a:ext cx="0" cy="0"/>
          <a:chOff x="0" y="0"/>
          <a:chExt cx="0" cy="0"/>
        </a:xfrm>
      </p:grpSpPr>
      <p:graphicFrame>
        <p:nvGraphicFramePr>
          <p:cNvPr id="6" name="表格 5">
            <a:extLst>
              <a:ext uri="{FF2B5EF4-FFF2-40B4-BE49-F238E27FC236}">
                <a16:creationId xmlns:a16="http://schemas.microsoft.com/office/drawing/2014/main" id="{994D5198-E109-1A08-17D5-C5EC8219EF03}"/>
              </a:ext>
            </a:extLst>
          </p:cNvPr>
          <p:cNvGraphicFramePr>
            <a:graphicFrameLocks noGrp="1"/>
          </p:cNvGraphicFramePr>
          <p:nvPr>
            <p:extLst>
              <p:ext uri="{D42A27DB-BD31-4B8C-83A1-F6EECF244321}">
                <p14:modId xmlns:p14="http://schemas.microsoft.com/office/powerpoint/2010/main" val="4270929671"/>
              </p:ext>
            </p:extLst>
          </p:nvPr>
        </p:nvGraphicFramePr>
        <p:xfrm>
          <a:off x="3396000" y="393289"/>
          <a:ext cx="5400000" cy="1828800"/>
        </p:xfrm>
        <a:graphic>
          <a:graphicData uri="http://schemas.openxmlformats.org/drawingml/2006/table">
            <a:tbl>
              <a:tblPr firstRow="1" bandRow="1">
                <a:tableStyleId>{5C22544A-7EE6-4342-B048-85BDC9FD1C3A}</a:tableStyleId>
              </a:tblPr>
              <a:tblGrid>
                <a:gridCol w="2160000">
                  <a:extLst>
                    <a:ext uri="{9D8B030D-6E8A-4147-A177-3AD203B41FA5}">
                      <a16:colId xmlns:a16="http://schemas.microsoft.com/office/drawing/2014/main" val="3116677463"/>
                    </a:ext>
                  </a:extLst>
                </a:gridCol>
                <a:gridCol w="1080000">
                  <a:extLst>
                    <a:ext uri="{9D8B030D-6E8A-4147-A177-3AD203B41FA5}">
                      <a16:colId xmlns:a16="http://schemas.microsoft.com/office/drawing/2014/main" val="777816078"/>
                    </a:ext>
                  </a:extLst>
                </a:gridCol>
                <a:gridCol w="1080000">
                  <a:extLst>
                    <a:ext uri="{9D8B030D-6E8A-4147-A177-3AD203B41FA5}">
                      <a16:colId xmlns:a16="http://schemas.microsoft.com/office/drawing/2014/main" val="318618899"/>
                    </a:ext>
                  </a:extLst>
                </a:gridCol>
                <a:gridCol w="1080000">
                  <a:extLst>
                    <a:ext uri="{9D8B030D-6E8A-4147-A177-3AD203B41FA5}">
                      <a16:colId xmlns:a16="http://schemas.microsoft.com/office/drawing/2014/main" val="2546742227"/>
                    </a:ext>
                  </a:extLst>
                </a:gridCol>
              </a:tblGrid>
              <a:tr h="178352">
                <a:tc>
                  <a:txBody>
                    <a:bodyPr/>
                    <a:lstStyle/>
                    <a:p>
                      <a:r>
                        <a:rPr lang="zh-CN" altLang="en-US" sz="1400" dirty="0">
                          <a:solidFill>
                            <a:sysClr val="windowText" lastClr="000000"/>
                          </a:solidFill>
                        </a:rPr>
                        <a:t>各类计数项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solidFill>
                            <a:sysClr val="windowText" lastClr="000000"/>
                          </a:solidFill>
                        </a:rPr>
                        <a:t>简单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solidFill>
                            <a:sysClr val="windowText" lastClr="000000"/>
                          </a:solidFill>
                        </a:rPr>
                        <a:t>一般</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solidFill>
                            <a:sysClr val="windowText" lastClr="000000"/>
                          </a:solidFill>
                        </a:rPr>
                        <a:t>复杂</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7111049"/>
                  </a:ext>
                </a:extLst>
              </a:tr>
              <a:tr h="178352">
                <a:tc>
                  <a:txBody>
                    <a:bodyPr/>
                    <a:lstStyle/>
                    <a:p>
                      <a:r>
                        <a:rPr lang="zh-CN" altLang="en-US" sz="1400" dirty="0">
                          <a:solidFill>
                            <a:sysClr val="windowText" lastClr="000000"/>
                          </a:solidFill>
                        </a:rPr>
                        <a:t>外部输入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ysClr val="windowText" lastClr="000000"/>
                          </a:solidFill>
                        </a:rPr>
                        <a:t>6</a:t>
                      </a:r>
                      <a:endParaRPr lang="zh-CN" altLang="en-US" sz="14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ysClr val="windowText" lastClr="000000"/>
                          </a:solidFill>
                        </a:rPr>
                        <a:t>2</a:t>
                      </a:r>
                      <a:endParaRPr lang="zh-CN" altLang="en-US" sz="14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ysClr val="windowText" lastClr="000000"/>
                          </a:solidFill>
                        </a:rPr>
                        <a:t>3</a:t>
                      </a:r>
                      <a:endParaRPr lang="zh-CN" altLang="en-US" sz="14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82754"/>
                  </a:ext>
                </a:extLst>
              </a:tr>
              <a:tr h="178352">
                <a:tc>
                  <a:txBody>
                    <a:bodyPr/>
                    <a:lstStyle/>
                    <a:p>
                      <a:r>
                        <a:rPr lang="zh-CN" altLang="en-US" sz="1400" dirty="0">
                          <a:solidFill>
                            <a:sysClr val="windowText" lastClr="000000"/>
                          </a:solidFill>
                        </a:rPr>
                        <a:t>外部输出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ysClr val="windowText" lastClr="000000"/>
                          </a:solidFill>
                        </a:rPr>
                        <a:t>7</a:t>
                      </a:r>
                      <a:endParaRPr lang="zh-CN" altLang="en-US" sz="14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ysClr val="windowText" lastClr="000000"/>
                          </a:solidFill>
                        </a:rPr>
                        <a:t>7</a:t>
                      </a:r>
                      <a:endParaRPr lang="zh-CN" altLang="en-US" sz="14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ysClr val="windowText" lastClr="000000"/>
                          </a:solidFill>
                        </a:rPr>
                        <a:t>0</a:t>
                      </a:r>
                      <a:endParaRPr lang="zh-CN" altLang="en-US" sz="14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5791767"/>
                  </a:ext>
                </a:extLst>
              </a:tr>
              <a:tr h="178352">
                <a:tc>
                  <a:txBody>
                    <a:bodyPr/>
                    <a:lstStyle/>
                    <a:p>
                      <a:r>
                        <a:rPr lang="zh-CN" altLang="en-US" sz="1400" dirty="0">
                          <a:solidFill>
                            <a:sysClr val="windowText" lastClr="000000"/>
                          </a:solidFill>
                        </a:rPr>
                        <a:t>外部查询</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ysClr val="windowText" lastClr="000000"/>
                          </a:solidFill>
                        </a:rPr>
                        <a:t>0</a:t>
                      </a:r>
                      <a:endParaRPr lang="zh-CN" altLang="en-US" sz="14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ysClr val="windowText" lastClr="000000"/>
                          </a:solidFill>
                        </a:rPr>
                        <a:t>2</a:t>
                      </a:r>
                      <a:endParaRPr lang="zh-CN" altLang="en-US" sz="14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ysClr val="windowText" lastClr="000000"/>
                          </a:solidFill>
                        </a:rPr>
                        <a:t>4</a:t>
                      </a:r>
                      <a:endParaRPr lang="zh-CN" altLang="en-US" sz="14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3542103"/>
                  </a:ext>
                </a:extLst>
              </a:tr>
              <a:tr h="178352">
                <a:tc>
                  <a:txBody>
                    <a:bodyPr/>
                    <a:lstStyle/>
                    <a:p>
                      <a:r>
                        <a:rPr lang="zh-CN" altLang="en-US" sz="1400" dirty="0">
                          <a:solidFill>
                            <a:sysClr val="windowText" lastClr="000000"/>
                          </a:solidFill>
                        </a:rPr>
                        <a:t>外部接口文件</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ysClr val="windowText" lastClr="000000"/>
                          </a:solidFill>
                        </a:rPr>
                        <a:t>5</a:t>
                      </a:r>
                      <a:endParaRPr lang="zh-CN" altLang="en-US" sz="14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ysClr val="windowText" lastClr="000000"/>
                          </a:solidFill>
                        </a:rPr>
                        <a:t>2</a:t>
                      </a:r>
                      <a:endParaRPr lang="zh-CN" altLang="en-US" sz="14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ysClr val="windowText" lastClr="000000"/>
                          </a:solidFill>
                        </a:rPr>
                        <a:t>3</a:t>
                      </a:r>
                      <a:endParaRPr lang="zh-CN" altLang="en-US" sz="14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51565742"/>
                  </a:ext>
                </a:extLst>
              </a:tr>
              <a:tr h="178352">
                <a:tc>
                  <a:txBody>
                    <a:bodyPr/>
                    <a:lstStyle/>
                    <a:p>
                      <a:r>
                        <a:rPr lang="zh-CN" altLang="en-US" sz="1400" dirty="0">
                          <a:solidFill>
                            <a:sysClr val="windowText" lastClr="000000"/>
                          </a:solidFill>
                        </a:rPr>
                        <a:t>内部逻辑文件</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ysClr val="windowText" lastClr="000000"/>
                          </a:solidFill>
                        </a:rPr>
                        <a:t>9</a:t>
                      </a:r>
                      <a:endParaRPr lang="zh-CN" altLang="en-US" sz="14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ysClr val="windowText" lastClr="000000"/>
                          </a:solidFill>
                        </a:rPr>
                        <a:t>0</a:t>
                      </a:r>
                      <a:endParaRPr lang="zh-CN" altLang="en-US" sz="14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ysClr val="windowText" lastClr="000000"/>
                          </a:solidFill>
                        </a:rPr>
                        <a:t>2</a:t>
                      </a:r>
                      <a:endParaRPr lang="zh-CN" altLang="en-US" sz="14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9775584"/>
                  </a:ext>
                </a:extLst>
              </a:tr>
            </a:tbl>
          </a:graphicData>
        </a:graphic>
      </p:graphicFrame>
      <p:graphicFrame>
        <p:nvGraphicFramePr>
          <p:cNvPr id="2" name="表格 1">
            <a:extLst>
              <a:ext uri="{FF2B5EF4-FFF2-40B4-BE49-F238E27FC236}">
                <a16:creationId xmlns:a16="http://schemas.microsoft.com/office/drawing/2014/main" id="{CE5D1AEC-4A88-963A-3672-4A4247DB361B}"/>
              </a:ext>
            </a:extLst>
          </p:cNvPr>
          <p:cNvGraphicFramePr>
            <a:graphicFrameLocks noGrp="1"/>
          </p:cNvGraphicFramePr>
          <p:nvPr>
            <p:extLst>
              <p:ext uri="{D42A27DB-BD31-4B8C-83A1-F6EECF244321}">
                <p14:modId xmlns:p14="http://schemas.microsoft.com/office/powerpoint/2010/main" val="223348702"/>
              </p:ext>
            </p:extLst>
          </p:nvPr>
        </p:nvGraphicFramePr>
        <p:xfrm>
          <a:off x="3216000" y="3133177"/>
          <a:ext cx="5760000" cy="27432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3116677463"/>
                    </a:ext>
                  </a:extLst>
                </a:gridCol>
                <a:gridCol w="1080000">
                  <a:extLst>
                    <a:ext uri="{9D8B030D-6E8A-4147-A177-3AD203B41FA5}">
                      <a16:colId xmlns:a16="http://schemas.microsoft.com/office/drawing/2014/main" val="777816078"/>
                    </a:ext>
                  </a:extLst>
                </a:gridCol>
                <a:gridCol w="1080000">
                  <a:extLst>
                    <a:ext uri="{9D8B030D-6E8A-4147-A177-3AD203B41FA5}">
                      <a16:colId xmlns:a16="http://schemas.microsoft.com/office/drawing/2014/main" val="318618899"/>
                    </a:ext>
                  </a:extLst>
                </a:gridCol>
                <a:gridCol w="1080000">
                  <a:extLst>
                    <a:ext uri="{9D8B030D-6E8A-4147-A177-3AD203B41FA5}">
                      <a16:colId xmlns:a16="http://schemas.microsoft.com/office/drawing/2014/main" val="2546742227"/>
                    </a:ext>
                  </a:extLst>
                </a:gridCol>
                <a:gridCol w="1080000">
                  <a:extLst>
                    <a:ext uri="{9D8B030D-6E8A-4147-A177-3AD203B41FA5}">
                      <a16:colId xmlns:a16="http://schemas.microsoft.com/office/drawing/2014/main" val="2778900052"/>
                    </a:ext>
                  </a:extLst>
                </a:gridCol>
              </a:tblGrid>
              <a:tr h="181720">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rPr>
                        <a:t>1. UFC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a:p>
                  </a:txBody>
                  <a:tcPr/>
                </a:tc>
                <a:tc hMerge="1">
                  <a:txBody>
                    <a:bodyPr/>
                    <a:lstStyle/>
                    <a:p>
                      <a:endParaRPr lang="zh-CN" altLang="en-US"/>
                    </a:p>
                  </a:txBody>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0165285"/>
                  </a:ext>
                </a:extLst>
              </a:tr>
              <a:tr h="181720">
                <a:tc rowSpan="2">
                  <a:txBody>
                    <a:bodyPr/>
                    <a:lstStyle/>
                    <a:p>
                      <a:pPr algn="ctr"/>
                      <a:r>
                        <a:rPr lang="zh-CN" altLang="en-US" sz="1400" dirty="0">
                          <a:solidFill>
                            <a:schemeClr val="tx1"/>
                          </a:solidFill>
                        </a:rPr>
                        <a:t>组件类型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a:r>
                        <a:rPr lang="zh-CN" altLang="en-US" sz="1400" dirty="0">
                          <a:solidFill>
                            <a:schemeClr val="tx1"/>
                          </a:solidFill>
                        </a:rPr>
                        <a:t>组件复杂度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788899"/>
                  </a:ext>
                </a:extLst>
              </a:tr>
              <a:tr h="181720">
                <a:tc vMerge="1">
                  <a:txBody>
                    <a:bodyPr/>
                    <a:lstStyle/>
                    <a:p>
                      <a:endParaRPr dirty="0"/>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solidFill>
                            <a:schemeClr val="tx1"/>
                          </a:solidFill>
                        </a:rPr>
                        <a:t>简单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solidFill>
                            <a:schemeClr val="tx1"/>
                          </a:solidFill>
                        </a:rPr>
                        <a:t>一般</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solidFill>
                            <a:schemeClr val="tx1"/>
                          </a:solidFill>
                        </a:rPr>
                        <a:t>复杂</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solidFill>
                            <a:schemeClr val="tx1"/>
                          </a:solidFill>
                        </a:rPr>
                        <a:t>全部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7111049"/>
                  </a:ext>
                </a:extLst>
              </a:tr>
              <a:tr h="181720">
                <a:tc>
                  <a:txBody>
                    <a:bodyPr/>
                    <a:lstStyle/>
                    <a:p>
                      <a:r>
                        <a:rPr lang="zh-CN" altLang="en-US" sz="1400" dirty="0">
                          <a:solidFill>
                            <a:schemeClr val="tx1"/>
                          </a:solidFill>
                        </a:rPr>
                        <a:t>外部输入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6×3= 18</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2×4= 8</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3×6= 18</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44</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82754"/>
                  </a:ext>
                </a:extLst>
              </a:tr>
              <a:tr h="181720">
                <a:tc>
                  <a:txBody>
                    <a:bodyPr/>
                    <a:lstStyle/>
                    <a:p>
                      <a:r>
                        <a:rPr lang="zh-CN" altLang="en-US" sz="1400" dirty="0">
                          <a:solidFill>
                            <a:schemeClr val="tx1"/>
                          </a:solidFill>
                        </a:rPr>
                        <a:t>外部输出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7×4= 28</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7×5= 35</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0×7= 0</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63</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5791767"/>
                  </a:ext>
                </a:extLst>
              </a:tr>
              <a:tr h="181720">
                <a:tc>
                  <a:txBody>
                    <a:bodyPr/>
                    <a:lstStyle/>
                    <a:p>
                      <a:r>
                        <a:rPr lang="zh-CN" altLang="en-US" sz="1400" dirty="0">
                          <a:solidFill>
                            <a:schemeClr val="tx1"/>
                          </a:solidFill>
                        </a:rPr>
                        <a:t>外部查询</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0×3= 0</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2×4= 8</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4×6= 24</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32</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3542103"/>
                  </a:ext>
                </a:extLst>
              </a:tr>
              <a:tr h="181720">
                <a:tc>
                  <a:txBody>
                    <a:bodyPr/>
                    <a:lstStyle/>
                    <a:p>
                      <a:r>
                        <a:rPr lang="zh-CN" altLang="en-US" sz="1400" dirty="0">
                          <a:solidFill>
                            <a:schemeClr val="tx1"/>
                          </a:solidFill>
                        </a:rPr>
                        <a:t>外部接口文件</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5×5= 25</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2×7= 14</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3×10= 30</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69</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51565742"/>
                  </a:ext>
                </a:extLst>
              </a:tr>
              <a:tr h="1817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a:solidFill>
                            <a:schemeClr val="tx1"/>
                          </a:solidFill>
                        </a:rPr>
                        <a:t>内部逻辑文件</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9×7= 63</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0×10= 0</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2×15= 30</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93</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51920973"/>
                  </a:ext>
                </a:extLst>
              </a:tr>
              <a:tr h="1817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solidFill>
                            <a:schemeClr val="tx1"/>
                          </a:solidFill>
                        </a:rPr>
                        <a:t>合计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301</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7588100"/>
                  </a:ext>
                </a:extLst>
              </a:tr>
            </a:tbl>
          </a:graphicData>
        </a:graphic>
      </p:graphicFrame>
    </p:spTree>
    <p:extLst>
      <p:ext uri="{BB962C8B-B14F-4D97-AF65-F5344CB8AC3E}">
        <p14:creationId xmlns:p14="http://schemas.microsoft.com/office/powerpoint/2010/main" val="327730797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65C8E-3EF7-CA3B-31C1-5F48BF2C473D}"/>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1C23BAB1-95B3-B313-B815-69780DD16205}"/>
              </a:ext>
            </a:extLst>
          </p:cNvPr>
          <p:cNvSpPr txBox="1"/>
          <p:nvPr/>
        </p:nvSpPr>
        <p:spPr>
          <a:xfrm>
            <a:off x="3215999" y="3730816"/>
            <a:ext cx="793807" cy="338554"/>
          </a:xfrm>
          <a:prstGeom prst="rect">
            <a:avLst/>
          </a:prstGeom>
          <a:noFill/>
        </p:spPr>
        <p:txBody>
          <a:bodyPr wrap="none" rtlCol="0">
            <a:spAutoFit/>
          </a:bodyPr>
          <a:lstStyle/>
          <a:p>
            <a:r>
              <a:rPr lang="en-US" altLang="zh-CN" sz="1600" dirty="0"/>
              <a:t>2. TCF</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64828201-7D1C-5271-90D9-F47451605834}"/>
                  </a:ext>
                </a:extLst>
              </p:cNvPr>
              <p:cNvSpPr txBox="1"/>
              <p:nvPr/>
            </p:nvSpPr>
            <p:spPr>
              <a:xfrm>
                <a:off x="3215999" y="4242623"/>
                <a:ext cx="6489533" cy="862993"/>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altLang="zh-CN" sz="2000" b="0" i="1" smtClean="0">
                          <a:solidFill>
                            <a:schemeClr val="tx1"/>
                          </a:solidFill>
                          <a:latin typeface="Cambria Math" panose="02040503050406030204" pitchFamily="18" charset="0"/>
                        </a:rPr>
                        <m:t>𝑇𝐶𝐹</m:t>
                      </m:r>
                      <m:r>
                        <a:rPr lang="en-US" altLang="zh-CN" sz="2000" b="0" i="1" smtClean="0">
                          <a:solidFill>
                            <a:schemeClr val="tx1"/>
                          </a:solidFill>
                          <a:latin typeface="Cambria Math" panose="02040503050406030204" pitchFamily="18" charset="0"/>
                        </a:rPr>
                        <m:t>=0.65×0.01×</m:t>
                      </m:r>
                      <m:nary>
                        <m:naryPr>
                          <m:chr m:val="∑"/>
                          <m:ctrlPr>
                            <a:rPr lang="en-US" altLang="zh-CN" sz="2000" b="0" i="1" smtClean="0">
                              <a:solidFill>
                                <a:schemeClr val="tx1"/>
                              </a:solidFill>
                              <a:latin typeface="Cambria Math" panose="02040503050406030204" pitchFamily="18" charset="0"/>
                              <a:ea typeface="Cambria Math" panose="02040503050406030204" pitchFamily="18" charset="0"/>
                            </a:rPr>
                          </m:ctrlPr>
                        </m:naryPr>
                        <m:sub>
                          <m:r>
                            <m:rPr>
                              <m:sty m:val="p"/>
                              <m:brk m:alnAt="23"/>
                            </m:rPr>
                            <a:rPr lang="en-US" altLang="zh-CN" sz="2000" i="1">
                              <a:solidFill>
                                <a:schemeClr val="tx1"/>
                              </a:solidFill>
                              <a:latin typeface="Cambria Math" panose="02040503050406030204" pitchFamily="18" charset="0"/>
                              <a:ea typeface="Cambria Math" panose="02040503050406030204" pitchFamily="18" charset="0"/>
                            </a:rPr>
                            <m:t>i</m:t>
                          </m:r>
                          <m:r>
                            <a:rPr lang="en-US" altLang="zh-CN" sz="2000" b="0" i="1" smtClean="0">
                              <a:solidFill>
                                <a:schemeClr val="tx1"/>
                              </a:solidFill>
                              <a:latin typeface="Cambria Math" panose="02040503050406030204" pitchFamily="18" charset="0"/>
                              <a:ea typeface="Cambria Math" panose="02040503050406030204" pitchFamily="18" charset="0"/>
                            </a:rPr>
                            <m:t>=1</m:t>
                          </m:r>
                        </m:sub>
                        <m:sup>
                          <m:r>
                            <a:rPr lang="en-US" altLang="zh-CN" sz="2000" b="0" i="1" smtClean="0">
                              <a:solidFill>
                                <a:schemeClr val="tx1"/>
                              </a:solidFill>
                              <a:latin typeface="Cambria Math" panose="02040503050406030204" pitchFamily="18" charset="0"/>
                              <a:ea typeface="Cambria Math" panose="02040503050406030204" pitchFamily="18" charset="0"/>
                            </a:rPr>
                            <m:t>14</m:t>
                          </m:r>
                        </m:sup>
                        <m:e>
                          <m:r>
                            <a:rPr lang="en-US" altLang="zh-CN" sz="2000" b="0" i="1" smtClean="0">
                              <a:solidFill>
                                <a:schemeClr val="tx1"/>
                              </a:solidFill>
                              <a:latin typeface="Cambria Math" panose="02040503050406030204" pitchFamily="18" charset="0"/>
                              <a:ea typeface="Cambria Math" panose="02040503050406030204" pitchFamily="18" charset="0"/>
                            </a:rPr>
                            <m:t>𝐹𝑖</m:t>
                          </m:r>
                        </m:e>
                      </m:nary>
                      <m:r>
                        <a:rPr lang="en-US" altLang="zh-CN" sz="2000" b="0" i="1" smtClean="0">
                          <a:solidFill>
                            <a:schemeClr val="tx1"/>
                          </a:solidFill>
                          <a:latin typeface="Cambria Math" panose="02040503050406030204" pitchFamily="18" charset="0"/>
                        </a:rPr>
                        <m:t>=0.65</m:t>
                      </m:r>
                      <m:r>
                        <a:rPr lang="en-US" altLang="zh-CN" sz="2000" b="0" i="1" smtClean="0">
                          <a:solidFill>
                            <a:schemeClr val="tx1"/>
                          </a:solidFill>
                          <a:latin typeface="Cambria Math" panose="02040503050406030204" pitchFamily="18" charset="0"/>
                          <a:ea typeface="Cambria Math" panose="02040503050406030204" pitchFamily="18" charset="0"/>
                        </a:rPr>
                        <m:t>×0.01×14×3=1.07</m:t>
                      </m:r>
                    </m:oMath>
                  </m:oMathPara>
                </a14:m>
                <a:endParaRPr lang="zh-CN" altLang="en-US" sz="2000" dirty="0">
                  <a:solidFill>
                    <a:schemeClr val="tx1"/>
                  </a:solidFill>
                </a:endParaRPr>
              </a:p>
            </p:txBody>
          </p:sp>
        </mc:Choice>
        <mc:Fallback xmlns="">
          <p:sp>
            <p:nvSpPr>
              <p:cNvPr id="7" name="文本框 6">
                <a:extLst>
                  <a:ext uri="{FF2B5EF4-FFF2-40B4-BE49-F238E27FC236}">
                    <a16:creationId xmlns:a16="http://schemas.microsoft.com/office/drawing/2014/main" id="{64828201-7D1C-5271-90D9-F47451605834}"/>
                  </a:ext>
                </a:extLst>
              </p:cNvPr>
              <p:cNvSpPr txBox="1">
                <a:spLocks noRot="1" noChangeAspect="1" noMove="1" noResize="1" noEditPoints="1" noAdjustHandles="1" noChangeArrowheads="1" noChangeShapeType="1" noTextEdit="1"/>
              </p:cNvSpPr>
              <p:nvPr/>
            </p:nvSpPr>
            <p:spPr>
              <a:xfrm>
                <a:off x="3215999" y="4242623"/>
                <a:ext cx="6489533" cy="862993"/>
              </a:xfrm>
              <a:prstGeom prst="rect">
                <a:avLst/>
              </a:prstGeom>
              <a:blipFill>
                <a:blip r:embed="rId3"/>
                <a:stretch>
                  <a:fillRect/>
                </a:stretch>
              </a:blipFill>
            </p:spPr>
            <p:txBody>
              <a:bodyPr/>
              <a:lstStyle/>
              <a:p>
                <a:r>
                  <a:rPr lang="zh-CN" altLang="en-US">
                    <a:noFill/>
                  </a:rPr>
                  <a:t> </a:t>
                </a:r>
              </a:p>
            </p:txBody>
          </p:sp>
        </mc:Fallback>
      </mc:AlternateContent>
      <p:graphicFrame>
        <p:nvGraphicFramePr>
          <p:cNvPr id="8" name="表格 7">
            <a:extLst>
              <a:ext uri="{FF2B5EF4-FFF2-40B4-BE49-F238E27FC236}">
                <a16:creationId xmlns:a16="http://schemas.microsoft.com/office/drawing/2014/main" id="{08E91880-C44D-40BD-1C24-B8460AD2FF22}"/>
              </a:ext>
            </a:extLst>
          </p:cNvPr>
          <p:cNvGraphicFramePr>
            <a:graphicFrameLocks noGrp="1"/>
          </p:cNvGraphicFramePr>
          <p:nvPr>
            <p:extLst>
              <p:ext uri="{D42A27DB-BD31-4B8C-83A1-F6EECF244321}">
                <p14:modId xmlns:p14="http://schemas.microsoft.com/office/powerpoint/2010/main" val="2319958279"/>
              </p:ext>
            </p:extLst>
          </p:nvPr>
        </p:nvGraphicFramePr>
        <p:xfrm>
          <a:off x="3216000" y="488293"/>
          <a:ext cx="5760000" cy="27432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3116677463"/>
                    </a:ext>
                  </a:extLst>
                </a:gridCol>
                <a:gridCol w="1080000">
                  <a:extLst>
                    <a:ext uri="{9D8B030D-6E8A-4147-A177-3AD203B41FA5}">
                      <a16:colId xmlns:a16="http://schemas.microsoft.com/office/drawing/2014/main" val="777816078"/>
                    </a:ext>
                  </a:extLst>
                </a:gridCol>
                <a:gridCol w="1080000">
                  <a:extLst>
                    <a:ext uri="{9D8B030D-6E8A-4147-A177-3AD203B41FA5}">
                      <a16:colId xmlns:a16="http://schemas.microsoft.com/office/drawing/2014/main" val="318618899"/>
                    </a:ext>
                  </a:extLst>
                </a:gridCol>
                <a:gridCol w="1080000">
                  <a:extLst>
                    <a:ext uri="{9D8B030D-6E8A-4147-A177-3AD203B41FA5}">
                      <a16:colId xmlns:a16="http://schemas.microsoft.com/office/drawing/2014/main" val="2546742227"/>
                    </a:ext>
                  </a:extLst>
                </a:gridCol>
                <a:gridCol w="1080000">
                  <a:extLst>
                    <a:ext uri="{9D8B030D-6E8A-4147-A177-3AD203B41FA5}">
                      <a16:colId xmlns:a16="http://schemas.microsoft.com/office/drawing/2014/main" val="2778900052"/>
                    </a:ext>
                  </a:extLst>
                </a:gridCol>
              </a:tblGrid>
              <a:tr h="181720">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rPr>
                        <a:t>1. UFC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a:p>
                  </a:txBody>
                  <a:tcPr/>
                </a:tc>
                <a:tc hMerge="1">
                  <a:txBody>
                    <a:bodyPr/>
                    <a:lstStyle/>
                    <a:p>
                      <a:endParaRPr lang="zh-CN" altLang="en-US"/>
                    </a:p>
                  </a:txBody>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0165285"/>
                  </a:ext>
                </a:extLst>
              </a:tr>
              <a:tr h="181720">
                <a:tc rowSpan="2">
                  <a:txBody>
                    <a:bodyPr/>
                    <a:lstStyle/>
                    <a:p>
                      <a:pPr algn="ctr"/>
                      <a:r>
                        <a:rPr lang="zh-CN" altLang="en-US" sz="1400" dirty="0">
                          <a:solidFill>
                            <a:schemeClr val="tx1"/>
                          </a:solidFill>
                        </a:rPr>
                        <a:t>组件类型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a:r>
                        <a:rPr lang="zh-CN" altLang="en-US" sz="1400" dirty="0">
                          <a:solidFill>
                            <a:schemeClr val="tx1"/>
                          </a:solidFill>
                        </a:rPr>
                        <a:t>组件复杂度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788899"/>
                  </a:ext>
                </a:extLst>
              </a:tr>
              <a:tr h="181720">
                <a:tc vMerge="1">
                  <a:txBody>
                    <a:bodyPr/>
                    <a:lstStyle/>
                    <a:p>
                      <a:endParaRPr dirty="0"/>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solidFill>
                            <a:schemeClr val="tx1"/>
                          </a:solidFill>
                        </a:rPr>
                        <a:t>简单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solidFill>
                            <a:schemeClr val="tx1"/>
                          </a:solidFill>
                        </a:rPr>
                        <a:t>一般</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solidFill>
                            <a:schemeClr val="tx1"/>
                          </a:solidFill>
                        </a:rPr>
                        <a:t>复杂</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solidFill>
                            <a:schemeClr val="tx1"/>
                          </a:solidFill>
                        </a:rPr>
                        <a:t>全部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7111049"/>
                  </a:ext>
                </a:extLst>
              </a:tr>
              <a:tr h="181720">
                <a:tc>
                  <a:txBody>
                    <a:bodyPr/>
                    <a:lstStyle/>
                    <a:p>
                      <a:r>
                        <a:rPr lang="zh-CN" altLang="en-US" sz="1400" dirty="0">
                          <a:solidFill>
                            <a:schemeClr val="tx1"/>
                          </a:solidFill>
                        </a:rPr>
                        <a:t>外部输入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6×3= 18</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2×4= 8</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3×6= 18</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44</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82754"/>
                  </a:ext>
                </a:extLst>
              </a:tr>
              <a:tr h="181720">
                <a:tc>
                  <a:txBody>
                    <a:bodyPr/>
                    <a:lstStyle/>
                    <a:p>
                      <a:r>
                        <a:rPr lang="zh-CN" altLang="en-US" sz="1400" dirty="0">
                          <a:solidFill>
                            <a:schemeClr val="tx1"/>
                          </a:solidFill>
                        </a:rPr>
                        <a:t>外部输出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7×4= 28</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7×5= 35</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0×7= 0</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63</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5791767"/>
                  </a:ext>
                </a:extLst>
              </a:tr>
              <a:tr h="181720">
                <a:tc>
                  <a:txBody>
                    <a:bodyPr/>
                    <a:lstStyle/>
                    <a:p>
                      <a:r>
                        <a:rPr lang="zh-CN" altLang="en-US" sz="1400" dirty="0">
                          <a:solidFill>
                            <a:schemeClr val="tx1"/>
                          </a:solidFill>
                        </a:rPr>
                        <a:t>外部查询</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0×3= 0</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2×4= 8</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4×6= 24</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32</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3542103"/>
                  </a:ext>
                </a:extLst>
              </a:tr>
              <a:tr h="181720">
                <a:tc>
                  <a:txBody>
                    <a:bodyPr/>
                    <a:lstStyle/>
                    <a:p>
                      <a:r>
                        <a:rPr lang="zh-CN" altLang="en-US" sz="1400" dirty="0">
                          <a:solidFill>
                            <a:schemeClr val="tx1"/>
                          </a:solidFill>
                        </a:rPr>
                        <a:t>外部接口文件</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5×5= 25</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2×7= 14</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3×10= 30</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69</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51565742"/>
                  </a:ext>
                </a:extLst>
              </a:tr>
              <a:tr h="1817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a:solidFill>
                            <a:schemeClr val="tx1"/>
                          </a:solidFill>
                        </a:rPr>
                        <a:t>内部逻辑文件</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9×7= 63</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0×10= 0</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2×15= 30</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93</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51920973"/>
                  </a:ext>
                </a:extLst>
              </a:tr>
              <a:tr h="1817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solidFill>
                            <a:schemeClr val="tx1"/>
                          </a:solidFill>
                        </a:rPr>
                        <a:t>合计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301</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7588100"/>
                  </a:ext>
                </a:extLst>
              </a:tr>
            </a:tbl>
          </a:graphicData>
        </a:graphic>
      </p:graphicFrame>
    </p:spTree>
    <p:extLst>
      <p:ext uri="{BB962C8B-B14F-4D97-AF65-F5344CB8AC3E}">
        <p14:creationId xmlns:p14="http://schemas.microsoft.com/office/powerpoint/2010/main" val="96868166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60C74-7CD8-A620-9737-091A34B2FF42}"/>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40BF5876-3421-D7D7-273A-48C36EFC69B7}"/>
              </a:ext>
            </a:extLst>
          </p:cNvPr>
          <p:cNvSpPr txBox="1"/>
          <p:nvPr/>
        </p:nvSpPr>
        <p:spPr>
          <a:xfrm>
            <a:off x="3215999" y="3386688"/>
            <a:ext cx="793807" cy="338554"/>
          </a:xfrm>
          <a:prstGeom prst="rect">
            <a:avLst/>
          </a:prstGeom>
          <a:noFill/>
        </p:spPr>
        <p:txBody>
          <a:bodyPr wrap="none" rtlCol="0">
            <a:spAutoFit/>
          </a:bodyPr>
          <a:lstStyle/>
          <a:p>
            <a:r>
              <a:rPr lang="en-US" altLang="zh-CN" sz="1600" dirty="0"/>
              <a:t>2. TCF</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1078B0C4-8CCE-462E-BCB4-563CB404A5EC}"/>
                  </a:ext>
                </a:extLst>
              </p:cNvPr>
              <p:cNvSpPr txBox="1"/>
              <p:nvPr/>
            </p:nvSpPr>
            <p:spPr>
              <a:xfrm>
                <a:off x="3215999" y="3623191"/>
                <a:ext cx="6489533" cy="862993"/>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altLang="zh-CN" sz="2000" b="0" i="1" smtClean="0">
                          <a:solidFill>
                            <a:schemeClr val="tx1"/>
                          </a:solidFill>
                          <a:latin typeface="Cambria Math" panose="02040503050406030204" pitchFamily="18" charset="0"/>
                        </a:rPr>
                        <m:t>𝑇𝐶𝐹</m:t>
                      </m:r>
                      <m:r>
                        <a:rPr lang="en-US" altLang="zh-CN" sz="2000" b="0" i="1" smtClean="0">
                          <a:solidFill>
                            <a:schemeClr val="tx1"/>
                          </a:solidFill>
                          <a:latin typeface="Cambria Math" panose="02040503050406030204" pitchFamily="18" charset="0"/>
                        </a:rPr>
                        <m:t>=0.65×0.01×</m:t>
                      </m:r>
                      <m:nary>
                        <m:naryPr>
                          <m:chr m:val="∑"/>
                          <m:ctrlPr>
                            <a:rPr lang="en-US" altLang="zh-CN" sz="2000" b="0" i="1" smtClean="0">
                              <a:solidFill>
                                <a:schemeClr val="tx1"/>
                              </a:solidFill>
                              <a:latin typeface="Cambria Math" panose="02040503050406030204" pitchFamily="18" charset="0"/>
                              <a:ea typeface="Cambria Math" panose="02040503050406030204" pitchFamily="18" charset="0"/>
                            </a:rPr>
                          </m:ctrlPr>
                        </m:naryPr>
                        <m:sub>
                          <m:r>
                            <m:rPr>
                              <m:sty m:val="p"/>
                              <m:brk m:alnAt="23"/>
                            </m:rPr>
                            <a:rPr lang="en-US" altLang="zh-CN" sz="2000" i="1">
                              <a:solidFill>
                                <a:schemeClr val="tx1"/>
                              </a:solidFill>
                              <a:latin typeface="Cambria Math" panose="02040503050406030204" pitchFamily="18" charset="0"/>
                              <a:ea typeface="Cambria Math" panose="02040503050406030204" pitchFamily="18" charset="0"/>
                            </a:rPr>
                            <m:t>i</m:t>
                          </m:r>
                          <m:r>
                            <a:rPr lang="en-US" altLang="zh-CN" sz="2000" b="0" i="1" smtClean="0">
                              <a:solidFill>
                                <a:schemeClr val="tx1"/>
                              </a:solidFill>
                              <a:latin typeface="Cambria Math" panose="02040503050406030204" pitchFamily="18" charset="0"/>
                              <a:ea typeface="Cambria Math" panose="02040503050406030204" pitchFamily="18" charset="0"/>
                            </a:rPr>
                            <m:t>=1</m:t>
                          </m:r>
                        </m:sub>
                        <m:sup>
                          <m:r>
                            <a:rPr lang="en-US" altLang="zh-CN" sz="2000" b="0" i="1" smtClean="0">
                              <a:solidFill>
                                <a:schemeClr val="tx1"/>
                              </a:solidFill>
                              <a:latin typeface="Cambria Math" panose="02040503050406030204" pitchFamily="18" charset="0"/>
                              <a:ea typeface="Cambria Math" panose="02040503050406030204" pitchFamily="18" charset="0"/>
                            </a:rPr>
                            <m:t>14</m:t>
                          </m:r>
                        </m:sup>
                        <m:e>
                          <m:r>
                            <a:rPr lang="en-US" altLang="zh-CN" sz="2000" b="0" i="1" smtClean="0">
                              <a:solidFill>
                                <a:schemeClr val="tx1"/>
                              </a:solidFill>
                              <a:latin typeface="Cambria Math" panose="02040503050406030204" pitchFamily="18" charset="0"/>
                              <a:ea typeface="Cambria Math" panose="02040503050406030204" pitchFamily="18" charset="0"/>
                            </a:rPr>
                            <m:t>𝐹𝑖</m:t>
                          </m:r>
                        </m:e>
                      </m:nary>
                      <m:r>
                        <a:rPr lang="en-US" altLang="zh-CN" sz="2000" b="0" i="1" smtClean="0">
                          <a:solidFill>
                            <a:schemeClr val="tx1"/>
                          </a:solidFill>
                          <a:latin typeface="Cambria Math" panose="02040503050406030204" pitchFamily="18" charset="0"/>
                        </a:rPr>
                        <m:t>=0.65</m:t>
                      </m:r>
                      <m:r>
                        <a:rPr lang="en-US" altLang="zh-CN" sz="2000" b="0" i="1" smtClean="0">
                          <a:solidFill>
                            <a:schemeClr val="tx1"/>
                          </a:solidFill>
                          <a:latin typeface="Cambria Math" panose="02040503050406030204" pitchFamily="18" charset="0"/>
                          <a:ea typeface="Cambria Math" panose="02040503050406030204" pitchFamily="18" charset="0"/>
                        </a:rPr>
                        <m:t>×0.01×14×3=1.07</m:t>
                      </m:r>
                    </m:oMath>
                  </m:oMathPara>
                </a14:m>
                <a:endParaRPr lang="zh-CN" altLang="en-US" sz="2000" dirty="0">
                  <a:solidFill>
                    <a:schemeClr val="tx1"/>
                  </a:solidFill>
                </a:endParaRPr>
              </a:p>
            </p:txBody>
          </p:sp>
        </mc:Choice>
        <mc:Fallback xmlns="">
          <p:sp>
            <p:nvSpPr>
              <p:cNvPr id="7" name="文本框 6">
                <a:extLst>
                  <a:ext uri="{FF2B5EF4-FFF2-40B4-BE49-F238E27FC236}">
                    <a16:creationId xmlns:a16="http://schemas.microsoft.com/office/drawing/2014/main" id="{1078B0C4-8CCE-462E-BCB4-563CB404A5EC}"/>
                  </a:ext>
                </a:extLst>
              </p:cNvPr>
              <p:cNvSpPr txBox="1">
                <a:spLocks noRot="1" noChangeAspect="1" noMove="1" noResize="1" noEditPoints="1" noAdjustHandles="1" noChangeArrowheads="1" noChangeShapeType="1" noTextEdit="1"/>
              </p:cNvSpPr>
              <p:nvPr/>
            </p:nvSpPr>
            <p:spPr>
              <a:xfrm>
                <a:off x="3215999" y="3623191"/>
                <a:ext cx="6489533" cy="862993"/>
              </a:xfrm>
              <a:prstGeom prst="rect">
                <a:avLst/>
              </a:prstGeom>
              <a:blipFill>
                <a:blip r:embed="rId3"/>
                <a:stretch>
                  <a:fillRect/>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E2C3A84F-B57D-C78E-6B33-102433EC9F8B}"/>
              </a:ext>
            </a:extLst>
          </p:cNvPr>
          <p:cNvSpPr txBox="1"/>
          <p:nvPr/>
        </p:nvSpPr>
        <p:spPr>
          <a:xfrm>
            <a:off x="3215999" y="4515680"/>
            <a:ext cx="675185" cy="338554"/>
          </a:xfrm>
          <a:prstGeom prst="rect">
            <a:avLst/>
          </a:prstGeom>
          <a:noFill/>
        </p:spPr>
        <p:txBody>
          <a:bodyPr wrap="none" rtlCol="0">
            <a:spAutoFit/>
          </a:bodyPr>
          <a:lstStyle/>
          <a:p>
            <a:r>
              <a:rPr lang="en-US" altLang="zh-CN" sz="1600" dirty="0"/>
              <a:t>3. FP</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CB94C825-16AD-9ED6-59A1-5B7B0ED637E9}"/>
                  </a:ext>
                </a:extLst>
              </p:cNvPr>
              <p:cNvSpPr txBox="1"/>
              <p:nvPr/>
            </p:nvSpPr>
            <p:spPr>
              <a:xfrm>
                <a:off x="3215999" y="4894518"/>
                <a:ext cx="4292970" cy="307777"/>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altLang="zh-CN" sz="2000" b="0" i="1" smtClean="0">
                          <a:solidFill>
                            <a:schemeClr val="tx1"/>
                          </a:solidFill>
                          <a:latin typeface="Cambria Math" panose="02040503050406030204" pitchFamily="18" charset="0"/>
                        </a:rPr>
                        <m:t>𝐹𝑃</m:t>
                      </m:r>
                      <m:r>
                        <a:rPr lang="en-US" altLang="zh-CN" sz="2000" b="0" i="1" smtClean="0">
                          <a:solidFill>
                            <a:schemeClr val="tx1"/>
                          </a:solidFill>
                          <a:latin typeface="Cambria Math" panose="02040503050406030204" pitchFamily="18" charset="0"/>
                        </a:rPr>
                        <m:t>=</m:t>
                      </m:r>
                      <m:r>
                        <a:rPr lang="en-US" altLang="zh-CN" sz="2000" b="0" i="1" smtClean="0">
                          <a:solidFill>
                            <a:schemeClr val="tx1"/>
                          </a:solidFill>
                          <a:latin typeface="Cambria Math" panose="02040503050406030204" pitchFamily="18" charset="0"/>
                        </a:rPr>
                        <m:t>𝑈𝐹𝐶</m:t>
                      </m:r>
                      <m:r>
                        <a:rPr lang="en-US" altLang="zh-CN" sz="2000" b="0" i="1" smtClean="0">
                          <a:solidFill>
                            <a:schemeClr val="tx1"/>
                          </a:solidFill>
                          <a:latin typeface="Cambria Math" panose="02040503050406030204" pitchFamily="18" charset="0"/>
                          <a:ea typeface="Cambria Math" panose="02040503050406030204" pitchFamily="18" charset="0"/>
                        </a:rPr>
                        <m:t>×</m:t>
                      </m:r>
                      <m:r>
                        <a:rPr lang="en-US" altLang="zh-CN" sz="2000" b="0" i="1" smtClean="0">
                          <a:solidFill>
                            <a:schemeClr val="tx1"/>
                          </a:solidFill>
                          <a:latin typeface="Cambria Math" panose="02040503050406030204" pitchFamily="18" charset="0"/>
                          <a:ea typeface="Cambria Math" panose="02040503050406030204" pitchFamily="18" charset="0"/>
                        </a:rPr>
                        <m:t>𝑇𝐶𝐹</m:t>
                      </m:r>
                      <m:r>
                        <a:rPr lang="en-US" altLang="zh-CN" sz="2000" b="0" i="1" smtClean="0">
                          <a:solidFill>
                            <a:schemeClr val="tx1"/>
                          </a:solidFill>
                          <a:latin typeface="Cambria Math" panose="02040503050406030204" pitchFamily="18" charset="0"/>
                          <a:ea typeface="Cambria Math" panose="02040503050406030204" pitchFamily="18" charset="0"/>
                        </a:rPr>
                        <m:t>=301×1.07=322</m:t>
                      </m:r>
                    </m:oMath>
                  </m:oMathPara>
                </a14:m>
                <a:endParaRPr lang="zh-CN" altLang="en-US" sz="2000" dirty="0">
                  <a:solidFill>
                    <a:schemeClr val="tx1"/>
                  </a:solidFill>
                </a:endParaRPr>
              </a:p>
            </p:txBody>
          </p:sp>
        </mc:Choice>
        <mc:Fallback xmlns="">
          <p:sp>
            <p:nvSpPr>
              <p:cNvPr id="6" name="文本框 5">
                <a:extLst>
                  <a:ext uri="{FF2B5EF4-FFF2-40B4-BE49-F238E27FC236}">
                    <a16:creationId xmlns:a16="http://schemas.microsoft.com/office/drawing/2014/main" id="{CB94C825-16AD-9ED6-59A1-5B7B0ED637E9}"/>
                  </a:ext>
                </a:extLst>
              </p:cNvPr>
              <p:cNvSpPr txBox="1">
                <a:spLocks noRot="1" noChangeAspect="1" noMove="1" noResize="1" noEditPoints="1" noAdjustHandles="1" noChangeArrowheads="1" noChangeShapeType="1" noTextEdit="1"/>
              </p:cNvSpPr>
              <p:nvPr/>
            </p:nvSpPr>
            <p:spPr>
              <a:xfrm>
                <a:off x="3215999" y="4894518"/>
                <a:ext cx="4292970" cy="307777"/>
              </a:xfrm>
              <a:prstGeom prst="rect">
                <a:avLst/>
              </a:prstGeom>
              <a:blipFill>
                <a:blip r:embed="rId4"/>
                <a:stretch>
                  <a:fillRect l="-852" r="-710" b="-8000"/>
                </a:stretch>
              </a:blipFill>
            </p:spPr>
            <p:txBody>
              <a:bodyPr/>
              <a:lstStyle/>
              <a:p>
                <a:r>
                  <a:rPr lang="zh-CN" altLang="en-US">
                    <a:noFill/>
                  </a:rPr>
                  <a:t> </a:t>
                </a:r>
              </a:p>
            </p:txBody>
          </p:sp>
        </mc:Fallback>
      </mc:AlternateContent>
      <p:graphicFrame>
        <p:nvGraphicFramePr>
          <p:cNvPr id="9" name="表格 8">
            <a:extLst>
              <a:ext uri="{FF2B5EF4-FFF2-40B4-BE49-F238E27FC236}">
                <a16:creationId xmlns:a16="http://schemas.microsoft.com/office/drawing/2014/main" id="{66051794-DB22-1C43-A591-D0A358296163}"/>
              </a:ext>
            </a:extLst>
          </p:cNvPr>
          <p:cNvGraphicFramePr>
            <a:graphicFrameLocks noGrp="1"/>
          </p:cNvGraphicFramePr>
          <p:nvPr>
            <p:extLst>
              <p:ext uri="{D42A27DB-BD31-4B8C-83A1-F6EECF244321}">
                <p14:modId xmlns:p14="http://schemas.microsoft.com/office/powerpoint/2010/main" val="3171332256"/>
              </p:ext>
            </p:extLst>
          </p:nvPr>
        </p:nvGraphicFramePr>
        <p:xfrm>
          <a:off x="3216000" y="488293"/>
          <a:ext cx="5760000" cy="27432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3116677463"/>
                    </a:ext>
                  </a:extLst>
                </a:gridCol>
                <a:gridCol w="1080000">
                  <a:extLst>
                    <a:ext uri="{9D8B030D-6E8A-4147-A177-3AD203B41FA5}">
                      <a16:colId xmlns:a16="http://schemas.microsoft.com/office/drawing/2014/main" val="777816078"/>
                    </a:ext>
                  </a:extLst>
                </a:gridCol>
                <a:gridCol w="1080000">
                  <a:extLst>
                    <a:ext uri="{9D8B030D-6E8A-4147-A177-3AD203B41FA5}">
                      <a16:colId xmlns:a16="http://schemas.microsoft.com/office/drawing/2014/main" val="318618899"/>
                    </a:ext>
                  </a:extLst>
                </a:gridCol>
                <a:gridCol w="1080000">
                  <a:extLst>
                    <a:ext uri="{9D8B030D-6E8A-4147-A177-3AD203B41FA5}">
                      <a16:colId xmlns:a16="http://schemas.microsoft.com/office/drawing/2014/main" val="2546742227"/>
                    </a:ext>
                  </a:extLst>
                </a:gridCol>
                <a:gridCol w="1080000">
                  <a:extLst>
                    <a:ext uri="{9D8B030D-6E8A-4147-A177-3AD203B41FA5}">
                      <a16:colId xmlns:a16="http://schemas.microsoft.com/office/drawing/2014/main" val="2778900052"/>
                    </a:ext>
                  </a:extLst>
                </a:gridCol>
              </a:tblGrid>
              <a:tr h="181720">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rPr>
                        <a:t>1. UFC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a:p>
                  </a:txBody>
                  <a:tcPr/>
                </a:tc>
                <a:tc hMerge="1">
                  <a:txBody>
                    <a:bodyPr/>
                    <a:lstStyle/>
                    <a:p>
                      <a:endParaRPr lang="zh-CN" altLang="en-US"/>
                    </a:p>
                  </a:txBody>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0165285"/>
                  </a:ext>
                </a:extLst>
              </a:tr>
              <a:tr h="181720">
                <a:tc rowSpan="2">
                  <a:txBody>
                    <a:bodyPr/>
                    <a:lstStyle/>
                    <a:p>
                      <a:pPr algn="ctr"/>
                      <a:r>
                        <a:rPr lang="zh-CN" altLang="en-US" sz="1400" dirty="0">
                          <a:solidFill>
                            <a:schemeClr val="tx1"/>
                          </a:solidFill>
                        </a:rPr>
                        <a:t>组件类型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a:r>
                        <a:rPr lang="zh-CN" altLang="en-US" sz="1400" dirty="0">
                          <a:solidFill>
                            <a:schemeClr val="tx1"/>
                          </a:solidFill>
                        </a:rPr>
                        <a:t>组件复杂度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788899"/>
                  </a:ext>
                </a:extLst>
              </a:tr>
              <a:tr h="181720">
                <a:tc vMerge="1">
                  <a:txBody>
                    <a:bodyPr/>
                    <a:lstStyle/>
                    <a:p>
                      <a:endParaRPr dirty="0"/>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solidFill>
                            <a:schemeClr val="tx1"/>
                          </a:solidFill>
                        </a:rPr>
                        <a:t>简单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solidFill>
                            <a:schemeClr val="tx1"/>
                          </a:solidFill>
                        </a:rPr>
                        <a:t>一般</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solidFill>
                            <a:schemeClr val="tx1"/>
                          </a:solidFill>
                        </a:rPr>
                        <a:t>复杂</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solidFill>
                            <a:schemeClr val="tx1"/>
                          </a:solidFill>
                        </a:rPr>
                        <a:t>全部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7111049"/>
                  </a:ext>
                </a:extLst>
              </a:tr>
              <a:tr h="181720">
                <a:tc>
                  <a:txBody>
                    <a:bodyPr/>
                    <a:lstStyle/>
                    <a:p>
                      <a:r>
                        <a:rPr lang="zh-CN" altLang="en-US" sz="1400" dirty="0">
                          <a:solidFill>
                            <a:schemeClr val="tx1"/>
                          </a:solidFill>
                        </a:rPr>
                        <a:t>外部输入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6×3= 18</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2×4= 8</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3×6= 18</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44</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82754"/>
                  </a:ext>
                </a:extLst>
              </a:tr>
              <a:tr h="181720">
                <a:tc>
                  <a:txBody>
                    <a:bodyPr/>
                    <a:lstStyle/>
                    <a:p>
                      <a:r>
                        <a:rPr lang="zh-CN" altLang="en-US" sz="1400" dirty="0">
                          <a:solidFill>
                            <a:schemeClr val="tx1"/>
                          </a:solidFill>
                        </a:rPr>
                        <a:t>外部输出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7×4= 28</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7×5= 35</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0×7= 0</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63</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5791767"/>
                  </a:ext>
                </a:extLst>
              </a:tr>
              <a:tr h="181720">
                <a:tc>
                  <a:txBody>
                    <a:bodyPr/>
                    <a:lstStyle/>
                    <a:p>
                      <a:r>
                        <a:rPr lang="zh-CN" altLang="en-US" sz="1400" dirty="0">
                          <a:solidFill>
                            <a:schemeClr val="tx1"/>
                          </a:solidFill>
                        </a:rPr>
                        <a:t>外部查询</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0×3= 0</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2×4= 8</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4×6= 24</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32</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3542103"/>
                  </a:ext>
                </a:extLst>
              </a:tr>
              <a:tr h="181720">
                <a:tc>
                  <a:txBody>
                    <a:bodyPr/>
                    <a:lstStyle/>
                    <a:p>
                      <a:r>
                        <a:rPr lang="zh-CN" altLang="en-US" sz="1400" dirty="0">
                          <a:solidFill>
                            <a:schemeClr val="tx1"/>
                          </a:solidFill>
                        </a:rPr>
                        <a:t>外部接口文件</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5×5= 25</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2×7= 14</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3×10= 30</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69</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51565742"/>
                  </a:ext>
                </a:extLst>
              </a:tr>
              <a:tr h="1817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a:solidFill>
                            <a:schemeClr val="tx1"/>
                          </a:solidFill>
                        </a:rPr>
                        <a:t>内部逻辑文件</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9×7= 63</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0×10= 0</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2×15= 30</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93</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51920973"/>
                  </a:ext>
                </a:extLst>
              </a:tr>
              <a:tr h="1817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solidFill>
                            <a:schemeClr val="tx1"/>
                          </a:solidFill>
                        </a:rPr>
                        <a:t>合计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301</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7588100"/>
                  </a:ext>
                </a:extLst>
              </a:tr>
            </a:tbl>
          </a:graphicData>
        </a:graphic>
      </p:graphicFrame>
    </p:spTree>
    <p:extLst>
      <p:ext uri="{BB962C8B-B14F-4D97-AF65-F5344CB8AC3E}">
        <p14:creationId xmlns:p14="http://schemas.microsoft.com/office/powerpoint/2010/main" val="259969203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D34500-A72B-0D4A-5349-65B8E12CC1D7}"/>
              </a:ext>
            </a:extLst>
          </p:cNvPr>
          <p:cNvSpPr>
            <a:spLocks noGrp="1"/>
          </p:cNvSpPr>
          <p:nvPr>
            <p:ph type="title"/>
          </p:nvPr>
        </p:nvSpPr>
        <p:spPr>
          <a:xfrm>
            <a:off x="792000" y="360000"/>
            <a:ext cx="6375921" cy="429413"/>
          </a:xfrm>
        </p:spPr>
        <p:txBody>
          <a:bodyPr/>
          <a:lstStyle/>
          <a:p>
            <a:r>
              <a:rPr lang="en-US" altLang="zh-CN" dirty="0"/>
              <a:t>6.2.2.2 NESMA</a:t>
            </a:r>
            <a:endParaRPr lang="zh-CN" altLang="en-US" dirty="0"/>
          </a:p>
        </p:txBody>
      </p:sp>
      <p:sp>
        <p:nvSpPr>
          <p:cNvPr id="3" name="内容占位符 2">
            <a:extLst>
              <a:ext uri="{FF2B5EF4-FFF2-40B4-BE49-F238E27FC236}">
                <a16:creationId xmlns:a16="http://schemas.microsoft.com/office/drawing/2014/main" id="{C5147545-24FE-3C23-F565-F26E51E4BB82}"/>
              </a:ext>
            </a:extLst>
          </p:cNvPr>
          <p:cNvSpPr>
            <a:spLocks noGrp="1"/>
          </p:cNvSpPr>
          <p:nvPr>
            <p:ph idx="1"/>
          </p:nvPr>
        </p:nvSpPr>
        <p:spPr>
          <a:xfrm>
            <a:off x="696000" y="864000"/>
            <a:ext cx="10800000" cy="5400000"/>
          </a:xfrm>
        </p:spPr>
        <p:txBody>
          <a:bodyPr/>
          <a:lstStyle/>
          <a:p>
            <a:r>
              <a:rPr lang="en-US" altLang="zh-CN" dirty="0"/>
              <a:t>IFPUG</a:t>
            </a:r>
            <a:r>
              <a:rPr lang="zh-CN" altLang="en-US" dirty="0"/>
              <a:t>的扩展与简化</a:t>
            </a:r>
          </a:p>
          <a:p>
            <a:r>
              <a:rPr lang="zh-CN" altLang="en-US" dirty="0"/>
              <a:t>提供三种估算方式</a:t>
            </a:r>
            <a:endParaRPr lang="en-US" altLang="zh-CN" dirty="0"/>
          </a:p>
          <a:p>
            <a:pPr lvl="1"/>
            <a:r>
              <a:rPr lang="zh-CN" altLang="en-US" dirty="0"/>
              <a:t>指示功能点计数：</a:t>
            </a:r>
            <a:r>
              <a:rPr lang="en-US" altLang="zh-CN" dirty="0"/>
              <a:t> UFP = 35 × ILF + 15 × EIF</a:t>
            </a:r>
          </a:p>
          <a:p>
            <a:pPr lvl="1"/>
            <a:r>
              <a:rPr lang="zh-CN" altLang="en-US" dirty="0"/>
              <a:t>估算功能点计数：</a:t>
            </a:r>
            <a:r>
              <a:rPr lang="en-US" altLang="zh-CN" dirty="0"/>
              <a:t>UFP = 7 × ILF + 5 × EIF + 4 × EI + 5 × EO + 4 × EQ</a:t>
            </a:r>
          </a:p>
          <a:p>
            <a:pPr lvl="1"/>
            <a:r>
              <a:rPr lang="zh-CN" altLang="en-US" dirty="0"/>
              <a:t>详细功能点计数；同 </a:t>
            </a:r>
            <a:r>
              <a:rPr lang="en-US" altLang="zh-CN" dirty="0"/>
              <a:t>IFPUG</a:t>
            </a:r>
            <a:endParaRPr lang="zh-CN" altLang="en-US" dirty="0"/>
          </a:p>
          <a:p>
            <a:r>
              <a:rPr lang="zh-CN" altLang="en-US" dirty="0"/>
              <a:t>优势：效率高且足够准确</a:t>
            </a:r>
          </a:p>
          <a:p>
            <a:endParaRPr lang="zh-CN" altLang="en-US" dirty="0"/>
          </a:p>
        </p:txBody>
      </p:sp>
      <p:sp>
        <p:nvSpPr>
          <p:cNvPr id="6" name="文本占位符 5">
            <a:extLst>
              <a:ext uri="{FF2B5EF4-FFF2-40B4-BE49-F238E27FC236}">
                <a16:creationId xmlns:a16="http://schemas.microsoft.com/office/drawing/2014/main" id="{F637CE65-4685-CDFA-1E9C-F034AE8FA4ED}"/>
              </a:ext>
            </a:extLst>
          </p:cNvPr>
          <p:cNvSpPr>
            <a:spLocks noGrp="1"/>
          </p:cNvSpPr>
          <p:nvPr>
            <p:ph type="body" sz="quarter" idx="10"/>
          </p:nvPr>
        </p:nvSpPr>
        <p:spPr>
          <a:xfrm>
            <a:off x="7071919" y="448519"/>
            <a:ext cx="4424080" cy="338554"/>
          </a:xfrm>
        </p:spPr>
        <p:txBody>
          <a:bodyPr/>
          <a:lstStyle/>
          <a:p>
            <a:r>
              <a:rPr lang="en-US" altLang="zh-CN" dirty="0"/>
              <a:t>FP/Traditional</a:t>
            </a:r>
            <a:endParaRPr lang="zh-CN" altLang="en-US" dirty="0"/>
          </a:p>
        </p:txBody>
      </p:sp>
    </p:spTree>
    <p:extLst>
      <p:ext uri="{BB962C8B-B14F-4D97-AF65-F5344CB8AC3E}">
        <p14:creationId xmlns:p14="http://schemas.microsoft.com/office/powerpoint/2010/main" val="2179341914"/>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F27FCA-52C8-2347-C35F-F6539E583DEB}"/>
              </a:ext>
            </a:extLst>
          </p:cNvPr>
          <p:cNvSpPr>
            <a:spLocks noGrp="1"/>
          </p:cNvSpPr>
          <p:nvPr>
            <p:ph type="title"/>
          </p:nvPr>
        </p:nvSpPr>
        <p:spPr>
          <a:xfrm>
            <a:off x="792000" y="360000"/>
            <a:ext cx="6375921" cy="429413"/>
          </a:xfrm>
        </p:spPr>
        <p:txBody>
          <a:bodyPr/>
          <a:lstStyle/>
          <a:p>
            <a:r>
              <a:rPr lang="en-US" altLang="zh-CN" dirty="0"/>
              <a:t>6.2.2.3 COSMIC</a:t>
            </a:r>
            <a:endParaRPr lang="zh-CN" altLang="en-US" dirty="0"/>
          </a:p>
        </p:txBody>
      </p:sp>
      <p:sp>
        <p:nvSpPr>
          <p:cNvPr id="3" name="内容占位符 2">
            <a:extLst>
              <a:ext uri="{FF2B5EF4-FFF2-40B4-BE49-F238E27FC236}">
                <a16:creationId xmlns:a16="http://schemas.microsoft.com/office/drawing/2014/main" id="{CED785A8-7DD7-13F1-1C19-2F765E0A742D}"/>
              </a:ext>
            </a:extLst>
          </p:cNvPr>
          <p:cNvSpPr>
            <a:spLocks noGrp="1"/>
          </p:cNvSpPr>
          <p:nvPr>
            <p:ph idx="1"/>
          </p:nvPr>
        </p:nvSpPr>
        <p:spPr>
          <a:xfrm>
            <a:off x="696000" y="864000"/>
            <a:ext cx="10800000" cy="5400000"/>
          </a:xfrm>
        </p:spPr>
        <p:txBody>
          <a:bodyPr/>
          <a:lstStyle/>
          <a:p>
            <a:r>
              <a:rPr lang="zh-CN" altLang="en-US" dirty="0"/>
              <a:t>以数据移动为核心的现代方法</a:t>
            </a:r>
          </a:p>
          <a:p>
            <a:r>
              <a:rPr lang="zh-CN" altLang="en-US" dirty="0"/>
              <a:t>核心理念：</a:t>
            </a:r>
            <a:endParaRPr lang="en-US" altLang="zh-CN" dirty="0"/>
          </a:p>
          <a:p>
            <a:pPr lvl="1"/>
            <a:r>
              <a:rPr lang="zh-CN" altLang="en-US" dirty="0"/>
              <a:t>不依赖功能类型分类，而是通过“数据移动”来度量软件规模</a:t>
            </a:r>
            <a:endParaRPr lang="en-US" altLang="zh-CN" dirty="0"/>
          </a:p>
          <a:p>
            <a:pPr lvl="1"/>
            <a:r>
              <a:rPr lang="zh-CN" altLang="en-US" dirty="0"/>
              <a:t>每个数据移动（</a:t>
            </a:r>
            <a:r>
              <a:rPr lang="en-US" altLang="zh-CN" dirty="0"/>
              <a:t>Entry</a:t>
            </a:r>
            <a:r>
              <a:rPr lang="zh-CN" altLang="en-US" dirty="0"/>
              <a:t>、</a:t>
            </a:r>
            <a:r>
              <a:rPr lang="en-US" altLang="zh-CN" dirty="0"/>
              <a:t>Exit</a:t>
            </a:r>
            <a:r>
              <a:rPr lang="zh-CN" altLang="en-US" dirty="0"/>
              <a:t>、</a:t>
            </a:r>
            <a:r>
              <a:rPr lang="en-US" altLang="zh-CN" dirty="0"/>
              <a:t>Read</a:t>
            </a:r>
            <a:r>
              <a:rPr lang="zh-CN" altLang="en-US" dirty="0"/>
              <a:t>、</a:t>
            </a:r>
            <a:r>
              <a:rPr lang="en-US" altLang="zh-CN" dirty="0"/>
              <a:t>Write</a:t>
            </a:r>
            <a:r>
              <a:rPr lang="zh-CN" altLang="en-US" dirty="0"/>
              <a:t>）计为一个 </a:t>
            </a:r>
            <a:r>
              <a:rPr lang="en-US" altLang="zh-CN" dirty="0"/>
              <a:t>COSMIC </a:t>
            </a:r>
            <a:r>
              <a:rPr lang="zh-CN" altLang="en-US" dirty="0"/>
              <a:t>功能点（</a:t>
            </a:r>
            <a:r>
              <a:rPr lang="en-US" altLang="zh-CN" dirty="0"/>
              <a:t>CFP</a:t>
            </a:r>
            <a:r>
              <a:rPr lang="zh-CN" altLang="en-US" dirty="0"/>
              <a:t>）</a:t>
            </a:r>
          </a:p>
          <a:p>
            <a:r>
              <a:rPr lang="zh-CN" altLang="en-US" dirty="0"/>
              <a:t>适用性：</a:t>
            </a:r>
            <a:endParaRPr lang="en-US" altLang="zh-CN" dirty="0"/>
          </a:p>
          <a:p>
            <a:pPr lvl="1"/>
            <a:r>
              <a:rPr lang="zh-CN" altLang="en-US" dirty="0"/>
              <a:t>适用于任何类型软件（包括嵌入式、实时系统、业务应用等），不受技术平台限制。</a:t>
            </a:r>
          </a:p>
          <a:p>
            <a:r>
              <a:rPr lang="zh-CN" altLang="en-US" dirty="0"/>
              <a:t>优势：</a:t>
            </a:r>
            <a:endParaRPr lang="en-US" altLang="zh-CN" dirty="0"/>
          </a:p>
          <a:p>
            <a:pPr lvl="1"/>
            <a:r>
              <a:rPr lang="zh-CN" altLang="en-US" dirty="0"/>
              <a:t>更客观、可重复性强，尤其适合复杂系统或跨平台项目，是</a:t>
            </a:r>
            <a:r>
              <a:rPr lang="en-US" altLang="zh-CN" dirty="0"/>
              <a:t>ISO</a:t>
            </a:r>
            <a:r>
              <a:rPr lang="zh-CN" altLang="en-US" dirty="0"/>
              <a:t>国际标准（</a:t>
            </a:r>
            <a:r>
              <a:rPr lang="en-US" altLang="zh-CN" dirty="0"/>
              <a:t>ISO/IEC 19761</a:t>
            </a:r>
            <a:r>
              <a:rPr lang="zh-CN" altLang="en-US" dirty="0"/>
              <a:t>）</a:t>
            </a:r>
          </a:p>
          <a:p>
            <a:endParaRPr lang="zh-CN" altLang="en-US" dirty="0"/>
          </a:p>
        </p:txBody>
      </p:sp>
      <p:sp>
        <p:nvSpPr>
          <p:cNvPr id="7" name="文本占位符 6">
            <a:extLst>
              <a:ext uri="{FF2B5EF4-FFF2-40B4-BE49-F238E27FC236}">
                <a16:creationId xmlns:a16="http://schemas.microsoft.com/office/drawing/2014/main" id="{BD927B9A-9C0D-3818-4614-404ACB2E52B0}"/>
              </a:ext>
            </a:extLst>
          </p:cNvPr>
          <p:cNvSpPr>
            <a:spLocks noGrp="1"/>
          </p:cNvSpPr>
          <p:nvPr>
            <p:ph type="body" sz="quarter" idx="10"/>
          </p:nvPr>
        </p:nvSpPr>
        <p:spPr>
          <a:xfrm>
            <a:off x="7071919" y="448519"/>
            <a:ext cx="4424080" cy="338554"/>
          </a:xfrm>
        </p:spPr>
        <p:txBody>
          <a:bodyPr/>
          <a:lstStyle/>
          <a:p>
            <a:r>
              <a:rPr lang="en-US" altLang="zh-CN" dirty="0"/>
              <a:t>FP/Traditional</a:t>
            </a:r>
            <a:endParaRPr lang="zh-CN" altLang="en-US" dirty="0"/>
          </a:p>
        </p:txBody>
      </p:sp>
    </p:spTree>
    <p:extLst>
      <p:ext uri="{BB962C8B-B14F-4D97-AF65-F5344CB8AC3E}">
        <p14:creationId xmlns:p14="http://schemas.microsoft.com/office/powerpoint/2010/main" val="3866669989"/>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格 5">
            <a:extLst>
              <a:ext uri="{FF2B5EF4-FFF2-40B4-BE49-F238E27FC236}">
                <a16:creationId xmlns:a16="http://schemas.microsoft.com/office/drawing/2014/main" id="{5EEC778E-D898-8CDC-B175-BDA92866A678}"/>
              </a:ext>
            </a:extLst>
          </p:cNvPr>
          <p:cNvGraphicFramePr>
            <a:graphicFrameLocks noGrp="1"/>
          </p:cNvGraphicFramePr>
          <p:nvPr>
            <p:extLst>
              <p:ext uri="{D42A27DB-BD31-4B8C-83A1-F6EECF244321}">
                <p14:modId xmlns:p14="http://schemas.microsoft.com/office/powerpoint/2010/main" val="329117891"/>
              </p:ext>
            </p:extLst>
          </p:nvPr>
        </p:nvGraphicFramePr>
        <p:xfrm>
          <a:off x="2856000" y="2872740"/>
          <a:ext cx="6480000" cy="1112520"/>
        </p:xfrm>
        <a:graphic>
          <a:graphicData uri="http://schemas.openxmlformats.org/drawingml/2006/table">
            <a:tbl>
              <a:tblPr firstRow="1" bandRow="1">
                <a:tableStyleId>{5C22544A-7EE6-4342-B048-85BDC9FD1C3A}</a:tableStyleId>
              </a:tblPr>
              <a:tblGrid>
                <a:gridCol w="2160000">
                  <a:extLst>
                    <a:ext uri="{9D8B030D-6E8A-4147-A177-3AD203B41FA5}">
                      <a16:colId xmlns:a16="http://schemas.microsoft.com/office/drawing/2014/main" val="552502807"/>
                    </a:ext>
                  </a:extLst>
                </a:gridCol>
                <a:gridCol w="4320000">
                  <a:extLst>
                    <a:ext uri="{9D8B030D-6E8A-4147-A177-3AD203B41FA5}">
                      <a16:colId xmlns:a16="http://schemas.microsoft.com/office/drawing/2014/main" val="510031695"/>
                    </a:ext>
                  </a:extLst>
                </a:gridCol>
              </a:tblGrid>
              <a:tr h="37084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sz="1400" b="0" dirty="0">
                          <a:solidFill>
                            <a:schemeClr val="tx1"/>
                          </a:solidFill>
                        </a:rPr>
                        <a:t>IFPUG</a:t>
                      </a:r>
                      <a:endParaRPr lang="zh-CN"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zh-CN" altLang="en-US" sz="1400" b="0" dirty="0">
                          <a:solidFill>
                            <a:schemeClr val="tx1"/>
                          </a:solidFill>
                        </a:rPr>
                        <a:t>传统权威，适合成熟项目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6462216"/>
                  </a:ext>
                </a:extLst>
              </a:tr>
              <a:tr h="370840">
                <a:tc>
                  <a:txBody>
                    <a:bodyPr/>
                    <a:lstStyle/>
                    <a:p>
                      <a:pPr algn="r"/>
                      <a:r>
                        <a:rPr lang="en-US" altLang="zh-CN" sz="1400" dirty="0">
                          <a:solidFill>
                            <a:schemeClr val="tx1"/>
                          </a:solidFill>
                        </a:rPr>
                        <a:t>NESMA</a:t>
                      </a:r>
                      <a:endParaRPr lang="zh-CN" alt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400" dirty="0">
                          <a:solidFill>
                            <a:schemeClr val="tx1"/>
                          </a:solidFill>
                        </a:rPr>
                        <a:t>IFPUG </a:t>
                      </a:r>
                      <a:r>
                        <a:rPr lang="zh-CN" altLang="en-US" sz="1400" dirty="0">
                          <a:solidFill>
                            <a:schemeClr val="tx1"/>
                          </a:solidFill>
                        </a:rPr>
                        <a:t>的轻量版，适合快速估算</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2506439"/>
                  </a:ext>
                </a:extLst>
              </a:tr>
              <a:tr h="370840">
                <a:tc>
                  <a:txBody>
                    <a:bodyPr/>
                    <a:lstStyle/>
                    <a:p>
                      <a:pPr algn="r"/>
                      <a:r>
                        <a:rPr lang="en-US" altLang="zh-CN" sz="1400" dirty="0">
                          <a:solidFill>
                            <a:schemeClr val="tx1"/>
                          </a:solidFill>
                        </a:rPr>
                        <a:t>COSMIC</a:t>
                      </a:r>
                      <a:endParaRPr lang="zh-CN" alt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zh-CN" altLang="en-US" sz="1400" dirty="0">
                          <a:solidFill>
                            <a:schemeClr val="tx1"/>
                          </a:solidFill>
                        </a:rPr>
                        <a:t>现代通用型，适合复杂或非传统软件</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1882925"/>
                  </a:ext>
                </a:extLst>
              </a:tr>
            </a:tbl>
          </a:graphicData>
        </a:graphic>
      </p:graphicFrame>
    </p:spTree>
    <p:extLst>
      <p:ext uri="{BB962C8B-B14F-4D97-AF65-F5344CB8AC3E}">
        <p14:creationId xmlns:p14="http://schemas.microsoft.com/office/powerpoint/2010/main" val="1432981418"/>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467B1-01BA-8A5F-E9FF-B454555250F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9FD5CD7-B8A7-3484-DFE3-294C71859AB1}"/>
              </a:ext>
            </a:extLst>
          </p:cNvPr>
          <p:cNvSpPr>
            <a:spLocks noGrp="1"/>
          </p:cNvSpPr>
          <p:nvPr>
            <p:ph type="title"/>
          </p:nvPr>
        </p:nvSpPr>
        <p:spPr>
          <a:xfrm>
            <a:off x="792000" y="360000"/>
            <a:ext cx="6375921" cy="429413"/>
          </a:xfrm>
        </p:spPr>
        <p:txBody>
          <a:bodyPr/>
          <a:lstStyle/>
          <a:p>
            <a:r>
              <a:rPr lang="en-US" altLang="zh-CN" dirty="0"/>
              <a:t>6.2.3 </a:t>
            </a:r>
            <a:r>
              <a:rPr lang="zh-CN" altLang="en-US" dirty="0"/>
              <a:t>用例点估算</a:t>
            </a:r>
            <a:r>
              <a:rPr lang="en-US" altLang="zh-CN" dirty="0"/>
              <a:t> </a:t>
            </a:r>
            <a:endParaRPr lang="zh-CN" altLang="en-US" dirty="0"/>
          </a:p>
        </p:txBody>
      </p:sp>
      <p:sp>
        <p:nvSpPr>
          <p:cNvPr id="10" name="内容占位符 9">
            <a:extLst>
              <a:ext uri="{FF2B5EF4-FFF2-40B4-BE49-F238E27FC236}">
                <a16:creationId xmlns:a16="http://schemas.microsoft.com/office/drawing/2014/main" id="{564A403D-B672-48FD-DBC7-09CE3B705EFD}"/>
              </a:ext>
            </a:extLst>
          </p:cNvPr>
          <p:cNvSpPr>
            <a:spLocks noGrp="1"/>
          </p:cNvSpPr>
          <p:nvPr>
            <p:ph idx="1"/>
          </p:nvPr>
        </p:nvSpPr>
        <p:spPr>
          <a:xfrm>
            <a:off x="696000" y="864000"/>
            <a:ext cx="10800000" cy="5400000"/>
          </a:xfrm>
        </p:spPr>
        <p:txBody>
          <a:bodyPr/>
          <a:lstStyle/>
          <a:p>
            <a:r>
              <a:rPr lang="en-US" altLang="zh-CN" dirty="0"/>
              <a:t>User Case Point</a:t>
            </a:r>
          </a:p>
          <a:p>
            <a:r>
              <a:rPr lang="zh-CN" altLang="en-US" dirty="0"/>
              <a:t>通过分析用例角色、场景和技术与环境因子等进行估算</a:t>
            </a:r>
            <a:endParaRPr lang="en-US" altLang="zh-CN" dirty="0"/>
          </a:p>
          <a:p>
            <a:r>
              <a:rPr lang="en-US" altLang="zh-CN" dirty="0"/>
              <a:t>1993</a:t>
            </a:r>
            <a:r>
              <a:rPr lang="zh-CN" altLang="en-US" dirty="0"/>
              <a:t>年提出</a:t>
            </a:r>
          </a:p>
        </p:txBody>
      </p:sp>
      <p:sp>
        <p:nvSpPr>
          <p:cNvPr id="7" name="文本占位符 6">
            <a:extLst>
              <a:ext uri="{FF2B5EF4-FFF2-40B4-BE49-F238E27FC236}">
                <a16:creationId xmlns:a16="http://schemas.microsoft.com/office/drawing/2014/main" id="{1E43F02E-8E9C-846D-D7CC-D3CDE8C5F7D9}"/>
              </a:ext>
            </a:extLst>
          </p:cNvPr>
          <p:cNvSpPr>
            <a:spLocks noGrp="1"/>
          </p:cNvSpPr>
          <p:nvPr>
            <p:ph type="body" sz="quarter" idx="10"/>
          </p:nvPr>
        </p:nvSpPr>
        <p:spPr>
          <a:xfrm>
            <a:off x="7071919" y="448519"/>
            <a:ext cx="4424080" cy="338554"/>
          </a:xfrm>
        </p:spPr>
        <p:txBody>
          <a:bodyPr/>
          <a:lstStyle/>
          <a:p>
            <a:r>
              <a:rPr lang="en-US" altLang="zh-CN" dirty="0"/>
              <a:t>UCP/Traditional</a:t>
            </a:r>
            <a:endParaRPr lang="zh-CN" altLang="en-US" dirty="0"/>
          </a:p>
        </p:txBody>
      </p:sp>
      <p:graphicFrame>
        <p:nvGraphicFramePr>
          <p:cNvPr id="14" name="表格 13">
            <a:extLst>
              <a:ext uri="{FF2B5EF4-FFF2-40B4-BE49-F238E27FC236}">
                <a16:creationId xmlns:a16="http://schemas.microsoft.com/office/drawing/2014/main" id="{5192596E-79B9-B17D-C2EF-7C916D77144D}"/>
              </a:ext>
            </a:extLst>
          </p:cNvPr>
          <p:cNvGraphicFramePr>
            <a:graphicFrameLocks noGrp="1"/>
          </p:cNvGraphicFramePr>
          <p:nvPr>
            <p:extLst>
              <p:ext uri="{D42A27DB-BD31-4B8C-83A1-F6EECF244321}">
                <p14:modId xmlns:p14="http://schemas.microsoft.com/office/powerpoint/2010/main" val="2077527391"/>
              </p:ext>
            </p:extLst>
          </p:nvPr>
        </p:nvGraphicFramePr>
        <p:xfrm>
          <a:off x="1956000" y="2390457"/>
          <a:ext cx="8280000" cy="2133600"/>
        </p:xfrm>
        <a:graphic>
          <a:graphicData uri="http://schemas.openxmlformats.org/drawingml/2006/table">
            <a:tbl>
              <a:tblPr firstRow="1" bandRow="1">
                <a:tableStyleId>{5C22544A-7EE6-4342-B048-85BDC9FD1C3A}</a:tableStyleId>
              </a:tblPr>
              <a:tblGrid>
                <a:gridCol w="1080000">
                  <a:extLst>
                    <a:ext uri="{9D8B030D-6E8A-4147-A177-3AD203B41FA5}">
                      <a16:colId xmlns:a16="http://schemas.microsoft.com/office/drawing/2014/main" val="823369943"/>
                    </a:ext>
                  </a:extLst>
                </a:gridCol>
                <a:gridCol w="1440000">
                  <a:extLst>
                    <a:ext uri="{9D8B030D-6E8A-4147-A177-3AD203B41FA5}">
                      <a16:colId xmlns:a16="http://schemas.microsoft.com/office/drawing/2014/main" val="2090664318"/>
                    </a:ext>
                  </a:extLst>
                </a:gridCol>
                <a:gridCol w="5760000">
                  <a:extLst>
                    <a:ext uri="{9D8B030D-6E8A-4147-A177-3AD203B41FA5}">
                      <a16:colId xmlns:a16="http://schemas.microsoft.com/office/drawing/2014/main" val="3002863091"/>
                    </a:ext>
                  </a:extLst>
                </a:gridCol>
              </a:tblGrid>
              <a:tr h="0">
                <a:tc>
                  <a:txBody>
                    <a:bodyPr/>
                    <a:lstStyle/>
                    <a:p>
                      <a:pPr algn="ctr"/>
                      <a:r>
                        <a:rPr lang="zh-CN" altLang="en-US" sz="1400" dirty="0">
                          <a:solidFill>
                            <a:schemeClr val="bg1"/>
                          </a:solidFill>
                        </a:rPr>
                        <a:t>步骤</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00B0F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a:solidFill>
                            <a:schemeClr val="bg1"/>
                          </a:solidFill>
                        </a:rPr>
                        <a:t>估算</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00B0F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a:solidFill>
                            <a:schemeClr val="bg1"/>
                          </a:solidFill>
                        </a:rPr>
                        <a:t>说明</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00B0F0"/>
                    </a:solidFill>
                  </a:tcPr>
                </a:tc>
                <a:extLst>
                  <a:ext uri="{0D108BD9-81ED-4DB2-BD59-A6C34878D82A}">
                    <a16:rowId xmlns:a16="http://schemas.microsoft.com/office/drawing/2014/main" val="2482248223"/>
                  </a:ext>
                </a:extLst>
              </a:tr>
              <a:tr h="0">
                <a:tc>
                  <a:txBody>
                    <a:bodyPr/>
                    <a:lstStyle/>
                    <a:p>
                      <a:pPr algn="ctr"/>
                      <a:r>
                        <a:rPr lang="en-US" altLang="zh-CN" sz="1400" dirty="0">
                          <a:solidFill>
                            <a:schemeClr val="tx1"/>
                          </a:solidFill>
                        </a:rPr>
                        <a:t>1</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rPr>
                        <a:t>UAW</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a:solidFill>
                            <a:schemeClr val="tx1"/>
                          </a:solidFill>
                        </a:rPr>
                        <a:t>未调整的角色加权，</a:t>
                      </a:r>
                      <a:r>
                        <a:rPr lang="en-US" altLang="zh-CN" sz="1400" dirty="0">
                          <a:solidFill>
                            <a:schemeClr val="tx1"/>
                          </a:solidFill>
                        </a:rPr>
                        <a:t>Unadjusted Actor Weight</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910458751"/>
                  </a:ext>
                </a:extLst>
              </a:tr>
              <a:tr h="0">
                <a:tc>
                  <a:txBody>
                    <a:bodyPr/>
                    <a:lstStyle/>
                    <a:p>
                      <a:pPr algn="ctr"/>
                      <a:r>
                        <a:rPr lang="en-US" altLang="zh-CN" sz="1400" dirty="0">
                          <a:solidFill>
                            <a:schemeClr val="tx1"/>
                          </a:solidFill>
                        </a:rPr>
                        <a:t>2</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l"/>
                      <a:r>
                        <a:rPr lang="en-US" altLang="zh-CN" sz="1400" dirty="0">
                          <a:solidFill>
                            <a:schemeClr val="tx1"/>
                          </a:solidFill>
                        </a:rPr>
                        <a:t>UUCW</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l"/>
                      <a:r>
                        <a:rPr lang="zh-CN" altLang="en-US" sz="1400" dirty="0">
                          <a:solidFill>
                            <a:schemeClr val="tx1"/>
                          </a:solidFill>
                        </a:rPr>
                        <a:t>未调整的用例加权，</a:t>
                      </a:r>
                      <a:r>
                        <a:rPr lang="en-US" altLang="zh-CN" sz="1400" dirty="0">
                          <a:solidFill>
                            <a:schemeClr val="tx1"/>
                          </a:solidFill>
                        </a:rPr>
                        <a:t>Unadjusted Use Case Weight</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635766035"/>
                  </a:ext>
                </a:extLst>
              </a:tr>
              <a:tr h="0">
                <a:tc>
                  <a:txBody>
                    <a:bodyPr/>
                    <a:lstStyle/>
                    <a:p>
                      <a:pPr algn="ctr"/>
                      <a:r>
                        <a:rPr lang="en-US" altLang="zh-CN" sz="1400" dirty="0">
                          <a:solidFill>
                            <a:schemeClr val="tx1"/>
                          </a:solidFill>
                        </a:rPr>
                        <a:t>3</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l"/>
                      <a:r>
                        <a:rPr lang="en-US" altLang="zh-CN" sz="1400" dirty="0">
                          <a:solidFill>
                            <a:schemeClr val="tx1"/>
                          </a:solidFill>
                        </a:rPr>
                        <a:t>UUCP</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l"/>
                      <a:r>
                        <a:rPr lang="zh-CN" altLang="en-US" sz="1400" dirty="0">
                          <a:solidFill>
                            <a:schemeClr val="tx1"/>
                          </a:solidFill>
                        </a:rPr>
                        <a:t>未调整的用例点，</a:t>
                      </a:r>
                      <a:r>
                        <a:rPr lang="en-US" altLang="zh-CN" sz="1400" dirty="0">
                          <a:solidFill>
                            <a:schemeClr val="tx1"/>
                          </a:solidFill>
                        </a:rPr>
                        <a:t>Unadjusted Use Case Point</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472039418"/>
                  </a:ext>
                </a:extLst>
              </a:tr>
              <a:tr h="0">
                <a:tc>
                  <a:txBody>
                    <a:bodyPr/>
                    <a:lstStyle/>
                    <a:p>
                      <a:pPr algn="ctr"/>
                      <a:r>
                        <a:rPr lang="en-US" altLang="zh-CN" sz="1400" dirty="0">
                          <a:solidFill>
                            <a:schemeClr val="tx1"/>
                          </a:solidFill>
                        </a:rPr>
                        <a:t>4</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l"/>
                      <a:r>
                        <a:rPr lang="en-US" altLang="zh-CN" sz="1400" dirty="0">
                          <a:solidFill>
                            <a:schemeClr val="tx1"/>
                          </a:solidFill>
                        </a:rPr>
                        <a:t>TEF</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l"/>
                      <a:r>
                        <a:rPr lang="zh-CN" altLang="en-US" sz="1400" dirty="0">
                          <a:solidFill>
                            <a:schemeClr val="tx1"/>
                          </a:solidFill>
                        </a:rPr>
                        <a:t>技术因子和环境因子，</a:t>
                      </a:r>
                      <a:r>
                        <a:rPr lang="en-US" altLang="zh-CN" sz="1400" dirty="0">
                          <a:solidFill>
                            <a:schemeClr val="tx1"/>
                          </a:solidFill>
                        </a:rPr>
                        <a:t>Technical and Environment Fator</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242839745"/>
                  </a:ext>
                </a:extLst>
              </a:tr>
              <a:tr h="0">
                <a:tc>
                  <a:txBody>
                    <a:bodyPr/>
                    <a:lstStyle/>
                    <a:p>
                      <a:pPr algn="ctr"/>
                      <a:r>
                        <a:rPr lang="en-US" altLang="zh-CN" sz="1400" dirty="0">
                          <a:solidFill>
                            <a:schemeClr val="tx1"/>
                          </a:solidFill>
                        </a:rPr>
                        <a:t>5</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l"/>
                      <a:r>
                        <a:rPr lang="en-US" altLang="zh-CN" sz="1400" dirty="0">
                          <a:solidFill>
                            <a:schemeClr val="tx1"/>
                          </a:solidFill>
                        </a:rPr>
                        <a:t>UCP</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l"/>
                      <a:r>
                        <a:rPr lang="zh-CN" altLang="en-US" sz="1400" dirty="0">
                          <a:solidFill>
                            <a:schemeClr val="tx1"/>
                          </a:solidFill>
                        </a:rPr>
                        <a:t>调整后的用例点</a:t>
                      </a:r>
                      <a:r>
                        <a:rPr lang="en-US" altLang="zh-CN" sz="1400" dirty="0">
                          <a:solidFill>
                            <a:schemeClr val="tx1"/>
                          </a:solidFill>
                        </a:rPr>
                        <a:t> Use Case Point</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676573070"/>
                  </a:ext>
                </a:extLst>
              </a:tr>
              <a:tr h="0">
                <a:tc>
                  <a:txBody>
                    <a:bodyPr/>
                    <a:lstStyle/>
                    <a:p>
                      <a:pPr algn="ctr"/>
                      <a:r>
                        <a:rPr lang="en-US" altLang="zh-CN" sz="1400" dirty="0">
                          <a:solidFill>
                            <a:schemeClr val="tx1"/>
                          </a:solidFill>
                        </a:rPr>
                        <a:t>6</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l"/>
                      <a:r>
                        <a:rPr lang="en-US" altLang="zh-CN" sz="1400" dirty="0">
                          <a:solidFill>
                            <a:schemeClr val="tx1"/>
                          </a:solidFill>
                        </a:rPr>
                        <a:t>Effort</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a:solidFill>
                            <a:schemeClr val="tx1"/>
                          </a:solidFill>
                        </a:rPr>
                        <a:t>工作量，配合生成因子 </a:t>
                      </a:r>
                      <a:r>
                        <a:rPr lang="en-US" altLang="zh-CN" sz="1400" dirty="0">
                          <a:solidFill>
                            <a:schemeClr val="tx1"/>
                          </a:solidFill>
                        </a:rPr>
                        <a:t>Productivity Factor </a:t>
                      </a:r>
                      <a:r>
                        <a:rPr lang="zh-CN" altLang="en-US" sz="1400" dirty="0">
                          <a:solidFill>
                            <a:schemeClr val="tx1"/>
                          </a:solidFill>
                        </a:rPr>
                        <a:t>计算</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2213302"/>
                  </a:ext>
                </a:extLst>
              </a:tr>
            </a:tbl>
          </a:graphicData>
        </a:graphic>
      </p:graphicFrame>
    </p:spTree>
    <p:extLst>
      <p:ext uri="{BB962C8B-B14F-4D97-AF65-F5344CB8AC3E}">
        <p14:creationId xmlns:p14="http://schemas.microsoft.com/office/powerpoint/2010/main" val="2112822482"/>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D69D6979-6C4E-4E29-054A-7970CA7A573A}"/>
              </a:ext>
            </a:extLst>
          </p:cNvPr>
          <p:cNvGraphicFramePr>
            <a:graphicFrameLocks noGrp="1"/>
          </p:cNvGraphicFramePr>
          <p:nvPr>
            <p:extLst>
              <p:ext uri="{D42A27DB-BD31-4B8C-83A1-F6EECF244321}">
                <p14:modId xmlns:p14="http://schemas.microsoft.com/office/powerpoint/2010/main" val="3588144480"/>
              </p:ext>
            </p:extLst>
          </p:nvPr>
        </p:nvGraphicFramePr>
        <p:xfrm>
          <a:off x="3216000" y="1406013"/>
          <a:ext cx="5760000" cy="1828800"/>
        </p:xfrm>
        <a:graphic>
          <a:graphicData uri="http://schemas.openxmlformats.org/drawingml/2006/table">
            <a:tbl>
              <a:tblPr firstRow="1" bandRow="1">
                <a:tableStyleId>{5C22544A-7EE6-4342-B048-85BDC9FD1C3A}</a:tableStyleId>
              </a:tblPr>
              <a:tblGrid>
                <a:gridCol w="720000">
                  <a:extLst>
                    <a:ext uri="{9D8B030D-6E8A-4147-A177-3AD203B41FA5}">
                      <a16:colId xmlns:a16="http://schemas.microsoft.com/office/drawing/2014/main" val="3116677463"/>
                    </a:ext>
                  </a:extLst>
                </a:gridCol>
                <a:gridCol w="1440000">
                  <a:extLst>
                    <a:ext uri="{9D8B030D-6E8A-4147-A177-3AD203B41FA5}">
                      <a16:colId xmlns:a16="http://schemas.microsoft.com/office/drawing/2014/main" val="777816078"/>
                    </a:ext>
                  </a:extLst>
                </a:gridCol>
                <a:gridCol w="1080000">
                  <a:extLst>
                    <a:ext uri="{9D8B030D-6E8A-4147-A177-3AD203B41FA5}">
                      <a16:colId xmlns:a16="http://schemas.microsoft.com/office/drawing/2014/main" val="318618899"/>
                    </a:ext>
                  </a:extLst>
                </a:gridCol>
                <a:gridCol w="1440000">
                  <a:extLst>
                    <a:ext uri="{9D8B030D-6E8A-4147-A177-3AD203B41FA5}">
                      <a16:colId xmlns:a16="http://schemas.microsoft.com/office/drawing/2014/main" val="2546742227"/>
                    </a:ext>
                  </a:extLst>
                </a:gridCol>
                <a:gridCol w="1080000">
                  <a:extLst>
                    <a:ext uri="{9D8B030D-6E8A-4147-A177-3AD203B41FA5}">
                      <a16:colId xmlns:a16="http://schemas.microsoft.com/office/drawing/2014/main" val="2292887902"/>
                    </a:ext>
                  </a:extLst>
                </a:gridCol>
              </a:tblGrid>
              <a:tr h="213852">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rPr>
                        <a:t>1. UAW </a:t>
                      </a:r>
                      <a:r>
                        <a:rPr lang="zh-CN" altLang="en-US" sz="1400" dirty="0">
                          <a:solidFill>
                            <a:schemeClr val="tx1"/>
                          </a:solidFill>
                        </a:rPr>
                        <a:t>未调整的角色加权</a:t>
                      </a:r>
                      <a:endParaRPr lang="en-US" altLang="zh-CN"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2784361"/>
                  </a:ext>
                </a:extLst>
              </a:tr>
              <a:tr h="213852">
                <a:tc>
                  <a:txBody>
                    <a:bodyPr/>
                    <a:lstStyle/>
                    <a:p>
                      <a:r>
                        <a:rPr lang="zh-CN" altLang="en-US" sz="1400" dirty="0">
                          <a:solidFill>
                            <a:schemeClr val="bg1"/>
                          </a:solidFill>
                        </a:rPr>
                        <a:t>序号</a:t>
                      </a: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zh-CN" altLang="en-US" sz="1400" dirty="0">
                          <a:solidFill>
                            <a:schemeClr val="bg1"/>
                          </a:solidFill>
                        </a:rPr>
                        <a:t>复杂度基本</a:t>
                      </a: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zh-CN" altLang="en-US" sz="1400" dirty="0">
                          <a:solidFill>
                            <a:schemeClr val="bg1"/>
                          </a:solidFill>
                        </a:rPr>
                        <a:t>权值</a:t>
                      </a: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zh-CN" altLang="en-US" sz="1400" dirty="0">
                          <a:solidFill>
                            <a:schemeClr val="bg1"/>
                          </a:solidFill>
                        </a:rPr>
                        <a:t>参与角色数</a:t>
                      </a: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altLang="zh-CN" sz="1400" dirty="0">
                          <a:solidFill>
                            <a:schemeClr val="bg1"/>
                          </a:solidFill>
                        </a:rPr>
                        <a:t>UAW</a:t>
                      </a:r>
                      <a:endParaRPr lang="zh-CN" altLang="en-US" sz="14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967111049"/>
                  </a:ext>
                </a:extLst>
              </a:tr>
              <a:tr h="213852">
                <a:tc>
                  <a:txBody>
                    <a:bodyPr/>
                    <a:lstStyle/>
                    <a:p>
                      <a:r>
                        <a:rPr lang="en-US" altLang="zh-CN" sz="1400" dirty="0">
                          <a:solidFill>
                            <a:schemeClr val="tx1"/>
                          </a:solidFill>
                        </a:rPr>
                        <a:t>1</a:t>
                      </a:r>
                      <a:endParaRPr lang="zh-CN" altLang="en-US" sz="1400" dirty="0">
                        <a:solidFill>
                          <a:schemeClr val="tx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Simple</a:t>
                      </a:r>
                      <a:endParaRPr lang="zh-CN" altLang="en-US" sz="1400" dirty="0">
                        <a:solidFill>
                          <a:schemeClr val="tx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1</a:t>
                      </a:r>
                      <a:endParaRPr lang="zh-CN" altLang="en-US" sz="1400" dirty="0">
                        <a:solidFill>
                          <a:schemeClr val="tx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2</a:t>
                      </a:r>
                      <a:endParaRPr lang="zh-CN" altLang="en-US" sz="1400" dirty="0">
                        <a:solidFill>
                          <a:schemeClr val="tx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1×2</a:t>
                      </a:r>
                      <a:endParaRPr lang="zh-CN" altLang="en-US" sz="1400" dirty="0">
                        <a:solidFill>
                          <a:schemeClr val="tx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4182754"/>
                  </a:ext>
                </a:extLst>
              </a:tr>
              <a:tr h="213852">
                <a:tc>
                  <a:txBody>
                    <a:bodyPr/>
                    <a:lstStyle/>
                    <a:p>
                      <a:r>
                        <a:rPr lang="en-US" altLang="zh-CN" sz="1400" dirty="0">
                          <a:solidFill>
                            <a:schemeClr val="tx1"/>
                          </a:solidFill>
                        </a:rPr>
                        <a:t>2</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Average</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2</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4</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2×4</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95791767"/>
                  </a:ext>
                </a:extLst>
              </a:tr>
              <a:tr h="213852">
                <a:tc>
                  <a:txBody>
                    <a:bodyPr/>
                    <a:lstStyle/>
                    <a:p>
                      <a:r>
                        <a:rPr lang="en-US" altLang="zh-CN" sz="1400" dirty="0">
                          <a:solidFill>
                            <a:schemeClr val="tx1"/>
                          </a:solidFill>
                        </a:rPr>
                        <a:t>3</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Complex</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3</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5</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3×5</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93542103"/>
                  </a:ext>
                </a:extLst>
              </a:tr>
              <a:tr h="213852">
                <a:tc gridSpan="4">
                  <a:txBody>
                    <a:bodyPr/>
                    <a:lstStyle/>
                    <a:p>
                      <a:pPr algn="r"/>
                      <a:r>
                        <a:rPr lang="zh-CN" altLang="en-US" sz="1400" dirty="0">
                          <a:solidFill>
                            <a:schemeClr val="tx1"/>
                          </a:solidFill>
                        </a:rPr>
                        <a:t>结果</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25</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78912021"/>
                  </a:ext>
                </a:extLst>
              </a:tr>
            </a:tbl>
          </a:graphicData>
        </a:graphic>
      </p:graphicFrame>
      <p:graphicFrame>
        <p:nvGraphicFramePr>
          <p:cNvPr id="7" name="表格 6">
            <a:extLst>
              <a:ext uri="{FF2B5EF4-FFF2-40B4-BE49-F238E27FC236}">
                <a16:creationId xmlns:a16="http://schemas.microsoft.com/office/drawing/2014/main" id="{D6174227-C014-ED0D-2815-4580A9FE3605}"/>
              </a:ext>
            </a:extLst>
          </p:cNvPr>
          <p:cNvGraphicFramePr>
            <a:graphicFrameLocks noGrp="1"/>
          </p:cNvGraphicFramePr>
          <p:nvPr>
            <p:extLst>
              <p:ext uri="{D42A27DB-BD31-4B8C-83A1-F6EECF244321}">
                <p14:modId xmlns:p14="http://schemas.microsoft.com/office/powerpoint/2010/main" val="3478440427"/>
              </p:ext>
            </p:extLst>
          </p:nvPr>
        </p:nvGraphicFramePr>
        <p:xfrm>
          <a:off x="3216000" y="3741175"/>
          <a:ext cx="5760000" cy="1828800"/>
        </p:xfrm>
        <a:graphic>
          <a:graphicData uri="http://schemas.openxmlformats.org/drawingml/2006/table">
            <a:tbl>
              <a:tblPr firstRow="1" bandRow="1">
                <a:tableStyleId>{5C22544A-7EE6-4342-B048-85BDC9FD1C3A}</a:tableStyleId>
              </a:tblPr>
              <a:tblGrid>
                <a:gridCol w="720000">
                  <a:extLst>
                    <a:ext uri="{9D8B030D-6E8A-4147-A177-3AD203B41FA5}">
                      <a16:colId xmlns:a16="http://schemas.microsoft.com/office/drawing/2014/main" val="3116677463"/>
                    </a:ext>
                  </a:extLst>
                </a:gridCol>
                <a:gridCol w="1440000">
                  <a:extLst>
                    <a:ext uri="{9D8B030D-6E8A-4147-A177-3AD203B41FA5}">
                      <a16:colId xmlns:a16="http://schemas.microsoft.com/office/drawing/2014/main" val="777816078"/>
                    </a:ext>
                  </a:extLst>
                </a:gridCol>
                <a:gridCol w="1080000">
                  <a:extLst>
                    <a:ext uri="{9D8B030D-6E8A-4147-A177-3AD203B41FA5}">
                      <a16:colId xmlns:a16="http://schemas.microsoft.com/office/drawing/2014/main" val="318618899"/>
                    </a:ext>
                  </a:extLst>
                </a:gridCol>
                <a:gridCol w="1440000">
                  <a:extLst>
                    <a:ext uri="{9D8B030D-6E8A-4147-A177-3AD203B41FA5}">
                      <a16:colId xmlns:a16="http://schemas.microsoft.com/office/drawing/2014/main" val="2546742227"/>
                    </a:ext>
                  </a:extLst>
                </a:gridCol>
                <a:gridCol w="1080000">
                  <a:extLst>
                    <a:ext uri="{9D8B030D-6E8A-4147-A177-3AD203B41FA5}">
                      <a16:colId xmlns:a16="http://schemas.microsoft.com/office/drawing/2014/main" val="2292887902"/>
                    </a:ext>
                  </a:extLst>
                </a:gridCol>
              </a:tblGrid>
              <a:tr h="178352">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rPr>
                        <a:t>2. UUCW </a:t>
                      </a:r>
                      <a:r>
                        <a:rPr lang="zh-CN" altLang="en-US" sz="1400" dirty="0">
                          <a:solidFill>
                            <a:schemeClr val="tx1"/>
                          </a:solidFill>
                        </a:rPr>
                        <a:t>未调整的用例加权</a:t>
                      </a:r>
                      <a:endParaRPr lang="en-US" altLang="zh-CN"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49914403"/>
                  </a:ext>
                </a:extLst>
              </a:tr>
              <a:tr h="178352">
                <a:tc>
                  <a:txBody>
                    <a:bodyPr/>
                    <a:lstStyle/>
                    <a:p>
                      <a:r>
                        <a:rPr lang="zh-CN" altLang="en-US" sz="1400" dirty="0">
                          <a:solidFill>
                            <a:schemeClr val="bg1"/>
                          </a:solidFill>
                        </a:rPr>
                        <a:t>序号</a:t>
                      </a: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zh-CN" altLang="en-US" sz="1400" dirty="0">
                          <a:solidFill>
                            <a:schemeClr val="bg1"/>
                          </a:solidFill>
                        </a:rPr>
                        <a:t>复杂度基本</a:t>
                      </a: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zh-CN" altLang="en-US" sz="1400" dirty="0">
                          <a:solidFill>
                            <a:schemeClr val="bg1"/>
                          </a:solidFill>
                        </a:rPr>
                        <a:t>权值</a:t>
                      </a: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zh-CN" altLang="en-US" sz="1400" dirty="0">
                          <a:solidFill>
                            <a:schemeClr val="bg1"/>
                          </a:solidFill>
                        </a:rPr>
                        <a:t>用例数</a:t>
                      </a: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altLang="zh-CN" sz="1400" dirty="0">
                          <a:solidFill>
                            <a:schemeClr val="bg1"/>
                          </a:solidFill>
                        </a:rPr>
                        <a:t>UUCW</a:t>
                      </a:r>
                      <a:endParaRPr lang="zh-CN" altLang="en-US" sz="14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967111049"/>
                  </a:ext>
                </a:extLst>
              </a:tr>
              <a:tr h="178352">
                <a:tc>
                  <a:txBody>
                    <a:bodyPr/>
                    <a:lstStyle/>
                    <a:p>
                      <a:r>
                        <a:rPr lang="en-US" altLang="zh-CN" sz="1400" dirty="0">
                          <a:solidFill>
                            <a:schemeClr val="tx1"/>
                          </a:solidFill>
                        </a:rPr>
                        <a:t>1</a:t>
                      </a:r>
                      <a:endParaRPr lang="zh-CN" altLang="en-US" sz="1400" dirty="0">
                        <a:solidFill>
                          <a:schemeClr val="tx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Simple</a:t>
                      </a:r>
                      <a:endParaRPr lang="zh-CN" altLang="en-US" sz="1400" dirty="0">
                        <a:solidFill>
                          <a:schemeClr val="tx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5</a:t>
                      </a:r>
                      <a:endParaRPr lang="zh-CN" altLang="en-US" sz="1400" dirty="0">
                        <a:solidFill>
                          <a:schemeClr val="tx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5</a:t>
                      </a:r>
                      <a:endParaRPr lang="zh-CN" altLang="en-US" sz="1400" dirty="0">
                        <a:solidFill>
                          <a:schemeClr val="tx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5×5</a:t>
                      </a:r>
                      <a:endParaRPr lang="zh-CN" altLang="en-US" sz="1400" dirty="0">
                        <a:solidFill>
                          <a:schemeClr val="tx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4182754"/>
                  </a:ext>
                </a:extLst>
              </a:tr>
              <a:tr h="178352">
                <a:tc>
                  <a:txBody>
                    <a:bodyPr/>
                    <a:lstStyle/>
                    <a:p>
                      <a:r>
                        <a:rPr lang="en-US" altLang="zh-CN" sz="1400" dirty="0">
                          <a:solidFill>
                            <a:schemeClr val="tx1"/>
                          </a:solidFill>
                        </a:rPr>
                        <a:t>2</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Average</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10</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2</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10×2</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95791767"/>
                  </a:ext>
                </a:extLst>
              </a:tr>
              <a:tr h="178352">
                <a:tc>
                  <a:txBody>
                    <a:bodyPr/>
                    <a:lstStyle/>
                    <a:p>
                      <a:r>
                        <a:rPr lang="en-US" altLang="zh-CN" sz="1400" dirty="0">
                          <a:solidFill>
                            <a:schemeClr val="tx1"/>
                          </a:solidFill>
                        </a:rPr>
                        <a:t>3</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Complex</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15</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3</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15×3</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93542103"/>
                  </a:ext>
                </a:extLst>
              </a:tr>
              <a:tr h="178352">
                <a:tc gridSpan="4">
                  <a:txBody>
                    <a:bodyPr/>
                    <a:lstStyle/>
                    <a:p>
                      <a:pPr algn="r"/>
                      <a:r>
                        <a:rPr lang="zh-CN" altLang="en-US" sz="1400" dirty="0">
                          <a:solidFill>
                            <a:schemeClr val="tx1"/>
                          </a:solidFill>
                        </a:rPr>
                        <a:t>结果</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90</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78912021"/>
                  </a:ext>
                </a:extLst>
              </a:tr>
            </a:tbl>
          </a:graphicData>
        </a:graphic>
      </p:graphicFrame>
    </p:spTree>
    <p:extLst>
      <p:ext uri="{BB962C8B-B14F-4D97-AF65-F5344CB8AC3E}">
        <p14:creationId xmlns:p14="http://schemas.microsoft.com/office/powerpoint/2010/main" val="3189899391"/>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BAEFD-33DF-B6C1-0A7C-18D9FEB27138}"/>
            </a:ext>
          </a:extLst>
        </p:cNvPr>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FB279960-EABB-4346-CB87-3D34BD5D83A6}"/>
              </a:ext>
            </a:extLst>
          </p:cNvPr>
          <p:cNvGraphicFramePr>
            <a:graphicFrameLocks noGrp="1"/>
          </p:cNvGraphicFramePr>
          <p:nvPr>
            <p:extLst>
              <p:ext uri="{D42A27DB-BD31-4B8C-83A1-F6EECF244321}">
                <p14:modId xmlns:p14="http://schemas.microsoft.com/office/powerpoint/2010/main" val="3172074306"/>
              </p:ext>
            </p:extLst>
          </p:nvPr>
        </p:nvGraphicFramePr>
        <p:xfrm>
          <a:off x="3216000" y="727586"/>
          <a:ext cx="3960000" cy="1219200"/>
        </p:xfrm>
        <a:graphic>
          <a:graphicData uri="http://schemas.openxmlformats.org/drawingml/2006/table">
            <a:tbl>
              <a:tblPr firstRow="1" bandRow="1">
                <a:tableStyleId>{5C22544A-7EE6-4342-B048-85BDC9FD1C3A}</a:tableStyleId>
              </a:tblPr>
              <a:tblGrid>
                <a:gridCol w="1080000">
                  <a:extLst>
                    <a:ext uri="{9D8B030D-6E8A-4147-A177-3AD203B41FA5}">
                      <a16:colId xmlns:a16="http://schemas.microsoft.com/office/drawing/2014/main" val="3116677463"/>
                    </a:ext>
                  </a:extLst>
                </a:gridCol>
                <a:gridCol w="360000">
                  <a:extLst>
                    <a:ext uri="{9D8B030D-6E8A-4147-A177-3AD203B41FA5}">
                      <a16:colId xmlns:a16="http://schemas.microsoft.com/office/drawing/2014/main" val="777816078"/>
                    </a:ext>
                  </a:extLst>
                </a:gridCol>
                <a:gridCol w="1080000">
                  <a:extLst>
                    <a:ext uri="{9D8B030D-6E8A-4147-A177-3AD203B41FA5}">
                      <a16:colId xmlns:a16="http://schemas.microsoft.com/office/drawing/2014/main" val="318618899"/>
                    </a:ext>
                  </a:extLst>
                </a:gridCol>
                <a:gridCol w="360000">
                  <a:extLst>
                    <a:ext uri="{9D8B030D-6E8A-4147-A177-3AD203B41FA5}">
                      <a16:colId xmlns:a16="http://schemas.microsoft.com/office/drawing/2014/main" val="2546742227"/>
                    </a:ext>
                  </a:extLst>
                </a:gridCol>
                <a:gridCol w="1080000">
                  <a:extLst>
                    <a:ext uri="{9D8B030D-6E8A-4147-A177-3AD203B41FA5}">
                      <a16:colId xmlns:a16="http://schemas.microsoft.com/office/drawing/2014/main" val="2292887902"/>
                    </a:ext>
                  </a:extLst>
                </a:gridCol>
              </a:tblGrid>
              <a:tr h="178352">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rPr>
                        <a:t>3. UUCP </a:t>
                      </a:r>
                      <a:r>
                        <a:rPr lang="zh-CN" altLang="en-US" sz="1400" dirty="0">
                          <a:solidFill>
                            <a:schemeClr val="tx1"/>
                          </a:solidFill>
                        </a:rPr>
                        <a:t>未调整的用例点</a:t>
                      </a: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23485729"/>
                  </a:ext>
                </a:extLst>
              </a:tr>
              <a:tr h="178352">
                <a:tc>
                  <a:txBody>
                    <a:bodyPr/>
                    <a:lstStyle/>
                    <a:p>
                      <a:r>
                        <a:rPr lang="en-US" altLang="zh-CN" sz="1400" dirty="0">
                          <a:solidFill>
                            <a:schemeClr val="tx1"/>
                          </a:solidFill>
                        </a:rPr>
                        <a:t>UUCP </a:t>
                      </a:r>
                      <a:endParaRPr lang="zh-CN" altLang="en-US"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a:t>
                      </a:r>
                      <a:endParaRPr lang="zh-CN" altLang="en-US"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UAW</a:t>
                      </a:r>
                      <a:endParaRPr lang="zh-CN" altLang="en-US"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a:t>
                      </a:r>
                      <a:endParaRPr lang="zh-CN" altLang="en-US"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UUCW</a:t>
                      </a:r>
                      <a:endParaRPr lang="zh-CN" altLang="en-US"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7111049"/>
                  </a:ext>
                </a:extLst>
              </a:tr>
              <a:tr h="178352">
                <a:tc>
                  <a:txBody>
                    <a:bodyPr/>
                    <a:lstStyle/>
                    <a:p>
                      <a:endParaRPr lang="zh-CN" altLang="en-US" sz="1400" dirty="0">
                        <a:solidFill>
                          <a:schemeClr val="tx1"/>
                        </a:solidFill>
                      </a:endParaRPr>
                    </a:p>
                  </a:txBody>
                  <a:tcPr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a:t>
                      </a:r>
                      <a:endParaRPr lang="zh-CN" altLang="en-US" sz="1400" dirty="0">
                        <a:solidFill>
                          <a:schemeClr val="tx1"/>
                        </a:solidFill>
                      </a:endParaRPr>
                    </a:p>
                  </a:txBody>
                  <a:tcPr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25</a:t>
                      </a:r>
                      <a:endParaRPr lang="zh-CN" altLang="en-US" sz="1400" dirty="0">
                        <a:solidFill>
                          <a:schemeClr val="tx1"/>
                        </a:solidFill>
                      </a:endParaRPr>
                    </a:p>
                  </a:txBody>
                  <a:tcPr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a:t>
                      </a:r>
                      <a:endParaRPr lang="zh-CN" altLang="en-US" sz="1400" dirty="0">
                        <a:solidFill>
                          <a:schemeClr val="tx1"/>
                        </a:solidFill>
                      </a:endParaRPr>
                    </a:p>
                  </a:txBody>
                  <a:tcPr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90</a:t>
                      </a:r>
                      <a:endParaRPr lang="zh-CN" altLang="en-US" sz="1400" dirty="0">
                        <a:solidFill>
                          <a:schemeClr val="tx1"/>
                        </a:solidFill>
                      </a:endParaRPr>
                    </a:p>
                  </a:txBody>
                  <a:tcPr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4182754"/>
                  </a:ext>
                </a:extLst>
              </a:tr>
              <a:tr h="178352">
                <a:tc>
                  <a:txBody>
                    <a:bodyPr/>
                    <a:lstStyle/>
                    <a:p>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115</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95791767"/>
                  </a:ext>
                </a:extLst>
              </a:tr>
            </a:tbl>
          </a:graphicData>
        </a:graphic>
      </p:graphicFrame>
      <p:graphicFrame>
        <p:nvGraphicFramePr>
          <p:cNvPr id="9" name="表格 8">
            <a:extLst>
              <a:ext uri="{FF2B5EF4-FFF2-40B4-BE49-F238E27FC236}">
                <a16:creationId xmlns:a16="http://schemas.microsoft.com/office/drawing/2014/main" id="{13313E26-72F9-B659-BA3C-AA64559133E8}"/>
              </a:ext>
            </a:extLst>
          </p:cNvPr>
          <p:cNvGraphicFramePr>
            <a:graphicFrameLocks noGrp="1"/>
          </p:cNvGraphicFramePr>
          <p:nvPr>
            <p:extLst>
              <p:ext uri="{D42A27DB-BD31-4B8C-83A1-F6EECF244321}">
                <p14:modId xmlns:p14="http://schemas.microsoft.com/office/powerpoint/2010/main" val="861163460"/>
              </p:ext>
            </p:extLst>
          </p:nvPr>
        </p:nvGraphicFramePr>
        <p:xfrm>
          <a:off x="3216000" y="3598524"/>
          <a:ext cx="5112000" cy="914400"/>
        </p:xfrm>
        <a:graphic>
          <a:graphicData uri="http://schemas.openxmlformats.org/drawingml/2006/table">
            <a:tbl>
              <a:tblPr firstRow="1" bandRow="1">
                <a:tableStyleId>{5C22544A-7EE6-4342-B048-85BDC9FD1C3A}</a:tableStyleId>
              </a:tblPr>
              <a:tblGrid>
                <a:gridCol w="1080000">
                  <a:extLst>
                    <a:ext uri="{9D8B030D-6E8A-4147-A177-3AD203B41FA5}">
                      <a16:colId xmlns:a16="http://schemas.microsoft.com/office/drawing/2014/main" val="3116677463"/>
                    </a:ext>
                  </a:extLst>
                </a:gridCol>
                <a:gridCol w="360000">
                  <a:extLst>
                    <a:ext uri="{9D8B030D-6E8A-4147-A177-3AD203B41FA5}">
                      <a16:colId xmlns:a16="http://schemas.microsoft.com/office/drawing/2014/main" val="777816078"/>
                    </a:ext>
                  </a:extLst>
                </a:gridCol>
                <a:gridCol w="1080000">
                  <a:extLst>
                    <a:ext uri="{9D8B030D-6E8A-4147-A177-3AD203B41FA5}">
                      <a16:colId xmlns:a16="http://schemas.microsoft.com/office/drawing/2014/main" val="318618899"/>
                    </a:ext>
                  </a:extLst>
                </a:gridCol>
                <a:gridCol w="360000">
                  <a:extLst>
                    <a:ext uri="{9D8B030D-6E8A-4147-A177-3AD203B41FA5}">
                      <a16:colId xmlns:a16="http://schemas.microsoft.com/office/drawing/2014/main" val="2546742227"/>
                    </a:ext>
                  </a:extLst>
                </a:gridCol>
                <a:gridCol w="792000">
                  <a:extLst>
                    <a:ext uri="{9D8B030D-6E8A-4147-A177-3AD203B41FA5}">
                      <a16:colId xmlns:a16="http://schemas.microsoft.com/office/drawing/2014/main" val="2292887902"/>
                    </a:ext>
                  </a:extLst>
                </a:gridCol>
                <a:gridCol w="360000">
                  <a:extLst>
                    <a:ext uri="{9D8B030D-6E8A-4147-A177-3AD203B41FA5}">
                      <a16:colId xmlns:a16="http://schemas.microsoft.com/office/drawing/2014/main" val="397294313"/>
                    </a:ext>
                  </a:extLst>
                </a:gridCol>
                <a:gridCol w="1080000">
                  <a:extLst>
                    <a:ext uri="{9D8B030D-6E8A-4147-A177-3AD203B41FA5}">
                      <a16:colId xmlns:a16="http://schemas.microsoft.com/office/drawing/2014/main" val="920960973"/>
                    </a:ext>
                  </a:extLst>
                </a:gridCol>
              </a:tblGrid>
              <a:tr h="178352">
                <a:tc gridSpan="7">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rPr>
                        <a:t>5. UCP </a:t>
                      </a:r>
                      <a:r>
                        <a:rPr lang="zh-CN" altLang="en-US" sz="1400" dirty="0">
                          <a:solidFill>
                            <a:schemeClr val="tx1"/>
                          </a:solidFill>
                        </a:rPr>
                        <a:t>用例点</a:t>
                      </a:r>
                      <a:endParaRPr lang="en-US" altLang="zh-CN"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600" b="0" dirty="0">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600" b="0" dirty="0">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600" b="0" dirty="0">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600" b="0" dirty="0">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600" b="0" dirty="0">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600" b="0" dirty="0">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15848084"/>
                  </a:ext>
                </a:extLst>
              </a:tr>
              <a:tr h="178352">
                <a:tc>
                  <a:txBody>
                    <a:bodyPr/>
                    <a:lstStyle/>
                    <a:p>
                      <a:r>
                        <a:rPr lang="en-US" altLang="zh-CN" sz="1400" dirty="0">
                          <a:solidFill>
                            <a:schemeClr val="tx1"/>
                          </a:solidFill>
                        </a:rPr>
                        <a:t>UCP </a:t>
                      </a:r>
                      <a:endParaRPr lang="zh-CN" altLang="en-US"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a:t>
                      </a:r>
                      <a:endParaRPr lang="zh-CN" altLang="en-US"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UUCP</a:t>
                      </a:r>
                      <a:endParaRPr lang="zh-CN" altLang="en-US"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a:t>
                      </a:r>
                      <a:endParaRPr lang="zh-CN" altLang="en-US"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TCF</a:t>
                      </a:r>
                      <a:endParaRPr lang="zh-CN" altLang="en-US"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a:t>
                      </a:r>
                      <a:endParaRPr lang="zh-CN" altLang="en-US"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ECF</a:t>
                      </a:r>
                      <a:endParaRPr lang="zh-CN" altLang="en-US"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7111049"/>
                  </a:ext>
                </a:extLst>
              </a:tr>
              <a:tr h="178352">
                <a:tc>
                  <a:txBody>
                    <a:bodyPr/>
                    <a:lstStyle/>
                    <a:p>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95791767"/>
                  </a:ext>
                </a:extLst>
              </a:tr>
            </a:tbl>
          </a:graphicData>
        </a:graphic>
      </p:graphicFrame>
      <p:graphicFrame>
        <p:nvGraphicFramePr>
          <p:cNvPr id="10" name="表格 9">
            <a:extLst>
              <a:ext uri="{FF2B5EF4-FFF2-40B4-BE49-F238E27FC236}">
                <a16:creationId xmlns:a16="http://schemas.microsoft.com/office/drawing/2014/main" id="{0100EC42-2747-5FA0-1AEA-6508BDDF9BC6}"/>
              </a:ext>
            </a:extLst>
          </p:cNvPr>
          <p:cNvGraphicFramePr>
            <a:graphicFrameLocks noGrp="1"/>
          </p:cNvGraphicFramePr>
          <p:nvPr>
            <p:extLst>
              <p:ext uri="{D42A27DB-BD31-4B8C-83A1-F6EECF244321}">
                <p14:modId xmlns:p14="http://schemas.microsoft.com/office/powerpoint/2010/main" val="1313479599"/>
              </p:ext>
            </p:extLst>
          </p:nvPr>
        </p:nvGraphicFramePr>
        <p:xfrm>
          <a:off x="3216000" y="4866354"/>
          <a:ext cx="3960000" cy="609600"/>
        </p:xfrm>
        <a:graphic>
          <a:graphicData uri="http://schemas.openxmlformats.org/drawingml/2006/table">
            <a:tbl>
              <a:tblPr firstRow="1" bandRow="1">
                <a:tableStyleId>{5C22544A-7EE6-4342-B048-85BDC9FD1C3A}</a:tableStyleId>
              </a:tblPr>
              <a:tblGrid>
                <a:gridCol w="1080000">
                  <a:extLst>
                    <a:ext uri="{9D8B030D-6E8A-4147-A177-3AD203B41FA5}">
                      <a16:colId xmlns:a16="http://schemas.microsoft.com/office/drawing/2014/main" val="3116677463"/>
                    </a:ext>
                  </a:extLst>
                </a:gridCol>
                <a:gridCol w="360000">
                  <a:extLst>
                    <a:ext uri="{9D8B030D-6E8A-4147-A177-3AD203B41FA5}">
                      <a16:colId xmlns:a16="http://schemas.microsoft.com/office/drawing/2014/main" val="777816078"/>
                    </a:ext>
                  </a:extLst>
                </a:gridCol>
                <a:gridCol w="1080000">
                  <a:extLst>
                    <a:ext uri="{9D8B030D-6E8A-4147-A177-3AD203B41FA5}">
                      <a16:colId xmlns:a16="http://schemas.microsoft.com/office/drawing/2014/main" val="318618899"/>
                    </a:ext>
                  </a:extLst>
                </a:gridCol>
                <a:gridCol w="360000">
                  <a:extLst>
                    <a:ext uri="{9D8B030D-6E8A-4147-A177-3AD203B41FA5}">
                      <a16:colId xmlns:a16="http://schemas.microsoft.com/office/drawing/2014/main" val="2546742227"/>
                    </a:ext>
                  </a:extLst>
                </a:gridCol>
                <a:gridCol w="1080000">
                  <a:extLst>
                    <a:ext uri="{9D8B030D-6E8A-4147-A177-3AD203B41FA5}">
                      <a16:colId xmlns:a16="http://schemas.microsoft.com/office/drawing/2014/main" val="2292887902"/>
                    </a:ext>
                  </a:extLst>
                </a:gridCol>
              </a:tblGrid>
              <a:tr h="178352">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rPr>
                        <a:t>6.  Effort </a:t>
                      </a:r>
                      <a:r>
                        <a:rPr lang="zh-CN" altLang="en-US" sz="1400" dirty="0">
                          <a:solidFill>
                            <a:schemeClr val="tx1"/>
                          </a:solidFill>
                        </a:rPr>
                        <a:t>工作量</a:t>
                      </a:r>
                      <a:endParaRPr lang="en-US" altLang="zh-CN"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600" b="0" dirty="0">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600" b="0" dirty="0">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600" b="0" dirty="0">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600" b="0" dirty="0">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0308836"/>
                  </a:ext>
                </a:extLst>
              </a:tr>
              <a:tr h="178352">
                <a:tc>
                  <a:txBody>
                    <a:bodyPr/>
                    <a:lstStyle/>
                    <a:p>
                      <a:r>
                        <a:rPr lang="zh-CN" altLang="en-US" sz="1400" dirty="0">
                          <a:solidFill>
                            <a:schemeClr val="tx1"/>
                          </a:solidFill>
                        </a:rPr>
                        <a:t>工作量</a:t>
                      </a:r>
                      <a:r>
                        <a:rPr lang="en-US" altLang="zh-CN" sz="1400" dirty="0">
                          <a:solidFill>
                            <a:schemeClr val="tx1"/>
                          </a:solidFill>
                        </a:rPr>
                        <a:t> </a:t>
                      </a:r>
                      <a:endParaRPr lang="zh-CN" altLang="en-US"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a:t>
                      </a:r>
                      <a:endParaRPr lang="zh-CN" altLang="en-US"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UCP</a:t>
                      </a:r>
                      <a:endParaRPr lang="zh-CN" altLang="en-US"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a:t>
                      </a:r>
                      <a:endParaRPr lang="zh-CN" altLang="en-US"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PF</a:t>
                      </a:r>
                      <a:endParaRPr lang="zh-CN" altLang="en-US"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7111049"/>
                  </a:ext>
                </a:extLst>
              </a:tr>
            </a:tbl>
          </a:graphicData>
        </a:graphic>
      </p:graphicFrame>
      <p:graphicFrame>
        <p:nvGraphicFramePr>
          <p:cNvPr id="12" name="表格 11">
            <a:extLst>
              <a:ext uri="{FF2B5EF4-FFF2-40B4-BE49-F238E27FC236}">
                <a16:creationId xmlns:a16="http://schemas.microsoft.com/office/drawing/2014/main" id="{895FCDC7-158B-4A50-9CBC-BFC3B057D32D}"/>
              </a:ext>
            </a:extLst>
          </p:cNvPr>
          <p:cNvGraphicFramePr>
            <a:graphicFrameLocks noGrp="1"/>
          </p:cNvGraphicFramePr>
          <p:nvPr>
            <p:extLst>
              <p:ext uri="{D42A27DB-BD31-4B8C-83A1-F6EECF244321}">
                <p14:modId xmlns:p14="http://schemas.microsoft.com/office/powerpoint/2010/main" val="2250508116"/>
              </p:ext>
            </p:extLst>
          </p:nvPr>
        </p:nvGraphicFramePr>
        <p:xfrm>
          <a:off x="3216000" y="2330695"/>
          <a:ext cx="5400000" cy="914400"/>
        </p:xfrm>
        <a:graphic>
          <a:graphicData uri="http://schemas.openxmlformats.org/drawingml/2006/table">
            <a:tbl>
              <a:tblPr firstRow="1" bandRow="1">
                <a:tableStyleId>{5C22544A-7EE6-4342-B048-85BDC9FD1C3A}</a:tableStyleId>
              </a:tblPr>
              <a:tblGrid>
                <a:gridCol w="1080000">
                  <a:extLst>
                    <a:ext uri="{9D8B030D-6E8A-4147-A177-3AD203B41FA5}">
                      <a16:colId xmlns:a16="http://schemas.microsoft.com/office/drawing/2014/main" val="3116677463"/>
                    </a:ext>
                  </a:extLst>
                </a:gridCol>
                <a:gridCol w="360000">
                  <a:extLst>
                    <a:ext uri="{9D8B030D-6E8A-4147-A177-3AD203B41FA5}">
                      <a16:colId xmlns:a16="http://schemas.microsoft.com/office/drawing/2014/main" val="777816078"/>
                    </a:ext>
                  </a:extLst>
                </a:gridCol>
                <a:gridCol w="1080000">
                  <a:extLst>
                    <a:ext uri="{9D8B030D-6E8A-4147-A177-3AD203B41FA5}">
                      <a16:colId xmlns:a16="http://schemas.microsoft.com/office/drawing/2014/main" val="318618899"/>
                    </a:ext>
                  </a:extLst>
                </a:gridCol>
                <a:gridCol w="360000">
                  <a:extLst>
                    <a:ext uri="{9D8B030D-6E8A-4147-A177-3AD203B41FA5}">
                      <a16:colId xmlns:a16="http://schemas.microsoft.com/office/drawing/2014/main" val="2546742227"/>
                    </a:ext>
                  </a:extLst>
                </a:gridCol>
                <a:gridCol w="1080000">
                  <a:extLst>
                    <a:ext uri="{9D8B030D-6E8A-4147-A177-3AD203B41FA5}">
                      <a16:colId xmlns:a16="http://schemas.microsoft.com/office/drawing/2014/main" val="2292887902"/>
                    </a:ext>
                  </a:extLst>
                </a:gridCol>
                <a:gridCol w="360000">
                  <a:extLst>
                    <a:ext uri="{9D8B030D-6E8A-4147-A177-3AD203B41FA5}">
                      <a16:colId xmlns:a16="http://schemas.microsoft.com/office/drawing/2014/main" val="397294313"/>
                    </a:ext>
                  </a:extLst>
                </a:gridCol>
                <a:gridCol w="1080000">
                  <a:extLst>
                    <a:ext uri="{9D8B030D-6E8A-4147-A177-3AD203B41FA5}">
                      <a16:colId xmlns:a16="http://schemas.microsoft.com/office/drawing/2014/main" val="920960973"/>
                    </a:ext>
                  </a:extLst>
                </a:gridCol>
              </a:tblGrid>
              <a:tr h="178352">
                <a:tc gridSpan="7">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rPr>
                        <a:t>4. TEF </a:t>
                      </a:r>
                      <a:r>
                        <a:rPr lang="zh-CN" altLang="en-US" sz="1400" dirty="0">
                          <a:solidFill>
                            <a:schemeClr val="tx1"/>
                          </a:solidFill>
                        </a:rPr>
                        <a:t>技术因子和环境因子</a:t>
                      </a:r>
                      <a:endParaRPr lang="en-US" altLang="zh-CN"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7519571"/>
                  </a:ext>
                </a:extLst>
              </a:tr>
              <a:tr h="178352">
                <a:tc>
                  <a:txBody>
                    <a:bodyPr/>
                    <a:lstStyle/>
                    <a:p>
                      <a:r>
                        <a:rPr lang="en-US" altLang="zh-CN" sz="1400" dirty="0">
                          <a:solidFill>
                            <a:schemeClr val="tx1"/>
                          </a:solidFill>
                        </a:rPr>
                        <a:t>TCF </a:t>
                      </a:r>
                      <a:endParaRPr lang="zh-CN" altLang="en-US"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a:t>
                      </a:r>
                      <a:endParaRPr lang="zh-CN" altLang="en-US"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7111049"/>
                  </a:ext>
                </a:extLst>
              </a:tr>
              <a:tr h="178352">
                <a:tc>
                  <a:txBody>
                    <a:bodyPr/>
                    <a:lstStyle/>
                    <a:p>
                      <a:r>
                        <a:rPr lang="en-US" altLang="zh-CN" sz="1400" dirty="0">
                          <a:solidFill>
                            <a:schemeClr val="tx1"/>
                          </a:solidFill>
                        </a:rPr>
                        <a:t>ECF</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95791767"/>
                  </a:ext>
                </a:extLst>
              </a:tr>
            </a:tbl>
          </a:graphicData>
        </a:graphic>
      </p:graphicFrame>
    </p:spTree>
    <p:extLst>
      <p:ext uri="{BB962C8B-B14F-4D97-AF65-F5344CB8AC3E}">
        <p14:creationId xmlns:p14="http://schemas.microsoft.com/office/powerpoint/2010/main" val="760121017"/>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6163B2-B1E9-D276-F972-B2563017564B}"/>
              </a:ext>
            </a:extLst>
          </p:cNvPr>
          <p:cNvSpPr>
            <a:spLocks noGrp="1"/>
          </p:cNvSpPr>
          <p:nvPr>
            <p:ph type="title"/>
          </p:nvPr>
        </p:nvSpPr>
        <p:spPr>
          <a:xfrm>
            <a:off x="792000" y="360000"/>
            <a:ext cx="6375921" cy="429413"/>
          </a:xfrm>
        </p:spPr>
        <p:txBody>
          <a:bodyPr/>
          <a:lstStyle/>
          <a:p>
            <a:r>
              <a:rPr lang="en-US" altLang="zh-CN" dirty="0"/>
              <a:t>6.2.4 </a:t>
            </a:r>
            <a:r>
              <a:rPr lang="zh-CN" altLang="en-US" dirty="0"/>
              <a:t>类比估算</a:t>
            </a:r>
          </a:p>
        </p:txBody>
      </p:sp>
      <p:sp>
        <p:nvSpPr>
          <p:cNvPr id="6" name="内容占位符 5">
            <a:extLst>
              <a:ext uri="{FF2B5EF4-FFF2-40B4-BE49-F238E27FC236}">
                <a16:creationId xmlns:a16="http://schemas.microsoft.com/office/drawing/2014/main" id="{06A87724-568A-0D6D-CAFD-472B6873B795}"/>
              </a:ext>
            </a:extLst>
          </p:cNvPr>
          <p:cNvSpPr>
            <a:spLocks noGrp="1"/>
          </p:cNvSpPr>
          <p:nvPr>
            <p:ph idx="1"/>
          </p:nvPr>
        </p:nvSpPr>
        <p:spPr>
          <a:xfrm>
            <a:off x="696000" y="864000"/>
            <a:ext cx="10800000" cy="5400000"/>
          </a:xfrm>
        </p:spPr>
        <p:txBody>
          <a:bodyPr/>
          <a:lstStyle/>
          <a:p>
            <a:r>
              <a:rPr lang="zh-CN" altLang="en-US" dirty="0"/>
              <a:t>从整体出发进行类推</a:t>
            </a:r>
            <a:endParaRPr lang="en-US" altLang="zh-CN" dirty="0"/>
          </a:p>
          <a:p>
            <a:r>
              <a:rPr lang="zh-CN" altLang="en-US" dirty="0"/>
              <a:t>根据以往完成的类似项目所消耗的总成本或工作量来推算，并按比例分配到各任务单元</a:t>
            </a:r>
            <a:endParaRPr lang="en-US" altLang="zh-CN" dirty="0"/>
          </a:p>
          <a:p>
            <a:r>
              <a:rPr lang="zh-CN" altLang="en-US" dirty="0"/>
              <a:t>自上向下</a:t>
            </a:r>
          </a:p>
          <a:p>
            <a:r>
              <a:rPr lang="zh-CN" altLang="en-US" dirty="0"/>
              <a:t>特点</a:t>
            </a:r>
            <a:endParaRPr lang="en-US" altLang="zh-CN" dirty="0"/>
          </a:p>
          <a:p>
            <a:pPr lvl="1"/>
            <a:r>
              <a:rPr lang="zh-CN" altLang="en-US" dirty="0"/>
              <a:t>简单、易行</a:t>
            </a:r>
            <a:endParaRPr lang="en-US" altLang="zh-CN" dirty="0"/>
          </a:p>
          <a:p>
            <a:pPr lvl="1"/>
            <a:r>
              <a:rPr lang="zh-CN" altLang="en-US" dirty="0"/>
              <a:t>准确性差</a:t>
            </a:r>
            <a:endParaRPr lang="en-US" altLang="zh-CN" dirty="0"/>
          </a:p>
          <a:p>
            <a:r>
              <a:rPr lang="zh-CN" altLang="en-US" dirty="0"/>
              <a:t>适用</a:t>
            </a:r>
            <a:endParaRPr lang="en-US" altLang="zh-CN" dirty="0"/>
          </a:p>
          <a:p>
            <a:pPr lvl="1"/>
            <a:r>
              <a:rPr lang="zh-CN" altLang="en-US" dirty="0"/>
              <a:t>有例可循：有类似的历史项目数据</a:t>
            </a:r>
          </a:p>
          <a:p>
            <a:pPr lvl="1"/>
            <a:r>
              <a:rPr lang="zh-CN" altLang="en-US" dirty="0"/>
              <a:t>要求不高：估算精度要求不要</a:t>
            </a:r>
            <a:endParaRPr lang="en-US" altLang="zh-CN" dirty="0"/>
          </a:p>
          <a:p>
            <a:pPr lvl="1"/>
            <a:r>
              <a:rPr lang="zh-CN" altLang="en-US" dirty="0"/>
              <a:t>需求相对固定</a:t>
            </a:r>
            <a:endParaRPr lang="en-US" altLang="zh-CN" dirty="0"/>
          </a:p>
          <a:p>
            <a:r>
              <a:rPr lang="zh-CN" altLang="en-US" dirty="0"/>
              <a:t>实际运用</a:t>
            </a:r>
            <a:endParaRPr lang="en-US" altLang="zh-CN" dirty="0"/>
          </a:p>
          <a:p>
            <a:pPr lvl="1"/>
            <a:r>
              <a:rPr lang="zh-CN" altLang="en-US" dirty="0"/>
              <a:t>主观判断</a:t>
            </a:r>
            <a:endParaRPr lang="en-US" altLang="zh-CN" dirty="0"/>
          </a:p>
          <a:p>
            <a:pPr lvl="1"/>
            <a:r>
              <a:rPr lang="zh-CN" altLang="en-US" dirty="0"/>
              <a:t>算法复杂，很少采用</a:t>
            </a:r>
          </a:p>
        </p:txBody>
      </p:sp>
      <p:sp>
        <p:nvSpPr>
          <p:cNvPr id="16" name="文本占位符 15">
            <a:extLst>
              <a:ext uri="{FF2B5EF4-FFF2-40B4-BE49-F238E27FC236}">
                <a16:creationId xmlns:a16="http://schemas.microsoft.com/office/drawing/2014/main" id="{0822CB31-C8EF-142B-E573-50F10BD832B1}"/>
              </a:ext>
            </a:extLst>
          </p:cNvPr>
          <p:cNvSpPr>
            <a:spLocks noGrp="1"/>
          </p:cNvSpPr>
          <p:nvPr>
            <p:ph type="body" sz="quarter" idx="10"/>
          </p:nvPr>
        </p:nvSpPr>
        <p:spPr>
          <a:xfrm>
            <a:off x="7071919" y="448519"/>
            <a:ext cx="4424080" cy="338554"/>
          </a:xfrm>
        </p:spPr>
        <p:txBody>
          <a:bodyPr/>
          <a:lstStyle/>
          <a:p>
            <a:r>
              <a:rPr lang="en-US" altLang="zh-CN" dirty="0"/>
              <a:t>Analogy/Traditional</a:t>
            </a:r>
            <a:endParaRPr lang="zh-CN" altLang="en-US" dirty="0"/>
          </a:p>
        </p:txBody>
      </p:sp>
    </p:spTree>
    <p:extLst>
      <p:ext uri="{BB962C8B-B14F-4D97-AF65-F5344CB8AC3E}">
        <p14:creationId xmlns:p14="http://schemas.microsoft.com/office/powerpoint/2010/main" val="3939508625"/>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0235F-7966-4648-FB7E-5E8838A47D9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6E49222-EE36-4AEB-FEBD-EA6CA3699204}"/>
              </a:ext>
            </a:extLst>
          </p:cNvPr>
          <p:cNvSpPr>
            <a:spLocks noGrp="1"/>
          </p:cNvSpPr>
          <p:nvPr>
            <p:ph type="title"/>
          </p:nvPr>
        </p:nvSpPr>
        <p:spPr>
          <a:xfrm>
            <a:off x="792000" y="360000"/>
            <a:ext cx="6375921" cy="429413"/>
          </a:xfrm>
        </p:spPr>
        <p:txBody>
          <a:bodyPr/>
          <a:lstStyle/>
          <a:p>
            <a:r>
              <a:rPr lang="en-US" altLang="zh-CN" dirty="0"/>
              <a:t>6.2.5 </a:t>
            </a:r>
            <a:r>
              <a:rPr lang="zh-CN" altLang="en-US" dirty="0"/>
              <a:t>自下而上估算</a:t>
            </a:r>
          </a:p>
        </p:txBody>
      </p:sp>
      <p:sp>
        <p:nvSpPr>
          <p:cNvPr id="6" name="内容占位符 5">
            <a:extLst>
              <a:ext uri="{FF2B5EF4-FFF2-40B4-BE49-F238E27FC236}">
                <a16:creationId xmlns:a16="http://schemas.microsoft.com/office/drawing/2014/main" id="{52D38937-0E29-09F2-CA8E-4ED1D7BDD640}"/>
              </a:ext>
            </a:extLst>
          </p:cNvPr>
          <p:cNvSpPr>
            <a:spLocks noGrp="1"/>
          </p:cNvSpPr>
          <p:nvPr>
            <p:ph idx="1"/>
          </p:nvPr>
        </p:nvSpPr>
        <p:spPr>
          <a:xfrm>
            <a:off x="696000" y="864000"/>
            <a:ext cx="10800000" cy="5400000"/>
          </a:xfrm>
        </p:spPr>
        <p:txBody>
          <a:bodyPr/>
          <a:lstStyle/>
          <a:p>
            <a:r>
              <a:rPr lang="zh-CN" altLang="en-US" dirty="0"/>
              <a:t>利用任务分解图</a:t>
            </a:r>
            <a:r>
              <a:rPr lang="en-US" altLang="zh-CN" dirty="0"/>
              <a:t> WBS </a:t>
            </a:r>
            <a:r>
              <a:rPr lang="zh-CN" altLang="en-US" dirty="0"/>
              <a:t>对各个具体工作包进行详细的成本估算，然后将结果累加起来得出项目总成本</a:t>
            </a:r>
            <a:endParaRPr lang="en-US" altLang="zh-CN" dirty="0"/>
          </a:p>
          <a:p>
            <a:r>
              <a:rPr lang="en-US" altLang="zh-CN" dirty="0"/>
              <a:t>WBS </a:t>
            </a:r>
            <a:r>
              <a:rPr lang="zh-CN" altLang="en-US" dirty="0"/>
              <a:t>一旦确定，就可以开展估算</a:t>
            </a:r>
            <a:endParaRPr lang="en-US" altLang="zh-CN" dirty="0"/>
          </a:p>
          <a:p>
            <a:r>
              <a:rPr lang="zh-CN" altLang="en-US" dirty="0"/>
              <a:t>相对比较准确，它的准确度来源于每个任务的估算情况</a:t>
            </a:r>
          </a:p>
          <a:p>
            <a:r>
              <a:rPr lang="zh-CN" altLang="en-US" dirty="0"/>
              <a:t>花费时间</a:t>
            </a:r>
          </a:p>
          <a:p>
            <a:endParaRPr lang="zh-CN" altLang="en-US" dirty="0"/>
          </a:p>
          <a:p>
            <a:endParaRPr lang="en-US" altLang="zh-CN" dirty="0"/>
          </a:p>
          <a:p>
            <a:endParaRPr lang="zh-CN" altLang="en-US" dirty="0"/>
          </a:p>
        </p:txBody>
      </p:sp>
      <p:sp>
        <p:nvSpPr>
          <p:cNvPr id="16" name="文本占位符 15">
            <a:extLst>
              <a:ext uri="{FF2B5EF4-FFF2-40B4-BE49-F238E27FC236}">
                <a16:creationId xmlns:a16="http://schemas.microsoft.com/office/drawing/2014/main" id="{C627BE12-6A0F-52C3-2F9A-4424646CBD38}"/>
              </a:ext>
            </a:extLst>
          </p:cNvPr>
          <p:cNvSpPr>
            <a:spLocks noGrp="1"/>
          </p:cNvSpPr>
          <p:nvPr>
            <p:ph type="body" sz="quarter" idx="10"/>
          </p:nvPr>
        </p:nvSpPr>
        <p:spPr>
          <a:xfrm>
            <a:off x="7071919" y="448519"/>
            <a:ext cx="4424080" cy="338554"/>
          </a:xfrm>
        </p:spPr>
        <p:txBody>
          <a:bodyPr/>
          <a:lstStyle/>
          <a:p>
            <a:r>
              <a:rPr lang="en-US" altLang="zh-CN" dirty="0"/>
              <a:t>Top-Down/Traditional</a:t>
            </a:r>
            <a:endParaRPr lang="zh-CN" altLang="en-US" dirty="0"/>
          </a:p>
        </p:txBody>
      </p:sp>
    </p:spTree>
    <p:extLst>
      <p:ext uri="{BB962C8B-B14F-4D97-AF65-F5344CB8AC3E}">
        <p14:creationId xmlns:p14="http://schemas.microsoft.com/office/powerpoint/2010/main" val="3272589589"/>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1B7686EE-2290-E746-2711-F294703CC544}"/>
              </a:ext>
            </a:extLst>
          </p:cNvPr>
          <p:cNvGraphicFramePr>
            <a:graphicFrameLocks noGrp="1"/>
          </p:cNvGraphicFramePr>
          <p:nvPr>
            <p:extLst>
              <p:ext uri="{D42A27DB-BD31-4B8C-83A1-F6EECF244321}">
                <p14:modId xmlns:p14="http://schemas.microsoft.com/office/powerpoint/2010/main" val="1688918190"/>
              </p:ext>
            </p:extLst>
          </p:nvPr>
        </p:nvGraphicFramePr>
        <p:xfrm>
          <a:off x="1956000" y="2135953"/>
          <a:ext cx="8280000" cy="2342255"/>
        </p:xfrm>
        <a:graphic>
          <a:graphicData uri="http://schemas.openxmlformats.org/drawingml/2006/table">
            <a:tbl>
              <a:tblPr/>
              <a:tblGrid>
                <a:gridCol w="2160000">
                  <a:extLst>
                    <a:ext uri="{9D8B030D-6E8A-4147-A177-3AD203B41FA5}">
                      <a16:colId xmlns:a16="http://schemas.microsoft.com/office/drawing/2014/main" val="1521933873"/>
                    </a:ext>
                  </a:extLst>
                </a:gridCol>
                <a:gridCol w="2160000">
                  <a:extLst>
                    <a:ext uri="{9D8B030D-6E8A-4147-A177-3AD203B41FA5}">
                      <a16:colId xmlns:a16="http://schemas.microsoft.com/office/drawing/2014/main" val="1896575246"/>
                    </a:ext>
                  </a:extLst>
                </a:gridCol>
                <a:gridCol w="1440000">
                  <a:extLst>
                    <a:ext uri="{9D8B030D-6E8A-4147-A177-3AD203B41FA5}">
                      <a16:colId xmlns:a16="http://schemas.microsoft.com/office/drawing/2014/main" val="1894376317"/>
                    </a:ext>
                  </a:extLst>
                </a:gridCol>
                <a:gridCol w="1440000">
                  <a:extLst>
                    <a:ext uri="{9D8B030D-6E8A-4147-A177-3AD203B41FA5}">
                      <a16:colId xmlns:a16="http://schemas.microsoft.com/office/drawing/2014/main" val="3576738003"/>
                    </a:ext>
                  </a:extLst>
                </a:gridCol>
                <a:gridCol w="1080000">
                  <a:extLst>
                    <a:ext uri="{9D8B030D-6E8A-4147-A177-3AD203B41FA5}">
                      <a16:colId xmlns:a16="http://schemas.microsoft.com/office/drawing/2014/main" val="1037387791"/>
                    </a:ext>
                  </a:extLst>
                </a:gridCol>
              </a:tblGrid>
              <a:tr h="370635">
                <a:tc>
                  <a:txBody>
                    <a:bodyPr/>
                    <a:lstStyle/>
                    <a:p>
                      <a:pPr algn="ctr">
                        <a:buNone/>
                      </a:pPr>
                      <a:r>
                        <a:rPr lang="zh-CN" altLang="en-US" sz="1400" dirty="0"/>
                        <a:t>阶段</a:t>
                      </a:r>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zh-CN" altLang="en-US" sz="1400" dirty="0"/>
                        <a:t>人力配置</a:t>
                      </a:r>
                      <a:r>
                        <a:rPr lang="en-US" altLang="zh-CN" sz="1400" dirty="0"/>
                        <a:t>(</a:t>
                      </a:r>
                      <a:r>
                        <a:rPr lang="en-US" sz="1400" dirty="0"/>
                        <a:t>M:D:Q:S)</a:t>
                      </a:r>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zh-CN" altLang="en-US" sz="1400" dirty="0"/>
                        <a:t>时间 </a:t>
                      </a:r>
                      <a:r>
                        <a:rPr lang="en-US" altLang="zh-CN" sz="1400" dirty="0"/>
                        <a:t>(</a:t>
                      </a:r>
                      <a:r>
                        <a:rPr lang="zh-CN" altLang="en-US" sz="1400" dirty="0"/>
                        <a:t>月</a:t>
                      </a:r>
                      <a:r>
                        <a:rPr lang="en-US" altLang="zh-CN" sz="1400" dirty="0"/>
                        <a:t>)</a:t>
                      </a:r>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zh-CN" altLang="en-US" sz="1400" dirty="0"/>
                        <a:t>成本 </a:t>
                      </a:r>
                      <a:r>
                        <a:rPr lang="en-US" altLang="zh-CN" sz="1400" dirty="0"/>
                        <a:t>(</a:t>
                      </a:r>
                      <a:r>
                        <a:rPr lang="zh-CN" altLang="en-US" sz="1400" dirty="0"/>
                        <a:t>万</a:t>
                      </a:r>
                      <a:r>
                        <a:rPr lang="en-US" altLang="zh-CN" sz="1400" dirty="0"/>
                        <a:t>)</a:t>
                      </a:r>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zh-CN" altLang="en-US" sz="1400" dirty="0"/>
                        <a:t>合计</a:t>
                      </a:r>
                      <a:r>
                        <a:rPr lang="en-US" altLang="zh-CN" sz="1400" dirty="0"/>
                        <a:t>/</a:t>
                      </a:r>
                      <a:r>
                        <a:rPr lang="zh-CN" altLang="en-US" sz="1400" dirty="0"/>
                        <a:t>万</a:t>
                      </a:r>
                      <a:endParaRPr lang="en-US" altLang="zh-CN" sz="1400" dirty="0"/>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300537"/>
                  </a:ext>
                </a:extLst>
              </a:tr>
              <a:tr h="211791">
                <a:tc>
                  <a:txBody>
                    <a:bodyPr/>
                    <a:lstStyle/>
                    <a:p>
                      <a:pPr algn="l">
                        <a:buNone/>
                      </a:pPr>
                      <a:r>
                        <a:rPr lang="zh-CN" altLang="en-US" sz="1400" dirty="0"/>
                        <a:t>项目准备阶段</a:t>
                      </a:r>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M:2/D:8/Q:1</a:t>
                      </a:r>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400" dirty="0"/>
                        <a:t>0.5</a:t>
                      </a:r>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400" dirty="0"/>
                        <a:t>16.5</a:t>
                      </a:r>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ctr">
                        <a:buNone/>
                      </a:pPr>
                      <a:r>
                        <a:rPr lang="en-US" altLang="zh-CN" sz="1400" dirty="0"/>
                        <a:t>145.5</a:t>
                      </a:r>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55162956"/>
                  </a:ext>
                </a:extLst>
              </a:tr>
              <a:tr h="211791">
                <a:tc>
                  <a:txBody>
                    <a:bodyPr/>
                    <a:lstStyle/>
                    <a:p>
                      <a:pPr algn="l">
                        <a:buNone/>
                      </a:pPr>
                      <a:r>
                        <a:rPr lang="zh-CN" altLang="en-US" sz="1400" dirty="0"/>
                        <a:t>项目设计阶段</a:t>
                      </a:r>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t>M:2/D:8/Q:2/S:1</a:t>
                      </a:r>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400" dirty="0"/>
                        <a:t>1</a:t>
                      </a:r>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400" dirty="0"/>
                        <a:t>39</a:t>
                      </a:r>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buNone/>
                      </a:pPr>
                      <a:endParaRPr lang="en-US" altLang="zh-CN" sz="1600" dirty="0">
                        <a:solidFill>
                          <a:schemeClr val="bg1"/>
                        </a:solidFill>
                      </a:endParaRPr>
                    </a:p>
                  </a:txBody>
                  <a:tcPr marL="52948" marR="52948" marT="26474" marB="2647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277480541"/>
                  </a:ext>
                </a:extLst>
              </a:tr>
              <a:tr h="847164">
                <a:tc>
                  <a:txBody>
                    <a:bodyPr/>
                    <a:lstStyle/>
                    <a:p>
                      <a:pPr algn="l">
                        <a:buNone/>
                      </a:pPr>
                      <a:r>
                        <a:rPr lang="zh-CN" altLang="en-US" sz="1400" dirty="0"/>
                        <a:t>基础模块开发</a:t>
                      </a:r>
                    </a:p>
                    <a:p>
                      <a:pPr marL="171450" indent="-171450" algn="l">
                        <a:buFont typeface="Arial" panose="020B0604020202020204" pitchFamily="34" charset="0"/>
                        <a:buChar char="•"/>
                      </a:pPr>
                      <a:r>
                        <a:rPr lang="zh-CN" altLang="en-US" sz="1400" dirty="0"/>
                        <a:t>公共控制子系统</a:t>
                      </a:r>
                    </a:p>
                    <a:p>
                      <a:pPr marL="171450" indent="-171450" algn="l">
                        <a:buFont typeface="Arial" panose="020B0604020202020204" pitchFamily="34" charset="0"/>
                        <a:buChar char="•"/>
                      </a:pPr>
                      <a:r>
                        <a:rPr lang="zh-CN" altLang="en-US" sz="1400" dirty="0"/>
                        <a:t>中央会计子系统</a:t>
                      </a:r>
                    </a:p>
                    <a:p>
                      <a:pPr marL="171450" indent="-171450" algn="l">
                        <a:buFont typeface="Arial" panose="020B0604020202020204" pitchFamily="34" charset="0"/>
                        <a:buChar char="•"/>
                      </a:pPr>
                      <a:r>
                        <a:rPr lang="zh-CN" altLang="en-US" sz="1400" dirty="0"/>
                        <a:t>客户信息子系统</a:t>
                      </a:r>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M:2/D:15/Q:2/S:1</a:t>
                      </a:r>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400" dirty="0"/>
                        <a:t>1.5</a:t>
                      </a:r>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400" dirty="0"/>
                        <a:t>90</a:t>
                      </a:r>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buNone/>
                      </a:pPr>
                      <a:endParaRPr lang="en-US" altLang="zh-CN" sz="1600" dirty="0">
                        <a:solidFill>
                          <a:schemeClr val="bg1"/>
                        </a:solidFill>
                      </a:endParaRPr>
                    </a:p>
                  </a:txBody>
                  <a:tcPr marL="52948" marR="52948" marT="26474" marB="2647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859796615"/>
                  </a:ext>
                </a:extLst>
              </a:tr>
              <a:tr h="211791">
                <a:tc>
                  <a:txBody>
                    <a:bodyPr/>
                    <a:lstStyle/>
                    <a:p>
                      <a:pPr algn="l">
                        <a:buNone/>
                      </a:pPr>
                      <a:r>
                        <a:rPr lang="en-US" altLang="zh-CN" sz="1400" dirty="0"/>
                        <a:t>…</a:t>
                      </a:r>
                      <a:endParaRPr lang="zh-CN" altLang="en-US" sz="1400" dirty="0"/>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a:t>
                      </a:r>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400" dirty="0"/>
                        <a:t>…</a:t>
                      </a:r>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400" dirty="0"/>
                        <a:t>…</a:t>
                      </a:r>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400" dirty="0"/>
                        <a:t>…</a:t>
                      </a:r>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9932107"/>
                  </a:ext>
                </a:extLst>
              </a:tr>
              <a:tr h="211791">
                <a:tc>
                  <a:txBody>
                    <a:bodyPr/>
                    <a:lstStyle/>
                    <a:p>
                      <a:pPr algn="ctr">
                        <a:buNone/>
                      </a:pPr>
                      <a:r>
                        <a:rPr lang="zh-CN" altLang="en-US" sz="1400" dirty="0"/>
                        <a:t>总计</a:t>
                      </a:r>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4">
                  <a:txBody>
                    <a:bodyPr/>
                    <a:lstStyle/>
                    <a:p>
                      <a:pPr algn="ctr">
                        <a:buNone/>
                      </a:pPr>
                      <a:r>
                        <a:rPr lang="en-US" altLang="zh-CN" sz="1400" dirty="0"/>
                        <a:t>…</a:t>
                      </a:r>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buNone/>
                      </a:pPr>
                      <a:endParaRPr lang="en-US" altLang="zh-CN" sz="1600" dirty="0">
                        <a:solidFill>
                          <a:schemeClr val="bg1"/>
                        </a:solidFill>
                      </a:endParaRPr>
                    </a:p>
                  </a:txBody>
                  <a:tcPr marL="52948" marR="52948" marT="26474" marB="2647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buNone/>
                      </a:pPr>
                      <a:endParaRPr lang="en-US" altLang="zh-CN" sz="1600" dirty="0">
                        <a:solidFill>
                          <a:schemeClr val="bg1"/>
                        </a:solidFill>
                      </a:endParaRPr>
                    </a:p>
                  </a:txBody>
                  <a:tcPr marL="52948" marR="52948" marT="26474" marB="2647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buNone/>
                      </a:pPr>
                      <a:endParaRPr lang="en-US" altLang="zh-CN" sz="1600" dirty="0">
                        <a:solidFill>
                          <a:schemeClr val="bg1"/>
                        </a:solidFill>
                      </a:endParaRPr>
                    </a:p>
                  </a:txBody>
                  <a:tcPr marL="52948" marR="52948" marT="26474" marB="2647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066202875"/>
                  </a:ext>
                </a:extLst>
              </a:tr>
            </a:tbl>
          </a:graphicData>
        </a:graphic>
      </p:graphicFrame>
      <p:sp>
        <p:nvSpPr>
          <p:cNvPr id="6" name="文本框 5">
            <a:extLst>
              <a:ext uri="{FF2B5EF4-FFF2-40B4-BE49-F238E27FC236}">
                <a16:creationId xmlns:a16="http://schemas.microsoft.com/office/drawing/2014/main" id="{D526B546-0AB4-0F3F-8CE1-979872ED32AF}"/>
              </a:ext>
            </a:extLst>
          </p:cNvPr>
          <p:cNvSpPr txBox="1"/>
          <p:nvPr/>
        </p:nvSpPr>
        <p:spPr>
          <a:xfrm>
            <a:off x="7348207" y="5211097"/>
            <a:ext cx="2707793" cy="954107"/>
          </a:xfrm>
          <a:prstGeom prst="rect">
            <a:avLst/>
          </a:prstGeom>
          <a:noFill/>
        </p:spPr>
        <p:txBody>
          <a:bodyPr wrap="none" rtlCol="0">
            <a:spAutoFit/>
          </a:bodyPr>
          <a:lstStyle/>
          <a:p>
            <a:pPr algn="r"/>
            <a:r>
              <a:rPr lang="en-US" altLang="zh-CN" sz="1400" dirty="0"/>
              <a:t>M: Manager</a:t>
            </a:r>
          </a:p>
          <a:p>
            <a:pPr algn="r"/>
            <a:r>
              <a:rPr lang="en-US" altLang="zh-CN" sz="1400" dirty="0"/>
              <a:t>D: Developer</a:t>
            </a:r>
          </a:p>
          <a:p>
            <a:pPr algn="r"/>
            <a:r>
              <a:rPr lang="en-US" altLang="zh-CN" sz="1400" dirty="0"/>
              <a:t>Q: Quality Assurance</a:t>
            </a:r>
          </a:p>
          <a:p>
            <a:pPr algn="r"/>
            <a:r>
              <a:rPr lang="en-US" altLang="zh-CN" sz="1400" dirty="0"/>
              <a:t>S: System Architect / Senior</a:t>
            </a:r>
            <a:endParaRPr lang="zh-CN" altLang="en-US" sz="1400" dirty="0"/>
          </a:p>
        </p:txBody>
      </p:sp>
      <p:sp>
        <p:nvSpPr>
          <p:cNvPr id="2" name="文本框 1">
            <a:extLst>
              <a:ext uri="{FF2B5EF4-FFF2-40B4-BE49-F238E27FC236}">
                <a16:creationId xmlns:a16="http://schemas.microsoft.com/office/drawing/2014/main" id="{476F327E-FB59-1FCA-2DF0-2CD834398E4E}"/>
              </a:ext>
            </a:extLst>
          </p:cNvPr>
          <p:cNvSpPr txBox="1"/>
          <p:nvPr/>
        </p:nvSpPr>
        <p:spPr>
          <a:xfrm>
            <a:off x="695325" y="5826650"/>
            <a:ext cx="1826141" cy="338554"/>
          </a:xfrm>
          <a:prstGeom prst="rect">
            <a:avLst/>
          </a:prstGeom>
          <a:noFill/>
        </p:spPr>
        <p:txBody>
          <a:bodyPr wrap="none" rtlCol="0">
            <a:spAutoFit/>
          </a:bodyPr>
          <a:lstStyle/>
          <a:p>
            <a:pPr algn="l"/>
            <a:r>
              <a:rPr lang="zh-CN" altLang="en-US" sz="1600" dirty="0"/>
              <a:t>人均薪资是多少？</a:t>
            </a:r>
          </a:p>
        </p:txBody>
      </p:sp>
    </p:spTree>
    <p:extLst>
      <p:ext uri="{BB962C8B-B14F-4D97-AF65-F5344CB8AC3E}">
        <p14:creationId xmlns:p14="http://schemas.microsoft.com/office/powerpoint/2010/main" val="4233488024"/>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042479-10BC-50C8-2F14-B14B0ED09349}"/>
              </a:ext>
            </a:extLst>
          </p:cNvPr>
          <p:cNvSpPr>
            <a:spLocks noGrp="1"/>
          </p:cNvSpPr>
          <p:nvPr>
            <p:ph type="title"/>
          </p:nvPr>
        </p:nvSpPr>
        <p:spPr>
          <a:xfrm>
            <a:off x="792000" y="360000"/>
            <a:ext cx="6375921" cy="429413"/>
          </a:xfrm>
        </p:spPr>
        <p:txBody>
          <a:bodyPr/>
          <a:lstStyle/>
          <a:p>
            <a:r>
              <a:rPr lang="en-US" altLang="zh-CN" dirty="0"/>
              <a:t>6.2.6 </a:t>
            </a:r>
            <a:r>
              <a:rPr lang="zh-CN" altLang="en-US" dirty="0"/>
              <a:t>三点估算</a:t>
            </a:r>
          </a:p>
        </p:txBody>
      </p:sp>
      <p:sp>
        <p:nvSpPr>
          <p:cNvPr id="3" name="内容占位符 2">
            <a:extLst>
              <a:ext uri="{FF2B5EF4-FFF2-40B4-BE49-F238E27FC236}">
                <a16:creationId xmlns:a16="http://schemas.microsoft.com/office/drawing/2014/main" id="{990F2CAD-9236-61F8-55A8-8BB63A3CF9C2}"/>
              </a:ext>
            </a:extLst>
          </p:cNvPr>
          <p:cNvSpPr>
            <a:spLocks noGrp="1"/>
          </p:cNvSpPr>
          <p:nvPr>
            <p:ph idx="1"/>
          </p:nvPr>
        </p:nvSpPr>
        <p:spPr>
          <a:xfrm>
            <a:off x="696000" y="864000"/>
            <a:ext cx="10800000" cy="5400000"/>
          </a:xfrm>
        </p:spPr>
        <p:txBody>
          <a:bodyPr/>
          <a:lstStyle/>
          <a:p>
            <a:r>
              <a:rPr lang="zh-CN" altLang="en-US" dirty="0"/>
              <a:t>聚焦项目的不确定性和风险</a:t>
            </a:r>
            <a:endParaRPr lang="en-US" altLang="zh-CN" dirty="0"/>
          </a:p>
          <a:p>
            <a:r>
              <a:rPr lang="zh-CN" altLang="en-US" dirty="0"/>
              <a:t>基于对同一任务在三种不同情景下的成本预测</a:t>
            </a:r>
            <a:endParaRPr lang="en-US" altLang="zh-CN" dirty="0"/>
          </a:p>
          <a:p>
            <a:pPr lvl="1"/>
            <a:r>
              <a:rPr lang="zh-CN" altLang="en-US" dirty="0"/>
              <a:t>最可能成本 </a:t>
            </a:r>
            <a:r>
              <a:rPr lang="en-US" altLang="zh-CN" dirty="0"/>
              <a:t>CM</a:t>
            </a:r>
            <a:r>
              <a:rPr lang="zh-CN" altLang="en-US" dirty="0"/>
              <a:t>：</a:t>
            </a:r>
            <a:r>
              <a:rPr lang="en-US" altLang="zh-CN" dirty="0"/>
              <a:t>Most Likely</a:t>
            </a:r>
            <a:r>
              <a:rPr lang="zh-CN" altLang="en-US" dirty="0"/>
              <a:t>；比较现实的估算成本；正常、现实条件下的预期成本</a:t>
            </a:r>
          </a:p>
          <a:p>
            <a:pPr lvl="1"/>
            <a:r>
              <a:rPr lang="zh-CN" altLang="en-US" dirty="0"/>
              <a:t>最乐观成本 </a:t>
            </a:r>
            <a:r>
              <a:rPr lang="en-US" altLang="zh-CN" dirty="0"/>
              <a:t>CO</a:t>
            </a:r>
            <a:r>
              <a:rPr lang="zh-CN" altLang="en-US" dirty="0"/>
              <a:t>：</a:t>
            </a:r>
            <a:r>
              <a:rPr lang="en-US" altLang="zh-CN" dirty="0"/>
              <a:t>Optimistic</a:t>
            </a:r>
            <a:r>
              <a:rPr lang="zh-CN" altLang="en-US" dirty="0"/>
              <a:t>；最好情况的估算成本；一切顺利、无风险情况下的最低成本</a:t>
            </a:r>
          </a:p>
          <a:p>
            <a:pPr lvl="1"/>
            <a:r>
              <a:rPr lang="zh-CN" altLang="en-US" dirty="0"/>
              <a:t>最悲观成本 </a:t>
            </a:r>
            <a:r>
              <a:rPr lang="en-US" altLang="zh-CN" dirty="0"/>
              <a:t>CP</a:t>
            </a:r>
            <a:r>
              <a:rPr lang="zh-CN" altLang="en-US" dirty="0"/>
              <a:t>：</a:t>
            </a:r>
            <a:r>
              <a:rPr lang="en-US" altLang="zh-CN" dirty="0"/>
              <a:t>Pessimistic</a:t>
            </a:r>
            <a:r>
              <a:rPr lang="zh-CN" altLang="en-US" dirty="0"/>
              <a:t>；最差情况的估算成本；遇到最大困难、风险全发情况下的最高成本</a:t>
            </a:r>
            <a:endParaRPr lang="en-US" altLang="zh-CN" dirty="0"/>
          </a:p>
          <a:p>
            <a:r>
              <a:rPr lang="zh-CN" altLang="en-US" dirty="0"/>
              <a:t>常用模型</a:t>
            </a:r>
          </a:p>
          <a:p>
            <a:endParaRPr lang="zh-CN" altLang="en-US" dirty="0"/>
          </a:p>
        </p:txBody>
      </p:sp>
      <p:sp>
        <p:nvSpPr>
          <p:cNvPr id="13" name="文本占位符 12">
            <a:extLst>
              <a:ext uri="{FF2B5EF4-FFF2-40B4-BE49-F238E27FC236}">
                <a16:creationId xmlns:a16="http://schemas.microsoft.com/office/drawing/2014/main" id="{680BCB20-E510-F67D-0A1D-FAA12722B6E6}"/>
              </a:ext>
            </a:extLst>
          </p:cNvPr>
          <p:cNvSpPr>
            <a:spLocks noGrp="1"/>
          </p:cNvSpPr>
          <p:nvPr>
            <p:ph type="body" sz="quarter" idx="10"/>
          </p:nvPr>
        </p:nvSpPr>
        <p:spPr>
          <a:xfrm>
            <a:off x="7071919" y="448519"/>
            <a:ext cx="4424080" cy="338554"/>
          </a:xfrm>
        </p:spPr>
        <p:txBody>
          <a:bodyPr/>
          <a:lstStyle/>
          <a:p>
            <a:r>
              <a:rPr lang="en-US" altLang="zh-CN"/>
              <a:t>Three-Point/Traditional</a:t>
            </a:r>
            <a:endParaRPr lang="zh-CN" altLang="en-US" dirty="0"/>
          </a:p>
        </p:txBody>
      </p:sp>
      <p:graphicFrame>
        <p:nvGraphicFramePr>
          <p:cNvPr id="16" name="表格 15">
            <a:extLst>
              <a:ext uri="{FF2B5EF4-FFF2-40B4-BE49-F238E27FC236}">
                <a16:creationId xmlns:a16="http://schemas.microsoft.com/office/drawing/2014/main" id="{4996854D-0EB1-8900-22AE-91C76E424E9C}"/>
              </a:ext>
            </a:extLst>
          </p:cNvPr>
          <p:cNvGraphicFramePr>
            <a:graphicFrameLocks noGrp="1"/>
          </p:cNvGraphicFramePr>
          <p:nvPr>
            <p:extLst>
              <p:ext uri="{D42A27DB-BD31-4B8C-83A1-F6EECF244321}">
                <p14:modId xmlns:p14="http://schemas.microsoft.com/office/powerpoint/2010/main" val="1242031699"/>
              </p:ext>
            </p:extLst>
          </p:nvPr>
        </p:nvGraphicFramePr>
        <p:xfrm>
          <a:off x="3080774" y="3775392"/>
          <a:ext cx="6030452" cy="914400"/>
        </p:xfrm>
        <a:graphic>
          <a:graphicData uri="http://schemas.openxmlformats.org/drawingml/2006/table">
            <a:tbl>
              <a:tblPr firstRow="1" bandRow="1">
                <a:tableStyleId>{5C22544A-7EE6-4342-B048-85BDC9FD1C3A}</a:tableStyleId>
              </a:tblPr>
              <a:tblGrid>
                <a:gridCol w="1112016">
                  <a:extLst>
                    <a:ext uri="{9D8B030D-6E8A-4147-A177-3AD203B41FA5}">
                      <a16:colId xmlns:a16="http://schemas.microsoft.com/office/drawing/2014/main" val="2913960159"/>
                    </a:ext>
                  </a:extLst>
                </a:gridCol>
                <a:gridCol w="4918436">
                  <a:extLst>
                    <a:ext uri="{9D8B030D-6E8A-4147-A177-3AD203B41FA5}">
                      <a16:colId xmlns:a16="http://schemas.microsoft.com/office/drawing/2014/main" val="2356469426"/>
                    </a:ext>
                  </a:extLst>
                </a:gridCol>
              </a:tblGrid>
              <a:tr h="370840">
                <a:tc>
                  <a:txBody>
                    <a:bodyPr/>
                    <a:lstStyle/>
                    <a:p>
                      <a:r>
                        <a:rPr lang="zh-CN" altLang="pl-PL" sz="1800" b="0" dirty="0">
                          <a:solidFill>
                            <a:schemeClr val="tx1"/>
                          </a:solidFill>
                        </a:rPr>
                        <a:t>三角分布</a:t>
                      </a:r>
                      <a:endParaRPr lang="zh-CN" altLang="en-US" b="0" dirty="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a:r>
                        <a:rPr lang="en-US" altLang="zh-CN" sz="2400" b="0" dirty="0">
                          <a:solidFill>
                            <a:schemeClr val="tx1"/>
                          </a:solidFill>
                        </a:rPr>
                        <a:t>C</a:t>
                      </a:r>
                      <a:r>
                        <a:rPr lang="pl-PL" altLang="zh-CN" sz="2400" b="0" baseline="-25000" dirty="0">
                          <a:solidFill>
                            <a:schemeClr val="tx1"/>
                          </a:solidFill>
                        </a:rPr>
                        <a:t>E</a:t>
                      </a:r>
                      <a:r>
                        <a:rPr lang="pl-PL" altLang="zh-CN" sz="2400" b="0" dirty="0">
                          <a:solidFill>
                            <a:schemeClr val="tx1"/>
                          </a:solidFill>
                        </a:rPr>
                        <a:t> = (</a:t>
                      </a:r>
                      <a:r>
                        <a:rPr lang="zh-CN" altLang="en-US" sz="2400" b="0" dirty="0">
                          <a:solidFill>
                            <a:schemeClr val="tx1"/>
                          </a:solidFill>
                        </a:rPr>
                        <a:t> </a:t>
                      </a:r>
                      <a:r>
                        <a:rPr lang="en-US" altLang="zh-CN" sz="2400" b="0" dirty="0">
                          <a:solidFill>
                            <a:schemeClr val="tx1"/>
                          </a:solidFill>
                        </a:rPr>
                        <a:t> C</a:t>
                      </a:r>
                      <a:r>
                        <a:rPr lang="en-US" altLang="zh-CN" sz="2400" b="0" baseline="-25000" dirty="0">
                          <a:solidFill>
                            <a:schemeClr val="tx1"/>
                          </a:solidFill>
                        </a:rPr>
                        <a:t>O</a:t>
                      </a:r>
                      <a:r>
                        <a:rPr lang="pl-PL" altLang="zh-CN" sz="2400" b="0" dirty="0">
                          <a:solidFill>
                            <a:schemeClr val="tx1"/>
                          </a:solidFill>
                        </a:rPr>
                        <a:t> +</a:t>
                      </a:r>
                      <a:r>
                        <a:rPr lang="en-US" altLang="zh-CN" sz="2400" b="0" dirty="0">
                          <a:solidFill>
                            <a:schemeClr val="tx1"/>
                          </a:solidFill>
                        </a:rPr>
                        <a:t> C</a:t>
                      </a:r>
                      <a:r>
                        <a:rPr lang="en-US" altLang="zh-CN" sz="2400" b="0" baseline="-25000" dirty="0">
                          <a:solidFill>
                            <a:schemeClr val="tx1"/>
                          </a:solidFill>
                        </a:rPr>
                        <a:t>M</a:t>
                      </a:r>
                      <a:r>
                        <a:rPr lang="pl-PL" altLang="zh-CN" sz="2400" b="0" dirty="0">
                          <a:solidFill>
                            <a:schemeClr val="tx1"/>
                          </a:solidFill>
                        </a:rPr>
                        <a:t> </a:t>
                      </a:r>
                      <a:r>
                        <a:rPr lang="zh-CN" altLang="en-US" sz="2400" b="0" dirty="0">
                          <a:solidFill>
                            <a:schemeClr val="tx1"/>
                          </a:solidFill>
                        </a:rPr>
                        <a:t> </a:t>
                      </a:r>
                      <a:r>
                        <a:rPr lang="pl-PL" altLang="zh-CN" sz="2400" b="0" dirty="0">
                          <a:solidFill>
                            <a:schemeClr val="tx1"/>
                          </a:solidFill>
                        </a:rPr>
                        <a:t> +</a:t>
                      </a:r>
                      <a:r>
                        <a:rPr lang="en-US" altLang="zh-CN" sz="2400" b="0" dirty="0">
                          <a:solidFill>
                            <a:schemeClr val="tx1"/>
                          </a:solidFill>
                        </a:rPr>
                        <a:t> C</a:t>
                      </a:r>
                      <a:r>
                        <a:rPr lang="en-US" altLang="zh-CN" sz="2400" b="0" baseline="-25000" dirty="0">
                          <a:solidFill>
                            <a:schemeClr val="tx1"/>
                          </a:solidFill>
                        </a:rPr>
                        <a:t>P</a:t>
                      </a:r>
                      <a:r>
                        <a:rPr lang="pl-PL" altLang="zh-CN" sz="2400" b="0" dirty="0">
                          <a:solidFill>
                            <a:schemeClr val="tx1"/>
                          </a:solidFill>
                        </a:rPr>
                        <a:t>) / 3</a:t>
                      </a:r>
                      <a:endParaRPr lang="zh-CN" altLang="en-US" sz="2400" b="0" dirty="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16748409"/>
                  </a:ext>
                </a:extLst>
              </a:tr>
              <a:tr h="370840">
                <a:tc>
                  <a:txBody>
                    <a:bodyPr/>
                    <a:lstStyle/>
                    <a:p>
                      <a:r>
                        <a:rPr lang="zh-CN" altLang="en-US" sz="1800" b="0" dirty="0">
                          <a:solidFill>
                            <a:schemeClr val="tx1"/>
                          </a:solidFill>
                        </a:rPr>
                        <a:t>贝塔分布</a:t>
                      </a:r>
                      <a:endParaRPr lang="zh-CN" altLang="en-US" b="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l"/>
                      <a:r>
                        <a:rPr lang="en-US" altLang="zh-CN" sz="2400" b="0" dirty="0">
                          <a:solidFill>
                            <a:schemeClr val="tx1"/>
                          </a:solidFill>
                        </a:rPr>
                        <a:t>C</a:t>
                      </a:r>
                      <a:r>
                        <a:rPr lang="en-US" altLang="zh-CN" sz="2400" b="0" baseline="-25000" dirty="0">
                          <a:solidFill>
                            <a:schemeClr val="tx1"/>
                          </a:solidFill>
                        </a:rPr>
                        <a:t>E</a:t>
                      </a:r>
                      <a:r>
                        <a:rPr lang="en-US" altLang="zh-CN" sz="2400" b="0" dirty="0">
                          <a:solidFill>
                            <a:schemeClr val="tx1"/>
                          </a:solidFill>
                        </a:rPr>
                        <a:t> = (</a:t>
                      </a:r>
                      <a:r>
                        <a:rPr lang="zh-CN" altLang="en-US" sz="2400" b="0" dirty="0">
                          <a:solidFill>
                            <a:schemeClr val="tx1"/>
                          </a:solidFill>
                        </a:rPr>
                        <a:t> </a:t>
                      </a:r>
                      <a:r>
                        <a:rPr lang="en-US" altLang="zh-CN" sz="2400" b="0" dirty="0">
                          <a:solidFill>
                            <a:schemeClr val="tx1"/>
                          </a:solidFill>
                        </a:rPr>
                        <a:t> C</a:t>
                      </a:r>
                      <a:r>
                        <a:rPr lang="en-US" altLang="zh-CN" sz="2400" b="0" baseline="-25000" dirty="0">
                          <a:solidFill>
                            <a:schemeClr val="tx1"/>
                          </a:solidFill>
                        </a:rPr>
                        <a:t>O</a:t>
                      </a:r>
                      <a:r>
                        <a:rPr lang="en-US" altLang="zh-CN" sz="2400" b="0" dirty="0">
                          <a:solidFill>
                            <a:schemeClr val="tx1"/>
                          </a:solidFill>
                        </a:rPr>
                        <a:t> + 4 C</a:t>
                      </a:r>
                      <a:r>
                        <a:rPr lang="en-US" altLang="zh-CN" sz="2400" b="0" baseline="-25000" dirty="0">
                          <a:solidFill>
                            <a:schemeClr val="tx1"/>
                          </a:solidFill>
                        </a:rPr>
                        <a:t>M</a:t>
                      </a:r>
                      <a:r>
                        <a:rPr lang="en-US" altLang="zh-CN" sz="2400" b="0" dirty="0">
                          <a:solidFill>
                            <a:schemeClr val="tx1"/>
                          </a:solidFill>
                        </a:rPr>
                        <a:t> + C</a:t>
                      </a:r>
                      <a:r>
                        <a:rPr lang="en-US" altLang="zh-CN" sz="2400" b="0" baseline="-25000" dirty="0">
                          <a:solidFill>
                            <a:schemeClr val="tx1"/>
                          </a:solidFill>
                        </a:rPr>
                        <a:t>P</a:t>
                      </a:r>
                      <a:r>
                        <a:rPr lang="en-US" altLang="zh-CN" sz="2400" b="0" dirty="0">
                          <a:solidFill>
                            <a:schemeClr val="tx1"/>
                          </a:solidFill>
                        </a:rPr>
                        <a:t>) / 6</a:t>
                      </a:r>
                      <a:endParaRPr lang="zh-CN" altLang="en-US" sz="2400" b="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78105106"/>
                  </a:ext>
                </a:extLst>
              </a:tr>
            </a:tbl>
          </a:graphicData>
        </a:graphic>
      </p:graphicFrame>
    </p:spTree>
    <p:extLst>
      <p:ext uri="{BB962C8B-B14F-4D97-AF65-F5344CB8AC3E}">
        <p14:creationId xmlns:p14="http://schemas.microsoft.com/office/powerpoint/2010/main" val="495805288"/>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2E857F-18D7-D08A-57D9-96DD4762BC55}"/>
              </a:ext>
            </a:extLst>
          </p:cNvPr>
          <p:cNvSpPr>
            <a:spLocks noGrp="1"/>
          </p:cNvSpPr>
          <p:nvPr>
            <p:ph type="title"/>
          </p:nvPr>
        </p:nvSpPr>
        <p:spPr>
          <a:xfrm>
            <a:off x="792000" y="360000"/>
            <a:ext cx="6375921" cy="429413"/>
          </a:xfrm>
        </p:spPr>
        <p:txBody>
          <a:bodyPr/>
          <a:lstStyle/>
          <a:p>
            <a:r>
              <a:rPr lang="en-US" altLang="zh-CN" dirty="0"/>
              <a:t>6.2.7 </a:t>
            </a:r>
            <a:r>
              <a:rPr lang="zh-CN" altLang="en-US" dirty="0"/>
              <a:t>参数估算</a:t>
            </a:r>
          </a:p>
        </p:txBody>
      </p:sp>
      <p:sp>
        <p:nvSpPr>
          <p:cNvPr id="3" name="内容占位符 2">
            <a:extLst>
              <a:ext uri="{FF2B5EF4-FFF2-40B4-BE49-F238E27FC236}">
                <a16:creationId xmlns:a16="http://schemas.microsoft.com/office/drawing/2014/main" id="{7B6D2B23-A702-824D-CCA3-D20DFB99D61C}"/>
              </a:ext>
            </a:extLst>
          </p:cNvPr>
          <p:cNvSpPr>
            <a:spLocks noGrp="1"/>
          </p:cNvSpPr>
          <p:nvPr>
            <p:ph idx="1"/>
          </p:nvPr>
        </p:nvSpPr>
        <p:spPr>
          <a:xfrm>
            <a:off x="696000" y="864000"/>
            <a:ext cx="10800000" cy="5400000"/>
          </a:xfrm>
        </p:spPr>
        <p:txBody>
          <a:bodyPr/>
          <a:lstStyle/>
          <a:p>
            <a:r>
              <a:rPr lang="zh-CN" altLang="en-US" dirty="0"/>
              <a:t>通过项目数据，进行回归分析，得出回归模型</a:t>
            </a:r>
          </a:p>
          <a:p>
            <a:r>
              <a:rPr lang="zh-CN" altLang="en-US" dirty="0"/>
              <a:t>通过参数模型估算</a:t>
            </a:r>
            <a:endParaRPr lang="en-US" altLang="zh-CN" dirty="0"/>
          </a:p>
          <a:p>
            <a:r>
              <a:rPr lang="zh-CN" altLang="en-US" dirty="0"/>
              <a:t>优点</a:t>
            </a:r>
            <a:endParaRPr lang="en-US" altLang="zh-CN" dirty="0"/>
          </a:p>
          <a:p>
            <a:pPr lvl="1"/>
            <a:r>
              <a:rPr lang="zh-CN" altLang="en-US" dirty="0"/>
              <a:t>具有良好的项目数据为基础</a:t>
            </a:r>
          </a:p>
          <a:p>
            <a:pPr lvl="1"/>
            <a:r>
              <a:rPr lang="zh-CN" altLang="en-US" dirty="0"/>
              <a:t>存在成熟的项目估算模型</a:t>
            </a:r>
            <a:endParaRPr lang="en-US" altLang="zh-CN" dirty="0"/>
          </a:p>
          <a:p>
            <a:r>
              <a:rPr lang="zh-CN" altLang="en-US" dirty="0"/>
              <a:t>特点</a:t>
            </a:r>
            <a:endParaRPr lang="en-US" altLang="zh-CN" dirty="0"/>
          </a:p>
          <a:p>
            <a:pPr lvl="1"/>
            <a:r>
              <a:rPr lang="zh-CN" altLang="en-US" dirty="0"/>
              <a:t>比较简单，而且也比较准确</a:t>
            </a:r>
          </a:p>
          <a:p>
            <a:pPr lvl="1"/>
            <a:r>
              <a:rPr lang="zh-CN" altLang="en-US" dirty="0"/>
              <a:t>如果模型选择不当或者数据不准，也会导致偏差</a:t>
            </a:r>
          </a:p>
          <a:p>
            <a:pPr lvl="1"/>
            <a:endParaRPr lang="zh-CN" altLang="en-US" dirty="0"/>
          </a:p>
          <a:p>
            <a:endParaRPr lang="zh-CN" altLang="en-US" dirty="0"/>
          </a:p>
        </p:txBody>
      </p:sp>
      <p:sp>
        <p:nvSpPr>
          <p:cNvPr id="16" name="文本占位符 15">
            <a:extLst>
              <a:ext uri="{FF2B5EF4-FFF2-40B4-BE49-F238E27FC236}">
                <a16:creationId xmlns:a16="http://schemas.microsoft.com/office/drawing/2014/main" id="{B418CD81-4808-0E37-96F8-EF5A8CFC76C6}"/>
              </a:ext>
            </a:extLst>
          </p:cNvPr>
          <p:cNvSpPr>
            <a:spLocks noGrp="1"/>
          </p:cNvSpPr>
          <p:nvPr>
            <p:ph type="body" sz="quarter" idx="10"/>
          </p:nvPr>
        </p:nvSpPr>
        <p:spPr>
          <a:xfrm>
            <a:off x="7071919" y="448519"/>
            <a:ext cx="4424080" cy="338554"/>
          </a:xfrm>
        </p:spPr>
        <p:txBody>
          <a:bodyPr/>
          <a:lstStyle/>
          <a:p>
            <a:r>
              <a:rPr lang="en-US" altLang="zh-CN" dirty="0"/>
              <a:t>Parametric/Traditional</a:t>
            </a:r>
            <a:endParaRPr lang="zh-CN" altLang="en-US" dirty="0"/>
          </a:p>
        </p:txBody>
      </p:sp>
    </p:spTree>
    <p:extLst>
      <p:ext uri="{BB962C8B-B14F-4D97-AF65-F5344CB8AC3E}">
        <p14:creationId xmlns:p14="http://schemas.microsoft.com/office/powerpoint/2010/main" val="2716967560"/>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7B442-6FC8-8403-E8F1-4B5520A8C776}"/>
            </a:ext>
          </a:extLst>
        </p:cNvPr>
        <p:cNvGrpSpPr/>
        <p:nvPr/>
      </p:nvGrpSpPr>
      <p:grpSpPr>
        <a:xfrm>
          <a:off x="0" y="0"/>
          <a:ext cx="0" cy="0"/>
          <a:chOff x="0" y="0"/>
          <a:chExt cx="0" cy="0"/>
        </a:xfrm>
      </p:grpSpPr>
      <p:sp>
        <p:nvSpPr>
          <p:cNvPr id="6" name="标题 5">
            <a:extLst>
              <a:ext uri="{FF2B5EF4-FFF2-40B4-BE49-F238E27FC236}">
                <a16:creationId xmlns:a16="http://schemas.microsoft.com/office/drawing/2014/main" id="{67E1F62F-FD65-7A25-541F-7B4F1DABF301}"/>
              </a:ext>
            </a:extLst>
          </p:cNvPr>
          <p:cNvSpPr>
            <a:spLocks noGrp="1"/>
          </p:cNvSpPr>
          <p:nvPr>
            <p:ph type="title"/>
          </p:nvPr>
        </p:nvSpPr>
        <p:spPr>
          <a:xfrm>
            <a:off x="792000" y="360000"/>
            <a:ext cx="6375921" cy="429413"/>
          </a:xfrm>
        </p:spPr>
        <p:txBody>
          <a:bodyPr/>
          <a:lstStyle/>
          <a:p>
            <a:r>
              <a:rPr lang="en-US" altLang="zh-CN" dirty="0"/>
              <a:t>6.2.8 </a:t>
            </a:r>
            <a:r>
              <a:rPr lang="zh-CN" altLang="en-US" dirty="0"/>
              <a:t>专家估算</a:t>
            </a:r>
          </a:p>
        </p:txBody>
      </p:sp>
      <p:sp>
        <p:nvSpPr>
          <p:cNvPr id="3" name="内容占位符 2">
            <a:extLst>
              <a:ext uri="{FF2B5EF4-FFF2-40B4-BE49-F238E27FC236}">
                <a16:creationId xmlns:a16="http://schemas.microsoft.com/office/drawing/2014/main" id="{0E3FDC5A-117D-9C3B-98E7-2B8ECD0848BA}"/>
              </a:ext>
            </a:extLst>
          </p:cNvPr>
          <p:cNvSpPr>
            <a:spLocks noGrp="1"/>
          </p:cNvSpPr>
          <p:nvPr>
            <p:ph idx="1"/>
          </p:nvPr>
        </p:nvSpPr>
        <p:spPr>
          <a:xfrm>
            <a:off x="696000" y="864000"/>
            <a:ext cx="10800000" cy="5400000"/>
          </a:xfrm>
        </p:spPr>
        <p:txBody>
          <a:bodyPr>
            <a:normAutofit/>
          </a:bodyPr>
          <a:lstStyle/>
          <a:p>
            <a:r>
              <a:rPr lang="zh-CN" altLang="en-US" dirty="0"/>
              <a:t>德尔菲法 </a:t>
            </a:r>
            <a:r>
              <a:rPr lang="en-US" altLang="zh-CN" dirty="0"/>
              <a:t>Delphi Method</a:t>
            </a:r>
            <a:r>
              <a:rPr lang="zh-CN" altLang="en-US" dirty="0"/>
              <a:t> 的核心思想</a:t>
            </a:r>
            <a:endParaRPr lang="en-US" altLang="zh-CN" dirty="0"/>
          </a:p>
          <a:p>
            <a:r>
              <a:rPr lang="zh-CN" altLang="en-US" dirty="0"/>
              <a:t>由多位专家进行成本估算</a:t>
            </a:r>
            <a:endParaRPr lang="en-US" altLang="zh-CN" dirty="0"/>
          </a:p>
          <a:p>
            <a:r>
              <a:rPr lang="zh-CN" altLang="en-US" dirty="0"/>
              <a:t>一个专家可能会有偏见，最好由多位专家进行估算，取得多个估算值</a:t>
            </a:r>
            <a:r>
              <a:rPr lang="en-US" altLang="zh-CN" dirty="0"/>
              <a:t>,</a:t>
            </a:r>
            <a:r>
              <a:rPr lang="zh-CN" altLang="en-US" dirty="0"/>
              <a:t>最后得出综合的估算值</a:t>
            </a:r>
            <a:endParaRPr lang="en-US" altLang="zh-CN" dirty="0"/>
          </a:p>
          <a:p>
            <a:r>
              <a:rPr lang="zh-CN" altLang="en-US" dirty="0"/>
              <a:t>在实际操作中，德尔菲法可以与三点估算结合使用</a:t>
            </a:r>
            <a:endParaRPr lang="en-US" altLang="zh-CN" dirty="0"/>
          </a:p>
          <a:p>
            <a:r>
              <a:rPr lang="zh-CN" altLang="en-US" dirty="0"/>
              <a:t>核心流程</a:t>
            </a:r>
          </a:p>
          <a:p>
            <a:pPr lvl="1"/>
            <a:r>
              <a:rPr lang="zh-CN" altLang="en-US" dirty="0"/>
              <a:t>选择专家：挑选多位在相关领域（如软件开发、项目管理）具有丰富经验的专家</a:t>
            </a:r>
          </a:p>
          <a:p>
            <a:pPr lvl="1"/>
            <a:r>
              <a:rPr lang="zh-CN" altLang="en-US" dirty="0"/>
              <a:t>第一轮估算：向每位专家独立发送问题或项目描述，要求他们给出自己的估算值（以及可能的乐观、悲观、最可能成本）</a:t>
            </a:r>
          </a:p>
          <a:p>
            <a:pPr lvl="1"/>
            <a:r>
              <a:rPr lang="zh-CN" altLang="en-US" dirty="0"/>
              <a:t>汇总与反馈：组织者汇总所有专家的估算结果，计算出统计指标（如平均值、中位数、标准差），并将这些汇总信息（不透露具体是谁的估算值）匿名反馈给所有专家</a:t>
            </a:r>
          </a:p>
          <a:p>
            <a:pPr lvl="1"/>
            <a:r>
              <a:rPr lang="zh-CN" altLang="en-US" dirty="0"/>
              <a:t>多轮迭代：专家们根据汇总信息，重新审视自己的估算。如果自己的估算与群体差异较大，需要思考原因并调整。这个过程通常重复</a:t>
            </a:r>
            <a:r>
              <a:rPr lang="en-US" altLang="zh-CN" dirty="0"/>
              <a:t>2-4</a:t>
            </a:r>
            <a:r>
              <a:rPr lang="zh-CN" altLang="en-US" dirty="0"/>
              <a:t>轮，直到估算值趋于收敛</a:t>
            </a:r>
          </a:p>
          <a:p>
            <a:pPr lvl="1"/>
            <a:r>
              <a:rPr lang="zh-CN" altLang="en-US" dirty="0"/>
              <a:t>得出结论：当专家们的估算值不再发生显著变化，或达到预定的收敛标准时，取最终的平均值或中位数作为综合估算值</a:t>
            </a:r>
          </a:p>
        </p:txBody>
      </p:sp>
      <p:sp>
        <p:nvSpPr>
          <p:cNvPr id="5" name="文本占位符 4">
            <a:extLst>
              <a:ext uri="{FF2B5EF4-FFF2-40B4-BE49-F238E27FC236}">
                <a16:creationId xmlns:a16="http://schemas.microsoft.com/office/drawing/2014/main" id="{0ED1C577-BE4D-33FE-2DDF-3FE021B99DDD}"/>
              </a:ext>
            </a:extLst>
          </p:cNvPr>
          <p:cNvSpPr>
            <a:spLocks noGrp="1"/>
          </p:cNvSpPr>
          <p:nvPr>
            <p:ph type="body" sz="quarter" idx="10"/>
          </p:nvPr>
        </p:nvSpPr>
        <p:spPr>
          <a:xfrm>
            <a:off x="7071919" y="448519"/>
            <a:ext cx="4424080" cy="338554"/>
          </a:xfrm>
        </p:spPr>
        <p:txBody>
          <a:bodyPr/>
          <a:lstStyle/>
          <a:p>
            <a:r>
              <a:rPr lang="en-US" altLang="zh-CN" dirty="0"/>
              <a:t>Expert Judgment/Traditional</a:t>
            </a:r>
            <a:endParaRPr lang="zh-CN" altLang="en-US" dirty="0"/>
          </a:p>
        </p:txBody>
      </p:sp>
    </p:spTree>
    <p:extLst>
      <p:ext uri="{BB962C8B-B14F-4D97-AF65-F5344CB8AC3E}">
        <p14:creationId xmlns:p14="http://schemas.microsoft.com/office/powerpoint/2010/main" val="333560158"/>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9D510EB3-DAAE-C966-F6D6-492EDDEE4FD3}"/>
              </a:ext>
            </a:extLst>
          </p:cNvPr>
          <p:cNvSpPr>
            <a:spLocks noGrp="1"/>
          </p:cNvSpPr>
          <p:nvPr>
            <p:ph type="title"/>
          </p:nvPr>
        </p:nvSpPr>
        <p:spPr>
          <a:xfrm>
            <a:off x="792000" y="360000"/>
            <a:ext cx="6375921" cy="429413"/>
          </a:xfrm>
        </p:spPr>
        <p:txBody>
          <a:bodyPr/>
          <a:lstStyle/>
          <a:p>
            <a:r>
              <a:rPr lang="en-US" altLang="zh-CN" dirty="0"/>
              <a:t>6.2.8 </a:t>
            </a:r>
            <a:r>
              <a:rPr lang="zh-CN" altLang="en-US" dirty="0"/>
              <a:t>专家估算</a:t>
            </a:r>
          </a:p>
        </p:txBody>
      </p:sp>
      <p:sp>
        <p:nvSpPr>
          <p:cNvPr id="3" name="内容占位符 2">
            <a:extLst>
              <a:ext uri="{FF2B5EF4-FFF2-40B4-BE49-F238E27FC236}">
                <a16:creationId xmlns:a16="http://schemas.microsoft.com/office/drawing/2014/main" id="{68A867FF-8F76-0A84-A8AF-19464102213B}"/>
              </a:ext>
            </a:extLst>
          </p:cNvPr>
          <p:cNvSpPr>
            <a:spLocks noGrp="1"/>
          </p:cNvSpPr>
          <p:nvPr>
            <p:ph idx="1"/>
          </p:nvPr>
        </p:nvSpPr>
        <p:spPr>
          <a:xfrm>
            <a:off x="696000" y="864000"/>
            <a:ext cx="10800000" cy="5400000"/>
          </a:xfrm>
        </p:spPr>
        <p:txBody>
          <a:bodyPr>
            <a:normAutofit/>
          </a:bodyPr>
          <a:lstStyle/>
          <a:p>
            <a:r>
              <a:rPr lang="zh-CN" altLang="en-US" dirty="0"/>
              <a:t>优势</a:t>
            </a:r>
          </a:p>
          <a:p>
            <a:pPr lvl="1"/>
            <a:r>
              <a:rPr lang="zh-CN" altLang="en-US" dirty="0"/>
              <a:t>消除群体压力：专家匿名进行，避免了权威专家或强势人物对其他人的影响，每个人都能独立思考</a:t>
            </a:r>
          </a:p>
          <a:p>
            <a:pPr lvl="1"/>
            <a:r>
              <a:rPr lang="zh-CN" altLang="en-US" dirty="0"/>
              <a:t>减少个人偏见：通过多轮反馈和修正，专家可以吸收他人的观点，修正自己的认知偏差</a:t>
            </a:r>
          </a:p>
          <a:p>
            <a:pPr lvl="1"/>
            <a:r>
              <a:rPr lang="zh-CN" altLang="en-US" dirty="0"/>
              <a:t>汇集群体智慧：利用了多位专家的经验和知识，比单个专家的判断更全面、更可靠</a:t>
            </a:r>
          </a:p>
        </p:txBody>
      </p:sp>
      <p:sp>
        <p:nvSpPr>
          <p:cNvPr id="16" name="文本占位符 15">
            <a:extLst>
              <a:ext uri="{FF2B5EF4-FFF2-40B4-BE49-F238E27FC236}">
                <a16:creationId xmlns:a16="http://schemas.microsoft.com/office/drawing/2014/main" id="{A1806F8F-CEF1-2326-953E-63F76A16B02C}"/>
              </a:ext>
            </a:extLst>
          </p:cNvPr>
          <p:cNvSpPr>
            <a:spLocks noGrp="1"/>
          </p:cNvSpPr>
          <p:nvPr>
            <p:ph type="body" sz="quarter" idx="10"/>
          </p:nvPr>
        </p:nvSpPr>
        <p:spPr>
          <a:xfrm>
            <a:off x="7071919" y="448519"/>
            <a:ext cx="4424080" cy="338554"/>
          </a:xfrm>
        </p:spPr>
        <p:txBody>
          <a:bodyPr/>
          <a:lstStyle/>
          <a:p>
            <a:r>
              <a:rPr lang="en-US" altLang="zh-CN" dirty="0"/>
              <a:t>Expert Judgment/Traditional</a:t>
            </a:r>
            <a:endParaRPr lang="zh-CN" altLang="en-US" dirty="0"/>
          </a:p>
        </p:txBody>
      </p:sp>
    </p:spTree>
    <p:extLst>
      <p:ext uri="{BB962C8B-B14F-4D97-AF65-F5344CB8AC3E}">
        <p14:creationId xmlns:p14="http://schemas.microsoft.com/office/powerpoint/2010/main" val="2166867133"/>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6C4FB609-AEB6-B7AC-DBF4-AD568D543147}"/>
              </a:ext>
            </a:extLst>
          </p:cNvPr>
          <p:cNvGraphicFramePr>
            <a:graphicFrameLocks noGrp="1"/>
          </p:cNvGraphicFramePr>
          <p:nvPr>
            <p:extLst>
              <p:ext uri="{D42A27DB-BD31-4B8C-83A1-F6EECF244321}">
                <p14:modId xmlns:p14="http://schemas.microsoft.com/office/powerpoint/2010/main" val="2174285130"/>
              </p:ext>
            </p:extLst>
          </p:nvPr>
        </p:nvGraphicFramePr>
        <p:xfrm>
          <a:off x="3936000" y="2514600"/>
          <a:ext cx="4320000" cy="1828800"/>
        </p:xfrm>
        <a:graphic>
          <a:graphicData uri="http://schemas.openxmlformats.org/drawingml/2006/table">
            <a:tbl>
              <a:tblPr/>
              <a:tblGrid>
                <a:gridCol w="1080000">
                  <a:extLst>
                    <a:ext uri="{9D8B030D-6E8A-4147-A177-3AD203B41FA5}">
                      <a16:colId xmlns:a16="http://schemas.microsoft.com/office/drawing/2014/main" val="991066387"/>
                    </a:ext>
                  </a:extLst>
                </a:gridCol>
                <a:gridCol w="1080000">
                  <a:extLst>
                    <a:ext uri="{9D8B030D-6E8A-4147-A177-3AD203B41FA5}">
                      <a16:colId xmlns:a16="http://schemas.microsoft.com/office/drawing/2014/main" val="78009642"/>
                    </a:ext>
                  </a:extLst>
                </a:gridCol>
                <a:gridCol w="1080000">
                  <a:extLst>
                    <a:ext uri="{9D8B030D-6E8A-4147-A177-3AD203B41FA5}">
                      <a16:colId xmlns:a16="http://schemas.microsoft.com/office/drawing/2014/main" val="3411480541"/>
                    </a:ext>
                  </a:extLst>
                </a:gridCol>
                <a:gridCol w="1080000">
                  <a:extLst>
                    <a:ext uri="{9D8B030D-6E8A-4147-A177-3AD203B41FA5}">
                      <a16:colId xmlns:a16="http://schemas.microsoft.com/office/drawing/2014/main" val="3171784639"/>
                    </a:ext>
                  </a:extLst>
                </a:gridCol>
              </a:tblGrid>
              <a:tr h="365760">
                <a:tc grid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t>Round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a:buNone/>
                      </a:pPr>
                      <a:endParaRPr lang="en-US" sz="1600" baseline="-25000" dirty="0">
                        <a:solidFill>
                          <a:schemeClr val="bg1"/>
                        </a:solidFill>
                      </a:endParaRPr>
                    </a:p>
                  </a:txBody>
                  <a:tcPr anchor="ctr">
                    <a:lnL>
                      <a:noFill/>
                    </a:lnL>
                    <a:lnR>
                      <a:noFill/>
                    </a:lnR>
                    <a:lnT>
                      <a:noFill/>
                    </a:lnT>
                    <a:lnB w="12700" cap="flat" cmpd="sng" algn="ctr">
                      <a:solidFill>
                        <a:schemeClr val="bg1"/>
                      </a:solidFill>
                      <a:prstDash val="solid"/>
                      <a:round/>
                      <a:headEnd type="none" w="med" len="med"/>
                      <a:tailEnd type="none" w="med" len="med"/>
                    </a:lnB>
                    <a:noFill/>
                  </a:tcPr>
                </a:tc>
                <a:tc hMerge="1">
                  <a:txBody>
                    <a:bodyPr/>
                    <a:lstStyle/>
                    <a:p>
                      <a:pPr algn="l">
                        <a:buNone/>
                      </a:pPr>
                      <a:endParaRPr lang="en-US" sz="1600" baseline="-25000" dirty="0">
                        <a:solidFill>
                          <a:schemeClr val="bg1"/>
                        </a:solidFill>
                      </a:endParaRPr>
                    </a:p>
                  </a:txBody>
                  <a:tcPr anchor="ctr">
                    <a:lnL>
                      <a:noFill/>
                    </a:lnL>
                    <a:lnR>
                      <a:noFill/>
                    </a:lnR>
                    <a:lnT>
                      <a:noFill/>
                    </a:lnT>
                    <a:lnB w="12700" cap="flat" cmpd="sng" algn="ctr">
                      <a:solidFill>
                        <a:schemeClr val="bg1"/>
                      </a:solidFill>
                      <a:prstDash val="solid"/>
                      <a:round/>
                      <a:headEnd type="none" w="med" len="med"/>
                      <a:tailEnd type="none" w="med" len="med"/>
                    </a:lnB>
                    <a:noFill/>
                  </a:tcPr>
                </a:tc>
                <a:tc hMerge="1">
                  <a:txBody>
                    <a:bodyPr/>
                    <a:lstStyle/>
                    <a:p>
                      <a:pPr algn="l">
                        <a:buNone/>
                      </a:pPr>
                      <a:endParaRPr lang="en-US" sz="1600" baseline="-25000" dirty="0">
                        <a:solidFill>
                          <a:schemeClr val="bg1"/>
                        </a:solidFill>
                      </a:endParaRPr>
                    </a:p>
                  </a:txBody>
                  <a:tcPr anchor="ctr">
                    <a:lnL>
                      <a:noFill/>
                    </a:lnL>
                    <a:lnR>
                      <a:noFill/>
                    </a:lnR>
                    <a:lnT>
                      <a:noFill/>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715359499"/>
                  </a:ext>
                </a:extLst>
              </a:tr>
              <a:tr h="365760">
                <a:tc>
                  <a:txBody>
                    <a:bodyPr/>
                    <a:lstStyle/>
                    <a:p>
                      <a:pPr algn="l">
                        <a:buNone/>
                      </a:pPr>
                      <a:r>
                        <a:rPr lang="zh-CN" altLang="en-US" sz="1400" dirty="0"/>
                        <a:t>专家</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ltLang="zh-CN" sz="1400" dirty="0"/>
                        <a:t>CO</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ltLang="zh-CN" sz="1400" dirty="0"/>
                        <a:t>CM</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ltLang="zh-CN" sz="1400" dirty="0"/>
                        <a:t>CP</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9717604"/>
                  </a:ext>
                </a:extLst>
              </a:tr>
              <a:tr h="365760">
                <a:tc>
                  <a:txBody>
                    <a:bodyPr/>
                    <a:lstStyle/>
                    <a:p>
                      <a:pPr algn="l">
                        <a:buNone/>
                      </a:pPr>
                      <a:r>
                        <a:rPr lang="zh-CN" altLang="en-US" sz="1400" dirty="0"/>
                        <a:t>专家</a:t>
                      </a:r>
                      <a:r>
                        <a:rPr lang="en-US" altLang="zh-CN" sz="14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ltLang="zh-CN" sz="1400" dirty="0"/>
                        <a:t>600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ltLang="zh-CN" sz="1400"/>
                        <a:t>800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ltLang="zh-CN" sz="1400"/>
                        <a:t>1200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3779920"/>
                  </a:ext>
                </a:extLst>
              </a:tr>
              <a:tr h="365760">
                <a:tc>
                  <a:txBody>
                    <a:bodyPr/>
                    <a:lstStyle/>
                    <a:p>
                      <a:pPr algn="l">
                        <a:buNone/>
                      </a:pPr>
                      <a:r>
                        <a:rPr lang="zh-CN" altLang="en-US" sz="1400"/>
                        <a:t>专家</a:t>
                      </a:r>
                      <a:r>
                        <a:rPr lang="en-US" altLang="zh-CN" sz="140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ltLang="zh-CN" sz="1400"/>
                        <a:t>700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ltLang="zh-CN" sz="1400"/>
                        <a:t>900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ltLang="zh-CN" sz="1400"/>
                        <a:t>1500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05151521"/>
                  </a:ext>
                </a:extLst>
              </a:tr>
              <a:tr h="365760">
                <a:tc>
                  <a:txBody>
                    <a:bodyPr/>
                    <a:lstStyle/>
                    <a:p>
                      <a:pPr algn="l">
                        <a:buNone/>
                      </a:pPr>
                      <a:r>
                        <a:rPr lang="zh-CN" altLang="en-US" sz="1400"/>
                        <a:t>专家</a:t>
                      </a:r>
                      <a:r>
                        <a:rPr lang="en-US" altLang="zh-CN" sz="140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ltLang="zh-CN" sz="1400"/>
                        <a:t>500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ltLang="zh-CN" sz="1400"/>
                        <a:t>700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ltLang="zh-CN" sz="1400" dirty="0"/>
                        <a:t>1000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60657222"/>
                  </a:ext>
                </a:extLst>
              </a:tr>
            </a:tbl>
          </a:graphicData>
        </a:graphic>
      </p:graphicFrame>
    </p:spTree>
    <p:extLst>
      <p:ext uri="{BB962C8B-B14F-4D97-AF65-F5344CB8AC3E}">
        <p14:creationId xmlns:p14="http://schemas.microsoft.com/office/powerpoint/2010/main" val="2199995432"/>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3C9AF2-60B1-1DC2-0BF5-0E77EA7748B9}"/>
              </a:ext>
            </a:extLst>
          </p:cNvPr>
          <p:cNvSpPr>
            <a:spLocks noGrp="1"/>
          </p:cNvSpPr>
          <p:nvPr>
            <p:ph type="title"/>
          </p:nvPr>
        </p:nvSpPr>
        <p:spPr>
          <a:xfrm>
            <a:off x="792000" y="360000"/>
            <a:ext cx="6375921" cy="429413"/>
          </a:xfrm>
        </p:spPr>
        <p:txBody>
          <a:bodyPr/>
          <a:lstStyle/>
          <a:p>
            <a:r>
              <a:rPr lang="en-US" altLang="zh-CN" dirty="0"/>
              <a:t>6.3 </a:t>
            </a:r>
            <a:r>
              <a:rPr lang="zh-CN" altLang="en-US" dirty="0"/>
              <a:t>敏捷项目成本估算</a:t>
            </a:r>
          </a:p>
        </p:txBody>
      </p:sp>
      <p:sp>
        <p:nvSpPr>
          <p:cNvPr id="3" name="内容占位符 2">
            <a:extLst>
              <a:ext uri="{FF2B5EF4-FFF2-40B4-BE49-F238E27FC236}">
                <a16:creationId xmlns:a16="http://schemas.microsoft.com/office/drawing/2014/main" id="{0B611026-6966-8AC3-800C-CD99B7ECE1B3}"/>
              </a:ext>
            </a:extLst>
          </p:cNvPr>
          <p:cNvSpPr>
            <a:spLocks noGrp="1"/>
          </p:cNvSpPr>
          <p:nvPr>
            <p:ph idx="1"/>
          </p:nvPr>
        </p:nvSpPr>
        <p:spPr>
          <a:xfrm>
            <a:off x="696000" y="864000"/>
            <a:ext cx="10800000" cy="5400000"/>
          </a:xfrm>
        </p:spPr>
        <p:txBody>
          <a:bodyPr/>
          <a:lstStyle/>
          <a:p>
            <a:r>
              <a:rPr lang="zh-CN" altLang="en-US" dirty="0"/>
              <a:t>敏捷项目估算强调的是一致性；而不是准确性</a:t>
            </a:r>
            <a:endParaRPr lang="en-US" altLang="zh-CN" dirty="0"/>
          </a:p>
          <a:p>
            <a:r>
              <a:rPr lang="zh-CN" altLang="en-US" dirty="0"/>
              <a:t>敏捷项目采用用户故事 </a:t>
            </a:r>
            <a:r>
              <a:rPr lang="en-US" altLang="zh-CN" dirty="0"/>
              <a:t>User Story </a:t>
            </a:r>
            <a:r>
              <a:rPr lang="zh-CN" altLang="en-US" dirty="0"/>
              <a:t>描述项目需求，因此采用用户故事点 </a:t>
            </a:r>
            <a:r>
              <a:rPr lang="en-US" altLang="zh-CN" dirty="0"/>
              <a:t>User </a:t>
            </a:r>
            <a:r>
              <a:rPr lang="en-US" altLang="zh-CN" dirty="0">
                <a:hlinkClick r:id="rId3"/>
              </a:rPr>
              <a:t>Story Point</a:t>
            </a:r>
            <a:r>
              <a:rPr lang="zh-CN" altLang="en-US" dirty="0"/>
              <a:t>来描述实现一个用户故事需要付出的工作量</a:t>
            </a:r>
            <a:r>
              <a:rPr lang="en-US" altLang="zh-CN" dirty="0"/>
              <a:t>/</a:t>
            </a:r>
            <a:r>
              <a:rPr lang="zh-CN" altLang="en-US" dirty="0"/>
              <a:t>规模</a:t>
            </a:r>
            <a:endParaRPr lang="en-US" altLang="zh-CN" dirty="0"/>
          </a:p>
          <a:p>
            <a:r>
              <a:rPr lang="zh-CN" altLang="en-US" dirty="0"/>
              <a:t>故事点估算是相对估算，需要确定估算标准</a:t>
            </a:r>
            <a:endParaRPr lang="en-US" altLang="zh-CN" dirty="0"/>
          </a:p>
          <a:p>
            <a:pPr lvl="1"/>
            <a:r>
              <a:rPr lang="zh-CN" altLang="en-US" dirty="0"/>
              <a:t>基于团队</a:t>
            </a:r>
            <a:endParaRPr lang="en-US" altLang="zh-CN" dirty="0"/>
          </a:p>
          <a:p>
            <a:pPr lvl="1"/>
            <a:r>
              <a:rPr lang="zh-CN" altLang="en-US" dirty="0"/>
              <a:t>基于个人</a:t>
            </a:r>
            <a:endParaRPr lang="en-US" altLang="zh-CN" dirty="0"/>
          </a:p>
          <a:p>
            <a:pPr lvl="1"/>
            <a:r>
              <a:rPr lang="zh-CN" altLang="en-US" dirty="0"/>
              <a:t>基于环境</a:t>
            </a:r>
            <a:endParaRPr lang="en-US" altLang="zh-CN" dirty="0"/>
          </a:p>
          <a:p>
            <a:r>
              <a:rPr lang="zh-CN" altLang="en-US" dirty="0"/>
              <a:t>示例</a:t>
            </a:r>
            <a:endParaRPr lang="en-US" altLang="zh-CN" dirty="0"/>
          </a:p>
          <a:p>
            <a:pPr lvl="1"/>
            <a:r>
              <a:rPr lang="en-US" altLang="zh-CN" dirty="0"/>
              <a:t>A </a:t>
            </a:r>
            <a:r>
              <a:rPr lang="zh-CN" altLang="en-US" dirty="0"/>
              <a:t>估算为 </a:t>
            </a:r>
            <a:r>
              <a:rPr lang="en-US" altLang="zh-CN" dirty="0"/>
              <a:t>1 </a:t>
            </a:r>
            <a:r>
              <a:rPr lang="zh-CN" altLang="en-US" dirty="0"/>
              <a:t>故事点</a:t>
            </a:r>
            <a:endParaRPr lang="en-US" altLang="zh-CN" dirty="0"/>
          </a:p>
          <a:p>
            <a:pPr lvl="1"/>
            <a:r>
              <a:rPr lang="en-US" altLang="zh-CN" dirty="0"/>
              <a:t>B </a:t>
            </a:r>
            <a:r>
              <a:rPr lang="zh-CN" altLang="en-US" dirty="0"/>
              <a:t>估算为 </a:t>
            </a:r>
            <a:r>
              <a:rPr lang="en-US" altLang="zh-CN" dirty="0"/>
              <a:t>2 </a:t>
            </a:r>
            <a:r>
              <a:rPr lang="zh-CN" altLang="en-US" dirty="0"/>
              <a:t>故事点</a:t>
            </a:r>
            <a:endParaRPr lang="en-US" altLang="zh-CN" dirty="0"/>
          </a:p>
          <a:p>
            <a:pPr lvl="1"/>
            <a:r>
              <a:rPr lang="zh-CN" altLang="en-US" dirty="0"/>
              <a:t>则 </a:t>
            </a:r>
            <a:r>
              <a:rPr lang="en-US" altLang="zh-CN" dirty="0"/>
              <a:t>B </a:t>
            </a:r>
            <a:r>
              <a:rPr lang="zh-CN" altLang="en-US" dirty="0"/>
              <a:t>的工作量是 </a:t>
            </a:r>
            <a:r>
              <a:rPr lang="en-US" altLang="zh-CN" dirty="0"/>
              <a:t>A </a:t>
            </a:r>
            <a:r>
              <a:rPr lang="zh-CN" altLang="en-US" dirty="0"/>
              <a:t>的 </a:t>
            </a:r>
            <a:r>
              <a:rPr lang="en-US" altLang="zh-CN" dirty="0"/>
              <a:t>2 </a:t>
            </a:r>
            <a:r>
              <a:rPr lang="zh-CN" altLang="en-US" dirty="0"/>
              <a:t>倍</a:t>
            </a:r>
            <a:endParaRPr lang="en-US" altLang="zh-CN" dirty="0"/>
          </a:p>
          <a:p>
            <a:endParaRPr lang="zh-CN" altLang="en-US" dirty="0"/>
          </a:p>
        </p:txBody>
      </p:sp>
      <p:sp>
        <p:nvSpPr>
          <p:cNvPr id="7" name="文本占位符 6">
            <a:extLst>
              <a:ext uri="{FF2B5EF4-FFF2-40B4-BE49-F238E27FC236}">
                <a16:creationId xmlns:a16="http://schemas.microsoft.com/office/drawing/2014/main" id="{64A1064B-9605-A92B-6C80-DA30F2007E8D}"/>
              </a:ext>
            </a:extLst>
          </p:cNvPr>
          <p:cNvSpPr>
            <a:spLocks noGrp="1"/>
          </p:cNvSpPr>
          <p:nvPr>
            <p:ph type="body" sz="quarter" idx="10"/>
          </p:nvPr>
        </p:nvSpPr>
        <p:spPr>
          <a:xfrm>
            <a:off x="7071919" y="448519"/>
            <a:ext cx="4424080" cy="338554"/>
          </a:xfrm>
        </p:spPr>
        <p:txBody>
          <a:bodyPr/>
          <a:lstStyle/>
          <a:p>
            <a:r>
              <a:rPr lang="en-US" altLang="zh-CN" dirty="0"/>
              <a:t>Agile</a:t>
            </a:r>
            <a:endParaRPr lang="zh-CN" altLang="en-US" dirty="0"/>
          </a:p>
        </p:txBody>
      </p:sp>
    </p:spTree>
    <p:extLst>
      <p:ext uri="{BB962C8B-B14F-4D97-AF65-F5344CB8AC3E}">
        <p14:creationId xmlns:p14="http://schemas.microsoft.com/office/powerpoint/2010/main" val="1433298852"/>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67D57-7A82-9EDB-54FA-CB42FE6641E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4186F4C-91DB-416E-B4B1-8CAF5981C049}"/>
              </a:ext>
            </a:extLst>
          </p:cNvPr>
          <p:cNvSpPr>
            <a:spLocks noGrp="1"/>
          </p:cNvSpPr>
          <p:nvPr>
            <p:ph type="title"/>
          </p:nvPr>
        </p:nvSpPr>
        <p:spPr>
          <a:xfrm>
            <a:off x="792000" y="360000"/>
            <a:ext cx="6375921" cy="429413"/>
          </a:xfrm>
        </p:spPr>
        <p:txBody>
          <a:bodyPr/>
          <a:lstStyle/>
          <a:p>
            <a:r>
              <a:rPr lang="en-US" altLang="zh-CN" dirty="0"/>
              <a:t>6.3.1 </a:t>
            </a:r>
            <a:r>
              <a:rPr lang="zh-CN" altLang="en-US" dirty="0"/>
              <a:t>故事点估算</a:t>
            </a:r>
          </a:p>
        </p:txBody>
      </p:sp>
      <p:sp>
        <p:nvSpPr>
          <p:cNvPr id="3" name="内容占位符 2">
            <a:extLst>
              <a:ext uri="{FF2B5EF4-FFF2-40B4-BE49-F238E27FC236}">
                <a16:creationId xmlns:a16="http://schemas.microsoft.com/office/drawing/2014/main" id="{65C12020-D783-5813-DD95-6BB1BF3E7D0D}"/>
              </a:ext>
            </a:extLst>
          </p:cNvPr>
          <p:cNvSpPr>
            <a:spLocks noGrp="1"/>
          </p:cNvSpPr>
          <p:nvPr>
            <p:ph idx="1"/>
          </p:nvPr>
        </p:nvSpPr>
        <p:spPr>
          <a:xfrm>
            <a:off x="696000" y="864000"/>
            <a:ext cx="10800000" cy="5400000"/>
          </a:xfrm>
        </p:spPr>
        <p:txBody>
          <a:bodyPr/>
          <a:lstStyle/>
          <a:p>
            <a:r>
              <a:rPr lang="zh-CN" altLang="en-US" dirty="0"/>
              <a:t>常见序列是由 </a:t>
            </a:r>
            <a:r>
              <a:rPr lang="en-US" altLang="zh-CN" dirty="0"/>
              <a:t>Mike Cohn </a:t>
            </a:r>
            <a:r>
              <a:rPr lang="zh-CN" altLang="en-US" dirty="0"/>
              <a:t>提出：</a:t>
            </a:r>
            <a:r>
              <a:rPr lang="en-US" altLang="zh-CN" dirty="0"/>
              <a:t>0</a:t>
            </a:r>
            <a:r>
              <a:rPr lang="zh-CN" altLang="en-US" dirty="0"/>
              <a:t>、</a:t>
            </a:r>
            <a:r>
              <a:rPr lang="en-US" altLang="zh-CN" dirty="0"/>
              <a:t>1</a:t>
            </a:r>
            <a:r>
              <a:rPr lang="zh-CN" altLang="en-US" dirty="0"/>
              <a:t>、</a:t>
            </a:r>
            <a:r>
              <a:rPr lang="en-US" altLang="zh-CN" dirty="0"/>
              <a:t>2</a:t>
            </a:r>
            <a:r>
              <a:rPr lang="zh-CN" altLang="en-US" dirty="0"/>
              <a:t>、</a:t>
            </a:r>
            <a:r>
              <a:rPr lang="en-US" altLang="zh-CN" dirty="0"/>
              <a:t>3</a:t>
            </a:r>
            <a:r>
              <a:rPr lang="zh-CN" altLang="en-US" dirty="0"/>
              <a:t>、</a:t>
            </a:r>
            <a:r>
              <a:rPr lang="en-US" altLang="zh-CN" dirty="0"/>
              <a:t>5</a:t>
            </a:r>
            <a:r>
              <a:rPr lang="zh-CN" altLang="en-US" dirty="0"/>
              <a:t>、</a:t>
            </a:r>
            <a:r>
              <a:rPr lang="en-US" altLang="zh-CN" dirty="0"/>
              <a:t>8</a:t>
            </a:r>
            <a:r>
              <a:rPr lang="zh-CN" altLang="en-US" dirty="0"/>
              <a:t>、</a:t>
            </a:r>
            <a:r>
              <a:rPr lang="en-US" altLang="zh-CN" dirty="0"/>
              <a:t>13</a:t>
            </a:r>
            <a:r>
              <a:rPr lang="zh-CN" altLang="en-US" dirty="0"/>
              <a:t>、</a:t>
            </a:r>
            <a:r>
              <a:rPr lang="en-US" altLang="zh-CN" dirty="0"/>
              <a:t>20</a:t>
            </a:r>
            <a:r>
              <a:rPr lang="zh-CN" altLang="en-US" dirty="0"/>
              <a:t>、</a:t>
            </a:r>
            <a:r>
              <a:rPr lang="en-US" altLang="zh-CN" dirty="0"/>
              <a:t>40 </a:t>
            </a:r>
            <a:r>
              <a:rPr lang="zh-CN" altLang="en-US" dirty="0"/>
              <a:t>和 </a:t>
            </a:r>
            <a:r>
              <a:rPr lang="en-US" altLang="zh-CN" dirty="0"/>
              <a:t>100</a:t>
            </a:r>
          </a:p>
          <a:p>
            <a:r>
              <a:rPr lang="zh-CN" altLang="en-US" dirty="0"/>
              <a:t>一般不超过 </a:t>
            </a:r>
            <a:r>
              <a:rPr lang="en-US" altLang="zh-CN" dirty="0"/>
              <a:t>13</a:t>
            </a:r>
            <a:r>
              <a:rPr lang="zh-CN" altLang="en-US" dirty="0"/>
              <a:t>；否则需要任务分解</a:t>
            </a:r>
          </a:p>
        </p:txBody>
      </p:sp>
      <p:sp>
        <p:nvSpPr>
          <p:cNvPr id="6" name="文本占位符 5">
            <a:extLst>
              <a:ext uri="{FF2B5EF4-FFF2-40B4-BE49-F238E27FC236}">
                <a16:creationId xmlns:a16="http://schemas.microsoft.com/office/drawing/2014/main" id="{AADD6F07-C561-230A-F27D-E8773211B92A}"/>
              </a:ext>
            </a:extLst>
          </p:cNvPr>
          <p:cNvSpPr>
            <a:spLocks noGrp="1"/>
          </p:cNvSpPr>
          <p:nvPr>
            <p:ph type="body" sz="quarter" idx="10"/>
          </p:nvPr>
        </p:nvSpPr>
        <p:spPr>
          <a:xfrm>
            <a:off x="7071919" y="448519"/>
            <a:ext cx="4424080" cy="338554"/>
          </a:xfrm>
        </p:spPr>
        <p:txBody>
          <a:bodyPr/>
          <a:lstStyle/>
          <a:p>
            <a:r>
              <a:rPr lang="en-US" altLang="zh-CN" dirty="0"/>
              <a:t>Story Point/Agile</a:t>
            </a:r>
            <a:endParaRPr lang="zh-CN" altLang="en-US" dirty="0"/>
          </a:p>
        </p:txBody>
      </p:sp>
      <p:graphicFrame>
        <p:nvGraphicFramePr>
          <p:cNvPr id="8" name="表格 7">
            <a:extLst>
              <a:ext uri="{FF2B5EF4-FFF2-40B4-BE49-F238E27FC236}">
                <a16:creationId xmlns:a16="http://schemas.microsoft.com/office/drawing/2014/main" id="{53C57DD7-BC58-845E-FB2A-69AEAF12CB90}"/>
              </a:ext>
            </a:extLst>
          </p:cNvPr>
          <p:cNvGraphicFramePr>
            <a:graphicFrameLocks noGrp="1"/>
          </p:cNvGraphicFramePr>
          <p:nvPr>
            <p:extLst>
              <p:ext uri="{D42A27DB-BD31-4B8C-83A1-F6EECF244321}">
                <p14:modId xmlns:p14="http://schemas.microsoft.com/office/powerpoint/2010/main" val="3310666141"/>
              </p:ext>
            </p:extLst>
          </p:nvPr>
        </p:nvGraphicFramePr>
        <p:xfrm>
          <a:off x="3396000" y="2872740"/>
          <a:ext cx="5400000" cy="111252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3155977036"/>
                    </a:ext>
                  </a:extLst>
                </a:gridCol>
                <a:gridCol w="3960000">
                  <a:extLst>
                    <a:ext uri="{9D8B030D-6E8A-4147-A177-3AD203B41FA5}">
                      <a16:colId xmlns:a16="http://schemas.microsoft.com/office/drawing/2014/main" val="4029157427"/>
                    </a:ext>
                  </a:extLst>
                </a:gridCol>
              </a:tblGrid>
              <a:tr h="370840">
                <a:tc>
                  <a:txBody>
                    <a:bodyPr/>
                    <a:lstStyle/>
                    <a:p>
                      <a:r>
                        <a:rPr lang="zh-CN" altLang="en-US" sz="1400" dirty="0">
                          <a:solidFill>
                            <a:schemeClr val="bg1"/>
                          </a:solidFill>
                        </a:rPr>
                        <a:t>标准</a:t>
                      </a:r>
                    </a:p>
                  </a:txBody>
                  <a:tcPr>
                    <a:lnL w="12700" cmpd="sng">
                      <a:noFill/>
                    </a:lnL>
                    <a:lnR w="12700" cmpd="sng">
                      <a:noFill/>
                    </a:lnR>
                    <a:lnT w="12700" cmpd="sng">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zh-CN" altLang="en-US" sz="1400" dirty="0">
                          <a:solidFill>
                            <a:schemeClr val="bg1"/>
                          </a:solidFill>
                        </a:rPr>
                        <a:t>示例</a:t>
                      </a:r>
                    </a:p>
                  </a:txBody>
                  <a:tcPr>
                    <a:lnL w="12700" cmpd="sng">
                      <a:noFill/>
                    </a:lnL>
                    <a:lnR w="12700" cmpd="sng">
                      <a:noFill/>
                    </a:lnR>
                    <a:lnT w="12700" cmpd="sng">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2230495986"/>
                  </a:ext>
                </a:extLst>
              </a:tr>
              <a:tr h="370840">
                <a:tc>
                  <a:txBody>
                    <a:bodyPr/>
                    <a:lstStyle/>
                    <a:p>
                      <a:r>
                        <a:rPr lang="en-US" altLang="zh-CN" sz="1400" dirty="0">
                          <a:solidFill>
                            <a:schemeClr val="tx1"/>
                          </a:solidFill>
                        </a:rPr>
                        <a:t>Fibonacci</a:t>
                      </a:r>
                      <a:endParaRPr lang="zh-CN" altLang="en-US" sz="1400" dirty="0">
                        <a:solidFill>
                          <a:schemeClr val="tx1"/>
                        </a:solidFill>
                      </a:endParaRPr>
                    </a:p>
                  </a:txBody>
                  <a:tcPr>
                    <a:lnL w="12700" cmpd="sng">
                      <a:noFill/>
                    </a:lnL>
                    <a:lnR w="12700" cmpd="sng">
                      <a:noFill/>
                    </a:lnR>
                    <a:lnT w="6350"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r>
                        <a:rPr lang="en-US" altLang="zh-CN" sz="1400" dirty="0">
                          <a:solidFill>
                            <a:schemeClr val="tx1"/>
                          </a:solidFill>
                        </a:rPr>
                        <a:t>0 1 2 3 5 8 13</a:t>
                      </a:r>
                      <a:endParaRPr lang="zh-CN" altLang="en-US" sz="1400" dirty="0">
                        <a:solidFill>
                          <a:schemeClr val="tx1"/>
                        </a:solidFill>
                      </a:endParaRPr>
                    </a:p>
                  </a:txBody>
                  <a:tcPr>
                    <a:lnL w="12700" cmpd="sng">
                      <a:noFill/>
                    </a:lnL>
                    <a:lnR w="12700" cmpd="sng">
                      <a:noFill/>
                    </a:lnR>
                    <a:lnT w="6350"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23930461"/>
                  </a:ext>
                </a:extLst>
              </a:tr>
              <a:tr h="370840">
                <a:tc>
                  <a:txBody>
                    <a:bodyPr/>
                    <a:lstStyle/>
                    <a:p>
                      <a:r>
                        <a:rPr lang="en-US" altLang="zh-CN" sz="1400" dirty="0">
                          <a:solidFill>
                            <a:schemeClr val="tx1"/>
                          </a:solidFill>
                        </a:rPr>
                        <a:t>2n</a:t>
                      </a:r>
                      <a:endParaRPr lang="zh-CN" altLang="en-US" sz="1400"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altLang="zh-CN" sz="1400" dirty="0">
                          <a:solidFill>
                            <a:schemeClr val="tx1"/>
                          </a:solidFill>
                        </a:rPr>
                        <a:t>0 1 2 4 8 16 32 64 128 256 512</a:t>
                      </a:r>
                      <a:endParaRPr lang="zh-CN" altLang="en-US" sz="1400"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90290386"/>
                  </a:ext>
                </a:extLst>
              </a:tr>
            </a:tbl>
          </a:graphicData>
        </a:graphic>
      </p:graphicFrame>
    </p:spTree>
    <p:extLst>
      <p:ext uri="{BB962C8B-B14F-4D97-AF65-F5344CB8AC3E}">
        <p14:creationId xmlns:p14="http://schemas.microsoft.com/office/powerpoint/2010/main" val="962507261"/>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流程图: 可选过程 5">
            <a:extLst>
              <a:ext uri="{FF2B5EF4-FFF2-40B4-BE49-F238E27FC236}">
                <a16:creationId xmlns:a16="http://schemas.microsoft.com/office/drawing/2014/main" id="{6BD86478-6D28-8B91-693A-F2E75F91D397}"/>
              </a:ext>
            </a:extLst>
          </p:cNvPr>
          <p:cNvSpPr/>
          <p:nvPr/>
        </p:nvSpPr>
        <p:spPr>
          <a:xfrm>
            <a:off x="5551084" y="724556"/>
            <a:ext cx="1080000" cy="432000"/>
          </a:xfrm>
          <a:prstGeom prst="flowChartAlternate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Start </a:t>
            </a:r>
            <a:endParaRPr lang="zh-CN" altLang="en-US" sz="1400" dirty="0">
              <a:solidFill>
                <a:schemeClr val="tx1"/>
              </a:solidFill>
            </a:endParaRPr>
          </a:p>
        </p:txBody>
      </p:sp>
      <p:sp>
        <p:nvSpPr>
          <p:cNvPr id="7" name="流程图: 过程 6">
            <a:extLst>
              <a:ext uri="{FF2B5EF4-FFF2-40B4-BE49-F238E27FC236}">
                <a16:creationId xmlns:a16="http://schemas.microsoft.com/office/drawing/2014/main" id="{D23C05CD-8AA4-DE4B-3454-EF4204250FC8}"/>
              </a:ext>
            </a:extLst>
          </p:cNvPr>
          <p:cNvSpPr/>
          <p:nvPr/>
        </p:nvSpPr>
        <p:spPr>
          <a:xfrm>
            <a:off x="5479084" y="1480674"/>
            <a:ext cx="1224000" cy="648000"/>
          </a:xfrm>
          <a:prstGeom prst="flowChart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选择预估为</a:t>
            </a:r>
            <a:r>
              <a:rPr lang="en-US" altLang="zh-CN" sz="1400" dirty="0">
                <a:solidFill>
                  <a:schemeClr val="tx1"/>
                </a:solidFill>
              </a:rPr>
              <a:t>3</a:t>
            </a:r>
            <a:r>
              <a:rPr lang="zh-CN" altLang="en-US" sz="1400" dirty="0">
                <a:solidFill>
                  <a:schemeClr val="tx1"/>
                </a:solidFill>
              </a:rPr>
              <a:t>的用户故事</a:t>
            </a:r>
          </a:p>
        </p:txBody>
      </p:sp>
      <p:sp>
        <p:nvSpPr>
          <p:cNvPr id="8" name="流程图: 决策 7">
            <a:extLst>
              <a:ext uri="{FF2B5EF4-FFF2-40B4-BE49-F238E27FC236}">
                <a16:creationId xmlns:a16="http://schemas.microsoft.com/office/drawing/2014/main" id="{527FA7E5-E988-DD18-F681-914923DC0515}"/>
              </a:ext>
            </a:extLst>
          </p:cNvPr>
          <p:cNvSpPr/>
          <p:nvPr/>
        </p:nvSpPr>
        <p:spPr>
          <a:xfrm>
            <a:off x="5011084" y="2452791"/>
            <a:ext cx="2160000" cy="720000"/>
          </a:xfrm>
          <a:prstGeom prst="flowChartDecis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和待评估用户故事比较</a:t>
            </a:r>
          </a:p>
        </p:txBody>
      </p:sp>
      <p:sp>
        <p:nvSpPr>
          <p:cNvPr id="9" name="流程图: 过程 8">
            <a:extLst>
              <a:ext uri="{FF2B5EF4-FFF2-40B4-BE49-F238E27FC236}">
                <a16:creationId xmlns:a16="http://schemas.microsoft.com/office/drawing/2014/main" id="{DC09B04C-6B8C-4B56-5AF8-A009CCFBDE1F}"/>
              </a:ext>
            </a:extLst>
          </p:cNvPr>
          <p:cNvSpPr/>
          <p:nvPr/>
        </p:nvSpPr>
        <p:spPr>
          <a:xfrm>
            <a:off x="7840372" y="2596791"/>
            <a:ext cx="432000" cy="432000"/>
          </a:xfrm>
          <a:prstGeom prst="flowChart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5</a:t>
            </a:r>
            <a:endParaRPr lang="zh-CN" altLang="en-US" sz="1400" dirty="0">
              <a:solidFill>
                <a:schemeClr val="tx1"/>
              </a:solidFill>
            </a:endParaRPr>
          </a:p>
        </p:txBody>
      </p:sp>
      <p:sp>
        <p:nvSpPr>
          <p:cNvPr id="10" name="流程图: 过程 9">
            <a:extLst>
              <a:ext uri="{FF2B5EF4-FFF2-40B4-BE49-F238E27FC236}">
                <a16:creationId xmlns:a16="http://schemas.microsoft.com/office/drawing/2014/main" id="{B742A019-3483-1ACB-0378-7A584B3500EC}"/>
              </a:ext>
            </a:extLst>
          </p:cNvPr>
          <p:cNvSpPr/>
          <p:nvPr/>
        </p:nvSpPr>
        <p:spPr>
          <a:xfrm>
            <a:off x="3909798" y="2596791"/>
            <a:ext cx="432000" cy="432000"/>
          </a:xfrm>
          <a:prstGeom prst="flowChart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2</a:t>
            </a:r>
            <a:endParaRPr lang="zh-CN" altLang="en-US" sz="1400" dirty="0">
              <a:solidFill>
                <a:schemeClr val="tx1"/>
              </a:solidFill>
            </a:endParaRPr>
          </a:p>
        </p:txBody>
      </p:sp>
      <p:cxnSp>
        <p:nvCxnSpPr>
          <p:cNvPr id="11" name="直接箭头连接符 10">
            <a:extLst>
              <a:ext uri="{FF2B5EF4-FFF2-40B4-BE49-F238E27FC236}">
                <a16:creationId xmlns:a16="http://schemas.microsoft.com/office/drawing/2014/main" id="{94146D33-C93E-288C-EAC8-27D693CDE85E}"/>
              </a:ext>
            </a:extLst>
          </p:cNvPr>
          <p:cNvCxnSpPr>
            <a:cxnSpLocks/>
            <a:stCxn id="6" idx="2"/>
            <a:endCxn id="7" idx="0"/>
          </p:cNvCxnSpPr>
          <p:nvPr/>
        </p:nvCxnSpPr>
        <p:spPr>
          <a:xfrm>
            <a:off x="6091084" y="1156556"/>
            <a:ext cx="0" cy="3241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BDBD7E58-CDE8-0DCD-D799-5A551136C388}"/>
              </a:ext>
            </a:extLst>
          </p:cNvPr>
          <p:cNvCxnSpPr>
            <a:cxnSpLocks/>
            <a:stCxn id="7" idx="2"/>
            <a:endCxn id="8" idx="0"/>
          </p:cNvCxnSpPr>
          <p:nvPr/>
        </p:nvCxnSpPr>
        <p:spPr>
          <a:xfrm>
            <a:off x="6091084" y="2128674"/>
            <a:ext cx="0" cy="32411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27ABA349-BFF5-7CDC-34A0-167A4E2339C8}"/>
              </a:ext>
            </a:extLst>
          </p:cNvPr>
          <p:cNvCxnSpPr>
            <a:stCxn id="8" idx="3"/>
            <a:endCxn id="9" idx="1"/>
          </p:cNvCxnSpPr>
          <p:nvPr/>
        </p:nvCxnSpPr>
        <p:spPr>
          <a:xfrm>
            <a:off x="7171084" y="2812791"/>
            <a:ext cx="66928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D7AC11ED-3FB3-F44C-F47F-B7E1228A2CBF}"/>
              </a:ext>
            </a:extLst>
          </p:cNvPr>
          <p:cNvCxnSpPr>
            <a:stCxn id="8" idx="1"/>
            <a:endCxn id="10" idx="3"/>
          </p:cNvCxnSpPr>
          <p:nvPr/>
        </p:nvCxnSpPr>
        <p:spPr>
          <a:xfrm flipH="1">
            <a:off x="4341798" y="2812791"/>
            <a:ext cx="66928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文本框 40">
            <a:extLst>
              <a:ext uri="{FF2B5EF4-FFF2-40B4-BE49-F238E27FC236}">
                <a16:creationId xmlns:a16="http://schemas.microsoft.com/office/drawing/2014/main" id="{7C50EFD1-7BA6-8DCD-E5F1-905EAB891C15}"/>
              </a:ext>
            </a:extLst>
          </p:cNvPr>
          <p:cNvSpPr txBox="1"/>
          <p:nvPr/>
        </p:nvSpPr>
        <p:spPr>
          <a:xfrm>
            <a:off x="7310803" y="2475084"/>
            <a:ext cx="364202" cy="307777"/>
          </a:xfrm>
          <a:prstGeom prst="rect">
            <a:avLst/>
          </a:prstGeom>
          <a:noFill/>
          <a:ln>
            <a:noFill/>
          </a:ln>
        </p:spPr>
        <p:txBody>
          <a:bodyPr wrap="none" rtlCol="0">
            <a:spAutoFit/>
          </a:bodyPr>
          <a:lstStyle/>
          <a:p>
            <a:pPr algn="l"/>
            <a:r>
              <a:rPr lang="zh-CN" altLang="en-US" sz="1400" dirty="0"/>
              <a:t>大</a:t>
            </a:r>
          </a:p>
        </p:txBody>
      </p:sp>
      <p:sp>
        <p:nvSpPr>
          <p:cNvPr id="42" name="文本框 41">
            <a:extLst>
              <a:ext uri="{FF2B5EF4-FFF2-40B4-BE49-F238E27FC236}">
                <a16:creationId xmlns:a16="http://schemas.microsoft.com/office/drawing/2014/main" id="{6FE0D63B-CC05-7A3B-B113-167914DAE6F7}"/>
              </a:ext>
            </a:extLst>
          </p:cNvPr>
          <p:cNvSpPr txBox="1"/>
          <p:nvPr/>
        </p:nvSpPr>
        <p:spPr>
          <a:xfrm>
            <a:off x="4481516" y="2475084"/>
            <a:ext cx="364202" cy="307777"/>
          </a:xfrm>
          <a:prstGeom prst="rect">
            <a:avLst/>
          </a:prstGeom>
          <a:noFill/>
          <a:ln>
            <a:noFill/>
          </a:ln>
        </p:spPr>
        <p:txBody>
          <a:bodyPr wrap="none" rtlCol="0">
            <a:spAutoFit/>
          </a:bodyPr>
          <a:lstStyle/>
          <a:p>
            <a:pPr algn="l"/>
            <a:r>
              <a:rPr lang="zh-CN" altLang="en-US" sz="1400" dirty="0"/>
              <a:t>小</a:t>
            </a:r>
          </a:p>
        </p:txBody>
      </p:sp>
      <p:cxnSp>
        <p:nvCxnSpPr>
          <p:cNvPr id="44" name="直接箭头连接符 43">
            <a:extLst>
              <a:ext uri="{FF2B5EF4-FFF2-40B4-BE49-F238E27FC236}">
                <a16:creationId xmlns:a16="http://schemas.microsoft.com/office/drawing/2014/main" id="{0AB24D1A-FB8C-DC83-B3C5-86FD0B76D6A7}"/>
              </a:ext>
            </a:extLst>
          </p:cNvPr>
          <p:cNvCxnSpPr>
            <a:cxnSpLocks/>
            <a:stCxn id="9" idx="3"/>
            <a:endCxn id="72" idx="1"/>
          </p:cNvCxnSpPr>
          <p:nvPr/>
        </p:nvCxnSpPr>
        <p:spPr>
          <a:xfrm>
            <a:off x="8272372" y="2812791"/>
            <a:ext cx="66928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流程图: 过程 44">
            <a:extLst>
              <a:ext uri="{FF2B5EF4-FFF2-40B4-BE49-F238E27FC236}">
                <a16:creationId xmlns:a16="http://schemas.microsoft.com/office/drawing/2014/main" id="{4540738E-9EFE-A577-A0B0-CD24AA59DEF0}"/>
              </a:ext>
            </a:extLst>
          </p:cNvPr>
          <p:cNvSpPr/>
          <p:nvPr/>
        </p:nvSpPr>
        <p:spPr>
          <a:xfrm>
            <a:off x="10042945" y="2596791"/>
            <a:ext cx="432000" cy="432000"/>
          </a:xfrm>
          <a:prstGeom prst="flowChart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13</a:t>
            </a:r>
            <a:endParaRPr lang="zh-CN" altLang="en-US" sz="1400" dirty="0">
              <a:solidFill>
                <a:schemeClr val="tx1"/>
              </a:solidFill>
            </a:endParaRPr>
          </a:p>
        </p:txBody>
      </p:sp>
      <p:sp>
        <p:nvSpPr>
          <p:cNvPr id="47" name="文本框 46">
            <a:extLst>
              <a:ext uri="{FF2B5EF4-FFF2-40B4-BE49-F238E27FC236}">
                <a16:creationId xmlns:a16="http://schemas.microsoft.com/office/drawing/2014/main" id="{B6201564-99C4-35EA-568C-C88C8FD0D2FE}"/>
              </a:ext>
            </a:extLst>
          </p:cNvPr>
          <p:cNvSpPr txBox="1"/>
          <p:nvPr/>
        </p:nvSpPr>
        <p:spPr>
          <a:xfrm>
            <a:off x="9410785" y="2475084"/>
            <a:ext cx="543739" cy="307777"/>
          </a:xfrm>
          <a:prstGeom prst="rect">
            <a:avLst/>
          </a:prstGeom>
          <a:noFill/>
          <a:ln>
            <a:noFill/>
          </a:ln>
        </p:spPr>
        <p:txBody>
          <a:bodyPr wrap="none" rtlCol="0">
            <a:spAutoFit/>
          </a:bodyPr>
          <a:lstStyle/>
          <a:p>
            <a:pPr algn="l"/>
            <a:r>
              <a:rPr lang="zh-CN" altLang="en-US" sz="1400" dirty="0"/>
              <a:t>更大</a:t>
            </a:r>
          </a:p>
        </p:txBody>
      </p:sp>
      <p:sp>
        <p:nvSpPr>
          <p:cNvPr id="48" name="流程图: 过程 47">
            <a:extLst>
              <a:ext uri="{FF2B5EF4-FFF2-40B4-BE49-F238E27FC236}">
                <a16:creationId xmlns:a16="http://schemas.microsoft.com/office/drawing/2014/main" id="{CFEC66D6-CA4B-802F-EF2A-22BF2084ED05}"/>
              </a:ext>
            </a:extLst>
          </p:cNvPr>
          <p:cNvSpPr/>
          <p:nvPr/>
        </p:nvSpPr>
        <p:spPr>
          <a:xfrm>
            <a:off x="1707224" y="2596791"/>
            <a:ext cx="432000" cy="432000"/>
          </a:xfrm>
          <a:prstGeom prst="flowChart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0</a:t>
            </a:r>
            <a:endParaRPr lang="zh-CN" altLang="en-US" sz="1400" dirty="0">
              <a:solidFill>
                <a:schemeClr val="tx1"/>
              </a:solidFill>
            </a:endParaRPr>
          </a:p>
        </p:txBody>
      </p:sp>
      <p:sp>
        <p:nvSpPr>
          <p:cNvPr id="49" name="文本框 48">
            <a:extLst>
              <a:ext uri="{FF2B5EF4-FFF2-40B4-BE49-F238E27FC236}">
                <a16:creationId xmlns:a16="http://schemas.microsoft.com/office/drawing/2014/main" id="{117E07B5-8D2B-5485-FCF8-9414591FFCE5}"/>
              </a:ext>
            </a:extLst>
          </p:cNvPr>
          <p:cNvSpPr txBox="1"/>
          <p:nvPr/>
        </p:nvSpPr>
        <p:spPr>
          <a:xfrm>
            <a:off x="3277637" y="2475084"/>
            <a:ext cx="543739" cy="307777"/>
          </a:xfrm>
          <a:prstGeom prst="rect">
            <a:avLst/>
          </a:prstGeom>
          <a:noFill/>
          <a:ln>
            <a:noFill/>
          </a:ln>
        </p:spPr>
        <p:txBody>
          <a:bodyPr wrap="none" rtlCol="0">
            <a:spAutoFit/>
          </a:bodyPr>
          <a:lstStyle/>
          <a:p>
            <a:pPr algn="l"/>
            <a:r>
              <a:rPr lang="zh-CN" altLang="en-US" sz="1400" dirty="0"/>
              <a:t>更小</a:t>
            </a:r>
          </a:p>
        </p:txBody>
      </p:sp>
      <p:cxnSp>
        <p:nvCxnSpPr>
          <p:cNvPr id="51" name="直接箭头连接符 50">
            <a:extLst>
              <a:ext uri="{FF2B5EF4-FFF2-40B4-BE49-F238E27FC236}">
                <a16:creationId xmlns:a16="http://schemas.microsoft.com/office/drawing/2014/main" id="{1004D9A0-472C-E35A-F875-D2192AE2B5BF}"/>
              </a:ext>
            </a:extLst>
          </p:cNvPr>
          <p:cNvCxnSpPr>
            <a:cxnSpLocks/>
            <a:stCxn id="10" idx="1"/>
            <a:endCxn id="74" idx="3"/>
          </p:cNvCxnSpPr>
          <p:nvPr/>
        </p:nvCxnSpPr>
        <p:spPr>
          <a:xfrm flipH="1">
            <a:off x="3240511" y="2812791"/>
            <a:ext cx="66928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4" name="文本框 53">
            <a:extLst>
              <a:ext uri="{FF2B5EF4-FFF2-40B4-BE49-F238E27FC236}">
                <a16:creationId xmlns:a16="http://schemas.microsoft.com/office/drawing/2014/main" id="{D3D9510C-D43C-DF27-2942-C0BF6CCB0F59}"/>
              </a:ext>
            </a:extLst>
          </p:cNvPr>
          <p:cNvSpPr txBox="1"/>
          <p:nvPr/>
        </p:nvSpPr>
        <p:spPr>
          <a:xfrm>
            <a:off x="9946861" y="3250953"/>
            <a:ext cx="400110" cy="630942"/>
          </a:xfrm>
          <a:prstGeom prst="rect">
            <a:avLst/>
          </a:prstGeom>
          <a:noFill/>
          <a:ln>
            <a:noFill/>
          </a:ln>
        </p:spPr>
        <p:txBody>
          <a:bodyPr vert="eaVert" wrap="none" rtlCol="0">
            <a:spAutoFit/>
          </a:bodyPr>
          <a:lstStyle/>
          <a:p>
            <a:pPr algn="l"/>
            <a:r>
              <a:rPr lang="zh-CN" altLang="en-US" sz="1400" dirty="0"/>
              <a:t>需分解</a:t>
            </a:r>
          </a:p>
        </p:txBody>
      </p:sp>
      <p:sp>
        <p:nvSpPr>
          <p:cNvPr id="58" name="流程图: 终止 57">
            <a:extLst>
              <a:ext uri="{FF2B5EF4-FFF2-40B4-BE49-F238E27FC236}">
                <a16:creationId xmlns:a16="http://schemas.microsoft.com/office/drawing/2014/main" id="{E837EC0A-C3C4-3C91-F449-3121925C6300}"/>
              </a:ext>
            </a:extLst>
          </p:cNvPr>
          <p:cNvSpPr/>
          <p:nvPr/>
        </p:nvSpPr>
        <p:spPr>
          <a:xfrm>
            <a:off x="5551084" y="4954190"/>
            <a:ext cx="1080000" cy="432000"/>
          </a:xfrm>
          <a:prstGeom prst="flowChartTermina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tx1"/>
                </a:solidFill>
              </a:rPr>
              <a:t>End</a:t>
            </a:r>
            <a:endParaRPr lang="zh-CN" altLang="en-US" sz="1400">
              <a:solidFill>
                <a:schemeClr val="tx1"/>
              </a:solidFill>
            </a:endParaRPr>
          </a:p>
        </p:txBody>
      </p:sp>
      <p:cxnSp>
        <p:nvCxnSpPr>
          <p:cNvPr id="64" name="连接符: 肘形 63">
            <a:extLst>
              <a:ext uri="{FF2B5EF4-FFF2-40B4-BE49-F238E27FC236}">
                <a16:creationId xmlns:a16="http://schemas.microsoft.com/office/drawing/2014/main" id="{6CE6947C-4526-0D9C-2857-D22A4A00AE33}"/>
              </a:ext>
            </a:extLst>
          </p:cNvPr>
          <p:cNvCxnSpPr>
            <a:cxnSpLocks/>
            <a:stCxn id="10" idx="2"/>
            <a:endCxn id="58" idx="0"/>
          </p:cNvCxnSpPr>
          <p:nvPr/>
        </p:nvCxnSpPr>
        <p:spPr>
          <a:xfrm rot="16200000" flipH="1">
            <a:off x="4145742" y="3008847"/>
            <a:ext cx="1925399" cy="1965286"/>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连接符: 肘形 65">
            <a:extLst>
              <a:ext uri="{FF2B5EF4-FFF2-40B4-BE49-F238E27FC236}">
                <a16:creationId xmlns:a16="http://schemas.microsoft.com/office/drawing/2014/main" id="{E1044BC5-3675-59BA-645E-9AB33776F71B}"/>
              </a:ext>
            </a:extLst>
          </p:cNvPr>
          <p:cNvCxnSpPr>
            <a:cxnSpLocks/>
            <a:stCxn id="9" idx="2"/>
            <a:endCxn id="58" idx="0"/>
          </p:cNvCxnSpPr>
          <p:nvPr/>
        </p:nvCxnSpPr>
        <p:spPr>
          <a:xfrm rot="5400000">
            <a:off x="6111029" y="3008846"/>
            <a:ext cx="1925399" cy="196528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连接符: 肘形 67">
            <a:extLst>
              <a:ext uri="{FF2B5EF4-FFF2-40B4-BE49-F238E27FC236}">
                <a16:creationId xmlns:a16="http://schemas.microsoft.com/office/drawing/2014/main" id="{C766A5C9-34A0-2DBB-C7D5-A74FBB58C5F4}"/>
              </a:ext>
            </a:extLst>
          </p:cNvPr>
          <p:cNvCxnSpPr>
            <a:cxnSpLocks/>
            <a:stCxn id="45" idx="2"/>
            <a:endCxn id="58" idx="0"/>
          </p:cNvCxnSpPr>
          <p:nvPr/>
        </p:nvCxnSpPr>
        <p:spPr>
          <a:xfrm rot="5400000">
            <a:off x="7212316" y="1907560"/>
            <a:ext cx="1925399" cy="4167861"/>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连接符: 肘形 69">
            <a:extLst>
              <a:ext uri="{FF2B5EF4-FFF2-40B4-BE49-F238E27FC236}">
                <a16:creationId xmlns:a16="http://schemas.microsoft.com/office/drawing/2014/main" id="{1059F27D-FEEE-1AD5-B286-302E2B76B32A}"/>
              </a:ext>
            </a:extLst>
          </p:cNvPr>
          <p:cNvCxnSpPr>
            <a:cxnSpLocks/>
            <a:stCxn id="48" idx="2"/>
            <a:endCxn id="58" idx="0"/>
          </p:cNvCxnSpPr>
          <p:nvPr/>
        </p:nvCxnSpPr>
        <p:spPr>
          <a:xfrm rot="16200000" flipH="1">
            <a:off x="3044455" y="1907560"/>
            <a:ext cx="1925399" cy="416786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1" name="文本框 70">
            <a:extLst>
              <a:ext uri="{FF2B5EF4-FFF2-40B4-BE49-F238E27FC236}">
                <a16:creationId xmlns:a16="http://schemas.microsoft.com/office/drawing/2014/main" id="{1DC66CDC-26C7-8C54-5A3B-2C8DC67039F8}"/>
              </a:ext>
            </a:extLst>
          </p:cNvPr>
          <p:cNvSpPr txBox="1"/>
          <p:nvPr/>
        </p:nvSpPr>
        <p:spPr>
          <a:xfrm>
            <a:off x="8309498" y="2475084"/>
            <a:ext cx="543739" cy="307777"/>
          </a:xfrm>
          <a:prstGeom prst="rect">
            <a:avLst/>
          </a:prstGeom>
          <a:noFill/>
          <a:ln>
            <a:noFill/>
          </a:ln>
        </p:spPr>
        <p:txBody>
          <a:bodyPr wrap="none" rtlCol="0">
            <a:spAutoFit/>
          </a:bodyPr>
          <a:lstStyle/>
          <a:p>
            <a:pPr algn="l"/>
            <a:r>
              <a:rPr lang="zh-CN" altLang="en-US" sz="1400" dirty="0"/>
              <a:t>更大</a:t>
            </a:r>
          </a:p>
        </p:txBody>
      </p:sp>
      <p:sp>
        <p:nvSpPr>
          <p:cNvPr id="72" name="流程图: 过程 71">
            <a:extLst>
              <a:ext uri="{FF2B5EF4-FFF2-40B4-BE49-F238E27FC236}">
                <a16:creationId xmlns:a16="http://schemas.microsoft.com/office/drawing/2014/main" id="{CFDA29D5-A823-DD3C-DC4C-16E5C2830544}"/>
              </a:ext>
            </a:extLst>
          </p:cNvPr>
          <p:cNvSpPr/>
          <p:nvPr/>
        </p:nvSpPr>
        <p:spPr>
          <a:xfrm>
            <a:off x="8941659" y="2596791"/>
            <a:ext cx="432000" cy="432000"/>
          </a:xfrm>
          <a:prstGeom prst="flowChart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8</a:t>
            </a:r>
            <a:endParaRPr lang="zh-CN" altLang="en-US" sz="1400" dirty="0">
              <a:solidFill>
                <a:schemeClr val="tx1"/>
              </a:solidFill>
            </a:endParaRPr>
          </a:p>
        </p:txBody>
      </p:sp>
      <p:sp>
        <p:nvSpPr>
          <p:cNvPr id="73" name="文本框 72">
            <a:extLst>
              <a:ext uri="{FF2B5EF4-FFF2-40B4-BE49-F238E27FC236}">
                <a16:creationId xmlns:a16="http://schemas.microsoft.com/office/drawing/2014/main" id="{B7CAC5A9-CDCB-1531-5057-C12129E8B551}"/>
              </a:ext>
            </a:extLst>
          </p:cNvPr>
          <p:cNvSpPr txBox="1"/>
          <p:nvPr/>
        </p:nvSpPr>
        <p:spPr>
          <a:xfrm>
            <a:off x="2176350" y="2475084"/>
            <a:ext cx="543739" cy="307777"/>
          </a:xfrm>
          <a:prstGeom prst="rect">
            <a:avLst/>
          </a:prstGeom>
          <a:noFill/>
          <a:ln>
            <a:noFill/>
          </a:ln>
        </p:spPr>
        <p:txBody>
          <a:bodyPr wrap="none" rtlCol="0">
            <a:spAutoFit/>
          </a:bodyPr>
          <a:lstStyle/>
          <a:p>
            <a:pPr algn="l"/>
            <a:r>
              <a:rPr lang="zh-CN" altLang="en-US" sz="1400" dirty="0"/>
              <a:t>更小</a:t>
            </a:r>
          </a:p>
        </p:txBody>
      </p:sp>
      <p:sp>
        <p:nvSpPr>
          <p:cNvPr id="74" name="流程图: 过程 73">
            <a:extLst>
              <a:ext uri="{FF2B5EF4-FFF2-40B4-BE49-F238E27FC236}">
                <a16:creationId xmlns:a16="http://schemas.microsoft.com/office/drawing/2014/main" id="{1EB66274-B46D-F53C-6C81-FB02F782781E}"/>
              </a:ext>
            </a:extLst>
          </p:cNvPr>
          <p:cNvSpPr/>
          <p:nvPr/>
        </p:nvSpPr>
        <p:spPr>
          <a:xfrm>
            <a:off x="2808511" y="2596791"/>
            <a:ext cx="432000" cy="432000"/>
          </a:xfrm>
          <a:prstGeom prst="flowChart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1</a:t>
            </a:r>
            <a:endParaRPr lang="zh-CN" altLang="en-US" sz="1400" dirty="0">
              <a:solidFill>
                <a:schemeClr val="tx1"/>
              </a:solidFill>
            </a:endParaRPr>
          </a:p>
        </p:txBody>
      </p:sp>
      <p:cxnSp>
        <p:nvCxnSpPr>
          <p:cNvPr id="77" name="直接箭头连接符 76">
            <a:extLst>
              <a:ext uri="{FF2B5EF4-FFF2-40B4-BE49-F238E27FC236}">
                <a16:creationId xmlns:a16="http://schemas.microsoft.com/office/drawing/2014/main" id="{E79D87B9-9981-2F7E-65C3-7ABFC5E6DB12}"/>
              </a:ext>
            </a:extLst>
          </p:cNvPr>
          <p:cNvCxnSpPr>
            <a:stCxn id="74" idx="1"/>
            <a:endCxn id="48" idx="3"/>
          </p:cNvCxnSpPr>
          <p:nvPr/>
        </p:nvCxnSpPr>
        <p:spPr>
          <a:xfrm flipH="1">
            <a:off x="2139224" y="2812791"/>
            <a:ext cx="66928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直接箭头连接符 79">
            <a:extLst>
              <a:ext uri="{FF2B5EF4-FFF2-40B4-BE49-F238E27FC236}">
                <a16:creationId xmlns:a16="http://schemas.microsoft.com/office/drawing/2014/main" id="{6107D43B-2916-4C89-5B7B-33D219944DA4}"/>
              </a:ext>
            </a:extLst>
          </p:cNvPr>
          <p:cNvCxnSpPr>
            <a:stCxn id="72" idx="3"/>
            <a:endCxn id="45" idx="1"/>
          </p:cNvCxnSpPr>
          <p:nvPr/>
        </p:nvCxnSpPr>
        <p:spPr>
          <a:xfrm>
            <a:off x="9373659" y="2812791"/>
            <a:ext cx="66928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连接符: 肘形 85">
            <a:extLst>
              <a:ext uri="{FF2B5EF4-FFF2-40B4-BE49-F238E27FC236}">
                <a16:creationId xmlns:a16="http://schemas.microsoft.com/office/drawing/2014/main" id="{DD8F5E8F-E4FE-3B62-573E-33E48DCF363A}"/>
              </a:ext>
            </a:extLst>
          </p:cNvPr>
          <p:cNvCxnSpPr>
            <a:stCxn id="72" idx="2"/>
            <a:endCxn id="58" idx="0"/>
          </p:cNvCxnSpPr>
          <p:nvPr/>
        </p:nvCxnSpPr>
        <p:spPr>
          <a:xfrm rot="5400000">
            <a:off x="6661673" y="2458203"/>
            <a:ext cx="1925399" cy="3066575"/>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8" name="连接符: 肘形 87">
            <a:extLst>
              <a:ext uri="{FF2B5EF4-FFF2-40B4-BE49-F238E27FC236}">
                <a16:creationId xmlns:a16="http://schemas.microsoft.com/office/drawing/2014/main" id="{7A123CAB-DFD7-6426-13B1-3C8F190AF3BF}"/>
              </a:ext>
            </a:extLst>
          </p:cNvPr>
          <p:cNvCxnSpPr>
            <a:stCxn id="74" idx="2"/>
            <a:endCxn id="58" idx="0"/>
          </p:cNvCxnSpPr>
          <p:nvPr/>
        </p:nvCxnSpPr>
        <p:spPr>
          <a:xfrm rot="16200000" flipH="1">
            <a:off x="3595098" y="2458203"/>
            <a:ext cx="1925399" cy="3066573"/>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434971"/>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4F3B7C83-B371-BA90-A139-F006E34AB512}"/>
              </a:ext>
            </a:extLst>
          </p:cNvPr>
          <p:cNvSpPr txBox="1"/>
          <p:nvPr/>
        </p:nvSpPr>
        <p:spPr>
          <a:xfrm>
            <a:off x="1056000" y="1603407"/>
            <a:ext cx="3033203" cy="400110"/>
          </a:xfrm>
          <a:prstGeom prst="rect">
            <a:avLst/>
          </a:prstGeom>
          <a:noFill/>
        </p:spPr>
        <p:txBody>
          <a:bodyPr wrap="none" rtlCol="0">
            <a:spAutoFit/>
          </a:bodyPr>
          <a:lstStyle/>
          <a:p>
            <a:r>
              <a:rPr lang="zh-CN" altLang="en-US" sz="2000" dirty="0"/>
              <a:t>单选题 </a:t>
            </a:r>
            <a:r>
              <a:rPr lang="en-US" altLang="zh-CN" sz="2000" dirty="0"/>
              <a:t>Multiple Choice</a:t>
            </a:r>
            <a:endParaRPr lang="zh-CN" altLang="en-US" sz="2000" dirty="0"/>
          </a:p>
        </p:txBody>
      </p:sp>
      <p:cxnSp>
        <p:nvCxnSpPr>
          <p:cNvPr id="3" name="Straight Connector 3">
            <a:extLst>
              <a:ext uri="{FF2B5EF4-FFF2-40B4-BE49-F238E27FC236}">
                <a16:creationId xmlns:a16="http://schemas.microsoft.com/office/drawing/2014/main" id="{78694C9D-9B84-756E-8A39-3C6FF9083533}"/>
              </a:ext>
            </a:extLst>
          </p:cNvPr>
          <p:cNvCxnSpPr>
            <a:cxnSpLocks/>
          </p:cNvCxnSpPr>
          <p:nvPr/>
        </p:nvCxnSpPr>
        <p:spPr>
          <a:xfrm>
            <a:off x="1056000" y="2003517"/>
            <a:ext cx="10080000" cy="0"/>
          </a:xfrm>
          <a:prstGeom prst="line">
            <a:avLst/>
          </a:prstGeom>
          <a:ln w="38100">
            <a:gradFill>
              <a:gsLst>
                <a:gs pos="70000">
                  <a:schemeClr val="accent2"/>
                </a:gs>
                <a:gs pos="0">
                  <a:schemeClr val="accent2"/>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4" name="TextBox 4">
            <a:extLst>
              <a:ext uri="{FF2B5EF4-FFF2-40B4-BE49-F238E27FC236}">
                <a16:creationId xmlns:a16="http://schemas.microsoft.com/office/drawing/2014/main" id="{8F8628A1-47E1-A1F0-1C89-5814E3B7CE09}"/>
              </a:ext>
            </a:extLst>
          </p:cNvPr>
          <p:cNvSpPr txBox="1"/>
          <p:nvPr/>
        </p:nvSpPr>
        <p:spPr>
          <a:xfrm>
            <a:off x="1056000" y="2003517"/>
            <a:ext cx="10080000" cy="2062103"/>
          </a:xfrm>
          <a:prstGeom prst="rect">
            <a:avLst/>
          </a:prstGeom>
          <a:noFill/>
        </p:spPr>
        <p:txBody>
          <a:bodyPr wrap="square" rtlCol="0">
            <a:spAutoFit/>
          </a:bodyPr>
          <a:lstStyle/>
          <a:p>
            <a:pPr>
              <a:spcAft>
                <a:spcPts val="600"/>
              </a:spcAft>
            </a:pPr>
            <a:r>
              <a:rPr lang="zh-CN" altLang="en-US" dirty="0"/>
              <a:t>假设某项目的注册功能为 </a:t>
            </a:r>
            <a:r>
              <a:rPr lang="en-US" altLang="zh-CN" dirty="0"/>
              <a:t>3 </a:t>
            </a:r>
            <a:r>
              <a:rPr lang="zh-CN" altLang="en-US" dirty="0"/>
              <a:t>个 </a:t>
            </a:r>
            <a:r>
              <a:rPr lang="en-US" altLang="zh-CN" dirty="0"/>
              <a:t>story points</a:t>
            </a:r>
            <a:r>
              <a:rPr lang="zh-CN" altLang="en-US" dirty="0"/>
              <a:t>；其中成绩录入工作量比注册功能工作量略多，如果采用 </a:t>
            </a:r>
            <a:r>
              <a:rPr lang="en-US" altLang="zh-CN" dirty="0"/>
              <a:t>Fibonacci </a:t>
            </a:r>
            <a:r>
              <a:rPr lang="zh-CN" altLang="en-US" dirty="0"/>
              <a:t>等级标准估算的话</a:t>
            </a:r>
            <a:r>
              <a:rPr lang="en-US" altLang="zh-CN" dirty="0"/>
              <a:t>,</a:t>
            </a:r>
            <a:r>
              <a:rPr lang="zh-CN" altLang="en-US" dirty="0"/>
              <a:t>，成绩录入功能的估算值是</a:t>
            </a:r>
            <a:r>
              <a:rPr lang="en-US" altLang="zh-CN" dirty="0"/>
              <a:t>( )</a:t>
            </a:r>
          </a:p>
          <a:p>
            <a:pPr>
              <a:spcAft>
                <a:spcPts val="600"/>
              </a:spcAft>
            </a:pPr>
            <a:r>
              <a:rPr lang="en-US" altLang="zh-CN" dirty="0"/>
              <a:t>A. 5 </a:t>
            </a:r>
            <a:r>
              <a:rPr lang="zh-CN" altLang="en-US" dirty="0"/>
              <a:t>个 </a:t>
            </a:r>
            <a:r>
              <a:rPr lang="en-US" altLang="zh-CN" dirty="0"/>
              <a:t>story points</a:t>
            </a:r>
          </a:p>
          <a:p>
            <a:pPr>
              <a:spcAft>
                <a:spcPts val="600"/>
              </a:spcAft>
            </a:pPr>
            <a:r>
              <a:rPr lang="en-US" altLang="zh-CN" dirty="0"/>
              <a:t>B. 4 </a:t>
            </a:r>
            <a:r>
              <a:rPr lang="zh-CN" altLang="en-US" dirty="0"/>
              <a:t>个 </a:t>
            </a:r>
            <a:r>
              <a:rPr lang="en-US" altLang="zh-CN" dirty="0"/>
              <a:t>story points</a:t>
            </a:r>
          </a:p>
          <a:p>
            <a:pPr>
              <a:spcAft>
                <a:spcPts val="600"/>
              </a:spcAft>
            </a:pPr>
            <a:r>
              <a:rPr lang="en-US" altLang="zh-CN" dirty="0"/>
              <a:t>C. 6 </a:t>
            </a:r>
            <a:r>
              <a:rPr lang="zh-CN" altLang="en-US" dirty="0"/>
              <a:t>个 </a:t>
            </a:r>
            <a:r>
              <a:rPr lang="en-US" altLang="zh-CN" dirty="0"/>
              <a:t>story points</a:t>
            </a:r>
          </a:p>
          <a:p>
            <a:pPr>
              <a:spcAft>
                <a:spcPts val="600"/>
              </a:spcAft>
            </a:pPr>
            <a:r>
              <a:rPr lang="en-US" altLang="zh-CN" dirty="0"/>
              <a:t>D. 7 </a:t>
            </a:r>
            <a:r>
              <a:rPr lang="zh-CN" altLang="en-US" dirty="0"/>
              <a:t>个 </a:t>
            </a:r>
            <a:r>
              <a:rPr lang="en-US" altLang="zh-CN" dirty="0"/>
              <a:t>story points </a:t>
            </a:r>
            <a:endParaRPr lang="zh-CN" altLang="en-US" dirty="0"/>
          </a:p>
        </p:txBody>
      </p:sp>
    </p:spTree>
    <p:extLst>
      <p:ext uri="{BB962C8B-B14F-4D97-AF65-F5344CB8AC3E}">
        <p14:creationId xmlns:p14="http://schemas.microsoft.com/office/powerpoint/2010/main" val="2438223166"/>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84C41-2278-2DF0-F4AC-A926F3F97BB8}"/>
              </a:ext>
            </a:extLst>
          </p:cNvPr>
          <p:cNvSpPr>
            <a:spLocks noGrp="1"/>
          </p:cNvSpPr>
          <p:nvPr>
            <p:ph type="title"/>
          </p:nvPr>
        </p:nvSpPr>
        <p:spPr>
          <a:xfrm>
            <a:off x="792000" y="360000"/>
            <a:ext cx="6375921" cy="429413"/>
          </a:xfrm>
        </p:spPr>
        <p:txBody>
          <a:bodyPr/>
          <a:lstStyle/>
          <a:p>
            <a:r>
              <a:rPr lang="en-US" altLang="zh-CN" dirty="0"/>
              <a:t>6.3.2 </a:t>
            </a:r>
            <a:r>
              <a:rPr lang="zh-CN" altLang="en-US" dirty="0"/>
              <a:t>快速故事点估算</a:t>
            </a:r>
          </a:p>
        </p:txBody>
      </p:sp>
      <p:sp>
        <p:nvSpPr>
          <p:cNvPr id="3" name="内容占位符 2">
            <a:extLst>
              <a:ext uri="{FF2B5EF4-FFF2-40B4-BE49-F238E27FC236}">
                <a16:creationId xmlns:a16="http://schemas.microsoft.com/office/drawing/2014/main" id="{4BE9F94A-B5A4-4896-35E4-B893AF6D6B0C}"/>
              </a:ext>
            </a:extLst>
          </p:cNvPr>
          <p:cNvSpPr>
            <a:spLocks noGrp="1"/>
          </p:cNvSpPr>
          <p:nvPr>
            <p:ph idx="1"/>
          </p:nvPr>
        </p:nvSpPr>
        <p:spPr>
          <a:xfrm>
            <a:off x="696000" y="864000"/>
            <a:ext cx="10800000" cy="5400000"/>
          </a:xfrm>
        </p:spPr>
        <p:txBody>
          <a:bodyPr/>
          <a:lstStyle/>
          <a:p>
            <a:r>
              <a:rPr lang="zh-CN" altLang="en-US" dirty="0"/>
              <a:t>又称 </a:t>
            </a:r>
            <a:r>
              <a:rPr lang="en-US" altLang="zh-CN" dirty="0"/>
              <a:t>T-Shirt </a:t>
            </a:r>
            <a:r>
              <a:rPr lang="zh-CN" altLang="en-US" dirty="0"/>
              <a:t>估算</a:t>
            </a:r>
            <a:endParaRPr lang="en-US" altLang="zh-CN" dirty="0"/>
          </a:p>
          <a:p>
            <a:r>
              <a:rPr lang="en-US" altLang="zh-CN" dirty="0">
                <a:hlinkClick r:id="rId2"/>
              </a:rPr>
              <a:t>Mary Ann Michael </a:t>
            </a:r>
            <a:r>
              <a:rPr lang="zh-CN" altLang="en-US" dirty="0"/>
              <a:t>提出，采用类似衣服尺寸 </a:t>
            </a:r>
            <a:r>
              <a:rPr lang="en-US" altLang="zh-CN" dirty="0"/>
              <a:t>Size </a:t>
            </a:r>
            <a:r>
              <a:rPr lang="zh-CN" altLang="en-US" dirty="0"/>
              <a:t>的规格区分故事点规模</a:t>
            </a:r>
            <a:endParaRPr lang="en-US" altLang="zh-CN" dirty="0"/>
          </a:p>
          <a:p>
            <a:r>
              <a:rPr lang="en-US" altLang="zh-CN" dirty="0"/>
              <a:t>2000 </a:t>
            </a:r>
            <a:r>
              <a:rPr lang="zh-CN" altLang="en-US" dirty="0"/>
              <a:t>年左右提出，</a:t>
            </a:r>
            <a:r>
              <a:rPr lang="en-US" altLang="zh-CN" dirty="0"/>
              <a:t>2004-2008 </a:t>
            </a:r>
            <a:r>
              <a:rPr lang="zh-CN" altLang="en-US" dirty="0"/>
              <a:t>年间被广泛接受和标准化</a:t>
            </a:r>
          </a:p>
        </p:txBody>
      </p:sp>
      <p:sp>
        <p:nvSpPr>
          <p:cNvPr id="4" name="文本占位符 3">
            <a:extLst>
              <a:ext uri="{FF2B5EF4-FFF2-40B4-BE49-F238E27FC236}">
                <a16:creationId xmlns:a16="http://schemas.microsoft.com/office/drawing/2014/main" id="{A8A7DD1F-E66E-0D3A-2EBE-5AFCCB2A1BF0}"/>
              </a:ext>
            </a:extLst>
          </p:cNvPr>
          <p:cNvSpPr>
            <a:spLocks noGrp="1"/>
          </p:cNvSpPr>
          <p:nvPr>
            <p:ph type="body" sz="quarter" idx="10"/>
          </p:nvPr>
        </p:nvSpPr>
        <p:spPr>
          <a:xfrm>
            <a:off x="7071919" y="448519"/>
            <a:ext cx="4424080" cy="338554"/>
          </a:xfrm>
        </p:spPr>
        <p:txBody>
          <a:bodyPr/>
          <a:lstStyle/>
          <a:p>
            <a:r>
              <a:rPr lang="en-US" altLang="zh-CN" dirty="0"/>
              <a:t>Fast Story Point/Aigle</a:t>
            </a:r>
            <a:endParaRPr lang="zh-CN" altLang="en-US" dirty="0"/>
          </a:p>
        </p:txBody>
      </p:sp>
      <p:graphicFrame>
        <p:nvGraphicFramePr>
          <p:cNvPr id="5" name="表格 4">
            <a:extLst>
              <a:ext uri="{FF2B5EF4-FFF2-40B4-BE49-F238E27FC236}">
                <a16:creationId xmlns:a16="http://schemas.microsoft.com/office/drawing/2014/main" id="{1DE943D6-7B60-4DE7-EC81-A0E8AE33F4BE}"/>
              </a:ext>
            </a:extLst>
          </p:cNvPr>
          <p:cNvGraphicFramePr>
            <a:graphicFrameLocks noGrp="1"/>
          </p:cNvGraphicFramePr>
          <p:nvPr>
            <p:extLst>
              <p:ext uri="{D42A27DB-BD31-4B8C-83A1-F6EECF244321}">
                <p14:modId xmlns:p14="http://schemas.microsoft.com/office/powerpoint/2010/main" val="2434934804"/>
              </p:ext>
            </p:extLst>
          </p:nvPr>
        </p:nvGraphicFramePr>
        <p:xfrm>
          <a:off x="2676000" y="2658644"/>
          <a:ext cx="6840000" cy="2346960"/>
        </p:xfrm>
        <a:graphic>
          <a:graphicData uri="http://schemas.openxmlformats.org/drawingml/2006/table">
            <a:tbl>
              <a:tblPr/>
              <a:tblGrid>
                <a:gridCol w="1080000">
                  <a:extLst>
                    <a:ext uri="{9D8B030D-6E8A-4147-A177-3AD203B41FA5}">
                      <a16:colId xmlns:a16="http://schemas.microsoft.com/office/drawing/2014/main" val="3227890518"/>
                    </a:ext>
                  </a:extLst>
                </a:gridCol>
                <a:gridCol w="1800000">
                  <a:extLst>
                    <a:ext uri="{9D8B030D-6E8A-4147-A177-3AD203B41FA5}">
                      <a16:colId xmlns:a16="http://schemas.microsoft.com/office/drawing/2014/main" val="1620190121"/>
                    </a:ext>
                  </a:extLst>
                </a:gridCol>
                <a:gridCol w="2880000">
                  <a:extLst>
                    <a:ext uri="{9D8B030D-6E8A-4147-A177-3AD203B41FA5}">
                      <a16:colId xmlns:a16="http://schemas.microsoft.com/office/drawing/2014/main" val="387530637"/>
                    </a:ext>
                  </a:extLst>
                </a:gridCol>
                <a:gridCol w="1080000">
                  <a:extLst>
                    <a:ext uri="{9D8B030D-6E8A-4147-A177-3AD203B41FA5}">
                      <a16:colId xmlns:a16="http://schemas.microsoft.com/office/drawing/2014/main" val="2446955010"/>
                    </a:ext>
                  </a:extLst>
                </a:gridCol>
              </a:tblGrid>
              <a:tr h="0">
                <a:tc>
                  <a:txBody>
                    <a:bodyPr/>
                    <a:lstStyle/>
                    <a:p>
                      <a:pPr>
                        <a:buNone/>
                      </a:pPr>
                      <a:r>
                        <a:rPr lang="en-US" altLang="zh-CN" sz="1600" dirty="0">
                          <a:solidFill>
                            <a:schemeClr val="bg1"/>
                          </a:solidFill>
                        </a:rPr>
                        <a:t>Size</a:t>
                      </a:r>
                      <a:endParaRPr lang="zh-CN" altLang="en-US" sz="1600" dirty="0">
                        <a:solidFill>
                          <a:schemeClr val="bg1"/>
                        </a:solidFill>
                      </a:endParaRPr>
                    </a:p>
                  </a:txBody>
                  <a:tcPr anchor="ctr">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buNone/>
                      </a:pPr>
                      <a:r>
                        <a:rPr lang="en-US" altLang="zh-CN" sz="1600" dirty="0">
                          <a:solidFill>
                            <a:schemeClr val="bg1"/>
                          </a:solidFill>
                        </a:rPr>
                        <a:t>Description</a:t>
                      </a:r>
                      <a:endParaRPr lang="zh-CN" altLang="en-US" sz="1600" dirty="0">
                        <a:solidFill>
                          <a:schemeClr val="bg1"/>
                        </a:solidFill>
                      </a:endParaRPr>
                    </a:p>
                  </a:txBody>
                  <a:tcPr anchor="ctr">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buNone/>
                      </a:pPr>
                      <a:r>
                        <a:rPr lang="en-US" altLang="zh-CN" sz="1600" dirty="0">
                          <a:solidFill>
                            <a:schemeClr val="bg1"/>
                          </a:solidFill>
                        </a:rPr>
                        <a:t>Effort</a:t>
                      </a:r>
                      <a:endParaRPr lang="zh-CN" altLang="en-US" sz="1600" dirty="0">
                        <a:solidFill>
                          <a:schemeClr val="bg1"/>
                        </a:solidFill>
                      </a:endParaRPr>
                    </a:p>
                  </a:txBody>
                  <a:tcPr anchor="ctr">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buNone/>
                      </a:pPr>
                      <a:r>
                        <a:rPr lang="en-US" altLang="zh-CN" sz="1600" dirty="0">
                          <a:solidFill>
                            <a:schemeClr val="bg1"/>
                          </a:solidFill>
                        </a:rPr>
                        <a:t>Point</a:t>
                      </a:r>
                      <a:endParaRPr lang="zh-CN" altLang="en-US" sz="1600" dirty="0">
                        <a:solidFill>
                          <a:schemeClr val="bg1"/>
                        </a:solidFill>
                      </a:endParaRPr>
                    </a:p>
                  </a:txBody>
                  <a:tcPr anchor="ctr">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2299894281"/>
                  </a:ext>
                </a:extLst>
              </a:tr>
              <a:tr h="0">
                <a:tc>
                  <a:txBody>
                    <a:bodyPr/>
                    <a:lstStyle/>
                    <a:p>
                      <a:pPr>
                        <a:buNone/>
                      </a:pPr>
                      <a:r>
                        <a:rPr lang="en-US" altLang="zh-CN" sz="1600" dirty="0">
                          <a:solidFill>
                            <a:schemeClr val="tx1"/>
                          </a:solidFill>
                        </a:rPr>
                        <a:t>XS</a:t>
                      </a:r>
                      <a:endParaRPr lang="en-US" sz="1600" dirty="0">
                        <a:solidFill>
                          <a:schemeClr val="tx1"/>
                        </a:solidFill>
                      </a:endParaRPr>
                    </a:p>
                  </a:txBody>
                  <a:tcPr anchor="ctr">
                    <a:lnL>
                      <a:noFill/>
                    </a:lnL>
                    <a:lnR>
                      <a:noFill/>
                    </a:lnR>
                    <a:lnT w="1270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buNone/>
                      </a:pPr>
                      <a:r>
                        <a:rPr lang="zh-CN" altLang="en-US" sz="1600" dirty="0">
                          <a:solidFill>
                            <a:schemeClr val="tx1"/>
                          </a:solidFill>
                        </a:rPr>
                        <a:t>很小 </a:t>
                      </a:r>
                      <a:r>
                        <a:rPr lang="en-US" sz="1600" dirty="0">
                          <a:solidFill>
                            <a:schemeClr val="tx1"/>
                          </a:solidFill>
                        </a:rPr>
                        <a:t>Tiny</a:t>
                      </a:r>
                    </a:p>
                  </a:txBody>
                  <a:tcPr anchor="ctr">
                    <a:lnL>
                      <a:noFill/>
                    </a:lnL>
                    <a:lnR>
                      <a:noFill/>
                    </a:lnR>
                    <a:lnT w="1270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buNone/>
                      </a:pPr>
                      <a:r>
                        <a:rPr lang="en-US" altLang="zh-CN" sz="1600" dirty="0">
                          <a:solidFill>
                            <a:schemeClr val="tx1"/>
                          </a:solidFill>
                        </a:rPr>
                        <a:t>8</a:t>
                      </a:r>
                      <a:r>
                        <a:rPr lang="zh-CN" altLang="en-US" sz="1600" dirty="0">
                          <a:solidFill>
                            <a:schemeClr val="tx1"/>
                          </a:solidFill>
                        </a:rPr>
                        <a:t>小时（</a:t>
                      </a:r>
                      <a:r>
                        <a:rPr lang="en-US" altLang="zh-CN" sz="1600" dirty="0">
                          <a:solidFill>
                            <a:schemeClr val="tx1"/>
                          </a:solidFill>
                        </a:rPr>
                        <a:t>1</a:t>
                      </a:r>
                      <a:r>
                        <a:rPr lang="zh-CN" altLang="en-US" sz="1600" dirty="0">
                          <a:solidFill>
                            <a:schemeClr val="tx1"/>
                          </a:solidFill>
                        </a:rPr>
                        <a:t>天）</a:t>
                      </a:r>
                    </a:p>
                  </a:txBody>
                  <a:tcPr anchor="ctr">
                    <a:lnL>
                      <a:noFill/>
                    </a:lnL>
                    <a:lnR>
                      <a:noFill/>
                    </a:lnR>
                    <a:lnT w="1270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r>
                        <a:rPr lang="en-US" altLang="zh-CN" sz="1600" dirty="0">
                          <a:solidFill>
                            <a:schemeClr val="tx1"/>
                          </a:solidFill>
                        </a:rPr>
                        <a:t>1</a:t>
                      </a:r>
                    </a:p>
                  </a:txBody>
                  <a:tcPr anchor="ctr">
                    <a:lnL>
                      <a:noFill/>
                    </a:lnL>
                    <a:lnR>
                      <a:noFill/>
                    </a:lnR>
                    <a:lnT w="1270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708258967"/>
                  </a:ext>
                </a:extLst>
              </a:tr>
              <a:tr h="0">
                <a:tc>
                  <a:txBody>
                    <a:bodyPr/>
                    <a:lstStyle/>
                    <a:p>
                      <a:pPr>
                        <a:buNone/>
                      </a:pPr>
                      <a:r>
                        <a:rPr lang="en-US" sz="1600" dirty="0">
                          <a:solidFill>
                            <a:schemeClr val="tx1"/>
                          </a:solidFill>
                        </a:rPr>
                        <a:t>S</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buNone/>
                      </a:pPr>
                      <a:r>
                        <a:rPr lang="zh-CN" altLang="en-US" sz="1600" dirty="0">
                          <a:solidFill>
                            <a:schemeClr val="tx1"/>
                          </a:solidFill>
                        </a:rPr>
                        <a:t>较小 </a:t>
                      </a:r>
                      <a:r>
                        <a:rPr lang="en-US" sz="1600" dirty="0">
                          <a:solidFill>
                            <a:schemeClr val="tx1"/>
                          </a:solidFill>
                        </a:rPr>
                        <a:t>Small</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buNone/>
                      </a:pPr>
                      <a:r>
                        <a:rPr lang="en-US" altLang="zh-CN" sz="1600" dirty="0">
                          <a:solidFill>
                            <a:schemeClr val="tx1"/>
                          </a:solidFill>
                        </a:rPr>
                        <a:t>16</a:t>
                      </a:r>
                      <a:r>
                        <a:rPr lang="zh-CN" altLang="en-US" sz="1600" dirty="0">
                          <a:solidFill>
                            <a:schemeClr val="tx1"/>
                          </a:solidFill>
                        </a:rPr>
                        <a:t>小时（</a:t>
                      </a:r>
                      <a:r>
                        <a:rPr lang="en-US" altLang="zh-CN" sz="1600" dirty="0">
                          <a:solidFill>
                            <a:schemeClr val="tx1"/>
                          </a:solidFill>
                        </a:rPr>
                        <a:t>2</a:t>
                      </a:r>
                      <a:r>
                        <a:rPr lang="zh-CN" altLang="en-US" sz="1600" dirty="0">
                          <a:solidFill>
                            <a:schemeClr val="tx1"/>
                          </a:solidFill>
                        </a:rPr>
                        <a:t>天）</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buNone/>
                      </a:pPr>
                      <a:r>
                        <a:rPr lang="en-US" altLang="zh-CN" sz="1600" dirty="0">
                          <a:solidFill>
                            <a:schemeClr val="tx1"/>
                          </a:solidFill>
                        </a:rPr>
                        <a:t>2</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945694430"/>
                  </a:ext>
                </a:extLst>
              </a:tr>
              <a:tr h="0">
                <a:tc>
                  <a:txBody>
                    <a:bodyPr/>
                    <a:lstStyle/>
                    <a:p>
                      <a:pPr>
                        <a:buNone/>
                      </a:pPr>
                      <a:r>
                        <a:rPr lang="en-US" sz="1600" dirty="0">
                          <a:solidFill>
                            <a:schemeClr val="tx1"/>
                          </a:solidFill>
                        </a:rPr>
                        <a:t>M</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buNone/>
                      </a:pPr>
                      <a:r>
                        <a:rPr lang="zh-CN" altLang="en-US" sz="1600" dirty="0">
                          <a:solidFill>
                            <a:schemeClr val="tx1"/>
                          </a:solidFill>
                        </a:rPr>
                        <a:t>中等 </a:t>
                      </a:r>
                      <a:r>
                        <a:rPr lang="en-US" sz="1600" dirty="0">
                          <a:solidFill>
                            <a:schemeClr val="tx1"/>
                          </a:solidFill>
                        </a:rPr>
                        <a:t>Medium</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buNone/>
                      </a:pPr>
                      <a:r>
                        <a:rPr lang="en-US" altLang="zh-CN" sz="1600" dirty="0">
                          <a:solidFill>
                            <a:schemeClr val="tx1"/>
                          </a:solidFill>
                        </a:rPr>
                        <a:t>24</a:t>
                      </a:r>
                      <a:r>
                        <a:rPr lang="zh-CN" altLang="en-US" sz="1600" dirty="0">
                          <a:solidFill>
                            <a:schemeClr val="tx1"/>
                          </a:solidFill>
                        </a:rPr>
                        <a:t>小时（</a:t>
                      </a:r>
                      <a:r>
                        <a:rPr lang="en-US" altLang="zh-CN" sz="1600" dirty="0">
                          <a:solidFill>
                            <a:schemeClr val="tx1"/>
                          </a:solidFill>
                        </a:rPr>
                        <a:t>3</a:t>
                      </a:r>
                      <a:r>
                        <a:rPr lang="zh-CN" altLang="en-US" sz="1600" dirty="0">
                          <a:solidFill>
                            <a:schemeClr val="tx1"/>
                          </a:solidFill>
                        </a:rPr>
                        <a:t>天）</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buNone/>
                      </a:pPr>
                      <a:r>
                        <a:rPr lang="en-US" altLang="zh-CN" sz="1600" dirty="0">
                          <a:solidFill>
                            <a:schemeClr val="tx1"/>
                          </a:solidFill>
                        </a:rPr>
                        <a:t>3</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569690901"/>
                  </a:ext>
                </a:extLst>
              </a:tr>
              <a:tr h="0">
                <a:tc>
                  <a:txBody>
                    <a:bodyPr/>
                    <a:lstStyle/>
                    <a:p>
                      <a:pPr>
                        <a:buNone/>
                      </a:pPr>
                      <a:r>
                        <a:rPr lang="en-US" sz="1600" dirty="0">
                          <a:solidFill>
                            <a:schemeClr val="tx1"/>
                          </a:solidFill>
                        </a:rPr>
                        <a:t>L</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buNone/>
                      </a:pPr>
                      <a:r>
                        <a:rPr lang="zh-CN" altLang="en-US" sz="1600" dirty="0">
                          <a:solidFill>
                            <a:schemeClr val="tx1"/>
                          </a:solidFill>
                        </a:rPr>
                        <a:t>较大 </a:t>
                      </a:r>
                      <a:r>
                        <a:rPr lang="en-US" sz="1600" dirty="0">
                          <a:solidFill>
                            <a:schemeClr val="tx1"/>
                          </a:solidFill>
                        </a:rPr>
                        <a:t>Big</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buNone/>
                      </a:pPr>
                      <a:r>
                        <a:rPr lang="en-US" altLang="zh-CN" sz="1600" dirty="0">
                          <a:solidFill>
                            <a:schemeClr val="tx1"/>
                          </a:solidFill>
                        </a:rPr>
                        <a:t>40</a:t>
                      </a:r>
                      <a:r>
                        <a:rPr lang="zh-CN" altLang="en-US" sz="1600" dirty="0">
                          <a:solidFill>
                            <a:schemeClr val="tx1"/>
                          </a:solidFill>
                        </a:rPr>
                        <a:t>小时（</a:t>
                      </a:r>
                      <a:r>
                        <a:rPr lang="en-US" altLang="zh-CN" sz="1600" dirty="0">
                          <a:solidFill>
                            <a:schemeClr val="tx1"/>
                          </a:solidFill>
                        </a:rPr>
                        <a:t>5</a:t>
                      </a:r>
                      <a:r>
                        <a:rPr lang="zh-CN" altLang="en-US" sz="1600" dirty="0">
                          <a:solidFill>
                            <a:schemeClr val="tx1"/>
                          </a:solidFill>
                        </a:rPr>
                        <a:t>天）</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buNone/>
                      </a:pPr>
                      <a:r>
                        <a:rPr lang="en-US" altLang="zh-CN" sz="1600" dirty="0">
                          <a:solidFill>
                            <a:schemeClr val="tx1"/>
                          </a:solidFill>
                        </a:rPr>
                        <a:t>5</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618435437"/>
                  </a:ext>
                </a:extLst>
              </a:tr>
              <a:tr h="0">
                <a:tc>
                  <a:txBody>
                    <a:bodyPr/>
                    <a:lstStyle/>
                    <a:p>
                      <a:pPr>
                        <a:buNone/>
                      </a:pPr>
                      <a:r>
                        <a:rPr lang="en-US" sz="1600" dirty="0">
                          <a:solidFill>
                            <a:schemeClr val="tx1"/>
                          </a:solidFill>
                        </a:rPr>
                        <a:t>XL</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buNone/>
                      </a:pPr>
                      <a:r>
                        <a:rPr lang="zh-CN" altLang="en-US" sz="1600" dirty="0">
                          <a:solidFill>
                            <a:schemeClr val="tx1"/>
                          </a:solidFill>
                        </a:rPr>
                        <a:t>很大 </a:t>
                      </a:r>
                      <a:r>
                        <a:rPr lang="en-US" sz="1600" dirty="0">
                          <a:solidFill>
                            <a:schemeClr val="tx1"/>
                          </a:solidFill>
                        </a:rPr>
                        <a:t>Large</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buNone/>
                      </a:pPr>
                      <a:r>
                        <a:rPr lang="en-US" altLang="zh-CN" sz="1600" dirty="0">
                          <a:solidFill>
                            <a:schemeClr val="tx1"/>
                          </a:solidFill>
                        </a:rPr>
                        <a:t>64</a:t>
                      </a:r>
                      <a:r>
                        <a:rPr lang="zh-CN" altLang="en-US" sz="1600" dirty="0">
                          <a:solidFill>
                            <a:schemeClr val="tx1"/>
                          </a:solidFill>
                        </a:rPr>
                        <a:t>小时以上（</a:t>
                      </a:r>
                      <a:r>
                        <a:rPr lang="en-US" altLang="zh-CN" sz="1600" dirty="0">
                          <a:solidFill>
                            <a:schemeClr val="tx1"/>
                          </a:solidFill>
                        </a:rPr>
                        <a:t>8</a:t>
                      </a:r>
                      <a:r>
                        <a:rPr lang="zh-CN" altLang="en-US" sz="1600" dirty="0">
                          <a:solidFill>
                            <a:schemeClr val="tx1"/>
                          </a:solidFill>
                        </a:rPr>
                        <a:t>天以上）</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buNone/>
                      </a:pPr>
                      <a:r>
                        <a:rPr lang="en-US" altLang="zh-CN" sz="1600" dirty="0">
                          <a:solidFill>
                            <a:schemeClr val="tx1"/>
                          </a:solidFill>
                        </a:rPr>
                        <a:t>8</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978977898"/>
                  </a:ext>
                </a:extLst>
              </a:tr>
              <a:tr h="0">
                <a:tc>
                  <a:txBody>
                    <a:bodyPr/>
                    <a:lstStyle/>
                    <a:p>
                      <a:pPr>
                        <a:buNone/>
                      </a:pPr>
                      <a:r>
                        <a:rPr lang="en-US" sz="1600" dirty="0">
                          <a:solidFill>
                            <a:schemeClr val="tx1"/>
                          </a:solidFill>
                        </a:rPr>
                        <a:t>XXL</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buNone/>
                      </a:pPr>
                      <a:r>
                        <a:rPr lang="zh-CN" altLang="en-US" sz="1600" dirty="0">
                          <a:solidFill>
                            <a:schemeClr val="tx1"/>
                          </a:solidFill>
                        </a:rPr>
                        <a:t>巨大 </a:t>
                      </a:r>
                      <a:r>
                        <a:rPr lang="en-US" sz="1600" dirty="0">
                          <a:solidFill>
                            <a:schemeClr val="tx1"/>
                          </a:solidFill>
                        </a:rPr>
                        <a:t>Large</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buNone/>
                      </a:pPr>
                      <a:r>
                        <a:rPr lang="en-US" altLang="zh-CN" sz="1600" dirty="0">
                          <a:solidFill>
                            <a:schemeClr val="tx1"/>
                          </a:solidFill>
                        </a:rPr>
                        <a:t>104</a:t>
                      </a:r>
                      <a:r>
                        <a:rPr lang="zh-CN" altLang="en-US" sz="1600" dirty="0">
                          <a:solidFill>
                            <a:schemeClr val="tx1"/>
                          </a:solidFill>
                        </a:rPr>
                        <a:t>小时以上（</a:t>
                      </a:r>
                      <a:r>
                        <a:rPr lang="en-US" altLang="zh-CN" sz="1600" dirty="0">
                          <a:solidFill>
                            <a:schemeClr val="tx1"/>
                          </a:solidFill>
                        </a:rPr>
                        <a:t>13</a:t>
                      </a:r>
                      <a:r>
                        <a:rPr lang="zh-CN" altLang="en-US" sz="1600" dirty="0">
                          <a:solidFill>
                            <a:schemeClr val="tx1"/>
                          </a:solidFill>
                        </a:rPr>
                        <a:t>天以上）</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buNone/>
                      </a:pPr>
                      <a:r>
                        <a:rPr lang="en-US" altLang="zh-CN" sz="1600" dirty="0">
                          <a:solidFill>
                            <a:schemeClr val="tx1"/>
                          </a:solidFill>
                        </a:rPr>
                        <a:t>13</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390273366"/>
                  </a:ext>
                </a:extLst>
              </a:tr>
            </a:tbl>
          </a:graphicData>
        </a:graphic>
      </p:graphicFrame>
    </p:spTree>
    <p:extLst>
      <p:ext uri="{BB962C8B-B14F-4D97-AF65-F5344CB8AC3E}">
        <p14:creationId xmlns:p14="http://schemas.microsoft.com/office/powerpoint/2010/main" val="4026783992"/>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a:extLst>
              <a:ext uri="{FF2B5EF4-FFF2-40B4-BE49-F238E27FC236}">
                <a16:creationId xmlns:a16="http://schemas.microsoft.com/office/drawing/2014/main" id="{E67642CC-7EF7-3B41-FECD-D4B8E6726D14}"/>
              </a:ext>
            </a:extLst>
          </p:cNvPr>
          <p:cNvGraphicFramePr>
            <a:graphicFrameLocks noGrp="1"/>
          </p:cNvGraphicFramePr>
          <p:nvPr>
            <p:extLst>
              <p:ext uri="{D42A27DB-BD31-4B8C-83A1-F6EECF244321}">
                <p14:modId xmlns:p14="http://schemas.microsoft.com/office/powerpoint/2010/main" val="1725632060"/>
              </p:ext>
            </p:extLst>
          </p:nvPr>
        </p:nvGraphicFramePr>
        <p:xfrm>
          <a:off x="2868824" y="2173200"/>
          <a:ext cx="7560000" cy="2773680"/>
        </p:xfrm>
        <a:graphic>
          <a:graphicData uri="http://schemas.openxmlformats.org/drawingml/2006/table">
            <a:tbl>
              <a:tblPr/>
              <a:tblGrid>
                <a:gridCol w="1080000">
                  <a:extLst>
                    <a:ext uri="{9D8B030D-6E8A-4147-A177-3AD203B41FA5}">
                      <a16:colId xmlns:a16="http://schemas.microsoft.com/office/drawing/2014/main" val="3227890518"/>
                    </a:ext>
                  </a:extLst>
                </a:gridCol>
                <a:gridCol w="1080000">
                  <a:extLst>
                    <a:ext uri="{9D8B030D-6E8A-4147-A177-3AD203B41FA5}">
                      <a16:colId xmlns:a16="http://schemas.microsoft.com/office/drawing/2014/main" val="1620190121"/>
                    </a:ext>
                  </a:extLst>
                </a:gridCol>
                <a:gridCol w="1080000">
                  <a:extLst>
                    <a:ext uri="{9D8B030D-6E8A-4147-A177-3AD203B41FA5}">
                      <a16:colId xmlns:a16="http://schemas.microsoft.com/office/drawing/2014/main" val="387530637"/>
                    </a:ext>
                  </a:extLst>
                </a:gridCol>
                <a:gridCol w="1080000">
                  <a:extLst>
                    <a:ext uri="{9D8B030D-6E8A-4147-A177-3AD203B41FA5}">
                      <a16:colId xmlns:a16="http://schemas.microsoft.com/office/drawing/2014/main" val="2446955010"/>
                    </a:ext>
                  </a:extLst>
                </a:gridCol>
                <a:gridCol w="1080000">
                  <a:extLst>
                    <a:ext uri="{9D8B030D-6E8A-4147-A177-3AD203B41FA5}">
                      <a16:colId xmlns:a16="http://schemas.microsoft.com/office/drawing/2014/main" val="1633442213"/>
                    </a:ext>
                  </a:extLst>
                </a:gridCol>
                <a:gridCol w="1080000">
                  <a:extLst>
                    <a:ext uri="{9D8B030D-6E8A-4147-A177-3AD203B41FA5}">
                      <a16:colId xmlns:a16="http://schemas.microsoft.com/office/drawing/2014/main" val="1071517291"/>
                    </a:ext>
                  </a:extLst>
                </a:gridCol>
                <a:gridCol w="1080000">
                  <a:extLst>
                    <a:ext uri="{9D8B030D-6E8A-4147-A177-3AD203B41FA5}">
                      <a16:colId xmlns:a16="http://schemas.microsoft.com/office/drawing/2014/main" val="1217625462"/>
                    </a:ext>
                  </a:extLst>
                </a:gridCol>
              </a:tblGrid>
              <a:tr h="142316">
                <a:tc gridSpan="7">
                  <a:txBody>
                    <a:bodyPr/>
                    <a:lstStyle/>
                    <a:p>
                      <a:pPr>
                        <a:buNone/>
                      </a:pPr>
                      <a:r>
                        <a:rPr lang="en-US" altLang="zh-CN" sz="1600" dirty="0">
                          <a:solidFill>
                            <a:schemeClr val="tx1"/>
                          </a:solidFill>
                        </a:rPr>
                        <a:t>Step 0 </a:t>
                      </a:r>
                      <a:r>
                        <a:rPr lang="zh-CN" altLang="en-US" sz="1600" dirty="0">
                          <a:solidFill>
                            <a:schemeClr val="tx1"/>
                          </a:solidFill>
                        </a:rPr>
                        <a:t>准备用户故事</a:t>
                      </a:r>
                    </a:p>
                  </a:txBody>
                  <a:tcPr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buNone/>
                      </a:pPr>
                      <a:endParaRPr lang="zh-CN" altLang="en-US" sz="1600" dirty="0">
                        <a:solidFill>
                          <a:schemeClr val="bg1"/>
                        </a:solidFill>
                      </a:endParaRPr>
                    </a:p>
                  </a:txBody>
                  <a:tcPr anchor="ctr">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buNone/>
                      </a:pPr>
                      <a:endParaRPr lang="zh-CN" altLang="en-US" sz="1600" dirty="0">
                        <a:solidFill>
                          <a:schemeClr val="bg1"/>
                        </a:solidFill>
                      </a:endParaRPr>
                    </a:p>
                  </a:txBody>
                  <a:tcPr anchor="ctr">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buNone/>
                      </a:pPr>
                      <a:endParaRPr lang="zh-CN" altLang="en-US" sz="1600" dirty="0">
                        <a:solidFill>
                          <a:srgbClr val="FFFF00"/>
                        </a:solidFill>
                      </a:endParaRPr>
                    </a:p>
                  </a:txBody>
                  <a:tcPr anchor="ctr">
                    <a:lnL>
                      <a:noFill/>
                    </a:lnL>
                    <a:lnR>
                      <a:noFill/>
                    </a:lnR>
                    <a:lnT>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buNone/>
                      </a:pPr>
                      <a:endParaRPr lang="zh-CN" altLang="en-US" sz="1600" dirty="0">
                        <a:solidFill>
                          <a:srgbClr val="FFFF00"/>
                        </a:solidFill>
                      </a:endParaRPr>
                    </a:p>
                  </a:txBody>
                  <a:tcPr anchor="ctr">
                    <a:lnL>
                      <a:noFill/>
                    </a:lnL>
                    <a:lnR>
                      <a:noFill/>
                    </a:lnR>
                    <a:lnT>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buNone/>
                      </a:pPr>
                      <a:endParaRPr lang="zh-CN" altLang="en-US" sz="1600" dirty="0">
                        <a:solidFill>
                          <a:srgbClr val="FFFF00"/>
                        </a:solidFill>
                      </a:endParaRPr>
                    </a:p>
                  </a:txBody>
                  <a:tcPr anchor="ctr">
                    <a:lnL>
                      <a:noFill/>
                    </a:lnL>
                    <a:lnR>
                      <a:noFill/>
                    </a:lnR>
                    <a:lnT>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8335640"/>
                  </a:ext>
                </a:extLst>
              </a:tr>
              <a:tr h="129378">
                <a:tc>
                  <a:txBody>
                    <a:bodyPr/>
                    <a:lstStyle/>
                    <a:p>
                      <a:pPr algn="ctr">
                        <a:buNone/>
                      </a:pP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zh-CN" altLang="en-US" sz="1400" dirty="0">
                        <a:solidFill>
                          <a:schemeClr val="tx1"/>
                        </a:solidFill>
                      </a:endParaRPr>
                    </a:p>
                  </a:txBody>
                  <a:tcPr anchor="ct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zh-CN" altLang="en-US" sz="1400" dirty="0">
                        <a:solidFill>
                          <a:schemeClr val="tx1"/>
                        </a:solidFill>
                      </a:endParaRPr>
                    </a:p>
                  </a:txBody>
                  <a:tcPr anchor="ct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zh-CN" altLang="en-US" sz="1400" dirty="0">
                        <a:solidFill>
                          <a:schemeClr val="tx1"/>
                        </a:solidFill>
                      </a:endParaRPr>
                    </a:p>
                  </a:txBody>
                  <a:tcPr anchor="ct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zh-CN" altLang="en-US" sz="1400" dirty="0">
                        <a:solidFill>
                          <a:schemeClr val="tx1"/>
                        </a:solidFill>
                      </a:endParaRPr>
                    </a:p>
                  </a:txBody>
                  <a:tcPr anchor="ct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zh-CN" altLang="en-US" sz="1400" dirty="0">
                        <a:solidFill>
                          <a:schemeClr val="tx1"/>
                        </a:solidFill>
                      </a:endParaRPr>
                    </a:p>
                  </a:txBody>
                  <a:tcPr anchor="ctr">
                    <a:lnL>
                      <a:noFill/>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zh-CN" altLang="en-US" sz="1400" dirty="0">
                        <a:solidFill>
                          <a:schemeClr val="tx1"/>
                        </a:solidFill>
                      </a:endParaRP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9894281"/>
                  </a:ext>
                </a:extLst>
              </a:tr>
              <a:tr h="129378">
                <a:tc>
                  <a:txBody>
                    <a:bodyPr/>
                    <a:lstStyle/>
                    <a:p>
                      <a:pPr algn="ctr">
                        <a:buNone/>
                      </a:pPr>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a:noFill/>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708258967"/>
                  </a:ext>
                </a:extLst>
              </a:tr>
              <a:tr h="12937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w="12700" cap="flat" cmpd="sng" algn="ctr">
                      <a:solidFill>
                        <a:schemeClr val="tx1"/>
                      </a:solid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a:noFill/>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218416589"/>
                  </a:ext>
                </a:extLst>
              </a:tr>
              <a:tr h="12937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a:noFill/>
                    </a:lnL>
                    <a:lnR w="63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945694430"/>
                  </a:ext>
                </a:extLst>
              </a:tr>
              <a:tr h="12937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w="12700" cap="flat" cmpd="sng" algn="ctr">
                      <a:solidFill>
                        <a:schemeClr val="tx1"/>
                      </a:solidFill>
                      <a:prstDash val="solid"/>
                      <a:round/>
                      <a:headEnd type="none" w="med" len="med"/>
                      <a:tailEnd type="none" w="med" len="med"/>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sz="1400" dirty="0">
                        <a:solidFill>
                          <a:schemeClr val="tx1"/>
                        </a:solidFill>
                      </a:endParaRPr>
                    </a:p>
                  </a:txBody>
                  <a:tcPr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zh-CN" altLang="en-US" sz="1400" dirty="0">
                        <a:solidFill>
                          <a:schemeClr val="tx1"/>
                        </a:solidFill>
                      </a:endParaRPr>
                    </a:p>
                  </a:txBody>
                  <a:tcPr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txBody>
                  <a:tcPr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a:noFill/>
                    </a:lnL>
                    <a:lnR w="635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a:noFill/>
                    </a:lnL>
                    <a:lnR w="12700" cap="flat" cmpd="sng" algn="ctr">
                      <a:solidFill>
                        <a:schemeClr val="tx1"/>
                      </a:solidFill>
                      <a:prstDash val="solid"/>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1369276"/>
                  </a:ext>
                </a:extLst>
              </a:tr>
              <a:tr h="12937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w="12700" cap="flat" cmpd="sng" algn="ctr">
                      <a:solidFill>
                        <a:schemeClr val="tx1"/>
                      </a:solidFill>
                      <a:prstDash val="solid"/>
                      <a:round/>
                      <a:headEnd type="none" w="med" len="med"/>
                      <a:tailEnd type="none" w="med" len="med"/>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sz="1400" dirty="0">
                        <a:solidFill>
                          <a:schemeClr val="tx1"/>
                        </a:solidFill>
                      </a:endParaRPr>
                    </a:p>
                  </a:txBody>
                  <a:tcPr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zh-CN" altLang="en-US" sz="1400" dirty="0">
                        <a:solidFill>
                          <a:schemeClr val="tx1"/>
                        </a:solidFill>
                      </a:endParaRPr>
                    </a:p>
                  </a:txBody>
                  <a:tcPr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txBody>
                  <a:tcPr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a:noFill/>
                    </a:lnL>
                    <a:lnR w="635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a:noFill/>
                    </a:lnL>
                    <a:lnR w="12700" cap="flat" cmpd="sng" algn="ctr">
                      <a:solidFill>
                        <a:schemeClr val="tx1"/>
                      </a:solidFill>
                      <a:prstDash val="solid"/>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3198688"/>
                  </a:ext>
                </a:extLst>
              </a:tr>
              <a:tr h="12937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w="12700" cap="flat" cmpd="sng" algn="ctr">
                      <a:solidFill>
                        <a:schemeClr val="tx1"/>
                      </a:solidFill>
                      <a:prstDash val="solid"/>
                      <a:round/>
                      <a:headEnd type="none" w="med" len="med"/>
                      <a:tailEnd type="none" w="med" len="med"/>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sz="1400" dirty="0">
                        <a:solidFill>
                          <a:schemeClr val="tx1"/>
                        </a:solidFill>
                      </a:endParaRPr>
                    </a:p>
                  </a:txBody>
                  <a:tcPr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zh-CN" altLang="en-US" sz="1400" dirty="0">
                        <a:solidFill>
                          <a:schemeClr val="tx1"/>
                        </a:solidFill>
                      </a:endParaRPr>
                    </a:p>
                  </a:txBody>
                  <a:tcPr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txBody>
                  <a:tcPr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a:noFill/>
                    </a:lnL>
                    <a:lnR w="635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a:noFill/>
                    </a:lnL>
                    <a:lnR w="12700" cap="flat" cmpd="sng" algn="ctr">
                      <a:solidFill>
                        <a:schemeClr val="tx1"/>
                      </a:solidFill>
                      <a:prstDash val="solid"/>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9690901"/>
                  </a:ext>
                </a:extLst>
              </a:tr>
              <a:tr h="12937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sz="1400" dirty="0">
                        <a:solidFill>
                          <a:schemeClr val="tx1"/>
                        </a:solidFill>
                      </a:endParaRPr>
                    </a:p>
                  </a:txBody>
                  <a:tcPr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zh-CN" altLang="en-US" sz="1400" dirty="0">
                        <a:solidFill>
                          <a:schemeClr val="tx1"/>
                        </a:solidFill>
                      </a:endParaRPr>
                    </a:p>
                  </a:txBody>
                  <a:tcPr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txBody>
                  <a:tcPr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a:noFill/>
                    </a:lnL>
                    <a:lnR w="635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00268230"/>
                  </a:ext>
                </a:extLst>
              </a:tr>
            </a:tbl>
          </a:graphicData>
        </a:graphic>
      </p:graphicFrame>
      <p:grpSp>
        <p:nvGrpSpPr>
          <p:cNvPr id="21" name="组合 20">
            <a:extLst>
              <a:ext uri="{FF2B5EF4-FFF2-40B4-BE49-F238E27FC236}">
                <a16:creationId xmlns:a16="http://schemas.microsoft.com/office/drawing/2014/main" id="{532C8D73-4290-BAD8-11A4-215F77A8731E}"/>
              </a:ext>
            </a:extLst>
          </p:cNvPr>
          <p:cNvGrpSpPr/>
          <p:nvPr/>
        </p:nvGrpSpPr>
        <p:grpSpPr>
          <a:xfrm>
            <a:off x="2965497" y="3091886"/>
            <a:ext cx="819150" cy="552450"/>
            <a:chOff x="1109203" y="1905001"/>
            <a:chExt cx="819150" cy="552450"/>
          </a:xfrm>
        </p:grpSpPr>
        <p:pic>
          <p:nvPicPr>
            <p:cNvPr id="1028" name="Picture 4" descr="儿童卡通便利贴标签贴纸记事留言纸条PNG免抠设计元素PS装饰素材">
              <a:extLst>
                <a:ext uri="{FF2B5EF4-FFF2-40B4-BE49-F238E27FC236}">
                  <a16:creationId xmlns:a16="http://schemas.microsoft.com/office/drawing/2014/main" id="{AAAFD8AA-BE18-9B55-61D7-DA8B896169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20" name="文本框 19">
              <a:extLst>
                <a:ext uri="{FF2B5EF4-FFF2-40B4-BE49-F238E27FC236}">
                  <a16:creationId xmlns:a16="http://schemas.microsoft.com/office/drawing/2014/main" id="{C34D2D48-2D0E-0A9C-E26D-01C62C0D1DA1}"/>
                </a:ext>
              </a:extLst>
            </p:cNvPr>
            <p:cNvSpPr txBox="1"/>
            <p:nvPr/>
          </p:nvSpPr>
          <p:spPr>
            <a:xfrm>
              <a:off x="1109203" y="2027338"/>
              <a:ext cx="760144" cy="307777"/>
            </a:xfrm>
            <a:prstGeom prst="rect">
              <a:avLst/>
            </a:prstGeom>
            <a:noFill/>
          </p:spPr>
          <p:txBody>
            <a:bodyPr wrap="none" rtlCol="0">
              <a:spAutoFit/>
            </a:bodyPr>
            <a:lstStyle/>
            <a:p>
              <a:pPr algn="l"/>
              <a:r>
                <a:rPr lang="en-US" altLang="zh-CN" sz="1400" dirty="0"/>
                <a:t>Story 1</a:t>
              </a:r>
              <a:endParaRPr lang="zh-CN" altLang="en-US" sz="1400" dirty="0"/>
            </a:p>
          </p:txBody>
        </p:sp>
      </p:grpSp>
      <p:grpSp>
        <p:nvGrpSpPr>
          <p:cNvPr id="22" name="组合 21">
            <a:extLst>
              <a:ext uri="{FF2B5EF4-FFF2-40B4-BE49-F238E27FC236}">
                <a16:creationId xmlns:a16="http://schemas.microsoft.com/office/drawing/2014/main" id="{7E45E8BA-CA95-D743-EA6B-5B891EF7BAC3}"/>
              </a:ext>
            </a:extLst>
          </p:cNvPr>
          <p:cNvGrpSpPr/>
          <p:nvPr/>
        </p:nvGrpSpPr>
        <p:grpSpPr>
          <a:xfrm>
            <a:off x="3786973" y="3634099"/>
            <a:ext cx="819150" cy="552450"/>
            <a:chOff x="1109203" y="1905001"/>
            <a:chExt cx="819150" cy="552450"/>
          </a:xfrm>
        </p:grpSpPr>
        <p:pic>
          <p:nvPicPr>
            <p:cNvPr id="23" name="Picture 4" descr="儿童卡通便利贴标签贴纸记事留言纸条PNG免抠设计元素PS装饰素材">
              <a:extLst>
                <a:ext uri="{FF2B5EF4-FFF2-40B4-BE49-F238E27FC236}">
                  <a16:creationId xmlns:a16="http://schemas.microsoft.com/office/drawing/2014/main" id="{54A41052-C49D-41E9-124C-2C9BA0C189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24" name="文本框 23">
              <a:extLst>
                <a:ext uri="{FF2B5EF4-FFF2-40B4-BE49-F238E27FC236}">
                  <a16:creationId xmlns:a16="http://schemas.microsoft.com/office/drawing/2014/main" id="{D5FA311D-3601-B39D-4070-9EE783FC9DE8}"/>
                </a:ext>
              </a:extLst>
            </p:cNvPr>
            <p:cNvSpPr txBox="1"/>
            <p:nvPr/>
          </p:nvSpPr>
          <p:spPr>
            <a:xfrm>
              <a:off x="1109203" y="2027338"/>
              <a:ext cx="798617" cy="307777"/>
            </a:xfrm>
            <a:prstGeom prst="rect">
              <a:avLst/>
            </a:prstGeom>
            <a:noFill/>
          </p:spPr>
          <p:txBody>
            <a:bodyPr wrap="none" rtlCol="0">
              <a:spAutoFit/>
            </a:bodyPr>
            <a:lstStyle/>
            <a:p>
              <a:pPr algn="l"/>
              <a:r>
                <a:rPr lang="en-US" altLang="zh-CN" sz="1400" dirty="0"/>
                <a:t>Story 2</a:t>
              </a:r>
              <a:endParaRPr lang="zh-CN" altLang="en-US" sz="1400" dirty="0"/>
            </a:p>
          </p:txBody>
        </p:sp>
      </p:grpSp>
      <p:grpSp>
        <p:nvGrpSpPr>
          <p:cNvPr id="25" name="组合 24">
            <a:extLst>
              <a:ext uri="{FF2B5EF4-FFF2-40B4-BE49-F238E27FC236}">
                <a16:creationId xmlns:a16="http://schemas.microsoft.com/office/drawing/2014/main" id="{AE16C672-3799-130A-9FB2-61E604D259DD}"/>
              </a:ext>
            </a:extLst>
          </p:cNvPr>
          <p:cNvGrpSpPr/>
          <p:nvPr/>
        </p:nvGrpSpPr>
        <p:grpSpPr>
          <a:xfrm>
            <a:off x="3138451" y="4086046"/>
            <a:ext cx="819150" cy="552450"/>
            <a:chOff x="1109203" y="1905001"/>
            <a:chExt cx="819150" cy="552450"/>
          </a:xfrm>
        </p:grpSpPr>
        <p:pic>
          <p:nvPicPr>
            <p:cNvPr id="26" name="Picture 4" descr="儿童卡通便利贴标签贴纸记事留言纸条PNG免抠设计元素PS装饰素材">
              <a:extLst>
                <a:ext uri="{FF2B5EF4-FFF2-40B4-BE49-F238E27FC236}">
                  <a16:creationId xmlns:a16="http://schemas.microsoft.com/office/drawing/2014/main" id="{D1F502B3-62F4-8D6C-0AF3-047884F237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27" name="文本框 26">
              <a:extLst>
                <a:ext uri="{FF2B5EF4-FFF2-40B4-BE49-F238E27FC236}">
                  <a16:creationId xmlns:a16="http://schemas.microsoft.com/office/drawing/2014/main" id="{CA98248C-D516-01FD-C365-2FAB5055D597}"/>
                </a:ext>
              </a:extLst>
            </p:cNvPr>
            <p:cNvSpPr txBox="1"/>
            <p:nvPr/>
          </p:nvSpPr>
          <p:spPr>
            <a:xfrm>
              <a:off x="1109203" y="2027338"/>
              <a:ext cx="797013" cy="307777"/>
            </a:xfrm>
            <a:prstGeom prst="rect">
              <a:avLst/>
            </a:prstGeom>
            <a:noFill/>
          </p:spPr>
          <p:txBody>
            <a:bodyPr wrap="none" rtlCol="0">
              <a:spAutoFit/>
            </a:bodyPr>
            <a:lstStyle/>
            <a:p>
              <a:pPr algn="l"/>
              <a:r>
                <a:rPr lang="en-US" altLang="zh-CN" sz="1400" dirty="0"/>
                <a:t>Story 3</a:t>
              </a:r>
              <a:endParaRPr lang="zh-CN" altLang="en-US" sz="1400" dirty="0"/>
            </a:p>
          </p:txBody>
        </p:sp>
      </p:grpSp>
      <p:grpSp>
        <p:nvGrpSpPr>
          <p:cNvPr id="28" name="组合 27">
            <a:extLst>
              <a:ext uri="{FF2B5EF4-FFF2-40B4-BE49-F238E27FC236}">
                <a16:creationId xmlns:a16="http://schemas.microsoft.com/office/drawing/2014/main" id="{1E852032-31C2-8770-CDC5-AC46687BAE95}"/>
              </a:ext>
            </a:extLst>
          </p:cNvPr>
          <p:cNvGrpSpPr/>
          <p:nvPr/>
        </p:nvGrpSpPr>
        <p:grpSpPr>
          <a:xfrm>
            <a:off x="4436232" y="3182150"/>
            <a:ext cx="819150" cy="552450"/>
            <a:chOff x="1109203" y="1905001"/>
            <a:chExt cx="819150" cy="552450"/>
          </a:xfrm>
        </p:grpSpPr>
        <p:pic>
          <p:nvPicPr>
            <p:cNvPr id="29" name="Picture 4" descr="儿童卡通便利贴标签贴纸记事留言纸条PNG免抠设计元素PS装饰素材">
              <a:extLst>
                <a:ext uri="{FF2B5EF4-FFF2-40B4-BE49-F238E27FC236}">
                  <a16:creationId xmlns:a16="http://schemas.microsoft.com/office/drawing/2014/main" id="{673D0B39-C8FC-6999-2862-8E988124F9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30" name="文本框 29">
              <a:extLst>
                <a:ext uri="{FF2B5EF4-FFF2-40B4-BE49-F238E27FC236}">
                  <a16:creationId xmlns:a16="http://schemas.microsoft.com/office/drawing/2014/main" id="{45BB1116-A284-F421-C6DB-7A561BD06820}"/>
                </a:ext>
              </a:extLst>
            </p:cNvPr>
            <p:cNvSpPr txBox="1"/>
            <p:nvPr/>
          </p:nvSpPr>
          <p:spPr>
            <a:xfrm>
              <a:off x="1109203" y="2027338"/>
              <a:ext cx="801823" cy="307777"/>
            </a:xfrm>
            <a:prstGeom prst="rect">
              <a:avLst/>
            </a:prstGeom>
            <a:noFill/>
          </p:spPr>
          <p:txBody>
            <a:bodyPr wrap="none" rtlCol="0">
              <a:spAutoFit/>
            </a:bodyPr>
            <a:lstStyle/>
            <a:p>
              <a:pPr algn="l"/>
              <a:r>
                <a:rPr lang="en-US" altLang="zh-CN" sz="1400" dirty="0"/>
                <a:t>Story 7</a:t>
              </a:r>
              <a:endParaRPr lang="zh-CN" altLang="en-US" sz="1400" dirty="0"/>
            </a:p>
          </p:txBody>
        </p:sp>
      </p:grpSp>
      <p:grpSp>
        <p:nvGrpSpPr>
          <p:cNvPr id="31" name="组合 30">
            <a:extLst>
              <a:ext uri="{FF2B5EF4-FFF2-40B4-BE49-F238E27FC236}">
                <a16:creationId xmlns:a16="http://schemas.microsoft.com/office/drawing/2014/main" id="{377B8105-D879-EC3B-4FBF-32E3FB198103}"/>
              </a:ext>
            </a:extLst>
          </p:cNvPr>
          <p:cNvGrpSpPr/>
          <p:nvPr/>
        </p:nvGrpSpPr>
        <p:grpSpPr>
          <a:xfrm>
            <a:off x="4638038" y="3963710"/>
            <a:ext cx="819150" cy="552450"/>
            <a:chOff x="1109203" y="1905001"/>
            <a:chExt cx="819150" cy="552450"/>
          </a:xfrm>
        </p:grpSpPr>
        <p:pic>
          <p:nvPicPr>
            <p:cNvPr id="32" name="Picture 4" descr="儿童卡通便利贴标签贴纸记事留言纸条PNG免抠设计元素PS装饰素材">
              <a:extLst>
                <a:ext uri="{FF2B5EF4-FFF2-40B4-BE49-F238E27FC236}">
                  <a16:creationId xmlns:a16="http://schemas.microsoft.com/office/drawing/2014/main" id="{4D9431F2-DDD7-2EEB-001F-C70D532442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33" name="文本框 32">
              <a:extLst>
                <a:ext uri="{FF2B5EF4-FFF2-40B4-BE49-F238E27FC236}">
                  <a16:creationId xmlns:a16="http://schemas.microsoft.com/office/drawing/2014/main" id="{F5909125-1DE5-1088-FBD2-96CE58C4E9FE}"/>
                </a:ext>
              </a:extLst>
            </p:cNvPr>
            <p:cNvSpPr txBox="1"/>
            <p:nvPr/>
          </p:nvSpPr>
          <p:spPr>
            <a:xfrm>
              <a:off x="1109203" y="2027338"/>
              <a:ext cx="809837" cy="307777"/>
            </a:xfrm>
            <a:prstGeom prst="rect">
              <a:avLst/>
            </a:prstGeom>
            <a:noFill/>
          </p:spPr>
          <p:txBody>
            <a:bodyPr wrap="none" rtlCol="0">
              <a:spAutoFit/>
            </a:bodyPr>
            <a:lstStyle/>
            <a:p>
              <a:pPr algn="l"/>
              <a:r>
                <a:rPr lang="en-US" altLang="zh-CN" sz="1400" dirty="0"/>
                <a:t>Story 8</a:t>
              </a:r>
              <a:endParaRPr lang="zh-CN" altLang="en-US" sz="1400" dirty="0"/>
            </a:p>
          </p:txBody>
        </p:sp>
      </p:grpSp>
      <p:grpSp>
        <p:nvGrpSpPr>
          <p:cNvPr id="34" name="组合 33">
            <a:extLst>
              <a:ext uri="{FF2B5EF4-FFF2-40B4-BE49-F238E27FC236}">
                <a16:creationId xmlns:a16="http://schemas.microsoft.com/office/drawing/2014/main" id="{EBE34D74-6E47-6E87-8A32-0DA78E01DCF0}"/>
              </a:ext>
            </a:extLst>
          </p:cNvPr>
          <p:cNvGrpSpPr/>
          <p:nvPr/>
        </p:nvGrpSpPr>
        <p:grpSpPr>
          <a:xfrm>
            <a:off x="5491716" y="3641512"/>
            <a:ext cx="819150" cy="552450"/>
            <a:chOff x="1109203" y="1905001"/>
            <a:chExt cx="819150" cy="552450"/>
          </a:xfrm>
        </p:grpSpPr>
        <p:pic>
          <p:nvPicPr>
            <p:cNvPr id="35" name="Picture 4" descr="儿童卡通便利贴标签贴纸记事留言纸条PNG免抠设计元素PS装饰素材">
              <a:extLst>
                <a:ext uri="{FF2B5EF4-FFF2-40B4-BE49-F238E27FC236}">
                  <a16:creationId xmlns:a16="http://schemas.microsoft.com/office/drawing/2014/main" id="{E57564DC-45C9-2B71-C7C3-671B75B57E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36" name="文本框 35">
              <a:extLst>
                <a:ext uri="{FF2B5EF4-FFF2-40B4-BE49-F238E27FC236}">
                  <a16:creationId xmlns:a16="http://schemas.microsoft.com/office/drawing/2014/main" id="{6DDFAF9F-809E-00BF-D845-F7356269F38C}"/>
                </a:ext>
              </a:extLst>
            </p:cNvPr>
            <p:cNvSpPr txBox="1"/>
            <p:nvPr/>
          </p:nvSpPr>
          <p:spPr>
            <a:xfrm>
              <a:off x="1109203" y="2027338"/>
              <a:ext cx="805029" cy="307777"/>
            </a:xfrm>
            <a:prstGeom prst="rect">
              <a:avLst/>
            </a:prstGeom>
            <a:noFill/>
          </p:spPr>
          <p:txBody>
            <a:bodyPr wrap="none" rtlCol="0">
              <a:spAutoFit/>
            </a:bodyPr>
            <a:lstStyle/>
            <a:p>
              <a:pPr algn="l"/>
              <a:r>
                <a:rPr lang="en-US" altLang="zh-CN" sz="1400" dirty="0"/>
                <a:t>Story 6</a:t>
              </a:r>
              <a:endParaRPr lang="zh-CN" altLang="en-US" sz="1400" dirty="0"/>
            </a:p>
          </p:txBody>
        </p:sp>
      </p:grpSp>
      <p:grpSp>
        <p:nvGrpSpPr>
          <p:cNvPr id="37" name="组合 36">
            <a:extLst>
              <a:ext uri="{FF2B5EF4-FFF2-40B4-BE49-F238E27FC236}">
                <a16:creationId xmlns:a16="http://schemas.microsoft.com/office/drawing/2014/main" id="{B5CBA463-90FC-6532-5EF9-C003C5EE71DF}"/>
              </a:ext>
            </a:extLst>
          </p:cNvPr>
          <p:cNvGrpSpPr/>
          <p:nvPr/>
        </p:nvGrpSpPr>
        <p:grpSpPr>
          <a:xfrm>
            <a:off x="5270014" y="2864881"/>
            <a:ext cx="819150" cy="552450"/>
            <a:chOff x="1109203" y="1905001"/>
            <a:chExt cx="819150" cy="552450"/>
          </a:xfrm>
        </p:grpSpPr>
        <p:pic>
          <p:nvPicPr>
            <p:cNvPr id="38" name="Picture 4" descr="儿童卡通便利贴标签贴纸记事留言纸条PNG免抠设计元素PS装饰素材">
              <a:extLst>
                <a:ext uri="{FF2B5EF4-FFF2-40B4-BE49-F238E27FC236}">
                  <a16:creationId xmlns:a16="http://schemas.microsoft.com/office/drawing/2014/main" id="{C37659E6-CE17-60A8-16AF-1E1F52D8B6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39" name="文本框 38">
              <a:extLst>
                <a:ext uri="{FF2B5EF4-FFF2-40B4-BE49-F238E27FC236}">
                  <a16:creationId xmlns:a16="http://schemas.microsoft.com/office/drawing/2014/main" id="{52378656-0A37-D2AA-AAA3-9979CC07626F}"/>
                </a:ext>
              </a:extLst>
            </p:cNvPr>
            <p:cNvSpPr txBox="1"/>
            <p:nvPr/>
          </p:nvSpPr>
          <p:spPr>
            <a:xfrm>
              <a:off x="1109203" y="2027338"/>
              <a:ext cx="797013" cy="307777"/>
            </a:xfrm>
            <a:prstGeom prst="rect">
              <a:avLst/>
            </a:prstGeom>
            <a:noFill/>
          </p:spPr>
          <p:txBody>
            <a:bodyPr wrap="none" rtlCol="0">
              <a:spAutoFit/>
            </a:bodyPr>
            <a:lstStyle/>
            <a:p>
              <a:pPr algn="l"/>
              <a:r>
                <a:rPr lang="en-US" altLang="zh-CN" sz="1400" dirty="0"/>
                <a:t>Story 5</a:t>
              </a:r>
              <a:endParaRPr lang="zh-CN" altLang="en-US" sz="1400" dirty="0"/>
            </a:p>
          </p:txBody>
        </p:sp>
      </p:grpSp>
      <p:grpSp>
        <p:nvGrpSpPr>
          <p:cNvPr id="40" name="组合 39">
            <a:extLst>
              <a:ext uri="{FF2B5EF4-FFF2-40B4-BE49-F238E27FC236}">
                <a16:creationId xmlns:a16="http://schemas.microsoft.com/office/drawing/2014/main" id="{F393B270-98AB-432E-84BD-E372DB177F88}"/>
              </a:ext>
            </a:extLst>
          </p:cNvPr>
          <p:cNvGrpSpPr/>
          <p:nvPr/>
        </p:nvGrpSpPr>
        <p:grpSpPr>
          <a:xfrm>
            <a:off x="6280078" y="3349188"/>
            <a:ext cx="819150" cy="552450"/>
            <a:chOff x="1109203" y="1905001"/>
            <a:chExt cx="819150" cy="552450"/>
          </a:xfrm>
        </p:grpSpPr>
        <p:pic>
          <p:nvPicPr>
            <p:cNvPr id="41" name="Picture 4" descr="儿童卡通便利贴标签贴纸记事留言纸条PNG免抠设计元素PS装饰素材">
              <a:extLst>
                <a:ext uri="{FF2B5EF4-FFF2-40B4-BE49-F238E27FC236}">
                  <a16:creationId xmlns:a16="http://schemas.microsoft.com/office/drawing/2014/main" id="{204F6B62-5BC2-9C2F-201B-9FC619105F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42" name="文本框 41">
              <a:extLst>
                <a:ext uri="{FF2B5EF4-FFF2-40B4-BE49-F238E27FC236}">
                  <a16:creationId xmlns:a16="http://schemas.microsoft.com/office/drawing/2014/main" id="{DF398429-981A-776F-3B77-63BBEE9586CD}"/>
                </a:ext>
              </a:extLst>
            </p:cNvPr>
            <p:cNvSpPr txBox="1"/>
            <p:nvPr/>
          </p:nvSpPr>
          <p:spPr>
            <a:xfrm>
              <a:off x="1109203" y="2027338"/>
              <a:ext cx="814647" cy="307777"/>
            </a:xfrm>
            <a:prstGeom prst="rect">
              <a:avLst/>
            </a:prstGeom>
            <a:noFill/>
          </p:spPr>
          <p:txBody>
            <a:bodyPr wrap="none" rtlCol="0">
              <a:spAutoFit/>
            </a:bodyPr>
            <a:lstStyle/>
            <a:p>
              <a:pPr algn="l"/>
              <a:r>
                <a:rPr lang="en-US" altLang="zh-CN" sz="1400" dirty="0"/>
                <a:t>Story 4</a:t>
              </a:r>
              <a:endParaRPr lang="zh-CN" altLang="en-US" sz="1400" dirty="0"/>
            </a:p>
          </p:txBody>
        </p:sp>
      </p:grpSp>
      <p:grpSp>
        <p:nvGrpSpPr>
          <p:cNvPr id="43" name="组合 42">
            <a:extLst>
              <a:ext uri="{FF2B5EF4-FFF2-40B4-BE49-F238E27FC236}">
                <a16:creationId xmlns:a16="http://schemas.microsoft.com/office/drawing/2014/main" id="{D0AE1E1E-7999-6283-AF47-1154C5DEF02C}"/>
              </a:ext>
            </a:extLst>
          </p:cNvPr>
          <p:cNvGrpSpPr/>
          <p:nvPr/>
        </p:nvGrpSpPr>
        <p:grpSpPr>
          <a:xfrm>
            <a:off x="7406064" y="3048335"/>
            <a:ext cx="819150" cy="552450"/>
            <a:chOff x="1109203" y="1905001"/>
            <a:chExt cx="819150" cy="552450"/>
          </a:xfrm>
        </p:grpSpPr>
        <p:pic>
          <p:nvPicPr>
            <p:cNvPr id="44" name="Picture 4" descr="儿童卡通便利贴标签贴纸记事留言纸条PNG免抠设计元素PS装饰素材">
              <a:extLst>
                <a:ext uri="{FF2B5EF4-FFF2-40B4-BE49-F238E27FC236}">
                  <a16:creationId xmlns:a16="http://schemas.microsoft.com/office/drawing/2014/main" id="{AC439BB0-65BE-22D3-7431-50A34C083A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45" name="文本框 44">
              <a:extLst>
                <a:ext uri="{FF2B5EF4-FFF2-40B4-BE49-F238E27FC236}">
                  <a16:creationId xmlns:a16="http://schemas.microsoft.com/office/drawing/2014/main" id="{12802A85-0643-BE36-0F03-4D0F1CA4E5F3}"/>
                </a:ext>
              </a:extLst>
            </p:cNvPr>
            <p:cNvSpPr txBox="1"/>
            <p:nvPr/>
          </p:nvSpPr>
          <p:spPr>
            <a:xfrm>
              <a:off x="1109203" y="2027338"/>
              <a:ext cx="805029" cy="307777"/>
            </a:xfrm>
            <a:prstGeom prst="rect">
              <a:avLst/>
            </a:prstGeom>
            <a:noFill/>
          </p:spPr>
          <p:txBody>
            <a:bodyPr wrap="none" rtlCol="0">
              <a:spAutoFit/>
            </a:bodyPr>
            <a:lstStyle/>
            <a:p>
              <a:pPr algn="l"/>
              <a:r>
                <a:rPr lang="en-US" altLang="zh-CN" sz="1400" dirty="0"/>
                <a:t>Story 9</a:t>
              </a:r>
              <a:endParaRPr lang="zh-CN" altLang="en-US" sz="1400" dirty="0"/>
            </a:p>
          </p:txBody>
        </p:sp>
      </p:grpSp>
      <p:grpSp>
        <p:nvGrpSpPr>
          <p:cNvPr id="46" name="组合 45">
            <a:extLst>
              <a:ext uri="{FF2B5EF4-FFF2-40B4-BE49-F238E27FC236}">
                <a16:creationId xmlns:a16="http://schemas.microsoft.com/office/drawing/2014/main" id="{A12C462A-6137-3009-1C78-F6AE5662FB14}"/>
              </a:ext>
            </a:extLst>
          </p:cNvPr>
          <p:cNvGrpSpPr/>
          <p:nvPr/>
        </p:nvGrpSpPr>
        <p:grpSpPr>
          <a:xfrm>
            <a:off x="7364412" y="3627871"/>
            <a:ext cx="878767" cy="552450"/>
            <a:chOff x="1069875" y="1905001"/>
            <a:chExt cx="878767" cy="552450"/>
          </a:xfrm>
        </p:grpSpPr>
        <p:pic>
          <p:nvPicPr>
            <p:cNvPr id="47" name="Picture 4" descr="儿童卡通便利贴标签贴纸记事留言纸条PNG免抠设计元素PS装饰素材">
              <a:extLst>
                <a:ext uri="{FF2B5EF4-FFF2-40B4-BE49-F238E27FC236}">
                  <a16:creationId xmlns:a16="http://schemas.microsoft.com/office/drawing/2014/main" id="{7542241F-0D5C-A0A3-6A50-F06F97EA57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48" name="文本框 47">
              <a:extLst>
                <a:ext uri="{FF2B5EF4-FFF2-40B4-BE49-F238E27FC236}">
                  <a16:creationId xmlns:a16="http://schemas.microsoft.com/office/drawing/2014/main" id="{0C011FC7-E368-ED9F-8EBB-D1C24CB9B018}"/>
                </a:ext>
              </a:extLst>
            </p:cNvPr>
            <p:cNvSpPr txBox="1"/>
            <p:nvPr/>
          </p:nvSpPr>
          <p:spPr>
            <a:xfrm>
              <a:off x="1069875" y="2027338"/>
              <a:ext cx="878767" cy="307777"/>
            </a:xfrm>
            <a:prstGeom prst="rect">
              <a:avLst/>
            </a:prstGeom>
            <a:noFill/>
          </p:spPr>
          <p:txBody>
            <a:bodyPr wrap="none" rtlCol="0">
              <a:spAutoFit/>
            </a:bodyPr>
            <a:lstStyle/>
            <a:p>
              <a:pPr algn="l"/>
              <a:r>
                <a:rPr lang="en-US" altLang="zh-CN" sz="1400" dirty="0"/>
                <a:t>Story 10</a:t>
              </a:r>
              <a:endParaRPr lang="zh-CN" altLang="en-US" sz="1400" dirty="0"/>
            </a:p>
          </p:txBody>
        </p:sp>
      </p:grpSp>
      <p:grpSp>
        <p:nvGrpSpPr>
          <p:cNvPr id="49" name="组合 48">
            <a:extLst>
              <a:ext uri="{FF2B5EF4-FFF2-40B4-BE49-F238E27FC236}">
                <a16:creationId xmlns:a16="http://schemas.microsoft.com/office/drawing/2014/main" id="{E8504EB6-A1DB-3D46-E0DB-DD24C6979DD0}"/>
              </a:ext>
            </a:extLst>
          </p:cNvPr>
          <p:cNvGrpSpPr/>
          <p:nvPr/>
        </p:nvGrpSpPr>
        <p:grpSpPr>
          <a:xfrm>
            <a:off x="8485231" y="3170671"/>
            <a:ext cx="858478" cy="552450"/>
            <a:chOff x="1069875" y="1905001"/>
            <a:chExt cx="858478" cy="552450"/>
          </a:xfrm>
        </p:grpSpPr>
        <p:pic>
          <p:nvPicPr>
            <p:cNvPr id="50" name="Picture 4" descr="儿童卡通便利贴标签贴纸记事留言纸条PNG免抠设计元素PS装饰素材">
              <a:extLst>
                <a:ext uri="{FF2B5EF4-FFF2-40B4-BE49-F238E27FC236}">
                  <a16:creationId xmlns:a16="http://schemas.microsoft.com/office/drawing/2014/main" id="{919CB746-6CF7-D017-C1A4-81AB164D72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51" name="文本框 50">
              <a:extLst>
                <a:ext uri="{FF2B5EF4-FFF2-40B4-BE49-F238E27FC236}">
                  <a16:creationId xmlns:a16="http://schemas.microsoft.com/office/drawing/2014/main" id="{9BF62C5E-4C5F-B79E-14BA-48812EF57FA9}"/>
                </a:ext>
              </a:extLst>
            </p:cNvPr>
            <p:cNvSpPr txBox="1"/>
            <p:nvPr/>
          </p:nvSpPr>
          <p:spPr>
            <a:xfrm>
              <a:off x="1069875" y="2027338"/>
              <a:ext cx="824265" cy="307777"/>
            </a:xfrm>
            <a:prstGeom prst="rect">
              <a:avLst/>
            </a:prstGeom>
            <a:noFill/>
          </p:spPr>
          <p:txBody>
            <a:bodyPr wrap="none" rtlCol="0">
              <a:spAutoFit/>
            </a:bodyPr>
            <a:lstStyle/>
            <a:p>
              <a:pPr algn="l"/>
              <a:r>
                <a:rPr lang="en-US" altLang="zh-CN" sz="1400" dirty="0"/>
                <a:t>Story 11</a:t>
              </a:r>
              <a:endParaRPr lang="zh-CN" altLang="en-US" sz="1400" dirty="0"/>
            </a:p>
          </p:txBody>
        </p:sp>
      </p:grpSp>
      <p:grpSp>
        <p:nvGrpSpPr>
          <p:cNvPr id="52" name="组合 51">
            <a:extLst>
              <a:ext uri="{FF2B5EF4-FFF2-40B4-BE49-F238E27FC236}">
                <a16:creationId xmlns:a16="http://schemas.microsoft.com/office/drawing/2014/main" id="{A98C2DAE-D22C-E678-06F1-BD291C3FA1F2}"/>
              </a:ext>
            </a:extLst>
          </p:cNvPr>
          <p:cNvGrpSpPr/>
          <p:nvPr/>
        </p:nvGrpSpPr>
        <p:grpSpPr>
          <a:xfrm>
            <a:off x="8524559" y="3922945"/>
            <a:ext cx="858478" cy="552450"/>
            <a:chOff x="1069875" y="1905001"/>
            <a:chExt cx="858478" cy="552450"/>
          </a:xfrm>
        </p:grpSpPr>
        <p:pic>
          <p:nvPicPr>
            <p:cNvPr id="53" name="Picture 4" descr="儿童卡通便利贴标签贴纸记事留言纸条PNG免抠设计元素PS装饰素材">
              <a:extLst>
                <a:ext uri="{FF2B5EF4-FFF2-40B4-BE49-F238E27FC236}">
                  <a16:creationId xmlns:a16="http://schemas.microsoft.com/office/drawing/2014/main" id="{EABCF17E-4BD1-A80B-D0DD-79989E1B1F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54" name="文本框 53">
              <a:extLst>
                <a:ext uri="{FF2B5EF4-FFF2-40B4-BE49-F238E27FC236}">
                  <a16:creationId xmlns:a16="http://schemas.microsoft.com/office/drawing/2014/main" id="{307BFE6A-3AA2-D900-BB49-4CCD77554B5F}"/>
                </a:ext>
              </a:extLst>
            </p:cNvPr>
            <p:cNvSpPr txBox="1"/>
            <p:nvPr/>
          </p:nvSpPr>
          <p:spPr>
            <a:xfrm>
              <a:off x="1069875" y="2027338"/>
              <a:ext cx="811441" cy="307777"/>
            </a:xfrm>
            <a:prstGeom prst="rect">
              <a:avLst/>
            </a:prstGeom>
            <a:noFill/>
          </p:spPr>
          <p:txBody>
            <a:bodyPr wrap="none" rtlCol="0">
              <a:spAutoFit/>
            </a:bodyPr>
            <a:lstStyle/>
            <a:p>
              <a:pPr algn="l"/>
              <a:r>
                <a:rPr lang="en-US" altLang="zh-CN" sz="1400" dirty="0"/>
                <a:t>Story …</a:t>
              </a:r>
              <a:endParaRPr lang="zh-CN" altLang="en-US" sz="1400" dirty="0"/>
            </a:p>
          </p:txBody>
        </p:sp>
      </p:grpSp>
      <p:grpSp>
        <p:nvGrpSpPr>
          <p:cNvPr id="55" name="组合 54">
            <a:extLst>
              <a:ext uri="{FF2B5EF4-FFF2-40B4-BE49-F238E27FC236}">
                <a16:creationId xmlns:a16="http://schemas.microsoft.com/office/drawing/2014/main" id="{26E61E71-74E3-B833-5C92-89C3D0A6CB6E}"/>
              </a:ext>
            </a:extLst>
          </p:cNvPr>
          <p:cNvGrpSpPr/>
          <p:nvPr/>
        </p:nvGrpSpPr>
        <p:grpSpPr>
          <a:xfrm>
            <a:off x="9465737" y="3513531"/>
            <a:ext cx="858478" cy="552450"/>
            <a:chOff x="1069875" y="1905001"/>
            <a:chExt cx="858478" cy="552450"/>
          </a:xfrm>
        </p:grpSpPr>
        <p:pic>
          <p:nvPicPr>
            <p:cNvPr id="56" name="Picture 4" descr="儿童卡通便利贴标签贴纸记事留言纸条PNG免抠设计元素PS装饰素材">
              <a:extLst>
                <a:ext uri="{FF2B5EF4-FFF2-40B4-BE49-F238E27FC236}">
                  <a16:creationId xmlns:a16="http://schemas.microsoft.com/office/drawing/2014/main" id="{A4340589-03EA-0161-2CE0-44E9CC017A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57" name="文本框 56">
              <a:extLst>
                <a:ext uri="{FF2B5EF4-FFF2-40B4-BE49-F238E27FC236}">
                  <a16:creationId xmlns:a16="http://schemas.microsoft.com/office/drawing/2014/main" id="{37BA5B63-B3E8-3451-47E6-32F461A3EDB8}"/>
                </a:ext>
              </a:extLst>
            </p:cNvPr>
            <p:cNvSpPr txBox="1"/>
            <p:nvPr/>
          </p:nvSpPr>
          <p:spPr>
            <a:xfrm>
              <a:off x="1069875" y="2027338"/>
              <a:ext cx="811441" cy="307777"/>
            </a:xfrm>
            <a:prstGeom prst="rect">
              <a:avLst/>
            </a:prstGeom>
            <a:noFill/>
          </p:spPr>
          <p:txBody>
            <a:bodyPr wrap="none" rtlCol="0">
              <a:spAutoFit/>
            </a:bodyPr>
            <a:lstStyle/>
            <a:p>
              <a:pPr algn="l"/>
              <a:r>
                <a:rPr lang="en-US" altLang="zh-CN" sz="1400" dirty="0"/>
                <a:t>Story …</a:t>
              </a:r>
              <a:endParaRPr lang="zh-CN" altLang="en-US" sz="1400" dirty="0"/>
            </a:p>
          </p:txBody>
        </p:sp>
      </p:grpSp>
    </p:spTree>
    <p:extLst>
      <p:ext uri="{BB962C8B-B14F-4D97-AF65-F5344CB8AC3E}">
        <p14:creationId xmlns:p14="http://schemas.microsoft.com/office/powerpoint/2010/main" val="178419162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61AE4-1C1D-DCC6-3201-999EC43EEF5B}"/>
            </a:ext>
          </a:extLst>
        </p:cNvPr>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D4FD5957-624E-D1D8-1820-67AA8621B7F2}"/>
              </a:ext>
            </a:extLst>
          </p:cNvPr>
          <p:cNvGraphicFramePr>
            <a:graphicFrameLocks noGrp="1"/>
          </p:cNvGraphicFramePr>
          <p:nvPr>
            <p:extLst>
              <p:ext uri="{D42A27DB-BD31-4B8C-83A1-F6EECF244321}">
                <p14:modId xmlns:p14="http://schemas.microsoft.com/office/powerpoint/2010/main" val="828542199"/>
              </p:ext>
            </p:extLst>
          </p:nvPr>
        </p:nvGraphicFramePr>
        <p:xfrm>
          <a:off x="2856000" y="2173200"/>
          <a:ext cx="7560000" cy="2804160"/>
        </p:xfrm>
        <a:graphic>
          <a:graphicData uri="http://schemas.openxmlformats.org/drawingml/2006/table">
            <a:tbl>
              <a:tblPr/>
              <a:tblGrid>
                <a:gridCol w="1080000">
                  <a:extLst>
                    <a:ext uri="{9D8B030D-6E8A-4147-A177-3AD203B41FA5}">
                      <a16:colId xmlns:a16="http://schemas.microsoft.com/office/drawing/2014/main" val="3227890518"/>
                    </a:ext>
                  </a:extLst>
                </a:gridCol>
                <a:gridCol w="1080000">
                  <a:extLst>
                    <a:ext uri="{9D8B030D-6E8A-4147-A177-3AD203B41FA5}">
                      <a16:colId xmlns:a16="http://schemas.microsoft.com/office/drawing/2014/main" val="1620190121"/>
                    </a:ext>
                  </a:extLst>
                </a:gridCol>
                <a:gridCol w="1080000">
                  <a:extLst>
                    <a:ext uri="{9D8B030D-6E8A-4147-A177-3AD203B41FA5}">
                      <a16:colId xmlns:a16="http://schemas.microsoft.com/office/drawing/2014/main" val="387530637"/>
                    </a:ext>
                  </a:extLst>
                </a:gridCol>
                <a:gridCol w="1080000">
                  <a:extLst>
                    <a:ext uri="{9D8B030D-6E8A-4147-A177-3AD203B41FA5}">
                      <a16:colId xmlns:a16="http://schemas.microsoft.com/office/drawing/2014/main" val="2446955010"/>
                    </a:ext>
                  </a:extLst>
                </a:gridCol>
                <a:gridCol w="1080000">
                  <a:extLst>
                    <a:ext uri="{9D8B030D-6E8A-4147-A177-3AD203B41FA5}">
                      <a16:colId xmlns:a16="http://schemas.microsoft.com/office/drawing/2014/main" val="1633442213"/>
                    </a:ext>
                  </a:extLst>
                </a:gridCol>
                <a:gridCol w="1080000">
                  <a:extLst>
                    <a:ext uri="{9D8B030D-6E8A-4147-A177-3AD203B41FA5}">
                      <a16:colId xmlns:a16="http://schemas.microsoft.com/office/drawing/2014/main" val="1071517291"/>
                    </a:ext>
                  </a:extLst>
                </a:gridCol>
                <a:gridCol w="1080000">
                  <a:extLst>
                    <a:ext uri="{9D8B030D-6E8A-4147-A177-3AD203B41FA5}">
                      <a16:colId xmlns:a16="http://schemas.microsoft.com/office/drawing/2014/main" val="4183402170"/>
                    </a:ext>
                  </a:extLst>
                </a:gridCol>
              </a:tblGrid>
              <a:tr h="0">
                <a:tc gridSpan="7">
                  <a:txBody>
                    <a:bodyPr/>
                    <a:lstStyle/>
                    <a:p>
                      <a:pPr>
                        <a:buNone/>
                      </a:pPr>
                      <a:r>
                        <a:rPr lang="en-US" altLang="zh-CN" sz="1600" dirty="0">
                          <a:solidFill>
                            <a:schemeClr val="tx1"/>
                          </a:solidFill>
                        </a:rPr>
                        <a:t>Step 1 </a:t>
                      </a:r>
                      <a:r>
                        <a:rPr lang="zh-CN" altLang="en-US" sz="1600" dirty="0">
                          <a:solidFill>
                            <a:schemeClr val="tx1"/>
                          </a:solidFill>
                        </a:rPr>
                        <a:t>准备估算故事点</a:t>
                      </a:r>
                    </a:p>
                  </a:txBody>
                  <a:tcPr anchor="ctr">
                    <a:lnL>
                      <a:noFill/>
                    </a:lnL>
                    <a:lnR>
                      <a:noFill/>
                    </a:lnR>
                    <a:lnT>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buNone/>
                      </a:pPr>
                      <a:endParaRPr lang="zh-CN" altLang="en-US" sz="1600" dirty="0">
                        <a:solidFill>
                          <a:schemeClr val="bg1"/>
                        </a:solidFill>
                      </a:endParaRPr>
                    </a:p>
                  </a:txBody>
                  <a:tcPr anchor="ctr">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buNone/>
                      </a:pPr>
                      <a:endParaRPr lang="zh-CN" altLang="en-US" sz="1600" dirty="0">
                        <a:solidFill>
                          <a:schemeClr val="bg1"/>
                        </a:solidFill>
                      </a:endParaRPr>
                    </a:p>
                  </a:txBody>
                  <a:tcPr anchor="ctr">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buNone/>
                      </a:pPr>
                      <a:endParaRPr lang="zh-CN" altLang="en-US" sz="1600" dirty="0">
                        <a:solidFill>
                          <a:srgbClr val="FFFF00"/>
                        </a:solidFill>
                      </a:endParaRPr>
                    </a:p>
                  </a:txBody>
                  <a:tcPr anchor="ctr">
                    <a:lnL>
                      <a:noFill/>
                    </a:lnL>
                    <a:lnR>
                      <a:noFill/>
                    </a:lnR>
                    <a:lnT>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buNone/>
                      </a:pPr>
                      <a:endParaRPr lang="zh-CN" altLang="en-US" sz="1600" dirty="0">
                        <a:solidFill>
                          <a:srgbClr val="FFFF00"/>
                        </a:solidFill>
                      </a:endParaRPr>
                    </a:p>
                  </a:txBody>
                  <a:tcPr anchor="ctr">
                    <a:lnL>
                      <a:noFill/>
                    </a:lnL>
                    <a:lnR>
                      <a:noFill/>
                    </a:lnR>
                    <a:lnT>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buNone/>
                      </a:pPr>
                      <a:endParaRPr lang="zh-CN" altLang="en-US" sz="1600" dirty="0">
                        <a:solidFill>
                          <a:srgbClr val="FFFF00"/>
                        </a:solidFill>
                      </a:endParaRPr>
                    </a:p>
                  </a:txBody>
                  <a:tcPr anchor="ctr">
                    <a:lnL>
                      <a:noFill/>
                    </a:lnL>
                    <a:lnR>
                      <a:noFill/>
                    </a:lnR>
                    <a:lnT>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8335640"/>
                  </a:ext>
                </a:extLst>
              </a:tr>
              <a:tr h="0">
                <a:tc gridSpan="7">
                  <a:txBody>
                    <a:bodyPr/>
                    <a:lstStyle/>
                    <a:p>
                      <a:pPr algn="ctr">
                        <a:buNone/>
                      </a:pPr>
                      <a:endParaRPr lang="zh-CN" alt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a:noFill/>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a:noFill/>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a:noFill/>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a:noFill/>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a:noFill/>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9894281"/>
                  </a:ext>
                </a:extLst>
              </a:tr>
              <a:tr h="0">
                <a:tc>
                  <a:txBody>
                    <a:bodyPr/>
                    <a:lstStyle/>
                    <a:p>
                      <a:pPr algn="ctr">
                        <a:buNone/>
                      </a:pPr>
                      <a:r>
                        <a:rPr lang="en-US" altLang="zh-CN" sz="1400" dirty="0">
                          <a:solidFill>
                            <a:schemeClr val="bg1"/>
                          </a:solidFill>
                        </a:rPr>
                        <a:t>XS</a:t>
                      </a:r>
                      <a:endParaRPr lang="en-US" sz="1400"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buNone/>
                      </a:pPr>
                      <a:r>
                        <a:rPr lang="en-US" sz="1400" dirty="0">
                          <a:solidFill>
                            <a:schemeClr val="bg1"/>
                          </a:solidFill>
                        </a:rPr>
                        <a:t>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buNone/>
                      </a:pPr>
                      <a:r>
                        <a:rPr lang="en-US" altLang="zh-CN" sz="1400" dirty="0">
                          <a:solidFill>
                            <a:schemeClr val="bg1"/>
                          </a:solidFill>
                        </a:rPr>
                        <a:t>M</a:t>
                      </a:r>
                      <a:endParaRPr lang="zh-CN" altLang="en-US" sz="14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buNone/>
                      </a:pPr>
                      <a:r>
                        <a:rPr lang="en-US" altLang="zh-CN" sz="1400" dirty="0">
                          <a:solidFill>
                            <a:schemeClr val="bg1"/>
                          </a:solidFill>
                        </a:rPr>
                        <a:t>L</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buNone/>
                      </a:pPr>
                      <a:r>
                        <a:rPr lang="en-US" altLang="zh-CN" sz="1400" dirty="0">
                          <a:solidFill>
                            <a:schemeClr val="bg1"/>
                          </a:solidFill>
                        </a:rPr>
                        <a:t>XL</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buNone/>
                      </a:pPr>
                      <a:r>
                        <a:rPr lang="en-US" altLang="zh-CN" sz="1400" dirty="0">
                          <a:solidFill>
                            <a:schemeClr val="bg1"/>
                          </a:solidFill>
                        </a:rPr>
                        <a:t>XXL</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rowSpan="2">
                  <a:txBody>
                    <a:bodyPr/>
                    <a:lstStyle/>
                    <a:p>
                      <a:pPr algn="ctr">
                        <a:buNone/>
                      </a:pPr>
                      <a:r>
                        <a:rPr lang="en-US" altLang="zh-CN" sz="1400" dirty="0">
                          <a:solidFill>
                            <a:schemeClr val="bg1"/>
                          </a:solidFill>
                        </a:rPr>
                        <a:t>???</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708258967"/>
                  </a:ext>
                </a:extLst>
              </a:tr>
              <a:tr h="0">
                <a:tc>
                  <a:txBody>
                    <a:bodyPr/>
                    <a:lstStyle/>
                    <a:p>
                      <a:pPr algn="ctr">
                        <a:buNone/>
                      </a:pPr>
                      <a:r>
                        <a:rPr lang="en-US" sz="1400" dirty="0">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buNone/>
                      </a:pPr>
                      <a:r>
                        <a:rPr lang="en-US" sz="1400" dirty="0">
                          <a:solidFill>
                            <a:schemeClr val="bg1"/>
                          </a:solidFill>
                        </a:rPr>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buNone/>
                      </a:pPr>
                      <a:r>
                        <a:rPr lang="en-US" altLang="zh-CN" sz="1400" dirty="0">
                          <a:solidFill>
                            <a:schemeClr val="bg1"/>
                          </a:solidFill>
                        </a:rPr>
                        <a:t>3</a:t>
                      </a:r>
                      <a:endParaRPr lang="zh-CN" altLang="en-US" sz="14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buNone/>
                      </a:pPr>
                      <a:r>
                        <a:rPr lang="en-US" altLang="zh-CN" sz="1400" dirty="0">
                          <a:solidFill>
                            <a:schemeClr val="bg1"/>
                          </a:solidFill>
                        </a:rPr>
                        <a:t>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buNone/>
                      </a:pPr>
                      <a:r>
                        <a:rPr lang="en-US" altLang="zh-CN" sz="1400" dirty="0">
                          <a:solidFill>
                            <a:schemeClr val="bg1"/>
                          </a:solidFill>
                        </a:rPr>
                        <a:t>8</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buNone/>
                      </a:pPr>
                      <a:r>
                        <a:rPr lang="en-US" altLang="zh-CN" sz="1400" dirty="0">
                          <a:solidFill>
                            <a:schemeClr val="bg1"/>
                          </a:solidFill>
                        </a:rPr>
                        <a:t>13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vMerge="1">
                  <a:txBody>
                    <a:bodyPr/>
                    <a:lstStyle/>
                    <a:p>
                      <a:pPr algn="ctr">
                        <a:buNone/>
                      </a:pPr>
                      <a:endParaRPr lang="en-US" altLang="zh-CN" sz="1600" dirty="0">
                        <a:solidFill>
                          <a:schemeClr val="bg1"/>
                        </a:solidFill>
                      </a:endParaRPr>
                    </a:p>
                  </a:txBody>
                  <a:tcPr anchor="ctr">
                    <a:lnL>
                      <a:noFill/>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218416589"/>
                  </a:ext>
                </a:extLst>
              </a:tr>
              <a:tr h="0">
                <a:tc>
                  <a:txBody>
                    <a:bodyPr/>
                    <a:lstStyle/>
                    <a:p>
                      <a:pPr algn="ctr">
                        <a:buNone/>
                      </a:pPr>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sz="14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zh-CN" altLang="en-US" sz="14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6791799"/>
                  </a:ext>
                </a:extLst>
              </a:tr>
              <a:tr h="0">
                <a:tc>
                  <a:txBody>
                    <a:bodyPr/>
                    <a:lstStyle/>
                    <a:p>
                      <a:pPr algn="ctr">
                        <a:buNone/>
                      </a:pPr>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sz="14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zh-CN" altLang="en-US" sz="14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00444123"/>
                  </a:ext>
                </a:extLst>
              </a:tr>
              <a:tr h="0">
                <a:tc>
                  <a:txBody>
                    <a:bodyPr/>
                    <a:lstStyle/>
                    <a:p>
                      <a:pPr algn="ctr">
                        <a:buNone/>
                      </a:pPr>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sz="14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zh-CN" altLang="en-US" sz="14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91262555"/>
                  </a:ext>
                </a:extLst>
              </a:tr>
              <a:tr h="0">
                <a:tc>
                  <a:txBody>
                    <a:bodyPr/>
                    <a:lstStyle/>
                    <a:p>
                      <a:pPr algn="ctr">
                        <a:buNone/>
                      </a:pPr>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sz="14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zh-CN" altLang="en-US" sz="14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9275656"/>
                  </a:ext>
                </a:extLst>
              </a:tr>
              <a:tr h="0">
                <a:tc>
                  <a:txBody>
                    <a:bodyPr/>
                    <a:lstStyle/>
                    <a:p>
                      <a:pPr algn="ctr">
                        <a:buNone/>
                      </a:pPr>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sz="14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zh-CN" altLang="en-US" sz="14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47363238"/>
                  </a:ext>
                </a:extLst>
              </a:tr>
            </a:tbl>
          </a:graphicData>
        </a:graphic>
      </p:graphicFrame>
      <p:sp>
        <p:nvSpPr>
          <p:cNvPr id="14" name="文本框 13">
            <a:extLst>
              <a:ext uri="{FF2B5EF4-FFF2-40B4-BE49-F238E27FC236}">
                <a16:creationId xmlns:a16="http://schemas.microsoft.com/office/drawing/2014/main" id="{D728DED3-3A5A-02E6-FE94-EFACC1F1589F}"/>
              </a:ext>
            </a:extLst>
          </p:cNvPr>
          <p:cNvSpPr txBox="1"/>
          <p:nvPr/>
        </p:nvSpPr>
        <p:spPr>
          <a:xfrm>
            <a:off x="273562" y="2531809"/>
            <a:ext cx="1806905" cy="307777"/>
          </a:xfrm>
          <a:prstGeom prst="rect">
            <a:avLst/>
          </a:prstGeom>
          <a:noFill/>
        </p:spPr>
        <p:txBody>
          <a:bodyPr wrap="none" rtlCol="0">
            <a:spAutoFit/>
          </a:bodyPr>
          <a:lstStyle/>
          <a:p>
            <a:r>
              <a:rPr lang="en-US" altLang="zh-CN" sz="1400" dirty="0"/>
              <a:t>Standing-by Area</a:t>
            </a:r>
            <a:endParaRPr lang="zh-CN" altLang="en-US" sz="1400" dirty="0"/>
          </a:p>
        </p:txBody>
      </p:sp>
      <p:sp>
        <p:nvSpPr>
          <p:cNvPr id="15" name="文本框 14">
            <a:extLst>
              <a:ext uri="{FF2B5EF4-FFF2-40B4-BE49-F238E27FC236}">
                <a16:creationId xmlns:a16="http://schemas.microsoft.com/office/drawing/2014/main" id="{6187653D-446F-B1CA-C1DD-6704F2C40321}"/>
              </a:ext>
            </a:extLst>
          </p:cNvPr>
          <p:cNvSpPr txBox="1"/>
          <p:nvPr/>
        </p:nvSpPr>
        <p:spPr>
          <a:xfrm>
            <a:off x="969265" y="3923074"/>
            <a:ext cx="1111202" cy="307777"/>
          </a:xfrm>
          <a:prstGeom prst="rect">
            <a:avLst/>
          </a:prstGeom>
          <a:noFill/>
        </p:spPr>
        <p:txBody>
          <a:bodyPr wrap="none" rtlCol="0">
            <a:spAutoFit/>
          </a:bodyPr>
          <a:lstStyle/>
          <a:p>
            <a:r>
              <a:rPr lang="en-US" altLang="zh-CN" sz="1400" dirty="0"/>
              <a:t>Story Area</a:t>
            </a:r>
            <a:endParaRPr lang="zh-CN" altLang="en-US" sz="1400" dirty="0"/>
          </a:p>
        </p:txBody>
      </p:sp>
      <p:cxnSp>
        <p:nvCxnSpPr>
          <p:cNvPr id="16" name="直接箭头连接符 15">
            <a:extLst>
              <a:ext uri="{FF2B5EF4-FFF2-40B4-BE49-F238E27FC236}">
                <a16:creationId xmlns:a16="http://schemas.microsoft.com/office/drawing/2014/main" id="{ED708B4F-45BA-A429-2879-6D545DAB6C4B}"/>
              </a:ext>
            </a:extLst>
          </p:cNvPr>
          <p:cNvCxnSpPr>
            <a:cxnSpLocks/>
          </p:cNvCxnSpPr>
          <p:nvPr/>
        </p:nvCxnSpPr>
        <p:spPr>
          <a:xfrm>
            <a:off x="1999282" y="2683983"/>
            <a:ext cx="720000" cy="3428"/>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4BD1E02D-3937-DE8F-8CDE-102756AB65E8}"/>
              </a:ext>
            </a:extLst>
          </p:cNvPr>
          <p:cNvCxnSpPr>
            <a:cxnSpLocks/>
          </p:cNvCxnSpPr>
          <p:nvPr/>
        </p:nvCxnSpPr>
        <p:spPr>
          <a:xfrm>
            <a:off x="1999282" y="4075248"/>
            <a:ext cx="720000" cy="3428"/>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E028F803-F6C4-8769-0557-26EC28EF1543}"/>
              </a:ext>
            </a:extLst>
          </p:cNvPr>
          <p:cNvSpPr txBox="1"/>
          <p:nvPr/>
        </p:nvSpPr>
        <p:spPr>
          <a:xfrm>
            <a:off x="440274" y="2989984"/>
            <a:ext cx="1640193" cy="307777"/>
          </a:xfrm>
          <a:prstGeom prst="rect">
            <a:avLst/>
          </a:prstGeom>
          <a:noFill/>
        </p:spPr>
        <p:txBody>
          <a:bodyPr wrap="none" rtlCol="0">
            <a:spAutoFit/>
          </a:bodyPr>
          <a:lstStyle/>
          <a:p>
            <a:r>
              <a:rPr lang="en-US" altLang="zh-CN" sz="1400" dirty="0"/>
              <a:t>Story Point Area</a:t>
            </a:r>
            <a:endParaRPr lang="zh-CN" altLang="en-US" sz="1400" dirty="0"/>
          </a:p>
        </p:txBody>
      </p:sp>
      <p:cxnSp>
        <p:nvCxnSpPr>
          <p:cNvPr id="19" name="直接箭头连接符 18">
            <a:extLst>
              <a:ext uri="{FF2B5EF4-FFF2-40B4-BE49-F238E27FC236}">
                <a16:creationId xmlns:a16="http://schemas.microsoft.com/office/drawing/2014/main" id="{78A2D494-599F-6381-6E76-782383DA20CB}"/>
              </a:ext>
            </a:extLst>
          </p:cNvPr>
          <p:cNvCxnSpPr>
            <a:cxnSpLocks/>
          </p:cNvCxnSpPr>
          <p:nvPr/>
        </p:nvCxnSpPr>
        <p:spPr>
          <a:xfrm>
            <a:off x="1999282" y="3142158"/>
            <a:ext cx="720000" cy="3428"/>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06556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EAF5D-689B-4AF3-BB04-D41C4FEC87B5}"/>
            </a:ext>
          </a:extLst>
        </p:cNvPr>
        <p:cNvGrpSpPr/>
        <p:nvPr/>
      </p:nvGrpSpPr>
      <p:grpSpPr>
        <a:xfrm>
          <a:off x="0" y="0"/>
          <a:ext cx="0" cy="0"/>
          <a:chOff x="0" y="0"/>
          <a:chExt cx="0" cy="0"/>
        </a:xfrm>
      </p:grpSpPr>
      <p:graphicFrame>
        <p:nvGraphicFramePr>
          <p:cNvPr id="12" name="表格 11">
            <a:extLst>
              <a:ext uri="{FF2B5EF4-FFF2-40B4-BE49-F238E27FC236}">
                <a16:creationId xmlns:a16="http://schemas.microsoft.com/office/drawing/2014/main" id="{7E160241-D231-B7AE-6480-84209CE6A428}"/>
              </a:ext>
            </a:extLst>
          </p:cNvPr>
          <p:cNvGraphicFramePr>
            <a:graphicFrameLocks noGrp="1"/>
          </p:cNvGraphicFramePr>
          <p:nvPr>
            <p:extLst>
              <p:ext uri="{D42A27DB-BD31-4B8C-83A1-F6EECF244321}">
                <p14:modId xmlns:p14="http://schemas.microsoft.com/office/powerpoint/2010/main" val="1850029545"/>
              </p:ext>
            </p:extLst>
          </p:nvPr>
        </p:nvGraphicFramePr>
        <p:xfrm>
          <a:off x="2856000" y="2173200"/>
          <a:ext cx="7560000" cy="3017520"/>
        </p:xfrm>
        <a:graphic>
          <a:graphicData uri="http://schemas.openxmlformats.org/drawingml/2006/table">
            <a:tbl>
              <a:tblPr/>
              <a:tblGrid>
                <a:gridCol w="1080000">
                  <a:extLst>
                    <a:ext uri="{9D8B030D-6E8A-4147-A177-3AD203B41FA5}">
                      <a16:colId xmlns:a16="http://schemas.microsoft.com/office/drawing/2014/main" val="3227890518"/>
                    </a:ext>
                  </a:extLst>
                </a:gridCol>
                <a:gridCol w="1080000">
                  <a:extLst>
                    <a:ext uri="{9D8B030D-6E8A-4147-A177-3AD203B41FA5}">
                      <a16:colId xmlns:a16="http://schemas.microsoft.com/office/drawing/2014/main" val="1620190121"/>
                    </a:ext>
                  </a:extLst>
                </a:gridCol>
                <a:gridCol w="1080000">
                  <a:extLst>
                    <a:ext uri="{9D8B030D-6E8A-4147-A177-3AD203B41FA5}">
                      <a16:colId xmlns:a16="http://schemas.microsoft.com/office/drawing/2014/main" val="387530637"/>
                    </a:ext>
                  </a:extLst>
                </a:gridCol>
                <a:gridCol w="1080000">
                  <a:extLst>
                    <a:ext uri="{9D8B030D-6E8A-4147-A177-3AD203B41FA5}">
                      <a16:colId xmlns:a16="http://schemas.microsoft.com/office/drawing/2014/main" val="2446955010"/>
                    </a:ext>
                  </a:extLst>
                </a:gridCol>
                <a:gridCol w="1080000">
                  <a:extLst>
                    <a:ext uri="{9D8B030D-6E8A-4147-A177-3AD203B41FA5}">
                      <a16:colId xmlns:a16="http://schemas.microsoft.com/office/drawing/2014/main" val="1633442213"/>
                    </a:ext>
                  </a:extLst>
                </a:gridCol>
                <a:gridCol w="1080000">
                  <a:extLst>
                    <a:ext uri="{9D8B030D-6E8A-4147-A177-3AD203B41FA5}">
                      <a16:colId xmlns:a16="http://schemas.microsoft.com/office/drawing/2014/main" val="1071517291"/>
                    </a:ext>
                  </a:extLst>
                </a:gridCol>
                <a:gridCol w="1080000">
                  <a:extLst>
                    <a:ext uri="{9D8B030D-6E8A-4147-A177-3AD203B41FA5}">
                      <a16:colId xmlns:a16="http://schemas.microsoft.com/office/drawing/2014/main" val="4183402170"/>
                    </a:ext>
                  </a:extLst>
                </a:gridCol>
              </a:tblGrid>
              <a:tr h="222641">
                <a:tc gridSpan="7">
                  <a:txBody>
                    <a:bodyPr/>
                    <a:lstStyle/>
                    <a:p>
                      <a:pPr>
                        <a:buNone/>
                      </a:pPr>
                      <a:r>
                        <a:rPr lang="en-US" altLang="zh-CN" sz="1600" dirty="0"/>
                        <a:t>Step 2 </a:t>
                      </a:r>
                      <a:r>
                        <a:rPr lang="zh-CN" altLang="en-US" sz="1600" dirty="0"/>
                        <a:t>估算故事点；分歧较大的，暂放待定区；需更多信息无法确定时，搁置区</a:t>
                      </a:r>
                    </a:p>
                  </a:txBody>
                  <a:tcPr anchor="ctr">
                    <a:lnL>
                      <a:noFill/>
                    </a:lnL>
                    <a:lnR>
                      <a:noFill/>
                    </a:lnR>
                    <a:lnT>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buNone/>
                      </a:pPr>
                      <a:endParaRPr lang="zh-CN" altLang="en-US" sz="1600" dirty="0">
                        <a:solidFill>
                          <a:schemeClr val="bg1"/>
                        </a:solidFill>
                      </a:endParaRPr>
                    </a:p>
                  </a:txBody>
                  <a:tcPr anchor="ctr">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buNone/>
                      </a:pPr>
                      <a:endParaRPr lang="zh-CN" altLang="en-US" sz="1600" dirty="0">
                        <a:solidFill>
                          <a:schemeClr val="bg1"/>
                        </a:solidFill>
                      </a:endParaRPr>
                    </a:p>
                  </a:txBody>
                  <a:tcPr anchor="ctr">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buNone/>
                      </a:pPr>
                      <a:endParaRPr lang="zh-CN" altLang="en-US" sz="1600" dirty="0">
                        <a:solidFill>
                          <a:srgbClr val="FFFF00"/>
                        </a:solidFill>
                      </a:endParaRPr>
                    </a:p>
                  </a:txBody>
                  <a:tcPr anchor="ctr">
                    <a:lnL>
                      <a:noFill/>
                    </a:lnL>
                    <a:lnR>
                      <a:noFill/>
                    </a:lnR>
                    <a:lnT>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buNone/>
                      </a:pPr>
                      <a:endParaRPr lang="zh-CN" altLang="en-US" sz="1600" dirty="0">
                        <a:solidFill>
                          <a:srgbClr val="FFFF00"/>
                        </a:solidFill>
                      </a:endParaRPr>
                    </a:p>
                  </a:txBody>
                  <a:tcPr anchor="ctr">
                    <a:lnL>
                      <a:noFill/>
                    </a:lnL>
                    <a:lnR>
                      <a:noFill/>
                    </a:lnR>
                    <a:lnT>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buNone/>
                      </a:pPr>
                      <a:endParaRPr lang="zh-CN" altLang="en-US" sz="1600" dirty="0">
                        <a:solidFill>
                          <a:srgbClr val="FFFF00"/>
                        </a:solidFill>
                      </a:endParaRPr>
                    </a:p>
                  </a:txBody>
                  <a:tcPr anchor="ctr">
                    <a:lnL>
                      <a:noFill/>
                    </a:lnL>
                    <a:lnR>
                      <a:noFill/>
                    </a:lnR>
                    <a:lnT>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8335640"/>
                  </a:ext>
                </a:extLst>
              </a:tr>
              <a:tr h="222641">
                <a:tc gridSpan="7">
                  <a:txBody>
                    <a:bodyPr/>
                    <a:lstStyle/>
                    <a:p>
                      <a:pPr algn="ctr">
                        <a:buNone/>
                      </a:pPr>
                      <a:endParaRPr lang="zh-CN" altLang="en-US" sz="1600" dirty="0"/>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a:noFill/>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a:noFill/>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a:noFill/>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a:noFill/>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a:noFill/>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9894281"/>
                  </a:ext>
                </a:extLst>
              </a:tr>
              <a:tr h="202401">
                <a:tc>
                  <a:txBody>
                    <a:bodyPr/>
                    <a:lstStyle/>
                    <a:p>
                      <a:pPr algn="ctr">
                        <a:buNone/>
                      </a:pPr>
                      <a:r>
                        <a:rPr lang="en-US" altLang="zh-CN" sz="1600" dirty="0">
                          <a:solidFill>
                            <a:schemeClr val="bg1"/>
                          </a:solidFill>
                        </a:rPr>
                        <a:t>XS</a:t>
                      </a:r>
                      <a:endParaRPr lang="en-US" sz="1600" dirty="0">
                        <a:solidFill>
                          <a:schemeClr val="bg1"/>
                        </a:solidFill>
                      </a:endParaRP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00B0F0"/>
                    </a:solidFill>
                  </a:tcPr>
                </a:tc>
                <a:tc>
                  <a:txBody>
                    <a:bodyPr/>
                    <a:lstStyle/>
                    <a:p>
                      <a:pPr algn="ctr">
                        <a:buNone/>
                      </a:pPr>
                      <a:r>
                        <a:rPr lang="en-US" sz="1600" dirty="0">
                          <a:solidFill>
                            <a:schemeClr val="bg1"/>
                          </a:solidFill>
                        </a:rPr>
                        <a:t>S</a:t>
                      </a:r>
                    </a:p>
                  </a:txBody>
                  <a:tcPr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00B0F0"/>
                    </a:solidFill>
                  </a:tcPr>
                </a:tc>
                <a:tc>
                  <a:txBody>
                    <a:bodyPr/>
                    <a:lstStyle/>
                    <a:p>
                      <a:pPr algn="ctr">
                        <a:buNone/>
                      </a:pPr>
                      <a:r>
                        <a:rPr lang="en-US" altLang="zh-CN" sz="1600" dirty="0">
                          <a:solidFill>
                            <a:schemeClr val="bg1"/>
                          </a:solidFill>
                        </a:rPr>
                        <a:t>M</a:t>
                      </a:r>
                      <a:endParaRPr lang="zh-CN" altLang="en-US" sz="1600" dirty="0">
                        <a:solidFill>
                          <a:schemeClr val="bg1"/>
                        </a:solidFill>
                      </a:endParaRPr>
                    </a:p>
                  </a:txBody>
                  <a:tcPr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00B0F0"/>
                    </a:solidFill>
                  </a:tcPr>
                </a:tc>
                <a:tc>
                  <a:txBody>
                    <a:bodyPr/>
                    <a:lstStyle/>
                    <a:p>
                      <a:pPr algn="ctr">
                        <a:buNone/>
                      </a:pPr>
                      <a:r>
                        <a:rPr lang="en-US" altLang="zh-CN" sz="1600" dirty="0">
                          <a:solidFill>
                            <a:schemeClr val="bg1"/>
                          </a:solidFill>
                        </a:rPr>
                        <a:t>L</a:t>
                      </a:r>
                    </a:p>
                  </a:txBody>
                  <a:tcPr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00B0F0"/>
                    </a:solidFill>
                  </a:tcPr>
                </a:tc>
                <a:tc>
                  <a:txBody>
                    <a:bodyPr/>
                    <a:lstStyle/>
                    <a:p>
                      <a:pPr algn="ctr">
                        <a:buNone/>
                      </a:pPr>
                      <a:r>
                        <a:rPr lang="en-US" altLang="zh-CN" sz="1600" dirty="0">
                          <a:solidFill>
                            <a:schemeClr val="bg1"/>
                          </a:solidFill>
                        </a:rPr>
                        <a:t>XL</a:t>
                      </a:r>
                    </a:p>
                  </a:txBody>
                  <a:tcPr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00B0F0"/>
                    </a:solidFill>
                  </a:tcPr>
                </a:tc>
                <a:tc>
                  <a:txBody>
                    <a:bodyPr/>
                    <a:lstStyle/>
                    <a:p>
                      <a:pPr algn="ctr">
                        <a:buNone/>
                      </a:pPr>
                      <a:r>
                        <a:rPr lang="en-US" altLang="zh-CN" sz="1600" dirty="0">
                          <a:solidFill>
                            <a:schemeClr val="bg1"/>
                          </a:solidFill>
                        </a:rPr>
                        <a:t>XXL</a:t>
                      </a:r>
                    </a:p>
                  </a:txBody>
                  <a:tcPr anchor="ctr">
                    <a:lnL>
                      <a:noFill/>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00B0F0"/>
                    </a:solidFill>
                  </a:tcPr>
                </a:tc>
                <a:tc rowSpan="2">
                  <a:txBody>
                    <a:bodyPr/>
                    <a:lstStyle/>
                    <a:p>
                      <a:pPr algn="ctr">
                        <a:buNone/>
                      </a:pPr>
                      <a:r>
                        <a:rPr lang="en-US" altLang="zh-CN" sz="1600" dirty="0">
                          <a:solidFill>
                            <a:schemeClr val="bg1"/>
                          </a:solidFill>
                        </a:rPr>
                        <a:t>???</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708258967"/>
                  </a:ext>
                </a:extLst>
              </a:tr>
              <a:tr h="202401">
                <a:tc>
                  <a:txBody>
                    <a:bodyPr/>
                    <a:lstStyle/>
                    <a:p>
                      <a:pPr algn="ctr">
                        <a:buNone/>
                      </a:pPr>
                      <a:r>
                        <a:rPr lang="en-US" sz="1600" dirty="0">
                          <a:solidFill>
                            <a:schemeClr val="bg1"/>
                          </a:solidFill>
                        </a:rPr>
                        <a:t>1</a:t>
                      </a:r>
                    </a:p>
                  </a:txBody>
                  <a:tcPr anchor="ctr">
                    <a:lnL w="12700" cap="flat" cmpd="sng" algn="ctr">
                      <a:solidFill>
                        <a:schemeClr val="tx1"/>
                      </a:solid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00B0F0"/>
                    </a:solidFill>
                  </a:tcPr>
                </a:tc>
                <a:tc>
                  <a:txBody>
                    <a:bodyPr/>
                    <a:lstStyle/>
                    <a:p>
                      <a:pPr algn="ctr">
                        <a:buNone/>
                      </a:pPr>
                      <a:r>
                        <a:rPr lang="en-US" sz="1600" dirty="0">
                          <a:solidFill>
                            <a:schemeClr val="bg1"/>
                          </a:solidFill>
                        </a:rPr>
                        <a:t>2</a:t>
                      </a: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00B0F0"/>
                    </a:solidFill>
                  </a:tcPr>
                </a:tc>
                <a:tc>
                  <a:txBody>
                    <a:bodyPr/>
                    <a:lstStyle/>
                    <a:p>
                      <a:pPr algn="ctr">
                        <a:buNone/>
                      </a:pPr>
                      <a:r>
                        <a:rPr lang="en-US" altLang="zh-CN" sz="1600" dirty="0">
                          <a:solidFill>
                            <a:schemeClr val="bg1"/>
                          </a:solidFill>
                        </a:rPr>
                        <a:t>3</a:t>
                      </a:r>
                      <a:endParaRPr lang="zh-CN" altLang="en-US" sz="1600" dirty="0">
                        <a:solidFill>
                          <a:schemeClr val="bg1"/>
                        </a:solidFill>
                      </a:endParaRP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00B0F0"/>
                    </a:solidFill>
                  </a:tcPr>
                </a:tc>
                <a:tc>
                  <a:txBody>
                    <a:bodyPr/>
                    <a:lstStyle/>
                    <a:p>
                      <a:pPr algn="ctr">
                        <a:buNone/>
                      </a:pPr>
                      <a:r>
                        <a:rPr lang="en-US" altLang="zh-CN" sz="1600" dirty="0">
                          <a:solidFill>
                            <a:schemeClr val="bg1"/>
                          </a:solidFill>
                        </a:rPr>
                        <a:t>5</a:t>
                      </a: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00B0F0"/>
                    </a:solidFill>
                  </a:tcPr>
                </a:tc>
                <a:tc>
                  <a:txBody>
                    <a:bodyPr/>
                    <a:lstStyle/>
                    <a:p>
                      <a:pPr algn="ctr">
                        <a:buNone/>
                      </a:pPr>
                      <a:r>
                        <a:rPr lang="en-US" altLang="zh-CN" sz="1600" dirty="0">
                          <a:solidFill>
                            <a:schemeClr val="bg1"/>
                          </a:solidFill>
                        </a:rPr>
                        <a:t>8</a:t>
                      </a: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00B0F0"/>
                    </a:solidFill>
                  </a:tcPr>
                </a:tc>
                <a:tc>
                  <a:txBody>
                    <a:bodyPr/>
                    <a:lstStyle/>
                    <a:p>
                      <a:pPr algn="ctr">
                        <a:buNone/>
                      </a:pPr>
                      <a:r>
                        <a:rPr lang="en-US" altLang="zh-CN" sz="1600" dirty="0">
                          <a:solidFill>
                            <a:schemeClr val="bg1"/>
                          </a:solidFill>
                        </a:rPr>
                        <a:t>13</a:t>
                      </a:r>
                    </a:p>
                  </a:txBody>
                  <a:tcPr anchor="ctr">
                    <a:lnL>
                      <a:noFill/>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00B0F0"/>
                    </a:solidFill>
                  </a:tcPr>
                </a:tc>
                <a:tc vMerge="1">
                  <a:txBody>
                    <a:bodyPr/>
                    <a:lstStyle/>
                    <a:p>
                      <a:pPr algn="ctr">
                        <a:buNone/>
                      </a:pPr>
                      <a:endParaRPr lang="en-US" altLang="zh-CN" sz="1600" dirty="0">
                        <a:solidFill>
                          <a:schemeClr val="bg1"/>
                        </a:solidFill>
                      </a:endParaRPr>
                    </a:p>
                  </a:txBody>
                  <a:tcPr anchor="ctr">
                    <a:lnL>
                      <a:noFill/>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218416589"/>
                  </a:ext>
                </a:extLst>
              </a:tr>
              <a:tr h="202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p>
                  </a:txBody>
                  <a:tcPr anchor="ctr">
                    <a:lnL w="12700" cap="flat" cmpd="sng" algn="ctr">
                      <a:solidFill>
                        <a:schemeClr val="tx1"/>
                      </a:solid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sz="1600" dirty="0"/>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136791799"/>
                  </a:ext>
                </a:extLst>
              </a:tr>
              <a:tr h="202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p>
                  </a:txBody>
                  <a:tcPr anchor="ctr">
                    <a:lnL w="12700" cap="flat" cmpd="sng" algn="ctr">
                      <a:solidFill>
                        <a:schemeClr val="tx1"/>
                      </a:solid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sz="1600" dirty="0"/>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382090224"/>
                  </a:ext>
                </a:extLst>
              </a:tr>
              <a:tr h="202401">
                <a:tc>
                  <a:txBody>
                    <a:bodyPr/>
                    <a:lstStyle/>
                    <a:p>
                      <a:pPr algn="ctr">
                        <a:buNone/>
                      </a:pPr>
                      <a:endParaRPr lang="en-US" sz="1600" dirty="0"/>
                    </a:p>
                  </a:txBody>
                  <a:tcPr anchor="ctr">
                    <a:lnL w="12700" cap="flat" cmpd="sng" algn="ctr">
                      <a:solidFill>
                        <a:schemeClr val="tx1"/>
                      </a:solid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sz="1600" dirty="0"/>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sz="1600" dirty="0"/>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289275656"/>
                  </a:ext>
                </a:extLst>
              </a:tr>
              <a:tr h="202401">
                <a:tc>
                  <a:txBody>
                    <a:bodyPr/>
                    <a:lstStyle/>
                    <a:p>
                      <a:pPr algn="ctr">
                        <a:buNone/>
                      </a:pPr>
                      <a:endParaRPr lang="en-US" sz="1600" dirty="0"/>
                    </a:p>
                  </a:txBody>
                  <a:tcPr anchor="ctr">
                    <a:lnL w="12700" cap="flat" cmpd="sng" algn="ctr">
                      <a:solidFill>
                        <a:schemeClr val="tx1"/>
                      </a:solidFill>
                      <a:prstDash val="solid"/>
                      <a:round/>
                      <a:headEnd type="none" w="med" len="med"/>
                      <a:tailEnd type="none" w="med" len="med"/>
                    </a:lnL>
                    <a:lnR>
                      <a:noFill/>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sz="1600" dirty="0"/>
                    </a:p>
                  </a:txBody>
                  <a:tcPr anchor="ctr">
                    <a:lnL>
                      <a:noFill/>
                    </a:lnL>
                    <a:lnR>
                      <a:noFill/>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zh-CN" altLang="en-US" sz="1600" dirty="0"/>
                    </a:p>
                  </a:txBody>
                  <a:tcPr anchor="ctr">
                    <a:lnL>
                      <a:noFill/>
                    </a:lnL>
                    <a:lnR>
                      <a:noFill/>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a:noFill/>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a:noFill/>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47363238"/>
                  </a:ext>
                </a:extLst>
              </a:tr>
              <a:tr h="202401">
                <a:tc>
                  <a:txBody>
                    <a:bodyPr/>
                    <a:lstStyle/>
                    <a:p>
                      <a:pPr algn="ctr">
                        <a:buNone/>
                      </a:pPr>
                      <a:endParaRPr lang="en-US" sz="1600" dirty="0"/>
                    </a:p>
                  </a:txBody>
                  <a:tcPr anchor="ctr">
                    <a:lnL w="12700" cap="flat" cmpd="sng" algn="ctr">
                      <a:solidFill>
                        <a:schemeClr val="tx1"/>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sz="1600" dirty="0"/>
                    </a:p>
                  </a:txBody>
                  <a:tcPr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zh-CN" altLang="en-US" sz="1600" dirty="0"/>
                    </a:p>
                  </a:txBody>
                  <a:tcPr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2731299"/>
                  </a:ext>
                </a:extLst>
              </a:tr>
            </a:tbl>
          </a:graphicData>
        </a:graphic>
      </p:graphicFrame>
      <p:grpSp>
        <p:nvGrpSpPr>
          <p:cNvPr id="77" name="组合 76">
            <a:extLst>
              <a:ext uri="{FF2B5EF4-FFF2-40B4-BE49-F238E27FC236}">
                <a16:creationId xmlns:a16="http://schemas.microsoft.com/office/drawing/2014/main" id="{FD5BA643-6A5C-E033-34D1-3D5B84315C3D}"/>
              </a:ext>
            </a:extLst>
          </p:cNvPr>
          <p:cNvGrpSpPr/>
          <p:nvPr/>
        </p:nvGrpSpPr>
        <p:grpSpPr>
          <a:xfrm>
            <a:off x="6014063" y="2482490"/>
            <a:ext cx="832402" cy="552450"/>
            <a:chOff x="1095951" y="1905001"/>
            <a:chExt cx="832402" cy="552450"/>
          </a:xfrm>
        </p:grpSpPr>
        <p:pic>
          <p:nvPicPr>
            <p:cNvPr id="78" name="Picture 4" descr="儿童卡通便利贴标签贴纸记事留言纸条PNG免抠设计元素PS装饰素材">
              <a:extLst>
                <a:ext uri="{FF2B5EF4-FFF2-40B4-BE49-F238E27FC236}">
                  <a16:creationId xmlns:a16="http://schemas.microsoft.com/office/drawing/2014/main" id="{BC6069DC-1C7D-1AB5-C027-0FC75F017C6E}"/>
                </a:ext>
              </a:extLst>
            </p:cNvPr>
            <p:cNvPicPr>
              <a:picLocks noChangeAspect="1" noChangeArrowheads="1"/>
            </p:cNvPicPr>
            <p:nvPr/>
          </p:nvPicPr>
          <p:blipFill>
            <a:blip r:embed="rId3">
              <a:duotone>
                <a:prstClr val="black"/>
                <a:schemeClr val="accent6">
                  <a:tint val="45000"/>
                  <a:satMod val="400000"/>
                </a:schemeClr>
              </a:duotone>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79" name="文本框 78">
              <a:extLst>
                <a:ext uri="{FF2B5EF4-FFF2-40B4-BE49-F238E27FC236}">
                  <a16:creationId xmlns:a16="http://schemas.microsoft.com/office/drawing/2014/main" id="{6AE474DD-6167-4ED5-0C22-A8845227D31E}"/>
                </a:ext>
              </a:extLst>
            </p:cNvPr>
            <p:cNvSpPr txBox="1"/>
            <p:nvPr/>
          </p:nvSpPr>
          <p:spPr>
            <a:xfrm>
              <a:off x="1095951" y="2027338"/>
              <a:ext cx="801823" cy="307777"/>
            </a:xfrm>
            <a:prstGeom prst="rect">
              <a:avLst/>
            </a:prstGeom>
            <a:noFill/>
          </p:spPr>
          <p:txBody>
            <a:bodyPr wrap="none" rtlCol="0">
              <a:spAutoFit/>
            </a:bodyPr>
            <a:lstStyle/>
            <a:p>
              <a:pPr algn="ctr"/>
              <a:r>
                <a:rPr lang="en-US" altLang="zh-CN" sz="1400" dirty="0"/>
                <a:t>Story 6</a:t>
              </a:r>
              <a:endParaRPr lang="zh-CN" altLang="en-US" sz="1400" dirty="0"/>
            </a:p>
          </p:txBody>
        </p:sp>
      </p:grpSp>
      <p:grpSp>
        <p:nvGrpSpPr>
          <p:cNvPr id="3" name="组合 2">
            <a:extLst>
              <a:ext uri="{FF2B5EF4-FFF2-40B4-BE49-F238E27FC236}">
                <a16:creationId xmlns:a16="http://schemas.microsoft.com/office/drawing/2014/main" id="{7F38C876-E576-8B95-0AA0-53AC02F55E9C}"/>
              </a:ext>
            </a:extLst>
          </p:cNvPr>
          <p:cNvGrpSpPr/>
          <p:nvPr/>
        </p:nvGrpSpPr>
        <p:grpSpPr>
          <a:xfrm>
            <a:off x="9498634" y="3599639"/>
            <a:ext cx="834005" cy="552450"/>
            <a:chOff x="1094348" y="1905001"/>
            <a:chExt cx="834005" cy="552450"/>
          </a:xfrm>
        </p:grpSpPr>
        <p:pic>
          <p:nvPicPr>
            <p:cNvPr id="4" name="Picture 4" descr="儿童卡通便利贴标签贴纸记事留言纸条PNG免抠设计元素PS装饰素材">
              <a:extLst>
                <a:ext uri="{FF2B5EF4-FFF2-40B4-BE49-F238E27FC236}">
                  <a16:creationId xmlns:a16="http://schemas.microsoft.com/office/drawing/2014/main" id="{60C30086-FD35-559F-8027-8AFF78D2E019}"/>
                </a:ext>
              </a:extLst>
            </p:cNvPr>
            <p:cNvPicPr>
              <a:picLocks noChangeAspect="1" noChangeArrowheads="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4E1CA6E6-8E04-D34F-2A49-32BB756442CA}"/>
                </a:ext>
              </a:extLst>
            </p:cNvPr>
            <p:cNvSpPr txBox="1"/>
            <p:nvPr/>
          </p:nvSpPr>
          <p:spPr>
            <a:xfrm>
              <a:off x="1094348" y="2027338"/>
              <a:ext cx="805029" cy="307777"/>
            </a:xfrm>
            <a:prstGeom prst="rect">
              <a:avLst/>
            </a:prstGeom>
            <a:noFill/>
          </p:spPr>
          <p:txBody>
            <a:bodyPr wrap="none" rtlCol="0">
              <a:spAutoFit/>
            </a:bodyPr>
            <a:lstStyle/>
            <a:p>
              <a:pPr algn="ctr"/>
              <a:r>
                <a:rPr lang="en-US" altLang="zh-CN" sz="1400" dirty="0">
                  <a:solidFill>
                    <a:srgbClr val="FF0000"/>
                  </a:solidFill>
                </a:rPr>
                <a:t>Story 9</a:t>
              </a:r>
              <a:endParaRPr lang="zh-CN" altLang="en-US" sz="1400" dirty="0">
                <a:solidFill>
                  <a:srgbClr val="FF0000"/>
                </a:solidFill>
              </a:endParaRPr>
            </a:p>
          </p:txBody>
        </p:sp>
      </p:grpSp>
      <p:grpSp>
        <p:nvGrpSpPr>
          <p:cNvPr id="7" name="组合 6">
            <a:extLst>
              <a:ext uri="{FF2B5EF4-FFF2-40B4-BE49-F238E27FC236}">
                <a16:creationId xmlns:a16="http://schemas.microsoft.com/office/drawing/2014/main" id="{991642DB-CDC1-F89E-C89A-EE0034A53438}"/>
              </a:ext>
            </a:extLst>
          </p:cNvPr>
          <p:cNvGrpSpPr/>
          <p:nvPr/>
        </p:nvGrpSpPr>
        <p:grpSpPr>
          <a:xfrm>
            <a:off x="2942841" y="3580958"/>
            <a:ext cx="858478" cy="552450"/>
            <a:chOff x="1069875" y="1905001"/>
            <a:chExt cx="858478" cy="552450"/>
          </a:xfrm>
        </p:grpSpPr>
        <p:pic>
          <p:nvPicPr>
            <p:cNvPr id="8" name="Picture 4" descr="儿童卡通便利贴标签贴纸记事留言纸条PNG免抠设计元素PS装饰素材">
              <a:extLst>
                <a:ext uri="{FF2B5EF4-FFF2-40B4-BE49-F238E27FC236}">
                  <a16:creationId xmlns:a16="http://schemas.microsoft.com/office/drawing/2014/main" id="{A98482C6-69C7-A933-9C9A-5522092898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a:extLst>
                <a:ext uri="{FF2B5EF4-FFF2-40B4-BE49-F238E27FC236}">
                  <a16:creationId xmlns:a16="http://schemas.microsoft.com/office/drawing/2014/main" id="{9EA5D2C1-5FE4-4C94-4C36-9D96D3101652}"/>
                </a:ext>
              </a:extLst>
            </p:cNvPr>
            <p:cNvSpPr txBox="1"/>
            <p:nvPr/>
          </p:nvSpPr>
          <p:spPr>
            <a:xfrm>
              <a:off x="1069875" y="2027338"/>
              <a:ext cx="824265" cy="307777"/>
            </a:xfrm>
            <a:prstGeom prst="rect">
              <a:avLst/>
            </a:prstGeom>
            <a:noFill/>
          </p:spPr>
          <p:txBody>
            <a:bodyPr wrap="none" rtlCol="0">
              <a:spAutoFit/>
            </a:bodyPr>
            <a:lstStyle/>
            <a:p>
              <a:pPr algn="l"/>
              <a:r>
                <a:rPr lang="en-US" altLang="zh-CN" sz="1400" dirty="0"/>
                <a:t>Story 11</a:t>
              </a:r>
              <a:endParaRPr lang="zh-CN" altLang="en-US" sz="1400" dirty="0"/>
            </a:p>
          </p:txBody>
        </p:sp>
      </p:grpSp>
      <p:grpSp>
        <p:nvGrpSpPr>
          <p:cNvPr id="10" name="组合 9">
            <a:extLst>
              <a:ext uri="{FF2B5EF4-FFF2-40B4-BE49-F238E27FC236}">
                <a16:creationId xmlns:a16="http://schemas.microsoft.com/office/drawing/2014/main" id="{C3154831-2721-14E5-D037-8F198AF90A0F}"/>
              </a:ext>
            </a:extLst>
          </p:cNvPr>
          <p:cNvGrpSpPr/>
          <p:nvPr/>
        </p:nvGrpSpPr>
        <p:grpSpPr>
          <a:xfrm>
            <a:off x="4053887" y="3580958"/>
            <a:ext cx="838814" cy="552450"/>
            <a:chOff x="1089539" y="1905001"/>
            <a:chExt cx="838814" cy="552450"/>
          </a:xfrm>
        </p:grpSpPr>
        <p:pic>
          <p:nvPicPr>
            <p:cNvPr id="11" name="Picture 4" descr="儿童卡通便利贴标签贴纸记事留言纸条PNG免抠设计元素PS装饰素材">
              <a:extLst>
                <a:ext uri="{FF2B5EF4-FFF2-40B4-BE49-F238E27FC236}">
                  <a16:creationId xmlns:a16="http://schemas.microsoft.com/office/drawing/2014/main" id="{B66A5759-8A07-115B-5BB3-5BC5611CAC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74" name="文本框 73">
              <a:extLst>
                <a:ext uri="{FF2B5EF4-FFF2-40B4-BE49-F238E27FC236}">
                  <a16:creationId xmlns:a16="http://schemas.microsoft.com/office/drawing/2014/main" id="{8CF66F7B-C696-A6F2-2FA5-665437F6BE8D}"/>
                </a:ext>
              </a:extLst>
            </p:cNvPr>
            <p:cNvSpPr txBox="1"/>
            <p:nvPr/>
          </p:nvSpPr>
          <p:spPr>
            <a:xfrm>
              <a:off x="1089539" y="2027338"/>
              <a:ext cx="814647" cy="307777"/>
            </a:xfrm>
            <a:prstGeom prst="rect">
              <a:avLst/>
            </a:prstGeom>
            <a:noFill/>
          </p:spPr>
          <p:txBody>
            <a:bodyPr wrap="none" rtlCol="0">
              <a:spAutoFit/>
            </a:bodyPr>
            <a:lstStyle/>
            <a:p>
              <a:pPr algn="ctr"/>
              <a:r>
                <a:rPr lang="en-US" altLang="zh-CN" sz="1400" dirty="0"/>
                <a:t>Story 4</a:t>
              </a:r>
              <a:endParaRPr lang="zh-CN" altLang="en-US" sz="1400" dirty="0"/>
            </a:p>
          </p:txBody>
        </p:sp>
      </p:grpSp>
      <p:grpSp>
        <p:nvGrpSpPr>
          <p:cNvPr id="75" name="组合 74">
            <a:extLst>
              <a:ext uri="{FF2B5EF4-FFF2-40B4-BE49-F238E27FC236}">
                <a16:creationId xmlns:a16="http://schemas.microsoft.com/office/drawing/2014/main" id="{17221F3F-7BA7-2AF2-0F69-693AB93F66C3}"/>
              </a:ext>
            </a:extLst>
          </p:cNvPr>
          <p:cNvGrpSpPr/>
          <p:nvPr/>
        </p:nvGrpSpPr>
        <p:grpSpPr>
          <a:xfrm>
            <a:off x="5194179" y="3541630"/>
            <a:ext cx="830799" cy="552450"/>
            <a:chOff x="1097554" y="1905001"/>
            <a:chExt cx="830799" cy="552450"/>
          </a:xfrm>
        </p:grpSpPr>
        <p:pic>
          <p:nvPicPr>
            <p:cNvPr id="76" name="Picture 4" descr="儿童卡通便利贴标签贴纸记事留言纸条PNG免抠设计元素PS装饰素材">
              <a:extLst>
                <a:ext uri="{FF2B5EF4-FFF2-40B4-BE49-F238E27FC236}">
                  <a16:creationId xmlns:a16="http://schemas.microsoft.com/office/drawing/2014/main" id="{27FE6D3D-D902-A179-6506-209104319D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83" name="文本框 82">
              <a:extLst>
                <a:ext uri="{FF2B5EF4-FFF2-40B4-BE49-F238E27FC236}">
                  <a16:creationId xmlns:a16="http://schemas.microsoft.com/office/drawing/2014/main" id="{017F83DD-6C37-EE49-A152-1FE2AF2410CC}"/>
                </a:ext>
              </a:extLst>
            </p:cNvPr>
            <p:cNvSpPr txBox="1"/>
            <p:nvPr/>
          </p:nvSpPr>
          <p:spPr>
            <a:xfrm>
              <a:off x="1097554" y="2027338"/>
              <a:ext cx="798617" cy="307777"/>
            </a:xfrm>
            <a:prstGeom prst="rect">
              <a:avLst/>
            </a:prstGeom>
            <a:noFill/>
          </p:spPr>
          <p:txBody>
            <a:bodyPr wrap="none" rtlCol="0">
              <a:spAutoFit/>
            </a:bodyPr>
            <a:lstStyle/>
            <a:p>
              <a:pPr algn="ctr"/>
              <a:r>
                <a:rPr lang="en-US" altLang="zh-CN" sz="1400" dirty="0"/>
                <a:t>Story 2</a:t>
              </a:r>
              <a:endParaRPr lang="zh-CN" altLang="en-US" sz="1400" dirty="0"/>
            </a:p>
          </p:txBody>
        </p:sp>
      </p:grpSp>
      <p:grpSp>
        <p:nvGrpSpPr>
          <p:cNvPr id="84" name="组合 83">
            <a:extLst>
              <a:ext uri="{FF2B5EF4-FFF2-40B4-BE49-F238E27FC236}">
                <a16:creationId xmlns:a16="http://schemas.microsoft.com/office/drawing/2014/main" id="{58B55469-DD52-B3A6-C9AC-FEE5B99233B6}"/>
              </a:ext>
            </a:extLst>
          </p:cNvPr>
          <p:cNvGrpSpPr/>
          <p:nvPr/>
        </p:nvGrpSpPr>
        <p:grpSpPr>
          <a:xfrm>
            <a:off x="5212240" y="4006735"/>
            <a:ext cx="832402" cy="552450"/>
            <a:chOff x="1095951" y="1905001"/>
            <a:chExt cx="832402" cy="552450"/>
          </a:xfrm>
        </p:grpSpPr>
        <p:pic>
          <p:nvPicPr>
            <p:cNvPr id="85" name="Picture 4" descr="儿童卡通便利贴标签贴纸记事留言纸条PNG免抠设计元素PS装饰素材">
              <a:extLst>
                <a:ext uri="{FF2B5EF4-FFF2-40B4-BE49-F238E27FC236}">
                  <a16:creationId xmlns:a16="http://schemas.microsoft.com/office/drawing/2014/main" id="{4B6E2ED5-8EFE-9364-D38E-7F93E3D07A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86" name="文本框 85">
              <a:extLst>
                <a:ext uri="{FF2B5EF4-FFF2-40B4-BE49-F238E27FC236}">
                  <a16:creationId xmlns:a16="http://schemas.microsoft.com/office/drawing/2014/main" id="{D4CD435A-31BB-F38E-CBFB-0B90C9787F23}"/>
                </a:ext>
              </a:extLst>
            </p:cNvPr>
            <p:cNvSpPr txBox="1"/>
            <p:nvPr/>
          </p:nvSpPr>
          <p:spPr>
            <a:xfrm>
              <a:off x="1095951" y="2027338"/>
              <a:ext cx="801823" cy="307777"/>
            </a:xfrm>
            <a:prstGeom prst="rect">
              <a:avLst/>
            </a:prstGeom>
            <a:noFill/>
          </p:spPr>
          <p:txBody>
            <a:bodyPr wrap="none" rtlCol="0">
              <a:spAutoFit/>
            </a:bodyPr>
            <a:lstStyle/>
            <a:p>
              <a:pPr algn="ctr"/>
              <a:r>
                <a:rPr lang="en-US" altLang="zh-CN" sz="1400" dirty="0"/>
                <a:t>Story 7</a:t>
              </a:r>
              <a:endParaRPr lang="zh-CN" altLang="en-US" sz="1400" dirty="0"/>
            </a:p>
          </p:txBody>
        </p:sp>
      </p:grpSp>
      <p:grpSp>
        <p:nvGrpSpPr>
          <p:cNvPr id="87" name="组合 86">
            <a:extLst>
              <a:ext uri="{FF2B5EF4-FFF2-40B4-BE49-F238E27FC236}">
                <a16:creationId xmlns:a16="http://schemas.microsoft.com/office/drawing/2014/main" id="{FD1E62AD-AD0F-83C0-3C45-86CFF25EF71B}"/>
              </a:ext>
            </a:extLst>
          </p:cNvPr>
          <p:cNvGrpSpPr/>
          <p:nvPr/>
        </p:nvGrpSpPr>
        <p:grpSpPr>
          <a:xfrm>
            <a:off x="6183339" y="3580958"/>
            <a:ext cx="878767" cy="552450"/>
            <a:chOff x="1057479" y="1905001"/>
            <a:chExt cx="878767" cy="552450"/>
          </a:xfrm>
        </p:grpSpPr>
        <p:pic>
          <p:nvPicPr>
            <p:cNvPr id="88" name="Picture 4" descr="儿童卡通便利贴标签贴纸记事留言纸条PNG免抠设计元素PS装饰素材">
              <a:extLst>
                <a:ext uri="{FF2B5EF4-FFF2-40B4-BE49-F238E27FC236}">
                  <a16:creationId xmlns:a16="http://schemas.microsoft.com/office/drawing/2014/main" id="{987DB73C-6CFC-19E6-36A2-B7323CECA0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89" name="文本框 88">
              <a:extLst>
                <a:ext uri="{FF2B5EF4-FFF2-40B4-BE49-F238E27FC236}">
                  <a16:creationId xmlns:a16="http://schemas.microsoft.com/office/drawing/2014/main" id="{6E857750-26CD-CE53-306F-CC84FC7FF3DA}"/>
                </a:ext>
              </a:extLst>
            </p:cNvPr>
            <p:cNvSpPr txBox="1"/>
            <p:nvPr/>
          </p:nvSpPr>
          <p:spPr>
            <a:xfrm>
              <a:off x="1057479" y="2027338"/>
              <a:ext cx="878767" cy="307777"/>
            </a:xfrm>
            <a:prstGeom prst="rect">
              <a:avLst/>
            </a:prstGeom>
            <a:noFill/>
          </p:spPr>
          <p:txBody>
            <a:bodyPr wrap="none" rtlCol="0">
              <a:spAutoFit/>
            </a:bodyPr>
            <a:lstStyle/>
            <a:p>
              <a:pPr algn="ctr"/>
              <a:r>
                <a:rPr lang="en-US" altLang="zh-CN" sz="1400" dirty="0"/>
                <a:t>Story 10</a:t>
              </a:r>
              <a:endParaRPr lang="zh-CN" altLang="en-US" sz="1400" dirty="0"/>
            </a:p>
          </p:txBody>
        </p:sp>
      </p:grpSp>
      <p:grpSp>
        <p:nvGrpSpPr>
          <p:cNvPr id="90" name="组合 89">
            <a:extLst>
              <a:ext uri="{FF2B5EF4-FFF2-40B4-BE49-F238E27FC236}">
                <a16:creationId xmlns:a16="http://schemas.microsoft.com/office/drawing/2014/main" id="{B7542C55-874E-A309-9671-C0597414B6D6}"/>
              </a:ext>
            </a:extLst>
          </p:cNvPr>
          <p:cNvGrpSpPr/>
          <p:nvPr/>
        </p:nvGrpSpPr>
        <p:grpSpPr>
          <a:xfrm>
            <a:off x="7391507" y="3541630"/>
            <a:ext cx="819150" cy="552450"/>
            <a:chOff x="1109203" y="1905001"/>
            <a:chExt cx="819150" cy="552450"/>
          </a:xfrm>
        </p:grpSpPr>
        <p:pic>
          <p:nvPicPr>
            <p:cNvPr id="91" name="Picture 4" descr="儿童卡通便利贴标签贴纸记事留言纸条PNG免抠设计元素PS装饰素材">
              <a:extLst>
                <a:ext uri="{FF2B5EF4-FFF2-40B4-BE49-F238E27FC236}">
                  <a16:creationId xmlns:a16="http://schemas.microsoft.com/office/drawing/2014/main" id="{66089EB7-DF97-C507-F776-35809D1A12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92" name="文本框 91">
              <a:extLst>
                <a:ext uri="{FF2B5EF4-FFF2-40B4-BE49-F238E27FC236}">
                  <a16:creationId xmlns:a16="http://schemas.microsoft.com/office/drawing/2014/main" id="{CC5E3697-5BD2-05D2-49F0-A30DBFBC5AAD}"/>
                </a:ext>
              </a:extLst>
            </p:cNvPr>
            <p:cNvSpPr txBox="1"/>
            <p:nvPr/>
          </p:nvSpPr>
          <p:spPr>
            <a:xfrm>
              <a:off x="1116791" y="2027338"/>
              <a:ext cx="760144" cy="307777"/>
            </a:xfrm>
            <a:prstGeom prst="rect">
              <a:avLst/>
            </a:prstGeom>
            <a:noFill/>
          </p:spPr>
          <p:txBody>
            <a:bodyPr wrap="none" rtlCol="0">
              <a:spAutoFit/>
            </a:bodyPr>
            <a:lstStyle/>
            <a:p>
              <a:pPr algn="ctr"/>
              <a:r>
                <a:rPr lang="en-US" altLang="zh-CN" sz="1400" dirty="0"/>
                <a:t>Story 1</a:t>
              </a:r>
              <a:endParaRPr lang="zh-CN" altLang="en-US" sz="1400" dirty="0"/>
            </a:p>
          </p:txBody>
        </p:sp>
      </p:grpSp>
      <p:grpSp>
        <p:nvGrpSpPr>
          <p:cNvPr id="93" name="组合 92">
            <a:extLst>
              <a:ext uri="{FF2B5EF4-FFF2-40B4-BE49-F238E27FC236}">
                <a16:creationId xmlns:a16="http://schemas.microsoft.com/office/drawing/2014/main" id="{2AF783AD-C2E1-30DA-219E-96B9436CAB0E}"/>
              </a:ext>
            </a:extLst>
          </p:cNvPr>
          <p:cNvGrpSpPr/>
          <p:nvPr/>
        </p:nvGrpSpPr>
        <p:grpSpPr>
          <a:xfrm>
            <a:off x="7368577" y="4002397"/>
            <a:ext cx="829997" cy="552450"/>
            <a:chOff x="1098356" y="1905001"/>
            <a:chExt cx="829997" cy="552450"/>
          </a:xfrm>
        </p:grpSpPr>
        <p:pic>
          <p:nvPicPr>
            <p:cNvPr id="94" name="Picture 4" descr="儿童卡通便利贴标签贴纸记事留言纸条PNG免抠设计元素PS装饰素材">
              <a:extLst>
                <a:ext uri="{FF2B5EF4-FFF2-40B4-BE49-F238E27FC236}">
                  <a16:creationId xmlns:a16="http://schemas.microsoft.com/office/drawing/2014/main" id="{9DA6A32F-1F43-EE03-E311-221B820688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95" name="文本框 94">
              <a:extLst>
                <a:ext uri="{FF2B5EF4-FFF2-40B4-BE49-F238E27FC236}">
                  <a16:creationId xmlns:a16="http://schemas.microsoft.com/office/drawing/2014/main" id="{C82EB4F0-D243-282D-906A-07E6857949D6}"/>
                </a:ext>
              </a:extLst>
            </p:cNvPr>
            <p:cNvSpPr txBox="1"/>
            <p:nvPr/>
          </p:nvSpPr>
          <p:spPr>
            <a:xfrm>
              <a:off x="1098356" y="2027338"/>
              <a:ext cx="797014" cy="307777"/>
            </a:xfrm>
            <a:prstGeom prst="rect">
              <a:avLst/>
            </a:prstGeom>
            <a:noFill/>
          </p:spPr>
          <p:txBody>
            <a:bodyPr wrap="none" rtlCol="0">
              <a:spAutoFit/>
            </a:bodyPr>
            <a:lstStyle/>
            <a:p>
              <a:pPr algn="ctr"/>
              <a:r>
                <a:rPr lang="en-US" altLang="zh-CN" sz="1400" dirty="0"/>
                <a:t>Story 5</a:t>
              </a:r>
              <a:endParaRPr lang="zh-CN" altLang="en-US" sz="1400" dirty="0"/>
            </a:p>
          </p:txBody>
        </p:sp>
      </p:grpSp>
      <p:grpSp>
        <p:nvGrpSpPr>
          <p:cNvPr id="96" name="组合 95">
            <a:extLst>
              <a:ext uri="{FF2B5EF4-FFF2-40B4-BE49-F238E27FC236}">
                <a16:creationId xmlns:a16="http://schemas.microsoft.com/office/drawing/2014/main" id="{504B746C-A2C2-FF8B-D56C-B0146A22C044}"/>
              </a:ext>
            </a:extLst>
          </p:cNvPr>
          <p:cNvGrpSpPr/>
          <p:nvPr/>
        </p:nvGrpSpPr>
        <p:grpSpPr>
          <a:xfrm>
            <a:off x="8426800" y="3541630"/>
            <a:ext cx="829997" cy="552450"/>
            <a:chOff x="1098356" y="1905001"/>
            <a:chExt cx="829997" cy="552450"/>
          </a:xfrm>
        </p:grpSpPr>
        <p:pic>
          <p:nvPicPr>
            <p:cNvPr id="97" name="Picture 4" descr="儿童卡通便利贴标签贴纸记事留言纸条PNG免抠设计元素PS装饰素材">
              <a:extLst>
                <a:ext uri="{FF2B5EF4-FFF2-40B4-BE49-F238E27FC236}">
                  <a16:creationId xmlns:a16="http://schemas.microsoft.com/office/drawing/2014/main" id="{0AE52A04-D4F3-1E12-1C5B-6B8BCABF92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98" name="文本框 97">
              <a:extLst>
                <a:ext uri="{FF2B5EF4-FFF2-40B4-BE49-F238E27FC236}">
                  <a16:creationId xmlns:a16="http://schemas.microsoft.com/office/drawing/2014/main" id="{70E57C1B-3928-D8D3-3EAC-FBFE8190803E}"/>
                </a:ext>
              </a:extLst>
            </p:cNvPr>
            <p:cNvSpPr txBox="1"/>
            <p:nvPr/>
          </p:nvSpPr>
          <p:spPr>
            <a:xfrm>
              <a:off x="1098356" y="2027338"/>
              <a:ext cx="797014" cy="307777"/>
            </a:xfrm>
            <a:prstGeom prst="rect">
              <a:avLst/>
            </a:prstGeom>
            <a:noFill/>
          </p:spPr>
          <p:txBody>
            <a:bodyPr wrap="none" rtlCol="0">
              <a:spAutoFit/>
            </a:bodyPr>
            <a:lstStyle/>
            <a:p>
              <a:pPr algn="ctr"/>
              <a:r>
                <a:rPr lang="en-US" altLang="zh-CN" sz="1400" dirty="0"/>
                <a:t>Story 3</a:t>
              </a:r>
              <a:endParaRPr lang="zh-CN" altLang="en-US" sz="1400" dirty="0"/>
            </a:p>
          </p:txBody>
        </p:sp>
      </p:grpSp>
      <p:grpSp>
        <p:nvGrpSpPr>
          <p:cNvPr id="99" name="组合 98">
            <a:extLst>
              <a:ext uri="{FF2B5EF4-FFF2-40B4-BE49-F238E27FC236}">
                <a16:creationId xmlns:a16="http://schemas.microsoft.com/office/drawing/2014/main" id="{E4DBB985-7FAC-0A99-1B0F-8E1FD5D20245}"/>
              </a:ext>
            </a:extLst>
          </p:cNvPr>
          <p:cNvGrpSpPr/>
          <p:nvPr/>
        </p:nvGrpSpPr>
        <p:grpSpPr>
          <a:xfrm>
            <a:off x="8408305" y="4002397"/>
            <a:ext cx="836409" cy="552450"/>
            <a:chOff x="1091944" y="1905001"/>
            <a:chExt cx="836409" cy="552450"/>
          </a:xfrm>
        </p:grpSpPr>
        <p:pic>
          <p:nvPicPr>
            <p:cNvPr id="100" name="Picture 4" descr="儿童卡通便利贴标签贴纸记事留言纸条PNG免抠设计元素PS装饰素材">
              <a:extLst>
                <a:ext uri="{FF2B5EF4-FFF2-40B4-BE49-F238E27FC236}">
                  <a16:creationId xmlns:a16="http://schemas.microsoft.com/office/drawing/2014/main" id="{62D85039-6D90-FD0F-FB46-0A6F835E9E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101" name="文本框 100">
              <a:extLst>
                <a:ext uri="{FF2B5EF4-FFF2-40B4-BE49-F238E27FC236}">
                  <a16:creationId xmlns:a16="http://schemas.microsoft.com/office/drawing/2014/main" id="{9354928F-992F-5343-F9EA-B061DBA196B6}"/>
                </a:ext>
              </a:extLst>
            </p:cNvPr>
            <p:cNvSpPr txBox="1"/>
            <p:nvPr/>
          </p:nvSpPr>
          <p:spPr>
            <a:xfrm>
              <a:off x="1091944" y="2027338"/>
              <a:ext cx="809838" cy="307777"/>
            </a:xfrm>
            <a:prstGeom prst="rect">
              <a:avLst/>
            </a:prstGeom>
            <a:noFill/>
          </p:spPr>
          <p:txBody>
            <a:bodyPr wrap="none" rtlCol="0">
              <a:spAutoFit/>
            </a:bodyPr>
            <a:lstStyle/>
            <a:p>
              <a:pPr algn="ctr"/>
              <a:r>
                <a:rPr lang="en-US" altLang="zh-CN" sz="1400" dirty="0"/>
                <a:t>Story 8</a:t>
              </a:r>
              <a:endParaRPr lang="zh-CN" altLang="en-US" sz="1400" dirty="0"/>
            </a:p>
          </p:txBody>
        </p:sp>
      </p:grpSp>
    </p:spTree>
    <p:extLst>
      <p:ext uri="{BB962C8B-B14F-4D97-AF65-F5344CB8AC3E}">
        <p14:creationId xmlns:p14="http://schemas.microsoft.com/office/powerpoint/2010/main" val="107720587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A7422-5234-E5C9-6C3E-4A777CE38DC8}"/>
            </a:ext>
          </a:extLst>
        </p:cNvPr>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860443ED-6B36-99A1-79E2-003907022A5F}"/>
              </a:ext>
            </a:extLst>
          </p:cNvPr>
          <p:cNvGraphicFramePr>
            <a:graphicFrameLocks noGrp="1"/>
          </p:cNvGraphicFramePr>
          <p:nvPr>
            <p:extLst>
              <p:ext uri="{D42A27DB-BD31-4B8C-83A1-F6EECF244321}">
                <p14:modId xmlns:p14="http://schemas.microsoft.com/office/powerpoint/2010/main" val="3286368575"/>
              </p:ext>
            </p:extLst>
          </p:nvPr>
        </p:nvGraphicFramePr>
        <p:xfrm>
          <a:off x="2856000" y="2173200"/>
          <a:ext cx="7560000" cy="3352800"/>
        </p:xfrm>
        <a:graphic>
          <a:graphicData uri="http://schemas.openxmlformats.org/drawingml/2006/table">
            <a:tbl>
              <a:tblPr/>
              <a:tblGrid>
                <a:gridCol w="1080000">
                  <a:extLst>
                    <a:ext uri="{9D8B030D-6E8A-4147-A177-3AD203B41FA5}">
                      <a16:colId xmlns:a16="http://schemas.microsoft.com/office/drawing/2014/main" val="3227890518"/>
                    </a:ext>
                  </a:extLst>
                </a:gridCol>
                <a:gridCol w="1080000">
                  <a:extLst>
                    <a:ext uri="{9D8B030D-6E8A-4147-A177-3AD203B41FA5}">
                      <a16:colId xmlns:a16="http://schemas.microsoft.com/office/drawing/2014/main" val="1620190121"/>
                    </a:ext>
                  </a:extLst>
                </a:gridCol>
                <a:gridCol w="1080000">
                  <a:extLst>
                    <a:ext uri="{9D8B030D-6E8A-4147-A177-3AD203B41FA5}">
                      <a16:colId xmlns:a16="http://schemas.microsoft.com/office/drawing/2014/main" val="387530637"/>
                    </a:ext>
                  </a:extLst>
                </a:gridCol>
                <a:gridCol w="1080000">
                  <a:extLst>
                    <a:ext uri="{9D8B030D-6E8A-4147-A177-3AD203B41FA5}">
                      <a16:colId xmlns:a16="http://schemas.microsoft.com/office/drawing/2014/main" val="2446955010"/>
                    </a:ext>
                  </a:extLst>
                </a:gridCol>
                <a:gridCol w="1080000">
                  <a:extLst>
                    <a:ext uri="{9D8B030D-6E8A-4147-A177-3AD203B41FA5}">
                      <a16:colId xmlns:a16="http://schemas.microsoft.com/office/drawing/2014/main" val="1633442213"/>
                    </a:ext>
                  </a:extLst>
                </a:gridCol>
                <a:gridCol w="1080000">
                  <a:extLst>
                    <a:ext uri="{9D8B030D-6E8A-4147-A177-3AD203B41FA5}">
                      <a16:colId xmlns:a16="http://schemas.microsoft.com/office/drawing/2014/main" val="1071517291"/>
                    </a:ext>
                  </a:extLst>
                </a:gridCol>
                <a:gridCol w="1080000">
                  <a:extLst>
                    <a:ext uri="{9D8B030D-6E8A-4147-A177-3AD203B41FA5}">
                      <a16:colId xmlns:a16="http://schemas.microsoft.com/office/drawing/2014/main" val="4183402170"/>
                    </a:ext>
                  </a:extLst>
                </a:gridCol>
              </a:tblGrid>
              <a:tr h="201861">
                <a:tc gridSpan="7">
                  <a:txBody>
                    <a:bodyPr/>
                    <a:lstStyle/>
                    <a:p>
                      <a:pPr>
                        <a:buNone/>
                      </a:pPr>
                      <a:r>
                        <a:rPr lang="en-US" altLang="zh-CN" sz="1600" dirty="0"/>
                        <a:t>Step 3 </a:t>
                      </a:r>
                      <a:r>
                        <a:rPr lang="zh-CN" altLang="en-US" sz="1600" dirty="0"/>
                        <a:t>统计估算；每列的故事点</a:t>
                      </a:r>
                      <a:r>
                        <a:rPr lang="en-US" altLang="zh-CN" sz="1600" dirty="0"/>
                        <a:t>/</a:t>
                      </a:r>
                      <a:r>
                        <a:rPr lang="zh-CN" altLang="en-US" sz="1600" dirty="0"/>
                        <a:t>权值和个数相乘，最后相加</a:t>
                      </a:r>
                    </a:p>
                  </a:txBody>
                  <a:tcPr anchor="ctr">
                    <a:lnL>
                      <a:noFill/>
                    </a:lnL>
                    <a:lnR>
                      <a:noFill/>
                    </a:lnR>
                    <a:lnT>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buNone/>
                      </a:pPr>
                      <a:endParaRPr lang="zh-CN" altLang="en-US" sz="1600" dirty="0">
                        <a:solidFill>
                          <a:schemeClr val="bg1"/>
                        </a:solidFill>
                      </a:endParaRPr>
                    </a:p>
                  </a:txBody>
                  <a:tcPr anchor="ctr">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buNone/>
                      </a:pPr>
                      <a:endParaRPr lang="zh-CN" altLang="en-US" sz="1600" dirty="0">
                        <a:solidFill>
                          <a:schemeClr val="bg1"/>
                        </a:solidFill>
                      </a:endParaRPr>
                    </a:p>
                  </a:txBody>
                  <a:tcPr anchor="ctr">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buNone/>
                      </a:pPr>
                      <a:endParaRPr lang="zh-CN" altLang="en-US" sz="1600" dirty="0">
                        <a:solidFill>
                          <a:srgbClr val="FFFF00"/>
                        </a:solidFill>
                      </a:endParaRPr>
                    </a:p>
                  </a:txBody>
                  <a:tcPr anchor="ctr">
                    <a:lnL>
                      <a:noFill/>
                    </a:lnL>
                    <a:lnR>
                      <a:noFill/>
                    </a:lnR>
                    <a:lnT>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buNone/>
                      </a:pPr>
                      <a:endParaRPr lang="zh-CN" altLang="en-US" sz="1600" dirty="0">
                        <a:solidFill>
                          <a:srgbClr val="FFFF00"/>
                        </a:solidFill>
                      </a:endParaRPr>
                    </a:p>
                  </a:txBody>
                  <a:tcPr anchor="ctr">
                    <a:lnL>
                      <a:noFill/>
                    </a:lnL>
                    <a:lnR>
                      <a:noFill/>
                    </a:lnR>
                    <a:lnT>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buNone/>
                      </a:pPr>
                      <a:endParaRPr lang="zh-CN" altLang="en-US" sz="1600" dirty="0">
                        <a:solidFill>
                          <a:srgbClr val="FFFF00"/>
                        </a:solidFill>
                      </a:endParaRPr>
                    </a:p>
                  </a:txBody>
                  <a:tcPr anchor="ctr">
                    <a:lnL>
                      <a:noFill/>
                    </a:lnL>
                    <a:lnR>
                      <a:noFill/>
                    </a:lnR>
                    <a:lnT>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8335640"/>
                  </a:ext>
                </a:extLst>
              </a:tr>
              <a:tr h="201861">
                <a:tc gridSpan="7">
                  <a:txBody>
                    <a:bodyPr/>
                    <a:lstStyle/>
                    <a:p>
                      <a:pPr algn="ctr">
                        <a:buNone/>
                      </a:pPr>
                      <a:endParaRPr lang="zh-CN" altLang="en-US" sz="1600" dirty="0"/>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a:noFill/>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a:noFill/>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a:noFill/>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a:noFill/>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a:noFill/>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9894281"/>
                  </a:ext>
                </a:extLst>
              </a:tr>
              <a:tr h="183510">
                <a:tc>
                  <a:txBody>
                    <a:bodyPr/>
                    <a:lstStyle/>
                    <a:p>
                      <a:pPr algn="ctr">
                        <a:buNone/>
                      </a:pPr>
                      <a:r>
                        <a:rPr lang="en-US" altLang="zh-CN" sz="1600" dirty="0">
                          <a:solidFill>
                            <a:schemeClr val="bg1"/>
                          </a:solidFill>
                        </a:rPr>
                        <a:t>XS</a:t>
                      </a:r>
                      <a:endParaRPr lang="en-US" sz="1600" dirty="0">
                        <a:solidFill>
                          <a:schemeClr val="bg1"/>
                        </a:solidFill>
                      </a:endParaRP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00B0F0"/>
                    </a:solidFill>
                  </a:tcPr>
                </a:tc>
                <a:tc>
                  <a:txBody>
                    <a:bodyPr/>
                    <a:lstStyle/>
                    <a:p>
                      <a:pPr algn="ctr">
                        <a:buNone/>
                      </a:pPr>
                      <a:r>
                        <a:rPr lang="en-US" sz="1600" dirty="0">
                          <a:solidFill>
                            <a:schemeClr val="bg1"/>
                          </a:solidFill>
                        </a:rPr>
                        <a:t>S</a:t>
                      </a:r>
                    </a:p>
                  </a:txBody>
                  <a:tcPr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00B0F0"/>
                    </a:solidFill>
                  </a:tcPr>
                </a:tc>
                <a:tc>
                  <a:txBody>
                    <a:bodyPr/>
                    <a:lstStyle/>
                    <a:p>
                      <a:pPr algn="ctr">
                        <a:buNone/>
                      </a:pPr>
                      <a:r>
                        <a:rPr lang="en-US" altLang="zh-CN" sz="1600" dirty="0">
                          <a:solidFill>
                            <a:schemeClr val="bg1"/>
                          </a:solidFill>
                        </a:rPr>
                        <a:t>M</a:t>
                      </a:r>
                      <a:endParaRPr lang="zh-CN" altLang="en-US" sz="1600" dirty="0">
                        <a:solidFill>
                          <a:schemeClr val="bg1"/>
                        </a:solidFill>
                      </a:endParaRPr>
                    </a:p>
                  </a:txBody>
                  <a:tcPr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00B0F0"/>
                    </a:solidFill>
                  </a:tcPr>
                </a:tc>
                <a:tc>
                  <a:txBody>
                    <a:bodyPr/>
                    <a:lstStyle/>
                    <a:p>
                      <a:pPr algn="ctr">
                        <a:buNone/>
                      </a:pPr>
                      <a:r>
                        <a:rPr lang="en-US" altLang="zh-CN" sz="1600" dirty="0">
                          <a:solidFill>
                            <a:schemeClr val="bg1"/>
                          </a:solidFill>
                        </a:rPr>
                        <a:t>L</a:t>
                      </a:r>
                    </a:p>
                  </a:txBody>
                  <a:tcPr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00B0F0"/>
                    </a:solidFill>
                  </a:tcPr>
                </a:tc>
                <a:tc>
                  <a:txBody>
                    <a:bodyPr/>
                    <a:lstStyle/>
                    <a:p>
                      <a:pPr algn="ctr">
                        <a:buNone/>
                      </a:pPr>
                      <a:r>
                        <a:rPr lang="en-US" altLang="zh-CN" sz="1600" dirty="0">
                          <a:solidFill>
                            <a:schemeClr val="bg1"/>
                          </a:solidFill>
                        </a:rPr>
                        <a:t>XL</a:t>
                      </a:r>
                    </a:p>
                  </a:txBody>
                  <a:tcPr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00B0F0"/>
                    </a:solidFill>
                  </a:tcPr>
                </a:tc>
                <a:tc>
                  <a:txBody>
                    <a:bodyPr/>
                    <a:lstStyle/>
                    <a:p>
                      <a:pPr algn="ctr">
                        <a:buNone/>
                      </a:pPr>
                      <a:r>
                        <a:rPr lang="en-US" altLang="zh-CN" sz="1600" dirty="0">
                          <a:solidFill>
                            <a:schemeClr val="bg1"/>
                          </a:solidFill>
                        </a:rPr>
                        <a:t>XXL</a:t>
                      </a:r>
                    </a:p>
                  </a:txBody>
                  <a:tcPr anchor="ctr">
                    <a:lnL>
                      <a:noFill/>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00B0F0"/>
                    </a:solidFill>
                  </a:tcPr>
                </a:tc>
                <a:tc rowSpan="2">
                  <a:txBody>
                    <a:bodyPr/>
                    <a:lstStyle/>
                    <a:p>
                      <a:pPr algn="ctr">
                        <a:buNone/>
                      </a:pPr>
                      <a:r>
                        <a:rPr lang="en-US" altLang="zh-CN" sz="1600" dirty="0">
                          <a:solidFill>
                            <a:schemeClr val="bg1"/>
                          </a:solidFill>
                        </a:rPr>
                        <a:t>???</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708258967"/>
                  </a:ext>
                </a:extLst>
              </a:tr>
              <a:tr h="183510">
                <a:tc>
                  <a:txBody>
                    <a:bodyPr/>
                    <a:lstStyle/>
                    <a:p>
                      <a:pPr algn="ctr">
                        <a:buNone/>
                      </a:pPr>
                      <a:r>
                        <a:rPr lang="en-US" sz="1600" dirty="0">
                          <a:solidFill>
                            <a:schemeClr val="bg1"/>
                          </a:solidFill>
                        </a:rPr>
                        <a:t>1</a:t>
                      </a:r>
                    </a:p>
                  </a:txBody>
                  <a:tcPr anchor="ctr">
                    <a:lnL w="12700" cap="flat" cmpd="sng" algn="ctr">
                      <a:solidFill>
                        <a:schemeClr val="tx1"/>
                      </a:solid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00B0F0"/>
                    </a:solidFill>
                  </a:tcPr>
                </a:tc>
                <a:tc>
                  <a:txBody>
                    <a:bodyPr/>
                    <a:lstStyle/>
                    <a:p>
                      <a:pPr algn="ctr">
                        <a:buNone/>
                      </a:pPr>
                      <a:r>
                        <a:rPr lang="en-US" sz="1600" dirty="0">
                          <a:solidFill>
                            <a:schemeClr val="bg1"/>
                          </a:solidFill>
                        </a:rPr>
                        <a:t>2</a:t>
                      </a: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00B0F0"/>
                    </a:solidFill>
                  </a:tcPr>
                </a:tc>
                <a:tc>
                  <a:txBody>
                    <a:bodyPr/>
                    <a:lstStyle/>
                    <a:p>
                      <a:pPr algn="ctr">
                        <a:buNone/>
                      </a:pPr>
                      <a:r>
                        <a:rPr lang="en-US" altLang="zh-CN" sz="1600" dirty="0">
                          <a:solidFill>
                            <a:schemeClr val="bg1"/>
                          </a:solidFill>
                        </a:rPr>
                        <a:t>3</a:t>
                      </a:r>
                      <a:endParaRPr lang="zh-CN" altLang="en-US" sz="1600" dirty="0">
                        <a:solidFill>
                          <a:schemeClr val="bg1"/>
                        </a:solidFill>
                      </a:endParaRP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00B0F0"/>
                    </a:solidFill>
                  </a:tcPr>
                </a:tc>
                <a:tc>
                  <a:txBody>
                    <a:bodyPr/>
                    <a:lstStyle/>
                    <a:p>
                      <a:pPr algn="ctr">
                        <a:buNone/>
                      </a:pPr>
                      <a:r>
                        <a:rPr lang="en-US" altLang="zh-CN" sz="1600" dirty="0">
                          <a:solidFill>
                            <a:schemeClr val="bg1"/>
                          </a:solidFill>
                        </a:rPr>
                        <a:t>5</a:t>
                      </a: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00B0F0"/>
                    </a:solidFill>
                  </a:tcPr>
                </a:tc>
                <a:tc>
                  <a:txBody>
                    <a:bodyPr/>
                    <a:lstStyle/>
                    <a:p>
                      <a:pPr algn="ctr">
                        <a:buNone/>
                      </a:pPr>
                      <a:r>
                        <a:rPr lang="en-US" altLang="zh-CN" sz="1600" dirty="0">
                          <a:solidFill>
                            <a:schemeClr val="bg1"/>
                          </a:solidFill>
                        </a:rPr>
                        <a:t>8</a:t>
                      </a: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00B0F0"/>
                    </a:solidFill>
                  </a:tcPr>
                </a:tc>
                <a:tc>
                  <a:txBody>
                    <a:bodyPr/>
                    <a:lstStyle/>
                    <a:p>
                      <a:pPr algn="ctr">
                        <a:buNone/>
                      </a:pPr>
                      <a:r>
                        <a:rPr lang="en-US" altLang="zh-CN" sz="1600" dirty="0">
                          <a:solidFill>
                            <a:schemeClr val="bg1"/>
                          </a:solidFill>
                        </a:rPr>
                        <a:t>13</a:t>
                      </a:r>
                    </a:p>
                  </a:txBody>
                  <a:tcPr anchor="ctr">
                    <a:lnL>
                      <a:noFill/>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00B0F0"/>
                    </a:solidFill>
                  </a:tcPr>
                </a:tc>
                <a:tc vMerge="1">
                  <a:txBody>
                    <a:bodyPr/>
                    <a:lstStyle/>
                    <a:p>
                      <a:pPr algn="ctr">
                        <a:buNone/>
                      </a:pPr>
                      <a:endParaRPr lang="en-US" altLang="zh-CN" sz="1600" dirty="0">
                        <a:solidFill>
                          <a:schemeClr val="bg1"/>
                        </a:solidFill>
                      </a:endParaRPr>
                    </a:p>
                  </a:txBody>
                  <a:tcPr anchor="ctr">
                    <a:lnL>
                      <a:noFill/>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218416589"/>
                  </a:ext>
                </a:extLst>
              </a:tr>
              <a:tr h="20186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p>
                  </a:txBody>
                  <a:tcPr anchor="ctr">
                    <a:lnL w="12700" cap="flat" cmpd="sng" algn="ctr">
                      <a:solidFill>
                        <a:schemeClr val="tx1"/>
                      </a:solid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sz="1600" dirty="0"/>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136791799"/>
                  </a:ext>
                </a:extLst>
              </a:tr>
              <a:tr h="201861">
                <a:tc>
                  <a:txBody>
                    <a:bodyPr/>
                    <a:lstStyle/>
                    <a:p>
                      <a:pPr algn="ctr">
                        <a:buNone/>
                      </a:pPr>
                      <a:endParaRPr lang="en-US" sz="1600" dirty="0"/>
                    </a:p>
                  </a:txBody>
                  <a:tcPr anchor="ctr">
                    <a:lnL w="12700" cap="flat" cmpd="sng" algn="ctr">
                      <a:solidFill>
                        <a:schemeClr val="tx1"/>
                      </a:solid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sz="1600" dirty="0"/>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sz="1600" dirty="0"/>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289275656"/>
                  </a:ext>
                </a:extLst>
              </a:tr>
              <a:tr h="201861">
                <a:tc>
                  <a:txBody>
                    <a:bodyPr/>
                    <a:lstStyle/>
                    <a:p>
                      <a:pPr algn="ctr">
                        <a:buNone/>
                      </a:pPr>
                      <a:endParaRPr lang="en-US" sz="1600" dirty="0"/>
                    </a:p>
                  </a:txBody>
                  <a:tcPr anchor="ctr">
                    <a:lnL w="12700" cap="flat" cmpd="sng" algn="ctr">
                      <a:solidFill>
                        <a:schemeClr val="tx1"/>
                      </a:solidFill>
                      <a:prstDash val="solid"/>
                      <a:round/>
                      <a:headEnd type="none" w="med" len="med"/>
                      <a:tailEnd type="none" w="med" len="med"/>
                    </a:lnL>
                    <a:lnR>
                      <a:noFill/>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sz="1600" dirty="0"/>
                    </a:p>
                  </a:txBody>
                  <a:tcPr anchor="ctr">
                    <a:lnL>
                      <a:noFill/>
                    </a:lnL>
                    <a:lnR>
                      <a:noFill/>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zh-CN" altLang="en-US" sz="1600" dirty="0"/>
                    </a:p>
                  </a:txBody>
                  <a:tcPr anchor="ctr">
                    <a:lnL>
                      <a:noFill/>
                    </a:lnL>
                    <a:lnR>
                      <a:noFill/>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a:noFill/>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a:noFill/>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p>
                  </a:txBody>
                  <a:tcPr anchor="ctr">
                    <a:lnL>
                      <a:noFill/>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47363238"/>
                  </a:ext>
                </a:extLst>
              </a:tr>
              <a:tr h="201861">
                <a:tc>
                  <a:txBody>
                    <a:bodyPr/>
                    <a:lstStyle/>
                    <a:p>
                      <a:pPr algn="ctr">
                        <a:buNone/>
                      </a:pPr>
                      <a:endParaRPr lang="en-US" sz="1600" dirty="0"/>
                    </a:p>
                  </a:txBody>
                  <a:tcPr anchor="ctr">
                    <a:lnL w="1270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sz="1600" dirty="0"/>
                    </a:p>
                  </a:txBody>
                  <a:tcPr anchor="ctr">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zh-CN" altLang="en-US" sz="1600" dirty="0"/>
                    </a:p>
                  </a:txBody>
                  <a:tcPr anchor="ctr">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p>
                  </a:txBody>
                  <a:tcPr anchor="ctr">
                    <a:lnL>
                      <a:noFill/>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3718338"/>
                  </a:ext>
                </a:extLst>
              </a:tr>
              <a:tr h="201861">
                <a:tc>
                  <a:txBody>
                    <a:bodyPr/>
                    <a:lstStyle/>
                    <a:p>
                      <a:pPr algn="ctr">
                        <a:buNone/>
                      </a:pPr>
                      <a:endParaRPr lang="en-US" sz="1600" dirty="0"/>
                    </a:p>
                  </a:txBody>
                  <a:tcPr anchor="ctr">
                    <a:lnL w="1270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sz="1600" dirty="0"/>
                    </a:p>
                  </a:txBody>
                  <a:tcPr anchor="ctr">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zh-CN" altLang="en-US" sz="1600" dirty="0"/>
                    </a:p>
                  </a:txBody>
                  <a:tcPr anchor="ctr">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p>
                  </a:txBody>
                  <a:tcPr anchor="ctr">
                    <a:lnL>
                      <a:noFill/>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14750331"/>
                  </a:ext>
                </a:extLst>
              </a:tr>
              <a:tr h="201861">
                <a:tc>
                  <a:txBody>
                    <a:bodyPr/>
                    <a:lstStyle/>
                    <a:p>
                      <a:pPr algn="ctr">
                        <a:buNone/>
                      </a:pPr>
                      <a:r>
                        <a:rPr lang="en-US" sz="1600" dirty="0"/>
                        <a:t>1</a:t>
                      </a:r>
                      <a:r>
                        <a:rPr lang="en-US" altLang="zh-CN" sz="1600" dirty="0"/>
                        <a:t>×1=1</a:t>
                      </a:r>
                      <a:endParaRPr lang="en-US" sz="1600" dirty="0"/>
                    </a:p>
                  </a:txBody>
                  <a:tcPr anchor="ctr">
                    <a:lnL w="1270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600" dirty="0"/>
                        <a:t>2</a:t>
                      </a:r>
                      <a:r>
                        <a:rPr lang="en-US" altLang="zh-CN" sz="1600" dirty="0"/>
                        <a:t>×1=2</a:t>
                      </a:r>
                      <a:endParaRPr lang="en-US" sz="1600" dirty="0"/>
                    </a:p>
                  </a:txBody>
                  <a:tcPr anchor="ctr">
                    <a:lnL>
                      <a:noFill/>
                    </a:lnL>
                    <a:lnR>
                      <a:noFill/>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altLang="zh-CN" sz="1600" dirty="0"/>
                        <a:t>3×2=6</a:t>
                      </a:r>
                      <a:endParaRPr lang="zh-CN" altLang="en-US" sz="1600" dirty="0"/>
                    </a:p>
                  </a:txBody>
                  <a:tcPr anchor="ctr">
                    <a:lnL>
                      <a:noFill/>
                    </a:lnL>
                    <a:lnR>
                      <a:noFill/>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altLang="zh-CN" sz="1600" dirty="0"/>
                        <a:t>5×1=5</a:t>
                      </a:r>
                    </a:p>
                  </a:txBody>
                  <a:tcPr anchor="ctr">
                    <a:lnL>
                      <a:noFill/>
                    </a:lnL>
                    <a:lnR>
                      <a:noFill/>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altLang="zh-CN" sz="1600" dirty="0"/>
                        <a:t>8×2=16</a:t>
                      </a:r>
                    </a:p>
                  </a:txBody>
                  <a:tcPr anchor="ctr">
                    <a:lnL>
                      <a:noFill/>
                    </a:lnL>
                    <a:lnR>
                      <a:noFill/>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a:t>13×3=39</a:t>
                      </a:r>
                      <a:endParaRPr lang="zh-CN" altLang="en-US" sz="1600" dirty="0"/>
                    </a:p>
                  </a:txBody>
                  <a:tcPr anchor="ctr">
                    <a:lnL>
                      <a:noFill/>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21633680"/>
                  </a:ext>
                </a:extLst>
              </a:tr>
            </a:tbl>
          </a:graphicData>
        </a:graphic>
      </p:graphicFrame>
      <p:sp>
        <p:nvSpPr>
          <p:cNvPr id="13" name="文本框 12">
            <a:extLst>
              <a:ext uri="{FF2B5EF4-FFF2-40B4-BE49-F238E27FC236}">
                <a16:creationId xmlns:a16="http://schemas.microsoft.com/office/drawing/2014/main" id="{388A6219-426B-E18A-9654-D180C09960E2}"/>
              </a:ext>
            </a:extLst>
          </p:cNvPr>
          <p:cNvSpPr txBox="1"/>
          <p:nvPr/>
        </p:nvSpPr>
        <p:spPr>
          <a:xfrm>
            <a:off x="1534674" y="5126424"/>
            <a:ext cx="1167307" cy="338554"/>
          </a:xfrm>
          <a:prstGeom prst="rect">
            <a:avLst/>
          </a:prstGeom>
          <a:noFill/>
        </p:spPr>
        <p:txBody>
          <a:bodyPr wrap="none" rtlCol="0">
            <a:spAutoFit/>
          </a:bodyPr>
          <a:lstStyle/>
          <a:p>
            <a:r>
              <a:rPr lang="en-US" altLang="zh-CN" sz="1600" dirty="0"/>
              <a:t>Total = 69</a:t>
            </a:r>
            <a:endParaRPr lang="zh-CN" altLang="en-US" sz="1600" dirty="0"/>
          </a:p>
        </p:txBody>
      </p:sp>
      <p:grpSp>
        <p:nvGrpSpPr>
          <p:cNvPr id="44" name="组合 43">
            <a:extLst>
              <a:ext uri="{FF2B5EF4-FFF2-40B4-BE49-F238E27FC236}">
                <a16:creationId xmlns:a16="http://schemas.microsoft.com/office/drawing/2014/main" id="{30204CC5-9606-F1DF-0CE4-9EDEB3DBFB1D}"/>
              </a:ext>
            </a:extLst>
          </p:cNvPr>
          <p:cNvGrpSpPr/>
          <p:nvPr/>
        </p:nvGrpSpPr>
        <p:grpSpPr>
          <a:xfrm>
            <a:off x="9498634" y="3599639"/>
            <a:ext cx="834005" cy="552450"/>
            <a:chOff x="1094348" y="1905001"/>
            <a:chExt cx="834005" cy="552450"/>
          </a:xfrm>
        </p:grpSpPr>
        <p:pic>
          <p:nvPicPr>
            <p:cNvPr id="45" name="Picture 4" descr="儿童卡通便利贴标签贴纸记事留言纸条PNG免抠设计元素PS装饰素材">
              <a:extLst>
                <a:ext uri="{FF2B5EF4-FFF2-40B4-BE49-F238E27FC236}">
                  <a16:creationId xmlns:a16="http://schemas.microsoft.com/office/drawing/2014/main" id="{C88E75DD-0A5D-DFA0-36F6-3390CE9DBB5E}"/>
                </a:ext>
              </a:extLst>
            </p:cNvPr>
            <p:cNvPicPr>
              <a:picLocks noChangeAspect="1" noChangeArrowheads="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46" name="文本框 45">
              <a:extLst>
                <a:ext uri="{FF2B5EF4-FFF2-40B4-BE49-F238E27FC236}">
                  <a16:creationId xmlns:a16="http://schemas.microsoft.com/office/drawing/2014/main" id="{3B5B47D9-96C1-65B4-8889-E8814D82E536}"/>
                </a:ext>
              </a:extLst>
            </p:cNvPr>
            <p:cNvSpPr txBox="1"/>
            <p:nvPr/>
          </p:nvSpPr>
          <p:spPr>
            <a:xfrm>
              <a:off x="1094348" y="2027338"/>
              <a:ext cx="805029" cy="307777"/>
            </a:xfrm>
            <a:prstGeom prst="rect">
              <a:avLst/>
            </a:prstGeom>
            <a:noFill/>
          </p:spPr>
          <p:txBody>
            <a:bodyPr wrap="none" rtlCol="0">
              <a:spAutoFit/>
            </a:bodyPr>
            <a:lstStyle/>
            <a:p>
              <a:pPr algn="ctr"/>
              <a:r>
                <a:rPr lang="en-US" altLang="zh-CN" sz="1400" dirty="0"/>
                <a:t>Story 9</a:t>
              </a:r>
              <a:endParaRPr lang="zh-CN" altLang="en-US" sz="1400" dirty="0"/>
            </a:p>
          </p:txBody>
        </p:sp>
      </p:grpSp>
      <p:grpSp>
        <p:nvGrpSpPr>
          <p:cNvPr id="47" name="组合 46">
            <a:extLst>
              <a:ext uri="{FF2B5EF4-FFF2-40B4-BE49-F238E27FC236}">
                <a16:creationId xmlns:a16="http://schemas.microsoft.com/office/drawing/2014/main" id="{54A1A7AA-E20C-936D-314C-2368DE035D51}"/>
              </a:ext>
            </a:extLst>
          </p:cNvPr>
          <p:cNvGrpSpPr/>
          <p:nvPr/>
        </p:nvGrpSpPr>
        <p:grpSpPr>
          <a:xfrm>
            <a:off x="2942841" y="3580958"/>
            <a:ext cx="858478" cy="552450"/>
            <a:chOff x="1069875" y="1905001"/>
            <a:chExt cx="858478" cy="552450"/>
          </a:xfrm>
        </p:grpSpPr>
        <p:pic>
          <p:nvPicPr>
            <p:cNvPr id="48" name="Picture 4" descr="儿童卡通便利贴标签贴纸记事留言纸条PNG免抠设计元素PS装饰素材">
              <a:extLst>
                <a:ext uri="{FF2B5EF4-FFF2-40B4-BE49-F238E27FC236}">
                  <a16:creationId xmlns:a16="http://schemas.microsoft.com/office/drawing/2014/main" id="{1F862383-0B13-D347-1721-C80FF488B1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49" name="文本框 48">
              <a:extLst>
                <a:ext uri="{FF2B5EF4-FFF2-40B4-BE49-F238E27FC236}">
                  <a16:creationId xmlns:a16="http://schemas.microsoft.com/office/drawing/2014/main" id="{C87B0937-D8EA-5C01-F351-7C73E36D13E0}"/>
                </a:ext>
              </a:extLst>
            </p:cNvPr>
            <p:cNvSpPr txBox="1"/>
            <p:nvPr/>
          </p:nvSpPr>
          <p:spPr>
            <a:xfrm>
              <a:off x="1069875" y="2027338"/>
              <a:ext cx="824265" cy="307777"/>
            </a:xfrm>
            <a:prstGeom prst="rect">
              <a:avLst/>
            </a:prstGeom>
            <a:noFill/>
          </p:spPr>
          <p:txBody>
            <a:bodyPr wrap="none" rtlCol="0">
              <a:spAutoFit/>
            </a:bodyPr>
            <a:lstStyle/>
            <a:p>
              <a:pPr algn="l"/>
              <a:r>
                <a:rPr lang="en-US" altLang="zh-CN" sz="1400" dirty="0"/>
                <a:t>Story 11</a:t>
              </a:r>
              <a:endParaRPr lang="zh-CN" altLang="en-US" sz="1400" dirty="0"/>
            </a:p>
          </p:txBody>
        </p:sp>
      </p:grpSp>
      <p:grpSp>
        <p:nvGrpSpPr>
          <p:cNvPr id="50" name="组合 49">
            <a:extLst>
              <a:ext uri="{FF2B5EF4-FFF2-40B4-BE49-F238E27FC236}">
                <a16:creationId xmlns:a16="http://schemas.microsoft.com/office/drawing/2014/main" id="{CFEBA70B-6C6B-5590-EEF0-E0F0A1BE1656}"/>
              </a:ext>
            </a:extLst>
          </p:cNvPr>
          <p:cNvGrpSpPr/>
          <p:nvPr/>
        </p:nvGrpSpPr>
        <p:grpSpPr>
          <a:xfrm>
            <a:off x="4053887" y="3580958"/>
            <a:ext cx="838814" cy="552450"/>
            <a:chOff x="1089539" y="1905001"/>
            <a:chExt cx="838814" cy="552450"/>
          </a:xfrm>
        </p:grpSpPr>
        <p:pic>
          <p:nvPicPr>
            <p:cNvPr id="51" name="Picture 4" descr="儿童卡通便利贴标签贴纸记事留言纸条PNG免抠设计元素PS装饰素材">
              <a:extLst>
                <a:ext uri="{FF2B5EF4-FFF2-40B4-BE49-F238E27FC236}">
                  <a16:creationId xmlns:a16="http://schemas.microsoft.com/office/drawing/2014/main" id="{C4F29019-1CB5-CB9B-CF11-14D7F5753C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52" name="文本框 51">
              <a:extLst>
                <a:ext uri="{FF2B5EF4-FFF2-40B4-BE49-F238E27FC236}">
                  <a16:creationId xmlns:a16="http://schemas.microsoft.com/office/drawing/2014/main" id="{B67A1F8E-AA35-86AF-7E0E-C49ABBA2F048}"/>
                </a:ext>
              </a:extLst>
            </p:cNvPr>
            <p:cNvSpPr txBox="1"/>
            <p:nvPr/>
          </p:nvSpPr>
          <p:spPr>
            <a:xfrm>
              <a:off x="1089539" y="2027338"/>
              <a:ext cx="814647" cy="307777"/>
            </a:xfrm>
            <a:prstGeom prst="rect">
              <a:avLst/>
            </a:prstGeom>
            <a:noFill/>
          </p:spPr>
          <p:txBody>
            <a:bodyPr wrap="none" rtlCol="0">
              <a:spAutoFit/>
            </a:bodyPr>
            <a:lstStyle/>
            <a:p>
              <a:pPr algn="ctr"/>
              <a:r>
                <a:rPr lang="en-US" altLang="zh-CN" sz="1400" dirty="0"/>
                <a:t>Story 4</a:t>
              </a:r>
              <a:endParaRPr lang="zh-CN" altLang="en-US" sz="1400" dirty="0"/>
            </a:p>
          </p:txBody>
        </p:sp>
      </p:grpSp>
      <p:grpSp>
        <p:nvGrpSpPr>
          <p:cNvPr id="53" name="组合 52">
            <a:extLst>
              <a:ext uri="{FF2B5EF4-FFF2-40B4-BE49-F238E27FC236}">
                <a16:creationId xmlns:a16="http://schemas.microsoft.com/office/drawing/2014/main" id="{1C7C4C40-52C1-FB72-18BE-10871F526CDD}"/>
              </a:ext>
            </a:extLst>
          </p:cNvPr>
          <p:cNvGrpSpPr/>
          <p:nvPr/>
        </p:nvGrpSpPr>
        <p:grpSpPr>
          <a:xfrm>
            <a:off x="5194179" y="3541630"/>
            <a:ext cx="830799" cy="552450"/>
            <a:chOff x="1097554" y="1905001"/>
            <a:chExt cx="830799" cy="552450"/>
          </a:xfrm>
        </p:grpSpPr>
        <p:pic>
          <p:nvPicPr>
            <p:cNvPr id="54" name="Picture 4" descr="儿童卡通便利贴标签贴纸记事留言纸条PNG免抠设计元素PS装饰素材">
              <a:extLst>
                <a:ext uri="{FF2B5EF4-FFF2-40B4-BE49-F238E27FC236}">
                  <a16:creationId xmlns:a16="http://schemas.microsoft.com/office/drawing/2014/main" id="{0E321DBD-307D-226E-6693-339B9D726D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55" name="文本框 54">
              <a:extLst>
                <a:ext uri="{FF2B5EF4-FFF2-40B4-BE49-F238E27FC236}">
                  <a16:creationId xmlns:a16="http://schemas.microsoft.com/office/drawing/2014/main" id="{EA1D28F0-637A-DA42-6F47-DE6CFA235CA4}"/>
                </a:ext>
              </a:extLst>
            </p:cNvPr>
            <p:cNvSpPr txBox="1"/>
            <p:nvPr/>
          </p:nvSpPr>
          <p:spPr>
            <a:xfrm>
              <a:off x="1097554" y="2027338"/>
              <a:ext cx="798617" cy="307777"/>
            </a:xfrm>
            <a:prstGeom prst="rect">
              <a:avLst/>
            </a:prstGeom>
            <a:noFill/>
          </p:spPr>
          <p:txBody>
            <a:bodyPr wrap="none" rtlCol="0">
              <a:spAutoFit/>
            </a:bodyPr>
            <a:lstStyle/>
            <a:p>
              <a:pPr algn="ctr"/>
              <a:r>
                <a:rPr lang="en-US" altLang="zh-CN" sz="1400" dirty="0"/>
                <a:t>Story 2</a:t>
              </a:r>
              <a:endParaRPr lang="zh-CN" altLang="en-US" sz="1400" dirty="0"/>
            </a:p>
          </p:txBody>
        </p:sp>
      </p:grpSp>
      <p:grpSp>
        <p:nvGrpSpPr>
          <p:cNvPr id="56" name="组合 55">
            <a:extLst>
              <a:ext uri="{FF2B5EF4-FFF2-40B4-BE49-F238E27FC236}">
                <a16:creationId xmlns:a16="http://schemas.microsoft.com/office/drawing/2014/main" id="{4EDE4049-2980-4AE0-5928-5F02E94823B7}"/>
              </a:ext>
            </a:extLst>
          </p:cNvPr>
          <p:cNvGrpSpPr/>
          <p:nvPr/>
        </p:nvGrpSpPr>
        <p:grpSpPr>
          <a:xfrm>
            <a:off x="5212240" y="4006735"/>
            <a:ext cx="832402" cy="552450"/>
            <a:chOff x="1095951" y="1905001"/>
            <a:chExt cx="832402" cy="552450"/>
          </a:xfrm>
        </p:grpSpPr>
        <p:pic>
          <p:nvPicPr>
            <p:cNvPr id="57" name="Picture 4" descr="儿童卡通便利贴标签贴纸记事留言纸条PNG免抠设计元素PS装饰素材">
              <a:extLst>
                <a:ext uri="{FF2B5EF4-FFF2-40B4-BE49-F238E27FC236}">
                  <a16:creationId xmlns:a16="http://schemas.microsoft.com/office/drawing/2014/main" id="{27881BB7-7D32-9D65-3290-0B23CDC8ED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58" name="文本框 57">
              <a:extLst>
                <a:ext uri="{FF2B5EF4-FFF2-40B4-BE49-F238E27FC236}">
                  <a16:creationId xmlns:a16="http://schemas.microsoft.com/office/drawing/2014/main" id="{071783B3-5CBF-A4E2-53A3-DEA47672B4D3}"/>
                </a:ext>
              </a:extLst>
            </p:cNvPr>
            <p:cNvSpPr txBox="1"/>
            <p:nvPr/>
          </p:nvSpPr>
          <p:spPr>
            <a:xfrm>
              <a:off x="1095951" y="2027338"/>
              <a:ext cx="801823" cy="307777"/>
            </a:xfrm>
            <a:prstGeom prst="rect">
              <a:avLst/>
            </a:prstGeom>
            <a:noFill/>
          </p:spPr>
          <p:txBody>
            <a:bodyPr wrap="none" rtlCol="0">
              <a:spAutoFit/>
            </a:bodyPr>
            <a:lstStyle/>
            <a:p>
              <a:pPr algn="ctr"/>
              <a:r>
                <a:rPr lang="en-US" altLang="zh-CN" sz="1400" dirty="0"/>
                <a:t>Story 7</a:t>
              </a:r>
              <a:endParaRPr lang="zh-CN" altLang="en-US" sz="1400" dirty="0"/>
            </a:p>
          </p:txBody>
        </p:sp>
      </p:grpSp>
      <p:grpSp>
        <p:nvGrpSpPr>
          <p:cNvPr id="59" name="组合 58">
            <a:extLst>
              <a:ext uri="{FF2B5EF4-FFF2-40B4-BE49-F238E27FC236}">
                <a16:creationId xmlns:a16="http://schemas.microsoft.com/office/drawing/2014/main" id="{C946644D-7812-32A6-785E-DC6C1461A164}"/>
              </a:ext>
            </a:extLst>
          </p:cNvPr>
          <p:cNvGrpSpPr/>
          <p:nvPr/>
        </p:nvGrpSpPr>
        <p:grpSpPr>
          <a:xfrm>
            <a:off x="6183339" y="3580958"/>
            <a:ext cx="878767" cy="552450"/>
            <a:chOff x="1057479" y="1905001"/>
            <a:chExt cx="878767" cy="552450"/>
          </a:xfrm>
        </p:grpSpPr>
        <p:pic>
          <p:nvPicPr>
            <p:cNvPr id="60" name="Picture 4" descr="儿童卡通便利贴标签贴纸记事留言纸条PNG免抠设计元素PS装饰素材">
              <a:extLst>
                <a:ext uri="{FF2B5EF4-FFF2-40B4-BE49-F238E27FC236}">
                  <a16:creationId xmlns:a16="http://schemas.microsoft.com/office/drawing/2014/main" id="{A02AF999-B620-40D7-5BFC-129C639BAF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61" name="文本框 60">
              <a:extLst>
                <a:ext uri="{FF2B5EF4-FFF2-40B4-BE49-F238E27FC236}">
                  <a16:creationId xmlns:a16="http://schemas.microsoft.com/office/drawing/2014/main" id="{B0DDB982-59FB-BC59-A1FF-1E466F304ED6}"/>
                </a:ext>
              </a:extLst>
            </p:cNvPr>
            <p:cNvSpPr txBox="1"/>
            <p:nvPr/>
          </p:nvSpPr>
          <p:spPr>
            <a:xfrm>
              <a:off x="1057479" y="2027338"/>
              <a:ext cx="878767" cy="307777"/>
            </a:xfrm>
            <a:prstGeom prst="rect">
              <a:avLst/>
            </a:prstGeom>
            <a:noFill/>
          </p:spPr>
          <p:txBody>
            <a:bodyPr wrap="none" rtlCol="0">
              <a:spAutoFit/>
            </a:bodyPr>
            <a:lstStyle/>
            <a:p>
              <a:pPr algn="ctr"/>
              <a:r>
                <a:rPr lang="en-US" altLang="zh-CN" sz="1400" dirty="0"/>
                <a:t>Story 10</a:t>
              </a:r>
              <a:endParaRPr lang="zh-CN" altLang="en-US" sz="1400" dirty="0"/>
            </a:p>
          </p:txBody>
        </p:sp>
      </p:grpSp>
      <p:grpSp>
        <p:nvGrpSpPr>
          <p:cNvPr id="62" name="组合 61">
            <a:extLst>
              <a:ext uri="{FF2B5EF4-FFF2-40B4-BE49-F238E27FC236}">
                <a16:creationId xmlns:a16="http://schemas.microsoft.com/office/drawing/2014/main" id="{442DDB91-E324-8C9F-F70D-A7D58F02D348}"/>
              </a:ext>
            </a:extLst>
          </p:cNvPr>
          <p:cNvGrpSpPr/>
          <p:nvPr/>
        </p:nvGrpSpPr>
        <p:grpSpPr>
          <a:xfrm>
            <a:off x="7391507" y="3541630"/>
            <a:ext cx="819150" cy="552450"/>
            <a:chOff x="1109203" y="1905001"/>
            <a:chExt cx="819150" cy="552450"/>
          </a:xfrm>
        </p:grpSpPr>
        <p:pic>
          <p:nvPicPr>
            <p:cNvPr id="63" name="Picture 4" descr="儿童卡通便利贴标签贴纸记事留言纸条PNG免抠设计元素PS装饰素材">
              <a:extLst>
                <a:ext uri="{FF2B5EF4-FFF2-40B4-BE49-F238E27FC236}">
                  <a16:creationId xmlns:a16="http://schemas.microsoft.com/office/drawing/2014/main" id="{1056CB72-28C1-AD1F-D58F-FBA7E2B7AB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64" name="文本框 63">
              <a:extLst>
                <a:ext uri="{FF2B5EF4-FFF2-40B4-BE49-F238E27FC236}">
                  <a16:creationId xmlns:a16="http://schemas.microsoft.com/office/drawing/2014/main" id="{7BC1A13E-91A7-EFF9-9AE7-20F4C9F1BB81}"/>
                </a:ext>
              </a:extLst>
            </p:cNvPr>
            <p:cNvSpPr txBox="1"/>
            <p:nvPr/>
          </p:nvSpPr>
          <p:spPr>
            <a:xfrm>
              <a:off x="1116791" y="2027338"/>
              <a:ext cx="760144" cy="307777"/>
            </a:xfrm>
            <a:prstGeom prst="rect">
              <a:avLst/>
            </a:prstGeom>
            <a:noFill/>
          </p:spPr>
          <p:txBody>
            <a:bodyPr wrap="none" rtlCol="0">
              <a:spAutoFit/>
            </a:bodyPr>
            <a:lstStyle/>
            <a:p>
              <a:pPr algn="ctr"/>
              <a:r>
                <a:rPr lang="en-US" altLang="zh-CN" sz="1400" dirty="0"/>
                <a:t>Story 1</a:t>
              </a:r>
              <a:endParaRPr lang="zh-CN" altLang="en-US" sz="1400" dirty="0"/>
            </a:p>
          </p:txBody>
        </p:sp>
      </p:grpSp>
      <p:grpSp>
        <p:nvGrpSpPr>
          <p:cNvPr id="65" name="组合 64">
            <a:extLst>
              <a:ext uri="{FF2B5EF4-FFF2-40B4-BE49-F238E27FC236}">
                <a16:creationId xmlns:a16="http://schemas.microsoft.com/office/drawing/2014/main" id="{7E437A4A-4F26-E231-DD27-B67A3A8AF439}"/>
              </a:ext>
            </a:extLst>
          </p:cNvPr>
          <p:cNvGrpSpPr/>
          <p:nvPr/>
        </p:nvGrpSpPr>
        <p:grpSpPr>
          <a:xfrm>
            <a:off x="7368577" y="4002397"/>
            <a:ext cx="829997" cy="552450"/>
            <a:chOff x="1098356" y="1905001"/>
            <a:chExt cx="829997" cy="552450"/>
          </a:xfrm>
        </p:grpSpPr>
        <p:pic>
          <p:nvPicPr>
            <p:cNvPr id="66" name="Picture 4" descr="儿童卡通便利贴标签贴纸记事留言纸条PNG免抠设计元素PS装饰素材">
              <a:extLst>
                <a:ext uri="{FF2B5EF4-FFF2-40B4-BE49-F238E27FC236}">
                  <a16:creationId xmlns:a16="http://schemas.microsoft.com/office/drawing/2014/main" id="{3D1173B8-1259-9AF4-81F3-FA0FAB1317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67" name="文本框 66">
              <a:extLst>
                <a:ext uri="{FF2B5EF4-FFF2-40B4-BE49-F238E27FC236}">
                  <a16:creationId xmlns:a16="http://schemas.microsoft.com/office/drawing/2014/main" id="{1DAB2B27-CACB-1FF1-48A8-44B0B6FE0AEC}"/>
                </a:ext>
              </a:extLst>
            </p:cNvPr>
            <p:cNvSpPr txBox="1"/>
            <p:nvPr/>
          </p:nvSpPr>
          <p:spPr>
            <a:xfrm>
              <a:off x="1098356" y="2027338"/>
              <a:ext cx="797014" cy="307777"/>
            </a:xfrm>
            <a:prstGeom prst="rect">
              <a:avLst/>
            </a:prstGeom>
            <a:noFill/>
          </p:spPr>
          <p:txBody>
            <a:bodyPr wrap="none" rtlCol="0">
              <a:spAutoFit/>
            </a:bodyPr>
            <a:lstStyle/>
            <a:p>
              <a:pPr algn="ctr"/>
              <a:r>
                <a:rPr lang="en-US" altLang="zh-CN" sz="1400" dirty="0"/>
                <a:t>Story 5</a:t>
              </a:r>
              <a:endParaRPr lang="zh-CN" altLang="en-US" sz="1400" dirty="0"/>
            </a:p>
          </p:txBody>
        </p:sp>
      </p:grpSp>
      <p:grpSp>
        <p:nvGrpSpPr>
          <p:cNvPr id="68" name="组合 67">
            <a:extLst>
              <a:ext uri="{FF2B5EF4-FFF2-40B4-BE49-F238E27FC236}">
                <a16:creationId xmlns:a16="http://schemas.microsoft.com/office/drawing/2014/main" id="{F3F3843E-616E-C3C5-584E-1EE4D9A860B1}"/>
              </a:ext>
            </a:extLst>
          </p:cNvPr>
          <p:cNvGrpSpPr/>
          <p:nvPr/>
        </p:nvGrpSpPr>
        <p:grpSpPr>
          <a:xfrm>
            <a:off x="8426800" y="3541630"/>
            <a:ext cx="829997" cy="552450"/>
            <a:chOff x="1098356" y="1905001"/>
            <a:chExt cx="829997" cy="552450"/>
          </a:xfrm>
        </p:grpSpPr>
        <p:pic>
          <p:nvPicPr>
            <p:cNvPr id="69" name="Picture 4" descr="儿童卡通便利贴标签贴纸记事留言纸条PNG免抠设计元素PS装饰素材">
              <a:extLst>
                <a:ext uri="{FF2B5EF4-FFF2-40B4-BE49-F238E27FC236}">
                  <a16:creationId xmlns:a16="http://schemas.microsoft.com/office/drawing/2014/main" id="{70CD515B-6D3E-F99F-35DA-77477BC8F4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70" name="文本框 69">
              <a:extLst>
                <a:ext uri="{FF2B5EF4-FFF2-40B4-BE49-F238E27FC236}">
                  <a16:creationId xmlns:a16="http://schemas.microsoft.com/office/drawing/2014/main" id="{E4AB68E1-D52D-4578-FE8B-8C3E42313D96}"/>
                </a:ext>
              </a:extLst>
            </p:cNvPr>
            <p:cNvSpPr txBox="1"/>
            <p:nvPr/>
          </p:nvSpPr>
          <p:spPr>
            <a:xfrm>
              <a:off x="1098356" y="2027338"/>
              <a:ext cx="797014" cy="307777"/>
            </a:xfrm>
            <a:prstGeom prst="rect">
              <a:avLst/>
            </a:prstGeom>
            <a:noFill/>
          </p:spPr>
          <p:txBody>
            <a:bodyPr wrap="none" rtlCol="0">
              <a:spAutoFit/>
            </a:bodyPr>
            <a:lstStyle/>
            <a:p>
              <a:pPr algn="ctr"/>
              <a:r>
                <a:rPr lang="en-US" altLang="zh-CN" sz="1400" dirty="0"/>
                <a:t>Story 3</a:t>
              </a:r>
              <a:endParaRPr lang="zh-CN" altLang="en-US" sz="1400" dirty="0"/>
            </a:p>
          </p:txBody>
        </p:sp>
      </p:grpSp>
      <p:grpSp>
        <p:nvGrpSpPr>
          <p:cNvPr id="71" name="组合 70">
            <a:extLst>
              <a:ext uri="{FF2B5EF4-FFF2-40B4-BE49-F238E27FC236}">
                <a16:creationId xmlns:a16="http://schemas.microsoft.com/office/drawing/2014/main" id="{264820A4-5AA4-F841-E5C8-69E5FA06901F}"/>
              </a:ext>
            </a:extLst>
          </p:cNvPr>
          <p:cNvGrpSpPr/>
          <p:nvPr/>
        </p:nvGrpSpPr>
        <p:grpSpPr>
          <a:xfrm>
            <a:off x="8408305" y="4002397"/>
            <a:ext cx="836409" cy="552450"/>
            <a:chOff x="1091944" y="1905001"/>
            <a:chExt cx="836409" cy="552450"/>
          </a:xfrm>
        </p:grpSpPr>
        <p:pic>
          <p:nvPicPr>
            <p:cNvPr id="72" name="Picture 4" descr="儿童卡通便利贴标签贴纸记事留言纸条PNG免抠设计元素PS装饰素材">
              <a:extLst>
                <a:ext uri="{FF2B5EF4-FFF2-40B4-BE49-F238E27FC236}">
                  <a16:creationId xmlns:a16="http://schemas.microsoft.com/office/drawing/2014/main" id="{F48657A3-6825-1FEF-343B-8649E1566C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73" name="文本框 72">
              <a:extLst>
                <a:ext uri="{FF2B5EF4-FFF2-40B4-BE49-F238E27FC236}">
                  <a16:creationId xmlns:a16="http://schemas.microsoft.com/office/drawing/2014/main" id="{4B72C360-3683-DDF7-81A4-85F2E492ABE7}"/>
                </a:ext>
              </a:extLst>
            </p:cNvPr>
            <p:cNvSpPr txBox="1"/>
            <p:nvPr/>
          </p:nvSpPr>
          <p:spPr>
            <a:xfrm>
              <a:off x="1091944" y="2027338"/>
              <a:ext cx="809838" cy="307777"/>
            </a:xfrm>
            <a:prstGeom prst="rect">
              <a:avLst/>
            </a:prstGeom>
            <a:noFill/>
          </p:spPr>
          <p:txBody>
            <a:bodyPr wrap="none" rtlCol="0">
              <a:spAutoFit/>
            </a:bodyPr>
            <a:lstStyle/>
            <a:p>
              <a:pPr algn="ctr"/>
              <a:r>
                <a:rPr lang="en-US" altLang="zh-CN" sz="1400" dirty="0"/>
                <a:t>Story 8</a:t>
              </a:r>
              <a:endParaRPr lang="zh-CN" altLang="en-US" sz="1400" dirty="0"/>
            </a:p>
          </p:txBody>
        </p:sp>
      </p:grpSp>
      <p:grpSp>
        <p:nvGrpSpPr>
          <p:cNvPr id="80" name="组合 79">
            <a:extLst>
              <a:ext uri="{FF2B5EF4-FFF2-40B4-BE49-F238E27FC236}">
                <a16:creationId xmlns:a16="http://schemas.microsoft.com/office/drawing/2014/main" id="{CB123156-1D8E-A528-7D9B-2A69D4750B1A}"/>
              </a:ext>
            </a:extLst>
          </p:cNvPr>
          <p:cNvGrpSpPr/>
          <p:nvPr/>
        </p:nvGrpSpPr>
        <p:grpSpPr>
          <a:xfrm>
            <a:off x="8437647" y="4490328"/>
            <a:ext cx="832402" cy="552450"/>
            <a:chOff x="1095951" y="1905001"/>
            <a:chExt cx="832402" cy="552450"/>
          </a:xfrm>
        </p:grpSpPr>
        <p:pic>
          <p:nvPicPr>
            <p:cNvPr id="81" name="Picture 4" descr="儿童卡通便利贴标签贴纸记事留言纸条PNG免抠设计元素PS装饰素材">
              <a:extLst>
                <a:ext uri="{FF2B5EF4-FFF2-40B4-BE49-F238E27FC236}">
                  <a16:creationId xmlns:a16="http://schemas.microsoft.com/office/drawing/2014/main" id="{4D8AFD75-6DC8-0CBD-2B9D-7C6DD10DB6DA}"/>
                </a:ext>
              </a:extLst>
            </p:cNvPr>
            <p:cNvPicPr>
              <a:picLocks noChangeAspect="1" noChangeArrowheads="1"/>
            </p:cNvPicPr>
            <p:nvPr/>
          </p:nvPicPr>
          <p:blipFill>
            <a:blip r:embed="rId3">
              <a:duotone>
                <a:prstClr val="black"/>
                <a:schemeClr val="accent6">
                  <a:tint val="45000"/>
                  <a:satMod val="400000"/>
                </a:schemeClr>
              </a:duotone>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82" name="文本框 81">
              <a:extLst>
                <a:ext uri="{FF2B5EF4-FFF2-40B4-BE49-F238E27FC236}">
                  <a16:creationId xmlns:a16="http://schemas.microsoft.com/office/drawing/2014/main" id="{C96FC57F-4290-6EBA-B2BD-883E7706027D}"/>
                </a:ext>
              </a:extLst>
            </p:cNvPr>
            <p:cNvSpPr txBox="1"/>
            <p:nvPr/>
          </p:nvSpPr>
          <p:spPr>
            <a:xfrm>
              <a:off x="1095951" y="2027338"/>
              <a:ext cx="801823" cy="307777"/>
            </a:xfrm>
            <a:prstGeom prst="rect">
              <a:avLst/>
            </a:prstGeom>
            <a:noFill/>
          </p:spPr>
          <p:txBody>
            <a:bodyPr wrap="none" rtlCol="0">
              <a:spAutoFit/>
            </a:bodyPr>
            <a:lstStyle/>
            <a:p>
              <a:pPr algn="ctr"/>
              <a:r>
                <a:rPr lang="en-US" altLang="zh-CN" sz="1400" dirty="0"/>
                <a:t>Story 6</a:t>
              </a:r>
              <a:endParaRPr lang="zh-CN" altLang="en-US" sz="1400" dirty="0"/>
            </a:p>
          </p:txBody>
        </p:sp>
      </p:grpSp>
    </p:spTree>
    <p:extLst>
      <p:ext uri="{BB962C8B-B14F-4D97-AF65-F5344CB8AC3E}">
        <p14:creationId xmlns:p14="http://schemas.microsoft.com/office/powerpoint/2010/main" val="424340934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1B81A-37A9-EBE3-EEE0-B1891777F17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4FD278C-F9E7-8928-D635-4BFC5F7FE7E5}"/>
              </a:ext>
            </a:extLst>
          </p:cNvPr>
          <p:cNvSpPr>
            <a:spLocks noGrp="1"/>
          </p:cNvSpPr>
          <p:nvPr>
            <p:ph type="title"/>
          </p:nvPr>
        </p:nvSpPr>
        <p:spPr>
          <a:xfrm>
            <a:off x="792000" y="360000"/>
            <a:ext cx="6375921" cy="429413"/>
          </a:xfrm>
        </p:spPr>
        <p:txBody>
          <a:bodyPr/>
          <a:lstStyle/>
          <a:p>
            <a:r>
              <a:rPr lang="en-US" altLang="zh-CN" dirty="0"/>
              <a:t>6.3.3 </a:t>
            </a:r>
            <a:r>
              <a:rPr lang="zh-CN" altLang="en-US" dirty="0"/>
              <a:t>扑克牌估算</a:t>
            </a:r>
          </a:p>
        </p:txBody>
      </p:sp>
      <p:sp>
        <p:nvSpPr>
          <p:cNvPr id="3" name="内容占位符 2">
            <a:extLst>
              <a:ext uri="{FF2B5EF4-FFF2-40B4-BE49-F238E27FC236}">
                <a16:creationId xmlns:a16="http://schemas.microsoft.com/office/drawing/2014/main" id="{ADAF634D-78D2-5A10-76A7-B3D881781F57}"/>
              </a:ext>
            </a:extLst>
          </p:cNvPr>
          <p:cNvSpPr>
            <a:spLocks noGrp="1"/>
          </p:cNvSpPr>
          <p:nvPr>
            <p:ph idx="1"/>
          </p:nvPr>
        </p:nvSpPr>
        <p:spPr>
          <a:xfrm>
            <a:off x="696000" y="864000"/>
            <a:ext cx="10800000" cy="5400000"/>
          </a:xfrm>
        </p:spPr>
        <p:txBody>
          <a:bodyPr/>
          <a:lstStyle/>
          <a:p>
            <a:r>
              <a:rPr lang="zh-CN" altLang="en-US" dirty="0"/>
              <a:t>详细估算</a:t>
            </a:r>
            <a:endParaRPr lang="en-US" altLang="zh-CN" dirty="0"/>
          </a:p>
          <a:p>
            <a:r>
              <a:rPr lang="zh-CN" altLang="en-US" dirty="0"/>
              <a:t>可以设定相应规则</a:t>
            </a:r>
          </a:p>
          <a:p>
            <a:r>
              <a:rPr lang="zh-CN" altLang="en-US" dirty="0"/>
              <a:t>通过</a:t>
            </a:r>
            <a:r>
              <a:rPr lang="zh-CN" altLang="en-US" dirty="0">
                <a:hlinkClick r:id="rId3">
                  <a:extLst>
                    <a:ext uri="{A12FA001-AC4F-418D-AE19-62706E023703}">
                      <ahyp:hlinkClr xmlns:ahyp="http://schemas.microsoft.com/office/drawing/2018/hyperlinkcolor" val="tx"/>
                    </a:ext>
                  </a:extLst>
                </a:hlinkClick>
              </a:rPr>
              <a:t>亮牌</a:t>
            </a:r>
            <a:r>
              <a:rPr lang="zh-CN" altLang="en-US" dirty="0"/>
              <a:t>来确定故事点</a:t>
            </a:r>
            <a:endParaRPr lang="en-US" altLang="zh-CN" dirty="0"/>
          </a:p>
        </p:txBody>
      </p:sp>
      <p:sp>
        <p:nvSpPr>
          <p:cNvPr id="4" name="文本占位符 3">
            <a:extLst>
              <a:ext uri="{FF2B5EF4-FFF2-40B4-BE49-F238E27FC236}">
                <a16:creationId xmlns:a16="http://schemas.microsoft.com/office/drawing/2014/main" id="{D52F7BD6-BB28-7E38-D41E-E730BFE57ABD}"/>
              </a:ext>
            </a:extLst>
          </p:cNvPr>
          <p:cNvSpPr>
            <a:spLocks noGrp="1"/>
          </p:cNvSpPr>
          <p:nvPr>
            <p:ph type="body" sz="quarter" idx="10"/>
          </p:nvPr>
        </p:nvSpPr>
        <p:spPr>
          <a:xfrm>
            <a:off x="7071919" y="448519"/>
            <a:ext cx="4424080" cy="338554"/>
          </a:xfrm>
        </p:spPr>
        <p:txBody>
          <a:bodyPr/>
          <a:lstStyle/>
          <a:p>
            <a:r>
              <a:rPr lang="en-US" altLang="zh-CN" dirty="0"/>
              <a:t>Planning Poker/Aigle</a:t>
            </a:r>
            <a:endParaRPr lang="zh-CN" altLang="en-US" dirty="0"/>
          </a:p>
        </p:txBody>
      </p:sp>
      <p:sp>
        <p:nvSpPr>
          <p:cNvPr id="30" name="任意多边形: 形状 29">
            <a:extLst>
              <a:ext uri="{FF2B5EF4-FFF2-40B4-BE49-F238E27FC236}">
                <a16:creationId xmlns:a16="http://schemas.microsoft.com/office/drawing/2014/main" id="{1C3899EF-6A10-8FC8-D712-D4D1674192F5}"/>
              </a:ext>
            </a:extLst>
          </p:cNvPr>
          <p:cNvSpPr/>
          <p:nvPr/>
        </p:nvSpPr>
        <p:spPr>
          <a:xfrm>
            <a:off x="1759934" y="3401961"/>
            <a:ext cx="1440000" cy="2160000"/>
          </a:xfrm>
          <a:custGeom>
            <a:avLst/>
            <a:gdLst>
              <a:gd name="csX0" fmla="*/ 0 w 1440000"/>
              <a:gd name="csY0" fmla="*/ 0 h 2160000"/>
              <a:gd name="csX1" fmla="*/ 720000 w 1440000"/>
              <a:gd name="csY1" fmla="*/ 0 h 2160000"/>
              <a:gd name="csX2" fmla="*/ 1440000 w 1440000"/>
              <a:gd name="csY2" fmla="*/ 720000 h 2160000"/>
              <a:gd name="csX3" fmla="*/ 1440000 w 1440000"/>
              <a:gd name="csY3" fmla="*/ 1440000 h 2160000"/>
              <a:gd name="csX4" fmla="*/ 1440000 w 1440000"/>
              <a:gd name="csY4" fmla="*/ 2160000 h 2160000"/>
              <a:gd name="csX5" fmla="*/ 720000 w 1440000"/>
              <a:gd name="csY5" fmla="*/ 2160000 h 2160000"/>
              <a:gd name="csX6" fmla="*/ 0 w 1440000"/>
              <a:gd name="csY6" fmla="*/ 1440000 h 2160000"/>
              <a:gd name="csX7" fmla="*/ 0 w 1440000"/>
              <a:gd name="csY7" fmla="*/ 720000 h 216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440000" h="2160000">
                <a:moveTo>
                  <a:pt x="0" y="0"/>
                </a:moveTo>
                <a:lnTo>
                  <a:pt x="720000" y="0"/>
                </a:lnTo>
                <a:cubicBezTo>
                  <a:pt x="1117645" y="0"/>
                  <a:pt x="1440000" y="322355"/>
                  <a:pt x="1440000" y="720000"/>
                </a:cubicBezTo>
                <a:lnTo>
                  <a:pt x="1440000" y="1440000"/>
                </a:lnTo>
                <a:lnTo>
                  <a:pt x="1440000" y="2160000"/>
                </a:lnTo>
                <a:lnTo>
                  <a:pt x="720000" y="2160000"/>
                </a:lnTo>
                <a:cubicBezTo>
                  <a:pt x="322355" y="2160000"/>
                  <a:pt x="0" y="1837645"/>
                  <a:pt x="0" y="1440000"/>
                </a:cubicBezTo>
                <a:lnTo>
                  <a:pt x="0" y="720000"/>
                </a:lnTo>
                <a:close/>
              </a:path>
            </a:pathLst>
          </a:cu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600" b="1" dirty="0">
                <a:solidFill>
                  <a:schemeClr val="tx1"/>
                </a:solidFill>
              </a:rPr>
              <a:t>Step 1</a:t>
            </a:r>
          </a:p>
          <a:p>
            <a:pPr algn="ctr"/>
            <a:endParaRPr lang="en-US" altLang="zh-CN" sz="1600" dirty="0">
              <a:solidFill>
                <a:schemeClr val="tx1"/>
              </a:solidFill>
            </a:endParaRPr>
          </a:p>
          <a:p>
            <a:pPr algn="ctr"/>
            <a:r>
              <a:rPr lang="en-US" altLang="zh-CN" sz="1600" dirty="0">
                <a:solidFill>
                  <a:schemeClr val="tx1"/>
                </a:solidFill>
              </a:rPr>
              <a:t>Distribute the Cards</a:t>
            </a:r>
            <a:endParaRPr lang="zh-CN" altLang="en-US" sz="1600" dirty="0">
              <a:solidFill>
                <a:schemeClr val="tx1"/>
              </a:solidFill>
            </a:endParaRPr>
          </a:p>
        </p:txBody>
      </p:sp>
      <p:sp>
        <p:nvSpPr>
          <p:cNvPr id="31" name="任意多边形: 形状 30">
            <a:extLst>
              <a:ext uri="{FF2B5EF4-FFF2-40B4-BE49-F238E27FC236}">
                <a16:creationId xmlns:a16="http://schemas.microsoft.com/office/drawing/2014/main" id="{5F73A5D7-0926-CAD4-B696-17FF1234E551}"/>
              </a:ext>
            </a:extLst>
          </p:cNvPr>
          <p:cNvSpPr/>
          <p:nvPr/>
        </p:nvSpPr>
        <p:spPr>
          <a:xfrm>
            <a:off x="3567967" y="3401961"/>
            <a:ext cx="1440000" cy="2160000"/>
          </a:xfrm>
          <a:custGeom>
            <a:avLst/>
            <a:gdLst>
              <a:gd name="csX0" fmla="*/ 0 w 1440000"/>
              <a:gd name="csY0" fmla="*/ 0 h 2160000"/>
              <a:gd name="csX1" fmla="*/ 720000 w 1440000"/>
              <a:gd name="csY1" fmla="*/ 0 h 2160000"/>
              <a:gd name="csX2" fmla="*/ 1440000 w 1440000"/>
              <a:gd name="csY2" fmla="*/ 720000 h 2160000"/>
              <a:gd name="csX3" fmla="*/ 1440000 w 1440000"/>
              <a:gd name="csY3" fmla="*/ 1440000 h 2160000"/>
              <a:gd name="csX4" fmla="*/ 1440000 w 1440000"/>
              <a:gd name="csY4" fmla="*/ 2160000 h 2160000"/>
              <a:gd name="csX5" fmla="*/ 720000 w 1440000"/>
              <a:gd name="csY5" fmla="*/ 2160000 h 2160000"/>
              <a:gd name="csX6" fmla="*/ 0 w 1440000"/>
              <a:gd name="csY6" fmla="*/ 1440000 h 2160000"/>
              <a:gd name="csX7" fmla="*/ 0 w 1440000"/>
              <a:gd name="csY7" fmla="*/ 720000 h 216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440000" h="2160000">
                <a:moveTo>
                  <a:pt x="0" y="0"/>
                </a:moveTo>
                <a:lnTo>
                  <a:pt x="720000" y="0"/>
                </a:lnTo>
                <a:cubicBezTo>
                  <a:pt x="1117645" y="0"/>
                  <a:pt x="1440000" y="322355"/>
                  <a:pt x="1440000" y="720000"/>
                </a:cubicBezTo>
                <a:lnTo>
                  <a:pt x="1440000" y="1440000"/>
                </a:lnTo>
                <a:lnTo>
                  <a:pt x="1440000" y="2160000"/>
                </a:lnTo>
                <a:lnTo>
                  <a:pt x="720000" y="2160000"/>
                </a:lnTo>
                <a:cubicBezTo>
                  <a:pt x="322355" y="2160000"/>
                  <a:pt x="0" y="1837645"/>
                  <a:pt x="0" y="1440000"/>
                </a:cubicBezTo>
                <a:lnTo>
                  <a:pt x="0" y="720000"/>
                </a:lnTo>
                <a:close/>
              </a:path>
            </a:pathLst>
          </a:cu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600" b="1" dirty="0">
                <a:solidFill>
                  <a:schemeClr val="tx1"/>
                </a:solidFill>
              </a:rPr>
              <a:t>Step 2</a:t>
            </a:r>
          </a:p>
          <a:p>
            <a:pPr algn="ctr"/>
            <a:endParaRPr lang="en-US" altLang="zh-CN" sz="1600" dirty="0">
              <a:solidFill>
                <a:schemeClr val="tx1"/>
              </a:solidFill>
            </a:endParaRPr>
          </a:p>
          <a:p>
            <a:pPr algn="ctr"/>
            <a:r>
              <a:rPr lang="en-US" altLang="zh-CN" sz="1600" dirty="0">
                <a:solidFill>
                  <a:schemeClr val="tx1"/>
                </a:solidFill>
              </a:rPr>
              <a:t>Present the Story </a:t>
            </a:r>
            <a:endParaRPr lang="zh-CN" altLang="en-US" sz="1600" dirty="0">
              <a:solidFill>
                <a:schemeClr val="tx1"/>
              </a:solidFill>
            </a:endParaRPr>
          </a:p>
        </p:txBody>
      </p:sp>
      <p:sp>
        <p:nvSpPr>
          <p:cNvPr id="32" name="任意多边形: 形状 31">
            <a:extLst>
              <a:ext uri="{FF2B5EF4-FFF2-40B4-BE49-F238E27FC236}">
                <a16:creationId xmlns:a16="http://schemas.microsoft.com/office/drawing/2014/main" id="{FD499B6B-91A4-74EC-1BB9-EC3CE941A1D2}"/>
              </a:ext>
            </a:extLst>
          </p:cNvPr>
          <p:cNvSpPr/>
          <p:nvPr/>
        </p:nvSpPr>
        <p:spPr>
          <a:xfrm>
            <a:off x="5376000" y="3401961"/>
            <a:ext cx="1440000" cy="2160000"/>
          </a:xfrm>
          <a:custGeom>
            <a:avLst/>
            <a:gdLst>
              <a:gd name="csX0" fmla="*/ 0 w 1440000"/>
              <a:gd name="csY0" fmla="*/ 0 h 2160000"/>
              <a:gd name="csX1" fmla="*/ 720000 w 1440000"/>
              <a:gd name="csY1" fmla="*/ 0 h 2160000"/>
              <a:gd name="csX2" fmla="*/ 1440000 w 1440000"/>
              <a:gd name="csY2" fmla="*/ 720000 h 2160000"/>
              <a:gd name="csX3" fmla="*/ 1440000 w 1440000"/>
              <a:gd name="csY3" fmla="*/ 1440000 h 2160000"/>
              <a:gd name="csX4" fmla="*/ 1440000 w 1440000"/>
              <a:gd name="csY4" fmla="*/ 2160000 h 2160000"/>
              <a:gd name="csX5" fmla="*/ 720000 w 1440000"/>
              <a:gd name="csY5" fmla="*/ 2160000 h 2160000"/>
              <a:gd name="csX6" fmla="*/ 0 w 1440000"/>
              <a:gd name="csY6" fmla="*/ 1440000 h 2160000"/>
              <a:gd name="csX7" fmla="*/ 0 w 1440000"/>
              <a:gd name="csY7" fmla="*/ 720000 h 216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440000" h="2160000">
                <a:moveTo>
                  <a:pt x="0" y="0"/>
                </a:moveTo>
                <a:lnTo>
                  <a:pt x="720000" y="0"/>
                </a:lnTo>
                <a:cubicBezTo>
                  <a:pt x="1117645" y="0"/>
                  <a:pt x="1440000" y="322355"/>
                  <a:pt x="1440000" y="720000"/>
                </a:cubicBezTo>
                <a:lnTo>
                  <a:pt x="1440000" y="1440000"/>
                </a:lnTo>
                <a:lnTo>
                  <a:pt x="1440000" y="2160000"/>
                </a:lnTo>
                <a:lnTo>
                  <a:pt x="720000" y="2160000"/>
                </a:lnTo>
                <a:cubicBezTo>
                  <a:pt x="322355" y="2160000"/>
                  <a:pt x="0" y="1837645"/>
                  <a:pt x="0" y="1440000"/>
                </a:cubicBezTo>
                <a:lnTo>
                  <a:pt x="0" y="720000"/>
                </a:lnTo>
                <a:close/>
              </a:path>
            </a:pathLst>
          </a:cu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600" b="1" dirty="0">
                <a:solidFill>
                  <a:schemeClr val="tx1"/>
                </a:solidFill>
              </a:rPr>
              <a:t>Step 3</a:t>
            </a:r>
          </a:p>
          <a:p>
            <a:pPr algn="ctr"/>
            <a:endParaRPr lang="en-US" altLang="zh-CN" sz="1600" dirty="0">
              <a:solidFill>
                <a:schemeClr val="tx1"/>
              </a:solidFill>
            </a:endParaRPr>
          </a:p>
          <a:p>
            <a:pPr algn="ctr"/>
            <a:r>
              <a:rPr lang="en-US" altLang="zh-CN" sz="1600" dirty="0">
                <a:solidFill>
                  <a:schemeClr val="tx1"/>
                </a:solidFill>
              </a:rPr>
              <a:t>Facilitate Discussion</a:t>
            </a:r>
            <a:endParaRPr lang="zh-CN" altLang="en-US" sz="1600" dirty="0">
              <a:solidFill>
                <a:schemeClr val="tx1"/>
              </a:solidFill>
            </a:endParaRPr>
          </a:p>
        </p:txBody>
      </p:sp>
      <p:sp>
        <p:nvSpPr>
          <p:cNvPr id="33" name="任意多边形: 形状 32">
            <a:extLst>
              <a:ext uri="{FF2B5EF4-FFF2-40B4-BE49-F238E27FC236}">
                <a16:creationId xmlns:a16="http://schemas.microsoft.com/office/drawing/2014/main" id="{089EE6DD-75CA-A2A2-EFA7-FB41DEAF7EC6}"/>
              </a:ext>
            </a:extLst>
          </p:cNvPr>
          <p:cNvSpPr/>
          <p:nvPr/>
        </p:nvSpPr>
        <p:spPr>
          <a:xfrm>
            <a:off x="7184033" y="3401961"/>
            <a:ext cx="1440000" cy="2160000"/>
          </a:xfrm>
          <a:custGeom>
            <a:avLst/>
            <a:gdLst>
              <a:gd name="csX0" fmla="*/ 0 w 1440000"/>
              <a:gd name="csY0" fmla="*/ 0 h 2160000"/>
              <a:gd name="csX1" fmla="*/ 720000 w 1440000"/>
              <a:gd name="csY1" fmla="*/ 0 h 2160000"/>
              <a:gd name="csX2" fmla="*/ 1440000 w 1440000"/>
              <a:gd name="csY2" fmla="*/ 720000 h 2160000"/>
              <a:gd name="csX3" fmla="*/ 1440000 w 1440000"/>
              <a:gd name="csY3" fmla="*/ 1440000 h 2160000"/>
              <a:gd name="csX4" fmla="*/ 1440000 w 1440000"/>
              <a:gd name="csY4" fmla="*/ 2160000 h 2160000"/>
              <a:gd name="csX5" fmla="*/ 720000 w 1440000"/>
              <a:gd name="csY5" fmla="*/ 2160000 h 2160000"/>
              <a:gd name="csX6" fmla="*/ 0 w 1440000"/>
              <a:gd name="csY6" fmla="*/ 1440000 h 2160000"/>
              <a:gd name="csX7" fmla="*/ 0 w 1440000"/>
              <a:gd name="csY7" fmla="*/ 720000 h 216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440000" h="2160000">
                <a:moveTo>
                  <a:pt x="0" y="0"/>
                </a:moveTo>
                <a:lnTo>
                  <a:pt x="720000" y="0"/>
                </a:lnTo>
                <a:cubicBezTo>
                  <a:pt x="1117645" y="0"/>
                  <a:pt x="1440000" y="322355"/>
                  <a:pt x="1440000" y="720000"/>
                </a:cubicBezTo>
                <a:lnTo>
                  <a:pt x="1440000" y="1440000"/>
                </a:lnTo>
                <a:lnTo>
                  <a:pt x="1440000" y="2160000"/>
                </a:lnTo>
                <a:lnTo>
                  <a:pt x="720000" y="2160000"/>
                </a:lnTo>
                <a:cubicBezTo>
                  <a:pt x="322355" y="2160000"/>
                  <a:pt x="0" y="1837645"/>
                  <a:pt x="0" y="1440000"/>
                </a:cubicBezTo>
                <a:lnTo>
                  <a:pt x="0" y="720000"/>
                </a:lnTo>
                <a:close/>
              </a:path>
            </a:pathLst>
          </a:cu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600" b="1" dirty="0">
                <a:solidFill>
                  <a:schemeClr val="tx1"/>
                </a:solidFill>
              </a:rPr>
              <a:t>Step 4</a:t>
            </a:r>
          </a:p>
          <a:p>
            <a:pPr algn="ctr"/>
            <a:endParaRPr lang="en-US" altLang="zh-CN" sz="1600" dirty="0">
              <a:solidFill>
                <a:schemeClr val="tx1"/>
              </a:solidFill>
            </a:endParaRPr>
          </a:p>
          <a:p>
            <a:pPr algn="ctr"/>
            <a:r>
              <a:rPr lang="en-US" altLang="zh-CN" sz="1600" dirty="0">
                <a:solidFill>
                  <a:schemeClr val="tx1"/>
                </a:solidFill>
              </a:rPr>
              <a:t>Estimate and Disclose</a:t>
            </a:r>
            <a:endParaRPr lang="zh-CN" altLang="en-US" sz="1600" dirty="0">
              <a:solidFill>
                <a:schemeClr val="tx1"/>
              </a:solidFill>
            </a:endParaRPr>
          </a:p>
        </p:txBody>
      </p:sp>
      <p:sp>
        <p:nvSpPr>
          <p:cNvPr id="34" name="任意多边形: 形状 33">
            <a:extLst>
              <a:ext uri="{FF2B5EF4-FFF2-40B4-BE49-F238E27FC236}">
                <a16:creationId xmlns:a16="http://schemas.microsoft.com/office/drawing/2014/main" id="{71A2182D-BFC0-2F6F-D027-EA36E3AF8D07}"/>
              </a:ext>
            </a:extLst>
          </p:cNvPr>
          <p:cNvSpPr/>
          <p:nvPr/>
        </p:nvSpPr>
        <p:spPr>
          <a:xfrm>
            <a:off x="8992066" y="3401961"/>
            <a:ext cx="1440000" cy="2160000"/>
          </a:xfrm>
          <a:custGeom>
            <a:avLst/>
            <a:gdLst>
              <a:gd name="csX0" fmla="*/ 0 w 1440000"/>
              <a:gd name="csY0" fmla="*/ 0 h 2160000"/>
              <a:gd name="csX1" fmla="*/ 720000 w 1440000"/>
              <a:gd name="csY1" fmla="*/ 0 h 2160000"/>
              <a:gd name="csX2" fmla="*/ 1440000 w 1440000"/>
              <a:gd name="csY2" fmla="*/ 720000 h 2160000"/>
              <a:gd name="csX3" fmla="*/ 1440000 w 1440000"/>
              <a:gd name="csY3" fmla="*/ 1440000 h 2160000"/>
              <a:gd name="csX4" fmla="*/ 1440000 w 1440000"/>
              <a:gd name="csY4" fmla="*/ 2160000 h 2160000"/>
              <a:gd name="csX5" fmla="*/ 720000 w 1440000"/>
              <a:gd name="csY5" fmla="*/ 2160000 h 2160000"/>
              <a:gd name="csX6" fmla="*/ 0 w 1440000"/>
              <a:gd name="csY6" fmla="*/ 1440000 h 2160000"/>
              <a:gd name="csX7" fmla="*/ 0 w 1440000"/>
              <a:gd name="csY7" fmla="*/ 720000 h 216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440000" h="2160000">
                <a:moveTo>
                  <a:pt x="0" y="0"/>
                </a:moveTo>
                <a:lnTo>
                  <a:pt x="720000" y="0"/>
                </a:lnTo>
                <a:cubicBezTo>
                  <a:pt x="1117645" y="0"/>
                  <a:pt x="1440000" y="322355"/>
                  <a:pt x="1440000" y="720000"/>
                </a:cubicBezTo>
                <a:lnTo>
                  <a:pt x="1440000" y="1440000"/>
                </a:lnTo>
                <a:lnTo>
                  <a:pt x="1440000" y="2160000"/>
                </a:lnTo>
                <a:lnTo>
                  <a:pt x="720000" y="2160000"/>
                </a:lnTo>
                <a:cubicBezTo>
                  <a:pt x="322355" y="2160000"/>
                  <a:pt x="0" y="1837645"/>
                  <a:pt x="0" y="1440000"/>
                </a:cubicBezTo>
                <a:lnTo>
                  <a:pt x="0" y="720000"/>
                </a:lnTo>
                <a:close/>
              </a:path>
            </a:pathLst>
          </a:cu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600" b="1" dirty="0">
                <a:solidFill>
                  <a:schemeClr val="tx1"/>
                </a:solidFill>
              </a:rPr>
              <a:t>Step 5</a:t>
            </a:r>
          </a:p>
          <a:p>
            <a:pPr algn="ctr"/>
            <a:endParaRPr lang="en-US" altLang="zh-CN" sz="1600" dirty="0">
              <a:solidFill>
                <a:schemeClr val="tx1"/>
              </a:solidFill>
            </a:endParaRPr>
          </a:p>
          <a:p>
            <a:pPr algn="ctr"/>
            <a:r>
              <a:rPr lang="en-US" altLang="zh-CN" sz="1600" dirty="0">
                <a:solidFill>
                  <a:schemeClr val="tx1"/>
                </a:solidFill>
              </a:rPr>
              <a:t>Strive for Agreement</a:t>
            </a:r>
            <a:endParaRPr lang="zh-CN" altLang="en-US" sz="1600" dirty="0">
              <a:solidFill>
                <a:schemeClr val="tx1"/>
              </a:solidFill>
            </a:endParaRPr>
          </a:p>
        </p:txBody>
      </p:sp>
      <p:grpSp>
        <p:nvGrpSpPr>
          <p:cNvPr id="49" name="组合 48">
            <a:extLst>
              <a:ext uri="{FF2B5EF4-FFF2-40B4-BE49-F238E27FC236}">
                <a16:creationId xmlns:a16="http://schemas.microsoft.com/office/drawing/2014/main" id="{D600BA0B-1E02-C8D7-1A03-7F4C0EA289B3}"/>
              </a:ext>
            </a:extLst>
          </p:cNvPr>
          <p:cNvGrpSpPr/>
          <p:nvPr/>
        </p:nvGrpSpPr>
        <p:grpSpPr>
          <a:xfrm>
            <a:off x="1907414" y="2983004"/>
            <a:ext cx="720000" cy="720000"/>
            <a:chOff x="1298782" y="2853868"/>
            <a:chExt cx="720000" cy="720000"/>
          </a:xfrm>
        </p:grpSpPr>
        <p:sp>
          <p:nvSpPr>
            <p:cNvPr id="46" name="椭圆 45">
              <a:extLst>
                <a:ext uri="{FF2B5EF4-FFF2-40B4-BE49-F238E27FC236}">
                  <a16:creationId xmlns:a16="http://schemas.microsoft.com/office/drawing/2014/main" id="{59773B52-0E7F-BDC8-5A37-E2D4D211EDD3}"/>
                </a:ext>
              </a:extLst>
            </p:cNvPr>
            <p:cNvSpPr/>
            <p:nvPr/>
          </p:nvSpPr>
          <p:spPr>
            <a:xfrm>
              <a:off x="1298782" y="2853868"/>
              <a:ext cx="720000" cy="720000"/>
            </a:xfrm>
            <a:prstGeom prst="ellipse">
              <a:avLst/>
            </a:prstGeom>
            <a:solidFill>
              <a:schemeClr val="accent1"/>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pic>
          <p:nvPicPr>
            <p:cNvPr id="47" name="图形 46" descr="社交网络">
              <a:extLst>
                <a:ext uri="{FF2B5EF4-FFF2-40B4-BE49-F238E27FC236}">
                  <a16:creationId xmlns:a16="http://schemas.microsoft.com/office/drawing/2014/main" id="{45CC5AD3-6EA5-9639-DA61-C78A5B9E1C0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782" y="2943868"/>
              <a:ext cx="540000" cy="540000"/>
            </a:xfrm>
            <a:prstGeom prst="rect">
              <a:avLst/>
            </a:prstGeom>
          </p:spPr>
        </p:pic>
      </p:grpSp>
      <p:grpSp>
        <p:nvGrpSpPr>
          <p:cNvPr id="57" name="组合 56">
            <a:extLst>
              <a:ext uri="{FF2B5EF4-FFF2-40B4-BE49-F238E27FC236}">
                <a16:creationId xmlns:a16="http://schemas.microsoft.com/office/drawing/2014/main" id="{1061CC68-718E-028F-94EF-5EE4269CC8AF}"/>
              </a:ext>
            </a:extLst>
          </p:cNvPr>
          <p:cNvGrpSpPr/>
          <p:nvPr/>
        </p:nvGrpSpPr>
        <p:grpSpPr>
          <a:xfrm>
            <a:off x="9139546" y="2983004"/>
            <a:ext cx="720000" cy="720000"/>
            <a:chOff x="9697066" y="2430693"/>
            <a:chExt cx="720000" cy="720000"/>
          </a:xfrm>
        </p:grpSpPr>
        <p:sp>
          <p:nvSpPr>
            <p:cNvPr id="55" name="椭圆 54">
              <a:extLst>
                <a:ext uri="{FF2B5EF4-FFF2-40B4-BE49-F238E27FC236}">
                  <a16:creationId xmlns:a16="http://schemas.microsoft.com/office/drawing/2014/main" id="{DD601F3B-835F-C4A1-5246-C4FDA8659D08}"/>
                </a:ext>
              </a:extLst>
            </p:cNvPr>
            <p:cNvSpPr/>
            <p:nvPr/>
          </p:nvSpPr>
          <p:spPr>
            <a:xfrm>
              <a:off x="9697066" y="2430693"/>
              <a:ext cx="720000" cy="720000"/>
            </a:xfrm>
            <a:prstGeom prst="ellipse">
              <a:avLst/>
            </a:prstGeom>
            <a:solidFill>
              <a:schemeClr val="accent1"/>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pic>
          <p:nvPicPr>
            <p:cNvPr id="56" name="图形 55" descr="集体讨论">
              <a:extLst>
                <a:ext uri="{FF2B5EF4-FFF2-40B4-BE49-F238E27FC236}">
                  <a16:creationId xmlns:a16="http://schemas.microsoft.com/office/drawing/2014/main" id="{34898FDF-65C4-4617-DD80-39F0DA6754F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787066" y="2520693"/>
              <a:ext cx="540000" cy="540000"/>
            </a:xfrm>
            <a:prstGeom prst="rect">
              <a:avLst/>
            </a:prstGeom>
          </p:spPr>
        </p:pic>
      </p:grpSp>
      <p:grpSp>
        <p:nvGrpSpPr>
          <p:cNvPr id="59" name="组合 58">
            <a:extLst>
              <a:ext uri="{FF2B5EF4-FFF2-40B4-BE49-F238E27FC236}">
                <a16:creationId xmlns:a16="http://schemas.microsoft.com/office/drawing/2014/main" id="{C8BF4D27-0E9D-1761-4B21-53527CFB4611}"/>
              </a:ext>
            </a:extLst>
          </p:cNvPr>
          <p:cNvGrpSpPr/>
          <p:nvPr/>
        </p:nvGrpSpPr>
        <p:grpSpPr>
          <a:xfrm>
            <a:off x="7331513" y="2983004"/>
            <a:ext cx="720000" cy="720000"/>
            <a:chOff x="3868723" y="3501337"/>
            <a:chExt cx="720000" cy="720000"/>
          </a:xfrm>
        </p:grpSpPr>
        <p:sp>
          <p:nvSpPr>
            <p:cNvPr id="54" name="椭圆 53">
              <a:extLst>
                <a:ext uri="{FF2B5EF4-FFF2-40B4-BE49-F238E27FC236}">
                  <a16:creationId xmlns:a16="http://schemas.microsoft.com/office/drawing/2014/main" id="{94188F7E-4717-F544-E52B-EE654477AE9F}"/>
                </a:ext>
              </a:extLst>
            </p:cNvPr>
            <p:cNvSpPr/>
            <p:nvPr/>
          </p:nvSpPr>
          <p:spPr>
            <a:xfrm>
              <a:off x="3868723" y="3501337"/>
              <a:ext cx="720000" cy="720000"/>
            </a:xfrm>
            <a:prstGeom prst="ellipse">
              <a:avLst/>
            </a:prstGeom>
            <a:solidFill>
              <a:schemeClr val="accent1"/>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pic>
          <p:nvPicPr>
            <p:cNvPr id="58" name="图形 57" descr="目标受众">
              <a:extLst>
                <a:ext uri="{FF2B5EF4-FFF2-40B4-BE49-F238E27FC236}">
                  <a16:creationId xmlns:a16="http://schemas.microsoft.com/office/drawing/2014/main" id="{59F1370F-9803-CAB7-DF3C-6465C1D7B87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958723" y="3591337"/>
              <a:ext cx="540000" cy="540000"/>
            </a:xfrm>
            <a:prstGeom prst="rect">
              <a:avLst/>
            </a:prstGeom>
          </p:spPr>
        </p:pic>
      </p:grpSp>
      <p:grpSp>
        <p:nvGrpSpPr>
          <p:cNvPr id="61" name="组合 60">
            <a:extLst>
              <a:ext uri="{FF2B5EF4-FFF2-40B4-BE49-F238E27FC236}">
                <a16:creationId xmlns:a16="http://schemas.microsoft.com/office/drawing/2014/main" id="{A53A0AEA-03B9-D32A-113E-29C49AF8B291}"/>
              </a:ext>
            </a:extLst>
          </p:cNvPr>
          <p:cNvGrpSpPr/>
          <p:nvPr/>
        </p:nvGrpSpPr>
        <p:grpSpPr>
          <a:xfrm>
            <a:off x="5523480" y="2983004"/>
            <a:ext cx="720000" cy="720000"/>
            <a:chOff x="2986370" y="3389852"/>
            <a:chExt cx="720000" cy="720000"/>
          </a:xfrm>
        </p:grpSpPr>
        <p:sp>
          <p:nvSpPr>
            <p:cNvPr id="53" name="椭圆 52">
              <a:extLst>
                <a:ext uri="{FF2B5EF4-FFF2-40B4-BE49-F238E27FC236}">
                  <a16:creationId xmlns:a16="http://schemas.microsoft.com/office/drawing/2014/main" id="{F1286A49-5345-50C8-58AB-D96EF203ABC8}"/>
                </a:ext>
              </a:extLst>
            </p:cNvPr>
            <p:cNvSpPr/>
            <p:nvPr/>
          </p:nvSpPr>
          <p:spPr>
            <a:xfrm>
              <a:off x="2986370" y="3389852"/>
              <a:ext cx="720000" cy="720000"/>
            </a:xfrm>
            <a:prstGeom prst="ellipse">
              <a:avLst/>
            </a:prstGeom>
            <a:solidFill>
              <a:schemeClr val="accent1"/>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pic>
          <p:nvPicPr>
            <p:cNvPr id="60" name="图形 59" descr="客户评价 RTL">
              <a:extLst>
                <a:ext uri="{FF2B5EF4-FFF2-40B4-BE49-F238E27FC236}">
                  <a16:creationId xmlns:a16="http://schemas.microsoft.com/office/drawing/2014/main" id="{7D994ED4-9FCB-9730-9B5A-73672D75CD2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076370" y="3479852"/>
              <a:ext cx="540000" cy="540000"/>
            </a:xfrm>
            <a:prstGeom prst="rect">
              <a:avLst/>
            </a:prstGeom>
          </p:spPr>
        </p:pic>
      </p:grpSp>
      <p:grpSp>
        <p:nvGrpSpPr>
          <p:cNvPr id="63" name="组合 62">
            <a:extLst>
              <a:ext uri="{FF2B5EF4-FFF2-40B4-BE49-F238E27FC236}">
                <a16:creationId xmlns:a16="http://schemas.microsoft.com/office/drawing/2014/main" id="{68905629-C301-8CE8-A08A-82F7BB2CF52B}"/>
              </a:ext>
            </a:extLst>
          </p:cNvPr>
          <p:cNvGrpSpPr/>
          <p:nvPr/>
        </p:nvGrpSpPr>
        <p:grpSpPr>
          <a:xfrm>
            <a:off x="3715447" y="2983004"/>
            <a:ext cx="720000" cy="720000"/>
            <a:chOff x="1966646" y="3286535"/>
            <a:chExt cx="720000" cy="720000"/>
          </a:xfrm>
        </p:grpSpPr>
        <p:sp>
          <p:nvSpPr>
            <p:cNvPr id="51" name="椭圆 50">
              <a:extLst>
                <a:ext uri="{FF2B5EF4-FFF2-40B4-BE49-F238E27FC236}">
                  <a16:creationId xmlns:a16="http://schemas.microsoft.com/office/drawing/2014/main" id="{43035464-CECB-413A-0591-793121207806}"/>
                </a:ext>
              </a:extLst>
            </p:cNvPr>
            <p:cNvSpPr/>
            <p:nvPr/>
          </p:nvSpPr>
          <p:spPr>
            <a:xfrm>
              <a:off x="1966646" y="3286535"/>
              <a:ext cx="720000" cy="720000"/>
            </a:xfrm>
            <a:prstGeom prst="ellipse">
              <a:avLst/>
            </a:prstGeom>
            <a:solidFill>
              <a:schemeClr val="accent1"/>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pic>
          <p:nvPicPr>
            <p:cNvPr id="62" name="图形 61" descr="教师">
              <a:extLst>
                <a:ext uri="{FF2B5EF4-FFF2-40B4-BE49-F238E27FC236}">
                  <a16:creationId xmlns:a16="http://schemas.microsoft.com/office/drawing/2014/main" id="{D6AD6752-469B-2905-5E2B-502BFE90212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056646" y="3376535"/>
              <a:ext cx="540000" cy="540000"/>
            </a:xfrm>
            <a:prstGeom prst="rect">
              <a:avLst/>
            </a:prstGeom>
          </p:spPr>
        </p:pic>
      </p:grpSp>
    </p:spTree>
    <p:extLst>
      <p:ext uri="{BB962C8B-B14F-4D97-AF65-F5344CB8AC3E}">
        <p14:creationId xmlns:p14="http://schemas.microsoft.com/office/powerpoint/2010/main" val="927028775"/>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1B81A-37A9-EBE3-EEE0-B1891777F171}"/>
            </a:ext>
          </a:extLst>
        </p:cNvPr>
        <p:cNvGrpSpPr/>
        <p:nvPr/>
      </p:nvGrpSpPr>
      <p:grpSpPr>
        <a:xfrm>
          <a:off x="0" y="0"/>
          <a:ext cx="0" cy="0"/>
          <a:chOff x="0" y="0"/>
          <a:chExt cx="0" cy="0"/>
        </a:xfrm>
      </p:grpSpPr>
      <p:graphicFrame>
        <p:nvGraphicFramePr>
          <p:cNvPr id="9" name="表格 8">
            <a:extLst>
              <a:ext uri="{FF2B5EF4-FFF2-40B4-BE49-F238E27FC236}">
                <a16:creationId xmlns:a16="http://schemas.microsoft.com/office/drawing/2014/main" id="{B1124AA8-1D3F-D27E-BC0B-A1F9DEA91C9E}"/>
              </a:ext>
            </a:extLst>
          </p:cNvPr>
          <p:cNvGraphicFramePr>
            <a:graphicFrameLocks noGrp="1"/>
          </p:cNvGraphicFramePr>
          <p:nvPr>
            <p:extLst>
              <p:ext uri="{D42A27DB-BD31-4B8C-83A1-F6EECF244321}">
                <p14:modId xmlns:p14="http://schemas.microsoft.com/office/powerpoint/2010/main" val="1201995078"/>
              </p:ext>
            </p:extLst>
          </p:nvPr>
        </p:nvGraphicFramePr>
        <p:xfrm>
          <a:off x="2856000" y="2301240"/>
          <a:ext cx="6480000" cy="2255520"/>
        </p:xfrm>
        <a:graphic>
          <a:graphicData uri="http://schemas.openxmlformats.org/drawingml/2006/table">
            <a:tbl>
              <a:tblPr/>
              <a:tblGrid>
                <a:gridCol w="1080000">
                  <a:extLst>
                    <a:ext uri="{9D8B030D-6E8A-4147-A177-3AD203B41FA5}">
                      <a16:colId xmlns:a16="http://schemas.microsoft.com/office/drawing/2014/main" val="3227890518"/>
                    </a:ext>
                  </a:extLst>
                </a:gridCol>
                <a:gridCol w="1080000">
                  <a:extLst>
                    <a:ext uri="{9D8B030D-6E8A-4147-A177-3AD203B41FA5}">
                      <a16:colId xmlns:a16="http://schemas.microsoft.com/office/drawing/2014/main" val="1620190121"/>
                    </a:ext>
                  </a:extLst>
                </a:gridCol>
                <a:gridCol w="1080000">
                  <a:extLst>
                    <a:ext uri="{9D8B030D-6E8A-4147-A177-3AD203B41FA5}">
                      <a16:colId xmlns:a16="http://schemas.microsoft.com/office/drawing/2014/main" val="387530637"/>
                    </a:ext>
                  </a:extLst>
                </a:gridCol>
                <a:gridCol w="1080000">
                  <a:extLst>
                    <a:ext uri="{9D8B030D-6E8A-4147-A177-3AD203B41FA5}">
                      <a16:colId xmlns:a16="http://schemas.microsoft.com/office/drawing/2014/main" val="2446955010"/>
                    </a:ext>
                  </a:extLst>
                </a:gridCol>
                <a:gridCol w="1080000">
                  <a:extLst>
                    <a:ext uri="{9D8B030D-6E8A-4147-A177-3AD203B41FA5}">
                      <a16:colId xmlns:a16="http://schemas.microsoft.com/office/drawing/2014/main" val="1633442213"/>
                    </a:ext>
                  </a:extLst>
                </a:gridCol>
                <a:gridCol w="1080000">
                  <a:extLst>
                    <a:ext uri="{9D8B030D-6E8A-4147-A177-3AD203B41FA5}">
                      <a16:colId xmlns:a16="http://schemas.microsoft.com/office/drawing/2014/main" val="1071517291"/>
                    </a:ext>
                  </a:extLst>
                </a:gridCol>
              </a:tblGrid>
              <a:tr h="367020">
                <a:tc gridSpan="6">
                  <a:txBody>
                    <a:bodyPr/>
                    <a:lstStyle/>
                    <a:p>
                      <a:pPr algn="l">
                        <a:buNone/>
                      </a:pPr>
                      <a:r>
                        <a:rPr lang="en-US" altLang="zh-CN" sz="1600" dirty="0">
                          <a:solidFill>
                            <a:schemeClr val="tx1"/>
                          </a:solidFill>
                        </a:rPr>
                        <a:t>Case 1</a:t>
                      </a:r>
                      <a:r>
                        <a:rPr lang="zh-CN" altLang="en-US" sz="1600" dirty="0">
                          <a:solidFill>
                            <a:schemeClr val="tx1"/>
                          </a:solidFill>
                        </a:rPr>
                        <a:t>：估值分布位于 </a:t>
                      </a:r>
                      <a:r>
                        <a:rPr lang="en-US" altLang="zh-CN" sz="1600" dirty="0">
                          <a:solidFill>
                            <a:schemeClr val="tx1"/>
                          </a:solidFill>
                        </a:rPr>
                        <a:t>3 </a:t>
                      </a:r>
                      <a:r>
                        <a:rPr lang="zh-CN" altLang="en-US" sz="1600" dirty="0">
                          <a:solidFill>
                            <a:schemeClr val="tx1"/>
                          </a:solidFill>
                        </a:rPr>
                        <a:t>个连续区域，则取平均</a:t>
                      </a:r>
                      <a:endParaRPr lang="en-US" altLang="zh-CN" sz="1600" dirty="0">
                        <a:solidFill>
                          <a:schemeClr val="tx1"/>
                        </a:solidFill>
                      </a:endParaRPr>
                    </a:p>
                    <a:p>
                      <a:pPr algn="l">
                        <a:buNone/>
                      </a:pPr>
                      <a:endParaRPr lang="zh-CN" altLang="en-US" sz="1600" dirty="0">
                        <a:solidFill>
                          <a:schemeClr val="tx1"/>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xBody>
                    <a:bodyPr/>
                    <a:lstStyle/>
                    <a:p>
                      <a:pPr algn="ctr">
                        <a:buNone/>
                      </a:pP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xBody>
                    <a:bodyPr/>
                    <a:lstStyle/>
                    <a:p>
                      <a:pPr algn="ctr">
                        <a:buNone/>
                      </a:pPr>
                      <a:endParaRPr lang="en-US" altLang="zh-CN"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xBody>
                    <a:bodyPr/>
                    <a:lstStyle/>
                    <a:p>
                      <a:pPr algn="ctr">
                        <a:buNone/>
                      </a:pPr>
                      <a:endParaRPr lang="en-US" altLang="zh-CN"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xBody>
                    <a:bodyPr/>
                    <a:lstStyle/>
                    <a:p>
                      <a:pPr algn="ctr">
                        <a:buNone/>
                      </a:pPr>
                      <a:endParaRPr lang="en-US" altLang="zh-CN"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558952673"/>
                  </a:ext>
                </a:extLst>
              </a:tr>
              <a:tr h="183510">
                <a:tc>
                  <a:txBody>
                    <a:bodyPr/>
                    <a:lstStyle/>
                    <a:p>
                      <a:pPr algn="ctr">
                        <a:buNone/>
                      </a:pPr>
                      <a:r>
                        <a:rPr lang="en-US" sz="1600" dirty="0">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buNone/>
                      </a:pPr>
                      <a:r>
                        <a:rPr lang="en-US" sz="1600" dirty="0">
                          <a:solidFill>
                            <a:schemeClr val="bg1"/>
                          </a:solidFill>
                        </a:rPr>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buNone/>
                      </a:pPr>
                      <a:r>
                        <a:rPr lang="en-US" altLang="zh-CN" sz="1600" dirty="0">
                          <a:solidFill>
                            <a:schemeClr val="bg1"/>
                          </a:solidFill>
                        </a:rPr>
                        <a:t>3</a:t>
                      </a:r>
                      <a:endParaRPr lang="zh-CN" altLang="en-US" sz="16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buNone/>
                      </a:pPr>
                      <a:r>
                        <a:rPr lang="en-US" altLang="zh-CN" sz="1600" dirty="0">
                          <a:solidFill>
                            <a:schemeClr val="bg1"/>
                          </a:solidFill>
                        </a:rPr>
                        <a:t>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buNone/>
                      </a:pPr>
                      <a:r>
                        <a:rPr lang="en-US" altLang="zh-CN" sz="1600" dirty="0">
                          <a:solidFill>
                            <a:schemeClr val="bg1"/>
                          </a:solidFill>
                        </a:rPr>
                        <a:t>8</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buNone/>
                      </a:pPr>
                      <a:r>
                        <a:rPr lang="en-US" altLang="zh-CN" sz="1600" dirty="0">
                          <a:solidFill>
                            <a:schemeClr val="bg1"/>
                          </a:solidFill>
                        </a:rPr>
                        <a:t>13</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2218416589"/>
                  </a:ext>
                </a:extLst>
              </a:tr>
              <a:tr h="20186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chemeClr val="tx1"/>
                          </a:solidFill>
                          <a:effectLst/>
                          <a:uLnTx/>
                          <a:uFillTx/>
                          <a:latin typeface="Montserrat"/>
                          <a:ea typeface="微软雅黑 Light"/>
                          <a:cs typeface="+mn-cs"/>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solidFill>
                            <a:schemeClr val="tx1"/>
                          </a:solidFill>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solidFill>
                            <a:schemeClr val="tx1"/>
                          </a:solidFill>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6791799"/>
                  </a:ext>
                </a:extLst>
              </a:tr>
              <a:tr h="201861">
                <a:tc>
                  <a:txBody>
                    <a:bodyPr/>
                    <a:lstStyle/>
                    <a:p>
                      <a:pPr algn="ctr">
                        <a:buNone/>
                      </a:pP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solidFill>
                            <a:schemeClr val="tx1"/>
                          </a:solidFill>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9275656"/>
                  </a:ext>
                </a:extLst>
              </a:tr>
              <a:tr h="201861">
                <a:tc>
                  <a:txBody>
                    <a:bodyPr/>
                    <a:lstStyle/>
                    <a:p>
                      <a:pPr algn="ctr">
                        <a:buNone/>
                      </a:pP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sz="16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solidFill>
                            <a:schemeClr val="tx1"/>
                          </a:solidFill>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3718338"/>
                  </a:ext>
                </a:extLst>
              </a:tr>
              <a:tr h="201861">
                <a:tc>
                  <a:txBody>
                    <a:bodyPr/>
                    <a:lstStyle/>
                    <a:p>
                      <a:pPr algn="ctr">
                        <a:buNone/>
                      </a:pPr>
                      <a:r>
                        <a:rPr lang="en-US" altLang="zh-CN" sz="1600" dirty="0">
                          <a:solidFill>
                            <a:schemeClr val="tx1"/>
                          </a:solidFill>
                        </a:rPr>
                        <a:t>Result</a:t>
                      </a: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l">
                        <a:buNone/>
                      </a:pPr>
                      <a:r>
                        <a:rPr lang="en-US" sz="1600" dirty="0">
                          <a:solidFill>
                            <a:schemeClr val="tx1"/>
                          </a:solidFill>
                        </a:rPr>
                        <a:t>(3+3+3+5+8)/5=4.4</a:t>
                      </a:r>
                      <a:r>
                        <a:rPr lang="zh-CN" altLang="en-US" sz="1600" dirty="0">
                          <a:solidFill>
                            <a:schemeClr val="tx1"/>
                          </a:solidFill>
                        </a:rPr>
                        <a:t>；取值 </a:t>
                      </a:r>
                      <a:r>
                        <a:rPr lang="en-US" altLang="zh-CN" sz="1600" dirty="0">
                          <a:solidFill>
                            <a:schemeClr val="tx1"/>
                          </a:solidFill>
                        </a:rPr>
                        <a:t>5</a:t>
                      </a: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en-US" altLang="zh-CN" sz="16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en-US" altLang="zh-CN" sz="16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32974302"/>
                  </a:ext>
                </a:extLst>
              </a:tr>
            </a:tbl>
          </a:graphicData>
        </a:graphic>
      </p:graphicFrame>
    </p:spTree>
    <p:extLst>
      <p:ext uri="{BB962C8B-B14F-4D97-AF65-F5344CB8AC3E}">
        <p14:creationId xmlns:p14="http://schemas.microsoft.com/office/powerpoint/2010/main" val="3675884508"/>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表格 8">
            <a:extLst>
              <a:ext uri="{FF2B5EF4-FFF2-40B4-BE49-F238E27FC236}">
                <a16:creationId xmlns:a16="http://schemas.microsoft.com/office/drawing/2014/main" id="{E6F0629C-437B-49CA-FAE8-6EBEE948C4C5}"/>
              </a:ext>
            </a:extLst>
          </p:cNvPr>
          <p:cNvGraphicFramePr>
            <a:graphicFrameLocks noGrp="1"/>
          </p:cNvGraphicFramePr>
          <p:nvPr>
            <p:extLst>
              <p:ext uri="{D42A27DB-BD31-4B8C-83A1-F6EECF244321}">
                <p14:modId xmlns:p14="http://schemas.microsoft.com/office/powerpoint/2010/main" val="3618853924"/>
              </p:ext>
            </p:extLst>
          </p:nvPr>
        </p:nvGraphicFramePr>
        <p:xfrm>
          <a:off x="2856000" y="2301240"/>
          <a:ext cx="6480000" cy="2255520"/>
        </p:xfrm>
        <a:graphic>
          <a:graphicData uri="http://schemas.openxmlformats.org/drawingml/2006/table">
            <a:tbl>
              <a:tblPr/>
              <a:tblGrid>
                <a:gridCol w="1080000">
                  <a:extLst>
                    <a:ext uri="{9D8B030D-6E8A-4147-A177-3AD203B41FA5}">
                      <a16:colId xmlns:a16="http://schemas.microsoft.com/office/drawing/2014/main" val="3227890518"/>
                    </a:ext>
                  </a:extLst>
                </a:gridCol>
                <a:gridCol w="1080000">
                  <a:extLst>
                    <a:ext uri="{9D8B030D-6E8A-4147-A177-3AD203B41FA5}">
                      <a16:colId xmlns:a16="http://schemas.microsoft.com/office/drawing/2014/main" val="1620190121"/>
                    </a:ext>
                  </a:extLst>
                </a:gridCol>
                <a:gridCol w="1080000">
                  <a:extLst>
                    <a:ext uri="{9D8B030D-6E8A-4147-A177-3AD203B41FA5}">
                      <a16:colId xmlns:a16="http://schemas.microsoft.com/office/drawing/2014/main" val="387530637"/>
                    </a:ext>
                  </a:extLst>
                </a:gridCol>
                <a:gridCol w="1080000">
                  <a:extLst>
                    <a:ext uri="{9D8B030D-6E8A-4147-A177-3AD203B41FA5}">
                      <a16:colId xmlns:a16="http://schemas.microsoft.com/office/drawing/2014/main" val="2446955010"/>
                    </a:ext>
                  </a:extLst>
                </a:gridCol>
                <a:gridCol w="1080000">
                  <a:extLst>
                    <a:ext uri="{9D8B030D-6E8A-4147-A177-3AD203B41FA5}">
                      <a16:colId xmlns:a16="http://schemas.microsoft.com/office/drawing/2014/main" val="1633442213"/>
                    </a:ext>
                  </a:extLst>
                </a:gridCol>
                <a:gridCol w="1080000">
                  <a:extLst>
                    <a:ext uri="{9D8B030D-6E8A-4147-A177-3AD203B41FA5}">
                      <a16:colId xmlns:a16="http://schemas.microsoft.com/office/drawing/2014/main" val="1071517291"/>
                    </a:ext>
                  </a:extLst>
                </a:gridCol>
              </a:tblGrid>
              <a:tr h="183510">
                <a:tc gridSpan="6">
                  <a:txBody>
                    <a:bodyPr/>
                    <a:lstStyle/>
                    <a:p>
                      <a:pPr algn="l">
                        <a:buNone/>
                      </a:pPr>
                      <a:r>
                        <a:rPr lang="en-US" altLang="zh-CN" sz="1600" dirty="0">
                          <a:solidFill>
                            <a:schemeClr val="tx1"/>
                          </a:solidFill>
                        </a:rPr>
                        <a:t>Case 2</a:t>
                      </a:r>
                      <a:r>
                        <a:rPr lang="zh-CN" altLang="en-US" sz="1600" dirty="0">
                          <a:solidFill>
                            <a:schemeClr val="tx1"/>
                          </a:solidFill>
                        </a:rPr>
                        <a:t>：估值分布超过 </a:t>
                      </a:r>
                      <a:r>
                        <a:rPr lang="en-US" altLang="zh-CN" sz="1600" dirty="0">
                          <a:solidFill>
                            <a:schemeClr val="tx1"/>
                          </a:solidFill>
                        </a:rPr>
                        <a:t>3 </a:t>
                      </a:r>
                      <a:r>
                        <a:rPr lang="zh-CN" altLang="en-US" sz="1600" dirty="0">
                          <a:solidFill>
                            <a:schemeClr val="tx1"/>
                          </a:solidFill>
                        </a:rPr>
                        <a:t>个连续区域，最高估值和最低估值应说明原因并重新亮牌；最多可以重复 </a:t>
                      </a:r>
                      <a:r>
                        <a:rPr lang="en-US" altLang="zh-CN" sz="1600" dirty="0">
                          <a:solidFill>
                            <a:schemeClr val="tx1"/>
                          </a:solidFill>
                        </a:rPr>
                        <a:t>2 </a:t>
                      </a:r>
                      <a:r>
                        <a:rPr lang="zh-CN" altLang="en-US" sz="1600" dirty="0">
                          <a:solidFill>
                            <a:schemeClr val="tx1"/>
                          </a:solidFill>
                        </a:rPr>
                        <a:t>次</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xBody>
                    <a:bodyPr/>
                    <a:lstStyle/>
                    <a:p>
                      <a:pPr algn="ctr">
                        <a:buNone/>
                      </a:pP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xBody>
                    <a:bodyPr/>
                    <a:lstStyle/>
                    <a:p>
                      <a:pPr algn="ctr">
                        <a:buNone/>
                      </a:pPr>
                      <a:endParaRPr lang="en-US" altLang="zh-CN"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xBody>
                    <a:bodyPr/>
                    <a:lstStyle/>
                    <a:p>
                      <a:pPr algn="ctr">
                        <a:buNone/>
                      </a:pPr>
                      <a:endParaRPr lang="en-US" altLang="zh-CN"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xBody>
                    <a:bodyPr/>
                    <a:lstStyle/>
                    <a:p>
                      <a:pPr algn="ctr">
                        <a:buNone/>
                      </a:pPr>
                      <a:endParaRPr lang="en-US" altLang="zh-CN"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558952673"/>
                  </a:ext>
                </a:extLst>
              </a:tr>
              <a:tr h="183510">
                <a:tc>
                  <a:txBody>
                    <a:bodyPr/>
                    <a:lstStyle/>
                    <a:p>
                      <a:pPr algn="ctr">
                        <a:buNone/>
                      </a:pPr>
                      <a:r>
                        <a:rPr lang="en-US" sz="1600" dirty="0">
                          <a:solidFill>
                            <a:schemeClr val="bg1"/>
                          </a:solidFill>
                        </a:rPr>
                        <a:t>1</a:t>
                      </a:r>
                    </a:p>
                  </a:txBody>
                  <a:tcPr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buNone/>
                      </a:pPr>
                      <a:r>
                        <a:rPr lang="en-US" sz="1600" dirty="0">
                          <a:solidFill>
                            <a:schemeClr val="bg1"/>
                          </a:solidFill>
                        </a:rPr>
                        <a:t>2</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buNone/>
                      </a:pPr>
                      <a:r>
                        <a:rPr lang="en-US" altLang="zh-CN" sz="1600" dirty="0">
                          <a:solidFill>
                            <a:schemeClr val="bg1"/>
                          </a:solidFill>
                        </a:rPr>
                        <a:t>3</a:t>
                      </a:r>
                      <a:endParaRPr lang="zh-CN" altLang="en-US" sz="1600" dirty="0">
                        <a:solidFill>
                          <a:schemeClr val="bg1"/>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buNone/>
                      </a:pPr>
                      <a:r>
                        <a:rPr lang="en-US" altLang="zh-CN" sz="1600" dirty="0">
                          <a:solidFill>
                            <a:schemeClr val="bg1"/>
                          </a:solidFill>
                        </a:rPr>
                        <a:t>5</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buNone/>
                      </a:pPr>
                      <a:r>
                        <a:rPr lang="en-US" altLang="zh-CN" sz="1600" dirty="0">
                          <a:solidFill>
                            <a:schemeClr val="bg1"/>
                          </a:solidFill>
                        </a:rPr>
                        <a:t>8</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buNone/>
                      </a:pPr>
                      <a:r>
                        <a:rPr lang="en-US" altLang="zh-CN" sz="1600" dirty="0">
                          <a:solidFill>
                            <a:schemeClr val="bg1"/>
                          </a:solidFill>
                        </a:rPr>
                        <a:t>13</a:t>
                      </a:r>
                    </a:p>
                  </a:txBody>
                  <a:tcPr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2218416589"/>
                  </a:ext>
                </a:extLst>
              </a:tr>
              <a:tr h="20186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chemeClr val="tx1"/>
                          </a:solidFill>
                          <a:effectLst/>
                          <a:uLnTx/>
                          <a:uFillTx/>
                          <a:latin typeface="Montserrat"/>
                          <a:ea typeface="微软雅黑 Light"/>
                          <a:cs typeface="+mn-cs"/>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chemeClr val="tx1"/>
                          </a:solidFill>
                          <a:effectLst/>
                          <a:uLnTx/>
                          <a:uFillTx/>
                          <a:latin typeface="Montserrat"/>
                          <a:ea typeface="微软雅黑 Light"/>
                          <a:cs typeface="+mn-cs"/>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solidFill>
                            <a:schemeClr val="tx1"/>
                          </a:solidFill>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solidFill>
                            <a:schemeClr val="tx1"/>
                          </a:solidFill>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6791799"/>
                  </a:ext>
                </a:extLst>
              </a:tr>
              <a:tr h="201861">
                <a:tc>
                  <a:txBody>
                    <a:bodyPr/>
                    <a:lstStyle/>
                    <a:p>
                      <a:pPr algn="ctr">
                        <a:buNone/>
                      </a:pP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solidFill>
                            <a:schemeClr val="tx1"/>
                          </a:solidFill>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9275656"/>
                  </a:ext>
                </a:extLst>
              </a:tr>
              <a:tr h="201861">
                <a:tc>
                  <a:txBody>
                    <a:bodyPr/>
                    <a:lstStyle/>
                    <a:p>
                      <a:pPr algn="ctr">
                        <a:buNone/>
                      </a:pP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sz="16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3718338"/>
                  </a:ext>
                </a:extLst>
              </a:tr>
              <a:tr h="201861">
                <a:tc>
                  <a:txBody>
                    <a:bodyPr/>
                    <a:lstStyle/>
                    <a:p>
                      <a:pPr algn="ctr">
                        <a:buNone/>
                      </a:pPr>
                      <a:r>
                        <a:rPr lang="en-US" altLang="zh-CN" sz="1600" dirty="0">
                          <a:solidFill>
                            <a:schemeClr val="tx1"/>
                          </a:solidFill>
                        </a:rPr>
                        <a:t>Result</a:t>
                      </a: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l">
                        <a:buNone/>
                      </a:pP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en-US" altLang="zh-CN" sz="16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en-US" altLang="zh-CN" sz="16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32974302"/>
                  </a:ext>
                </a:extLst>
              </a:tr>
            </a:tbl>
          </a:graphicData>
        </a:graphic>
      </p:graphicFrame>
    </p:spTree>
    <p:extLst>
      <p:ext uri="{BB962C8B-B14F-4D97-AF65-F5344CB8AC3E}">
        <p14:creationId xmlns:p14="http://schemas.microsoft.com/office/powerpoint/2010/main" val="780782454"/>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D9035-EEA5-0D10-A7DD-7739926AF6C3}"/>
            </a:ext>
          </a:extLst>
        </p:cNvPr>
        <p:cNvGrpSpPr/>
        <p:nvPr/>
      </p:nvGrpSpPr>
      <p:grpSpPr>
        <a:xfrm>
          <a:off x="0" y="0"/>
          <a:ext cx="0" cy="0"/>
          <a:chOff x="0" y="0"/>
          <a:chExt cx="0" cy="0"/>
        </a:xfrm>
      </p:grpSpPr>
      <p:graphicFrame>
        <p:nvGraphicFramePr>
          <p:cNvPr id="9" name="表格 8">
            <a:extLst>
              <a:ext uri="{FF2B5EF4-FFF2-40B4-BE49-F238E27FC236}">
                <a16:creationId xmlns:a16="http://schemas.microsoft.com/office/drawing/2014/main" id="{4AB43A85-5103-AA80-A2B0-B5D66D84F1D1}"/>
              </a:ext>
            </a:extLst>
          </p:cNvPr>
          <p:cNvGraphicFramePr>
            <a:graphicFrameLocks noGrp="1"/>
          </p:cNvGraphicFramePr>
          <p:nvPr>
            <p:extLst>
              <p:ext uri="{D42A27DB-BD31-4B8C-83A1-F6EECF244321}">
                <p14:modId xmlns:p14="http://schemas.microsoft.com/office/powerpoint/2010/main" val="3037293588"/>
              </p:ext>
            </p:extLst>
          </p:nvPr>
        </p:nvGraphicFramePr>
        <p:xfrm>
          <a:off x="2856000" y="2301240"/>
          <a:ext cx="6480000" cy="2255520"/>
        </p:xfrm>
        <a:graphic>
          <a:graphicData uri="http://schemas.openxmlformats.org/drawingml/2006/table">
            <a:tbl>
              <a:tblPr/>
              <a:tblGrid>
                <a:gridCol w="1080000">
                  <a:extLst>
                    <a:ext uri="{9D8B030D-6E8A-4147-A177-3AD203B41FA5}">
                      <a16:colId xmlns:a16="http://schemas.microsoft.com/office/drawing/2014/main" val="3227890518"/>
                    </a:ext>
                  </a:extLst>
                </a:gridCol>
                <a:gridCol w="1080000">
                  <a:extLst>
                    <a:ext uri="{9D8B030D-6E8A-4147-A177-3AD203B41FA5}">
                      <a16:colId xmlns:a16="http://schemas.microsoft.com/office/drawing/2014/main" val="1620190121"/>
                    </a:ext>
                  </a:extLst>
                </a:gridCol>
                <a:gridCol w="1080000">
                  <a:extLst>
                    <a:ext uri="{9D8B030D-6E8A-4147-A177-3AD203B41FA5}">
                      <a16:colId xmlns:a16="http://schemas.microsoft.com/office/drawing/2014/main" val="387530637"/>
                    </a:ext>
                  </a:extLst>
                </a:gridCol>
                <a:gridCol w="1080000">
                  <a:extLst>
                    <a:ext uri="{9D8B030D-6E8A-4147-A177-3AD203B41FA5}">
                      <a16:colId xmlns:a16="http://schemas.microsoft.com/office/drawing/2014/main" val="2446955010"/>
                    </a:ext>
                  </a:extLst>
                </a:gridCol>
                <a:gridCol w="1080000">
                  <a:extLst>
                    <a:ext uri="{9D8B030D-6E8A-4147-A177-3AD203B41FA5}">
                      <a16:colId xmlns:a16="http://schemas.microsoft.com/office/drawing/2014/main" val="1633442213"/>
                    </a:ext>
                  </a:extLst>
                </a:gridCol>
                <a:gridCol w="1080000">
                  <a:extLst>
                    <a:ext uri="{9D8B030D-6E8A-4147-A177-3AD203B41FA5}">
                      <a16:colId xmlns:a16="http://schemas.microsoft.com/office/drawing/2014/main" val="1071517291"/>
                    </a:ext>
                  </a:extLst>
                </a:gridCol>
              </a:tblGrid>
              <a:tr h="183510">
                <a:tc gridSpan="6">
                  <a:txBody>
                    <a:bodyPr/>
                    <a:lstStyle/>
                    <a:p>
                      <a:pPr algn="l">
                        <a:buNone/>
                      </a:pPr>
                      <a:r>
                        <a:rPr lang="en-US" altLang="zh-CN" sz="1600" dirty="0">
                          <a:solidFill>
                            <a:sysClr val="windowText" lastClr="000000"/>
                          </a:solidFill>
                        </a:rPr>
                        <a:t>Case 3</a:t>
                      </a:r>
                      <a:r>
                        <a:rPr lang="zh-CN" altLang="en-US" sz="1600" dirty="0">
                          <a:solidFill>
                            <a:sysClr val="windowText" lastClr="000000"/>
                          </a:solidFill>
                        </a:rPr>
                        <a:t>：第 </a:t>
                      </a:r>
                      <a:r>
                        <a:rPr lang="en-US" altLang="zh-CN" sz="1600" dirty="0">
                          <a:solidFill>
                            <a:sysClr val="windowText" lastClr="000000"/>
                          </a:solidFill>
                        </a:rPr>
                        <a:t>3 </a:t>
                      </a:r>
                      <a:r>
                        <a:rPr lang="zh-CN" altLang="en-US" sz="1600" dirty="0">
                          <a:solidFill>
                            <a:sysClr val="windowText" lastClr="000000"/>
                          </a:solidFill>
                        </a:rPr>
                        <a:t>次重复亮牌，估值分布依然超过 </a:t>
                      </a:r>
                      <a:r>
                        <a:rPr lang="en-US" altLang="zh-CN" sz="1600" dirty="0">
                          <a:solidFill>
                            <a:sysClr val="windowText" lastClr="000000"/>
                          </a:solidFill>
                        </a:rPr>
                        <a:t>3 </a:t>
                      </a:r>
                      <a:r>
                        <a:rPr lang="zh-CN" altLang="en-US" sz="1600" dirty="0">
                          <a:solidFill>
                            <a:sysClr val="windowText" lastClr="000000"/>
                          </a:solidFill>
                        </a:rPr>
                        <a:t>个连续区域，去掉最高估值和最低估值，其余求平均</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xBody>
                    <a:bodyPr/>
                    <a:lstStyle/>
                    <a:p>
                      <a:pPr algn="ctr">
                        <a:buNone/>
                      </a:pP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xBody>
                    <a:bodyPr/>
                    <a:lstStyle/>
                    <a:p>
                      <a:pPr algn="ctr">
                        <a:buNone/>
                      </a:pPr>
                      <a:endParaRPr lang="en-US" altLang="zh-CN"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xBody>
                    <a:bodyPr/>
                    <a:lstStyle/>
                    <a:p>
                      <a:pPr algn="ctr">
                        <a:buNone/>
                      </a:pPr>
                      <a:endParaRPr lang="en-US" altLang="zh-CN"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xBody>
                    <a:bodyPr/>
                    <a:lstStyle/>
                    <a:p>
                      <a:pPr algn="ctr">
                        <a:buNone/>
                      </a:pPr>
                      <a:endParaRPr lang="en-US" altLang="zh-CN"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558952673"/>
                  </a:ext>
                </a:extLst>
              </a:tr>
              <a:tr h="183510">
                <a:tc>
                  <a:txBody>
                    <a:bodyPr/>
                    <a:lstStyle/>
                    <a:p>
                      <a:pPr algn="ctr">
                        <a:buNone/>
                      </a:pPr>
                      <a:r>
                        <a:rPr lang="en-US" sz="1600" dirty="0">
                          <a:solidFill>
                            <a:schemeClr val="bg1"/>
                          </a:solidFill>
                        </a:rPr>
                        <a:t>1</a:t>
                      </a:r>
                    </a:p>
                  </a:txBody>
                  <a:tcPr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buNone/>
                      </a:pPr>
                      <a:r>
                        <a:rPr lang="en-US" sz="1600" dirty="0">
                          <a:solidFill>
                            <a:schemeClr val="bg1"/>
                          </a:solidFill>
                        </a:rPr>
                        <a:t>2</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buNone/>
                      </a:pPr>
                      <a:r>
                        <a:rPr lang="en-US" altLang="zh-CN" sz="1600" dirty="0">
                          <a:solidFill>
                            <a:schemeClr val="bg1"/>
                          </a:solidFill>
                        </a:rPr>
                        <a:t>3</a:t>
                      </a:r>
                      <a:endParaRPr lang="zh-CN" altLang="en-US" sz="1600" dirty="0">
                        <a:solidFill>
                          <a:schemeClr val="bg1"/>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buNone/>
                      </a:pPr>
                      <a:r>
                        <a:rPr lang="en-US" altLang="zh-CN" sz="1600" dirty="0">
                          <a:solidFill>
                            <a:schemeClr val="bg1"/>
                          </a:solidFill>
                        </a:rPr>
                        <a:t>5</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buNone/>
                      </a:pPr>
                      <a:r>
                        <a:rPr lang="en-US" altLang="zh-CN" sz="1600" dirty="0">
                          <a:solidFill>
                            <a:schemeClr val="bg1"/>
                          </a:solidFill>
                        </a:rPr>
                        <a:t>8</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buNone/>
                      </a:pPr>
                      <a:r>
                        <a:rPr lang="en-US" altLang="zh-CN" sz="1600" dirty="0">
                          <a:solidFill>
                            <a:schemeClr val="bg1"/>
                          </a:solidFill>
                        </a:rPr>
                        <a:t>13</a:t>
                      </a:r>
                    </a:p>
                  </a:txBody>
                  <a:tcPr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2218416589"/>
                  </a:ext>
                </a:extLst>
              </a:tr>
              <a:tr h="20186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ysClr val="windowText" lastClr="000000"/>
                          </a:solidFill>
                          <a:effectLst/>
                          <a:uLnTx/>
                          <a:uFillTx/>
                          <a:latin typeface="Montserrat"/>
                          <a:ea typeface="微软雅黑 Light"/>
                          <a:cs typeface="+mn-cs"/>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ysClr val="windowText" lastClr="000000"/>
                          </a:solidFill>
                          <a:effectLst/>
                          <a:uLnTx/>
                          <a:uFillTx/>
                          <a:latin typeface="Montserrat"/>
                          <a:ea typeface="微软雅黑 Light"/>
                          <a:cs typeface="+mn-cs"/>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solidFill>
                            <a:sysClr val="windowText" lastClr="000000"/>
                          </a:solidFill>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solidFill>
                            <a:sysClr val="windowText" lastClr="000000"/>
                          </a:solidFill>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solidFill>
                          <a:sysClr val="windowText" lastClr="000000"/>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6791799"/>
                  </a:ext>
                </a:extLst>
              </a:tr>
              <a:tr h="201861">
                <a:tc>
                  <a:txBody>
                    <a:bodyPr/>
                    <a:lstStyle/>
                    <a:p>
                      <a:pPr algn="ctr">
                        <a:buNone/>
                      </a:pPr>
                      <a:endParaRPr lang="en-US" sz="16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ysClr val="windowText" lastClr="000000"/>
                        </a:solidFill>
                        <a:effectLst/>
                        <a:uLnTx/>
                        <a:uFillTx/>
                        <a:latin typeface="Montserrat"/>
                        <a:ea typeface="微软雅黑 Light"/>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solidFill>
                            <a:sysClr val="windowText" lastClr="000000"/>
                          </a:solidFill>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ysClr val="windowText" lastClr="000000"/>
                        </a:solidFill>
                        <a:effectLst/>
                        <a:uLnTx/>
                        <a:uFillTx/>
                        <a:latin typeface="Montserrat"/>
                        <a:ea typeface="微软雅黑 Light"/>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solidFill>
                          <a:sysClr val="windowText" lastClr="000000"/>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solidFill>
                          <a:sysClr val="windowText" lastClr="000000"/>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9275656"/>
                  </a:ext>
                </a:extLst>
              </a:tr>
              <a:tr h="201861">
                <a:tc>
                  <a:txBody>
                    <a:bodyPr/>
                    <a:lstStyle/>
                    <a:p>
                      <a:pPr algn="ctr">
                        <a:buNone/>
                      </a:pPr>
                      <a:endParaRPr lang="en-US" sz="16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sz="1600" dirty="0">
                        <a:solidFill>
                          <a:sysClr val="windowText" lastClr="000000"/>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solidFill>
                          <a:sysClr val="windowText" lastClr="000000"/>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solidFill>
                          <a:sysClr val="windowText" lastClr="000000"/>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solidFill>
                          <a:sysClr val="windowText" lastClr="000000"/>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solidFill>
                          <a:sysClr val="windowText" lastClr="000000"/>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3718338"/>
                  </a:ext>
                </a:extLst>
              </a:tr>
              <a:tr h="201861">
                <a:tc>
                  <a:txBody>
                    <a:bodyPr/>
                    <a:lstStyle/>
                    <a:p>
                      <a:pPr algn="ctr">
                        <a:buNone/>
                      </a:pPr>
                      <a:r>
                        <a:rPr lang="en-US" altLang="zh-CN" sz="1600" dirty="0">
                          <a:solidFill>
                            <a:sysClr val="windowText" lastClr="000000"/>
                          </a:solidFill>
                        </a:rPr>
                        <a:t>Result</a:t>
                      </a:r>
                      <a:endParaRPr lang="en-US" sz="1600" dirty="0">
                        <a:solidFill>
                          <a:sysClr val="windowText" lastClr="0000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a:solidFill>
                            <a:sysClr val="windowText" lastClr="000000"/>
                          </a:solidFill>
                        </a:rPr>
                        <a:t>(3+3+5)/3</a:t>
                      </a:r>
                      <a:r>
                        <a:rPr lang="zh-CN" altLang="en-US" sz="1600" dirty="0">
                          <a:solidFill>
                            <a:sysClr val="windowText" lastClr="000000"/>
                          </a:solidFill>
                        </a:rPr>
                        <a:t>≈</a:t>
                      </a:r>
                      <a:r>
                        <a:rPr lang="en-US" altLang="zh-CN" sz="1600" dirty="0">
                          <a:solidFill>
                            <a:sysClr val="windowText" lastClr="000000"/>
                          </a:solidFill>
                        </a:rPr>
                        <a:t>3.67</a:t>
                      </a:r>
                      <a:r>
                        <a:rPr lang="zh-CN" altLang="en-US" sz="1600" dirty="0">
                          <a:solidFill>
                            <a:sysClr val="windowText" lastClr="000000"/>
                          </a:solidFill>
                        </a:rPr>
                        <a:t>；取值 </a:t>
                      </a:r>
                      <a:r>
                        <a:rPr lang="en-US" altLang="zh-CN" sz="1600" dirty="0">
                          <a:solidFill>
                            <a:sysClr val="windowText" lastClr="000000"/>
                          </a:solidFill>
                        </a:rPr>
                        <a:t>4</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en-US" altLang="zh-CN" sz="16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en-US" altLang="zh-CN" sz="16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32974302"/>
                  </a:ext>
                </a:extLst>
              </a:tr>
            </a:tbl>
          </a:graphicData>
        </a:graphic>
      </p:graphicFrame>
    </p:spTree>
    <p:extLst>
      <p:ext uri="{BB962C8B-B14F-4D97-AF65-F5344CB8AC3E}">
        <p14:creationId xmlns:p14="http://schemas.microsoft.com/office/powerpoint/2010/main" val="690452925"/>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335B9F-CB6F-B04B-D1E6-D60C2E73FAF3}"/>
              </a:ext>
            </a:extLst>
          </p:cNvPr>
          <p:cNvSpPr>
            <a:spLocks noGrp="1"/>
          </p:cNvSpPr>
          <p:nvPr>
            <p:ph type="title"/>
          </p:nvPr>
        </p:nvSpPr>
        <p:spPr>
          <a:xfrm>
            <a:off x="792000" y="360000"/>
            <a:ext cx="6375921" cy="429413"/>
          </a:xfrm>
        </p:spPr>
        <p:txBody>
          <a:bodyPr/>
          <a:lstStyle/>
          <a:p>
            <a:r>
              <a:rPr lang="en-US" altLang="zh-CN" dirty="0"/>
              <a:t>6.5 </a:t>
            </a:r>
            <a:r>
              <a:rPr lang="zh-CN" altLang="en-US" dirty="0"/>
              <a:t>成本预算</a:t>
            </a:r>
          </a:p>
        </p:txBody>
      </p:sp>
      <p:sp>
        <p:nvSpPr>
          <p:cNvPr id="3" name="内容占位符 2">
            <a:extLst>
              <a:ext uri="{FF2B5EF4-FFF2-40B4-BE49-F238E27FC236}">
                <a16:creationId xmlns:a16="http://schemas.microsoft.com/office/drawing/2014/main" id="{0F6BDF95-A5B8-D374-F14B-A9EE16E57C53}"/>
              </a:ext>
            </a:extLst>
          </p:cNvPr>
          <p:cNvSpPr>
            <a:spLocks noGrp="1"/>
          </p:cNvSpPr>
          <p:nvPr>
            <p:ph idx="1"/>
          </p:nvPr>
        </p:nvSpPr>
        <p:spPr>
          <a:xfrm>
            <a:off x="696000" y="864000"/>
            <a:ext cx="10800000" cy="5400000"/>
          </a:xfrm>
        </p:spPr>
        <p:txBody>
          <a:bodyPr/>
          <a:lstStyle/>
          <a:p>
            <a:r>
              <a:rPr lang="zh-CN" altLang="en-US" dirty="0"/>
              <a:t>估算是成本管理的前期步骤，用于预测完成项目所需的成本，具有不确定性</a:t>
            </a:r>
          </a:p>
          <a:p>
            <a:r>
              <a:rPr lang="zh-CN" altLang="en-US" dirty="0"/>
              <a:t>预算则是在估算基础上，结合时间维度和工作分解结构（</a:t>
            </a:r>
            <a:r>
              <a:rPr lang="en-US" altLang="zh-CN" dirty="0"/>
              <a:t>WBS</a:t>
            </a:r>
            <a:r>
              <a:rPr lang="zh-CN" altLang="en-US" dirty="0"/>
              <a:t>），将成本分配到具体的时间段和工作单元或工作包，用于实际执行中的成本控制。</a:t>
            </a:r>
          </a:p>
          <a:p>
            <a:r>
              <a:rPr lang="zh-CN" altLang="en-US" dirty="0"/>
              <a:t>预算是一个经过批准的、用于控制和监控项目支出的财务计划</a:t>
            </a:r>
          </a:p>
          <a:p>
            <a:endParaRPr lang="en-US" altLang="zh-CN" dirty="0"/>
          </a:p>
        </p:txBody>
      </p:sp>
      <p:sp>
        <p:nvSpPr>
          <p:cNvPr id="7" name="文本占位符 6">
            <a:extLst>
              <a:ext uri="{FF2B5EF4-FFF2-40B4-BE49-F238E27FC236}">
                <a16:creationId xmlns:a16="http://schemas.microsoft.com/office/drawing/2014/main" id="{C5B84BA7-883E-4B5F-800B-3B2615A7C859}"/>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4283516573"/>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899DC-B647-379B-89BF-2D4F5DA3DD81}"/>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9D9E8C3E-540E-5778-359E-ED105794ED78}"/>
              </a:ext>
            </a:extLst>
          </p:cNvPr>
          <p:cNvSpPr txBox="1"/>
          <p:nvPr/>
        </p:nvSpPr>
        <p:spPr>
          <a:xfrm>
            <a:off x="1056000" y="1603407"/>
            <a:ext cx="3033203" cy="400110"/>
          </a:xfrm>
          <a:prstGeom prst="rect">
            <a:avLst/>
          </a:prstGeom>
          <a:noFill/>
        </p:spPr>
        <p:txBody>
          <a:bodyPr wrap="none" rtlCol="0">
            <a:spAutoFit/>
          </a:bodyPr>
          <a:lstStyle/>
          <a:p>
            <a:r>
              <a:rPr lang="zh-CN" altLang="en-US" sz="2000" dirty="0"/>
              <a:t>单选题 </a:t>
            </a:r>
            <a:r>
              <a:rPr lang="en-US" altLang="zh-CN" sz="2000" dirty="0"/>
              <a:t>Multiple Choice</a:t>
            </a:r>
            <a:endParaRPr lang="zh-CN" altLang="en-US" sz="2000" dirty="0"/>
          </a:p>
        </p:txBody>
      </p:sp>
      <p:cxnSp>
        <p:nvCxnSpPr>
          <p:cNvPr id="3" name="Straight Connector 3">
            <a:extLst>
              <a:ext uri="{FF2B5EF4-FFF2-40B4-BE49-F238E27FC236}">
                <a16:creationId xmlns:a16="http://schemas.microsoft.com/office/drawing/2014/main" id="{9EFE5641-AB9B-711C-ABBE-A2AF573C0C6E}"/>
              </a:ext>
            </a:extLst>
          </p:cNvPr>
          <p:cNvCxnSpPr>
            <a:cxnSpLocks/>
          </p:cNvCxnSpPr>
          <p:nvPr/>
        </p:nvCxnSpPr>
        <p:spPr>
          <a:xfrm>
            <a:off x="1056000" y="2003517"/>
            <a:ext cx="10080000" cy="0"/>
          </a:xfrm>
          <a:prstGeom prst="line">
            <a:avLst/>
          </a:prstGeom>
          <a:ln w="38100">
            <a:gradFill>
              <a:gsLst>
                <a:gs pos="70000">
                  <a:schemeClr val="accent2"/>
                </a:gs>
                <a:gs pos="0">
                  <a:schemeClr val="accent2"/>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4" name="TextBox 4">
            <a:extLst>
              <a:ext uri="{FF2B5EF4-FFF2-40B4-BE49-F238E27FC236}">
                <a16:creationId xmlns:a16="http://schemas.microsoft.com/office/drawing/2014/main" id="{A965D6C0-6A18-E544-ADCB-B8C0C8B16968}"/>
              </a:ext>
            </a:extLst>
          </p:cNvPr>
          <p:cNvSpPr txBox="1"/>
          <p:nvPr/>
        </p:nvSpPr>
        <p:spPr>
          <a:xfrm>
            <a:off x="1056000" y="2003517"/>
            <a:ext cx="10080000" cy="1785104"/>
          </a:xfrm>
          <a:prstGeom prst="rect">
            <a:avLst/>
          </a:prstGeom>
          <a:noFill/>
        </p:spPr>
        <p:txBody>
          <a:bodyPr wrap="square" rtlCol="0">
            <a:spAutoFit/>
          </a:bodyPr>
          <a:lstStyle/>
          <a:p>
            <a:pPr>
              <a:spcAft>
                <a:spcPts val="600"/>
              </a:spcAft>
            </a:pPr>
            <a:r>
              <a:rPr lang="zh-CN" altLang="en-US" dirty="0"/>
              <a:t>在成本管理过程中，每个时间段中的各个工作单元的成本是</a:t>
            </a:r>
            <a:r>
              <a:rPr lang="en-US" altLang="zh-CN" dirty="0"/>
              <a:t>( )</a:t>
            </a:r>
          </a:p>
          <a:p>
            <a:pPr>
              <a:spcAft>
                <a:spcPts val="600"/>
              </a:spcAft>
            </a:pPr>
            <a:r>
              <a:rPr lang="en-US" altLang="zh-CN" dirty="0"/>
              <a:t>A. </a:t>
            </a:r>
            <a:r>
              <a:rPr lang="zh-CN" altLang="en-US" dirty="0"/>
              <a:t>估算</a:t>
            </a:r>
            <a:endParaRPr lang="en-US" altLang="zh-CN" dirty="0"/>
          </a:p>
          <a:p>
            <a:pPr>
              <a:spcAft>
                <a:spcPts val="600"/>
              </a:spcAft>
            </a:pPr>
            <a:r>
              <a:rPr lang="en-US" altLang="zh-CN" dirty="0"/>
              <a:t>B. </a:t>
            </a:r>
            <a:r>
              <a:rPr lang="zh-CN" altLang="en-US" dirty="0"/>
              <a:t>预算</a:t>
            </a:r>
            <a:endParaRPr lang="en-US" altLang="zh-CN" dirty="0"/>
          </a:p>
          <a:p>
            <a:pPr>
              <a:spcAft>
                <a:spcPts val="600"/>
              </a:spcAft>
            </a:pPr>
            <a:r>
              <a:rPr lang="en-US" altLang="zh-CN" dirty="0"/>
              <a:t>C. </a:t>
            </a:r>
            <a:r>
              <a:rPr lang="zh-CN" altLang="en-US" dirty="0"/>
              <a:t>直接成本</a:t>
            </a:r>
            <a:endParaRPr lang="en-US" altLang="zh-CN" dirty="0"/>
          </a:p>
          <a:p>
            <a:pPr>
              <a:spcAft>
                <a:spcPts val="600"/>
              </a:spcAft>
            </a:pPr>
            <a:r>
              <a:rPr lang="en-US" altLang="zh-CN" dirty="0"/>
              <a:t>D. </a:t>
            </a:r>
            <a:r>
              <a:rPr lang="zh-CN" altLang="en-US" dirty="0"/>
              <a:t>间接成本</a:t>
            </a:r>
          </a:p>
        </p:txBody>
      </p:sp>
    </p:spTree>
    <p:extLst>
      <p:ext uri="{BB962C8B-B14F-4D97-AF65-F5344CB8AC3E}">
        <p14:creationId xmlns:p14="http://schemas.microsoft.com/office/powerpoint/2010/main" val="3287300849"/>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FC270D-8DE2-BACB-4E6F-EFFBAD479A88}"/>
              </a:ext>
            </a:extLst>
          </p:cNvPr>
          <p:cNvSpPr>
            <a:spLocks noGrp="1"/>
          </p:cNvSpPr>
          <p:nvPr>
            <p:ph type="title"/>
          </p:nvPr>
        </p:nvSpPr>
        <p:spPr>
          <a:xfrm>
            <a:off x="792000" y="360000"/>
            <a:ext cx="6375921" cy="429413"/>
          </a:xfrm>
        </p:spPr>
        <p:txBody>
          <a:bodyPr/>
          <a:lstStyle/>
          <a:p>
            <a:r>
              <a:rPr lang="en-US" altLang="zh-CN" dirty="0"/>
              <a:t>6.5.1 </a:t>
            </a:r>
            <a:r>
              <a:rPr lang="zh-CN" altLang="en-US" dirty="0"/>
              <a:t>成本基线</a:t>
            </a:r>
          </a:p>
        </p:txBody>
      </p:sp>
      <p:sp>
        <p:nvSpPr>
          <p:cNvPr id="3" name="内容占位符 2">
            <a:extLst>
              <a:ext uri="{FF2B5EF4-FFF2-40B4-BE49-F238E27FC236}">
                <a16:creationId xmlns:a16="http://schemas.microsoft.com/office/drawing/2014/main" id="{EBDED5F2-6AA3-1B47-5796-46A8C62C047F}"/>
              </a:ext>
            </a:extLst>
          </p:cNvPr>
          <p:cNvSpPr>
            <a:spLocks noGrp="1"/>
          </p:cNvSpPr>
          <p:nvPr>
            <p:ph idx="1"/>
          </p:nvPr>
        </p:nvSpPr>
        <p:spPr>
          <a:xfrm>
            <a:off x="696000" y="864000"/>
            <a:ext cx="10800000" cy="5400000"/>
          </a:xfrm>
        </p:spPr>
        <p:txBody>
          <a:bodyPr/>
          <a:lstStyle/>
          <a:p>
            <a:r>
              <a:rPr lang="zh-CN" altLang="en-US" dirty="0"/>
              <a:t>成本基线 </a:t>
            </a:r>
            <a:r>
              <a:rPr lang="en-US" altLang="zh-CN" dirty="0"/>
              <a:t>Cost Baseline</a:t>
            </a:r>
            <a:r>
              <a:rPr lang="zh-CN" altLang="en-US" dirty="0"/>
              <a:t>：时间计划和成本预算计划</a:t>
            </a:r>
            <a:endParaRPr lang="en-US" altLang="zh-CN" dirty="0"/>
          </a:p>
          <a:p>
            <a:r>
              <a:rPr lang="zh-CN" altLang="en-US" dirty="0"/>
              <a:t>项目管理者度量和监控项目的依据</a:t>
            </a:r>
          </a:p>
          <a:p>
            <a:endParaRPr lang="zh-CN" altLang="en-US" dirty="0"/>
          </a:p>
        </p:txBody>
      </p:sp>
      <p:sp>
        <p:nvSpPr>
          <p:cNvPr id="4" name="文本占位符 3">
            <a:extLst>
              <a:ext uri="{FF2B5EF4-FFF2-40B4-BE49-F238E27FC236}">
                <a16:creationId xmlns:a16="http://schemas.microsoft.com/office/drawing/2014/main" id="{4B30ED74-4E0F-8E84-DEFC-708424C01488}"/>
              </a:ext>
            </a:extLst>
          </p:cNvPr>
          <p:cNvSpPr>
            <a:spLocks noGrp="1"/>
          </p:cNvSpPr>
          <p:nvPr>
            <p:ph type="body" sz="quarter" idx="10"/>
          </p:nvPr>
        </p:nvSpPr>
        <p:spPr>
          <a:xfrm>
            <a:off x="7071919" y="448519"/>
            <a:ext cx="4424080" cy="338554"/>
          </a:xfrm>
        </p:spPr>
        <p:txBody>
          <a:bodyPr/>
          <a:lstStyle/>
          <a:p>
            <a:r>
              <a:rPr lang="en-US" altLang="zh-CN" dirty="0"/>
              <a:t>Cost Baseline</a:t>
            </a:r>
            <a:endParaRPr lang="zh-CN" altLang="en-US" dirty="0"/>
          </a:p>
        </p:txBody>
      </p:sp>
    </p:spTree>
    <p:extLst>
      <p:ext uri="{BB962C8B-B14F-4D97-AF65-F5344CB8AC3E}">
        <p14:creationId xmlns:p14="http://schemas.microsoft.com/office/powerpoint/2010/main" val="2228147631"/>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95144C-4B92-DD15-973C-B2AED30CE2DF}"/>
              </a:ext>
            </a:extLst>
          </p:cNvPr>
          <p:cNvSpPr>
            <a:spLocks noGrp="1"/>
          </p:cNvSpPr>
          <p:nvPr>
            <p:ph type="title"/>
          </p:nvPr>
        </p:nvSpPr>
        <p:spPr>
          <a:xfrm>
            <a:off x="792000" y="360000"/>
            <a:ext cx="6375921" cy="429413"/>
          </a:xfrm>
        </p:spPr>
        <p:txBody>
          <a:bodyPr/>
          <a:lstStyle/>
          <a:p>
            <a:r>
              <a:rPr lang="en-US" altLang="zh-CN" dirty="0"/>
              <a:t>6.5.2 </a:t>
            </a:r>
            <a:r>
              <a:rPr lang="zh-CN" altLang="en-US" dirty="0"/>
              <a:t>分配成本预算</a:t>
            </a:r>
          </a:p>
        </p:txBody>
      </p:sp>
      <p:sp>
        <p:nvSpPr>
          <p:cNvPr id="6" name="内容占位符 5">
            <a:extLst>
              <a:ext uri="{FF2B5EF4-FFF2-40B4-BE49-F238E27FC236}">
                <a16:creationId xmlns:a16="http://schemas.microsoft.com/office/drawing/2014/main" id="{9CCEF633-BC9B-9E88-D40D-26AD71AAC625}"/>
              </a:ext>
            </a:extLst>
          </p:cNvPr>
          <p:cNvSpPr>
            <a:spLocks noGrp="1"/>
          </p:cNvSpPr>
          <p:nvPr>
            <p:ph idx="1"/>
          </p:nvPr>
        </p:nvSpPr>
        <p:spPr>
          <a:xfrm>
            <a:off x="696000" y="864000"/>
            <a:ext cx="10800000" cy="5400000"/>
          </a:xfrm>
        </p:spPr>
        <p:txBody>
          <a:bodyPr/>
          <a:lstStyle/>
          <a:p>
            <a:r>
              <a:rPr lang="zh-CN" altLang="en-US" dirty="0"/>
              <a:t>分配资源成本</a:t>
            </a:r>
            <a:endParaRPr lang="en-US" altLang="zh-CN" dirty="0"/>
          </a:p>
          <a:p>
            <a:pPr lvl="1"/>
            <a:r>
              <a:rPr lang="zh-CN" altLang="en-US" dirty="0"/>
              <a:t>应用最为广泛</a:t>
            </a:r>
            <a:endParaRPr lang="en-US" altLang="zh-CN" dirty="0"/>
          </a:p>
          <a:p>
            <a:pPr lvl="1"/>
            <a:r>
              <a:rPr lang="zh-CN" altLang="en-US" dirty="0"/>
              <a:t>根据资源分配情况，按照资源费率计算成本</a:t>
            </a:r>
            <a:endParaRPr lang="en-US" altLang="zh-CN" dirty="0"/>
          </a:p>
          <a:p>
            <a:pPr lvl="1"/>
            <a:r>
              <a:rPr lang="en-US" altLang="zh-CN" dirty="0"/>
              <a:t>200</a:t>
            </a:r>
            <a:r>
              <a:rPr lang="zh-CN" altLang="en-US" dirty="0"/>
              <a:t>元</a:t>
            </a:r>
            <a:r>
              <a:rPr lang="en-US" altLang="zh-CN" dirty="0"/>
              <a:t>/</a:t>
            </a:r>
            <a:r>
              <a:rPr lang="zh-CN" altLang="en-US" dirty="0"/>
              <a:t>人</a:t>
            </a:r>
            <a:endParaRPr lang="en-US" altLang="zh-CN" dirty="0"/>
          </a:p>
          <a:p>
            <a:r>
              <a:rPr lang="zh-CN" altLang="en-US" dirty="0"/>
              <a:t>分配固定资源成本</a:t>
            </a:r>
            <a:endParaRPr lang="en-US" altLang="zh-CN" dirty="0"/>
          </a:p>
          <a:p>
            <a:pPr lvl="1"/>
            <a:r>
              <a:rPr lang="zh-CN" altLang="en-US" dirty="0"/>
              <a:t>按照固定资源分配成本</a:t>
            </a:r>
            <a:endParaRPr lang="en-US" altLang="zh-CN" dirty="0"/>
          </a:p>
          <a:p>
            <a:pPr lvl="1"/>
            <a:r>
              <a:rPr lang="zh-CN" altLang="en-US" dirty="0"/>
              <a:t>不考虑具体工时</a:t>
            </a:r>
            <a:endParaRPr lang="en-US" altLang="zh-CN" dirty="0"/>
          </a:p>
          <a:p>
            <a:pPr lvl="1"/>
            <a:r>
              <a:rPr lang="zh-CN" altLang="en-US" dirty="0"/>
              <a:t>年薪制</a:t>
            </a:r>
            <a:r>
              <a:rPr lang="en-US" altLang="zh-CN" dirty="0"/>
              <a:t>/</a:t>
            </a:r>
            <a:r>
              <a:rPr lang="zh-CN" altLang="en-US" dirty="0"/>
              <a:t>包工包料</a:t>
            </a:r>
            <a:endParaRPr lang="en-US" altLang="zh-CN" dirty="0"/>
          </a:p>
          <a:p>
            <a:r>
              <a:rPr lang="zh-CN" altLang="en-US" dirty="0"/>
              <a:t>分配固定成本</a:t>
            </a:r>
            <a:endParaRPr lang="en-US" altLang="zh-CN" dirty="0"/>
          </a:p>
          <a:p>
            <a:pPr lvl="1"/>
            <a:r>
              <a:rPr lang="zh-CN" altLang="en-US" dirty="0"/>
              <a:t>成本固定，不考虑实际工期</a:t>
            </a:r>
          </a:p>
        </p:txBody>
      </p:sp>
      <p:sp>
        <p:nvSpPr>
          <p:cNvPr id="7" name="文本占位符 6">
            <a:extLst>
              <a:ext uri="{FF2B5EF4-FFF2-40B4-BE49-F238E27FC236}">
                <a16:creationId xmlns:a16="http://schemas.microsoft.com/office/drawing/2014/main" id="{ACB7631D-9C35-A347-5959-B84B5BC53D8A}"/>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2901184686"/>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F28DEA14-752B-6E03-F91C-D055FB95D1A2}"/>
              </a:ext>
            </a:extLst>
          </p:cNvPr>
          <p:cNvGraphicFramePr>
            <a:graphicFrameLocks noGrp="1"/>
          </p:cNvGraphicFramePr>
          <p:nvPr>
            <p:extLst>
              <p:ext uri="{D42A27DB-BD31-4B8C-83A1-F6EECF244321}">
                <p14:modId xmlns:p14="http://schemas.microsoft.com/office/powerpoint/2010/main" val="1607146802"/>
              </p:ext>
            </p:extLst>
          </p:nvPr>
        </p:nvGraphicFramePr>
        <p:xfrm>
          <a:off x="892839" y="1920240"/>
          <a:ext cx="5040000" cy="2743200"/>
        </p:xfrm>
        <a:graphic>
          <a:graphicData uri="http://schemas.openxmlformats.org/drawingml/2006/table">
            <a:tbl>
              <a:tblPr/>
              <a:tblGrid>
                <a:gridCol w="1800000">
                  <a:extLst>
                    <a:ext uri="{9D8B030D-6E8A-4147-A177-3AD203B41FA5}">
                      <a16:colId xmlns:a16="http://schemas.microsoft.com/office/drawing/2014/main" val="3227890518"/>
                    </a:ext>
                  </a:extLst>
                </a:gridCol>
                <a:gridCol w="1080000">
                  <a:extLst>
                    <a:ext uri="{9D8B030D-6E8A-4147-A177-3AD203B41FA5}">
                      <a16:colId xmlns:a16="http://schemas.microsoft.com/office/drawing/2014/main" val="1620190121"/>
                    </a:ext>
                  </a:extLst>
                </a:gridCol>
                <a:gridCol w="1080000">
                  <a:extLst>
                    <a:ext uri="{9D8B030D-6E8A-4147-A177-3AD203B41FA5}">
                      <a16:colId xmlns:a16="http://schemas.microsoft.com/office/drawing/2014/main" val="387530637"/>
                    </a:ext>
                  </a:extLst>
                </a:gridCol>
                <a:gridCol w="1080000">
                  <a:extLst>
                    <a:ext uri="{9D8B030D-6E8A-4147-A177-3AD203B41FA5}">
                      <a16:colId xmlns:a16="http://schemas.microsoft.com/office/drawing/2014/main" val="2446955010"/>
                    </a:ext>
                  </a:extLst>
                </a:gridCol>
              </a:tblGrid>
              <a:tr h="0">
                <a:tc>
                  <a:txBody>
                    <a:bodyPr/>
                    <a:lstStyle/>
                    <a:p>
                      <a:pPr algn="ctr">
                        <a:buNone/>
                      </a:pPr>
                      <a:r>
                        <a:rPr lang="en-US" altLang="zh-CN" sz="1400" dirty="0"/>
                        <a:t>WBS</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zh-CN" altLang="en-US" sz="1400" dirty="0"/>
                        <a:t>成本</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zh-CN" altLang="en-US" sz="1400" dirty="0"/>
                        <a:t>成本</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zh-CN" altLang="en-US" sz="1400" dirty="0"/>
                        <a:t>总成本</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9894281"/>
                  </a:ext>
                </a:extLst>
              </a:tr>
              <a:tr h="0">
                <a:tc>
                  <a:txBody>
                    <a:bodyPr/>
                    <a:lstStyle/>
                    <a:p>
                      <a:pPr>
                        <a:buNone/>
                      </a:pPr>
                      <a:r>
                        <a:rPr lang="en-US" altLang="zh-CN" sz="1400" dirty="0"/>
                        <a:t>1. </a:t>
                      </a:r>
                      <a:r>
                        <a:rPr lang="zh-CN" altLang="en-US" sz="1400" dirty="0"/>
                        <a:t>功能 </a:t>
                      </a:r>
                      <a:r>
                        <a:rPr lang="en-US" altLang="zh-CN" sz="1400" dirty="0"/>
                        <a:t>1</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a:buNone/>
                      </a:pPr>
                      <a:r>
                        <a:rPr lang="en-US" altLang="zh-CN" sz="1400" dirty="0"/>
                        <a:t>8</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8">
                  <a:txBody>
                    <a:bodyPr/>
                    <a:lstStyle/>
                    <a:p>
                      <a:pPr algn="ctr">
                        <a:buNone/>
                      </a:pPr>
                      <a:r>
                        <a:rPr lang="en-US" altLang="zh-CN" sz="1400" dirty="0"/>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08258967"/>
                  </a:ext>
                </a:extLst>
              </a:tr>
              <a:tr h="0">
                <a:tc>
                  <a:txBody>
                    <a:bodyPr/>
                    <a:lstStyle/>
                    <a:p>
                      <a:pPr>
                        <a:buNone/>
                      </a:pPr>
                      <a:r>
                        <a:rPr lang="en-US" sz="1400" dirty="0"/>
                        <a:t>1.1 </a:t>
                      </a:r>
                      <a:r>
                        <a:rPr lang="zh-CN" altLang="en-US" sz="1400" dirty="0"/>
                        <a:t>子功能 </a:t>
                      </a:r>
                      <a:r>
                        <a:rPr lang="en-US" altLang="zh-CN" sz="1400" dirty="0"/>
                        <a:t>1</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buNone/>
                      </a:pPr>
                      <a:endParaRPr lang="zh-CN" altLang="en-US" sz="1600" dirty="0">
                        <a:solidFill>
                          <a:schemeClr val="bg1"/>
                        </a:solidFill>
                      </a:endParaRPr>
                    </a:p>
                  </a:txBody>
                  <a:tcPr anchor="ctr">
                    <a:lnL>
                      <a:noFill/>
                    </a:lnL>
                    <a:lnR>
                      <a:noFill/>
                    </a:lnR>
                    <a:lnT>
                      <a:noFill/>
                    </a:lnT>
                    <a:lnB>
                      <a:noFill/>
                    </a:lnB>
                    <a:lnTlToBr w="12700" cmpd="sng">
                      <a:noFill/>
                      <a:prstDash val="solid"/>
                    </a:lnTlToBr>
                    <a:lnBlToTr w="12700" cmpd="sng">
                      <a:noFill/>
                      <a:prstDash val="solid"/>
                    </a:lnBlToTr>
                    <a:noFill/>
                  </a:tcPr>
                </a:tc>
                <a:tc vMerge="1">
                  <a:txBody>
                    <a:bodyPr/>
                    <a:lstStyle/>
                    <a:p>
                      <a:pPr algn="ctr">
                        <a:buNone/>
                      </a:pPr>
                      <a:endParaRPr lang="en-US" altLang="zh-CN" sz="1600" dirty="0">
                        <a:solidFill>
                          <a:schemeClr val="bg1"/>
                        </a:solidFill>
                      </a:endParaRP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945694430"/>
                  </a:ext>
                </a:extLst>
              </a:tr>
              <a:tr h="0">
                <a:tc>
                  <a:txBody>
                    <a:bodyPr/>
                    <a:lstStyle/>
                    <a:p>
                      <a:pPr>
                        <a:buNone/>
                      </a:pPr>
                      <a:r>
                        <a:rPr lang="en-US" altLang="zh-CN" sz="1400" dirty="0"/>
                        <a:t>1.2 </a:t>
                      </a:r>
                      <a:r>
                        <a:rPr lang="zh-CN" altLang="en-US" sz="1400" dirty="0"/>
                        <a:t>子功能 </a:t>
                      </a:r>
                      <a:r>
                        <a:rPr lang="en-US" altLang="zh-CN" sz="1400"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buNone/>
                      </a:pPr>
                      <a:endParaRPr lang="zh-CN" altLang="en-US" sz="1600" dirty="0">
                        <a:solidFill>
                          <a:schemeClr val="bg1"/>
                        </a:solidFill>
                      </a:endParaRPr>
                    </a:p>
                  </a:txBody>
                  <a:tcPr anchor="ctr">
                    <a:lnL>
                      <a:noFill/>
                    </a:lnL>
                    <a:lnR>
                      <a:noFill/>
                    </a:lnR>
                    <a:lnT>
                      <a:noFill/>
                    </a:lnT>
                    <a:lnB>
                      <a:noFill/>
                    </a:lnB>
                    <a:lnTlToBr w="12700" cmpd="sng">
                      <a:noFill/>
                      <a:prstDash val="solid"/>
                    </a:lnTlToBr>
                    <a:lnBlToTr w="12700" cmpd="sng">
                      <a:noFill/>
                      <a:prstDash val="solid"/>
                    </a:lnBlToTr>
                    <a:noFill/>
                  </a:tcPr>
                </a:tc>
                <a:tc vMerge="1">
                  <a:txBody>
                    <a:bodyPr/>
                    <a:lstStyle/>
                    <a:p>
                      <a:pPr algn="ctr">
                        <a:buNone/>
                      </a:pPr>
                      <a:endParaRPr lang="en-US" altLang="zh-CN" sz="1600" dirty="0">
                        <a:solidFill>
                          <a:schemeClr val="bg1"/>
                        </a:solidFill>
                      </a:endParaRP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569690901"/>
                  </a:ext>
                </a:extLst>
              </a:tr>
              <a:tr h="0">
                <a:tc>
                  <a:txBody>
                    <a:bodyPr/>
                    <a:lstStyle/>
                    <a:p>
                      <a:pPr>
                        <a:buNone/>
                      </a:pPr>
                      <a:r>
                        <a:rPr lang="en-US" altLang="zh-CN" sz="1400" dirty="0"/>
                        <a:t>2. </a:t>
                      </a:r>
                      <a:r>
                        <a:rPr lang="zh-CN" altLang="en-US" sz="1400" dirty="0"/>
                        <a:t>功能 </a:t>
                      </a:r>
                      <a:r>
                        <a:rPr lang="en-US" altLang="zh-CN" sz="1400"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4">
                  <a:txBody>
                    <a:bodyPr/>
                    <a:lstStyle/>
                    <a:p>
                      <a:pPr>
                        <a:buNone/>
                      </a:pPr>
                      <a:r>
                        <a:rPr lang="en-US" altLang="zh-CN" sz="1400" dirty="0"/>
                        <a:t>6</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a:buNone/>
                      </a:pPr>
                      <a:endParaRPr lang="en-US" altLang="zh-CN" sz="1600" dirty="0">
                        <a:solidFill>
                          <a:schemeClr val="bg1"/>
                        </a:solidFill>
                      </a:endParaRP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618435437"/>
                  </a:ext>
                </a:extLst>
              </a:tr>
              <a:tr h="0">
                <a:tc>
                  <a:txBody>
                    <a:bodyPr/>
                    <a:lstStyle/>
                    <a:p>
                      <a:pPr>
                        <a:buNone/>
                      </a:pPr>
                      <a:r>
                        <a:rPr lang="en-US" sz="1400" dirty="0"/>
                        <a:t>2.1 </a:t>
                      </a:r>
                      <a:r>
                        <a:rPr lang="zh-CN" altLang="en-US" sz="1400" dirty="0"/>
                        <a:t>子功能 </a:t>
                      </a:r>
                      <a:r>
                        <a:rPr lang="en-US" altLang="zh-CN" sz="1400" dirty="0"/>
                        <a:t>1</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buNone/>
                      </a:pPr>
                      <a:endParaRPr lang="zh-CN" altLang="en-US" sz="1600" dirty="0">
                        <a:solidFill>
                          <a:schemeClr val="bg1"/>
                        </a:solidFill>
                      </a:endParaRPr>
                    </a:p>
                  </a:txBody>
                  <a:tcPr anchor="ctr">
                    <a:lnL>
                      <a:noFill/>
                    </a:lnL>
                    <a:lnR>
                      <a:noFill/>
                    </a:lnR>
                    <a:lnT>
                      <a:noFill/>
                    </a:lnT>
                    <a:lnB>
                      <a:noFill/>
                    </a:lnB>
                    <a:lnTlToBr w="12700" cmpd="sng">
                      <a:noFill/>
                      <a:prstDash val="solid"/>
                    </a:lnTlToBr>
                    <a:lnBlToTr w="12700" cmpd="sng">
                      <a:noFill/>
                      <a:prstDash val="solid"/>
                    </a:lnBlToTr>
                    <a:noFill/>
                  </a:tcPr>
                </a:tc>
                <a:tc vMerge="1">
                  <a:txBody>
                    <a:bodyPr/>
                    <a:lstStyle/>
                    <a:p>
                      <a:pPr algn="ctr">
                        <a:buNone/>
                      </a:pPr>
                      <a:endParaRPr lang="en-US" altLang="zh-CN" sz="1600" dirty="0">
                        <a:solidFill>
                          <a:schemeClr val="bg1"/>
                        </a:solidFill>
                      </a:endParaRP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978977898"/>
                  </a:ext>
                </a:extLst>
              </a:tr>
              <a:tr h="0">
                <a:tc>
                  <a:txBody>
                    <a:bodyPr/>
                    <a:lstStyle/>
                    <a:p>
                      <a:pPr>
                        <a:buNone/>
                      </a:pPr>
                      <a:r>
                        <a:rPr lang="en-US" altLang="zh-CN" sz="1400" dirty="0"/>
                        <a:t>2.2 </a:t>
                      </a:r>
                      <a:r>
                        <a:rPr lang="zh-CN" altLang="en-US" sz="1400" dirty="0"/>
                        <a:t>子功能 </a:t>
                      </a:r>
                      <a:r>
                        <a:rPr lang="en-US" altLang="zh-CN" sz="1400"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buNone/>
                      </a:pPr>
                      <a:endParaRPr lang="zh-CN" altLang="en-US" sz="1600" dirty="0">
                        <a:solidFill>
                          <a:schemeClr val="bg1"/>
                        </a:solidFill>
                      </a:endParaRPr>
                    </a:p>
                  </a:txBody>
                  <a:tcPr anchor="ctr">
                    <a:lnL>
                      <a:noFill/>
                    </a:lnL>
                    <a:lnR>
                      <a:noFill/>
                    </a:lnR>
                    <a:lnT>
                      <a:noFill/>
                    </a:lnT>
                    <a:lnB>
                      <a:noFill/>
                    </a:lnB>
                    <a:lnTlToBr w="12700" cmpd="sng">
                      <a:noFill/>
                      <a:prstDash val="solid"/>
                    </a:lnTlToBr>
                    <a:lnBlToTr w="12700" cmpd="sng">
                      <a:noFill/>
                      <a:prstDash val="solid"/>
                    </a:lnBlToTr>
                    <a:noFill/>
                  </a:tcPr>
                </a:tc>
                <a:tc vMerge="1">
                  <a:txBody>
                    <a:bodyPr/>
                    <a:lstStyle/>
                    <a:p>
                      <a:pPr algn="ctr">
                        <a:buNone/>
                      </a:pPr>
                      <a:endParaRPr lang="en-US" altLang="zh-CN" sz="1600" dirty="0">
                        <a:solidFill>
                          <a:schemeClr val="bg1"/>
                        </a:solidFill>
                      </a:endParaRP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390273366"/>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t>2.3 </a:t>
                      </a:r>
                      <a:r>
                        <a:rPr lang="zh-CN" altLang="en-US" sz="1400" dirty="0"/>
                        <a:t>子功能 </a:t>
                      </a:r>
                      <a:r>
                        <a:rPr lang="en-US" altLang="zh-CN" sz="1400"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buNone/>
                      </a:pPr>
                      <a:endParaRPr lang="zh-CN" altLang="en-US" sz="1600" dirty="0">
                        <a:solidFill>
                          <a:schemeClr val="bg1"/>
                        </a:solidFill>
                      </a:endParaRPr>
                    </a:p>
                  </a:txBody>
                  <a:tcPr anchor="ctr">
                    <a:lnL>
                      <a:noFill/>
                    </a:lnL>
                    <a:lnR>
                      <a:noFill/>
                    </a:lnR>
                    <a:lnT>
                      <a:noFill/>
                    </a:lnT>
                    <a:lnB>
                      <a:noFill/>
                    </a:lnB>
                    <a:lnTlToBr w="12700" cmpd="sng">
                      <a:noFill/>
                      <a:prstDash val="solid"/>
                    </a:lnTlToBr>
                    <a:lnBlToTr w="12700" cmpd="sng">
                      <a:noFill/>
                      <a:prstDash val="solid"/>
                    </a:lnBlToTr>
                    <a:noFill/>
                  </a:tcPr>
                </a:tc>
                <a:tc vMerge="1">
                  <a:txBody>
                    <a:bodyPr/>
                    <a:lstStyle/>
                    <a:p>
                      <a:pPr algn="ctr">
                        <a:buNone/>
                      </a:pPr>
                      <a:endParaRPr lang="en-US" altLang="zh-CN" sz="1600" dirty="0">
                        <a:solidFill>
                          <a:schemeClr val="bg1"/>
                        </a:solidFill>
                      </a:endParaRP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299982277"/>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t>3. </a:t>
                      </a:r>
                      <a:r>
                        <a:rPr lang="zh-CN" altLang="en-US" sz="1400" dirty="0"/>
                        <a:t>子功能 </a:t>
                      </a:r>
                      <a:r>
                        <a:rPr lang="en-US" altLang="zh-CN" sz="1400"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altLang="zh-CN" sz="1400" dirty="0"/>
                        <a:t>2</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a:buNone/>
                      </a:pPr>
                      <a:endParaRPr lang="en-US" altLang="zh-CN" sz="1600" dirty="0">
                        <a:solidFill>
                          <a:schemeClr val="bg1"/>
                        </a:solidFill>
                      </a:endParaRP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121283430"/>
                  </a:ext>
                </a:extLst>
              </a:tr>
            </a:tbl>
          </a:graphicData>
        </a:graphic>
      </p:graphicFrame>
      <p:graphicFrame>
        <p:nvGraphicFramePr>
          <p:cNvPr id="6" name="表格 5">
            <a:extLst>
              <a:ext uri="{FF2B5EF4-FFF2-40B4-BE49-F238E27FC236}">
                <a16:creationId xmlns:a16="http://schemas.microsoft.com/office/drawing/2014/main" id="{A1D71CA9-AC76-EEE5-7854-55E4CCF25C7F}"/>
              </a:ext>
            </a:extLst>
          </p:cNvPr>
          <p:cNvGraphicFramePr>
            <a:graphicFrameLocks noGrp="1"/>
          </p:cNvGraphicFramePr>
          <p:nvPr>
            <p:extLst>
              <p:ext uri="{D42A27DB-BD31-4B8C-83A1-F6EECF244321}">
                <p14:modId xmlns:p14="http://schemas.microsoft.com/office/powerpoint/2010/main" val="1308094527"/>
              </p:ext>
            </p:extLst>
          </p:nvPr>
        </p:nvGraphicFramePr>
        <p:xfrm>
          <a:off x="8059161" y="1920240"/>
          <a:ext cx="3240000" cy="2743200"/>
        </p:xfrm>
        <a:graphic>
          <a:graphicData uri="http://schemas.openxmlformats.org/drawingml/2006/table">
            <a:tbl>
              <a:tblPr/>
              <a:tblGrid>
                <a:gridCol w="1080000">
                  <a:extLst>
                    <a:ext uri="{9D8B030D-6E8A-4147-A177-3AD203B41FA5}">
                      <a16:colId xmlns:a16="http://schemas.microsoft.com/office/drawing/2014/main" val="3227890518"/>
                    </a:ext>
                  </a:extLst>
                </a:gridCol>
                <a:gridCol w="1080000">
                  <a:extLst>
                    <a:ext uri="{9D8B030D-6E8A-4147-A177-3AD203B41FA5}">
                      <a16:colId xmlns:a16="http://schemas.microsoft.com/office/drawing/2014/main" val="1620190121"/>
                    </a:ext>
                  </a:extLst>
                </a:gridCol>
                <a:gridCol w="1080000">
                  <a:extLst>
                    <a:ext uri="{9D8B030D-6E8A-4147-A177-3AD203B41FA5}">
                      <a16:colId xmlns:a16="http://schemas.microsoft.com/office/drawing/2014/main" val="3461627196"/>
                    </a:ext>
                  </a:extLst>
                </a:gridCol>
              </a:tblGrid>
              <a:tr h="0">
                <a:tc>
                  <a:txBody>
                    <a:bodyPr/>
                    <a:lstStyle/>
                    <a:p>
                      <a:pPr algn="ctr">
                        <a:buNone/>
                      </a:pPr>
                      <a:r>
                        <a:rPr lang="zh-CN" altLang="en-US" sz="1400" dirty="0"/>
                        <a:t>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zh-CN" altLang="en-US" sz="1400" dirty="0"/>
                        <a:t>任务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zh-CN" altLang="en-US" sz="1400" dirty="0"/>
                        <a:t>成本</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9894281"/>
                  </a:ext>
                </a:extLst>
              </a:tr>
              <a:tr h="0">
                <a:tc>
                  <a:txBody>
                    <a:bodyPr/>
                    <a:lstStyle/>
                    <a:p>
                      <a:pPr>
                        <a:buNone/>
                      </a:pPr>
                      <a:r>
                        <a:rPr lang="en-US" altLang="zh-CN" sz="1400" dirty="0"/>
                        <a:t>1</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dirty="0"/>
                        <a:t>规划</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08258967"/>
                  </a:ext>
                </a:extLst>
              </a:tr>
              <a:tr h="0">
                <a:tc>
                  <a:txBody>
                    <a:bodyPr/>
                    <a:lstStyle/>
                    <a:p>
                      <a:pPr>
                        <a:buNone/>
                      </a:pPr>
                      <a:r>
                        <a:rPr lang="en-US" sz="1400"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dirty="0"/>
                        <a:t>需求</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5694430"/>
                  </a:ext>
                </a:extLst>
              </a:tr>
              <a:tr h="0">
                <a:tc>
                  <a:txBody>
                    <a:bodyPr/>
                    <a:lstStyle/>
                    <a:p>
                      <a:pPr>
                        <a:buNone/>
                      </a:pPr>
                      <a:r>
                        <a:rPr lang="en-US" altLang="zh-CN" sz="1400"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dirty="0"/>
                        <a:t>概要设计</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9690901"/>
                  </a:ext>
                </a:extLst>
              </a:tr>
              <a:tr h="0">
                <a:tc>
                  <a:txBody>
                    <a:bodyPr/>
                    <a:lstStyle/>
                    <a:p>
                      <a:pPr>
                        <a:buNone/>
                      </a:pPr>
                      <a:r>
                        <a:rPr lang="en-US" altLang="zh-CN" sz="1400"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dirty="0"/>
                        <a:t>详细设计</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8738852"/>
                  </a:ext>
                </a:extLst>
              </a:tr>
              <a:tr h="0">
                <a:tc>
                  <a:txBody>
                    <a:bodyPr/>
                    <a:lstStyle/>
                    <a:p>
                      <a:pPr>
                        <a:buNone/>
                      </a:pPr>
                      <a:r>
                        <a:rPr lang="en-US" sz="1400"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dirty="0"/>
                        <a:t>开发 </a:t>
                      </a:r>
                      <a:r>
                        <a:rPr lang="en-US" altLang="zh-CN" sz="1400" dirty="0"/>
                        <a:t>1</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dirty="0"/>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18435437"/>
                  </a:ext>
                </a:extLst>
              </a:tr>
              <a:tr h="0">
                <a:tc>
                  <a:txBody>
                    <a:bodyPr/>
                    <a:lstStyle/>
                    <a:p>
                      <a:pPr>
                        <a:buNone/>
                      </a:pPr>
                      <a:r>
                        <a:rPr lang="en-US" altLang="zh-CN" sz="1400" dirty="0"/>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dirty="0"/>
                        <a:t>开发 </a:t>
                      </a:r>
                      <a:r>
                        <a:rPr lang="en-US" altLang="zh-CN" sz="1400" dirty="0"/>
                        <a:t>2</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dirty="0"/>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8977898"/>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dirty="0"/>
                        <a:t>测试</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dirty="0"/>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0273366"/>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dirty="0"/>
                        <a:t>验收</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dirty="0"/>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9982277"/>
                  </a:ext>
                </a:extLst>
              </a:tr>
            </a:tbl>
          </a:graphicData>
        </a:graphic>
      </p:graphicFrame>
      <p:sp>
        <p:nvSpPr>
          <p:cNvPr id="7" name="文本框 6">
            <a:extLst>
              <a:ext uri="{FF2B5EF4-FFF2-40B4-BE49-F238E27FC236}">
                <a16:creationId xmlns:a16="http://schemas.microsoft.com/office/drawing/2014/main" id="{9F86CF59-554B-6EE6-7CF4-7240CBFEB76C}"/>
              </a:ext>
            </a:extLst>
          </p:cNvPr>
          <p:cNvSpPr txBox="1"/>
          <p:nvPr/>
        </p:nvSpPr>
        <p:spPr>
          <a:xfrm>
            <a:off x="2699342" y="1474841"/>
            <a:ext cx="1426994" cy="338554"/>
          </a:xfrm>
          <a:prstGeom prst="rect">
            <a:avLst/>
          </a:prstGeom>
          <a:noFill/>
        </p:spPr>
        <p:txBody>
          <a:bodyPr wrap="none" rtlCol="0">
            <a:spAutoFit/>
          </a:bodyPr>
          <a:lstStyle/>
          <a:p>
            <a:pPr algn="l"/>
            <a:r>
              <a:rPr lang="zh-CN" altLang="en-US" sz="1600" dirty="0"/>
              <a:t>项目成本估算</a:t>
            </a:r>
          </a:p>
        </p:txBody>
      </p:sp>
      <p:sp>
        <p:nvSpPr>
          <p:cNvPr id="8" name="文本框 7">
            <a:extLst>
              <a:ext uri="{FF2B5EF4-FFF2-40B4-BE49-F238E27FC236}">
                <a16:creationId xmlns:a16="http://schemas.microsoft.com/office/drawing/2014/main" id="{55E576DB-1C2B-0655-D135-447838E16E65}"/>
              </a:ext>
            </a:extLst>
          </p:cNvPr>
          <p:cNvSpPr txBox="1"/>
          <p:nvPr/>
        </p:nvSpPr>
        <p:spPr>
          <a:xfrm>
            <a:off x="8965664" y="1474841"/>
            <a:ext cx="1415772" cy="338554"/>
          </a:xfrm>
          <a:prstGeom prst="rect">
            <a:avLst/>
          </a:prstGeom>
          <a:noFill/>
        </p:spPr>
        <p:txBody>
          <a:bodyPr wrap="none" rtlCol="0">
            <a:spAutoFit/>
          </a:bodyPr>
          <a:lstStyle/>
          <a:p>
            <a:pPr algn="l"/>
            <a:r>
              <a:rPr lang="zh-CN" altLang="en-US" sz="1600" dirty="0"/>
              <a:t>项目成本预算</a:t>
            </a:r>
          </a:p>
        </p:txBody>
      </p:sp>
    </p:spTree>
    <p:extLst>
      <p:ext uri="{BB962C8B-B14F-4D97-AF65-F5344CB8AC3E}">
        <p14:creationId xmlns:p14="http://schemas.microsoft.com/office/powerpoint/2010/main" val="589236332"/>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图表 2">
            <a:extLst>
              <a:ext uri="{FF2B5EF4-FFF2-40B4-BE49-F238E27FC236}">
                <a16:creationId xmlns:a16="http://schemas.microsoft.com/office/drawing/2014/main" id="{2624C0F9-E7EA-9175-90E6-0ABCF9B4CD79}"/>
              </a:ext>
            </a:extLst>
          </p:cNvPr>
          <p:cNvGraphicFramePr>
            <a:graphicFrameLocks/>
          </p:cNvGraphicFramePr>
          <p:nvPr>
            <p:extLst>
              <p:ext uri="{D42A27DB-BD31-4B8C-83A1-F6EECF244321}">
                <p14:modId xmlns:p14="http://schemas.microsoft.com/office/powerpoint/2010/main" val="69080306"/>
              </p:ext>
            </p:extLst>
          </p:nvPr>
        </p:nvGraphicFramePr>
        <p:xfrm>
          <a:off x="2169242" y="1072945"/>
          <a:ext cx="7853517" cy="471211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54178673"/>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A6881-2811-0782-50AE-663BA0BCE51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102E6CD-1066-4DCD-924F-C54CF38A52E1}"/>
              </a:ext>
            </a:extLst>
          </p:cNvPr>
          <p:cNvSpPr>
            <a:spLocks noGrp="1"/>
          </p:cNvSpPr>
          <p:nvPr>
            <p:ph type="ctrTitle"/>
          </p:nvPr>
        </p:nvSpPr>
        <p:spPr>
          <a:xfrm>
            <a:off x="2464886" y="4681056"/>
            <a:ext cx="7262228" cy="798491"/>
          </a:xfrm>
        </p:spPr>
        <p:txBody>
          <a:bodyPr/>
          <a:lstStyle/>
          <a:p>
            <a:r>
              <a:rPr lang="zh-CN" altLang="en-US"/>
              <a:t>软件项目进度计划</a:t>
            </a:r>
          </a:p>
        </p:txBody>
      </p:sp>
      <p:sp>
        <p:nvSpPr>
          <p:cNvPr id="3" name="副标题 2">
            <a:extLst>
              <a:ext uri="{FF2B5EF4-FFF2-40B4-BE49-F238E27FC236}">
                <a16:creationId xmlns:a16="http://schemas.microsoft.com/office/drawing/2014/main" id="{9C76596E-07B7-51B8-4002-5D17DE87F8AB}"/>
              </a:ext>
            </a:extLst>
          </p:cNvPr>
          <p:cNvSpPr>
            <a:spLocks noGrp="1"/>
          </p:cNvSpPr>
          <p:nvPr>
            <p:ph type="subTitle" idx="1"/>
          </p:nvPr>
        </p:nvSpPr>
        <p:spPr>
          <a:xfrm>
            <a:off x="2464886" y="5479548"/>
            <a:ext cx="7262228" cy="458180"/>
          </a:xfrm>
        </p:spPr>
        <p:txBody>
          <a:bodyPr/>
          <a:lstStyle/>
          <a:p>
            <a:r>
              <a:rPr lang="en-US" altLang="zh-CN"/>
              <a:t>Section 5 Project Progress</a:t>
            </a:r>
            <a:endParaRPr lang="zh-CN" altLang="en-US"/>
          </a:p>
        </p:txBody>
      </p:sp>
      <p:sp>
        <p:nvSpPr>
          <p:cNvPr id="7" name="文本占位符 6">
            <a:extLst>
              <a:ext uri="{FF2B5EF4-FFF2-40B4-BE49-F238E27FC236}">
                <a16:creationId xmlns:a16="http://schemas.microsoft.com/office/drawing/2014/main" id="{F47CF8CD-3D05-938E-AC7F-7F6F7A53E49E}"/>
              </a:ext>
            </a:extLst>
          </p:cNvPr>
          <p:cNvSpPr>
            <a:spLocks noGrp="1"/>
          </p:cNvSpPr>
          <p:nvPr>
            <p:ph type="body" sz="quarter" idx="11"/>
          </p:nvPr>
        </p:nvSpPr>
        <p:spPr>
          <a:xfrm>
            <a:off x="3883891" y="2047875"/>
            <a:ext cx="4424219" cy="2531269"/>
          </a:xfrm>
        </p:spPr>
        <p:txBody>
          <a:bodyPr>
            <a:normAutofit/>
          </a:bodyPr>
          <a:lstStyle/>
          <a:p>
            <a:pPr lvl="0"/>
            <a:r>
              <a:rPr lang="zh-CN" altLang="en-US" dirty="0"/>
              <a:t>传统项目进度计划</a:t>
            </a:r>
          </a:p>
          <a:p>
            <a:pPr lvl="0"/>
            <a:r>
              <a:rPr lang="zh-CN" altLang="en-US" dirty="0"/>
              <a:t>敏捷项目进度计划</a:t>
            </a:r>
          </a:p>
        </p:txBody>
      </p:sp>
    </p:spTree>
    <p:extLst>
      <p:ext uri="{BB962C8B-B14F-4D97-AF65-F5344CB8AC3E}">
        <p14:creationId xmlns:p14="http://schemas.microsoft.com/office/powerpoint/2010/main" val="257245194"/>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801A8-82D6-FC6B-6333-31A1B4A613A8}"/>
            </a:ext>
          </a:extLst>
        </p:cNvPr>
        <p:cNvGrpSpPr/>
        <p:nvPr/>
      </p:nvGrpSpPr>
      <p:grpSpPr>
        <a:xfrm>
          <a:off x="0" y="0"/>
          <a:ext cx="0" cy="0"/>
          <a:chOff x="0" y="0"/>
          <a:chExt cx="0" cy="0"/>
        </a:xfrm>
      </p:grpSpPr>
      <p:sp>
        <p:nvSpPr>
          <p:cNvPr id="5" name="箭头: V 形 4">
            <a:extLst>
              <a:ext uri="{FF2B5EF4-FFF2-40B4-BE49-F238E27FC236}">
                <a16:creationId xmlns:a16="http://schemas.microsoft.com/office/drawing/2014/main" id="{3CDB0D8C-2171-A8D8-EE62-67203AB2B193}"/>
              </a:ext>
            </a:extLst>
          </p:cNvPr>
          <p:cNvSpPr/>
          <p:nvPr/>
        </p:nvSpPr>
        <p:spPr>
          <a:xfrm>
            <a:off x="2454444" y="1897626"/>
            <a:ext cx="1800000" cy="360000"/>
          </a:xfrm>
          <a:prstGeom prst="chevron">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rPr>
              <a:t>项目开始</a:t>
            </a:r>
          </a:p>
        </p:txBody>
      </p:sp>
      <p:sp>
        <p:nvSpPr>
          <p:cNvPr id="6" name="箭头: V 形 5">
            <a:extLst>
              <a:ext uri="{FF2B5EF4-FFF2-40B4-BE49-F238E27FC236}">
                <a16:creationId xmlns:a16="http://schemas.microsoft.com/office/drawing/2014/main" id="{77CF2D87-E0C9-FBB6-4E28-98FFDFBDFB4D}"/>
              </a:ext>
            </a:extLst>
          </p:cNvPr>
          <p:cNvSpPr/>
          <p:nvPr/>
        </p:nvSpPr>
        <p:spPr>
          <a:xfrm>
            <a:off x="4180548" y="1897626"/>
            <a:ext cx="1800000" cy="360000"/>
          </a:xfrm>
          <a:prstGeom prst="chevron">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solidFill>
              </a:rPr>
              <a:t>项目计划</a:t>
            </a:r>
          </a:p>
        </p:txBody>
      </p:sp>
      <p:sp>
        <p:nvSpPr>
          <p:cNvPr id="7" name="箭头: V 形 6">
            <a:extLst>
              <a:ext uri="{FF2B5EF4-FFF2-40B4-BE49-F238E27FC236}">
                <a16:creationId xmlns:a16="http://schemas.microsoft.com/office/drawing/2014/main" id="{0AD82D0D-617F-A8AB-C725-029DA20A496B}"/>
              </a:ext>
            </a:extLst>
          </p:cNvPr>
          <p:cNvSpPr/>
          <p:nvPr/>
        </p:nvSpPr>
        <p:spPr>
          <a:xfrm>
            <a:off x="5906652" y="1897626"/>
            <a:ext cx="1800000" cy="360000"/>
          </a:xfrm>
          <a:prstGeom prst="chevron">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rPr>
              <a:t>项目执行控制</a:t>
            </a:r>
          </a:p>
        </p:txBody>
      </p:sp>
      <p:sp>
        <p:nvSpPr>
          <p:cNvPr id="8" name="箭头: V 形 7">
            <a:extLst>
              <a:ext uri="{FF2B5EF4-FFF2-40B4-BE49-F238E27FC236}">
                <a16:creationId xmlns:a16="http://schemas.microsoft.com/office/drawing/2014/main" id="{305876D7-B33D-6923-D434-1E7D4458F34D}"/>
              </a:ext>
            </a:extLst>
          </p:cNvPr>
          <p:cNvSpPr/>
          <p:nvPr/>
        </p:nvSpPr>
        <p:spPr>
          <a:xfrm>
            <a:off x="7632755" y="1897626"/>
            <a:ext cx="1800000" cy="360000"/>
          </a:xfrm>
          <a:prstGeom prst="chevron">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rPr>
              <a:t>项目结束</a:t>
            </a:r>
          </a:p>
        </p:txBody>
      </p:sp>
      <p:sp>
        <p:nvSpPr>
          <p:cNvPr id="9" name="矩形 8">
            <a:extLst>
              <a:ext uri="{FF2B5EF4-FFF2-40B4-BE49-F238E27FC236}">
                <a16:creationId xmlns:a16="http://schemas.microsoft.com/office/drawing/2014/main" id="{2679FB8E-4C3B-EA6C-5FE5-031D42CBE2B0}"/>
              </a:ext>
            </a:extLst>
          </p:cNvPr>
          <p:cNvSpPr/>
          <p:nvPr/>
        </p:nvSpPr>
        <p:spPr>
          <a:xfrm>
            <a:off x="3453041" y="2998839"/>
            <a:ext cx="430887" cy="2160000"/>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范围计划</a:t>
            </a:r>
          </a:p>
        </p:txBody>
      </p:sp>
      <p:sp>
        <p:nvSpPr>
          <p:cNvPr id="10" name="矩形 9">
            <a:extLst>
              <a:ext uri="{FF2B5EF4-FFF2-40B4-BE49-F238E27FC236}">
                <a16:creationId xmlns:a16="http://schemas.microsoft.com/office/drawing/2014/main" id="{2147C6AA-F457-933A-3BC1-EC30682EB9B1}"/>
              </a:ext>
            </a:extLst>
          </p:cNvPr>
          <p:cNvSpPr/>
          <p:nvPr/>
        </p:nvSpPr>
        <p:spPr>
          <a:xfrm>
            <a:off x="4147174" y="2998839"/>
            <a:ext cx="430887" cy="2160000"/>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成本计划</a:t>
            </a:r>
          </a:p>
        </p:txBody>
      </p:sp>
      <p:sp>
        <p:nvSpPr>
          <p:cNvPr id="11" name="矩形 10">
            <a:extLst>
              <a:ext uri="{FF2B5EF4-FFF2-40B4-BE49-F238E27FC236}">
                <a16:creationId xmlns:a16="http://schemas.microsoft.com/office/drawing/2014/main" id="{B4B23FCF-070F-4287-1C15-20416B218EC4}"/>
              </a:ext>
            </a:extLst>
          </p:cNvPr>
          <p:cNvSpPr/>
          <p:nvPr/>
        </p:nvSpPr>
        <p:spPr>
          <a:xfrm>
            <a:off x="4840750" y="2998839"/>
            <a:ext cx="430887" cy="216000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bg1"/>
                </a:solidFill>
              </a:rPr>
              <a:t>进度计划</a:t>
            </a:r>
          </a:p>
        </p:txBody>
      </p:sp>
      <p:sp>
        <p:nvSpPr>
          <p:cNvPr id="12" name="矩形 11">
            <a:extLst>
              <a:ext uri="{FF2B5EF4-FFF2-40B4-BE49-F238E27FC236}">
                <a16:creationId xmlns:a16="http://schemas.microsoft.com/office/drawing/2014/main" id="{9924C1ED-4819-F9BA-B41B-EB40FD533B50}"/>
              </a:ext>
            </a:extLst>
          </p:cNvPr>
          <p:cNvSpPr/>
          <p:nvPr/>
        </p:nvSpPr>
        <p:spPr>
          <a:xfrm>
            <a:off x="5534326" y="2998839"/>
            <a:ext cx="430887" cy="2160000"/>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质量计划</a:t>
            </a:r>
          </a:p>
        </p:txBody>
      </p:sp>
      <p:sp>
        <p:nvSpPr>
          <p:cNvPr id="13" name="矩形 12">
            <a:extLst>
              <a:ext uri="{FF2B5EF4-FFF2-40B4-BE49-F238E27FC236}">
                <a16:creationId xmlns:a16="http://schemas.microsoft.com/office/drawing/2014/main" id="{51DE155B-B227-230F-38DE-D1A4107A5065}"/>
              </a:ext>
            </a:extLst>
          </p:cNvPr>
          <p:cNvSpPr/>
          <p:nvPr/>
        </p:nvSpPr>
        <p:spPr>
          <a:xfrm>
            <a:off x="6227902" y="2998839"/>
            <a:ext cx="430887" cy="2160000"/>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配置管理计划</a:t>
            </a:r>
          </a:p>
        </p:txBody>
      </p:sp>
      <p:sp>
        <p:nvSpPr>
          <p:cNvPr id="14" name="矩形 13">
            <a:extLst>
              <a:ext uri="{FF2B5EF4-FFF2-40B4-BE49-F238E27FC236}">
                <a16:creationId xmlns:a16="http://schemas.microsoft.com/office/drawing/2014/main" id="{C3FB78A0-0AB6-6A7B-5C7B-98F44C7D51D5}"/>
              </a:ext>
            </a:extLst>
          </p:cNvPr>
          <p:cNvSpPr/>
          <p:nvPr/>
        </p:nvSpPr>
        <p:spPr>
          <a:xfrm>
            <a:off x="6921478" y="2998839"/>
            <a:ext cx="430887" cy="2160000"/>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团队计划</a:t>
            </a:r>
          </a:p>
        </p:txBody>
      </p:sp>
      <p:sp>
        <p:nvSpPr>
          <p:cNvPr id="15" name="矩形 14">
            <a:extLst>
              <a:ext uri="{FF2B5EF4-FFF2-40B4-BE49-F238E27FC236}">
                <a16:creationId xmlns:a16="http://schemas.microsoft.com/office/drawing/2014/main" id="{9F969CFB-6D8C-0D9C-842C-02ECD38840DA}"/>
              </a:ext>
            </a:extLst>
          </p:cNvPr>
          <p:cNvSpPr/>
          <p:nvPr/>
        </p:nvSpPr>
        <p:spPr>
          <a:xfrm>
            <a:off x="7615054" y="2998839"/>
            <a:ext cx="430887" cy="2160000"/>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风险计划</a:t>
            </a:r>
          </a:p>
        </p:txBody>
      </p:sp>
      <p:sp>
        <p:nvSpPr>
          <p:cNvPr id="16" name="矩形 15">
            <a:extLst>
              <a:ext uri="{FF2B5EF4-FFF2-40B4-BE49-F238E27FC236}">
                <a16:creationId xmlns:a16="http://schemas.microsoft.com/office/drawing/2014/main" id="{873EA3A2-85C8-419F-ED1A-EC7AEE868371}"/>
              </a:ext>
            </a:extLst>
          </p:cNvPr>
          <p:cNvSpPr/>
          <p:nvPr/>
        </p:nvSpPr>
        <p:spPr>
          <a:xfrm>
            <a:off x="8308629" y="2998839"/>
            <a:ext cx="430887" cy="2160000"/>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合同计划</a:t>
            </a:r>
          </a:p>
        </p:txBody>
      </p:sp>
      <p:sp>
        <p:nvSpPr>
          <p:cNvPr id="17" name="梯形 27">
            <a:extLst>
              <a:ext uri="{FF2B5EF4-FFF2-40B4-BE49-F238E27FC236}">
                <a16:creationId xmlns:a16="http://schemas.microsoft.com/office/drawing/2014/main" id="{35717CAD-9732-24F8-11F3-015E48DC9C00}"/>
              </a:ext>
            </a:extLst>
          </p:cNvPr>
          <p:cNvSpPr/>
          <p:nvPr/>
        </p:nvSpPr>
        <p:spPr>
          <a:xfrm>
            <a:off x="3452485" y="2359742"/>
            <a:ext cx="5287031" cy="639097"/>
          </a:xfrm>
          <a:custGeom>
            <a:avLst/>
            <a:gdLst>
              <a:gd name="csX0" fmla="*/ 0 w 5287031"/>
              <a:gd name="csY0" fmla="*/ 629265 h 629265"/>
              <a:gd name="csX1" fmla="*/ 688259 w 5287031"/>
              <a:gd name="csY1" fmla="*/ 0 h 629265"/>
              <a:gd name="csX2" fmla="*/ 4598772 w 5287031"/>
              <a:gd name="csY2" fmla="*/ 0 h 629265"/>
              <a:gd name="csX3" fmla="*/ 5287031 w 5287031"/>
              <a:gd name="csY3" fmla="*/ 629265 h 629265"/>
              <a:gd name="csX4" fmla="*/ 0 w 5287031"/>
              <a:gd name="csY4" fmla="*/ 629265 h 629265"/>
              <a:gd name="csX0" fmla="*/ 0 w 5287031"/>
              <a:gd name="csY0" fmla="*/ 639097 h 639097"/>
              <a:gd name="csX1" fmla="*/ 688259 w 5287031"/>
              <a:gd name="csY1" fmla="*/ 9832 h 639097"/>
              <a:gd name="csX2" fmla="*/ 2327520 w 5287031"/>
              <a:gd name="csY2" fmla="*/ 0 h 639097"/>
              <a:gd name="csX3" fmla="*/ 5287031 w 5287031"/>
              <a:gd name="csY3" fmla="*/ 639097 h 639097"/>
              <a:gd name="csX4" fmla="*/ 0 w 5287031"/>
              <a:gd name="csY4" fmla="*/ 639097 h 639097"/>
            </a:gdLst>
            <a:ahLst/>
            <a:cxnLst>
              <a:cxn ang="0">
                <a:pos x="csX0" y="csY0"/>
              </a:cxn>
              <a:cxn ang="0">
                <a:pos x="csX1" y="csY1"/>
              </a:cxn>
              <a:cxn ang="0">
                <a:pos x="csX2" y="csY2"/>
              </a:cxn>
              <a:cxn ang="0">
                <a:pos x="csX3" y="csY3"/>
              </a:cxn>
              <a:cxn ang="0">
                <a:pos x="csX4" y="csY4"/>
              </a:cxn>
            </a:cxnLst>
            <a:rect l="l" t="t" r="r" b="b"/>
            <a:pathLst>
              <a:path w="5287031" h="639097">
                <a:moveTo>
                  <a:pt x="0" y="639097"/>
                </a:moveTo>
                <a:lnTo>
                  <a:pt x="688259" y="9832"/>
                </a:lnTo>
                <a:lnTo>
                  <a:pt x="2327520" y="0"/>
                </a:lnTo>
                <a:lnTo>
                  <a:pt x="5287031" y="639097"/>
                </a:lnTo>
                <a:lnTo>
                  <a:pt x="0" y="639097"/>
                </a:lnTo>
                <a:close/>
              </a:path>
            </a:pathLst>
          </a:custGeom>
          <a:gradFill flip="none" rotWithShape="1">
            <a:gsLst>
              <a:gs pos="0">
                <a:srgbClr val="00B0F0"/>
              </a:gs>
              <a:gs pos="100000">
                <a:schemeClr val="bg1">
                  <a:alpha val="0"/>
                </a:scheme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tx1"/>
              </a:solidFill>
            </a:endParaRPr>
          </a:p>
        </p:txBody>
      </p:sp>
    </p:spTree>
    <p:extLst>
      <p:ext uri="{BB962C8B-B14F-4D97-AF65-F5344CB8AC3E}">
        <p14:creationId xmlns:p14="http://schemas.microsoft.com/office/powerpoint/2010/main" val="3954988291"/>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C7C211-FB19-E294-83F7-B69D3007C5E4}"/>
              </a:ext>
            </a:extLst>
          </p:cNvPr>
          <p:cNvSpPr>
            <a:spLocks noGrp="1"/>
          </p:cNvSpPr>
          <p:nvPr>
            <p:ph type="title"/>
          </p:nvPr>
        </p:nvSpPr>
        <p:spPr>
          <a:xfrm>
            <a:off x="792000" y="360000"/>
            <a:ext cx="6375921" cy="429413"/>
          </a:xfrm>
        </p:spPr>
        <p:txBody>
          <a:bodyPr/>
          <a:lstStyle/>
          <a:p>
            <a:r>
              <a:rPr lang="zh-CN" altLang="en-US" dirty="0"/>
              <a:t>引言</a:t>
            </a:r>
          </a:p>
        </p:txBody>
      </p:sp>
      <p:sp>
        <p:nvSpPr>
          <p:cNvPr id="6" name="内容占位符 5">
            <a:extLst>
              <a:ext uri="{FF2B5EF4-FFF2-40B4-BE49-F238E27FC236}">
                <a16:creationId xmlns:a16="http://schemas.microsoft.com/office/drawing/2014/main" id="{64A7B273-A9B5-31B2-405D-291159FF92B8}"/>
              </a:ext>
            </a:extLst>
          </p:cNvPr>
          <p:cNvSpPr>
            <a:spLocks noGrp="1"/>
          </p:cNvSpPr>
          <p:nvPr>
            <p:ph idx="1"/>
          </p:nvPr>
        </p:nvSpPr>
        <p:spPr/>
        <p:txBody>
          <a:bodyPr/>
          <a:lstStyle/>
          <a:p>
            <a:endParaRPr lang="zh-CN" altLang="en-US"/>
          </a:p>
        </p:txBody>
      </p:sp>
      <p:sp>
        <p:nvSpPr>
          <p:cNvPr id="4" name="文本占位符 3">
            <a:extLst>
              <a:ext uri="{FF2B5EF4-FFF2-40B4-BE49-F238E27FC236}">
                <a16:creationId xmlns:a16="http://schemas.microsoft.com/office/drawing/2014/main" id="{37BE89C7-94DC-A469-0FE2-3CFCAA648AAB}"/>
              </a:ext>
            </a:extLst>
          </p:cNvPr>
          <p:cNvSpPr>
            <a:spLocks noGrp="1"/>
          </p:cNvSpPr>
          <p:nvPr>
            <p:ph type="body" sz="quarter" idx="10"/>
          </p:nvPr>
        </p:nvSpPr>
        <p:spPr>
          <a:xfrm>
            <a:off x="7071919" y="448519"/>
            <a:ext cx="4424080" cy="338554"/>
          </a:xfrm>
        </p:spPr>
        <p:txBody>
          <a:bodyPr/>
          <a:lstStyle/>
          <a:p>
            <a:r>
              <a:rPr lang="en-US" altLang="zh-CN" dirty="0"/>
              <a:t>Introduction</a:t>
            </a:r>
            <a:endParaRPr lang="zh-CN" altLang="en-US" dirty="0"/>
          </a:p>
        </p:txBody>
      </p:sp>
      <p:pic>
        <p:nvPicPr>
          <p:cNvPr id="1026" name="Picture 2" descr="早期地球迥异的营养元素循环及生命宜居性-行星科学国际研究中心2022">
            <a:extLst>
              <a:ext uri="{FF2B5EF4-FFF2-40B4-BE49-F238E27FC236}">
                <a16:creationId xmlns:a16="http://schemas.microsoft.com/office/drawing/2014/main" id="{AC8008BF-DC4A-5B47-E2AC-BB93C72D94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30862" y="1618816"/>
            <a:ext cx="3961205" cy="36203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7157105"/>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CB5D870D-D3F0-5E43-8796-12FF1D9F6E10}"/>
              </a:ext>
            </a:extLst>
          </p:cNvPr>
          <p:cNvSpPr>
            <a:spLocks noGrp="1"/>
          </p:cNvSpPr>
          <p:nvPr>
            <p:ph type="title"/>
          </p:nvPr>
        </p:nvSpPr>
        <p:spPr>
          <a:xfrm>
            <a:off x="792000" y="360000"/>
            <a:ext cx="6375921" cy="429413"/>
          </a:xfrm>
        </p:spPr>
        <p:txBody>
          <a:bodyPr/>
          <a:lstStyle/>
          <a:p>
            <a:r>
              <a:rPr lang="zh-CN" altLang="en-US" dirty="0"/>
              <a:t>引言</a:t>
            </a:r>
          </a:p>
        </p:txBody>
      </p:sp>
      <p:sp>
        <p:nvSpPr>
          <p:cNvPr id="3" name="内容占位符 2">
            <a:extLst>
              <a:ext uri="{FF2B5EF4-FFF2-40B4-BE49-F238E27FC236}">
                <a16:creationId xmlns:a16="http://schemas.microsoft.com/office/drawing/2014/main" id="{40D8C103-2D94-96B8-10DA-80444076D43E}"/>
              </a:ext>
            </a:extLst>
          </p:cNvPr>
          <p:cNvSpPr>
            <a:spLocks noGrp="1"/>
          </p:cNvSpPr>
          <p:nvPr>
            <p:ph idx="1"/>
          </p:nvPr>
        </p:nvSpPr>
        <p:spPr>
          <a:xfrm>
            <a:off x="696000" y="864000"/>
            <a:ext cx="10800000" cy="5400000"/>
          </a:xfrm>
        </p:spPr>
        <p:txBody>
          <a:bodyPr/>
          <a:lstStyle/>
          <a:p>
            <a:r>
              <a:rPr lang="zh-CN" altLang="en-US" dirty="0"/>
              <a:t>按时完成项目是项目经理最大的挑战之一</a:t>
            </a:r>
          </a:p>
          <a:p>
            <a:r>
              <a:rPr lang="zh-CN" altLang="en-US" dirty="0"/>
              <a:t>进度是对执行的活动和里程碑制定的工作计划日期表</a:t>
            </a:r>
          </a:p>
          <a:p>
            <a:endParaRPr lang="zh-CN" altLang="en-US" dirty="0"/>
          </a:p>
        </p:txBody>
      </p:sp>
      <p:sp>
        <p:nvSpPr>
          <p:cNvPr id="18" name="文本占位符 17">
            <a:extLst>
              <a:ext uri="{FF2B5EF4-FFF2-40B4-BE49-F238E27FC236}">
                <a16:creationId xmlns:a16="http://schemas.microsoft.com/office/drawing/2014/main" id="{6E3FF88E-AC9E-2D80-A95B-D5968BFD675A}"/>
              </a:ext>
            </a:extLst>
          </p:cNvPr>
          <p:cNvSpPr>
            <a:spLocks noGrp="1"/>
          </p:cNvSpPr>
          <p:nvPr>
            <p:ph type="body" sz="quarter" idx="10"/>
          </p:nvPr>
        </p:nvSpPr>
        <p:spPr>
          <a:xfrm>
            <a:off x="7071919" y="448519"/>
            <a:ext cx="4424080" cy="338554"/>
          </a:xfrm>
        </p:spPr>
        <p:txBody>
          <a:bodyPr/>
          <a:lstStyle/>
          <a:p>
            <a:r>
              <a:rPr lang="en-US" altLang="zh-CN" dirty="0"/>
              <a:t>Introduction</a:t>
            </a:r>
            <a:endParaRPr lang="zh-CN" altLang="en-US" dirty="0"/>
          </a:p>
        </p:txBody>
      </p:sp>
      <p:graphicFrame>
        <p:nvGraphicFramePr>
          <p:cNvPr id="15" name="图示 14">
            <a:extLst>
              <a:ext uri="{FF2B5EF4-FFF2-40B4-BE49-F238E27FC236}">
                <a16:creationId xmlns:a16="http://schemas.microsoft.com/office/drawing/2014/main" id="{0FFB8837-328E-9856-C409-14A42A3336DC}"/>
              </a:ext>
            </a:extLst>
          </p:cNvPr>
          <p:cNvGraphicFramePr/>
          <p:nvPr>
            <p:extLst>
              <p:ext uri="{D42A27DB-BD31-4B8C-83A1-F6EECF244321}">
                <p14:modId xmlns:p14="http://schemas.microsoft.com/office/powerpoint/2010/main" val="3655489506"/>
              </p:ext>
            </p:extLst>
          </p:nvPr>
        </p:nvGraphicFramePr>
        <p:xfrm>
          <a:off x="3632200" y="2079624"/>
          <a:ext cx="4673600" cy="31157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47305159"/>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77B0E4-579B-F75D-861A-21748DD19FA0}"/>
              </a:ext>
            </a:extLst>
          </p:cNvPr>
          <p:cNvSpPr>
            <a:spLocks noGrp="1"/>
          </p:cNvSpPr>
          <p:nvPr>
            <p:ph type="title"/>
          </p:nvPr>
        </p:nvSpPr>
        <p:spPr>
          <a:xfrm>
            <a:off x="792000" y="360000"/>
            <a:ext cx="6375921" cy="429413"/>
          </a:xfrm>
        </p:spPr>
        <p:txBody>
          <a:bodyPr/>
          <a:lstStyle/>
          <a:p>
            <a:r>
              <a:rPr lang="zh-CN" altLang="en-US" dirty="0"/>
              <a:t>项目进度计划流程</a:t>
            </a:r>
          </a:p>
        </p:txBody>
      </p:sp>
      <p:sp>
        <p:nvSpPr>
          <p:cNvPr id="7" name="内容占位符 6">
            <a:extLst>
              <a:ext uri="{FF2B5EF4-FFF2-40B4-BE49-F238E27FC236}">
                <a16:creationId xmlns:a16="http://schemas.microsoft.com/office/drawing/2014/main" id="{96EE4563-7346-39DB-E2D4-AC39000E67E9}"/>
              </a:ext>
            </a:extLst>
          </p:cNvPr>
          <p:cNvSpPr>
            <a:spLocks noGrp="1"/>
          </p:cNvSpPr>
          <p:nvPr>
            <p:ph idx="1"/>
          </p:nvPr>
        </p:nvSpPr>
        <p:spPr/>
        <p:txBody>
          <a:bodyPr/>
          <a:lstStyle/>
          <a:p>
            <a:endParaRPr lang="zh-CN" altLang="en-US"/>
          </a:p>
        </p:txBody>
      </p:sp>
      <p:sp>
        <p:nvSpPr>
          <p:cNvPr id="4" name="文本占位符 3">
            <a:extLst>
              <a:ext uri="{FF2B5EF4-FFF2-40B4-BE49-F238E27FC236}">
                <a16:creationId xmlns:a16="http://schemas.microsoft.com/office/drawing/2014/main" id="{B37B95F2-FB0A-C110-6D1D-2ED3DEEB469C}"/>
              </a:ext>
            </a:extLst>
          </p:cNvPr>
          <p:cNvSpPr>
            <a:spLocks noGrp="1"/>
          </p:cNvSpPr>
          <p:nvPr>
            <p:ph type="body" sz="quarter" idx="10"/>
          </p:nvPr>
        </p:nvSpPr>
        <p:spPr>
          <a:xfrm>
            <a:off x="7071919" y="448519"/>
            <a:ext cx="4424080" cy="338554"/>
          </a:xfrm>
        </p:spPr>
        <p:txBody>
          <a:bodyPr/>
          <a:lstStyle/>
          <a:p>
            <a:r>
              <a:rPr lang="en-US" altLang="zh-CN"/>
              <a:t>Project Progress</a:t>
            </a:r>
            <a:endParaRPr lang="zh-CN" altLang="en-US"/>
          </a:p>
        </p:txBody>
      </p:sp>
      <p:sp>
        <p:nvSpPr>
          <p:cNvPr id="33" name="箭头: 五边形 32">
            <a:extLst>
              <a:ext uri="{FF2B5EF4-FFF2-40B4-BE49-F238E27FC236}">
                <a16:creationId xmlns:a16="http://schemas.microsoft.com/office/drawing/2014/main" id="{D0D57978-BE70-62C8-7548-ABC5E145285C}"/>
              </a:ext>
            </a:extLst>
          </p:cNvPr>
          <p:cNvSpPr/>
          <p:nvPr/>
        </p:nvSpPr>
        <p:spPr>
          <a:xfrm>
            <a:off x="7983141" y="3133725"/>
            <a:ext cx="1819275" cy="590550"/>
          </a:xfrm>
          <a:prstGeom prst="homePlate">
            <a:avLst/>
          </a:prstGeom>
          <a:ln/>
          <a:effectLst>
            <a:outerShdw blurRad="127000" dist="12700" dir="2700000" algn="tl" rotWithShape="0">
              <a:schemeClr val="bg1">
                <a:alpha val="40000"/>
              </a:schemeClr>
            </a:outerShdw>
          </a:effectLst>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sz="1600" dirty="0">
                <a:solidFill>
                  <a:schemeClr val="bg1"/>
                </a:solidFill>
              </a:rPr>
              <a:t>进度优化</a:t>
            </a:r>
          </a:p>
        </p:txBody>
      </p:sp>
      <p:sp>
        <p:nvSpPr>
          <p:cNvPr id="37" name="箭头: 五边形 36">
            <a:extLst>
              <a:ext uri="{FF2B5EF4-FFF2-40B4-BE49-F238E27FC236}">
                <a16:creationId xmlns:a16="http://schemas.microsoft.com/office/drawing/2014/main" id="{691E68AB-48DE-0509-7E37-CFDDEDE19463}"/>
              </a:ext>
            </a:extLst>
          </p:cNvPr>
          <p:cNvSpPr/>
          <p:nvPr/>
        </p:nvSpPr>
        <p:spPr>
          <a:xfrm>
            <a:off x="6584751" y="3133725"/>
            <a:ext cx="1819275" cy="590550"/>
          </a:xfrm>
          <a:prstGeom prst="homePlate">
            <a:avLst/>
          </a:prstGeom>
          <a:ln/>
          <a:effectLst>
            <a:outerShdw blurRad="127000" dist="12700" dir="2700000" algn="tl" rotWithShape="0">
              <a:schemeClr val="bg1">
                <a:alpha val="40000"/>
              </a:schemeClr>
            </a:outerShdw>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sz="1600" dirty="0">
                <a:solidFill>
                  <a:schemeClr val="bg1"/>
                </a:solidFill>
              </a:rPr>
              <a:t>进度编排</a:t>
            </a:r>
          </a:p>
        </p:txBody>
      </p:sp>
      <p:sp>
        <p:nvSpPr>
          <p:cNvPr id="40" name="箭头: 五边形 39">
            <a:extLst>
              <a:ext uri="{FF2B5EF4-FFF2-40B4-BE49-F238E27FC236}">
                <a16:creationId xmlns:a16="http://schemas.microsoft.com/office/drawing/2014/main" id="{53C7ED77-4353-D83C-2042-D7DF6E7B52E4}"/>
              </a:ext>
            </a:extLst>
          </p:cNvPr>
          <p:cNvSpPr/>
          <p:nvPr/>
        </p:nvSpPr>
        <p:spPr>
          <a:xfrm>
            <a:off x="5186362" y="3133725"/>
            <a:ext cx="1819275" cy="590550"/>
          </a:xfrm>
          <a:prstGeom prst="homePlate">
            <a:avLst/>
          </a:prstGeom>
          <a:ln/>
          <a:effectLst>
            <a:outerShdw blurRad="127000" dist="12700" dir="2700000" algn="tl" rotWithShape="0">
              <a:schemeClr val="bg1">
                <a:alpha val="40000"/>
              </a:schemeClr>
            </a:outerShdw>
          </a:effectLst>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en-US" sz="1600" dirty="0">
                <a:solidFill>
                  <a:schemeClr val="bg1"/>
                </a:solidFill>
              </a:rPr>
              <a:t>历时估算</a:t>
            </a:r>
          </a:p>
        </p:txBody>
      </p:sp>
      <p:sp>
        <p:nvSpPr>
          <p:cNvPr id="42" name="箭头: 五边形 41">
            <a:extLst>
              <a:ext uri="{FF2B5EF4-FFF2-40B4-BE49-F238E27FC236}">
                <a16:creationId xmlns:a16="http://schemas.microsoft.com/office/drawing/2014/main" id="{6CCE532D-AA0A-03C7-EC15-0F536A8CEBC2}"/>
              </a:ext>
            </a:extLst>
          </p:cNvPr>
          <p:cNvSpPr/>
          <p:nvPr/>
        </p:nvSpPr>
        <p:spPr>
          <a:xfrm>
            <a:off x="3787973" y="3133725"/>
            <a:ext cx="1819275" cy="590550"/>
          </a:xfrm>
          <a:prstGeom prst="homePlate">
            <a:avLst/>
          </a:prstGeom>
          <a:ln/>
          <a:effectLst>
            <a:outerShdw blurRad="127000" dist="12700" dir="2700000" algn="tl" rotWithShape="0">
              <a:schemeClr val="bg1">
                <a:alpha val="40000"/>
              </a:schemeClr>
            </a:outerShdw>
          </a:effectLst>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sz="1600" dirty="0">
                <a:solidFill>
                  <a:schemeClr val="bg1"/>
                </a:solidFill>
              </a:rPr>
              <a:t>任务关系</a:t>
            </a:r>
          </a:p>
        </p:txBody>
      </p:sp>
      <p:sp>
        <p:nvSpPr>
          <p:cNvPr id="43" name="箭头: 五边形 42">
            <a:extLst>
              <a:ext uri="{FF2B5EF4-FFF2-40B4-BE49-F238E27FC236}">
                <a16:creationId xmlns:a16="http://schemas.microsoft.com/office/drawing/2014/main" id="{293DC0AE-06E7-3382-239B-8AC588A662E1}"/>
              </a:ext>
            </a:extLst>
          </p:cNvPr>
          <p:cNvSpPr/>
          <p:nvPr/>
        </p:nvSpPr>
        <p:spPr>
          <a:xfrm>
            <a:off x="2389584" y="3133725"/>
            <a:ext cx="1819275" cy="590550"/>
          </a:xfrm>
          <a:prstGeom prst="homePlate">
            <a:avLst/>
          </a:prstGeom>
          <a:ln/>
          <a:effectLst>
            <a:outerShdw blurRad="127000" dist="12700" dir="2700000" algn="tl" rotWithShape="0">
              <a:schemeClr val="bg1">
                <a:alpha val="40000"/>
              </a:schemeClr>
            </a:outerShdw>
          </a:effectLst>
        </p:spPr>
        <p:style>
          <a:lnRef idx="0">
            <a:schemeClr val="accent6"/>
          </a:lnRef>
          <a:fillRef idx="3">
            <a:schemeClr val="accent6"/>
          </a:fillRef>
          <a:effectRef idx="3">
            <a:schemeClr val="accent6"/>
          </a:effectRef>
          <a:fontRef idx="minor">
            <a:schemeClr val="lt1"/>
          </a:fontRef>
        </p:style>
        <p:txBody>
          <a:bodyPr rtlCol="0" anchor="ctr"/>
          <a:lstStyle/>
          <a:p>
            <a:pPr algn="ctr"/>
            <a:r>
              <a:rPr lang="zh-CN" altLang="en-US" sz="1600" dirty="0">
                <a:solidFill>
                  <a:schemeClr val="bg1"/>
                </a:solidFill>
              </a:rPr>
              <a:t>任务定义</a:t>
            </a:r>
          </a:p>
        </p:txBody>
      </p:sp>
    </p:spTree>
    <p:extLst>
      <p:ext uri="{BB962C8B-B14F-4D97-AF65-F5344CB8AC3E}">
        <p14:creationId xmlns:p14="http://schemas.microsoft.com/office/powerpoint/2010/main" val="2546759685"/>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95F25D-6BA6-0F08-C74A-F9376735DAB6}"/>
              </a:ext>
            </a:extLst>
          </p:cNvPr>
          <p:cNvSpPr>
            <a:spLocks noGrp="1"/>
          </p:cNvSpPr>
          <p:nvPr>
            <p:ph type="title"/>
          </p:nvPr>
        </p:nvSpPr>
        <p:spPr>
          <a:xfrm>
            <a:off x="792000" y="360000"/>
            <a:ext cx="6375921" cy="429413"/>
          </a:xfrm>
        </p:spPr>
        <p:txBody>
          <a:bodyPr/>
          <a:lstStyle/>
          <a:p>
            <a:r>
              <a:rPr lang="en-US" altLang="zh-CN" dirty="0"/>
              <a:t>1. </a:t>
            </a:r>
            <a:r>
              <a:rPr lang="zh-CN" altLang="en-US" dirty="0"/>
              <a:t>定义任务</a:t>
            </a:r>
          </a:p>
        </p:txBody>
      </p:sp>
      <p:sp>
        <p:nvSpPr>
          <p:cNvPr id="3" name="内容占位符 2">
            <a:extLst>
              <a:ext uri="{FF2B5EF4-FFF2-40B4-BE49-F238E27FC236}">
                <a16:creationId xmlns:a16="http://schemas.microsoft.com/office/drawing/2014/main" id="{34BB9AD9-FADA-BC8E-F7C8-9202F3BB4207}"/>
              </a:ext>
            </a:extLst>
          </p:cNvPr>
          <p:cNvSpPr>
            <a:spLocks noGrp="1"/>
          </p:cNvSpPr>
          <p:nvPr>
            <p:ph idx="1"/>
          </p:nvPr>
        </p:nvSpPr>
        <p:spPr>
          <a:xfrm>
            <a:off x="696000" y="864000"/>
            <a:ext cx="10800000" cy="5400000"/>
          </a:xfrm>
        </p:spPr>
        <p:txBody>
          <a:bodyPr/>
          <a:lstStyle/>
          <a:p>
            <a:r>
              <a:rPr lang="zh-CN" altLang="en-US" dirty="0"/>
              <a:t>完成任务所进行的工作</a:t>
            </a:r>
            <a:endParaRPr lang="en-US" altLang="zh-CN" dirty="0"/>
          </a:p>
          <a:p>
            <a:r>
              <a:rPr lang="zh-CN" altLang="en-US" dirty="0"/>
              <a:t>按时完成是最大的挑战。。。</a:t>
            </a:r>
            <a:endParaRPr lang="en-US" altLang="zh-CN" dirty="0"/>
          </a:p>
          <a:p>
            <a:r>
              <a:rPr lang="zh-CN" altLang="en-US" dirty="0"/>
              <a:t>时间是灵活性最小的因素</a:t>
            </a:r>
            <a:endParaRPr lang="en-US" altLang="zh-CN" dirty="0"/>
          </a:p>
          <a:p>
            <a:r>
              <a:rPr lang="zh-CN" altLang="en-US" dirty="0"/>
              <a:t>核心</a:t>
            </a:r>
            <a:endParaRPr lang="en-US" altLang="zh-CN" dirty="0"/>
          </a:p>
          <a:p>
            <a:pPr lvl="1"/>
            <a:r>
              <a:rPr lang="zh-CN" altLang="en-US" dirty="0"/>
              <a:t>进度的对象是特定的任务、活动或工作包 </a:t>
            </a:r>
            <a:r>
              <a:rPr lang="en-US" altLang="zh-CN" dirty="0"/>
              <a:t>Package</a:t>
            </a:r>
          </a:p>
          <a:p>
            <a:pPr lvl="1"/>
            <a:r>
              <a:rPr lang="zh-CN" altLang="en-US" dirty="0"/>
              <a:t>识别出关键任务</a:t>
            </a:r>
            <a:endParaRPr lang="en-US" altLang="zh-CN" dirty="0"/>
          </a:p>
          <a:p>
            <a:endParaRPr lang="en-US" altLang="zh-CN" dirty="0"/>
          </a:p>
          <a:p>
            <a:endParaRPr lang="en-US" altLang="zh-CN" dirty="0"/>
          </a:p>
        </p:txBody>
      </p:sp>
      <p:sp>
        <p:nvSpPr>
          <p:cNvPr id="4" name="文本占位符 3">
            <a:extLst>
              <a:ext uri="{FF2B5EF4-FFF2-40B4-BE49-F238E27FC236}">
                <a16:creationId xmlns:a16="http://schemas.microsoft.com/office/drawing/2014/main" id="{FED7A523-834E-7A5E-C065-8EDF02923BBD}"/>
              </a:ext>
            </a:extLst>
          </p:cNvPr>
          <p:cNvSpPr>
            <a:spLocks noGrp="1"/>
          </p:cNvSpPr>
          <p:nvPr>
            <p:ph type="body" sz="quarter" idx="10"/>
          </p:nvPr>
        </p:nvSpPr>
        <p:spPr>
          <a:xfrm>
            <a:off x="7071919" y="448519"/>
            <a:ext cx="4424080" cy="338554"/>
          </a:xfrm>
        </p:spPr>
        <p:txBody>
          <a:bodyPr/>
          <a:lstStyle/>
          <a:p>
            <a:r>
              <a:rPr lang="en-US" altLang="zh-CN" dirty="0"/>
              <a:t>Activity</a:t>
            </a:r>
            <a:endParaRPr lang="zh-CN" altLang="en-US" dirty="0"/>
          </a:p>
        </p:txBody>
      </p:sp>
    </p:spTree>
    <p:extLst>
      <p:ext uri="{BB962C8B-B14F-4D97-AF65-F5344CB8AC3E}">
        <p14:creationId xmlns:p14="http://schemas.microsoft.com/office/powerpoint/2010/main" val="1498995671"/>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4E5469-7B42-CB80-5266-37043A22DD9B}"/>
              </a:ext>
            </a:extLst>
          </p:cNvPr>
          <p:cNvSpPr>
            <a:spLocks noGrp="1"/>
          </p:cNvSpPr>
          <p:nvPr>
            <p:ph type="title"/>
          </p:nvPr>
        </p:nvSpPr>
        <p:spPr>
          <a:xfrm>
            <a:off x="792000" y="360000"/>
            <a:ext cx="6375921" cy="429413"/>
          </a:xfrm>
        </p:spPr>
        <p:txBody>
          <a:bodyPr>
            <a:normAutofit/>
          </a:bodyPr>
          <a:lstStyle/>
          <a:p>
            <a:r>
              <a:rPr lang="en-US" altLang="zh-CN" dirty="0"/>
              <a:t>2. </a:t>
            </a:r>
            <a:r>
              <a:rPr lang="zh-CN" altLang="en-US" dirty="0"/>
              <a:t>进度管理图示</a:t>
            </a:r>
          </a:p>
        </p:txBody>
      </p:sp>
      <p:sp>
        <p:nvSpPr>
          <p:cNvPr id="3" name="内容占位符 2">
            <a:extLst>
              <a:ext uri="{FF2B5EF4-FFF2-40B4-BE49-F238E27FC236}">
                <a16:creationId xmlns:a16="http://schemas.microsoft.com/office/drawing/2014/main" id="{13487814-DD5D-0B6B-08D6-B79EA4614178}"/>
              </a:ext>
            </a:extLst>
          </p:cNvPr>
          <p:cNvSpPr>
            <a:spLocks noGrp="1"/>
          </p:cNvSpPr>
          <p:nvPr>
            <p:ph idx="1"/>
          </p:nvPr>
        </p:nvSpPr>
        <p:spPr>
          <a:xfrm>
            <a:off x="696000" y="864000"/>
            <a:ext cx="10800000" cy="5400000"/>
          </a:xfrm>
        </p:spPr>
        <p:txBody>
          <a:bodyPr>
            <a:normAutofit/>
          </a:bodyPr>
          <a:lstStyle/>
          <a:p>
            <a:r>
              <a:rPr lang="zh-CN" altLang="en-US" dirty="0"/>
              <a:t>甘特图 </a:t>
            </a:r>
            <a:r>
              <a:rPr lang="en-US" altLang="zh-CN" dirty="0"/>
              <a:t>Gantt</a:t>
            </a:r>
          </a:p>
          <a:p>
            <a:r>
              <a:rPr lang="zh-CN" altLang="en-US" dirty="0"/>
              <a:t>网络图：展示逻辑关系</a:t>
            </a:r>
            <a:r>
              <a:rPr lang="en-US" altLang="zh-CN" dirty="0"/>
              <a:t>/</a:t>
            </a:r>
            <a:r>
              <a:rPr lang="zh-CN" altLang="en-US" dirty="0"/>
              <a:t>依赖关系</a:t>
            </a:r>
            <a:endParaRPr lang="en-US" altLang="zh-CN" dirty="0"/>
          </a:p>
          <a:p>
            <a:pPr lvl="1"/>
            <a:r>
              <a:rPr lang="en-US" altLang="zh-CN" dirty="0"/>
              <a:t>PDM</a:t>
            </a:r>
          </a:p>
          <a:p>
            <a:pPr lvl="1"/>
            <a:r>
              <a:rPr lang="en-US" altLang="zh-CN" dirty="0"/>
              <a:t>ADM</a:t>
            </a:r>
          </a:p>
          <a:p>
            <a:r>
              <a:rPr lang="zh-CN" altLang="en-US" dirty="0"/>
              <a:t>里程碑图 </a:t>
            </a:r>
            <a:r>
              <a:rPr lang="en-US" altLang="zh-CN" dirty="0"/>
              <a:t>Milestone</a:t>
            </a:r>
          </a:p>
          <a:p>
            <a:r>
              <a:rPr lang="zh-CN" altLang="en-US" dirty="0"/>
              <a:t>资源图 </a:t>
            </a:r>
            <a:r>
              <a:rPr lang="en-US" altLang="zh-CN" dirty="0"/>
              <a:t> Resource Chart </a:t>
            </a:r>
          </a:p>
          <a:p>
            <a:r>
              <a:rPr lang="zh-CN" altLang="en-US" dirty="0"/>
              <a:t>燃尽图 </a:t>
            </a:r>
            <a:r>
              <a:rPr lang="en-US" altLang="zh-CN" dirty="0"/>
              <a:t>Burn-Down</a:t>
            </a:r>
          </a:p>
          <a:p>
            <a:r>
              <a:rPr lang="zh-CN" altLang="en-US" dirty="0"/>
              <a:t>燃起图 </a:t>
            </a:r>
            <a:r>
              <a:rPr lang="en-US" altLang="zh-CN" dirty="0"/>
              <a:t>Burn-Up</a:t>
            </a:r>
            <a:endParaRPr lang="zh-CN" altLang="en-US" dirty="0"/>
          </a:p>
        </p:txBody>
      </p:sp>
      <p:sp>
        <p:nvSpPr>
          <p:cNvPr id="7" name="文本占位符 6">
            <a:extLst>
              <a:ext uri="{FF2B5EF4-FFF2-40B4-BE49-F238E27FC236}">
                <a16:creationId xmlns:a16="http://schemas.microsoft.com/office/drawing/2014/main" id="{2010B3B1-27B9-A3E8-658A-B69C42CCAB78}"/>
              </a:ext>
            </a:extLst>
          </p:cNvPr>
          <p:cNvSpPr>
            <a:spLocks noGrp="1"/>
          </p:cNvSpPr>
          <p:nvPr>
            <p:ph type="body" sz="quarter" idx="10"/>
          </p:nvPr>
        </p:nvSpPr>
        <p:spPr>
          <a:xfrm>
            <a:off x="7071919" y="448519"/>
            <a:ext cx="4424080" cy="338554"/>
          </a:xfrm>
        </p:spPr>
        <p:txBody>
          <a:bodyPr/>
          <a:lstStyle/>
          <a:p>
            <a:r>
              <a:rPr lang="en-US" altLang="zh-CN" dirty="0"/>
              <a:t>Diagrams</a:t>
            </a:r>
            <a:endParaRPr lang="zh-CN" altLang="en-US" dirty="0"/>
          </a:p>
        </p:txBody>
      </p:sp>
    </p:spTree>
    <p:extLst>
      <p:ext uri="{BB962C8B-B14F-4D97-AF65-F5344CB8AC3E}">
        <p14:creationId xmlns:p14="http://schemas.microsoft.com/office/powerpoint/2010/main" val="3167855499"/>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D14EF-380D-FC23-AAD2-937932CFFF5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6E86DC9-D44B-A6BD-4751-C893A83CC14E}"/>
              </a:ext>
            </a:extLst>
          </p:cNvPr>
          <p:cNvSpPr>
            <a:spLocks noGrp="1"/>
          </p:cNvSpPr>
          <p:nvPr>
            <p:ph type="title"/>
          </p:nvPr>
        </p:nvSpPr>
        <p:spPr>
          <a:xfrm>
            <a:off x="792000" y="360000"/>
            <a:ext cx="6375921" cy="429413"/>
          </a:xfrm>
        </p:spPr>
        <p:txBody>
          <a:bodyPr>
            <a:normAutofit/>
          </a:bodyPr>
          <a:lstStyle/>
          <a:p>
            <a:r>
              <a:rPr lang="en-US" altLang="zh-CN" dirty="0"/>
              <a:t>2.1 </a:t>
            </a:r>
            <a:r>
              <a:rPr lang="zh-CN" altLang="en-US" dirty="0"/>
              <a:t>甘特图</a:t>
            </a:r>
          </a:p>
        </p:txBody>
      </p:sp>
      <p:sp>
        <p:nvSpPr>
          <p:cNvPr id="3" name="内容占位符 2">
            <a:extLst>
              <a:ext uri="{FF2B5EF4-FFF2-40B4-BE49-F238E27FC236}">
                <a16:creationId xmlns:a16="http://schemas.microsoft.com/office/drawing/2014/main" id="{58B1F228-DB21-D893-7070-7DED82A760F3}"/>
              </a:ext>
            </a:extLst>
          </p:cNvPr>
          <p:cNvSpPr>
            <a:spLocks noGrp="1"/>
          </p:cNvSpPr>
          <p:nvPr>
            <p:ph idx="1"/>
          </p:nvPr>
        </p:nvSpPr>
        <p:spPr>
          <a:xfrm>
            <a:off x="696000" y="864000"/>
            <a:ext cx="10800000" cy="5400000"/>
          </a:xfrm>
        </p:spPr>
        <p:txBody>
          <a:bodyPr>
            <a:normAutofit/>
          </a:bodyPr>
          <a:lstStyle/>
          <a:p>
            <a:r>
              <a:rPr lang="zh-CN" altLang="en-US" dirty="0"/>
              <a:t>甘特图是一种条形图，用于展示项目进度计划以及每个任务的开始时间和结束时间。它帮助团队成员了解项目的时间安排、任务之间的依赖关系以及整个项目的进展情况</a:t>
            </a:r>
            <a:endParaRPr lang="en-US" altLang="zh-CN" dirty="0"/>
          </a:p>
          <a:p>
            <a:r>
              <a:rPr lang="zh-CN" altLang="en-US" dirty="0"/>
              <a:t>组成：</a:t>
            </a:r>
          </a:p>
          <a:p>
            <a:pPr lvl="1"/>
            <a:r>
              <a:rPr lang="zh-CN" altLang="en-US" dirty="0"/>
              <a:t>事件号</a:t>
            </a:r>
          </a:p>
          <a:p>
            <a:pPr lvl="1"/>
            <a:r>
              <a:rPr lang="zh-CN" altLang="en-US" dirty="0"/>
              <a:t>最早开始时刻</a:t>
            </a:r>
          </a:p>
          <a:p>
            <a:pPr lvl="1"/>
            <a:r>
              <a:rPr lang="zh-CN" altLang="en-US" dirty="0"/>
              <a:t>最晚开始时刻</a:t>
            </a:r>
          </a:p>
          <a:p>
            <a:pPr lvl="1"/>
            <a:r>
              <a:rPr lang="zh-CN" altLang="en-US" dirty="0"/>
              <a:t>时间持续时间</a:t>
            </a:r>
          </a:p>
          <a:p>
            <a:r>
              <a:rPr lang="zh-CN" altLang="en-US" dirty="0"/>
              <a:t>特点：</a:t>
            </a:r>
          </a:p>
          <a:p>
            <a:pPr lvl="1"/>
            <a:r>
              <a:rPr lang="zh-CN" altLang="en-US" dirty="0"/>
              <a:t>显示每个任务的起止日期 </a:t>
            </a:r>
            <a:r>
              <a:rPr lang="en-US" altLang="zh-CN" dirty="0"/>
              <a:t>- </a:t>
            </a:r>
            <a:r>
              <a:rPr lang="zh-CN" altLang="en-US" dirty="0"/>
              <a:t>进度的安排情况</a:t>
            </a:r>
          </a:p>
          <a:p>
            <a:pPr lvl="1"/>
            <a:r>
              <a:rPr lang="zh-CN" altLang="en-US" dirty="0"/>
              <a:t>可以清晰地看到任务之间的重叠和依赖关系 </a:t>
            </a:r>
            <a:r>
              <a:rPr lang="en-US" altLang="zh-CN" dirty="0"/>
              <a:t>- </a:t>
            </a:r>
            <a:r>
              <a:rPr lang="zh-CN" altLang="en-US" dirty="0"/>
              <a:t>体现并发任务</a:t>
            </a:r>
          </a:p>
          <a:p>
            <a:pPr lvl="1"/>
            <a:r>
              <a:rPr lang="zh-CN" altLang="en-US" dirty="0"/>
              <a:t>帮助项目经理监控项目进度，并根据需要调整资源分配</a:t>
            </a:r>
            <a:endParaRPr lang="en-US" altLang="zh-CN" dirty="0"/>
          </a:p>
          <a:p>
            <a:pPr lvl="1"/>
            <a:r>
              <a:rPr lang="zh-CN" altLang="en-US" dirty="0"/>
              <a:t>前续事件都完成才可以决定当前事件的执行时间</a:t>
            </a:r>
          </a:p>
          <a:p>
            <a:pPr lvl="1"/>
            <a:r>
              <a:rPr lang="zh-CN" altLang="en-US" dirty="0"/>
              <a:t>最后一个的最早时间和最晚时间一样</a:t>
            </a:r>
          </a:p>
          <a:p>
            <a:pPr lvl="1"/>
            <a:r>
              <a:rPr lang="zh-CN" altLang="en-US" dirty="0"/>
              <a:t>不能反映任务之间的依赖关系</a:t>
            </a:r>
          </a:p>
        </p:txBody>
      </p:sp>
      <p:sp>
        <p:nvSpPr>
          <p:cNvPr id="7" name="文本占位符 6">
            <a:extLst>
              <a:ext uri="{FF2B5EF4-FFF2-40B4-BE49-F238E27FC236}">
                <a16:creationId xmlns:a16="http://schemas.microsoft.com/office/drawing/2014/main" id="{F55BE530-176D-9F2E-2A06-D2BC47F81494}"/>
              </a:ext>
            </a:extLst>
          </p:cNvPr>
          <p:cNvSpPr>
            <a:spLocks noGrp="1"/>
          </p:cNvSpPr>
          <p:nvPr>
            <p:ph type="body" sz="quarter" idx="10"/>
          </p:nvPr>
        </p:nvSpPr>
        <p:spPr>
          <a:xfrm>
            <a:off x="7071919" y="448519"/>
            <a:ext cx="4424080" cy="338554"/>
          </a:xfrm>
        </p:spPr>
        <p:txBody>
          <a:bodyPr/>
          <a:lstStyle/>
          <a:p>
            <a:r>
              <a:rPr lang="en-US" altLang="zh-CN" dirty="0"/>
              <a:t>Gantt Chart</a:t>
            </a:r>
            <a:endParaRPr lang="zh-CN" altLang="en-US" dirty="0"/>
          </a:p>
        </p:txBody>
      </p:sp>
    </p:spTree>
    <p:extLst>
      <p:ext uri="{BB962C8B-B14F-4D97-AF65-F5344CB8AC3E}">
        <p14:creationId xmlns:p14="http://schemas.microsoft.com/office/powerpoint/2010/main" val="2450574244"/>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图表 4">
            <a:extLst>
              <a:ext uri="{FF2B5EF4-FFF2-40B4-BE49-F238E27FC236}">
                <a16:creationId xmlns:a16="http://schemas.microsoft.com/office/drawing/2014/main" id="{BEE49E2B-1E11-BDE4-91FC-1EBBB6985AAA}"/>
              </a:ext>
            </a:extLst>
          </p:cNvPr>
          <p:cNvGraphicFramePr>
            <a:graphicFrameLocks noChangeAspect="1"/>
          </p:cNvGraphicFramePr>
          <p:nvPr>
            <p:extLst>
              <p:ext uri="{D42A27DB-BD31-4B8C-83A1-F6EECF244321}">
                <p14:modId xmlns:p14="http://schemas.microsoft.com/office/powerpoint/2010/main" val="156711394"/>
              </p:ext>
            </p:extLst>
          </p:nvPr>
        </p:nvGraphicFramePr>
        <p:xfrm>
          <a:off x="2496000" y="1269000"/>
          <a:ext cx="7200000" cy="4320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996129557"/>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3513A9-E854-50FB-366E-7E3156E4DD0B}"/>
              </a:ext>
            </a:extLst>
          </p:cNvPr>
          <p:cNvSpPr>
            <a:spLocks noGrp="1"/>
          </p:cNvSpPr>
          <p:nvPr>
            <p:ph type="title"/>
          </p:nvPr>
        </p:nvSpPr>
        <p:spPr>
          <a:xfrm>
            <a:off x="792000" y="360000"/>
            <a:ext cx="6375921" cy="429413"/>
          </a:xfrm>
        </p:spPr>
        <p:txBody>
          <a:bodyPr>
            <a:normAutofit/>
          </a:bodyPr>
          <a:lstStyle/>
          <a:p>
            <a:r>
              <a:rPr lang="en-US" altLang="zh-CN" dirty="0"/>
              <a:t>2.2 </a:t>
            </a:r>
            <a:r>
              <a:rPr lang="zh-CN" altLang="en-US" dirty="0"/>
              <a:t>前导图</a:t>
            </a:r>
          </a:p>
        </p:txBody>
      </p:sp>
      <p:sp>
        <p:nvSpPr>
          <p:cNvPr id="3" name="内容占位符 2">
            <a:extLst>
              <a:ext uri="{FF2B5EF4-FFF2-40B4-BE49-F238E27FC236}">
                <a16:creationId xmlns:a16="http://schemas.microsoft.com/office/drawing/2014/main" id="{9802770C-72B0-D754-C121-5F5B33672F8A}"/>
              </a:ext>
            </a:extLst>
          </p:cNvPr>
          <p:cNvSpPr>
            <a:spLocks noGrp="1"/>
          </p:cNvSpPr>
          <p:nvPr>
            <p:ph idx="1"/>
          </p:nvPr>
        </p:nvSpPr>
        <p:spPr>
          <a:xfrm>
            <a:off x="696000" y="864000"/>
            <a:ext cx="10800000" cy="5400000"/>
          </a:xfrm>
        </p:spPr>
        <p:txBody>
          <a:bodyPr>
            <a:normAutofit/>
          </a:bodyPr>
          <a:lstStyle/>
          <a:p>
            <a:r>
              <a:rPr lang="en-US" altLang="zh-CN" dirty="0"/>
              <a:t>Precedence Diagramming Method</a:t>
            </a:r>
          </a:p>
          <a:p>
            <a:r>
              <a:rPr lang="zh-CN" altLang="en-US" dirty="0"/>
              <a:t>也称优先图法、节点法和单代号网络图</a:t>
            </a:r>
            <a:endParaRPr lang="en-US" altLang="zh-CN" dirty="0"/>
          </a:p>
          <a:p>
            <a:r>
              <a:rPr lang="zh-CN" altLang="en-US" dirty="0"/>
              <a:t>节点：活动</a:t>
            </a:r>
            <a:r>
              <a:rPr lang="en-US" altLang="zh-CN" dirty="0"/>
              <a:t>/</a:t>
            </a:r>
            <a:r>
              <a:rPr lang="zh-CN" altLang="en-US" dirty="0"/>
              <a:t>任务，基本单元</a:t>
            </a:r>
            <a:endParaRPr lang="en-US" altLang="zh-CN" dirty="0"/>
          </a:p>
          <a:p>
            <a:r>
              <a:rPr lang="zh-CN" altLang="en-US" dirty="0"/>
              <a:t>箭头：活动之间的依赖关系</a:t>
            </a:r>
            <a:endParaRPr lang="en-US" altLang="zh-CN" dirty="0"/>
          </a:p>
          <a:p>
            <a:r>
              <a:rPr lang="zh-CN" altLang="en-US" dirty="0"/>
              <a:t>关系：紧后</a:t>
            </a:r>
            <a:r>
              <a:rPr lang="en-US" altLang="zh-CN" dirty="0"/>
              <a:t>/</a:t>
            </a:r>
            <a:r>
              <a:rPr lang="zh-CN" altLang="en-US" dirty="0"/>
              <a:t>前置和紧后</a:t>
            </a:r>
            <a:r>
              <a:rPr lang="en-US" altLang="zh-CN" dirty="0"/>
              <a:t>/</a:t>
            </a:r>
            <a:r>
              <a:rPr lang="zh-CN" altLang="en-US" dirty="0"/>
              <a:t>后续</a:t>
            </a:r>
            <a:endParaRPr lang="en-US" altLang="zh-CN" dirty="0"/>
          </a:p>
        </p:txBody>
      </p:sp>
      <p:sp>
        <p:nvSpPr>
          <p:cNvPr id="5" name="文本占位符 4">
            <a:extLst>
              <a:ext uri="{FF2B5EF4-FFF2-40B4-BE49-F238E27FC236}">
                <a16:creationId xmlns:a16="http://schemas.microsoft.com/office/drawing/2014/main" id="{867D7360-4CFE-E208-94F8-2D738CDF1CE4}"/>
              </a:ext>
            </a:extLst>
          </p:cNvPr>
          <p:cNvSpPr>
            <a:spLocks noGrp="1"/>
          </p:cNvSpPr>
          <p:nvPr>
            <p:ph type="body" sz="quarter" idx="10"/>
          </p:nvPr>
        </p:nvSpPr>
        <p:spPr>
          <a:xfrm>
            <a:off x="7071919" y="448519"/>
            <a:ext cx="4424080" cy="338554"/>
          </a:xfrm>
        </p:spPr>
        <p:txBody>
          <a:bodyPr/>
          <a:lstStyle/>
          <a:p>
            <a:r>
              <a:rPr lang="en-US" altLang="zh-CN" dirty="0"/>
              <a:t>PDM</a:t>
            </a:r>
            <a:endParaRPr lang="zh-CN" altLang="en-US" dirty="0"/>
          </a:p>
        </p:txBody>
      </p:sp>
      <p:graphicFrame>
        <p:nvGraphicFramePr>
          <p:cNvPr id="21" name="表格 20">
            <a:extLst>
              <a:ext uri="{FF2B5EF4-FFF2-40B4-BE49-F238E27FC236}">
                <a16:creationId xmlns:a16="http://schemas.microsoft.com/office/drawing/2014/main" id="{49E09E95-2DE2-7C7B-83CF-29B176234916}"/>
              </a:ext>
            </a:extLst>
          </p:cNvPr>
          <p:cNvGraphicFramePr>
            <a:graphicFrameLocks noGrp="1"/>
          </p:cNvGraphicFramePr>
          <p:nvPr>
            <p:extLst>
              <p:ext uri="{D42A27DB-BD31-4B8C-83A1-F6EECF244321}">
                <p14:modId xmlns:p14="http://schemas.microsoft.com/office/powerpoint/2010/main" val="2186385752"/>
              </p:ext>
            </p:extLst>
          </p:nvPr>
        </p:nvGraphicFramePr>
        <p:xfrm>
          <a:off x="695325" y="3429635"/>
          <a:ext cx="10801350" cy="2834640"/>
        </p:xfrm>
        <a:graphic>
          <a:graphicData uri="http://schemas.openxmlformats.org/drawingml/2006/table">
            <a:tbl>
              <a:tblPr/>
              <a:tblGrid>
                <a:gridCol w="3231782">
                  <a:extLst>
                    <a:ext uri="{9D8B030D-6E8A-4147-A177-3AD203B41FA5}">
                      <a16:colId xmlns:a16="http://schemas.microsoft.com/office/drawing/2014/main" val="1166585637"/>
                    </a:ext>
                  </a:extLst>
                </a:gridCol>
                <a:gridCol w="2156059">
                  <a:extLst>
                    <a:ext uri="{9D8B030D-6E8A-4147-A177-3AD203B41FA5}">
                      <a16:colId xmlns:a16="http://schemas.microsoft.com/office/drawing/2014/main" val="95549302"/>
                    </a:ext>
                  </a:extLst>
                </a:gridCol>
                <a:gridCol w="5413509">
                  <a:extLst>
                    <a:ext uri="{9D8B030D-6E8A-4147-A177-3AD203B41FA5}">
                      <a16:colId xmlns:a16="http://schemas.microsoft.com/office/drawing/2014/main" val="2192766451"/>
                    </a:ext>
                  </a:extLst>
                </a:gridCol>
              </a:tblGrid>
              <a:tr h="126536">
                <a:tc>
                  <a:txBody>
                    <a:bodyPr/>
                    <a:lstStyle/>
                    <a:p>
                      <a:pPr algn="l">
                        <a:buNone/>
                      </a:pPr>
                      <a:r>
                        <a:rPr lang="en-US" altLang="zh-CN" sz="1600" dirty="0">
                          <a:solidFill>
                            <a:schemeClr val="tx1"/>
                          </a:solidFill>
                        </a:rPr>
                        <a:t>Item</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ltLang="zh-CN" sz="1600" dirty="0">
                          <a:solidFill>
                            <a:schemeClr val="tx1"/>
                          </a:solidFill>
                        </a:rPr>
                        <a:t>Abbreviation</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ltLang="zh-CN" sz="1600" dirty="0">
                          <a:solidFill>
                            <a:schemeClr val="tx1"/>
                          </a:solidFill>
                        </a:rPr>
                        <a:t>Description</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85088612"/>
                  </a:ext>
                </a:extLst>
              </a:tr>
              <a:tr h="126536">
                <a:tc>
                  <a:txBody>
                    <a:bodyPr/>
                    <a:lstStyle/>
                    <a:p>
                      <a:pPr algn="l">
                        <a:buNone/>
                      </a:pPr>
                      <a:r>
                        <a:rPr lang="zh-CN" altLang="en-US" sz="1600" dirty="0">
                          <a:solidFill>
                            <a:schemeClr val="tx1"/>
                          </a:solidFill>
                        </a:rPr>
                        <a:t>结束 </a:t>
                      </a:r>
                      <a:r>
                        <a:rPr lang="en-US" altLang="zh-CN" sz="1600" dirty="0">
                          <a:solidFill>
                            <a:schemeClr val="tx1"/>
                          </a:solidFill>
                        </a:rPr>
                        <a:t>Finish</a:t>
                      </a:r>
                      <a:r>
                        <a:rPr lang="zh-CN" altLang="en-US" sz="1600" dirty="0">
                          <a:solidFill>
                            <a:schemeClr val="tx1"/>
                          </a:solidFill>
                        </a:rPr>
                        <a:t> → 开始 </a:t>
                      </a:r>
                      <a:r>
                        <a:rPr lang="en-US" altLang="zh-CN" sz="1600" dirty="0">
                          <a:solidFill>
                            <a:schemeClr val="tx1"/>
                          </a:solidFill>
                        </a:rPr>
                        <a:t>Start</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600" dirty="0">
                          <a:solidFill>
                            <a:schemeClr val="tx1"/>
                          </a:solidFill>
                        </a:rPr>
                        <a:t>FS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dirty="0">
                          <a:solidFill>
                            <a:schemeClr val="tx1"/>
                          </a:solidFill>
                        </a:rPr>
                        <a:t>前置活动结束后，后续活动才能开始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55216321"/>
                  </a:ext>
                </a:extLst>
              </a:tr>
              <a:tr h="126536">
                <a:tc>
                  <a:txBody>
                    <a:bodyPr/>
                    <a:lstStyle/>
                    <a:p>
                      <a:pPr algn="l">
                        <a:buNone/>
                      </a:pPr>
                      <a:r>
                        <a:rPr lang="zh-CN" altLang="en-US" sz="1600" dirty="0">
                          <a:solidFill>
                            <a:schemeClr val="tx1"/>
                          </a:solidFill>
                        </a:rPr>
                        <a:t>开始 </a:t>
                      </a:r>
                      <a:r>
                        <a:rPr lang="en-US" altLang="zh-CN" sz="1600" dirty="0">
                          <a:solidFill>
                            <a:schemeClr val="tx1"/>
                          </a:solidFill>
                        </a:rPr>
                        <a:t>Start </a:t>
                      </a:r>
                      <a:r>
                        <a:rPr lang="zh-CN" altLang="en-US" sz="1600" dirty="0">
                          <a:solidFill>
                            <a:schemeClr val="tx1"/>
                          </a:solidFill>
                        </a:rPr>
                        <a:t>→ 开始 </a:t>
                      </a:r>
                      <a:r>
                        <a:rPr lang="en-US" altLang="zh-CN" sz="1600" dirty="0">
                          <a:solidFill>
                            <a:schemeClr val="tx1"/>
                          </a:solidFill>
                        </a:rPr>
                        <a:t>Start</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600">
                          <a:solidFill>
                            <a:schemeClr val="tx1"/>
                          </a:solidFill>
                        </a:rPr>
                        <a:t>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dirty="0">
                          <a:solidFill>
                            <a:schemeClr val="tx1"/>
                          </a:solidFill>
                        </a:rPr>
                        <a:t>前置活动开始后，后续活动才能开始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19459534"/>
                  </a:ext>
                </a:extLst>
              </a:tr>
              <a:tr h="126536">
                <a:tc>
                  <a:txBody>
                    <a:bodyPr/>
                    <a:lstStyle/>
                    <a:p>
                      <a:pPr algn="l">
                        <a:buNone/>
                      </a:pPr>
                      <a:r>
                        <a:rPr lang="zh-CN" altLang="en-US" sz="1600" dirty="0">
                          <a:solidFill>
                            <a:schemeClr val="tx1"/>
                          </a:solidFill>
                        </a:rPr>
                        <a:t>结束 </a:t>
                      </a:r>
                      <a:r>
                        <a:rPr lang="en-US" altLang="zh-CN" sz="1600" dirty="0">
                          <a:solidFill>
                            <a:schemeClr val="tx1"/>
                          </a:solidFill>
                        </a:rPr>
                        <a:t>Finish</a:t>
                      </a:r>
                      <a:r>
                        <a:rPr lang="zh-CN" altLang="en-US" sz="1600" dirty="0">
                          <a:solidFill>
                            <a:schemeClr val="tx1"/>
                          </a:solidFill>
                        </a:rPr>
                        <a:t> → 结束 </a:t>
                      </a:r>
                      <a:r>
                        <a:rPr lang="en-US" altLang="zh-CN" sz="1600" dirty="0">
                          <a:solidFill>
                            <a:schemeClr val="tx1"/>
                          </a:solidFill>
                        </a:rPr>
                        <a:t>Finish</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600">
                          <a:solidFill>
                            <a:schemeClr val="tx1"/>
                          </a:solidFill>
                        </a:rPr>
                        <a:t>FF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dirty="0">
                          <a:solidFill>
                            <a:schemeClr val="tx1"/>
                          </a:solidFill>
                        </a:rPr>
                        <a:t>前置活动结束后，后续活动才能结束</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9799642"/>
                  </a:ext>
                </a:extLst>
              </a:tr>
              <a:tr h="126536">
                <a:tc>
                  <a:txBody>
                    <a:bodyPr/>
                    <a:lstStyle/>
                    <a:p>
                      <a:pPr algn="l">
                        <a:buNone/>
                      </a:pPr>
                      <a:r>
                        <a:rPr lang="zh-CN" altLang="en-US" sz="1600" dirty="0">
                          <a:solidFill>
                            <a:schemeClr val="tx1"/>
                          </a:solidFill>
                        </a:rPr>
                        <a:t>开始 </a:t>
                      </a:r>
                      <a:r>
                        <a:rPr lang="en-US" altLang="zh-CN" sz="1600" dirty="0">
                          <a:solidFill>
                            <a:schemeClr val="tx1"/>
                          </a:solidFill>
                        </a:rPr>
                        <a:t>Start</a:t>
                      </a:r>
                      <a:r>
                        <a:rPr lang="zh-CN" altLang="en-US" sz="1600" dirty="0">
                          <a:solidFill>
                            <a:schemeClr val="tx1"/>
                          </a:solidFill>
                        </a:rPr>
                        <a:t> → 结束 </a:t>
                      </a:r>
                      <a:r>
                        <a:rPr lang="en-US" altLang="zh-CN" sz="1600" dirty="0">
                          <a:solidFill>
                            <a:schemeClr val="tx1"/>
                          </a:solidFill>
                        </a:rPr>
                        <a:t>Finish</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600" dirty="0">
                          <a:solidFill>
                            <a:schemeClr val="tx1"/>
                          </a:solidFill>
                        </a:rPr>
                        <a:t>SF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dirty="0">
                          <a:solidFill>
                            <a:schemeClr val="tx1"/>
                          </a:solidFill>
                        </a:rPr>
                        <a:t>前置活动开始后，后续活动才能结束</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254867"/>
                  </a:ext>
                </a:extLst>
              </a:tr>
              <a:tr h="126536">
                <a:tc>
                  <a:txBody>
                    <a:bodyPr/>
                    <a:lstStyle/>
                    <a:p>
                      <a:pPr algn="l">
                        <a:buNone/>
                      </a:pPr>
                      <a:r>
                        <a:rPr lang="zh-CN" altLang="en-US" sz="1600" dirty="0">
                          <a:solidFill>
                            <a:schemeClr val="tx1"/>
                          </a:solidFill>
                        </a:rPr>
                        <a:t>时间提前量 </a:t>
                      </a:r>
                      <a:r>
                        <a:rPr lang="en-US" altLang="zh-CN" sz="1600" dirty="0">
                          <a:solidFill>
                            <a:schemeClr val="tx1"/>
                          </a:solidFill>
                        </a:rPr>
                        <a:t>Lead</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dirty="0">
                          <a:solidFill>
                            <a:schemeClr val="tx1"/>
                          </a:solidFill>
                        </a:rPr>
                        <a:t>前置活动还没有完成时，后续活动可以提前开始的时间量</a:t>
                      </a:r>
                      <a:endParaRPr lang="en-US" altLang="zh-CN" sz="16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a:solidFill>
                            <a:schemeClr val="tx1"/>
                          </a:solidFill>
                        </a:rPr>
                        <a:t>FS-2</a:t>
                      </a:r>
                      <a:r>
                        <a:rPr lang="zh-CN" altLang="en-US" sz="1600" dirty="0">
                          <a:solidFill>
                            <a:schemeClr val="tx1"/>
                          </a:solidFill>
                        </a:rPr>
                        <a:t>：后续活动提前</a:t>
                      </a:r>
                      <a:r>
                        <a:rPr lang="en-US" altLang="zh-CN" sz="1600" dirty="0">
                          <a:solidFill>
                            <a:schemeClr val="tx1"/>
                          </a:solidFill>
                        </a:rPr>
                        <a:t>2</a:t>
                      </a:r>
                      <a:r>
                        <a:rPr lang="zh-CN" altLang="en-US" sz="1600" dirty="0">
                          <a:solidFill>
                            <a:schemeClr val="tx1"/>
                          </a:solidFill>
                        </a:rPr>
                        <a:t>天</a:t>
                      </a:r>
                      <a:endParaRPr lang="en-US" altLang="zh-CN"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35092045"/>
                  </a:ext>
                </a:extLst>
              </a:tr>
              <a:tr h="126536">
                <a:tc>
                  <a:txBody>
                    <a:bodyPr/>
                    <a:lstStyle/>
                    <a:p>
                      <a:pPr algn="l">
                        <a:buNone/>
                      </a:pPr>
                      <a:r>
                        <a:rPr lang="zh-CN" altLang="en-US" sz="1600" dirty="0">
                          <a:solidFill>
                            <a:schemeClr val="tx1"/>
                          </a:solidFill>
                        </a:rPr>
                        <a:t>时间滞后量 </a:t>
                      </a:r>
                      <a:r>
                        <a:rPr lang="en-US" altLang="zh-CN" sz="1600" dirty="0">
                          <a:solidFill>
                            <a:schemeClr val="tx1"/>
                          </a:solidFill>
                        </a:rPr>
                        <a:t>Lag</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solidFill>
                            <a:schemeClr val="tx1"/>
                          </a:solidFill>
                        </a:rPr>
                        <a:t>前置活动完成时，后续活动需要推迟开始的时间量</a:t>
                      </a:r>
                      <a:endParaRPr lang="en-US" altLang="zh-CN" sz="16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a:solidFill>
                            <a:schemeClr val="tx1"/>
                          </a:solidFill>
                        </a:rPr>
                        <a:t>FS+3</a:t>
                      </a:r>
                      <a:r>
                        <a:rPr lang="zh-CN" altLang="en-US" sz="1600" dirty="0">
                          <a:solidFill>
                            <a:schemeClr val="tx1"/>
                          </a:solidFill>
                        </a:rPr>
                        <a:t>：后续活动退出</a:t>
                      </a:r>
                      <a:r>
                        <a:rPr lang="en-US" altLang="zh-CN" sz="1600" dirty="0">
                          <a:solidFill>
                            <a:schemeClr val="tx1"/>
                          </a:solidFill>
                        </a:rPr>
                        <a:t>3</a:t>
                      </a:r>
                      <a:r>
                        <a:rPr lang="zh-CN" altLang="en-US" sz="1600" dirty="0">
                          <a:solidFill>
                            <a:schemeClr val="tx1"/>
                          </a:solidFill>
                        </a:rPr>
                        <a:t>天</a:t>
                      </a:r>
                      <a:endParaRPr lang="en-US" altLang="zh-CN"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16605531"/>
                  </a:ext>
                </a:extLst>
              </a:tr>
            </a:tbl>
          </a:graphicData>
        </a:graphic>
      </p:graphicFrame>
    </p:spTree>
    <p:extLst>
      <p:ext uri="{BB962C8B-B14F-4D97-AF65-F5344CB8AC3E}">
        <p14:creationId xmlns:p14="http://schemas.microsoft.com/office/powerpoint/2010/main" val="4155860706"/>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EE7DCB57-E7DD-24AF-35DB-77A02E9ED5AF}"/>
              </a:ext>
            </a:extLst>
          </p:cNvPr>
          <p:cNvSpPr/>
          <p:nvPr/>
        </p:nvSpPr>
        <p:spPr>
          <a:xfrm>
            <a:off x="4775335" y="2869268"/>
            <a:ext cx="576000" cy="216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chemeClr val="tx1"/>
                </a:solidFill>
                <a:latin typeface="Times New Roman" panose="02020603050405020304" pitchFamily="18" charset="0"/>
                <a:ea typeface="宋体" panose="02010600030101010101" pitchFamily="2" charset="-122"/>
              </a:rPr>
              <a:t>活动</a:t>
            </a:r>
            <a:r>
              <a:rPr lang="en-US" altLang="zh-CN" sz="800" dirty="0">
                <a:solidFill>
                  <a:schemeClr val="tx1"/>
                </a:solidFill>
                <a:latin typeface="Times New Roman" panose="02020603050405020304" pitchFamily="18" charset="0"/>
                <a:ea typeface="宋体" panose="02010600030101010101" pitchFamily="2" charset="-122"/>
              </a:rPr>
              <a:t>A</a:t>
            </a:r>
            <a:endParaRPr lang="zh-CN" altLang="en-US" sz="800" dirty="0">
              <a:solidFill>
                <a:schemeClr val="tx1"/>
              </a:solidFill>
              <a:latin typeface="Times New Roman" panose="02020603050405020304" pitchFamily="18" charset="0"/>
              <a:ea typeface="宋体" panose="02010600030101010101" pitchFamily="2" charset="-122"/>
            </a:endParaRPr>
          </a:p>
        </p:txBody>
      </p:sp>
      <p:sp>
        <p:nvSpPr>
          <p:cNvPr id="12" name="矩形 11">
            <a:extLst>
              <a:ext uri="{FF2B5EF4-FFF2-40B4-BE49-F238E27FC236}">
                <a16:creationId xmlns:a16="http://schemas.microsoft.com/office/drawing/2014/main" id="{3251D6FD-8087-CEB6-528D-9FD8FF07A876}"/>
              </a:ext>
            </a:extLst>
          </p:cNvPr>
          <p:cNvSpPr/>
          <p:nvPr/>
        </p:nvSpPr>
        <p:spPr>
          <a:xfrm>
            <a:off x="6174147" y="2869268"/>
            <a:ext cx="576000" cy="216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chemeClr val="tx1"/>
                </a:solidFill>
                <a:latin typeface="Times New Roman" panose="02020603050405020304" pitchFamily="18" charset="0"/>
                <a:ea typeface="宋体" panose="02010600030101010101" pitchFamily="2" charset="-122"/>
              </a:rPr>
              <a:t>活动</a:t>
            </a:r>
            <a:r>
              <a:rPr lang="en-US" altLang="zh-CN" sz="800" dirty="0">
                <a:solidFill>
                  <a:schemeClr val="tx1"/>
                </a:solidFill>
                <a:latin typeface="Times New Roman" panose="02020603050405020304" pitchFamily="18" charset="0"/>
                <a:ea typeface="宋体" panose="02010600030101010101" pitchFamily="2" charset="-122"/>
              </a:rPr>
              <a:t>B</a:t>
            </a:r>
            <a:endParaRPr lang="zh-CN" altLang="en-US" sz="800" dirty="0">
              <a:solidFill>
                <a:schemeClr val="tx1"/>
              </a:solidFill>
              <a:latin typeface="Times New Roman" panose="02020603050405020304" pitchFamily="18" charset="0"/>
              <a:ea typeface="宋体" panose="02010600030101010101" pitchFamily="2" charset="-122"/>
            </a:endParaRPr>
          </a:p>
        </p:txBody>
      </p:sp>
      <p:sp>
        <p:nvSpPr>
          <p:cNvPr id="16" name="矩形 15">
            <a:extLst>
              <a:ext uri="{FF2B5EF4-FFF2-40B4-BE49-F238E27FC236}">
                <a16:creationId xmlns:a16="http://schemas.microsoft.com/office/drawing/2014/main" id="{862FA9BD-0708-2737-AC6A-D044A21AEC42}"/>
              </a:ext>
            </a:extLst>
          </p:cNvPr>
          <p:cNvSpPr/>
          <p:nvPr/>
        </p:nvSpPr>
        <p:spPr>
          <a:xfrm>
            <a:off x="6873554" y="3331733"/>
            <a:ext cx="576000" cy="216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chemeClr val="tx1"/>
                </a:solidFill>
                <a:latin typeface="Times New Roman" panose="02020603050405020304" pitchFamily="18" charset="0"/>
                <a:ea typeface="宋体" panose="02010600030101010101" pitchFamily="2" charset="-122"/>
              </a:rPr>
              <a:t>结束</a:t>
            </a:r>
          </a:p>
        </p:txBody>
      </p:sp>
      <p:sp>
        <p:nvSpPr>
          <p:cNvPr id="17" name="矩形 16">
            <a:extLst>
              <a:ext uri="{FF2B5EF4-FFF2-40B4-BE49-F238E27FC236}">
                <a16:creationId xmlns:a16="http://schemas.microsoft.com/office/drawing/2014/main" id="{665F6759-920B-F5E3-FC2A-13DA62AF19A4}"/>
              </a:ext>
            </a:extLst>
          </p:cNvPr>
          <p:cNvSpPr/>
          <p:nvPr/>
        </p:nvSpPr>
        <p:spPr>
          <a:xfrm>
            <a:off x="4075929" y="3331733"/>
            <a:ext cx="576000" cy="216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chemeClr val="tx1"/>
                </a:solidFill>
                <a:latin typeface="Times New Roman" panose="02020603050405020304" pitchFamily="18" charset="0"/>
                <a:ea typeface="宋体" panose="02010600030101010101" pitchFamily="2" charset="-122"/>
              </a:rPr>
              <a:t>开始</a:t>
            </a:r>
          </a:p>
        </p:txBody>
      </p:sp>
      <p:cxnSp>
        <p:nvCxnSpPr>
          <p:cNvPr id="19" name="连接符: 肘形 18">
            <a:extLst>
              <a:ext uri="{FF2B5EF4-FFF2-40B4-BE49-F238E27FC236}">
                <a16:creationId xmlns:a16="http://schemas.microsoft.com/office/drawing/2014/main" id="{F2EFA4C0-695E-8BA2-1E9C-E97F75FC1643}"/>
              </a:ext>
            </a:extLst>
          </p:cNvPr>
          <p:cNvCxnSpPr>
            <a:cxnSpLocks/>
            <a:stCxn id="17" idx="0"/>
            <a:endCxn id="11" idx="1"/>
          </p:cNvCxnSpPr>
          <p:nvPr/>
        </p:nvCxnSpPr>
        <p:spPr>
          <a:xfrm rot="5400000" flipH="1" flipV="1">
            <a:off x="4392400" y="2948798"/>
            <a:ext cx="354465" cy="411406"/>
          </a:xfrm>
          <a:prstGeom prst="bentConnector2">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连接符: 肘形 24">
            <a:extLst>
              <a:ext uri="{FF2B5EF4-FFF2-40B4-BE49-F238E27FC236}">
                <a16:creationId xmlns:a16="http://schemas.microsoft.com/office/drawing/2014/main" id="{1D70C322-3B5B-CCE0-4322-297AFB15EBA8}"/>
              </a:ext>
            </a:extLst>
          </p:cNvPr>
          <p:cNvCxnSpPr>
            <a:cxnSpLocks/>
            <a:stCxn id="12" idx="3"/>
            <a:endCxn id="16" idx="0"/>
          </p:cNvCxnSpPr>
          <p:nvPr/>
        </p:nvCxnSpPr>
        <p:spPr>
          <a:xfrm>
            <a:off x="6750147" y="2977268"/>
            <a:ext cx="411407" cy="354465"/>
          </a:xfrm>
          <a:prstGeom prst="bentConnector2">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矩形 32">
            <a:extLst>
              <a:ext uri="{FF2B5EF4-FFF2-40B4-BE49-F238E27FC236}">
                <a16:creationId xmlns:a16="http://schemas.microsoft.com/office/drawing/2014/main" id="{2A48A4F9-8A25-B0AC-2F96-FD9546FB8CB6}"/>
              </a:ext>
            </a:extLst>
          </p:cNvPr>
          <p:cNvSpPr/>
          <p:nvPr/>
        </p:nvSpPr>
        <p:spPr>
          <a:xfrm>
            <a:off x="5474741" y="3794198"/>
            <a:ext cx="576000" cy="216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chemeClr val="tx1"/>
                </a:solidFill>
                <a:latin typeface="Times New Roman" panose="02020603050405020304" pitchFamily="18" charset="0"/>
                <a:ea typeface="宋体" panose="02010600030101010101" pitchFamily="2" charset="-122"/>
              </a:rPr>
              <a:t>活动</a:t>
            </a:r>
            <a:r>
              <a:rPr lang="en-US" altLang="zh-CN" sz="800" dirty="0">
                <a:solidFill>
                  <a:schemeClr val="tx1"/>
                </a:solidFill>
                <a:latin typeface="Times New Roman" panose="02020603050405020304" pitchFamily="18" charset="0"/>
                <a:ea typeface="宋体" panose="02010600030101010101" pitchFamily="2" charset="-122"/>
              </a:rPr>
              <a:t>C</a:t>
            </a:r>
            <a:endParaRPr lang="zh-CN" altLang="en-US" sz="800" dirty="0">
              <a:solidFill>
                <a:schemeClr val="tx1"/>
              </a:solidFill>
              <a:latin typeface="Times New Roman" panose="02020603050405020304" pitchFamily="18" charset="0"/>
              <a:ea typeface="宋体" panose="02010600030101010101" pitchFamily="2" charset="-122"/>
            </a:endParaRPr>
          </a:p>
        </p:txBody>
      </p:sp>
      <p:cxnSp>
        <p:nvCxnSpPr>
          <p:cNvPr id="34" name="连接符: 肘形 33">
            <a:extLst>
              <a:ext uri="{FF2B5EF4-FFF2-40B4-BE49-F238E27FC236}">
                <a16:creationId xmlns:a16="http://schemas.microsoft.com/office/drawing/2014/main" id="{5456B44B-663D-18E3-155E-9A9C8BEF5400}"/>
              </a:ext>
            </a:extLst>
          </p:cNvPr>
          <p:cNvCxnSpPr>
            <a:cxnSpLocks/>
            <a:stCxn id="17" idx="2"/>
            <a:endCxn id="33" idx="1"/>
          </p:cNvCxnSpPr>
          <p:nvPr/>
        </p:nvCxnSpPr>
        <p:spPr>
          <a:xfrm rot="16200000" flipH="1">
            <a:off x="4742103" y="3169559"/>
            <a:ext cx="354465" cy="1110812"/>
          </a:xfrm>
          <a:prstGeom prst="bentConnector2">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连接符: 肘形 34">
            <a:extLst>
              <a:ext uri="{FF2B5EF4-FFF2-40B4-BE49-F238E27FC236}">
                <a16:creationId xmlns:a16="http://schemas.microsoft.com/office/drawing/2014/main" id="{83DA6A51-E2CA-1678-8E0D-85E528DEDC71}"/>
              </a:ext>
            </a:extLst>
          </p:cNvPr>
          <p:cNvCxnSpPr>
            <a:cxnSpLocks/>
            <a:stCxn id="33" idx="3"/>
            <a:endCxn id="16" idx="2"/>
          </p:cNvCxnSpPr>
          <p:nvPr/>
        </p:nvCxnSpPr>
        <p:spPr>
          <a:xfrm flipV="1">
            <a:off x="6050741" y="3547733"/>
            <a:ext cx="1110813" cy="354465"/>
          </a:xfrm>
          <a:prstGeom prst="bentConnector2">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6A320FC3-9A99-0115-C6EF-5944C16223D4}"/>
              </a:ext>
            </a:extLst>
          </p:cNvPr>
          <p:cNvCxnSpPr>
            <a:stCxn id="11" idx="3"/>
            <a:endCxn id="12" idx="1"/>
          </p:cNvCxnSpPr>
          <p:nvPr/>
        </p:nvCxnSpPr>
        <p:spPr>
          <a:xfrm>
            <a:off x="5351335" y="2977268"/>
            <a:ext cx="822812" cy="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64414D85-8377-A6AE-EADD-C69681C10908}"/>
              </a:ext>
            </a:extLst>
          </p:cNvPr>
          <p:cNvSpPr txBox="1"/>
          <p:nvPr/>
        </p:nvSpPr>
        <p:spPr>
          <a:xfrm>
            <a:off x="5355978" y="914358"/>
            <a:ext cx="599844" cy="338554"/>
          </a:xfrm>
          <a:prstGeom prst="rect">
            <a:avLst/>
          </a:prstGeom>
          <a:noFill/>
          <a:ln>
            <a:solidFill>
              <a:schemeClr val="tx1"/>
            </a:solidFill>
          </a:ln>
        </p:spPr>
        <p:txBody>
          <a:bodyPr wrap="none" rtlCol="0">
            <a:spAutoFit/>
          </a:bodyPr>
          <a:lstStyle/>
          <a:p>
            <a:pPr algn="l"/>
            <a:r>
              <a:rPr lang="zh-CN" altLang="en-US" sz="1600" dirty="0"/>
              <a:t>节点</a:t>
            </a:r>
          </a:p>
        </p:txBody>
      </p:sp>
      <p:cxnSp>
        <p:nvCxnSpPr>
          <p:cNvPr id="4" name="直接箭头连接符 3">
            <a:extLst>
              <a:ext uri="{FF2B5EF4-FFF2-40B4-BE49-F238E27FC236}">
                <a16:creationId xmlns:a16="http://schemas.microsoft.com/office/drawing/2014/main" id="{DCFB4996-E27B-23A0-4908-8DF65C031715}"/>
              </a:ext>
            </a:extLst>
          </p:cNvPr>
          <p:cNvCxnSpPr>
            <a:cxnSpLocks/>
            <a:stCxn id="2" idx="2"/>
          </p:cNvCxnSpPr>
          <p:nvPr/>
        </p:nvCxnSpPr>
        <p:spPr>
          <a:xfrm flipH="1">
            <a:off x="5355978" y="1252912"/>
            <a:ext cx="299922" cy="898105"/>
          </a:xfrm>
          <a:prstGeom prst="straightConnector1">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3D27C77D-82B6-FB2E-60BA-955E5F03ED40}"/>
              </a:ext>
            </a:extLst>
          </p:cNvPr>
          <p:cNvSpPr txBox="1"/>
          <p:nvPr/>
        </p:nvSpPr>
        <p:spPr>
          <a:xfrm>
            <a:off x="6138978" y="914357"/>
            <a:ext cx="595035" cy="338554"/>
          </a:xfrm>
          <a:prstGeom prst="rect">
            <a:avLst/>
          </a:prstGeom>
          <a:noFill/>
          <a:ln>
            <a:solidFill>
              <a:schemeClr val="tx1"/>
            </a:solidFill>
          </a:ln>
        </p:spPr>
        <p:txBody>
          <a:bodyPr wrap="none" rtlCol="0">
            <a:spAutoFit/>
          </a:bodyPr>
          <a:lstStyle/>
          <a:p>
            <a:pPr algn="l"/>
            <a:r>
              <a:rPr lang="zh-CN" altLang="en-US" sz="1600" dirty="0"/>
              <a:t>关系</a:t>
            </a:r>
          </a:p>
        </p:txBody>
      </p:sp>
      <p:cxnSp>
        <p:nvCxnSpPr>
          <p:cNvPr id="6" name="直接箭头连接符 5">
            <a:extLst>
              <a:ext uri="{FF2B5EF4-FFF2-40B4-BE49-F238E27FC236}">
                <a16:creationId xmlns:a16="http://schemas.microsoft.com/office/drawing/2014/main" id="{3111BB3F-32E0-AF2B-56CF-661E59AC4CBC}"/>
              </a:ext>
            </a:extLst>
          </p:cNvPr>
          <p:cNvCxnSpPr>
            <a:stCxn id="5" idx="2"/>
          </p:cNvCxnSpPr>
          <p:nvPr/>
        </p:nvCxnSpPr>
        <p:spPr>
          <a:xfrm flipH="1">
            <a:off x="6078900" y="1252911"/>
            <a:ext cx="357596" cy="998044"/>
          </a:xfrm>
          <a:prstGeom prst="straightConnector1">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695FBE88-7FA3-80D4-2A94-365029663240}"/>
              </a:ext>
            </a:extLst>
          </p:cNvPr>
          <p:cNvSpPr txBox="1"/>
          <p:nvPr/>
        </p:nvSpPr>
        <p:spPr>
          <a:xfrm>
            <a:off x="6936057" y="914357"/>
            <a:ext cx="2198038" cy="584775"/>
          </a:xfrm>
          <a:prstGeom prst="rect">
            <a:avLst/>
          </a:prstGeom>
          <a:noFill/>
          <a:ln>
            <a:noFill/>
          </a:ln>
        </p:spPr>
        <p:txBody>
          <a:bodyPr wrap="none" rtlCol="0">
            <a:spAutoFit/>
          </a:bodyPr>
          <a:lstStyle/>
          <a:p>
            <a:pPr algn="l"/>
            <a:r>
              <a:rPr lang="en-US" altLang="zh-CN" sz="1600" dirty="0"/>
              <a:t>A</a:t>
            </a:r>
            <a:r>
              <a:rPr lang="zh-CN" altLang="en-US" sz="1600" dirty="0"/>
              <a:t>是</a:t>
            </a:r>
            <a:r>
              <a:rPr lang="en-US" altLang="zh-CN" sz="1600" dirty="0"/>
              <a:t>B</a:t>
            </a:r>
            <a:r>
              <a:rPr lang="zh-CN" altLang="en-US" sz="1600" dirty="0"/>
              <a:t>的紧前</a:t>
            </a:r>
            <a:r>
              <a:rPr lang="en-US" altLang="zh-CN" sz="1600" dirty="0"/>
              <a:t>/</a:t>
            </a:r>
            <a:r>
              <a:rPr lang="zh-CN" altLang="en-US" sz="1600" dirty="0"/>
              <a:t>前置任务</a:t>
            </a:r>
            <a:endParaRPr lang="en-US" altLang="zh-CN" sz="1600" dirty="0"/>
          </a:p>
          <a:p>
            <a:pPr algn="l"/>
            <a:r>
              <a:rPr lang="en-US" altLang="zh-CN" sz="1600" dirty="0"/>
              <a:t>B</a:t>
            </a:r>
            <a:r>
              <a:rPr lang="zh-CN" altLang="en-US" sz="1600" dirty="0"/>
              <a:t>是</a:t>
            </a:r>
            <a:r>
              <a:rPr lang="en-US" altLang="zh-CN" sz="1600" dirty="0"/>
              <a:t>A</a:t>
            </a:r>
            <a:r>
              <a:rPr lang="zh-CN" altLang="en-US" sz="1600" dirty="0"/>
              <a:t>的紧后</a:t>
            </a:r>
            <a:r>
              <a:rPr lang="en-US" altLang="zh-CN" sz="1600" dirty="0"/>
              <a:t>/</a:t>
            </a:r>
            <a:r>
              <a:rPr lang="zh-CN" altLang="en-US" sz="1600" dirty="0"/>
              <a:t>后续任务</a:t>
            </a:r>
            <a:endParaRPr lang="en-US" altLang="zh-CN" sz="1600" dirty="0"/>
          </a:p>
        </p:txBody>
      </p:sp>
    </p:spTree>
    <p:extLst>
      <p:ext uri="{BB962C8B-B14F-4D97-AF65-F5344CB8AC3E}">
        <p14:creationId xmlns:p14="http://schemas.microsoft.com/office/powerpoint/2010/main" val="886179737"/>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BDC96-64C7-0414-CBA1-3E68112EA579}"/>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DDE9000F-42D4-0192-A490-83B53B1DEE02}"/>
              </a:ext>
            </a:extLst>
          </p:cNvPr>
          <p:cNvSpPr/>
          <p:nvPr/>
        </p:nvSpPr>
        <p:spPr>
          <a:xfrm>
            <a:off x="4622684" y="2422255"/>
            <a:ext cx="288000" cy="720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800" dirty="0">
                <a:solidFill>
                  <a:schemeClr val="tx1"/>
                </a:solidFill>
              </a:rPr>
              <a:t>项目规划</a:t>
            </a:r>
          </a:p>
        </p:txBody>
      </p:sp>
      <p:sp>
        <p:nvSpPr>
          <p:cNvPr id="12" name="矩形 11">
            <a:extLst>
              <a:ext uri="{FF2B5EF4-FFF2-40B4-BE49-F238E27FC236}">
                <a16:creationId xmlns:a16="http://schemas.microsoft.com/office/drawing/2014/main" id="{952CE663-A535-91E3-808D-1AA4F142461F}"/>
              </a:ext>
            </a:extLst>
          </p:cNvPr>
          <p:cNvSpPr/>
          <p:nvPr/>
        </p:nvSpPr>
        <p:spPr>
          <a:xfrm>
            <a:off x="6882388" y="3045893"/>
            <a:ext cx="288000" cy="720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800" dirty="0">
                <a:solidFill>
                  <a:schemeClr val="tx1"/>
                </a:solidFill>
              </a:rPr>
              <a:t>编码</a:t>
            </a:r>
          </a:p>
        </p:txBody>
      </p:sp>
      <p:sp>
        <p:nvSpPr>
          <p:cNvPr id="16" name="矩形 15">
            <a:extLst>
              <a:ext uri="{FF2B5EF4-FFF2-40B4-BE49-F238E27FC236}">
                <a16:creationId xmlns:a16="http://schemas.microsoft.com/office/drawing/2014/main" id="{BFDAF8B0-A1C8-381B-E6CA-8F55B2313195}"/>
              </a:ext>
            </a:extLst>
          </p:cNvPr>
          <p:cNvSpPr/>
          <p:nvPr/>
        </p:nvSpPr>
        <p:spPr>
          <a:xfrm>
            <a:off x="8560803" y="3261893"/>
            <a:ext cx="576000" cy="288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chemeClr val="tx1"/>
                </a:solidFill>
              </a:rPr>
              <a:t>结束</a:t>
            </a:r>
          </a:p>
        </p:txBody>
      </p:sp>
      <p:sp>
        <p:nvSpPr>
          <p:cNvPr id="17" name="矩形 16">
            <a:extLst>
              <a:ext uri="{FF2B5EF4-FFF2-40B4-BE49-F238E27FC236}">
                <a16:creationId xmlns:a16="http://schemas.microsoft.com/office/drawing/2014/main" id="{FA26C1B9-7FB1-FF08-10E5-4C5275AA3DE1}"/>
              </a:ext>
            </a:extLst>
          </p:cNvPr>
          <p:cNvSpPr/>
          <p:nvPr/>
        </p:nvSpPr>
        <p:spPr>
          <a:xfrm>
            <a:off x="3559577" y="3261893"/>
            <a:ext cx="576000" cy="288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chemeClr val="tx1"/>
                </a:solidFill>
              </a:rPr>
              <a:t>开始</a:t>
            </a:r>
          </a:p>
        </p:txBody>
      </p:sp>
      <p:cxnSp>
        <p:nvCxnSpPr>
          <p:cNvPr id="19" name="连接符: 肘形 18">
            <a:extLst>
              <a:ext uri="{FF2B5EF4-FFF2-40B4-BE49-F238E27FC236}">
                <a16:creationId xmlns:a16="http://schemas.microsoft.com/office/drawing/2014/main" id="{2646492E-D32D-4CA0-967E-8E1227FCF2E0}"/>
              </a:ext>
            </a:extLst>
          </p:cNvPr>
          <p:cNvCxnSpPr>
            <a:cxnSpLocks/>
            <a:stCxn id="17" idx="0"/>
            <a:endCxn id="11" idx="1"/>
          </p:cNvCxnSpPr>
          <p:nvPr/>
        </p:nvCxnSpPr>
        <p:spPr>
          <a:xfrm rot="5400000" flipH="1" flipV="1">
            <a:off x="3995311" y="2634521"/>
            <a:ext cx="479638" cy="775107"/>
          </a:xfrm>
          <a:prstGeom prst="bentConnector2">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连接符: 肘形 24">
            <a:extLst>
              <a:ext uri="{FF2B5EF4-FFF2-40B4-BE49-F238E27FC236}">
                <a16:creationId xmlns:a16="http://schemas.microsoft.com/office/drawing/2014/main" id="{8DE0F633-CEDC-D2B6-D422-CF03C2C5574E}"/>
              </a:ext>
            </a:extLst>
          </p:cNvPr>
          <p:cNvCxnSpPr>
            <a:cxnSpLocks/>
            <a:endCxn id="10" idx="1"/>
          </p:cNvCxnSpPr>
          <p:nvPr/>
        </p:nvCxnSpPr>
        <p:spPr>
          <a:xfrm flipV="1">
            <a:off x="5655999" y="2782255"/>
            <a:ext cx="457316" cy="406215"/>
          </a:xfrm>
          <a:prstGeom prst="bentConnector3">
            <a:avLst>
              <a:gd name="adj1" fmla="val 50000"/>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矩形 32">
            <a:extLst>
              <a:ext uri="{FF2B5EF4-FFF2-40B4-BE49-F238E27FC236}">
                <a16:creationId xmlns:a16="http://schemas.microsoft.com/office/drawing/2014/main" id="{599E0F4B-2A5F-D1CF-5DC8-DB2DA1AF508C}"/>
              </a:ext>
            </a:extLst>
          </p:cNvPr>
          <p:cNvSpPr/>
          <p:nvPr/>
        </p:nvSpPr>
        <p:spPr>
          <a:xfrm>
            <a:off x="4163827" y="3669530"/>
            <a:ext cx="288000" cy="720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800" dirty="0">
                <a:solidFill>
                  <a:schemeClr val="tx1"/>
                </a:solidFill>
              </a:rPr>
              <a:t>需求分析</a:t>
            </a:r>
          </a:p>
        </p:txBody>
      </p:sp>
      <p:cxnSp>
        <p:nvCxnSpPr>
          <p:cNvPr id="34" name="连接符: 肘形 33">
            <a:extLst>
              <a:ext uri="{FF2B5EF4-FFF2-40B4-BE49-F238E27FC236}">
                <a16:creationId xmlns:a16="http://schemas.microsoft.com/office/drawing/2014/main" id="{4BA34040-7F80-42F7-10AC-F54027FC5DA5}"/>
              </a:ext>
            </a:extLst>
          </p:cNvPr>
          <p:cNvCxnSpPr>
            <a:cxnSpLocks/>
            <a:stCxn id="17" idx="2"/>
            <a:endCxn id="33" idx="1"/>
          </p:cNvCxnSpPr>
          <p:nvPr/>
        </p:nvCxnSpPr>
        <p:spPr>
          <a:xfrm rot="16200000" flipH="1">
            <a:off x="3765884" y="3631586"/>
            <a:ext cx="479637" cy="316250"/>
          </a:xfrm>
          <a:prstGeom prst="bentConnector2">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连接符: 肘形 34">
            <a:extLst>
              <a:ext uri="{FF2B5EF4-FFF2-40B4-BE49-F238E27FC236}">
                <a16:creationId xmlns:a16="http://schemas.microsoft.com/office/drawing/2014/main" id="{5A6544C6-6AC7-49CA-D511-7794D287299F}"/>
              </a:ext>
            </a:extLst>
          </p:cNvPr>
          <p:cNvCxnSpPr>
            <a:cxnSpLocks/>
            <a:stCxn id="2" idx="3"/>
          </p:cNvCxnSpPr>
          <p:nvPr/>
        </p:nvCxnSpPr>
        <p:spPr>
          <a:xfrm flipV="1">
            <a:off x="4910684" y="3609833"/>
            <a:ext cx="457315" cy="419697"/>
          </a:xfrm>
          <a:prstGeom prst="bentConnector3">
            <a:avLst>
              <a:gd name="adj1" fmla="val 50000"/>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7EE7495F-64AE-DED0-8D6C-B87763E8DD79}"/>
              </a:ext>
            </a:extLst>
          </p:cNvPr>
          <p:cNvSpPr/>
          <p:nvPr/>
        </p:nvSpPr>
        <p:spPr>
          <a:xfrm>
            <a:off x="4622684" y="3669530"/>
            <a:ext cx="288000" cy="720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800" dirty="0">
                <a:solidFill>
                  <a:schemeClr val="tx1"/>
                </a:solidFill>
              </a:rPr>
              <a:t>需求确认</a:t>
            </a:r>
          </a:p>
        </p:txBody>
      </p:sp>
      <p:cxnSp>
        <p:nvCxnSpPr>
          <p:cNvPr id="5" name="直接箭头连接符 4">
            <a:extLst>
              <a:ext uri="{FF2B5EF4-FFF2-40B4-BE49-F238E27FC236}">
                <a16:creationId xmlns:a16="http://schemas.microsoft.com/office/drawing/2014/main" id="{C3AD5D31-066A-E6AF-312B-8D24333B63AE}"/>
              </a:ext>
            </a:extLst>
          </p:cNvPr>
          <p:cNvCxnSpPr>
            <a:stCxn id="33" idx="3"/>
            <a:endCxn id="2" idx="1"/>
          </p:cNvCxnSpPr>
          <p:nvPr/>
        </p:nvCxnSpPr>
        <p:spPr>
          <a:xfrm>
            <a:off x="4451827" y="4029530"/>
            <a:ext cx="170857" cy="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矩形 5">
            <a:extLst>
              <a:ext uri="{FF2B5EF4-FFF2-40B4-BE49-F238E27FC236}">
                <a16:creationId xmlns:a16="http://schemas.microsoft.com/office/drawing/2014/main" id="{FBE322E4-726E-7A39-3812-DEACBF30107C}"/>
              </a:ext>
            </a:extLst>
          </p:cNvPr>
          <p:cNvSpPr/>
          <p:nvPr/>
        </p:nvSpPr>
        <p:spPr>
          <a:xfrm>
            <a:off x="5367999" y="3045892"/>
            <a:ext cx="288000" cy="720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800" dirty="0">
                <a:solidFill>
                  <a:schemeClr val="tx1"/>
                </a:solidFill>
              </a:rPr>
              <a:t>项目计划评审</a:t>
            </a:r>
          </a:p>
        </p:txBody>
      </p:sp>
      <p:cxnSp>
        <p:nvCxnSpPr>
          <p:cNvPr id="8" name="连接符: 肘形 7">
            <a:extLst>
              <a:ext uri="{FF2B5EF4-FFF2-40B4-BE49-F238E27FC236}">
                <a16:creationId xmlns:a16="http://schemas.microsoft.com/office/drawing/2014/main" id="{05AAB5E7-9F79-8095-4047-E722E1E7DA78}"/>
              </a:ext>
            </a:extLst>
          </p:cNvPr>
          <p:cNvCxnSpPr>
            <a:cxnSpLocks/>
            <a:stCxn id="11" idx="3"/>
          </p:cNvCxnSpPr>
          <p:nvPr/>
        </p:nvCxnSpPr>
        <p:spPr>
          <a:xfrm>
            <a:off x="4910684" y="2782255"/>
            <a:ext cx="457315" cy="406215"/>
          </a:xfrm>
          <a:prstGeom prst="bentConnector3">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4AC5C883-CD84-49E5-ECD4-4398D475E309}"/>
              </a:ext>
            </a:extLst>
          </p:cNvPr>
          <p:cNvSpPr/>
          <p:nvPr/>
        </p:nvSpPr>
        <p:spPr>
          <a:xfrm>
            <a:off x="6113315" y="2422255"/>
            <a:ext cx="288000" cy="720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800" dirty="0">
                <a:solidFill>
                  <a:schemeClr val="tx1"/>
                </a:solidFill>
              </a:rPr>
              <a:t>概要设计</a:t>
            </a:r>
          </a:p>
        </p:txBody>
      </p:sp>
      <p:sp>
        <p:nvSpPr>
          <p:cNvPr id="13" name="矩形 12">
            <a:extLst>
              <a:ext uri="{FF2B5EF4-FFF2-40B4-BE49-F238E27FC236}">
                <a16:creationId xmlns:a16="http://schemas.microsoft.com/office/drawing/2014/main" id="{396448FE-7D92-6603-F5F7-7E309D05477B}"/>
              </a:ext>
            </a:extLst>
          </p:cNvPr>
          <p:cNvSpPr/>
          <p:nvPr/>
        </p:nvSpPr>
        <p:spPr>
          <a:xfrm>
            <a:off x="6113315" y="3669530"/>
            <a:ext cx="288000" cy="720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800" dirty="0">
                <a:solidFill>
                  <a:schemeClr val="tx1"/>
                </a:solidFill>
              </a:rPr>
              <a:t>详细设计</a:t>
            </a:r>
          </a:p>
        </p:txBody>
      </p:sp>
      <p:cxnSp>
        <p:nvCxnSpPr>
          <p:cNvPr id="21" name="连接符: 肘形 20">
            <a:extLst>
              <a:ext uri="{FF2B5EF4-FFF2-40B4-BE49-F238E27FC236}">
                <a16:creationId xmlns:a16="http://schemas.microsoft.com/office/drawing/2014/main" id="{C767406D-6C29-D484-569A-F0BE4B677516}"/>
              </a:ext>
            </a:extLst>
          </p:cNvPr>
          <p:cNvCxnSpPr>
            <a:cxnSpLocks/>
            <a:endCxn id="13" idx="1"/>
          </p:cNvCxnSpPr>
          <p:nvPr/>
        </p:nvCxnSpPr>
        <p:spPr>
          <a:xfrm>
            <a:off x="5655999" y="3609833"/>
            <a:ext cx="457316" cy="419697"/>
          </a:xfrm>
          <a:prstGeom prst="bentConnector3">
            <a:avLst>
              <a:gd name="adj1" fmla="val 50000"/>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连接符: 肘形 23">
            <a:extLst>
              <a:ext uri="{FF2B5EF4-FFF2-40B4-BE49-F238E27FC236}">
                <a16:creationId xmlns:a16="http://schemas.microsoft.com/office/drawing/2014/main" id="{6CEE9EDE-27A4-1980-BCD0-5738AC73CE6B}"/>
              </a:ext>
            </a:extLst>
          </p:cNvPr>
          <p:cNvCxnSpPr>
            <a:cxnSpLocks/>
            <a:endCxn id="10" idx="3"/>
          </p:cNvCxnSpPr>
          <p:nvPr/>
        </p:nvCxnSpPr>
        <p:spPr>
          <a:xfrm rot="10800000">
            <a:off x="6401316" y="2782255"/>
            <a:ext cx="481073" cy="479638"/>
          </a:xfrm>
          <a:prstGeom prst="bentConnector3">
            <a:avLst>
              <a:gd name="adj1" fmla="val 50000"/>
            </a:avLst>
          </a:prstGeom>
          <a:ln w="63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8" name="连接符: 肘形 27">
            <a:extLst>
              <a:ext uri="{FF2B5EF4-FFF2-40B4-BE49-F238E27FC236}">
                <a16:creationId xmlns:a16="http://schemas.microsoft.com/office/drawing/2014/main" id="{D5DAA3AB-16A0-BD83-E259-39F9DD949EB3}"/>
              </a:ext>
            </a:extLst>
          </p:cNvPr>
          <p:cNvCxnSpPr>
            <a:cxnSpLocks/>
            <a:stCxn id="13" idx="3"/>
          </p:cNvCxnSpPr>
          <p:nvPr/>
        </p:nvCxnSpPr>
        <p:spPr>
          <a:xfrm flipV="1">
            <a:off x="6401315" y="3549892"/>
            <a:ext cx="481073" cy="479638"/>
          </a:xfrm>
          <a:prstGeom prst="bentConnector3">
            <a:avLst>
              <a:gd name="adj1" fmla="val 50000"/>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矩形 31">
            <a:extLst>
              <a:ext uri="{FF2B5EF4-FFF2-40B4-BE49-F238E27FC236}">
                <a16:creationId xmlns:a16="http://schemas.microsoft.com/office/drawing/2014/main" id="{1C509580-AB4A-1AA9-F3E4-7238073A66E1}"/>
              </a:ext>
            </a:extLst>
          </p:cNvPr>
          <p:cNvSpPr/>
          <p:nvPr/>
        </p:nvSpPr>
        <p:spPr>
          <a:xfrm>
            <a:off x="7441860" y="3045893"/>
            <a:ext cx="288000" cy="720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800" dirty="0">
                <a:solidFill>
                  <a:schemeClr val="tx1"/>
                </a:solidFill>
              </a:rPr>
              <a:t>集成测试</a:t>
            </a:r>
          </a:p>
        </p:txBody>
      </p:sp>
      <p:sp>
        <p:nvSpPr>
          <p:cNvPr id="36" name="矩形 35">
            <a:extLst>
              <a:ext uri="{FF2B5EF4-FFF2-40B4-BE49-F238E27FC236}">
                <a16:creationId xmlns:a16="http://schemas.microsoft.com/office/drawing/2014/main" id="{C26271D6-AC6E-DA9B-2CFF-B44CDC4F7A06}"/>
              </a:ext>
            </a:extLst>
          </p:cNvPr>
          <p:cNvSpPr/>
          <p:nvPr/>
        </p:nvSpPr>
        <p:spPr>
          <a:xfrm>
            <a:off x="8001332" y="3045893"/>
            <a:ext cx="288000" cy="720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800" dirty="0">
                <a:solidFill>
                  <a:schemeClr val="tx1"/>
                </a:solidFill>
              </a:rPr>
              <a:t>系统测试</a:t>
            </a:r>
          </a:p>
        </p:txBody>
      </p:sp>
      <p:cxnSp>
        <p:nvCxnSpPr>
          <p:cNvPr id="38" name="直接箭头连接符 37">
            <a:extLst>
              <a:ext uri="{FF2B5EF4-FFF2-40B4-BE49-F238E27FC236}">
                <a16:creationId xmlns:a16="http://schemas.microsoft.com/office/drawing/2014/main" id="{925475BA-0400-CBF9-D1BA-A47C30E09738}"/>
              </a:ext>
            </a:extLst>
          </p:cNvPr>
          <p:cNvCxnSpPr>
            <a:stCxn id="12" idx="3"/>
            <a:endCxn id="32" idx="1"/>
          </p:cNvCxnSpPr>
          <p:nvPr/>
        </p:nvCxnSpPr>
        <p:spPr>
          <a:xfrm>
            <a:off x="7170388" y="3405893"/>
            <a:ext cx="271472" cy="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CC553D6C-D81D-3262-C9B4-0AD18DAFC70E}"/>
              </a:ext>
            </a:extLst>
          </p:cNvPr>
          <p:cNvCxnSpPr>
            <a:stCxn id="32" idx="3"/>
            <a:endCxn id="36" idx="1"/>
          </p:cNvCxnSpPr>
          <p:nvPr/>
        </p:nvCxnSpPr>
        <p:spPr>
          <a:xfrm>
            <a:off x="7729860" y="3405893"/>
            <a:ext cx="271472" cy="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a16="http://schemas.microsoft.com/office/drawing/2014/main" id="{140012F1-DF56-F17C-E857-5B1914C0FEFD}"/>
              </a:ext>
            </a:extLst>
          </p:cNvPr>
          <p:cNvCxnSpPr>
            <a:stCxn id="36" idx="3"/>
            <a:endCxn id="16" idx="1"/>
          </p:cNvCxnSpPr>
          <p:nvPr/>
        </p:nvCxnSpPr>
        <p:spPr>
          <a:xfrm>
            <a:off x="8289332" y="3405893"/>
            <a:ext cx="271471" cy="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4910037"/>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A6C84-C842-28AD-D058-9F2D9200E455}"/>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A19A3958-D841-4D15-8D2A-8BA780E1E7E1}"/>
              </a:ext>
            </a:extLst>
          </p:cNvPr>
          <p:cNvSpPr/>
          <p:nvPr/>
        </p:nvSpPr>
        <p:spPr>
          <a:xfrm>
            <a:off x="4175196" y="2676525"/>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tx1"/>
                </a:solidFill>
              </a:rPr>
              <a:t>A</a:t>
            </a:r>
            <a:endParaRPr lang="zh-CN" altLang="en-US" sz="1600">
              <a:solidFill>
                <a:schemeClr val="tx1"/>
              </a:solidFill>
            </a:endParaRPr>
          </a:p>
        </p:txBody>
      </p:sp>
      <p:sp>
        <p:nvSpPr>
          <p:cNvPr id="12" name="矩形 11">
            <a:extLst>
              <a:ext uri="{FF2B5EF4-FFF2-40B4-BE49-F238E27FC236}">
                <a16:creationId xmlns:a16="http://schemas.microsoft.com/office/drawing/2014/main" id="{8A019143-B4E5-211F-E7D8-CC1BBED51CA9}"/>
              </a:ext>
            </a:extLst>
          </p:cNvPr>
          <p:cNvSpPr/>
          <p:nvPr/>
        </p:nvSpPr>
        <p:spPr>
          <a:xfrm>
            <a:off x="5222946" y="2162175"/>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tx1"/>
                </a:solidFill>
              </a:rPr>
              <a:t>B</a:t>
            </a:r>
            <a:endParaRPr lang="zh-CN" altLang="en-US" sz="1600">
              <a:solidFill>
                <a:schemeClr val="tx1"/>
              </a:solidFill>
            </a:endParaRPr>
          </a:p>
        </p:txBody>
      </p:sp>
      <p:sp>
        <p:nvSpPr>
          <p:cNvPr id="13" name="矩形 12">
            <a:extLst>
              <a:ext uri="{FF2B5EF4-FFF2-40B4-BE49-F238E27FC236}">
                <a16:creationId xmlns:a16="http://schemas.microsoft.com/office/drawing/2014/main" id="{90F7A5DC-A245-650F-3173-DF11336B473E}"/>
              </a:ext>
            </a:extLst>
          </p:cNvPr>
          <p:cNvSpPr/>
          <p:nvPr/>
        </p:nvSpPr>
        <p:spPr>
          <a:xfrm>
            <a:off x="6139075" y="3364268"/>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tx1"/>
                </a:solidFill>
              </a:rPr>
              <a:t>D</a:t>
            </a:r>
            <a:endParaRPr lang="zh-CN" altLang="en-US" sz="1600">
              <a:solidFill>
                <a:schemeClr val="tx1"/>
              </a:solidFill>
            </a:endParaRPr>
          </a:p>
        </p:txBody>
      </p:sp>
      <p:sp>
        <p:nvSpPr>
          <p:cNvPr id="15" name="矩形 14">
            <a:extLst>
              <a:ext uri="{FF2B5EF4-FFF2-40B4-BE49-F238E27FC236}">
                <a16:creationId xmlns:a16="http://schemas.microsoft.com/office/drawing/2014/main" id="{7489A40A-A1A5-16C0-408B-E0E7B026A619}"/>
              </a:ext>
            </a:extLst>
          </p:cNvPr>
          <p:cNvSpPr/>
          <p:nvPr/>
        </p:nvSpPr>
        <p:spPr>
          <a:xfrm>
            <a:off x="4175196" y="3947251"/>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tx1"/>
                </a:solidFill>
              </a:rPr>
              <a:t>C</a:t>
            </a:r>
            <a:endParaRPr lang="zh-CN" altLang="en-US" sz="1600">
              <a:solidFill>
                <a:schemeClr val="tx1"/>
              </a:solidFill>
            </a:endParaRPr>
          </a:p>
        </p:txBody>
      </p:sp>
      <p:sp>
        <p:nvSpPr>
          <p:cNvPr id="16" name="矩形 15">
            <a:extLst>
              <a:ext uri="{FF2B5EF4-FFF2-40B4-BE49-F238E27FC236}">
                <a16:creationId xmlns:a16="http://schemas.microsoft.com/office/drawing/2014/main" id="{B5B2EB6E-D243-93DF-2D31-234ED5D00E71}"/>
              </a:ext>
            </a:extLst>
          </p:cNvPr>
          <p:cNvSpPr/>
          <p:nvPr/>
        </p:nvSpPr>
        <p:spPr>
          <a:xfrm>
            <a:off x="7825969" y="3069000"/>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rPr>
              <a:t>结束</a:t>
            </a:r>
          </a:p>
        </p:txBody>
      </p:sp>
      <p:sp>
        <p:nvSpPr>
          <p:cNvPr id="17" name="矩形 16">
            <a:extLst>
              <a:ext uri="{FF2B5EF4-FFF2-40B4-BE49-F238E27FC236}">
                <a16:creationId xmlns:a16="http://schemas.microsoft.com/office/drawing/2014/main" id="{0B3FA6EE-A322-6FED-E890-607873D88E25}"/>
              </a:ext>
            </a:extLst>
          </p:cNvPr>
          <p:cNvSpPr/>
          <p:nvPr/>
        </p:nvSpPr>
        <p:spPr>
          <a:xfrm>
            <a:off x="3025369" y="3249000"/>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rPr>
              <a:t>开始</a:t>
            </a:r>
          </a:p>
        </p:txBody>
      </p:sp>
      <p:cxnSp>
        <p:nvCxnSpPr>
          <p:cNvPr id="19" name="连接符: 肘形 18">
            <a:extLst>
              <a:ext uri="{FF2B5EF4-FFF2-40B4-BE49-F238E27FC236}">
                <a16:creationId xmlns:a16="http://schemas.microsoft.com/office/drawing/2014/main" id="{670EED4D-DC74-B9FF-B20D-90FF20AEE180}"/>
              </a:ext>
            </a:extLst>
          </p:cNvPr>
          <p:cNvCxnSpPr>
            <a:cxnSpLocks/>
            <a:stCxn id="17" idx="3"/>
            <a:endCxn id="11" idx="1"/>
          </p:cNvCxnSpPr>
          <p:nvPr/>
        </p:nvCxnSpPr>
        <p:spPr>
          <a:xfrm flipV="1">
            <a:off x="3745369" y="2856525"/>
            <a:ext cx="429827" cy="572475"/>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连接符: 肘形 20">
            <a:extLst>
              <a:ext uri="{FF2B5EF4-FFF2-40B4-BE49-F238E27FC236}">
                <a16:creationId xmlns:a16="http://schemas.microsoft.com/office/drawing/2014/main" id="{BB4384BC-D561-91FB-09AD-100EBF856B1D}"/>
              </a:ext>
            </a:extLst>
          </p:cNvPr>
          <p:cNvCxnSpPr>
            <a:cxnSpLocks/>
            <a:stCxn id="11" idx="3"/>
            <a:endCxn id="12" idx="1"/>
          </p:cNvCxnSpPr>
          <p:nvPr/>
        </p:nvCxnSpPr>
        <p:spPr>
          <a:xfrm flipV="1">
            <a:off x="4895196" y="2342175"/>
            <a:ext cx="327750" cy="514350"/>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连接符: 肘形 21">
            <a:extLst>
              <a:ext uri="{FF2B5EF4-FFF2-40B4-BE49-F238E27FC236}">
                <a16:creationId xmlns:a16="http://schemas.microsoft.com/office/drawing/2014/main" id="{7195F759-A48D-C3D8-0F8F-A06EE32D6FF4}"/>
              </a:ext>
            </a:extLst>
          </p:cNvPr>
          <p:cNvCxnSpPr>
            <a:cxnSpLocks/>
            <a:stCxn id="11" idx="3"/>
            <a:endCxn id="13" idx="1"/>
          </p:cNvCxnSpPr>
          <p:nvPr/>
        </p:nvCxnSpPr>
        <p:spPr>
          <a:xfrm>
            <a:off x="4895196" y="2856525"/>
            <a:ext cx="1243879" cy="687743"/>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连接符: 肘形 22">
            <a:extLst>
              <a:ext uri="{FF2B5EF4-FFF2-40B4-BE49-F238E27FC236}">
                <a16:creationId xmlns:a16="http://schemas.microsoft.com/office/drawing/2014/main" id="{9AFFDFFB-0C7A-0BD3-47E3-A641E1DD8B5C}"/>
              </a:ext>
            </a:extLst>
          </p:cNvPr>
          <p:cNvCxnSpPr>
            <a:cxnSpLocks/>
            <a:stCxn id="15" idx="3"/>
            <a:endCxn id="13" idx="1"/>
          </p:cNvCxnSpPr>
          <p:nvPr/>
        </p:nvCxnSpPr>
        <p:spPr>
          <a:xfrm flipV="1">
            <a:off x="4895196" y="3544268"/>
            <a:ext cx="1243879" cy="582983"/>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连接符: 肘形 24">
            <a:extLst>
              <a:ext uri="{FF2B5EF4-FFF2-40B4-BE49-F238E27FC236}">
                <a16:creationId xmlns:a16="http://schemas.microsoft.com/office/drawing/2014/main" id="{160E00C8-AC3F-E02C-E245-EDA79EBCD4D4}"/>
              </a:ext>
            </a:extLst>
          </p:cNvPr>
          <p:cNvCxnSpPr>
            <a:cxnSpLocks/>
            <a:stCxn id="12" idx="3"/>
            <a:endCxn id="16" idx="0"/>
          </p:cNvCxnSpPr>
          <p:nvPr/>
        </p:nvCxnSpPr>
        <p:spPr>
          <a:xfrm>
            <a:off x="5942946" y="2342175"/>
            <a:ext cx="2243023" cy="726825"/>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连接符: 肘形 26">
            <a:extLst>
              <a:ext uri="{FF2B5EF4-FFF2-40B4-BE49-F238E27FC236}">
                <a16:creationId xmlns:a16="http://schemas.microsoft.com/office/drawing/2014/main" id="{38F2789C-B345-41F3-AB36-43458A7D6806}"/>
              </a:ext>
            </a:extLst>
          </p:cNvPr>
          <p:cNvCxnSpPr>
            <a:cxnSpLocks/>
            <a:stCxn id="13" idx="3"/>
            <a:endCxn id="16" idx="1"/>
          </p:cNvCxnSpPr>
          <p:nvPr/>
        </p:nvCxnSpPr>
        <p:spPr>
          <a:xfrm flipV="1">
            <a:off x="6859075" y="3249000"/>
            <a:ext cx="966894" cy="295268"/>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矩形 30">
            <a:extLst>
              <a:ext uri="{FF2B5EF4-FFF2-40B4-BE49-F238E27FC236}">
                <a16:creationId xmlns:a16="http://schemas.microsoft.com/office/drawing/2014/main" id="{80D71CF1-5FA4-6A69-434B-F3F59F695070}"/>
              </a:ext>
            </a:extLst>
          </p:cNvPr>
          <p:cNvSpPr/>
          <p:nvPr/>
        </p:nvSpPr>
        <p:spPr>
          <a:xfrm>
            <a:off x="6848545" y="4519726"/>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tx1"/>
                </a:solidFill>
              </a:rPr>
              <a:t>F</a:t>
            </a:r>
            <a:endParaRPr lang="zh-CN" altLang="en-US" sz="1600">
              <a:solidFill>
                <a:schemeClr val="tx1"/>
              </a:solidFill>
            </a:endParaRPr>
          </a:p>
        </p:txBody>
      </p:sp>
      <p:sp>
        <p:nvSpPr>
          <p:cNvPr id="33" name="矩形 32">
            <a:extLst>
              <a:ext uri="{FF2B5EF4-FFF2-40B4-BE49-F238E27FC236}">
                <a16:creationId xmlns:a16="http://schemas.microsoft.com/office/drawing/2014/main" id="{3AB2CA02-6076-40BF-709D-8D7504D4841E}"/>
              </a:ext>
            </a:extLst>
          </p:cNvPr>
          <p:cNvSpPr/>
          <p:nvPr/>
        </p:nvSpPr>
        <p:spPr>
          <a:xfrm>
            <a:off x="4057720" y="4519726"/>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tx1"/>
                </a:solidFill>
              </a:rPr>
              <a:t>E</a:t>
            </a:r>
            <a:endParaRPr lang="zh-CN" altLang="en-US" sz="1600">
              <a:solidFill>
                <a:schemeClr val="tx1"/>
              </a:solidFill>
            </a:endParaRPr>
          </a:p>
        </p:txBody>
      </p:sp>
      <p:cxnSp>
        <p:nvCxnSpPr>
          <p:cNvPr id="34" name="连接符: 肘形 33">
            <a:extLst>
              <a:ext uri="{FF2B5EF4-FFF2-40B4-BE49-F238E27FC236}">
                <a16:creationId xmlns:a16="http://schemas.microsoft.com/office/drawing/2014/main" id="{EEA9C7DA-F018-FC60-2E86-B1FF9CF07FD6}"/>
              </a:ext>
            </a:extLst>
          </p:cNvPr>
          <p:cNvCxnSpPr>
            <a:cxnSpLocks/>
            <a:stCxn id="17" idx="2"/>
            <a:endCxn id="33" idx="1"/>
          </p:cNvCxnSpPr>
          <p:nvPr/>
        </p:nvCxnSpPr>
        <p:spPr>
          <a:xfrm rot="16200000" flipH="1">
            <a:off x="3176181" y="3818187"/>
            <a:ext cx="1090726" cy="672351"/>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连接符: 肘形 34">
            <a:extLst>
              <a:ext uri="{FF2B5EF4-FFF2-40B4-BE49-F238E27FC236}">
                <a16:creationId xmlns:a16="http://schemas.microsoft.com/office/drawing/2014/main" id="{F42B3593-AEB8-0857-16ED-169B94322252}"/>
              </a:ext>
            </a:extLst>
          </p:cNvPr>
          <p:cNvCxnSpPr>
            <a:cxnSpLocks/>
            <a:stCxn id="31" idx="3"/>
            <a:endCxn id="16" idx="2"/>
          </p:cNvCxnSpPr>
          <p:nvPr/>
        </p:nvCxnSpPr>
        <p:spPr>
          <a:xfrm flipV="1">
            <a:off x="7568545" y="3429000"/>
            <a:ext cx="617424" cy="1270726"/>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1FF81BDC-BCA4-C0E3-1636-A393BA994D67}"/>
              </a:ext>
            </a:extLst>
          </p:cNvPr>
          <p:cNvCxnSpPr>
            <a:cxnSpLocks/>
            <a:stCxn id="33" idx="3"/>
            <a:endCxn id="31" idx="1"/>
          </p:cNvCxnSpPr>
          <p:nvPr/>
        </p:nvCxnSpPr>
        <p:spPr>
          <a:xfrm>
            <a:off x="4777720" y="4699726"/>
            <a:ext cx="207082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8308FD3B-2D53-38FE-E767-0DDFB13C1927}"/>
              </a:ext>
            </a:extLst>
          </p:cNvPr>
          <p:cNvCxnSpPr>
            <a:cxnSpLocks/>
            <a:stCxn id="11" idx="1"/>
            <a:endCxn id="15" idx="1"/>
          </p:cNvCxnSpPr>
          <p:nvPr/>
        </p:nvCxnSpPr>
        <p:spPr>
          <a:xfrm>
            <a:off x="4175196" y="2856525"/>
            <a:ext cx="0" cy="127072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文本框 38">
            <a:extLst>
              <a:ext uri="{FF2B5EF4-FFF2-40B4-BE49-F238E27FC236}">
                <a16:creationId xmlns:a16="http://schemas.microsoft.com/office/drawing/2014/main" id="{01278F18-9967-9853-AA0E-14019FC5F0DF}"/>
              </a:ext>
            </a:extLst>
          </p:cNvPr>
          <p:cNvSpPr txBox="1"/>
          <p:nvPr/>
        </p:nvSpPr>
        <p:spPr>
          <a:xfrm>
            <a:off x="5518454" y="4389863"/>
            <a:ext cx="612668" cy="307777"/>
          </a:xfrm>
          <a:prstGeom prst="rect">
            <a:avLst/>
          </a:prstGeom>
          <a:noFill/>
          <a:ln>
            <a:noFill/>
          </a:ln>
        </p:spPr>
        <p:txBody>
          <a:bodyPr wrap="none" rtlCol="0">
            <a:spAutoFit/>
          </a:bodyPr>
          <a:lstStyle/>
          <a:p>
            <a:r>
              <a:rPr lang="en-US" altLang="zh-CN" sz="1400" dirty="0"/>
              <a:t>FS+3</a:t>
            </a:r>
            <a:endParaRPr lang="zh-CN" altLang="en-US" sz="1400" dirty="0"/>
          </a:p>
        </p:txBody>
      </p:sp>
      <p:sp>
        <p:nvSpPr>
          <p:cNvPr id="47" name="文本框 46">
            <a:extLst>
              <a:ext uri="{FF2B5EF4-FFF2-40B4-BE49-F238E27FC236}">
                <a16:creationId xmlns:a16="http://schemas.microsoft.com/office/drawing/2014/main" id="{BD475C6F-FCD7-004A-DE03-C7A2A1891B85}"/>
              </a:ext>
            </a:extLst>
          </p:cNvPr>
          <p:cNvSpPr txBox="1"/>
          <p:nvPr/>
        </p:nvSpPr>
        <p:spPr>
          <a:xfrm>
            <a:off x="4937923" y="3816818"/>
            <a:ext cx="580608" cy="307777"/>
          </a:xfrm>
          <a:prstGeom prst="rect">
            <a:avLst/>
          </a:prstGeom>
          <a:noFill/>
          <a:ln>
            <a:noFill/>
          </a:ln>
        </p:spPr>
        <p:txBody>
          <a:bodyPr wrap="none" rtlCol="0">
            <a:spAutoFit/>
          </a:bodyPr>
          <a:lstStyle/>
          <a:p>
            <a:r>
              <a:rPr lang="en-US" altLang="zh-CN" sz="1400" dirty="0"/>
              <a:t>FS-2</a:t>
            </a:r>
            <a:endParaRPr lang="zh-CN" altLang="en-US" sz="1400" dirty="0"/>
          </a:p>
        </p:txBody>
      </p:sp>
      <p:sp>
        <p:nvSpPr>
          <p:cNvPr id="65" name="文本框 64">
            <a:extLst>
              <a:ext uri="{FF2B5EF4-FFF2-40B4-BE49-F238E27FC236}">
                <a16:creationId xmlns:a16="http://schemas.microsoft.com/office/drawing/2014/main" id="{B5222EAC-6E4C-EC95-AB5F-9FCCFC4D34BE}"/>
              </a:ext>
            </a:extLst>
          </p:cNvPr>
          <p:cNvSpPr txBox="1"/>
          <p:nvPr/>
        </p:nvSpPr>
        <p:spPr>
          <a:xfrm>
            <a:off x="4187120" y="3322275"/>
            <a:ext cx="611065" cy="307777"/>
          </a:xfrm>
          <a:prstGeom prst="rect">
            <a:avLst/>
          </a:prstGeom>
          <a:noFill/>
          <a:ln>
            <a:noFill/>
          </a:ln>
        </p:spPr>
        <p:txBody>
          <a:bodyPr wrap="none" rtlCol="0">
            <a:spAutoFit/>
          </a:bodyPr>
          <a:lstStyle/>
          <a:p>
            <a:r>
              <a:rPr lang="en-US" altLang="zh-CN" sz="1400" dirty="0"/>
              <a:t>SS+2</a:t>
            </a:r>
            <a:endParaRPr lang="zh-CN" altLang="en-US" sz="1400" dirty="0"/>
          </a:p>
        </p:txBody>
      </p:sp>
    </p:spTree>
    <p:extLst>
      <p:ext uri="{BB962C8B-B14F-4D97-AF65-F5344CB8AC3E}">
        <p14:creationId xmlns:p14="http://schemas.microsoft.com/office/powerpoint/2010/main" val="3109950469"/>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B6CCD-DD02-0DEB-C2A4-74FD8EAB7D2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3058F48-073A-AFDA-5D18-0A2B2C4B076A}"/>
              </a:ext>
            </a:extLst>
          </p:cNvPr>
          <p:cNvSpPr>
            <a:spLocks noGrp="1"/>
          </p:cNvSpPr>
          <p:nvPr>
            <p:ph type="title"/>
          </p:nvPr>
        </p:nvSpPr>
        <p:spPr>
          <a:xfrm>
            <a:off x="792000" y="360000"/>
            <a:ext cx="6375921" cy="429413"/>
          </a:xfrm>
        </p:spPr>
        <p:txBody>
          <a:bodyPr>
            <a:normAutofit/>
          </a:bodyPr>
          <a:lstStyle/>
          <a:p>
            <a:r>
              <a:rPr lang="en-US" altLang="zh-CN" dirty="0"/>
              <a:t>2.3 </a:t>
            </a:r>
            <a:r>
              <a:rPr lang="zh-CN" altLang="en-US" dirty="0"/>
              <a:t>箭线图</a:t>
            </a:r>
          </a:p>
        </p:txBody>
      </p:sp>
      <p:sp>
        <p:nvSpPr>
          <p:cNvPr id="49" name="内容占位符 48">
            <a:extLst>
              <a:ext uri="{FF2B5EF4-FFF2-40B4-BE49-F238E27FC236}">
                <a16:creationId xmlns:a16="http://schemas.microsoft.com/office/drawing/2014/main" id="{481701B1-39B9-6C27-BC8D-D619989005FC}"/>
              </a:ext>
            </a:extLst>
          </p:cNvPr>
          <p:cNvSpPr>
            <a:spLocks noGrp="1"/>
          </p:cNvSpPr>
          <p:nvPr>
            <p:ph idx="1"/>
          </p:nvPr>
        </p:nvSpPr>
        <p:spPr>
          <a:xfrm>
            <a:off x="696000" y="864000"/>
            <a:ext cx="10800000" cy="5400000"/>
          </a:xfrm>
        </p:spPr>
        <p:txBody>
          <a:bodyPr/>
          <a:lstStyle/>
          <a:p>
            <a:r>
              <a:rPr lang="en-US" altLang="zh-CN" dirty="0"/>
              <a:t>Arrow Diagramming Method</a:t>
            </a:r>
          </a:p>
          <a:p>
            <a:r>
              <a:rPr lang="zh-CN" altLang="en-US" dirty="0"/>
              <a:t>也叫箭线法、双代号网络图，即节点和箭线都要编号</a:t>
            </a:r>
            <a:endParaRPr lang="en-US" altLang="zh-CN" dirty="0"/>
          </a:p>
          <a:p>
            <a:r>
              <a:rPr lang="zh-CN" altLang="en-US" dirty="0"/>
              <a:t>或者活动箭线图 </a:t>
            </a:r>
            <a:r>
              <a:rPr lang="en-US" altLang="zh-CN" dirty="0"/>
              <a:t>Active On the Arrow</a:t>
            </a:r>
            <a:r>
              <a:rPr lang="zh-CN" altLang="en-US" dirty="0"/>
              <a:t>，</a:t>
            </a:r>
            <a:r>
              <a:rPr lang="en-US" altLang="zh-CN" dirty="0" err="1"/>
              <a:t>AoA</a:t>
            </a:r>
            <a:endParaRPr lang="en-US" altLang="zh-CN" dirty="0"/>
          </a:p>
          <a:p>
            <a:r>
              <a:rPr lang="zh-CN" altLang="en-US" dirty="0"/>
              <a:t>箭头：活动</a:t>
            </a:r>
            <a:r>
              <a:rPr lang="en-US" altLang="zh-CN" dirty="0"/>
              <a:t>/</a:t>
            </a:r>
            <a:r>
              <a:rPr lang="zh-CN" altLang="en-US" dirty="0"/>
              <a:t>任务</a:t>
            </a:r>
            <a:endParaRPr lang="en-US" altLang="zh-CN" dirty="0"/>
          </a:p>
          <a:p>
            <a:r>
              <a:rPr lang="zh-CN" altLang="en-US" dirty="0"/>
              <a:t>节点：前一个任务的结束和后一个任务的开始。</a:t>
            </a:r>
            <a:endParaRPr lang="en-US" altLang="zh-CN" dirty="0"/>
          </a:p>
          <a:p>
            <a:pPr lvl="1"/>
            <a:r>
              <a:rPr lang="zh-CN" altLang="en-US" dirty="0"/>
              <a:t>活动的开始（箭尾）事件叫做该活动的紧前事件（</a:t>
            </a:r>
            <a:r>
              <a:rPr lang="en-US" altLang="zh-CN" dirty="0"/>
              <a:t>Precede Event</a:t>
            </a:r>
            <a:r>
              <a:rPr lang="zh-CN" altLang="en-US" dirty="0"/>
              <a:t>）</a:t>
            </a:r>
          </a:p>
          <a:p>
            <a:pPr lvl="1"/>
            <a:r>
              <a:rPr lang="zh-CN" altLang="en-US" dirty="0"/>
              <a:t>活动的结束（箭头）事件叫该活动的紧后事件（</a:t>
            </a:r>
            <a:r>
              <a:rPr lang="en-US" altLang="zh-CN" dirty="0"/>
              <a:t>Successor Event</a:t>
            </a:r>
            <a:r>
              <a:rPr lang="zh-CN" altLang="en-US" dirty="0"/>
              <a:t>）</a:t>
            </a:r>
            <a:endParaRPr lang="en-US" altLang="zh-CN" dirty="0"/>
          </a:p>
          <a:p>
            <a:r>
              <a:rPr lang="zh-CN" altLang="en-US" dirty="0"/>
              <a:t>可以使用虚拟活动 </a:t>
            </a:r>
            <a:r>
              <a:rPr lang="en-US" altLang="zh-CN" dirty="0"/>
              <a:t>Dummy Activity </a:t>
            </a:r>
            <a:r>
              <a:rPr lang="zh-CN" altLang="en-US" dirty="0"/>
              <a:t>表示依赖关系</a:t>
            </a:r>
            <a:endParaRPr lang="en-US" altLang="zh-CN" dirty="0"/>
          </a:p>
          <a:p>
            <a:endParaRPr lang="en-US" altLang="zh-CN" dirty="0"/>
          </a:p>
        </p:txBody>
      </p:sp>
      <p:sp>
        <p:nvSpPr>
          <p:cNvPr id="50" name="文本占位符 49">
            <a:extLst>
              <a:ext uri="{FF2B5EF4-FFF2-40B4-BE49-F238E27FC236}">
                <a16:creationId xmlns:a16="http://schemas.microsoft.com/office/drawing/2014/main" id="{28E4EE63-2E36-AF73-C696-7936776387B1}"/>
              </a:ext>
            </a:extLst>
          </p:cNvPr>
          <p:cNvSpPr>
            <a:spLocks noGrp="1"/>
          </p:cNvSpPr>
          <p:nvPr>
            <p:ph type="body" sz="quarter" idx="10"/>
          </p:nvPr>
        </p:nvSpPr>
        <p:spPr>
          <a:xfrm>
            <a:off x="7071919" y="448519"/>
            <a:ext cx="4424080" cy="338554"/>
          </a:xfrm>
        </p:spPr>
        <p:txBody>
          <a:bodyPr/>
          <a:lstStyle/>
          <a:p>
            <a:r>
              <a:rPr lang="en-US" altLang="zh-CN" dirty="0"/>
              <a:t>ADM</a:t>
            </a:r>
            <a:endParaRPr lang="zh-CN" altLang="en-US" dirty="0"/>
          </a:p>
        </p:txBody>
      </p:sp>
    </p:spTree>
    <p:extLst>
      <p:ext uri="{BB962C8B-B14F-4D97-AF65-F5344CB8AC3E}">
        <p14:creationId xmlns:p14="http://schemas.microsoft.com/office/powerpoint/2010/main" val="2864163781"/>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a:extLst>
              <a:ext uri="{FF2B5EF4-FFF2-40B4-BE49-F238E27FC236}">
                <a16:creationId xmlns:a16="http://schemas.microsoft.com/office/drawing/2014/main" id="{7B363394-C9AD-0440-94D6-03D6ACBACB1A}"/>
              </a:ext>
            </a:extLst>
          </p:cNvPr>
          <p:cNvSpPr/>
          <p:nvPr/>
        </p:nvSpPr>
        <p:spPr>
          <a:xfrm>
            <a:off x="2520867" y="3140990"/>
            <a:ext cx="504000" cy="504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en-US" altLang="zh-CN" sz="1600" dirty="0">
                <a:solidFill>
                  <a:schemeClr val="tx1"/>
                </a:solidFill>
              </a:rPr>
              <a:t>3</a:t>
            </a:r>
            <a:endParaRPr lang="zh-CN" altLang="en-US" sz="1600" dirty="0">
              <a:solidFill>
                <a:schemeClr val="tx1"/>
              </a:solidFill>
            </a:endParaRPr>
          </a:p>
        </p:txBody>
      </p:sp>
      <p:sp>
        <p:nvSpPr>
          <p:cNvPr id="6" name="椭圆 5">
            <a:extLst>
              <a:ext uri="{FF2B5EF4-FFF2-40B4-BE49-F238E27FC236}">
                <a16:creationId xmlns:a16="http://schemas.microsoft.com/office/drawing/2014/main" id="{25FB8237-02FA-B8B9-24DA-C64DDC2A457C}"/>
              </a:ext>
            </a:extLst>
          </p:cNvPr>
          <p:cNvSpPr/>
          <p:nvPr/>
        </p:nvSpPr>
        <p:spPr>
          <a:xfrm>
            <a:off x="7227959" y="3140990"/>
            <a:ext cx="504000" cy="504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en-US" altLang="zh-CN" sz="1600" dirty="0">
                <a:solidFill>
                  <a:schemeClr val="tx1"/>
                </a:solidFill>
              </a:rPr>
              <a:t>7</a:t>
            </a:r>
            <a:endParaRPr lang="zh-CN" altLang="en-US" sz="1600" dirty="0">
              <a:solidFill>
                <a:schemeClr val="tx1"/>
              </a:solidFill>
            </a:endParaRPr>
          </a:p>
        </p:txBody>
      </p:sp>
      <p:sp>
        <p:nvSpPr>
          <p:cNvPr id="8" name="椭圆 7">
            <a:extLst>
              <a:ext uri="{FF2B5EF4-FFF2-40B4-BE49-F238E27FC236}">
                <a16:creationId xmlns:a16="http://schemas.microsoft.com/office/drawing/2014/main" id="{3DBF9D2E-C829-25D8-87D5-15ACA2B990D0}"/>
              </a:ext>
            </a:extLst>
          </p:cNvPr>
          <p:cNvSpPr/>
          <p:nvPr/>
        </p:nvSpPr>
        <p:spPr>
          <a:xfrm>
            <a:off x="1198885" y="3140990"/>
            <a:ext cx="504000" cy="504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en-US" altLang="zh-CN" sz="1600" dirty="0">
                <a:solidFill>
                  <a:schemeClr val="tx1"/>
                </a:solidFill>
              </a:rPr>
              <a:t>1</a:t>
            </a:r>
            <a:endParaRPr lang="zh-CN" altLang="en-US" sz="1600" dirty="0">
              <a:solidFill>
                <a:schemeClr val="tx1"/>
              </a:solidFill>
            </a:endParaRPr>
          </a:p>
        </p:txBody>
      </p:sp>
      <p:sp>
        <p:nvSpPr>
          <p:cNvPr id="11" name="椭圆 10">
            <a:extLst>
              <a:ext uri="{FF2B5EF4-FFF2-40B4-BE49-F238E27FC236}">
                <a16:creationId xmlns:a16="http://schemas.microsoft.com/office/drawing/2014/main" id="{8A4BEA86-B19E-4959-8C04-AD07B9973FEC}"/>
              </a:ext>
            </a:extLst>
          </p:cNvPr>
          <p:cNvSpPr/>
          <p:nvPr/>
        </p:nvSpPr>
        <p:spPr>
          <a:xfrm>
            <a:off x="1859876" y="4082320"/>
            <a:ext cx="504000" cy="504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en-US" altLang="zh-CN" sz="1600" dirty="0">
                <a:solidFill>
                  <a:schemeClr val="tx1"/>
                </a:solidFill>
              </a:rPr>
              <a:t>2</a:t>
            </a:r>
            <a:endParaRPr lang="zh-CN" altLang="en-US" sz="1600" dirty="0">
              <a:solidFill>
                <a:schemeClr val="tx1"/>
              </a:solidFill>
            </a:endParaRPr>
          </a:p>
        </p:txBody>
      </p:sp>
      <p:cxnSp>
        <p:nvCxnSpPr>
          <p:cNvPr id="15" name="直接箭头连接符 14">
            <a:extLst>
              <a:ext uri="{FF2B5EF4-FFF2-40B4-BE49-F238E27FC236}">
                <a16:creationId xmlns:a16="http://schemas.microsoft.com/office/drawing/2014/main" id="{478E1B4D-DA79-D893-F89C-FD2F73612765}"/>
              </a:ext>
            </a:extLst>
          </p:cNvPr>
          <p:cNvCxnSpPr>
            <a:cxnSpLocks/>
            <a:stCxn id="8" idx="4"/>
            <a:endCxn id="11" idx="2"/>
          </p:cNvCxnSpPr>
          <p:nvPr/>
        </p:nvCxnSpPr>
        <p:spPr>
          <a:xfrm>
            <a:off x="1450885" y="3644990"/>
            <a:ext cx="408991" cy="6893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椭圆 15">
            <a:extLst>
              <a:ext uri="{FF2B5EF4-FFF2-40B4-BE49-F238E27FC236}">
                <a16:creationId xmlns:a16="http://schemas.microsoft.com/office/drawing/2014/main" id="{22EF0703-F1DA-D37B-C1CF-5BB62CD7339F}"/>
              </a:ext>
            </a:extLst>
          </p:cNvPr>
          <p:cNvSpPr/>
          <p:nvPr/>
        </p:nvSpPr>
        <p:spPr>
          <a:xfrm>
            <a:off x="4583995" y="3140990"/>
            <a:ext cx="504000" cy="504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en-US" altLang="zh-CN" sz="1600" dirty="0">
                <a:solidFill>
                  <a:schemeClr val="tx1"/>
                </a:solidFill>
              </a:rPr>
              <a:t>4</a:t>
            </a:r>
            <a:endParaRPr lang="zh-CN" altLang="en-US" sz="1600" dirty="0">
              <a:solidFill>
                <a:schemeClr val="tx1"/>
              </a:solidFill>
            </a:endParaRPr>
          </a:p>
        </p:txBody>
      </p:sp>
      <p:sp>
        <p:nvSpPr>
          <p:cNvPr id="18" name="椭圆 17">
            <a:extLst>
              <a:ext uri="{FF2B5EF4-FFF2-40B4-BE49-F238E27FC236}">
                <a16:creationId xmlns:a16="http://schemas.microsoft.com/office/drawing/2014/main" id="{B5B84908-105B-D488-9DFA-040D7108C83A}"/>
              </a:ext>
            </a:extLst>
          </p:cNvPr>
          <p:cNvSpPr/>
          <p:nvPr/>
        </p:nvSpPr>
        <p:spPr>
          <a:xfrm>
            <a:off x="5310769" y="2078033"/>
            <a:ext cx="504000" cy="504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en-US" altLang="zh-CN" sz="1600" dirty="0">
                <a:solidFill>
                  <a:schemeClr val="tx1"/>
                </a:solidFill>
              </a:rPr>
              <a:t>6</a:t>
            </a:r>
            <a:endParaRPr lang="zh-CN" altLang="en-US" sz="1600" dirty="0">
              <a:solidFill>
                <a:schemeClr val="tx1"/>
              </a:solidFill>
            </a:endParaRPr>
          </a:p>
        </p:txBody>
      </p:sp>
      <p:sp>
        <p:nvSpPr>
          <p:cNvPr id="19" name="椭圆 18">
            <a:extLst>
              <a:ext uri="{FF2B5EF4-FFF2-40B4-BE49-F238E27FC236}">
                <a16:creationId xmlns:a16="http://schemas.microsoft.com/office/drawing/2014/main" id="{C8F4B401-96E3-485C-1732-FF194964FA41}"/>
              </a:ext>
            </a:extLst>
          </p:cNvPr>
          <p:cNvSpPr/>
          <p:nvPr/>
        </p:nvSpPr>
        <p:spPr>
          <a:xfrm>
            <a:off x="5905977" y="3140990"/>
            <a:ext cx="504000" cy="504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en-US" altLang="zh-CN" sz="1600" dirty="0">
                <a:solidFill>
                  <a:schemeClr val="tx1"/>
                </a:solidFill>
              </a:rPr>
              <a:t>5</a:t>
            </a:r>
            <a:endParaRPr lang="zh-CN" altLang="en-US" sz="1600" dirty="0">
              <a:solidFill>
                <a:schemeClr val="tx1"/>
              </a:solidFill>
            </a:endParaRPr>
          </a:p>
        </p:txBody>
      </p:sp>
      <p:sp>
        <p:nvSpPr>
          <p:cNvPr id="23" name="椭圆 22">
            <a:extLst>
              <a:ext uri="{FF2B5EF4-FFF2-40B4-BE49-F238E27FC236}">
                <a16:creationId xmlns:a16="http://schemas.microsoft.com/office/drawing/2014/main" id="{16D9032A-B519-BCF8-F70D-DA0D3E8E3FD4}"/>
              </a:ext>
            </a:extLst>
          </p:cNvPr>
          <p:cNvSpPr/>
          <p:nvPr/>
        </p:nvSpPr>
        <p:spPr>
          <a:xfrm>
            <a:off x="8809824" y="3140990"/>
            <a:ext cx="504000" cy="504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en-US" altLang="zh-CN" sz="1600" dirty="0">
                <a:solidFill>
                  <a:schemeClr val="tx1"/>
                </a:solidFill>
              </a:rPr>
              <a:t>8</a:t>
            </a:r>
            <a:endParaRPr lang="zh-CN" altLang="en-US" sz="1600" dirty="0">
              <a:solidFill>
                <a:schemeClr val="tx1"/>
              </a:solidFill>
            </a:endParaRPr>
          </a:p>
        </p:txBody>
      </p:sp>
      <p:sp>
        <p:nvSpPr>
          <p:cNvPr id="24" name="椭圆 23">
            <a:extLst>
              <a:ext uri="{FF2B5EF4-FFF2-40B4-BE49-F238E27FC236}">
                <a16:creationId xmlns:a16="http://schemas.microsoft.com/office/drawing/2014/main" id="{499F017E-1C26-CDA4-6265-93838F2842FD}"/>
              </a:ext>
            </a:extLst>
          </p:cNvPr>
          <p:cNvSpPr/>
          <p:nvPr/>
        </p:nvSpPr>
        <p:spPr>
          <a:xfrm>
            <a:off x="10391687" y="3140990"/>
            <a:ext cx="504000" cy="504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en-US" altLang="zh-CN" sz="1600" dirty="0">
                <a:solidFill>
                  <a:schemeClr val="tx1"/>
                </a:solidFill>
              </a:rPr>
              <a:t>9</a:t>
            </a:r>
            <a:endParaRPr lang="zh-CN" altLang="en-US" sz="1600" dirty="0">
              <a:solidFill>
                <a:schemeClr val="tx1"/>
              </a:solidFill>
            </a:endParaRPr>
          </a:p>
        </p:txBody>
      </p:sp>
      <p:cxnSp>
        <p:nvCxnSpPr>
          <p:cNvPr id="25" name="直接箭头连接符 24">
            <a:extLst>
              <a:ext uri="{FF2B5EF4-FFF2-40B4-BE49-F238E27FC236}">
                <a16:creationId xmlns:a16="http://schemas.microsoft.com/office/drawing/2014/main" id="{CF5979E1-7B81-1BF3-A928-679130DA977B}"/>
              </a:ext>
            </a:extLst>
          </p:cNvPr>
          <p:cNvCxnSpPr>
            <a:cxnSpLocks/>
            <a:stCxn id="6" idx="6"/>
            <a:endCxn id="23" idx="2"/>
          </p:cNvCxnSpPr>
          <p:nvPr/>
        </p:nvCxnSpPr>
        <p:spPr>
          <a:xfrm>
            <a:off x="7731959" y="3392990"/>
            <a:ext cx="107786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0FD381FB-DE92-8934-68E0-17F820F434BB}"/>
              </a:ext>
            </a:extLst>
          </p:cNvPr>
          <p:cNvCxnSpPr>
            <a:cxnSpLocks/>
            <a:stCxn id="23" idx="6"/>
            <a:endCxn id="24" idx="2"/>
          </p:cNvCxnSpPr>
          <p:nvPr/>
        </p:nvCxnSpPr>
        <p:spPr>
          <a:xfrm>
            <a:off x="9313824" y="3392990"/>
            <a:ext cx="107786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323FE5B2-4939-6127-9778-64AD3BCB2A70}"/>
              </a:ext>
            </a:extLst>
          </p:cNvPr>
          <p:cNvSpPr txBox="1"/>
          <p:nvPr/>
        </p:nvSpPr>
        <p:spPr>
          <a:xfrm>
            <a:off x="696000" y="5679225"/>
            <a:ext cx="1620957" cy="584775"/>
          </a:xfrm>
          <a:prstGeom prst="rect">
            <a:avLst/>
          </a:prstGeom>
          <a:noFill/>
          <a:ln>
            <a:noFill/>
          </a:ln>
        </p:spPr>
        <p:txBody>
          <a:bodyPr wrap="none" rtlCol="0">
            <a:spAutoFit/>
          </a:bodyPr>
          <a:lstStyle/>
          <a:p>
            <a:r>
              <a:rPr lang="zh-CN" altLang="en-US" sz="1600" dirty="0"/>
              <a:t>在线上标注活动</a:t>
            </a:r>
            <a:endParaRPr lang="en-US" altLang="zh-CN" sz="1600" dirty="0"/>
          </a:p>
          <a:p>
            <a:r>
              <a:rPr lang="zh-CN" altLang="en-US" sz="1600" dirty="0"/>
              <a:t>节点编制序号</a:t>
            </a:r>
          </a:p>
        </p:txBody>
      </p:sp>
      <p:sp>
        <p:nvSpPr>
          <p:cNvPr id="29" name="文本框 28">
            <a:extLst>
              <a:ext uri="{FF2B5EF4-FFF2-40B4-BE49-F238E27FC236}">
                <a16:creationId xmlns:a16="http://schemas.microsoft.com/office/drawing/2014/main" id="{5914C3C5-A422-F3CA-BEE4-B5C76136468E}"/>
              </a:ext>
            </a:extLst>
          </p:cNvPr>
          <p:cNvSpPr txBox="1"/>
          <p:nvPr/>
        </p:nvSpPr>
        <p:spPr>
          <a:xfrm>
            <a:off x="1609174" y="2933662"/>
            <a:ext cx="1005403" cy="338554"/>
          </a:xfrm>
          <a:prstGeom prst="rect">
            <a:avLst/>
          </a:prstGeom>
          <a:noFill/>
          <a:ln>
            <a:noFill/>
          </a:ln>
        </p:spPr>
        <p:txBody>
          <a:bodyPr wrap="none" rtlCol="0">
            <a:spAutoFit/>
          </a:bodyPr>
          <a:lstStyle/>
          <a:p>
            <a:r>
              <a:rPr lang="zh-CN" altLang="en-US" sz="1600" dirty="0"/>
              <a:t>项目规划</a:t>
            </a:r>
          </a:p>
        </p:txBody>
      </p:sp>
      <p:sp>
        <p:nvSpPr>
          <p:cNvPr id="30" name="文本框 29">
            <a:extLst>
              <a:ext uri="{FF2B5EF4-FFF2-40B4-BE49-F238E27FC236}">
                <a16:creationId xmlns:a16="http://schemas.microsoft.com/office/drawing/2014/main" id="{02791208-9D61-FE2D-52EB-E2DFE55088E0}"/>
              </a:ext>
            </a:extLst>
          </p:cNvPr>
          <p:cNvSpPr txBox="1"/>
          <p:nvPr/>
        </p:nvSpPr>
        <p:spPr>
          <a:xfrm>
            <a:off x="730228" y="3820377"/>
            <a:ext cx="1005403" cy="338554"/>
          </a:xfrm>
          <a:prstGeom prst="rect">
            <a:avLst/>
          </a:prstGeom>
          <a:noFill/>
          <a:ln>
            <a:noFill/>
          </a:ln>
        </p:spPr>
        <p:txBody>
          <a:bodyPr wrap="none" rtlCol="0">
            <a:spAutoFit/>
          </a:bodyPr>
          <a:lstStyle/>
          <a:p>
            <a:r>
              <a:rPr lang="zh-CN" altLang="en-US" sz="1600" dirty="0"/>
              <a:t>需求分析</a:t>
            </a:r>
          </a:p>
        </p:txBody>
      </p:sp>
      <p:sp>
        <p:nvSpPr>
          <p:cNvPr id="31" name="文本框 30">
            <a:extLst>
              <a:ext uri="{FF2B5EF4-FFF2-40B4-BE49-F238E27FC236}">
                <a16:creationId xmlns:a16="http://schemas.microsoft.com/office/drawing/2014/main" id="{D8719905-62B9-4D70-8DA9-C6C55E668E55}"/>
              </a:ext>
            </a:extLst>
          </p:cNvPr>
          <p:cNvSpPr txBox="1"/>
          <p:nvPr/>
        </p:nvSpPr>
        <p:spPr>
          <a:xfrm>
            <a:off x="2563824" y="3820377"/>
            <a:ext cx="1005403" cy="338554"/>
          </a:xfrm>
          <a:prstGeom prst="rect">
            <a:avLst/>
          </a:prstGeom>
          <a:noFill/>
          <a:ln>
            <a:noFill/>
          </a:ln>
        </p:spPr>
        <p:txBody>
          <a:bodyPr wrap="none" rtlCol="0">
            <a:spAutoFit/>
          </a:bodyPr>
          <a:lstStyle/>
          <a:p>
            <a:r>
              <a:rPr lang="zh-CN" altLang="en-US" sz="1600" dirty="0"/>
              <a:t>需求确认</a:t>
            </a:r>
          </a:p>
        </p:txBody>
      </p:sp>
      <p:cxnSp>
        <p:nvCxnSpPr>
          <p:cNvPr id="36" name="直接箭头连接符 35">
            <a:extLst>
              <a:ext uri="{FF2B5EF4-FFF2-40B4-BE49-F238E27FC236}">
                <a16:creationId xmlns:a16="http://schemas.microsoft.com/office/drawing/2014/main" id="{CDD1B400-D45B-8C8E-4B9C-762C3E7EB93D}"/>
              </a:ext>
            </a:extLst>
          </p:cNvPr>
          <p:cNvCxnSpPr>
            <a:cxnSpLocks/>
            <a:stCxn id="8" idx="6"/>
            <a:endCxn id="5" idx="2"/>
          </p:cNvCxnSpPr>
          <p:nvPr/>
        </p:nvCxnSpPr>
        <p:spPr>
          <a:xfrm>
            <a:off x="1702885" y="3392990"/>
            <a:ext cx="81798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文本框 37">
            <a:extLst>
              <a:ext uri="{FF2B5EF4-FFF2-40B4-BE49-F238E27FC236}">
                <a16:creationId xmlns:a16="http://schemas.microsoft.com/office/drawing/2014/main" id="{AE3C7FF8-8064-ECBF-7F8D-274B52F8B981}"/>
              </a:ext>
            </a:extLst>
          </p:cNvPr>
          <p:cNvSpPr txBox="1"/>
          <p:nvPr/>
        </p:nvSpPr>
        <p:spPr>
          <a:xfrm>
            <a:off x="3096545" y="2933662"/>
            <a:ext cx="1415772" cy="338554"/>
          </a:xfrm>
          <a:prstGeom prst="rect">
            <a:avLst/>
          </a:prstGeom>
          <a:noFill/>
          <a:ln>
            <a:noFill/>
          </a:ln>
        </p:spPr>
        <p:txBody>
          <a:bodyPr wrap="none" rtlCol="0">
            <a:spAutoFit/>
          </a:bodyPr>
          <a:lstStyle/>
          <a:p>
            <a:r>
              <a:rPr lang="zh-CN" altLang="en-US" sz="1600" dirty="0"/>
              <a:t>项目计划评审</a:t>
            </a:r>
          </a:p>
        </p:txBody>
      </p:sp>
      <p:cxnSp>
        <p:nvCxnSpPr>
          <p:cNvPr id="40" name="直接箭头连接符 39">
            <a:extLst>
              <a:ext uri="{FF2B5EF4-FFF2-40B4-BE49-F238E27FC236}">
                <a16:creationId xmlns:a16="http://schemas.microsoft.com/office/drawing/2014/main" id="{319BE934-6D78-A914-D0A0-46A0A0E144A5}"/>
              </a:ext>
            </a:extLst>
          </p:cNvPr>
          <p:cNvCxnSpPr>
            <a:cxnSpLocks/>
            <a:stCxn id="5" idx="6"/>
            <a:endCxn id="16" idx="2"/>
          </p:cNvCxnSpPr>
          <p:nvPr/>
        </p:nvCxnSpPr>
        <p:spPr>
          <a:xfrm>
            <a:off x="3024867" y="3392990"/>
            <a:ext cx="155912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文本框 45">
            <a:extLst>
              <a:ext uri="{FF2B5EF4-FFF2-40B4-BE49-F238E27FC236}">
                <a16:creationId xmlns:a16="http://schemas.microsoft.com/office/drawing/2014/main" id="{E0E34A75-0FD5-7F8B-5EF5-9A832BF8D8BB}"/>
              </a:ext>
            </a:extLst>
          </p:cNvPr>
          <p:cNvSpPr txBox="1"/>
          <p:nvPr/>
        </p:nvSpPr>
        <p:spPr>
          <a:xfrm>
            <a:off x="4994284" y="3601713"/>
            <a:ext cx="1005403" cy="338554"/>
          </a:xfrm>
          <a:prstGeom prst="rect">
            <a:avLst/>
          </a:prstGeom>
          <a:noFill/>
          <a:ln>
            <a:noFill/>
          </a:ln>
        </p:spPr>
        <p:txBody>
          <a:bodyPr wrap="none" rtlCol="0">
            <a:spAutoFit/>
          </a:bodyPr>
          <a:lstStyle/>
          <a:p>
            <a:r>
              <a:rPr lang="zh-CN" altLang="en-US" sz="1600" dirty="0"/>
              <a:t>详细设计</a:t>
            </a:r>
          </a:p>
        </p:txBody>
      </p:sp>
      <p:sp>
        <p:nvSpPr>
          <p:cNvPr id="47" name="文本框 46">
            <a:extLst>
              <a:ext uri="{FF2B5EF4-FFF2-40B4-BE49-F238E27FC236}">
                <a16:creationId xmlns:a16="http://schemas.microsoft.com/office/drawing/2014/main" id="{9076AC74-BEB4-8E12-9379-CE4450C22566}"/>
              </a:ext>
            </a:extLst>
          </p:cNvPr>
          <p:cNvSpPr txBox="1"/>
          <p:nvPr/>
        </p:nvSpPr>
        <p:spPr>
          <a:xfrm>
            <a:off x="4305366" y="2429662"/>
            <a:ext cx="1005403" cy="338554"/>
          </a:xfrm>
          <a:prstGeom prst="rect">
            <a:avLst/>
          </a:prstGeom>
          <a:noFill/>
          <a:ln>
            <a:noFill/>
          </a:ln>
        </p:spPr>
        <p:txBody>
          <a:bodyPr wrap="none" rtlCol="0">
            <a:spAutoFit/>
          </a:bodyPr>
          <a:lstStyle/>
          <a:p>
            <a:r>
              <a:rPr lang="zh-CN" altLang="en-US" sz="1600" dirty="0"/>
              <a:t>概要设计</a:t>
            </a:r>
          </a:p>
        </p:txBody>
      </p:sp>
      <p:cxnSp>
        <p:nvCxnSpPr>
          <p:cNvPr id="49" name="直接箭头连接符 48">
            <a:extLst>
              <a:ext uri="{FF2B5EF4-FFF2-40B4-BE49-F238E27FC236}">
                <a16:creationId xmlns:a16="http://schemas.microsoft.com/office/drawing/2014/main" id="{5EB7AD21-FDCB-F237-7C3D-97048E7A2F5E}"/>
              </a:ext>
            </a:extLst>
          </p:cNvPr>
          <p:cNvCxnSpPr>
            <a:stCxn id="16" idx="6"/>
            <a:endCxn id="19" idx="2"/>
          </p:cNvCxnSpPr>
          <p:nvPr/>
        </p:nvCxnSpPr>
        <p:spPr>
          <a:xfrm>
            <a:off x="5087995" y="3392990"/>
            <a:ext cx="81798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文本框 49">
            <a:extLst>
              <a:ext uri="{FF2B5EF4-FFF2-40B4-BE49-F238E27FC236}">
                <a16:creationId xmlns:a16="http://schemas.microsoft.com/office/drawing/2014/main" id="{940DB254-25A0-CBC0-27C3-5884F4EF5466}"/>
              </a:ext>
            </a:extLst>
          </p:cNvPr>
          <p:cNvSpPr txBox="1"/>
          <p:nvPr/>
        </p:nvSpPr>
        <p:spPr>
          <a:xfrm>
            <a:off x="6521450" y="2933662"/>
            <a:ext cx="595035" cy="338554"/>
          </a:xfrm>
          <a:prstGeom prst="rect">
            <a:avLst/>
          </a:prstGeom>
          <a:noFill/>
          <a:ln>
            <a:noFill/>
          </a:ln>
        </p:spPr>
        <p:txBody>
          <a:bodyPr wrap="none" rtlCol="0">
            <a:spAutoFit/>
          </a:bodyPr>
          <a:lstStyle/>
          <a:p>
            <a:r>
              <a:rPr lang="zh-CN" altLang="en-US" sz="1600" dirty="0"/>
              <a:t>编码</a:t>
            </a:r>
          </a:p>
        </p:txBody>
      </p:sp>
      <p:cxnSp>
        <p:nvCxnSpPr>
          <p:cNvPr id="52" name="直接箭头连接符 51">
            <a:extLst>
              <a:ext uri="{FF2B5EF4-FFF2-40B4-BE49-F238E27FC236}">
                <a16:creationId xmlns:a16="http://schemas.microsoft.com/office/drawing/2014/main" id="{6EF243DA-C3C5-D4F5-DB25-FDE2A11841ED}"/>
              </a:ext>
            </a:extLst>
          </p:cNvPr>
          <p:cNvCxnSpPr>
            <a:stCxn id="19" idx="6"/>
            <a:endCxn id="6" idx="2"/>
          </p:cNvCxnSpPr>
          <p:nvPr/>
        </p:nvCxnSpPr>
        <p:spPr>
          <a:xfrm>
            <a:off x="6409977" y="3392990"/>
            <a:ext cx="81798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5" name="文本框 54">
            <a:extLst>
              <a:ext uri="{FF2B5EF4-FFF2-40B4-BE49-F238E27FC236}">
                <a16:creationId xmlns:a16="http://schemas.microsoft.com/office/drawing/2014/main" id="{6D8B1EAD-6C55-6FFC-2A47-03D76E317CC3}"/>
              </a:ext>
            </a:extLst>
          </p:cNvPr>
          <p:cNvSpPr txBox="1"/>
          <p:nvPr/>
        </p:nvSpPr>
        <p:spPr>
          <a:xfrm>
            <a:off x="7768190" y="2933662"/>
            <a:ext cx="1005403" cy="338554"/>
          </a:xfrm>
          <a:prstGeom prst="rect">
            <a:avLst/>
          </a:prstGeom>
          <a:noFill/>
          <a:ln>
            <a:noFill/>
          </a:ln>
        </p:spPr>
        <p:txBody>
          <a:bodyPr wrap="none" rtlCol="0">
            <a:spAutoFit/>
          </a:bodyPr>
          <a:lstStyle/>
          <a:p>
            <a:r>
              <a:rPr lang="zh-CN" altLang="en-US" sz="1600" dirty="0"/>
              <a:t>集成测试</a:t>
            </a:r>
          </a:p>
        </p:txBody>
      </p:sp>
      <p:sp>
        <p:nvSpPr>
          <p:cNvPr id="58" name="文本框 57">
            <a:extLst>
              <a:ext uri="{FF2B5EF4-FFF2-40B4-BE49-F238E27FC236}">
                <a16:creationId xmlns:a16="http://schemas.microsoft.com/office/drawing/2014/main" id="{599511A3-94D2-1671-CDC5-8A0B439BD115}"/>
              </a:ext>
            </a:extLst>
          </p:cNvPr>
          <p:cNvSpPr txBox="1"/>
          <p:nvPr/>
        </p:nvSpPr>
        <p:spPr>
          <a:xfrm>
            <a:off x="9350054" y="2933662"/>
            <a:ext cx="1005403" cy="338554"/>
          </a:xfrm>
          <a:prstGeom prst="rect">
            <a:avLst/>
          </a:prstGeom>
          <a:noFill/>
          <a:ln>
            <a:noFill/>
          </a:ln>
        </p:spPr>
        <p:txBody>
          <a:bodyPr wrap="none" rtlCol="0">
            <a:spAutoFit/>
          </a:bodyPr>
          <a:lstStyle/>
          <a:p>
            <a:r>
              <a:rPr lang="zh-CN" altLang="en-US" sz="1600" dirty="0"/>
              <a:t>系统测试</a:t>
            </a:r>
          </a:p>
        </p:txBody>
      </p:sp>
      <p:cxnSp>
        <p:nvCxnSpPr>
          <p:cNvPr id="61" name="直接箭头连接符 60">
            <a:extLst>
              <a:ext uri="{FF2B5EF4-FFF2-40B4-BE49-F238E27FC236}">
                <a16:creationId xmlns:a16="http://schemas.microsoft.com/office/drawing/2014/main" id="{EEE295E0-F70E-97E8-7D4A-0AF061AA4745}"/>
              </a:ext>
            </a:extLst>
          </p:cNvPr>
          <p:cNvCxnSpPr>
            <a:stCxn id="11" idx="6"/>
            <a:endCxn id="5" idx="4"/>
          </p:cNvCxnSpPr>
          <p:nvPr/>
        </p:nvCxnSpPr>
        <p:spPr>
          <a:xfrm flipV="1">
            <a:off x="2363876" y="3644990"/>
            <a:ext cx="408991" cy="6893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a:extLst>
              <a:ext uri="{FF2B5EF4-FFF2-40B4-BE49-F238E27FC236}">
                <a16:creationId xmlns:a16="http://schemas.microsoft.com/office/drawing/2014/main" id="{DDBFC6B8-0DED-8A5C-D8F1-735547C17F95}"/>
              </a:ext>
            </a:extLst>
          </p:cNvPr>
          <p:cNvCxnSpPr>
            <a:stCxn id="16" idx="0"/>
            <a:endCxn id="18" idx="3"/>
          </p:cNvCxnSpPr>
          <p:nvPr/>
        </p:nvCxnSpPr>
        <p:spPr>
          <a:xfrm flipV="1">
            <a:off x="4835995" y="2508224"/>
            <a:ext cx="548583" cy="63276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接箭头连接符 64">
            <a:extLst>
              <a:ext uri="{FF2B5EF4-FFF2-40B4-BE49-F238E27FC236}">
                <a16:creationId xmlns:a16="http://schemas.microsoft.com/office/drawing/2014/main" id="{45B33739-D73B-0E39-35A1-DA41E46B157F}"/>
              </a:ext>
            </a:extLst>
          </p:cNvPr>
          <p:cNvCxnSpPr>
            <a:stCxn id="18" idx="5"/>
            <a:endCxn id="19" idx="0"/>
          </p:cNvCxnSpPr>
          <p:nvPr/>
        </p:nvCxnSpPr>
        <p:spPr>
          <a:xfrm>
            <a:off x="5740960" y="2508224"/>
            <a:ext cx="417017" cy="632766"/>
          </a:xfrm>
          <a:prstGeom prst="straightConnector1">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0973002"/>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a:extLst>
              <a:ext uri="{FF2B5EF4-FFF2-40B4-BE49-F238E27FC236}">
                <a16:creationId xmlns:a16="http://schemas.microsoft.com/office/drawing/2014/main" id="{6E7A7C02-DAB8-2139-4D9A-EF3985C00A8C}"/>
              </a:ext>
            </a:extLst>
          </p:cNvPr>
          <p:cNvSpPr/>
          <p:nvPr/>
        </p:nvSpPr>
        <p:spPr>
          <a:xfrm>
            <a:off x="3980116" y="3464522"/>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1</a:t>
            </a:r>
            <a:endParaRPr lang="zh-CN" altLang="en-US" sz="1600" dirty="0">
              <a:solidFill>
                <a:schemeClr val="tx1"/>
              </a:solidFill>
            </a:endParaRPr>
          </a:p>
        </p:txBody>
      </p:sp>
      <p:sp>
        <p:nvSpPr>
          <p:cNvPr id="6" name="椭圆 5">
            <a:extLst>
              <a:ext uri="{FF2B5EF4-FFF2-40B4-BE49-F238E27FC236}">
                <a16:creationId xmlns:a16="http://schemas.microsoft.com/office/drawing/2014/main" id="{3941E4D0-6EA9-B7D4-A26A-92EAB98B9E86}"/>
              </a:ext>
            </a:extLst>
          </p:cNvPr>
          <p:cNvSpPr/>
          <p:nvPr/>
        </p:nvSpPr>
        <p:spPr>
          <a:xfrm>
            <a:off x="5056568" y="2361269"/>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2</a:t>
            </a:r>
            <a:endParaRPr lang="zh-CN" altLang="en-US" sz="1600" dirty="0">
              <a:solidFill>
                <a:schemeClr val="tx1"/>
              </a:solidFill>
            </a:endParaRPr>
          </a:p>
        </p:txBody>
      </p:sp>
      <p:sp>
        <p:nvSpPr>
          <p:cNvPr id="8" name="椭圆 7">
            <a:extLst>
              <a:ext uri="{FF2B5EF4-FFF2-40B4-BE49-F238E27FC236}">
                <a16:creationId xmlns:a16="http://schemas.microsoft.com/office/drawing/2014/main" id="{BAE43D7C-7E23-E8EF-6478-1F8107170FDE}"/>
              </a:ext>
            </a:extLst>
          </p:cNvPr>
          <p:cNvSpPr/>
          <p:nvPr/>
        </p:nvSpPr>
        <p:spPr>
          <a:xfrm>
            <a:off x="7209473" y="2361269"/>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4</a:t>
            </a:r>
            <a:endParaRPr lang="zh-CN" altLang="en-US" sz="1600" dirty="0">
              <a:solidFill>
                <a:schemeClr val="tx1"/>
              </a:solidFill>
            </a:endParaRPr>
          </a:p>
        </p:txBody>
      </p:sp>
      <p:sp>
        <p:nvSpPr>
          <p:cNvPr id="10" name="椭圆 9">
            <a:extLst>
              <a:ext uri="{FF2B5EF4-FFF2-40B4-BE49-F238E27FC236}">
                <a16:creationId xmlns:a16="http://schemas.microsoft.com/office/drawing/2014/main" id="{3667BF8F-73ED-D2E2-F717-9184303D48AF}"/>
              </a:ext>
            </a:extLst>
          </p:cNvPr>
          <p:cNvSpPr/>
          <p:nvPr/>
        </p:nvSpPr>
        <p:spPr>
          <a:xfrm>
            <a:off x="1920732" y="3464522"/>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S</a:t>
            </a:r>
            <a:endParaRPr lang="zh-CN" altLang="en-US" sz="1600" dirty="0">
              <a:solidFill>
                <a:schemeClr val="tx1"/>
              </a:solidFill>
            </a:endParaRPr>
          </a:p>
        </p:txBody>
      </p:sp>
      <p:sp>
        <p:nvSpPr>
          <p:cNvPr id="30" name="椭圆 29">
            <a:extLst>
              <a:ext uri="{FF2B5EF4-FFF2-40B4-BE49-F238E27FC236}">
                <a16:creationId xmlns:a16="http://schemas.microsoft.com/office/drawing/2014/main" id="{FF5AFDFE-ADD4-1182-4B25-72CD09D0360A}"/>
              </a:ext>
            </a:extLst>
          </p:cNvPr>
          <p:cNvSpPr/>
          <p:nvPr/>
        </p:nvSpPr>
        <p:spPr>
          <a:xfrm>
            <a:off x="6133020" y="3461593"/>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3</a:t>
            </a:r>
            <a:endParaRPr lang="zh-CN" altLang="en-US" sz="1600" dirty="0">
              <a:solidFill>
                <a:schemeClr val="tx1"/>
              </a:solidFill>
            </a:endParaRPr>
          </a:p>
        </p:txBody>
      </p:sp>
      <p:sp>
        <p:nvSpPr>
          <p:cNvPr id="37" name="文本框 36">
            <a:extLst>
              <a:ext uri="{FF2B5EF4-FFF2-40B4-BE49-F238E27FC236}">
                <a16:creationId xmlns:a16="http://schemas.microsoft.com/office/drawing/2014/main" id="{F52F0372-5392-58A4-49F9-EFEB42108812}"/>
              </a:ext>
            </a:extLst>
          </p:cNvPr>
          <p:cNvSpPr txBox="1"/>
          <p:nvPr/>
        </p:nvSpPr>
        <p:spPr>
          <a:xfrm>
            <a:off x="2697598" y="3276927"/>
            <a:ext cx="1361270" cy="369332"/>
          </a:xfrm>
          <a:prstGeom prst="rect">
            <a:avLst/>
          </a:prstGeom>
          <a:noFill/>
          <a:ln>
            <a:noFill/>
          </a:ln>
        </p:spPr>
        <p:txBody>
          <a:bodyPr wrap="none" rtlCol="0">
            <a:spAutoFit/>
          </a:bodyPr>
          <a:lstStyle/>
          <a:p>
            <a:r>
              <a:rPr lang="en-US" altLang="zh-CN" dirty="0"/>
              <a:t>A-</a:t>
            </a:r>
            <a:r>
              <a:rPr lang="zh-CN" altLang="en-US" dirty="0"/>
              <a:t>需求分析</a:t>
            </a:r>
          </a:p>
        </p:txBody>
      </p:sp>
      <p:sp>
        <p:nvSpPr>
          <p:cNvPr id="38" name="文本框 37">
            <a:extLst>
              <a:ext uri="{FF2B5EF4-FFF2-40B4-BE49-F238E27FC236}">
                <a16:creationId xmlns:a16="http://schemas.microsoft.com/office/drawing/2014/main" id="{0C2744B8-3990-3C97-84D5-4203AC2DB825}"/>
              </a:ext>
            </a:extLst>
          </p:cNvPr>
          <p:cNvSpPr txBox="1"/>
          <p:nvPr/>
        </p:nvSpPr>
        <p:spPr>
          <a:xfrm>
            <a:off x="3620475" y="2604873"/>
            <a:ext cx="1160895" cy="369332"/>
          </a:xfrm>
          <a:prstGeom prst="rect">
            <a:avLst/>
          </a:prstGeom>
          <a:noFill/>
          <a:ln>
            <a:noFill/>
          </a:ln>
        </p:spPr>
        <p:txBody>
          <a:bodyPr wrap="none" rtlCol="0">
            <a:spAutoFit/>
          </a:bodyPr>
          <a:lstStyle/>
          <a:p>
            <a:r>
              <a:rPr lang="en-US" altLang="zh-CN" dirty="0"/>
              <a:t>B-UI</a:t>
            </a:r>
            <a:r>
              <a:rPr lang="zh-CN" altLang="en-US" dirty="0"/>
              <a:t>设计</a:t>
            </a:r>
          </a:p>
        </p:txBody>
      </p:sp>
      <p:sp>
        <p:nvSpPr>
          <p:cNvPr id="40" name="文本框 39">
            <a:extLst>
              <a:ext uri="{FF2B5EF4-FFF2-40B4-BE49-F238E27FC236}">
                <a16:creationId xmlns:a16="http://schemas.microsoft.com/office/drawing/2014/main" id="{B71DE40E-D4E7-0293-0D1B-32B33B2A0560}"/>
              </a:ext>
            </a:extLst>
          </p:cNvPr>
          <p:cNvSpPr txBox="1"/>
          <p:nvPr/>
        </p:nvSpPr>
        <p:spPr>
          <a:xfrm>
            <a:off x="5709562" y="2270659"/>
            <a:ext cx="1386918" cy="369332"/>
          </a:xfrm>
          <a:prstGeom prst="rect">
            <a:avLst/>
          </a:prstGeom>
          <a:noFill/>
          <a:ln>
            <a:noFill/>
          </a:ln>
        </p:spPr>
        <p:txBody>
          <a:bodyPr wrap="none" rtlCol="0">
            <a:spAutoFit/>
          </a:bodyPr>
          <a:lstStyle/>
          <a:p>
            <a:r>
              <a:rPr lang="en-US" altLang="zh-CN" dirty="0"/>
              <a:t>D-</a:t>
            </a:r>
            <a:r>
              <a:rPr lang="zh-CN" altLang="en-US" dirty="0"/>
              <a:t>前端开发</a:t>
            </a:r>
          </a:p>
        </p:txBody>
      </p:sp>
      <p:sp>
        <p:nvSpPr>
          <p:cNvPr id="41" name="文本框 40">
            <a:extLst>
              <a:ext uri="{FF2B5EF4-FFF2-40B4-BE49-F238E27FC236}">
                <a16:creationId xmlns:a16="http://schemas.microsoft.com/office/drawing/2014/main" id="{450F67D7-12C7-B50F-934C-901FDD934F56}"/>
              </a:ext>
            </a:extLst>
          </p:cNvPr>
          <p:cNvSpPr txBox="1"/>
          <p:nvPr/>
        </p:nvSpPr>
        <p:spPr>
          <a:xfrm>
            <a:off x="4529715" y="3785119"/>
            <a:ext cx="1593706" cy="369332"/>
          </a:xfrm>
          <a:prstGeom prst="rect">
            <a:avLst/>
          </a:prstGeom>
          <a:noFill/>
          <a:ln>
            <a:noFill/>
          </a:ln>
        </p:spPr>
        <p:txBody>
          <a:bodyPr wrap="none" rtlCol="0">
            <a:spAutoFit/>
          </a:bodyPr>
          <a:lstStyle/>
          <a:p>
            <a:r>
              <a:rPr lang="en-US" altLang="zh-CN" dirty="0"/>
              <a:t>C-</a:t>
            </a:r>
            <a:r>
              <a:rPr lang="zh-CN" altLang="en-US" dirty="0"/>
              <a:t>数据库设计</a:t>
            </a:r>
          </a:p>
        </p:txBody>
      </p:sp>
      <p:sp>
        <p:nvSpPr>
          <p:cNvPr id="3" name="文本框 2">
            <a:extLst>
              <a:ext uri="{FF2B5EF4-FFF2-40B4-BE49-F238E27FC236}">
                <a16:creationId xmlns:a16="http://schemas.microsoft.com/office/drawing/2014/main" id="{44DB7623-245F-9BA3-AC41-C1048D753061}"/>
              </a:ext>
            </a:extLst>
          </p:cNvPr>
          <p:cNvSpPr txBox="1"/>
          <p:nvPr/>
        </p:nvSpPr>
        <p:spPr>
          <a:xfrm>
            <a:off x="696000" y="5925446"/>
            <a:ext cx="7771679" cy="338554"/>
          </a:xfrm>
          <a:prstGeom prst="rect">
            <a:avLst/>
          </a:prstGeom>
          <a:noFill/>
        </p:spPr>
        <p:txBody>
          <a:bodyPr wrap="none" rtlCol="0">
            <a:spAutoFit/>
          </a:bodyPr>
          <a:lstStyle/>
          <a:p>
            <a:pPr algn="l"/>
            <a:r>
              <a:rPr lang="zh-CN" altLang="en-US" sz="1600" dirty="0"/>
              <a:t>虚线：虚活动；仅表示关系；不消耗时间，也不消耗资源；多用于表示并行的关系</a:t>
            </a:r>
          </a:p>
        </p:txBody>
      </p:sp>
      <p:cxnSp>
        <p:nvCxnSpPr>
          <p:cNvPr id="11" name="直接箭头连接符 10">
            <a:extLst>
              <a:ext uri="{FF2B5EF4-FFF2-40B4-BE49-F238E27FC236}">
                <a16:creationId xmlns:a16="http://schemas.microsoft.com/office/drawing/2014/main" id="{1DE5EF1A-E9DC-C527-967F-57BD771A1F93}"/>
              </a:ext>
            </a:extLst>
          </p:cNvPr>
          <p:cNvCxnSpPr>
            <a:cxnSpLocks/>
            <a:stCxn id="10" idx="6"/>
            <a:endCxn id="5" idx="2"/>
          </p:cNvCxnSpPr>
          <p:nvPr/>
        </p:nvCxnSpPr>
        <p:spPr>
          <a:xfrm>
            <a:off x="2460732" y="3734522"/>
            <a:ext cx="151938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47821F7C-630A-8D8B-8E0A-66C4DAF64139}"/>
              </a:ext>
            </a:extLst>
          </p:cNvPr>
          <p:cNvCxnSpPr>
            <a:cxnSpLocks/>
            <a:stCxn id="5" idx="0"/>
            <a:endCxn id="6" idx="2"/>
          </p:cNvCxnSpPr>
          <p:nvPr/>
        </p:nvCxnSpPr>
        <p:spPr>
          <a:xfrm flipV="1">
            <a:off x="4250116" y="2631269"/>
            <a:ext cx="806452" cy="83325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F3B090AA-4A77-A6B7-C142-0D02FC6985E4}"/>
              </a:ext>
            </a:extLst>
          </p:cNvPr>
          <p:cNvCxnSpPr>
            <a:cxnSpLocks/>
            <a:stCxn id="5" idx="6"/>
            <a:endCxn id="30" idx="2"/>
          </p:cNvCxnSpPr>
          <p:nvPr/>
        </p:nvCxnSpPr>
        <p:spPr>
          <a:xfrm flipV="1">
            <a:off x="4520116" y="3731593"/>
            <a:ext cx="1612904" cy="292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C15D0818-6CBA-DE40-AD14-1EE0CDDD1188}"/>
              </a:ext>
            </a:extLst>
          </p:cNvPr>
          <p:cNvCxnSpPr>
            <a:cxnSpLocks/>
            <a:stCxn id="5" idx="6"/>
            <a:endCxn id="8" idx="3"/>
          </p:cNvCxnSpPr>
          <p:nvPr/>
        </p:nvCxnSpPr>
        <p:spPr>
          <a:xfrm flipV="1">
            <a:off x="4520116" y="2822188"/>
            <a:ext cx="2768438" cy="912334"/>
          </a:xfrm>
          <a:prstGeom prst="straightConnector1">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61" name="直接箭头连接符 60">
            <a:extLst>
              <a:ext uri="{FF2B5EF4-FFF2-40B4-BE49-F238E27FC236}">
                <a16:creationId xmlns:a16="http://schemas.microsoft.com/office/drawing/2014/main" id="{7606EFF9-87D7-D743-F65F-0BCDFE562C2C}"/>
              </a:ext>
            </a:extLst>
          </p:cNvPr>
          <p:cNvCxnSpPr>
            <a:cxnSpLocks/>
            <a:stCxn id="6" idx="6"/>
            <a:endCxn id="8" idx="2"/>
          </p:cNvCxnSpPr>
          <p:nvPr/>
        </p:nvCxnSpPr>
        <p:spPr>
          <a:xfrm>
            <a:off x="5596568" y="2631269"/>
            <a:ext cx="161290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0" name="椭圆 69">
            <a:extLst>
              <a:ext uri="{FF2B5EF4-FFF2-40B4-BE49-F238E27FC236}">
                <a16:creationId xmlns:a16="http://schemas.microsoft.com/office/drawing/2014/main" id="{FD962901-6600-CE9D-49DB-EAAD9C4DE7D2}"/>
              </a:ext>
            </a:extLst>
          </p:cNvPr>
          <p:cNvSpPr/>
          <p:nvPr/>
        </p:nvSpPr>
        <p:spPr>
          <a:xfrm>
            <a:off x="8245332" y="3461593"/>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a:t>
            </a:r>
            <a:endParaRPr lang="zh-CN" altLang="en-US" sz="1600" dirty="0">
              <a:solidFill>
                <a:schemeClr val="tx1"/>
              </a:solidFill>
            </a:endParaRPr>
          </a:p>
        </p:txBody>
      </p:sp>
      <p:cxnSp>
        <p:nvCxnSpPr>
          <p:cNvPr id="72" name="直接箭头连接符 71">
            <a:extLst>
              <a:ext uri="{FF2B5EF4-FFF2-40B4-BE49-F238E27FC236}">
                <a16:creationId xmlns:a16="http://schemas.microsoft.com/office/drawing/2014/main" id="{E4726992-EB18-F38C-7981-3453E421E9B7}"/>
              </a:ext>
            </a:extLst>
          </p:cNvPr>
          <p:cNvCxnSpPr>
            <a:stCxn id="8" idx="5"/>
            <a:endCxn id="70" idx="1"/>
          </p:cNvCxnSpPr>
          <p:nvPr/>
        </p:nvCxnSpPr>
        <p:spPr>
          <a:xfrm>
            <a:off x="7670392" y="2822188"/>
            <a:ext cx="654021" cy="71848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接箭头连接符 73">
            <a:extLst>
              <a:ext uri="{FF2B5EF4-FFF2-40B4-BE49-F238E27FC236}">
                <a16:creationId xmlns:a16="http://schemas.microsoft.com/office/drawing/2014/main" id="{4DA6FAB3-BC6D-BAA1-4A3A-0D36464981F5}"/>
              </a:ext>
            </a:extLst>
          </p:cNvPr>
          <p:cNvCxnSpPr>
            <a:stCxn id="30" idx="6"/>
            <a:endCxn id="70" idx="2"/>
          </p:cNvCxnSpPr>
          <p:nvPr/>
        </p:nvCxnSpPr>
        <p:spPr>
          <a:xfrm>
            <a:off x="6673020" y="3731593"/>
            <a:ext cx="157231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5" name="椭圆 74">
            <a:extLst>
              <a:ext uri="{FF2B5EF4-FFF2-40B4-BE49-F238E27FC236}">
                <a16:creationId xmlns:a16="http://schemas.microsoft.com/office/drawing/2014/main" id="{1C77D7D1-446C-80E7-A49A-655F12516F3C}"/>
              </a:ext>
            </a:extLst>
          </p:cNvPr>
          <p:cNvSpPr/>
          <p:nvPr/>
        </p:nvSpPr>
        <p:spPr>
          <a:xfrm>
            <a:off x="9578832" y="3461593"/>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E</a:t>
            </a:r>
            <a:endParaRPr lang="zh-CN" altLang="en-US" sz="1600" dirty="0">
              <a:solidFill>
                <a:schemeClr val="tx1"/>
              </a:solidFill>
            </a:endParaRPr>
          </a:p>
        </p:txBody>
      </p:sp>
      <p:cxnSp>
        <p:nvCxnSpPr>
          <p:cNvPr id="77" name="直接箭头连接符 76">
            <a:extLst>
              <a:ext uri="{FF2B5EF4-FFF2-40B4-BE49-F238E27FC236}">
                <a16:creationId xmlns:a16="http://schemas.microsoft.com/office/drawing/2014/main" id="{E9954410-F4A5-C4AE-884B-4D7FD6CA8227}"/>
              </a:ext>
            </a:extLst>
          </p:cNvPr>
          <p:cNvCxnSpPr>
            <a:stCxn id="70" idx="6"/>
            <a:endCxn id="75" idx="2"/>
          </p:cNvCxnSpPr>
          <p:nvPr/>
        </p:nvCxnSpPr>
        <p:spPr>
          <a:xfrm>
            <a:off x="8785332" y="3731593"/>
            <a:ext cx="7935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3848440"/>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a:extLst>
              <a:ext uri="{FF2B5EF4-FFF2-40B4-BE49-F238E27FC236}">
                <a16:creationId xmlns:a16="http://schemas.microsoft.com/office/drawing/2014/main" id="{EA21CBBC-8AA4-E5B6-23F0-E5B35CC71680}"/>
              </a:ext>
            </a:extLst>
          </p:cNvPr>
          <p:cNvSpPr/>
          <p:nvPr/>
        </p:nvSpPr>
        <p:spPr>
          <a:xfrm>
            <a:off x="4261184" y="2399381"/>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tx1"/>
                </a:solidFill>
              </a:rPr>
              <a:t>2</a:t>
            </a:r>
            <a:endParaRPr lang="zh-CN" altLang="en-US" sz="1600">
              <a:solidFill>
                <a:schemeClr val="tx1"/>
              </a:solidFill>
            </a:endParaRPr>
          </a:p>
        </p:txBody>
      </p:sp>
      <p:sp>
        <p:nvSpPr>
          <p:cNvPr id="3" name="椭圆 2">
            <a:extLst>
              <a:ext uri="{FF2B5EF4-FFF2-40B4-BE49-F238E27FC236}">
                <a16:creationId xmlns:a16="http://schemas.microsoft.com/office/drawing/2014/main" id="{DE9D1BCC-AF4A-9800-1F2B-0AF4D9C8C3A1}"/>
              </a:ext>
            </a:extLst>
          </p:cNvPr>
          <p:cNvSpPr/>
          <p:nvPr/>
        </p:nvSpPr>
        <p:spPr>
          <a:xfrm>
            <a:off x="5366084" y="1885031"/>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tx1"/>
                </a:solidFill>
              </a:rPr>
              <a:t>4</a:t>
            </a:r>
            <a:endParaRPr lang="zh-CN" altLang="en-US" sz="1600">
              <a:solidFill>
                <a:schemeClr val="tx1"/>
              </a:solidFill>
            </a:endParaRPr>
          </a:p>
        </p:txBody>
      </p:sp>
      <p:sp>
        <p:nvSpPr>
          <p:cNvPr id="4" name="椭圆 3">
            <a:extLst>
              <a:ext uri="{FF2B5EF4-FFF2-40B4-BE49-F238E27FC236}">
                <a16:creationId xmlns:a16="http://schemas.microsoft.com/office/drawing/2014/main" id="{CD18D98E-4DA2-DE9B-178F-7658CFFE9260}"/>
              </a:ext>
            </a:extLst>
          </p:cNvPr>
          <p:cNvSpPr/>
          <p:nvPr/>
        </p:nvSpPr>
        <p:spPr>
          <a:xfrm>
            <a:off x="6282213" y="3097869"/>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5</a:t>
            </a:r>
            <a:endParaRPr lang="zh-CN" altLang="en-US" sz="1600" dirty="0">
              <a:solidFill>
                <a:schemeClr val="tx1"/>
              </a:solidFill>
            </a:endParaRPr>
          </a:p>
        </p:txBody>
      </p:sp>
      <p:sp>
        <p:nvSpPr>
          <p:cNvPr id="5" name="椭圆 4">
            <a:extLst>
              <a:ext uri="{FF2B5EF4-FFF2-40B4-BE49-F238E27FC236}">
                <a16:creationId xmlns:a16="http://schemas.microsoft.com/office/drawing/2014/main" id="{337D60C0-15CB-F251-5434-B2E3CB26A020}"/>
              </a:ext>
            </a:extLst>
          </p:cNvPr>
          <p:cNvSpPr/>
          <p:nvPr/>
        </p:nvSpPr>
        <p:spPr>
          <a:xfrm>
            <a:off x="4899582" y="3670107"/>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tx1"/>
                </a:solidFill>
              </a:rPr>
              <a:t>3</a:t>
            </a:r>
            <a:endParaRPr lang="zh-CN" altLang="en-US" sz="1600">
              <a:solidFill>
                <a:schemeClr val="tx1"/>
              </a:solidFill>
            </a:endParaRPr>
          </a:p>
        </p:txBody>
      </p:sp>
      <p:sp>
        <p:nvSpPr>
          <p:cNvPr id="6" name="椭圆 5">
            <a:extLst>
              <a:ext uri="{FF2B5EF4-FFF2-40B4-BE49-F238E27FC236}">
                <a16:creationId xmlns:a16="http://schemas.microsoft.com/office/drawing/2014/main" id="{9DBF416B-892C-B3C6-F01A-8E9171B37D08}"/>
              </a:ext>
            </a:extLst>
          </p:cNvPr>
          <p:cNvSpPr/>
          <p:nvPr/>
        </p:nvSpPr>
        <p:spPr>
          <a:xfrm>
            <a:off x="7934844" y="3097869"/>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rPr>
              <a:t>结束</a:t>
            </a:r>
          </a:p>
        </p:txBody>
      </p:sp>
      <p:sp>
        <p:nvSpPr>
          <p:cNvPr id="7" name="椭圆 6">
            <a:extLst>
              <a:ext uri="{FF2B5EF4-FFF2-40B4-BE49-F238E27FC236}">
                <a16:creationId xmlns:a16="http://schemas.microsoft.com/office/drawing/2014/main" id="{FE460BAB-6CBF-EA9C-BB23-E4CC27E0CD25}"/>
              </a:ext>
            </a:extLst>
          </p:cNvPr>
          <p:cNvSpPr/>
          <p:nvPr/>
        </p:nvSpPr>
        <p:spPr>
          <a:xfrm>
            <a:off x="2911332" y="2971856"/>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开始</a:t>
            </a:r>
          </a:p>
        </p:txBody>
      </p:sp>
      <p:cxnSp>
        <p:nvCxnSpPr>
          <p:cNvPr id="8" name="连接符: 肘形 7">
            <a:extLst>
              <a:ext uri="{FF2B5EF4-FFF2-40B4-BE49-F238E27FC236}">
                <a16:creationId xmlns:a16="http://schemas.microsoft.com/office/drawing/2014/main" id="{30EE38E1-4674-1D3E-1BCB-160923BD2A63}"/>
              </a:ext>
            </a:extLst>
          </p:cNvPr>
          <p:cNvCxnSpPr>
            <a:cxnSpLocks/>
            <a:stCxn id="7" idx="6"/>
            <a:endCxn id="2" idx="2"/>
          </p:cNvCxnSpPr>
          <p:nvPr/>
        </p:nvCxnSpPr>
        <p:spPr>
          <a:xfrm flipV="1">
            <a:off x="3451332" y="2669381"/>
            <a:ext cx="809852" cy="572475"/>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连接符: 肘形 8">
            <a:extLst>
              <a:ext uri="{FF2B5EF4-FFF2-40B4-BE49-F238E27FC236}">
                <a16:creationId xmlns:a16="http://schemas.microsoft.com/office/drawing/2014/main" id="{19088F9A-4BD1-56EC-04D7-AA25DFDC9B2C}"/>
              </a:ext>
            </a:extLst>
          </p:cNvPr>
          <p:cNvCxnSpPr>
            <a:cxnSpLocks/>
            <a:stCxn id="7" idx="6"/>
            <a:endCxn id="5" idx="2"/>
          </p:cNvCxnSpPr>
          <p:nvPr/>
        </p:nvCxnSpPr>
        <p:spPr>
          <a:xfrm>
            <a:off x="3451332" y="3241856"/>
            <a:ext cx="1448250" cy="698251"/>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连接符: 肘形 9">
            <a:extLst>
              <a:ext uri="{FF2B5EF4-FFF2-40B4-BE49-F238E27FC236}">
                <a16:creationId xmlns:a16="http://schemas.microsoft.com/office/drawing/2014/main" id="{1AB87C88-ED53-39EB-663C-8AB304CE8146}"/>
              </a:ext>
            </a:extLst>
          </p:cNvPr>
          <p:cNvCxnSpPr>
            <a:cxnSpLocks/>
            <a:stCxn id="2" idx="6"/>
            <a:endCxn id="3" idx="2"/>
          </p:cNvCxnSpPr>
          <p:nvPr/>
        </p:nvCxnSpPr>
        <p:spPr>
          <a:xfrm flipV="1">
            <a:off x="4801184" y="2155031"/>
            <a:ext cx="564900" cy="514350"/>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连接符: 肘形 10">
            <a:extLst>
              <a:ext uri="{FF2B5EF4-FFF2-40B4-BE49-F238E27FC236}">
                <a16:creationId xmlns:a16="http://schemas.microsoft.com/office/drawing/2014/main" id="{E49B84A0-8631-5031-83FE-190E1534FC57}"/>
              </a:ext>
            </a:extLst>
          </p:cNvPr>
          <p:cNvCxnSpPr>
            <a:cxnSpLocks/>
            <a:stCxn id="2" idx="6"/>
            <a:endCxn id="4" idx="2"/>
          </p:cNvCxnSpPr>
          <p:nvPr/>
        </p:nvCxnSpPr>
        <p:spPr>
          <a:xfrm>
            <a:off x="4801184" y="2669381"/>
            <a:ext cx="1481029" cy="698488"/>
          </a:xfrm>
          <a:prstGeom prst="bentConnector3">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12" name="连接符: 肘形 11">
            <a:extLst>
              <a:ext uri="{FF2B5EF4-FFF2-40B4-BE49-F238E27FC236}">
                <a16:creationId xmlns:a16="http://schemas.microsoft.com/office/drawing/2014/main" id="{E4A33F97-5836-9BC7-0416-DEA994B02C98}"/>
              </a:ext>
            </a:extLst>
          </p:cNvPr>
          <p:cNvCxnSpPr>
            <a:cxnSpLocks/>
            <a:stCxn id="5" idx="6"/>
            <a:endCxn id="4" idx="2"/>
          </p:cNvCxnSpPr>
          <p:nvPr/>
        </p:nvCxnSpPr>
        <p:spPr>
          <a:xfrm flipV="1">
            <a:off x="5439582" y="3367869"/>
            <a:ext cx="842631" cy="572238"/>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连接符: 肘形 12">
            <a:extLst>
              <a:ext uri="{FF2B5EF4-FFF2-40B4-BE49-F238E27FC236}">
                <a16:creationId xmlns:a16="http://schemas.microsoft.com/office/drawing/2014/main" id="{7EE9D5CF-17A2-788C-3377-96513DBAE0B5}"/>
              </a:ext>
            </a:extLst>
          </p:cNvPr>
          <p:cNvCxnSpPr>
            <a:cxnSpLocks/>
            <a:stCxn id="3" idx="6"/>
            <a:endCxn id="6" idx="0"/>
          </p:cNvCxnSpPr>
          <p:nvPr/>
        </p:nvCxnSpPr>
        <p:spPr>
          <a:xfrm>
            <a:off x="5906084" y="2155031"/>
            <a:ext cx="2298760" cy="942838"/>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椭圆 13">
            <a:extLst>
              <a:ext uri="{FF2B5EF4-FFF2-40B4-BE49-F238E27FC236}">
                <a16:creationId xmlns:a16="http://schemas.microsoft.com/office/drawing/2014/main" id="{9439774F-E434-05AF-5DC0-4FFD2ADA07A2}"/>
              </a:ext>
            </a:extLst>
          </p:cNvPr>
          <p:cNvSpPr/>
          <p:nvPr/>
        </p:nvSpPr>
        <p:spPr>
          <a:xfrm>
            <a:off x="7010733" y="4242582"/>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tx1"/>
                </a:solidFill>
              </a:rPr>
              <a:t>6</a:t>
            </a:r>
            <a:endParaRPr lang="zh-CN" altLang="en-US" sz="1600">
              <a:solidFill>
                <a:schemeClr val="tx1"/>
              </a:solidFill>
            </a:endParaRPr>
          </a:p>
        </p:txBody>
      </p:sp>
      <p:sp>
        <p:nvSpPr>
          <p:cNvPr id="15" name="椭圆 14">
            <a:extLst>
              <a:ext uri="{FF2B5EF4-FFF2-40B4-BE49-F238E27FC236}">
                <a16:creationId xmlns:a16="http://schemas.microsoft.com/office/drawing/2014/main" id="{C96BEFE0-F08E-1DE3-B504-B5CB964A0AEB}"/>
              </a:ext>
            </a:extLst>
          </p:cNvPr>
          <p:cNvSpPr/>
          <p:nvPr/>
        </p:nvSpPr>
        <p:spPr>
          <a:xfrm>
            <a:off x="4000833" y="4242582"/>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tx1"/>
                </a:solidFill>
              </a:rPr>
              <a:t>1</a:t>
            </a:r>
            <a:endParaRPr lang="zh-CN" altLang="en-US" sz="1600">
              <a:solidFill>
                <a:schemeClr val="tx1"/>
              </a:solidFill>
            </a:endParaRPr>
          </a:p>
        </p:txBody>
      </p:sp>
      <p:cxnSp>
        <p:nvCxnSpPr>
          <p:cNvPr id="16" name="连接符: 肘形 15">
            <a:extLst>
              <a:ext uri="{FF2B5EF4-FFF2-40B4-BE49-F238E27FC236}">
                <a16:creationId xmlns:a16="http://schemas.microsoft.com/office/drawing/2014/main" id="{4A7E424F-EF76-54DC-1CFD-B2A6561FF3E5}"/>
              </a:ext>
            </a:extLst>
          </p:cNvPr>
          <p:cNvCxnSpPr>
            <a:cxnSpLocks/>
            <a:stCxn id="7" idx="4"/>
            <a:endCxn id="15" idx="2"/>
          </p:cNvCxnSpPr>
          <p:nvPr/>
        </p:nvCxnSpPr>
        <p:spPr>
          <a:xfrm rot="16200000" flipH="1">
            <a:off x="3090719" y="3602468"/>
            <a:ext cx="1000726" cy="819501"/>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连接符: 肘形 16">
            <a:extLst>
              <a:ext uri="{FF2B5EF4-FFF2-40B4-BE49-F238E27FC236}">
                <a16:creationId xmlns:a16="http://schemas.microsoft.com/office/drawing/2014/main" id="{EDED4199-220A-48C4-A458-81DF5653101B}"/>
              </a:ext>
            </a:extLst>
          </p:cNvPr>
          <p:cNvCxnSpPr>
            <a:cxnSpLocks/>
            <a:stCxn id="14" idx="6"/>
            <a:endCxn id="6" idx="4"/>
          </p:cNvCxnSpPr>
          <p:nvPr/>
        </p:nvCxnSpPr>
        <p:spPr>
          <a:xfrm flipV="1">
            <a:off x="7550733" y="3637869"/>
            <a:ext cx="654111" cy="87471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3B8BC616-98D6-37F5-F364-79B611AAC57D}"/>
              </a:ext>
            </a:extLst>
          </p:cNvPr>
          <p:cNvCxnSpPr>
            <a:cxnSpLocks/>
            <a:stCxn id="15" idx="6"/>
            <a:endCxn id="14" idx="2"/>
          </p:cNvCxnSpPr>
          <p:nvPr/>
        </p:nvCxnSpPr>
        <p:spPr>
          <a:xfrm>
            <a:off x="4540833" y="4512582"/>
            <a:ext cx="24699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C5AC3C8E-6BD3-1EC2-93B9-1A3E48E5CEEC}"/>
              </a:ext>
            </a:extLst>
          </p:cNvPr>
          <p:cNvSpPr txBox="1"/>
          <p:nvPr/>
        </p:nvSpPr>
        <p:spPr>
          <a:xfrm>
            <a:off x="3528948" y="2548365"/>
            <a:ext cx="349776" cy="369332"/>
          </a:xfrm>
          <a:prstGeom prst="rect">
            <a:avLst/>
          </a:prstGeom>
          <a:noFill/>
          <a:ln>
            <a:noFill/>
          </a:ln>
        </p:spPr>
        <p:txBody>
          <a:bodyPr wrap="none" rtlCol="0">
            <a:spAutoFit/>
          </a:bodyPr>
          <a:lstStyle/>
          <a:p>
            <a:r>
              <a:rPr lang="en-US" altLang="zh-CN" dirty="0"/>
              <a:t>A</a:t>
            </a:r>
            <a:endParaRPr lang="zh-CN" altLang="en-US" dirty="0"/>
          </a:p>
        </p:txBody>
      </p:sp>
      <p:sp>
        <p:nvSpPr>
          <p:cNvPr id="20" name="文本框 19">
            <a:extLst>
              <a:ext uri="{FF2B5EF4-FFF2-40B4-BE49-F238E27FC236}">
                <a16:creationId xmlns:a16="http://schemas.microsoft.com/office/drawing/2014/main" id="{77F13BE6-93F9-2C91-8E3D-5456EA3EADA1}"/>
              </a:ext>
            </a:extLst>
          </p:cNvPr>
          <p:cNvSpPr txBox="1"/>
          <p:nvPr/>
        </p:nvSpPr>
        <p:spPr>
          <a:xfrm>
            <a:off x="4771357" y="1821826"/>
            <a:ext cx="359394" cy="369332"/>
          </a:xfrm>
          <a:prstGeom prst="rect">
            <a:avLst/>
          </a:prstGeom>
          <a:noFill/>
          <a:ln>
            <a:noFill/>
          </a:ln>
        </p:spPr>
        <p:txBody>
          <a:bodyPr wrap="none" rtlCol="0">
            <a:spAutoFit/>
          </a:bodyPr>
          <a:lstStyle/>
          <a:p>
            <a:r>
              <a:rPr lang="en-US" altLang="zh-CN"/>
              <a:t>B</a:t>
            </a:r>
            <a:endParaRPr lang="zh-CN" altLang="en-US"/>
          </a:p>
        </p:txBody>
      </p:sp>
      <p:sp>
        <p:nvSpPr>
          <p:cNvPr id="21" name="文本框 20">
            <a:extLst>
              <a:ext uri="{FF2B5EF4-FFF2-40B4-BE49-F238E27FC236}">
                <a16:creationId xmlns:a16="http://schemas.microsoft.com/office/drawing/2014/main" id="{079AE540-6859-3022-5005-9EFC241795D4}"/>
              </a:ext>
            </a:extLst>
          </p:cNvPr>
          <p:cNvSpPr txBox="1"/>
          <p:nvPr/>
        </p:nvSpPr>
        <p:spPr>
          <a:xfrm>
            <a:off x="6660957" y="1821826"/>
            <a:ext cx="349776" cy="369332"/>
          </a:xfrm>
          <a:prstGeom prst="rect">
            <a:avLst/>
          </a:prstGeom>
          <a:noFill/>
          <a:ln>
            <a:noFill/>
          </a:ln>
        </p:spPr>
        <p:txBody>
          <a:bodyPr wrap="none" rtlCol="0">
            <a:spAutoFit/>
          </a:bodyPr>
          <a:lstStyle/>
          <a:p>
            <a:r>
              <a:rPr lang="en-US" altLang="zh-CN"/>
              <a:t>C</a:t>
            </a:r>
            <a:endParaRPr lang="zh-CN" altLang="en-US"/>
          </a:p>
        </p:txBody>
      </p:sp>
      <p:sp>
        <p:nvSpPr>
          <p:cNvPr id="22" name="文本框 21">
            <a:extLst>
              <a:ext uri="{FF2B5EF4-FFF2-40B4-BE49-F238E27FC236}">
                <a16:creationId xmlns:a16="http://schemas.microsoft.com/office/drawing/2014/main" id="{9622217E-871B-B482-A783-A83CF22D1350}"/>
              </a:ext>
            </a:extLst>
          </p:cNvPr>
          <p:cNvSpPr txBox="1"/>
          <p:nvPr/>
        </p:nvSpPr>
        <p:spPr>
          <a:xfrm>
            <a:off x="3302698" y="4093584"/>
            <a:ext cx="375424" cy="369332"/>
          </a:xfrm>
          <a:prstGeom prst="rect">
            <a:avLst/>
          </a:prstGeom>
          <a:noFill/>
          <a:ln>
            <a:noFill/>
          </a:ln>
        </p:spPr>
        <p:txBody>
          <a:bodyPr wrap="none" rtlCol="0">
            <a:spAutoFit/>
          </a:bodyPr>
          <a:lstStyle/>
          <a:p>
            <a:r>
              <a:rPr lang="en-US" altLang="zh-CN" dirty="0"/>
              <a:t>D</a:t>
            </a:r>
            <a:endParaRPr lang="zh-CN" altLang="en-US" dirty="0"/>
          </a:p>
        </p:txBody>
      </p:sp>
      <p:sp>
        <p:nvSpPr>
          <p:cNvPr id="23" name="文本框 22">
            <a:extLst>
              <a:ext uri="{FF2B5EF4-FFF2-40B4-BE49-F238E27FC236}">
                <a16:creationId xmlns:a16="http://schemas.microsoft.com/office/drawing/2014/main" id="{EE8DE13D-7816-CA75-9EAC-52E137162015}"/>
              </a:ext>
            </a:extLst>
          </p:cNvPr>
          <p:cNvSpPr txBox="1"/>
          <p:nvPr/>
        </p:nvSpPr>
        <p:spPr>
          <a:xfrm>
            <a:off x="4247260" y="3515536"/>
            <a:ext cx="349776" cy="369332"/>
          </a:xfrm>
          <a:prstGeom prst="rect">
            <a:avLst/>
          </a:prstGeom>
          <a:noFill/>
          <a:ln>
            <a:noFill/>
          </a:ln>
        </p:spPr>
        <p:txBody>
          <a:bodyPr wrap="none" rtlCol="0">
            <a:spAutoFit/>
          </a:bodyPr>
          <a:lstStyle/>
          <a:p>
            <a:r>
              <a:rPr lang="en-US" altLang="zh-CN" dirty="0"/>
              <a:t>E</a:t>
            </a:r>
            <a:endParaRPr lang="zh-CN" altLang="en-US" dirty="0"/>
          </a:p>
        </p:txBody>
      </p:sp>
      <p:sp>
        <p:nvSpPr>
          <p:cNvPr id="24" name="文本框 23">
            <a:extLst>
              <a:ext uri="{FF2B5EF4-FFF2-40B4-BE49-F238E27FC236}">
                <a16:creationId xmlns:a16="http://schemas.microsoft.com/office/drawing/2014/main" id="{C3F030D3-65EB-5020-C659-3D117AC0568D}"/>
              </a:ext>
            </a:extLst>
          </p:cNvPr>
          <p:cNvSpPr txBox="1"/>
          <p:nvPr/>
        </p:nvSpPr>
        <p:spPr>
          <a:xfrm>
            <a:off x="5572437" y="3515536"/>
            <a:ext cx="362600" cy="369332"/>
          </a:xfrm>
          <a:prstGeom prst="rect">
            <a:avLst/>
          </a:prstGeom>
          <a:noFill/>
          <a:ln>
            <a:noFill/>
          </a:ln>
        </p:spPr>
        <p:txBody>
          <a:bodyPr wrap="none" rtlCol="0">
            <a:spAutoFit/>
          </a:bodyPr>
          <a:lstStyle/>
          <a:p>
            <a:r>
              <a:rPr lang="en-US" altLang="zh-CN"/>
              <a:t>G</a:t>
            </a:r>
            <a:endParaRPr lang="zh-CN" altLang="en-US"/>
          </a:p>
        </p:txBody>
      </p:sp>
      <p:sp>
        <p:nvSpPr>
          <p:cNvPr id="25" name="文本框 24">
            <a:extLst>
              <a:ext uri="{FF2B5EF4-FFF2-40B4-BE49-F238E27FC236}">
                <a16:creationId xmlns:a16="http://schemas.microsoft.com/office/drawing/2014/main" id="{00C01650-E436-2DA8-7B58-40B8CE41AF6D}"/>
              </a:ext>
            </a:extLst>
          </p:cNvPr>
          <p:cNvSpPr txBox="1"/>
          <p:nvPr/>
        </p:nvSpPr>
        <p:spPr>
          <a:xfrm>
            <a:off x="6088146" y="4143250"/>
            <a:ext cx="372218" cy="369332"/>
          </a:xfrm>
          <a:prstGeom prst="rect">
            <a:avLst/>
          </a:prstGeom>
          <a:noFill/>
          <a:ln>
            <a:noFill/>
          </a:ln>
        </p:spPr>
        <p:txBody>
          <a:bodyPr wrap="none" rtlCol="0">
            <a:spAutoFit/>
          </a:bodyPr>
          <a:lstStyle/>
          <a:p>
            <a:r>
              <a:rPr lang="en-US" altLang="zh-CN" dirty="0"/>
              <a:t>H</a:t>
            </a:r>
            <a:endParaRPr lang="zh-CN" altLang="en-US" dirty="0"/>
          </a:p>
        </p:txBody>
      </p:sp>
      <p:sp>
        <p:nvSpPr>
          <p:cNvPr id="26" name="文本框 25">
            <a:extLst>
              <a:ext uri="{FF2B5EF4-FFF2-40B4-BE49-F238E27FC236}">
                <a16:creationId xmlns:a16="http://schemas.microsoft.com/office/drawing/2014/main" id="{A5FE488D-A5F6-AD9A-9314-8515BC6F5FE1}"/>
              </a:ext>
            </a:extLst>
          </p:cNvPr>
          <p:cNvSpPr txBox="1"/>
          <p:nvPr/>
        </p:nvSpPr>
        <p:spPr>
          <a:xfrm>
            <a:off x="7099138" y="2956706"/>
            <a:ext cx="253596" cy="369332"/>
          </a:xfrm>
          <a:prstGeom prst="rect">
            <a:avLst/>
          </a:prstGeom>
          <a:noFill/>
          <a:ln>
            <a:noFill/>
          </a:ln>
        </p:spPr>
        <p:txBody>
          <a:bodyPr wrap="none" rtlCol="0">
            <a:spAutoFit/>
          </a:bodyPr>
          <a:lstStyle/>
          <a:p>
            <a:r>
              <a:rPr lang="en-US" altLang="zh-CN"/>
              <a:t>I</a:t>
            </a:r>
            <a:endParaRPr lang="zh-CN" altLang="en-US"/>
          </a:p>
        </p:txBody>
      </p:sp>
      <p:sp>
        <p:nvSpPr>
          <p:cNvPr id="27" name="文本框 26">
            <a:extLst>
              <a:ext uri="{FF2B5EF4-FFF2-40B4-BE49-F238E27FC236}">
                <a16:creationId xmlns:a16="http://schemas.microsoft.com/office/drawing/2014/main" id="{FDE91C10-C5E8-D523-D063-BD2FC63DAB51}"/>
              </a:ext>
            </a:extLst>
          </p:cNvPr>
          <p:cNvSpPr txBox="1"/>
          <p:nvPr/>
        </p:nvSpPr>
        <p:spPr>
          <a:xfrm>
            <a:off x="7750625" y="4010552"/>
            <a:ext cx="300082" cy="369332"/>
          </a:xfrm>
          <a:prstGeom prst="rect">
            <a:avLst/>
          </a:prstGeom>
          <a:noFill/>
          <a:ln>
            <a:noFill/>
          </a:ln>
        </p:spPr>
        <p:txBody>
          <a:bodyPr wrap="none" rtlCol="0">
            <a:spAutoFit/>
          </a:bodyPr>
          <a:lstStyle/>
          <a:p>
            <a:r>
              <a:rPr lang="en-US" altLang="zh-CN"/>
              <a:t>J</a:t>
            </a:r>
            <a:endParaRPr lang="zh-CN" altLang="en-US"/>
          </a:p>
        </p:txBody>
      </p:sp>
      <p:cxnSp>
        <p:nvCxnSpPr>
          <p:cNvPr id="28" name="直接箭头连接符 27">
            <a:extLst>
              <a:ext uri="{FF2B5EF4-FFF2-40B4-BE49-F238E27FC236}">
                <a16:creationId xmlns:a16="http://schemas.microsoft.com/office/drawing/2014/main" id="{912FAA21-C9CE-B85D-55B5-7A419808DC8F}"/>
              </a:ext>
            </a:extLst>
          </p:cNvPr>
          <p:cNvCxnSpPr>
            <a:stCxn id="4" idx="6"/>
            <a:endCxn id="6" idx="2"/>
          </p:cNvCxnSpPr>
          <p:nvPr/>
        </p:nvCxnSpPr>
        <p:spPr>
          <a:xfrm>
            <a:off x="6822213" y="3367869"/>
            <a:ext cx="111263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1814678"/>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51BF07-AF3F-8B50-8805-0CA6BD522B92}"/>
              </a:ext>
            </a:extLst>
          </p:cNvPr>
          <p:cNvSpPr>
            <a:spLocks noGrp="1"/>
          </p:cNvSpPr>
          <p:nvPr>
            <p:ph type="title"/>
          </p:nvPr>
        </p:nvSpPr>
        <p:spPr>
          <a:xfrm>
            <a:off x="792000" y="360000"/>
            <a:ext cx="6375921" cy="429413"/>
          </a:xfrm>
        </p:spPr>
        <p:txBody>
          <a:bodyPr/>
          <a:lstStyle/>
          <a:p>
            <a:r>
              <a:rPr lang="en-US" altLang="zh-CN" dirty="0"/>
              <a:t>2.4 </a:t>
            </a:r>
            <a:r>
              <a:rPr lang="zh-CN" altLang="en-US" dirty="0"/>
              <a:t>里程碑图</a:t>
            </a:r>
          </a:p>
        </p:txBody>
      </p:sp>
      <p:sp>
        <p:nvSpPr>
          <p:cNvPr id="6" name="内容占位符 5">
            <a:extLst>
              <a:ext uri="{FF2B5EF4-FFF2-40B4-BE49-F238E27FC236}">
                <a16:creationId xmlns:a16="http://schemas.microsoft.com/office/drawing/2014/main" id="{3B8DE616-F6C7-735C-D1E8-6F09EB7D2698}"/>
              </a:ext>
            </a:extLst>
          </p:cNvPr>
          <p:cNvSpPr>
            <a:spLocks noGrp="1"/>
          </p:cNvSpPr>
          <p:nvPr>
            <p:ph idx="1"/>
          </p:nvPr>
        </p:nvSpPr>
        <p:spPr>
          <a:xfrm>
            <a:off x="696000" y="864000"/>
            <a:ext cx="10800000" cy="5400000"/>
          </a:xfrm>
        </p:spPr>
        <p:txBody>
          <a:bodyPr/>
          <a:lstStyle/>
          <a:p>
            <a:r>
              <a:rPr lang="zh-CN" altLang="en-US" dirty="0"/>
              <a:t>标志性事件；某个重要阶段开始或结束的时间点</a:t>
            </a:r>
          </a:p>
          <a:p>
            <a:r>
              <a:rPr lang="zh-CN" altLang="en-US" dirty="0"/>
              <a:t>时间要求为</a:t>
            </a:r>
            <a:r>
              <a:rPr lang="en-US" altLang="zh-CN" dirty="0"/>
              <a:t>0</a:t>
            </a:r>
            <a:r>
              <a:rPr lang="zh-CN" altLang="en-US" dirty="0"/>
              <a:t>；</a:t>
            </a:r>
            <a:r>
              <a:rPr lang="en-US" altLang="zh-CN" dirty="0"/>
              <a:t>0</a:t>
            </a:r>
            <a:r>
              <a:rPr lang="zh-CN" altLang="en-US" dirty="0"/>
              <a:t>工作日；零工期</a:t>
            </a:r>
            <a:endParaRPr lang="en-US" altLang="zh-CN" dirty="0"/>
          </a:p>
          <a:p>
            <a:r>
              <a:rPr lang="zh-CN" altLang="en-US" dirty="0"/>
              <a:t>作用：</a:t>
            </a:r>
            <a:endParaRPr lang="en-US" altLang="zh-CN" dirty="0"/>
          </a:p>
          <a:p>
            <a:pPr lvl="1"/>
            <a:r>
              <a:rPr lang="zh-CN" altLang="en-US" dirty="0"/>
              <a:t>明确关键目标： 它将复杂的项目分解为几个清晰的阶段性目标，让所有人对项目的关键交付物和决策点有统一的认识</a:t>
            </a:r>
          </a:p>
          <a:p>
            <a:pPr lvl="1"/>
            <a:r>
              <a:rPr lang="zh-CN" altLang="en-US" dirty="0"/>
              <a:t>监控项目健康度： 通过对比计划里程碑和实际达成情况，可以快速判断项目是否按计划推进，是否存在延期风险</a:t>
            </a:r>
          </a:p>
          <a:p>
            <a:pPr lvl="1"/>
            <a:r>
              <a:rPr lang="zh-CN" altLang="en-US" dirty="0"/>
              <a:t>协调沟通： 作为高效的沟通工具，它能帮助项目经理向高层管理者或客户清晰地汇报项目状态，而无需陷入琐碎的任务细节中</a:t>
            </a:r>
          </a:p>
          <a:p>
            <a:endParaRPr lang="en-US" altLang="zh-CN" dirty="0"/>
          </a:p>
        </p:txBody>
      </p:sp>
      <p:sp>
        <p:nvSpPr>
          <p:cNvPr id="10" name="文本占位符 9">
            <a:extLst>
              <a:ext uri="{FF2B5EF4-FFF2-40B4-BE49-F238E27FC236}">
                <a16:creationId xmlns:a16="http://schemas.microsoft.com/office/drawing/2014/main" id="{443F3FF1-2DFA-3CA7-1945-57ED85C67397}"/>
              </a:ext>
            </a:extLst>
          </p:cNvPr>
          <p:cNvSpPr>
            <a:spLocks noGrp="1"/>
          </p:cNvSpPr>
          <p:nvPr>
            <p:ph type="body" sz="quarter" idx="10"/>
          </p:nvPr>
        </p:nvSpPr>
        <p:spPr>
          <a:xfrm>
            <a:off x="7071919" y="448519"/>
            <a:ext cx="4424080" cy="338554"/>
          </a:xfrm>
        </p:spPr>
        <p:txBody>
          <a:bodyPr/>
          <a:lstStyle/>
          <a:p>
            <a:r>
              <a:rPr lang="en-US" altLang="zh-CN" dirty="0"/>
              <a:t>Milestone</a:t>
            </a:r>
            <a:endParaRPr lang="zh-CN" altLang="en-US" dirty="0"/>
          </a:p>
        </p:txBody>
      </p:sp>
    </p:spTree>
    <p:extLst>
      <p:ext uri="{BB962C8B-B14F-4D97-AF65-F5344CB8AC3E}">
        <p14:creationId xmlns:p14="http://schemas.microsoft.com/office/powerpoint/2010/main" val="608199146"/>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箭头: 右 1">
            <a:extLst>
              <a:ext uri="{FF2B5EF4-FFF2-40B4-BE49-F238E27FC236}">
                <a16:creationId xmlns:a16="http://schemas.microsoft.com/office/drawing/2014/main" id="{2AA7211C-1937-7DE1-CC0F-1CE477857138}"/>
              </a:ext>
            </a:extLst>
          </p:cNvPr>
          <p:cNvSpPr/>
          <p:nvPr/>
        </p:nvSpPr>
        <p:spPr>
          <a:xfrm rot="20700636">
            <a:off x="1056000" y="3317026"/>
            <a:ext cx="10080000" cy="144000"/>
          </a:xfrm>
          <a:prstGeom prst="rightArrow">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3" name="椭圆 2">
            <a:extLst>
              <a:ext uri="{FF2B5EF4-FFF2-40B4-BE49-F238E27FC236}">
                <a16:creationId xmlns:a16="http://schemas.microsoft.com/office/drawing/2014/main" id="{98550FE7-9A9F-5112-19B2-715C1734467D}"/>
              </a:ext>
            </a:extLst>
          </p:cNvPr>
          <p:cNvSpPr/>
          <p:nvPr/>
        </p:nvSpPr>
        <p:spPr>
          <a:xfrm>
            <a:off x="1713455" y="4414630"/>
            <a:ext cx="216000" cy="216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4" name="椭圆 3">
            <a:extLst>
              <a:ext uri="{FF2B5EF4-FFF2-40B4-BE49-F238E27FC236}">
                <a16:creationId xmlns:a16="http://schemas.microsoft.com/office/drawing/2014/main" id="{35A9A1A3-3625-8AA5-4CF8-C043706B9F26}"/>
              </a:ext>
            </a:extLst>
          </p:cNvPr>
          <p:cNvSpPr/>
          <p:nvPr/>
        </p:nvSpPr>
        <p:spPr>
          <a:xfrm>
            <a:off x="3355846" y="3976039"/>
            <a:ext cx="216000" cy="216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5" name="椭圆 4">
            <a:extLst>
              <a:ext uri="{FF2B5EF4-FFF2-40B4-BE49-F238E27FC236}">
                <a16:creationId xmlns:a16="http://schemas.microsoft.com/office/drawing/2014/main" id="{E4EE4E22-0AF6-EB23-DE49-80CE08D179F1}"/>
              </a:ext>
            </a:extLst>
          </p:cNvPr>
          <p:cNvSpPr/>
          <p:nvPr/>
        </p:nvSpPr>
        <p:spPr>
          <a:xfrm>
            <a:off x="4998237" y="3537448"/>
            <a:ext cx="216000" cy="216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6" name="椭圆 5">
            <a:extLst>
              <a:ext uri="{FF2B5EF4-FFF2-40B4-BE49-F238E27FC236}">
                <a16:creationId xmlns:a16="http://schemas.microsoft.com/office/drawing/2014/main" id="{8C292598-5F92-8F84-C8E6-548E767D9AF0}"/>
              </a:ext>
            </a:extLst>
          </p:cNvPr>
          <p:cNvSpPr/>
          <p:nvPr/>
        </p:nvSpPr>
        <p:spPr>
          <a:xfrm>
            <a:off x="6640628" y="3098857"/>
            <a:ext cx="216000" cy="216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7" name="椭圆 6">
            <a:extLst>
              <a:ext uri="{FF2B5EF4-FFF2-40B4-BE49-F238E27FC236}">
                <a16:creationId xmlns:a16="http://schemas.microsoft.com/office/drawing/2014/main" id="{A698F5C5-7A36-A13D-7BB3-9701CCFBDC1F}"/>
              </a:ext>
            </a:extLst>
          </p:cNvPr>
          <p:cNvSpPr/>
          <p:nvPr/>
        </p:nvSpPr>
        <p:spPr>
          <a:xfrm>
            <a:off x="8283019" y="2660266"/>
            <a:ext cx="216000" cy="216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8" name="椭圆 7">
            <a:extLst>
              <a:ext uri="{FF2B5EF4-FFF2-40B4-BE49-F238E27FC236}">
                <a16:creationId xmlns:a16="http://schemas.microsoft.com/office/drawing/2014/main" id="{72DC3CCB-6A01-FC8A-668B-9EE309AE9024}"/>
              </a:ext>
            </a:extLst>
          </p:cNvPr>
          <p:cNvSpPr/>
          <p:nvPr/>
        </p:nvSpPr>
        <p:spPr>
          <a:xfrm>
            <a:off x="9925409" y="2221675"/>
            <a:ext cx="216000" cy="216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9" name="文本框 8">
            <a:extLst>
              <a:ext uri="{FF2B5EF4-FFF2-40B4-BE49-F238E27FC236}">
                <a16:creationId xmlns:a16="http://schemas.microsoft.com/office/drawing/2014/main" id="{0924157B-D276-AB4B-CB5C-2060325D2F60}"/>
              </a:ext>
            </a:extLst>
          </p:cNvPr>
          <p:cNvSpPr txBox="1"/>
          <p:nvPr/>
        </p:nvSpPr>
        <p:spPr>
          <a:xfrm>
            <a:off x="1523937" y="3866987"/>
            <a:ext cx="595035" cy="338554"/>
          </a:xfrm>
          <a:prstGeom prst="rect">
            <a:avLst/>
          </a:prstGeom>
          <a:noFill/>
        </p:spPr>
        <p:txBody>
          <a:bodyPr wrap="none" rtlCol="0">
            <a:spAutoFit/>
          </a:bodyPr>
          <a:lstStyle/>
          <a:p>
            <a:pPr algn="l"/>
            <a:r>
              <a:rPr lang="zh-CN" altLang="en-US" sz="1600" dirty="0"/>
              <a:t>规划</a:t>
            </a:r>
          </a:p>
        </p:txBody>
      </p:sp>
      <p:sp>
        <p:nvSpPr>
          <p:cNvPr id="10" name="文本框 9">
            <a:extLst>
              <a:ext uri="{FF2B5EF4-FFF2-40B4-BE49-F238E27FC236}">
                <a16:creationId xmlns:a16="http://schemas.microsoft.com/office/drawing/2014/main" id="{2FF415EC-0494-17C4-775B-242DF051310D}"/>
              </a:ext>
            </a:extLst>
          </p:cNvPr>
          <p:cNvSpPr txBox="1"/>
          <p:nvPr/>
        </p:nvSpPr>
        <p:spPr>
          <a:xfrm>
            <a:off x="3162801" y="3434507"/>
            <a:ext cx="609462" cy="338554"/>
          </a:xfrm>
          <a:prstGeom prst="rect">
            <a:avLst/>
          </a:prstGeom>
          <a:noFill/>
        </p:spPr>
        <p:txBody>
          <a:bodyPr wrap="none" rtlCol="0">
            <a:spAutoFit/>
          </a:bodyPr>
          <a:lstStyle/>
          <a:p>
            <a:pPr algn="l"/>
            <a:r>
              <a:rPr lang="zh-CN" altLang="en-US" sz="1600" dirty="0"/>
              <a:t>开题</a:t>
            </a:r>
          </a:p>
        </p:txBody>
      </p:sp>
      <p:sp>
        <p:nvSpPr>
          <p:cNvPr id="11" name="文本框 10">
            <a:extLst>
              <a:ext uri="{FF2B5EF4-FFF2-40B4-BE49-F238E27FC236}">
                <a16:creationId xmlns:a16="http://schemas.microsoft.com/office/drawing/2014/main" id="{813CE89E-087C-F0A8-58C1-7CF0C6BE17C0}"/>
              </a:ext>
            </a:extLst>
          </p:cNvPr>
          <p:cNvSpPr txBox="1"/>
          <p:nvPr/>
        </p:nvSpPr>
        <p:spPr>
          <a:xfrm>
            <a:off x="4819298" y="3002029"/>
            <a:ext cx="595035" cy="338554"/>
          </a:xfrm>
          <a:prstGeom prst="rect">
            <a:avLst/>
          </a:prstGeom>
          <a:noFill/>
        </p:spPr>
        <p:txBody>
          <a:bodyPr wrap="none" rtlCol="0">
            <a:spAutoFit/>
          </a:bodyPr>
          <a:lstStyle/>
          <a:p>
            <a:pPr algn="l"/>
            <a:r>
              <a:rPr lang="zh-CN" altLang="en-US" sz="1600" dirty="0"/>
              <a:t>初稿</a:t>
            </a:r>
          </a:p>
        </p:txBody>
      </p:sp>
      <p:sp>
        <p:nvSpPr>
          <p:cNvPr id="12" name="文本框 11">
            <a:extLst>
              <a:ext uri="{FF2B5EF4-FFF2-40B4-BE49-F238E27FC236}">
                <a16:creationId xmlns:a16="http://schemas.microsoft.com/office/drawing/2014/main" id="{55137843-5111-BF22-3BD2-A51E35F51AE8}"/>
              </a:ext>
            </a:extLst>
          </p:cNvPr>
          <p:cNvSpPr txBox="1"/>
          <p:nvPr/>
        </p:nvSpPr>
        <p:spPr>
          <a:xfrm>
            <a:off x="6458162" y="2569551"/>
            <a:ext cx="595035" cy="338554"/>
          </a:xfrm>
          <a:prstGeom prst="rect">
            <a:avLst/>
          </a:prstGeom>
          <a:noFill/>
        </p:spPr>
        <p:txBody>
          <a:bodyPr wrap="none" rtlCol="0">
            <a:spAutoFit/>
          </a:bodyPr>
          <a:lstStyle/>
          <a:p>
            <a:pPr algn="l"/>
            <a:r>
              <a:rPr lang="zh-CN" altLang="en-US" sz="1600" dirty="0"/>
              <a:t>定稿</a:t>
            </a:r>
          </a:p>
        </p:txBody>
      </p:sp>
      <p:sp>
        <p:nvSpPr>
          <p:cNvPr id="13" name="文本框 12">
            <a:extLst>
              <a:ext uri="{FF2B5EF4-FFF2-40B4-BE49-F238E27FC236}">
                <a16:creationId xmlns:a16="http://schemas.microsoft.com/office/drawing/2014/main" id="{57A09463-00B8-79E9-21FF-704C5E3903A0}"/>
              </a:ext>
            </a:extLst>
          </p:cNvPr>
          <p:cNvSpPr txBox="1"/>
          <p:nvPr/>
        </p:nvSpPr>
        <p:spPr>
          <a:xfrm>
            <a:off x="8097026" y="2137073"/>
            <a:ext cx="595035" cy="338554"/>
          </a:xfrm>
          <a:prstGeom prst="rect">
            <a:avLst/>
          </a:prstGeom>
          <a:noFill/>
        </p:spPr>
        <p:txBody>
          <a:bodyPr wrap="none" rtlCol="0">
            <a:spAutoFit/>
          </a:bodyPr>
          <a:lstStyle/>
          <a:p>
            <a:pPr algn="l"/>
            <a:r>
              <a:rPr lang="zh-CN" altLang="en-US" sz="1600" dirty="0"/>
              <a:t>答辩</a:t>
            </a:r>
          </a:p>
        </p:txBody>
      </p:sp>
      <p:sp>
        <p:nvSpPr>
          <p:cNvPr id="14" name="文本框 13">
            <a:extLst>
              <a:ext uri="{FF2B5EF4-FFF2-40B4-BE49-F238E27FC236}">
                <a16:creationId xmlns:a16="http://schemas.microsoft.com/office/drawing/2014/main" id="{BA53214A-15A6-9DE3-C2A6-5E5ED047A226}"/>
              </a:ext>
            </a:extLst>
          </p:cNvPr>
          <p:cNvSpPr txBox="1"/>
          <p:nvPr/>
        </p:nvSpPr>
        <p:spPr>
          <a:xfrm>
            <a:off x="9633299" y="1704595"/>
            <a:ext cx="800219" cy="338554"/>
          </a:xfrm>
          <a:prstGeom prst="rect">
            <a:avLst/>
          </a:prstGeom>
          <a:noFill/>
        </p:spPr>
        <p:txBody>
          <a:bodyPr wrap="none" rtlCol="0">
            <a:spAutoFit/>
          </a:bodyPr>
          <a:lstStyle/>
          <a:p>
            <a:pPr algn="ctr"/>
            <a:r>
              <a:rPr lang="zh-CN" altLang="en-US" sz="1600" dirty="0"/>
              <a:t>最终稿</a:t>
            </a:r>
          </a:p>
        </p:txBody>
      </p:sp>
      <p:sp>
        <p:nvSpPr>
          <p:cNvPr id="15" name="文本框 14">
            <a:extLst>
              <a:ext uri="{FF2B5EF4-FFF2-40B4-BE49-F238E27FC236}">
                <a16:creationId xmlns:a16="http://schemas.microsoft.com/office/drawing/2014/main" id="{464B1AA3-C4DD-CACC-A69A-26929DD1D0AD}"/>
              </a:ext>
            </a:extLst>
          </p:cNvPr>
          <p:cNvSpPr txBox="1"/>
          <p:nvPr/>
        </p:nvSpPr>
        <p:spPr>
          <a:xfrm>
            <a:off x="1373257" y="4814852"/>
            <a:ext cx="896399" cy="338554"/>
          </a:xfrm>
          <a:prstGeom prst="rect">
            <a:avLst/>
          </a:prstGeom>
          <a:noFill/>
        </p:spPr>
        <p:txBody>
          <a:bodyPr wrap="none" rtlCol="0">
            <a:spAutoFit/>
          </a:bodyPr>
          <a:lstStyle/>
          <a:p>
            <a:pPr algn="ctr"/>
            <a:r>
              <a:rPr lang="en-US" altLang="zh-CN" sz="1600" dirty="0"/>
              <a:t>2025-11</a:t>
            </a:r>
            <a:endParaRPr lang="zh-CN" altLang="en-US" sz="1600" dirty="0"/>
          </a:p>
        </p:txBody>
      </p:sp>
      <p:sp>
        <p:nvSpPr>
          <p:cNvPr id="16" name="文本框 15">
            <a:extLst>
              <a:ext uri="{FF2B5EF4-FFF2-40B4-BE49-F238E27FC236}">
                <a16:creationId xmlns:a16="http://schemas.microsoft.com/office/drawing/2014/main" id="{DB70CA3C-9FCF-C800-F355-5CADE2EBC32F}"/>
              </a:ext>
            </a:extLst>
          </p:cNvPr>
          <p:cNvSpPr txBox="1"/>
          <p:nvPr/>
        </p:nvSpPr>
        <p:spPr>
          <a:xfrm>
            <a:off x="2999296" y="4382372"/>
            <a:ext cx="939681" cy="338554"/>
          </a:xfrm>
          <a:prstGeom prst="rect">
            <a:avLst/>
          </a:prstGeom>
          <a:noFill/>
        </p:spPr>
        <p:txBody>
          <a:bodyPr wrap="none" rtlCol="0">
            <a:spAutoFit/>
          </a:bodyPr>
          <a:lstStyle/>
          <a:p>
            <a:pPr algn="ctr"/>
            <a:r>
              <a:rPr lang="en-US" altLang="zh-CN" sz="1600" dirty="0"/>
              <a:t>2025-12</a:t>
            </a:r>
            <a:endParaRPr lang="zh-CN" altLang="en-US" sz="1600" dirty="0"/>
          </a:p>
        </p:txBody>
      </p:sp>
      <p:sp>
        <p:nvSpPr>
          <p:cNvPr id="17" name="文本框 16">
            <a:extLst>
              <a:ext uri="{FF2B5EF4-FFF2-40B4-BE49-F238E27FC236}">
                <a16:creationId xmlns:a16="http://schemas.microsoft.com/office/drawing/2014/main" id="{36528D83-E43F-D573-2CD9-40E06B295E54}"/>
              </a:ext>
            </a:extLst>
          </p:cNvPr>
          <p:cNvSpPr txBox="1"/>
          <p:nvPr/>
        </p:nvSpPr>
        <p:spPr>
          <a:xfrm>
            <a:off x="4610909" y="3949894"/>
            <a:ext cx="1011815" cy="338554"/>
          </a:xfrm>
          <a:prstGeom prst="rect">
            <a:avLst/>
          </a:prstGeom>
          <a:noFill/>
        </p:spPr>
        <p:txBody>
          <a:bodyPr wrap="none" rtlCol="0">
            <a:spAutoFit/>
          </a:bodyPr>
          <a:lstStyle/>
          <a:p>
            <a:pPr algn="ctr"/>
            <a:r>
              <a:rPr lang="en-US" altLang="zh-CN" sz="1600" dirty="0"/>
              <a:t>2026-02</a:t>
            </a:r>
            <a:endParaRPr lang="zh-CN" altLang="en-US" sz="1600" dirty="0"/>
          </a:p>
        </p:txBody>
      </p:sp>
      <p:sp>
        <p:nvSpPr>
          <p:cNvPr id="18" name="文本框 17">
            <a:extLst>
              <a:ext uri="{FF2B5EF4-FFF2-40B4-BE49-F238E27FC236}">
                <a16:creationId xmlns:a16="http://schemas.microsoft.com/office/drawing/2014/main" id="{26AB26CB-DE16-2144-DE2F-8A08B39D1568}"/>
              </a:ext>
            </a:extLst>
          </p:cNvPr>
          <p:cNvSpPr txBox="1"/>
          <p:nvPr/>
        </p:nvSpPr>
        <p:spPr>
          <a:xfrm>
            <a:off x="6250574" y="3517416"/>
            <a:ext cx="1010213" cy="338554"/>
          </a:xfrm>
          <a:prstGeom prst="rect">
            <a:avLst/>
          </a:prstGeom>
          <a:noFill/>
        </p:spPr>
        <p:txBody>
          <a:bodyPr wrap="none" rtlCol="0">
            <a:spAutoFit/>
          </a:bodyPr>
          <a:lstStyle/>
          <a:p>
            <a:pPr algn="ctr"/>
            <a:r>
              <a:rPr lang="en-US" altLang="zh-CN" sz="1600" dirty="0"/>
              <a:t>2026-03</a:t>
            </a:r>
            <a:endParaRPr lang="zh-CN" altLang="en-US" sz="1600" dirty="0"/>
          </a:p>
        </p:txBody>
      </p:sp>
      <p:sp>
        <p:nvSpPr>
          <p:cNvPr id="19" name="文本框 18">
            <a:extLst>
              <a:ext uri="{FF2B5EF4-FFF2-40B4-BE49-F238E27FC236}">
                <a16:creationId xmlns:a16="http://schemas.microsoft.com/office/drawing/2014/main" id="{280DF83C-874C-5104-C657-E4E735C76F50}"/>
              </a:ext>
            </a:extLst>
          </p:cNvPr>
          <p:cNvSpPr txBox="1"/>
          <p:nvPr/>
        </p:nvSpPr>
        <p:spPr>
          <a:xfrm>
            <a:off x="7879019" y="3084938"/>
            <a:ext cx="1031051" cy="338554"/>
          </a:xfrm>
          <a:prstGeom prst="rect">
            <a:avLst/>
          </a:prstGeom>
          <a:noFill/>
        </p:spPr>
        <p:txBody>
          <a:bodyPr wrap="none" rtlCol="0">
            <a:spAutoFit/>
          </a:bodyPr>
          <a:lstStyle/>
          <a:p>
            <a:pPr algn="ctr"/>
            <a:r>
              <a:rPr lang="en-US" altLang="zh-CN" sz="1600" dirty="0"/>
              <a:t>2026-04</a:t>
            </a:r>
            <a:endParaRPr lang="zh-CN" altLang="en-US" sz="1600" dirty="0"/>
          </a:p>
        </p:txBody>
      </p:sp>
      <p:sp>
        <p:nvSpPr>
          <p:cNvPr id="20" name="文本框 19">
            <a:extLst>
              <a:ext uri="{FF2B5EF4-FFF2-40B4-BE49-F238E27FC236}">
                <a16:creationId xmlns:a16="http://schemas.microsoft.com/office/drawing/2014/main" id="{894A7570-9C8E-3F9D-E2F6-8187965304A3}"/>
              </a:ext>
            </a:extLst>
          </p:cNvPr>
          <p:cNvSpPr txBox="1"/>
          <p:nvPr/>
        </p:nvSpPr>
        <p:spPr>
          <a:xfrm>
            <a:off x="9528303" y="2652460"/>
            <a:ext cx="1010213" cy="338554"/>
          </a:xfrm>
          <a:prstGeom prst="rect">
            <a:avLst/>
          </a:prstGeom>
          <a:noFill/>
        </p:spPr>
        <p:txBody>
          <a:bodyPr wrap="none" rtlCol="0">
            <a:spAutoFit/>
          </a:bodyPr>
          <a:lstStyle/>
          <a:p>
            <a:pPr algn="ctr"/>
            <a:r>
              <a:rPr lang="en-US" altLang="zh-CN" sz="1600" dirty="0"/>
              <a:t>2026-05</a:t>
            </a:r>
            <a:endParaRPr lang="zh-CN" altLang="en-US" sz="1600" dirty="0"/>
          </a:p>
        </p:txBody>
      </p:sp>
    </p:spTree>
    <p:extLst>
      <p:ext uri="{BB962C8B-B14F-4D97-AF65-F5344CB8AC3E}">
        <p14:creationId xmlns:p14="http://schemas.microsoft.com/office/powerpoint/2010/main" val="2841757886"/>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6" name="直接箭头连接符 5">
            <a:extLst>
              <a:ext uri="{FF2B5EF4-FFF2-40B4-BE49-F238E27FC236}">
                <a16:creationId xmlns:a16="http://schemas.microsoft.com/office/drawing/2014/main" id="{ED4E8BE1-406A-52E1-6F9F-3DF1A36C6615}"/>
              </a:ext>
            </a:extLst>
          </p:cNvPr>
          <p:cNvCxnSpPr>
            <a:cxnSpLocks/>
          </p:cNvCxnSpPr>
          <p:nvPr/>
        </p:nvCxnSpPr>
        <p:spPr>
          <a:xfrm>
            <a:off x="-24000" y="3429000"/>
            <a:ext cx="1224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椭圆 6">
            <a:extLst>
              <a:ext uri="{FF2B5EF4-FFF2-40B4-BE49-F238E27FC236}">
                <a16:creationId xmlns:a16="http://schemas.microsoft.com/office/drawing/2014/main" id="{FBEAD93A-6288-BF26-AE6C-27007AE823EF}"/>
              </a:ext>
            </a:extLst>
          </p:cNvPr>
          <p:cNvSpPr/>
          <p:nvPr/>
        </p:nvSpPr>
        <p:spPr>
          <a:xfrm>
            <a:off x="693019" y="3159000"/>
            <a:ext cx="540000" cy="540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8" name="椭圆 7">
            <a:extLst>
              <a:ext uri="{FF2B5EF4-FFF2-40B4-BE49-F238E27FC236}">
                <a16:creationId xmlns:a16="http://schemas.microsoft.com/office/drawing/2014/main" id="{54E45D3A-2C6B-CDD0-C3EE-4B6E04CF75A4}"/>
              </a:ext>
            </a:extLst>
          </p:cNvPr>
          <p:cNvSpPr/>
          <p:nvPr/>
        </p:nvSpPr>
        <p:spPr>
          <a:xfrm>
            <a:off x="2942677" y="3159000"/>
            <a:ext cx="540000" cy="540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9" name="椭圆 8">
            <a:extLst>
              <a:ext uri="{FF2B5EF4-FFF2-40B4-BE49-F238E27FC236}">
                <a16:creationId xmlns:a16="http://schemas.microsoft.com/office/drawing/2014/main" id="{8F891112-B5BA-C90B-1279-8A9548483CBE}"/>
              </a:ext>
            </a:extLst>
          </p:cNvPr>
          <p:cNvSpPr/>
          <p:nvPr/>
        </p:nvSpPr>
        <p:spPr>
          <a:xfrm>
            <a:off x="5192335" y="3159000"/>
            <a:ext cx="540000" cy="540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10" name="椭圆 9">
            <a:extLst>
              <a:ext uri="{FF2B5EF4-FFF2-40B4-BE49-F238E27FC236}">
                <a16:creationId xmlns:a16="http://schemas.microsoft.com/office/drawing/2014/main" id="{D6614141-18DF-E940-6670-29B2CF33D1E6}"/>
              </a:ext>
            </a:extLst>
          </p:cNvPr>
          <p:cNvSpPr/>
          <p:nvPr/>
        </p:nvSpPr>
        <p:spPr>
          <a:xfrm>
            <a:off x="7441996" y="3159000"/>
            <a:ext cx="540000" cy="540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11" name="椭圆 10">
            <a:extLst>
              <a:ext uri="{FF2B5EF4-FFF2-40B4-BE49-F238E27FC236}">
                <a16:creationId xmlns:a16="http://schemas.microsoft.com/office/drawing/2014/main" id="{966771CB-0BCD-BC66-5CBE-82DF15544697}"/>
              </a:ext>
            </a:extLst>
          </p:cNvPr>
          <p:cNvSpPr/>
          <p:nvPr/>
        </p:nvSpPr>
        <p:spPr>
          <a:xfrm>
            <a:off x="11173946" y="3159000"/>
            <a:ext cx="540000" cy="540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19" name="椭圆 18">
            <a:extLst>
              <a:ext uri="{FF2B5EF4-FFF2-40B4-BE49-F238E27FC236}">
                <a16:creationId xmlns:a16="http://schemas.microsoft.com/office/drawing/2014/main" id="{E2C40092-1D69-3ECE-2FBE-443B39256542}"/>
              </a:ext>
            </a:extLst>
          </p:cNvPr>
          <p:cNvSpPr/>
          <p:nvPr/>
        </p:nvSpPr>
        <p:spPr>
          <a:xfrm>
            <a:off x="1817848" y="3159000"/>
            <a:ext cx="540000" cy="540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20" name="椭圆 19">
            <a:extLst>
              <a:ext uri="{FF2B5EF4-FFF2-40B4-BE49-F238E27FC236}">
                <a16:creationId xmlns:a16="http://schemas.microsoft.com/office/drawing/2014/main" id="{AB2A7FE5-F97E-B76E-8AB2-FBC5A739F135}"/>
              </a:ext>
            </a:extLst>
          </p:cNvPr>
          <p:cNvSpPr/>
          <p:nvPr/>
        </p:nvSpPr>
        <p:spPr>
          <a:xfrm>
            <a:off x="4067506" y="3159000"/>
            <a:ext cx="540000" cy="540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21" name="椭圆 20">
            <a:extLst>
              <a:ext uri="{FF2B5EF4-FFF2-40B4-BE49-F238E27FC236}">
                <a16:creationId xmlns:a16="http://schemas.microsoft.com/office/drawing/2014/main" id="{0C623183-A6E7-D1D5-F0BD-9EFDAE515613}"/>
              </a:ext>
            </a:extLst>
          </p:cNvPr>
          <p:cNvSpPr/>
          <p:nvPr/>
        </p:nvSpPr>
        <p:spPr>
          <a:xfrm>
            <a:off x="6317164" y="3159000"/>
            <a:ext cx="540000" cy="540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22" name="椭圆 21">
            <a:extLst>
              <a:ext uri="{FF2B5EF4-FFF2-40B4-BE49-F238E27FC236}">
                <a16:creationId xmlns:a16="http://schemas.microsoft.com/office/drawing/2014/main" id="{82D7931B-1BE4-BEA8-32B2-4C9733048E2A}"/>
              </a:ext>
            </a:extLst>
          </p:cNvPr>
          <p:cNvSpPr/>
          <p:nvPr/>
        </p:nvSpPr>
        <p:spPr>
          <a:xfrm>
            <a:off x="10405252" y="3159000"/>
            <a:ext cx="540000" cy="540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pic>
        <p:nvPicPr>
          <p:cNvPr id="31" name="图形 30" descr="毕业帽">
            <a:extLst>
              <a:ext uri="{FF2B5EF4-FFF2-40B4-BE49-F238E27FC236}">
                <a16:creationId xmlns:a16="http://schemas.microsoft.com/office/drawing/2014/main" id="{F70F5DA6-4946-1E52-9EAE-1BDFC85B13E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83019" y="3249000"/>
            <a:ext cx="360000" cy="360000"/>
          </a:xfrm>
          <a:prstGeom prst="rect">
            <a:avLst/>
          </a:prstGeom>
        </p:spPr>
      </p:pic>
      <p:pic>
        <p:nvPicPr>
          <p:cNvPr id="33" name="图形 32" descr="指示">
            <a:extLst>
              <a:ext uri="{FF2B5EF4-FFF2-40B4-BE49-F238E27FC236}">
                <a16:creationId xmlns:a16="http://schemas.microsoft.com/office/drawing/2014/main" id="{C4A09446-856A-00B4-D7E1-C8A3157005D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2677" y="3241781"/>
            <a:ext cx="360000" cy="360000"/>
          </a:xfrm>
          <a:prstGeom prst="rect">
            <a:avLst/>
          </a:prstGeom>
        </p:spPr>
      </p:pic>
      <p:pic>
        <p:nvPicPr>
          <p:cNvPr id="35" name="图形 34" descr="教授">
            <a:extLst>
              <a:ext uri="{FF2B5EF4-FFF2-40B4-BE49-F238E27FC236}">
                <a16:creationId xmlns:a16="http://schemas.microsoft.com/office/drawing/2014/main" id="{BE2DE2F4-D46F-45FF-2E06-4221D7DD44A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07164" y="3241781"/>
            <a:ext cx="360000" cy="360000"/>
          </a:xfrm>
          <a:prstGeom prst="rect">
            <a:avLst/>
          </a:prstGeom>
        </p:spPr>
      </p:pic>
      <p:pic>
        <p:nvPicPr>
          <p:cNvPr id="39" name="图形 38" descr="教授">
            <a:extLst>
              <a:ext uri="{FF2B5EF4-FFF2-40B4-BE49-F238E27FC236}">
                <a16:creationId xmlns:a16="http://schemas.microsoft.com/office/drawing/2014/main" id="{ED0D783B-C5BA-B881-7E31-284672C2963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531993" y="3214181"/>
            <a:ext cx="360000" cy="360000"/>
          </a:xfrm>
          <a:prstGeom prst="rect">
            <a:avLst/>
          </a:prstGeom>
        </p:spPr>
      </p:pic>
      <p:pic>
        <p:nvPicPr>
          <p:cNvPr id="40" name="图形 39" descr="教授">
            <a:extLst>
              <a:ext uri="{FF2B5EF4-FFF2-40B4-BE49-F238E27FC236}">
                <a16:creationId xmlns:a16="http://schemas.microsoft.com/office/drawing/2014/main" id="{A393A194-10A4-3BF0-19BA-E60F225657F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63946" y="3249000"/>
            <a:ext cx="360000" cy="360000"/>
          </a:xfrm>
          <a:prstGeom prst="rect">
            <a:avLst/>
          </a:prstGeom>
        </p:spPr>
      </p:pic>
      <p:pic>
        <p:nvPicPr>
          <p:cNvPr id="41" name="图形 40" descr="指示">
            <a:extLst>
              <a:ext uri="{FF2B5EF4-FFF2-40B4-BE49-F238E27FC236}">
                <a16:creationId xmlns:a16="http://schemas.microsoft.com/office/drawing/2014/main" id="{7345C00A-44CD-FF2B-4AD6-D6D41BA288C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07848" y="3271800"/>
            <a:ext cx="360000" cy="360000"/>
          </a:xfrm>
          <a:prstGeom prst="rect">
            <a:avLst/>
          </a:prstGeom>
        </p:spPr>
      </p:pic>
      <p:pic>
        <p:nvPicPr>
          <p:cNvPr id="42" name="图形 41" descr="指示">
            <a:extLst>
              <a:ext uri="{FF2B5EF4-FFF2-40B4-BE49-F238E27FC236}">
                <a16:creationId xmlns:a16="http://schemas.microsoft.com/office/drawing/2014/main" id="{A9859600-DE16-2E29-69A5-F04F4BCF003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57506" y="3254305"/>
            <a:ext cx="360000" cy="360000"/>
          </a:xfrm>
          <a:prstGeom prst="rect">
            <a:avLst/>
          </a:prstGeom>
        </p:spPr>
      </p:pic>
      <p:pic>
        <p:nvPicPr>
          <p:cNvPr id="43" name="图形 42" descr="指示">
            <a:extLst>
              <a:ext uri="{FF2B5EF4-FFF2-40B4-BE49-F238E27FC236}">
                <a16:creationId xmlns:a16="http://schemas.microsoft.com/office/drawing/2014/main" id="{AE37649F-C631-A2FB-8A08-1E2E8BF6C1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82335" y="3241781"/>
            <a:ext cx="360000" cy="360000"/>
          </a:xfrm>
          <a:prstGeom prst="rect">
            <a:avLst/>
          </a:prstGeom>
        </p:spPr>
      </p:pic>
      <p:sp>
        <p:nvSpPr>
          <p:cNvPr id="44" name="文本框 43">
            <a:extLst>
              <a:ext uri="{FF2B5EF4-FFF2-40B4-BE49-F238E27FC236}">
                <a16:creationId xmlns:a16="http://schemas.microsoft.com/office/drawing/2014/main" id="{D4834EA9-10C7-7204-6D90-2F2D1068A08F}"/>
              </a:ext>
            </a:extLst>
          </p:cNvPr>
          <p:cNvSpPr txBox="1"/>
          <p:nvPr/>
        </p:nvSpPr>
        <p:spPr>
          <a:xfrm>
            <a:off x="679128" y="3706569"/>
            <a:ext cx="567783" cy="307777"/>
          </a:xfrm>
          <a:prstGeom prst="rect">
            <a:avLst/>
          </a:prstGeom>
          <a:noFill/>
        </p:spPr>
        <p:txBody>
          <a:bodyPr wrap="none" rtlCol="0">
            <a:spAutoFit/>
          </a:bodyPr>
          <a:lstStyle/>
          <a:p>
            <a:pPr algn="ctr"/>
            <a:r>
              <a:rPr lang="en-US" altLang="zh-CN" sz="1400" dirty="0"/>
              <a:t>1995</a:t>
            </a:r>
          </a:p>
        </p:txBody>
      </p:sp>
      <p:sp>
        <p:nvSpPr>
          <p:cNvPr id="45" name="文本框 44">
            <a:extLst>
              <a:ext uri="{FF2B5EF4-FFF2-40B4-BE49-F238E27FC236}">
                <a16:creationId xmlns:a16="http://schemas.microsoft.com/office/drawing/2014/main" id="{768193B7-F720-266C-A136-2DECC8201471}"/>
              </a:ext>
            </a:extLst>
          </p:cNvPr>
          <p:cNvSpPr txBox="1"/>
          <p:nvPr/>
        </p:nvSpPr>
        <p:spPr>
          <a:xfrm>
            <a:off x="1799950" y="2891161"/>
            <a:ext cx="575799" cy="307777"/>
          </a:xfrm>
          <a:prstGeom prst="rect">
            <a:avLst/>
          </a:prstGeom>
          <a:noFill/>
        </p:spPr>
        <p:txBody>
          <a:bodyPr wrap="none" rtlCol="0">
            <a:spAutoFit/>
          </a:bodyPr>
          <a:lstStyle/>
          <a:p>
            <a:pPr algn="ctr"/>
            <a:r>
              <a:rPr lang="en-US" altLang="zh-CN" sz="1400" dirty="0"/>
              <a:t>1999</a:t>
            </a:r>
          </a:p>
        </p:txBody>
      </p:sp>
      <p:sp>
        <p:nvSpPr>
          <p:cNvPr id="46" name="文本框 45">
            <a:extLst>
              <a:ext uri="{FF2B5EF4-FFF2-40B4-BE49-F238E27FC236}">
                <a16:creationId xmlns:a16="http://schemas.microsoft.com/office/drawing/2014/main" id="{40774BF0-83DE-7353-35A0-5AE2FDB868C0}"/>
              </a:ext>
            </a:extLst>
          </p:cNvPr>
          <p:cNvSpPr txBox="1"/>
          <p:nvPr/>
        </p:nvSpPr>
        <p:spPr>
          <a:xfrm>
            <a:off x="2899933" y="3706569"/>
            <a:ext cx="625492" cy="307777"/>
          </a:xfrm>
          <a:prstGeom prst="rect">
            <a:avLst/>
          </a:prstGeom>
          <a:noFill/>
        </p:spPr>
        <p:txBody>
          <a:bodyPr wrap="none" rtlCol="0">
            <a:spAutoFit/>
          </a:bodyPr>
          <a:lstStyle/>
          <a:p>
            <a:pPr algn="ctr"/>
            <a:r>
              <a:rPr lang="en-US" altLang="zh-CN" sz="1400" dirty="0"/>
              <a:t>2005</a:t>
            </a:r>
          </a:p>
        </p:txBody>
      </p:sp>
      <p:sp>
        <p:nvSpPr>
          <p:cNvPr id="47" name="文本框 46">
            <a:extLst>
              <a:ext uri="{FF2B5EF4-FFF2-40B4-BE49-F238E27FC236}">
                <a16:creationId xmlns:a16="http://schemas.microsoft.com/office/drawing/2014/main" id="{3CB9BA53-76E6-25F3-BC08-D929796141D7}"/>
              </a:ext>
            </a:extLst>
          </p:cNvPr>
          <p:cNvSpPr txBox="1"/>
          <p:nvPr/>
        </p:nvSpPr>
        <p:spPr>
          <a:xfrm>
            <a:off x="4018351" y="2891161"/>
            <a:ext cx="638315" cy="307777"/>
          </a:xfrm>
          <a:prstGeom prst="rect">
            <a:avLst/>
          </a:prstGeom>
          <a:noFill/>
        </p:spPr>
        <p:txBody>
          <a:bodyPr wrap="none" rtlCol="0">
            <a:spAutoFit/>
          </a:bodyPr>
          <a:lstStyle/>
          <a:p>
            <a:pPr algn="ctr"/>
            <a:r>
              <a:rPr lang="en-US" altLang="zh-CN" sz="1400" dirty="0"/>
              <a:t>2008</a:t>
            </a:r>
          </a:p>
        </p:txBody>
      </p:sp>
      <p:sp>
        <p:nvSpPr>
          <p:cNvPr id="48" name="文本框 47">
            <a:extLst>
              <a:ext uri="{FF2B5EF4-FFF2-40B4-BE49-F238E27FC236}">
                <a16:creationId xmlns:a16="http://schemas.microsoft.com/office/drawing/2014/main" id="{4C1D7CAA-06FD-BFD4-8499-E6A4B2F52953}"/>
              </a:ext>
            </a:extLst>
          </p:cNvPr>
          <p:cNvSpPr txBox="1"/>
          <p:nvPr/>
        </p:nvSpPr>
        <p:spPr>
          <a:xfrm>
            <a:off x="5170433" y="3706569"/>
            <a:ext cx="583814" cy="307777"/>
          </a:xfrm>
          <a:prstGeom prst="rect">
            <a:avLst/>
          </a:prstGeom>
          <a:noFill/>
        </p:spPr>
        <p:txBody>
          <a:bodyPr wrap="none" rtlCol="0">
            <a:spAutoFit/>
          </a:bodyPr>
          <a:lstStyle/>
          <a:p>
            <a:pPr algn="ctr"/>
            <a:r>
              <a:rPr lang="en-US" altLang="zh-CN" sz="1400" dirty="0"/>
              <a:t>2018</a:t>
            </a:r>
          </a:p>
        </p:txBody>
      </p:sp>
      <p:sp>
        <p:nvSpPr>
          <p:cNvPr id="49" name="文本框 48">
            <a:extLst>
              <a:ext uri="{FF2B5EF4-FFF2-40B4-BE49-F238E27FC236}">
                <a16:creationId xmlns:a16="http://schemas.microsoft.com/office/drawing/2014/main" id="{D9A7A363-588B-0CD4-ADEA-61EAA8E78DD6}"/>
              </a:ext>
            </a:extLst>
          </p:cNvPr>
          <p:cNvSpPr txBox="1"/>
          <p:nvPr/>
        </p:nvSpPr>
        <p:spPr>
          <a:xfrm>
            <a:off x="6273621" y="2891161"/>
            <a:ext cx="627095" cy="307777"/>
          </a:xfrm>
          <a:prstGeom prst="rect">
            <a:avLst/>
          </a:prstGeom>
          <a:noFill/>
        </p:spPr>
        <p:txBody>
          <a:bodyPr wrap="none" rtlCol="0">
            <a:spAutoFit/>
          </a:bodyPr>
          <a:lstStyle/>
          <a:p>
            <a:pPr algn="ctr"/>
            <a:r>
              <a:rPr lang="en-US" altLang="zh-CN" sz="1400" dirty="0"/>
              <a:t>2020</a:t>
            </a:r>
          </a:p>
        </p:txBody>
      </p:sp>
      <p:sp>
        <p:nvSpPr>
          <p:cNvPr id="50" name="文本框 49">
            <a:extLst>
              <a:ext uri="{FF2B5EF4-FFF2-40B4-BE49-F238E27FC236}">
                <a16:creationId xmlns:a16="http://schemas.microsoft.com/office/drawing/2014/main" id="{8F2EDBC3-F584-6A4D-E538-4F90659FE88A}"/>
              </a:ext>
            </a:extLst>
          </p:cNvPr>
          <p:cNvSpPr txBox="1"/>
          <p:nvPr/>
        </p:nvSpPr>
        <p:spPr>
          <a:xfrm>
            <a:off x="7425702" y="3706569"/>
            <a:ext cx="572593" cy="307777"/>
          </a:xfrm>
          <a:prstGeom prst="rect">
            <a:avLst/>
          </a:prstGeom>
          <a:noFill/>
        </p:spPr>
        <p:txBody>
          <a:bodyPr wrap="none" rtlCol="0">
            <a:spAutoFit/>
          </a:bodyPr>
          <a:lstStyle/>
          <a:p>
            <a:pPr algn="ctr"/>
            <a:r>
              <a:rPr lang="en-US" altLang="zh-CN" sz="1400" dirty="0"/>
              <a:t>2021</a:t>
            </a:r>
          </a:p>
        </p:txBody>
      </p:sp>
      <p:sp>
        <p:nvSpPr>
          <p:cNvPr id="51" name="文本框 50">
            <a:extLst>
              <a:ext uri="{FF2B5EF4-FFF2-40B4-BE49-F238E27FC236}">
                <a16:creationId xmlns:a16="http://schemas.microsoft.com/office/drawing/2014/main" id="{12F0695A-EE3C-F2E6-6C2C-273BF3512E55}"/>
              </a:ext>
            </a:extLst>
          </p:cNvPr>
          <p:cNvSpPr txBox="1"/>
          <p:nvPr/>
        </p:nvSpPr>
        <p:spPr>
          <a:xfrm>
            <a:off x="10370525" y="2891161"/>
            <a:ext cx="609461" cy="307777"/>
          </a:xfrm>
          <a:prstGeom prst="rect">
            <a:avLst/>
          </a:prstGeom>
          <a:noFill/>
        </p:spPr>
        <p:txBody>
          <a:bodyPr wrap="none" rtlCol="0">
            <a:spAutoFit/>
          </a:bodyPr>
          <a:lstStyle/>
          <a:p>
            <a:pPr algn="ctr"/>
            <a:r>
              <a:rPr lang="en-US" altLang="zh-CN" sz="1400" dirty="0"/>
              <a:t>2023</a:t>
            </a:r>
          </a:p>
        </p:txBody>
      </p:sp>
      <p:sp>
        <p:nvSpPr>
          <p:cNvPr id="52" name="文本框 51">
            <a:extLst>
              <a:ext uri="{FF2B5EF4-FFF2-40B4-BE49-F238E27FC236}">
                <a16:creationId xmlns:a16="http://schemas.microsoft.com/office/drawing/2014/main" id="{B1320792-030F-DCC8-82E1-5C452358546E}"/>
              </a:ext>
            </a:extLst>
          </p:cNvPr>
          <p:cNvSpPr txBox="1"/>
          <p:nvPr/>
        </p:nvSpPr>
        <p:spPr>
          <a:xfrm>
            <a:off x="11139215" y="3706569"/>
            <a:ext cx="609461" cy="307777"/>
          </a:xfrm>
          <a:prstGeom prst="rect">
            <a:avLst/>
          </a:prstGeom>
          <a:noFill/>
        </p:spPr>
        <p:txBody>
          <a:bodyPr wrap="none" rtlCol="0">
            <a:spAutoFit/>
          </a:bodyPr>
          <a:lstStyle/>
          <a:p>
            <a:pPr algn="ctr"/>
            <a:r>
              <a:rPr lang="en-US" altLang="zh-CN" sz="1400" dirty="0"/>
              <a:t>2025</a:t>
            </a:r>
          </a:p>
        </p:txBody>
      </p:sp>
      <p:sp>
        <p:nvSpPr>
          <p:cNvPr id="53" name="椭圆 52">
            <a:extLst>
              <a:ext uri="{FF2B5EF4-FFF2-40B4-BE49-F238E27FC236}">
                <a16:creationId xmlns:a16="http://schemas.microsoft.com/office/drawing/2014/main" id="{23297BBE-F5B3-C10C-E0D1-938FC123D5B3}"/>
              </a:ext>
            </a:extLst>
          </p:cNvPr>
          <p:cNvSpPr/>
          <p:nvPr/>
        </p:nvSpPr>
        <p:spPr>
          <a:xfrm>
            <a:off x="423019" y="1693546"/>
            <a:ext cx="1080000" cy="1080000"/>
          </a:xfrm>
          <a:prstGeom prst="ellipse">
            <a:avLst/>
          </a:prstGeom>
          <a:blipFill>
            <a:blip r:embed="rId5"/>
            <a:stretch>
              <a:fillRect/>
            </a:stretch>
          </a:bli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
        <p:nvSpPr>
          <p:cNvPr id="54" name="椭圆 53">
            <a:extLst>
              <a:ext uri="{FF2B5EF4-FFF2-40B4-BE49-F238E27FC236}">
                <a16:creationId xmlns:a16="http://schemas.microsoft.com/office/drawing/2014/main" id="{0CC63027-637A-653E-4949-2A4D4945298E}"/>
              </a:ext>
            </a:extLst>
          </p:cNvPr>
          <p:cNvSpPr/>
          <p:nvPr/>
        </p:nvSpPr>
        <p:spPr>
          <a:xfrm>
            <a:off x="2672678" y="1693546"/>
            <a:ext cx="1080000" cy="1080000"/>
          </a:xfrm>
          <a:prstGeom prst="ellipse">
            <a:avLst/>
          </a:prstGeom>
          <a:blipFill>
            <a:blip r:embed="rId6"/>
            <a:stretch>
              <a:fillRect/>
            </a:stretch>
          </a:bli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
        <p:nvSpPr>
          <p:cNvPr id="55" name="椭圆 54">
            <a:extLst>
              <a:ext uri="{FF2B5EF4-FFF2-40B4-BE49-F238E27FC236}">
                <a16:creationId xmlns:a16="http://schemas.microsoft.com/office/drawing/2014/main" id="{E9BF1453-52EB-0BBC-AD67-DF5EA5A08420}"/>
              </a:ext>
            </a:extLst>
          </p:cNvPr>
          <p:cNvSpPr/>
          <p:nvPr/>
        </p:nvSpPr>
        <p:spPr>
          <a:xfrm>
            <a:off x="7171996" y="1693546"/>
            <a:ext cx="1080000" cy="1080000"/>
          </a:xfrm>
          <a:prstGeom prst="ellipse">
            <a:avLst/>
          </a:prstGeom>
          <a:blipFill>
            <a:blip r:embed="rId7"/>
            <a:stretch>
              <a:fillRect/>
            </a:stretch>
          </a:bli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
        <p:nvSpPr>
          <p:cNvPr id="56" name="椭圆 55">
            <a:extLst>
              <a:ext uri="{FF2B5EF4-FFF2-40B4-BE49-F238E27FC236}">
                <a16:creationId xmlns:a16="http://schemas.microsoft.com/office/drawing/2014/main" id="{010F1A2C-922A-FF8D-0437-D6A47374882A}"/>
              </a:ext>
            </a:extLst>
          </p:cNvPr>
          <p:cNvSpPr/>
          <p:nvPr/>
        </p:nvSpPr>
        <p:spPr>
          <a:xfrm>
            <a:off x="10903946" y="1693546"/>
            <a:ext cx="1080000" cy="1080000"/>
          </a:xfrm>
          <a:prstGeom prst="ellipse">
            <a:avLst/>
          </a:prstGeom>
          <a:blipFill>
            <a:blip r:embed="rId8"/>
            <a:stretch>
              <a:fillRect/>
            </a:stretch>
          </a:bli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
        <p:nvSpPr>
          <p:cNvPr id="57" name="椭圆 56">
            <a:extLst>
              <a:ext uri="{FF2B5EF4-FFF2-40B4-BE49-F238E27FC236}">
                <a16:creationId xmlns:a16="http://schemas.microsoft.com/office/drawing/2014/main" id="{97C8A2BD-84FB-B560-92B6-122F51DE027A}"/>
              </a:ext>
            </a:extLst>
          </p:cNvPr>
          <p:cNvSpPr/>
          <p:nvPr/>
        </p:nvSpPr>
        <p:spPr>
          <a:xfrm>
            <a:off x="4922337" y="1693546"/>
            <a:ext cx="1080000" cy="1080000"/>
          </a:xfrm>
          <a:prstGeom prst="ellipse">
            <a:avLst/>
          </a:prstGeom>
          <a:blipFill>
            <a:blip r:embed="rId9"/>
            <a:stretch>
              <a:fillRect/>
            </a:stretch>
          </a:bli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
        <p:nvSpPr>
          <p:cNvPr id="58" name="椭圆 57">
            <a:extLst>
              <a:ext uri="{FF2B5EF4-FFF2-40B4-BE49-F238E27FC236}">
                <a16:creationId xmlns:a16="http://schemas.microsoft.com/office/drawing/2014/main" id="{5A4F253D-A53D-4A10-56A1-30D33DDD2D0D}"/>
              </a:ext>
            </a:extLst>
          </p:cNvPr>
          <p:cNvSpPr/>
          <p:nvPr/>
        </p:nvSpPr>
        <p:spPr>
          <a:xfrm>
            <a:off x="1547848" y="3957299"/>
            <a:ext cx="1080000" cy="1080000"/>
          </a:xfrm>
          <a:prstGeom prst="ellipse">
            <a:avLst/>
          </a:prstGeom>
          <a:blipFill>
            <a:blip r:embed="rId10"/>
            <a:stretch>
              <a:fillRect/>
            </a:stretch>
          </a:bli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
        <p:nvSpPr>
          <p:cNvPr id="59" name="椭圆 58">
            <a:extLst>
              <a:ext uri="{FF2B5EF4-FFF2-40B4-BE49-F238E27FC236}">
                <a16:creationId xmlns:a16="http://schemas.microsoft.com/office/drawing/2014/main" id="{0921AD51-E3E9-C41A-7446-16AA7A7EFDA5}"/>
              </a:ext>
            </a:extLst>
          </p:cNvPr>
          <p:cNvSpPr/>
          <p:nvPr/>
        </p:nvSpPr>
        <p:spPr>
          <a:xfrm>
            <a:off x="6047166" y="3957299"/>
            <a:ext cx="1080000" cy="1080000"/>
          </a:xfrm>
          <a:prstGeom prst="ellipse">
            <a:avLst/>
          </a:prstGeom>
          <a:blipFill>
            <a:blip r:embed="rId11"/>
            <a:stretch>
              <a:fillRect/>
            </a:stretch>
          </a:bli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
        <p:nvSpPr>
          <p:cNvPr id="60" name="椭圆 59">
            <a:extLst>
              <a:ext uri="{FF2B5EF4-FFF2-40B4-BE49-F238E27FC236}">
                <a16:creationId xmlns:a16="http://schemas.microsoft.com/office/drawing/2014/main" id="{5E5931A7-4F14-5AA7-9D7E-D4C52DD0F400}"/>
              </a:ext>
            </a:extLst>
          </p:cNvPr>
          <p:cNvSpPr/>
          <p:nvPr/>
        </p:nvSpPr>
        <p:spPr>
          <a:xfrm>
            <a:off x="10135252" y="3957299"/>
            <a:ext cx="1080000" cy="1080000"/>
          </a:xfrm>
          <a:prstGeom prst="ellipse">
            <a:avLst/>
          </a:prstGeom>
          <a:blipFill>
            <a:blip r:embed="rId12"/>
            <a:stretch>
              <a:fillRect/>
            </a:stretch>
          </a:bli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
        <p:nvSpPr>
          <p:cNvPr id="61" name="椭圆 60">
            <a:extLst>
              <a:ext uri="{FF2B5EF4-FFF2-40B4-BE49-F238E27FC236}">
                <a16:creationId xmlns:a16="http://schemas.microsoft.com/office/drawing/2014/main" id="{A83E8A75-7C0C-18B6-482E-167E9D6AF65F}"/>
              </a:ext>
            </a:extLst>
          </p:cNvPr>
          <p:cNvSpPr/>
          <p:nvPr/>
        </p:nvSpPr>
        <p:spPr>
          <a:xfrm>
            <a:off x="3797507" y="3957299"/>
            <a:ext cx="1080000" cy="1080000"/>
          </a:xfrm>
          <a:prstGeom prst="ellipse">
            <a:avLst/>
          </a:prstGeom>
          <a:blipFill>
            <a:blip r:embed="rId13"/>
            <a:stretch>
              <a:fillRect/>
            </a:stretch>
          </a:bli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pic>
        <p:nvPicPr>
          <p:cNvPr id="38" name="图形 37" descr="教授">
            <a:extLst>
              <a:ext uri="{FF2B5EF4-FFF2-40B4-BE49-F238E27FC236}">
                <a16:creationId xmlns:a16="http://schemas.microsoft.com/office/drawing/2014/main" id="{345E2335-6038-1348-597C-5B9F902EB76A}"/>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0495249" y="3232825"/>
            <a:ext cx="360000" cy="360000"/>
          </a:xfrm>
          <a:prstGeom prst="rect">
            <a:avLst/>
          </a:prstGeom>
        </p:spPr>
      </p:pic>
      <p:sp>
        <p:nvSpPr>
          <p:cNvPr id="74" name="椭圆 73">
            <a:extLst>
              <a:ext uri="{FF2B5EF4-FFF2-40B4-BE49-F238E27FC236}">
                <a16:creationId xmlns:a16="http://schemas.microsoft.com/office/drawing/2014/main" id="{D974F988-1CC9-4BA4-5966-360622A107E8}"/>
              </a:ext>
            </a:extLst>
          </p:cNvPr>
          <p:cNvSpPr/>
          <p:nvPr/>
        </p:nvSpPr>
        <p:spPr>
          <a:xfrm>
            <a:off x="9538284" y="3159000"/>
            <a:ext cx="540000" cy="540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pic>
        <p:nvPicPr>
          <p:cNvPr id="76" name="图形 75" descr="教授">
            <a:extLst>
              <a:ext uri="{FF2B5EF4-FFF2-40B4-BE49-F238E27FC236}">
                <a16:creationId xmlns:a16="http://schemas.microsoft.com/office/drawing/2014/main" id="{6E485BD8-3AEC-B2E1-EF02-64308BB700F2}"/>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9628284" y="3214181"/>
            <a:ext cx="360000" cy="360000"/>
          </a:xfrm>
          <a:prstGeom prst="rect">
            <a:avLst/>
          </a:prstGeom>
        </p:spPr>
      </p:pic>
      <p:sp>
        <p:nvSpPr>
          <p:cNvPr id="77" name="文本框 76">
            <a:extLst>
              <a:ext uri="{FF2B5EF4-FFF2-40B4-BE49-F238E27FC236}">
                <a16:creationId xmlns:a16="http://schemas.microsoft.com/office/drawing/2014/main" id="{DDF717A7-C9EF-DC13-33BD-5B05DAF1AA00}"/>
              </a:ext>
            </a:extLst>
          </p:cNvPr>
          <p:cNvSpPr txBox="1"/>
          <p:nvPr/>
        </p:nvSpPr>
        <p:spPr>
          <a:xfrm>
            <a:off x="9502757" y="3706569"/>
            <a:ext cx="611065" cy="307777"/>
          </a:xfrm>
          <a:prstGeom prst="rect">
            <a:avLst/>
          </a:prstGeom>
          <a:noFill/>
        </p:spPr>
        <p:txBody>
          <a:bodyPr wrap="none" rtlCol="0">
            <a:spAutoFit/>
          </a:bodyPr>
          <a:lstStyle/>
          <a:p>
            <a:pPr algn="ctr"/>
            <a:r>
              <a:rPr lang="en-US" altLang="zh-CN" sz="1400" dirty="0"/>
              <a:t>2022</a:t>
            </a:r>
          </a:p>
        </p:txBody>
      </p:sp>
      <p:sp>
        <p:nvSpPr>
          <p:cNvPr id="78" name="椭圆 77">
            <a:extLst>
              <a:ext uri="{FF2B5EF4-FFF2-40B4-BE49-F238E27FC236}">
                <a16:creationId xmlns:a16="http://schemas.microsoft.com/office/drawing/2014/main" id="{86B4E02A-AAE6-1081-D420-8759F319887B}"/>
              </a:ext>
            </a:extLst>
          </p:cNvPr>
          <p:cNvSpPr/>
          <p:nvPr/>
        </p:nvSpPr>
        <p:spPr>
          <a:xfrm>
            <a:off x="9268287" y="1693546"/>
            <a:ext cx="1080000" cy="1080000"/>
          </a:xfrm>
          <a:prstGeom prst="ellipse">
            <a:avLst/>
          </a:prstGeom>
          <a:blipFill>
            <a:blip r:embed="rId15"/>
            <a:stretch>
              <a:fillRect/>
            </a:stretch>
          </a:bli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
        <p:nvSpPr>
          <p:cNvPr id="79" name="椭圆 78">
            <a:extLst>
              <a:ext uri="{FF2B5EF4-FFF2-40B4-BE49-F238E27FC236}">
                <a16:creationId xmlns:a16="http://schemas.microsoft.com/office/drawing/2014/main" id="{69757BB0-63FC-713A-4E4C-9817BE803A9C}"/>
              </a:ext>
            </a:extLst>
          </p:cNvPr>
          <p:cNvSpPr/>
          <p:nvPr/>
        </p:nvSpPr>
        <p:spPr>
          <a:xfrm>
            <a:off x="8558754" y="3159000"/>
            <a:ext cx="540000" cy="540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pic>
        <p:nvPicPr>
          <p:cNvPr id="81" name="图形 80" descr="教授">
            <a:extLst>
              <a:ext uri="{FF2B5EF4-FFF2-40B4-BE49-F238E27FC236}">
                <a16:creationId xmlns:a16="http://schemas.microsoft.com/office/drawing/2014/main" id="{C37904B0-D875-D523-8DDF-E4CC90BE2435}"/>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648754" y="3241781"/>
            <a:ext cx="360000" cy="360000"/>
          </a:xfrm>
          <a:prstGeom prst="rect">
            <a:avLst/>
          </a:prstGeom>
        </p:spPr>
      </p:pic>
      <p:sp>
        <p:nvSpPr>
          <p:cNvPr id="82" name="文本框 81">
            <a:extLst>
              <a:ext uri="{FF2B5EF4-FFF2-40B4-BE49-F238E27FC236}">
                <a16:creationId xmlns:a16="http://schemas.microsoft.com/office/drawing/2014/main" id="{7478484D-CFC8-3497-8500-D27B579876EC}"/>
              </a:ext>
            </a:extLst>
          </p:cNvPr>
          <p:cNvSpPr txBox="1"/>
          <p:nvPr/>
        </p:nvSpPr>
        <p:spPr>
          <a:xfrm>
            <a:off x="8523226" y="2891161"/>
            <a:ext cx="611065" cy="307777"/>
          </a:xfrm>
          <a:prstGeom prst="rect">
            <a:avLst/>
          </a:prstGeom>
          <a:noFill/>
        </p:spPr>
        <p:txBody>
          <a:bodyPr wrap="none" rtlCol="0">
            <a:spAutoFit/>
          </a:bodyPr>
          <a:lstStyle/>
          <a:p>
            <a:pPr algn="ctr"/>
            <a:r>
              <a:rPr lang="en-US" altLang="zh-CN" sz="1400" dirty="0"/>
              <a:t>2022</a:t>
            </a:r>
          </a:p>
        </p:txBody>
      </p:sp>
      <p:sp>
        <p:nvSpPr>
          <p:cNvPr id="83" name="椭圆 82">
            <a:extLst>
              <a:ext uri="{FF2B5EF4-FFF2-40B4-BE49-F238E27FC236}">
                <a16:creationId xmlns:a16="http://schemas.microsoft.com/office/drawing/2014/main" id="{2157780D-03E6-6BBD-6566-638410CE98FF}"/>
              </a:ext>
            </a:extLst>
          </p:cNvPr>
          <p:cNvSpPr/>
          <p:nvPr/>
        </p:nvSpPr>
        <p:spPr>
          <a:xfrm>
            <a:off x="8288756" y="3957299"/>
            <a:ext cx="1080000" cy="1080000"/>
          </a:xfrm>
          <a:prstGeom prst="ellipse">
            <a:avLst/>
          </a:prstGeom>
          <a:blipFill>
            <a:blip r:embed="rId16"/>
            <a:stretch>
              <a:fillRect/>
            </a:stretch>
          </a:bli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cxnSp>
        <p:nvCxnSpPr>
          <p:cNvPr id="5" name="直接箭头连接符 4">
            <a:extLst>
              <a:ext uri="{FF2B5EF4-FFF2-40B4-BE49-F238E27FC236}">
                <a16:creationId xmlns:a16="http://schemas.microsoft.com/office/drawing/2014/main" id="{5D82AACB-4F27-34B1-FFBD-C5CDCDA28F2F}"/>
              </a:ext>
            </a:extLst>
          </p:cNvPr>
          <p:cNvCxnSpPr>
            <a:stCxn id="10" idx="0"/>
            <a:endCxn id="55" idx="4"/>
          </p:cNvCxnSpPr>
          <p:nvPr/>
        </p:nvCxnSpPr>
        <p:spPr>
          <a:xfrm flipV="1">
            <a:off x="7711996" y="2773546"/>
            <a:ext cx="0" cy="3854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CC851E42-CBD9-1E05-BC1D-983829652028}"/>
              </a:ext>
            </a:extLst>
          </p:cNvPr>
          <p:cNvCxnSpPr>
            <a:stCxn id="74" idx="0"/>
            <a:endCxn id="78" idx="4"/>
          </p:cNvCxnSpPr>
          <p:nvPr/>
        </p:nvCxnSpPr>
        <p:spPr>
          <a:xfrm flipV="1">
            <a:off x="9808284" y="2773546"/>
            <a:ext cx="3" cy="3854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B139F295-B858-4774-A0CE-995BA036C579}"/>
              </a:ext>
            </a:extLst>
          </p:cNvPr>
          <p:cNvCxnSpPr>
            <a:stCxn id="9" idx="0"/>
            <a:endCxn id="57" idx="4"/>
          </p:cNvCxnSpPr>
          <p:nvPr/>
        </p:nvCxnSpPr>
        <p:spPr>
          <a:xfrm flipV="1">
            <a:off x="5462335" y="2773546"/>
            <a:ext cx="2" cy="3854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0BB7C929-7F0E-2455-CC62-BDEF5EC9E2CE}"/>
              </a:ext>
            </a:extLst>
          </p:cNvPr>
          <p:cNvCxnSpPr>
            <a:stCxn id="8" idx="0"/>
            <a:endCxn id="54" idx="4"/>
          </p:cNvCxnSpPr>
          <p:nvPr/>
        </p:nvCxnSpPr>
        <p:spPr>
          <a:xfrm flipV="1">
            <a:off x="3212677" y="2773546"/>
            <a:ext cx="1" cy="3854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7749B049-9DB9-EEBD-FD71-B4DBFF0C931F}"/>
              </a:ext>
            </a:extLst>
          </p:cNvPr>
          <p:cNvCxnSpPr>
            <a:stCxn id="7" idx="0"/>
            <a:endCxn id="53" idx="4"/>
          </p:cNvCxnSpPr>
          <p:nvPr/>
        </p:nvCxnSpPr>
        <p:spPr>
          <a:xfrm flipV="1">
            <a:off x="963019" y="2773546"/>
            <a:ext cx="0" cy="3854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71B494BB-1EA4-9124-AEA1-5C89A9165FE1}"/>
              </a:ext>
            </a:extLst>
          </p:cNvPr>
          <p:cNvCxnSpPr>
            <a:stCxn id="11" idx="0"/>
            <a:endCxn id="56" idx="4"/>
          </p:cNvCxnSpPr>
          <p:nvPr/>
        </p:nvCxnSpPr>
        <p:spPr>
          <a:xfrm flipV="1">
            <a:off x="11443946" y="2773546"/>
            <a:ext cx="0" cy="3854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a:extLst>
              <a:ext uri="{FF2B5EF4-FFF2-40B4-BE49-F238E27FC236}">
                <a16:creationId xmlns:a16="http://schemas.microsoft.com/office/drawing/2014/main" id="{57D6FD08-AE4D-FAC5-B257-AE9DB05D8BFB}"/>
              </a:ext>
            </a:extLst>
          </p:cNvPr>
          <p:cNvCxnSpPr>
            <a:stCxn id="19" idx="4"/>
            <a:endCxn id="58" idx="0"/>
          </p:cNvCxnSpPr>
          <p:nvPr/>
        </p:nvCxnSpPr>
        <p:spPr>
          <a:xfrm>
            <a:off x="2087848" y="3699000"/>
            <a:ext cx="0" cy="25829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接箭头连接符 64">
            <a:extLst>
              <a:ext uri="{FF2B5EF4-FFF2-40B4-BE49-F238E27FC236}">
                <a16:creationId xmlns:a16="http://schemas.microsoft.com/office/drawing/2014/main" id="{526BE050-E00C-BCF4-0953-5CE2AC7D22BF}"/>
              </a:ext>
            </a:extLst>
          </p:cNvPr>
          <p:cNvCxnSpPr>
            <a:stCxn id="20" idx="4"/>
            <a:endCxn id="61" idx="0"/>
          </p:cNvCxnSpPr>
          <p:nvPr/>
        </p:nvCxnSpPr>
        <p:spPr>
          <a:xfrm>
            <a:off x="4337506" y="3699000"/>
            <a:ext cx="1" cy="25829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接箭头连接符 66">
            <a:extLst>
              <a:ext uri="{FF2B5EF4-FFF2-40B4-BE49-F238E27FC236}">
                <a16:creationId xmlns:a16="http://schemas.microsoft.com/office/drawing/2014/main" id="{D430FEFF-F5C0-410C-3A0F-7BCEBC82B141}"/>
              </a:ext>
            </a:extLst>
          </p:cNvPr>
          <p:cNvCxnSpPr>
            <a:stCxn id="21" idx="4"/>
            <a:endCxn id="59" idx="0"/>
          </p:cNvCxnSpPr>
          <p:nvPr/>
        </p:nvCxnSpPr>
        <p:spPr>
          <a:xfrm>
            <a:off x="6587164" y="3699000"/>
            <a:ext cx="2" cy="25829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接箭头连接符 68">
            <a:extLst>
              <a:ext uri="{FF2B5EF4-FFF2-40B4-BE49-F238E27FC236}">
                <a16:creationId xmlns:a16="http://schemas.microsoft.com/office/drawing/2014/main" id="{8701B554-99BB-6601-DD6E-E3C87C6125AC}"/>
              </a:ext>
            </a:extLst>
          </p:cNvPr>
          <p:cNvCxnSpPr>
            <a:stCxn id="79" idx="4"/>
            <a:endCxn id="83" idx="0"/>
          </p:cNvCxnSpPr>
          <p:nvPr/>
        </p:nvCxnSpPr>
        <p:spPr>
          <a:xfrm>
            <a:off x="8828754" y="3699000"/>
            <a:ext cx="2" cy="25829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接箭头连接符 70">
            <a:extLst>
              <a:ext uri="{FF2B5EF4-FFF2-40B4-BE49-F238E27FC236}">
                <a16:creationId xmlns:a16="http://schemas.microsoft.com/office/drawing/2014/main" id="{C202D905-BA3C-D70A-92C6-AB9CB6BA6C6F}"/>
              </a:ext>
            </a:extLst>
          </p:cNvPr>
          <p:cNvCxnSpPr>
            <a:stCxn id="22" idx="4"/>
            <a:endCxn id="60" idx="0"/>
          </p:cNvCxnSpPr>
          <p:nvPr/>
        </p:nvCxnSpPr>
        <p:spPr>
          <a:xfrm>
            <a:off x="10675252" y="3699000"/>
            <a:ext cx="0" cy="25829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0319562"/>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CA1A5183-1B86-E1A1-6D47-921D9E42A45A}"/>
              </a:ext>
            </a:extLst>
          </p:cNvPr>
          <p:cNvGraphicFramePr>
            <a:graphicFrameLocks noGrp="1"/>
          </p:cNvGraphicFramePr>
          <p:nvPr>
            <p:extLst>
              <p:ext uri="{D42A27DB-BD31-4B8C-83A1-F6EECF244321}">
                <p14:modId xmlns:p14="http://schemas.microsoft.com/office/powerpoint/2010/main" val="2123262684"/>
              </p:ext>
            </p:extLst>
          </p:nvPr>
        </p:nvGraphicFramePr>
        <p:xfrm>
          <a:off x="966000" y="1045078"/>
          <a:ext cx="10260000" cy="4767845"/>
        </p:xfrm>
        <a:graphic>
          <a:graphicData uri="http://schemas.openxmlformats.org/drawingml/2006/table">
            <a:tbl>
              <a:tblPr firstRow="1" bandRow="1">
                <a:tableStyleId>{5C22544A-7EE6-4342-B048-85BDC9FD1C3A}</a:tableStyleId>
              </a:tblPr>
              <a:tblGrid>
                <a:gridCol w="720000">
                  <a:extLst>
                    <a:ext uri="{9D8B030D-6E8A-4147-A177-3AD203B41FA5}">
                      <a16:colId xmlns:a16="http://schemas.microsoft.com/office/drawing/2014/main" val="3968476350"/>
                    </a:ext>
                  </a:extLst>
                </a:gridCol>
                <a:gridCol w="720000">
                  <a:extLst>
                    <a:ext uri="{9D8B030D-6E8A-4147-A177-3AD203B41FA5}">
                      <a16:colId xmlns:a16="http://schemas.microsoft.com/office/drawing/2014/main" val="4058928213"/>
                    </a:ext>
                  </a:extLst>
                </a:gridCol>
                <a:gridCol w="720000">
                  <a:extLst>
                    <a:ext uri="{9D8B030D-6E8A-4147-A177-3AD203B41FA5}">
                      <a16:colId xmlns:a16="http://schemas.microsoft.com/office/drawing/2014/main" val="3560384100"/>
                    </a:ext>
                  </a:extLst>
                </a:gridCol>
                <a:gridCol w="2880000">
                  <a:extLst>
                    <a:ext uri="{9D8B030D-6E8A-4147-A177-3AD203B41FA5}">
                      <a16:colId xmlns:a16="http://schemas.microsoft.com/office/drawing/2014/main" val="2962904192"/>
                    </a:ext>
                  </a:extLst>
                </a:gridCol>
                <a:gridCol w="900000">
                  <a:extLst>
                    <a:ext uri="{9D8B030D-6E8A-4147-A177-3AD203B41FA5}">
                      <a16:colId xmlns:a16="http://schemas.microsoft.com/office/drawing/2014/main" val="530709075"/>
                    </a:ext>
                  </a:extLst>
                </a:gridCol>
                <a:gridCol w="900000">
                  <a:extLst>
                    <a:ext uri="{9D8B030D-6E8A-4147-A177-3AD203B41FA5}">
                      <a16:colId xmlns:a16="http://schemas.microsoft.com/office/drawing/2014/main" val="3263362008"/>
                    </a:ext>
                  </a:extLst>
                </a:gridCol>
                <a:gridCol w="1800000">
                  <a:extLst>
                    <a:ext uri="{9D8B030D-6E8A-4147-A177-3AD203B41FA5}">
                      <a16:colId xmlns:a16="http://schemas.microsoft.com/office/drawing/2014/main" val="15236971"/>
                    </a:ext>
                  </a:extLst>
                </a:gridCol>
                <a:gridCol w="900000">
                  <a:extLst>
                    <a:ext uri="{9D8B030D-6E8A-4147-A177-3AD203B41FA5}">
                      <a16:colId xmlns:a16="http://schemas.microsoft.com/office/drawing/2014/main" val="3977091328"/>
                    </a:ext>
                  </a:extLst>
                </a:gridCol>
                <a:gridCol w="720000">
                  <a:extLst>
                    <a:ext uri="{9D8B030D-6E8A-4147-A177-3AD203B41FA5}">
                      <a16:colId xmlns:a16="http://schemas.microsoft.com/office/drawing/2014/main" val="3607219551"/>
                    </a:ext>
                  </a:extLst>
                </a:gridCol>
              </a:tblGrid>
              <a:tr h="576000">
                <a:tc>
                  <a:txBody>
                    <a:bodyPr/>
                    <a:lstStyle/>
                    <a:p>
                      <a:pPr algn="ctr">
                        <a:lnSpc>
                          <a:spcPct val="100000"/>
                        </a:lnSpc>
                        <a:buNone/>
                      </a:pPr>
                      <a:r>
                        <a:rPr lang="zh-CN" altLang="en-US" sz="1600" dirty="0">
                          <a:solidFill>
                            <a:schemeClr val="tx1"/>
                          </a:solidFill>
                        </a:rPr>
                        <a:t>周次</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buNone/>
                      </a:pPr>
                      <a:r>
                        <a:rPr lang="zh-CN" altLang="en-US" sz="1600" dirty="0">
                          <a:solidFill>
                            <a:schemeClr val="tx1"/>
                          </a:solidFill>
                        </a:rPr>
                        <a:t>星期</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buNone/>
                      </a:pPr>
                      <a:r>
                        <a:rPr lang="zh-CN" altLang="en-US" sz="1600" dirty="0">
                          <a:solidFill>
                            <a:schemeClr val="tx1"/>
                          </a:solidFill>
                        </a:rPr>
                        <a:t>节次</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buNone/>
                      </a:pPr>
                      <a:r>
                        <a:rPr lang="zh-CN" altLang="en-US" sz="1600" dirty="0">
                          <a:solidFill>
                            <a:schemeClr val="tx1"/>
                          </a:solidFill>
                        </a:rPr>
                        <a:t>讲授章、节及内容</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buNone/>
                      </a:pPr>
                      <a:r>
                        <a:rPr lang="zh-CN" altLang="en-US" sz="1600" dirty="0">
                          <a:solidFill>
                            <a:schemeClr val="tx1"/>
                          </a:solidFill>
                        </a:rPr>
                        <a:t>理论学时</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buNone/>
                      </a:pPr>
                      <a:r>
                        <a:rPr lang="zh-CN" altLang="en-US" sz="1600" dirty="0">
                          <a:solidFill>
                            <a:schemeClr val="tx1"/>
                          </a:solidFill>
                        </a:rPr>
                        <a:t>实践学时</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buNone/>
                      </a:pPr>
                      <a:r>
                        <a:rPr lang="zh-CN" altLang="en-US" sz="1600" dirty="0">
                          <a:solidFill>
                            <a:schemeClr val="tx1"/>
                          </a:solidFill>
                        </a:rPr>
                        <a:t>作业</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buNone/>
                      </a:pPr>
                      <a:r>
                        <a:rPr lang="zh-CN" altLang="en-US" sz="1600" dirty="0">
                          <a:solidFill>
                            <a:schemeClr val="tx1"/>
                          </a:solidFill>
                        </a:rPr>
                        <a:t>授课教师</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buNone/>
                      </a:pPr>
                      <a:r>
                        <a:rPr lang="zh-CN" altLang="en-US" sz="1600" dirty="0">
                          <a:solidFill>
                            <a:schemeClr val="tx1"/>
                          </a:solidFill>
                        </a:rPr>
                        <a:t>备注</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2035444"/>
                  </a:ext>
                </a:extLst>
              </a:tr>
              <a:tr h="4191845">
                <a:tc>
                  <a:txBody>
                    <a:bodyPr/>
                    <a:lstStyle/>
                    <a:p>
                      <a:pPr algn="ctr">
                        <a:lnSpc>
                          <a:spcPct val="100000"/>
                        </a:lnSpc>
                        <a:buNone/>
                      </a:pPr>
                      <a:r>
                        <a:rPr lang="zh-CN" altLang="en-US" sz="1600" dirty="0">
                          <a:solidFill>
                            <a:schemeClr val="tx1"/>
                          </a:solidFill>
                        </a:rPr>
                        <a:t>八</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buNone/>
                      </a:pPr>
                      <a:r>
                        <a:rPr lang="zh-CN" altLang="en-US" sz="1600" dirty="0">
                          <a:solidFill>
                            <a:schemeClr val="tx1"/>
                          </a:solidFill>
                        </a:rPr>
                        <a:t>一</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buNone/>
                      </a:pPr>
                      <a:r>
                        <a:rPr lang="en-US" sz="1600" dirty="0">
                          <a:solidFill>
                            <a:schemeClr val="tx1"/>
                          </a:solidFill>
                        </a:rPr>
                        <a:t>3-4</a:t>
                      </a:r>
                      <a:endParaRPr lang="zh-CN" altLang="en-US" sz="1600" dirty="0">
                        <a:solidFill>
                          <a:schemeClr val="tx1"/>
                        </a:solidFil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00000"/>
                        </a:lnSpc>
                        <a:buNone/>
                      </a:pPr>
                      <a:r>
                        <a:rPr lang="zh-CN" altLang="en-US" sz="1600" dirty="0">
                          <a:solidFill>
                            <a:schemeClr val="tx1"/>
                          </a:solidFill>
                        </a:rPr>
                        <a:t>第</a:t>
                      </a:r>
                      <a:r>
                        <a:rPr lang="en-US" sz="1600" dirty="0">
                          <a:solidFill>
                            <a:schemeClr val="tx1"/>
                          </a:solidFill>
                        </a:rPr>
                        <a:t>7</a:t>
                      </a:r>
                      <a:r>
                        <a:rPr lang="zh-CN" altLang="en-US" sz="1600" dirty="0">
                          <a:solidFill>
                            <a:schemeClr val="tx1"/>
                          </a:solidFill>
                        </a:rPr>
                        <a:t>章 进度计划</a:t>
                      </a:r>
                    </a:p>
                    <a:p>
                      <a:pPr algn="just">
                        <a:lnSpc>
                          <a:spcPct val="100000"/>
                        </a:lnSpc>
                        <a:buNone/>
                      </a:pPr>
                      <a:r>
                        <a:rPr lang="en-US" sz="1600" dirty="0">
                          <a:solidFill>
                            <a:schemeClr val="tx1"/>
                          </a:solidFill>
                        </a:rPr>
                        <a:t>7.1 </a:t>
                      </a:r>
                      <a:r>
                        <a:rPr lang="zh-CN" altLang="en-US" sz="1600" dirty="0">
                          <a:solidFill>
                            <a:schemeClr val="tx1"/>
                          </a:solidFill>
                        </a:rPr>
                        <a:t>传统项目进度计划流程</a:t>
                      </a:r>
                    </a:p>
                    <a:p>
                      <a:pPr algn="just">
                        <a:lnSpc>
                          <a:spcPct val="100000"/>
                        </a:lnSpc>
                        <a:buNone/>
                      </a:pPr>
                      <a:r>
                        <a:rPr lang="en-US" sz="1600" dirty="0">
                          <a:solidFill>
                            <a:schemeClr val="tx1"/>
                          </a:solidFill>
                        </a:rPr>
                        <a:t>7.2 </a:t>
                      </a:r>
                      <a:r>
                        <a:rPr lang="zh-CN" altLang="en-US" sz="1600" dirty="0">
                          <a:solidFill>
                            <a:schemeClr val="tx1"/>
                          </a:solidFill>
                        </a:rPr>
                        <a:t>任务定义与进度管理图示</a:t>
                      </a:r>
                    </a:p>
                    <a:p>
                      <a:pPr algn="just">
                        <a:lnSpc>
                          <a:spcPct val="100000"/>
                        </a:lnSpc>
                        <a:buNone/>
                      </a:pPr>
                      <a:r>
                        <a:rPr lang="en-US" sz="1600" dirty="0">
                          <a:solidFill>
                            <a:schemeClr val="tx1"/>
                          </a:solidFill>
                        </a:rPr>
                        <a:t>7.3 </a:t>
                      </a:r>
                      <a:r>
                        <a:rPr lang="zh-CN" altLang="en-US" sz="1600" dirty="0">
                          <a:solidFill>
                            <a:schemeClr val="tx1"/>
                          </a:solidFill>
                        </a:rPr>
                        <a:t>项目任务关联关系</a:t>
                      </a:r>
                    </a:p>
                    <a:p>
                      <a:pPr algn="just">
                        <a:lnSpc>
                          <a:spcPct val="100000"/>
                        </a:lnSpc>
                        <a:buNone/>
                      </a:pPr>
                      <a:r>
                        <a:rPr lang="en-US" sz="1600" dirty="0">
                          <a:solidFill>
                            <a:schemeClr val="tx1"/>
                          </a:solidFill>
                        </a:rPr>
                        <a:t>7.4 </a:t>
                      </a:r>
                      <a:r>
                        <a:rPr lang="zh-CN" altLang="en-US" sz="1600" dirty="0">
                          <a:solidFill>
                            <a:schemeClr val="tx1"/>
                          </a:solidFill>
                        </a:rPr>
                        <a:t>任务历时估计</a:t>
                      </a:r>
                    </a:p>
                    <a:p>
                      <a:pPr algn="just">
                        <a:lnSpc>
                          <a:spcPct val="100000"/>
                        </a:lnSpc>
                        <a:buNone/>
                      </a:pPr>
                      <a:r>
                        <a:rPr lang="en-US" sz="1600" dirty="0">
                          <a:solidFill>
                            <a:schemeClr val="tx1"/>
                          </a:solidFill>
                        </a:rPr>
                        <a:t>7.5 </a:t>
                      </a:r>
                      <a:r>
                        <a:rPr lang="zh-CN" altLang="en-US" sz="1600" dirty="0">
                          <a:solidFill>
                            <a:schemeClr val="tx1"/>
                          </a:solidFill>
                        </a:rPr>
                        <a:t>进度计划编排</a:t>
                      </a:r>
                    </a:p>
                    <a:p>
                      <a:pPr algn="just">
                        <a:lnSpc>
                          <a:spcPct val="100000"/>
                        </a:lnSpc>
                        <a:buNone/>
                      </a:pPr>
                      <a:r>
                        <a:rPr lang="en-US" sz="1600" dirty="0">
                          <a:solidFill>
                            <a:schemeClr val="tx1"/>
                          </a:solidFill>
                        </a:rPr>
                        <a:t>7.6 </a:t>
                      </a:r>
                      <a:r>
                        <a:rPr lang="zh-CN" altLang="en-US" sz="1600" dirty="0">
                          <a:solidFill>
                            <a:schemeClr val="tx1"/>
                          </a:solidFill>
                        </a:rPr>
                        <a:t>敏捷项目进度计划</a:t>
                      </a:r>
                    </a:p>
                    <a:p>
                      <a:pPr algn="just">
                        <a:lnSpc>
                          <a:spcPct val="100000"/>
                        </a:lnSpc>
                        <a:buNone/>
                      </a:pPr>
                      <a:r>
                        <a:rPr lang="en-US" sz="1600" dirty="0">
                          <a:solidFill>
                            <a:schemeClr val="tx1"/>
                          </a:solidFill>
                        </a:rPr>
                        <a:t>7.7 </a:t>
                      </a:r>
                      <a:r>
                        <a:rPr lang="zh-CN" altLang="en-US" sz="1600" dirty="0">
                          <a:solidFill>
                            <a:schemeClr val="tx1"/>
                          </a:solidFill>
                        </a:rPr>
                        <a:t>软件项目进度问题模型</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buNone/>
                      </a:pPr>
                      <a:r>
                        <a:rPr lang="en-US" sz="1600" dirty="0">
                          <a:solidFill>
                            <a:schemeClr val="tx1"/>
                          </a:solidFill>
                        </a:rPr>
                        <a:t>2</a:t>
                      </a:r>
                      <a:endParaRPr lang="zh-CN" altLang="en-US" sz="1600" dirty="0">
                        <a:solidFill>
                          <a:schemeClr val="tx1"/>
                        </a:solidFil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buNone/>
                      </a:pPr>
                      <a:r>
                        <a:rPr lang="en-US" sz="1600" dirty="0">
                          <a:solidFill>
                            <a:schemeClr val="tx1"/>
                          </a:solidFill>
                        </a:rPr>
                        <a:t> 0</a:t>
                      </a:r>
                      <a:endParaRPr lang="zh-CN" altLang="en-US" sz="1600" dirty="0">
                        <a:solidFill>
                          <a:schemeClr val="tx1"/>
                        </a:solidFil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00000"/>
                        </a:lnSpc>
                        <a:buNone/>
                      </a:pPr>
                      <a:r>
                        <a:rPr lang="en-US" sz="1600" dirty="0">
                          <a:solidFill>
                            <a:schemeClr val="tx1"/>
                          </a:solidFill>
                        </a:rPr>
                        <a:t>P242</a:t>
                      </a:r>
                      <a:endParaRPr lang="zh-CN" altLang="en-US" sz="1600" dirty="0">
                        <a:solidFill>
                          <a:schemeClr val="tx1"/>
                        </a:solidFill>
                      </a:endParaRPr>
                    </a:p>
                    <a:p>
                      <a:pPr algn="just">
                        <a:lnSpc>
                          <a:spcPct val="100000"/>
                        </a:lnSpc>
                        <a:buNone/>
                      </a:pPr>
                      <a:r>
                        <a:rPr lang="zh-CN" altLang="en-US" sz="1600" dirty="0">
                          <a:solidFill>
                            <a:schemeClr val="tx1"/>
                          </a:solidFill>
                        </a:rPr>
                        <a:t>第一、二、三大题</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buNone/>
                      </a:pPr>
                      <a:r>
                        <a:rPr lang="zh-CN" altLang="en-US" sz="1600" dirty="0">
                          <a:solidFill>
                            <a:schemeClr val="tx1"/>
                          </a:solidFill>
                        </a:rPr>
                        <a:t>张树彬</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buNone/>
                      </a:pPr>
                      <a:r>
                        <a:rPr lang="en-US" sz="1600" dirty="0">
                          <a:solidFill>
                            <a:schemeClr val="tx1"/>
                          </a:solidFill>
                        </a:rPr>
                        <a:t> </a:t>
                      </a:r>
                      <a:endParaRPr lang="zh-CN" altLang="en-US" sz="1600" dirty="0">
                        <a:solidFill>
                          <a:schemeClr val="tx1"/>
                        </a:solidFil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63575844"/>
                  </a:ext>
                </a:extLst>
              </a:tr>
            </a:tbl>
          </a:graphicData>
        </a:graphic>
      </p:graphicFrame>
    </p:spTree>
    <p:extLst>
      <p:ext uri="{BB962C8B-B14F-4D97-AF65-F5344CB8AC3E}">
        <p14:creationId xmlns:p14="http://schemas.microsoft.com/office/powerpoint/2010/main" val="1564504280"/>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E9A5A6-CF70-9F84-94A8-DDA03BF31CF1}"/>
              </a:ext>
            </a:extLst>
          </p:cNvPr>
          <p:cNvSpPr>
            <a:spLocks noGrp="1"/>
          </p:cNvSpPr>
          <p:nvPr>
            <p:ph type="title"/>
          </p:nvPr>
        </p:nvSpPr>
        <p:spPr>
          <a:xfrm>
            <a:off x="792000" y="360000"/>
            <a:ext cx="6375921" cy="429413"/>
          </a:xfrm>
        </p:spPr>
        <p:txBody>
          <a:bodyPr/>
          <a:lstStyle/>
          <a:p>
            <a:r>
              <a:rPr lang="en-US" altLang="zh-CN" dirty="0"/>
              <a:t>2.5 </a:t>
            </a:r>
            <a:r>
              <a:rPr lang="zh-CN" altLang="en-US" dirty="0"/>
              <a:t>资源图</a:t>
            </a:r>
          </a:p>
        </p:txBody>
      </p:sp>
      <p:sp>
        <p:nvSpPr>
          <p:cNvPr id="6" name="内容占位符 5">
            <a:extLst>
              <a:ext uri="{FF2B5EF4-FFF2-40B4-BE49-F238E27FC236}">
                <a16:creationId xmlns:a16="http://schemas.microsoft.com/office/drawing/2014/main" id="{A0A4F677-BBFC-5DB3-DC0C-C508C325F7E8}"/>
              </a:ext>
            </a:extLst>
          </p:cNvPr>
          <p:cNvSpPr>
            <a:spLocks noGrp="1"/>
          </p:cNvSpPr>
          <p:nvPr>
            <p:ph idx="1"/>
          </p:nvPr>
        </p:nvSpPr>
        <p:spPr>
          <a:xfrm>
            <a:off x="696000" y="864000"/>
            <a:ext cx="10800000" cy="5400000"/>
          </a:xfrm>
        </p:spPr>
        <p:txBody>
          <a:bodyPr/>
          <a:lstStyle/>
          <a:p>
            <a:r>
              <a:rPr lang="zh-CN" altLang="en-US" dirty="0"/>
              <a:t>资源图是一个统称，根据资源类型的不同，可以细分为多种图表：</a:t>
            </a:r>
          </a:p>
          <a:p>
            <a:r>
              <a:rPr lang="zh-CN" altLang="en-US" dirty="0"/>
              <a:t>人力资源图</a:t>
            </a:r>
          </a:p>
          <a:p>
            <a:pPr lvl="1"/>
            <a:r>
              <a:rPr lang="zh-CN" altLang="en-US" dirty="0"/>
              <a:t>展示项目团队成员的分配情况</a:t>
            </a:r>
            <a:endParaRPr lang="en-US" altLang="zh-CN" dirty="0"/>
          </a:p>
          <a:p>
            <a:pPr lvl="1"/>
            <a:r>
              <a:rPr lang="zh-CN" altLang="en-US" dirty="0"/>
              <a:t>包括每个人的角色、职责和工作负荷，确保团队协作顺畅</a:t>
            </a:r>
          </a:p>
          <a:p>
            <a:r>
              <a:rPr lang="zh-CN" altLang="en-US" dirty="0"/>
              <a:t>物质资源图</a:t>
            </a:r>
          </a:p>
          <a:p>
            <a:pPr lvl="1"/>
            <a:r>
              <a:rPr lang="zh-CN" altLang="en-US" dirty="0"/>
              <a:t>显示项目所需设备、设施、材料等实体资源的分配和使用情况</a:t>
            </a:r>
            <a:endParaRPr lang="en-US" altLang="zh-CN" dirty="0"/>
          </a:p>
          <a:p>
            <a:pPr lvl="1"/>
            <a:r>
              <a:rPr lang="zh-CN" altLang="en-US" dirty="0"/>
              <a:t>帮助管理者及时调配，防止资源闲置或短缺</a:t>
            </a:r>
          </a:p>
          <a:p>
            <a:r>
              <a:rPr lang="zh-CN" altLang="en-US" dirty="0"/>
              <a:t>时间资源图</a:t>
            </a:r>
          </a:p>
          <a:p>
            <a:pPr lvl="1"/>
            <a:r>
              <a:rPr lang="zh-CN" altLang="en-US" dirty="0"/>
              <a:t>通常与甘特图或网络图结合</a:t>
            </a:r>
            <a:endParaRPr lang="en-US" altLang="zh-CN" dirty="0"/>
          </a:p>
          <a:p>
            <a:pPr lvl="1"/>
            <a:r>
              <a:rPr lang="zh-CN" altLang="en-US" dirty="0"/>
              <a:t>清晰地展示项目各阶段的开始、结束和交付日期，帮助合理安排时间资源</a:t>
            </a:r>
          </a:p>
          <a:p>
            <a:r>
              <a:rPr lang="zh-CN" altLang="en-US" dirty="0"/>
              <a:t>财务资源图</a:t>
            </a:r>
          </a:p>
          <a:p>
            <a:pPr lvl="1"/>
            <a:r>
              <a:rPr lang="zh-CN" altLang="en-US" dirty="0"/>
              <a:t>显示项目预算的分配和使用情况</a:t>
            </a:r>
            <a:endParaRPr lang="en-US" altLang="zh-CN" dirty="0"/>
          </a:p>
          <a:p>
            <a:pPr lvl="1"/>
            <a:r>
              <a:rPr lang="zh-CN" altLang="en-US" dirty="0"/>
              <a:t>帮助管理者控制成本，确保项目在财务上保持稳定</a:t>
            </a:r>
          </a:p>
        </p:txBody>
      </p:sp>
      <p:sp>
        <p:nvSpPr>
          <p:cNvPr id="5" name="文本占位符 4">
            <a:extLst>
              <a:ext uri="{FF2B5EF4-FFF2-40B4-BE49-F238E27FC236}">
                <a16:creationId xmlns:a16="http://schemas.microsoft.com/office/drawing/2014/main" id="{0B7E5759-E12C-FD0C-58C8-6D7AD0B184D2}"/>
              </a:ext>
            </a:extLst>
          </p:cNvPr>
          <p:cNvSpPr>
            <a:spLocks noGrp="1"/>
          </p:cNvSpPr>
          <p:nvPr>
            <p:ph type="body" sz="quarter" idx="10"/>
          </p:nvPr>
        </p:nvSpPr>
        <p:spPr>
          <a:xfrm>
            <a:off x="7071919" y="448519"/>
            <a:ext cx="4424080" cy="338554"/>
          </a:xfrm>
        </p:spPr>
        <p:txBody>
          <a:bodyPr/>
          <a:lstStyle/>
          <a:p>
            <a:r>
              <a:rPr lang="en-US" altLang="zh-CN" dirty="0"/>
              <a:t> Resource Chart </a:t>
            </a:r>
            <a:endParaRPr lang="zh-CN" altLang="en-US" dirty="0"/>
          </a:p>
        </p:txBody>
      </p:sp>
    </p:spTree>
    <p:extLst>
      <p:ext uri="{BB962C8B-B14F-4D97-AF65-F5344CB8AC3E}">
        <p14:creationId xmlns:p14="http://schemas.microsoft.com/office/powerpoint/2010/main" val="3817485586"/>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1278CB-CC32-2FF2-4736-87A49E33651C}"/>
              </a:ext>
            </a:extLst>
          </p:cNvPr>
          <p:cNvSpPr>
            <a:spLocks noGrp="1"/>
          </p:cNvSpPr>
          <p:nvPr>
            <p:ph type="title"/>
          </p:nvPr>
        </p:nvSpPr>
        <p:spPr>
          <a:xfrm>
            <a:off x="792000" y="360000"/>
            <a:ext cx="6375921" cy="429413"/>
          </a:xfrm>
        </p:spPr>
        <p:txBody>
          <a:bodyPr/>
          <a:lstStyle/>
          <a:p>
            <a:r>
              <a:rPr lang="en-US" altLang="zh-CN" dirty="0"/>
              <a:t>2.6 </a:t>
            </a:r>
            <a:r>
              <a:rPr lang="zh-CN" altLang="en-US" dirty="0"/>
              <a:t>燃尽图</a:t>
            </a:r>
          </a:p>
        </p:txBody>
      </p:sp>
      <p:sp>
        <p:nvSpPr>
          <p:cNvPr id="10" name="内容占位符 9">
            <a:extLst>
              <a:ext uri="{FF2B5EF4-FFF2-40B4-BE49-F238E27FC236}">
                <a16:creationId xmlns:a16="http://schemas.microsoft.com/office/drawing/2014/main" id="{8440727A-ADA1-DF58-DF49-B847A1EBD250}"/>
              </a:ext>
            </a:extLst>
          </p:cNvPr>
          <p:cNvSpPr>
            <a:spLocks noGrp="1"/>
          </p:cNvSpPr>
          <p:nvPr>
            <p:ph idx="1"/>
          </p:nvPr>
        </p:nvSpPr>
        <p:spPr>
          <a:xfrm>
            <a:off x="696000" y="864000"/>
            <a:ext cx="10800000" cy="5400000"/>
          </a:xfrm>
        </p:spPr>
        <p:txBody>
          <a:bodyPr/>
          <a:lstStyle/>
          <a:p>
            <a:r>
              <a:rPr lang="zh-CN" altLang="en-US" dirty="0"/>
              <a:t>展示项目剩余工作量随时间的变化情况</a:t>
            </a:r>
            <a:endParaRPr lang="en-US" altLang="zh-CN" dirty="0"/>
          </a:p>
          <a:p>
            <a:r>
              <a:rPr lang="zh-CN" altLang="en-US" dirty="0"/>
              <a:t>可以直观看到：实际进度与理想进度的对比</a:t>
            </a:r>
          </a:p>
          <a:p>
            <a:endParaRPr lang="zh-CN" altLang="en-US" dirty="0"/>
          </a:p>
        </p:txBody>
      </p:sp>
      <p:sp>
        <p:nvSpPr>
          <p:cNvPr id="7" name="文本占位符 6">
            <a:extLst>
              <a:ext uri="{FF2B5EF4-FFF2-40B4-BE49-F238E27FC236}">
                <a16:creationId xmlns:a16="http://schemas.microsoft.com/office/drawing/2014/main" id="{AB5BEFBE-97E0-36DD-8942-5EB058D76C5D}"/>
              </a:ext>
            </a:extLst>
          </p:cNvPr>
          <p:cNvSpPr>
            <a:spLocks noGrp="1"/>
          </p:cNvSpPr>
          <p:nvPr>
            <p:ph type="body" sz="quarter" idx="10"/>
          </p:nvPr>
        </p:nvSpPr>
        <p:spPr>
          <a:xfrm>
            <a:off x="7071919" y="448519"/>
            <a:ext cx="4424080" cy="338554"/>
          </a:xfrm>
        </p:spPr>
        <p:txBody>
          <a:bodyPr/>
          <a:lstStyle/>
          <a:p>
            <a:r>
              <a:rPr lang="en-US" altLang="zh-CN" dirty="0"/>
              <a:t>Burn-down Chart</a:t>
            </a:r>
            <a:endParaRPr lang="zh-CN" altLang="en-US" dirty="0"/>
          </a:p>
        </p:txBody>
      </p:sp>
      <p:graphicFrame>
        <p:nvGraphicFramePr>
          <p:cNvPr id="4" name="图表 3">
            <a:extLst>
              <a:ext uri="{FF2B5EF4-FFF2-40B4-BE49-F238E27FC236}">
                <a16:creationId xmlns:a16="http://schemas.microsoft.com/office/drawing/2014/main" id="{BEC1425F-C279-37C1-C875-2E6835953E5E}"/>
              </a:ext>
            </a:extLst>
          </p:cNvPr>
          <p:cNvGraphicFramePr>
            <a:graphicFrameLocks noChangeAspect="1"/>
          </p:cNvGraphicFramePr>
          <p:nvPr>
            <p:extLst>
              <p:ext uri="{D42A27DB-BD31-4B8C-83A1-F6EECF244321}">
                <p14:modId xmlns:p14="http://schemas.microsoft.com/office/powerpoint/2010/main" val="1873160770"/>
              </p:ext>
            </p:extLst>
          </p:nvPr>
        </p:nvGraphicFramePr>
        <p:xfrm>
          <a:off x="2496000" y="1944275"/>
          <a:ext cx="7200000" cy="43200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677035631"/>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24DA8-D3E8-EF24-4729-7A92E6BBBBF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C1E0BB9-336D-BEF0-F77D-536F63BC207D}"/>
              </a:ext>
            </a:extLst>
          </p:cNvPr>
          <p:cNvSpPr>
            <a:spLocks noGrp="1"/>
          </p:cNvSpPr>
          <p:nvPr>
            <p:ph type="title"/>
          </p:nvPr>
        </p:nvSpPr>
        <p:spPr>
          <a:xfrm>
            <a:off x="792000" y="360000"/>
            <a:ext cx="6375921" cy="429413"/>
          </a:xfrm>
        </p:spPr>
        <p:txBody>
          <a:bodyPr/>
          <a:lstStyle/>
          <a:p>
            <a:r>
              <a:rPr lang="en-US" altLang="zh-CN" dirty="0"/>
              <a:t>2.7 </a:t>
            </a:r>
            <a:r>
              <a:rPr lang="zh-CN" altLang="en-US" dirty="0"/>
              <a:t>燃起图</a:t>
            </a:r>
          </a:p>
        </p:txBody>
      </p:sp>
      <p:sp>
        <p:nvSpPr>
          <p:cNvPr id="14" name="内容占位符 13">
            <a:extLst>
              <a:ext uri="{FF2B5EF4-FFF2-40B4-BE49-F238E27FC236}">
                <a16:creationId xmlns:a16="http://schemas.microsoft.com/office/drawing/2014/main" id="{6539DF69-A16A-79CF-80E9-19E7130A5471}"/>
              </a:ext>
            </a:extLst>
          </p:cNvPr>
          <p:cNvSpPr>
            <a:spLocks noGrp="1"/>
          </p:cNvSpPr>
          <p:nvPr>
            <p:ph idx="1"/>
          </p:nvPr>
        </p:nvSpPr>
        <p:spPr>
          <a:xfrm>
            <a:off x="696000" y="864000"/>
            <a:ext cx="10800000" cy="5400000"/>
          </a:xfrm>
        </p:spPr>
        <p:txBody>
          <a:bodyPr/>
          <a:lstStyle/>
          <a:p>
            <a:r>
              <a:rPr lang="zh-CN" altLang="en-US" dirty="0"/>
              <a:t>反映的是已完成的工作量和总工作量之间的关系</a:t>
            </a:r>
            <a:endParaRPr lang="en-US" altLang="zh-CN" dirty="0"/>
          </a:p>
        </p:txBody>
      </p:sp>
      <p:sp>
        <p:nvSpPr>
          <p:cNvPr id="7" name="文本占位符 6">
            <a:extLst>
              <a:ext uri="{FF2B5EF4-FFF2-40B4-BE49-F238E27FC236}">
                <a16:creationId xmlns:a16="http://schemas.microsoft.com/office/drawing/2014/main" id="{7177E6C0-BD24-5B40-C109-E3776FDCF08A}"/>
              </a:ext>
            </a:extLst>
          </p:cNvPr>
          <p:cNvSpPr>
            <a:spLocks noGrp="1"/>
          </p:cNvSpPr>
          <p:nvPr>
            <p:ph type="body" sz="quarter" idx="10"/>
          </p:nvPr>
        </p:nvSpPr>
        <p:spPr>
          <a:xfrm>
            <a:off x="7071919" y="448519"/>
            <a:ext cx="4424080" cy="338554"/>
          </a:xfrm>
        </p:spPr>
        <p:txBody>
          <a:bodyPr/>
          <a:lstStyle/>
          <a:p>
            <a:r>
              <a:rPr lang="en-US" altLang="zh-CN" dirty="0"/>
              <a:t>Burn-up Chart</a:t>
            </a:r>
            <a:endParaRPr lang="zh-CN" altLang="en-US" dirty="0"/>
          </a:p>
        </p:txBody>
      </p:sp>
      <p:graphicFrame>
        <p:nvGraphicFramePr>
          <p:cNvPr id="18" name="图表 17">
            <a:extLst>
              <a:ext uri="{FF2B5EF4-FFF2-40B4-BE49-F238E27FC236}">
                <a16:creationId xmlns:a16="http://schemas.microsoft.com/office/drawing/2014/main" id="{6812993E-09FC-3A37-1E3A-5A3E23179742}"/>
              </a:ext>
            </a:extLst>
          </p:cNvPr>
          <p:cNvGraphicFramePr>
            <a:graphicFrameLocks noChangeAspect="1"/>
          </p:cNvGraphicFramePr>
          <p:nvPr>
            <p:extLst>
              <p:ext uri="{D42A27DB-BD31-4B8C-83A1-F6EECF244321}">
                <p14:modId xmlns:p14="http://schemas.microsoft.com/office/powerpoint/2010/main" val="195997920"/>
              </p:ext>
            </p:extLst>
          </p:nvPr>
        </p:nvGraphicFramePr>
        <p:xfrm>
          <a:off x="2496000" y="1944000"/>
          <a:ext cx="7200000" cy="4320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711006836"/>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格 5">
            <a:extLst>
              <a:ext uri="{FF2B5EF4-FFF2-40B4-BE49-F238E27FC236}">
                <a16:creationId xmlns:a16="http://schemas.microsoft.com/office/drawing/2014/main" id="{BC057ECA-C922-5C91-8B58-E9BF340B46E6}"/>
              </a:ext>
            </a:extLst>
          </p:cNvPr>
          <p:cNvGraphicFramePr>
            <a:graphicFrameLocks noGrp="1"/>
          </p:cNvGraphicFramePr>
          <p:nvPr>
            <p:extLst>
              <p:ext uri="{D42A27DB-BD31-4B8C-83A1-F6EECF244321}">
                <p14:modId xmlns:p14="http://schemas.microsoft.com/office/powerpoint/2010/main" val="1908071449"/>
              </p:ext>
            </p:extLst>
          </p:nvPr>
        </p:nvGraphicFramePr>
        <p:xfrm>
          <a:off x="1596000" y="2002155"/>
          <a:ext cx="9000000" cy="2853690"/>
        </p:xfrm>
        <a:graphic>
          <a:graphicData uri="http://schemas.openxmlformats.org/drawingml/2006/table">
            <a:tbl>
              <a:tblPr>
                <a:tableStyleId>{5C22544A-7EE6-4342-B048-85BDC9FD1C3A}</a:tableStyleId>
              </a:tblPr>
              <a:tblGrid>
                <a:gridCol w="1080000">
                  <a:extLst>
                    <a:ext uri="{9D8B030D-6E8A-4147-A177-3AD203B41FA5}">
                      <a16:colId xmlns:a16="http://schemas.microsoft.com/office/drawing/2014/main" val="743383010"/>
                    </a:ext>
                  </a:extLst>
                </a:gridCol>
                <a:gridCol w="720000">
                  <a:extLst>
                    <a:ext uri="{9D8B030D-6E8A-4147-A177-3AD203B41FA5}">
                      <a16:colId xmlns:a16="http://schemas.microsoft.com/office/drawing/2014/main" val="1789506777"/>
                    </a:ext>
                  </a:extLst>
                </a:gridCol>
                <a:gridCol w="720000">
                  <a:extLst>
                    <a:ext uri="{9D8B030D-6E8A-4147-A177-3AD203B41FA5}">
                      <a16:colId xmlns:a16="http://schemas.microsoft.com/office/drawing/2014/main" val="2887781061"/>
                    </a:ext>
                  </a:extLst>
                </a:gridCol>
                <a:gridCol w="720000">
                  <a:extLst>
                    <a:ext uri="{9D8B030D-6E8A-4147-A177-3AD203B41FA5}">
                      <a16:colId xmlns:a16="http://schemas.microsoft.com/office/drawing/2014/main" val="3631160167"/>
                    </a:ext>
                  </a:extLst>
                </a:gridCol>
                <a:gridCol w="720000">
                  <a:extLst>
                    <a:ext uri="{9D8B030D-6E8A-4147-A177-3AD203B41FA5}">
                      <a16:colId xmlns:a16="http://schemas.microsoft.com/office/drawing/2014/main" val="1976976009"/>
                    </a:ext>
                  </a:extLst>
                </a:gridCol>
                <a:gridCol w="720000">
                  <a:extLst>
                    <a:ext uri="{9D8B030D-6E8A-4147-A177-3AD203B41FA5}">
                      <a16:colId xmlns:a16="http://schemas.microsoft.com/office/drawing/2014/main" val="4232414139"/>
                    </a:ext>
                  </a:extLst>
                </a:gridCol>
                <a:gridCol w="720000">
                  <a:extLst>
                    <a:ext uri="{9D8B030D-6E8A-4147-A177-3AD203B41FA5}">
                      <a16:colId xmlns:a16="http://schemas.microsoft.com/office/drawing/2014/main" val="2507776327"/>
                    </a:ext>
                  </a:extLst>
                </a:gridCol>
                <a:gridCol w="720000">
                  <a:extLst>
                    <a:ext uri="{9D8B030D-6E8A-4147-A177-3AD203B41FA5}">
                      <a16:colId xmlns:a16="http://schemas.microsoft.com/office/drawing/2014/main" val="3884394326"/>
                    </a:ext>
                  </a:extLst>
                </a:gridCol>
                <a:gridCol w="720000">
                  <a:extLst>
                    <a:ext uri="{9D8B030D-6E8A-4147-A177-3AD203B41FA5}">
                      <a16:colId xmlns:a16="http://schemas.microsoft.com/office/drawing/2014/main" val="90563748"/>
                    </a:ext>
                  </a:extLst>
                </a:gridCol>
                <a:gridCol w="720000">
                  <a:extLst>
                    <a:ext uri="{9D8B030D-6E8A-4147-A177-3AD203B41FA5}">
                      <a16:colId xmlns:a16="http://schemas.microsoft.com/office/drawing/2014/main" val="2619525001"/>
                    </a:ext>
                  </a:extLst>
                </a:gridCol>
                <a:gridCol w="720000">
                  <a:extLst>
                    <a:ext uri="{9D8B030D-6E8A-4147-A177-3AD203B41FA5}">
                      <a16:colId xmlns:a16="http://schemas.microsoft.com/office/drawing/2014/main" val="3942627357"/>
                    </a:ext>
                  </a:extLst>
                </a:gridCol>
                <a:gridCol w="720000">
                  <a:extLst>
                    <a:ext uri="{9D8B030D-6E8A-4147-A177-3AD203B41FA5}">
                      <a16:colId xmlns:a16="http://schemas.microsoft.com/office/drawing/2014/main" val="3900729614"/>
                    </a:ext>
                  </a:extLst>
                </a:gridCol>
              </a:tblGrid>
              <a:tr h="407670">
                <a:tc>
                  <a:txBody>
                    <a:bodyPr/>
                    <a:lstStyle/>
                    <a:p>
                      <a:pPr algn="ctr" fontAlgn="ctr">
                        <a:buNone/>
                      </a:pPr>
                      <a:r>
                        <a:rPr lang="en-US" sz="1400" u="none" strike="noStrike" dirty="0" err="1">
                          <a:solidFill>
                            <a:schemeClr val="tx1"/>
                          </a:solidFill>
                          <a:effectLst/>
                        </a:rPr>
                        <a:t>Settting</a:t>
                      </a:r>
                      <a:endParaRPr lang="en-US" sz="1400" b="1"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400" u="none" strike="noStrike" dirty="0">
                          <a:solidFill>
                            <a:schemeClr val="tx1"/>
                          </a:solidFill>
                          <a:effectLst/>
                        </a:rPr>
                        <a:t>Start</a:t>
                      </a:r>
                      <a:endParaRPr lang="en-US" sz="1400" b="1"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400" u="none" strike="noStrike" dirty="0">
                          <a:solidFill>
                            <a:schemeClr val="tx1"/>
                          </a:solidFill>
                          <a:effectLst/>
                        </a:rPr>
                        <a:t>Day1</a:t>
                      </a:r>
                      <a:endParaRPr lang="en-US" sz="1400" b="1"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400" u="none" strike="noStrike">
                          <a:solidFill>
                            <a:schemeClr val="tx1"/>
                          </a:solidFill>
                          <a:effectLst/>
                        </a:rPr>
                        <a:t>Day2</a:t>
                      </a:r>
                      <a:endParaRPr lang="en-US" sz="1400" b="1" i="0" u="none" strike="noStrike">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400" u="none" strike="noStrike">
                          <a:solidFill>
                            <a:schemeClr val="tx1"/>
                          </a:solidFill>
                          <a:effectLst/>
                        </a:rPr>
                        <a:t>Day3</a:t>
                      </a:r>
                      <a:endParaRPr lang="en-US" sz="1400" b="1" i="0" u="none" strike="noStrike">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400" u="none" strike="noStrike">
                          <a:solidFill>
                            <a:schemeClr val="tx1"/>
                          </a:solidFill>
                          <a:effectLst/>
                        </a:rPr>
                        <a:t>Day4</a:t>
                      </a:r>
                      <a:endParaRPr lang="en-US" sz="1400" b="1" i="0" u="none" strike="noStrike">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400" u="none" strike="noStrike">
                          <a:solidFill>
                            <a:schemeClr val="tx1"/>
                          </a:solidFill>
                          <a:effectLst/>
                        </a:rPr>
                        <a:t>Day5</a:t>
                      </a:r>
                      <a:endParaRPr lang="en-US" sz="1400" b="1" i="0" u="none" strike="noStrike">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400" u="none" strike="noStrike">
                          <a:solidFill>
                            <a:schemeClr val="tx1"/>
                          </a:solidFill>
                          <a:effectLst/>
                        </a:rPr>
                        <a:t>Day6</a:t>
                      </a:r>
                      <a:endParaRPr lang="en-US" sz="1400" b="1" i="0" u="none" strike="noStrike">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400" u="none" strike="noStrike">
                          <a:solidFill>
                            <a:schemeClr val="tx1"/>
                          </a:solidFill>
                          <a:effectLst/>
                        </a:rPr>
                        <a:t>Day7</a:t>
                      </a:r>
                      <a:endParaRPr lang="en-US" sz="1400" b="1" i="0" u="none" strike="noStrike">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400" u="none" strike="noStrike">
                          <a:solidFill>
                            <a:schemeClr val="tx1"/>
                          </a:solidFill>
                          <a:effectLst/>
                        </a:rPr>
                        <a:t>Day8</a:t>
                      </a:r>
                      <a:endParaRPr lang="en-US" sz="1400" b="1" i="0" u="none" strike="noStrike">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400" u="none" strike="noStrike">
                          <a:solidFill>
                            <a:schemeClr val="tx1"/>
                          </a:solidFill>
                          <a:effectLst/>
                        </a:rPr>
                        <a:t>Day9</a:t>
                      </a:r>
                      <a:endParaRPr lang="en-US" sz="1400" b="1" i="0" u="none" strike="noStrike">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400" u="none" strike="noStrike">
                          <a:solidFill>
                            <a:schemeClr val="tx1"/>
                          </a:solidFill>
                          <a:effectLst/>
                        </a:rPr>
                        <a:t>Day10</a:t>
                      </a:r>
                      <a:endParaRPr lang="en-US" sz="1400" b="1" i="0" u="none" strike="noStrike">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18684057"/>
                  </a:ext>
                </a:extLst>
              </a:tr>
              <a:tr h="407670">
                <a:tc>
                  <a:txBody>
                    <a:bodyPr/>
                    <a:lstStyle/>
                    <a:p>
                      <a:pPr algn="ctr" fontAlgn="ctr">
                        <a:buNone/>
                      </a:pPr>
                      <a:r>
                        <a:rPr lang="en-US" altLang="zh-CN" sz="1400" b="1" i="0" u="none" strike="noStrike" dirty="0">
                          <a:solidFill>
                            <a:schemeClr val="tx1"/>
                          </a:solidFill>
                          <a:effectLst/>
                          <a:latin typeface="等线" panose="02010600030101010101" pitchFamily="2" charset="-122"/>
                          <a:ea typeface="等线" panose="02010600030101010101" pitchFamily="2" charset="-122"/>
                        </a:rPr>
                        <a:t>Total</a:t>
                      </a:r>
                      <a:endParaRPr lang="en-US" sz="1400" b="1"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400" b="0" i="0" u="none" strike="noStrike" dirty="0">
                          <a:solidFill>
                            <a:schemeClr val="tx1"/>
                          </a:solidFill>
                          <a:effectLst/>
                          <a:latin typeface="等线" panose="02010600030101010101" pitchFamily="2" charset="-122"/>
                          <a:ea typeface="等线" panose="02010600030101010101" pitchFamily="2" charset="-122"/>
                        </a:rPr>
                        <a:t>100</a:t>
                      </a:r>
                      <a:endParaRPr lang="zh-CN" altLang="en-US"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chemeClr val="tx1"/>
                          </a:solidFill>
                          <a:effectLst/>
                          <a:uLnTx/>
                          <a:uFillTx/>
                          <a:latin typeface="等线" panose="02010600030101010101" pitchFamily="2" charset="-122"/>
                          <a:ea typeface="等线" panose="02010600030101010101" pitchFamily="2" charset="-122"/>
                          <a:cs typeface="+mn-cs"/>
                        </a:rPr>
                        <a:t>100</a:t>
                      </a:r>
                      <a:endParaRPr kumimoji="0" lang="zh-CN" altLang="en-US" sz="1400" b="0" i="0" u="none" strike="noStrike" kern="1200" cap="none" spc="0" normalizeH="0" baseline="0" noProof="0" dirty="0">
                        <a:ln>
                          <a:noFill/>
                        </a:ln>
                        <a:solidFill>
                          <a:schemeClr val="tx1"/>
                        </a:solidFill>
                        <a:effectLst/>
                        <a:uLnTx/>
                        <a:uFillTx/>
                        <a:latin typeface="等线" panose="02010600030101010101" pitchFamily="2" charset="-122"/>
                        <a:ea typeface="等线" panose="02010600030101010101" pitchFamily="2" charset="-122"/>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chemeClr val="tx1"/>
                          </a:solidFill>
                          <a:effectLst/>
                          <a:uLnTx/>
                          <a:uFillTx/>
                          <a:latin typeface="等线" panose="02010600030101010101" pitchFamily="2" charset="-122"/>
                          <a:ea typeface="等线" panose="02010600030101010101" pitchFamily="2" charset="-122"/>
                          <a:cs typeface="+mn-cs"/>
                        </a:rPr>
                        <a:t>100</a:t>
                      </a:r>
                      <a:endParaRPr kumimoji="0" lang="zh-CN" altLang="en-US" sz="1400" b="0" i="0" u="none" strike="noStrike" kern="1200" cap="none" spc="0" normalizeH="0" baseline="0" noProof="0" dirty="0">
                        <a:ln>
                          <a:noFill/>
                        </a:ln>
                        <a:solidFill>
                          <a:schemeClr val="tx1"/>
                        </a:solidFill>
                        <a:effectLst/>
                        <a:uLnTx/>
                        <a:uFillTx/>
                        <a:latin typeface="等线" panose="02010600030101010101" pitchFamily="2" charset="-122"/>
                        <a:ea typeface="等线" panose="02010600030101010101" pitchFamily="2" charset="-122"/>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schemeClr val="tx1"/>
                          </a:solidFill>
                          <a:effectLst/>
                          <a:uLnTx/>
                          <a:uFillTx/>
                          <a:latin typeface="等线" panose="02010600030101010101" pitchFamily="2" charset="-122"/>
                          <a:ea typeface="等线" panose="02010600030101010101" pitchFamily="2" charset="-122"/>
                          <a:cs typeface="+mn-cs"/>
                        </a:rPr>
                        <a:t>100</a:t>
                      </a:r>
                      <a:endParaRPr kumimoji="0" lang="zh-CN" altLang="en-US" sz="1400" b="0" i="0" u="none" strike="noStrike" kern="1200" cap="none" spc="0" normalizeH="0" baseline="0" noProof="0" dirty="0">
                        <a:ln>
                          <a:noFill/>
                        </a:ln>
                        <a:solidFill>
                          <a:schemeClr val="tx1"/>
                        </a:solidFill>
                        <a:effectLst/>
                        <a:uLnTx/>
                        <a:uFillTx/>
                        <a:latin typeface="等线" panose="02010600030101010101" pitchFamily="2" charset="-122"/>
                        <a:ea typeface="等线" panose="02010600030101010101" pitchFamily="2" charset="-122"/>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schemeClr val="tx1"/>
                          </a:solidFill>
                          <a:effectLst/>
                          <a:uLnTx/>
                          <a:uFillTx/>
                          <a:latin typeface="等线" panose="02010600030101010101" pitchFamily="2" charset="-122"/>
                          <a:ea typeface="等线" panose="02010600030101010101" pitchFamily="2" charset="-122"/>
                          <a:cs typeface="+mn-cs"/>
                        </a:rPr>
                        <a:t>100</a:t>
                      </a:r>
                      <a:endParaRPr kumimoji="0" lang="zh-CN" altLang="en-US" sz="1400" b="0" i="0" u="none" strike="noStrike" kern="1200" cap="none" spc="0" normalizeH="0" baseline="0" noProof="0" dirty="0">
                        <a:ln>
                          <a:noFill/>
                        </a:ln>
                        <a:solidFill>
                          <a:schemeClr val="tx1"/>
                        </a:solidFill>
                        <a:effectLst/>
                        <a:uLnTx/>
                        <a:uFillTx/>
                        <a:latin typeface="等线" panose="02010600030101010101" pitchFamily="2" charset="-122"/>
                        <a:ea typeface="等线" panose="02010600030101010101" pitchFamily="2" charset="-122"/>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schemeClr val="tx1"/>
                          </a:solidFill>
                          <a:effectLst/>
                          <a:uLnTx/>
                          <a:uFillTx/>
                          <a:latin typeface="等线" panose="02010600030101010101" pitchFamily="2" charset="-122"/>
                          <a:ea typeface="等线" panose="02010600030101010101" pitchFamily="2" charset="-122"/>
                          <a:cs typeface="+mn-cs"/>
                        </a:rPr>
                        <a:t>100</a:t>
                      </a:r>
                      <a:endParaRPr kumimoji="0" lang="zh-CN" altLang="en-US" sz="1400" b="0" i="0" u="none" strike="noStrike" kern="1200" cap="none" spc="0" normalizeH="0" baseline="0" noProof="0" dirty="0">
                        <a:ln>
                          <a:noFill/>
                        </a:ln>
                        <a:solidFill>
                          <a:schemeClr val="tx1"/>
                        </a:solidFill>
                        <a:effectLst/>
                        <a:uLnTx/>
                        <a:uFillTx/>
                        <a:latin typeface="等线" panose="02010600030101010101" pitchFamily="2" charset="-122"/>
                        <a:ea typeface="等线" panose="02010600030101010101" pitchFamily="2" charset="-122"/>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schemeClr val="tx1"/>
                          </a:solidFill>
                          <a:effectLst/>
                          <a:uLnTx/>
                          <a:uFillTx/>
                          <a:latin typeface="等线" panose="02010600030101010101" pitchFamily="2" charset="-122"/>
                          <a:ea typeface="等线" panose="02010600030101010101" pitchFamily="2" charset="-122"/>
                          <a:cs typeface="+mn-cs"/>
                        </a:rPr>
                        <a:t>100</a:t>
                      </a:r>
                      <a:endParaRPr kumimoji="0" lang="zh-CN" altLang="en-US" sz="1400" b="0" i="0" u="none" strike="noStrike" kern="1200" cap="none" spc="0" normalizeH="0" baseline="0" noProof="0" dirty="0">
                        <a:ln>
                          <a:noFill/>
                        </a:ln>
                        <a:solidFill>
                          <a:schemeClr val="tx1"/>
                        </a:solidFill>
                        <a:effectLst/>
                        <a:uLnTx/>
                        <a:uFillTx/>
                        <a:latin typeface="等线" panose="02010600030101010101" pitchFamily="2" charset="-122"/>
                        <a:ea typeface="等线" panose="02010600030101010101" pitchFamily="2" charset="-122"/>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schemeClr val="tx1"/>
                          </a:solidFill>
                          <a:effectLst/>
                          <a:uLnTx/>
                          <a:uFillTx/>
                          <a:latin typeface="等线" panose="02010600030101010101" pitchFamily="2" charset="-122"/>
                          <a:ea typeface="等线" panose="02010600030101010101" pitchFamily="2" charset="-122"/>
                          <a:cs typeface="+mn-cs"/>
                        </a:rPr>
                        <a:t>100</a:t>
                      </a:r>
                      <a:endParaRPr kumimoji="0" lang="zh-CN" altLang="en-US" sz="1400" b="0" i="0" u="none" strike="noStrike" kern="1200" cap="none" spc="0" normalizeH="0" baseline="0" noProof="0" dirty="0">
                        <a:ln>
                          <a:noFill/>
                        </a:ln>
                        <a:solidFill>
                          <a:schemeClr val="tx1"/>
                        </a:solidFill>
                        <a:effectLst/>
                        <a:uLnTx/>
                        <a:uFillTx/>
                        <a:latin typeface="等线" panose="02010600030101010101" pitchFamily="2" charset="-122"/>
                        <a:ea typeface="等线" panose="02010600030101010101" pitchFamily="2" charset="-122"/>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schemeClr val="tx1"/>
                          </a:solidFill>
                          <a:effectLst/>
                          <a:uLnTx/>
                          <a:uFillTx/>
                          <a:latin typeface="等线" panose="02010600030101010101" pitchFamily="2" charset="-122"/>
                          <a:ea typeface="等线" panose="02010600030101010101" pitchFamily="2" charset="-122"/>
                          <a:cs typeface="+mn-cs"/>
                        </a:rPr>
                        <a:t>100</a:t>
                      </a:r>
                      <a:endParaRPr kumimoji="0" lang="zh-CN" altLang="en-US" sz="1400" b="0" i="0" u="none" strike="noStrike" kern="1200" cap="none" spc="0" normalizeH="0" baseline="0" noProof="0" dirty="0">
                        <a:ln>
                          <a:noFill/>
                        </a:ln>
                        <a:solidFill>
                          <a:schemeClr val="tx1"/>
                        </a:solidFill>
                        <a:effectLst/>
                        <a:uLnTx/>
                        <a:uFillTx/>
                        <a:latin typeface="等线" panose="02010600030101010101" pitchFamily="2" charset="-122"/>
                        <a:ea typeface="等线" panose="02010600030101010101" pitchFamily="2" charset="-122"/>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schemeClr val="tx1"/>
                          </a:solidFill>
                          <a:effectLst/>
                          <a:uLnTx/>
                          <a:uFillTx/>
                          <a:latin typeface="等线" panose="02010600030101010101" pitchFamily="2" charset="-122"/>
                          <a:ea typeface="等线" panose="02010600030101010101" pitchFamily="2" charset="-122"/>
                          <a:cs typeface="+mn-cs"/>
                        </a:rPr>
                        <a:t>100</a:t>
                      </a:r>
                      <a:endParaRPr kumimoji="0" lang="zh-CN" altLang="en-US" sz="1400" b="0" i="0" u="none" strike="noStrike" kern="1200" cap="none" spc="0" normalizeH="0" baseline="0" noProof="0" dirty="0">
                        <a:ln>
                          <a:noFill/>
                        </a:ln>
                        <a:solidFill>
                          <a:schemeClr val="tx1"/>
                        </a:solidFill>
                        <a:effectLst/>
                        <a:uLnTx/>
                        <a:uFillTx/>
                        <a:latin typeface="等线" panose="02010600030101010101" pitchFamily="2" charset="-122"/>
                        <a:ea typeface="等线" panose="02010600030101010101" pitchFamily="2" charset="-122"/>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chemeClr val="tx1"/>
                          </a:solidFill>
                          <a:effectLst/>
                          <a:uLnTx/>
                          <a:uFillTx/>
                          <a:latin typeface="等线" panose="02010600030101010101" pitchFamily="2" charset="-122"/>
                          <a:ea typeface="等线" panose="02010600030101010101" pitchFamily="2" charset="-122"/>
                          <a:cs typeface="+mn-cs"/>
                        </a:rPr>
                        <a:t>100</a:t>
                      </a:r>
                      <a:endParaRPr kumimoji="0" lang="zh-CN" altLang="en-US" sz="1400" b="0" i="0" u="none" strike="noStrike" kern="1200" cap="none" spc="0" normalizeH="0" baseline="0" noProof="0" dirty="0">
                        <a:ln>
                          <a:noFill/>
                        </a:ln>
                        <a:solidFill>
                          <a:schemeClr val="tx1"/>
                        </a:solidFill>
                        <a:effectLst/>
                        <a:uLnTx/>
                        <a:uFillTx/>
                        <a:latin typeface="等线" panose="02010600030101010101" pitchFamily="2" charset="-122"/>
                        <a:ea typeface="等线" panose="02010600030101010101" pitchFamily="2" charset="-122"/>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6912096"/>
                  </a:ext>
                </a:extLst>
              </a:tr>
              <a:tr h="407670">
                <a:tc>
                  <a:txBody>
                    <a:bodyPr/>
                    <a:lstStyle/>
                    <a:p>
                      <a:pPr algn="ctr" fontAlgn="ctr">
                        <a:buNone/>
                      </a:pPr>
                      <a:r>
                        <a:rPr lang="en-US" sz="1400" u="none" strike="noStrike">
                          <a:solidFill>
                            <a:schemeClr val="tx1"/>
                          </a:solidFill>
                          <a:effectLst/>
                        </a:rPr>
                        <a:t>Planned</a:t>
                      </a:r>
                      <a:endParaRPr lang="en-US" sz="1400" b="1" i="0" u="none" strike="noStrike">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zh-CN" altLang="en-US" sz="1400" u="none" strike="noStrike" dirty="0">
                          <a:solidFill>
                            <a:schemeClr val="tx1"/>
                          </a:solidFill>
                          <a:effectLst/>
                        </a:rPr>
                        <a:t>　</a:t>
                      </a:r>
                      <a:endParaRPr lang="zh-CN" altLang="en-US"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400" u="none" strike="noStrike" dirty="0">
                          <a:solidFill>
                            <a:schemeClr val="tx1"/>
                          </a:solidFill>
                          <a:effectLst/>
                        </a:rPr>
                        <a:t>10</a:t>
                      </a: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400" u="none" strike="noStrike" dirty="0">
                          <a:solidFill>
                            <a:schemeClr val="tx1"/>
                          </a:solidFill>
                          <a:effectLst/>
                        </a:rPr>
                        <a:t>10</a:t>
                      </a: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400" u="none" strike="noStrike" dirty="0">
                          <a:solidFill>
                            <a:schemeClr val="tx1"/>
                          </a:solidFill>
                          <a:effectLst/>
                        </a:rPr>
                        <a:t>10</a:t>
                      </a: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400" u="none" strike="noStrike" dirty="0">
                          <a:solidFill>
                            <a:schemeClr val="tx1"/>
                          </a:solidFill>
                          <a:effectLst/>
                        </a:rPr>
                        <a:t>10</a:t>
                      </a: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400" u="none" strike="noStrike" dirty="0">
                          <a:solidFill>
                            <a:schemeClr val="tx1"/>
                          </a:solidFill>
                          <a:effectLst/>
                        </a:rPr>
                        <a:t>10</a:t>
                      </a: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400" u="none" strike="noStrike" dirty="0">
                          <a:solidFill>
                            <a:schemeClr val="tx1"/>
                          </a:solidFill>
                          <a:effectLst/>
                        </a:rPr>
                        <a:t>10</a:t>
                      </a: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400" u="none" strike="noStrike" dirty="0">
                          <a:solidFill>
                            <a:schemeClr val="tx1"/>
                          </a:solidFill>
                          <a:effectLst/>
                        </a:rPr>
                        <a:t>10</a:t>
                      </a: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400" u="none" strike="noStrike" dirty="0">
                          <a:solidFill>
                            <a:schemeClr val="tx1"/>
                          </a:solidFill>
                          <a:effectLst/>
                        </a:rPr>
                        <a:t>10</a:t>
                      </a: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400" u="none" strike="noStrike" dirty="0">
                          <a:solidFill>
                            <a:schemeClr val="tx1"/>
                          </a:solidFill>
                          <a:effectLst/>
                        </a:rPr>
                        <a:t>10</a:t>
                      </a: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400" u="none" strike="noStrike" dirty="0">
                          <a:solidFill>
                            <a:schemeClr val="tx1"/>
                          </a:solidFill>
                          <a:effectLst/>
                        </a:rPr>
                        <a:t>10</a:t>
                      </a: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60329071"/>
                  </a:ext>
                </a:extLst>
              </a:tr>
              <a:tr h="407670">
                <a:tc>
                  <a:txBody>
                    <a:bodyPr/>
                    <a:lstStyle/>
                    <a:p>
                      <a:pPr algn="ctr" fontAlgn="ctr">
                        <a:buNone/>
                      </a:pPr>
                      <a:r>
                        <a:rPr lang="en-US" sz="1400" u="none" strike="noStrike">
                          <a:solidFill>
                            <a:schemeClr val="tx1"/>
                          </a:solidFill>
                          <a:effectLst/>
                        </a:rPr>
                        <a:t>Actual</a:t>
                      </a:r>
                      <a:endParaRPr lang="en-US" sz="1400" b="1" i="0" u="none" strike="noStrike">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zh-CN" altLang="en-US" sz="1400" u="none" strike="noStrike">
                          <a:solidFill>
                            <a:schemeClr val="tx1"/>
                          </a:solidFill>
                          <a:effectLst/>
                        </a:rPr>
                        <a:t>　</a:t>
                      </a:r>
                      <a:endParaRPr lang="zh-CN" altLang="en-US" sz="1400" b="0" i="0" u="none" strike="noStrike">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91304859"/>
                  </a:ext>
                </a:extLst>
              </a:tr>
              <a:tr h="407670">
                <a:tc>
                  <a:txBody>
                    <a:bodyPr/>
                    <a:lstStyle/>
                    <a:p>
                      <a:pPr algn="ctr" fontAlgn="ctr">
                        <a:buNone/>
                      </a:pPr>
                      <a:r>
                        <a:rPr lang="en-US" sz="1400" u="none" strike="noStrike">
                          <a:solidFill>
                            <a:schemeClr val="tx1"/>
                          </a:solidFill>
                          <a:effectLst/>
                        </a:rPr>
                        <a:t>Remaining</a:t>
                      </a:r>
                      <a:endParaRPr lang="en-US" sz="1400" b="1" i="0" u="none" strike="noStrike">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400" u="none" strike="noStrike">
                          <a:solidFill>
                            <a:schemeClr val="tx1"/>
                          </a:solidFill>
                          <a:effectLst/>
                        </a:rPr>
                        <a:t>100</a:t>
                      </a:r>
                      <a:endParaRPr lang="en-US" altLang="zh-CN" sz="1400" b="0" i="0" u="none" strike="noStrike">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1588166"/>
                  </a:ext>
                </a:extLst>
              </a:tr>
              <a:tr h="407670">
                <a:tc>
                  <a:txBody>
                    <a:bodyPr/>
                    <a:lstStyle/>
                    <a:p>
                      <a:pPr algn="ctr" fontAlgn="ctr">
                        <a:buNone/>
                      </a:pPr>
                      <a:r>
                        <a:rPr lang="en-US" sz="1400" u="none" strike="noStrike" dirty="0">
                          <a:solidFill>
                            <a:schemeClr val="tx1"/>
                          </a:solidFill>
                          <a:effectLst/>
                        </a:rPr>
                        <a:t>Ideal</a:t>
                      </a:r>
                      <a:endParaRPr lang="en-US" sz="1400" b="1"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400" u="none" strike="noStrike" dirty="0">
                          <a:solidFill>
                            <a:schemeClr val="tx1"/>
                          </a:solidFill>
                          <a:effectLst/>
                        </a:rPr>
                        <a:t>100</a:t>
                      </a: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400" u="none" strike="noStrike" dirty="0">
                          <a:solidFill>
                            <a:schemeClr val="tx1"/>
                          </a:solidFill>
                          <a:effectLst/>
                        </a:rPr>
                        <a:t>90</a:t>
                      </a: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400" u="none" strike="noStrike" dirty="0">
                          <a:solidFill>
                            <a:schemeClr val="tx1"/>
                          </a:solidFill>
                          <a:effectLst/>
                        </a:rPr>
                        <a:t>80</a:t>
                      </a: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400" u="none" strike="noStrike" dirty="0">
                          <a:solidFill>
                            <a:schemeClr val="tx1"/>
                          </a:solidFill>
                          <a:effectLst/>
                        </a:rPr>
                        <a:t>70</a:t>
                      </a: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400" u="none" strike="noStrike" dirty="0">
                          <a:solidFill>
                            <a:schemeClr val="tx1"/>
                          </a:solidFill>
                          <a:effectLst/>
                        </a:rPr>
                        <a:t>60</a:t>
                      </a: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400" u="none" strike="noStrike" dirty="0">
                          <a:solidFill>
                            <a:schemeClr val="tx1"/>
                          </a:solidFill>
                          <a:effectLst/>
                        </a:rPr>
                        <a:t>50</a:t>
                      </a: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400" u="none" strike="noStrike" dirty="0">
                          <a:solidFill>
                            <a:schemeClr val="tx1"/>
                          </a:solidFill>
                          <a:effectLst/>
                        </a:rPr>
                        <a:t>40</a:t>
                      </a: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400" u="none" strike="noStrike" dirty="0">
                          <a:solidFill>
                            <a:schemeClr val="tx1"/>
                          </a:solidFill>
                          <a:effectLst/>
                        </a:rPr>
                        <a:t>30</a:t>
                      </a: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400" u="none" strike="noStrike" dirty="0">
                          <a:solidFill>
                            <a:schemeClr val="tx1"/>
                          </a:solidFill>
                          <a:effectLst/>
                        </a:rPr>
                        <a:t>20</a:t>
                      </a: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400" u="none" strike="noStrike" dirty="0">
                          <a:solidFill>
                            <a:schemeClr val="tx1"/>
                          </a:solidFill>
                          <a:effectLst/>
                        </a:rPr>
                        <a:t>10</a:t>
                      </a: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400" u="none" strike="noStrike" dirty="0">
                          <a:solidFill>
                            <a:schemeClr val="tx1"/>
                          </a:solidFill>
                          <a:effectLst/>
                        </a:rPr>
                        <a:t>0</a:t>
                      </a: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9507911"/>
                  </a:ext>
                </a:extLst>
              </a:tr>
              <a:tr h="407670">
                <a:tc>
                  <a:txBody>
                    <a:bodyPr/>
                    <a:lstStyle/>
                    <a:p>
                      <a:pPr algn="ctr" fontAlgn="ctr">
                        <a:buNone/>
                      </a:pPr>
                      <a:r>
                        <a:rPr lang="en-US" altLang="zh-CN" sz="1400" b="1" i="0" u="none" strike="noStrike" dirty="0">
                          <a:solidFill>
                            <a:schemeClr val="tx1"/>
                          </a:solidFill>
                          <a:effectLst/>
                          <a:latin typeface="等线" panose="02010600030101010101" pitchFamily="2" charset="-122"/>
                          <a:ea typeface="等线" panose="02010600030101010101" pitchFamily="2" charset="-122"/>
                        </a:rPr>
                        <a:t>Completed</a:t>
                      </a:r>
                      <a:endParaRPr lang="en-US" sz="1400" b="1"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84306761"/>
                  </a:ext>
                </a:extLst>
              </a:tr>
            </a:tbl>
          </a:graphicData>
        </a:graphic>
      </p:graphicFrame>
      <p:sp>
        <p:nvSpPr>
          <p:cNvPr id="2" name="文本框 1">
            <a:extLst>
              <a:ext uri="{FF2B5EF4-FFF2-40B4-BE49-F238E27FC236}">
                <a16:creationId xmlns:a16="http://schemas.microsoft.com/office/drawing/2014/main" id="{08560EF8-4749-B82D-EB8C-FD2BD4E40D93}"/>
              </a:ext>
            </a:extLst>
          </p:cNvPr>
          <p:cNvSpPr txBox="1"/>
          <p:nvPr/>
        </p:nvSpPr>
        <p:spPr>
          <a:xfrm>
            <a:off x="5285524" y="1471235"/>
            <a:ext cx="1620957" cy="338554"/>
          </a:xfrm>
          <a:prstGeom prst="rect">
            <a:avLst/>
          </a:prstGeom>
          <a:noFill/>
          <a:ln>
            <a:noFill/>
          </a:ln>
        </p:spPr>
        <p:txBody>
          <a:bodyPr wrap="none" rtlCol="0">
            <a:spAutoFit/>
          </a:bodyPr>
          <a:lstStyle/>
          <a:p>
            <a:pPr algn="ctr"/>
            <a:r>
              <a:rPr lang="zh-CN" altLang="en-US" sz="1600" dirty="0"/>
              <a:t>燃尽燃起图数据</a:t>
            </a:r>
          </a:p>
        </p:txBody>
      </p:sp>
    </p:spTree>
    <p:extLst>
      <p:ext uri="{BB962C8B-B14F-4D97-AF65-F5344CB8AC3E}">
        <p14:creationId xmlns:p14="http://schemas.microsoft.com/office/powerpoint/2010/main" val="1256454922"/>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E9381C-02BB-9DC2-CFF0-4964B8E9A09A}"/>
              </a:ext>
            </a:extLst>
          </p:cNvPr>
          <p:cNvSpPr>
            <a:spLocks noGrp="1"/>
          </p:cNvSpPr>
          <p:nvPr>
            <p:ph type="title"/>
          </p:nvPr>
        </p:nvSpPr>
        <p:spPr>
          <a:xfrm>
            <a:off x="792000" y="360000"/>
            <a:ext cx="6375921" cy="429413"/>
          </a:xfrm>
        </p:spPr>
        <p:txBody>
          <a:bodyPr>
            <a:normAutofit/>
          </a:bodyPr>
          <a:lstStyle/>
          <a:p>
            <a:r>
              <a:rPr lang="en-US" altLang="zh-CN" dirty="0"/>
              <a:t>3. </a:t>
            </a:r>
            <a:r>
              <a:rPr lang="zh-CN" altLang="en-US" dirty="0"/>
              <a:t>项目任务的关联关系</a:t>
            </a:r>
          </a:p>
        </p:txBody>
      </p:sp>
      <p:sp>
        <p:nvSpPr>
          <p:cNvPr id="3" name="内容占位符 2">
            <a:extLst>
              <a:ext uri="{FF2B5EF4-FFF2-40B4-BE49-F238E27FC236}">
                <a16:creationId xmlns:a16="http://schemas.microsoft.com/office/drawing/2014/main" id="{39C5046C-40DB-4D12-BEA1-4F809A23504F}"/>
              </a:ext>
            </a:extLst>
          </p:cNvPr>
          <p:cNvSpPr>
            <a:spLocks noGrp="1"/>
          </p:cNvSpPr>
          <p:nvPr>
            <p:ph idx="1"/>
          </p:nvPr>
        </p:nvSpPr>
        <p:spPr>
          <a:xfrm>
            <a:off x="792000" y="875592"/>
            <a:ext cx="10800000" cy="5400000"/>
          </a:xfrm>
        </p:spPr>
        <p:txBody>
          <a:bodyPr/>
          <a:lstStyle/>
          <a:p>
            <a:r>
              <a:rPr lang="zh-CN" altLang="en-US" dirty="0"/>
              <a:t>任务之间的关系</a:t>
            </a:r>
            <a:endParaRPr lang="en-US" altLang="zh-CN" dirty="0"/>
          </a:p>
          <a:p>
            <a:pPr lvl="1"/>
            <a:r>
              <a:rPr lang="en-US" altLang="zh-CN" dirty="0"/>
              <a:t>FS</a:t>
            </a:r>
            <a:r>
              <a:rPr lang="zh-CN" altLang="en-US" dirty="0"/>
              <a:t>：</a:t>
            </a:r>
            <a:r>
              <a:rPr lang="en-US" altLang="zh-CN" dirty="0"/>
              <a:t>Finish to Start</a:t>
            </a:r>
          </a:p>
          <a:p>
            <a:pPr lvl="1"/>
            <a:r>
              <a:rPr lang="en-US" altLang="zh-CN" dirty="0"/>
              <a:t>SS</a:t>
            </a:r>
            <a:r>
              <a:rPr lang="zh-CN" altLang="en-US" dirty="0"/>
              <a:t>：</a:t>
            </a:r>
            <a:r>
              <a:rPr lang="en-US" altLang="zh-CN" dirty="0"/>
              <a:t>Start to Start</a:t>
            </a:r>
          </a:p>
          <a:p>
            <a:pPr lvl="1"/>
            <a:r>
              <a:rPr lang="en-US" altLang="zh-CN" dirty="0"/>
              <a:t>FF</a:t>
            </a:r>
            <a:r>
              <a:rPr lang="zh-CN" altLang="en-US" dirty="0"/>
              <a:t>：</a:t>
            </a:r>
            <a:r>
              <a:rPr lang="en-US" altLang="zh-CN" dirty="0"/>
              <a:t> Finish to Finish</a:t>
            </a:r>
          </a:p>
          <a:p>
            <a:pPr lvl="1"/>
            <a:r>
              <a:rPr lang="en-US" altLang="zh-CN" dirty="0"/>
              <a:t>SF</a:t>
            </a:r>
            <a:r>
              <a:rPr lang="zh-CN" altLang="en-US" dirty="0"/>
              <a:t>：</a:t>
            </a:r>
            <a:r>
              <a:rPr lang="en-US" altLang="zh-CN" dirty="0"/>
              <a:t> Start to Finish</a:t>
            </a:r>
          </a:p>
          <a:p>
            <a:r>
              <a:rPr lang="zh-CN" altLang="en-US" dirty="0"/>
              <a:t>确定关系的依据</a:t>
            </a:r>
          </a:p>
        </p:txBody>
      </p:sp>
      <p:sp>
        <p:nvSpPr>
          <p:cNvPr id="4" name="文本占位符 3">
            <a:extLst>
              <a:ext uri="{FF2B5EF4-FFF2-40B4-BE49-F238E27FC236}">
                <a16:creationId xmlns:a16="http://schemas.microsoft.com/office/drawing/2014/main" id="{2FAC99A9-8C8C-1E4E-9FE3-F3E2E966C61F}"/>
              </a:ext>
            </a:extLst>
          </p:cNvPr>
          <p:cNvSpPr>
            <a:spLocks noGrp="1"/>
          </p:cNvSpPr>
          <p:nvPr>
            <p:ph type="body" sz="quarter" idx="10"/>
          </p:nvPr>
        </p:nvSpPr>
        <p:spPr>
          <a:xfrm>
            <a:off x="7071919" y="448519"/>
            <a:ext cx="4424080" cy="338554"/>
          </a:xfrm>
        </p:spPr>
        <p:txBody>
          <a:bodyPr/>
          <a:lstStyle/>
          <a:p>
            <a:r>
              <a:rPr lang="en-US" altLang="zh-CN" dirty="0"/>
              <a:t>Planning</a:t>
            </a:r>
            <a:endParaRPr lang="zh-CN" altLang="en-US" dirty="0"/>
          </a:p>
        </p:txBody>
      </p:sp>
      <p:sp>
        <p:nvSpPr>
          <p:cNvPr id="8" name="矩形 7">
            <a:extLst>
              <a:ext uri="{FF2B5EF4-FFF2-40B4-BE49-F238E27FC236}">
                <a16:creationId xmlns:a16="http://schemas.microsoft.com/office/drawing/2014/main" id="{6BF66DD6-6916-C8E3-837E-B7542F536493}"/>
              </a:ext>
            </a:extLst>
          </p:cNvPr>
          <p:cNvSpPr/>
          <p:nvPr/>
        </p:nvSpPr>
        <p:spPr>
          <a:xfrm>
            <a:off x="1296461" y="4197316"/>
            <a:ext cx="360000" cy="180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700" dirty="0">
                <a:solidFill>
                  <a:schemeClr val="tx1"/>
                </a:solidFill>
              </a:rPr>
              <a:t>A</a:t>
            </a:r>
            <a:endParaRPr lang="zh-CN" altLang="en-US" sz="700" dirty="0">
              <a:solidFill>
                <a:schemeClr val="tx1"/>
              </a:solidFill>
            </a:endParaRPr>
          </a:p>
        </p:txBody>
      </p:sp>
      <p:sp>
        <p:nvSpPr>
          <p:cNvPr id="9" name="矩形 8">
            <a:extLst>
              <a:ext uri="{FF2B5EF4-FFF2-40B4-BE49-F238E27FC236}">
                <a16:creationId xmlns:a16="http://schemas.microsoft.com/office/drawing/2014/main" id="{9EEDE869-CF18-4E3B-954D-C3E69F2D999B}"/>
              </a:ext>
            </a:extLst>
          </p:cNvPr>
          <p:cNvSpPr/>
          <p:nvPr/>
        </p:nvSpPr>
        <p:spPr>
          <a:xfrm>
            <a:off x="2228882" y="4197316"/>
            <a:ext cx="360000" cy="180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700" dirty="0">
                <a:solidFill>
                  <a:schemeClr val="tx1"/>
                </a:solidFill>
              </a:rPr>
              <a:t>B</a:t>
            </a:r>
            <a:endParaRPr lang="zh-CN" altLang="en-US" sz="700" dirty="0">
              <a:solidFill>
                <a:schemeClr val="tx1"/>
              </a:solidFill>
            </a:endParaRPr>
          </a:p>
        </p:txBody>
      </p:sp>
      <p:cxnSp>
        <p:nvCxnSpPr>
          <p:cNvPr id="29" name="直接连接符 28">
            <a:extLst>
              <a:ext uri="{FF2B5EF4-FFF2-40B4-BE49-F238E27FC236}">
                <a16:creationId xmlns:a16="http://schemas.microsoft.com/office/drawing/2014/main" id="{6F68FDD9-E2D5-B413-B7BC-6F1AB7082DD0}"/>
              </a:ext>
            </a:extLst>
          </p:cNvPr>
          <p:cNvCxnSpPr>
            <a:cxnSpLocks/>
          </p:cNvCxnSpPr>
          <p:nvPr/>
        </p:nvCxnSpPr>
        <p:spPr>
          <a:xfrm>
            <a:off x="2228882" y="4068710"/>
            <a:ext cx="0" cy="216000"/>
          </a:xfrm>
          <a:prstGeom prst="line">
            <a:avLst/>
          </a:prstGeom>
          <a:ln w="63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a16="http://schemas.microsoft.com/office/drawing/2014/main" id="{D3DE13EF-3B0A-D78C-2F52-2FBA59CFF87D}"/>
              </a:ext>
            </a:extLst>
          </p:cNvPr>
          <p:cNvCxnSpPr>
            <a:cxnSpLocks/>
          </p:cNvCxnSpPr>
          <p:nvPr/>
        </p:nvCxnSpPr>
        <p:spPr>
          <a:xfrm>
            <a:off x="1656461" y="4068710"/>
            <a:ext cx="576000" cy="0"/>
          </a:xfrm>
          <a:prstGeom prst="straightConnector1">
            <a:avLst/>
          </a:prstGeom>
          <a:ln w="63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43" name="文本框 42">
            <a:extLst>
              <a:ext uri="{FF2B5EF4-FFF2-40B4-BE49-F238E27FC236}">
                <a16:creationId xmlns:a16="http://schemas.microsoft.com/office/drawing/2014/main" id="{3CF0632C-C3C0-A2D3-67CF-9EA1E180AF71}"/>
              </a:ext>
            </a:extLst>
          </p:cNvPr>
          <p:cNvSpPr txBox="1"/>
          <p:nvPr/>
        </p:nvSpPr>
        <p:spPr>
          <a:xfrm>
            <a:off x="1601531" y="4907163"/>
            <a:ext cx="441146" cy="338554"/>
          </a:xfrm>
          <a:prstGeom prst="rect">
            <a:avLst/>
          </a:prstGeom>
          <a:noFill/>
          <a:ln>
            <a:noFill/>
          </a:ln>
        </p:spPr>
        <p:txBody>
          <a:bodyPr wrap="none" rtlCol="0">
            <a:spAutoFit/>
          </a:bodyPr>
          <a:lstStyle/>
          <a:p>
            <a:pPr algn="l"/>
            <a:r>
              <a:rPr lang="en-US" altLang="zh-CN" sz="1600" dirty="0"/>
              <a:t>FS</a:t>
            </a:r>
            <a:endParaRPr lang="zh-CN" altLang="en-US" sz="1600" dirty="0"/>
          </a:p>
        </p:txBody>
      </p:sp>
      <p:sp>
        <p:nvSpPr>
          <p:cNvPr id="44" name="矩形 43">
            <a:extLst>
              <a:ext uri="{FF2B5EF4-FFF2-40B4-BE49-F238E27FC236}">
                <a16:creationId xmlns:a16="http://schemas.microsoft.com/office/drawing/2014/main" id="{91B01BBE-FA6B-C277-7278-2C255FB13144}"/>
              </a:ext>
            </a:extLst>
          </p:cNvPr>
          <p:cNvSpPr/>
          <p:nvPr/>
        </p:nvSpPr>
        <p:spPr>
          <a:xfrm>
            <a:off x="3523819" y="4197316"/>
            <a:ext cx="360000" cy="180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700" dirty="0">
                <a:solidFill>
                  <a:schemeClr val="tx1"/>
                </a:solidFill>
              </a:rPr>
              <a:t>A</a:t>
            </a:r>
            <a:endParaRPr lang="zh-CN" altLang="en-US" sz="700" dirty="0">
              <a:solidFill>
                <a:schemeClr val="tx1"/>
              </a:solidFill>
            </a:endParaRPr>
          </a:p>
        </p:txBody>
      </p:sp>
      <p:sp>
        <p:nvSpPr>
          <p:cNvPr id="45" name="矩形 44">
            <a:extLst>
              <a:ext uri="{FF2B5EF4-FFF2-40B4-BE49-F238E27FC236}">
                <a16:creationId xmlns:a16="http://schemas.microsoft.com/office/drawing/2014/main" id="{9C172A13-1920-9767-162B-C4C0FB8034B2}"/>
              </a:ext>
            </a:extLst>
          </p:cNvPr>
          <p:cNvSpPr/>
          <p:nvPr/>
        </p:nvSpPr>
        <p:spPr>
          <a:xfrm>
            <a:off x="5057376" y="4197316"/>
            <a:ext cx="360000" cy="180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700" dirty="0">
                <a:solidFill>
                  <a:schemeClr val="tx1"/>
                </a:solidFill>
              </a:rPr>
              <a:t>B</a:t>
            </a:r>
            <a:endParaRPr lang="zh-CN" altLang="en-US" sz="700" dirty="0">
              <a:solidFill>
                <a:schemeClr val="tx1"/>
              </a:solidFill>
            </a:endParaRPr>
          </a:p>
        </p:txBody>
      </p:sp>
      <p:cxnSp>
        <p:nvCxnSpPr>
          <p:cNvPr id="46" name="直接连接符 45">
            <a:extLst>
              <a:ext uri="{FF2B5EF4-FFF2-40B4-BE49-F238E27FC236}">
                <a16:creationId xmlns:a16="http://schemas.microsoft.com/office/drawing/2014/main" id="{87092F5A-4735-7814-A201-7B3AA233AF15}"/>
              </a:ext>
            </a:extLst>
          </p:cNvPr>
          <p:cNvCxnSpPr>
            <a:cxnSpLocks/>
          </p:cNvCxnSpPr>
          <p:nvPr/>
        </p:nvCxnSpPr>
        <p:spPr>
          <a:xfrm>
            <a:off x="3523819" y="3850104"/>
            <a:ext cx="0" cy="527212"/>
          </a:xfrm>
          <a:prstGeom prst="line">
            <a:avLst/>
          </a:prstGeom>
          <a:ln w="63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9CC0B877-8180-F068-5304-26EDD9450521}"/>
              </a:ext>
            </a:extLst>
          </p:cNvPr>
          <p:cNvCxnSpPr>
            <a:cxnSpLocks/>
          </p:cNvCxnSpPr>
          <p:nvPr/>
        </p:nvCxnSpPr>
        <p:spPr>
          <a:xfrm>
            <a:off x="5057376" y="3850104"/>
            <a:ext cx="0" cy="527212"/>
          </a:xfrm>
          <a:prstGeom prst="line">
            <a:avLst/>
          </a:prstGeom>
          <a:ln w="63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BED9A935-F2DC-CE35-4C65-CCE507283B83}"/>
              </a:ext>
            </a:extLst>
          </p:cNvPr>
          <p:cNvCxnSpPr>
            <a:cxnSpLocks/>
          </p:cNvCxnSpPr>
          <p:nvPr/>
        </p:nvCxnSpPr>
        <p:spPr>
          <a:xfrm>
            <a:off x="3523819" y="3850104"/>
            <a:ext cx="1533557" cy="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文本框 49">
            <a:extLst>
              <a:ext uri="{FF2B5EF4-FFF2-40B4-BE49-F238E27FC236}">
                <a16:creationId xmlns:a16="http://schemas.microsoft.com/office/drawing/2014/main" id="{96B277C0-DAAC-ECEF-C82F-B6340EDA0348}"/>
              </a:ext>
            </a:extLst>
          </p:cNvPr>
          <p:cNvSpPr txBox="1"/>
          <p:nvPr/>
        </p:nvSpPr>
        <p:spPr>
          <a:xfrm>
            <a:off x="4430025" y="4907163"/>
            <a:ext cx="437940" cy="338554"/>
          </a:xfrm>
          <a:prstGeom prst="rect">
            <a:avLst/>
          </a:prstGeom>
          <a:noFill/>
          <a:ln>
            <a:noFill/>
          </a:ln>
        </p:spPr>
        <p:txBody>
          <a:bodyPr wrap="none" rtlCol="0">
            <a:spAutoFit/>
          </a:bodyPr>
          <a:lstStyle/>
          <a:p>
            <a:pPr algn="l"/>
            <a:r>
              <a:rPr lang="en-US" altLang="zh-CN" sz="1600" dirty="0"/>
              <a:t>SS</a:t>
            </a:r>
            <a:endParaRPr lang="zh-CN" altLang="en-US" sz="1600" dirty="0"/>
          </a:p>
        </p:txBody>
      </p:sp>
      <p:sp>
        <p:nvSpPr>
          <p:cNvPr id="52" name="矩形 51">
            <a:extLst>
              <a:ext uri="{FF2B5EF4-FFF2-40B4-BE49-F238E27FC236}">
                <a16:creationId xmlns:a16="http://schemas.microsoft.com/office/drawing/2014/main" id="{0AC8A156-805B-C3DF-562C-0823AC5F9B0F}"/>
              </a:ext>
            </a:extLst>
          </p:cNvPr>
          <p:cNvSpPr/>
          <p:nvPr/>
        </p:nvSpPr>
        <p:spPr>
          <a:xfrm>
            <a:off x="6453244" y="4197316"/>
            <a:ext cx="360000" cy="180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700" dirty="0">
                <a:solidFill>
                  <a:schemeClr val="tx1"/>
                </a:solidFill>
              </a:rPr>
              <a:t>A</a:t>
            </a:r>
            <a:endParaRPr lang="zh-CN" altLang="en-US" sz="700" dirty="0">
              <a:solidFill>
                <a:schemeClr val="tx1"/>
              </a:solidFill>
            </a:endParaRPr>
          </a:p>
        </p:txBody>
      </p:sp>
      <p:sp>
        <p:nvSpPr>
          <p:cNvPr id="53" name="矩形 52">
            <a:extLst>
              <a:ext uri="{FF2B5EF4-FFF2-40B4-BE49-F238E27FC236}">
                <a16:creationId xmlns:a16="http://schemas.microsoft.com/office/drawing/2014/main" id="{3B843FE7-ED9C-2C0E-11F3-8FB2C943F8B9}"/>
              </a:ext>
            </a:extLst>
          </p:cNvPr>
          <p:cNvSpPr/>
          <p:nvPr/>
        </p:nvSpPr>
        <p:spPr>
          <a:xfrm>
            <a:off x="7986801" y="4197316"/>
            <a:ext cx="360000" cy="180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700" dirty="0">
                <a:solidFill>
                  <a:schemeClr val="tx1"/>
                </a:solidFill>
              </a:rPr>
              <a:t>B</a:t>
            </a:r>
            <a:endParaRPr lang="zh-CN" altLang="en-US" sz="700" dirty="0">
              <a:solidFill>
                <a:schemeClr val="tx1"/>
              </a:solidFill>
            </a:endParaRPr>
          </a:p>
        </p:txBody>
      </p:sp>
      <p:cxnSp>
        <p:nvCxnSpPr>
          <p:cNvPr id="54" name="直接连接符 53">
            <a:extLst>
              <a:ext uri="{FF2B5EF4-FFF2-40B4-BE49-F238E27FC236}">
                <a16:creationId xmlns:a16="http://schemas.microsoft.com/office/drawing/2014/main" id="{450EAB80-D3B7-3126-A1AC-8C88D58ABE1F}"/>
              </a:ext>
            </a:extLst>
          </p:cNvPr>
          <p:cNvCxnSpPr>
            <a:cxnSpLocks/>
            <a:endCxn id="52" idx="3"/>
          </p:cNvCxnSpPr>
          <p:nvPr/>
        </p:nvCxnSpPr>
        <p:spPr>
          <a:xfrm flipH="1">
            <a:off x="6813244" y="3850104"/>
            <a:ext cx="360000" cy="437212"/>
          </a:xfrm>
          <a:prstGeom prst="line">
            <a:avLst/>
          </a:prstGeom>
          <a:ln w="63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93FB969D-EF89-02E7-4B84-8D31C7006E1E}"/>
              </a:ext>
            </a:extLst>
          </p:cNvPr>
          <p:cNvCxnSpPr>
            <a:cxnSpLocks/>
          </p:cNvCxnSpPr>
          <p:nvPr/>
        </p:nvCxnSpPr>
        <p:spPr>
          <a:xfrm>
            <a:off x="8706801" y="3850104"/>
            <a:ext cx="0" cy="527212"/>
          </a:xfrm>
          <a:prstGeom prst="line">
            <a:avLst/>
          </a:prstGeom>
          <a:ln w="63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6" name="直接箭头连接符 55">
            <a:extLst>
              <a:ext uri="{FF2B5EF4-FFF2-40B4-BE49-F238E27FC236}">
                <a16:creationId xmlns:a16="http://schemas.microsoft.com/office/drawing/2014/main" id="{70144A69-7A14-5AE2-E8EC-4F133BA0A981}"/>
              </a:ext>
            </a:extLst>
          </p:cNvPr>
          <p:cNvCxnSpPr>
            <a:cxnSpLocks/>
          </p:cNvCxnSpPr>
          <p:nvPr/>
        </p:nvCxnSpPr>
        <p:spPr>
          <a:xfrm>
            <a:off x="7173244" y="3850104"/>
            <a:ext cx="1533557" cy="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文本框 56">
            <a:extLst>
              <a:ext uri="{FF2B5EF4-FFF2-40B4-BE49-F238E27FC236}">
                <a16:creationId xmlns:a16="http://schemas.microsoft.com/office/drawing/2014/main" id="{D62FC7F8-062B-623F-A9DA-1C4A208C1A3A}"/>
              </a:ext>
            </a:extLst>
          </p:cNvPr>
          <p:cNvSpPr txBox="1"/>
          <p:nvPr/>
        </p:nvSpPr>
        <p:spPr>
          <a:xfrm>
            <a:off x="7359450" y="4907163"/>
            <a:ext cx="444352" cy="338554"/>
          </a:xfrm>
          <a:prstGeom prst="rect">
            <a:avLst/>
          </a:prstGeom>
          <a:noFill/>
          <a:ln>
            <a:noFill/>
          </a:ln>
        </p:spPr>
        <p:txBody>
          <a:bodyPr wrap="none" rtlCol="0">
            <a:spAutoFit/>
          </a:bodyPr>
          <a:lstStyle/>
          <a:p>
            <a:pPr algn="l"/>
            <a:r>
              <a:rPr lang="en-US" altLang="zh-CN" sz="1600" dirty="0"/>
              <a:t>FF</a:t>
            </a:r>
            <a:endParaRPr lang="zh-CN" altLang="en-US" sz="1600" dirty="0"/>
          </a:p>
        </p:txBody>
      </p:sp>
      <p:sp>
        <p:nvSpPr>
          <p:cNvPr id="58" name="矩形 57">
            <a:extLst>
              <a:ext uri="{FF2B5EF4-FFF2-40B4-BE49-F238E27FC236}">
                <a16:creationId xmlns:a16="http://schemas.microsoft.com/office/drawing/2014/main" id="{92333CF3-D41F-33BB-6CA4-E0D2155A980F}"/>
              </a:ext>
            </a:extLst>
          </p:cNvPr>
          <p:cNvSpPr/>
          <p:nvPr/>
        </p:nvSpPr>
        <p:spPr>
          <a:xfrm>
            <a:off x="9281738" y="4197316"/>
            <a:ext cx="360000" cy="180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700" dirty="0">
                <a:solidFill>
                  <a:schemeClr val="tx1"/>
                </a:solidFill>
              </a:rPr>
              <a:t>A</a:t>
            </a:r>
            <a:endParaRPr lang="zh-CN" altLang="en-US" sz="700" dirty="0">
              <a:solidFill>
                <a:schemeClr val="tx1"/>
              </a:solidFill>
            </a:endParaRPr>
          </a:p>
        </p:txBody>
      </p:sp>
      <p:sp>
        <p:nvSpPr>
          <p:cNvPr id="59" name="矩形 58">
            <a:extLst>
              <a:ext uri="{FF2B5EF4-FFF2-40B4-BE49-F238E27FC236}">
                <a16:creationId xmlns:a16="http://schemas.microsoft.com/office/drawing/2014/main" id="{ED1F031D-4D27-BC29-1DA3-DCBFEA37E20A}"/>
              </a:ext>
            </a:extLst>
          </p:cNvPr>
          <p:cNvSpPr/>
          <p:nvPr/>
        </p:nvSpPr>
        <p:spPr>
          <a:xfrm>
            <a:off x="10815295" y="4197316"/>
            <a:ext cx="360000" cy="180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700" dirty="0">
                <a:solidFill>
                  <a:schemeClr val="tx1"/>
                </a:solidFill>
              </a:rPr>
              <a:t>B</a:t>
            </a:r>
            <a:endParaRPr lang="zh-CN" altLang="en-US" sz="700" dirty="0">
              <a:solidFill>
                <a:schemeClr val="tx1"/>
              </a:solidFill>
            </a:endParaRPr>
          </a:p>
        </p:txBody>
      </p:sp>
      <p:cxnSp>
        <p:nvCxnSpPr>
          <p:cNvPr id="60" name="直接连接符 59">
            <a:extLst>
              <a:ext uri="{FF2B5EF4-FFF2-40B4-BE49-F238E27FC236}">
                <a16:creationId xmlns:a16="http://schemas.microsoft.com/office/drawing/2014/main" id="{A56E3426-001A-D6E4-D9C6-6FC2401B7737}"/>
              </a:ext>
            </a:extLst>
          </p:cNvPr>
          <p:cNvCxnSpPr>
            <a:cxnSpLocks/>
          </p:cNvCxnSpPr>
          <p:nvPr/>
        </p:nvCxnSpPr>
        <p:spPr>
          <a:xfrm>
            <a:off x="9281738" y="3850104"/>
            <a:ext cx="0" cy="527212"/>
          </a:xfrm>
          <a:prstGeom prst="line">
            <a:avLst/>
          </a:prstGeom>
          <a:ln w="63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69979002-6164-635B-5D62-E554E6B6F80A}"/>
              </a:ext>
            </a:extLst>
          </p:cNvPr>
          <p:cNvCxnSpPr>
            <a:cxnSpLocks/>
          </p:cNvCxnSpPr>
          <p:nvPr/>
        </p:nvCxnSpPr>
        <p:spPr>
          <a:xfrm>
            <a:off x="11535295" y="3850104"/>
            <a:ext cx="0" cy="527212"/>
          </a:xfrm>
          <a:prstGeom prst="line">
            <a:avLst/>
          </a:prstGeom>
          <a:ln w="63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2" name="直接箭头连接符 61">
            <a:extLst>
              <a:ext uri="{FF2B5EF4-FFF2-40B4-BE49-F238E27FC236}">
                <a16:creationId xmlns:a16="http://schemas.microsoft.com/office/drawing/2014/main" id="{AD688423-B400-67C1-6789-4F83F01E75D6}"/>
              </a:ext>
            </a:extLst>
          </p:cNvPr>
          <p:cNvCxnSpPr>
            <a:cxnSpLocks/>
          </p:cNvCxnSpPr>
          <p:nvPr/>
        </p:nvCxnSpPr>
        <p:spPr>
          <a:xfrm>
            <a:off x="9281738" y="3850104"/>
            <a:ext cx="2253557" cy="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3" name="文本框 62">
            <a:extLst>
              <a:ext uri="{FF2B5EF4-FFF2-40B4-BE49-F238E27FC236}">
                <a16:creationId xmlns:a16="http://schemas.microsoft.com/office/drawing/2014/main" id="{4CD35DFD-7DF7-3091-0E72-E627EBD2370B}"/>
              </a:ext>
            </a:extLst>
          </p:cNvPr>
          <p:cNvSpPr txBox="1"/>
          <p:nvPr/>
        </p:nvSpPr>
        <p:spPr>
          <a:xfrm>
            <a:off x="10187944" y="4907163"/>
            <a:ext cx="441146" cy="338554"/>
          </a:xfrm>
          <a:prstGeom prst="rect">
            <a:avLst/>
          </a:prstGeom>
          <a:noFill/>
          <a:ln>
            <a:noFill/>
          </a:ln>
        </p:spPr>
        <p:txBody>
          <a:bodyPr wrap="none" rtlCol="0">
            <a:spAutoFit/>
          </a:bodyPr>
          <a:lstStyle/>
          <a:p>
            <a:pPr algn="l"/>
            <a:r>
              <a:rPr lang="en-US" altLang="zh-CN" sz="1600" dirty="0"/>
              <a:t>SF</a:t>
            </a:r>
            <a:endParaRPr lang="zh-CN" altLang="en-US" sz="1600" dirty="0"/>
          </a:p>
        </p:txBody>
      </p:sp>
      <p:cxnSp>
        <p:nvCxnSpPr>
          <p:cNvPr id="12" name="直接连接符 11">
            <a:extLst>
              <a:ext uri="{FF2B5EF4-FFF2-40B4-BE49-F238E27FC236}">
                <a16:creationId xmlns:a16="http://schemas.microsoft.com/office/drawing/2014/main" id="{20D419F5-1D65-AD36-6BD9-40FF769344A8}"/>
              </a:ext>
            </a:extLst>
          </p:cNvPr>
          <p:cNvCxnSpPr>
            <a:cxnSpLocks/>
          </p:cNvCxnSpPr>
          <p:nvPr/>
        </p:nvCxnSpPr>
        <p:spPr>
          <a:xfrm>
            <a:off x="1656461" y="4068710"/>
            <a:ext cx="0" cy="216000"/>
          </a:xfrm>
          <a:prstGeom prst="line">
            <a:avLst/>
          </a:prstGeom>
          <a:ln w="6350">
            <a:solidFill>
              <a:schemeClr val="tx1"/>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0009547"/>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7BFB76F2-B0BE-F88E-C62B-777CF7436CE7}"/>
              </a:ext>
            </a:extLst>
          </p:cNvPr>
          <p:cNvSpPr/>
          <p:nvPr/>
        </p:nvSpPr>
        <p:spPr>
          <a:xfrm>
            <a:off x="2812885" y="1521493"/>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t0</a:t>
            </a:r>
            <a:endParaRPr lang="zh-CN" altLang="en-US" sz="1600" dirty="0">
              <a:solidFill>
                <a:schemeClr val="tx1"/>
              </a:solidFill>
            </a:endParaRPr>
          </a:p>
        </p:txBody>
      </p:sp>
      <p:sp>
        <p:nvSpPr>
          <p:cNvPr id="6" name="矩形 5">
            <a:extLst>
              <a:ext uri="{FF2B5EF4-FFF2-40B4-BE49-F238E27FC236}">
                <a16:creationId xmlns:a16="http://schemas.microsoft.com/office/drawing/2014/main" id="{0050492E-7A0E-9FF0-A8E5-9F8A89E5BEB0}"/>
              </a:ext>
            </a:extLst>
          </p:cNvPr>
          <p:cNvSpPr/>
          <p:nvPr/>
        </p:nvSpPr>
        <p:spPr>
          <a:xfrm>
            <a:off x="4677909" y="635969"/>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t1</a:t>
            </a:r>
            <a:endParaRPr lang="zh-CN" altLang="en-US" sz="1600" dirty="0">
              <a:solidFill>
                <a:schemeClr val="tx1"/>
              </a:solidFill>
            </a:endParaRPr>
          </a:p>
        </p:txBody>
      </p:sp>
      <p:sp>
        <p:nvSpPr>
          <p:cNvPr id="7" name="矩形 6">
            <a:extLst>
              <a:ext uri="{FF2B5EF4-FFF2-40B4-BE49-F238E27FC236}">
                <a16:creationId xmlns:a16="http://schemas.microsoft.com/office/drawing/2014/main" id="{7D744F1A-113A-3FC4-CFC9-290026D3CA3C}"/>
              </a:ext>
            </a:extLst>
          </p:cNvPr>
          <p:cNvSpPr/>
          <p:nvPr/>
        </p:nvSpPr>
        <p:spPr>
          <a:xfrm>
            <a:off x="6542933" y="635969"/>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t3</a:t>
            </a:r>
            <a:endParaRPr lang="zh-CN" altLang="en-US" sz="1600" dirty="0">
              <a:solidFill>
                <a:schemeClr val="tx1"/>
              </a:solidFill>
            </a:endParaRPr>
          </a:p>
        </p:txBody>
      </p:sp>
      <p:sp>
        <p:nvSpPr>
          <p:cNvPr id="8" name="矩形 7">
            <a:extLst>
              <a:ext uri="{FF2B5EF4-FFF2-40B4-BE49-F238E27FC236}">
                <a16:creationId xmlns:a16="http://schemas.microsoft.com/office/drawing/2014/main" id="{450028B6-04A3-5AE6-3B77-9A751D4C0D46}"/>
              </a:ext>
            </a:extLst>
          </p:cNvPr>
          <p:cNvSpPr/>
          <p:nvPr/>
        </p:nvSpPr>
        <p:spPr>
          <a:xfrm>
            <a:off x="3745397" y="2407018"/>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t2</a:t>
            </a:r>
            <a:endParaRPr lang="zh-CN" altLang="en-US" sz="1600" dirty="0">
              <a:solidFill>
                <a:schemeClr val="tx1"/>
              </a:solidFill>
            </a:endParaRPr>
          </a:p>
        </p:txBody>
      </p:sp>
      <p:sp>
        <p:nvSpPr>
          <p:cNvPr id="9" name="矩形 8">
            <a:extLst>
              <a:ext uri="{FF2B5EF4-FFF2-40B4-BE49-F238E27FC236}">
                <a16:creationId xmlns:a16="http://schemas.microsoft.com/office/drawing/2014/main" id="{4C314F77-84A2-3D2B-0742-52A00F78D8AC}"/>
              </a:ext>
            </a:extLst>
          </p:cNvPr>
          <p:cNvSpPr/>
          <p:nvPr/>
        </p:nvSpPr>
        <p:spPr>
          <a:xfrm>
            <a:off x="5610421" y="2407018"/>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t4</a:t>
            </a:r>
            <a:endParaRPr lang="zh-CN" altLang="en-US" sz="1600" dirty="0">
              <a:solidFill>
                <a:schemeClr val="tx1"/>
              </a:solidFill>
            </a:endParaRPr>
          </a:p>
        </p:txBody>
      </p:sp>
      <p:sp>
        <p:nvSpPr>
          <p:cNvPr id="10" name="矩形 9">
            <a:extLst>
              <a:ext uri="{FF2B5EF4-FFF2-40B4-BE49-F238E27FC236}">
                <a16:creationId xmlns:a16="http://schemas.microsoft.com/office/drawing/2014/main" id="{7310AD1C-E4A7-0644-731C-BEFB4E0C09C2}"/>
              </a:ext>
            </a:extLst>
          </p:cNvPr>
          <p:cNvSpPr/>
          <p:nvPr/>
        </p:nvSpPr>
        <p:spPr>
          <a:xfrm>
            <a:off x="7475445" y="2407018"/>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t5</a:t>
            </a:r>
            <a:endParaRPr lang="zh-CN" altLang="en-US" sz="1600" dirty="0">
              <a:solidFill>
                <a:schemeClr val="tx1"/>
              </a:solidFill>
            </a:endParaRPr>
          </a:p>
        </p:txBody>
      </p:sp>
      <p:sp>
        <p:nvSpPr>
          <p:cNvPr id="11" name="矩形 10">
            <a:extLst>
              <a:ext uri="{FF2B5EF4-FFF2-40B4-BE49-F238E27FC236}">
                <a16:creationId xmlns:a16="http://schemas.microsoft.com/office/drawing/2014/main" id="{C4E29758-D5DF-F949-2CDB-A6F20AD4D7AC}"/>
              </a:ext>
            </a:extLst>
          </p:cNvPr>
          <p:cNvSpPr/>
          <p:nvPr/>
        </p:nvSpPr>
        <p:spPr>
          <a:xfrm>
            <a:off x="8407957" y="1521493"/>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t6</a:t>
            </a:r>
            <a:endParaRPr lang="zh-CN" altLang="en-US" sz="1600" dirty="0">
              <a:solidFill>
                <a:schemeClr val="tx1"/>
              </a:solidFill>
            </a:endParaRPr>
          </a:p>
        </p:txBody>
      </p:sp>
      <p:cxnSp>
        <p:nvCxnSpPr>
          <p:cNvPr id="13" name="直接箭头连接符 12">
            <a:extLst>
              <a:ext uri="{FF2B5EF4-FFF2-40B4-BE49-F238E27FC236}">
                <a16:creationId xmlns:a16="http://schemas.microsoft.com/office/drawing/2014/main" id="{A48553DB-DC12-5F01-4686-6B5906536AD5}"/>
              </a:ext>
            </a:extLst>
          </p:cNvPr>
          <p:cNvCxnSpPr>
            <a:stCxn id="8" idx="3"/>
            <a:endCxn id="9" idx="1"/>
          </p:cNvCxnSpPr>
          <p:nvPr/>
        </p:nvCxnSpPr>
        <p:spPr>
          <a:xfrm>
            <a:off x="4465397" y="2587018"/>
            <a:ext cx="114502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99C5B99C-6AD8-65CB-2708-DFF15BC198DE}"/>
              </a:ext>
            </a:extLst>
          </p:cNvPr>
          <p:cNvCxnSpPr>
            <a:stCxn id="9" idx="3"/>
            <a:endCxn id="10" idx="1"/>
          </p:cNvCxnSpPr>
          <p:nvPr/>
        </p:nvCxnSpPr>
        <p:spPr>
          <a:xfrm>
            <a:off x="6330421" y="2587018"/>
            <a:ext cx="114502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7E419332-4C79-016E-A289-F1FCAA188BDE}"/>
              </a:ext>
            </a:extLst>
          </p:cNvPr>
          <p:cNvCxnSpPr>
            <a:stCxn id="10" idx="3"/>
            <a:endCxn id="11" idx="2"/>
          </p:cNvCxnSpPr>
          <p:nvPr/>
        </p:nvCxnSpPr>
        <p:spPr>
          <a:xfrm flipV="1">
            <a:off x="8195445" y="1881493"/>
            <a:ext cx="572512" cy="7055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08B2D427-0122-5375-C99D-C8764CAA3AC1}"/>
              </a:ext>
            </a:extLst>
          </p:cNvPr>
          <p:cNvCxnSpPr>
            <a:stCxn id="7" idx="3"/>
            <a:endCxn id="11" idx="0"/>
          </p:cNvCxnSpPr>
          <p:nvPr/>
        </p:nvCxnSpPr>
        <p:spPr>
          <a:xfrm>
            <a:off x="7262933" y="815969"/>
            <a:ext cx="1505024" cy="70552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366536CD-1A52-E10C-43D5-AD2AFEDC2D74}"/>
              </a:ext>
            </a:extLst>
          </p:cNvPr>
          <p:cNvCxnSpPr>
            <a:stCxn id="6" idx="3"/>
            <a:endCxn id="7" idx="1"/>
          </p:cNvCxnSpPr>
          <p:nvPr/>
        </p:nvCxnSpPr>
        <p:spPr>
          <a:xfrm>
            <a:off x="5397909" y="815969"/>
            <a:ext cx="114502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98125457-E846-2840-9D7D-F958CCBE87C7}"/>
              </a:ext>
            </a:extLst>
          </p:cNvPr>
          <p:cNvCxnSpPr>
            <a:stCxn id="5" idx="0"/>
            <a:endCxn id="6" idx="1"/>
          </p:cNvCxnSpPr>
          <p:nvPr/>
        </p:nvCxnSpPr>
        <p:spPr>
          <a:xfrm flipV="1">
            <a:off x="3172885" y="815969"/>
            <a:ext cx="1505024" cy="70552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3247E7E9-8898-6F42-A9E8-1F64566C2F22}"/>
              </a:ext>
            </a:extLst>
          </p:cNvPr>
          <p:cNvCxnSpPr>
            <a:stCxn id="5" idx="2"/>
            <a:endCxn id="8" idx="1"/>
          </p:cNvCxnSpPr>
          <p:nvPr/>
        </p:nvCxnSpPr>
        <p:spPr>
          <a:xfrm>
            <a:off x="3172885" y="1881493"/>
            <a:ext cx="572512" cy="7055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64940904-663F-0494-4728-0FACCC9A47F1}"/>
              </a:ext>
            </a:extLst>
          </p:cNvPr>
          <p:cNvCxnSpPr>
            <a:stCxn id="6" idx="2"/>
            <a:endCxn id="9" idx="0"/>
          </p:cNvCxnSpPr>
          <p:nvPr/>
        </p:nvCxnSpPr>
        <p:spPr>
          <a:xfrm>
            <a:off x="5037909" y="995969"/>
            <a:ext cx="932512" cy="141104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8" name="表格 27">
            <a:extLst>
              <a:ext uri="{FF2B5EF4-FFF2-40B4-BE49-F238E27FC236}">
                <a16:creationId xmlns:a16="http://schemas.microsoft.com/office/drawing/2014/main" id="{0FB49B38-F807-4346-3FD7-8802221563EB}"/>
              </a:ext>
            </a:extLst>
          </p:cNvPr>
          <p:cNvGraphicFramePr>
            <a:graphicFrameLocks noGrp="1"/>
          </p:cNvGraphicFramePr>
          <p:nvPr>
            <p:extLst>
              <p:ext uri="{D42A27DB-BD31-4B8C-83A1-F6EECF244321}">
                <p14:modId xmlns:p14="http://schemas.microsoft.com/office/powerpoint/2010/main" val="3465352938"/>
              </p:ext>
            </p:extLst>
          </p:nvPr>
        </p:nvGraphicFramePr>
        <p:xfrm>
          <a:off x="4836000" y="3446151"/>
          <a:ext cx="2520000" cy="259588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2899490169"/>
                    </a:ext>
                  </a:extLst>
                </a:gridCol>
                <a:gridCol w="360000">
                  <a:extLst>
                    <a:ext uri="{9D8B030D-6E8A-4147-A177-3AD203B41FA5}">
                      <a16:colId xmlns:a16="http://schemas.microsoft.com/office/drawing/2014/main" val="3174742027"/>
                    </a:ext>
                  </a:extLst>
                </a:gridCol>
                <a:gridCol w="360000">
                  <a:extLst>
                    <a:ext uri="{9D8B030D-6E8A-4147-A177-3AD203B41FA5}">
                      <a16:colId xmlns:a16="http://schemas.microsoft.com/office/drawing/2014/main" val="1190144207"/>
                    </a:ext>
                  </a:extLst>
                </a:gridCol>
                <a:gridCol w="360000">
                  <a:extLst>
                    <a:ext uri="{9D8B030D-6E8A-4147-A177-3AD203B41FA5}">
                      <a16:colId xmlns:a16="http://schemas.microsoft.com/office/drawing/2014/main" val="1118709905"/>
                    </a:ext>
                  </a:extLst>
                </a:gridCol>
                <a:gridCol w="360000">
                  <a:extLst>
                    <a:ext uri="{9D8B030D-6E8A-4147-A177-3AD203B41FA5}">
                      <a16:colId xmlns:a16="http://schemas.microsoft.com/office/drawing/2014/main" val="3356401734"/>
                    </a:ext>
                  </a:extLst>
                </a:gridCol>
                <a:gridCol w="360000">
                  <a:extLst>
                    <a:ext uri="{9D8B030D-6E8A-4147-A177-3AD203B41FA5}">
                      <a16:colId xmlns:a16="http://schemas.microsoft.com/office/drawing/2014/main" val="3621924712"/>
                    </a:ext>
                  </a:extLst>
                </a:gridCol>
                <a:gridCol w="360000">
                  <a:extLst>
                    <a:ext uri="{9D8B030D-6E8A-4147-A177-3AD203B41FA5}">
                      <a16:colId xmlns:a16="http://schemas.microsoft.com/office/drawing/2014/main" val="2279157412"/>
                    </a:ext>
                  </a:extLst>
                </a:gridCol>
              </a:tblGrid>
              <a:tr h="370840">
                <a:tc>
                  <a:txBody>
                    <a:bodyPr/>
                    <a:lstStyle/>
                    <a:p>
                      <a:pPr algn="ctr"/>
                      <a:r>
                        <a:rPr lang="en-US" altLang="zh-CN" sz="1600" b="0" dirty="0">
                          <a:solidFill>
                            <a:schemeClr val="tx1"/>
                          </a:solidFill>
                        </a:rPr>
                        <a:t>0</a:t>
                      </a: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r>
                        <a:rPr lang="en-US" altLang="zh-CN" sz="1600" b="0" dirty="0">
                          <a:solidFill>
                            <a:schemeClr val="tx1"/>
                          </a:solidFill>
                        </a:rPr>
                        <a:t>1</a:t>
                      </a: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r>
                        <a:rPr lang="en-US" altLang="zh-CN" sz="1600" b="0" dirty="0">
                          <a:solidFill>
                            <a:schemeClr val="tx1"/>
                          </a:solidFill>
                        </a:rPr>
                        <a:t>1</a:t>
                      </a: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r>
                        <a:rPr lang="en-US" altLang="zh-CN" sz="1600" b="0" dirty="0">
                          <a:solidFill>
                            <a:schemeClr val="tx1"/>
                          </a:solidFill>
                        </a:rPr>
                        <a:t>0</a:t>
                      </a: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r>
                        <a:rPr lang="en-US" altLang="zh-CN" sz="1600" b="0" dirty="0">
                          <a:solidFill>
                            <a:schemeClr val="tx1"/>
                          </a:solidFill>
                        </a:rPr>
                        <a:t>0</a:t>
                      </a: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r>
                        <a:rPr lang="en-US" altLang="zh-CN" sz="1600" b="0" dirty="0">
                          <a:solidFill>
                            <a:schemeClr val="tx1"/>
                          </a:solidFill>
                        </a:rPr>
                        <a:t>0</a:t>
                      </a: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r>
                        <a:rPr lang="en-US" altLang="zh-CN" sz="1600" b="0" dirty="0">
                          <a:solidFill>
                            <a:schemeClr val="tx1"/>
                          </a:solidFill>
                        </a:rPr>
                        <a:t>0</a:t>
                      </a: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473845401"/>
                  </a:ext>
                </a:extLst>
              </a:tr>
              <a:tr h="370840">
                <a:tc>
                  <a:txBody>
                    <a:bodyPr/>
                    <a:lstStyle/>
                    <a:p>
                      <a:pPr algn="ctr"/>
                      <a:r>
                        <a:rPr lang="en-US" altLang="zh-CN" sz="1600" b="0" dirty="0">
                          <a:solidFill>
                            <a:schemeClr val="tx1"/>
                          </a:solidFill>
                        </a:rPr>
                        <a:t>0</a:t>
                      </a: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r>
                        <a:rPr lang="en-US" altLang="zh-CN" sz="1600" b="0" dirty="0">
                          <a:solidFill>
                            <a:schemeClr val="tx1"/>
                          </a:solidFill>
                        </a:rPr>
                        <a:t>0</a:t>
                      </a: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r>
                        <a:rPr lang="en-US" altLang="zh-CN" sz="1600" b="0" dirty="0">
                          <a:solidFill>
                            <a:schemeClr val="tx1"/>
                          </a:solidFill>
                        </a:rPr>
                        <a:t>0</a:t>
                      </a: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r>
                        <a:rPr lang="en-US" altLang="zh-CN" sz="1600" b="0" dirty="0">
                          <a:solidFill>
                            <a:schemeClr val="tx1"/>
                          </a:solidFill>
                        </a:rPr>
                        <a:t>1</a:t>
                      </a: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r>
                        <a:rPr lang="en-US" altLang="zh-CN" sz="1600" b="0" dirty="0">
                          <a:solidFill>
                            <a:schemeClr val="tx1"/>
                          </a:solidFill>
                        </a:rPr>
                        <a:t>1</a:t>
                      </a: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r>
                        <a:rPr lang="en-US" altLang="zh-CN" sz="1600" b="0" dirty="0">
                          <a:solidFill>
                            <a:schemeClr val="tx1"/>
                          </a:solidFill>
                        </a:rPr>
                        <a:t>0</a:t>
                      </a: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r>
                        <a:rPr lang="en-US" altLang="zh-CN" sz="1600" b="0" dirty="0">
                          <a:solidFill>
                            <a:schemeClr val="tx1"/>
                          </a:solidFill>
                        </a:rPr>
                        <a:t>0</a:t>
                      </a: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838867968"/>
                  </a:ext>
                </a:extLst>
              </a:tr>
              <a:tr h="370840">
                <a:tc>
                  <a:txBody>
                    <a:bodyPr/>
                    <a:lstStyle/>
                    <a:p>
                      <a:pPr algn="ctr"/>
                      <a:r>
                        <a:rPr lang="en-US" altLang="zh-CN" sz="1600" b="0" dirty="0">
                          <a:solidFill>
                            <a:schemeClr val="tx1"/>
                          </a:solidFill>
                        </a:rPr>
                        <a:t>0</a:t>
                      </a: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r>
                        <a:rPr lang="en-US" altLang="zh-CN" sz="1600" b="0" dirty="0">
                          <a:solidFill>
                            <a:schemeClr val="tx1"/>
                          </a:solidFill>
                        </a:rPr>
                        <a:t>0</a:t>
                      </a: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r>
                        <a:rPr lang="en-US" altLang="zh-CN" sz="1600" b="0" dirty="0">
                          <a:solidFill>
                            <a:schemeClr val="tx1"/>
                          </a:solidFill>
                        </a:rPr>
                        <a:t>0</a:t>
                      </a: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r>
                        <a:rPr lang="en-US" altLang="zh-CN" sz="1600" b="0" dirty="0">
                          <a:solidFill>
                            <a:schemeClr val="tx1"/>
                          </a:solidFill>
                        </a:rPr>
                        <a:t>0</a:t>
                      </a: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r>
                        <a:rPr lang="en-US" altLang="zh-CN" sz="1600" b="0" dirty="0">
                          <a:solidFill>
                            <a:schemeClr val="tx1"/>
                          </a:solidFill>
                        </a:rPr>
                        <a:t>1</a:t>
                      </a: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r>
                        <a:rPr lang="en-US" altLang="zh-CN" sz="1600" b="0" dirty="0">
                          <a:solidFill>
                            <a:schemeClr val="tx1"/>
                          </a:solidFill>
                        </a:rPr>
                        <a:t>0</a:t>
                      </a: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r>
                        <a:rPr lang="en-US" altLang="zh-CN" sz="1600" b="0" dirty="0">
                          <a:solidFill>
                            <a:schemeClr val="tx1"/>
                          </a:solidFill>
                        </a:rPr>
                        <a:t>0</a:t>
                      </a: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660067834"/>
                  </a:ext>
                </a:extLst>
              </a:tr>
              <a:tr h="370840">
                <a:tc>
                  <a:txBody>
                    <a:bodyPr/>
                    <a:lstStyle/>
                    <a:p>
                      <a:pPr algn="ctr"/>
                      <a:endParaRPr lang="zh-CN" altLang="en-US" sz="1600" b="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600" b="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600" b="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600" b="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600" b="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607642954"/>
                  </a:ext>
                </a:extLst>
              </a:tr>
              <a:tr h="370840">
                <a:tc>
                  <a:txBody>
                    <a:bodyPr/>
                    <a:lstStyle/>
                    <a:p>
                      <a:pPr algn="ctr"/>
                      <a:endParaRPr lang="zh-CN" altLang="en-US" sz="1600" b="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600" b="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600" b="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600" b="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600" b="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600" b="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432220265"/>
                  </a:ext>
                </a:extLst>
              </a:tr>
              <a:tr h="370840">
                <a:tc>
                  <a:txBody>
                    <a:bodyPr/>
                    <a:lstStyle/>
                    <a:p>
                      <a:pPr algn="ctr"/>
                      <a:endParaRPr lang="zh-CN" altLang="en-US" sz="1600" b="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600" b="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600" b="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600" b="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600" b="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559137489"/>
                  </a:ext>
                </a:extLst>
              </a:tr>
              <a:tr h="370840">
                <a:tc>
                  <a:txBody>
                    <a:bodyPr/>
                    <a:lstStyle/>
                    <a:p>
                      <a:pPr algn="ctr"/>
                      <a:endParaRPr lang="zh-CN" altLang="en-US" sz="1600" b="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600" b="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600" b="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600" b="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830668342"/>
                  </a:ext>
                </a:extLst>
              </a:tr>
            </a:tbl>
          </a:graphicData>
        </a:graphic>
      </p:graphicFrame>
      <p:sp>
        <p:nvSpPr>
          <p:cNvPr id="29" name="右中括号 28">
            <a:extLst>
              <a:ext uri="{FF2B5EF4-FFF2-40B4-BE49-F238E27FC236}">
                <a16:creationId xmlns:a16="http://schemas.microsoft.com/office/drawing/2014/main" id="{D24B0C07-EA79-2EED-5453-B9E9055A809B}"/>
              </a:ext>
            </a:extLst>
          </p:cNvPr>
          <p:cNvSpPr/>
          <p:nvPr/>
        </p:nvSpPr>
        <p:spPr>
          <a:xfrm>
            <a:off x="7521138" y="3446151"/>
            <a:ext cx="72000" cy="2595880"/>
          </a:xfrm>
          <a:prstGeom prst="rightBracket">
            <a:avLst/>
          </a:prstGeom>
          <a:ln w="12700">
            <a:solidFill>
              <a:srgbClr val="00B0F0"/>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0" name="左中括号 29">
            <a:extLst>
              <a:ext uri="{FF2B5EF4-FFF2-40B4-BE49-F238E27FC236}">
                <a16:creationId xmlns:a16="http://schemas.microsoft.com/office/drawing/2014/main" id="{EB5B743B-4229-125C-C9B8-8F6C5C08BD66}"/>
              </a:ext>
            </a:extLst>
          </p:cNvPr>
          <p:cNvSpPr/>
          <p:nvPr/>
        </p:nvSpPr>
        <p:spPr>
          <a:xfrm>
            <a:off x="4598862" y="3446151"/>
            <a:ext cx="72000" cy="2595877"/>
          </a:xfrm>
          <a:prstGeom prst="leftBracket">
            <a:avLst/>
          </a:prstGeom>
          <a:ln w="12700">
            <a:solidFill>
              <a:srgbClr val="00B0F0"/>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2" name="文本框 31">
            <a:extLst>
              <a:ext uri="{FF2B5EF4-FFF2-40B4-BE49-F238E27FC236}">
                <a16:creationId xmlns:a16="http://schemas.microsoft.com/office/drawing/2014/main" id="{BE4474FA-0CDC-7269-3255-82EF1413E740}"/>
              </a:ext>
            </a:extLst>
          </p:cNvPr>
          <p:cNvSpPr txBox="1"/>
          <p:nvPr/>
        </p:nvSpPr>
        <p:spPr>
          <a:xfrm>
            <a:off x="173254" y="6054290"/>
            <a:ext cx="2236510" cy="338554"/>
          </a:xfrm>
          <a:prstGeom prst="rect">
            <a:avLst/>
          </a:prstGeom>
          <a:noFill/>
        </p:spPr>
        <p:txBody>
          <a:bodyPr wrap="none" rtlCol="0">
            <a:spAutoFit/>
          </a:bodyPr>
          <a:lstStyle/>
          <a:p>
            <a:r>
              <a:rPr lang="zh-CN" altLang="en-US" sz="1600" dirty="0"/>
              <a:t>有向图对应的关联矩阵</a:t>
            </a:r>
          </a:p>
        </p:txBody>
      </p:sp>
    </p:spTree>
    <p:extLst>
      <p:ext uri="{BB962C8B-B14F-4D97-AF65-F5344CB8AC3E}">
        <p14:creationId xmlns:p14="http://schemas.microsoft.com/office/powerpoint/2010/main" val="3790466130"/>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BC6ADA-078B-D663-38EF-ED1FB62F8F5B}"/>
              </a:ext>
            </a:extLst>
          </p:cNvPr>
          <p:cNvSpPr>
            <a:spLocks noGrp="1"/>
          </p:cNvSpPr>
          <p:nvPr>
            <p:ph type="title"/>
          </p:nvPr>
        </p:nvSpPr>
        <p:spPr>
          <a:xfrm>
            <a:off x="792000" y="360000"/>
            <a:ext cx="6375921" cy="429413"/>
          </a:xfrm>
        </p:spPr>
        <p:txBody>
          <a:bodyPr/>
          <a:lstStyle/>
          <a:p>
            <a:r>
              <a:rPr lang="en-US" altLang="zh-CN" dirty="0"/>
              <a:t>4. </a:t>
            </a:r>
            <a:r>
              <a:rPr lang="zh-CN" altLang="en-US" dirty="0"/>
              <a:t>任务历时估计</a:t>
            </a:r>
          </a:p>
        </p:txBody>
      </p:sp>
      <p:sp>
        <p:nvSpPr>
          <p:cNvPr id="3" name="内容占位符 2">
            <a:extLst>
              <a:ext uri="{FF2B5EF4-FFF2-40B4-BE49-F238E27FC236}">
                <a16:creationId xmlns:a16="http://schemas.microsoft.com/office/drawing/2014/main" id="{6E19B961-2A83-689F-02BF-962417B8756A}"/>
              </a:ext>
            </a:extLst>
          </p:cNvPr>
          <p:cNvSpPr>
            <a:spLocks noGrp="1"/>
          </p:cNvSpPr>
          <p:nvPr>
            <p:ph idx="1"/>
          </p:nvPr>
        </p:nvSpPr>
        <p:spPr>
          <a:xfrm>
            <a:off x="696000" y="864000"/>
            <a:ext cx="10800000" cy="5400000"/>
          </a:xfrm>
        </p:spPr>
        <p:txBody>
          <a:bodyPr/>
          <a:lstStyle/>
          <a:p>
            <a:r>
              <a:rPr lang="zh-CN" altLang="en-US" dirty="0"/>
              <a:t>估计任务的持续时间 </a:t>
            </a:r>
            <a:r>
              <a:rPr lang="en-US" altLang="zh-CN" dirty="0"/>
              <a:t>Time Duration</a:t>
            </a:r>
            <a:endParaRPr lang="zh-CN" altLang="en-US" dirty="0"/>
          </a:p>
        </p:txBody>
      </p:sp>
      <p:sp>
        <p:nvSpPr>
          <p:cNvPr id="8" name="文本占位符 7">
            <a:extLst>
              <a:ext uri="{FF2B5EF4-FFF2-40B4-BE49-F238E27FC236}">
                <a16:creationId xmlns:a16="http://schemas.microsoft.com/office/drawing/2014/main" id="{B25D7BCF-5313-6FDC-BEE3-317BC5192F2F}"/>
              </a:ext>
            </a:extLst>
          </p:cNvPr>
          <p:cNvSpPr>
            <a:spLocks noGrp="1"/>
          </p:cNvSpPr>
          <p:nvPr>
            <p:ph type="body" sz="quarter" idx="10"/>
          </p:nvPr>
        </p:nvSpPr>
        <p:spPr/>
        <p:txBody>
          <a:bodyPr/>
          <a:lstStyle/>
          <a:p>
            <a:endParaRPr lang="zh-CN" altLang="en-US"/>
          </a:p>
        </p:txBody>
      </p:sp>
      <p:pic>
        <p:nvPicPr>
          <p:cNvPr id="7" name="图形 6" descr="瓶子">
            <a:extLst>
              <a:ext uri="{FF2B5EF4-FFF2-40B4-BE49-F238E27FC236}">
                <a16:creationId xmlns:a16="http://schemas.microsoft.com/office/drawing/2014/main" id="{D328D0CA-C31D-B9EA-BCF4-4E6D19A2FBB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45194" y="2514600"/>
            <a:ext cx="914400" cy="914400"/>
          </a:xfrm>
          <a:prstGeom prst="rect">
            <a:avLst/>
          </a:prstGeom>
        </p:spPr>
      </p:pic>
      <p:pic>
        <p:nvPicPr>
          <p:cNvPr id="9" name="图形 8" descr="男人">
            <a:extLst>
              <a:ext uri="{FF2B5EF4-FFF2-40B4-BE49-F238E27FC236}">
                <a16:creationId xmlns:a16="http://schemas.microsoft.com/office/drawing/2014/main" id="{002FF113-2223-A627-851B-D13FF219BAF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247156" y="2514600"/>
            <a:ext cx="914400" cy="914400"/>
          </a:xfrm>
          <a:prstGeom prst="rect">
            <a:avLst/>
          </a:prstGeom>
        </p:spPr>
      </p:pic>
      <p:pic>
        <p:nvPicPr>
          <p:cNvPr id="11" name="图形 10" descr="男人">
            <a:extLst>
              <a:ext uri="{FF2B5EF4-FFF2-40B4-BE49-F238E27FC236}">
                <a16:creationId xmlns:a16="http://schemas.microsoft.com/office/drawing/2014/main" id="{FABC34BB-1294-C702-49EA-2EA3FD08BF7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534434" y="4014537"/>
            <a:ext cx="914400" cy="914400"/>
          </a:xfrm>
          <a:prstGeom prst="rect">
            <a:avLst/>
          </a:prstGeom>
        </p:spPr>
      </p:pic>
      <p:pic>
        <p:nvPicPr>
          <p:cNvPr id="12" name="图形 11" descr="男人">
            <a:extLst>
              <a:ext uri="{FF2B5EF4-FFF2-40B4-BE49-F238E27FC236}">
                <a16:creationId xmlns:a16="http://schemas.microsoft.com/office/drawing/2014/main" id="{BF18793C-833A-606A-1DD6-796D3924710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21966" y="4014537"/>
            <a:ext cx="914400" cy="914400"/>
          </a:xfrm>
          <a:prstGeom prst="rect">
            <a:avLst/>
          </a:prstGeom>
        </p:spPr>
      </p:pic>
      <p:pic>
        <p:nvPicPr>
          <p:cNvPr id="13" name="图形 12" descr="男人">
            <a:extLst>
              <a:ext uri="{FF2B5EF4-FFF2-40B4-BE49-F238E27FC236}">
                <a16:creationId xmlns:a16="http://schemas.microsoft.com/office/drawing/2014/main" id="{66776A5E-8814-295B-97D0-C132A6FC484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309498" y="4014537"/>
            <a:ext cx="914400" cy="914400"/>
          </a:xfrm>
          <a:prstGeom prst="rect">
            <a:avLst/>
          </a:prstGeom>
        </p:spPr>
      </p:pic>
      <p:pic>
        <p:nvPicPr>
          <p:cNvPr id="14" name="图形 13" descr="男人">
            <a:extLst>
              <a:ext uri="{FF2B5EF4-FFF2-40B4-BE49-F238E27FC236}">
                <a16:creationId xmlns:a16="http://schemas.microsoft.com/office/drawing/2014/main" id="{CF40D9E7-1AA7-82FD-1DF7-2FCABD72D65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697030" y="4014537"/>
            <a:ext cx="914400" cy="914400"/>
          </a:xfrm>
          <a:prstGeom prst="rect">
            <a:avLst/>
          </a:prstGeom>
        </p:spPr>
      </p:pic>
      <p:pic>
        <p:nvPicPr>
          <p:cNvPr id="15" name="图形 14" descr="男人">
            <a:extLst>
              <a:ext uri="{FF2B5EF4-FFF2-40B4-BE49-F238E27FC236}">
                <a16:creationId xmlns:a16="http://schemas.microsoft.com/office/drawing/2014/main" id="{8EE652A3-3CBB-3166-C354-1F0E4B75B46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084562" y="4014537"/>
            <a:ext cx="914400" cy="914400"/>
          </a:xfrm>
          <a:prstGeom prst="rect">
            <a:avLst/>
          </a:prstGeom>
        </p:spPr>
      </p:pic>
      <p:pic>
        <p:nvPicPr>
          <p:cNvPr id="16" name="图形 15" descr="男人">
            <a:extLst>
              <a:ext uri="{FF2B5EF4-FFF2-40B4-BE49-F238E27FC236}">
                <a16:creationId xmlns:a16="http://schemas.microsoft.com/office/drawing/2014/main" id="{6EE21CEB-48A6-CFC8-866F-8ADCB6EE65F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72094" y="4014537"/>
            <a:ext cx="914400" cy="914400"/>
          </a:xfrm>
          <a:prstGeom prst="rect">
            <a:avLst/>
          </a:prstGeom>
        </p:spPr>
      </p:pic>
      <p:pic>
        <p:nvPicPr>
          <p:cNvPr id="17" name="图形 16" descr="男人">
            <a:extLst>
              <a:ext uri="{FF2B5EF4-FFF2-40B4-BE49-F238E27FC236}">
                <a16:creationId xmlns:a16="http://schemas.microsoft.com/office/drawing/2014/main" id="{509E2FA4-6E10-D1B2-F1D8-9C4E5EAEFAD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859626" y="4014537"/>
            <a:ext cx="914400" cy="914400"/>
          </a:xfrm>
          <a:prstGeom prst="rect">
            <a:avLst/>
          </a:prstGeom>
        </p:spPr>
      </p:pic>
      <p:pic>
        <p:nvPicPr>
          <p:cNvPr id="18" name="图形 17" descr="男人">
            <a:extLst>
              <a:ext uri="{FF2B5EF4-FFF2-40B4-BE49-F238E27FC236}">
                <a16:creationId xmlns:a16="http://schemas.microsoft.com/office/drawing/2014/main" id="{813D5F52-B235-2780-B2A1-9C2F83E43C0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247156" y="4014537"/>
            <a:ext cx="914400" cy="914400"/>
          </a:xfrm>
          <a:prstGeom prst="rect">
            <a:avLst/>
          </a:prstGeom>
        </p:spPr>
      </p:pic>
      <p:sp>
        <p:nvSpPr>
          <p:cNvPr id="19" name="文本框 18">
            <a:extLst>
              <a:ext uri="{FF2B5EF4-FFF2-40B4-BE49-F238E27FC236}">
                <a16:creationId xmlns:a16="http://schemas.microsoft.com/office/drawing/2014/main" id="{505141FA-5E45-6C60-9658-4F0280F5AC4B}"/>
              </a:ext>
            </a:extLst>
          </p:cNvPr>
          <p:cNvSpPr txBox="1"/>
          <p:nvPr/>
        </p:nvSpPr>
        <p:spPr>
          <a:xfrm>
            <a:off x="5471581" y="2802523"/>
            <a:ext cx="463588" cy="338554"/>
          </a:xfrm>
          <a:prstGeom prst="rect">
            <a:avLst/>
          </a:prstGeom>
          <a:noFill/>
        </p:spPr>
        <p:txBody>
          <a:bodyPr wrap="none" rtlCol="0">
            <a:spAutoFit/>
          </a:bodyPr>
          <a:lstStyle/>
          <a:p>
            <a:pPr algn="l"/>
            <a:r>
              <a:rPr lang="en-US" altLang="zh-CN" sz="1600" dirty="0"/>
              <a:t>1</a:t>
            </a:r>
            <a:r>
              <a:rPr lang="zh-CN" altLang="en-US" sz="1600" dirty="0"/>
              <a:t>天</a:t>
            </a:r>
          </a:p>
        </p:txBody>
      </p:sp>
      <p:sp>
        <p:nvSpPr>
          <p:cNvPr id="20" name="文本框 19">
            <a:extLst>
              <a:ext uri="{FF2B5EF4-FFF2-40B4-BE49-F238E27FC236}">
                <a16:creationId xmlns:a16="http://schemas.microsoft.com/office/drawing/2014/main" id="{0E039561-3B03-CC15-F732-38401E462D13}"/>
              </a:ext>
            </a:extLst>
          </p:cNvPr>
          <p:cNvSpPr txBox="1"/>
          <p:nvPr/>
        </p:nvSpPr>
        <p:spPr>
          <a:xfrm>
            <a:off x="5471581" y="4302460"/>
            <a:ext cx="521297" cy="338554"/>
          </a:xfrm>
          <a:prstGeom prst="rect">
            <a:avLst/>
          </a:prstGeom>
          <a:noFill/>
        </p:spPr>
        <p:txBody>
          <a:bodyPr wrap="none" rtlCol="0">
            <a:spAutoFit/>
          </a:bodyPr>
          <a:lstStyle/>
          <a:p>
            <a:pPr algn="l"/>
            <a:r>
              <a:rPr lang="en-US" altLang="zh-CN" sz="1600" dirty="0"/>
              <a:t>8</a:t>
            </a:r>
            <a:r>
              <a:rPr lang="zh-CN" altLang="en-US" sz="1600" dirty="0"/>
              <a:t>天</a:t>
            </a:r>
          </a:p>
        </p:txBody>
      </p:sp>
      <p:sp>
        <p:nvSpPr>
          <p:cNvPr id="21" name="文本框 20">
            <a:extLst>
              <a:ext uri="{FF2B5EF4-FFF2-40B4-BE49-F238E27FC236}">
                <a16:creationId xmlns:a16="http://schemas.microsoft.com/office/drawing/2014/main" id="{B046CDE9-2473-CDAC-615A-5E6F120E71D0}"/>
              </a:ext>
            </a:extLst>
          </p:cNvPr>
          <p:cNvSpPr txBox="1"/>
          <p:nvPr/>
        </p:nvSpPr>
        <p:spPr>
          <a:xfrm>
            <a:off x="6965951" y="4302460"/>
            <a:ext cx="301686" cy="338554"/>
          </a:xfrm>
          <a:prstGeom prst="rect">
            <a:avLst/>
          </a:prstGeom>
          <a:noFill/>
        </p:spPr>
        <p:txBody>
          <a:bodyPr wrap="none" rtlCol="0">
            <a:spAutoFit/>
          </a:bodyPr>
          <a:lstStyle/>
          <a:p>
            <a:pPr algn="l"/>
            <a:r>
              <a:rPr lang="en-US" altLang="zh-CN" sz="1600" dirty="0"/>
              <a:t>?</a:t>
            </a:r>
            <a:endParaRPr lang="zh-CN" altLang="en-US" sz="1600" dirty="0"/>
          </a:p>
        </p:txBody>
      </p:sp>
      <p:pic>
        <p:nvPicPr>
          <p:cNvPr id="22" name="图形 21" descr="瓶子">
            <a:extLst>
              <a:ext uri="{FF2B5EF4-FFF2-40B4-BE49-F238E27FC236}">
                <a16:creationId xmlns:a16="http://schemas.microsoft.com/office/drawing/2014/main" id="{841D4470-9A47-C8D0-E933-F9BED906218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245194" y="4014537"/>
            <a:ext cx="914400" cy="914400"/>
          </a:xfrm>
          <a:prstGeom prst="rect">
            <a:avLst/>
          </a:prstGeom>
        </p:spPr>
      </p:pic>
    </p:spTree>
    <p:extLst>
      <p:ext uri="{BB962C8B-B14F-4D97-AF65-F5344CB8AC3E}">
        <p14:creationId xmlns:p14="http://schemas.microsoft.com/office/powerpoint/2010/main" val="3409561478"/>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AD201-79A2-E196-F590-93CC26318C1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CF7C2EA-94C7-D06B-7C25-F00EACDBFA6B}"/>
              </a:ext>
            </a:extLst>
          </p:cNvPr>
          <p:cNvSpPr>
            <a:spLocks noGrp="1"/>
          </p:cNvSpPr>
          <p:nvPr>
            <p:ph type="title"/>
          </p:nvPr>
        </p:nvSpPr>
        <p:spPr>
          <a:xfrm>
            <a:off x="792000" y="360000"/>
            <a:ext cx="6375921" cy="429413"/>
          </a:xfrm>
        </p:spPr>
        <p:txBody>
          <a:bodyPr/>
          <a:lstStyle/>
          <a:p>
            <a:r>
              <a:rPr lang="en-US" altLang="zh-CN" dirty="0"/>
              <a:t>4.1 </a:t>
            </a:r>
            <a:r>
              <a:rPr lang="zh-CN" altLang="en-US" dirty="0"/>
              <a:t>定额估算法</a:t>
            </a:r>
          </a:p>
        </p:txBody>
      </p:sp>
      <p:sp>
        <p:nvSpPr>
          <p:cNvPr id="3" name="内容占位符 2">
            <a:extLst>
              <a:ext uri="{FF2B5EF4-FFF2-40B4-BE49-F238E27FC236}">
                <a16:creationId xmlns:a16="http://schemas.microsoft.com/office/drawing/2014/main" id="{48205D94-185E-1846-3218-6C2D4F0D8266}"/>
              </a:ext>
            </a:extLst>
          </p:cNvPr>
          <p:cNvSpPr>
            <a:spLocks noGrp="1"/>
          </p:cNvSpPr>
          <p:nvPr>
            <p:ph idx="1"/>
          </p:nvPr>
        </p:nvSpPr>
        <p:spPr>
          <a:xfrm>
            <a:off x="696000" y="864000"/>
            <a:ext cx="10800000" cy="5400000"/>
          </a:xfrm>
        </p:spPr>
        <p:txBody>
          <a:bodyPr/>
          <a:lstStyle/>
          <a:p>
            <a:r>
              <a:rPr lang="zh-CN" altLang="en-US" dirty="0"/>
              <a:t>小规模或单个任务</a:t>
            </a:r>
            <a:endParaRPr lang="en-US" altLang="zh-CN" dirty="0"/>
          </a:p>
          <a:p>
            <a:r>
              <a:rPr lang="en-US" altLang="zh-CN" dirty="0"/>
              <a:t>T</a:t>
            </a:r>
            <a:r>
              <a:rPr lang="zh-CN" altLang="en-US" dirty="0"/>
              <a:t>：活动历时</a:t>
            </a:r>
          </a:p>
          <a:p>
            <a:r>
              <a:rPr lang="en-US" altLang="zh-CN" dirty="0"/>
              <a:t>Q</a:t>
            </a:r>
            <a:r>
              <a:rPr lang="zh-CN" altLang="en-US" dirty="0"/>
              <a:t>：任务工作量</a:t>
            </a:r>
          </a:p>
          <a:p>
            <a:r>
              <a:rPr lang="en-US" altLang="zh-CN" dirty="0"/>
              <a:t>R</a:t>
            </a:r>
            <a:r>
              <a:rPr lang="zh-CN" altLang="en-US" dirty="0"/>
              <a:t>：人力数量</a:t>
            </a:r>
          </a:p>
          <a:p>
            <a:r>
              <a:rPr lang="en-US" altLang="zh-CN" dirty="0"/>
              <a:t>S</a:t>
            </a:r>
            <a:r>
              <a:rPr lang="zh-CN" altLang="en-US" dirty="0"/>
              <a:t>：工作效率（贡献率）</a:t>
            </a:r>
          </a:p>
          <a:p>
            <a:endParaRPr lang="zh-CN" altLang="en-US" dirty="0"/>
          </a:p>
        </p:txBody>
      </p:sp>
      <p:sp>
        <p:nvSpPr>
          <p:cNvPr id="7" name="文本占位符 6">
            <a:extLst>
              <a:ext uri="{FF2B5EF4-FFF2-40B4-BE49-F238E27FC236}">
                <a16:creationId xmlns:a16="http://schemas.microsoft.com/office/drawing/2014/main" id="{735D70AD-8D3B-94C0-2D44-BE03AB1A1A6E}"/>
              </a:ext>
            </a:extLst>
          </p:cNvPr>
          <p:cNvSpPr>
            <a:spLocks noGrp="1"/>
          </p:cNvSpPr>
          <p:nvPr>
            <p:ph type="body" sz="quarter" idx="10"/>
          </p:nvPr>
        </p:nvSpPr>
        <p:spPr/>
        <p:txBody>
          <a:bodyPr/>
          <a:lstStyle/>
          <a:p>
            <a:endParaRPr lang="zh-CN" altLang="en-US"/>
          </a:p>
        </p:txBody>
      </p:sp>
      <p:sp>
        <p:nvSpPr>
          <p:cNvPr id="14" name="文本框 13">
            <a:extLst>
              <a:ext uri="{FF2B5EF4-FFF2-40B4-BE49-F238E27FC236}">
                <a16:creationId xmlns:a16="http://schemas.microsoft.com/office/drawing/2014/main" id="{93A29DCF-94BB-BE05-8C38-B646C177185D}"/>
              </a:ext>
            </a:extLst>
          </p:cNvPr>
          <p:cNvSpPr txBox="1"/>
          <p:nvPr/>
        </p:nvSpPr>
        <p:spPr>
          <a:xfrm>
            <a:off x="5280713" y="3102272"/>
            <a:ext cx="1630575" cy="461665"/>
          </a:xfrm>
          <a:prstGeom prst="rect">
            <a:avLst/>
          </a:prstGeom>
          <a:noFill/>
        </p:spPr>
        <p:txBody>
          <a:bodyPr wrap="none" rtlCol="0">
            <a:spAutoFit/>
          </a:bodyPr>
          <a:lstStyle/>
          <a:p>
            <a:pPr algn="l"/>
            <a:r>
              <a:rPr lang="en-US" altLang="zh-CN" sz="2400" dirty="0"/>
              <a:t>T=Q/(R*S)</a:t>
            </a:r>
          </a:p>
        </p:txBody>
      </p:sp>
      <p:sp>
        <p:nvSpPr>
          <p:cNvPr id="15" name="文本框 14">
            <a:extLst>
              <a:ext uri="{FF2B5EF4-FFF2-40B4-BE49-F238E27FC236}">
                <a16:creationId xmlns:a16="http://schemas.microsoft.com/office/drawing/2014/main" id="{86855B48-80BB-B144-A555-F3A69131BCB2}"/>
              </a:ext>
            </a:extLst>
          </p:cNvPr>
          <p:cNvSpPr txBox="1"/>
          <p:nvPr/>
        </p:nvSpPr>
        <p:spPr>
          <a:xfrm>
            <a:off x="695325" y="4235116"/>
            <a:ext cx="2861681" cy="707886"/>
          </a:xfrm>
          <a:prstGeom prst="rect">
            <a:avLst/>
          </a:prstGeom>
          <a:noFill/>
        </p:spPr>
        <p:txBody>
          <a:bodyPr wrap="none" rtlCol="0">
            <a:spAutoFit/>
          </a:bodyPr>
          <a:lstStyle/>
          <a:p>
            <a:pPr algn="l"/>
            <a:r>
              <a:rPr lang="en-US" altLang="zh-CN" sz="2000" dirty="0"/>
              <a:t>Q=6</a:t>
            </a:r>
            <a:r>
              <a:rPr lang="zh-CN" altLang="en-US" sz="2000" dirty="0"/>
              <a:t>人天，</a:t>
            </a:r>
            <a:r>
              <a:rPr lang="en-US" altLang="zh-CN" sz="2000" dirty="0"/>
              <a:t>R=2</a:t>
            </a:r>
            <a:r>
              <a:rPr lang="zh-CN" altLang="en-US" sz="2000" dirty="0"/>
              <a:t>人，</a:t>
            </a:r>
            <a:r>
              <a:rPr lang="en-US" altLang="zh-CN" sz="2000" dirty="0"/>
              <a:t>S=1</a:t>
            </a:r>
          </a:p>
          <a:p>
            <a:pPr algn="l"/>
            <a:r>
              <a:rPr lang="zh-CN" altLang="en-US" sz="2000" dirty="0"/>
              <a:t>则：</a:t>
            </a:r>
            <a:r>
              <a:rPr lang="en-US" altLang="zh-CN" sz="2000" dirty="0"/>
              <a:t>T=3</a:t>
            </a:r>
            <a:r>
              <a:rPr lang="zh-CN" altLang="en-US" sz="2000" dirty="0"/>
              <a:t>天</a:t>
            </a:r>
          </a:p>
        </p:txBody>
      </p:sp>
      <p:sp>
        <p:nvSpPr>
          <p:cNvPr id="16" name="文本框 15">
            <a:extLst>
              <a:ext uri="{FF2B5EF4-FFF2-40B4-BE49-F238E27FC236}">
                <a16:creationId xmlns:a16="http://schemas.microsoft.com/office/drawing/2014/main" id="{03FD899C-4F45-61E6-F19E-AE8A0A49A09C}"/>
              </a:ext>
            </a:extLst>
          </p:cNvPr>
          <p:cNvSpPr txBox="1"/>
          <p:nvPr/>
        </p:nvSpPr>
        <p:spPr>
          <a:xfrm>
            <a:off x="695325" y="5556389"/>
            <a:ext cx="2937022" cy="707886"/>
          </a:xfrm>
          <a:prstGeom prst="rect">
            <a:avLst/>
          </a:prstGeom>
          <a:noFill/>
        </p:spPr>
        <p:txBody>
          <a:bodyPr wrap="none" rtlCol="0">
            <a:spAutoFit/>
          </a:bodyPr>
          <a:lstStyle/>
          <a:p>
            <a:pPr algn="l"/>
            <a:r>
              <a:rPr lang="en-US" altLang="zh-CN" sz="2000" dirty="0"/>
              <a:t>Q=6</a:t>
            </a:r>
            <a:r>
              <a:rPr lang="zh-CN" altLang="en-US" sz="2000" dirty="0"/>
              <a:t>人天，</a:t>
            </a:r>
            <a:r>
              <a:rPr lang="en-US" altLang="zh-CN" sz="2000" dirty="0"/>
              <a:t>R=2</a:t>
            </a:r>
            <a:r>
              <a:rPr lang="zh-CN" altLang="en-US" sz="2000" dirty="0"/>
              <a:t>，</a:t>
            </a:r>
            <a:r>
              <a:rPr lang="en-US" altLang="zh-CN" sz="2000" dirty="0"/>
              <a:t>S=0.5</a:t>
            </a:r>
          </a:p>
          <a:p>
            <a:pPr algn="l"/>
            <a:r>
              <a:rPr lang="zh-CN" altLang="en-US" sz="2000" dirty="0"/>
              <a:t>则：</a:t>
            </a:r>
            <a:r>
              <a:rPr lang="en-US" altLang="zh-CN" sz="2000" dirty="0"/>
              <a:t>T=6</a:t>
            </a:r>
            <a:r>
              <a:rPr lang="zh-CN" altLang="en-US" sz="2000" dirty="0"/>
              <a:t>天</a:t>
            </a:r>
          </a:p>
        </p:txBody>
      </p:sp>
    </p:spTree>
    <p:extLst>
      <p:ext uri="{BB962C8B-B14F-4D97-AF65-F5344CB8AC3E}">
        <p14:creationId xmlns:p14="http://schemas.microsoft.com/office/powerpoint/2010/main" val="2176951926"/>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CFB58-04D8-8F3D-CB5F-04A08E161C2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4FDE958-3CE6-9E4A-1A9D-8CC5C8E65B80}"/>
              </a:ext>
            </a:extLst>
          </p:cNvPr>
          <p:cNvSpPr>
            <a:spLocks noGrp="1"/>
          </p:cNvSpPr>
          <p:nvPr>
            <p:ph type="title"/>
          </p:nvPr>
        </p:nvSpPr>
        <p:spPr>
          <a:xfrm>
            <a:off x="792000" y="360000"/>
            <a:ext cx="6375921" cy="429413"/>
          </a:xfrm>
        </p:spPr>
        <p:txBody>
          <a:bodyPr/>
          <a:lstStyle/>
          <a:p>
            <a:r>
              <a:rPr lang="en-US" altLang="zh-CN" dirty="0"/>
              <a:t>4.2 </a:t>
            </a:r>
            <a:r>
              <a:rPr lang="zh-CN" altLang="en-US" dirty="0"/>
              <a:t>经验导出模型</a:t>
            </a:r>
          </a:p>
        </p:txBody>
      </p:sp>
      <p:sp>
        <p:nvSpPr>
          <p:cNvPr id="5" name="内容占位符 4">
            <a:extLst>
              <a:ext uri="{FF2B5EF4-FFF2-40B4-BE49-F238E27FC236}">
                <a16:creationId xmlns:a16="http://schemas.microsoft.com/office/drawing/2014/main" id="{1B524E41-795C-836E-4D82-165CD5C5A0E5}"/>
              </a:ext>
            </a:extLst>
          </p:cNvPr>
          <p:cNvSpPr>
            <a:spLocks noGrp="1"/>
          </p:cNvSpPr>
          <p:nvPr>
            <p:ph idx="1"/>
          </p:nvPr>
        </p:nvSpPr>
        <p:spPr>
          <a:xfrm>
            <a:off x="696000" y="864000"/>
            <a:ext cx="10800000" cy="5400000"/>
          </a:xfrm>
        </p:spPr>
        <p:txBody>
          <a:bodyPr/>
          <a:lstStyle/>
          <a:p>
            <a:r>
              <a:rPr lang="zh-CN" altLang="en-US" dirty="0"/>
              <a:t>根据统计分析的模型计算</a:t>
            </a:r>
            <a:endParaRPr lang="en-US" altLang="zh-CN" dirty="0"/>
          </a:p>
          <a:p>
            <a:r>
              <a:rPr lang="zh-CN" altLang="en-US" dirty="0"/>
              <a:t>模型不同，计算结果也不同</a:t>
            </a:r>
            <a:endParaRPr lang="en-US" altLang="zh-CN" dirty="0"/>
          </a:p>
          <a:p>
            <a:r>
              <a:rPr lang="en-US" altLang="zh-CN" dirty="0"/>
              <a:t>D</a:t>
            </a:r>
            <a:r>
              <a:rPr lang="zh-CN" altLang="en-US" dirty="0"/>
              <a:t>：进度</a:t>
            </a:r>
            <a:r>
              <a:rPr lang="en-US" altLang="zh-CN" dirty="0"/>
              <a:t>(</a:t>
            </a:r>
            <a:r>
              <a:rPr lang="zh-CN" altLang="en-US" dirty="0"/>
              <a:t>以月单位</a:t>
            </a:r>
            <a:r>
              <a:rPr lang="en-US" altLang="zh-CN" dirty="0"/>
              <a:t>)</a:t>
            </a:r>
          </a:p>
          <a:p>
            <a:r>
              <a:rPr lang="en-US" altLang="zh-CN" dirty="0"/>
              <a:t>E</a:t>
            </a:r>
            <a:r>
              <a:rPr lang="zh-CN" altLang="en-US" dirty="0"/>
              <a:t>：工作量</a:t>
            </a:r>
            <a:r>
              <a:rPr lang="en-US" altLang="zh-CN" dirty="0"/>
              <a:t>(</a:t>
            </a:r>
            <a:r>
              <a:rPr lang="zh-CN" altLang="en-US" dirty="0"/>
              <a:t>以人月单位</a:t>
            </a:r>
            <a:r>
              <a:rPr lang="en-US" altLang="zh-CN" dirty="0"/>
              <a:t>)</a:t>
            </a:r>
          </a:p>
          <a:p>
            <a:r>
              <a:rPr lang="en-US" altLang="zh-CN" dirty="0"/>
              <a:t>a</a:t>
            </a:r>
            <a:r>
              <a:rPr lang="zh-CN" altLang="en-US" dirty="0"/>
              <a:t>：</a:t>
            </a:r>
            <a:r>
              <a:rPr lang="en-US" altLang="zh-CN" dirty="0"/>
              <a:t>2—4</a:t>
            </a:r>
            <a:r>
              <a:rPr lang="zh-CN" altLang="en-US" dirty="0"/>
              <a:t>之间</a:t>
            </a:r>
          </a:p>
          <a:p>
            <a:r>
              <a:rPr lang="en-US" altLang="zh-CN" dirty="0"/>
              <a:t>b</a:t>
            </a:r>
            <a:r>
              <a:rPr lang="zh-CN" altLang="en-US" dirty="0"/>
              <a:t>：</a:t>
            </a:r>
            <a:r>
              <a:rPr lang="en-US" altLang="zh-CN" dirty="0"/>
              <a:t>1/3</a:t>
            </a:r>
            <a:r>
              <a:rPr lang="zh-CN" altLang="en-US" dirty="0"/>
              <a:t>左右</a:t>
            </a:r>
            <a:r>
              <a:rPr lang="en-US" altLang="zh-CN" dirty="0"/>
              <a:t>:</a:t>
            </a:r>
            <a:r>
              <a:rPr lang="zh-CN" altLang="en-US" dirty="0"/>
              <a:t>依赖于项目的自然属性</a:t>
            </a:r>
          </a:p>
          <a:p>
            <a:endParaRPr lang="zh-CN" altLang="en-US" dirty="0"/>
          </a:p>
        </p:txBody>
      </p:sp>
      <p:sp>
        <p:nvSpPr>
          <p:cNvPr id="7" name="文本占位符 6">
            <a:extLst>
              <a:ext uri="{FF2B5EF4-FFF2-40B4-BE49-F238E27FC236}">
                <a16:creationId xmlns:a16="http://schemas.microsoft.com/office/drawing/2014/main" id="{421590A1-2EC8-2B93-9D56-B7629DCBC4EF}"/>
              </a:ext>
            </a:extLst>
          </p:cNvPr>
          <p:cNvSpPr>
            <a:spLocks noGrp="1"/>
          </p:cNvSpPr>
          <p:nvPr>
            <p:ph type="body" sz="quarter" idx="10"/>
          </p:nvPr>
        </p:nvSpPr>
        <p:spPr/>
        <p:txBody>
          <a:bodyPr/>
          <a:lstStyle/>
          <a:p>
            <a:endParaRPr lang="zh-CN" altLang="en-US"/>
          </a:p>
        </p:txBody>
      </p:sp>
      <p:sp>
        <p:nvSpPr>
          <p:cNvPr id="8" name="文本框 7">
            <a:extLst>
              <a:ext uri="{FF2B5EF4-FFF2-40B4-BE49-F238E27FC236}">
                <a16:creationId xmlns:a16="http://schemas.microsoft.com/office/drawing/2014/main" id="{4F027CC4-CAFD-8ECA-B6D4-9E4B85A669EA}"/>
              </a:ext>
            </a:extLst>
          </p:cNvPr>
          <p:cNvSpPr txBox="1"/>
          <p:nvPr/>
        </p:nvSpPr>
        <p:spPr>
          <a:xfrm>
            <a:off x="3936733" y="3871763"/>
            <a:ext cx="1260281" cy="461665"/>
          </a:xfrm>
          <a:prstGeom prst="rect">
            <a:avLst/>
          </a:prstGeom>
          <a:noFill/>
        </p:spPr>
        <p:txBody>
          <a:bodyPr wrap="none" rtlCol="0">
            <a:spAutoFit/>
          </a:bodyPr>
          <a:lstStyle/>
          <a:p>
            <a:pPr algn="l"/>
            <a:r>
              <a:rPr lang="en-US" altLang="zh-CN" sz="2400" dirty="0"/>
              <a:t>D=a*E</a:t>
            </a:r>
            <a:r>
              <a:rPr lang="en-US" altLang="zh-CN" sz="2400" baseline="30000" dirty="0"/>
              <a:t>b</a:t>
            </a:r>
          </a:p>
        </p:txBody>
      </p:sp>
      <p:sp>
        <p:nvSpPr>
          <p:cNvPr id="18" name="文本框 17">
            <a:extLst>
              <a:ext uri="{FF2B5EF4-FFF2-40B4-BE49-F238E27FC236}">
                <a16:creationId xmlns:a16="http://schemas.microsoft.com/office/drawing/2014/main" id="{35408845-EFBE-9034-CB13-C9107F260FA6}"/>
              </a:ext>
            </a:extLst>
          </p:cNvPr>
          <p:cNvSpPr txBox="1"/>
          <p:nvPr/>
        </p:nvSpPr>
        <p:spPr>
          <a:xfrm>
            <a:off x="3936733" y="4561233"/>
            <a:ext cx="1874231" cy="461665"/>
          </a:xfrm>
          <a:prstGeom prst="rect">
            <a:avLst/>
          </a:prstGeom>
          <a:noFill/>
        </p:spPr>
        <p:txBody>
          <a:bodyPr wrap="none" rtlCol="0">
            <a:spAutoFit/>
          </a:bodyPr>
          <a:lstStyle/>
          <a:p>
            <a:pPr algn="l"/>
            <a:r>
              <a:rPr lang="it-IT" altLang="zh-CN" sz="2400" dirty="0"/>
              <a:t>D=2.4*E </a:t>
            </a:r>
            <a:r>
              <a:rPr lang="it-IT" altLang="zh-CN" sz="2400" baseline="30000" dirty="0"/>
              <a:t>0.35</a:t>
            </a:r>
          </a:p>
        </p:txBody>
      </p:sp>
      <p:sp>
        <p:nvSpPr>
          <p:cNvPr id="19" name="文本框 18">
            <a:extLst>
              <a:ext uri="{FF2B5EF4-FFF2-40B4-BE49-F238E27FC236}">
                <a16:creationId xmlns:a16="http://schemas.microsoft.com/office/drawing/2014/main" id="{5BC762C3-A96C-794F-4310-0A83E314C5FA}"/>
              </a:ext>
            </a:extLst>
          </p:cNvPr>
          <p:cNvSpPr txBox="1"/>
          <p:nvPr/>
        </p:nvSpPr>
        <p:spPr>
          <a:xfrm>
            <a:off x="7048572" y="4622788"/>
            <a:ext cx="2000869" cy="338554"/>
          </a:xfrm>
          <a:prstGeom prst="rect">
            <a:avLst/>
          </a:prstGeom>
          <a:noFill/>
        </p:spPr>
        <p:txBody>
          <a:bodyPr wrap="none" rtlCol="0">
            <a:spAutoFit/>
          </a:bodyPr>
          <a:lstStyle/>
          <a:p>
            <a:r>
              <a:rPr lang="it-IT" altLang="zh-CN" sz="1600" dirty="0"/>
              <a:t>Walston-Felix</a:t>
            </a:r>
            <a:r>
              <a:rPr lang="zh-CN" altLang="it-IT" sz="1600" dirty="0"/>
              <a:t>模型</a:t>
            </a:r>
            <a:endParaRPr lang="zh-CN" altLang="en-US" sz="1600" dirty="0"/>
          </a:p>
        </p:txBody>
      </p:sp>
      <p:sp>
        <p:nvSpPr>
          <p:cNvPr id="20" name="文本框 19">
            <a:extLst>
              <a:ext uri="{FF2B5EF4-FFF2-40B4-BE49-F238E27FC236}">
                <a16:creationId xmlns:a16="http://schemas.microsoft.com/office/drawing/2014/main" id="{4275C064-360F-0C53-1295-C3C49693A3A7}"/>
              </a:ext>
            </a:extLst>
          </p:cNvPr>
          <p:cNvSpPr txBox="1"/>
          <p:nvPr/>
        </p:nvSpPr>
        <p:spPr>
          <a:xfrm>
            <a:off x="3936733" y="5144826"/>
            <a:ext cx="1494320" cy="461665"/>
          </a:xfrm>
          <a:prstGeom prst="rect">
            <a:avLst/>
          </a:prstGeom>
          <a:noFill/>
        </p:spPr>
        <p:txBody>
          <a:bodyPr wrap="none" rtlCol="0">
            <a:spAutoFit/>
          </a:bodyPr>
          <a:lstStyle/>
          <a:p>
            <a:pPr algn="l"/>
            <a:r>
              <a:rPr lang="en-US" altLang="zh-CN" sz="2400" dirty="0"/>
              <a:t>D=2.5*E</a:t>
            </a:r>
            <a:r>
              <a:rPr lang="en-US" altLang="zh-CN" sz="2400" baseline="30000" dirty="0"/>
              <a:t>b</a:t>
            </a:r>
          </a:p>
        </p:txBody>
      </p:sp>
      <p:sp>
        <p:nvSpPr>
          <p:cNvPr id="21" name="文本框 20">
            <a:extLst>
              <a:ext uri="{FF2B5EF4-FFF2-40B4-BE49-F238E27FC236}">
                <a16:creationId xmlns:a16="http://schemas.microsoft.com/office/drawing/2014/main" id="{06A9FD6D-3F7D-D7B8-C836-F57C22757D53}"/>
              </a:ext>
            </a:extLst>
          </p:cNvPr>
          <p:cNvSpPr txBox="1"/>
          <p:nvPr/>
        </p:nvSpPr>
        <p:spPr>
          <a:xfrm>
            <a:off x="7048572" y="5206381"/>
            <a:ext cx="2696572" cy="338554"/>
          </a:xfrm>
          <a:prstGeom prst="rect">
            <a:avLst/>
          </a:prstGeom>
          <a:noFill/>
        </p:spPr>
        <p:txBody>
          <a:bodyPr wrap="none" rtlCol="0">
            <a:spAutoFit/>
          </a:bodyPr>
          <a:lstStyle/>
          <a:p>
            <a:r>
              <a:rPr lang="it-IT" altLang="zh-CN" sz="1600" dirty="0"/>
              <a:t>COCOMO</a:t>
            </a:r>
            <a:r>
              <a:rPr lang="zh-CN" altLang="en-US" sz="1600" dirty="0"/>
              <a:t>；</a:t>
            </a:r>
            <a:r>
              <a:rPr lang="en-US" altLang="zh-CN" sz="1600" dirty="0"/>
              <a:t>b=0.32</a:t>
            </a:r>
            <a:r>
              <a:rPr lang="zh-CN" altLang="en-US" sz="1600" dirty="0"/>
              <a:t>～</a:t>
            </a:r>
            <a:r>
              <a:rPr lang="en-US" altLang="zh-CN" sz="1600" dirty="0"/>
              <a:t>0.38</a:t>
            </a:r>
            <a:endParaRPr lang="zh-CN" altLang="en-US" sz="1600" dirty="0"/>
          </a:p>
        </p:txBody>
      </p:sp>
      <p:sp>
        <p:nvSpPr>
          <p:cNvPr id="22" name="文本框 21">
            <a:extLst>
              <a:ext uri="{FF2B5EF4-FFF2-40B4-BE49-F238E27FC236}">
                <a16:creationId xmlns:a16="http://schemas.microsoft.com/office/drawing/2014/main" id="{65F31CB3-672C-1F24-FE35-49A5FA6CF293}"/>
              </a:ext>
            </a:extLst>
          </p:cNvPr>
          <p:cNvSpPr txBox="1"/>
          <p:nvPr/>
        </p:nvSpPr>
        <p:spPr>
          <a:xfrm>
            <a:off x="7048572" y="3933318"/>
            <a:ext cx="1005403" cy="338554"/>
          </a:xfrm>
          <a:prstGeom prst="rect">
            <a:avLst/>
          </a:prstGeom>
          <a:noFill/>
        </p:spPr>
        <p:txBody>
          <a:bodyPr wrap="none" rtlCol="0">
            <a:spAutoFit/>
          </a:bodyPr>
          <a:lstStyle/>
          <a:p>
            <a:r>
              <a:rPr lang="zh-CN" altLang="en-US" sz="1600" dirty="0"/>
              <a:t>基本模型</a:t>
            </a:r>
          </a:p>
        </p:txBody>
      </p:sp>
      <p:cxnSp>
        <p:nvCxnSpPr>
          <p:cNvPr id="24" name="直接连接符 23">
            <a:extLst>
              <a:ext uri="{FF2B5EF4-FFF2-40B4-BE49-F238E27FC236}">
                <a16:creationId xmlns:a16="http://schemas.microsoft.com/office/drawing/2014/main" id="{53387AD4-FD18-A925-D114-62856EFF342E}"/>
              </a:ext>
            </a:extLst>
          </p:cNvPr>
          <p:cNvCxnSpPr>
            <a:cxnSpLocks/>
          </p:cNvCxnSpPr>
          <p:nvPr/>
        </p:nvCxnSpPr>
        <p:spPr>
          <a:xfrm>
            <a:off x="2496000" y="4416854"/>
            <a:ext cx="7200000" cy="0"/>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8591797"/>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2515A46F-9C75-A1FE-4C37-19EABAAF9626}"/>
              </a:ext>
            </a:extLst>
          </p:cNvPr>
          <p:cNvSpPr txBox="1"/>
          <p:nvPr/>
        </p:nvSpPr>
        <p:spPr>
          <a:xfrm>
            <a:off x="1596000" y="1472665"/>
            <a:ext cx="9000000" cy="1323439"/>
          </a:xfrm>
          <a:prstGeom prst="rect">
            <a:avLst/>
          </a:prstGeom>
          <a:noFill/>
        </p:spPr>
        <p:txBody>
          <a:bodyPr wrap="square" rtlCol="0">
            <a:spAutoFit/>
          </a:bodyPr>
          <a:lstStyle/>
          <a:p>
            <a:pPr algn="l"/>
            <a:r>
              <a:rPr lang="zh-CN" altLang="en-US" sz="2000" dirty="0"/>
              <a:t>一个 </a:t>
            </a:r>
            <a:r>
              <a:rPr lang="en-US" altLang="zh-CN" sz="2000" dirty="0"/>
              <a:t>33.3 KLOC </a:t>
            </a:r>
            <a:r>
              <a:rPr lang="zh-CN" altLang="en-US" sz="2000" dirty="0"/>
              <a:t>的软件开发项目，属于中等规模、半有机型的项目，采用基本</a:t>
            </a:r>
            <a:r>
              <a:rPr lang="en-US" altLang="zh-CN" sz="2000" dirty="0"/>
              <a:t>COCOMO </a:t>
            </a:r>
            <a:r>
              <a:rPr lang="zh-CN" altLang="en-US" sz="2000" dirty="0"/>
              <a:t>估算进度？其中 </a:t>
            </a:r>
            <a:r>
              <a:rPr lang="en-US" altLang="zh-CN" sz="2000" dirty="0"/>
              <a:t>a=2.5</a:t>
            </a:r>
            <a:r>
              <a:rPr lang="zh-CN" altLang="en-US" sz="2000" dirty="0"/>
              <a:t>，</a:t>
            </a:r>
            <a:r>
              <a:rPr lang="en-US" altLang="zh-CN" sz="2000" dirty="0"/>
              <a:t>b=0.35</a:t>
            </a:r>
            <a:r>
              <a:rPr lang="zh-CN" altLang="en-US" sz="2000" dirty="0"/>
              <a:t>，</a:t>
            </a:r>
            <a:r>
              <a:rPr lang="en-US" altLang="zh-CN" sz="2000" dirty="0"/>
              <a:t>KLOC</a:t>
            </a:r>
            <a:r>
              <a:rPr lang="zh-CN" altLang="en-US" sz="2000" dirty="0"/>
              <a:t>表示项目代码行数，以千行为单位，</a:t>
            </a:r>
            <a:endParaRPr lang="en-US" altLang="zh-CN" sz="2000" dirty="0"/>
          </a:p>
          <a:p>
            <a:pPr algn="l"/>
            <a:r>
              <a:rPr lang="en-US" altLang="zh-CN" sz="2000" dirty="0"/>
              <a:t>E=c×(KLOC) </a:t>
            </a:r>
            <a:r>
              <a:rPr lang="en-US" altLang="zh-CN" sz="2000" baseline="30000" dirty="0"/>
              <a:t>d</a:t>
            </a:r>
            <a:endParaRPr lang="zh-CN" altLang="en-US" sz="2000" baseline="30000" dirty="0"/>
          </a:p>
        </p:txBody>
      </p:sp>
      <p:graphicFrame>
        <p:nvGraphicFramePr>
          <p:cNvPr id="7" name="表格 6">
            <a:extLst>
              <a:ext uri="{FF2B5EF4-FFF2-40B4-BE49-F238E27FC236}">
                <a16:creationId xmlns:a16="http://schemas.microsoft.com/office/drawing/2014/main" id="{DB2E9E0C-4518-D820-D027-7F758150B0BA}"/>
              </a:ext>
            </a:extLst>
          </p:cNvPr>
          <p:cNvGraphicFramePr>
            <a:graphicFrameLocks noGrp="1"/>
          </p:cNvGraphicFramePr>
          <p:nvPr>
            <p:extLst>
              <p:ext uri="{D42A27DB-BD31-4B8C-83A1-F6EECF244321}">
                <p14:modId xmlns:p14="http://schemas.microsoft.com/office/powerpoint/2010/main" val="3852476207"/>
              </p:ext>
            </p:extLst>
          </p:nvPr>
        </p:nvGraphicFramePr>
        <p:xfrm>
          <a:off x="3216000" y="2832417"/>
          <a:ext cx="5760000" cy="1463040"/>
        </p:xfrm>
        <a:graphic>
          <a:graphicData uri="http://schemas.openxmlformats.org/drawingml/2006/table">
            <a:tbl>
              <a:tblPr/>
              <a:tblGrid>
                <a:gridCol w="1080000">
                  <a:extLst>
                    <a:ext uri="{9D8B030D-6E8A-4147-A177-3AD203B41FA5}">
                      <a16:colId xmlns:a16="http://schemas.microsoft.com/office/drawing/2014/main" val="3042569687"/>
                    </a:ext>
                  </a:extLst>
                </a:gridCol>
                <a:gridCol w="2520000">
                  <a:extLst>
                    <a:ext uri="{9D8B030D-6E8A-4147-A177-3AD203B41FA5}">
                      <a16:colId xmlns:a16="http://schemas.microsoft.com/office/drawing/2014/main" val="22328700"/>
                    </a:ext>
                  </a:extLst>
                </a:gridCol>
                <a:gridCol w="1080000">
                  <a:extLst>
                    <a:ext uri="{9D8B030D-6E8A-4147-A177-3AD203B41FA5}">
                      <a16:colId xmlns:a16="http://schemas.microsoft.com/office/drawing/2014/main" val="3315942527"/>
                    </a:ext>
                  </a:extLst>
                </a:gridCol>
                <a:gridCol w="1080000">
                  <a:extLst>
                    <a:ext uri="{9D8B030D-6E8A-4147-A177-3AD203B41FA5}">
                      <a16:colId xmlns:a16="http://schemas.microsoft.com/office/drawing/2014/main" val="1031287147"/>
                    </a:ext>
                  </a:extLst>
                </a:gridCol>
              </a:tblGrid>
              <a:tr h="365760">
                <a:tc>
                  <a:txBody>
                    <a:bodyPr/>
                    <a:lstStyle/>
                    <a:p>
                      <a:pPr algn="l">
                        <a:buNone/>
                      </a:pPr>
                      <a:r>
                        <a:rPr lang="zh-CN" altLang="en-US" sz="1600" dirty="0">
                          <a:solidFill>
                            <a:schemeClr val="tx1"/>
                          </a:solidFill>
                        </a:rPr>
                        <a:t>项目类型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dirty="0">
                          <a:solidFill>
                            <a:schemeClr val="tx1"/>
                          </a:solidFill>
                        </a:rPr>
                        <a:t>特点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600" dirty="0">
                          <a:solidFill>
                            <a:schemeClr val="tx1"/>
                          </a:solidFill>
                        </a:rPr>
                        <a:t>c (</a:t>
                      </a:r>
                      <a:r>
                        <a:rPr lang="zh-CN" altLang="en-US" sz="1600" dirty="0">
                          <a:solidFill>
                            <a:schemeClr val="tx1"/>
                          </a:solidFill>
                        </a:rPr>
                        <a:t>系数</a:t>
                      </a:r>
                      <a:r>
                        <a:rPr lang="en-US" altLang="zh-CN" sz="16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600" dirty="0">
                          <a:solidFill>
                            <a:schemeClr val="tx1"/>
                          </a:solidFill>
                        </a:rPr>
                        <a:t>d (</a:t>
                      </a:r>
                      <a:r>
                        <a:rPr lang="zh-CN" altLang="en-US" sz="1600" dirty="0">
                          <a:solidFill>
                            <a:schemeClr val="tx1"/>
                          </a:solidFill>
                        </a:rPr>
                        <a:t>指数</a:t>
                      </a:r>
                      <a:r>
                        <a:rPr lang="en-US" altLang="zh-CN" sz="16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89055665"/>
                  </a:ext>
                </a:extLst>
              </a:tr>
              <a:tr h="365760">
                <a:tc>
                  <a:txBody>
                    <a:bodyPr/>
                    <a:lstStyle/>
                    <a:p>
                      <a:pPr algn="l">
                        <a:buNone/>
                      </a:pPr>
                      <a:r>
                        <a:rPr lang="zh-CN" altLang="en-US" sz="1600">
                          <a:solidFill>
                            <a:schemeClr val="tx1"/>
                          </a:solidFill>
                        </a:rPr>
                        <a:t>有机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a:solidFill>
                            <a:schemeClr val="tx1"/>
                          </a:solidFill>
                        </a:rPr>
                        <a:t>规模较小，团队熟悉环境</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ltLang="zh-CN" sz="1600">
                          <a:solidFill>
                            <a:schemeClr val="tx1"/>
                          </a:solidFill>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ltLang="zh-CN" sz="1600">
                          <a:solidFill>
                            <a:schemeClr val="tx1"/>
                          </a:solidFill>
                        </a:rPr>
                        <a:t>1.05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8105792"/>
                  </a:ext>
                </a:extLst>
              </a:tr>
              <a:tr h="365760">
                <a:tc>
                  <a:txBody>
                    <a:bodyPr/>
                    <a:lstStyle/>
                    <a:p>
                      <a:pPr algn="l">
                        <a:buNone/>
                      </a:pPr>
                      <a:r>
                        <a:rPr lang="zh-CN" altLang="en-US" sz="1600">
                          <a:solidFill>
                            <a:schemeClr val="tx1"/>
                          </a:solidFill>
                        </a:rPr>
                        <a:t>半有机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a:solidFill>
                            <a:schemeClr val="tx1"/>
                          </a:solidFill>
                        </a:rPr>
                        <a:t>中等规模，混合团队</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ltLang="zh-CN" sz="1600">
                          <a:solidFill>
                            <a:schemeClr val="tx1"/>
                          </a:solidFill>
                        </a:rPr>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ltLang="zh-CN" sz="1600">
                          <a:solidFill>
                            <a:schemeClr val="tx1"/>
                          </a:solidFill>
                        </a:rPr>
                        <a:t>1.12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7534002"/>
                  </a:ext>
                </a:extLst>
              </a:tr>
              <a:tr h="365760">
                <a:tc>
                  <a:txBody>
                    <a:bodyPr/>
                    <a:lstStyle/>
                    <a:p>
                      <a:pPr algn="l">
                        <a:buNone/>
                      </a:pPr>
                      <a:r>
                        <a:rPr lang="zh-CN" altLang="en-US" sz="1600">
                          <a:solidFill>
                            <a:schemeClr val="tx1"/>
                          </a:solidFill>
                        </a:rPr>
                        <a:t>嵌入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dirty="0">
                          <a:solidFill>
                            <a:schemeClr val="tx1"/>
                          </a:solidFill>
                        </a:rPr>
                        <a:t>强约束，高复杂度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ltLang="zh-CN" sz="1600">
                          <a:solidFill>
                            <a:schemeClr val="tx1"/>
                          </a:solidFill>
                        </a:rPr>
                        <a:t>3.6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ltLang="zh-CN" sz="1600" dirty="0">
                          <a:solidFill>
                            <a:schemeClr val="tx1"/>
                          </a:solidFill>
                        </a:rPr>
                        <a:t>1.20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814229"/>
                  </a:ext>
                </a:extLst>
              </a:tr>
            </a:tbl>
          </a:graphicData>
        </a:graphic>
      </p:graphicFrame>
      <p:sp>
        <p:nvSpPr>
          <p:cNvPr id="8" name="文本框 7">
            <a:extLst>
              <a:ext uri="{FF2B5EF4-FFF2-40B4-BE49-F238E27FC236}">
                <a16:creationId xmlns:a16="http://schemas.microsoft.com/office/drawing/2014/main" id="{7733851C-4225-2155-BED9-4D4D7D37514A}"/>
              </a:ext>
            </a:extLst>
          </p:cNvPr>
          <p:cNvSpPr txBox="1"/>
          <p:nvPr/>
        </p:nvSpPr>
        <p:spPr>
          <a:xfrm>
            <a:off x="1596000" y="4807840"/>
            <a:ext cx="9000000" cy="400110"/>
          </a:xfrm>
          <a:prstGeom prst="rect">
            <a:avLst/>
          </a:prstGeom>
          <a:noFill/>
        </p:spPr>
        <p:txBody>
          <a:bodyPr wrap="square" rtlCol="0">
            <a:spAutoFit/>
          </a:bodyPr>
          <a:lstStyle/>
          <a:p>
            <a:r>
              <a:rPr lang="en-US" altLang="zh-CN" sz="2000" dirty="0"/>
              <a:t>E=c×(KLOC) </a:t>
            </a:r>
            <a:r>
              <a:rPr lang="en-US" altLang="zh-CN" sz="2000" baseline="30000" dirty="0"/>
              <a:t>d</a:t>
            </a:r>
            <a:r>
              <a:rPr lang="en-US" altLang="zh-CN" sz="2000" dirty="0"/>
              <a:t>=3.0*33.2</a:t>
            </a:r>
            <a:r>
              <a:rPr lang="en-US" altLang="zh-CN" sz="2000" baseline="30000" dirty="0"/>
              <a:t>1.12</a:t>
            </a:r>
            <a:r>
              <a:rPr lang="zh-CN" altLang="en-US" sz="2000" dirty="0"/>
              <a:t> ≈ </a:t>
            </a:r>
            <a:r>
              <a:rPr lang="en-US" altLang="zh-CN" sz="2000" dirty="0"/>
              <a:t>152PM</a:t>
            </a:r>
            <a:endParaRPr lang="zh-CN" altLang="en-US" sz="2000" dirty="0"/>
          </a:p>
        </p:txBody>
      </p:sp>
      <p:sp>
        <p:nvSpPr>
          <p:cNvPr id="9" name="文本框 8">
            <a:extLst>
              <a:ext uri="{FF2B5EF4-FFF2-40B4-BE49-F238E27FC236}">
                <a16:creationId xmlns:a16="http://schemas.microsoft.com/office/drawing/2014/main" id="{5D90005B-F349-E485-2F2C-AFBD7C3B3B37}"/>
              </a:ext>
            </a:extLst>
          </p:cNvPr>
          <p:cNvSpPr txBox="1"/>
          <p:nvPr/>
        </p:nvSpPr>
        <p:spPr>
          <a:xfrm>
            <a:off x="1596000" y="5352779"/>
            <a:ext cx="9000000" cy="400110"/>
          </a:xfrm>
          <a:prstGeom prst="rect">
            <a:avLst/>
          </a:prstGeom>
          <a:noFill/>
        </p:spPr>
        <p:txBody>
          <a:bodyPr wrap="square" rtlCol="0">
            <a:spAutoFit/>
          </a:bodyPr>
          <a:lstStyle/>
          <a:p>
            <a:r>
              <a:rPr lang="en-US" altLang="zh-CN" sz="2000" dirty="0"/>
              <a:t>D=a*E</a:t>
            </a:r>
            <a:r>
              <a:rPr lang="en-US" altLang="zh-CN" sz="2000" baseline="30000" dirty="0"/>
              <a:t>b</a:t>
            </a:r>
            <a:r>
              <a:rPr lang="en-US" altLang="zh-CN" sz="2000" dirty="0"/>
              <a:t>=3.0*33.2</a:t>
            </a:r>
            <a:r>
              <a:rPr lang="en-US" altLang="zh-CN" sz="2000" baseline="30000" dirty="0"/>
              <a:t>1.12</a:t>
            </a:r>
            <a:r>
              <a:rPr lang="zh-CN" altLang="en-US" sz="2000" dirty="0"/>
              <a:t> ≈ </a:t>
            </a:r>
            <a:r>
              <a:rPr lang="en-US" altLang="zh-CN" sz="2000" dirty="0"/>
              <a:t>2.5*152</a:t>
            </a:r>
            <a:r>
              <a:rPr lang="en-US" altLang="zh-CN" sz="2000" baseline="30000" dirty="0"/>
              <a:t>0.35 </a:t>
            </a:r>
            <a:r>
              <a:rPr lang="zh-CN" altLang="en-US" sz="2000" dirty="0"/>
              <a:t>≈ </a:t>
            </a:r>
            <a:r>
              <a:rPr lang="en-US" altLang="zh-CN" sz="2000" dirty="0"/>
              <a:t>14.5M</a:t>
            </a:r>
            <a:endParaRPr lang="zh-CN" altLang="en-US" sz="2000" dirty="0"/>
          </a:p>
        </p:txBody>
      </p:sp>
    </p:spTree>
    <p:extLst>
      <p:ext uri="{BB962C8B-B14F-4D97-AF65-F5344CB8AC3E}">
        <p14:creationId xmlns:p14="http://schemas.microsoft.com/office/powerpoint/2010/main" val="1543287520"/>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4D8092-A2C8-2D66-7CCD-8C5387B93B9D}"/>
              </a:ext>
            </a:extLst>
          </p:cNvPr>
          <p:cNvSpPr>
            <a:spLocks noGrp="1"/>
          </p:cNvSpPr>
          <p:nvPr>
            <p:ph type="title"/>
          </p:nvPr>
        </p:nvSpPr>
        <p:spPr>
          <a:xfrm>
            <a:off x="792000" y="360000"/>
            <a:ext cx="6375921" cy="429413"/>
          </a:xfrm>
        </p:spPr>
        <p:txBody>
          <a:bodyPr/>
          <a:lstStyle/>
          <a:p>
            <a:r>
              <a:rPr lang="en-US" altLang="zh-CN" dirty="0"/>
              <a:t>4.3 </a:t>
            </a:r>
            <a:r>
              <a:rPr lang="zh-CN" altLang="en-US" dirty="0"/>
              <a:t>工程评估评审技术</a:t>
            </a:r>
          </a:p>
        </p:txBody>
      </p:sp>
      <p:sp>
        <p:nvSpPr>
          <p:cNvPr id="3" name="内容占位符 2">
            <a:extLst>
              <a:ext uri="{FF2B5EF4-FFF2-40B4-BE49-F238E27FC236}">
                <a16:creationId xmlns:a16="http://schemas.microsoft.com/office/drawing/2014/main" id="{3CEFE749-9482-B72B-4F9E-FC1B43D062A4}"/>
              </a:ext>
            </a:extLst>
          </p:cNvPr>
          <p:cNvSpPr>
            <a:spLocks noGrp="1"/>
          </p:cNvSpPr>
          <p:nvPr>
            <p:ph idx="1"/>
          </p:nvPr>
        </p:nvSpPr>
        <p:spPr>
          <a:xfrm>
            <a:off x="696000" y="864000"/>
            <a:ext cx="10800000" cy="5400000"/>
          </a:xfrm>
        </p:spPr>
        <p:txBody>
          <a:bodyPr/>
          <a:lstStyle/>
          <a:p>
            <a:r>
              <a:rPr lang="en-US" altLang="zh-CN" dirty="0"/>
              <a:t>Program Evaluation and Review Technique</a:t>
            </a:r>
          </a:p>
          <a:p>
            <a:r>
              <a:rPr lang="zh-CN" altLang="en-US" dirty="0"/>
              <a:t>选定</a:t>
            </a:r>
            <a:r>
              <a:rPr lang="en-US" altLang="zh-CN" dirty="0"/>
              <a:t>3</a:t>
            </a:r>
            <a:r>
              <a:rPr lang="zh-CN" altLang="en-US" dirty="0"/>
              <a:t>个估算值</a:t>
            </a:r>
            <a:r>
              <a:rPr lang="en-US" altLang="zh-CN" dirty="0"/>
              <a:t>/</a:t>
            </a:r>
            <a:r>
              <a:rPr lang="zh-CN" altLang="en-US" dirty="0"/>
              <a:t>三点估算 </a:t>
            </a:r>
            <a:endParaRPr lang="en-US" altLang="zh-CN" dirty="0"/>
          </a:p>
          <a:p>
            <a:pPr lvl="1"/>
            <a:r>
              <a:rPr lang="en-US" altLang="zh-CN" dirty="0">
                <a:sym typeface="Wingdings" pitchFamily="2" charset="2"/>
              </a:rPr>
              <a:t>O</a:t>
            </a:r>
            <a:r>
              <a:rPr lang="zh-CN" altLang="en-US" dirty="0">
                <a:sym typeface="Wingdings" pitchFamily="2" charset="2"/>
              </a:rPr>
              <a:t>：最小估算值，</a:t>
            </a:r>
            <a:r>
              <a:rPr lang="zh-CN" altLang="en-US" dirty="0"/>
              <a:t>乐观</a:t>
            </a:r>
            <a:r>
              <a:rPr lang="en-US" altLang="zh-CN" dirty="0"/>
              <a:t> Optimistic</a:t>
            </a:r>
            <a:endParaRPr lang="zh-CN" altLang="en-US" dirty="0">
              <a:sym typeface="Wingdings" pitchFamily="2" charset="2"/>
            </a:endParaRPr>
          </a:p>
          <a:p>
            <a:pPr lvl="1"/>
            <a:r>
              <a:rPr lang="en-US" altLang="zh-CN" dirty="0">
                <a:sym typeface="Wingdings" pitchFamily="2" charset="2"/>
              </a:rPr>
              <a:t>P</a:t>
            </a:r>
            <a:r>
              <a:rPr lang="zh-CN" altLang="en-US" dirty="0">
                <a:sym typeface="Wingdings" pitchFamily="2" charset="2"/>
              </a:rPr>
              <a:t>：最大估算值，</a:t>
            </a:r>
            <a:r>
              <a:rPr lang="zh-CN" altLang="en-US" dirty="0"/>
              <a:t>悲观</a:t>
            </a:r>
            <a:r>
              <a:rPr lang="en-US" altLang="zh-CN" dirty="0"/>
              <a:t> Pessimistic</a:t>
            </a:r>
            <a:endParaRPr lang="zh-CN" altLang="en-US" dirty="0">
              <a:sym typeface="Wingdings" pitchFamily="2" charset="2"/>
            </a:endParaRPr>
          </a:p>
          <a:p>
            <a:pPr lvl="1"/>
            <a:r>
              <a:rPr lang="en-US" altLang="zh-CN" dirty="0">
                <a:sym typeface="Wingdings" pitchFamily="2" charset="2"/>
              </a:rPr>
              <a:t>M</a:t>
            </a:r>
            <a:r>
              <a:rPr lang="zh-CN" altLang="en-US" dirty="0">
                <a:sym typeface="Wingdings" pitchFamily="2" charset="2"/>
              </a:rPr>
              <a:t>：最大可能估算，</a:t>
            </a:r>
            <a:r>
              <a:rPr lang="en-US" altLang="zh-CN" dirty="0">
                <a:sym typeface="Wingdings" pitchFamily="2" charset="2"/>
              </a:rPr>
              <a:t>Most Likely</a:t>
            </a:r>
          </a:p>
          <a:p>
            <a:r>
              <a:rPr lang="zh-CN" altLang="en-US" dirty="0"/>
              <a:t>根据正态分布的统计规律：</a:t>
            </a:r>
          </a:p>
          <a:p>
            <a:pPr lvl="1"/>
            <a:r>
              <a:rPr lang="en-US" altLang="zh-CN" dirty="0"/>
              <a:t>±1</a:t>
            </a:r>
            <a:r>
              <a:rPr lang="zh-CN" altLang="en-US" dirty="0"/>
              <a:t>𝜎 （</a:t>
            </a:r>
            <a:r>
              <a:rPr lang="en-US" altLang="zh-CN" dirty="0"/>
              <a:t>1</a:t>
            </a:r>
            <a:r>
              <a:rPr lang="zh-CN" altLang="en-US" dirty="0"/>
              <a:t>个标准差）：覆盖约 </a:t>
            </a:r>
            <a:r>
              <a:rPr lang="en-US" altLang="zh-CN" dirty="0"/>
              <a:t>68.3% </a:t>
            </a:r>
            <a:r>
              <a:rPr lang="zh-CN" altLang="en-US" dirty="0"/>
              <a:t>的概率</a:t>
            </a:r>
          </a:p>
          <a:p>
            <a:pPr lvl="1"/>
            <a:r>
              <a:rPr lang="en-US" altLang="zh-CN" dirty="0"/>
              <a:t>±2</a:t>
            </a:r>
            <a:r>
              <a:rPr lang="zh-CN" altLang="en-US" dirty="0"/>
              <a:t>𝜎 （</a:t>
            </a:r>
            <a:r>
              <a:rPr lang="en-US" altLang="zh-CN" dirty="0"/>
              <a:t>2</a:t>
            </a:r>
            <a:r>
              <a:rPr lang="zh-CN" altLang="en-US" dirty="0"/>
              <a:t>个标准差）：覆盖约 </a:t>
            </a:r>
            <a:r>
              <a:rPr lang="en-US" altLang="zh-CN" dirty="0"/>
              <a:t>95.5% </a:t>
            </a:r>
            <a:r>
              <a:rPr lang="zh-CN" altLang="en-US" dirty="0"/>
              <a:t>的概率</a:t>
            </a:r>
          </a:p>
          <a:p>
            <a:pPr lvl="1"/>
            <a:r>
              <a:rPr lang="en-US" altLang="zh-CN" dirty="0"/>
              <a:t>±3</a:t>
            </a:r>
            <a:r>
              <a:rPr lang="zh-CN" altLang="en-US" dirty="0"/>
              <a:t>𝜎 （</a:t>
            </a:r>
            <a:r>
              <a:rPr lang="en-US" altLang="zh-CN" dirty="0"/>
              <a:t>3</a:t>
            </a:r>
            <a:r>
              <a:rPr lang="zh-CN" altLang="en-US" dirty="0"/>
              <a:t>个标准差）：覆盖约 </a:t>
            </a:r>
            <a:r>
              <a:rPr lang="en-US" altLang="zh-CN" dirty="0"/>
              <a:t>99.7% </a:t>
            </a:r>
            <a:r>
              <a:rPr lang="zh-CN" altLang="en-US" dirty="0"/>
              <a:t>的概率</a:t>
            </a:r>
          </a:p>
          <a:p>
            <a:endParaRPr lang="zh-CN" altLang="en-US" dirty="0"/>
          </a:p>
        </p:txBody>
      </p:sp>
      <p:sp>
        <p:nvSpPr>
          <p:cNvPr id="19" name="文本占位符 18">
            <a:extLst>
              <a:ext uri="{FF2B5EF4-FFF2-40B4-BE49-F238E27FC236}">
                <a16:creationId xmlns:a16="http://schemas.microsoft.com/office/drawing/2014/main" id="{0EDFE573-8EC2-54CD-1390-D5AB45ADAD7C}"/>
              </a:ext>
            </a:extLst>
          </p:cNvPr>
          <p:cNvSpPr>
            <a:spLocks noGrp="1"/>
          </p:cNvSpPr>
          <p:nvPr>
            <p:ph type="body" sz="quarter" idx="10"/>
          </p:nvPr>
        </p:nvSpPr>
        <p:spPr>
          <a:xfrm>
            <a:off x="7071919" y="448519"/>
            <a:ext cx="4424080" cy="338554"/>
          </a:xfrm>
        </p:spPr>
        <p:txBody>
          <a:bodyPr/>
          <a:lstStyle/>
          <a:p>
            <a:r>
              <a:rPr lang="en-US" altLang="zh-CN" dirty="0"/>
              <a:t>PERT</a:t>
            </a:r>
            <a:endParaRPr lang="zh-CN" altLang="en-US" dirty="0"/>
          </a:p>
        </p:txBody>
      </p:sp>
      <p:sp>
        <p:nvSpPr>
          <p:cNvPr id="26" name="文本框 25">
            <a:extLst>
              <a:ext uri="{FF2B5EF4-FFF2-40B4-BE49-F238E27FC236}">
                <a16:creationId xmlns:a16="http://schemas.microsoft.com/office/drawing/2014/main" id="{B80D3415-3241-0C68-76E3-D7E625FD4489}"/>
              </a:ext>
            </a:extLst>
          </p:cNvPr>
          <p:cNvSpPr txBox="1"/>
          <p:nvPr/>
        </p:nvSpPr>
        <p:spPr>
          <a:xfrm>
            <a:off x="7285523" y="1980096"/>
            <a:ext cx="2821606" cy="461665"/>
          </a:xfrm>
          <a:prstGeom prst="rect">
            <a:avLst/>
          </a:prstGeom>
          <a:noFill/>
        </p:spPr>
        <p:txBody>
          <a:bodyPr wrap="none" rtlCol="0">
            <a:spAutoFit/>
          </a:bodyPr>
          <a:lstStyle/>
          <a:p>
            <a:pPr algn="ctr"/>
            <a:r>
              <a:rPr lang="en-US" altLang="zh-CN" sz="2400" dirty="0"/>
              <a:t>E =(O + 4m + P)/6</a:t>
            </a:r>
            <a:endParaRPr lang="zh-CN" altLang="en-US" sz="2400" dirty="0"/>
          </a:p>
        </p:txBody>
      </p:sp>
      <p:sp>
        <p:nvSpPr>
          <p:cNvPr id="4" name="文本框 3">
            <a:extLst>
              <a:ext uri="{FF2B5EF4-FFF2-40B4-BE49-F238E27FC236}">
                <a16:creationId xmlns:a16="http://schemas.microsoft.com/office/drawing/2014/main" id="{66D5D701-D07B-306A-4B1C-AF4946CC09FF}"/>
              </a:ext>
            </a:extLst>
          </p:cNvPr>
          <p:cNvSpPr txBox="1"/>
          <p:nvPr/>
        </p:nvSpPr>
        <p:spPr>
          <a:xfrm>
            <a:off x="7182129" y="3310607"/>
            <a:ext cx="1851789" cy="461665"/>
          </a:xfrm>
          <a:prstGeom prst="rect">
            <a:avLst/>
          </a:prstGeom>
          <a:noFill/>
        </p:spPr>
        <p:txBody>
          <a:bodyPr wrap="none" rtlCol="0">
            <a:spAutoFit/>
          </a:bodyPr>
          <a:lstStyle/>
          <a:p>
            <a:r>
              <a:rPr lang="en-US" altLang="zh-CN" sz="2400" dirty="0"/>
              <a:t>δ =(P - O)/6</a:t>
            </a:r>
            <a:endParaRPr lang="zh-CN" altLang="en-US" sz="2400" dirty="0"/>
          </a:p>
        </p:txBody>
      </p:sp>
    </p:spTree>
    <p:extLst>
      <p:ext uri="{BB962C8B-B14F-4D97-AF65-F5344CB8AC3E}">
        <p14:creationId xmlns:p14="http://schemas.microsoft.com/office/powerpoint/2010/main" val="400037818"/>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8A5B8061-467F-E2E0-B8D0-E2420FF4C807}"/>
              </a:ext>
            </a:extLst>
          </p:cNvPr>
          <p:cNvGraphicFramePr>
            <a:graphicFrameLocks noGrp="1"/>
          </p:cNvGraphicFramePr>
          <p:nvPr>
            <p:extLst>
              <p:ext uri="{D42A27DB-BD31-4B8C-83A1-F6EECF244321}">
                <p14:modId xmlns:p14="http://schemas.microsoft.com/office/powerpoint/2010/main" val="852814178"/>
              </p:ext>
            </p:extLst>
          </p:nvPr>
        </p:nvGraphicFramePr>
        <p:xfrm>
          <a:off x="3396000" y="2024698"/>
          <a:ext cx="5400000" cy="1828800"/>
        </p:xfrm>
        <a:graphic>
          <a:graphicData uri="http://schemas.openxmlformats.org/drawingml/2006/table">
            <a:tbl>
              <a:tblPr/>
              <a:tblGrid>
                <a:gridCol w="1080000">
                  <a:extLst>
                    <a:ext uri="{9D8B030D-6E8A-4147-A177-3AD203B41FA5}">
                      <a16:colId xmlns:a16="http://schemas.microsoft.com/office/drawing/2014/main" val="3042569687"/>
                    </a:ext>
                  </a:extLst>
                </a:gridCol>
                <a:gridCol w="1080000">
                  <a:extLst>
                    <a:ext uri="{9D8B030D-6E8A-4147-A177-3AD203B41FA5}">
                      <a16:colId xmlns:a16="http://schemas.microsoft.com/office/drawing/2014/main" val="22328700"/>
                    </a:ext>
                  </a:extLst>
                </a:gridCol>
                <a:gridCol w="1080000">
                  <a:extLst>
                    <a:ext uri="{9D8B030D-6E8A-4147-A177-3AD203B41FA5}">
                      <a16:colId xmlns:a16="http://schemas.microsoft.com/office/drawing/2014/main" val="3315942527"/>
                    </a:ext>
                  </a:extLst>
                </a:gridCol>
                <a:gridCol w="1080000">
                  <a:extLst>
                    <a:ext uri="{9D8B030D-6E8A-4147-A177-3AD203B41FA5}">
                      <a16:colId xmlns:a16="http://schemas.microsoft.com/office/drawing/2014/main" val="1031287147"/>
                    </a:ext>
                  </a:extLst>
                </a:gridCol>
                <a:gridCol w="1080000">
                  <a:extLst>
                    <a:ext uri="{9D8B030D-6E8A-4147-A177-3AD203B41FA5}">
                      <a16:colId xmlns:a16="http://schemas.microsoft.com/office/drawing/2014/main" val="3583624915"/>
                    </a:ext>
                  </a:extLst>
                </a:gridCol>
              </a:tblGrid>
              <a:tr h="365760">
                <a:tc>
                  <a:txBody>
                    <a:bodyPr/>
                    <a:lstStyle/>
                    <a:p>
                      <a:pPr algn="ctr">
                        <a:buNone/>
                      </a:pP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600" dirty="0">
                          <a:solidFill>
                            <a:schemeClr val="tx1"/>
                          </a:solidFill>
                        </a:rPr>
                        <a:t>O</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600" dirty="0">
                          <a:solidFill>
                            <a:schemeClr val="tx1"/>
                          </a:solidFill>
                        </a:rPr>
                        <a:t>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dirty="0">
                          <a:solidFill>
                            <a:schemeClr val="tx1"/>
                          </a:solidFill>
                        </a:rPr>
                        <a:t>P</a:t>
                      </a:r>
                      <a:endParaRPr lang="en-US" altLang="zh-CN"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600" dirty="0">
                          <a:solidFill>
                            <a:schemeClr val="tx1"/>
                          </a:solidFill>
                        </a:rPr>
                        <a:t>PERT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89055665"/>
                  </a:ext>
                </a:extLst>
              </a:tr>
              <a:tr h="365760">
                <a:tc>
                  <a:txBody>
                    <a:bodyPr/>
                    <a:lstStyle/>
                    <a:p>
                      <a:pPr algn="ctr">
                        <a:buNone/>
                      </a:pPr>
                      <a:r>
                        <a:rPr lang="en-US" altLang="zh-CN" sz="1600" dirty="0">
                          <a:solidFill>
                            <a:schemeClr val="tx1"/>
                          </a:solidFill>
                        </a:rPr>
                        <a:t>A</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600" dirty="0">
                          <a:solidFill>
                            <a:schemeClr val="tx1"/>
                          </a:solidFill>
                        </a:rPr>
                        <a:t>2</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600" dirty="0">
                          <a:solidFill>
                            <a:schemeClr val="tx1"/>
                          </a:solidFill>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600" dirty="0">
                          <a:solidFill>
                            <a:schemeClr val="tx1"/>
                          </a:solidFill>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600" dirty="0">
                          <a:solidFill>
                            <a:schemeClr val="tx1"/>
                          </a:solidFill>
                        </a:rPr>
                        <a:t>3.33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8105792"/>
                  </a:ext>
                </a:extLst>
              </a:tr>
              <a:tr h="365760">
                <a:tc>
                  <a:txBody>
                    <a:bodyPr/>
                    <a:lstStyle/>
                    <a:p>
                      <a:pPr algn="ctr">
                        <a:buNone/>
                      </a:pPr>
                      <a:r>
                        <a:rPr lang="en-US" altLang="zh-CN" sz="1600" dirty="0">
                          <a:solidFill>
                            <a:schemeClr val="tx1"/>
                          </a:solidFill>
                        </a:rPr>
                        <a:t>B</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600" dirty="0">
                          <a:solidFill>
                            <a:schemeClr val="tx1"/>
                          </a:solidFill>
                        </a:rPr>
                        <a:t>4</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600" dirty="0">
                          <a:solidFill>
                            <a:schemeClr val="tx1"/>
                          </a:solidFill>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600" dirty="0">
                          <a:solidFill>
                            <a:schemeClr val="tx1"/>
                          </a:solidFill>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600" dirty="0">
                          <a:solidFill>
                            <a:schemeClr val="tx1"/>
                          </a:solidFill>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7534002"/>
                  </a:ext>
                </a:extLst>
              </a:tr>
              <a:tr h="365760">
                <a:tc>
                  <a:txBody>
                    <a:bodyPr/>
                    <a:lstStyle/>
                    <a:p>
                      <a:pPr algn="ctr">
                        <a:buNone/>
                      </a:pPr>
                      <a:r>
                        <a:rPr lang="en-US" altLang="zh-CN" sz="1600" dirty="0">
                          <a:solidFill>
                            <a:schemeClr val="tx1"/>
                          </a:solidFill>
                        </a:rPr>
                        <a:t>C</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600" dirty="0">
                          <a:solidFill>
                            <a:schemeClr val="tx1"/>
                          </a:solidFill>
                        </a:rPr>
                        <a:t>3</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600" dirty="0">
                          <a:solidFill>
                            <a:schemeClr val="tx1"/>
                          </a:solidFill>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600" dirty="0">
                          <a:solidFill>
                            <a:schemeClr val="tx1"/>
                          </a:solidFill>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600" dirty="0">
                          <a:solidFill>
                            <a:schemeClr val="tx1"/>
                          </a:solidFill>
                        </a:rPr>
                        <a:t>4.17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814229"/>
                  </a:ext>
                </a:extLst>
              </a:tr>
              <a:tr h="365760">
                <a:tc>
                  <a:txBody>
                    <a:bodyPr/>
                    <a:lstStyle/>
                    <a:p>
                      <a:pPr algn="ctr">
                        <a:buNone/>
                      </a:pP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endParaRPr lang="en-US" altLang="zh-CN"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zh-CN" altLang="en-US" sz="1600" dirty="0">
                          <a:solidFill>
                            <a:schemeClr val="tx1"/>
                          </a:solidFill>
                        </a:rPr>
                        <a:t>合计</a:t>
                      </a:r>
                      <a:endParaRPr lang="en-US" altLang="zh-CN"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600" dirty="0">
                          <a:solidFill>
                            <a:schemeClr val="tx1"/>
                          </a:solidFill>
                        </a:rPr>
                        <a:t>13.5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83638897"/>
                  </a:ext>
                </a:extLst>
              </a:tr>
            </a:tbl>
          </a:graphicData>
        </a:graphic>
      </p:graphicFrame>
      <p:sp>
        <p:nvSpPr>
          <p:cNvPr id="6" name="椭圆 5">
            <a:extLst>
              <a:ext uri="{FF2B5EF4-FFF2-40B4-BE49-F238E27FC236}">
                <a16:creationId xmlns:a16="http://schemas.microsoft.com/office/drawing/2014/main" id="{D5077824-9A15-C467-A19B-51267FB2A3D7}"/>
              </a:ext>
            </a:extLst>
          </p:cNvPr>
          <p:cNvSpPr/>
          <p:nvPr/>
        </p:nvSpPr>
        <p:spPr>
          <a:xfrm>
            <a:off x="2593762" y="1224497"/>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1</a:t>
            </a:r>
            <a:endParaRPr lang="zh-CN" altLang="en-US" sz="1600" dirty="0">
              <a:solidFill>
                <a:schemeClr val="tx1"/>
              </a:solidFill>
            </a:endParaRPr>
          </a:p>
        </p:txBody>
      </p:sp>
      <p:sp>
        <p:nvSpPr>
          <p:cNvPr id="7" name="椭圆 6">
            <a:extLst>
              <a:ext uri="{FF2B5EF4-FFF2-40B4-BE49-F238E27FC236}">
                <a16:creationId xmlns:a16="http://schemas.microsoft.com/office/drawing/2014/main" id="{AB99E5AB-31D6-97AF-E026-EC18B507CB4F}"/>
              </a:ext>
            </a:extLst>
          </p:cNvPr>
          <p:cNvSpPr/>
          <p:nvPr/>
        </p:nvSpPr>
        <p:spPr>
          <a:xfrm>
            <a:off x="4748587" y="1224497"/>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2</a:t>
            </a:r>
            <a:endParaRPr lang="zh-CN" altLang="en-US" sz="1600" dirty="0">
              <a:solidFill>
                <a:schemeClr val="tx1"/>
              </a:solidFill>
            </a:endParaRPr>
          </a:p>
        </p:txBody>
      </p:sp>
      <p:sp>
        <p:nvSpPr>
          <p:cNvPr id="8" name="椭圆 7">
            <a:extLst>
              <a:ext uri="{FF2B5EF4-FFF2-40B4-BE49-F238E27FC236}">
                <a16:creationId xmlns:a16="http://schemas.microsoft.com/office/drawing/2014/main" id="{BECD06BE-2A8D-C8EA-B2AA-A778633B6545}"/>
              </a:ext>
            </a:extLst>
          </p:cNvPr>
          <p:cNvSpPr/>
          <p:nvPr/>
        </p:nvSpPr>
        <p:spPr>
          <a:xfrm>
            <a:off x="6903412" y="1224497"/>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3</a:t>
            </a:r>
            <a:endParaRPr lang="zh-CN" altLang="en-US" sz="1600" dirty="0">
              <a:solidFill>
                <a:schemeClr val="tx1"/>
              </a:solidFill>
            </a:endParaRPr>
          </a:p>
        </p:txBody>
      </p:sp>
      <p:sp>
        <p:nvSpPr>
          <p:cNvPr id="9" name="椭圆 8">
            <a:extLst>
              <a:ext uri="{FF2B5EF4-FFF2-40B4-BE49-F238E27FC236}">
                <a16:creationId xmlns:a16="http://schemas.microsoft.com/office/drawing/2014/main" id="{004A9AE7-193F-E2DC-DEA1-76BAB2112FF5}"/>
              </a:ext>
            </a:extLst>
          </p:cNvPr>
          <p:cNvSpPr/>
          <p:nvPr/>
        </p:nvSpPr>
        <p:spPr>
          <a:xfrm>
            <a:off x="9058238" y="1224497"/>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4</a:t>
            </a:r>
            <a:endParaRPr lang="zh-CN" altLang="en-US" sz="1600" dirty="0">
              <a:solidFill>
                <a:schemeClr val="tx1"/>
              </a:solidFill>
            </a:endParaRPr>
          </a:p>
        </p:txBody>
      </p:sp>
      <p:cxnSp>
        <p:nvCxnSpPr>
          <p:cNvPr id="11" name="直接箭头连接符 10">
            <a:extLst>
              <a:ext uri="{FF2B5EF4-FFF2-40B4-BE49-F238E27FC236}">
                <a16:creationId xmlns:a16="http://schemas.microsoft.com/office/drawing/2014/main" id="{26B93EEB-A46B-5B98-B5F8-17D200E7B232}"/>
              </a:ext>
            </a:extLst>
          </p:cNvPr>
          <p:cNvCxnSpPr>
            <a:stCxn id="6" idx="6"/>
            <a:endCxn id="7" idx="2"/>
          </p:cNvCxnSpPr>
          <p:nvPr/>
        </p:nvCxnSpPr>
        <p:spPr>
          <a:xfrm>
            <a:off x="3133762" y="1494497"/>
            <a:ext cx="161482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F3F711EC-7095-F102-6BAC-C0085BADD731}"/>
              </a:ext>
            </a:extLst>
          </p:cNvPr>
          <p:cNvCxnSpPr>
            <a:stCxn id="7" idx="6"/>
            <a:endCxn id="8" idx="2"/>
          </p:cNvCxnSpPr>
          <p:nvPr/>
        </p:nvCxnSpPr>
        <p:spPr>
          <a:xfrm>
            <a:off x="5288587" y="1494497"/>
            <a:ext cx="161482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B66EB326-4ED3-2A2A-34FF-EE2FB0B0283F}"/>
              </a:ext>
            </a:extLst>
          </p:cNvPr>
          <p:cNvCxnSpPr>
            <a:stCxn id="8" idx="6"/>
            <a:endCxn id="9" idx="2"/>
          </p:cNvCxnSpPr>
          <p:nvPr/>
        </p:nvCxnSpPr>
        <p:spPr>
          <a:xfrm>
            <a:off x="7443412" y="1494497"/>
            <a:ext cx="161482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F595AC84-9276-B44D-C351-69E2C53DD02D}"/>
              </a:ext>
            </a:extLst>
          </p:cNvPr>
          <p:cNvSpPr txBox="1"/>
          <p:nvPr/>
        </p:nvSpPr>
        <p:spPr>
          <a:xfrm>
            <a:off x="3559499" y="993539"/>
            <a:ext cx="763351" cy="338554"/>
          </a:xfrm>
          <a:prstGeom prst="rect">
            <a:avLst/>
          </a:prstGeom>
          <a:noFill/>
          <a:ln>
            <a:noFill/>
          </a:ln>
        </p:spPr>
        <p:txBody>
          <a:bodyPr wrap="none" rtlCol="0">
            <a:spAutoFit/>
          </a:bodyPr>
          <a:lstStyle/>
          <a:p>
            <a:pPr algn="l"/>
            <a:r>
              <a:rPr lang="en-US" altLang="zh-CN" sz="1600" dirty="0"/>
              <a:t>(2,3,6)</a:t>
            </a:r>
            <a:endParaRPr lang="zh-CN" altLang="en-US" sz="1600" dirty="0"/>
          </a:p>
        </p:txBody>
      </p:sp>
      <p:sp>
        <p:nvSpPr>
          <p:cNvPr id="18" name="文本框 17">
            <a:extLst>
              <a:ext uri="{FF2B5EF4-FFF2-40B4-BE49-F238E27FC236}">
                <a16:creationId xmlns:a16="http://schemas.microsoft.com/office/drawing/2014/main" id="{22690234-380A-166A-1E77-F0A1A717404F}"/>
              </a:ext>
            </a:extLst>
          </p:cNvPr>
          <p:cNvSpPr txBox="1"/>
          <p:nvPr/>
        </p:nvSpPr>
        <p:spPr>
          <a:xfrm>
            <a:off x="5714323" y="993539"/>
            <a:ext cx="798617" cy="338554"/>
          </a:xfrm>
          <a:prstGeom prst="rect">
            <a:avLst/>
          </a:prstGeom>
          <a:noFill/>
          <a:ln>
            <a:noFill/>
          </a:ln>
        </p:spPr>
        <p:txBody>
          <a:bodyPr wrap="none" rtlCol="0">
            <a:spAutoFit/>
          </a:bodyPr>
          <a:lstStyle/>
          <a:p>
            <a:pPr algn="l"/>
            <a:r>
              <a:rPr lang="en-US" altLang="zh-CN" sz="1600" dirty="0"/>
              <a:t>(4,6,8)</a:t>
            </a:r>
            <a:endParaRPr lang="zh-CN" altLang="en-US" sz="1600" dirty="0"/>
          </a:p>
        </p:txBody>
      </p:sp>
      <p:sp>
        <p:nvSpPr>
          <p:cNvPr id="19" name="文本框 18">
            <a:extLst>
              <a:ext uri="{FF2B5EF4-FFF2-40B4-BE49-F238E27FC236}">
                <a16:creationId xmlns:a16="http://schemas.microsoft.com/office/drawing/2014/main" id="{0FC69BA6-A2EC-B0B0-FBBA-0EC877521994}"/>
              </a:ext>
            </a:extLst>
          </p:cNvPr>
          <p:cNvSpPr txBox="1"/>
          <p:nvPr/>
        </p:nvSpPr>
        <p:spPr>
          <a:xfrm>
            <a:off x="7870254" y="993539"/>
            <a:ext cx="782587" cy="338554"/>
          </a:xfrm>
          <a:prstGeom prst="rect">
            <a:avLst/>
          </a:prstGeom>
          <a:noFill/>
          <a:ln>
            <a:noFill/>
          </a:ln>
        </p:spPr>
        <p:txBody>
          <a:bodyPr wrap="none" rtlCol="0">
            <a:spAutoFit/>
          </a:bodyPr>
          <a:lstStyle/>
          <a:p>
            <a:pPr algn="l"/>
            <a:r>
              <a:rPr lang="en-US" altLang="zh-CN" sz="1600" dirty="0"/>
              <a:t>(3,4,6)</a:t>
            </a:r>
            <a:endParaRPr lang="zh-CN" altLang="en-US" sz="1600" dirty="0"/>
          </a:p>
        </p:txBody>
      </p:sp>
      <p:sp>
        <p:nvSpPr>
          <p:cNvPr id="20" name="文本框 19">
            <a:extLst>
              <a:ext uri="{FF2B5EF4-FFF2-40B4-BE49-F238E27FC236}">
                <a16:creationId xmlns:a16="http://schemas.microsoft.com/office/drawing/2014/main" id="{0C2325BC-DFA2-61E7-5D80-DCA60B18F4EC}"/>
              </a:ext>
            </a:extLst>
          </p:cNvPr>
          <p:cNvSpPr txBox="1"/>
          <p:nvPr/>
        </p:nvSpPr>
        <p:spPr>
          <a:xfrm>
            <a:off x="3775104" y="1580689"/>
            <a:ext cx="332142" cy="338554"/>
          </a:xfrm>
          <a:prstGeom prst="rect">
            <a:avLst/>
          </a:prstGeom>
          <a:noFill/>
          <a:ln>
            <a:noFill/>
          </a:ln>
        </p:spPr>
        <p:txBody>
          <a:bodyPr wrap="none" rtlCol="0">
            <a:spAutoFit/>
          </a:bodyPr>
          <a:lstStyle/>
          <a:p>
            <a:pPr algn="l"/>
            <a:r>
              <a:rPr lang="en-US" altLang="zh-CN" sz="1600" dirty="0"/>
              <a:t>A</a:t>
            </a:r>
            <a:endParaRPr lang="zh-CN" altLang="en-US" sz="1600" dirty="0"/>
          </a:p>
        </p:txBody>
      </p:sp>
      <p:sp>
        <p:nvSpPr>
          <p:cNvPr id="21" name="文本框 20">
            <a:extLst>
              <a:ext uri="{FF2B5EF4-FFF2-40B4-BE49-F238E27FC236}">
                <a16:creationId xmlns:a16="http://schemas.microsoft.com/office/drawing/2014/main" id="{F24AF92A-EA55-A24E-775F-7041D6B12438}"/>
              </a:ext>
            </a:extLst>
          </p:cNvPr>
          <p:cNvSpPr txBox="1"/>
          <p:nvPr/>
        </p:nvSpPr>
        <p:spPr>
          <a:xfrm>
            <a:off x="5929928" y="1580689"/>
            <a:ext cx="340158" cy="338554"/>
          </a:xfrm>
          <a:prstGeom prst="rect">
            <a:avLst/>
          </a:prstGeom>
          <a:noFill/>
          <a:ln>
            <a:noFill/>
          </a:ln>
        </p:spPr>
        <p:txBody>
          <a:bodyPr wrap="none" rtlCol="0">
            <a:spAutoFit/>
          </a:bodyPr>
          <a:lstStyle/>
          <a:p>
            <a:pPr algn="l"/>
            <a:r>
              <a:rPr lang="en-US" altLang="zh-CN" sz="1600" dirty="0"/>
              <a:t>B</a:t>
            </a:r>
            <a:endParaRPr lang="zh-CN" altLang="en-US" sz="1600" dirty="0"/>
          </a:p>
        </p:txBody>
      </p:sp>
      <p:sp>
        <p:nvSpPr>
          <p:cNvPr id="22" name="文本框 21">
            <a:extLst>
              <a:ext uri="{FF2B5EF4-FFF2-40B4-BE49-F238E27FC236}">
                <a16:creationId xmlns:a16="http://schemas.microsoft.com/office/drawing/2014/main" id="{7716CB8A-D394-59B9-571D-A4B7C523A067}"/>
              </a:ext>
            </a:extLst>
          </p:cNvPr>
          <p:cNvSpPr txBox="1"/>
          <p:nvPr/>
        </p:nvSpPr>
        <p:spPr>
          <a:xfrm>
            <a:off x="8084754" y="1580689"/>
            <a:ext cx="332142" cy="338554"/>
          </a:xfrm>
          <a:prstGeom prst="rect">
            <a:avLst/>
          </a:prstGeom>
          <a:noFill/>
          <a:ln>
            <a:noFill/>
          </a:ln>
        </p:spPr>
        <p:txBody>
          <a:bodyPr wrap="none" rtlCol="0">
            <a:spAutoFit/>
          </a:bodyPr>
          <a:lstStyle/>
          <a:p>
            <a:pPr algn="l"/>
            <a:r>
              <a:rPr lang="en-US" altLang="zh-CN" sz="1600" dirty="0"/>
              <a:t>C</a:t>
            </a:r>
            <a:endParaRPr lang="zh-CN" altLang="en-US" sz="1600" dirty="0"/>
          </a:p>
        </p:txBody>
      </p:sp>
      <p:graphicFrame>
        <p:nvGraphicFramePr>
          <p:cNvPr id="2" name="表格 1">
            <a:extLst>
              <a:ext uri="{FF2B5EF4-FFF2-40B4-BE49-F238E27FC236}">
                <a16:creationId xmlns:a16="http://schemas.microsoft.com/office/drawing/2014/main" id="{E444243C-7418-8580-A47A-FACD4E3ED4D2}"/>
              </a:ext>
            </a:extLst>
          </p:cNvPr>
          <p:cNvGraphicFramePr>
            <a:graphicFrameLocks noGrp="1"/>
          </p:cNvGraphicFramePr>
          <p:nvPr>
            <p:extLst>
              <p:ext uri="{D42A27DB-BD31-4B8C-83A1-F6EECF244321}">
                <p14:modId xmlns:p14="http://schemas.microsoft.com/office/powerpoint/2010/main" val="89001559"/>
              </p:ext>
            </p:extLst>
          </p:nvPr>
        </p:nvGraphicFramePr>
        <p:xfrm>
          <a:off x="3413631" y="4319053"/>
          <a:ext cx="5400000" cy="1828800"/>
        </p:xfrm>
        <a:graphic>
          <a:graphicData uri="http://schemas.openxmlformats.org/drawingml/2006/table">
            <a:tbl>
              <a:tblPr/>
              <a:tblGrid>
                <a:gridCol w="1080000">
                  <a:extLst>
                    <a:ext uri="{9D8B030D-6E8A-4147-A177-3AD203B41FA5}">
                      <a16:colId xmlns:a16="http://schemas.microsoft.com/office/drawing/2014/main" val="3042569687"/>
                    </a:ext>
                  </a:extLst>
                </a:gridCol>
                <a:gridCol w="2160000">
                  <a:extLst>
                    <a:ext uri="{9D8B030D-6E8A-4147-A177-3AD203B41FA5}">
                      <a16:colId xmlns:a16="http://schemas.microsoft.com/office/drawing/2014/main" val="22328700"/>
                    </a:ext>
                  </a:extLst>
                </a:gridCol>
                <a:gridCol w="2160000">
                  <a:extLst>
                    <a:ext uri="{9D8B030D-6E8A-4147-A177-3AD203B41FA5}">
                      <a16:colId xmlns:a16="http://schemas.microsoft.com/office/drawing/2014/main" val="1031287147"/>
                    </a:ext>
                  </a:extLst>
                </a:gridCol>
              </a:tblGrid>
              <a:tr h="365760">
                <a:tc>
                  <a:txBody>
                    <a:bodyPr/>
                    <a:lstStyle/>
                    <a:p>
                      <a:pPr algn="ctr">
                        <a:buNone/>
                      </a:pP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zh-CN" altLang="en-US" sz="1600" dirty="0">
                          <a:solidFill>
                            <a:schemeClr val="tx1"/>
                          </a:solidFill>
                        </a:rPr>
                        <a:t>标准差</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zh-CN" altLang="en-US" sz="1600" dirty="0">
                          <a:solidFill>
                            <a:schemeClr val="tx1"/>
                          </a:solidFill>
                        </a:rPr>
                        <a:t>方差</a:t>
                      </a:r>
                      <a:endParaRPr lang="en-US" altLang="zh-CN"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89055665"/>
                  </a:ext>
                </a:extLst>
              </a:tr>
              <a:tr h="365760">
                <a:tc>
                  <a:txBody>
                    <a:bodyPr/>
                    <a:lstStyle/>
                    <a:p>
                      <a:pPr algn="ctr">
                        <a:buNone/>
                      </a:pPr>
                      <a:r>
                        <a:rPr lang="en-US" altLang="zh-CN" sz="1600" dirty="0">
                          <a:solidFill>
                            <a:schemeClr val="tx1"/>
                          </a:solidFill>
                        </a:rPr>
                        <a:t>A</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600" dirty="0">
                          <a:solidFill>
                            <a:schemeClr val="tx1"/>
                          </a:solidFill>
                        </a:rPr>
                        <a:t>4/6</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600" dirty="0">
                          <a:solidFill>
                            <a:schemeClr val="tx1"/>
                          </a:solidFill>
                        </a:rPr>
                        <a:t>16/36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8105792"/>
                  </a:ext>
                </a:extLst>
              </a:tr>
              <a:tr h="365760">
                <a:tc>
                  <a:txBody>
                    <a:bodyPr/>
                    <a:lstStyle/>
                    <a:p>
                      <a:pPr algn="ctr">
                        <a:buNone/>
                      </a:pPr>
                      <a:r>
                        <a:rPr lang="en-US" altLang="zh-CN" sz="1600" dirty="0">
                          <a:solidFill>
                            <a:schemeClr val="tx1"/>
                          </a:solidFill>
                        </a:rPr>
                        <a:t>B</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600" dirty="0">
                          <a:solidFill>
                            <a:schemeClr val="tx1"/>
                          </a:solidFill>
                        </a:rPr>
                        <a:t>4/6</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600" dirty="0">
                          <a:solidFill>
                            <a:schemeClr val="tx1"/>
                          </a:solidFill>
                        </a:rPr>
                        <a:t>16/36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7534002"/>
                  </a:ext>
                </a:extLst>
              </a:tr>
              <a:tr h="365760">
                <a:tc>
                  <a:txBody>
                    <a:bodyPr/>
                    <a:lstStyle/>
                    <a:p>
                      <a:pPr algn="ctr">
                        <a:buNone/>
                      </a:pPr>
                      <a:r>
                        <a:rPr lang="en-US" altLang="zh-CN" sz="1600" dirty="0">
                          <a:solidFill>
                            <a:schemeClr val="tx1"/>
                          </a:solidFill>
                        </a:rPr>
                        <a:t>C</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600" dirty="0">
                          <a:solidFill>
                            <a:schemeClr val="tx1"/>
                          </a:solidFill>
                        </a:rPr>
                        <a:t>3/6</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600" dirty="0">
                          <a:solidFill>
                            <a:schemeClr val="tx1"/>
                          </a:solidFill>
                        </a:rPr>
                        <a:t>9/36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814229"/>
                  </a:ext>
                </a:extLst>
              </a:tr>
              <a:tr h="365760">
                <a:tc>
                  <a:txBody>
                    <a:bodyPr/>
                    <a:lstStyle/>
                    <a:p>
                      <a:pPr algn="ctr">
                        <a:buNone/>
                      </a:pPr>
                      <a:r>
                        <a:rPr lang="zh-CN" altLang="en-US" sz="1600" dirty="0">
                          <a:solidFill>
                            <a:schemeClr val="tx1"/>
                          </a:solidFill>
                        </a:rPr>
                        <a:t>项目路径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600" dirty="0">
                          <a:solidFill>
                            <a:schemeClr val="tx1"/>
                          </a:solidFill>
                        </a:rPr>
                        <a:t>1.07</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600" dirty="0">
                          <a:solidFill>
                            <a:schemeClr val="tx1"/>
                          </a:solidFill>
                        </a:rPr>
                        <a:t>41/36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83638897"/>
                  </a:ext>
                </a:extLst>
              </a:tr>
            </a:tbl>
          </a:graphicData>
        </a:graphic>
      </p:graphicFrame>
    </p:spTree>
    <p:extLst>
      <p:ext uri="{BB962C8B-B14F-4D97-AF65-F5344CB8AC3E}">
        <p14:creationId xmlns:p14="http://schemas.microsoft.com/office/powerpoint/2010/main" val="1227592475"/>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78DD9C20-70DF-34CC-1D6E-A6E77234E42D}"/>
              </a:ext>
            </a:extLst>
          </p:cNvPr>
          <p:cNvSpPr txBox="1"/>
          <p:nvPr/>
        </p:nvSpPr>
        <p:spPr>
          <a:xfrm>
            <a:off x="2062163" y="1028700"/>
            <a:ext cx="8067675" cy="830997"/>
          </a:xfrm>
          <a:prstGeom prst="rect">
            <a:avLst/>
          </a:prstGeom>
          <a:noFill/>
        </p:spPr>
        <p:txBody>
          <a:bodyPr wrap="square" rtlCol="0">
            <a:spAutoFit/>
          </a:bodyPr>
          <a:lstStyle/>
          <a:p>
            <a:pPr algn="just"/>
            <a:r>
              <a:rPr lang="zh-CN" altLang="en-US" sz="1600" dirty="0"/>
              <a:t>例：对一个任务进行进度估算时；</a:t>
            </a:r>
            <a:r>
              <a:rPr lang="en-US" altLang="zh-CN" sz="1600" dirty="0"/>
              <a:t>A </a:t>
            </a:r>
            <a:r>
              <a:rPr lang="zh-CN" altLang="en-US" sz="1600" dirty="0"/>
              <a:t>是乐观者，估计用 </a:t>
            </a:r>
            <a:r>
              <a:rPr lang="en-US" altLang="zh-CN" sz="1600" dirty="0"/>
              <a:t>6 </a:t>
            </a:r>
            <a:r>
              <a:rPr lang="zh-CN" altLang="en-US" sz="1600" dirty="0"/>
              <a:t>天完成；</a:t>
            </a:r>
            <a:r>
              <a:rPr lang="en-US" altLang="zh-CN" sz="1600" dirty="0"/>
              <a:t>B </a:t>
            </a:r>
            <a:r>
              <a:rPr lang="zh-CN" altLang="en-US" sz="1600" dirty="0"/>
              <a:t>是悲观者，估计用 </a:t>
            </a:r>
            <a:r>
              <a:rPr lang="en-US" altLang="zh-CN" sz="1600" dirty="0"/>
              <a:t>24 </a:t>
            </a:r>
            <a:r>
              <a:rPr lang="zh-CN" altLang="en-US" sz="1600" dirty="0"/>
              <a:t>天完成；</a:t>
            </a:r>
            <a:r>
              <a:rPr lang="en-US" altLang="zh-CN" sz="1600" dirty="0"/>
              <a:t>C</a:t>
            </a:r>
            <a:r>
              <a:rPr lang="zh-CN" altLang="en-US" sz="1600" dirty="0"/>
              <a:t>是有经验者，认为最有可能用</a:t>
            </a:r>
            <a:r>
              <a:rPr lang="en-US" altLang="zh-CN" sz="1600" dirty="0"/>
              <a:t>12</a:t>
            </a:r>
            <a:r>
              <a:rPr lang="zh-CN" altLang="en-US" sz="1600" dirty="0"/>
              <a:t>天完成。那么这个任务的历时估算介于</a:t>
            </a:r>
            <a:r>
              <a:rPr lang="en-US" altLang="zh-CN" sz="1600" dirty="0"/>
              <a:t>10</a:t>
            </a:r>
            <a:r>
              <a:rPr lang="zh-CN" altLang="en-US" sz="1600" dirty="0"/>
              <a:t>天到</a:t>
            </a:r>
            <a:r>
              <a:rPr lang="en-US" altLang="zh-CN" sz="1600" dirty="0"/>
              <a:t>16</a:t>
            </a:r>
            <a:r>
              <a:rPr lang="zh-CN" altLang="en-US" sz="1600" dirty="0"/>
              <a:t>天的概率是多少？</a:t>
            </a:r>
          </a:p>
        </p:txBody>
      </p:sp>
      <p:sp>
        <p:nvSpPr>
          <p:cNvPr id="3" name="文本框 2">
            <a:extLst>
              <a:ext uri="{FF2B5EF4-FFF2-40B4-BE49-F238E27FC236}">
                <a16:creationId xmlns:a16="http://schemas.microsoft.com/office/drawing/2014/main" id="{981EA8FE-4F67-CC22-0E89-C0ED78511F2A}"/>
              </a:ext>
            </a:extLst>
          </p:cNvPr>
          <p:cNvSpPr txBox="1"/>
          <p:nvPr/>
        </p:nvSpPr>
        <p:spPr>
          <a:xfrm>
            <a:off x="2062163" y="2275371"/>
            <a:ext cx="4302781" cy="338554"/>
          </a:xfrm>
          <a:prstGeom prst="rect">
            <a:avLst/>
          </a:prstGeom>
          <a:noFill/>
        </p:spPr>
        <p:txBody>
          <a:bodyPr wrap="none" rtlCol="0">
            <a:spAutoFit/>
          </a:bodyPr>
          <a:lstStyle/>
          <a:p>
            <a:r>
              <a:rPr lang="en-US" altLang="zh-CN" sz="1600" dirty="0"/>
              <a:t>E =</a:t>
            </a:r>
            <a:r>
              <a:rPr lang="zh-CN" altLang="en-US" sz="1600" dirty="0"/>
              <a:t>（</a:t>
            </a:r>
            <a:r>
              <a:rPr lang="en-US" altLang="zh-CN" sz="1600" dirty="0"/>
              <a:t>O + 4m + P)/6 = (6 + 4*12 + 24)/6 = 13</a:t>
            </a:r>
            <a:endParaRPr lang="zh-CN" altLang="en-US" sz="1600" dirty="0"/>
          </a:p>
        </p:txBody>
      </p:sp>
      <p:sp>
        <p:nvSpPr>
          <p:cNvPr id="4" name="文本框 3">
            <a:extLst>
              <a:ext uri="{FF2B5EF4-FFF2-40B4-BE49-F238E27FC236}">
                <a16:creationId xmlns:a16="http://schemas.microsoft.com/office/drawing/2014/main" id="{55099AB9-BA25-4E7B-383B-E957616D9F36}"/>
              </a:ext>
            </a:extLst>
          </p:cNvPr>
          <p:cNvSpPr txBox="1"/>
          <p:nvPr/>
        </p:nvSpPr>
        <p:spPr>
          <a:xfrm>
            <a:off x="2062163" y="2942121"/>
            <a:ext cx="2977097" cy="338554"/>
          </a:xfrm>
          <a:prstGeom prst="rect">
            <a:avLst/>
          </a:prstGeom>
          <a:noFill/>
        </p:spPr>
        <p:txBody>
          <a:bodyPr wrap="none" rtlCol="0">
            <a:spAutoFit/>
          </a:bodyPr>
          <a:lstStyle/>
          <a:p>
            <a:r>
              <a:rPr lang="en-US" altLang="zh-CN" sz="1600" dirty="0"/>
              <a:t>δ =</a:t>
            </a:r>
            <a:r>
              <a:rPr lang="zh-CN" altLang="en-US" sz="1600" dirty="0"/>
              <a:t>（</a:t>
            </a:r>
            <a:r>
              <a:rPr lang="en-US" altLang="zh-CN" sz="1600" dirty="0"/>
              <a:t>P - O)/6 = (24 - 6)/6 = 3</a:t>
            </a:r>
            <a:endParaRPr lang="zh-CN" altLang="en-US" sz="1600" dirty="0"/>
          </a:p>
        </p:txBody>
      </p:sp>
      <p:sp>
        <p:nvSpPr>
          <p:cNvPr id="5" name="文本框 4">
            <a:extLst>
              <a:ext uri="{FF2B5EF4-FFF2-40B4-BE49-F238E27FC236}">
                <a16:creationId xmlns:a16="http://schemas.microsoft.com/office/drawing/2014/main" id="{5824546D-0752-85AC-5E90-56C0B7A0BD6E}"/>
              </a:ext>
            </a:extLst>
          </p:cNvPr>
          <p:cNvSpPr txBox="1"/>
          <p:nvPr/>
        </p:nvSpPr>
        <p:spPr>
          <a:xfrm>
            <a:off x="2062163" y="3608871"/>
            <a:ext cx="2414444" cy="338554"/>
          </a:xfrm>
          <a:prstGeom prst="rect">
            <a:avLst/>
          </a:prstGeom>
          <a:noFill/>
        </p:spPr>
        <p:txBody>
          <a:bodyPr wrap="none" rtlCol="0">
            <a:spAutoFit/>
          </a:bodyPr>
          <a:lstStyle/>
          <a:p>
            <a:r>
              <a:rPr lang="zh-CN" altLang="en-US" sz="1600" dirty="0"/>
              <a:t>下限：</a:t>
            </a:r>
            <a:r>
              <a:rPr lang="en-US" altLang="zh-CN" sz="1600" dirty="0"/>
              <a:t>E - δ = 13</a:t>
            </a:r>
            <a:r>
              <a:rPr lang="zh-CN" altLang="en-US" sz="1600" dirty="0"/>
              <a:t> </a:t>
            </a:r>
            <a:r>
              <a:rPr lang="en-US" altLang="zh-CN" sz="1600" dirty="0"/>
              <a:t>–</a:t>
            </a:r>
            <a:r>
              <a:rPr lang="zh-CN" altLang="en-US" sz="1600" dirty="0"/>
              <a:t> </a:t>
            </a:r>
            <a:r>
              <a:rPr lang="en-US" altLang="zh-CN" sz="1600" dirty="0"/>
              <a:t>3 = 10</a:t>
            </a:r>
            <a:endParaRPr lang="zh-CN" altLang="en-US" sz="1600" dirty="0"/>
          </a:p>
        </p:txBody>
      </p:sp>
      <p:sp>
        <p:nvSpPr>
          <p:cNvPr id="6" name="文本框 5">
            <a:extLst>
              <a:ext uri="{FF2B5EF4-FFF2-40B4-BE49-F238E27FC236}">
                <a16:creationId xmlns:a16="http://schemas.microsoft.com/office/drawing/2014/main" id="{4CCAD419-DF77-65F1-9EB3-4443C3F7F1EB}"/>
              </a:ext>
            </a:extLst>
          </p:cNvPr>
          <p:cNvSpPr txBox="1"/>
          <p:nvPr/>
        </p:nvSpPr>
        <p:spPr>
          <a:xfrm>
            <a:off x="2062163" y="4275621"/>
            <a:ext cx="2459328" cy="338554"/>
          </a:xfrm>
          <a:prstGeom prst="rect">
            <a:avLst/>
          </a:prstGeom>
          <a:noFill/>
        </p:spPr>
        <p:txBody>
          <a:bodyPr wrap="none" rtlCol="0">
            <a:spAutoFit/>
          </a:bodyPr>
          <a:lstStyle/>
          <a:p>
            <a:r>
              <a:rPr lang="zh-CN" altLang="en-US" sz="1600" dirty="0"/>
              <a:t>上限：</a:t>
            </a:r>
            <a:r>
              <a:rPr lang="en-US" altLang="zh-CN" sz="1600" dirty="0"/>
              <a:t>E + δ = 13</a:t>
            </a:r>
            <a:r>
              <a:rPr lang="zh-CN" altLang="en-US" sz="1600" dirty="0"/>
              <a:t> </a:t>
            </a:r>
            <a:r>
              <a:rPr lang="en-US" altLang="zh-CN" sz="1600" dirty="0"/>
              <a:t>+</a:t>
            </a:r>
            <a:r>
              <a:rPr lang="zh-CN" altLang="en-US" sz="1600" dirty="0"/>
              <a:t> </a:t>
            </a:r>
            <a:r>
              <a:rPr lang="en-US" altLang="zh-CN" sz="1600" dirty="0"/>
              <a:t>3 = 16</a:t>
            </a:r>
            <a:endParaRPr lang="zh-CN" altLang="en-US" sz="1600" dirty="0"/>
          </a:p>
        </p:txBody>
      </p:sp>
      <p:sp>
        <p:nvSpPr>
          <p:cNvPr id="7" name="文本框 6">
            <a:extLst>
              <a:ext uri="{FF2B5EF4-FFF2-40B4-BE49-F238E27FC236}">
                <a16:creationId xmlns:a16="http://schemas.microsoft.com/office/drawing/2014/main" id="{54A61AB5-27CC-5AEF-B715-E99ECC628848}"/>
              </a:ext>
            </a:extLst>
          </p:cNvPr>
          <p:cNvSpPr txBox="1"/>
          <p:nvPr/>
        </p:nvSpPr>
        <p:spPr>
          <a:xfrm>
            <a:off x="2062163" y="4942371"/>
            <a:ext cx="2755883" cy="338554"/>
          </a:xfrm>
          <a:prstGeom prst="rect">
            <a:avLst/>
          </a:prstGeom>
          <a:noFill/>
        </p:spPr>
        <p:txBody>
          <a:bodyPr wrap="none" rtlCol="0">
            <a:spAutoFit/>
          </a:bodyPr>
          <a:lstStyle/>
          <a:p>
            <a:r>
              <a:rPr lang="zh-CN" altLang="en-US" sz="1600" dirty="0"/>
              <a:t>左右浮动 </a:t>
            </a:r>
            <a:r>
              <a:rPr lang="en-US" altLang="zh-CN" sz="1600" dirty="0"/>
              <a:t>1 δ</a:t>
            </a:r>
            <a:r>
              <a:rPr lang="zh-CN" altLang="en-US" sz="1600" dirty="0"/>
              <a:t>，概率为 </a:t>
            </a:r>
            <a:r>
              <a:rPr lang="en-US" altLang="zh-CN" sz="1600" dirty="0"/>
              <a:t>68.3%</a:t>
            </a:r>
            <a:endParaRPr lang="zh-CN" altLang="en-US" sz="1600" dirty="0"/>
          </a:p>
        </p:txBody>
      </p:sp>
      <p:sp>
        <p:nvSpPr>
          <p:cNvPr id="8" name="箭头: 右 7">
            <a:extLst>
              <a:ext uri="{FF2B5EF4-FFF2-40B4-BE49-F238E27FC236}">
                <a16:creationId xmlns:a16="http://schemas.microsoft.com/office/drawing/2014/main" id="{114F91FF-0BDA-E8FC-E0E9-294AEF7496B1}"/>
              </a:ext>
            </a:extLst>
          </p:cNvPr>
          <p:cNvSpPr/>
          <p:nvPr/>
        </p:nvSpPr>
        <p:spPr>
          <a:xfrm>
            <a:off x="1534463" y="5006110"/>
            <a:ext cx="397164" cy="210161"/>
          </a:xfrm>
          <a:prstGeom prst="rightArrow">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Tree>
    <p:extLst>
      <p:ext uri="{BB962C8B-B14F-4D97-AF65-F5344CB8AC3E}">
        <p14:creationId xmlns:p14="http://schemas.microsoft.com/office/powerpoint/2010/main" val="3532572132"/>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4D8092-A2C8-2D66-7CCD-8C5387B93B9D}"/>
              </a:ext>
            </a:extLst>
          </p:cNvPr>
          <p:cNvSpPr>
            <a:spLocks noGrp="1"/>
          </p:cNvSpPr>
          <p:nvPr>
            <p:ph type="title"/>
          </p:nvPr>
        </p:nvSpPr>
        <p:spPr>
          <a:xfrm>
            <a:off x="792000" y="360000"/>
            <a:ext cx="6375921" cy="429413"/>
          </a:xfrm>
        </p:spPr>
        <p:txBody>
          <a:bodyPr/>
          <a:lstStyle/>
          <a:p>
            <a:r>
              <a:rPr lang="en-US" altLang="zh-CN" dirty="0"/>
              <a:t>4.4 </a:t>
            </a:r>
            <a:r>
              <a:rPr lang="zh-CN" altLang="en-US" dirty="0"/>
              <a:t>类比估算</a:t>
            </a:r>
          </a:p>
        </p:txBody>
      </p:sp>
      <p:sp>
        <p:nvSpPr>
          <p:cNvPr id="3" name="内容占位符 2">
            <a:extLst>
              <a:ext uri="{FF2B5EF4-FFF2-40B4-BE49-F238E27FC236}">
                <a16:creationId xmlns:a16="http://schemas.microsoft.com/office/drawing/2014/main" id="{3CEFE749-9482-B72B-4F9E-FC1B43D062A4}"/>
              </a:ext>
            </a:extLst>
          </p:cNvPr>
          <p:cNvSpPr>
            <a:spLocks noGrp="1"/>
          </p:cNvSpPr>
          <p:nvPr>
            <p:ph idx="1"/>
          </p:nvPr>
        </p:nvSpPr>
        <p:spPr>
          <a:xfrm>
            <a:off x="696000" y="864000"/>
            <a:ext cx="10800000" cy="5400000"/>
          </a:xfrm>
        </p:spPr>
        <p:txBody>
          <a:bodyPr/>
          <a:lstStyle/>
          <a:p>
            <a:r>
              <a:rPr lang="zh-CN" altLang="zh-CN" dirty="0"/>
              <a:t>以过去类似项目的实际持续时间为依据，来估算当前项目的持续时间</a:t>
            </a:r>
            <a:r>
              <a:rPr lang="en-US" altLang="zh-CN" dirty="0"/>
              <a:t>.</a:t>
            </a:r>
            <a:endParaRPr lang="zh-CN" altLang="en-US" dirty="0"/>
          </a:p>
          <a:p>
            <a:endParaRPr lang="zh-CN" altLang="en-US" dirty="0"/>
          </a:p>
        </p:txBody>
      </p:sp>
      <p:sp>
        <p:nvSpPr>
          <p:cNvPr id="7" name="文本占位符 6">
            <a:extLst>
              <a:ext uri="{FF2B5EF4-FFF2-40B4-BE49-F238E27FC236}">
                <a16:creationId xmlns:a16="http://schemas.microsoft.com/office/drawing/2014/main" id="{31363689-A1F4-0014-C370-9B2222EB091C}"/>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1103906532"/>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D7551-99AE-A76B-2EFD-7E9FFAEB907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00F4EAA-77F7-53BE-A855-2C3746BB07CF}"/>
              </a:ext>
            </a:extLst>
          </p:cNvPr>
          <p:cNvSpPr>
            <a:spLocks noGrp="1"/>
          </p:cNvSpPr>
          <p:nvPr>
            <p:ph type="title"/>
          </p:nvPr>
        </p:nvSpPr>
        <p:spPr>
          <a:xfrm>
            <a:off x="792000" y="360000"/>
            <a:ext cx="6375921" cy="429413"/>
          </a:xfrm>
        </p:spPr>
        <p:txBody>
          <a:bodyPr/>
          <a:lstStyle/>
          <a:p>
            <a:r>
              <a:rPr lang="en-US" altLang="zh-CN" dirty="0"/>
              <a:t>4.5 </a:t>
            </a:r>
            <a:r>
              <a:rPr lang="zh-CN" altLang="zh-CN" dirty="0"/>
              <a:t>专家判断</a:t>
            </a:r>
            <a:endParaRPr lang="zh-CN" altLang="en-US" dirty="0"/>
          </a:p>
        </p:txBody>
      </p:sp>
      <p:sp>
        <p:nvSpPr>
          <p:cNvPr id="3" name="内容占位符 2">
            <a:extLst>
              <a:ext uri="{FF2B5EF4-FFF2-40B4-BE49-F238E27FC236}">
                <a16:creationId xmlns:a16="http://schemas.microsoft.com/office/drawing/2014/main" id="{A7854DDC-7F79-4AA6-432C-5722A6D3E9C3}"/>
              </a:ext>
            </a:extLst>
          </p:cNvPr>
          <p:cNvSpPr>
            <a:spLocks noGrp="1"/>
          </p:cNvSpPr>
          <p:nvPr>
            <p:ph idx="1"/>
          </p:nvPr>
        </p:nvSpPr>
        <p:spPr>
          <a:xfrm>
            <a:off x="696000" y="864000"/>
            <a:ext cx="10800000" cy="5400000"/>
          </a:xfrm>
        </p:spPr>
        <p:txBody>
          <a:bodyPr/>
          <a:lstStyle/>
          <a:p>
            <a:r>
              <a:rPr lang="zh-CN" altLang="en-US" dirty="0"/>
              <a:t>根据下面</a:t>
            </a:r>
            <a:r>
              <a:rPr lang="zh-CN" altLang="zh-CN" dirty="0"/>
              <a:t>专业知识而做出的</a:t>
            </a:r>
            <a:r>
              <a:rPr lang="zh-CN" altLang="en-US" dirty="0"/>
              <a:t>历时估算</a:t>
            </a:r>
            <a:r>
              <a:rPr lang="en-US" altLang="zh-CN" dirty="0"/>
              <a:t>.</a:t>
            </a:r>
          </a:p>
          <a:p>
            <a:pPr lvl="1"/>
            <a:r>
              <a:rPr lang="zh-CN" altLang="en-US" dirty="0"/>
              <a:t> 进度计划</a:t>
            </a:r>
          </a:p>
          <a:p>
            <a:pPr lvl="1"/>
            <a:r>
              <a:rPr lang="zh-CN" altLang="en-US" dirty="0"/>
              <a:t> 有关估算</a:t>
            </a:r>
          </a:p>
          <a:p>
            <a:pPr lvl="1"/>
            <a:r>
              <a:rPr lang="zh-CN" altLang="en-US" dirty="0"/>
              <a:t> 学科或应用知识</a:t>
            </a:r>
            <a:endParaRPr lang="en-US" altLang="zh-CN" dirty="0"/>
          </a:p>
          <a:p>
            <a:endParaRPr lang="zh-CN" altLang="en-US" dirty="0"/>
          </a:p>
        </p:txBody>
      </p:sp>
      <p:sp>
        <p:nvSpPr>
          <p:cNvPr id="7" name="文本占位符 6">
            <a:extLst>
              <a:ext uri="{FF2B5EF4-FFF2-40B4-BE49-F238E27FC236}">
                <a16:creationId xmlns:a16="http://schemas.microsoft.com/office/drawing/2014/main" id="{97ABE54A-5445-B6AC-1C60-CDF97C9EA800}"/>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1299476727"/>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7BFB02-7F7A-FFCB-4B80-01208FB59A1B}"/>
              </a:ext>
            </a:extLst>
          </p:cNvPr>
          <p:cNvSpPr>
            <a:spLocks noGrp="1"/>
          </p:cNvSpPr>
          <p:nvPr>
            <p:ph type="title"/>
          </p:nvPr>
        </p:nvSpPr>
        <p:spPr>
          <a:xfrm>
            <a:off x="792000" y="360000"/>
            <a:ext cx="6375921" cy="429413"/>
          </a:xfrm>
        </p:spPr>
        <p:txBody>
          <a:bodyPr/>
          <a:lstStyle/>
          <a:p>
            <a:r>
              <a:rPr lang="en-US" altLang="zh-CN" dirty="0"/>
              <a:t>5. </a:t>
            </a:r>
            <a:r>
              <a:rPr lang="zh-CN" altLang="en-US" dirty="0"/>
              <a:t>进度计划编排</a:t>
            </a:r>
          </a:p>
        </p:txBody>
      </p:sp>
      <p:sp>
        <p:nvSpPr>
          <p:cNvPr id="4" name="内容占位符 3">
            <a:extLst>
              <a:ext uri="{FF2B5EF4-FFF2-40B4-BE49-F238E27FC236}">
                <a16:creationId xmlns:a16="http://schemas.microsoft.com/office/drawing/2014/main" id="{8F73404D-AB74-DC83-A2BF-8E8966C8CC9D}"/>
              </a:ext>
            </a:extLst>
          </p:cNvPr>
          <p:cNvSpPr>
            <a:spLocks noGrp="1"/>
          </p:cNvSpPr>
          <p:nvPr>
            <p:ph idx="1"/>
          </p:nvPr>
        </p:nvSpPr>
        <p:spPr>
          <a:xfrm>
            <a:off x="696000" y="864000"/>
            <a:ext cx="10800000" cy="5400000"/>
          </a:xfrm>
        </p:spPr>
        <p:txBody>
          <a:bodyPr/>
          <a:lstStyle/>
          <a:p>
            <a:r>
              <a:rPr lang="zh-CN" altLang="en-US" dirty="0"/>
              <a:t>进度编排决定项目活动的开始和结束的过程</a:t>
            </a:r>
            <a:endParaRPr lang="en-US" altLang="zh-CN" dirty="0"/>
          </a:p>
          <a:p>
            <a:r>
              <a:rPr lang="zh-CN" altLang="en-US" dirty="0"/>
              <a:t>通常和进度估算通常结合在一起进行</a:t>
            </a:r>
            <a:endParaRPr lang="en-US" altLang="zh-CN" dirty="0"/>
          </a:p>
          <a:p>
            <a:pPr lvl="1"/>
            <a:r>
              <a:rPr lang="zh-CN" altLang="en-US" dirty="0"/>
              <a:t>关键路径法 </a:t>
            </a:r>
            <a:r>
              <a:rPr lang="en-US" altLang="zh-CN" dirty="0"/>
              <a:t>CPM</a:t>
            </a:r>
          </a:p>
          <a:p>
            <a:pPr lvl="1"/>
            <a:r>
              <a:rPr lang="zh-CN" altLang="en-US" dirty="0"/>
              <a:t>时间压缩法</a:t>
            </a:r>
            <a:endParaRPr lang="en-US" altLang="zh-CN" dirty="0"/>
          </a:p>
        </p:txBody>
      </p:sp>
      <p:sp>
        <p:nvSpPr>
          <p:cNvPr id="7" name="文本占位符 6">
            <a:extLst>
              <a:ext uri="{FF2B5EF4-FFF2-40B4-BE49-F238E27FC236}">
                <a16:creationId xmlns:a16="http://schemas.microsoft.com/office/drawing/2014/main" id="{9F66630A-5876-8149-1E00-E5B10F877D2E}"/>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3177728283"/>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60439-94DF-5481-8A05-E774222C372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4B1C755-B211-60F8-4E3B-A4805D693060}"/>
              </a:ext>
            </a:extLst>
          </p:cNvPr>
          <p:cNvSpPr>
            <a:spLocks noGrp="1"/>
          </p:cNvSpPr>
          <p:nvPr>
            <p:ph type="title"/>
          </p:nvPr>
        </p:nvSpPr>
        <p:spPr>
          <a:xfrm>
            <a:off x="792000" y="360000"/>
            <a:ext cx="6375921" cy="429413"/>
          </a:xfrm>
        </p:spPr>
        <p:txBody>
          <a:bodyPr>
            <a:normAutofit/>
          </a:bodyPr>
          <a:lstStyle/>
          <a:p>
            <a:r>
              <a:rPr lang="en-US" altLang="zh-CN" dirty="0"/>
              <a:t>5.1 </a:t>
            </a:r>
            <a:r>
              <a:rPr lang="zh-CN" altLang="en-US" dirty="0"/>
              <a:t>关键路径法</a:t>
            </a:r>
            <a:endParaRPr lang="en-US" altLang="zh-CN" dirty="0"/>
          </a:p>
        </p:txBody>
      </p:sp>
      <p:sp>
        <p:nvSpPr>
          <p:cNvPr id="3" name="内容占位符 2">
            <a:extLst>
              <a:ext uri="{FF2B5EF4-FFF2-40B4-BE49-F238E27FC236}">
                <a16:creationId xmlns:a16="http://schemas.microsoft.com/office/drawing/2014/main" id="{AA9FE19F-7E90-F986-CEC2-AE189A0F29E7}"/>
              </a:ext>
            </a:extLst>
          </p:cNvPr>
          <p:cNvSpPr>
            <a:spLocks noGrp="1"/>
          </p:cNvSpPr>
          <p:nvPr>
            <p:ph idx="1"/>
          </p:nvPr>
        </p:nvSpPr>
        <p:spPr>
          <a:xfrm>
            <a:off x="696000" y="864000"/>
            <a:ext cx="10800000" cy="5400000"/>
          </a:xfrm>
        </p:spPr>
        <p:txBody>
          <a:bodyPr>
            <a:normAutofit/>
          </a:bodyPr>
          <a:lstStyle/>
          <a:p>
            <a:r>
              <a:rPr lang="zh-CN" altLang="en-US" dirty="0"/>
              <a:t>项目由多个任务组成</a:t>
            </a:r>
            <a:endParaRPr lang="en-US" altLang="zh-CN" dirty="0"/>
          </a:p>
          <a:p>
            <a:r>
              <a:rPr lang="zh-CN" altLang="en-US" dirty="0"/>
              <a:t>每个任务都有不同的时间参数</a:t>
            </a:r>
            <a:endParaRPr lang="en-US" altLang="zh-CN" dirty="0"/>
          </a:p>
          <a:p>
            <a:pPr lvl="1"/>
            <a:r>
              <a:rPr lang="zh-CN" altLang="en-US" dirty="0"/>
              <a:t>最早开始时间 </a:t>
            </a:r>
            <a:r>
              <a:rPr lang="en-US" altLang="zh-CN" dirty="0"/>
              <a:t>ES - Earliest Start Time</a:t>
            </a:r>
            <a:endParaRPr lang="zh-CN" altLang="en-US" dirty="0"/>
          </a:p>
          <a:p>
            <a:pPr lvl="1"/>
            <a:r>
              <a:rPr lang="zh-CN" altLang="en-US" dirty="0"/>
              <a:t>最迟开始时间 </a:t>
            </a:r>
            <a:r>
              <a:rPr lang="en-US" altLang="zh-CN" dirty="0"/>
              <a:t>LS - Latest Start Time</a:t>
            </a:r>
            <a:endParaRPr lang="zh-CN" altLang="en-US" dirty="0"/>
          </a:p>
          <a:p>
            <a:pPr lvl="1"/>
            <a:r>
              <a:rPr lang="zh-CN" altLang="en-US" dirty="0"/>
              <a:t>最早完成时间 </a:t>
            </a:r>
            <a:r>
              <a:rPr lang="en-US" altLang="zh-CN" dirty="0"/>
              <a:t>EF - Earliest Finish Time</a:t>
            </a:r>
            <a:endParaRPr lang="zh-CN" altLang="en-US" dirty="0"/>
          </a:p>
          <a:p>
            <a:pPr lvl="1"/>
            <a:r>
              <a:rPr lang="zh-CN" altLang="en-US" dirty="0"/>
              <a:t>最迟完成时间 </a:t>
            </a:r>
            <a:r>
              <a:rPr lang="en-US" altLang="zh-CN" dirty="0"/>
              <a:t>LF - Latest Finish Time</a:t>
            </a:r>
            <a:endParaRPr lang="zh-CN" altLang="en-US" dirty="0"/>
          </a:p>
          <a:p>
            <a:pPr lvl="1"/>
            <a:r>
              <a:rPr lang="zh-CN" altLang="en-US" dirty="0"/>
              <a:t>浮动时间 </a:t>
            </a:r>
            <a:r>
              <a:rPr lang="en-US" altLang="zh-CN" dirty="0"/>
              <a:t>Total Float</a:t>
            </a:r>
            <a:r>
              <a:rPr lang="zh-CN" altLang="en-US" dirty="0"/>
              <a:t>：</a:t>
            </a:r>
            <a:r>
              <a:rPr lang="en-US" altLang="zh-CN" dirty="0"/>
              <a:t>TF = LS – ES = LF - EF</a:t>
            </a:r>
            <a:endParaRPr lang="zh-CN" altLang="en-US" dirty="0"/>
          </a:p>
          <a:p>
            <a:r>
              <a:rPr lang="zh-CN" altLang="en-US" dirty="0"/>
              <a:t>关键任务：</a:t>
            </a:r>
            <a:endParaRPr lang="en-US" altLang="zh-CN" dirty="0"/>
          </a:p>
          <a:p>
            <a:pPr lvl="1"/>
            <a:r>
              <a:rPr lang="zh-CN" altLang="en-US" dirty="0"/>
              <a:t>浮动时间为 </a:t>
            </a:r>
            <a:r>
              <a:rPr lang="en-US" altLang="zh-CN" dirty="0"/>
              <a:t>0 </a:t>
            </a:r>
            <a:r>
              <a:rPr lang="zh-CN" altLang="en-US" dirty="0"/>
              <a:t>的任务</a:t>
            </a:r>
            <a:endParaRPr lang="en-US" altLang="zh-CN" dirty="0"/>
          </a:p>
          <a:p>
            <a:r>
              <a:rPr lang="zh-CN" altLang="en-US" dirty="0"/>
              <a:t>关键路径：</a:t>
            </a:r>
            <a:endParaRPr lang="en-US" altLang="zh-CN" dirty="0"/>
          </a:p>
          <a:p>
            <a:pPr lvl="1"/>
            <a:r>
              <a:rPr lang="zh-CN" altLang="en-US" dirty="0"/>
              <a:t>由关键任务形成</a:t>
            </a:r>
            <a:endParaRPr lang="en-US" altLang="zh-CN" dirty="0"/>
          </a:p>
          <a:p>
            <a:pPr lvl="1"/>
            <a:r>
              <a:rPr lang="zh-CN" altLang="en-US" dirty="0"/>
              <a:t>最长路径</a:t>
            </a:r>
            <a:endParaRPr lang="en-US" altLang="zh-CN" dirty="0"/>
          </a:p>
          <a:p>
            <a:pPr lvl="1"/>
            <a:r>
              <a:rPr lang="zh-CN" altLang="en-US" dirty="0"/>
              <a:t>最短工期</a:t>
            </a:r>
            <a:endParaRPr lang="en-US" altLang="zh-CN" dirty="0"/>
          </a:p>
          <a:p>
            <a:pPr lvl="1"/>
            <a:r>
              <a:rPr lang="zh-CN" altLang="en-US" dirty="0"/>
              <a:t>总浮动时间为 </a:t>
            </a:r>
            <a:r>
              <a:rPr lang="en-US" altLang="zh-CN" dirty="0"/>
              <a:t>0</a:t>
            </a:r>
          </a:p>
          <a:p>
            <a:pPr lvl="1"/>
            <a:r>
              <a:rPr lang="zh-CN" altLang="en-US" dirty="0"/>
              <a:t>可能不止一条</a:t>
            </a:r>
          </a:p>
        </p:txBody>
      </p:sp>
      <p:sp>
        <p:nvSpPr>
          <p:cNvPr id="18" name="文本占位符 17">
            <a:extLst>
              <a:ext uri="{FF2B5EF4-FFF2-40B4-BE49-F238E27FC236}">
                <a16:creationId xmlns:a16="http://schemas.microsoft.com/office/drawing/2014/main" id="{3182096D-7F0F-D311-5C38-6F46199FDA6D}"/>
              </a:ext>
            </a:extLst>
          </p:cNvPr>
          <p:cNvSpPr>
            <a:spLocks noGrp="1"/>
          </p:cNvSpPr>
          <p:nvPr>
            <p:ph type="body" sz="quarter" idx="10"/>
          </p:nvPr>
        </p:nvSpPr>
        <p:spPr>
          <a:xfrm>
            <a:off x="7071919" y="448519"/>
            <a:ext cx="4424080" cy="338554"/>
          </a:xfrm>
        </p:spPr>
        <p:txBody>
          <a:bodyPr/>
          <a:lstStyle/>
          <a:p>
            <a:r>
              <a:rPr lang="en-US" altLang="zh-CN" dirty="0"/>
              <a:t>CPM</a:t>
            </a:r>
            <a:endParaRPr lang="zh-CN" altLang="en-US" dirty="0"/>
          </a:p>
        </p:txBody>
      </p:sp>
      <p:graphicFrame>
        <p:nvGraphicFramePr>
          <p:cNvPr id="15" name="表格 14">
            <a:extLst>
              <a:ext uri="{FF2B5EF4-FFF2-40B4-BE49-F238E27FC236}">
                <a16:creationId xmlns:a16="http://schemas.microsoft.com/office/drawing/2014/main" id="{79DA85FC-044A-C2D6-737F-473C4C01A963}"/>
              </a:ext>
            </a:extLst>
          </p:cNvPr>
          <p:cNvGraphicFramePr>
            <a:graphicFrameLocks noGrp="1"/>
          </p:cNvGraphicFramePr>
          <p:nvPr>
            <p:extLst>
              <p:ext uri="{D42A27DB-BD31-4B8C-83A1-F6EECF244321}">
                <p14:modId xmlns:p14="http://schemas.microsoft.com/office/powerpoint/2010/main" val="3878197822"/>
              </p:ext>
            </p:extLst>
          </p:nvPr>
        </p:nvGraphicFramePr>
        <p:xfrm>
          <a:off x="7491663" y="3218023"/>
          <a:ext cx="2880000" cy="1097280"/>
        </p:xfrm>
        <a:graphic>
          <a:graphicData uri="http://schemas.openxmlformats.org/drawingml/2006/table">
            <a:tbl>
              <a:tblPr firstRow="1" bandRow="1">
                <a:tableStyleId>{2D5ABB26-0587-4C30-8999-92F81FD0307C}</a:tableStyleId>
              </a:tblPr>
              <a:tblGrid>
                <a:gridCol w="720000">
                  <a:extLst>
                    <a:ext uri="{9D8B030D-6E8A-4147-A177-3AD203B41FA5}">
                      <a16:colId xmlns:a16="http://schemas.microsoft.com/office/drawing/2014/main" val="3960536262"/>
                    </a:ext>
                  </a:extLst>
                </a:gridCol>
                <a:gridCol w="1440000">
                  <a:extLst>
                    <a:ext uri="{9D8B030D-6E8A-4147-A177-3AD203B41FA5}">
                      <a16:colId xmlns:a16="http://schemas.microsoft.com/office/drawing/2014/main" val="2140318526"/>
                    </a:ext>
                  </a:extLst>
                </a:gridCol>
                <a:gridCol w="720000">
                  <a:extLst>
                    <a:ext uri="{9D8B030D-6E8A-4147-A177-3AD203B41FA5}">
                      <a16:colId xmlns:a16="http://schemas.microsoft.com/office/drawing/2014/main" val="3000295592"/>
                    </a:ext>
                  </a:extLst>
                </a:gridCol>
              </a:tblGrid>
              <a:tr h="365760">
                <a:tc>
                  <a:txBody>
                    <a:bodyPr/>
                    <a:lstStyle/>
                    <a:p>
                      <a:pPr algn="ctr"/>
                      <a:r>
                        <a:rPr lang="en-US" altLang="zh-CN" sz="1600" dirty="0">
                          <a:solidFill>
                            <a:schemeClr val="tx1"/>
                          </a:solidFill>
                        </a:rPr>
                        <a:t>ES</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solidFill>
                            <a:schemeClr val="tx1"/>
                          </a:solidFill>
                        </a:rPr>
                        <a:t>Duration</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solidFill>
                            <a:schemeClr val="tx1"/>
                          </a:solidFill>
                        </a:rPr>
                        <a:t>EF</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solidFill>
                            <a:schemeClr val="tx1"/>
                          </a:solidFill>
                        </a:rPr>
                        <a:t>Event</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r>
                        <a:rPr lang="en-US" altLang="zh-CN" sz="1600" dirty="0">
                          <a:solidFill>
                            <a:schemeClr val="tx1"/>
                          </a:solidFill>
                        </a:rPr>
                        <a:t>LS</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solidFill>
                            <a:schemeClr val="tx1"/>
                          </a:solidFill>
                        </a:rPr>
                        <a:t>Total Float</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solidFill>
                            <a:schemeClr val="tx1"/>
                          </a:solidFill>
                        </a:rPr>
                        <a:t>LF</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spTree>
    <p:extLst>
      <p:ext uri="{BB962C8B-B14F-4D97-AF65-F5344CB8AC3E}">
        <p14:creationId xmlns:p14="http://schemas.microsoft.com/office/powerpoint/2010/main" val="320314154"/>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椭圆 1">
            <a:extLst>
              <a:ext uri="{FF2B5EF4-FFF2-40B4-BE49-F238E27FC236}">
                <a16:creationId xmlns:a16="http://schemas.microsoft.com/office/drawing/2014/main" id="{77422BC0-F134-2608-9977-C3735C3DC43C}"/>
              </a:ext>
            </a:extLst>
          </p:cNvPr>
          <p:cNvSpPr/>
          <p:nvPr/>
        </p:nvSpPr>
        <p:spPr>
          <a:xfrm>
            <a:off x="2593762" y="1678192"/>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1</a:t>
            </a:r>
            <a:endParaRPr lang="zh-CN" altLang="en-US" sz="1600" dirty="0">
              <a:solidFill>
                <a:schemeClr val="tx1"/>
              </a:solidFill>
            </a:endParaRPr>
          </a:p>
        </p:txBody>
      </p:sp>
      <p:sp>
        <p:nvSpPr>
          <p:cNvPr id="3" name="椭圆 2">
            <a:extLst>
              <a:ext uri="{FF2B5EF4-FFF2-40B4-BE49-F238E27FC236}">
                <a16:creationId xmlns:a16="http://schemas.microsoft.com/office/drawing/2014/main" id="{5AACD342-F51B-B8FC-C3D0-153D84B66F3D}"/>
              </a:ext>
            </a:extLst>
          </p:cNvPr>
          <p:cNvSpPr/>
          <p:nvPr/>
        </p:nvSpPr>
        <p:spPr>
          <a:xfrm>
            <a:off x="4123253" y="1678192"/>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2</a:t>
            </a:r>
            <a:endParaRPr lang="zh-CN" altLang="en-US" sz="1600" dirty="0">
              <a:solidFill>
                <a:schemeClr val="tx1"/>
              </a:solidFill>
            </a:endParaRPr>
          </a:p>
        </p:txBody>
      </p:sp>
      <p:sp>
        <p:nvSpPr>
          <p:cNvPr id="4" name="椭圆 3">
            <a:extLst>
              <a:ext uri="{FF2B5EF4-FFF2-40B4-BE49-F238E27FC236}">
                <a16:creationId xmlns:a16="http://schemas.microsoft.com/office/drawing/2014/main" id="{2222DF33-FA32-8A79-A519-5B9A07CABA73}"/>
              </a:ext>
            </a:extLst>
          </p:cNvPr>
          <p:cNvSpPr/>
          <p:nvPr/>
        </p:nvSpPr>
        <p:spPr>
          <a:xfrm>
            <a:off x="5652744" y="1678192"/>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3</a:t>
            </a:r>
            <a:endParaRPr lang="zh-CN" altLang="en-US" sz="1600" dirty="0">
              <a:solidFill>
                <a:schemeClr val="tx1"/>
              </a:solidFill>
            </a:endParaRPr>
          </a:p>
        </p:txBody>
      </p:sp>
      <p:sp>
        <p:nvSpPr>
          <p:cNvPr id="5" name="椭圆 4">
            <a:extLst>
              <a:ext uri="{FF2B5EF4-FFF2-40B4-BE49-F238E27FC236}">
                <a16:creationId xmlns:a16="http://schemas.microsoft.com/office/drawing/2014/main" id="{927E5DE6-3219-151A-C82C-AEF8C196BE83}"/>
              </a:ext>
            </a:extLst>
          </p:cNvPr>
          <p:cNvSpPr/>
          <p:nvPr/>
        </p:nvSpPr>
        <p:spPr>
          <a:xfrm>
            <a:off x="8711728" y="1678192"/>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6</a:t>
            </a:r>
            <a:endParaRPr lang="zh-CN" altLang="en-US" sz="1600" dirty="0">
              <a:solidFill>
                <a:schemeClr val="tx1"/>
              </a:solidFill>
            </a:endParaRPr>
          </a:p>
        </p:txBody>
      </p:sp>
      <p:cxnSp>
        <p:nvCxnSpPr>
          <p:cNvPr id="6" name="直接箭头连接符 5">
            <a:extLst>
              <a:ext uri="{FF2B5EF4-FFF2-40B4-BE49-F238E27FC236}">
                <a16:creationId xmlns:a16="http://schemas.microsoft.com/office/drawing/2014/main" id="{8DB948D3-3669-11DB-3AF5-A6416207640B}"/>
              </a:ext>
            </a:extLst>
          </p:cNvPr>
          <p:cNvCxnSpPr>
            <a:stCxn id="2" idx="6"/>
            <a:endCxn id="3" idx="2"/>
          </p:cNvCxnSpPr>
          <p:nvPr/>
        </p:nvCxnSpPr>
        <p:spPr>
          <a:xfrm>
            <a:off x="3133762" y="1948192"/>
            <a:ext cx="98949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038FFF5C-E3CE-21E2-4978-F3BB0FDC16E3}"/>
              </a:ext>
            </a:extLst>
          </p:cNvPr>
          <p:cNvCxnSpPr>
            <a:stCxn id="3" idx="6"/>
            <a:endCxn id="4" idx="2"/>
          </p:cNvCxnSpPr>
          <p:nvPr/>
        </p:nvCxnSpPr>
        <p:spPr>
          <a:xfrm>
            <a:off x="4663253" y="1948192"/>
            <a:ext cx="98949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112062FA-A6A1-4368-6B3A-47AB77155763}"/>
              </a:ext>
            </a:extLst>
          </p:cNvPr>
          <p:cNvCxnSpPr>
            <a:cxnSpLocks/>
            <a:stCxn id="4" idx="7"/>
            <a:endCxn id="15" idx="3"/>
          </p:cNvCxnSpPr>
          <p:nvPr/>
        </p:nvCxnSpPr>
        <p:spPr>
          <a:xfrm flipV="1">
            <a:off x="6113663" y="1298022"/>
            <a:ext cx="1147653" cy="45925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332394B8-5936-CC3A-011C-98F33DD9849E}"/>
              </a:ext>
            </a:extLst>
          </p:cNvPr>
          <p:cNvSpPr txBox="1"/>
          <p:nvPr/>
        </p:nvSpPr>
        <p:spPr>
          <a:xfrm>
            <a:off x="8006198" y="1189093"/>
            <a:ext cx="514885" cy="338554"/>
          </a:xfrm>
          <a:prstGeom prst="rect">
            <a:avLst/>
          </a:prstGeom>
          <a:noFill/>
          <a:ln>
            <a:noFill/>
          </a:ln>
        </p:spPr>
        <p:txBody>
          <a:bodyPr wrap="none" rtlCol="0">
            <a:spAutoFit/>
          </a:bodyPr>
          <a:lstStyle/>
          <a:p>
            <a:pPr algn="ctr"/>
            <a:r>
              <a:rPr lang="en-US" altLang="zh-CN" sz="1600" dirty="0"/>
              <a:t>E=1</a:t>
            </a:r>
            <a:endParaRPr lang="zh-CN" altLang="en-US" sz="1600" dirty="0"/>
          </a:p>
        </p:txBody>
      </p:sp>
      <p:sp>
        <p:nvSpPr>
          <p:cNvPr id="12" name="文本框 11">
            <a:extLst>
              <a:ext uri="{FF2B5EF4-FFF2-40B4-BE49-F238E27FC236}">
                <a16:creationId xmlns:a16="http://schemas.microsoft.com/office/drawing/2014/main" id="{ED75839B-D956-49B7-36BF-180FE1EA3965}"/>
              </a:ext>
            </a:extLst>
          </p:cNvPr>
          <p:cNvSpPr txBox="1"/>
          <p:nvPr/>
        </p:nvSpPr>
        <p:spPr>
          <a:xfrm>
            <a:off x="3344615" y="2019842"/>
            <a:ext cx="567784" cy="338554"/>
          </a:xfrm>
          <a:prstGeom prst="rect">
            <a:avLst/>
          </a:prstGeom>
          <a:noFill/>
          <a:ln>
            <a:noFill/>
          </a:ln>
        </p:spPr>
        <p:txBody>
          <a:bodyPr wrap="none" rtlCol="0">
            <a:spAutoFit/>
          </a:bodyPr>
          <a:lstStyle/>
          <a:p>
            <a:pPr algn="ctr"/>
            <a:r>
              <a:rPr lang="en-US" altLang="zh-CN" sz="1600" dirty="0"/>
              <a:t>A=2</a:t>
            </a:r>
            <a:endParaRPr lang="zh-CN" altLang="en-US" sz="1600" dirty="0"/>
          </a:p>
        </p:txBody>
      </p:sp>
      <p:sp>
        <p:nvSpPr>
          <p:cNvPr id="13" name="文本框 12">
            <a:extLst>
              <a:ext uri="{FF2B5EF4-FFF2-40B4-BE49-F238E27FC236}">
                <a16:creationId xmlns:a16="http://schemas.microsoft.com/office/drawing/2014/main" id="{61B97428-B719-E032-631A-5520D5DD42DB}"/>
              </a:ext>
            </a:extLst>
          </p:cNvPr>
          <p:cNvSpPr txBox="1"/>
          <p:nvPr/>
        </p:nvSpPr>
        <p:spPr>
          <a:xfrm>
            <a:off x="4870901" y="2019842"/>
            <a:ext cx="574196" cy="338554"/>
          </a:xfrm>
          <a:prstGeom prst="rect">
            <a:avLst/>
          </a:prstGeom>
          <a:noFill/>
          <a:ln>
            <a:noFill/>
          </a:ln>
        </p:spPr>
        <p:txBody>
          <a:bodyPr wrap="none" rtlCol="0">
            <a:spAutoFit/>
          </a:bodyPr>
          <a:lstStyle/>
          <a:p>
            <a:pPr algn="ctr"/>
            <a:r>
              <a:rPr lang="en-US" altLang="zh-CN" sz="1600" dirty="0"/>
              <a:t>B=5</a:t>
            </a:r>
            <a:endParaRPr lang="zh-CN" altLang="en-US" sz="1600" dirty="0"/>
          </a:p>
        </p:txBody>
      </p:sp>
      <p:sp>
        <p:nvSpPr>
          <p:cNvPr id="14" name="文本框 13">
            <a:extLst>
              <a:ext uri="{FF2B5EF4-FFF2-40B4-BE49-F238E27FC236}">
                <a16:creationId xmlns:a16="http://schemas.microsoft.com/office/drawing/2014/main" id="{5D9E60B3-4051-E1D6-5995-1F451ED58E63}"/>
              </a:ext>
            </a:extLst>
          </p:cNvPr>
          <p:cNvSpPr txBox="1"/>
          <p:nvPr/>
        </p:nvSpPr>
        <p:spPr>
          <a:xfrm>
            <a:off x="7988564" y="2450726"/>
            <a:ext cx="550152" cy="338554"/>
          </a:xfrm>
          <a:prstGeom prst="rect">
            <a:avLst/>
          </a:prstGeom>
          <a:noFill/>
          <a:ln>
            <a:noFill/>
          </a:ln>
        </p:spPr>
        <p:txBody>
          <a:bodyPr wrap="none" rtlCol="0">
            <a:spAutoFit/>
          </a:bodyPr>
          <a:lstStyle/>
          <a:p>
            <a:pPr algn="ctr"/>
            <a:r>
              <a:rPr lang="en-US" altLang="zh-CN" sz="1600" dirty="0"/>
              <a:t>F=2</a:t>
            </a:r>
            <a:endParaRPr lang="zh-CN" altLang="en-US" sz="1600" dirty="0"/>
          </a:p>
        </p:txBody>
      </p:sp>
      <p:sp>
        <p:nvSpPr>
          <p:cNvPr id="15" name="椭圆 14">
            <a:extLst>
              <a:ext uri="{FF2B5EF4-FFF2-40B4-BE49-F238E27FC236}">
                <a16:creationId xmlns:a16="http://schemas.microsoft.com/office/drawing/2014/main" id="{D9BD04A9-0D66-93E1-64BF-7D354B2C9E4F}"/>
              </a:ext>
            </a:extLst>
          </p:cNvPr>
          <p:cNvSpPr/>
          <p:nvPr/>
        </p:nvSpPr>
        <p:spPr>
          <a:xfrm>
            <a:off x="7182235" y="837103"/>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4</a:t>
            </a:r>
            <a:endParaRPr lang="zh-CN" altLang="en-US" sz="1600" dirty="0">
              <a:solidFill>
                <a:schemeClr val="tx1"/>
              </a:solidFill>
            </a:endParaRPr>
          </a:p>
        </p:txBody>
      </p:sp>
      <p:sp>
        <p:nvSpPr>
          <p:cNvPr id="16" name="椭圆 15">
            <a:extLst>
              <a:ext uri="{FF2B5EF4-FFF2-40B4-BE49-F238E27FC236}">
                <a16:creationId xmlns:a16="http://schemas.microsoft.com/office/drawing/2014/main" id="{D14ACCC3-0907-C9A4-4521-BEBCBC23C876}"/>
              </a:ext>
            </a:extLst>
          </p:cNvPr>
          <p:cNvSpPr/>
          <p:nvPr/>
        </p:nvSpPr>
        <p:spPr>
          <a:xfrm>
            <a:off x="7182235" y="2519280"/>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5</a:t>
            </a:r>
            <a:endParaRPr lang="zh-CN" altLang="en-US" sz="1600" dirty="0">
              <a:solidFill>
                <a:schemeClr val="tx1"/>
              </a:solidFill>
            </a:endParaRPr>
          </a:p>
        </p:txBody>
      </p:sp>
      <p:cxnSp>
        <p:nvCxnSpPr>
          <p:cNvPr id="20" name="直接箭头连接符 19">
            <a:extLst>
              <a:ext uri="{FF2B5EF4-FFF2-40B4-BE49-F238E27FC236}">
                <a16:creationId xmlns:a16="http://schemas.microsoft.com/office/drawing/2014/main" id="{343CF62E-F69A-241B-DA4A-73A36244F855}"/>
              </a:ext>
            </a:extLst>
          </p:cNvPr>
          <p:cNvCxnSpPr>
            <a:stCxn id="4" idx="5"/>
            <a:endCxn id="16" idx="1"/>
          </p:cNvCxnSpPr>
          <p:nvPr/>
        </p:nvCxnSpPr>
        <p:spPr>
          <a:xfrm>
            <a:off x="6113663" y="2139111"/>
            <a:ext cx="1147653" cy="4592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299FA1CF-AA58-1A6B-15E1-0FBF3DD7BE42}"/>
              </a:ext>
            </a:extLst>
          </p:cNvPr>
          <p:cNvCxnSpPr>
            <a:stCxn id="15" idx="5"/>
            <a:endCxn id="5" idx="1"/>
          </p:cNvCxnSpPr>
          <p:nvPr/>
        </p:nvCxnSpPr>
        <p:spPr>
          <a:xfrm>
            <a:off x="7643154" y="1298022"/>
            <a:ext cx="1147655" cy="45925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74EFD654-2E73-F614-4C35-5231AC9F6CAC}"/>
              </a:ext>
            </a:extLst>
          </p:cNvPr>
          <p:cNvCxnSpPr>
            <a:stCxn id="16" idx="7"/>
            <a:endCxn id="5" idx="3"/>
          </p:cNvCxnSpPr>
          <p:nvPr/>
        </p:nvCxnSpPr>
        <p:spPr>
          <a:xfrm flipV="1">
            <a:off x="7643154" y="2139111"/>
            <a:ext cx="1147655" cy="4592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4AC23B58-A424-779F-511A-EAEF0B488DA6}"/>
              </a:ext>
            </a:extLst>
          </p:cNvPr>
          <p:cNvSpPr txBox="1"/>
          <p:nvPr/>
        </p:nvSpPr>
        <p:spPr>
          <a:xfrm>
            <a:off x="6363560" y="1189093"/>
            <a:ext cx="567784" cy="338554"/>
          </a:xfrm>
          <a:prstGeom prst="rect">
            <a:avLst/>
          </a:prstGeom>
          <a:noFill/>
          <a:ln>
            <a:noFill/>
          </a:ln>
        </p:spPr>
        <p:txBody>
          <a:bodyPr wrap="none" rtlCol="0">
            <a:spAutoFit/>
          </a:bodyPr>
          <a:lstStyle/>
          <a:p>
            <a:pPr algn="ctr"/>
            <a:r>
              <a:rPr lang="en-US" altLang="zh-CN" sz="1600" dirty="0"/>
              <a:t>C=2</a:t>
            </a:r>
            <a:endParaRPr lang="zh-CN" altLang="en-US" sz="1600" dirty="0"/>
          </a:p>
        </p:txBody>
      </p:sp>
      <p:sp>
        <p:nvSpPr>
          <p:cNvPr id="27" name="文本框 26">
            <a:extLst>
              <a:ext uri="{FF2B5EF4-FFF2-40B4-BE49-F238E27FC236}">
                <a16:creationId xmlns:a16="http://schemas.microsoft.com/office/drawing/2014/main" id="{17A2A4A3-2D87-E620-F174-0DA97815B27B}"/>
              </a:ext>
            </a:extLst>
          </p:cNvPr>
          <p:cNvSpPr txBox="1"/>
          <p:nvPr/>
        </p:nvSpPr>
        <p:spPr>
          <a:xfrm>
            <a:off x="6352339" y="2450726"/>
            <a:ext cx="590226" cy="338554"/>
          </a:xfrm>
          <a:prstGeom prst="rect">
            <a:avLst/>
          </a:prstGeom>
          <a:noFill/>
          <a:ln>
            <a:noFill/>
          </a:ln>
        </p:spPr>
        <p:txBody>
          <a:bodyPr wrap="none" rtlCol="0">
            <a:spAutoFit/>
          </a:bodyPr>
          <a:lstStyle/>
          <a:p>
            <a:pPr algn="ctr"/>
            <a:r>
              <a:rPr lang="en-US" altLang="zh-CN" sz="1600" dirty="0"/>
              <a:t>D=7</a:t>
            </a:r>
            <a:endParaRPr lang="zh-CN" altLang="en-US" sz="1600" dirty="0"/>
          </a:p>
        </p:txBody>
      </p:sp>
      <p:graphicFrame>
        <p:nvGraphicFramePr>
          <p:cNvPr id="30" name="表格 29">
            <a:extLst>
              <a:ext uri="{FF2B5EF4-FFF2-40B4-BE49-F238E27FC236}">
                <a16:creationId xmlns:a16="http://schemas.microsoft.com/office/drawing/2014/main" id="{A7173E23-8D0A-804E-8237-1A38C04D737E}"/>
              </a:ext>
            </a:extLst>
          </p:cNvPr>
          <p:cNvGraphicFramePr>
            <a:graphicFrameLocks noGrp="1"/>
          </p:cNvGraphicFramePr>
          <p:nvPr>
            <p:extLst>
              <p:ext uri="{D42A27DB-BD31-4B8C-83A1-F6EECF244321}">
                <p14:modId xmlns:p14="http://schemas.microsoft.com/office/powerpoint/2010/main" val="2612024109"/>
              </p:ext>
            </p:extLst>
          </p:nvPr>
        </p:nvGraphicFramePr>
        <p:xfrm>
          <a:off x="2856000" y="3821287"/>
          <a:ext cx="6480000" cy="1112520"/>
        </p:xfrm>
        <a:graphic>
          <a:graphicData uri="http://schemas.openxmlformats.org/drawingml/2006/table">
            <a:tbl>
              <a:tblPr firstRow="1" bandRow="1">
                <a:tableStyleId>{5C22544A-7EE6-4342-B048-85BDC9FD1C3A}</a:tableStyleId>
              </a:tblPr>
              <a:tblGrid>
                <a:gridCol w="1080000">
                  <a:extLst>
                    <a:ext uri="{9D8B030D-6E8A-4147-A177-3AD203B41FA5}">
                      <a16:colId xmlns:a16="http://schemas.microsoft.com/office/drawing/2014/main" val="3673123587"/>
                    </a:ext>
                  </a:extLst>
                </a:gridCol>
                <a:gridCol w="2880000">
                  <a:extLst>
                    <a:ext uri="{9D8B030D-6E8A-4147-A177-3AD203B41FA5}">
                      <a16:colId xmlns:a16="http://schemas.microsoft.com/office/drawing/2014/main" val="1933922423"/>
                    </a:ext>
                  </a:extLst>
                </a:gridCol>
                <a:gridCol w="1080000">
                  <a:extLst>
                    <a:ext uri="{9D8B030D-6E8A-4147-A177-3AD203B41FA5}">
                      <a16:colId xmlns:a16="http://schemas.microsoft.com/office/drawing/2014/main" val="3143705094"/>
                    </a:ext>
                  </a:extLst>
                </a:gridCol>
                <a:gridCol w="1440000">
                  <a:extLst>
                    <a:ext uri="{9D8B030D-6E8A-4147-A177-3AD203B41FA5}">
                      <a16:colId xmlns:a16="http://schemas.microsoft.com/office/drawing/2014/main" val="4200321370"/>
                    </a:ext>
                  </a:extLst>
                </a:gridCol>
              </a:tblGrid>
              <a:tr h="370840">
                <a:tc>
                  <a:txBody>
                    <a:bodyPr/>
                    <a:lstStyle/>
                    <a:p>
                      <a:pPr algn="r"/>
                      <a:endParaRPr lang="zh-CN" altLang="en-US" sz="1800" b="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zh-CN" altLang="en-US" sz="1800" b="0" dirty="0">
                          <a:solidFill>
                            <a:sysClr val="windowText" lastClr="000000"/>
                          </a:solidFill>
                        </a:rPr>
                        <a:t>路径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zh-CN" altLang="en-US" sz="1800" b="0" dirty="0">
                          <a:solidFill>
                            <a:sysClr val="windowText" lastClr="000000"/>
                          </a:solidFill>
                        </a:rPr>
                        <a:t>长度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800" b="0" dirty="0">
                          <a:solidFill>
                            <a:sysClr val="windowText" lastClr="000000"/>
                          </a:solidFill>
                        </a:rPr>
                        <a:t>关键路径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2041459"/>
                  </a:ext>
                </a:extLst>
              </a:tr>
              <a:tr h="370840">
                <a:tc>
                  <a:txBody>
                    <a:bodyPr/>
                    <a:lstStyle/>
                    <a:p>
                      <a:pPr algn="r"/>
                      <a:r>
                        <a:rPr lang="zh-CN" altLang="en-US" sz="1800" b="0" dirty="0">
                          <a:solidFill>
                            <a:sysClr val="windowText" lastClr="000000"/>
                          </a:solidFill>
                        </a:rPr>
                        <a:t>路径</a:t>
                      </a:r>
                      <a:r>
                        <a:rPr lang="en-US" altLang="zh-CN" sz="1800" b="0" dirty="0">
                          <a:solidFill>
                            <a:sysClr val="windowText" lastClr="000000"/>
                          </a:solidFill>
                        </a:rPr>
                        <a:t>1</a:t>
                      </a:r>
                      <a:endParaRPr lang="zh-CN" altLang="en-US" sz="1800" b="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800" b="0" dirty="0">
                          <a:solidFill>
                            <a:sysClr val="windowText" lastClr="000000"/>
                          </a:solidFill>
                        </a:rPr>
                        <a:t>1 </a:t>
                      </a:r>
                      <a:r>
                        <a:rPr lang="zh-CN" altLang="en-US" sz="1800" b="0" dirty="0">
                          <a:solidFill>
                            <a:sysClr val="windowText" lastClr="000000"/>
                          </a:solidFill>
                        </a:rPr>
                        <a:t>→ </a:t>
                      </a:r>
                      <a:r>
                        <a:rPr lang="en-US" altLang="zh-CN" sz="1800" b="0" dirty="0">
                          <a:solidFill>
                            <a:sysClr val="windowText" lastClr="000000"/>
                          </a:solidFill>
                        </a:rPr>
                        <a:t>2 </a:t>
                      </a:r>
                      <a:r>
                        <a:rPr lang="zh-CN" altLang="en-US" sz="1800" b="0" dirty="0">
                          <a:solidFill>
                            <a:sysClr val="windowText" lastClr="000000"/>
                          </a:solidFill>
                        </a:rPr>
                        <a:t>→ </a:t>
                      </a:r>
                      <a:r>
                        <a:rPr lang="en-US" altLang="zh-CN" sz="1800" b="0" dirty="0">
                          <a:solidFill>
                            <a:sysClr val="windowText" lastClr="000000"/>
                          </a:solidFill>
                        </a:rPr>
                        <a:t>3 </a:t>
                      </a:r>
                      <a:r>
                        <a:rPr lang="zh-CN" altLang="en-US" sz="1800" b="0" dirty="0">
                          <a:solidFill>
                            <a:sysClr val="windowText" lastClr="000000"/>
                          </a:solidFill>
                        </a:rPr>
                        <a:t>→ </a:t>
                      </a:r>
                      <a:r>
                        <a:rPr lang="en-US" altLang="zh-CN" sz="1800" b="0" dirty="0">
                          <a:solidFill>
                            <a:sysClr val="windowText" lastClr="000000"/>
                          </a:solidFill>
                        </a:rPr>
                        <a:t>4 </a:t>
                      </a:r>
                      <a:r>
                        <a:rPr lang="zh-CN" altLang="en-US" sz="1800" b="0" dirty="0">
                          <a:solidFill>
                            <a:sysClr val="windowText" lastClr="000000"/>
                          </a:solidFill>
                        </a:rPr>
                        <a:t>→ </a:t>
                      </a:r>
                      <a:r>
                        <a:rPr lang="en-US" altLang="zh-CN" sz="1800" b="0" dirty="0">
                          <a:solidFill>
                            <a:sysClr val="windowText" lastClr="000000"/>
                          </a:solidFill>
                        </a:rPr>
                        <a:t>6</a:t>
                      </a:r>
                      <a:endParaRPr lang="zh-CN" altLang="en-US" sz="1800" b="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800" b="0" dirty="0">
                          <a:solidFill>
                            <a:sysClr val="windowText" lastClr="000000"/>
                          </a:solidFill>
                        </a:rPr>
                        <a:t>10</a:t>
                      </a:r>
                      <a:endParaRPr lang="zh-CN" altLang="en-US" sz="1800" b="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800" b="0" dirty="0">
                          <a:solidFill>
                            <a:sysClr val="windowText" lastClr="000000"/>
                          </a:solidFill>
                        </a:rPr>
                        <a:t>×</a:t>
                      </a:r>
                      <a:endParaRPr lang="zh-CN" altLang="en-US" sz="1800" b="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7707999"/>
                  </a:ext>
                </a:extLst>
              </a:tr>
              <a:tr h="370840">
                <a:tc>
                  <a:txBody>
                    <a:bodyPr/>
                    <a:lstStyle/>
                    <a:p>
                      <a:pPr algn="r"/>
                      <a:r>
                        <a:rPr lang="zh-CN" altLang="en-US" sz="1800" b="0" dirty="0">
                          <a:solidFill>
                            <a:sysClr val="windowText" lastClr="000000"/>
                          </a:solidFill>
                        </a:rPr>
                        <a:t>路径</a:t>
                      </a:r>
                      <a:r>
                        <a:rPr lang="en-US" altLang="zh-CN" sz="1800" b="0" dirty="0">
                          <a:solidFill>
                            <a:sysClr val="windowText" lastClr="000000"/>
                          </a:solidFill>
                        </a:rPr>
                        <a:t>2</a:t>
                      </a:r>
                      <a:endParaRPr lang="zh-CN" altLang="en-US" sz="1800" b="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800" b="0" dirty="0">
                          <a:solidFill>
                            <a:sysClr val="windowText" lastClr="000000"/>
                          </a:solidFill>
                        </a:rPr>
                        <a:t>1 </a:t>
                      </a:r>
                      <a:r>
                        <a:rPr lang="zh-CN" altLang="en-US" sz="1800" b="0" dirty="0">
                          <a:solidFill>
                            <a:sysClr val="windowText" lastClr="000000"/>
                          </a:solidFill>
                        </a:rPr>
                        <a:t>→ </a:t>
                      </a:r>
                      <a:r>
                        <a:rPr lang="en-US" altLang="zh-CN" sz="1800" b="0" dirty="0">
                          <a:solidFill>
                            <a:sysClr val="windowText" lastClr="000000"/>
                          </a:solidFill>
                        </a:rPr>
                        <a:t>2 </a:t>
                      </a:r>
                      <a:r>
                        <a:rPr lang="zh-CN" altLang="en-US" sz="1800" b="0" dirty="0">
                          <a:solidFill>
                            <a:sysClr val="windowText" lastClr="000000"/>
                          </a:solidFill>
                        </a:rPr>
                        <a:t>→ </a:t>
                      </a:r>
                      <a:r>
                        <a:rPr lang="en-US" altLang="zh-CN" sz="1800" b="0" dirty="0">
                          <a:solidFill>
                            <a:sysClr val="windowText" lastClr="000000"/>
                          </a:solidFill>
                        </a:rPr>
                        <a:t>3 </a:t>
                      </a:r>
                      <a:r>
                        <a:rPr lang="zh-CN" altLang="en-US" sz="1800" b="0" dirty="0">
                          <a:solidFill>
                            <a:sysClr val="windowText" lastClr="000000"/>
                          </a:solidFill>
                        </a:rPr>
                        <a:t>→ </a:t>
                      </a:r>
                      <a:r>
                        <a:rPr lang="en-US" altLang="zh-CN" sz="1800" b="0" dirty="0">
                          <a:solidFill>
                            <a:sysClr val="windowText" lastClr="000000"/>
                          </a:solidFill>
                        </a:rPr>
                        <a:t>5 </a:t>
                      </a:r>
                      <a:r>
                        <a:rPr lang="zh-CN" altLang="en-US" sz="1800" b="0" dirty="0">
                          <a:solidFill>
                            <a:sysClr val="windowText" lastClr="000000"/>
                          </a:solidFill>
                        </a:rPr>
                        <a:t>→ </a:t>
                      </a:r>
                      <a:r>
                        <a:rPr lang="en-US" altLang="zh-CN" sz="1800" b="0" dirty="0">
                          <a:solidFill>
                            <a:sysClr val="windowText" lastClr="000000"/>
                          </a:solidFill>
                        </a:rPr>
                        <a:t>6</a:t>
                      </a:r>
                      <a:endParaRPr lang="zh-CN" altLang="en-US" sz="1800" b="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800" b="0" dirty="0">
                          <a:solidFill>
                            <a:sysClr val="windowText" lastClr="000000"/>
                          </a:solidFill>
                        </a:rPr>
                        <a:t>16</a:t>
                      </a:r>
                      <a:endParaRPr lang="zh-CN" altLang="en-US" sz="1800" b="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800" b="0" dirty="0">
                          <a:solidFill>
                            <a:sysClr val="windowText" lastClr="000000"/>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47604091"/>
                  </a:ext>
                </a:extLst>
              </a:tr>
            </a:tbl>
          </a:graphicData>
        </a:graphic>
      </p:graphicFrame>
      <p:sp>
        <p:nvSpPr>
          <p:cNvPr id="31" name="文本框 30">
            <a:extLst>
              <a:ext uri="{FF2B5EF4-FFF2-40B4-BE49-F238E27FC236}">
                <a16:creationId xmlns:a16="http://schemas.microsoft.com/office/drawing/2014/main" id="{5883F8DA-E4BB-939C-1401-C995CBD10896}"/>
              </a:ext>
            </a:extLst>
          </p:cNvPr>
          <p:cNvSpPr txBox="1"/>
          <p:nvPr/>
        </p:nvSpPr>
        <p:spPr>
          <a:xfrm>
            <a:off x="173254" y="6054290"/>
            <a:ext cx="2031325" cy="338554"/>
          </a:xfrm>
          <a:prstGeom prst="rect">
            <a:avLst/>
          </a:prstGeom>
          <a:noFill/>
        </p:spPr>
        <p:txBody>
          <a:bodyPr wrap="none" rtlCol="0">
            <a:spAutoFit/>
          </a:bodyPr>
          <a:lstStyle/>
          <a:p>
            <a:r>
              <a:rPr lang="zh-CN" altLang="en-US" sz="1600" dirty="0"/>
              <a:t>最长路径；最短工期</a:t>
            </a:r>
          </a:p>
        </p:txBody>
      </p:sp>
    </p:spTree>
    <p:extLst>
      <p:ext uri="{BB962C8B-B14F-4D97-AF65-F5344CB8AC3E}">
        <p14:creationId xmlns:p14="http://schemas.microsoft.com/office/powerpoint/2010/main" val="4278993222"/>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CD6A6-3EDB-8A56-84A6-1D3A04043D9C}"/>
            </a:ext>
          </a:extLst>
        </p:cNvPr>
        <p:cNvGrpSpPr/>
        <p:nvPr/>
      </p:nvGrpSpPr>
      <p:grpSpPr>
        <a:xfrm>
          <a:off x="0" y="0"/>
          <a:ext cx="0" cy="0"/>
          <a:chOff x="0" y="0"/>
          <a:chExt cx="0" cy="0"/>
        </a:xfrm>
      </p:grpSpPr>
      <p:graphicFrame>
        <p:nvGraphicFramePr>
          <p:cNvPr id="115" name="表格 114">
            <a:extLst>
              <a:ext uri="{FF2B5EF4-FFF2-40B4-BE49-F238E27FC236}">
                <a16:creationId xmlns:a16="http://schemas.microsoft.com/office/drawing/2014/main" id="{315AF7D3-66A7-56D2-2C1C-56203C4D6E3A}"/>
              </a:ext>
            </a:extLst>
          </p:cNvPr>
          <p:cNvGraphicFramePr>
            <a:graphicFrameLocks noGrp="1"/>
          </p:cNvGraphicFramePr>
          <p:nvPr>
            <p:extLst>
              <p:ext uri="{D42A27DB-BD31-4B8C-83A1-F6EECF244321}">
                <p14:modId xmlns:p14="http://schemas.microsoft.com/office/powerpoint/2010/main" val="2881938688"/>
              </p:ext>
            </p:extLst>
          </p:nvPr>
        </p:nvGraphicFramePr>
        <p:xfrm>
          <a:off x="1891778" y="1851537"/>
          <a:ext cx="864000" cy="648000"/>
        </p:xfrm>
        <a:graphic>
          <a:graphicData uri="http://schemas.openxmlformats.org/drawingml/2006/table">
            <a:tbl>
              <a:tblPr firstRow="1" bandRow="1">
                <a:tableStyleId>{2D5ABB26-0587-4C30-8999-92F81FD0307C}</a:tableStyleId>
              </a:tblPr>
              <a:tblGrid>
                <a:gridCol w="235637">
                  <a:extLst>
                    <a:ext uri="{9D8B030D-6E8A-4147-A177-3AD203B41FA5}">
                      <a16:colId xmlns:a16="http://schemas.microsoft.com/office/drawing/2014/main" val="3960536262"/>
                    </a:ext>
                  </a:extLst>
                </a:gridCol>
                <a:gridCol w="392726">
                  <a:extLst>
                    <a:ext uri="{9D8B030D-6E8A-4147-A177-3AD203B41FA5}">
                      <a16:colId xmlns:a16="http://schemas.microsoft.com/office/drawing/2014/main" val="2140318526"/>
                    </a:ext>
                  </a:extLst>
                </a:gridCol>
                <a:gridCol w="235637">
                  <a:extLst>
                    <a:ext uri="{9D8B030D-6E8A-4147-A177-3AD203B41FA5}">
                      <a16:colId xmlns:a16="http://schemas.microsoft.com/office/drawing/2014/main" val="3000295592"/>
                    </a:ext>
                  </a:extLst>
                </a:gridCol>
              </a:tblGrid>
              <a:tr h="216000">
                <a:tc>
                  <a:txBody>
                    <a:bodyPr/>
                    <a:lstStyle/>
                    <a:p>
                      <a:pPr algn="ctr"/>
                      <a:r>
                        <a:rPr lang="en-US" altLang="zh-CN" sz="700" dirty="0">
                          <a:solidFill>
                            <a:schemeClr val="tx1"/>
                          </a:solidFill>
                          <a:latin typeface="Times New Roman" panose="02020603050405020304" pitchFamily="18" charset="0"/>
                          <a:cs typeface="Times New Roman" panose="02020603050405020304" pitchFamily="18" charset="0"/>
                        </a:rPr>
                        <a:t>1</a:t>
                      </a:r>
                      <a:endParaRPr lang="zh-CN" altLang="en-US" sz="700" dirty="0">
                        <a:solidFill>
                          <a:schemeClr val="tx1"/>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chemeClr val="tx1"/>
                          </a:solidFill>
                          <a:latin typeface="Times New Roman" panose="02020603050405020304" pitchFamily="18" charset="0"/>
                          <a:cs typeface="Times New Roman" panose="02020603050405020304" pitchFamily="18" charset="0"/>
                        </a:rPr>
                        <a:t>7</a:t>
                      </a:r>
                      <a:endParaRPr lang="zh-CN" altLang="en-US" sz="700" dirty="0">
                        <a:solidFill>
                          <a:schemeClr val="tx1"/>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chemeClr val="tx1"/>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0399424"/>
                  </a:ext>
                </a:extLst>
              </a:tr>
              <a:tr h="216000">
                <a:tc>
                  <a:txBody>
                    <a:bodyPr/>
                    <a:lstStyle/>
                    <a:p>
                      <a:pPr algn="ctr"/>
                      <a:endParaRPr lang="zh-CN" altLang="en-US" sz="700" dirty="0">
                        <a:solidFill>
                          <a:schemeClr val="tx1"/>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chemeClr val="tx1"/>
                          </a:solidFill>
                          <a:latin typeface="Times New Roman" panose="02020603050405020304" pitchFamily="18" charset="0"/>
                          <a:cs typeface="Times New Roman" panose="02020603050405020304" pitchFamily="18" charset="0"/>
                        </a:rPr>
                        <a:t>A</a:t>
                      </a:r>
                      <a:endParaRPr lang="zh-CN" altLang="en-US" sz="700" dirty="0">
                        <a:solidFill>
                          <a:schemeClr val="tx1"/>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chemeClr val="tx1"/>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6690076"/>
                  </a:ext>
                </a:extLst>
              </a:tr>
              <a:tr h="216000">
                <a:tc>
                  <a:txBody>
                    <a:bodyPr/>
                    <a:lstStyle/>
                    <a:p>
                      <a:pPr algn="ctr"/>
                      <a:endParaRPr lang="zh-CN" altLang="en-US" sz="700" dirty="0">
                        <a:solidFill>
                          <a:schemeClr val="tx1"/>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chemeClr val="tx1"/>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chemeClr val="tx1"/>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graphicFrame>
        <p:nvGraphicFramePr>
          <p:cNvPr id="116" name="表格 115">
            <a:extLst>
              <a:ext uri="{FF2B5EF4-FFF2-40B4-BE49-F238E27FC236}">
                <a16:creationId xmlns:a16="http://schemas.microsoft.com/office/drawing/2014/main" id="{0A35B412-8BBF-2FCD-75A8-53A3EFEA9F93}"/>
              </a:ext>
            </a:extLst>
          </p:cNvPr>
          <p:cNvGraphicFramePr>
            <a:graphicFrameLocks noGrp="1"/>
          </p:cNvGraphicFramePr>
          <p:nvPr>
            <p:extLst>
              <p:ext uri="{D42A27DB-BD31-4B8C-83A1-F6EECF244321}">
                <p14:modId xmlns:p14="http://schemas.microsoft.com/office/powerpoint/2010/main" val="944660057"/>
              </p:ext>
            </p:extLst>
          </p:nvPr>
        </p:nvGraphicFramePr>
        <p:xfrm>
          <a:off x="3168015" y="1851537"/>
          <a:ext cx="864000" cy="648000"/>
        </p:xfrm>
        <a:graphic>
          <a:graphicData uri="http://schemas.openxmlformats.org/drawingml/2006/table">
            <a:tbl>
              <a:tblPr firstRow="1" bandRow="1">
                <a:tableStyleId>{2D5ABB26-0587-4C30-8999-92F81FD0307C}</a:tableStyleId>
              </a:tblPr>
              <a:tblGrid>
                <a:gridCol w="235637">
                  <a:extLst>
                    <a:ext uri="{9D8B030D-6E8A-4147-A177-3AD203B41FA5}">
                      <a16:colId xmlns:a16="http://schemas.microsoft.com/office/drawing/2014/main" val="3960536262"/>
                    </a:ext>
                  </a:extLst>
                </a:gridCol>
                <a:gridCol w="392726">
                  <a:extLst>
                    <a:ext uri="{9D8B030D-6E8A-4147-A177-3AD203B41FA5}">
                      <a16:colId xmlns:a16="http://schemas.microsoft.com/office/drawing/2014/main" val="2140318526"/>
                    </a:ext>
                  </a:extLst>
                </a:gridCol>
                <a:gridCol w="235637">
                  <a:extLst>
                    <a:ext uri="{9D8B030D-6E8A-4147-A177-3AD203B41FA5}">
                      <a16:colId xmlns:a16="http://schemas.microsoft.com/office/drawing/2014/main" val="3000295592"/>
                    </a:ext>
                  </a:extLst>
                </a:gridCol>
              </a:tblGrid>
              <a:tr h="216000">
                <a:tc>
                  <a:txBody>
                    <a:bodyPr/>
                    <a:lstStyle/>
                    <a:p>
                      <a:pPr algn="ctr"/>
                      <a:endParaRPr lang="zh-CN" altLang="en-US" sz="700" dirty="0">
                        <a:solidFill>
                          <a:sysClr val="windowText" lastClr="0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rPr>
                        <a:t>6</a:t>
                      </a:r>
                      <a:endParaRPr lang="zh-CN" altLang="en-US" sz="700" dirty="0">
                        <a:solidFill>
                          <a:sysClr val="windowText" lastClr="0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ysClr val="windowText" lastClr="0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0399424"/>
                  </a:ext>
                </a:extLst>
              </a:tr>
              <a:tr h="216000">
                <a:tc>
                  <a:txBody>
                    <a:bodyPr/>
                    <a:lstStyle/>
                    <a:p>
                      <a:pPr algn="ctr"/>
                      <a:endParaRPr lang="zh-CN" altLang="en-US" sz="700" dirty="0">
                        <a:solidFill>
                          <a:sysClr val="windowText" lastClr="0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rPr>
                        <a:t>C</a:t>
                      </a:r>
                      <a:endParaRPr lang="zh-CN" altLang="en-US" sz="700" dirty="0">
                        <a:solidFill>
                          <a:sysClr val="windowText" lastClr="0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ysClr val="windowText" lastClr="0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6690076"/>
                  </a:ext>
                </a:extLst>
              </a:tr>
              <a:tr h="216000">
                <a:tc>
                  <a:txBody>
                    <a:bodyPr/>
                    <a:lstStyle/>
                    <a:p>
                      <a:pPr algn="ctr"/>
                      <a:endParaRPr lang="zh-CN" altLang="en-US" sz="700" dirty="0">
                        <a:solidFill>
                          <a:sysClr val="windowText" lastClr="0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ysClr val="windowText" lastClr="0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ysClr val="windowText" lastClr="0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graphicFrame>
        <p:nvGraphicFramePr>
          <p:cNvPr id="117" name="表格 116">
            <a:extLst>
              <a:ext uri="{FF2B5EF4-FFF2-40B4-BE49-F238E27FC236}">
                <a16:creationId xmlns:a16="http://schemas.microsoft.com/office/drawing/2014/main" id="{66F8025F-7B1E-A0F5-2D77-2BD80FED6B46}"/>
              </a:ext>
            </a:extLst>
          </p:cNvPr>
          <p:cNvGraphicFramePr>
            <a:graphicFrameLocks noGrp="1"/>
          </p:cNvGraphicFramePr>
          <p:nvPr>
            <p:extLst>
              <p:ext uri="{D42A27DB-BD31-4B8C-83A1-F6EECF244321}">
                <p14:modId xmlns:p14="http://schemas.microsoft.com/office/powerpoint/2010/main" val="1264000878"/>
              </p:ext>
            </p:extLst>
          </p:nvPr>
        </p:nvGraphicFramePr>
        <p:xfrm>
          <a:off x="4364338" y="1851537"/>
          <a:ext cx="864000" cy="648000"/>
        </p:xfrm>
        <a:graphic>
          <a:graphicData uri="http://schemas.openxmlformats.org/drawingml/2006/table">
            <a:tbl>
              <a:tblPr firstRow="1" bandRow="1">
                <a:tableStyleId>{2D5ABB26-0587-4C30-8999-92F81FD0307C}</a:tableStyleId>
              </a:tblPr>
              <a:tblGrid>
                <a:gridCol w="235637">
                  <a:extLst>
                    <a:ext uri="{9D8B030D-6E8A-4147-A177-3AD203B41FA5}">
                      <a16:colId xmlns:a16="http://schemas.microsoft.com/office/drawing/2014/main" val="3960536262"/>
                    </a:ext>
                  </a:extLst>
                </a:gridCol>
                <a:gridCol w="392726">
                  <a:extLst>
                    <a:ext uri="{9D8B030D-6E8A-4147-A177-3AD203B41FA5}">
                      <a16:colId xmlns:a16="http://schemas.microsoft.com/office/drawing/2014/main" val="2140318526"/>
                    </a:ext>
                  </a:extLst>
                </a:gridCol>
                <a:gridCol w="235637">
                  <a:extLst>
                    <a:ext uri="{9D8B030D-6E8A-4147-A177-3AD203B41FA5}">
                      <a16:colId xmlns:a16="http://schemas.microsoft.com/office/drawing/2014/main" val="3000295592"/>
                    </a:ext>
                  </a:extLst>
                </a:gridCol>
              </a:tblGrid>
              <a:tr h="216000">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latin typeface="Times New Roman" panose="02020603050405020304" pitchFamily="18" charset="0"/>
                          <a:cs typeface="Times New Roman" panose="02020603050405020304" pitchFamily="18" charset="0"/>
                        </a:rPr>
                        <a:t>3</a:t>
                      </a: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0399424"/>
                  </a:ext>
                </a:extLst>
              </a:tr>
              <a:tr h="216000">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latin typeface="Times New Roman" panose="02020603050405020304" pitchFamily="18" charset="0"/>
                          <a:cs typeface="Times New Roman" panose="02020603050405020304" pitchFamily="18" charset="0"/>
                        </a:rPr>
                        <a:t>G</a:t>
                      </a: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6690076"/>
                  </a:ext>
                </a:extLst>
              </a:tr>
              <a:tr h="216000">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graphicFrame>
        <p:nvGraphicFramePr>
          <p:cNvPr id="118" name="表格 117">
            <a:extLst>
              <a:ext uri="{FF2B5EF4-FFF2-40B4-BE49-F238E27FC236}">
                <a16:creationId xmlns:a16="http://schemas.microsoft.com/office/drawing/2014/main" id="{23CA2B37-BEB6-0BCF-8CBD-C9634131B2F3}"/>
              </a:ext>
            </a:extLst>
          </p:cNvPr>
          <p:cNvGraphicFramePr>
            <a:graphicFrameLocks noGrp="1"/>
          </p:cNvGraphicFramePr>
          <p:nvPr>
            <p:extLst>
              <p:ext uri="{D42A27DB-BD31-4B8C-83A1-F6EECF244321}">
                <p14:modId xmlns:p14="http://schemas.microsoft.com/office/powerpoint/2010/main" val="3028177557"/>
              </p:ext>
            </p:extLst>
          </p:nvPr>
        </p:nvGraphicFramePr>
        <p:xfrm>
          <a:off x="5581625" y="2307944"/>
          <a:ext cx="864000" cy="648000"/>
        </p:xfrm>
        <a:graphic>
          <a:graphicData uri="http://schemas.openxmlformats.org/drawingml/2006/table">
            <a:tbl>
              <a:tblPr firstRow="1" bandRow="1">
                <a:tableStyleId>{2D5ABB26-0587-4C30-8999-92F81FD0307C}</a:tableStyleId>
              </a:tblPr>
              <a:tblGrid>
                <a:gridCol w="235637">
                  <a:extLst>
                    <a:ext uri="{9D8B030D-6E8A-4147-A177-3AD203B41FA5}">
                      <a16:colId xmlns:a16="http://schemas.microsoft.com/office/drawing/2014/main" val="3960536262"/>
                    </a:ext>
                  </a:extLst>
                </a:gridCol>
                <a:gridCol w="392726">
                  <a:extLst>
                    <a:ext uri="{9D8B030D-6E8A-4147-A177-3AD203B41FA5}">
                      <a16:colId xmlns:a16="http://schemas.microsoft.com/office/drawing/2014/main" val="2140318526"/>
                    </a:ext>
                  </a:extLst>
                </a:gridCol>
                <a:gridCol w="235637">
                  <a:extLst>
                    <a:ext uri="{9D8B030D-6E8A-4147-A177-3AD203B41FA5}">
                      <a16:colId xmlns:a16="http://schemas.microsoft.com/office/drawing/2014/main" val="3000295592"/>
                    </a:ext>
                  </a:extLst>
                </a:gridCol>
              </a:tblGrid>
              <a:tr h="216000">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latin typeface="Times New Roman" panose="02020603050405020304" pitchFamily="18" charset="0"/>
                          <a:cs typeface="Times New Roman" panose="02020603050405020304" pitchFamily="18" charset="0"/>
                        </a:rPr>
                        <a:t>2</a:t>
                      </a: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0399424"/>
                  </a:ext>
                </a:extLst>
              </a:tr>
              <a:tr h="216000">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latin typeface="Times New Roman" panose="02020603050405020304" pitchFamily="18" charset="0"/>
                          <a:cs typeface="Times New Roman" panose="02020603050405020304" pitchFamily="18" charset="0"/>
                        </a:rPr>
                        <a:t>H</a:t>
                      </a: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6690076"/>
                  </a:ext>
                </a:extLst>
              </a:tr>
              <a:tr h="216000">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graphicFrame>
        <p:nvGraphicFramePr>
          <p:cNvPr id="119" name="表格 118">
            <a:extLst>
              <a:ext uri="{FF2B5EF4-FFF2-40B4-BE49-F238E27FC236}">
                <a16:creationId xmlns:a16="http://schemas.microsoft.com/office/drawing/2014/main" id="{40C4EB2B-6D6D-5CAB-3DB3-2CD970B91228}"/>
              </a:ext>
            </a:extLst>
          </p:cNvPr>
          <p:cNvGraphicFramePr>
            <a:graphicFrameLocks noGrp="1"/>
          </p:cNvGraphicFramePr>
          <p:nvPr>
            <p:extLst>
              <p:ext uri="{D42A27DB-BD31-4B8C-83A1-F6EECF244321}">
                <p14:modId xmlns:p14="http://schemas.microsoft.com/office/powerpoint/2010/main" val="2988486767"/>
              </p:ext>
            </p:extLst>
          </p:nvPr>
        </p:nvGraphicFramePr>
        <p:xfrm>
          <a:off x="4364338" y="2764352"/>
          <a:ext cx="864000" cy="648000"/>
        </p:xfrm>
        <a:graphic>
          <a:graphicData uri="http://schemas.openxmlformats.org/drawingml/2006/table">
            <a:tbl>
              <a:tblPr firstRow="1" bandRow="1">
                <a:tableStyleId>{2D5ABB26-0587-4C30-8999-92F81FD0307C}</a:tableStyleId>
              </a:tblPr>
              <a:tblGrid>
                <a:gridCol w="235637">
                  <a:extLst>
                    <a:ext uri="{9D8B030D-6E8A-4147-A177-3AD203B41FA5}">
                      <a16:colId xmlns:a16="http://schemas.microsoft.com/office/drawing/2014/main" val="3960536262"/>
                    </a:ext>
                  </a:extLst>
                </a:gridCol>
                <a:gridCol w="392726">
                  <a:extLst>
                    <a:ext uri="{9D8B030D-6E8A-4147-A177-3AD203B41FA5}">
                      <a16:colId xmlns:a16="http://schemas.microsoft.com/office/drawing/2014/main" val="2140318526"/>
                    </a:ext>
                  </a:extLst>
                </a:gridCol>
                <a:gridCol w="235637">
                  <a:extLst>
                    <a:ext uri="{9D8B030D-6E8A-4147-A177-3AD203B41FA5}">
                      <a16:colId xmlns:a16="http://schemas.microsoft.com/office/drawing/2014/main" val="3000295592"/>
                    </a:ext>
                  </a:extLst>
                </a:gridCol>
              </a:tblGrid>
              <a:tr h="216000">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latin typeface="Times New Roman" panose="02020603050405020304" pitchFamily="18" charset="0"/>
                          <a:cs typeface="Times New Roman" panose="02020603050405020304" pitchFamily="18" charset="0"/>
                        </a:rPr>
                        <a:t>3</a:t>
                      </a: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0399424"/>
                  </a:ext>
                </a:extLst>
              </a:tr>
              <a:tr h="216000">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latin typeface="Times New Roman" panose="02020603050405020304" pitchFamily="18" charset="0"/>
                          <a:cs typeface="Times New Roman" panose="02020603050405020304" pitchFamily="18" charset="0"/>
                        </a:rPr>
                        <a:t>E</a:t>
                      </a: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6690076"/>
                  </a:ext>
                </a:extLst>
              </a:tr>
              <a:tr h="216000">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graphicFrame>
        <p:nvGraphicFramePr>
          <p:cNvPr id="120" name="表格 119">
            <a:extLst>
              <a:ext uri="{FF2B5EF4-FFF2-40B4-BE49-F238E27FC236}">
                <a16:creationId xmlns:a16="http://schemas.microsoft.com/office/drawing/2014/main" id="{B8550F73-762A-A9C3-610F-7920E1B96E80}"/>
              </a:ext>
            </a:extLst>
          </p:cNvPr>
          <p:cNvGraphicFramePr>
            <a:graphicFrameLocks noGrp="1"/>
          </p:cNvGraphicFramePr>
          <p:nvPr>
            <p:extLst>
              <p:ext uri="{D42A27DB-BD31-4B8C-83A1-F6EECF244321}">
                <p14:modId xmlns:p14="http://schemas.microsoft.com/office/powerpoint/2010/main" val="1273606644"/>
              </p:ext>
            </p:extLst>
          </p:nvPr>
        </p:nvGraphicFramePr>
        <p:xfrm>
          <a:off x="1891778" y="2764352"/>
          <a:ext cx="864000" cy="648000"/>
        </p:xfrm>
        <a:graphic>
          <a:graphicData uri="http://schemas.openxmlformats.org/drawingml/2006/table">
            <a:tbl>
              <a:tblPr firstRow="1" bandRow="1">
                <a:tableStyleId>{2D5ABB26-0587-4C30-8999-92F81FD0307C}</a:tableStyleId>
              </a:tblPr>
              <a:tblGrid>
                <a:gridCol w="235637">
                  <a:extLst>
                    <a:ext uri="{9D8B030D-6E8A-4147-A177-3AD203B41FA5}">
                      <a16:colId xmlns:a16="http://schemas.microsoft.com/office/drawing/2014/main" val="3960536262"/>
                    </a:ext>
                  </a:extLst>
                </a:gridCol>
                <a:gridCol w="392726">
                  <a:extLst>
                    <a:ext uri="{9D8B030D-6E8A-4147-A177-3AD203B41FA5}">
                      <a16:colId xmlns:a16="http://schemas.microsoft.com/office/drawing/2014/main" val="2140318526"/>
                    </a:ext>
                  </a:extLst>
                </a:gridCol>
                <a:gridCol w="235637">
                  <a:extLst>
                    <a:ext uri="{9D8B030D-6E8A-4147-A177-3AD203B41FA5}">
                      <a16:colId xmlns:a16="http://schemas.microsoft.com/office/drawing/2014/main" val="3000295592"/>
                    </a:ext>
                  </a:extLst>
                </a:gridCol>
              </a:tblGrid>
              <a:tr h="216000">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latin typeface="Times New Roman" panose="02020603050405020304" pitchFamily="18" charset="0"/>
                          <a:cs typeface="Times New Roman" panose="02020603050405020304" pitchFamily="18" charset="0"/>
                        </a:rPr>
                        <a:t>3</a:t>
                      </a: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0399424"/>
                  </a:ext>
                </a:extLst>
              </a:tr>
              <a:tr h="216000">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latin typeface="Times New Roman" panose="02020603050405020304" pitchFamily="18" charset="0"/>
                          <a:cs typeface="Times New Roman" panose="02020603050405020304" pitchFamily="18" charset="0"/>
                        </a:rPr>
                        <a:t>B</a:t>
                      </a: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6690076"/>
                  </a:ext>
                </a:extLst>
              </a:tr>
              <a:tr h="216000">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graphicFrame>
        <p:nvGraphicFramePr>
          <p:cNvPr id="121" name="表格 120">
            <a:extLst>
              <a:ext uri="{FF2B5EF4-FFF2-40B4-BE49-F238E27FC236}">
                <a16:creationId xmlns:a16="http://schemas.microsoft.com/office/drawing/2014/main" id="{9429DAEC-6245-C1CA-0FFD-CE7457019FF3}"/>
              </a:ext>
            </a:extLst>
          </p:cNvPr>
          <p:cNvGraphicFramePr>
            <a:graphicFrameLocks noGrp="1"/>
          </p:cNvGraphicFramePr>
          <p:nvPr>
            <p:extLst>
              <p:ext uri="{D42A27DB-BD31-4B8C-83A1-F6EECF244321}">
                <p14:modId xmlns:p14="http://schemas.microsoft.com/office/powerpoint/2010/main" val="3397865385"/>
              </p:ext>
            </p:extLst>
          </p:nvPr>
        </p:nvGraphicFramePr>
        <p:xfrm>
          <a:off x="3158390" y="2764352"/>
          <a:ext cx="864000" cy="648000"/>
        </p:xfrm>
        <a:graphic>
          <a:graphicData uri="http://schemas.openxmlformats.org/drawingml/2006/table">
            <a:tbl>
              <a:tblPr firstRow="1" bandRow="1">
                <a:tableStyleId>{2D5ABB26-0587-4C30-8999-92F81FD0307C}</a:tableStyleId>
              </a:tblPr>
              <a:tblGrid>
                <a:gridCol w="235637">
                  <a:extLst>
                    <a:ext uri="{9D8B030D-6E8A-4147-A177-3AD203B41FA5}">
                      <a16:colId xmlns:a16="http://schemas.microsoft.com/office/drawing/2014/main" val="3960536262"/>
                    </a:ext>
                  </a:extLst>
                </a:gridCol>
                <a:gridCol w="392726">
                  <a:extLst>
                    <a:ext uri="{9D8B030D-6E8A-4147-A177-3AD203B41FA5}">
                      <a16:colId xmlns:a16="http://schemas.microsoft.com/office/drawing/2014/main" val="2140318526"/>
                    </a:ext>
                  </a:extLst>
                </a:gridCol>
                <a:gridCol w="235637">
                  <a:extLst>
                    <a:ext uri="{9D8B030D-6E8A-4147-A177-3AD203B41FA5}">
                      <a16:colId xmlns:a16="http://schemas.microsoft.com/office/drawing/2014/main" val="3000295592"/>
                    </a:ext>
                  </a:extLst>
                </a:gridCol>
              </a:tblGrid>
              <a:tr h="216000">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latin typeface="Times New Roman" panose="02020603050405020304" pitchFamily="18" charset="0"/>
                          <a:cs typeface="Times New Roman" panose="02020603050405020304" pitchFamily="18" charset="0"/>
                        </a:rPr>
                        <a:t>3</a:t>
                      </a: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0399424"/>
                  </a:ext>
                </a:extLst>
              </a:tr>
              <a:tr h="216000">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latin typeface="Times New Roman" panose="02020603050405020304" pitchFamily="18" charset="0"/>
                          <a:cs typeface="Times New Roman" panose="02020603050405020304" pitchFamily="18" charset="0"/>
                        </a:rPr>
                        <a:t>D</a:t>
                      </a: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6690076"/>
                  </a:ext>
                </a:extLst>
              </a:tr>
              <a:tr h="216000">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graphicFrame>
        <p:nvGraphicFramePr>
          <p:cNvPr id="122" name="表格 121">
            <a:extLst>
              <a:ext uri="{FF2B5EF4-FFF2-40B4-BE49-F238E27FC236}">
                <a16:creationId xmlns:a16="http://schemas.microsoft.com/office/drawing/2014/main" id="{B27AEE90-5E74-673D-7748-5008414359AA}"/>
              </a:ext>
            </a:extLst>
          </p:cNvPr>
          <p:cNvGraphicFramePr>
            <a:graphicFrameLocks noGrp="1"/>
          </p:cNvGraphicFramePr>
          <p:nvPr>
            <p:extLst>
              <p:ext uri="{D42A27DB-BD31-4B8C-83A1-F6EECF244321}">
                <p14:modId xmlns:p14="http://schemas.microsoft.com/office/powerpoint/2010/main" val="3511162728"/>
              </p:ext>
            </p:extLst>
          </p:nvPr>
        </p:nvGraphicFramePr>
        <p:xfrm>
          <a:off x="3168015" y="3677167"/>
          <a:ext cx="864000" cy="648000"/>
        </p:xfrm>
        <a:graphic>
          <a:graphicData uri="http://schemas.openxmlformats.org/drawingml/2006/table">
            <a:tbl>
              <a:tblPr firstRow="1" bandRow="1">
                <a:tableStyleId>{2D5ABB26-0587-4C30-8999-92F81FD0307C}</a:tableStyleId>
              </a:tblPr>
              <a:tblGrid>
                <a:gridCol w="235637">
                  <a:extLst>
                    <a:ext uri="{9D8B030D-6E8A-4147-A177-3AD203B41FA5}">
                      <a16:colId xmlns:a16="http://schemas.microsoft.com/office/drawing/2014/main" val="3960536262"/>
                    </a:ext>
                  </a:extLst>
                </a:gridCol>
                <a:gridCol w="392726">
                  <a:extLst>
                    <a:ext uri="{9D8B030D-6E8A-4147-A177-3AD203B41FA5}">
                      <a16:colId xmlns:a16="http://schemas.microsoft.com/office/drawing/2014/main" val="2140318526"/>
                    </a:ext>
                  </a:extLst>
                </a:gridCol>
                <a:gridCol w="235637">
                  <a:extLst>
                    <a:ext uri="{9D8B030D-6E8A-4147-A177-3AD203B41FA5}">
                      <a16:colId xmlns:a16="http://schemas.microsoft.com/office/drawing/2014/main" val="3000295592"/>
                    </a:ext>
                  </a:extLst>
                </a:gridCol>
              </a:tblGrid>
              <a:tr h="216000">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latin typeface="Times New Roman" panose="02020603050405020304" pitchFamily="18" charset="0"/>
                          <a:cs typeface="Times New Roman" panose="02020603050405020304" pitchFamily="18" charset="0"/>
                        </a:rPr>
                        <a:t>2</a:t>
                      </a: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0399424"/>
                  </a:ext>
                </a:extLst>
              </a:tr>
              <a:tr h="216000">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latin typeface="Times New Roman" panose="02020603050405020304" pitchFamily="18" charset="0"/>
                          <a:cs typeface="Times New Roman" panose="02020603050405020304" pitchFamily="18" charset="0"/>
                        </a:rPr>
                        <a:t>F</a:t>
                      </a: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6690076"/>
                  </a:ext>
                </a:extLst>
              </a:tr>
              <a:tr h="216000">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cxnSp>
        <p:nvCxnSpPr>
          <p:cNvPr id="124" name="直接箭头连接符 123">
            <a:extLst>
              <a:ext uri="{FF2B5EF4-FFF2-40B4-BE49-F238E27FC236}">
                <a16:creationId xmlns:a16="http://schemas.microsoft.com/office/drawing/2014/main" id="{7523D6BF-24F7-0D2E-CE21-141624BAB4E3}"/>
              </a:ext>
            </a:extLst>
          </p:cNvPr>
          <p:cNvCxnSpPr/>
          <p:nvPr/>
        </p:nvCxnSpPr>
        <p:spPr>
          <a:xfrm>
            <a:off x="1239565" y="2631944"/>
            <a:ext cx="432000" cy="0"/>
          </a:xfrm>
          <a:prstGeom prst="straightConnector1">
            <a:avLst/>
          </a:prstGeom>
          <a:ln w="63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125" name="文本框 124">
            <a:extLst>
              <a:ext uri="{FF2B5EF4-FFF2-40B4-BE49-F238E27FC236}">
                <a16:creationId xmlns:a16="http://schemas.microsoft.com/office/drawing/2014/main" id="{78CC2A67-C32B-273D-9855-87B07094A0A2}"/>
              </a:ext>
            </a:extLst>
          </p:cNvPr>
          <p:cNvSpPr txBox="1"/>
          <p:nvPr/>
        </p:nvSpPr>
        <p:spPr>
          <a:xfrm>
            <a:off x="1260996" y="2466742"/>
            <a:ext cx="356187" cy="200055"/>
          </a:xfrm>
          <a:prstGeom prst="rect">
            <a:avLst/>
          </a:prstGeom>
          <a:noFill/>
          <a:ln w="6350">
            <a:noFill/>
          </a:ln>
        </p:spPr>
        <p:txBody>
          <a:bodyPr wrap="none" rtlCol="0">
            <a:spAutoFit/>
          </a:bodyPr>
          <a:lstStyle/>
          <a:p>
            <a:pPr algn="ctr"/>
            <a:r>
              <a:rPr lang="en-US" altLang="zh-CN" sz="700" dirty="0">
                <a:solidFill>
                  <a:sysClr val="windowText" lastClr="000000"/>
                </a:solidFill>
                <a:latin typeface="Times New Roman" panose="02020603050405020304" pitchFamily="18" charset="0"/>
                <a:cs typeface="Times New Roman" panose="02020603050405020304" pitchFamily="18" charset="0"/>
              </a:rPr>
              <a:t>Start</a:t>
            </a: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p:txBody>
      </p:sp>
      <p:cxnSp>
        <p:nvCxnSpPr>
          <p:cNvPr id="126" name="直接箭头连接符 125">
            <a:extLst>
              <a:ext uri="{FF2B5EF4-FFF2-40B4-BE49-F238E27FC236}">
                <a16:creationId xmlns:a16="http://schemas.microsoft.com/office/drawing/2014/main" id="{8E8C59CB-6432-3D68-F31B-789D1340492C}"/>
              </a:ext>
            </a:extLst>
          </p:cNvPr>
          <p:cNvCxnSpPr>
            <a:cxnSpLocks/>
          </p:cNvCxnSpPr>
          <p:nvPr/>
        </p:nvCxnSpPr>
        <p:spPr>
          <a:xfrm>
            <a:off x="6445632" y="2631944"/>
            <a:ext cx="432000" cy="0"/>
          </a:xfrm>
          <a:prstGeom prst="straightConnector1">
            <a:avLst/>
          </a:prstGeom>
          <a:ln w="63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127" name="文本框 126">
            <a:extLst>
              <a:ext uri="{FF2B5EF4-FFF2-40B4-BE49-F238E27FC236}">
                <a16:creationId xmlns:a16="http://schemas.microsoft.com/office/drawing/2014/main" id="{B4D034B1-6CF9-DC04-A4EF-FFEE03F45A44}"/>
              </a:ext>
            </a:extLst>
          </p:cNvPr>
          <p:cNvSpPr txBox="1"/>
          <p:nvPr/>
        </p:nvSpPr>
        <p:spPr>
          <a:xfrm>
            <a:off x="6491638" y="2487214"/>
            <a:ext cx="328936" cy="200055"/>
          </a:xfrm>
          <a:prstGeom prst="rect">
            <a:avLst/>
          </a:prstGeom>
          <a:noFill/>
          <a:ln w="6350">
            <a:noFill/>
          </a:ln>
        </p:spPr>
        <p:txBody>
          <a:bodyPr wrap="none" rtlCol="0">
            <a:spAutoFit/>
          </a:bodyPr>
          <a:lstStyle/>
          <a:p>
            <a:pPr algn="ctr"/>
            <a:r>
              <a:rPr lang="en-US" altLang="zh-CN" sz="700" dirty="0">
                <a:solidFill>
                  <a:sysClr val="windowText" lastClr="000000"/>
                </a:solidFill>
                <a:latin typeface="Times New Roman" panose="02020603050405020304" pitchFamily="18" charset="0"/>
                <a:cs typeface="Times New Roman" panose="02020603050405020304" pitchFamily="18" charset="0"/>
              </a:rPr>
              <a:t>End</a:t>
            </a: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p:txBody>
      </p:sp>
      <p:cxnSp>
        <p:nvCxnSpPr>
          <p:cNvPr id="129" name="连接符: 肘形 128">
            <a:extLst>
              <a:ext uri="{FF2B5EF4-FFF2-40B4-BE49-F238E27FC236}">
                <a16:creationId xmlns:a16="http://schemas.microsoft.com/office/drawing/2014/main" id="{8B7107C5-C8BB-B238-3A60-5F5C42A1D77F}"/>
              </a:ext>
            </a:extLst>
          </p:cNvPr>
          <p:cNvCxnSpPr>
            <a:cxnSpLocks/>
            <a:stCxn id="115" idx="1"/>
            <a:endCxn id="120" idx="1"/>
          </p:cNvCxnSpPr>
          <p:nvPr/>
        </p:nvCxnSpPr>
        <p:spPr>
          <a:xfrm rot="10800000" flipV="1">
            <a:off x="1891778" y="2175536"/>
            <a:ext cx="12700" cy="912815"/>
          </a:xfrm>
          <a:prstGeom prst="bentConnector3">
            <a:avLst>
              <a:gd name="adj1" fmla="val 1800000"/>
            </a:avLst>
          </a:prstGeom>
          <a:ln w="6350">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32" name="连接符: 肘形 131">
            <a:extLst>
              <a:ext uri="{FF2B5EF4-FFF2-40B4-BE49-F238E27FC236}">
                <a16:creationId xmlns:a16="http://schemas.microsoft.com/office/drawing/2014/main" id="{411310C1-5543-EAF5-9FDE-727DC45B3D79}"/>
              </a:ext>
            </a:extLst>
          </p:cNvPr>
          <p:cNvCxnSpPr>
            <a:cxnSpLocks/>
            <a:stCxn id="120" idx="3"/>
            <a:endCxn id="122" idx="1"/>
          </p:cNvCxnSpPr>
          <p:nvPr/>
        </p:nvCxnSpPr>
        <p:spPr>
          <a:xfrm>
            <a:off x="2755778" y="3088352"/>
            <a:ext cx="412237" cy="912815"/>
          </a:xfrm>
          <a:prstGeom prst="bentConnector3">
            <a:avLst>
              <a:gd name="adj1" fmla="val 50000"/>
            </a:avLst>
          </a:prstGeom>
          <a:ln w="63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35" name="连接符: 肘形 134">
            <a:extLst>
              <a:ext uri="{FF2B5EF4-FFF2-40B4-BE49-F238E27FC236}">
                <a16:creationId xmlns:a16="http://schemas.microsoft.com/office/drawing/2014/main" id="{CBDB5480-0385-8908-2610-B5477126547E}"/>
              </a:ext>
            </a:extLst>
          </p:cNvPr>
          <p:cNvCxnSpPr>
            <a:cxnSpLocks/>
            <a:stCxn id="117" idx="3"/>
            <a:endCxn id="118" idx="1"/>
          </p:cNvCxnSpPr>
          <p:nvPr/>
        </p:nvCxnSpPr>
        <p:spPr>
          <a:xfrm>
            <a:off x="5228338" y="2175537"/>
            <a:ext cx="353287" cy="456407"/>
          </a:xfrm>
          <a:prstGeom prst="bentConnector3">
            <a:avLst/>
          </a:prstGeom>
          <a:ln w="63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38" name="连接符: 肘形 137">
            <a:extLst>
              <a:ext uri="{FF2B5EF4-FFF2-40B4-BE49-F238E27FC236}">
                <a16:creationId xmlns:a16="http://schemas.microsoft.com/office/drawing/2014/main" id="{ECD1D337-297C-9F86-230B-D32902C2707A}"/>
              </a:ext>
            </a:extLst>
          </p:cNvPr>
          <p:cNvCxnSpPr>
            <a:cxnSpLocks/>
            <a:stCxn id="122" idx="3"/>
            <a:endCxn id="119" idx="1"/>
          </p:cNvCxnSpPr>
          <p:nvPr/>
        </p:nvCxnSpPr>
        <p:spPr>
          <a:xfrm flipV="1">
            <a:off x="4032015" y="3088352"/>
            <a:ext cx="332323" cy="912815"/>
          </a:xfrm>
          <a:prstGeom prst="bentConnector3">
            <a:avLst>
              <a:gd name="adj1" fmla="val 50000"/>
            </a:avLst>
          </a:prstGeom>
          <a:ln w="63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41" name="连接符: 肘形 140">
            <a:extLst>
              <a:ext uri="{FF2B5EF4-FFF2-40B4-BE49-F238E27FC236}">
                <a16:creationId xmlns:a16="http://schemas.microsoft.com/office/drawing/2014/main" id="{783D05C5-F1C1-BBFD-71F1-9DED044595AD}"/>
              </a:ext>
            </a:extLst>
          </p:cNvPr>
          <p:cNvCxnSpPr>
            <a:cxnSpLocks/>
            <a:stCxn id="119" idx="3"/>
            <a:endCxn id="118" idx="1"/>
          </p:cNvCxnSpPr>
          <p:nvPr/>
        </p:nvCxnSpPr>
        <p:spPr>
          <a:xfrm flipV="1">
            <a:off x="5228338" y="2631944"/>
            <a:ext cx="353287" cy="456408"/>
          </a:xfrm>
          <a:prstGeom prst="bentConnector3">
            <a:avLst/>
          </a:prstGeom>
          <a:ln w="63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44" name="直接箭头连接符 143">
            <a:extLst>
              <a:ext uri="{FF2B5EF4-FFF2-40B4-BE49-F238E27FC236}">
                <a16:creationId xmlns:a16="http://schemas.microsoft.com/office/drawing/2014/main" id="{5395B5CA-448C-6FD4-C323-87AB3FA94601}"/>
              </a:ext>
            </a:extLst>
          </p:cNvPr>
          <p:cNvCxnSpPr>
            <a:cxnSpLocks/>
            <a:stCxn id="115" idx="3"/>
            <a:endCxn id="116" idx="1"/>
          </p:cNvCxnSpPr>
          <p:nvPr/>
        </p:nvCxnSpPr>
        <p:spPr>
          <a:xfrm>
            <a:off x="2755778" y="2175537"/>
            <a:ext cx="412237" cy="0"/>
          </a:xfrm>
          <a:prstGeom prst="straightConnector1">
            <a:avLst/>
          </a:prstGeom>
          <a:ln w="63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47" name="直接箭头连接符 146">
            <a:extLst>
              <a:ext uri="{FF2B5EF4-FFF2-40B4-BE49-F238E27FC236}">
                <a16:creationId xmlns:a16="http://schemas.microsoft.com/office/drawing/2014/main" id="{5B9F733F-A022-E31F-7A2B-6B17D2931F42}"/>
              </a:ext>
            </a:extLst>
          </p:cNvPr>
          <p:cNvCxnSpPr>
            <a:cxnSpLocks/>
            <a:stCxn id="116" idx="3"/>
            <a:endCxn id="117" idx="1"/>
          </p:cNvCxnSpPr>
          <p:nvPr/>
        </p:nvCxnSpPr>
        <p:spPr>
          <a:xfrm>
            <a:off x="4032015" y="2175537"/>
            <a:ext cx="332323" cy="0"/>
          </a:xfrm>
          <a:prstGeom prst="straightConnector1">
            <a:avLst/>
          </a:prstGeom>
          <a:ln w="63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50" name="直接箭头连接符 149">
            <a:extLst>
              <a:ext uri="{FF2B5EF4-FFF2-40B4-BE49-F238E27FC236}">
                <a16:creationId xmlns:a16="http://schemas.microsoft.com/office/drawing/2014/main" id="{73315FC1-FE36-19CF-79BB-911E7ACC920F}"/>
              </a:ext>
            </a:extLst>
          </p:cNvPr>
          <p:cNvCxnSpPr>
            <a:cxnSpLocks/>
            <a:stCxn id="121" idx="3"/>
            <a:endCxn id="119" idx="1"/>
          </p:cNvCxnSpPr>
          <p:nvPr/>
        </p:nvCxnSpPr>
        <p:spPr>
          <a:xfrm>
            <a:off x="4022390" y="3088352"/>
            <a:ext cx="341948" cy="0"/>
          </a:xfrm>
          <a:prstGeom prst="straightConnector1">
            <a:avLst/>
          </a:prstGeom>
          <a:ln w="63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53" name="直接箭头连接符 152">
            <a:extLst>
              <a:ext uri="{FF2B5EF4-FFF2-40B4-BE49-F238E27FC236}">
                <a16:creationId xmlns:a16="http://schemas.microsoft.com/office/drawing/2014/main" id="{4DF1ECDE-AA69-CA6B-A673-A78A7B99F7B2}"/>
              </a:ext>
            </a:extLst>
          </p:cNvPr>
          <p:cNvCxnSpPr>
            <a:cxnSpLocks/>
            <a:stCxn id="120" idx="3"/>
            <a:endCxn id="121" idx="1"/>
          </p:cNvCxnSpPr>
          <p:nvPr/>
        </p:nvCxnSpPr>
        <p:spPr>
          <a:xfrm>
            <a:off x="2755778" y="3088352"/>
            <a:ext cx="402612" cy="0"/>
          </a:xfrm>
          <a:prstGeom prst="straightConnector1">
            <a:avLst/>
          </a:prstGeom>
          <a:ln w="63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5CE68432-D72E-7522-D99A-2E499DCC9282}"/>
              </a:ext>
            </a:extLst>
          </p:cNvPr>
          <p:cNvSpPr txBox="1"/>
          <p:nvPr/>
        </p:nvSpPr>
        <p:spPr>
          <a:xfrm>
            <a:off x="1219920" y="467460"/>
            <a:ext cx="4083169" cy="338554"/>
          </a:xfrm>
          <a:prstGeom prst="rect">
            <a:avLst/>
          </a:prstGeom>
          <a:noFill/>
          <a:ln w="6350">
            <a:noFill/>
          </a:ln>
        </p:spPr>
        <p:txBody>
          <a:bodyPr wrap="none" rtlCol="0">
            <a:spAutoFit/>
          </a:bodyPr>
          <a:lstStyle/>
          <a:p>
            <a:pPr algn="l"/>
            <a:r>
              <a:rPr lang="zh-CN" altLang="en-US" sz="1600" dirty="0">
                <a:solidFill>
                  <a:sysClr val="windowText" lastClr="000000"/>
                </a:solidFill>
              </a:rPr>
              <a:t>例：正推法：最早开始时间和最早完成时间</a:t>
            </a:r>
          </a:p>
        </p:txBody>
      </p:sp>
    </p:spTree>
    <p:extLst>
      <p:ext uri="{BB962C8B-B14F-4D97-AF65-F5344CB8AC3E}">
        <p14:creationId xmlns:p14="http://schemas.microsoft.com/office/powerpoint/2010/main" val="3786448093"/>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aphicFrame>
        <p:nvGraphicFramePr>
          <p:cNvPr id="115" name="表格 114">
            <a:extLst>
              <a:ext uri="{FF2B5EF4-FFF2-40B4-BE49-F238E27FC236}">
                <a16:creationId xmlns:a16="http://schemas.microsoft.com/office/drawing/2014/main" id="{D6CBF8DC-66EC-175C-CA57-FE3EF57ED071}"/>
              </a:ext>
            </a:extLst>
          </p:cNvPr>
          <p:cNvGraphicFramePr>
            <a:graphicFrameLocks noGrp="1"/>
          </p:cNvGraphicFramePr>
          <p:nvPr>
            <p:extLst>
              <p:ext uri="{D42A27DB-BD31-4B8C-83A1-F6EECF244321}">
                <p14:modId xmlns:p14="http://schemas.microsoft.com/office/powerpoint/2010/main" val="2371281154"/>
              </p:ext>
            </p:extLst>
          </p:nvPr>
        </p:nvGraphicFramePr>
        <p:xfrm>
          <a:off x="1427747" y="965712"/>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1</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7</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tx1"/>
                          </a:solidFill>
                        </a:rPr>
                        <a:t>8</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A</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graphicFrame>
        <p:nvGraphicFramePr>
          <p:cNvPr id="116" name="表格 115">
            <a:extLst>
              <a:ext uri="{FF2B5EF4-FFF2-40B4-BE49-F238E27FC236}">
                <a16:creationId xmlns:a16="http://schemas.microsoft.com/office/drawing/2014/main" id="{302FCA59-6BA7-E6EB-621C-B717CA3DB49C}"/>
              </a:ext>
            </a:extLst>
          </p:cNvPr>
          <p:cNvGraphicFramePr>
            <a:graphicFrameLocks noGrp="1"/>
          </p:cNvGraphicFramePr>
          <p:nvPr>
            <p:extLst>
              <p:ext uri="{D42A27DB-BD31-4B8C-83A1-F6EECF244321}">
                <p14:modId xmlns:p14="http://schemas.microsoft.com/office/powerpoint/2010/main" val="710190451"/>
              </p:ext>
            </p:extLst>
          </p:nvPr>
        </p:nvGraphicFramePr>
        <p:xfrm>
          <a:off x="4053840" y="965712"/>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8</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6</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tx1"/>
                          </a:solidFill>
                        </a:rPr>
                        <a:t>14</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C</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graphicFrame>
        <p:nvGraphicFramePr>
          <p:cNvPr id="117" name="表格 116">
            <a:extLst>
              <a:ext uri="{FF2B5EF4-FFF2-40B4-BE49-F238E27FC236}">
                <a16:creationId xmlns:a16="http://schemas.microsoft.com/office/drawing/2014/main" id="{2F321822-C7C2-B069-29F0-5341A1F6A3A1}"/>
              </a:ext>
            </a:extLst>
          </p:cNvPr>
          <p:cNvGraphicFramePr>
            <a:graphicFrameLocks noGrp="1"/>
          </p:cNvGraphicFramePr>
          <p:nvPr>
            <p:extLst>
              <p:ext uri="{D42A27DB-BD31-4B8C-83A1-F6EECF244321}">
                <p14:modId xmlns:p14="http://schemas.microsoft.com/office/powerpoint/2010/main" val="4081911957"/>
              </p:ext>
            </p:extLst>
          </p:nvPr>
        </p:nvGraphicFramePr>
        <p:xfrm>
          <a:off x="6814686" y="965712"/>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14</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3</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tx1"/>
                          </a:solidFill>
                        </a:rPr>
                        <a:t>17</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G</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graphicFrame>
        <p:nvGraphicFramePr>
          <p:cNvPr id="118" name="表格 117">
            <a:extLst>
              <a:ext uri="{FF2B5EF4-FFF2-40B4-BE49-F238E27FC236}">
                <a16:creationId xmlns:a16="http://schemas.microsoft.com/office/drawing/2014/main" id="{E3597295-DBC1-DD68-163B-47C85F41A6A0}"/>
              </a:ext>
            </a:extLst>
          </p:cNvPr>
          <p:cNvGraphicFramePr>
            <a:graphicFrameLocks noGrp="1"/>
          </p:cNvGraphicFramePr>
          <p:nvPr>
            <p:extLst>
              <p:ext uri="{D42A27DB-BD31-4B8C-83A1-F6EECF244321}">
                <p14:modId xmlns:p14="http://schemas.microsoft.com/office/powerpoint/2010/main" val="318344152"/>
              </p:ext>
            </p:extLst>
          </p:nvPr>
        </p:nvGraphicFramePr>
        <p:xfrm>
          <a:off x="9431154" y="1957114"/>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17</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2</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tx1"/>
                          </a:solidFill>
                        </a:rPr>
                        <a:t>19</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H</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graphicFrame>
        <p:nvGraphicFramePr>
          <p:cNvPr id="119" name="表格 118">
            <a:extLst>
              <a:ext uri="{FF2B5EF4-FFF2-40B4-BE49-F238E27FC236}">
                <a16:creationId xmlns:a16="http://schemas.microsoft.com/office/drawing/2014/main" id="{7B9D6CAC-F192-847D-19C0-8B4FF6F72D41}"/>
              </a:ext>
            </a:extLst>
          </p:cNvPr>
          <p:cNvGraphicFramePr>
            <a:graphicFrameLocks noGrp="1"/>
          </p:cNvGraphicFramePr>
          <p:nvPr>
            <p:extLst>
              <p:ext uri="{D42A27DB-BD31-4B8C-83A1-F6EECF244321}">
                <p14:modId xmlns:p14="http://schemas.microsoft.com/office/powerpoint/2010/main" val="1097433607"/>
              </p:ext>
            </p:extLst>
          </p:nvPr>
        </p:nvGraphicFramePr>
        <p:xfrm>
          <a:off x="6814686" y="2948517"/>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7</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3</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tx1"/>
                          </a:solidFill>
                        </a:rPr>
                        <a:t>10</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E</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graphicFrame>
        <p:nvGraphicFramePr>
          <p:cNvPr id="120" name="表格 119">
            <a:extLst>
              <a:ext uri="{FF2B5EF4-FFF2-40B4-BE49-F238E27FC236}">
                <a16:creationId xmlns:a16="http://schemas.microsoft.com/office/drawing/2014/main" id="{422C39EB-6890-9674-273F-8954DC14A91F}"/>
              </a:ext>
            </a:extLst>
          </p:cNvPr>
          <p:cNvGraphicFramePr>
            <a:graphicFrameLocks noGrp="1"/>
          </p:cNvGraphicFramePr>
          <p:nvPr>
            <p:extLst>
              <p:ext uri="{D42A27DB-BD31-4B8C-83A1-F6EECF244321}">
                <p14:modId xmlns:p14="http://schemas.microsoft.com/office/powerpoint/2010/main" val="2405204437"/>
              </p:ext>
            </p:extLst>
          </p:nvPr>
        </p:nvGraphicFramePr>
        <p:xfrm>
          <a:off x="1427747" y="2948517"/>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1</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3</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tx1"/>
                          </a:solidFill>
                        </a:rPr>
                        <a:t>4</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B</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graphicFrame>
        <p:nvGraphicFramePr>
          <p:cNvPr id="121" name="表格 120">
            <a:extLst>
              <a:ext uri="{FF2B5EF4-FFF2-40B4-BE49-F238E27FC236}">
                <a16:creationId xmlns:a16="http://schemas.microsoft.com/office/drawing/2014/main" id="{096382FE-2EE0-AEC0-C3DB-CB278AB6D362}"/>
              </a:ext>
            </a:extLst>
          </p:cNvPr>
          <p:cNvGraphicFramePr>
            <a:graphicFrameLocks noGrp="1"/>
          </p:cNvGraphicFramePr>
          <p:nvPr>
            <p:extLst>
              <p:ext uri="{D42A27DB-BD31-4B8C-83A1-F6EECF244321}">
                <p14:modId xmlns:p14="http://schemas.microsoft.com/office/powerpoint/2010/main" val="3213617833"/>
              </p:ext>
            </p:extLst>
          </p:nvPr>
        </p:nvGraphicFramePr>
        <p:xfrm>
          <a:off x="4044215" y="2948517"/>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4</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3</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tx1"/>
                          </a:solidFill>
                        </a:rPr>
                        <a:t>7</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D</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graphicFrame>
        <p:nvGraphicFramePr>
          <p:cNvPr id="122" name="表格 121">
            <a:extLst>
              <a:ext uri="{FF2B5EF4-FFF2-40B4-BE49-F238E27FC236}">
                <a16:creationId xmlns:a16="http://schemas.microsoft.com/office/drawing/2014/main" id="{00F7B89C-86B3-7300-E61C-0E5232A64A83}"/>
              </a:ext>
            </a:extLst>
          </p:cNvPr>
          <p:cNvGraphicFramePr>
            <a:graphicFrameLocks noGrp="1"/>
          </p:cNvGraphicFramePr>
          <p:nvPr>
            <p:extLst>
              <p:ext uri="{D42A27DB-BD31-4B8C-83A1-F6EECF244321}">
                <p14:modId xmlns:p14="http://schemas.microsoft.com/office/powerpoint/2010/main" val="4164456921"/>
              </p:ext>
            </p:extLst>
          </p:nvPr>
        </p:nvGraphicFramePr>
        <p:xfrm>
          <a:off x="4053840" y="4795008"/>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4</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2</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tx1"/>
                          </a:solidFill>
                        </a:rPr>
                        <a:t>6</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F</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cxnSp>
        <p:nvCxnSpPr>
          <p:cNvPr id="124" name="直接箭头连接符 123">
            <a:extLst>
              <a:ext uri="{FF2B5EF4-FFF2-40B4-BE49-F238E27FC236}">
                <a16:creationId xmlns:a16="http://schemas.microsoft.com/office/drawing/2014/main" id="{B0EEFEEB-2B96-BCA2-7D52-0AE23415F996}"/>
              </a:ext>
            </a:extLst>
          </p:cNvPr>
          <p:cNvCxnSpPr/>
          <p:nvPr/>
        </p:nvCxnSpPr>
        <p:spPr>
          <a:xfrm>
            <a:off x="385009" y="2553881"/>
            <a:ext cx="818147"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5" name="文本框 124">
            <a:extLst>
              <a:ext uri="{FF2B5EF4-FFF2-40B4-BE49-F238E27FC236}">
                <a16:creationId xmlns:a16="http://schemas.microsoft.com/office/drawing/2014/main" id="{A74A0D82-1E5F-A7ED-12B8-2491399D98A2}"/>
              </a:ext>
            </a:extLst>
          </p:cNvPr>
          <p:cNvSpPr txBox="1"/>
          <p:nvPr/>
        </p:nvSpPr>
        <p:spPr>
          <a:xfrm>
            <a:off x="453285" y="2215327"/>
            <a:ext cx="681597" cy="338554"/>
          </a:xfrm>
          <a:prstGeom prst="rect">
            <a:avLst/>
          </a:prstGeom>
          <a:noFill/>
        </p:spPr>
        <p:txBody>
          <a:bodyPr wrap="none" rtlCol="0">
            <a:spAutoFit/>
          </a:bodyPr>
          <a:lstStyle/>
          <a:p>
            <a:pPr algn="ctr"/>
            <a:r>
              <a:rPr lang="en-US" altLang="zh-CN" sz="1600" dirty="0">
                <a:solidFill>
                  <a:schemeClr val="bg1"/>
                </a:solidFill>
              </a:rPr>
              <a:t>Start</a:t>
            </a:r>
            <a:endParaRPr lang="zh-CN" altLang="en-US" sz="1600" dirty="0">
              <a:solidFill>
                <a:schemeClr val="bg1"/>
              </a:solidFill>
            </a:endParaRPr>
          </a:p>
        </p:txBody>
      </p:sp>
      <p:cxnSp>
        <p:nvCxnSpPr>
          <p:cNvPr id="126" name="直接箭头连接符 125">
            <a:extLst>
              <a:ext uri="{FF2B5EF4-FFF2-40B4-BE49-F238E27FC236}">
                <a16:creationId xmlns:a16="http://schemas.microsoft.com/office/drawing/2014/main" id="{1978FE8A-97B5-6613-E810-695F9B09B1DF}"/>
              </a:ext>
            </a:extLst>
          </p:cNvPr>
          <p:cNvCxnSpPr/>
          <p:nvPr/>
        </p:nvCxnSpPr>
        <p:spPr>
          <a:xfrm>
            <a:off x="11028917" y="2553881"/>
            <a:ext cx="818147"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7" name="文本框 126">
            <a:extLst>
              <a:ext uri="{FF2B5EF4-FFF2-40B4-BE49-F238E27FC236}">
                <a16:creationId xmlns:a16="http://schemas.microsoft.com/office/drawing/2014/main" id="{10AD457B-F8BE-DB48-C663-3C593D3B0D51}"/>
              </a:ext>
            </a:extLst>
          </p:cNvPr>
          <p:cNvSpPr txBox="1"/>
          <p:nvPr/>
        </p:nvSpPr>
        <p:spPr>
          <a:xfrm>
            <a:off x="11137268" y="2215327"/>
            <a:ext cx="601447" cy="338554"/>
          </a:xfrm>
          <a:prstGeom prst="rect">
            <a:avLst/>
          </a:prstGeom>
          <a:noFill/>
        </p:spPr>
        <p:txBody>
          <a:bodyPr wrap="none" rtlCol="0">
            <a:spAutoFit/>
          </a:bodyPr>
          <a:lstStyle/>
          <a:p>
            <a:pPr algn="ctr"/>
            <a:r>
              <a:rPr lang="en-US" altLang="zh-CN" sz="1600" dirty="0">
                <a:solidFill>
                  <a:schemeClr val="bg1"/>
                </a:solidFill>
              </a:rPr>
              <a:t>End</a:t>
            </a:r>
            <a:endParaRPr lang="zh-CN" altLang="en-US" sz="1600" dirty="0">
              <a:solidFill>
                <a:schemeClr val="bg1"/>
              </a:solidFill>
            </a:endParaRPr>
          </a:p>
        </p:txBody>
      </p:sp>
      <p:cxnSp>
        <p:nvCxnSpPr>
          <p:cNvPr id="129" name="连接符: 肘形 128">
            <a:extLst>
              <a:ext uri="{FF2B5EF4-FFF2-40B4-BE49-F238E27FC236}">
                <a16:creationId xmlns:a16="http://schemas.microsoft.com/office/drawing/2014/main" id="{4469777E-7173-3774-8241-0356F5137F17}"/>
              </a:ext>
            </a:extLst>
          </p:cNvPr>
          <p:cNvCxnSpPr>
            <a:cxnSpLocks/>
            <a:stCxn id="115" idx="1"/>
            <a:endCxn id="120" idx="1"/>
          </p:cNvCxnSpPr>
          <p:nvPr/>
        </p:nvCxnSpPr>
        <p:spPr>
          <a:xfrm rot="10800000" flipV="1">
            <a:off x="1427747" y="1514351"/>
            <a:ext cx="12700" cy="1982805"/>
          </a:xfrm>
          <a:prstGeom prst="bentConnector3">
            <a:avLst>
              <a:gd name="adj1" fmla="val 1800000"/>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2" name="连接符: 肘形 131">
            <a:extLst>
              <a:ext uri="{FF2B5EF4-FFF2-40B4-BE49-F238E27FC236}">
                <a16:creationId xmlns:a16="http://schemas.microsoft.com/office/drawing/2014/main" id="{86849219-F1F0-4796-6B1F-EC0DF63C70B3}"/>
              </a:ext>
            </a:extLst>
          </p:cNvPr>
          <p:cNvCxnSpPr>
            <a:cxnSpLocks/>
            <a:stCxn id="120" idx="3"/>
            <a:endCxn id="122" idx="1"/>
          </p:cNvCxnSpPr>
          <p:nvPr/>
        </p:nvCxnSpPr>
        <p:spPr>
          <a:xfrm>
            <a:off x="3011747" y="3497157"/>
            <a:ext cx="1042093" cy="1846491"/>
          </a:xfrm>
          <a:prstGeom prst="bentConnector3">
            <a:avLst>
              <a:gd name="adj1" fmla="val 50000"/>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连接符: 肘形 134">
            <a:extLst>
              <a:ext uri="{FF2B5EF4-FFF2-40B4-BE49-F238E27FC236}">
                <a16:creationId xmlns:a16="http://schemas.microsoft.com/office/drawing/2014/main" id="{09FEC20E-E436-364D-AECC-0EEB0EB1C598}"/>
              </a:ext>
            </a:extLst>
          </p:cNvPr>
          <p:cNvCxnSpPr>
            <a:cxnSpLocks/>
            <a:stCxn id="117" idx="3"/>
            <a:endCxn id="118" idx="1"/>
          </p:cNvCxnSpPr>
          <p:nvPr/>
        </p:nvCxnSpPr>
        <p:spPr>
          <a:xfrm>
            <a:off x="8398686" y="1514352"/>
            <a:ext cx="1032468" cy="991402"/>
          </a:xfrm>
          <a:prstGeom prst="bentConnector3">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连接符: 肘形 137">
            <a:extLst>
              <a:ext uri="{FF2B5EF4-FFF2-40B4-BE49-F238E27FC236}">
                <a16:creationId xmlns:a16="http://schemas.microsoft.com/office/drawing/2014/main" id="{599A1BF7-FD1E-1E10-3352-B490DFAE9057}"/>
              </a:ext>
            </a:extLst>
          </p:cNvPr>
          <p:cNvCxnSpPr>
            <a:cxnSpLocks/>
            <a:stCxn id="122" idx="3"/>
            <a:endCxn id="119" idx="1"/>
          </p:cNvCxnSpPr>
          <p:nvPr/>
        </p:nvCxnSpPr>
        <p:spPr>
          <a:xfrm flipV="1">
            <a:off x="5637840" y="3497157"/>
            <a:ext cx="1176846" cy="1846491"/>
          </a:xfrm>
          <a:prstGeom prst="bentConnector3">
            <a:avLst>
              <a:gd name="adj1" fmla="val 50000"/>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连接符: 肘形 140">
            <a:extLst>
              <a:ext uri="{FF2B5EF4-FFF2-40B4-BE49-F238E27FC236}">
                <a16:creationId xmlns:a16="http://schemas.microsoft.com/office/drawing/2014/main" id="{86E7634F-17DB-EA99-ABEB-3718A4C7535B}"/>
              </a:ext>
            </a:extLst>
          </p:cNvPr>
          <p:cNvCxnSpPr>
            <a:cxnSpLocks/>
            <a:stCxn id="119" idx="3"/>
            <a:endCxn id="118" idx="1"/>
          </p:cNvCxnSpPr>
          <p:nvPr/>
        </p:nvCxnSpPr>
        <p:spPr>
          <a:xfrm flipV="1">
            <a:off x="8398686" y="2505754"/>
            <a:ext cx="1032468" cy="991403"/>
          </a:xfrm>
          <a:prstGeom prst="bentConnector3">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44" name="直接箭头连接符 143">
            <a:extLst>
              <a:ext uri="{FF2B5EF4-FFF2-40B4-BE49-F238E27FC236}">
                <a16:creationId xmlns:a16="http://schemas.microsoft.com/office/drawing/2014/main" id="{A6689D4F-9018-E45D-A58B-54487B2134D0}"/>
              </a:ext>
            </a:extLst>
          </p:cNvPr>
          <p:cNvCxnSpPr>
            <a:cxnSpLocks/>
            <a:stCxn id="115" idx="3"/>
            <a:endCxn id="116" idx="1"/>
          </p:cNvCxnSpPr>
          <p:nvPr/>
        </p:nvCxnSpPr>
        <p:spPr>
          <a:xfrm>
            <a:off x="3011747" y="1514352"/>
            <a:ext cx="1042093"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47" name="直接箭头连接符 146">
            <a:extLst>
              <a:ext uri="{FF2B5EF4-FFF2-40B4-BE49-F238E27FC236}">
                <a16:creationId xmlns:a16="http://schemas.microsoft.com/office/drawing/2014/main" id="{AA92C77D-0628-1BF5-D2FF-5AE4B734C4CD}"/>
              </a:ext>
            </a:extLst>
          </p:cNvPr>
          <p:cNvCxnSpPr>
            <a:cxnSpLocks/>
            <a:stCxn id="116" idx="3"/>
            <a:endCxn id="117" idx="1"/>
          </p:cNvCxnSpPr>
          <p:nvPr/>
        </p:nvCxnSpPr>
        <p:spPr>
          <a:xfrm>
            <a:off x="5637840" y="1514352"/>
            <a:ext cx="1176846"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50" name="直接箭头连接符 149">
            <a:extLst>
              <a:ext uri="{FF2B5EF4-FFF2-40B4-BE49-F238E27FC236}">
                <a16:creationId xmlns:a16="http://schemas.microsoft.com/office/drawing/2014/main" id="{1CE05F35-552E-D461-12BD-8AEE5F236696}"/>
              </a:ext>
            </a:extLst>
          </p:cNvPr>
          <p:cNvCxnSpPr>
            <a:cxnSpLocks/>
            <a:stCxn id="121" idx="3"/>
            <a:endCxn id="119" idx="1"/>
          </p:cNvCxnSpPr>
          <p:nvPr/>
        </p:nvCxnSpPr>
        <p:spPr>
          <a:xfrm>
            <a:off x="5628215" y="3497157"/>
            <a:ext cx="1186471"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53" name="直接箭头连接符 152">
            <a:extLst>
              <a:ext uri="{FF2B5EF4-FFF2-40B4-BE49-F238E27FC236}">
                <a16:creationId xmlns:a16="http://schemas.microsoft.com/office/drawing/2014/main" id="{9149F861-F87C-DE11-7259-E80295796F12}"/>
              </a:ext>
            </a:extLst>
          </p:cNvPr>
          <p:cNvCxnSpPr>
            <a:cxnSpLocks/>
            <a:stCxn id="120" idx="3"/>
            <a:endCxn id="121" idx="1"/>
          </p:cNvCxnSpPr>
          <p:nvPr/>
        </p:nvCxnSpPr>
        <p:spPr>
          <a:xfrm>
            <a:off x="3011747" y="3497157"/>
            <a:ext cx="1032468"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57" name="文本框 156">
            <a:extLst>
              <a:ext uri="{FF2B5EF4-FFF2-40B4-BE49-F238E27FC236}">
                <a16:creationId xmlns:a16="http://schemas.microsoft.com/office/drawing/2014/main" id="{E5166E40-5B8C-6B96-FB3E-69D014E72CF8}"/>
              </a:ext>
            </a:extLst>
          </p:cNvPr>
          <p:cNvSpPr txBox="1"/>
          <p:nvPr/>
        </p:nvSpPr>
        <p:spPr>
          <a:xfrm>
            <a:off x="1219920" y="467460"/>
            <a:ext cx="4572085" cy="338554"/>
          </a:xfrm>
          <a:prstGeom prst="rect">
            <a:avLst/>
          </a:prstGeom>
          <a:noFill/>
        </p:spPr>
        <p:txBody>
          <a:bodyPr wrap="none" rtlCol="0">
            <a:spAutoFit/>
          </a:bodyPr>
          <a:lstStyle/>
          <a:p>
            <a:pPr algn="l"/>
            <a:r>
              <a:rPr lang="zh-CN" altLang="en-US" sz="1600" dirty="0">
                <a:solidFill>
                  <a:schemeClr val="bg1"/>
                </a:solidFill>
              </a:rPr>
              <a:t>例：正推法：最早开始时间和最早完成时间</a:t>
            </a:r>
            <a:r>
              <a:rPr lang="en-US" altLang="zh-CN" sz="1600" dirty="0">
                <a:solidFill>
                  <a:schemeClr val="bg1"/>
                </a:solidFill>
              </a:rPr>
              <a:t>-</a:t>
            </a:r>
            <a:r>
              <a:rPr lang="zh-CN" altLang="en-US" sz="1600" dirty="0">
                <a:solidFill>
                  <a:schemeClr val="bg1"/>
                </a:solidFill>
              </a:rPr>
              <a:t>完成</a:t>
            </a:r>
          </a:p>
        </p:txBody>
      </p:sp>
    </p:spTree>
    <p:extLst>
      <p:ext uri="{BB962C8B-B14F-4D97-AF65-F5344CB8AC3E}">
        <p14:creationId xmlns:p14="http://schemas.microsoft.com/office/powerpoint/2010/main" val="2641375706"/>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C1F536E-A896-F859-AA50-46D3E3539532}"/>
            </a:ext>
          </a:extLst>
        </p:cNvPr>
        <p:cNvGrpSpPr/>
        <p:nvPr/>
      </p:nvGrpSpPr>
      <p:grpSpPr>
        <a:xfrm>
          <a:off x="0" y="0"/>
          <a:ext cx="0" cy="0"/>
          <a:chOff x="0" y="0"/>
          <a:chExt cx="0" cy="0"/>
        </a:xfrm>
      </p:grpSpPr>
      <p:graphicFrame>
        <p:nvGraphicFramePr>
          <p:cNvPr id="115" name="表格 114">
            <a:extLst>
              <a:ext uri="{FF2B5EF4-FFF2-40B4-BE49-F238E27FC236}">
                <a16:creationId xmlns:a16="http://schemas.microsoft.com/office/drawing/2014/main" id="{93E32146-A5C8-1A82-5209-2188E56F6DE1}"/>
              </a:ext>
            </a:extLst>
          </p:cNvPr>
          <p:cNvGraphicFramePr>
            <a:graphicFrameLocks noGrp="1"/>
          </p:cNvGraphicFramePr>
          <p:nvPr/>
        </p:nvGraphicFramePr>
        <p:xfrm>
          <a:off x="1427747" y="965712"/>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1</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7</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8</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A</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graphicFrame>
        <p:nvGraphicFramePr>
          <p:cNvPr id="116" name="表格 115">
            <a:extLst>
              <a:ext uri="{FF2B5EF4-FFF2-40B4-BE49-F238E27FC236}">
                <a16:creationId xmlns:a16="http://schemas.microsoft.com/office/drawing/2014/main" id="{B7C80CD6-3A0E-B974-4C43-DB9870170293}"/>
              </a:ext>
            </a:extLst>
          </p:cNvPr>
          <p:cNvGraphicFramePr>
            <a:graphicFrameLocks noGrp="1"/>
          </p:cNvGraphicFramePr>
          <p:nvPr/>
        </p:nvGraphicFramePr>
        <p:xfrm>
          <a:off x="4053840" y="965712"/>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8</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6</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14</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C</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graphicFrame>
        <p:nvGraphicFramePr>
          <p:cNvPr id="117" name="表格 116">
            <a:extLst>
              <a:ext uri="{FF2B5EF4-FFF2-40B4-BE49-F238E27FC236}">
                <a16:creationId xmlns:a16="http://schemas.microsoft.com/office/drawing/2014/main" id="{3F0BDA6A-ECC4-E129-B200-ACBD88138692}"/>
              </a:ext>
            </a:extLst>
          </p:cNvPr>
          <p:cNvGraphicFramePr>
            <a:graphicFrameLocks noGrp="1"/>
          </p:cNvGraphicFramePr>
          <p:nvPr/>
        </p:nvGraphicFramePr>
        <p:xfrm>
          <a:off x="6814686" y="965712"/>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14</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3</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17</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G</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graphicFrame>
        <p:nvGraphicFramePr>
          <p:cNvPr id="118" name="表格 117">
            <a:extLst>
              <a:ext uri="{FF2B5EF4-FFF2-40B4-BE49-F238E27FC236}">
                <a16:creationId xmlns:a16="http://schemas.microsoft.com/office/drawing/2014/main" id="{7EE95BB7-55C6-7C06-60E2-7394F9B05E9E}"/>
              </a:ext>
            </a:extLst>
          </p:cNvPr>
          <p:cNvGraphicFramePr>
            <a:graphicFrameLocks noGrp="1"/>
          </p:cNvGraphicFramePr>
          <p:nvPr>
            <p:extLst>
              <p:ext uri="{D42A27DB-BD31-4B8C-83A1-F6EECF244321}">
                <p14:modId xmlns:p14="http://schemas.microsoft.com/office/powerpoint/2010/main" val="1780059745"/>
              </p:ext>
            </p:extLst>
          </p:nvPr>
        </p:nvGraphicFramePr>
        <p:xfrm>
          <a:off x="9431154" y="1957114"/>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17</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2</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19</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H</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19</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graphicFrame>
        <p:nvGraphicFramePr>
          <p:cNvPr id="119" name="表格 118">
            <a:extLst>
              <a:ext uri="{FF2B5EF4-FFF2-40B4-BE49-F238E27FC236}">
                <a16:creationId xmlns:a16="http://schemas.microsoft.com/office/drawing/2014/main" id="{F9687FBC-06B2-1301-118B-785B3D2B85E4}"/>
              </a:ext>
            </a:extLst>
          </p:cNvPr>
          <p:cNvGraphicFramePr>
            <a:graphicFrameLocks noGrp="1"/>
          </p:cNvGraphicFramePr>
          <p:nvPr/>
        </p:nvGraphicFramePr>
        <p:xfrm>
          <a:off x="6814686" y="2948517"/>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7</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3</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10</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E</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graphicFrame>
        <p:nvGraphicFramePr>
          <p:cNvPr id="120" name="表格 119">
            <a:extLst>
              <a:ext uri="{FF2B5EF4-FFF2-40B4-BE49-F238E27FC236}">
                <a16:creationId xmlns:a16="http://schemas.microsoft.com/office/drawing/2014/main" id="{A6DEDB45-2FD0-D067-2062-3D14F571686F}"/>
              </a:ext>
            </a:extLst>
          </p:cNvPr>
          <p:cNvGraphicFramePr>
            <a:graphicFrameLocks noGrp="1"/>
          </p:cNvGraphicFramePr>
          <p:nvPr/>
        </p:nvGraphicFramePr>
        <p:xfrm>
          <a:off x="1427747" y="2948517"/>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1</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3</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4</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B</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graphicFrame>
        <p:nvGraphicFramePr>
          <p:cNvPr id="121" name="表格 120">
            <a:extLst>
              <a:ext uri="{FF2B5EF4-FFF2-40B4-BE49-F238E27FC236}">
                <a16:creationId xmlns:a16="http://schemas.microsoft.com/office/drawing/2014/main" id="{5E6861E3-81F4-A6BA-132A-1F6C25440286}"/>
              </a:ext>
            </a:extLst>
          </p:cNvPr>
          <p:cNvGraphicFramePr>
            <a:graphicFrameLocks noGrp="1"/>
          </p:cNvGraphicFramePr>
          <p:nvPr/>
        </p:nvGraphicFramePr>
        <p:xfrm>
          <a:off x="4044215" y="2948517"/>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4</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3</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7</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D</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graphicFrame>
        <p:nvGraphicFramePr>
          <p:cNvPr id="122" name="表格 121">
            <a:extLst>
              <a:ext uri="{FF2B5EF4-FFF2-40B4-BE49-F238E27FC236}">
                <a16:creationId xmlns:a16="http://schemas.microsoft.com/office/drawing/2014/main" id="{0BABBE3A-A92E-875D-8442-FDAA67C1EE83}"/>
              </a:ext>
            </a:extLst>
          </p:cNvPr>
          <p:cNvGraphicFramePr>
            <a:graphicFrameLocks noGrp="1"/>
          </p:cNvGraphicFramePr>
          <p:nvPr/>
        </p:nvGraphicFramePr>
        <p:xfrm>
          <a:off x="4053840" y="4795008"/>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4</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2</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6</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F</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cxnSp>
        <p:nvCxnSpPr>
          <p:cNvPr id="124" name="直接箭头连接符 123">
            <a:extLst>
              <a:ext uri="{FF2B5EF4-FFF2-40B4-BE49-F238E27FC236}">
                <a16:creationId xmlns:a16="http://schemas.microsoft.com/office/drawing/2014/main" id="{2106AECF-409F-C3A2-6670-D50992C05839}"/>
              </a:ext>
            </a:extLst>
          </p:cNvPr>
          <p:cNvCxnSpPr/>
          <p:nvPr/>
        </p:nvCxnSpPr>
        <p:spPr>
          <a:xfrm>
            <a:off x="385009" y="2553881"/>
            <a:ext cx="818147"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5" name="文本框 124">
            <a:extLst>
              <a:ext uri="{FF2B5EF4-FFF2-40B4-BE49-F238E27FC236}">
                <a16:creationId xmlns:a16="http://schemas.microsoft.com/office/drawing/2014/main" id="{AC27AA86-8B2D-B845-3039-77A7E34C887F}"/>
              </a:ext>
            </a:extLst>
          </p:cNvPr>
          <p:cNvSpPr txBox="1"/>
          <p:nvPr/>
        </p:nvSpPr>
        <p:spPr>
          <a:xfrm>
            <a:off x="453285" y="2215327"/>
            <a:ext cx="681597" cy="338554"/>
          </a:xfrm>
          <a:prstGeom prst="rect">
            <a:avLst/>
          </a:prstGeom>
          <a:noFill/>
        </p:spPr>
        <p:txBody>
          <a:bodyPr wrap="none" rtlCol="0">
            <a:spAutoFit/>
          </a:bodyPr>
          <a:lstStyle/>
          <a:p>
            <a:pPr algn="ctr"/>
            <a:r>
              <a:rPr lang="en-US" altLang="zh-CN" sz="1600" dirty="0">
                <a:solidFill>
                  <a:schemeClr val="bg1"/>
                </a:solidFill>
              </a:rPr>
              <a:t>Start</a:t>
            </a:r>
            <a:endParaRPr lang="zh-CN" altLang="en-US" sz="1600" dirty="0">
              <a:solidFill>
                <a:schemeClr val="bg1"/>
              </a:solidFill>
            </a:endParaRPr>
          </a:p>
        </p:txBody>
      </p:sp>
      <p:cxnSp>
        <p:nvCxnSpPr>
          <p:cNvPr id="126" name="直接箭头连接符 125">
            <a:extLst>
              <a:ext uri="{FF2B5EF4-FFF2-40B4-BE49-F238E27FC236}">
                <a16:creationId xmlns:a16="http://schemas.microsoft.com/office/drawing/2014/main" id="{16D1C934-E74F-ACF5-5A43-8762748EA5CF}"/>
              </a:ext>
            </a:extLst>
          </p:cNvPr>
          <p:cNvCxnSpPr/>
          <p:nvPr/>
        </p:nvCxnSpPr>
        <p:spPr>
          <a:xfrm>
            <a:off x="11028917" y="2553881"/>
            <a:ext cx="818147"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7" name="文本框 126">
            <a:extLst>
              <a:ext uri="{FF2B5EF4-FFF2-40B4-BE49-F238E27FC236}">
                <a16:creationId xmlns:a16="http://schemas.microsoft.com/office/drawing/2014/main" id="{FD8AB1CF-2C4D-0706-1422-0F9F55A63F45}"/>
              </a:ext>
            </a:extLst>
          </p:cNvPr>
          <p:cNvSpPr txBox="1"/>
          <p:nvPr/>
        </p:nvSpPr>
        <p:spPr>
          <a:xfrm>
            <a:off x="11137268" y="2215327"/>
            <a:ext cx="601447" cy="338554"/>
          </a:xfrm>
          <a:prstGeom prst="rect">
            <a:avLst/>
          </a:prstGeom>
          <a:noFill/>
        </p:spPr>
        <p:txBody>
          <a:bodyPr wrap="none" rtlCol="0">
            <a:spAutoFit/>
          </a:bodyPr>
          <a:lstStyle/>
          <a:p>
            <a:pPr algn="ctr"/>
            <a:r>
              <a:rPr lang="en-US" altLang="zh-CN" sz="1600" dirty="0">
                <a:solidFill>
                  <a:schemeClr val="bg1"/>
                </a:solidFill>
              </a:rPr>
              <a:t>End</a:t>
            </a:r>
            <a:endParaRPr lang="zh-CN" altLang="en-US" sz="1600" dirty="0">
              <a:solidFill>
                <a:schemeClr val="bg1"/>
              </a:solidFill>
            </a:endParaRPr>
          </a:p>
        </p:txBody>
      </p:sp>
      <p:cxnSp>
        <p:nvCxnSpPr>
          <p:cNvPr id="129" name="连接符: 肘形 128">
            <a:extLst>
              <a:ext uri="{FF2B5EF4-FFF2-40B4-BE49-F238E27FC236}">
                <a16:creationId xmlns:a16="http://schemas.microsoft.com/office/drawing/2014/main" id="{80E0CC3D-35DB-26E0-A1B6-3DC751A7303C}"/>
              </a:ext>
            </a:extLst>
          </p:cNvPr>
          <p:cNvCxnSpPr>
            <a:cxnSpLocks/>
            <a:stCxn id="115" idx="1"/>
            <a:endCxn id="120" idx="1"/>
          </p:cNvCxnSpPr>
          <p:nvPr/>
        </p:nvCxnSpPr>
        <p:spPr>
          <a:xfrm rot="10800000" flipV="1">
            <a:off x="1427747" y="1514351"/>
            <a:ext cx="12700" cy="1982805"/>
          </a:xfrm>
          <a:prstGeom prst="bentConnector3">
            <a:avLst>
              <a:gd name="adj1" fmla="val 1800000"/>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2" name="连接符: 肘形 131">
            <a:extLst>
              <a:ext uri="{FF2B5EF4-FFF2-40B4-BE49-F238E27FC236}">
                <a16:creationId xmlns:a16="http://schemas.microsoft.com/office/drawing/2014/main" id="{0623EE9B-BC21-97F2-8107-483B0D71DD2E}"/>
              </a:ext>
            </a:extLst>
          </p:cNvPr>
          <p:cNvCxnSpPr>
            <a:cxnSpLocks/>
            <a:stCxn id="120" idx="3"/>
            <a:endCxn id="122" idx="1"/>
          </p:cNvCxnSpPr>
          <p:nvPr/>
        </p:nvCxnSpPr>
        <p:spPr>
          <a:xfrm>
            <a:off x="3011747" y="3497157"/>
            <a:ext cx="1042093" cy="1846491"/>
          </a:xfrm>
          <a:prstGeom prst="bentConnector3">
            <a:avLst>
              <a:gd name="adj1" fmla="val 50000"/>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连接符: 肘形 134">
            <a:extLst>
              <a:ext uri="{FF2B5EF4-FFF2-40B4-BE49-F238E27FC236}">
                <a16:creationId xmlns:a16="http://schemas.microsoft.com/office/drawing/2014/main" id="{E9E0F146-3EFD-A87F-6C28-684C9446A77D}"/>
              </a:ext>
            </a:extLst>
          </p:cNvPr>
          <p:cNvCxnSpPr>
            <a:cxnSpLocks/>
            <a:stCxn id="117" idx="3"/>
            <a:endCxn id="118" idx="1"/>
          </p:cNvCxnSpPr>
          <p:nvPr/>
        </p:nvCxnSpPr>
        <p:spPr>
          <a:xfrm>
            <a:off x="8398686" y="1514352"/>
            <a:ext cx="1032468" cy="991402"/>
          </a:xfrm>
          <a:prstGeom prst="bentConnector3">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连接符: 肘形 137">
            <a:extLst>
              <a:ext uri="{FF2B5EF4-FFF2-40B4-BE49-F238E27FC236}">
                <a16:creationId xmlns:a16="http://schemas.microsoft.com/office/drawing/2014/main" id="{16ED8F60-C297-3CE5-0421-7207A48EA72E}"/>
              </a:ext>
            </a:extLst>
          </p:cNvPr>
          <p:cNvCxnSpPr>
            <a:cxnSpLocks/>
            <a:stCxn id="122" idx="3"/>
            <a:endCxn id="119" idx="1"/>
          </p:cNvCxnSpPr>
          <p:nvPr/>
        </p:nvCxnSpPr>
        <p:spPr>
          <a:xfrm flipV="1">
            <a:off x="5637840" y="3497157"/>
            <a:ext cx="1176846" cy="1846491"/>
          </a:xfrm>
          <a:prstGeom prst="bentConnector3">
            <a:avLst>
              <a:gd name="adj1" fmla="val 50000"/>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连接符: 肘形 140">
            <a:extLst>
              <a:ext uri="{FF2B5EF4-FFF2-40B4-BE49-F238E27FC236}">
                <a16:creationId xmlns:a16="http://schemas.microsoft.com/office/drawing/2014/main" id="{D0A5A18D-5740-54BF-DBD0-8E1FF17CF8F0}"/>
              </a:ext>
            </a:extLst>
          </p:cNvPr>
          <p:cNvCxnSpPr>
            <a:cxnSpLocks/>
            <a:stCxn id="119" idx="3"/>
            <a:endCxn id="118" idx="1"/>
          </p:cNvCxnSpPr>
          <p:nvPr/>
        </p:nvCxnSpPr>
        <p:spPr>
          <a:xfrm flipV="1">
            <a:off x="8398686" y="2505754"/>
            <a:ext cx="1032468" cy="991403"/>
          </a:xfrm>
          <a:prstGeom prst="bentConnector3">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44" name="直接箭头连接符 143">
            <a:extLst>
              <a:ext uri="{FF2B5EF4-FFF2-40B4-BE49-F238E27FC236}">
                <a16:creationId xmlns:a16="http://schemas.microsoft.com/office/drawing/2014/main" id="{31DA5330-DF8D-A732-10F2-B56D99B11211}"/>
              </a:ext>
            </a:extLst>
          </p:cNvPr>
          <p:cNvCxnSpPr>
            <a:cxnSpLocks/>
            <a:stCxn id="115" idx="3"/>
            <a:endCxn id="116" idx="1"/>
          </p:cNvCxnSpPr>
          <p:nvPr/>
        </p:nvCxnSpPr>
        <p:spPr>
          <a:xfrm>
            <a:off x="3011747" y="1514352"/>
            <a:ext cx="1042093"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47" name="直接箭头连接符 146">
            <a:extLst>
              <a:ext uri="{FF2B5EF4-FFF2-40B4-BE49-F238E27FC236}">
                <a16:creationId xmlns:a16="http://schemas.microsoft.com/office/drawing/2014/main" id="{C35E6D7F-8FDA-4496-BDE8-587832C9540A}"/>
              </a:ext>
            </a:extLst>
          </p:cNvPr>
          <p:cNvCxnSpPr>
            <a:cxnSpLocks/>
            <a:stCxn id="116" idx="3"/>
            <a:endCxn id="117" idx="1"/>
          </p:cNvCxnSpPr>
          <p:nvPr/>
        </p:nvCxnSpPr>
        <p:spPr>
          <a:xfrm>
            <a:off x="5637840" y="1514352"/>
            <a:ext cx="1176846"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50" name="直接箭头连接符 149">
            <a:extLst>
              <a:ext uri="{FF2B5EF4-FFF2-40B4-BE49-F238E27FC236}">
                <a16:creationId xmlns:a16="http://schemas.microsoft.com/office/drawing/2014/main" id="{4B392B3F-B0E7-F51C-2350-84EB732AEE2F}"/>
              </a:ext>
            </a:extLst>
          </p:cNvPr>
          <p:cNvCxnSpPr>
            <a:cxnSpLocks/>
            <a:stCxn id="121" idx="3"/>
            <a:endCxn id="119" idx="1"/>
          </p:cNvCxnSpPr>
          <p:nvPr/>
        </p:nvCxnSpPr>
        <p:spPr>
          <a:xfrm>
            <a:off x="5628215" y="3497157"/>
            <a:ext cx="1186471"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53" name="直接箭头连接符 152">
            <a:extLst>
              <a:ext uri="{FF2B5EF4-FFF2-40B4-BE49-F238E27FC236}">
                <a16:creationId xmlns:a16="http://schemas.microsoft.com/office/drawing/2014/main" id="{678E9659-9089-718E-C544-1E37F79F992E}"/>
              </a:ext>
            </a:extLst>
          </p:cNvPr>
          <p:cNvCxnSpPr>
            <a:cxnSpLocks/>
            <a:stCxn id="120" idx="3"/>
            <a:endCxn id="121" idx="1"/>
          </p:cNvCxnSpPr>
          <p:nvPr/>
        </p:nvCxnSpPr>
        <p:spPr>
          <a:xfrm>
            <a:off x="3011747" y="3497157"/>
            <a:ext cx="1032468"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8621818A-E76A-ABCD-4A39-503FEA4BD15A}"/>
              </a:ext>
            </a:extLst>
          </p:cNvPr>
          <p:cNvSpPr txBox="1"/>
          <p:nvPr/>
        </p:nvSpPr>
        <p:spPr>
          <a:xfrm>
            <a:off x="1219920" y="467460"/>
            <a:ext cx="4083169" cy="338554"/>
          </a:xfrm>
          <a:prstGeom prst="rect">
            <a:avLst/>
          </a:prstGeom>
          <a:noFill/>
        </p:spPr>
        <p:txBody>
          <a:bodyPr wrap="none" rtlCol="0">
            <a:spAutoFit/>
          </a:bodyPr>
          <a:lstStyle/>
          <a:p>
            <a:pPr algn="l"/>
            <a:r>
              <a:rPr lang="zh-CN" altLang="en-US" sz="1600" dirty="0">
                <a:solidFill>
                  <a:schemeClr val="bg1"/>
                </a:solidFill>
              </a:rPr>
              <a:t>例：逆推法：最晚开始时间和最晚完成时间</a:t>
            </a:r>
          </a:p>
        </p:txBody>
      </p:sp>
    </p:spTree>
    <p:extLst>
      <p:ext uri="{BB962C8B-B14F-4D97-AF65-F5344CB8AC3E}">
        <p14:creationId xmlns:p14="http://schemas.microsoft.com/office/powerpoint/2010/main" val="3601933397"/>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F54600A-C896-37F0-BE71-652DEB126941}"/>
            </a:ext>
          </a:extLst>
        </p:cNvPr>
        <p:cNvGrpSpPr/>
        <p:nvPr/>
      </p:nvGrpSpPr>
      <p:grpSpPr>
        <a:xfrm>
          <a:off x="0" y="0"/>
          <a:ext cx="0" cy="0"/>
          <a:chOff x="0" y="0"/>
          <a:chExt cx="0" cy="0"/>
        </a:xfrm>
      </p:grpSpPr>
      <p:graphicFrame>
        <p:nvGraphicFramePr>
          <p:cNvPr id="115" name="表格 114">
            <a:extLst>
              <a:ext uri="{FF2B5EF4-FFF2-40B4-BE49-F238E27FC236}">
                <a16:creationId xmlns:a16="http://schemas.microsoft.com/office/drawing/2014/main" id="{4D53E44C-8791-1C2F-B90E-846A3328B188}"/>
              </a:ext>
            </a:extLst>
          </p:cNvPr>
          <p:cNvGraphicFramePr>
            <a:graphicFrameLocks noGrp="1"/>
          </p:cNvGraphicFramePr>
          <p:nvPr>
            <p:extLst>
              <p:ext uri="{D42A27DB-BD31-4B8C-83A1-F6EECF244321}">
                <p14:modId xmlns:p14="http://schemas.microsoft.com/office/powerpoint/2010/main" val="1701392301"/>
              </p:ext>
            </p:extLst>
          </p:nvPr>
        </p:nvGraphicFramePr>
        <p:xfrm>
          <a:off x="1427747" y="965712"/>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1</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7</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8</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A</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r>
                        <a:rPr lang="en-US" altLang="zh-CN" sz="1400" dirty="0">
                          <a:solidFill>
                            <a:schemeClr val="tx1"/>
                          </a:solidFill>
                        </a:rPr>
                        <a:t>1</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tx1"/>
                          </a:solidFill>
                        </a:rPr>
                        <a:t>8</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58513378"/>
                  </a:ext>
                </a:extLst>
              </a:tr>
            </a:tbl>
          </a:graphicData>
        </a:graphic>
      </p:graphicFrame>
      <p:graphicFrame>
        <p:nvGraphicFramePr>
          <p:cNvPr id="116" name="表格 115">
            <a:extLst>
              <a:ext uri="{FF2B5EF4-FFF2-40B4-BE49-F238E27FC236}">
                <a16:creationId xmlns:a16="http://schemas.microsoft.com/office/drawing/2014/main" id="{A798A692-D129-C2EB-7F37-3D112C049ED6}"/>
              </a:ext>
            </a:extLst>
          </p:cNvPr>
          <p:cNvGraphicFramePr>
            <a:graphicFrameLocks noGrp="1"/>
          </p:cNvGraphicFramePr>
          <p:nvPr>
            <p:extLst>
              <p:ext uri="{D42A27DB-BD31-4B8C-83A1-F6EECF244321}">
                <p14:modId xmlns:p14="http://schemas.microsoft.com/office/powerpoint/2010/main" val="333155910"/>
              </p:ext>
            </p:extLst>
          </p:nvPr>
        </p:nvGraphicFramePr>
        <p:xfrm>
          <a:off x="4053840" y="965712"/>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8</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6</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14</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C</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r>
                        <a:rPr lang="en-US" altLang="zh-CN" sz="1400" dirty="0">
                          <a:solidFill>
                            <a:schemeClr val="tx1"/>
                          </a:solidFill>
                        </a:rPr>
                        <a:t>8</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tx1"/>
                          </a:solidFill>
                        </a:rPr>
                        <a:t>14</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58513378"/>
                  </a:ext>
                </a:extLst>
              </a:tr>
            </a:tbl>
          </a:graphicData>
        </a:graphic>
      </p:graphicFrame>
      <p:graphicFrame>
        <p:nvGraphicFramePr>
          <p:cNvPr id="117" name="表格 116">
            <a:extLst>
              <a:ext uri="{FF2B5EF4-FFF2-40B4-BE49-F238E27FC236}">
                <a16:creationId xmlns:a16="http://schemas.microsoft.com/office/drawing/2014/main" id="{A2DF7D45-E8CC-D7EB-9CD4-751E2EFEC906}"/>
              </a:ext>
            </a:extLst>
          </p:cNvPr>
          <p:cNvGraphicFramePr>
            <a:graphicFrameLocks noGrp="1"/>
          </p:cNvGraphicFramePr>
          <p:nvPr>
            <p:extLst>
              <p:ext uri="{D42A27DB-BD31-4B8C-83A1-F6EECF244321}">
                <p14:modId xmlns:p14="http://schemas.microsoft.com/office/powerpoint/2010/main" val="2348315266"/>
              </p:ext>
            </p:extLst>
          </p:nvPr>
        </p:nvGraphicFramePr>
        <p:xfrm>
          <a:off x="6814686" y="965712"/>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14</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3</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17</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G</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r>
                        <a:rPr lang="en-US" altLang="zh-CN" sz="1400" dirty="0">
                          <a:solidFill>
                            <a:schemeClr val="tx1"/>
                          </a:solidFill>
                        </a:rPr>
                        <a:t>14</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tx1"/>
                          </a:solidFill>
                        </a:rPr>
                        <a:t>17</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58513378"/>
                  </a:ext>
                </a:extLst>
              </a:tr>
            </a:tbl>
          </a:graphicData>
        </a:graphic>
      </p:graphicFrame>
      <p:graphicFrame>
        <p:nvGraphicFramePr>
          <p:cNvPr id="118" name="表格 117">
            <a:extLst>
              <a:ext uri="{FF2B5EF4-FFF2-40B4-BE49-F238E27FC236}">
                <a16:creationId xmlns:a16="http://schemas.microsoft.com/office/drawing/2014/main" id="{387E6A15-B8B9-EE1A-5DD6-BC2F5F3E0BB8}"/>
              </a:ext>
            </a:extLst>
          </p:cNvPr>
          <p:cNvGraphicFramePr>
            <a:graphicFrameLocks noGrp="1"/>
          </p:cNvGraphicFramePr>
          <p:nvPr>
            <p:extLst>
              <p:ext uri="{D42A27DB-BD31-4B8C-83A1-F6EECF244321}">
                <p14:modId xmlns:p14="http://schemas.microsoft.com/office/powerpoint/2010/main" val="1995551410"/>
              </p:ext>
            </p:extLst>
          </p:nvPr>
        </p:nvGraphicFramePr>
        <p:xfrm>
          <a:off x="9431154" y="1957114"/>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17</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2</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19</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H</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r>
                        <a:rPr lang="en-US" altLang="zh-CN" sz="1400" dirty="0">
                          <a:solidFill>
                            <a:schemeClr val="tx1"/>
                          </a:solidFill>
                        </a:rPr>
                        <a:t>17</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tx1"/>
                          </a:solidFill>
                        </a:rPr>
                        <a:t>19</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58513378"/>
                  </a:ext>
                </a:extLst>
              </a:tr>
            </a:tbl>
          </a:graphicData>
        </a:graphic>
      </p:graphicFrame>
      <p:graphicFrame>
        <p:nvGraphicFramePr>
          <p:cNvPr id="119" name="表格 118">
            <a:extLst>
              <a:ext uri="{FF2B5EF4-FFF2-40B4-BE49-F238E27FC236}">
                <a16:creationId xmlns:a16="http://schemas.microsoft.com/office/drawing/2014/main" id="{3340E13F-2235-D231-53A1-7CA1B1977C56}"/>
              </a:ext>
            </a:extLst>
          </p:cNvPr>
          <p:cNvGraphicFramePr>
            <a:graphicFrameLocks noGrp="1"/>
          </p:cNvGraphicFramePr>
          <p:nvPr>
            <p:extLst>
              <p:ext uri="{D42A27DB-BD31-4B8C-83A1-F6EECF244321}">
                <p14:modId xmlns:p14="http://schemas.microsoft.com/office/powerpoint/2010/main" val="1187485740"/>
              </p:ext>
            </p:extLst>
          </p:nvPr>
        </p:nvGraphicFramePr>
        <p:xfrm>
          <a:off x="6814686" y="2948517"/>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7</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3</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10</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E</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r>
                        <a:rPr lang="en-US" altLang="zh-CN" sz="1400" dirty="0">
                          <a:solidFill>
                            <a:schemeClr val="tx1"/>
                          </a:solidFill>
                        </a:rPr>
                        <a:t>14</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tx1"/>
                          </a:solidFill>
                        </a:rPr>
                        <a:t>17</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58513378"/>
                  </a:ext>
                </a:extLst>
              </a:tr>
            </a:tbl>
          </a:graphicData>
        </a:graphic>
      </p:graphicFrame>
      <p:graphicFrame>
        <p:nvGraphicFramePr>
          <p:cNvPr id="120" name="表格 119">
            <a:extLst>
              <a:ext uri="{FF2B5EF4-FFF2-40B4-BE49-F238E27FC236}">
                <a16:creationId xmlns:a16="http://schemas.microsoft.com/office/drawing/2014/main" id="{7698C9E0-6C5A-E34A-A8E9-5B3C11AC8151}"/>
              </a:ext>
            </a:extLst>
          </p:cNvPr>
          <p:cNvGraphicFramePr>
            <a:graphicFrameLocks noGrp="1"/>
          </p:cNvGraphicFramePr>
          <p:nvPr>
            <p:extLst>
              <p:ext uri="{D42A27DB-BD31-4B8C-83A1-F6EECF244321}">
                <p14:modId xmlns:p14="http://schemas.microsoft.com/office/powerpoint/2010/main" val="3747436931"/>
              </p:ext>
            </p:extLst>
          </p:nvPr>
        </p:nvGraphicFramePr>
        <p:xfrm>
          <a:off x="1427747" y="2948517"/>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1</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3</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4</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B</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r>
                        <a:rPr lang="en-US" altLang="zh-CN" sz="1400" dirty="0">
                          <a:solidFill>
                            <a:schemeClr val="tx1"/>
                          </a:solidFill>
                        </a:rPr>
                        <a:t>8</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0000"/>
                          </a:solidFill>
                        </a:rPr>
                        <a:t>11</a:t>
                      </a:r>
                      <a:endParaRPr lang="zh-CN" altLang="en-US" sz="1400" dirty="0">
                        <a:solidFill>
                          <a:srgbClr val="FF00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58513378"/>
                  </a:ext>
                </a:extLst>
              </a:tr>
            </a:tbl>
          </a:graphicData>
        </a:graphic>
      </p:graphicFrame>
      <p:graphicFrame>
        <p:nvGraphicFramePr>
          <p:cNvPr id="121" name="表格 120">
            <a:extLst>
              <a:ext uri="{FF2B5EF4-FFF2-40B4-BE49-F238E27FC236}">
                <a16:creationId xmlns:a16="http://schemas.microsoft.com/office/drawing/2014/main" id="{A49E2998-0F3D-C50C-FAB9-06BAED3C07E8}"/>
              </a:ext>
            </a:extLst>
          </p:cNvPr>
          <p:cNvGraphicFramePr>
            <a:graphicFrameLocks noGrp="1"/>
          </p:cNvGraphicFramePr>
          <p:nvPr>
            <p:extLst>
              <p:ext uri="{D42A27DB-BD31-4B8C-83A1-F6EECF244321}">
                <p14:modId xmlns:p14="http://schemas.microsoft.com/office/powerpoint/2010/main" val="1309452148"/>
              </p:ext>
            </p:extLst>
          </p:nvPr>
        </p:nvGraphicFramePr>
        <p:xfrm>
          <a:off x="4044215" y="2948517"/>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4</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3</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7</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D</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r>
                        <a:rPr lang="en-US" altLang="zh-CN" sz="1400" dirty="0">
                          <a:solidFill>
                            <a:schemeClr val="tx1"/>
                          </a:solidFill>
                        </a:rPr>
                        <a:t>11</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tx1"/>
                          </a:solidFill>
                        </a:rPr>
                        <a:t>14</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58513378"/>
                  </a:ext>
                </a:extLst>
              </a:tr>
            </a:tbl>
          </a:graphicData>
        </a:graphic>
      </p:graphicFrame>
      <p:graphicFrame>
        <p:nvGraphicFramePr>
          <p:cNvPr id="122" name="表格 121">
            <a:extLst>
              <a:ext uri="{FF2B5EF4-FFF2-40B4-BE49-F238E27FC236}">
                <a16:creationId xmlns:a16="http://schemas.microsoft.com/office/drawing/2014/main" id="{FB98CE2D-4E57-5B88-5610-789D21274723}"/>
              </a:ext>
            </a:extLst>
          </p:cNvPr>
          <p:cNvGraphicFramePr>
            <a:graphicFrameLocks noGrp="1"/>
          </p:cNvGraphicFramePr>
          <p:nvPr>
            <p:extLst>
              <p:ext uri="{D42A27DB-BD31-4B8C-83A1-F6EECF244321}">
                <p14:modId xmlns:p14="http://schemas.microsoft.com/office/powerpoint/2010/main" val="3950433593"/>
              </p:ext>
            </p:extLst>
          </p:nvPr>
        </p:nvGraphicFramePr>
        <p:xfrm>
          <a:off x="4053840" y="4795008"/>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4</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2</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6</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F</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r>
                        <a:rPr lang="en-US" altLang="zh-CN" sz="1400" dirty="0">
                          <a:solidFill>
                            <a:schemeClr val="tx1"/>
                          </a:solidFill>
                        </a:rPr>
                        <a:t>12</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tx1"/>
                          </a:solidFill>
                        </a:rPr>
                        <a:t>14</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58513378"/>
                  </a:ext>
                </a:extLst>
              </a:tr>
            </a:tbl>
          </a:graphicData>
        </a:graphic>
      </p:graphicFrame>
      <p:cxnSp>
        <p:nvCxnSpPr>
          <p:cNvPr id="124" name="直接箭头连接符 123">
            <a:extLst>
              <a:ext uri="{FF2B5EF4-FFF2-40B4-BE49-F238E27FC236}">
                <a16:creationId xmlns:a16="http://schemas.microsoft.com/office/drawing/2014/main" id="{C0435FF5-BA7F-9A1E-986E-E1FD11E8278E}"/>
              </a:ext>
            </a:extLst>
          </p:cNvPr>
          <p:cNvCxnSpPr/>
          <p:nvPr/>
        </p:nvCxnSpPr>
        <p:spPr>
          <a:xfrm>
            <a:off x="385009" y="2553881"/>
            <a:ext cx="818147"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5" name="文本框 124">
            <a:extLst>
              <a:ext uri="{FF2B5EF4-FFF2-40B4-BE49-F238E27FC236}">
                <a16:creationId xmlns:a16="http://schemas.microsoft.com/office/drawing/2014/main" id="{A9E8943E-5A23-D34C-F023-EE97543AE7A6}"/>
              </a:ext>
            </a:extLst>
          </p:cNvPr>
          <p:cNvSpPr txBox="1"/>
          <p:nvPr/>
        </p:nvSpPr>
        <p:spPr>
          <a:xfrm>
            <a:off x="453285" y="2215327"/>
            <a:ext cx="681597" cy="338554"/>
          </a:xfrm>
          <a:prstGeom prst="rect">
            <a:avLst/>
          </a:prstGeom>
          <a:noFill/>
        </p:spPr>
        <p:txBody>
          <a:bodyPr wrap="none" rtlCol="0">
            <a:spAutoFit/>
          </a:bodyPr>
          <a:lstStyle/>
          <a:p>
            <a:pPr algn="ctr"/>
            <a:r>
              <a:rPr lang="en-US" altLang="zh-CN" sz="1600" dirty="0">
                <a:solidFill>
                  <a:schemeClr val="bg1"/>
                </a:solidFill>
              </a:rPr>
              <a:t>Start</a:t>
            </a:r>
            <a:endParaRPr lang="zh-CN" altLang="en-US" sz="1600" dirty="0">
              <a:solidFill>
                <a:schemeClr val="bg1"/>
              </a:solidFill>
            </a:endParaRPr>
          </a:p>
        </p:txBody>
      </p:sp>
      <p:cxnSp>
        <p:nvCxnSpPr>
          <p:cNvPr id="126" name="直接箭头连接符 125">
            <a:extLst>
              <a:ext uri="{FF2B5EF4-FFF2-40B4-BE49-F238E27FC236}">
                <a16:creationId xmlns:a16="http://schemas.microsoft.com/office/drawing/2014/main" id="{DC282E02-B6C0-2C9D-6AC4-84DEB529819A}"/>
              </a:ext>
            </a:extLst>
          </p:cNvPr>
          <p:cNvCxnSpPr/>
          <p:nvPr/>
        </p:nvCxnSpPr>
        <p:spPr>
          <a:xfrm>
            <a:off x="11028917" y="2553881"/>
            <a:ext cx="818147"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7" name="文本框 126">
            <a:extLst>
              <a:ext uri="{FF2B5EF4-FFF2-40B4-BE49-F238E27FC236}">
                <a16:creationId xmlns:a16="http://schemas.microsoft.com/office/drawing/2014/main" id="{9A54FA52-4875-4F10-585F-421BB6EC0FF4}"/>
              </a:ext>
            </a:extLst>
          </p:cNvPr>
          <p:cNvSpPr txBox="1"/>
          <p:nvPr/>
        </p:nvSpPr>
        <p:spPr>
          <a:xfrm>
            <a:off x="11137268" y="2215327"/>
            <a:ext cx="601447" cy="338554"/>
          </a:xfrm>
          <a:prstGeom prst="rect">
            <a:avLst/>
          </a:prstGeom>
          <a:noFill/>
        </p:spPr>
        <p:txBody>
          <a:bodyPr wrap="none" rtlCol="0">
            <a:spAutoFit/>
          </a:bodyPr>
          <a:lstStyle/>
          <a:p>
            <a:pPr algn="ctr"/>
            <a:r>
              <a:rPr lang="en-US" altLang="zh-CN" sz="1600" dirty="0">
                <a:solidFill>
                  <a:schemeClr val="bg1"/>
                </a:solidFill>
              </a:rPr>
              <a:t>End</a:t>
            </a:r>
            <a:endParaRPr lang="zh-CN" altLang="en-US" sz="1600" dirty="0">
              <a:solidFill>
                <a:schemeClr val="bg1"/>
              </a:solidFill>
            </a:endParaRPr>
          </a:p>
        </p:txBody>
      </p:sp>
      <p:cxnSp>
        <p:nvCxnSpPr>
          <p:cNvPr id="129" name="连接符: 肘形 128">
            <a:extLst>
              <a:ext uri="{FF2B5EF4-FFF2-40B4-BE49-F238E27FC236}">
                <a16:creationId xmlns:a16="http://schemas.microsoft.com/office/drawing/2014/main" id="{D095845F-57A5-CAAB-D653-770BD735FB3E}"/>
              </a:ext>
            </a:extLst>
          </p:cNvPr>
          <p:cNvCxnSpPr>
            <a:cxnSpLocks/>
            <a:stCxn id="115" idx="1"/>
            <a:endCxn id="120" idx="1"/>
          </p:cNvCxnSpPr>
          <p:nvPr/>
        </p:nvCxnSpPr>
        <p:spPr>
          <a:xfrm rot="10800000" flipV="1">
            <a:off x="1427747" y="1514351"/>
            <a:ext cx="12700" cy="1982805"/>
          </a:xfrm>
          <a:prstGeom prst="bentConnector3">
            <a:avLst>
              <a:gd name="adj1" fmla="val 1800000"/>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2" name="连接符: 肘形 131">
            <a:extLst>
              <a:ext uri="{FF2B5EF4-FFF2-40B4-BE49-F238E27FC236}">
                <a16:creationId xmlns:a16="http://schemas.microsoft.com/office/drawing/2014/main" id="{EECFAE08-C3C2-FDB0-D5CF-E41C95DCA39A}"/>
              </a:ext>
            </a:extLst>
          </p:cNvPr>
          <p:cNvCxnSpPr>
            <a:cxnSpLocks/>
            <a:stCxn id="120" idx="3"/>
            <a:endCxn id="122" idx="1"/>
          </p:cNvCxnSpPr>
          <p:nvPr/>
        </p:nvCxnSpPr>
        <p:spPr>
          <a:xfrm>
            <a:off x="3011747" y="3497157"/>
            <a:ext cx="1042093" cy="1846491"/>
          </a:xfrm>
          <a:prstGeom prst="bentConnector3">
            <a:avLst>
              <a:gd name="adj1" fmla="val 50000"/>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连接符: 肘形 134">
            <a:extLst>
              <a:ext uri="{FF2B5EF4-FFF2-40B4-BE49-F238E27FC236}">
                <a16:creationId xmlns:a16="http://schemas.microsoft.com/office/drawing/2014/main" id="{5CCB5D28-1A07-BA3C-2392-A00D424D240A}"/>
              </a:ext>
            </a:extLst>
          </p:cNvPr>
          <p:cNvCxnSpPr>
            <a:cxnSpLocks/>
            <a:stCxn id="117" idx="3"/>
            <a:endCxn id="118" idx="1"/>
          </p:cNvCxnSpPr>
          <p:nvPr/>
        </p:nvCxnSpPr>
        <p:spPr>
          <a:xfrm>
            <a:off x="8398686" y="1514352"/>
            <a:ext cx="1032468" cy="991402"/>
          </a:xfrm>
          <a:prstGeom prst="bentConnector3">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连接符: 肘形 137">
            <a:extLst>
              <a:ext uri="{FF2B5EF4-FFF2-40B4-BE49-F238E27FC236}">
                <a16:creationId xmlns:a16="http://schemas.microsoft.com/office/drawing/2014/main" id="{EE0D531C-A047-03AB-E92E-C0CDF14717A2}"/>
              </a:ext>
            </a:extLst>
          </p:cNvPr>
          <p:cNvCxnSpPr>
            <a:cxnSpLocks/>
            <a:stCxn id="122" idx="3"/>
            <a:endCxn id="119" idx="1"/>
          </p:cNvCxnSpPr>
          <p:nvPr/>
        </p:nvCxnSpPr>
        <p:spPr>
          <a:xfrm flipV="1">
            <a:off x="5637840" y="3497157"/>
            <a:ext cx="1176846" cy="1846491"/>
          </a:xfrm>
          <a:prstGeom prst="bentConnector3">
            <a:avLst>
              <a:gd name="adj1" fmla="val 50000"/>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连接符: 肘形 140">
            <a:extLst>
              <a:ext uri="{FF2B5EF4-FFF2-40B4-BE49-F238E27FC236}">
                <a16:creationId xmlns:a16="http://schemas.microsoft.com/office/drawing/2014/main" id="{90075DC2-FAC6-272F-7855-AEB92539DCAC}"/>
              </a:ext>
            </a:extLst>
          </p:cNvPr>
          <p:cNvCxnSpPr>
            <a:cxnSpLocks/>
            <a:stCxn id="119" idx="3"/>
            <a:endCxn id="118" idx="1"/>
          </p:cNvCxnSpPr>
          <p:nvPr/>
        </p:nvCxnSpPr>
        <p:spPr>
          <a:xfrm flipV="1">
            <a:off x="8398686" y="2505754"/>
            <a:ext cx="1032468" cy="991403"/>
          </a:xfrm>
          <a:prstGeom prst="bentConnector3">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44" name="直接箭头连接符 143">
            <a:extLst>
              <a:ext uri="{FF2B5EF4-FFF2-40B4-BE49-F238E27FC236}">
                <a16:creationId xmlns:a16="http://schemas.microsoft.com/office/drawing/2014/main" id="{01EE7111-DCA4-D57F-A470-EFA047ECE4C7}"/>
              </a:ext>
            </a:extLst>
          </p:cNvPr>
          <p:cNvCxnSpPr>
            <a:cxnSpLocks/>
            <a:stCxn id="115" idx="3"/>
            <a:endCxn id="116" idx="1"/>
          </p:cNvCxnSpPr>
          <p:nvPr/>
        </p:nvCxnSpPr>
        <p:spPr>
          <a:xfrm>
            <a:off x="3011747" y="1514352"/>
            <a:ext cx="1042093"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47" name="直接箭头连接符 146">
            <a:extLst>
              <a:ext uri="{FF2B5EF4-FFF2-40B4-BE49-F238E27FC236}">
                <a16:creationId xmlns:a16="http://schemas.microsoft.com/office/drawing/2014/main" id="{D26C5580-6806-9640-0317-C4368BA78A45}"/>
              </a:ext>
            </a:extLst>
          </p:cNvPr>
          <p:cNvCxnSpPr>
            <a:cxnSpLocks/>
            <a:stCxn id="116" idx="3"/>
            <a:endCxn id="117" idx="1"/>
          </p:cNvCxnSpPr>
          <p:nvPr/>
        </p:nvCxnSpPr>
        <p:spPr>
          <a:xfrm>
            <a:off x="5637840" y="1514352"/>
            <a:ext cx="1176846"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50" name="直接箭头连接符 149">
            <a:extLst>
              <a:ext uri="{FF2B5EF4-FFF2-40B4-BE49-F238E27FC236}">
                <a16:creationId xmlns:a16="http://schemas.microsoft.com/office/drawing/2014/main" id="{4FBE8FC5-F732-95D3-29DC-E53FC82F6B24}"/>
              </a:ext>
            </a:extLst>
          </p:cNvPr>
          <p:cNvCxnSpPr>
            <a:cxnSpLocks/>
            <a:stCxn id="121" idx="3"/>
            <a:endCxn id="119" idx="1"/>
          </p:cNvCxnSpPr>
          <p:nvPr/>
        </p:nvCxnSpPr>
        <p:spPr>
          <a:xfrm>
            <a:off x="5628215" y="3497157"/>
            <a:ext cx="1186471"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53" name="直接箭头连接符 152">
            <a:extLst>
              <a:ext uri="{FF2B5EF4-FFF2-40B4-BE49-F238E27FC236}">
                <a16:creationId xmlns:a16="http://schemas.microsoft.com/office/drawing/2014/main" id="{A5AEB728-4D20-A655-CDEE-838E7130A720}"/>
              </a:ext>
            </a:extLst>
          </p:cNvPr>
          <p:cNvCxnSpPr>
            <a:cxnSpLocks/>
            <a:stCxn id="120" idx="3"/>
            <a:endCxn id="121" idx="1"/>
          </p:cNvCxnSpPr>
          <p:nvPr/>
        </p:nvCxnSpPr>
        <p:spPr>
          <a:xfrm>
            <a:off x="3011747" y="3497157"/>
            <a:ext cx="1032468"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9697E1E5-7983-CE69-8A3A-7754C6F482C3}"/>
              </a:ext>
            </a:extLst>
          </p:cNvPr>
          <p:cNvSpPr txBox="1"/>
          <p:nvPr/>
        </p:nvSpPr>
        <p:spPr>
          <a:xfrm>
            <a:off x="1219920" y="467460"/>
            <a:ext cx="4572085" cy="338554"/>
          </a:xfrm>
          <a:prstGeom prst="rect">
            <a:avLst/>
          </a:prstGeom>
          <a:noFill/>
        </p:spPr>
        <p:txBody>
          <a:bodyPr wrap="none" rtlCol="0">
            <a:spAutoFit/>
          </a:bodyPr>
          <a:lstStyle/>
          <a:p>
            <a:pPr algn="l"/>
            <a:r>
              <a:rPr lang="zh-CN" altLang="en-US" sz="1600" dirty="0">
                <a:solidFill>
                  <a:schemeClr val="bg1"/>
                </a:solidFill>
              </a:rPr>
              <a:t>例：逆推法：最晚开始时间和最晚完成时间</a:t>
            </a:r>
            <a:r>
              <a:rPr lang="en-US" altLang="zh-CN" sz="1600" dirty="0">
                <a:solidFill>
                  <a:schemeClr val="bg1"/>
                </a:solidFill>
              </a:rPr>
              <a:t>-</a:t>
            </a:r>
            <a:r>
              <a:rPr lang="zh-CN" altLang="en-US" sz="1600" dirty="0">
                <a:solidFill>
                  <a:schemeClr val="bg1"/>
                </a:solidFill>
              </a:rPr>
              <a:t>完成</a:t>
            </a:r>
          </a:p>
        </p:txBody>
      </p:sp>
    </p:spTree>
    <p:extLst>
      <p:ext uri="{BB962C8B-B14F-4D97-AF65-F5344CB8AC3E}">
        <p14:creationId xmlns:p14="http://schemas.microsoft.com/office/powerpoint/2010/main" val="801045183"/>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CAEE76A-5A1A-44C9-DE1C-E9CD97248E26}"/>
            </a:ext>
          </a:extLst>
        </p:cNvPr>
        <p:cNvGrpSpPr/>
        <p:nvPr/>
      </p:nvGrpSpPr>
      <p:grpSpPr>
        <a:xfrm>
          <a:off x="0" y="0"/>
          <a:ext cx="0" cy="0"/>
          <a:chOff x="0" y="0"/>
          <a:chExt cx="0" cy="0"/>
        </a:xfrm>
      </p:grpSpPr>
      <p:graphicFrame>
        <p:nvGraphicFramePr>
          <p:cNvPr id="115" name="表格 114">
            <a:extLst>
              <a:ext uri="{FF2B5EF4-FFF2-40B4-BE49-F238E27FC236}">
                <a16:creationId xmlns:a16="http://schemas.microsoft.com/office/drawing/2014/main" id="{D1A4B968-0C1E-58D5-225F-059F39360D50}"/>
              </a:ext>
            </a:extLst>
          </p:cNvPr>
          <p:cNvGraphicFramePr>
            <a:graphicFrameLocks noGrp="1"/>
          </p:cNvGraphicFramePr>
          <p:nvPr>
            <p:extLst>
              <p:ext uri="{D42A27DB-BD31-4B8C-83A1-F6EECF244321}">
                <p14:modId xmlns:p14="http://schemas.microsoft.com/office/powerpoint/2010/main" val="1755924484"/>
              </p:ext>
            </p:extLst>
          </p:nvPr>
        </p:nvGraphicFramePr>
        <p:xfrm>
          <a:off x="1427747" y="965712"/>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1</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7</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8</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A</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r>
                        <a:rPr lang="en-US" altLang="zh-CN" sz="1400" dirty="0">
                          <a:solidFill>
                            <a:srgbClr val="FFFF00"/>
                          </a:solidFill>
                        </a:rPr>
                        <a:t>1</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8</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8513378"/>
                  </a:ext>
                </a:extLst>
              </a:tr>
            </a:tbl>
          </a:graphicData>
        </a:graphic>
      </p:graphicFrame>
      <p:graphicFrame>
        <p:nvGraphicFramePr>
          <p:cNvPr id="116" name="表格 115">
            <a:extLst>
              <a:ext uri="{FF2B5EF4-FFF2-40B4-BE49-F238E27FC236}">
                <a16:creationId xmlns:a16="http://schemas.microsoft.com/office/drawing/2014/main" id="{C585B404-D8F3-DFF4-69A2-55F9EB744B2B}"/>
              </a:ext>
            </a:extLst>
          </p:cNvPr>
          <p:cNvGraphicFramePr>
            <a:graphicFrameLocks noGrp="1"/>
          </p:cNvGraphicFramePr>
          <p:nvPr>
            <p:extLst>
              <p:ext uri="{D42A27DB-BD31-4B8C-83A1-F6EECF244321}">
                <p14:modId xmlns:p14="http://schemas.microsoft.com/office/powerpoint/2010/main" val="1715554375"/>
              </p:ext>
            </p:extLst>
          </p:nvPr>
        </p:nvGraphicFramePr>
        <p:xfrm>
          <a:off x="4053840" y="965712"/>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8</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6</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14</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C</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r>
                        <a:rPr lang="en-US" altLang="zh-CN" sz="1400" dirty="0">
                          <a:solidFill>
                            <a:srgbClr val="FFFF00"/>
                          </a:solidFill>
                        </a:rPr>
                        <a:t>8</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14</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8513378"/>
                  </a:ext>
                </a:extLst>
              </a:tr>
            </a:tbl>
          </a:graphicData>
        </a:graphic>
      </p:graphicFrame>
      <p:graphicFrame>
        <p:nvGraphicFramePr>
          <p:cNvPr id="117" name="表格 116">
            <a:extLst>
              <a:ext uri="{FF2B5EF4-FFF2-40B4-BE49-F238E27FC236}">
                <a16:creationId xmlns:a16="http://schemas.microsoft.com/office/drawing/2014/main" id="{F6654D23-D1BC-3203-3960-5513630CE2F7}"/>
              </a:ext>
            </a:extLst>
          </p:cNvPr>
          <p:cNvGraphicFramePr>
            <a:graphicFrameLocks noGrp="1"/>
          </p:cNvGraphicFramePr>
          <p:nvPr>
            <p:extLst>
              <p:ext uri="{D42A27DB-BD31-4B8C-83A1-F6EECF244321}">
                <p14:modId xmlns:p14="http://schemas.microsoft.com/office/powerpoint/2010/main" val="2447560076"/>
              </p:ext>
            </p:extLst>
          </p:nvPr>
        </p:nvGraphicFramePr>
        <p:xfrm>
          <a:off x="6814686" y="965712"/>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14</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3</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17</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G</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r>
                        <a:rPr lang="en-US" altLang="zh-CN" sz="1400" dirty="0">
                          <a:solidFill>
                            <a:srgbClr val="FFFF00"/>
                          </a:solidFill>
                        </a:rPr>
                        <a:t>14</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17</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8513378"/>
                  </a:ext>
                </a:extLst>
              </a:tr>
            </a:tbl>
          </a:graphicData>
        </a:graphic>
      </p:graphicFrame>
      <p:graphicFrame>
        <p:nvGraphicFramePr>
          <p:cNvPr id="118" name="表格 117">
            <a:extLst>
              <a:ext uri="{FF2B5EF4-FFF2-40B4-BE49-F238E27FC236}">
                <a16:creationId xmlns:a16="http://schemas.microsoft.com/office/drawing/2014/main" id="{AD9E2EB9-D8AE-E47F-BB65-F029E5475743}"/>
              </a:ext>
            </a:extLst>
          </p:cNvPr>
          <p:cNvGraphicFramePr>
            <a:graphicFrameLocks noGrp="1"/>
          </p:cNvGraphicFramePr>
          <p:nvPr>
            <p:extLst>
              <p:ext uri="{D42A27DB-BD31-4B8C-83A1-F6EECF244321}">
                <p14:modId xmlns:p14="http://schemas.microsoft.com/office/powerpoint/2010/main" val="4169255237"/>
              </p:ext>
            </p:extLst>
          </p:nvPr>
        </p:nvGraphicFramePr>
        <p:xfrm>
          <a:off x="9431154" y="1957114"/>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17</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2</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19</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H</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r>
                        <a:rPr lang="en-US" altLang="zh-CN" sz="1400" dirty="0">
                          <a:solidFill>
                            <a:srgbClr val="FFFF00"/>
                          </a:solidFill>
                        </a:rPr>
                        <a:t>17</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19</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8513378"/>
                  </a:ext>
                </a:extLst>
              </a:tr>
            </a:tbl>
          </a:graphicData>
        </a:graphic>
      </p:graphicFrame>
      <p:graphicFrame>
        <p:nvGraphicFramePr>
          <p:cNvPr id="119" name="表格 118">
            <a:extLst>
              <a:ext uri="{FF2B5EF4-FFF2-40B4-BE49-F238E27FC236}">
                <a16:creationId xmlns:a16="http://schemas.microsoft.com/office/drawing/2014/main" id="{DB020444-C318-9B2F-9B57-F411CBA9F980}"/>
              </a:ext>
            </a:extLst>
          </p:cNvPr>
          <p:cNvGraphicFramePr>
            <a:graphicFrameLocks noGrp="1"/>
          </p:cNvGraphicFramePr>
          <p:nvPr>
            <p:extLst>
              <p:ext uri="{D42A27DB-BD31-4B8C-83A1-F6EECF244321}">
                <p14:modId xmlns:p14="http://schemas.microsoft.com/office/powerpoint/2010/main" val="937894657"/>
              </p:ext>
            </p:extLst>
          </p:nvPr>
        </p:nvGraphicFramePr>
        <p:xfrm>
          <a:off x="6814686" y="2948517"/>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7</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3</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10</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E</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r>
                        <a:rPr lang="en-US" altLang="zh-CN" sz="1400" dirty="0">
                          <a:solidFill>
                            <a:srgbClr val="FFFF00"/>
                          </a:solidFill>
                        </a:rPr>
                        <a:t>14</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17</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8513378"/>
                  </a:ext>
                </a:extLst>
              </a:tr>
            </a:tbl>
          </a:graphicData>
        </a:graphic>
      </p:graphicFrame>
      <p:graphicFrame>
        <p:nvGraphicFramePr>
          <p:cNvPr id="120" name="表格 119">
            <a:extLst>
              <a:ext uri="{FF2B5EF4-FFF2-40B4-BE49-F238E27FC236}">
                <a16:creationId xmlns:a16="http://schemas.microsoft.com/office/drawing/2014/main" id="{596850DC-DDD5-6908-4515-2C34DE99B3C3}"/>
              </a:ext>
            </a:extLst>
          </p:cNvPr>
          <p:cNvGraphicFramePr>
            <a:graphicFrameLocks noGrp="1"/>
          </p:cNvGraphicFramePr>
          <p:nvPr>
            <p:extLst>
              <p:ext uri="{D42A27DB-BD31-4B8C-83A1-F6EECF244321}">
                <p14:modId xmlns:p14="http://schemas.microsoft.com/office/powerpoint/2010/main" val="2392877300"/>
              </p:ext>
            </p:extLst>
          </p:nvPr>
        </p:nvGraphicFramePr>
        <p:xfrm>
          <a:off x="1427747" y="2948517"/>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1</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3</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4</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B</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r>
                        <a:rPr lang="en-US" altLang="zh-CN" sz="1400" dirty="0">
                          <a:solidFill>
                            <a:srgbClr val="FFFF00"/>
                          </a:solidFill>
                        </a:rPr>
                        <a:t>8</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0000"/>
                          </a:solidFill>
                        </a:rPr>
                        <a:t>11</a:t>
                      </a:r>
                      <a:endParaRPr lang="zh-CN" altLang="en-US" sz="1400" dirty="0">
                        <a:solidFill>
                          <a:srgbClr val="FF00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8513378"/>
                  </a:ext>
                </a:extLst>
              </a:tr>
            </a:tbl>
          </a:graphicData>
        </a:graphic>
      </p:graphicFrame>
      <p:graphicFrame>
        <p:nvGraphicFramePr>
          <p:cNvPr id="121" name="表格 120">
            <a:extLst>
              <a:ext uri="{FF2B5EF4-FFF2-40B4-BE49-F238E27FC236}">
                <a16:creationId xmlns:a16="http://schemas.microsoft.com/office/drawing/2014/main" id="{546DDF6B-D108-45A8-5F5E-E1766F32DBA3}"/>
              </a:ext>
            </a:extLst>
          </p:cNvPr>
          <p:cNvGraphicFramePr>
            <a:graphicFrameLocks noGrp="1"/>
          </p:cNvGraphicFramePr>
          <p:nvPr>
            <p:extLst>
              <p:ext uri="{D42A27DB-BD31-4B8C-83A1-F6EECF244321}">
                <p14:modId xmlns:p14="http://schemas.microsoft.com/office/powerpoint/2010/main" val="3115004598"/>
              </p:ext>
            </p:extLst>
          </p:nvPr>
        </p:nvGraphicFramePr>
        <p:xfrm>
          <a:off x="4044215" y="2948517"/>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4</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3</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7</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D</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r>
                        <a:rPr lang="en-US" altLang="zh-CN" sz="1400" dirty="0">
                          <a:solidFill>
                            <a:srgbClr val="FFFF00"/>
                          </a:solidFill>
                        </a:rPr>
                        <a:t>11</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14</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8513378"/>
                  </a:ext>
                </a:extLst>
              </a:tr>
            </a:tbl>
          </a:graphicData>
        </a:graphic>
      </p:graphicFrame>
      <p:graphicFrame>
        <p:nvGraphicFramePr>
          <p:cNvPr id="122" name="表格 121">
            <a:extLst>
              <a:ext uri="{FF2B5EF4-FFF2-40B4-BE49-F238E27FC236}">
                <a16:creationId xmlns:a16="http://schemas.microsoft.com/office/drawing/2014/main" id="{8EABBF4D-1127-1B92-0114-9AF9C7A5313D}"/>
              </a:ext>
            </a:extLst>
          </p:cNvPr>
          <p:cNvGraphicFramePr>
            <a:graphicFrameLocks noGrp="1"/>
          </p:cNvGraphicFramePr>
          <p:nvPr>
            <p:extLst>
              <p:ext uri="{D42A27DB-BD31-4B8C-83A1-F6EECF244321}">
                <p14:modId xmlns:p14="http://schemas.microsoft.com/office/powerpoint/2010/main" val="2408279032"/>
              </p:ext>
            </p:extLst>
          </p:nvPr>
        </p:nvGraphicFramePr>
        <p:xfrm>
          <a:off x="4053840" y="4795008"/>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4</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2</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6</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F</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r>
                        <a:rPr lang="en-US" altLang="zh-CN" sz="1400" dirty="0">
                          <a:solidFill>
                            <a:srgbClr val="FFFF00"/>
                          </a:solidFill>
                        </a:rPr>
                        <a:t>12</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14</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8513378"/>
                  </a:ext>
                </a:extLst>
              </a:tr>
            </a:tbl>
          </a:graphicData>
        </a:graphic>
      </p:graphicFrame>
      <p:cxnSp>
        <p:nvCxnSpPr>
          <p:cNvPr id="124" name="直接箭头连接符 123">
            <a:extLst>
              <a:ext uri="{FF2B5EF4-FFF2-40B4-BE49-F238E27FC236}">
                <a16:creationId xmlns:a16="http://schemas.microsoft.com/office/drawing/2014/main" id="{919D3F0F-344C-EEFC-9AB2-79A02ABE5BAC}"/>
              </a:ext>
            </a:extLst>
          </p:cNvPr>
          <p:cNvCxnSpPr/>
          <p:nvPr/>
        </p:nvCxnSpPr>
        <p:spPr>
          <a:xfrm>
            <a:off x="385009" y="2553881"/>
            <a:ext cx="818147"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5" name="文本框 124">
            <a:extLst>
              <a:ext uri="{FF2B5EF4-FFF2-40B4-BE49-F238E27FC236}">
                <a16:creationId xmlns:a16="http://schemas.microsoft.com/office/drawing/2014/main" id="{AC757493-B1A0-099C-4DDA-02284D06F85E}"/>
              </a:ext>
            </a:extLst>
          </p:cNvPr>
          <p:cNvSpPr txBox="1"/>
          <p:nvPr/>
        </p:nvSpPr>
        <p:spPr>
          <a:xfrm>
            <a:off x="453285" y="2215327"/>
            <a:ext cx="681597" cy="338554"/>
          </a:xfrm>
          <a:prstGeom prst="rect">
            <a:avLst/>
          </a:prstGeom>
          <a:noFill/>
        </p:spPr>
        <p:txBody>
          <a:bodyPr wrap="none" rtlCol="0">
            <a:spAutoFit/>
          </a:bodyPr>
          <a:lstStyle/>
          <a:p>
            <a:pPr algn="ctr"/>
            <a:r>
              <a:rPr lang="en-US" altLang="zh-CN" sz="1600" dirty="0">
                <a:solidFill>
                  <a:schemeClr val="bg1"/>
                </a:solidFill>
              </a:rPr>
              <a:t>Start</a:t>
            </a:r>
            <a:endParaRPr lang="zh-CN" altLang="en-US" sz="1600" dirty="0">
              <a:solidFill>
                <a:schemeClr val="bg1"/>
              </a:solidFill>
            </a:endParaRPr>
          </a:p>
        </p:txBody>
      </p:sp>
      <p:cxnSp>
        <p:nvCxnSpPr>
          <p:cNvPr id="126" name="直接箭头连接符 125">
            <a:extLst>
              <a:ext uri="{FF2B5EF4-FFF2-40B4-BE49-F238E27FC236}">
                <a16:creationId xmlns:a16="http://schemas.microsoft.com/office/drawing/2014/main" id="{43C5B4EE-A8DC-3EB1-66A6-D4DB87482B6E}"/>
              </a:ext>
            </a:extLst>
          </p:cNvPr>
          <p:cNvCxnSpPr/>
          <p:nvPr/>
        </p:nvCxnSpPr>
        <p:spPr>
          <a:xfrm>
            <a:off x="11028917" y="2553881"/>
            <a:ext cx="818147"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7" name="文本框 126">
            <a:extLst>
              <a:ext uri="{FF2B5EF4-FFF2-40B4-BE49-F238E27FC236}">
                <a16:creationId xmlns:a16="http://schemas.microsoft.com/office/drawing/2014/main" id="{EC6F0B9E-5761-E447-C0BC-110BD0E01A60}"/>
              </a:ext>
            </a:extLst>
          </p:cNvPr>
          <p:cNvSpPr txBox="1"/>
          <p:nvPr/>
        </p:nvSpPr>
        <p:spPr>
          <a:xfrm>
            <a:off x="11137268" y="2215327"/>
            <a:ext cx="601447" cy="338554"/>
          </a:xfrm>
          <a:prstGeom prst="rect">
            <a:avLst/>
          </a:prstGeom>
          <a:noFill/>
        </p:spPr>
        <p:txBody>
          <a:bodyPr wrap="none" rtlCol="0">
            <a:spAutoFit/>
          </a:bodyPr>
          <a:lstStyle/>
          <a:p>
            <a:pPr algn="ctr"/>
            <a:r>
              <a:rPr lang="en-US" altLang="zh-CN" sz="1600" dirty="0">
                <a:solidFill>
                  <a:schemeClr val="bg1"/>
                </a:solidFill>
              </a:rPr>
              <a:t>End</a:t>
            </a:r>
            <a:endParaRPr lang="zh-CN" altLang="en-US" sz="1600" dirty="0">
              <a:solidFill>
                <a:schemeClr val="bg1"/>
              </a:solidFill>
            </a:endParaRPr>
          </a:p>
        </p:txBody>
      </p:sp>
      <p:cxnSp>
        <p:nvCxnSpPr>
          <p:cNvPr id="129" name="连接符: 肘形 128">
            <a:extLst>
              <a:ext uri="{FF2B5EF4-FFF2-40B4-BE49-F238E27FC236}">
                <a16:creationId xmlns:a16="http://schemas.microsoft.com/office/drawing/2014/main" id="{5726AB5C-2A7B-32CA-9FF6-E61C548EECDA}"/>
              </a:ext>
            </a:extLst>
          </p:cNvPr>
          <p:cNvCxnSpPr>
            <a:cxnSpLocks/>
            <a:stCxn id="115" idx="1"/>
            <a:endCxn id="120" idx="1"/>
          </p:cNvCxnSpPr>
          <p:nvPr/>
        </p:nvCxnSpPr>
        <p:spPr>
          <a:xfrm rot="10800000" flipV="1">
            <a:off x="1427747" y="1514351"/>
            <a:ext cx="12700" cy="1982805"/>
          </a:xfrm>
          <a:prstGeom prst="bentConnector3">
            <a:avLst>
              <a:gd name="adj1" fmla="val 1800000"/>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2" name="连接符: 肘形 131">
            <a:extLst>
              <a:ext uri="{FF2B5EF4-FFF2-40B4-BE49-F238E27FC236}">
                <a16:creationId xmlns:a16="http://schemas.microsoft.com/office/drawing/2014/main" id="{AA385454-DECE-1B6A-21E8-B01B100E4E2A}"/>
              </a:ext>
            </a:extLst>
          </p:cNvPr>
          <p:cNvCxnSpPr>
            <a:cxnSpLocks/>
            <a:stCxn id="120" idx="3"/>
            <a:endCxn id="122" idx="1"/>
          </p:cNvCxnSpPr>
          <p:nvPr/>
        </p:nvCxnSpPr>
        <p:spPr>
          <a:xfrm>
            <a:off x="3011747" y="3497157"/>
            <a:ext cx="1042093" cy="1846491"/>
          </a:xfrm>
          <a:prstGeom prst="bentConnector3">
            <a:avLst>
              <a:gd name="adj1" fmla="val 50000"/>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连接符: 肘形 134">
            <a:extLst>
              <a:ext uri="{FF2B5EF4-FFF2-40B4-BE49-F238E27FC236}">
                <a16:creationId xmlns:a16="http://schemas.microsoft.com/office/drawing/2014/main" id="{E0061C90-6770-1DA4-89C5-29B2C8CAD1FB}"/>
              </a:ext>
            </a:extLst>
          </p:cNvPr>
          <p:cNvCxnSpPr>
            <a:cxnSpLocks/>
            <a:stCxn id="117" idx="3"/>
            <a:endCxn id="118" idx="1"/>
          </p:cNvCxnSpPr>
          <p:nvPr/>
        </p:nvCxnSpPr>
        <p:spPr>
          <a:xfrm>
            <a:off x="8398686" y="1514352"/>
            <a:ext cx="1032468" cy="991402"/>
          </a:xfrm>
          <a:prstGeom prst="bentConnector3">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连接符: 肘形 137">
            <a:extLst>
              <a:ext uri="{FF2B5EF4-FFF2-40B4-BE49-F238E27FC236}">
                <a16:creationId xmlns:a16="http://schemas.microsoft.com/office/drawing/2014/main" id="{C2451E1E-5585-EDDC-4A84-310B60F35E90}"/>
              </a:ext>
            </a:extLst>
          </p:cNvPr>
          <p:cNvCxnSpPr>
            <a:cxnSpLocks/>
            <a:stCxn id="122" idx="3"/>
            <a:endCxn id="119" idx="1"/>
          </p:cNvCxnSpPr>
          <p:nvPr/>
        </p:nvCxnSpPr>
        <p:spPr>
          <a:xfrm flipV="1">
            <a:off x="5637840" y="3497157"/>
            <a:ext cx="1176846" cy="1846491"/>
          </a:xfrm>
          <a:prstGeom prst="bentConnector3">
            <a:avLst>
              <a:gd name="adj1" fmla="val 50000"/>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连接符: 肘形 140">
            <a:extLst>
              <a:ext uri="{FF2B5EF4-FFF2-40B4-BE49-F238E27FC236}">
                <a16:creationId xmlns:a16="http://schemas.microsoft.com/office/drawing/2014/main" id="{32AEDEA9-B1FD-CABF-49AC-4708786F1C37}"/>
              </a:ext>
            </a:extLst>
          </p:cNvPr>
          <p:cNvCxnSpPr>
            <a:cxnSpLocks/>
            <a:stCxn id="119" idx="3"/>
            <a:endCxn id="118" idx="1"/>
          </p:cNvCxnSpPr>
          <p:nvPr/>
        </p:nvCxnSpPr>
        <p:spPr>
          <a:xfrm flipV="1">
            <a:off x="8398686" y="2505754"/>
            <a:ext cx="1032468" cy="991403"/>
          </a:xfrm>
          <a:prstGeom prst="bentConnector3">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44" name="直接箭头连接符 143">
            <a:extLst>
              <a:ext uri="{FF2B5EF4-FFF2-40B4-BE49-F238E27FC236}">
                <a16:creationId xmlns:a16="http://schemas.microsoft.com/office/drawing/2014/main" id="{BFEF01F9-2225-C410-7BA1-96C578B7167D}"/>
              </a:ext>
            </a:extLst>
          </p:cNvPr>
          <p:cNvCxnSpPr>
            <a:cxnSpLocks/>
            <a:stCxn id="115" idx="3"/>
            <a:endCxn id="116" idx="1"/>
          </p:cNvCxnSpPr>
          <p:nvPr/>
        </p:nvCxnSpPr>
        <p:spPr>
          <a:xfrm>
            <a:off x="3011747" y="1514352"/>
            <a:ext cx="1042093"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47" name="直接箭头连接符 146">
            <a:extLst>
              <a:ext uri="{FF2B5EF4-FFF2-40B4-BE49-F238E27FC236}">
                <a16:creationId xmlns:a16="http://schemas.microsoft.com/office/drawing/2014/main" id="{8AEDB9F4-941A-5D7A-9D45-849B9D9AE907}"/>
              </a:ext>
            </a:extLst>
          </p:cNvPr>
          <p:cNvCxnSpPr>
            <a:cxnSpLocks/>
            <a:stCxn id="116" idx="3"/>
            <a:endCxn id="117" idx="1"/>
          </p:cNvCxnSpPr>
          <p:nvPr/>
        </p:nvCxnSpPr>
        <p:spPr>
          <a:xfrm>
            <a:off x="5637840" y="1514352"/>
            <a:ext cx="1176846"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50" name="直接箭头连接符 149">
            <a:extLst>
              <a:ext uri="{FF2B5EF4-FFF2-40B4-BE49-F238E27FC236}">
                <a16:creationId xmlns:a16="http://schemas.microsoft.com/office/drawing/2014/main" id="{287F354C-D7D4-EE0E-DBDC-B1B84222655D}"/>
              </a:ext>
            </a:extLst>
          </p:cNvPr>
          <p:cNvCxnSpPr>
            <a:cxnSpLocks/>
            <a:stCxn id="121" idx="3"/>
            <a:endCxn id="119" idx="1"/>
          </p:cNvCxnSpPr>
          <p:nvPr/>
        </p:nvCxnSpPr>
        <p:spPr>
          <a:xfrm>
            <a:off x="5628215" y="3497157"/>
            <a:ext cx="1186471"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53" name="直接箭头连接符 152">
            <a:extLst>
              <a:ext uri="{FF2B5EF4-FFF2-40B4-BE49-F238E27FC236}">
                <a16:creationId xmlns:a16="http://schemas.microsoft.com/office/drawing/2014/main" id="{EAA9458D-7818-C97D-DCCB-E86DC444C779}"/>
              </a:ext>
            </a:extLst>
          </p:cNvPr>
          <p:cNvCxnSpPr>
            <a:cxnSpLocks/>
            <a:stCxn id="120" idx="3"/>
            <a:endCxn id="121" idx="1"/>
          </p:cNvCxnSpPr>
          <p:nvPr/>
        </p:nvCxnSpPr>
        <p:spPr>
          <a:xfrm>
            <a:off x="3011747" y="3497157"/>
            <a:ext cx="1032468"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15F83B43-C9F2-1482-338B-F3F34DA3A166}"/>
              </a:ext>
            </a:extLst>
          </p:cNvPr>
          <p:cNvSpPr txBox="1"/>
          <p:nvPr/>
        </p:nvSpPr>
        <p:spPr>
          <a:xfrm>
            <a:off x="1219920" y="467460"/>
            <a:ext cx="4572085" cy="338554"/>
          </a:xfrm>
          <a:prstGeom prst="rect">
            <a:avLst/>
          </a:prstGeom>
          <a:noFill/>
        </p:spPr>
        <p:txBody>
          <a:bodyPr wrap="none" rtlCol="0">
            <a:spAutoFit/>
          </a:bodyPr>
          <a:lstStyle/>
          <a:p>
            <a:pPr algn="l"/>
            <a:r>
              <a:rPr lang="zh-CN" altLang="en-US" sz="1600" dirty="0">
                <a:solidFill>
                  <a:schemeClr val="bg1"/>
                </a:solidFill>
              </a:rPr>
              <a:t>例：逆推法：最晚开始时间和最晚完成时间</a:t>
            </a:r>
            <a:r>
              <a:rPr lang="en-US" altLang="zh-CN" sz="1600" dirty="0">
                <a:solidFill>
                  <a:schemeClr val="bg1"/>
                </a:solidFill>
              </a:rPr>
              <a:t>-</a:t>
            </a:r>
            <a:r>
              <a:rPr lang="zh-CN" altLang="en-US" sz="1600" dirty="0">
                <a:solidFill>
                  <a:schemeClr val="bg1"/>
                </a:solidFill>
              </a:rPr>
              <a:t>完成</a:t>
            </a:r>
          </a:p>
        </p:txBody>
      </p:sp>
    </p:spTree>
    <p:extLst>
      <p:ext uri="{BB962C8B-B14F-4D97-AF65-F5344CB8AC3E}">
        <p14:creationId xmlns:p14="http://schemas.microsoft.com/office/powerpoint/2010/main" val="1198261455"/>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AB9B634-2867-D36D-698B-AA34A97737D6}"/>
            </a:ext>
          </a:extLst>
        </p:cNvPr>
        <p:cNvGrpSpPr/>
        <p:nvPr/>
      </p:nvGrpSpPr>
      <p:grpSpPr>
        <a:xfrm>
          <a:off x="0" y="0"/>
          <a:ext cx="0" cy="0"/>
          <a:chOff x="0" y="0"/>
          <a:chExt cx="0" cy="0"/>
        </a:xfrm>
      </p:grpSpPr>
      <p:grpSp>
        <p:nvGrpSpPr>
          <p:cNvPr id="29" name="组合 28">
            <a:extLst>
              <a:ext uri="{FF2B5EF4-FFF2-40B4-BE49-F238E27FC236}">
                <a16:creationId xmlns:a16="http://schemas.microsoft.com/office/drawing/2014/main" id="{3427F676-1EB1-7CDD-C856-328C37783514}"/>
              </a:ext>
            </a:extLst>
          </p:cNvPr>
          <p:cNvGrpSpPr/>
          <p:nvPr/>
        </p:nvGrpSpPr>
        <p:grpSpPr>
          <a:xfrm>
            <a:off x="4248616" y="3264245"/>
            <a:ext cx="360000" cy="360000"/>
            <a:chOff x="1495425" y="3838582"/>
            <a:chExt cx="720000" cy="720000"/>
          </a:xfrm>
        </p:grpSpPr>
        <p:sp>
          <p:nvSpPr>
            <p:cNvPr id="14" name="椭圆 13">
              <a:extLst>
                <a:ext uri="{FF2B5EF4-FFF2-40B4-BE49-F238E27FC236}">
                  <a16:creationId xmlns:a16="http://schemas.microsoft.com/office/drawing/2014/main" id="{CF6E8638-B56C-43EB-CFE6-8FC781802CAC}"/>
                </a:ext>
              </a:extLst>
            </p:cNvPr>
            <p:cNvSpPr/>
            <p:nvPr/>
          </p:nvSpPr>
          <p:spPr>
            <a:xfrm>
              <a:off x="1495425" y="3838582"/>
              <a:ext cx="720000" cy="720000"/>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700">
                <a:solidFill>
                  <a:sysClr val="windowText" lastClr="000000"/>
                </a:solidFill>
                <a:latin typeface="Times New Roman" panose="02020603050405020304" pitchFamily="18" charset="0"/>
                <a:cs typeface="Times New Roman" panose="02020603050405020304" pitchFamily="18" charset="0"/>
              </a:endParaRPr>
            </a:p>
          </p:txBody>
        </p:sp>
        <p:sp>
          <p:nvSpPr>
            <p:cNvPr id="16" name="文本框 15">
              <a:extLst>
                <a:ext uri="{FF2B5EF4-FFF2-40B4-BE49-F238E27FC236}">
                  <a16:creationId xmlns:a16="http://schemas.microsoft.com/office/drawing/2014/main" id="{AE8008AF-BAFB-E428-488C-7098F97A149E}"/>
                </a:ext>
              </a:extLst>
            </p:cNvPr>
            <p:cNvSpPr txBox="1"/>
            <p:nvPr/>
          </p:nvSpPr>
          <p:spPr>
            <a:xfrm>
              <a:off x="1855425" y="3838582"/>
              <a:ext cx="360000" cy="360000"/>
            </a:xfrm>
            <a:prstGeom prst="rect">
              <a:avLst/>
            </a:prstGeom>
            <a:noFill/>
            <a:ln w="6350">
              <a:noFill/>
            </a:ln>
          </p:spPr>
          <p:txBody>
            <a:bodyPr wrap="none" rtlCol="0">
              <a:noAutofit/>
            </a:bodyPr>
            <a:lstStyle/>
            <a:p>
              <a:r>
                <a:rPr lang="en-US" altLang="zh-CN" sz="700">
                  <a:solidFill>
                    <a:sysClr val="windowText" lastClr="000000"/>
                  </a:solidFill>
                  <a:latin typeface="Times New Roman" panose="02020603050405020304" pitchFamily="18" charset="0"/>
                  <a:cs typeface="Times New Roman" panose="02020603050405020304" pitchFamily="18" charset="0"/>
                </a:rPr>
                <a:t>0</a:t>
              </a:r>
              <a:endParaRPr lang="zh-CN" altLang="en-US" sz="700">
                <a:solidFill>
                  <a:sysClr val="windowText" lastClr="000000"/>
                </a:solidFill>
                <a:latin typeface="Times New Roman" panose="02020603050405020304" pitchFamily="18" charset="0"/>
                <a:cs typeface="Times New Roman" panose="02020603050405020304" pitchFamily="18" charset="0"/>
              </a:endParaRPr>
            </a:p>
          </p:txBody>
        </p:sp>
        <p:sp>
          <p:nvSpPr>
            <p:cNvPr id="17" name="文本框 16">
              <a:extLst>
                <a:ext uri="{FF2B5EF4-FFF2-40B4-BE49-F238E27FC236}">
                  <a16:creationId xmlns:a16="http://schemas.microsoft.com/office/drawing/2014/main" id="{E1E0BE42-A9E6-3124-BD36-40681A059361}"/>
                </a:ext>
              </a:extLst>
            </p:cNvPr>
            <p:cNvSpPr txBox="1"/>
            <p:nvPr/>
          </p:nvSpPr>
          <p:spPr>
            <a:xfrm>
              <a:off x="1855425" y="4198582"/>
              <a:ext cx="360000" cy="360000"/>
            </a:xfrm>
            <a:prstGeom prst="rect">
              <a:avLst/>
            </a:prstGeom>
            <a:noFill/>
            <a:ln w="6350">
              <a:noFill/>
            </a:ln>
          </p:spPr>
          <p:txBody>
            <a:bodyPr wrap="none" rtlCol="0">
              <a:noAutofit/>
            </a:bodyPr>
            <a:lstStyle/>
            <a:p>
              <a:endParaRPr lang="zh-CN" altLang="en-US" sz="700">
                <a:solidFill>
                  <a:sysClr val="windowText" lastClr="000000"/>
                </a:solidFill>
                <a:latin typeface="Times New Roman" panose="02020603050405020304" pitchFamily="18" charset="0"/>
                <a:cs typeface="Times New Roman" panose="02020603050405020304" pitchFamily="18" charset="0"/>
              </a:endParaRPr>
            </a:p>
          </p:txBody>
        </p:sp>
        <p:sp>
          <p:nvSpPr>
            <p:cNvPr id="18" name="文本框 17">
              <a:extLst>
                <a:ext uri="{FF2B5EF4-FFF2-40B4-BE49-F238E27FC236}">
                  <a16:creationId xmlns:a16="http://schemas.microsoft.com/office/drawing/2014/main" id="{B70A8A75-DCC0-ECF6-2476-776EFBFD34AB}"/>
                </a:ext>
              </a:extLst>
            </p:cNvPr>
            <p:cNvSpPr txBox="1"/>
            <p:nvPr/>
          </p:nvSpPr>
          <p:spPr>
            <a:xfrm>
              <a:off x="1522676" y="4044693"/>
              <a:ext cx="248787" cy="307777"/>
            </a:xfrm>
            <a:prstGeom prst="rect">
              <a:avLst/>
            </a:prstGeom>
            <a:noFill/>
            <a:ln w="6350">
              <a:noFill/>
            </a:ln>
          </p:spPr>
          <p:txBody>
            <a:bodyPr wrap="none" rtlCol="0" anchor="ctr" anchorCtr="0">
              <a:noAutofit/>
            </a:bodyPr>
            <a:lstStyle/>
            <a:p>
              <a:pPr algn="ctr"/>
              <a:r>
                <a:rPr lang="en-US" altLang="zh-CN" sz="700">
                  <a:solidFill>
                    <a:sysClr val="windowText" lastClr="000000"/>
                  </a:solidFill>
                  <a:latin typeface="Times New Roman" panose="02020603050405020304" pitchFamily="18" charset="0"/>
                  <a:cs typeface="Times New Roman" panose="02020603050405020304" pitchFamily="18" charset="0"/>
                </a:rPr>
                <a:t>1</a:t>
              </a:r>
              <a:endParaRPr lang="zh-CN" altLang="en-US" sz="700">
                <a:solidFill>
                  <a:sysClr val="windowText" lastClr="000000"/>
                </a:solidFill>
                <a:latin typeface="Times New Roman" panose="02020603050405020304" pitchFamily="18" charset="0"/>
                <a:cs typeface="Times New Roman" panose="02020603050405020304" pitchFamily="18" charset="0"/>
              </a:endParaRPr>
            </a:p>
          </p:txBody>
        </p:sp>
        <p:cxnSp>
          <p:nvCxnSpPr>
            <p:cNvPr id="26" name="直接连接符 25">
              <a:extLst>
                <a:ext uri="{FF2B5EF4-FFF2-40B4-BE49-F238E27FC236}">
                  <a16:creationId xmlns:a16="http://schemas.microsoft.com/office/drawing/2014/main" id="{8B61E636-6DED-6925-4571-181FB1EC4982}"/>
                </a:ext>
              </a:extLst>
            </p:cNvPr>
            <p:cNvCxnSpPr>
              <a:cxnSpLocks/>
            </p:cNvCxnSpPr>
            <p:nvPr/>
          </p:nvCxnSpPr>
          <p:spPr>
            <a:xfrm>
              <a:off x="1855425" y="3838582"/>
              <a:ext cx="0" cy="720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B92A2966-8194-87F7-67B5-37CA6E7B6A74}"/>
                </a:ext>
              </a:extLst>
            </p:cNvPr>
            <p:cNvCxnSpPr>
              <a:cxnSpLocks/>
            </p:cNvCxnSpPr>
            <p:nvPr/>
          </p:nvCxnSpPr>
          <p:spPr>
            <a:xfrm rot="5400000">
              <a:off x="2035425" y="4018582"/>
              <a:ext cx="0" cy="360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 name="组合 29">
            <a:extLst>
              <a:ext uri="{FF2B5EF4-FFF2-40B4-BE49-F238E27FC236}">
                <a16:creationId xmlns:a16="http://schemas.microsoft.com/office/drawing/2014/main" id="{CF50E08F-5948-C277-57BF-38D69CCAADC0}"/>
              </a:ext>
            </a:extLst>
          </p:cNvPr>
          <p:cNvGrpSpPr/>
          <p:nvPr/>
        </p:nvGrpSpPr>
        <p:grpSpPr>
          <a:xfrm>
            <a:off x="5058382" y="2884667"/>
            <a:ext cx="360000" cy="360000"/>
            <a:chOff x="1495425" y="3838582"/>
            <a:chExt cx="720000" cy="720000"/>
          </a:xfrm>
        </p:grpSpPr>
        <p:sp>
          <p:nvSpPr>
            <p:cNvPr id="31" name="椭圆 30">
              <a:extLst>
                <a:ext uri="{FF2B5EF4-FFF2-40B4-BE49-F238E27FC236}">
                  <a16:creationId xmlns:a16="http://schemas.microsoft.com/office/drawing/2014/main" id="{38BBBBC2-876C-6EAC-896A-9208D2BB2BA8}"/>
                </a:ext>
              </a:extLst>
            </p:cNvPr>
            <p:cNvSpPr/>
            <p:nvPr/>
          </p:nvSpPr>
          <p:spPr>
            <a:xfrm>
              <a:off x="1495425" y="3838582"/>
              <a:ext cx="720000" cy="720000"/>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700">
                <a:solidFill>
                  <a:sysClr val="windowText" lastClr="000000"/>
                </a:solidFill>
                <a:latin typeface="Times New Roman" panose="02020603050405020304" pitchFamily="18" charset="0"/>
                <a:cs typeface="Times New Roman" panose="02020603050405020304" pitchFamily="18" charset="0"/>
              </a:endParaRPr>
            </a:p>
          </p:txBody>
        </p:sp>
        <p:sp>
          <p:nvSpPr>
            <p:cNvPr id="32" name="文本框 31">
              <a:extLst>
                <a:ext uri="{FF2B5EF4-FFF2-40B4-BE49-F238E27FC236}">
                  <a16:creationId xmlns:a16="http://schemas.microsoft.com/office/drawing/2014/main" id="{29E77925-4CF9-7F20-4E4A-0AAD89E7253D}"/>
                </a:ext>
              </a:extLst>
            </p:cNvPr>
            <p:cNvSpPr txBox="1"/>
            <p:nvPr/>
          </p:nvSpPr>
          <p:spPr>
            <a:xfrm>
              <a:off x="1855425" y="3838582"/>
              <a:ext cx="360000" cy="360000"/>
            </a:xfrm>
            <a:prstGeom prst="rect">
              <a:avLst/>
            </a:prstGeom>
            <a:noFill/>
            <a:ln w="6350">
              <a:noFill/>
            </a:ln>
          </p:spPr>
          <p:txBody>
            <a:bodyPr wrap="none" rtlCol="0">
              <a:noAutofit/>
            </a:bodyPr>
            <a:lstStyle/>
            <a:p>
              <a:endParaRPr lang="zh-CN" altLang="en-US" sz="700">
                <a:solidFill>
                  <a:sysClr val="windowText" lastClr="000000"/>
                </a:solidFill>
                <a:latin typeface="Times New Roman" panose="02020603050405020304" pitchFamily="18" charset="0"/>
                <a:cs typeface="Times New Roman" panose="02020603050405020304" pitchFamily="18" charset="0"/>
              </a:endParaRPr>
            </a:p>
          </p:txBody>
        </p:sp>
        <p:sp>
          <p:nvSpPr>
            <p:cNvPr id="33" name="文本框 32">
              <a:extLst>
                <a:ext uri="{FF2B5EF4-FFF2-40B4-BE49-F238E27FC236}">
                  <a16:creationId xmlns:a16="http://schemas.microsoft.com/office/drawing/2014/main" id="{01F3FFD1-5E83-6843-E20E-490D6B6A3BB0}"/>
                </a:ext>
              </a:extLst>
            </p:cNvPr>
            <p:cNvSpPr txBox="1"/>
            <p:nvPr/>
          </p:nvSpPr>
          <p:spPr>
            <a:xfrm>
              <a:off x="1855425" y="4198582"/>
              <a:ext cx="360000" cy="360000"/>
            </a:xfrm>
            <a:prstGeom prst="rect">
              <a:avLst/>
            </a:prstGeom>
            <a:noFill/>
            <a:ln w="6350">
              <a:noFill/>
            </a:ln>
          </p:spPr>
          <p:txBody>
            <a:bodyPr wrap="none" rtlCol="0">
              <a:noAutofit/>
            </a:bodyPr>
            <a:lstStyle/>
            <a:p>
              <a:endParaRPr lang="zh-CN" altLang="en-US" sz="700">
                <a:solidFill>
                  <a:sysClr val="windowText" lastClr="000000"/>
                </a:solidFill>
                <a:latin typeface="Times New Roman" panose="02020603050405020304" pitchFamily="18" charset="0"/>
                <a:cs typeface="Times New Roman" panose="02020603050405020304" pitchFamily="18" charset="0"/>
              </a:endParaRPr>
            </a:p>
          </p:txBody>
        </p:sp>
        <p:sp>
          <p:nvSpPr>
            <p:cNvPr id="34" name="文本框 33">
              <a:extLst>
                <a:ext uri="{FF2B5EF4-FFF2-40B4-BE49-F238E27FC236}">
                  <a16:creationId xmlns:a16="http://schemas.microsoft.com/office/drawing/2014/main" id="{49192D3D-99D5-347F-6992-657C57305E60}"/>
                </a:ext>
              </a:extLst>
            </p:cNvPr>
            <p:cNvSpPr txBox="1"/>
            <p:nvPr/>
          </p:nvSpPr>
          <p:spPr>
            <a:xfrm>
              <a:off x="1503440" y="4044693"/>
              <a:ext cx="287259" cy="307777"/>
            </a:xfrm>
            <a:prstGeom prst="rect">
              <a:avLst/>
            </a:prstGeom>
            <a:noFill/>
            <a:ln w="6350">
              <a:noFill/>
            </a:ln>
          </p:spPr>
          <p:txBody>
            <a:bodyPr wrap="none" rtlCol="0" anchor="ctr" anchorCtr="0">
              <a:noAutofit/>
            </a:bodyPr>
            <a:lstStyle/>
            <a:p>
              <a:pPr algn="ctr"/>
              <a:r>
                <a:rPr lang="en-US" altLang="zh-CN" sz="700">
                  <a:solidFill>
                    <a:sysClr val="windowText" lastClr="000000"/>
                  </a:solidFill>
                  <a:latin typeface="Times New Roman" panose="02020603050405020304" pitchFamily="18" charset="0"/>
                  <a:cs typeface="Times New Roman" panose="02020603050405020304" pitchFamily="18" charset="0"/>
                </a:rPr>
                <a:t>2</a:t>
              </a:r>
              <a:endParaRPr lang="zh-CN" altLang="en-US" sz="700">
                <a:solidFill>
                  <a:sysClr val="windowText" lastClr="000000"/>
                </a:solidFill>
                <a:latin typeface="Times New Roman" panose="02020603050405020304" pitchFamily="18" charset="0"/>
                <a:cs typeface="Times New Roman" panose="02020603050405020304" pitchFamily="18" charset="0"/>
              </a:endParaRPr>
            </a:p>
          </p:txBody>
        </p:sp>
        <p:cxnSp>
          <p:nvCxnSpPr>
            <p:cNvPr id="35" name="直接连接符 34">
              <a:extLst>
                <a:ext uri="{FF2B5EF4-FFF2-40B4-BE49-F238E27FC236}">
                  <a16:creationId xmlns:a16="http://schemas.microsoft.com/office/drawing/2014/main" id="{FBC67BD4-CBC3-FC28-BEE6-6C40803B0C3E}"/>
                </a:ext>
              </a:extLst>
            </p:cNvPr>
            <p:cNvCxnSpPr>
              <a:cxnSpLocks/>
            </p:cNvCxnSpPr>
            <p:nvPr/>
          </p:nvCxnSpPr>
          <p:spPr>
            <a:xfrm>
              <a:off x="1855425" y="3838582"/>
              <a:ext cx="0" cy="720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F7C254EA-3096-C784-DDC1-B578000DD44E}"/>
                </a:ext>
              </a:extLst>
            </p:cNvPr>
            <p:cNvCxnSpPr>
              <a:cxnSpLocks/>
            </p:cNvCxnSpPr>
            <p:nvPr/>
          </p:nvCxnSpPr>
          <p:spPr>
            <a:xfrm rot="5400000">
              <a:off x="2035425" y="4018582"/>
              <a:ext cx="0" cy="360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7" name="组合 36">
            <a:extLst>
              <a:ext uri="{FF2B5EF4-FFF2-40B4-BE49-F238E27FC236}">
                <a16:creationId xmlns:a16="http://schemas.microsoft.com/office/drawing/2014/main" id="{536E0A77-ECB4-FE0D-90E2-99736C5F115E}"/>
              </a:ext>
            </a:extLst>
          </p:cNvPr>
          <p:cNvGrpSpPr/>
          <p:nvPr/>
        </p:nvGrpSpPr>
        <p:grpSpPr>
          <a:xfrm>
            <a:off x="5044957" y="3620831"/>
            <a:ext cx="360000" cy="360000"/>
            <a:chOff x="1495425" y="3838582"/>
            <a:chExt cx="720000" cy="720000"/>
          </a:xfrm>
        </p:grpSpPr>
        <p:sp>
          <p:nvSpPr>
            <p:cNvPr id="38" name="椭圆 37">
              <a:extLst>
                <a:ext uri="{FF2B5EF4-FFF2-40B4-BE49-F238E27FC236}">
                  <a16:creationId xmlns:a16="http://schemas.microsoft.com/office/drawing/2014/main" id="{DA7C686C-12CB-F3A9-CD5B-732A7F7F8D4E}"/>
                </a:ext>
              </a:extLst>
            </p:cNvPr>
            <p:cNvSpPr/>
            <p:nvPr/>
          </p:nvSpPr>
          <p:spPr>
            <a:xfrm>
              <a:off x="1495425" y="3838582"/>
              <a:ext cx="720000" cy="720000"/>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700">
                <a:solidFill>
                  <a:sysClr val="windowText" lastClr="000000"/>
                </a:solidFill>
                <a:latin typeface="Times New Roman" panose="02020603050405020304" pitchFamily="18" charset="0"/>
                <a:cs typeface="Times New Roman" panose="02020603050405020304" pitchFamily="18" charset="0"/>
              </a:endParaRPr>
            </a:p>
          </p:txBody>
        </p:sp>
        <p:sp>
          <p:nvSpPr>
            <p:cNvPr id="39" name="文本框 38">
              <a:extLst>
                <a:ext uri="{FF2B5EF4-FFF2-40B4-BE49-F238E27FC236}">
                  <a16:creationId xmlns:a16="http://schemas.microsoft.com/office/drawing/2014/main" id="{B3D8BDCC-D3B2-823B-5DFC-B0B22E010D80}"/>
                </a:ext>
              </a:extLst>
            </p:cNvPr>
            <p:cNvSpPr txBox="1"/>
            <p:nvPr/>
          </p:nvSpPr>
          <p:spPr>
            <a:xfrm>
              <a:off x="1855425" y="3838582"/>
              <a:ext cx="360000" cy="360000"/>
            </a:xfrm>
            <a:prstGeom prst="rect">
              <a:avLst/>
            </a:prstGeom>
            <a:noFill/>
            <a:ln w="6350">
              <a:noFill/>
            </a:ln>
          </p:spPr>
          <p:txBody>
            <a:bodyPr wrap="none" rtlCol="0">
              <a:noAutofit/>
            </a:bodyPr>
            <a:lstStyle/>
            <a:p>
              <a:endParaRPr lang="zh-CN" altLang="en-US" sz="700" dirty="0">
                <a:solidFill>
                  <a:sysClr val="windowText" lastClr="000000"/>
                </a:solidFill>
                <a:latin typeface="Times New Roman" panose="02020603050405020304" pitchFamily="18" charset="0"/>
                <a:cs typeface="Times New Roman" panose="02020603050405020304" pitchFamily="18" charset="0"/>
              </a:endParaRPr>
            </a:p>
          </p:txBody>
        </p:sp>
        <p:sp>
          <p:nvSpPr>
            <p:cNvPr id="40" name="文本框 39">
              <a:extLst>
                <a:ext uri="{FF2B5EF4-FFF2-40B4-BE49-F238E27FC236}">
                  <a16:creationId xmlns:a16="http://schemas.microsoft.com/office/drawing/2014/main" id="{E34317DF-C0DD-40E3-3556-8BE0FD2074A6}"/>
                </a:ext>
              </a:extLst>
            </p:cNvPr>
            <p:cNvSpPr txBox="1"/>
            <p:nvPr/>
          </p:nvSpPr>
          <p:spPr>
            <a:xfrm>
              <a:off x="1855425" y="4198582"/>
              <a:ext cx="360000" cy="360000"/>
            </a:xfrm>
            <a:prstGeom prst="rect">
              <a:avLst/>
            </a:prstGeom>
            <a:noFill/>
            <a:ln w="6350">
              <a:noFill/>
            </a:ln>
          </p:spPr>
          <p:txBody>
            <a:bodyPr wrap="none" rtlCol="0">
              <a:noAutofit/>
            </a:bodyPr>
            <a:lstStyle/>
            <a:p>
              <a:endParaRPr lang="zh-CN" altLang="en-US" sz="700">
                <a:solidFill>
                  <a:sysClr val="windowText" lastClr="000000"/>
                </a:solidFill>
                <a:latin typeface="Times New Roman" panose="02020603050405020304" pitchFamily="18" charset="0"/>
                <a:cs typeface="Times New Roman" panose="02020603050405020304" pitchFamily="18" charset="0"/>
              </a:endParaRPr>
            </a:p>
          </p:txBody>
        </p:sp>
        <p:sp>
          <p:nvSpPr>
            <p:cNvPr id="41" name="文本框 40">
              <a:extLst>
                <a:ext uri="{FF2B5EF4-FFF2-40B4-BE49-F238E27FC236}">
                  <a16:creationId xmlns:a16="http://schemas.microsoft.com/office/drawing/2014/main" id="{9073DBB8-9406-6D84-1B96-A8F87EC71DA3}"/>
                </a:ext>
              </a:extLst>
            </p:cNvPr>
            <p:cNvSpPr txBox="1"/>
            <p:nvPr/>
          </p:nvSpPr>
          <p:spPr>
            <a:xfrm>
              <a:off x="1504241" y="4044693"/>
              <a:ext cx="285656" cy="307777"/>
            </a:xfrm>
            <a:prstGeom prst="rect">
              <a:avLst/>
            </a:prstGeom>
            <a:noFill/>
            <a:ln w="6350">
              <a:noFill/>
            </a:ln>
          </p:spPr>
          <p:txBody>
            <a:bodyPr wrap="none" rtlCol="0" anchor="ctr" anchorCtr="0">
              <a:noAutofit/>
            </a:bodyPr>
            <a:lstStyle/>
            <a:p>
              <a:pPr algn="ctr"/>
              <a:r>
                <a:rPr lang="en-US" altLang="zh-CN" sz="700" dirty="0">
                  <a:solidFill>
                    <a:sysClr val="windowText" lastClr="000000"/>
                  </a:solidFill>
                  <a:latin typeface="Times New Roman" panose="02020603050405020304" pitchFamily="18" charset="0"/>
                  <a:cs typeface="Times New Roman" panose="02020603050405020304" pitchFamily="18" charset="0"/>
                </a:rPr>
                <a:t>3</a:t>
              </a: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p:txBody>
        </p:sp>
        <p:cxnSp>
          <p:nvCxnSpPr>
            <p:cNvPr id="42" name="直接连接符 41">
              <a:extLst>
                <a:ext uri="{FF2B5EF4-FFF2-40B4-BE49-F238E27FC236}">
                  <a16:creationId xmlns:a16="http://schemas.microsoft.com/office/drawing/2014/main" id="{ABCB84D8-BCCA-159D-B424-5620DF031B87}"/>
                </a:ext>
              </a:extLst>
            </p:cNvPr>
            <p:cNvCxnSpPr>
              <a:cxnSpLocks/>
            </p:cNvCxnSpPr>
            <p:nvPr/>
          </p:nvCxnSpPr>
          <p:spPr>
            <a:xfrm>
              <a:off x="1855425" y="3838582"/>
              <a:ext cx="0" cy="720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9A46DE8B-35F3-5326-7BDC-8CA05690670A}"/>
                </a:ext>
              </a:extLst>
            </p:cNvPr>
            <p:cNvCxnSpPr>
              <a:cxnSpLocks/>
            </p:cNvCxnSpPr>
            <p:nvPr/>
          </p:nvCxnSpPr>
          <p:spPr>
            <a:xfrm rot="5400000">
              <a:off x="2035425" y="4018582"/>
              <a:ext cx="0" cy="360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4" name="组合 43">
            <a:extLst>
              <a:ext uri="{FF2B5EF4-FFF2-40B4-BE49-F238E27FC236}">
                <a16:creationId xmlns:a16="http://schemas.microsoft.com/office/drawing/2014/main" id="{B9C13D5E-4BDF-C846-2C9F-A3AE77318C25}"/>
              </a:ext>
            </a:extLst>
          </p:cNvPr>
          <p:cNvGrpSpPr/>
          <p:nvPr/>
        </p:nvGrpSpPr>
        <p:grpSpPr>
          <a:xfrm>
            <a:off x="5058382" y="4356996"/>
            <a:ext cx="360000" cy="360000"/>
            <a:chOff x="1495425" y="3838582"/>
            <a:chExt cx="720000" cy="720000"/>
          </a:xfrm>
        </p:grpSpPr>
        <p:sp>
          <p:nvSpPr>
            <p:cNvPr id="45" name="椭圆 44">
              <a:extLst>
                <a:ext uri="{FF2B5EF4-FFF2-40B4-BE49-F238E27FC236}">
                  <a16:creationId xmlns:a16="http://schemas.microsoft.com/office/drawing/2014/main" id="{23C7F876-9BB0-B9F1-9364-57EC01FDD378}"/>
                </a:ext>
              </a:extLst>
            </p:cNvPr>
            <p:cNvSpPr/>
            <p:nvPr/>
          </p:nvSpPr>
          <p:spPr>
            <a:xfrm>
              <a:off x="1495425" y="3838582"/>
              <a:ext cx="720000" cy="720000"/>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700">
                <a:solidFill>
                  <a:sysClr val="windowText" lastClr="000000"/>
                </a:solidFill>
                <a:latin typeface="Times New Roman" panose="02020603050405020304" pitchFamily="18" charset="0"/>
                <a:cs typeface="Times New Roman" panose="02020603050405020304" pitchFamily="18" charset="0"/>
              </a:endParaRPr>
            </a:p>
          </p:txBody>
        </p:sp>
        <p:sp>
          <p:nvSpPr>
            <p:cNvPr id="46" name="文本框 45">
              <a:extLst>
                <a:ext uri="{FF2B5EF4-FFF2-40B4-BE49-F238E27FC236}">
                  <a16:creationId xmlns:a16="http://schemas.microsoft.com/office/drawing/2014/main" id="{BE4DDADB-7ECB-3DBC-F0DC-DFFF7D54E831}"/>
                </a:ext>
              </a:extLst>
            </p:cNvPr>
            <p:cNvSpPr txBox="1"/>
            <p:nvPr/>
          </p:nvSpPr>
          <p:spPr>
            <a:xfrm>
              <a:off x="1855425" y="3838582"/>
              <a:ext cx="360000" cy="360000"/>
            </a:xfrm>
            <a:prstGeom prst="rect">
              <a:avLst/>
            </a:prstGeom>
            <a:noFill/>
            <a:ln w="6350">
              <a:noFill/>
            </a:ln>
          </p:spPr>
          <p:txBody>
            <a:bodyPr wrap="none" rtlCol="0">
              <a:noAutofit/>
            </a:bodyPr>
            <a:lstStyle/>
            <a:p>
              <a:r>
                <a:rPr lang="en-US" altLang="zh-CN" sz="700">
                  <a:solidFill>
                    <a:sysClr val="windowText" lastClr="000000"/>
                  </a:solidFill>
                  <a:latin typeface="Times New Roman" panose="02020603050405020304" pitchFamily="18" charset="0"/>
                  <a:cs typeface="Times New Roman" panose="02020603050405020304" pitchFamily="18" charset="0"/>
                </a:rPr>
                <a:t>0</a:t>
              </a:r>
              <a:endParaRPr lang="zh-CN" altLang="en-US" sz="700">
                <a:solidFill>
                  <a:sysClr val="windowText" lastClr="000000"/>
                </a:solidFill>
                <a:latin typeface="Times New Roman" panose="02020603050405020304" pitchFamily="18" charset="0"/>
                <a:cs typeface="Times New Roman" panose="02020603050405020304" pitchFamily="18" charset="0"/>
              </a:endParaRPr>
            </a:p>
          </p:txBody>
        </p:sp>
        <p:sp>
          <p:nvSpPr>
            <p:cNvPr id="47" name="文本框 46">
              <a:extLst>
                <a:ext uri="{FF2B5EF4-FFF2-40B4-BE49-F238E27FC236}">
                  <a16:creationId xmlns:a16="http://schemas.microsoft.com/office/drawing/2014/main" id="{32147C95-B426-5F71-7838-A7EA33DDC676}"/>
                </a:ext>
              </a:extLst>
            </p:cNvPr>
            <p:cNvSpPr txBox="1"/>
            <p:nvPr/>
          </p:nvSpPr>
          <p:spPr>
            <a:xfrm>
              <a:off x="1855425" y="4198582"/>
              <a:ext cx="360000" cy="360000"/>
            </a:xfrm>
            <a:prstGeom prst="rect">
              <a:avLst/>
            </a:prstGeom>
            <a:noFill/>
            <a:ln w="6350">
              <a:noFill/>
            </a:ln>
          </p:spPr>
          <p:txBody>
            <a:bodyPr wrap="none" rtlCol="0">
              <a:noAutofit/>
            </a:bodyPr>
            <a:lstStyle/>
            <a:p>
              <a:endParaRPr lang="zh-CN" altLang="en-US" sz="700">
                <a:solidFill>
                  <a:sysClr val="windowText" lastClr="000000"/>
                </a:solidFill>
                <a:latin typeface="Times New Roman" panose="02020603050405020304" pitchFamily="18" charset="0"/>
                <a:cs typeface="Times New Roman" panose="02020603050405020304" pitchFamily="18" charset="0"/>
              </a:endParaRPr>
            </a:p>
          </p:txBody>
        </p:sp>
        <p:sp>
          <p:nvSpPr>
            <p:cNvPr id="48" name="文本框 47">
              <a:extLst>
                <a:ext uri="{FF2B5EF4-FFF2-40B4-BE49-F238E27FC236}">
                  <a16:creationId xmlns:a16="http://schemas.microsoft.com/office/drawing/2014/main" id="{59FF53DD-D4F7-9F94-650F-A0DE996AC4C3}"/>
                </a:ext>
              </a:extLst>
            </p:cNvPr>
            <p:cNvSpPr txBox="1"/>
            <p:nvPr/>
          </p:nvSpPr>
          <p:spPr>
            <a:xfrm>
              <a:off x="1495425" y="4044693"/>
              <a:ext cx="303288" cy="307777"/>
            </a:xfrm>
            <a:prstGeom prst="rect">
              <a:avLst/>
            </a:prstGeom>
            <a:noFill/>
            <a:ln w="6350">
              <a:noFill/>
            </a:ln>
          </p:spPr>
          <p:txBody>
            <a:bodyPr wrap="none" rtlCol="0" anchor="ctr" anchorCtr="0">
              <a:noAutofit/>
            </a:bodyPr>
            <a:lstStyle/>
            <a:p>
              <a:pPr algn="ctr"/>
              <a:r>
                <a:rPr lang="en-US" altLang="zh-CN" sz="700">
                  <a:solidFill>
                    <a:sysClr val="windowText" lastClr="000000"/>
                  </a:solidFill>
                  <a:latin typeface="Times New Roman" panose="02020603050405020304" pitchFamily="18" charset="0"/>
                  <a:cs typeface="Times New Roman" panose="02020603050405020304" pitchFamily="18" charset="0"/>
                </a:rPr>
                <a:t>4</a:t>
              </a:r>
              <a:endParaRPr lang="zh-CN" altLang="en-US" sz="700">
                <a:solidFill>
                  <a:sysClr val="windowText" lastClr="000000"/>
                </a:solidFill>
                <a:latin typeface="Times New Roman" panose="02020603050405020304" pitchFamily="18" charset="0"/>
                <a:cs typeface="Times New Roman" panose="02020603050405020304" pitchFamily="18" charset="0"/>
              </a:endParaRPr>
            </a:p>
          </p:txBody>
        </p:sp>
        <p:cxnSp>
          <p:nvCxnSpPr>
            <p:cNvPr id="49" name="直接连接符 48">
              <a:extLst>
                <a:ext uri="{FF2B5EF4-FFF2-40B4-BE49-F238E27FC236}">
                  <a16:creationId xmlns:a16="http://schemas.microsoft.com/office/drawing/2014/main" id="{55133469-D70D-90BF-5D2C-CF376479BFF7}"/>
                </a:ext>
              </a:extLst>
            </p:cNvPr>
            <p:cNvCxnSpPr>
              <a:cxnSpLocks/>
            </p:cNvCxnSpPr>
            <p:nvPr/>
          </p:nvCxnSpPr>
          <p:spPr>
            <a:xfrm>
              <a:off x="1855425" y="3838582"/>
              <a:ext cx="0" cy="720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591728DF-3ED9-D2CC-5D36-0B7F016FC6E9}"/>
                </a:ext>
              </a:extLst>
            </p:cNvPr>
            <p:cNvCxnSpPr>
              <a:cxnSpLocks/>
            </p:cNvCxnSpPr>
            <p:nvPr/>
          </p:nvCxnSpPr>
          <p:spPr>
            <a:xfrm rot="5400000">
              <a:off x="2035425" y="4018582"/>
              <a:ext cx="0" cy="360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1" name="组合 50">
            <a:extLst>
              <a:ext uri="{FF2B5EF4-FFF2-40B4-BE49-F238E27FC236}">
                <a16:creationId xmlns:a16="http://schemas.microsoft.com/office/drawing/2014/main" id="{D9B061B2-C4B6-A670-1AEE-18826CD708EF}"/>
              </a:ext>
            </a:extLst>
          </p:cNvPr>
          <p:cNvGrpSpPr/>
          <p:nvPr/>
        </p:nvGrpSpPr>
        <p:grpSpPr>
          <a:xfrm>
            <a:off x="5899763" y="3988914"/>
            <a:ext cx="360000" cy="360000"/>
            <a:chOff x="1495425" y="3838582"/>
            <a:chExt cx="720000" cy="720000"/>
          </a:xfrm>
        </p:grpSpPr>
        <p:sp>
          <p:nvSpPr>
            <p:cNvPr id="52" name="椭圆 51">
              <a:extLst>
                <a:ext uri="{FF2B5EF4-FFF2-40B4-BE49-F238E27FC236}">
                  <a16:creationId xmlns:a16="http://schemas.microsoft.com/office/drawing/2014/main" id="{79C0079F-CEB2-96A5-4FB9-11A663EFCFC9}"/>
                </a:ext>
              </a:extLst>
            </p:cNvPr>
            <p:cNvSpPr/>
            <p:nvPr/>
          </p:nvSpPr>
          <p:spPr>
            <a:xfrm>
              <a:off x="1495425" y="3838582"/>
              <a:ext cx="720000" cy="720000"/>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700">
                <a:solidFill>
                  <a:sysClr val="windowText" lastClr="000000"/>
                </a:solidFill>
                <a:latin typeface="Times New Roman" panose="02020603050405020304" pitchFamily="18" charset="0"/>
                <a:cs typeface="Times New Roman" panose="02020603050405020304" pitchFamily="18" charset="0"/>
              </a:endParaRPr>
            </a:p>
          </p:txBody>
        </p:sp>
        <p:sp>
          <p:nvSpPr>
            <p:cNvPr id="53" name="文本框 52">
              <a:extLst>
                <a:ext uri="{FF2B5EF4-FFF2-40B4-BE49-F238E27FC236}">
                  <a16:creationId xmlns:a16="http://schemas.microsoft.com/office/drawing/2014/main" id="{6E8CBAB2-16AE-3AB1-6B27-8BDAB7321496}"/>
                </a:ext>
              </a:extLst>
            </p:cNvPr>
            <p:cNvSpPr txBox="1"/>
            <p:nvPr/>
          </p:nvSpPr>
          <p:spPr>
            <a:xfrm>
              <a:off x="1855425" y="3838582"/>
              <a:ext cx="360000" cy="360000"/>
            </a:xfrm>
            <a:prstGeom prst="rect">
              <a:avLst/>
            </a:prstGeom>
            <a:noFill/>
            <a:ln w="6350">
              <a:noFill/>
            </a:ln>
          </p:spPr>
          <p:txBody>
            <a:bodyPr wrap="none" rtlCol="0">
              <a:noAutofit/>
            </a:bodyPr>
            <a:lstStyle/>
            <a:p>
              <a:endParaRPr lang="zh-CN" altLang="en-US" sz="700">
                <a:solidFill>
                  <a:sysClr val="windowText" lastClr="000000"/>
                </a:solidFill>
                <a:latin typeface="Times New Roman" panose="02020603050405020304" pitchFamily="18" charset="0"/>
                <a:cs typeface="Times New Roman" panose="02020603050405020304" pitchFamily="18" charset="0"/>
              </a:endParaRPr>
            </a:p>
          </p:txBody>
        </p:sp>
        <p:sp>
          <p:nvSpPr>
            <p:cNvPr id="54" name="文本框 53">
              <a:extLst>
                <a:ext uri="{FF2B5EF4-FFF2-40B4-BE49-F238E27FC236}">
                  <a16:creationId xmlns:a16="http://schemas.microsoft.com/office/drawing/2014/main" id="{F8AB7D95-9AC8-4BF7-FA30-009B1BB5F20D}"/>
                </a:ext>
              </a:extLst>
            </p:cNvPr>
            <p:cNvSpPr txBox="1"/>
            <p:nvPr/>
          </p:nvSpPr>
          <p:spPr>
            <a:xfrm>
              <a:off x="1855425" y="4198582"/>
              <a:ext cx="360000" cy="360000"/>
            </a:xfrm>
            <a:prstGeom prst="rect">
              <a:avLst/>
            </a:prstGeom>
            <a:noFill/>
            <a:ln w="6350">
              <a:noFill/>
            </a:ln>
          </p:spPr>
          <p:txBody>
            <a:bodyPr wrap="none" rtlCol="0">
              <a:noAutofit/>
            </a:bodyPr>
            <a:lstStyle/>
            <a:p>
              <a:endParaRPr lang="zh-CN" altLang="en-US" sz="700">
                <a:solidFill>
                  <a:sysClr val="windowText" lastClr="000000"/>
                </a:solidFill>
                <a:latin typeface="Times New Roman" panose="02020603050405020304" pitchFamily="18" charset="0"/>
                <a:cs typeface="Times New Roman" panose="02020603050405020304" pitchFamily="18" charset="0"/>
              </a:endParaRPr>
            </a:p>
          </p:txBody>
        </p:sp>
        <p:sp>
          <p:nvSpPr>
            <p:cNvPr id="55" name="文本框 54">
              <a:extLst>
                <a:ext uri="{FF2B5EF4-FFF2-40B4-BE49-F238E27FC236}">
                  <a16:creationId xmlns:a16="http://schemas.microsoft.com/office/drawing/2014/main" id="{B47B94A5-4621-069F-B878-6C61DE46BD00}"/>
                </a:ext>
              </a:extLst>
            </p:cNvPr>
            <p:cNvSpPr txBox="1"/>
            <p:nvPr/>
          </p:nvSpPr>
          <p:spPr>
            <a:xfrm>
              <a:off x="1500234" y="4044693"/>
              <a:ext cx="293671" cy="307777"/>
            </a:xfrm>
            <a:prstGeom prst="rect">
              <a:avLst/>
            </a:prstGeom>
            <a:noFill/>
            <a:ln w="6350">
              <a:noFill/>
            </a:ln>
          </p:spPr>
          <p:txBody>
            <a:bodyPr wrap="none" rtlCol="0" anchor="ctr" anchorCtr="0">
              <a:noAutofit/>
            </a:bodyPr>
            <a:lstStyle/>
            <a:p>
              <a:pPr algn="ctr"/>
              <a:r>
                <a:rPr lang="en-US" altLang="zh-CN" sz="700">
                  <a:solidFill>
                    <a:sysClr val="windowText" lastClr="000000"/>
                  </a:solidFill>
                  <a:latin typeface="Times New Roman" panose="02020603050405020304" pitchFamily="18" charset="0"/>
                  <a:cs typeface="Times New Roman" panose="02020603050405020304" pitchFamily="18" charset="0"/>
                </a:rPr>
                <a:t>6</a:t>
              </a:r>
              <a:endParaRPr lang="zh-CN" altLang="en-US" sz="700">
                <a:solidFill>
                  <a:sysClr val="windowText" lastClr="000000"/>
                </a:solidFill>
                <a:latin typeface="Times New Roman" panose="02020603050405020304" pitchFamily="18" charset="0"/>
                <a:cs typeface="Times New Roman" panose="02020603050405020304" pitchFamily="18" charset="0"/>
              </a:endParaRPr>
            </a:p>
          </p:txBody>
        </p:sp>
        <p:cxnSp>
          <p:nvCxnSpPr>
            <p:cNvPr id="56" name="直接连接符 55">
              <a:extLst>
                <a:ext uri="{FF2B5EF4-FFF2-40B4-BE49-F238E27FC236}">
                  <a16:creationId xmlns:a16="http://schemas.microsoft.com/office/drawing/2014/main" id="{D241F756-CFCF-841E-11B8-440BA545B680}"/>
                </a:ext>
              </a:extLst>
            </p:cNvPr>
            <p:cNvCxnSpPr>
              <a:cxnSpLocks/>
            </p:cNvCxnSpPr>
            <p:nvPr/>
          </p:nvCxnSpPr>
          <p:spPr>
            <a:xfrm>
              <a:off x="1855425" y="3838582"/>
              <a:ext cx="0" cy="720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E61FD52E-9F28-EBFA-0242-9BD1D657A3F9}"/>
                </a:ext>
              </a:extLst>
            </p:cNvPr>
            <p:cNvCxnSpPr>
              <a:cxnSpLocks/>
            </p:cNvCxnSpPr>
            <p:nvPr/>
          </p:nvCxnSpPr>
          <p:spPr>
            <a:xfrm rot="5400000">
              <a:off x="2035425" y="4018582"/>
              <a:ext cx="0" cy="360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8" name="组合 57">
            <a:extLst>
              <a:ext uri="{FF2B5EF4-FFF2-40B4-BE49-F238E27FC236}">
                <a16:creationId xmlns:a16="http://schemas.microsoft.com/office/drawing/2014/main" id="{7523FB58-BDD0-70C5-77B0-3991026174FF}"/>
              </a:ext>
            </a:extLst>
          </p:cNvPr>
          <p:cNvGrpSpPr/>
          <p:nvPr/>
        </p:nvGrpSpPr>
        <p:grpSpPr>
          <a:xfrm>
            <a:off x="5899763" y="2884667"/>
            <a:ext cx="360000" cy="360000"/>
            <a:chOff x="1495425" y="3838582"/>
            <a:chExt cx="720000" cy="720000"/>
          </a:xfrm>
        </p:grpSpPr>
        <p:sp>
          <p:nvSpPr>
            <p:cNvPr id="59" name="椭圆 58">
              <a:extLst>
                <a:ext uri="{FF2B5EF4-FFF2-40B4-BE49-F238E27FC236}">
                  <a16:creationId xmlns:a16="http://schemas.microsoft.com/office/drawing/2014/main" id="{2FD16A25-78B3-2C29-1FCD-181A884FD813}"/>
                </a:ext>
              </a:extLst>
            </p:cNvPr>
            <p:cNvSpPr/>
            <p:nvPr/>
          </p:nvSpPr>
          <p:spPr>
            <a:xfrm>
              <a:off x="1495425" y="3838582"/>
              <a:ext cx="720000" cy="720000"/>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700">
                <a:solidFill>
                  <a:sysClr val="windowText" lastClr="000000"/>
                </a:solidFill>
                <a:latin typeface="Times New Roman" panose="02020603050405020304" pitchFamily="18" charset="0"/>
                <a:cs typeface="Times New Roman" panose="02020603050405020304" pitchFamily="18" charset="0"/>
              </a:endParaRPr>
            </a:p>
          </p:txBody>
        </p:sp>
        <p:sp>
          <p:nvSpPr>
            <p:cNvPr id="60" name="文本框 59">
              <a:extLst>
                <a:ext uri="{FF2B5EF4-FFF2-40B4-BE49-F238E27FC236}">
                  <a16:creationId xmlns:a16="http://schemas.microsoft.com/office/drawing/2014/main" id="{A69FC828-DAC6-31F7-ECA0-4C4B767C8221}"/>
                </a:ext>
              </a:extLst>
            </p:cNvPr>
            <p:cNvSpPr txBox="1"/>
            <p:nvPr/>
          </p:nvSpPr>
          <p:spPr>
            <a:xfrm>
              <a:off x="1855425" y="3838582"/>
              <a:ext cx="360000" cy="360000"/>
            </a:xfrm>
            <a:prstGeom prst="rect">
              <a:avLst/>
            </a:prstGeom>
            <a:noFill/>
            <a:ln w="6350">
              <a:noFill/>
            </a:ln>
          </p:spPr>
          <p:txBody>
            <a:bodyPr wrap="none" rtlCol="0">
              <a:noAutofit/>
            </a:bodyPr>
            <a:lstStyle/>
            <a:p>
              <a:endParaRPr lang="zh-CN" altLang="en-US" sz="700">
                <a:solidFill>
                  <a:sysClr val="windowText" lastClr="000000"/>
                </a:solidFill>
                <a:latin typeface="Times New Roman" panose="02020603050405020304" pitchFamily="18" charset="0"/>
                <a:cs typeface="Times New Roman" panose="02020603050405020304" pitchFamily="18" charset="0"/>
              </a:endParaRPr>
            </a:p>
          </p:txBody>
        </p:sp>
        <p:sp>
          <p:nvSpPr>
            <p:cNvPr id="61" name="文本框 60">
              <a:extLst>
                <a:ext uri="{FF2B5EF4-FFF2-40B4-BE49-F238E27FC236}">
                  <a16:creationId xmlns:a16="http://schemas.microsoft.com/office/drawing/2014/main" id="{AF7BA364-ED78-AE63-310B-EE6FCCB7C140}"/>
                </a:ext>
              </a:extLst>
            </p:cNvPr>
            <p:cNvSpPr txBox="1"/>
            <p:nvPr/>
          </p:nvSpPr>
          <p:spPr>
            <a:xfrm>
              <a:off x="1855425" y="4198582"/>
              <a:ext cx="360000" cy="360000"/>
            </a:xfrm>
            <a:prstGeom prst="rect">
              <a:avLst/>
            </a:prstGeom>
            <a:noFill/>
            <a:ln w="6350">
              <a:noFill/>
            </a:ln>
          </p:spPr>
          <p:txBody>
            <a:bodyPr wrap="none" rtlCol="0">
              <a:noAutofit/>
            </a:bodyPr>
            <a:lstStyle/>
            <a:p>
              <a:endParaRPr lang="zh-CN" altLang="en-US" sz="700">
                <a:solidFill>
                  <a:sysClr val="windowText" lastClr="000000"/>
                </a:solidFill>
                <a:latin typeface="Times New Roman" panose="02020603050405020304" pitchFamily="18" charset="0"/>
                <a:cs typeface="Times New Roman" panose="02020603050405020304" pitchFamily="18" charset="0"/>
              </a:endParaRPr>
            </a:p>
          </p:txBody>
        </p:sp>
        <p:sp>
          <p:nvSpPr>
            <p:cNvPr id="62" name="文本框 61">
              <a:extLst>
                <a:ext uri="{FF2B5EF4-FFF2-40B4-BE49-F238E27FC236}">
                  <a16:creationId xmlns:a16="http://schemas.microsoft.com/office/drawing/2014/main" id="{CCA01248-423D-AEDB-683F-B6ADFC8DDAD7}"/>
                </a:ext>
              </a:extLst>
            </p:cNvPr>
            <p:cNvSpPr txBox="1"/>
            <p:nvPr/>
          </p:nvSpPr>
          <p:spPr>
            <a:xfrm>
              <a:off x="1504241" y="4044693"/>
              <a:ext cx="285656" cy="307777"/>
            </a:xfrm>
            <a:prstGeom prst="rect">
              <a:avLst/>
            </a:prstGeom>
            <a:noFill/>
            <a:ln w="6350">
              <a:noFill/>
            </a:ln>
          </p:spPr>
          <p:txBody>
            <a:bodyPr wrap="none" rtlCol="0" anchor="ctr" anchorCtr="0">
              <a:noAutofit/>
            </a:bodyPr>
            <a:lstStyle/>
            <a:p>
              <a:pPr algn="ctr"/>
              <a:r>
                <a:rPr lang="en-US" altLang="zh-CN" sz="700">
                  <a:solidFill>
                    <a:sysClr val="windowText" lastClr="000000"/>
                  </a:solidFill>
                  <a:latin typeface="Times New Roman" panose="02020603050405020304" pitchFamily="18" charset="0"/>
                  <a:cs typeface="Times New Roman" panose="02020603050405020304" pitchFamily="18" charset="0"/>
                </a:rPr>
                <a:t>5</a:t>
              </a:r>
              <a:endParaRPr lang="zh-CN" altLang="en-US" sz="700">
                <a:solidFill>
                  <a:sysClr val="windowText" lastClr="000000"/>
                </a:solidFill>
                <a:latin typeface="Times New Roman" panose="02020603050405020304" pitchFamily="18" charset="0"/>
                <a:cs typeface="Times New Roman" panose="02020603050405020304" pitchFamily="18" charset="0"/>
              </a:endParaRPr>
            </a:p>
          </p:txBody>
        </p:sp>
        <p:cxnSp>
          <p:nvCxnSpPr>
            <p:cNvPr id="63" name="直接连接符 62">
              <a:extLst>
                <a:ext uri="{FF2B5EF4-FFF2-40B4-BE49-F238E27FC236}">
                  <a16:creationId xmlns:a16="http://schemas.microsoft.com/office/drawing/2014/main" id="{64280A35-B665-0C3A-A806-677B6782AB26}"/>
                </a:ext>
              </a:extLst>
            </p:cNvPr>
            <p:cNvCxnSpPr>
              <a:cxnSpLocks/>
            </p:cNvCxnSpPr>
            <p:nvPr/>
          </p:nvCxnSpPr>
          <p:spPr>
            <a:xfrm>
              <a:off x="1855425" y="3838582"/>
              <a:ext cx="0" cy="720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2D79EE0B-C613-1328-0151-8C3627268FFF}"/>
                </a:ext>
              </a:extLst>
            </p:cNvPr>
            <p:cNvCxnSpPr>
              <a:cxnSpLocks/>
            </p:cNvCxnSpPr>
            <p:nvPr/>
          </p:nvCxnSpPr>
          <p:spPr>
            <a:xfrm rot="5400000">
              <a:off x="2035425" y="4018582"/>
              <a:ext cx="0" cy="360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5" name="组合 64">
            <a:extLst>
              <a:ext uri="{FF2B5EF4-FFF2-40B4-BE49-F238E27FC236}">
                <a16:creationId xmlns:a16="http://schemas.microsoft.com/office/drawing/2014/main" id="{449CCDB8-ABC3-A8C0-F40E-6B63D759479A}"/>
              </a:ext>
            </a:extLst>
          </p:cNvPr>
          <p:cNvGrpSpPr/>
          <p:nvPr/>
        </p:nvGrpSpPr>
        <p:grpSpPr>
          <a:xfrm>
            <a:off x="6742861" y="2884667"/>
            <a:ext cx="360000" cy="360000"/>
            <a:chOff x="1495425" y="3838582"/>
            <a:chExt cx="720000" cy="720000"/>
          </a:xfrm>
        </p:grpSpPr>
        <p:sp>
          <p:nvSpPr>
            <p:cNvPr id="66" name="椭圆 65">
              <a:extLst>
                <a:ext uri="{FF2B5EF4-FFF2-40B4-BE49-F238E27FC236}">
                  <a16:creationId xmlns:a16="http://schemas.microsoft.com/office/drawing/2014/main" id="{5B3475F0-9549-B1E9-E0FF-0167B4E3BCD7}"/>
                </a:ext>
              </a:extLst>
            </p:cNvPr>
            <p:cNvSpPr/>
            <p:nvPr/>
          </p:nvSpPr>
          <p:spPr>
            <a:xfrm>
              <a:off x="1495425" y="3838582"/>
              <a:ext cx="720000" cy="720000"/>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700">
                <a:solidFill>
                  <a:sysClr val="windowText" lastClr="000000"/>
                </a:solidFill>
                <a:latin typeface="Times New Roman" panose="02020603050405020304" pitchFamily="18" charset="0"/>
                <a:cs typeface="Times New Roman" panose="02020603050405020304" pitchFamily="18" charset="0"/>
              </a:endParaRPr>
            </a:p>
          </p:txBody>
        </p:sp>
        <p:sp>
          <p:nvSpPr>
            <p:cNvPr id="67" name="文本框 66">
              <a:extLst>
                <a:ext uri="{FF2B5EF4-FFF2-40B4-BE49-F238E27FC236}">
                  <a16:creationId xmlns:a16="http://schemas.microsoft.com/office/drawing/2014/main" id="{DF0B2924-110F-BFBE-C755-22D4B5FF3BE5}"/>
                </a:ext>
              </a:extLst>
            </p:cNvPr>
            <p:cNvSpPr txBox="1"/>
            <p:nvPr/>
          </p:nvSpPr>
          <p:spPr>
            <a:xfrm>
              <a:off x="1855425" y="3838582"/>
              <a:ext cx="360000" cy="360000"/>
            </a:xfrm>
            <a:prstGeom prst="rect">
              <a:avLst/>
            </a:prstGeom>
            <a:noFill/>
            <a:ln w="6350">
              <a:noFill/>
            </a:ln>
          </p:spPr>
          <p:txBody>
            <a:bodyPr wrap="none" rtlCol="0">
              <a:noAutofit/>
            </a:bodyPr>
            <a:lstStyle/>
            <a:p>
              <a:endParaRPr lang="zh-CN" altLang="en-US" sz="700">
                <a:solidFill>
                  <a:sysClr val="windowText" lastClr="000000"/>
                </a:solidFill>
                <a:latin typeface="Times New Roman" panose="02020603050405020304" pitchFamily="18" charset="0"/>
                <a:cs typeface="Times New Roman" panose="02020603050405020304" pitchFamily="18" charset="0"/>
              </a:endParaRPr>
            </a:p>
          </p:txBody>
        </p:sp>
        <p:sp>
          <p:nvSpPr>
            <p:cNvPr id="68" name="文本框 67">
              <a:extLst>
                <a:ext uri="{FF2B5EF4-FFF2-40B4-BE49-F238E27FC236}">
                  <a16:creationId xmlns:a16="http://schemas.microsoft.com/office/drawing/2014/main" id="{F8DE8D95-4594-8D4D-5A12-CC13812CF0A0}"/>
                </a:ext>
              </a:extLst>
            </p:cNvPr>
            <p:cNvSpPr txBox="1"/>
            <p:nvPr/>
          </p:nvSpPr>
          <p:spPr>
            <a:xfrm>
              <a:off x="1855425" y="4198582"/>
              <a:ext cx="360000" cy="360000"/>
            </a:xfrm>
            <a:prstGeom prst="rect">
              <a:avLst/>
            </a:prstGeom>
            <a:noFill/>
            <a:ln w="6350">
              <a:noFill/>
            </a:ln>
          </p:spPr>
          <p:txBody>
            <a:bodyPr wrap="none" rtlCol="0">
              <a:noAutofit/>
            </a:bodyPr>
            <a:lstStyle/>
            <a:p>
              <a:endParaRPr lang="zh-CN" altLang="en-US" sz="700">
                <a:solidFill>
                  <a:sysClr val="windowText" lastClr="000000"/>
                </a:solidFill>
                <a:latin typeface="Times New Roman" panose="02020603050405020304" pitchFamily="18" charset="0"/>
                <a:cs typeface="Times New Roman" panose="02020603050405020304" pitchFamily="18" charset="0"/>
              </a:endParaRPr>
            </a:p>
          </p:txBody>
        </p:sp>
        <p:sp>
          <p:nvSpPr>
            <p:cNvPr id="69" name="文本框 68">
              <a:extLst>
                <a:ext uri="{FF2B5EF4-FFF2-40B4-BE49-F238E27FC236}">
                  <a16:creationId xmlns:a16="http://schemas.microsoft.com/office/drawing/2014/main" id="{240837E5-8241-F879-2555-8076BFE0A20A}"/>
                </a:ext>
              </a:extLst>
            </p:cNvPr>
            <p:cNvSpPr txBox="1"/>
            <p:nvPr/>
          </p:nvSpPr>
          <p:spPr>
            <a:xfrm>
              <a:off x="1501837" y="4044693"/>
              <a:ext cx="290464" cy="307777"/>
            </a:xfrm>
            <a:prstGeom prst="rect">
              <a:avLst/>
            </a:prstGeom>
            <a:noFill/>
            <a:ln w="6350">
              <a:noFill/>
            </a:ln>
          </p:spPr>
          <p:txBody>
            <a:bodyPr wrap="none" rtlCol="0" anchor="ctr" anchorCtr="0">
              <a:noAutofit/>
            </a:bodyPr>
            <a:lstStyle/>
            <a:p>
              <a:pPr algn="ctr"/>
              <a:r>
                <a:rPr lang="en-US" altLang="zh-CN" sz="700">
                  <a:solidFill>
                    <a:sysClr val="windowText" lastClr="000000"/>
                  </a:solidFill>
                  <a:latin typeface="Times New Roman" panose="02020603050405020304" pitchFamily="18" charset="0"/>
                  <a:cs typeface="Times New Roman" panose="02020603050405020304" pitchFamily="18" charset="0"/>
                </a:rPr>
                <a:t>7</a:t>
              </a:r>
              <a:endParaRPr lang="zh-CN" altLang="en-US" sz="700">
                <a:solidFill>
                  <a:sysClr val="windowText" lastClr="000000"/>
                </a:solidFill>
                <a:latin typeface="Times New Roman" panose="02020603050405020304" pitchFamily="18" charset="0"/>
                <a:cs typeface="Times New Roman" panose="02020603050405020304" pitchFamily="18" charset="0"/>
              </a:endParaRPr>
            </a:p>
          </p:txBody>
        </p:sp>
        <p:cxnSp>
          <p:nvCxnSpPr>
            <p:cNvPr id="70" name="直接连接符 69">
              <a:extLst>
                <a:ext uri="{FF2B5EF4-FFF2-40B4-BE49-F238E27FC236}">
                  <a16:creationId xmlns:a16="http://schemas.microsoft.com/office/drawing/2014/main" id="{D24FD6DB-98A1-665C-981A-BB0135542F84}"/>
                </a:ext>
              </a:extLst>
            </p:cNvPr>
            <p:cNvCxnSpPr>
              <a:cxnSpLocks/>
            </p:cNvCxnSpPr>
            <p:nvPr/>
          </p:nvCxnSpPr>
          <p:spPr>
            <a:xfrm>
              <a:off x="1855425" y="3838582"/>
              <a:ext cx="0" cy="720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BAE261F9-DC51-4F59-345B-7796D085EC93}"/>
                </a:ext>
              </a:extLst>
            </p:cNvPr>
            <p:cNvCxnSpPr>
              <a:cxnSpLocks/>
            </p:cNvCxnSpPr>
            <p:nvPr/>
          </p:nvCxnSpPr>
          <p:spPr>
            <a:xfrm rot="5400000">
              <a:off x="2035425" y="4018582"/>
              <a:ext cx="0" cy="360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2" name="组合 71">
            <a:extLst>
              <a:ext uri="{FF2B5EF4-FFF2-40B4-BE49-F238E27FC236}">
                <a16:creationId xmlns:a16="http://schemas.microsoft.com/office/drawing/2014/main" id="{C8C316C4-2621-2CA4-9296-6FBE9BF47200}"/>
              </a:ext>
            </a:extLst>
          </p:cNvPr>
          <p:cNvGrpSpPr/>
          <p:nvPr/>
        </p:nvGrpSpPr>
        <p:grpSpPr>
          <a:xfrm>
            <a:off x="6742861" y="3988914"/>
            <a:ext cx="360000" cy="360000"/>
            <a:chOff x="1495425" y="3838582"/>
            <a:chExt cx="720000" cy="720000"/>
          </a:xfrm>
        </p:grpSpPr>
        <p:sp>
          <p:nvSpPr>
            <p:cNvPr id="73" name="椭圆 72">
              <a:extLst>
                <a:ext uri="{FF2B5EF4-FFF2-40B4-BE49-F238E27FC236}">
                  <a16:creationId xmlns:a16="http://schemas.microsoft.com/office/drawing/2014/main" id="{6B821DDB-D782-F062-13D8-A50A4716BF1D}"/>
                </a:ext>
              </a:extLst>
            </p:cNvPr>
            <p:cNvSpPr/>
            <p:nvPr/>
          </p:nvSpPr>
          <p:spPr>
            <a:xfrm>
              <a:off x="1495425" y="3838582"/>
              <a:ext cx="720000" cy="720000"/>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700">
                <a:solidFill>
                  <a:sysClr val="windowText" lastClr="000000"/>
                </a:solidFill>
                <a:latin typeface="Times New Roman" panose="02020603050405020304" pitchFamily="18" charset="0"/>
                <a:cs typeface="Times New Roman" panose="02020603050405020304" pitchFamily="18" charset="0"/>
              </a:endParaRPr>
            </a:p>
          </p:txBody>
        </p:sp>
        <p:sp>
          <p:nvSpPr>
            <p:cNvPr id="74" name="文本框 73">
              <a:extLst>
                <a:ext uri="{FF2B5EF4-FFF2-40B4-BE49-F238E27FC236}">
                  <a16:creationId xmlns:a16="http://schemas.microsoft.com/office/drawing/2014/main" id="{38074E46-A1A1-3AC7-EBD6-5BE81B14612F}"/>
                </a:ext>
              </a:extLst>
            </p:cNvPr>
            <p:cNvSpPr txBox="1"/>
            <p:nvPr/>
          </p:nvSpPr>
          <p:spPr>
            <a:xfrm>
              <a:off x="1855425" y="3838582"/>
              <a:ext cx="360000" cy="360000"/>
            </a:xfrm>
            <a:prstGeom prst="rect">
              <a:avLst/>
            </a:prstGeom>
            <a:noFill/>
            <a:ln w="6350">
              <a:noFill/>
            </a:ln>
          </p:spPr>
          <p:txBody>
            <a:bodyPr wrap="none" rtlCol="0">
              <a:noAutofit/>
            </a:bodyPr>
            <a:lstStyle/>
            <a:p>
              <a:endParaRPr lang="zh-CN" altLang="en-US" sz="700">
                <a:solidFill>
                  <a:sysClr val="windowText" lastClr="000000"/>
                </a:solidFill>
                <a:latin typeface="Times New Roman" panose="02020603050405020304" pitchFamily="18" charset="0"/>
                <a:cs typeface="Times New Roman" panose="02020603050405020304" pitchFamily="18" charset="0"/>
              </a:endParaRPr>
            </a:p>
          </p:txBody>
        </p:sp>
        <p:sp>
          <p:nvSpPr>
            <p:cNvPr id="75" name="文本框 74">
              <a:extLst>
                <a:ext uri="{FF2B5EF4-FFF2-40B4-BE49-F238E27FC236}">
                  <a16:creationId xmlns:a16="http://schemas.microsoft.com/office/drawing/2014/main" id="{B84096DD-59DF-DA13-4E95-046642D5B69E}"/>
                </a:ext>
              </a:extLst>
            </p:cNvPr>
            <p:cNvSpPr txBox="1"/>
            <p:nvPr/>
          </p:nvSpPr>
          <p:spPr>
            <a:xfrm>
              <a:off x="1855425" y="4198582"/>
              <a:ext cx="360000" cy="360000"/>
            </a:xfrm>
            <a:prstGeom prst="rect">
              <a:avLst/>
            </a:prstGeom>
            <a:noFill/>
            <a:ln w="6350">
              <a:noFill/>
            </a:ln>
          </p:spPr>
          <p:txBody>
            <a:bodyPr wrap="none" rtlCol="0">
              <a:noAutofit/>
            </a:bodyPr>
            <a:lstStyle/>
            <a:p>
              <a:endParaRPr lang="zh-CN" altLang="en-US" sz="700">
                <a:solidFill>
                  <a:sysClr val="windowText" lastClr="000000"/>
                </a:solidFill>
                <a:latin typeface="Times New Roman" panose="02020603050405020304" pitchFamily="18" charset="0"/>
                <a:cs typeface="Times New Roman" panose="02020603050405020304" pitchFamily="18" charset="0"/>
              </a:endParaRPr>
            </a:p>
          </p:txBody>
        </p:sp>
        <p:sp>
          <p:nvSpPr>
            <p:cNvPr id="76" name="文本框 75">
              <a:extLst>
                <a:ext uri="{FF2B5EF4-FFF2-40B4-BE49-F238E27FC236}">
                  <a16:creationId xmlns:a16="http://schemas.microsoft.com/office/drawing/2014/main" id="{DF181413-B2BD-697D-C467-4410A483904D}"/>
                </a:ext>
              </a:extLst>
            </p:cNvPr>
            <p:cNvSpPr txBox="1"/>
            <p:nvPr/>
          </p:nvSpPr>
          <p:spPr>
            <a:xfrm>
              <a:off x="1497829" y="4044693"/>
              <a:ext cx="298480" cy="307777"/>
            </a:xfrm>
            <a:prstGeom prst="rect">
              <a:avLst/>
            </a:prstGeom>
            <a:noFill/>
            <a:ln w="6350">
              <a:noFill/>
            </a:ln>
          </p:spPr>
          <p:txBody>
            <a:bodyPr wrap="none" rtlCol="0" anchor="ctr" anchorCtr="0">
              <a:noAutofit/>
            </a:bodyPr>
            <a:lstStyle/>
            <a:p>
              <a:pPr algn="ctr"/>
              <a:r>
                <a:rPr lang="en-US" altLang="zh-CN" sz="700">
                  <a:solidFill>
                    <a:sysClr val="windowText" lastClr="000000"/>
                  </a:solidFill>
                  <a:latin typeface="Times New Roman" panose="02020603050405020304" pitchFamily="18" charset="0"/>
                  <a:cs typeface="Times New Roman" panose="02020603050405020304" pitchFamily="18" charset="0"/>
                </a:rPr>
                <a:t>8</a:t>
              </a:r>
              <a:endParaRPr lang="zh-CN" altLang="en-US" sz="700">
                <a:solidFill>
                  <a:sysClr val="windowText" lastClr="000000"/>
                </a:solidFill>
                <a:latin typeface="Times New Roman" panose="02020603050405020304" pitchFamily="18" charset="0"/>
                <a:cs typeface="Times New Roman" panose="02020603050405020304" pitchFamily="18" charset="0"/>
              </a:endParaRPr>
            </a:p>
          </p:txBody>
        </p:sp>
        <p:cxnSp>
          <p:nvCxnSpPr>
            <p:cNvPr id="77" name="直接连接符 76">
              <a:extLst>
                <a:ext uri="{FF2B5EF4-FFF2-40B4-BE49-F238E27FC236}">
                  <a16:creationId xmlns:a16="http://schemas.microsoft.com/office/drawing/2014/main" id="{CF44061E-672D-A017-145F-22EBBF16658E}"/>
                </a:ext>
              </a:extLst>
            </p:cNvPr>
            <p:cNvCxnSpPr>
              <a:cxnSpLocks/>
            </p:cNvCxnSpPr>
            <p:nvPr/>
          </p:nvCxnSpPr>
          <p:spPr>
            <a:xfrm>
              <a:off x="1855425" y="3838582"/>
              <a:ext cx="0" cy="720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2C34EAF0-F990-F165-6985-452E7FC16295}"/>
                </a:ext>
              </a:extLst>
            </p:cNvPr>
            <p:cNvCxnSpPr>
              <a:cxnSpLocks/>
            </p:cNvCxnSpPr>
            <p:nvPr/>
          </p:nvCxnSpPr>
          <p:spPr>
            <a:xfrm rot="5400000">
              <a:off x="2035425" y="4018582"/>
              <a:ext cx="0" cy="360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9" name="组合 78">
            <a:extLst>
              <a:ext uri="{FF2B5EF4-FFF2-40B4-BE49-F238E27FC236}">
                <a16:creationId xmlns:a16="http://schemas.microsoft.com/office/drawing/2014/main" id="{49797671-0622-3B95-2BC8-162A8E82D129}"/>
              </a:ext>
            </a:extLst>
          </p:cNvPr>
          <p:cNvGrpSpPr/>
          <p:nvPr/>
        </p:nvGrpSpPr>
        <p:grpSpPr>
          <a:xfrm>
            <a:off x="7469046" y="3436790"/>
            <a:ext cx="360000" cy="360000"/>
            <a:chOff x="1495425" y="3838582"/>
            <a:chExt cx="720000" cy="720000"/>
          </a:xfrm>
        </p:grpSpPr>
        <p:sp>
          <p:nvSpPr>
            <p:cNvPr id="80" name="椭圆 79">
              <a:extLst>
                <a:ext uri="{FF2B5EF4-FFF2-40B4-BE49-F238E27FC236}">
                  <a16:creationId xmlns:a16="http://schemas.microsoft.com/office/drawing/2014/main" id="{5698F7AF-7B19-2F2A-36A3-7D9173DFC0AC}"/>
                </a:ext>
              </a:extLst>
            </p:cNvPr>
            <p:cNvSpPr/>
            <p:nvPr/>
          </p:nvSpPr>
          <p:spPr>
            <a:xfrm>
              <a:off x="1495425" y="3838582"/>
              <a:ext cx="720000" cy="720000"/>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700">
                <a:solidFill>
                  <a:sysClr val="windowText" lastClr="000000"/>
                </a:solidFill>
                <a:latin typeface="Times New Roman" panose="02020603050405020304" pitchFamily="18" charset="0"/>
                <a:cs typeface="Times New Roman" panose="02020603050405020304" pitchFamily="18" charset="0"/>
              </a:endParaRPr>
            </a:p>
          </p:txBody>
        </p:sp>
        <p:sp>
          <p:nvSpPr>
            <p:cNvPr id="81" name="文本框 80">
              <a:extLst>
                <a:ext uri="{FF2B5EF4-FFF2-40B4-BE49-F238E27FC236}">
                  <a16:creationId xmlns:a16="http://schemas.microsoft.com/office/drawing/2014/main" id="{15E325DE-2408-C611-3DFC-AA2982F6131B}"/>
                </a:ext>
              </a:extLst>
            </p:cNvPr>
            <p:cNvSpPr txBox="1"/>
            <p:nvPr/>
          </p:nvSpPr>
          <p:spPr>
            <a:xfrm>
              <a:off x="1855425" y="3838582"/>
              <a:ext cx="360000" cy="360000"/>
            </a:xfrm>
            <a:prstGeom prst="rect">
              <a:avLst/>
            </a:prstGeom>
            <a:noFill/>
            <a:ln w="6350">
              <a:noFill/>
            </a:ln>
          </p:spPr>
          <p:txBody>
            <a:bodyPr wrap="none" rtlCol="0">
              <a:noAutofit/>
            </a:bodyPr>
            <a:lstStyle/>
            <a:p>
              <a:endParaRPr lang="zh-CN" altLang="en-US" sz="700">
                <a:solidFill>
                  <a:sysClr val="windowText" lastClr="000000"/>
                </a:solidFill>
                <a:latin typeface="Times New Roman" panose="02020603050405020304" pitchFamily="18" charset="0"/>
                <a:cs typeface="Times New Roman" panose="02020603050405020304" pitchFamily="18" charset="0"/>
              </a:endParaRPr>
            </a:p>
          </p:txBody>
        </p:sp>
        <p:sp>
          <p:nvSpPr>
            <p:cNvPr id="82" name="文本框 81">
              <a:extLst>
                <a:ext uri="{FF2B5EF4-FFF2-40B4-BE49-F238E27FC236}">
                  <a16:creationId xmlns:a16="http://schemas.microsoft.com/office/drawing/2014/main" id="{A6EB38CD-1826-0BEA-0D5A-D7F0B5A42222}"/>
                </a:ext>
              </a:extLst>
            </p:cNvPr>
            <p:cNvSpPr txBox="1"/>
            <p:nvPr/>
          </p:nvSpPr>
          <p:spPr>
            <a:xfrm>
              <a:off x="1855425" y="4198582"/>
              <a:ext cx="360000" cy="360000"/>
            </a:xfrm>
            <a:prstGeom prst="rect">
              <a:avLst/>
            </a:prstGeom>
            <a:noFill/>
            <a:ln w="6350">
              <a:noFill/>
            </a:ln>
          </p:spPr>
          <p:txBody>
            <a:bodyPr wrap="none" rtlCol="0">
              <a:noAutofit/>
            </a:bodyPr>
            <a:lstStyle/>
            <a:p>
              <a:endParaRPr lang="zh-CN" altLang="en-US" sz="700">
                <a:solidFill>
                  <a:sysClr val="windowText" lastClr="000000"/>
                </a:solidFill>
                <a:latin typeface="Times New Roman" panose="02020603050405020304" pitchFamily="18" charset="0"/>
                <a:cs typeface="Times New Roman" panose="02020603050405020304" pitchFamily="18" charset="0"/>
              </a:endParaRPr>
            </a:p>
          </p:txBody>
        </p:sp>
        <p:sp>
          <p:nvSpPr>
            <p:cNvPr id="83" name="文本框 82">
              <a:extLst>
                <a:ext uri="{FF2B5EF4-FFF2-40B4-BE49-F238E27FC236}">
                  <a16:creationId xmlns:a16="http://schemas.microsoft.com/office/drawing/2014/main" id="{715923C7-92C8-4AC4-7EE3-60A86DCF1ADA}"/>
                </a:ext>
              </a:extLst>
            </p:cNvPr>
            <p:cNvSpPr txBox="1"/>
            <p:nvPr/>
          </p:nvSpPr>
          <p:spPr>
            <a:xfrm>
              <a:off x="1500234" y="4044693"/>
              <a:ext cx="293671" cy="307777"/>
            </a:xfrm>
            <a:prstGeom prst="rect">
              <a:avLst/>
            </a:prstGeom>
            <a:noFill/>
            <a:ln w="6350">
              <a:noFill/>
            </a:ln>
          </p:spPr>
          <p:txBody>
            <a:bodyPr wrap="none" rtlCol="0" anchor="ctr" anchorCtr="0">
              <a:noAutofit/>
            </a:bodyPr>
            <a:lstStyle/>
            <a:p>
              <a:pPr algn="ctr"/>
              <a:r>
                <a:rPr lang="en-US" altLang="zh-CN" sz="700">
                  <a:solidFill>
                    <a:sysClr val="windowText" lastClr="000000"/>
                  </a:solidFill>
                  <a:latin typeface="Times New Roman" panose="02020603050405020304" pitchFamily="18" charset="0"/>
                  <a:cs typeface="Times New Roman" panose="02020603050405020304" pitchFamily="18" charset="0"/>
                </a:rPr>
                <a:t>9</a:t>
              </a:r>
              <a:endParaRPr lang="zh-CN" altLang="en-US" sz="700">
                <a:solidFill>
                  <a:sysClr val="windowText" lastClr="000000"/>
                </a:solidFill>
                <a:latin typeface="Times New Roman" panose="02020603050405020304" pitchFamily="18" charset="0"/>
                <a:cs typeface="Times New Roman" panose="02020603050405020304" pitchFamily="18" charset="0"/>
              </a:endParaRPr>
            </a:p>
          </p:txBody>
        </p:sp>
        <p:cxnSp>
          <p:nvCxnSpPr>
            <p:cNvPr id="84" name="直接连接符 83">
              <a:extLst>
                <a:ext uri="{FF2B5EF4-FFF2-40B4-BE49-F238E27FC236}">
                  <a16:creationId xmlns:a16="http://schemas.microsoft.com/office/drawing/2014/main" id="{C0ED518F-AC39-D747-9FD6-5FF835F8C419}"/>
                </a:ext>
              </a:extLst>
            </p:cNvPr>
            <p:cNvCxnSpPr>
              <a:cxnSpLocks/>
            </p:cNvCxnSpPr>
            <p:nvPr/>
          </p:nvCxnSpPr>
          <p:spPr>
            <a:xfrm>
              <a:off x="1855425" y="3838582"/>
              <a:ext cx="0" cy="720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6CC9FF6E-A8D9-FE9A-9A08-BFBFE6E89E16}"/>
                </a:ext>
              </a:extLst>
            </p:cNvPr>
            <p:cNvCxnSpPr>
              <a:cxnSpLocks/>
            </p:cNvCxnSpPr>
            <p:nvPr/>
          </p:nvCxnSpPr>
          <p:spPr>
            <a:xfrm rot="5400000">
              <a:off x="2035425" y="4018582"/>
              <a:ext cx="0" cy="360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7" name="直接箭头连接符 86">
            <a:extLst>
              <a:ext uri="{FF2B5EF4-FFF2-40B4-BE49-F238E27FC236}">
                <a16:creationId xmlns:a16="http://schemas.microsoft.com/office/drawing/2014/main" id="{7F32DBF9-880C-F359-36E0-14B12E94ACE5}"/>
              </a:ext>
            </a:extLst>
          </p:cNvPr>
          <p:cNvCxnSpPr>
            <a:cxnSpLocks/>
            <a:stCxn id="14" idx="6"/>
            <a:endCxn id="34" idx="1"/>
          </p:cNvCxnSpPr>
          <p:nvPr/>
        </p:nvCxnSpPr>
        <p:spPr>
          <a:xfrm flipV="1">
            <a:off x="4608616" y="3064668"/>
            <a:ext cx="453774" cy="379577"/>
          </a:xfrm>
          <a:prstGeom prst="straightConnector1">
            <a:avLst/>
          </a:prstGeom>
          <a:ln w="63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1" name="直接箭头连接符 90">
            <a:extLst>
              <a:ext uri="{FF2B5EF4-FFF2-40B4-BE49-F238E27FC236}">
                <a16:creationId xmlns:a16="http://schemas.microsoft.com/office/drawing/2014/main" id="{B6BDFEC3-2666-5C9A-63B6-2D27F1243744}"/>
              </a:ext>
            </a:extLst>
          </p:cNvPr>
          <p:cNvCxnSpPr>
            <a:cxnSpLocks/>
            <a:stCxn id="31" idx="6"/>
            <a:endCxn id="62" idx="1"/>
          </p:cNvCxnSpPr>
          <p:nvPr/>
        </p:nvCxnSpPr>
        <p:spPr>
          <a:xfrm>
            <a:off x="5418382" y="3064667"/>
            <a:ext cx="485789" cy="1"/>
          </a:xfrm>
          <a:prstGeom prst="straightConnector1">
            <a:avLst/>
          </a:prstGeom>
          <a:ln w="63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7" name="直接箭头连接符 96">
            <a:extLst>
              <a:ext uri="{FF2B5EF4-FFF2-40B4-BE49-F238E27FC236}">
                <a16:creationId xmlns:a16="http://schemas.microsoft.com/office/drawing/2014/main" id="{A446D59D-4BDD-847F-5498-ECBC19171120}"/>
              </a:ext>
            </a:extLst>
          </p:cNvPr>
          <p:cNvCxnSpPr>
            <a:cxnSpLocks/>
            <a:stCxn id="59" idx="6"/>
            <a:endCxn id="69" idx="1"/>
          </p:cNvCxnSpPr>
          <p:nvPr/>
        </p:nvCxnSpPr>
        <p:spPr>
          <a:xfrm>
            <a:off x="6259763" y="3064667"/>
            <a:ext cx="486304" cy="1"/>
          </a:xfrm>
          <a:prstGeom prst="straightConnector1">
            <a:avLst/>
          </a:prstGeom>
          <a:ln w="63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1" name="直接箭头连接符 100">
            <a:extLst>
              <a:ext uri="{FF2B5EF4-FFF2-40B4-BE49-F238E27FC236}">
                <a16:creationId xmlns:a16="http://schemas.microsoft.com/office/drawing/2014/main" id="{E357EE9C-BA17-2A2E-FEB0-F8CF48C36979}"/>
              </a:ext>
            </a:extLst>
          </p:cNvPr>
          <p:cNvCxnSpPr>
            <a:cxnSpLocks/>
            <a:stCxn id="66" idx="6"/>
            <a:endCxn id="83" idx="1"/>
          </p:cNvCxnSpPr>
          <p:nvPr/>
        </p:nvCxnSpPr>
        <p:spPr>
          <a:xfrm>
            <a:off x="7102861" y="3064667"/>
            <a:ext cx="368590" cy="552124"/>
          </a:xfrm>
          <a:prstGeom prst="straightConnector1">
            <a:avLst/>
          </a:prstGeom>
          <a:ln w="63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4" name="直接箭头连接符 103">
            <a:extLst>
              <a:ext uri="{FF2B5EF4-FFF2-40B4-BE49-F238E27FC236}">
                <a16:creationId xmlns:a16="http://schemas.microsoft.com/office/drawing/2014/main" id="{830E0563-E4B3-EDE9-7DC0-CD4153613F6B}"/>
              </a:ext>
            </a:extLst>
          </p:cNvPr>
          <p:cNvCxnSpPr>
            <a:cxnSpLocks/>
            <a:stCxn id="59" idx="4"/>
            <a:endCxn id="76" idx="1"/>
          </p:cNvCxnSpPr>
          <p:nvPr/>
        </p:nvCxnSpPr>
        <p:spPr>
          <a:xfrm>
            <a:off x="6079763" y="3244667"/>
            <a:ext cx="664300" cy="924248"/>
          </a:xfrm>
          <a:prstGeom prst="straightConnector1">
            <a:avLst/>
          </a:prstGeom>
          <a:ln w="63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7" name="直接箭头连接符 106">
            <a:extLst>
              <a:ext uri="{FF2B5EF4-FFF2-40B4-BE49-F238E27FC236}">
                <a16:creationId xmlns:a16="http://schemas.microsoft.com/office/drawing/2014/main" id="{04B8A2AB-9331-DE02-3956-8A66C2461C2A}"/>
              </a:ext>
            </a:extLst>
          </p:cNvPr>
          <p:cNvCxnSpPr>
            <a:cxnSpLocks/>
            <a:stCxn id="73" idx="6"/>
            <a:endCxn id="83" idx="1"/>
          </p:cNvCxnSpPr>
          <p:nvPr/>
        </p:nvCxnSpPr>
        <p:spPr>
          <a:xfrm flipV="1">
            <a:off x="7102861" y="3616791"/>
            <a:ext cx="368590" cy="552123"/>
          </a:xfrm>
          <a:prstGeom prst="straightConnector1">
            <a:avLst/>
          </a:prstGeom>
          <a:ln w="63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10" name="直接箭头连接符 109">
            <a:extLst>
              <a:ext uri="{FF2B5EF4-FFF2-40B4-BE49-F238E27FC236}">
                <a16:creationId xmlns:a16="http://schemas.microsoft.com/office/drawing/2014/main" id="{D37BFEE1-FFF7-0142-B0AD-CD18E8FBAE78}"/>
              </a:ext>
            </a:extLst>
          </p:cNvPr>
          <p:cNvCxnSpPr>
            <a:cxnSpLocks/>
            <a:stCxn id="52" idx="6"/>
            <a:endCxn id="76" idx="1"/>
          </p:cNvCxnSpPr>
          <p:nvPr/>
        </p:nvCxnSpPr>
        <p:spPr>
          <a:xfrm>
            <a:off x="6259763" y="4168914"/>
            <a:ext cx="484300" cy="1"/>
          </a:xfrm>
          <a:prstGeom prst="straightConnector1">
            <a:avLst/>
          </a:prstGeom>
          <a:ln w="63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13" name="直接箭头连接符 112">
            <a:extLst>
              <a:ext uri="{FF2B5EF4-FFF2-40B4-BE49-F238E27FC236}">
                <a16:creationId xmlns:a16="http://schemas.microsoft.com/office/drawing/2014/main" id="{45DEF8F5-6F41-482D-B1EF-5A7036730064}"/>
              </a:ext>
            </a:extLst>
          </p:cNvPr>
          <p:cNvCxnSpPr>
            <a:cxnSpLocks/>
            <a:stCxn id="38" idx="6"/>
            <a:endCxn id="55" idx="1"/>
          </p:cNvCxnSpPr>
          <p:nvPr/>
        </p:nvCxnSpPr>
        <p:spPr>
          <a:xfrm>
            <a:off x="5404957" y="3800831"/>
            <a:ext cx="497211" cy="368084"/>
          </a:xfrm>
          <a:prstGeom prst="straightConnector1">
            <a:avLst/>
          </a:prstGeom>
          <a:ln w="63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16" name="直接箭头连接符 115">
            <a:extLst>
              <a:ext uri="{FF2B5EF4-FFF2-40B4-BE49-F238E27FC236}">
                <a16:creationId xmlns:a16="http://schemas.microsoft.com/office/drawing/2014/main" id="{B520B014-3B93-AD17-3D80-3A0CB8BC68DE}"/>
              </a:ext>
            </a:extLst>
          </p:cNvPr>
          <p:cNvCxnSpPr>
            <a:cxnSpLocks/>
            <a:stCxn id="45" idx="6"/>
            <a:endCxn id="52" idx="2"/>
          </p:cNvCxnSpPr>
          <p:nvPr/>
        </p:nvCxnSpPr>
        <p:spPr>
          <a:xfrm flipV="1">
            <a:off x="5418382" y="4168914"/>
            <a:ext cx="481381" cy="368082"/>
          </a:xfrm>
          <a:prstGeom prst="straightConnector1">
            <a:avLst/>
          </a:prstGeom>
          <a:ln w="63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19" name="直接箭头连接符 118">
            <a:extLst>
              <a:ext uri="{FF2B5EF4-FFF2-40B4-BE49-F238E27FC236}">
                <a16:creationId xmlns:a16="http://schemas.microsoft.com/office/drawing/2014/main" id="{0E49E0A1-484A-7E37-D300-4A46F53C44B9}"/>
              </a:ext>
            </a:extLst>
          </p:cNvPr>
          <p:cNvCxnSpPr>
            <a:cxnSpLocks/>
            <a:stCxn id="14" idx="6"/>
            <a:endCxn id="41" idx="1"/>
          </p:cNvCxnSpPr>
          <p:nvPr/>
        </p:nvCxnSpPr>
        <p:spPr>
          <a:xfrm>
            <a:off x="4608616" y="3444245"/>
            <a:ext cx="440749" cy="356587"/>
          </a:xfrm>
          <a:prstGeom prst="straightConnector1">
            <a:avLst/>
          </a:prstGeom>
          <a:ln w="63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123" name="文本框 122">
            <a:extLst>
              <a:ext uri="{FF2B5EF4-FFF2-40B4-BE49-F238E27FC236}">
                <a16:creationId xmlns:a16="http://schemas.microsoft.com/office/drawing/2014/main" id="{4F4FB25C-1496-B0A0-3BC8-B5910FA5659F}"/>
              </a:ext>
            </a:extLst>
          </p:cNvPr>
          <p:cNvSpPr txBox="1"/>
          <p:nvPr/>
        </p:nvSpPr>
        <p:spPr>
          <a:xfrm>
            <a:off x="4675061" y="3069790"/>
            <a:ext cx="316112" cy="369332"/>
          </a:xfrm>
          <a:prstGeom prst="rect">
            <a:avLst/>
          </a:prstGeom>
          <a:noFill/>
          <a:ln w="6350">
            <a:noFill/>
          </a:ln>
        </p:spPr>
        <p:txBody>
          <a:bodyPr wrap="none" rtlCol="0">
            <a:noAutofit/>
          </a:bodyPr>
          <a:lstStyle/>
          <a:p>
            <a:r>
              <a:rPr lang="en-US" altLang="zh-CN" sz="700">
                <a:solidFill>
                  <a:sysClr val="windowText" lastClr="000000"/>
                </a:solidFill>
                <a:latin typeface="Times New Roman" panose="02020603050405020304" pitchFamily="18" charset="0"/>
                <a:cs typeface="Times New Roman" panose="02020603050405020304" pitchFamily="18" charset="0"/>
              </a:rPr>
              <a:t>2</a:t>
            </a:r>
            <a:endParaRPr lang="zh-CN" altLang="en-US" sz="700">
              <a:solidFill>
                <a:sysClr val="windowText" lastClr="000000"/>
              </a:solidFill>
              <a:latin typeface="Times New Roman" panose="02020603050405020304" pitchFamily="18" charset="0"/>
              <a:cs typeface="Times New Roman" panose="02020603050405020304" pitchFamily="18" charset="0"/>
            </a:endParaRPr>
          </a:p>
        </p:txBody>
      </p:sp>
      <p:sp>
        <p:nvSpPr>
          <p:cNvPr id="124" name="文本框 123">
            <a:extLst>
              <a:ext uri="{FF2B5EF4-FFF2-40B4-BE49-F238E27FC236}">
                <a16:creationId xmlns:a16="http://schemas.microsoft.com/office/drawing/2014/main" id="{C3E871AC-4854-2B8D-7B77-75430DAD77FC}"/>
              </a:ext>
            </a:extLst>
          </p:cNvPr>
          <p:cNvSpPr txBox="1"/>
          <p:nvPr/>
        </p:nvSpPr>
        <p:spPr>
          <a:xfrm>
            <a:off x="6345968" y="2906111"/>
            <a:ext cx="316112" cy="369332"/>
          </a:xfrm>
          <a:prstGeom prst="rect">
            <a:avLst/>
          </a:prstGeom>
          <a:noFill/>
          <a:ln w="6350">
            <a:noFill/>
          </a:ln>
        </p:spPr>
        <p:txBody>
          <a:bodyPr wrap="none" rtlCol="0">
            <a:noAutofit/>
          </a:bodyPr>
          <a:lstStyle/>
          <a:p>
            <a:r>
              <a:rPr lang="en-US" altLang="zh-CN" sz="700">
                <a:solidFill>
                  <a:sysClr val="windowText" lastClr="000000"/>
                </a:solidFill>
                <a:latin typeface="Times New Roman" panose="02020603050405020304" pitchFamily="18" charset="0"/>
                <a:cs typeface="Times New Roman" panose="02020603050405020304" pitchFamily="18" charset="0"/>
              </a:rPr>
              <a:t>5</a:t>
            </a:r>
            <a:endParaRPr lang="zh-CN" altLang="en-US" sz="700">
              <a:solidFill>
                <a:sysClr val="windowText" lastClr="000000"/>
              </a:solidFill>
              <a:latin typeface="Times New Roman" panose="02020603050405020304" pitchFamily="18" charset="0"/>
              <a:cs typeface="Times New Roman" panose="02020603050405020304" pitchFamily="18" charset="0"/>
            </a:endParaRPr>
          </a:p>
        </p:txBody>
      </p:sp>
      <p:sp>
        <p:nvSpPr>
          <p:cNvPr id="125" name="文本框 124">
            <a:extLst>
              <a:ext uri="{FF2B5EF4-FFF2-40B4-BE49-F238E27FC236}">
                <a16:creationId xmlns:a16="http://schemas.microsoft.com/office/drawing/2014/main" id="{6B495EA3-8356-E9DC-4B0C-EB9ED5EB3525}"/>
              </a:ext>
            </a:extLst>
          </p:cNvPr>
          <p:cNvSpPr txBox="1"/>
          <p:nvPr/>
        </p:nvSpPr>
        <p:spPr>
          <a:xfrm>
            <a:off x="4671466" y="3596348"/>
            <a:ext cx="316112" cy="369332"/>
          </a:xfrm>
          <a:prstGeom prst="rect">
            <a:avLst/>
          </a:prstGeom>
          <a:noFill/>
          <a:ln w="6350">
            <a:noFill/>
          </a:ln>
        </p:spPr>
        <p:txBody>
          <a:bodyPr wrap="none" rtlCol="0">
            <a:noAutofit/>
          </a:bodyPr>
          <a:lstStyle/>
          <a:p>
            <a:r>
              <a:rPr lang="en-US" altLang="zh-CN" sz="700">
                <a:solidFill>
                  <a:sysClr val="windowText" lastClr="000000"/>
                </a:solidFill>
                <a:latin typeface="Times New Roman" panose="02020603050405020304" pitchFamily="18" charset="0"/>
                <a:cs typeface="Times New Roman" panose="02020603050405020304" pitchFamily="18" charset="0"/>
              </a:rPr>
              <a:t>2</a:t>
            </a:r>
            <a:endParaRPr lang="zh-CN" altLang="en-US" sz="700">
              <a:solidFill>
                <a:sysClr val="windowText" lastClr="000000"/>
              </a:solidFill>
              <a:latin typeface="Times New Roman" panose="02020603050405020304" pitchFamily="18" charset="0"/>
              <a:cs typeface="Times New Roman" panose="02020603050405020304" pitchFamily="18" charset="0"/>
            </a:endParaRPr>
          </a:p>
        </p:txBody>
      </p:sp>
      <p:sp>
        <p:nvSpPr>
          <p:cNvPr id="126" name="文本框 125">
            <a:extLst>
              <a:ext uri="{FF2B5EF4-FFF2-40B4-BE49-F238E27FC236}">
                <a16:creationId xmlns:a16="http://schemas.microsoft.com/office/drawing/2014/main" id="{93B9C64E-64A0-C911-11CB-2577813449B3}"/>
              </a:ext>
            </a:extLst>
          </p:cNvPr>
          <p:cNvSpPr txBox="1"/>
          <p:nvPr/>
        </p:nvSpPr>
        <p:spPr>
          <a:xfrm>
            <a:off x="5605069" y="3772887"/>
            <a:ext cx="268022" cy="369332"/>
          </a:xfrm>
          <a:prstGeom prst="rect">
            <a:avLst/>
          </a:prstGeom>
          <a:noFill/>
          <a:ln w="6350">
            <a:noFill/>
          </a:ln>
        </p:spPr>
        <p:txBody>
          <a:bodyPr wrap="none" rtlCol="0">
            <a:noAutofit/>
          </a:bodyPr>
          <a:lstStyle/>
          <a:p>
            <a:r>
              <a:rPr lang="en-US" altLang="zh-CN" sz="700">
                <a:solidFill>
                  <a:sysClr val="windowText" lastClr="000000"/>
                </a:solidFill>
                <a:latin typeface="Times New Roman" panose="02020603050405020304" pitchFamily="18" charset="0"/>
                <a:cs typeface="Times New Roman" panose="02020603050405020304" pitchFamily="18" charset="0"/>
              </a:rPr>
              <a:t>1</a:t>
            </a:r>
            <a:endParaRPr lang="zh-CN" altLang="en-US" sz="700">
              <a:solidFill>
                <a:sysClr val="windowText" lastClr="000000"/>
              </a:solidFill>
              <a:latin typeface="Times New Roman" panose="02020603050405020304" pitchFamily="18" charset="0"/>
              <a:cs typeface="Times New Roman" panose="02020603050405020304" pitchFamily="18" charset="0"/>
            </a:endParaRPr>
          </a:p>
        </p:txBody>
      </p:sp>
      <p:sp>
        <p:nvSpPr>
          <p:cNvPr id="127" name="文本框 126">
            <a:extLst>
              <a:ext uri="{FF2B5EF4-FFF2-40B4-BE49-F238E27FC236}">
                <a16:creationId xmlns:a16="http://schemas.microsoft.com/office/drawing/2014/main" id="{4D134F61-2B67-B5DC-3A81-CE2896264B58}"/>
              </a:ext>
            </a:extLst>
          </p:cNvPr>
          <p:cNvSpPr txBox="1"/>
          <p:nvPr/>
        </p:nvSpPr>
        <p:spPr>
          <a:xfrm>
            <a:off x="5553588" y="4371333"/>
            <a:ext cx="336952" cy="369332"/>
          </a:xfrm>
          <a:prstGeom prst="rect">
            <a:avLst/>
          </a:prstGeom>
          <a:noFill/>
          <a:ln w="6350">
            <a:noFill/>
          </a:ln>
        </p:spPr>
        <p:txBody>
          <a:bodyPr wrap="none" rtlCol="0">
            <a:noAutofit/>
          </a:bodyPr>
          <a:lstStyle/>
          <a:p>
            <a:r>
              <a:rPr lang="en-US" altLang="zh-CN" sz="700">
                <a:solidFill>
                  <a:sysClr val="windowText" lastClr="000000"/>
                </a:solidFill>
                <a:latin typeface="Times New Roman" panose="02020603050405020304" pitchFamily="18" charset="0"/>
                <a:cs typeface="Times New Roman" panose="02020603050405020304" pitchFamily="18" charset="0"/>
              </a:rPr>
              <a:t>4</a:t>
            </a:r>
            <a:endParaRPr lang="zh-CN" altLang="en-US" sz="700">
              <a:solidFill>
                <a:sysClr val="windowText" lastClr="000000"/>
              </a:solidFill>
              <a:latin typeface="Times New Roman" panose="02020603050405020304" pitchFamily="18" charset="0"/>
              <a:cs typeface="Times New Roman" panose="02020603050405020304" pitchFamily="18" charset="0"/>
            </a:endParaRPr>
          </a:p>
        </p:txBody>
      </p:sp>
      <p:sp>
        <p:nvSpPr>
          <p:cNvPr id="128" name="文本框 127">
            <a:extLst>
              <a:ext uri="{FF2B5EF4-FFF2-40B4-BE49-F238E27FC236}">
                <a16:creationId xmlns:a16="http://schemas.microsoft.com/office/drawing/2014/main" id="{DCB89C8F-8245-ACB5-6752-2EE69794FBAE}"/>
              </a:ext>
            </a:extLst>
          </p:cNvPr>
          <p:cNvSpPr txBox="1"/>
          <p:nvPr/>
        </p:nvSpPr>
        <p:spPr>
          <a:xfrm>
            <a:off x="6327634" y="4198779"/>
            <a:ext cx="268022" cy="369332"/>
          </a:xfrm>
          <a:prstGeom prst="rect">
            <a:avLst/>
          </a:prstGeom>
          <a:noFill/>
          <a:ln w="6350">
            <a:noFill/>
          </a:ln>
        </p:spPr>
        <p:txBody>
          <a:bodyPr wrap="none" rtlCol="0">
            <a:noAutofit/>
          </a:bodyPr>
          <a:lstStyle/>
          <a:p>
            <a:r>
              <a:rPr lang="en-US" altLang="zh-CN" sz="700">
                <a:solidFill>
                  <a:sysClr val="windowText" lastClr="000000"/>
                </a:solidFill>
                <a:latin typeface="Times New Roman" panose="02020603050405020304" pitchFamily="18" charset="0"/>
                <a:cs typeface="Times New Roman" panose="02020603050405020304" pitchFamily="18" charset="0"/>
              </a:rPr>
              <a:t>1</a:t>
            </a:r>
            <a:endParaRPr lang="zh-CN" altLang="en-US" sz="700">
              <a:solidFill>
                <a:sysClr val="windowText" lastClr="000000"/>
              </a:solidFill>
              <a:latin typeface="Times New Roman" panose="02020603050405020304" pitchFamily="18" charset="0"/>
              <a:cs typeface="Times New Roman" panose="02020603050405020304" pitchFamily="18" charset="0"/>
            </a:endParaRPr>
          </a:p>
        </p:txBody>
      </p:sp>
      <p:sp>
        <p:nvSpPr>
          <p:cNvPr id="129" name="文本框 128">
            <a:extLst>
              <a:ext uri="{FF2B5EF4-FFF2-40B4-BE49-F238E27FC236}">
                <a16:creationId xmlns:a16="http://schemas.microsoft.com/office/drawing/2014/main" id="{BE349338-EF80-5953-3000-8E9AB1A5915F}"/>
              </a:ext>
            </a:extLst>
          </p:cNvPr>
          <p:cNvSpPr txBox="1"/>
          <p:nvPr/>
        </p:nvSpPr>
        <p:spPr>
          <a:xfrm>
            <a:off x="6354711" y="3520868"/>
            <a:ext cx="316112" cy="369332"/>
          </a:xfrm>
          <a:prstGeom prst="rect">
            <a:avLst/>
          </a:prstGeom>
          <a:noFill/>
          <a:ln w="6350">
            <a:noFill/>
          </a:ln>
        </p:spPr>
        <p:txBody>
          <a:bodyPr wrap="none" rtlCol="0">
            <a:noAutofit/>
          </a:bodyPr>
          <a:lstStyle/>
          <a:p>
            <a:r>
              <a:rPr lang="en-US" altLang="zh-CN" sz="700">
                <a:solidFill>
                  <a:sysClr val="windowText" lastClr="000000"/>
                </a:solidFill>
                <a:latin typeface="Times New Roman" panose="02020603050405020304" pitchFamily="18" charset="0"/>
                <a:cs typeface="Times New Roman" panose="02020603050405020304" pitchFamily="18" charset="0"/>
              </a:rPr>
              <a:t>5</a:t>
            </a:r>
            <a:endParaRPr lang="zh-CN" altLang="en-US" sz="700">
              <a:solidFill>
                <a:sysClr val="windowText" lastClr="000000"/>
              </a:solidFill>
              <a:latin typeface="Times New Roman" panose="02020603050405020304" pitchFamily="18" charset="0"/>
              <a:cs typeface="Times New Roman" panose="02020603050405020304" pitchFamily="18" charset="0"/>
            </a:endParaRPr>
          </a:p>
        </p:txBody>
      </p:sp>
      <p:sp>
        <p:nvSpPr>
          <p:cNvPr id="130" name="文本框 129">
            <a:extLst>
              <a:ext uri="{FF2B5EF4-FFF2-40B4-BE49-F238E27FC236}">
                <a16:creationId xmlns:a16="http://schemas.microsoft.com/office/drawing/2014/main" id="{A13D22B1-56BB-0540-012D-D9BC4A6E0C22}"/>
              </a:ext>
            </a:extLst>
          </p:cNvPr>
          <p:cNvSpPr txBox="1"/>
          <p:nvPr/>
        </p:nvSpPr>
        <p:spPr>
          <a:xfrm>
            <a:off x="7213017" y="3159296"/>
            <a:ext cx="325730" cy="369332"/>
          </a:xfrm>
          <a:prstGeom prst="rect">
            <a:avLst/>
          </a:prstGeom>
          <a:noFill/>
          <a:ln w="6350">
            <a:noFill/>
          </a:ln>
        </p:spPr>
        <p:txBody>
          <a:bodyPr wrap="none" rtlCol="0">
            <a:noAutofit/>
          </a:bodyPr>
          <a:lstStyle/>
          <a:p>
            <a:r>
              <a:rPr lang="en-US" altLang="zh-CN" sz="700">
                <a:solidFill>
                  <a:sysClr val="windowText" lastClr="000000"/>
                </a:solidFill>
                <a:latin typeface="Times New Roman" panose="02020603050405020304" pitchFamily="18" charset="0"/>
                <a:cs typeface="Times New Roman" panose="02020603050405020304" pitchFamily="18" charset="0"/>
              </a:rPr>
              <a:t>6</a:t>
            </a:r>
            <a:endParaRPr lang="zh-CN" altLang="en-US" sz="700">
              <a:solidFill>
                <a:sysClr val="windowText" lastClr="000000"/>
              </a:solidFill>
              <a:latin typeface="Times New Roman" panose="02020603050405020304" pitchFamily="18" charset="0"/>
              <a:cs typeface="Times New Roman" panose="02020603050405020304" pitchFamily="18" charset="0"/>
            </a:endParaRPr>
          </a:p>
        </p:txBody>
      </p:sp>
      <p:sp>
        <p:nvSpPr>
          <p:cNvPr id="131" name="文本框 130">
            <a:extLst>
              <a:ext uri="{FF2B5EF4-FFF2-40B4-BE49-F238E27FC236}">
                <a16:creationId xmlns:a16="http://schemas.microsoft.com/office/drawing/2014/main" id="{8D7C9612-EB22-4735-63DB-62CC7B65AC0D}"/>
              </a:ext>
            </a:extLst>
          </p:cNvPr>
          <p:cNvSpPr txBox="1"/>
          <p:nvPr/>
        </p:nvSpPr>
        <p:spPr>
          <a:xfrm>
            <a:off x="7194261" y="3903856"/>
            <a:ext cx="336952" cy="369332"/>
          </a:xfrm>
          <a:prstGeom prst="rect">
            <a:avLst/>
          </a:prstGeom>
          <a:noFill/>
          <a:ln w="6350">
            <a:noFill/>
          </a:ln>
        </p:spPr>
        <p:txBody>
          <a:bodyPr wrap="none" rtlCol="0">
            <a:noAutofit/>
          </a:bodyPr>
          <a:lstStyle/>
          <a:p>
            <a:r>
              <a:rPr lang="en-US" altLang="zh-CN" sz="700">
                <a:solidFill>
                  <a:sysClr val="windowText" lastClr="000000"/>
                </a:solidFill>
                <a:latin typeface="Times New Roman" panose="02020603050405020304" pitchFamily="18" charset="0"/>
                <a:cs typeface="Times New Roman" panose="02020603050405020304" pitchFamily="18" charset="0"/>
              </a:rPr>
              <a:t>4</a:t>
            </a:r>
            <a:endParaRPr lang="zh-CN" altLang="en-US" sz="700">
              <a:solidFill>
                <a:sysClr val="windowText" lastClr="000000"/>
              </a:solidFill>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55911ACE-2549-386C-656B-331816F8F87D}"/>
              </a:ext>
            </a:extLst>
          </p:cNvPr>
          <p:cNvSpPr txBox="1"/>
          <p:nvPr/>
        </p:nvSpPr>
        <p:spPr>
          <a:xfrm>
            <a:off x="5487521" y="2880000"/>
            <a:ext cx="316112" cy="369332"/>
          </a:xfrm>
          <a:prstGeom prst="rect">
            <a:avLst/>
          </a:prstGeom>
          <a:noFill/>
          <a:ln w="6350">
            <a:noFill/>
          </a:ln>
        </p:spPr>
        <p:txBody>
          <a:bodyPr wrap="none" rtlCol="0">
            <a:noAutofit/>
          </a:bodyPr>
          <a:lstStyle/>
          <a:p>
            <a:r>
              <a:rPr lang="en-US" altLang="zh-CN" sz="700">
                <a:solidFill>
                  <a:sysClr val="windowText" lastClr="000000"/>
                </a:solidFill>
                <a:latin typeface="Times New Roman" panose="02020603050405020304" pitchFamily="18" charset="0"/>
                <a:cs typeface="Times New Roman" panose="02020603050405020304" pitchFamily="18" charset="0"/>
              </a:rPr>
              <a:t>2</a:t>
            </a:r>
            <a:endParaRPr lang="zh-CN" altLang="en-US" sz="700">
              <a:solidFill>
                <a:sysClr val="windowText" lastClr="000000"/>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048AF8F3-E19D-55D5-0998-B1311B01ACB4}"/>
              </a:ext>
            </a:extLst>
          </p:cNvPr>
          <p:cNvSpPr txBox="1"/>
          <p:nvPr/>
        </p:nvSpPr>
        <p:spPr>
          <a:xfrm>
            <a:off x="1219920" y="467460"/>
            <a:ext cx="6179897" cy="338554"/>
          </a:xfrm>
          <a:prstGeom prst="rect">
            <a:avLst/>
          </a:prstGeom>
          <a:noFill/>
        </p:spPr>
        <p:txBody>
          <a:bodyPr wrap="none" rtlCol="0">
            <a:spAutoFit/>
          </a:bodyPr>
          <a:lstStyle/>
          <a:p>
            <a:pPr algn="l"/>
            <a:r>
              <a:rPr lang="zh-CN" altLang="en-US" sz="1600" dirty="0">
                <a:solidFill>
                  <a:schemeClr val="bg1"/>
                </a:solidFill>
              </a:rPr>
              <a:t>例：根据 </a:t>
            </a:r>
            <a:r>
              <a:rPr lang="en-US" altLang="zh-CN" sz="1600" dirty="0">
                <a:solidFill>
                  <a:schemeClr val="bg1"/>
                </a:solidFill>
              </a:rPr>
              <a:t>PERT </a:t>
            </a:r>
            <a:r>
              <a:rPr lang="zh-CN" altLang="en-US" sz="1600" dirty="0">
                <a:solidFill>
                  <a:schemeClr val="bg1"/>
                </a:solidFill>
              </a:rPr>
              <a:t>求各事件最早时间、最晚时间、总工期、最大路径</a:t>
            </a:r>
          </a:p>
        </p:txBody>
      </p:sp>
    </p:spTree>
    <p:extLst>
      <p:ext uri="{BB962C8B-B14F-4D97-AF65-F5344CB8AC3E}">
        <p14:creationId xmlns:p14="http://schemas.microsoft.com/office/powerpoint/2010/main" val="2540800626"/>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29" name="组合 28">
            <a:extLst>
              <a:ext uri="{FF2B5EF4-FFF2-40B4-BE49-F238E27FC236}">
                <a16:creationId xmlns:a16="http://schemas.microsoft.com/office/drawing/2014/main" id="{ACEA3629-7402-51AE-7D5C-B35B58881938}"/>
              </a:ext>
            </a:extLst>
          </p:cNvPr>
          <p:cNvGrpSpPr/>
          <p:nvPr/>
        </p:nvGrpSpPr>
        <p:grpSpPr>
          <a:xfrm>
            <a:off x="2235563" y="3741917"/>
            <a:ext cx="720000" cy="720000"/>
            <a:chOff x="1495425" y="3838582"/>
            <a:chExt cx="720000" cy="720000"/>
          </a:xfrm>
        </p:grpSpPr>
        <p:sp>
          <p:nvSpPr>
            <p:cNvPr id="14" name="椭圆 13">
              <a:extLst>
                <a:ext uri="{FF2B5EF4-FFF2-40B4-BE49-F238E27FC236}">
                  <a16:creationId xmlns:a16="http://schemas.microsoft.com/office/drawing/2014/main" id="{2AF58D42-6406-9E26-2D29-846FC929FBE4}"/>
                </a:ext>
              </a:extLst>
            </p:cNvPr>
            <p:cNvSpPr/>
            <p:nvPr/>
          </p:nvSpPr>
          <p:spPr>
            <a:xfrm>
              <a:off x="1495425" y="3838582"/>
              <a:ext cx="720000" cy="72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400">
                <a:solidFill>
                  <a:schemeClr val="bg1"/>
                </a:solidFill>
              </a:endParaRPr>
            </a:p>
          </p:txBody>
        </p:sp>
        <p:sp>
          <p:nvSpPr>
            <p:cNvPr id="16" name="文本框 15">
              <a:extLst>
                <a:ext uri="{FF2B5EF4-FFF2-40B4-BE49-F238E27FC236}">
                  <a16:creationId xmlns:a16="http://schemas.microsoft.com/office/drawing/2014/main" id="{D81A1290-E283-78B0-1778-2C0175FB4266}"/>
                </a:ext>
              </a:extLst>
            </p:cNvPr>
            <p:cNvSpPr txBox="1"/>
            <p:nvPr/>
          </p:nvSpPr>
          <p:spPr>
            <a:xfrm>
              <a:off x="1855425" y="3838582"/>
              <a:ext cx="360000" cy="360000"/>
            </a:xfrm>
            <a:prstGeom prst="rect">
              <a:avLst/>
            </a:prstGeom>
            <a:noFill/>
            <a:ln>
              <a:noFill/>
            </a:ln>
          </p:spPr>
          <p:txBody>
            <a:bodyPr wrap="none" rtlCol="0">
              <a:noAutofit/>
            </a:bodyPr>
            <a:lstStyle/>
            <a:p>
              <a:r>
                <a:rPr lang="en-US" altLang="zh-CN" sz="1400">
                  <a:solidFill>
                    <a:schemeClr val="bg1"/>
                  </a:solidFill>
                </a:rPr>
                <a:t>0</a:t>
              </a:r>
              <a:endParaRPr lang="zh-CN" altLang="en-US" sz="1400">
                <a:solidFill>
                  <a:schemeClr val="bg1"/>
                </a:solidFill>
              </a:endParaRPr>
            </a:p>
          </p:txBody>
        </p:sp>
        <p:sp>
          <p:nvSpPr>
            <p:cNvPr id="17" name="文本框 16">
              <a:extLst>
                <a:ext uri="{FF2B5EF4-FFF2-40B4-BE49-F238E27FC236}">
                  <a16:creationId xmlns:a16="http://schemas.microsoft.com/office/drawing/2014/main" id="{25A20525-58A6-3E12-19C9-212BAC9F81B8}"/>
                </a:ext>
              </a:extLst>
            </p:cNvPr>
            <p:cNvSpPr txBox="1"/>
            <p:nvPr/>
          </p:nvSpPr>
          <p:spPr>
            <a:xfrm>
              <a:off x="1855425" y="4198582"/>
              <a:ext cx="360000" cy="360000"/>
            </a:xfrm>
            <a:prstGeom prst="rect">
              <a:avLst/>
            </a:prstGeom>
            <a:noFill/>
            <a:ln>
              <a:noFill/>
            </a:ln>
          </p:spPr>
          <p:txBody>
            <a:bodyPr wrap="none" rtlCol="0">
              <a:noAutofit/>
            </a:bodyPr>
            <a:lstStyle/>
            <a:p>
              <a:endParaRPr lang="zh-CN" altLang="en-US" sz="1400">
                <a:solidFill>
                  <a:schemeClr val="bg1"/>
                </a:solidFill>
              </a:endParaRPr>
            </a:p>
          </p:txBody>
        </p:sp>
        <p:sp>
          <p:nvSpPr>
            <p:cNvPr id="18" name="文本框 17">
              <a:extLst>
                <a:ext uri="{FF2B5EF4-FFF2-40B4-BE49-F238E27FC236}">
                  <a16:creationId xmlns:a16="http://schemas.microsoft.com/office/drawing/2014/main" id="{5A17053E-EACE-2511-A327-5835E81309D4}"/>
                </a:ext>
              </a:extLst>
            </p:cNvPr>
            <p:cNvSpPr txBox="1"/>
            <p:nvPr/>
          </p:nvSpPr>
          <p:spPr>
            <a:xfrm>
              <a:off x="1522676" y="4044693"/>
              <a:ext cx="248787" cy="307777"/>
            </a:xfrm>
            <a:prstGeom prst="rect">
              <a:avLst/>
            </a:prstGeom>
            <a:noFill/>
            <a:ln>
              <a:noFill/>
            </a:ln>
          </p:spPr>
          <p:txBody>
            <a:bodyPr wrap="none" rtlCol="0" anchor="ctr" anchorCtr="0">
              <a:noAutofit/>
            </a:bodyPr>
            <a:lstStyle/>
            <a:p>
              <a:pPr algn="ctr"/>
              <a:r>
                <a:rPr lang="en-US" altLang="zh-CN" sz="1400">
                  <a:solidFill>
                    <a:schemeClr val="bg1"/>
                  </a:solidFill>
                </a:rPr>
                <a:t>1</a:t>
              </a:r>
              <a:endParaRPr lang="zh-CN" altLang="en-US" sz="1400">
                <a:solidFill>
                  <a:schemeClr val="bg1"/>
                </a:solidFill>
              </a:endParaRPr>
            </a:p>
          </p:txBody>
        </p:sp>
        <p:cxnSp>
          <p:nvCxnSpPr>
            <p:cNvPr id="26" name="直接连接符 25">
              <a:extLst>
                <a:ext uri="{FF2B5EF4-FFF2-40B4-BE49-F238E27FC236}">
                  <a16:creationId xmlns:a16="http://schemas.microsoft.com/office/drawing/2014/main" id="{07781AE8-A6D4-47F3-3789-AE253E9BBFA2}"/>
                </a:ext>
              </a:extLst>
            </p:cNvPr>
            <p:cNvCxnSpPr>
              <a:cxnSpLocks/>
            </p:cNvCxnSpPr>
            <p:nvPr/>
          </p:nvCxnSpPr>
          <p:spPr>
            <a:xfrm>
              <a:off x="1855425" y="3838582"/>
              <a:ext cx="0" cy="72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E1DB44D5-C040-1DEF-AA7F-7068B8881337}"/>
                </a:ext>
              </a:extLst>
            </p:cNvPr>
            <p:cNvCxnSpPr>
              <a:cxnSpLocks/>
            </p:cNvCxnSpPr>
            <p:nvPr/>
          </p:nvCxnSpPr>
          <p:spPr>
            <a:xfrm rot="5400000">
              <a:off x="2035425" y="4018582"/>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0" name="组合 29">
            <a:extLst>
              <a:ext uri="{FF2B5EF4-FFF2-40B4-BE49-F238E27FC236}">
                <a16:creationId xmlns:a16="http://schemas.microsoft.com/office/drawing/2014/main" id="{BD6ADDB3-4A97-E148-006B-082682588D1E}"/>
              </a:ext>
            </a:extLst>
          </p:cNvPr>
          <p:cNvGrpSpPr/>
          <p:nvPr/>
        </p:nvGrpSpPr>
        <p:grpSpPr>
          <a:xfrm>
            <a:off x="3911963" y="2884667"/>
            <a:ext cx="720000" cy="720000"/>
            <a:chOff x="1495425" y="3838582"/>
            <a:chExt cx="720000" cy="720000"/>
          </a:xfrm>
        </p:grpSpPr>
        <p:sp>
          <p:nvSpPr>
            <p:cNvPr id="31" name="椭圆 30">
              <a:extLst>
                <a:ext uri="{FF2B5EF4-FFF2-40B4-BE49-F238E27FC236}">
                  <a16:creationId xmlns:a16="http://schemas.microsoft.com/office/drawing/2014/main" id="{2566FB15-4ECD-D1EB-D46A-AEF44BF6F139}"/>
                </a:ext>
              </a:extLst>
            </p:cNvPr>
            <p:cNvSpPr/>
            <p:nvPr/>
          </p:nvSpPr>
          <p:spPr>
            <a:xfrm>
              <a:off x="1495425" y="3838582"/>
              <a:ext cx="720000" cy="72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400">
                <a:solidFill>
                  <a:schemeClr val="bg1"/>
                </a:solidFill>
              </a:endParaRPr>
            </a:p>
          </p:txBody>
        </p:sp>
        <p:sp>
          <p:nvSpPr>
            <p:cNvPr id="32" name="文本框 31">
              <a:extLst>
                <a:ext uri="{FF2B5EF4-FFF2-40B4-BE49-F238E27FC236}">
                  <a16:creationId xmlns:a16="http://schemas.microsoft.com/office/drawing/2014/main" id="{20FC750E-FB5A-2EB0-7193-E183D8AE48D9}"/>
                </a:ext>
              </a:extLst>
            </p:cNvPr>
            <p:cNvSpPr txBox="1"/>
            <p:nvPr/>
          </p:nvSpPr>
          <p:spPr>
            <a:xfrm>
              <a:off x="1855425" y="3838582"/>
              <a:ext cx="360000" cy="360000"/>
            </a:xfrm>
            <a:prstGeom prst="rect">
              <a:avLst/>
            </a:prstGeom>
            <a:noFill/>
            <a:ln>
              <a:noFill/>
            </a:ln>
          </p:spPr>
          <p:txBody>
            <a:bodyPr wrap="none" rtlCol="0">
              <a:noAutofit/>
            </a:bodyPr>
            <a:lstStyle/>
            <a:p>
              <a:r>
                <a:rPr lang="en-US" altLang="zh-CN" sz="1400">
                  <a:solidFill>
                    <a:schemeClr val="bg1"/>
                  </a:solidFill>
                </a:rPr>
                <a:t>2</a:t>
              </a:r>
              <a:endParaRPr lang="zh-CN" altLang="en-US" sz="1400">
                <a:solidFill>
                  <a:schemeClr val="bg1"/>
                </a:solidFill>
              </a:endParaRPr>
            </a:p>
          </p:txBody>
        </p:sp>
        <p:sp>
          <p:nvSpPr>
            <p:cNvPr id="33" name="文本框 32">
              <a:extLst>
                <a:ext uri="{FF2B5EF4-FFF2-40B4-BE49-F238E27FC236}">
                  <a16:creationId xmlns:a16="http://schemas.microsoft.com/office/drawing/2014/main" id="{B4ED1243-365F-9AF8-8E74-F56BBAB73FD1}"/>
                </a:ext>
              </a:extLst>
            </p:cNvPr>
            <p:cNvSpPr txBox="1"/>
            <p:nvPr/>
          </p:nvSpPr>
          <p:spPr>
            <a:xfrm>
              <a:off x="1855425" y="4198582"/>
              <a:ext cx="360000" cy="360000"/>
            </a:xfrm>
            <a:prstGeom prst="rect">
              <a:avLst/>
            </a:prstGeom>
            <a:noFill/>
            <a:ln>
              <a:noFill/>
            </a:ln>
          </p:spPr>
          <p:txBody>
            <a:bodyPr wrap="none" rtlCol="0">
              <a:noAutofit/>
            </a:bodyPr>
            <a:lstStyle/>
            <a:p>
              <a:endParaRPr lang="zh-CN" altLang="en-US" sz="1400">
                <a:solidFill>
                  <a:schemeClr val="bg1"/>
                </a:solidFill>
              </a:endParaRPr>
            </a:p>
          </p:txBody>
        </p:sp>
        <p:sp>
          <p:nvSpPr>
            <p:cNvPr id="34" name="文本框 33">
              <a:extLst>
                <a:ext uri="{FF2B5EF4-FFF2-40B4-BE49-F238E27FC236}">
                  <a16:creationId xmlns:a16="http://schemas.microsoft.com/office/drawing/2014/main" id="{E4370B4F-D5CE-C51E-73E2-BE51F6B80A78}"/>
                </a:ext>
              </a:extLst>
            </p:cNvPr>
            <p:cNvSpPr txBox="1"/>
            <p:nvPr/>
          </p:nvSpPr>
          <p:spPr>
            <a:xfrm>
              <a:off x="1503440" y="4044693"/>
              <a:ext cx="287259" cy="307777"/>
            </a:xfrm>
            <a:prstGeom prst="rect">
              <a:avLst/>
            </a:prstGeom>
            <a:noFill/>
            <a:ln>
              <a:noFill/>
            </a:ln>
          </p:spPr>
          <p:txBody>
            <a:bodyPr wrap="none" rtlCol="0" anchor="ctr" anchorCtr="0">
              <a:noAutofit/>
            </a:bodyPr>
            <a:lstStyle/>
            <a:p>
              <a:pPr algn="ctr"/>
              <a:r>
                <a:rPr lang="en-US" altLang="zh-CN" sz="1400">
                  <a:solidFill>
                    <a:schemeClr val="bg1"/>
                  </a:solidFill>
                </a:rPr>
                <a:t>2</a:t>
              </a:r>
              <a:endParaRPr lang="zh-CN" altLang="en-US" sz="1400">
                <a:solidFill>
                  <a:schemeClr val="bg1"/>
                </a:solidFill>
              </a:endParaRPr>
            </a:p>
          </p:txBody>
        </p:sp>
        <p:cxnSp>
          <p:nvCxnSpPr>
            <p:cNvPr id="35" name="直接连接符 34">
              <a:extLst>
                <a:ext uri="{FF2B5EF4-FFF2-40B4-BE49-F238E27FC236}">
                  <a16:creationId xmlns:a16="http://schemas.microsoft.com/office/drawing/2014/main" id="{A0300069-E5C2-9E6B-C4D6-066403FB2276}"/>
                </a:ext>
              </a:extLst>
            </p:cNvPr>
            <p:cNvCxnSpPr>
              <a:cxnSpLocks/>
            </p:cNvCxnSpPr>
            <p:nvPr/>
          </p:nvCxnSpPr>
          <p:spPr>
            <a:xfrm>
              <a:off x="1855425" y="3838582"/>
              <a:ext cx="0" cy="72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7C31E5D1-C04B-B16E-D30E-EEF829373C3C}"/>
                </a:ext>
              </a:extLst>
            </p:cNvPr>
            <p:cNvCxnSpPr>
              <a:cxnSpLocks/>
            </p:cNvCxnSpPr>
            <p:nvPr/>
          </p:nvCxnSpPr>
          <p:spPr>
            <a:xfrm rot="5400000">
              <a:off x="2035425" y="4018582"/>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7" name="组合 36">
            <a:extLst>
              <a:ext uri="{FF2B5EF4-FFF2-40B4-BE49-F238E27FC236}">
                <a16:creationId xmlns:a16="http://schemas.microsoft.com/office/drawing/2014/main" id="{03D2EFFD-4B09-5B07-D2A7-6A1B58DB58BA}"/>
              </a:ext>
            </a:extLst>
          </p:cNvPr>
          <p:cNvGrpSpPr/>
          <p:nvPr/>
        </p:nvGrpSpPr>
        <p:grpSpPr>
          <a:xfrm>
            <a:off x="3898538" y="4101917"/>
            <a:ext cx="720000" cy="720000"/>
            <a:chOff x="1495425" y="3838582"/>
            <a:chExt cx="720000" cy="720000"/>
          </a:xfrm>
        </p:grpSpPr>
        <p:sp>
          <p:nvSpPr>
            <p:cNvPr id="38" name="椭圆 37">
              <a:extLst>
                <a:ext uri="{FF2B5EF4-FFF2-40B4-BE49-F238E27FC236}">
                  <a16:creationId xmlns:a16="http://schemas.microsoft.com/office/drawing/2014/main" id="{DFD54ED6-3DD0-7BC4-BCA4-8DE81272C914}"/>
                </a:ext>
              </a:extLst>
            </p:cNvPr>
            <p:cNvSpPr/>
            <p:nvPr/>
          </p:nvSpPr>
          <p:spPr>
            <a:xfrm>
              <a:off x="1495425" y="3838582"/>
              <a:ext cx="720000" cy="72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400">
                <a:solidFill>
                  <a:schemeClr val="bg1"/>
                </a:solidFill>
              </a:endParaRPr>
            </a:p>
          </p:txBody>
        </p:sp>
        <p:sp>
          <p:nvSpPr>
            <p:cNvPr id="39" name="文本框 38">
              <a:extLst>
                <a:ext uri="{FF2B5EF4-FFF2-40B4-BE49-F238E27FC236}">
                  <a16:creationId xmlns:a16="http://schemas.microsoft.com/office/drawing/2014/main" id="{422370E0-6512-5306-FAEB-07EF8F4C2B4E}"/>
                </a:ext>
              </a:extLst>
            </p:cNvPr>
            <p:cNvSpPr txBox="1"/>
            <p:nvPr/>
          </p:nvSpPr>
          <p:spPr>
            <a:xfrm>
              <a:off x="1855425" y="3838582"/>
              <a:ext cx="360000" cy="360000"/>
            </a:xfrm>
            <a:prstGeom prst="rect">
              <a:avLst/>
            </a:prstGeom>
            <a:noFill/>
            <a:ln>
              <a:noFill/>
            </a:ln>
          </p:spPr>
          <p:txBody>
            <a:bodyPr wrap="none" rtlCol="0">
              <a:noAutofit/>
            </a:bodyPr>
            <a:lstStyle/>
            <a:p>
              <a:r>
                <a:rPr lang="en-US" altLang="zh-CN" sz="1400">
                  <a:solidFill>
                    <a:schemeClr val="bg1"/>
                  </a:solidFill>
                </a:rPr>
                <a:t>2</a:t>
              </a:r>
              <a:endParaRPr lang="zh-CN" altLang="en-US" sz="1400">
                <a:solidFill>
                  <a:schemeClr val="bg1"/>
                </a:solidFill>
              </a:endParaRPr>
            </a:p>
          </p:txBody>
        </p:sp>
        <p:sp>
          <p:nvSpPr>
            <p:cNvPr id="40" name="文本框 39">
              <a:extLst>
                <a:ext uri="{FF2B5EF4-FFF2-40B4-BE49-F238E27FC236}">
                  <a16:creationId xmlns:a16="http://schemas.microsoft.com/office/drawing/2014/main" id="{E9BDD65E-7FBE-020D-33D6-AAF9327A680B}"/>
                </a:ext>
              </a:extLst>
            </p:cNvPr>
            <p:cNvSpPr txBox="1"/>
            <p:nvPr/>
          </p:nvSpPr>
          <p:spPr>
            <a:xfrm>
              <a:off x="1855425" y="4198582"/>
              <a:ext cx="360000" cy="360000"/>
            </a:xfrm>
            <a:prstGeom prst="rect">
              <a:avLst/>
            </a:prstGeom>
            <a:noFill/>
            <a:ln>
              <a:noFill/>
            </a:ln>
          </p:spPr>
          <p:txBody>
            <a:bodyPr wrap="none" rtlCol="0">
              <a:noAutofit/>
            </a:bodyPr>
            <a:lstStyle/>
            <a:p>
              <a:endParaRPr lang="zh-CN" altLang="en-US" sz="1400">
                <a:solidFill>
                  <a:schemeClr val="bg1"/>
                </a:solidFill>
              </a:endParaRPr>
            </a:p>
          </p:txBody>
        </p:sp>
        <p:sp>
          <p:nvSpPr>
            <p:cNvPr id="41" name="文本框 40">
              <a:extLst>
                <a:ext uri="{FF2B5EF4-FFF2-40B4-BE49-F238E27FC236}">
                  <a16:creationId xmlns:a16="http://schemas.microsoft.com/office/drawing/2014/main" id="{CDAF8577-1DE4-1E51-0959-DBF81F1B1F18}"/>
                </a:ext>
              </a:extLst>
            </p:cNvPr>
            <p:cNvSpPr txBox="1"/>
            <p:nvPr/>
          </p:nvSpPr>
          <p:spPr>
            <a:xfrm>
              <a:off x="1504241" y="4044693"/>
              <a:ext cx="285656" cy="307777"/>
            </a:xfrm>
            <a:prstGeom prst="rect">
              <a:avLst/>
            </a:prstGeom>
            <a:noFill/>
            <a:ln>
              <a:noFill/>
            </a:ln>
          </p:spPr>
          <p:txBody>
            <a:bodyPr wrap="none" rtlCol="0" anchor="ctr" anchorCtr="0">
              <a:noAutofit/>
            </a:bodyPr>
            <a:lstStyle/>
            <a:p>
              <a:pPr algn="ctr"/>
              <a:r>
                <a:rPr lang="en-US" altLang="zh-CN" sz="1400">
                  <a:solidFill>
                    <a:schemeClr val="bg1"/>
                  </a:solidFill>
                </a:rPr>
                <a:t>3</a:t>
              </a:r>
              <a:endParaRPr lang="zh-CN" altLang="en-US" sz="1400">
                <a:solidFill>
                  <a:schemeClr val="bg1"/>
                </a:solidFill>
              </a:endParaRPr>
            </a:p>
          </p:txBody>
        </p:sp>
        <p:cxnSp>
          <p:nvCxnSpPr>
            <p:cNvPr id="42" name="直接连接符 41">
              <a:extLst>
                <a:ext uri="{FF2B5EF4-FFF2-40B4-BE49-F238E27FC236}">
                  <a16:creationId xmlns:a16="http://schemas.microsoft.com/office/drawing/2014/main" id="{AA19AF3D-E691-95DB-6D98-0348A1DC5A92}"/>
                </a:ext>
              </a:extLst>
            </p:cNvPr>
            <p:cNvCxnSpPr>
              <a:cxnSpLocks/>
            </p:cNvCxnSpPr>
            <p:nvPr/>
          </p:nvCxnSpPr>
          <p:spPr>
            <a:xfrm>
              <a:off x="1855425" y="3838582"/>
              <a:ext cx="0" cy="72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99DAA8F-F026-1107-1B71-254142E31648}"/>
                </a:ext>
              </a:extLst>
            </p:cNvPr>
            <p:cNvCxnSpPr>
              <a:cxnSpLocks/>
            </p:cNvCxnSpPr>
            <p:nvPr/>
          </p:nvCxnSpPr>
          <p:spPr>
            <a:xfrm rot="5400000">
              <a:off x="2035425" y="4018582"/>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44" name="组合 43">
            <a:extLst>
              <a:ext uri="{FF2B5EF4-FFF2-40B4-BE49-F238E27FC236}">
                <a16:creationId xmlns:a16="http://schemas.microsoft.com/office/drawing/2014/main" id="{36F01A12-1D72-F9C5-7005-EC774AD846DC}"/>
              </a:ext>
            </a:extLst>
          </p:cNvPr>
          <p:cNvGrpSpPr/>
          <p:nvPr/>
        </p:nvGrpSpPr>
        <p:grpSpPr>
          <a:xfrm>
            <a:off x="3911963" y="5319167"/>
            <a:ext cx="720000" cy="720000"/>
            <a:chOff x="1495425" y="3838582"/>
            <a:chExt cx="720000" cy="720000"/>
          </a:xfrm>
        </p:grpSpPr>
        <p:sp>
          <p:nvSpPr>
            <p:cNvPr id="45" name="椭圆 44">
              <a:extLst>
                <a:ext uri="{FF2B5EF4-FFF2-40B4-BE49-F238E27FC236}">
                  <a16:creationId xmlns:a16="http://schemas.microsoft.com/office/drawing/2014/main" id="{F6CEBE35-E8EB-398C-05FF-D31E6B669081}"/>
                </a:ext>
              </a:extLst>
            </p:cNvPr>
            <p:cNvSpPr/>
            <p:nvPr/>
          </p:nvSpPr>
          <p:spPr>
            <a:xfrm>
              <a:off x="1495425" y="3838582"/>
              <a:ext cx="720000" cy="72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400">
                <a:solidFill>
                  <a:schemeClr val="bg1"/>
                </a:solidFill>
              </a:endParaRPr>
            </a:p>
          </p:txBody>
        </p:sp>
        <p:sp>
          <p:nvSpPr>
            <p:cNvPr id="46" name="文本框 45">
              <a:extLst>
                <a:ext uri="{FF2B5EF4-FFF2-40B4-BE49-F238E27FC236}">
                  <a16:creationId xmlns:a16="http://schemas.microsoft.com/office/drawing/2014/main" id="{8F98162B-B433-B1BD-06B2-09760E94F24E}"/>
                </a:ext>
              </a:extLst>
            </p:cNvPr>
            <p:cNvSpPr txBox="1"/>
            <p:nvPr/>
          </p:nvSpPr>
          <p:spPr>
            <a:xfrm>
              <a:off x="1855425" y="3838582"/>
              <a:ext cx="360000" cy="360000"/>
            </a:xfrm>
            <a:prstGeom prst="rect">
              <a:avLst/>
            </a:prstGeom>
            <a:noFill/>
            <a:ln>
              <a:noFill/>
            </a:ln>
          </p:spPr>
          <p:txBody>
            <a:bodyPr wrap="none" rtlCol="0">
              <a:noAutofit/>
            </a:bodyPr>
            <a:lstStyle/>
            <a:p>
              <a:r>
                <a:rPr lang="en-US" altLang="zh-CN" sz="1400">
                  <a:solidFill>
                    <a:schemeClr val="bg1"/>
                  </a:solidFill>
                </a:rPr>
                <a:t>0</a:t>
              </a:r>
              <a:endParaRPr lang="zh-CN" altLang="en-US" sz="1400">
                <a:solidFill>
                  <a:schemeClr val="bg1"/>
                </a:solidFill>
              </a:endParaRPr>
            </a:p>
          </p:txBody>
        </p:sp>
        <p:sp>
          <p:nvSpPr>
            <p:cNvPr id="47" name="文本框 46">
              <a:extLst>
                <a:ext uri="{FF2B5EF4-FFF2-40B4-BE49-F238E27FC236}">
                  <a16:creationId xmlns:a16="http://schemas.microsoft.com/office/drawing/2014/main" id="{DA21F6AB-2C93-B6AA-149F-CD2BEAB89712}"/>
                </a:ext>
              </a:extLst>
            </p:cNvPr>
            <p:cNvSpPr txBox="1"/>
            <p:nvPr/>
          </p:nvSpPr>
          <p:spPr>
            <a:xfrm>
              <a:off x="1855425" y="4198582"/>
              <a:ext cx="360000" cy="360000"/>
            </a:xfrm>
            <a:prstGeom prst="rect">
              <a:avLst/>
            </a:prstGeom>
            <a:noFill/>
            <a:ln>
              <a:noFill/>
            </a:ln>
          </p:spPr>
          <p:txBody>
            <a:bodyPr wrap="none" rtlCol="0">
              <a:noAutofit/>
            </a:bodyPr>
            <a:lstStyle/>
            <a:p>
              <a:endParaRPr lang="zh-CN" altLang="en-US" sz="1400">
                <a:solidFill>
                  <a:schemeClr val="bg1"/>
                </a:solidFill>
              </a:endParaRPr>
            </a:p>
          </p:txBody>
        </p:sp>
        <p:sp>
          <p:nvSpPr>
            <p:cNvPr id="48" name="文本框 47">
              <a:extLst>
                <a:ext uri="{FF2B5EF4-FFF2-40B4-BE49-F238E27FC236}">
                  <a16:creationId xmlns:a16="http://schemas.microsoft.com/office/drawing/2014/main" id="{0596BA14-380A-B929-9853-B3F1F749FABC}"/>
                </a:ext>
              </a:extLst>
            </p:cNvPr>
            <p:cNvSpPr txBox="1"/>
            <p:nvPr/>
          </p:nvSpPr>
          <p:spPr>
            <a:xfrm>
              <a:off x="1495425" y="4044693"/>
              <a:ext cx="303288" cy="307777"/>
            </a:xfrm>
            <a:prstGeom prst="rect">
              <a:avLst/>
            </a:prstGeom>
            <a:noFill/>
            <a:ln>
              <a:noFill/>
            </a:ln>
          </p:spPr>
          <p:txBody>
            <a:bodyPr wrap="none" rtlCol="0" anchor="ctr" anchorCtr="0">
              <a:noAutofit/>
            </a:bodyPr>
            <a:lstStyle/>
            <a:p>
              <a:pPr algn="ctr"/>
              <a:r>
                <a:rPr lang="en-US" altLang="zh-CN" sz="1400">
                  <a:solidFill>
                    <a:schemeClr val="bg1"/>
                  </a:solidFill>
                </a:rPr>
                <a:t>4</a:t>
              </a:r>
              <a:endParaRPr lang="zh-CN" altLang="en-US" sz="1400">
                <a:solidFill>
                  <a:schemeClr val="bg1"/>
                </a:solidFill>
              </a:endParaRPr>
            </a:p>
          </p:txBody>
        </p:sp>
        <p:cxnSp>
          <p:nvCxnSpPr>
            <p:cNvPr id="49" name="直接连接符 48">
              <a:extLst>
                <a:ext uri="{FF2B5EF4-FFF2-40B4-BE49-F238E27FC236}">
                  <a16:creationId xmlns:a16="http://schemas.microsoft.com/office/drawing/2014/main" id="{93B29317-34D9-9135-E80D-99F960982D66}"/>
                </a:ext>
              </a:extLst>
            </p:cNvPr>
            <p:cNvCxnSpPr>
              <a:cxnSpLocks/>
            </p:cNvCxnSpPr>
            <p:nvPr/>
          </p:nvCxnSpPr>
          <p:spPr>
            <a:xfrm>
              <a:off x="1855425" y="3838582"/>
              <a:ext cx="0" cy="72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3BF490E2-B75A-CB56-1CB9-3726C3EADB4C}"/>
                </a:ext>
              </a:extLst>
            </p:cNvPr>
            <p:cNvCxnSpPr>
              <a:cxnSpLocks/>
            </p:cNvCxnSpPr>
            <p:nvPr/>
          </p:nvCxnSpPr>
          <p:spPr>
            <a:xfrm rot="5400000">
              <a:off x="2035425" y="4018582"/>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51" name="组合 50">
            <a:extLst>
              <a:ext uri="{FF2B5EF4-FFF2-40B4-BE49-F238E27FC236}">
                <a16:creationId xmlns:a16="http://schemas.microsoft.com/office/drawing/2014/main" id="{BBD05E93-C9DC-DA30-7508-212F6708FFAC}"/>
              </a:ext>
            </a:extLst>
          </p:cNvPr>
          <p:cNvGrpSpPr/>
          <p:nvPr/>
        </p:nvGrpSpPr>
        <p:grpSpPr>
          <a:xfrm>
            <a:off x="5899763" y="4779167"/>
            <a:ext cx="720000" cy="720000"/>
            <a:chOff x="1495425" y="3838582"/>
            <a:chExt cx="720000" cy="720000"/>
          </a:xfrm>
        </p:grpSpPr>
        <p:sp>
          <p:nvSpPr>
            <p:cNvPr id="52" name="椭圆 51">
              <a:extLst>
                <a:ext uri="{FF2B5EF4-FFF2-40B4-BE49-F238E27FC236}">
                  <a16:creationId xmlns:a16="http://schemas.microsoft.com/office/drawing/2014/main" id="{79335525-B450-9913-F18D-B70C86C78DAE}"/>
                </a:ext>
              </a:extLst>
            </p:cNvPr>
            <p:cNvSpPr/>
            <p:nvPr/>
          </p:nvSpPr>
          <p:spPr>
            <a:xfrm>
              <a:off x="1495425" y="3838582"/>
              <a:ext cx="720000" cy="72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400"/>
            </a:p>
          </p:txBody>
        </p:sp>
        <p:sp>
          <p:nvSpPr>
            <p:cNvPr id="53" name="文本框 52">
              <a:extLst>
                <a:ext uri="{FF2B5EF4-FFF2-40B4-BE49-F238E27FC236}">
                  <a16:creationId xmlns:a16="http://schemas.microsoft.com/office/drawing/2014/main" id="{91F0DF7E-486A-F414-1FC3-07A1594F963B}"/>
                </a:ext>
              </a:extLst>
            </p:cNvPr>
            <p:cNvSpPr txBox="1"/>
            <p:nvPr/>
          </p:nvSpPr>
          <p:spPr>
            <a:xfrm>
              <a:off x="1855425" y="3838582"/>
              <a:ext cx="360000" cy="360000"/>
            </a:xfrm>
            <a:prstGeom prst="rect">
              <a:avLst/>
            </a:prstGeom>
            <a:noFill/>
            <a:ln>
              <a:noFill/>
            </a:ln>
          </p:spPr>
          <p:txBody>
            <a:bodyPr wrap="none" rtlCol="0">
              <a:noAutofit/>
            </a:bodyPr>
            <a:lstStyle/>
            <a:p>
              <a:r>
                <a:rPr lang="en-US" altLang="zh-CN" sz="1400">
                  <a:solidFill>
                    <a:srgbClr val="FFFF00"/>
                  </a:solidFill>
                </a:rPr>
                <a:t>4</a:t>
              </a:r>
              <a:endParaRPr lang="zh-CN" altLang="en-US" sz="1400">
                <a:solidFill>
                  <a:srgbClr val="FFFF00"/>
                </a:solidFill>
              </a:endParaRPr>
            </a:p>
          </p:txBody>
        </p:sp>
        <p:sp>
          <p:nvSpPr>
            <p:cNvPr id="54" name="文本框 53">
              <a:extLst>
                <a:ext uri="{FF2B5EF4-FFF2-40B4-BE49-F238E27FC236}">
                  <a16:creationId xmlns:a16="http://schemas.microsoft.com/office/drawing/2014/main" id="{3ED1DE09-2657-E1F9-1137-5B5DAF4D3DC8}"/>
                </a:ext>
              </a:extLst>
            </p:cNvPr>
            <p:cNvSpPr txBox="1"/>
            <p:nvPr/>
          </p:nvSpPr>
          <p:spPr>
            <a:xfrm>
              <a:off x="1855425" y="4198582"/>
              <a:ext cx="360000" cy="360000"/>
            </a:xfrm>
            <a:prstGeom prst="rect">
              <a:avLst/>
            </a:prstGeom>
            <a:noFill/>
            <a:ln>
              <a:noFill/>
            </a:ln>
          </p:spPr>
          <p:txBody>
            <a:bodyPr wrap="none" rtlCol="0">
              <a:noAutofit/>
            </a:bodyPr>
            <a:lstStyle/>
            <a:p>
              <a:endParaRPr lang="zh-CN" altLang="en-US" sz="1400"/>
            </a:p>
          </p:txBody>
        </p:sp>
        <p:sp>
          <p:nvSpPr>
            <p:cNvPr id="55" name="文本框 54">
              <a:extLst>
                <a:ext uri="{FF2B5EF4-FFF2-40B4-BE49-F238E27FC236}">
                  <a16:creationId xmlns:a16="http://schemas.microsoft.com/office/drawing/2014/main" id="{DC47CAA9-766E-93F4-E753-2B79D07E07F9}"/>
                </a:ext>
              </a:extLst>
            </p:cNvPr>
            <p:cNvSpPr txBox="1"/>
            <p:nvPr/>
          </p:nvSpPr>
          <p:spPr>
            <a:xfrm>
              <a:off x="1500234" y="4044693"/>
              <a:ext cx="293671" cy="307777"/>
            </a:xfrm>
            <a:prstGeom prst="rect">
              <a:avLst/>
            </a:prstGeom>
            <a:noFill/>
            <a:ln>
              <a:noFill/>
            </a:ln>
          </p:spPr>
          <p:txBody>
            <a:bodyPr wrap="none" rtlCol="0" anchor="ctr" anchorCtr="0">
              <a:noAutofit/>
            </a:bodyPr>
            <a:lstStyle/>
            <a:p>
              <a:pPr algn="ctr"/>
              <a:r>
                <a:rPr lang="en-US" altLang="zh-CN" sz="1400">
                  <a:solidFill>
                    <a:schemeClr val="bg1"/>
                  </a:solidFill>
                </a:rPr>
                <a:t>6</a:t>
              </a:r>
              <a:endParaRPr lang="zh-CN" altLang="en-US" sz="1400">
                <a:solidFill>
                  <a:schemeClr val="bg1"/>
                </a:solidFill>
              </a:endParaRPr>
            </a:p>
          </p:txBody>
        </p:sp>
        <p:cxnSp>
          <p:nvCxnSpPr>
            <p:cNvPr id="56" name="直接连接符 55">
              <a:extLst>
                <a:ext uri="{FF2B5EF4-FFF2-40B4-BE49-F238E27FC236}">
                  <a16:creationId xmlns:a16="http://schemas.microsoft.com/office/drawing/2014/main" id="{EDF16111-32C5-1921-030E-049121A476EE}"/>
                </a:ext>
              </a:extLst>
            </p:cNvPr>
            <p:cNvCxnSpPr>
              <a:cxnSpLocks/>
            </p:cNvCxnSpPr>
            <p:nvPr/>
          </p:nvCxnSpPr>
          <p:spPr>
            <a:xfrm>
              <a:off x="1855425" y="3838582"/>
              <a:ext cx="0" cy="72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FF9355EE-8C00-5EE9-B933-F553632374F5}"/>
                </a:ext>
              </a:extLst>
            </p:cNvPr>
            <p:cNvCxnSpPr>
              <a:cxnSpLocks/>
            </p:cNvCxnSpPr>
            <p:nvPr/>
          </p:nvCxnSpPr>
          <p:spPr>
            <a:xfrm rot="5400000">
              <a:off x="2035425" y="4018582"/>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58" name="组合 57">
            <a:extLst>
              <a:ext uri="{FF2B5EF4-FFF2-40B4-BE49-F238E27FC236}">
                <a16:creationId xmlns:a16="http://schemas.microsoft.com/office/drawing/2014/main" id="{89588942-6F0F-5D3B-5DA6-8E6FBF0B5E9F}"/>
              </a:ext>
            </a:extLst>
          </p:cNvPr>
          <p:cNvGrpSpPr/>
          <p:nvPr/>
        </p:nvGrpSpPr>
        <p:grpSpPr>
          <a:xfrm>
            <a:off x="5899763" y="2884666"/>
            <a:ext cx="720000" cy="720000"/>
            <a:chOff x="1495425" y="3838582"/>
            <a:chExt cx="720000" cy="720000"/>
          </a:xfrm>
        </p:grpSpPr>
        <p:sp>
          <p:nvSpPr>
            <p:cNvPr id="59" name="椭圆 58">
              <a:extLst>
                <a:ext uri="{FF2B5EF4-FFF2-40B4-BE49-F238E27FC236}">
                  <a16:creationId xmlns:a16="http://schemas.microsoft.com/office/drawing/2014/main" id="{E948D074-A6FC-CE31-1946-98EB98646A42}"/>
                </a:ext>
              </a:extLst>
            </p:cNvPr>
            <p:cNvSpPr/>
            <p:nvPr/>
          </p:nvSpPr>
          <p:spPr>
            <a:xfrm>
              <a:off x="1495425" y="3838582"/>
              <a:ext cx="720000" cy="72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400">
                <a:solidFill>
                  <a:schemeClr val="bg1"/>
                </a:solidFill>
              </a:endParaRPr>
            </a:p>
          </p:txBody>
        </p:sp>
        <p:sp>
          <p:nvSpPr>
            <p:cNvPr id="60" name="文本框 59">
              <a:extLst>
                <a:ext uri="{FF2B5EF4-FFF2-40B4-BE49-F238E27FC236}">
                  <a16:creationId xmlns:a16="http://schemas.microsoft.com/office/drawing/2014/main" id="{DD52194C-7CE2-4A5F-BCF2-6E79FB41EFCD}"/>
                </a:ext>
              </a:extLst>
            </p:cNvPr>
            <p:cNvSpPr txBox="1"/>
            <p:nvPr/>
          </p:nvSpPr>
          <p:spPr>
            <a:xfrm>
              <a:off x="1855425" y="3838582"/>
              <a:ext cx="360000" cy="360000"/>
            </a:xfrm>
            <a:prstGeom prst="rect">
              <a:avLst/>
            </a:prstGeom>
            <a:noFill/>
            <a:ln>
              <a:noFill/>
            </a:ln>
          </p:spPr>
          <p:txBody>
            <a:bodyPr wrap="none" rtlCol="0">
              <a:noAutofit/>
            </a:bodyPr>
            <a:lstStyle/>
            <a:p>
              <a:r>
                <a:rPr lang="en-US" altLang="zh-CN" sz="1400">
                  <a:solidFill>
                    <a:schemeClr val="bg1"/>
                  </a:solidFill>
                </a:rPr>
                <a:t>4</a:t>
              </a:r>
              <a:endParaRPr lang="zh-CN" altLang="en-US" sz="1400">
                <a:solidFill>
                  <a:schemeClr val="bg1"/>
                </a:solidFill>
              </a:endParaRPr>
            </a:p>
          </p:txBody>
        </p:sp>
        <p:sp>
          <p:nvSpPr>
            <p:cNvPr id="61" name="文本框 60">
              <a:extLst>
                <a:ext uri="{FF2B5EF4-FFF2-40B4-BE49-F238E27FC236}">
                  <a16:creationId xmlns:a16="http://schemas.microsoft.com/office/drawing/2014/main" id="{618A3742-C59F-65D9-974B-F151728EB54B}"/>
                </a:ext>
              </a:extLst>
            </p:cNvPr>
            <p:cNvSpPr txBox="1"/>
            <p:nvPr/>
          </p:nvSpPr>
          <p:spPr>
            <a:xfrm>
              <a:off x="1855425" y="4198582"/>
              <a:ext cx="360000" cy="360000"/>
            </a:xfrm>
            <a:prstGeom prst="rect">
              <a:avLst/>
            </a:prstGeom>
            <a:noFill/>
            <a:ln>
              <a:noFill/>
            </a:ln>
          </p:spPr>
          <p:txBody>
            <a:bodyPr wrap="none" rtlCol="0">
              <a:noAutofit/>
            </a:bodyPr>
            <a:lstStyle/>
            <a:p>
              <a:endParaRPr lang="zh-CN" altLang="en-US" sz="1400">
                <a:solidFill>
                  <a:schemeClr val="bg1"/>
                </a:solidFill>
              </a:endParaRPr>
            </a:p>
          </p:txBody>
        </p:sp>
        <p:sp>
          <p:nvSpPr>
            <p:cNvPr id="62" name="文本框 61">
              <a:extLst>
                <a:ext uri="{FF2B5EF4-FFF2-40B4-BE49-F238E27FC236}">
                  <a16:creationId xmlns:a16="http://schemas.microsoft.com/office/drawing/2014/main" id="{2C6D3916-FACC-E9E9-F15A-FD0B248028F7}"/>
                </a:ext>
              </a:extLst>
            </p:cNvPr>
            <p:cNvSpPr txBox="1"/>
            <p:nvPr/>
          </p:nvSpPr>
          <p:spPr>
            <a:xfrm>
              <a:off x="1504241" y="4044693"/>
              <a:ext cx="285656" cy="307777"/>
            </a:xfrm>
            <a:prstGeom prst="rect">
              <a:avLst/>
            </a:prstGeom>
            <a:noFill/>
            <a:ln>
              <a:noFill/>
            </a:ln>
          </p:spPr>
          <p:txBody>
            <a:bodyPr wrap="none" rtlCol="0" anchor="ctr" anchorCtr="0">
              <a:noAutofit/>
            </a:bodyPr>
            <a:lstStyle/>
            <a:p>
              <a:pPr algn="ctr"/>
              <a:r>
                <a:rPr lang="en-US" altLang="zh-CN" sz="1400">
                  <a:solidFill>
                    <a:schemeClr val="bg1"/>
                  </a:solidFill>
                </a:rPr>
                <a:t>5</a:t>
              </a:r>
              <a:endParaRPr lang="zh-CN" altLang="en-US" sz="1400">
                <a:solidFill>
                  <a:schemeClr val="bg1"/>
                </a:solidFill>
              </a:endParaRPr>
            </a:p>
          </p:txBody>
        </p:sp>
        <p:cxnSp>
          <p:nvCxnSpPr>
            <p:cNvPr id="63" name="直接连接符 62">
              <a:extLst>
                <a:ext uri="{FF2B5EF4-FFF2-40B4-BE49-F238E27FC236}">
                  <a16:creationId xmlns:a16="http://schemas.microsoft.com/office/drawing/2014/main" id="{6A570435-3134-4862-1269-0056E9CDDE57}"/>
                </a:ext>
              </a:extLst>
            </p:cNvPr>
            <p:cNvCxnSpPr>
              <a:cxnSpLocks/>
            </p:cNvCxnSpPr>
            <p:nvPr/>
          </p:nvCxnSpPr>
          <p:spPr>
            <a:xfrm>
              <a:off x="1855425" y="3838582"/>
              <a:ext cx="0" cy="72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635DC142-BF97-1AD6-2FEE-0B432F8A5407}"/>
                </a:ext>
              </a:extLst>
            </p:cNvPr>
            <p:cNvCxnSpPr>
              <a:cxnSpLocks/>
            </p:cNvCxnSpPr>
            <p:nvPr/>
          </p:nvCxnSpPr>
          <p:spPr>
            <a:xfrm rot="5400000">
              <a:off x="2035425" y="4018582"/>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65" name="组合 64">
            <a:extLst>
              <a:ext uri="{FF2B5EF4-FFF2-40B4-BE49-F238E27FC236}">
                <a16:creationId xmlns:a16="http://schemas.microsoft.com/office/drawing/2014/main" id="{A159D951-A359-E623-308D-0E6AA46F1A31}"/>
              </a:ext>
            </a:extLst>
          </p:cNvPr>
          <p:cNvGrpSpPr/>
          <p:nvPr/>
        </p:nvGrpSpPr>
        <p:grpSpPr>
          <a:xfrm>
            <a:off x="7598138" y="2884666"/>
            <a:ext cx="720000" cy="720000"/>
            <a:chOff x="1495425" y="3838582"/>
            <a:chExt cx="720000" cy="720000"/>
          </a:xfrm>
        </p:grpSpPr>
        <p:sp>
          <p:nvSpPr>
            <p:cNvPr id="66" name="椭圆 65">
              <a:extLst>
                <a:ext uri="{FF2B5EF4-FFF2-40B4-BE49-F238E27FC236}">
                  <a16:creationId xmlns:a16="http://schemas.microsoft.com/office/drawing/2014/main" id="{B99BD0C3-C263-B66B-67B4-8B830FA9889B}"/>
                </a:ext>
              </a:extLst>
            </p:cNvPr>
            <p:cNvSpPr/>
            <p:nvPr/>
          </p:nvSpPr>
          <p:spPr>
            <a:xfrm>
              <a:off x="1495425" y="3838582"/>
              <a:ext cx="720000" cy="72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400">
                <a:solidFill>
                  <a:schemeClr val="bg1"/>
                </a:solidFill>
              </a:endParaRPr>
            </a:p>
          </p:txBody>
        </p:sp>
        <p:sp>
          <p:nvSpPr>
            <p:cNvPr id="67" name="文本框 66">
              <a:extLst>
                <a:ext uri="{FF2B5EF4-FFF2-40B4-BE49-F238E27FC236}">
                  <a16:creationId xmlns:a16="http://schemas.microsoft.com/office/drawing/2014/main" id="{485275BB-5086-F951-EF64-ABF56169D6D2}"/>
                </a:ext>
              </a:extLst>
            </p:cNvPr>
            <p:cNvSpPr txBox="1"/>
            <p:nvPr/>
          </p:nvSpPr>
          <p:spPr>
            <a:xfrm>
              <a:off x="1855425" y="3838582"/>
              <a:ext cx="360000" cy="360000"/>
            </a:xfrm>
            <a:prstGeom prst="rect">
              <a:avLst/>
            </a:prstGeom>
            <a:noFill/>
            <a:ln>
              <a:noFill/>
            </a:ln>
          </p:spPr>
          <p:txBody>
            <a:bodyPr wrap="none" rtlCol="0">
              <a:noAutofit/>
            </a:bodyPr>
            <a:lstStyle/>
            <a:p>
              <a:r>
                <a:rPr lang="en-US" altLang="zh-CN" sz="1400">
                  <a:solidFill>
                    <a:schemeClr val="bg1"/>
                  </a:solidFill>
                </a:rPr>
                <a:t>9</a:t>
              </a:r>
              <a:endParaRPr lang="zh-CN" altLang="en-US" sz="1400">
                <a:solidFill>
                  <a:schemeClr val="bg1"/>
                </a:solidFill>
              </a:endParaRPr>
            </a:p>
          </p:txBody>
        </p:sp>
        <p:sp>
          <p:nvSpPr>
            <p:cNvPr id="68" name="文本框 67">
              <a:extLst>
                <a:ext uri="{FF2B5EF4-FFF2-40B4-BE49-F238E27FC236}">
                  <a16:creationId xmlns:a16="http://schemas.microsoft.com/office/drawing/2014/main" id="{7B757852-965D-0797-9423-750360F7865F}"/>
                </a:ext>
              </a:extLst>
            </p:cNvPr>
            <p:cNvSpPr txBox="1"/>
            <p:nvPr/>
          </p:nvSpPr>
          <p:spPr>
            <a:xfrm>
              <a:off x="1855425" y="4198582"/>
              <a:ext cx="360000" cy="360000"/>
            </a:xfrm>
            <a:prstGeom prst="rect">
              <a:avLst/>
            </a:prstGeom>
            <a:noFill/>
            <a:ln>
              <a:noFill/>
            </a:ln>
          </p:spPr>
          <p:txBody>
            <a:bodyPr wrap="none" rtlCol="0">
              <a:noAutofit/>
            </a:bodyPr>
            <a:lstStyle/>
            <a:p>
              <a:endParaRPr lang="zh-CN" altLang="en-US" sz="1400">
                <a:solidFill>
                  <a:schemeClr val="bg1"/>
                </a:solidFill>
              </a:endParaRPr>
            </a:p>
          </p:txBody>
        </p:sp>
        <p:sp>
          <p:nvSpPr>
            <p:cNvPr id="69" name="文本框 68">
              <a:extLst>
                <a:ext uri="{FF2B5EF4-FFF2-40B4-BE49-F238E27FC236}">
                  <a16:creationId xmlns:a16="http://schemas.microsoft.com/office/drawing/2014/main" id="{F4F78AD9-09BF-3341-8F3C-4B9AC3F83B0F}"/>
                </a:ext>
              </a:extLst>
            </p:cNvPr>
            <p:cNvSpPr txBox="1"/>
            <p:nvPr/>
          </p:nvSpPr>
          <p:spPr>
            <a:xfrm>
              <a:off x="1501837" y="4044693"/>
              <a:ext cx="290464" cy="307777"/>
            </a:xfrm>
            <a:prstGeom prst="rect">
              <a:avLst/>
            </a:prstGeom>
            <a:noFill/>
            <a:ln>
              <a:noFill/>
            </a:ln>
          </p:spPr>
          <p:txBody>
            <a:bodyPr wrap="none" rtlCol="0" anchor="ctr" anchorCtr="0">
              <a:noAutofit/>
            </a:bodyPr>
            <a:lstStyle/>
            <a:p>
              <a:pPr algn="ctr"/>
              <a:r>
                <a:rPr lang="en-US" altLang="zh-CN" sz="1400">
                  <a:solidFill>
                    <a:schemeClr val="bg1"/>
                  </a:solidFill>
                </a:rPr>
                <a:t>7</a:t>
              </a:r>
              <a:endParaRPr lang="zh-CN" altLang="en-US" sz="1400">
                <a:solidFill>
                  <a:schemeClr val="bg1"/>
                </a:solidFill>
              </a:endParaRPr>
            </a:p>
          </p:txBody>
        </p:sp>
        <p:cxnSp>
          <p:nvCxnSpPr>
            <p:cNvPr id="70" name="直接连接符 69">
              <a:extLst>
                <a:ext uri="{FF2B5EF4-FFF2-40B4-BE49-F238E27FC236}">
                  <a16:creationId xmlns:a16="http://schemas.microsoft.com/office/drawing/2014/main" id="{C21414CA-07C2-9A0E-96C9-BF18BC2014DB}"/>
                </a:ext>
              </a:extLst>
            </p:cNvPr>
            <p:cNvCxnSpPr>
              <a:cxnSpLocks/>
            </p:cNvCxnSpPr>
            <p:nvPr/>
          </p:nvCxnSpPr>
          <p:spPr>
            <a:xfrm>
              <a:off x="1855425" y="3838582"/>
              <a:ext cx="0" cy="72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9971469A-182B-9776-70DA-F5EE679DF51D}"/>
                </a:ext>
              </a:extLst>
            </p:cNvPr>
            <p:cNvCxnSpPr>
              <a:cxnSpLocks/>
            </p:cNvCxnSpPr>
            <p:nvPr/>
          </p:nvCxnSpPr>
          <p:spPr>
            <a:xfrm rot="5400000">
              <a:off x="2035425" y="4018582"/>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72" name="组合 71">
            <a:extLst>
              <a:ext uri="{FF2B5EF4-FFF2-40B4-BE49-F238E27FC236}">
                <a16:creationId xmlns:a16="http://schemas.microsoft.com/office/drawing/2014/main" id="{864F43F5-1FCD-1171-49C4-1B33F7EDCD1B}"/>
              </a:ext>
            </a:extLst>
          </p:cNvPr>
          <p:cNvGrpSpPr/>
          <p:nvPr/>
        </p:nvGrpSpPr>
        <p:grpSpPr>
          <a:xfrm>
            <a:off x="7593563" y="4779167"/>
            <a:ext cx="720000" cy="720000"/>
            <a:chOff x="1495425" y="3838582"/>
            <a:chExt cx="720000" cy="720000"/>
          </a:xfrm>
        </p:grpSpPr>
        <p:sp>
          <p:nvSpPr>
            <p:cNvPr id="73" name="椭圆 72">
              <a:extLst>
                <a:ext uri="{FF2B5EF4-FFF2-40B4-BE49-F238E27FC236}">
                  <a16:creationId xmlns:a16="http://schemas.microsoft.com/office/drawing/2014/main" id="{8D81C921-7B80-7EB3-01C8-3893119FE4A0}"/>
                </a:ext>
              </a:extLst>
            </p:cNvPr>
            <p:cNvSpPr/>
            <p:nvPr/>
          </p:nvSpPr>
          <p:spPr>
            <a:xfrm>
              <a:off x="1495425" y="3838582"/>
              <a:ext cx="720000" cy="72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400"/>
            </a:p>
          </p:txBody>
        </p:sp>
        <p:sp>
          <p:nvSpPr>
            <p:cNvPr id="74" name="文本框 73">
              <a:extLst>
                <a:ext uri="{FF2B5EF4-FFF2-40B4-BE49-F238E27FC236}">
                  <a16:creationId xmlns:a16="http://schemas.microsoft.com/office/drawing/2014/main" id="{0BEB4CED-6ADE-8C0B-9019-88DD3752A439}"/>
                </a:ext>
              </a:extLst>
            </p:cNvPr>
            <p:cNvSpPr txBox="1"/>
            <p:nvPr/>
          </p:nvSpPr>
          <p:spPr>
            <a:xfrm>
              <a:off x="1855425" y="3838582"/>
              <a:ext cx="360000" cy="360000"/>
            </a:xfrm>
            <a:prstGeom prst="rect">
              <a:avLst/>
            </a:prstGeom>
            <a:noFill/>
            <a:ln>
              <a:noFill/>
            </a:ln>
          </p:spPr>
          <p:txBody>
            <a:bodyPr wrap="none" rtlCol="0">
              <a:noAutofit/>
            </a:bodyPr>
            <a:lstStyle/>
            <a:p>
              <a:r>
                <a:rPr lang="en-US" altLang="zh-CN" sz="1400">
                  <a:solidFill>
                    <a:srgbClr val="FFFF00"/>
                  </a:solidFill>
                </a:rPr>
                <a:t>9</a:t>
              </a:r>
              <a:endParaRPr lang="zh-CN" altLang="en-US" sz="1400">
                <a:solidFill>
                  <a:srgbClr val="FFFF00"/>
                </a:solidFill>
              </a:endParaRPr>
            </a:p>
          </p:txBody>
        </p:sp>
        <p:sp>
          <p:nvSpPr>
            <p:cNvPr id="75" name="文本框 74">
              <a:extLst>
                <a:ext uri="{FF2B5EF4-FFF2-40B4-BE49-F238E27FC236}">
                  <a16:creationId xmlns:a16="http://schemas.microsoft.com/office/drawing/2014/main" id="{C7FFCA3B-047D-82A7-6185-FD5524D79792}"/>
                </a:ext>
              </a:extLst>
            </p:cNvPr>
            <p:cNvSpPr txBox="1"/>
            <p:nvPr/>
          </p:nvSpPr>
          <p:spPr>
            <a:xfrm>
              <a:off x="1855425" y="4198582"/>
              <a:ext cx="360000" cy="360000"/>
            </a:xfrm>
            <a:prstGeom prst="rect">
              <a:avLst/>
            </a:prstGeom>
            <a:noFill/>
            <a:ln>
              <a:noFill/>
            </a:ln>
          </p:spPr>
          <p:txBody>
            <a:bodyPr wrap="none" rtlCol="0">
              <a:noAutofit/>
            </a:bodyPr>
            <a:lstStyle/>
            <a:p>
              <a:endParaRPr lang="zh-CN" altLang="en-US" sz="1400"/>
            </a:p>
          </p:txBody>
        </p:sp>
        <p:sp>
          <p:nvSpPr>
            <p:cNvPr id="76" name="文本框 75">
              <a:extLst>
                <a:ext uri="{FF2B5EF4-FFF2-40B4-BE49-F238E27FC236}">
                  <a16:creationId xmlns:a16="http://schemas.microsoft.com/office/drawing/2014/main" id="{5111B45B-D956-5E20-6214-2D8B839B6B4F}"/>
                </a:ext>
              </a:extLst>
            </p:cNvPr>
            <p:cNvSpPr txBox="1"/>
            <p:nvPr/>
          </p:nvSpPr>
          <p:spPr>
            <a:xfrm>
              <a:off x="1506412" y="4040027"/>
              <a:ext cx="298480" cy="307777"/>
            </a:xfrm>
            <a:prstGeom prst="rect">
              <a:avLst/>
            </a:prstGeom>
            <a:noFill/>
            <a:ln>
              <a:noFill/>
            </a:ln>
          </p:spPr>
          <p:txBody>
            <a:bodyPr wrap="none" rtlCol="0" anchor="ctr" anchorCtr="0">
              <a:noAutofit/>
            </a:bodyPr>
            <a:lstStyle/>
            <a:p>
              <a:pPr algn="ctr"/>
              <a:r>
                <a:rPr lang="en-US" altLang="zh-CN" sz="1400">
                  <a:solidFill>
                    <a:schemeClr val="bg1"/>
                  </a:solidFill>
                </a:rPr>
                <a:t>8</a:t>
              </a:r>
              <a:endParaRPr lang="zh-CN" altLang="en-US" sz="1400">
                <a:solidFill>
                  <a:schemeClr val="bg1"/>
                </a:solidFill>
              </a:endParaRPr>
            </a:p>
          </p:txBody>
        </p:sp>
        <p:cxnSp>
          <p:nvCxnSpPr>
            <p:cNvPr id="77" name="直接连接符 76">
              <a:extLst>
                <a:ext uri="{FF2B5EF4-FFF2-40B4-BE49-F238E27FC236}">
                  <a16:creationId xmlns:a16="http://schemas.microsoft.com/office/drawing/2014/main" id="{7969EF8D-9E84-933F-2ABF-2AFF47F2FA31}"/>
                </a:ext>
              </a:extLst>
            </p:cNvPr>
            <p:cNvCxnSpPr>
              <a:cxnSpLocks/>
            </p:cNvCxnSpPr>
            <p:nvPr/>
          </p:nvCxnSpPr>
          <p:spPr>
            <a:xfrm>
              <a:off x="1855425" y="3838582"/>
              <a:ext cx="0" cy="72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EEACFFE4-793D-54CE-A3BE-7CB0627207A8}"/>
                </a:ext>
              </a:extLst>
            </p:cNvPr>
            <p:cNvCxnSpPr>
              <a:cxnSpLocks/>
            </p:cNvCxnSpPr>
            <p:nvPr/>
          </p:nvCxnSpPr>
          <p:spPr>
            <a:xfrm rot="5400000">
              <a:off x="2035425" y="4018582"/>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79" name="组合 78">
            <a:extLst>
              <a:ext uri="{FF2B5EF4-FFF2-40B4-BE49-F238E27FC236}">
                <a16:creationId xmlns:a16="http://schemas.microsoft.com/office/drawing/2014/main" id="{34488A61-A025-58DC-3CFF-52A7B0D72F3C}"/>
              </a:ext>
            </a:extLst>
          </p:cNvPr>
          <p:cNvGrpSpPr/>
          <p:nvPr/>
        </p:nvGrpSpPr>
        <p:grpSpPr>
          <a:xfrm>
            <a:off x="9236438" y="3493292"/>
            <a:ext cx="720000" cy="720000"/>
            <a:chOff x="1495425" y="3838582"/>
            <a:chExt cx="720000" cy="720000"/>
          </a:xfrm>
        </p:grpSpPr>
        <p:sp>
          <p:nvSpPr>
            <p:cNvPr id="80" name="椭圆 79">
              <a:extLst>
                <a:ext uri="{FF2B5EF4-FFF2-40B4-BE49-F238E27FC236}">
                  <a16:creationId xmlns:a16="http://schemas.microsoft.com/office/drawing/2014/main" id="{1CC06099-4FE8-9C95-2240-D9F753244C85}"/>
                </a:ext>
              </a:extLst>
            </p:cNvPr>
            <p:cNvSpPr/>
            <p:nvPr/>
          </p:nvSpPr>
          <p:spPr>
            <a:xfrm>
              <a:off x="1495425" y="3838582"/>
              <a:ext cx="720000" cy="72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400"/>
            </a:p>
          </p:txBody>
        </p:sp>
        <p:sp>
          <p:nvSpPr>
            <p:cNvPr id="81" name="文本框 80">
              <a:extLst>
                <a:ext uri="{FF2B5EF4-FFF2-40B4-BE49-F238E27FC236}">
                  <a16:creationId xmlns:a16="http://schemas.microsoft.com/office/drawing/2014/main" id="{B7A3BBDF-D50A-D3B6-5DFF-B374FEC3702E}"/>
                </a:ext>
              </a:extLst>
            </p:cNvPr>
            <p:cNvSpPr txBox="1"/>
            <p:nvPr/>
          </p:nvSpPr>
          <p:spPr>
            <a:xfrm>
              <a:off x="1855425" y="3838582"/>
              <a:ext cx="360000" cy="360000"/>
            </a:xfrm>
            <a:prstGeom prst="rect">
              <a:avLst/>
            </a:prstGeom>
            <a:noFill/>
            <a:ln>
              <a:noFill/>
            </a:ln>
          </p:spPr>
          <p:txBody>
            <a:bodyPr wrap="none" rtlCol="0">
              <a:noAutofit/>
            </a:bodyPr>
            <a:lstStyle/>
            <a:p>
              <a:r>
                <a:rPr lang="en-US" altLang="zh-CN" sz="1400">
                  <a:solidFill>
                    <a:srgbClr val="FFFF00"/>
                  </a:solidFill>
                </a:rPr>
                <a:t>15</a:t>
              </a:r>
              <a:endParaRPr lang="zh-CN" altLang="en-US" sz="1400">
                <a:solidFill>
                  <a:srgbClr val="FFFF00"/>
                </a:solidFill>
              </a:endParaRPr>
            </a:p>
          </p:txBody>
        </p:sp>
        <p:sp>
          <p:nvSpPr>
            <p:cNvPr id="82" name="文本框 81">
              <a:extLst>
                <a:ext uri="{FF2B5EF4-FFF2-40B4-BE49-F238E27FC236}">
                  <a16:creationId xmlns:a16="http://schemas.microsoft.com/office/drawing/2014/main" id="{AF0F7C6A-0C62-4B6E-8C54-9B041B00BAB7}"/>
                </a:ext>
              </a:extLst>
            </p:cNvPr>
            <p:cNvSpPr txBox="1"/>
            <p:nvPr/>
          </p:nvSpPr>
          <p:spPr>
            <a:xfrm>
              <a:off x="1855425" y="4198582"/>
              <a:ext cx="360000" cy="360000"/>
            </a:xfrm>
            <a:prstGeom prst="rect">
              <a:avLst/>
            </a:prstGeom>
            <a:noFill/>
            <a:ln>
              <a:noFill/>
            </a:ln>
          </p:spPr>
          <p:txBody>
            <a:bodyPr wrap="none" rtlCol="0">
              <a:noAutofit/>
            </a:bodyPr>
            <a:lstStyle/>
            <a:p>
              <a:endParaRPr lang="zh-CN" altLang="en-US" sz="1400"/>
            </a:p>
          </p:txBody>
        </p:sp>
        <p:sp>
          <p:nvSpPr>
            <p:cNvPr id="83" name="文本框 82">
              <a:extLst>
                <a:ext uri="{FF2B5EF4-FFF2-40B4-BE49-F238E27FC236}">
                  <a16:creationId xmlns:a16="http://schemas.microsoft.com/office/drawing/2014/main" id="{D2E1F364-7DD5-EE71-0D16-E8AFA06687BA}"/>
                </a:ext>
              </a:extLst>
            </p:cNvPr>
            <p:cNvSpPr txBox="1"/>
            <p:nvPr/>
          </p:nvSpPr>
          <p:spPr>
            <a:xfrm>
              <a:off x="1500234" y="4044693"/>
              <a:ext cx="293671" cy="307777"/>
            </a:xfrm>
            <a:prstGeom prst="rect">
              <a:avLst/>
            </a:prstGeom>
            <a:noFill/>
            <a:ln>
              <a:noFill/>
            </a:ln>
          </p:spPr>
          <p:txBody>
            <a:bodyPr wrap="none" rtlCol="0" anchor="ctr" anchorCtr="0">
              <a:noAutofit/>
            </a:bodyPr>
            <a:lstStyle/>
            <a:p>
              <a:pPr algn="ctr"/>
              <a:r>
                <a:rPr lang="en-US" altLang="zh-CN" sz="1400">
                  <a:solidFill>
                    <a:schemeClr val="bg1"/>
                  </a:solidFill>
                </a:rPr>
                <a:t>9</a:t>
              </a:r>
              <a:endParaRPr lang="zh-CN" altLang="en-US" sz="1400">
                <a:solidFill>
                  <a:schemeClr val="bg1"/>
                </a:solidFill>
              </a:endParaRPr>
            </a:p>
          </p:txBody>
        </p:sp>
        <p:cxnSp>
          <p:nvCxnSpPr>
            <p:cNvPr id="84" name="直接连接符 83">
              <a:extLst>
                <a:ext uri="{FF2B5EF4-FFF2-40B4-BE49-F238E27FC236}">
                  <a16:creationId xmlns:a16="http://schemas.microsoft.com/office/drawing/2014/main" id="{A2BD037B-3648-D220-CF3E-B0C6B70BBEB4}"/>
                </a:ext>
              </a:extLst>
            </p:cNvPr>
            <p:cNvCxnSpPr>
              <a:cxnSpLocks/>
            </p:cNvCxnSpPr>
            <p:nvPr/>
          </p:nvCxnSpPr>
          <p:spPr>
            <a:xfrm>
              <a:off x="1855425" y="3838582"/>
              <a:ext cx="0" cy="72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F8C8935C-481F-FD26-3733-F2F9CD656B2E}"/>
                </a:ext>
              </a:extLst>
            </p:cNvPr>
            <p:cNvCxnSpPr>
              <a:cxnSpLocks/>
            </p:cNvCxnSpPr>
            <p:nvPr/>
          </p:nvCxnSpPr>
          <p:spPr>
            <a:xfrm rot="5400000">
              <a:off x="2035425" y="4018582"/>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87" name="直接箭头连接符 86">
            <a:extLst>
              <a:ext uri="{FF2B5EF4-FFF2-40B4-BE49-F238E27FC236}">
                <a16:creationId xmlns:a16="http://schemas.microsoft.com/office/drawing/2014/main" id="{65023902-D7C7-C495-3D6A-D47CFFB6D04F}"/>
              </a:ext>
            </a:extLst>
          </p:cNvPr>
          <p:cNvCxnSpPr>
            <a:cxnSpLocks/>
            <a:stCxn id="14" idx="6"/>
            <a:endCxn id="34" idx="1"/>
          </p:cNvCxnSpPr>
          <p:nvPr/>
        </p:nvCxnSpPr>
        <p:spPr>
          <a:xfrm flipV="1">
            <a:off x="2955563" y="3244667"/>
            <a:ext cx="964415" cy="85725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直接箭头连接符 90">
            <a:extLst>
              <a:ext uri="{FF2B5EF4-FFF2-40B4-BE49-F238E27FC236}">
                <a16:creationId xmlns:a16="http://schemas.microsoft.com/office/drawing/2014/main" id="{40A72A92-B7D2-3ECE-275A-11A266213809}"/>
              </a:ext>
            </a:extLst>
          </p:cNvPr>
          <p:cNvCxnSpPr>
            <a:cxnSpLocks/>
            <a:stCxn id="31" idx="6"/>
            <a:endCxn id="62" idx="1"/>
          </p:cNvCxnSpPr>
          <p:nvPr/>
        </p:nvCxnSpPr>
        <p:spPr>
          <a:xfrm flipV="1">
            <a:off x="4631963" y="3244666"/>
            <a:ext cx="1276616" cy="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直接箭头连接符 96">
            <a:extLst>
              <a:ext uri="{FF2B5EF4-FFF2-40B4-BE49-F238E27FC236}">
                <a16:creationId xmlns:a16="http://schemas.microsoft.com/office/drawing/2014/main" id="{E07F9A4E-F42D-8442-A4F0-24A1EE1D4BBD}"/>
              </a:ext>
            </a:extLst>
          </p:cNvPr>
          <p:cNvCxnSpPr>
            <a:cxnSpLocks/>
            <a:stCxn id="59" idx="6"/>
            <a:endCxn id="69" idx="1"/>
          </p:cNvCxnSpPr>
          <p:nvPr/>
        </p:nvCxnSpPr>
        <p:spPr>
          <a:xfrm>
            <a:off x="6619763" y="3244666"/>
            <a:ext cx="984787"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直接箭头连接符 100">
            <a:extLst>
              <a:ext uri="{FF2B5EF4-FFF2-40B4-BE49-F238E27FC236}">
                <a16:creationId xmlns:a16="http://schemas.microsoft.com/office/drawing/2014/main" id="{8B8D3D15-6F08-42A4-33A7-CF2411AEAA9D}"/>
              </a:ext>
            </a:extLst>
          </p:cNvPr>
          <p:cNvCxnSpPr>
            <a:cxnSpLocks/>
            <a:stCxn id="66" idx="6"/>
            <a:endCxn id="83" idx="1"/>
          </p:cNvCxnSpPr>
          <p:nvPr/>
        </p:nvCxnSpPr>
        <p:spPr>
          <a:xfrm>
            <a:off x="8318138" y="3244666"/>
            <a:ext cx="923109" cy="608626"/>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直接箭头连接符 103">
            <a:extLst>
              <a:ext uri="{FF2B5EF4-FFF2-40B4-BE49-F238E27FC236}">
                <a16:creationId xmlns:a16="http://schemas.microsoft.com/office/drawing/2014/main" id="{4CAE82EB-8FD2-AE1F-93B3-6BB9A68EC7F9}"/>
              </a:ext>
            </a:extLst>
          </p:cNvPr>
          <p:cNvCxnSpPr>
            <a:cxnSpLocks/>
            <a:endCxn id="76" idx="1"/>
          </p:cNvCxnSpPr>
          <p:nvPr/>
        </p:nvCxnSpPr>
        <p:spPr>
          <a:xfrm>
            <a:off x="6623538" y="3239999"/>
            <a:ext cx="981012" cy="189450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直接箭头连接符 106">
            <a:extLst>
              <a:ext uri="{FF2B5EF4-FFF2-40B4-BE49-F238E27FC236}">
                <a16:creationId xmlns:a16="http://schemas.microsoft.com/office/drawing/2014/main" id="{086AF576-0AC7-7C9F-255F-206E6DF57EAA}"/>
              </a:ext>
            </a:extLst>
          </p:cNvPr>
          <p:cNvCxnSpPr>
            <a:cxnSpLocks/>
            <a:stCxn id="73" idx="6"/>
            <a:endCxn id="83" idx="1"/>
          </p:cNvCxnSpPr>
          <p:nvPr/>
        </p:nvCxnSpPr>
        <p:spPr>
          <a:xfrm flipV="1">
            <a:off x="8313563" y="3853292"/>
            <a:ext cx="927684" cy="128587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直接箭头连接符 109">
            <a:extLst>
              <a:ext uri="{FF2B5EF4-FFF2-40B4-BE49-F238E27FC236}">
                <a16:creationId xmlns:a16="http://schemas.microsoft.com/office/drawing/2014/main" id="{DFCDBF4A-A9AB-FC92-AB93-CFCD0E2865B9}"/>
              </a:ext>
            </a:extLst>
          </p:cNvPr>
          <p:cNvCxnSpPr>
            <a:cxnSpLocks/>
            <a:stCxn id="52" idx="6"/>
            <a:endCxn id="76" idx="1"/>
          </p:cNvCxnSpPr>
          <p:nvPr/>
        </p:nvCxnSpPr>
        <p:spPr>
          <a:xfrm flipV="1">
            <a:off x="6619763" y="5134501"/>
            <a:ext cx="984787" cy="4666"/>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直接箭头连接符 112">
            <a:extLst>
              <a:ext uri="{FF2B5EF4-FFF2-40B4-BE49-F238E27FC236}">
                <a16:creationId xmlns:a16="http://schemas.microsoft.com/office/drawing/2014/main" id="{58CC69AA-B479-50C7-A7A3-A4FAD95B050D}"/>
              </a:ext>
            </a:extLst>
          </p:cNvPr>
          <p:cNvCxnSpPr>
            <a:cxnSpLocks/>
            <a:stCxn id="38" idx="6"/>
            <a:endCxn id="55" idx="1"/>
          </p:cNvCxnSpPr>
          <p:nvPr/>
        </p:nvCxnSpPr>
        <p:spPr>
          <a:xfrm>
            <a:off x="4618538" y="4461917"/>
            <a:ext cx="1286034" cy="67725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直接箭头连接符 115">
            <a:extLst>
              <a:ext uri="{FF2B5EF4-FFF2-40B4-BE49-F238E27FC236}">
                <a16:creationId xmlns:a16="http://schemas.microsoft.com/office/drawing/2014/main" id="{DF6AD75D-7AD9-1EAA-939C-B6D1B0B861FB}"/>
              </a:ext>
            </a:extLst>
          </p:cNvPr>
          <p:cNvCxnSpPr>
            <a:cxnSpLocks/>
            <a:endCxn id="52" idx="2"/>
          </p:cNvCxnSpPr>
          <p:nvPr/>
        </p:nvCxnSpPr>
        <p:spPr>
          <a:xfrm flipV="1">
            <a:off x="4631963" y="5139167"/>
            <a:ext cx="1267800" cy="56611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直接箭头连接符 118">
            <a:extLst>
              <a:ext uri="{FF2B5EF4-FFF2-40B4-BE49-F238E27FC236}">
                <a16:creationId xmlns:a16="http://schemas.microsoft.com/office/drawing/2014/main" id="{23050100-E789-66CE-4F66-76699820D5E9}"/>
              </a:ext>
            </a:extLst>
          </p:cNvPr>
          <p:cNvCxnSpPr>
            <a:cxnSpLocks/>
            <a:stCxn id="14" idx="6"/>
            <a:endCxn id="41" idx="1"/>
          </p:cNvCxnSpPr>
          <p:nvPr/>
        </p:nvCxnSpPr>
        <p:spPr>
          <a:xfrm>
            <a:off x="2955563" y="4101917"/>
            <a:ext cx="951791" cy="36000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3" name="文本框 122">
            <a:extLst>
              <a:ext uri="{FF2B5EF4-FFF2-40B4-BE49-F238E27FC236}">
                <a16:creationId xmlns:a16="http://schemas.microsoft.com/office/drawing/2014/main" id="{DE24777D-571D-A47C-D306-F5700A5905F2}"/>
              </a:ext>
            </a:extLst>
          </p:cNvPr>
          <p:cNvSpPr txBox="1"/>
          <p:nvPr/>
        </p:nvSpPr>
        <p:spPr>
          <a:xfrm>
            <a:off x="3149492" y="3424666"/>
            <a:ext cx="316112" cy="369332"/>
          </a:xfrm>
          <a:prstGeom prst="rect">
            <a:avLst/>
          </a:prstGeom>
          <a:noFill/>
        </p:spPr>
        <p:txBody>
          <a:bodyPr wrap="none" rtlCol="0">
            <a:noAutofit/>
          </a:bodyPr>
          <a:lstStyle/>
          <a:p>
            <a:r>
              <a:rPr lang="en-US" altLang="zh-CN" sz="1400">
                <a:solidFill>
                  <a:schemeClr val="bg1"/>
                </a:solidFill>
              </a:rPr>
              <a:t>2</a:t>
            </a:r>
            <a:endParaRPr lang="zh-CN" altLang="en-US" sz="1400">
              <a:solidFill>
                <a:schemeClr val="bg1"/>
              </a:solidFill>
            </a:endParaRPr>
          </a:p>
        </p:txBody>
      </p:sp>
      <p:sp>
        <p:nvSpPr>
          <p:cNvPr id="124" name="文本框 123">
            <a:extLst>
              <a:ext uri="{FF2B5EF4-FFF2-40B4-BE49-F238E27FC236}">
                <a16:creationId xmlns:a16="http://schemas.microsoft.com/office/drawing/2014/main" id="{0783AF57-B8B4-37AA-C586-43CCD1F78D01}"/>
              </a:ext>
            </a:extLst>
          </p:cNvPr>
          <p:cNvSpPr txBox="1"/>
          <p:nvPr/>
        </p:nvSpPr>
        <p:spPr>
          <a:xfrm>
            <a:off x="6966941" y="2906111"/>
            <a:ext cx="316112" cy="369332"/>
          </a:xfrm>
          <a:prstGeom prst="rect">
            <a:avLst/>
          </a:prstGeom>
          <a:noFill/>
        </p:spPr>
        <p:txBody>
          <a:bodyPr wrap="none" rtlCol="0">
            <a:noAutofit/>
          </a:bodyPr>
          <a:lstStyle/>
          <a:p>
            <a:r>
              <a:rPr lang="en-US" altLang="zh-CN" sz="1400">
                <a:solidFill>
                  <a:schemeClr val="bg1"/>
                </a:solidFill>
              </a:rPr>
              <a:t>5</a:t>
            </a:r>
            <a:endParaRPr lang="zh-CN" altLang="en-US" sz="1400">
              <a:solidFill>
                <a:schemeClr val="bg1"/>
              </a:solidFill>
            </a:endParaRPr>
          </a:p>
        </p:txBody>
      </p:sp>
      <p:sp>
        <p:nvSpPr>
          <p:cNvPr id="125" name="文本框 124">
            <a:extLst>
              <a:ext uri="{FF2B5EF4-FFF2-40B4-BE49-F238E27FC236}">
                <a16:creationId xmlns:a16="http://schemas.microsoft.com/office/drawing/2014/main" id="{CE2D7036-8FAD-78A0-58D2-966188711195}"/>
              </a:ext>
            </a:extLst>
          </p:cNvPr>
          <p:cNvSpPr txBox="1"/>
          <p:nvPr/>
        </p:nvSpPr>
        <p:spPr>
          <a:xfrm>
            <a:off x="3263906" y="4281916"/>
            <a:ext cx="316112" cy="369332"/>
          </a:xfrm>
          <a:prstGeom prst="rect">
            <a:avLst/>
          </a:prstGeom>
          <a:noFill/>
        </p:spPr>
        <p:txBody>
          <a:bodyPr wrap="none" rtlCol="0">
            <a:noAutofit/>
          </a:bodyPr>
          <a:lstStyle/>
          <a:p>
            <a:r>
              <a:rPr lang="en-US" altLang="zh-CN" sz="1400">
                <a:solidFill>
                  <a:schemeClr val="bg1"/>
                </a:solidFill>
              </a:rPr>
              <a:t>2</a:t>
            </a:r>
            <a:endParaRPr lang="zh-CN" altLang="en-US" sz="1400">
              <a:solidFill>
                <a:schemeClr val="bg1"/>
              </a:solidFill>
            </a:endParaRPr>
          </a:p>
        </p:txBody>
      </p:sp>
      <p:sp>
        <p:nvSpPr>
          <p:cNvPr id="126" name="文本框 125">
            <a:extLst>
              <a:ext uri="{FF2B5EF4-FFF2-40B4-BE49-F238E27FC236}">
                <a16:creationId xmlns:a16="http://schemas.microsoft.com/office/drawing/2014/main" id="{B02E1FC4-6729-3E38-065F-81788FB79822}"/>
              </a:ext>
            </a:extLst>
          </p:cNvPr>
          <p:cNvSpPr txBox="1"/>
          <p:nvPr/>
        </p:nvSpPr>
        <p:spPr>
          <a:xfrm>
            <a:off x="5161512" y="4496229"/>
            <a:ext cx="268022" cy="369332"/>
          </a:xfrm>
          <a:prstGeom prst="rect">
            <a:avLst/>
          </a:prstGeom>
          <a:noFill/>
        </p:spPr>
        <p:txBody>
          <a:bodyPr wrap="none" rtlCol="0">
            <a:noAutofit/>
          </a:bodyPr>
          <a:lstStyle/>
          <a:p>
            <a:r>
              <a:rPr lang="en-US" altLang="zh-CN" sz="1400">
                <a:solidFill>
                  <a:schemeClr val="bg1"/>
                </a:solidFill>
              </a:rPr>
              <a:t>1</a:t>
            </a:r>
            <a:endParaRPr lang="zh-CN" altLang="en-US" sz="1400">
              <a:solidFill>
                <a:schemeClr val="bg1"/>
              </a:solidFill>
            </a:endParaRPr>
          </a:p>
        </p:txBody>
      </p:sp>
      <p:sp>
        <p:nvSpPr>
          <p:cNvPr id="127" name="文本框 126">
            <a:extLst>
              <a:ext uri="{FF2B5EF4-FFF2-40B4-BE49-F238E27FC236}">
                <a16:creationId xmlns:a16="http://schemas.microsoft.com/office/drawing/2014/main" id="{9D23F614-05DB-2441-655A-52B91CCF1592}"/>
              </a:ext>
            </a:extLst>
          </p:cNvPr>
          <p:cNvSpPr txBox="1"/>
          <p:nvPr/>
        </p:nvSpPr>
        <p:spPr>
          <a:xfrm>
            <a:off x="5075911" y="5422222"/>
            <a:ext cx="336952" cy="369332"/>
          </a:xfrm>
          <a:prstGeom prst="rect">
            <a:avLst/>
          </a:prstGeom>
          <a:noFill/>
        </p:spPr>
        <p:txBody>
          <a:bodyPr wrap="none" rtlCol="0">
            <a:noAutofit/>
          </a:bodyPr>
          <a:lstStyle/>
          <a:p>
            <a:r>
              <a:rPr lang="en-US" altLang="zh-CN" sz="1400">
                <a:solidFill>
                  <a:schemeClr val="bg1"/>
                </a:solidFill>
              </a:rPr>
              <a:t>4</a:t>
            </a:r>
            <a:endParaRPr lang="zh-CN" altLang="en-US" sz="1400">
              <a:solidFill>
                <a:schemeClr val="bg1"/>
              </a:solidFill>
            </a:endParaRPr>
          </a:p>
        </p:txBody>
      </p:sp>
      <p:sp>
        <p:nvSpPr>
          <p:cNvPr id="128" name="文本框 127">
            <a:extLst>
              <a:ext uri="{FF2B5EF4-FFF2-40B4-BE49-F238E27FC236}">
                <a16:creationId xmlns:a16="http://schemas.microsoft.com/office/drawing/2014/main" id="{5DC1F4A2-0CAB-1581-7C02-D73077359BE0}"/>
              </a:ext>
            </a:extLst>
          </p:cNvPr>
          <p:cNvSpPr txBox="1"/>
          <p:nvPr/>
        </p:nvSpPr>
        <p:spPr>
          <a:xfrm>
            <a:off x="6948607" y="4765169"/>
            <a:ext cx="268022" cy="369332"/>
          </a:xfrm>
          <a:prstGeom prst="rect">
            <a:avLst/>
          </a:prstGeom>
          <a:noFill/>
        </p:spPr>
        <p:txBody>
          <a:bodyPr wrap="none" rtlCol="0">
            <a:noAutofit/>
          </a:bodyPr>
          <a:lstStyle/>
          <a:p>
            <a:r>
              <a:rPr lang="en-US" altLang="zh-CN" sz="1400">
                <a:solidFill>
                  <a:schemeClr val="bg1"/>
                </a:solidFill>
              </a:rPr>
              <a:t>1</a:t>
            </a:r>
            <a:endParaRPr lang="zh-CN" altLang="en-US" sz="1400">
              <a:solidFill>
                <a:schemeClr val="bg1"/>
              </a:solidFill>
            </a:endParaRPr>
          </a:p>
        </p:txBody>
      </p:sp>
      <p:sp>
        <p:nvSpPr>
          <p:cNvPr id="129" name="文本框 128">
            <a:extLst>
              <a:ext uri="{FF2B5EF4-FFF2-40B4-BE49-F238E27FC236}">
                <a16:creationId xmlns:a16="http://schemas.microsoft.com/office/drawing/2014/main" id="{0920D500-3A7F-D81A-106C-02DAA8584515}"/>
              </a:ext>
            </a:extLst>
          </p:cNvPr>
          <p:cNvSpPr txBox="1"/>
          <p:nvPr/>
        </p:nvSpPr>
        <p:spPr>
          <a:xfrm>
            <a:off x="7132636" y="3930306"/>
            <a:ext cx="316112" cy="369332"/>
          </a:xfrm>
          <a:prstGeom prst="rect">
            <a:avLst/>
          </a:prstGeom>
          <a:noFill/>
        </p:spPr>
        <p:txBody>
          <a:bodyPr wrap="none" rtlCol="0">
            <a:noAutofit/>
          </a:bodyPr>
          <a:lstStyle/>
          <a:p>
            <a:r>
              <a:rPr lang="en-US" altLang="zh-CN" sz="1400">
                <a:solidFill>
                  <a:schemeClr val="bg1"/>
                </a:solidFill>
              </a:rPr>
              <a:t>5</a:t>
            </a:r>
            <a:endParaRPr lang="zh-CN" altLang="en-US" sz="1400">
              <a:solidFill>
                <a:schemeClr val="bg1"/>
              </a:solidFill>
            </a:endParaRPr>
          </a:p>
        </p:txBody>
      </p:sp>
      <p:sp>
        <p:nvSpPr>
          <p:cNvPr id="130" name="文本框 129">
            <a:extLst>
              <a:ext uri="{FF2B5EF4-FFF2-40B4-BE49-F238E27FC236}">
                <a16:creationId xmlns:a16="http://schemas.microsoft.com/office/drawing/2014/main" id="{DACC29F8-4A83-D7E2-6F5D-A72578FCC15E}"/>
              </a:ext>
            </a:extLst>
          </p:cNvPr>
          <p:cNvSpPr txBox="1"/>
          <p:nvPr/>
        </p:nvSpPr>
        <p:spPr>
          <a:xfrm>
            <a:off x="8673329" y="3213888"/>
            <a:ext cx="325730" cy="369332"/>
          </a:xfrm>
          <a:prstGeom prst="rect">
            <a:avLst/>
          </a:prstGeom>
          <a:noFill/>
        </p:spPr>
        <p:txBody>
          <a:bodyPr wrap="none" rtlCol="0">
            <a:noAutofit/>
          </a:bodyPr>
          <a:lstStyle/>
          <a:p>
            <a:r>
              <a:rPr lang="en-US" altLang="zh-CN" sz="1400">
                <a:solidFill>
                  <a:schemeClr val="bg1"/>
                </a:solidFill>
              </a:rPr>
              <a:t>6</a:t>
            </a:r>
            <a:endParaRPr lang="zh-CN" altLang="en-US" sz="1400">
              <a:solidFill>
                <a:schemeClr val="bg1"/>
              </a:solidFill>
            </a:endParaRPr>
          </a:p>
        </p:txBody>
      </p:sp>
      <p:sp>
        <p:nvSpPr>
          <p:cNvPr id="131" name="文本框 130">
            <a:extLst>
              <a:ext uri="{FF2B5EF4-FFF2-40B4-BE49-F238E27FC236}">
                <a16:creationId xmlns:a16="http://schemas.microsoft.com/office/drawing/2014/main" id="{6543425A-7FF4-F1F6-8BD8-2F687E6EAE39}"/>
              </a:ext>
            </a:extLst>
          </p:cNvPr>
          <p:cNvSpPr txBox="1"/>
          <p:nvPr/>
        </p:nvSpPr>
        <p:spPr>
          <a:xfrm>
            <a:off x="8777405" y="4429302"/>
            <a:ext cx="336952" cy="369332"/>
          </a:xfrm>
          <a:prstGeom prst="rect">
            <a:avLst/>
          </a:prstGeom>
          <a:noFill/>
        </p:spPr>
        <p:txBody>
          <a:bodyPr wrap="none" rtlCol="0">
            <a:noAutofit/>
          </a:bodyPr>
          <a:lstStyle/>
          <a:p>
            <a:r>
              <a:rPr lang="en-US" altLang="zh-CN" sz="1400">
                <a:solidFill>
                  <a:schemeClr val="bg1"/>
                </a:solidFill>
              </a:rPr>
              <a:t>4</a:t>
            </a:r>
            <a:endParaRPr lang="zh-CN" altLang="en-US" sz="1400">
              <a:solidFill>
                <a:schemeClr val="bg1"/>
              </a:solidFill>
            </a:endParaRPr>
          </a:p>
        </p:txBody>
      </p:sp>
      <p:sp>
        <p:nvSpPr>
          <p:cNvPr id="133" name="文本框 132">
            <a:extLst>
              <a:ext uri="{FF2B5EF4-FFF2-40B4-BE49-F238E27FC236}">
                <a16:creationId xmlns:a16="http://schemas.microsoft.com/office/drawing/2014/main" id="{4A05FE09-E975-C10D-56EE-E0A31E7C21C5}"/>
              </a:ext>
            </a:extLst>
          </p:cNvPr>
          <p:cNvSpPr txBox="1"/>
          <p:nvPr/>
        </p:nvSpPr>
        <p:spPr>
          <a:xfrm>
            <a:off x="5043964" y="2880000"/>
            <a:ext cx="316112" cy="369332"/>
          </a:xfrm>
          <a:prstGeom prst="rect">
            <a:avLst/>
          </a:prstGeom>
          <a:noFill/>
        </p:spPr>
        <p:txBody>
          <a:bodyPr wrap="none" rtlCol="0">
            <a:noAutofit/>
          </a:bodyPr>
          <a:lstStyle/>
          <a:p>
            <a:r>
              <a:rPr lang="en-US" altLang="zh-CN" sz="1400">
                <a:solidFill>
                  <a:schemeClr val="bg1"/>
                </a:solidFill>
              </a:rPr>
              <a:t>2</a:t>
            </a:r>
            <a:endParaRPr lang="zh-CN" altLang="en-US" sz="1400">
              <a:solidFill>
                <a:schemeClr val="bg1"/>
              </a:solidFill>
            </a:endParaRPr>
          </a:p>
        </p:txBody>
      </p:sp>
      <p:sp>
        <p:nvSpPr>
          <p:cNvPr id="134" name="文本框 133">
            <a:extLst>
              <a:ext uri="{FF2B5EF4-FFF2-40B4-BE49-F238E27FC236}">
                <a16:creationId xmlns:a16="http://schemas.microsoft.com/office/drawing/2014/main" id="{96FB34BF-0ADC-01FE-D80E-F766147D0C86}"/>
              </a:ext>
            </a:extLst>
          </p:cNvPr>
          <p:cNvSpPr txBox="1"/>
          <p:nvPr/>
        </p:nvSpPr>
        <p:spPr>
          <a:xfrm>
            <a:off x="5624762" y="4780848"/>
            <a:ext cx="303288" cy="738664"/>
          </a:xfrm>
          <a:prstGeom prst="rect">
            <a:avLst/>
          </a:prstGeom>
          <a:noFill/>
        </p:spPr>
        <p:txBody>
          <a:bodyPr wrap="none" rtlCol="0">
            <a:spAutoFit/>
          </a:bodyPr>
          <a:lstStyle/>
          <a:p>
            <a:r>
              <a:rPr lang="en-US" altLang="zh-CN" sz="1400" strike="dblStrike" dirty="0">
                <a:solidFill>
                  <a:srgbClr val="FFFF00"/>
                </a:solidFill>
              </a:rPr>
              <a:t>3</a:t>
            </a:r>
          </a:p>
          <a:p>
            <a:endParaRPr lang="en-US" altLang="zh-CN" sz="1400" dirty="0">
              <a:solidFill>
                <a:srgbClr val="FFFF00"/>
              </a:solidFill>
            </a:endParaRPr>
          </a:p>
          <a:p>
            <a:r>
              <a:rPr lang="en-US" altLang="zh-CN" sz="1400" dirty="0">
                <a:solidFill>
                  <a:srgbClr val="FFFF00"/>
                </a:solidFill>
              </a:rPr>
              <a:t>4</a:t>
            </a:r>
            <a:endParaRPr lang="zh-CN" altLang="en-US" sz="1400" dirty="0">
              <a:solidFill>
                <a:srgbClr val="FFFF00"/>
              </a:solidFill>
            </a:endParaRPr>
          </a:p>
        </p:txBody>
      </p:sp>
      <p:sp>
        <p:nvSpPr>
          <p:cNvPr id="135" name="文本框 134">
            <a:extLst>
              <a:ext uri="{FF2B5EF4-FFF2-40B4-BE49-F238E27FC236}">
                <a16:creationId xmlns:a16="http://schemas.microsoft.com/office/drawing/2014/main" id="{2328376C-D098-1FC2-FC10-6879CB97C923}"/>
              </a:ext>
            </a:extLst>
          </p:cNvPr>
          <p:cNvSpPr txBox="1"/>
          <p:nvPr/>
        </p:nvSpPr>
        <p:spPr>
          <a:xfrm>
            <a:off x="7233563" y="4377108"/>
            <a:ext cx="293670" cy="738664"/>
          </a:xfrm>
          <a:prstGeom prst="rect">
            <a:avLst/>
          </a:prstGeom>
          <a:noFill/>
        </p:spPr>
        <p:txBody>
          <a:bodyPr wrap="none" rtlCol="0">
            <a:spAutoFit/>
          </a:bodyPr>
          <a:lstStyle/>
          <a:p>
            <a:r>
              <a:rPr lang="en-US" altLang="zh-CN" sz="1400" dirty="0">
                <a:solidFill>
                  <a:srgbClr val="FFFF00"/>
                </a:solidFill>
              </a:rPr>
              <a:t>9</a:t>
            </a:r>
          </a:p>
          <a:p>
            <a:endParaRPr lang="en-US" altLang="zh-CN" sz="1400" dirty="0">
              <a:solidFill>
                <a:srgbClr val="FFFF00"/>
              </a:solidFill>
            </a:endParaRPr>
          </a:p>
          <a:p>
            <a:r>
              <a:rPr lang="en-US" altLang="zh-CN" sz="1400" strike="dblStrike" dirty="0">
                <a:solidFill>
                  <a:srgbClr val="FFFF00"/>
                </a:solidFill>
              </a:rPr>
              <a:t>5</a:t>
            </a:r>
            <a:endParaRPr lang="zh-CN" altLang="en-US" sz="1400" strike="dblStrike" dirty="0">
              <a:solidFill>
                <a:srgbClr val="FFFF00"/>
              </a:solidFill>
            </a:endParaRPr>
          </a:p>
        </p:txBody>
      </p:sp>
      <p:sp>
        <p:nvSpPr>
          <p:cNvPr id="137" name="文本框 136">
            <a:extLst>
              <a:ext uri="{FF2B5EF4-FFF2-40B4-BE49-F238E27FC236}">
                <a16:creationId xmlns:a16="http://schemas.microsoft.com/office/drawing/2014/main" id="{C08D1D40-2D3A-D648-85C0-43C1B382DF8C}"/>
              </a:ext>
            </a:extLst>
          </p:cNvPr>
          <p:cNvSpPr txBox="1"/>
          <p:nvPr/>
        </p:nvSpPr>
        <p:spPr>
          <a:xfrm>
            <a:off x="8852224" y="3397386"/>
            <a:ext cx="349776" cy="738664"/>
          </a:xfrm>
          <a:prstGeom prst="rect">
            <a:avLst/>
          </a:prstGeom>
          <a:noFill/>
        </p:spPr>
        <p:txBody>
          <a:bodyPr wrap="none" rtlCol="0">
            <a:spAutoFit/>
          </a:bodyPr>
          <a:lstStyle/>
          <a:p>
            <a:r>
              <a:rPr lang="en-US" altLang="zh-CN" sz="1400" dirty="0">
                <a:solidFill>
                  <a:srgbClr val="FFFF00"/>
                </a:solidFill>
              </a:rPr>
              <a:t>15</a:t>
            </a:r>
          </a:p>
          <a:p>
            <a:endParaRPr lang="en-US" altLang="zh-CN" sz="1400" dirty="0">
              <a:solidFill>
                <a:srgbClr val="FFFF00"/>
              </a:solidFill>
            </a:endParaRPr>
          </a:p>
          <a:p>
            <a:r>
              <a:rPr lang="en-US" altLang="zh-CN" sz="1400" strike="dblStrike" dirty="0">
                <a:solidFill>
                  <a:srgbClr val="FFFF00"/>
                </a:solidFill>
              </a:rPr>
              <a:t>13</a:t>
            </a:r>
            <a:endParaRPr lang="zh-CN" altLang="en-US" sz="1400" strike="dblStrike" dirty="0">
              <a:solidFill>
                <a:srgbClr val="FFFF00"/>
              </a:solidFill>
            </a:endParaRPr>
          </a:p>
        </p:txBody>
      </p:sp>
      <p:sp>
        <p:nvSpPr>
          <p:cNvPr id="6" name="文本框 5">
            <a:extLst>
              <a:ext uri="{FF2B5EF4-FFF2-40B4-BE49-F238E27FC236}">
                <a16:creationId xmlns:a16="http://schemas.microsoft.com/office/drawing/2014/main" id="{27AEE60E-DFB5-E133-191E-C5FB031EC816}"/>
              </a:ext>
            </a:extLst>
          </p:cNvPr>
          <p:cNvSpPr txBox="1"/>
          <p:nvPr/>
        </p:nvSpPr>
        <p:spPr>
          <a:xfrm>
            <a:off x="1219920" y="986013"/>
            <a:ext cx="3877985" cy="830997"/>
          </a:xfrm>
          <a:prstGeom prst="rect">
            <a:avLst/>
          </a:prstGeom>
          <a:noFill/>
        </p:spPr>
        <p:txBody>
          <a:bodyPr wrap="none" rtlCol="0">
            <a:spAutoFit/>
          </a:bodyPr>
          <a:lstStyle/>
          <a:p>
            <a:pPr algn="l"/>
            <a:r>
              <a:rPr lang="zh-CN" altLang="en-US" sz="1600" dirty="0">
                <a:solidFill>
                  <a:schemeClr val="bg1"/>
                </a:solidFill>
              </a:rPr>
              <a:t>根据各事件持续时间，正推：早开始时间</a:t>
            </a:r>
          </a:p>
          <a:p>
            <a:pPr algn="l"/>
            <a:r>
              <a:rPr lang="zh-CN" altLang="en-US" sz="1600" dirty="0">
                <a:solidFill>
                  <a:schemeClr val="bg1"/>
                </a:solidFill>
              </a:rPr>
              <a:t>总工期 </a:t>
            </a:r>
            <a:r>
              <a:rPr lang="en-US" altLang="zh-CN" sz="1600" dirty="0">
                <a:solidFill>
                  <a:schemeClr val="bg1"/>
                </a:solidFill>
              </a:rPr>
              <a:t>15</a:t>
            </a:r>
          </a:p>
          <a:p>
            <a:pPr algn="l"/>
            <a:r>
              <a:rPr lang="zh-CN" altLang="en-US" sz="1600" dirty="0">
                <a:solidFill>
                  <a:schemeClr val="bg1"/>
                </a:solidFill>
              </a:rPr>
              <a:t>最长路径 </a:t>
            </a:r>
            <a:r>
              <a:rPr lang="en-US" altLang="zh-CN" sz="1600" dirty="0">
                <a:solidFill>
                  <a:schemeClr val="bg1"/>
                </a:solidFill>
              </a:rPr>
              <a:t>1 → 2 → 5 → 7 → 9</a:t>
            </a:r>
            <a:endParaRPr lang="zh-CN" altLang="en-US" sz="1600" dirty="0">
              <a:solidFill>
                <a:schemeClr val="bg1"/>
              </a:solidFill>
            </a:endParaRPr>
          </a:p>
        </p:txBody>
      </p:sp>
      <p:sp>
        <p:nvSpPr>
          <p:cNvPr id="8" name="文本框 7">
            <a:extLst>
              <a:ext uri="{FF2B5EF4-FFF2-40B4-BE49-F238E27FC236}">
                <a16:creationId xmlns:a16="http://schemas.microsoft.com/office/drawing/2014/main" id="{6AAF523C-A320-5BE5-BB8D-E04DE5ABCC7C}"/>
              </a:ext>
            </a:extLst>
          </p:cNvPr>
          <p:cNvSpPr txBox="1"/>
          <p:nvPr/>
        </p:nvSpPr>
        <p:spPr>
          <a:xfrm>
            <a:off x="1219920" y="467460"/>
            <a:ext cx="6179897" cy="338554"/>
          </a:xfrm>
          <a:prstGeom prst="rect">
            <a:avLst/>
          </a:prstGeom>
          <a:noFill/>
        </p:spPr>
        <p:txBody>
          <a:bodyPr wrap="none" rtlCol="0">
            <a:spAutoFit/>
          </a:bodyPr>
          <a:lstStyle/>
          <a:p>
            <a:pPr algn="l"/>
            <a:r>
              <a:rPr lang="zh-CN" altLang="en-US" sz="1600" dirty="0">
                <a:solidFill>
                  <a:schemeClr val="bg1"/>
                </a:solidFill>
              </a:rPr>
              <a:t>例：根据 </a:t>
            </a:r>
            <a:r>
              <a:rPr lang="en-US" altLang="zh-CN" sz="1600" dirty="0">
                <a:solidFill>
                  <a:schemeClr val="bg1"/>
                </a:solidFill>
              </a:rPr>
              <a:t>PERT </a:t>
            </a:r>
            <a:r>
              <a:rPr lang="zh-CN" altLang="en-US" sz="1600" dirty="0">
                <a:solidFill>
                  <a:schemeClr val="bg1"/>
                </a:solidFill>
              </a:rPr>
              <a:t>求各事件最早时间、最晚时间、总工期、最大路径</a:t>
            </a:r>
          </a:p>
        </p:txBody>
      </p:sp>
    </p:spTree>
    <p:extLst>
      <p:ext uri="{BB962C8B-B14F-4D97-AF65-F5344CB8AC3E}">
        <p14:creationId xmlns:p14="http://schemas.microsoft.com/office/powerpoint/2010/main" val="2525448756"/>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5172797-2758-79E6-EDA1-23F3B2C09F44}"/>
            </a:ext>
          </a:extLst>
        </p:cNvPr>
        <p:cNvGrpSpPr/>
        <p:nvPr/>
      </p:nvGrpSpPr>
      <p:grpSpPr>
        <a:xfrm>
          <a:off x="0" y="0"/>
          <a:ext cx="0" cy="0"/>
          <a:chOff x="0" y="0"/>
          <a:chExt cx="0" cy="0"/>
        </a:xfrm>
      </p:grpSpPr>
      <p:sp>
        <p:nvSpPr>
          <p:cNvPr id="14" name="椭圆 13">
            <a:extLst>
              <a:ext uri="{FF2B5EF4-FFF2-40B4-BE49-F238E27FC236}">
                <a16:creationId xmlns:a16="http://schemas.microsoft.com/office/drawing/2014/main" id="{E50F5DDF-409E-E13E-E258-79155B37C315}"/>
              </a:ext>
            </a:extLst>
          </p:cNvPr>
          <p:cNvSpPr/>
          <p:nvPr/>
        </p:nvSpPr>
        <p:spPr>
          <a:xfrm>
            <a:off x="2235563" y="3741917"/>
            <a:ext cx="720000" cy="72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400">
              <a:solidFill>
                <a:schemeClr val="bg1"/>
              </a:solidFill>
            </a:endParaRPr>
          </a:p>
        </p:txBody>
      </p:sp>
      <p:sp>
        <p:nvSpPr>
          <p:cNvPr id="16" name="文本框 15">
            <a:extLst>
              <a:ext uri="{FF2B5EF4-FFF2-40B4-BE49-F238E27FC236}">
                <a16:creationId xmlns:a16="http://schemas.microsoft.com/office/drawing/2014/main" id="{2BB97EA2-0DD6-2314-AC3F-25BCF6663D1C}"/>
              </a:ext>
            </a:extLst>
          </p:cNvPr>
          <p:cNvSpPr txBox="1"/>
          <p:nvPr/>
        </p:nvSpPr>
        <p:spPr>
          <a:xfrm>
            <a:off x="2595563" y="3741917"/>
            <a:ext cx="360000" cy="360000"/>
          </a:xfrm>
          <a:prstGeom prst="rect">
            <a:avLst/>
          </a:prstGeom>
          <a:noFill/>
          <a:ln>
            <a:noFill/>
          </a:ln>
        </p:spPr>
        <p:txBody>
          <a:bodyPr wrap="none" rtlCol="0">
            <a:noAutofit/>
          </a:bodyPr>
          <a:lstStyle/>
          <a:p>
            <a:r>
              <a:rPr lang="en-US" altLang="zh-CN" sz="1400">
                <a:solidFill>
                  <a:schemeClr val="bg1"/>
                </a:solidFill>
              </a:rPr>
              <a:t>0</a:t>
            </a:r>
            <a:endParaRPr lang="zh-CN" altLang="en-US" sz="1400">
              <a:solidFill>
                <a:schemeClr val="bg1"/>
              </a:solidFill>
            </a:endParaRPr>
          </a:p>
        </p:txBody>
      </p:sp>
      <p:sp>
        <p:nvSpPr>
          <p:cNvPr id="17" name="文本框 16">
            <a:extLst>
              <a:ext uri="{FF2B5EF4-FFF2-40B4-BE49-F238E27FC236}">
                <a16:creationId xmlns:a16="http://schemas.microsoft.com/office/drawing/2014/main" id="{461CE1E0-9304-79CC-056B-2C3E0756545F}"/>
              </a:ext>
            </a:extLst>
          </p:cNvPr>
          <p:cNvSpPr txBox="1"/>
          <p:nvPr/>
        </p:nvSpPr>
        <p:spPr>
          <a:xfrm>
            <a:off x="2595563" y="4101917"/>
            <a:ext cx="360000" cy="360000"/>
          </a:xfrm>
          <a:prstGeom prst="rect">
            <a:avLst/>
          </a:prstGeom>
          <a:noFill/>
          <a:ln>
            <a:noFill/>
          </a:ln>
        </p:spPr>
        <p:txBody>
          <a:bodyPr wrap="none" rtlCol="0">
            <a:noAutofit/>
          </a:bodyPr>
          <a:lstStyle/>
          <a:p>
            <a:r>
              <a:rPr lang="en-US" altLang="zh-CN" sz="1400" dirty="0">
                <a:solidFill>
                  <a:srgbClr val="FFFF00"/>
                </a:solidFill>
              </a:rPr>
              <a:t>2</a:t>
            </a:r>
            <a:endParaRPr lang="zh-CN" altLang="en-US" sz="1400" dirty="0">
              <a:solidFill>
                <a:srgbClr val="FFFF00"/>
              </a:solidFill>
            </a:endParaRPr>
          </a:p>
        </p:txBody>
      </p:sp>
      <p:sp>
        <p:nvSpPr>
          <p:cNvPr id="18" name="文本框 17">
            <a:extLst>
              <a:ext uri="{FF2B5EF4-FFF2-40B4-BE49-F238E27FC236}">
                <a16:creationId xmlns:a16="http://schemas.microsoft.com/office/drawing/2014/main" id="{08D88D69-CA01-16BF-9ACE-AB9558813F5F}"/>
              </a:ext>
            </a:extLst>
          </p:cNvPr>
          <p:cNvSpPr txBox="1"/>
          <p:nvPr/>
        </p:nvSpPr>
        <p:spPr>
          <a:xfrm>
            <a:off x="2262814" y="3948028"/>
            <a:ext cx="248787" cy="307777"/>
          </a:xfrm>
          <a:prstGeom prst="rect">
            <a:avLst/>
          </a:prstGeom>
          <a:noFill/>
          <a:ln>
            <a:noFill/>
          </a:ln>
        </p:spPr>
        <p:txBody>
          <a:bodyPr wrap="none" rtlCol="0" anchor="ctr" anchorCtr="0">
            <a:noAutofit/>
          </a:bodyPr>
          <a:lstStyle/>
          <a:p>
            <a:pPr algn="ctr"/>
            <a:r>
              <a:rPr lang="en-US" altLang="zh-CN" sz="1400">
                <a:solidFill>
                  <a:schemeClr val="bg1"/>
                </a:solidFill>
              </a:rPr>
              <a:t>1</a:t>
            </a:r>
            <a:endParaRPr lang="zh-CN" altLang="en-US" sz="1400">
              <a:solidFill>
                <a:schemeClr val="bg1"/>
              </a:solidFill>
            </a:endParaRPr>
          </a:p>
        </p:txBody>
      </p:sp>
      <p:cxnSp>
        <p:nvCxnSpPr>
          <p:cNvPr id="26" name="直接连接符 25">
            <a:extLst>
              <a:ext uri="{FF2B5EF4-FFF2-40B4-BE49-F238E27FC236}">
                <a16:creationId xmlns:a16="http://schemas.microsoft.com/office/drawing/2014/main" id="{938314A7-0236-B7D2-EDD2-4947C7264979}"/>
              </a:ext>
            </a:extLst>
          </p:cNvPr>
          <p:cNvCxnSpPr>
            <a:cxnSpLocks/>
          </p:cNvCxnSpPr>
          <p:nvPr/>
        </p:nvCxnSpPr>
        <p:spPr>
          <a:xfrm>
            <a:off x="2595563" y="3741917"/>
            <a:ext cx="0" cy="72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2ABCAECD-ED4F-B079-9735-2C3F3E5C3882}"/>
              </a:ext>
            </a:extLst>
          </p:cNvPr>
          <p:cNvCxnSpPr>
            <a:cxnSpLocks/>
          </p:cNvCxnSpPr>
          <p:nvPr/>
        </p:nvCxnSpPr>
        <p:spPr>
          <a:xfrm rot="5400000">
            <a:off x="2775563" y="3921917"/>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30" name="组合 29">
            <a:extLst>
              <a:ext uri="{FF2B5EF4-FFF2-40B4-BE49-F238E27FC236}">
                <a16:creationId xmlns:a16="http://schemas.microsoft.com/office/drawing/2014/main" id="{3489DAFD-08EA-4D90-340E-B7489C1AC91A}"/>
              </a:ext>
            </a:extLst>
          </p:cNvPr>
          <p:cNvGrpSpPr/>
          <p:nvPr/>
        </p:nvGrpSpPr>
        <p:grpSpPr>
          <a:xfrm>
            <a:off x="3911963" y="2884667"/>
            <a:ext cx="720000" cy="720000"/>
            <a:chOff x="1495425" y="3838582"/>
            <a:chExt cx="720000" cy="720000"/>
          </a:xfrm>
        </p:grpSpPr>
        <p:sp>
          <p:nvSpPr>
            <p:cNvPr id="31" name="椭圆 30">
              <a:extLst>
                <a:ext uri="{FF2B5EF4-FFF2-40B4-BE49-F238E27FC236}">
                  <a16:creationId xmlns:a16="http://schemas.microsoft.com/office/drawing/2014/main" id="{F37B5C14-0EAE-01FE-285F-3C6C36AE3A3E}"/>
                </a:ext>
              </a:extLst>
            </p:cNvPr>
            <p:cNvSpPr/>
            <p:nvPr/>
          </p:nvSpPr>
          <p:spPr>
            <a:xfrm>
              <a:off x="1495425" y="3838582"/>
              <a:ext cx="720000" cy="72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400">
                <a:solidFill>
                  <a:schemeClr val="bg1"/>
                </a:solidFill>
              </a:endParaRPr>
            </a:p>
          </p:txBody>
        </p:sp>
        <p:sp>
          <p:nvSpPr>
            <p:cNvPr id="32" name="文本框 31">
              <a:extLst>
                <a:ext uri="{FF2B5EF4-FFF2-40B4-BE49-F238E27FC236}">
                  <a16:creationId xmlns:a16="http://schemas.microsoft.com/office/drawing/2014/main" id="{DF399392-10BF-5FEF-0CBC-75945F388506}"/>
                </a:ext>
              </a:extLst>
            </p:cNvPr>
            <p:cNvSpPr txBox="1"/>
            <p:nvPr/>
          </p:nvSpPr>
          <p:spPr>
            <a:xfrm>
              <a:off x="1855425" y="3838582"/>
              <a:ext cx="360000" cy="360000"/>
            </a:xfrm>
            <a:prstGeom prst="rect">
              <a:avLst/>
            </a:prstGeom>
            <a:noFill/>
            <a:ln>
              <a:noFill/>
            </a:ln>
          </p:spPr>
          <p:txBody>
            <a:bodyPr wrap="none" rtlCol="0">
              <a:noAutofit/>
            </a:bodyPr>
            <a:lstStyle/>
            <a:p>
              <a:r>
                <a:rPr lang="en-US" altLang="zh-CN" sz="1400">
                  <a:solidFill>
                    <a:schemeClr val="bg1"/>
                  </a:solidFill>
                </a:rPr>
                <a:t>2</a:t>
              </a:r>
              <a:endParaRPr lang="zh-CN" altLang="en-US" sz="1400">
                <a:solidFill>
                  <a:schemeClr val="bg1"/>
                </a:solidFill>
              </a:endParaRPr>
            </a:p>
          </p:txBody>
        </p:sp>
        <p:sp>
          <p:nvSpPr>
            <p:cNvPr id="33" name="文本框 32">
              <a:extLst>
                <a:ext uri="{FF2B5EF4-FFF2-40B4-BE49-F238E27FC236}">
                  <a16:creationId xmlns:a16="http://schemas.microsoft.com/office/drawing/2014/main" id="{4AB950DA-4D70-BDE3-CB1C-1B85479C3DDF}"/>
                </a:ext>
              </a:extLst>
            </p:cNvPr>
            <p:cNvSpPr txBox="1"/>
            <p:nvPr/>
          </p:nvSpPr>
          <p:spPr>
            <a:xfrm>
              <a:off x="1855425" y="4198582"/>
              <a:ext cx="360000" cy="360000"/>
            </a:xfrm>
            <a:prstGeom prst="rect">
              <a:avLst/>
            </a:prstGeom>
            <a:noFill/>
            <a:ln>
              <a:noFill/>
            </a:ln>
          </p:spPr>
          <p:txBody>
            <a:bodyPr wrap="none" rtlCol="0">
              <a:noAutofit/>
            </a:bodyPr>
            <a:lstStyle/>
            <a:p>
              <a:r>
                <a:rPr lang="en-US" altLang="zh-CN" sz="1400" dirty="0">
                  <a:solidFill>
                    <a:srgbClr val="FFFF00"/>
                  </a:solidFill>
                </a:rPr>
                <a:t>2</a:t>
              </a:r>
              <a:endParaRPr lang="zh-CN" altLang="en-US" sz="1400" dirty="0">
                <a:solidFill>
                  <a:srgbClr val="FFFF00"/>
                </a:solidFill>
              </a:endParaRPr>
            </a:p>
          </p:txBody>
        </p:sp>
        <p:sp>
          <p:nvSpPr>
            <p:cNvPr id="34" name="文本框 33">
              <a:extLst>
                <a:ext uri="{FF2B5EF4-FFF2-40B4-BE49-F238E27FC236}">
                  <a16:creationId xmlns:a16="http://schemas.microsoft.com/office/drawing/2014/main" id="{0B129DA5-B16E-CDCC-1FAB-70C5F0F4F2CC}"/>
                </a:ext>
              </a:extLst>
            </p:cNvPr>
            <p:cNvSpPr txBox="1"/>
            <p:nvPr/>
          </p:nvSpPr>
          <p:spPr>
            <a:xfrm>
              <a:off x="1503440" y="4044693"/>
              <a:ext cx="287259" cy="307777"/>
            </a:xfrm>
            <a:prstGeom prst="rect">
              <a:avLst/>
            </a:prstGeom>
            <a:noFill/>
            <a:ln>
              <a:noFill/>
            </a:ln>
          </p:spPr>
          <p:txBody>
            <a:bodyPr wrap="none" rtlCol="0" anchor="ctr" anchorCtr="0">
              <a:noAutofit/>
            </a:bodyPr>
            <a:lstStyle/>
            <a:p>
              <a:pPr algn="ctr"/>
              <a:r>
                <a:rPr lang="en-US" altLang="zh-CN" sz="1400">
                  <a:solidFill>
                    <a:schemeClr val="bg1"/>
                  </a:solidFill>
                </a:rPr>
                <a:t>2</a:t>
              </a:r>
              <a:endParaRPr lang="zh-CN" altLang="en-US" sz="1400">
                <a:solidFill>
                  <a:schemeClr val="bg1"/>
                </a:solidFill>
              </a:endParaRPr>
            </a:p>
          </p:txBody>
        </p:sp>
        <p:cxnSp>
          <p:nvCxnSpPr>
            <p:cNvPr id="35" name="直接连接符 34">
              <a:extLst>
                <a:ext uri="{FF2B5EF4-FFF2-40B4-BE49-F238E27FC236}">
                  <a16:creationId xmlns:a16="http://schemas.microsoft.com/office/drawing/2014/main" id="{9E1B8B51-5CEB-4196-D404-9253B86688FE}"/>
                </a:ext>
              </a:extLst>
            </p:cNvPr>
            <p:cNvCxnSpPr>
              <a:cxnSpLocks/>
            </p:cNvCxnSpPr>
            <p:nvPr/>
          </p:nvCxnSpPr>
          <p:spPr>
            <a:xfrm>
              <a:off x="1855425" y="3838582"/>
              <a:ext cx="0" cy="72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2469C8C5-5BE5-F6C9-6202-F55C7A20B4E5}"/>
                </a:ext>
              </a:extLst>
            </p:cNvPr>
            <p:cNvCxnSpPr>
              <a:cxnSpLocks/>
            </p:cNvCxnSpPr>
            <p:nvPr/>
          </p:nvCxnSpPr>
          <p:spPr>
            <a:xfrm rot="5400000">
              <a:off x="2035425" y="4018582"/>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7" name="组合 36">
            <a:extLst>
              <a:ext uri="{FF2B5EF4-FFF2-40B4-BE49-F238E27FC236}">
                <a16:creationId xmlns:a16="http://schemas.microsoft.com/office/drawing/2014/main" id="{ABC5E423-7261-DBE6-1C48-940DC1D74ECB}"/>
              </a:ext>
            </a:extLst>
          </p:cNvPr>
          <p:cNvGrpSpPr/>
          <p:nvPr/>
        </p:nvGrpSpPr>
        <p:grpSpPr>
          <a:xfrm>
            <a:off x="3898538" y="4101917"/>
            <a:ext cx="720000" cy="720000"/>
            <a:chOff x="1495425" y="3838582"/>
            <a:chExt cx="720000" cy="720000"/>
          </a:xfrm>
        </p:grpSpPr>
        <p:sp>
          <p:nvSpPr>
            <p:cNvPr id="38" name="椭圆 37">
              <a:extLst>
                <a:ext uri="{FF2B5EF4-FFF2-40B4-BE49-F238E27FC236}">
                  <a16:creationId xmlns:a16="http://schemas.microsoft.com/office/drawing/2014/main" id="{50CD480D-14AA-EC5A-0129-75BF93185966}"/>
                </a:ext>
              </a:extLst>
            </p:cNvPr>
            <p:cNvSpPr/>
            <p:nvPr/>
          </p:nvSpPr>
          <p:spPr>
            <a:xfrm>
              <a:off x="1495425" y="3838582"/>
              <a:ext cx="720000" cy="72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400">
                <a:solidFill>
                  <a:schemeClr val="bg1"/>
                </a:solidFill>
              </a:endParaRPr>
            </a:p>
          </p:txBody>
        </p:sp>
        <p:sp>
          <p:nvSpPr>
            <p:cNvPr id="39" name="文本框 38">
              <a:extLst>
                <a:ext uri="{FF2B5EF4-FFF2-40B4-BE49-F238E27FC236}">
                  <a16:creationId xmlns:a16="http://schemas.microsoft.com/office/drawing/2014/main" id="{736EE6B9-4274-D5D8-F5EE-259867661793}"/>
                </a:ext>
              </a:extLst>
            </p:cNvPr>
            <p:cNvSpPr txBox="1"/>
            <p:nvPr/>
          </p:nvSpPr>
          <p:spPr>
            <a:xfrm>
              <a:off x="1855425" y="3838582"/>
              <a:ext cx="360000" cy="360000"/>
            </a:xfrm>
            <a:prstGeom prst="rect">
              <a:avLst/>
            </a:prstGeom>
            <a:noFill/>
            <a:ln>
              <a:noFill/>
            </a:ln>
          </p:spPr>
          <p:txBody>
            <a:bodyPr wrap="none" rtlCol="0">
              <a:noAutofit/>
            </a:bodyPr>
            <a:lstStyle/>
            <a:p>
              <a:r>
                <a:rPr lang="en-US" altLang="zh-CN" sz="1400">
                  <a:solidFill>
                    <a:schemeClr val="bg1"/>
                  </a:solidFill>
                </a:rPr>
                <a:t>2</a:t>
              </a:r>
              <a:endParaRPr lang="zh-CN" altLang="en-US" sz="1400">
                <a:solidFill>
                  <a:schemeClr val="bg1"/>
                </a:solidFill>
              </a:endParaRPr>
            </a:p>
          </p:txBody>
        </p:sp>
        <p:sp>
          <p:nvSpPr>
            <p:cNvPr id="40" name="文本框 39">
              <a:extLst>
                <a:ext uri="{FF2B5EF4-FFF2-40B4-BE49-F238E27FC236}">
                  <a16:creationId xmlns:a16="http://schemas.microsoft.com/office/drawing/2014/main" id="{946C1A6F-5753-52C0-468A-A4114B04534E}"/>
                </a:ext>
              </a:extLst>
            </p:cNvPr>
            <p:cNvSpPr txBox="1"/>
            <p:nvPr/>
          </p:nvSpPr>
          <p:spPr>
            <a:xfrm>
              <a:off x="1855425" y="4198582"/>
              <a:ext cx="360000" cy="360000"/>
            </a:xfrm>
            <a:prstGeom prst="rect">
              <a:avLst/>
            </a:prstGeom>
            <a:noFill/>
            <a:ln>
              <a:noFill/>
            </a:ln>
          </p:spPr>
          <p:txBody>
            <a:bodyPr wrap="none" rtlCol="0">
              <a:noAutofit/>
            </a:bodyPr>
            <a:lstStyle/>
            <a:p>
              <a:r>
                <a:rPr lang="en-US" altLang="zh-CN" sz="1400" dirty="0">
                  <a:solidFill>
                    <a:srgbClr val="FFFF00"/>
                  </a:solidFill>
                </a:rPr>
                <a:t>9</a:t>
              </a:r>
              <a:endParaRPr lang="zh-CN" altLang="en-US" sz="1400" dirty="0">
                <a:solidFill>
                  <a:srgbClr val="FFFF00"/>
                </a:solidFill>
              </a:endParaRPr>
            </a:p>
          </p:txBody>
        </p:sp>
        <p:sp>
          <p:nvSpPr>
            <p:cNvPr id="41" name="文本框 40">
              <a:extLst>
                <a:ext uri="{FF2B5EF4-FFF2-40B4-BE49-F238E27FC236}">
                  <a16:creationId xmlns:a16="http://schemas.microsoft.com/office/drawing/2014/main" id="{A3E10255-1570-0790-13C5-3FCE9983A68F}"/>
                </a:ext>
              </a:extLst>
            </p:cNvPr>
            <p:cNvSpPr txBox="1"/>
            <p:nvPr/>
          </p:nvSpPr>
          <p:spPr>
            <a:xfrm>
              <a:off x="1504241" y="4044693"/>
              <a:ext cx="285656" cy="307777"/>
            </a:xfrm>
            <a:prstGeom prst="rect">
              <a:avLst/>
            </a:prstGeom>
            <a:noFill/>
            <a:ln>
              <a:noFill/>
            </a:ln>
          </p:spPr>
          <p:txBody>
            <a:bodyPr wrap="none" rtlCol="0" anchor="ctr" anchorCtr="0">
              <a:noAutofit/>
            </a:bodyPr>
            <a:lstStyle/>
            <a:p>
              <a:pPr algn="ctr"/>
              <a:r>
                <a:rPr lang="en-US" altLang="zh-CN" sz="1400">
                  <a:solidFill>
                    <a:schemeClr val="bg1"/>
                  </a:solidFill>
                </a:rPr>
                <a:t>3</a:t>
              </a:r>
              <a:endParaRPr lang="zh-CN" altLang="en-US" sz="1400">
                <a:solidFill>
                  <a:schemeClr val="bg1"/>
                </a:solidFill>
              </a:endParaRPr>
            </a:p>
          </p:txBody>
        </p:sp>
        <p:cxnSp>
          <p:nvCxnSpPr>
            <p:cNvPr id="42" name="直接连接符 41">
              <a:extLst>
                <a:ext uri="{FF2B5EF4-FFF2-40B4-BE49-F238E27FC236}">
                  <a16:creationId xmlns:a16="http://schemas.microsoft.com/office/drawing/2014/main" id="{1FBD6E99-821C-0F69-2616-BB10CAB4DA82}"/>
                </a:ext>
              </a:extLst>
            </p:cNvPr>
            <p:cNvCxnSpPr>
              <a:cxnSpLocks/>
            </p:cNvCxnSpPr>
            <p:nvPr/>
          </p:nvCxnSpPr>
          <p:spPr>
            <a:xfrm>
              <a:off x="1855425" y="3838582"/>
              <a:ext cx="0" cy="72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ECD86FCF-A55A-9A1E-F80E-3807DCFAD3C0}"/>
                </a:ext>
              </a:extLst>
            </p:cNvPr>
            <p:cNvCxnSpPr>
              <a:cxnSpLocks/>
            </p:cNvCxnSpPr>
            <p:nvPr/>
          </p:nvCxnSpPr>
          <p:spPr>
            <a:xfrm rot="5400000">
              <a:off x="2035425" y="4018582"/>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44" name="组合 43">
            <a:extLst>
              <a:ext uri="{FF2B5EF4-FFF2-40B4-BE49-F238E27FC236}">
                <a16:creationId xmlns:a16="http://schemas.microsoft.com/office/drawing/2014/main" id="{10F2C3CC-3161-2354-DF6A-525CD3537E4C}"/>
              </a:ext>
            </a:extLst>
          </p:cNvPr>
          <p:cNvGrpSpPr/>
          <p:nvPr/>
        </p:nvGrpSpPr>
        <p:grpSpPr>
          <a:xfrm>
            <a:off x="3911963" y="5319167"/>
            <a:ext cx="720000" cy="720000"/>
            <a:chOff x="1495425" y="3838582"/>
            <a:chExt cx="720000" cy="720000"/>
          </a:xfrm>
        </p:grpSpPr>
        <p:sp>
          <p:nvSpPr>
            <p:cNvPr id="45" name="椭圆 44">
              <a:extLst>
                <a:ext uri="{FF2B5EF4-FFF2-40B4-BE49-F238E27FC236}">
                  <a16:creationId xmlns:a16="http://schemas.microsoft.com/office/drawing/2014/main" id="{D71CDE7F-265B-6BF0-0E96-06642A198C2C}"/>
                </a:ext>
              </a:extLst>
            </p:cNvPr>
            <p:cNvSpPr/>
            <p:nvPr/>
          </p:nvSpPr>
          <p:spPr>
            <a:xfrm>
              <a:off x="1495425" y="3838582"/>
              <a:ext cx="720000" cy="72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400">
                <a:solidFill>
                  <a:schemeClr val="bg1"/>
                </a:solidFill>
              </a:endParaRPr>
            </a:p>
          </p:txBody>
        </p:sp>
        <p:sp>
          <p:nvSpPr>
            <p:cNvPr id="46" name="文本框 45">
              <a:extLst>
                <a:ext uri="{FF2B5EF4-FFF2-40B4-BE49-F238E27FC236}">
                  <a16:creationId xmlns:a16="http://schemas.microsoft.com/office/drawing/2014/main" id="{6F109F1D-8031-CAC2-8DD7-4CD4A106CD85}"/>
                </a:ext>
              </a:extLst>
            </p:cNvPr>
            <p:cNvSpPr txBox="1"/>
            <p:nvPr/>
          </p:nvSpPr>
          <p:spPr>
            <a:xfrm>
              <a:off x="1855425" y="3838582"/>
              <a:ext cx="360000" cy="360000"/>
            </a:xfrm>
            <a:prstGeom prst="rect">
              <a:avLst/>
            </a:prstGeom>
            <a:noFill/>
            <a:ln>
              <a:noFill/>
            </a:ln>
          </p:spPr>
          <p:txBody>
            <a:bodyPr wrap="none" rtlCol="0">
              <a:noAutofit/>
            </a:bodyPr>
            <a:lstStyle/>
            <a:p>
              <a:r>
                <a:rPr lang="en-US" altLang="zh-CN" sz="1400">
                  <a:solidFill>
                    <a:schemeClr val="bg1"/>
                  </a:solidFill>
                </a:rPr>
                <a:t>0</a:t>
              </a:r>
              <a:endParaRPr lang="zh-CN" altLang="en-US" sz="1400">
                <a:solidFill>
                  <a:schemeClr val="bg1"/>
                </a:solidFill>
              </a:endParaRPr>
            </a:p>
          </p:txBody>
        </p:sp>
        <p:sp>
          <p:nvSpPr>
            <p:cNvPr id="47" name="文本框 46">
              <a:extLst>
                <a:ext uri="{FF2B5EF4-FFF2-40B4-BE49-F238E27FC236}">
                  <a16:creationId xmlns:a16="http://schemas.microsoft.com/office/drawing/2014/main" id="{1842F997-2C9A-9552-8BBD-0CCAFD7240B1}"/>
                </a:ext>
              </a:extLst>
            </p:cNvPr>
            <p:cNvSpPr txBox="1"/>
            <p:nvPr/>
          </p:nvSpPr>
          <p:spPr>
            <a:xfrm>
              <a:off x="1855425" y="4198582"/>
              <a:ext cx="360000" cy="360000"/>
            </a:xfrm>
            <a:prstGeom prst="rect">
              <a:avLst/>
            </a:prstGeom>
            <a:noFill/>
            <a:ln>
              <a:noFill/>
            </a:ln>
          </p:spPr>
          <p:txBody>
            <a:bodyPr wrap="none" rtlCol="0">
              <a:noAutofit/>
            </a:bodyPr>
            <a:lstStyle/>
            <a:p>
              <a:r>
                <a:rPr lang="en-US" altLang="zh-CN" sz="1400" dirty="0">
                  <a:solidFill>
                    <a:srgbClr val="FFFF00"/>
                  </a:solidFill>
                </a:rPr>
                <a:t>6</a:t>
              </a:r>
              <a:endParaRPr lang="zh-CN" altLang="en-US" sz="1400" dirty="0">
                <a:solidFill>
                  <a:srgbClr val="FFFF00"/>
                </a:solidFill>
              </a:endParaRPr>
            </a:p>
          </p:txBody>
        </p:sp>
        <p:sp>
          <p:nvSpPr>
            <p:cNvPr id="48" name="文本框 47">
              <a:extLst>
                <a:ext uri="{FF2B5EF4-FFF2-40B4-BE49-F238E27FC236}">
                  <a16:creationId xmlns:a16="http://schemas.microsoft.com/office/drawing/2014/main" id="{070864C3-FA80-424F-B38D-E5E13499CA8F}"/>
                </a:ext>
              </a:extLst>
            </p:cNvPr>
            <p:cNvSpPr txBox="1"/>
            <p:nvPr/>
          </p:nvSpPr>
          <p:spPr>
            <a:xfrm>
              <a:off x="1495425" y="4044693"/>
              <a:ext cx="303288" cy="307777"/>
            </a:xfrm>
            <a:prstGeom prst="rect">
              <a:avLst/>
            </a:prstGeom>
            <a:noFill/>
            <a:ln>
              <a:noFill/>
            </a:ln>
          </p:spPr>
          <p:txBody>
            <a:bodyPr wrap="none" rtlCol="0" anchor="ctr" anchorCtr="0">
              <a:noAutofit/>
            </a:bodyPr>
            <a:lstStyle/>
            <a:p>
              <a:pPr algn="ctr"/>
              <a:r>
                <a:rPr lang="en-US" altLang="zh-CN" sz="1400">
                  <a:solidFill>
                    <a:schemeClr val="bg1"/>
                  </a:solidFill>
                </a:rPr>
                <a:t>4</a:t>
              </a:r>
              <a:endParaRPr lang="zh-CN" altLang="en-US" sz="1400">
                <a:solidFill>
                  <a:schemeClr val="bg1"/>
                </a:solidFill>
              </a:endParaRPr>
            </a:p>
          </p:txBody>
        </p:sp>
        <p:cxnSp>
          <p:nvCxnSpPr>
            <p:cNvPr id="49" name="直接连接符 48">
              <a:extLst>
                <a:ext uri="{FF2B5EF4-FFF2-40B4-BE49-F238E27FC236}">
                  <a16:creationId xmlns:a16="http://schemas.microsoft.com/office/drawing/2014/main" id="{E473AC13-C4E0-1525-690A-2FC8F8755BB1}"/>
                </a:ext>
              </a:extLst>
            </p:cNvPr>
            <p:cNvCxnSpPr>
              <a:cxnSpLocks/>
            </p:cNvCxnSpPr>
            <p:nvPr/>
          </p:nvCxnSpPr>
          <p:spPr>
            <a:xfrm>
              <a:off x="1855425" y="3838582"/>
              <a:ext cx="0" cy="72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5EE7511D-093A-081E-840E-782486B31F62}"/>
                </a:ext>
              </a:extLst>
            </p:cNvPr>
            <p:cNvCxnSpPr>
              <a:cxnSpLocks/>
            </p:cNvCxnSpPr>
            <p:nvPr/>
          </p:nvCxnSpPr>
          <p:spPr>
            <a:xfrm rot="5400000">
              <a:off x="2035425" y="4018582"/>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51" name="组合 50">
            <a:extLst>
              <a:ext uri="{FF2B5EF4-FFF2-40B4-BE49-F238E27FC236}">
                <a16:creationId xmlns:a16="http://schemas.microsoft.com/office/drawing/2014/main" id="{EEE66FCA-4CC6-3BEA-96B4-E2CC6906828A}"/>
              </a:ext>
            </a:extLst>
          </p:cNvPr>
          <p:cNvGrpSpPr/>
          <p:nvPr/>
        </p:nvGrpSpPr>
        <p:grpSpPr>
          <a:xfrm>
            <a:off x="5899763" y="4779167"/>
            <a:ext cx="720000" cy="720000"/>
            <a:chOff x="1495425" y="3838582"/>
            <a:chExt cx="720000" cy="720000"/>
          </a:xfrm>
        </p:grpSpPr>
        <p:sp>
          <p:nvSpPr>
            <p:cNvPr id="52" name="椭圆 51">
              <a:extLst>
                <a:ext uri="{FF2B5EF4-FFF2-40B4-BE49-F238E27FC236}">
                  <a16:creationId xmlns:a16="http://schemas.microsoft.com/office/drawing/2014/main" id="{3FCAC17B-94F0-05E0-E72E-259ECAEC43A5}"/>
                </a:ext>
              </a:extLst>
            </p:cNvPr>
            <p:cNvSpPr/>
            <p:nvPr/>
          </p:nvSpPr>
          <p:spPr>
            <a:xfrm>
              <a:off x="1495425" y="3838582"/>
              <a:ext cx="720000" cy="72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400">
                <a:solidFill>
                  <a:schemeClr val="bg1"/>
                </a:solidFill>
              </a:endParaRPr>
            </a:p>
          </p:txBody>
        </p:sp>
        <p:sp>
          <p:nvSpPr>
            <p:cNvPr id="53" name="文本框 52">
              <a:extLst>
                <a:ext uri="{FF2B5EF4-FFF2-40B4-BE49-F238E27FC236}">
                  <a16:creationId xmlns:a16="http://schemas.microsoft.com/office/drawing/2014/main" id="{2AD86915-C78B-A8FF-C5BB-3C5668E20B99}"/>
                </a:ext>
              </a:extLst>
            </p:cNvPr>
            <p:cNvSpPr txBox="1"/>
            <p:nvPr/>
          </p:nvSpPr>
          <p:spPr>
            <a:xfrm>
              <a:off x="1855425" y="3838582"/>
              <a:ext cx="360000" cy="360000"/>
            </a:xfrm>
            <a:prstGeom prst="rect">
              <a:avLst/>
            </a:prstGeom>
            <a:noFill/>
            <a:ln>
              <a:noFill/>
            </a:ln>
          </p:spPr>
          <p:txBody>
            <a:bodyPr wrap="none" rtlCol="0">
              <a:noAutofit/>
            </a:bodyPr>
            <a:lstStyle/>
            <a:p>
              <a:r>
                <a:rPr lang="en-US" altLang="zh-CN" sz="1400">
                  <a:solidFill>
                    <a:schemeClr val="bg1"/>
                  </a:solidFill>
                </a:rPr>
                <a:t>4</a:t>
              </a:r>
              <a:endParaRPr lang="zh-CN" altLang="en-US" sz="1400">
                <a:solidFill>
                  <a:schemeClr val="bg1"/>
                </a:solidFill>
              </a:endParaRPr>
            </a:p>
          </p:txBody>
        </p:sp>
        <p:sp>
          <p:nvSpPr>
            <p:cNvPr id="54" name="文本框 53">
              <a:extLst>
                <a:ext uri="{FF2B5EF4-FFF2-40B4-BE49-F238E27FC236}">
                  <a16:creationId xmlns:a16="http://schemas.microsoft.com/office/drawing/2014/main" id="{1D7F1552-DCE5-751D-1A54-AD28731092F4}"/>
                </a:ext>
              </a:extLst>
            </p:cNvPr>
            <p:cNvSpPr txBox="1"/>
            <p:nvPr/>
          </p:nvSpPr>
          <p:spPr>
            <a:xfrm>
              <a:off x="1855425" y="4198582"/>
              <a:ext cx="360000" cy="360000"/>
            </a:xfrm>
            <a:prstGeom prst="rect">
              <a:avLst/>
            </a:prstGeom>
            <a:noFill/>
            <a:ln>
              <a:noFill/>
            </a:ln>
          </p:spPr>
          <p:txBody>
            <a:bodyPr wrap="none" rtlCol="0">
              <a:noAutofit/>
            </a:bodyPr>
            <a:lstStyle/>
            <a:p>
              <a:r>
                <a:rPr lang="en-US" altLang="zh-CN" sz="1400" dirty="0">
                  <a:solidFill>
                    <a:srgbClr val="FFFF00"/>
                  </a:solidFill>
                </a:rPr>
                <a:t>10</a:t>
              </a:r>
              <a:endParaRPr lang="zh-CN" altLang="en-US" sz="1400" dirty="0">
                <a:solidFill>
                  <a:srgbClr val="FFFF00"/>
                </a:solidFill>
              </a:endParaRPr>
            </a:p>
          </p:txBody>
        </p:sp>
        <p:sp>
          <p:nvSpPr>
            <p:cNvPr id="55" name="文本框 54">
              <a:extLst>
                <a:ext uri="{FF2B5EF4-FFF2-40B4-BE49-F238E27FC236}">
                  <a16:creationId xmlns:a16="http://schemas.microsoft.com/office/drawing/2014/main" id="{6FFDAFA1-E39A-6D90-50B3-512269964CA1}"/>
                </a:ext>
              </a:extLst>
            </p:cNvPr>
            <p:cNvSpPr txBox="1"/>
            <p:nvPr/>
          </p:nvSpPr>
          <p:spPr>
            <a:xfrm>
              <a:off x="1500234" y="4044693"/>
              <a:ext cx="293671" cy="307777"/>
            </a:xfrm>
            <a:prstGeom prst="rect">
              <a:avLst/>
            </a:prstGeom>
            <a:noFill/>
            <a:ln>
              <a:noFill/>
            </a:ln>
          </p:spPr>
          <p:txBody>
            <a:bodyPr wrap="none" rtlCol="0" anchor="ctr" anchorCtr="0">
              <a:noAutofit/>
            </a:bodyPr>
            <a:lstStyle/>
            <a:p>
              <a:pPr algn="ctr"/>
              <a:r>
                <a:rPr lang="en-US" altLang="zh-CN" sz="1400">
                  <a:solidFill>
                    <a:schemeClr val="bg1"/>
                  </a:solidFill>
                </a:rPr>
                <a:t>6</a:t>
              </a:r>
              <a:endParaRPr lang="zh-CN" altLang="en-US" sz="1400">
                <a:solidFill>
                  <a:schemeClr val="bg1"/>
                </a:solidFill>
              </a:endParaRPr>
            </a:p>
          </p:txBody>
        </p:sp>
        <p:cxnSp>
          <p:nvCxnSpPr>
            <p:cNvPr id="56" name="直接连接符 55">
              <a:extLst>
                <a:ext uri="{FF2B5EF4-FFF2-40B4-BE49-F238E27FC236}">
                  <a16:creationId xmlns:a16="http://schemas.microsoft.com/office/drawing/2014/main" id="{C1E0B70C-093E-9A0B-D4D6-4D4CD5F040F4}"/>
                </a:ext>
              </a:extLst>
            </p:cNvPr>
            <p:cNvCxnSpPr>
              <a:cxnSpLocks/>
            </p:cNvCxnSpPr>
            <p:nvPr/>
          </p:nvCxnSpPr>
          <p:spPr>
            <a:xfrm>
              <a:off x="1855425" y="3838582"/>
              <a:ext cx="0" cy="72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EB9953EA-A625-F4B2-9AD1-410D2E9B4505}"/>
                </a:ext>
              </a:extLst>
            </p:cNvPr>
            <p:cNvCxnSpPr>
              <a:cxnSpLocks/>
            </p:cNvCxnSpPr>
            <p:nvPr/>
          </p:nvCxnSpPr>
          <p:spPr>
            <a:xfrm rot="5400000">
              <a:off x="2035425" y="4018582"/>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58" name="组合 57">
            <a:extLst>
              <a:ext uri="{FF2B5EF4-FFF2-40B4-BE49-F238E27FC236}">
                <a16:creationId xmlns:a16="http://schemas.microsoft.com/office/drawing/2014/main" id="{709FDDAB-8BD2-7E6F-A4B6-9EF1B562470E}"/>
              </a:ext>
            </a:extLst>
          </p:cNvPr>
          <p:cNvGrpSpPr/>
          <p:nvPr/>
        </p:nvGrpSpPr>
        <p:grpSpPr>
          <a:xfrm>
            <a:off x="5899763" y="2884666"/>
            <a:ext cx="720000" cy="720000"/>
            <a:chOff x="1495425" y="3838582"/>
            <a:chExt cx="720000" cy="720000"/>
          </a:xfrm>
        </p:grpSpPr>
        <p:sp>
          <p:nvSpPr>
            <p:cNvPr id="59" name="椭圆 58">
              <a:extLst>
                <a:ext uri="{FF2B5EF4-FFF2-40B4-BE49-F238E27FC236}">
                  <a16:creationId xmlns:a16="http://schemas.microsoft.com/office/drawing/2014/main" id="{22E0A825-F564-543E-1CAE-7890A4909E73}"/>
                </a:ext>
              </a:extLst>
            </p:cNvPr>
            <p:cNvSpPr/>
            <p:nvPr/>
          </p:nvSpPr>
          <p:spPr>
            <a:xfrm>
              <a:off x="1495425" y="3838582"/>
              <a:ext cx="720000" cy="72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400">
                <a:solidFill>
                  <a:schemeClr val="bg1"/>
                </a:solidFill>
              </a:endParaRPr>
            </a:p>
          </p:txBody>
        </p:sp>
        <p:sp>
          <p:nvSpPr>
            <p:cNvPr id="60" name="文本框 59">
              <a:extLst>
                <a:ext uri="{FF2B5EF4-FFF2-40B4-BE49-F238E27FC236}">
                  <a16:creationId xmlns:a16="http://schemas.microsoft.com/office/drawing/2014/main" id="{7AE3CAF0-EA32-D503-9266-A8DD30A04CC3}"/>
                </a:ext>
              </a:extLst>
            </p:cNvPr>
            <p:cNvSpPr txBox="1"/>
            <p:nvPr/>
          </p:nvSpPr>
          <p:spPr>
            <a:xfrm>
              <a:off x="1855425" y="3838582"/>
              <a:ext cx="360000" cy="360000"/>
            </a:xfrm>
            <a:prstGeom prst="rect">
              <a:avLst/>
            </a:prstGeom>
            <a:noFill/>
            <a:ln>
              <a:noFill/>
            </a:ln>
          </p:spPr>
          <p:txBody>
            <a:bodyPr wrap="none" rtlCol="0">
              <a:noAutofit/>
            </a:bodyPr>
            <a:lstStyle/>
            <a:p>
              <a:r>
                <a:rPr lang="en-US" altLang="zh-CN" sz="1400">
                  <a:solidFill>
                    <a:schemeClr val="bg1"/>
                  </a:solidFill>
                </a:rPr>
                <a:t>4</a:t>
              </a:r>
              <a:endParaRPr lang="zh-CN" altLang="en-US" sz="1400">
                <a:solidFill>
                  <a:schemeClr val="bg1"/>
                </a:solidFill>
              </a:endParaRPr>
            </a:p>
          </p:txBody>
        </p:sp>
        <p:sp>
          <p:nvSpPr>
            <p:cNvPr id="61" name="文本框 60">
              <a:extLst>
                <a:ext uri="{FF2B5EF4-FFF2-40B4-BE49-F238E27FC236}">
                  <a16:creationId xmlns:a16="http://schemas.microsoft.com/office/drawing/2014/main" id="{C6387BE4-9C0D-C885-27A9-5C1A57AD8FF3}"/>
                </a:ext>
              </a:extLst>
            </p:cNvPr>
            <p:cNvSpPr txBox="1"/>
            <p:nvPr/>
          </p:nvSpPr>
          <p:spPr>
            <a:xfrm>
              <a:off x="1855425" y="4198582"/>
              <a:ext cx="360000" cy="360000"/>
            </a:xfrm>
            <a:prstGeom prst="rect">
              <a:avLst/>
            </a:prstGeom>
            <a:noFill/>
            <a:ln>
              <a:noFill/>
            </a:ln>
          </p:spPr>
          <p:txBody>
            <a:bodyPr wrap="none" rtlCol="0">
              <a:noAutofit/>
            </a:bodyPr>
            <a:lstStyle/>
            <a:p>
              <a:r>
                <a:rPr lang="en-US" altLang="zh-CN" sz="1400" dirty="0">
                  <a:solidFill>
                    <a:srgbClr val="FFFF00"/>
                  </a:solidFill>
                </a:rPr>
                <a:t>4</a:t>
              </a:r>
              <a:endParaRPr lang="zh-CN" altLang="en-US" sz="1400" dirty="0">
                <a:solidFill>
                  <a:srgbClr val="FFFF00"/>
                </a:solidFill>
              </a:endParaRPr>
            </a:p>
          </p:txBody>
        </p:sp>
        <p:sp>
          <p:nvSpPr>
            <p:cNvPr id="62" name="文本框 61">
              <a:extLst>
                <a:ext uri="{FF2B5EF4-FFF2-40B4-BE49-F238E27FC236}">
                  <a16:creationId xmlns:a16="http://schemas.microsoft.com/office/drawing/2014/main" id="{1F511106-F38E-170A-B0EF-77B7A8A828DC}"/>
                </a:ext>
              </a:extLst>
            </p:cNvPr>
            <p:cNvSpPr txBox="1"/>
            <p:nvPr/>
          </p:nvSpPr>
          <p:spPr>
            <a:xfrm>
              <a:off x="1504241" y="4044693"/>
              <a:ext cx="285656" cy="307777"/>
            </a:xfrm>
            <a:prstGeom prst="rect">
              <a:avLst/>
            </a:prstGeom>
            <a:noFill/>
            <a:ln>
              <a:noFill/>
            </a:ln>
          </p:spPr>
          <p:txBody>
            <a:bodyPr wrap="none" rtlCol="0" anchor="ctr" anchorCtr="0">
              <a:noAutofit/>
            </a:bodyPr>
            <a:lstStyle/>
            <a:p>
              <a:pPr algn="ctr"/>
              <a:r>
                <a:rPr lang="en-US" altLang="zh-CN" sz="1400">
                  <a:solidFill>
                    <a:schemeClr val="bg1"/>
                  </a:solidFill>
                </a:rPr>
                <a:t>5</a:t>
              </a:r>
              <a:endParaRPr lang="zh-CN" altLang="en-US" sz="1400">
                <a:solidFill>
                  <a:schemeClr val="bg1"/>
                </a:solidFill>
              </a:endParaRPr>
            </a:p>
          </p:txBody>
        </p:sp>
        <p:cxnSp>
          <p:nvCxnSpPr>
            <p:cNvPr id="63" name="直接连接符 62">
              <a:extLst>
                <a:ext uri="{FF2B5EF4-FFF2-40B4-BE49-F238E27FC236}">
                  <a16:creationId xmlns:a16="http://schemas.microsoft.com/office/drawing/2014/main" id="{20ED86E6-E92A-E811-C279-8CA0893622E7}"/>
                </a:ext>
              </a:extLst>
            </p:cNvPr>
            <p:cNvCxnSpPr>
              <a:cxnSpLocks/>
            </p:cNvCxnSpPr>
            <p:nvPr/>
          </p:nvCxnSpPr>
          <p:spPr>
            <a:xfrm>
              <a:off x="1855425" y="3838582"/>
              <a:ext cx="0" cy="72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FA2FEA2A-F101-B6E5-20D3-6D725B28F8C2}"/>
                </a:ext>
              </a:extLst>
            </p:cNvPr>
            <p:cNvCxnSpPr>
              <a:cxnSpLocks/>
            </p:cNvCxnSpPr>
            <p:nvPr/>
          </p:nvCxnSpPr>
          <p:spPr>
            <a:xfrm rot="5400000">
              <a:off x="2035425" y="4018582"/>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65" name="组合 64">
            <a:extLst>
              <a:ext uri="{FF2B5EF4-FFF2-40B4-BE49-F238E27FC236}">
                <a16:creationId xmlns:a16="http://schemas.microsoft.com/office/drawing/2014/main" id="{0F3C6225-EA51-1483-345B-D51F7A86DB14}"/>
              </a:ext>
            </a:extLst>
          </p:cNvPr>
          <p:cNvGrpSpPr/>
          <p:nvPr/>
        </p:nvGrpSpPr>
        <p:grpSpPr>
          <a:xfrm>
            <a:off x="7598138" y="2884666"/>
            <a:ext cx="720000" cy="720000"/>
            <a:chOff x="1495425" y="3838582"/>
            <a:chExt cx="720000" cy="720000"/>
          </a:xfrm>
        </p:grpSpPr>
        <p:sp>
          <p:nvSpPr>
            <p:cNvPr id="66" name="椭圆 65">
              <a:extLst>
                <a:ext uri="{FF2B5EF4-FFF2-40B4-BE49-F238E27FC236}">
                  <a16:creationId xmlns:a16="http://schemas.microsoft.com/office/drawing/2014/main" id="{788A6CE8-36DF-921B-5568-6B2CA75DCB9A}"/>
                </a:ext>
              </a:extLst>
            </p:cNvPr>
            <p:cNvSpPr/>
            <p:nvPr/>
          </p:nvSpPr>
          <p:spPr>
            <a:xfrm>
              <a:off x="1495425" y="3838582"/>
              <a:ext cx="720000" cy="72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400">
                <a:solidFill>
                  <a:schemeClr val="bg1"/>
                </a:solidFill>
              </a:endParaRPr>
            </a:p>
          </p:txBody>
        </p:sp>
        <p:sp>
          <p:nvSpPr>
            <p:cNvPr id="67" name="文本框 66">
              <a:extLst>
                <a:ext uri="{FF2B5EF4-FFF2-40B4-BE49-F238E27FC236}">
                  <a16:creationId xmlns:a16="http://schemas.microsoft.com/office/drawing/2014/main" id="{F3D9E0E6-6BE1-CC69-AFD2-6E11BE127859}"/>
                </a:ext>
              </a:extLst>
            </p:cNvPr>
            <p:cNvSpPr txBox="1"/>
            <p:nvPr/>
          </p:nvSpPr>
          <p:spPr>
            <a:xfrm>
              <a:off x="1855425" y="3838582"/>
              <a:ext cx="360000" cy="360000"/>
            </a:xfrm>
            <a:prstGeom prst="rect">
              <a:avLst/>
            </a:prstGeom>
            <a:noFill/>
            <a:ln>
              <a:noFill/>
            </a:ln>
          </p:spPr>
          <p:txBody>
            <a:bodyPr wrap="none" rtlCol="0">
              <a:noAutofit/>
            </a:bodyPr>
            <a:lstStyle/>
            <a:p>
              <a:r>
                <a:rPr lang="en-US" altLang="zh-CN" sz="1400">
                  <a:solidFill>
                    <a:schemeClr val="bg1"/>
                  </a:solidFill>
                </a:rPr>
                <a:t>9</a:t>
              </a:r>
              <a:endParaRPr lang="zh-CN" altLang="en-US" sz="1400">
                <a:solidFill>
                  <a:schemeClr val="bg1"/>
                </a:solidFill>
              </a:endParaRPr>
            </a:p>
          </p:txBody>
        </p:sp>
        <p:sp>
          <p:nvSpPr>
            <p:cNvPr id="68" name="文本框 67">
              <a:extLst>
                <a:ext uri="{FF2B5EF4-FFF2-40B4-BE49-F238E27FC236}">
                  <a16:creationId xmlns:a16="http://schemas.microsoft.com/office/drawing/2014/main" id="{688E66E4-B377-8A94-2F24-0FF48568CE28}"/>
                </a:ext>
              </a:extLst>
            </p:cNvPr>
            <p:cNvSpPr txBox="1"/>
            <p:nvPr/>
          </p:nvSpPr>
          <p:spPr>
            <a:xfrm>
              <a:off x="1855425" y="4198582"/>
              <a:ext cx="360000" cy="360000"/>
            </a:xfrm>
            <a:prstGeom prst="rect">
              <a:avLst/>
            </a:prstGeom>
            <a:noFill/>
            <a:ln>
              <a:noFill/>
            </a:ln>
          </p:spPr>
          <p:txBody>
            <a:bodyPr wrap="none" rtlCol="0">
              <a:noAutofit/>
            </a:bodyPr>
            <a:lstStyle/>
            <a:p>
              <a:r>
                <a:rPr lang="en-US" altLang="zh-CN" sz="1400" dirty="0">
                  <a:solidFill>
                    <a:srgbClr val="FFFF00"/>
                  </a:solidFill>
                </a:rPr>
                <a:t>9</a:t>
              </a:r>
              <a:endParaRPr lang="zh-CN" altLang="en-US" sz="1400" dirty="0">
                <a:solidFill>
                  <a:srgbClr val="FFFF00"/>
                </a:solidFill>
              </a:endParaRPr>
            </a:p>
          </p:txBody>
        </p:sp>
        <p:sp>
          <p:nvSpPr>
            <p:cNvPr id="69" name="文本框 68">
              <a:extLst>
                <a:ext uri="{FF2B5EF4-FFF2-40B4-BE49-F238E27FC236}">
                  <a16:creationId xmlns:a16="http://schemas.microsoft.com/office/drawing/2014/main" id="{55D7736D-95A8-AE26-FED6-36B23DDD95F3}"/>
                </a:ext>
              </a:extLst>
            </p:cNvPr>
            <p:cNvSpPr txBox="1"/>
            <p:nvPr/>
          </p:nvSpPr>
          <p:spPr>
            <a:xfrm>
              <a:off x="1501837" y="4044693"/>
              <a:ext cx="290464" cy="307777"/>
            </a:xfrm>
            <a:prstGeom prst="rect">
              <a:avLst/>
            </a:prstGeom>
            <a:noFill/>
            <a:ln>
              <a:noFill/>
            </a:ln>
          </p:spPr>
          <p:txBody>
            <a:bodyPr wrap="none" rtlCol="0" anchor="ctr" anchorCtr="0">
              <a:noAutofit/>
            </a:bodyPr>
            <a:lstStyle/>
            <a:p>
              <a:pPr algn="ctr"/>
              <a:r>
                <a:rPr lang="en-US" altLang="zh-CN" sz="1400">
                  <a:solidFill>
                    <a:schemeClr val="bg1"/>
                  </a:solidFill>
                </a:rPr>
                <a:t>7</a:t>
              </a:r>
              <a:endParaRPr lang="zh-CN" altLang="en-US" sz="1400">
                <a:solidFill>
                  <a:schemeClr val="bg1"/>
                </a:solidFill>
              </a:endParaRPr>
            </a:p>
          </p:txBody>
        </p:sp>
        <p:cxnSp>
          <p:nvCxnSpPr>
            <p:cNvPr id="70" name="直接连接符 69">
              <a:extLst>
                <a:ext uri="{FF2B5EF4-FFF2-40B4-BE49-F238E27FC236}">
                  <a16:creationId xmlns:a16="http://schemas.microsoft.com/office/drawing/2014/main" id="{682C3B9B-96B9-CA57-39B0-7E93E83A1A1F}"/>
                </a:ext>
              </a:extLst>
            </p:cNvPr>
            <p:cNvCxnSpPr>
              <a:cxnSpLocks/>
            </p:cNvCxnSpPr>
            <p:nvPr/>
          </p:nvCxnSpPr>
          <p:spPr>
            <a:xfrm>
              <a:off x="1855425" y="3838582"/>
              <a:ext cx="0" cy="72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4B45ED0E-93CF-E2E9-C9A4-3F2CC7F5C538}"/>
                </a:ext>
              </a:extLst>
            </p:cNvPr>
            <p:cNvCxnSpPr>
              <a:cxnSpLocks/>
            </p:cNvCxnSpPr>
            <p:nvPr/>
          </p:nvCxnSpPr>
          <p:spPr>
            <a:xfrm rot="5400000">
              <a:off x="2035425" y="4018582"/>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72" name="组合 71">
            <a:extLst>
              <a:ext uri="{FF2B5EF4-FFF2-40B4-BE49-F238E27FC236}">
                <a16:creationId xmlns:a16="http://schemas.microsoft.com/office/drawing/2014/main" id="{F5B5372B-8E02-18FE-48D2-1EB1CD1AB67A}"/>
              </a:ext>
            </a:extLst>
          </p:cNvPr>
          <p:cNvGrpSpPr/>
          <p:nvPr/>
        </p:nvGrpSpPr>
        <p:grpSpPr>
          <a:xfrm>
            <a:off x="7593563" y="4779167"/>
            <a:ext cx="720000" cy="720000"/>
            <a:chOff x="1495425" y="3838582"/>
            <a:chExt cx="720000" cy="720000"/>
          </a:xfrm>
        </p:grpSpPr>
        <p:sp>
          <p:nvSpPr>
            <p:cNvPr id="73" name="椭圆 72">
              <a:extLst>
                <a:ext uri="{FF2B5EF4-FFF2-40B4-BE49-F238E27FC236}">
                  <a16:creationId xmlns:a16="http://schemas.microsoft.com/office/drawing/2014/main" id="{EC71FA38-4181-4E65-EA7B-39C2F4D798E5}"/>
                </a:ext>
              </a:extLst>
            </p:cNvPr>
            <p:cNvSpPr/>
            <p:nvPr/>
          </p:nvSpPr>
          <p:spPr>
            <a:xfrm>
              <a:off x="1495425" y="3838582"/>
              <a:ext cx="720000" cy="72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400">
                <a:solidFill>
                  <a:schemeClr val="bg1"/>
                </a:solidFill>
              </a:endParaRPr>
            </a:p>
          </p:txBody>
        </p:sp>
        <p:sp>
          <p:nvSpPr>
            <p:cNvPr id="74" name="文本框 73">
              <a:extLst>
                <a:ext uri="{FF2B5EF4-FFF2-40B4-BE49-F238E27FC236}">
                  <a16:creationId xmlns:a16="http://schemas.microsoft.com/office/drawing/2014/main" id="{E9C64EF5-74B4-22CF-2FA5-71508A3F5E94}"/>
                </a:ext>
              </a:extLst>
            </p:cNvPr>
            <p:cNvSpPr txBox="1"/>
            <p:nvPr/>
          </p:nvSpPr>
          <p:spPr>
            <a:xfrm>
              <a:off x="1855425" y="3838582"/>
              <a:ext cx="360000" cy="360000"/>
            </a:xfrm>
            <a:prstGeom prst="rect">
              <a:avLst/>
            </a:prstGeom>
            <a:noFill/>
            <a:ln>
              <a:noFill/>
            </a:ln>
          </p:spPr>
          <p:txBody>
            <a:bodyPr wrap="none" rtlCol="0">
              <a:noAutofit/>
            </a:bodyPr>
            <a:lstStyle/>
            <a:p>
              <a:r>
                <a:rPr lang="en-US" altLang="zh-CN" sz="1400">
                  <a:solidFill>
                    <a:schemeClr val="bg1"/>
                  </a:solidFill>
                </a:rPr>
                <a:t>9</a:t>
              </a:r>
              <a:endParaRPr lang="zh-CN" altLang="en-US" sz="1400">
                <a:solidFill>
                  <a:schemeClr val="bg1"/>
                </a:solidFill>
              </a:endParaRPr>
            </a:p>
          </p:txBody>
        </p:sp>
        <p:sp>
          <p:nvSpPr>
            <p:cNvPr id="75" name="文本框 74">
              <a:extLst>
                <a:ext uri="{FF2B5EF4-FFF2-40B4-BE49-F238E27FC236}">
                  <a16:creationId xmlns:a16="http://schemas.microsoft.com/office/drawing/2014/main" id="{63AEE155-E358-601B-ECBA-0C5730E6251C}"/>
                </a:ext>
              </a:extLst>
            </p:cNvPr>
            <p:cNvSpPr txBox="1"/>
            <p:nvPr/>
          </p:nvSpPr>
          <p:spPr>
            <a:xfrm>
              <a:off x="1855425" y="4198582"/>
              <a:ext cx="360000" cy="360000"/>
            </a:xfrm>
            <a:prstGeom prst="rect">
              <a:avLst/>
            </a:prstGeom>
            <a:noFill/>
            <a:ln>
              <a:noFill/>
            </a:ln>
          </p:spPr>
          <p:txBody>
            <a:bodyPr wrap="none" rtlCol="0">
              <a:noAutofit/>
            </a:bodyPr>
            <a:lstStyle/>
            <a:p>
              <a:r>
                <a:rPr lang="en-US" altLang="zh-CN" sz="1400" dirty="0">
                  <a:solidFill>
                    <a:srgbClr val="FFFF00"/>
                  </a:solidFill>
                </a:rPr>
                <a:t>11</a:t>
              </a:r>
              <a:endParaRPr lang="zh-CN" altLang="en-US" sz="1400" dirty="0">
                <a:solidFill>
                  <a:srgbClr val="FFFF00"/>
                </a:solidFill>
              </a:endParaRPr>
            </a:p>
          </p:txBody>
        </p:sp>
        <p:sp>
          <p:nvSpPr>
            <p:cNvPr id="76" name="文本框 75">
              <a:extLst>
                <a:ext uri="{FF2B5EF4-FFF2-40B4-BE49-F238E27FC236}">
                  <a16:creationId xmlns:a16="http://schemas.microsoft.com/office/drawing/2014/main" id="{3D394CDF-7BD4-8A11-AE1D-A7BFF698985E}"/>
                </a:ext>
              </a:extLst>
            </p:cNvPr>
            <p:cNvSpPr txBox="1"/>
            <p:nvPr/>
          </p:nvSpPr>
          <p:spPr>
            <a:xfrm>
              <a:off x="1497829" y="4044693"/>
              <a:ext cx="298480" cy="307777"/>
            </a:xfrm>
            <a:prstGeom prst="rect">
              <a:avLst/>
            </a:prstGeom>
            <a:noFill/>
            <a:ln>
              <a:noFill/>
            </a:ln>
          </p:spPr>
          <p:txBody>
            <a:bodyPr wrap="none" rtlCol="0" anchor="ctr" anchorCtr="0">
              <a:noAutofit/>
            </a:bodyPr>
            <a:lstStyle/>
            <a:p>
              <a:pPr algn="ctr"/>
              <a:r>
                <a:rPr lang="en-US" altLang="zh-CN" sz="1400">
                  <a:solidFill>
                    <a:schemeClr val="bg1"/>
                  </a:solidFill>
                </a:rPr>
                <a:t>8</a:t>
              </a:r>
              <a:endParaRPr lang="zh-CN" altLang="en-US" sz="1400">
                <a:solidFill>
                  <a:schemeClr val="bg1"/>
                </a:solidFill>
              </a:endParaRPr>
            </a:p>
          </p:txBody>
        </p:sp>
        <p:cxnSp>
          <p:nvCxnSpPr>
            <p:cNvPr id="77" name="直接连接符 76">
              <a:extLst>
                <a:ext uri="{FF2B5EF4-FFF2-40B4-BE49-F238E27FC236}">
                  <a16:creationId xmlns:a16="http://schemas.microsoft.com/office/drawing/2014/main" id="{050A4F44-297A-C560-9071-1B3ED1A9B7B3}"/>
                </a:ext>
              </a:extLst>
            </p:cNvPr>
            <p:cNvCxnSpPr>
              <a:cxnSpLocks/>
            </p:cNvCxnSpPr>
            <p:nvPr/>
          </p:nvCxnSpPr>
          <p:spPr>
            <a:xfrm>
              <a:off x="1855425" y="3838582"/>
              <a:ext cx="0" cy="72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0A5DE0EF-280A-0FF2-925E-F561C07566AB}"/>
                </a:ext>
              </a:extLst>
            </p:cNvPr>
            <p:cNvCxnSpPr>
              <a:cxnSpLocks/>
            </p:cNvCxnSpPr>
            <p:nvPr/>
          </p:nvCxnSpPr>
          <p:spPr>
            <a:xfrm rot="5400000">
              <a:off x="2035425" y="4018582"/>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79" name="组合 78">
            <a:extLst>
              <a:ext uri="{FF2B5EF4-FFF2-40B4-BE49-F238E27FC236}">
                <a16:creationId xmlns:a16="http://schemas.microsoft.com/office/drawing/2014/main" id="{7C124C10-5078-04AF-1854-C7381FC0B2BF}"/>
              </a:ext>
            </a:extLst>
          </p:cNvPr>
          <p:cNvGrpSpPr/>
          <p:nvPr/>
        </p:nvGrpSpPr>
        <p:grpSpPr>
          <a:xfrm>
            <a:off x="9236438" y="3493292"/>
            <a:ext cx="720000" cy="720000"/>
            <a:chOff x="1495425" y="3838582"/>
            <a:chExt cx="720000" cy="720000"/>
          </a:xfrm>
        </p:grpSpPr>
        <p:sp>
          <p:nvSpPr>
            <p:cNvPr id="80" name="椭圆 79">
              <a:extLst>
                <a:ext uri="{FF2B5EF4-FFF2-40B4-BE49-F238E27FC236}">
                  <a16:creationId xmlns:a16="http://schemas.microsoft.com/office/drawing/2014/main" id="{ACCAFC0B-6893-F928-5FD2-90E91838AC6F}"/>
                </a:ext>
              </a:extLst>
            </p:cNvPr>
            <p:cNvSpPr/>
            <p:nvPr/>
          </p:nvSpPr>
          <p:spPr>
            <a:xfrm>
              <a:off x="1495425" y="3838582"/>
              <a:ext cx="720000" cy="72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400">
                <a:solidFill>
                  <a:schemeClr val="bg1"/>
                </a:solidFill>
              </a:endParaRPr>
            </a:p>
          </p:txBody>
        </p:sp>
        <p:sp>
          <p:nvSpPr>
            <p:cNvPr id="81" name="文本框 80">
              <a:extLst>
                <a:ext uri="{FF2B5EF4-FFF2-40B4-BE49-F238E27FC236}">
                  <a16:creationId xmlns:a16="http://schemas.microsoft.com/office/drawing/2014/main" id="{B988B5F6-B3E4-457F-C221-59A75B5ECD8C}"/>
                </a:ext>
              </a:extLst>
            </p:cNvPr>
            <p:cNvSpPr txBox="1"/>
            <p:nvPr/>
          </p:nvSpPr>
          <p:spPr>
            <a:xfrm>
              <a:off x="1855425" y="3838582"/>
              <a:ext cx="360000" cy="360000"/>
            </a:xfrm>
            <a:prstGeom prst="rect">
              <a:avLst/>
            </a:prstGeom>
            <a:noFill/>
            <a:ln>
              <a:noFill/>
            </a:ln>
          </p:spPr>
          <p:txBody>
            <a:bodyPr wrap="none" rtlCol="0">
              <a:noAutofit/>
            </a:bodyPr>
            <a:lstStyle/>
            <a:p>
              <a:r>
                <a:rPr lang="en-US" altLang="zh-CN" sz="1400">
                  <a:solidFill>
                    <a:schemeClr val="bg1"/>
                  </a:solidFill>
                </a:rPr>
                <a:t>15</a:t>
              </a:r>
              <a:endParaRPr lang="zh-CN" altLang="en-US" sz="1400">
                <a:solidFill>
                  <a:schemeClr val="bg1"/>
                </a:solidFill>
              </a:endParaRPr>
            </a:p>
          </p:txBody>
        </p:sp>
        <p:sp>
          <p:nvSpPr>
            <p:cNvPr id="82" name="文本框 81">
              <a:extLst>
                <a:ext uri="{FF2B5EF4-FFF2-40B4-BE49-F238E27FC236}">
                  <a16:creationId xmlns:a16="http://schemas.microsoft.com/office/drawing/2014/main" id="{2AFB8FE5-B413-07F7-E306-E1273CBB4992}"/>
                </a:ext>
              </a:extLst>
            </p:cNvPr>
            <p:cNvSpPr txBox="1"/>
            <p:nvPr/>
          </p:nvSpPr>
          <p:spPr>
            <a:xfrm>
              <a:off x="1855425" y="4198582"/>
              <a:ext cx="360000" cy="360000"/>
            </a:xfrm>
            <a:prstGeom prst="rect">
              <a:avLst/>
            </a:prstGeom>
            <a:noFill/>
            <a:ln>
              <a:noFill/>
            </a:ln>
          </p:spPr>
          <p:txBody>
            <a:bodyPr wrap="none" rtlCol="0">
              <a:noAutofit/>
            </a:bodyPr>
            <a:lstStyle/>
            <a:p>
              <a:r>
                <a:rPr lang="en-US" altLang="zh-CN" sz="1400" dirty="0">
                  <a:solidFill>
                    <a:srgbClr val="FFFF00"/>
                  </a:solidFill>
                </a:rPr>
                <a:t>15</a:t>
              </a:r>
              <a:endParaRPr lang="zh-CN" altLang="en-US" sz="1400" dirty="0">
                <a:solidFill>
                  <a:srgbClr val="FFFF00"/>
                </a:solidFill>
              </a:endParaRPr>
            </a:p>
          </p:txBody>
        </p:sp>
        <p:sp>
          <p:nvSpPr>
            <p:cNvPr id="83" name="文本框 82">
              <a:extLst>
                <a:ext uri="{FF2B5EF4-FFF2-40B4-BE49-F238E27FC236}">
                  <a16:creationId xmlns:a16="http://schemas.microsoft.com/office/drawing/2014/main" id="{3E76AF97-C51F-70E9-D757-536359CF695C}"/>
                </a:ext>
              </a:extLst>
            </p:cNvPr>
            <p:cNvSpPr txBox="1"/>
            <p:nvPr/>
          </p:nvSpPr>
          <p:spPr>
            <a:xfrm>
              <a:off x="1500234" y="4044693"/>
              <a:ext cx="293671" cy="307777"/>
            </a:xfrm>
            <a:prstGeom prst="rect">
              <a:avLst/>
            </a:prstGeom>
            <a:noFill/>
            <a:ln>
              <a:noFill/>
            </a:ln>
          </p:spPr>
          <p:txBody>
            <a:bodyPr wrap="none" rtlCol="0" anchor="ctr" anchorCtr="0">
              <a:noAutofit/>
            </a:bodyPr>
            <a:lstStyle/>
            <a:p>
              <a:pPr algn="ctr"/>
              <a:r>
                <a:rPr lang="en-US" altLang="zh-CN" sz="1400">
                  <a:solidFill>
                    <a:schemeClr val="bg1"/>
                  </a:solidFill>
                </a:rPr>
                <a:t>9</a:t>
              </a:r>
              <a:endParaRPr lang="zh-CN" altLang="en-US" sz="1400">
                <a:solidFill>
                  <a:schemeClr val="bg1"/>
                </a:solidFill>
              </a:endParaRPr>
            </a:p>
          </p:txBody>
        </p:sp>
        <p:cxnSp>
          <p:nvCxnSpPr>
            <p:cNvPr id="84" name="直接连接符 83">
              <a:extLst>
                <a:ext uri="{FF2B5EF4-FFF2-40B4-BE49-F238E27FC236}">
                  <a16:creationId xmlns:a16="http://schemas.microsoft.com/office/drawing/2014/main" id="{4CA98FFB-812E-AACB-8F6E-322C44EFCB96}"/>
                </a:ext>
              </a:extLst>
            </p:cNvPr>
            <p:cNvCxnSpPr>
              <a:cxnSpLocks/>
            </p:cNvCxnSpPr>
            <p:nvPr/>
          </p:nvCxnSpPr>
          <p:spPr>
            <a:xfrm>
              <a:off x="1855425" y="3838582"/>
              <a:ext cx="0" cy="72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1759EB35-835C-BEC0-3C4C-12B40DB0779B}"/>
                </a:ext>
              </a:extLst>
            </p:cNvPr>
            <p:cNvCxnSpPr>
              <a:cxnSpLocks/>
            </p:cNvCxnSpPr>
            <p:nvPr/>
          </p:nvCxnSpPr>
          <p:spPr>
            <a:xfrm rot="5400000">
              <a:off x="2035425" y="4018582"/>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87" name="直接箭头连接符 86">
            <a:extLst>
              <a:ext uri="{FF2B5EF4-FFF2-40B4-BE49-F238E27FC236}">
                <a16:creationId xmlns:a16="http://schemas.microsoft.com/office/drawing/2014/main" id="{02800C09-234C-95EE-CD52-8F03B020DFD3}"/>
              </a:ext>
            </a:extLst>
          </p:cNvPr>
          <p:cNvCxnSpPr>
            <a:cxnSpLocks/>
            <a:stCxn id="14" idx="6"/>
            <a:endCxn id="34" idx="1"/>
          </p:cNvCxnSpPr>
          <p:nvPr/>
        </p:nvCxnSpPr>
        <p:spPr>
          <a:xfrm flipV="1">
            <a:off x="2955563" y="3244667"/>
            <a:ext cx="964415" cy="85725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直接箭头连接符 90">
            <a:extLst>
              <a:ext uri="{FF2B5EF4-FFF2-40B4-BE49-F238E27FC236}">
                <a16:creationId xmlns:a16="http://schemas.microsoft.com/office/drawing/2014/main" id="{399078EB-5440-4D98-E703-A84DB78D3020}"/>
              </a:ext>
            </a:extLst>
          </p:cNvPr>
          <p:cNvCxnSpPr>
            <a:cxnSpLocks/>
            <a:stCxn id="31" idx="6"/>
            <a:endCxn id="62" idx="1"/>
          </p:cNvCxnSpPr>
          <p:nvPr/>
        </p:nvCxnSpPr>
        <p:spPr>
          <a:xfrm flipV="1">
            <a:off x="4631963" y="3244666"/>
            <a:ext cx="1276616" cy="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直接箭头连接符 96">
            <a:extLst>
              <a:ext uri="{FF2B5EF4-FFF2-40B4-BE49-F238E27FC236}">
                <a16:creationId xmlns:a16="http://schemas.microsoft.com/office/drawing/2014/main" id="{E9843CA8-FB13-381F-496E-6ED40432B152}"/>
              </a:ext>
            </a:extLst>
          </p:cNvPr>
          <p:cNvCxnSpPr>
            <a:cxnSpLocks/>
            <a:stCxn id="59" idx="6"/>
            <a:endCxn id="69" idx="1"/>
          </p:cNvCxnSpPr>
          <p:nvPr/>
        </p:nvCxnSpPr>
        <p:spPr>
          <a:xfrm>
            <a:off x="6619763" y="3244666"/>
            <a:ext cx="984787"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直接箭头连接符 100">
            <a:extLst>
              <a:ext uri="{FF2B5EF4-FFF2-40B4-BE49-F238E27FC236}">
                <a16:creationId xmlns:a16="http://schemas.microsoft.com/office/drawing/2014/main" id="{958663E6-B14B-793B-0B50-AA0A1B6A676B}"/>
              </a:ext>
            </a:extLst>
          </p:cNvPr>
          <p:cNvCxnSpPr>
            <a:cxnSpLocks/>
            <a:stCxn id="66" idx="6"/>
            <a:endCxn id="83" idx="1"/>
          </p:cNvCxnSpPr>
          <p:nvPr/>
        </p:nvCxnSpPr>
        <p:spPr>
          <a:xfrm>
            <a:off x="8318138" y="3244666"/>
            <a:ext cx="923109" cy="608626"/>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直接箭头连接符 103">
            <a:extLst>
              <a:ext uri="{FF2B5EF4-FFF2-40B4-BE49-F238E27FC236}">
                <a16:creationId xmlns:a16="http://schemas.microsoft.com/office/drawing/2014/main" id="{92831236-75DE-0A1C-7452-8708EB7F6C21}"/>
              </a:ext>
            </a:extLst>
          </p:cNvPr>
          <p:cNvCxnSpPr>
            <a:cxnSpLocks/>
            <a:endCxn id="76" idx="1"/>
          </p:cNvCxnSpPr>
          <p:nvPr/>
        </p:nvCxnSpPr>
        <p:spPr>
          <a:xfrm>
            <a:off x="6614955" y="3244665"/>
            <a:ext cx="981012" cy="189450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直接箭头连接符 106">
            <a:extLst>
              <a:ext uri="{FF2B5EF4-FFF2-40B4-BE49-F238E27FC236}">
                <a16:creationId xmlns:a16="http://schemas.microsoft.com/office/drawing/2014/main" id="{F505219A-756B-1E91-EEB3-62863B41430A}"/>
              </a:ext>
            </a:extLst>
          </p:cNvPr>
          <p:cNvCxnSpPr>
            <a:cxnSpLocks/>
            <a:stCxn id="73" idx="6"/>
            <a:endCxn id="83" idx="1"/>
          </p:cNvCxnSpPr>
          <p:nvPr/>
        </p:nvCxnSpPr>
        <p:spPr>
          <a:xfrm flipV="1">
            <a:off x="8313563" y="3853292"/>
            <a:ext cx="927684" cy="128587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直接箭头连接符 109">
            <a:extLst>
              <a:ext uri="{FF2B5EF4-FFF2-40B4-BE49-F238E27FC236}">
                <a16:creationId xmlns:a16="http://schemas.microsoft.com/office/drawing/2014/main" id="{0468ADA3-24D8-1355-24FA-DEF24A3625A4}"/>
              </a:ext>
            </a:extLst>
          </p:cNvPr>
          <p:cNvCxnSpPr>
            <a:cxnSpLocks/>
            <a:stCxn id="52" idx="6"/>
            <a:endCxn id="76" idx="1"/>
          </p:cNvCxnSpPr>
          <p:nvPr/>
        </p:nvCxnSpPr>
        <p:spPr>
          <a:xfrm>
            <a:off x="6619763" y="5139167"/>
            <a:ext cx="976204"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直接箭头连接符 112">
            <a:extLst>
              <a:ext uri="{FF2B5EF4-FFF2-40B4-BE49-F238E27FC236}">
                <a16:creationId xmlns:a16="http://schemas.microsoft.com/office/drawing/2014/main" id="{647962DD-9E39-17A3-61C3-45874CEC686E}"/>
              </a:ext>
            </a:extLst>
          </p:cNvPr>
          <p:cNvCxnSpPr>
            <a:cxnSpLocks/>
            <a:stCxn id="38" idx="6"/>
            <a:endCxn id="55" idx="1"/>
          </p:cNvCxnSpPr>
          <p:nvPr/>
        </p:nvCxnSpPr>
        <p:spPr>
          <a:xfrm>
            <a:off x="4618538" y="4461917"/>
            <a:ext cx="1286034" cy="67725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直接箭头连接符 115">
            <a:extLst>
              <a:ext uri="{FF2B5EF4-FFF2-40B4-BE49-F238E27FC236}">
                <a16:creationId xmlns:a16="http://schemas.microsoft.com/office/drawing/2014/main" id="{0E263A49-3409-3523-362F-8B2F3F4443C7}"/>
              </a:ext>
            </a:extLst>
          </p:cNvPr>
          <p:cNvCxnSpPr>
            <a:cxnSpLocks/>
            <a:endCxn id="52" idx="2"/>
          </p:cNvCxnSpPr>
          <p:nvPr/>
        </p:nvCxnSpPr>
        <p:spPr>
          <a:xfrm flipV="1">
            <a:off x="4631963" y="5139167"/>
            <a:ext cx="1267800" cy="56611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直接箭头连接符 118">
            <a:extLst>
              <a:ext uri="{FF2B5EF4-FFF2-40B4-BE49-F238E27FC236}">
                <a16:creationId xmlns:a16="http://schemas.microsoft.com/office/drawing/2014/main" id="{2D3D45DA-8E59-4BD1-74ED-B79011A71740}"/>
              </a:ext>
            </a:extLst>
          </p:cNvPr>
          <p:cNvCxnSpPr>
            <a:cxnSpLocks/>
            <a:stCxn id="14" idx="6"/>
            <a:endCxn id="41" idx="1"/>
          </p:cNvCxnSpPr>
          <p:nvPr/>
        </p:nvCxnSpPr>
        <p:spPr>
          <a:xfrm>
            <a:off x="2955563" y="4101917"/>
            <a:ext cx="951791" cy="36000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3" name="文本框 122">
            <a:extLst>
              <a:ext uri="{FF2B5EF4-FFF2-40B4-BE49-F238E27FC236}">
                <a16:creationId xmlns:a16="http://schemas.microsoft.com/office/drawing/2014/main" id="{948B17A6-D6AF-AF09-B52D-F25689BCEFD2}"/>
              </a:ext>
            </a:extLst>
          </p:cNvPr>
          <p:cNvSpPr txBox="1"/>
          <p:nvPr/>
        </p:nvSpPr>
        <p:spPr>
          <a:xfrm>
            <a:off x="3149492" y="3424666"/>
            <a:ext cx="316112" cy="369332"/>
          </a:xfrm>
          <a:prstGeom prst="rect">
            <a:avLst/>
          </a:prstGeom>
          <a:noFill/>
        </p:spPr>
        <p:txBody>
          <a:bodyPr wrap="none" rtlCol="0">
            <a:noAutofit/>
          </a:bodyPr>
          <a:lstStyle/>
          <a:p>
            <a:r>
              <a:rPr lang="en-US" altLang="zh-CN" sz="1400">
                <a:solidFill>
                  <a:schemeClr val="bg1"/>
                </a:solidFill>
              </a:rPr>
              <a:t>2</a:t>
            </a:r>
            <a:endParaRPr lang="zh-CN" altLang="en-US" sz="1400">
              <a:solidFill>
                <a:schemeClr val="bg1"/>
              </a:solidFill>
            </a:endParaRPr>
          </a:p>
        </p:txBody>
      </p:sp>
      <p:sp>
        <p:nvSpPr>
          <p:cNvPr id="124" name="文本框 123">
            <a:extLst>
              <a:ext uri="{FF2B5EF4-FFF2-40B4-BE49-F238E27FC236}">
                <a16:creationId xmlns:a16="http://schemas.microsoft.com/office/drawing/2014/main" id="{3FE8D917-93D2-2A54-11EF-4B8B82032636}"/>
              </a:ext>
            </a:extLst>
          </p:cNvPr>
          <p:cNvSpPr txBox="1"/>
          <p:nvPr/>
        </p:nvSpPr>
        <p:spPr>
          <a:xfrm>
            <a:off x="6966941" y="2906111"/>
            <a:ext cx="316112" cy="369332"/>
          </a:xfrm>
          <a:prstGeom prst="rect">
            <a:avLst/>
          </a:prstGeom>
          <a:noFill/>
        </p:spPr>
        <p:txBody>
          <a:bodyPr wrap="none" rtlCol="0">
            <a:noAutofit/>
          </a:bodyPr>
          <a:lstStyle/>
          <a:p>
            <a:r>
              <a:rPr lang="en-US" altLang="zh-CN" sz="1400">
                <a:solidFill>
                  <a:schemeClr val="bg1"/>
                </a:solidFill>
              </a:rPr>
              <a:t>5</a:t>
            </a:r>
            <a:endParaRPr lang="zh-CN" altLang="en-US" sz="1400">
              <a:solidFill>
                <a:schemeClr val="bg1"/>
              </a:solidFill>
            </a:endParaRPr>
          </a:p>
        </p:txBody>
      </p:sp>
      <p:sp>
        <p:nvSpPr>
          <p:cNvPr id="125" name="文本框 124">
            <a:extLst>
              <a:ext uri="{FF2B5EF4-FFF2-40B4-BE49-F238E27FC236}">
                <a16:creationId xmlns:a16="http://schemas.microsoft.com/office/drawing/2014/main" id="{85AE7D87-AE8D-10C8-52A4-A43F6529255C}"/>
              </a:ext>
            </a:extLst>
          </p:cNvPr>
          <p:cNvSpPr txBox="1"/>
          <p:nvPr/>
        </p:nvSpPr>
        <p:spPr>
          <a:xfrm>
            <a:off x="3263906" y="4281916"/>
            <a:ext cx="316112" cy="369332"/>
          </a:xfrm>
          <a:prstGeom prst="rect">
            <a:avLst/>
          </a:prstGeom>
          <a:noFill/>
        </p:spPr>
        <p:txBody>
          <a:bodyPr wrap="none" rtlCol="0">
            <a:noAutofit/>
          </a:bodyPr>
          <a:lstStyle/>
          <a:p>
            <a:r>
              <a:rPr lang="en-US" altLang="zh-CN" sz="1400">
                <a:solidFill>
                  <a:schemeClr val="bg1"/>
                </a:solidFill>
              </a:rPr>
              <a:t>2</a:t>
            </a:r>
            <a:endParaRPr lang="zh-CN" altLang="en-US" sz="1400">
              <a:solidFill>
                <a:schemeClr val="bg1"/>
              </a:solidFill>
            </a:endParaRPr>
          </a:p>
        </p:txBody>
      </p:sp>
      <p:sp>
        <p:nvSpPr>
          <p:cNvPr id="126" name="文本框 125">
            <a:extLst>
              <a:ext uri="{FF2B5EF4-FFF2-40B4-BE49-F238E27FC236}">
                <a16:creationId xmlns:a16="http://schemas.microsoft.com/office/drawing/2014/main" id="{854458B3-95E4-A44F-4E82-A31A44341F00}"/>
              </a:ext>
            </a:extLst>
          </p:cNvPr>
          <p:cNvSpPr txBox="1"/>
          <p:nvPr/>
        </p:nvSpPr>
        <p:spPr>
          <a:xfrm>
            <a:off x="5161512" y="4496229"/>
            <a:ext cx="268022" cy="369332"/>
          </a:xfrm>
          <a:prstGeom prst="rect">
            <a:avLst/>
          </a:prstGeom>
          <a:noFill/>
        </p:spPr>
        <p:txBody>
          <a:bodyPr wrap="none" rtlCol="0">
            <a:noAutofit/>
          </a:bodyPr>
          <a:lstStyle/>
          <a:p>
            <a:r>
              <a:rPr lang="en-US" altLang="zh-CN" sz="1400">
                <a:solidFill>
                  <a:schemeClr val="bg1"/>
                </a:solidFill>
              </a:rPr>
              <a:t>1</a:t>
            </a:r>
            <a:endParaRPr lang="zh-CN" altLang="en-US" sz="1400">
              <a:solidFill>
                <a:schemeClr val="bg1"/>
              </a:solidFill>
            </a:endParaRPr>
          </a:p>
        </p:txBody>
      </p:sp>
      <p:sp>
        <p:nvSpPr>
          <p:cNvPr id="127" name="文本框 126">
            <a:extLst>
              <a:ext uri="{FF2B5EF4-FFF2-40B4-BE49-F238E27FC236}">
                <a16:creationId xmlns:a16="http://schemas.microsoft.com/office/drawing/2014/main" id="{02D6BE33-9957-63EE-A568-B6D92A7E6C35}"/>
              </a:ext>
            </a:extLst>
          </p:cNvPr>
          <p:cNvSpPr txBox="1"/>
          <p:nvPr/>
        </p:nvSpPr>
        <p:spPr>
          <a:xfrm>
            <a:off x="5075911" y="5422222"/>
            <a:ext cx="336952" cy="369332"/>
          </a:xfrm>
          <a:prstGeom prst="rect">
            <a:avLst/>
          </a:prstGeom>
          <a:noFill/>
        </p:spPr>
        <p:txBody>
          <a:bodyPr wrap="none" rtlCol="0">
            <a:noAutofit/>
          </a:bodyPr>
          <a:lstStyle/>
          <a:p>
            <a:r>
              <a:rPr lang="en-US" altLang="zh-CN" sz="1400">
                <a:solidFill>
                  <a:schemeClr val="bg1"/>
                </a:solidFill>
              </a:rPr>
              <a:t>4</a:t>
            </a:r>
            <a:endParaRPr lang="zh-CN" altLang="en-US" sz="1400">
              <a:solidFill>
                <a:schemeClr val="bg1"/>
              </a:solidFill>
            </a:endParaRPr>
          </a:p>
        </p:txBody>
      </p:sp>
      <p:sp>
        <p:nvSpPr>
          <p:cNvPr id="128" name="文本框 127">
            <a:extLst>
              <a:ext uri="{FF2B5EF4-FFF2-40B4-BE49-F238E27FC236}">
                <a16:creationId xmlns:a16="http://schemas.microsoft.com/office/drawing/2014/main" id="{135B024D-852E-7D0E-9CE6-C15A88515F6F}"/>
              </a:ext>
            </a:extLst>
          </p:cNvPr>
          <p:cNvSpPr txBox="1"/>
          <p:nvPr/>
        </p:nvSpPr>
        <p:spPr>
          <a:xfrm>
            <a:off x="6948607" y="4765169"/>
            <a:ext cx="268022" cy="369332"/>
          </a:xfrm>
          <a:prstGeom prst="rect">
            <a:avLst/>
          </a:prstGeom>
          <a:noFill/>
        </p:spPr>
        <p:txBody>
          <a:bodyPr wrap="none" rtlCol="0">
            <a:noAutofit/>
          </a:bodyPr>
          <a:lstStyle/>
          <a:p>
            <a:r>
              <a:rPr lang="en-US" altLang="zh-CN" sz="1400">
                <a:solidFill>
                  <a:schemeClr val="bg1"/>
                </a:solidFill>
              </a:rPr>
              <a:t>1</a:t>
            </a:r>
            <a:endParaRPr lang="zh-CN" altLang="en-US" sz="1400">
              <a:solidFill>
                <a:schemeClr val="bg1"/>
              </a:solidFill>
            </a:endParaRPr>
          </a:p>
        </p:txBody>
      </p:sp>
      <p:sp>
        <p:nvSpPr>
          <p:cNvPr id="129" name="文本框 128">
            <a:extLst>
              <a:ext uri="{FF2B5EF4-FFF2-40B4-BE49-F238E27FC236}">
                <a16:creationId xmlns:a16="http://schemas.microsoft.com/office/drawing/2014/main" id="{ACE01207-9172-5925-1C00-FC257C2A937B}"/>
              </a:ext>
            </a:extLst>
          </p:cNvPr>
          <p:cNvSpPr txBox="1"/>
          <p:nvPr/>
        </p:nvSpPr>
        <p:spPr>
          <a:xfrm>
            <a:off x="7132636" y="3930306"/>
            <a:ext cx="316112" cy="369332"/>
          </a:xfrm>
          <a:prstGeom prst="rect">
            <a:avLst/>
          </a:prstGeom>
          <a:noFill/>
        </p:spPr>
        <p:txBody>
          <a:bodyPr wrap="none" rtlCol="0">
            <a:noAutofit/>
          </a:bodyPr>
          <a:lstStyle/>
          <a:p>
            <a:r>
              <a:rPr lang="en-US" altLang="zh-CN" sz="1400">
                <a:solidFill>
                  <a:schemeClr val="bg1"/>
                </a:solidFill>
              </a:rPr>
              <a:t>5</a:t>
            </a:r>
            <a:endParaRPr lang="zh-CN" altLang="en-US" sz="1400">
              <a:solidFill>
                <a:schemeClr val="bg1"/>
              </a:solidFill>
            </a:endParaRPr>
          </a:p>
        </p:txBody>
      </p:sp>
      <p:sp>
        <p:nvSpPr>
          <p:cNvPr id="130" name="文本框 129">
            <a:extLst>
              <a:ext uri="{FF2B5EF4-FFF2-40B4-BE49-F238E27FC236}">
                <a16:creationId xmlns:a16="http://schemas.microsoft.com/office/drawing/2014/main" id="{636C7201-E4A9-E25A-3C36-1BB48601A8C9}"/>
              </a:ext>
            </a:extLst>
          </p:cNvPr>
          <p:cNvSpPr txBox="1"/>
          <p:nvPr/>
        </p:nvSpPr>
        <p:spPr>
          <a:xfrm>
            <a:off x="8673329" y="3213888"/>
            <a:ext cx="325730" cy="369332"/>
          </a:xfrm>
          <a:prstGeom prst="rect">
            <a:avLst/>
          </a:prstGeom>
          <a:noFill/>
        </p:spPr>
        <p:txBody>
          <a:bodyPr wrap="none" rtlCol="0">
            <a:noAutofit/>
          </a:bodyPr>
          <a:lstStyle/>
          <a:p>
            <a:r>
              <a:rPr lang="en-US" altLang="zh-CN" sz="1400">
                <a:solidFill>
                  <a:schemeClr val="bg1"/>
                </a:solidFill>
              </a:rPr>
              <a:t>6</a:t>
            </a:r>
            <a:endParaRPr lang="zh-CN" altLang="en-US" sz="1400">
              <a:solidFill>
                <a:schemeClr val="bg1"/>
              </a:solidFill>
            </a:endParaRPr>
          </a:p>
        </p:txBody>
      </p:sp>
      <p:sp>
        <p:nvSpPr>
          <p:cNvPr id="131" name="文本框 130">
            <a:extLst>
              <a:ext uri="{FF2B5EF4-FFF2-40B4-BE49-F238E27FC236}">
                <a16:creationId xmlns:a16="http://schemas.microsoft.com/office/drawing/2014/main" id="{2AEE48D5-E924-734D-DD5E-6F84B1E1E6BD}"/>
              </a:ext>
            </a:extLst>
          </p:cNvPr>
          <p:cNvSpPr txBox="1"/>
          <p:nvPr/>
        </p:nvSpPr>
        <p:spPr>
          <a:xfrm>
            <a:off x="8777405" y="4429302"/>
            <a:ext cx="336952" cy="369332"/>
          </a:xfrm>
          <a:prstGeom prst="rect">
            <a:avLst/>
          </a:prstGeom>
          <a:noFill/>
        </p:spPr>
        <p:txBody>
          <a:bodyPr wrap="none" rtlCol="0">
            <a:noAutofit/>
          </a:bodyPr>
          <a:lstStyle/>
          <a:p>
            <a:r>
              <a:rPr lang="en-US" altLang="zh-CN" sz="1400">
                <a:solidFill>
                  <a:schemeClr val="bg1"/>
                </a:solidFill>
              </a:rPr>
              <a:t>4</a:t>
            </a:r>
            <a:endParaRPr lang="zh-CN" altLang="en-US" sz="1400">
              <a:solidFill>
                <a:schemeClr val="bg1"/>
              </a:solidFill>
            </a:endParaRPr>
          </a:p>
        </p:txBody>
      </p:sp>
      <p:sp>
        <p:nvSpPr>
          <p:cNvPr id="133" name="文本框 132">
            <a:extLst>
              <a:ext uri="{FF2B5EF4-FFF2-40B4-BE49-F238E27FC236}">
                <a16:creationId xmlns:a16="http://schemas.microsoft.com/office/drawing/2014/main" id="{814F9EFA-2379-F2B2-72A9-E2A05865FC3F}"/>
              </a:ext>
            </a:extLst>
          </p:cNvPr>
          <p:cNvSpPr txBox="1"/>
          <p:nvPr/>
        </p:nvSpPr>
        <p:spPr>
          <a:xfrm>
            <a:off x="5043964" y="2880000"/>
            <a:ext cx="316112" cy="369332"/>
          </a:xfrm>
          <a:prstGeom prst="rect">
            <a:avLst/>
          </a:prstGeom>
          <a:noFill/>
        </p:spPr>
        <p:txBody>
          <a:bodyPr wrap="none" rtlCol="0">
            <a:noAutofit/>
          </a:bodyPr>
          <a:lstStyle/>
          <a:p>
            <a:r>
              <a:rPr lang="en-US" altLang="zh-CN" sz="1400">
                <a:solidFill>
                  <a:schemeClr val="bg1"/>
                </a:solidFill>
              </a:rPr>
              <a:t>2</a:t>
            </a:r>
            <a:endParaRPr lang="zh-CN" altLang="en-US" sz="1400">
              <a:solidFill>
                <a:schemeClr val="bg1"/>
              </a:solidFill>
            </a:endParaRPr>
          </a:p>
        </p:txBody>
      </p:sp>
      <p:sp>
        <p:nvSpPr>
          <p:cNvPr id="3" name="文本框 2">
            <a:extLst>
              <a:ext uri="{FF2B5EF4-FFF2-40B4-BE49-F238E27FC236}">
                <a16:creationId xmlns:a16="http://schemas.microsoft.com/office/drawing/2014/main" id="{85FF8E86-9E11-A41A-8B14-8CE36A3EF599}"/>
              </a:ext>
            </a:extLst>
          </p:cNvPr>
          <p:cNvSpPr txBox="1"/>
          <p:nvPr/>
        </p:nvSpPr>
        <p:spPr>
          <a:xfrm>
            <a:off x="6573109" y="2974249"/>
            <a:ext cx="303288" cy="738664"/>
          </a:xfrm>
          <a:prstGeom prst="rect">
            <a:avLst/>
          </a:prstGeom>
          <a:noFill/>
        </p:spPr>
        <p:txBody>
          <a:bodyPr wrap="none" rtlCol="0">
            <a:spAutoFit/>
          </a:bodyPr>
          <a:lstStyle/>
          <a:p>
            <a:r>
              <a:rPr lang="en-US" altLang="zh-CN" sz="1400" dirty="0">
                <a:solidFill>
                  <a:schemeClr val="bg1"/>
                </a:solidFill>
              </a:rPr>
              <a:t>4</a:t>
            </a:r>
          </a:p>
          <a:p>
            <a:endParaRPr lang="en-US" altLang="zh-CN" sz="1400" dirty="0">
              <a:solidFill>
                <a:schemeClr val="bg1"/>
              </a:solidFill>
            </a:endParaRPr>
          </a:p>
          <a:p>
            <a:r>
              <a:rPr lang="en-US" altLang="zh-CN" sz="1400" strike="dblStrike" dirty="0">
                <a:solidFill>
                  <a:srgbClr val="FFFF00"/>
                </a:solidFill>
              </a:rPr>
              <a:t>6</a:t>
            </a:r>
            <a:endParaRPr lang="zh-CN" altLang="en-US" sz="1400" strike="dblStrike" dirty="0">
              <a:solidFill>
                <a:srgbClr val="FFFF00"/>
              </a:solidFill>
            </a:endParaRPr>
          </a:p>
        </p:txBody>
      </p:sp>
      <p:sp>
        <p:nvSpPr>
          <p:cNvPr id="4" name="文本框 3">
            <a:extLst>
              <a:ext uri="{FF2B5EF4-FFF2-40B4-BE49-F238E27FC236}">
                <a16:creationId xmlns:a16="http://schemas.microsoft.com/office/drawing/2014/main" id="{6704D341-60B5-6A5E-DB15-C46C8D4B756B}"/>
              </a:ext>
            </a:extLst>
          </p:cNvPr>
          <p:cNvSpPr txBox="1"/>
          <p:nvPr/>
        </p:nvSpPr>
        <p:spPr>
          <a:xfrm>
            <a:off x="2929492" y="3700340"/>
            <a:ext cx="293670" cy="738664"/>
          </a:xfrm>
          <a:prstGeom prst="rect">
            <a:avLst/>
          </a:prstGeom>
          <a:noFill/>
        </p:spPr>
        <p:txBody>
          <a:bodyPr wrap="none" rtlCol="0">
            <a:spAutoFit/>
          </a:bodyPr>
          <a:lstStyle/>
          <a:p>
            <a:r>
              <a:rPr lang="en-US" altLang="zh-CN" sz="1400" dirty="0">
                <a:solidFill>
                  <a:schemeClr val="bg1"/>
                </a:solidFill>
              </a:rPr>
              <a:t>2</a:t>
            </a:r>
          </a:p>
          <a:p>
            <a:endParaRPr lang="en-US" altLang="zh-CN" sz="1400" dirty="0">
              <a:solidFill>
                <a:schemeClr val="bg1"/>
              </a:solidFill>
            </a:endParaRPr>
          </a:p>
          <a:p>
            <a:r>
              <a:rPr lang="en-US" altLang="zh-CN" sz="1400" strike="dblStrike" dirty="0">
                <a:solidFill>
                  <a:srgbClr val="FFFF00"/>
                </a:solidFill>
              </a:rPr>
              <a:t>7</a:t>
            </a:r>
            <a:endParaRPr lang="zh-CN" altLang="en-US" sz="1400" strike="dblStrike" dirty="0">
              <a:solidFill>
                <a:srgbClr val="FFFF00"/>
              </a:solidFill>
            </a:endParaRPr>
          </a:p>
        </p:txBody>
      </p:sp>
      <p:sp>
        <p:nvSpPr>
          <p:cNvPr id="8" name="文本框 7">
            <a:extLst>
              <a:ext uri="{FF2B5EF4-FFF2-40B4-BE49-F238E27FC236}">
                <a16:creationId xmlns:a16="http://schemas.microsoft.com/office/drawing/2014/main" id="{4BD7E408-25FA-8A1D-E0D6-AFFF1A8098EA}"/>
              </a:ext>
            </a:extLst>
          </p:cNvPr>
          <p:cNvSpPr txBox="1"/>
          <p:nvPr/>
        </p:nvSpPr>
        <p:spPr>
          <a:xfrm>
            <a:off x="1211718" y="986013"/>
            <a:ext cx="3506088" cy="584775"/>
          </a:xfrm>
          <a:prstGeom prst="rect">
            <a:avLst/>
          </a:prstGeom>
          <a:noFill/>
        </p:spPr>
        <p:txBody>
          <a:bodyPr wrap="none" rtlCol="0">
            <a:spAutoFit/>
          </a:bodyPr>
          <a:lstStyle/>
          <a:p>
            <a:pPr algn="l"/>
            <a:r>
              <a:rPr lang="zh-CN" altLang="en-US" sz="1600" dirty="0">
                <a:solidFill>
                  <a:schemeClr val="bg1"/>
                </a:solidFill>
              </a:rPr>
              <a:t>根据总工期 </a:t>
            </a:r>
            <a:r>
              <a:rPr lang="en-US" altLang="zh-CN" sz="1600" dirty="0">
                <a:solidFill>
                  <a:schemeClr val="bg1"/>
                </a:solidFill>
              </a:rPr>
              <a:t>15</a:t>
            </a:r>
            <a:r>
              <a:rPr lang="zh-CN" altLang="en-US" sz="1600" dirty="0">
                <a:solidFill>
                  <a:schemeClr val="bg1"/>
                </a:solidFill>
              </a:rPr>
              <a:t>，逆推：最晚开始时间</a:t>
            </a:r>
          </a:p>
          <a:p>
            <a:pPr algn="l"/>
            <a:r>
              <a:rPr lang="zh-CN" altLang="en-US" sz="1600" dirty="0">
                <a:solidFill>
                  <a:schemeClr val="bg1"/>
                </a:solidFill>
              </a:rPr>
              <a:t>事件汇总，取最小值</a:t>
            </a:r>
          </a:p>
        </p:txBody>
      </p:sp>
      <p:sp>
        <p:nvSpPr>
          <p:cNvPr id="10" name="文本框 9">
            <a:extLst>
              <a:ext uri="{FF2B5EF4-FFF2-40B4-BE49-F238E27FC236}">
                <a16:creationId xmlns:a16="http://schemas.microsoft.com/office/drawing/2014/main" id="{55923537-4212-8353-D42D-66AB73912A4F}"/>
              </a:ext>
            </a:extLst>
          </p:cNvPr>
          <p:cNvSpPr txBox="1"/>
          <p:nvPr/>
        </p:nvSpPr>
        <p:spPr>
          <a:xfrm>
            <a:off x="1219920" y="467460"/>
            <a:ext cx="6179897" cy="338554"/>
          </a:xfrm>
          <a:prstGeom prst="rect">
            <a:avLst/>
          </a:prstGeom>
          <a:noFill/>
        </p:spPr>
        <p:txBody>
          <a:bodyPr wrap="none" rtlCol="0">
            <a:spAutoFit/>
          </a:bodyPr>
          <a:lstStyle/>
          <a:p>
            <a:pPr algn="l"/>
            <a:r>
              <a:rPr lang="zh-CN" altLang="en-US" sz="1600" dirty="0">
                <a:solidFill>
                  <a:schemeClr val="bg1"/>
                </a:solidFill>
              </a:rPr>
              <a:t>例：根据 </a:t>
            </a:r>
            <a:r>
              <a:rPr lang="en-US" altLang="zh-CN" sz="1600" dirty="0">
                <a:solidFill>
                  <a:schemeClr val="bg1"/>
                </a:solidFill>
              </a:rPr>
              <a:t>PERT </a:t>
            </a:r>
            <a:r>
              <a:rPr lang="zh-CN" altLang="en-US" sz="1600" dirty="0">
                <a:solidFill>
                  <a:schemeClr val="bg1"/>
                </a:solidFill>
              </a:rPr>
              <a:t>求各事件最早时间、最晚时间、总工期、最大路径</a:t>
            </a:r>
          </a:p>
        </p:txBody>
      </p:sp>
    </p:spTree>
    <p:extLst>
      <p:ext uri="{BB962C8B-B14F-4D97-AF65-F5344CB8AC3E}">
        <p14:creationId xmlns:p14="http://schemas.microsoft.com/office/powerpoint/2010/main" val="2831213795"/>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7EBC85F1-A3FD-B2EE-1190-7BC2978DAEE2}"/>
              </a:ext>
            </a:extLst>
          </p:cNvPr>
          <p:cNvGraphicFramePr>
            <a:graphicFrameLocks noGrp="1"/>
          </p:cNvGraphicFramePr>
          <p:nvPr>
            <p:extLst>
              <p:ext uri="{D42A27DB-BD31-4B8C-83A1-F6EECF244321}">
                <p14:modId xmlns:p14="http://schemas.microsoft.com/office/powerpoint/2010/main" val="168775592"/>
              </p:ext>
            </p:extLst>
          </p:nvPr>
        </p:nvGraphicFramePr>
        <p:xfrm>
          <a:off x="397854" y="1234281"/>
          <a:ext cx="864000" cy="648000"/>
        </p:xfrm>
        <a:graphic>
          <a:graphicData uri="http://schemas.openxmlformats.org/drawingml/2006/table">
            <a:tbl>
              <a:tblPr firstRow="1" bandRow="1">
                <a:tableStyleId>{2D5ABB26-0587-4C30-8999-92F81FD0307C}</a:tableStyleId>
              </a:tblPr>
              <a:tblGrid>
                <a:gridCol w="288000">
                  <a:extLst>
                    <a:ext uri="{9D8B030D-6E8A-4147-A177-3AD203B41FA5}">
                      <a16:colId xmlns:a16="http://schemas.microsoft.com/office/drawing/2014/main" val="3960536262"/>
                    </a:ext>
                  </a:extLst>
                </a:gridCol>
                <a:gridCol w="288000">
                  <a:extLst>
                    <a:ext uri="{9D8B030D-6E8A-4147-A177-3AD203B41FA5}">
                      <a16:colId xmlns:a16="http://schemas.microsoft.com/office/drawing/2014/main" val="2140318526"/>
                    </a:ext>
                  </a:extLst>
                </a:gridCol>
                <a:gridCol w="288000">
                  <a:extLst>
                    <a:ext uri="{9D8B030D-6E8A-4147-A177-3AD203B41FA5}">
                      <a16:colId xmlns:a16="http://schemas.microsoft.com/office/drawing/2014/main" val="3000295592"/>
                    </a:ext>
                  </a:extLst>
                </a:gridCol>
              </a:tblGrid>
              <a:tr h="216000">
                <a:tc>
                  <a:txBody>
                    <a:bodyPr/>
                    <a:lstStyle/>
                    <a:p>
                      <a:pPr algn="ctr"/>
                      <a:r>
                        <a:rPr lang="en-US" altLang="zh-CN" sz="700" dirty="0">
                          <a:solidFill>
                            <a:sysClr val="windowText" lastClr="000000"/>
                          </a:solidFill>
                          <a:latin typeface="Times New Roman" panose="02020603050405020304" pitchFamily="18" charset="0"/>
                          <a:cs typeface="Times New Roman" panose="02020603050405020304" pitchFamily="18" charset="0"/>
                        </a:rPr>
                        <a:t>0</a:t>
                      </a: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latin typeface="Times New Roman" panose="02020603050405020304" pitchFamily="18" charset="0"/>
                          <a:cs typeface="Times New Roman" panose="02020603050405020304" pitchFamily="18" charset="0"/>
                        </a:rPr>
                        <a:t>2</a:t>
                      </a: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latin typeface="Times New Roman" panose="02020603050405020304" pitchFamily="18" charset="0"/>
                          <a:cs typeface="Times New Roman" panose="02020603050405020304" pitchFamily="18" charset="0"/>
                        </a:rPr>
                        <a:t>2</a:t>
                      </a: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0399424"/>
                  </a:ext>
                </a:extLst>
              </a:tr>
              <a:tr h="216000">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latin typeface="Times New Roman" panose="02020603050405020304" pitchFamily="18" charset="0"/>
                          <a:cs typeface="Times New Roman" panose="02020603050405020304" pitchFamily="18" charset="0"/>
                        </a:rPr>
                        <a:t>A</a:t>
                      </a: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6690076"/>
                  </a:ext>
                </a:extLst>
              </a:tr>
              <a:tr h="216000">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latin typeface="Times New Roman" panose="02020603050405020304" pitchFamily="18" charset="0"/>
                          <a:cs typeface="Times New Roman" panose="02020603050405020304" pitchFamily="18" charset="0"/>
                        </a:rPr>
                        <a:t>2</a:t>
                      </a: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513378"/>
                  </a:ext>
                </a:extLst>
              </a:tr>
            </a:tbl>
          </a:graphicData>
        </a:graphic>
      </p:graphicFrame>
      <p:graphicFrame>
        <p:nvGraphicFramePr>
          <p:cNvPr id="7" name="表格 6">
            <a:extLst>
              <a:ext uri="{FF2B5EF4-FFF2-40B4-BE49-F238E27FC236}">
                <a16:creationId xmlns:a16="http://schemas.microsoft.com/office/drawing/2014/main" id="{14063665-FA6E-E27D-B448-EADC58140326}"/>
              </a:ext>
            </a:extLst>
          </p:cNvPr>
          <p:cNvGraphicFramePr>
            <a:graphicFrameLocks noGrp="1"/>
          </p:cNvGraphicFramePr>
          <p:nvPr>
            <p:extLst>
              <p:ext uri="{D42A27DB-BD31-4B8C-83A1-F6EECF244321}">
                <p14:modId xmlns:p14="http://schemas.microsoft.com/office/powerpoint/2010/main" val="3695530814"/>
              </p:ext>
            </p:extLst>
          </p:nvPr>
        </p:nvGraphicFramePr>
        <p:xfrm>
          <a:off x="1701567" y="417004"/>
          <a:ext cx="864000" cy="648000"/>
        </p:xfrm>
        <a:graphic>
          <a:graphicData uri="http://schemas.openxmlformats.org/drawingml/2006/table">
            <a:tbl>
              <a:tblPr firstRow="1" bandRow="1">
                <a:tableStyleId>{2D5ABB26-0587-4C30-8999-92F81FD0307C}</a:tableStyleId>
              </a:tblPr>
              <a:tblGrid>
                <a:gridCol w="288000">
                  <a:extLst>
                    <a:ext uri="{9D8B030D-6E8A-4147-A177-3AD203B41FA5}">
                      <a16:colId xmlns:a16="http://schemas.microsoft.com/office/drawing/2014/main" val="3960536262"/>
                    </a:ext>
                  </a:extLst>
                </a:gridCol>
                <a:gridCol w="288000">
                  <a:extLst>
                    <a:ext uri="{9D8B030D-6E8A-4147-A177-3AD203B41FA5}">
                      <a16:colId xmlns:a16="http://schemas.microsoft.com/office/drawing/2014/main" val="2140318526"/>
                    </a:ext>
                  </a:extLst>
                </a:gridCol>
                <a:gridCol w="288000">
                  <a:extLst>
                    <a:ext uri="{9D8B030D-6E8A-4147-A177-3AD203B41FA5}">
                      <a16:colId xmlns:a16="http://schemas.microsoft.com/office/drawing/2014/main" val="3000295592"/>
                    </a:ext>
                  </a:extLst>
                </a:gridCol>
              </a:tblGrid>
              <a:tr h="216000">
                <a:tc>
                  <a:txBody>
                    <a:bodyPr/>
                    <a:lstStyle/>
                    <a:p>
                      <a:pPr algn="ctr"/>
                      <a:r>
                        <a:rPr lang="en-US" altLang="zh-CN" sz="700" dirty="0">
                          <a:solidFill>
                            <a:sysClr val="windowText" lastClr="000000"/>
                          </a:solidFill>
                          <a:latin typeface="Times New Roman" panose="02020603050405020304" pitchFamily="18" charset="0"/>
                          <a:cs typeface="Times New Roman" panose="02020603050405020304" pitchFamily="18" charset="0"/>
                        </a:rPr>
                        <a:t>2</a:t>
                      </a: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latin typeface="Times New Roman" panose="02020603050405020304" pitchFamily="18" charset="0"/>
                          <a:cs typeface="Times New Roman" panose="02020603050405020304" pitchFamily="18" charset="0"/>
                        </a:rPr>
                        <a:t>4</a:t>
                      </a: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latin typeface="Times New Roman" panose="02020603050405020304" pitchFamily="18" charset="0"/>
                          <a:cs typeface="Times New Roman" panose="02020603050405020304" pitchFamily="18" charset="0"/>
                        </a:rPr>
                        <a:t>6</a:t>
                      </a: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0399424"/>
                  </a:ext>
                </a:extLst>
              </a:tr>
              <a:tr h="216000">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latin typeface="Times New Roman" panose="02020603050405020304" pitchFamily="18" charset="0"/>
                          <a:cs typeface="Times New Roman" panose="02020603050405020304" pitchFamily="18" charset="0"/>
                        </a:rPr>
                        <a:t>B</a:t>
                      </a: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6690076"/>
                  </a:ext>
                </a:extLst>
              </a:tr>
              <a:tr h="216000">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513378"/>
                  </a:ext>
                </a:extLst>
              </a:tr>
            </a:tbl>
          </a:graphicData>
        </a:graphic>
      </p:graphicFrame>
      <p:graphicFrame>
        <p:nvGraphicFramePr>
          <p:cNvPr id="9" name="表格 8">
            <a:extLst>
              <a:ext uri="{FF2B5EF4-FFF2-40B4-BE49-F238E27FC236}">
                <a16:creationId xmlns:a16="http://schemas.microsoft.com/office/drawing/2014/main" id="{A3C3B5FB-848F-D20D-CD99-F7AD1A795D96}"/>
              </a:ext>
            </a:extLst>
          </p:cNvPr>
          <p:cNvGraphicFramePr>
            <a:graphicFrameLocks noGrp="1"/>
          </p:cNvGraphicFramePr>
          <p:nvPr>
            <p:extLst>
              <p:ext uri="{D42A27DB-BD31-4B8C-83A1-F6EECF244321}">
                <p14:modId xmlns:p14="http://schemas.microsoft.com/office/powerpoint/2010/main" val="3870268713"/>
              </p:ext>
            </p:extLst>
          </p:nvPr>
        </p:nvGraphicFramePr>
        <p:xfrm>
          <a:off x="1701567" y="2051558"/>
          <a:ext cx="864000" cy="648000"/>
        </p:xfrm>
        <a:graphic>
          <a:graphicData uri="http://schemas.openxmlformats.org/drawingml/2006/table">
            <a:tbl>
              <a:tblPr firstRow="1" bandRow="1">
                <a:tableStyleId>{2D5ABB26-0587-4C30-8999-92F81FD0307C}</a:tableStyleId>
              </a:tblPr>
              <a:tblGrid>
                <a:gridCol w="288000">
                  <a:extLst>
                    <a:ext uri="{9D8B030D-6E8A-4147-A177-3AD203B41FA5}">
                      <a16:colId xmlns:a16="http://schemas.microsoft.com/office/drawing/2014/main" val="3960536262"/>
                    </a:ext>
                  </a:extLst>
                </a:gridCol>
                <a:gridCol w="288000">
                  <a:extLst>
                    <a:ext uri="{9D8B030D-6E8A-4147-A177-3AD203B41FA5}">
                      <a16:colId xmlns:a16="http://schemas.microsoft.com/office/drawing/2014/main" val="2140318526"/>
                    </a:ext>
                  </a:extLst>
                </a:gridCol>
                <a:gridCol w="288000">
                  <a:extLst>
                    <a:ext uri="{9D8B030D-6E8A-4147-A177-3AD203B41FA5}">
                      <a16:colId xmlns:a16="http://schemas.microsoft.com/office/drawing/2014/main" val="3000295592"/>
                    </a:ext>
                  </a:extLst>
                </a:gridCol>
              </a:tblGrid>
              <a:tr h="216000">
                <a:tc>
                  <a:txBody>
                    <a:bodyPr/>
                    <a:lstStyle/>
                    <a:p>
                      <a:pPr algn="ctr"/>
                      <a:r>
                        <a:rPr lang="en-US" altLang="zh-CN" sz="700" dirty="0">
                          <a:solidFill>
                            <a:sysClr val="windowText" lastClr="000000"/>
                          </a:solidFill>
                          <a:latin typeface="Times New Roman" panose="02020603050405020304" pitchFamily="18" charset="0"/>
                          <a:cs typeface="Times New Roman" panose="02020603050405020304" pitchFamily="18" charset="0"/>
                        </a:rPr>
                        <a:t>2</a:t>
                      </a: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latin typeface="Times New Roman" panose="02020603050405020304" pitchFamily="18" charset="0"/>
                          <a:cs typeface="Times New Roman" panose="02020603050405020304" pitchFamily="18" charset="0"/>
                        </a:rPr>
                        <a:t>6</a:t>
                      </a: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latin typeface="Times New Roman" panose="02020603050405020304" pitchFamily="18" charset="0"/>
                          <a:cs typeface="Times New Roman" panose="02020603050405020304" pitchFamily="18" charset="0"/>
                        </a:rPr>
                        <a:t>8</a:t>
                      </a: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0399424"/>
                  </a:ext>
                </a:extLst>
              </a:tr>
              <a:tr h="216000">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latin typeface="Times New Roman" panose="02020603050405020304" pitchFamily="18" charset="0"/>
                          <a:cs typeface="Times New Roman" panose="02020603050405020304" pitchFamily="18" charset="0"/>
                        </a:rPr>
                        <a:t>D</a:t>
                      </a: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6690076"/>
                  </a:ext>
                </a:extLst>
              </a:tr>
              <a:tr h="216000">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513378"/>
                  </a:ext>
                </a:extLst>
              </a:tr>
            </a:tbl>
          </a:graphicData>
        </a:graphic>
      </p:graphicFrame>
      <p:graphicFrame>
        <p:nvGraphicFramePr>
          <p:cNvPr id="11" name="表格 10">
            <a:extLst>
              <a:ext uri="{FF2B5EF4-FFF2-40B4-BE49-F238E27FC236}">
                <a16:creationId xmlns:a16="http://schemas.microsoft.com/office/drawing/2014/main" id="{B80891D7-9BF0-9D8A-C58C-3F2333BE8499}"/>
              </a:ext>
            </a:extLst>
          </p:cNvPr>
          <p:cNvGraphicFramePr>
            <a:graphicFrameLocks noGrp="1"/>
          </p:cNvGraphicFramePr>
          <p:nvPr>
            <p:extLst>
              <p:ext uri="{D42A27DB-BD31-4B8C-83A1-F6EECF244321}">
                <p14:modId xmlns:p14="http://schemas.microsoft.com/office/powerpoint/2010/main" val="2236147290"/>
              </p:ext>
            </p:extLst>
          </p:nvPr>
        </p:nvGraphicFramePr>
        <p:xfrm>
          <a:off x="1701567" y="1234280"/>
          <a:ext cx="864000" cy="648000"/>
        </p:xfrm>
        <a:graphic>
          <a:graphicData uri="http://schemas.openxmlformats.org/drawingml/2006/table">
            <a:tbl>
              <a:tblPr firstRow="1" bandRow="1">
                <a:tableStyleId>{2D5ABB26-0587-4C30-8999-92F81FD0307C}</a:tableStyleId>
              </a:tblPr>
              <a:tblGrid>
                <a:gridCol w="288000">
                  <a:extLst>
                    <a:ext uri="{9D8B030D-6E8A-4147-A177-3AD203B41FA5}">
                      <a16:colId xmlns:a16="http://schemas.microsoft.com/office/drawing/2014/main" val="3960536262"/>
                    </a:ext>
                  </a:extLst>
                </a:gridCol>
                <a:gridCol w="288000">
                  <a:extLst>
                    <a:ext uri="{9D8B030D-6E8A-4147-A177-3AD203B41FA5}">
                      <a16:colId xmlns:a16="http://schemas.microsoft.com/office/drawing/2014/main" val="2140318526"/>
                    </a:ext>
                  </a:extLst>
                </a:gridCol>
                <a:gridCol w="288000">
                  <a:extLst>
                    <a:ext uri="{9D8B030D-6E8A-4147-A177-3AD203B41FA5}">
                      <a16:colId xmlns:a16="http://schemas.microsoft.com/office/drawing/2014/main" val="3000295592"/>
                    </a:ext>
                  </a:extLst>
                </a:gridCol>
              </a:tblGrid>
              <a:tr h="216000">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latin typeface="Times New Roman" panose="02020603050405020304" pitchFamily="18" charset="0"/>
                          <a:cs typeface="Times New Roman" panose="02020603050405020304" pitchFamily="18" charset="0"/>
                        </a:rPr>
                        <a:t>5</a:t>
                      </a: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latin typeface="Times New Roman" panose="02020603050405020304" pitchFamily="18" charset="0"/>
                          <a:cs typeface="Times New Roman" panose="02020603050405020304" pitchFamily="18" charset="0"/>
                        </a:rPr>
                        <a:t>7</a:t>
                      </a: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0399424"/>
                  </a:ext>
                </a:extLst>
              </a:tr>
              <a:tr h="216000">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latin typeface="Times New Roman" panose="02020603050405020304" pitchFamily="18" charset="0"/>
                          <a:cs typeface="Times New Roman" panose="02020603050405020304" pitchFamily="18" charset="0"/>
                        </a:rPr>
                        <a:t>C</a:t>
                      </a: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6690076"/>
                  </a:ext>
                </a:extLst>
              </a:tr>
              <a:tr h="216000">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latin typeface="Times New Roman" panose="02020603050405020304" pitchFamily="18" charset="0"/>
                          <a:cs typeface="Times New Roman" panose="02020603050405020304" pitchFamily="18" charset="0"/>
                        </a:rPr>
                        <a:t>8</a:t>
                      </a: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513378"/>
                  </a:ext>
                </a:extLst>
              </a:tr>
            </a:tbl>
          </a:graphicData>
        </a:graphic>
      </p:graphicFrame>
      <p:graphicFrame>
        <p:nvGraphicFramePr>
          <p:cNvPr id="13" name="表格 12">
            <a:extLst>
              <a:ext uri="{FF2B5EF4-FFF2-40B4-BE49-F238E27FC236}">
                <a16:creationId xmlns:a16="http://schemas.microsoft.com/office/drawing/2014/main" id="{D6CDDFD3-F163-5A82-97AA-DA72573501FA}"/>
              </a:ext>
            </a:extLst>
          </p:cNvPr>
          <p:cNvGraphicFramePr>
            <a:graphicFrameLocks noGrp="1"/>
          </p:cNvGraphicFramePr>
          <p:nvPr>
            <p:extLst>
              <p:ext uri="{D42A27DB-BD31-4B8C-83A1-F6EECF244321}">
                <p14:modId xmlns:p14="http://schemas.microsoft.com/office/powerpoint/2010/main" val="3717078296"/>
              </p:ext>
            </p:extLst>
          </p:nvPr>
        </p:nvGraphicFramePr>
        <p:xfrm>
          <a:off x="3005280" y="825642"/>
          <a:ext cx="864000" cy="648000"/>
        </p:xfrm>
        <a:graphic>
          <a:graphicData uri="http://schemas.openxmlformats.org/drawingml/2006/table">
            <a:tbl>
              <a:tblPr firstRow="1" bandRow="1">
                <a:tableStyleId>{2D5ABB26-0587-4C30-8999-92F81FD0307C}</a:tableStyleId>
              </a:tblPr>
              <a:tblGrid>
                <a:gridCol w="288000">
                  <a:extLst>
                    <a:ext uri="{9D8B030D-6E8A-4147-A177-3AD203B41FA5}">
                      <a16:colId xmlns:a16="http://schemas.microsoft.com/office/drawing/2014/main" val="3960536262"/>
                    </a:ext>
                  </a:extLst>
                </a:gridCol>
                <a:gridCol w="288000">
                  <a:extLst>
                    <a:ext uri="{9D8B030D-6E8A-4147-A177-3AD203B41FA5}">
                      <a16:colId xmlns:a16="http://schemas.microsoft.com/office/drawing/2014/main" val="2140318526"/>
                    </a:ext>
                  </a:extLst>
                </a:gridCol>
                <a:gridCol w="288000">
                  <a:extLst>
                    <a:ext uri="{9D8B030D-6E8A-4147-A177-3AD203B41FA5}">
                      <a16:colId xmlns:a16="http://schemas.microsoft.com/office/drawing/2014/main" val="3000295592"/>
                    </a:ext>
                  </a:extLst>
                </a:gridCol>
              </a:tblGrid>
              <a:tr h="216000">
                <a:tc>
                  <a:txBody>
                    <a:bodyPr/>
                    <a:lstStyle/>
                    <a:p>
                      <a:pPr algn="ctr"/>
                      <a:r>
                        <a:rPr lang="en-US" altLang="zh-CN" sz="700" dirty="0">
                          <a:solidFill>
                            <a:sysClr val="windowText" lastClr="000000"/>
                          </a:solidFill>
                          <a:latin typeface="Times New Roman" panose="02020603050405020304" pitchFamily="18" charset="0"/>
                          <a:cs typeface="Times New Roman" panose="02020603050405020304" pitchFamily="18" charset="0"/>
                        </a:rPr>
                        <a:t>6</a:t>
                      </a: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latin typeface="Times New Roman" panose="02020603050405020304" pitchFamily="18" charset="0"/>
                          <a:cs typeface="Times New Roman" panose="02020603050405020304" pitchFamily="18" charset="0"/>
                        </a:rPr>
                        <a:t>4</a:t>
                      </a: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0399424"/>
                  </a:ext>
                </a:extLst>
              </a:tr>
              <a:tr h="216000">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latin typeface="Times New Roman" panose="02020603050405020304" pitchFamily="18" charset="0"/>
                          <a:cs typeface="Times New Roman" panose="02020603050405020304" pitchFamily="18" charset="0"/>
                        </a:rPr>
                        <a:t>E</a:t>
                      </a: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6690076"/>
                  </a:ext>
                </a:extLst>
              </a:tr>
              <a:tr h="216000">
                <a:tc>
                  <a:txBody>
                    <a:bodyPr/>
                    <a:lstStyle/>
                    <a:p>
                      <a:pPr algn="ctr"/>
                      <a:r>
                        <a:rPr lang="en-US" altLang="zh-CN" sz="700" dirty="0">
                          <a:solidFill>
                            <a:sysClr val="windowText" lastClr="000000"/>
                          </a:solidFill>
                          <a:latin typeface="Times New Roman" panose="02020603050405020304" pitchFamily="18" charset="0"/>
                          <a:cs typeface="Times New Roman" panose="02020603050405020304" pitchFamily="18" charset="0"/>
                        </a:rPr>
                        <a:t>8</a:t>
                      </a: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latin typeface="Times New Roman" panose="02020603050405020304" pitchFamily="18" charset="0"/>
                          <a:cs typeface="Times New Roman" panose="02020603050405020304" pitchFamily="18" charset="0"/>
                        </a:rPr>
                        <a:t>12</a:t>
                      </a: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513378"/>
                  </a:ext>
                </a:extLst>
              </a:tr>
            </a:tbl>
          </a:graphicData>
        </a:graphic>
      </p:graphicFrame>
      <p:graphicFrame>
        <p:nvGraphicFramePr>
          <p:cNvPr id="15" name="表格 14">
            <a:extLst>
              <a:ext uri="{FF2B5EF4-FFF2-40B4-BE49-F238E27FC236}">
                <a16:creationId xmlns:a16="http://schemas.microsoft.com/office/drawing/2014/main" id="{842B1829-9566-3930-2D7F-EC28192017C3}"/>
              </a:ext>
            </a:extLst>
          </p:cNvPr>
          <p:cNvGraphicFramePr>
            <a:graphicFrameLocks noGrp="1"/>
          </p:cNvGraphicFramePr>
          <p:nvPr>
            <p:extLst>
              <p:ext uri="{D42A27DB-BD31-4B8C-83A1-F6EECF244321}">
                <p14:modId xmlns:p14="http://schemas.microsoft.com/office/powerpoint/2010/main" val="2491143357"/>
              </p:ext>
            </p:extLst>
          </p:nvPr>
        </p:nvGraphicFramePr>
        <p:xfrm>
          <a:off x="3005280" y="1642919"/>
          <a:ext cx="864000" cy="648000"/>
        </p:xfrm>
        <a:graphic>
          <a:graphicData uri="http://schemas.openxmlformats.org/drawingml/2006/table">
            <a:tbl>
              <a:tblPr firstRow="1" bandRow="1">
                <a:tableStyleId>{2D5ABB26-0587-4C30-8999-92F81FD0307C}</a:tableStyleId>
              </a:tblPr>
              <a:tblGrid>
                <a:gridCol w="288000">
                  <a:extLst>
                    <a:ext uri="{9D8B030D-6E8A-4147-A177-3AD203B41FA5}">
                      <a16:colId xmlns:a16="http://schemas.microsoft.com/office/drawing/2014/main" val="3960536262"/>
                    </a:ext>
                  </a:extLst>
                </a:gridCol>
                <a:gridCol w="288000">
                  <a:extLst>
                    <a:ext uri="{9D8B030D-6E8A-4147-A177-3AD203B41FA5}">
                      <a16:colId xmlns:a16="http://schemas.microsoft.com/office/drawing/2014/main" val="2140318526"/>
                    </a:ext>
                  </a:extLst>
                </a:gridCol>
                <a:gridCol w="288000">
                  <a:extLst>
                    <a:ext uri="{9D8B030D-6E8A-4147-A177-3AD203B41FA5}">
                      <a16:colId xmlns:a16="http://schemas.microsoft.com/office/drawing/2014/main" val="3000295592"/>
                    </a:ext>
                  </a:extLst>
                </a:gridCol>
              </a:tblGrid>
              <a:tr h="216000">
                <a:tc>
                  <a:txBody>
                    <a:bodyPr/>
                    <a:lstStyle/>
                    <a:p>
                      <a:pPr algn="ctr"/>
                      <a:r>
                        <a:rPr lang="en-US" altLang="zh-CN" sz="700" dirty="0">
                          <a:solidFill>
                            <a:sysClr val="windowText" lastClr="000000"/>
                          </a:solidFill>
                          <a:latin typeface="Times New Roman" panose="02020603050405020304" pitchFamily="18" charset="0"/>
                          <a:cs typeface="Times New Roman" panose="02020603050405020304" pitchFamily="18" charset="0"/>
                        </a:rPr>
                        <a:t>8</a:t>
                      </a: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latin typeface="Times New Roman" panose="02020603050405020304" pitchFamily="18" charset="0"/>
                          <a:cs typeface="Times New Roman" panose="02020603050405020304" pitchFamily="18" charset="0"/>
                        </a:rPr>
                        <a:t>4</a:t>
                      </a: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0399424"/>
                  </a:ext>
                </a:extLst>
              </a:tr>
              <a:tr h="216000">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latin typeface="Times New Roman" panose="02020603050405020304" pitchFamily="18" charset="0"/>
                          <a:cs typeface="Times New Roman" panose="02020603050405020304" pitchFamily="18" charset="0"/>
                        </a:rPr>
                        <a:t>F</a:t>
                      </a: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6690076"/>
                  </a:ext>
                </a:extLst>
              </a:tr>
              <a:tr h="216000">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513378"/>
                  </a:ext>
                </a:extLst>
              </a:tr>
            </a:tbl>
          </a:graphicData>
        </a:graphic>
      </p:graphicFrame>
      <p:graphicFrame>
        <p:nvGraphicFramePr>
          <p:cNvPr id="17" name="表格 16">
            <a:extLst>
              <a:ext uri="{FF2B5EF4-FFF2-40B4-BE49-F238E27FC236}">
                <a16:creationId xmlns:a16="http://schemas.microsoft.com/office/drawing/2014/main" id="{35821241-D2B7-8F91-4489-18B43BAD8F7B}"/>
              </a:ext>
            </a:extLst>
          </p:cNvPr>
          <p:cNvGraphicFramePr>
            <a:graphicFrameLocks noGrp="1"/>
          </p:cNvGraphicFramePr>
          <p:nvPr>
            <p:extLst>
              <p:ext uri="{D42A27DB-BD31-4B8C-83A1-F6EECF244321}">
                <p14:modId xmlns:p14="http://schemas.microsoft.com/office/powerpoint/2010/main" val="2933185741"/>
              </p:ext>
            </p:extLst>
          </p:nvPr>
        </p:nvGraphicFramePr>
        <p:xfrm>
          <a:off x="4308993" y="1234281"/>
          <a:ext cx="864000" cy="648000"/>
        </p:xfrm>
        <a:graphic>
          <a:graphicData uri="http://schemas.openxmlformats.org/drawingml/2006/table">
            <a:tbl>
              <a:tblPr firstRow="1" bandRow="1">
                <a:tableStyleId>{2D5ABB26-0587-4C30-8999-92F81FD0307C}</a:tableStyleId>
              </a:tblPr>
              <a:tblGrid>
                <a:gridCol w="288000">
                  <a:extLst>
                    <a:ext uri="{9D8B030D-6E8A-4147-A177-3AD203B41FA5}">
                      <a16:colId xmlns:a16="http://schemas.microsoft.com/office/drawing/2014/main" val="3960536262"/>
                    </a:ext>
                  </a:extLst>
                </a:gridCol>
                <a:gridCol w="288000">
                  <a:extLst>
                    <a:ext uri="{9D8B030D-6E8A-4147-A177-3AD203B41FA5}">
                      <a16:colId xmlns:a16="http://schemas.microsoft.com/office/drawing/2014/main" val="2140318526"/>
                    </a:ext>
                  </a:extLst>
                </a:gridCol>
                <a:gridCol w="288000">
                  <a:extLst>
                    <a:ext uri="{9D8B030D-6E8A-4147-A177-3AD203B41FA5}">
                      <a16:colId xmlns:a16="http://schemas.microsoft.com/office/drawing/2014/main" val="3000295592"/>
                    </a:ext>
                  </a:extLst>
                </a:gridCol>
              </a:tblGrid>
              <a:tr h="216000">
                <a:tc>
                  <a:txBody>
                    <a:bodyPr/>
                    <a:lstStyle/>
                    <a:p>
                      <a:pPr algn="ctr"/>
                      <a:r>
                        <a:rPr lang="en-US" altLang="zh-CN" sz="700" dirty="0">
                          <a:solidFill>
                            <a:sysClr val="windowText" lastClr="000000"/>
                          </a:solidFill>
                          <a:latin typeface="Times New Roman" panose="02020603050405020304" pitchFamily="18" charset="0"/>
                          <a:cs typeface="Times New Roman" panose="02020603050405020304" pitchFamily="18" charset="0"/>
                        </a:rPr>
                        <a:t>12</a:t>
                      </a: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latin typeface="Times New Roman" panose="02020603050405020304" pitchFamily="18" charset="0"/>
                          <a:cs typeface="Times New Roman" panose="02020603050405020304" pitchFamily="18" charset="0"/>
                        </a:rPr>
                        <a:t>3</a:t>
                      </a: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0399424"/>
                  </a:ext>
                </a:extLst>
              </a:tr>
              <a:tr h="216000">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latin typeface="Times New Roman" panose="02020603050405020304" pitchFamily="18" charset="0"/>
                          <a:cs typeface="Times New Roman" panose="02020603050405020304" pitchFamily="18" charset="0"/>
                        </a:rPr>
                        <a:t>G</a:t>
                      </a: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6690076"/>
                  </a:ext>
                </a:extLst>
              </a:tr>
              <a:tr h="216000">
                <a:tc>
                  <a:txBody>
                    <a:bodyPr/>
                    <a:lstStyle/>
                    <a:p>
                      <a:pPr algn="ctr"/>
                      <a:r>
                        <a:rPr lang="en-US" altLang="zh-CN" sz="700" dirty="0">
                          <a:solidFill>
                            <a:sysClr val="windowText" lastClr="000000"/>
                          </a:solidFill>
                          <a:latin typeface="Times New Roman" panose="02020603050405020304" pitchFamily="18" charset="0"/>
                          <a:cs typeface="Times New Roman" panose="02020603050405020304" pitchFamily="18" charset="0"/>
                        </a:rPr>
                        <a:t>12</a:t>
                      </a: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latin typeface="Times New Roman" panose="02020603050405020304" pitchFamily="18" charset="0"/>
                          <a:cs typeface="Times New Roman" panose="02020603050405020304" pitchFamily="18" charset="0"/>
                        </a:rPr>
                        <a:t>15</a:t>
                      </a:r>
                      <a:endParaRPr lang="zh-CN" altLang="en-US" sz="70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513378"/>
                  </a:ext>
                </a:extLst>
              </a:tr>
            </a:tbl>
          </a:graphicData>
        </a:graphic>
      </p:graphicFrame>
      <p:cxnSp>
        <p:nvCxnSpPr>
          <p:cNvPr id="19" name="直接箭头连接符 18">
            <a:extLst>
              <a:ext uri="{FF2B5EF4-FFF2-40B4-BE49-F238E27FC236}">
                <a16:creationId xmlns:a16="http://schemas.microsoft.com/office/drawing/2014/main" id="{1CC4C732-B854-ABE6-A7B9-9F5AFC5CFC41}"/>
              </a:ext>
            </a:extLst>
          </p:cNvPr>
          <p:cNvCxnSpPr>
            <a:cxnSpLocks/>
            <a:stCxn id="15" idx="3"/>
            <a:endCxn id="17" idx="1"/>
          </p:cNvCxnSpPr>
          <p:nvPr/>
        </p:nvCxnSpPr>
        <p:spPr>
          <a:xfrm flipV="1">
            <a:off x="3869280" y="1558281"/>
            <a:ext cx="439713" cy="408638"/>
          </a:xfrm>
          <a:prstGeom prst="straightConnector1">
            <a:avLst/>
          </a:prstGeom>
          <a:ln w="63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F02B0746-59EE-331F-FC98-541EE29BC549}"/>
              </a:ext>
            </a:extLst>
          </p:cNvPr>
          <p:cNvCxnSpPr>
            <a:cxnSpLocks/>
            <a:stCxn id="13" idx="3"/>
            <a:endCxn id="17" idx="1"/>
          </p:cNvCxnSpPr>
          <p:nvPr/>
        </p:nvCxnSpPr>
        <p:spPr>
          <a:xfrm>
            <a:off x="3869280" y="1149642"/>
            <a:ext cx="439713" cy="408639"/>
          </a:xfrm>
          <a:prstGeom prst="straightConnector1">
            <a:avLst/>
          </a:prstGeom>
          <a:ln w="63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1D0ABD54-51BC-0AB6-B978-E6D9D7F8D2B9}"/>
              </a:ext>
            </a:extLst>
          </p:cNvPr>
          <p:cNvCxnSpPr>
            <a:cxnSpLocks/>
            <a:stCxn id="11" idx="3"/>
            <a:endCxn id="15" idx="1"/>
          </p:cNvCxnSpPr>
          <p:nvPr/>
        </p:nvCxnSpPr>
        <p:spPr>
          <a:xfrm>
            <a:off x="2565567" y="1558280"/>
            <a:ext cx="439713" cy="408639"/>
          </a:xfrm>
          <a:prstGeom prst="straightConnector1">
            <a:avLst/>
          </a:prstGeom>
          <a:ln w="63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3621CDAE-19CF-FFDB-BCD0-85B8374B9F11}"/>
              </a:ext>
            </a:extLst>
          </p:cNvPr>
          <p:cNvCxnSpPr>
            <a:cxnSpLocks/>
            <a:stCxn id="9" idx="3"/>
            <a:endCxn id="15" idx="1"/>
          </p:cNvCxnSpPr>
          <p:nvPr/>
        </p:nvCxnSpPr>
        <p:spPr>
          <a:xfrm flipV="1">
            <a:off x="2565567" y="1966919"/>
            <a:ext cx="439713" cy="408639"/>
          </a:xfrm>
          <a:prstGeom prst="straightConnector1">
            <a:avLst/>
          </a:prstGeom>
          <a:ln w="63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F60BC39B-0D0C-687B-A067-01A60BD320A0}"/>
              </a:ext>
            </a:extLst>
          </p:cNvPr>
          <p:cNvCxnSpPr>
            <a:cxnSpLocks/>
            <a:stCxn id="5" idx="3"/>
            <a:endCxn id="7" idx="1"/>
          </p:cNvCxnSpPr>
          <p:nvPr/>
        </p:nvCxnSpPr>
        <p:spPr>
          <a:xfrm flipV="1">
            <a:off x="1261854" y="741004"/>
            <a:ext cx="439713" cy="817277"/>
          </a:xfrm>
          <a:prstGeom prst="straightConnector1">
            <a:avLst/>
          </a:prstGeom>
          <a:ln w="63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26FBBB2F-B23F-6400-5E51-898BD2597907}"/>
              </a:ext>
            </a:extLst>
          </p:cNvPr>
          <p:cNvCxnSpPr>
            <a:cxnSpLocks/>
            <a:stCxn id="5" idx="3"/>
            <a:endCxn id="11" idx="1"/>
          </p:cNvCxnSpPr>
          <p:nvPr/>
        </p:nvCxnSpPr>
        <p:spPr>
          <a:xfrm flipV="1">
            <a:off x="1261854" y="1558280"/>
            <a:ext cx="439713" cy="1"/>
          </a:xfrm>
          <a:prstGeom prst="straightConnector1">
            <a:avLst/>
          </a:prstGeom>
          <a:ln w="63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AB22861C-62DD-AEC0-2C8E-1418BFC39C06}"/>
              </a:ext>
            </a:extLst>
          </p:cNvPr>
          <p:cNvCxnSpPr>
            <a:cxnSpLocks/>
            <a:stCxn id="5" idx="3"/>
            <a:endCxn id="9" idx="1"/>
          </p:cNvCxnSpPr>
          <p:nvPr/>
        </p:nvCxnSpPr>
        <p:spPr>
          <a:xfrm>
            <a:off x="1261854" y="1558281"/>
            <a:ext cx="439713" cy="817277"/>
          </a:xfrm>
          <a:prstGeom prst="straightConnector1">
            <a:avLst/>
          </a:prstGeom>
          <a:ln w="63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2A81AAC8-A719-357E-4DF2-FE4675EC533A}"/>
              </a:ext>
            </a:extLst>
          </p:cNvPr>
          <p:cNvCxnSpPr>
            <a:cxnSpLocks/>
            <a:stCxn id="7" idx="3"/>
            <a:endCxn id="13" idx="1"/>
          </p:cNvCxnSpPr>
          <p:nvPr/>
        </p:nvCxnSpPr>
        <p:spPr>
          <a:xfrm>
            <a:off x="2565567" y="741004"/>
            <a:ext cx="439713" cy="408638"/>
          </a:xfrm>
          <a:prstGeom prst="straightConnector1">
            <a:avLst/>
          </a:prstGeom>
          <a:ln w="63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graphicFrame>
        <p:nvGraphicFramePr>
          <p:cNvPr id="2" name="表格 1">
            <a:extLst>
              <a:ext uri="{FF2B5EF4-FFF2-40B4-BE49-F238E27FC236}">
                <a16:creationId xmlns:a16="http://schemas.microsoft.com/office/drawing/2014/main" id="{0550B3CC-FE12-9756-1F82-E66A2C6C0A49}"/>
              </a:ext>
            </a:extLst>
          </p:cNvPr>
          <p:cNvGraphicFramePr>
            <a:graphicFrameLocks noGrp="1"/>
          </p:cNvGraphicFramePr>
          <p:nvPr>
            <p:extLst>
              <p:ext uri="{D42A27DB-BD31-4B8C-83A1-F6EECF244321}">
                <p14:modId xmlns:p14="http://schemas.microsoft.com/office/powerpoint/2010/main" val="1235233170"/>
              </p:ext>
            </p:extLst>
          </p:nvPr>
        </p:nvGraphicFramePr>
        <p:xfrm>
          <a:off x="4259411" y="3345285"/>
          <a:ext cx="864000" cy="648000"/>
        </p:xfrm>
        <a:graphic>
          <a:graphicData uri="http://schemas.openxmlformats.org/drawingml/2006/table">
            <a:tbl>
              <a:tblPr firstRow="1" bandRow="1">
                <a:tableStyleId>{2D5ABB26-0587-4C30-8999-92F81FD0307C}</a:tableStyleId>
              </a:tblPr>
              <a:tblGrid>
                <a:gridCol w="288000">
                  <a:extLst>
                    <a:ext uri="{9D8B030D-6E8A-4147-A177-3AD203B41FA5}">
                      <a16:colId xmlns:a16="http://schemas.microsoft.com/office/drawing/2014/main" val="3960536262"/>
                    </a:ext>
                  </a:extLst>
                </a:gridCol>
                <a:gridCol w="288000">
                  <a:extLst>
                    <a:ext uri="{9D8B030D-6E8A-4147-A177-3AD203B41FA5}">
                      <a16:colId xmlns:a16="http://schemas.microsoft.com/office/drawing/2014/main" val="2140318526"/>
                    </a:ext>
                  </a:extLst>
                </a:gridCol>
                <a:gridCol w="288000">
                  <a:extLst>
                    <a:ext uri="{9D8B030D-6E8A-4147-A177-3AD203B41FA5}">
                      <a16:colId xmlns:a16="http://schemas.microsoft.com/office/drawing/2014/main" val="3000295592"/>
                    </a:ext>
                  </a:extLst>
                </a:gridCol>
              </a:tblGrid>
              <a:tr h="216000">
                <a:tc>
                  <a:txBody>
                    <a:bodyPr/>
                    <a:lstStyle/>
                    <a:p>
                      <a:pPr algn="ctr"/>
                      <a:r>
                        <a:rPr lang="en-US" altLang="zh-CN" sz="700" dirty="0">
                          <a:solidFill>
                            <a:sysClr val="windowText" lastClr="000000"/>
                          </a:solidFill>
                        </a:rPr>
                        <a:t>0</a:t>
                      </a:r>
                      <a:endParaRPr lang="zh-CN" altLang="en-US" sz="700" dirty="0">
                        <a:solidFill>
                          <a:sysClr val="windowText" lastClr="0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rPr>
                        <a:t>2</a:t>
                      </a:r>
                      <a:endParaRPr lang="zh-CN" altLang="en-US" sz="700" dirty="0">
                        <a:solidFill>
                          <a:sysClr val="windowText" lastClr="0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rPr>
                        <a:t>2</a:t>
                      </a:r>
                      <a:endParaRPr lang="zh-CN" altLang="en-US" sz="700" dirty="0">
                        <a:solidFill>
                          <a:sysClr val="windowText" lastClr="0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0399424"/>
                  </a:ext>
                </a:extLst>
              </a:tr>
              <a:tr h="216000">
                <a:tc>
                  <a:txBody>
                    <a:bodyPr/>
                    <a:lstStyle/>
                    <a:p>
                      <a:pPr algn="ctr"/>
                      <a:endParaRPr lang="zh-CN" altLang="en-US" sz="700" dirty="0">
                        <a:solidFill>
                          <a:sysClr val="windowText" lastClr="0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rPr>
                        <a:t>A</a:t>
                      </a:r>
                      <a:endParaRPr lang="zh-CN" altLang="en-US" sz="700" dirty="0">
                        <a:solidFill>
                          <a:sysClr val="windowText" lastClr="0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ysClr val="windowText" lastClr="0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6690076"/>
                  </a:ext>
                </a:extLst>
              </a:tr>
              <a:tr h="216000">
                <a:tc>
                  <a:txBody>
                    <a:bodyPr/>
                    <a:lstStyle/>
                    <a:p>
                      <a:pPr algn="ctr"/>
                      <a:r>
                        <a:rPr lang="en-US" altLang="zh-CN" sz="700" dirty="0">
                          <a:solidFill>
                            <a:srgbClr val="FF0000"/>
                          </a:solidFill>
                        </a:rPr>
                        <a:t>0</a:t>
                      </a:r>
                      <a:endParaRPr lang="zh-CN" altLang="en-US" sz="700" dirty="0">
                        <a:solidFill>
                          <a:srgbClr val="FF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700" dirty="0">
                        <a:solidFill>
                          <a:sysClr val="windowText" lastClr="0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rPr>
                        <a:t>2</a:t>
                      </a:r>
                      <a:endParaRPr lang="zh-CN" altLang="en-US" sz="700" dirty="0">
                        <a:solidFill>
                          <a:sysClr val="windowText" lastClr="0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513378"/>
                  </a:ext>
                </a:extLst>
              </a:tr>
            </a:tbl>
          </a:graphicData>
        </a:graphic>
      </p:graphicFrame>
      <p:graphicFrame>
        <p:nvGraphicFramePr>
          <p:cNvPr id="3" name="表格 2">
            <a:extLst>
              <a:ext uri="{FF2B5EF4-FFF2-40B4-BE49-F238E27FC236}">
                <a16:creationId xmlns:a16="http://schemas.microsoft.com/office/drawing/2014/main" id="{83C50E2F-750E-0F64-CF96-108EF850A4EA}"/>
              </a:ext>
            </a:extLst>
          </p:cNvPr>
          <p:cNvGraphicFramePr>
            <a:graphicFrameLocks noGrp="1"/>
          </p:cNvGraphicFramePr>
          <p:nvPr>
            <p:extLst>
              <p:ext uri="{D42A27DB-BD31-4B8C-83A1-F6EECF244321}">
                <p14:modId xmlns:p14="http://schemas.microsoft.com/office/powerpoint/2010/main" val="967982304"/>
              </p:ext>
            </p:extLst>
          </p:nvPr>
        </p:nvGraphicFramePr>
        <p:xfrm>
          <a:off x="5563124" y="2528008"/>
          <a:ext cx="864000" cy="648000"/>
        </p:xfrm>
        <a:graphic>
          <a:graphicData uri="http://schemas.openxmlformats.org/drawingml/2006/table">
            <a:tbl>
              <a:tblPr firstRow="1" bandRow="1">
                <a:tableStyleId>{2D5ABB26-0587-4C30-8999-92F81FD0307C}</a:tableStyleId>
              </a:tblPr>
              <a:tblGrid>
                <a:gridCol w="288000">
                  <a:extLst>
                    <a:ext uri="{9D8B030D-6E8A-4147-A177-3AD203B41FA5}">
                      <a16:colId xmlns:a16="http://schemas.microsoft.com/office/drawing/2014/main" val="3960536262"/>
                    </a:ext>
                  </a:extLst>
                </a:gridCol>
                <a:gridCol w="288000">
                  <a:extLst>
                    <a:ext uri="{9D8B030D-6E8A-4147-A177-3AD203B41FA5}">
                      <a16:colId xmlns:a16="http://schemas.microsoft.com/office/drawing/2014/main" val="2140318526"/>
                    </a:ext>
                  </a:extLst>
                </a:gridCol>
                <a:gridCol w="288000">
                  <a:extLst>
                    <a:ext uri="{9D8B030D-6E8A-4147-A177-3AD203B41FA5}">
                      <a16:colId xmlns:a16="http://schemas.microsoft.com/office/drawing/2014/main" val="3000295592"/>
                    </a:ext>
                  </a:extLst>
                </a:gridCol>
              </a:tblGrid>
              <a:tr h="216000">
                <a:tc>
                  <a:txBody>
                    <a:bodyPr/>
                    <a:lstStyle/>
                    <a:p>
                      <a:pPr algn="ctr"/>
                      <a:r>
                        <a:rPr lang="en-US" altLang="zh-CN" sz="700" dirty="0">
                          <a:solidFill>
                            <a:sysClr val="windowText" lastClr="000000"/>
                          </a:solidFill>
                        </a:rPr>
                        <a:t>2</a:t>
                      </a:r>
                      <a:endParaRPr lang="zh-CN" altLang="en-US" sz="700" dirty="0">
                        <a:solidFill>
                          <a:sysClr val="windowText" lastClr="0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rPr>
                        <a:t>4</a:t>
                      </a:r>
                      <a:endParaRPr lang="zh-CN" altLang="en-US" sz="700" dirty="0">
                        <a:solidFill>
                          <a:sysClr val="windowText" lastClr="0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rPr>
                        <a:t>6</a:t>
                      </a:r>
                      <a:endParaRPr lang="zh-CN" altLang="en-US" sz="700" dirty="0">
                        <a:solidFill>
                          <a:sysClr val="windowText" lastClr="0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0399424"/>
                  </a:ext>
                </a:extLst>
              </a:tr>
              <a:tr h="216000">
                <a:tc>
                  <a:txBody>
                    <a:bodyPr/>
                    <a:lstStyle/>
                    <a:p>
                      <a:pPr algn="ctr"/>
                      <a:endParaRPr lang="zh-CN" altLang="en-US" sz="700" dirty="0">
                        <a:solidFill>
                          <a:sysClr val="windowText" lastClr="0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rPr>
                        <a:t>B</a:t>
                      </a:r>
                      <a:endParaRPr lang="zh-CN" altLang="en-US" sz="700" dirty="0">
                        <a:solidFill>
                          <a:sysClr val="windowText" lastClr="0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ysClr val="windowText" lastClr="0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6690076"/>
                  </a:ext>
                </a:extLst>
              </a:tr>
              <a:tr h="216000">
                <a:tc>
                  <a:txBody>
                    <a:bodyPr/>
                    <a:lstStyle/>
                    <a:p>
                      <a:pPr algn="ctr"/>
                      <a:r>
                        <a:rPr lang="en-US" altLang="zh-CN" sz="700" dirty="0">
                          <a:solidFill>
                            <a:srgbClr val="FF0000"/>
                          </a:solidFill>
                        </a:rPr>
                        <a:t>4</a:t>
                      </a:r>
                      <a:endParaRPr lang="zh-CN" altLang="en-US" sz="700" dirty="0">
                        <a:solidFill>
                          <a:srgbClr val="FF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700" dirty="0">
                        <a:solidFill>
                          <a:sysClr val="windowText" lastClr="0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rgbClr val="FF0000"/>
                          </a:solidFill>
                        </a:rPr>
                        <a:t>8</a:t>
                      </a:r>
                      <a:endParaRPr lang="zh-CN" altLang="en-US" sz="700" dirty="0">
                        <a:solidFill>
                          <a:srgbClr val="FF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513378"/>
                  </a:ext>
                </a:extLst>
              </a:tr>
            </a:tbl>
          </a:graphicData>
        </a:graphic>
      </p:graphicFrame>
      <p:graphicFrame>
        <p:nvGraphicFramePr>
          <p:cNvPr id="4" name="表格 3">
            <a:extLst>
              <a:ext uri="{FF2B5EF4-FFF2-40B4-BE49-F238E27FC236}">
                <a16:creationId xmlns:a16="http://schemas.microsoft.com/office/drawing/2014/main" id="{DCEB3A24-8793-B285-E65C-E3032C982BBD}"/>
              </a:ext>
            </a:extLst>
          </p:cNvPr>
          <p:cNvGraphicFramePr>
            <a:graphicFrameLocks noGrp="1"/>
          </p:cNvGraphicFramePr>
          <p:nvPr>
            <p:extLst>
              <p:ext uri="{D42A27DB-BD31-4B8C-83A1-F6EECF244321}">
                <p14:modId xmlns:p14="http://schemas.microsoft.com/office/powerpoint/2010/main" val="2503969931"/>
              </p:ext>
            </p:extLst>
          </p:nvPr>
        </p:nvGraphicFramePr>
        <p:xfrm>
          <a:off x="5563124" y="4162562"/>
          <a:ext cx="864000" cy="648000"/>
        </p:xfrm>
        <a:graphic>
          <a:graphicData uri="http://schemas.openxmlformats.org/drawingml/2006/table">
            <a:tbl>
              <a:tblPr firstRow="1" bandRow="1">
                <a:tableStyleId>{2D5ABB26-0587-4C30-8999-92F81FD0307C}</a:tableStyleId>
              </a:tblPr>
              <a:tblGrid>
                <a:gridCol w="288000">
                  <a:extLst>
                    <a:ext uri="{9D8B030D-6E8A-4147-A177-3AD203B41FA5}">
                      <a16:colId xmlns:a16="http://schemas.microsoft.com/office/drawing/2014/main" val="3960536262"/>
                    </a:ext>
                  </a:extLst>
                </a:gridCol>
                <a:gridCol w="288000">
                  <a:extLst>
                    <a:ext uri="{9D8B030D-6E8A-4147-A177-3AD203B41FA5}">
                      <a16:colId xmlns:a16="http://schemas.microsoft.com/office/drawing/2014/main" val="2140318526"/>
                    </a:ext>
                  </a:extLst>
                </a:gridCol>
                <a:gridCol w="288000">
                  <a:extLst>
                    <a:ext uri="{9D8B030D-6E8A-4147-A177-3AD203B41FA5}">
                      <a16:colId xmlns:a16="http://schemas.microsoft.com/office/drawing/2014/main" val="3000295592"/>
                    </a:ext>
                  </a:extLst>
                </a:gridCol>
              </a:tblGrid>
              <a:tr h="216000">
                <a:tc>
                  <a:txBody>
                    <a:bodyPr/>
                    <a:lstStyle/>
                    <a:p>
                      <a:pPr algn="ctr"/>
                      <a:r>
                        <a:rPr lang="en-US" altLang="zh-CN" sz="700" dirty="0">
                          <a:solidFill>
                            <a:sysClr val="windowText" lastClr="000000"/>
                          </a:solidFill>
                        </a:rPr>
                        <a:t>2</a:t>
                      </a:r>
                      <a:endParaRPr lang="zh-CN" altLang="en-US" sz="700" dirty="0">
                        <a:solidFill>
                          <a:sysClr val="windowText" lastClr="0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rPr>
                        <a:t>6</a:t>
                      </a:r>
                      <a:endParaRPr lang="zh-CN" altLang="en-US" sz="700" dirty="0">
                        <a:solidFill>
                          <a:sysClr val="windowText" lastClr="0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rPr>
                        <a:t>8</a:t>
                      </a:r>
                      <a:endParaRPr lang="zh-CN" altLang="en-US" sz="700" dirty="0">
                        <a:solidFill>
                          <a:sysClr val="windowText" lastClr="0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0399424"/>
                  </a:ext>
                </a:extLst>
              </a:tr>
              <a:tr h="216000">
                <a:tc>
                  <a:txBody>
                    <a:bodyPr/>
                    <a:lstStyle/>
                    <a:p>
                      <a:pPr algn="ctr"/>
                      <a:endParaRPr lang="zh-CN" altLang="en-US" sz="700" dirty="0">
                        <a:solidFill>
                          <a:sysClr val="windowText" lastClr="0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rPr>
                        <a:t>D</a:t>
                      </a:r>
                      <a:endParaRPr lang="zh-CN" altLang="en-US" sz="700" dirty="0">
                        <a:solidFill>
                          <a:sysClr val="windowText" lastClr="0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ysClr val="windowText" lastClr="0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6690076"/>
                  </a:ext>
                </a:extLst>
              </a:tr>
              <a:tr h="216000">
                <a:tc>
                  <a:txBody>
                    <a:bodyPr/>
                    <a:lstStyle/>
                    <a:p>
                      <a:pPr algn="ctr"/>
                      <a:r>
                        <a:rPr lang="en-US" altLang="zh-CN" sz="700" dirty="0">
                          <a:solidFill>
                            <a:srgbClr val="FF0000"/>
                          </a:solidFill>
                        </a:rPr>
                        <a:t>2</a:t>
                      </a:r>
                      <a:endParaRPr lang="zh-CN" altLang="en-US" sz="700" dirty="0">
                        <a:solidFill>
                          <a:srgbClr val="FF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700" dirty="0">
                        <a:solidFill>
                          <a:sysClr val="windowText" lastClr="0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rgbClr val="FF0000"/>
                          </a:solidFill>
                        </a:rPr>
                        <a:t>8</a:t>
                      </a:r>
                      <a:endParaRPr lang="zh-CN" altLang="en-US" sz="700" dirty="0">
                        <a:solidFill>
                          <a:srgbClr val="FF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513378"/>
                  </a:ext>
                </a:extLst>
              </a:tr>
            </a:tbl>
          </a:graphicData>
        </a:graphic>
      </p:graphicFrame>
      <p:graphicFrame>
        <p:nvGraphicFramePr>
          <p:cNvPr id="6" name="表格 5">
            <a:extLst>
              <a:ext uri="{FF2B5EF4-FFF2-40B4-BE49-F238E27FC236}">
                <a16:creationId xmlns:a16="http://schemas.microsoft.com/office/drawing/2014/main" id="{334E3545-0810-B7CD-B817-926E9500756A}"/>
              </a:ext>
            </a:extLst>
          </p:cNvPr>
          <p:cNvGraphicFramePr>
            <a:graphicFrameLocks noGrp="1"/>
          </p:cNvGraphicFramePr>
          <p:nvPr>
            <p:extLst>
              <p:ext uri="{D42A27DB-BD31-4B8C-83A1-F6EECF244321}">
                <p14:modId xmlns:p14="http://schemas.microsoft.com/office/powerpoint/2010/main" val="4214608557"/>
              </p:ext>
            </p:extLst>
          </p:nvPr>
        </p:nvGraphicFramePr>
        <p:xfrm>
          <a:off x="5563124" y="3309285"/>
          <a:ext cx="864000" cy="648000"/>
        </p:xfrm>
        <a:graphic>
          <a:graphicData uri="http://schemas.openxmlformats.org/drawingml/2006/table">
            <a:tbl>
              <a:tblPr firstRow="1" bandRow="1">
                <a:tableStyleId>{2D5ABB26-0587-4C30-8999-92F81FD0307C}</a:tableStyleId>
              </a:tblPr>
              <a:tblGrid>
                <a:gridCol w="288000">
                  <a:extLst>
                    <a:ext uri="{9D8B030D-6E8A-4147-A177-3AD203B41FA5}">
                      <a16:colId xmlns:a16="http://schemas.microsoft.com/office/drawing/2014/main" val="3960536262"/>
                    </a:ext>
                  </a:extLst>
                </a:gridCol>
                <a:gridCol w="288000">
                  <a:extLst>
                    <a:ext uri="{9D8B030D-6E8A-4147-A177-3AD203B41FA5}">
                      <a16:colId xmlns:a16="http://schemas.microsoft.com/office/drawing/2014/main" val="2140318526"/>
                    </a:ext>
                  </a:extLst>
                </a:gridCol>
                <a:gridCol w="288000">
                  <a:extLst>
                    <a:ext uri="{9D8B030D-6E8A-4147-A177-3AD203B41FA5}">
                      <a16:colId xmlns:a16="http://schemas.microsoft.com/office/drawing/2014/main" val="3000295592"/>
                    </a:ext>
                  </a:extLst>
                </a:gridCol>
              </a:tblGrid>
              <a:tr h="216000">
                <a:tc>
                  <a:txBody>
                    <a:bodyPr/>
                    <a:lstStyle/>
                    <a:p>
                      <a:pPr algn="ctr"/>
                      <a:r>
                        <a:rPr lang="en-US" altLang="zh-CN" sz="700" dirty="0">
                          <a:solidFill>
                            <a:srgbClr val="FF0000"/>
                          </a:solidFill>
                        </a:rPr>
                        <a:t>2</a:t>
                      </a:r>
                      <a:endParaRPr lang="zh-CN" altLang="en-US" sz="700" dirty="0">
                        <a:solidFill>
                          <a:srgbClr val="FF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rPr>
                        <a:t>5</a:t>
                      </a:r>
                      <a:endParaRPr lang="zh-CN" altLang="en-US" sz="700" dirty="0">
                        <a:solidFill>
                          <a:sysClr val="windowText" lastClr="0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rPr>
                        <a:t>7</a:t>
                      </a:r>
                      <a:endParaRPr lang="zh-CN" altLang="en-US" sz="700" dirty="0">
                        <a:solidFill>
                          <a:sysClr val="windowText" lastClr="0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0399424"/>
                  </a:ext>
                </a:extLst>
              </a:tr>
              <a:tr h="216000">
                <a:tc>
                  <a:txBody>
                    <a:bodyPr/>
                    <a:lstStyle/>
                    <a:p>
                      <a:pPr algn="ctr"/>
                      <a:endParaRPr lang="zh-CN" altLang="en-US" sz="700" dirty="0">
                        <a:solidFill>
                          <a:sysClr val="windowText" lastClr="0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rPr>
                        <a:t>C</a:t>
                      </a:r>
                      <a:endParaRPr lang="zh-CN" altLang="en-US" sz="700" dirty="0">
                        <a:solidFill>
                          <a:sysClr val="windowText" lastClr="0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ysClr val="windowText" lastClr="0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6690076"/>
                  </a:ext>
                </a:extLst>
              </a:tr>
              <a:tr h="216000">
                <a:tc>
                  <a:txBody>
                    <a:bodyPr/>
                    <a:lstStyle/>
                    <a:p>
                      <a:pPr algn="ctr"/>
                      <a:r>
                        <a:rPr lang="en-US" altLang="zh-CN" sz="700" dirty="0">
                          <a:solidFill>
                            <a:srgbClr val="FF0000"/>
                          </a:solidFill>
                        </a:rPr>
                        <a:t>3</a:t>
                      </a:r>
                      <a:endParaRPr lang="zh-CN" altLang="en-US" sz="700" dirty="0">
                        <a:solidFill>
                          <a:srgbClr val="FF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700" dirty="0">
                        <a:solidFill>
                          <a:sysClr val="windowText" lastClr="0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rPr>
                        <a:t>8</a:t>
                      </a:r>
                      <a:endParaRPr lang="zh-CN" altLang="en-US" sz="700" dirty="0">
                        <a:solidFill>
                          <a:sysClr val="windowText" lastClr="0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513378"/>
                  </a:ext>
                </a:extLst>
              </a:tr>
            </a:tbl>
          </a:graphicData>
        </a:graphic>
      </p:graphicFrame>
      <p:graphicFrame>
        <p:nvGraphicFramePr>
          <p:cNvPr id="8" name="表格 7">
            <a:extLst>
              <a:ext uri="{FF2B5EF4-FFF2-40B4-BE49-F238E27FC236}">
                <a16:creationId xmlns:a16="http://schemas.microsoft.com/office/drawing/2014/main" id="{148BF964-660E-FA6C-FE9A-218C90ADA999}"/>
              </a:ext>
            </a:extLst>
          </p:cNvPr>
          <p:cNvGraphicFramePr>
            <a:graphicFrameLocks noGrp="1"/>
          </p:cNvGraphicFramePr>
          <p:nvPr>
            <p:extLst>
              <p:ext uri="{D42A27DB-BD31-4B8C-83A1-F6EECF244321}">
                <p14:modId xmlns:p14="http://schemas.microsoft.com/office/powerpoint/2010/main" val="1359558323"/>
              </p:ext>
            </p:extLst>
          </p:nvPr>
        </p:nvGraphicFramePr>
        <p:xfrm>
          <a:off x="6866837" y="2954647"/>
          <a:ext cx="864000" cy="576000"/>
        </p:xfrm>
        <a:graphic>
          <a:graphicData uri="http://schemas.openxmlformats.org/drawingml/2006/table">
            <a:tbl>
              <a:tblPr firstRow="1" bandRow="1">
                <a:tableStyleId>{2D5ABB26-0587-4C30-8999-92F81FD0307C}</a:tableStyleId>
              </a:tblPr>
              <a:tblGrid>
                <a:gridCol w="288000">
                  <a:extLst>
                    <a:ext uri="{9D8B030D-6E8A-4147-A177-3AD203B41FA5}">
                      <a16:colId xmlns:a16="http://schemas.microsoft.com/office/drawing/2014/main" val="3960536262"/>
                    </a:ext>
                  </a:extLst>
                </a:gridCol>
                <a:gridCol w="288000">
                  <a:extLst>
                    <a:ext uri="{9D8B030D-6E8A-4147-A177-3AD203B41FA5}">
                      <a16:colId xmlns:a16="http://schemas.microsoft.com/office/drawing/2014/main" val="2140318526"/>
                    </a:ext>
                  </a:extLst>
                </a:gridCol>
                <a:gridCol w="288000">
                  <a:extLst>
                    <a:ext uri="{9D8B030D-6E8A-4147-A177-3AD203B41FA5}">
                      <a16:colId xmlns:a16="http://schemas.microsoft.com/office/drawing/2014/main" val="3000295592"/>
                    </a:ext>
                  </a:extLst>
                </a:gridCol>
              </a:tblGrid>
              <a:tr h="192000">
                <a:tc>
                  <a:txBody>
                    <a:bodyPr/>
                    <a:lstStyle/>
                    <a:p>
                      <a:pPr algn="ctr"/>
                      <a:r>
                        <a:rPr lang="en-US" altLang="zh-CN" sz="700" dirty="0">
                          <a:solidFill>
                            <a:sysClr val="windowText" lastClr="000000"/>
                          </a:solidFill>
                        </a:rPr>
                        <a:t>6</a:t>
                      </a:r>
                      <a:endParaRPr lang="zh-CN" altLang="en-US" sz="700" dirty="0">
                        <a:solidFill>
                          <a:sysClr val="windowText" lastClr="000000"/>
                        </a:solidFill>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rPr>
                        <a:t>4</a:t>
                      </a:r>
                      <a:endParaRPr lang="zh-CN" altLang="en-US" sz="700" dirty="0">
                        <a:solidFill>
                          <a:sysClr val="windowText" lastClr="000000"/>
                        </a:solidFill>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rgbClr val="FF0000"/>
                          </a:solidFill>
                        </a:rPr>
                        <a:t>10</a:t>
                      </a:r>
                      <a:endParaRPr lang="zh-CN" altLang="en-US" sz="700" dirty="0">
                        <a:solidFill>
                          <a:srgbClr val="FF0000"/>
                        </a:solidFill>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0399424"/>
                  </a:ext>
                </a:extLst>
              </a:tr>
              <a:tr h="192000">
                <a:tc>
                  <a:txBody>
                    <a:bodyPr/>
                    <a:lstStyle/>
                    <a:p>
                      <a:pPr algn="ctr"/>
                      <a:endParaRPr lang="zh-CN" altLang="en-US" sz="700" dirty="0">
                        <a:solidFill>
                          <a:sysClr val="windowText" lastClr="000000"/>
                        </a:solidFill>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rPr>
                        <a:t>E</a:t>
                      </a:r>
                      <a:endParaRPr lang="zh-CN" altLang="en-US" sz="700" dirty="0">
                        <a:solidFill>
                          <a:sysClr val="windowText" lastClr="000000"/>
                        </a:solidFill>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ysClr val="windowText" lastClr="000000"/>
                        </a:solidFill>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6690076"/>
                  </a:ext>
                </a:extLst>
              </a:tr>
              <a:tr h="192000">
                <a:tc>
                  <a:txBody>
                    <a:bodyPr/>
                    <a:lstStyle/>
                    <a:p>
                      <a:pPr algn="ctr"/>
                      <a:r>
                        <a:rPr lang="en-US" altLang="zh-CN" sz="700" dirty="0">
                          <a:solidFill>
                            <a:sysClr val="windowText" lastClr="000000"/>
                          </a:solidFill>
                        </a:rPr>
                        <a:t>8</a:t>
                      </a:r>
                      <a:endParaRPr lang="zh-CN" altLang="en-US" sz="700" dirty="0">
                        <a:solidFill>
                          <a:sysClr val="windowText" lastClr="000000"/>
                        </a:solidFill>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700" dirty="0">
                        <a:solidFill>
                          <a:sysClr val="windowText" lastClr="000000"/>
                        </a:solidFill>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rPr>
                        <a:t>12</a:t>
                      </a:r>
                      <a:endParaRPr lang="zh-CN" altLang="en-US" sz="700" dirty="0">
                        <a:solidFill>
                          <a:sysClr val="windowText" lastClr="000000"/>
                        </a:solidFill>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513378"/>
                  </a:ext>
                </a:extLst>
              </a:tr>
            </a:tbl>
          </a:graphicData>
        </a:graphic>
      </p:graphicFrame>
      <p:graphicFrame>
        <p:nvGraphicFramePr>
          <p:cNvPr id="10" name="表格 9">
            <a:extLst>
              <a:ext uri="{FF2B5EF4-FFF2-40B4-BE49-F238E27FC236}">
                <a16:creationId xmlns:a16="http://schemas.microsoft.com/office/drawing/2014/main" id="{37F761A8-BE06-0FF7-CE16-B40DB24968F0}"/>
              </a:ext>
            </a:extLst>
          </p:cNvPr>
          <p:cNvGraphicFramePr>
            <a:graphicFrameLocks noGrp="1"/>
          </p:cNvGraphicFramePr>
          <p:nvPr>
            <p:extLst>
              <p:ext uri="{D42A27DB-BD31-4B8C-83A1-F6EECF244321}">
                <p14:modId xmlns:p14="http://schemas.microsoft.com/office/powerpoint/2010/main" val="2165126375"/>
              </p:ext>
            </p:extLst>
          </p:nvPr>
        </p:nvGraphicFramePr>
        <p:xfrm>
          <a:off x="6866837" y="3735923"/>
          <a:ext cx="864000" cy="648000"/>
        </p:xfrm>
        <a:graphic>
          <a:graphicData uri="http://schemas.openxmlformats.org/drawingml/2006/table">
            <a:tbl>
              <a:tblPr firstRow="1" bandRow="1">
                <a:tableStyleId>{2D5ABB26-0587-4C30-8999-92F81FD0307C}</a:tableStyleId>
              </a:tblPr>
              <a:tblGrid>
                <a:gridCol w="288000">
                  <a:extLst>
                    <a:ext uri="{9D8B030D-6E8A-4147-A177-3AD203B41FA5}">
                      <a16:colId xmlns:a16="http://schemas.microsoft.com/office/drawing/2014/main" val="3960536262"/>
                    </a:ext>
                  </a:extLst>
                </a:gridCol>
                <a:gridCol w="288000">
                  <a:extLst>
                    <a:ext uri="{9D8B030D-6E8A-4147-A177-3AD203B41FA5}">
                      <a16:colId xmlns:a16="http://schemas.microsoft.com/office/drawing/2014/main" val="2140318526"/>
                    </a:ext>
                  </a:extLst>
                </a:gridCol>
                <a:gridCol w="288000">
                  <a:extLst>
                    <a:ext uri="{9D8B030D-6E8A-4147-A177-3AD203B41FA5}">
                      <a16:colId xmlns:a16="http://schemas.microsoft.com/office/drawing/2014/main" val="3000295592"/>
                    </a:ext>
                  </a:extLst>
                </a:gridCol>
              </a:tblGrid>
              <a:tr h="216000">
                <a:tc>
                  <a:txBody>
                    <a:bodyPr/>
                    <a:lstStyle/>
                    <a:p>
                      <a:pPr algn="ctr"/>
                      <a:r>
                        <a:rPr lang="en-US" altLang="zh-CN" sz="700" dirty="0">
                          <a:solidFill>
                            <a:sysClr val="windowText" lastClr="000000"/>
                          </a:solidFill>
                        </a:rPr>
                        <a:t>8</a:t>
                      </a:r>
                      <a:endParaRPr lang="zh-CN" altLang="en-US" sz="700" dirty="0">
                        <a:solidFill>
                          <a:sysClr val="windowText" lastClr="000000"/>
                        </a:solidFill>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rPr>
                        <a:t>4</a:t>
                      </a:r>
                      <a:endParaRPr lang="zh-CN" altLang="en-US" sz="700" dirty="0">
                        <a:solidFill>
                          <a:sysClr val="windowText" lastClr="000000"/>
                        </a:solidFill>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rgbClr val="FF0000"/>
                          </a:solidFill>
                        </a:rPr>
                        <a:t>12</a:t>
                      </a:r>
                      <a:endParaRPr lang="zh-CN" altLang="en-US" sz="700" dirty="0">
                        <a:solidFill>
                          <a:srgbClr val="FF0000"/>
                        </a:solidFill>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0399424"/>
                  </a:ext>
                </a:extLst>
              </a:tr>
              <a:tr h="216000">
                <a:tc>
                  <a:txBody>
                    <a:bodyPr/>
                    <a:lstStyle/>
                    <a:p>
                      <a:pPr algn="ctr"/>
                      <a:endParaRPr lang="zh-CN" altLang="en-US" sz="700" dirty="0">
                        <a:solidFill>
                          <a:sysClr val="windowText" lastClr="000000"/>
                        </a:solidFill>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rPr>
                        <a:t>F</a:t>
                      </a:r>
                      <a:endParaRPr lang="zh-CN" altLang="en-US" sz="700" dirty="0">
                        <a:solidFill>
                          <a:sysClr val="windowText" lastClr="000000"/>
                        </a:solidFill>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ysClr val="windowText" lastClr="000000"/>
                        </a:solidFill>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6690076"/>
                  </a:ext>
                </a:extLst>
              </a:tr>
              <a:tr h="216000">
                <a:tc>
                  <a:txBody>
                    <a:bodyPr/>
                    <a:lstStyle/>
                    <a:p>
                      <a:pPr algn="ctr"/>
                      <a:r>
                        <a:rPr lang="en-US" altLang="zh-CN" sz="700" dirty="0">
                          <a:solidFill>
                            <a:srgbClr val="FF0000"/>
                          </a:solidFill>
                        </a:rPr>
                        <a:t>8</a:t>
                      </a:r>
                      <a:endParaRPr lang="zh-CN" altLang="en-US" sz="700" dirty="0">
                        <a:solidFill>
                          <a:srgbClr val="FF0000"/>
                        </a:solidFill>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700" dirty="0">
                        <a:solidFill>
                          <a:sysClr val="windowText" lastClr="000000"/>
                        </a:solidFill>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rgbClr val="FF0000"/>
                          </a:solidFill>
                        </a:rPr>
                        <a:t>12</a:t>
                      </a:r>
                      <a:endParaRPr lang="zh-CN" altLang="en-US" sz="700" dirty="0">
                        <a:solidFill>
                          <a:srgbClr val="FF0000"/>
                        </a:solidFill>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513378"/>
                  </a:ext>
                </a:extLst>
              </a:tr>
            </a:tbl>
          </a:graphicData>
        </a:graphic>
      </p:graphicFrame>
      <p:graphicFrame>
        <p:nvGraphicFramePr>
          <p:cNvPr id="12" name="表格 11">
            <a:extLst>
              <a:ext uri="{FF2B5EF4-FFF2-40B4-BE49-F238E27FC236}">
                <a16:creationId xmlns:a16="http://schemas.microsoft.com/office/drawing/2014/main" id="{6C454410-46FC-04C8-5A19-7DCBB15A8A16}"/>
              </a:ext>
            </a:extLst>
          </p:cNvPr>
          <p:cNvGraphicFramePr>
            <a:graphicFrameLocks noGrp="1"/>
          </p:cNvGraphicFramePr>
          <p:nvPr>
            <p:extLst>
              <p:ext uri="{D42A27DB-BD31-4B8C-83A1-F6EECF244321}">
                <p14:modId xmlns:p14="http://schemas.microsoft.com/office/powerpoint/2010/main" val="242656508"/>
              </p:ext>
            </p:extLst>
          </p:nvPr>
        </p:nvGraphicFramePr>
        <p:xfrm>
          <a:off x="8170550" y="3309285"/>
          <a:ext cx="864000" cy="648000"/>
        </p:xfrm>
        <a:graphic>
          <a:graphicData uri="http://schemas.openxmlformats.org/drawingml/2006/table">
            <a:tbl>
              <a:tblPr firstRow="1" bandRow="1">
                <a:tableStyleId>{2D5ABB26-0587-4C30-8999-92F81FD0307C}</a:tableStyleId>
              </a:tblPr>
              <a:tblGrid>
                <a:gridCol w="288000">
                  <a:extLst>
                    <a:ext uri="{9D8B030D-6E8A-4147-A177-3AD203B41FA5}">
                      <a16:colId xmlns:a16="http://schemas.microsoft.com/office/drawing/2014/main" val="3960536262"/>
                    </a:ext>
                  </a:extLst>
                </a:gridCol>
                <a:gridCol w="288000">
                  <a:extLst>
                    <a:ext uri="{9D8B030D-6E8A-4147-A177-3AD203B41FA5}">
                      <a16:colId xmlns:a16="http://schemas.microsoft.com/office/drawing/2014/main" val="2140318526"/>
                    </a:ext>
                  </a:extLst>
                </a:gridCol>
                <a:gridCol w="288000">
                  <a:extLst>
                    <a:ext uri="{9D8B030D-6E8A-4147-A177-3AD203B41FA5}">
                      <a16:colId xmlns:a16="http://schemas.microsoft.com/office/drawing/2014/main" val="3000295592"/>
                    </a:ext>
                  </a:extLst>
                </a:gridCol>
              </a:tblGrid>
              <a:tr h="216000">
                <a:tc>
                  <a:txBody>
                    <a:bodyPr/>
                    <a:lstStyle/>
                    <a:p>
                      <a:pPr algn="ctr"/>
                      <a:r>
                        <a:rPr lang="en-US" altLang="zh-CN" sz="700" dirty="0">
                          <a:solidFill>
                            <a:sysClr val="windowText" lastClr="000000"/>
                          </a:solidFill>
                        </a:rPr>
                        <a:t>12</a:t>
                      </a:r>
                      <a:endParaRPr lang="zh-CN" altLang="en-US" sz="700" dirty="0">
                        <a:solidFill>
                          <a:sysClr val="windowText" lastClr="000000"/>
                        </a:solidFill>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rPr>
                        <a:t>3</a:t>
                      </a:r>
                      <a:endParaRPr lang="zh-CN" altLang="en-US" sz="700" dirty="0">
                        <a:solidFill>
                          <a:sysClr val="windowText" lastClr="000000"/>
                        </a:solidFill>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rgbClr val="FF0000"/>
                          </a:solidFill>
                        </a:rPr>
                        <a:t>15</a:t>
                      </a:r>
                      <a:endParaRPr lang="zh-CN" altLang="en-US" sz="700" dirty="0">
                        <a:solidFill>
                          <a:srgbClr val="FF0000"/>
                        </a:solidFill>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0399424"/>
                  </a:ext>
                </a:extLst>
              </a:tr>
              <a:tr h="216000">
                <a:tc>
                  <a:txBody>
                    <a:bodyPr/>
                    <a:lstStyle/>
                    <a:p>
                      <a:pPr algn="ctr"/>
                      <a:endParaRPr lang="zh-CN" altLang="en-US" sz="700" dirty="0">
                        <a:solidFill>
                          <a:sysClr val="windowText" lastClr="000000"/>
                        </a:solidFill>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rPr>
                        <a:t>G</a:t>
                      </a:r>
                      <a:endParaRPr lang="zh-CN" altLang="en-US" sz="700" dirty="0">
                        <a:solidFill>
                          <a:sysClr val="windowText" lastClr="000000"/>
                        </a:solidFill>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zh-CN" altLang="en-US" sz="700" dirty="0">
                        <a:solidFill>
                          <a:sysClr val="windowText" lastClr="000000"/>
                        </a:solidFill>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6690076"/>
                  </a:ext>
                </a:extLst>
              </a:tr>
              <a:tr h="216000">
                <a:tc>
                  <a:txBody>
                    <a:bodyPr/>
                    <a:lstStyle/>
                    <a:p>
                      <a:pPr algn="ctr"/>
                      <a:r>
                        <a:rPr lang="en-US" altLang="zh-CN" sz="700" dirty="0">
                          <a:solidFill>
                            <a:sysClr val="windowText" lastClr="000000"/>
                          </a:solidFill>
                        </a:rPr>
                        <a:t>12</a:t>
                      </a:r>
                      <a:endParaRPr lang="zh-CN" altLang="en-US" sz="700" dirty="0">
                        <a:solidFill>
                          <a:sysClr val="windowText" lastClr="000000"/>
                        </a:solidFill>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700" dirty="0">
                        <a:solidFill>
                          <a:sysClr val="windowText" lastClr="000000"/>
                        </a:solidFill>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700" dirty="0">
                          <a:solidFill>
                            <a:sysClr val="windowText" lastClr="000000"/>
                          </a:solidFill>
                        </a:rPr>
                        <a:t>15</a:t>
                      </a:r>
                      <a:endParaRPr lang="zh-CN" altLang="en-US" sz="700" dirty="0">
                        <a:solidFill>
                          <a:sysClr val="windowText" lastClr="000000"/>
                        </a:solidFill>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513378"/>
                  </a:ext>
                </a:extLst>
              </a:tr>
            </a:tbl>
          </a:graphicData>
        </a:graphic>
      </p:graphicFrame>
      <p:cxnSp>
        <p:nvCxnSpPr>
          <p:cNvPr id="14" name="直接箭头连接符 13">
            <a:extLst>
              <a:ext uri="{FF2B5EF4-FFF2-40B4-BE49-F238E27FC236}">
                <a16:creationId xmlns:a16="http://schemas.microsoft.com/office/drawing/2014/main" id="{BB213B10-28F6-87D0-D3FC-DC62A294EB31}"/>
              </a:ext>
            </a:extLst>
          </p:cNvPr>
          <p:cNvCxnSpPr>
            <a:cxnSpLocks/>
            <a:stCxn id="10" idx="3"/>
            <a:endCxn id="12" idx="1"/>
          </p:cNvCxnSpPr>
          <p:nvPr/>
        </p:nvCxnSpPr>
        <p:spPr>
          <a:xfrm flipV="1">
            <a:off x="7730837" y="3633285"/>
            <a:ext cx="439713" cy="426638"/>
          </a:xfrm>
          <a:prstGeom prst="straightConnector1">
            <a:avLst/>
          </a:prstGeom>
          <a:ln w="63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0CB7CAB9-87D4-09C4-B2A9-166AB941629B}"/>
              </a:ext>
            </a:extLst>
          </p:cNvPr>
          <p:cNvCxnSpPr>
            <a:cxnSpLocks/>
            <a:stCxn id="8" idx="3"/>
            <a:endCxn id="12" idx="1"/>
          </p:cNvCxnSpPr>
          <p:nvPr/>
        </p:nvCxnSpPr>
        <p:spPr>
          <a:xfrm>
            <a:off x="7730837" y="3242647"/>
            <a:ext cx="439713" cy="390638"/>
          </a:xfrm>
          <a:prstGeom prst="straightConnector1">
            <a:avLst/>
          </a:prstGeom>
          <a:ln w="63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E3394928-05D4-9768-AF10-B6711D756C37}"/>
              </a:ext>
            </a:extLst>
          </p:cNvPr>
          <p:cNvCxnSpPr>
            <a:cxnSpLocks/>
            <a:stCxn id="6" idx="3"/>
            <a:endCxn id="10" idx="1"/>
          </p:cNvCxnSpPr>
          <p:nvPr/>
        </p:nvCxnSpPr>
        <p:spPr>
          <a:xfrm>
            <a:off x="6427124" y="3633285"/>
            <a:ext cx="439713" cy="426638"/>
          </a:xfrm>
          <a:prstGeom prst="straightConnector1">
            <a:avLst/>
          </a:prstGeom>
          <a:ln w="63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6077EFD8-6123-F421-EAB1-7D3445A91D5A}"/>
              </a:ext>
            </a:extLst>
          </p:cNvPr>
          <p:cNvCxnSpPr>
            <a:cxnSpLocks/>
            <a:stCxn id="4" idx="3"/>
            <a:endCxn id="10" idx="1"/>
          </p:cNvCxnSpPr>
          <p:nvPr/>
        </p:nvCxnSpPr>
        <p:spPr>
          <a:xfrm flipV="1">
            <a:off x="6427124" y="4059923"/>
            <a:ext cx="439713" cy="426639"/>
          </a:xfrm>
          <a:prstGeom prst="straightConnector1">
            <a:avLst/>
          </a:prstGeom>
          <a:ln w="63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B001F28F-34A4-8E33-58E9-3C4B22BB1ECA}"/>
              </a:ext>
            </a:extLst>
          </p:cNvPr>
          <p:cNvCxnSpPr>
            <a:cxnSpLocks/>
            <a:stCxn id="2" idx="3"/>
            <a:endCxn id="3" idx="1"/>
          </p:cNvCxnSpPr>
          <p:nvPr/>
        </p:nvCxnSpPr>
        <p:spPr>
          <a:xfrm flipV="1">
            <a:off x="5123411" y="2852008"/>
            <a:ext cx="439713" cy="817277"/>
          </a:xfrm>
          <a:prstGeom prst="straightConnector1">
            <a:avLst/>
          </a:prstGeom>
          <a:ln w="63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010B4BF6-BBB5-553F-E578-F316E19C25E5}"/>
              </a:ext>
            </a:extLst>
          </p:cNvPr>
          <p:cNvCxnSpPr>
            <a:cxnSpLocks/>
            <a:stCxn id="2" idx="3"/>
            <a:endCxn id="6" idx="1"/>
          </p:cNvCxnSpPr>
          <p:nvPr/>
        </p:nvCxnSpPr>
        <p:spPr>
          <a:xfrm flipV="1">
            <a:off x="5123411" y="3633285"/>
            <a:ext cx="439713" cy="36000"/>
          </a:xfrm>
          <a:prstGeom prst="straightConnector1">
            <a:avLst/>
          </a:prstGeom>
          <a:ln w="63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C9B77AA0-6F9E-298E-2EC0-D3623022FBE1}"/>
              </a:ext>
            </a:extLst>
          </p:cNvPr>
          <p:cNvCxnSpPr>
            <a:cxnSpLocks/>
            <a:stCxn id="2" idx="3"/>
            <a:endCxn id="4" idx="1"/>
          </p:cNvCxnSpPr>
          <p:nvPr/>
        </p:nvCxnSpPr>
        <p:spPr>
          <a:xfrm>
            <a:off x="5123411" y="3669285"/>
            <a:ext cx="439713" cy="817277"/>
          </a:xfrm>
          <a:prstGeom prst="straightConnector1">
            <a:avLst/>
          </a:prstGeom>
          <a:ln w="63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AADDDFA4-E28F-71EF-EA9F-24C9AF2BD466}"/>
              </a:ext>
            </a:extLst>
          </p:cNvPr>
          <p:cNvCxnSpPr>
            <a:cxnSpLocks/>
            <a:stCxn id="3" idx="3"/>
            <a:endCxn id="8" idx="1"/>
          </p:cNvCxnSpPr>
          <p:nvPr/>
        </p:nvCxnSpPr>
        <p:spPr>
          <a:xfrm>
            <a:off x="6427124" y="2852008"/>
            <a:ext cx="439713" cy="390639"/>
          </a:xfrm>
          <a:prstGeom prst="straightConnector1">
            <a:avLst/>
          </a:prstGeom>
          <a:ln w="63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6778200"/>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DB9099-8051-AE3F-AACA-4CE981D886C4}"/>
              </a:ext>
            </a:extLst>
          </p:cNvPr>
          <p:cNvSpPr>
            <a:spLocks noGrp="1"/>
          </p:cNvSpPr>
          <p:nvPr>
            <p:ph type="title"/>
          </p:nvPr>
        </p:nvSpPr>
        <p:spPr>
          <a:xfrm>
            <a:off x="792000" y="360000"/>
            <a:ext cx="6375921" cy="429413"/>
          </a:xfrm>
        </p:spPr>
        <p:txBody>
          <a:bodyPr/>
          <a:lstStyle/>
          <a:p>
            <a:r>
              <a:rPr lang="en-US" altLang="zh-CN" dirty="0"/>
              <a:t>5.2 </a:t>
            </a:r>
            <a:r>
              <a:rPr lang="zh-CN" altLang="en-US" dirty="0"/>
              <a:t>时间压缩法</a:t>
            </a:r>
          </a:p>
        </p:txBody>
      </p:sp>
      <p:sp>
        <p:nvSpPr>
          <p:cNvPr id="3" name="内容占位符 2">
            <a:extLst>
              <a:ext uri="{FF2B5EF4-FFF2-40B4-BE49-F238E27FC236}">
                <a16:creationId xmlns:a16="http://schemas.microsoft.com/office/drawing/2014/main" id="{B50D2F66-E7CA-07AC-F20A-1CC1EC48D66F}"/>
              </a:ext>
            </a:extLst>
          </p:cNvPr>
          <p:cNvSpPr>
            <a:spLocks noGrp="1"/>
          </p:cNvSpPr>
          <p:nvPr>
            <p:ph idx="1"/>
          </p:nvPr>
        </p:nvSpPr>
        <p:spPr>
          <a:xfrm>
            <a:off x="696000" y="864000"/>
            <a:ext cx="10800000" cy="5400000"/>
          </a:xfrm>
        </p:spPr>
        <p:txBody>
          <a:bodyPr/>
          <a:lstStyle/>
          <a:p>
            <a:r>
              <a:rPr lang="zh-CN" altLang="en-US" dirty="0"/>
              <a:t>赶工 </a:t>
            </a:r>
            <a:r>
              <a:rPr lang="en-US" altLang="zh-CN" dirty="0"/>
              <a:t>Crashing</a:t>
            </a:r>
          </a:p>
          <a:p>
            <a:pPr lvl="1"/>
            <a:r>
              <a:rPr lang="zh-CN" altLang="en-US" dirty="0"/>
              <a:t>加班</a:t>
            </a:r>
            <a:endParaRPr lang="en-US" altLang="zh-CN" dirty="0"/>
          </a:p>
          <a:p>
            <a:pPr lvl="1"/>
            <a:r>
              <a:rPr lang="zh-CN" altLang="en-US" dirty="0"/>
              <a:t>应急</a:t>
            </a:r>
            <a:endParaRPr lang="en-US" altLang="zh-CN" dirty="0"/>
          </a:p>
          <a:p>
            <a:r>
              <a:rPr lang="zh-CN" altLang="en-US" dirty="0"/>
              <a:t>时间压缩法是在不改变项目范围的前提下，缩短项目工期的方法</a:t>
            </a:r>
          </a:p>
          <a:p>
            <a:r>
              <a:rPr lang="zh-CN" altLang="en-US" dirty="0"/>
              <a:t>希望使用最小的增量成本达到最大的时间压缩</a:t>
            </a:r>
            <a:endParaRPr lang="en-US" altLang="zh-CN" dirty="0"/>
          </a:p>
          <a:p>
            <a:pPr lvl="1"/>
            <a:r>
              <a:rPr lang="zh-CN" altLang="en-US" dirty="0"/>
              <a:t>成本会增加</a:t>
            </a:r>
            <a:endParaRPr lang="en-US" altLang="zh-CN" dirty="0"/>
          </a:p>
          <a:p>
            <a:pPr lvl="1"/>
            <a:r>
              <a:rPr lang="zh-CN" altLang="en-US" dirty="0"/>
              <a:t>方案可行性无法保障</a:t>
            </a:r>
            <a:endParaRPr lang="en-US" altLang="zh-CN" dirty="0"/>
          </a:p>
          <a:p>
            <a:r>
              <a:rPr lang="zh-CN" altLang="en-US" dirty="0"/>
              <a:t>常见方法</a:t>
            </a:r>
            <a:endParaRPr lang="en-US" altLang="zh-CN" dirty="0"/>
          </a:p>
          <a:p>
            <a:pPr lvl="1"/>
            <a:r>
              <a:rPr lang="zh-CN" altLang="en-US" dirty="0"/>
              <a:t>时间成本平衡法</a:t>
            </a:r>
            <a:endParaRPr lang="en-US" altLang="zh-CN" dirty="0"/>
          </a:p>
          <a:p>
            <a:pPr lvl="1"/>
            <a:r>
              <a:rPr lang="zh-CN" altLang="en-US" dirty="0"/>
              <a:t>平行作业法</a:t>
            </a:r>
            <a:endParaRPr lang="en-US" altLang="zh-CN" dirty="0"/>
          </a:p>
        </p:txBody>
      </p:sp>
      <p:sp>
        <p:nvSpPr>
          <p:cNvPr id="6" name="文本占位符 5">
            <a:extLst>
              <a:ext uri="{FF2B5EF4-FFF2-40B4-BE49-F238E27FC236}">
                <a16:creationId xmlns:a16="http://schemas.microsoft.com/office/drawing/2014/main" id="{EAECC4B3-81BA-F4C5-86FD-7773BC362376}"/>
              </a:ext>
            </a:extLst>
          </p:cNvPr>
          <p:cNvSpPr>
            <a:spLocks noGrp="1"/>
          </p:cNvSpPr>
          <p:nvPr>
            <p:ph type="body" sz="quarter" idx="10"/>
          </p:nvPr>
        </p:nvSpPr>
        <p:spPr>
          <a:xfrm>
            <a:off x="7071919" y="448519"/>
            <a:ext cx="4424080" cy="338554"/>
          </a:xfrm>
        </p:spPr>
        <p:txBody>
          <a:bodyPr/>
          <a:lstStyle/>
          <a:p>
            <a:r>
              <a:rPr lang="en-US" altLang="zh-CN" dirty="0"/>
              <a:t>Crashing</a:t>
            </a:r>
            <a:endParaRPr lang="zh-CN" altLang="en-US" dirty="0"/>
          </a:p>
        </p:txBody>
      </p:sp>
    </p:spTree>
    <p:extLst>
      <p:ext uri="{BB962C8B-B14F-4D97-AF65-F5344CB8AC3E}">
        <p14:creationId xmlns:p14="http://schemas.microsoft.com/office/powerpoint/2010/main" val="3081626483"/>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B5B51-0D32-2E9F-62D7-322DBBDEA18D}"/>
            </a:ext>
          </a:extLst>
        </p:cNvPr>
        <p:cNvGrpSpPr/>
        <p:nvPr/>
      </p:nvGrpSpPr>
      <p:grpSpPr>
        <a:xfrm>
          <a:off x="0" y="0"/>
          <a:ext cx="0" cy="0"/>
          <a:chOff x="0" y="0"/>
          <a:chExt cx="0" cy="0"/>
        </a:xfrm>
      </p:grpSpPr>
      <p:graphicFrame>
        <p:nvGraphicFramePr>
          <p:cNvPr id="5" name="内容占位符 8">
            <a:extLst>
              <a:ext uri="{FF2B5EF4-FFF2-40B4-BE49-F238E27FC236}">
                <a16:creationId xmlns:a16="http://schemas.microsoft.com/office/drawing/2014/main" id="{3945900F-C53D-2CC3-8A62-30617D8B6CC8}"/>
              </a:ext>
            </a:extLst>
          </p:cNvPr>
          <p:cNvGraphicFramePr>
            <a:graphicFrameLocks noChangeAspect="1"/>
          </p:cNvGraphicFramePr>
          <p:nvPr/>
        </p:nvGraphicFramePr>
        <p:xfrm>
          <a:off x="2855595" y="1895475"/>
          <a:ext cx="6480810" cy="30670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09807616"/>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标题 25">
            <a:extLst>
              <a:ext uri="{FF2B5EF4-FFF2-40B4-BE49-F238E27FC236}">
                <a16:creationId xmlns:a16="http://schemas.microsoft.com/office/drawing/2014/main" id="{1579884C-3A30-BF81-512A-C13EF9E2B33D}"/>
              </a:ext>
            </a:extLst>
          </p:cNvPr>
          <p:cNvSpPr>
            <a:spLocks noGrp="1"/>
          </p:cNvSpPr>
          <p:nvPr>
            <p:ph type="title"/>
          </p:nvPr>
        </p:nvSpPr>
        <p:spPr>
          <a:xfrm>
            <a:off x="792000" y="360000"/>
            <a:ext cx="6375921" cy="429413"/>
          </a:xfrm>
        </p:spPr>
        <p:txBody>
          <a:bodyPr/>
          <a:lstStyle/>
          <a:p>
            <a:r>
              <a:rPr lang="en-US" altLang="zh-CN" dirty="0"/>
              <a:t>5.2.1 </a:t>
            </a:r>
            <a:r>
              <a:rPr lang="zh-CN" altLang="en-US" dirty="0"/>
              <a:t>时间成本平衡法</a:t>
            </a:r>
          </a:p>
        </p:txBody>
      </p:sp>
      <p:sp>
        <p:nvSpPr>
          <p:cNvPr id="34" name="内容占位符 33">
            <a:extLst>
              <a:ext uri="{FF2B5EF4-FFF2-40B4-BE49-F238E27FC236}">
                <a16:creationId xmlns:a16="http://schemas.microsoft.com/office/drawing/2014/main" id="{B456350A-00F9-A6DB-F480-33F36414C46D}"/>
              </a:ext>
            </a:extLst>
          </p:cNvPr>
          <p:cNvSpPr>
            <a:spLocks noGrp="1"/>
          </p:cNvSpPr>
          <p:nvPr>
            <p:ph idx="1"/>
          </p:nvPr>
        </p:nvSpPr>
        <p:spPr>
          <a:xfrm>
            <a:off x="696000" y="864000"/>
            <a:ext cx="10800000" cy="5400000"/>
          </a:xfrm>
        </p:spPr>
        <p:txBody>
          <a:bodyPr/>
          <a:lstStyle/>
          <a:p>
            <a:r>
              <a:rPr lang="zh-CN" altLang="en-US" dirty="0"/>
              <a:t>根据单位可压缩成本，判断压缩哪些任务达到增加成本最低</a:t>
            </a:r>
          </a:p>
          <a:p>
            <a:endParaRPr lang="zh-CN" altLang="en-US" dirty="0"/>
          </a:p>
        </p:txBody>
      </p:sp>
      <p:sp>
        <p:nvSpPr>
          <p:cNvPr id="31" name="文本占位符 30">
            <a:extLst>
              <a:ext uri="{FF2B5EF4-FFF2-40B4-BE49-F238E27FC236}">
                <a16:creationId xmlns:a16="http://schemas.microsoft.com/office/drawing/2014/main" id="{F6ACC64D-017D-044E-A788-16F2826F7144}"/>
              </a:ext>
            </a:extLst>
          </p:cNvPr>
          <p:cNvSpPr>
            <a:spLocks noGrp="1"/>
          </p:cNvSpPr>
          <p:nvPr>
            <p:ph type="body" sz="quarter" idx="10"/>
          </p:nvPr>
        </p:nvSpPr>
        <p:spPr>
          <a:xfrm>
            <a:off x="7071919" y="448519"/>
            <a:ext cx="4424080" cy="338554"/>
          </a:xfrm>
        </p:spPr>
        <p:txBody>
          <a:bodyPr/>
          <a:lstStyle/>
          <a:p>
            <a:r>
              <a:rPr lang="en-US" altLang="zh-CN" dirty="0"/>
              <a:t>Time cost trade off</a:t>
            </a:r>
            <a:endParaRPr lang="zh-CN" altLang="en-US" dirty="0"/>
          </a:p>
        </p:txBody>
      </p:sp>
      <p:grpSp>
        <p:nvGrpSpPr>
          <p:cNvPr id="39" name="组合 38">
            <a:extLst>
              <a:ext uri="{FF2B5EF4-FFF2-40B4-BE49-F238E27FC236}">
                <a16:creationId xmlns:a16="http://schemas.microsoft.com/office/drawing/2014/main" id="{245DC145-D001-C4AD-14D7-0AD5F37F503A}"/>
              </a:ext>
            </a:extLst>
          </p:cNvPr>
          <p:cNvGrpSpPr/>
          <p:nvPr/>
        </p:nvGrpSpPr>
        <p:grpSpPr>
          <a:xfrm>
            <a:off x="4357689" y="2289037"/>
            <a:ext cx="3476622" cy="1578599"/>
            <a:chOff x="209677" y="4293569"/>
            <a:chExt cx="3476622" cy="1578599"/>
          </a:xfrm>
        </p:grpSpPr>
        <p:sp>
          <p:nvSpPr>
            <p:cNvPr id="7" name="矩形 6">
              <a:extLst>
                <a:ext uri="{FF2B5EF4-FFF2-40B4-BE49-F238E27FC236}">
                  <a16:creationId xmlns:a16="http://schemas.microsoft.com/office/drawing/2014/main" id="{E4DB28F3-0832-11AC-2892-BA546A83BD29}"/>
                </a:ext>
              </a:extLst>
            </p:cNvPr>
            <p:cNvSpPr/>
            <p:nvPr/>
          </p:nvSpPr>
          <p:spPr>
            <a:xfrm>
              <a:off x="209677" y="4902869"/>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Start</a:t>
              </a:r>
              <a:endParaRPr lang="zh-CN" altLang="en-US" sz="1600" dirty="0">
                <a:solidFill>
                  <a:schemeClr val="tx1"/>
                </a:solidFill>
              </a:endParaRPr>
            </a:p>
          </p:txBody>
        </p:sp>
        <p:sp>
          <p:nvSpPr>
            <p:cNvPr id="8" name="矩形 7">
              <a:extLst>
                <a:ext uri="{FF2B5EF4-FFF2-40B4-BE49-F238E27FC236}">
                  <a16:creationId xmlns:a16="http://schemas.microsoft.com/office/drawing/2014/main" id="{C54382D5-CA31-4404-A6A0-FCCAC4876643}"/>
                </a:ext>
              </a:extLst>
            </p:cNvPr>
            <p:cNvSpPr/>
            <p:nvPr/>
          </p:nvSpPr>
          <p:spPr>
            <a:xfrm>
              <a:off x="1128551" y="4293569"/>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A</a:t>
              </a:r>
              <a:endParaRPr lang="zh-CN" altLang="en-US" sz="1600" dirty="0">
                <a:solidFill>
                  <a:schemeClr val="tx1"/>
                </a:solidFill>
              </a:endParaRPr>
            </a:p>
          </p:txBody>
        </p:sp>
        <p:sp>
          <p:nvSpPr>
            <p:cNvPr id="9" name="矩形 8">
              <a:extLst>
                <a:ext uri="{FF2B5EF4-FFF2-40B4-BE49-F238E27FC236}">
                  <a16:creationId xmlns:a16="http://schemas.microsoft.com/office/drawing/2014/main" id="{D8B85F2D-6E9B-3A0D-D1DB-CD9B3AD61DD8}"/>
                </a:ext>
              </a:extLst>
            </p:cNvPr>
            <p:cNvSpPr/>
            <p:nvPr/>
          </p:nvSpPr>
          <p:spPr>
            <a:xfrm>
              <a:off x="2047425" y="4293569"/>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B</a:t>
              </a:r>
              <a:endParaRPr lang="zh-CN" altLang="en-US" sz="1600" dirty="0">
                <a:solidFill>
                  <a:schemeClr val="tx1"/>
                </a:solidFill>
              </a:endParaRPr>
            </a:p>
          </p:txBody>
        </p:sp>
        <p:sp>
          <p:nvSpPr>
            <p:cNvPr id="10" name="矩形 9">
              <a:extLst>
                <a:ext uri="{FF2B5EF4-FFF2-40B4-BE49-F238E27FC236}">
                  <a16:creationId xmlns:a16="http://schemas.microsoft.com/office/drawing/2014/main" id="{5AD77294-30D0-493C-1F2B-4B8B11CAF94B}"/>
                </a:ext>
              </a:extLst>
            </p:cNvPr>
            <p:cNvSpPr/>
            <p:nvPr/>
          </p:nvSpPr>
          <p:spPr>
            <a:xfrm>
              <a:off x="1128551" y="5512168"/>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C</a:t>
              </a:r>
              <a:endParaRPr lang="zh-CN" altLang="en-US" sz="1600" dirty="0">
                <a:solidFill>
                  <a:schemeClr val="tx1"/>
                </a:solidFill>
              </a:endParaRPr>
            </a:p>
          </p:txBody>
        </p:sp>
        <p:sp>
          <p:nvSpPr>
            <p:cNvPr id="11" name="矩形 10">
              <a:extLst>
                <a:ext uri="{FF2B5EF4-FFF2-40B4-BE49-F238E27FC236}">
                  <a16:creationId xmlns:a16="http://schemas.microsoft.com/office/drawing/2014/main" id="{3977E705-E7EB-CA38-4DCB-F5088F3938FD}"/>
                </a:ext>
              </a:extLst>
            </p:cNvPr>
            <p:cNvSpPr/>
            <p:nvPr/>
          </p:nvSpPr>
          <p:spPr>
            <a:xfrm>
              <a:off x="2047425" y="5512168"/>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D</a:t>
              </a:r>
              <a:endParaRPr lang="zh-CN" altLang="en-US" sz="1600" dirty="0">
                <a:solidFill>
                  <a:schemeClr val="tx1"/>
                </a:solidFill>
              </a:endParaRPr>
            </a:p>
          </p:txBody>
        </p:sp>
        <p:sp>
          <p:nvSpPr>
            <p:cNvPr id="13" name="矩形 12">
              <a:extLst>
                <a:ext uri="{FF2B5EF4-FFF2-40B4-BE49-F238E27FC236}">
                  <a16:creationId xmlns:a16="http://schemas.microsoft.com/office/drawing/2014/main" id="{D667AB8B-67D3-1F43-EF8B-3BDE1058AB17}"/>
                </a:ext>
              </a:extLst>
            </p:cNvPr>
            <p:cNvSpPr/>
            <p:nvPr/>
          </p:nvSpPr>
          <p:spPr>
            <a:xfrm>
              <a:off x="2966299" y="4902868"/>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End</a:t>
              </a:r>
              <a:endParaRPr lang="zh-CN" altLang="en-US" sz="1600" dirty="0">
                <a:solidFill>
                  <a:schemeClr val="tx1"/>
                </a:solidFill>
              </a:endParaRPr>
            </a:p>
          </p:txBody>
        </p:sp>
        <p:cxnSp>
          <p:nvCxnSpPr>
            <p:cNvPr id="14" name="直接箭头连接符 13">
              <a:extLst>
                <a:ext uri="{FF2B5EF4-FFF2-40B4-BE49-F238E27FC236}">
                  <a16:creationId xmlns:a16="http://schemas.microsoft.com/office/drawing/2014/main" id="{BE394D52-909E-8FB0-E5AA-E167AF7F804E}"/>
                </a:ext>
              </a:extLst>
            </p:cNvPr>
            <p:cNvCxnSpPr>
              <a:stCxn id="10" idx="3"/>
              <a:endCxn id="11" idx="1"/>
            </p:cNvCxnSpPr>
            <p:nvPr/>
          </p:nvCxnSpPr>
          <p:spPr>
            <a:xfrm>
              <a:off x="1848551" y="5692168"/>
              <a:ext cx="19887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9C98C963-78F3-E6DD-8752-AD085C3C1D42}"/>
                </a:ext>
              </a:extLst>
            </p:cNvPr>
            <p:cNvCxnSpPr>
              <a:cxnSpLocks/>
              <a:stCxn id="11" idx="3"/>
              <a:endCxn id="13" idx="2"/>
            </p:cNvCxnSpPr>
            <p:nvPr/>
          </p:nvCxnSpPr>
          <p:spPr>
            <a:xfrm flipV="1">
              <a:off x="2767425" y="5262868"/>
              <a:ext cx="558874" cy="4293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2AE0B7C1-00A9-288C-1A83-59AC65647B48}"/>
                </a:ext>
              </a:extLst>
            </p:cNvPr>
            <p:cNvCxnSpPr>
              <a:stCxn id="9" idx="3"/>
              <a:endCxn id="13" idx="0"/>
            </p:cNvCxnSpPr>
            <p:nvPr/>
          </p:nvCxnSpPr>
          <p:spPr>
            <a:xfrm>
              <a:off x="2767425" y="4473569"/>
              <a:ext cx="558874" cy="42929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47B67BCE-E4D5-0466-F402-6F1E2359462D}"/>
                </a:ext>
              </a:extLst>
            </p:cNvPr>
            <p:cNvCxnSpPr>
              <a:stCxn id="8" idx="3"/>
              <a:endCxn id="9" idx="1"/>
            </p:cNvCxnSpPr>
            <p:nvPr/>
          </p:nvCxnSpPr>
          <p:spPr>
            <a:xfrm>
              <a:off x="1848551" y="4473569"/>
              <a:ext cx="19887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BC4E0EB5-560A-52F9-E664-4C014285AC70}"/>
                </a:ext>
              </a:extLst>
            </p:cNvPr>
            <p:cNvCxnSpPr>
              <a:stCxn id="7" idx="0"/>
              <a:endCxn id="8" idx="1"/>
            </p:cNvCxnSpPr>
            <p:nvPr/>
          </p:nvCxnSpPr>
          <p:spPr>
            <a:xfrm flipV="1">
              <a:off x="569677" y="4473569"/>
              <a:ext cx="558874" cy="4293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2379CA51-F17A-E474-0037-54941DE1CB9D}"/>
                </a:ext>
              </a:extLst>
            </p:cNvPr>
            <p:cNvCxnSpPr>
              <a:stCxn id="7" idx="2"/>
              <a:endCxn id="10" idx="1"/>
            </p:cNvCxnSpPr>
            <p:nvPr/>
          </p:nvCxnSpPr>
          <p:spPr>
            <a:xfrm>
              <a:off x="569677" y="5262869"/>
              <a:ext cx="558874" cy="42929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8" name="文本框 37">
            <a:extLst>
              <a:ext uri="{FF2B5EF4-FFF2-40B4-BE49-F238E27FC236}">
                <a16:creationId xmlns:a16="http://schemas.microsoft.com/office/drawing/2014/main" id="{85175626-EFC2-3974-0A7E-97BF664F977A}"/>
              </a:ext>
            </a:extLst>
          </p:cNvPr>
          <p:cNvSpPr txBox="1"/>
          <p:nvPr/>
        </p:nvSpPr>
        <p:spPr>
          <a:xfrm>
            <a:off x="695325" y="5741055"/>
            <a:ext cx="902811" cy="523220"/>
          </a:xfrm>
          <a:prstGeom prst="rect">
            <a:avLst/>
          </a:prstGeom>
          <a:noFill/>
        </p:spPr>
        <p:txBody>
          <a:bodyPr wrap="none" rtlCol="0">
            <a:spAutoFit/>
          </a:bodyPr>
          <a:lstStyle/>
          <a:p>
            <a:pPr algn="l"/>
            <a:r>
              <a:rPr lang="zh-CN" altLang="en-US" sz="1400" dirty="0"/>
              <a:t>进度：周</a:t>
            </a:r>
          </a:p>
          <a:p>
            <a:pPr algn="l"/>
            <a:r>
              <a:rPr lang="zh-CN" altLang="en-US" sz="1400" dirty="0"/>
              <a:t>成本：万</a:t>
            </a:r>
          </a:p>
        </p:txBody>
      </p:sp>
      <p:graphicFrame>
        <p:nvGraphicFramePr>
          <p:cNvPr id="40" name="表格 39">
            <a:extLst>
              <a:ext uri="{FF2B5EF4-FFF2-40B4-BE49-F238E27FC236}">
                <a16:creationId xmlns:a16="http://schemas.microsoft.com/office/drawing/2014/main" id="{1BFD3BF5-5212-AA8F-2B05-9B3637AC8283}"/>
              </a:ext>
            </a:extLst>
          </p:cNvPr>
          <p:cNvGraphicFramePr>
            <a:graphicFrameLocks noGrp="1"/>
          </p:cNvGraphicFramePr>
          <p:nvPr>
            <p:extLst>
              <p:ext uri="{D42A27DB-BD31-4B8C-83A1-F6EECF244321}">
                <p14:modId xmlns:p14="http://schemas.microsoft.com/office/powerpoint/2010/main" val="1650606161"/>
              </p:ext>
            </p:extLst>
          </p:nvPr>
        </p:nvGraphicFramePr>
        <p:xfrm>
          <a:off x="2496000" y="4039235"/>
          <a:ext cx="7200000" cy="2225040"/>
        </p:xfrm>
        <a:graphic>
          <a:graphicData uri="http://schemas.openxmlformats.org/drawingml/2006/table">
            <a:tbl>
              <a:tblPr firstRow="1" bandRow="1">
                <a:tableStyleId>{5C22544A-7EE6-4342-B048-85BDC9FD1C3A}</a:tableStyleId>
              </a:tblPr>
              <a:tblGrid>
                <a:gridCol w="2880000">
                  <a:extLst>
                    <a:ext uri="{9D8B030D-6E8A-4147-A177-3AD203B41FA5}">
                      <a16:colId xmlns:a16="http://schemas.microsoft.com/office/drawing/2014/main" val="3673123587"/>
                    </a:ext>
                  </a:extLst>
                </a:gridCol>
                <a:gridCol w="1080000">
                  <a:extLst>
                    <a:ext uri="{9D8B030D-6E8A-4147-A177-3AD203B41FA5}">
                      <a16:colId xmlns:a16="http://schemas.microsoft.com/office/drawing/2014/main" val="1933922423"/>
                    </a:ext>
                  </a:extLst>
                </a:gridCol>
                <a:gridCol w="1080000">
                  <a:extLst>
                    <a:ext uri="{9D8B030D-6E8A-4147-A177-3AD203B41FA5}">
                      <a16:colId xmlns:a16="http://schemas.microsoft.com/office/drawing/2014/main" val="3143705094"/>
                    </a:ext>
                  </a:extLst>
                </a:gridCol>
                <a:gridCol w="1080000">
                  <a:extLst>
                    <a:ext uri="{9D8B030D-6E8A-4147-A177-3AD203B41FA5}">
                      <a16:colId xmlns:a16="http://schemas.microsoft.com/office/drawing/2014/main" val="4200321370"/>
                    </a:ext>
                  </a:extLst>
                </a:gridCol>
                <a:gridCol w="1080000">
                  <a:extLst>
                    <a:ext uri="{9D8B030D-6E8A-4147-A177-3AD203B41FA5}">
                      <a16:colId xmlns:a16="http://schemas.microsoft.com/office/drawing/2014/main" val="2171296150"/>
                    </a:ext>
                  </a:extLst>
                </a:gridCol>
              </a:tblGrid>
              <a:tr h="370840">
                <a:tc>
                  <a:txBody>
                    <a:bodyPr/>
                    <a:lstStyle/>
                    <a:p>
                      <a:pPr algn="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A</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B</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C</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D</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2041459"/>
                  </a:ext>
                </a:extLst>
              </a:tr>
              <a:tr h="370840">
                <a:tc>
                  <a:txBody>
                    <a:bodyPr/>
                    <a:lstStyle/>
                    <a:p>
                      <a:pPr algn="r"/>
                      <a:r>
                        <a:rPr lang="zh-CN" altLang="en-US" sz="1600" b="0" dirty="0">
                          <a:solidFill>
                            <a:schemeClr val="tx1"/>
                          </a:solidFill>
                        </a:rPr>
                        <a:t>正常进度 </a:t>
                      </a:r>
                      <a:r>
                        <a:rPr lang="en-US" altLang="zh-CN" sz="1600" b="0" dirty="0">
                          <a:solidFill>
                            <a:schemeClr val="tx1"/>
                          </a:solidFill>
                        </a:rPr>
                        <a:t>Normal time</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7</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9</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10</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8</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7707999"/>
                  </a:ext>
                </a:extLst>
              </a:tr>
              <a:tr h="370840">
                <a:tc>
                  <a:txBody>
                    <a:bodyPr/>
                    <a:lstStyle/>
                    <a:p>
                      <a:pPr algn="r"/>
                      <a:r>
                        <a:rPr lang="zh-CN" altLang="en-US" sz="1600" b="0" dirty="0">
                          <a:solidFill>
                            <a:schemeClr val="tx1"/>
                          </a:solidFill>
                        </a:rPr>
                        <a:t>正常成本 </a:t>
                      </a:r>
                      <a:r>
                        <a:rPr lang="en-US" altLang="zh-CN" sz="1600" b="0" dirty="0">
                          <a:solidFill>
                            <a:schemeClr val="tx1"/>
                          </a:solidFill>
                        </a:rPr>
                        <a:t>Normal cost</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5</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8</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4</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3</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9342817"/>
                  </a:ext>
                </a:extLst>
              </a:tr>
              <a:tr h="370840">
                <a:tc>
                  <a:txBody>
                    <a:bodyPr/>
                    <a:lstStyle/>
                    <a:p>
                      <a:pPr algn="r"/>
                      <a:r>
                        <a:rPr lang="zh-CN" altLang="en-US" sz="1600" b="0" dirty="0">
                          <a:solidFill>
                            <a:schemeClr val="tx1"/>
                          </a:solidFill>
                        </a:rPr>
                        <a:t>可压缩进度 </a:t>
                      </a:r>
                      <a:r>
                        <a:rPr lang="en-US" altLang="zh-CN" sz="1600" b="0" dirty="0">
                          <a:solidFill>
                            <a:schemeClr val="tx1"/>
                          </a:solidFill>
                        </a:rPr>
                        <a:t>Crash time</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5</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6</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9</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6</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41438061"/>
                  </a:ext>
                </a:extLst>
              </a:tr>
              <a:tr h="370840">
                <a:tc>
                  <a:txBody>
                    <a:bodyPr/>
                    <a:lstStyle/>
                    <a:p>
                      <a:pPr algn="r"/>
                      <a:r>
                        <a:rPr lang="zh-CN" altLang="en-US" sz="1600" b="0" dirty="0">
                          <a:solidFill>
                            <a:schemeClr val="tx1"/>
                          </a:solidFill>
                        </a:rPr>
                        <a:t>可压缩成本 </a:t>
                      </a:r>
                      <a:r>
                        <a:rPr lang="en-US" altLang="zh-CN" sz="1600" b="0" dirty="0">
                          <a:solidFill>
                            <a:schemeClr val="tx1"/>
                          </a:solidFill>
                        </a:rPr>
                        <a:t>Crash cost</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6.2</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11</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4.5</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4.2</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8208057"/>
                  </a:ext>
                </a:extLst>
              </a:tr>
              <a:tr h="370840">
                <a:tc>
                  <a:txBody>
                    <a:bodyPr/>
                    <a:lstStyle/>
                    <a:p>
                      <a:pPr algn="r"/>
                      <a:r>
                        <a:rPr lang="zh-CN" altLang="en-US" sz="1600" b="0" dirty="0">
                          <a:solidFill>
                            <a:schemeClr val="tx1"/>
                          </a:solidFill>
                        </a:rPr>
                        <a:t>单位进度压缩成本</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0.6</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1</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0.5</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0.6</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905023"/>
                  </a:ext>
                </a:extLst>
              </a:tr>
            </a:tbl>
          </a:graphicData>
        </a:graphic>
      </p:graphicFrame>
      <p:graphicFrame>
        <p:nvGraphicFramePr>
          <p:cNvPr id="25" name="表格 24">
            <a:extLst>
              <a:ext uri="{FF2B5EF4-FFF2-40B4-BE49-F238E27FC236}">
                <a16:creationId xmlns:a16="http://schemas.microsoft.com/office/drawing/2014/main" id="{97FEDDD2-7465-3A72-33FD-A10D80E731A3}"/>
              </a:ext>
            </a:extLst>
          </p:cNvPr>
          <p:cNvGraphicFramePr>
            <a:graphicFrameLocks noGrp="1"/>
          </p:cNvGraphicFramePr>
          <p:nvPr>
            <p:extLst>
              <p:ext uri="{D42A27DB-BD31-4B8C-83A1-F6EECF244321}">
                <p14:modId xmlns:p14="http://schemas.microsoft.com/office/powerpoint/2010/main" val="4108374016"/>
              </p:ext>
            </p:extLst>
          </p:nvPr>
        </p:nvGraphicFramePr>
        <p:xfrm>
          <a:off x="695325" y="1252538"/>
          <a:ext cx="4866825" cy="741680"/>
        </p:xfrm>
        <a:graphic>
          <a:graphicData uri="http://schemas.openxmlformats.org/drawingml/2006/table">
            <a:tbl>
              <a:tblPr firstRow="1" bandRow="1">
                <a:tableStyleId>{5C22544A-7EE6-4342-B048-85BDC9FD1C3A}</a:tableStyleId>
              </a:tblPr>
              <a:tblGrid>
                <a:gridCol w="2040602">
                  <a:extLst>
                    <a:ext uri="{9D8B030D-6E8A-4147-A177-3AD203B41FA5}">
                      <a16:colId xmlns:a16="http://schemas.microsoft.com/office/drawing/2014/main" val="2845195160"/>
                    </a:ext>
                  </a:extLst>
                </a:gridCol>
                <a:gridCol w="2826223">
                  <a:extLst>
                    <a:ext uri="{9D8B030D-6E8A-4147-A177-3AD203B41FA5}">
                      <a16:colId xmlns:a16="http://schemas.microsoft.com/office/drawing/2014/main" val="15874722"/>
                    </a:ext>
                  </a:extLst>
                </a:gridCol>
              </a:tblGrid>
              <a:tr h="370840">
                <a:tc rowSpan="2">
                  <a:txBody>
                    <a:bodyPr/>
                    <a:lstStyle/>
                    <a:p>
                      <a:pPr algn="r"/>
                      <a:r>
                        <a:rPr lang="zh-CN" altLang="en-US" sz="1400" b="0" dirty="0">
                          <a:solidFill>
                            <a:schemeClr val="tx1"/>
                          </a:solidFill>
                        </a:rPr>
                        <a:t>单位进度压缩成本 </a:t>
                      </a:r>
                      <a:r>
                        <a:rPr lang="en-US" altLang="zh-CN" sz="1400" b="0" dirty="0">
                          <a:solidFill>
                            <a:schemeClr val="tx1"/>
                          </a:solidFill>
                        </a:rPr>
                        <a:t>=</a:t>
                      </a:r>
                      <a:endParaRPr lang="zh-CN" altLang="en-US" sz="1400" b="0" dirty="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a:r>
                        <a:rPr lang="en-US" altLang="zh-CN" sz="1400" b="0" dirty="0">
                          <a:solidFill>
                            <a:schemeClr val="tx1"/>
                          </a:solidFill>
                        </a:rPr>
                        <a:t>Cost Crash – Cost Normal</a:t>
                      </a:r>
                      <a:endParaRPr lang="zh-CN" altLang="en-US" sz="1400" b="0" dirty="0">
                        <a:solidFill>
                          <a:schemeClr val="tx1"/>
                        </a:solidFill>
                      </a:endParaRP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3380846"/>
                  </a:ext>
                </a:extLst>
              </a:tr>
              <a:tr h="370840">
                <a:tc vMerge="1">
                  <a:txBody>
                    <a:bodyPr/>
                    <a:lstStyle/>
                    <a:p>
                      <a:endParaRPr lang="zh-CN" altLang="en-US" dirty="0"/>
                    </a:p>
                  </a:txBody>
                  <a:tcPr/>
                </a:tc>
                <a:tc>
                  <a:txBody>
                    <a:bodyPr/>
                    <a:lstStyle/>
                    <a:p>
                      <a:pPr algn="l"/>
                      <a:r>
                        <a:rPr lang="en-US" altLang="zh-CN" sz="1400" b="0" dirty="0">
                          <a:solidFill>
                            <a:schemeClr val="tx1"/>
                          </a:solidFill>
                        </a:rPr>
                        <a:t>Time Crash – Time Normal</a:t>
                      </a:r>
                      <a:endParaRPr lang="zh-CN" altLang="en-US" sz="1400" b="0" dirty="0">
                        <a:solidFill>
                          <a:schemeClr val="tx1"/>
                        </a:solidFill>
                      </a:endParaRPr>
                    </a:p>
                  </a:txBody>
                  <a:tcPr anchor="ctr">
                    <a:lnL w="381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51344162"/>
                  </a:ext>
                </a:extLst>
              </a:tr>
            </a:tbl>
          </a:graphicData>
        </a:graphic>
      </p:graphicFrame>
    </p:spTree>
    <p:extLst>
      <p:ext uri="{BB962C8B-B14F-4D97-AF65-F5344CB8AC3E}">
        <p14:creationId xmlns:p14="http://schemas.microsoft.com/office/powerpoint/2010/main" val="3554816493"/>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格 5">
            <a:extLst>
              <a:ext uri="{FF2B5EF4-FFF2-40B4-BE49-F238E27FC236}">
                <a16:creationId xmlns:a16="http://schemas.microsoft.com/office/drawing/2014/main" id="{E5F81CB0-D006-0CD8-F81A-E32C14ECB577}"/>
              </a:ext>
            </a:extLst>
          </p:cNvPr>
          <p:cNvGraphicFramePr>
            <a:graphicFrameLocks noGrp="1"/>
          </p:cNvGraphicFramePr>
          <p:nvPr>
            <p:extLst>
              <p:ext uri="{D42A27DB-BD31-4B8C-83A1-F6EECF244321}">
                <p14:modId xmlns:p14="http://schemas.microsoft.com/office/powerpoint/2010/main" val="3583017982"/>
              </p:ext>
            </p:extLst>
          </p:nvPr>
        </p:nvGraphicFramePr>
        <p:xfrm>
          <a:off x="2496000" y="4039235"/>
          <a:ext cx="7200000" cy="1854200"/>
        </p:xfrm>
        <a:graphic>
          <a:graphicData uri="http://schemas.openxmlformats.org/drawingml/2006/table">
            <a:tbl>
              <a:tblPr firstRow="1" bandRow="1">
                <a:tableStyleId>{5C22544A-7EE6-4342-B048-85BDC9FD1C3A}</a:tableStyleId>
              </a:tblPr>
              <a:tblGrid>
                <a:gridCol w="1080000">
                  <a:extLst>
                    <a:ext uri="{9D8B030D-6E8A-4147-A177-3AD203B41FA5}">
                      <a16:colId xmlns:a16="http://schemas.microsoft.com/office/drawing/2014/main" val="3673123587"/>
                    </a:ext>
                  </a:extLst>
                </a:gridCol>
                <a:gridCol w="1440000">
                  <a:extLst>
                    <a:ext uri="{9D8B030D-6E8A-4147-A177-3AD203B41FA5}">
                      <a16:colId xmlns:a16="http://schemas.microsoft.com/office/drawing/2014/main" val="1933922423"/>
                    </a:ext>
                  </a:extLst>
                </a:gridCol>
                <a:gridCol w="2880000">
                  <a:extLst>
                    <a:ext uri="{9D8B030D-6E8A-4147-A177-3AD203B41FA5}">
                      <a16:colId xmlns:a16="http://schemas.microsoft.com/office/drawing/2014/main" val="3143705094"/>
                    </a:ext>
                  </a:extLst>
                </a:gridCol>
                <a:gridCol w="1800000">
                  <a:extLst>
                    <a:ext uri="{9D8B030D-6E8A-4147-A177-3AD203B41FA5}">
                      <a16:colId xmlns:a16="http://schemas.microsoft.com/office/drawing/2014/main" val="4200321370"/>
                    </a:ext>
                  </a:extLst>
                </a:gridCol>
              </a:tblGrid>
              <a:tr h="370840">
                <a:tc>
                  <a:txBody>
                    <a:bodyPr/>
                    <a:lstStyle/>
                    <a:p>
                      <a:pPr algn="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600" b="0" dirty="0">
                          <a:solidFill>
                            <a:schemeClr val="tx1"/>
                          </a:solidFill>
                        </a:rPr>
                        <a:t>压缩任务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600" b="0" dirty="0">
                          <a:solidFill>
                            <a:schemeClr val="tx1"/>
                          </a:solidFill>
                        </a:rPr>
                        <a:t>成本计算</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600" b="0" dirty="0">
                          <a:solidFill>
                            <a:schemeClr val="tx1"/>
                          </a:solidFill>
                        </a:rPr>
                        <a:t>项目成本</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2041459"/>
                  </a:ext>
                </a:extLst>
              </a:tr>
              <a:tr h="370840">
                <a:tc>
                  <a:txBody>
                    <a:bodyPr/>
                    <a:lstStyle/>
                    <a:p>
                      <a:pPr algn="r"/>
                      <a:r>
                        <a:rPr lang="en-US" altLang="zh-CN" sz="1600" b="0" dirty="0">
                          <a:solidFill>
                            <a:schemeClr val="tx1"/>
                          </a:solidFill>
                        </a:rPr>
                        <a:t>18</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5 + 8 + 4 + 3</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20</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7707999"/>
                  </a:ext>
                </a:extLst>
              </a:tr>
              <a:tr h="370840">
                <a:tc>
                  <a:txBody>
                    <a:bodyPr/>
                    <a:lstStyle/>
                    <a:p>
                      <a:pPr algn="r"/>
                      <a:r>
                        <a:rPr lang="en-US" altLang="zh-CN" sz="1600" b="0" dirty="0">
                          <a:solidFill>
                            <a:schemeClr val="tx1"/>
                          </a:solidFill>
                        </a:rPr>
                        <a:t>17</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C</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20 + 1*0.5</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20.5</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9342817"/>
                  </a:ext>
                </a:extLst>
              </a:tr>
              <a:tr h="370840">
                <a:tc>
                  <a:txBody>
                    <a:bodyPr/>
                    <a:lstStyle/>
                    <a:p>
                      <a:pPr algn="r"/>
                      <a:r>
                        <a:rPr lang="en-US" altLang="zh-CN" sz="1600" b="0" dirty="0">
                          <a:solidFill>
                            <a:schemeClr val="tx1"/>
                          </a:solidFill>
                        </a:rPr>
                        <a:t>16</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C</a:t>
                      </a:r>
                      <a:r>
                        <a:rPr lang="zh-CN" altLang="en-US" sz="1600" b="0" dirty="0">
                          <a:solidFill>
                            <a:schemeClr val="tx1"/>
                          </a:solidFill>
                        </a:rPr>
                        <a:t>、</a:t>
                      </a:r>
                      <a:r>
                        <a:rPr lang="en-US" altLang="zh-CN" sz="1600" b="0" dirty="0">
                          <a:solidFill>
                            <a:schemeClr val="tx1"/>
                          </a:solidFill>
                        </a:rPr>
                        <a:t>D</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0" dirty="0">
                          <a:solidFill>
                            <a:schemeClr val="tx1"/>
                          </a:solidFill>
                        </a:rPr>
                        <a:t>20 + 1*0.5 + 1*0.6</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21.1</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41438061"/>
                  </a:ext>
                </a:extLst>
              </a:tr>
              <a:tr h="370840">
                <a:tc>
                  <a:txBody>
                    <a:bodyPr/>
                    <a:lstStyle/>
                    <a:p>
                      <a:pPr algn="r"/>
                      <a:r>
                        <a:rPr lang="en-US" altLang="zh-CN" sz="1600" b="0" dirty="0">
                          <a:solidFill>
                            <a:schemeClr val="tx1"/>
                          </a:solidFill>
                        </a:rPr>
                        <a:t>15</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A</a:t>
                      </a:r>
                      <a:r>
                        <a:rPr lang="zh-CN" altLang="en-US" sz="1600" b="0" dirty="0">
                          <a:solidFill>
                            <a:schemeClr val="tx1"/>
                          </a:solidFill>
                        </a:rPr>
                        <a:t>、</a:t>
                      </a:r>
                      <a:r>
                        <a:rPr lang="en-US" altLang="zh-CN" sz="1600" b="0" dirty="0">
                          <a:solidFill>
                            <a:schemeClr val="tx1"/>
                          </a:solidFill>
                        </a:rPr>
                        <a:t>C</a:t>
                      </a:r>
                      <a:r>
                        <a:rPr lang="zh-CN" altLang="en-US" sz="1600" b="0" dirty="0">
                          <a:solidFill>
                            <a:schemeClr val="tx1"/>
                          </a:solidFill>
                        </a:rPr>
                        <a:t>、</a:t>
                      </a:r>
                      <a:r>
                        <a:rPr lang="en-US" altLang="zh-CN" sz="1600" b="0" dirty="0">
                          <a:solidFill>
                            <a:schemeClr val="tx1"/>
                          </a:solidFill>
                        </a:rPr>
                        <a:t>D</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0" dirty="0">
                          <a:solidFill>
                            <a:schemeClr val="tx1"/>
                          </a:solidFill>
                        </a:rPr>
                        <a:t>20 + 1*0.6 + 1*0.5 + 1*0.6</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22.3</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8208057"/>
                  </a:ext>
                </a:extLst>
              </a:tr>
            </a:tbl>
          </a:graphicData>
        </a:graphic>
      </p:graphicFrame>
      <p:graphicFrame>
        <p:nvGraphicFramePr>
          <p:cNvPr id="7" name="表格 6">
            <a:extLst>
              <a:ext uri="{FF2B5EF4-FFF2-40B4-BE49-F238E27FC236}">
                <a16:creationId xmlns:a16="http://schemas.microsoft.com/office/drawing/2014/main" id="{4826C173-F6CF-A600-971D-9E5E9500C355}"/>
              </a:ext>
            </a:extLst>
          </p:cNvPr>
          <p:cNvGraphicFramePr>
            <a:graphicFrameLocks noGrp="1"/>
          </p:cNvGraphicFramePr>
          <p:nvPr>
            <p:extLst>
              <p:ext uri="{D42A27DB-BD31-4B8C-83A1-F6EECF244321}">
                <p14:modId xmlns:p14="http://schemas.microsoft.com/office/powerpoint/2010/main" val="4020000166"/>
              </p:ext>
            </p:extLst>
          </p:nvPr>
        </p:nvGraphicFramePr>
        <p:xfrm>
          <a:off x="2496000" y="648335"/>
          <a:ext cx="7200000" cy="2225040"/>
        </p:xfrm>
        <a:graphic>
          <a:graphicData uri="http://schemas.openxmlformats.org/drawingml/2006/table">
            <a:tbl>
              <a:tblPr firstRow="1" bandRow="1">
                <a:tableStyleId>{5C22544A-7EE6-4342-B048-85BDC9FD1C3A}</a:tableStyleId>
              </a:tblPr>
              <a:tblGrid>
                <a:gridCol w="2880000">
                  <a:extLst>
                    <a:ext uri="{9D8B030D-6E8A-4147-A177-3AD203B41FA5}">
                      <a16:colId xmlns:a16="http://schemas.microsoft.com/office/drawing/2014/main" val="3673123587"/>
                    </a:ext>
                  </a:extLst>
                </a:gridCol>
                <a:gridCol w="1080000">
                  <a:extLst>
                    <a:ext uri="{9D8B030D-6E8A-4147-A177-3AD203B41FA5}">
                      <a16:colId xmlns:a16="http://schemas.microsoft.com/office/drawing/2014/main" val="1933922423"/>
                    </a:ext>
                  </a:extLst>
                </a:gridCol>
                <a:gridCol w="1080000">
                  <a:extLst>
                    <a:ext uri="{9D8B030D-6E8A-4147-A177-3AD203B41FA5}">
                      <a16:colId xmlns:a16="http://schemas.microsoft.com/office/drawing/2014/main" val="3143705094"/>
                    </a:ext>
                  </a:extLst>
                </a:gridCol>
                <a:gridCol w="1080000">
                  <a:extLst>
                    <a:ext uri="{9D8B030D-6E8A-4147-A177-3AD203B41FA5}">
                      <a16:colId xmlns:a16="http://schemas.microsoft.com/office/drawing/2014/main" val="4200321370"/>
                    </a:ext>
                  </a:extLst>
                </a:gridCol>
                <a:gridCol w="1080000">
                  <a:extLst>
                    <a:ext uri="{9D8B030D-6E8A-4147-A177-3AD203B41FA5}">
                      <a16:colId xmlns:a16="http://schemas.microsoft.com/office/drawing/2014/main" val="2171296150"/>
                    </a:ext>
                  </a:extLst>
                </a:gridCol>
              </a:tblGrid>
              <a:tr h="370840">
                <a:tc>
                  <a:txBody>
                    <a:bodyPr/>
                    <a:lstStyle/>
                    <a:p>
                      <a:pPr algn="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A</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B</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C</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D</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2041459"/>
                  </a:ext>
                </a:extLst>
              </a:tr>
              <a:tr h="370840">
                <a:tc>
                  <a:txBody>
                    <a:bodyPr/>
                    <a:lstStyle/>
                    <a:p>
                      <a:pPr algn="r"/>
                      <a:r>
                        <a:rPr lang="zh-CN" altLang="en-US" sz="1600" b="0" dirty="0">
                          <a:solidFill>
                            <a:schemeClr val="tx1"/>
                          </a:solidFill>
                        </a:rPr>
                        <a:t>正常进度 </a:t>
                      </a:r>
                      <a:r>
                        <a:rPr lang="en-US" altLang="zh-CN" sz="1600" b="0" dirty="0">
                          <a:solidFill>
                            <a:schemeClr val="tx1"/>
                          </a:solidFill>
                        </a:rPr>
                        <a:t>Normal time</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7</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9</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10</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8</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7707999"/>
                  </a:ext>
                </a:extLst>
              </a:tr>
              <a:tr h="370840">
                <a:tc>
                  <a:txBody>
                    <a:bodyPr/>
                    <a:lstStyle/>
                    <a:p>
                      <a:pPr algn="r"/>
                      <a:r>
                        <a:rPr lang="zh-CN" altLang="en-US" sz="1600" b="0" dirty="0">
                          <a:solidFill>
                            <a:schemeClr val="tx1"/>
                          </a:solidFill>
                        </a:rPr>
                        <a:t>正常成本 </a:t>
                      </a:r>
                      <a:r>
                        <a:rPr lang="en-US" altLang="zh-CN" sz="1600" b="0" dirty="0">
                          <a:solidFill>
                            <a:schemeClr val="tx1"/>
                          </a:solidFill>
                        </a:rPr>
                        <a:t>Normal cost</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5</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8</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4</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3</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9342817"/>
                  </a:ext>
                </a:extLst>
              </a:tr>
              <a:tr h="370840">
                <a:tc>
                  <a:txBody>
                    <a:bodyPr/>
                    <a:lstStyle/>
                    <a:p>
                      <a:pPr algn="r"/>
                      <a:r>
                        <a:rPr lang="zh-CN" altLang="en-US" sz="1600" b="0" dirty="0">
                          <a:solidFill>
                            <a:schemeClr val="tx1"/>
                          </a:solidFill>
                        </a:rPr>
                        <a:t>可压缩进度 </a:t>
                      </a:r>
                      <a:r>
                        <a:rPr lang="en-US" altLang="zh-CN" sz="1600" b="0" dirty="0">
                          <a:solidFill>
                            <a:schemeClr val="tx1"/>
                          </a:solidFill>
                        </a:rPr>
                        <a:t>Crash time</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5</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6</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9</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6</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41438061"/>
                  </a:ext>
                </a:extLst>
              </a:tr>
              <a:tr h="370840">
                <a:tc>
                  <a:txBody>
                    <a:bodyPr/>
                    <a:lstStyle/>
                    <a:p>
                      <a:pPr algn="r"/>
                      <a:r>
                        <a:rPr lang="zh-CN" altLang="en-US" sz="1600" b="0" dirty="0">
                          <a:solidFill>
                            <a:schemeClr val="tx1"/>
                          </a:solidFill>
                        </a:rPr>
                        <a:t>可压缩成本 </a:t>
                      </a:r>
                      <a:r>
                        <a:rPr lang="en-US" altLang="zh-CN" sz="1600" b="0" dirty="0">
                          <a:solidFill>
                            <a:schemeClr val="tx1"/>
                          </a:solidFill>
                        </a:rPr>
                        <a:t>Crash cost</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6.2</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11</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4.5</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4.2</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8208057"/>
                  </a:ext>
                </a:extLst>
              </a:tr>
              <a:tr h="370840">
                <a:tc>
                  <a:txBody>
                    <a:bodyPr/>
                    <a:lstStyle/>
                    <a:p>
                      <a:pPr algn="r"/>
                      <a:r>
                        <a:rPr lang="zh-CN" altLang="en-US" sz="1600" b="0" dirty="0">
                          <a:solidFill>
                            <a:schemeClr val="tx1"/>
                          </a:solidFill>
                        </a:rPr>
                        <a:t>单位进度压缩成本</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0.6</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1</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0.5</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0.6</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905023"/>
                  </a:ext>
                </a:extLst>
              </a:tr>
            </a:tbl>
          </a:graphicData>
        </a:graphic>
      </p:graphicFrame>
    </p:spTree>
    <p:extLst>
      <p:ext uri="{BB962C8B-B14F-4D97-AF65-F5344CB8AC3E}">
        <p14:creationId xmlns:p14="http://schemas.microsoft.com/office/powerpoint/2010/main" val="322963687"/>
      </p:ext>
    </p:extLst>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1C64E6-1206-CA57-706E-DDDF8AF9CA3A}"/>
              </a:ext>
            </a:extLst>
          </p:cNvPr>
          <p:cNvSpPr>
            <a:spLocks noGrp="1"/>
          </p:cNvSpPr>
          <p:nvPr>
            <p:ph type="title"/>
          </p:nvPr>
        </p:nvSpPr>
        <p:spPr>
          <a:xfrm>
            <a:off x="792000" y="360000"/>
            <a:ext cx="6375921" cy="429413"/>
          </a:xfrm>
        </p:spPr>
        <p:txBody>
          <a:bodyPr/>
          <a:lstStyle/>
          <a:p>
            <a:r>
              <a:rPr lang="en-US" altLang="zh-CN" dirty="0"/>
              <a:t>5.2.2 </a:t>
            </a:r>
            <a:r>
              <a:rPr lang="zh-CN" altLang="en-US" dirty="0"/>
              <a:t>平行作业法</a:t>
            </a:r>
          </a:p>
        </p:txBody>
      </p:sp>
      <p:sp>
        <p:nvSpPr>
          <p:cNvPr id="3" name="内容占位符 2">
            <a:extLst>
              <a:ext uri="{FF2B5EF4-FFF2-40B4-BE49-F238E27FC236}">
                <a16:creationId xmlns:a16="http://schemas.microsoft.com/office/drawing/2014/main" id="{7A363726-64DC-A839-C54E-7666C5926E16}"/>
              </a:ext>
            </a:extLst>
          </p:cNvPr>
          <p:cNvSpPr>
            <a:spLocks noGrp="1"/>
          </p:cNvSpPr>
          <p:nvPr>
            <p:ph idx="1"/>
          </p:nvPr>
        </p:nvSpPr>
        <p:spPr>
          <a:xfrm>
            <a:off x="696000" y="864000"/>
            <a:ext cx="10800000" cy="5400000"/>
          </a:xfrm>
        </p:spPr>
        <p:txBody>
          <a:bodyPr/>
          <a:lstStyle/>
          <a:p>
            <a:r>
              <a:rPr lang="zh-CN" altLang="en-US" dirty="0"/>
              <a:t>快速跟进</a:t>
            </a:r>
            <a:endParaRPr lang="en-US" altLang="zh-CN" dirty="0"/>
          </a:p>
          <a:p>
            <a:r>
              <a:rPr lang="zh-CN" altLang="en-US" dirty="0"/>
              <a:t>改变活动间的逻辑关系，并行开展某些活动</a:t>
            </a:r>
            <a:endParaRPr lang="en-US" altLang="zh-CN" dirty="0"/>
          </a:p>
          <a:p>
            <a:r>
              <a:rPr lang="zh-CN" altLang="en-US" dirty="0"/>
              <a:t>是一种</a:t>
            </a:r>
            <a:r>
              <a:rPr lang="zh-CN" altLang="zh-CN" dirty="0"/>
              <a:t>提前量方法</a:t>
            </a:r>
            <a:r>
              <a:rPr lang="en-US" altLang="zh-CN" dirty="0"/>
              <a:t> lead</a:t>
            </a:r>
          </a:p>
          <a:p>
            <a:r>
              <a:rPr lang="zh-CN" altLang="en-US" dirty="0"/>
              <a:t>会导致返工</a:t>
            </a:r>
          </a:p>
          <a:p>
            <a:endParaRPr lang="zh-CN" altLang="en-US" dirty="0"/>
          </a:p>
        </p:txBody>
      </p:sp>
      <p:sp>
        <p:nvSpPr>
          <p:cNvPr id="7" name="文本占位符 6">
            <a:extLst>
              <a:ext uri="{FF2B5EF4-FFF2-40B4-BE49-F238E27FC236}">
                <a16:creationId xmlns:a16="http://schemas.microsoft.com/office/drawing/2014/main" id="{220ED885-96D6-AB2D-36D6-CE102C700AB6}"/>
              </a:ext>
            </a:extLst>
          </p:cNvPr>
          <p:cNvSpPr>
            <a:spLocks noGrp="1"/>
          </p:cNvSpPr>
          <p:nvPr>
            <p:ph type="body" sz="quarter" idx="10"/>
          </p:nvPr>
        </p:nvSpPr>
        <p:spPr>
          <a:xfrm>
            <a:off x="7071919" y="448519"/>
            <a:ext cx="4424080" cy="338554"/>
          </a:xfrm>
        </p:spPr>
        <p:txBody>
          <a:bodyPr/>
          <a:lstStyle/>
          <a:p>
            <a:r>
              <a:rPr lang="en-US" altLang="zh-CN" dirty="0"/>
              <a:t>Fast Tracking</a:t>
            </a:r>
            <a:endParaRPr lang="zh-CN" altLang="en-US" dirty="0"/>
          </a:p>
        </p:txBody>
      </p:sp>
      <p:graphicFrame>
        <p:nvGraphicFramePr>
          <p:cNvPr id="18" name="表格 17">
            <a:extLst>
              <a:ext uri="{FF2B5EF4-FFF2-40B4-BE49-F238E27FC236}">
                <a16:creationId xmlns:a16="http://schemas.microsoft.com/office/drawing/2014/main" id="{EB8278A7-6849-6593-7D5A-5C07D80E9FFF}"/>
              </a:ext>
            </a:extLst>
          </p:cNvPr>
          <p:cNvGraphicFramePr>
            <a:graphicFrameLocks noGrp="1"/>
          </p:cNvGraphicFramePr>
          <p:nvPr>
            <p:extLst>
              <p:ext uri="{D42A27DB-BD31-4B8C-83A1-F6EECF244321}">
                <p14:modId xmlns:p14="http://schemas.microsoft.com/office/powerpoint/2010/main" val="4187649026"/>
              </p:ext>
            </p:extLst>
          </p:nvPr>
        </p:nvGraphicFramePr>
        <p:xfrm>
          <a:off x="3504000" y="3335020"/>
          <a:ext cx="5184000" cy="1112520"/>
        </p:xfrm>
        <a:graphic>
          <a:graphicData uri="http://schemas.openxmlformats.org/drawingml/2006/table">
            <a:tbl>
              <a:tblPr firstRow="1" bandRow="1">
                <a:tableStyleId>{5C22544A-7EE6-4342-B048-85BDC9FD1C3A}</a:tableStyleId>
              </a:tblPr>
              <a:tblGrid>
                <a:gridCol w="432000">
                  <a:extLst>
                    <a:ext uri="{9D8B030D-6E8A-4147-A177-3AD203B41FA5}">
                      <a16:colId xmlns:a16="http://schemas.microsoft.com/office/drawing/2014/main" val="15874722"/>
                    </a:ext>
                  </a:extLst>
                </a:gridCol>
                <a:gridCol w="432000">
                  <a:extLst>
                    <a:ext uri="{9D8B030D-6E8A-4147-A177-3AD203B41FA5}">
                      <a16:colId xmlns:a16="http://schemas.microsoft.com/office/drawing/2014/main" val="1888406430"/>
                    </a:ext>
                  </a:extLst>
                </a:gridCol>
                <a:gridCol w="432000">
                  <a:extLst>
                    <a:ext uri="{9D8B030D-6E8A-4147-A177-3AD203B41FA5}">
                      <a16:colId xmlns:a16="http://schemas.microsoft.com/office/drawing/2014/main" val="3751396585"/>
                    </a:ext>
                  </a:extLst>
                </a:gridCol>
                <a:gridCol w="432000">
                  <a:extLst>
                    <a:ext uri="{9D8B030D-6E8A-4147-A177-3AD203B41FA5}">
                      <a16:colId xmlns:a16="http://schemas.microsoft.com/office/drawing/2014/main" val="4054233349"/>
                    </a:ext>
                  </a:extLst>
                </a:gridCol>
                <a:gridCol w="432000">
                  <a:extLst>
                    <a:ext uri="{9D8B030D-6E8A-4147-A177-3AD203B41FA5}">
                      <a16:colId xmlns:a16="http://schemas.microsoft.com/office/drawing/2014/main" val="1182597986"/>
                    </a:ext>
                  </a:extLst>
                </a:gridCol>
                <a:gridCol w="432000">
                  <a:extLst>
                    <a:ext uri="{9D8B030D-6E8A-4147-A177-3AD203B41FA5}">
                      <a16:colId xmlns:a16="http://schemas.microsoft.com/office/drawing/2014/main" val="241816166"/>
                    </a:ext>
                  </a:extLst>
                </a:gridCol>
                <a:gridCol w="432000">
                  <a:extLst>
                    <a:ext uri="{9D8B030D-6E8A-4147-A177-3AD203B41FA5}">
                      <a16:colId xmlns:a16="http://schemas.microsoft.com/office/drawing/2014/main" val="3236925027"/>
                    </a:ext>
                  </a:extLst>
                </a:gridCol>
                <a:gridCol w="432000">
                  <a:extLst>
                    <a:ext uri="{9D8B030D-6E8A-4147-A177-3AD203B41FA5}">
                      <a16:colId xmlns:a16="http://schemas.microsoft.com/office/drawing/2014/main" val="836707906"/>
                    </a:ext>
                  </a:extLst>
                </a:gridCol>
                <a:gridCol w="432000">
                  <a:extLst>
                    <a:ext uri="{9D8B030D-6E8A-4147-A177-3AD203B41FA5}">
                      <a16:colId xmlns:a16="http://schemas.microsoft.com/office/drawing/2014/main" val="768639750"/>
                    </a:ext>
                  </a:extLst>
                </a:gridCol>
                <a:gridCol w="432000">
                  <a:extLst>
                    <a:ext uri="{9D8B030D-6E8A-4147-A177-3AD203B41FA5}">
                      <a16:colId xmlns:a16="http://schemas.microsoft.com/office/drawing/2014/main" val="2886971673"/>
                    </a:ext>
                  </a:extLst>
                </a:gridCol>
                <a:gridCol w="432000">
                  <a:extLst>
                    <a:ext uri="{9D8B030D-6E8A-4147-A177-3AD203B41FA5}">
                      <a16:colId xmlns:a16="http://schemas.microsoft.com/office/drawing/2014/main" val="363290922"/>
                    </a:ext>
                  </a:extLst>
                </a:gridCol>
                <a:gridCol w="432000">
                  <a:extLst>
                    <a:ext uri="{9D8B030D-6E8A-4147-A177-3AD203B41FA5}">
                      <a16:colId xmlns:a16="http://schemas.microsoft.com/office/drawing/2014/main" val="3181918223"/>
                    </a:ext>
                  </a:extLst>
                </a:gridCol>
              </a:tblGrid>
              <a:tr h="370840">
                <a:tc>
                  <a:txBody>
                    <a:bodyPr/>
                    <a:lstStyle/>
                    <a:p>
                      <a:pPr algn="ctr"/>
                      <a:r>
                        <a:rPr lang="en-US" altLang="zh-CN" sz="1400" b="0" dirty="0">
                          <a:solidFill>
                            <a:schemeClr val="tx1"/>
                          </a:solidFill>
                        </a:rPr>
                        <a:t>1</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2</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3</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4</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5</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3380846"/>
                  </a:ext>
                </a:extLst>
              </a:tr>
              <a:tr h="370840">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6</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7</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8</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91083529"/>
                  </a:ext>
                </a:extLst>
              </a:tr>
              <a:tr h="370840">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9</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10</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11</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12</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9510159"/>
                  </a:ext>
                </a:extLst>
              </a:tr>
            </a:tbl>
          </a:graphicData>
        </a:graphic>
      </p:graphicFrame>
      <p:graphicFrame>
        <p:nvGraphicFramePr>
          <p:cNvPr id="26" name="表格 25">
            <a:extLst>
              <a:ext uri="{FF2B5EF4-FFF2-40B4-BE49-F238E27FC236}">
                <a16:creationId xmlns:a16="http://schemas.microsoft.com/office/drawing/2014/main" id="{C42A5B57-0398-34E3-B5D5-DEC91F3E821D}"/>
              </a:ext>
            </a:extLst>
          </p:cNvPr>
          <p:cNvGraphicFramePr>
            <a:graphicFrameLocks noGrp="1"/>
          </p:cNvGraphicFramePr>
          <p:nvPr>
            <p:extLst>
              <p:ext uri="{D42A27DB-BD31-4B8C-83A1-F6EECF244321}">
                <p14:modId xmlns:p14="http://schemas.microsoft.com/office/powerpoint/2010/main" val="748910880"/>
              </p:ext>
            </p:extLst>
          </p:nvPr>
        </p:nvGraphicFramePr>
        <p:xfrm>
          <a:off x="3504000" y="4963795"/>
          <a:ext cx="5184000" cy="1112520"/>
        </p:xfrm>
        <a:graphic>
          <a:graphicData uri="http://schemas.openxmlformats.org/drawingml/2006/table">
            <a:tbl>
              <a:tblPr firstRow="1" bandRow="1">
                <a:tableStyleId>{5C22544A-7EE6-4342-B048-85BDC9FD1C3A}</a:tableStyleId>
              </a:tblPr>
              <a:tblGrid>
                <a:gridCol w="432000">
                  <a:extLst>
                    <a:ext uri="{9D8B030D-6E8A-4147-A177-3AD203B41FA5}">
                      <a16:colId xmlns:a16="http://schemas.microsoft.com/office/drawing/2014/main" val="15874722"/>
                    </a:ext>
                  </a:extLst>
                </a:gridCol>
                <a:gridCol w="432000">
                  <a:extLst>
                    <a:ext uri="{9D8B030D-6E8A-4147-A177-3AD203B41FA5}">
                      <a16:colId xmlns:a16="http://schemas.microsoft.com/office/drawing/2014/main" val="1888406430"/>
                    </a:ext>
                  </a:extLst>
                </a:gridCol>
                <a:gridCol w="432000">
                  <a:extLst>
                    <a:ext uri="{9D8B030D-6E8A-4147-A177-3AD203B41FA5}">
                      <a16:colId xmlns:a16="http://schemas.microsoft.com/office/drawing/2014/main" val="3751396585"/>
                    </a:ext>
                  </a:extLst>
                </a:gridCol>
                <a:gridCol w="432000">
                  <a:extLst>
                    <a:ext uri="{9D8B030D-6E8A-4147-A177-3AD203B41FA5}">
                      <a16:colId xmlns:a16="http://schemas.microsoft.com/office/drawing/2014/main" val="4054233349"/>
                    </a:ext>
                  </a:extLst>
                </a:gridCol>
                <a:gridCol w="432000">
                  <a:extLst>
                    <a:ext uri="{9D8B030D-6E8A-4147-A177-3AD203B41FA5}">
                      <a16:colId xmlns:a16="http://schemas.microsoft.com/office/drawing/2014/main" val="1182597986"/>
                    </a:ext>
                  </a:extLst>
                </a:gridCol>
                <a:gridCol w="432000">
                  <a:extLst>
                    <a:ext uri="{9D8B030D-6E8A-4147-A177-3AD203B41FA5}">
                      <a16:colId xmlns:a16="http://schemas.microsoft.com/office/drawing/2014/main" val="241816166"/>
                    </a:ext>
                  </a:extLst>
                </a:gridCol>
                <a:gridCol w="432000">
                  <a:extLst>
                    <a:ext uri="{9D8B030D-6E8A-4147-A177-3AD203B41FA5}">
                      <a16:colId xmlns:a16="http://schemas.microsoft.com/office/drawing/2014/main" val="3236925027"/>
                    </a:ext>
                  </a:extLst>
                </a:gridCol>
                <a:gridCol w="432000">
                  <a:extLst>
                    <a:ext uri="{9D8B030D-6E8A-4147-A177-3AD203B41FA5}">
                      <a16:colId xmlns:a16="http://schemas.microsoft.com/office/drawing/2014/main" val="836707906"/>
                    </a:ext>
                  </a:extLst>
                </a:gridCol>
                <a:gridCol w="432000">
                  <a:extLst>
                    <a:ext uri="{9D8B030D-6E8A-4147-A177-3AD203B41FA5}">
                      <a16:colId xmlns:a16="http://schemas.microsoft.com/office/drawing/2014/main" val="768639750"/>
                    </a:ext>
                  </a:extLst>
                </a:gridCol>
                <a:gridCol w="432000">
                  <a:extLst>
                    <a:ext uri="{9D8B030D-6E8A-4147-A177-3AD203B41FA5}">
                      <a16:colId xmlns:a16="http://schemas.microsoft.com/office/drawing/2014/main" val="2886971673"/>
                    </a:ext>
                  </a:extLst>
                </a:gridCol>
                <a:gridCol w="432000">
                  <a:extLst>
                    <a:ext uri="{9D8B030D-6E8A-4147-A177-3AD203B41FA5}">
                      <a16:colId xmlns:a16="http://schemas.microsoft.com/office/drawing/2014/main" val="363290922"/>
                    </a:ext>
                  </a:extLst>
                </a:gridCol>
                <a:gridCol w="432000">
                  <a:extLst>
                    <a:ext uri="{9D8B030D-6E8A-4147-A177-3AD203B41FA5}">
                      <a16:colId xmlns:a16="http://schemas.microsoft.com/office/drawing/2014/main" val="3181918223"/>
                    </a:ext>
                  </a:extLst>
                </a:gridCol>
              </a:tblGrid>
              <a:tr h="370840">
                <a:tc>
                  <a:txBody>
                    <a:bodyPr/>
                    <a:lstStyle/>
                    <a:p>
                      <a:pPr algn="ctr"/>
                      <a:r>
                        <a:rPr lang="en-US" altLang="zh-CN" sz="1400" b="0" dirty="0">
                          <a:solidFill>
                            <a:schemeClr val="tx1"/>
                          </a:solidFill>
                        </a:rPr>
                        <a:t>1</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2</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3</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4</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5</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3380846"/>
                  </a:ext>
                </a:extLst>
              </a:tr>
              <a:tr h="370840">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6</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7</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8</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91083529"/>
                  </a:ext>
                </a:extLst>
              </a:tr>
              <a:tr h="370840">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9</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10</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11</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12</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9510159"/>
                  </a:ext>
                </a:extLst>
              </a:tr>
            </a:tbl>
          </a:graphicData>
        </a:graphic>
      </p:graphicFrame>
      <p:sp>
        <p:nvSpPr>
          <p:cNvPr id="27" name="文本框 26">
            <a:extLst>
              <a:ext uri="{FF2B5EF4-FFF2-40B4-BE49-F238E27FC236}">
                <a16:creationId xmlns:a16="http://schemas.microsoft.com/office/drawing/2014/main" id="{8C99E84A-EA0F-62C7-5DB1-629C5D186AFE}"/>
              </a:ext>
            </a:extLst>
          </p:cNvPr>
          <p:cNvSpPr txBox="1"/>
          <p:nvPr/>
        </p:nvSpPr>
        <p:spPr>
          <a:xfrm>
            <a:off x="2511301" y="3335020"/>
            <a:ext cx="1005403" cy="338554"/>
          </a:xfrm>
          <a:prstGeom prst="rect">
            <a:avLst/>
          </a:prstGeom>
          <a:noFill/>
        </p:spPr>
        <p:txBody>
          <a:bodyPr wrap="none" rtlCol="0">
            <a:spAutoFit/>
          </a:bodyPr>
          <a:lstStyle/>
          <a:p>
            <a:pPr algn="l"/>
            <a:r>
              <a:rPr lang="zh-CN" altLang="en-US" sz="1600" dirty="0"/>
              <a:t>正常工期</a:t>
            </a:r>
          </a:p>
        </p:txBody>
      </p:sp>
      <p:sp>
        <p:nvSpPr>
          <p:cNvPr id="28" name="文本框 27">
            <a:extLst>
              <a:ext uri="{FF2B5EF4-FFF2-40B4-BE49-F238E27FC236}">
                <a16:creationId xmlns:a16="http://schemas.microsoft.com/office/drawing/2014/main" id="{8A4F46C3-5416-10A7-4D89-9BD04D27F312}"/>
              </a:ext>
            </a:extLst>
          </p:cNvPr>
          <p:cNvSpPr txBox="1"/>
          <p:nvPr/>
        </p:nvSpPr>
        <p:spPr>
          <a:xfrm>
            <a:off x="2511301" y="4963795"/>
            <a:ext cx="1005403" cy="338554"/>
          </a:xfrm>
          <a:prstGeom prst="rect">
            <a:avLst/>
          </a:prstGeom>
          <a:noFill/>
        </p:spPr>
        <p:txBody>
          <a:bodyPr wrap="none" rtlCol="0">
            <a:spAutoFit/>
          </a:bodyPr>
          <a:lstStyle/>
          <a:p>
            <a:pPr algn="l"/>
            <a:r>
              <a:rPr lang="zh-CN" altLang="en-US" sz="1600" dirty="0"/>
              <a:t>快速跟进</a:t>
            </a:r>
          </a:p>
        </p:txBody>
      </p:sp>
    </p:spTree>
    <p:extLst>
      <p:ext uri="{BB962C8B-B14F-4D97-AF65-F5344CB8AC3E}">
        <p14:creationId xmlns:p14="http://schemas.microsoft.com/office/powerpoint/2010/main" val="111955153"/>
      </p:ext>
    </p:extLst>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DC9CEA-0AA0-0D09-24FF-C53CADB67A8F}"/>
              </a:ext>
            </a:extLst>
          </p:cNvPr>
          <p:cNvSpPr>
            <a:spLocks noGrp="1"/>
          </p:cNvSpPr>
          <p:nvPr>
            <p:ph type="title"/>
          </p:nvPr>
        </p:nvSpPr>
        <p:spPr>
          <a:xfrm>
            <a:off x="792000" y="360000"/>
            <a:ext cx="6375921" cy="429413"/>
          </a:xfrm>
        </p:spPr>
        <p:txBody>
          <a:bodyPr/>
          <a:lstStyle/>
          <a:p>
            <a:r>
              <a:rPr lang="en-US" altLang="zh-CN" dirty="0"/>
              <a:t>5.3 </a:t>
            </a:r>
            <a:r>
              <a:rPr lang="zh-CN" altLang="en-US" dirty="0"/>
              <a:t>资源优化</a:t>
            </a:r>
          </a:p>
        </p:txBody>
      </p:sp>
      <p:sp>
        <p:nvSpPr>
          <p:cNvPr id="3" name="内容占位符 2">
            <a:extLst>
              <a:ext uri="{FF2B5EF4-FFF2-40B4-BE49-F238E27FC236}">
                <a16:creationId xmlns:a16="http://schemas.microsoft.com/office/drawing/2014/main" id="{47D4011D-332D-D23F-22DE-2C6FCC7BEEAB}"/>
              </a:ext>
            </a:extLst>
          </p:cNvPr>
          <p:cNvSpPr>
            <a:spLocks noGrp="1"/>
          </p:cNvSpPr>
          <p:nvPr>
            <p:ph idx="1"/>
          </p:nvPr>
        </p:nvSpPr>
        <p:spPr>
          <a:xfrm>
            <a:off x="696000" y="864000"/>
            <a:ext cx="10800000" cy="5400000"/>
          </a:xfrm>
        </p:spPr>
        <p:txBody>
          <a:bodyPr/>
          <a:lstStyle/>
          <a:p>
            <a:r>
              <a:rPr lang="zh-CN" altLang="en-US" dirty="0">
                <a:hlinkClick r:id="rId2"/>
              </a:rPr>
              <a:t>资源平衡 </a:t>
            </a:r>
            <a:r>
              <a:rPr lang="en-US" altLang="zh-CN" dirty="0">
                <a:hlinkClick r:id="rId2"/>
              </a:rPr>
              <a:t>Resource leveling</a:t>
            </a:r>
            <a:r>
              <a:rPr lang="zh-CN" altLang="en-US" dirty="0"/>
              <a:t> </a:t>
            </a:r>
            <a:endParaRPr lang="en-US" altLang="zh-CN" dirty="0"/>
          </a:p>
          <a:p>
            <a:pPr lvl="1"/>
            <a:r>
              <a:rPr lang="zh-CN" altLang="en-US" dirty="0"/>
              <a:t>资源平衡是一种通过调整项目进度来解决资源限制的技术</a:t>
            </a:r>
            <a:endParaRPr lang="en-US" altLang="zh-CN" dirty="0"/>
          </a:p>
          <a:p>
            <a:pPr lvl="1"/>
            <a:r>
              <a:rPr lang="zh-CN" altLang="en-US" dirty="0"/>
              <a:t>通常在资源有限时使用；资源短缺或冲突</a:t>
            </a:r>
            <a:endParaRPr lang="en-US" altLang="zh-CN" dirty="0"/>
          </a:p>
          <a:p>
            <a:pPr lvl="1"/>
            <a:r>
              <a:rPr lang="zh-CN" altLang="en-US" dirty="0"/>
              <a:t>主要目标是优化其利用率，同时不超过其可用性</a:t>
            </a:r>
            <a:endParaRPr lang="en-US" altLang="zh-CN" dirty="0"/>
          </a:p>
          <a:p>
            <a:pPr lvl="1"/>
            <a:r>
              <a:rPr lang="zh-CN" altLang="en-US" dirty="0"/>
              <a:t>可能改变关键路径，甚至延期</a:t>
            </a:r>
            <a:endParaRPr lang="en-US" altLang="zh-CN" dirty="0"/>
          </a:p>
          <a:p>
            <a:r>
              <a:rPr lang="zh-CN" altLang="en-US" dirty="0">
                <a:hlinkClick r:id="rId3"/>
              </a:rPr>
              <a:t>资源平滑 </a:t>
            </a:r>
            <a:r>
              <a:rPr lang="en-US" altLang="zh-CN" dirty="0">
                <a:hlinkClick r:id="rId3"/>
              </a:rPr>
              <a:t>resource smoothing</a:t>
            </a:r>
            <a:endParaRPr lang="en-US" altLang="zh-CN" dirty="0"/>
          </a:p>
          <a:p>
            <a:pPr lvl="1"/>
            <a:r>
              <a:rPr lang="zh-CN" altLang="en-US" dirty="0"/>
              <a:t>适用于已经进行了资源平衡和</a:t>
            </a:r>
            <a:r>
              <a:rPr lang="en-US" altLang="zh-CN" dirty="0"/>
              <a:t>/</a:t>
            </a:r>
            <a:r>
              <a:rPr lang="zh-CN" altLang="en-US" dirty="0"/>
              <a:t>或时间表固定的项目</a:t>
            </a:r>
            <a:endParaRPr lang="en-US" altLang="zh-CN" dirty="0"/>
          </a:p>
          <a:p>
            <a:pPr lvl="1"/>
            <a:r>
              <a:rPr lang="zh-CN" altLang="en-US" dirty="0"/>
              <a:t>旨在在不延长项目持续时间的情况下平衡</a:t>
            </a:r>
            <a:r>
              <a:rPr lang="en-US" altLang="zh-CN" dirty="0"/>
              <a:t>/</a:t>
            </a:r>
            <a:r>
              <a:rPr lang="zh-CN" altLang="en-US" dirty="0"/>
              <a:t>优化资源利用率</a:t>
            </a:r>
            <a:endParaRPr lang="en-US" altLang="zh-CN" dirty="0"/>
          </a:p>
          <a:p>
            <a:pPr lvl="1"/>
            <a:r>
              <a:rPr lang="zh-CN" altLang="en-US" dirty="0"/>
              <a:t>不会改变关键路径</a:t>
            </a:r>
            <a:endParaRPr lang="en-US" altLang="zh-CN" dirty="0"/>
          </a:p>
          <a:p>
            <a:pPr lvl="1"/>
            <a:r>
              <a:rPr lang="zh-CN" altLang="en-US" dirty="0"/>
              <a:t>不会改变项目的结束日期</a:t>
            </a:r>
            <a:endParaRPr lang="en-US" altLang="zh-CN" dirty="0"/>
          </a:p>
          <a:p>
            <a:pPr lvl="1"/>
            <a:r>
              <a:rPr lang="zh-CN" altLang="en-US" dirty="0"/>
              <a:t>只在不影响项目进度的范围内重新分配任务</a:t>
            </a:r>
          </a:p>
        </p:txBody>
      </p:sp>
      <p:sp>
        <p:nvSpPr>
          <p:cNvPr id="6" name="文本占位符 5">
            <a:extLst>
              <a:ext uri="{FF2B5EF4-FFF2-40B4-BE49-F238E27FC236}">
                <a16:creationId xmlns:a16="http://schemas.microsoft.com/office/drawing/2014/main" id="{34481616-4625-A2F2-6D9E-ED1BF3E70F6C}"/>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4064428493"/>
      </p:ext>
    </p:extLst>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218DF9C-8A8F-F1C5-3AED-82965BECE0C3}"/>
              </a:ext>
            </a:extLst>
          </p:cNvPr>
          <p:cNvSpPr txBox="1"/>
          <p:nvPr/>
        </p:nvSpPr>
        <p:spPr>
          <a:xfrm>
            <a:off x="4242768" y="419100"/>
            <a:ext cx="3706464" cy="369332"/>
          </a:xfrm>
          <a:prstGeom prst="rect">
            <a:avLst/>
          </a:prstGeom>
          <a:noFill/>
        </p:spPr>
        <p:txBody>
          <a:bodyPr wrap="none" rtlCol="0">
            <a:spAutoFit/>
          </a:bodyPr>
          <a:lstStyle/>
          <a:p>
            <a:pPr algn="ctr"/>
            <a:r>
              <a:rPr lang="en-US" altLang="zh-CN" dirty="0"/>
              <a:t>Resource Leveling Techniques</a:t>
            </a:r>
            <a:endParaRPr lang="zh-CN" altLang="en-US" dirty="0"/>
          </a:p>
        </p:txBody>
      </p:sp>
      <p:sp>
        <p:nvSpPr>
          <p:cNvPr id="3" name="文本框 2">
            <a:extLst>
              <a:ext uri="{FF2B5EF4-FFF2-40B4-BE49-F238E27FC236}">
                <a16:creationId xmlns:a16="http://schemas.microsoft.com/office/drawing/2014/main" id="{44918A4B-524B-65AA-742C-2E8C7114A076}"/>
              </a:ext>
            </a:extLst>
          </p:cNvPr>
          <p:cNvSpPr txBox="1"/>
          <p:nvPr/>
        </p:nvSpPr>
        <p:spPr>
          <a:xfrm>
            <a:off x="390122" y="2874470"/>
            <a:ext cx="2021707" cy="338554"/>
          </a:xfrm>
          <a:prstGeom prst="rect">
            <a:avLst/>
          </a:prstGeom>
          <a:noFill/>
        </p:spPr>
        <p:txBody>
          <a:bodyPr wrap="none" rtlCol="0">
            <a:spAutoFit/>
          </a:bodyPr>
          <a:lstStyle/>
          <a:p>
            <a:r>
              <a:rPr lang="en-US" altLang="zh-CN" sz="1600" dirty="0"/>
              <a:t>Adjust Task Dates</a:t>
            </a:r>
          </a:p>
        </p:txBody>
      </p:sp>
      <p:sp>
        <p:nvSpPr>
          <p:cNvPr id="4" name="文本框 3">
            <a:extLst>
              <a:ext uri="{FF2B5EF4-FFF2-40B4-BE49-F238E27FC236}">
                <a16:creationId xmlns:a16="http://schemas.microsoft.com/office/drawing/2014/main" id="{6FF0BF90-7E87-F63E-20F4-0A23FB6FF21F}"/>
              </a:ext>
            </a:extLst>
          </p:cNvPr>
          <p:cNvSpPr txBox="1"/>
          <p:nvPr/>
        </p:nvSpPr>
        <p:spPr>
          <a:xfrm>
            <a:off x="2530073" y="3510899"/>
            <a:ext cx="2646878" cy="338554"/>
          </a:xfrm>
          <a:prstGeom prst="rect">
            <a:avLst/>
          </a:prstGeom>
          <a:noFill/>
        </p:spPr>
        <p:txBody>
          <a:bodyPr wrap="none" rtlCol="0">
            <a:spAutoFit/>
          </a:bodyPr>
          <a:lstStyle/>
          <a:p>
            <a:r>
              <a:rPr lang="en-US" altLang="zh-CN" sz="1600" dirty="0"/>
              <a:t>Extend Project Timeline</a:t>
            </a:r>
          </a:p>
        </p:txBody>
      </p:sp>
      <p:sp>
        <p:nvSpPr>
          <p:cNvPr id="5" name="文本框 4">
            <a:extLst>
              <a:ext uri="{FF2B5EF4-FFF2-40B4-BE49-F238E27FC236}">
                <a16:creationId xmlns:a16="http://schemas.microsoft.com/office/drawing/2014/main" id="{75BDAC53-F908-3EF8-3A33-10C6D72BDE22}"/>
              </a:ext>
            </a:extLst>
          </p:cNvPr>
          <p:cNvSpPr txBox="1"/>
          <p:nvPr/>
        </p:nvSpPr>
        <p:spPr>
          <a:xfrm>
            <a:off x="5072377" y="4116550"/>
            <a:ext cx="2375971" cy="338554"/>
          </a:xfrm>
          <a:prstGeom prst="rect">
            <a:avLst/>
          </a:prstGeom>
          <a:noFill/>
        </p:spPr>
        <p:txBody>
          <a:bodyPr wrap="none" rtlCol="0">
            <a:spAutoFit/>
          </a:bodyPr>
          <a:lstStyle/>
          <a:p>
            <a:r>
              <a:rPr lang="en-US" altLang="zh-CN" sz="1600" dirty="0"/>
              <a:t>Reallocate Resources</a:t>
            </a:r>
          </a:p>
        </p:txBody>
      </p:sp>
      <p:sp>
        <p:nvSpPr>
          <p:cNvPr id="6" name="文本框 5">
            <a:extLst>
              <a:ext uri="{FF2B5EF4-FFF2-40B4-BE49-F238E27FC236}">
                <a16:creationId xmlns:a16="http://schemas.microsoft.com/office/drawing/2014/main" id="{E3BE8288-8943-CA73-BDAF-F8ACA82B0342}"/>
              </a:ext>
            </a:extLst>
          </p:cNvPr>
          <p:cNvSpPr txBox="1"/>
          <p:nvPr/>
        </p:nvSpPr>
        <p:spPr>
          <a:xfrm>
            <a:off x="7343774" y="4722201"/>
            <a:ext cx="1717137" cy="338554"/>
          </a:xfrm>
          <a:prstGeom prst="rect">
            <a:avLst/>
          </a:prstGeom>
          <a:noFill/>
        </p:spPr>
        <p:txBody>
          <a:bodyPr wrap="none" rtlCol="0">
            <a:spAutoFit/>
          </a:bodyPr>
          <a:lstStyle/>
          <a:p>
            <a:r>
              <a:rPr lang="en-US" altLang="zh-CN" sz="1600" dirty="0"/>
              <a:t>Prioritize Tasks</a:t>
            </a:r>
          </a:p>
        </p:txBody>
      </p:sp>
      <p:sp>
        <p:nvSpPr>
          <p:cNvPr id="7" name="文本框 6">
            <a:extLst>
              <a:ext uri="{FF2B5EF4-FFF2-40B4-BE49-F238E27FC236}">
                <a16:creationId xmlns:a16="http://schemas.microsoft.com/office/drawing/2014/main" id="{C09F407C-30A9-BC2E-290C-E39A7931C38F}"/>
              </a:ext>
            </a:extLst>
          </p:cNvPr>
          <p:cNvSpPr txBox="1"/>
          <p:nvPr/>
        </p:nvSpPr>
        <p:spPr>
          <a:xfrm>
            <a:off x="8956338" y="5327853"/>
            <a:ext cx="2803973" cy="338554"/>
          </a:xfrm>
          <a:prstGeom prst="rect">
            <a:avLst/>
          </a:prstGeom>
          <a:noFill/>
        </p:spPr>
        <p:txBody>
          <a:bodyPr wrap="none" rtlCol="0">
            <a:spAutoFit/>
          </a:bodyPr>
          <a:lstStyle/>
          <a:p>
            <a:r>
              <a:rPr lang="en-US" altLang="zh-CN" sz="1600" dirty="0"/>
              <a:t>Use Additional Resources</a:t>
            </a:r>
            <a:endParaRPr lang="zh-CN" altLang="en-US" sz="1600" dirty="0"/>
          </a:p>
        </p:txBody>
      </p:sp>
      <p:pic>
        <p:nvPicPr>
          <p:cNvPr id="9" name="图形 8" descr="日历">
            <a:extLst>
              <a:ext uri="{FF2B5EF4-FFF2-40B4-BE49-F238E27FC236}">
                <a16:creationId xmlns:a16="http://schemas.microsoft.com/office/drawing/2014/main" id="{AEFD5944-88D9-CA7D-C283-329FAF12F2C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55184" y="1960070"/>
            <a:ext cx="914400" cy="914400"/>
          </a:xfrm>
          <a:prstGeom prst="rect">
            <a:avLst/>
          </a:prstGeom>
        </p:spPr>
      </p:pic>
      <p:pic>
        <p:nvPicPr>
          <p:cNvPr id="11" name="图形 10" descr="清单">
            <a:extLst>
              <a:ext uri="{FF2B5EF4-FFF2-40B4-BE49-F238E27FC236}">
                <a16:creationId xmlns:a16="http://schemas.microsoft.com/office/drawing/2014/main" id="{74A59640-90FC-DEC4-EF33-8008C48B5B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45142" y="3800108"/>
            <a:ext cx="914400" cy="914400"/>
          </a:xfrm>
          <a:prstGeom prst="rect">
            <a:avLst/>
          </a:prstGeom>
        </p:spPr>
      </p:pic>
      <p:pic>
        <p:nvPicPr>
          <p:cNvPr id="13" name="图形 12" descr="集体讨论">
            <a:extLst>
              <a:ext uri="{FF2B5EF4-FFF2-40B4-BE49-F238E27FC236}">
                <a16:creationId xmlns:a16="http://schemas.microsoft.com/office/drawing/2014/main" id="{BFBA6F55-6A8F-65BD-C06B-A6DDE2913EF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01124" y="4413454"/>
            <a:ext cx="914400" cy="914400"/>
          </a:xfrm>
          <a:prstGeom prst="rect">
            <a:avLst/>
          </a:prstGeom>
        </p:spPr>
      </p:pic>
      <p:pic>
        <p:nvPicPr>
          <p:cNvPr id="15" name="图形 14" descr="转移">
            <a:extLst>
              <a:ext uri="{FF2B5EF4-FFF2-40B4-BE49-F238E27FC236}">
                <a16:creationId xmlns:a16="http://schemas.microsoft.com/office/drawing/2014/main" id="{FA3546C7-0BA7-4110-A6B0-879ACE6300E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03162" y="3331670"/>
            <a:ext cx="914400" cy="914400"/>
          </a:xfrm>
          <a:prstGeom prst="rect">
            <a:avLst/>
          </a:prstGeom>
        </p:spPr>
      </p:pic>
      <p:pic>
        <p:nvPicPr>
          <p:cNvPr id="17" name="图形 16" descr="以太网">
            <a:extLst>
              <a:ext uri="{FF2B5EF4-FFF2-40B4-BE49-F238E27FC236}">
                <a16:creationId xmlns:a16="http://schemas.microsoft.com/office/drawing/2014/main" id="{67008121-3DD3-A81A-72AB-361D04FBFB1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396312" y="2874470"/>
            <a:ext cx="914400" cy="914400"/>
          </a:xfrm>
          <a:prstGeom prst="rect">
            <a:avLst/>
          </a:prstGeom>
        </p:spPr>
      </p:pic>
    </p:spTree>
    <p:extLst>
      <p:ext uri="{BB962C8B-B14F-4D97-AF65-F5344CB8AC3E}">
        <p14:creationId xmlns:p14="http://schemas.microsoft.com/office/powerpoint/2010/main" val="443236200"/>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 name="表格 23">
            <a:extLst>
              <a:ext uri="{FF2B5EF4-FFF2-40B4-BE49-F238E27FC236}">
                <a16:creationId xmlns:a16="http://schemas.microsoft.com/office/drawing/2014/main" id="{6C1A3CAB-B9B9-42BD-FAA2-720A95554759}"/>
              </a:ext>
            </a:extLst>
          </p:cNvPr>
          <p:cNvGraphicFramePr>
            <a:graphicFrameLocks noGrp="1"/>
          </p:cNvGraphicFramePr>
          <p:nvPr>
            <p:extLst>
              <p:ext uri="{D42A27DB-BD31-4B8C-83A1-F6EECF244321}">
                <p14:modId xmlns:p14="http://schemas.microsoft.com/office/powerpoint/2010/main" val="1430910846"/>
              </p:ext>
            </p:extLst>
          </p:nvPr>
        </p:nvGraphicFramePr>
        <p:xfrm>
          <a:off x="1031164" y="3315970"/>
          <a:ext cx="3600000" cy="1483360"/>
        </p:xfrm>
        <a:graphic>
          <a:graphicData uri="http://schemas.openxmlformats.org/drawingml/2006/table">
            <a:tbl>
              <a:tblPr firstRow="1" bandRow="1">
                <a:tableStyleId>{5C22544A-7EE6-4342-B048-85BDC9FD1C3A}</a:tableStyleId>
              </a:tblPr>
              <a:tblGrid>
                <a:gridCol w="720000">
                  <a:extLst>
                    <a:ext uri="{9D8B030D-6E8A-4147-A177-3AD203B41FA5}">
                      <a16:colId xmlns:a16="http://schemas.microsoft.com/office/drawing/2014/main" val="1603652547"/>
                    </a:ext>
                  </a:extLst>
                </a:gridCol>
                <a:gridCol w="720000">
                  <a:extLst>
                    <a:ext uri="{9D8B030D-6E8A-4147-A177-3AD203B41FA5}">
                      <a16:colId xmlns:a16="http://schemas.microsoft.com/office/drawing/2014/main" val="3140908897"/>
                    </a:ext>
                  </a:extLst>
                </a:gridCol>
                <a:gridCol w="720000">
                  <a:extLst>
                    <a:ext uri="{9D8B030D-6E8A-4147-A177-3AD203B41FA5}">
                      <a16:colId xmlns:a16="http://schemas.microsoft.com/office/drawing/2014/main" val="10208169"/>
                    </a:ext>
                  </a:extLst>
                </a:gridCol>
                <a:gridCol w="720000">
                  <a:extLst>
                    <a:ext uri="{9D8B030D-6E8A-4147-A177-3AD203B41FA5}">
                      <a16:colId xmlns:a16="http://schemas.microsoft.com/office/drawing/2014/main" val="3642970921"/>
                    </a:ext>
                  </a:extLst>
                </a:gridCol>
                <a:gridCol w="720000">
                  <a:extLst>
                    <a:ext uri="{9D8B030D-6E8A-4147-A177-3AD203B41FA5}">
                      <a16:colId xmlns:a16="http://schemas.microsoft.com/office/drawing/2014/main" val="2716490928"/>
                    </a:ext>
                  </a:extLst>
                </a:gridCol>
              </a:tblGrid>
              <a:tr h="370840">
                <a:tc>
                  <a:txBody>
                    <a:bodyPr/>
                    <a:lstStyle/>
                    <a:p>
                      <a:pPr algn="ctr"/>
                      <a:r>
                        <a:rPr lang="en-US" altLang="zh-CN" sz="1400" b="0" dirty="0">
                          <a:solidFill>
                            <a:schemeClr val="tx1"/>
                          </a:solidFill>
                        </a:rPr>
                        <a:t>B4</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B4</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B4</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B4</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B4</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38648984"/>
                  </a:ext>
                </a:extLst>
              </a:tr>
              <a:tr h="370840">
                <a:tc>
                  <a:txBody>
                    <a:bodyPr/>
                    <a:lstStyle/>
                    <a:p>
                      <a:pPr algn="ctr"/>
                      <a:r>
                        <a:rPr lang="en-US" altLang="zh-CN" sz="1400" b="0" dirty="0">
                          <a:solidFill>
                            <a:schemeClr val="tx1"/>
                          </a:solidFill>
                        </a:rPr>
                        <a:t>B3</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B3</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B3</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B3</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B3</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56002401"/>
                  </a:ext>
                </a:extLst>
              </a:tr>
              <a:tr h="370840">
                <a:tc>
                  <a:txBody>
                    <a:bodyPr/>
                    <a:lstStyle/>
                    <a:p>
                      <a:pPr algn="ctr"/>
                      <a:r>
                        <a:rPr lang="en-US" altLang="zh-CN" sz="1400" b="0" dirty="0">
                          <a:solidFill>
                            <a:schemeClr val="tx1"/>
                          </a:solidFill>
                        </a:rPr>
                        <a:t>B2</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B2</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B2</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B2</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B2</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43959285"/>
                  </a:ext>
                </a:extLst>
              </a:tr>
              <a:tr h="370840">
                <a:tc>
                  <a:txBody>
                    <a:bodyPr/>
                    <a:lstStyle/>
                    <a:p>
                      <a:pPr algn="ctr"/>
                      <a:r>
                        <a:rPr lang="en-US" altLang="zh-CN" sz="1400" b="0" dirty="0">
                          <a:solidFill>
                            <a:schemeClr val="tx1"/>
                          </a:solidFill>
                        </a:rPr>
                        <a:t>B1</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B1</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B1</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B1</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B1</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0338938"/>
                  </a:ext>
                </a:extLst>
              </a:tr>
            </a:tbl>
          </a:graphicData>
        </a:graphic>
      </p:graphicFrame>
      <p:graphicFrame>
        <p:nvGraphicFramePr>
          <p:cNvPr id="25" name="表格 24">
            <a:extLst>
              <a:ext uri="{FF2B5EF4-FFF2-40B4-BE49-F238E27FC236}">
                <a16:creationId xmlns:a16="http://schemas.microsoft.com/office/drawing/2014/main" id="{9DC1C2CF-6B18-979A-6296-59299E4BD79D}"/>
              </a:ext>
            </a:extLst>
          </p:cNvPr>
          <p:cNvGraphicFramePr>
            <a:graphicFrameLocks noGrp="1"/>
          </p:cNvGraphicFramePr>
          <p:nvPr>
            <p:extLst>
              <p:ext uri="{D42A27DB-BD31-4B8C-83A1-F6EECF244321}">
                <p14:modId xmlns:p14="http://schemas.microsoft.com/office/powerpoint/2010/main" val="1420174860"/>
              </p:ext>
            </p:extLst>
          </p:nvPr>
        </p:nvGraphicFramePr>
        <p:xfrm>
          <a:off x="1031164" y="2384054"/>
          <a:ext cx="3600000" cy="741680"/>
        </p:xfrm>
        <a:graphic>
          <a:graphicData uri="http://schemas.openxmlformats.org/drawingml/2006/table">
            <a:tbl>
              <a:tblPr firstRow="1" bandRow="1">
                <a:tableStyleId>{5C22544A-7EE6-4342-B048-85BDC9FD1C3A}</a:tableStyleId>
              </a:tblPr>
              <a:tblGrid>
                <a:gridCol w="720000">
                  <a:extLst>
                    <a:ext uri="{9D8B030D-6E8A-4147-A177-3AD203B41FA5}">
                      <a16:colId xmlns:a16="http://schemas.microsoft.com/office/drawing/2014/main" val="1603652547"/>
                    </a:ext>
                  </a:extLst>
                </a:gridCol>
                <a:gridCol w="720000">
                  <a:extLst>
                    <a:ext uri="{9D8B030D-6E8A-4147-A177-3AD203B41FA5}">
                      <a16:colId xmlns:a16="http://schemas.microsoft.com/office/drawing/2014/main" val="3140908897"/>
                    </a:ext>
                  </a:extLst>
                </a:gridCol>
                <a:gridCol w="720000">
                  <a:extLst>
                    <a:ext uri="{9D8B030D-6E8A-4147-A177-3AD203B41FA5}">
                      <a16:colId xmlns:a16="http://schemas.microsoft.com/office/drawing/2014/main" val="4181740815"/>
                    </a:ext>
                  </a:extLst>
                </a:gridCol>
                <a:gridCol w="720000">
                  <a:extLst>
                    <a:ext uri="{9D8B030D-6E8A-4147-A177-3AD203B41FA5}">
                      <a16:colId xmlns:a16="http://schemas.microsoft.com/office/drawing/2014/main" val="1370517343"/>
                    </a:ext>
                  </a:extLst>
                </a:gridCol>
                <a:gridCol w="720000">
                  <a:extLst>
                    <a:ext uri="{9D8B030D-6E8A-4147-A177-3AD203B41FA5}">
                      <a16:colId xmlns:a16="http://schemas.microsoft.com/office/drawing/2014/main" val="1569849616"/>
                    </a:ext>
                  </a:extLst>
                </a:gridCol>
              </a:tblGrid>
              <a:tr h="370840">
                <a:tc>
                  <a:txBody>
                    <a:bodyPr/>
                    <a:lstStyle/>
                    <a:p>
                      <a:pPr algn="ctr"/>
                      <a:r>
                        <a:rPr lang="en-US" altLang="zh-CN" sz="1400" b="0" dirty="0">
                          <a:solidFill>
                            <a:schemeClr val="tx1"/>
                          </a:solidFill>
                        </a:rPr>
                        <a:t>A2</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A2</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6350" cap="flat" cmpd="sng" algn="ctr">
                      <a:solidFill>
                        <a:schemeClr val="bg1"/>
                      </a:solidFill>
                      <a:prstDash val="solid"/>
                      <a:round/>
                      <a:headEnd type="none" w="med" len="med"/>
                      <a:tailEnd type="none" w="med" len="me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6350" cap="flat" cmpd="sng" algn="ctr">
                      <a:solidFill>
                        <a:schemeClr val="bg1"/>
                      </a:solidFill>
                      <a:prstDash val="solid"/>
                      <a:round/>
                      <a:headEnd type="none" w="med" len="med"/>
                      <a:tailEnd type="none" w="med" len="me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6350" cap="flat" cmpd="sng" algn="ctr">
                      <a:solidFill>
                        <a:schemeClr val="bg1"/>
                      </a:solidFill>
                      <a:prstDash val="solid"/>
                      <a:round/>
                      <a:headEnd type="none" w="med" len="med"/>
                      <a:tailEnd type="none" w="med" len="med"/>
                    </a:lnTlToBr>
                    <a:lnBlToTr w="12700" cmpd="sng">
                      <a:noFill/>
                      <a:prstDash val="solid"/>
                    </a:lnBlToTr>
                    <a:noFill/>
                  </a:tcPr>
                </a:tc>
                <a:extLst>
                  <a:ext uri="{0D108BD9-81ED-4DB2-BD59-A6C34878D82A}">
                    <a16:rowId xmlns:a16="http://schemas.microsoft.com/office/drawing/2014/main" val="2443959285"/>
                  </a:ext>
                </a:extLst>
              </a:tr>
              <a:tr h="370840">
                <a:tc>
                  <a:txBody>
                    <a:bodyPr/>
                    <a:lstStyle/>
                    <a:p>
                      <a:pPr algn="ctr"/>
                      <a:r>
                        <a:rPr lang="en-US" altLang="zh-CN" sz="1400" b="0" dirty="0">
                          <a:solidFill>
                            <a:schemeClr val="tx1"/>
                          </a:solidFill>
                        </a:rPr>
                        <a:t>A1</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A1</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6350" cap="flat" cmpd="sng" algn="ctr">
                      <a:solidFill>
                        <a:schemeClr val="bg1"/>
                      </a:solidFill>
                      <a:prstDash val="solid"/>
                      <a:round/>
                      <a:headEnd type="none" w="med" len="med"/>
                      <a:tailEnd type="none" w="med" len="me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6350" cap="flat" cmpd="sng" algn="ctr">
                      <a:solidFill>
                        <a:schemeClr val="bg1"/>
                      </a:solidFill>
                      <a:prstDash val="solid"/>
                      <a:round/>
                      <a:headEnd type="none" w="med" len="med"/>
                      <a:tailEnd type="none" w="med" len="me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6350" cap="flat" cmpd="sng" algn="ctr">
                      <a:solidFill>
                        <a:schemeClr val="bg1"/>
                      </a:solidFill>
                      <a:prstDash val="solid"/>
                      <a:round/>
                      <a:headEnd type="none" w="med" len="med"/>
                      <a:tailEnd type="none" w="med" len="med"/>
                    </a:lnTlToBr>
                    <a:lnBlToTr w="12700" cmpd="sng">
                      <a:noFill/>
                      <a:prstDash val="solid"/>
                    </a:lnBlToTr>
                    <a:noFill/>
                  </a:tcPr>
                </a:tc>
                <a:extLst>
                  <a:ext uri="{0D108BD9-81ED-4DB2-BD59-A6C34878D82A}">
                    <a16:rowId xmlns:a16="http://schemas.microsoft.com/office/drawing/2014/main" val="750338938"/>
                  </a:ext>
                </a:extLst>
              </a:tr>
            </a:tbl>
          </a:graphicData>
        </a:graphic>
      </p:graphicFrame>
      <p:graphicFrame>
        <p:nvGraphicFramePr>
          <p:cNvPr id="26" name="表格 25">
            <a:extLst>
              <a:ext uri="{FF2B5EF4-FFF2-40B4-BE49-F238E27FC236}">
                <a16:creationId xmlns:a16="http://schemas.microsoft.com/office/drawing/2014/main" id="{04307F63-2870-33FB-39EA-BA3676E36746}"/>
              </a:ext>
            </a:extLst>
          </p:cNvPr>
          <p:cNvGraphicFramePr>
            <a:graphicFrameLocks noGrp="1"/>
          </p:cNvGraphicFramePr>
          <p:nvPr>
            <p:extLst>
              <p:ext uri="{D42A27DB-BD31-4B8C-83A1-F6EECF244321}">
                <p14:modId xmlns:p14="http://schemas.microsoft.com/office/powerpoint/2010/main" val="3386750266"/>
              </p:ext>
            </p:extLst>
          </p:nvPr>
        </p:nvGraphicFramePr>
        <p:xfrm>
          <a:off x="1031164" y="4989566"/>
          <a:ext cx="3600000" cy="741680"/>
        </p:xfrm>
        <a:graphic>
          <a:graphicData uri="http://schemas.openxmlformats.org/drawingml/2006/table">
            <a:tbl>
              <a:tblPr firstRow="1" bandRow="1">
                <a:tableStyleId>{5C22544A-7EE6-4342-B048-85BDC9FD1C3A}</a:tableStyleId>
              </a:tblPr>
              <a:tblGrid>
                <a:gridCol w="720000">
                  <a:extLst>
                    <a:ext uri="{9D8B030D-6E8A-4147-A177-3AD203B41FA5}">
                      <a16:colId xmlns:a16="http://schemas.microsoft.com/office/drawing/2014/main" val="1603652547"/>
                    </a:ext>
                  </a:extLst>
                </a:gridCol>
                <a:gridCol w="720000">
                  <a:extLst>
                    <a:ext uri="{9D8B030D-6E8A-4147-A177-3AD203B41FA5}">
                      <a16:colId xmlns:a16="http://schemas.microsoft.com/office/drawing/2014/main" val="3140908897"/>
                    </a:ext>
                  </a:extLst>
                </a:gridCol>
                <a:gridCol w="720000">
                  <a:extLst>
                    <a:ext uri="{9D8B030D-6E8A-4147-A177-3AD203B41FA5}">
                      <a16:colId xmlns:a16="http://schemas.microsoft.com/office/drawing/2014/main" val="11197822"/>
                    </a:ext>
                  </a:extLst>
                </a:gridCol>
                <a:gridCol w="720000">
                  <a:extLst>
                    <a:ext uri="{9D8B030D-6E8A-4147-A177-3AD203B41FA5}">
                      <a16:colId xmlns:a16="http://schemas.microsoft.com/office/drawing/2014/main" val="3320047472"/>
                    </a:ext>
                  </a:extLst>
                </a:gridCol>
                <a:gridCol w="720000">
                  <a:extLst>
                    <a:ext uri="{9D8B030D-6E8A-4147-A177-3AD203B41FA5}">
                      <a16:colId xmlns:a16="http://schemas.microsoft.com/office/drawing/2014/main" val="1075855050"/>
                    </a:ext>
                  </a:extLst>
                </a:gridCol>
              </a:tblGrid>
              <a:tr h="370840">
                <a:tc>
                  <a:txBody>
                    <a:bodyPr/>
                    <a:lstStyle/>
                    <a:p>
                      <a:pPr algn="ctr"/>
                      <a:r>
                        <a:rPr lang="en-US" altLang="zh-CN" sz="1400" b="0" dirty="0">
                          <a:solidFill>
                            <a:schemeClr val="tx1"/>
                          </a:solidFill>
                        </a:rPr>
                        <a:t>C2</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C2</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C2</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6350" cap="flat" cmpd="sng" algn="ctr">
                      <a:solidFill>
                        <a:schemeClr val="bg1"/>
                      </a:solidFill>
                      <a:prstDash val="solid"/>
                      <a:round/>
                      <a:headEnd type="none" w="med" len="med"/>
                      <a:tailEnd type="none" w="med" len="me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6350" cap="flat" cmpd="sng" algn="ctr">
                      <a:solidFill>
                        <a:schemeClr val="bg1"/>
                      </a:solidFill>
                      <a:prstDash val="solid"/>
                      <a:round/>
                      <a:headEnd type="none" w="med" len="med"/>
                      <a:tailEnd type="none" w="med" len="med"/>
                    </a:lnTlToBr>
                    <a:lnBlToTr w="12700" cmpd="sng">
                      <a:noFill/>
                      <a:prstDash val="solid"/>
                    </a:lnBlToTr>
                    <a:noFill/>
                  </a:tcPr>
                </a:tc>
                <a:extLst>
                  <a:ext uri="{0D108BD9-81ED-4DB2-BD59-A6C34878D82A}">
                    <a16:rowId xmlns:a16="http://schemas.microsoft.com/office/drawing/2014/main" val="2443959285"/>
                  </a:ext>
                </a:extLst>
              </a:tr>
              <a:tr h="370840">
                <a:tc>
                  <a:txBody>
                    <a:bodyPr/>
                    <a:lstStyle/>
                    <a:p>
                      <a:pPr algn="ctr"/>
                      <a:r>
                        <a:rPr lang="en-US" altLang="zh-CN" sz="1400" b="0" dirty="0">
                          <a:solidFill>
                            <a:schemeClr val="tx1"/>
                          </a:solidFill>
                        </a:rPr>
                        <a:t>C1</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C1</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C1</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6350" cap="flat" cmpd="sng" algn="ctr">
                      <a:solidFill>
                        <a:schemeClr val="bg1"/>
                      </a:solidFill>
                      <a:prstDash val="solid"/>
                      <a:round/>
                      <a:headEnd type="none" w="med" len="med"/>
                      <a:tailEnd type="none" w="med" len="me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6350" cap="flat" cmpd="sng" algn="ctr">
                      <a:solidFill>
                        <a:schemeClr val="bg1"/>
                      </a:solidFill>
                      <a:prstDash val="solid"/>
                      <a:round/>
                      <a:headEnd type="none" w="med" len="med"/>
                      <a:tailEnd type="none" w="med" len="med"/>
                    </a:lnTlToBr>
                    <a:lnBlToTr w="12700" cmpd="sng">
                      <a:noFill/>
                      <a:prstDash val="solid"/>
                    </a:lnBlToTr>
                    <a:noFill/>
                  </a:tcPr>
                </a:tc>
                <a:extLst>
                  <a:ext uri="{0D108BD9-81ED-4DB2-BD59-A6C34878D82A}">
                    <a16:rowId xmlns:a16="http://schemas.microsoft.com/office/drawing/2014/main" val="750338938"/>
                  </a:ext>
                </a:extLst>
              </a:tr>
            </a:tbl>
          </a:graphicData>
        </a:graphic>
      </p:graphicFrame>
      <p:cxnSp>
        <p:nvCxnSpPr>
          <p:cNvPr id="28" name="直接箭头连接符 27">
            <a:extLst>
              <a:ext uri="{FF2B5EF4-FFF2-40B4-BE49-F238E27FC236}">
                <a16:creationId xmlns:a16="http://schemas.microsoft.com/office/drawing/2014/main" id="{0BE1BFAB-D7A3-BCAC-ADE9-5491A419A0E2}"/>
              </a:ext>
            </a:extLst>
          </p:cNvPr>
          <p:cNvCxnSpPr>
            <a:cxnSpLocks/>
          </p:cNvCxnSpPr>
          <p:nvPr/>
        </p:nvCxnSpPr>
        <p:spPr>
          <a:xfrm>
            <a:off x="1031164" y="5981700"/>
            <a:ext cx="432000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4721970E-CB58-FBC8-1DC8-0F6CD6017A1B}"/>
              </a:ext>
            </a:extLst>
          </p:cNvPr>
          <p:cNvSpPr txBox="1"/>
          <p:nvPr/>
        </p:nvSpPr>
        <p:spPr>
          <a:xfrm>
            <a:off x="1039981" y="5981700"/>
            <a:ext cx="303288" cy="307777"/>
          </a:xfrm>
          <a:prstGeom prst="rect">
            <a:avLst/>
          </a:prstGeom>
          <a:noFill/>
        </p:spPr>
        <p:txBody>
          <a:bodyPr wrap="none" rtlCol="0">
            <a:spAutoFit/>
          </a:bodyPr>
          <a:lstStyle/>
          <a:p>
            <a:pPr algn="ctr"/>
            <a:r>
              <a:rPr lang="en-US" altLang="zh-CN" sz="1400" dirty="0"/>
              <a:t>0</a:t>
            </a:r>
            <a:endParaRPr lang="zh-CN" altLang="en-US" sz="1400" dirty="0"/>
          </a:p>
        </p:txBody>
      </p:sp>
      <p:sp>
        <p:nvSpPr>
          <p:cNvPr id="30" name="文本框 29">
            <a:extLst>
              <a:ext uri="{FF2B5EF4-FFF2-40B4-BE49-F238E27FC236}">
                <a16:creationId xmlns:a16="http://schemas.microsoft.com/office/drawing/2014/main" id="{E2F66D3C-C327-6E7A-FFF7-22DD6386FA10}"/>
              </a:ext>
            </a:extLst>
          </p:cNvPr>
          <p:cNvSpPr txBox="1"/>
          <p:nvPr/>
        </p:nvSpPr>
        <p:spPr>
          <a:xfrm>
            <a:off x="1745788" y="5981700"/>
            <a:ext cx="248786" cy="307777"/>
          </a:xfrm>
          <a:prstGeom prst="rect">
            <a:avLst/>
          </a:prstGeom>
          <a:noFill/>
        </p:spPr>
        <p:txBody>
          <a:bodyPr wrap="none" rtlCol="0">
            <a:spAutoFit/>
          </a:bodyPr>
          <a:lstStyle/>
          <a:p>
            <a:pPr algn="ctr"/>
            <a:r>
              <a:rPr lang="en-US" altLang="zh-CN" sz="1400" dirty="0"/>
              <a:t>1</a:t>
            </a:r>
            <a:endParaRPr lang="zh-CN" altLang="en-US" sz="1400" dirty="0"/>
          </a:p>
        </p:txBody>
      </p:sp>
      <p:sp>
        <p:nvSpPr>
          <p:cNvPr id="31" name="文本框 30">
            <a:extLst>
              <a:ext uri="{FF2B5EF4-FFF2-40B4-BE49-F238E27FC236}">
                <a16:creationId xmlns:a16="http://schemas.microsoft.com/office/drawing/2014/main" id="{64596258-9624-FFA3-3533-C628E132D995}"/>
              </a:ext>
            </a:extLst>
          </p:cNvPr>
          <p:cNvSpPr txBox="1"/>
          <p:nvPr/>
        </p:nvSpPr>
        <p:spPr>
          <a:xfrm>
            <a:off x="2395489" y="5981700"/>
            <a:ext cx="287258" cy="307777"/>
          </a:xfrm>
          <a:prstGeom prst="rect">
            <a:avLst/>
          </a:prstGeom>
          <a:noFill/>
        </p:spPr>
        <p:txBody>
          <a:bodyPr wrap="none" rtlCol="0">
            <a:spAutoFit/>
          </a:bodyPr>
          <a:lstStyle/>
          <a:p>
            <a:pPr algn="ctr"/>
            <a:r>
              <a:rPr lang="en-US" altLang="zh-CN" sz="1400" dirty="0"/>
              <a:t>2</a:t>
            </a:r>
            <a:endParaRPr lang="zh-CN" altLang="en-US" sz="1400" dirty="0"/>
          </a:p>
        </p:txBody>
      </p:sp>
      <p:sp>
        <p:nvSpPr>
          <p:cNvPr id="32" name="文本框 31">
            <a:extLst>
              <a:ext uri="{FF2B5EF4-FFF2-40B4-BE49-F238E27FC236}">
                <a16:creationId xmlns:a16="http://schemas.microsoft.com/office/drawing/2014/main" id="{FD15AB36-7E1A-E585-8424-94A5E19CB347}"/>
              </a:ext>
            </a:extLst>
          </p:cNvPr>
          <p:cNvSpPr txBox="1"/>
          <p:nvPr/>
        </p:nvSpPr>
        <p:spPr>
          <a:xfrm>
            <a:off x="3086069" y="5981700"/>
            <a:ext cx="285655" cy="307777"/>
          </a:xfrm>
          <a:prstGeom prst="rect">
            <a:avLst/>
          </a:prstGeom>
          <a:noFill/>
        </p:spPr>
        <p:txBody>
          <a:bodyPr wrap="none" rtlCol="0">
            <a:spAutoFit/>
          </a:bodyPr>
          <a:lstStyle/>
          <a:p>
            <a:pPr algn="ctr"/>
            <a:r>
              <a:rPr lang="en-US" altLang="zh-CN" sz="1400" dirty="0"/>
              <a:t>3</a:t>
            </a:r>
            <a:endParaRPr lang="zh-CN" altLang="en-US" sz="1400" dirty="0"/>
          </a:p>
        </p:txBody>
      </p:sp>
      <p:sp>
        <p:nvSpPr>
          <p:cNvPr id="33" name="文本框 32">
            <a:extLst>
              <a:ext uri="{FF2B5EF4-FFF2-40B4-BE49-F238E27FC236}">
                <a16:creationId xmlns:a16="http://schemas.microsoft.com/office/drawing/2014/main" id="{398CB6B8-9D83-BF96-4E4A-19AD92B7E3E8}"/>
              </a:ext>
            </a:extLst>
          </p:cNvPr>
          <p:cNvSpPr txBox="1"/>
          <p:nvPr/>
        </p:nvSpPr>
        <p:spPr>
          <a:xfrm>
            <a:off x="3776648" y="5981700"/>
            <a:ext cx="303288" cy="307777"/>
          </a:xfrm>
          <a:prstGeom prst="rect">
            <a:avLst/>
          </a:prstGeom>
          <a:noFill/>
        </p:spPr>
        <p:txBody>
          <a:bodyPr wrap="none" rtlCol="0">
            <a:spAutoFit/>
          </a:bodyPr>
          <a:lstStyle/>
          <a:p>
            <a:pPr algn="ctr"/>
            <a:r>
              <a:rPr lang="en-US" altLang="zh-CN" sz="1400" dirty="0"/>
              <a:t>4</a:t>
            </a:r>
            <a:endParaRPr lang="zh-CN" altLang="en-US" sz="1400" dirty="0"/>
          </a:p>
        </p:txBody>
      </p:sp>
      <p:sp>
        <p:nvSpPr>
          <p:cNvPr id="34" name="文本框 33">
            <a:extLst>
              <a:ext uri="{FF2B5EF4-FFF2-40B4-BE49-F238E27FC236}">
                <a16:creationId xmlns:a16="http://schemas.microsoft.com/office/drawing/2014/main" id="{BA0D5CC7-0766-FE56-F59A-6556D80E8DAB}"/>
              </a:ext>
            </a:extLst>
          </p:cNvPr>
          <p:cNvSpPr txBox="1"/>
          <p:nvPr/>
        </p:nvSpPr>
        <p:spPr>
          <a:xfrm>
            <a:off x="4484859" y="5981700"/>
            <a:ext cx="285655" cy="307777"/>
          </a:xfrm>
          <a:prstGeom prst="rect">
            <a:avLst/>
          </a:prstGeom>
          <a:noFill/>
        </p:spPr>
        <p:txBody>
          <a:bodyPr wrap="none" rtlCol="0">
            <a:spAutoFit/>
          </a:bodyPr>
          <a:lstStyle/>
          <a:p>
            <a:pPr algn="ctr"/>
            <a:r>
              <a:rPr lang="en-US" altLang="zh-CN" sz="1400" dirty="0"/>
              <a:t>5</a:t>
            </a:r>
            <a:endParaRPr lang="zh-CN" altLang="en-US" sz="1400" dirty="0"/>
          </a:p>
        </p:txBody>
      </p:sp>
      <p:graphicFrame>
        <p:nvGraphicFramePr>
          <p:cNvPr id="37" name="表格 36">
            <a:extLst>
              <a:ext uri="{FF2B5EF4-FFF2-40B4-BE49-F238E27FC236}">
                <a16:creationId xmlns:a16="http://schemas.microsoft.com/office/drawing/2014/main" id="{ADCF80CE-48E2-2093-1414-4F2CA27C1FDE}"/>
              </a:ext>
            </a:extLst>
          </p:cNvPr>
          <p:cNvGraphicFramePr>
            <a:graphicFrameLocks noGrp="1"/>
          </p:cNvGraphicFramePr>
          <p:nvPr>
            <p:extLst>
              <p:ext uri="{D42A27DB-BD31-4B8C-83A1-F6EECF244321}">
                <p14:modId xmlns:p14="http://schemas.microsoft.com/office/powerpoint/2010/main" val="140470018"/>
              </p:ext>
            </p:extLst>
          </p:nvPr>
        </p:nvGraphicFramePr>
        <p:xfrm>
          <a:off x="1031164" y="1795046"/>
          <a:ext cx="3600000" cy="370840"/>
        </p:xfrm>
        <a:graphic>
          <a:graphicData uri="http://schemas.openxmlformats.org/drawingml/2006/table">
            <a:tbl>
              <a:tblPr firstRow="1" bandRow="1">
                <a:tableStyleId>{5C22544A-7EE6-4342-B048-85BDC9FD1C3A}</a:tableStyleId>
              </a:tblPr>
              <a:tblGrid>
                <a:gridCol w="720000">
                  <a:extLst>
                    <a:ext uri="{9D8B030D-6E8A-4147-A177-3AD203B41FA5}">
                      <a16:colId xmlns:a16="http://schemas.microsoft.com/office/drawing/2014/main" val="1603652547"/>
                    </a:ext>
                  </a:extLst>
                </a:gridCol>
                <a:gridCol w="720000">
                  <a:extLst>
                    <a:ext uri="{9D8B030D-6E8A-4147-A177-3AD203B41FA5}">
                      <a16:colId xmlns:a16="http://schemas.microsoft.com/office/drawing/2014/main" val="3140908897"/>
                    </a:ext>
                  </a:extLst>
                </a:gridCol>
                <a:gridCol w="720000">
                  <a:extLst>
                    <a:ext uri="{9D8B030D-6E8A-4147-A177-3AD203B41FA5}">
                      <a16:colId xmlns:a16="http://schemas.microsoft.com/office/drawing/2014/main" val="4181740815"/>
                    </a:ext>
                  </a:extLst>
                </a:gridCol>
                <a:gridCol w="720000">
                  <a:extLst>
                    <a:ext uri="{9D8B030D-6E8A-4147-A177-3AD203B41FA5}">
                      <a16:colId xmlns:a16="http://schemas.microsoft.com/office/drawing/2014/main" val="1370517343"/>
                    </a:ext>
                  </a:extLst>
                </a:gridCol>
                <a:gridCol w="720000">
                  <a:extLst>
                    <a:ext uri="{9D8B030D-6E8A-4147-A177-3AD203B41FA5}">
                      <a16:colId xmlns:a16="http://schemas.microsoft.com/office/drawing/2014/main" val="1569849616"/>
                    </a:ext>
                  </a:extLst>
                </a:gridCol>
              </a:tblGrid>
              <a:tr h="370840">
                <a:tc>
                  <a:txBody>
                    <a:bodyPr/>
                    <a:lstStyle/>
                    <a:p>
                      <a:pPr algn="ctr"/>
                      <a:r>
                        <a:rPr lang="en-US" altLang="zh-CN" sz="1400" b="0" dirty="0">
                          <a:solidFill>
                            <a:schemeClr val="tx1"/>
                          </a:solidFill>
                        </a:rPr>
                        <a:t>8p</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8p</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rPr>
                        <a:t>6p</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rPr>
                        <a:t>4p</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rPr>
                        <a:t>4p</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0338938"/>
                  </a:ext>
                </a:extLst>
              </a:tr>
            </a:tbl>
          </a:graphicData>
        </a:graphic>
      </p:graphicFrame>
      <p:sp>
        <p:nvSpPr>
          <p:cNvPr id="38" name="文本框 37">
            <a:extLst>
              <a:ext uri="{FF2B5EF4-FFF2-40B4-BE49-F238E27FC236}">
                <a16:creationId xmlns:a16="http://schemas.microsoft.com/office/drawing/2014/main" id="{4E1BED20-71F5-EB27-C732-00D81CEFBEEB}"/>
              </a:ext>
            </a:extLst>
          </p:cNvPr>
          <p:cNvSpPr txBox="1"/>
          <p:nvPr/>
        </p:nvSpPr>
        <p:spPr>
          <a:xfrm>
            <a:off x="4958092" y="5981700"/>
            <a:ext cx="510076" cy="307777"/>
          </a:xfrm>
          <a:prstGeom prst="rect">
            <a:avLst/>
          </a:prstGeom>
          <a:noFill/>
        </p:spPr>
        <p:txBody>
          <a:bodyPr wrap="none" rtlCol="0">
            <a:spAutoFit/>
          </a:bodyPr>
          <a:lstStyle/>
          <a:p>
            <a:pPr algn="ctr"/>
            <a:r>
              <a:rPr lang="en-US" altLang="zh-CN" sz="1400" dirty="0"/>
              <a:t>day</a:t>
            </a:r>
            <a:endParaRPr lang="zh-CN" altLang="en-US" sz="1400" dirty="0"/>
          </a:p>
        </p:txBody>
      </p:sp>
      <p:sp>
        <p:nvSpPr>
          <p:cNvPr id="39" name="箭头: 右 38">
            <a:extLst>
              <a:ext uri="{FF2B5EF4-FFF2-40B4-BE49-F238E27FC236}">
                <a16:creationId xmlns:a16="http://schemas.microsoft.com/office/drawing/2014/main" id="{9AB204DD-DF45-C81D-5622-6674894E8B28}"/>
              </a:ext>
            </a:extLst>
          </p:cNvPr>
          <p:cNvSpPr/>
          <p:nvPr/>
        </p:nvSpPr>
        <p:spPr>
          <a:xfrm>
            <a:off x="5024687" y="3862388"/>
            <a:ext cx="2203995" cy="390525"/>
          </a:xfrm>
          <a:prstGeom prst="rightArrow">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graphicFrame>
        <p:nvGraphicFramePr>
          <p:cNvPr id="40" name="表格 39">
            <a:extLst>
              <a:ext uri="{FF2B5EF4-FFF2-40B4-BE49-F238E27FC236}">
                <a16:creationId xmlns:a16="http://schemas.microsoft.com/office/drawing/2014/main" id="{4C622D5B-CE47-8F6C-56C4-176C3567BAA1}"/>
              </a:ext>
            </a:extLst>
          </p:cNvPr>
          <p:cNvGraphicFramePr>
            <a:graphicFrameLocks noGrp="1"/>
          </p:cNvGraphicFramePr>
          <p:nvPr>
            <p:extLst>
              <p:ext uri="{D42A27DB-BD31-4B8C-83A1-F6EECF244321}">
                <p14:modId xmlns:p14="http://schemas.microsoft.com/office/powerpoint/2010/main" val="960325707"/>
              </p:ext>
            </p:extLst>
          </p:nvPr>
        </p:nvGraphicFramePr>
        <p:xfrm>
          <a:off x="7503399" y="3315970"/>
          <a:ext cx="3600000" cy="1483360"/>
        </p:xfrm>
        <a:graphic>
          <a:graphicData uri="http://schemas.openxmlformats.org/drawingml/2006/table">
            <a:tbl>
              <a:tblPr firstRow="1" bandRow="1">
                <a:tableStyleId>{5C22544A-7EE6-4342-B048-85BDC9FD1C3A}</a:tableStyleId>
              </a:tblPr>
              <a:tblGrid>
                <a:gridCol w="720000">
                  <a:extLst>
                    <a:ext uri="{9D8B030D-6E8A-4147-A177-3AD203B41FA5}">
                      <a16:colId xmlns:a16="http://schemas.microsoft.com/office/drawing/2014/main" val="1603652547"/>
                    </a:ext>
                  </a:extLst>
                </a:gridCol>
                <a:gridCol w="720000">
                  <a:extLst>
                    <a:ext uri="{9D8B030D-6E8A-4147-A177-3AD203B41FA5}">
                      <a16:colId xmlns:a16="http://schemas.microsoft.com/office/drawing/2014/main" val="3140908897"/>
                    </a:ext>
                  </a:extLst>
                </a:gridCol>
                <a:gridCol w="720000">
                  <a:extLst>
                    <a:ext uri="{9D8B030D-6E8A-4147-A177-3AD203B41FA5}">
                      <a16:colId xmlns:a16="http://schemas.microsoft.com/office/drawing/2014/main" val="10208169"/>
                    </a:ext>
                  </a:extLst>
                </a:gridCol>
                <a:gridCol w="720000">
                  <a:extLst>
                    <a:ext uri="{9D8B030D-6E8A-4147-A177-3AD203B41FA5}">
                      <a16:colId xmlns:a16="http://schemas.microsoft.com/office/drawing/2014/main" val="3642970921"/>
                    </a:ext>
                  </a:extLst>
                </a:gridCol>
                <a:gridCol w="720000">
                  <a:extLst>
                    <a:ext uri="{9D8B030D-6E8A-4147-A177-3AD203B41FA5}">
                      <a16:colId xmlns:a16="http://schemas.microsoft.com/office/drawing/2014/main" val="2716490928"/>
                    </a:ext>
                  </a:extLst>
                </a:gridCol>
              </a:tblGrid>
              <a:tr h="370840">
                <a:tc>
                  <a:txBody>
                    <a:bodyPr/>
                    <a:lstStyle/>
                    <a:p>
                      <a:pPr algn="ctr"/>
                      <a:r>
                        <a:rPr lang="en-US" altLang="zh-CN" sz="1400" b="0" dirty="0">
                          <a:solidFill>
                            <a:schemeClr val="tx1"/>
                          </a:solidFill>
                        </a:rPr>
                        <a:t>B4</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B4</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B4</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B4</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B4</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38648984"/>
                  </a:ext>
                </a:extLst>
              </a:tr>
              <a:tr h="370840">
                <a:tc>
                  <a:txBody>
                    <a:bodyPr/>
                    <a:lstStyle/>
                    <a:p>
                      <a:pPr algn="ctr"/>
                      <a:r>
                        <a:rPr lang="en-US" altLang="zh-CN" sz="1400" b="0" dirty="0">
                          <a:solidFill>
                            <a:schemeClr val="tx1"/>
                          </a:solidFill>
                        </a:rPr>
                        <a:t>B3</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B3</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B3</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B3</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B3</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56002401"/>
                  </a:ext>
                </a:extLst>
              </a:tr>
              <a:tr h="370840">
                <a:tc>
                  <a:txBody>
                    <a:bodyPr/>
                    <a:lstStyle/>
                    <a:p>
                      <a:pPr algn="ctr"/>
                      <a:r>
                        <a:rPr lang="en-US" altLang="zh-CN" sz="1400" b="0" dirty="0">
                          <a:solidFill>
                            <a:schemeClr val="tx1"/>
                          </a:solidFill>
                        </a:rPr>
                        <a:t>B2</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B2</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B2</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B2</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B2</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43959285"/>
                  </a:ext>
                </a:extLst>
              </a:tr>
              <a:tr h="370840">
                <a:tc>
                  <a:txBody>
                    <a:bodyPr/>
                    <a:lstStyle/>
                    <a:p>
                      <a:pPr algn="ctr"/>
                      <a:r>
                        <a:rPr lang="en-US" altLang="zh-CN" sz="1400" b="0" dirty="0">
                          <a:solidFill>
                            <a:schemeClr val="tx1"/>
                          </a:solidFill>
                        </a:rPr>
                        <a:t>B1</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B1</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B1</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B1</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B1</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0338938"/>
                  </a:ext>
                </a:extLst>
              </a:tr>
            </a:tbl>
          </a:graphicData>
        </a:graphic>
      </p:graphicFrame>
      <p:graphicFrame>
        <p:nvGraphicFramePr>
          <p:cNvPr id="41" name="表格 40">
            <a:extLst>
              <a:ext uri="{FF2B5EF4-FFF2-40B4-BE49-F238E27FC236}">
                <a16:creationId xmlns:a16="http://schemas.microsoft.com/office/drawing/2014/main" id="{09E2F432-6759-83D7-E291-3FCBA238463E}"/>
              </a:ext>
            </a:extLst>
          </p:cNvPr>
          <p:cNvGraphicFramePr>
            <a:graphicFrameLocks noGrp="1"/>
          </p:cNvGraphicFramePr>
          <p:nvPr>
            <p:extLst>
              <p:ext uri="{D42A27DB-BD31-4B8C-83A1-F6EECF244321}">
                <p14:modId xmlns:p14="http://schemas.microsoft.com/office/powerpoint/2010/main" val="3440381590"/>
              </p:ext>
            </p:extLst>
          </p:nvPr>
        </p:nvGraphicFramePr>
        <p:xfrm>
          <a:off x="7503399" y="2384054"/>
          <a:ext cx="3600000" cy="741680"/>
        </p:xfrm>
        <a:graphic>
          <a:graphicData uri="http://schemas.openxmlformats.org/drawingml/2006/table">
            <a:tbl>
              <a:tblPr firstRow="1" bandRow="1">
                <a:tableStyleId>{5C22544A-7EE6-4342-B048-85BDC9FD1C3A}</a:tableStyleId>
              </a:tblPr>
              <a:tblGrid>
                <a:gridCol w="720000">
                  <a:extLst>
                    <a:ext uri="{9D8B030D-6E8A-4147-A177-3AD203B41FA5}">
                      <a16:colId xmlns:a16="http://schemas.microsoft.com/office/drawing/2014/main" val="1603652547"/>
                    </a:ext>
                  </a:extLst>
                </a:gridCol>
                <a:gridCol w="720000">
                  <a:extLst>
                    <a:ext uri="{9D8B030D-6E8A-4147-A177-3AD203B41FA5}">
                      <a16:colId xmlns:a16="http://schemas.microsoft.com/office/drawing/2014/main" val="3140908897"/>
                    </a:ext>
                  </a:extLst>
                </a:gridCol>
                <a:gridCol w="720000">
                  <a:extLst>
                    <a:ext uri="{9D8B030D-6E8A-4147-A177-3AD203B41FA5}">
                      <a16:colId xmlns:a16="http://schemas.microsoft.com/office/drawing/2014/main" val="4181740815"/>
                    </a:ext>
                  </a:extLst>
                </a:gridCol>
                <a:gridCol w="720000">
                  <a:extLst>
                    <a:ext uri="{9D8B030D-6E8A-4147-A177-3AD203B41FA5}">
                      <a16:colId xmlns:a16="http://schemas.microsoft.com/office/drawing/2014/main" val="1370517343"/>
                    </a:ext>
                  </a:extLst>
                </a:gridCol>
                <a:gridCol w="720000">
                  <a:extLst>
                    <a:ext uri="{9D8B030D-6E8A-4147-A177-3AD203B41FA5}">
                      <a16:colId xmlns:a16="http://schemas.microsoft.com/office/drawing/2014/main" val="1569849616"/>
                    </a:ext>
                  </a:extLst>
                </a:gridCol>
              </a:tblGrid>
              <a:tr h="370840">
                <a:tc>
                  <a:txBody>
                    <a:bodyPr/>
                    <a:lstStyle/>
                    <a:p>
                      <a:pPr algn="ctr"/>
                      <a:r>
                        <a:rPr lang="en-US" altLang="zh-CN" sz="1400" b="0" dirty="0">
                          <a:solidFill>
                            <a:schemeClr val="tx1"/>
                          </a:solidFill>
                        </a:rPr>
                        <a:t>A2</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A2</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C2</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C2</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C2</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43959285"/>
                  </a:ext>
                </a:extLst>
              </a:tr>
              <a:tr h="370840">
                <a:tc>
                  <a:txBody>
                    <a:bodyPr/>
                    <a:lstStyle/>
                    <a:p>
                      <a:pPr algn="ctr"/>
                      <a:r>
                        <a:rPr lang="en-US" altLang="zh-CN" sz="1400" b="0" dirty="0">
                          <a:solidFill>
                            <a:schemeClr val="tx1"/>
                          </a:solidFill>
                        </a:rPr>
                        <a:t>A1</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A1</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C1</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C1</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C1</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0338938"/>
                  </a:ext>
                </a:extLst>
              </a:tr>
            </a:tbl>
          </a:graphicData>
        </a:graphic>
      </p:graphicFrame>
      <p:graphicFrame>
        <p:nvGraphicFramePr>
          <p:cNvPr id="42" name="表格 41">
            <a:extLst>
              <a:ext uri="{FF2B5EF4-FFF2-40B4-BE49-F238E27FC236}">
                <a16:creationId xmlns:a16="http://schemas.microsoft.com/office/drawing/2014/main" id="{F0EEC220-48B9-D986-50F1-F98034E1CA81}"/>
              </a:ext>
            </a:extLst>
          </p:cNvPr>
          <p:cNvGraphicFramePr>
            <a:graphicFrameLocks noGrp="1"/>
          </p:cNvGraphicFramePr>
          <p:nvPr>
            <p:extLst>
              <p:ext uri="{D42A27DB-BD31-4B8C-83A1-F6EECF244321}">
                <p14:modId xmlns:p14="http://schemas.microsoft.com/office/powerpoint/2010/main" val="1884273032"/>
              </p:ext>
            </p:extLst>
          </p:nvPr>
        </p:nvGraphicFramePr>
        <p:xfrm>
          <a:off x="7503399" y="4989566"/>
          <a:ext cx="3600000" cy="741680"/>
        </p:xfrm>
        <a:graphic>
          <a:graphicData uri="http://schemas.openxmlformats.org/drawingml/2006/table">
            <a:tbl>
              <a:tblPr firstRow="1" bandRow="1">
                <a:tableStyleId>{5C22544A-7EE6-4342-B048-85BDC9FD1C3A}</a:tableStyleId>
              </a:tblPr>
              <a:tblGrid>
                <a:gridCol w="720000">
                  <a:extLst>
                    <a:ext uri="{9D8B030D-6E8A-4147-A177-3AD203B41FA5}">
                      <a16:colId xmlns:a16="http://schemas.microsoft.com/office/drawing/2014/main" val="1603652547"/>
                    </a:ext>
                  </a:extLst>
                </a:gridCol>
                <a:gridCol w="720000">
                  <a:extLst>
                    <a:ext uri="{9D8B030D-6E8A-4147-A177-3AD203B41FA5}">
                      <a16:colId xmlns:a16="http://schemas.microsoft.com/office/drawing/2014/main" val="3140908897"/>
                    </a:ext>
                  </a:extLst>
                </a:gridCol>
                <a:gridCol w="720000">
                  <a:extLst>
                    <a:ext uri="{9D8B030D-6E8A-4147-A177-3AD203B41FA5}">
                      <a16:colId xmlns:a16="http://schemas.microsoft.com/office/drawing/2014/main" val="11197822"/>
                    </a:ext>
                  </a:extLst>
                </a:gridCol>
                <a:gridCol w="720000">
                  <a:extLst>
                    <a:ext uri="{9D8B030D-6E8A-4147-A177-3AD203B41FA5}">
                      <a16:colId xmlns:a16="http://schemas.microsoft.com/office/drawing/2014/main" val="3320047472"/>
                    </a:ext>
                  </a:extLst>
                </a:gridCol>
                <a:gridCol w="720000">
                  <a:extLst>
                    <a:ext uri="{9D8B030D-6E8A-4147-A177-3AD203B41FA5}">
                      <a16:colId xmlns:a16="http://schemas.microsoft.com/office/drawing/2014/main" val="1075855050"/>
                    </a:ext>
                  </a:extLst>
                </a:gridCol>
              </a:tblGrid>
              <a:tr h="370840">
                <a:tc>
                  <a:txBody>
                    <a:bodyPr/>
                    <a:lstStyle/>
                    <a:p>
                      <a:pPr algn="ctr"/>
                      <a:r>
                        <a:rPr lang="en-US" altLang="zh-CN" sz="1400" b="0" strike="noStrike" baseline="0" dirty="0">
                          <a:solidFill>
                            <a:schemeClr val="tx1"/>
                          </a:solidFill>
                        </a:rPr>
                        <a:t>C2</a:t>
                      </a:r>
                      <a:endParaRPr lang="zh-CN" altLang="en-US" sz="1400" b="0" strike="noStrike" baseline="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6350" cap="flat" cmpd="sng" algn="ctr">
                      <a:solidFill>
                        <a:schemeClr val="bg1"/>
                      </a:solidFill>
                      <a:prstDash val="solid"/>
                      <a:round/>
                      <a:headEnd type="none" w="med" len="med"/>
                      <a:tailEnd type="none" w="med" len="med"/>
                    </a:lnTlToBr>
                    <a:lnBlToTr w="12700" cmpd="sng">
                      <a:noFill/>
                      <a:prstDash val="solid"/>
                    </a:lnBlToTr>
                    <a:noFill/>
                  </a:tcPr>
                </a:tc>
                <a:tc>
                  <a:txBody>
                    <a:bodyPr/>
                    <a:lstStyle/>
                    <a:p>
                      <a:pPr algn="ctr"/>
                      <a:r>
                        <a:rPr lang="en-US" altLang="zh-CN" sz="1400" b="0" strike="noStrike" baseline="0" dirty="0">
                          <a:solidFill>
                            <a:schemeClr val="tx1"/>
                          </a:solidFill>
                        </a:rPr>
                        <a:t>C2</a:t>
                      </a:r>
                      <a:endParaRPr lang="zh-CN" altLang="en-US" sz="1400" b="0" strike="noStrike" baseline="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6350" cap="flat" cmpd="sng" algn="ctr">
                      <a:solidFill>
                        <a:schemeClr val="bg1"/>
                      </a:solidFill>
                      <a:prstDash val="solid"/>
                      <a:round/>
                      <a:headEnd type="none" w="med" len="med"/>
                      <a:tailEnd type="none" w="med" len="med"/>
                    </a:lnTlToBr>
                    <a:lnBlToTr w="12700" cmpd="sng">
                      <a:noFill/>
                      <a:prstDash val="solid"/>
                    </a:lnBlToTr>
                    <a:noFill/>
                  </a:tcPr>
                </a:tc>
                <a:tc>
                  <a:txBody>
                    <a:bodyPr/>
                    <a:lstStyle/>
                    <a:p>
                      <a:pPr algn="ctr"/>
                      <a:r>
                        <a:rPr lang="en-US" altLang="zh-CN" sz="1400" b="0" strike="noStrike" baseline="0" dirty="0">
                          <a:solidFill>
                            <a:schemeClr val="tx1"/>
                          </a:solidFill>
                        </a:rPr>
                        <a:t>C2</a:t>
                      </a:r>
                      <a:endParaRPr lang="zh-CN" altLang="en-US" sz="1400" b="0" strike="noStrike" baseline="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6350" cap="flat" cmpd="sng" algn="ctr">
                      <a:solidFill>
                        <a:schemeClr val="bg1"/>
                      </a:solidFill>
                      <a:prstDash val="solid"/>
                      <a:round/>
                      <a:headEnd type="none" w="med" len="med"/>
                      <a:tailEnd type="none" w="med" len="med"/>
                    </a:lnTlToBr>
                    <a:lnBlToTr w="12700" cmpd="sng">
                      <a:noFill/>
                      <a:prstDash val="solid"/>
                    </a:lnBlToTr>
                    <a:noFill/>
                  </a:tcPr>
                </a:tc>
                <a:tc>
                  <a:txBody>
                    <a:bodyPr/>
                    <a:lstStyle/>
                    <a:p>
                      <a:pPr algn="ctr"/>
                      <a:endParaRPr lang="zh-CN" altLang="en-US" sz="1400" b="0" strike="noStrike" baseline="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6350" cap="flat" cmpd="sng" algn="ctr">
                      <a:solidFill>
                        <a:schemeClr val="bg1"/>
                      </a:solidFill>
                      <a:prstDash val="solid"/>
                      <a:round/>
                      <a:headEnd type="none" w="med" len="med"/>
                      <a:tailEnd type="none" w="med" len="med"/>
                    </a:lnTlToBr>
                    <a:lnBlToTr w="12700" cmpd="sng">
                      <a:noFill/>
                      <a:prstDash val="solid"/>
                    </a:lnBlToTr>
                    <a:noFill/>
                  </a:tcPr>
                </a:tc>
                <a:tc>
                  <a:txBody>
                    <a:bodyPr/>
                    <a:lstStyle/>
                    <a:p>
                      <a:pPr algn="ctr"/>
                      <a:endParaRPr lang="zh-CN" altLang="en-US" sz="1400" b="0" strike="noStrike" baseline="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6350" cap="flat" cmpd="sng" algn="ctr">
                      <a:solidFill>
                        <a:schemeClr val="bg1"/>
                      </a:solidFill>
                      <a:prstDash val="solid"/>
                      <a:round/>
                      <a:headEnd type="none" w="med" len="med"/>
                      <a:tailEnd type="none" w="med" len="med"/>
                    </a:lnTlToBr>
                    <a:lnBlToTr w="12700" cmpd="sng">
                      <a:noFill/>
                      <a:prstDash val="solid"/>
                    </a:lnBlToTr>
                    <a:noFill/>
                  </a:tcPr>
                </a:tc>
                <a:extLst>
                  <a:ext uri="{0D108BD9-81ED-4DB2-BD59-A6C34878D82A}">
                    <a16:rowId xmlns:a16="http://schemas.microsoft.com/office/drawing/2014/main" val="2443959285"/>
                  </a:ext>
                </a:extLst>
              </a:tr>
              <a:tr h="370840">
                <a:tc>
                  <a:txBody>
                    <a:bodyPr/>
                    <a:lstStyle/>
                    <a:p>
                      <a:pPr algn="ctr"/>
                      <a:r>
                        <a:rPr lang="en-US" altLang="zh-CN" sz="1400" b="0" strike="noStrike" baseline="0" dirty="0">
                          <a:solidFill>
                            <a:schemeClr val="tx1"/>
                          </a:solidFill>
                        </a:rPr>
                        <a:t>C1</a:t>
                      </a:r>
                      <a:endParaRPr lang="zh-CN" altLang="en-US" sz="1400" b="0" strike="noStrike" baseline="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6350" cap="flat" cmpd="sng" algn="ctr">
                      <a:solidFill>
                        <a:schemeClr val="bg1"/>
                      </a:solidFill>
                      <a:prstDash val="solid"/>
                      <a:round/>
                      <a:headEnd type="none" w="med" len="med"/>
                      <a:tailEnd type="none" w="med" len="med"/>
                    </a:lnTlToBr>
                    <a:lnBlToTr w="12700" cmpd="sng">
                      <a:noFill/>
                      <a:prstDash val="solid"/>
                    </a:lnBlToTr>
                    <a:noFill/>
                  </a:tcPr>
                </a:tc>
                <a:tc>
                  <a:txBody>
                    <a:bodyPr/>
                    <a:lstStyle/>
                    <a:p>
                      <a:pPr algn="ctr"/>
                      <a:r>
                        <a:rPr lang="en-US" altLang="zh-CN" sz="1400" b="0" strike="noStrike" baseline="0" dirty="0">
                          <a:solidFill>
                            <a:schemeClr val="tx1"/>
                          </a:solidFill>
                        </a:rPr>
                        <a:t>C1</a:t>
                      </a:r>
                      <a:endParaRPr lang="zh-CN" altLang="en-US" sz="1400" b="0" strike="noStrike" baseline="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6350" cap="flat" cmpd="sng" algn="ctr">
                      <a:solidFill>
                        <a:schemeClr val="bg1"/>
                      </a:solidFill>
                      <a:prstDash val="solid"/>
                      <a:round/>
                      <a:headEnd type="none" w="med" len="med"/>
                      <a:tailEnd type="none" w="med" len="med"/>
                    </a:lnTlToBr>
                    <a:lnBlToTr w="12700" cmpd="sng">
                      <a:noFill/>
                      <a:prstDash val="solid"/>
                    </a:lnBlToTr>
                    <a:noFill/>
                  </a:tcPr>
                </a:tc>
                <a:tc>
                  <a:txBody>
                    <a:bodyPr/>
                    <a:lstStyle/>
                    <a:p>
                      <a:pPr algn="ctr"/>
                      <a:r>
                        <a:rPr lang="en-US" altLang="zh-CN" sz="1400" b="0" strike="noStrike" baseline="0" dirty="0">
                          <a:solidFill>
                            <a:schemeClr val="tx1"/>
                          </a:solidFill>
                        </a:rPr>
                        <a:t>C1</a:t>
                      </a:r>
                      <a:endParaRPr lang="zh-CN" altLang="en-US" sz="1400" b="0" strike="noStrike" baseline="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6350" cap="flat" cmpd="sng" algn="ctr">
                      <a:solidFill>
                        <a:schemeClr val="bg1"/>
                      </a:solidFill>
                      <a:prstDash val="solid"/>
                      <a:round/>
                      <a:headEnd type="none" w="med" len="med"/>
                      <a:tailEnd type="none" w="med" len="med"/>
                    </a:lnTlToBr>
                    <a:lnBlToTr w="12700" cmpd="sng">
                      <a:noFill/>
                      <a:prstDash val="solid"/>
                    </a:lnBlToTr>
                    <a:noFill/>
                  </a:tcPr>
                </a:tc>
                <a:tc>
                  <a:txBody>
                    <a:bodyPr/>
                    <a:lstStyle/>
                    <a:p>
                      <a:pPr algn="ctr"/>
                      <a:endParaRPr lang="zh-CN" altLang="en-US" sz="1400" b="0" strike="noStrike" baseline="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6350" cap="flat" cmpd="sng" algn="ctr">
                      <a:solidFill>
                        <a:schemeClr val="bg1"/>
                      </a:solidFill>
                      <a:prstDash val="solid"/>
                      <a:round/>
                      <a:headEnd type="none" w="med" len="med"/>
                      <a:tailEnd type="none" w="med" len="med"/>
                    </a:lnTlToBr>
                    <a:lnBlToTr w="12700" cmpd="sng">
                      <a:noFill/>
                      <a:prstDash val="solid"/>
                    </a:lnBlToTr>
                    <a:noFill/>
                  </a:tcPr>
                </a:tc>
                <a:tc>
                  <a:txBody>
                    <a:bodyPr/>
                    <a:lstStyle/>
                    <a:p>
                      <a:pPr algn="ctr"/>
                      <a:endParaRPr lang="zh-CN" altLang="en-US" sz="1400" b="0" strike="noStrike" baseline="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6350" cap="flat" cmpd="sng" algn="ctr">
                      <a:solidFill>
                        <a:schemeClr val="bg1"/>
                      </a:solidFill>
                      <a:prstDash val="solid"/>
                      <a:round/>
                      <a:headEnd type="none" w="med" len="med"/>
                      <a:tailEnd type="none" w="med" len="med"/>
                    </a:lnTlToBr>
                    <a:lnBlToTr w="12700" cmpd="sng">
                      <a:noFill/>
                      <a:prstDash val="solid"/>
                    </a:lnBlToTr>
                    <a:noFill/>
                  </a:tcPr>
                </a:tc>
                <a:extLst>
                  <a:ext uri="{0D108BD9-81ED-4DB2-BD59-A6C34878D82A}">
                    <a16:rowId xmlns:a16="http://schemas.microsoft.com/office/drawing/2014/main" val="750338938"/>
                  </a:ext>
                </a:extLst>
              </a:tr>
            </a:tbl>
          </a:graphicData>
        </a:graphic>
      </p:graphicFrame>
      <p:cxnSp>
        <p:nvCxnSpPr>
          <p:cNvPr id="43" name="直接箭头连接符 42">
            <a:extLst>
              <a:ext uri="{FF2B5EF4-FFF2-40B4-BE49-F238E27FC236}">
                <a16:creationId xmlns:a16="http://schemas.microsoft.com/office/drawing/2014/main" id="{1FA6D1A7-F96E-2511-4B53-A694CF9CEC32}"/>
              </a:ext>
            </a:extLst>
          </p:cNvPr>
          <p:cNvCxnSpPr>
            <a:cxnSpLocks/>
          </p:cNvCxnSpPr>
          <p:nvPr/>
        </p:nvCxnSpPr>
        <p:spPr>
          <a:xfrm>
            <a:off x="7503399" y="5981700"/>
            <a:ext cx="432000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2EFC5318-13FB-77C3-7845-DA4EC3A5B792}"/>
              </a:ext>
            </a:extLst>
          </p:cNvPr>
          <p:cNvSpPr txBox="1"/>
          <p:nvPr/>
        </p:nvSpPr>
        <p:spPr>
          <a:xfrm>
            <a:off x="7512216" y="5981700"/>
            <a:ext cx="303288" cy="307777"/>
          </a:xfrm>
          <a:prstGeom prst="rect">
            <a:avLst/>
          </a:prstGeom>
          <a:noFill/>
        </p:spPr>
        <p:txBody>
          <a:bodyPr wrap="none" rtlCol="0">
            <a:spAutoFit/>
          </a:bodyPr>
          <a:lstStyle/>
          <a:p>
            <a:pPr algn="ctr"/>
            <a:r>
              <a:rPr lang="en-US" altLang="zh-CN" sz="1400" dirty="0"/>
              <a:t>0</a:t>
            </a:r>
            <a:endParaRPr lang="zh-CN" altLang="en-US" sz="1400" dirty="0"/>
          </a:p>
        </p:txBody>
      </p:sp>
      <p:sp>
        <p:nvSpPr>
          <p:cNvPr id="45" name="文本框 44">
            <a:extLst>
              <a:ext uri="{FF2B5EF4-FFF2-40B4-BE49-F238E27FC236}">
                <a16:creationId xmlns:a16="http://schemas.microsoft.com/office/drawing/2014/main" id="{120C984C-74B9-9769-A550-3A08A1F349BF}"/>
              </a:ext>
            </a:extLst>
          </p:cNvPr>
          <p:cNvSpPr txBox="1"/>
          <p:nvPr/>
        </p:nvSpPr>
        <p:spPr>
          <a:xfrm>
            <a:off x="8218023" y="5981700"/>
            <a:ext cx="248786" cy="307777"/>
          </a:xfrm>
          <a:prstGeom prst="rect">
            <a:avLst/>
          </a:prstGeom>
          <a:noFill/>
        </p:spPr>
        <p:txBody>
          <a:bodyPr wrap="none" rtlCol="0">
            <a:spAutoFit/>
          </a:bodyPr>
          <a:lstStyle/>
          <a:p>
            <a:pPr algn="ctr"/>
            <a:r>
              <a:rPr lang="en-US" altLang="zh-CN" sz="1400" dirty="0"/>
              <a:t>1</a:t>
            </a:r>
            <a:endParaRPr lang="zh-CN" altLang="en-US" sz="1400" dirty="0"/>
          </a:p>
        </p:txBody>
      </p:sp>
      <p:sp>
        <p:nvSpPr>
          <p:cNvPr id="46" name="文本框 45">
            <a:extLst>
              <a:ext uri="{FF2B5EF4-FFF2-40B4-BE49-F238E27FC236}">
                <a16:creationId xmlns:a16="http://schemas.microsoft.com/office/drawing/2014/main" id="{35A78F8B-5645-C85E-461E-85CD7A5A6218}"/>
              </a:ext>
            </a:extLst>
          </p:cNvPr>
          <p:cNvSpPr txBox="1"/>
          <p:nvPr/>
        </p:nvSpPr>
        <p:spPr>
          <a:xfrm>
            <a:off x="8867724" y="5981700"/>
            <a:ext cx="287258" cy="307777"/>
          </a:xfrm>
          <a:prstGeom prst="rect">
            <a:avLst/>
          </a:prstGeom>
          <a:noFill/>
        </p:spPr>
        <p:txBody>
          <a:bodyPr wrap="none" rtlCol="0">
            <a:spAutoFit/>
          </a:bodyPr>
          <a:lstStyle/>
          <a:p>
            <a:pPr algn="ctr"/>
            <a:r>
              <a:rPr lang="en-US" altLang="zh-CN" sz="1400" dirty="0"/>
              <a:t>2</a:t>
            </a:r>
            <a:endParaRPr lang="zh-CN" altLang="en-US" sz="1400" dirty="0"/>
          </a:p>
        </p:txBody>
      </p:sp>
      <p:sp>
        <p:nvSpPr>
          <p:cNvPr id="47" name="文本框 46">
            <a:extLst>
              <a:ext uri="{FF2B5EF4-FFF2-40B4-BE49-F238E27FC236}">
                <a16:creationId xmlns:a16="http://schemas.microsoft.com/office/drawing/2014/main" id="{4B894757-C5C6-8A04-9A8A-7784D0234C0B}"/>
              </a:ext>
            </a:extLst>
          </p:cNvPr>
          <p:cNvSpPr txBox="1"/>
          <p:nvPr/>
        </p:nvSpPr>
        <p:spPr>
          <a:xfrm>
            <a:off x="9558304" y="5981700"/>
            <a:ext cx="285655" cy="307777"/>
          </a:xfrm>
          <a:prstGeom prst="rect">
            <a:avLst/>
          </a:prstGeom>
          <a:noFill/>
        </p:spPr>
        <p:txBody>
          <a:bodyPr wrap="none" rtlCol="0">
            <a:spAutoFit/>
          </a:bodyPr>
          <a:lstStyle/>
          <a:p>
            <a:pPr algn="ctr"/>
            <a:r>
              <a:rPr lang="en-US" altLang="zh-CN" sz="1400" dirty="0"/>
              <a:t>3</a:t>
            </a:r>
            <a:endParaRPr lang="zh-CN" altLang="en-US" sz="1400" dirty="0"/>
          </a:p>
        </p:txBody>
      </p:sp>
      <p:sp>
        <p:nvSpPr>
          <p:cNvPr id="48" name="文本框 47">
            <a:extLst>
              <a:ext uri="{FF2B5EF4-FFF2-40B4-BE49-F238E27FC236}">
                <a16:creationId xmlns:a16="http://schemas.microsoft.com/office/drawing/2014/main" id="{06578572-0C9C-F959-C0B7-FF81528AF1DE}"/>
              </a:ext>
            </a:extLst>
          </p:cNvPr>
          <p:cNvSpPr txBox="1"/>
          <p:nvPr/>
        </p:nvSpPr>
        <p:spPr>
          <a:xfrm>
            <a:off x="10248883" y="5981700"/>
            <a:ext cx="303288" cy="307777"/>
          </a:xfrm>
          <a:prstGeom prst="rect">
            <a:avLst/>
          </a:prstGeom>
          <a:noFill/>
        </p:spPr>
        <p:txBody>
          <a:bodyPr wrap="none" rtlCol="0">
            <a:spAutoFit/>
          </a:bodyPr>
          <a:lstStyle/>
          <a:p>
            <a:pPr algn="ctr"/>
            <a:r>
              <a:rPr lang="en-US" altLang="zh-CN" sz="1400" dirty="0"/>
              <a:t>4</a:t>
            </a:r>
            <a:endParaRPr lang="zh-CN" altLang="en-US" sz="1400" dirty="0"/>
          </a:p>
        </p:txBody>
      </p:sp>
      <p:sp>
        <p:nvSpPr>
          <p:cNvPr id="49" name="文本框 48">
            <a:extLst>
              <a:ext uri="{FF2B5EF4-FFF2-40B4-BE49-F238E27FC236}">
                <a16:creationId xmlns:a16="http://schemas.microsoft.com/office/drawing/2014/main" id="{6875E493-451E-AF01-0E2D-FA8D6D2BF4DD}"/>
              </a:ext>
            </a:extLst>
          </p:cNvPr>
          <p:cNvSpPr txBox="1"/>
          <p:nvPr/>
        </p:nvSpPr>
        <p:spPr>
          <a:xfrm>
            <a:off x="10957094" y="5981700"/>
            <a:ext cx="285655" cy="307777"/>
          </a:xfrm>
          <a:prstGeom prst="rect">
            <a:avLst/>
          </a:prstGeom>
          <a:noFill/>
        </p:spPr>
        <p:txBody>
          <a:bodyPr wrap="none" rtlCol="0">
            <a:spAutoFit/>
          </a:bodyPr>
          <a:lstStyle/>
          <a:p>
            <a:pPr algn="ctr"/>
            <a:r>
              <a:rPr lang="en-US" altLang="zh-CN" sz="1400" dirty="0"/>
              <a:t>5</a:t>
            </a:r>
            <a:endParaRPr lang="zh-CN" altLang="en-US" sz="1400" dirty="0"/>
          </a:p>
        </p:txBody>
      </p:sp>
      <p:graphicFrame>
        <p:nvGraphicFramePr>
          <p:cNvPr id="50" name="表格 49">
            <a:extLst>
              <a:ext uri="{FF2B5EF4-FFF2-40B4-BE49-F238E27FC236}">
                <a16:creationId xmlns:a16="http://schemas.microsoft.com/office/drawing/2014/main" id="{BBD94222-D929-CA8A-5398-46B4D5156B91}"/>
              </a:ext>
            </a:extLst>
          </p:cNvPr>
          <p:cNvGraphicFramePr>
            <a:graphicFrameLocks noGrp="1"/>
          </p:cNvGraphicFramePr>
          <p:nvPr>
            <p:extLst>
              <p:ext uri="{D42A27DB-BD31-4B8C-83A1-F6EECF244321}">
                <p14:modId xmlns:p14="http://schemas.microsoft.com/office/powerpoint/2010/main" val="616917952"/>
              </p:ext>
            </p:extLst>
          </p:nvPr>
        </p:nvGraphicFramePr>
        <p:xfrm>
          <a:off x="7503399" y="1795046"/>
          <a:ext cx="3600000" cy="370840"/>
        </p:xfrm>
        <a:graphic>
          <a:graphicData uri="http://schemas.openxmlformats.org/drawingml/2006/table">
            <a:tbl>
              <a:tblPr firstRow="1" bandRow="1">
                <a:tableStyleId>{5C22544A-7EE6-4342-B048-85BDC9FD1C3A}</a:tableStyleId>
              </a:tblPr>
              <a:tblGrid>
                <a:gridCol w="720000">
                  <a:extLst>
                    <a:ext uri="{9D8B030D-6E8A-4147-A177-3AD203B41FA5}">
                      <a16:colId xmlns:a16="http://schemas.microsoft.com/office/drawing/2014/main" val="1603652547"/>
                    </a:ext>
                  </a:extLst>
                </a:gridCol>
                <a:gridCol w="720000">
                  <a:extLst>
                    <a:ext uri="{9D8B030D-6E8A-4147-A177-3AD203B41FA5}">
                      <a16:colId xmlns:a16="http://schemas.microsoft.com/office/drawing/2014/main" val="3140908897"/>
                    </a:ext>
                  </a:extLst>
                </a:gridCol>
                <a:gridCol w="720000">
                  <a:extLst>
                    <a:ext uri="{9D8B030D-6E8A-4147-A177-3AD203B41FA5}">
                      <a16:colId xmlns:a16="http://schemas.microsoft.com/office/drawing/2014/main" val="4181740815"/>
                    </a:ext>
                  </a:extLst>
                </a:gridCol>
                <a:gridCol w="720000">
                  <a:extLst>
                    <a:ext uri="{9D8B030D-6E8A-4147-A177-3AD203B41FA5}">
                      <a16:colId xmlns:a16="http://schemas.microsoft.com/office/drawing/2014/main" val="1370517343"/>
                    </a:ext>
                  </a:extLst>
                </a:gridCol>
                <a:gridCol w="720000">
                  <a:extLst>
                    <a:ext uri="{9D8B030D-6E8A-4147-A177-3AD203B41FA5}">
                      <a16:colId xmlns:a16="http://schemas.microsoft.com/office/drawing/2014/main" val="1569849616"/>
                    </a:ext>
                  </a:extLst>
                </a:gridCol>
              </a:tblGrid>
              <a:tr h="370840">
                <a:tc>
                  <a:txBody>
                    <a:bodyPr/>
                    <a:lstStyle/>
                    <a:p>
                      <a:pPr algn="ctr"/>
                      <a:r>
                        <a:rPr lang="en-US" altLang="zh-CN" sz="1400" b="0" dirty="0">
                          <a:solidFill>
                            <a:schemeClr val="tx1"/>
                          </a:solidFill>
                        </a:rPr>
                        <a:t>6p</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6p</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rPr>
                        <a:t>6p</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rPr>
                        <a:t>6p</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rPr>
                        <a:t>6p</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0338938"/>
                  </a:ext>
                </a:extLst>
              </a:tr>
            </a:tbl>
          </a:graphicData>
        </a:graphic>
      </p:graphicFrame>
      <p:sp>
        <p:nvSpPr>
          <p:cNvPr id="51" name="文本框 50">
            <a:extLst>
              <a:ext uri="{FF2B5EF4-FFF2-40B4-BE49-F238E27FC236}">
                <a16:creationId xmlns:a16="http://schemas.microsoft.com/office/drawing/2014/main" id="{AEEDB036-F4AB-95FF-8E5C-96669C175B6E}"/>
              </a:ext>
            </a:extLst>
          </p:cNvPr>
          <p:cNvSpPr txBox="1"/>
          <p:nvPr/>
        </p:nvSpPr>
        <p:spPr>
          <a:xfrm>
            <a:off x="11430327" y="5981700"/>
            <a:ext cx="510076" cy="307777"/>
          </a:xfrm>
          <a:prstGeom prst="rect">
            <a:avLst/>
          </a:prstGeom>
          <a:noFill/>
        </p:spPr>
        <p:txBody>
          <a:bodyPr wrap="none" rtlCol="0">
            <a:spAutoFit/>
          </a:bodyPr>
          <a:lstStyle/>
          <a:p>
            <a:pPr algn="ctr"/>
            <a:r>
              <a:rPr lang="en-US" altLang="zh-CN" sz="1400" dirty="0"/>
              <a:t>day</a:t>
            </a:r>
            <a:endParaRPr lang="zh-CN" altLang="en-US" sz="1400" dirty="0"/>
          </a:p>
        </p:txBody>
      </p:sp>
      <p:sp>
        <p:nvSpPr>
          <p:cNvPr id="52" name="文本框 51">
            <a:extLst>
              <a:ext uri="{FF2B5EF4-FFF2-40B4-BE49-F238E27FC236}">
                <a16:creationId xmlns:a16="http://schemas.microsoft.com/office/drawing/2014/main" id="{FA5542D6-5772-3943-C973-B7208323714D}"/>
              </a:ext>
            </a:extLst>
          </p:cNvPr>
          <p:cNvSpPr txBox="1"/>
          <p:nvPr/>
        </p:nvSpPr>
        <p:spPr>
          <a:xfrm>
            <a:off x="4963318" y="3581400"/>
            <a:ext cx="2332690" cy="338554"/>
          </a:xfrm>
          <a:prstGeom prst="rect">
            <a:avLst/>
          </a:prstGeom>
          <a:noFill/>
        </p:spPr>
        <p:txBody>
          <a:bodyPr wrap="none" rtlCol="0">
            <a:spAutoFit/>
          </a:bodyPr>
          <a:lstStyle/>
          <a:p>
            <a:pPr algn="l"/>
            <a:r>
              <a:rPr lang="en-US" altLang="zh-CN" sz="1600" dirty="0"/>
              <a:t>Resource smoothing</a:t>
            </a:r>
            <a:endParaRPr lang="zh-CN" altLang="en-US" sz="1600" dirty="0"/>
          </a:p>
        </p:txBody>
      </p:sp>
      <p:grpSp>
        <p:nvGrpSpPr>
          <p:cNvPr id="98" name="组合 97">
            <a:extLst>
              <a:ext uri="{FF2B5EF4-FFF2-40B4-BE49-F238E27FC236}">
                <a16:creationId xmlns:a16="http://schemas.microsoft.com/office/drawing/2014/main" id="{0FA03335-22A7-C387-22EB-65EE9C282549}"/>
              </a:ext>
            </a:extLst>
          </p:cNvPr>
          <p:cNvGrpSpPr/>
          <p:nvPr/>
        </p:nvGrpSpPr>
        <p:grpSpPr>
          <a:xfrm>
            <a:off x="4296508" y="333576"/>
            <a:ext cx="3598984" cy="1879277"/>
            <a:chOff x="4365334" y="333576"/>
            <a:chExt cx="3598984" cy="1879277"/>
          </a:xfrm>
        </p:grpSpPr>
        <p:sp>
          <p:nvSpPr>
            <p:cNvPr id="79" name="椭圆 78">
              <a:extLst>
                <a:ext uri="{FF2B5EF4-FFF2-40B4-BE49-F238E27FC236}">
                  <a16:creationId xmlns:a16="http://schemas.microsoft.com/office/drawing/2014/main" id="{FE859AD4-998E-3785-B0B6-17E468F96477}"/>
                </a:ext>
              </a:extLst>
            </p:cNvPr>
            <p:cNvSpPr/>
            <p:nvPr/>
          </p:nvSpPr>
          <p:spPr>
            <a:xfrm>
              <a:off x="4365334" y="1003214"/>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1</a:t>
              </a:r>
              <a:endParaRPr lang="zh-CN" altLang="en-US" sz="1400" dirty="0">
                <a:solidFill>
                  <a:schemeClr val="tx1"/>
                </a:solidFill>
              </a:endParaRPr>
            </a:p>
          </p:txBody>
        </p:sp>
        <p:sp>
          <p:nvSpPr>
            <p:cNvPr id="80" name="椭圆 79">
              <a:extLst>
                <a:ext uri="{FF2B5EF4-FFF2-40B4-BE49-F238E27FC236}">
                  <a16:creationId xmlns:a16="http://schemas.microsoft.com/office/drawing/2014/main" id="{8AE30164-AFCB-E4AE-A021-935052C682D3}"/>
                </a:ext>
              </a:extLst>
            </p:cNvPr>
            <p:cNvSpPr/>
            <p:nvPr/>
          </p:nvSpPr>
          <p:spPr>
            <a:xfrm>
              <a:off x="7424318" y="1003214"/>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4</a:t>
              </a:r>
              <a:endParaRPr lang="zh-CN" altLang="en-US" sz="1400" dirty="0">
                <a:solidFill>
                  <a:schemeClr val="tx1"/>
                </a:solidFill>
              </a:endParaRPr>
            </a:p>
          </p:txBody>
        </p:sp>
        <p:cxnSp>
          <p:nvCxnSpPr>
            <p:cNvPr id="81" name="直接箭头连接符 80">
              <a:extLst>
                <a:ext uri="{FF2B5EF4-FFF2-40B4-BE49-F238E27FC236}">
                  <a16:creationId xmlns:a16="http://schemas.microsoft.com/office/drawing/2014/main" id="{1A5F40A8-270E-9667-F9AC-29209280A55A}"/>
                </a:ext>
              </a:extLst>
            </p:cNvPr>
            <p:cNvCxnSpPr>
              <a:cxnSpLocks/>
              <a:stCxn id="79" idx="0"/>
              <a:endCxn id="84" idx="2"/>
            </p:cNvCxnSpPr>
            <p:nvPr/>
          </p:nvCxnSpPr>
          <p:spPr>
            <a:xfrm flipV="1">
              <a:off x="4635334" y="603576"/>
              <a:ext cx="1259491" cy="39963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2" name="文本框 81">
              <a:extLst>
                <a:ext uri="{FF2B5EF4-FFF2-40B4-BE49-F238E27FC236}">
                  <a16:creationId xmlns:a16="http://schemas.microsoft.com/office/drawing/2014/main" id="{265B04AC-E9D3-BC53-4D30-40691F3A0E4B}"/>
                </a:ext>
              </a:extLst>
            </p:cNvPr>
            <p:cNvSpPr txBox="1"/>
            <p:nvPr/>
          </p:nvSpPr>
          <p:spPr>
            <a:xfrm>
              <a:off x="6823784" y="504591"/>
              <a:ext cx="304892" cy="307777"/>
            </a:xfrm>
            <a:prstGeom prst="rect">
              <a:avLst/>
            </a:prstGeom>
            <a:noFill/>
            <a:ln>
              <a:noFill/>
            </a:ln>
          </p:spPr>
          <p:txBody>
            <a:bodyPr wrap="none" rtlCol="0">
              <a:spAutoFit/>
            </a:bodyPr>
            <a:lstStyle/>
            <a:p>
              <a:pPr algn="ctr"/>
              <a:r>
                <a:rPr lang="en-US" altLang="zh-CN" sz="1400" dirty="0"/>
                <a:t>E</a:t>
              </a:r>
              <a:endParaRPr lang="zh-CN" altLang="en-US" sz="1400" dirty="0"/>
            </a:p>
          </p:txBody>
        </p:sp>
        <p:sp>
          <p:nvSpPr>
            <p:cNvPr id="83" name="文本框 82">
              <a:extLst>
                <a:ext uri="{FF2B5EF4-FFF2-40B4-BE49-F238E27FC236}">
                  <a16:creationId xmlns:a16="http://schemas.microsoft.com/office/drawing/2014/main" id="{1A415DA0-52A5-D994-04C7-0F29BAF8E756}"/>
                </a:ext>
              </a:extLst>
            </p:cNvPr>
            <p:cNvSpPr txBox="1"/>
            <p:nvPr/>
          </p:nvSpPr>
          <p:spPr>
            <a:xfrm>
              <a:off x="6809356" y="1718599"/>
              <a:ext cx="333745" cy="307777"/>
            </a:xfrm>
            <a:prstGeom prst="rect">
              <a:avLst/>
            </a:prstGeom>
            <a:noFill/>
            <a:ln>
              <a:noFill/>
            </a:ln>
          </p:spPr>
          <p:txBody>
            <a:bodyPr wrap="none" rtlCol="0">
              <a:spAutoFit/>
            </a:bodyPr>
            <a:lstStyle/>
            <a:p>
              <a:pPr algn="ctr"/>
              <a:r>
                <a:rPr lang="en-US" altLang="zh-CN" sz="1400" dirty="0"/>
                <a:t>D</a:t>
              </a:r>
              <a:endParaRPr lang="zh-CN" altLang="en-US" sz="1400" dirty="0"/>
            </a:p>
          </p:txBody>
        </p:sp>
        <p:sp>
          <p:nvSpPr>
            <p:cNvPr id="84" name="椭圆 83">
              <a:extLst>
                <a:ext uri="{FF2B5EF4-FFF2-40B4-BE49-F238E27FC236}">
                  <a16:creationId xmlns:a16="http://schemas.microsoft.com/office/drawing/2014/main" id="{01851442-EE42-0DB2-84EF-2BBF7A5912BC}"/>
                </a:ext>
              </a:extLst>
            </p:cNvPr>
            <p:cNvSpPr/>
            <p:nvPr/>
          </p:nvSpPr>
          <p:spPr>
            <a:xfrm>
              <a:off x="5894825" y="333576"/>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2</a:t>
              </a:r>
              <a:endParaRPr lang="zh-CN" altLang="en-US" sz="1400" dirty="0">
                <a:solidFill>
                  <a:schemeClr val="tx1"/>
                </a:solidFill>
              </a:endParaRPr>
            </a:p>
          </p:txBody>
        </p:sp>
        <p:sp>
          <p:nvSpPr>
            <p:cNvPr id="85" name="椭圆 84">
              <a:extLst>
                <a:ext uri="{FF2B5EF4-FFF2-40B4-BE49-F238E27FC236}">
                  <a16:creationId xmlns:a16="http://schemas.microsoft.com/office/drawing/2014/main" id="{B2CA81B2-EA28-5B5A-78A9-EE7BC7805D9F}"/>
                </a:ext>
              </a:extLst>
            </p:cNvPr>
            <p:cNvSpPr/>
            <p:nvPr/>
          </p:nvSpPr>
          <p:spPr>
            <a:xfrm>
              <a:off x="5894825" y="1672853"/>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3</a:t>
              </a:r>
              <a:endParaRPr lang="zh-CN" altLang="en-US" sz="1400" dirty="0">
                <a:solidFill>
                  <a:schemeClr val="tx1"/>
                </a:solidFill>
              </a:endParaRPr>
            </a:p>
          </p:txBody>
        </p:sp>
        <p:cxnSp>
          <p:nvCxnSpPr>
            <p:cNvPr id="86" name="直接箭头连接符 85">
              <a:extLst>
                <a:ext uri="{FF2B5EF4-FFF2-40B4-BE49-F238E27FC236}">
                  <a16:creationId xmlns:a16="http://schemas.microsoft.com/office/drawing/2014/main" id="{C06421CE-EB6B-A78A-A517-4166F30262BB}"/>
                </a:ext>
              </a:extLst>
            </p:cNvPr>
            <p:cNvCxnSpPr>
              <a:cxnSpLocks/>
              <a:stCxn id="79" idx="4"/>
              <a:endCxn id="85" idx="2"/>
            </p:cNvCxnSpPr>
            <p:nvPr/>
          </p:nvCxnSpPr>
          <p:spPr>
            <a:xfrm>
              <a:off x="4635334" y="1543214"/>
              <a:ext cx="1259491" cy="39963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直接箭头连接符 86">
              <a:extLst>
                <a:ext uri="{FF2B5EF4-FFF2-40B4-BE49-F238E27FC236}">
                  <a16:creationId xmlns:a16="http://schemas.microsoft.com/office/drawing/2014/main" id="{ADE092CE-2E6B-2105-6B9C-83DFD97CA2AA}"/>
                </a:ext>
              </a:extLst>
            </p:cNvPr>
            <p:cNvCxnSpPr>
              <a:cxnSpLocks/>
              <a:stCxn id="84" idx="6"/>
              <a:endCxn id="80" idx="1"/>
            </p:cNvCxnSpPr>
            <p:nvPr/>
          </p:nvCxnSpPr>
          <p:spPr>
            <a:xfrm>
              <a:off x="6434825" y="603576"/>
              <a:ext cx="1068574" cy="47871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8" name="直接箭头连接符 87">
              <a:extLst>
                <a:ext uri="{FF2B5EF4-FFF2-40B4-BE49-F238E27FC236}">
                  <a16:creationId xmlns:a16="http://schemas.microsoft.com/office/drawing/2014/main" id="{B76F399D-DCDF-B75C-DA2B-F210EA2744BD}"/>
                </a:ext>
              </a:extLst>
            </p:cNvPr>
            <p:cNvCxnSpPr>
              <a:cxnSpLocks/>
              <a:stCxn id="85" idx="6"/>
              <a:endCxn id="80" idx="3"/>
            </p:cNvCxnSpPr>
            <p:nvPr/>
          </p:nvCxnSpPr>
          <p:spPr>
            <a:xfrm flipV="1">
              <a:off x="6434825" y="1464133"/>
              <a:ext cx="1068574" cy="4787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9" name="文本框 88">
              <a:extLst>
                <a:ext uri="{FF2B5EF4-FFF2-40B4-BE49-F238E27FC236}">
                  <a16:creationId xmlns:a16="http://schemas.microsoft.com/office/drawing/2014/main" id="{4814FC1F-E8A5-8D3F-C2DF-768B0F24875D}"/>
                </a:ext>
              </a:extLst>
            </p:cNvPr>
            <p:cNvSpPr txBox="1"/>
            <p:nvPr/>
          </p:nvSpPr>
          <p:spPr>
            <a:xfrm>
              <a:off x="5003564" y="447441"/>
              <a:ext cx="312906" cy="307777"/>
            </a:xfrm>
            <a:prstGeom prst="rect">
              <a:avLst/>
            </a:prstGeom>
            <a:noFill/>
            <a:ln>
              <a:noFill/>
            </a:ln>
          </p:spPr>
          <p:txBody>
            <a:bodyPr wrap="none" rtlCol="0">
              <a:spAutoFit/>
            </a:bodyPr>
            <a:lstStyle/>
            <a:p>
              <a:pPr algn="ctr"/>
              <a:r>
                <a:rPr lang="en-US" altLang="zh-CN" sz="1400" dirty="0"/>
                <a:t>A</a:t>
              </a:r>
              <a:endParaRPr lang="zh-CN" altLang="en-US" sz="1400" dirty="0"/>
            </a:p>
          </p:txBody>
        </p:sp>
        <p:sp>
          <p:nvSpPr>
            <p:cNvPr id="90" name="文本框 89">
              <a:extLst>
                <a:ext uri="{FF2B5EF4-FFF2-40B4-BE49-F238E27FC236}">
                  <a16:creationId xmlns:a16="http://schemas.microsoft.com/office/drawing/2014/main" id="{BC9AA47E-18C6-676C-E3AD-C3F5F68792F8}"/>
                </a:ext>
              </a:extLst>
            </p:cNvPr>
            <p:cNvSpPr txBox="1"/>
            <p:nvPr/>
          </p:nvSpPr>
          <p:spPr>
            <a:xfrm>
              <a:off x="5226694" y="1737649"/>
              <a:ext cx="314510" cy="307777"/>
            </a:xfrm>
            <a:prstGeom prst="rect">
              <a:avLst/>
            </a:prstGeom>
            <a:noFill/>
            <a:ln>
              <a:noFill/>
            </a:ln>
          </p:spPr>
          <p:txBody>
            <a:bodyPr wrap="none" rtlCol="0">
              <a:spAutoFit/>
            </a:bodyPr>
            <a:lstStyle/>
            <a:p>
              <a:pPr algn="ctr"/>
              <a:r>
                <a:rPr lang="en-US" altLang="zh-CN" sz="1400" dirty="0"/>
                <a:t>C</a:t>
              </a:r>
              <a:endParaRPr lang="zh-CN" altLang="en-US" sz="1400" dirty="0"/>
            </a:p>
          </p:txBody>
        </p:sp>
        <p:sp>
          <p:nvSpPr>
            <p:cNvPr id="91" name="文本框 90">
              <a:extLst>
                <a:ext uri="{FF2B5EF4-FFF2-40B4-BE49-F238E27FC236}">
                  <a16:creationId xmlns:a16="http://schemas.microsoft.com/office/drawing/2014/main" id="{7703155A-F829-6FDF-A013-57AF66D54681}"/>
                </a:ext>
              </a:extLst>
            </p:cNvPr>
            <p:cNvSpPr txBox="1"/>
            <p:nvPr/>
          </p:nvSpPr>
          <p:spPr>
            <a:xfrm>
              <a:off x="5452229" y="666516"/>
              <a:ext cx="319318" cy="307777"/>
            </a:xfrm>
            <a:prstGeom prst="rect">
              <a:avLst/>
            </a:prstGeom>
            <a:noFill/>
            <a:ln>
              <a:noFill/>
            </a:ln>
          </p:spPr>
          <p:txBody>
            <a:bodyPr wrap="none" rtlCol="0">
              <a:spAutoFit/>
            </a:bodyPr>
            <a:lstStyle/>
            <a:p>
              <a:pPr algn="ctr"/>
              <a:r>
                <a:rPr lang="en-US" altLang="zh-CN" sz="1400" dirty="0"/>
                <a:t>B</a:t>
              </a:r>
              <a:endParaRPr lang="zh-CN" altLang="en-US" sz="1400" dirty="0"/>
            </a:p>
          </p:txBody>
        </p:sp>
      </p:grpSp>
    </p:spTree>
    <p:extLst>
      <p:ext uri="{BB962C8B-B14F-4D97-AF65-F5344CB8AC3E}">
        <p14:creationId xmlns:p14="http://schemas.microsoft.com/office/powerpoint/2010/main" val="1205553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5" grpId="0"/>
      <p:bldP spid="46" grpId="0"/>
      <p:bldP spid="47" grpId="0"/>
      <p:bldP spid="48" grpId="0"/>
      <p:bldP spid="49" grpId="0"/>
      <p:bldP spid="51" grpId="0"/>
    </p:bldLst>
  </p:timing>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DE303A0A-5354-52B5-9FDE-377C4D6410D2}"/>
              </a:ext>
            </a:extLst>
          </p:cNvPr>
          <p:cNvGraphicFramePr>
            <a:graphicFrameLocks noGrp="1"/>
          </p:cNvGraphicFramePr>
          <p:nvPr>
            <p:extLst>
              <p:ext uri="{D42A27DB-BD31-4B8C-83A1-F6EECF244321}">
                <p14:modId xmlns:p14="http://schemas.microsoft.com/office/powerpoint/2010/main" val="4039797119"/>
              </p:ext>
            </p:extLst>
          </p:nvPr>
        </p:nvGraphicFramePr>
        <p:xfrm>
          <a:off x="757237" y="2133000"/>
          <a:ext cx="10677526" cy="2592000"/>
        </p:xfrm>
        <a:graphic>
          <a:graphicData uri="http://schemas.openxmlformats.org/drawingml/2006/table">
            <a:tbl>
              <a:tblPr/>
              <a:tblGrid>
                <a:gridCol w="5338763">
                  <a:extLst>
                    <a:ext uri="{9D8B030D-6E8A-4147-A177-3AD203B41FA5}">
                      <a16:colId xmlns:a16="http://schemas.microsoft.com/office/drawing/2014/main" val="471711888"/>
                    </a:ext>
                  </a:extLst>
                </a:gridCol>
                <a:gridCol w="5338763">
                  <a:extLst>
                    <a:ext uri="{9D8B030D-6E8A-4147-A177-3AD203B41FA5}">
                      <a16:colId xmlns:a16="http://schemas.microsoft.com/office/drawing/2014/main" val="879393683"/>
                    </a:ext>
                  </a:extLst>
                </a:gridCol>
              </a:tblGrid>
              <a:tr h="432000">
                <a:tc>
                  <a:txBody>
                    <a:bodyPr/>
                    <a:lstStyle/>
                    <a:p>
                      <a:pPr algn="ctr" fontAlgn="ctr">
                        <a:spcBef>
                          <a:spcPts val="600"/>
                        </a:spcBef>
                        <a:spcAft>
                          <a:spcPts val="600"/>
                        </a:spcAft>
                        <a:buNone/>
                      </a:pPr>
                      <a:r>
                        <a:rPr lang="en-US" sz="1600" dirty="0">
                          <a:solidFill>
                            <a:schemeClr val="bg1"/>
                          </a:solidFill>
                        </a:rPr>
                        <a:t>Resource Leveling</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fontAlgn="ctr">
                        <a:spcBef>
                          <a:spcPts val="600"/>
                        </a:spcBef>
                        <a:spcAft>
                          <a:spcPts val="600"/>
                        </a:spcAft>
                        <a:buNone/>
                      </a:pPr>
                      <a:r>
                        <a:rPr lang="en-US" sz="1600" dirty="0">
                          <a:solidFill>
                            <a:schemeClr val="bg1"/>
                          </a:solidFill>
                        </a:rPr>
                        <a:t>Resource Smoothing</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2066982574"/>
                  </a:ext>
                </a:extLst>
              </a:tr>
              <a:tr h="432000">
                <a:tc>
                  <a:txBody>
                    <a:bodyPr/>
                    <a:lstStyle/>
                    <a:p>
                      <a:pPr algn="l" fontAlgn="ctr">
                        <a:spcBef>
                          <a:spcPts val="600"/>
                        </a:spcBef>
                        <a:spcAft>
                          <a:spcPts val="600"/>
                        </a:spcAft>
                        <a:buNone/>
                      </a:pPr>
                      <a:r>
                        <a:rPr lang="zh-CN" altLang="en-US" sz="1600" dirty="0"/>
                        <a:t>📋 </a:t>
                      </a:r>
                      <a:r>
                        <a:rPr lang="en-US" sz="1600" dirty="0"/>
                        <a:t>Resolve overallocation</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Bef>
                          <a:spcPts val="600"/>
                        </a:spcBef>
                        <a:spcAft>
                          <a:spcPts val="600"/>
                        </a:spcAft>
                        <a:buNone/>
                      </a:pPr>
                      <a:r>
                        <a:rPr lang="fr-FR" sz="1600"/>
                        <a:t>🔄 Maintain consistent resource usage</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47076998"/>
                  </a:ext>
                </a:extLst>
              </a:tr>
              <a:tr h="432000">
                <a:tc>
                  <a:txBody>
                    <a:bodyPr/>
                    <a:lstStyle/>
                    <a:p>
                      <a:pPr algn="l" fontAlgn="ctr">
                        <a:spcBef>
                          <a:spcPts val="600"/>
                        </a:spcBef>
                        <a:spcAft>
                          <a:spcPts val="600"/>
                        </a:spcAft>
                        <a:buNone/>
                      </a:pPr>
                      <a:r>
                        <a:rPr lang="en-US" sz="1600" dirty="0"/>
                        <a:t>⏳ May extend project duration</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Bef>
                          <a:spcPts val="600"/>
                        </a:spcBef>
                        <a:spcAft>
                          <a:spcPts val="600"/>
                        </a:spcAft>
                        <a:buNone/>
                      </a:pPr>
                      <a:r>
                        <a:rPr lang="zh-CN" altLang="en-US" sz="1600"/>
                        <a:t>📅 </a:t>
                      </a:r>
                      <a:r>
                        <a:rPr lang="en-US" sz="1600"/>
                        <a:t>Keeps deadline fixed</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9521793"/>
                  </a:ext>
                </a:extLst>
              </a:tr>
              <a:tr h="432000">
                <a:tc>
                  <a:txBody>
                    <a:bodyPr/>
                    <a:lstStyle/>
                    <a:p>
                      <a:pPr algn="l" fontAlgn="ctr">
                        <a:spcBef>
                          <a:spcPts val="600"/>
                        </a:spcBef>
                        <a:spcAft>
                          <a:spcPts val="600"/>
                        </a:spcAft>
                        <a:buNone/>
                      </a:pPr>
                      <a:r>
                        <a:rPr lang="en-US" sz="1600" dirty="0"/>
                        <a:t>📆 Adjusts start / end dates</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Bef>
                          <a:spcPts val="600"/>
                        </a:spcBef>
                        <a:spcAft>
                          <a:spcPts val="600"/>
                        </a:spcAft>
                        <a:buNone/>
                      </a:pPr>
                      <a:r>
                        <a:rPr lang="zh-CN" altLang="en-US" sz="1600"/>
                        <a:t>🔁 </a:t>
                      </a:r>
                      <a:r>
                        <a:rPr lang="en-US" sz="1600"/>
                        <a:t>Redistributes tasks</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10189140"/>
                  </a:ext>
                </a:extLst>
              </a:tr>
              <a:tr h="432000">
                <a:tc>
                  <a:txBody>
                    <a:bodyPr/>
                    <a:lstStyle/>
                    <a:p>
                      <a:pPr algn="l" fontAlgn="ctr">
                        <a:spcBef>
                          <a:spcPts val="600"/>
                        </a:spcBef>
                        <a:spcAft>
                          <a:spcPts val="600"/>
                        </a:spcAft>
                        <a:buNone/>
                      </a:pPr>
                      <a:r>
                        <a:rPr lang="en-US" sz="1600" dirty="0"/>
                        <a:t>⚖️ Balances resource demand</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Bef>
                          <a:spcPts val="600"/>
                        </a:spcBef>
                        <a:spcAft>
                          <a:spcPts val="600"/>
                        </a:spcAft>
                        <a:buNone/>
                      </a:pPr>
                      <a:r>
                        <a:rPr lang="zh-CN" altLang="en-US" sz="1600" dirty="0"/>
                        <a:t>🛡️ </a:t>
                      </a:r>
                      <a:r>
                        <a:rPr lang="en-US" sz="1600" dirty="0"/>
                        <a:t>Prevents overburdening</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71542896"/>
                  </a:ext>
                </a:extLst>
              </a:tr>
              <a:tr h="432000">
                <a:tc>
                  <a:txBody>
                    <a:bodyPr/>
                    <a:lstStyle/>
                    <a:p>
                      <a:pPr algn="l" fontAlgn="ctr">
                        <a:spcBef>
                          <a:spcPts val="600"/>
                        </a:spcBef>
                        <a:spcAft>
                          <a:spcPts val="600"/>
                        </a:spcAft>
                        <a:buNone/>
                      </a:pPr>
                      <a:r>
                        <a:rPr lang="zh-CN" altLang="en-US" sz="1600" dirty="0"/>
                        <a:t>👷 </a:t>
                      </a:r>
                      <a:r>
                        <a:rPr lang="en-US" sz="1600" dirty="0"/>
                        <a:t>Resource constraints</a:t>
                      </a:r>
                      <a:r>
                        <a:rPr lang="zh-CN" altLang="en-US" sz="1600" dirty="0"/>
                        <a:t>；</a:t>
                      </a:r>
                      <a:r>
                        <a:rPr lang="en-US" sz="1600" dirty="0"/>
                        <a:t>Flexible deadlines</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Bef>
                          <a:spcPts val="600"/>
                        </a:spcBef>
                        <a:spcAft>
                          <a:spcPts val="600"/>
                        </a:spcAft>
                        <a:buNone/>
                      </a:pPr>
                      <a:r>
                        <a:rPr lang="zh-CN" altLang="en-US" sz="1600" dirty="0"/>
                        <a:t>✅ </a:t>
                      </a:r>
                      <a:r>
                        <a:rPr lang="en-US" sz="1600" dirty="0"/>
                        <a:t>Fixed deadlines</a:t>
                      </a:r>
                      <a:r>
                        <a:rPr lang="zh-CN" altLang="en-US" sz="1600" dirty="0"/>
                        <a:t>；</a:t>
                      </a:r>
                      <a:r>
                        <a:rPr lang="en-US" sz="1600" dirty="0"/>
                        <a:t>Consistent pace</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65181561"/>
                  </a:ext>
                </a:extLst>
              </a:tr>
            </a:tbl>
          </a:graphicData>
        </a:graphic>
      </p:graphicFrame>
    </p:spTree>
    <p:extLst>
      <p:ext uri="{BB962C8B-B14F-4D97-AF65-F5344CB8AC3E}">
        <p14:creationId xmlns:p14="http://schemas.microsoft.com/office/powerpoint/2010/main" val="1887398366"/>
      </p:ext>
    </p:extLst>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A6B00A-CA0C-001A-F233-09939BED1B13}"/>
              </a:ext>
            </a:extLst>
          </p:cNvPr>
          <p:cNvSpPr>
            <a:spLocks noGrp="1"/>
          </p:cNvSpPr>
          <p:nvPr>
            <p:ph type="title"/>
          </p:nvPr>
        </p:nvSpPr>
        <p:spPr>
          <a:xfrm>
            <a:off x="792000" y="360000"/>
            <a:ext cx="6375921" cy="429413"/>
          </a:xfrm>
        </p:spPr>
        <p:txBody>
          <a:bodyPr/>
          <a:lstStyle/>
          <a:p>
            <a:r>
              <a:rPr lang="en-US" altLang="zh-CN" dirty="0"/>
              <a:t>6. </a:t>
            </a:r>
            <a:r>
              <a:rPr lang="zh-CN" altLang="en-US" dirty="0"/>
              <a:t>敏捷项目进度计划</a:t>
            </a:r>
          </a:p>
        </p:txBody>
      </p:sp>
      <p:sp>
        <p:nvSpPr>
          <p:cNvPr id="4" name="内容占位符 3">
            <a:extLst>
              <a:ext uri="{FF2B5EF4-FFF2-40B4-BE49-F238E27FC236}">
                <a16:creationId xmlns:a16="http://schemas.microsoft.com/office/drawing/2014/main" id="{1387035A-2FE3-7BF9-5DF7-5FCE98C25641}"/>
              </a:ext>
            </a:extLst>
          </p:cNvPr>
          <p:cNvSpPr>
            <a:spLocks noGrp="1"/>
          </p:cNvSpPr>
          <p:nvPr>
            <p:ph idx="1"/>
          </p:nvPr>
        </p:nvSpPr>
        <p:spPr>
          <a:xfrm>
            <a:off x="696000" y="864000"/>
            <a:ext cx="10800000" cy="5400000"/>
          </a:xfrm>
        </p:spPr>
        <p:txBody>
          <a:bodyPr/>
          <a:lstStyle/>
          <a:p>
            <a:r>
              <a:rPr lang="en-US" altLang="zh-CN" dirty="0"/>
              <a:t>It is for u</a:t>
            </a:r>
            <a:endParaRPr lang="zh-CN" altLang="en-US" dirty="0"/>
          </a:p>
        </p:txBody>
      </p:sp>
      <p:sp>
        <p:nvSpPr>
          <p:cNvPr id="6" name="文本占位符 5">
            <a:extLst>
              <a:ext uri="{FF2B5EF4-FFF2-40B4-BE49-F238E27FC236}">
                <a16:creationId xmlns:a16="http://schemas.microsoft.com/office/drawing/2014/main" id="{A1B384D0-AA8C-E407-9416-496057025531}"/>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1370111000"/>
      </p:ext>
    </p:extLst>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a:extLst>
              <a:ext uri="{FF2B5EF4-FFF2-40B4-BE49-F238E27FC236}">
                <a16:creationId xmlns:a16="http://schemas.microsoft.com/office/drawing/2014/main" id="{AE3B8776-2DDA-B04B-9543-9EA90EA9173F}"/>
              </a:ext>
            </a:extLst>
          </p:cNvPr>
          <p:cNvSpPr>
            <a:spLocks noGrp="1"/>
          </p:cNvSpPr>
          <p:nvPr>
            <p:ph type="body" sz="quarter" idx="10"/>
          </p:nvPr>
        </p:nvSpPr>
        <p:spPr>
          <a:xfrm>
            <a:off x="3219345" y="1629000"/>
            <a:ext cx="8640000" cy="3600000"/>
          </a:xfrm>
        </p:spPr>
        <p:txBody>
          <a:bodyPr/>
          <a:lstStyle/>
          <a:p>
            <a:r>
              <a:rPr lang="zh-CN" altLang="en-US" dirty="0"/>
              <a:t>某公司与客户签订了一个系统集成项目合同，对于项目的范围和完成时间做出了明确的规定。在制定进度计划时，项目经理发现按照估算的活动时间和资源编制的进度计划无法满足合同工期，为了达到合同要求，项目经理不宜采用的方法是（ ）。</a:t>
            </a:r>
            <a:endParaRPr lang="en-US" altLang="zh-CN" dirty="0"/>
          </a:p>
          <a:p>
            <a:endParaRPr lang="zh-CN" altLang="en-US" dirty="0"/>
          </a:p>
          <a:p>
            <a:r>
              <a:rPr lang="en-US" altLang="zh-CN" dirty="0"/>
              <a:t>A. </a:t>
            </a:r>
            <a:r>
              <a:rPr lang="zh-CN" altLang="en-US" dirty="0"/>
              <a:t>赶工 </a:t>
            </a:r>
            <a:r>
              <a:rPr lang="en-US" altLang="zh-CN" dirty="0"/>
              <a:t>Crashing</a:t>
            </a:r>
            <a:endParaRPr lang="zh-CN" altLang="en-US" dirty="0"/>
          </a:p>
          <a:p>
            <a:r>
              <a:rPr lang="en-US" altLang="zh-CN" dirty="0"/>
              <a:t>B. </a:t>
            </a:r>
            <a:r>
              <a:rPr lang="zh-CN" altLang="en-US" dirty="0"/>
              <a:t>并行施工 </a:t>
            </a:r>
            <a:r>
              <a:rPr lang="en-US" altLang="zh-CN" dirty="0"/>
              <a:t>Fast Tracking</a:t>
            </a:r>
            <a:endParaRPr lang="zh-CN" altLang="en-US" dirty="0"/>
          </a:p>
          <a:p>
            <a:r>
              <a:rPr lang="en-US" altLang="zh-CN" dirty="0"/>
              <a:t>C. </a:t>
            </a:r>
            <a:r>
              <a:rPr lang="zh-CN" altLang="en-US" dirty="0"/>
              <a:t>增加资源投入</a:t>
            </a:r>
          </a:p>
          <a:p>
            <a:r>
              <a:rPr lang="en-US" altLang="zh-CN" dirty="0"/>
              <a:t>D. </a:t>
            </a:r>
            <a:r>
              <a:rPr lang="zh-CN" altLang="en-US" dirty="0"/>
              <a:t>缩小项目范围</a:t>
            </a:r>
          </a:p>
        </p:txBody>
      </p:sp>
    </p:spTree>
    <p:extLst>
      <p:ext uri="{BB962C8B-B14F-4D97-AF65-F5344CB8AC3E}">
        <p14:creationId xmlns:p14="http://schemas.microsoft.com/office/powerpoint/2010/main" val="1256559890"/>
      </p:ext>
    </p:extLst>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表格 15">
            <a:extLst>
              <a:ext uri="{FF2B5EF4-FFF2-40B4-BE49-F238E27FC236}">
                <a16:creationId xmlns:a16="http://schemas.microsoft.com/office/drawing/2014/main" id="{A889A4D2-B80D-9B28-AF9B-2CB1764B173C}"/>
              </a:ext>
            </a:extLst>
          </p:cNvPr>
          <p:cNvGraphicFramePr>
            <a:graphicFrameLocks noGrp="1"/>
          </p:cNvGraphicFramePr>
          <p:nvPr>
            <p:extLst>
              <p:ext uri="{D42A27DB-BD31-4B8C-83A1-F6EECF244321}">
                <p14:modId xmlns:p14="http://schemas.microsoft.com/office/powerpoint/2010/main" val="731586518"/>
              </p:ext>
            </p:extLst>
          </p:nvPr>
        </p:nvGraphicFramePr>
        <p:xfrm>
          <a:off x="3219344" y="2344260"/>
          <a:ext cx="8640000" cy="3017520"/>
        </p:xfrm>
        <a:graphic>
          <a:graphicData uri="http://schemas.openxmlformats.org/drawingml/2006/table">
            <a:tbl>
              <a:tblPr/>
              <a:tblGrid>
                <a:gridCol w="2880000">
                  <a:extLst>
                    <a:ext uri="{9D8B030D-6E8A-4147-A177-3AD203B41FA5}">
                      <a16:colId xmlns:a16="http://schemas.microsoft.com/office/drawing/2014/main" val="2371716363"/>
                    </a:ext>
                  </a:extLst>
                </a:gridCol>
                <a:gridCol w="2880000">
                  <a:extLst>
                    <a:ext uri="{9D8B030D-6E8A-4147-A177-3AD203B41FA5}">
                      <a16:colId xmlns:a16="http://schemas.microsoft.com/office/drawing/2014/main" val="3918654137"/>
                    </a:ext>
                  </a:extLst>
                </a:gridCol>
                <a:gridCol w="2880000">
                  <a:extLst>
                    <a:ext uri="{9D8B030D-6E8A-4147-A177-3AD203B41FA5}">
                      <a16:colId xmlns:a16="http://schemas.microsoft.com/office/drawing/2014/main" val="2267508067"/>
                    </a:ext>
                  </a:extLst>
                </a:gridCol>
              </a:tblGrid>
              <a:tr h="323550">
                <a:tc>
                  <a:txBody>
                    <a:bodyPr/>
                    <a:lstStyle/>
                    <a:p>
                      <a:pPr>
                        <a:buNone/>
                      </a:pPr>
                      <a:r>
                        <a:rPr lang="zh-CN" altLang="en-US" sz="1600" b="0">
                          <a:solidFill>
                            <a:schemeClr val="tx1"/>
                          </a:solidFill>
                        </a:rPr>
                        <a:t>工作代号</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sz="1600" b="0">
                          <a:solidFill>
                            <a:schemeClr val="tx1"/>
                          </a:solidFill>
                        </a:rPr>
                        <a:t>紧前工作</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sz="1600" b="0">
                          <a:solidFill>
                            <a:schemeClr val="tx1"/>
                          </a:solidFill>
                        </a:rPr>
                        <a:t>计划工作历时</a:t>
                      </a:r>
                      <a:r>
                        <a:rPr lang="en-US" altLang="zh-CN" sz="1600" b="0">
                          <a:solidFill>
                            <a:schemeClr val="tx1"/>
                          </a:solidFill>
                        </a:rPr>
                        <a:t>/</a:t>
                      </a:r>
                      <a:r>
                        <a:rPr lang="zh-CN" altLang="en-US" sz="1600" b="0">
                          <a:solidFill>
                            <a:schemeClr val="tx1"/>
                          </a:solidFill>
                        </a:rPr>
                        <a:t>天</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802333"/>
                  </a:ext>
                </a:extLst>
              </a:tr>
              <a:tr h="323550">
                <a:tc>
                  <a:txBody>
                    <a:bodyPr/>
                    <a:lstStyle/>
                    <a:p>
                      <a:pPr>
                        <a:buNone/>
                      </a:pPr>
                      <a:r>
                        <a:rPr lang="en-US" sz="1600" b="0">
                          <a:solidFill>
                            <a:schemeClr val="tx1"/>
                          </a:solidFill>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tLang="zh-CN" sz="1600" b="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tLang="zh-CN" sz="1600" b="0">
                          <a:solidFill>
                            <a:schemeClr val="tx1"/>
                          </a:solidFill>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52081910"/>
                  </a:ext>
                </a:extLst>
              </a:tr>
              <a:tr h="323550">
                <a:tc>
                  <a:txBody>
                    <a:bodyPr/>
                    <a:lstStyle/>
                    <a:p>
                      <a:pPr>
                        <a:buNone/>
                      </a:pPr>
                      <a:r>
                        <a:rPr lang="en-US" sz="1600" b="0">
                          <a:solidFill>
                            <a:schemeClr val="tx1"/>
                          </a:solidFill>
                        </a:rPr>
                        <a:t>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0" dirty="0">
                          <a:solidFill>
                            <a:schemeClr val="tx1"/>
                          </a:solidFill>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tLang="zh-CN" sz="1600" b="0">
                          <a:solidFill>
                            <a:schemeClr val="tx1"/>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3277927"/>
                  </a:ext>
                </a:extLst>
              </a:tr>
              <a:tr h="323550">
                <a:tc>
                  <a:txBody>
                    <a:bodyPr/>
                    <a:lstStyle/>
                    <a:p>
                      <a:pPr>
                        <a:buNone/>
                      </a:pPr>
                      <a:r>
                        <a:rPr lang="en-US" sz="1600" b="0">
                          <a:solidFill>
                            <a:schemeClr val="tx1"/>
                          </a:solidFill>
                        </a:rPr>
                        <a: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0">
                          <a:solidFill>
                            <a:schemeClr val="tx1"/>
                          </a:solidFill>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tLang="zh-CN" sz="1600" b="0">
                          <a:solidFill>
                            <a:schemeClr val="tx1"/>
                          </a:solidFill>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61868069"/>
                  </a:ext>
                </a:extLst>
              </a:tr>
              <a:tr h="323550">
                <a:tc>
                  <a:txBody>
                    <a:bodyPr/>
                    <a:lstStyle/>
                    <a:p>
                      <a:pPr>
                        <a:buNone/>
                      </a:pPr>
                      <a:r>
                        <a:rPr lang="en-US" sz="1600" b="0" dirty="0">
                          <a:solidFill>
                            <a:schemeClr val="tx1"/>
                          </a:solidFill>
                        </a:rPr>
                        <a:t>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0">
                          <a:solidFill>
                            <a:schemeClr val="tx1"/>
                          </a:solidFill>
                        </a:rPr>
                        <a:t>B, 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tLang="zh-CN" sz="1600" b="0">
                          <a:solidFill>
                            <a:schemeClr val="tx1"/>
                          </a:solidFill>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3292863"/>
                  </a:ext>
                </a:extLst>
              </a:tr>
              <a:tr h="323550">
                <a:tc>
                  <a:txBody>
                    <a:bodyPr/>
                    <a:lstStyle/>
                    <a:p>
                      <a:pPr>
                        <a:buNone/>
                      </a:pPr>
                      <a:r>
                        <a:rPr lang="en-US" sz="1600" b="0">
                          <a:solidFill>
                            <a:schemeClr val="tx1"/>
                          </a:solidFill>
                        </a:rPr>
                        <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0">
                          <a:solidFill>
                            <a:schemeClr val="tx1"/>
                          </a:solidFill>
                        </a:rPr>
                        <a: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tLang="zh-CN" sz="1600" b="0">
                          <a:solidFill>
                            <a:schemeClr val="tx1"/>
                          </a:solidFill>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8767259"/>
                  </a:ext>
                </a:extLst>
              </a:tr>
              <a:tr h="323550">
                <a:tc>
                  <a:txBody>
                    <a:bodyPr/>
                    <a:lstStyle/>
                    <a:p>
                      <a:pPr>
                        <a:buNone/>
                      </a:pPr>
                      <a:r>
                        <a:rPr lang="en-US" sz="1600" b="0">
                          <a:solidFill>
                            <a:schemeClr val="tx1"/>
                          </a:solidFill>
                        </a:rPr>
                        <a:t>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0">
                          <a:solidFill>
                            <a:schemeClr val="tx1"/>
                          </a:solidFill>
                        </a:rPr>
                        <a:t>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tLang="zh-CN" sz="1600" b="0">
                          <a:solidFill>
                            <a:schemeClr val="tx1"/>
                          </a:solidFill>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42228622"/>
                  </a:ext>
                </a:extLst>
              </a:tr>
              <a:tr h="323550">
                <a:tc>
                  <a:txBody>
                    <a:bodyPr/>
                    <a:lstStyle/>
                    <a:p>
                      <a:pPr>
                        <a:buNone/>
                      </a:pPr>
                      <a:r>
                        <a:rPr lang="en-US" sz="1600" b="0">
                          <a:solidFill>
                            <a:schemeClr val="tx1"/>
                          </a:solidFill>
                        </a:rPr>
                        <a:t>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0">
                          <a:solidFill>
                            <a:schemeClr val="tx1"/>
                          </a:solidFill>
                        </a:rPr>
                        <a:t>D, 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tLang="zh-CN" sz="1600" b="0">
                          <a:solidFill>
                            <a:schemeClr val="tx1"/>
                          </a:solidFill>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25273505"/>
                  </a:ext>
                </a:extLst>
              </a:tr>
              <a:tr h="323550">
                <a:tc>
                  <a:txBody>
                    <a:bodyPr/>
                    <a:lstStyle/>
                    <a:p>
                      <a:pPr>
                        <a:buNone/>
                      </a:pPr>
                      <a:r>
                        <a:rPr lang="en-US" sz="1600" b="0">
                          <a:solidFill>
                            <a:schemeClr val="tx1"/>
                          </a:solidFill>
                        </a:rPr>
                        <a: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0">
                          <a:solidFill>
                            <a:schemeClr val="tx1"/>
                          </a:solidFill>
                        </a:rPr>
                        <a:t>F, 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tLang="zh-CN" sz="1600" b="0" dirty="0">
                          <a:solidFill>
                            <a:schemeClr val="tx1"/>
                          </a:solidFill>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3991613"/>
                  </a:ext>
                </a:extLst>
              </a:tr>
            </a:tbl>
          </a:graphicData>
        </a:graphic>
      </p:graphicFrame>
      <p:sp>
        <p:nvSpPr>
          <p:cNvPr id="17" name="文本占位符 16">
            <a:extLst>
              <a:ext uri="{FF2B5EF4-FFF2-40B4-BE49-F238E27FC236}">
                <a16:creationId xmlns:a16="http://schemas.microsoft.com/office/drawing/2014/main" id="{C5A9D0C3-5EA5-419A-E2EA-92E150888203}"/>
              </a:ext>
            </a:extLst>
          </p:cNvPr>
          <p:cNvSpPr>
            <a:spLocks noGrp="1"/>
          </p:cNvSpPr>
          <p:nvPr>
            <p:ph type="body" sz="quarter" idx="10"/>
          </p:nvPr>
        </p:nvSpPr>
        <p:spPr>
          <a:xfrm>
            <a:off x="3219345" y="1629000"/>
            <a:ext cx="8640000" cy="3600000"/>
          </a:xfrm>
        </p:spPr>
        <p:txBody>
          <a:bodyPr/>
          <a:lstStyle/>
          <a:p>
            <a:r>
              <a:rPr lang="zh-CN" altLang="en-US" dirty="0"/>
              <a:t>找出项目的关键路径 </a:t>
            </a:r>
            <a:r>
              <a:rPr lang="en-US" altLang="zh-CN" dirty="0"/>
              <a:t>Critical Path</a:t>
            </a:r>
            <a:r>
              <a:rPr lang="zh-CN" altLang="en-US" dirty="0"/>
              <a:t> 和总工期 </a:t>
            </a:r>
            <a:r>
              <a:rPr lang="en-US" altLang="zh-CN" dirty="0"/>
              <a:t>Project Duration</a:t>
            </a:r>
            <a:endParaRPr lang="zh-CN" altLang="en-US" dirty="0"/>
          </a:p>
        </p:txBody>
      </p:sp>
    </p:spTree>
    <p:extLst>
      <p:ext uri="{BB962C8B-B14F-4D97-AF65-F5344CB8AC3E}">
        <p14:creationId xmlns:p14="http://schemas.microsoft.com/office/powerpoint/2010/main" val="4097306134"/>
      </p:ext>
    </p:extLst>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CB949-84E8-8DA1-66F9-E4D9EDA6DD5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E4FF08B-DC21-AB20-B906-964C0598AE54}"/>
              </a:ext>
            </a:extLst>
          </p:cNvPr>
          <p:cNvSpPr>
            <a:spLocks noGrp="1"/>
          </p:cNvSpPr>
          <p:nvPr>
            <p:ph type="ctrTitle"/>
          </p:nvPr>
        </p:nvSpPr>
        <p:spPr>
          <a:xfrm>
            <a:off x="2464886" y="4681056"/>
            <a:ext cx="7262228" cy="798491"/>
          </a:xfrm>
        </p:spPr>
        <p:txBody>
          <a:bodyPr/>
          <a:lstStyle/>
          <a:p>
            <a:r>
              <a:rPr lang="zh-CN" altLang="en-US"/>
              <a:t>软件项目质量计划</a:t>
            </a:r>
          </a:p>
        </p:txBody>
      </p:sp>
      <p:sp>
        <p:nvSpPr>
          <p:cNvPr id="3" name="副标题 2">
            <a:extLst>
              <a:ext uri="{FF2B5EF4-FFF2-40B4-BE49-F238E27FC236}">
                <a16:creationId xmlns:a16="http://schemas.microsoft.com/office/drawing/2014/main" id="{CF173283-8CD8-5341-3326-924D69120130}"/>
              </a:ext>
            </a:extLst>
          </p:cNvPr>
          <p:cNvSpPr>
            <a:spLocks noGrp="1"/>
          </p:cNvSpPr>
          <p:nvPr>
            <p:ph type="subTitle" idx="1"/>
          </p:nvPr>
        </p:nvSpPr>
        <p:spPr>
          <a:xfrm>
            <a:off x="2464886" y="5479548"/>
            <a:ext cx="7262228" cy="458180"/>
          </a:xfrm>
        </p:spPr>
        <p:txBody>
          <a:bodyPr/>
          <a:lstStyle/>
          <a:p>
            <a:r>
              <a:rPr lang="en-US" altLang="zh-CN"/>
              <a:t>Section 6 Project Quality</a:t>
            </a:r>
            <a:endParaRPr lang="zh-CN" altLang="en-US"/>
          </a:p>
        </p:txBody>
      </p:sp>
      <p:sp>
        <p:nvSpPr>
          <p:cNvPr id="6" name="文本占位符 5">
            <a:extLst>
              <a:ext uri="{FF2B5EF4-FFF2-40B4-BE49-F238E27FC236}">
                <a16:creationId xmlns:a16="http://schemas.microsoft.com/office/drawing/2014/main" id="{93A5A236-7DF4-25DA-E597-A9C54C42FC92}"/>
              </a:ext>
            </a:extLst>
          </p:cNvPr>
          <p:cNvSpPr>
            <a:spLocks noGrp="1"/>
          </p:cNvSpPr>
          <p:nvPr>
            <p:ph type="body" sz="quarter" idx="11"/>
          </p:nvPr>
        </p:nvSpPr>
        <p:spPr>
          <a:xfrm>
            <a:off x="3883891" y="2047875"/>
            <a:ext cx="4424219" cy="2531269"/>
          </a:xfrm>
        </p:spPr>
        <p:txBody>
          <a:bodyPr/>
          <a:lstStyle/>
          <a:p>
            <a:r>
              <a:rPr lang="zh-CN" altLang="en-US" dirty="0"/>
              <a:t>概述</a:t>
            </a:r>
            <a:endParaRPr lang="en-US" altLang="zh-CN" dirty="0"/>
          </a:p>
          <a:p>
            <a:r>
              <a:rPr lang="zh-CN" altLang="en-US" dirty="0"/>
              <a:t>质量模型</a:t>
            </a:r>
            <a:endParaRPr lang="en-US" altLang="zh-CN" dirty="0"/>
          </a:p>
          <a:p>
            <a:r>
              <a:rPr lang="zh-CN" altLang="en-US" dirty="0"/>
              <a:t>质量活动</a:t>
            </a:r>
            <a:endParaRPr lang="en-US" altLang="zh-CN" dirty="0"/>
          </a:p>
          <a:p>
            <a:r>
              <a:rPr lang="zh-CN" altLang="en-US" dirty="0"/>
              <a:t>质量计划</a:t>
            </a:r>
            <a:endParaRPr lang="en-US" altLang="zh-CN" dirty="0"/>
          </a:p>
          <a:p>
            <a:r>
              <a:rPr lang="zh-CN" altLang="en-US" dirty="0"/>
              <a:t>敏捷项目质量管理</a:t>
            </a:r>
          </a:p>
        </p:txBody>
      </p:sp>
    </p:spTree>
    <p:extLst>
      <p:ext uri="{BB962C8B-B14F-4D97-AF65-F5344CB8AC3E}">
        <p14:creationId xmlns:p14="http://schemas.microsoft.com/office/powerpoint/2010/main" val="145729688"/>
      </p:ext>
    </p:extLst>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箭头: V 形 4">
            <a:extLst>
              <a:ext uri="{FF2B5EF4-FFF2-40B4-BE49-F238E27FC236}">
                <a16:creationId xmlns:a16="http://schemas.microsoft.com/office/drawing/2014/main" id="{4419CB50-EECA-956B-34C1-3951AA0AC5D1}"/>
              </a:ext>
            </a:extLst>
          </p:cNvPr>
          <p:cNvSpPr/>
          <p:nvPr/>
        </p:nvSpPr>
        <p:spPr>
          <a:xfrm>
            <a:off x="2454444" y="1897626"/>
            <a:ext cx="1800000" cy="360000"/>
          </a:xfrm>
          <a:prstGeom prst="chevron">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rPr>
              <a:t>项目开始</a:t>
            </a:r>
          </a:p>
        </p:txBody>
      </p:sp>
      <p:sp>
        <p:nvSpPr>
          <p:cNvPr id="6" name="箭头: V 形 5">
            <a:extLst>
              <a:ext uri="{FF2B5EF4-FFF2-40B4-BE49-F238E27FC236}">
                <a16:creationId xmlns:a16="http://schemas.microsoft.com/office/drawing/2014/main" id="{72A4452C-D6C7-C81B-81F1-FC14B5B0F286}"/>
              </a:ext>
            </a:extLst>
          </p:cNvPr>
          <p:cNvSpPr/>
          <p:nvPr/>
        </p:nvSpPr>
        <p:spPr>
          <a:xfrm>
            <a:off x="4180548" y="1897626"/>
            <a:ext cx="1800000" cy="360000"/>
          </a:xfrm>
          <a:prstGeom prst="chevron">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solidFill>
              </a:rPr>
              <a:t>项目计划</a:t>
            </a:r>
          </a:p>
        </p:txBody>
      </p:sp>
      <p:sp>
        <p:nvSpPr>
          <p:cNvPr id="7" name="箭头: V 形 6">
            <a:extLst>
              <a:ext uri="{FF2B5EF4-FFF2-40B4-BE49-F238E27FC236}">
                <a16:creationId xmlns:a16="http://schemas.microsoft.com/office/drawing/2014/main" id="{72ADBF6C-1431-F5A0-F147-A386ECEE5F17}"/>
              </a:ext>
            </a:extLst>
          </p:cNvPr>
          <p:cNvSpPr/>
          <p:nvPr/>
        </p:nvSpPr>
        <p:spPr>
          <a:xfrm>
            <a:off x="5906652" y="1897626"/>
            <a:ext cx="1800000" cy="360000"/>
          </a:xfrm>
          <a:prstGeom prst="chevron">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rPr>
              <a:t>项目执行控制</a:t>
            </a:r>
          </a:p>
        </p:txBody>
      </p:sp>
      <p:sp>
        <p:nvSpPr>
          <p:cNvPr id="8" name="箭头: V 形 7">
            <a:extLst>
              <a:ext uri="{FF2B5EF4-FFF2-40B4-BE49-F238E27FC236}">
                <a16:creationId xmlns:a16="http://schemas.microsoft.com/office/drawing/2014/main" id="{847F73E4-29C8-EC73-AF4F-9D0CD8DC9C64}"/>
              </a:ext>
            </a:extLst>
          </p:cNvPr>
          <p:cNvSpPr/>
          <p:nvPr/>
        </p:nvSpPr>
        <p:spPr>
          <a:xfrm>
            <a:off x="7632755" y="1897626"/>
            <a:ext cx="1800000" cy="360000"/>
          </a:xfrm>
          <a:prstGeom prst="chevron">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rPr>
              <a:t>项目结束</a:t>
            </a:r>
          </a:p>
        </p:txBody>
      </p:sp>
      <p:sp>
        <p:nvSpPr>
          <p:cNvPr id="9" name="矩形 8">
            <a:extLst>
              <a:ext uri="{FF2B5EF4-FFF2-40B4-BE49-F238E27FC236}">
                <a16:creationId xmlns:a16="http://schemas.microsoft.com/office/drawing/2014/main" id="{37857487-C250-0CA5-1A64-6BE37DE7D669}"/>
              </a:ext>
            </a:extLst>
          </p:cNvPr>
          <p:cNvSpPr/>
          <p:nvPr/>
        </p:nvSpPr>
        <p:spPr>
          <a:xfrm>
            <a:off x="3453041" y="2998839"/>
            <a:ext cx="430887" cy="2160000"/>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范围计划</a:t>
            </a:r>
          </a:p>
        </p:txBody>
      </p:sp>
      <p:sp>
        <p:nvSpPr>
          <p:cNvPr id="10" name="矩形 9">
            <a:extLst>
              <a:ext uri="{FF2B5EF4-FFF2-40B4-BE49-F238E27FC236}">
                <a16:creationId xmlns:a16="http://schemas.microsoft.com/office/drawing/2014/main" id="{21A7EE77-8D64-FDF0-3407-6DDD2FE94F83}"/>
              </a:ext>
            </a:extLst>
          </p:cNvPr>
          <p:cNvSpPr/>
          <p:nvPr/>
        </p:nvSpPr>
        <p:spPr>
          <a:xfrm>
            <a:off x="4147174" y="2998839"/>
            <a:ext cx="430887" cy="2160000"/>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成本计划</a:t>
            </a:r>
          </a:p>
        </p:txBody>
      </p:sp>
      <p:sp>
        <p:nvSpPr>
          <p:cNvPr id="11" name="矩形 10">
            <a:extLst>
              <a:ext uri="{FF2B5EF4-FFF2-40B4-BE49-F238E27FC236}">
                <a16:creationId xmlns:a16="http://schemas.microsoft.com/office/drawing/2014/main" id="{E0ECD4B7-D183-A110-4648-4D4F077EEB72}"/>
              </a:ext>
            </a:extLst>
          </p:cNvPr>
          <p:cNvSpPr/>
          <p:nvPr/>
        </p:nvSpPr>
        <p:spPr>
          <a:xfrm>
            <a:off x="4840750" y="2998839"/>
            <a:ext cx="430887" cy="2160000"/>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进度计划</a:t>
            </a:r>
          </a:p>
        </p:txBody>
      </p:sp>
      <p:sp>
        <p:nvSpPr>
          <p:cNvPr id="12" name="矩形 11">
            <a:extLst>
              <a:ext uri="{FF2B5EF4-FFF2-40B4-BE49-F238E27FC236}">
                <a16:creationId xmlns:a16="http://schemas.microsoft.com/office/drawing/2014/main" id="{C101687C-DFFA-973F-F3D9-3780627CAF45}"/>
              </a:ext>
            </a:extLst>
          </p:cNvPr>
          <p:cNvSpPr/>
          <p:nvPr/>
        </p:nvSpPr>
        <p:spPr>
          <a:xfrm>
            <a:off x="5534326" y="2998839"/>
            <a:ext cx="430887" cy="216000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bg1"/>
                </a:solidFill>
              </a:rPr>
              <a:t>质量计划</a:t>
            </a:r>
          </a:p>
        </p:txBody>
      </p:sp>
      <p:sp>
        <p:nvSpPr>
          <p:cNvPr id="13" name="矩形 12">
            <a:extLst>
              <a:ext uri="{FF2B5EF4-FFF2-40B4-BE49-F238E27FC236}">
                <a16:creationId xmlns:a16="http://schemas.microsoft.com/office/drawing/2014/main" id="{8F03AD73-D9BD-013B-A9CF-E6B3D0A032A3}"/>
              </a:ext>
            </a:extLst>
          </p:cNvPr>
          <p:cNvSpPr/>
          <p:nvPr/>
        </p:nvSpPr>
        <p:spPr>
          <a:xfrm>
            <a:off x="6227902" y="2998839"/>
            <a:ext cx="430887" cy="2160000"/>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配置管理计划</a:t>
            </a:r>
          </a:p>
        </p:txBody>
      </p:sp>
      <p:sp>
        <p:nvSpPr>
          <p:cNvPr id="14" name="矩形 13">
            <a:extLst>
              <a:ext uri="{FF2B5EF4-FFF2-40B4-BE49-F238E27FC236}">
                <a16:creationId xmlns:a16="http://schemas.microsoft.com/office/drawing/2014/main" id="{9E50933E-F86C-609F-EAFE-7090DBFE695C}"/>
              </a:ext>
            </a:extLst>
          </p:cNvPr>
          <p:cNvSpPr/>
          <p:nvPr/>
        </p:nvSpPr>
        <p:spPr>
          <a:xfrm>
            <a:off x="6921478" y="2998839"/>
            <a:ext cx="430887" cy="2160000"/>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团队计划</a:t>
            </a:r>
          </a:p>
        </p:txBody>
      </p:sp>
      <p:sp>
        <p:nvSpPr>
          <p:cNvPr id="15" name="矩形 14">
            <a:extLst>
              <a:ext uri="{FF2B5EF4-FFF2-40B4-BE49-F238E27FC236}">
                <a16:creationId xmlns:a16="http://schemas.microsoft.com/office/drawing/2014/main" id="{DD022715-79DA-47CE-BD99-C614DC8F4F33}"/>
              </a:ext>
            </a:extLst>
          </p:cNvPr>
          <p:cNvSpPr/>
          <p:nvPr/>
        </p:nvSpPr>
        <p:spPr>
          <a:xfrm>
            <a:off x="7615054" y="2998839"/>
            <a:ext cx="430887" cy="2160000"/>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风险计划</a:t>
            </a:r>
          </a:p>
        </p:txBody>
      </p:sp>
      <p:sp>
        <p:nvSpPr>
          <p:cNvPr id="16" name="矩形 15">
            <a:extLst>
              <a:ext uri="{FF2B5EF4-FFF2-40B4-BE49-F238E27FC236}">
                <a16:creationId xmlns:a16="http://schemas.microsoft.com/office/drawing/2014/main" id="{B17D68E6-828E-2FE8-AF80-5EA1C955E0C7}"/>
              </a:ext>
            </a:extLst>
          </p:cNvPr>
          <p:cNvSpPr/>
          <p:nvPr/>
        </p:nvSpPr>
        <p:spPr>
          <a:xfrm>
            <a:off x="8308629" y="2998839"/>
            <a:ext cx="430887" cy="2160000"/>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合同计划</a:t>
            </a:r>
          </a:p>
        </p:txBody>
      </p:sp>
      <p:sp>
        <p:nvSpPr>
          <p:cNvPr id="17" name="梯形 27">
            <a:extLst>
              <a:ext uri="{FF2B5EF4-FFF2-40B4-BE49-F238E27FC236}">
                <a16:creationId xmlns:a16="http://schemas.microsoft.com/office/drawing/2014/main" id="{F8F1EA29-2499-8283-7592-6D87F20B9B56}"/>
              </a:ext>
            </a:extLst>
          </p:cNvPr>
          <p:cNvSpPr/>
          <p:nvPr/>
        </p:nvSpPr>
        <p:spPr>
          <a:xfrm>
            <a:off x="3452485" y="2359742"/>
            <a:ext cx="5287031" cy="639097"/>
          </a:xfrm>
          <a:custGeom>
            <a:avLst/>
            <a:gdLst>
              <a:gd name="csX0" fmla="*/ 0 w 5287031"/>
              <a:gd name="csY0" fmla="*/ 629265 h 629265"/>
              <a:gd name="csX1" fmla="*/ 688259 w 5287031"/>
              <a:gd name="csY1" fmla="*/ 0 h 629265"/>
              <a:gd name="csX2" fmla="*/ 4598772 w 5287031"/>
              <a:gd name="csY2" fmla="*/ 0 h 629265"/>
              <a:gd name="csX3" fmla="*/ 5287031 w 5287031"/>
              <a:gd name="csY3" fmla="*/ 629265 h 629265"/>
              <a:gd name="csX4" fmla="*/ 0 w 5287031"/>
              <a:gd name="csY4" fmla="*/ 629265 h 629265"/>
              <a:gd name="csX0" fmla="*/ 0 w 5287031"/>
              <a:gd name="csY0" fmla="*/ 639097 h 639097"/>
              <a:gd name="csX1" fmla="*/ 688259 w 5287031"/>
              <a:gd name="csY1" fmla="*/ 9832 h 639097"/>
              <a:gd name="csX2" fmla="*/ 2327520 w 5287031"/>
              <a:gd name="csY2" fmla="*/ 0 h 639097"/>
              <a:gd name="csX3" fmla="*/ 5287031 w 5287031"/>
              <a:gd name="csY3" fmla="*/ 639097 h 639097"/>
              <a:gd name="csX4" fmla="*/ 0 w 5287031"/>
              <a:gd name="csY4" fmla="*/ 639097 h 639097"/>
            </a:gdLst>
            <a:ahLst/>
            <a:cxnLst>
              <a:cxn ang="0">
                <a:pos x="csX0" y="csY0"/>
              </a:cxn>
              <a:cxn ang="0">
                <a:pos x="csX1" y="csY1"/>
              </a:cxn>
              <a:cxn ang="0">
                <a:pos x="csX2" y="csY2"/>
              </a:cxn>
              <a:cxn ang="0">
                <a:pos x="csX3" y="csY3"/>
              </a:cxn>
              <a:cxn ang="0">
                <a:pos x="csX4" y="csY4"/>
              </a:cxn>
            </a:cxnLst>
            <a:rect l="l" t="t" r="r" b="b"/>
            <a:pathLst>
              <a:path w="5287031" h="639097">
                <a:moveTo>
                  <a:pt x="0" y="639097"/>
                </a:moveTo>
                <a:lnTo>
                  <a:pt x="688259" y="9832"/>
                </a:lnTo>
                <a:lnTo>
                  <a:pt x="2327520" y="0"/>
                </a:lnTo>
                <a:lnTo>
                  <a:pt x="5287031" y="639097"/>
                </a:lnTo>
                <a:lnTo>
                  <a:pt x="0" y="639097"/>
                </a:lnTo>
                <a:close/>
              </a:path>
            </a:pathLst>
          </a:custGeom>
          <a:gradFill flip="none" rotWithShape="1">
            <a:gsLst>
              <a:gs pos="0">
                <a:srgbClr val="00B0F0"/>
              </a:gs>
              <a:gs pos="100000">
                <a:schemeClr val="bg1">
                  <a:alpha val="0"/>
                </a:scheme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tx1"/>
              </a:solidFill>
            </a:endParaRPr>
          </a:p>
        </p:txBody>
      </p:sp>
    </p:spTree>
    <p:extLst>
      <p:ext uri="{BB962C8B-B14F-4D97-AF65-F5344CB8AC3E}">
        <p14:creationId xmlns:p14="http://schemas.microsoft.com/office/powerpoint/2010/main" val="2536096271"/>
      </p:ext>
    </p:extLst>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011C6-EDF2-D89D-2693-539E95B52F6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AFC69A5-1964-DEEA-2D91-9E94C58A0D31}"/>
              </a:ext>
            </a:extLst>
          </p:cNvPr>
          <p:cNvSpPr>
            <a:spLocks noGrp="1"/>
          </p:cNvSpPr>
          <p:nvPr>
            <p:ph type="title"/>
          </p:nvPr>
        </p:nvSpPr>
        <p:spPr>
          <a:xfrm>
            <a:off x="792000" y="360000"/>
            <a:ext cx="6375921" cy="429413"/>
          </a:xfrm>
        </p:spPr>
        <p:txBody>
          <a:bodyPr/>
          <a:lstStyle/>
          <a:p>
            <a:r>
              <a:rPr lang="en-US" altLang="zh-CN" dirty="0"/>
              <a:t>1.1 </a:t>
            </a:r>
            <a:r>
              <a:rPr lang="zh-CN" altLang="en-US" dirty="0"/>
              <a:t>质量定义</a:t>
            </a:r>
          </a:p>
        </p:txBody>
      </p:sp>
      <p:sp>
        <p:nvSpPr>
          <p:cNvPr id="3" name="内容占位符 2">
            <a:extLst>
              <a:ext uri="{FF2B5EF4-FFF2-40B4-BE49-F238E27FC236}">
                <a16:creationId xmlns:a16="http://schemas.microsoft.com/office/drawing/2014/main" id="{B72E2A8D-1DD4-A521-DB78-C3B5EFB708A0}"/>
              </a:ext>
            </a:extLst>
          </p:cNvPr>
          <p:cNvSpPr>
            <a:spLocks noGrp="1"/>
          </p:cNvSpPr>
          <p:nvPr>
            <p:ph idx="1"/>
          </p:nvPr>
        </p:nvSpPr>
        <p:spPr>
          <a:xfrm>
            <a:off x="696000" y="864000"/>
            <a:ext cx="10800000" cy="5400000"/>
          </a:xfrm>
        </p:spPr>
        <p:txBody>
          <a:bodyPr/>
          <a:lstStyle/>
          <a:p>
            <a:r>
              <a:rPr lang="zh-CN" altLang="en-US" dirty="0"/>
              <a:t>质量</a:t>
            </a:r>
            <a:endParaRPr lang="en-US" altLang="zh-CN" dirty="0"/>
          </a:p>
          <a:p>
            <a:pPr lvl="1"/>
            <a:r>
              <a:rPr lang="zh-CN" altLang="en-US" dirty="0"/>
              <a:t>满足要求的程度，包括符合规定的要求和满足顾客的隐含需求</a:t>
            </a:r>
            <a:endParaRPr lang="en-US" altLang="zh-CN" dirty="0"/>
          </a:p>
          <a:p>
            <a:r>
              <a:rPr lang="zh-CN" altLang="en-US" dirty="0"/>
              <a:t>软件质量</a:t>
            </a:r>
            <a:endParaRPr lang="en-US" altLang="zh-CN" dirty="0"/>
          </a:p>
          <a:p>
            <a:pPr lvl="1"/>
            <a:r>
              <a:rPr lang="zh-CN" altLang="en-US" dirty="0"/>
              <a:t>软件满足明确说明或者隐含的需求的程度</a:t>
            </a:r>
            <a:endParaRPr lang="en-US" altLang="zh-CN" dirty="0"/>
          </a:p>
        </p:txBody>
      </p:sp>
      <p:sp>
        <p:nvSpPr>
          <p:cNvPr id="10" name="文本占位符 9">
            <a:extLst>
              <a:ext uri="{FF2B5EF4-FFF2-40B4-BE49-F238E27FC236}">
                <a16:creationId xmlns:a16="http://schemas.microsoft.com/office/drawing/2014/main" id="{BFEBBD6D-63DB-D1A5-785B-1C807BE3FDE5}"/>
              </a:ext>
            </a:extLst>
          </p:cNvPr>
          <p:cNvSpPr>
            <a:spLocks noGrp="1"/>
          </p:cNvSpPr>
          <p:nvPr>
            <p:ph type="body" sz="quarter" idx="10"/>
          </p:nvPr>
        </p:nvSpPr>
        <p:spPr>
          <a:xfrm>
            <a:off x="7071919" y="448519"/>
            <a:ext cx="4424080" cy="338554"/>
          </a:xfrm>
        </p:spPr>
        <p:txBody>
          <a:bodyPr/>
          <a:lstStyle/>
          <a:p>
            <a:r>
              <a:rPr lang="en-US" altLang="zh-CN" dirty="0"/>
              <a:t>Concepts</a:t>
            </a:r>
            <a:endParaRPr lang="zh-CN" altLang="en-US" dirty="0"/>
          </a:p>
        </p:txBody>
      </p:sp>
      <p:sp>
        <p:nvSpPr>
          <p:cNvPr id="9" name="矩形 8">
            <a:extLst>
              <a:ext uri="{FF2B5EF4-FFF2-40B4-BE49-F238E27FC236}">
                <a16:creationId xmlns:a16="http://schemas.microsoft.com/office/drawing/2014/main" id="{9E5A5D05-7317-35A5-D437-8175ADD4EF5A}"/>
              </a:ext>
            </a:extLst>
          </p:cNvPr>
          <p:cNvSpPr/>
          <p:nvPr/>
        </p:nvSpPr>
        <p:spPr>
          <a:xfrm>
            <a:off x="5217432" y="2916717"/>
            <a:ext cx="144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软件质量</a:t>
            </a:r>
          </a:p>
        </p:txBody>
      </p:sp>
      <p:sp>
        <p:nvSpPr>
          <p:cNvPr id="11" name="矩形 10">
            <a:extLst>
              <a:ext uri="{FF2B5EF4-FFF2-40B4-BE49-F238E27FC236}">
                <a16:creationId xmlns:a16="http://schemas.microsoft.com/office/drawing/2014/main" id="{790AA0F8-73D6-997F-2D5E-D3C683A16AA3}"/>
              </a:ext>
            </a:extLst>
          </p:cNvPr>
          <p:cNvSpPr/>
          <p:nvPr/>
        </p:nvSpPr>
        <p:spPr>
          <a:xfrm>
            <a:off x="4095821" y="3878489"/>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明确</a:t>
            </a:r>
          </a:p>
        </p:txBody>
      </p:sp>
      <p:sp>
        <p:nvSpPr>
          <p:cNvPr id="12" name="矩形 11">
            <a:extLst>
              <a:ext uri="{FF2B5EF4-FFF2-40B4-BE49-F238E27FC236}">
                <a16:creationId xmlns:a16="http://schemas.microsoft.com/office/drawing/2014/main" id="{7BD0F7D6-1599-6473-0C42-15E6EE9B60B7}"/>
              </a:ext>
            </a:extLst>
          </p:cNvPr>
          <p:cNvSpPr/>
          <p:nvPr/>
        </p:nvSpPr>
        <p:spPr>
          <a:xfrm>
            <a:off x="6699043" y="3878489"/>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隐含</a:t>
            </a:r>
          </a:p>
        </p:txBody>
      </p:sp>
      <p:sp>
        <p:nvSpPr>
          <p:cNvPr id="13" name="矩形 12">
            <a:extLst>
              <a:ext uri="{FF2B5EF4-FFF2-40B4-BE49-F238E27FC236}">
                <a16:creationId xmlns:a16="http://schemas.microsoft.com/office/drawing/2014/main" id="{BE2DB664-5C3D-BB76-A753-1E824968E0BF}"/>
              </a:ext>
            </a:extLst>
          </p:cNvPr>
          <p:cNvSpPr/>
          <p:nvPr/>
        </p:nvSpPr>
        <p:spPr>
          <a:xfrm>
            <a:off x="3517608" y="4660261"/>
            <a:ext cx="360000" cy="108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1600" dirty="0">
                <a:solidFill>
                  <a:schemeClr val="tx1"/>
                </a:solidFill>
              </a:rPr>
              <a:t>合同</a:t>
            </a:r>
          </a:p>
        </p:txBody>
      </p:sp>
      <p:sp>
        <p:nvSpPr>
          <p:cNvPr id="14" name="矩形 13">
            <a:extLst>
              <a:ext uri="{FF2B5EF4-FFF2-40B4-BE49-F238E27FC236}">
                <a16:creationId xmlns:a16="http://schemas.microsoft.com/office/drawing/2014/main" id="{B9765C22-706D-7CF0-AAE1-664871C0B1A7}"/>
              </a:ext>
            </a:extLst>
          </p:cNvPr>
          <p:cNvSpPr/>
          <p:nvPr/>
        </p:nvSpPr>
        <p:spPr>
          <a:xfrm>
            <a:off x="3986714" y="4660261"/>
            <a:ext cx="360000" cy="108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1600" dirty="0">
                <a:solidFill>
                  <a:schemeClr val="tx1"/>
                </a:solidFill>
              </a:rPr>
              <a:t>规定</a:t>
            </a:r>
          </a:p>
        </p:txBody>
      </p:sp>
      <p:sp>
        <p:nvSpPr>
          <p:cNvPr id="15" name="矩形 14">
            <a:extLst>
              <a:ext uri="{FF2B5EF4-FFF2-40B4-BE49-F238E27FC236}">
                <a16:creationId xmlns:a16="http://schemas.microsoft.com/office/drawing/2014/main" id="{9EBE50AA-5628-2D4B-8DD1-48F501BD8A19}"/>
              </a:ext>
            </a:extLst>
          </p:cNvPr>
          <p:cNvSpPr/>
          <p:nvPr/>
        </p:nvSpPr>
        <p:spPr>
          <a:xfrm>
            <a:off x="6734489" y="4660261"/>
            <a:ext cx="360000" cy="108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1600" dirty="0">
                <a:solidFill>
                  <a:schemeClr val="tx1"/>
                </a:solidFill>
              </a:rPr>
              <a:t>惯例</a:t>
            </a:r>
          </a:p>
        </p:txBody>
      </p:sp>
      <p:sp>
        <p:nvSpPr>
          <p:cNvPr id="16" name="矩形 15">
            <a:extLst>
              <a:ext uri="{FF2B5EF4-FFF2-40B4-BE49-F238E27FC236}">
                <a16:creationId xmlns:a16="http://schemas.microsoft.com/office/drawing/2014/main" id="{31C2EFB2-A787-EEE8-ABB3-41D53C7214E6}"/>
              </a:ext>
            </a:extLst>
          </p:cNvPr>
          <p:cNvSpPr/>
          <p:nvPr/>
        </p:nvSpPr>
        <p:spPr>
          <a:xfrm>
            <a:off x="7383596" y="4660261"/>
            <a:ext cx="360000" cy="108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1600" dirty="0">
                <a:solidFill>
                  <a:schemeClr val="tx1"/>
                </a:solidFill>
              </a:rPr>
              <a:t>期望</a:t>
            </a:r>
          </a:p>
        </p:txBody>
      </p:sp>
      <p:cxnSp>
        <p:nvCxnSpPr>
          <p:cNvPr id="17" name="连接符: 肘形 16">
            <a:extLst>
              <a:ext uri="{FF2B5EF4-FFF2-40B4-BE49-F238E27FC236}">
                <a16:creationId xmlns:a16="http://schemas.microsoft.com/office/drawing/2014/main" id="{12F72263-B708-9C9C-F5E0-518EF07EEE2A}"/>
              </a:ext>
            </a:extLst>
          </p:cNvPr>
          <p:cNvCxnSpPr>
            <a:cxnSpLocks/>
            <a:stCxn id="11" idx="0"/>
            <a:endCxn id="9" idx="2"/>
          </p:cNvCxnSpPr>
          <p:nvPr/>
        </p:nvCxnSpPr>
        <p:spPr>
          <a:xfrm rot="5400000" flipH="1" flipV="1">
            <a:off x="4985740" y="2926798"/>
            <a:ext cx="601772" cy="1301611"/>
          </a:xfrm>
          <a:prstGeom prst="bentConnector3">
            <a:avLst>
              <a:gd name="adj1" fmla="val 50000"/>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8" name="连接符: 肘形 17">
            <a:extLst>
              <a:ext uri="{FF2B5EF4-FFF2-40B4-BE49-F238E27FC236}">
                <a16:creationId xmlns:a16="http://schemas.microsoft.com/office/drawing/2014/main" id="{1FDA47A8-8479-A7E8-5929-3D80DC79F8F6}"/>
              </a:ext>
            </a:extLst>
          </p:cNvPr>
          <p:cNvCxnSpPr>
            <a:cxnSpLocks/>
            <a:stCxn id="12" idx="0"/>
            <a:endCxn id="9" idx="2"/>
          </p:cNvCxnSpPr>
          <p:nvPr/>
        </p:nvCxnSpPr>
        <p:spPr>
          <a:xfrm rot="16200000" flipV="1">
            <a:off x="6287352" y="2926797"/>
            <a:ext cx="601772" cy="1301611"/>
          </a:xfrm>
          <a:prstGeom prst="bentConnector3">
            <a:avLst>
              <a:gd name="adj1" fmla="val 50000"/>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9" name="连接符: 肘形 18">
            <a:extLst>
              <a:ext uri="{FF2B5EF4-FFF2-40B4-BE49-F238E27FC236}">
                <a16:creationId xmlns:a16="http://schemas.microsoft.com/office/drawing/2014/main" id="{B3687FEF-2405-5C3B-716B-E82B93A2706D}"/>
              </a:ext>
            </a:extLst>
          </p:cNvPr>
          <p:cNvCxnSpPr>
            <a:cxnSpLocks/>
            <a:stCxn id="11" idx="2"/>
          </p:cNvCxnSpPr>
          <p:nvPr/>
        </p:nvCxnSpPr>
        <p:spPr>
          <a:xfrm rot="5400000">
            <a:off x="3955829" y="3980269"/>
            <a:ext cx="421772" cy="938213"/>
          </a:xfrm>
          <a:prstGeom prst="bentConnector3">
            <a:avLst>
              <a:gd name="adj1" fmla="val 50000"/>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0" name="连接符: 肘形 19">
            <a:extLst>
              <a:ext uri="{FF2B5EF4-FFF2-40B4-BE49-F238E27FC236}">
                <a16:creationId xmlns:a16="http://schemas.microsoft.com/office/drawing/2014/main" id="{D4579161-C394-FCE5-9F0E-2249BF508173}"/>
              </a:ext>
            </a:extLst>
          </p:cNvPr>
          <p:cNvCxnSpPr>
            <a:cxnSpLocks/>
            <a:endCxn id="11" idx="2"/>
          </p:cNvCxnSpPr>
          <p:nvPr/>
        </p:nvCxnSpPr>
        <p:spPr>
          <a:xfrm rot="16200000" flipV="1">
            <a:off x="4894041" y="3980269"/>
            <a:ext cx="421772" cy="938212"/>
          </a:xfrm>
          <a:prstGeom prst="bentConnector3">
            <a:avLst>
              <a:gd name="adj1" fmla="val 50000"/>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1" name="连接符: 肘形 20">
            <a:extLst>
              <a:ext uri="{FF2B5EF4-FFF2-40B4-BE49-F238E27FC236}">
                <a16:creationId xmlns:a16="http://schemas.microsoft.com/office/drawing/2014/main" id="{1F3F93EB-2637-B5F7-C3EB-CCB163C9A301}"/>
              </a:ext>
            </a:extLst>
          </p:cNvPr>
          <p:cNvCxnSpPr>
            <a:cxnSpLocks/>
            <a:stCxn id="12" idx="2"/>
          </p:cNvCxnSpPr>
          <p:nvPr/>
        </p:nvCxnSpPr>
        <p:spPr>
          <a:xfrm rot="5400000">
            <a:off x="6865880" y="4287098"/>
            <a:ext cx="421772" cy="324554"/>
          </a:xfrm>
          <a:prstGeom prst="bentConnector3">
            <a:avLst>
              <a:gd name="adj1" fmla="val 50000"/>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2" name="连接符: 肘形 21">
            <a:extLst>
              <a:ext uri="{FF2B5EF4-FFF2-40B4-BE49-F238E27FC236}">
                <a16:creationId xmlns:a16="http://schemas.microsoft.com/office/drawing/2014/main" id="{EAB3036E-1356-0C14-9432-6582F59DEB4F}"/>
              </a:ext>
            </a:extLst>
          </p:cNvPr>
          <p:cNvCxnSpPr>
            <a:cxnSpLocks/>
            <a:endCxn id="12" idx="2"/>
          </p:cNvCxnSpPr>
          <p:nvPr/>
        </p:nvCxnSpPr>
        <p:spPr>
          <a:xfrm rot="16200000" flipV="1">
            <a:off x="7190434" y="4287098"/>
            <a:ext cx="421772" cy="324553"/>
          </a:xfrm>
          <a:prstGeom prst="bentConnector3">
            <a:avLst>
              <a:gd name="adj1" fmla="val 50000"/>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5BE52B0C-BCF3-0A42-EF2C-46F366C6BC13}"/>
              </a:ext>
            </a:extLst>
          </p:cNvPr>
          <p:cNvSpPr/>
          <p:nvPr/>
        </p:nvSpPr>
        <p:spPr>
          <a:xfrm>
            <a:off x="5394033" y="4660261"/>
            <a:ext cx="360000" cy="108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1600" dirty="0">
                <a:solidFill>
                  <a:schemeClr val="tx1"/>
                </a:solidFill>
              </a:rPr>
              <a:t>标准</a:t>
            </a:r>
          </a:p>
        </p:txBody>
      </p:sp>
      <p:sp>
        <p:nvSpPr>
          <p:cNvPr id="24" name="矩形 23">
            <a:extLst>
              <a:ext uri="{FF2B5EF4-FFF2-40B4-BE49-F238E27FC236}">
                <a16:creationId xmlns:a16="http://schemas.microsoft.com/office/drawing/2014/main" id="{0B11E853-5EF7-6E1E-9D86-F09D4F11F62E}"/>
              </a:ext>
            </a:extLst>
          </p:cNvPr>
          <p:cNvSpPr/>
          <p:nvPr/>
        </p:nvSpPr>
        <p:spPr>
          <a:xfrm>
            <a:off x="4455820" y="4660261"/>
            <a:ext cx="360000" cy="108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1600" dirty="0">
                <a:solidFill>
                  <a:schemeClr val="tx1"/>
                </a:solidFill>
              </a:rPr>
              <a:t>图纸</a:t>
            </a:r>
          </a:p>
        </p:txBody>
      </p:sp>
      <p:sp>
        <p:nvSpPr>
          <p:cNvPr id="25" name="矩形 24">
            <a:extLst>
              <a:ext uri="{FF2B5EF4-FFF2-40B4-BE49-F238E27FC236}">
                <a16:creationId xmlns:a16="http://schemas.microsoft.com/office/drawing/2014/main" id="{B6FB8478-FF3D-9C55-6096-672ED04C172B}"/>
              </a:ext>
            </a:extLst>
          </p:cNvPr>
          <p:cNvSpPr/>
          <p:nvPr/>
        </p:nvSpPr>
        <p:spPr>
          <a:xfrm>
            <a:off x="4924926" y="4660261"/>
            <a:ext cx="360000" cy="108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1600" dirty="0">
                <a:solidFill>
                  <a:schemeClr val="tx1"/>
                </a:solidFill>
              </a:rPr>
              <a:t>规范</a:t>
            </a:r>
          </a:p>
        </p:txBody>
      </p:sp>
    </p:spTree>
    <p:extLst>
      <p:ext uri="{BB962C8B-B14F-4D97-AF65-F5344CB8AC3E}">
        <p14:creationId xmlns:p14="http://schemas.microsoft.com/office/powerpoint/2010/main" val="3330411030"/>
      </p:ext>
    </p:extLst>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AB96AB-B2B3-DBE4-D202-067F231F1476}"/>
              </a:ext>
            </a:extLst>
          </p:cNvPr>
          <p:cNvSpPr>
            <a:spLocks noGrp="1"/>
          </p:cNvSpPr>
          <p:nvPr>
            <p:ph type="title"/>
          </p:nvPr>
        </p:nvSpPr>
        <p:spPr>
          <a:xfrm>
            <a:off x="792000" y="360000"/>
            <a:ext cx="6375921" cy="429413"/>
          </a:xfrm>
          <a:ln>
            <a:noFill/>
          </a:ln>
        </p:spPr>
        <p:txBody>
          <a:bodyPr/>
          <a:lstStyle/>
          <a:p>
            <a:r>
              <a:rPr lang="en-US" altLang="zh-CN" dirty="0"/>
              <a:t>1.2 </a:t>
            </a:r>
            <a:r>
              <a:rPr lang="zh-CN" altLang="en-US" dirty="0"/>
              <a:t>软件质量成本</a:t>
            </a:r>
          </a:p>
        </p:txBody>
      </p:sp>
      <p:sp>
        <p:nvSpPr>
          <p:cNvPr id="10" name="内容占位符 9">
            <a:extLst>
              <a:ext uri="{FF2B5EF4-FFF2-40B4-BE49-F238E27FC236}">
                <a16:creationId xmlns:a16="http://schemas.microsoft.com/office/drawing/2014/main" id="{7A54CE86-28F5-A837-6D46-E7D2A60F8547}"/>
              </a:ext>
            </a:extLst>
          </p:cNvPr>
          <p:cNvSpPr>
            <a:spLocks noGrp="1"/>
          </p:cNvSpPr>
          <p:nvPr>
            <p:ph idx="1"/>
          </p:nvPr>
        </p:nvSpPr>
        <p:spPr>
          <a:xfrm>
            <a:off x="696000" y="864000"/>
            <a:ext cx="10800000" cy="5400000"/>
          </a:xfrm>
          <a:ln>
            <a:solidFill>
              <a:schemeClr val="tx1"/>
            </a:solidFill>
          </a:ln>
        </p:spPr>
        <p:txBody>
          <a:bodyPr/>
          <a:lstStyle/>
          <a:p>
            <a:r>
              <a:rPr lang="en-US" altLang="zh-CN" dirty="0"/>
              <a:t>Cost of Quality</a:t>
            </a:r>
          </a:p>
          <a:p>
            <a:r>
              <a:rPr lang="zh-CN" altLang="en-US" dirty="0"/>
              <a:t>为了质量，我们到底愿意花多少钱</a:t>
            </a:r>
            <a:endParaRPr lang="en-US" altLang="zh-CN" dirty="0"/>
          </a:p>
          <a:p>
            <a:endParaRPr lang="zh-CN" altLang="en-US" dirty="0"/>
          </a:p>
        </p:txBody>
      </p:sp>
      <p:sp>
        <p:nvSpPr>
          <p:cNvPr id="7" name="文本占位符 6">
            <a:extLst>
              <a:ext uri="{FF2B5EF4-FFF2-40B4-BE49-F238E27FC236}">
                <a16:creationId xmlns:a16="http://schemas.microsoft.com/office/drawing/2014/main" id="{6A6C3F95-BBFF-3C6E-763B-8EDDF0CF4226}"/>
              </a:ext>
            </a:extLst>
          </p:cNvPr>
          <p:cNvSpPr>
            <a:spLocks noGrp="1"/>
          </p:cNvSpPr>
          <p:nvPr>
            <p:ph type="body" sz="quarter" idx="10"/>
          </p:nvPr>
        </p:nvSpPr>
        <p:spPr>
          <a:xfrm>
            <a:off x="7071919" y="448519"/>
            <a:ext cx="4424080" cy="338554"/>
          </a:xfrm>
          <a:ln>
            <a:noFill/>
          </a:ln>
        </p:spPr>
        <p:txBody>
          <a:bodyPr/>
          <a:lstStyle/>
          <a:p>
            <a:r>
              <a:rPr lang="en-US" altLang="zh-CN" dirty="0" err="1"/>
              <a:t>CoQ</a:t>
            </a:r>
            <a:endParaRPr lang="zh-CN" altLang="en-US" dirty="0"/>
          </a:p>
        </p:txBody>
      </p:sp>
      <p:sp>
        <p:nvSpPr>
          <p:cNvPr id="33" name="矩形 32">
            <a:extLst>
              <a:ext uri="{FF2B5EF4-FFF2-40B4-BE49-F238E27FC236}">
                <a16:creationId xmlns:a16="http://schemas.microsoft.com/office/drawing/2014/main" id="{C3551CF8-6284-0625-D43D-97B4B58FB60E}"/>
              </a:ext>
            </a:extLst>
          </p:cNvPr>
          <p:cNvSpPr/>
          <p:nvPr/>
        </p:nvSpPr>
        <p:spPr>
          <a:xfrm>
            <a:off x="1166814" y="3501002"/>
            <a:ext cx="1440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软件质量成本</a:t>
            </a:r>
          </a:p>
        </p:txBody>
      </p:sp>
      <p:sp>
        <p:nvSpPr>
          <p:cNvPr id="34" name="矩形 33">
            <a:extLst>
              <a:ext uri="{FF2B5EF4-FFF2-40B4-BE49-F238E27FC236}">
                <a16:creationId xmlns:a16="http://schemas.microsoft.com/office/drawing/2014/main" id="{07897850-DBD6-95CB-DF5D-7DE6FDB10BCD}"/>
              </a:ext>
            </a:extLst>
          </p:cNvPr>
          <p:cNvSpPr/>
          <p:nvPr/>
        </p:nvSpPr>
        <p:spPr>
          <a:xfrm>
            <a:off x="3188444" y="2486589"/>
            <a:ext cx="1584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预防成本</a:t>
            </a:r>
            <a:r>
              <a:rPr lang="en-US" altLang="zh-CN" sz="1600" dirty="0">
                <a:solidFill>
                  <a:schemeClr val="tx1"/>
                </a:solidFill>
              </a:rPr>
              <a:t>/</a:t>
            </a:r>
            <a:r>
              <a:rPr lang="zh-CN" altLang="en-US" sz="1600" dirty="0">
                <a:solidFill>
                  <a:schemeClr val="tx1"/>
                </a:solidFill>
              </a:rPr>
              <a:t>好钱</a:t>
            </a:r>
          </a:p>
        </p:txBody>
      </p:sp>
      <p:sp>
        <p:nvSpPr>
          <p:cNvPr id="35" name="矩形 34">
            <a:extLst>
              <a:ext uri="{FF2B5EF4-FFF2-40B4-BE49-F238E27FC236}">
                <a16:creationId xmlns:a16="http://schemas.microsoft.com/office/drawing/2014/main" id="{BBC04414-9245-B6F7-6A7B-B63FA1C9C573}"/>
              </a:ext>
            </a:extLst>
          </p:cNvPr>
          <p:cNvSpPr/>
          <p:nvPr/>
        </p:nvSpPr>
        <p:spPr>
          <a:xfrm>
            <a:off x="3188444" y="4515414"/>
            <a:ext cx="1584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缺陷成本</a:t>
            </a:r>
            <a:r>
              <a:rPr lang="en-US" altLang="zh-CN" sz="1600" dirty="0">
                <a:solidFill>
                  <a:schemeClr val="tx1"/>
                </a:solidFill>
              </a:rPr>
              <a:t>/</a:t>
            </a:r>
            <a:r>
              <a:rPr lang="zh-CN" altLang="en-US" sz="1600" dirty="0">
                <a:solidFill>
                  <a:schemeClr val="tx1"/>
                </a:solidFill>
              </a:rPr>
              <a:t>坏钱</a:t>
            </a:r>
          </a:p>
        </p:txBody>
      </p:sp>
      <p:sp>
        <p:nvSpPr>
          <p:cNvPr id="36" name="矩形 35">
            <a:extLst>
              <a:ext uri="{FF2B5EF4-FFF2-40B4-BE49-F238E27FC236}">
                <a16:creationId xmlns:a16="http://schemas.microsoft.com/office/drawing/2014/main" id="{32B0C962-2DB0-0801-7145-84E85EEB899E}"/>
              </a:ext>
            </a:extLst>
          </p:cNvPr>
          <p:cNvSpPr/>
          <p:nvPr/>
        </p:nvSpPr>
        <p:spPr>
          <a:xfrm>
            <a:off x="5286273" y="2004912"/>
            <a:ext cx="1440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预防费用</a:t>
            </a:r>
          </a:p>
        </p:txBody>
      </p:sp>
      <p:sp>
        <p:nvSpPr>
          <p:cNvPr id="37" name="矩形 36">
            <a:extLst>
              <a:ext uri="{FF2B5EF4-FFF2-40B4-BE49-F238E27FC236}">
                <a16:creationId xmlns:a16="http://schemas.microsoft.com/office/drawing/2014/main" id="{FA66D72D-BA09-CB5B-D25A-F6CAF615CF99}"/>
              </a:ext>
            </a:extLst>
          </p:cNvPr>
          <p:cNvSpPr/>
          <p:nvPr/>
        </p:nvSpPr>
        <p:spPr>
          <a:xfrm>
            <a:off x="5286273" y="2968267"/>
            <a:ext cx="1440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评估费用</a:t>
            </a:r>
          </a:p>
        </p:txBody>
      </p:sp>
      <p:sp>
        <p:nvSpPr>
          <p:cNvPr id="38" name="矩形 37">
            <a:extLst>
              <a:ext uri="{FF2B5EF4-FFF2-40B4-BE49-F238E27FC236}">
                <a16:creationId xmlns:a16="http://schemas.microsoft.com/office/drawing/2014/main" id="{055854AE-9591-8B1B-F216-1BCBE9F2DA3A}"/>
              </a:ext>
            </a:extLst>
          </p:cNvPr>
          <p:cNvSpPr/>
          <p:nvPr/>
        </p:nvSpPr>
        <p:spPr>
          <a:xfrm>
            <a:off x="5286273" y="4033737"/>
            <a:ext cx="1440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内部费用</a:t>
            </a:r>
          </a:p>
        </p:txBody>
      </p:sp>
      <p:sp>
        <p:nvSpPr>
          <p:cNvPr id="39" name="矩形 38">
            <a:extLst>
              <a:ext uri="{FF2B5EF4-FFF2-40B4-BE49-F238E27FC236}">
                <a16:creationId xmlns:a16="http://schemas.microsoft.com/office/drawing/2014/main" id="{F988A4D9-318A-14AF-868E-F9D4B690E6E6}"/>
              </a:ext>
            </a:extLst>
          </p:cNvPr>
          <p:cNvSpPr/>
          <p:nvPr/>
        </p:nvSpPr>
        <p:spPr>
          <a:xfrm>
            <a:off x="5286273" y="4997092"/>
            <a:ext cx="1440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外部费用</a:t>
            </a:r>
          </a:p>
        </p:txBody>
      </p:sp>
      <p:cxnSp>
        <p:nvCxnSpPr>
          <p:cNvPr id="41" name="连接符: 肘形 40">
            <a:extLst>
              <a:ext uri="{FF2B5EF4-FFF2-40B4-BE49-F238E27FC236}">
                <a16:creationId xmlns:a16="http://schemas.microsoft.com/office/drawing/2014/main" id="{EC8FF8D3-641E-8E42-9340-426CAD68D53E}"/>
              </a:ext>
            </a:extLst>
          </p:cNvPr>
          <p:cNvCxnSpPr>
            <a:stCxn id="34" idx="1"/>
            <a:endCxn id="33" idx="3"/>
          </p:cNvCxnSpPr>
          <p:nvPr/>
        </p:nvCxnSpPr>
        <p:spPr>
          <a:xfrm rot="10800000" flipV="1">
            <a:off x="2606814" y="2702588"/>
            <a:ext cx="581630" cy="1014413"/>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3" name="连接符: 肘形 42">
            <a:extLst>
              <a:ext uri="{FF2B5EF4-FFF2-40B4-BE49-F238E27FC236}">
                <a16:creationId xmlns:a16="http://schemas.microsoft.com/office/drawing/2014/main" id="{BF82AC24-EE6F-4F8C-9235-9BFDBE80D20A}"/>
              </a:ext>
            </a:extLst>
          </p:cNvPr>
          <p:cNvCxnSpPr>
            <a:stCxn id="35" idx="1"/>
            <a:endCxn id="33" idx="3"/>
          </p:cNvCxnSpPr>
          <p:nvPr/>
        </p:nvCxnSpPr>
        <p:spPr>
          <a:xfrm rot="10800000">
            <a:off x="2606814" y="3717002"/>
            <a:ext cx="581630" cy="1014412"/>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5" name="连接符: 肘形 44">
            <a:extLst>
              <a:ext uri="{FF2B5EF4-FFF2-40B4-BE49-F238E27FC236}">
                <a16:creationId xmlns:a16="http://schemas.microsoft.com/office/drawing/2014/main" id="{0E0C276E-CACA-B2F9-F8DE-9906A26120C9}"/>
              </a:ext>
            </a:extLst>
          </p:cNvPr>
          <p:cNvCxnSpPr>
            <a:stCxn id="34" idx="3"/>
            <a:endCxn id="36" idx="1"/>
          </p:cNvCxnSpPr>
          <p:nvPr/>
        </p:nvCxnSpPr>
        <p:spPr>
          <a:xfrm flipV="1">
            <a:off x="4772444" y="2220912"/>
            <a:ext cx="513829" cy="481677"/>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7" name="连接符: 肘形 46">
            <a:extLst>
              <a:ext uri="{FF2B5EF4-FFF2-40B4-BE49-F238E27FC236}">
                <a16:creationId xmlns:a16="http://schemas.microsoft.com/office/drawing/2014/main" id="{F5FA8674-7BD0-7AE4-0266-5CD5BEEBCA61}"/>
              </a:ext>
            </a:extLst>
          </p:cNvPr>
          <p:cNvCxnSpPr>
            <a:stCxn id="37" idx="1"/>
            <a:endCxn id="34" idx="3"/>
          </p:cNvCxnSpPr>
          <p:nvPr/>
        </p:nvCxnSpPr>
        <p:spPr>
          <a:xfrm rot="10800000">
            <a:off x="4772445" y="2702589"/>
            <a:ext cx="513829" cy="481678"/>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9" name="连接符: 肘形 48">
            <a:extLst>
              <a:ext uri="{FF2B5EF4-FFF2-40B4-BE49-F238E27FC236}">
                <a16:creationId xmlns:a16="http://schemas.microsoft.com/office/drawing/2014/main" id="{FDC5AD8D-6108-3460-2CC9-D8ADD89F2EE1}"/>
              </a:ext>
            </a:extLst>
          </p:cNvPr>
          <p:cNvCxnSpPr>
            <a:stCxn id="35" idx="3"/>
            <a:endCxn id="38" idx="1"/>
          </p:cNvCxnSpPr>
          <p:nvPr/>
        </p:nvCxnSpPr>
        <p:spPr>
          <a:xfrm flipV="1">
            <a:off x="4772444" y="4249737"/>
            <a:ext cx="513829" cy="481677"/>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1" name="连接符: 肘形 50">
            <a:extLst>
              <a:ext uri="{FF2B5EF4-FFF2-40B4-BE49-F238E27FC236}">
                <a16:creationId xmlns:a16="http://schemas.microsoft.com/office/drawing/2014/main" id="{4777F39F-C0C8-B838-5A99-3C3A250317A7}"/>
              </a:ext>
            </a:extLst>
          </p:cNvPr>
          <p:cNvCxnSpPr>
            <a:stCxn id="39" idx="1"/>
            <a:endCxn id="35" idx="3"/>
          </p:cNvCxnSpPr>
          <p:nvPr/>
        </p:nvCxnSpPr>
        <p:spPr>
          <a:xfrm rot="10800000">
            <a:off x="4772445" y="4731414"/>
            <a:ext cx="513829" cy="481678"/>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52" name="文本框 51">
            <a:extLst>
              <a:ext uri="{FF2B5EF4-FFF2-40B4-BE49-F238E27FC236}">
                <a16:creationId xmlns:a16="http://schemas.microsoft.com/office/drawing/2014/main" id="{E5AC6B7B-25BA-0016-940B-345079940E1A}"/>
              </a:ext>
            </a:extLst>
          </p:cNvPr>
          <p:cNvSpPr txBox="1"/>
          <p:nvPr/>
        </p:nvSpPr>
        <p:spPr>
          <a:xfrm>
            <a:off x="7286744" y="4080460"/>
            <a:ext cx="3946914" cy="338554"/>
          </a:xfrm>
          <a:prstGeom prst="rect">
            <a:avLst/>
          </a:prstGeom>
          <a:noFill/>
          <a:ln>
            <a:noFill/>
          </a:ln>
        </p:spPr>
        <p:txBody>
          <a:bodyPr wrap="none" rtlCol="0">
            <a:spAutoFit/>
          </a:bodyPr>
          <a:lstStyle/>
          <a:p>
            <a:pPr algn="l"/>
            <a:r>
              <a:rPr lang="zh-CN" altLang="en-US" sz="1600" dirty="0"/>
              <a:t>未发布，发现问题导致的成本；次品</a:t>
            </a:r>
            <a:r>
              <a:rPr lang="en-US" altLang="zh-CN" sz="1600" dirty="0"/>
              <a:t>/</a:t>
            </a:r>
            <a:r>
              <a:rPr lang="zh-CN" altLang="en-US" sz="1600" dirty="0"/>
              <a:t>样本</a:t>
            </a:r>
          </a:p>
        </p:txBody>
      </p:sp>
      <p:sp>
        <p:nvSpPr>
          <p:cNvPr id="53" name="文本框 52">
            <a:extLst>
              <a:ext uri="{FF2B5EF4-FFF2-40B4-BE49-F238E27FC236}">
                <a16:creationId xmlns:a16="http://schemas.microsoft.com/office/drawing/2014/main" id="{9A3B91BC-0ABB-501B-32E2-E877526F9880}"/>
              </a:ext>
            </a:extLst>
          </p:cNvPr>
          <p:cNvSpPr txBox="1"/>
          <p:nvPr/>
        </p:nvSpPr>
        <p:spPr>
          <a:xfrm>
            <a:off x="7286744" y="5049927"/>
            <a:ext cx="3877985" cy="338554"/>
          </a:xfrm>
          <a:prstGeom prst="rect">
            <a:avLst/>
          </a:prstGeom>
          <a:noFill/>
          <a:ln>
            <a:noFill/>
          </a:ln>
        </p:spPr>
        <p:txBody>
          <a:bodyPr wrap="none" rtlCol="0">
            <a:spAutoFit/>
          </a:bodyPr>
          <a:lstStyle/>
          <a:p>
            <a:pPr algn="l"/>
            <a:r>
              <a:rPr lang="zh-CN" altLang="en-US" sz="1600" dirty="0"/>
              <a:t>已发布，发现问题导致的成本；产品召回</a:t>
            </a:r>
          </a:p>
        </p:txBody>
      </p:sp>
      <p:cxnSp>
        <p:nvCxnSpPr>
          <p:cNvPr id="57" name="直接箭头连接符 56">
            <a:extLst>
              <a:ext uri="{FF2B5EF4-FFF2-40B4-BE49-F238E27FC236}">
                <a16:creationId xmlns:a16="http://schemas.microsoft.com/office/drawing/2014/main" id="{62DFE721-DED0-87A8-1E6C-A07CB1E72243}"/>
              </a:ext>
            </a:extLst>
          </p:cNvPr>
          <p:cNvCxnSpPr>
            <a:stCxn id="38" idx="3"/>
            <a:endCxn id="52" idx="1"/>
          </p:cNvCxnSpPr>
          <p:nvPr/>
        </p:nvCxnSpPr>
        <p:spPr>
          <a:xfrm>
            <a:off x="6726273" y="4249737"/>
            <a:ext cx="56047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9B9D9C8E-CCE9-285F-6328-D07AAB68BA5F}"/>
              </a:ext>
            </a:extLst>
          </p:cNvPr>
          <p:cNvCxnSpPr>
            <a:stCxn id="39" idx="3"/>
            <a:endCxn id="53" idx="1"/>
          </p:cNvCxnSpPr>
          <p:nvPr/>
        </p:nvCxnSpPr>
        <p:spPr>
          <a:xfrm>
            <a:off x="6726273" y="5213092"/>
            <a:ext cx="560471" cy="61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61" name="表格 60">
            <a:extLst>
              <a:ext uri="{FF2B5EF4-FFF2-40B4-BE49-F238E27FC236}">
                <a16:creationId xmlns:a16="http://schemas.microsoft.com/office/drawing/2014/main" id="{021E15C0-144F-9399-114D-7495D454AAA8}"/>
              </a:ext>
            </a:extLst>
          </p:cNvPr>
          <p:cNvGraphicFramePr>
            <a:graphicFrameLocks noGrp="1"/>
          </p:cNvGraphicFramePr>
          <p:nvPr>
            <p:extLst>
              <p:ext uri="{D42A27DB-BD31-4B8C-83A1-F6EECF244321}">
                <p14:modId xmlns:p14="http://schemas.microsoft.com/office/powerpoint/2010/main" val="2334527719"/>
              </p:ext>
            </p:extLst>
          </p:nvPr>
        </p:nvGraphicFramePr>
        <p:xfrm>
          <a:off x="9284494" y="1813400"/>
          <a:ext cx="2132700" cy="741680"/>
        </p:xfrm>
        <a:graphic>
          <a:graphicData uri="http://schemas.openxmlformats.org/drawingml/2006/table">
            <a:tbl>
              <a:tblPr firstRow="1" bandRow="1">
                <a:tableStyleId>{5C22544A-7EE6-4342-B048-85BDC9FD1C3A}</a:tableStyleId>
              </a:tblPr>
              <a:tblGrid>
                <a:gridCol w="1066350">
                  <a:extLst>
                    <a:ext uri="{9D8B030D-6E8A-4147-A177-3AD203B41FA5}">
                      <a16:colId xmlns:a16="http://schemas.microsoft.com/office/drawing/2014/main" val="3524449079"/>
                    </a:ext>
                  </a:extLst>
                </a:gridCol>
                <a:gridCol w="1066350">
                  <a:extLst>
                    <a:ext uri="{9D8B030D-6E8A-4147-A177-3AD203B41FA5}">
                      <a16:colId xmlns:a16="http://schemas.microsoft.com/office/drawing/2014/main" val="3362087381"/>
                    </a:ext>
                  </a:extLst>
                </a:gridCol>
              </a:tblGrid>
              <a:tr h="370840">
                <a:tc rowSpan="2">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zh-CN" altLang="en-US" sz="1600" b="0" dirty="0">
                          <a:solidFill>
                            <a:schemeClr val="tx1"/>
                          </a:solidFill>
                        </a:rPr>
                        <a:t>质检比 </a:t>
                      </a:r>
                      <a:r>
                        <a:rPr lang="en-US" altLang="zh-CN" sz="1600" b="0" dirty="0">
                          <a:solidFill>
                            <a:schemeClr val="tx1"/>
                          </a:solidFill>
                        </a:rPr>
                        <a:t>= </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zh-CN" altLang="en-US" sz="1600" b="0" dirty="0">
                          <a:solidFill>
                            <a:schemeClr val="tx1"/>
                          </a:solidFill>
                        </a:rPr>
                        <a:t>预防成本</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59782213"/>
                  </a:ext>
                </a:extLst>
              </a:tr>
              <a:tr h="370840">
                <a:tc vMerge="1">
                  <a:txBody>
                    <a:bodyPr/>
                    <a:lstStyle/>
                    <a:p>
                      <a:endParaRPr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l"/>
                      <a:r>
                        <a:rPr lang="zh-CN" altLang="en-US" sz="1600" b="0" dirty="0">
                          <a:solidFill>
                            <a:schemeClr val="tx1"/>
                          </a:solidFill>
                        </a:rPr>
                        <a:t>缺陷成本</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9537506"/>
                  </a:ext>
                </a:extLst>
              </a:tr>
            </a:tbl>
          </a:graphicData>
        </a:graphic>
      </p:graphicFrame>
    </p:spTree>
    <p:extLst>
      <p:ext uri="{BB962C8B-B14F-4D97-AF65-F5344CB8AC3E}">
        <p14:creationId xmlns:p14="http://schemas.microsoft.com/office/powerpoint/2010/main" val="1785849473"/>
      </p:ext>
    </p:extLst>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DD897CEC-EC18-8FA5-254D-FF572D2729E0}"/>
              </a:ext>
            </a:extLst>
          </p:cNvPr>
          <p:cNvSpPr txBox="1"/>
          <p:nvPr/>
        </p:nvSpPr>
        <p:spPr>
          <a:xfrm>
            <a:off x="2419350" y="3228975"/>
            <a:ext cx="7944804" cy="584775"/>
          </a:xfrm>
          <a:prstGeom prst="rect">
            <a:avLst/>
          </a:prstGeom>
          <a:noFill/>
        </p:spPr>
        <p:txBody>
          <a:bodyPr wrap="none" rtlCol="0">
            <a:spAutoFit/>
          </a:bodyPr>
          <a:lstStyle/>
          <a:p>
            <a:pPr algn="l"/>
            <a:r>
              <a:rPr lang="zh-CN" altLang="en-US" sz="1600" dirty="0"/>
              <a:t>杠杆效应：</a:t>
            </a:r>
          </a:p>
          <a:p>
            <a:pPr algn="l"/>
            <a:r>
              <a:rPr lang="zh-CN" altLang="en-US" sz="1600" dirty="0"/>
              <a:t>在“预防”上多花 </a:t>
            </a:r>
            <a:r>
              <a:rPr lang="en-US" altLang="zh-CN" sz="1600" dirty="0"/>
              <a:t>1 </a:t>
            </a:r>
            <a:r>
              <a:rPr lang="zh-CN" altLang="en-US" sz="1600" dirty="0"/>
              <a:t>块钱，就能在“内部修复”上省 </a:t>
            </a:r>
            <a:r>
              <a:rPr lang="en-US" altLang="zh-CN" sz="1600" dirty="0"/>
              <a:t>10 </a:t>
            </a:r>
            <a:r>
              <a:rPr lang="zh-CN" altLang="en-US" sz="1600" dirty="0"/>
              <a:t>块钱，在“外部修复”上省 </a:t>
            </a:r>
            <a:r>
              <a:rPr lang="en-US" altLang="zh-CN" sz="1600" dirty="0"/>
              <a:t>100 </a:t>
            </a:r>
            <a:r>
              <a:rPr lang="zh-CN" altLang="en-US" sz="1600" dirty="0"/>
              <a:t>块钱。</a:t>
            </a:r>
          </a:p>
        </p:txBody>
      </p:sp>
      <p:sp>
        <p:nvSpPr>
          <p:cNvPr id="8" name="文本框 7">
            <a:extLst>
              <a:ext uri="{FF2B5EF4-FFF2-40B4-BE49-F238E27FC236}">
                <a16:creationId xmlns:a16="http://schemas.microsoft.com/office/drawing/2014/main" id="{790982B4-DD9D-6AA9-6F28-A9B925D85A95}"/>
              </a:ext>
            </a:extLst>
          </p:cNvPr>
          <p:cNvSpPr txBox="1"/>
          <p:nvPr/>
        </p:nvSpPr>
        <p:spPr>
          <a:xfrm>
            <a:off x="2419350" y="2705755"/>
            <a:ext cx="2249334" cy="523220"/>
          </a:xfrm>
          <a:prstGeom prst="rect">
            <a:avLst/>
          </a:prstGeom>
          <a:noFill/>
        </p:spPr>
        <p:txBody>
          <a:bodyPr wrap="none" rtlCol="0">
            <a:spAutoFit/>
          </a:bodyPr>
          <a:lstStyle/>
          <a:p>
            <a:pPr algn="l"/>
            <a:r>
              <a:rPr lang="en-US" altLang="zh-CN" sz="2800" dirty="0">
                <a:solidFill>
                  <a:srgbClr val="2E75B6"/>
                </a:solidFill>
              </a:rPr>
              <a:t>1:10:100 </a:t>
            </a:r>
            <a:r>
              <a:rPr lang="zh-CN" altLang="en-US" sz="2800" dirty="0">
                <a:solidFill>
                  <a:srgbClr val="2E75B6"/>
                </a:solidFill>
              </a:rPr>
              <a:t>法则</a:t>
            </a:r>
          </a:p>
        </p:txBody>
      </p:sp>
    </p:spTree>
    <p:extLst>
      <p:ext uri="{BB962C8B-B14F-4D97-AF65-F5344CB8AC3E}">
        <p14:creationId xmlns:p14="http://schemas.microsoft.com/office/powerpoint/2010/main" val="3677240983"/>
      </p:ext>
    </p:extLst>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2DB4D-720D-E128-9870-D21B06F7E81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FDC6138-23F0-3387-38B0-D87301E10C4D}"/>
              </a:ext>
            </a:extLst>
          </p:cNvPr>
          <p:cNvSpPr>
            <a:spLocks noGrp="1"/>
          </p:cNvSpPr>
          <p:nvPr>
            <p:ph type="title"/>
          </p:nvPr>
        </p:nvSpPr>
        <p:spPr>
          <a:xfrm>
            <a:off x="792000" y="360000"/>
            <a:ext cx="6375921" cy="429413"/>
          </a:xfrm>
        </p:spPr>
        <p:txBody>
          <a:bodyPr/>
          <a:lstStyle/>
          <a:p>
            <a:r>
              <a:rPr lang="en-US" altLang="zh-CN" dirty="0"/>
              <a:t>1.2.1 </a:t>
            </a:r>
            <a:r>
              <a:rPr lang="zh-CN" altLang="en-US" dirty="0"/>
              <a:t>预防成本</a:t>
            </a:r>
          </a:p>
        </p:txBody>
      </p:sp>
      <p:sp>
        <p:nvSpPr>
          <p:cNvPr id="10" name="内容占位符 9">
            <a:extLst>
              <a:ext uri="{FF2B5EF4-FFF2-40B4-BE49-F238E27FC236}">
                <a16:creationId xmlns:a16="http://schemas.microsoft.com/office/drawing/2014/main" id="{B01C6AF2-04D2-86C2-6B89-386A5C99ABF8}"/>
              </a:ext>
            </a:extLst>
          </p:cNvPr>
          <p:cNvSpPr>
            <a:spLocks noGrp="1"/>
          </p:cNvSpPr>
          <p:nvPr>
            <p:ph idx="1"/>
          </p:nvPr>
        </p:nvSpPr>
        <p:spPr>
          <a:xfrm>
            <a:off x="696000" y="864000"/>
            <a:ext cx="10800000" cy="5400000"/>
          </a:xfrm>
        </p:spPr>
        <p:txBody>
          <a:bodyPr/>
          <a:lstStyle/>
          <a:p>
            <a:r>
              <a:rPr lang="zh-CN" altLang="en-US" dirty="0"/>
              <a:t>前期质量成本</a:t>
            </a:r>
            <a:endParaRPr lang="en-US" altLang="zh-CN" dirty="0"/>
          </a:p>
          <a:p>
            <a:r>
              <a:rPr lang="zh-CN" altLang="en-US" dirty="0"/>
              <a:t>为了防止缺陷发生而投入的成本</a:t>
            </a:r>
            <a:endParaRPr lang="en-US" altLang="zh-CN" dirty="0"/>
          </a:p>
          <a:p>
            <a:r>
              <a:rPr lang="zh-CN" altLang="en-US" dirty="0"/>
              <a:t>包括：</a:t>
            </a:r>
            <a:endParaRPr lang="en-US" altLang="zh-CN" dirty="0"/>
          </a:p>
          <a:p>
            <a:pPr lvl="1"/>
            <a:r>
              <a:rPr lang="zh-CN" altLang="en-US" dirty="0"/>
              <a:t>预防费用</a:t>
            </a:r>
            <a:endParaRPr lang="en-US" altLang="zh-CN" dirty="0"/>
          </a:p>
          <a:p>
            <a:pPr lvl="1"/>
            <a:r>
              <a:rPr lang="zh-CN" altLang="en-US" dirty="0"/>
              <a:t>评估费用：为保证项目符合要求而进行缺陷检测所衍生的费用，如审计、测试</a:t>
            </a:r>
            <a:endParaRPr lang="en-US" altLang="zh-CN" dirty="0"/>
          </a:p>
          <a:p>
            <a:endParaRPr lang="zh-CN" altLang="en-US" dirty="0"/>
          </a:p>
        </p:txBody>
      </p:sp>
      <p:sp>
        <p:nvSpPr>
          <p:cNvPr id="7" name="文本占位符 6">
            <a:extLst>
              <a:ext uri="{FF2B5EF4-FFF2-40B4-BE49-F238E27FC236}">
                <a16:creationId xmlns:a16="http://schemas.microsoft.com/office/drawing/2014/main" id="{BED93B28-4B20-3F94-A05F-8726E5396110}"/>
              </a:ext>
            </a:extLst>
          </p:cNvPr>
          <p:cNvSpPr>
            <a:spLocks noGrp="1"/>
          </p:cNvSpPr>
          <p:nvPr>
            <p:ph type="body" sz="quarter" idx="10"/>
          </p:nvPr>
        </p:nvSpPr>
        <p:spPr>
          <a:xfrm>
            <a:off x="7071919" y="448519"/>
            <a:ext cx="4424080" cy="338554"/>
          </a:xfrm>
        </p:spPr>
        <p:txBody>
          <a:bodyPr/>
          <a:lstStyle/>
          <a:p>
            <a:r>
              <a:rPr lang="en-US" altLang="zh-CN" dirty="0" err="1"/>
              <a:t>CoQ</a:t>
            </a:r>
            <a:endParaRPr lang="zh-CN" altLang="en-US" dirty="0"/>
          </a:p>
        </p:txBody>
      </p:sp>
    </p:spTree>
    <p:extLst>
      <p:ext uri="{BB962C8B-B14F-4D97-AF65-F5344CB8AC3E}">
        <p14:creationId xmlns:p14="http://schemas.microsoft.com/office/powerpoint/2010/main" val="1620342117"/>
      </p:ext>
    </p:extLst>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C9FD5-A4AF-A67A-F599-75AAB3A49E2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5D709F0-C6C4-1FF3-C26C-5401FE21E28C}"/>
              </a:ext>
            </a:extLst>
          </p:cNvPr>
          <p:cNvSpPr>
            <a:spLocks noGrp="1"/>
          </p:cNvSpPr>
          <p:nvPr>
            <p:ph type="title"/>
          </p:nvPr>
        </p:nvSpPr>
        <p:spPr>
          <a:xfrm>
            <a:off x="792000" y="360000"/>
            <a:ext cx="6375921" cy="429413"/>
          </a:xfrm>
        </p:spPr>
        <p:txBody>
          <a:bodyPr/>
          <a:lstStyle/>
          <a:p>
            <a:r>
              <a:rPr lang="en-US" altLang="zh-CN" dirty="0"/>
              <a:t>1.2.2 </a:t>
            </a:r>
            <a:r>
              <a:rPr lang="zh-CN" altLang="en-US" dirty="0"/>
              <a:t>缺陷成本</a:t>
            </a:r>
          </a:p>
        </p:txBody>
      </p:sp>
      <p:sp>
        <p:nvSpPr>
          <p:cNvPr id="10" name="内容占位符 9">
            <a:extLst>
              <a:ext uri="{FF2B5EF4-FFF2-40B4-BE49-F238E27FC236}">
                <a16:creationId xmlns:a16="http://schemas.microsoft.com/office/drawing/2014/main" id="{06232408-D470-EA1D-D6B7-E0958EA874A9}"/>
              </a:ext>
            </a:extLst>
          </p:cNvPr>
          <p:cNvSpPr>
            <a:spLocks noGrp="1"/>
          </p:cNvSpPr>
          <p:nvPr>
            <p:ph idx="1"/>
          </p:nvPr>
        </p:nvSpPr>
        <p:spPr>
          <a:xfrm>
            <a:off x="696000" y="864000"/>
            <a:ext cx="10800000" cy="5400000"/>
          </a:xfrm>
        </p:spPr>
        <p:txBody>
          <a:bodyPr/>
          <a:lstStyle/>
          <a:p>
            <a:r>
              <a:rPr lang="zh-CN" altLang="en-US" dirty="0"/>
              <a:t>后期质量成本</a:t>
            </a:r>
            <a:endParaRPr lang="en-US" altLang="zh-CN" dirty="0"/>
          </a:p>
          <a:p>
            <a:r>
              <a:rPr lang="zh-CN" altLang="en-US" dirty="0"/>
              <a:t>为修复缺陷所消耗的成本</a:t>
            </a:r>
            <a:endParaRPr lang="en-US" altLang="zh-CN" dirty="0"/>
          </a:p>
          <a:p>
            <a:r>
              <a:rPr lang="zh-CN" altLang="en-US" dirty="0"/>
              <a:t>包括</a:t>
            </a:r>
            <a:endParaRPr lang="en-US" altLang="zh-CN" dirty="0"/>
          </a:p>
          <a:p>
            <a:pPr lvl="1"/>
            <a:r>
              <a:rPr lang="zh-CN" altLang="en-US" dirty="0"/>
              <a:t>内部费用</a:t>
            </a:r>
            <a:endParaRPr lang="en-US" altLang="zh-CN" dirty="0"/>
          </a:p>
          <a:p>
            <a:pPr lvl="1"/>
            <a:r>
              <a:rPr lang="zh-CN" altLang="en-US" dirty="0"/>
              <a:t>外部费用</a:t>
            </a:r>
          </a:p>
        </p:txBody>
      </p:sp>
      <p:sp>
        <p:nvSpPr>
          <p:cNvPr id="7" name="文本占位符 6">
            <a:extLst>
              <a:ext uri="{FF2B5EF4-FFF2-40B4-BE49-F238E27FC236}">
                <a16:creationId xmlns:a16="http://schemas.microsoft.com/office/drawing/2014/main" id="{45B3A1B1-EB6F-8037-6C1C-4C19BB2F5126}"/>
              </a:ext>
            </a:extLst>
          </p:cNvPr>
          <p:cNvSpPr>
            <a:spLocks noGrp="1"/>
          </p:cNvSpPr>
          <p:nvPr>
            <p:ph type="body" sz="quarter" idx="10"/>
          </p:nvPr>
        </p:nvSpPr>
        <p:spPr>
          <a:xfrm>
            <a:off x="7071919" y="448519"/>
            <a:ext cx="4424080" cy="338554"/>
          </a:xfrm>
        </p:spPr>
        <p:txBody>
          <a:bodyPr/>
          <a:lstStyle/>
          <a:p>
            <a:r>
              <a:rPr lang="en-US" altLang="zh-CN" dirty="0" err="1"/>
              <a:t>CoQ</a:t>
            </a:r>
            <a:endParaRPr lang="zh-CN" altLang="en-US" dirty="0"/>
          </a:p>
        </p:txBody>
      </p:sp>
    </p:spTree>
    <p:extLst>
      <p:ext uri="{BB962C8B-B14F-4D97-AF65-F5344CB8AC3E}">
        <p14:creationId xmlns:p14="http://schemas.microsoft.com/office/powerpoint/2010/main" val="401886061"/>
      </p:ext>
    </p:extLst>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2">
            <a:extLst>
              <a:ext uri="{FF2B5EF4-FFF2-40B4-BE49-F238E27FC236}">
                <a16:creationId xmlns:a16="http://schemas.microsoft.com/office/drawing/2014/main" id="{AD28A53F-C34C-C695-8282-E110C08C7152}"/>
              </a:ext>
            </a:extLst>
          </p:cNvPr>
          <p:cNvSpPr txBox="1"/>
          <p:nvPr/>
        </p:nvSpPr>
        <p:spPr>
          <a:xfrm>
            <a:off x="1056000" y="1603407"/>
            <a:ext cx="2659702" cy="400110"/>
          </a:xfrm>
          <a:prstGeom prst="rect">
            <a:avLst/>
          </a:prstGeom>
          <a:noFill/>
        </p:spPr>
        <p:txBody>
          <a:bodyPr wrap="none" rtlCol="0">
            <a:spAutoFit/>
          </a:bodyPr>
          <a:lstStyle/>
          <a:p>
            <a:r>
              <a:rPr lang="zh-CN" altLang="en-US" sz="2000" dirty="0"/>
              <a:t>判断题 </a:t>
            </a:r>
            <a:r>
              <a:rPr lang="en-US" altLang="zh-CN" sz="2000" dirty="0"/>
              <a:t>True or False</a:t>
            </a:r>
            <a:endParaRPr lang="zh-CN" altLang="en-US" sz="2000" dirty="0"/>
          </a:p>
        </p:txBody>
      </p:sp>
      <p:cxnSp>
        <p:nvCxnSpPr>
          <p:cNvPr id="6" name="Straight Connector 3">
            <a:extLst>
              <a:ext uri="{FF2B5EF4-FFF2-40B4-BE49-F238E27FC236}">
                <a16:creationId xmlns:a16="http://schemas.microsoft.com/office/drawing/2014/main" id="{15A875D4-FA54-20A5-B18B-08E4BAC3BE1D}"/>
              </a:ext>
            </a:extLst>
          </p:cNvPr>
          <p:cNvCxnSpPr>
            <a:cxnSpLocks/>
          </p:cNvCxnSpPr>
          <p:nvPr/>
        </p:nvCxnSpPr>
        <p:spPr>
          <a:xfrm>
            <a:off x="1056000" y="2003517"/>
            <a:ext cx="10080000" cy="0"/>
          </a:xfrm>
          <a:prstGeom prst="line">
            <a:avLst/>
          </a:prstGeom>
          <a:ln w="38100">
            <a:gradFill>
              <a:gsLst>
                <a:gs pos="70000">
                  <a:schemeClr val="accent2"/>
                </a:gs>
                <a:gs pos="0">
                  <a:schemeClr val="accent2"/>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7" name="TextBox 4">
            <a:extLst>
              <a:ext uri="{FF2B5EF4-FFF2-40B4-BE49-F238E27FC236}">
                <a16:creationId xmlns:a16="http://schemas.microsoft.com/office/drawing/2014/main" id="{0A5354EC-BED5-7B13-4F99-731112853658}"/>
              </a:ext>
            </a:extLst>
          </p:cNvPr>
          <p:cNvSpPr txBox="1"/>
          <p:nvPr/>
        </p:nvSpPr>
        <p:spPr>
          <a:xfrm>
            <a:off x="1056000" y="2003517"/>
            <a:ext cx="10080000" cy="369332"/>
          </a:xfrm>
          <a:prstGeom prst="rect">
            <a:avLst/>
          </a:prstGeom>
          <a:noFill/>
        </p:spPr>
        <p:txBody>
          <a:bodyPr wrap="square" rtlCol="0">
            <a:spAutoFit/>
          </a:bodyPr>
          <a:lstStyle/>
          <a:p>
            <a:pPr>
              <a:spcAft>
                <a:spcPts val="600"/>
              </a:spcAft>
            </a:pPr>
            <a:r>
              <a:rPr lang="zh-CN" altLang="en-US" dirty="0"/>
              <a:t>项目的质量可以通过后期的缺陷成本弥补。</a:t>
            </a:r>
          </a:p>
        </p:txBody>
      </p:sp>
    </p:spTree>
    <p:extLst>
      <p:ext uri="{BB962C8B-B14F-4D97-AF65-F5344CB8AC3E}">
        <p14:creationId xmlns:p14="http://schemas.microsoft.com/office/powerpoint/2010/main" val="1801730683"/>
      </p:ext>
    </p:extLst>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C9DF9F3E-DEFF-8DEB-A0A5-28FF4110E88A}"/>
              </a:ext>
            </a:extLst>
          </p:cNvPr>
          <p:cNvSpPr>
            <a:spLocks noGrp="1"/>
          </p:cNvSpPr>
          <p:nvPr>
            <p:ph type="title"/>
          </p:nvPr>
        </p:nvSpPr>
        <p:spPr>
          <a:xfrm>
            <a:off x="792000" y="360000"/>
            <a:ext cx="6375921" cy="429413"/>
          </a:xfrm>
        </p:spPr>
        <p:txBody>
          <a:bodyPr/>
          <a:lstStyle/>
          <a:p>
            <a:r>
              <a:rPr lang="en-US" altLang="zh-CN" dirty="0"/>
              <a:t>1.3 </a:t>
            </a:r>
            <a:r>
              <a:rPr lang="zh-CN" altLang="en-US" dirty="0"/>
              <a:t>质量管理对象</a:t>
            </a:r>
          </a:p>
        </p:txBody>
      </p:sp>
      <p:sp>
        <p:nvSpPr>
          <p:cNvPr id="11" name="内容占位符 10">
            <a:extLst>
              <a:ext uri="{FF2B5EF4-FFF2-40B4-BE49-F238E27FC236}">
                <a16:creationId xmlns:a16="http://schemas.microsoft.com/office/drawing/2014/main" id="{1CB0DFB1-A396-95DD-F908-4F6BFA86AAE1}"/>
              </a:ext>
            </a:extLst>
          </p:cNvPr>
          <p:cNvSpPr>
            <a:spLocks noGrp="1"/>
          </p:cNvSpPr>
          <p:nvPr>
            <p:ph idx="1"/>
          </p:nvPr>
        </p:nvSpPr>
        <p:spPr/>
        <p:txBody>
          <a:bodyPr/>
          <a:lstStyle/>
          <a:p>
            <a:endParaRPr lang="zh-CN" altLang="en-US"/>
          </a:p>
        </p:txBody>
      </p:sp>
      <p:sp>
        <p:nvSpPr>
          <p:cNvPr id="10" name="文本占位符 9">
            <a:extLst>
              <a:ext uri="{FF2B5EF4-FFF2-40B4-BE49-F238E27FC236}">
                <a16:creationId xmlns:a16="http://schemas.microsoft.com/office/drawing/2014/main" id="{F1FFEB03-D73C-A2E9-3379-F9B73521109C}"/>
              </a:ext>
            </a:extLst>
          </p:cNvPr>
          <p:cNvSpPr>
            <a:spLocks noGrp="1"/>
          </p:cNvSpPr>
          <p:nvPr>
            <p:ph type="body" sz="quarter" idx="10"/>
          </p:nvPr>
        </p:nvSpPr>
        <p:spPr>
          <a:xfrm>
            <a:off x="7071919" y="448519"/>
            <a:ext cx="4424080" cy="338554"/>
          </a:xfrm>
        </p:spPr>
        <p:txBody>
          <a:bodyPr/>
          <a:lstStyle/>
          <a:p>
            <a:r>
              <a:rPr lang="en-US" altLang="zh-CN" dirty="0"/>
              <a:t>Target</a:t>
            </a:r>
            <a:endParaRPr lang="zh-CN" altLang="en-US" dirty="0"/>
          </a:p>
        </p:txBody>
      </p:sp>
      <p:sp>
        <p:nvSpPr>
          <p:cNvPr id="2" name="矩形 1">
            <a:extLst>
              <a:ext uri="{FF2B5EF4-FFF2-40B4-BE49-F238E27FC236}">
                <a16:creationId xmlns:a16="http://schemas.microsoft.com/office/drawing/2014/main" id="{E156BE7A-1290-0B20-66CD-3D678A423A9F}"/>
              </a:ext>
            </a:extLst>
          </p:cNvPr>
          <p:cNvSpPr/>
          <p:nvPr/>
        </p:nvSpPr>
        <p:spPr>
          <a:xfrm>
            <a:off x="1166814" y="3501002"/>
            <a:ext cx="1440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质量管理对象</a:t>
            </a:r>
          </a:p>
        </p:txBody>
      </p:sp>
      <p:sp>
        <p:nvSpPr>
          <p:cNvPr id="4" name="矩形 3">
            <a:extLst>
              <a:ext uri="{FF2B5EF4-FFF2-40B4-BE49-F238E27FC236}">
                <a16:creationId xmlns:a16="http://schemas.microsoft.com/office/drawing/2014/main" id="{873B0223-3081-0A3D-1FD0-BF7E5C197B1D}"/>
              </a:ext>
            </a:extLst>
          </p:cNvPr>
          <p:cNvSpPr/>
          <p:nvPr/>
        </p:nvSpPr>
        <p:spPr>
          <a:xfrm>
            <a:off x="3226544" y="2486589"/>
            <a:ext cx="1440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产品质量</a:t>
            </a:r>
          </a:p>
        </p:txBody>
      </p:sp>
      <p:sp>
        <p:nvSpPr>
          <p:cNvPr id="5" name="矩形 4">
            <a:extLst>
              <a:ext uri="{FF2B5EF4-FFF2-40B4-BE49-F238E27FC236}">
                <a16:creationId xmlns:a16="http://schemas.microsoft.com/office/drawing/2014/main" id="{C3521446-1A9F-4024-0315-57C41C434898}"/>
              </a:ext>
            </a:extLst>
          </p:cNvPr>
          <p:cNvSpPr/>
          <p:nvPr/>
        </p:nvSpPr>
        <p:spPr>
          <a:xfrm>
            <a:off x="3226544" y="4515414"/>
            <a:ext cx="1440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过程质量</a:t>
            </a:r>
          </a:p>
        </p:txBody>
      </p:sp>
      <p:cxnSp>
        <p:nvCxnSpPr>
          <p:cNvPr id="7" name="连接符: 肘形 6">
            <a:extLst>
              <a:ext uri="{FF2B5EF4-FFF2-40B4-BE49-F238E27FC236}">
                <a16:creationId xmlns:a16="http://schemas.microsoft.com/office/drawing/2014/main" id="{8202D1C2-9D4D-F885-851F-53F64DBB99E0}"/>
              </a:ext>
            </a:extLst>
          </p:cNvPr>
          <p:cNvCxnSpPr>
            <a:stCxn id="4" idx="1"/>
            <a:endCxn id="2" idx="3"/>
          </p:cNvCxnSpPr>
          <p:nvPr/>
        </p:nvCxnSpPr>
        <p:spPr>
          <a:xfrm rot="10800000" flipV="1">
            <a:off x="2606814" y="2702588"/>
            <a:ext cx="619730" cy="1014413"/>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 name="连接符: 肘形 7">
            <a:extLst>
              <a:ext uri="{FF2B5EF4-FFF2-40B4-BE49-F238E27FC236}">
                <a16:creationId xmlns:a16="http://schemas.microsoft.com/office/drawing/2014/main" id="{8F3E7FC0-BA31-718D-9E6E-812E10D235F8}"/>
              </a:ext>
            </a:extLst>
          </p:cNvPr>
          <p:cNvCxnSpPr>
            <a:stCxn id="5" idx="1"/>
            <a:endCxn id="2" idx="3"/>
          </p:cNvCxnSpPr>
          <p:nvPr/>
        </p:nvCxnSpPr>
        <p:spPr>
          <a:xfrm rot="10800000">
            <a:off x="2606814" y="3717002"/>
            <a:ext cx="619730" cy="1014412"/>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0E34B9B9-9820-4246-FC56-E345AFB09444}"/>
              </a:ext>
            </a:extLst>
          </p:cNvPr>
          <p:cNvSpPr txBox="1"/>
          <p:nvPr/>
        </p:nvSpPr>
        <p:spPr>
          <a:xfrm>
            <a:off x="5353050" y="2517923"/>
            <a:ext cx="4339650" cy="369332"/>
          </a:xfrm>
          <a:prstGeom prst="rect">
            <a:avLst/>
          </a:prstGeom>
          <a:noFill/>
          <a:ln>
            <a:noFill/>
          </a:ln>
        </p:spPr>
        <p:txBody>
          <a:bodyPr wrap="none" rtlCol="0">
            <a:spAutoFit/>
          </a:bodyPr>
          <a:lstStyle/>
          <a:p>
            <a:r>
              <a:rPr lang="zh-CN" altLang="en-US" dirty="0"/>
              <a:t>符合设计要求、规格标准以及客户的期望</a:t>
            </a:r>
          </a:p>
        </p:txBody>
      </p:sp>
      <p:cxnSp>
        <p:nvCxnSpPr>
          <p:cNvPr id="15" name="直接箭头连接符 14">
            <a:extLst>
              <a:ext uri="{FF2B5EF4-FFF2-40B4-BE49-F238E27FC236}">
                <a16:creationId xmlns:a16="http://schemas.microsoft.com/office/drawing/2014/main" id="{9C85148F-D46A-3026-AFC8-E6F43A3D0A3B}"/>
              </a:ext>
            </a:extLst>
          </p:cNvPr>
          <p:cNvCxnSpPr>
            <a:stCxn id="4" idx="3"/>
            <a:endCxn id="13" idx="1"/>
          </p:cNvCxnSpPr>
          <p:nvPr/>
        </p:nvCxnSpPr>
        <p:spPr>
          <a:xfrm>
            <a:off x="4666544" y="2702589"/>
            <a:ext cx="68650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6110126"/>
      </p:ext>
    </p:extLst>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E50AA9-5272-6275-9A5F-032CB1343B16}"/>
              </a:ext>
            </a:extLst>
          </p:cNvPr>
          <p:cNvSpPr>
            <a:spLocks noGrp="1"/>
          </p:cNvSpPr>
          <p:nvPr>
            <p:ph type="title"/>
          </p:nvPr>
        </p:nvSpPr>
        <p:spPr>
          <a:xfrm>
            <a:off x="792000" y="360000"/>
            <a:ext cx="6375921" cy="429413"/>
          </a:xfrm>
        </p:spPr>
        <p:txBody>
          <a:bodyPr/>
          <a:lstStyle/>
          <a:p>
            <a:r>
              <a:rPr lang="en-US" altLang="zh-CN" dirty="0"/>
              <a:t>1.3 </a:t>
            </a:r>
            <a:r>
              <a:rPr lang="zh-CN" altLang="en-US" dirty="0"/>
              <a:t>质量管理对象</a:t>
            </a:r>
          </a:p>
        </p:txBody>
      </p:sp>
      <p:sp>
        <p:nvSpPr>
          <p:cNvPr id="8" name="内容占位符 7">
            <a:extLst>
              <a:ext uri="{FF2B5EF4-FFF2-40B4-BE49-F238E27FC236}">
                <a16:creationId xmlns:a16="http://schemas.microsoft.com/office/drawing/2014/main" id="{AE0BB0F9-480D-6B1F-6C24-8D937E53DF64}"/>
              </a:ext>
            </a:extLst>
          </p:cNvPr>
          <p:cNvSpPr>
            <a:spLocks noGrp="1"/>
          </p:cNvSpPr>
          <p:nvPr>
            <p:ph idx="1"/>
          </p:nvPr>
        </p:nvSpPr>
        <p:spPr/>
        <p:txBody>
          <a:bodyPr/>
          <a:lstStyle/>
          <a:p>
            <a:endParaRPr lang="zh-CN" altLang="en-US"/>
          </a:p>
        </p:txBody>
      </p:sp>
      <p:sp>
        <p:nvSpPr>
          <p:cNvPr id="4" name="文本占位符 3">
            <a:extLst>
              <a:ext uri="{FF2B5EF4-FFF2-40B4-BE49-F238E27FC236}">
                <a16:creationId xmlns:a16="http://schemas.microsoft.com/office/drawing/2014/main" id="{90E788DF-5940-A05F-D2F3-56FBC1356BEB}"/>
              </a:ext>
            </a:extLst>
          </p:cNvPr>
          <p:cNvSpPr>
            <a:spLocks noGrp="1"/>
          </p:cNvSpPr>
          <p:nvPr>
            <p:ph type="body" sz="quarter" idx="10"/>
          </p:nvPr>
        </p:nvSpPr>
        <p:spPr>
          <a:xfrm>
            <a:off x="7071919" y="448519"/>
            <a:ext cx="4424080" cy="338554"/>
          </a:xfrm>
        </p:spPr>
        <p:txBody>
          <a:bodyPr/>
          <a:lstStyle/>
          <a:p>
            <a:r>
              <a:rPr lang="en-US" altLang="zh-CN" dirty="0"/>
              <a:t>Target</a:t>
            </a:r>
            <a:endParaRPr lang="zh-CN" altLang="en-US" dirty="0"/>
          </a:p>
        </p:txBody>
      </p:sp>
      <p:graphicFrame>
        <p:nvGraphicFramePr>
          <p:cNvPr id="6" name="表格 5">
            <a:extLst>
              <a:ext uri="{FF2B5EF4-FFF2-40B4-BE49-F238E27FC236}">
                <a16:creationId xmlns:a16="http://schemas.microsoft.com/office/drawing/2014/main" id="{293F804C-E95B-8D99-D788-F14A5DDC7FE4}"/>
              </a:ext>
            </a:extLst>
          </p:cNvPr>
          <p:cNvGraphicFramePr>
            <a:graphicFrameLocks noGrp="1"/>
          </p:cNvGraphicFramePr>
          <p:nvPr>
            <p:extLst>
              <p:ext uri="{D42A27DB-BD31-4B8C-83A1-F6EECF244321}">
                <p14:modId xmlns:p14="http://schemas.microsoft.com/office/powerpoint/2010/main" val="3080296863"/>
              </p:ext>
            </p:extLst>
          </p:nvPr>
        </p:nvGraphicFramePr>
        <p:xfrm>
          <a:off x="695325" y="2720657"/>
          <a:ext cx="10801350" cy="2346960"/>
        </p:xfrm>
        <a:graphic>
          <a:graphicData uri="http://schemas.openxmlformats.org/drawingml/2006/table">
            <a:tbl>
              <a:tblPr/>
              <a:tblGrid>
                <a:gridCol w="3600450">
                  <a:extLst>
                    <a:ext uri="{9D8B030D-6E8A-4147-A177-3AD203B41FA5}">
                      <a16:colId xmlns:a16="http://schemas.microsoft.com/office/drawing/2014/main" val="329845390"/>
                    </a:ext>
                  </a:extLst>
                </a:gridCol>
                <a:gridCol w="3600450">
                  <a:extLst>
                    <a:ext uri="{9D8B030D-6E8A-4147-A177-3AD203B41FA5}">
                      <a16:colId xmlns:a16="http://schemas.microsoft.com/office/drawing/2014/main" val="2406780695"/>
                    </a:ext>
                  </a:extLst>
                </a:gridCol>
                <a:gridCol w="3600450">
                  <a:extLst>
                    <a:ext uri="{9D8B030D-6E8A-4147-A177-3AD203B41FA5}">
                      <a16:colId xmlns:a16="http://schemas.microsoft.com/office/drawing/2014/main" val="3960880473"/>
                    </a:ext>
                  </a:extLst>
                </a:gridCol>
              </a:tblGrid>
              <a:tr h="0">
                <a:tc>
                  <a:txBody>
                    <a:bodyPr/>
                    <a:lstStyle/>
                    <a:p>
                      <a:pPr algn="l">
                        <a:buNone/>
                      </a:pPr>
                      <a:r>
                        <a:rPr lang="zh-CN" altLang="en-US" sz="1600" b="0" dirty="0">
                          <a:solidFill>
                            <a:schemeClr val="tx1"/>
                          </a:solidFill>
                        </a:rPr>
                        <a:t>维度</a:t>
                      </a: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b="0" dirty="0">
                          <a:solidFill>
                            <a:schemeClr val="tx1"/>
                          </a:solidFill>
                        </a:rPr>
                        <a:t>产品质量</a:t>
                      </a: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b="0" dirty="0">
                          <a:solidFill>
                            <a:schemeClr val="tx1"/>
                          </a:solidFill>
                        </a:rPr>
                        <a:t>过程质量</a:t>
                      </a: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5316252"/>
                  </a:ext>
                </a:extLst>
              </a:tr>
              <a:tr h="0">
                <a:tc>
                  <a:txBody>
                    <a:bodyPr/>
                    <a:lstStyle/>
                    <a:p>
                      <a:pPr algn="l">
                        <a:buNone/>
                      </a:pPr>
                      <a:r>
                        <a:rPr lang="zh-CN" altLang="en-US" sz="1600" b="0" dirty="0">
                          <a:solidFill>
                            <a:schemeClr val="tx1"/>
                          </a:solidFill>
                        </a:rPr>
                        <a:t>关注点</a:t>
                      </a:r>
                    </a:p>
                  </a:txBody>
                  <a:tcPr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l">
                        <a:buNone/>
                      </a:pPr>
                      <a:r>
                        <a:rPr lang="zh-CN" altLang="en-US" sz="1600" b="0">
                          <a:solidFill>
                            <a:schemeClr val="tx1"/>
                          </a:solidFill>
                        </a:rPr>
                        <a:t>结果</a:t>
                      </a:r>
                    </a:p>
                  </a:txBody>
                  <a:tcPr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l">
                        <a:buNone/>
                      </a:pPr>
                      <a:r>
                        <a:rPr lang="zh-CN" altLang="en-US" sz="1600" b="0">
                          <a:solidFill>
                            <a:schemeClr val="tx1"/>
                          </a:solidFill>
                        </a:rPr>
                        <a:t>原因</a:t>
                      </a:r>
                      <a:r>
                        <a:rPr lang="en-US" altLang="zh-CN" sz="1600" b="0">
                          <a:solidFill>
                            <a:schemeClr val="tx1"/>
                          </a:solidFill>
                        </a:rPr>
                        <a:t>/</a:t>
                      </a:r>
                      <a:r>
                        <a:rPr lang="zh-CN" altLang="en-US" sz="1600" b="0">
                          <a:solidFill>
                            <a:schemeClr val="tx1"/>
                          </a:solidFill>
                        </a:rPr>
                        <a:t>手段</a:t>
                      </a:r>
                    </a:p>
                  </a:txBody>
                  <a:tcPr anchor="ctr">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755513336"/>
                  </a:ext>
                </a:extLst>
              </a:tr>
              <a:tr h="0">
                <a:tc>
                  <a:txBody>
                    <a:bodyPr/>
                    <a:lstStyle/>
                    <a:p>
                      <a:pPr algn="l">
                        <a:buNone/>
                      </a:pPr>
                      <a:r>
                        <a:rPr lang="zh-CN" altLang="en-US" sz="1600" b="0">
                          <a:solidFill>
                            <a:schemeClr val="tx1"/>
                          </a:solidFill>
                        </a:rPr>
                        <a:t>目标</a:t>
                      </a:r>
                    </a:p>
                  </a:txBody>
                  <a:tcPr anchor="ctr">
                    <a:lnL>
                      <a:noFill/>
                    </a:lnL>
                    <a:lnR>
                      <a:noFill/>
                    </a:lnR>
                    <a:lnT>
                      <a:noFill/>
                    </a:lnT>
                    <a:lnB>
                      <a:noFill/>
                    </a:lnB>
                    <a:noFill/>
                  </a:tcPr>
                </a:tc>
                <a:tc>
                  <a:txBody>
                    <a:bodyPr/>
                    <a:lstStyle/>
                    <a:p>
                      <a:pPr algn="l">
                        <a:buNone/>
                      </a:pPr>
                      <a:r>
                        <a:rPr lang="zh-CN" altLang="en-US" sz="1600" b="0">
                          <a:solidFill>
                            <a:schemeClr val="tx1"/>
                          </a:solidFill>
                        </a:rPr>
                        <a:t>满足客户需求</a:t>
                      </a:r>
                    </a:p>
                  </a:txBody>
                  <a:tcPr anchor="ctr">
                    <a:lnL>
                      <a:noFill/>
                    </a:lnL>
                    <a:lnR>
                      <a:noFill/>
                    </a:lnR>
                    <a:lnT>
                      <a:noFill/>
                    </a:lnT>
                    <a:lnB>
                      <a:noFill/>
                    </a:lnB>
                    <a:noFill/>
                  </a:tcPr>
                </a:tc>
                <a:tc>
                  <a:txBody>
                    <a:bodyPr/>
                    <a:lstStyle/>
                    <a:p>
                      <a:pPr algn="l">
                        <a:buNone/>
                      </a:pPr>
                      <a:r>
                        <a:rPr lang="zh-CN" altLang="en-US" sz="1600" b="0">
                          <a:solidFill>
                            <a:schemeClr val="tx1"/>
                          </a:solidFill>
                        </a:rPr>
                        <a:t>减少变异，提高效率</a:t>
                      </a:r>
                    </a:p>
                  </a:txBody>
                  <a:tcPr anchor="ctr">
                    <a:lnL>
                      <a:noFill/>
                    </a:lnL>
                    <a:lnR>
                      <a:noFill/>
                    </a:lnR>
                    <a:lnT>
                      <a:noFill/>
                    </a:lnT>
                    <a:lnB>
                      <a:noFill/>
                    </a:lnB>
                    <a:noFill/>
                  </a:tcPr>
                </a:tc>
                <a:extLst>
                  <a:ext uri="{0D108BD9-81ED-4DB2-BD59-A6C34878D82A}">
                    <a16:rowId xmlns:a16="http://schemas.microsoft.com/office/drawing/2014/main" val="3706560893"/>
                  </a:ext>
                </a:extLst>
              </a:tr>
              <a:tr h="0">
                <a:tc>
                  <a:txBody>
                    <a:bodyPr/>
                    <a:lstStyle/>
                    <a:p>
                      <a:pPr algn="l">
                        <a:buNone/>
                      </a:pPr>
                      <a:r>
                        <a:rPr lang="zh-CN" altLang="en-US" sz="1600" b="0">
                          <a:solidFill>
                            <a:schemeClr val="tx1"/>
                          </a:solidFill>
                        </a:rPr>
                        <a:t>管理阶段</a:t>
                      </a:r>
                    </a:p>
                  </a:txBody>
                  <a:tcPr anchor="ctr">
                    <a:lnL>
                      <a:noFill/>
                    </a:lnL>
                    <a:lnR>
                      <a:noFill/>
                    </a:lnR>
                    <a:lnT>
                      <a:noFill/>
                    </a:lnT>
                    <a:lnB>
                      <a:noFill/>
                    </a:lnB>
                    <a:noFill/>
                  </a:tcPr>
                </a:tc>
                <a:tc>
                  <a:txBody>
                    <a:bodyPr/>
                    <a:lstStyle/>
                    <a:p>
                      <a:pPr algn="l">
                        <a:buNone/>
                      </a:pPr>
                      <a:r>
                        <a:rPr lang="zh-CN" altLang="en-US" sz="1600" b="0">
                          <a:solidFill>
                            <a:schemeClr val="tx1"/>
                          </a:solidFill>
                        </a:rPr>
                        <a:t>事后（生产完成后）</a:t>
                      </a:r>
                    </a:p>
                  </a:txBody>
                  <a:tcPr anchor="ctr">
                    <a:lnL>
                      <a:noFill/>
                    </a:lnL>
                    <a:lnR>
                      <a:noFill/>
                    </a:lnR>
                    <a:lnT>
                      <a:noFill/>
                    </a:lnT>
                    <a:lnB>
                      <a:noFill/>
                    </a:lnB>
                    <a:noFill/>
                  </a:tcPr>
                </a:tc>
                <a:tc>
                  <a:txBody>
                    <a:bodyPr/>
                    <a:lstStyle/>
                    <a:p>
                      <a:pPr algn="l">
                        <a:buNone/>
                      </a:pPr>
                      <a:r>
                        <a:rPr lang="zh-CN" altLang="en-US" sz="1600" b="0">
                          <a:solidFill>
                            <a:schemeClr val="tx1"/>
                          </a:solidFill>
                        </a:rPr>
                        <a:t>事中（生产过程中）</a:t>
                      </a:r>
                    </a:p>
                  </a:txBody>
                  <a:tcPr anchor="ctr">
                    <a:lnL>
                      <a:noFill/>
                    </a:lnL>
                    <a:lnR>
                      <a:noFill/>
                    </a:lnR>
                    <a:lnT>
                      <a:noFill/>
                    </a:lnT>
                    <a:lnB>
                      <a:noFill/>
                    </a:lnB>
                    <a:noFill/>
                  </a:tcPr>
                </a:tc>
                <a:extLst>
                  <a:ext uri="{0D108BD9-81ED-4DB2-BD59-A6C34878D82A}">
                    <a16:rowId xmlns:a16="http://schemas.microsoft.com/office/drawing/2014/main" val="2484024043"/>
                  </a:ext>
                </a:extLst>
              </a:tr>
              <a:tr h="0">
                <a:tc>
                  <a:txBody>
                    <a:bodyPr/>
                    <a:lstStyle/>
                    <a:p>
                      <a:pPr algn="l">
                        <a:buNone/>
                      </a:pPr>
                      <a:r>
                        <a:rPr lang="zh-CN" altLang="en-US" sz="1600" b="0">
                          <a:solidFill>
                            <a:schemeClr val="tx1"/>
                          </a:solidFill>
                        </a:rPr>
                        <a:t>典型问题</a:t>
                      </a:r>
                    </a:p>
                  </a:txBody>
                  <a:tcPr anchor="ctr">
                    <a:lnL>
                      <a:noFill/>
                    </a:lnL>
                    <a:lnR>
                      <a:noFill/>
                    </a:lnR>
                    <a:lnT>
                      <a:noFill/>
                    </a:lnT>
                    <a:lnB>
                      <a:noFill/>
                    </a:lnB>
                    <a:noFill/>
                  </a:tcPr>
                </a:tc>
                <a:tc>
                  <a:txBody>
                    <a:bodyPr/>
                    <a:lstStyle/>
                    <a:p>
                      <a:pPr algn="l">
                        <a:buNone/>
                      </a:pPr>
                      <a:r>
                        <a:rPr lang="zh-CN" altLang="en-US" sz="1600" b="0">
                          <a:solidFill>
                            <a:schemeClr val="tx1"/>
                          </a:solidFill>
                        </a:rPr>
                        <a:t>“这个零件尺寸合格吗？”</a:t>
                      </a:r>
                    </a:p>
                  </a:txBody>
                  <a:tcPr anchor="ctr">
                    <a:lnL>
                      <a:noFill/>
                    </a:lnL>
                    <a:lnR>
                      <a:noFill/>
                    </a:lnR>
                    <a:lnT>
                      <a:noFill/>
                    </a:lnT>
                    <a:lnB>
                      <a:noFill/>
                    </a:lnB>
                    <a:noFill/>
                  </a:tcPr>
                </a:tc>
                <a:tc>
                  <a:txBody>
                    <a:bodyPr/>
                    <a:lstStyle/>
                    <a:p>
                      <a:pPr algn="l">
                        <a:buNone/>
                      </a:pPr>
                      <a:r>
                        <a:rPr lang="zh-CN" altLang="en-US" sz="1600" b="0">
                          <a:solidFill>
                            <a:schemeClr val="tx1"/>
                          </a:solidFill>
                        </a:rPr>
                        <a:t>“机床的温度控制稳定吗？”</a:t>
                      </a:r>
                    </a:p>
                  </a:txBody>
                  <a:tcPr anchor="ctr">
                    <a:lnL>
                      <a:noFill/>
                    </a:lnL>
                    <a:lnR>
                      <a:noFill/>
                    </a:lnR>
                    <a:lnT>
                      <a:noFill/>
                    </a:lnT>
                    <a:lnB>
                      <a:noFill/>
                    </a:lnB>
                    <a:noFill/>
                  </a:tcPr>
                </a:tc>
                <a:extLst>
                  <a:ext uri="{0D108BD9-81ED-4DB2-BD59-A6C34878D82A}">
                    <a16:rowId xmlns:a16="http://schemas.microsoft.com/office/drawing/2014/main" val="3380029328"/>
                  </a:ext>
                </a:extLst>
              </a:tr>
              <a:tr h="0">
                <a:tc>
                  <a:txBody>
                    <a:bodyPr/>
                    <a:lstStyle/>
                    <a:p>
                      <a:pPr algn="l">
                        <a:buNone/>
                      </a:pPr>
                      <a:r>
                        <a:rPr lang="zh-CN" altLang="en-US" sz="1600" b="0">
                          <a:solidFill>
                            <a:schemeClr val="tx1"/>
                          </a:solidFill>
                        </a:rPr>
                        <a:t>成本影响</a:t>
                      </a:r>
                    </a:p>
                  </a:txBody>
                  <a:tcPr anchor="ctr">
                    <a:lnL>
                      <a:noFill/>
                    </a:lnL>
                    <a:lnR>
                      <a:noFill/>
                    </a:lnR>
                    <a:lnT>
                      <a:noFill/>
                    </a:lnT>
                    <a:lnB>
                      <a:noFill/>
                    </a:lnB>
                    <a:noFill/>
                  </a:tcPr>
                </a:tc>
                <a:tc>
                  <a:txBody>
                    <a:bodyPr/>
                    <a:lstStyle/>
                    <a:p>
                      <a:pPr algn="l">
                        <a:buNone/>
                      </a:pPr>
                      <a:r>
                        <a:rPr lang="zh-CN" altLang="en-US" sz="1600" b="0">
                          <a:solidFill>
                            <a:schemeClr val="tx1"/>
                          </a:solidFill>
                        </a:rPr>
                        <a:t>发现废品意味着成本浪费</a:t>
                      </a:r>
                    </a:p>
                  </a:txBody>
                  <a:tcPr anchor="ctr">
                    <a:lnL>
                      <a:noFill/>
                    </a:lnL>
                    <a:lnR>
                      <a:noFill/>
                    </a:lnR>
                    <a:lnT>
                      <a:noFill/>
                    </a:lnT>
                    <a:lnB>
                      <a:noFill/>
                    </a:lnB>
                    <a:noFill/>
                  </a:tcPr>
                </a:tc>
                <a:tc>
                  <a:txBody>
                    <a:bodyPr/>
                    <a:lstStyle/>
                    <a:p>
                      <a:pPr algn="l">
                        <a:buNone/>
                      </a:pPr>
                      <a:r>
                        <a:rPr lang="zh-CN" altLang="en-US" sz="1600" b="0">
                          <a:solidFill>
                            <a:schemeClr val="tx1"/>
                          </a:solidFill>
                        </a:rPr>
                        <a:t>控制过程意味着成本节约</a:t>
                      </a:r>
                    </a:p>
                  </a:txBody>
                  <a:tcPr anchor="ctr">
                    <a:lnL>
                      <a:noFill/>
                    </a:lnL>
                    <a:lnR>
                      <a:noFill/>
                    </a:lnR>
                    <a:lnT>
                      <a:noFill/>
                    </a:lnT>
                    <a:lnB>
                      <a:noFill/>
                    </a:lnB>
                    <a:noFill/>
                  </a:tcPr>
                </a:tc>
                <a:extLst>
                  <a:ext uri="{0D108BD9-81ED-4DB2-BD59-A6C34878D82A}">
                    <a16:rowId xmlns:a16="http://schemas.microsoft.com/office/drawing/2014/main" val="1366952991"/>
                  </a:ext>
                </a:extLst>
              </a:tr>
              <a:tr h="0">
                <a:tc>
                  <a:txBody>
                    <a:bodyPr/>
                    <a:lstStyle/>
                    <a:p>
                      <a:pPr algn="l">
                        <a:buNone/>
                      </a:pPr>
                      <a:r>
                        <a:rPr lang="zh-CN" altLang="en-US" sz="1600" b="0" dirty="0">
                          <a:solidFill>
                            <a:schemeClr val="tx1"/>
                          </a:solidFill>
                        </a:rPr>
                        <a:t>核心逻辑</a:t>
                      </a:r>
                    </a:p>
                  </a:txBody>
                  <a:tcPr anchor="ctr">
                    <a:lnL>
                      <a:noFill/>
                    </a:lnL>
                    <a:lnR>
                      <a:noFill/>
                    </a:lnR>
                    <a:lnT>
                      <a:noFill/>
                    </a:lnT>
                    <a:lnB w="12700" cap="flat" cmpd="sng" algn="ctr">
                      <a:solidFill>
                        <a:schemeClr val="bg1"/>
                      </a:solidFill>
                      <a:prstDash val="solid"/>
                      <a:round/>
                      <a:headEnd type="none" w="med" len="med"/>
                      <a:tailEnd type="none" w="med" len="med"/>
                    </a:lnB>
                    <a:noFill/>
                  </a:tcPr>
                </a:tc>
                <a:tc>
                  <a:txBody>
                    <a:bodyPr/>
                    <a:lstStyle/>
                    <a:p>
                      <a:pPr algn="l">
                        <a:buNone/>
                      </a:pPr>
                      <a:r>
                        <a:rPr lang="zh-CN" altLang="en-US" sz="1600" b="0">
                          <a:solidFill>
                            <a:schemeClr val="tx1"/>
                          </a:solidFill>
                        </a:rPr>
                        <a:t>检验出来的质量</a:t>
                      </a:r>
                    </a:p>
                  </a:txBody>
                  <a:tcPr anchor="ctr">
                    <a:lnL>
                      <a:noFill/>
                    </a:lnL>
                    <a:lnR>
                      <a:noFill/>
                    </a:lnR>
                    <a:lnT>
                      <a:noFill/>
                    </a:lnT>
                    <a:lnB w="12700" cap="flat" cmpd="sng" algn="ctr">
                      <a:solidFill>
                        <a:schemeClr val="bg1"/>
                      </a:solidFill>
                      <a:prstDash val="solid"/>
                      <a:round/>
                      <a:headEnd type="none" w="med" len="med"/>
                      <a:tailEnd type="none" w="med" len="med"/>
                    </a:lnB>
                    <a:noFill/>
                  </a:tcPr>
                </a:tc>
                <a:tc>
                  <a:txBody>
                    <a:bodyPr/>
                    <a:lstStyle/>
                    <a:p>
                      <a:pPr algn="l">
                        <a:buNone/>
                      </a:pPr>
                      <a:r>
                        <a:rPr lang="zh-CN" altLang="en-US" sz="1600" b="0" dirty="0">
                          <a:solidFill>
                            <a:schemeClr val="tx1"/>
                          </a:solidFill>
                        </a:rPr>
                        <a:t>制造出来的质量</a:t>
                      </a:r>
                    </a:p>
                  </a:txBody>
                  <a:tcPr anchor="ctr">
                    <a:lnL>
                      <a:noFill/>
                    </a:lnL>
                    <a:lnR>
                      <a:noFill/>
                    </a:lnR>
                    <a:lnT>
                      <a:noFill/>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677279598"/>
                  </a:ext>
                </a:extLst>
              </a:tr>
            </a:tbl>
          </a:graphicData>
        </a:graphic>
      </p:graphicFrame>
    </p:spTree>
    <p:extLst>
      <p:ext uri="{BB962C8B-B14F-4D97-AF65-F5344CB8AC3E}">
        <p14:creationId xmlns:p14="http://schemas.microsoft.com/office/powerpoint/2010/main" val="1892648231"/>
      </p:ext>
    </p:extLst>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009B21-FEB5-6DB3-AA19-91B5F87751F8}"/>
              </a:ext>
            </a:extLst>
          </p:cNvPr>
          <p:cNvSpPr>
            <a:spLocks noGrp="1"/>
          </p:cNvSpPr>
          <p:nvPr>
            <p:ph type="title"/>
          </p:nvPr>
        </p:nvSpPr>
        <p:spPr>
          <a:xfrm>
            <a:off x="792000" y="360000"/>
            <a:ext cx="6375921" cy="429413"/>
          </a:xfrm>
        </p:spPr>
        <p:txBody>
          <a:bodyPr/>
          <a:lstStyle/>
          <a:p>
            <a:r>
              <a:rPr lang="en-US" altLang="zh-CN" dirty="0"/>
              <a:t>2. </a:t>
            </a:r>
            <a:r>
              <a:rPr lang="zh-CN" altLang="en-US" dirty="0"/>
              <a:t>软件质量模型</a:t>
            </a:r>
          </a:p>
        </p:txBody>
      </p:sp>
      <p:sp>
        <p:nvSpPr>
          <p:cNvPr id="3" name="内容占位符 2">
            <a:extLst>
              <a:ext uri="{FF2B5EF4-FFF2-40B4-BE49-F238E27FC236}">
                <a16:creationId xmlns:a16="http://schemas.microsoft.com/office/drawing/2014/main" id="{34600581-F975-78A1-9989-A148A91DCE11}"/>
              </a:ext>
            </a:extLst>
          </p:cNvPr>
          <p:cNvSpPr>
            <a:spLocks noGrp="1"/>
          </p:cNvSpPr>
          <p:nvPr>
            <p:ph idx="1"/>
          </p:nvPr>
        </p:nvSpPr>
        <p:spPr>
          <a:xfrm>
            <a:off x="696000" y="864000"/>
            <a:ext cx="10800000" cy="5400000"/>
          </a:xfrm>
        </p:spPr>
        <p:txBody>
          <a:bodyPr/>
          <a:lstStyle/>
          <a:p>
            <a:r>
              <a:rPr lang="zh-CN" altLang="en-US" dirty="0"/>
              <a:t>描述影响软件质量的特性</a:t>
            </a:r>
            <a:endParaRPr lang="en-US" altLang="zh-CN" dirty="0"/>
          </a:p>
          <a:p>
            <a:r>
              <a:rPr lang="zh-CN" altLang="en-US" dirty="0"/>
              <a:t>开发过程中各种开发技术和检验方法的体现</a:t>
            </a:r>
            <a:endParaRPr lang="en-US" altLang="zh-CN" dirty="0"/>
          </a:p>
          <a:p>
            <a:r>
              <a:rPr lang="zh-CN" altLang="en-US" dirty="0"/>
              <a:t>通过分层的方式，将抽象的“软件质量”拆解为多个可评估、可度量的具体特性</a:t>
            </a:r>
            <a:endParaRPr lang="en-US" altLang="zh-CN" dirty="0"/>
          </a:p>
          <a:p>
            <a:r>
              <a:rPr lang="zh-CN" altLang="en-US" dirty="0"/>
              <a:t>常见模型</a:t>
            </a:r>
            <a:endParaRPr lang="en-US" altLang="zh-CN" dirty="0"/>
          </a:p>
          <a:p>
            <a:pPr lvl="1"/>
            <a:r>
              <a:rPr lang="en-US" altLang="zh-CN" dirty="0"/>
              <a:t>1976</a:t>
            </a:r>
            <a:r>
              <a:rPr lang="zh-CN" altLang="en-US" dirty="0"/>
              <a:t>年  </a:t>
            </a:r>
            <a:r>
              <a:rPr lang="en-US" altLang="zh-CN" dirty="0"/>
              <a:t>Boehm </a:t>
            </a:r>
            <a:r>
              <a:rPr lang="zh-CN" altLang="en-US" dirty="0"/>
              <a:t>质量模型</a:t>
            </a:r>
          </a:p>
          <a:p>
            <a:pPr lvl="1"/>
            <a:r>
              <a:rPr lang="en-US" altLang="zh-CN" dirty="0"/>
              <a:t>1979</a:t>
            </a:r>
            <a:r>
              <a:rPr lang="zh-CN" altLang="en-US" dirty="0"/>
              <a:t>年  </a:t>
            </a:r>
            <a:r>
              <a:rPr lang="en-US" altLang="zh-CN" dirty="0"/>
              <a:t>McCall </a:t>
            </a:r>
            <a:r>
              <a:rPr lang="zh-CN" altLang="en-US" dirty="0"/>
              <a:t>质量模型；</a:t>
            </a:r>
            <a:r>
              <a:rPr lang="en-US" altLang="zh-CN" dirty="0"/>
              <a:t>3</a:t>
            </a:r>
            <a:r>
              <a:rPr lang="zh-CN" altLang="en-US" dirty="0"/>
              <a:t>层；</a:t>
            </a:r>
            <a:r>
              <a:rPr lang="en-US" altLang="zh-CN" dirty="0"/>
              <a:t>11</a:t>
            </a:r>
            <a:r>
              <a:rPr lang="zh-CN" altLang="en-US" dirty="0"/>
              <a:t>个指标</a:t>
            </a:r>
          </a:p>
          <a:p>
            <a:pPr lvl="1"/>
            <a:r>
              <a:rPr lang="en-US" altLang="zh-CN" dirty="0"/>
              <a:t>1985</a:t>
            </a:r>
            <a:r>
              <a:rPr lang="zh-CN" altLang="en-US" dirty="0"/>
              <a:t>年  </a:t>
            </a:r>
            <a:r>
              <a:rPr lang="en-US" altLang="zh-CN" dirty="0"/>
              <a:t>ISO </a:t>
            </a:r>
            <a:r>
              <a:rPr lang="zh-CN" altLang="en-US" dirty="0"/>
              <a:t>质量模型及演化版 </a:t>
            </a:r>
            <a:r>
              <a:rPr lang="en-US" altLang="zh-CN" dirty="0"/>
              <a:t>ISO/IEC 9126 </a:t>
            </a:r>
            <a:r>
              <a:rPr lang="zh-CN" altLang="en-US" dirty="0"/>
              <a:t>和 </a:t>
            </a:r>
            <a:r>
              <a:rPr lang="en-US" altLang="zh-CN" dirty="0"/>
              <a:t>ISO/IEC 25010</a:t>
            </a:r>
            <a:endParaRPr lang="zh-CN" altLang="en-US" dirty="0"/>
          </a:p>
          <a:p>
            <a:endParaRPr lang="zh-CN" altLang="en-US" dirty="0"/>
          </a:p>
        </p:txBody>
      </p:sp>
      <p:sp>
        <p:nvSpPr>
          <p:cNvPr id="7" name="文本占位符 6">
            <a:extLst>
              <a:ext uri="{FF2B5EF4-FFF2-40B4-BE49-F238E27FC236}">
                <a16:creationId xmlns:a16="http://schemas.microsoft.com/office/drawing/2014/main" id="{72B1D532-D77D-159F-7E57-D4529EFA39C4}"/>
              </a:ext>
            </a:extLst>
          </p:cNvPr>
          <p:cNvSpPr>
            <a:spLocks noGrp="1"/>
          </p:cNvSpPr>
          <p:nvPr>
            <p:ph type="body" sz="quarter" idx="10"/>
          </p:nvPr>
        </p:nvSpPr>
        <p:spPr>
          <a:xfrm>
            <a:off x="7071919" y="448519"/>
            <a:ext cx="4424080" cy="338554"/>
          </a:xfrm>
        </p:spPr>
        <p:txBody>
          <a:bodyPr/>
          <a:lstStyle/>
          <a:p>
            <a:r>
              <a:rPr lang="en-US" altLang="zh-CN" dirty="0"/>
              <a:t>Modeling</a:t>
            </a:r>
            <a:endParaRPr lang="zh-CN" altLang="en-US" dirty="0"/>
          </a:p>
        </p:txBody>
      </p:sp>
    </p:spTree>
    <p:extLst>
      <p:ext uri="{BB962C8B-B14F-4D97-AF65-F5344CB8AC3E}">
        <p14:creationId xmlns:p14="http://schemas.microsoft.com/office/powerpoint/2010/main" val="737163400"/>
      </p:ext>
    </p:extLst>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a:extLst>
              <a:ext uri="{FF2B5EF4-FFF2-40B4-BE49-F238E27FC236}">
                <a16:creationId xmlns:a16="http://schemas.microsoft.com/office/drawing/2014/main" id="{B9ED9865-3719-5192-3FF6-5848074D0D01}"/>
              </a:ext>
            </a:extLst>
          </p:cNvPr>
          <p:cNvSpPr txBox="1"/>
          <p:nvPr/>
        </p:nvSpPr>
        <p:spPr>
          <a:xfrm>
            <a:off x="171854" y="2356400"/>
            <a:ext cx="2276585" cy="307777"/>
          </a:xfrm>
          <a:prstGeom prst="rect">
            <a:avLst/>
          </a:prstGeom>
          <a:noFill/>
        </p:spPr>
        <p:txBody>
          <a:bodyPr wrap="none" rtlCol="0">
            <a:spAutoFit/>
          </a:bodyPr>
          <a:lstStyle/>
          <a:p>
            <a:r>
              <a:rPr lang="en-US" altLang="zh-CN" sz="1400" dirty="0"/>
              <a:t>Boehm's Quality Model</a:t>
            </a:r>
          </a:p>
        </p:txBody>
      </p:sp>
      <p:sp>
        <p:nvSpPr>
          <p:cNvPr id="19" name="文本框 18">
            <a:extLst>
              <a:ext uri="{FF2B5EF4-FFF2-40B4-BE49-F238E27FC236}">
                <a16:creationId xmlns:a16="http://schemas.microsoft.com/office/drawing/2014/main" id="{B19F49E6-180A-689D-EF9A-BDE1A8E1327B}"/>
              </a:ext>
            </a:extLst>
          </p:cNvPr>
          <p:cNvSpPr txBox="1"/>
          <p:nvPr/>
        </p:nvSpPr>
        <p:spPr>
          <a:xfrm>
            <a:off x="8954721" y="105872"/>
            <a:ext cx="2068195" cy="1169551"/>
          </a:xfrm>
          <a:prstGeom prst="rect">
            <a:avLst/>
          </a:prstGeom>
          <a:noFill/>
        </p:spPr>
        <p:txBody>
          <a:bodyPr wrap="none" rtlCol="0">
            <a:spAutoFit/>
          </a:bodyPr>
          <a:lstStyle/>
          <a:p>
            <a:pPr algn="l"/>
            <a:r>
              <a:rPr lang="en-US" altLang="zh-CN" sz="1400" dirty="0"/>
              <a:t>Self-</a:t>
            </a:r>
            <a:r>
              <a:rPr lang="en-US" altLang="zh-CN" sz="1400" dirty="0" err="1"/>
              <a:t>containedness</a:t>
            </a:r>
            <a:endParaRPr lang="en-US" altLang="zh-CN" sz="1400" dirty="0"/>
          </a:p>
          <a:p>
            <a:pPr algn="l"/>
            <a:r>
              <a:rPr lang="en-US" altLang="zh-CN" sz="1400" dirty="0"/>
              <a:t>Accuracy</a:t>
            </a:r>
          </a:p>
          <a:p>
            <a:pPr algn="l"/>
            <a:r>
              <a:rPr lang="en-US" altLang="zh-CN" sz="1400" dirty="0"/>
              <a:t>Completeness</a:t>
            </a:r>
          </a:p>
          <a:p>
            <a:pPr algn="l"/>
            <a:r>
              <a:rPr lang="en-US" altLang="zh-CN" sz="1400" dirty="0"/>
              <a:t>Robustness/Integrity</a:t>
            </a:r>
          </a:p>
          <a:p>
            <a:pPr algn="l"/>
            <a:r>
              <a:rPr lang="en-US" altLang="zh-CN" sz="1400" dirty="0"/>
              <a:t>Consistency</a:t>
            </a:r>
            <a:endParaRPr lang="zh-CN" altLang="en-US" sz="1400" dirty="0"/>
          </a:p>
        </p:txBody>
      </p:sp>
      <p:sp>
        <p:nvSpPr>
          <p:cNvPr id="20" name="文本框 19">
            <a:extLst>
              <a:ext uri="{FF2B5EF4-FFF2-40B4-BE49-F238E27FC236}">
                <a16:creationId xmlns:a16="http://schemas.microsoft.com/office/drawing/2014/main" id="{6D349A05-AAB1-AE1C-5932-5E6594B9B958}"/>
              </a:ext>
            </a:extLst>
          </p:cNvPr>
          <p:cNvSpPr txBox="1"/>
          <p:nvPr/>
        </p:nvSpPr>
        <p:spPr>
          <a:xfrm>
            <a:off x="5158962" y="429037"/>
            <a:ext cx="1061509" cy="523220"/>
          </a:xfrm>
          <a:prstGeom prst="rect">
            <a:avLst/>
          </a:prstGeom>
          <a:noFill/>
        </p:spPr>
        <p:txBody>
          <a:bodyPr wrap="none" rtlCol="0">
            <a:spAutoFit/>
          </a:bodyPr>
          <a:lstStyle/>
          <a:p>
            <a:r>
              <a:rPr lang="zh-CN" altLang="en-US" sz="1400" dirty="0"/>
              <a:t>可靠</a:t>
            </a:r>
            <a:endParaRPr lang="en-US" altLang="zh-CN" sz="1400" dirty="0"/>
          </a:p>
          <a:p>
            <a:r>
              <a:rPr lang="en-US" altLang="zh-CN" sz="1400" dirty="0"/>
              <a:t>Reliability</a:t>
            </a:r>
          </a:p>
        </p:txBody>
      </p:sp>
      <p:sp>
        <p:nvSpPr>
          <p:cNvPr id="21" name="文本框 20">
            <a:extLst>
              <a:ext uri="{FF2B5EF4-FFF2-40B4-BE49-F238E27FC236}">
                <a16:creationId xmlns:a16="http://schemas.microsoft.com/office/drawing/2014/main" id="{3322308F-A2B6-CB94-6D9C-73D2B3DD7F65}"/>
              </a:ext>
            </a:extLst>
          </p:cNvPr>
          <p:cNvSpPr txBox="1"/>
          <p:nvPr/>
        </p:nvSpPr>
        <p:spPr>
          <a:xfrm>
            <a:off x="8954721" y="1518747"/>
            <a:ext cx="1713931" cy="738664"/>
          </a:xfrm>
          <a:prstGeom prst="rect">
            <a:avLst/>
          </a:prstGeom>
          <a:noFill/>
        </p:spPr>
        <p:txBody>
          <a:bodyPr wrap="none" rtlCol="0">
            <a:spAutoFit/>
          </a:bodyPr>
          <a:lstStyle/>
          <a:p>
            <a:pPr algn="l"/>
            <a:r>
              <a:rPr lang="en-US" altLang="zh-CN" sz="1400" dirty="0"/>
              <a:t>Accountability</a:t>
            </a:r>
          </a:p>
          <a:p>
            <a:pPr algn="l"/>
            <a:r>
              <a:rPr lang="en-US" altLang="zh-CN" sz="1400" dirty="0"/>
              <a:t>Device Efficiency</a:t>
            </a:r>
          </a:p>
          <a:p>
            <a:pPr algn="l"/>
            <a:r>
              <a:rPr lang="en-US" altLang="zh-CN" sz="1400" dirty="0"/>
              <a:t>Accessibility</a:t>
            </a:r>
          </a:p>
        </p:txBody>
      </p:sp>
      <p:sp>
        <p:nvSpPr>
          <p:cNvPr id="22" name="文本框 21">
            <a:extLst>
              <a:ext uri="{FF2B5EF4-FFF2-40B4-BE49-F238E27FC236}">
                <a16:creationId xmlns:a16="http://schemas.microsoft.com/office/drawing/2014/main" id="{B5FB33F8-7477-2E17-9479-21B62036CEBF}"/>
              </a:ext>
            </a:extLst>
          </p:cNvPr>
          <p:cNvSpPr txBox="1"/>
          <p:nvPr/>
        </p:nvSpPr>
        <p:spPr>
          <a:xfrm>
            <a:off x="5158962" y="1626469"/>
            <a:ext cx="1053494" cy="523220"/>
          </a:xfrm>
          <a:prstGeom prst="rect">
            <a:avLst/>
          </a:prstGeom>
          <a:noFill/>
        </p:spPr>
        <p:txBody>
          <a:bodyPr wrap="none" rtlCol="0">
            <a:spAutoFit/>
          </a:bodyPr>
          <a:lstStyle/>
          <a:p>
            <a:r>
              <a:rPr lang="zh-CN" altLang="en-US" sz="1400" dirty="0"/>
              <a:t>效率</a:t>
            </a:r>
            <a:endParaRPr lang="en-US" altLang="zh-CN" sz="1400" dirty="0"/>
          </a:p>
          <a:p>
            <a:r>
              <a:rPr lang="en-US" altLang="zh-CN" sz="1400" dirty="0"/>
              <a:t>Efficiency</a:t>
            </a:r>
          </a:p>
        </p:txBody>
      </p:sp>
      <p:sp>
        <p:nvSpPr>
          <p:cNvPr id="23" name="文本框 22">
            <a:extLst>
              <a:ext uri="{FF2B5EF4-FFF2-40B4-BE49-F238E27FC236}">
                <a16:creationId xmlns:a16="http://schemas.microsoft.com/office/drawing/2014/main" id="{0302B1E7-F8A8-569E-C1E8-3171E80D162E}"/>
              </a:ext>
            </a:extLst>
          </p:cNvPr>
          <p:cNvSpPr txBox="1"/>
          <p:nvPr/>
        </p:nvSpPr>
        <p:spPr>
          <a:xfrm>
            <a:off x="8954721" y="2429654"/>
            <a:ext cx="2068195" cy="738664"/>
          </a:xfrm>
          <a:prstGeom prst="rect">
            <a:avLst/>
          </a:prstGeom>
          <a:noFill/>
        </p:spPr>
        <p:txBody>
          <a:bodyPr wrap="none" rtlCol="0">
            <a:spAutoFit/>
          </a:bodyPr>
          <a:lstStyle/>
          <a:p>
            <a:pPr algn="l"/>
            <a:r>
              <a:rPr lang="en-US" altLang="zh-CN" sz="1400" dirty="0"/>
              <a:t>Robustness/Integrity</a:t>
            </a:r>
          </a:p>
          <a:p>
            <a:pPr algn="l"/>
            <a:r>
              <a:rPr lang="en-US" altLang="zh-CN" sz="1400" dirty="0"/>
              <a:t>Accessibility</a:t>
            </a:r>
          </a:p>
          <a:p>
            <a:pPr algn="l"/>
            <a:r>
              <a:rPr lang="en-US" altLang="zh-CN" sz="1400" dirty="0"/>
              <a:t>Communicativeness</a:t>
            </a:r>
            <a:endParaRPr lang="zh-CN" altLang="en-US" sz="1400" dirty="0"/>
          </a:p>
        </p:txBody>
      </p:sp>
      <p:sp>
        <p:nvSpPr>
          <p:cNvPr id="24" name="文本框 23">
            <a:extLst>
              <a:ext uri="{FF2B5EF4-FFF2-40B4-BE49-F238E27FC236}">
                <a16:creationId xmlns:a16="http://schemas.microsoft.com/office/drawing/2014/main" id="{C5FF94BB-A0B3-D8BD-AE5E-E57D502EAF69}"/>
              </a:ext>
            </a:extLst>
          </p:cNvPr>
          <p:cNvSpPr txBox="1"/>
          <p:nvPr/>
        </p:nvSpPr>
        <p:spPr>
          <a:xfrm>
            <a:off x="5158962" y="2537376"/>
            <a:ext cx="2034531" cy="523220"/>
          </a:xfrm>
          <a:prstGeom prst="rect">
            <a:avLst/>
          </a:prstGeom>
          <a:noFill/>
        </p:spPr>
        <p:txBody>
          <a:bodyPr wrap="none" rtlCol="0">
            <a:spAutoFit/>
          </a:bodyPr>
          <a:lstStyle/>
          <a:p>
            <a:r>
              <a:rPr lang="zh-CN" altLang="en-US" sz="1400" dirty="0"/>
              <a:t>人力工程</a:t>
            </a:r>
            <a:endParaRPr lang="en-US" altLang="zh-CN" sz="1400" dirty="0"/>
          </a:p>
          <a:p>
            <a:r>
              <a:rPr lang="en-US" altLang="zh-CN" sz="1400" dirty="0"/>
              <a:t>Human Engineering</a:t>
            </a:r>
          </a:p>
        </p:txBody>
      </p:sp>
      <p:sp>
        <p:nvSpPr>
          <p:cNvPr id="25" name="文本框 24">
            <a:extLst>
              <a:ext uri="{FF2B5EF4-FFF2-40B4-BE49-F238E27FC236}">
                <a16:creationId xmlns:a16="http://schemas.microsoft.com/office/drawing/2014/main" id="{3595937D-7C2C-4EDE-6C9B-F9FAA2F4C0F1}"/>
              </a:ext>
            </a:extLst>
          </p:cNvPr>
          <p:cNvSpPr txBox="1"/>
          <p:nvPr/>
        </p:nvSpPr>
        <p:spPr>
          <a:xfrm>
            <a:off x="2851693" y="956772"/>
            <a:ext cx="1159292" cy="523220"/>
          </a:xfrm>
          <a:prstGeom prst="rect">
            <a:avLst/>
          </a:prstGeom>
          <a:noFill/>
        </p:spPr>
        <p:txBody>
          <a:bodyPr wrap="none" rtlCol="0">
            <a:spAutoFit/>
          </a:bodyPr>
          <a:lstStyle/>
          <a:p>
            <a:r>
              <a:rPr lang="zh-CN" altLang="en-US" sz="1400" dirty="0"/>
              <a:t>可使用性</a:t>
            </a:r>
            <a:endParaRPr lang="en-US" altLang="zh-CN" sz="1400" dirty="0"/>
          </a:p>
          <a:p>
            <a:r>
              <a:rPr lang="en-US" altLang="zh-CN" sz="1400" dirty="0"/>
              <a:t>As-is utility</a:t>
            </a:r>
          </a:p>
        </p:txBody>
      </p:sp>
      <p:sp>
        <p:nvSpPr>
          <p:cNvPr id="29" name="文本框 28">
            <a:extLst>
              <a:ext uri="{FF2B5EF4-FFF2-40B4-BE49-F238E27FC236}">
                <a16:creationId xmlns:a16="http://schemas.microsoft.com/office/drawing/2014/main" id="{534B1E77-2AF0-729C-D699-0F8DF434CB89}"/>
              </a:ext>
            </a:extLst>
          </p:cNvPr>
          <p:cNvSpPr txBox="1"/>
          <p:nvPr/>
        </p:nvSpPr>
        <p:spPr>
          <a:xfrm>
            <a:off x="5158962" y="3328843"/>
            <a:ext cx="2167581" cy="523220"/>
          </a:xfrm>
          <a:prstGeom prst="rect">
            <a:avLst/>
          </a:prstGeom>
          <a:noFill/>
        </p:spPr>
        <p:txBody>
          <a:bodyPr wrap="none" rtlCol="0">
            <a:spAutoFit/>
          </a:bodyPr>
          <a:lstStyle/>
          <a:p>
            <a:pPr algn="l"/>
            <a:r>
              <a:rPr lang="en-US" altLang="zh-CN" sz="1400" dirty="0"/>
              <a:t>Device Independence</a:t>
            </a:r>
          </a:p>
          <a:p>
            <a:pPr algn="l"/>
            <a:r>
              <a:rPr lang="en-US" altLang="zh-CN" sz="1400" dirty="0"/>
              <a:t>Self-</a:t>
            </a:r>
            <a:r>
              <a:rPr lang="en-US" altLang="zh-CN" sz="1400" dirty="0" err="1"/>
              <a:t>containedness</a:t>
            </a:r>
            <a:endParaRPr lang="en-US" altLang="zh-CN" sz="1400" dirty="0"/>
          </a:p>
        </p:txBody>
      </p:sp>
      <p:sp>
        <p:nvSpPr>
          <p:cNvPr id="30" name="文本框 29">
            <a:extLst>
              <a:ext uri="{FF2B5EF4-FFF2-40B4-BE49-F238E27FC236}">
                <a16:creationId xmlns:a16="http://schemas.microsoft.com/office/drawing/2014/main" id="{D26151E2-619A-466A-562E-81C9417D4127}"/>
              </a:ext>
            </a:extLst>
          </p:cNvPr>
          <p:cNvSpPr txBox="1"/>
          <p:nvPr/>
        </p:nvSpPr>
        <p:spPr>
          <a:xfrm>
            <a:off x="2851693" y="3328843"/>
            <a:ext cx="1111202" cy="523220"/>
          </a:xfrm>
          <a:prstGeom prst="rect">
            <a:avLst/>
          </a:prstGeom>
          <a:noFill/>
        </p:spPr>
        <p:txBody>
          <a:bodyPr wrap="none" rtlCol="0">
            <a:spAutoFit/>
          </a:bodyPr>
          <a:lstStyle/>
          <a:p>
            <a:r>
              <a:rPr lang="zh-CN" altLang="en-US" sz="1400" dirty="0"/>
              <a:t>可移植性</a:t>
            </a:r>
            <a:endParaRPr lang="en-US" altLang="zh-CN" sz="1400" dirty="0"/>
          </a:p>
          <a:p>
            <a:r>
              <a:rPr lang="en-US" altLang="zh-CN" sz="1400" dirty="0"/>
              <a:t>Portability</a:t>
            </a:r>
            <a:endParaRPr lang="zh-CN" altLang="en-US" sz="1400" dirty="0"/>
          </a:p>
        </p:txBody>
      </p:sp>
      <p:sp>
        <p:nvSpPr>
          <p:cNvPr id="32" name="文本框 31">
            <a:extLst>
              <a:ext uri="{FF2B5EF4-FFF2-40B4-BE49-F238E27FC236}">
                <a16:creationId xmlns:a16="http://schemas.microsoft.com/office/drawing/2014/main" id="{A44E9244-6DD0-4B0A-553B-4EF1EEC73A8E}"/>
              </a:ext>
            </a:extLst>
          </p:cNvPr>
          <p:cNvSpPr txBox="1"/>
          <p:nvPr/>
        </p:nvSpPr>
        <p:spPr>
          <a:xfrm>
            <a:off x="2851693" y="4547964"/>
            <a:ext cx="1521570" cy="523220"/>
          </a:xfrm>
          <a:prstGeom prst="rect">
            <a:avLst/>
          </a:prstGeom>
          <a:noFill/>
        </p:spPr>
        <p:txBody>
          <a:bodyPr wrap="none" rtlCol="0">
            <a:spAutoFit/>
          </a:bodyPr>
          <a:lstStyle/>
          <a:p>
            <a:r>
              <a:rPr lang="zh-CN" altLang="en-US" sz="1400" dirty="0"/>
              <a:t>可维护性</a:t>
            </a:r>
            <a:endParaRPr lang="en-US" altLang="zh-CN" sz="1400" dirty="0"/>
          </a:p>
          <a:p>
            <a:r>
              <a:rPr lang="en-US" altLang="zh-CN" sz="1400" dirty="0"/>
              <a:t>Maintainability</a:t>
            </a:r>
          </a:p>
        </p:txBody>
      </p:sp>
      <p:sp>
        <p:nvSpPr>
          <p:cNvPr id="33" name="文本框 32">
            <a:extLst>
              <a:ext uri="{FF2B5EF4-FFF2-40B4-BE49-F238E27FC236}">
                <a16:creationId xmlns:a16="http://schemas.microsoft.com/office/drawing/2014/main" id="{CFDB44C6-8745-CE4F-75BA-ACD95CB3C784}"/>
              </a:ext>
            </a:extLst>
          </p:cNvPr>
          <p:cNvSpPr txBox="1"/>
          <p:nvPr/>
        </p:nvSpPr>
        <p:spPr>
          <a:xfrm>
            <a:off x="8954721" y="3835061"/>
            <a:ext cx="2039341" cy="954107"/>
          </a:xfrm>
          <a:prstGeom prst="rect">
            <a:avLst/>
          </a:prstGeom>
          <a:noFill/>
        </p:spPr>
        <p:txBody>
          <a:bodyPr wrap="none" rtlCol="0">
            <a:spAutoFit/>
          </a:bodyPr>
          <a:lstStyle/>
          <a:p>
            <a:pPr algn="l"/>
            <a:r>
              <a:rPr lang="en-US" altLang="zh-CN" sz="1400" dirty="0"/>
              <a:t>Accountability</a:t>
            </a:r>
          </a:p>
          <a:p>
            <a:pPr algn="l"/>
            <a:r>
              <a:rPr lang="en-US" altLang="zh-CN" sz="1400" dirty="0"/>
              <a:t>Communicativeness</a:t>
            </a:r>
          </a:p>
          <a:p>
            <a:pPr algn="l"/>
            <a:r>
              <a:rPr lang="en-US" altLang="zh-CN" sz="1400" dirty="0"/>
              <a:t>Self-descriptiveness</a:t>
            </a:r>
          </a:p>
          <a:p>
            <a:pPr algn="l"/>
            <a:r>
              <a:rPr lang="en-US" altLang="zh-CN" sz="1400" dirty="0"/>
              <a:t>Structuredness</a:t>
            </a:r>
            <a:endParaRPr lang="zh-CN" altLang="en-US" sz="1400" dirty="0"/>
          </a:p>
        </p:txBody>
      </p:sp>
      <p:sp>
        <p:nvSpPr>
          <p:cNvPr id="34" name="文本框 33">
            <a:extLst>
              <a:ext uri="{FF2B5EF4-FFF2-40B4-BE49-F238E27FC236}">
                <a16:creationId xmlns:a16="http://schemas.microsoft.com/office/drawing/2014/main" id="{1EE76839-7C03-C158-004B-438B995B9066}"/>
              </a:ext>
            </a:extLst>
          </p:cNvPr>
          <p:cNvSpPr txBox="1"/>
          <p:nvPr/>
        </p:nvSpPr>
        <p:spPr>
          <a:xfrm>
            <a:off x="5158962" y="4050504"/>
            <a:ext cx="1098378" cy="523220"/>
          </a:xfrm>
          <a:prstGeom prst="rect">
            <a:avLst/>
          </a:prstGeom>
          <a:noFill/>
        </p:spPr>
        <p:txBody>
          <a:bodyPr wrap="none" rtlCol="0">
            <a:spAutoFit/>
          </a:bodyPr>
          <a:lstStyle/>
          <a:p>
            <a:r>
              <a:rPr lang="zh-CN" altLang="en-US" sz="1400" dirty="0"/>
              <a:t>可测试性</a:t>
            </a:r>
            <a:endParaRPr lang="en-US" altLang="zh-CN" sz="1400" dirty="0"/>
          </a:p>
          <a:p>
            <a:r>
              <a:rPr lang="en-US" altLang="zh-CN" sz="1400" dirty="0"/>
              <a:t>Testability</a:t>
            </a:r>
          </a:p>
        </p:txBody>
      </p:sp>
      <p:sp>
        <p:nvSpPr>
          <p:cNvPr id="35" name="文本框 34">
            <a:extLst>
              <a:ext uri="{FF2B5EF4-FFF2-40B4-BE49-F238E27FC236}">
                <a16:creationId xmlns:a16="http://schemas.microsoft.com/office/drawing/2014/main" id="{F822DCBD-1D51-B7C3-3F83-233F5F091B3C}"/>
              </a:ext>
            </a:extLst>
          </p:cNvPr>
          <p:cNvSpPr txBox="1"/>
          <p:nvPr/>
        </p:nvSpPr>
        <p:spPr>
          <a:xfrm>
            <a:off x="8954721" y="4969036"/>
            <a:ext cx="1563248" cy="738664"/>
          </a:xfrm>
          <a:prstGeom prst="rect">
            <a:avLst/>
          </a:prstGeom>
          <a:noFill/>
        </p:spPr>
        <p:txBody>
          <a:bodyPr wrap="none" rtlCol="0">
            <a:spAutoFit/>
          </a:bodyPr>
          <a:lstStyle/>
          <a:p>
            <a:pPr algn="l"/>
            <a:r>
              <a:rPr lang="en-US" altLang="zh-CN" sz="1400" dirty="0"/>
              <a:t>Consistency</a:t>
            </a:r>
          </a:p>
          <a:p>
            <a:pPr algn="l"/>
            <a:r>
              <a:rPr lang="en-US" altLang="zh-CN" sz="1400" dirty="0"/>
              <a:t>Structuredness</a:t>
            </a:r>
          </a:p>
          <a:p>
            <a:pPr algn="l"/>
            <a:r>
              <a:rPr lang="en-US" altLang="zh-CN" sz="1400" dirty="0"/>
              <a:t>Conciseness</a:t>
            </a:r>
          </a:p>
        </p:txBody>
      </p:sp>
      <p:sp>
        <p:nvSpPr>
          <p:cNvPr id="36" name="文本框 35">
            <a:extLst>
              <a:ext uri="{FF2B5EF4-FFF2-40B4-BE49-F238E27FC236}">
                <a16:creationId xmlns:a16="http://schemas.microsoft.com/office/drawing/2014/main" id="{EF928DCC-DB7F-5DC5-9F31-6A0A35D91BE7}"/>
              </a:ext>
            </a:extLst>
          </p:cNvPr>
          <p:cNvSpPr txBox="1"/>
          <p:nvPr/>
        </p:nvSpPr>
        <p:spPr>
          <a:xfrm>
            <a:off x="5158962" y="5076758"/>
            <a:ext cx="1803699" cy="523220"/>
          </a:xfrm>
          <a:prstGeom prst="rect">
            <a:avLst/>
          </a:prstGeom>
          <a:noFill/>
        </p:spPr>
        <p:txBody>
          <a:bodyPr wrap="none" rtlCol="0">
            <a:spAutoFit/>
          </a:bodyPr>
          <a:lstStyle/>
          <a:p>
            <a:r>
              <a:rPr lang="zh-CN" altLang="en-US" sz="1400" dirty="0"/>
              <a:t>看理解性</a:t>
            </a:r>
            <a:endParaRPr lang="en-US" altLang="zh-CN" sz="1400" dirty="0"/>
          </a:p>
          <a:p>
            <a:r>
              <a:rPr lang="en-US" altLang="zh-CN" sz="1400" dirty="0"/>
              <a:t>Understandability</a:t>
            </a:r>
            <a:endParaRPr lang="zh-CN" altLang="en-US" sz="1400" dirty="0"/>
          </a:p>
        </p:txBody>
      </p:sp>
      <p:sp>
        <p:nvSpPr>
          <p:cNvPr id="37" name="文本框 36">
            <a:extLst>
              <a:ext uri="{FF2B5EF4-FFF2-40B4-BE49-F238E27FC236}">
                <a16:creationId xmlns:a16="http://schemas.microsoft.com/office/drawing/2014/main" id="{C1B88886-36EB-3E1D-AC00-7AF2F1F99F34}"/>
              </a:ext>
            </a:extLst>
          </p:cNvPr>
          <p:cNvSpPr txBox="1"/>
          <p:nvPr/>
        </p:nvSpPr>
        <p:spPr>
          <a:xfrm>
            <a:off x="5158962" y="5842145"/>
            <a:ext cx="1289135" cy="523220"/>
          </a:xfrm>
          <a:prstGeom prst="rect">
            <a:avLst/>
          </a:prstGeom>
          <a:noFill/>
        </p:spPr>
        <p:txBody>
          <a:bodyPr wrap="none" rtlCol="0">
            <a:spAutoFit/>
          </a:bodyPr>
          <a:lstStyle/>
          <a:p>
            <a:r>
              <a:rPr lang="zh-CN" altLang="en-US" sz="1400" dirty="0"/>
              <a:t>可修改性</a:t>
            </a:r>
            <a:endParaRPr lang="en-US" altLang="zh-CN" sz="1400" dirty="0"/>
          </a:p>
          <a:p>
            <a:r>
              <a:rPr lang="en-US" altLang="zh-CN" sz="1400" dirty="0"/>
              <a:t>Modifiability</a:t>
            </a:r>
          </a:p>
        </p:txBody>
      </p:sp>
      <p:sp>
        <p:nvSpPr>
          <p:cNvPr id="38" name="文本框 37">
            <a:extLst>
              <a:ext uri="{FF2B5EF4-FFF2-40B4-BE49-F238E27FC236}">
                <a16:creationId xmlns:a16="http://schemas.microsoft.com/office/drawing/2014/main" id="{0ED6EB93-1428-50F7-F99D-4C9E68ADEE33}"/>
              </a:ext>
            </a:extLst>
          </p:cNvPr>
          <p:cNvSpPr txBox="1"/>
          <p:nvPr/>
        </p:nvSpPr>
        <p:spPr>
          <a:xfrm>
            <a:off x="8954721" y="5842145"/>
            <a:ext cx="1592103" cy="523220"/>
          </a:xfrm>
          <a:prstGeom prst="rect">
            <a:avLst/>
          </a:prstGeom>
          <a:noFill/>
        </p:spPr>
        <p:txBody>
          <a:bodyPr wrap="none" rtlCol="0">
            <a:spAutoFit/>
          </a:bodyPr>
          <a:lstStyle/>
          <a:p>
            <a:pPr algn="l"/>
            <a:r>
              <a:rPr lang="en-US" altLang="zh-CN" sz="1400" dirty="0"/>
              <a:t>Structuredness</a:t>
            </a:r>
          </a:p>
          <a:p>
            <a:pPr algn="l"/>
            <a:r>
              <a:rPr lang="en-US" altLang="zh-CN" sz="1400" dirty="0" err="1"/>
              <a:t>Augmentability</a:t>
            </a:r>
            <a:endParaRPr lang="en-US" altLang="zh-CN" sz="1400" dirty="0"/>
          </a:p>
        </p:txBody>
      </p:sp>
      <p:cxnSp>
        <p:nvCxnSpPr>
          <p:cNvPr id="40" name="直接连接符 39">
            <a:extLst>
              <a:ext uri="{FF2B5EF4-FFF2-40B4-BE49-F238E27FC236}">
                <a16:creationId xmlns:a16="http://schemas.microsoft.com/office/drawing/2014/main" id="{7ABDD01D-09E4-91FB-388D-7DC90DD61F83}"/>
              </a:ext>
            </a:extLst>
          </p:cNvPr>
          <p:cNvCxnSpPr>
            <a:stCxn id="37" idx="3"/>
            <a:endCxn id="38" idx="1"/>
          </p:cNvCxnSpPr>
          <p:nvPr/>
        </p:nvCxnSpPr>
        <p:spPr>
          <a:xfrm>
            <a:off x="6448097" y="6103755"/>
            <a:ext cx="2506624" cy="0"/>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4835922F-173E-CCFC-B793-9EE6A88407D6}"/>
              </a:ext>
            </a:extLst>
          </p:cNvPr>
          <p:cNvCxnSpPr>
            <a:stCxn id="36" idx="3"/>
            <a:endCxn id="35" idx="1"/>
          </p:cNvCxnSpPr>
          <p:nvPr/>
        </p:nvCxnSpPr>
        <p:spPr>
          <a:xfrm>
            <a:off x="6962661" y="5338368"/>
            <a:ext cx="1992060" cy="0"/>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95A9DE62-5582-4349-7B6F-2B3B537358C5}"/>
              </a:ext>
            </a:extLst>
          </p:cNvPr>
          <p:cNvCxnSpPr>
            <a:stCxn id="34" idx="3"/>
            <a:endCxn id="33" idx="1"/>
          </p:cNvCxnSpPr>
          <p:nvPr/>
        </p:nvCxnSpPr>
        <p:spPr>
          <a:xfrm>
            <a:off x="6257340" y="4312114"/>
            <a:ext cx="2697381" cy="1"/>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2F3C3791-9602-A974-F048-7A737B9839AF}"/>
              </a:ext>
            </a:extLst>
          </p:cNvPr>
          <p:cNvCxnSpPr>
            <a:stCxn id="20" idx="3"/>
            <a:endCxn id="19" idx="1"/>
          </p:cNvCxnSpPr>
          <p:nvPr/>
        </p:nvCxnSpPr>
        <p:spPr>
          <a:xfrm>
            <a:off x="6220471" y="690647"/>
            <a:ext cx="2734250" cy="1"/>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32D8F27C-0648-B2FE-C73F-9BB39F9A7F66}"/>
              </a:ext>
            </a:extLst>
          </p:cNvPr>
          <p:cNvCxnSpPr>
            <a:stCxn id="22" idx="3"/>
            <a:endCxn id="21" idx="1"/>
          </p:cNvCxnSpPr>
          <p:nvPr/>
        </p:nvCxnSpPr>
        <p:spPr>
          <a:xfrm>
            <a:off x="6212456" y="1888079"/>
            <a:ext cx="2742265" cy="0"/>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06E33641-F5BE-32EA-3B81-002AE6583653}"/>
              </a:ext>
            </a:extLst>
          </p:cNvPr>
          <p:cNvCxnSpPr>
            <a:stCxn id="24" idx="3"/>
            <a:endCxn id="23" idx="1"/>
          </p:cNvCxnSpPr>
          <p:nvPr/>
        </p:nvCxnSpPr>
        <p:spPr>
          <a:xfrm>
            <a:off x="7193493" y="2798986"/>
            <a:ext cx="1761228" cy="0"/>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5" name="连接符: 肘形 54">
            <a:extLst>
              <a:ext uri="{FF2B5EF4-FFF2-40B4-BE49-F238E27FC236}">
                <a16:creationId xmlns:a16="http://schemas.microsoft.com/office/drawing/2014/main" id="{D5EA3634-845C-EE62-D65D-FF7C684F87EA}"/>
              </a:ext>
            </a:extLst>
          </p:cNvPr>
          <p:cNvCxnSpPr>
            <a:stCxn id="25" idx="3"/>
            <a:endCxn id="20" idx="1"/>
          </p:cNvCxnSpPr>
          <p:nvPr/>
        </p:nvCxnSpPr>
        <p:spPr>
          <a:xfrm flipV="1">
            <a:off x="4010985" y="690647"/>
            <a:ext cx="1147977" cy="527735"/>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7" name="连接符: 肘形 56">
            <a:extLst>
              <a:ext uri="{FF2B5EF4-FFF2-40B4-BE49-F238E27FC236}">
                <a16:creationId xmlns:a16="http://schemas.microsoft.com/office/drawing/2014/main" id="{769712F3-06F5-FE52-B702-DCE79DC68977}"/>
              </a:ext>
            </a:extLst>
          </p:cNvPr>
          <p:cNvCxnSpPr>
            <a:stCxn id="25" idx="3"/>
            <a:endCxn id="24" idx="1"/>
          </p:cNvCxnSpPr>
          <p:nvPr/>
        </p:nvCxnSpPr>
        <p:spPr>
          <a:xfrm>
            <a:off x="4010985" y="1218382"/>
            <a:ext cx="1147977" cy="1580604"/>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1" name="连接符: 肘形 60">
            <a:extLst>
              <a:ext uri="{FF2B5EF4-FFF2-40B4-BE49-F238E27FC236}">
                <a16:creationId xmlns:a16="http://schemas.microsoft.com/office/drawing/2014/main" id="{4693E182-22CE-0CA3-34DA-6DCF2072844E}"/>
              </a:ext>
            </a:extLst>
          </p:cNvPr>
          <p:cNvCxnSpPr>
            <a:stCxn id="25" idx="3"/>
            <a:endCxn id="22" idx="1"/>
          </p:cNvCxnSpPr>
          <p:nvPr/>
        </p:nvCxnSpPr>
        <p:spPr>
          <a:xfrm>
            <a:off x="4010985" y="1218382"/>
            <a:ext cx="1147977" cy="669697"/>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FCF14B51-6446-FB76-BA58-1322A7745A65}"/>
              </a:ext>
            </a:extLst>
          </p:cNvPr>
          <p:cNvCxnSpPr>
            <a:stCxn id="30" idx="3"/>
            <a:endCxn id="29" idx="1"/>
          </p:cNvCxnSpPr>
          <p:nvPr/>
        </p:nvCxnSpPr>
        <p:spPr>
          <a:xfrm>
            <a:off x="3962895" y="3590453"/>
            <a:ext cx="1196067" cy="0"/>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9" name="连接符: 肘形 68">
            <a:extLst>
              <a:ext uri="{FF2B5EF4-FFF2-40B4-BE49-F238E27FC236}">
                <a16:creationId xmlns:a16="http://schemas.microsoft.com/office/drawing/2014/main" id="{28E79879-EA33-D82D-C8F8-F98F89B14031}"/>
              </a:ext>
            </a:extLst>
          </p:cNvPr>
          <p:cNvCxnSpPr>
            <a:stCxn id="32" idx="3"/>
            <a:endCxn id="34" idx="1"/>
          </p:cNvCxnSpPr>
          <p:nvPr/>
        </p:nvCxnSpPr>
        <p:spPr>
          <a:xfrm flipV="1">
            <a:off x="4373263" y="4312114"/>
            <a:ext cx="785699" cy="497460"/>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1" name="连接符: 肘形 70">
            <a:extLst>
              <a:ext uri="{FF2B5EF4-FFF2-40B4-BE49-F238E27FC236}">
                <a16:creationId xmlns:a16="http://schemas.microsoft.com/office/drawing/2014/main" id="{8B843CBE-A744-B62F-FE6F-4CAE90D3BECE}"/>
              </a:ext>
            </a:extLst>
          </p:cNvPr>
          <p:cNvCxnSpPr>
            <a:stCxn id="32" idx="3"/>
            <a:endCxn id="37" idx="1"/>
          </p:cNvCxnSpPr>
          <p:nvPr/>
        </p:nvCxnSpPr>
        <p:spPr>
          <a:xfrm>
            <a:off x="4373263" y="4809574"/>
            <a:ext cx="785699" cy="1294181"/>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3" name="连接符: 肘形 72">
            <a:extLst>
              <a:ext uri="{FF2B5EF4-FFF2-40B4-BE49-F238E27FC236}">
                <a16:creationId xmlns:a16="http://schemas.microsoft.com/office/drawing/2014/main" id="{1E2CE525-C502-38CC-2DA2-12D9EAD80FE4}"/>
              </a:ext>
            </a:extLst>
          </p:cNvPr>
          <p:cNvCxnSpPr>
            <a:stCxn id="32" idx="3"/>
            <a:endCxn id="36" idx="1"/>
          </p:cNvCxnSpPr>
          <p:nvPr/>
        </p:nvCxnSpPr>
        <p:spPr>
          <a:xfrm>
            <a:off x="4373263" y="4809574"/>
            <a:ext cx="785699" cy="528794"/>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5" name="连接符: 肘形 74">
            <a:extLst>
              <a:ext uri="{FF2B5EF4-FFF2-40B4-BE49-F238E27FC236}">
                <a16:creationId xmlns:a16="http://schemas.microsoft.com/office/drawing/2014/main" id="{DF468E83-C460-A913-2367-FAEDAE643C4F}"/>
              </a:ext>
            </a:extLst>
          </p:cNvPr>
          <p:cNvCxnSpPr>
            <a:stCxn id="14" idx="3"/>
            <a:endCxn id="25" idx="1"/>
          </p:cNvCxnSpPr>
          <p:nvPr/>
        </p:nvCxnSpPr>
        <p:spPr>
          <a:xfrm flipV="1">
            <a:off x="2448439" y="1218382"/>
            <a:ext cx="403254" cy="1291907"/>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7" name="连接符: 肘形 76">
            <a:extLst>
              <a:ext uri="{FF2B5EF4-FFF2-40B4-BE49-F238E27FC236}">
                <a16:creationId xmlns:a16="http://schemas.microsoft.com/office/drawing/2014/main" id="{20E3385F-580C-3F46-20A4-8976D7C30ADC}"/>
              </a:ext>
            </a:extLst>
          </p:cNvPr>
          <p:cNvCxnSpPr>
            <a:stCxn id="14" idx="3"/>
            <a:endCxn id="32" idx="1"/>
          </p:cNvCxnSpPr>
          <p:nvPr/>
        </p:nvCxnSpPr>
        <p:spPr>
          <a:xfrm>
            <a:off x="2448439" y="2510289"/>
            <a:ext cx="403254" cy="2299285"/>
          </a:xfrm>
          <a:prstGeom prst="bentConnector3">
            <a:avLst/>
          </a:prstGeom>
          <a:ln>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79" name="连接符: 肘形 78">
            <a:extLst>
              <a:ext uri="{FF2B5EF4-FFF2-40B4-BE49-F238E27FC236}">
                <a16:creationId xmlns:a16="http://schemas.microsoft.com/office/drawing/2014/main" id="{9177EAFE-C368-3A76-26E7-E05EB5FBBB69}"/>
              </a:ext>
            </a:extLst>
          </p:cNvPr>
          <p:cNvCxnSpPr>
            <a:stCxn id="14" idx="3"/>
            <a:endCxn id="30" idx="1"/>
          </p:cNvCxnSpPr>
          <p:nvPr/>
        </p:nvCxnSpPr>
        <p:spPr>
          <a:xfrm>
            <a:off x="2448439" y="2510289"/>
            <a:ext cx="403254" cy="1080164"/>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166314"/>
      </p:ext>
    </p:extLst>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BE609-4AC6-07A7-0983-7911A39A74E1}"/>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3FAB52B4-D78B-BA5A-4B4D-4963C3F85A63}"/>
              </a:ext>
            </a:extLst>
          </p:cNvPr>
          <p:cNvSpPr txBox="1"/>
          <p:nvPr/>
        </p:nvSpPr>
        <p:spPr>
          <a:xfrm>
            <a:off x="4776568" y="899075"/>
            <a:ext cx="2638864" cy="369332"/>
          </a:xfrm>
          <a:prstGeom prst="rect">
            <a:avLst/>
          </a:prstGeom>
          <a:noFill/>
        </p:spPr>
        <p:txBody>
          <a:bodyPr wrap="none" rtlCol="0">
            <a:spAutoFit/>
          </a:bodyPr>
          <a:lstStyle/>
          <a:p>
            <a:pPr algn="ctr"/>
            <a:r>
              <a:rPr lang="en-US" altLang="zh-CN" dirty="0"/>
              <a:t>McCall Quality Model</a:t>
            </a:r>
          </a:p>
        </p:txBody>
      </p:sp>
      <p:sp>
        <p:nvSpPr>
          <p:cNvPr id="28" name="等腰三角形 27">
            <a:extLst>
              <a:ext uri="{FF2B5EF4-FFF2-40B4-BE49-F238E27FC236}">
                <a16:creationId xmlns:a16="http://schemas.microsoft.com/office/drawing/2014/main" id="{E555E579-02FF-0FB5-453B-E7CD3F4640B9}"/>
              </a:ext>
            </a:extLst>
          </p:cNvPr>
          <p:cNvSpPr/>
          <p:nvPr/>
        </p:nvSpPr>
        <p:spPr>
          <a:xfrm>
            <a:off x="2219325" y="1895475"/>
            <a:ext cx="7753350" cy="3067050"/>
          </a:xfrm>
          <a:prstGeom prst="triangl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30" name="文本框 29">
            <a:extLst>
              <a:ext uri="{FF2B5EF4-FFF2-40B4-BE49-F238E27FC236}">
                <a16:creationId xmlns:a16="http://schemas.microsoft.com/office/drawing/2014/main" id="{CCFEFFCE-2AE8-A38F-0E4D-82FC267A2A1D}"/>
              </a:ext>
            </a:extLst>
          </p:cNvPr>
          <p:cNvSpPr txBox="1"/>
          <p:nvPr/>
        </p:nvSpPr>
        <p:spPr>
          <a:xfrm>
            <a:off x="4119518" y="3319462"/>
            <a:ext cx="1018227" cy="584775"/>
          </a:xfrm>
          <a:prstGeom prst="rect">
            <a:avLst/>
          </a:prstGeom>
          <a:noFill/>
        </p:spPr>
        <p:txBody>
          <a:bodyPr wrap="none" rtlCol="0">
            <a:spAutoFit/>
          </a:bodyPr>
          <a:lstStyle/>
          <a:p>
            <a:pPr algn="l"/>
            <a:r>
              <a:rPr lang="en-US" altLang="zh-CN" sz="1600" dirty="0"/>
              <a:t>Product</a:t>
            </a:r>
          </a:p>
          <a:p>
            <a:pPr algn="l"/>
            <a:r>
              <a:rPr lang="en-US" altLang="zh-CN" sz="1600" dirty="0"/>
              <a:t>revision</a:t>
            </a:r>
            <a:endParaRPr lang="zh-CN" altLang="en-US" sz="1600" dirty="0"/>
          </a:p>
        </p:txBody>
      </p:sp>
      <p:sp>
        <p:nvSpPr>
          <p:cNvPr id="31" name="文本框 30">
            <a:extLst>
              <a:ext uri="{FF2B5EF4-FFF2-40B4-BE49-F238E27FC236}">
                <a16:creationId xmlns:a16="http://schemas.microsoft.com/office/drawing/2014/main" id="{7E3641E0-3BD3-BE16-B10B-620B2247F114}"/>
              </a:ext>
            </a:extLst>
          </p:cNvPr>
          <p:cNvSpPr txBox="1"/>
          <p:nvPr/>
        </p:nvSpPr>
        <p:spPr>
          <a:xfrm>
            <a:off x="6938918" y="3319462"/>
            <a:ext cx="1172116" cy="584775"/>
          </a:xfrm>
          <a:prstGeom prst="rect">
            <a:avLst/>
          </a:prstGeom>
          <a:noFill/>
        </p:spPr>
        <p:txBody>
          <a:bodyPr wrap="none" rtlCol="0">
            <a:spAutoFit/>
          </a:bodyPr>
          <a:lstStyle/>
          <a:p>
            <a:pPr algn="l"/>
            <a:r>
              <a:rPr lang="en-US" altLang="zh-CN" sz="1600" dirty="0"/>
              <a:t>Product</a:t>
            </a:r>
          </a:p>
          <a:p>
            <a:pPr algn="l"/>
            <a:r>
              <a:rPr lang="en-US" altLang="zh-CN" sz="1600" dirty="0"/>
              <a:t>transition</a:t>
            </a:r>
            <a:endParaRPr lang="zh-CN" altLang="en-US" sz="1600" dirty="0"/>
          </a:p>
        </p:txBody>
      </p:sp>
      <p:sp>
        <p:nvSpPr>
          <p:cNvPr id="32" name="文本框 31">
            <a:extLst>
              <a:ext uri="{FF2B5EF4-FFF2-40B4-BE49-F238E27FC236}">
                <a16:creationId xmlns:a16="http://schemas.microsoft.com/office/drawing/2014/main" id="{D967D39B-61E6-9BAC-5B56-39D30424F4EA}"/>
              </a:ext>
            </a:extLst>
          </p:cNvPr>
          <p:cNvSpPr txBox="1"/>
          <p:nvPr/>
        </p:nvSpPr>
        <p:spPr>
          <a:xfrm>
            <a:off x="5009004" y="4414421"/>
            <a:ext cx="2173993" cy="338554"/>
          </a:xfrm>
          <a:prstGeom prst="rect">
            <a:avLst/>
          </a:prstGeom>
          <a:noFill/>
        </p:spPr>
        <p:txBody>
          <a:bodyPr wrap="none" rtlCol="0">
            <a:spAutoFit/>
          </a:bodyPr>
          <a:lstStyle/>
          <a:p>
            <a:pPr algn="l"/>
            <a:r>
              <a:rPr lang="en-US" altLang="zh-CN" sz="1600" dirty="0"/>
              <a:t>Product operations</a:t>
            </a:r>
            <a:endParaRPr lang="zh-CN" altLang="en-US" sz="1600" dirty="0"/>
          </a:p>
        </p:txBody>
      </p:sp>
      <p:cxnSp>
        <p:nvCxnSpPr>
          <p:cNvPr id="36" name="直接连接符 35">
            <a:extLst>
              <a:ext uri="{FF2B5EF4-FFF2-40B4-BE49-F238E27FC236}">
                <a16:creationId xmlns:a16="http://schemas.microsoft.com/office/drawing/2014/main" id="{983FB604-12D9-6CBE-77D3-2DA45FAABAA7}"/>
              </a:ext>
            </a:extLst>
          </p:cNvPr>
          <p:cNvCxnSpPr>
            <a:cxnSpLocks/>
            <a:stCxn id="28" idx="2"/>
          </p:cNvCxnSpPr>
          <p:nvPr/>
        </p:nvCxnSpPr>
        <p:spPr>
          <a:xfrm flipV="1">
            <a:off x="2219325" y="3771900"/>
            <a:ext cx="3875638" cy="1190625"/>
          </a:xfrm>
          <a:prstGeom prst="line">
            <a:avLst/>
          </a:prstGeom>
          <a:ln>
            <a:solidFill>
              <a:schemeClr val="accent2"/>
            </a:solidFill>
            <a:tailEnd type="none"/>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6F6B54CA-7BE8-B9B3-3456-139215696DDC}"/>
              </a:ext>
            </a:extLst>
          </p:cNvPr>
          <p:cNvCxnSpPr>
            <a:cxnSpLocks/>
            <a:stCxn id="28" idx="0"/>
          </p:cNvCxnSpPr>
          <p:nvPr/>
        </p:nvCxnSpPr>
        <p:spPr>
          <a:xfrm flipH="1">
            <a:off x="6094963" y="1895475"/>
            <a:ext cx="1037" cy="1876425"/>
          </a:xfrm>
          <a:prstGeom prst="line">
            <a:avLst/>
          </a:prstGeom>
          <a:ln>
            <a:solidFill>
              <a:schemeClr val="accent2"/>
            </a:solidFill>
            <a:tailEnd type="none"/>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92568218-EA13-C7D9-113A-8CE35D26856D}"/>
              </a:ext>
            </a:extLst>
          </p:cNvPr>
          <p:cNvCxnSpPr>
            <a:cxnSpLocks/>
            <a:stCxn id="28" idx="4"/>
          </p:cNvCxnSpPr>
          <p:nvPr/>
        </p:nvCxnSpPr>
        <p:spPr>
          <a:xfrm flipH="1" flipV="1">
            <a:off x="6094963" y="3771900"/>
            <a:ext cx="3877712" cy="1190625"/>
          </a:xfrm>
          <a:prstGeom prst="line">
            <a:avLst/>
          </a:prstGeom>
          <a:ln>
            <a:solidFill>
              <a:schemeClr val="accent2"/>
            </a:solidFill>
            <a:tailEnd type="none"/>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4E0C1A96-1170-92F9-6751-D4A1C590405A}"/>
              </a:ext>
            </a:extLst>
          </p:cNvPr>
          <p:cNvSpPr txBox="1"/>
          <p:nvPr/>
        </p:nvSpPr>
        <p:spPr>
          <a:xfrm>
            <a:off x="1152525" y="2634302"/>
            <a:ext cx="2739853" cy="830997"/>
          </a:xfrm>
          <a:prstGeom prst="rect">
            <a:avLst/>
          </a:prstGeom>
          <a:noFill/>
        </p:spPr>
        <p:txBody>
          <a:bodyPr wrap="none" rtlCol="0">
            <a:spAutoFit/>
          </a:bodyPr>
          <a:lstStyle/>
          <a:p>
            <a:pPr algn="r"/>
            <a:r>
              <a:rPr lang="en-US" altLang="zh-CN" sz="1600" dirty="0"/>
              <a:t>Maintainability</a:t>
            </a:r>
            <a:r>
              <a:rPr lang="zh-CN" altLang="en-US" sz="1600" dirty="0"/>
              <a:t>：可维护性</a:t>
            </a:r>
          </a:p>
          <a:p>
            <a:pPr algn="r"/>
            <a:r>
              <a:rPr lang="en-US" altLang="zh-CN" sz="1600" dirty="0"/>
              <a:t>Flexibility</a:t>
            </a:r>
            <a:r>
              <a:rPr lang="zh-CN" altLang="en-US" sz="1600" dirty="0"/>
              <a:t>：灵活性</a:t>
            </a:r>
          </a:p>
          <a:p>
            <a:pPr algn="r"/>
            <a:r>
              <a:rPr lang="en-US" altLang="zh-CN" sz="1600" dirty="0"/>
              <a:t>Testability</a:t>
            </a:r>
            <a:r>
              <a:rPr lang="zh-CN" altLang="en-US" sz="1600" dirty="0"/>
              <a:t>：可测试性</a:t>
            </a:r>
          </a:p>
        </p:txBody>
      </p:sp>
      <p:sp>
        <p:nvSpPr>
          <p:cNvPr id="43" name="文本框 42">
            <a:extLst>
              <a:ext uri="{FF2B5EF4-FFF2-40B4-BE49-F238E27FC236}">
                <a16:creationId xmlns:a16="http://schemas.microsoft.com/office/drawing/2014/main" id="{9302A76E-C8C6-7203-426C-D10050441ADC}"/>
              </a:ext>
            </a:extLst>
          </p:cNvPr>
          <p:cNvSpPr txBox="1"/>
          <p:nvPr/>
        </p:nvSpPr>
        <p:spPr>
          <a:xfrm>
            <a:off x="8572500" y="2634302"/>
            <a:ext cx="2792752" cy="830997"/>
          </a:xfrm>
          <a:prstGeom prst="rect">
            <a:avLst/>
          </a:prstGeom>
          <a:noFill/>
        </p:spPr>
        <p:txBody>
          <a:bodyPr wrap="none" rtlCol="0">
            <a:spAutoFit/>
          </a:bodyPr>
          <a:lstStyle/>
          <a:p>
            <a:pPr algn="l"/>
            <a:r>
              <a:rPr lang="en-US" altLang="zh-CN" sz="1600" dirty="0"/>
              <a:t>Portability</a:t>
            </a:r>
            <a:r>
              <a:rPr lang="zh-CN" altLang="en-US" sz="1600" dirty="0"/>
              <a:t>：可移植性</a:t>
            </a:r>
          </a:p>
          <a:p>
            <a:pPr algn="l"/>
            <a:r>
              <a:rPr lang="en-US" altLang="zh-CN" sz="1600" dirty="0"/>
              <a:t>Reusability</a:t>
            </a:r>
            <a:r>
              <a:rPr lang="zh-CN" altLang="en-US" sz="1600" dirty="0"/>
              <a:t>：可重用性</a:t>
            </a:r>
          </a:p>
          <a:p>
            <a:pPr algn="l"/>
            <a:r>
              <a:rPr lang="en-US" altLang="zh-CN" sz="1600" dirty="0"/>
              <a:t>Interoperability</a:t>
            </a:r>
            <a:r>
              <a:rPr lang="zh-CN" altLang="en-US" sz="1600" dirty="0"/>
              <a:t>：互操作性</a:t>
            </a:r>
          </a:p>
        </p:txBody>
      </p:sp>
      <p:sp>
        <p:nvSpPr>
          <p:cNvPr id="47" name="文本框 46">
            <a:extLst>
              <a:ext uri="{FF2B5EF4-FFF2-40B4-BE49-F238E27FC236}">
                <a16:creationId xmlns:a16="http://schemas.microsoft.com/office/drawing/2014/main" id="{9CC8965E-98CE-35AE-D28F-30BD1139DB1B}"/>
              </a:ext>
            </a:extLst>
          </p:cNvPr>
          <p:cNvSpPr txBox="1"/>
          <p:nvPr/>
        </p:nvSpPr>
        <p:spPr>
          <a:xfrm>
            <a:off x="2752725" y="5193357"/>
            <a:ext cx="6686551" cy="369332"/>
          </a:xfrm>
          <a:prstGeom prst="rect">
            <a:avLst/>
          </a:prstGeom>
          <a:noFill/>
        </p:spPr>
        <p:txBody>
          <a:bodyPr wrap="square">
            <a:spAutoFit/>
          </a:bodyPr>
          <a:lstStyle/>
          <a:p>
            <a:pPr algn="ctr"/>
            <a:r>
              <a:rPr lang="en-US" altLang="zh-CN" dirty="0"/>
              <a:t>Correctness / Reliability</a:t>
            </a:r>
            <a:r>
              <a:rPr lang="zh-CN" altLang="en-US" dirty="0"/>
              <a:t> </a:t>
            </a:r>
            <a:r>
              <a:rPr lang="en-US" altLang="zh-CN" dirty="0"/>
              <a:t>/ Efficiency</a:t>
            </a:r>
            <a:r>
              <a:rPr lang="zh-CN" altLang="en-US" dirty="0"/>
              <a:t> </a:t>
            </a:r>
            <a:r>
              <a:rPr lang="en-US" altLang="zh-CN" dirty="0"/>
              <a:t>/ Integrity</a:t>
            </a:r>
            <a:r>
              <a:rPr lang="zh-CN" altLang="en-US" dirty="0"/>
              <a:t> </a:t>
            </a:r>
            <a:r>
              <a:rPr lang="en-US" altLang="zh-CN" dirty="0"/>
              <a:t>/ Usability</a:t>
            </a:r>
            <a:endParaRPr lang="zh-CN" altLang="en-US" dirty="0"/>
          </a:p>
        </p:txBody>
      </p:sp>
      <p:sp>
        <p:nvSpPr>
          <p:cNvPr id="48" name="文本框 47">
            <a:extLst>
              <a:ext uri="{FF2B5EF4-FFF2-40B4-BE49-F238E27FC236}">
                <a16:creationId xmlns:a16="http://schemas.microsoft.com/office/drawing/2014/main" id="{BBF677C4-DF37-68D0-D177-91677B982F9A}"/>
              </a:ext>
            </a:extLst>
          </p:cNvPr>
          <p:cNvSpPr txBox="1"/>
          <p:nvPr/>
        </p:nvSpPr>
        <p:spPr>
          <a:xfrm>
            <a:off x="3882030" y="5595996"/>
            <a:ext cx="4427941" cy="369332"/>
          </a:xfrm>
          <a:prstGeom prst="rect">
            <a:avLst/>
          </a:prstGeom>
          <a:noFill/>
        </p:spPr>
        <p:txBody>
          <a:bodyPr wrap="square" rtlCol="0">
            <a:spAutoFit/>
          </a:bodyPr>
          <a:lstStyle/>
          <a:p>
            <a:pPr algn="ctr"/>
            <a:r>
              <a:rPr lang="zh-CN" altLang="en-US" dirty="0"/>
              <a:t>正确性 </a:t>
            </a:r>
            <a:r>
              <a:rPr lang="en-US" altLang="zh-CN" dirty="0"/>
              <a:t>/ </a:t>
            </a:r>
            <a:r>
              <a:rPr lang="zh-CN" altLang="en-US" dirty="0"/>
              <a:t>可靠性 </a:t>
            </a:r>
            <a:r>
              <a:rPr lang="en-US" altLang="zh-CN" dirty="0"/>
              <a:t>/ </a:t>
            </a:r>
            <a:r>
              <a:rPr lang="zh-CN" altLang="en-US" dirty="0"/>
              <a:t>效率 </a:t>
            </a:r>
            <a:r>
              <a:rPr lang="en-US" altLang="zh-CN" dirty="0"/>
              <a:t>/ </a:t>
            </a:r>
            <a:r>
              <a:rPr lang="zh-CN" altLang="en-US" dirty="0"/>
              <a:t>完整性 </a:t>
            </a:r>
            <a:r>
              <a:rPr lang="en-US" altLang="zh-CN" dirty="0"/>
              <a:t>/ </a:t>
            </a:r>
            <a:r>
              <a:rPr lang="zh-CN" altLang="en-US" dirty="0"/>
              <a:t>可用性</a:t>
            </a:r>
          </a:p>
        </p:txBody>
      </p:sp>
      <p:sp>
        <p:nvSpPr>
          <p:cNvPr id="52" name="文本框 51">
            <a:extLst>
              <a:ext uri="{FF2B5EF4-FFF2-40B4-BE49-F238E27FC236}">
                <a16:creationId xmlns:a16="http://schemas.microsoft.com/office/drawing/2014/main" id="{1A46655F-6769-6AAD-57B7-1AD8C7D07FE3}"/>
              </a:ext>
            </a:extLst>
          </p:cNvPr>
          <p:cNvSpPr txBox="1"/>
          <p:nvPr/>
        </p:nvSpPr>
        <p:spPr>
          <a:xfrm>
            <a:off x="5904388" y="3833396"/>
            <a:ext cx="370614" cy="707886"/>
          </a:xfrm>
          <a:prstGeom prst="rect">
            <a:avLst/>
          </a:prstGeom>
          <a:noFill/>
        </p:spPr>
        <p:txBody>
          <a:bodyPr wrap="none" rtlCol="0">
            <a:spAutoFit/>
          </a:bodyPr>
          <a:lstStyle/>
          <a:p>
            <a:pPr algn="l"/>
            <a:r>
              <a:rPr lang="en-US" altLang="zh-CN" sz="4000" dirty="0">
                <a:solidFill>
                  <a:schemeClr val="accent2"/>
                </a:solidFill>
              </a:rPr>
              <a:t>1</a:t>
            </a:r>
            <a:endParaRPr lang="zh-CN" altLang="en-US" sz="4000" dirty="0">
              <a:solidFill>
                <a:schemeClr val="accent2"/>
              </a:solidFill>
            </a:endParaRPr>
          </a:p>
        </p:txBody>
      </p:sp>
      <p:sp>
        <p:nvSpPr>
          <p:cNvPr id="53" name="文本框 52">
            <a:extLst>
              <a:ext uri="{FF2B5EF4-FFF2-40B4-BE49-F238E27FC236}">
                <a16:creationId xmlns:a16="http://schemas.microsoft.com/office/drawing/2014/main" id="{6E866795-B632-710B-8E59-BF015022D5A1}"/>
              </a:ext>
            </a:extLst>
          </p:cNvPr>
          <p:cNvSpPr txBox="1"/>
          <p:nvPr/>
        </p:nvSpPr>
        <p:spPr>
          <a:xfrm>
            <a:off x="5302372" y="2957058"/>
            <a:ext cx="476412" cy="707886"/>
          </a:xfrm>
          <a:prstGeom prst="rect">
            <a:avLst/>
          </a:prstGeom>
          <a:noFill/>
        </p:spPr>
        <p:txBody>
          <a:bodyPr wrap="none" rtlCol="0">
            <a:spAutoFit/>
          </a:bodyPr>
          <a:lstStyle/>
          <a:p>
            <a:pPr algn="l"/>
            <a:r>
              <a:rPr lang="en-US" altLang="zh-CN" sz="4000" dirty="0">
                <a:solidFill>
                  <a:schemeClr val="accent2"/>
                </a:solidFill>
              </a:rPr>
              <a:t>2</a:t>
            </a:r>
            <a:endParaRPr lang="zh-CN" altLang="en-US" sz="4000" dirty="0">
              <a:solidFill>
                <a:schemeClr val="accent2"/>
              </a:solidFill>
            </a:endParaRPr>
          </a:p>
        </p:txBody>
      </p:sp>
      <p:sp>
        <p:nvSpPr>
          <p:cNvPr id="54" name="文本框 53">
            <a:extLst>
              <a:ext uri="{FF2B5EF4-FFF2-40B4-BE49-F238E27FC236}">
                <a16:creationId xmlns:a16="http://schemas.microsoft.com/office/drawing/2014/main" id="{9132D252-6E17-1715-8B7B-5F8E349B2211}"/>
              </a:ext>
            </a:extLst>
          </p:cNvPr>
          <p:cNvSpPr txBox="1"/>
          <p:nvPr/>
        </p:nvSpPr>
        <p:spPr>
          <a:xfrm>
            <a:off x="6430284" y="2957058"/>
            <a:ext cx="476412" cy="707886"/>
          </a:xfrm>
          <a:prstGeom prst="rect">
            <a:avLst/>
          </a:prstGeom>
          <a:noFill/>
        </p:spPr>
        <p:txBody>
          <a:bodyPr wrap="none" rtlCol="0">
            <a:spAutoFit/>
          </a:bodyPr>
          <a:lstStyle/>
          <a:p>
            <a:pPr algn="l"/>
            <a:r>
              <a:rPr lang="en-US" altLang="zh-CN" sz="4000" dirty="0">
                <a:solidFill>
                  <a:schemeClr val="accent2"/>
                </a:solidFill>
              </a:rPr>
              <a:t>3</a:t>
            </a:r>
            <a:endParaRPr lang="zh-CN" altLang="en-US" sz="4000" dirty="0">
              <a:solidFill>
                <a:schemeClr val="accent2"/>
              </a:solidFill>
            </a:endParaRPr>
          </a:p>
        </p:txBody>
      </p:sp>
      <p:sp>
        <p:nvSpPr>
          <p:cNvPr id="2" name="文本框 1">
            <a:extLst>
              <a:ext uri="{FF2B5EF4-FFF2-40B4-BE49-F238E27FC236}">
                <a16:creationId xmlns:a16="http://schemas.microsoft.com/office/drawing/2014/main" id="{D4554B61-9248-9200-9782-D2017425935B}"/>
              </a:ext>
            </a:extLst>
          </p:cNvPr>
          <p:cNvSpPr txBox="1"/>
          <p:nvPr/>
        </p:nvSpPr>
        <p:spPr>
          <a:xfrm>
            <a:off x="7360961" y="3806339"/>
            <a:ext cx="1005403" cy="338554"/>
          </a:xfrm>
          <a:prstGeom prst="rect">
            <a:avLst/>
          </a:prstGeom>
          <a:noFill/>
        </p:spPr>
        <p:txBody>
          <a:bodyPr wrap="none" rtlCol="0">
            <a:spAutoFit/>
          </a:bodyPr>
          <a:lstStyle/>
          <a:p>
            <a:pPr algn="l"/>
            <a:r>
              <a:rPr lang="zh-CN" altLang="en-US" sz="1600" dirty="0"/>
              <a:t>产品过渡</a:t>
            </a:r>
          </a:p>
        </p:txBody>
      </p:sp>
      <p:sp>
        <p:nvSpPr>
          <p:cNvPr id="3" name="文本框 2">
            <a:extLst>
              <a:ext uri="{FF2B5EF4-FFF2-40B4-BE49-F238E27FC236}">
                <a16:creationId xmlns:a16="http://schemas.microsoft.com/office/drawing/2014/main" id="{76A7833B-3C4F-4391-D54A-395DA7CFFADB}"/>
              </a:ext>
            </a:extLst>
          </p:cNvPr>
          <p:cNvSpPr txBox="1"/>
          <p:nvPr/>
        </p:nvSpPr>
        <p:spPr>
          <a:xfrm>
            <a:off x="3696983" y="3841916"/>
            <a:ext cx="1005403" cy="338554"/>
          </a:xfrm>
          <a:prstGeom prst="rect">
            <a:avLst/>
          </a:prstGeom>
          <a:noFill/>
        </p:spPr>
        <p:txBody>
          <a:bodyPr wrap="none" rtlCol="0">
            <a:spAutoFit/>
          </a:bodyPr>
          <a:lstStyle/>
          <a:p>
            <a:pPr algn="l"/>
            <a:r>
              <a:rPr lang="zh-CN" altLang="en-US" sz="1600" dirty="0"/>
              <a:t>产品更新</a:t>
            </a:r>
          </a:p>
        </p:txBody>
      </p:sp>
      <p:sp>
        <p:nvSpPr>
          <p:cNvPr id="4" name="文本框 3">
            <a:extLst>
              <a:ext uri="{FF2B5EF4-FFF2-40B4-BE49-F238E27FC236}">
                <a16:creationId xmlns:a16="http://schemas.microsoft.com/office/drawing/2014/main" id="{D4847735-7193-4154-5085-582A9840D5EE}"/>
              </a:ext>
            </a:extLst>
          </p:cNvPr>
          <p:cNvSpPr txBox="1"/>
          <p:nvPr/>
        </p:nvSpPr>
        <p:spPr>
          <a:xfrm>
            <a:off x="5633576" y="4640625"/>
            <a:ext cx="1005403" cy="338554"/>
          </a:xfrm>
          <a:prstGeom prst="rect">
            <a:avLst/>
          </a:prstGeom>
          <a:noFill/>
        </p:spPr>
        <p:txBody>
          <a:bodyPr wrap="none" rtlCol="0">
            <a:spAutoFit/>
          </a:bodyPr>
          <a:lstStyle/>
          <a:p>
            <a:pPr algn="l"/>
            <a:r>
              <a:rPr lang="zh-CN" altLang="en-US" sz="1600" dirty="0"/>
              <a:t>产品操作</a:t>
            </a:r>
          </a:p>
        </p:txBody>
      </p:sp>
    </p:spTree>
    <p:extLst>
      <p:ext uri="{BB962C8B-B14F-4D97-AF65-F5344CB8AC3E}">
        <p14:creationId xmlns:p14="http://schemas.microsoft.com/office/powerpoint/2010/main" val="3793669256"/>
      </p:ext>
    </p:extLst>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4324F17A-DF95-62BC-91BA-C77884659C97}"/>
              </a:ext>
            </a:extLst>
          </p:cNvPr>
          <p:cNvGraphicFramePr>
            <a:graphicFrameLocks noGrp="1"/>
          </p:cNvGraphicFramePr>
          <p:nvPr>
            <p:extLst>
              <p:ext uri="{D42A27DB-BD31-4B8C-83A1-F6EECF244321}">
                <p14:modId xmlns:p14="http://schemas.microsoft.com/office/powerpoint/2010/main" val="1437129454"/>
              </p:ext>
            </p:extLst>
          </p:nvPr>
        </p:nvGraphicFramePr>
        <p:xfrm>
          <a:off x="695325" y="1735137"/>
          <a:ext cx="10801350" cy="3535680"/>
        </p:xfrm>
        <a:graphic>
          <a:graphicData uri="http://schemas.openxmlformats.org/drawingml/2006/table">
            <a:tbl>
              <a:tblPr/>
              <a:tblGrid>
                <a:gridCol w="3600450">
                  <a:extLst>
                    <a:ext uri="{9D8B030D-6E8A-4147-A177-3AD203B41FA5}">
                      <a16:colId xmlns:a16="http://schemas.microsoft.com/office/drawing/2014/main" val="4133689855"/>
                    </a:ext>
                  </a:extLst>
                </a:gridCol>
                <a:gridCol w="3600450">
                  <a:extLst>
                    <a:ext uri="{9D8B030D-6E8A-4147-A177-3AD203B41FA5}">
                      <a16:colId xmlns:a16="http://schemas.microsoft.com/office/drawing/2014/main" val="3540912005"/>
                    </a:ext>
                  </a:extLst>
                </a:gridCol>
                <a:gridCol w="3600450">
                  <a:extLst>
                    <a:ext uri="{9D8B030D-6E8A-4147-A177-3AD203B41FA5}">
                      <a16:colId xmlns:a16="http://schemas.microsoft.com/office/drawing/2014/main" val="1714195627"/>
                    </a:ext>
                  </a:extLst>
                </a:gridCol>
              </a:tblGrid>
              <a:tr h="0">
                <a:tc>
                  <a:txBody>
                    <a:bodyPr/>
                    <a:lstStyle/>
                    <a:p>
                      <a:pPr algn="l">
                        <a:buNone/>
                      </a:pPr>
                      <a:r>
                        <a:rPr lang="zh-CN" altLang="en-US" sz="1600" dirty="0">
                          <a:solidFill>
                            <a:schemeClr val="tx1"/>
                          </a:solidFill>
                        </a:rPr>
                        <a:t>维度</a:t>
                      </a: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dirty="0">
                          <a:solidFill>
                            <a:schemeClr val="tx1"/>
                          </a:solidFill>
                        </a:rPr>
                        <a:t>关注点</a:t>
                      </a: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dirty="0">
                          <a:solidFill>
                            <a:schemeClr val="tx1"/>
                          </a:solidFill>
                        </a:rPr>
                        <a:t>包含的质量特性</a:t>
                      </a: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8463603"/>
                  </a:ext>
                </a:extLst>
              </a:tr>
              <a:tr h="0">
                <a:tc>
                  <a:txBody>
                    <a:bodyPr/>
                    <a:lstStyle/>
                    <a:p>
                      <a:pPr algn="l">
                        <a:buNone/>
                      </a:pPr>
                      <a:r>
                        <a:rPr lang="zh-CN" altLang="en-US" sz="1600" dirty="0">
                          <a:solidFill>
                            <a:schemeClr val="tx1"/>
                          </a:solidFill>
                        </a:rPr>
                        <a:t>产品运行</a:t>
                      </a:r>
                      <a:br>
                        <a:rPr lang="zh-CN" altLang="en-US" sz="1600" dirty="0">
                          <a:solidFill>
                            <a:schemeClr val="tx1"/>
                          </a:solidFill>
                        </a:rPr>
                      </a:br>
                      <a:r>
                        <a:rPr lang="en-US" sz="1600" dirty="0">
                          <a:solidFill>
                            <a:schemeClr val="tx1"/>
                          </a:solidFill>
                        </a:rPr>
                        <a:t>Product Operation</a:t>
                      </a:r>
                    </a:p>
                  </a:txBody>
                  <a:tcPr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l">
                        <a:buNone/>
                      </a:pPr>
                      <a:r>
                        <a:rPr lang="zh-CN" altLang="en-US" sz="1600" dirty="0">
                          <a:solidFill>
                            <a:schemeClr val="tx1"/>
                          </a:solidFill>
                        </a:rPr>
                        <a:t>好不好用？</a:t>
                      </a:r>
                      <a:br>
                        <a:rPr lang="zh-CN" altLang="en-US" sz="1600" dirty="0">
                          <a:solidFill>
                            <a:schemeClr val="tx1"/>
                          </a:solidFill>
                        </a:rPr>
                      </a:br>
                      <a:r>
                        <a:rPr lang="zh-CN" altLang="en-US" sz="1600" dirty="0">
                          <a:solidFill>
                            <a:schemeClr val="tx1"/>
                          </a:solidFill>
                        </a:rPr>
                        <a:t>关注软件在使用过程中的表现，直接关乎用户体验。</a:t>
                      </a:r>
                      <a:endParaRPr lang="en-US" altLang="zh-CN" sz="1600" dirty="0">
                        <a:solidFill>
                          <a:schemeClr val="tx1"/>
                        </a:solidFill>
                      </a:endParaRPr>
                    </a:p>
                    <a:p>
                      <a:pPr algn="l">
                        <a:buNone/>
                      </a:pPr>
                      <a:r>
                        <a:rPr lang="zh-CN" altLang="en-US" sz="1600" dirty="0">
                          <a:solidFill>
                            <a:schemeClr val="tx1"/>
                          </a:solidFill>
                        </a:rPr>
                        <a:t>用户</a:t>
                      </a:r>
                    </a:p>
                  </a:txBody>
                  <a:tcPr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l">
                        <a:buNone/>
                      </a:pPr>
                      <a:r>
                        <a:rPr lang="zh-CN" altLang="en-US" sz="1600" dirty="0">
                          <a:solidFill>
                            <a:schemeClr val="tx1"/>
                          </a:solidFill>
                        </a:rPr>
                        <a:t>正确性 </a:t>
                      </a:r>
                      <a:r>
                        <a:rPr lang="en-US" sz="1600" dirty="0">
                          <a:solidFill>
                            <a:schemeClr val="tx1"/>
                          </a:solidFill>
                        </a:rPr>
                        <a:t>Correctness</a:t>
                      </a:r>
                      <a:br>
                        <a:rPr lang="en-US" sz="1600" dirty="0">
                          <a:solidFill>
                            <a:schemeClr val="tx1"/>
                          </a:solidFill>
                        </a:rPr>
                      </a:br>
                      <a:r>
                        <a:rPr lang="zh-CN" altLang="en-US" sz="1600" dirty="0">
                          <a:solidFill>
                            <a:schemeClr val="tx1"/>
                          </a:solidFill>
                        </a:rPr>
                        <a:t>可靠性 </a:t>
                      </a:r>
                      <a:r>
                        <a:rPr lang="en-US" sz="1600" dirty="0">
                          <a:solidFill>
                            <a:schemeClr val="tx1"/>
                          </a:solidFill>
                        </a:rPr>
                        <a:t>Reliability</a:t>
                      </a:r>
                      <a:br>
                        <a:rPr lang="en-US" sz="1600" dirty="0">
                          <a:solidFill>
                            <a:schemeClr val="tx1"/>
                          </a:solidFill>
                        </a:rPr>
                      </a:br>
                      <a:r>
                        <a:rPr lang="zh-CN" altLang="en-US" sz="1600" dirty="0">
                          <a:solidFill>
                            <a:schemeClr val="tx1"/>
                          </a:solidFill>
                        </a:rPr>
                        <a:t>效率 </a:t>
                      </a:r>
                      <a:r>
                        <a:rPr lang="en-US" sz="1600" dirty="0">
                          <a:solidFill>
                            <a:schemeClr val="tx1"/>
                          </a:solidFill>
                        </a:rPr>
                        <a:t>Efficiency</a:t>
                      </a:r>
                      <a:br>
                        <a:rPr lang="en-US" sz="1600" dirty="0">
                          <a:solidFill>
                            <a:schemeClr val="tx1"/>
                          </a:solidFill>
                        </a:rPr>
                      </a:br>
                      <a:r>
                        <a:rPr lang="zh-CN" altLang="en-US" sz="1600" dirty="0">
                          <a:solidFill>
                            <a:schemeClr val="tx1"/>
                          </a:solidFill>
                        </a:rPr>
                        <a:t>完整性 </a:t>
                      </a:r>
                      <a:r>
                        <a:rPr lang="en-US" sz="1600" dirty="0">
                          <a:solidFill>
                            <a:schemeClr val="tx1"/>
                          </a:solidFill>
                        </a:rPr>
                        <a:t>Integrity</a:t>
                      </a:r>
                      <a:br>
                        <a:rPr lang="en-US" sz="1600" dirty="0">
                          <a:solidFill>
                            <a:schemeClr val="tx1"/>
                          </a:solidFill>
                        </a:rPr>
                      </a:br>
                      <a:r>
                        <a:rPr lang="zh-CN" altLang="en-US" sz="1600" dirty="0">
                          <a:solidFill>
                            <a:schemeClr val="tx1"/>
                          </a:solidFill>
                        </a:rPr>
                        <a:t>易用性 </a:t>
                      </a:r>
                      <a:r>
                        <a:rPr lang="en-US" sz="1600" dirty="0">
                          <a:solidFill>
                            <a:schemeClr val="tx1"/>
                          </a:solidFill>
                        </a:rPr>
                        <a:t>Usability</a:t>
                      </a:r>
                    </a:p>
                  </a:txBody>
                  <a:tcPr anchor="ctr">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772244334"/>
                  </a:ext>
                </a:extLst>
              </a:tr>
              <a:tr h="0">
                <a:tc>
                  <a:txBody>
                    <a:bodyPr/>
                    <a:lstStyle/>
                    <a:p>
                      <a:pPr algn="l">
                        <a:buNone/>
                      </a:pPr>
                      <a:r>
                        <a:rPr lang="zh-CN" altLang="en-US" sz="1600" dirty="0">
                          <a:solidFill>
                            <a:schemeClr val="tx1"/>
                          </a:solidFill>
                        </a:rPr>
                        <a:t>产品修正</a:t>
                      </a:r>
                      <a:br>
                        <a:rPr lang="zh-CN" altLang="en-US" sz="1600" dirty="0">
                          <a:solidFill>
                            <a:schemeClr val="tx1"/>
                          </a:solidFill>
                        </a:rPr>
                      </a:br>
                      <a:r>
                        <a:rPr lang="en-US" sz="1600" dirty="0">
                          <a:solidFill>
                            <a:schemeClr val="tx1"/>
                          </a:solidFill>
                        </a:rPr>
                        <a:t>Product Revision</a:t>
                      </a:r>
                    </a:p>
                  </a:txBody>
                  <a:tcPr anchor="ctr">
                    <a:lnL>
                      <a:noFill/>
                    </a:lnL>
                    <a:lnR>
                      <a:noFill/>
                    </a:lnR>
                    <a:lnT>
                      <a:noFill/>
                    </a:lnT>
                    <a:lnB>
                      <a:noFill/>
                    </a:lnB>
                    <a:noFill/>
                  </a:tcPr>
                </a:tc>
                <a:tc>
                  <a:txBody>
                    <a:bodyPr/>
                    <a:lstStyle/>
                    <a:p>
                      <a:pPr algn="l">
                        <a:buNone/>
                      </a:pPr>
                      <a:r>
                        <a:rPr lang="zh-CN" altLang="en-US" sz="1600" dirty="0">
                          <a:solidFill>
                            <a:schemeClr val="tx1"/>
                          </a:solidFill>
                        </a:rPr>
                        <a:t>好不好改？</a:t>
                      </a:r>
                      <a:br>
                        <a:rPr lang="zh-CN" altLang="en-US" sz="1600" dirty="0">
                          <a:solidFill>
                            <a:schemeClr val="tx1"/>
                          </a:solidFill>
                        </a:rPr>
                      </a:br>
                      <a:r>
                        <a:rPr lang="zh-CN" altLang="en-US" sz="1600" dirty="0">
                          <a:solidFill>
                            <a:schemeClr val="tx1"/>
                          </a:solidFill>
                        </a:rPr>
                        <a:t>关注软件维护和修改的难易程度，关乎开发团队效率。</a:t>
                      </a:r>
                      <a:endParaRPr lang="en-US" altLang="zh-CN" sz="1600" dirty="0">
                        <a:solidFill>
                          <a:schemeClr val="tx1"/>
                        </a:solidFill>
                      </a:endParaRPr>
                    </a:p>
                    <a:p>
                      <a:pPr algn="l">
                        <a:buNone/>
                      </a:pPr>
                      <a:r>
                        <a:rPr lang="zh-CN" altLang="en-US" sz="1600" dirty="0">
                          <a:solidFill>
                            <a:schemeClr val="tx1"/>
                          </a:solidFill>
                        </a:rPr>
                        <a:t>开发团队</a:t>
                      </a:r>
                    </a:p>
                  </a:txBody>
                  <a:tcPr anchor="ctr">
                    <a:lnL>
                      <a:noFill/>
                    </a:lnL>
                    <a:lnR>
                      <a:noFill/>
                    </a:lnR>
                    <a:lnT>
                      <a:noFill/>
                    </a:lnT>
                    <a:lnB>
                      <a:noFill/>
                    </a:lnB>
                    <a:noFill/>
                  </a:tcPr>
                </a:tc>
                <a:tc>
                  <a:txBody>
                    <a:bodyPr/>
                    <a:lstStyle/>
                    <a:p>
                      <a:pPr algn="l">
                        <a:buNone/>
                      </a:pPr>
                      <a:r>
                        <a:rPr lang="zh-CN" altLang="en-US" sz="1600" dirty="0">
                          <a:solidFill>
                            <a:schemeClr val="tx1"/>
                          </a:solidFill>
                        </a:rPr>
                        <a:t>可维护性 </a:t>
                      </a:r>
                      <a:r>
                        <a:rPr lang="en-US" sz="1600" dirty="0">
                          <a:solidFill>
                            <a:schemeClr val="tx1"/>
                          </a:solidFill>
                        </a:rPr>
                        <a:t>Maintainability</a:t>
                      </a:r>
                      <a:br>
                        <a:rPr lang="en-US" sz="1600" dirty="0">
                          <a:solidFill>
                            <a:schemeClr val="tx1"/>
                          </a:solidFill>
                        </a:rPr>
                      </a:br>
                      <a:r>
                        <a:rPr lang="zh-CN" altLang="en-US" sz="1600" dirty="0">
                          <a:solidFill>
                            <a:schemeClr val="tx1"/>
                          </a:solidFill>
                        </a:rPr>
                        <a:t>灵活性 </a:t>
                      </a:r>
                      <a:r>
                        <a:rPr lang="en-US" sz="1600" dirty="0">
                          <a:solidFill>
                            <a:schemeClr val="tx1"/>
                          </a:solidFill>
                        </a:rPr>
                        <a:t>Flexibility</a:t>
                      </a:r>
                      <a:br>
                        <a:rPr lang="en-US" sz="1600" dirty="0">
                          <a:solidFill>
                            <a:schemeClr val="tx1"/>
                          </a:solidFill>
                        </a:rPr>
                      </a:br>
                      <a:r>
                        <a:rPr lang="zh-CN" altLang="en-US" sz="1600" dirty="0">
                          <a:solidFill>
                            <a:schemeClr val="tx1"/>
                          </a:solidFill>
                        </a:rPr>
                        <a:t>可测试性 </a:t>
                      </a:r>
                      <a:r>
                        <a:rPr lang="en-US" sz="1600" dirty="0">
                          <a:solidFill>
                            <a:schemeClr val="tx1"/>
                          </a:solidFill>
                        </a:rPr>
                        <a:t>Testability</a:t>
                      </a:r>
                    </a:p>
                  </a:txBody>
                  <a:tcPr anchor="ctr">
                    <a:lnL>
                      <a:noFill/>
                    </a:lnL>
                    <a:lnR>
                      <a:noFill/>
                    </a:lnR>
                    <a:lnT>
                      <a:noFill/>
                    </a:lnT>
                    <a:lnB>
                      <a:noFill/>
                    </a:lnB>
                    <a:noFill/>
                  </a:tcPr>
                </a:tc>
                <a:extLst>
                  <a:ext uri="{0D108BD9-81ED-4DB2-BD59-A6C34878D82A}">
                    <a16:rowId xmlns:a16="http://schemas.microsoft.com/office/drawing/2014/main" val="1231047244"/>
                  </a:ext>
                </a:extLst>
              </a:tr>
              <a:tr h="0">
                <a:tc>
                  <a:txBody>
                    <a:bodyPr/>
                    <a:lstStyle/>
                    <a:p>
                      <a:pPr algn="l">
                        <a:buNone/>
                      </a:pPr>
                      <a:r>
                        <a:rPr lang="zh-CN" altLang="en-US" sz="1600" dirty="0">
                          <a:solidFill>
                            <a:schemeClr val="tx1"/>
                          </a:solidFill>
                        </a:rPr>
                        <a:t>产品转移</a:t>
                      </a:r>
                      <a:br>
                        <a:rPr lang="zh-CN" altLang="en-US" sz="1600" dirty="0">
                          <a:solidFill>
                            <a:schemeClr val="tx1"/>
                          </a:solidFill>
                        </a:rPr>
                      </a:br>
                      <a:r>
                        <a:rPr lang="en-US" sz="1600" dirty="0">
                          <a:solidFill>
                            <a:schemeClr val="tx1"/>
                          </a:solidFill>
                        </a:rPr>
                        <a:t>Product Transition</a:t>
                      </a:r>
                    </a:p>
                  </a:txBody>
                  <a:tcPr anchor="ctr">
                    <a:lnL>
                      <a:noFill/>
                    </a:lnL>
                    <a:lnR>
                      <a:noFill/>
                    </a:lnR>
                    <a:lnT>
                      <a:noFill/>
                    </a:lnT>
                    <a:lnB w="12700" cap="flat" cmpd="sng" algn="ctr">
                      <a:solidFill>
                        <a:schemeClr val="bg1"/>
                      </a:solidFill>
                      <a:prstDash val="solid"/>
                      <a:round/>
                      <a:headEnd type="none" w="med" len="med"/>
                      <a:tailEnd type="none" w="med" len="med"/>
                    </a:lnB>
                    <a:noFill/>
                  </a:tcPr>
                </a:tc>
                <a:tc>
                  <a:txBody>
                    <a:bodyPr/>
                    <a:lstStyle/>
                    <a:p>
                      <a:pPr algn="l">
                        <a:buNone/>
                      </a:pPr>
                      <a:r>
                        <a:rPr lang="zh-CN" altLang="en-US" sz="1600" dirty="0">
                          <a:solidFill>
                            <a:schemeClr val="tx1"/>
                          </a:solidFill>
                        </a:rPr>
                        <a:t>好不好移？</a:t>
                      </a:r>
                      <a:br>
                        <a:rPr lang="zh-CN" altLang="en-US" sz="1600" dirty="0">
                          <a:solidFill>
                            <a:schemeClr val="tx1"/>
                          </a:solidFill>
                        </a:rPr>
                      </a:br>
                      <a:r>
                        <a:rPr lang="zh-CN" altLang="en-US" sz="1600" dirty="0">
                          <a:solidFill>
                            <a:schemeClr val="tx1"/>
                          </a:solidFill>
                        </a:rPr>
                        <a:t>关注软件适应新环境或被复用的能力。</a:t>
                      </a:r>
                      <a:endParaRPr lang="en-US" altLang="zh-CN" sz="1600" dirty="0">
                        <a:solidFill>
                          <a:schemeClr val="tx1"/>
                        </a:solidFill>
                      </a:endParaRPr>
                    </a:p>
                    <a:p>
                      <a:pPr algn="l">
                        <a:buNone/>
                      </a:pPr>
                      <a:r>
                        <a:rPr lang="zh-CN" altLang="en-US" sz="1600" dirty="0">
                          <a:solidFill>
                            <a:schemeClr val="tx1"/>
                          </a:solidFill>
                        </a:rPr>
                        <a:t>架构师和系统集成者</a:t>
                      </a:r>
                    </a:p>
                  </a:txBody>
                  <a:tcPr anchor="ctr">
                    <a:lnL>
                      <a:noFill/>
                    </a:lnL>
                    <a:lnR>
                      <a:noFill/>
                    </a:lnR>
                    <a:lnT>
                      <a:noFill/>
                    </a:lnT>
                    <a:lnB w="12700" cap="flat" cmpd="sng" algn="ctr">
                      <a:solidFill>
                        <a:schemeClr val="bg1"/>
                      </a:solidFill>
                      <a:prstDash val="solid"/>
                      <a:round/>
                      <a:headEnd type="none" w="med" len="med"/>
                      <a:tailEnd type="none" w="med" len="med"/>
                    </a:lnB>
                    <a:noFill/>
                  </a:tcPr>
                </a:tc>
                <a:tc>
                  <a:txBody>
                    <a:bodyPr/>
                    <a:lstStyle/>
                    <a:p>
                      <a:pPr algn="l">
                        <a:buNone/>
                      </a:pPr>
                      <a:r>
                        <a:rPr lang="zh-CN" altLang="en-US" sz="1600" dirty="0">
                          <a:solidFill>
                            <a:schemeClr val="tx1"/>
                          </a:solidFill>
                        </a:rPr>
                        <a:t>可移植性 </a:t>
                      </a:r>
                      <a:r>
                        <a:rPr lang="en-US" sz="1600" dirty="0">
                          <a:solidFill>
                            <a:schemeClr val="tx1"/>
                          </a:solidFill>
                        </a:rPr>
                        <a:t>Portability</a:t>
                      </a:r>
                      <a:br>
                        <a:rPr lang="en-US" sz="1600" dirty="0">
                          <a:solidFill>
                            <a:schemeClr val="tx1"/>
                          </a:solidFill>
                        </a:rPr>
                      </a:br>
                      <a:r>
                        <a:rPr lang="zh-CN" altLang="en-US" sz="1600" dirty="0">
                          <a:solidFill>
                            <a:schemeClr val="tx1"/>
                          </a:solidFill>
                        </a:rPr>
                        <a:t>复用性 </a:t>
                      </a:r>
                      <a:r>
                        <a:rPr lang="en-US" sz="1600" dirty="0">
                          <a:solidFill>
                            <a:schemeClr val="tx1"/>
                          </a:solidFill>
                        </a:rPr>
                        <a:t>Reusability</a:t>
                      </a:r>
                      <a:br>
                        <a:rPr lang="en-US" sz="1600" dirty="0">
                          <a:solidFill>
                            <a:schemeClr val="tx1"/>
                          </a:solidFill>
                        </a:rPr>
                      </a:br>
                      <a:r>
                        <a:rPr lang="zh-CN" altLang="en-US" sz="1600" dirty="0">
                          <a:solidFill>
                            <a:schemeClr val="tx1"/>
                          </a:solidFill>
                        </a:rPr>
                        <a:t>互操作性 </a:t>
                      </a:r>
                      <a:r>
                        <a:rPr lang="en-US" sz="1600" dirty="0">
                          <a:solidFill>
                            <a:schemeClr val="tx1"/>
                          </a:solidFill>
                        </a:rPr>
                        <a:t>Interoperability</a:t>
                      </a:r>
                    </a:p>
                  </a:txBody>
                  <a:tcPr anchor="ctr">
                    <a:lnL>
                      <a:noFill/>
                    </a:lnL>
                    <a:lnR>
                      <a:noFill/>
                    </a:lnR>
                    <a:lnT>
                      <a:noFill/>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9754092"/>
                  </a:ext>
                </a:extLst>
              </a:tr>
            </a:tbl>
          </a:graphicData>
        </a:graphic>
      </p:graphicFrame>
      <p:sp>
        <p:nvSpPr>
          <p:cNvPr id="3" name="文本框 2">
            <a:extLst>
              <a:ext uri="{FF2B5EF4-FFF2-40B4-BE49-F238E27FC236}">
                <a16:creationId xmlns:a16="http://schemas.microsoft.com/office/drawing/2014/main" id="{3787EE19-C23C-54DA-BEA2-BC0F17BB8622}"/>
              </a:ext>
            </a:extLst>
          </p:cNvPr>
          <p:cNvSpPr txBox="1"/>
          <p:nvPr/>
        </p:nvSpPr>
        <p:spPr>
          <a:xfrm>
            <a:off x="4776568" y="899075"/>
            <a:ext cx="2638864" cy="369332"/>
          </a:xfrm>
          <a:prstGeom prst="rect">
            <a:avLst/>
          </a:prstGeom>
          <a:noFill/>
        </p:spPr>
        <p:txBody>
          <a:bodyPr wrap="none" rtlCol="0">
            <a:spAutoFit/>
          </a:bodyPr>
          <a:lstStyle/>
          <a:p>
            <a:pPr algn="ctr"/>
            <a:r>
              <a:rPr lang="en-US" altLang="zh-CN" dirty="0"/>
              <a:t>McCall Quality Model</a:t>
            </a:r>
          </a:p>
        </p:txBody>
      </p:sp>
    </p:spTree>
    <p:extLst>
      <p:ext uri="{BB962C8B-B14F-4D97-AF65-F5344CB8AC3E}">
        <p14:creationId xmlns:p14="http://schemas.microsoft.com/office/powerpoint/2010/main" val="2881627913"/>
      </p:ext>
    </p:extLst>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A3CD2-C4CC-A4AD-A92E-E5401920489E}"/>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1D6CE9DA-CB90-CA30-B926-67E0E3B5D05D}"/>
              </a:ext>
            </a:extLst>
          </p:cNvPr>
          <p:cNvSpPr/>
          <p:nvPr/>
        </p:nvSpPr>
        <p:spPr>
          <a:xfrm>
            <a:off x="5397849" y="1535592"/>
            <a:ext cx="144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软件质量</a:t>
            </a:r>
          </a:p>
        </p:txBody>
      </p:sp>
      <p:sp>
        <p:nvSpPr>
          <p:cNvPr id="25" name="矩形 24">
            <a:extLst>
              <a:ext uri="{FF2B5EF4-FFF2-40B4-BE49-F238E27FC236}">
                <a16:creationId xmlns:a16="http://schemas.microsoft.com/office/drawing/2014/main" id="{33478A80-AB8F-6E05-8B86-2571343E403F}"/>
              </a:ext>
            </a:extLst>
          </p:cNvPr>
          <p:cNvSpPr/>
          <p:nvPr/>
        </p:nvSpPr>
        <p:spPr>
          <a:xfrm>
            <a:off x="1826964" y="2497364"/>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功能性</a:t>
            </a:r>
          </a:p>
        </p:txBody>
      </p:sp>
      <p:sp>
        <p:nvSpPr>
          <p:cNvPr id="26" name="矩形 25">
            <a:extLst>
              <a:ext uri="{FF2B5EF4-FFF2-40B4-BE49-F238E27FC236}">
                <a16:creationId xmlns:a16="http://schemas.microsoft.com/office/drawing/2014/main" id="{5641C15F-AB57-86CD-7333-80F4D5EF0E3B}"/>
              </a:ext>
            </a:extLst>
          </p:cNvPr>
          <p:cNvSpPr/>
          <p:nvPr/>
        </p:nvSpPr>
        <p:spPr>
          <a:xfrm>
            <a:off x="3287259" y="2497364"/>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可靠性</a:t>
            </a:r>
          </a:p>
        </p:txBody>
      </p:sp>
      <p:sp>
        <p:nvSpPr>
          <p:cNvPr id="27" name="矩形 26">
            <a:extLst>
              <a:ext uri="{FF2B5EF4-FFF2-40B4-BE49-F238E27FC236}">
                <a16:creationId xmlns:a16="http://schemas.microsoft.com/office/drawing/2014/main" id="{D6287F45-A70F-206E-F769-AEC23413D9B0}"/>
              </a:ext>
            </a:extLst>
          </p:cNvPr>
          <p:cNvSpPr/>
          <p:nvPr/>
        </p:nvSpPr>
        <p:spPr>
          <a:xfrm>
            <a:off x="4748445" y="2497364"/>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易用性</a:t>
            </a:r>
          </a:p>
        </p:txBody>
      </p:sp>
      <p:sp>
        <p:nvSpPr>
          <p:cNvPr id="28" name="矩形 27">
            <a:extLst>
              <a:ext uri="{FF2B5EF4-FFF2-40B4-BE49-F238E27FC236}">
                <a16:creationId xmlns:a16="http://schemas.microsoft.com/office/drawing/2014/main" id="{ED29A643-CF51-0069-71B0-17A0B8CDC13E}"/>
              </a:ext>
            </a:extLst>
          </p:cNvPr>
          <p:cNvSpPr/>
          <p:nvPr/>
        </p:nvSpPr>
        <p:spPr>
          <a:xfrm>
            <a:off x="6207849" y="2497364"/>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效率</a:t>
            </a:r>
          </a:p>
        </p:txBody>
      </p:sp>
      <p:sp>
        <p:nvSpPr>
          <p:cNvPr id="29" name="矩形 28">
            <a:extLst>
              <a:ext uri="{FF2B5EF4-FFF2-40B4-BE49-F238E27FC236}">
                <a16:creationId xmlns:a16="http://schemas.microsoft.com/office/drawing/2014/main" id="{91CE756D-DFAA-08FB-6F5A-B75658EB29B6}"/>
              </a:ext>
            </a:extLst>
          </p:cNvPr>
          <p:cNvSpPr/>
          <p:nvPr/>
        </p:nvSpPr>
        <p:spPr>
          <a:xfrm>
            <a:off x="7751066" y="2497364"/>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可维护性</a:t>
            </a:r>
          </a:p>
        </p:txBody>
      </p:sp>
      <p:sp>
        <p:nvSpPr>
          <p:cNvPr id="30" name="矩形 29">
            <a:extLst>
              <a:ext uri="{FF2B5EF4-FFF2-40B4-BE49-F238E27FC236}">
                <a16:creationId xmlns:a16="http://schemas.microsoft.com/office/drawing/2014/main" id="{07C887B7-25D9-488A-C2B4-9F60D8FB4037}"/>
              </a:ext>
            </a:extLst>
          </p:cNvPr>
          <p:cNvSpPr/>
          <p:nvPr/>
        </p:nvSpPr>
        <p:spPr>
          <a:xfrm>
            <a:off x="9250974" y="2497364"/>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可移植性</a:t>
            </a:r>
          </a:p>
        </p:txBody>
      </p:sp>
      <p:sp>
        <p:nvSpPr>
          <p:cNvPr id="31" name="文本框 30">
            <a:extLst>
              <a:ext uri="{FF2B5EF4-FFF2-40B4-BE49-F238E27FC236}">
                <a16:creationId xmlns:a16="http://schemas.microsoft.com/office/drawing/2014/main" id="{EC4A6D75-AFB4-A1CA-0E11-35C58B5E1569}"/>
              </a:ext>
            </a:extLst>
          </p:cNvPr>
          <p:cNvSpPr txBox="1"/>
          <p:nvPr/>
        </p:nvSpPr>
        <p:spPr>
          <a:xfrm>
            <a:off x="1659078" y="3381375"/>
            <a:ext cx="1415772" cy="707886"/>
          </a:xfrm>
          <a:prstGeom prst="rect">
            <a:avLst/>
          </a:prstGeom>
          <a:noFill/>
          <a:ln>
            <a:solidFill>
              <a:schemeClr val="tx1"/>
            </a:solidFill>
          </a:ln>
        </p:spPr>
        <p:txBody>
          <a:bodyPr vert="eaVert" wrap="none" rtlCol="0">
            <a:spAutoFit/>
          </a:bodyPr>
          <a:lstStyle/>
          <a:p>
            <a:pPr algn="l"/>
            <a:r>
              <a:rPr lang="zh-CN" altLang="en-US" sz="1600" dirty="0"/>
              <a:t>适合性</a:t>
            </a:r>
          </a:p>
          <a:p>
            <a:pPr algn="l"/>
            <a:r>
              <a:rPr lang="zh-CN" altLang="en-US" sz="1600" dirty="0"/>
              <a:t>准确性</a:t>
            </a:r>
          </a:p>
          <a:p>
            <a:pPr algn="l"/>
            <a:r>
              <a:rPr lang="zh-CN" altLang="en-US" sz="1600" dirty="0"/>
              <a:t>互用性</a:t>
            </a:r>
          </a:p>
          <a:p>
            <a:pPr algn="l"/>
            <a:r>
              <a:rPr lang="zh-CN" altLang="en-US" sz="1600" dirty="0"/>
              <a:t>依从性</a:t>
            </a:r>
          </a:p>
          <a:p>
            <a:pPr algn="l"/>
            <a:r>
              <a:rPr lang="zh-CN" altLang="en-US" sz="1600" dirty="0"/>
              <a:t>安全性</a:t>
            </a:r>
          </a:p>
        </p:txBody>
      </p:sp>
      <p:sp>
        <p:nvSpPr>
          <p:cNvPr id="32" name="文本框 31">
            <a:extLst>
              <a:ext uri="{FF2B5EF4-FFF2-40B4-BE49-F238E27FC236}">
                <a16:creationId xmlns:a16="http://schemas.microsoft.com/office/drawing/2014/main" id="{1F143E96-8C31-D5DB-6562-CA1EFEC56071}"/>
              </a:ext>
            </a:extLst>
          </p:cNvPr>
          <p:cNvSpPr txBox="1"/>
          <p:nvPr/>
        </p:nvSpPr>
        <p:spPr>
          <a:xfrm>
            <a:off x="3365594" y="3381375"/>
            <a:ext cx="923330" cy="913070"/>
          </a:xfrm>
          <a:prstGeom prst="rect">
            <a:avLst/>
          </a:prstGeom>
          <a:noFill/>
          <a:ln>
            <a:solidFill>
              <a:schemeClr val="tx1"/>
            </a:solidFill>
          </a:ln>
        </p:spPr>
        <p:txBody>
          <a:bodyPr vert="eaVert" wrap="none" rtlCol="0">
            <a:spAutoFit/>
          </a:bodyPr>
          <a:lstStyle/>
          <a:p>
            <a:pPr algn="l"/>
            <a:r>
              <a:rPr lang="zh-CN" altLang="en-US" sz="1600" dirty="0"/>
              <a:t>成熟性</a:t>
            </a:r>
          </a:p>
          <a:p>
            <a:pPr algn="l"/>
            <a:r>
              <a:rPr lang="zh-CN" altLang="en-US" sz="1600" dirty="0"/>
              <a:t>容错性</a:t>
            </a:r>
          </a:p>
          <a:p>
            <a:pPr algn="l"/>
            <a:r>
              <a:rPr lang="zh-CN" altLang="en-US" sz="1600" dirty="0"/>
              <a:t>易恢复性</a:t>
            </a:r>
          </a:p>
        </p:txBody>
      </p:sp>
      <p:sp>
        <p:nvSpPr>
          <p:cNvPr id="33" name="文本框 32">
            <a:extLst>
              <a:ext uri="{FF2B5EF4-FFF2-40B4-BE49-F238E27FC236}">
                <a16:creationId xmlns:a16="http://schemas.microsoft.com/office/drawing/2014/main" id="{C0DB87BF-40DD-B19D-9235-53F8384A2130}"/>
              </a:ext>
            </a:extLst>
          </p:cNvPr>
          <p:cNvSpPr txBox="1"/>
          <p:nvPr/>
        </p:nvSpPr>
        <p:spPr>
          <a:xfrm>
            <a:off x="4826780" y="3381375"/>
            <a:ext cx="923330" cy="913070"/>
          </a:xfrm>
          <a:prstGeom prst="rect">
            <a:avLst/>
          </a:prstGeom>
          <a:noFill/>
          <a:ln>
            <a:solidFill>
              <a:schemeClr val="tx1"/>
            </a:solidFill>
          </a:ln>
        </p:spPr>
        <p:txBody>
          <a:bodyPr vert="eaVert" wrap="none" rtlCol="0">
            <a:spAutoFit/>
          </a:bodyPr>
          <a:lstStyle/>
          <a:p>
            <a:pPr algn="l"/>
            <a:r>
              <a:rPr lang="zh-CN" altLang="en-US" sz="1600" dirty="0"/>
              <a:t>易理解性</a:t>
            </a:r>
          </a:p>
          <a:p>
            <a:pPr algn="l"/>
            <a:r>
              <a:rPr lang="zh-CN" altLang="en-US" sz="1600" dirty="0"/>
              <a:t>易学性</a:t>
            </a:r>
          </a:p>
          <a:p>
            <a:pPr algn="l"/>
            <a:r>
              <a:rPr lang="zh-CN" altLang="en-US" sz="1600" dirty="0"/>
              <a:t>易操作性</a:t>
            </a:r>
          </a:p>
        </p:txBody>
      </p:sp>
      <p:sp>
        <p:nvSpPr>
          <p:cNvPr id="34" name="文本框 33">
            <a:extLst>
              <a:ext uri="{FF2B5EF4-FFF2-40B4-BE49-F238E27FC236}">
                <a16:creationId xmlns:a16="http://schemas.microsoft.com/office/drawing/2014/main" id="{AF19D8CD-DE82-0583-6583-5B001FF8C24B}"/>
              </a:ext>
            </a:extLst>
          </p:cNvPr>
          <p:cNvSpPr txBox="1"/>
          <p:nvPr/>
        </p:nvSpPr>
        <p:spPr>
          <a:xfrm>
            <a:off x="6409295" y="3381375"/>
            <a:ext cx="677108" cy="913070"/>
          </a:xfrm>
          <a:prstGeom prst="rect">
            <a:avLst/>
          </a:prstGeom>
          <a:noFill/>
          <a:ln>
            <a:solidFill>
              <a:schemeClr val="tx1"/>
            </a:solidFill>
          </a:ln>
        </p:spPr>
        <p:txBody>
          <a:bodyPr vert="eaVert" wrap="none" rtlCol="0">
            <a:spAutoFit/>
          </a:bodyPr>
          <a:lstStyle/>
          <a:p>
            <a:pPr algn="l"/>
            <a:r>
              <a:rPr lang="zh-CN" altLang="en-US" sz="1600" dirty="0"/>
              <a:t>时间特性</a:t>
            </a:r>
          </a:p>
          <a:p>
            <a:pPr algn="l"/>
            <a:r>
              <a:rPr lang="zh-CN" altLang="en-US" sz="1600" dirty="0"/>
              <a:t>资源特性</a:t>
            </a:r>
          </a:p>
        </p:txBody>
      </p:sp>
      <p:sp>
        <p:nvSpPr>
          <p:cNvPr id="35" name="文本框 34">
            <a:extLst>
              <a:ext uri="{FF2B5EF4-FFF2-40B4-BE49-F238E27FC236}">
                <a16:creationId xmlns:a16="http://schemas.microsoft.com/office/drawing/2014/main" id="{0F31B483-4C09-371C-ADCE-99DCC6ECE3D9}"/>
              </a:ext>
            </a:extLst>
          </p:cNvPr>
          <p:cNvSpPr txBox="1"/>
          <p:nvPr/>
        </p:nvSpPr>
        <p:spPr>
          <a:xfrm>
            <a:off x="7706291" y="3381375"/>
            <a:ext cx="1169551" cy="913070"/>
          </a:xfrm>
          <a:prstGeom prst="rect">
            <a:avLst/>
          </a:prstGeom>
          <a:noFill/>
          <a:ln>
            <a:solidFill>
              <a:schemeClr val="tx1"/>
            </a:solidFill>
          </a:ln>
        </p:spPr>
        <p:txBody>
          <a:bodyPr vert="eaVert" wrap="none" rtlCol="0">
            <a:spAutoFit/>
          </a:bodyPr>
          <a:lstStyle/>
          <a:p>
            <a:pPr algn="l"/>
            <a:r>
              <a:rPr lang="zh-CN" altLang="en-US" sz="1600" dirty="0"/>
              <a:t>易分析性</a:t>
            </a:r>
          </a:p>
          <a:p>
            <a:pPr algn="l"/>
            <a:r>
              <a:rPr lang="zh-CN" altLang="en-US" sz="1600" dirty="0"/>
              <a:t>易改变性</a:t>
            </a:r>
          </a:p>
          <a:p>
            <a:pPr algn="l"/>
            <a:r>
              <a:rPr lang="zh-CN" altLang="en-US" sz="1600" dirty="0"/>
              <a:t>稳定性</a:t>
            </a:r>
          </a:p>
          <a:p>
            <a:pPr algn="l"/>
            <a:r>
              <a:rPr lang="zh-CN" altLang="en-US" sz="1600" dirty="0"/>
              <a:t>易测试性</a:t>
            </a:r>
          </a:p>
        </p:txBody>
      </p:sp>
      <p:sp>
        <p:nvSpPr>
          <p:cNvPr id="36" name="文本框 35">
            <a:extLst>
              <a:ext uri="{FF2B5EF4-FFF2-40B4-BE49-F238E27FC236}">
                <a16:creationId xmlns:a16="http://schemas.microsoft.com/office/drawing/2014/main" id="{FB8D63D2-72E1-7F23-E70E-D61A1A2AA0BE}"/>
              </a:ext>
            </a:extLst>
          </p:cNvPr>
          <p:cNvSpPr txBox="1"/>
          <p:nvPr/>
        </p:nvSpPr>
        <p:spPr>
          <a:xfrm>
            <a:off x="9206199" y="3381375"/>
            <a:ext cx="1169551" cy="913070"/>
          </a:xfrm>
          <a:prstGeom prst="rect">
            <a:avLst/>
          </a:prstGeom>
          <a:noFill/>
          <a:ln>
            <a:solidFill>
              <a:schemeClr val="tx1"/>
            </a:solidFill>
          </a:ln>
        </p:spPr>
        <p:txBody>
          <a:bodyPr vert="eaVert" wrap="none" rtlCol="0">
            <a:spAutoFit/>
          </a:bodyPr>
          <a:lstStyle/>
          <a:p>
            <a:pPr algn="l"/>
            <a:r>
              <a:rPr lang="zh-CN" altLang="en-US" sz="1600" dirty="0"/>
              <a:t>适应性</a:t>
            </a:r>
          </a:p>
          <a:p>
            <a:pPr algn="l"/>
            <a:r>
              <a:rPr lang="zh-CN" altLang="en-US" sz="1600" dirty="0"/>
              <a:t>易安装性</a:t>
            </a:r>
          </a:p>
          <a:p>
            <a:pPr algn="l"/>
            <a:r>
              <a:rPr lang="zh-CN" altLang="en-US" sz="1600" dirty="0"/>
              <a:t>一致性</a:t>
            </a:r>
          </a:p>
          <a:p>
            <a:pPr algn="l"/>
            <a:r>
              <a:rPr lang="zh-CN" altLang="en-US" sz="1600" dirty="0"/>
              <a:t>易替换性</a:t>
            </a:r>
          </a:p>
        </p:txBody>
      </p:sp>
      <p:cxnSp>
        <p:nvCxnSpPr>
          <p:cNvPr id="38" name="直接连接符 37">
            <a:extLst>
              <a:ext uri="{FF2B5EF4-FFF2-40B4-BE49-F238E27FC236}">
                <a16:creationId xmlns:a16="http://schemas.microsoft.com/office/drawing/2014/main" id="{25CD9E6E-2AF6-0A78-6391-46202E490A1F}"/>
              </a:ext>
            </a:extLst>
          </p:cNvPr>
          <p:cNvCxnSpPr>
            <a:stCxn id="30" idx="2"/>
            <a:endCxn id="36" idx="0"/>
          </p:cNvCxnSpPr>
          <p:nvPr/>
        </p:nvCxnSpPr>
        <p:spPr>
          <a:xfrm>
            <a:off x="9790974" y="2857364"/>
            <a:ext cx="1" cy="524011"/>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2E0D5852-A73A-2FB5-E4F1-4EDCA283D8B6}"/>
              </a:ext>
            </a:extLst>
          </p:cNvPr>
          <p:cNvCxnSpPr>
            <a:stCxn id="29" idx="2"/>
            <a:endCxn id="35" idx="0"/>
          </p:cNvCxnSpPr>
          <p:nvPr/>
        </p:nvCxnSpPr>
        <p:spPr>
          <a:xfrm>
            <a:off x="8291066" y="2857364"/>
            <a:ext cx="1" cy="524011"/>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F17AC8BB-601D-4150-D337-2C2448E1EE0C}"/>
              </a:ext>
            </a:extLst>
          </p:cNvPr>
          <p:cNvCxnSpPr>
            <a:stCxn id="28" idx="2"/>
            <a:endCxn id="34" idx="0"/>
          </p:cNvCxnSpPr>
          <p:nvPr/>
        </p:nvCxnSpPr>
        <p:spPr>
          <a:xfrm>
            <a:off x="6747849" y="2857364"/>
            <a:ext cx="0" cy="524011"/>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EFA11585-10A0-E8AB-CE16-1BA024A39BCC}"/>
              </a:ext>
            </a:extLst>
          </p:cNvPr>
          <p:cNvCxnSpPr>
            <a:stCxn id="27" idx="2"/>
            <a:endCxn id="33" idx="0"/>
          </p:cNvCxnSpPr>
          <p:nvPr/>
        </p:nvCxnSpPr>
        <p:spPr>
          <a:xfrm>
            <a:off x="5288445" y="2857364"/>
            <a:ext cx="0" cy="524011"/>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86ED408A-5695-57B5-4FB8-7DA343553FC9}"/>
              </a:ext>
            </a:extLst>
          </p:cNvPr>
          <p:cNvCxnSpPr>
            <a:stCxn id="26" idx="2"/>
            <a:endCxn id="32" idx="0"/>
          </p:cNvCxnSpPr>
          <p:nvPr/>
        </p:nvCxnSpPr>
        <p:spPr>
          <a:xfrm>
            <a:off x="3827259" y="2857364"/>
            <a:ext cx="0" cy="524011"/>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F4849299-C114-2E0D-DD41-2057A83F48D4}"/>
              </a:ext>
            </a:extLst>
          </p:cNvPr>
          <p:cNvCxnSpPr>
            <a:cxnSpLocks/>
            <a:stCxn id="25" idx="2"/>
            <a:endCxn id="31" idx="0"/>
          </p:cNvCxnSpPr>
          <p:nvPr/>
        </p:nvCxnSpPr>
        <p:spPr>
          <a:xfrm>
            <a:off x="2366964" y="2857364"/>
            <a:ext cx="0" cy="524011"/>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0" name="连接符: 肘形 49">
            <a:extLst>
              <a:ext uri="{FF2B5EF4-FFF2-40B4-BE49-F238E27FC236}">
                <a16:creationId xmlns:a16="http://schemas.microsoft.com/office/drawing/2014/main" id="{C1F6317A-203A-D702-ADDA-DF47A245033A}"/>
              </a:ext>
            </a:extLst>
          </p:cNvPr>
          <p:cNvCxnSpPr>
            <a:cxnSpLocks/>
            <a:stCxn id="24" idx="2"/>
            <a:endCxn id="25" idx="0"/>
          </p:cNvCxnSpPr>
          <p:nvPr/>
        </p:nvCxnSpPr>
        <p:spPr>
          <a:xfrm rot="5400000">
            <a:off x="3941521" y="321036"/>
            <a:ext cx="601772" cy="3750885"/>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2" name="连接符: 肘形 51">
            <a:extLst>
              <a:ext uri="{FF2B5EF4-FFF2-40B4-BE49-F238E27FC236}">
                <a16:creationId xmlns:a16="http://schemas.microsoft.com/office/drawing/2014/main" id="{D81D7AFA-C83F-3265-3D2B-A0A704C3FB02}"/>
              </a:ext>
            </a:extLst>
          </p:cNvPr>
          <p:cNvCxnSpPr>
            <a:cxnSpLocks/>
            <a:stCxn id="24" idx="2"/>
            <a:endCxn id="59" idx="0"/>
          </p:cNvCxnSpPr>
          <p:nvPr/>
        </p:nvCxnSpPr>
        <p:spPr>
          <a:xfrm rot="16200000" flipH="1">
            <a:off x="8327767" y="-314326"/>
            <a:ext cx="591049" cy="5010884"/>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53" name="文本框 52">
            <a:extLst>
              <a:ext uri="{FF2B5EF4-FFF2-40B4-BE49-F238E27FC236}">
                <a16:creationId xmlns:a16="http://schemas.microsoft.com/office/drawing/2014/main" id="{C9BA4566-8DB4-E79F-637C-E33EB8103C1D}"/>
              </a:ext>
            </a:extLst>
          </p:cNvPr>
          <p:cNvSpPr txBox="1"/>
          <p:nvPr/>
        </p:nvSpPr>
        <p:spPr>
          <a:xfrm>
            <a:off x="293212" y="2508087"/>
            <a:ext cx="902811" cy="307777"/>
          </a:xfrm>
          <a:prstGeom prst="rect">
            <a:avLst/>
          </a:prstGeom>
          <a:noFill/>
          <a:ln>
            <a:noFill/>
          </a:ln>
        </p:spPr>
        <p:txBody>
          <a:bodyPr wrap="none" rtlCol="0">
            <a:spAutoFit/>
          </a:bodyPr>
          <a:lstStyle/>
          <a:p>
            <a:pPr algn="l"/>
            <a:r>
              <a:rPr lang="zh-CN" altLang="en-US" sz="1400" dirty="0"/>
              <a:t>质量特性</a:t>
            </a:r>
          </a:p>
        </p:txBody>
      </p:sp>
      <p:sp>
        <p:nvSpPr>
          <p:cNvPr id="54" name="文本框 53">
            <a:extLst>
              <a:ext uri="{FF2B5EF4-FFF2-40B4-BE49-F238E27FC236}">
                <a16:creationId xmlns:a16="http://schemas.microsoft.com/office/drawing/2014/main" id="{1E196C4C-97DC-7E85-5228-D414CA90C2FB}"/>
              </a:ext>
            </a:extLst>
          </p:cNvPr>
          <p:cNvSpPr txBox="1"/>
          <p:nvPr/>
        </p:nvSpPr>
        <p:spPr>
          <a:xfrm>
            <a:off x="88027" y="3629767"/>
            <a:ext cx="1082348" cy="307777"/>
          </a:xfrm>
          <a:prstGeom prst="rect">
            <a:avLst/>
          </a:prstGeom>
          <a:noFill/>
          <a:ln>
            <a:noFill/>
          </a:ln>
        </p:spPr>
        <p:txBody>
          <a:bodyPr wrap="none" rtlCol="0">
            <a:spAutoFit/>
          </a:bodyPr>
          <a:lstStyle/>
          <a:p>
            <a:pPr algn="l"/>
            <a:r>
              <a:rPr lang="zh-CN" altLang="en-US" sz="1400" dirty="0"/>
              <a:t>质量子特性</a:t>
            </a:r>
          </a:p>
        </p:txBody>
      </p:sp>
      <p:sp>
        <p:nvSpPr>
          <p:cNvPr id="55" name="文本框 54">
            <a:extLst>
              <a:ext uri="{FF2B5EF4-FFF2-40B4-BE49-F238E27FC236}">
                <a16:creationId xmlns:a16="http://schemas.microsoft.com/office/drawing/2014/main" id="{9FA80E07-39F2-74A9-0D04-2915D2AD9127}"/>
              </a:ext>
            </a:extLst>
          </p:cNvPr>
          <p:cNvSpPr txBox="1"/>
          <p:nvPr/>
        </p:nvSpPr>
        <p:spPr>
          <a:xfrm>
            <a:off x="293212" y="4495135"/>
            <a:ext cx="902811" cy="307777"/>
          </a:xfrm>
          <a:prstGeom prst="rect">
            <a:avLst/>
          </a:prstGeom>
          <a:noFill/>
          <a:ln>
            <a:noFill/>
          </a:ln>
        </p:spPr>
        <p:txBody>
          <a:bodyPr wrap="none" rtlCol="0">
            <a:spAutoFit/>
          </a:bodyPr>
          <a:lstStyle/>
          <a:p>
            <a:pPr algn="l"/>
            <a:r>
              <a:rPr lang="zh-CN" altLang="en-US" sz="1400" dirty="0"/>
              <a:t>度量指标</a:t>
            </a:r>
          </a:p>
        </p:txBody>
      </p:sp>
      <p:cxnSp>
        <p:nvCxnSpPr>
          <p:cNvPr id="57" name="直接连接符 56">
            <a:extLst>
              <a:ext uri="{FF2B5EF4-FFF2-40B4-BE49-F238E27FC236}">
                <a16:creationId xmlns:a16="http://schemas.microsoft.com/office/drawing/2014/main" id="{2717AF97-7053-1A51-1729-3CC39979F729}"/>
              </a:ext>
            </a:extLst>
          </p:cNvPr>
          <p:cNvCxnSpPr>
            <a:cxnSpLocks/>
          </p:cNvCxnSpPr>
          <p:nvPr/>
        </p:nvCxnSpPr>
        <p:spPr>
          <a:xfrm rot="16200000">
            <a:off x="6096000" y="-2741798"/>
            <a:ext cx="0" cy="11880000"/>
          </a:xfrm>
          <a:prstGeom prst="line">
            <a:avLst/>
          </a:prstGeom>
          <a:ln>
            <a:solidFill>
              <a:schemeClr val="tx1"/>
            </a:solidFill>
            <a:prstDash val="lgDash"/>
            <a:tailEnd type="none"/>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0DE39B9C-5F18-D802-C139-547FCA8E33E9}"/>
              </a:ext>
            </a:extLst>
          </p:cNvPr>
          <p:cNvCxnSpPr>
            <a:cxnSpLocks/>
          </p:cNvCxnSpPr>
          <p:nvPr/>
        </p:nvCxnSpPr>
        <p:spPr>
          <a:xfrm rot="16200000">
            <a:off x="6096001" y="-1540115"/>
            <a:ext cx="0" cy="11880000"/>
          </a:xfrm>
          <a:prstGeom prst="line">
            <a:avLst/>
          </a:prstGeom>
          <a:ln>
            <a:solidFill>
              <a:schemeClr val="tx1"/>
            </a:solidFill>
            <a:prstDash val="lgDash"/>
            <a:tailEnd type="none"/>
          </a:ln>
        </p:spPr>
        <p:style>
          <a:lnRef idx="1">
            <a:schemeClr val="accent1"/>
          </a:lnRef>
          <a:fillRef idx="0">
            <a:schemeClr val="accent1"/>
          </a:fillRef>
          <a:effectRef idx="0">
            <a:schemeClr val="accent1"/>
          </a:effectRef>
          <a:fontRef idx="minor">
            <a:schemeClr val="tx1"/>
          </a:fontRef>
        </p:style>
      </p:cxnSp>
      <p:sp>
        <p:nvSpPr>
          <p:cNvPr id="59" name="矩形 58">
            <a:extLst>
              <a:ext uri="{FF2B5EF4-FFF2-40B4-BE49-F238E27FC236}">
                <a16:creationId xmlns:a16="http://schemas.microsoft.com/office/drawing/2014/main" id="{F5504B03-DC33-FA47-2C50-3CF7EAB63CE2}"/>
              </a:ext>
            </a:extLst>
          </p:cNvPr>
          <p:cNvSpPr/>
          <p:nvPr/>
        </p:nvSpPr>
        <p:spPr>
          <a:xfrm>
            <a:off x="10588733" y="2486641"/>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使用质量</a:t>
            </a:r>
          </a:p>
        </p:txBody>
      </p:sp>
      <p:sp>
        <p:nvSpPr>
          <p:cNvPr id="3" name="文本框 2">
            <a:extLst>
              <a:ext uri="{FF2B5EF4-FFF2-40B4-BE49-F238E27FC236}">
                <a16:creationId xmlns:a16="http://schemas.microsoft.com/office/drawing/2014/main" id="{4AED7C90-3BD2-2C39-06A6-100540813CF5}"/>
              </a:ext>
            </a:extLst>
          </p:cNvPr>
          <p:cNvSpPr txBox="1"/>
          <p:nvPr/>
        </p:nvSpPr>
        <p:spPr>
          <a:xfrm>
            <a:off x="5258270" y="899075"/>
            <a:ext cx="1675459" cy="369332"/>
          </a:xfrm>
          <a:prstGeom prst="rect">
            <a:avLst/>
          </a:prstGeom>
          <a:noFill/>
          <a:ln>
            <a:noFill/>
          </a:ln>
        </p:spPr>
        <p:txBody>
          <a:bodyPr wrap="none" rtlCol="0">
            <a:spAutoFit/>
          </a:bodyPr>
          <a:lstStyle/>
          <a:p>
            <a:pPr algn="ctr"/>
            <a:r>
              <a:rPr lang="en-US" altLang="zh-CN" dirty="0"/>
              <a:t>ISO/IEC 9126</a:t>
            </a:r>
          </a:p>
        </p:txBody>
      </p:sp>
      <p:sp>
        <p:nvSpPr>
          <p:cNvPr id="4" name="矩形 3">
            <a:extLst>
              <a:ext uri="{FF2B5EF4-FFF2-40B4-BE49-F238E27FC236}">
                <a16:creationId xmlns:a16="http://schemas.microsoft.com/office/drawing/2014/main" id="{9A5D9063-6AFF-66F8-60CA-F11645926469}"/>
              </a:ext>
            </a:extLst>
          </p:cNvPr>
          <p:cNvSpPr/>
          <p:nvPr/>
        </p:nvSpPr>
        <p:spPr>
          <a:xfrm>
            <a:off x="2186964" y="4624978"/>
            <a:ext cx="360000" cy="108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1600" dirty="0">
                <a:solidFill>
                  <a:schemeClr val="tx1"/>
                </a:solidFill>
              </a:rPr>
              <a:t>度量</a:t>
            </a:r>
          </a:p>
        </p:txBody>
      </p:sp>
      <p:sp>
        <p:nvSpPr>
          <p:cNvPr id="5" name="矩形 4">
            <a:extLst>
              <a:ext uri="{FF2B5EF4-FFF2-40B4-BE49-F238E27FC236}">
                <a16:creationId xmlns:a16="http://schemas.microsoft.com/office/drawing/2014/main" id="{899D389E-BFD7-EE72-9D74-3C1549F4A553}"/>
              </a:ext>
            </a:extLst>
          </p:cNvPr>
          <p:cNvSpPr/>
          <p:nvPr/>
        </p:nvSpPr>
        <p:spPr>
          <a:xfrm>
            <a:off x="3647259" y="4624978"/>
            <a:ext cx="360000" cy="108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1600" dirty="0">
                <a:solidFill>
                  <a:schemeClr val="tx1"/>
                </a:solidFill>
              </a:rPr>
              <a:t>度量</a:t>
            </a:r>
          </a:p>
        </p:txBody>
      </p:sp>
      <p:sp>
        <p:nvSpPr>
          <p:cNvPr id="6" name="矩形 5">
            <a:extLst>
              <a:ext uri="{FF2B5EF4-FFF2-40B4-BE49-F238E27FC236}">
                <a16:creationId xmlns:a16="http://schemas.microsoft.com/office/drawing/2014/main" id="{4630C341-B1DD-D243-F48D-26B1C3E9180F}"/>
              </a:ext>
            </a:extLst>
          </p:cNvPr>
          <p:cNvSpPr/>
          <p:nvPr/>
        </p:nvSpPr>
        <p:spPr>
          <a:xfrm>
            <a:off x="5108445" y="4624978"/>
            <a:ext cx="360000" cy="108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1600" dirty="0">
                <a:solidFill>
                  <a:schemeClr val="tx1"/>
                </a:solidFill>
              </a:rPr>
              <a:t>度量</a:t>
            </a:r>
          </a:p>
        </p:txBody>
      </p:sp>
      <p:sp>
        <p:nvSpPr>
          <p:cNvPr id="7" name="矩形 6">
            <a:extLst>
              <a:ext uri="{FF2B5EF4-FFF2-40B4-BE49-F238E27FC236}">
                <a16:creationId xmlns:a16="http://schemas.microsoft.com/office/drawing/2014/main" id="{5B15DF39-8C30-D283-501D-68BF3074D195}"/>
              </a:ext>
            </a:extLst>
          </p:cNvPr>
          <p:cNvSpPr/>
          <p:nvPr/>
        </p:nvSpPr>
        <p:spPr>
          <a:xfrm>
            <a:off x="6567849" y="4624978"/>
            <a:ext cx="360000" cy="108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1600" dirty="0">
                <a:solidFill>
                  <a:schemeClr val="tx1"/>
                </a:solidFill>
              </a:rPr>
              <a:t>度量</a:t>
            </a:r>
          </a:p>
        </p:txBody>
      </p:sp>
      <p:sp>
        <p:nvSpPr>
          <p:cNvPr id="8" name="矩形 7">
            <a:extLst>
              <a:ext uri="{FF2B5EF4-FFF2-40B4-BE49-F238E27FC236}">
                <a16:creationId xmlns:a16="http://schemas.microsoft.com/office/drawing/2014/main" id="{ED05C734-AB31-47B3-FA8D-9B0AEEA75ED3}"/>
              </a:ext>
            </a:extLst>
          </p:cNvPr>
          <p:cNvSpPr/>
          <p:nvPr/>
        </p:nvSpPr>
        <p:spPr>
          <a:xfrm>
            <a:off x="8111066" y="4624978"/>
            <a:ext cx="360000" cy="108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1600" dirty="0">
                <a:solidFill>
                  <a:schemeClr val="tx1"/>
                </a:solidFill>
              </a:rPr>
              <a:t>度量</a:t>
            </a:r>
          </a:p>
        </p:txBody>
      </p:sp>
      <p:sp>
        <p:nvSpPr>
          <p:cNvPr id="9" name="矩形 8">
            <a:extLst>
              <a:ext uri="{FF2B5EF4-FFF2-40B4-BE49-F238E27FC236}">
                <a16:creationId xmlns:a16="http://schemas.microsoft.com/office/drawing/2014/main" id="{5633EA36-B087-5912-5A2A-A14EE36788C1}"/>
              </a:ext>
            </a:extLst>
          </p:cNvPr>
          <p:cNvSpPr/>
          <p:nvPr/>
        </p:nvSpPr>
        <p:spPr>
          <a:xfrm>
            <a:off x="9610974" y="4624978"/>
            <a:ext cx="360000" cy="108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1600" dirty="0">
                <a:solidFill>
                  <a:schemeClr val="tx1"/>
                </a:solidFill>
              </a:rPr>
              <a:t>度量</a:t>
            </a:r>
          </a:p>
        </p:txBody>
      </p:sp>
      <p:cxnSp>
        <p:nvCxnSpPr>
          <p:cNvPr id="11" name="直接箭头连接符 10">
            <a:extLst>
              <a:ext uri="{FF2B5EF4-FFF2-40B4-BE49-F238E27FC236}">
                <a16:creationId xmlns:a16="http://schemas.microsoft.com/office/drawing/2014/main" id="{A77A1D94-0E4D-AFA1-6148-76B12732B3C2}"/>
              </a:ext>
            </a:extLst>
          </p:cNvPr>
          <p:cNvCxnSpPr>
            <a:stCxn id="36" idx="2"/>
            <a:endCxn id="9" idx="0"/>
          </p:cNvCxnSpPr>
          <p:nvPr/>
        </p:nvCxnSpPr>
        <p:spPr>
          <a:xfrm flipH="1">
            <a:off x="9790974" y="4294445"/>
            <a:ext cx="1" cy="330533"/>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0D25D190-7624-602D-82EC-6DADA3D95F71}"/>
              </a:ext>
            </a:extLst>
          </p:cNvPr>
          <p:cNvCxnSpPr>
            <a:stCxn id="35" idx="2"/>
            <a:endCxn id="8" idx="0"/>
          </p:cNvCxnSpPr>
          <p:nvPr/>
        </p:nvCxnSpPr>
        <p:spPr>
          <a:xfrm flipH="1">
            <a:off x="8291066" y="4294445"/>
            <a:ext cx="1" cy="330533"/>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82651BD5-2C0E-C3C0-793F-0B7A378EA064}"/>
              </a:ext>
            </a:extLst>
          </p:cNvPr>
          <p:cNvCxnSpPr>
            <a:stCxn id="33" idx="2"/>
            <a:endCxn id="6" idx="0"/>
          </p:cNvCxnSpPr>
          <p:nvPr/>
        </p:nvCxnSpPr>
        <p:spPr>
          <a:xfrm>
            <a:off x="5288445" y="4294445"/>
            <a:ext cx="0" cy="330533"/>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4EB27F5C-6FA0-5053-EE0A-2AB95AC5259A}"/>
              </a:ext>
            </a:extLst>
          </p:cNvPr>
          <p:cNvCxnSpPr>
            <a:stCxn id="34" idx="2"/>
            <a:endCxn id="7" idx="0"/>
          </p:cNvCxnSpPr>
          <p:nvPr/>
        </p:nvCxnSpPr>
        <p:spPr>
          <a:xfrm>
            <a:off x="6747849" y="4294445"/>
            <a:ext cx="0" cy="330533"/>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BF84D0EE-AACC-1A16-94FF-E15324C7EE30}"/>
              </a:ext>
            </a:extLst>
          </p:cNvPr>
          <p:cNvCxnSpPr>
            <a:stCxn id="32" idx="2"/>
            <a:endCxn id="5" idx="0"/>
          </p:cNvCxnSpPr>
          <p:nvPr/>
        </p:nvCxnSpPr>
        <p:spPr>
          <a:xfrm>
            <a:off x="3827259" y="4294445"/>
            <a:ext cx="0" cy="330533"/>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2C5F5BCB-596A-6225-616E-A4F7C043231E}"/>
              </a:ext>
            </a:extLst>
          </p:cNvPr>
          <p:cNvCxnSpPr>
            <a:stCxn id="31" idx="2"/>
            <a:endCxn id="4" idx="0"/>
          </p:cNvCxnSpPr>
          <p:nvPr/>
        </p:nvCxnSpPr>
        <p:spPr>
          <a:xfrm>
            <a:off x="2366964" y="4089261"/>
            <a:ext cx="0" cy="535717"/>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4601831"/>
      </p:ext>
    </p:extLst>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0397EACD-BCFB-39E7-8A37-C3319B97B375}"/>
              </a:ext>
            </a:extLst>
          </p:cNvPr>
          <p:cNvGraphicFramePr>
            <a:graphicFrameLocks noGrp="1"/>
          </p:cNvGraphicFramePr>
          <p:nvPr>
            <p:extLst>
              <p:ext uri="{D42A27DB-BD31-4B8C-83A1-F6EECF244321}">
                <p14:modId xmlns:p14="http://schemas.microsoft.com/office/powerpoint/2010/main" val="4011169180"/>
              </p:ext>
            </p:extLst>
          </p:nvPr>
        </p:nvGraphicFramePr>
        <p:xfrm>
          <a:off x="1243012" y="1563375"/>
          <a:ext cx="9705976" cy="4693920"/>
        </p:xfrm>
        <a:graphic>
          <a:graphicData uri="http://schemas.openxmlformats.org/drawingml/2006/table">
            <a:tbl>
              <a:tblPr/>
              <a:tblGrid>
                <a:gridCol w="2286000">
                  <a:extLst>
                    <a:ext uri="{9D8B030D-6E8A-4147-A177-3AD203B41FA5}">
                      <a16:colId xmlns:a16="http://schemas.microsoft.com/office/drawing/2014/main" val="1787197276"/>
                    </a:ext>
                  </a:extLst>
                </a:gridCol>
                <a:gridCol w="2601124">
                  <a:extLst>
                    <a:ext uri="{9D8B030D-6E8A-4147-A177-3AD203B41FA5}">
                      <a16:colId xmlns:a16="http://schemas.microsoft.com/office/drawing/2014/main" val="569576866"/>
                    </a:ext>
                  </a:extLst>
                </a:gridCol>
                <a:gridCol w="3075473">
                  <a:extLst>
                    <a:ext uri="{9D8B030D-6E8A-4147-A177-3AD203B41FA5}">
                      <a16:colId xmlns:a16="http://schemas.microsoft.com/office/drawing/2014/main" val="1879513171"/>
                    </a:ext>
                  </a:extLst>
                </a:gridCol>
                <a:gridCol w="1743379">
                  <a:extLst>
                    <a:ext uri="{9D8B030D-6E8A-4147-A177-3AD203B41FA5}">
                      <a16:colId xmlns:a16="http://schemas.microsoft.com/office/drawing/2014/main" val="2953208315"/>
                    </a:ext>
                  </a:extLst>
                </a:gridCol>
              </a:tblGrid>
              <a:tr h="118065">
                <a:tc>
                  <a:txBody>
                    <a:bodyPr/>
                    <a:lstStyle/>
                    <a:p>
                      <a:pPr algn="ctr" fontAlgn="ctr">
                        <a:spcBef>
                          <a:spcPts val="0"/>
                        </a:spcBef>
                        <a:spcAft>
                          <a:spcPts val="0"/>
                        </a:spcAft>
                        <a:buNone/>
                      </a:pPr>
                      <a:r>
                        <a:rPr lang="zh-CN" altLang="en-US" sz="1600" b="0" i="0" u="none" strike="noStrike" baseline="0">
                          <a:solidFill>
                            <a:schemeClr val="tx1"/>
                          </a:solidFill>
                          <a:effectLst/>
                          <a:latin typeface="+mn-lt"/>
                          <a:ea typeface="+mn-ea"/>
                        </a:rPr>
                        <a:t>质量特性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spcBef>
                          <a:spcPts val="0"/>
                        </a:spcBef>
                        <a:spcAft>
                          <a:spcPts val="0"/>
                        </a:spcAft>
                        <a:buNone/>
                      </a:pPr>
                      <a:r>
                        <a:rPr lang="zh-CN" altLang="en-US" sz="1600" b="0" i="0" u="none" strike="noStrike" baseline="0">
                          <a:solidFill>
                            <a:schemeClr val="tx1"/>
                          </a:solidFill>
                          <a:effectLst/>
                          <a:latin typeface="+mn-lt"/>
                          <a:ea typeface="+mn-ea"/>
                        </a:rPr>
                        <a:t>权重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spcBef>
                          <a:spcPts val="0"/>
                        </a:spcBef>
                        <a:spcAft>
                          <a:spcPts val="0"/>
                        </a:spcAft>
                        <a:buNone/>
                      </a:pPr>
                      <a:r>
                        <a:rPr lang="zh-CN" altLang="en-US" sz="1600" b="0" i="0" u="none" strike="noStrike" baseline="0">
                          <a:solidFill>
                            <a:schemeClr val="tx1"/>
                          </a:solidFill>
                          <a:effectLst/>
                          <a:latin typeface="+mn-lt"/>
                          <a:ea typeface="+mn-ea"/>
                        </a:rPr>
                        <a:t>质量子特性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0"/>
                        </a:spcBef>
                        <a:spcAft>
                          <a:spcPts val="0"/>
                        </a:spcAft>
                        <a:buNone/>
                      </a:pPr>
                      <a:r>
                        <a:rPr lang="zh-CN" altLang="en-US" sz="1600" b="0" i="0" u="none" strike="noStrike" baseline="0" dirty="0">
                          <a:solidFill>
                            <a:schemeClr val="tx1"/>
                          </a:solidFill>
                          <a:effectLst/>
                          <a:latin typeface="+mn-lt"/>
                          <a:ea typeface="+mn-ea"/>
                        </a:rPr>
                        <a:t>权重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4317268"/>
                  </a:ext>
                </a:extLst>
              </a:tr>
              <a:tr h="118065">
                <a:tc rowSpan="3">
                  <a:txBody>
                    <a:bodyPr/>
                    <a:lstStyle/>
                    <a:p>
                      <a:pPr algn="ctr" fontAlgn="ctr">
                        <a:spcBef>
                          <a:spcPts val="0"/>
                        </a:spcBef>
                        <a:spcAft>
                          <a:spcPts val="0"/>
                        </a:spcAft>
                        <a:buNone/>
                      </a:pPr>
                      <a:r>
                        <a:rPr lang="zh-CN" altLang="en-US" sz="1600" b="0" i="0" u="none" strike="noStrike" baseline="0">
                          <a:solidFill>
                            <a:schemeClr val="tx1"/>
                          </a:solidFill>
                          <a:effectLst/>
                          <a:latin typeface="+mn-lt"/>
                          <a:ea typeface="+mn-ea"/>
                        </a:rPr>
                        <a:t>功能性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ctr" fontAlgn="ctr">
                        <a:spcBef>
                          <a:spcPts val="0"/>
                        </a:spcBef>
                        <a:spcAft>
                          <a:spcPts val="0"/>
                        </a:spcAft>
                        <a:buNone/>
                      </a:pPr>
                      <a:r>
                        <a:rPr lang="en-US" altLang="zh-CN" sz="1600" b="0" i="0" u="none" strike="noStrike" baseline="0">
                          <a:solidFill>
                            <a:schemeClr val="tx1"/>
                          </a:solidFill>
                          <a:effectLst/>
                          <a:latin typeface="+mn-lt"/>
                          <a:ea typeface="+mn-ea"/>
                        </a:rPr>
                        <a:t>44.44%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spcBef>
                          <a:spcPts val="0"/>
                        </a:spcBef>
                        <a:spcAft>
                          <a:spcPts val="0"/>
                        </a:spcAft>
                        <a:buNone/>
                      </a:pPr>
                      <a:r>
                        <a:rPr lang="zh-CN" altLang="en-US" sz="1600" b="0" i="0" u="none" strike="noStrike" baseline="0">
                          <a:solidFill>
                            <a:schemeClr val="tx1"/>
                          </a:solidFill>
                          <a:effectLst/>
                          <a:latin typeface="+mn-lt"/>
                          <a:ea typeface="+mn-ea"/>
                        </a:rPr>
                        <a:t>完整性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0"/>
                        </a:spcBef>
                        <a:spcAft>
                          <a:spcPts val="0"/>
                        </a:spcAft>
                        <a:buNone/>
                      </a:pPr>
                      <a:r>
                        <a:rPr lang="en-US" altLang="zh-CN" sz="1600" b="0" i="0" u="none" strike="noStrike" baseline="0">
                          <a:solidFill>
                            <a:schemeClr val="tx1"/>
                          </a:solidFill>
                          <a:effectLst/>
                          <a:latin typeface="+mn-lt"/>
                          <a:ea typeface="+mn-ea"/>
                        </a:rPr>
                        <a:t>29.7%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692413"/>
                  </a:ext>
                </a:extLst>
              </a:tr>
              <a:tr h="118065">
                <a:tc vMerge="1">
                  <a:txBody>
                    <a:bodyPr/>
                    <a:lstStyle/>
                    <a:p>
                      <a:endParaRPr lang="zh-CN" altLang="en-US"/>
                    </a:p>
                  </a:txBody>
                  <a:tcPr/>
                </a:tc>
                <a:tc vMerge="1">
                  <a:txBody>
                    <a:bodyPr/>
                    <a:lstStyle/>
                    <a:p>
                      <a:endParaRPr lang="zh-CN" altLang="en-US"/>
                    </a:p>
                  </a:txBody>
                  <a:tcPr/>
                </a:tc>
                <a:tc>
                  <a:txBody>
                    <a:bodyPr/>
                    <a:lstStyle/>
                    <a:p>
                      <a:pPr algn="ctr" fontAlgn="ctr">
                        <a:spcBef>
                          <a:spcPts val="0"/>
                        </a:spcBef>
                        <a:spcAft>
                          <a:spcPts val="0"/>
                        </a:spcAft>
                        <a:buNone/>
                      </a:pPr>
                      <a:r>
                        <a:rPr lang="zh-CN" altLang="en-US" sz="1600" b="0" i="0" u="none" strike="noStrike" baseline="0">
                          <a:solidFill>
                            <a:schemeClr val="tx1"/>
                          </a:solidFill>
                          <a:effectLst/>
                          <a:latin typeface="+mn-lt"/>
                          <a:ea typeface="+mn-ea"/>
                        </a:rPr>
                        <a:t>准确性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0"/>
                        </a:spcBef>
                        <a:spcAft>
                          <a:spcPts val="0"/>
                        </a:spcAft>
                        <a:buNone/>
                      </a:pPr>
                      <a:r>
                        <a:rPr lang="en-US" altLang="zh-CN" sz="1600" b="0" i="0" u="none" strike="noStrike" baseline="0">
                          <a:solidFill>
                            <a:schemeClr val="tx1"/>
                          </a:solidFill>
                          <a:effectLst/>
                          <a:latin typeface="+mn-lt"/>
                          <a:ea typeface="+mn-ea"/>
                        </a:rPr>
                        <a:t>53.9%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9278576"/>
                  </a:ext>
                </a:extLst>
              </a:tr>
              <a:tr h="118065">
                <a:tc vMerge="1">
                  <a:txBody>
                    <a:bodyPr/>
                    <a:lstStyle/>
                    <a:p>
                      <a:endParaRPr lang="zh-CN" altLang="en-US"/>
                    </a:p>
                  </a:txBody>
                  <a:tcPr/>
                </a:tc>
                <a:tc vMerge="1">
                  <a:txBody>
                    <a:bodyPr/>
                    <a:lstStyle/>
                    <a:p>
                      <a:endParaRPr lang="zh-CN" altLang="en-US"/>
                    </a:p>
                  </a:txBody>
                  <a:tcPr/>
                </a:tc>
                <a:tc>
                  <a:txBody>
                    <a:bodyPr/>
                    <a:lstStyle/>
                    <a:p>
                      <a:pPr algn="ctr" fontAlgn="ctr">
                        <a:spcBef>
                          <a:spcPts val="0"/>
                        </a:spcBef>
                        <a:spcAft>
                          <a:spcPts val="0"/>
                        </a:spcAft>
                        <a:buNone/>
                      </a:pPr>
                      <a:r>
                        <a:rPr lang="zh-CN" altLang="en-US" sz="1600" b="0" i="0" u="none" strike="noStrike" baseline="0">
                          <a:solidFill>
                            <a:schemeClr val="tx1"/>
                          </a:solidFill>
                          <a:effectLst/>
                          <a:latin typeface="+mn-lt"/>
                          <a:ea typeface="+mn-ea"/>
                        </a:rPr>
                        <a:t>安全性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0"/>
                        </a:spcBef>
                        <a:spcAft>
                          <a:spcPts val="0"/>
                        </a:spcAft>
                        <a:buNone/>
                      </a:pPr>
                      <a:r>
                        <a:rPr lang="en-US" altLang="zh-CN" sz="1600" b="0" i="0" u="none" strike="noStrike" baseline="0">
                          <a:solidFill>
                            <a:schemeClr val="tx1"/>
                          </a:solidFill>
                          <a:effectLst/>
                          <a:latin typeface="+mn-lt"/>
                          <a:ea typeface="+mn-ea"/>
                        </a:rPr>
                        <a:t>16.4%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42563251"/>
                  </a:ext>
                </a:extLst>
              </a:tr>
              <a:tr h="118065">
                <a:tc rowSpan="3">
                  <a:txBody>
                    <a:bodyPr/>
                    <a:lstStyle/>
                    <a:p>
                      <a:pPr algn="ctr" fontAlgn="ctr">
                        <a:spcBef>
                          <a:spcPts val="0"/>
                        </a:spcBef>
                        <a:spcAft>
                          <a:spcPts val="0"/>
                        </a:spcAft>
                        <a:buNone/>
                      </a:pPr>
                      <a:r>
                        <a:rPr lang="zh-CN" altLang="en-US" sz="1600" b="0" i="0" u="none" strike="noStrike" baseline="0" dirty="0">
                          <a:solidFill>
                            <a:schemeClr val="tx1"/>
                          </a:solidFill>
                          <a:effectLst/>
                          <a:latin typeface="+mn-lt"/>
                          <a:ea typeface="+mn-ea"/>
                        </a:rPr>
                        <a:t>可靠性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ctr" fontAlgn="ctr">
                        <a:spcBef>
                          <a:spcPts val="0"/>
                        </a:spcBef>
                        <a:spcAft>
                          <a:spcPts val="0"/>
                        </a:spcAft>
                        <a:buNone/>
                      </a:pPr>
                      <a:r>
                        <a:rPr lang="en-US" altLang="zh-CN" sz="1600" b="0" i="0" u="none" strike="noStrike" baseline="0">
                          <a:solidFill>
                            <a:schemeClr val="tx1"/>
                          </a:solidFill>
                          <a:effectLst/>
                          <a:latin typeface="+mn-lt"/>
                          <a:ea typeface="+mn-ea"/>
                        </a:rPr>
                        <a:t>22.22%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spcBef>
                          <a:spcPts val="0"/>
                        </a:spcBef>
                        <a:spcAft>
                          <a:spcPts val="0"/>
                        </a:spcAft>
                        <a:buNone/>
                      </a:pPr>
                      <a:r>
                        <a:rPr lang="zh-CN" altLang="en-US" sz="1600" b="0" i="0" u="none" strike="noStrike" baseline="0">
                          <a:solidFill>
                            <a:schemeClr val="tx1"/>
                          </a:solidFill>
                          <a:effectLst/>
                          <a:latin typeface="+mn-lt"/>
                          <a:ea typeface="+mn-ea"/>
                        </a:rPr>
                        <a:t>健壮性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0"/>
                        </a:spcBef>
                        <a:spcAft>
                          <a:spcPts val="0"/>
                        </a:spcAft>
                        <a:buNone/>
                      </a:pPr>
                      <a:r>
                        <a:rPr lang="en-US" altLang="zh-CN" sz="1600" b="0" i="0" u="none" strike="noStrike" baseline="0">
                          <a:solidFill>
                            <a:schemeClr val="tx1"/>
                          </a:solidFill>
                          <a:effectLst/>
                          <a:latin typeface="+mn-lt"/>
                          <a:ea typeface="+mn-ea"/>
                        </a:rPr>
                        <a:t>66.6%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55082388"/>
                  </a:ext>
                </a:extLst>
              </a:tr>
              <a:tr h="118065">
                <a:tc vMerge="1">
                  <a:txBody>
                    <a:bodyPr/>
                    <a:lstStyle/>
                    <a:p>
                      <a:endParaRPr lang="zh-CN" altLang="en-US"/>
                    </a:p>
                  </a:txBody>
                  <a:tcPr/>
                </a:tc>
                <a:tc vMerge="1">
                  <a:txBody>
                    <a:bodyPr/>
                    <a:lstStyle/>
                    <a:p>
                      <a:endParaRPr lang="zh-CN" altLang="en-US"/>
                    </a:p>
                  </a:txBody>
                  <a:tcPr/>
                </a:tc>
                <a:tc>
                  <a:txBody>
                    <a:bodyPr/>
                    <a:lstStyle/>
                    <a:p>
                      <a:pPr algn="ctr" fontAlgn="ctr">
                        <a:spcBef>
                          <a:spcPts val="0"/>
                        </a:spcBef>
                        <a:spcAft>
                          <a:spcPts val="0"/>
                        </a:spcAft>
                        <a:buNone/>
                      </a:pPr>
                      <a:r>
                        <a:rPr lang="zh-CN" altLang="en-US" sz="1600" b="0" i="0" u="none" strike="noStrike" baseline="0">
                          <a:solidFill>
                            <a:schemeClr val="tx1"/>
                          </a:solidFill>
                          <a:effectLst/>
                          <a:latin typeface="+mn-lt"/>
                          <a:ea typeface="+mn-ea"/>
                        </a:rPr>
                        <a:t>容错性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0"/>
                        </a:spcBef>
                        <a:spcAft>
                          <a:spcPts val="0"/>
                        </a:spcAft>
                        <a:buNone/>
                      </a:pPr>
                      <a:r>
                        <a:rPr lang="en-US" altLang="zh-CN" sz="1600" b="0" i="0" u="none" strike="noStrike" baseline="0">
                          <a:solidFill>
                            <a:schemeClr val="tx1"/>
                          </a:solidFill>
                          <a:effectLst/>
                          <a:latin typeface="+mn-lt"/>
                          <a:ea typeface="+mn-ea"/>
                        </a:rPr>
                        <a:t>16.7%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1898681"/>
                  </a:ext>
                </a:extLst>
              </a:tr>
              <a:tr h="118065">
                <a:tc vMerge="1">
                  <a:txBody>
                    <a:bodyPr/>
                    <a:lstStyle/>
                    <a:p>
                      <a:endParaRPr lang="zh-CN" altLang="en-US"/>
                    </a:p>
                  </a:txBody>
                  <a:tcPr/>
                </a:tc>
                <a:tc vMerge="1">
                  <a:txBody>
                    <a:bodyPr/>
                    <a:lstStyle/>
                    <a:p>
                      <a:endParaRPr lang="zh-CN" altLang="en-US"/>
                    </a:p>
                  </a:txBody>
                  <a:tcPr/>
                </a:tc>
                <a:tc>
                  <a:txBody>
                    <a:bodyPr/>
                    <a:lstStyle/>
                    <a:p>
                      <a:pPr algn="ctr" fontAlgn="ctr">
                        <a:spcBef>
                          <a:spcPts val="0"/>
                        </a:spcBef>
                        <a:spcAft>
                          <a:spcPts val="0"/>
                        </a:spcAft>
                        <a:buNone/>
                      </a:pPr>
                      <a:r>
                        <a:rPr lang="zh-CN" altLang="en-US" sz="1600" b="0" i="0" u="none" strike="noStrike" baseline="0">
                          <a:solidFill>
                            <a:schemeClr val="tx1"/>
                          </a:solidFill>
                          <a:effectLst/>
                          <a:latin typeface="+mn-lt"/>
                          <a:ea typeface="+mn-ea"/>
                        </a:rPr>
                        <a:t>易恢复性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0"/>
                        </a:spcBef>
                        <a:spcAft>
                          <a:spcPts val="0"/>
                        </a:spcAft>
                        <a:buNone/>
                      </a:pPr>
                      <a:r>
                        <a:rPr lang="en-US" altLang="zh-CN" sz="1600" b="0" i="0" u="none" strike="noStrike" baseline="0">
                          <a:solidFill>
                            <a:schemeClr val="tx1"/>
                          </a:solidFill>
                          <a:effectLst/>
                          <a:latin typeface="+mn-lt"/>
                          <a:ea typeface="+mn-ea"/>
                        </a:rPr>
                        <a:t>16.7%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74645123"/>
                  </a:ext>
                </a:extLst>
              </a:tr>
              <a:tr h="118065">
                <a:tc rowSpan="2">
                  <a:txBody>
                    <a:bodyPr/>
                    <a:lstStyle/>
                    <a:p>
                      <a:pPr algn="ctr" fontAlgn="ctr">
                        <a:spcBef>
                          <a:spcPts val="0"/>
                        </a:spcBef>
                        <a:spcAft>
                          <a:spcPts val="0"/>
                        </a:spcAft>
                        <a:buNone/>
                      </a:pPr>
                      <a:r>
                        <a:rPr lang="zh-CN" altLang="en-US" sz="1600" b="0" i="0" u="none" strike="noStrike" baseline="0">
                          <a:solidFill>
                            <a:schemeClr val="tx1"/>
                          </a:solidFill>
                          <a:effectLst/>
                          <a:latin typeface="+mn-lt"/>
                          <a:ea typeface="+mn-ea"/>
                        </a:rPr>
                        <a:t>效率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ctr">
                        <a:spcBef>
                          <a:spcPts val="0"/>
                        </a:spcBef>
                        <a:spcAft>
                          <a:spcPts val="0"/>
                        </a:spcAft>
                        <a:buNone/>
                      </a:pPr>
                      <a:r>
                        <a:rPr lang="en-US" altLang="zh-CN" sz="1600" b="0" i="0" u="none" strike="noStrike" baseline="0">
                          <a:solidFill>
                            <a:schemeClr val="tx1"/>
                          </a:solidFill>
                          <a:effectLst/>
                          <a:latin typeface="+mn-lt"/>
                          <a:ea typeface="+mn-ea"/>
                        </a:rPr>
                        <a:t>11.11%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spcBef>
                          <a:spcPts val="0"/>
                        </a:spcBef>
                        <a:spcAft>
                          <a:spcPts val="0"/>
                        </a:spcAft>
                        <a:buNone/>
                      </a:pPr>
                      <a:r>
                        <a:rPr lang="zh-CN" altLang="en-US" sz="1600" b="0" i="0" u="none" strike="noStrike" baseline="0">
                          <a:solidFill>
                            <a:schemeClr val="tx1"/>
                          </a:solidFill>
                          <a:effectLst/>
                          <a:latin typeface="+mn-lt"/>
                          <a:ea typeface="+mn-ea"/>
                        </a:rPr>
                        <a:t>时间特性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0"/>
                        </a:spcBef>
                        <a:spcAft>
                          <a:spcPts val="0"/>
                        </a:spcAft>
                        <a:buNone/>
                      </a:pPr>
                      <a:r>
                        <a:rPr lang="en-US" altLang="zh-CN" sz="1600" b="0" i="0" u="none" strike="noStrike" baseline="0">
                          <a:solidFill>
                            <a:schemeClr val="tx1"/>
                          </a:solidFill>
                          <a:effectLst/>
                          <a:latin typeface="+mn-lt"/>
                          <a:ea typeface="+mn-ea"/>
                        </a:rPr>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2857503"/>
                  </a:ext>
                </a:extLst>
              </a:tr>
              <a:tr h="118065">
                <a:tc vMerge="1">
                  <a:txBody>
                    <a:bodyPr/>
                    <a:lstStyle/>
                    <a:p>
                      <a:endParaRPr lang="zh-CN" altLang="en-US"/>
                    </a:p>
                  </a:txBody>
                  <a:tcPr/>
                </a:tc>
                <a:tc vMerge="1">
                  <a:txBody>
                    <a:bodyPr/>
                    <a:lstStyle/>
                    <a:p>
                      <a:endParaRPr lang="zh-CN" altLang="en-US"/>
                    </a:p>
                  </a:txBody>
                  <a:tcPr/>
                </a:tc>
                <a:tc>
                  <a:txBody>
                    <a:bodyPr/>
                    <a:lstStyle/>
                    <a:p>
                      <a:pPr algn="ctr" fontAlgn="ctr">
                        <a:spcBef>
                          <a:spcPts val="0"/>
                        </a:spcBef>
                        <a:spcAft>
                          <a:spcPts val="0"/>
                        </a:spcAft>
                        <a:buNone/>
                      </a:pPr>
                      <a:r>
                        <a:rPr lang="zh-CN" altLang="en-US" sz="1600" b="0" i="0" u="none" strike="noStrike" baseline="0">
                          <a:solidFill>
                            <a:schemeClr val="tx1"/>
                          </a:solidFill>
                          <a:effectLst/>
                          <a:latin typeface="+mn-lt"/>
                          <a:ea typeface="+mn-ea"/>
                        </a:rPr>
                        <a:t>资源特性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0"/>
                        </a:spcBef>
                        <a:spcAft>
                          <a:spcPts val="0"/>
                        </a:spcAft>
                        <a:buNone/>
                      </a:pPr>
                      <a:r>
                        <a:rPr lang="en-US" altLang="zh-CN" sz="1600" b="0" i="0" u="none" strike="noStrike" baseline="0">
                          <a:solidFill>
                            <a:schemeClr val="tx1"/>
                          </a:solidFill>
                          <a:effectLst/>
                          <a:latin typeface="+mn-lt"/>
                          <a:ea typeface="+mn-ea"/>
                        </a:rPr>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157971"/>
                  </a:ext>
                </a:extLst>
              </a:tr>
              <a:tr h="118065">
                <a:tc rowSpan="3">
                  <a:txBody>
                    <a:bodyPr/>
                    <a:lstStyle/>
                    <a:p>
                      <a:pPr algn="ctr" fontAlgn="ctr">
                        <a:spcBef>
                          <a:spcPts val="0"/>
                        </a:spcBef>
                        <a:spcAft>
                          <a:spcPts val="0"/>
                        </a:spcAft>
                        <a:buNone/>
                      </a:pPr>
                      <a:r>
                        <a:rPr lang="zh-CN" altLang="en-US" sz="1600" b="0" i="0" u="none" strike="noStrike" baseline="0">
                          <a:solidFill>
                            <a:schemeClr val="tx1"/>
                          </a:solidFill>
                          <a:effectLst/>
                          <a:latin typeface="+mn-lt"/>
                          <a:ea typeface="+mn-ea"/>
                        </a:rPr>
                        <a:t>易使用性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ctr" fontAlgn="ctr">
                        <a:spcBef>
                          <a:spcPts val="0"/>
                        </a:spcBef>
                        <a:spcAft>
                          <a:spcPts val="0"/>
                        </a:spcAft>
                        <a:buNone/>
                      </a:pPr>
                      <a:r>
                        <a:rPr lang="en-US" altLang="zh-CN" sz="1600" b="0" i="0" u="none" strike="noStrike" baseline="0">
                          <a:solidFill>
                            <a:schemeClr val="tx1"/>
                          </a:solidFill>
                          <a:effectLst/>
                          <a:latin typeface="+mn-lt"/>
                          <a:ea typeface="+mn-ea"/>
                        </a:rPr>
                        <a:t>11.11%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spcBef>
                          <a:spcPts val="0"/>
                        </a:spcBef>
                        <a:spcAft>
                          <a:spcPts val="0"/>
                        </a:spcAft>
                        <a:buNone/>
                      </a:pPr>
                      <a:r>
                        <a:rPr lang="zh-CN" altLang="en-US" sz="1600" b="0" i="0" u="none" strike="noStrike" baseline="0">
                          <a:solidFill>
                            <a:schemeClr val="tx1"/>
                          </a:solidFill>
                          <a:effectLst/>
                          <a:latin typeface="+mn-lt"/>
                          <a:ea typeface="+mn-ea"/>
                        </a:rPr>
                        <a:t>易理解性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0"/>
                        </a:spcBef>
                        <a:spcAft>
                          <a:spcPts val="0"/>
                        </a:spcAft>
                        <a:buNone/>
                      </a:pPr>
                      <a:r>
                        <a:rPr lang="en-US" altLang="zh-CN" sz="1600" b="0" i="0" u="none" strike="noStrike" baseline="0">
                          <a:solidFill>
                            <a:schemeClr val="tx1"/>
                          </a:solidFill>
                          <a:effectLst/>
                          <a:latin typeface="+mn-lt"/>
                          <a:ea typeface="+mn-ea"/>
                        </a:rPr>
                        <a:t>53.9%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440001"/>
                  </a:ext>
                </a:extLst>
              </a:tr>
              <a:tr h="118065">
                <a:tc vMerge="1">
                  <a:txBody>
                    <a:bodyPr/>
                    <a:lstStyle/>
                    <a:p>
                      <a:endParaRPr lang="zh-CN" altLang="en-US"/>
                    </a:p>
                  </a:txBody>
                  <a:tcPr/>
                </a:tc>
                <a:tc vMerge="1">
                  <a:txBody>
                    <a:bodyPr/>
                    <a:lstStyle/>
                    <a:p>
                      <a:endParaRPr lang="zh-CN" altLang="en-US"/>
                    </a:p>
                  </a:txBody>
                  <a:tcPr/>
                </a:tc>
                <a:tc>
                  <a:txBody>
                    <a:bodyPr/>
                    <a:lstStyle/>
                    <a:p>
                      <a:pPr algn="ctr" fontAlgn="ctr">
                        <a:spcBef>
                          <a:spcPts val="0"/>
                        </a:spcBef>
                        <a:spcAft>
                          <a:spcPts val="0"/>
                        </a:spcAft>
                        <a:buNone/>
                      </a:pPr>
                      <a:r>
                        <a:rPr lang="zh-CN" altLang="en-US" sz="1600" b="0" i="0" u="none" strike="noStrike" baseline="0">
                          <a:solidFill>
                            <a:schemeClr val="tx1"/>
                          </a:solidFill>
                          <a:effectLst/>
                          <a:latin typeface="+mn-lt"/>
                          <a:ea typeface="+mn-ea"/>
                        </a:rPr>
                        <a:t>用户文档问题</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0"/>
                        </a:spcBef>
                        <a:spcAft>
                          <a:spcPts val="0"/>
                        </a:spcAft>
                        <a:buNone/>
                      </a:pPr>
                      <a:r>
                        <a:rPr lang="en-US" altLang="zh-CN" sz="1600" b="0" i="0" u="none" strike="noStrike" baseline="0">
                          <a:solidFill>
                            <a:schemeClr val="tx1"/>
                          </a:solidFill>
                          <a:effectLst/>
                          <a:latin typeface="+mn-lt"/>
                          <a:ea typeface="+mn-ea"/>
                        </a:rPr>
                        <a:t>16.4%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284643"/>
                  </a:ext>
                </a:extLst>
              </a:tr>
              <a:tr h="118065">
                <a:tc vMerge="1">
                  <a:txBody>
                    <a:bodyPr/>
                    <a:lstStyle/>
                    <a:p>
                      <a:endParaRPr lang="zh-CN" altLang="en-US"/>
                    </a:p>
                  </a:txBody>
                  <a:tcPr/>
                </a:tc>
                <a:tc vMerge="1">
                  <a:txBody>
                    <a:bodyPr/>
                    <a:lstStyle/>
                    <a:p>
                      <a:endParaRPr lang="zh-CN" altLang="en-US"/>
                    </a:p>
                  </a:txBody>
                  <a:tcPr/>
                </a:tc>
                <a:tc>
                  <a:txBody>
                    <a:bodyPr/>
                    <a:lstStyle/>
                    <a:p>
                      <a:pPr algn="ctr" fontAlgn="ctr">
                        <a:spcBef>
                          <a:spcPts val="0"/>
                        </a:spcBef>
                        <a:spcAft>
                          <a:spcPts val="0"/>
                        </a:spcAft>
                        <a:buNone/>
                      </a:pPr>
                      <a:r>
                        <a:rPr lang="zh-CN" altLang="en-US" sz="1600" b="0" i="0" u="none" strike="noStrike" baseline="0">
                          <a:solidFill>
                            <a:schemeClr val="tx1"/>
                          </a:solidFill>
                          <a:effectLst/>
                          <a:latin typeface="+mn-lt"/>
                          <a:ea typeface="+mn-ea"/>
                        </a:rPr>
                        <a:t>易操作性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0"/>
                        </a:spcBef>
                        <a:spcAft>
                          <a:spcPts val="0"/>
                        </a:spcAft>
                        <a:buNone/>
                      </a:pPr>
                      <a:r>
                        <a:rPr lang="en-US" altLang="zh-CN" sz="1600" b="0" i="0" u="none" strike="noStrike" baseline="0">
                          <a:solidFill>
                            <a:schemeClr val="tx1"/>
                          </a:solidFill>
                          <a:effectLst/>
                          <a:latin typeface="+mn-lt"/>
                          <a:ea typeface="+mn-ea"/>
                        </a:rPr>
                        <a:t>19.7%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60249684"/>
                  </a:ext>
                </a:extLst>
              </a:tr>
              <a:tr h="118065">
                <a:tc rowSpan="2">
                  <a:txBody>
                    <a:bodyPr/>
                    <a:lstStyle/>
                    <a:p>
                      <a:pPr algn="ctr" fontAlgn="ctr">
                        <a:spcBef>
                          <a:spcPts val="0"/>
                        </a:spcBef>
                        <a:spcAft>
                          <a:spcPts val="0"/>
                        </a:spcAft>
                        <a:buNone/>
                      </a:pPr>
                      <a:r>
                        <a:rPr lang="zh-CN" altLang="en-US" sz="1600" b="0" i="0" u="none" strike="noStrike" baseline="0">
                          <a:solidFill>
                            <a:schemeClr val="tx1"/>
                          </a:solidFill>
                          <a:effectLst/>
                          <a:latin typeface="+mn-lt"/>
                          <a:ea typeface="+mn-ea"/>
                        </a:rPr>
                        <a:t>标准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ctr">
                        <a:spcBef>
                          <a:spcPts val="0"/>
                        </a:spcBef>
                        <a:spcAft>
                          <a:spcPts val="0"/>
                        </a:spcAft>
                        <a:buNone/>
                      </a:pPr>
                      <a:r>
                        <a:rPr lang="en-US" altLang="zh-CN" sz="1600" b="0" i="0" u="none" strike="noStrike" baseline="0">
                          <a:solidFill>
                            <a:schemeClr val="tx1"/>
                          </a:solidFill>
                          <a:effectLst/>
                          <a:latin typeface="+mn-lt"/>
                          <a:ea typeface="+mn-ea"/>
                        </a:rPr>
                        <a:t>11.11%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spcBef>
                          <a:spcPts val="0"/>
                        </a:spcBef>
                        <a:spcAft>
                          <a:spcPts val="0"/>
                        </a:spcAft>
                        <a:buNone/>
                      </a:pPr>
                      <a:r>
                        <a:rPr lang="zh-CN" altLang="en-US" sz="1600" b="0" i="0" u="none" strike="noStrike" baseline="0">
                          <a:solidFill>
                            <a:schemeClr val="tx1"/>
                          </a:solidFill>
                          <a:effectLst/>
                          <a:latin typeface="+mn-lt"/>
                          <a:ea typeface="+mn-ea"/>
                        </a:rPr>
                        <a:t>行业标准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0"/>
                        </a:spcBef>
                        <a:spcAft>
                          <a:spcPts val="0"/>
                        </a:spcAft>
                        <a:buNone/>
                      </a:pPr>
                      <a:r>
                        <a:rPr lang="en-US" altLang="zh-CN" sz="1600" b="0" i="0" u="none" strike="noStrike" baseline="0">
                          <a:solidFill>
                            <a:schemeClr val="tx1"/>
                          </a:solidFill>
                          <a:effectLst/>
                          <a:latin typeface="+mn-lt"/>
                          <a:ea typeface="+mn-ea"/>
                        </a:rPr>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3208141"/>
                  </a:ext>
                </a:extLst>
              </a:tr>
              <a:tr h="118065">
                <a:tc vMerge="1">
                  <a:txBody>
                    <a:bodyPr/>
                    <a:lstStyle/>
                    <a:p>
                      <a:endParaRPr lang="zh-CN" altLang="en-US"/>
                    </a:p>
                  </a:txBody>
                  <a:tcPr/>
                </a:tc>
                <a:tc vMerge="1">
                  <a:txBody>
                    <a:bodyPr/>
                    <a:lstStyle/>
                    <a:p>
                      <a:endParaRPr lang="zh-CN" altLang="en-US"/>
                    </a:p>
                  </a:txBody>
                  <a:tcPr/>
                </a:tc>
                <a:tc>
                  <a:txBody>
                    <a:bodyPr/>
                    <a:lstStyle/>
                    <a:p>
                      <a:pPr algn="ctr" fontAlgn="ctr">
                        <a:spcBef>
                          <a:spcPts val="0"/>
                        </a:spcBef>
                        <a:spcAft>
                          <a:spcPts val="0"/>
                        </a:spcAft>
                        <a:buNone/>
                      </a:pPr>
                      <a:r>
                        <a:rPr lang="zh-CN" altLang="en-US" sz="1600" b="0" i="0" u="none" strike="noStrike" baseline="0">
                          <a:solidFill>
                            <a:schemeClr val="tx1"/>
                          </a:solidFill>
                          <a:effectLst/>
                          <a:latin typeface="+mn-lt"/>
                          <a:ea typeface="+mn-ea"/>
                        </a:rPr>
                        <a:t>企业标准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0"/>
                        </a:spcBef>
                        <a:spcAft>
                          <a:spcPts val="0"/>
                        </a:spcAft>
                        <a:buNone/>
                      </a:pPr>
                      <a:r>
                        <a:rPr lang="en-US" altLang="zh-CN" sz="1600" b="0" i="0" u="none" strike="noStrike" baseline="0" dirty="0">
                          <a:solidFill>
                            <a:schemeClr val="tx1"/>
                          </a:solidFill>
                          <a:effectLst/>
                          <a:latin typeface="+mn-lt"/>
                          <a:ea typeface="+mn-ea"/>
                        </a:rPr>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8220028"/>
                  </a:ext>
                </a:extLst>
              </a:tr>
            </a:tbl>
          </a:graphicData>
        </a:graphic>
      </p:graphicFrame>
      <p:sp>
        <p:nvSpPr>
          <p:cNvPr id="6" name="文本框 5">
            <a:extLst>
              <a:ext uri="{FF2B5EF4-FFF2-40B4-BE49-F238E27FC236}">
                <a16:creationId xmlns:a16="http://schemas.microsoft.com/office/drawing/2014/main" id="{66982413-7AC9-BFBC-BEB8-F134B404455E}"/>
              </a:ext>
            </a:extLst>
          </p:cNvPr>
          <p:cNvSpPr txBox="1"/>
          <p:nvPr/>
        </p:nvSpPr>
        <p:spPr>
          <a:xfrm>
            <a:off x="3926175" y="1076325"/>
            <a:ext cx="4339650" cy="369332"/>
          </a:xfrm>
          <a:prstGeom prst="rect">
            <a:avLst/>
          </a:prstGeom>
          <a:noFill/>
        </p:spPr>
        <p:txBody>
          <a:bodyPr wrap="none" rtlCol="0">
            <a:spAutoFit/>
          </a:bodyPr>
          <a:lstStyle/>
          <a:p>
            <a:pPr algn="ctr"/>
            <a:r>
              <a:rPr lang="zh-CN" altLang="en-US" dirty="0"/>
              <a:t>例：调度指挥通信系统外部质量模型设计</a:t>
            </a:r>
          </a:p>
        </p:txBody>
      </p:sp>
    </p:spTree>
    <p:extLst>
      <p:ext uri="{BB962C8B-B14F-4D97-AF65-F5344CB8AC3E}">
        <p14:creationId xmlns:p14="http://schemas.microsoft.com/office/powerpoint/2010/main" val="3175837270"/>
      </p:ext>
    </p:extLst>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a:extLst>
              <a:ext uri="{FF2B5EF4-FFF2-40B4-BE49-F238E27FC236}">
                <a16:creationId xmlns:a16="http://schemas.microsoft.com/office/drawing/2014/main" id="{C4A7A806-F0D1-4FA6-6A6B-430CA61C555C}"/>
              </a:ext>
            </a:extLst>
          </p:cNvPr>
          <p:cNvSpPr>
            <a:spLocks noGrp="1"/>
          </p:cNvSpPr>
          <p:nvPr>
            <p:ph type="body" sz="quarter" idx="10"/>
          </p:nvPr>
        </p:nvSpPr>
        <p:spPr>
          <a:xfrm>
            <a:off x="3219345" y="1629000"/>
            <a:ext cx="8640000" cy="3600000"/>
          </a:xfrm>
        </p:spPr>
        <p:txBody>
          <a:bodyPr/>
          <a:lstStyle/>
          <a:p>
            <a:r>
              <a:rPr lang="zh-CN" altLang="en-US" dirty="0"/>
              <a:t>在 </a:t>
            </a:r>
            <a:r>
              <a:rPr lang="en-US" altLang="zh-CN" dirty="0"/>
              <a:t>ISO/IEC 9126 </a:t>
            </a:r>
            <a:r>
              <a:rPr lang="zh-CN" altLang="en-US" dirty="0"/>
              <a:t>软件质量模型中，可靠性质量特性是指在规定的一段时间内和规定的条件下，软件维持在其性能水平有关的能力，其质量子特性不包括（ ）。</a:t>
            </a:r>
          </a:p>
          <a:p>
            <a:endParaRPr lang="zh-CN" altLang="en-US" dirty="0"/>
          </a:p>
          <a:p>
            <a:r>
              <a:rPr lang="en-US" altLang="zh-CN" dirty="0"/>
              <a:t>A. </a:t>
            </a:r>
            <a:r>
              <a:rPr lang="zh-CN" altLang="en-US" dirty="0"/>
              <a:t>安全性</a:t>
            </a:r>
          </a:p>
          <a:p>
            <a:r>
              <a:rPr lang="en-US" altLang="zh-CN" dirty="0"/>
              <a:t>B. </a:t>
            </a:r>
            <a:r>
              <a:rPr lang="zh-CN" altLang="en-US" dirty="0"/>
              <a:t>成熟性</a:t>
            </a:r>
          </a:p>
          <a:p>
            <a:r>
              <a:rPr lang="en-US" altLang="zh-CN" dirty="0"/>
              <a:t>C. </a:t>
            </a:r>
            <a:r>
              <a:rPr lang="zh-CN" altLang="en-US" dirty="0"/>
              <a:t>容错性</a:t>
            </a:r>
          </a:p>
          <a:p>
            <a:r>
              <a:rPr lang="en-US" altLang="zh-CN" dirty="0"/>
              <a:t>D. </a:t>
            </a:r>
            <a:r>
              <a:rPr lang="zh-CN" altLang="en-US" dirty="0"/>
              <a:t>易恢复性</a:t>
            </a:r>
          </a:p>
        </p:txBody>
      </p:sp>
    </p:spTree>
    <p:extLst>
      <p:ext uri="{BB962C8B-B14F-4D97-AF65-F5344CB8AC3E}">
        <p14:creationId xmlns:p14="http://schemas.microsoft.com/office/powerpoint/2010/main" val="121876382"/>
      </p:ext>
    </p:extLst>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9EC2E6-46CF-413F-FEB8-8D1311DE9CDB}"/>
              </a:ext>
            </a:extLst>
          </p:cNvPr>
          <p:cNvSpPr>
            <a:spLocks noGrp="1"/>
          </p:cNvSpPr>
          <p:nvPr>
            <p:ph type="title"/>
          </p:nvPr>
        </p:nvSpPr>
        <p:spPr>
          <a:xfrm>
            <a:off x="792000" y="360000"/>
            <a:ext cx="6375921" cy="429413"/>
          </a:xfrm>
        </p:spPr>
        <p:txBody>
          <a:bodyPr/>
          <a:lstStyle/>
          <a:p>
            <a:r>
              <a:rPr lang="en-US" altLang="zh-CN" dirty="0"/>
              <a:t>3. </a:t>
            </a:r>
            <a:r>
              <a:rPr lang="zh-CN" altLang="en-US" dirty="0"/>
              <a:t>软件质量管理活动</a:t>
            </a:r>
          </a:p>
        </p:txBody>
      </p:sp>
      <p:sp>
        <p:nvSpPr>
          <p:cNvPr id="5" name="内容占位符 4">
            <a:extLst>
              <a:ext uri="{FF2B5EF4-FFF2-40B4-BE49-F238E27FC236}">
                <a16:creationId xmlns:a16="http://schemas.microsoft.com/office/drawing/2014/main" id="{B285D1B8-2208-ED47-06D3-9F86AB7C0167}"/>
              </a:ext>
            </a:extLst>
          </p:cNvPr>
          <p:cNvSpPr>
            <a:spLocks noGrp="1"/>
          </p:cNvSpPr>
          <p:nvPr>
            <p:ph idx="1"/>
          </p:nvPr>
        </p:nvSpPr>
        <p:spPr/>
        <p:txBody>
          <a:bodyPr/>
          <a:lstStyle/>
          <a:p>
            <a:endParaRPr lang="zh-CN" altLang="en-US"/>
          </a:p>
        </p:txBody>
      </p:sp>
      <p:sp>
        <p:nvSpPr>
          <p:cNvPr id="6" name="文本占位符 5">
            <a:extLst>
              <a:ext uri="{FF2B5EF4-FFF2-40B4-BE49-F238E27FC236}">
                <a16:creationId xmlns:a16="http://schemas.microsoft.com/office/drawing/2014/main" id="{8681E74A-1F7C-DAD9-DB29-8DC8185F01E3}"/>
              </a:ext>
            </a:extLst>
          </p:cNvPr>
          <p:cNvSpPr>
            <a:spLocks noGrp="1"/>
          </p:cNvSpPr>
          <p:nvPr>
            <p:ph type="body" sz="quarter" idx="10"/>
          </p:nvPr>
        </p:nvSpPr>
        <p:spPr/>
        <p:txBody>
          <a:bodyPr/>
          <a:lstStyle/>
          <a:p>
            <a:endParaRPr lang="zh-CN" altLang="en-US"/>
          </a:p>
        </p:txBody>
      </p:sp>
      <p:graphicFrame>
        <p:nvGraphicFramePr>
          <p:cNvPr id="4" name="表格 3">
            <a:extLst>
              <a:ext uri="{FF2B5EF4-FFF2-40B4-BE49-F238E27FC236}">
                <a16:creationId xmlns:a16="http://schemas.microsoft.com/office/drawing/2014/main" id="{8FCA4D53-6DB6-1F61-3159-706A2A9E60F2}"/>
              </a:ext>
            </a:extLst>
          </p:cNvPr>
          <p:cNvGraphicFramePr>
            <a:graphicFrameLocks noGrp="1"/>
          </p:cNvGraphicFramePr>
          <p:nvPr>
            <p:extLst>
              <p:ext uri="{D42A27DB-BD31-4B8C-83A1-F6EECF244321}">
                <p14:modId xmlns:p14="http://schemas.microsoft.com/office/powerpoint/2010/main" val="1097765413"/>
              </p:ext>
            </p:extLst>
          </p:nvPr>
        </p:nvGraphicFramePr>
        <p:xfrm>
          <a:off x="695325" y="2457810"/>
          <a:ext cx="10801350" cy="2682240"/>
        </p:xfrm>
        <a:graphic>
          <a:graphicData uri="http://schemas.openxmlformats.org/drawingml/2006/table">
            <a:tbl>
              <a:tblPr/>
              <a:tblGrid>
                <a:gridCol w="3057525">
                  <a:extLst>
                    <a:ext uri="{9D8B030D-6E8A-4147-A177-3AD203B41FA5}">
                      <a16:colId xmlns:a16="http://schemas.microsoft.com/office/drawing/2014/main" val="1410462016"/>
                    </a:ext>
                  </a:extLst>
                </a:gridCol>
                <a:gridCol w="4143375">
                  <a:extLst>
                    <a:ext uri="{9D8B030D-6E8A-4147-A177-3AD203B41FA5}">
                      <a16:colId xmlns:a16="http://schemas.microsoft.com/office/drawing/2014/main" val="1145166056"/>
                    </a:ext>
                  </a:extLst>
                </a:gridCol>
                <a:gridCol w="3600450">
                  <a:extLst>
                    <a:ext uri="{9D8B030D-6E8A-4147-A177-3AD203B41FA5}">
                      <a16:colId xmlns:a16="http://schemas.microsoft.com/office/drawing/2014/main" val="2228822516"/>
                    </a:ext>
                  </a:extLst>
                </a:gridCol>
              </a:tblGrid>
              <a:tr h="0">
                <a:tc>
                  <a:txBody>
                    <a:bodyPr/>
                    <a:lstStyle/>
                    <a:p>
                      <a:pPr algn="l">
                        <a:buNone/>
                      </a:pPr>
                      <a:r>
                        <a:rPr lang="zh-CN" altLang="en-US" sz="1600" dirty="0">
                          <a:solidFill>
                            <a:schemeClr val="tx1"/>
                          </a:solidFill>
                        </a:rPr>
                        <a:t>维度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dirty="0">
                          <a:solidFill>
                            <a:schemeClr val="tx1"/>
                          </a:solidFill>
                        </a:rPr>
                        <a:t>软件质量保证 </a:t>
                      </a:r>
                      <a:r>
                        <a:rPr lang="en-US" altLang="zh-CN" sz="1600" dirty="0">
                          <a:solidFill>
                            <a:schemeClr val="tx1"/>
                          </a:solidFill>
                        </a:rPr>
                        <a:t>Quality assurances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dirty="0">
                          <a:solidFill>
                            <a:schemeClr val="tx1"/>
                          </a:solidFill>
                        </a:rPr>
                        <a:t>软件质量控制 </a:t>
                      </a:r>
                      <a:r>
                        <a:rPr lang="en-US" altLang="zh-CN" sz="1600" dirty="0">
                          <a:solidFill>
                            <a:schemeClr val="tx1"/>
                          </a:solidFill>
                        </a:rPr>
                        <a:t>Quality control</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92266401"/>
                  </a:ext>
                </a:extLst>
              </a:tr>
              <a:tr h="0">
                <a:tc>
                  <a:txBody>
                    <a:bodyPr/>
                    <a:lstStyle/>
                    <a:p>
                      <a:pPr algn="l">
                        <a:buNone/>
                      </a:pPr>
                      <a:r>
                        <a:rPr lang="zh-CN" altLang="en-US" sz="1600" dirty="0">
                          <a:solidFill>
                            <a:schemeClr val="tx1"/>
                          </a:solidFill>
                        </a:rPr>
                        <a:t>关注点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a:solidFill>
                            <a:schemeClr val="tx1"/>
                          </a:solidFill>
                        </a:rPr>
                        <a:t>过程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a:solidFill>
                            <a:schemeClr val="tx1"/>
                          </a:solidFill>
                        </a:rPr>
                        <a:t>产品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59105333"/>
                  </a:ext>
                </a:extLst>
              </a:tr>
              <a:tr h="0">
                <a:tc>
                  <a:txBody>
                    <a:bodyPr/>
                    <a:lstStyle/>
                    <a:p>
                      <a:pPr algn="l">
                        <a:buNone/>
                      </a:pPr>
                      <a:r>
                        <a:rPr lang="zh-CN" altLang="en-US" sz="1600">
                          <a:solidFill>
                            <a:schemeClr val="tx1"/>
                          </a:solidFill>
                        </a:rPr>
                        <a:t>目标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a:solidFill>
                            <a:schemeClr val="tx1"/>
                          </a:solidFill>
                        </a:rPr>
                        <a:t>预防缺陷</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a:solidFill>
                            <a:schemeClr val="tx1"/>
                          </a:solidFill>
                        </a:rPr>
                        <a:t>发现缺陷</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23360952"/>
                  </a:ext>
                </a:extLst>
              </a:tr>
              <a:tr h="0">
                <a:tc>
                  <a:txBody>
                    <a:bodyPr/>
                    <a:lstStyle/>
                    <a:p>
                      <a:pPr algn="l">
                        <a:buNone/>
                      </a:pPr>
                      <a:r>
                        <a:rPr lang="zh-CN" altLang="en-US" sz="1600">
                          <a:solidFill>
                            <a:schemeClr val="tx1"/>
                          </a:solidFill>
                        </a:rPr>
                        <a:t>性质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a:solidFill>
                            <a:schemeClr val="tx1"/>
                          </a:solidFill>
                        </a:rPr>
                        <a:t>管理性、预防性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a:solidFill>
                            <a:schemeClr val="tx1"/>
                          </a:solidFill>
                        </a:rPr>
                        <a:t>技术性、检测性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0075399"/>
                  </a:ext>
                </a:extLst>
              </a:tr>
              <a:tr h="0">
                <a:tc>
                  <a:txBody>
                    <a:bodyPr/>
                    <a:lstStyle/>
                    <a:p>
                      <a:pPr algn="l">
                        <a:buNone/>
                      </a:pPr>
                      <a:r>
                        <a:rPr lang="zh-CN" altLang="en-US" sz="1600">
                          <a:solidFill>
                            <a:schemeClr val="tx1"/>
                          </a:solidFill>
                        </a:rPr>
                        <a:t>时间点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a:solidFill>
                            <a:schemeClr val="tx1"/>
                          </a:solidFill>
                        </a:rPr>
                        <a:t>全生命周期（偏前期规划）</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a:solidFill>
                            <a:schemeClr val="tx1"/>
                          </a:solidFill>
                        </a:rPr>
                        <a:t>开发后期（偏测试阶段）</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86142375"/>
                  </a:ext>
                </a:extLst>
              </a:tr>
              <a:tr h="0">
                <a:tc>
                  <a:txBody>
                    <a:bodyPr/>
                    <a:lstStyle/>
                    <a:p>
                      <a:pPr algn="l">
                        <a:buNone/>
                      </a:pPr>
                      <a:r>
                        <a:rPr lang="zh-CN" altLang="en-US" sz="1600">
                          <a:solidFill>
                            <a:schemeClr val="tx1"/>
                          </a:solidFill>
                        </a:rPr>
                        <a:t>手段</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dirty="0">
                          <a:solidFill>
                            <a:schemeClr val="tx1"/>
                          </a:solidFill>
                        </a:rPr>
                        <a:t>流程制定、审计、培训</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a:solidFill>
                            <a:schemeClr val="tx1"/>
                          </a:solidFill>
                        </a:rPr>
                        <a:t>测试、代码审查、检查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013413"/>
                  </a:ext>
                </a:extLst>
              </a:tr>
              <a:tr h="0">
                <a:tc>
                  <a:txBody>
                    <a:bodyPr/>
                    <a:lstStyle/>
                    <a:p>
                      <a:pPr algn="l">
                        <a:buNone/>
                      </a:pPr>
                      <a:r>
                        <a:rPr lang="zh-CN" altLang="en-US" sz="1600">
                          <a:solidFill>
                            <a:schemeClr val="tx1"/>
                          </a:solidFill>
                        </a:rPr>
                        <a:t>回答问题</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a:solidFill>
                            <a:schemeClr val="tx1"/>
                          </a:solidFill>
                        </a:rPr>
                        <a:t>“我们在用正确的方法做事吗？”</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a:solidFill>
                            <a:schemeClr val="tx1"/>
                          </a:solidFill>
                        </a:rPr>
                        <a:t>“我们做出来的东西对吗？”</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1265816"/>
                  </a:ext>
                </a:extLst>
              </a:tr>
              <a:tr h="0">
                <a:tc>
                  <a:txBody>
                    <a:bodyPr/>
                    <a:lstStyle/>
                    <a:p>
                      <a:pPr algn="l">
                        <a:buNone/>
                      </a:pPr>
                      <a:r>
                        <a:rPr lang="zh-CN" altLang="en-US" sz="1600">
                          <a:solidFill>
                            <a:schemeClr val="tx1"/>
                          </a:solidFill>
                        </a:rPr>
                        <a:t>责任主体</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a:solidFill>
                            <a:schemeClr val="tx1"/>
                          </a:solidFill>
                        </a:rPr>
                        <a:t>全员（通常由 </a:t>
                      </a:r>
                      <a:r>
                        <a:rPr lang="en-US" altLang="zh-CN" sz="1600">
                          <a:solidFill>
                            <a:schemeClr val="tx1"/>
                          </a:solidFill>
                        </a:rPr>
                        <a:t>QA </a:t>
                      </a:r>
                      <a:r>
                        <a:rPr lang="zh-CN" altLang="en-US" sz="1600">
                          <a:solidFill>
                            <a:schemeClr val="tx1"/>
                          </a:solidFill>
                        </a:rPr>
                        <a:t>部门推动）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dirty="0">
                          <a:solidFill>
                            <a:schemeClr val="tx1"/>
                          </a:solidFill>
                        </a:rPr>
                        <a:t>测试人员、开发人员</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6858204"/>
                  </a:ext>
                </a:extLst>
              </a:tr>
            </a:tbl>
          </a:graphicData>
        </a:graphic>
      </p:graphicFrame>
    </p:spTree>
    <p:extLst>
      <p:ext uri="{BB962C8B-B14F-4D97-AF65-F5344CB8AC3E}">
        <p14:creationId xmlns:p14="http://schemas.microsoft.com/office/powerpoint/2010/main" val="4014128537"/>
      </p:ext>
    </p:extLst>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CD46B03F-3C10-DD34-9B11-58D4B36FCB1A}"/>
              </a:ext>
            </a:extLst>
          </p:cNvPr>
          <p:cNvSpPr/>
          <p:nvPr/>
        </p:nvSpPr>
        <p:spPr>
          <a:xfrm>
            <a:off x="2242276" y="2976022"/>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P1</a:t>
            </a:r>
            <a:endParaRPr lang="zh-CN" altLang="en-US" sz="1600" dirty="0">
              <a:solidFill>
                <a:schemeClr val="tx1"/>
              </a:solidFill>
            </a:endParaRPr>
          </a:p>
        </p:txBody>
      </p:sp>
      <p:sp>
        <p:nvSpPr>
          <p:cNvPr id="21" name="矩形 20">
            <a:extLst>
              <a:ext uri="{FF2B5EF4-FFF2-40B4-BE49-F238E27FC236}">
                <a16:creationId xmlns:a16="http://schemas.microsoft.com/office/drawing/2014/main" id="{2512FCF3-D105-235C-36F7-E25B573F5FB3}"/>
              </a:ext>
            </a:extLst>
          </p:cNvPr>
          <p:cNvSpPr/>
          <p:nvPr/>
        </p:nvSpPr>
        <p:spPr>
          <a:xfrm>
            <a:off x="3809138" y="2976022"/>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P2</a:t>
            </a:r>
            <a:endParaRPr lang="zh-CN" altLang="en-US" sz="1600" dirty="0">
              <a:solidFill>
                <a:schemeClr val="tx1"/>
              </a:solidFill>
            </a:endParaRPr>
          </a:p>
        </p:txBody>
      </p:sp>
      <p:sp>
        <p:nvSpPr>
          <p:cNvPr id="22" name="矩形 21">
            <a:extLst>
              <a:ext uri="{FF2B5EF4-FFF2-40B4-BE49-F238E27FC236}">
                <a16:creationId xmlns:a16="http://schemas.microsoft.com/office/drawing/2014/main" id="{F9D0F653-0A1A-58B4-3684-1ED7B2C5ADFE}"/>
              </a:ext>
            </a:extLst>
          </p:cNvPr>
          <p:cNvSpPr/>
          <p:nvPr/>
        </p:nvSpPr>
        <p:spPr>
          <a:xfrm>
            <a:off x="5376000" y="2976022"/>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P3</a:t>
            </a:r>
            <a:endParaRPr lang="zh-CN" altLang="en-US" sz="1600" dirty="0">
              <a:solidFill>
                <a:schemeClr val="tx1"/>
              </a:solidFill>
            </a:endParaRPr>
          </a:p>
        </p:txBody>
      </p:sp>
      <p:sp>
        <p:nvSpPr>
          <p:cNvPr id="23" name="流程图: 磁盘 22">
            <a:extLst>
              <a:ext uri="{FF2B5EF4-FFF2-40B4-BE49-F238E27FC236}">
                <a16:creationId xmlns:a16="http://schemas.microsoft.com/office/drawing/2014/main" id="{03A19B50-CFE9-A090-5D76-BDEB82E6C729}"/>
              </a:ext>
            </a:extLst>
          </p:cNvPr>
          <p:cNvSpPr/>
          <p:nvPr/>
        </p:nvSpPr>
        <p:spPr>
          <a:xfrm>
            <a:off x="6942862" y="2919266"/>
            <a:ext cx="2133600" cy="473513"/>
          </a:xfrm>
          <a:prstGeom prst="flowChartMagneticDisk">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Product</a:t>
            </a:r>
            <a:endParaRPr lang="zh-CN" altLang="en-US" sz="1600" dirty="0">
              <a:solidFill>
                <a:schemeClr val="tx1"/>
              </a:solidFill>
            </a:endParaRPr>
          </a:p>
        </p:txBody>
      </p:sp>
      <p:cxnSp>
        <p:nvCxnSpPr>
          <p:cNvPr id="25" name="直接箭头连接符 24">
            <a:extLst>
              <a:ext uri="{FF2B5EF4-FFF2-40B4-BE49-F238E27FC236}">
                <a16:creationId xmlns:a16="http://schemas.microsoft.com/office/drawing/2014/main" id="{16ABA18B-5745-390F-FF86-7D37ACED60EF}"/>
              </a:ext>
            </a:extLst>
          </p:cNvPr>
          <p:cNvCxnSpPr>
            <a:stCxn id="20" idx="3"/>
            <a:endCxn id="21" idx="1"/>
          </p:cNvCxnSpPr>
          <p:nvPr/>
        </p:nvCxnSpPr>
        <p:spPr>
          <a:xfrm>
            <a:off x="2962276" y="3156022"/>
            <a:ext cx="84686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C26E518A-59B4-36CD-DB25-C0F701153C82}"/>
              </a:ext>
            </a:extLst>
          </p:cNvPr>
          <p:cNvCxnSpPr>
            <a:stCxn id="21" idx="3"/>
            <a:endCxn id="22" idx="1"/>
          </p:cNvCxnSpPr>
          <p:nvPr/>
        </p:nvCxnSpPr>
        <p:spPr>
          <a:xfrm>
            <a:off x="4529138" y="3156022"/>
            <a:ext cx="84686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1D9556AC-11CD-72AD-351E-C1075D1B2414}"/>
              </a:ext>
            </a:extLst>
          </p:cNvPr>
          <p:cNvCxnSpPr>
            <a:stCxn id="22" idx="3"/>
            <a:endCxn id="23" idx="2"/>
          </p:cNvCxnSpPr>
          <p:nvPr/>
        </p:nvCxnSpPr>
        <p:spPr>
          <a:xfrm>
            <a:off x="6096000" y="3156022"/>
            <a:ext cx="846862"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E7F6D802-2CFD-610C-1989-8BC4F5095D2E}"/>
              </a:ext>
            </a:extLst>
          </p:cNvPr>
          <p:cNvCxnSpPr>
            <a:stCxn id="23" idx="4"/>
          </p:cNvCxnSpPr>
          <p:nvPr/>
        </p:nvCxnSpPr>
        <p:spPr>
          <a:xfrm flipV="1">
            <a:off x="9076462" y="3156022"/>
            <a:ext cx="885825"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文本框 31">
            <a:extLst>
              <a:ext uri="{FF2B5EF4-FFF2-40B4-BE49-F238E27FC236}">
                <a16:creationId xmlns:a16="http://schemas.microsoft.com/office/drawing/2014/main" id="{7371F186-E025-61DA-0750-043955D371B8}"/>
              </a:ext>
            </a:extLst>
          </p:cNvPr>
          <p:cNvSpPr txBox="1"/>
          <p:nvPr/>
        </p:nvSpPr>
        <p:spPr>
          <a:xfrm>
            <a:off x="3133875" y="3855621"/>
            <a:ext cx="503664" cy="338554"/>
          </a:xfrm>
          <a:prstGeom prst="rect">
            <a:avLst/>
          </a:prstGeom>
          <a:noFill/>
          <a:ln>
            <a:noFill/>
          </a:ln>
        </p:spPr>
        <p:txBody>
          <a:bodyPr wrap="none" rtlCol="0">
            <a:spAutoFit/>
          </a:bodyPr>
          <a:lstStyle/>
          <a:p>
            <a:pPr algn="ctr"/>
            <a:r>
              <a:rPr lang="en-US" altLang="zh-CN" sz="1600" dirty="0"/>
              <a:t>QA</a:t>
            </a:r>
            <a:endParaRPr lang="zh-CN" altLang="en-US" sz="1600" dirty="0"/>
          </a:p>
        </p:txBody>
      </p:sp>
      <p:sp>
        <p:nvSpPr>
          <p:cNvPr id="33" name="文本框 32">
            <a:extLst>
              <a:ext uri="{FF2B5EF4-FFF2-40B4-BE49-F238E27FC236}">
                <a16:creationId xmlns:a16="http://schemas.microsoft.com/office/drawing/2014/main" id="{723C02F1-CF89-24B5-DA1E-8169275E3C93}"/>
              </a:ext>
            </a:extLst>
          </p:cNvPr>
          <p:cNvSpPr txBox="1"/>
          <p:nvPr/>
        </p:nvSpPr>
        <p:spPr>
          <a:xfrm>
            <a:off x="4700737" y="3855621"/>
            <a:ext cx="503664" cy="338554"/>
          </a:xfrm>
          <a:prstGeom prst="rect">
            <a:avLst/>
          </a:prstGeom>
          <a:noFill/>
          <a:ln>
            <a:noFill/>
          </a:ln>
        </p:spPr>
        <p:txBody>
          <a:bodyPr wrap="none" rtlCol="0">
            <a:spAutoFit/>
          </a:bodyPr>
          <a:lstStyle/>
          <a:p>
            <a:pPr algn="ctr"/>
            <a:r>
              <a:rPr lang="en-US" altLang="zh-CN" sz="1600" dirty="0"/>
              <a:t>QA</a:t>
            </a:r>
            <a:endParaRPr lang="zh-CN" altLang="en-US" sz="1600" dirty="0"/>
          </a:p>
        </p:txBody>
      </p:sp>
      <p:sp>
        <p:nvSpPr>
          <p:cNvPr id="34" name="文本框 33">
            <a:extLst>
              <a:ext uri="{FF2B5EF4-FFF2-40B4-BE49-F238E27FC236}">
                <a16:creationId xmlns:a16="http://schemas.microsoft.com/office/drawing/2014/main" id="{10F22A45-9BBC-548B-1A21-963DAB41A1B4}"/>
              </a:ext>
            </a:extLst>
          </p:cNvPr>
          <p:cNvSpPr txBox="1"/>
          <p:nvPr/>
        </p:nvSpPr>
        <p:spPr>
          <a:xfrm>
            <a:off x="6267599" y="3855621"/>
            <a:ext cx="503664" cy="338554"/>
          </a:xfrm>
          <a:prstGeom prst="rect">
            <a:avLst/>
          </a:prstGeom>
          <a:noFill/>
          <a:ln>
            <a:noFill/>
          </a:ln>
        </p:spPr>
        <p:txBody>
          <a:bodyPr wrap="none" rtlCol="0">
            <a:spAutoFit/>
          </a:bodyPr>
          <a:lstStyle/>
          <a:p>
            <a:pPr algn="ctr"/>
            <a:r>
              <a:rPr lang="en-US" altLang="zh-CN" sz="1600" dirty="0"/>
              <a:t>QC</a:t>
            </a:r>
            <a:endParaRPr lang="zh-CN" altLang="en-US" sz="1600" dirty="0"/>
          </a:p>
        </p:txBody>
      </p:sp>
      <p:sp>
        <p:nvSpPr>
          <p:cNvPr id="35" name="文本框 34">
            <a:extLst>
              <a:ext uri="{FF2B5EF4-FFF2-40B4-BE49-F238E27FC236}">
                <a16:creationId xmlns:a16="http://schemas.microsoft.com/office/drawing/2014/main" id="{C74DC79D-9E29-95FA-8543-9959ACD15E98}"/>
              </a:ext>
            </a:extLst>
          </p:cNvPr>
          <p:cNvSpPr txBox="1"/>
          <p:nvPr/>
        </p:nvSpPr>
        <p:spPr>
          <a:xfrm>
            <a:off x="9273571" y="3855621"/>
            <a:ext cx="503664" cy="338554"/>
          </a:xfrm>
          <a:prstGeom prst="rect">
            <a:avLst/>
          </a:prstGeom>
          <a:noFill/>
          <a:ln>
            <a:noFill/>
          </a:ln>
        </p:spPr>
        <p:txBody>
          <a:bodyPr wrap="none" rtlCol="0">
            <a:spAutoFit/>
          </a:bodyPr>
          <a:lstStyle/>
          <a:p>
            <a:pPr algn="ctr"/>
            <a:r>
              <a:rPr lang="en-US" altLang="zh-CN" sz="1600" dirty="0"/>
              <a:t>QA</a:t>
            </a:r>
            <a:endParaRPr lang="zh-CN" altLang="en-US" sz="1600" dirty="0"/>
          </a:p>
        </p:txBody>
      </p:sp>
      <p:cxnSp>
        <p:nvCxnSpPr>
          <p:cNvPr id="37" name="直接箭头连接符 36">
            <a:extLst>
              <a:ext uri="{FF2B5EF4-FFF2-40B4-BE49-F238E27FC236}">
                <a16:creationId xmlns:a16="http://schemas.microsoft.com/office/drawing/2014/main" id="{1CA0D01E-E7E0-E16C-6CEB-A2CE578AE5BF}"/>
              </a:ext>
            </a:extLst>
          </p:cNvPr>
          <p:cNvCxnSpPr>
            <a:cxnSpLocks/>
          </p:cNvCxnSpPr>
          <p:nvPr/>
        </p:nvCxnSpPr>
        <p:spPr>
          <a:xfrm flipV="1">
            <a:off x="3385707" y="3392779"/>
            <a:ext cx="0" cy="4320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CB468AE8-7E42-B8F9-1280-1D7A27E80F81}"/>
              </a:ext>
            </a:extLst>
          </p:cNvPr>
          <p:cNvCxnSpPr>
            <a:cxnSpLocks/>
          </p:cNvCxnSpPr>
          <p:nvPr/>
        </p:nvCxnSpPr>
        <p:spPr>
          <a:xfrm flipV="1">
            <a:off x="4952569" y="3392779"/>
            <a:ext cx="0" cy="4320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953D9A04-9B54-9034-772C-72ABCF381497}"/>
              </a:ext>
            </a:extLst>
          </p:cNvPr>
          <p:cNvCxnSpPr>
            <a:cxnSpLocks/>
          </p:cNvCxnSpPr>
          <p:nvPr/>
        </p:nvCxnSpPr>
        <p:spPr>
          <a:xfrm flipV="1">
            <a:off x="6519431" y="3392779"/>
            <a:ext cx="0" cy="4320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0EE9FAD1-9E0E-3293-24BA-037AD7AC98B5}"/>
              </a:ext>
            </a:extLst>
          </p:cNvPr>
          <p:cNvCxnSpPr>
            <a:cxnSpLocks/>
          </p:cNvCxnSpPr>
          <p:nvPr/>
        </p:nvCxnSpPr>
        <p:spPr>
          <a:xfrm flipV="1">
            <a:off x="9525403" y="3392779"/>
            <a:ext cx="0" cy="4320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5A0AF127-8C35-0B65-64C0-29A4360B75AC}"/>
              </a:ext>
            </a:extLst>
          </p:cNvPr>
          <p:cNvSpPr txBox="1"/>
          <p:nvPr/>
        </p:nvSpPr>
        <p:spPr>
          <a:xfrm>
            <a:off x="2128472" y="2547220"/>
            <a:ext cx="1005403" cy="338554"/>
          </a:xfrm>
          <a:prstGeom prst="rect">
            <a:avLst/>
          </a:prstGeom>
          <a:noFill/>
          <a:ln>
            <a:noFill/>
          </a:ln>
        </p:spPr>
        <p:txBody>
          <a:bodyPr wrap="none" rtlCol="0">
            <a:spAutoFit/>
          </a:bodyPr>
          <a:lstStyle/>
          <a:p>
            <a:pPr algn="ctr"/>
            <a:r>
              <a:rPr lang="zh-CN" altLang="en-US" sz="1600" dirty="0"/>
              <a:t>需求分析</a:t>
            </a:r>
          </a:p>
        </p:txBody>
      </p:sp>
      <p:sp>
        <p:nvSpPr>
          <p:cNvPr id="6" name="文本框 5">
            <a:extLst>
              <a:ext uri="{FF2B5EF4-FFF2-40B4-BE49-F238E27FC236}">
                <a16:creationId xmlns:a16="http://schemas.microsoft.com/office/drawing/2014/main" id="{82B05523-974D-3DF7-38AA-CF4C163F65A6}"/>
              </a:ext>
            </a:extLst>
          </p:cNvPr>
          <p:cNvSpPr txBox="1"/>
          <p:nvPr/>
        </p:nvSpPr>
        <p:spPr>
          <a:xfrm>
            <a:off x="3695334" y="2547220"/>
            <a:ext cx="1005403" cy="338554"/>
          </a:xfrm>
          <a:prstGeom prst="rect">
            <a:avLst/>
          </a:prstGeom>
          <a:noFill/>
          <a:ln>
            <a:noFill/>
          </a:ln>
        </p:spPr>
        <p:txBody>
          <a:bodyPr wrap="none" rtlCol="0">
            <a:spAutoFit/>
          </a:bodyPr>
          <a:lstStyle/>
          <a:p>
            <a:pPr algn="ctr"/>
            <a:r>
              <a:rPr lang="zh-CN" altLang="en-US" sz="1600" dirty="0"/>
              <a:t>系统设计</a:t>
            </a:r>
          </a:p>
        </p:txBody>
      </p:sp>
      <p:sp>
        <p:nvSpPr>
          <p:cNvPr id="7" name="文本框 6">
            <a:extLst>
              <a:ext uri="{FF2B5EF4-FFF2-40B4-BE49-F238E27FC236}">
                <a16:creationId xmlns:a16="http://schemas.microsoft.com/office/drawing/2014/main" id="{634BF761-C548-1BC4-4B06-0286B9CE06BD}"/>
              </a:ext>
            </a:extLst>
          </p:cNvPr>
          <p:cNvSpPr txBox="1"/>
          <p:nvPr/>
        </p:nvSpPr>
        <p:spPr>
          <a:xfrm>
            <a:off x="5262196" y="2547220"/>
            <a:ext cx="1005403" cy="338554"/>
          </a:xfrm>
          <a:prstGeom prst="rect">
            <a:avLst/>
          </a:prstGeom>
          <a:noFill/>
          <a:ln>
            <a:noFill/>
          </a:ln>
        </p:spPr>
        <p:txBody>
          <a:bodyPr wrap="none" rtlCol="0">
            <a:spAutoFit/>
          </a:bodyPr>
          <a:lstStyle/>
          <a:p>
            <a:pPr algn="ctr"/>
            <a:r>
              <a:rPr lang="zh-CN" altLang="en-US" sz="1600" dirty="0"/>
              <a:t>编码实现</a:t>
            </a:r>
          </a:p>
        </p:txBody>
      </p:sp>
    </p:spTree>
    <p:extLst>
      <p:ext uri="{BB962C8B-B14F-4D97-AF65-F5344CB8AC3E}">
        <p14:creationId xmlns:p14="http://schemas.microsoft.com/office/powerpoint/2010/main" val="685165820"/>
      </p:ext>
    </p:extLst>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B8F293-2443-B995-17B8-C24B0A26C849}"/>
              </a:ext>
            </a:extLst>
          </p:cNvPr>
          <p:cNvSpPr>
            <a:spLocks noGrp="1"/>
          </p:cNvSpPr>
          <p:nvPr>
            <p:ph type="title"/>
          </p:nvPr>
        </p:nvSpPr>
        <p:spPr>
          <a:xfrm>
            <a:off x="792000" y="360000"/>
            <a:ext cx="6375921" cy="429413"/>
          </a:xfrm>
        </p:spPr>
        <p:txBody>
          <a:bodyPr/>
          <a:lstStyle/>
          <a:p>
            <a:r>
              <a:rPr lang="en-US" altLang="zh-CN" dirty="0"/>
              <a:t>3.1 </a:t>
            </a:r>
            <a:r>
              <a:rPr lang="zh-CN" altLang="en-US" dirty="0"/>
              <a:t>质量保证</a:t>
            </a:r>
          </a:p>
        </p:txBody>
      </p:sp>
      <p:sp>
        <p:nvSpPr>
          <p:cNvPr id="3" name="内容占位符 2">
            <a:extLst>
              <a:ext uri="{FF2B5EF4-FFF2-40B4-BE49-F238E27FC236}">
                <a16:creationId xmlns:a16="http://schemas.microsoft.com/office/drawing/2014/main" id="{1F53469A-B16C-A7A4-0982-FFAB63D1A1B5}"/>
              </a:ext>
            </a:extLst>
          </p:cNvPr>
          <p:cNvSpPr>
            <a:spLocks noGrp="1"/>
          </p:cNvSpPr>
          <p:nvPr>
            <p:ph idx="1"/>
          </p:nvPr>
        </p:nvSpPr>
        <p:spPr>
          <a:xfrm>
            <a:off x="696000" y="864000"/>
            <a:ext cx="10800000" cy="5400000"/>
          </a:xfrm>
        </p:spPr>
        <p:txBody>
          <a:bodyPr/>
          <a:lstStyle/>
          <a:p>
            <a:r>
              <a:rPr lang="zh-CN" altLang="en-US" dirty="0"/>
              <a:t>通过评价项目整体绩效</a:t>
            </a:r>
            <a:r>
              <a:rPr lang="en-US" altLang="zh-CN" dirty="0"/>
              <a:t>,</a:t>
            </a:r>
            <a:r>
              <a:rPr lang="zh-CN" altLang="en-US" dirty="0"/>
              <a:t>建立对质量要求的信任</a:t>
            </a:r>
          </a:p>
          <a:p>
            <a:r>
              <a:rPr lang="zh-CN" altLang="en-US" dirty="0"/>
              <a:t>提供项目和产品可视化的管理报告</a:t>
            </a:r>
          </a:p>
          <a:p>
            <a:r>
              <a:rPr lang="zh-CN" altLang="en-US" dirty="0"/>
              <a:t>例如：</a:t>
            </a:r>
            <a:r>
              <a:rPr lang="en-US" altLang="zh-CN" dirty="0"/>
              <a:t>《</a:t>
            </a:r>
            <a:r>
              <a:rPr lang="zh-CN" altLang="en-US" dirty="0"/>
              <a:t>软件设计说明书</a:t>
            </a:r>
            <a:r>
              <a:rPr lang="en-US" altLang="zh-CN" dirty="0"/>
              <a:t>》</a:t>
            </a:r>
            <a:r>
              <a:rPr lang="zh-CN" altLang="en-US" dirty="0"/>
              <a:t>质量审计</a:t>
            </a:r>
          </a:p>
          <a:p>
            <a:r>
              <a:rPr lang="en-US" altLang="zh-CN" dirty="0"/>
              <a:t>Is it done right?</a:t>
            </a:r>
          </a:p>
          <a:p>
            <a:r>
              <a:rPr lang="zh-CN" altLang="en-US" dirty="0"/>
              <a:t>这个任务本身并不能提高产品的质量</a:t>
            </a:r>
          </a:p>
          <a:p>
            <a:r>
              <a:rPr lang="zh-CN" altLang="en-US" dirty="0"/>
              <a:t>一般由质量保证部门人员实施</a:t>
            </a:r>
            <a:endParaRPr lang="en-US" altLang="zh-CN" dirty="0"/>
          </a:p>
          <a:p>
            <a:r>
              <a:rPr lang="zh-CN" altLang="en-US" dirty="0"/>
              <a:t>活动</a:t>
            </a:r>
            <a:endParaRPr lang="en-US" altLang="zh-CN" dirty="0"/>
          </a:p>
          <a:p>
            <a:pPr lvl="1"/>
            <a:r>
              <a:rPr lang="zh-CN" altLang="en-US" dirty="0"/>
              <a:t>审计</a:t>
            </a:r>
            <a:endParaRPr lang="en-US" altLang="zh-CN" dirty="0"/>
          </a:p>
          <a:p>
            <a:endParaRPr lang="zh-CN" altLang="en-US" dirty="0"/>
          </a:p>
          <a:p>
            <a:endParaRPr lang="zh-CN" altLang="en-US" dirty="0"/>
          </a:p>
        </p:txBody>
      </p:sp>
      <p:sp>
        <p:nvSpPr>
          <p:cNvPr id="16" name="文本占位符 15">
            <a:extLst>
              <a:ext uri="{FF2B5EF4-FFF2-40B4-BE49-F238E27FC236}">
                <a16:creationId xmlns:a16="http://schemas.microsoft.com/office/drawing/2014/main" id="{E495B25B-EFDC-3A60-EF9A-1B08A12DB4F4}"/>
              </a:ext>
            </a:extLst>
          </p:cNvPr>
          <p:cNvSpPr>
            <a:spLocks noGrp="1"/>
          </p:cNvSpPr>
          <p:nvPr>
            <p:ph type="body" sz="quarter" idx="10"/>
          </p:nvPr>
        </p:nvSpPr>
        <p:spPr>
          <a:xfrm>
            <a:off x="7071919" y="448519"/>
            <a:ext cx="4424080" cy="338554"/>
          </a:xfrm>
        </p:spPr>
        <p:txBody>
          <a:bodyPr/>
          <a:lstStyle/>
          <a:p>
            <a:r>
              <a:rPr lang="en-US" altLang="zh-CN" dirty="0"/>
              <a:t>QA</a:t>
            </a:r>
            <a:endParaRPr lang="zh-CN" altLang="en-US" dirty="0"/>
          </a:p>
        </p:txBody>
      </p:sp>
    </p:spTree>
    <p:extLst>
      <p:ext uri="{BB962C8B-B14F-4D97-AF65-F5344CB8AC3E}">
        <p14:creationId xmlns:p14="http://schemas.microsoft.com/office/powerpoint/2010/main" val="4043776866"/>
      </p:ext>
    </p:extLst>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3902D88F-163C-4F5A-B140-4AFC2CF4A496}"/>
              </a:ext>
            </a:extLst>
          </p:cNvPr>
          <p:cNvSpPr>
            <a:spLocks noGrp="1"/>
          </p:cNvSpPr>
          <p:nvPr>
            <p:ph type="title"/>
          </p:nvPr>
        </p:nvSpPr>
        <p:spPr>
          <a:xfrm>
            <a:off x="792000" y="360000"/>
            <a:ext cx="6375921" cy="429413"/>
          </a:xfrm>
        </p:spPr>
        <p:txBody>
          <a:bodyPr/>
          <a:lstStyle/>
          <a:p>
            <a:r>
              <a:rPr lang="en-US" altLang="zh-CN" dirty="0"/>
              <a:t>3.1.1 </a:t>
            </a:r>
            <a:r>
              <a:rPr lang="zh-CN" altLang="en-US" dirty="0"/>
              <a:t>审计</a:t>
            </a:r>
          </a:p>
        </p:txBody>
      </p:sp>
      <p:sp>
        <p:nvSpPr>
          <p:cNvPr id="3" name="内容占位符 2">
            <a:extLst>
              <a:ext uri="{FF2B5EF4-FFF2-40B4-BE49-F238E27FC236}">
                <a16:creationId xmlns:a16="http://schemas.microsoft.com/office/drawing/2014/main" id="{1FD15D2F-E942-C391-AF22-3638F186AB51}"/>
              </a:ext>
            </a:extLst>
          </p:cNvPr>
          <p:cNvSpPr>
            <a:spLocks noGrp="1"/>
          </p:cNvSpPr>
          <p:nvPr>
            <p:ph idx="1"/>
          </p:nvPr>
        </p:nvSpPr>
        <p:spPr>
          <a:xfrm>
            <a:off x="696000" y="864000"/>
            <a:ext cx="10800000" cy="5400000"/>
          </a:xfrm>
        </p:spPr>
        <p:txBody>
          <a:bodyPr/>
          <a:lstStyle/>
          <a:p>
            <a:r>
              <a:rPr lang="zh-CN" altLang="en-US" dirty="0"/>
              <a:t>对过程或者产品的一次独立评估</a:t>
            </a:r>
            <a:endParaRPr lang="en-US" altLang="zh-CN" dirty="0"/>
          </a:p>
          <a:p>
            <a:r>
              <a:rPr lang="zh-CN" altLang="en-US" dirty="0"/>
              <a:t>将审核的主体与为该主体以前建立的一组规程和标准进行比较</a:t>
            </a:r>
            <a:endParaRPr lang="en-US" altLang="zh-CN" dirty="0"/>
          </a:p>
          <a:p>
            <a:endParaRPr lang="zh-CN" altLang="en-US" dirty="0"/>
          </a:p>
        </p:txBody>
      </p:sp>
      <p:sp>
        <p:nvSpPr>
          <p:cNvPr id="7" name="文本占位符 6">
            <a:extLst>
              <a:ext uri="{FF2B5EF4-FFF2-40B4-BE49-F238E27FC236}">
                <a16:creationId xmlns:a16="http://schemas.microsoft.com/office/drawing/2014/main" id="{8A55A583-3041-8F10-3B7D-58F29D0AB82E}"/>
              </a:ext>
            </a:extLst>
          </p:cNvPr>
          <p:cNvSpPr>
            <a:spLocks noGrp="1"/>
          </p:cNvSpPr>
          <p:nvPr>
            <p:ph type="body" sz="quarter" idx="10"/>
          </p:nvPr>
        </p:nvSpPr>
        <p:spPr>
          <a:xfrm>
            <a:off x="7071919" y="448519"/>
            <a:ext cx="4424080" cy="338554"/>
          </a:xfrm>
        </p:spPr>
        <p:txBody>
          <a:bodyPr/>
          <a:lstStyle/>
          <a:p>
            <a:r>
              <a:rPr lang="en-US" altLang="zh-CN" dirty="0"/>
              <a:t>Audit</a:t>
            </a:r>
            <a:endParaRPr lang="zh-CN" altLang="en-US" dirty="0"/>
          </a:p>
        </p:txBody>
      </p:sp>
      <p:sp>
        <p:nvSpPr>
          <p:cNvPr id="2" name="矩形 1">
            <a:extLst>
              <a:ext uri="{FF2B5EF4-FFF2-40B4-BE49-F238E27FC236}">
                <a16:creationId xmlns:a16="http://schemas.microsoft.com/office/drawing/2014/main" id="{A9098BAC-D4D5-8CF4-CAB8-AD40D050C238}"/>
              </a:ext>
            </a:extLst>
          </p:cNvPr>
          <p:cNvSpPr/>
          <p:nvPr/>
        </p:nvSpPr>
        <p:spPr>
          <a:xfrm>
            <a:off x="2029498" y="4221062"/>
            <a:ext cx="144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管理活动</a:t>
            </a:r>
          </a:p>
        </p:txBody>
      </p:sp>
      <p:sp>
        <p:nvSpPr>
          <p:cNvPr id="4" name="矩形 3">
            <a:extLst>
              <a:ext uri="{FF2B5EF4-FFF2-40B4-BE49-F238E27FC236}">
                <a16:creationId xmlns:a16="http://schemas.microsoft.com/office/drawing/2014/main" id="{0D4C4D4D-CCDB-42CD-87E6-DFF10DEFF807}"/>
              </a:ext>
            </a:extLst>
          </p:cNvPr>
          <p:cNvSpPr/>
          <p:nvPr/>
        </p:nvSpPr>
        <p:spPr>
          <a:xfrm>
            <a:off x="3469498" y="3452994"/>
            <a:ext cx="144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质量保证 </a:t>
            </a:r>
            <a:r>
              <a:rPr lang="en-US" altLang="zh-CN" sz="1600" dirty="0">
                <a:solidFill>
                  <a:schemeClr val="tx1"/>
                </a:solidFill>
              </a:rPr>
              <a:t>QA</a:t>
            </a:r>
            <a:endParaRPr lang="zh-CN" altLang="en-US" sz="1600" dirty="0">
              <a:solidFill>
                <a:schemeClr val="tx1"/>
              </a:solidFill>
            </a:endParaRPr>
          </a:p>
        </p:txBody>
      </p:sp>
      <p:sp>
        <p:nvSpPr>
          <p:cNvPr id="5" name="矩形 4">
            <a:extLst>
              <a:ext uri="{FF2B5EF4-FFF2-40B4-BE49-F238E27FC236}">
                <a16:creationId xmlns:a16="http://schemas.microsoft.com/office/drawing/2014/main" id="{FAA35603-81C0-A14B-199F-CD896A4D65E1}"/>
              </a:ext>
            </a:extLst>
          </p:cNvPr>
          <p:cNvSpPr/>
          <p:nvPr/>
        </p:nvSpPr>
        <p:spPr>
          <a:xfrm>
            <a:off x="3469498" y="4989130"/>
            <a:ext cx="144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质量控制 </a:t>
            </a:r>
            <a:r>
              <a:rPr lang="en-US" altLang="zh-CN" sz="1600" dirty="0">
                <a:solidFill>
                  <a:schemeClr val="tx1"/>
                </a:solidFill>
              </a:rPr>
              <a:t>QC</a:t>
            </a:r>
            <a:endParaRPr lang="zh-CN" altLang="en-US" sz="1600" dirty="0">
              <a:solidFill>
                <a:schemeClr val="tx1"/>
              </a:solidFill>
            </a:endParaRPr>
          </a:p>
        </p:txBody>
      </p:sp>
      <p:cxnSp>
        <p:nvCxnSpPr>
          <p:cNvPr id="8" name="连接符: 肘形 7">
            <a:extLst>
              <a:ext uri="{FF2B5EF4-FFF2-40B4-BE49-F238E27FC236}">
                <a16:creationId xmlns:a16="http://schemas.microsoft.com/office/drawing/2014/main" id="{DBFF9081-6536-2BDF-716F-B12077573E4A}"/>
              </a:ext>
            </a:extLst>
          </p:cNvPr>
          <p:cNvCxnSpPr>
            <a:stCxn id="2" idx="0"/>
            <a:endCxn id="4" idx="1"/>
          </p:cNvCxnSpPr>
          <p:nvPr/>
        </p:nvCxnSpPr>
        <p:spPr>
          <a:xfrm rot="5400000" flipH="1" flipV="1">
            <a:off x="2815464" y="3567028"/>
            <a:ext cx="588068" cy="720000"/>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连接符: 肘形 8">
            <a:extLst>
              <a:ext uri="{FF2B5EF4-FFF2-40B4-BE49-F238E27FC236}">
                <a16:creationId xmlns:a16="http://schemas.microsoft.com/office/drawing/2014/main" id="{2BA09F2C-CEC5-FB07-FAAC-A0A178B6DF64}"/>
              </a:ext>
            </a:extLst>
          </p:cNvPr>
          <p:cNvCxnSpPr>
            <a:stCxn id="2" idx="2"/>
            <a:endCxn id="5" idx="1"/>
          </p:cNvCxnSpPr>
          <p:nvPr/>
        </p:nvCxnSpPr>
        <p:spPr>
          <a:xfrm rot="16200000" flipH="1">
            <a:off x="2815464" y="4515096"/>
            <a:ext cx="588068" cy="720000"/>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3AD1F060-3380-0ACD-2391-76E0140D9835}"/>
              </a:ext>
            </a:extLst>
          </p:cNvPr>
          <p:cNvSpPr/>
          <p:nvPr/>
        </p:nvSpPr>
        <p:spPr>
          <a:xfrm>
            <a:off x="5439448" y="3452994"/>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审计</a:t>
            </a:r>
          </a:p>
        </p:txBody>
      </p:sp>
      <p:sp>
        <p:nvSpPr>
          <p:cNvPr id="11" name="矩形 10">
            <a:extLst>
              <a:ext uri="{FF2B5EF4-FFF2-40B4-BE49-F238E27FC236}">
                <a16:creationId xmlns:a16="http://schemas.microsoft.com/office/drawing/2014/main" id="{9ED6EAF9-0442-19E2-3866-C8460BAE3C98}"/>
              </a:ext>
            </a:extLst>
          </p:cNvPr>
          <p:cNvSpPr/>
          <p:nvPr/>
        </p:nvSpPr>
        <p:spPr>
          <a:xfrm>
            <a:off x="6775300" y="2795466"/>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过程审计</a:t>
            </a:r>
          </a:p>
        </p:txBody>
      </p:sp>
      <p:sp>
        <p:nvSpPr>
          <p:cNvPr id="12" name="矩形 11">
            <a:extLst>
              <a:ext uri="{FF2B5EF4-FFF2-40B4-BE49-F238E27FC236}">
                <a16:creationId xmlns:a16="http://schemas.microsoft.com/office/drawing/2014/main" id="{55A98C49-B9B0-C2BE-0E79-CCDF7F2246BF}"/>
              </a:ext>
            </a:extLst>
          </p:cNvPr>
          <p:cNvSpPr/>
          <p:nvPr/>
        </p:nvSpPr>
        <p:spPr>
          <a:xfrm>
            <a:off x="6775300" y="4317248"/>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产品审计</a:t>
            </a:r>
          </a:p>
        </p:txBody>
      </p:sp>
      <p:cxnSp>
        <p:nvCxnSpPr>
          <p:cNvPr id="14" name="直接箭头连接符 13">
            <a:extLst>
              <a:ext uri="{FF2B5EF4-FFF2-40B4-BE49-F238E27FC236}">
                <a16:creationId xmlns:a16="http://schemas.microsoft.com/office/drawing/2014/main" id="{BB23E9FC-4C8F-1699-1645-51CF9DA03848}"/>
              </a:ext>
            </a:extLst>
          </p:cNvPr>
          <p:cNvCxnSpPr>
            <a:stCxn id="4" idx="3"/>
            <a:endCxn id="10" idx="1"/>
          </p:cNvCxnSpPr>
          <p:nvPr/>
        </p:nvCxnSpPr>
        <p:spPr>
          <a:xfrm>
            <a:off x="4909498" y="3632994"/>
            <a:ext cx="52995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连接符: 肘形 15">
            <a:extLst>
              <a:ext uri="{FF2B5EF4-FFF2-40B4-BE49-F238E27FC236}">
                <a16:creationId xmlns:a16="http://schemas.microsoft.com/office/drawing/2014/main" id="{607C5A46-9967-E9C4-EC79-67136A6E1483}"/>
              </a:ext>
            </a:extLst>
          </p:cNvPr>
          <p:cNvCxnSpPr>
            <a:stCxn id="10" idx="2"/>
            <a:endCxn id="12" idx="1"/>
          </p:cNvCxnSpPr>
          <p:nvPr/>
        </p:nvCxnSpPr>
        <p:spPr>
          <a:xfrm rot="16200000" flipH="1">
            <a:off x="6035247" y="3757195"/>
            <a:ext cx="684254" cy="795852"/>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连接符: 肘形 17">
            <a:extLst>
              <a:ext uri="{FF2B5EF4-FFF2-40B4-BE49-F238E27FC236}">
                <a16:creationId xmlns:a16="http://schemas.microsoft.com/office/drawing/2014/main" id="{61B3C2AF-4553-5E6F-CE0D-EDBCEF6F8BFD}"/>
              </a:ext>
            </a:extLst>
          </p:cNvPr>
          <p:cNvCxnSpPr>
            <a:stCxn id="10" idx="0"/>
            <a:endCxn id="11" idx="1"/>
          </p:cNvCxnSpPr>
          <p:nvPr/>
        </p:nvCxnSpPr>
        <p:spPr>
          <a:xfrm rot="5400000" flipH="1" flipV="1">
            <a:off x="6138610" y="2816304"/>
            <a:ext cx="477528" cy="795852"/>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75A37C81-B1D0-CF95-7DA4-E10596BFA628}"/>
              </a:ext>
            </a:extLst>
          </p:cNvPr>
          <p:cNvSpPr txBox="1"/>
          <p:nvPr/>
        </p:nvSpPr>
        <p:spPr>
          <a:xfrm>
            <a:off x="8023995" y="3645365"/>
            <a:ext cx="1005403" cy="338554"/>
          </a:xfrm>
          <a:prstGeom prst="rect">
            <a:avLst/>
          </a:prstGeom>
          <a:noFill/>
          <a:ln>
            <a:noFill/>
          </a:ln>
        </p:spPr>
        <p:txBody>
          <a:bodyPr wrap="none" rtlCol="0">
            <a:spAutoFit/>
          </a:bodyPr>
          <a:lstStyle/>
          <a:p>
            <a:pPr algn="l"/>
            <a:r>
              <a:rPr lang="zh-CN" altLang="en-US" sz="1600" dirty="0"/>
              <a:t>需求规约</a:t>
            </a:r>
          </a:p>
        </p:txBody>
      </p:sp>
      <p:sp>
        <p:nvSpPr>
          <p:cNvPr id="20" name="文本框 19">
            <a:extLst>
              <a:ext uri="{FF2B5EF4-FFF2-40B4-BE49-F238E27FC236}">
                <a16:creationId xmlns:a16="http://schemas.microsoft.com/office/drawing/2014/main" id="{60FC2EA1-5122-F1E5-F0F2-D4C7FD2A0FF2}"/>
              </a:ext>
            </a:extLst>
          </p:cNvPr>
          <p:cNvSpPr txBox="1"/>
          <p:nvPr/>
        </p:nvSpPr>
        <p:spPr>
          <a:xfrm>
            <a:off x="8023995" y="3918407"/>
            <a:ext cx="1210588" cy="338554"/>
          </a:xfrm>
          <a:prstGeom prst="rect">
            <a:avLst/>
          </a:prstGeom>
          <a:noFill/>
          <a:ln>
            <a:noFill/>
          </a:ln>
        </p:spPr>
        <p:txBody>
          <a:bodyPr wrap="none" rtlCol="0">
            <a:spAutoFit/>
          </a:bodyPr>
          <a:lstStyle/>
          <a:p>
            <a:pPr algn="l"/>
            <a:r>
              <a:rPr lang="zh-CN" altLang="en-US" sz="1600" dirty="0"/>
              <a:t>设计说明书</a:t>
            </a:r>
          </a:p>
        </p:txBody>
      </p:sp>
      <p:sp>
        <p:nvSpPr>
          <p:cNvPr id="21" name="文本框 20">
            <a:extLst>
              <a:ext uri="{FF2B5EF4-FFF2-40B4-BE49-F238E27FC236}">
                <a16:creationId xmlns:a16="http://schemas.microsoft.com/office/drawing/2014/main" id="{0B011A82-0E7E-FF08-93E6-BA7CA3F89ECE}"/>
              </a:ext>
            </a:extLst>
          </p:cNvPr>
          <p:cNvSpPr txBox="1"/>
          <p:nvPr/>
        </p:nvSpPr>
        <p:spPr>
          <a:xfrm>
            <a:off x="8023995" y="4191449"/>
            <a:ext cx="595035" cy="338554"/>
          </a:xfrm>
          <a:prstGeom prst="rect">
            <a:avLst/>
          </a:prstGeom>
          <a:noFill/>
          <a:ln>
            <a:noFill/>
          </a:ln>
        </p:spPr>
        <p:txBody>
          <a:bodyPr wrap="none" rtlCol="0">
            <a:spAutoFit/>
          </a:bodyPr>
          <a:lstStyle/>
          <a:p>
            <a:pPr algn="l"/>
            <a:r>
              <a:rPr lang="zh-CN" altLang="en-US" sz="1600" dirty="0"/>
              <a:t>代码</a:t>
            </a:r>
          </a:p>
        </p:txBody>
      </p:sp>
      <p:sp>
        <p:nvSpPr>
          <p:cNvPr id="22" name="文本框 21">
            <a:extLst>
              <a:ext uri="{FF2B5EF4-FFF2-40B4-BE49-F238E27FC236}">
                <a16:creationId xmlns:a16="http://schemas.microsoft.com/office/drawing/2014/main" id="{70C887B1-4458-6BEB-67B4-9748BED9B6C4}"/>
              </a:ext>
            </a:extLst>
          </p:cNvPr>
          <p:cNvSpPr txBox="1"/>
          <p:nvPr/>
        </p:nvSpPr>
        <p:spPr>
          <a:xfrm>
            <a:off x="8023995" y="4464491"/>
            <a:ext cx="1005403" cy="338554"/>
          </a:xfrm>
          <a:prstGeom prst="rect">
            <a:avLst/>
          </a:prstGeom>
          <a:noFill/>
          <a:ln>
            <a:noFill/>
          </a:ln>
        </p:spPr>
        <p:txBody>
          <a:bodyPr wrap="none" rtlCol="0">
            <a:spAutoFit/>
          </a:bodyPr>
          <a:lstStyle/>
          <a:p>
            <a:pPr algn="l"/>
            <a:r>
              <a:rPr lang="zh-CN" altLang="en-US" sz="1600" dirty="0"/>
              <a:t>测试用例</a:t>
            </a:r>
          </a:p>
        </p:txBody>
      </p:sp>
      <p:sp>
        <p:nvSpPr>
          <p:cNvPr id="23" name="文本框 22">
            <a:extLst>
              <a:ext uri="{FF2B5EF4-FFF2-40B4-BE49-F238E27FC236}">
                <a16:creationId xmlns:a16="http://schemas.microsoft.com/office/drawing/2014/main" id="{46D3936C-4292-1D23-D51A-6EE90F4E7DF9}"/>
              </a:ext>
            </a:extLst>
          </p:cNvPr>
          <p:cNvSpPr txBox="1"/>
          <p:nvPr/>
        </p:nvSpPr>
        <p:spPr>
          <a:xfrm>
            <a:off x="8023995" y="4737533"/>
            <a:ext cx="1005403" cy="338554"/>
          </a:xfrm>
          <a:prstGeom prst="rect">
            <a:avLst/>
          </a:prstGeom>
          <a:noFill/>
          <a:ln>
            <a:noFill/>
          </a:ln>
        </p:spPr>
        <p:txBody>
          <a:bodyPr wrap="none" rtlCol="0">
            <a:spAutoFit/>
          </a:bodyPr>
          <a:lstStyle/>
          <a:p>
            <a:pPr algn="l"/>
            <a:r>
              <a:rPr lang="zh-CN" altLang="en-US" sz="1600" dirty="0"/>
              <a:t>测试报告</a:t>
            </a:r>
          </a:p>
        </p:txBody>
      </p:sp>
      <p:sp>
        <p:nvSpPr>
          <p:cNvPr id="25" name="文本框 24">
            <a:extLst>
              <a:ext uri="{FF2B5EF4-FFF2-40B4-BE49-F238E27FC236}">
                <a16:creationId xmlns:a16="http://schemas.microsoft.com/office/drawing/2014/main" id="{73EA69C0-B1CD-704F-DDFF-643DE4994488}"/>
              </a:ext>
            </a:extLst>
          </p:cNvPr>
          <p:cNvSpPr txBox="1"/>
          <p:nvPr/>
        </p:nvSpPr>
        <p:spPr>
          <a:xfrm>
            <a:off x="8023995" y="5010576"/>
            <a:ext cx="1005403" cy="338554"/>
          </a:xfrm>
          <a:prstGeom prst="rect">
            <a:avLst/>
          </a:prstGeom>
          <a:noFill/>
          <a:ln>
            <a:noFill/>
          </a:ln>
        </p:spPr>
        <p:txBody>
          <a:bodyPr wrap="none" rtlCol="0">
            <a:spAutoFit/>
          </a:bodyPr>
          <a:lstStyle/>
          <a:p>
            <a:pPr algn="l"/>
            <a:r>
              <a:rPr lang="zh-CN" altLang="en-US" sz="1600" dirty="0"/>
              <a:t>使用手册</a:t>
            </a:r>
          </a:p>
        </p:txBody>
      </p:sp>
      <p:cxnSp>
        <p:nvCxnSpPr>
          <p:cNvPr id="28" name="连接符: 肘形 27">
            <a:extLst>
              <a:ext uri="{FF2B5EF4-FFF2-40B4-BE49-F238E27FC236}">
                <a16:creationId xmlns:a16="http://schemas.microsoft.com/office/drawing/2014/main" id="{F8D780B7-8A4F-7724-2E7E-20A9F2640507}"/>
              </a:ext>
            </a:extLst>
          </p:cNvPr>
          <p:cNvCxnSpPr>
            <a:stCxn id="12" idx="3"/>
            <a:endCxn id="19" idx="1"/>
          </p:cNvCxnSpPr>
          <p:nvPr/>
        </p:nvCxnSpPr>
        <p:spPr>
          <a:xfrm flipV="1">
            <a:off x="7855300" y="3814642"/>
            <a:ext cx="168695" cy="682606"/>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0" name="连接符: 肘形 29">
            <a:extLst>
              <a:ext uri="{FF2B5EF4-FFF2-40B4-BE49-F238E27FC236}">
                <a16:creationId xmlns:a16="http://schemas.microsoft.com/office/drawing/2014/main" id="{CA9DDF80-0E45-E6E3-4D1F-F3363C9FAD08}"/>
              </a:ext>
            </a:extLst>
          </p:cNvPr>
          <p:cNvCxnSpPr>
            <a:stCxn id="25" idx="1"/>
            <a:endCxn id="12" idx="3"/>
          </p:cNvCxnSpPr>
          <p:nvPr/>
        </p:nvCxnSpPr>
        <p:spPr>
          <a:xfrm rot="10800000">
            <a:off x="7855301" y="4497249"/>
            <a:ext cx="168695" cy="682605"/>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EE312D01-45C1-04A9-269B-EF596196074D}"/>
              </a:ext>
            </a:extLst>
          </p:cNvPr>
          <p:cNvSpPr txBox="1"/>
          <p:nvPr/>
        </p:nvSpPr>
        <p:spPr>
          <a:xfrm>
            <a:off x="8023995" y="2260105"/>
            <a:ext cx="1005403" cy="338554"/>
          </a:xfrm>
          <a:prstGeom prst="rect">
            <a:avLst/>
          </a:prstGeom>
          <a:noFill/>
          <a:ln>
            <a:noFill/>
          </a:ln>
        </p:spPr>
        <p:txBody>
          <a:bodyPr wrap="none" rtlCol="0">
            <a:spAutoFit/>
          </a:bodyPr>
          <a:lstStyle/>
          <a:p>
            <a:pPr algn="l"/>
            <a:r>
              <a:rPr lang="zh-CN" altLang="en-US" sz="1600" dirty="0"/>
              <a:t>需求过程</a:t>
            </a:r>
          </a:p>
        </p:txBody>
      </p:sp>
      <p:sp>
        <p:nvSpPr>
          <p:cNvPr id="32" name="文本框 31">
            <a:extLst>
              <a:ext uri="{FF2B5EF4-FFF2-40B4-BE49-F238E27FC236}">
                <a16:creationId xmlns:a16="http://schemas.microsoft.com/office/drawing/2014/main" id="{03CC0DB5-83F2-CD7B-0345-550833860FF2}"/>
              </a:ext>
            </a:extLst>
          </p:cNvPr>
          <p:cNvSpPr txBox="1"/>
          <p:nvPr/>
        </p:nvSpPr>
        <p:spPr>
          <a:xfrm>
            <a:off x="8023995" y="2533147"/>
            <a:ext cx="1210588" cy="338554"/>
          </a:xfrm>
          <a:prstGeom prst="rect">
            <a:avLst/>
          </a:prstGeom>
          <a:noFill/>
          <a:ln>
            <a:noFill/>
          </a:ln>
        </p:spPr>
        <p:txBody>
          <a:bodyPr wrap="none" rtlCol="0">
            <a:spAutoFit/>
          </a:bodyPr>
          <a:lstStyle/>
          <a:p>
            <a:pPr algn="l"/>
            <a:r>
              <a:rPr lang="zh-CN" altLang="en-US" sz="1600" dirty="0"/>
              <a:t>设计过程书</a:t>
            </a:r>
          </a:p>
        </p:txBody>
      </p:sp>
      <p:sp>
        <p:nvSpPr>
          <p:cNvPr id="33" name="文本框 32">
            <a:extLst>
              <a:ext uri="{FF2B5EF4-FFF2-40B4-BE49-F238E27FC236}">
                <a16:creationId xmlns:a16="http://schemas.microsoft.com/office/drawing/2014/main" id="{D8B646E2-2AFD-0B28-152A-0E02035BE76E}"/>
              </a:ext>
            </a:extLst>
          </p:cNvPr>
          <p:cNvSpPr txBox="1"/>
          <p:nvPr/>
        </p:nvSpPr>
        <p:spPr>
          <a:xfrm>
            <a:off x="8023995" y="2806189"/>
            <a:ext cx="1005403" cy="338554"/>
          </a:xfrm>
          <a:prstGeom prst="rect">
            <a:avLst/>
          </a:prstGeom>
          <a:noFill/>
          <a:ln>
            <a:noFill/>
          </a:ln>
        </p:spPr>
        <p:txBody>
          <a:bodyPr wrap="none" rtlCol="0">
            <a:spAutoFit/>
          </a:bodyPr>
          <a:lstStyle/>
          <a:p>
            <a:pPr algn="l"/>
            <a:r>
              <a:rPr lang="zh-CN" altLang="en-US" sz="1600" dirty="0"/>
              <a:t>编码过程</a:t>
            </a:r>
          </a:p>
        </p:txBody>
      </p:sp>
      <p:sp>
        <p:nvSpPr>
          <p:cNvPr id="34" name="文本框 33">
            <a:extLst>
              <a:ext uri="{FF2B5EF4-FFF2-40B4-BE49-F238E27FC236}">
                <a16:creationId xmlns:a16="http://schemas.microsoft.com/office/drawing/2014/main" id="{CA09394F-4871-4B66-42E8-EEF91F1BF4ED}"/>
              </a:ext>
            </a:extLst>
          </p:cNvPr>
          <p:cNvSpPr txBox="1"/>
          <p:nvPr/>
        </p:nvSpPr>
        <p:spPr>
          <a:xfrm>
            <a:off x="8023995" y="3079231"/>
            <a:ext cx="1005403" cy="338554"/>
          </a:xfrm>
          <a:prstGeom prst="rect">
            <a:avLst/>
          </a:prstGeom>
          <a:noFill/>
          <a:ln>
            <a:noFill/>
          </a:ln>
        </p:spPr>
        <p:txBody>
          <a:bodyPr wrap="none" rtlCol="0">
            <a:spAutoFit/>
          </a:bodyPr>
          <a:lstStyle/>
          <a:p>
            <a:pPr algn="l"/>
            <a:r>
              <a:rPr lang="zh-CN" altLang="en-US" sz="1600" dirty="0"/>
              <a:t>测试过程</a:t>
            </a:r>
          </a:p>
        </p:txBody>
      </p:sp>
      <p:sp>
        <p:nvSpPr>
          <p:cNvPr id="35" name="文本框 34">
            <a:extLst>
              <a:ext uri="{FF2B5EF4-FFF2-40B4-BE49-F238E27FC236}">
                <a16:creationId xmlns:a16="http://schemas.microsoft.com/office/drawing/2014/main" id="{6572BDD3-E31E-8ECF-6A0A-E01B7DC03F5B}"/>
              </a:ext>
            </a:extLst>
          </p:cNvPr>
          <p:cNvSpPr txBox="1"/>
          <p:nvPr/>
        </p:nvSpPr>
        <p:spPr>
          <a:xfrm>
            <a:off x="8023995" y="3352273"/>
            <a:ext cx="1005403" cy="338554"/>
          </a:xfrm>
          <a:prstGeom prst="rect">
            <a:avLst/>
          </a:prstGeom>
          <a:noFill/>
          <a:ln>
            <a:noFill/>
          </a:ln>
        </p:spPr>
        <p:txBody>
          <a:bodyPr wrap="none" rtlCol="0">
            <a:spAutoFit/>
          </a:bodyPr>
          <a:lstStyle/>
          <a:p>
            <a:pPr algn="l"/>
            <a:r>
              <a:rPr lang="zh-CN" altLang="en-US" sz="1600" dirty="0"/>
              <a:t>提交过程</a:t>
            </a:r>
          </a:p>
        </p:txBody>
      </p:sp>
      <p:cxnSp>
        <p:nvCxnSpPr>
          <p:cNvPr id="38" name="连接符: 肘形 37">
            <a:extLst>
              <a:ext uri="{FF2B5EF4-FFF2-40B4-BE49-F238E27FC236}">
                <a16:creationId xmlns:a16="http://schemas.microsoft.com/office/drawing/2014/main" id="{BB4509AA-4B8D-E85B-A66B-E421AEA1C9C7}"/>
              </a:ext>
            </a:extLst>
          </p:cNvPr>
          <p:cNvCxnSpPr>
            <a:stCxn id="35" idx="1"/>
            <a:endCxn id="11" idx="3"/>
          </p:cNvCxnSpPr>
          <p:nvPr/>
        </p:nvCxnSpPr>
        <p:spPr>
          <a:xfrm rot="10800000">
            <a:off x="7855301" y="2975466"/>
            <a:ext cx="168695" cy="546084"/>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0" name="连接符: 肘形 39">
            <a:extLst>
              <a:ext uri="{FF2B5EF4-FFF2-40B4-BE49-F238E27FC236}">
                <a16:creationId xmlns:a16="http://schemas.microsoft.com/office/drawing/2014/main" id="{F5243807-6307-159F-515D-0B65D5B3C1E2}"/>
              </a:ext>
            </a:extLst>
          </p:cNvPr>
          <p:cNvCxnSpPr>
            <a:stCxn id="31" idx="1"/>
            <a:endCxn id="11" idx="3"/>
          </p:cNvCxnSpPr>
          <p:nvPr/>
        </p:nvCxnSpPr>
        <p:spPr>
          <a:xfrm rot="10800000" flipV="1">
            <a:off x="7855301" y="2429382"/>
            <a:ext cx="168695" cy="546084"/>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0541173"/>
      </p:ext>
    </p:extLst>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B954CB-7B35-FA75-2924-EC98C8EBCCF8}"/>
              </a:ext>
            </a:extLst>
          </p:cNvPr>
          <p:cNvSpPr>
            <a:spLocks noGrp="1"/>
          </p:cNvSpPr>
          <p:nvPr>
            <p:ph type="title"/>
          </p:nvPr>
        </p:nvSpPr>
        <p:spPr>
          <a:xfrm>
            <a:off x="792000" y="360000"/>
            <a:ext cx="6375921" cy="429413"/>
          </a:xfrm>
        </p:spPr>
        <p:txBody>
          <a:bodyPr/>
          <a:lstStyle/>
          <a:p>
            <a:r>
              <a:rPr lang="en-US" altLang="zh-CN" dirty="0"/>
              <a:t>3.2 </a:t>
            </a:r>
            <a:r>
              <a:rPr lang="zh-CN" altLang="en-US" dirty="0"/>
              <a:t>质量控制</a:t>
            </a:r>
          </a:p>
        </p:txBody>
      </p:sp>
      <p:sp>
        <p:nvSpPr>
          <p:cNvPr id="3" name="内容占位符 2">
            <a:extLst>
              <a:ext uri="{FF2B5EF4-FFF2-40B4-BE49-F238E27FC236}">
                <a16:creationId xmlns:a16="http://schemas.microsoft.com/office/drawing/2014/main" id="{F20FB87E-81D8-0D21-30A8-EC3A096FE76F}"/>
              </a:ext>
            </a:extLst>
          </p:cNvPr>
          <p:cNvSpPr>
            <a:spLocks noGrp="1"/>
          </p:cNvSpPr>
          <p:nvPr>
            <p:ph idx="1"/>
          </p:nvPr>
        </p:nvSpPr>
        <p:spPr>
          <a:xfrm>
            <a:off x="696000" y="864000"/>
            <a:ext cx="10800000" cy="5400000"/>
          </a:xfrm>
        </p:spPr>
        <p:txBody>
          <a:bodyPr/>
          <a:lstStyle/>
          <a:p>
            <a:r>
              <a:rPr lang="zh-CN" altLang="en-US" dirty="0"/>
              <a:t>确定项目结果与质量标准是否相符；确定不符的原因和消除方法</a:t>
            </a:r>
            <a:endParaRPr lang="en-US" altLang="zh-CN" dirty="0"/>
          </a:p>
          <a:p>
            <a:r>
              <a:rPr lang="zh-CN" altLang="en-US" dirty="0"/>
              <a:t> 控制产品的质量，及时纠正缺陷</a:t>
            </a:r>
          </a:p>
          <a:p>
            <a:r>
              <a:rPr lang="zh-CN" altLang="en-US" dirty="0"/>
              <a:t>例如：代码评审、单元测试</a:t>
            </a:r>
          </a:p>
          <a:p>
            <a:r>
              <a:rPr lang="en-US" altLang="zh-CN" dirty="0"/>
              <a:t>Is it right done?</a:t>
            </a:r>
          </a:p>
          <a:p>
            <a:r>
              <a:rPr lang="zh-CN" altLang="en-US" dirty="0"/>
              <a:t>这个任务本身提高产品的质量</a:t>
            </a:r>
          </a:p>
          <a:p>
            <a:r>
              <a:rPr lang="zh-CN" altLang="en-US" dirty="0"/>
              <a:t>一般由开发人员实施</a:t>
            </a:r>
            <a:endParaRPr lang="en-US" altLang="zh-CN" dirty="0"/>
          </a:p>
          <a:p>
            <a:r>
              <a:rPr lang="zh-CN" altLang="en-US" dirty="0"/>
              <a:t>活动</a:t>
            </a:r>
            <a:endParaRPr lang="en-US" altLang="zh-CN" dirty="0"/>
          </a:p>
          <a:p>
            <a:pPr lvl="1"/>
            <a:r>
              <a:rPr lang="zh-CN" altLang="en-US" dirty="0"/>
              <a:t>技术评审</a:t>
            </a:r>
          </a:p>
          <a:p>
            <a:pPr lvl="1"/>
            <a:r>
              <a:rPr lang="zh-CN" altLang="en-US" dirty="0"/>
              <a:t>代码走查</a:t>
            </a:r>
          </a:p>
          <a:p>
            <a:pPr lvl="1"/>
            <a:r>
              <a:rPr lang="zh-CN" altLang="en-US" dirty="0"/>
              <a:t>测试</a:t>
            </a:r>
          </a:p>
          <a:p>
            <a:pPr lvl="1"/>
            <a:r>
              <a:rPr lang="zh-CN" altLang="en-US" dirty="0"/>
              <a:t>数据分析</a:t>
            </a:r>
          </a:p>
        </p:txBody>
      </p:sp>
      <p:sp>
        <p:nvSpPr>
          <p:cNvPr id="7" name="文本占位符 6">
            <a:extLst>
              <a:ext uri="{FF2B5EF4-FFF2-40B4-BE49-F238E27FC236}">
                <a16:creationId xmlns:a16="http://schemas.microsoft.com/office/drawing/2014/main" id="{8429BE77-9BDD-5762-526E-716AD26F44EE}"/>
              </a:ext>
            </a:extLst>
          </p:cNvPr>
          <p:cNvSpPr>
            <a:spLocks noGrp="1"/>
          </p:cNvSpPr>
          <p:nvPr>
            <p:ph type="body" sz="quarter" idx="10"/>
          </p:nvPr>
        </p:nvSpPr>
        <p:spPr>
          <a:xfrm>
            <a:off x="7071919" y="448519"/>
            <a:ext cx="4424080" cy="338554"/>
          </a:xfrm>
        </p:spPr>
        <p:txBody>
          <a:bodyPr/>
          <a:lstStyle/>
          <a:p>
            <a:r>
              <a:rPr lang="en-US" altLang="zh-CN" dirty="0"/>
              <a:t>QC</a:t>
            </a:r>
            <a:endParaRPr lang="zh-CN" altLang="en-US" dirty="0"/>
          </a:p>
        </p:txBody>
      </p:sp>
    </p:spTree>
    <p:extLst>
      <p:ext uri="{BB962C8B-B14F-4D97-AF65-F5344CB8AC3E}">
        <p14:creationId xmlns:p14="http://schemas.microsoft.com/office/powerpoint/2010/main" val="1257117042"/>
      </p:ext>
    </p:extLst>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18066E78-EE60-AC24-7501-A28532E2ABC8}"/>
              </a:ext>
            </a:extLst>
          </p:cNvPr>
          <p:cNvSpPr txBox="1"/>
          <p:nvPr/>
        </p:nvSpPr>
        <p:spPr>
          <a:xfrm>
            <a:off x="504825" y="1933575"/>
            <a:ext cx="8392041" cy="830997"/>
          </a:xfrm>
          <a:prstGeom prst="rect">
            <a:avLst/>
          </a:prstGeom>
          <a:noFill/>
        </p:spPr>
        <p:txBody>
          <a:bodyPr wrap="none" rtlCol="0">
            <a:spAutoFit/>
          </a:bodyPr>
          <a:lstStyle/>
          <a:p>
            <a:pPr algn="l"/>
            <a:r>
              <a:rPr lang="zh-CN" altLang="en-US" sz="1600" dirty="0"/>
              <a:t>审核资质（过程审计）：查借款人的征信报告，看他以前有没有按时还钱（历史代码质量）</a:t>
            </a:r>
          </a:p>
          <a:p>
            <a:pPr algn="l"/>
            <a:r>
              <a:rPr lang="zh-CN" altLang="en-US" sz="1600" dirty="0"/>
              <a:t>确认用途（需求分析）：了解借钱用途；是去创业（靠谱）还是去赌博（高风险）</a:t>
            </a:r>
          </a:p>
          <a:p>
            <a:pPr algn="l"/>
            <a:r>
              <a:rPr lang="zh-CN" altLang="en-US" sz="1600" dirty="0"/>
              <a:t>制定规则（流程制定）：约法三章，“这钱必须专款专用，每个月要把账单发给我看”</a:t>
            </a:r>
          </a:p>
        </p:txBody>
      </p:sp>
      <p:sp>
        <p:nvSpPr>
          <p:cNvPr id="6" name="文本框 5">
            <a:extLst>
              <a:ext uri="{FF2B5EF4-FFF2-40B4-BE49-F238E27FC236}">
                <a16:creationId xmlns:a16="http://schemas.microsoft.com/office/drawing/2014/main" id="{0A8C864A-F4F7-6308-BC67-64433FBADCD2}"/>
              </a:ext>
            </a:extLst>
          </p:cNvPr>
          <p:cNvSpPr txBox="1"/>
          <p:nvPr/>
        </p:nvSpPr>
        <p:spPr>
          <a:xfrm>
            <a:off x="504825" y="1410355"/>
            <a:ext cx="744114" cy="523220"/>
          </a:xfrm>
          <a:prstGeom prst="rect">
            <a:avLst/>
          </a:prstGeom>
          <a:noFill/>
        </p:spPr>
        <p:txBody>
          <a:bodyPr wrap="none" rtlCol="0">
            <a:spAutoFit/>
          </a:bodyPr>
          <a:lstStyle/>
          <a:p>
            <a:pPr algn="l"/>
            <a:r>
              <a:rPr lang="en-US" altLang="zh-CN" sz="2800" dirty="0">
                <a:solidFill>
                  <a:srgbClr val="2E75B6"/>
                </a:solidFill>
              </a:rPr>
              <a:t>QA</a:t>
            </a:r>
            <a:endParaRPr lang="zh-CN" altLang="en-US" sz="2800" dirty="0">
              <a:solidFill>
                <a:srgbClr val="2E75B6"/>
              </a:solidFill>
            </a:endParaRPr>
          </a:p>
        </p:txBody>
      </p:sp>
      <p:sp>
        <p:nvSpPr>
          <p:cNvPr id="7" name="文本框 6">
            <a:extLst>
              <a:ext uri="{FF2B5EF4-FFF2-40B4-BE49-F238E27FC236}">
                <a16:creationId xmlns:a16="http://schemas.microsoft.com/office/drawing/2014/main" id="{BF8D982E-E27C-A5AC-55B3-5D1344ED6176}"/>
              </a:ext>
            </a:extLst>
          </p:cNvPr>
          <p:cNvSpPr txBox="1"/>
          <p:nvPr/>
        </p:nvSpPr>
        <p:spPr>
          <a:xfrm>
            <a:off x="504825" y="4276725"/>
            <a:ext cx="9780241" cy="830997"/>
          </a:xfrm>
          <a:prstGeom prst="rect">
            <a:avLst/>
          </a:prstGeom>
          <a:noFill/>
        </p:spPr>
        <p:txBody>
          <a:bodyPr wrap="none" rtlCol="0">
            <a:spAutoFit/>
          </a:bodyPr>
          <a:lstStyle/>
          <a:p>
            <a:pPr algn="l"/>
            <a:r>
              <a:rPr lang="zh-CN" altLang="en-US" sz="1600" dirty="0"/>
              <a:t>检查账单（测试）：每个月借款人向你提交账单；使用计算器核对</a:t>
            </a:r>
          </a:p>
          <a:p>
            <a:pPr algn="l"/>
            <a:r>
              <a:rPr lang="zh-CN" altLang="en-US" sz="1600" dirty="0"/>
              <a:t>发现异常（找 </a:t>
            </a:r>
            <a:r>
              <a:rPr lang="en-US" altLang="zh-CN" sz="1600" dirty="0"/>
              <a:t>Bug</a:t>
            </a:r>
            <a:r>
              <a:rPr lang="zh-CN" altLang="en-US" sz="1600" dirty="0"/>
              <a:t>）：发现他有一笔钱去向不明（发现了 </a:t>
            </a:r>
            <a:r>
              <a:rPr lang="en-US" altLang="zh-CN" sz="1600" dirty="0"/>
              <a:t>Bug</a:t>
            </a:r>
            <a:r>
              <a:rPr lang="zh-CN" altLang="en-US" sz="1600" dirty="0"/>
              <a:t>），或者他这个月没按时还款（功能失效）</a:t>
            </a:r>
          </a:p>
          <a:p>
            <a:pPr algn="l"/>
            <a:r>
              <a:rPr lang="zh-CN" altLang="en-US" sz="1600" dirty="0"/>
              <a:t>纠正措施（修复）：你责令他立刻把钱补上，或者停止后续的借款（阻断发布）</a:t>
            </a:r>
          </a:p>
        </p:txBody>
      </p:sp>
      <p:sp>
        <p:nvSpPr>
          <p:cNvPr id="8" name="文本框 7">
            <a:extLst>
              <a:ext uri="{FF2B5EF4-FFF2-40B4-BE49-F238E27FC236}">
                <a16:creationId xmlns:a16="http://schemas.microsoft.com/office/drawing/2014/main" id="{D96D448D-F29E-3B8D-29FF-B18F7BD6DACA}"/>
              </a:ext>
            </a:extLst>
          </p:cNvPr>
          <p:cNvSpPr txBox="1"/>
          <p:nvPr/>
        </p:nvSpPr>
        <p:spPr>
          <a:xfrm>
            <a:off x="504825" y="3753505"/>
            <a:ext cx="744114" cy="523220"/>
          </a:xfrm>
          <a:prstGeom prst="rect">
            <a:avLst/>
          </a:prstGeom>
          <a:noFill/>
        </p:spPr>
        <p:txBody>
          <a:bodyPr wrap="none" rtlCol="0">
            <a:spAutoFit/>
          </a:bodyPr>
          <a:lstStyle/>
          <a:p>
            <a:pPr algn="l"/>
            <a:r>
              <a:rPr lang="en-US" altLang="zh-CN" sz="2800" dirty="0">
                <a:solidFill>
                  <a:srgbClr val="2E75B6"/>
                </a:solidFill>
              </a:rPr>
              <a:t>QC</a:t>
            </a:r>
            <a:endParaRPr lang="zh-CN" altLang="en-US" sz="2800" dirty="0">
              <a:solidFill>
                <a:srgbClr val="2E75B6"/>
              </a:solidFill>
            </a:endParaRPr>
          </a:p>
        </p:txBody>
      </p:sp>
    </p:spTree>
    <p:extLst>
      <p:ext uri="{BB962C8B-B14F-4D97-AF65-F5344CB8AC3E}">
        <p14:creationId xmlns:p14="http://schemas.microsoft.com/office/powerpoint/2010/main" val="1812812361"/>
      </p:ext>
    </p:extLst>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E73C50-F5EE-B605-99E7-64BEFCDD5A4D}"/>
              </a:ext>
            </a:extLst>
          </p:cNvPr>
          <p:cNvSpPr>
            <a:spLocks noGrp="1"/>
          </p:cNvSpPr>
          <p:nvPr>
            <p:ph type="title"/>
          </p:nvPr>
        </p:nvSpPr>
        <p:spPr>
          <a:xfrm>
            <a:off x="792000" y="360000"/>
            <a:ext cx="6375921" cy="429413"/>
          </a:xfrm>
        </p:spPr>
        <p:txBody>
          <a:bodyPr/>
          <a:lstStyle/>
          <a:p>
            <a:r>
              <a:rPr lang="en-US" altLang="zh-CN" dirty="0"/>
              <a:t>4. </a:t>
            </a:r>
            <a:r>
              <a:rPr lang="zh-CN" altLang="en-US" dirty="0"/>
              <a:t>质量计划</a:t>
            </a:r>
          </a:p>
        </p:txBody>
      </p:sp>
      <p:sp>
        <p:nvSpPr>
          <p:cNvPr id="3" name="内容占位符 2">
            <a:extLst>
              <a:ext uri="{FF2B5EF4-FFF2-40B4-BE49-F238E27FC236}">
                <a16:creationId xmlns:a16="http://schemas.microsoft.com/office/drawing/2014/main" id="{01F44916-3AFC-C202-CFA9-E18CF763B0A6}"/>
              </a:ext>
            </a:extLst>
          </p:cNvPr>
          <p:cNvSpPr>
            <a:spLocks noGrp="1"/>
          </p:cNvSpPr>
          <p:nvPr>
            <p:ph idx="1"/>
          </p:nvPr>
        </p:nvSpPr>
        <p:spPr>
          <a:xfrm>
            <a:off x="696000" y="864000"/>
            <a:ext cx="10800000" cy="5400000"/>
          </a:xfrm>
        </p:spPr>
        <p:txBody>
          <a:bodyPr/>
          <a:lstStyle/>
          <a:p>
            <a:r>
              <a:rPr lang="zh-CN" altLang="en-US" dirty="0"/>
              <a:t>好的质量保证始于好的设计</a:t>
            </a:r>
            <a:endParaRPr lang="en-US" altLang="zh-CN" dirty="0"/>
          </a:p>
          <a:p>
            <a:r>
              <a:rPr lang="zh-CN" altLang="en-US" dirty="0"/>
              <a:t>质量是计划出来的，不是检查出来的</a:t>
            </a:r>
            <a:endParaRPr lang="en-US" altLang="zh-CN" dirty="0"/>
          </a:p>
          <a:p>
            <a:r>
              <a:rPr lang="zh-CN" altLang="en-US" dirty="0"/>
              <a:t>质量不是靠运气，而是靠精密的计算和规划</a:t>
            </a:r>
          </a:p>
          <a:p>
            <a:r>
              <a:rPr lang="zh-CN" altLang="en-US" dirty="0"/>
              <a:t>预防胜于检查</a:t>
            </a:r>
            <a:endParaRPr lang="en-US" altLang="zh-CN" dirty="0"/>
          </a:p>
          <a:p>
            <a:r>
              <a:rPr lang="zh-CN" altLang="en-US" dirty="0"/>
              <a:t>质量计划的过程：确定项目应达到的质量标准以及满足的计划安排和方法</a:t>
            </a:r>
            <a:endParaRPr lang="en-US" altLang="zh-CN" dirty="0"/>
          </a:p>
          <a:p>
            <a:r>
              <a:rPr lang="zh-CN" altLang="en-US" dirty="0"/>
              <a:t>合适的标准非常关键</a:t>
            </a:r>
            <a:endParaRPr lang="en-US" altLang="zh-CN" dirty="0"/>
          </a:p>
        </p:txBody>
      </p:sp>
      <p:sp>
        <p:nvSpPr>
          <p:cNvPr id="6" name="文本占位符 5">
            <a:extLst>
              <a:ext uri="{FF2B5EF4-FFF2-40B4-BE49-F238E27FC236}">
                <a16:creationId xmlns:a16="http://schemas.microsoft.com/office/drawing/2014/main" id="{E4933C28-274D-AE5C-B277-1916BF2E47FE}"/>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4174879268"/>
      </p:ext>
    </p:extLst>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BEFBD-75A9-C0E2-0226-C43DEAF0C1F6}"/>
            </a:ext>
          </a:extLst>
        </p:cNvPr>
        <p:cNvGrpSpPr/>
        <p:nvPr/>
      </p:nvGrpSpPr>
      <p:grpSpPr>
        <a:xfrm>
          <a:off x="0" y="0"/>
          <a:ext cx="0" cy="0"/>
          <a:chOff x="0" y="0"/>
          <a:chExt cx="0" cy="0"/>
        </a:xfrm>
      </p:grpSpPr>
      <p:sp>
        <p:nvSpPr>
          <p:cNvPr id="5" name="TextBox 2">
            <a:extLst>
              <a:ext uri="{FF2B5EF4-FFF2-40B4-BE49-F238E27FC236}">
                <a16:creationId xmlns:a16="http://schemas.microsoft.com/office/drawing/2014/main" id="{9E7DEE4A-866E-7C51-41F7-D713FD8F4F83}"/>
              </a:ext>
            </a:extLst>
          </p:cNvPr>
          <p:cNvSpPr txBox="1"/>
          <p:nvPr/>
        </p:nvSpPr>
        <p:spPr>
          <a:xfrm>
            <a:off x="1056000" y="1603407"/>
            <a:ext cx="2659702" cy="400110"/>
          </a:xfrm>
          <a:prstGeom prst="rect">
            <a:avLst/>
          </a:prstGeom>
          <a:noFill/>
        </p:spPr>
        <p:txBody>
          <a:bodyPr wrap="none" rtlCol="0">
            <a:spAutoFit/>
          </a:bodyPr>
          <a:lstStyle/>
          <a:p>
            <a:r>
              <a:rPr lang="zh-CN" altLang="en-US" sz="2000" dirty="0"/>
              <a:t>判断题 </a:t>
            </a:r>
            <a:r>
              <a:rPr lang="en-US" altLang="zh-CN" sz="2000" dirty="0"/>
              <a:t>True or False</a:t>
            </a:r>
            <a:endParaRPr lang="zh-CN" altLang="en-US" sz="2000" dirty="0"/>
          </a:p>
        </p:txBody>
      </p:sp>
      <p:cxnSp>
        <p:nvCxnSpPr>
          <p:cNvPr id="6" name="Straight Connector 3">
            <a:extLst>
              <a:ext uri="{FF2B5EF4-FFF2-40B4-BE49-F238E27FC236}">
                <a16:creationId xmlns:a16="http://schemas.microsoft.com/office/drawing/2014/main" id="{83C2284B-8252-1705-3644-F9BDB6535A8A}"/>
              </a:ext>
            </a:extLst>
          </p:cNvPr>
          <p:cNvCxnSpPr>
            <a:cxnSpLocks/>
          </p:cNvCxnSpPr>
          <p:nvPr/>
        </p:nvCxnSpPr>
        <p:spPr>
          <a:xfrm>
            <a:off x="1056000" y="2003517"/>
            <a:ext cx="10080000" cy="0"/>
          </a:xfrm>
          <a:prstGeom prst="line">
            <a:avLst/>
          </a:prstGeom>
          <a:ln w="38100">
            <a:gradFill>
              <a:gsLst>
                <a:gs pos="70000">
                  <a:schemeClr val="accent2"/>
                </a:gs>
                <a:gs pos="0">
                  <a:schemeClr val="accent2"/>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7" name="TextBox 4">
            <a:extLst>
              <a:ext uri="{FF2B5EF4-FFF2-40B4-BE49-F238E27FC236}">
                <a16:creationId xmlns:a16="http://schemas.microsoft.com/office/drawing/2014/main" id="{8EA68285-F30D-2711-A055-F074FA857EF6}"/>
              </a:ext>
            </a:extLst>
          </p:cNvPr>
          <p:cNvSpPr txBox="1"/>
          <p:nvPr/>
        </p:nvSpPr>
        <p:spPr>
          <a:xfrm>
            <a:off x="1056000" y="2003517"/>
            <a:ext cx="10080000" cy="369332"/>
          </a:xfrm>
          <a:prstGeom prst="rect">
            <a:avLst/>
          </a:prstGeom>
          <a:noFill/>
        </p:spPr>
        <p:txBody>
          <a:bodyPr wrap="square" rtlCol="0">
            <a:spAutoFit/>
          </a:bodyPr>
          <a:lstStyle/>
          <a:p>
            <a:pPr>
              <a:spcAft>
                <a:spcPts val="600"/>
              </a:spcAft>
            </a:pPr>
            <a:r>
              <a:rPr lang="zh-CN" altLang="en-US" dirty="0"/>
              <a:t>好的质量保证始于好的设计。</a:t>
            </a:r>
          </a:p>
        </p:txBody>
      </p:sp>
    </p:spTree>
    <p:extLst>
      <p:ext uri="{BB962C8B-B14F-4D97-AF65-F5344CB8AC3E}">
        <p14:creationId xmlns:p14="http://schemas.microsoft.com/office/powerpoint/2010/main" val="716446130"/>
      </p:ext>
    </p:extLst>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8BDA9642-EF6B-5813-B101-3A990420F990}"/>
              </a:ext>
            </a:extLst>
          </p:cNvPr>
          <p:cNvSpPr>
            <a:spLocks noGrp="1"/>
          </p:cNvSpPr>
          <p:nvPr>
            <p:ph type="title"/>
          </p:nvPr>
        </p:nvSpPr>
        <p:spPr>
          <a:xfrm>
            <a:off x="792000" y="360000"/>
            <a:ext cx="6375921" cy="429413"/>
          </a:xfrm>
        </p:spPr>
        <p:txBody>
          <a:bodyPr/>
          <a:lstStyle/>
          <a:p>
            <a:r>
              <a:rPr lang="en-US" altLang="zh-CN" dirty="0"/>
              <a:t>4.1 </a:t>
            </a:r>
            <a:r>
              <a:rPr lang="zh-CN" altLang="en-US" dirty="0"/>
              <a:t>缺陷率标准</a:t>
            </a:r>
          </a:p>
        </p:txBody>
      </p:sp>
      <p:sp>
        <p:nvSpPr>
          <p:cNvPr id="9" name="内容占位符 8">
            <a:extLst>
              <a:ext uri="{FF2B5EF4-FFF2-40B4-BE49-F238E27FC236}">
                <a16:creationId xmlns:a16="http://schemas.microsoft.com/office/drawing/2014/main" id="{60F15319-F50D-537B-02C0-865CB123753D}"/>
              </a:ext>
            </a:extLst>
          </p:cNvPr>
          <p:cNvSpPr>
            <a:spLocks noGrp="1"/>
          </p:cNvSpPr>
          <p:nvPr>
            <p:ph idx="1"/>
          </p:nvPr>
        </p:nvSpPr>
        <p:spPr>
          <a:xfrm>
            <a:off x="696000" y="864000"/>
            <a:ext cx="10800000" cy="5400000"/>
          </a:xfrm>
        </p:spPr>
        <p:txBody>
          <a:bodyPr/>
          <a:lstStyle/>
          <a:p>
            <a:r>
              <a:rPr lang="zh-CN" altLang="en-US" dirty="0"/>
              <a:t>合适的标准非常关键</a:t>
            </a:r>
            <a:endParaRPr lang="en-US" altLang="zh-CN" dirty="0"/>
          </a:p>
          <a:p>
            <a:r>
              <a:rPr lang="zh-CN" altLang="en-US" dirty="0"/>
              <a:t>在一般的商业软件开发中，缺陷率通常以“每千行代码的缺陷数”或“每功能点的缺陷数”来衡量</a:t>
            </a:r>
          </a:p>
        </p:txBody>
      </p:sp>
      <p:sp>
        <p:nvSpPr>
          <p:cNvPr id="4" name="文本占位符 3">
            <a:extLst>
              <a:ext uri="{FF2B5EF4-FFF2-40B4-BE49-F238E27FC236}">
                <a16:creationId xmlns:a16="http://schemas.microsoft.com/office/drawing/2014/main" id="{A418D8AA-8A25-F08B-024C-5DFA23E2713C}"/>
              </a:ext>
            </a:extLst>
          </p:cNvPr>
          <p:cNvSpPr>
            <a:spLocks noGrp="1"/>
          </p:cNvSpPr>
          <p:nvPr>
            <p:ph type="body" sz="quarter" idx="10"/>
          </p:nvPr>
        </p:nvSpPr>
        <p:spPr/>
        <p:txBody>
          <a:bodyPr/>
          <a:lstStyle/>
          <a:p>
            <a:endParaRPr lang="zh-CN" altLang="en-US"/>
          </a:p>
        </p:txBody>
      </p:sp>
      <p:graphicFrame>
        <p:nvGraphicFramePr>
          <p:cNvPr id="14" name="表格 13">
            <a:extLst>
              <a:ext uri="{FF2B5EF4-FFF2-40B4-BE49-F238E27FC236}">
                <a16:creationId xmlns:a16="http://schemas.microsoft.com/office/drawing/2014/main" id="{5D87298E-E134-FEED-6274-E6C3A01D72CC}"/>
              </a:ext>
            </a:extLst>
          </p:cNvPr>
          <p:cNvGraphicFramePr>
            <a:graphicFrameLocks noGrp="1"/>
          </p:cNvGraphicFramePr>
          <p:nvPr>
            <p:extLst>
              <p:ext uri="{D42A27DB-BD31-4B8C-83A1-F6EECF244321}">
                <p14:modId xmlns:p14="http://schemas.microsoft.com/office/powerpoint/2010/main" val="685911318"/>
              </p:ext>
            </p:extLst>
          </p:nvPr>
        </p:nvGraphicFramePr>
        <p:xfrm>
          <a:off x="2032000" y="2064961"/>
          <a:ext cx="8128000" cy="18542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4031638162"/>
                    </a:ext>
                  </a:extLst>
                </a:gridCol>
                <a:gridCol w="4064000">
                  <a:extLst>
                    <a:ext uri="{9D8B030D-6E8A-4147-A177-3AD203B41FA5}">
                      <a16:colId xmlns:a16="http://schemas.microsoft.com/office/drawing/2014/main" val="3979507189"/>
                    </a:ext>
                  </a:extLst>
                </a:gridCol>
              </a:tblGrid>
              <a:tr h="370840">
                <a:tc>
                  <a:txBody>
                    <a:bodyPr/>
                    <a:lstStyle/>
                    <a:p>
                      <a:r>
                        <a:rPr lang="zh-CN" altLang="en-US" sz="1600" b="0" dirty="0">
                          <a:solidFill>
                            <a:schemeClr val="tx1"/>
                          </a:solidFill>
                        </a:rPr>
                        <a:t>级别</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zh-CN" altLang="en-US" sz="1600" b="0" i="0" kern="1200" dirty="0">
                          <a:solidFill>
                            <a:schemeClr val="tx1"/>
                          </a:solidFill>
                          <a:effectLst/>
                          <a:latin typeface="+mn-lt"/>
                          <a:ea typeface="+mn-ea"/>
                          <a:cs typeface="+mn-cs"/>
                        </a:rPr>
                        <a:t>缺陷 </a:t>
                      </a:r>
                      <a:r>
                        <a:rPr lang="en-US" altLang="zh-CN" sz="1600" b="0" i="0" kern="1200" dirty="0">
                          <a:solidFill>
                            <a:schemeClr val="tx1"/>
                          </a:solidFill>
                          <a:effectLst/>
                          <a:latin typeface="+mn-lt"/>
                          <a:ea typeface="+mn-ea"/>
                          <a:cs typeface="+mn-cs"/>
                        </a:rPr>
                        <a:t>/ </a:t>
                      </a:r>
                      <a:r>
                        <a:rPr lang="zh-CN" altLang="en-US" sz="1600" b="0" i="0" kern="1200" dirty="0">
                          <a:solidFill>
                            <a:schemeClr val="tx1"/>
                          </a:solidFill>
                          <a:effectLst/>
                          <a:latin typeface="+mn-lt"/>
                          <a:ea typeface="+mn-ea"/>
                          <a:cs typeface="+mn-cs"/>
                        </a:rPr>
                        <a:t>千行代码</a:t>
                      </a:r>
                      <a:endParaRPr lang="zh-CN"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50562541"/>
                  </a:ext>
                </a:extLst>
              </a:tr>
              <a:tr h="370840">
                <a:tc>
                  <a:txBody>
                    <a:bodyPr/>
                    <a:lstStyle/>
                    <a:p>
                      <a:r>
                        <a:rPr lang="zh-CN" altLang="en-US" sz="1600" b="0" i="0" kern="1200" dirty="0">
                          <a:solidFill>
                            <a:schemeClr val="tx1"/>
                          </a:solidFill>
                          <a:effectLst/>
                          <a:latin typeface="+mn-lt"/>
                          <a:ea typeface="+mn-ea"/>
                          <a:cs typeface="+mn-cs"/>
                        </a:rPr>
                        <a:t>优秀</a:t>
                      </a:r>
                      <a:r>
                        <a:rPr lang="en-US" altLang="zh-CN" sz="1600" b="0" i="0" kern="1200" dirty="0">
                          <a:solidFill>
                            <a:schemeClr val="tx1"/>
                          </a:solidFill>
                          <a:effectLst/>
                          <a:latin typeface="+mn-lt"/>
                          <a:ea typeface="+mn-ea"/>
                          <a:cs typeface="+mn-cs"/>
                        </a:rPr>
                        <a:t>/</a:t>
                      </a:r>
                      <a:r>
                        <a:rPr lang="zh-CN" altLang="en-US" sz="1600" b="0" i="0" kern="1200" dirty="0">
                          <a:solidFill>
                            <a:schemeClr val="tx1"/>
                          </a:solidFill>
                          <a:effectLst/>
                          <a:latin typeface="+mn-lt"/>
                          <a:ea typeface="+mn-ea"/>
                          <a:cs typeface="+mn-cs"/>
                        </a:rPr>
                        <a:t>世界级水平</a:t>
                      </a:r>
                      <a:endParaRPr lang="zh-CN"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b="0" i="0" kern="1200" dirty="0">
                          <a:solidFill>
                            <a:schemeClr val="tx1"/>
                          </a:solidFill>
                          <a:effectLst/>
                          <a:latin typeface="+mn-lt"/>
                          <a:ea typeface="+mn-ea"/>
                          <a:cs typeface="+mn-cs"/>
                        </a:rPr>
                        <a:t>&lt; 0.1 - 0.5 </a:t>
                      </a:r>
                      <a:endParaRPr lang="zh-CN"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9091946"/>
                  </a:ext>
                </a:extLst>
              </a:tr>
              <a:tr h="370840">
                <a:tc>
                  <a:txBody>
                    <a:bodyPr/>
                    <a:lstStyle/>
                    <a:p>
                      <a:r>
                        <a:rPr lang="zh-CN" altLang="en-US" sz="1600" b="0" i="0" kern="1200" dirty="0">
                          <a:solidFill>
                            <a:schemeClr val="tx1"/>
                          </a:solidFill>
                          <a:effectLst/>
                          <a:latin typeface="+mn-lt"/>
                          <a:ea typeface="+mn-ea"/>
                          <a:cs typeface="+mn-cs"/>
                        </a:rPr>
                        <a:t>良好</a:t>
                      </a:r>
                      <a:r>
                        <a:rPr lang="en-US" altLang="zh-CN" sz="1600" b="0" i="0" kern="1200" dirty="0">
                          <a:solidFill>
                            <a:schemeClr val="tx1"/>
                          </a:solidFill>
                          <a:effectLst/>
                          <a:latin typeface="+mn-lt"/>
                          <a:ea typeface="+mn-ea"/>
                          <a:cs typeface="+mn-cs"/>
                        </a:rPr>
                        <a:t>/</a:t>
                      </a:r>
                      <a:r>
                        <a:rPr lang="zh-CN" altLang="en-US" sz="1600" b="0" i="0" kern="1200" dirty="0">
                          <a:solidFill>
                            <a:schemeClr val="tx1"/>
                          </a:solidFill>
                          <a:effectLst/>
                          <a:latin typeface="+mn-lt"/>
                          <a:ea typeface="+mn-ea"/>
                          <a:cs typeface="+mn-cs"/>
                        </a:rPr>
                        <a:t>行业标准</a:t>
                      </a:r>
                      <a:endParaRPr lang="zh-CN"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b="0" i="0" kern="1200" dirty="0">
                          <a:solidFill>
                            <a:schemeClr val="tx1"/>
                          </a:solidFill>
                          <a:effectLst/>
                          <a:latin typeface="+mn-lt"/>
                          <a:ea typeface="+mn-ea"/>
                          <a:cs typeface="+mn-cs"/>
                        </a:rPr>
                        <a:t>0.5 - 2.0 </a:t>
                      </a:r>
                      <a:endParaRPr lang="zh-CN"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9619283"/>
                  </a:ext>
                </a:extLst>
              </a:tr>
              <a:tr h="370840">
                <a:tc>
                  <a:txBody>
                    <a:bodyPr/>
                    <a:lstStyle/>
                    <a:p>
                      <a:r>
                        <a:rPr lang="zh-CN" altLang="en-US" sz="1600" b="0" i="0" kern="1200" dirty="0">
                          <a:solidFill>
                            <a:schemeClr val="tx1"/>
                          </a:solidFill>
                          <a:effectLst/>
                          <a:latin typeface="+mn-lt"/>
                          <a:ea typeface="+mn-ea"/>
                          <a:cs typeface="+mn-cs"/>
                        </a:rPr>
                        <a:t>一般</a:t>
                      </a:r>
                      <a:r>
                        <a:rPr lang="en-US" altLang="zh-CN" sz="1600" b="0" i="0" kern="1200" dirty="0">
                          <a:solidFill>
                            <a:schemeClr val="tx1"/>
                          </a:solidFill>
                          <a:effectLst/>
                          <a:latin typeface="+mn-lt"/>
                          <a:ea typeface="+mn-ea"/>
                          <a:cs typeface="+mn-cs"/>
                        </a:rPr>
                        <a:t>/</a:t>
                      </a:r>
                      <a:r>
                        <a:rPr lang="zh-CN" altLang="en-US" sz="1600" b="0" i="0" kern="1200" dirty="0">
                          <a:solidFill>
                            <a:schemeClr val="tx1"/>
                          </a:solidFill>
                          <a:effectLst/>
                          <a:latin typeface="+mn-lt"/>
                          <a:ea typeface="+mn-ea"/>
                          <a:cs typeface="+mn-cs"/>
                        </a:rPr>
                        <a:t>合格水平</a:t>
                      </a:r>
                      <a:endParaRPr lang="zh-CN"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b="0" i="0" kern="1200" dirty="0">
                          <a:solidFill>
                            <a:schemeClr val="tx1"/>
                          </a:solidFill>
                          <a:effectLst/>
                          <a:latin typeface="+mn-lt"/>
                          <a:ea typeface="+mn-ea"/>
                          <a:cs typeface="+mn-cs"/>
                        </a:rPr>
                        <a:t>2.0 - 5.0 </a:t>
                      </a:r>
                      <a:endParaRPr lang="zh-CN"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76145905"/>
                  </a:ext>
                </a:extLst>
              </a:tr>
              <a:tr h="370840">
                <a:tc>
                  <a:txBody>
                    <a:bodyPr/>
                    <a:lstStyle/>
                    <a:p>
                      <a:r>
                        <a:rPr lang="zh-CN" altLang="en-US" sz="1600" b="0" i="0" kern="1200" dirty="0">
                          <a:solidFill>
                            <a:schemeClr val="tx1"/>
                          </a:solidFill>
                          <a:effectLst/>
                          <a:latin typeface="+mn-lt"/>
                          <a:ea typeface="+mn-ea"/>
                          <a:cs typeface="+mn-cs"/>
                        </a:rPr>
                        <a:t>较差</a:t>
                      </a:r>
                      <a:endParaRPr lang="zh-CN"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b="0" i="0" kern="1200" dirty="0">
                          <a:solidFill>
                            <a:schemeClr val="tx1"/>
                          </a:solidFill>
                          <a:effectLst/>
                          <a:latin typeface="+mn-lt"/>
                          <a:ea typeface="+mn-ea"/>
                          <a:cs typeface="+mn-cs"/>
                        </a:rPr>
                        <a:t>&gt; 5.0 </a:t>
                      </a:r>
                      <a:endParaRPr lang="zh-CN"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96621651"/>
                  </a:ext>
                </a:extLst>
              </a:tr>
            </a:tbl>
          </a:graphicData>
        </a:graphic>
      </p:graphicFrame>
      <p:sp>
        <p:nvSpPr>
          <p:cNvPr id="15" name="文本框 14">
            <a:extLst>
              <a:ext uri="{FF2B5EF4-FFF2-40B4-BE49-F238E27FC236}">
                <a16:creationId xmlns:a16="http://schemas.microsoft.com/office/drawing/2014/main" id="{C9CFB030-54E8-B42E-7D2C-6DB4807F53CC}"/>
              </a:ext>
            </a:extLst>
          </p:cNvPr>
          <p:cNvSpPr txBox="1"/>
          <p:nvPr/>
        </p:nvSpPr>
        <p:spPr>
          <a:xfrm>
            <a:off x="2657475" y="942975"/>
            <a:ext cx="184731" cy="338554"/>
          </a:xfrm>
          <a:prstGeom prst="rect">
            <a:avLst/>
          </a:prstGeom>
          <a:noFill/>
        </p:spPr>
        <p:txBody>
          <a:bodyPr wrap="none" rtlCol="0">
            <a:spAutoFit/>
          </a:bodyPr>
          <a:lstStyle/>
          <a:p>
            <a:pPr algn="l"/>
            <a:endParaRPr lang="zh-CN" altLang="en-US" sz="1600" dirty="0">
              <a:solidFill>
                <a:schemeClr val="bg1"/>
              </a:solidFill>
            </a:endParaRPr>
          </a:p>
        </p:txBody>
      </p:sp>
      <p:graphicFrame>
        <p:nvGraphicFramePr>
          <p:cNvPr id="16" name="表格 15">
            <a:extLst>
              <a:ext uri="{FF2B5EF4-FFF2-40B4-BE49-F238E27FC236}">
                <a16:creationId xmlns:a16="http://schemas.microsoft.com/office/drawing/2014/main" id="{12C7A67C-A266-97D7-AB33-1E42BF5DC748}"/>
              </a:ext>
            </a:extLst>
          </p:cNvPr>
          <p:cNvGraphicFramePr>
            <a:graphicFrameLocks noGrp="1"/>
          </p:cNvGraphicFramePr>
          <p:nvPr>
            <p:extLst>
              <p:ext uri="{D42A27DB-BD31-4B8C-83A1-F6EECF244321}">
                <p14:modId xmlns:p14="http://schemas.microsoft.com/office/powerpoint/2010/main" val="2493672458"/>
              </p:ext>
            </p:extLst>
          </p:nvPr>
        </p:nvGraphicFramePr>
        <p:xfrm>
          <a:off x="2032000" y="4370992"/>
          <a:ext cx="8128000" cy="148336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4031638162"/>
                    </a:ext>
                  </a:extLst>
                </a:gridCol>
                <a:gridCol w="4064000">
                  <a:extLst>
                    <a:ext uri="{9D8B030D-6E8A-4147-A177-3AD203B41FA5}">
                      <a16:colId xmlns:a16="http://schemas.microsoft.com/office/drawing/2014/main" val="3979507189"/>
                    </a:ext>
                  </a:extLst>
                </a:gridCol>
              </a:tblGrid>
              <a:tr h="370840">
                <a:tc>
                  <a:txBody>
                    <a:bodyPr/>
                    <a:lstStyle/>
                    <a:p>
                      <a:r>
                        <a:rPr lang="zh-CN" altLang="en-US" sz="1600" b="0" dirty="0">
                          <a:solidFill>
                            <a:schemeClr val="tx1"/>
                          </a:solidFill>
                        </a:rPr>
                        <a:t>级别</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zh-CN" altLang="en-US" sz="1800" b="0" i="0" kern="1200" dirty="0">
                          <a:solidFill>
                            <a:schemeClr val="tx1"/>
                          </a:solidFill>
                          <a:effectLst/>
                          <a:latin typeface="+mn-lt"/>
                          <a:ea typeface="+mn-ea"/>
                          <a:cs typeface="+mn-cs"/>
                        </a:rPr>
                        <a:t>缺陷 </a:t>
                      </a:r>
                      <a:r>
                        <a:rPr lang="en-US" altLang="zh-CN" sz="1800" b="0" i="0" kern="1200" dirty="0">
                          <a:solidFill>
                            <a:schemeClr val="tx1"/>
                          </a:solidFill>
                          <a:effectLst/>
                          <a:latin typeface="+mn-lt"/>
                          <a:ea typeface="+mn-ea"/>
                          <a:cs typeface="+mn-cs"/>
                        </a:rPr>
                        <a:t>/ </a:t>
                      </a:r>
                      <a:r>
                        <a:rPr lang="zh-CN" altLang="en-US" sz="1800" b="0" i="0" kern="1200" dirty="0">
                          <a:solidFill>
                            <a:schemeClr val="tx1"/>
                          </a:solidFill>
                          <a:effectLst/>
                          <a:latin typeface="+mn-lt"/>
                          <a:ea typeface="+mn-ea"/>
                          <a:cs typeface="+mn-cs"/>
                        </a:rPr>
                        <a:t>功能点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50562541"/>
                  </a:ext>
                </a:extLst>
              </a:tr>
              <a:tr h="370840">
                <a:tc>
                  <a:txBody>
                    <a:bodyPr/>
                    <a:lstStyle/>
                    <a:p>
                      <a:r>
                        <a:rPr lang="zh-CN" altLang="en-US" sz="1600" b="0" i="0" kern="1200" dirty="0">
                          <a:solidFill>
                            <a:schemeClr val="tx1"/>
                          </a:solidFill>
                          <a:effectLst/>
                          <a:latin typeface="+mn-lt"/>
                          <a:ea typeface="+mn-ea"/>
                          <a:cs typeface="+mn-cs"/>
                        </a:rPr>
                        <a:t>优秀</a:t>
                      </a:r>
                      <a:r>
                        <a:rPr lang="en-US" altLang="zh-CN" sz="1600" b="0" i="0" kern="1200" dirty="0">
                          <a:solidFill>
                            <a:schemeClr val="tx1"/>
                          </a:solidFill>
                          <a:effectLst/>
                          <a:latin typeface="+mn-lt"/>
                          <a:ea typeface="+mn-ea"/>
                          <a:cs typeface="+mn-cs"/>
                        </a:rPr>
                        <a:t>/</a:t>
                      </a:r>
                      <a:r>
                        <a:rPr lang="zh-CN" altLang="en-US" sz="1600" b="0" i="0" kern="1200" dirty="0">
                          <a:solidFill>
                            <a:schemeClr val="tx1"/>
                          </a:solidFill>
                          <a:effectLst/>
                          <a:latin typeface="+mn-lt"/>
                          <a:ea typeface="+mn-ea"/>
                          <a:cs typeface="+mn-cs"/>
                        </a:rPr>
                        <a:t>世界级水平</a:t>
                      </a:r>
                      <a:endParaRPr lang="zh-CN"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b="0" i="0" kern="1200" dirty="0">
                          <a:solidFill>
                            <a:schemeClr val="tx1"/>
                          </a:solidFill>
                          <a:effectLst/>
                          <a:latin typeface="+mn-lt"/>
                          <a:ea typeface="+mn-ea"/>
                          <a:cs typeface="+mn-cs"/>
                        </a:rPr>
                        <a:t>&lt; 0.5 </a:t>
                      </a:r>
                      <a:endParaRPr lang="zh-CN"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9091946"/>
                  </a:ext>
                </a:extLst>
              </a:tr>
              <a:tr h="370840">
                <a:tc>
                  <a:txBody>
                    <a:bodyPr/>
                    <a:lstStyle/>
                    <a:p>
                      <a:r>
                        <a:rPr lang="zh-CN" altLang="en-US" sz="1600" b="0" i="0" kern="1200" dirty="0">
                          <a:solidFill>
                            <a:schemeClr val="tx1"/>
                          </a:solidFill>
                          <a:effectLst/>
                          <a:latin typeface="+mn-lt"/>
                          <a:ea typeface="+mn-ea"/>
                          <a:cs typeface="+mn-cs"/>
                        </a:rPr>
                        <a:t>良好</a:t>
                      </a:r>
                      <a:r>
                        <a:rPr lang="en-US" altLang="zh-CN" sz="1600" b="0" i="0" kern="1200" dirty="0">
                          <a:solidFill>
                            <a:schemeClr val="tx1"/>
                          </a:solidFill>
                          <a:effectLst/>
                          <a:latin typeface="+mn-lt"/>
                          <a:ea typeface="+mn-ea"/>
                          <a:cs typeface="+mn-cs"/>
                        </a:rPr>
                        <a:t>/</a:t>
                      </a:r>
                      <a:r>
                        <a:rPr lang="zh-CN" altLang="en-US" sz="1600" b="0" i="0" kern="1200" dirty="0">
                          <a:solidFill>
                            <a:schemeClr val="tx1"/>
                          </a:solidFill>
                          <a:effectLst/>
                          <a:latin typeface="+mn-lt"/>
                          <a:ea typeface="+mn-ea"/>
                          <a:cs typeface="+mn-cs"/>
                        </a:rPr>
                        <a:t>行业标准</a:t>
                      </a:r>
                      <a:endParaRPr lang="zh-CN"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b="0" i="0" kern="1200" dirty="0">
                          <a:solidFill>
                            <a:schemeClr val="tx1"/>
                          </a:solidFill>
                          <a:effectLst/>
                          <a:latin typeface="+mn-lt"/>
                          <a:ea typeface="+mn-ea"/>
                          <a:cs typeface="+mn-cs"/>
                        </a:rPr>
                        <a:t>0.5 - 1.0 </a:t>
                      </a:r>
                      <a:endParaRPr lang="zh-CN"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961928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b="0" i="0" kern="1200" dirty="0">
                          <a:solidFill>
                            <a:schemeClr val="tx1"/>
                          </a:solidFill>
                          <a:effectLst/>
                          <a:latin typeface="+mn-lt"/>
                          <a:ea typeface="+mn-ea"/>
                          <a:cs typeface="+mn-cs"/>
                        </a:rPr>
                        <a:t>一般</a:t>
                      </a:r>
                      <a:r>
                        <a:rPr lang="en-US" altLang="zh-CN" sz="1600" b="0" i="0" kern="1200" dirty="0">
                          <a:solidFill>
                            <a:schemeClr val="tx1"/>
                          </a:solidFill>
                          <a:effectLst/>
                          <a:latin typeface="+mn-lt"/>
                          <a:ea typeface="+mn-ea"/>
                          <a:cs typeface="+mn-cs"/>
                        </a:rPr>
                        <a:t>/</a:t>
                      </a:r>
                      <a:r>
                        <a:rPr lang="zh-CN" altLang="en-US" sz="1600" b="0" i="0" kern="1200" dirty="0">
                          <a:solidFill>
                            <a:schemeClr val="tx1"/>
                          </a:solidFill>
                          <a:effectLst/>
                          <a:latin typeface="+mn-lt"/>
                          <a:ea typeface="+mn-ea"/>
                          <a:cs typeface="+mn-cs"/>
                        </a:rPr>
                        <a:t>合格水平</a:t>
                      </a:r>
                      <a:endParaRPr lang="zh-CN"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b="0" i="0" kern="1200" dirty="0">
                          <a:solidFill>
                            <a:schemeClr val="tx1"/>
                          </a:solidFill>
                          <a:effectLst/>
                          <a:latin typeface="+mn-lt"/>
                          <a:ea typeface="+mn-ea"/>
                          <a:cs typeface="+mn-cs"/>
                        </a:rPr>
                        <a:t>1.0 - 2.0</a:t>
                      </a:r>
                      <a:endParaRPr lang="zh-CN"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96621651"/>
                  </a:ext>
                </a:extLst>
              </a:tr>
            </a:tbl>
          </a:graphicData>
        </a:graphic>
      </p:graphicFrame>
    </p:spTree>
    <p:extLst>
      <p:ext uri="{BB962C8B-B14F-4D97-AF65-F5344CB8AC3E}">
        <p14:creationId xmlns:p14="http://schemas.microsoft.com/office/powerpoint/2010/main" val="88226340"/>
      </p:ext>
    </p:extLst>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4924DA-4933-AA34-3FD0-CC6836003D3D}"/>
              </a:ext>
            </a:extLst>
          </p:cNvPr>
          <p:cNvSpPr>
            <a:spLocks noGrp="1"/>
          </p:cNvSpPr>
          <p:nvPr>
            <p:ph type="title"/>
          </p:nvPr>
        </p:nvSpPr>
        <p:spPr>
          <a:xfrm>
            <a:off x="792000" y="360000"/>
            <a:ext cx="6375921" cy="429413"/>
          </a:xfrm>
        </p:spPr>
        <p:txBody>
          <a:bodyPr/>
          <a:lstStyle/>
          <a:p>
            <a:r>
              <a:rPr lang="en-US" altLang="zh-CN" dirty="0"/>
              <a:t>4.2 </a:t>
            </a:r>
            <a:r>
              <a:rPr lang="zh-CN" altLang="en-US" dirty="0"/>
              <a:t>质量计划的方法</a:t>
            </a:r>
          </a:p>
        </p:txBody>
      </p:sp>
      <p:sp>
        <p:nvSpPr>
          <p:cNvPr id="3" name="内容占位符 2">
            <a:extLst>
              <a:ext uri="{FF2B5EF4-FFF2-40B4-BE49-F238E27FC236}">
                <a16:creationId xmlns:a16="http://schemas.microsoft.com/office/drawing/2014/main" id="{30B587CF-5BDE-57A4-D49B-D537A9B4933A}"/>
              </a:ext>
            </a:extLst>
          </p:cNvPr>
          <p:cNvSpPr>
            <a:spLocks noGrp="1"/>
          </p:cNvSpPr>
          <p:nvPr>
            <p:ph idx="1"/>
          </p:nvPr>
        </p:nvSpPr>
        <p:spPr>
          <a:xfrm>
            <a:off x="696000" y="864000"/>
            <a:ext cx="10800000" cy="5400000"/>
          </a:xfrm>
        </p:spPr>
        <p:txBody>
          <a:bodyPr/>
          <a:lstStyle/>
          <a:p>
            <a:r>
              <a:rPr lang="zh-CN" altLang="en-US" dirty="0"/>
              <a:t>实验设计</a:t>
            </a:r>
            <a:endParaRPr lang="en-US" altLang="zh-CN" dirty="0"/>
          </a:p>
          <a:p>
            <a:r>
              <a:rPr lang="zh-CN" altLang="en-US" dirty="0"/>
              <a:t>基准对照</a:t>
            </a:r>
            <a:endParaRPr lang="en-US" altLang="zh-CN" dirty="0"/>
          </a:p>
          <a:p>
            <a:r>
              <a:rPr lang="zh-CN" altLang="en-US" dirty="0"/>
              <a:t>质量成本分析</a:t>
            </a:r>
            <a:endParaRPr lang="en-US" altLang="zh-CN" dirty="0"/>
          </a:p>
          <a:p>
            <a:r>
              <a:rPr lang="zh-CN" altLang="en-US" dirty="0"/>
              <a:t>测试与检查的规划</a:t>
            </a:r>
            <a:endParaRPr lang="en-US" altLang="zh-CN" dirty="0"/>
          </a:p>
          <a:p>
            <a:r>
              <a:rPr lang="zh-CN" altLang="en-US" dirty="0"/>
              <a:t>各种数据分析图示</a:t>
            </a:r>
          </a:p>
        </p:txBody>
      </p:sp>
      <p:sp>
        <p:nvSpPr>
          <p:cNvPr id="6" name="文本占位符 5">
            <a:extLst>
              <a:ext uri="{FF2B5EF4-FFF2-40B4-BE49-F238E27FC236}">
                <a16:creationId xmlns:a16="http://schemas.microsoft.com/office/drawing/2014/main" id="{2410D9F0-D7E9-4D4F-6B25-B8D8818F98C1}"/>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3317455683"/>
      </p:ext>
    </p:extLst>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E6768B-C015-A307-E2C1-9233D935AE70}"/>
              </a:ext>
            </a:extLst>
          </p:cNvPr>
          <p:cNvSpPr>
            <a:spLocks noGrp="1"/>
          </p:cNvSpPr>
          <p:nvPr>
            <p:ph type="title"/>
          </p:nvPr>
        </p:nvSpPr>
        <p:spPr>
          <a:xfrm>
            <a:off x="792000" y="360000"/>
            <a:ext cx="6375921" cy="429413"/>
          </a:xfrm>
        </p:spPr>
        <p:txBody>
          <a:bodyPr/>
          <a:lstStyle/>
          <a:p>
            <a:r>
              <a:rPr lang="en-US" altLang="zh-CN" dirty="0"/>
              <a:t>4.2.5</a:t>
            </a:r>
            <a:r>
              <a:rPr lang="zh-CN" altLang="en-US" dirty="0"/>
              <a:t> 七大质量管理工具</a:t>
            </a:r>
          </a:p>
        </p:txBody>
      </p:sp>
      <p:sp>
        <p:nvSpPr>
          <p:cNvPr id="3" name="内容占位符 2">
            <a:extLst>
              <a:ext uri="{FF2B5EF4-FFF2-40B4-BE49-F238E27FC236}">
                <a16:creationId xmlns:a16="http://schemas.microsoft.com/office/drawing/2014/main" id="{5FC622DC-6018-EAA6-645B-0EA79272AF1F}"/>
              </a:ext>
            </a:extLst>
          </p:cNvPr>
          <p:cNvSpPr>
            <a:spLocks noGrp="1"/>
          </p:cNvSpPr>
          <p:nvPr>
            <p:ph idx="1"/>
          </p:nvPr>
        </p:nvSpPr>
        <p:spPr>
          <a:xfrm>
            <a:off x="696000" y="864000"/>
            <a:ext cx="10800000" cy="5400000"/>
          </a:xfrm>
        </p:spPr>
        <p:txBody>
          <a:bodyPr/>
          <a:lstStyle/>
          <a:p>
            <a:r>
              <a:rPr lang="zh-CN" altLang="en-US" dirty="0"/>
              <a:t>流程图</a:t>
            </a:r>
            <a:endParaRPr lang="en-US" altLang="zh-CN" dirty="0"/>
          </a:p>
          <a:p>
            <a:r>
              <a:rPr lang="zh-CN" altLang="en-US" dirty="0"/>
              <a:t>因果图</a:t>
            </a:r>
            <a:endParaRPr lang="en-US" altLang="zh-CN" dirty="0"/>
          </a:p>
          <a:p>
            <a:r>
              <a:rPr lang="zh-CN" altLang="en-US" dirty="0"/>
              <a:t>直方图</a:t>
            </a:r>
            <a:endParaRPr lang="en-US" altLang="zh-CN" dirty="0"/>
          </a:p>
          <a:p>
            <a:r>
              <a:rPr lang="zh-CN" altLang="en-US" dirty="0"/>
              <a:t>散点图</a:t>
            </a:r>
            <a:endParaRPr lang="en-US" altLang="zh-CN" dirty="0"/>
          </a:p>
          <a:p>
            <a:r>
              <a:rPr lang="zh-CN" altLang="en-US" dirty="0"/>
              <a:t>帕累托定律</a:t>
            </a:r>
            <a:endParaRPr lang="en-US" altLang="zh-CN" dirty="0"/>
          </a:p>
          <a:p>
            <a:r>
              <a:rPr lang="zh-CN" altLang="en-US" dirty="0"/>
              <a:t>控制图</a:t>
            </a:r>
            <a:endParaRPr lang="en-US" altLang="zh-CN" dirty="0"/>
          </a:p>
          <a:p>
            <a:r>
              <a:rPr lang="zh-CN" altLang="en-US" dirty="0"/>
              <a:t>核查表</a:t>
            </a:r>
          </a:p>
        </p:txBody>
      </p:sp>
      <p:sp>
        <p:nvSpPr>
          <p:cNvPr id="7" name="文本占位符 6">
            <a:extLst>
              <a:ext uri="{FF2B5EF4-FFF2-40B4-BE49-F238E27FC236}">
                <a16:creationId xmlns:a16="http://schemas.microsoft.com/office/drawing/2014/main" id="{BA5B2B41-8269-9489-3C64-A464B400F9A4}"/>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1574684906"/>
      </p:ext>
    </p:extLst>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46CA0-B7C0-B6AC-B87F-A46AD6C15C7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D6F15C5-49C7-ECD1-BF22-5B2122364091}"/>
              </a:ext>
            </a:extLst>
          </p:cNvPr>
          <p:cNvSpPr>
            <a:spLocks noGrp="1"/>
          </p:cNvSpPr>
          <p:nvPr>
            <p:ph type="title"/>
          </p:nvPr>
        </p:nvSpPr>
        <p:spPr>
          <a:xfrm>
            <a:off x="792000" y="360000"/>
            <a:ext cx="6375921" cy="429413"/>
          </a:xfrm>
        </p:spPr>
        <p:txBody>
          <a:bodyPr/>
          <a:lstStyle/>
          <a:p>
            <a:r>
              <a:rPr lang="en-US" altLang="zh-CN" dirty="0"/>
              <a:t>4.2.5.1</a:t>
            </a:r>
            <a:r>
              <a:rPr lang="zh-CN" altLang="en-US" dirty="0"/>
              <a:t> 七大质量管理工具 </a:t>
            </a:r>
            <a:r>
              <a:rPr lang="en-US" altLang="zh-CN" dirty="0"/>
              <a:t>– </a:t>
            </a:r>
            <a:r>
              <a:rPr lang="zh-CN" altLang="en-US" dirty="0"/>
              <a:t>流程图</a:t>
            </a:r>
          </a:p>
        </p:txBody>
      </p:sp>
      <p:sp>
        <p:nvSpPr>
          <p:cNvPr id="3" name="内容占位符 2">
            <a:extLst>
              <a:ext uri="{FF2B5EF4-FFF2-40B4-BE49-F238E27FC236}">
                <a16:creationId xmlns:a16="http://schemas.microsoft.com/office/drawing/2014/main" id="{18EA01CB-E9C2-2FDC-5CC7-0E33BEE7B3C4}"/>
              </a:ext>
            </a:extLst>
          </p:cNvPr>
          <p:cNvSpPr>
            <a:spLocks noGrp="1"/>
          </p:cNvSpPr>
          <p:nvPr>
            <p:ph idx="1"/>
          </p:nvPr>
        </p:nvSpPr>
        <p:spPr>
          <a:xfrm>
            <a:off x="696000" y="864000"/>
            <a:ext cx="10800000" cy="5400000"/>
          </a:xfrm>
        </p:spPr>
        <p:txBody>
          <a:bodyPr/>
          <a:lstStyle/>
          <a:p>
            <a:r>
              <a:rPr lang="zh-CN" altLang="en-US" dirty="0"/>
              <a:t>几乎是所有质量活动的底层载体</a:t>
            </a:r>
            <a:endParaRPr lang="en-US" altLang="zh-CN" dirty="0"/>
          </a:p>
          <a:p>
            <a:r>
              <a:rPr lang="zh-CN" altLang="en-US" dirty="0"/>
              <a:t>没有流程图，</a:t>
            </a:r>
            <a:r>
              <a:rPr lang="en-US" altLang="zh-CN" dirty="0"/>
              <a:t>QA </a:t>
            </a:r>
            <a:r>
              <a:rPr lang="zh-CN" altLang="en-US" dirty="0"/>
              <a:t>没法审计过程（因为看不清过程）</a:t>
            </a:r>
          </a:p>
          <a:p>
            <a:r>
              <a:rPr lang="zh-CN" altLang="en-US" dirty="0"/>
              <a:t>没有流程图，</a:t>
            </a:r>
            <a:r>
              <a:rPr lang="en-US" altLang="zh-CN" dirty="0"/>
              <a:t>QC </a:t>
            </a:r>
            <a:r>
              <a:rPr lang="zh-CN" altLang="en-US" dirty="0"/>
              <a:t>没法做全路径测试（因为容易漏测分支）</a:t>
            </a:r>
          </a:p>
          <a:p>
            <a:r>
              <a:rPr lang="zh-CN" altLang="en-US" dirty="0"/>
              <a:t>通过不同的形状（如矩形、菱形、椭圆）和箭头来展示步骤的顺序和逻辑关系</a:t>
            </a:r>
            <a:endParaRPr lang="en-US" altLang="zh-CN" dirty="0"/>
          </a:p>
          <a:p>
            <a:r>
              <a:rPr lang="zh-CN" altLang="en-US" dirty="0"/>
              <a:t>核心要素</a:t>
            </a:r>
          </a:p>
          <a:p>
            <a:pPr lvl="1"/>
            <a:r>
              <a:rPr lang="zh-CN" altLang="en-US" dirty="0"/>
              <a:t>开始</a:t>
            </a:r>
            <a:r>
              <a:rPr lang="en-US" altLang="zh-CN" dirty="0"/>
              <a:t>/</a:t>
            </a:r>
            <a:r>
              <a:rPr lang="zh-CN" altLang="en-US" dirty="0"/>
              <a:t>结束 </a:t>
            </a:r>
            <a:r>
              <a:rPr lang="en-US" altLang="zh-CN" dirty="0"/>
              <a:t>Start/End</a:t>
            </a:r>
            <a:r>
              <a:rPr lang="zh-CN" altLang="en-US" dirty="0"/>
              <a:t>：通常用椭圆形表示</a:t>
            </a:r>
          </a:p>
          <a:p>
            <a:pPr lvl="1"/>
            <a:r>
              <a:rPr lang="zh-CN" altLang="en-US" dirty="0"/>
              <a:t>行动</a:t>
            </a:r>
            <a:r>
              <a:rPr lang="en-US" altLang="zh-CN" dirty="0"/>
              <a:t>/</a:t>
            </a:r>
            <a:r>
              <a:rPr lang="zh-CN" altLang="en-US" dirty="0"/>
              <a:t>过程 </a:t>
            </a:r>
            <a:r>
              <a:rPr lang="en-US" altLang="zh-CN" dirty="0"/>
              <a:t>Process</a:t>
            </a:r>
            <a:r>
              <a:rPr lang="zh-CN" altLang="en-US" dirty="0"/>
              <a:t>：通常用矩形表示</a:t>
            </a:r>
            <a:endParaRPr lang="en-US" altLang="zh-CN" dirty="0"/>
          </a:p>
          <a:p>
            <a:pPr lvl="1"/>
            <a:r>
              <a:rPr lang="zh-CN" altLang="en-US" dirty="0"/>
              <a:t>决策</a:t>
            </a:r>
            <a:r>
              <a:rPr lang="en-US" altLang="zh-CN" dirty="0"/>
              <a:t>/</a:t>
            </a:r>
            <a:r>
              <a:rPr lang="zh-CN" altLang="en-US" dirty="0"/>
              <a:t>判断 </a:t>
            </a:r>
            <a:r>
              <a:rPr lang="en-US" altLang="zh-CN" dirty="0"/>
              <a:t>Decision</a:t>
            </a:r>
            <a:r>
              <a:rPr lang="zh-CN" altLang="en-US" dirty="0"/>
              <a:t>：通常用菱形表示</a:t>
            </a:r>
            <a:endParaRPr lang="en-US" altLang="zh-CN" dirty="0"/>
          </a:p>
          <a:p>
            <a:pPr lvl="1"/>
            <a:r>
              <a:rPr lang="zh-CN" altLang="en-US" dirty="0"/>
              <a:t>流向 </a:t>
            </a:r>
            <a:r>
              <a:rPr lang="en-US" altLang="zh-CN" dirty="0"/>
              <a:t>Flow Line</a:t>
            </a:r>
            <a:r>
              <a:rPr lang="zh-CN" altLang="en-US" dirty="0"/>
              <a:t>：用箭头表示步骤的先后顺序</a:t>
            </a:r>
            <a:endParaRPr lang="en-US" altLang="zh-CN" dirty="0"/>
          </a:p>
        </p:txBody>
      </p:sp>
      <p:sp>
        <p:nvSpPr>
          <p:cNvPr id="7" name="文本占位符 6">
            <a:extLst>
              <a:ext uri="{FF2B5EF4-FFF2-40B4-BE49-F238E27FC236}">
                <a16:creationId xmlns:a16="http://schemas.microsoft.com/office/drawing/2014/main" id="{1250DC65-8B65-0D07-F3FB-B49293E7EE90}"/>
              </a:ext>
            </a:extLst>
          </p:cNvPr>
          <p:cNvSpPr>
            <a:spLocks noGrp="1"/>
          </p:cNvSpPr>
          <p:nvPr>
            <p:ph type="body" sz="quarter" idx="10"/>
          </p:nvPr>
        </p:nvSpPr>
        <p:spPr>
          <a:xfrm>
            <a:off x="7071919" y="448519"/>
            <a:ext cx="4424080" cy="338554"/>
          </a:xfrm>
        </p:spPr>
        <p:txBody>
          <a:bodyPr/>
          <a:lstStyle/>
          <a:p>
            <a:r>
              <a:rPr lang="en-US" altLang="zh-CN" dirty="0"/>
              <a:t>Flowchart</a:t>
            </a:r>
            <a:endParaRPr lang="zh-CN" altLang="en-US" dirty="0"/>
          </a:p>
        </p:txBody>
      </p:sp>
    </p:spTree>
    <p:extLst>
      <p:ext uri="{BB962C8B-B14F-4D97-AF65-F5344CB8AC3E}">
        <p14:creationId xmlns:p14="http://schemas.microsoft.com/office/powerpoint/2010/main" val="400359803"/>
      </p:ext>
    </p:extLst>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流程图: 终止 5">
            <a:extLst>
              <a:ext uri="{FF2B5EF4-FFF2-40B4-BE49-F238E27FC236}">
                <a16:creationId xmlns:a16="http://schemas.microsoft.com/office/drawing/2014/main" id="{E62C6143-1513-2E55-E827-D84377F169A9}"/>
              </a:ext>
            </a:extLst>
          </p:cNvPr>
          <p:cNvSpPr/>
          <p:nvPr/>
        </p:nvSpPr>
        <p:spPr>
          <a:xfrm>
            <a:off x="4939595" y="598422"/>
            <a:ext cx="1241136" cy="409575"/>
          </a:xfrm>
          <a:prstGeom prst="flowChartTermina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Start</a:t>
            </a:r>
            <a:endParaRPr lang="zh-CN" altLang="en-US" sz="1600" dirty="0">
              <a:solidFill>
                <a:schemeClr val="tx1"/>
              </a:solidFill>
            </a:endParaRPr>
          </a:p>
        </p:txBody>
      </p:sp>
      <p:sp>
        <p:nvSpPr>
          <p:cNvPr id="7" name="流程图: 终止 6">
            <a:extLst>
              <a:ext uri="{FF2B5EF4-FFF2-40B4-BE49-F238E27FC236}">
                <a16:creationId xmlns:a16="http://schemas.microsoft.com/office/drawing/2014/main" id="{D6885DD5-B968-3C44-1188-D4D56219E1E6}"/>
              </a:ext>
            </a:extLst>
          </p:cNvPr>
          <p:cNvSpPr/>
          <p:nvPr/>
        </p:nvSpPr>
        <p:spPr>
          <a:xfrm>
            <a:off x="6929946" y="5603648"/>
            <a:ext cx="1241136" cy="409575"/>
          </a:xfrm>
          <a:prstGeom prst="flowChartTermina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End</a:t>
            </a:r>
            <a:endParaRPr lang="zh-CN" altLang="en-US" sz="1600" dirty="0">
              <a:solidFill>
                <a:schemeClr val="tx1"/>
              </a:solidFill>
            </a:endParaRPr>
          </a:p>
        </p:txBody>
      </p:sp>
      <p:sp>
        <p:nvSpPr>
          <p:cNvPr id="8" name="流程图: 过程 7">
            <a:extLst>
              <a:ext uri="{FF2B5EF4-FFF2-40B4-BE49-F238E27FC236}">
                <a16:creationId xmlns:a16="http://schemas.microsoft.com/office/drawing/2014/main" id="{24EDC18F-A395-3ACA-DCBF-A598301E6751}"/>
              </a:ext>
            </a:extLst>
          </p:cNvPr>
          <p:cNvSpPr/>
          <p:nvPr/>
        </p:nvSpPr>
        <p:spPr>
          <a:xfrm>
            <a:off x="5053895" y="1238151"/>
            <a:ext cx="1012536" cy="410400"/>
          </a:xfrm>
          <a:prstGeom prst="flowChart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tx1"/>
                </a:solidFill>
              </a:rPr>
              <a:t>i</a:t>
            </a:r>
            <a:r>
              <a:rPr lang="en-US" altLang="zh-CN" sz="1400" dirty="0">
                <a:solidFill>
                  <a:schemeClr val="tx1"/>
                </a:solidFill>
              </a:rPr>
              <a:t> = 0</a:t>
            </a:r>
            <a:endParaRPr lang="zh-CN" altLang="en-US" sz="1400" dirty="0">
              <a:solidFill>
                <a:schemeClr val="tx1"/>
              </a:solidFill>
            </a:endParaRPr>
          </a:p>
        </p:txBody>
      </p:sp>
      <p:sp>
        <p:nvSpPr>
          <p:cNvPr id="9" name="流程图: 过程 8">
            <a:extLst>
              <a:ext uri="{FF2B5EF4-FFF2-40B4-BE49-F238E27FC236}">
                <a16:creationId xmlns:a16="http://schemas.microsoft.com/office/drawing/2014/main" id="{00CC0522-793A-7200-9411-167835781A5E}"/>
              </a:ext>
            </a:extLst>
          </p:cNvPr>
          <p:cNvSpPr/>
          <p:nvPr/>
        </p:nvSpPr>
        <p:spPr>
          <a:xfrm>
            <a:off x="7044246" y="4823218"/>
            <a:ext cx="1012536" cy="410400"/>
          </a:xfrm>
          <a:prstGeom prst="flowChart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sum</a:t>
            </a:r>
            <a:endParaRPr lang="zh-CN" altLang="en-US" sz="1400" dirty="0">
              <a:solidFill>
                <a:schemeClr val="tx1"/>
              </a:solidFill>
            </a:endParaRPr>
          </a:p>
        </p:txBody>
      </p:sp>
      <p:sp>
        <p:nvSpPr>
          <p:cNvPr id="10" name="流程图: 决策 9">
            <a:extLst>
              <a:ext uri="{FF2B5EF4-FFF2-40B4-BE49-F238E27FC236}">
                <a16:creationId xmlns:a16="http://schemas.microsoft.com/office/drawing/2014/main" id="{1AA6E338-9E64-470E-A09E-E785910138F6}"/>
              </a:ext>
            </a:extLst>
          </p:cNvPr>
          <p:cNvSpPr/>
          <p:nvPr/>
        </p:nvSpPr>
        <p:spPr>
          <a:xfrm>
            <a:off x="4840163" y="2729635"/>
            <a:ext cx="1440000" cy="809625"/>
          </a:xfrm>
          <a:prstGeom prst="flowChartDecis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US" altLang="zh-CN" sz="1600" dirty="0">
                <a:solidFill>
                  <a:schemeClr val="tx1"/>
                </a:solidFill>
              </a:rPr>
              <a:t>i &lt;= 10</a:t>
            </a:r>
            <a:endParaRPr lang="zh-CN" altLang="en-US" sz="1600" dirty="0">
              <a:solidFill>
                <a:schemeClr val="tx1"/>
              </a:solidFill>
            </a:endParaRPr>
          </a:p>
        </p:txBody>
      </p:sp>
      <p:sp>
        <p:nvSpPr>
          <p:cNvPr id="11" name="流程图: 过程 10">
            <a:extLst>
              <a:ext uri="{FF2B5EF4-FFF2-40B4-BE49-F238E27FC236}">
                <a16:creationId xmlns:a16="http://schemas.microsoft.com/office/drawing/2014/main" id="{950C114F-0523-9735-E25D-D7655A2B9BDE}"/>
              </a:ext>
            </a:extLst>
          </p:cNvPr>
          <p:cNvSpPr/>
          <p:nvPr/>
        </p:nvSpPr>
        <p:spPr>
          <a:xfrm>
            <a:off x="5053895" y="3990872"/>
            <a:ext cx="1012536" cy="410400"/>
          </a:xfrm>
          <a:prstGeom prst="flowChart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tx1"/>
                </a:solidFill>
              </a:rPr>
              <a:t>i</a:t>
            </a:r>
            <a:r>
              <a:rPr lang="en-US" altLang="zh-CN" sz="1400" dirty="0">
                <a:solidFill>
                  <a:schemeClr val="tx1"/>
                </a:solidFill>
              </a:rPr>
              <a:t> </a:t>
            </a:r>
            <a:r>
              <a:rPr lang="en-US" altLang="zh-CN" sz="1400">
                <a:solidFill>
                  <a:schemeClr val="tx1"/>
                </a:solidFill>
              </a:rPr>
              <a:t>= i</a:t>
            </a:r>
            <a:r>
              <a:rPr lang="en-US" altLang="zh-CN" sz="1400" dirty="0">
                <a:solidFill>
                  <a:schemeClr val="tx1"/>
                </a:solidFill>
              </a:rPr>
              <a:t> + 1</a:t>
            </a:r>
            <a:endParaRPr lang="zh-CN" altLang="en-US" sz="1400" dirty="0">
              <a:solidFill>
                <a:schemeClr val="tx1"/>
              </a:solidFill>
            </a:endParaRPr>
          </a:p>
        </p:txBody>
      </p:sp>
      <p:cxnSp>
        <p:nvCxnSpPr>
          <p:cNvPr id="13" name="直接箭头连接符 12">
            <a:extLst>
              <a:ext uri="{FF2B5EF4-FFF2-40B4-BE49-F238E27FC236}">
                <a16:creationId xmlns:a16="http://schemas.microsoft.com/office/drawing/2014/main" id="{BD0C0AA9-DDE9-7F3A-BB96-4098BD4E2486}"/>
              </a:ext>
            </a:extLst>
          </p:cNvPr>
          <p:cNvCxnSpPr>
            <a:stCxn id="10" idx="2"/>
            <a:endCxn id="11" idx="0"/>
          </p:cNvCxnSpPr>
          <p:nvPr/>
        </p:nvCxnSpPr>
        <p:spPr>
          <a:xfrm>
            <a:off x="5560163" y="3539260"/>
            <a:ext cx="0" cy="4516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62DC2002-8F6A-2AD8-2ED1-87B2151A3C66}"/>
              </a:ext>
            </a:extLst>
          </p:cNvPr>
          <p:cNvSpPr txBox="1"/>
          <p:nvPr/>
        </p:nvSpPr>
        <p:spPr>
          <a:xfrm>
            <a:off x="5723833" y="3556083"/>
            <a:ext cx="314510" cy="338554"/>
          </a:xfrm>
          <a:prstGeom prst="rect">
            <a:avLst/>
          </a:prstGeom>
          <a:noFill/>
          <a:ln>
            <a:noFill/>
          </a:ln>
        </p:spPr>
        <p:txBody>
          <a:bodyPr wrap="none" rtlCol="0">
            <a:spAutoFit/>
          </a:bodyPr>
          <a:lstStyle/>
          <a:p>
            <a:pPr algn="l"/>
            <a:r>
              <a:rPr lang="en-US" altLang="zh-CN" sz="1600" dirty="0"/>
              <a:t>Y</a:t>
            </a:r>
            <a:endParaRPr lang="zh-CN" altLang="en-US" sz="1600" dirty="0"/>
          </a:p>
        </p:txBody>
      </p:sp>
      <p:cxnSp>
        <p:nvCxnSpPr>
          <p:cNvPr id="16" name="连接符: 肘形 15">
            <a:extLst>
              <a:ext uri="{FF2B5EF4-FFF2-40B4-BE49-F238E27FC236}">
                <a16:creationId xmlns:a16="http://schemas.microsoft.com/office/drawing/2014/main" id="{E5576F53-3BF6-4EFF-00C2-86EFB6B7E3B8}"/>
              </a:ext>
            </a:extLst>
          </p:cNvPr>
          <p:cNvCxnSpPr>
            <a:cxnSpLocks/>
            <a:stCxn id="10" idx="3"/>
            <a:endCxn id="9" idx="0"/>
          </p:cNvCxnSpPr>
          <p:nvPr/>
        </p:nvCxnSpPr>
        <p:spPr>
          <a:xfrm>
            <a:off x="6280163" y="3134448"/>
            <a:ext cx="1270351" cy="1688770"/>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C2694606-FA32-9FE8-146F-E6E2128DA4B2}"/>
              </a:ext>
            </a:extLst>
          </p:cNvPr>
          <p:cNvSpPr txBox="1"/>
          <p:nvPr/>
        </p:nvSpPr>
        <p:spPr>
          <a:xfrm>
            <a:off x="6405818" y="2762765"/>
            <a:ext cx="351378" cy="338554"/>
          </a:xfrm>
          <a:prstGeom prst="rect">
            <a:avLst/>
          </a:prstGeom>
          <a:noFill/>
          <a:ln>
            <a:noFill/>
          </a:ln>
        </p:spPr>
        <p:txBody>
          <a:bodyPr wrap="none" rtlCol="0">
            <a:spAutoFit/>
          </a:bodyPr>
          <a:lstStyle/>
          <a:p>
            <a:pPr algn="l"/>
            <a:r>
              <a:rPr lang="en-US" altLang="zh-CN" sz="1600" dirty="0"/>
              <a:t>N</a:t>
            </a:r>
            <a:endParaRPr lang="zh-CN" altLang="en-US" sz="1600" dirty="0"/>
          </a:p>
        </p:txBody>
      </p:sp>
      <p:sp>
        <p:nvSpPr>
          <p:cNvPr id="19" name="流程图: 过程 18">
            <a:extLst>
              <a:ext uri="{FF2B5EF4-FFF2-40B4-BE49-F238E27FC236}">
                <a16:creationId xmlns:a16="http://schemas.microsoft.com/office/drawing/2014/main" id="{1DC38DA3-A190-13B1-9725-42A915E00D2A}"/>
              </a:ext>
            </a:extLst>
          </p:cNvPr>
          <p:cNvSpPr/>
          <p:nvPr/>
        </p:nvSpPr>
        <p:spPr>
          <a:xfrm>
            <a:off x="4840163" y="4674473"/>
            <a:ext cx="1440000" cy="410400"/>
          </a:xfrm>
          <a:prstGeom prst="flowChart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sum = sum + </a:t>
            </a:r>
            <a:r>
              <a:rPr lang="en-US" altLang="zh-CN" sz="1400" dirty="0" err="1">
                <a:solidFill>
                  <a:schemeClr val="tx1"/>
                </a:solidFill>
              </a:rPr>
              <a:t>i</a:t>
            </a:r>
            <a:endParaRPr lang="zh-CN" altLang="en-US" sz="1400" dirty="0">
              <a:solidFill>
                <a:schemeClr val="tx1"/>
              </a:solidFill>
            </a:endParaRPr>
          </a:p>
        </p:txBody>
      </p:sp>
      <p:sp>
        <p:nvSpPr>
          <p:cNvPr id="20" name="流程图: 过程 19">
            <a:extLst>
              <a:ext uri="{FF2B5EF4-FFF2-40B4-BE49-F238E27FC236}">
                <a16:creationId xmlns:a16="http://schemas.microsoft.com/office/drawing/2014/main" id="{5B9AEBBA-2475-620C-A28D-728408C3A2A9}"/>
              </a:ext>
            </a:extLst>
          </p:cNvPr>
          <p:cNvSpPr/>
          <p:nvPr/>
        </p:nvSpPr>
        <p:spPr>
          <a:xfrm>
            <a:off x="5053895" y="1878706"/>
            <a:ext cx="1012536" cy="410400"/>
          </a:xfrm>
          <a:prstGeom prst="flowChart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sum = 0</a:t>
            </a:r>
            <a:endParaRPr lang="zh-CN" altLang="en-US" sz="1400" dirty="0">
              <a:solidFill>
                <a:schemeClr val="tx1"/>
              </a:solidFill>
            </a:endParaRPr>
          </a:p>
        </p:txBody>
      </p:sp>
      <p:cxnSp>
        <p:nvCxnSpPr>
          <p:cNvPr id="22" name="直接箭头连接符 21">
            <a:extLst>
              <a:ext uri="{FF2B5EF4-FFF2-40B4-BE49-F238E27FC236}">
                <a16:creationId xmlns:a16="http://schemas.microsoft.com/office/drawing/2014/main" id="{3E5EB681-7A5F-76A3-4AD7-EEBAD78E8DBC}"/>
              </a:ext>
            </a:extLst>
          </p:cNvPr>
          <p:cNvCxnSpPr>
            <a:stCxn id="6" idx="2"/>
            <a:endCxn id="8" idx="0"/>
          </p:cNvCxnSpPr>
          <p:nvPr/>
        </p:nvCxnSpPr>
        <p:spPr>
          <a:xfrm>
            <a:off x="5560163" y="1007997"/>
            <a:ext cx="0" cy="2301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D05BA7C3-B8F6-E7DD-55E0-88F38BEE73AE}"/>
              </a:ext>
            </a:extLst>
          </p:cNvPr>
          <p:cNvCxnSpPr>
            <a:stCxn id="8" idx="2"/>
            <a:endCxn id="20" idx="0"/>
          </p:cNvCxnSpPr>
          <p:nvPr/>
        </p:nvCxnSpPr>
        <p:spPr>
          <a:xfrm>
            <a:off x="5560163" y="1648551"/>
            <a:ext cx="0" cy="2301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A4208476-2991-3FEC-E13D-BB9305943C63}"/>
              </a:ext>
            </a:extLst>
          </p:cNvPr>
          <p:cNvCxnSpPr>
            <a:stCxn id="20" idx="2"/>
            <a:endCxn id="10" idx="0"/>
          </p:cNvCxnSpPr>
          <p:nvPr/>
        </p:nvCxnSpPr>
        <p:spPr>
          <a:xfrm>
            <a:off x="5560163" y="2289106"/>
            <a:ext cx="0" cy="44052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D1BFDF7D-CA10-3ABE-212A-AF4852349851}"/>
              </a:ext>
            </a:extLst>
          </p:cNvPr>
          <p:cNvCxnSpPr>
            <a:stCxn id="11" idx="2"/>
            <a:endCxn id="19" idx="0"/>
          </p:cNvCxnSpPr>
          <p:nvPr/>
        </p:nvCxnSpPr>
        <p:spPr>
          <a:xfrm>
            <a:off x="5560163" y="4401272"/>
            <a:ext cx="0" cy="27320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连接符: 肘形 32">
            <a:extLst>
              <a:ext uri="{FF2B5EF4-FFF2-40B4-BE49-F238E27FC236}">
                <a16:creationId xmlns:a16="http://schemas.microsoft.com/office/drawing/2014/main" id="{A51BBFBC-8617-504A-8342-A639828B1F49}"/>
              </a:ext>
            </a:extLst>
          </p:cNvPr>
          <p:cNvCxnSpPr>
            <a:cxnSpLocks/>
            <a:stCxn id="19" idx="2"/>
          </p:cNvCxnSpPr>
          <p:nvPr/>
        </p:nvCxnSpPr>
        <p:spPr>
          <a:xfrm rot="5400000" flipH="1">
            <a:off x="3377357" y="2902067"/>
            <a:ext cx="2565612" cy="1800000"/>
          </a:xfrm>
          <a:prstGeom prst="bentConnector3">
            <a:avLst>
              <a:gd name="adj1" fmla="val -891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5ACDB81E-D09F-0A83-AF9F-2B4600B56BF6}"/>
              </a:ext>
            </a:extLst>
          </p:cNvPr>
          <p:cNvCxnSpPr>
            <a:cxnSpLocks/>
          </p:cNvCxnSpPr>
          <p:nvPr/>
        </p:nvCxnSpPr>
        <p:spPr>
          <a:xfrm>
            <a:off x="3760163" y="2510560"/>
            <a:ext cx="180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a:extLst>
              <a:ext uri="{FF2B5EF4-FFF2-40B4-BE49-F238E27FC236}">
                <a16:creationId xmlns:a16="http://schemas.microsoft.com/office/drawing/2014/main" id="{7D591BF8-B43A-B257-2B7C-E79FB6CF3CAB}"/>
              </a:ext>
            </a:extLst>
          </p:cNvPr>
          <p:cNvCxnSpPr>
            <a:stCxn id="9" idx="2"/>
            <a:endCxn id="7" idx="0"/>
          </p:cNvCxnSpPr>
          <p:nvPr/>
        </p:nvCxnSpPr>
        <p:spPr>
          <a:xfrm>
            <a:off x="7550514" y="5233618"/>
            <a:ext cx="0" cy="3700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0490590"/>
      </p:ext>
    </p:extLst>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844D4-4D21-0CAA-15C3-9614A197382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35C59B1-BC62-68BC-C489-F893B0DBC0B9}"/>
              </a:ext>
            </a:extLst>
          </p:cNvPr>
          <p:cNvSpPr>
            <a:spLocks noGrp="1"/>
          </p:cNvSpPr>
          <p:nvPr>
            <p:ph type="title"/>
          </p:nvPr>
        </p:nvSpPr>
        <p:spPr>
          <a:xfrm>
            <a:off x="792000" y="360000"/>
            <a:ext cx="6375921" cy="429413"/>
          </a:xfrm>
        </p:spPr>
        <p:txBody>
          <a:bodyPr/>
          <a:lstStyle/>
          <a:p>
            <a:r>
              <a:rPr lang="en-US" altLang="zh-CN" dirty="0"/>
              <a:t>4.2.5.2</a:t>
            </a:r>
            <a:r>
              <a:rPr lang="zh-CN" altLang="en-US" dirty="0"/>
              <a:t> 七大质量管理工具 </a:t>
            </a:r>
            <a:r>
              <a:rPr lang="en-US" altLang="zh-CN" dirty="0"/>
              <a:t>– </a:t>
            </a:r>
            <a:r>
              <a:rPr lang="zh-CN" altLang="en-US" dirty="0"/>
              <a:t>因果图</a:t>
            </a:r>
          </a:p>
        </p:txBody>
      </p:sp>
      <p:sp>
        <p:nvSpPr>
          <p:cNvPr id="3" name="内容占位符 2">
            <a:extLst>
              <a:ext uri="{FF2B5EF4-FFF2-40B4-BE49-F238E27FC236}">
                <a16:creationId xmlns:a16="http://schemas.microsoft.com/office/drawing/2014/main" id="{A7031DDB-1990-BFE7-2EFA-CF678B843731}"/>
              </a:ext>
            </a:extLst>
          </p:cNvPr>
          <p:cNvSpPr>
            <a:spLocks noGrp="1"/>
          </p:cNvSpPr>
          <p:nvPr>
            <p:ph idx="1"/>
          </p:nvPr>
        </p:nvSpPr>
        <p:spPr>
          <a:xfrm>
            <a:off x="696000" y="864000"/>
            <a:ext cx="10800000" cy="5400000"/>
          </a:xfrm>
        </p:spPr>
        <p:txBody>
          <a:bodyPr/>
          <a:lstStyle/>
          <a:p>
            <a:r>
              <a:rPr lang="zh-CN" altLang="en-US" dirty="0"/>
              <a:t>也叫石川图、特殊要因图</a:t>
            </a:r>
            <a:endParaRPr lang="en-US" altLang="zh-CN" dirty="0"/>
          </a:p>
          <a:p>
            <a:r>
              <a:rPr lang="zh-CN" altLang="en-US" dirty="0"/>
              <a:t>从鱼头开始，分支出人员、流程、设备、材料、环境、技术和管理等等主因</a:t>
            </a:r>
            <a:endParaRPr lang="en-US" altLang="zh-CN" dirty="0"/>
          </a:p>
          <a:p>
            <a:pPr lvl="1"/>
            <a:r>
              <a:rPr lang="en-US" altLang="zh-CN" dirty="0"/>
              <a:t>Primary cause</a:t>
            </a:r>
          </a:p>
          <a:p>
            <a:pPr lvl="1"/>
            <a:r>
              <a:rPr lang="zh-CN" altLang="en-US" dirty="0"/>
              <a:t>也称要因</a:t>
            </a:r>
            <a:endParaRPr lang="en-US" altLang="zh-CN" dirty="0"/>
          </a:p>
          <a:p>
            <a:pPr lvl="1"/>
            <a:r>
              <a:rPr lang="zh-CN" altLang="en-US" dirty="0"/>
              <a:t>使用中性词</a:t>
            </a:r>
            <a:endParaRPr lang="en-US" altLang="zh-CN" dirty="0"/>
          </a:p>
          <a:p>
            <a:r>
              <a:rPr lang="zh-CN" altLang="en-US" dirty="0"/>
              <a:t>进而再分出小因</a:t>
            </a:r>
            <a:endParaRPr lang="en-US" altLang="zh-CN" dirty="0"/>
          </a:p>
          <a:p>
            <a:pPr lvl="1"/>
            <a:r>
              <a:rPr lang="en-US" altLang="zh-CN" dirty="0"/>
              <a:t>secondary cause</a:t>
            </a:r>
          </a:p>
          <a:p>
            <a:pPr lvl="1"/>
            <a:r>
              <a:rPr lang="zh-CN" altLang="en-US" dirty="0"/>
              <a:t>也叫次因</a:t>
            </a:r>
          </a:p>
        </p:txBody>
      </p:sp>
      <p:sp>
        <p:nvSpPr>
          <p:cNvPr id="61" name="文本占位符 60">
            <a:extLst>
              <a:ext uri="{FF2B5EF4-FFF2-40B4-BE49-F238E27FC236}">
                <a16:creationId xmlns:a16="http://schemas.microsoft.com/office/drawing/2014/main" id="{6F40335C-8E1A-CAE1-B7BA-DC59A89C03D4}"/>
              </a:ext>
            </a:extLst>
          </p:cNvPr>
          <p:cNvSpPr>
            <a:spLocks noGrp="1"/>
          </p:cNvSpPr>
          <p:nvPr>
            <p:ph type="body" sz="quarter" idx="10"/>
          </p:nvPr>
        </p:nvSpPr>
        <p:spPr>
          <a:xfrm>
            <a:off x="7071919" y="448519"/>
            <a:ext cx="4424080" cy="338554"/>
          </a:xfrm>
        </p:spPr>
        <p:txBody>
          <a:bodyPr/>
          <a:lstStyle/>
          <a:p>
            <a:r>
              <a:rPr lang="en-US" altLang="zh-CN" dirty="0"/>
              <a:t>Fish-bone</a:t>
            </a:r>
            <a:endParaRPr lang="zh-CN" altLang="en-US" dirty="0"/>
          </a:p>
        </p:txBody>
      </p:sp>
    </p:spTree>
    <p:extLst>
      <p:ext uri="{BB962C8B-B14F-4D97-AF65-F5344CB8AC3E}">
        <p14:creationId xmlns:p14="http://schemas.microsoft.com/office/powerpoint/2010/main" val="2207222244"/>
      </p:ext>
    </p:extLst>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F4917-61B0-1543-B904-471EF1817277}"/>
            </a:ext>
          </a:extLst>
        </p:cNvPr>
        <p:cNvGrpSpPr/>
        <p:nvPr/>
      </p:nvGrpSpPr>
      <p:grpSpPr>
        <a:xfrm>
          <a:off x="0" y="0"/>
          <a:ext cx="0" cy="0"/>
          <a:chOff x="0" y="0"/>
          <a:chExt cx="0" cy="0"/>
        </a:xfrm>
      </p:grpSpPr>
      <p:sp>
        <p:nvSpPr>
          <p:cNvPr id="20" name="箭头: 五边形 19">
            <a:extLst>
              <a:ext uri="{FF2B5EF4-FFF2-40B4-BE49-F238E27FC236}">
                <a16:creationId xmlns:a16="http://schemas.microsoft.com/office/drawing/2014/main" id="{BE2DA5E8-32A2-C4C1-AA4D-0F0E05F045B9}"/>
              </a:ext>
            </a:extLst>
          </p:cNvPr>
          <p:cNvSpPr/>
          <p:nvPr/>
        </p:nvSpPr>
        <p:spPr>
          <a:xfrm>
            <a:off x="9867900" y="3169875"/>
            <a:ext cx="1800000" cy="720000"/>
          </a:xfrm>
          <a:prstGeom prst="homePlate">
            <a:avLst/>
          </a:prstGeom>
          <a:solidFill>
            <a:srgbClr val="E474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Problem</a:t>
            </a:r>
            <a:endParaRPr lang="zh-CN" altLang="en-US" sz="1600" dirty="0">
              <a:solidFill>
                <a:schemeClr val="tx1"/>
              </a:solidFill>
            </a:endParaRPr>
          </a:p>
        </p:txBody>
      </p:sp>
      <p:cxnSp>
        <p:nvCxnSpPr>
          <p:cNvPr id="22" name="直接箭头连接符 21">
            <a:extLst>
              <a:ext uri="{FF2B5EF4-FFF2-40B4-BE49-F238E27FC236}">
                <a16:creationId xmlns:a16="http://schemas.microsoft.com/office/drawing/2014/main" id="{D55FAF0C-0371-E9DB-F9E9-FE87DAAAC4DF}"/>
              </a:ext>
            </a:extLst>
          </p:cNvPr>
          <p:cNvCxnSpPr>
            <a:cxnSpLocks/>
          </p:cNvCxnSpPr>
          <p:nvPr/>
        </p:nvCxnSpPr>
        <p:spPr>
          <a:xfrm>
            <a:off x="855525" y="3529875"/>
            <a:ext cx="9012375" cy="0"/>
          </a:xfrm>
          <a:prstGeom prst="straightConnector1">
            <a:avLst/>
          </a:prstGeom>
          <a:ln w="19050">
            <a:solidFill>
              <a:srgbClr val="E4745C"/>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D2265C73-1B17-7257-01F6-2A74B1CEC2CB}"/>
              </a:ext>
            </a:extLst>
          </p:cNvPr>
          <p:cNvCxnSpPr>
            <a:cxnSpLocks/>
          </p:cNvCxnSpPr>
          <p:nvPr/>
        </p:nvCxnSpPr>
        <p:spPr>
          <a:xfrm rot="3600000">
            <a:off x="7508162" y="2279520"/>
            <a:ext cx="2880000" cy="0"/>
          </a:xfrm>
          <a:prstGeom prst="straightConnector1">
            <a:avLst/>
          </a:prstGeom>
          <a:ln w="28575">
            <a:solidFill>
              <a:srgbClr val="FDBCA8"/>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A9BA7DC4-B83A-E6AA-2EA0-282FAB7478DE}"/>
              </a:ext>
            </a:extLst>
          </p:cNvPr>
          <p:cNvCxnSpPr>
            <a:cxnSpLocks/>
          </p:cNvCxnSpPr>
          <p:nvPr/>
        </p:nvCxnSpPr>
        <p:spPr>
          <a:xfrm rot="3600000">
            <a:off x="4202987" y="2279520"/>
            <a:ext cx="2880000" cy="0"/>
          </a:xfrm>
          <a:prstGeom prst="straightConnector1">
            <a:avLst/>
          </a:prstGeom>
          <a:ln w="28575">
            <a:solidFill>
              <a:srgbClr val="FDBCA8"/>
            </a:solidFill>
            <a:tailEnd type="triangle"/>
          </a:ln>
        </p:spPr>
        <p:style>
          <a:lnRef idx="1">
            <a:schemeClr val="accent1"/>
          </a:lnRef>
          <a:fillRef idx="0">
            <a:schemeClr val="accent1"/>
          </a:fillRef>
          <a:effectRef idx="0">
            <a:schemeClr val="accent1"/>
          </a:effectRef>
          <a:fontRef idx="minor">
            <a:schemeClr val="tx1"/>
          </a:fontRef>
        </p:style>
      </p:cxnSp>
      <p:sp>
        <p:nvSpPr>
          <p:cNvPr id="27" name="文本框 26">
            <a:extLst>
              <a:ext uri="{FF2B5EF4-FFF2-40B4-BE49-F238E27FC236}">
                <a16:creationId xmlns:a16="http://schemas.microsoft.com/office/drawing/2014/main" id="{A7752E71-A96F-E1EC-6F3F-8259BB6A13C0}"/>
              </a:ext>
            </a:extLst>
          </p:cNvPr>
          <p:cNvSpPr txBox="1"/>
          <p:nvPr/>
        </p:nvSpPr>
        <p:spPr>
          <a:xfrm>
            <a:off x="7167212" y="834753"/>
            <a:ext cx="1080000" cy="432000"/>
          </a:xfrm>
          <a:prstGeom prst="homePlate">
            <a:avLst>
              <a:gd name="adj" fmla="val 27951"/>
            </a:avLst>
          </a:prstGeom>
          <a:solidFill>
            <a:srgbClr val="FDBCA8"/>
          </a:solidFill>
          <a:ln>
            <a:noFill/>
          </a:ln>
        </p:spPr>
        <p:txBody>
          <a:bodyPr wrap="none" rtlCol="0" anchor="ctr" anchorCtr="0">
            <a:noAutofit/>
          </a:bodyPr>
          <a:lstStyle/>
          <a:p>
            <a:pPr algn="ctr"/>
            <a:r>
              <a:rPr lang="en-US" altLang="zh-CN" sz="1600" dirty="0"/>
              <a:t>People</a:t>
            </a:r>
            <a:endParaRPr lang="zh-CN" altLang="en-US" sz="1600" dirty="0"/>
          </a:p>
        </p:txBody>
      </p:sp>
      <p:cxnSp>
        <p:nvCxnSpPr>
          <p:cNvPr id="29" name="直接箭头连接符 28">
            <a:extLst>
              <a:ext uri="{FF2B5EF4-FFF2-40B4-BE49-F238E27FC236}">
                <a16:creationId xmlns:a16="http://schemas.microsoft.com/office/drawing/2014/main" id="{5E703EE9-5DDC-850F-E5AC-AEDA339AF645}"/>
              </a:ext>
            </a:extLst>
          </p:cNvPr>
          <p:cNvCxnSpPr>
            <a:cxnSpLocks/>
          </p:cNvCxnSpPr>
          <p:nvPr/>
        </p:nvCxnSpPr>
        <p:spPr>
          <a:xfrm rot="3600000">
            <a:off x="1511798" y="2279520"/>
            <a:ext cx="2880000" cy="0"/>
          </a:xfrm>
          <a:prstGeom prst="straightConnector1">
            <a:avLst/>
          </a:prstGeom>
          <a:ln w="28575">
            <a:solidFill>
              <a:srgbClr val="FDBCA8"/>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A192823A-AD16-E177-E015-0F3F506D0698}"/>
              </a:ext>
            </a:extLst>
          </p:cNvPr>
          <p:cNvCxnSpPr>
            <a:cxnSpLocks/>
          </p:cNvCxnSpPr>
          <p:nvPr/>
        </p:nvCxnSpPr>
        <p:spPr>
          <a:xfrm rot="-3600000">
            <a:off x="6552959" y="4153413"/>
            <a:ext cx="1440000" cy="0"/>
          </a:xfrm>
          <a:prstGeom prst="straightConnector1">
            <a:avLst/>
          </a:prstGeom>
          <a:ln w="28575">
            <a:solidFill>
              <a:srgbClr val="FDBCA8"/>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00AD9297-8B28-00AD-9B6C-EF5447211CF9}"/>
              </a:ext>
            </a:extLst>
          </p:cNvPr>
          <p:cNvCxnSpPr>
            <a:cxnSpLocks/>
          </p:cNvCxnSpPr>
          <p:nvPr/>
        </p:nvCxnSpPr>
        <p:spPr>
          <a:xfrm rot="-3600000">
            <a:off x="3861770" y="4153413"/>
            <a:ext cx="1440000" cy="0"/>
          </a:xfrm>
          <a:prstGeom prst="straightConnector1">
            <a:avLst/>
          </a:prstGeom>
          <a:ln w="28575">
            <a:solidFill>
              <a:srgbClr val="FDBCA8"/>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AE07F2A1-AB01-2334-3C8F-4B7972939C85}"/>
              </a:ext>
            </a:extLst>
          </p:cNvPr>
          <p:cNvCxnSpPr>
            <a:cxnSpLocks/>
          </p:cNvCxnSpPr>
          <p:nvPr/>
        </p:nvCxnSpPr>
        <p:spPr>
          <a:xfrm>
            <a:off x="8047369" y="2295914"/>
            <a:ext cx="864000" cy="0"/>
          </a:xfrm>
          <a:prstGeom prst="straightConnector1">
            <a:avLst/>
          </a:prstGeom>
          <a:ln>
            <a:solidFill>
              <a:srgbClr val="FDBCA8"/>
            </a:solidFill>
            <a:tailEnd type="triangle"/>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701C79F5-C05F-857A-6F8B-AE578199D168}"/>
              </a:ext>
            </a:extLst>
          </p:cNvPr>
          <p:cNvSpPr txBox="1"/>
          <p:nvPr/>
        </p:nvSpPr>
        <p:spPr>
          <a:xfrm>
            <a:off x="7121012" y="2112183"/>
            <a:ext cx="931666" cy="338554"/>
          </a:xfrm>
          <a:prstGeom prst="rect">
            <a:avLst/>
          </a:prstGeom>
          <a:noFill/>
        </p:spPr>
        <p:txBody>
          <a:bodyPr wrap="none" rtlCol="0">
            <a:spAutoFit/>
          </a:bodyPr>
          <a:lstStyle/>
          <a:p>
            <a:pPr algn="r"/>
            <a:r>
              <a:rPr lang="en-US" altLang="zh-CN" sz="1600" dirty="0"/>
              <a:t>option1</a:t>
            </a:r>
            <a:endParaRPr lang="zh-CN" altLang="en-US" sz="1600" dirty="0"/>
          </a:p>
        </p:txBody>
      </p:sp>
      <p:cxnSp>
        <p:nvCxnSpPr>
          <p:cNvPr id="38" name="直接箭头连接符 37">
            <a:extLst>
              <a:ext uri="{FF2B5EF4-FFF2-40B4-BE49-F238E27FC236}">
                <a16:creationId xmlns:a16="http://schemas.microsoft.com/office/drawing/2014/main" id="{F2AD4A56-684B-620C-46EF-956457FD96A3}"/>
              </a:ext>
            </a:extLst>
          </p:cNvPr>
          <p:cNvCxnSpPr>
            <a:cxnSpLocks/>
          </p:cNvCxnSpPr>
          <p:nvPr/>
        </p:nvCxnSpPr>
        <p:spPr>
          <a:xfrm>
            <a:off x="8587080" y="3291306"/>
            <a:ext cx="864000" cy="0"/>
          </a:xfrm>
          <a:prstGeom prst="straightConnector1">
            <a:avLst/>
          </a:prstGeom>
          <a:ln>
            <a:solidFill>
              <a:srgbClr val="FDBCA8"/>
            </a:solidFill>
            <a:tailEnd type="triangle"/>
          </a:ln>
        </p:spPr>
        <p:style>
          <a:lnRef idx="1">
            <a:schemeClr val="accent1"/>
          </a:lnRef>
          <a:fillRef idx="0">
            <a:schemeClr val="accent1"/>
          </a:fillRef>
          <a:effectRef idx="0">
            <a:schemeClr val="accent1"/>
          </a:effectRef>
          <a:fontRef idx="minor">
            <a:schemeClr val="tx1"/>
          </a:fontRef>
        </p:style>
      </p:cxnSp>
      <p:sp>
        <p:nvSpPr>
          <p:cNvPr id="39" name="文本框 38">
            <a:extLst>
              <a:ext uri="{FF2B5EF4-FFF2-40B4-BE49-F238E27FC236}">
                <a16:creationId xmlns:a16="http://schemas.microsoft.com/office/drawing/2014/main" id="{5A8E67A3-3520-AD09-AD19-73BF9EDEE2AD}"/>
              </a:ext>
            </a:extLst>
          </p:cNvPr>
          <p:cNvSpPr txBox="1"/>
          <p:nvPr/>
        </p:nvSpPr>
        <p:spPr>
          <a:xfrm>
            <a:off x="7617444" y="3107575"/>
            <a:ext cx="974947" cy="338554"/>
          </a:xfrm>
          <a:prstGeom prst="rect">
            <a:avLst/>
          </a:prstGeom>
          <a:noFill/>
        </p:spPr>
        <p:txBody>
          <a:bodyPr wrap="none" rtlCol="0">
            <a:spAutoFit/>
          </a:bodyPr>
          <a:lstStyle/>
          <a:p>
            <a:pPr algn="r"/>
            <a:r>
              <a:rPr lang="en-US" altLang="zh-CN" sz="1600" dirty="0"/>
              <a:t>option2</a:t>
            </a:r>
            <a:endParaRPr lang="zh-CN" altLang="en-US" sz="1600" dirty="0"/>
          </a:p>
        </p:txBody>
      </p:sp>
      <p:cxnSp>
        <p:nvCxnSpPr>
          <p:cNvPr id="40" name="直接箭头连接符 39">
            <a:extLst>
              <a:ext uri="{FF2B5EF4-FFF2-40B4-BE49-F238E27FC236}">
                <a16:creationId xmlns:a16="http://schemas.microsoft.com/office/drawing/2014/main" id="{8E0454EC-CB4D-53CC-61ED-EBF8082D1A51}"/>
              </a:ext>
            </a:extLst>
          </p:cNvPr>
          <p:cNvCxnSpPr>
            <a:cxnSpLocks/>
          </p:cNvCxnSpPr>
          <p:nvPr/>
        </p:nvCxnSpPr>
        <p:spPr>
          <a:xfrm>
            <a:off x="4772967" y="2295914"/>
            <a:ext cx="864000" cy="0"/>
          </a:xfrm>
          <a:prstGeom prst="straightConnector1">
            <a:avLst/>
          </a:prstGeom>
          <a:ln>
            <a:solidFill>
              <a:srgbClr val="FDBCA8"/>
            </a:solidFill>
            <a:tailEnd type="triangle"/>
          </a:ln>
        </p:spPr>
        <p:style>
          <a:lnRef idx="1">
            <a:schemeClr val="accent1"/>
          </a:lnRef>
          <a:fillRef idx="0">
            <a:schemeClr val="accent1"/>
          </a:fillRef>
          <a:effectRef idx="0">
            <a:schemeClr val="accent1"/>
          </a:effectRef>
          <a:fontRef idx="minor">
            <a:schemeClr val="tx1"/>
          </a:fontRef>
        </p:style>
      </p:cxnSp>
      <p:sp>
        <p:nvSpPr>
          <p:cNvPr id="41" name="文本框 40">
            <a:extLst>
              <a:ext uri="{FF2B5EF4-FFF2-40B4-BE49-F238E27FC236}">
                <a16:creationId xmlns:a16="http://schemas.microsoft.com/office/drawing/2014/main" id="{AD7129B7-3258-A6D4-2246-F7C3BC16012E}"/>
              </a:ext>
            </a:extLst>
          </p:cNvPr>
          <p:cNvSpPr txBox="1"/>
          <p:nvPr/>
        </p:nvSpPr>
        <p:spPr>
          <a:xfrm>
            <a:off x="3804932" y="2112183"/>
            <a:ext cx="973344" cy="338554"/>
          </a:xfrm>
          <a:prstGeom prst="rect">
            <a:avLst/>
          </a:prstGeom>
          <a:noFill/>
        </p:spPr>
        <p:txBody>
          <a:bodyPr wrap="none" rtlCol="0">
            <a:spAutoFit/>
          </a:bodyPr>
          <a:lstStyle/>
          <a:p>
            <a:pPr algn="r"/>
            <a:r>
              <a:rPr lang="en-US" altLang="zh-CN" sz="1600" dirty="0"/>
              <a:t>option3</a:t>
            </a:r>
            <a:endParaRPr lang="zh-CN" altLang="en-US" sz="1600" dirty="0"/>
          </a:p>
        </p:txBody>
      </p:sp>
      <p:cxnSp>
        <p:nvCxnSpPr>
          <p:cNvPr id="42" name="直接箭头连接符 41">
            <a:extLst>
              <a:ext uri="{FF2B5EF4-FFF2-40B4-BE49-F238E27FC236}">
                <a16:creationId xmlns:a16="http://schemas.microsoft.com/office/drawing/2014/main" id="{0A5C1840-194E-7C82-C8F2-FCF0B2E15308}"/>
              </a:ext>
            </a:extLst>
          </p:cNvPr>
          <p:cNvCxnSpPr>
            <a:cxnSpLocks/>
          </p:cNvCxnSpPr>
          <p:nvPr/>
        </p:nvCxnSpPr>
        <p:spPr>
          <a:xfrm>
            <a:off x="5312678" y="3291306"/>
            <a:ext cx="864000" cy="0"/>
          </a:xfrm>
          <a:prstGeom prst="straightConnector1">
            <a:avLst/>
          </a:prstGeom>
          <a:ln>
            <a:solidFill>
              <a:srgbClr val="FDBCA8"/>
            </a:solidFill>
            <a:tailEnd type="triangle"/>
          </a:ln>
        </p:spPr>
        <p:style>
          <a:lnRef idx="1">
            <a:schemeClr val="accent1"/>
          </a:lnRef>
          <a:fillRef idx="0">
            <a:schemeClr val="accent1"/>
          </a:fillRef>
          <a:effectRef idx="0">
            <a:schemeClr val="accent1"/>
          </a:effectRef>
          <a:fontRef idx="minor">
            <a:schemeClr val="tx1"/>
          </a:fontRef>
        </p:style>
      </p:cxnSp>
      <p:sp>
        <p:nvSpPr>
          <p:cNvPr id="43" name="文本框 42">
            <a:extLst>
              <a:ext uri="{FF2B5EF4-FFF2-40B4-BE49-F238E27FC236}">
                <a16:creationId xmlns:a16="http://schemas.microsoft.com/office/drawing/2014/main" id="{4C0B1DBF-3A37-5FB9-1975-2E990F7336CA}"/>
              </a:ext>
            </a:extLst>
          </p:cNvPr>
          <p:cNvSpPr txBox="1"/>
          <p:nvPr/>
        </p:nvSpPr>
        <p:spPr>
          <a:xfrm>
            <a:off x="4323806" y="3107575"/>
            <a:ext cx="994183" cy="338554"/>
          </a:xfrm>
          <a:prstGeom prst="rect">
            <a:avLst/>
          </a:prstGeom>
          <a:noFill/>
        </p:spPr>
        <p:txBody>
          <a:bodyPr wrap="none" rtlCol="0">
            <a:spAutoFit/>
          </a:bodyPr>
          <a:lstStyle/>
          <a:p>
            <a:pPr algn="r"/>
            <a:r>
              <a:rPr lang="en-US" altLang="zh-CN" sz="1600" dirty="0"/>
              <a:t>option4</a:t>
            </a:r>
            <a:endParaRPr lang="zh-CN" altLang="en-US" sz="1600" dirty="0"/>
          </a:p>
        </p:txBody>
      </p:sp>
      <p:cxnSp>
        <p:nvCxnSpPr>
          <p:cNvPr id="44" name="直接箭头连接符 43">
            <a:extLst>
              <a:ext uri="{FF2B5EF4-FFF2-40B4-BE49-F238E27FC236}">
                <a16:creationId xmlns:a16="http://schemas.microsoft.com/office/drawing/2014/main" id="{5B8FABF4-A35D-6F07-D8B9-C5E8469BC726}"/>
              </a:ext>
            </a:extLst>
          </p:cNvPr>
          <p:cNvCxnSpPr>
            <a:cxnSpLocks/>
          </p:cNvCxnSpPr>
          <p:nvPr/>
        </p:nvCxnSpPr>
        <p:spPr>
          <a:xfrm>
            <a:off x="2026609" y="2295914"/>
            <a:ext cx="864000" cy="0"/>
          </a:xfrm>
          <a:prstGeom prst="straightConnector1">
            <a:avLst/>
          </a:prstGeom>
          <a:ln>
            <a:solidFill>
              <a:srgbClr val="FDBCA8"/>
            </a:solidFill>
            <a:tailEnd type="triangle"/>
          </a:ln>
        </p:spPr>
        <p:style>
          <a:lnRef idx="1">
            <a:schemeClr val="accent1"/>
          </a:lnRef>
          <a:fillRef idx="0">
            <a:schemeClr val="accent1"/>
          </a:fillRef>
          <a:effectRef idx="0">
            <a:schemeClr val="accent1"/>
          </a:effectRef>
          <a:fontRef idx="minor">
            <a:schemeClr val="tx1"/>
          </a:fontRef>
        </p:style>
      </p:cxnSp>
      <p:sp>
        <p:nvSpPr>
          <p:cNvPr id="45" name="文本框 44">
            <a:extLst>
              <a:ext uri="{FF2B5EF4-FFF2-40B4-BE49-F238E27FC236}">
                <a16:creationId xmlns:a16="http://schemas.microsoft.com/office/drawing/2014/main" id="{771B2F76-D16E-D018-21BA-4F79F5D1ECEC}"/>
              </a:ext>
            </a:extLst>
          </p:cNvPr>
          <p:cNvSpPr txBox="1"/>
          <p:nvPr/>
        </p:nvSpPr>
        <p:spPr>
          <a:xfrm>
            <a:off x="1058574" y="2112183"/>
            <a:ext cx="973344" cy="338554"/>
          </a:xfrm>
          <a:prstGeom prst="rect">
            <a:avLst/>
          </a:prstGeom>
          <a:noFill/>
        </p:spPr>
        <p:txBody>
          <a:bodyPr wrap="none" rtlCol="0">
            <a:spAutoFit/>
          </a:bodyPr>
          <a:lstStyle/>
          <a:p>
            <a:pPr algn="r"/>
            <a:r>
              <a:rPr lang="en-US" altLang="zh-CN" sz="1600" dirty="0"/>
              <a:t>option5</a:t>
            </a:r>
            <a:endParaRPr lang="zh-CN" altLang="en-US" sz="1600" dirty="0"/>
          </a:p>
        </p:txBody>
      </p:sp>
      <p:cxnSp>
        <p:nvCxnSpPr>
          <p:cNvPr id="46" name="直接箭头连接符 45">
            <a:extLst>
              <a:ext uri="{FF2B5EF4-FFF2-40B4-BE49-F238E27FC236}">
                <a16:creationId xmlns:a16="http://schemas.microsoft.com/office/drawing/2014/main" id="{FF57218A-8B0D-7D59-E771-227DB8DDF144}"/>
              </a:ext>
            </a:extLst>
          </p:cNvPr>
          <p:cNvCxnSpPr>
            <a:cxnSpLocks/>
          </p:cNvCxnSpPr>
          <p:nvPr/>
        </p:nvCxnSpPr>
        <p:spPr>
          <a:xfrm>
            <a:off x="2566320" y="3291306"/>
            <a:ext cx="864000" cy="0"/>
          </a:xfrm>
          <a:prstGeom prst="straightConnector1">
            <a:avLst/>
          </a:prstGeom>
          <a:ln>
            <a:solidFill>
              <a:srgbClr val="FDBCA8"/>
            </a:solidFill>
            <a:tailEnd type="triangle"/>
          </a:ln>
        </p:spPr>
        <p:style>
          <a:lnRef idx="1">
            <a:schemeClr val="accent1"/>
          </a:lnRef>
          <a:fillRef idx="0">
            <a:schemeClr val="accent1"/>
          </a:fillRef>
          <a:effectRef idx="0">
            <a:schemeClr val="accent1"/>
          </a:effectRef>
          <a:fontRef idx="minor">
            <a:schemeClr val="tx1"/>
          </a:fontRef>
        </p:style>
      </p:cxnSp>
      <p:sp>
        <p:nvSpPr>
          <p:cNvPr id="47" name="文本框 46">
            <a:extLst>
              <a:ext uri="{FF2B5EF4-FFF2-40B4-BE49-F238E27FC236}">
                <a16:creationId xmlns:a16="http://schemas.microsoft.com/office/drawing/2014/main" id="{E000F4E9-FC72-086E-35D5-F4891AB1C27A}"/>
              </a:ext>
            </a:extLst>
          </p:cNvPr>
          <p:cNvSpPr txBox="1"/>
          <p:nvPr/>
        </p:nvSpPr>
        <p:spPr>
          <a:xfrm>
            <a:off x="1598287" y="3107575"/>
            <a:ext cx="973344" cy="338554"/>
          </a:xfrm>
          <a:prstGeom prst="rect">
            <a:avLst/>
          </a:prstGeom>
          <a:noFill/>
        </p:spPr>
        <p:txBody>
          <a:bodyPr wrap="none" rtlCol="0">
            <a:spAutoFit/>
          </a:bodyPr>
          <a:lstStyle/>
          <a:p>
            <a:pPr algn="r"/>
            <a:r>
              <a:rPr lang="en-US" altLang="zh-CN" sz="1600" dirty="0"/>
              <a:t>option5</a:t>
            </a:r>
            <a:endParaRPr lang="zh-CN" altLang="en-US" sz="1600" dirty="0"/>
          </a:p>
        </p:txBody>
      </p:sp>
      <p:cxnSp>
        <p:nvCxnSpPr>
          <p:cNvPr id="51" name="直接箭头连接符 50">
            <a:extLst>
              <a:ext uri="{FF2B5EF4-FFF2-40B4-BE49-F238E27FC236}">
                <a16:creationId xmlns:a16="http://schemas.microsoft.com/office/drawing/2014/main" id="{9CD39B91-6B77-FC59-D5A8-1C0E206FFDCA}"/>
              </a:ext>
            </a:extLst>
          </p:cNvPr>
          <p:cNvCxnSpPr>
            <a:cxnSpLocks/>
          </p:cNvCxnSpPr>
          <p:nvPr/>
        </p:nvCxnSpPr>
        <p:spPr>
          <a:xfrm>
            <a:off x="6434408" y="3821613"/>
            <a:ext cx="864000" cy="0"/>
          </a:xfrm>
          <a:prstGeom prst="straightConnector1">
            <a:avLst/>
          </a:prstGeom>
          <a:ln>
            <a:solidFill>
              <a:srgbClr val="FDBCA8"/>
            </a:solidFill>
            <a:tailEnd type="triangle"/>
          </a:ln>
        </p:spPr>
        <p:style>
          <a:lnRef idx="1">
            <a:schemeClr val="accent1"/>
          </a:lnRef>
          <a:fillRef idx="0">
            <a:schemeClr val="accent1"/>
          </a:fillRef>
          <a:effectRef idx="0">
            <a:schemeClr val="accent1"/>
          </a:effectRef>
          <a:fontRef idx="minor">
            <a:schemeClr val="tx1"/>
          </a:fontRef>
        </p:style>
      </p:cxnSp>
      <p:sp>
        <p:nvSpPr>
          <p:cNvPr id="52" name="文本框 51">
            <a:extLst>
              <a:ext uri="{FF2B5EF4-FFF2-40B4-BE49-F238E27FC236}">
                <a16:creationId xmlns:a16="http://schemas.microsoft.com/office/drawing/2014/main" id="{20379DEA-8FA6-2A09-D1A9-5C8080C73414}"/>
              </a:ext>
            </a:extLst>
          </p:cNvPr>
          <p:cNvSpPr txBox="1"/>
          <p:nvPr/>
        </p:nvSpPr>
        <p:spPr>
          <a:xfrm>
            <a:off x="5441523" y="3641612"/>
            <a:ext cx="994183" cy="338554"/>
          </a:xfrm>
          <a:prstGeom prst="rect">
            <a:avLst/>
          </a:prstGeom>
          <a:noFill/>
        </p:spPr>
        <p:txBody>
          <a:bodyPr wrap="none" rtlCol="0">
            <a:spAutoFit/>
          </a:bodyPr>
          <a:lstStyle/>
          <a:p>
            <a:pPr algn="r"/>
            <a:r>
              <a:rPr lang="en-US" altLang="zh-CN" sz="1600" dirty="0"/>
              <a:t>option0</a:t>
            </a:r>
            <a:endParaRPr lang="zh-CN" altLang="en-US" sz="1600" dirty="0"/>
          </a:p>
        </p:txBody>
      </p:sp>
      <p:cxnSp>
        <p:nvCxnSpPr>
          <p:cNvPr id="53" name="直接箭头连接符 52">
            <a:extLst>
              <a:ext uri="{FF2B5EF4-FFF2-40B4-BE49-F238E27FC236}">
                <a16:creationId xmlns:a16="http://schemas.microsoft.com/office/drawing/2014/main" id="{9E7A1829-96EF-DD87-8C34-0BE5F9CF263E}"/>
              </a:ext>
            </a:extLst>
          </p:cNvPr>
          <p:cNvCxnSpPr>
            <a:cxnSpLocks/>
          </p:cNvCxnSpPr>
          <p:nvPr/>
        </p:nvCxnSpPr>
        <p:spPr>
          <a:xfrm>
            <a:off x="6154969" y="4331230"/>
            <a:ext cx="864000" cy="0"/>
          </a:xfrm>
          <a:prstGeom prst="straightConnector1">
            <a:avLst/>
          </a:prstGeom>
          <a:ln>
            <a:solidFill>
              <a:srgbClr val="FDBCA8"/>
            </a:solidFill>
            <a:tailEnd type="triangle"/>
          </a:ln>
        </p:spPr>
        <p:style>
          <a:lnRef idx="1">
            <a:schemeClr val="accent1"/>
          </a:lnRef>
          <a:fillRef idx="0">
            <a:schemeClr val="accent1"/>
          </a:fillRef>
          <a:effectRef idx="0">
            <a:schemeClr val="accent1"/>
          </a:effectRef>
          <a:fontRef idx="minor">
            <a:schemeClr val="tx1"/>
          </a:fontRef>
        </p:style>
      </p:cxnSp>
      <p:sp>
        <p:nvSpPr>
          <p:cNvPr id="54" name="文本框 53">
            <a:extLst>
              <a:ext uri="{FF2B5EF4-FFF2-40B4-BE49-F238E27FC236}">
                <a16:creationId xmlns:a16="http://schemas.microsoft.com/office/drawing/2014/main" id="{03DC02E6-1D86-6DC7-EB29-1D7D3295B7C4}"/>
              </a:ext>
            </a:extLst>
          </p:cNvPr>
          <p:cNvSpPr txBox="1"/>
          <p:nvPr/>
        </p:nvSpPr>
        <p:spPr>
          <a:xfrm>
            <a:off x="5173307" y="4151229"/>
            <a:ext cx="982962" cy="338554"/>
          </a:xfrm>
          <a:prstGeom prst="rect">
            <a:avLst/>
          </a:prstGeom>
          <a:noFill/>
        </p:spPr>
        <p:txBody>
          <a:bodyPr wrap="none" rtlCol="0">
            <a:spAutoFit/>
          </a:bodyPr>
          <a:lstStyle/>
          <a:p>
            <a:pPr algn="r"/>
            <a:r>
              <a:rPr lang="en-US" altLang="zh-CN" sz="1600" dirty="0"/>
              <a:t>option9</a:t>
            </a:r>
            <a:endParaRPr lang="zh-CN" altLang="en-US" sz="1600" dirty="0"/>
          </a:p>
        </p:txBody>
      </p:sp>
      <p:cxnSp>
        <p:nvCxnSpPr>
          <p:cNvPr id="55" name="直接箭头连接符 54">
            <a:extLst>
              <a:ext uri="{FF2B5EF4-FFF2-40B4-BE49-F238E27FC236}">
                <a16:creationId xmlns:a16="http://schemas.microsoft.com/office/drawing/2014/main" id="{3B23CC1C-7062-DEFE-E635-9C319DD5AA8B}"/>
              </a:ext>
            </a:extLst>
          </p:cNvPr>
          <p:cNvCxnSpPr>
            <a:cxnSpLocks/>
          </p:cNvCxnSpPr>
          <p:nvPr/>
        </p:nvCxnSpPr>
        <p:spPr>
          <a:xfrm>
            <a:off x="3729650" y="3821613"/>
            <a:ext cx="864000" cy="0"/>
          </a:xfrm>
          <a:prstGeom prst="straightConnector1">
            <a:avLst/>
          </a:prstGeom>
          <a:ln>
            <a:solidFill>
              <a:srgbClr val="FDBCA8"/>
            </a:solidFill>
            <a:tailEnd type="triangle"/>
          </a:ln>
        </p:spPr>
        <p:style>
          <a:lnRef idx="1">
            <a:schemeClr val="accent1"/>
          </a:lnRef>
          <a:fillRef idx="0">
            <a:schemeClr val="accent1"/>
          </a:fillRef>
          <a:effectRef idx="0">
            <a:schemeClr val="accent1"/>
          </a:effectRef>
          <a:fontRef idx="minor">
            <a:schemeClr val="tx1"/>
          </a:fontRef>
        </p:style>
      </p:cxnSp>
      <p:sp>
        <p:nvSpPr>
          <p:cNvPr id="56" name="文本框 55">
            <a:extLst>
              <a:ext uri="{FF2B5EF4-FFF2-40B4-BE49-F238E27FC236}">
                <a16:creationId xmlns:a16="http://schemas.microsoft.com/office/drawing/2014/main" id="{D3852E23-70B0-C314-4587-92CB418B0421}"/>
              </a:ext>
            </a:extLst>
          </p:cNvPr>
          <p:cNvSpPr txBox="1"/>
          <p:nvPr/>
        </p:nvSpPr>
        <p:spPr>
          <a:xfrm>
            <a:off x="2752795" y="3641612"/>
            <a:ext cx="978153" cy="338554"/>
          </a:xfrm>
          <a:prstGeom prst="rect">
            <a:avLst/>
          </a:prstGeom>
          <a:noFill/>
        </p:spPr>
        <p:txBody>
          <a:bodyPr wrap="none" rtlCol="0">
            <a:spAutoFit/>
          </a:bodyPr>
          <a:lstStyle/>
          <a:p>
            <a:pPr algn="r"/>
            <a:r>
              <a:rPr lang="en-US" altLang="zh-CN" sz="1600" dirty="0"/>
              <a:t>option7</a:t>
            </a:r>
            <a:endParaRPr lang="zh-CN" altLang="en-US" sz="1600" dirty="0"/>
          </a:p>
        </p:txBody>
      </p:sp>
      <p:cxnSp>
        <p:nvCxnSpPr>
          <p:cNvPr id="57" name="直接箭头连接符 56">
            <a:extLst>
              <a:ext uri="{FF2B5EF4-FFF2-40B4-BE49-F238E27FC236}">
                <a16:creationId xmlns:a16="http://schemas.microsoft.com/office/drawing/2014/main" id="{A8BCEBFA-4435-AC1B-6092-9C329274696C}"/>
              </a:ext>
            </a:extLst>
          </p:cNvPr>
          <p:cNvCxnSpPr>
            <a:cxnSpLocks/>
          </p:cNvCxnSpPr>
          <p:nvPr/>
        </p:nvCxnSpPr>
        <p:spPr>
          <a:xfrm>
            <a:off x="3450211" y="4331230"/>
            <a:ext cx="864000" cy="0"/>
          </a:xfrm>
          <a:prstGeom prst="straightConnector1">
            <a:avLst/>
          </a:prstGeom>
          <a:ln>
            <a:solidFill>
              <a:srgbClr val="FDBCA8"/>
            </a:solidFill>
            <a:tailEnd type="triangle"/>
          </a:ln>
        </p:spPr>
        <p:style>
          <a:lnRef idx="1">
            <a:schemeClr val="accent1"/>
          </a:lnRef>
          <a:fillRef idx="0">
            <a:schemeClr val="accent1"/>
          </a:fillRef>
          <a:effectRef idx="0">
            <a:schemeClr val="accent1"/>
          </a:effectRef>
          <a:fontRef idx="minor">
            <a:schemeClr val="tx1"/>
          </a:fontRef>
        </p:style>
      </p:cxnSp>
      <p:sp>
        <p:nvSpPr>
          <p:cNvPr id="58" name="文本框 57">
            <a:extLst>
              <a:ext uri="{FF2B5EF4-FFF2-40B4-BE49-F238E27FC236}">
                <a16:creationId xmlns:a16="http://schemas.microsoft.com/office/drawing/2014/main" id="{2ABC4A1D-2BEB-E4E0-AFDC-E90F1BE24E2B}"/>
              </a:ext>
            </a:extLst>
          </p:cNvPr>
          <p:cNvSpPr txBox="1"/>
          <p:nvPr/>
        </p:nvSpPr>
        <p:spPr>
          <a:xfrm>
            <a:off x="2462137" y="4151229"/>
            <a:ext cx="989374" cy="338554"/>
          </a:xfrm>
          <a:prstGeom prst="rect">
            <a:avLst/>
          </a:prstGeom>
          <a:noFill/>
        </p:spPr>
        <p:txBody>
          <a:bodyPr wrap="none" rtlCol="0">
            <a:spAutoFit/>
          </a:bodyPr>
          <a:lstStyle/>
          <a:p>
            <a:pPr algn="r"/>
            <a:r>
              <a:rPr lang="en-US" altLang="zh-CN" sz="1600" dirty="0"/>
              <a:t>option8</a:t>
            </a:r>
            <a:endParaRPr lang="zh-CN" altLang="en-US" sz="1600" dirty="0"/>
          </a:p>
        </p:txBody>
      </p:sp>
      <p:sp>
        <p:nvSpPr>
          <p:cNvPr id="2" name="文本框 1">
            <a:extLst>
              <a:ext uri="{FF2B5EF4-FFF2-40B4-BE49-F238E27FC236}">
                <a16:creationId xmlns:a16="http://schemas.microsoft.com/office/drawing/2014/main" id="{C3C25CED-52C1-80AE-5F01-1BF02A396B42}"/>
              </a:ext>
            </a:extLst>
          </p:cNvPr>
          <p:cNvSpPr txBox="1"/>
          <p:nvPr/>
        </p:nvSpPr>
        <p:spPr>
          <a:xfrm>
            <a:off x="3871164" y="834753"/>
            <a:ext cx="1080000" cy="432000"/>
          </a:xfrm>
          <a:prstGeom prst="homePlate">
            <a:avLst>
              <a:gd name="adj" fmla="val 27951"/>
            </a:avLst>
          </a:prstGeom>
          <a:solidFill>
            <a:srgbClr val="FDBCA8"/>
          </a:solidFill>
          <a:ln>
            <a:noFill/>
          </a:ln>
        </p:spPr>
        <p:txBody>
          <a:bodyPr wrap="none" rtlCol="0" anchor="ctr" anchorCtr="0">
            <a:noAutofit/>
          </a:bodyPr>
          <a:lstStyle/>
          <a:p>
            <a:pPr algn="ctr"/>
            <a:r>
              <a:rPr lang="en-US" altLang="zh-CN" sz="1600" dirty="0"/>
              <a:t>Process</a:t>
            </a:r>
            <a:endParaRPr lang="zh-CN" altLang="en-US" sz="1600" dirty="0"/>
          </a:p>
        </p:txBody>
      </p:sp>
      <p:sp>
        <p:nvSpPr>
          <p:cNvPr id="3" name="文本框 2">
            <a:extLst>
              <a:ext uri="{FF2B5EF4-FFF2-40B4-BE49-F238E27FC236}">
                <a16:creationId xmlns:a16="http://schemas.microsoft.com/office/drawing/2014/main" id="{4A98A7DC-28A0-1008-8B91-2E713FABCAA9}"/>
              </a:ext>
            </a:extLst>
          </p:cNvPr>
          <p:cNvSpPr txBox="1"/>
          <p:nvPr/>
        </p:nvSpPr>
        <p:spPr>
          <a:xfrm>
            <a:off x="1167848" y="834753"/>
            <a:ext cx="1080000" cy="432000"/>
          </a:xfrm>
          <a:prstGeom prst="homePlate">
            <a:avLst>
              <a:gd name="adj" fmla="val 27951"/>
            </a:avLst>
          </a:prstGeom>
          <a:solidFill>
            <a:srgbClr val="FDBCA8"/>
          </a:solidFill>
          <a:ln>
            <a:noFill/>
          </a:ln>
        </p:spPr>
        <p:txBody>
          <a:bodyPr wrap="none" rtlCol="0" anchor="ctr" anchorCtr="0">
            <a:noAutofit/>
          </a:bodyPr>
          <a:lstStyle/>
          <a:p>
            <a:pPr algn="ctr"/>
            <a:r>
              <a:rPr lang="en-US" altLang="zh-CN" sz="1600" dirty="0"/>
              <a:t>Product</a:t>
            </a:r>
            <a:endParaRPr lang="zh-CN" altLang="en-US" sz="1600" dirty="0"/>
          </a:p>
        </p:txBody>
      </p:sp>
      <p:sp>
        <p:nvSpPr>
          <p:cNvPr id="4" name="文本框 3">
            <a:extLst>
              <a:ext uri="{FF2B5EF4-FFF2-40B4-BE49-F238E27FC236}">
                <a16:creationId xmlns:a16="http://schemas.microsoft.com/office/drawing/2014/main" id="{0EB5BA90-AD71-2634-1DFC-87793C2002C9}"/>
              </a:ext>
            </a:extLst>
          </p:cNvPr>
          <p:cNvSpPr txBox="1"/>
          <p:nvPr/>
        </p:nvSpPr>
        <p:spPr>
          <a:xfrm>
            <a:off x="5498964" y="4528921"/>
            <a:ext cx="1440000" cy="432000"/>
          </a:xfrm>
          <a:prstGeom prst="homePlate">
            <a:avLst>
              <a:gd name="adj" fmla="val 27951"/>
            </a:avLst>
          </a:prstGeom>
          <a:solidFill>
            <a:srgbClr val="FDBCA8"/>
          </a:solidFill>
          <a:ln>
            <a:noFill/>
          </a:ln>
        </p:spPr>
        <p:txBody>
          <a:bodyPr wrap="none" rtlCol="0" anchor="ctr" anchorCtr="0">
            <a:noAutofit/>
          </a:bodyPr>
          <a:lstStyle/>
          <a:p>
            <a:pPr algn="ctr"/>
            <a:r>
              <a:rPr lang="en-US" altLang="zh-CN" sz="1600" dirty="0"/>
              <a:t>Technology</a:t>
            </a:r>
            <a:endParaRPr lang="zh-CN" altLang="en-US" sz="1600" dirty="0"/>
          </a:p>
        </p:txBody>
      </p:sp>
      <p:sp>
        <p:nvSpPr>
          <p:cNvPr id="5" name="文本框 4">
            <a:extLst>
              <a:ext uri="{FF2B5EF4-FFF2-40B4-BE49-F238E27FC236}">
                <a16:creationId xmlns:a16="http://schemas.microsoft.com/office/drawing/2014/main" id="{11767E1A-F09D-1F39-DA2D-CA7DED6747E2}"/>
              </a:ext>
            </a:extLst>
          </p:cNvPr>
          <p:cNvSpPr txBox="1"/>
          <p:nvPr/>
        </p:nvSpPr>
        <p:spPr>
          <a:xfrm>
            <a:off x="2452748" y="4528921"/>
            <a:ext cx="1800000" cy="432000"/>
          </a:xfrm>
          <a:prstGeom prst="homePlate">
            <a:avLst>
              <a:gd name="adj" fmla="val 27951"/>
            </a:avLst>
          </a:prstGeom>
          <a:solidFill>
            <a:srgbClr val="FDBCA8"/>
          </a:solidFill>
          <a:ln>
            <a:noFill/>
          </a:ln>
        </p:spPr>
        <p:txBody>
          <a:bodyPr wrap="none" rtlCol="0" anchor="ctr" anchorCtr="0">
            <a:noAutofit/>
          </a:bodyPr>
          <a:lstStyle/>
          <a:p>
            <a:pPr algn="ctr"/>
            <a:r>
              <a:rPr lang="en-US" altLang="zh-CN" sz="1600" dirty="0"/>
              <a:t>Environment</a:t>
            </a:r>
            <a:endParaRPr lang="zh-CN" altLang="en-US" sz="1600" dirty="0"/>
          </a:p>
        </p:txBody>
      </p:sp>
      <p:cxnSp>
        <p:nvCxnSpPr>
          <p:cNvPr id="7" name="直接箭头连接符 6">
            <a:extLst>
              <a:ext uri="{FF2B5EF4-FFF2-40B4-BE49-F238E27FC236}">
                <a16:creationId xmlns:a16="http://schemas.microsoft.com/office/drawing/2014/main" id="{402BF8B4-2AD7-9A7C-582B-58E736DE65A9}"/>
              </a:ext>
            </a:extLst>
          </p:cNvPr>
          <p:cNvCxnSpPr>
            <a:cxnSpLocks/>
          </p:cNvCxnSpPr>
          <p:nvPr/>
        </p:nvCxnSpPr>
        <p:spPr>
          <a:xfrm rot="3600000">
            <a:off x="8021611" y="2068868"/>
            <a:ext cx="504000" cy="0"/>
          </a:xfrm>
          <a:prstGeom prst="straightConnector1">
            <a:avLst/>
          </a:prstGeom>
          <a:ln>
            <a:solidFill>
              <a:srgbClr val="FDBCA8"/>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729CF84A-9C08-0B99-109A-7E389D14FCB8}"/>
              </a:ext>
            </a:extLst>
          </p:cNvPr>
          <p:cNvCxnSpPr>
            <a:cxnSpLocks/>
          </p:cNvCxnSpPr>
          <p:nvPr/>
        </p:nvCxnSpPr>
        <p:spPr>
          <a:xfrm rot="3600000">
            <a:off x="4747209" y="2068868"/>
            <a:ext cx="504000" cy="0"/>
          </a:xfrm>
          <a:prstGeom prst="straightConnector1">
            <a:avLst/>
          </a:prstGeom>
          <a:ln>
            <a:solidFill>
              <a:srgbClr val="FDBCA8"/>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3AD2D304-93CE-2E57-4E7B-EED0235588AE}"/>
              </a:ext>
            </a:extLst>
          </p:cNvPr>
          <p:cNvCxnSpPr>
            <a:cxnSpLocks/>
          </p:cNvCxnSpPr>
          <p:nvPr/>
        </p:nvCxnSpPr>
        <p:spPr>
          <a:xfrm rot="3600000">
            <a:off x="2000851" y="2068868"/>
            <a:ext cx="504000" cy="0"/>
          </a:xfrm>
          <a:prstGeom prst="straightConnector1">
            <a:avLst/>
          </a:prstGeom>
          <a:ln>
            <a:solidFill>
              <a:srgbClr val="FDBCA8"/>
            </a:solidFill>
            <a:tailEnd type="triangle"/>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D5E34DC0-E70F-8FB2-858A-1EDA44367740}"/>
              </a:ext>
            </a:extLst>
          </p:cNvPr>
          <p:cNvSpPr txBox="1"/>
          <p:nvPr/>
        </p:nvSpPr>
        <p:spPr>
          <a:xfrm>
            <a:off x="7768611" y="1534045"/>
            <a:ext cx="772968" cy="307777"/>
          </a:xfrm>
          <a:prstGeom prst="rect">
            <a:avLst/>
          </a:prstGeom>
          <a:noFill/>
        </p:spPr>
        <p:txBody>
          <a:bodyPr wrap="none" rtlCol="0">
            <a:spAutoFit/>
          </a:bodyPr>
          <a:lstStyle/>
          <a:p>
            <a:pPr algn="r"/>
            <a:r>
              <a:rPr lang="en-US" altLang="zh-CN" sz="1400" dirty="0"/>
              <a:t>option</a:t>
            </a:r>
            <a:endParaRPr lang="zh-CN" altLang="en-US" sz="1400" dirty="0"/>
          </a:p>
        </p:txBody>
      </p:sp>
      <p:sp>
        <p:nvSpPr>
          <p:cNvPr id="11" name="文本框 10">
            <a:extLst>
              <a:ext uri="{FF2B5EF4-FFF2-40B4-BE49-F238E27FC236}">
                <a16:creationId xmlns:a16="http://schemas.microsoft.com/office/drawing/2014/main" id="{987E5E1D-138C-CFD2-8A51-6EBB7C57393B}"/>
              </a:ext>
            </a:extLst>
          </p:cNvPr>
          <p:cNvSpPr txBox="1"/>
          <p:nvPr/>
        </p:nvSpPr>
        <p:spPr>
          <a:xfrm>
            <a:off x="4494208" y="1534045"/>
            <a:ext cx="772969" cy="307777"/>
          </a:xfrm>
          <a:prstGeom prst="rect">
            <a:avLst/>
          </a:prstGeom>
          <a:noFill/>
        </p:spPr>
        <p:txBody>
          <a:bodyPr wrap="none" rtlCol="0">
            <a:spAutoFit/>
          </a:bodyPr>
          <a:lstStyle/>
          <a:p>
            <a:pPr algn="r"/>
            <a:r>
              <a:rPr lang="en-US" altLang="zh-CN" sz="1400" dirty="0"/>
              <a:t>option</a:t>
            </a:r>
            <a:endParaRPr lang="zh-CN" altLang="en-US" sz="1400" dirty="0"/>
          </a:p>
        </p:txBody>
      </p:sp>
      <p:sp>
        <p:nvSpPr>
          <p:cNvPr id="12" name="文本框 11">
            <a:extLst>
              <a:ext uri="{FF2B5EF4-FFF2-40B4-BE49-F238E27FC236}">
                <a16:creationId xmlns:a16="http://schemas.microsoft.com/office/drawing/2014/main" id="{06CF3B8B-F6D1-9B7C-8516-C228B256D19B}"/>
              </a:ext>
            </a:extLst>
          </p:cNvPr>
          <p:cNvSpPr txBox="1"/>
          <p:nvPr/>
        </p:nvSpPr>
        <p:spPr>
          <a:xfrm>
            <a:off x="1747850" y="1534045"/>
            <a:ext cx="772969" cy="307777"/>
          </a:xfrm>
          <a:prstGeom prst="rect">
            <a:avLst/>
          </a:prstGeom>
          <a:noFill/>
        </p:spPr>
        <p:txBody>
          <a:bodyPr wrap="none" rtlCol="0">
            <a:spAutoFit/>
          </a:bodyPr>
          <a:lstStyle/>
          <a:p>
            <a:pPr algn="r"/>
            <a:r>
              <a:rPr lang="en-US" altLang="zh-CN" sz="1400" dirty="0"/>
              <a:t>option</a:t>
            </a:r>
            <a:endParaRPr lang="zh-CN" altLang="en-US" sz="1400" dirty="0"/>
          </a:p>
        </p:txBody>
      </p:sp>
      <p:cxnSp>
        <p:nvCxnSpPr>
          <p:cNvPr id="13" name="直接箭头连接符 12">
            <a:extLst>
              <a:ext uri="{FF2B5EF4-FFF2-40B4-BE49-F238E27FC236}">
                <a16:creationId xmlns:a16="http://schemas.microsoft.com/office/drawing/2014/main" id="{6DF8EF6C-01A9-E7F7-45DB-4F02579DA0F9}"/>
              </a:ext>
            </a:extLst>
          </p:cNvPr>
          <p:cNvCxnSpPr>
            <a:cxnSpLocks/>
          </p:cNvCxnSpPr>
          <p:nvPr/>
        </p:nvCxnSpPr>
        <p:spPr>
          <a:xfrm rot="-3600000">
            <a:off x="8021611" y="2517431"/>
            <a:ext cx="504000" cy="0"/>
          </a:xfrm>
          <a:prstGeom prst="straightConnector1">
            <a:avLst/>
          </a:prstGeom>
          <a:ln>
            <a:solidFill>
              <a:srgbClr val="FDBCA8"/>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6AD6CF7C-4787-1A3E-109E-B64815B34BC8}"/>
              </a:ext>
            </a:extLst>
          </p:cNvPr>
          <p:cNvCxnSpPr>
            <a:cxnSpLocks/>
          </p:cNvCxnSpPr>
          <p:nvPr/>
        </p:nvCxnSpPr>
        <p:spPr>
          <a:xfrm rot="-3600000">
            <a:off x="4747209" y="2517431"/>
            <a:ext cx="504000" cy="0"/>
          </a:xfrm>
          <a:prstGeom prst="straightConnector1">
            <a:avLst/>
          </a:prstGeom>
          <a:ln>
            <a:solidFill>
              <a:srgbClr val="FDBCA8"/>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9176D8C6-A7DA-21C5-2CCD-866B2726420C}"/>
              </a:ext>
            </a:extLst>
          </p:cNvPr>
          <p:cNvCxnSpPr>
            <a:cxnSpLocks/>
          </p:cNvCxnSpPr>
          <p:nvPr/>
        </p:nvCxnSpPr>
        <p:spPr>
          <a:xfrm rot="-3600000">
            <a:off x="2000851" y="2517431"/>
            <a:ext cx="504000" cy="0"/>
          </a:xfrm>
          <a:prstGeom prst="straightConnector1">
            <a:avLst/>
          </a:prstGeom>
          <a:ln>
            <a:solidFill>
              <a:srgbClr val="FDBCA8"/>
            </a:solidFill>
            <a:tailEnd type="triangle"/>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CABD857E-1A7F-79B8-0705-484DDD5193A4}"/>
              </a:ext>
            </a:extLst>
          </p:cNvPr>
          <p:cNvSpPr txBox="1"/>
          <p:nvPr/>
        </p:nvSpPr>
        <p:spPr>
          <a:xfrm>
            <a:off x="7690973" y="2680424"/>
            <a:ext cx="772968" cy="307777"/>
          </a:xfrm>
          <a:prstGeom prst="rect">
            <a:avLst/>
          </a:prstGeom>
          <a:noFill/>
        </p:spPr>
        <p:txBody>
          <a:bodyPr wrap="none" rtlCol="0">
            <a:spAutoFit/>
          </a:bodyPr>
          <a:lstStyle/>
          <a:p>
            <a:pPr algn="r"/>
            <a:r>
              <a:rPr lang="en-US" altLang="zh-CN" sz="1400" dirty="0"/>
              <a:t>option</a:t>
            </a:r>
            <a:endParaRPr lang="zh-CN" altLang="en-US" sz="1400" dirty="0"/>
          </a:p>
        </p:txBody>
      </p:sp>
      <p:sp>
        <p:nvSpPr>
          <p:cNvPr id="17" name="文本框 16">
            <a:extLst>
              <a:ext uri="{FF2B5EF4-FFF2-40B4-BE49-F238E27FC236}">
                <a16:creationId xmlns:a16="http://schemas.microsoft.com/office/drawing/2014/main" id="{E63A475B-16A0-3CA2-1C5A-C86305D1E487}"/>
              </a:ext>
            </a:extLst>
          </p:cNvPr>
          <p:cNvSpPr txBox="1"/>
          <p:nvPr/>
        </p:nvSpPr>
        <p:spPr>
          <a:xfrm>
            <a:off x="4416570" y="2680424"/>
            <a:ext cx="772969" cy="307777"/>
          </a:xfrm>
          <a:prstGeom prst="rect">
            <a:avLst/>
          </a:prstGeom>
          <a:noFill/>
        </p:spPr>
        <p:txBody>
          <a:bodyPr wrap="none" rtlCol="0">
            <a:spAutoFit/>
          </a:bodyPr>
          <a:lstStyle/>
          <a:p>
            <a:pPr algn="r"/>
            <a:r>
              <a:rPr lang="en-US" altLang="zh-CN" sz="1400" dirty="0"/>
              <a:t>option</a:t>
            </a:r>
            <a:endParaRPr lang="zh-CN" altLang="en-US" sz="1400" dirty="0"/>
          </a:p>
        </p:txBody>
      </p:sp>
      <p:sp>
        <p:nvSpPr>
          <p:cNvPr id="18" name="文本框 17">
            <a:extLst>
              <a:ext uri="{FF2B5EF4-FFF2-40B4-BE49-F238E27FC236}">
                <a16:creationId xmlns:a16="http://schemas.microsoft.com/office/drawing/2014/main" id="{9E8F708D-8D07-2EE7-4B26-F53AC5544ECB}"/>
              </a:ext>
            </a:extLst>
          </p:cNvPr>
          <p:cNvSpPr txBox="1"/>
          <p:nvPr/>
        </p:nvSpPr>
        <p:spPr>
          <a:xfrm>
            <a:off x="1670212" y="2680424"/>
            <a:ext cx="772969" cy="307777"/>
          </a:xfrm>
          <a:prstGeom prst="rect">
            <a:avLst/>
          </a:prstGeom>
          <a:noFill/>
        </p:spPr>
        <p:txBody>
          <a:bodyPr wrap="none" rtlCol="0">
            <a:spAutoFit/>
          </a:bodyPr>
          <a:lstStyle/>
          <a:p>
            <a:pPr algn="r"/>
            <a:r>
              <a:rPr lang="en-US" altLang="zh-CN" sz="1400" dirty="0"/>
              <a:t>option</a:t>
            </a:r>
            <a:endParaRPr lang="zh-CN" altLang="en-US" sz="1400" dirty="0"/>
          </a:p>
        </p:txBody>
      </p:sp>
    </p:spTree>
    <p:extLst>
      <p:ext uri="{BB962C8B-B14F-4D97-AF65-F5344CB8AC3E}">
        <p14:creationId xmlns:p14="http://schemas.microsoft.com/office/powerpoint/2010/main" val="764230638"/>
      </p:ext>
    </p:extLst>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箭头: 五边形 19">
            <a:extLst>
              <a:ext uri="{FF2B5EF4-FFF2-40B4-BE49-F238E27FC236}">
                <a16:creationId xmlns:a16="http://schemas.microsoft.com/office/drawing/2014/main" id="{72D38CC1-ECD7-42EC-3074-6028CF0A0650}"/>
              </a:ext>
            </a:extLst>
          </p:cNvPr>
          <p:cNvSpPr/>
          <p:nvPr/>
        </p:nvSpPr>
        <p:spPr>
          <a:xfrm>
            <a:off x="9553575" y="3169875"/>
            <a:ext cx="1800000" cy="720000"/>
          </a:xfrm>
          <a:prstGeom prst="homePlate">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营业额减少</a:t>
            </a:r>
          </a:p>
        </p:txBody>
      </p:sp>
      <p:cxnSp>
        <p:nvCxnSpPr>
          <p:cNvPr id="22" name="直接箭头连接符 21">
            <a:extLst>
              <a:ext uri="{FF2B5EF4-FFF2-40B4-BE49-F238E27FC236}">
                <a16:creationId xmlns:a16="http://schemas.microsoft.com/office/drawing/2014/main" id="{E697C19F-AC26-261D-D115-2E0FF1D270E9}"/>
              </a:ext>
            </a:extLst>
          </p:cNvPr>
          <p:cNvCxnSpPr>
            <a:cxnSpLocks/>
          </p:cNvCxnSpPr>
          <p:nvPr/>
        </p:nvCxnSpPr>
        <p:spPr>
          <a:xfrm>
            <a:off x="541200" y="3529875"/>
            <a:ext cx="9012375"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D3CCD03E-8876-B54E-6E0F-7EA99D082741}"/>
              </a:ext>
            </a:extLst>
          </p:cNvPr>
          <p:cNvCxnSpPr>
            <a:cxnSpLocks/>
          </p:cNvCxnSpPr>
          <p:nvPr/>
        </p:nvCxnSpPr>
        <p:spPr>
          <a:xfrm rot="3600000">
            <a:off x="8116145" y="2906334"/>
            <a:ext cx="144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B7224402-136C-E08C-90B4-E8C713F0FCF5}"/>
              </a:ext>
            </a:extLst>
          </p:cNvPr>
          <p:cNvCxnSpPr>
            <a:cxnSpLocks/>
          </p:cNvCxnSpPr>
          <p:nvPr/>
        </p:nvCxnSpPr>
        <p:spPr>
          <a:xfrm rot="3600000">
            <a:off x="4810970" y="2906334"/>
            <a:ext cx="144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文本框 26">
            <a:extLst>
              <a:ext uri="{FF2B5EF4-FFF2-40B4-BE49-F238E27FC236}">
                <a16:creationId xmlns:a16="http://schemas.microsoft.com/office/drawing/2014/main" id="{50A36467-A6C0-1F14-E11F-485568BD0ECD}"/>
              </a:ext>
            </a:extLst>
          </p:cNvPr>
          <p:cNvSpPr txBox="1"/>
          <p:nvPr/>
        </p:nvSpPr>
        <p:spPr>
          <a:xfrm>
            <a:off x="8284146" y="1925189"/>
            <a:ext cx="415498" cy="369332"/>
          </a:xfrm>
          <a:prstGeom prst="rect">
            <a:avLst/>
          </a:prstGeom>
          <a:noFill/>
          <a:ln>
            <a:solidFill>
              <a:schemeClr val="tx1"/>
            </a:solidFill>
          </a:ln>
        </p:spPr>
        <p:txBody>
          <a:bodyPr wrap="none" rtlCol="0">
            <a:spAutoFit/>
          </a:bodyPr>
          <a:lstStyle/>
          <a:p>
            <a:pPr algn="ctr"/>
            <a:r>
              <a:rPr lang="zh-CN" altLang="en-US" dirty="0"/>
              <a:t>人</a:t>
            </a:r>
          </a:p>
        </p:txBody>
      </p:sp>
      <p:sp>
        <p:nvSpPr>
          <p:cNvPr id="28" name="文本框 27">
            <a:extLst>
              <a:ext uri="{FF2B5EF4-FFF2-40B4-BE49-F238E27FC236}">
                <a16:creationId xmlns:a16="http://schemas.microsoft.com/office/drawing/2014/main" id="{0F463FE3-FA77-B64F-1F5A-E76085EF76CD}"/>
              </a:ext>
            </a:extLst>
          </p:cNvPr>
          <p:cNvSpPr txBox="1"/>
          <p:nvPr/>
        </p:nvSpPr>
        <p:spPr>
          <a:xfrm>
            <a:off x="4877356" y="1925189"/>
            <a:ext cx="646331" cy="369332"/>
          </a:xfrm>
          <a:prstGeom prst="rect">
            <a:avLst/>
          </a:prstGeom>
          <a:noFill/>
          <a:ln>
            <a:solidFill>
              <a:schemeClr val="tx1"/>
            </a:solidFill>
          </a:ln>
        </p:spPr>
        <p:txBody>
          <a:bodyPr wrap="none" rtlCol="0">
            <a:spAutoFit/>
          </a:bodyPr>
          <a:lstStyle/>
          <a:p>
            <a:pPr algn="ctr"/>
            <a:r>
              <a:rPr lang="zh-CN" altLang="en-US" dirty="0"/>
              <a:t>过程</a:t>
            </a:r>
          </a:p>
        </p:txBody>
      </p:sp>
      <p:cxnSp>
        <p:nvCxnSpPr>
          <p:cNvPr id="29" name="直接箭头连接符 28">
            <a:extLst>
              <a:ext uri="{FF2B5EF4-FFF2-40B4-BE49-F238E27FC236}">
                <a16:creationId xmlns:a16="http://schemas.microsoft.com/office/drawing/2014/main" id="{DAB87090-3A03-8E14-C467-F6BD20EFC944}"/>
              </a:ext>
            </a:extLst>
          </p:cNvPr>
          <p:cNvCxnSpPr>
            <a:cxnSpLocks/>
          </p:cNvCxnSpPr>
          <p:nvPr/>
        </p:nvCxnSpPr>
        <p:spPr>
          <a:xfrm rot="3600000">
            <a:off x="2119781" y="2906334"/>
            <a:ext cx="144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DBBF1C66-61D2-980A-0730-9310EA9A39EC}"/>
              </a:ext>
            </a:extLst>
          </p:cNvPr>
          <p:cNvSpPr txBox="1"/>
          <p:nvPr/>
        </p:nvSpPr>
        <p:spPr>
          <a:xfrm>
            <a:off x="2186168" y="1925189"/>
            <a:ext cx="646331" cy="369332"/>
          </a:xfrm>
          <a:prstGeom prst="rect">
            <a:avLst/>
          </a:prstGeom>
          <a:noFill/>
          <a:ln>
            <a:solidFill>
              <a:schemeClr val="tx1"/>
            </a:solidFill>
          </a:ln>
        </p:spPr>
        <p:txBody>
          <a:bodyPr wrap="none" rtlCol="0">
            <a:spAutoFit/>
          </a:bodyPr>
          <a:lstStyle/>
          <a:p>
            <a:pPr algn="ctr"/>
            <a:r>
              <a:rPr lang="zh-CN" altLang="en-US" dirty="0"/>
              <a:t>产品</a:t>
            </a:r>
          </a:p>
        </p:txBody>
      </p:sp>
      <p:cxnSp>
        <p:nvCxnSpPr>
          <p:cNvPr id="31" name="直接箭头连接符 30">
            <a:extLst>
              <a:ext uri="{FF2B5EF4-FFF2-40B4-BE49-F238E27FC236}">
                <a16:creationId xmlns:a16="http://schemas.microsoft.com/office/drawing/2014/main" id="{D35CC387-EEE8-E660-EC66-3EF324A81ACA}"/>
              </a:ext>
            </a:extLst>
          </p:cNvPr>
          <p:cNvCxnSpPr>
            <a:cxnSpLocks/>
          </p:cNvCxnSpPr>
          <p:nvPr/>
        </p:nvCxnSpPr>
        <p:spPr>
          <a:xfrm rot="-3600000">
            <a:off x="6238634" y="4153413"/>
            <a:ext cx="144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文本框 31">
            <a:extLst>
              <a:ext uri="{FF2B5EF4-FFF2-40B4-BE49-F238E27FC236}">
                <a16:creationId xmlns:a16="http://schemas.microsoft.com/office/drawing/2014/main" id="{879DEBAD-A8C7-2E8E-E240-E4863B0A617D}"/>
              </a:ext>
            </a:extLst>
          </p:cNvPr>
          <p:cNvSpPr txBox="1"/>
          <p:nvPr/>
        </p:nvSpPr>
        <p:spPr>
          <a:xfrm>
            <a:off x="6270300" y="4798596"/>
            <a:ext cx="646331" cy="369332"/>
          </a:xfrm>
          <a:prstGeom prst="rect">
            <a:avLst/>
          </a:prstGeom>
          <a:noFill/>
          <a:ln>
            <a:solidFill>
              <a:schemeClr val="tx1"/>
            </a:solidFill>
          </a:ln>
        </p:spPr>
        <p:txBody>
          <a:bodyPr wrap="none" rtlCol="0">
            <a:spAutoFit/>
          </a:bodyPr>
          <a:lstStyle/>
          <a:p>
            <a:pPr algn="ctr"/>
            <a:r>
              <a:rPr lang="zh-CN" altLang="en-US" dirty="0"/>
              <a:t>技术</a:t>
            </a:r>
          </a:p>
        </p:txBody>
      </p:sp>
      <p:cxnSp>
        <p:nvCxnSpPr>
          <p:cNvPr id="33" name="直接箭头连接符 32">
            <a:extLst>
              <a:ext uri="{FF2B5EF4-FFF2-40B4-BE49-F238E27FC236}">
                <a16:creationId xmlns:a16="http://schemas.microsoft.com/office/drawing/2014/main" id="{5881629B-1E3D-53BC-F15A-EFEA2FB6B406}"/>
              </a:ext>
            </a:extLst>
          </p:cNvPr>
          <p:cNvCxnSpPr>
            <a:cxnSpLocks/>
          </p:cNvCxnSpPr>
          <p:nvPr/>
        </p:nvCxnSpPr>
        <p:spPr>
          <a:xfrm rot="-3600000">
            <a:off x="3547445" y="4153413"/>
            <a:ext cx="144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a16="http://schemas.microsoft.com/office/drawing/2014/main" id="{9C08FD1A-D370-4472-801A-33EB6CD0ED7A}"/>
              </a:ext>
            </a:extLst>
          </p:cNvPr>
          <p:cNvSpPr txBox="1"/>
          <p:nvPr/>
        </p:nvSpPr>
        <p:spPr>
          <a:xfrm>
            <a:off x="3575346" y="4798596"/>
            <a:ext cx="646331" cy="369332"/>
          </a:xfrm>
          <a:prstGeom prst="rect">
            <a:avLst/>
          </a:prstGeom>
          <a:noFill/>
          <a:ln>
            <a:solidFill>
              <a:schemeClr val="tx1"/>
            </a:solidFill>
          </a:ln>
        </p:spPr>
        <p:txBody>
          <a:bodyPr wrap="none" rtlCol="0">
            <a:spAutoFit/>
          </a:bodyPr>
          <a:lstStyle/>
          <a:p>
            <a:pPr algn="ctr"/>
            <a:r>
              <a:rPr lang="zh-CN" altLang="en-US" dirty="0"/>
              <a:t>环境</a:t>
            </a:r>
          </a:p>
        </p:txBody>
      </p:sp>
      <p:cxnSp>
        <p:nvCxnSpPr>
          <p:cNvPr id="36" name="直接箭头连接符 35">
            <a:extLst>
              <a:ext uri="{FF2B5EF4-FFF2-40B4-BE49-F238E27FC236}">
                <a16:creationId xmlns:a16="http://schemas.microsoft.com/office/drawing/2014/main" id="{3FD51D0A-C6BF-F062-A397-7FD75CD08A0C}"/>
              </a:ext>
            </a:extLst>
          </p:cNvPr>
          <p:cNvCxnSpPr>
            <a:cxnSpLocks/>
          </p:cNvCxnSpPr>
          <p:nvPr/>
        </p:nvCxnSpPr>
        <p:spPr>
          <a:xfrm>
            <a:off x="7256794" y="2781689"/>
            <a:ext cx="144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DF748E64-2932-ECE5-EE06-33B538014636}"/>
              </a:ext>
            </a:extLst>
          </p:cNvPr>
          <p:cNvSpPr txBox="1"/>
          <p:nvPr/>
        </p:nvSpPr>
        <p:spPr>
          <a:xfrm>
            <a:off x="7371500" y="2480079"/>
            <a:ext cx="1210588" cy="338554"/>
          </a:xfrm>
          <a:prstGeom prst="rect">
            <a:avLst/>
          </a:prstGeom>
          <a:noFill/>
          <a:ln>
            <a:noFill/>
          </a:ln>
        </p:spPr>
        <p:txBody>
          <a:bodyPr wrap="none" rtlCol="0">
            <a:spAutoFit/>
          </a:bodyPr>
          <a:lstStyle/>
          <a:p>
            <a:pPr algn="r"/>
            <a:r>
              <a:rPr lang="zh-CN" altLang="en-US" sz="1600" dirty="0"/>
              <a:t>培训不足人</a:t>
            </a:r>
          </a:p>
        </p:txBody>
      </p:sp>
      <p:cxnSp>
        <p:nvCxnSpPr>
          <p:cNvPr id="38" name="直接箭头连接符 37">
            <a:extLst>
              <a:ext uri="{FF2B5EF4-FFF2-40B4-BE49-F238E27FC236}">
                <a16:creationId xmlns:a16="http://schemas.microsoft.com/office/drawing/2014/main" id="{4E90D981-38AC-984B-FEEF-4B0E4CD74142}"/>
              </a:ext>
            </a:extLst>
          </p:cNvPr>
          <p:cNvCxnSpPr>
            <a:cxnSpLocks/>
          </p:cNvCxnSpPr>
          <p:nvPr/>
        </p:nvCxnSpPr>
        <p:spPr>
          <a:xfrm>
            <a:off x="7577430" y="3291306"/>
            <a:ext cx="144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文本框 38">
            <a:extLst>
              <a:ext uri="{FF2B5EF4-FFF2-40B4-BE49-F238E27FC236}">
                <a16:creationId xmlns:a16="http://schemas.microsoft.com/office/drawing/2014/main" id="{C860E4CA-6AFA-D0B5-F82A-275BE565AC25}"/>
              </a:ext>
            </a:extLst>
          </p:cNvPr>
          <p:cNvSpPr txBox="1"/>
          <p:nvPr/>
        </p:nvSpPr>
        <p:spPr>
          <a:xfrm>
            <a:off x="7692138" y="2989696"/>
            <a:ext cx="1210588" cy="338554"/>
          </a:xfrm>
          <a:prstGeom prst="rect">
            <a:avLst/>
          </a:prstGeom>
          <a:noFill/>
          <a:ln>
            <a:noFill/>
          </a:ln>
        </p:spPr>
        <p:txBody>
          <a:bodyPr wrap="none" rtlCol="0">
            <a:spAutoFit/>
          </a:bodyPr>
          <a:lstStyle/>
          <a:p>
            <a:pPr algn="r"/>
            <a:r>
              <a:rPr lang="zh-CN" altLang="en-US" sz="1600" dirty="0"/>
              <a:t>服务不友好</a:t>
            </a:r>
          </a:p>
        </p:txBody>
      </p:sp>
      <p:cxnSp>
        <p:nvCxnSpPr>
          <p:cNvPr id="40" name="直接箭头连接符 39">
            <a:extLst>
              <a:ext uri="{FF2B5EF4-FFF2-40B4-BE49-F238E27FC236}">
                <a16:creationId xmlns:a16="http://schemas.microsoft.com/office/drawing/2014/main" id="{78CF7C4D-B79B-AA90-F331-680679F7C0FF}"/>
              </a:ext>
            </a:extLst>
          </p:cNvPr>
          <p:cNvCxnSpPr>
            <a:cxnSpLocks/>
          </p:cNvCxnSpPr>
          <p:nvPr/>
        </p:nvCxnSpPr>
        <p:spPr>
          <a:xfrm>
            <a:off x="3982392" y="2781689"/>
            <a:ext cx="144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文本框 40">
            <a:extLst>
              <a:ext uri="{FF2B5EF4-FFF2-40B4-BE49-F238E27FC236}">
                <a16:creationId xmlns:a16="http://schemas.microsoft.com/office/drawing/2014/main" id="{777C3DE0-45D5-B0BF-9A90-03A7B5AD5231}"/>
              </a:ext>
            </a:extLst>
          </p:cNvPr>
          <p:cNvSpPr txBox="1"/>
          <p:nvPr/>
        </p:nvSpPr>
        <p:spPr>
          <a:xfrm>
            <a:off x="4097098" y="2480079"/>
            <a:ext cx="1210588" cy="338554"/>
          </a:xfrm>
          <a:prstGeom prst="rect">
            <a:avLst/>
          </a:prstGeom>
          <a:noFill/>
          <a:ln>
            <a:noFill/>
          </a:ln>
        </p:spPr>
        <p:txBody>
          <a:bodyPr wrap="none" rtlCol="0">
            <a:spAutoFit/>
          </a:bodyPr>
          <a:lstStyle/>
          <a:p>
            <a:pPr algn="r"/>
            <a:r>
              <a:rPr lang="zh-CN" altLang="en-US" sz="1600" dirty="0"/>
              <a:t>结账时间长</a:t>
            </a:r>
          </a:p>
        </p:txBody>
      </p:sp>
      <p:cxnSp>
        <p:nvCxnSpPr>
          <p:cNvPr id="42" name="直接箭头连接符 41">
            <a:extLst>
              <a:ext uri="{FF2B5EF4-FFF2-40B4-BE49-F238E27FC236}">
                <a16:creationId xmlns:a16="http://schemas.microsoft.com/office/drawing/2014/main" id="{CE58F612-3519-F446-EBBC-15F2793926A4}"/>
              </a:ext>
            </a:extLst>
          </p:cNvPr>
          <p:cNvCxnSpPr>
            <a:cxnSpLocks/>
          </p:cNvCxnSpPr>
          <p:nvPr/>
        </p:nvCxnSpPr>
        <p:spPr>
          <a:xfrm>
            <a:off x="4303028" y="3291306"/>
            <a:ext cx="144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文本框 42">
            <a:extLst>
              <a:ext uri="{FF2B5EF4-FFF2-40B4-BE49-F238E27FC236}">
                <a16:creationId xmlns:a16="http://schemas.microsoft.com/office/drawing/2014/main" id="{EB1C8942-82BE-ABE4-DEA2-39E964254768}"/>
              </a:ext>
            </a:extLst>
          </p:cNvPr>
          <p:cNvSpPr txBox="1"/>
          <p:nvPr/>
        </p:nvSpPr>
        <p:spPr>
          <a:xfrm>
            <a:off x="4212552" y="2989696"/>
            <a:ext cx="1415772" cy="338554"/>
          </a:xfrm>
          <a:prstGeom prst="rect">
            <a:avLst/>
          </a:prstGeom>
          <a:noFill/>
          <a:ln>
            <a:noFill/>
          </a:ln>
        </p:spPr>
        <p:txBody>
          <a:bodyPr wrap="none" rtlCol="0">
            <a:spAutoFit/>
          </a:bodyPr>
          <a:lstStyle/>
          <a:p>
            <a:pPr algn="r"/>
            <a:r>
              <a:rPr lang="zh-CN" altLang="en-US" sz="1600" dirty="0"/>
              <a:t>退货流程繁琐</a:t>
            </a:r>
          </a:p>
        </p:txBody>
      </p:sp>
      <p:cxnSp>
        <p:nvCxnSpPr>
          <p:cNvPr id="44" name="直接箭头连接符 43">
            <a:extLst>
              <a:ext uri="{FF2B5EF4-FFF2-40B4-BE49-F238E27FC236}">
                <a16:creationId xmlns:a16="http://schemas.microsoft.com/office/drawing/2014/main" id="{067514D0-7D57-6E5B-33AE-AF36BB6380BC}"/>
              </a:ext>
            </a:extLst>
          </p:cNvPr>
          <p:cNvCxnSpPr>
            <a:cxnSpLocks/>
          </p:cNvCxnSpPr>
          <p:nvPr/>
        </p:nvCxnSpPr>
        <p:spPr>
          <a:xfrm>
            <a:off x="1236034" y="2781689"/>
            <a:ext cx="144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文本框 44">
            <a:extLst>
              <a:ext uri="{FF2B5EF4-FFF2-40B4-BE49-F238E27FC236}">
                <a16:creationId xmlns:a16="http://schemas.microsoft.com/office/drawing/2014/main" id="{1120A024-E89B-0465-1B1B-9DA1DDC9B165}"/>
              </a:ext>
            </a:extLst>
          </p:cNvPr>
          <p:cNvSpPr txBox="1"/>
          <p:nvPr/>
        </p:nvSpPr>
        <p:spPr>
          <a:xfrm>
            <a:off x="1761109" y="2480079"/>
            <a:ext cx="800219" cy="338554"/>
          </a:xfrm>
          <a:prstGeom prst="rect">
            <a:avLst/>
          </a:prstGeom>
          <a:noFill/>
          <a:ln>
            <a:noFill/>
          </a:ln>
        </p:spPr>
        <p:txBody>
          <a:bodyPr wrap="none" rtlCol="0">
            <a:spAutoFit/>
          </a:bodyPr>
          <a:lstStyle/>
          <a:p>
            <a:pPr algn="r"/>
            <a:r>
              <a:rPr lang="zh-CN" altLang="en-US" sz="1600" dirty="0"/>
              <a:t>品质低</a:t>
            </a:r>
          </a:p>
        </p:txBody>
      </p:sp>
      <p:cxnSp>
        <p:nvCxnSpPr>
          <p:cNvPr id="46" name="直接箭头连接符 45">
            <a:extLst>
              <a:ext uri="{FF2B5EF4-FFF2-40B4-BE49-F238E27FC236}">
                <a16:creationId xmlns:a16="http://schemas.microsoft.com/office/drawing/2014/main" id="{6A1875C7-F45F-44CF-0A29-5BBB4C3FB226}"/>
              </a:ext>
            </a:extLst>
          </p:cNvPr>
          <p:cNvCxnSpPr>
            <a:cxnSpLocks/>
          </p:cNvCxnSpPr>
          <p:nvPr/>
        </p:nvCxnSpPr>
        <p:spPr>
          <a:xfrm>
            <a:off x="1556670" y="3291306"/>
            <a:ext cx="144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文本框 46">
            <a:extLst>
              <a:ext uri="{FF2B5EF4-FFF2-40B4-BE49-F238E27FC236}">
                <a16:creationId xmlns:a16="http://schemas.microsoft.com/office/drawing/2014/main" id="{3157BB85-47D7-EB13-A91D-F9C508EE9AA4}"/>
              </a:ext>
            </a:extLst>
          </p:cNvPr>
          <p:cNvSpPr txBox="1"/>
          <p:nvPr/>
        </p:nvSpPr>
        <p:spPr>
          <a:xfrm>
            <a:off x="1876563" y="2989696"/>
            <a:ext cx="1005403" cy="338554"/>
          </a:xfrm>
          <a:prstGeom prst="rect">
            <a:avLst/>
          </a:prstGeom>
          <a:noFill/>
          <a:ln>
            <a:noFill/>
          </a:ln>
        </p:spPr>
        <p:txBody>
          <a:bodyPr wrap="none" rtlCol="0">
            <a:spAutoFit/>
          </a:bodyPr>
          <a:lstStyle/>
          <a:p>
            <a:pPr algn="r"/>
            <a:r>
              <a:rPr lang="zh-CN" altLang="en-US" sz="1600" dirty="0"/>
              <a:t>频繁缺货</a:t>
            </a:r>
          </a:p>
        </p:txBody>
      </p:sp>
      <p:cxnSp>
        <p:nvCxnSpPr>
          <p:cNvPr id="51" name="直接箭头连接符 50">
            <a:extLst>
              <a:ext uri="{FF2B5EF4-FFF2-40B4-BE49-F238E27FC236}">
                <a16:creationId xmlns:a16="http://schemas.microsoft.com/office/drawing/2014/main" id="{6F9FBD6B-9B3C-E081-9A94-B0ECEC9D19DA}"/>
              </a:ext>
            </a:extLst>
          </p:cNvPr>
          <p:cNvCxnSpPr>
            <a:cxnSpLocks/>
          </p:cNvCxnSpPr>
          <p:nvPr/>
        </p:nvCxnSpPr>
        <p:spPr>
          <a:xfrm>
            <a:off x="5481908" y="4050213"/>
            <a:ext cx="144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文本框 51">
            <a:extLst>
              <a:ext uri="{FF2B5EF4-FFF2-40B4-BE49-F238E27FC236}">
                <a16:creationId xmlns:a16="http://schemas.microsoft.com/office/drawing/2014/main" id="{E066778C-B870-B01B-67A2-C32D50009FC7}"/>
              </a:ext>
            </a:extLst>
          </p:cNvPr>
          <p:cNvSpPr txBox="1"/>
          <p:nvPr/>
        </p:nvSpPr>
        <p:spPr>
          <a:xfrm>
            <a:off x="5596614" y="3748603"/>
            <a:ext cx="1210588" cy="338554"/>
          </a:xfrm>
          <a:prstGeom prst="rect">
            <a:avLst/>
          </a:prstGeom>
          <a:noFill/>
          <a:ln>
            <a:noFill/>
          </a:ln>
        </p:spPr>
        <p:txBody>
          <a:bodyPr wrap="none" rtlCol="0">
            <a:spAutoFit/>
          </a:bodyPr>
          <a:lstStyle/>
          <a:p>
            <a:pPr algn="r"/>
            <a:r>
              <a:rPr lang="zh-CN" altLang="en-US" sz="1600" dirty="0"/>
              <a:t>销售点缓慢</a:t>
            </a:r>
          </a:p>
        </p:txBody>
      </p:sp>
      <p:cxnSp>
        <p:nvCxnSpPr>
          <p:cNvPr id="53" name="直接箭头连接符 52">
            <a:extLst>
              <a:ext uri="{FF2B5EF4-FFF2-40B4-BE49-F238E27FC236}">
                <a16:creationId xmlns:a16="http://schemas.microsoft.com/office/drawing/2014/main" id="{A856A1A1-7542-E826-23B7-0E4A909557F9}"/>
              </a:ext>
            </a:extLst>
          </p:cNvPr>
          <p:cNvCxnSpPr>
            <a:cxnSpLocks/>
          </p:cNvCxnSpPr>
          <p:nvPr/>
        </p:nvCxnSpPr>
        <p:spPr>
          <a:xfrm>
            <a:off x="5202469" y="4559830"/>
            <a:ext cx="144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4" name="文本框 53">
            <a:extLst>
              <a:ext uri="{FF2B5EF4-FFF2-40B4-BE49-F238E27FC236}">
                <a16:creationId xmlns:a16="http://schemas.microsoft.com/office/drawing/2014/main" id="{C53ABAAA-0DF2-8662-244C-C18C80171209}"/>
              </a:ext>
            </a:extLst>
          </p:cNvPr>
          <p:cNvSpPr txBox="1"/>
          <p:nvPr/>
        </p:nvSpPr>
        <p:spPr>
          <a:xfrm>
            <a:off x="5317177" y="4258220"/>
            <a:ext cx="1210588" cy="338554"/>
          </a:xfrm>
          <a:prstGeom prst="rect">
            <a:avLst/>
          </a:prstGeom>
          <a:noFill/>
          <a:ln>
            <a:noFill/>
          </a:ln>
        </p:spPr>
        <p:txBody>
          <a:bodyPr wrap="none" rtlCol="0">
            <a:spAutoFit/>
          </a:bodyPr>
          <a:lstStyle/>
          <a:p>
            <a:pPr algn="r"/>
            <a:r>
              <a:rPr lang="zh-CN" altLang="en-US" sz="1600" dirty="0"/>
              <a:t>网站不可靠</a:t>
            </a:r>
          </a:p>
        </p:txBody>
      </p:sp>
      <p:cxnSp>
        <p:nvCxnSpPr>
          <p:cNvPr id="55" name="直接箭头连接符 54">
            <a:extLst>
              <a:ext uri="{FF2B5EF4-FFF2-40B4-BE49-F238E27FC236}">
                <a16:creationId xmlns:a16="http://schemas.microsoft.com/office/drawing/2014/main" id="{2B07BBE0-0898-5BFC-F74A-CA3A9B1F9FE1}"/>
              </a:ext>
            </a:extLst>
          </p:cNvPr>
          <p:cNvCxnSpPr>
            <a:cxnSpLocks/>
          </p:cNvCxnSpPr>
          <p:nvPr/>
        </p:nvCxnSpPr>
        <p:spPr>
          <a:xfrm>
            <a:off x="2777150" y="4050213"/>
            <a:ext cx="144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6" name="文本框 55">
            <a:extLst>
              <a:ext uri="{FF2B5EF4-FFF2-40B4-BE49-F238E27FC236}">
                <a16:creationId xmlns:a16="http://schemas.microsoft.com/office/drawing/2014/main" id="{8FC7A075-F34B-1A7F-C261-D5F3439E843F}"/>
              </a:ext>
            </a:extLst>
          </p:cNvPr>
          <p:cNvSpPr txBox="1"/>
          <p:nvPr/>
        </p:nvSpPr>
        <p:spPr>
          <a:xfrm>
            <a:off x="3097041" y="3748603"/>
            <a:ext cx="1005403" cy="338554"/>
          </a:xfrm>
          <a:prstGeom prst="rect">
            <a:avLst/>
          </a:prstGeom>
          <a:noFill/>
          <a:ln>
            <a:noFill/>
          </a:ln>
        </p:spPr>
        <p:txBody>
          <a:bodyPr wrap="none" rtlCol="0">
            <a:spAutoFit/>
          </a:bodyPr>
          <a:lstStyle/>
          <a:p>
            <a:pPr algn="r"/>
            <a:r>
              <a:rPr lang="zh-CN" altLang="en-US" sz="1600" dirty="0"/>
              <a:t>店铺杂乱</a:t>
            </a:r>
          </a:p>
        </p:txBody>
      </p:sp>
      <p:cxnSp>
        <p:nvCxnSpPr>
          <p:cNvPr id="57" name="直接箭头连接符 56">
            <a:extLst>
              <a:ext uri="{FF2B5EF4-FFF2-40B4-BE49-F238E27FC236}">
                <a16:creationId xmlns:a16="http://schemas.microsoft.com/office/drawing/2014/main" id="{18E1C393-21FF-9610-DF55-06D6E1BA7CAE}"/>
              </a:ext>
            </a:extLst>
          </p:cNvPr>
          <p:cNvCxnSpPr>
            <a:cxnSpLocks/>
          </p:cNvCxnSpPr>
          <p:nvPr/>
        </p:nvCxnSpPr>
        <p:spPr>
          <a:xfrm>
            <a:off x="2497711" y="4559830"/>
            <a:ext cx="144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8" name="文本框 57">
            <a:extLst>
              <a:ext uri="{FF2B5EF4-FFF2-40B4-BE49-F238E27FC236}">
                <a16:creationId xmlns:a16="http://schemas.microsoft.com/office/drawing/2014/main" id="{DD866F70-F6D7-D3CF-58FC-513CEA82ECA6}"/>
              </a:ext>
            </a:extLst>
          </p:cNvPr>
          <p:cNvSpPr txBox="1"/>
          <p:nvPr/>
        </p:nvSpPr>
        <p:spPr>
          <a:xfrm>
            <a:off x="2817604" y="4258220"/>
            <a:ext cx="1005403" cy="338554"/>
          </a:xfrm>
          <a:prstGeom prst="rect">
            <a:avLst/>
          </a:prstGeom>
          <a:noFill/>
          <a:ln>
            <a:noFill/>
          </a:ln>
        </p:spPr>
        <p:txBody>
          <a:bodyPr wrap="none" rtlCol="0">
            <a:spAutoFit/>
          </a:bodyPr>
          <a:lstStyle/>
          <a:p>
            <a:pPr algn="r"/>
            <a:r>
              <a:rPr lang="zh-CN" altLang="en-US" sz="1600" dirty="0"/>
              <a:t>照明不佳</a:t>
            </a:r>
          </a:p>
        </p:txBody>
      </p:sp>
    </p:spTree>
    <p:extLst>
      <p:ext uri="{BB962C8B-B14F-4D97-AF65-F5344CB8AC3E}">
        <p14:creationId xmlns:p14="http://schemas.microsoft.com/office/powerpoint/2010/main" val="1730981094"/>
      </p:ext>
    </p:extLst>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E9E76-B03F-1945-C0E2-9B4BAAFFBD5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0B494AC-91BB-BE93-CA2C-32156C0C0A7C}"/>
              </a:ext>
            </a:extLst>
          </p:cNvPr>
          <p:cNvSpPr>
            <a:spLocks noGrp="1"/>
          </p:cNvSpPr>
          <p:nvPr>
            <p:ph type="title"/>
          </p:nvPr>
        </p:nvSpPr>
        <p:spPr>
          <a:xfrm>
            <a:off x="792000" y="360000"/>
            <a:ext cx="6375921" cy="429413"/>
          </a:xfrm>
        </p:spPr>
        <p:txBody>
          <a:bodyPr/>
          <a:lstStyle/>
          <a:p>
            <a:r>
              <a:rPr lang="en-US" altLang="zh-CN" dirty="0"/>
              <a:t>4.2.5.3</a:t>
            </a:r>
            <a:r>
              <a:rPr lang="zh-CN" altLang="en-US" dirty="0"/>
              <a:t> 七大质量管理工具 </a:t>
            </a:r>
            <a:r>
              <a:rPr lang="en-US" altLang="zh-CN" dirty="0"/>
              <a:t>– </a:t>
            </a:r>
            <a:r>
              <a:rPr lang="zh-CN" altLang="en-US" dirty="0"/>
              <a:t>直方图</a:t>
            </a:r>
          </a:p>
        </p:txBody>
      </p:sp>
      <p:sp>
        <p:nvSpPr>
          <p:cNvPr id="3" name="内容占位符 2">
            <a:extLst>
              <a:ext uri="{FF2B5EF4-FFF2-40B4-BE49-F238E27FC236}">
                <a16:creationId xmlns:a16="http://schemas.microsoft.com/office/drawing/2014/main" id="{EBF13B04-248E-541E-DD1A-6DA80147EDCD}"/>
              </a:ext>
            </a:extLst>
          </p:cNvPr>
          <p:cNvSpPr>
            <a:spLocks noGrp="1"/>
          </p:cNvSpPr>
          <p:nvPr>
            <p:ph idx="1"/>
          </p:nvPr>
        </p:nvSpPr>
        <p:spPr>
          <a:xfrm>
            <a:off x="696000" y="864000"/>
            <a:ext cx="10800000" cy="5400000"/>
          </a:xfrm>
        </p:spPr>
        <p:txBody>
          <a:bodyPr/>
          <a:lstStyle/>
          <a:p>
            <a:r>
              <a:rPr lang="zh-CN" altLang="en-US" dirty="0"/>
              <a:t>用柱状图展示数据的分布情况</a:t>
            </a:r>
            <a:endParaRPr lang="en-US" altLang="zh-CN" dirty="0"/>
          </a:p>
          <a:p>
            <a:r>
              <a:rPr lang="zh-CN" altLang="en-US" dirty="0"/>
              <a:t>数据在不同数值区间内出现的频率或次数</a:t>
            </a:r>
            <a:endParaRPr lang="en-US" altLang="zh-CN" dirty="0"/>
          </a:p>
          <a:p>
            <a:r>
              <a:rPr lang="zh-CN" altLang="en-US" dirty="0"/>
              <a:t>数据的集中趋势和离散程度</a:t>
            </a:r>
            <a:endParaRPr lang="en-US" altLang="zh-CN" dirty="0"/>
          </a:p>
          <a:p>
            <a:r>
              <a:rPr lang="zh-CN" altLang="en-US" dirty="0"/>
              <a:t>场景</a:t>
            </a:r>
            <a:endParaRPr lang="en-US" altLang="zh-CN" dirty="0"/>
          </a:p>
          <a:p>
            <a:pPr lvl="1"/>
            <a:r>
              <a:rPr lang="zh-CN" altLang="en-US" dirty="0"/>
              <a:t>生活场景：统计全班数学成绩。分成几个区间（</a:t>
            </a:r>
            <a:r>
              <a:rPr lang="en-US" altLang="zh-CN" dirty="0"/>
              <a:t>0-59, 60-69, 70-79, 80-89, 90-100</a:t>
            </a:r>
            <a:r>
              <a:rPr lang="zh-CN" altLang="en-US" dirty="0"/>
              <a:t>），然后画出柱状图。大部分的分数集中在</a:t>
            </a:r>
            <a:r>
              <a:rPr lang="en-US" altLang="zh-CN" dirty="0"/>
              <a:t>70-89</a:t>
            </a:r>
            <a:r>
              <a:rPr lang="zh-CN" altLang="en-US" dirty="0"/>
              <a:t>分之间，呈现一个中间高、两边低的山峰形状</a:t>
            </a:r>
          </a:p>
          <a:p>
            <a:pPr lvl="1"/>
            <a:r>
              <a:rPr lang="zh-CN" altLang="en-US" dirty="0"/>
              <a:t>工作场景：客服部门统计客户等待接通电话的时间。大部分等待时间集中在</a:t>
            </a:r>
            <a:r>
              <a:rPr lang="en-US" altLang="zh-CN" dirty="0"/>
              <a:t>30-60</a:t>
            </a:r>
            <a:r>
              <a:rPr lang="zh-CN" altLang="en-US" dirty="0"/>
              <a:t>秒，少数超过</a:t>
            </a:r>
            <a:r>
              <a:rPr lang="en-US" altLang="zh-CN" dirty="0"/>
              <a:t>5</a:t>
            </a:r>
            <a:r>
              <a:rPr lang="zh-CN" altLang="en-US" dirty="0"/>
              <a:t>分钟</a:t>
            </a:r>
          </a:p>
        </p:txBody>
      </p:sp>
      <p:sp>
        <p:nvSpPr>
          <p:cNvPr id="10" name="文本占位符 9">
            <a:extLst>
              <a:ext uri="{FF2B5EF4-FFF2-40B4-BE49-F238E27FC236}">
                <a16:creationId xmlns:a16="http://schemas.microsoft.com/office/drawing/2014/main" id="{60D87A34-E4AC-0CF0-25E9-A24C675C6BAB}"/>
              </a:ext>
            </a:extLst>
          </p:cNvPr>
          <p:cNvSpPr>
            <a:spLocks noGrp="1"/>
          </p:cNvSpPr>
          <p:nvPr>
            <p:ph type="body" sz="quarter" idx="10"/>
          </p:nvPr>
        </p:nvSpPr>
        <p:spPr>
          <a:xfrm>
            <a:off x="7071919" y="448519"/>
            <a:ext cx="4424080" cy="338554"/>
          </a:xfrm>
        </p:spPr>
        <p:txBody>
          <a:bodyPr/>
          <a:lstStyle/>
          <a:p>
            <a:r>
              <a:rPr lang="en-US" altLang="zh-CN" dirty="0"/>
              <a:t>Histogram</a:t>
            </a:r>
            <a:endParaRPr lang="zh-CN" altLang="en-US" dirty="0"/>
          </a:p>
        </p:txBody>
      </p:sp>
    </p:spTree>
    <p:extLst>
      <p:ext uri="{BB962C8B-B14F-4D97-AF65-F5344CB8AC3E}">
        <p14:creationId xmlns:p14="http://schemas.microsoft.com/office/powerpoint/2010/main" val="2517369127"/>
      </p:ext>
    </p:extLst>
  </p:cSld>
  <p:clrMapOvr>
    <a:masterClrMapping/>
  </p:clrMapOvr>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cx1="http://schemas.microsoft.com/office/drawing/2015/9/8/chartex">
        <mc:Choice Requires="cx1">
          <p:graphicFrame>
            <p:nvGraphicFramePr>
              <p:cNvPr id="5" name="图表 4">
                <a:extLst>
                  <a:ext uri="{FF2B5EF4-FFF2-40B4-BE49-F238E27FC236}">
                    <a16:creationId xmlns:a16="http://schemas.microsoft.com/office/drawing/2014/main" id="{AE683343-72DB-ACB8-F862-DAD4310BA1D3}"/>
                  </a:ext>
                </a:extLst>
              </p:cNvPr>
              <p:cNvGraphicFramePr>
                <a:graphicFrameLocks noChangeAspect="1"/>
              </p:cNvGraphicFramePr>
              <p:nvPr>
                <p:extLst>
                  <p:ext uri="{D42A27DB-BD31-4B8C-83A1-F6EECF244321}">
                    <p14:modId xmlns:p14="http://schemas.microsoft.com/office/powerpoint/2010/main" val="171796457"/>
                  </p:ext>
                </p:extLst>
              </p:nvPr>
            </p:nvGraphicFramePr>
            <p:xfrm>
              <a:off x="1524000" y="685800"/>
              <a:ext cx="9144000" cy="5486400"/>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5" name="图表 4">
                <a:extLst>
                  <a:ext uri="{FF2B5EF4-FFF2-40B4-BE49-F238E27FC236}">
                    <a16:creationId xmlns:a16="http://schemas.microsoft.com/office/drawing/2014/main" id="{AE683343-72DB-ACB8-F862-DAD4310BA1D3}"/>
                  </a:ext>
                </a:extLst>
              </p:cNvPr>
              <p:cNvPicPr>
                <a:picLocks noGrp="1" noRot="1" noChangeAspect="1" noMove="1" noResize="1" noEditPoints="1" noAdjustHandles="1" noChangeArrowheads="1" noChangeShapeType="1"/>
              </p:cNvPicPr>
              <p:nvPr/>
            </p:nvPicPr>
            <p:blipFill>
              <a:blip r:embed="rId4"/>
              <a:stretch>
                <a:fillRect/>
              </a:stretch>
            </p:blipFill>
            <p:spPr>
              <a:xfrm>
                <a:off x="1524000" y="685800"/>
                <a:ext cx="9144000" cy="5486400"/>
              </a:xfrm>
              <a:prstGeom prst="rect">
                <a:avLst/>
              </a:prstGeom>
            </p:spPr>
          </p:pic>
        </mc:Fallback>
      </mc:AlternateContent>
    </p:spTree>
    <p:extLst>
      <p:ext uri="{BB962C8B-B14F-4D97-AF65-F5344CB8AC3E}">
        <p14:creationId xmlns:p14="http://schemas.microsoft.com/office/powerpoint/2010/main" val="1231856385"/>
      </p:ext>
    </p:extLst>
  </p:cSld>
  <p:clrMapOvr>
    <a:masterClrMapping/>
  </p:clrMapOvr>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5D4A2-8053-551B-30B1-9FBBE0AB0BB6}"/>
            </a:ext>
          </a:extLst>
        </p:cNvPr>
        <p:cNvGrpSpPr/>
        <p:nvPr/>
      </p:nvGrpSpPr>
      <p:grpSpPr>
        <a:xfrm>
          <a:off x="0" y="0"/>
          <a:ext cx="0" cy="0"/>
          <a:chOff x="0" y="0"/>
          <a:chExt cx="0" cy="0"/>
        </a:xfrm>
      </p:grpSpPr>
      <mc:AlternateContent xmlns:mc="http://schemas.openxmlformats.org/markup-compatibility/2006" xmlns:cx1="http://schemas.microsoft.com/office/drawing/2015/9/8/chartex">
        <mc:Choice Requires="cx1">
          <p:graphicFrame>
            <p:nvGraphicFramePr>
              <p:cNvPr id="2" name="图表 1">
                <a:extLst>
                  <a:ext uri="{FF2B5EF4-FFF2-40B4-BE49-F238E27FC236}">
                    <a16:creationId xmlns:a16="http://schemas.microsoft.com/office/drawing/2014/main" id="{F0DF7306-C4DF-04BA-85B7-658637A67ACB}"/>
                  </a:ext>
                </a:extLst>
              </p:cNvPr>
              <p:cNvGraphicFramePr>
                <a:graphicFrameLocks noChangeAspect="1"/>
              </p:cNvGraphicFramePr>
              <p:nvPr>
                <p:extLst>
                  <p:ext uri="{D42A27DB-BD31-4B8C-83A1-F6EECF244321}">
                    <p14:modId xmlns:p14="http://schemas.microsoft.com/office/powerpoint/2010/main" val="3820154558"/>
                  </p:ext>
                </p:extLst>
              </p:nvPr>
            </p:nvGraphicFramePr>
            <p:xfrm>
              <a:off x="1524000" y="685800"/>
              <a:ext cx="9144000" cy="5486400"/>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2" name="图表 1">
                <a:extLst>
                  <a:ext uri="{FF2B5EF4-FFF2-40B4-BE49-F238E27FC236}">
                    <a16:creationId xmlns:a16="http://schemas.microsoft.com/office/drawing/2014/main" id="{F0DF7306-C4DF-04BA-85B7-658637A67ACB}"/>
                  </a:ext>
                </a:extLst>
              </p:cNvPr>
              <p:cNvPicPr>
                <a:picLocks noGrp="1" noRot="1" noChangeAspect="1" noMove="1" noResize="1" noEditPoints="1" noAdjustHandles="1" noChangeArrowheads="1" noChangeShapeType="1"/>
              </p:cNvPicPr>
              <p:nvPr/>
            </p:nvPicPr>
            <p:blipFill>
              <a:blip r:embed="rId4"/>
              <a:stretch>
                <a:fillRect/>
              </a:stretch>
            </p:blipFill>
            <p:spPr>
              <a:xfrm>
                <a:off x="1524000" y="685800"/>
                <a:ext cx="9144000" cy="5486400"/>
              </a:xfrm>
              <a:prstGeom prst="rect">
                <a:avLst/>
              </a:prstGeom>
            </p:spPr>
          </p:pic>
        </mc:Fallback>
      </mc:AlternateContent>
    </p:spTree>
    <p:extLst>
      <p:ext uri="{BB962C8B-B14F-4D97-AF65-F5344CB8AC3E}">
        <p14:creationId xmlns:p14="http://schemas.microsoft.com/office/powerpoint/2010/main" val="510625318"/>
      </p:ext>
    </p:extLst>
  </p:cSld>
  <p:clrMapOvr>
    <a:masterClrMapping/>
  </p:clrMapOvr>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307B5-72D3-149C-AC70-BA2AEAEE040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DC751E1-B264-9959-5A4F-1FE18E204C73}"/>
              </a:ext>
            </a:extLst>
          </p:cNvPr>
          <p:cNvSpPr>
            <a:spLocks noGrp="1"/>
          </p:cNvSpPr>
          <p:nvPr>
            <p:ph type="title"/>
          </p:nvPr>
        </p:nvSpPr>
        <p:spPr>
          <a:xfrm>
            <a:off x="792000" y="360000"/>
            <a:ext cx="6375921" cy="429413"/>
          </a:xfrm>
        </p:spPr>
        <p:txBody>
          <a:bodyPr/>
          <a:lstStyle/>
          <a:p>
            <a:r>
              <a:rPr lang="en-US" altLang="zh-CN" dirty="0"/>
              <a:t>4.2.5.4</a:t>
            </a:r>
            <a:r>
              <a:rPr lang="zh-CN" altLang="en-US" dirty="0"/>
              <a:t> 七大质量管理工具 </a:t>
            </a:r>
            <a:r>
              <a:rPr lang="en-US" altLang="zh-CN" dirty="0"/>
              <a:t>– </a:t>
            </a:r>
            <a:r>
              <a:rPr lang="zh-CN" altLang="en-US" dirty="0"/>
              <a:t>散点图</a:t>
            </a:r>
          </a:p>
        </p:txBody>
      </p:sp>
      <p:sp>
        <p:nvSpPr>
          <p:cNvPr id="3" name="内容占位符 2">
            <a:extLst>
              <a:ext uri="{FF2B5EF4-FFF2-40B4-BE49-F238E27FC236}">
                <a16:creationId xmlns:a16="http://schemas.microsoft.com/office/drawing/2014/main" id="{DE2E0B19-AD87-2E2A-6F63-969BF77E98DA}"/>
              </a:ext>
            </a:extLst>
          </p:cNvPr>
          <p:cNvSpPr>
            <a:spLocks noGrp="1"/>
          </p:cNvSpPr>
          <p:nvPr>
            <p:ph idx="1"/>
          </p:nvPr>
        </p:nvSpPr>
        <p:spPr>
          <a:xfrm>
            <a:off x="696000" y="864000"/>
            <a:ext cx="10800000" cy="5400000"/>
          </a:xfrm>
        </p:spPr>
        <p:txBody>
          <a:bodyPr/>
          <a:lstStyle/>
          <a:p>
            <a:r>
              <a:rPr lang="zh-CN" altLang="en-US" dirty="0"/>
              <a:t>又叫散步图、分布图、相关图、气泡图</a:t>
            </a:r>
          </a:p>
          <a:p>
            <a:r>
              <a:rPr lang="zh-CN" altLang="en-US" dirty="0"/>
              <a:t>分析两个变量之间是否存在相关性（正相关、负相关或无相关）</a:t>
            </a:r>
            <a:endParaRPr lang="en-US" altLang="zh-CN" dirty="0"/>
          </a:p>
          <a:p>
            <a:r>
              <a:rPr lang="zh-CN" altLang="en-US" dirty="0"/>
              <a:t>数据样本要足够多；至少</a:t>
            </a:r>
            <a:r>
              <a:rPr lang="en-US" altLang="zh-CN" dirty="0"/>
              <a:t>30</a:t>
            </a:r>
            <a:r>
              <a:rPr lang="zh-CN" altLang="en-US" dirty="0"/>
              <a:t>条</a:t>
            </a:r>
          </a:p>
          <a:p>
            <a:r>
              <a:rPr lang="zh-CN" altLang="en-US" dirty="0"/>
              <a:t>场景：</a:t>
            </a:r>
          </a:p>
          <a:p>
            <a:pPr lvl="1"/>
            <a:r>
              <a:rPr lang="zh-CN" altLang="en-US" dirty="0"/>
              <a:t>生活场景：研究冰淇淋销量和气温的关系。把每天的气温和销量画在图上，发现气温越高，冰淇淋销量也越高，两者呈正相关</a:t>
            </a:r>
          </a:p>
          <a:p>
            <a:pPr lvl="1"/>
            <a:r>
              <a:rPr lang="zh-CN" altLang="en-US" dirty="0"/>
              <a:t>工作场景：项目经理研究代码复杂度和</a:t>
            </a:r>
            <a:r>
              <a:rPr lang="en-US" altLang="zh-CN" dirty="0"/>
              <a:t>Bug</a:t>
            </a:r>
            <a:r>
              <a:rPr lang="zh-CN" altLang="en-US" dirty="0"/>
              <a:t>数量的关系。发现，模块的代码行数越多（复杂度越高），测试出的</a:t>
            </a:r>
            <a:r>
              <a:rPr lang="en-US" altLang="zh-CN" dirty="0"/>
              <a:t>Bug</a:t>
            </a:r>
            <a:r>
              <a:rPr lang="zh-CN" altLang="en-US" dirty="0"/>
              <a:t>数量也越多，这证明了两者存在正相关，因此需要重点审查复杂模块</a:t>
            </a:r>
          </a:p>
        </p:txBody>
      </p:sp>
      <p:sp>
        <p:nvSpPr>
          <p:cNvPr id="16" name="文本占位符 15">
            <a:extLst>
              <a:ext uri="{FF2B5EF4-FFF2-40B4-BE49-F238E27FC236}">
                <a16:creationId xmlns:a16="http://schemas.microsoft.com/office/drawing/2014/main" id="{CC5FBF92-D5EB-658C-993E-735E105A3A52}"/>
              </a:ext>
            </a:extLst>
          </p:cNvPr>
          <p:cNvSpPr>
            <a:spLocks noGrp="1"/>
          </p:cNvSpPr>
          <p:nvPr>
            <p:ph type="body" sz="quarter" idx="10"/>
          </p:nvPr>
        </p:nvSpPr>
        <p:spPr>
          <a:xfrm>
            <a:off x="7071919" y="448519"/>
            <a:ext cx="4424080" cy="338554"/>
          </a:xfrm>
        </p:spPr>
        <p:txBody>
          <a:bodyPr/>
          <a:lstStyle/>
          <a:p>
            <a:r>
              <a:rPr lang="en-US" altLang="zh-CN" dirty="0"/>
              <a:t>Scatter</a:t>
            </a:r>
            <a:endParaRPr lang="zh-CN" altLang="en-US" dirty="0"/>
          </a:p>
        </p:txBody>
      </p:sp>
    </p:spTree>
    <p:extLst>
      <p:ext uri="{BB962C8B-B14F-4D97-AF65-F5344CB8AC3E}">
        <p14:creationId xmlns:p14="http://schemas.microsoft.com/office/powerpoint/2010/main" val="3327590761"/>
      </p:ext>
    </p:extLst>
  </p:cSld>
  <p:clrMapOvr>
    <a:masterClrMapping/>
  </p:clrMapOvr>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图表 5">
            <a:extLst>
              <a:ext uri="{FF2B5EF4-FFF2-40B4-BE49-F238E27FC236}">
                <a16:creationId xmlns:a16="http://schemas.microsoft.com/office/drawing/2014/main" id="{B63FA7A4-7AFF-FCC5-C937-2B7FF7CF3E5E}"/>
              </a:ext>
            </a:extLst>
          </p:cNvPr>
          <p:cNvGraphicFramePr>
            <a:graphicFrameLocks noChangeAspect="1"/>
          </p:cNvGraphicFramePr>
          <p:nvPr>
            <p:extLst>
              <p:ext uri="{D42A27DB-BD31-4B8C-83A1-F6EECF244321}">
                <p14:modId xmlns:p14="http://schemas.microsoft.com/office/powerpoint/2010/main" val="149059181"/>
              </p:ext>
            </p:extLst>
          </p:nvPr>
        </p:nvGraphicFramePr>
        <p:xfrm>
          <a:off x="1524000" y="685800"/>
          <a:ext cx="9144000" cy="54864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538567069"/>
      </p:ext>
    </p:extLst>
  </p:cSld>
  <p:clrMapOvr>
    <a:masterClrMapping/>
  </p:clrMapOvr>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图表 2">
            <a:extLst>
              <a:ext uri="{FF2B5EF4-FFF2-40B4-BE49-F238E27FC236}">
                <a16:creationId xmlns:a16="http://schemas.microsoft.com/office/drawing/2014/main" id="{C23ACB16-801F-3988-0217-20250F42F0E1}"/>
              </a:ext>
            </a:extLst>
          </p:cNvPr>
          <p:cNvGraphicFramePr>
            <a:graphicFrameLocks noChangeAspect="1"/>
          </p:cNvGraphicFramePr>
          <p:nvPr>
            <p:extLst>
              <p:ext uri="{D42A27DB-BD31-4B8C-83A1-F6EECF244321}">
                <p14:modId xmlns:p14="http://schemas.microsoft.com/office/powerpoint/2010/main" val="2021993515"/>
              </p:ext>
            </p:extLst>
          </p:nvPr>
        </p:nvGraphicFramePr>
        <p:xfrm>
          <a:off x="1524000" y="685800"/>
          <a:ext cx="9144000" cy="54864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63156143"/>
      </p:ext>
    </p:extLst>
  </p:cSld>
  <p:clrMapOvr>
    <a:masterClrMapping/>
  </p:clrMapOvr>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图表 1">
            <a:extLst>
              <a:ext uri="{FF2B5EF4-FFF2-40B4-BE49-F238E27FC236}">
                <a16:creationId xmlns:a16="http://schemas.microsoft.com/office/drawing/2014/main" id="{3E9787A2-FCFC-15B0-D4E9-DCB9A6A6794B}"/>
              </a:ext>
            </a:extLst>
          </p:cNvPr>
          <p:cNvGraphicFramePr>
            <a:graphicFrameLocks noChangeAspect="1"/>
          </p:cNvGraphicFramePr>
          <p:nvPr>
            <p:extLst>
              <p:ext uri="{D42A27DB-BD31-4B8C-83A1-F6EECF244321}">
                <p14:modId xmlns:p14="http://schemas.microsoft.com/office/powerpoint/2010/main" val="1149232345"/>
              </p:ext>
            </p:extLst>
          </p:nvPr>
        </p:nvGraphicFramePr>
        <p:xfrm>
          <a:off x="1524000" y="685800"/>
          <a:ext cx="9144000" cy="54864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126753440"/>
      </p:ext>
    </p:extLst>
  </p:cSld>
  <p:clrMapOvr>
    <a:masterClrMapping/>
  </p:clrMapOvr>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38C1D-D450-E5B5-B895-2FF73ECDF39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8A057F0-C27B-BBB8-C1BA-0A42B358124D}"/>
              </a:ext>
            </a:extLst>
          </p:cNvPr>
          <p:cNvSpPr>
            <a:spLocks noGrp="1"/>
          </p:cNvSpPr>
          <p:nvPr>
            <p:ph type="title"/>
          </p:nvPr>
        </p:nvSpPr>
        <p:spPr>
          <a:xfrm>
            <a:off x="792000" y="360000"/>
            <a:ext cx="6375921" cy="429413"/>
          </a:xfrm>
        </p:spPr>
        <p:txBody>
          <a:bodyPr/>
          <a:lstStyle/>
          <a:p>
            <a:r>
              <a:rPr lang="en-US" altLang="zh-CN" dirty="0"/>
              <a:t>4.2.5.5</a:t>
            </a:r>
            <a:r>
              <a:rPr lang="zh-CN" altLang="en-US" dirty="0"/>
              <a:t> 七大质量管理工具 </a:t>
            </a:r>
            <a:r>
              <a:rPr lang="en-US" altLang="zh-CN" dirty="0"/>
              <a:t>- </a:t>
            </a:r>
            <a:r>
              <a:rPr lang="zh-CN" altLang="en-US" dirty="0"/>
              <a:t>帕累托定律</a:t>
            </a:r>
          </a:p>
        </p:txBody>
      </p:sp>
      <p:sp>
        <p:nvSpPr>
          <p:cNvPr id="3" name="内容占位符 2">
            <a:extLst>
              <a:ext uri="{FF2B5EF4-FFF2-40B4-BE49-F238E27FC236}">
                <a16:creationId xmlns:a16="http://schemas.microsoft.com/office/drawing/2014/main" id="{52DD3E40-072F-F6FF-425B-71F0D75466E2}"/>
              </a:ext>
            </a:extLst>
          </p:cNvPr>
          <p:cNvSpPr>
            <a:spLocks noGrp="1"/>
          </p:cNvSpPr>
          <p:nvPr>
            <p:ph idx="1"/>
          </p:nvPr>
        </p:nvSpPr>
        <p:spPr>
          <a:xfrm>
            <a:off x="696000" y="864000"/>
            <a:ext cx="10800000" cy="5400000"/>
          </a:xfrm>
        </p:spPr>
        <p:txBody>
          <a:bodyPr/>
          <a:lstStyle/>
          <a:p>
            <a:r>
              <a:rPr lang="zh-CN" altLang="en-US" dirty="0"/>
              <a:t>又称 </a:t>
            </a:r>
            <a:r>
              <a:rPr lang="en-US" altLang="zh-CN" dirty="0"/>
              <a:t>80/20 </a:t>
            </a:r>
            <a:r>
              <a:rPr lang="zh-CN" altLang="en-US" dirty="0"/>
              <a:t>法则</a:t>
            </a:r>
            <a:endParaRPr lang="en-US" altLang="zh-CN" dirty="0"/>
          </a:p>
          <a:p>
            <a:r>
              <a:rPr lang="en-US" altLang="zh-CN" dirty="0"/>
              <a:t>19</a:t>
            </a:r>
            <a:r>
              <a:rPr lang="zh-CN" altLang="en-US" dirty="0"/>
              <a:t>世纪末</a:t>
            </a:r>
            <a:r>
              <a:rPr lang="en-US" altLang="zh-CN" dirty="0"/>
              <a:t>20</a:t>
            </a:r>
            <a:r>
              <a:rPr lang="zh-CN" altLang="en-US" dirty="0"/>
              <a:t>世纪初提出</a:t>
            </a:r>
          </a:p>
          <a:p>
            <a:r>
              <a:rPr lang="zh-CN" altLang="en-US" dirty="0"/>
              <a:t>描述投入与产出之间普遍存在不平衡关系的经验法则</a:t>
            </a:r>
            <a:endParaRPr lang="en-US" altLang="zh-CN" dirty="0"/>
          </a:p>
          <a:p>
            <a:r>
              <a:rPr lang="zh-CN" altLang="en-US" dirty="0"/>
              <a:t>大约</a:t>
            </a:r>
            <a:r>
              <a:rPr lang="en-US" altLang="zh-CN" dirty="0"/>
              <a:t>80%</a:t>
            </a:r>
            <a:r>
              <a:rPr lang="zh-CN" altLang="en-US" dirty="0"/>
              <a:t>的结果来自</a:t>
            </a:r>
            <a:r>
              <a:rPr lang="en-US" altLang="zh-CN" dirty="0"/>
              <a:t>20%</a:t>
            </a:r>
            <a:r>
              <a:rPr lang="zh-CN" altLang="en-US" dirty="0"/>
              <a:t>的原因</a:t>
            </a:r>
            <a:endParaRPr lang="en-US" altLang="zh-CN" dirty="0"/>
          </a:p>
          <a:p>
            <a:r>
              <a:rPr lang="zh-CN" altLang="en-US" dirty="0"/>
              <a:t>关键的少数与琐碎的多数</a:t>
            </a:r>
            <a:endParaRPr lang="en-US" altLang="zh-CN" dirty="0"/>
          </a:p>
          <a:p>
            <a:r>
              <a:rPr lang="en-US" altLang="zh-CN" dirty="0"/>
              <a:t>80% </a:t>
            </a:r>
            <a:r>
              <a:rPr lang="zh-CN" altLang="en-US" dirty="0"/>
              <a:t>的质量问题（或后果）通常是由 </a:t>
            </a:r>
            <a:r>
              <a:rPr lang="en-US" altLang="zh-CN" dirty="0"/>
              <a:t>20% </a:t>
            </a:r>
            <a:r>
              <a:rPr lang="zh-CN" altLang="en-US" dirty="0"/>
              <a:t>的关键原因（或模块）引起</a:t>
            </a:r>
            <a:endParaRPr lang="en-US" altLang="zh-CN" dirty="0"/>
          </a:p>
        </p:txBody>
      </p:sp>
      <p:sp>
        <p:nvSpPr>
          <p:cNvPr id="7" name="文本占位符 6">
            <a:extLst>
              <a:ext uri="{FF2B5EF4-FFF2-40B4-BE49-F238E27FC236}">
                <a16:creationId xmlns:a16="http://schemas.microsoft.com/office/drawing/2014/main" id="{5151D2C9-5935-63B8-ECDB-5EC0F2DD9AC6}"/>
              </a:ext>
            </a:extLst>
          </p:cNvPr>
          <p:cNvSpPr>
            <a:spLocks noGrp="1"/>
          </p:cNvSpPr>
          <p:nvPr>
            <p:ph type="body" sz="quarter" idx="10"/>
          </p:nvPr>
        </p:nvSpPr>
        <p:spPr>
          <a:xfrm>
            <a:off x="7071919" y="448519"/>
            <a:ext cx="4424080" cy="338554"/>
          </a:xfrm>
        </p:spPr>
        <p:txBody>
          <a:bodyPr/>
          <a:lstStyle/>
          <a:p>
            <a:r>
              <a:rPr lang="en-US" altLang="zh-CN" dirty="0"/>
              <a:t>Pareto Principle</a:t>
            </a:r>
            <a:endParaRPr lang="zh-CN" altLang="en-US" dirty="0"/>
          </a:p>
        </p:txBody>
      </p:sp>
      <p:graphicFrame>
        <p:nvGraphicFramePr>
          <p:cNvPr id="17" name="表格 16">
            <a:extLst>
              <a:ext uri="{FF2B5EF4-FFF2-40B4-BE49-F238E27FC236}">
                <a16:creationId xmlns:a16="http://schemas.microsoft.com/office/drawing/2014/main" id="{C35F2E73-1D09-03C8-A194-B3D1E5012E2C}"/>
              </a:ext>
            </a:extLst>
          </p:cNvPr>
          <p:cNvGraphicFramePr>
            <a:graphicFrameLocks noGrp="1"/>
          </p:cNvGraphicFramePr>
          <p:nvPr>
            <p:extLst>
              <p:ext uri="{D42A27DB-BD31-4B8C-83A1-F6EECF244321}">
                <p14:modId xmlns:p14="http://schemas.microsoft.com/office/powerpoint/2010/main" val="1930558282"/>
              </p:ext>
            </p:extLst>
          </p:nvPr>
        </p:nvGraphicFramePr>
        <p:xfrm>
          <a:off x="695325" y="3611562"/>
          <a:ext cx="10801350" cy="1676400"/>
        </p:xfrm>
        <a:graphic>
          <a:graphicData uri="http://schemas.openxmlformats.org/drawingml/2006/table">
            <a:tbl>
              <a:tblPr/>
              <a:tblGrid>
                <a:gridCol w="3600450">
                  <a:extLst>
                    <a:ext uri="{9D8B030D-6E8A-4147-A177-3AD203B41FA5}">
                      <a16:colId xmlns:a16="http://schemas.microsoft.com/office/drawing/2014/main" val="1769100451"/>
                    </a:ext>
                  </a:extLst>
                </a:gridCol>
                <a:gridCol w="3600450">
                  <a:extLst>
                    <a:ext uri="{9D8B030D-6E8A-4147-A177-3AD203B41FA5}">
                      <a16:colId xmlns:a16="http://schemas.microsoft.com/office/drawing/2014/main" val="3752314609"/>
                    </a:ext>
                  </a:extLst>
                </a:gridCol>
                <a:gridCol w="3600450">
                  <a:extLst>
                    <a:ext uri="{9D8B030D-6E8A-4147-A177-3AD203B41FA5}">
                      <a16:colId xmlns:a16="http://schemas.microsoft.com/office/drawing/2014/main" val="2489946376"/>
                    </a:ext>
                  </a:extLst>
                </a:gridCol>
              </a:tblGrid>
              <a:tr h="0">
                <a:tc>
                  <a:txBody>
                    <a:bodyPr/>
                    <a:lstStyle/>
                    <a:p>
                      <a:pPr algn="l">
                        <a:buNone/>
                      </a:pPr>
                      <a:r>
                        <a:rPr lang="zh-CN" altLang="en-US" sz="1600" dirty="0">
                          <a:solidFill>
                            <a:schemeClr val="bg1"/>
                          </a:solidFill>
                        </a:rPr>
                        <a:t>应用领域</a:t>
                      </a:r>
                    </a:p>
                  </a:txBody>
                  <a:tcPr anchor="ctr">
                    <a:lnL>
                      <a:noFill/>
                    </a:lnL>
                    <a:lnR>
                      <a:noFill/>
                    </a:lnR>
                    <a:lnT w="1270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00B0F0"/>
                    </a:solidFill>
                  </a:tcPr>
                </a:tc>
                <a:tc>
                  <a:txBody>
                    <a:bodyPr/>
                    <a:lstStyle/>
                    <a:p>
                      <a:pPr algn="l">
                        <a:buNone/>
                      </a:pPr>
                      <a:r>
                        <a:rPr lang="en-US" altLang="zh-CN" sz="1600" dirty="0">
                          <a:solidFill>
                            <a:schemeClr val="bg1"/>
                          </a:solidFill>
                        </a:rPr>
                        <a:t>20% </a:t>
                      </a:r>
                      <a:r>
                        <a:rPr lang="zh-CN" altLang="en-US" sz="1600" dirty="0">
                          <a:solidFill>
                            <a:schemeClr val="bg1"/>
                          </a:solidFill>
                        </a:rPr>
                        <a:t>的关键因素</a:t>
                      </a:r>
                    </a:p>
                  </a:txBody>
                  <a:tcPr anchor="ctr">
                    <a:lnL>
                      <a:noFill/>
                    </a:lnL>
                    <a:lnR>
                      <a:noFill/>
                    </a:lnR>
                    <a:lnT w="1270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00B0F0"/>
                    </a:solidFill>
                  </a:tcPr>
                </a:tc>
                <a:tc>
                  <a:txBody>
                    <a:bodyPr/>
                    <a:lstStyle/>
                    <a:p>
                      <a:pPr algn="l">
                        <a:buNone/>
                      </a:pPr>
                      <a:r>
                        <a:rPr lang="en-US" altLang="zh-CN" sz="1600" dirty="0">
                          <a:solidFill>
                            <a:schemeClr val="bg1"/>
                          </a:solidFill>
                        </a:rPr>
                        <a:t>80% </a:t>
                      </a:r>
                      <a:r>
                        <a:rPr lang="zh-CN" altLang="en-US" sz="1600" dirty="0">
                          <a:solidFill>
                            <a:schemeClr val="bg1"/>
                          </a:solidFill>
                        </a:rPr>
                        <a:t>的产出结果</a:t>
                      </a:r>
                    </a:p>
                  </a:txBody>
                  <a:tcPr anchor="ctr">
                    <a:lnL>
                      <a:noFill/>
                    </a:lnL>
                    <a:lnR>
                      <a:noFill/>
                    </a:lnR>
                    <a:lnT w="1270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00B0F0"/>
                    </a:solidFill>
                  </a:tcPr>
                </a:tc>
                <a:extLst>
                  <a:ext uri="{0D108BD9-81ED-4DB2-BD59-A6C34878D82A}">
                    <a16:rowId xmlns:a16="http://schemas.microsoft.com/office/drawing/2014/main" val="607893061"/>
                  </a:ext>
                </a:extLst>
              </a:tr>
              <a:tr h="0">
                <a:tc>
                  <a:txBody>
                    <a:bodyPr/>
                    <a:lstStyle/>
                    <a:p>
                      <a:pPr algn="l">
                        <a:buNone/>
                      </a:pPr>
                      <a:r>
                        <a:rPr lang="zh-CN" altLang="en-US" sz="1600"/>
                        <a:t>商业管理</a:t>
                      </a:r>
                    </a:p>
                  </a:txBody>
                  <a:tcPr anchor="ctr">
                    <a:lnL>
                      <a:noFill/>
                    </a:lnL>
                    <a:lnR>
                      <a:noFill/>
                    </a:lnR>
                    <a:lnT w="6350" cap="flat" cmpd="sng" algn="ctr">
                      <a:solidFill>
                        <a:schemeClr val="bg1"/>
                      </a:solidFill>
                      <a:prstDash val="solid"/>
                      <a:round/>
                      <a:headEnd type="none" w="med" len="med"/>
                      <a:tailEnd type="none" w="med" len="med"/>
                    </a:lnT>
                    <a:lnB>
                      <a:noFill/>
                    </a:lnB>
                    <a:noFill/>
                  </a:tcPr>
                </a:tc>
                <a:tc>
                  <a:txBody>
                    <a:bodyPr/>
                    <a:lstStyle/>
                    <a:p>
                      <a:pPr algn="l">
                        <a:buNone/>
                      </a:pPr>
                      <a:r>
                        <a:rPr lang="en-US" altLang="zh-CN" sz="1600"/>
                        <a:t>20% </a:t>
                      </a:r>
                      <a:r>
                        <a:rPr lang="zh-CN" altLang="en-US" sz="1600"/>
                        <a:t>的核心客户</a:t>
                      </a:r>
                    </a:p>
                  </a:txBody>
                  <a:tcPr anchor="ctr">
                    <a:lnL>
                      <a:noFill/>
                    </a:lnL>
                    <a:lnR>
                      <a:noFill/>
                    </a:lnR>
                    <a:lnT w="6350" cap="flat" cmpd="sng" algn="ctr">
                      <a:solidFill>
                        <a:schemeClr val="bg1"/>
                      </a:solidFill>
                      <a:prstDash val="solid"/>
                      <a:round/>
                      <a:headEnd type="none" w="med" len="med"/>
                      <a:tailEnd type="none" w="med" len="med"/>
                    </a:lnT>
                    <a:lnB>
                      <a:noFill/>
                    </a:lnB>
                    <a:noFill/>
                  </a:tcPr>
                </a:tc>
                <a:tc>
                  <a:txBody>
                    <a:bodyPr/>
                    <a:lstStyle/>
                    <a:p>
                      <a:pPr algn="l">
                        <a:buNone/>
                      </a:pPr>
                      <a:r>
                        <a:rPr lang="zh-CN" altLang="en-US" sz="1600"/>
                        <a:t>贡献了 </a:t>
                      </a:r>
                      <a:r>
                        <a:rPr lang="en-US" altLang="zh-CN" sz="1600"/>
                        <a:t>80% </a:t>
                      </a:r>
                      <a:r>
                        <a:rPr lang="zh-CN" altLang="en-US" sz="1600"/>
                        <a:t>的企业利润</a:t>
                      </a:r>
                    </a:p>
                  </a:txBody>
                  <a:tcPr anchor="ctr">
                    <a:lnL>
                      <a:noFill/>
                    </a:lnL>
                    <a:lnR>
                      <a:noFill/>
                    </a:lnR>
                    <a:lnT w="6350" cap="flat" cmpd="sng" algn="ctr">
                      <a:solidFill>
                        <a:schemeClr val="bg1"/>
                      </a:solidFill>
                      <a:prstDash val="solid"/>
                      <a:round/>
                      <a:headEnd type="none" w="med" len="med"/>
                      <a:tailEnd type="none" w="med" len="med"/>
                    </a:lnT>
                    <a:lnB>
                      <a:noFill/>
                    </a:lnB>
                    <a:noFill/>
                  </a:tcPr>
                </a:tc>
                <a:extLst>
                  <a:ext uri="{0D108BD9-81ED-4DB2-BD59-A6C34878D82A}">
                    <a16:rowId xmlns:a16="http://schemas.microsoft.com/office/drawing/2014/main" val="1772761983"/>
                  </a:ext>
                </a:extLst>
              </a:tr>
              <a:tr h="0">
                <a:tc>
                  <a:txBody>
                    <a:bodyPr/>
                    <a:lstStyle/>
                    <a:p>
                      <a:pPr algn="l">
                        <a:buNone/>
                      </a:pPr>
                      <a:r>
                        <a:rPr lang="zh-CN" altLang="en-US" sz="1600" dirty="0"/>
                        <a:t>产品质量</a:t>
                      </a:r>
                    </a:p>
                  </a:txBody>
                  <a:tcPr anchor="ctr">
                    <a:lnL>
                      <a:noFill/>
                    </a:lnL>
                    <a:lnR>
                      <a:noFill/>
                    </a:lnR>
                    <a:lnT>
                      <a:noFill/>
                    </a:lnT>
                    <a:lnB>
                      <a:noFill/>
                    </a:lnB>
                    <a:noFill/>
                  </a:tcPr>
                </a:tc>
                <a:tc>
                  <a:txBody>
                    <a:bodyPr/>
                    <a:lstStyle/>
                    <a:p>
                      <a:pPr algn="l">
                        <a:buNone/>
                      </a:pPr>
                      <a:r>
                        <a:rPr lang="en-US" altLang="zh-CN" sz="1600"/>
                        <a:t>20% </a:t>
                      </a:r>
                      <a:r>
                        <a:rPr lang="zh-CN" altLang="en-US" sz="1600"/>
                        <a:t>的代码缺陷</a:t>
                      </a:r>
                    </a:p>
                  </a:txBody>
                  <a:tcPr anchor="ctr">
                    <a:lnL>
                      <a:noFill/>
                    </a:lnL>
                    <a:lnR>
                      <a:noFill/>
                    </a:lnR>
                    <a:lnT>
                      <a:noFill/>
                    </a:lnT>
                    <a:lnB>
                      <a:noFill/>
                    </a:lnB>
                    <a:noFill/>
                  </a:tcPr>
                </a:tc>
                <a:tc>
                  <a:txBody>
                    <a:bodyPr/>
                    <a:lstStyle/>
                    <a:p>
                      <a:pPr algn="l">
                        <a:buNone/>
                      </a:pPr>
                      <a:r>
                        <a:rPr lang="zh-CN" altLang="en-US" sz="1600"/>
                        <a:t>导致了 </a:t>
                      </a:r>
                      <a:r>
                        <a:rPr lang="en-US" altLang="zh-CN" sz="1600"/>
                        <a:t>80% </a:t>
                      </a:r>
                      <a:r>
                        <a:rPr lang="zh-CN" altLang="en-US" sz="1600"/>
                        <a:t>的系统错误或崩溃</a:t>
                      </a:r>
                    </a:p>
                  </a:txBody>
                  <a:tcPr anchor="ctr">
                    <a:lnL>
                      <a:noFill/>
                    </a:lnL>
                    <a:lnR>
                      <a:noFill/>
                    </a:lnR>
                    <a:lnT>
                      <a:noFill/>
                    </a:lnT>
                    <a:lnB>
                      <a:noFill/>
                    </a:lnB>
                    <a:noFill/>
                  </a:tcPr>
                </a:tc>
                <a:extLst>
                  <a:ext uri="{0D108BD9-81ED-4DB2-BD59-A6C34878D82A}">
                    <a16:rowId xmlns:a16="http://schemas.microsoft.com/office/drawing/2014/main" val="3200323652"/>
                  </a:ext>
                </a:extLst>
              </a:tr>
              <a:tr h="0">
                <a:tc>
                  <a:txBody>
                    <a:bodyPr/>
                    <a:lstStyle/>
                    <a:p>
                      <a:pPr algn="l">
                        <a:buNone/>
                      </a:pPr>
                      <a:r>
                        <a:rPr lang="zh-CN" altLang="en-US" sz="1600"/>
                        <a:t>个人效率</a:t>
                      </a:r>
                    </a:p>
                  </a:txBody>
                  <a:tcPr anchor="ctr">
                    <a:lnL>
                      <a:noFill/>
                    </a:lnL>
                    <a:lnR>
                      <a:noFill/>
                    </a:lnR>
                    <a:lnT>
                      <a:noFill/>
                    </a:lnT>
                    <a:lnB>
                      <a:noFill/>
                    </a:lnB>
                    <a:noFill/>
                  </a:tcPr>
                </a:tc>
                <a:tc>
                  <a:txBody>
                    <a:bodyPr/>
                    <a:lstStyle/>
                    <a:p>
                      <a:pPr algn="l">
                        <a:buNone/>
                      </a:pPr>
                      <a:r>
                        <a:rPr lang="en-US" altLang="zh-CN" sz="1600"/>
                        <a:t>20% </a:t>
                      </a:r>
                      <a:r>
                        <a:rPr lang="zh-CN" altLang="en-US" sz="1600"/>
                        <a:t>的核心任务</a:t>
                      </a:r>
                    </a:p>
                  </a:txBody>
                  <a:tcPr anchor="ctr">
                    <a:lnL>
                      <a:noFill/>
                    </a:lnL>
                    <a:lnR>
                      <a:noFill/>
                    </a:lnR>
                    <a:lnT>
                      <a:noFill/>
                    </a:lnT>
                    <a:lnB>
                      <a:noFill/>
                    </a:lnB>
                    <a:noFill/>
                  </a:tcPr>
                </a:tc>
                <a:tc>
                  <a:txBody>
                    <a:bodyPr/>
                    <a:lstStyle/>
                    <a:p>
                      <a:pPr algn="l">
                        <a:buNone/>
                      </a:pPr>
                      <a:r>
                        <a:rPr lang="zh-CN" altLang="en-US" sz="1600"/>
                        <a:t>创造了 </a:t>
                      </a:r>
                      <a:r>
                        <a:rPr lang="en-US" altLang="zh-CN" sz="1600"/>
                        <a:t>80% </a:t>
                      </a:r>
                      <a:r>
                        <a:rPr lang="zh-CN" altLang="en-US" sz="1600"/>
                        <a:t>的工作成果和价值</a:t>
                      </a:r>
                    </a:p>
                  </a:txBody>
                  <a:tcPr anchor="ctr">
                    <a:lnL>
                      <a:noFill/>
                    </a:lnL>
                    <a:lnR>
                      <a:noFill/>
                    </a:lnR>
                    <a:lnT>
                      <a:noFill/>
                    </a:lnT>
                    <a:lnB>
                      <a:noFill/>
                    </a:lnB>
                    <a:noFill/>
                  </a:tcPr>
                </a:tc>
                <a:extLst>
                  <a:ext uri="{0D108BD9-81ED-4DB2-BD59-A6C34878D82A}">
                    <a16:rowId xmlns:a16="http://schemas.microsoft.com/office/drawing/2014/main" val="3655459728"/>
                  </a:ext>
                </a:extLst>
              </a:tr>
              <a:tr h="0">
                <a:tc>
                  <a:txBody>
                    <a:bodyPr/>
                    <a:lstStyle/>
                    <a:p>
                      <a:pPr algn="l">
                        <a:buNone/>
                      </a:pPr>
                      <a:r>
                        <a:rPr lang="zh-CN" altLang="en-US" sz="1600" dirty="0"/>
                        <a:t>软件开发</a:t>
                      </a:r>
                    </a:p>
                  </a:txBody>
                  <a:tcPr anchor="ctr">
                    <a:lnL>
                      <a:noFill/>
                    </a:lnL>
                    <a:lnR>
                      <a:noFill/>
                    </a:lnR>
                    <a:lnT>
                      <a:noFill/>
                    </a:lnT>
                    <a:lnB w="12700" cap="flat" cmpd="sng" algn="ctr">
                      <a:solidFill>
                        <a:schemeClr val="bg1"/>
                      </a:solidFill>
                      <a:prstDash val="solid"/>
                      <a:round/>
                      <a:headEnd type="none" w="med" len="med"/>
                      <a:tailEnd type="none" w="med" len="med"/>
                    </a:lnB>
                    <a:noFill/>
                  </a:tcPr>
                </a:tc>
                <a:tc>
                  <a:txBody>
                    <a:bodyPr/>
                    <a:lstStyle/>
                    <a:p>
                      <a:pPr algn="l">
                        <a:buNone/>
                      </a:pPr>
                      <a:r>
                        <a:rPr lang="en-US" altLang="zh-CN" sz="1600"/>
                        <a:t>20% </a:t>
                      </a:r>
                      <a:r>
                        <a:rPr lang="zh-CN" altLang="en-US" sz="1600"/>
                        <a:t>的核心功能</a:t>
                      </a:r>
                    </a:p>
                  </a:txBody>
                  <a:tcPr anchor="ctr">
                    <a:lnL>
                      <a:noFill/>
                    </a:lnL>
                    <a:lnR>
                      <a:noFill/>
                    </a:lnR>
                    <a:lnT>
                      <a:noFill/>
                    </a:lnT>
                    <a:lnB w="12700" cap="flat" cmpd="sng" algn="ctr">
                      <a:solidFill>
                        <a:schemeClr val="bg1"/>
                      </a:solidFill>
                      <a:prstDash val="solid"/>
                      <a:round/>
                      <a:headEnd type="none" w="med" len="med"/>
                      <a:tailEnd type="none" w="med" len="med"/>
                    </a:lnB>
                    <a:noFill/>
                  </a:tcPr>
                </a:tc>
                <a:tc>
                  <a:txBody>
                    <a:bodyPr/>
                    <a:lstStyle/>
                    <a:p>
                      <a:pPr algn="l">
                        <a:buNone/>
                      </a:pPr>
                      <a:r>
                        <a:rPr lang="zh-CN" altLang="en-US" sz="1600" dirty="0"/>
                        <a:t>满足了 </a:t>
                      </a:r>
                      <a:r>
                        <a:rPr lang="en-US" altLang="zh-CN" sz="1600" dirty="0"/>
                        <a:t>80% </a:t>
                      </a:r>
                      <a:r>
                        <a:rPr lang="zh-CN" altLang="en-US" sz="1600" dirty="0"/>
                        <a:t>的用户需求</a:t>
                      </a:r>
                    </a:p>
                  </a:txBody>
                  <a:tcPr anchor="ctr">
                    <a:lnL>
                      <a:noFill/>
                    </a:lnL>
                    <a:lnR>
                      <a:noFill/>
                    </a:lnR>
                    <a:lnT>
                      <a:noFill/>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233272383"/>
                  </a:ext>
                </a:extLst>
              </a:tr>
            </a:tbl>
          </a:graphicData>
        </a:graphic>
      </p:graphicFrame>
    </p:spTree>
    <p:extLst>
      <p:ext uri="{BB962C8B-B14F-4D97-AF65-F5344CB8AC3E}">
        <p14:creationId xmlns:p14="http://schemas.microsoft.com/office/powerpoint/2010/main" val="1905541719"/>
      </p:ext>
    </p:extLst>
  </p:cSld>
  <p:clrMapOvr>
    <a:masterClrMapping/>
  </p:clrMapOvr>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5C88B41D-C144-A71E-BDDC-7AA166700185}"/>
              </a:ext>
            </a:extLst>
          </p:cNvPr>
          <p:cNvGraphicFramePr>
            <a:graphicFrameLocks noGrp="1"/>
          </p:cNvGraphicFramePr>
          <p:nvPr>
            <p:extLst>
              <p:ext uri="{D42A27DB-BD31-4B8C-83A1-F6EECF244321}">
                <p14:modId xmlns:p14="http://schemas.microsoft.com/office/powerpoint/2010/main" val="2636130649"/>
              </p:ext>
            </p:extLst>
          </p:nvPr>
        </p:nvGraphicFramePr>
        <p:xfrm>
          <a:off x="695325" y="2423160"/>
          <a:ext cx="10801350" cy="2011680"/>
        </p:xfrm>
        <a:graphic>
          <a:graphicData uri="http://schemas.openxmlformats.org/drawingml/2006/table">
            <a:tbl>
              <a:tblPr/>
              <a:tblGrid>
                <a:gridCol w="2581275">
                  <a:extLst>
                    <a:ext uri="{9D8B030D-6E8A-4147-A177-3AD203B41FA5}">
                      <a16:colId xmlns:a16="http://schemas.microsoft.com/office/drawing/2014/main" val="2344382792"/>
                    </a:ext>
                  </a:extLst>
                </a:gridCol>
                <a:gridCol w="4619625">
                  <a:extLst>
                    <a:ext uri="{9D8B030D-6E8A-4147-A177-3AD203B41FA5}">
                      <a16:colId xmlns:a16="http://schemas.microsoft.com/office/drawing/2014/main" val="237294307"/>
                    </a:ext>
                  </a:extLst>
                </a:gridCol>
                <a:gridCol w="3600450">
                  <a:extLst>
                    <a:ext uri="{9D8B030D-6E8A-4147-A177-3AD203B41FA5}">
                      <a16:colId xmlns:a16="http://schemas.microsoft.com/office/drawing/2014/main" val="193799773"/>
                    </a:ext>
                  </a:extLst>
                </a:gridCol>
              </a:tblGrid>
              <a:tr h="0">
                <a:tc>
                  <a:txBody>
                    <a:bodyPr/>
                    <a:lstStyle/>
                    <a:p>
                      <a:pPr algn="l">
                        <a:buNone/>
                      </a:pPr>
                      <a:r>
                        <a:rPr lang="zh-CN" altLang="en-US" sz="1600" dirty="0">
                          <a:solidFill>
                            <a:schemeClr val="bg1"/>
                          </a:solidFill>
                        </a:rPr>
                        <a:t>阶段</a:t>
                      </a:r>
                    </a:p>
                  </a:txBody>
                  <a:tcPr anchor="ctr">
                    <a:lnL>
                      <a:noFill/>
                    </a:lnL>
                    <a:lnR>
                      <a:noFill/>
                    </a:lnR>
                    <a:lnT w="1270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00B0F0"/>
                    </a:solidFill>
                  </a:tcPr>
                </a:tc>
                <a:tc>
                  <a:txBody>
                    <a:bodyPr/>
                    <a:lstStyle/>
                    <a:p>
                      <a:pPr algn="l">
                        <a:buNone/>
                      </a:pPr>
                      <a:r>
                        <a:rPr lang="zh-CN" altLang="en-US" sz="1600" dirty="0">
                          <a:solidFill>
                            <a:schemeClr val="bg1"/>
                          </a:solidFill>
                        </a:rPr>
                        <a:t>关键动作</a:t>
                      </a:r>
                    </a:p>
                  </a:txBody>
                  <a:tcPr anchor="ctr">
                    <a:lnL>
                      <a:noFill/>
                    </a:lnL>
                    <a:lnR>
                      <a:noFill/>
                    </a:lnR>
                    <a:lnT w="1270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00B0F0"/>
                    </a:solidFill>
                  </a:tcPr>
                </a:tc>
                <a:tc>
                  <a:txBody>
                    <a:bodyPr/>
                    <a:lstStyle/>
                    <a:p>
                      <a:pPr algn="l">
                        <a:buNone/>
                      </a:pPr>
                      <a:r>
                        <a:rPr lang="zh-CN" altLang="en-US" sz="1600" dirty="0">
                          <a:solidFill>
                            <a:schemeClr val="bg1"/>
                          </a:solidFill>
                        </a:rPr>
                        <a:t>目标</a:t>
                      </a:r>
                    </a:p>
                  </a:txBody>
                  <a:tcPr anchor="ctr">
                    <a:lnL>
                      <a:noFill/>
                    </a:lnL>
                    <a:lnR>
                      <a:noFill/>
                    </a:lnR>
                    <a:lnT w="1270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00B0F0"/>
                    </a:solidFill>
                  </a:tcPr>
                </a:tc>
                <a:extLst>
                  <a:ext uri="{0D108BD9-81ED-4DB2-BD59-A6C34878D82A}">
                    <a16:rowId xmlns:a16="http://schemas.microsoft.com/office/drawing/2014/main" val="964683744"/>
                  </a:ext>
                </a:extLst>
              </a:tr>
              <a:tr h="0">
                <a:tc>
                  <a:txBody>
                    <a:bodyPr/>
                    <a:lstStyle/>
                    <a:p>
                      <a:pPr algn="l">
                        <a:buNone/>
                      </a:pPr>
                      <a:r>
                        <a:rPr lang="zh-CN" altLang="en-US" sz="1600"/>
                        <a:t>需求分析</a:t>
                      </a:r>
                    </a:p>
                  </a:txBody>
                  <a:tcPr anchor="ctr">
                    <a:lnL>
                      <a:noFill/>
                    </a:lnL>
                    <a:lnR>
                      <a:noFill/>
                    </a:lnR>
                    <a:lnT w="6350" cap="flat" cmpd="sng" algn="ctr">
                      <a:solidFill>
                        <a:schemeClr val="bg1"/>
                      </a:solidFill>
                      <a:prstDash val="solid"/>
                      <a:round/>
                      <a:headEnd type="none" w="med" len="med"/>
                      <a:tailEnd type="none" w="med" len="med"/>
                    </a:lnT>
                    <a:lnB>
                      <a:noFill/>
                    </a:lnB>
                    <a:noFill/>
                  </a:tcPr>
                </a:tc>
                <a:tc>
                  <a:txBody>
                    <a:bodyPr/>
                    <a:lstStyle/>
                    <a:p>
                      <a:pPr algn="l">
                        <a:buNone/>
                      </a:pPr>
                      <a:r>
                        <a:rPr lang="zh-CN" altLang="en-US" sz="1600" dirty="0"/>
                        <a:t>识别用户最常用的 </a:t>
                      </a:r>
                      <a:r>
                        <a:rPr lang="en-US" altLang="zh-CN" sz="1600" dirty="0"/>
                        <a:t>20% </a:t>
                      </a:r>
                      <a:r>
                        <a:rPr lang="zh-CN" altLang="en-US" sz="1600" dirty="0"/>
                        <a:t>功能</a:t>
                      </a:r>
                    </a:p>
                  </a:txBody>
                  <a:tcPr anchor="ctr">
                    <a:lnL>
                      <a:noFill/>
                    </a:lnL>
                    <a:lnR>
                      <a:noFill/>
                    </a:lnR>
                    <a:lnT w="6350" cap="flat" cmpd="sng" algn="ctr">
                      <a:solidFill>
                        <a:schemeClr val="bg1"/>
                      </a:solidFill>
                      <a:prstDash val="solid"/>
                      <a:round/>
                      <a:headEnd type="none" w="med" len="med"/>
                      <a:tailEnd type="none" w="med" len="med"/>
                    </a:lnT>
                    <a:lnB>
                      <a:noFill/>
                    </a:lnB>
                    <a:noFill/>
                  </a:tcPr>
                </a:tc>
                <a:tc>
                  <a:txBody>
                    <a:bodyPr/>
                    <a:lstStyle/>
                    <a:p>
                      <a:pPr algn="l">
                        <a:buNone/>
                      </a:pPr>
                      <a:r>
                        <a:rPr lang="zh-CN" altLang="en-US" sz="1600" dirty="0"/>
                        <a:t>确保核心体验完美</a:t>
                      </a:r>
                    </a:p>
                  </a:txBody>
                  <a:tcPr anchor="ctr">
                    <a:lnL>
                      <a:noFill/>
                    </a:lnL>
                    <a:lnR>
                      <a:noFill/>
                    </a:lnR>
                    <a:lnT w="6350" cap="flat" cmpd="sng" algn="ctr">
                      <a:solidFill>
                        <a:schemeClr val="bg1"/>
                      </a:solidFill>
                      <a:prstDash val="solid"/>
                      <a:round/>
                      <a:headEnd type="none" w="med" len="med"/>
                      <a:tailEnd type="none" w="med" len="med"/>
                    </a:lnT>
                    <a:lnB>
                      <a:noFill/>
                    </a:lnB>
                    <a:noFill/>
                  </a:tcPr>
                </a:tc>
                <a:extLst>
                  <a:ext uri="{0D108BD9-81ED-4DB2-BD59-A6C34878D82A}">
                    <a16:rowId xmlns:a16="http://schemas.microsoft.com/office/drawing/2014/main" val="4085531879"/>
                  </a:ext>
                </a:extLst>
              </a:tr>
              <a:tr h="0">
                <a:tc>
                  <a:txBody>
                    <a:bodyPr/>
                    <a:lstStyle/>
                    <a:p>
                      <a:pPr algn="l">
                        <a:buNone/>
                      </a:pPr>
                      <a:r>
                        <a:rPr lang="zh-CN" altLang="en-US" sz="1600"/>
                        <a:t>开发过程</a:t>
                      </a:r>
                    </a:p>
                  </a:txBody>
                  <a:tcPr anchor="ctr">
                    <a:lnL>
                      <a:noFill/>
                    </a:lnL>
                    <a:lnR>
                      <a:noFill/>
                    </a:lnR>
                    <a:lnT>
                      <a:noFill/>
                    </a:lnT>
                    <a:lnB>
                      <a:noFill/>
                    </a:lnB>
                    <a:noFill/>
                  </a:tcPr>
                </a:tc>
                <a:tc>
                  <a:txBody>
                    <a:bodyPr/>
                    <a:lstStyle/>
                    <a:p>
                      <a:pPr algn="l">
                        <a:buNone/>
                      </a:pPr>
                      <a:r>
                        <a:rPr lang="zh-CN" altLang="en-US" sz="1600" dirty="0"/>
                        <a:t>关注复杂度最高的 </a:t>
                      </a:r>
                      <a:r>
                        <a:rPr lang="en-US" altLang="zh-CN" sz="1600" dirty="0"/>
                        <a:t>20% </a:t>
                      </a:r>
                      <a:r>
                        <a:rPr lang="zh-CN" altLang="en-US" sz="1600" dirty="0"/>
                        <a:t>模块</a:t>
                      </a:r>
                    </a:p>
                  </a:txBody>
                  <a:tcPr anchor="ctr">
                    <a:lnL>
                      <a:noFill/>
                    </a:lnL>
                    <a:lnR>
                      <a:noFill/>
                    </a:lnR>
                    <a:lnT>
                      <a:noFill/>
                    </a:lnT>
                    <a:lnB>
                      <a:noFill/>
                    </a:lnB>
                    <a:noFill/>
                  </a:tcPr>
                </a:tc>
                <a:tc>
                  <a:txBody>
                    <a:bodyPr/>
                    <a:lstStyle/>
                    <a:p>
                      <a:pPr algn="l">
                        <a:buNone/>
                      </a:pPr>
                      <a:r>
                        <a:rPr lang="zh-CN" altLang="en-US" sz="1600"/>
                        <a:t>预防大部分潜在 </a:t>
                      </a:r>
                      <a:r>
                        <a:rPr lang="en-US" altLang="zh-CN" sz="1600"/>
                        <a:t>Bug</a:t>
                      </a:r>
                    </a:p>
                  </a:txBody>
                  <a:tcPr anchor="ctr">
                    <a:lnL>
                      <a:noFill/>
                    </a:lnL>
                    <a:lnR>
                      <a:noFill/>
                    </a:lnR>
                    <a:lnT>
                      <a:noFill/>
                    </a:lnT>
                    <a:lnB>
                      <a:noFill/>
                    </a:lnB>
                    <a:noFill/>
                  </a:tcPr>
                </a:tc>
                <a:extLst>
                  <a:ext uri="{0D108BD9-81ED-4DB2-BD59-A6C34878D82A}">
                    <a16:rowId xmlns:a16="http://schemas.microsoft.com/office/drawing/2014/main" val="2179458205"/>
                  </a:ext>
                </a:extLst>
              </a:tr>
              <a:tr h="0">
                <a:tc>
                  <a:txBody>
                    <a:bodyPr/>
                    <a:lstStyle/>
                    <a:p>
                      <a:pPr algn="l">
                        <a:buNone/>
                      </a:pPr>
                      <a:r>
                        <a:rPr lang="zh-CN" altLang="en-US" sz="1600"/>
                        <a:t>测试执行</a:t>
                      </a:r>
                    </a:p>
                  </a:txBody>
                  <a:tcPr anchor="ctr">
                    <a:lnL>
                      <a:noFill/>
                    </a:lnL>
                    <a:lnR>
                      <a:noFill/>
                    </a:lnR>
                    <a:lnT>
                      <a:noFill/>
                    </a:lnT>
                    <a:lnB>
                      <a:noFill/>
                    </a:lnB>
                    <a:noFill/>
                  </a:tcPr>
                </a:tc>
                <a:tc>
                  <a:txBody>
                    <a:bodyPr/>
                    <a:lstStyle/>
                    <a:p>
                      <a:pPr algn="l">
                        <a:buNone/>
                      </a:pPr>
                      <a:r>
                        <a:rPr lang="zh-CN" altLang="en-US" sz="1600" dirty="0"/>
                        <a:t>优先执行覆盖核心流程的测试用例</a:t>
                      </a:r>
                    </a:p>
                  </a:txBody>
                  <a:tcPr anchor="ctr">
                    <a:lnL>
                      <a:noFill/>
                    </a:lnL>
                    <a:lnR>
                      <a:noFill/>
                    </a:lnR>
                    <a:lnT>
                      <a:noFill/>
                    </a:lnT>
                    <a:lnB>
                      <a:noFill/>
                    </a:lnB>
                    <a:noFill/>
                  </a:tcPr>
                </a:tc>
                <a:tc>
                  <a:txBody>
                    <a:bodyPr/>
                    <a:lstStyle/>
                    <a:p>
                      <a:pPr algn="l">
                        <a:buNone/>
                      </a:pPr>
                      <a:r>
                        <a:rPr lang="zh-CN" altLang="en-US" sz="1600"/>
                        <a:t>快速发现主要风险</a:t>
                      </a:r>
                    </a:p>
                  </a:txBody>
                  <a:tcPr anchor="ctr">
                    <a:lnL>
                      <a:noFill/>
                    </a:lnL>
                    <a:lnR>
                      <a:noFill/>
                    </a:lnR>
                    <a:lnT>
                      <a:noFill/>
                    </a:lnT>
                    <a:lnB>
                      <a:noFill/>
                    </a:lnB>
                    <a:noFill/>
                  </a:tcPr>
                </a:tc>
                <a:extLst>
                  <a:ext uri="{0D108BD9-81ED-4DB2-BD59-A6C34878D82A}">
                    <a16:rowId xmlns:a16="http://schemas.microsoft.com/office/drawing/2014/main" val="1694967550"/>
                  </a:ext>
                </a:extLst>
              </a:tr>
              <a:tr h="0">
                <a:tc>
                  <a:txBody>
                    <a:bodyPr/>
                    <a:lstStyle/>
                    <a:p>
                      <a:pPr algn="l">
                        <a:buNone/>
                      </a:pPr>
                      <a:r>
                        <a:rPr lang="zh-CN" altLang="en-US" sz="1600"/>
                        <a:t>缺陷修复</a:t>
                      </a:r>
                    </a:p>
                  </a:txBody>
                  <a:tcPr anchor="ctr">
                    <a:lnL>
                      <a:noFill/>
                    </a:lnL>
                    <a:lnR>
                      <a:noFill/>
                    </a:lnR>
                    <a:lnT>
                      <a:noFill/>
                    </a:lnT>
                    <a:lnB>
                      <a:noFill/>
                    </a:lnB>
                    <a:noFill/>
                  </a:tcPr>
                </a:tc>
                <a:tc>
                  <a:txBody>
                    <a:bodyPr/>
                    <a:lstStyle/>
                    <a:p>
                      <a:pPr algn="l">
                        <a:buNone/>
                      </a:pPr>
                      <a:r>
                        <a:rPr lang="zh-CN" altLang="en-US" sz="1600" dirty="0"/>
                        <a:t>优先修复导致系统阻塞的 </a:t>
                      </a:r>
                      <a:r>
                        <a:rPr lang="en-US" altLang="zh-CN" sz="1600" dirty="0"/>
                        <a:t>20% </a:t>
                      </a:r>
                      <a:r>
                        <a:rPr lang="zh-CN" altLang="en-US" sz="1600" dirty="0"/>
                        <a:t>严重缺陷</a:t>
                      </a:r>
                    </a:p>
                  </a:txBody>
                  <a:tcPr anchor="ctr">
                    <a:lnL>
                      <a:noFill/>
                    </a:lnL>
                    <a:lnR>
                      <a:noFill/>
                    </a:lnR>
                    <a:lnT>
                      <a:noFill/>
                    </a:lnT>
                    <a:lnB>
                      <a:noFill/>
                    </a:lnB>
                    <a:noFill/>
                  </a:tcPr>
                </a:tc>
                <a:tc>
                  <a:txBody>
                    <a:bodyPr/>
                    <a:lstStyle/>
                    <a:p>
                      <a:pPr algn="l">
                        <a:buNone/>
                      </a:pPr>
                      <a:r>
                        <a:rPr lang="zh-CN" altLang="en-US" sz="1600"/>
                        <a:t>快速恢复系统可用性</a:t>
                      </a:r>
                    </a:p>
                  </a:txBody>
                  <a:tcPr anchor="ctr">
                    <a:lnL>
                      <a:noFill/>
                    </a:lnL>
                    <a:lnR>
                      <a:noFill/>
                    </a:lnR>
                    <a:lnT>
                      <a:noFill/>
                    </a:lnT>
                    <a:lnB>
                      <a:noFill/>
                    </a:lnB>
                    <a:noFill/>
                  </a:tcPr>
                </a:tc>
                <a:extLst>
                  <a:ext uri="{0D108BD9-81ED-4DB2-BD59-A6C34878D82A}">
                    <a16:rowId xmlns:a16="http://schemas.microsoft.com/office/drawing/2014/main" val="1768188886"/>
                  </a:ext>
                </a:extLst>
              </a:tr>
              <a:tr h="0">
                <a:tc>
                  <a:txBody>
                    <a:bodyPr/>
                    <a:lstStyle/>
                    <a:p>
                      <a:pPr algn="l">
                        <a:buNone/>
                      </a:pPr>
                      <a:r>
                        <a:rPr lang="zh-CN" altLang="en-US" sz="1600"/>
                        <a:t>性能调优</a:t>
                      </a:r>
                    </a:p>
                  </a:txBody>
                  <a:tcPr anchor="ctr">
                    <a:lnL>
                      <a:noFill/>
                    </a:lnL>
                    <a:lnR>
                      <a:noFill/>
                    </a:lnR>
                    <a:lnT>
                      <a:noFill/>
                    </a:lnT>
                    <a:lnB w="12700" cap="flat" cmpd="sng" algn="ctr">
                      <a:solidFill>
                        <a:schemeClr val="bg1"/>
                      </a:solidFill>
                      <a:prstDash val="solid"/>
                      <a:round/>
                      <a:headEnd type="none" w="med" len="med"/>
                      <a:tailEnd type="none" w="med" len="med"/>
                    </a:lnB>
                    <a:noFill/>
                  </a:tcPr>
                </a:tc>
                <a:tc>
                  <a:txBody>
                    <a:bodyPr/>
                    <a:lstStyle/>
                    <a:p>
                      <a:pPr algn="l">
                        <a:buNone/>
                      </a:pPr>
                      <a:r>
                        <a:rPr lang="zh-CN" altLang="en-US" sz="1600" dirty="0"/>
                        <a:t>优化占用资源最多的 </a:t>
                      </a:r>
                      <a:r>
                        <a:rPr lang="en-US" altLang="zh-CN" sz="1600" dirty="0"/>
                        <a:t>20% </a:t>
                      </a:r>
                      <a:r>
                        <a:rPr lang="zh-CN" altLang="en-US" sz="1600" dirty="0"/>
                        <a:t>慢查询</a:t>
                      </a:r>
                      <a:r>
                        <a:rPr lang="en-US" altLang="zh-CN" sz="1600" dirty="0"/>
                        <a:t>/</a:t>
                      </a:r>
                      <a:r>
                        <a:rPr lang="zh-CN" altLang="en-US" sz="1600" dirty="0"/>
                        <a:t>接口</a:t>
                      </a:r>
                    </a:p>
                  </a:txBody>
                  <a:tcPr anchor="ctr">
                    <a:lnL>
                      <a:noFill/>
                    </a:lnL>
                    <a:lnR>
                      <a:noFill/>
                    </a:lnR>
                    <a:lnT>
                      <a:noFill/>
                    </a:lnT>
                    <a:lnB w="12700" cap="flat" cmpd="sng" algn="ctr">
                      <a:solidFill>
                        <a:schemeClr val="bg1"/>
                      </a:solidFill>
                      <a:prstDash val="solid"/>
                      <a:round/>
                      <a:headEnd type="none" w="med" len="med"/>
                      <a:tailEnd type="none" w="med" len="med"/>
                    </a:lnB>
                    <a:noFill/>
                  </a:tcPr>
                </a:tc>
                <a:tc>
                  <a:txBody>
                    <a:bodyPr/>
                    <a:lstStyle/>
                    <a:p>
                      <a:pPr algn="l">
                        <a:buNone/>
                      </a:pPr>
                      <a:r>
                        <a:rPr lang="zh-CN" altLang="en-US" sz="1600" dirty="0"/>
                        <a:t>提升整体系统吞吐量</a:t>
                      </a:r>
                    </a:p>
                  </a:txBody>
                  <a:tcPr anchor="ctr">
                    <a:lnL>
                      <a:noFill/>
                    </a:lnL>
                    <a:lnR>
                      <a:noFill/>
                    </a:lnR>
                    <a:lnT>
                      <a:noFill/>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90552183"/>
                  </a:ext>
                </a:extLst>
              </a:tr>
            </a:tbl>
          </a:graphicData>
        </a:graphic>
      </p:graphicFrame>
    </p:spTree>
    <p:extLst>
      <p:ext uri="{BB962C8B-B14F-4D97-AF65-F5344CB8AC3E}">
        <p14:creationId xmlns:p14="http://schemas.microsoft.com/office/powerpoint/2010/main" val="1906861534"/>
      </p:ext>
    </p:extLst>
  </p:cSld>
  <p:clrMapOvr>
    <a:masterClrMapping/>
  </p:clrMapOvr>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1A611-9C67-D783-623F-2647E0B2D8B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1E48D84-D8E2-55B9-56CB-6FE72FE963A9}"/>
              </a:ext>
            </a:extLst>
          </p:cNvPr>
          <p:cNvSpPr>
            <a:spLocks noGrp="1"/>
          </p:cNvSpPr>
          <p:nvPr>
            <p:ph type="title"/>
          </p:nvPr>
        </p:nvSpPr>
        <p:spPr>
          <a:xfrm>
            <a:off x="792000" y="360000"/>
            <a:ext cx="6375921" cy="429413"/>
          </a:xfrm>
        </p:spPr>
        <p:txBody>
          <a:bodyPr/>
          <a:lstStyle/>
          <a:p>
            <a:r>
              <a:rPr lang="en-US" altLang="zh-CN" dirty="0"/>
              <a:t>4.2.5.6</a:t>
            </a:r>
            <a:r>
              <a:rPr lang="zh-CN" altLang="en-US" dirty="0"/>
              <a:t> 七大质量管理工具 </a:t>
            </a:r>
            <a:r>
              <a:rPr lang="en-US" altLang="zh-CN" dirty="0"/>
              <a:t>- </a:t>
            </a:r>
            <a:r>
              <a:rPr lang="zh-CN" altLang="en-US" dirty="0"/>
              <a:t>控制图</a:t>
            </a:r>
          </a:p>
        </p:txBody>
      </p:sp>
      <p:sp>
        <p:nvSpPr>
          <p:cNvPr id="3" name="内容占位符 2">
            <a:extLst>
              <a:ext uri="{FF2B5EF4-FFF2-40B4-BE49-F238E27FC236}">
                <a16:creationId xmlns:a16="http://schemas.microsoft.com/office/drawing/2014/main" id="{1E5191FF-4293-B105-7D6E-795D59AF2E7B}"/>
              </a:ext>
            </a:extLst>
          </p:cNvPr>
          <p:cNvSpPr>
            <a:spLocks noGrp="1"/>
          </p:cNvSpPr>
          <p:nvPr>
            <p:ph idx="1"/>
          </p:nvPr>
        </p:nvSpPr>
        <p:spPr>
          <a:xfrm>
            <a:off x="696000" y="864000"/>
            <a:ext cx="10800000" cy="5400000"/>
          </a:xfrm>
        </p:spPr>
        <p:txBody>
          <a:bodyPr/>
          <a:lstStyle/>
          <a:p>
            <a:r>
              <a:rPr lang="zh-CN" altLang="en-US" dirty="0"/>
              <a:t>也叫管制图</a:t>
            </a:r>
            <a:endParaRPr lang="en-US" altLang="zh-CN" dirty="0"/>
          </a:p>
          <a:p>
            <a:r>
              <a:rPr lang="zh-CN" altLang="en-US" dirty="0"/>
              <a:t>用于判断一个过程是否稳定、是否处于受控状态</a:t>
            </a:r>
            <a:endParaRPr lang="en-US" altLang="zh-CN" dirty="0"/>
          </a:p>
          <a:p>
            <a:r>
              <a:rPr lang="zh-CN" altLang="en-US" dirty="0"/>
              <a:t>通过设定控制上限和控制下限来监控过程的波动</a:t>
            </a:r>
          </a:p>
          <a:p>
            <a:r>
              <a:rPr lang="zh-CN" altLang="en-US" dirty="0"/>
              <a:t>场景：</a:t>
            </a:r>
          </a:p>
          <a:p>
            <a:pPr lvl="1"/>
            <a:r>
              <a:rPr lang="zh-CN" altLang="en-US" dirty="0"/>
              <a:t>生活场景：每天测量自己的体温。正常体温范围是</a:t>
            </a:r>
            <a:r>
              <a:rPr lang="en-US" altLang="zh-CN" dirty="0"/>
              <a:t>36-37</a:t>
            </a:r>
            <a:r>
              <a:rPr lang="zh-CN" altLang="en-US" dirty="0"/>
              <a:t>度（控制限）。如果连续几天的体温都在这个范围内波动，说明你很健康（过程稳定）。但如果某天体温突然飙升到</a:t>
            </a:r>
            <a:r>
              <a:rPr lang="en-US" altLang="zh-CN" dirty="0"/>
              <a:t>39</a:t>
            </a:r>
            <a:r>
              <a:rPr lang="zh-CN" altLang="en-US" dirty="0"/>
              <a:t>度，超出了控制上限，就说明你发烧了，过程失控了。</a:t>
            </a:r>
          </a:p>
          <a:p>
            <a:pPr lvl="1"/>
            <a:r>
              <a:rPr lang="zh-CN" altLang="en-US" dirty="0"/>
              <a:t>工作场景：工厂生产螺丝，要求直径为</a:t>
            </a:r>
            <a:r>
              <a:rPr lang="en-US" altLang="zh-CN" dirty="0"/>
              <a:t>10mm</a:t>
            </a:r>
            <a:r>
              <a:rPr lang="zh-CN" altLang="en-US" dirty="0"/>
              <a:t>，允许误差</a:t>
            </a:r>
            <a:r>
              <a:rPr lang="en-US" altLang="zh-CN" dirty="0"/>
              <a:t>±0.1mm</a:t>
            </a:r>
            <a:r>
              <a:rPr lang="zh-CN" altLang="en-US" dirty="0"/>
              <a:t>。质检员每隔一小时抽一个螺丝测量直径，并把数据点画在控制图上。只要数据点都在</a:t>
            </a:r>
            <a:r>
              <a:rPr lang="en-US" altLang="zh-CN" dirty="0"/>
              <a:t>9.9mm</a:t>
            </a:r>
            <a:r>
              <a:rPr lang="zh-CN" altLang="en-US" dirty="0"/>
              <a:t>到</a:t>
            </a:r>
            <a:r>
              <a:rPr lang="en-US" altLang="zh-CN" dirty="0"/>
              <a:t>10.1mm</a:t>
            </a:r>
            <a:r>
              <a:rPr lang="zh-CN" altLang="en-US" dirty="0"/>
              <a:t>之间随机波动，就说明机器运转正常。如果连续</a:t>
            </a:r>
            <a:r>
              <a:rPr lang="en-US" altLang="zh-CN" dirty="0"/>
              <a:t>7</a:t>
            </a:r>
            <a:r>
              <a:rPr lang="zh-CN" altLang="en-US" dirty="0"/>
              <a:t>个点都偏向</a:t>
            </a:r>
            <a:r>
              <a:rPr lang="en-US" altLang="zh-CN" dirty="0"/>
              <a:t>10.1mm</a:t>
            </a:r>
            <a:r>
              <a:rPr lang="zh-CN" altLang="en-US" dirty="0"/>
              <a:t>（七点运行法则），即使没超出控制限，也预示着机器可能出了问题，需要调整</a:t>
            </a:r>
          </a:p>
          <a:p>
            <a:endParaRPr lang="zh-CN" altLang="en-US" dirty="0"/>
          </a:p>
        </p:txBody>
      </p:sp>
      <p:sp>
        <p:nvSpPr>
          <p:cNvPr id="7" name="文本占位符 6">
            <a:extLst>
              <a:ext uri="{FF2B5EF4-FFF2-40B4-BE49-F238E27FC236}">
                <a16:creationId xmlns:a16="http://schemas.microsoft.com/office/drawing/2014/main" id="{E2975D0F-331A-0907-56C6-5C4193EEACD0}"/>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2926542355"/>
      </p:ext>
    </p:extLst>
  </p:cSld>
  <p:clrMapOvr>
    <a:masterClrMapping/>
  </p:clrMapOvr>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3135D-D9EA-F106-D18B-2A26BD4FD3E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6134961-BC69-74B0-D6E8-39A99143A776}"/>
              </a:ext>
            </a:extLst>
          </p:cNvPr>
          <p:cNvSpPr>
            <a:spLocks noGrp="1"/>
          </p:cNvSpPr>
          <p:nvPr>
            <p:ph type="title"/>
          </p:nvPr>
        </p:nvSpPr>
        <p:spPr>
          <a:xfrm>
            <a:off x="792000" y="360000"/>
            <a:ext cx="6375921" cy="429413"/>
          </a:xfrm>
        </p:spPr>
        <p:txBody>
          <a:bodyPr/>
          <a:lstStyle/>
          <a:p>
            <a:r>
              <a:rPr lang="en-US" altLang="zh-CN" dirty="0"/>
              <a:t>4.2.5.7</a:t>
            </a:r>
            <a:r>
              <a:rPr lang="zh-CN" altLang="en-US" dirty="0"/>
              <a:t> 七大质量管理工具 </a:t>
            </a:r>
            <a:r>
              <a:rPr lang="en-US" altLang="zh-CN" dirty="0"/>
              <a:t>- </a:t>
            </a:r>
            <a:r>
              <a:rPr lang="zh-CN" altLang="en-US" dirty="0"/>
              <a:t>核查表</a:t>
            </a:r>
          </a:p>
        </p:txBody>
      </p:sp>
      <p:sp>
        <p:nvSpPr>
          <p:cNvPr id="3" name="内容占位符 2">
            <a:extLst>
              <a:ext uri="{FF2B5EF4-FFF2-40B4-BE49-F238E27FC236}">
                <a16:creationId xmlns:a16="http://schemas.microsoft.com/office/drawing/2014/main" id="{ED7D4432-8082-84F7-1F12-F307378BE0EF}"/>
              </a:ext>
            </a:extLst>
          </p:cNvPr>
          <p:cNvSpPr>
            <a:spLocks noGrp="1"/>
          </p:cNvSpPr>
          <p:nvPr>
            <p:ph idx="1"/>
          </p:nvPr>
        </p:nvSpPr>
        <p:spPr>
          <a:xfrm>
            <a:off x="696000" y="864000"/>
            <a:ext cx="10800000" cy="5400000"/>
          </a:xfrm>
        </p:spPr>
        <p:txBody>
          <a:bodyPr/>
          <a:lstStyle/>
          <a:p>
            <a:r>
              <a:rPr lang="zh-CN" altLang="en-US" dirty="0"/>
              <a:t>别名：查检表、核对表</a:t>
            </a:r>
          </a:p>
          <a:p>
            <a:r>
              <a:rPr lang="zh-CN" altLang="en-US" dirty="0"/>
              <a:t>作用：用于系统地收集和记录数据，确保不遗漏任何信息</a:t>
            </a:r>
          </a:p>
          <a:p>
            <a:r>
              <a:rPr lang="zh-CN" altLang="en-US" dirty="0"/>
              <a:t>场景：</a:t>
            </a:r>
          </a:p>
          <a:p>
            <a:pPr lvl="1"/>
            <a:r>
              <a:rPr lang="zh-CN" altLang="en-US" dirty="0"/>
              <a:t>生活场景：你去超市购物前列的购物清单。每买一样东西就在后面打个勾，最后确认是否买齐</a:t>
            </a:r>
          </a:p>
          <a:p>
            <a:pPr lvl="1"/>
            <a:r>
              <a:rPr lang="zh-CN" altLang="en-US" dirty="0"/>
              <a:t>工作场景：软件测试人员在测试软件功能时使用的测试用例清单，每执行一个测试点就记录“通过”或“失败”</a:t>
            </a:r>
          </a:p>
          <a:p>
            <a:endParaRPr lang="zh-CN" altLang="en-US" dirty="0"/>
          </a:p>
        </p:txBody>
      </p:sp>
      <p:sp>
        <p:nvSpPr>
          <p:cNvPr id="7" name="文本占位符 6">
            <a:extLst>
              <a:ext uri="{FF2B5EF4-FFF2-40B4-BE49-F238E27FC236}">
                <a16:creationId xmlns:a16="http://schemas.microsoft.com/office/drawing/2014/main" id="{8E41544A-6B05-5F70-D575-999975F57F01}"/>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4205897602"/>
      </p:ext>
    </p:extLst>
  </p:cSld>
  <p:clrMapOvr>
    <a:masterClrMapping/>
  </p:clrMapOvr>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7D1678-6122-8A2A-B85D-FC6414C66EFE}"/>
              </a:ext>
            </a:extLst>
          </p:cNvPr>
          <p:cNvSpPr>
            <a:spLocks noGrp="1"/>
          </p:cNvSpPr>
          <p:nvPr>
            <p:ph type="title"/>
          </p:nvPr>
        </p:nvSpPr>
        <p:spPr>
          <a:xfrm>
            <a:off x="792000" y="360000"/>
            <a:ext cx="6375921" cy="429413"/>
          </a:xfrm>
        </p:spPr>
        <p:txBody>
          <a:bodyPr/>
          <a:lstStyle/>
          <a:p>
            <a:r>
              <a:rPr lang="en-US" altLang="zh-CN" dirty="0"/>
              <a:t>5. </a:t>
            </a:r>
            <a:r>
              <a:rPr lang="zh-CN" altLang="en-US" dirty="0"/>
              <a:t>敏捷项目质量管理</a:t>
            </a:r>
          </a:p>
        </p:txBody>
      </p:sp>
      <p:sp>
        <p:nvSpPr>
          <p:cNvPr id="3" name="内容占位符 2">
            <a:extLst>
              <a:ext uri="{FF2B5EF4-FFF2-40B4-BE49-F238E27FC236}">
                <a16:creationId xmlns:a16="http://schemas.microsoft.com/office/drawing/2014/main" id="{DD481F32-D932-DC7E-E1B6-470BA06E77C0}"/>
              </a:ext>
            </a:extLst>
          </p:cNvPr>
          <p:cNvSpPr>
            <a:spLocks noGrp="1"/>
          </p:cNvSpPr>
          <p:nvPr>
            <p:ph idx="1"/>
          </p:nvPr>
        </p:nvSpPr>
        <p:spPr>
          <a:xfrm>
            <a:off x="696000" y="864000"/>
            <a:ext cx="10800000" cy="5400000"/>
          </a:xfrm>
        </p:spPr>
        <p:txBody>
          <a:bodyPr/>
          <a:lstStyle/>
          <a:p>
            <a:r>
              <a:rPr lang="zh-CN" altLang="en-US" dirty="0"/>
              <a:t>多次迭代</a:t>
            </a:r>
            <a:endParaRPr lang="en-US" altLang="zh-CN" dirty="0"/>
          </a:p>
          <a:p>
            <a:r>
              <a:rPr lang="zh-CN" altLang="en-US" dirty="0"/>
              <a:t>快速交付</a:t>
            </a:r>
            <a:endParaRPr lang="en-US" altLang="zh-CN" dirty="0"/>
          </a:p>
          <a:p>
            <a:r>
              <a:rPr lang="zh-CN" altLang="en-US" dirty="0"/>
              <a:t>尽早发现问题、尽早解决</a:t>
            </a:r>
            <a:endParaRPr lang="en-US" altLang="zh-CN" dirty="0"/>
          </a:p>
          <a:p>
            <a:r>
              <a:rPr lang="zh-CN" altLang="en-US" dirty="0"/>
              <a:t>质量管理贯穿整个项目生命周期</a:t>
            </a:r>
            <a:endParaRPr lang="en-US" altLang="zh-CN" dirty="0"/>
          </a:p>
          <a:p>
            <a:r>
              <a:rPr lang="zh-CN" altLang="en-US" dirty="0"/>
              <a:t>实现途径</a:t>
            </a:r>
            <a:endParaRPr lang="en-US" altLang="zh-CN" dirty="0"/>
          </a:p>
          <a:p>
            <a:pPr lvl="1"/>
            <a:r>
              <a:rPr lang="zh-CN" altLang="en-US" dirty="0"/>
              <a:t>质量内建</a:t>
            </a:r>
            <a:endParaRPr lang="en-US" altLang="zh-CN" dirty="0"/>
          </a:p>
          <a:p>
            <a:pPr lvl="1"/>
            <a:r>
              <a:rPr lang="zh-CN" altLang="en-US" dirty="0"/>
              <a:t>质量外延</a:t>
            </a:r>
            <a:endParaRPr lang="en-US" altLang="zh-CN" dirty="0"/>
          </a:p>
          <a:p>
            <a:endParaRPr lang="zh-CN" altLang="en-US" dirty="0"/>
          </a:p>
        </p:txBody>
      </p:sp>
      <p:sp>
        <p:nvSpPr>
          <p:cNvPr id="7" name="文本占位符 6">
            <a:extLst>
              <a:ext uri="{FF2B5EF4-FFF2-40B4-BE49-F238E27FC236}">
                <a16:creationId xmlns:a16="http://schemas.microsoft.com/office/drawing/2014/main" id="{3638B82E-EC6A-7ABE-4742-F90205536609}"/>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3295412374"/>
      </p:ext>
    </p:extLst>
  </p:cSld>
  <p:clrMapOvr>
    <a:masterClrMapping/>
  </p:clrMapOvr>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CF910-88BD-7739-3651-2CEC0980AB0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79978E1-22C4-F20F-4AEA-E90C8684591A}"/>
              </a:ext>
            </a:extLst>
          </p:cNvPr>
          <p:cNvSpPr>
            <a:spLocks noGrp="1"/>
          </p:cNvSpPr>
          <p:nvPr>
            <p:ph type="title"/>
          </p:nvPr>
        </p:nvSpPr>
        <p:spPr>
          <a:xfrm>
            <a:off x="792000" y="360000"/>
            <a:ext cx="6375921" cy="429413"/>
          </a:xfrm>
        </p:spPr>
        <p:txBody>
          <a:bodyPr/>
          <a:lstStyle/>
          <a:p>
            <a:r>
              <a:rPr lang="en-US" altLang="zh-CN" dirty="0"/>
              <a:t>5.1 </a:t>
            </a:r>
            <a:r>
              <a:rPr lang="zh-CN" altLang="en-US" dirty="0"/>
              <a:t>质量内建</a:t>
            </a:r>
          </a:p>
        </p:txBody>
      </p:sp>
      <p:sp>
        <p:nvSpPr>
          <p:cNvPr id="3" name="内容占位符 2">
            <a:extLst>
              <a:ext uri="{FF2B5EF4-FFF2-40B4-BE49-F238E27FC236}">
                <a16:creationId xmlns:a16="http://schemas.microsoft.com/office/drawing/2014/main" id="{E442BBB9-E3D6-F133-D055-D4790D9A46E3}"/>
              </a:ext>
            </a:extLst>
          </p:cNvPr>
          <p:cNvSpPr>
            <a:spLocks noGrp="1"/>
          </p:cNvSpPr>
          <p:nvPr>
            <p:ph idx="1"/>
          </p:nvPr>
        </p:nvSpPr>
        <p:spPr>
          <a:xfrm>
            <a:off x="696000" y="864000"/>
            <a:ext cx="10800000" cy="5400000"/>
          </a:xfrm>
        </p:spPr>
        <p:txBody>
          <a:bodyPr/>
          <a:lstStyle/>
          <a:p>
            <a:r>
              <a:rPr lang="zh-CN" altLang="en-US" dirty="0"/>
              <a:t>更早关注质量</a:t>
            </a:r>
            <a:endParaRPr lang="en-US" altLang="zh-CN" dirty="0"/>
          </a:p>
          <a:p>
            <a:r>
              <a:rPr lang="zh-CN" altLang="en-US" dirty="0"/>
              <a:t>再次强化：质量是设计出来的</a:t>
            </a:r>
            <a:endParaRPr lang="en-US" altLang="zh-CN" dirty="0"/>
          </a:p>
          <a:p>
            <a:r>
              <a:rPr lang="zh-CN" altLang="en-US" dirty="0"/>
              <a:t>核心目标：更早地发现和解决问题，从而大幅降低因后期返工带来的高昂成本，确保最终交付给用户的是高质量、有价值的产品</a:t>
            </a:r>
            <a:endParaRPr lang="en-US" altLang="zh-CN" dirty="0"/>
          </a:p>
          <a:p>
            <a:endParaRPr lang="zh-CN" altLang="en-US" dirty="0"/>
          </a:p>
        </p:txBody>
      </p:sp>
      <p:sp>
        <p:nvSpPr>
          <p:cNvPr id="8" name="文本占位符 7">
            <a:extLst>
              <a:ext uri="{FF2B5EF4-FFF2-40B4-BE49-F238E27FC236}">
                <a16:creationId xmlns:a16="http://schemas.microsoft.com/office/drawing/2014/main" id="{6F06FD6A-8BAB-B0B0-4600-4C03AC4819DC}"/>
              </a:ext>
            </a:extLst>
          </p:cNvPr>
          <p:cNvSpPr>
            <a:spLocks noGrp="1"/>
          </p:cNvSpPr>
          <p:nvPr>
            <p:ph type="body" sz="quarter" idx="10"/>
          </p:nvPr>
        </p:nvSpPr>
        <p:spPr>
          <a:xfrm>
            <a:off x="7071919" y="448519"/>
            <a:ext cx="4424080" cy="338554"/>
          </a:xfrm>
        </p:spPr>
        <p:txBody>
          <a:bodyPr/>
          <a:lstStyle/>
          <a:p>
            <a:r>
              <a:rPr lang="en-US" altLang="zh-CN" dirty="0"/>
              <a:t>Built-in Quality</a:t>
            </a:r>
            <a:endParaRPr lang="zh-CN" altLang="en-US" dirty="0"/>
          </a:p>
        </p:txBody>
      </p:sp>
    </p:spTree>
    <p:extLst>
      <p:ext uri="{BB962C8B-B14F-4D97-AF65-F5344CB8AC3E}">
        <p14:creationId xmlns:p14="http://schemas.microsoft.com/office/powerpoint/2010/main" val="4076900504"/>
      </p:ext>
    </p:extLst>
  </p:cSld>
  <p:clrMapOvr>
    <a:masterClrMapping/>
  </p:clrMapOvr>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3EB4D-41C4-8435-01CF-43DBCC2C4A85}"/>
            </a:ext>
          </a:extLst>
        </p:cNvPr>
        <p:cNvGrpSpPr/>
        <p:nvPr/>
      </p:nvGrpSpPr>
      <p:grpSpPr>
        <a:xfrm>
          <a:off x="0" y="0"/>
          <a:ext cx="0" cy="0"/>
          <a:chOff x="0" y="0"/>
          <a:chExt cx="0" cy="0"/>
        </a:xfrm>
      </p:grpSpPr>
      <p:sp>
        <p:nvSpPr>
          <p:cNvPr id="5" name="TextBox 2">
            <a:extLst>
              <a:ext uri="{FF2B5EF4-FFF2-40B4-BE49-F238E27FC236}">
                <a16:creationId xmlns:a16="http://schemas.microsoft.com/office/drawing/2014/main" id="{0995446C-EEB5-EF59-BEE6-E59AA6ABF445}"/>
              </a:ext>
            </a:extLst>
          </p:cNvPr>
          <p:cNvSpPr txBox="1"/>
          <p:nvPr/>
        </p:nvSpPr>
        <p:spPr>
          <a:xfrm>
            <a:off x="1056000" y="1603407"/>
            <a:ext cx="2714205" cy="369332"/>
          </a:xfrm>
          <a:prstGeom prst="rect">
            <a:avLst/>
          </a:prstGeom>
          <a:noFill/>
        </p:spPr>
        <p:txBody>
          <a:bodyPr wrap="none" rtlCol="0">
            <a:spAutoFit/>
          </a:bodyPr>
          <a:lstStyle/>
          <a:p>
            <a:r>
              <a:rPr lang="zh-CN" altLang="en-US"/>
              <a:t>选择题 </a:t>
            </a:r>
            <a:r>
              <a:rPr lang="en-US" altLang="zh-CN" dirty="0"/>
              <a:t>Multiple choice</a:t>
            </a:r>
            <a:endParaRPr lang="zh-CN" altLang="en-US" dirty="0"/>
          </a:p>
        </p:txBody>
      </p:sp>
      <p:cxnSp>
        <p:nvCxnSpPr>
          <p:cNvPr id="6" name="Straight Connector 3">
            <a:extLst>
              <a:ext uri="{FF2B5EF4-FFF2-40B4-BE49-F238E27FC236}">
                <a16:creationId xmlns:a16="http://schemas.microsoft.com/office/drawing/2014/main" id="{725026FB-A3D8-4462-2E26-6983C6EB8302}"/>
              </a:ext>
            </a:extLst>
          </p:cNvPr>
          <p:cNvCxnSpPr>
            <a:cxnSpLocks/>
          </p:cNvCxnSpPr>
          <p:nvPr/>
        </p:nvCxnSpPr>
        <p:spPr>
          <a:xfrm>
            <a:off x="1056000" y="2003517"/>
            <a:ext cx="10080000" cy="0"/>
          </a:xfrm>
          <a:prstGeom prst="line">
            <a:avLst/>
          </a:prstGeom>
          <a:ln w="38100">
            <a:gradFill>
              <a:gsLst>
                <a:gs pos="70000">
                  <a:schemeClr val="accent5"/>
                </a:gs>
                <a:gs pos="0">
                  <a:schemeClr val="accent5">
                    <a:lumMod val="75000"/>
                  </a:schemeClr>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7" name="TextBox 4">
            <a:extLst>
              <a:ext uri="{FF2B5EF4-FFF2-40B4-BE49-F238E27FC236}">
                <a16:creationId xmlns:a16="http://schemas.microsoft.com/office/drawing/2014/main" id="{D60C3DCE-DB6C-D490-02DE-002E18C334D4}"/>
              </a:ext>
            </a:extLst>
          </p:cNvPr>
          <p:cNvSpPr txBox="1"/>
          <p:nvPr/>
        </p:nvSpPr>
        <p:spPr>
          <a:xfrm>
            <a:off x="1056000" y="2003517"/>
            <a:ext cx="10080000" cy="2139047"/>
          </a:xfrm>
          <a:prstGeom prst="rect">
            <a:avLst/>
          </a:prstGeom>
          <a:noFill/>
        </p:spPr>
        <p:txBody>
          <a:bodyPr wrap="square" rtlCol="0">
            <a:spAutoFit/>
          </a:bodyPr>
          <a:lstStyle/>
          <a:p>
            <a:pPr>
              <a:spcAft>
                <a:spcPts val="600"/>
              </a:spcAft>
            </a:pPr>
            <a:r>
              <a:rPr lang="zh-CN" altLang="en-US" dirty="0"/>
              <a:t>哪个开发模型更好的体现了质量内建的</a:t>
            </a:r>
            <a:r>
              <a:rPr lang="zh-CN" altLang="en-US"/>
              <a:t>思想？</a:t>
            </a:r>
            <a:endParaRPr lang="en-US" altLang="zh-CN" dirty="0"/>
          </a:p>
          <a:p>
            <a:pPr>
              <a:spcAft>
                <a:spcPts val="600"/>
              </a:spcAft>
            </a:pPr>
            <a:endParaRPr lang="en-US" altLang="zh-CN" dirty="0"/>
          </a:p>
          <a:p>
            <a:pPr>
              <a:spcAft>
                <a:spcPts val="600"/>
              </a:spcAft>
            </a:pPr>
            <a:r>
              <a:rPr lang="en-US" altLang="zh-CN" dirty="0"/>
              <a:t>A</a:t>
            </a:r>
            <a:r>
              <a:rPr lang="zh-CN" altLang="en-US"/>
              <a:t>：瀑布模型</a:t>
            </a:r>
            <a:endParaRPr lang="en-US" altLang="zh-CN" dirty="0"/>
          </a:p>
          <a:p>
            <a:pPr>
              <a:spcAft>
                <a:spcPts val="600"/>
              </a:spcAft>
            </a:pPr>
            <a:r>
              <a:rPr lang="en-US" altLang="zh-CN"/>
              <a:t>B</a:t>
            </a:r>
            <a:r>
              <a:rPr lang="zh-CN" altLang="en-US"/>
              <a:t>：</a:t>
            </a:r>
            <a:r>
              <a:rPr lang="en-US" altLang="zh-CN"/>
              <a:t>V </a:t>
            </a:r>
            <a:r>
              <a:rPr lang="zh-CN" altLang="en-US"/>
              <a:t>模型</a:t>
            </a:r>
            <a:endParaRPr lang="en-US" altLang="zh-CN" dirty="0"/>
          </a:p>
          <a:p>
            <a:pPr>
              <a:spcAft>
                <a:spcPts val="600"/>
              </a:spcAft>
            </a:pPr>
            <a:r>
              <a:rPr lang="en-US" altLang="zh-CN" dirty="0"/>
              <a:t>C</a:t>
            </a:r>
            <a:r>
              <a:rPr lang="zh-CN" altLang="en-US" dirty="0"/>
              <a:t>：</a:t>
            </a:r>
            <a:r>
              <a:rPr lang="zh-CN" altLang="en-US"/>
              <a:t>迭代模型</a:t>
            </a:r>
            <a:endParaRPr lang="en-US" altLang="zh-CN" dirty="0"/>
          </a:p>
          <a:p>
            <a:pPr>
              <a:spcAft>
                <a:spcPts val="600"/>
              </a:spcAft>
            </a:pPr>
            <a:r>
              <a:rPr lang="en-US" altLang="zh-CN" dirty="0"/>
              <a:t>D</a:t>
            </a:r>
            <a:r>
              <a:rPr lang="zh-CN" altLang="en-US" dirty="0"/>
              <a:t>：增量模型</a:t>
            </a:r>
          </a:p>
        </p:txBody>
      </p:sp>
    </p:spTree>
    <p:extLst>
      <p:ext uri="{BB962C8B-B14F-4D97-AF65-F5344CB8AC3E}">
        <p14:creationId xmlns:p14="http://schemas.microsoft.com/office/powerpoint/2010/main" val="2279991734"/>
      </p:ext>
    </p:extLst>
  </p:cSld>
  <p:clrMapOvr>
    <a:masterClrMapping/>
  </p:clrMapOvr>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EA3F8-BDA1-0CD8-6A19-B67C14B0E9F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F784F7F-F861-788E-E893-2F827384BBE2}"/>
              </a:ext>
            </a:extLst>
          </p:cNvPr>
          <p:cNvSpPr>
            <a:spLocks noGrp="1"/>
          </p:cNvSpPr>
          <p:nvPr>
            <p:ph type="title"/>
          </p:nvPr>
        </p:nvSpPr>
        <p:spPr>
          <a:xfrm>
            <a:off x="792000" y="360000"/>
            <a:ext cx="6375921" cy="429413"/>
          </a:xfrm>
        </p:spPr>
        <p:txBody>
          <a:bodyPr/>
          <a:lstStyle/>
          <a:p>
            <a:r>
              <a:rPr lang="en-US" altLang="zh-CN" dirty="0"/>
              <a:t>5.2 </a:t>
            </a:r>
            <a:r>
              <a:rPr lang="zh-CN" altLang="en-US" dirty="0"/>
              <a:t>质量外延</a:t>
            </a:r>
          </a:p>
        </p:txBody>
      </p:sp>
      <p:sp>
        <p:nvSpPr>
          <p:cNvPr id="3" name="内容占位符 2">
            <a:extLst>
              <a:ext uri="{FF2B5EF4-FFF2-40B4-BE49-F238E27FC236}">
                <a16:creationId xmlns:a16="http://schemas.microsoft.com/office/drawing/2014/main" id="{C112065F-178F-8C6A-3440-D6E2412C64D8}"/>
              </a:ext>
            </a:extLst>
          </p:cNvPr>
          <p:cNvSpPr>
            <a:spLocks noGrp="1"/>
          </p:cNvSpPr>
          <p:nvPr>
            <p:ph idx="1"/>
          </p:nvPr>
        </p:nvSpPr>
        <p:spPr>
          <a:xfrm>
            <a:off x="696000" y="864000"/>
            <a:ext cx="10800000" cy="5400000"/>
          </a:xfrm>
        </p:spPr>
        <p:txBody>
          <a:bodyPr/>
          <a:lstStyle/>
          <a:p>
            <a:r>
              <a:rPr lang="zh-CN" altLang="en-US" dirty="0"/>
              <a:t>测试左移</a:t>
            </a:r>
            <a:endParaRPr lang="en-US" altLang="zh-CN" dirty="0"/>
          </a:p>
          <a:p>
            <a:pPr lvl="1"/>
            <a:r>
              <a:rPr lang="zh-CN" altLang="en-US" dirty="0"/>
              <a:t>向前延申</a:t>
            </a:r>
            <a:endParaRPr lang="en-US" altLang="zh-CN" dirty="0"/>
          </a:p>
          <a:p>
            <a:pPr lvl="1"/>
            <a:r>
              <a:rPr lang="zh-CN" altLang="en-US" dirty="0"/>
              <a:t>开发中：将测试活动提前到开发早期，例如在需求分析、设计阶段就介入，通过评审、静态分析等手段提前发现缺陷，降低修复成本</a:t>
            </a:r>
            <a:endParaRPr lang="en-US" altLang="zh-CN" dirty="0"/>
          </a:p>
          <a:p>
            <a:r>
              <a:rPr lang="zh-CN" altLang="en-US" dirty="0"/>
              <a:t>测试右移</a:t>
            </a:r>
            <a:endParaRPr lang="en-US" altLang="zh-CN" dirty="0"/>
          </a:p>
          <a:p>
            <a:pPr lvl="1"/>
            <a:r>
              <a:rPr lang="zh-CN" altLang="en-US" dirty="0"/>
              <a:t>向后延申</a:t>
            </a:r>
            <a:endParaRPr lang="en-US" altLang="zh-CN" dirty="0"/>
          </a:p>
          <a:p>
            <a:pPr lvl="1"/>
            <a:r>
              <a:rPr lang="zh-CN" altLang="en-US" dirty="0"/>
              <a:t>上线后：继续进行监控、日志分析、</a:t>
            </a:r>
            <a:r>
              <a:rPr lang="en-US" altLang="zh-CN" dirty="0"/>
              <a:t>A/B</a:t>
            </a:r>
            <a:r>
              <a:rPr lang="zh-CN" altLang="en-US" dirty="0"/>
              <a:t>测试等，收集真实用户反馈，持续优化产品质量</a:t>
            </a:r>
            <a:endParaRPr lang="en-US" altLang="zh-CN" dirty="0"/>
          </a:p>
        </p:txBody>
      </p:sp>
      <p:sp>
        <p:nvSpPr>
          <p:cNvPr id="8" name="文本占位符 7">
            <a:extLst>
              <a:ext uri="{FF2B5EF4-FFF2-40B4-BE49-F238E27FC236}">
                <a16:creationId xmlns:a16="http://schemas.microsoft.com/office/drawing/2014/main" id="{9B17F9F3-706D-2BDD-E433-56A523AAFAC5}"/>
              </a:ext>
            </a:extLst>
          </p:cNvPr>
          <p:cNvSpPr>
            <a:spLocks noGrp="1"/>
          </p:cNvSpPr>
          <p:nvPr>
            <p:ph type="body" sz="quarter" idx="10"/>
          </p:nvPr>
        </p:nvSpPr>
        <p:spPr>
          <a:xfrm>
            <a:off x="7071919" y="448519"/>
            <a:ext cx="4424080" cy="338554"/>
          </a:xfrm>
        </p:spPr>
        <p:txBody>
          <a:bodyPr/>
          <a:lstStyle/>
          <a:p>
            <a:r>
              <a:rPr lang="en-US" altLang="zh-CN" dirty="0"/>
              <a:t>Quality Extension</a:t>
            </a:r>
            <a:endParaRPr lang="zh-CN" altLang="en-US" dirty="0"/>
          </a:p>
        </p:txBody>
      </p:sp>
      <p:sp>
        <p:nvSpPr>
          <p:cNvPr id="4" name="矩形 3">
            <a:extLst>
              <a:ext uri="{FF2B5EF4-FFF2-40B4-BE49-F238E27FC236}">
                <a16:creationId xmlns:a16="http://schemas.microsoft.com/office/drawing/2014/main" id="{D46DC7B5-AA63-6C5D-1020-C3F6B964313D}"/>
              </a:ext>
            </a:extLst>
          </p:cNvPr>
          <p:cNvSpPr/>
          <p:nvPr/>
        </p:nvSpPr>
        <p:spPr>
          <a:xfrm>
            <a:off x="5278801" y="4400727"/>
            <a:ext cx="720000" cy="360000"/>
          </a:xfrm>
          <a:prstGeom prst="rect">
            <a:avLst/>
          </a:prstGeom>
          <a:solidFill>
            <a:schemeClr val="accent5">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t>P</a:t>
            </a:r>
            <a:endParaRPr lang="zh-CN" altLang="en-US" sz="1600" dirty="0"/>
          </a:p>
        </p:txBody>
      </p:sp>
      <p:cxnSp>
        <p:nvCxnSpPr>
          <p:cNvPr id="6" name="直接箭头连接符 5">
            <a:extLst>
              <a:ext uri="{FF2B5EF4-FFF2-40B4-BE49-F238E27FC236}">
                <a16:creationId xmlns:a16="http://schemas.microsoft.com/office/drawing/2014/main" id="{471DBA19-86B2-B945-F613-3C094A9B4BE5}"/>
              </a:ext>
            </a:extLst>
          </p:cNvPr>
          <p:cNvCxnSpPr>
            <a:cxnSpLocks/>
            <a:stCxn id="4" idx="3"/>
            <a:endCxn id="11" idx="1"/>
          </p:cNvCxnSpPr>
          <p:nvPr/>
        </p:nvCxnSpPr>
        <p:spPr>
          <a:xfrm>
            <a:off x="5998801" y="4580727"/>
            <a:ext cx="77103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F030941E-50FC-3392-80D4-F8C003B00F45}"/>
              </a:ext>
            </a:extLst>
          </p:cNvPr>
          <p:cNvSpPr txBox="1"/>
          <p:nvPr/>
        </p:nvSpPr>
        <p:spPr>
          <a:xfrm>
            <a:off x="6769834" y="4411450"/>
            <a:ext cx="1005403" cy="338554"/>
          </a:xfrm>
          <a:prstGeom prst="rect">
            <a:avLst/>
          </a:prstGeom>
          <a:noFill/>
        </p:spPr>
        <p:txBody>
          <a:bodyPr wrap="none" rtlCol="0">
            <a:spAutoFit/>
          </a:bodyPr>
          <a:lstStyle/>
          <a:p>
            <a:pPr algn="ctr"/>
            <a:r>
              <a:rPr lang="zh-CN" altLang="en-US" sz="1600" dirty="0"/>
              <a:t>测试右移</a:t>
            </a:r>
          </a:p>
        </p:txBody>
      </p:sp>
      <p:sp>
        <p:nvSpPr>
          <p:cNvPr id="12" name="文本框 11">
            <a:extLst>
              <a:ext uri="{FF2B5EF4-FFF2-40B4-BE49-F238E27FC236}">
                <a16:creationId xmlns:a16="http://schemas.microsoft.com/office/drawing/2014/main" id="{EC8034B3-8CDE-FB4C-AA97-097A8D8471E3}"/>
              </a:ext>
            </a:extLst>
          </p:cNvPr>
          <p:cNvSpPr txBox="1"/>
          <p:nvPr/>
        </p:nvSpPr>
        <p:spPr>
          <a:xfrm>
            <a:off x="3502364" y="4411450"/>
            <a:ext cx="1005403" cy="338554"/>
          </a:xfrm>
          <a:prstGeom prst="rect">
            <a:avLst/>
          </a:prstGeom>
          <a:noFill/>
        </p:spPr>
        <p:txBody>
          <a:bodyPr wrap="none" rtlCol="0">
            <a:spAutoFit/>
          </a:bodyPr>
          <a:lstStyle/>
          <a:p>
            <a:pPr algn="ctr"/>
            <a:r>
              <a:rPr lang="zh-CN" altLang="en-US" sz="1600" dirty="0"/>
              <a:t>测试左移</a:t>
            </a:r>
          </a:p>
        </p:txBody>
      </p:sp>
      <p:cxnSp>
        <p:nvCxnSpPr>
          <p:cNvPr id="14" name="直接箭头连接符 13">
            <a:extLst>
              <a:ext uri="{FF2B5EF4-FFF2-40B4-BE49-F238E27FC236}">
                <a16:creationId xmlns:a16="http://schemas.microsoft.com/office/drawing/2014/main" id="{9C2F6F71-B6CB-BBA4-E530-01DD0A7034EF}"/>
              </a:ext>
            </a:extLst>
          </p:cNvPr>
          <p:cNvCxnSpPr>
            <a:cxnSpLocks/>
            <a:stCxn id="4" idx="1"/>
            <a:endCxn id="12" idx="3"/>
          </p:cNvCxnSpPr>
          <p:nvPr/>
        </p:nvCxnSpPr>
        <p:spPr>
          <a:xfrm flipH="1">
            <a:off x="4507767" y="4580727"/>
            <a:ext cx="77103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9646944"/>
      </p:ext>
    </p:extLst>
  </p:cSld>
  <p:clrMapOvr>
    <a:masterClrMapping/>
  </p:clrMapOvr>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B49CB-739C-9147-2D98-F8A923A4F24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CDC55B2-2B91-49CB-427A-77080EF0EC32}"/>
              </a:ext>
            </a:extLst>
          </p:cNvPr>
          <p:cNvSpPr>
            <a:spLocks noGrp="1"/>
          </p:cNvSpPr>
          <p:nvPr>
            <p:ph type="title"/>
          </p:nvPr>
        </p:nvSpPr>
        <p:spPr>
          <a:xfrm>
            <a:off x="792000" y="360000"/>
            <a:ext cx="6375921" cy="429413"/>
          </a:xfrm>
        </p:spPr>
        <p:txBody>
          <a:bodyPr/>
          <a:lstStyle/>
          <a:p>
            <a:r>
              <a:rPr lang="en-US" altLang="zh-CN" dirty="0"/>
              <a:t>5.2 </a:t>
            </a:r>
            <a:r>
              <a:rPr lang="zh-CN" altLang="en-US" dirty="0"/>
              <a:t>质量外延</a:t>
            </a:r>
          </a:p>
        </p:txBody>
      </p:sp>
      <p:sp>
        <p:nvSpPr>
          <p:cNvPr id="3" name="内容占位符 2">
            <a:extLst>
              <a:ext uri="{FF2B5EF4-FFF2-40B4-BE49-F238E27FC236}">
                <a16:creationId xmlns:a16="http://schemas.microsoft.com/office/drawing/2014/main" id="{D1EAD1CB-83C2-9E72-BA48-D45FBF72902F}"/>
              </a:ext>
            </a:extLst>
          </p:cNvPr>
          <p:cNvSpPr>
            <a:spLocks noGrp="1"/>
          </p:cNvSpPr>
          <p:nvPr>
            <p:ph idx="1"/>
          </p:nvPr>
        </p:nvSpPr>
        <p:spPr>
          <a:xfrm>
            <a:off x="696000" y="864000"/>
            <a:ext cx="10800000" cy="5400000"/>
          </a:xfrm>
        </p:spPr>
        <p:txBody>
          <a:bodyPr/>
          <a:lstStyle/>
          <a:p>
            <a:r>
              <a:rPr lang="zh-CN" altLang="en-US" dirty="0"/>
              <a:t>方法：</a:t>
            </a:r>
            <a:endParaRPr lang="en-US" altLang="zh-CN" dirty="0"/>
          </a:p>
          <a:p>
            <a:pPr lvl="1"/>
            <a:r>
              <a:rPr lang="zh-CN" altLang="en-US" dirty="0"/>
              <a:t>结对编程 </a:t>
            </a:r>
            <a:r>
              <a:rPr lang="en-US" altLang="zh-CN" dirty="0"/>
              <a:t>Pair programming</a:t>
            </a:r>
          </a:p>
          <a:p>
            <a:pPr lvl="1"/>
            <a:r>
              <a:rPr lang="zh-CN" altLang="en-US" dirty="0"/>
              <a:t>测试驱动开发 </a:t>
            </a:r>
            <a:r>
              <a:rPr lang="en-US" altLang="zh-CN" dirty="0"/>
              <a:t>TDD</a:t>
            </a:r>
          </a:p>
          <a:p>
            <a:pPr lvl="1"/>
            <a:r>
              <a:rPr lang="zh-CN" altLang="en-US" dirty="0"/>
              <a:t>持续集成</a:t>
            </a:r>
            <a:r>
              <a:rPr lang="en-US" altLang="zh-CN" dirty="0"/>
              <a:t>/</a:t>
            </a:r>
            <a:r>
              <a:rPr lang="zh-CN" altLang="en-US" dirty="0"/>
              <a:t>开发 </a:t>
            </a:r>
            <a:r>
              <a:rPr lang="en-US" altLang="zh-CN" dirty="0"/>
              <a:t>CI/CD</a:t>
            </a:r>
          </a:p>
          <a:p>
            <a:pPr lvl="1"/>
            <a:r>
              <a:rPr lang="en-US" altLang="zh-CN" dirty="0"/>
              <a:t>…</a:t>
            </a:r>
            <a:endParaRPr lang="zh-CN" altLang="en-US" dirty="0"/>
          </a:p>
        </p:txBody>
      </p:sp>
      <p:sp>
        <p:nvSpPr>
          <p:cNvPr id="7" name="文本占位符 6">
            <a:extLst>
              <a:ext uri="{FF2B5EF4-FFF2-40B4-BE49-F238E27FC236}">
                <a16:creationId xmlns:a16="http://schemas.microsoft.com/office/drawing/2014/main" id="{D2C09A64-CB22-DC69-C973-69E33C82887A}"/>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1038982220"/>
      </p:ext>
    </p:extLst>
  </p:cSld>
  <p:clrMapOvr>
    <a:masterClrMapping/>
  </p:clrMapOvr>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内容占位符 5">
            <a:extLst>
              <a:ext uri="{FF2B5EF4-FFF2-40B4-BE49-F238E27FC236}">
                <a16:creationId xmlns:a16="http://schemas.microsoft.com/office/drawing/2014/main" id="{298D9BC0-2935-4D17-F56C-8B0BA16D1D82}"/>
              </a:ext>
            </a:extLst>
          </p:cNvPr>
          <p:cNvGraphicFramePr>
            <a:graphicFrameLocks noGrp="1"/>
          </p:cNvGraphicFramePr>
          <p:nvPr>
            <p:ph idx="4294967295"/>
            <p:extLst>
              <p:ext uri="{D42A27DB-BD31-4B8C-83A1-F6EECF244321}">
                <p14:modId xmlns:p14="http://schemas.microsoft.com/office/powerpoint/2010/main" val="1345009359"/>
              </p:ext>
            </p:extLst>
          </p:nvPr>
        </p:nvGraphicFramePr>
        <p:xfrm>
          <a:off x="0" y="2679700"/>
          <a:ext cx="8439150" cy="1676400"/>
        </p:xfrm>
        <a:graphic>
          <a:graphicData uri="http://schemas.openxmlformats.org/drawingml/2006/table">
            <a:tbl>
              <a:tblPr/>
              <a:tblGrid>
                <a:gridCol w="3363753">
                  <a:extLst>
                    <a:ext uri="{9D8B030D-6E8A-4147-A177-3AD203B41FA5}">
                      <a16:colId xmlns:a16="http://schemas.microsoft.com/office/drawing/2014/main" val="142830297"/>
                    </a:ext>
                  </a:extLst>
                </a:gridCol>
                <a:gridCol w="5075397">
                  <a:extLst>
                    <a:ext uri="{9D8B030D-6E8A-4147-A177-3AD203B41FA5}">
                      <a16:colId xmlns:a16="http://schemas.microsoft.com/office/drawing/2014/main" val="3981675338"/>
                    </a:ext>
                  </a:extLst>
                </a:gridCol>
              </a:tblGrid>
              <a:tr h="0">
                <a:tc>
                  <a:txBody>
                    <a:bodyPr/>
                    <a:lstStyle/>
                    <a:p>
                      <a:pPr>
                        <a:buNone/>
                      </a:pPr>
                      <a:r>
                        <a:rPr lang="zh-CN" altLang="en-US" sz="1600" dirty="0">
                          <a:solidFill>
                            <a:schemeClr val="bg1"/>
                          </a:solidFill>
                        </a:rPr>
                        <a:t>核心过程</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B0F0"/>
                    </a:solidFill>
                  </a:tcPr>
                </a:tc>
                <a:tc>
                  <a:txBody>
                    <a:bodyPr/>
                    <a:lstStyle/>
                    <a:p>
                      <a:pPr>
                        <a:buNone/>
                      </a:pPr>
                      <a:r>
                        <a:rPr lang="zh-CN" altLang="en-US" sz="1600" dirty="0">
                          <a:solidFill>
                            <a:schemeClr val="bg1"/>
                          </a:solidFill>
                        </a:rPr>
                        <a:t>含义</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B0F0"/>
                    </a:solidFill>
                  </a:tcPr>
                </a:tc>
                <a:extLst>
                  <a:ext uri="{0D108BD9-81ED-4DB2-BD59-A6C34878D82A}">
                    <a16:rowId xmlns:a16="http://schemas.microsoft.com/office/drawing/2014/main" val="3409838467"/>
                  </a:ext>
                </a:extLst>
              </a:tr>
              <a:tr h="0">
                <a:tc>
                  <a:txBody>
                    <a:bodyPr/>
                    <a:lstStyle/>
                    <a:p>
                      <a:pPr>
                        <a:buNone/>
                      </a:pPr>
                      <a:r>
                        <a:rPr lang="zh-CN" altLang="en-US" sz="1600"/>
                        <a:t>质量规划 </a:t>
                      </a:r>
                      <a:r>
                        <a:rPr lang="en-US" sz="1600"/>
                        <a:t>Quality Planning</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确定项目质量标准，制定如何满足这些标准的策略</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61995517"/>
                  </a:ext>
                </a:extLst>
              </a:tr>
              <a:tr h="0">
                <a:tc>
                  <a:txBody>
                    <a:bodyPr/>
                    <a:lstStyle/>
                    <a:p>
                      <a:pPr>
                        <a:buNone/>
                      </a:pPr>
                      <a:r>
                        <a:rPr lang="zh-CN" altLang="en-US" sz="1600" dirty="0"/>
                        <a:t>质量保证 </a:t>
                      </a:r>
                      <a:r>
                        <a:rPr lang="en-US" sz="1600" dirty="0"/>
                        <a:t>Quality Assurance, QA</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通过审计、流程改进等手段确保质量体系有效运行</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620162338"/>
                  </a:ext>
                </a:extLst>
              </a:tr>
              <a:tr h="0">
                <a:tc>
                  <a:txBody>
                    <a:bodyPr/>
                    <a:lstStyle/>
                    <a:p>
                      <a:pPr>
                        <a:buNone/>
                      </a:pPr>
                      <a:r>
                        <a:rPr lang="zh-CN" altLang="en-US" sz="1600"/>
                        <a:t>质量控制 </a:t>
                      </a:r>
                      <a:r>
                        <a:rPr lang="en-US" sz="1600"/>
                        <a:t>Quality Control, QC</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监控具体成果是否符合质量标准，识别缺陷并纠正</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528719874"/>
                  </a:ext>
                </a:extLst>
              </a:tr>
              <a:tr h="0">
                <a:tc>
                  <a:txBody>
                    <a:bodyPr/>
                    <a:lstStyle/>
                    <a:p>
                      <a:pPr>
                        <a:buNone/>
                      </a:pPr>
                      <a:r>
                        <a:rPr lang="zh-CN" altLang="en-US" sz="1600"/>
                        <a:t>质量改进 </a:t>
                      </a:r>
                      <a:r>
                        <a:rPr lang="en-US" sz="1600"/>
                        <a:t>Quality Improvement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dirty="0"/>
                        <a:t>持续优化流程，提高效率和质量</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507807469"/>
                  </a:ext>
                </a:extLst>
              </a:tr>
            </a:tbl>
          </a:graphicData>
        </a:graphic>
      </p:graphicFrame>
    </p:spTree>
    <p:extLst>
      <p:ext uri="{BB962C8B-B14F-4D97-AF65-F5344CB8AC3E}">
        <p14:creationId xmlns:p14="http://schemas.microsoft.com/office/powerpoint/2010/main" val="3759774522"/>
      </p:ext>
    </p:extLst>
  </p:cSld>
  <p:clrMapOvr>
    <a:masterClrMapping/>
  </p:clrMapOvr>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24303-0E45-6D72-428C-35E14C0ED0D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A69BC13-D868-0C5E-EA19-9911C0317A53}"/>
              </a:ext>
            </a:extLst>
          </p:cNvPr>
          <p:cNvSpPr>
            <a:spLocks noGrp="1"/>
          </p:cNvSpPr>
          <p:nvPr>
            <p:ph type="ctrTitle"/>
          </p:nvPr>
        </p:nvSpPr>
        <p:spPr>
          <a:xfrm>
            <a:off x="2464886" y="4681056"/>
            <a:ext cx="7262228" cy="798491"/>
          </a:xfrm>
        </p:spPr>
        <p:txBody>
          <a:bodyPr/>
          <a:lstStyle/>
          <a:p>
            <a:r>
              <a:rPr lang="zh-CN" altLang="en-US" dirty="0"/>
              <a:t>软件配置管理计划</a:t>
            </a:r>
          </a:p>
        </p:txBody>
      </p:sp>
      <p:sp>
        <p:nvSpPr>
          <p:cNvPr id="3" name="副标题 2">
            <a:extLst>
              <a:ext uri="{FF2B5EF4-FFF2-40B4-BE49-F238E27FC236}">
                <a16:creationId xmlns:a16="http://schemas.microsoft.com/office/drawing/2014/main" id="{7496C533-BD3D-41DF-66A8-6437270E1F9E}"/>
              </a:ext>
            </a:extLst>
          </p:cNvPr>
          <p:cNvSpPr>
            <a:spLocks noGrp="1"/>
          </p:cNvSpPr>
          <p:nvPr>
            <p:ph type="subTitle" idx="1"/>
          </p:nvPr>
        </p:nvSpPr>
        <p:spPr>
          <a:xfrm>
            <a:off x="2464886" y="5479548"/>
            <a:ext cx="7262228" cy="458180"/>
          </a:xfrm>
        </p:spPr>
        <p:txBody>
          <a:bodyPr/>
          <a:lstStyle/>
          <a:p>
            <a:r>
              <a:rPr lang="en-US" altLang="zh-CN" dirty="0"/>
              <a:t>Section 7 Project Configuration</a:t>
            </a:r>
            <a:endParaRPr lang="zh-CN" altLang="en-US" dirty="0"/>
          </a:p>
        </p:txBody>
      </p:sp>
      <p:sp>
        <p:nvSpPr>
          <p:cNvPr id="6" name="文本占位符 5">
            <a:extLst>
              <a:ext uri="{FF2B5EF4-FFF2-40B4-BE49-F238E27FC236}">
                <a16:creationId xmlns:a16="http://schemas.microsoft.com/office/drawing/2014/main" id="{1DE04944-71A7-92B2-C09A-4F7CB6B7C85C}"/>
              </a:ext>
            </a:extLst>
          </p:cNvPr>
          <p:cNvSpPr>
            <a:spLocks noGrp="1"/>
          </p:cNvSpPr>
          <p:nvPr>
            <p:ph type="body" sz="quarter" idx="11"/>
          </p:nvPr>
        </p:nvSpPr>
        <p:spPr>
          <a:xfrm>
            <a:off x="3883891" y="2047875"/>
            <a:ext cx="4424219" cy="2531269"/>
          </a:xfrm>
        </p:spPr>
        <p:txBody>
          <a:bodyPr/>
          <a:lstStyle/>
          <a:p>
            <a:r>
              <a:rPr lang="zh-CN" altLang="en-US" dirty="0"/>
              <a:t>配置管理概述</a:t>
            </a:r>
            <a:endParaRPr lang="en-US" altLang="zh-CN" dirty="0"/>
          </a:p>
          <a:p>
            <a:r>
              <a:rPr lang="zh-CN" altLang="en-US" dirty="0"/>
              <a:t>配置管理过程</a:t>
            </a:r>
            <a:endParaRPr lang="en-US" altLang="zh-CN" dirty="0"/>
          </a:p>
          <a:p>
            <a:r>
              <a:rPr lang="zh-CN" altLang="en-US" dirty="0"/>
              <a:t>敏捷项目的配置管理</a:t>
            </a:r>
          </a:p>
          <a:p>
            <a:r>
              <a:rPr lang="zh-CN" altLang="en-US" dirty="0"/>
              <a:t>配置管理工具及其应用实例</a:t>
            </a:r>
          </a:p>
        </p:txBody>
      </p:sp>
    </p:spTree>
    <p:extLst>
      <p:ext uri="{BB962C8B-B14F-4D97-AF65-F5344CB8AC3E}">
        <p14:creationId xmlns:p14="http://schemas.microsoft.com/office/powerpoint/2010/main" val="2693216358"/>
      </p:ext>
    </p:extLst>
  </p:cSld>
  <p:clrMapOvr>
    <a:masterClrMapping/>
  </p:clrMapOvr>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箭头: V 形 4">
            <a:extLst>
              <a:ext uri="{FF2B5EF4-FFF2-40B4-BE49-F238E27FC236}">
                <a16:creationId xmlns:a16="http://schemas.microsoft.com/office/drawing/2014/main" id="{3C82A956-0FE1-5CA5-F571-84D3884785F8}"/>
              </a:ext>
            </a:extLst>
          </p:cNvPr>
          <p:cNvSpPr/>
          <p:nvPr/>
        </p:nvSpPr>
        <p:spPr>
          <a:xfrm>
            <a:off x="2454444" y="1897626"/>
            <a:ext cx="1800000" cy="360000"/>
          </a:xfrm>
          <a:prstGeom prst="chevron">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项目开始</a:t>
            </a:r>
          </a:p>
        </p:txBody>
      </p:sp>
      <p:sp>
        <p:nvSpPr>
          <p:cNvPr id="6" name="箭头: V 形 5">
            <a:extLst>
              <a:ext uri="{FF2B5EF4-FFF2-40B4-BE49-F238E27FC236}">
                <a16:creationId xmlns:a16="http://schemas.microsoft.com/office/drawing/2014/main" id="{B9358539-81F8-4C9A-E28A-3A28E528ABDA}"/>
              </a:ext>
            </a:extLst>
          </p:cNvPr>
          <p:cNvSpPr/>
          <p:nvPr/>
        </p:nvSpPr>
        <p:spPr>
          <a:xfrm>
            <a:off x="4180548" y="1897626"/>
            <a:ext cx="1800000" cy="360000"/>
          </a:xfrm>
          <a:prstGeom prst="chevron">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solidFill>
              </a:rPr>
              <a:t>项目计划</a:t>
            </a:r>
          </a:p>
        </p:txBody>
      </p:sp>
      <p:sp>
        <p:nvSpPr>
          <p:cNvPr id="7" name="箭头: V 形 6">
            <a:extLst>
              <a:ext uri="{FF2B5EF4-FFF2-40B4-BE49-F238E27FC236}">
                <a16:creationId xmlns:a16="http://schemas.microsoft.com/office/drawing/2014/main" id="{6670D308-0362-72AC-4152-477051848155}"/>
              </a:ext>
            </a:extLst>
          </p:cNvPr>
          <p:cNvSpPr/>
          <p:nvPr/>
        </p:nvSpPr>
        <p:spPr>
          <a:xfrm>
            <a:off x="5906652" y="1897626"/>
            <a:ext cx="1800000" cy="360000"/>
          </a:xfrm>
          <a:prstGeom prst="chevron">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项目执行控制</a:t>
            </a:r>
          </a:p>
        </p:txBody>
      </p:sp>
      <p:sp>
        <p:nvSpPr>
          <p:cNvPr id="8" name="箭头: V 形 7">
            <a:extLst>
              <a:ext uri="{FF2B5EF4-FFF2-40B4-BE49-F238E27FC236}">
                <a16:creationId xmlns:a16="http://schemas.microsoft.com/office/drawing/2014/main" id="{08AF3108-2B1C-7009-2199-D14D158373E3}"/>
              </a:ext>
            </a:extLst>
          </p:cNvPr>
          <p:cNvSpPr/>
          <p:nvPr/>
        </p:nvSpPr>
        <p:spPr>
          <a:xfrm>
            <a:off x="7632755" y="1897626"/>
            <a:ext cx="1800000" cy="360000"/>
          </a:xfrm>
          <a:prstGeom prst="chevron">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项目结束</a:t>
            </a:r>
          </a:p>
        </p:txBody>
      </p:sp>
      <p:sp>
        <p:nvSpPr>
          <p:cNvPr id="19" name="矩形 18">
            <a:extLst>
              <a:ext uri="{FF2B5EF4-FFF2-40B4-BE49-F238E27FC236}">
                <a16:creationId xmlns:a16="http://schemas.microsoft.com/office/drawing/2014/main" id="{9564206F-2156-118B-6CEA-062B1B568826}"/>
              </a:ext>
            </a:extLst>
          </p:cNvPr>
          <p:cNvSpPr/>
          <p:nvPr/>
        </p:nvSpPr>
        <p:spPr>
          <a:xfrm>
            <a:off x="3453041" y="2998839"/>
            <a:ext cx="430887" cy="2160000"/>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范围计划</a:t>
            </a:r>
          </a:p>
        </p:txBody>
      </p:sp>
      <p:sp>
        <p:nvSpPr>
          <p:cNvPr id="20" name="矩形 19">
            <a:extLst>
              <a:ext uri="{FF2B5EF4-FFF2-40B4-BE49-F238E27FC236}">
                <a16:creationId xmlns:a16="http://schemas.microsoft.com/office/drawing/2014/main" id="{F0A09BC4-313C-339F-AD6D-36A1240C003A}"/>
              </a:ext>
            </a:extLst>
          </p:cNvPr>
          <p:cNvSpPr/>
          <p:nvPr/>
        </p:nvSpPr>
        <p:spPr>
          <a:xfrm>
            <a:off x="4147174" y="2998839"/>
            <a:ext cx="430887" cy="2160000"/>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成本计划</a:t>
            </a:r>
          </a:p>
        </p:txBody>
      </p:sp>
      <p:sp>
        <p:nvSpPr>
          <p:cNvPr id="21" name="矩形 20">
            <a:extLst>
              <a:ext uri="{FF2B5EF4-FFF2-40B4-BE49-F238E27FC236}">
                <a16:creationId xmlns:a16="http://schemas.microsoft.com/office/drawing/2014/main" id="{7752F12B-AC09-CD6E-FA34-37DA866567FE}"/>
              </a:ext>
            </a:extLst>
          </p:cNvPr>
          <p:cNvSpPr/>
          <p:nvPr/>
        </p:nvSpPr>
        <p:spPr>
          <a:xfrm>
            <a:off x="4840750" y="2998839"/>
            <a:ext cx="430887" cy="2160000"/>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进度计划</a:t>
            </a:r>
          </a:p>
        </p:txBody>
      </p:sp>
      <p:sp>
        <p:nvSpPr>
          <p:cNvPr id="22" name="矩形 21">
            <a:extLst>
              <a:ext uri="{FF2B5EF4-FFF2-40B4-BE49-F238E27FC236}">
                <a16:creationId xmlns:a16="http://schemas.microsoft.com/office/drawing/2014/main" id="{9DA964F9-65E1-9203-F57A-BC00B5DC71C4}"/>
              </a:ext>
            </a:extLst>
          </p:cNvPr>
          <p:cNvSpPr/>
          <p:nvPr/>
        </p:nvSpPr>
        <p:spPr>
          <a:xfrm>
            <a:off x="5534326" y="2998839"/>
            <a:ext cx="430887" cy="2160000"/>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质量计划</a:t>
            </a:r>
          </a:p>
        </p:txBody>
      </p:sp>
      <p:sp>
        <p:nvSpPr>
          <p:cNvPr id="23" name="矩形 22">
            <a:extLst>
              <a:ext uri="{FF2B5EF4-FFF2-40B4-BE49-F238E27FC236}">
                <a16:creationId xmlns:a16="http://schemas.microsoft.com/office/drawing/2014/main" id="{3A6D4966-E5F7-9F1C-8234-A4C3E5A924B9}"/>
              </a:ext>
            </a:extLst>
          </p:cNvPr>
          <p:cNvSpPr/>
          <p:nvPr/>
        </p:nvSpPr>
        <p:spPr>
          <a:xfrm>
            <a:off x="6227902" y="2998839"/>
            <a:ext cx="430887" cy="216000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bg1"/>
                </a:solidFill>
              </a:rPr>
              <a:t>配置管理计划</a:t>
            </a:r>
          </a:p>
        </p:txBody>
      </p:sp>
      <p:sp>
        <p:nvSpPr>
          <p:cNvPr id="24" name="矩形 23">
            <a:extLst>
              <a:ext uri="{FF2B5EF4-FFF2-40B4-BE49-F238E27FC236}">
                <a16:creationId xmlns:a16="http://schemas.microsoft.com/office/drawing/2014/main" id="{49A29938-5D81-070A-D626-5C3BB1E043F3}"/>
              </a:ext>
            </a:extLst>
          </p:cNvPr>
          <p:cNvSpPr/>
          <p:nvPr/>
        </p:nvSpPr>
        <p:spPr>
          <a:xfrm>
            <a:off x="6921478" y="2998839"/>
            <a:ext cx="430887" cy="2160000"/>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团队计划</a:t>
            </a:r>
          </a:p>
        </p:txBody>
      </p:sp>
      <p:sp>
        <p:nvSpPr>
          <p:cNvPr id="25" name="矩形 24">
            <a:extLst>
              <a:ext uri="{FF2B5EF4-FFF2-40B4-BE49-F238E27FC236}">
                <a16:creationId xmlns:a16="http://schemas.microsoft.com/office/drawing/2014/main" id="{7D22C80D-2DC5-4CEF-46AD-9D305C1DDA94}"/>
              </a:ext>
            </a:extLst>
          </p:cNvPr>
          <p:cNvSpPr/>
          <p:nvPr/>
        </p:nvSpPr>
        <p:spPr>
          <a:xfrm>
            <a:off x="7615054" y="2998839"/>
            <a:ext cx="430887" cy="2160000"/>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风险计划</a:t>
            </a:r>
          </a:p>
        </p:txBody>
      </p:sp>
      <p:sp>
        <p:nvSpPr>
          <p:cNvPr id="26" name="矩形 25">
            <a:extLst>
              <a:ext uri="{FF2B5EF4-FFF2-40B4-BE49-F238E27FC236}">
                <a16:creationId xmlns:a16="http://schemas.microsoft.com/office/drawing/2014/main" id="{477F11F4-9262-B192-3F15-F75650FB2091}"/>
              </a:ext>
            </a:extLst>
          </p:cNvPr>
          <p:cNvSpPr/>
          <p:nvPr/>
        </p:nvSpPr>
        <p:spPr>
          <a:xfrm>
            <a:off x="8308629" y="2998839"/>
            <a:ext cx="430887" cy="2160000"/>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dirty="0">
                <a:solidFill>
                  <a:schemeClr val="tx1"/>
                </a:solidFill>
              </a:rPr>
              <a:t>合同计划</a:t>
            </a:r>
          </a:p>
        </p:txBody>
      </p:sp>
      <p:sp>
        <p:nvSpPr>
          <p:cNvPr id="28" name="梯形 27">
            <a:extLst>
              <a:ext uri="{FF2B5EF4-FFF2-40B4-BE49-F238E27FC236}">
                <a16:creationId xmlns:a16="http://schemas.microsoft.com/office/drawing/2014/main" id="{045F67B4-AF9B-69C3-918E-768F5D7CF295}"/>
              </a:ext>
            </a:extLst>
          </p:cNvPr>
          <p:cNvSpPr/>
          <p:nvPr/>
        </p:nvSpPr>
        <p:spPr>
          <a:xfrm>
            <a:off x="3452485" y="2359742"/>
            <a:ext cx="5287031" cy="639097"/>
          </a:xfrm>
          <a:custGeom>
            <a:avLst/>
            <a:gdLst>
              <a:gd name="csX0" fmla="*/ 0 w 5287031"/>
              <a:gd name="csY0" fmla="*/ 629265 h 629265"/>
              <a:gd name="csX1" fmla="*/ 688259 w 5287031"/>
              <a:gd name="csY1" fmla="*/ 0 h 629265"/>
              <a:gd name="csX2" fmla="*/ 4598772 w 5287031"/>
              <a:gd name="csY2" fmla="*/ 0 h 629265"/>
              <a:gd name="csX3" fmla="*/ 5287031 w 5287031"/>
              <a:gd name="csY3" fmla="*/ 629265 h 629265"/>
              <a:gd name="csX4" fmla="*/ 0 w 5287031"/>
              <a:gd name="csY4" fmla="*/ 629265 h 629265"/>
              <a:gd name="csX0" fmla="*/ 0 w 5287031"/>
              <a:gd name="csY0" fmla="*/ 639097 h 639097"/>
              <a:gd name="csX1" fmla="*/ 688259 w 5287031"/>
              <a:gd name="csY1" fmla="*/ 9832 h 639097"/>
              <a:gd name="csX2" fmla="*/ 2327520 w 5287031"/>
              <a:gd name="csY2" fmla="*/ 0 h 639097"/>
              <a:gd name="csX3" fmla="*/ 5287031 w 5287031"/>
              <a:gd name="csY3" fmla="*/ 639097 h 639097"/>
              <a:gd name="csX4" fmla="*/ 0 w 5287031"/>
              <a:gd name="csY4" fmla="*/ 639097 h 639097"/>
            </a:gdLst>
            <a:ahLst/>
            <a:cxnLst>
              <a:cxn ang="0">
                <a:pos x="csX0" y="csY0"/>
              </a:cxn>
              <a:cxn ang="0">
                <a:pos x="csX1" y="csY1"/>
              </a:cxn>
              <a:cxn ang="0">
                <a:pos x="csX2" y="csY2"/>
              </a:cxn>
              <a:cxn ang="0">
                <a:pos x="csX3" y="csY3"/>
              </a:cxn>
              <a:cxn ang="0">
                <a:pos x="csX4" y="csY4"/>
              </a:cxn>
            </a:cxnLst>
            <a:rect l="l" t="t" r="r" b="b"/>
            <a:pathLst>
              <a:path w="5287031" h="639097">
                <a:moveTo>
                  <a:pt x="0" y="639097"/>
                </a:moveTo>
                <a:lnTo>
                  <a:pt x="688259" y="9832"/>
                </a:lnTo>
                <a:lnTo>
                  <a:pt x="2327520" y="0"/>
                </a:lnTo>
                <a:lnTo>
                  <a:pt x="5287031" y="639097"/>
                </a:lnTo>
                <a:lnTo>
                  <a:pt x="0" y="639097"/>
                </a:lnTo>
                <a:close/>
              </a:path>
            </a:pathLst>
          </a:custGeom>
          <a:gradFill flip="none" rotWithShape="1">
            <a:gsLst>
              <a:gs pos="0">
                <a:srgbClr val="00B0F0"/>
              </a:gs>
              <a:gs pos="100000">
                <a:schemeClr val="bg1">
                  <a:alpha val="0"/>
                </a:scheme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tx1"/>
              </a:solidFill>
            </a:endParaRPr>
          </a:p>
        </p:txBody>
      </p:sp>
    </p:spTree>
    <p:extLst>
      <p:ext uri="{BB962C8B-B14F-4D97-AF65-F5344CB8AC3E}">
        <p14:creationId xmlns:p14="http://schemas.microsoft.com/office/powerpoint/2010/main" val="179613142"/>
      </p:ext>
    </p:extLst>
  </p:cSld>
  <p:clrMapOvr>
    <a:masterClrMapping/>
  </p:clrMapOvr>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457E7C-CFA2-440F-AEC7-E3AAB9B663A7}"/>
              </a:ext>
            </a:extLst>
          </p:cNvPr>
          <p:cNvSpPr>
            <a:spLocks noGrp="1"/>
          </p:cNvSpPr>
          <p:nvPr>
            <p:ph type="title"/>
          </p:nvPr>
        </p:nvSpPr>
        <p:spPr>
          <a:xfrm>
            <a:off x="792000" y="360000"/>
            <a:ext cx="6375921" cy="429413"/>
          </a:xfrm>
        </p:spPr>
        <p:txBody>
          <a:bodyPr/>
          <a:lstStyle/>
          <a:p>
            <a:r>
              <a:rPr lang="zh-CN" altLang="en-US" dirty="0"/>
              <a:t>变化原因</a:t>
            </a:r>
          </a:p>
        </p:txBody>
      </p:sp>
      <p:sp>
        <p:nvSpPr>
          <p:cNvPr id="3" name="内容占位符 2">
            <a:extLst>
              <a:ext uri="{FF2B5EF4-FFF2-40B4-BE49-F238E27FC236}">
                <a16:creationId xmlns:a16="http://schemas.microsoft.com/office/drawing/2014/main" id="{93721C6B-6BC4-3133-BAEC-53FA9E957BFE}"/>
              </a:ext>
            </a:extLst>
          </p:cNvPr>
          <p:cNvSpPr>
            <a:spLocks noGrp="1"/>
          </p:cNvSpPr>
          <p:nvPr>
            <p:ph idx="1"/>
          </p:nvPr>
        </p:nvSpPr>
        <p:spPr>
          <a:xfrm>
            <a:off x="696000" y="864000"/>
            <a:ext cx="10800000" cy="5400000"/>
          </a:xfrm>
        </p:spPr>
        <p:txBody>
          <a:bodyPr/>
          <a:lstStyle/>
          <a:p>
            <a:r>
              <a:rPr lang="zh-CN" altLang="en-US" dirty="0"/>
              <a:t>新的业务或市场</a:t>
            </a:r>
            <a:endParaRPr lang="en-US" altLang="zh-CN" dirty="0"/>
          </a:p>
          <a:p>
            <a:r>
              <a:rPr lang="zh-CN" altLang="en-US" dirty="0"/>
              <a:t>新的客户需求</a:t>
            </a:r>
            <a:endParaRPr lang="en-US" altLang="zh-CN" dirty="0"/>
          </a:p>
          <a:p>
            <a:r>
              <a:rPr lang="zh-CN" altLang="en-US" dirty="0"/>
              <a:t>企业改组或规模调整</a:t>
            </a:r>
            <a:endParaRPr lang="en-US" altLang="zh-CN" dirty="0"/>
          </a:p>
          <a:p>
            <a:r>
              <a:rPr lang="zh-CN" altLang="en-US" dirty="0"/>
              <a:t>预算或进度安排受限</a:t>
            </a:r>
          </a:p>
        </p:txBody>
      </p:sp>
      <p:sp>
        <p:nvSpPr>
          <p:cNvPr id="4" name="文本占位符 3">
            <a:extLst>
              <a:ext uri="{FF2B5EF4-FFF2-40B4-BE49-F238E27FC236}">
                <a16:creationId xmlns:a16="http://schemas.microsoft.com/office/drawing/2014/main" id="{EB2102E0-B29C-045F-8E91-010285AA3DC9}"/>
              </a:ext>
            </a:extLst>
          </p:cNvPr>
          <p:cNvSpPr>
            <a:spLocks noGrp="1"/>
          </p:cNvSpPr>
          <p:nvPr>
            <p:ph type="body" sz="quarter" idx="10"/>
          </p:nvPr>
        </p:nvSpPr>
        <p:spPr>
          <a:xfrm>
            <a:off x="7071919" y="448519"/>
            <a:ext cx="4424080" cy="338554"/>
          </a:xfrm>
        </p:spPr>
        <p:txBody>
          <a:bodyPr/>
          <a:lstStyle/>
          <a:p>
            <a:r>
              <a:rPr lang="en-US" altLang="zh-CN"/>
              <a:t>Reason</a:t>
            </a:r>
            <a:endParaRPr lang="zh-CN" altLang="en-US"/>
          </a:p>
        </p:txBody>
      </p:sp>
      <p:graphicFrame>
        <p:nvGraphicFramePr>
          <p:cNvPr id="5" name="内容占位符 8">
            <a:extLst>
              <a:ext uri="{FF2B5EF4-FFF2-40B4-BE49-F238E27FC236}">
                <a16:creationId xmlns:a16="http://schemas.microsoft.com/office/drawing/2014/main" id="{9BB90892-65AA-6768-B014-50A4020CFC60}"/>
              </a:ext>
            </a:extLst>
          </p:cNvPr>
          <p:cNvGraphicFramePr>
            <a:graphicFrameLocks noChangeAspect="1"/>
          </p:cNvGraphicFramePr>
          <p:nvPr/>
        </p:nvGraphicFramePr>
        <p:xfrm>
          <a:off x="2855595" y="1895475"/>
          <a:ext cx="6480810" cy="30670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69967317"/>
      </p:ext>
    </p:extLst>
  </p:cSld>
  <p:clrMapOvr>
    <a:masterClrMapping/>
  </p:clrMapOvr>
</p:sld>
</file>

<file path=ppt/slides/slide3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ADB148A0-47E8-D286-69D9-6B147FCCD6FB}"/>
              </a:ext>
            </a:extLst>
          </p:cNvPr>
          <p:cNvSpPr>
            <a:spLocks noGrp="1"/>
          </p:cNvSpPr>
          <p:nvPr>
            <p:ph type="body" sz="quarter" idx="10"/>
          </p:nvPr>
        </p:nvSpPr>
        <p:spPr>
          <a:xfrm>
            <a:off x="3219345" y="1629000"/>
            <a:ext cx="8640000" cy="3600000"/>
          </a:xfrm>
        </p:spPr>
        <p:txBody>
          <a:bodyPr/>
          <a:lstStyle/>
          <a:p>
            <a:r>
              <a:rPr lang="zh-CN" altLang="en-US" dirty="0"/>
              <a:t>小张是软件研发和项目经理，负责的某项目已进入实施阶段，此时用户提出要增加一项新的功能，小张应该（ ）</a:t>
            </a:r>
            <a:endParaRPr lang="en-US" altLang="zh-CN" dirty="0"/>
          </a:p>
          <a:p>
            <a:endParaRPr lang="zh-CN" altLang="en-US" dirty="0"/>
          </a:p>
          <a:p>
            <a:r>
              <a:rPr lang="en-US" altLang="zh-CN" dirty="0"/>
              <a:t>A</a:t>
            </a:r>
            <a:r>
              <a:rPr lang="zh-CN" altLang="en-US" dirty="0"/>
              <a:t>、拒绝该变更</a:t>
            </a:r>
          </a:p>
          <a:p>
            <a:r>
              <a:rPr lang="en-US" altLang="zh-CN" dirty="0"/>
              <a:t>B</a:t>
            </a:r>
            <a:r>
              <a:rPr lang="zh-CN" altLang="en-US" dirty="0"/>
              <a:t>、通过变更控制流程进行处理</a:t>
            </a:r>
          </a:p>
          <a:p>
            <a:r>
              <a:rPr lang="en-US" altLang="zh-CN" dirty="0"/>
              <a:t>C</a:t>
            </a:r>
            <a:r>
              <a:rPr lang="zh-CN" altLang="en-US" dirty="0"/>
              <a:t>、立即实现该变更</a:t>
            </a:r>
          </a:p>
          <a:p>
            <a:r>
              <a:rPr lang="en-US" altLang="zh-CN" dirty="0"/>
              <a:t>D</a:t>
            </a:r>
            <a:r>
              <a:rPr lang="zh-CN" altLang="en-US" dirty="0"/>
              <a:t>、要求客户应先去与公司领导协商</a:t>
            </a:r>
          </a:p>
        </p:txBody>
      </p:sp>
    </p:spTree>
    <p:extLst>
      <p:ext uri="{BB962C8B-B14F-4D97-AF65-F5344CB8AC3E}">
        <p14:creationId xmlns:p14="http://schemas.microsoft.com/office/powerpoint/2010/main" val="2242210256"/>
      </p:ext>
    </p:extLst>
  </p:cSld>
  <p:clrMapOvr>
    <a:masterClrMapping/>
  </p:clrMapOvr>
</p:sld>
</file>

<file path=ppt/slides/slide3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56E1B7D6-E970-C5F8-2BD2-D6797AACE99B}"/>
              </a:ext>
            </a:extLst>
          </p:cNvPr>
          <p:cNvSpPr>
            <a:spLocks noGrp="1"/>
          </p:cNvSpPr>
          <p:nvPr>
            <p:ph type="body" sz="quarter" idx="10"/>
          </p:nvPr>
        </p:nvSpPr>
        <p:spPr>
          <a:xfrm>
            <a:off x="3219345" y="1629000"/>
            <a:ext cx="8640000" cy="3600000"/>
          </a:xfrm>
        </p:spPr>
        <p:txBody>
          <a:bodyPr/>
          <a:lstStyle/>
          <a:p>
            <a:r>
              <a:rPr lang="zh-CN" altLang="en-US" dirty="0"/>
              <a:t>项目整体变更控制管理的流程是：变更请求 →（ ）。</a:t>
            </a:r>
            <a:endParaRPr lang="en-US" altLang="zh-CN" dirty="0"/>
          </a:p>
          <a:p>
            <a:endParaRPr lang="zh-CN" altLang="en-US" dirty="0"/>
          </a:p>
          <a:p>
            <a:r>
              <a:rPr lang="en-US" altLang="zh-CN" dirty="0"/>
              <a:t>A</a:t>
            </a:r>
            <a:r>
              <a:rPr lang="zh-CN" altLang="en-US" dirty="0"/>
              <a:t>、同意或否决变更 → 变更影响评估 → 执行</a:t>
            </a:r>
          </a:p>
          <a:p>
            <a:r>
              <a:rPr lang="en-US" altLang="zh-CN" dirty="0"/>
              <a:t>B</a:t>
            </a:r>
            <a:r>
              <a:rPr lang="zh-CN" altLang="en-US" dirty="0"/>
              <a:t>、执行变更 → 变更影响评估 → 同意或否决变更</a:t>
            </a:r>
          </a:p>
          <a:p>
            <a:r>
              <a:rPr lang="en-US" altLang="zh-CN" dirty="0"/>
              <a:t>C</a:t>
            </a:r>
            <a:r>
              <a:rPr lang="zh-CN" altLang="en-US" dirty="0"/>
              <a:t>、变更影响评估 → 同意或否决变更 → 执行</a:t>
            </a:r>
          </a:p>
          <a:p>
            <a:r>
              <a:rPr lang="en-US" altLang="zh-CN" dirty="0"/>
              <a:t>D</a:t>
            </a:r>
            <a:r>
              <a:rPr lang="zh-CN" altLang="en-US" dirty="0"/>
              <a:t>、同意或否决变更 → 执行 → 变更影响评估</a:t>
            </a:r>
          </a:p>
        </p:txBody>
      </p:sp>
    </p:spTree>
    <p:extLst>
      <p:ext uri="{BB962C8B-B14F-4D97-AF65-F5344CB8AC3E}">
        <p14:creationId xmlns:p14="http://schemas.microsoft.com/office/powerpoint/2010/main" val="4211139758"/>
      </p:ext>
    </p:extLst>
  </p:cSld>
  <p:clrMapOvr>
    <a:masterClrMapping/>
  </p:clrMapOvr>
</p:sld>
</file>

<file path=ppt/slides/slide3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BEE07003-36CF-2563-E00C-E7C1836F8EDD}"/>
              </a:ext>
            </a:extLst>
          </p:cNvPr>
          <p:cNvSpPr txBox="1"/>
          <p:nvPr/>
        </p:nvSpPr>
        <p:spPr>
          <a:xfrm>
            <a:off x="4912285" y="2662182"/>
            <a:ext cx="1415772" cy="338554"/>
          </a:xfrm>
          <a:prstGeom prst="rect">
            <a:avLst/>
          </a:prstGeom>
          <a:noFill/>
        </p:spPr>
        <p:txBody>
          <a:bodyPr wrap="none" rtlCol="0">
            <a:spAutoFit/>
          </a:bodyPr>
          <a:lstStyle/>
          <a:p>
            <a:pPr algn="l"/>
            <a:r>
              <a:rPr lang="zh-CN" altLang="en-US" sz="1600" dirty="0"/>
              <a:t>配置状态报告</a:t>
            </a:r>
          </a:p>
        </p:txBody>
      </p:sp>
      <p:pic>
        <p:nvPicPr>
          <p:cNvPr id="3" name="内容占位符 16" descr="文档">
            <a:extLst>
              <a:ext uri="{FF2B5EF4-FFF2-40B4-BE49-F238E27FC236}">
                <a16:creationId xmlns:a16="http://schemas.microsoft.com/office/drawing/2014/main" id="{FDA077D2-EC08-E696-B067-105EC811ACF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224751" y="2471459"/>
            <a:ext cx="720000" cy="720000"/>
          </a:xfrm>
          <a:prstGeom prst="rect">
            <a:avLst/>
          </a:prstGeom>
        </p:spPr>
      </p:pic>
      <p:sp>
        <p:nvSpPr>
          <p:cNvPr id="4" name="文本框 3">
            <a:extLst>
              <a:ext uri="{FF2B5EF4-FFF2-40B4-BE49-F238E27FC236}">
                <a16:creationId xmlns:a16="http://schemas.microsoft.com/office/drawing/2014/main" id="{6D253B88-18B0-5980-ADAB-AE49464AD053}"/>
              </a:ext>
            </a:extLst>
          </p:cNvPr>
          <p:cNvSpPr txBox="1"/>
          <p:nvPr/>
        </p:nvSpPr>
        <p:spPr>
          <a:xfrm>
            <a:off x="4912285" y="3675721"/>
            <a:ext cx="1415772" cy="338554"/>
          </a:xfrm>
          <a:prstGeom prst="rect">
            <a:avLst/>
          </a:prstGeom>
          <a:noFill/>
        </p:spPr>
        <p:txBody>
          <a:bodyPr wrap="none" rtlCol="0">
            <a:spAutoFit/>
          </a:bodyPr>
          <a:lstStyle/>
          <a:p>
            <a:pPr algn="l"/>
            <a:r>
              <a:rPr lang="zh-CN" altLang="en-US" sz="1600" dirty="0"/>
              <a:t>配置管理计划</a:t>
            </a:r>
          </a:p>
        </p:txBody>
      </p:sp>
      <p:pic>
        <p:nvPicPr>
          <p:cNvPr id="5" name="内容占位符 16" descr="文档">
            <a:extLst>
              <a:ext uri="{FF2B5EF4-FFF2-40B4-BE49-F238E27FC236}">
                <a16:creationId xmlns:a16="http://schemas.microsoft.com/office/drawing/2014/main" id="{A05B45A2-70B9-8116-5685-E4174222FCA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224751" y="3484998"/>
            <a:ext cx="720000" cy="720000"/>
          </a:xfrm>
          <a:prstGeom prst="rect">
            <a:avLst/>
          </a:prstGeom>
        </p:spPr>
      </p:pic>
      <p:pic>
        <p:nvPicPr>
          <p:cNvPr id="7" name="图形 6" descr="会议">
            <a:extLst>
              <a:ext uri="{FF2B5EF4-FFF2-40B4-BE49-F238E27FC236}">
                <a16:creationId xmlns:a16="http://schemas.microsoft.com/office/drawing/2014/main" id="{20FF4B88-F6BD-E944-7184-C7993818B13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30255" y="1839112"/>
            <a:ext cx="720000" cy="720000"/>
          </a:xfrm>
          <a:prstGeom prst="rect">
            <a:avLst/>
          </a:prstGeom>
        </p:spPr>
      </p:pic>
      <p:sp>
        <p:nvSpPr>
          <p:cNvPr id="16" name="文本框 15">
            <a:extLst>
              <a:ext uri="{FF2B5EF4-FFF2-40B4-BE49-F238E27FC236}">
                <a16:creationId xmlns:a16="http://schemas.microsoft.com/office/drawing/2014/main" id="{BF7BB997-7A04-370D-D0F4-41FACFE254FA}"/>
              </a:ext>
            </a:extLst>
          </p:cNvPr>
          <p:cNvSpPr txBox="1"/>
          <p:nvPr/>
        </p:nvSpPr>
        <p:spPr>
          <a:xfrm>
            <a:off x="1372701" y="2412994"/>
            <a:ext cx="635110" cy="338554"/>
          </a:xfrm>
          <a:prstGeom prst="rect">
            <a:avLst/>
          </a:prstGeom>
          <a:noFill/>
        </p:spPr>
        <p:txBody>
          <a:bodyPr wrap="none" rtlCol="0">
            <a:spAutoFit/>
          </a:bodyPr>
          <a:lstStyle/>
          <a:p>
            <a:pPr algn="ctr"/>
            <a:r>
              <a:rPr lang="en-US" altLang="zh-CN" sz="1600" dirty="0"/>
              <a:t>CCB</a:t>
            </a:r>
            <a:endParaRPr lang="zh-CN" altLang="en-US" sz="1600" dirty="0"/>
          </a:p>
        </p:txBody>
      </p:sp>
      <p:pic>
        <p:nvPicPr>
          <p:cNvPr id="11" name="图形 10" descr="办公室职员">
            <a:extLst>
              <a:ext uri="{FF2B5EF4-FFF2-40B4-BE49-F238E27FC236}">
                <a16:creationId xmlns:a16="http://schemas.microsoft.com/office/drawing/2014/main" id="{CE4929AE-FE2F-F5F9-7B61-77910EA714A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7218" y="420558"/>
            <a:ext cx="720000" cy="720000"/>
          </a:xfrm>
          <a:prstGeom prst="rect">
            <a:avLst/>
          </a:prstGeom>
        </p:spPr>
      </p:pic>
      <p:sp>
        <p:nvSpPr>
          <p:cNvPr id="17" name="文本框 16">
            <a:extLst>
              <a:ext uri="{FF2B5EF4-FFF2-40B4-BE49-F238E27FC236}">
                <a16:creationId xmlns:a16="http://schemas.microsoft.com/office/drawing/2014/main" id="{5DA10B13-B04B-B204-AA85-DA9FCC75629A}"/>
              </a:ext>
            </a:extLst>
          </p:cNvPr>
          <p:cNvSpPr txBox="1"/>
          <p:nvPr/>
        </p:nvSpPr>
        <p:spPr>
          <a:xfrm>
            <a:off x="2913364" y="1011254"/>
            <a:ext cx="527709" cy="338554"/>
          </a:xfrm>
          <a:prstGeom prst="rect">
            <a:avLst/>
          </a:prstGeom>
          <a:noFill/>
        </p:spPr>
        <p:txBody>
          <a:bodyPr wrap="none" rtlCol="0">
            <a:spAutoFit/>
          </a:bodyPr>
          <a:lstStyle/>
          <a:p>
            <a:pPr algn="ctr"/>
            <a:r>
              <a:rPr lang="en-US" altLang="zh-CN" sz="1600" dirty="0"/>
              <a:t>PM</a:t>
            </a:r>
            <a:endParaRPr lang="zh-CN" altLang="en-US" sz="1600" dirty="0"/>
          </a:p>
        </p:txBody>
      </p:sp>
      <p:pic>
        <p:nvPicPr>
          <p:cNvPr id="9" name="图形 8" descr="用户">
            <a:extLst>
              <a:ext uri="{FF2B5EF4-FFF2-40B4-BE49-F238E27FC236}">
                <a16:creationId xmlns:a16="http://schemas.microsoft.com/office/drawing/2014/main" id="{C90AE746-B261-6948-C5C3-DECF15A1987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817218" y="1839112"/>
            <a:ext cx="720000" cy="720000"/>
          </a:xfrm>
          <a:prstGeom prst="rect">
            <a:avLst/>
          </a:prstGeom>
        </p:spPr>
      </p:pic>
      <p:pic>
        <p:nvPicPr>
          <p:cNvPr id="13" name="图形 12" descr="挖掘工具">
            <a:extLst>
              <a:ext uri="{FF2B5EF4-FFF2-40B4-BE49-F238E27FC236}">
                <a16:creationId xmlns:a16="http://schemas.microsoft.com/office/drawing/2014/main" id="{D48D8758-3B83-B6C8-6266-11711C9CAF2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224751" y="1335773"/>
            <a:ext cx="720000" cy="720000"/>
          </a:xfrm>
          <a:prstGeom prst="rect">
            <a:avLst/>
          </a:prstGeom>
        </p:spPr>
      </p:pic>
      <p:sp>
        <p:nvSpPr>
          <p:cNvPr id="19" name="文本框 18">
            <a:extLst>
              <a:ext uri="{FF2B5EF4-FFF2-40B4-BE49-F238E27FC236}">
                <a16:creationId xmlns:a16="http://schemas.microsoft.com/office/drawing/2014/main" id="{4A456ED5-744A-13C0-3E36-F79D7FB241A9}"/>
              </a:ext>
            </a:extLst>
          </p:cNvPr>
          <p:cNvSpPr txBox="1"/>
          <p:nvPr/>
        </p:nvSpPr>
        <p:spPr>
          <a:xfrm>
            <a:off x="4278417" y="1926469"/>
            <a:ext cx="612668" cy="338554"/>
          </a:xfrm>
          <a:prstGeom prst="rect">
            <a:avLst/>
          </a:prstGeom>
          <a:noFill/>
        </p:spPr>
        <p:txBody>
          <a:bodyPr wrap="none" rtlCol="0">
            <a:spAutoFit/>
          </a:bodyPr>
          <a:lstStyle/>
          <a:p>
            <a:pPr algn="ctr"/>
            <a:r>
              <a:rPr lang="en-US" altLang="zh-CN" sz="1600" dirty="0"/>
              <a:t>Tool</a:t>
            </a:r>
            <a:endParaRPr lang="zh-CN" altLang="en-US" sz="1600" dirty="0"/>
          </a:p>
        </p:txBody>
      </p:sp>
      <p:pic>
        <p:nvPicPr>
          <p:cNvPr id="27" name="图形 26" descr="框">
            <a:extLst>
              <a:ext uri="{FF2B5EF4-FFF2-40B4-BE49-F238E27FC236}">
                <a16:creationId xmlns:a16="http://schemas.microsoft.com/office/drawing/2014/main" id="{B047C237-1E05-E9D4-3831-149720265D5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776651" y="2820205"/>
            <a:ext cx="720000" cy="720000"/>
          </a:xfrm>
          <a:prstGeom prst="rect">
            <a:avLst/>
          </a:prstGeom>
        </p:spPr>
      </p:pic>
      <p:sp>
        <p:nvSpPr>
          <p:cNvPr id="34" name="文本框 33">
            <a:extLst>
              <a:ext uri="{FF2B5EF4-FFF2-40B4-BE49-F238E27FC236}">
                <a16:creationId xmlns:a16="http://schemas.microsoft.com/office/drawing/2014/main" id="{90406559-BC60-4029-2545-97AD50CFF3E0}"/>
              </a:ext>
            </a:extLst>
          </p:cNvPr>
          <p:cNvSpPr txBox="1"/>
          <p:nvPr/>
        </p:nvSpPr>
        <p:spPr>
          <a:xfrm>
            <a:off x="6939321" y="3434573"/>
            <a:ext cx="394660" cy="338554"/>
          </a:xfrm>
          <a:prstGeom prst="rect">
            <a:avLst/>
          </a:prstGeom>
          <a:noFill/>
        </p:spPr>
        <p:txBody>
          <a:bodyPr wrap="none" rtlCol="0">
            <a:spAutoFit/>
          </a:bodyPr>
          <a:lstStyle/>
          <a:p>
            <a:pPr algn="l"/>
            <a:r>
              <a:rPr lang="en-US" altLang="zh-CN" sz="1600" dirty="0"/>
              <a:t>CI</a:t>
            </a:r>
            <a:endParaRPr lang="zh-CN" altLang="en-US" sz="1600" dirty="0"/>
          </a:p>
        </p:txBody>
      </p:sp>
      <p:pic>
        <p:nvPicPr>
          <p:cNvPr id="37" name="图形 36" descr="框">
            <a:extLst>
              <a:ext uri="{FF2B5EF4-FFF2-40B4-BE49-F238E27FC236}">
                <a16:creationId xmlns:a16="http://schemas.microsoft.com/office/drawing/2014/main" id="{73FD46A5-55F8-D63B-8937-9ABB7AEA297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789039" y="2820205"/>
            <a:ext cx="720000" cy="720000"/>
          </a:xfrm>
          <a:prstGeom prst="rect">
            <a:avLst/>
          </a:prstGeom>
        </p:spPr>
      </p:pic>
      <p:sp>
        <p:nvSpPr>
          <p:cNvPr id="38" name="文本框 37">
            <a:extLst>
              <a:ext uri="{FF2B5EF4-FFF2-40B4-BE49-F238E27FC236}">
                <a16:creationId xmlns:a16="http://schemas.microsoft.com/office/drawing/2014/main" id="{CB8E834D-C744-1CF7-B6A3-B5996CCD6413}"/>
              </a:ext>
            </a:extLst>
          </p:cNvPr>
          <p:cNvSpPr txBox="1"/>
          <p:nvPr/>
        </p:nvSpPr>
        <p:spPr>
          <a:xfrm>
            <a:off x="7951709" y="3434573"/>
            <a:ext cx="394660" cy="338554"/>
          </a:xfrm>
          <a:prstGeom prst="rect">
            <a:avLst/>
          </a:prstGeom>
          <a:noFill/>
        </p:spPr>
        <p:txBody>
          <a:bodyPr wrap="none" rtlCol="0">
            <a:spAutoFit/>
          </a:bodyPr>
          <a:lstStyle/>
          <a:p>
            <a:pPr algn="l"/>
            <a:r>
              <a:rPr lang="en-US" altLang="zh-CN" sz="1600" dirty="0"/>
              <a:t>CI</a:t>
            </a:r>
            <a:endParaRPr lang="zh-CN" altLang="en-US" sz="1600" dirty="0"/>
          </a:p>
        </p:txBody>
      </p:sp>
      <p:pic>
        <p:nvPicPr>
          <p:cNvPr id="40" name="图形 39" descr="框">
            <a:extLst>
              <a:ext uri="{FF2B5EF4-FFF2-40B4-BE49-F238E27FC236}">
                <a16:creationId xmlns:a16="http://schemas.microsoft.com/office/drawing/2014/main" id="{54A977A4-A67C-9A85-2698-4B24920AD74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801427" y="2820205"/>
            <a:ext cx="720000" cy="720000"/>
          </a:xfrm>
          <a:prstGeom prst="rect">
            <a:avLst/>
          </a:prstGeom>
        </p:spPr>
      </p:pic>
      <p:sp>
        <p:nvSpPr>
          <p:cNvPr id="41" name="文本框 40">
            <a:extLst>
              <a:ext uri="{FF2B5EF4-FFF2-40B4-BE49-F238E27FC236}">
                <a16:creationId xmlns:a16="http://schemas.microsoft.com/office/drawing/2014/main" id="{02F4E335-705A-7CE9-350E-698C5971BC8D}"/>
              </a:ext>
            </a:extLst>
          </p:cNvPr>
          <p:cNvSpPr txBox="1"/>
          <p:nvPr/>
        </p:nvSpPr>
        <p:spPr>
          <a:xfrm>
            <a:off x="8964097" y="3434573"/>
            <a:ext cx="394660" cy="338554"/>
          </a:xfrm>
          <a:prstGeom prst="rect">
            <a:avLst/>
          </a:prstGeom>
          <a:noFill/>
        </p:spPr>
        <p:txBody>
          <a:bodyPr wrap="none" rtlCol="0">
            <a:spAutoFit/>
          </a:bodyPr>
          <a:lstStyle/>
          <a:p>
            <a:pPr algn="l"/>
            <a:r>
              <a:rPr lang="en-US" altLang="zh-CN" sz="1600" dirty="0"/>
              <a:t>CI</a:t>
            </a:r>
            <a:endParaRPr lang="zh-CN" altLang="en-US" sz="1600" dirty="0"/>
          </a:p>
        </p:txBody>
      </p:sp>
      <p:pic>
        <p:nvPicPr>
          <p:cNvPr id="43" name="图形 42" descr="框">
            <a:extLst>
              <a:ext uri="{FF2B5EF4-FFF2-40B4-BE49-F238E27FC236}">
                <a16:creationId xmlns:a16="http://schemas.microsoft.com/office/drawing/2014/main" id="{ADE6C69B-B1FE-7FA2-F727-81E3A2A2761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813816" y="2820205"/>
            <a:ext cx="720000" cy="720000"/>
          </a:xfrm>
          <a:prstGeom prst="rect">
            <a:avLst/>
          </a:prstGeom>
        </p:spPr>
      </p:pic>
      <p:sp>
        <p:nvSpPr>
          <p:cNvPr id="44" name="文本框 43">
            <a:extLst>
              <a:ext uri="{FF2B5EF4-FFF2-40B4-BE49-F238E27FC236}">
                <a16:creationId xmlns:a16="http://schemas.microsoft.com/office/drawing/2014/main" id="{D4127387-AB1D-1314-7687-CC0C74554B5D}"/>
              </a:ext>
            </a:extLst>
          </p:cNvPr>
          <p:cNvSpPr txBox="1"/>
          <p:nvPr/>
        </p:nvSpPr>
        <p:spPr>
          <a:xfrm>
            <a:off x="9976486" y="3434573"/>
            <a:ext cx="394660" cy="338554"/>
          </a:xfrm>
          <a:prstGeom prst="rect">
            <a:avLst/>
          </a:prstGeom>
          <a:noFill/>
        </p:spPr>
        <p:txBody>
          <a:bodyPr wrap="none" rtlCol="0">
            <a:spAutoFit/>
          </a:bodyPr>
          <a:lstStyle/>
          <a:p>
            <a:pPr algn="l"/>
            <a:r>
              <a:rPr lang="en-US" altLang="zh-CN" sz="1600" dirty="0"/>
              <a:t>CI</a:t>
            </a:r>
            <a:endParaRPr lang="zh-CN" altLang="en-US" sz="1600" dirty="0"/>
          </a:p>
        </p:txBody>
      </p:sp>
      <p:pic>
        <p:nvPicPr>
          <p:cNvPr id="29" name="图形 28" descr="标记">
            <a:extLst>
              <a:ext uri="{FF2B5EF4-FFF2-40B4-BE49-F238E27FC236}">
                <a16:creationId xmlns:a16="http://schemas.microsoft.com/office/drawing/2014/main" id="{84A744AA-5342-0DAC-67F2-812B58820B1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267268" y="1479112"/>
            <a:ext cx="720000" cy="720000"/>
          </a:xfrm>
          <a:prstGeom prst="rect">
            <a:avLst/>
          </a:prstGeom>
        </p:spPr>
      </p:pic>
      <p:sp>
        <p:nvSpPr>
          <p:cNvPr id="51" name="文本框 50">
            <a:extLst>
              <a:ext uri="{FF2B5EF4-FFF2-40B4-BE49-F238E27FC236}">
                <a16:creationId xmlns:a16="http://schemas.microsoft.com/office/drawing/2014/main" id="{157A0FA0-E40E-2FFD-C66F-1427A0C28530}"/>
              </a:ext>
            </a:extLst>
          </p:cNvPr>
          <p:cNvSpPr txBox="1"/>
          <p:nvPr/>
        </p:nvSpPr>
        <p:spPr>
          <a:xfrm>
            <a:off x="9033195" y="2015182"/>
            <a:ext cx="1188146" cy="338554"/>
          </a:xfrm>
          <a:prstGeom prst="rect">
            <a:avLst/>
          </a:prstGeom>
          <a:noFill/>
        </p:spPr>
        <p:txBody>
          <a:bodyPr wrap="none" rtlCol="0">
            <a:spAutoFit/>
          </a:bodyPr>
          <a:lstStyle/>
          <a:p>
            <a:pPr algn="l"/>
            <a:r>
              <a:rPr lang="en-US" altLang="zh-CN" sz="1600" dirty="0"/>
              <a:t>Milestone</a:t>
            </a:r>
            <a:endParaRPr lang="zh-CN" altLang="en-US" sz="1600" dirty="0"/>
          </a:p>
        </p:txBody>
      </p:sp>
      <p:cxnSp>
        <p:nvCxnSpPr>
          <p:cNvPr id="54" name="直接连接符 53">
            <a:extLst>
              <a:ext uri="{FF2B5EF4-FFF2-40B4-BE49-F238E27FC236}">
                <a16:creationId xmlns:a16="http://schemas.microsoft.com/office/drawing/2014/main" id="{6618B195-4839-92CD-99AC-158C940D681F}"/>
              </a:ext>
            </a:extLst>
          </p:cNvPr>
          <p:cNvCxnSpPr>
            <a:cxnSpLocks/>
            <a:stCxn id="27" idx="3"/>
            <a:endCxn id="37" idx="1"/>
          </p:cNvCxnSpPr>
          <p:nvPr/>
        </p:nvCxnSpPr>
        <p:spPr>
          <a:xfrm>
            <a:off x="7496651" y="3180205"/>
            <a:ext cx="292388" cy="0"/>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2120EAF7-6E18-F8BC-86D7-09CEC1B6C362}"/>
              </a:ext>
            </a:extLst>
          </p:cNvPr>
          <p:cNvCxnSpPr>
            <a:cxnSpLocks/>
            <a:stCxn id="37" idx="3"/>
            <a:endCxn id="40" idx="1"/>
          </p:cNvCxnSpPr>
          <p:nvPr/>
        </p:nvCxnSpPr>
        <p:spPr>
          <a:xfrm>
            <a:off x="8509039" y="3180205"/>
            <a:ext cx="292388" cy="0"/>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78CE4709-3E9B-CDB4-110C-8EFF8B555D14}"/>
              </a:ext>
            </a:extLst>
          </p:cNvPr>
          <p:cNvCxnSpPr>
            <a:cxnSpLocks/>
            <a:stCxn id="40" idx="3"/>
            <a:endCxn id="43" idx="1"/>
          </p:cNvCxnSpPr>
          <p:nvPr/>
        </p:nvCxnSpPr>
        <p:spPr>
          <a:xfrm>
            <a:off x="9521427" y="3180205"/>
            <a:ext cx="292389" cy="0"/>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pic>
        <p:nvPicPr>
          <p:cNvPr id="63" name="图形 62" descr="框">
            <a:extLst>
              <a:ext uri="{FF2B5EF4-FFF2-40B4-BE49-F238E27FC236}">
                <a16:creationId xmlns:a16="http://schemas.microsoft.com/office/drawing/2014/main" id="{DAA9A1E5-295A-FDB1-6392-6E594A6E84F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282845" y="3540205"/>
            <a:ext cx="720000" cy="720000"/>
          </a:xfrm>
          <a:prstGeom prst="rect">
            <a:avLst/>
          </a:prstGeom>
        </p:spPr>
      </p:pic>
      <p:sp>
        <p:nvSpPr>
          <p:cNvPr id="64" name="文本框 63">
            <a:extLst>
              <a:ext uri="{FF2B5EF4-FFF2-40B4-BE49-F238E27FC236}">
                <a16:creationId xmlns:a16="http://schemas.microsoft.com/office/drawing/2014/main" id="{C36BE1CC-D1B5-E0EC-5152-087DC60C7B10}"/>
              </a:ext>
            </a:extLst>
          </p:cNvPr>
          <p:cNvSpPr txBox="1"/>
          <p:nvPr/>
        </p:nvSpPr>
        <p:spPr>
          <a:xfrm>
            <a:off x="7445515" y="4191517"/>
            <a:ext cx="394660" cy="338554"/>
          </a:xfrm>
          <a:prstGeom prst="rect">
            <a:avLst/>
          </a:prstGeom>
          <a:noFill/>
        </p:spPr>
        <p:txBody>
          <a:bodyPr wrap="none" rtlCol="0">
            <a:spAutoFit/>
          </a:bodyPr>
          <a:lstStyle/>
          <a:p>
            <a:pPr algn="l"/>
            <a:r>
              <a:rPr lang="en-US" altLang="zh-CN" sz="1600" dirty="0"/>
              <a:t>CI</a:t>
            </a:r>
            <a:endParaRPr lang="zh-CN" altLang="en-US" sz="1600" dirty="0"/>
          </a:p>
        </p:txBody>
      </p:sp>
      <p:pic>
        <p:nvPicPr>
          <p:cNvPr id="65" name="图形 64" descr="框">
            <a:extLst>
              <a:ext uri="{FF2B5EF4-FFF2-40B4-BE49-F238E27FC236}">
                <a16:creationId xmlns:a16="http://schemas.microsoft.com/office/drawing/2014/main" id="{FEB45093-C13B-CD96-A07C-08E7841DF48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297803" y="3540205"/>
            <a:ext cx="720000" cy="720000"/>
          </a:xfrm>
          <a:prstGeom prst="rect">
            <a:avLst/>
          </a:prstGeom>
        </p:spPr>
      </p:pic>
      <p:sp>
        <p:nvSpPr>
          <p:cNvPr id="66" name="文本框 65">
            <a:extLst>
              <a:ext uri="{FF2B5EF4-FFF2-40B4-BE49-F238E27FC236}">
                <a16:creationId xmlns:a16="http://schemas.microsoft.com/office/drawing/2014/main" id="{8855AE33-8280-2F6E-D0C7-461E2855023F}"/>
              </a:ext>
            </a:extLst>
          </p:cNvPr>
          <p:cNvSpPr txBox="1"/>
          <p:nvPr/>
        </p:nvSpPr>
        <p:spPr>
          <a:xfrm>
            <a:off x="8460473" y="4191517"/>
            <a:ext cx="394660" cy="338554"/>
          </a:xfrm>
          <a:prstGeom prst="rect">
            <a:avLst/>
          </a:prstGeom>
          <a:noFill/>
        </p:spPr>
        <p:txBody>
          <a:bodyPr wrap="none" rtlCol="0">
            <a:spAutoFit/>
          </a:bodyPr>
          <a:lstStyle/>
          <a:p>
            <a:pPr algn="l"/>
            <a:r>
              <a:rPr lang="en-US" altLang="zh-CN" sz="1600" dirty="0"/>
              <a:t>CI</a:t>
            </a:r>
            <a:endParaRPr lang="zh-CN" altLang="en-US" sz="1600" dirty="0"/>
          </a:p>
        </p:txBody>
      </p:sp>
      <p:cxnSp>
        <p:nvCxnSpPr>
          <p:cNvPr id="68" name="直接连接符 67">
            <a:extLst>
              <a:ext uri="{FF2B5EF4-FFF2-40B4-BE49-F238E27FC236}">
                <a16:creationId xmlns:a16="http://schemas.microsoft.com/office/drawing/2014/main" id="{CEA8153C-46BE-3B31-7FDC-F82D119F2BC7}"/>
              </a:ext>
            </a:extLst>
          </p:cNvPr>
          <p:cNvCxnSpPr>
            <a:cxnSpLocks/>
            <a:stCxn id="63" idx="3"/>
            <a:endCxn id="65" idx="1"/>
          </p:cNvCxnSpPr>
          <p:nvPr/>
        </p:nvCxnSpPr>
        <p:spPr>
          <a:xfrm>
            <a:off x="8002845" y="3900205"/>
            <a:ext cx="294958" cy="0"/>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1" name="连接符: 肘形 70">
            <a:extLst>
              <a:ext uri="{FF2B5EF4-FFF2-40B4-BE49-F238E27FC236}">
                <a16:creationId xmlns:a16="http://schemas.microsoft.com/office/drawing/2014/main" id="{FE1BE211-BD2F-CDDF-F6C5-24659348AB59}"/>
              </a:ext>
            </a:extLst>
          </p:cNvPr>
          <p:cNvCxnSpPr>
            <a:stCxn id="7" idx="3"/>
            <a:endCxn id="11" idx="1"/>
          </p:cNvCxnSpPr>
          <p:nvPr/>
        </p:nvCxnSpPr>
        <p:spPr>
          <a:xfrm flipV="1">
            <a:off x="2050255" y="780558"/>
            <a:ext cx="766963" cy="1418554"/>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3" name="连接符: 肘形 72">
            <a:extLst>
              <a:ext uri="{FF2B5EF4-FFF2-40B4-BE49-F238E27FC236}">
                <a16:creationId xmlns:a16="http://schemas.microsoft.com/office/drawing/2014/main" id="{61841757-A64F-2D9D-6F9D-87121FEC4448}"/>
              </a:ext>
            </a:extLst>
          </p:cNvPr>
          <p:cNvCxnSpPr>
            <a:cxnSpLocks/>
            <a:stCxn id="9" idx="3"/>
            <a:endCxn id="3" idx="1"/>
          </p:cNvCxnSpPr>
          <p:nvPr/>
        </p:nvCxnSpPr>
        <p:spPr>
          <a:xfrm>
            <a:off x="3537218" y="2199112"/>
            <a:ext cx="687533" cy="632347"/>
          </a:xfrm>
          <a:prstGeom prst="bentConnector3">
            <a:avLst>
              <a:gd name="adj1" fmla="val 50000"/>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5" name="连接符: 肘形 74">
            <a:extLst>
              <a:ext uri="{FF2B5EF4-FFF2-40B4-BE49-F238E27FC236}">
                <a16:creationId xmlns:a16="http://schemas.microsoft.com/office/drawing/2014/main" id="{137C46E8-2C5E-8D70-658B-5AF8B71F6669}"/>
              </a:ext>
            </a:extLst>
          </p:cNvPr>
          <p:cNvCxnSpPr>
            <a:cxnSpLocks/>
            <a:stCxn id="9" idx="3"/>
            <a:endCxn id="5" idx="1"/>
          </p:cNvCxnSpPr>
          <p:nvPr/>
        </p:nvCxnSpPr>
        <p:spPr>
          <a:xfrm>
            <a:off x="3537218" y="2199112"/>
            <a:ext cx="687533" cy="1645886"/>
          </a:xfrm>
          <a:prstGeom prst="bentConnector3">
            <a:avLst>
              <a:gd name="adj1" fmla="val 50000"/>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80" name="文本框 79">
            <a:extLst>
              <a:ext uri="{FF2B5EF4-FFF2-40B4-BE49-F238E27FC236}">
                <a16:creationId xmlns:a16="http://schemas.microsoft.com/office/drawing/2014/main" id="{AA4163EC-E311-7E36-7EE4-64C1DA041013}"/>
              </a:ext>
            </a:extLst>
          </p:cNvPr>
          <p:cNvSpPr txBox="1"/>
          <p:nvPr/>
        </p:nvSpPr>
        <p:spPr>
          <a:xfrm>
            <a:off x="2507002" y="4830449"/>
            <a:ext cx="1340432" cy="338554"/>
          </a:xfrm>
          <a:prstGeom prst="rect">
            <a:avLst/>
          </a:prstGeom>
          <a:noFill/>
        </p:spPr>
        <p:txBody>
          <a:bodyPr wrap="none" rtlCol="0">
            <a:spAutoFit/>
          </a:bodyPr>
          <a:lstStyle/>
          <a:p>
            <a:pPr algn="ctr"/>
            <a:r>
              <a:rPr lang="en-US" altLang="zh-CN" sz="1600" dirty="0"/>
              <a:t>Developers</a:t>
            </a:r>
            <a:endParaRPr lang="zh-CN" altLang="en-US" sz="1600" dirty="0"/>
          </a:p>
        </p:txBody>
      </p:sp>
      <p:pic>
        <p:nvPicPr>
          <p:cNvPr id="87" name="图形 86" descr="男人群">
            <a:extLst>
              <a:ext uri="{FF2B5EF4-FFF2-40B4-BE49-F238E27FC236}">
                <a16:creationId xmlns:a16="http://schemas.microsoft.com/office/drawing/2014/main" id="{EAC3D72B-78B0-FCE1-719D-3100E1A7B94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817218" y="4231520"/>
            <a:ext cx="720000" cy="720000"/>
          </a:xfrm>
          <a:prstGeom prst="rect">
            <a:avLst/>
          </a:prstGeom>
        </p:spPr>
      </p:pic>
      <p:cxnSp>
        <p:nvCxnSpPr>
          <p:cNvPr id="89" name="连接符: 肘形 88">
            <a:extLst>
              <a:ext uri="{FF2B5EF4-FFF2-40B4-BE49-F238E27FC236}">
                <a16:creationId xmlns:a16="http://schemas.microsoft.com/office/drawing/2014/main" id="{695697FC-BBDA-7B5E-FCED-2DCBB72CAA38}"/>
              </a:ext>
            </a:extLst>
          </p:cNvPr>
          <p:cNvCxnSpPr>
            <a:stCxn id="7" idx="3"/>
            <a:endCxn id="87" idx="1"/>
          </p:cNvCxnSpPr>
          <p:nvPr/>
        </p:nvCxnSpPr>
        <p:spPr>
          <a:xfrm>
            <a:off x="2050255" y="2199112"/>
            <a:ext cx="766963" cy="2392408"/>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FE09FA7A-36AC-FE7F-66F8-67F3CB1D509F}"/>
              </a:ext>
            </a:extLst>
          </p:cNvPr>
          <p:cNvCxnSpPr>
            <a:endCxn id="7" idx="3"/>
          </p:cNvCxnSpPr>
          <p:nvPr/>
        </p:nvCxnSpPr>
        <p:spPr>
          <a:xfrm flipH="1">
            <a:off x="2050255" y="2199112"/>
            <a:ext cx="766963" cy="0"/>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97" name="右大括号 96">
            <a:extLst>
              <a:ext uri="{FF2B5EF4-FFF2-40B4-BE49-F238E27FC236}">
                <a16:creationId xmlns:a16="http://schemas.microsoft.com/office/drawing/2014/main" id="{1B812986-94CE-35E2-5FD2-EE7FA73EBE39}"/>
              </a:ext>
            </a:extLst>
          </p:cNvPr>
          <p:cNvSpPr/>
          <p:nvPr/>
        </p:nvSpPr>
        <p:spPr>
          <a:xfrm>
            <a:off x="6321593" y="2831459"/>
            <a:ext cx="216375" cy="1068746"/>
          </a:xfrm>
          <a:prstGeom prst="rightBrace">
            <a:avLst>
              <a:gd name="adj1" fmla="val 123483"/>
              <a:gd name="adj2" fmla="val 50000"/>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9" name="文本框 98">
            <a:extLst>
              <a:ext uri="{FF2B5EF4-FFF2-40B4-BE49-F238E27FC236}">
                <a16:creationId xmlns:a16="http://schemas.microsoft.com/office/drawing/2014/main" id="{BFB26D6C-3117-AECA-8294-86F5DE96A673}"/>
              </a:ext>
            </a:extLst>
          </p:cNvPr>
          <p:cNvSpPr txBox="1"/>
          <p:nvPr/>
        </p:nvSpPr>
        <p:spPr>
          <a:xfrm>
            <a:off x="2827603" y="2412994"/>
            <a:ext cx="699230" cy="338554"/>
          </a:xfrm>
          <a:prstGeom prst="rect">
            <a:avLst/>
          </a:prstGeom>
          <a:noFill/>
        </p:spPr>
        <p:txBody>
          <a:bodyPr wrap="none" rtlCol="0">
            <a:spAutoFit/>
          </a:bodyPr>
          <a:lstStyle/>
          <a:p>
            <a:pPr algn="ctr"/>
            <a:r>
              <a:rPr lang="en-US" altLang="zh-CN" sz="1600" dirty="0"/>
              <a:t>CMO</a:t>
            </a:r>
            <a:endParaRPr lang="zh-CN" altLang="en-US" sz="1600" dirty="0"/>
          </a:p>
        </p:txBody>
      </p:sp>
      <p:cxnSp>
        <p:nvCxnSpPr>
          <p:cNvPr id="105" name="连接符: 肘形 104">
            <a:extLst>
              <a:ext uri="{FF2B5EF4-FFF2-40B4-BE49-F238E27FC236}">
                <a16:creationId xmlns:a16="http://schemas.microsoft.com/office/drawing/2014/main" id="{FE3C2062-44EE-8F5C-3842-701A1A1CC67F}"/>
              </a:ext>
            </a:extLst>
          </p:cNvPr>
          <p:cNvCxnSpPr>
            <a:cxnSpLocks/>
            <a:stCxn id="13" idx="1"/>
            <a:endCxn id="9" idx="3"/>
          </p:cNvCxnSpPr>
          <p:nvPr/>
        </p:nvCxnSpPr>
        <p:spPr>
          <a:xfrm rot="10800000" flipV="1">
            <a:off x="3537219" y="1695772"/>
            <a:ext cx="687533" cy="503339"/>
          </a:xfrm>
          <a:prstGeom prst="bentConnector3">
            <a:avLst>
              <a:gd name="adj1" fmla="val 50000"/>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13" name="直接箭头连接符 112">
            <a:extLst>
              <a:ext uri="{FF2B5EF4-FFF2-40B4-BE49-F238E27FC236}">
                <a16:creationId xmlns:a16="http://schemas.microsoft.com/office/drawing/2014/main" id="{90B7447B-9493-4BFA-53F9-0B1F6F15982E}"/>
              </a:ext>
            </a:extLst>
          </p:cNvPr>
          <p:cNvCxnSpPr>
            <a:cxnSpLocks/>
          </p:cNvCxnSpPr>
          <p:nvPr/>
        </p:nvCxnSpPr>
        <p:spPr>
          <a:xfrm>
            <a:off x="9627268" y="2353736"/>
            <a:ext cx="0" cy="2232000"/>
          </a:xfrm>
          <a:prstGeom prst="straightConnector1">
            <a:avLst/>
          </a:prstGeom>
          <a:ln w="381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14" name="矩形 113">
            <a:extLst>
              <a:ext uri="{FF2B5EF4-FFF2-40B4-BE49-F238E27FC236}">
                <a16:creationId xmlns:a16="http://schemas.microsoft.com/office/drawing/2014/main" id="{C504012E-57E1-EF75-F397-259182D3CDCA}"/>
              </a:ext>
            </a:extLst>
          </p:cNvPr>
          <p:cNvSpPr/>
          <p:nvPr/>
        </p:nvSpPr>
        <p:spPr>
          <a:xfrm>
            <a:off x="7827268" y="4660103"/>
            <a:ext cx="3600000" cy="720000"/>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配置库</a:t>
            </a:r>
            <a:endParaRPr lang="en-US" altLang="zh-CN" sz="1400" dirty="0">
              <a:solidFill>
                <a:schemeClr val="tx1"/>
              </a:solidFill>
            </a:endParaRPr>
          </a:p>
          <a:p>
            <a:pPr algn="ctr"/>
            <a:r>
              <a:rPr lang="en-US" altLang="zh-CN" sz="1400" dirty="0">
                <a:solidFill>
                  <a:schemeClr val="tx1"/>
                </a:solidFill>
              </a:rPr>
              <a:t>Repository</a:t>
            </a:r>
            <a:endParaRPr lang="zh-CN" altLang="en-US" sz="1400" dirty="0">
              <a:solidFill>
                <a:schemeClr val="tx1"/>
              </a:solidFill>
            </a:endParaRPr>
          </a:p>
        </p:txBody>
      </p:sp>
      <p:pic>
        <p:nvPicPr>
          <p:cNvPr id="116" name="图形 115" descr="仓房">
            <a:extLst>
              <a:ext uri="{FF2B5EF4-FFF2-40B4-BE49-F238E27FC236}">
                <a16:creationId xmlns:a16="http://schemas.microsoft.com/office/drawing/2014/main" id="{A1D15E56-FD5D-5F9D-87BA-DC93DA27CD4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477803" y="4713024"/>
            <a:ext cx="540000" cy="540000"/>
          </a:xfrm>
          <a:prstGeom prst="rect">
            <a:avLst/>
          </a:prstGeom>
        </p:spPr>
      </p:pic>
      <p:cxnSp>
        <p:nvCxnSpPr>
          <p:cNvPr id="8" name="直接箭头连接符 7">
            <a:extLst>
              <a:ext uri="{FF2B5EF4-FFF2-40B4-BE49-F238E27FC236}">
                <a16:creationId xmlns:a16="http://schemas.microsoft.com/office/drawing/2014/main" id="{6CE7E648-3051-3063-7ADC-B7D8B5FE0BD0}"/>
              </a:ext>
            </a:extLst>
          </p:cNvPr>
          <p:cNvCxnSpPr/>
          <p:nvPr/>
        </p:nvCxnSpPr>
        <p:spPr>
          <a:xfrm>
            <a:off x="10533816" y="5169003"/>
            <a:ext cx="0" cy="576000"/>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C6F9363F-28FC-2E7C-C5DA-C8F2CDF4BDAE}"/>
              </a:ext>
            </a:extLst>
          </p:cNvPr>
          <p:cNvCxnSpPr>
            <a:cxnSpLocks/>
          </p:cNvCxnSpPr>
          <p:nvPr/>
        </p:nvCxnSpPr>
        <p:spPr>
          <a:xfrm flipV="1">
            <a:off x="10833998" y="5169003"/>
            <a:ext cx="0" cy="576000"/>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连接符: 肘形 13">
            <a:extLst>
              <a:ext uri="{FF2B5EF4-FFF2-40B4-BE49-F238E27FC236}">
                <a16:creationId xmlns:a16="http://schemas.microsoft.com/office/drawing/2014/main" id="{C993B81D-CE0E-1F5E-A7B9-B27C00661224}"/>
              </a:ext>
            </a:extLst>
          </p:cNvPr>
          <p:cNvCxnSpPr>
            <a:cxnSpLocks/>
            <a:stCxn id="16" idx="2"/>
          </p:cNvCxnSpPr>
          <p:nvPr/>
        </p:nvCxnSpPr>
        <p:spPr>
          <a:xfrm rot="16200000" flipH="1">
            <a:off x="4613122" y="-171319"/>
            <a:ext cx="3178197" cy="9023929"/>
          </a:xfrm>
          <a:prstGeom prst="bentConnector2">
            <a:avLst/>
          </a:prstGeom>
          <a:ln>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6" name="矩形 5">
            <a:extLst>
              <a:ext uri="{FF2B5EF4-FFF2-40B4-BE49-F238E27FC236}">
                <a16:creationId xmlns:a16="http://schemas.microsoft.com/office/drawing/2014/main" id="{009E0697-2AC4-FE19-78FB-38972B3215F4}"/>
              </a:ext>
            </a:extLst>
          </p:cNvPr>
          <p:cNvSpPr/>
          <p:nvPr/>
        </p:nvSpPr>
        <p:spPr>
          <a:xfrm>
            <a:off x="2721557" y="304356"/>
            <a:ext cx="982225" cy="2527104"/>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Tree>
    <p:extLst>
      <p:ext uri="{BB962C8B-B14F-4D97-AF65-F5344CB8AC3E}">
        <p14:creationId xmlns:p14="http://schemas.microsoft.com/office/powerpoint/2010/main" val="4075609887"/>
      </p:ext>
    </p:extLst>
  </p:cSld>
  <p:clrMapOvr>
    <a:masterClrMapping/>
  </p:clrMapOvr>
</p:sld>
</file>

<file path=ppt/slides/slide3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53C82-3D0E-B76E-78B7-76B83A211E8E}"/>
            </a:ext>
          </a:extLst>
        </p:cNvPr>
        <p:cNvGrpSpPr/>
        <p:nvPr/>
      </p:nvGrpSpPr>
      <p:grpSpPr>
        <a:xfrm>
          <a:off x="0" y="0"/>
          <a:ext cx="0" cy="0"/>
          <a:chOff x="0" y="0"/>
          <a:chExt cx="0" cy="0"/>
        </a:xfrm>
      </p:grpSpPr>
      <p:sp>
        <p:nvSpPr>
          <p:cNvPr id="6" name="标题 5">
            <a:extLst>
              <a:ext uri="{FF2B5EF4-FFF2-40B4-BE49-F238E27FC236}">
                <a16:creationId xmlns:a16="http://schemas.microsoft.com/office/drawing/2014/main" id="{B1556510-4FF1-C532-5A46-CB97E380A408}"/>
              </a:ext>
            </a:extLst>
          </p:cNvPr>
          <p:cNvSpPr>
            <a:spLocks noGrp="1"/>
          </p:cNvSpPr>
          <p:nvPr>
            <p:ph type="title"/>
          </p:nvPr>
        </p:nvSpPr>
        <p:spPr>
          <a:xfrm>
            <a:off x="792000" y="360000"/>
            <a:ext cx="6375921" cy="429413"/>
          </a:xfrm>
        </p:spPr>
        <p:txBody>
          <a:bodyPr/>
          <a:lstStyle/>
          <a:p>
            <a:r>
              <a:rPr lang="en-US" altLang="zh-CN" dirty="0"/>
              <a:t>1. </a:t>
            </a:r>
            <a:r>
              <a:rPr lang="zh-CN" altLang="en-US" dirty="0"/>
              <a:t>配置管理概述</a:t>
            </a:r>
          </a:p>
        </p:txBody>
      </p:sp>
      <p:sp>
        <p:nvSpPr>
          <p:cNvPr id="5" name="内容占位符 4">
            <a:extLst>
              <a:ext uri="{FF2B5EF4-FFF2-40B4-BE49-F238E27FC236}">
                <a16:creationId xmlns:a16="http://schemas.microsoft.com/office/drawing/2014/main" id="{6513E62C-68ED-50F5-F321-B8B7D59A8BA6}"/>
              </a:ext>
            </a:extLst>
          </p:cNvPr>
          <p:cNvSpPr>
            <a:spLocks noGrp="1"/>
          </p:cNvSpPr>
          <p:nvPr>
            <p:ph idx="1"/>
          </p:nvPr>
        </p:nvSpPr>
        <p:spPr>
          <a:xfrm>
            <a:off x="696000" y="864000"/>
            <a:ext cx="10800000" cy="5400000"/>
          </a:xfrm>
        </p:spPr>
        <p:txBody>
          <a:bodyPr/>
          <a:lstStyle/>
          <a:p>
            <a:r>
              <a:rPr lang="zh-CN" altLang="en-US" dirty="0"/>
              <a:t>有效的项目管理可以控制变化</a:t>
            </a:r>
            <a:endParaRPr lang="en-US" altLang="zh-CN" dirty="0"/>
          </a:p>
        </p:txBody>
      </p:sp>
      <p:sp>
        <p:nvSpPr>
          <p:cNvPr id="7" name="文本占位符 6">
            <a:extLst>
              <a:ext uri="{FF2B5EF4-FFF2-40B4-BE49-F238E27FC236}">
                <a16:creationId xmlns:a16="http://schemas.microsoft.com/office/drawing/2014/main" id="{33F2BD83-EF8E-088D-500B-EA4801073A46}"/>
              </a:ext>
            </a:extLst>
          </p:cNvPr>
          <p:cNvSpPr>
            <a:spLocks noGrp="1"/>
          </p:cNvSpPr>
          <p:nvPr>
            <p:ph type="body" sz="quarter" idx="10"/>
          </p:nvPr>
        </p:nvSpPr>
        <p:spPr>
          <a:xfrm>
            <a:off x="7071919" y="448519"/>
            <a:ext cx="4424080" cy="338554"/>
          </a:xfrm>
        </p:spPr>
        <p:txBody>
          <a:bodyPr/>
          <a:lstStyle/>
          <a:p>
            <a:r>
              <a:rPr lang="en-US" altLang="zh-CN" dirty="0"/>
              <a:t>Overview</a:t>
            </a:r>
            <a:endParaRPr lang="zh-CN" altLang="en-US" dirty="0"/>
          </a:p>
        </p:txBody>
      </p:sp>
      <p:sp>
        <p:nvSpPr>
          <p:cNvPr id="8" name="箭头: 五边形 7">
            <a:extLst>
              <a:ext uri="{FF2B5EF4-FFF2-40B4-BE49-F238E27FC236}">
                <a16:creationId xmlns:a16="http://schemas.microsoft.com/office/drawing/2014/main" id="{EE2E2032-6502-4657-8891-99C53AE43B3F}"/>
              </a:ext>
            </a:extLst>
          </p:cNvPr>
          <p:cNvSpPr/>
          <p:nvPr/>
        </p:nvSpPr>
        <p:spPr>
          <a:xfrm>
            <a:off x="4238120" y="2285653"/>
            <a:ext cx="1800000" cy="360000"/>
          </a:xfrm>
          <a:prstGeom prst="homePlat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引入变更</a:t>
            </a:r>
          </a:p>
        </p:txBody>
      </p:sp>
      <p:sp>
        <p:nvSpPr>
          <p:cNvPr id="9" name="箭头: 五边形 8">
            <a:extLst>
              <a:ext uri="{FF2B5EF4-FFF2-40B4-BE49-F238E27FC236}">
                <a16:creationId xmlns:a16="http://schemas.microsoft.com/office/drawing/2014/main" id="{948CCC61-1F07-A3F5-FE23-0652EFBA30B7}"/>
              </a:ext>
            </a:extLst>
          </p:cNvPr>
          <p:cNvSpPr/>
          <p:nvPr/>
        </p:nvSpPr>
        <p:spPr>
          <a:xfrm>
            <a:off x="3674702" y="2839704"/>
            <a:ext cx="1800000" cy="360000"/>
          </a:xfrm>
          <a:prstGeom prst="homePlat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监控变更</a:t>
            </a:r>
          </a:p>
        </p:txBody>
      </p:sp>
      <p:sp>
        <p:nvSpPr>
          <p:cNvPr id="10" name="箭头: 五边形 9">
            <a:extLst>
              <a:ext uri="{FF2B5EF4-FFF2-40B4-BE49-F238E27FC236}">
                <a16:creationId xmlns:a16="http://schemas.microsoft.com/office/drawing/2014/main" id="{B96CFB85-0808-0701-8022-0B5AC5396CCB}"/>
              </a:ext>
            </a:extLst>
          </p:cNvPr>
          <p:cNvSpPr/>
          <p:nvPr/>
        </p:nvSpPr>
        <p:spPr>
          <a:xfrm>
            <a:off x="4238120" y="4051014"/>
            <a:ext cx="1800000" cy="360000"/>
          </a:xfrm>
          <a:prstGeom prst="homePlat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检验变更</a:t>
            </a:r>
          </a:p>
        </p:txBody>
      </p:sp>
      <p:sp>
        <p:nvSpPr>
          <p:cNvPr id="11" name="箭头: 五边形 10">
            <a:extLst>
              <a:ext uri="{FF2B5EF4-FFF2-40B4-BE49-F238E27FC236}">
                <a16:creationId xmlns:a16="http://schemas.microsoft.com/office/drawing/2014/main" id="{68D6517C-0F50-EA9F-C951-D962332822BD}"/>
              </a:ext>
            </a:extLst>
          </p:cNvPr>
          <p:cNvSpPr/>
          <p:nvPr/>
        </p:nvSpPr>
        <p:spPr>
          <a:xfrm>
            <a:off x="3674702" y="3500775"/>
            <a:ext cx="1800000" cy="360000"/>
          </a:xfrm>
          <a:prstGeom prst="homePlat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确认变更</a:t>
            </a:r>
          </a:p>
        </p:txBody>
      </p:sp>
      <p:sp>
        <p:nvSpPr>
          <p:cNvPr id="14" name="椭圆 13">
            <a:extLst>
              <a:ext uri="{FF2B5EF4-FFF2-40B4-BE49-F238E27FC236}">
                <a16:creationId xmlns:a16="http://schemas.microsoft.com/office/drawing/2014/main" id="{21385C80-821D-A019-39CA-7E7A191A18B4}"/>
              </a:ext>
            </a:extLst>
          </p:cNvPr>
          <p:cNvSpPr>
            <a:spLocks noChangeAspect="1"/>
          </p:cNvSpPr>
          <p:nvPr/>
        </p:nvSpPr>
        <p:spPr>
          <a:xfrm>
            <a:off x="6136313" y="2880333"/>
            <a:ext cx="936000" cy="936000"/>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可控</a:t>
            </a:r>
          </a:p>
        </p:txBody>
      </p:sp>
      <p:cxnSp>
        <p:nvCxnSpPr>
          <p:cNvPr id="17" name="连接符: 肘形 16">
            <a:extLst>
              <a:ext uri="{FF2B5EF4-FFF2-40B4-BE49-F238E27FC236}">
                <a16:creationId xmlns:a16="http://schemas.microsoft.com/office/drawing/2014/main" id="{B1324C27-0ED8-0829-A714-76DD125A971F}"/>
              </a:ext>
            </a:extLst>
          </p:cNvPr>
          <p:cNvCxnSpPr>
            <a:stCxn id="8" idx="3"/>
            <a:endCxn id="14" idx="0"/>
          </p:cNvCxnSpPr>
          <p:nvPr/>
        </p:nvCxnSpPr>
        <p:spPr>
          <a:xfrm>
            <a:off x="6038120" y="2465653"/>
            <a:ext cx="566193" cy="414680"/>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9" name="连接符: 肘形 18">
            <a:extLst>
              <a:ext uri="{FF2B5EF4-FFF2-40B4-BE49-F238E27FC236}">
                <a16:creationId xmlns:a16="http://schemas.microsoft.com/office/drawing/2014/main" id="{ADE00592-6B51-8467-02DF-3147C366F34C}"/>
              </a:ext>
            </a:extLst>
          </p:cNvPr>
          <p:cNvCxnSpPr>
            <a:stCxn id="10" idx="3"/>
            <a:endCxn id="14" idx="4"/>
          </p:cNvCxnSpPr>
          <p:nvPr/>
        </p:nvCxnSpPr>
        <p:spPr>
          <a:xfrm flipV="1">
            <a:off x="6038120" y="3816333"/>
            <a:ext cx="566193" cy="414681"/>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ABA2B7A2-65D2-4AE7-A0A3-C0D5D35BFD55}"/>
              </a:ext>
            </a:extLst>
          </p:cNvPr>
          <p:cNvCxnSpPr>
            <a:stCxn id="9" idx="3"/>
            <a:endCxn id="14" idx="1"/>
          </p:cNvCxnSpPr>
          <p:nvPr/>
        </p:nvCxnSpPr>
        <p:spPr>
          <a:xfrm flipV="1">
            <a:off x="5474702" y="3017407"/>
            <a:ext cx="798685" cy="2297"/>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2A3D9273-04D3-7B3A-A9A6-FDDA9C338F5E}"/>
              </a:ext>
            </a:extLst>
          </p:cNvPr>
          <p:cNvCxnSpPr>
            <a:cxnSpLocks/>
            <a:stCxn id="11" idx="3"/>
            <a:endCxn id="14" idx="3"/>
          </p:cNvCxnSpPr>
          <p:nvPr/>
        </p:nvCxnSpPr>
        <p:spPr>
          <a:xfrm flipV="1">
            <a:off x="5474702" y="3679259"/>
            <a:ext cx="798685" cy="1516"/>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8655854"/>
      </p:ext>
    </p:extLst>
  </p:cSld>
  <p:clrMapOvr>
    <a:masterClrMapping/>
  </p:clrMapOvr>
</p:sld>
</file>

<file path=ppt/slides/slide3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D6FFAE74-23AC-1DA8-F855-039D8D87097F}"/>
              </a:ext>
            </a:extLst>
          </p:cNvPr>
          <p:cNvSpPr>
            <a:spLocks noGrp="1"/>
          </p:cNvSpPr>
          <p:nvPr>
            <p:ph type="title"/>
          </p:nvPr>
        </p:nvSpPr>
        <p:spPr>
          <a:xfrm>
            <a:off x="792000" y="360000"/>
            <a:ext cx="6375921" cy="429413"/>
          </a:xfrm>
        </p:spPr>
        <p:txBody>
          <a:bodyPr/>
          <a:lstStyle/>
          <a:p>
            <a:r>
              <a:rPr lang="en-US" altLang="zh-CN" dirty="0"/>
              <a:t>1.1 </a:t>
            </a:r>
            <a:r>
              <a:rPr lang="zh-CN" altLang="en-US" dirty="0"/>
              <a:t>软件配置管理</a:t>
            </a:r>
          </a:p>
        </p:txBody>
      </p:sp>
      <p:sp>
        <p:nvSpPr>
          <p:cNvPr id="3" name="内容占位符 2">
            <a:extLst>
              <a:ext uri="{FF2B5EF4-FFF2-40B4-BE49-F238E27FC236}">
                <a16:creationId xmlns:a16="http://schemas.microsoft.com/office/drawing/2014/main" id="{CAA70400-60B9-663C-0EFA-2583B992D6EF}"/>
              </a:ext>
            </a:extLst>
          </p:cNvPr>
          <p:cNvSpPr>
            <a:spLocks noGrp="1"/>
          </p:cNvSpPr>
          <p:nvPr>
            <p:ph idx="1"/>
          </p:nvPr>
        </p:nvSpPr>
        <p:spPr>
          <a:xfrm>
            <a:off x="696000" y="864000"/>
            <a:ext cx="10800000" cy="5400000"/>
          </a:xfrm>
        </p:spPr>
        <p:txBody>
          <a:bodyPr>
            <a:normAutofit/>
          </a:bodyPr>
          <a:lstStyle/>
          <a:p>
            <a:r>
              <a:rPr lang="en-US" altLang="zh-CN" dirty="0"/>
              <a:t>Software Configuration Management</a:t>
            </a:r>
          </a:p>
          <a:p>
            <a:r>
              <a:rPr lang="zh-CN" altLang="en-US" dirty="0"/>
              <a:t>方法和规则：管理软件开发、维护及各种中间件</a:t>
            </a:r>
            <a:endParaRPr lang="en-US" altLang="zh-CN" dirty="0"/>
          </a:p>
          <a:p>
            <a:r>
              <a:rPr lang="zh-CN" altLang="en-US" dirty="0"/>
              <a:t>手段：提高项目质量</a:t>
            </a:r>
            <a:endParaRPr lang="en-US" altLang="zh-CN" dirty="0"/>
          </a:p>
          <a:p>
            <a:r>
              <a:rPr lang="zh-CN" altLang="en-US" dirty="0"/>
              <a:t>有效实施变更控制</a:t>
            </a:r>
            <a:endParaRPr lang="en-US" altLang="zh-CN" dirty="0"/>
          </a:p>
          <a:p>
            <a:r>
              <a:rPr lang="zh-CN" altLang="en-US" dirty="0"/>
              <a:t>贯穿整个软件生命周期</a:t>
            </a:r>
            <a:endParaRPr lang="en-US" altLang="zh-CN" dirty="0"/>
          </a:p>
          <a:p>
            <a:r>
              <a:rPr lang="zh-CN" altLang="en-US" dirty="0"/>
              <a:t>是项目管理、系统工程和软件工程中的一个关键过程</a:t>
            </a:r>
            <a:endParaRPr lang="en-US" altLang="zh-CN" dirty="0"/>
          </a:p>
          <a:p>
            <a:r>
              <a:rPr lang="zh-CN" altLang="en-US" dirty="0"/>
              <a:t>对配置项进行标识、定义，控制变更、记录并报告状态保证其完整和正确实现</a:t>
            </a:r>
          </a:p>
        </p:txBody>
      </p:sp>
      <p:sp>
        <p:nvSpPr>
          <p:cNvPr id="7" name="文本占位符 6">
            <a:extLst>
              <a:ext uri="{FF2B5EF4-FFF2-40B4-BE49-F238E27FC236}">
                <a16:creationId xmlns:a16="http://schemas.microsoft.com/office/drawing/2014/main" id="{BA7A1F1A-D8B4-E050-1D4D-260C169B4120}"/>
              </a:ext>
            </a:extLst>
          </p:cNvPr>
          <p:cNvSpPr>
            <a:spLocks noGrp="1"/>
          </p:cNvSpPr>
          <p:nvPr>
            <p:ph type="body" sz="quarter" idx="10"/>
          </p:nvPr>
        </p:nvSpPr>
        <p:spPr>
          <a:xfrm>
            <a:off x="7071919" y="448519"/>
            <a:ext cx="4424080" cy="338554"/>
          </a:xfrm>
        </p:spPr>
        <p:txBody>
          <a:bodyPr/>
          <a:lstStyle/>
          <a:p>
            <a:r>
              <a:rPr lang="en-US" altLang="zh-CN" dirty="0"/>
              <a:t>SCM</a:t>
            </a:r>
            <a:endParaRPr lang="zh-CN" altLang="en-US" dirty="0"/>
          </a:p>
        </p:txBody>
      </p:sp>
    </p:spTree>
    <p:extLst>
      <p:ext uri="{BB962C8B-B14F-4D97-AF65-F5344CB8AC3E}">
        <p14:creationId xmlns:p14="http://schemas.microsoft.com/office/powerpoint/2010/main" val="4062935932"/>
      </p:ext>
    </p:extLst>
  </p:cSld>
  <p:clrMapOvr>
    <a:masterClrMapping/>
  </p:clrMapOvr>
</p:sld>
</file>

<file path=ppt/slides/slide3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676F0C-B63C-C0E3-C1E5-BB6979780A27}"/>
              </a:ext>
            </a:extLst>
          </p:cNvPr>
          <p:cNvSpPr>
            <a:spLocks noGrp="1"/>
          </p:cNvSpPr>
          <p:nvPr>
            <p:ph type="title"/>
          </p:nvPr>
        </p:nvSpPr>
        <p:spPr>
          <a:xfrm>
            <a:off x="792000" y="360000"/>
            <a:ext cx="6375921" cy="429413"/>
          </a:xfrm>
        </p:spPr>
        <p:txBody>
          <a:bodyPr/>
          <a:lstStyle/>
          <a:p>
            <a:r>
              <a:rPr lang="en-US" altLang="zh-CN" dirty="0"/>
              <a:t>1.2 </a:t>
            </a:r>
            <a:r>
              <a:rPr lang="zh-CN" altLang="en-US" dirty="0"/>
              <a:t>软件配置项</a:t>
            </a:r>
          </a:p>
        </p:txBody>
      </p:sp>
      <p:sp>
        <p:nvSpPr>
          <p:cNvPr id="19" name="内容占位符 18">
            <a:extLst>
              <a:ext uri="{FF2B5EF4-FFF2-40B4-BE49-F238E27FC236}">
                <a16:creationId xmlns:a16="http://schemas.microsoft.com/office/drawing/2014/main" id="{D8270F21-6619-508B-1B80-30F74EA15342}"/>
              </a:ext>
            </a:extLst>
          </p:cNvPr>
          <p:cNvSpPr>
            <a:spLocks noGrp="1"/>
          </p:cNvSpPr>
          <p:nvPr>
            <p:ph idx="1"/>
          </p:nvPr>
        </p:nvSpPr>
        <p:spPr>
          <a:xfrm>
            <a:off x="696000" y="864000"/>
            <a:ext cx="10800000" cy="5400000"/>
          </a:xfrm>
        </p:spPr>
        <p:txBody>
          <a:bodyPr/>
          <a:lstStyle/>
          <a:p>
            <a:r>
              <a:rPr lang="en-US" altLang="zh-CN" dirty="0"/>
              <a:t>Software Configuration item</a:t>
            </a:r>
          </a:p>
          <a:p>
            <a:r>
              <a:rPr lang="zh-CN" altLang="en-US" dirty="0"/>
              <a:t>在软件生命周期中产生的、需要被控制和管理的所有工作产品</a:t>
            </a:r>
          </a:p>
          <a:p>
            <a:pPr lvl="1"/>
            <a:r>
              <a:rPr lang="zh-CN" altLang="en-US" dirty="0"/>
              <a:t>项目中任何需要被“版本控制”的东西</a:t>
            </a:r>
          </a:p>
          <a:p>
            <a:r>
              <a:rPr lang="zh-CN" altLang="en-US" dirty="0"/>
              <a:t>通常包含</a:t>
            </a:r>
            <a:r>
              <a:rPr lang="en-US" altLang="zh-CN" dirty="0"/>
              <a:t>/</a:t>
            </a:r>
            <a:r>
              <a:rPr lang="zh-CN" altLang="en-US" dirty="0"/>
              <a:t>识别配置项：</a:t>
            </a:r>
          </a:p>
          <a:p>
            <a:pPr lvl="1"/>
            <a:r>
              <a:rPr lang="zh-CN" altLang="en-US" dirty="0"/>
              <a:t>文档类： 需求文档、设计文档、测试计划、用户手册等</a:t>
            </a:r>
          </a:p>
          <a:p>
            <a:pPr lvl="1"/>
            <a:r>
              <a:rPr lang="zh-CN" altLang="en-US" dirty="0"/>
              <a:t>代码类： 源代码、脚本、数据库模式等</a:t>
            </a:r>
          </a:p>
          <a:p>
            <a:pPr lvl="1"/>
            <a:r>
              <a:rPr lang="zh-CN" altLang="en-US" dirty="0"/>
              <a:t>数据类： 配置文件、测试数据等</a:t>
            </a:r>
          </a:p>
          <a:p>
            <a:pPr lvl="1"/>
            <a:r>
              <a:rPr lang="zh-CN" altLang="en-US" dirty="0"/>
              <a:t>环境类： 编译器版本、构建工具等</a:t>
            </a:r>
          </a:p>
        </p:txBody>
      </p:sp>
      <p:sp>
        <p:nvSpPr>
          <p:cNvPr id="4" name="文本占位符 3">
            <a:extLst>
              <a:ext uri="{FF2B5EF4-FFF2-40B4-BE49-F238E27FC236}">
                <a16:creationId xmlns:a16="http://schemas.microsoft.com/office/drawing/2014/main" id="{10394549-4C21-F5EC-11E6-B1EDD64925CB}"/>
              </a:ext>
            </a:extLst>
          </p:cNvPr>
          <p:cNvSpPr>
            <a:spLocks noGrp="1"/>
          </p:cNvSpPr>
          <p:nvPr>
            <p:ph type="body" sz="quarter" idx="10"/>
          </p:nvPr>
        </p:nvSpPr>
        <p:spPr>
          <a:xfrm>
            <a:off x="7071919" y="448519"/>
            <a:ext cx="4424080" cy="338554"/>
          </a:xfrm>
        </p:spPr>
        <p:txBody>
          <a:bodyPr/>
          <a:lstStyle/>
          <a:p>
            <a:r>
              <a:rPr lang="en-US" altLang="zh-CN" dirty="0"/>
              <a:t>SCI</a:t>
            </a:r>
            <a:endParaRPr lang="zh-CN" altLang="en-US" dirty="0"/>
          </a:p>
        </p:txBody>
      </p:sp>
      <p:sp>
        <p:nvSpPr>
          <p:cNvPr id="32" name="六边形 31">
            <a:extLst>
              <a:ext uri="{FF2B5EF4-FFF2-40B4-BE49-F238E27FC236}">
                <a16:creationId xmlns:a16="http://schemas.microsoft.com/office/drawing/2014/main" id="{C688D1C3-6359-F51E-B87E-45E04A286211}"/>
              </a:ext>
            </a:extLst>
          </p:cNvPr>
          <p:cNvSpPr/>
          <p:nvPr>
            <p:custDataLst>
              <p:tags r:id="rId1"/>
            </p:custDataLst>
          </p:nvPr>
        </p:nvSpPr>
        <p:spPr>
          <a:xfrm>
            <a:off x="7896701" y="3066473"/>
            <a:ext cx="944436" cy="823520"/>
          </a:xfrm>
          <a:prstGeom prst="hexagon">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anchor="ctr">
            <a:normAutofit/>
          </a:bodyPr>
          <a:lstStyle/>
          <a:p>
            <a:pPr algn="ctr" eaLnBrk="1" hangingPunct="1">
              <a:spcBef>
                <a:spcPts val="0"/>
              </a:spcBef>
              <a:spcAft>
                <a:spcPts val="0"/>
              </a:spcAft>
              <a:defRPr/>
            </a:pPr>
            <a:r>
              <a:rPr lang="en-US" altLang="zh-CN" sz="2000" dirty="0">
                <a:solidFill>
                  <a:schemeClr val="bg1"/>
                </a:solidFill>
                <a:latin typeface="+mj-lt"/>
              </a:rPr>
              <a:t>01</a:t>
            </a:r>
            <a:endParaRPr lang="zh-CN" altLang="en-US" sz="2000" dirty="0">
              <a:solidFill>
                <a:schemeClr val="bg1"/>
              </a:solidFill>
              <a:latin typeface="+mj-lt"/>
            </a:endParaRPr>
          </a:p>
        </p:txBody>
      </p:sp>
      <p:sp>
        <p:nvSpPr>
          <p:cNvPr id="33" name="六边形 32">
            <a:extLst>
              <a:ext uri="{FF2B5EF4-FFF2-40B4-BE49-F238E27FC236}">
                <a16:creationId xmlns:a16="http://schemas.microsoft.com/office/drawing/2014/main" id="{4D02B816-D27E-0D61-BC16-3A6EE4092694}"/>
              </a:ext>
            </a:extLst>
          </p:cNvPr>
          <p:cNvSpPr/>
          <p:nvPr>
            <p:custDataLst>
              <p:tags r:id="rId2"/>
            </p:custDataLst>
          </p:nvPr>
        </p:nvSpPr>
        <p:spPr>
          <a:xfrm>
            <a:off x="8929211" y="4734412"/>
            <a:ext cx="942943" cy="825013"/>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r>
              <a:rPr lang="en-US" altLang="zh-CN" sz="2000" dirty="0">
                <a:solidFill>
                  <a:schemeClr val="bg1"/>
                </a:solidFill>
                <a:latin typeface="+mj-lt"/>
              </a:rPr>
              <a:t>03</a:t>
            </a:r>
            <a:endParaRPr lang="zh-CN" altLang="en-US" sz="2000" dirty="0">
              <a:solidFill>
                <a:schemeClr val="bg1"/>
              </a:solidFill>
              <a:latin typeface="+mj-lt"/>
            </a:endParaRPr>
          </a:p>
        </p:txBody>
      </p:sp>
      <p:sp>
        <p:nvSpPr>
          <p:cNvPr id="34" name="六边形 33">
            <a:extLst>
              <a:ext uri="{FF2B5EF4-FFF2-40B4-BE49-F238E27FC236}">
                <a16:creationId xmlns:a16="http://schemas.microsoft.com/office/drawing/2014/main" id="{F4CF2913-379E-5619-48D1-7E0FEDA673F9}"/>
              </a:ext>
            </a:extLst>
          </p:cNvPr>
          <p:cNvSpPr/>
          <p:nvPr>
            <p:custDataLst>
              <p:tags r:id="rId3"/>
            </p:custDataLst>
          </p:nvPr>
        </p:nvSpPr>
        <p:spPr>
          <a:xfrm>
            <a:off x="7629493" y="3964632"/>
            <a:ext cx="1478853" cy="1247471"/>
          </a:xfrm>
          <a:prstGeom prst="hexagon">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r>
              <a:rPr lang="en-US" altLang="zh-CN" sz="2400" dirty="0">
                <a:solidFill>
                  <a:schemeClr val="bg1"/>
                </a:solidFill>
              </a:rPr>
              <a:t>SCI</a:t>
            </a:r>
            <a:endParaRPr lang="zh-CN" altLang="en-US" sz="2400" dirty="0">
              <a:solidFill>
                <a:schemeClr val="bg1"/>
              </a:solidFill>
            </a:endParaRPr>
          </a:p>
        </p:txBody>
      </p:sp>
      <p:sp>
        <p:nvSpPr>
          <p:cNvPr id="35" name="六边形 34">
            <a:extLst>
              <a:ext uri="{FF2B5EF4-FFF2-40B4-BE49-F238E27FC236}">
                <a16:creationId xmlns:a16="http://schemas.microsoft.com/office/drawing/2014/main" id="{CA7E8512-5214-769B-AD6F-A0ED09268521}"/>
              </a:ext>
            </a:extLst>
          </p:cNvPr>
          <p:cNvSpPr/>
          <p:nvPr>
            <p:custDataLst>
              <p:tags r:id="rId4"/>
            </p:custDataLst>
          </p:nvPr>
        </p:nvSpPr>
        <p:spPr>
          <a:xfrm>
            <a:off x="6863196" y="4734412"/>
            <a:ext cx="942943" cy="825013"/>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r>
              <a:rPr lang="en-US" altLang="zh-CN" sz="2000" dirty="0">
                <a:solidFill>
                  <a:schemeClr val="bg1"/>
                </a:solidFill>
                <a:latin typeface="+mj-lt"/>
              </a:rPr>
              <a:t>02</a:t>
            </a:r>
            <a:endParaRPr lang="zh-CN" altLang="en-US" sz="2000" dirty="0">
              <a:solidFill>
                <a:schemeClr val="bg1"/>
              </a:solidFill>
              <a:latin typeface="+mj-lt"/>
            </a:endParaRPr>
          </a:p>
        </p:txBody>
      </p:sp>
      <p:sp>
        <p:nvSpPr>
          <p:cNvPr id="37" name="文本框 36">
            <a:extLst>
              <a:ext uri="{FF2B5EF4-FFF2-40B4-BE49-F238E27FC236}">
                <a16:creationId xmlns:a16="http://schemas.microsoft.com/office/drawing/2014/main" id="{A291F6B0-CD1E-8D76-1103-E0365179D52D}"/>
              </a:ext>
            </a:extLst>
          </p:cNvPr>
          <p:cNvSpPr txBox="1"/>
          <p:nvPr/>
        </p:nvSpPr>
        <p:spPr>
          <a:xfrm>
            <a:off x="9284494" y="2897196"/>
            <a:ext cx="1569660" cy="338554"/>
          </a:xfrm>
          <a:prstGeom prst="rect">
            <a:avLst/>
          </a:prstGeom>
          <a:noFill/>
        </p:spPr>
        <p:txBody>
          <a:bodyPr wrap="none" rtlCol="0">
            <a:spAutoFit/>
          </a:bodyPr>
          <a:lstStyle/>
          <a:p>
            <a:pPr algn="l"/>
            <a:r>
              <a:rPr lang="zh-CN" altLang="en-US" sz="1600" dirty="0"/>
              <a:t>程序 </a:t>
            </a:r>
            <a:r>
              <a:rPr lang="en-US" altLang="zh-CN" sz="1600" dirty="0"/>
              <a:t>Program</a:t>
            </a:r>
            <a:endParaRPr lang="zh-CN" altLang="en-US" sz="1600" dirty="0"/>
          </a:p>
        </p:txBody>
      </p:sp>
      <p:sp>
        <p:nvSpPr>
          <p:cNvPr id="38" name="文本框 37">
            <a:extLst>
              <a:ext uri="{FF2B5EF4-FFF2-40B4-BE49-F238E27FC236}">
                <a16:creationId xmlns:a16="http://schemas.microsoft.com/office/drawing/2014/main" id="{07F83D5E-FCB9-9533-5739-69EDF5161578}"/>
              </a:ext>
            </a:extLst>
          </p:cNvPr>
          <p:cNvSpPr txBox="1"/>
          <p:nvPr/>
        </p:nvSpPr>
        <p:spPr>
          <a:xfrm>
            <a:off x="4738705" y="5220871"/>
            <a:ext cx="1765227" cy="338554"/>
          </a:xfrm>
          <a:prstGeom prst="rect">
            <a:avLst/>
          </a:prstGeom>
          <a:noFill/>
        </p:spPr>
        <p:txBody>
          <a:bodyPr wrap="none" rtlCol="0">
            <a:spAutoFit/>
          </a:bodyPr>
          <a:lstStyle/>
          <a:p>
            <a:pPr algn="r"/>
            <a:r>
              <a:rPr lang="zh-CN" altLang="en-US" sz="1600" dirty="0"/>
              <a:t>文档 </a:t>
            </a:r>
            <a:r>
              <a:rPr lang="en-US" altLang="zh-CN" sz="1600" dirty="0"/>
              <a:t>Document</a:t>
            </a:r>
            <a:endParaRPr lang="zh-CN" altLang="en-US" sz="1600" dirty="0"/>
          </a:p>
        </p:txBody>
      </p:sp>
      <p:sp>
        <p:nvSpPr>
          <p:cNvPr id="39" name="文本框 38">
            <a:extLst>
              <a:ext uri="{FF2B5EF4-FFF2-40B4-BE49-F238E27FC236}">
                <a16:creationId xmlns:a16="http://schemas.microsoft.com/office/drawing/2014/main" id="{A6F3E053-F275-A72E-DCBE-2E0128B0B767}"/>
              </a:ext>
            </a:extLst>
          </p:cNvPr>
          <p:cNvSpPr txBox="1"/>
          <p:nvPr/>
        </p:nvSpPr>
        <p:spPr>
          <a:xfrm>
            <a:off x="10231418" y="4588367"/>
            <a:ext cx="1146468" cy="338554"/>
          </a:xfrm>
          <a:prstGeom prst="rect">
            <a:avLst/>
          </a:prstGeom>
          <a:noFill/>
        </p:spPr>
        <p:txBody>
          <a:bodyPr wrap="none" rtlCol="0">
            <a:spAutoFit/>
          </a:bodyPr>
          <a:lstStyle/>
          <a:p>
            <a:pPr algn="l"/>
            <a:r>
              <a:rPr lang="zh-CN" altLang="en-US" sz="1600" dirty="0"/>
              <a:t>数据 </a:t>
            </a:r>
            <a:r>
              <a:rPr lang="en-US" altLang="zh-CN" sz="1600" dirty="0"/>
              <a:t>Data</a:t>
            </a:r>
            <a:endParaRPr lang="zh-CN" altLang="en-US" sz="1600" dirty="0"/>
          </a:p>
        </p:txBody>
      </p:sp>
      <p:cxnSp>
        <p:nvCxnSpPr>
          <p:cNvPr id="41" name="连接符: 肘形 40">
            <a:extLst>
              <a:ext uri="{FF2B5EF4-FFF2-40B4-BE49-F238E27FC236}">
                <a16:creationId xmlns:a16="http://schemas.microsoft.com/office/drawing/2014/main" id="{15BEFAA6-68E6-EC62-B764-5C0957B98C8D}"/>
              </a:ext>
            </a:extLst>
          </p:cNvPr>
          <p:cNvCxnSpPr>
            <a:cxnSpLocks/>
            <a:stCxn id="32" idx="0"/>
            <a:endCxn id="37" idx="1"/>
          </p:cNvCxnSpPr>
          <p:nvPr/>
        </p:nvCxnSpPr>
        <p:spPr>
          <a:xfrm flipV="1">
            <a:off x="8841137" y="3066473"/>
            <a:ext cx="443357" cy="41176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连接符: 肘形 42">
            <a:extLst>
              <a:ext uri="{FF2B5EF4-FFF2-40B4-BE49-F238E27FC236}">
                <a16:creationId xmlns:a16="http://schemas.microsoft.com/office/drawing/2014/main" id="{C7E8D7BC-5858-0EED-C8E9-E75F86FB473C}"/>
              </a:ext>
            </a:extLst>
          </p:cNvPr>
          <p:cNvCxnSpPr>
            <a:stCxn id="35" idx="3"/>
            <a:endCxn id="38" idx="3"/>
          </p:cNvCxnSpPr>
          <p:nvPr/>
        </p:nvCxnSpPr>
        <p:spPr>
          <a:xfrm rot="10800000" flipV="1">
            <a:off x="6503932" y="5146918"/>
            <a:ext cx="359264" cy="243229"/>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连接符: 肘形 44">
            <a:extLst>
              <a:ext uri="{FF2B5EF4-FFF2-40B4-BE49-F238E27FC236}">
                <a16:creationId xmlns:a16="http://schemas.microsoft.com/office/drawing/2014/main" id="{4A52FB85-F03C-DBEF-A73D-6B726F51D04C}"/>
              </a:ext>
            </a:extLst>
          </p:cNvPr>
          <p:cNvCxnSpPr>
            <a:stCxn id="33" idx="0"/>
            <a:endCxn id="39" idx="1"/>
          </p:cNvCxnSpPr>
          <p:nvPr/>
        </p:nvCxnSpPr>
        <p:spPr>
          <a:xfrm flipV="1">
            <a:off x="9872154" y="4757644"/>
            <a:ext cx="359264" cy="389275"/>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5739793"/>
      </p:ext>
    </p:extLst>
  </p:cSld>
  <p:clrMapOvr>
    <a:masterClrMapping/>
  </p:clrMapOvr>
</p:sld>
</file>

<file path=ppt/slides/slide3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a:extLst>
              <a:ext uri="{FF2B5EF4-FFF2-40B4-BE49-F238E27FC236}">
                <a16:creationId xmlns:a16="http://schemas.microsoft.com/office/drawing/2014/main" id="{82F95F75-871B-6A9F-9A32-5B69C61CE32F}"/>
              </a:ext>
            </a:extLst>
          </p:cNvPr>
          <p:cNvSpPr>
            <a:spLocks noGrp="1"/>
          </p:cNvSpPr>
          <p:nvPr>
            <p:ph type="body" sz="quarter" idx="10"/>
          </p:nvPr>
        </p:nvSpPr>
        <p:spPr>
          <a:xfrm>
            <a:off x="3219345" y="1629000"/>
            <a:ext cx="8640000" cy="3600000"/>
          </a:xfrm>
        </p:spPr>
        <p:txBody>
          <a:bodyPr/>
          <a:lstStyle/>
          <a:p>
            <a:r>
              <a:rPr lang="zh-CN" altLang="en-US" dirty="0"/>
              <a:t>判断题 </a:t>
            </a:r>
            <a:r>
              <a:rPr lang="en-US" altLang="zh-CN" dirty="0"/>
              <a:t>True or False</a:t>
            </a:r>
          </a:p>
          <a:p>
            <a:endParaRPr lang="en-US" altLang="zh-CN" dirty="0"/>
          </a:p>
          <a:p>
            <a:r>
              <a:rPr lang="zh-CN" altLang="en-US" dirty="0"/>
              <a:t>配置项（</a:t>
            </a:r>
            <a:r>
              <a:rPr lang="en-US" altLang="zh-CN" dirty="0"/>
              <a:t>Configuration Item, CI</a:t>
            </a:r>
            <a:r>
              <a:rPr lang="zh-CN" altLang="en-US" dirty="0"/>
              <a:t>） 是配置管理中的基本单位，指在系统或项目的整个生命周期中，为了配置管理的目的而被单独识别、控制和追踪的任何组件、文档、或实体</a:t>
            </a:r>
          </a:p>
        </p:txBody>
      </p:sp>
    </p:spTree>
    <p:extLst>
      <p:ext uri="{BB962C8B-B14F-4D97-AF65-F5344CB8AC3E}">
        <p14:creationId xmlns:p14="http://schemas.microsoft.com/office/powerpoint/2010/main" val="1904206380"/>
      </p:ext>
    </p:extLst>
  </p:cSld>
  <p:clrMapOvr>
    <a:masterClrMapping/>
  </p:clrMapOvr>
</p:sld>
</file>

<file path=ppt/slides/slide3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17B158-092E-5392-B1B3-5651AE7C41B8}"/>
              </a:ext>
            </a:extLst>
          </p:cNvPr>
          <p:cNvSpPr>
            <a:spLocks noGrp="1"/>
          </p:cNvSpPr>
          <p:nvPr>
            <p:ph type="title"/>
          </p:nvPr>
        </p:nvSpPr>
        <p:spPr>
          <a:xfrm>
            <a:off x="792000" y="360000"/>
            <a:ext cx="6375921" cy="429413"/>
          </a:xfrm>
        </p:spPr>
        <p:txBody>
          <a:bodyPr/>
          <a:lstStyle/>
          <a:p>
            <a:r>
              <a:rPr lang="en-US" altLang="zh-CN" dirty="0"/>
              <a:t>1.3 </a:t>
            </a:r>
            <a:r>
              <a:rPr lang="zh-CN" altLang="en-US" dirty="0"/>
              <a:t>软件项目基线</a:t>
            </a:r>
          </a:p>
        </p:txBody>
      </p:sp>
      <p:sp>
        <p:nvSpPr>
          <p:cNvPr id="8" name="内容占位符 7">
            <a:extLst>
              <a:ext uri="{FF2B5EF4-FFF2-40B4-BE49-F238E27FC236}">
                <a16:creationId xmlns:a16="http://schemas.microsoft.com/office/drawing/2014/main" id="{A3C623A3-5C26-093D-BE64-1E11290E57A7}"/>
              </a:ext>
            </a:extLst>
          </p:cNvPr>
          <p:cNvSpPr>
            <a:spLocks noGrp="1"/>
          </p:cNvSpPr>
          <p:nvPr>
            <p:ph idx="1"/>
          </p:nvPr>
        </p:nvSpPr>
        <p:spPr/>
        <p:txBody>
          <a:bodyPr/>
          <a:lstStyle/>
          <a:p>
            <a:endParaRPr lang="zh-CN" altLang="en-US"/>
          </a:p>
        </p:txBody>
      </p:sp>
      <p:sp>
        <p:nvSpPr>
          <p:cNvPr id="4" name="文本占位符 3">
            <a:extLst>
              <a:ext uri="{FF2B5EF4-FFF2-40B4-BE49-F238E27FC236}">
                <a16:creationId xmlns:a16="http://schemas.microsoft.com/office/drawing/2014/main" id="{F2224CD4-999F-6359-4B64-C9097497FE78}"/>
              </a:ext>
            </a:extLst>
          </p:cNvPr>
          <p:cNvSpPr>
            <a:spLocks noGrp="1"/>
          </p:cNvSpPr>
          <p:nvPr>
            <p:ph type="body" sz="quarter" idx="10"/>
          </p:nvPr>
        </p:nvSpPr>
        <p:spPr>
          <a:xfrm>
            <a:off x="7071919" y="448519"/>
            <a:ext cx="4424080" cy="338554"/>
          </a:xfrm>
        </p:spPr>
        <p:txBody>
          <a:bodyPr/>
          <a:lstStyle/>
          <a:p>
            <a:r>
              <a:rPr lang="en-US" altLang="zh-CN" dirty="0"/>
              <a:t>Base line</a:t>
            </a:r>
            <a:endParaRPr lang="zh-CN" altLang="en-US" dirty="0"/>
          </a:p>
        </p:txBody>
      </p:sp>
      <p:graphicFrame>
        <p:nvGraphicFramePr>
          <p:cNvPr id="5" name="表格 4">
            <a:extLst>
              <a:ext uri="{FF2B5EF4-FFF2-40B4-BE49-F238E27FC236}">
                <a16:creationId xmlns:a16="http://schemas.microsoft.com/office/drawing/2014/main" id="{16332AEE-C8DD-EDD2-3BC0-D96C3A71009C}"/>
              </a:ext>
            </a:extLst>
          </p:cNvPr>
          <p:cNvGraphicFramePr>
            <a:graphicFrameLocks noGrp="1"/>
          </p:cNvGraphicFramePr>
          <p:nvPr>
            <p:extLst>
              <p:ext uri="{D42A27DB-BD31-4B8C-83A1-F6EECF244321}">
                <p14:modId xmlns:p14="http://schemas.microsoft.com/office/powerpoint/2010/main" val="2922585033"/>
              </p:ext>
            </p:extLst>
          </p:nvPr>
        </p:nvGraphicFramePr>
        <p:xfrm>
          <a:off x="695325" y="4191635"/>
          <a:ext cx="10801350" cy="2072640"/>
        </p:xfrm>
        <a:graphic>
          <a:graphicData uri="http://schemas.openxmlformats.org/drawingml/2006/table">
            <a:tbl>
              <a:tblPr/>
              <a:tblGrid>
                <a:gridCol w="1927802">
                  <a:extLst>
                    <a:ext uri="{9D8B030D-6E8A-4147-A177-3AD203B41FA5}">
                      <a16:colId xmlns:a16="http://schemas.microsoft.com/office/drawing/2014/main" val="161237699"/>
                    </a:ext>
                  </a:extLst>
                </a:gridCol>
                <a:gridCol w="4729018">
                  <a:extLst>
                    <a:ext uri="{9D8B030D-6E8A-4147-A177-3AD203B41FA5}">
                      <a16:colId xmlns:a16="http://schemas.microsoft.com/office/drawing/2014/main" val="1070831843"/>
                    </a:ext>
                  </a:extLst>
                </a:gridCol>
                <a:gridCol w="4144530">
                  <a:extLst>
                    <a:ext uri="{9D8B030D-6E8A-4147-A177-3AD203B41FA5}">
                      <a16:colId xmlns:a16="http://schemas.microsoft.com/office/drawing/2014/main" val="2463009145"/>
                    </a:ext>
                  </a:extLst>
                </a:gridCol>
              </a:tblGrid>
              <a:tr h="0">
                <a:tc>
                  <a:txBody>
                    <a:bodyPr/>
                    <a:lstStyle/>
                    <a:p>
                      <a:pPr algn="l">
                        <a:buNone/>
                      </a:pPr>
                      <a:r>
                        <a:rPr lang="en-US" altLang="zh-CN" sz="1600" dirty="0">
                          <a:solidFill>
                            <a:schemeClr val="bg1"/>
                          </a:solidFill>
                        </a:rPr>
                        <a:t>Feature</a:t>
                      </a:r>
                      <a:endParaRPr lang="zh-CN" altLang="en-US" sz="1600" dirty="0">
                        <a:solidFill>
                          <a:schemeClr val="bg1"/>
                        </a:solidFill>
                      </a:endParaRPr>
                    </a:p>
                  </a:txBody>
                  <a:tcPr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buNone/>
                      </a:pPr>
                      <a:r>
                        <a:rPr lang="en-US" altLang="zh-CN" sz="1600" dirty="0">
                          <a:solidFill>
                            <a:schemeClr val="bg1"/>
                          </a:solidFill>
                        </a:rPr>
                        <a:t>Description</a:t>
                      </a:r>
                      <a:endParaRPr lang="zh-CN" altLang="en-US" sz="1600" dirty="0">
                        <a:solidFill>
                          <a:schemeClr val="bg1"/>
                        </a:solidFill>
                      </a:endParaRPr>
                    </a:p>
                  </a:txBody>
                  <a:tcPr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buNone/>
                      </a:pPr>
                      <a:r>
                        <a:rPr lang="en-US" altLang="zh-CN" sz="1600" dirty="0">
                          <a:solidFill>
                            <a:schemeClr val="bg1"/>
                          </a:solidFill>
                        </a:rPr>
                        <a:t>Tips</a:t>
                      </a:r>
                      <a:endParaRPr lang="zh-CN" altLang="en-US" sz="1600" dirty="0">
                        <a:solidFill>
                          <a:schemeClr val="bg1"/>
                        </a:solidFill>
                      </a:endParaRPr>
                    </a:p>
                  </a:txBody>
                  <a:tcPr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402073324"/>
                  </a:ext>
                </a:extLst>
              </a:tr>
              <a:tr h="0">
                <a:tc>
                  <a:txBody>
                    <a:bodyPr/>
                    <a:lstStyle/>
                    <a:p>
                      <a:pPr algn="l">
                        <a:buNone/>
                      </a:pPr>
                      <a:r>
                        <a:rPr lang="zh-CN" altLang="en-US" sz="1600" dirty="0"/>
                        <a:t>稳定性</a:t>
                      </a:r>
                      <a:endParaRPr lang="en-US" altLang="zh-CN" sz="1600" dirty="0"/>
                    </a:p>
                    <a:p>
                      <a:pPr algn="l">
                        <a:buNone/>
                      </a:pPr>
                      <a:r>
                        <a:rPr lang="en-US" sz="1600" dirty="0"/>
                        <a:t>Stability</a:t>
                      </a:r>
                    </a:p>
                  </a:txBody>
                  <a:tcPr anchor="ctr">
                    <a:lnL>
                      <a:noFill/>
                    </a:lnL>
                    <a:lnR>
                      <a:noFill/>
                    </a:lnR>
                    <a:lnT w="6350" cap="flat" cmpd="sng" algn="ctr">
                      <a:noFill/>
                      <a:prstDash val="solid"/>
                      <a:round/>
                      <a:headEnd type="none" w="med" len="med"/>
                      <a:tailEnd type="none" w="med" len="med"/>
                    </a:lnT>
                    <a:lnB>
                      <a:noFill/>
                    </a:lnB>
                    <a:noFill/>
                  </a:tcPr>
                </a:tc>
                <a:tc>
                  <a:txBody>
                    <a:bodyPr/>
                    <a:lstStyle/>
                    <a:p>
                      <a:pPr algn="l">
                        <a:buNone/>
                      </a:pPr>
                      <a:r>
                        <a:rPr lang="zh-CN" altLang="en-US" sz="1600" dirty="0"/>
                        <a:t>一旦建立，内容在逻辑上是固定的</a:t>
                      </a:r>
                      <a:endParaRPr lang="en-US" altLang="zh-CN" sz="1600" dirty="0"/>
                    </a:p>
                    <a:p>
                      <a:pPr algn="l">
                        <a:buNone/>
                      </a:pPr>
                      <a:r>
                        <a:rPr lang="zh-CN" altLang="en-US" sz="1600" dirty="0"/>
                        <a:t>不会随便变动</a:t>
                      </a:r>
                    </a:p>
                  </a:txBody>
                  <a:tcPr anchor="ctr">
                    <a:lnL>
                      <a:noFill/>
                    </a:lnL>
                    <a:lnR>
                      <a:noFill/>
                    </a:lnR>
                    <a:lnT w="6350" cap="flat" cmpd="sng" algn="ctr">
                      <a:noFill/>
                      <a:prstDash val="solid"/>
                      <a:round/>
                      <a:headEnd type="none" w="med" len="med"/>
                      <a:tailEnd type="none" w="med" len="med"/>
                    </a:lnT>
                    <a:lnB>
                      <a:noFill/>
                    </a:lnB>
                    <a:noFill/>
                  </a:tcPr>
                </a:tc>
                <a:tc>
                  <a:txBody>
                    <a:bodyPr/>
                    <a:lstStyle/>
                    <a:p>
                      <a:pPr algn="l">
                        <a:buNone/>
                      </a:pPr>
                      <a:r>
                        <a:rPr lang="zh-CN" altLang="en-US" sz="1600"/>
                        <a:t>给开发和测试团队一个稳定的工作目标，避免“边做边改”导致的返工</a:t>
                      </a:r>
                    </a:p>
                  </a:txBody>
                  <a:tcPr anchor="ctr">
                    <a:lnL>
                      <a:noFill/>
                    </a:lnL>
                    <a:lnR>
                      <a:noFill/>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909443335"/>
                  </a:ext>
                </a:extLst>
              </a:tr>
              <a:tr h="0">
                <a:tc>
                  <a:txBody>
                    <a:bodyPr/>
                    <a:lstStyle/>
                    <a:p>
                      <a:pPr algn="l">
                        <a:buNone/>
                      </a:pPr>
                      <a:r>
                        <a:rPr lang="zh-CN" altLang="en-US" sz="1600" dirty="0"/>
                        <a:t>权威性 </a:t>
                      </a:r>
                      <a:endParaRPr lang="en-US" altLang="zh-CN" sz="1600" dirty="0"/>
                    </a:p>
                    <a:p>
                      <a:pPr algn="l">
                        <a:buNone/>
                      </a:pPr>
                      <a:r>
                        <a:rPr lang="en-US" sz="1600" dirty="0"/>
                        <a:t>Authority</a:t>
                      </a:r>
                    </a:p>
                  </a:txBody>
                  <a:tcPr anchor="ctr">
                    <a:lnL>
                      <a:noFill/>
                    </a:lnL>
                    <a:lnR>
                      <a:noFill/>
                    </a:lnR>
                    <a:lnT>
                      <a:noFill/>
                    </a:lnT>
                    <a:lnB>
                      <a:noFill/>
                    </a:lnB>
                    <a:noFill/>
                  </a:tcPr>
                </a:tc>
                <a:tc>
                  <a:txBody>
                    <a:bodyPr/>
                    <a:lstStyle/>
                    <a:p>
                      <a:pPr algn="l">
                        <a:buNone/>
                      </a:pPr>
                      <a:r>
                        <a:rPr lang="zh-CN" altLang="en-US" sz="1600" dirty="0"/>
                        <a:t>经过正式评审和签字批准</a:t>
                      </a:r>
                      <a:endParaRPr lang="en-US" altLang="zh-CN" sz="1600" dirty="0"/>
                    </a:p>
                    <a:p>
                      <a:pPr algn="l">
                        <a:buNone/>
                      </a:pPr>
                      <a:r>
                        <a:rPr lang="zh-CN" altLang="en-US" sz="1600" dirty="0"/>
                        <a:t>具有“法律效力”</a:t>
                      </a:r>
                    </a:p>
                  </a:txBody>
                  <a:tcPr anchor="ctr">
                    <a:lnL>
                      <a:noFill/>
                    </a:lnL>
                    <a:lnR>
                      <a:noFill/>
                    </a:lnR>
                    <a:lnT>
                      <a:noFill/>
                    </a:lnT>
                    <a:lnB>
                      <a:noFill/>
                    </a:lnB>
                    <a:noFill/>
                  </a:tcPr>
                </a:tc>
                <a:tc>
                  <a:txBody>
                    <a:bodyPr/>
                    <a:lstStyle/>
                    <a:p>
                      <a:pPr algn="l">
                        <a:buNone/>
                      </a:pPr>
                      <a:r>
                        <a:rPr lang="zh-CN" altLang="en-US" sz="1600" dirty="0"/>
                        <a:t>它是验收的标准</a:t>
                      </a:r>
                      <a:endParaRPr lang="en-US" altLang="zh-CN" sz="1600" dirty="0"/>
                    </a:p>
                    <a:p>
                      <a:pPr algn="l">
                        <a:buNone/>
                      </a:pPr>
                      <a:r>
                        <a:rPr lang="zh-CN" altLang="en-US" sz="1600" dirty="0"/>
                        <a:t>如果做出来的东西和基线不一致，就是缺陷</a:t>
                      </a:r>
                    </a:p>
                  </a:txBody>
                  <a:tcPr anchor="ctr">
                    <a:lnL>
                      <a:noFill/>
                    </a:lnL>
                    <a:lnR>
                      <a:noFill/>
                    </a:lnR>
                    <a:lnT>
                      <a:noFill/>
                    </a:lnT>
                    <a:lnB>
                      <a:noFill/>
                    </a:lnB>
                    <a:noFill/>
                  </a:tcPr>
                </a:tc>
                <a:extLst>
                  <a:ext uri="{0D108BD9-81ED-4DB2-BD59-A6C34878D82A}">
                    <a16:rowId xmlns:a16="http://schemas.microsoft.com/office/drawing/2014/main" val="4270465890"/>
                  </a:ext>
                </a:extLst>
              </a:tr>
              <a:tr h="0">
                <a:tc>
                  <a:txBody>
                    <a:bodyPr/>
                    <a:lstStyle/>
                    <a:p>
                      <a:pPr algn="l">
                        <a:buNone/>
                      </a:pPr>
                      <a:r>
                        <a:rPr lang="zh-CN" altLang="en-US" sz="1600" dirty="0"/>
                        <a:t>可追溯性</a:t>
                      </a:r>
                      <a:endParaRPr lang="en-US" altLang="zh-CN" sz="1600" dirty="0"/>
                    </a:p>
                    <a:p>
                      <a:pPr algn="l">
                        <a:buNone/>
                      </a:pPr>
                      <a:r>
                        <a:rPr lang="en-US" sz="1600" dirty="0"/>
                        <a:t>Traceability</a:t>
                      </a:r>
                    </a:p>
                  </a:txBody>
                  <a:tcPr anchor="ctr">
                    <a:lnL>
                      <a:noFill/>
                    </a:lnL>
                    <a:lnR>
                      <a:noFill/>
                    </a:lnR>
                    <a:lnT>
                      <a:noFill/>
                    </a:lnT>
                    <a:lnB>
                      <a:noFill/>
                    </a:lnB>
                    <a:noFill/>
                  </a:tcPr>
                </a:tc>
                <a:tc>
                  <a:txBody>
                    <a:bodyPr/>
                    <a:lstStyle/>
                    <a:p>
                      <a:pPr algn="l">
                        <a:buNone/>
                      </a:pPr>
                      <a:r>
                        <a:rPr lang="zh-CN" altLang="en-US" sz="1600" dirty="0"/>
                        <a:t>有明确版本号</a:t>
                      </a:r>
                      <a:endParaRPr lang="en-US" altLang="zh-CN" sz="1600" dirty="0"/>
                    </a:p>
                    <a:p>
                      <a:pPr algn="l">
                        <a:buNone/>
                      </a:pPr>
                      <a:r>
                        <a:rPr lang="zh-CN" altLang="en-US" sz="1600" dirty="0"/>
                        <a:t>任何后续修改都会生成新版本，且保留旧版本</a:t>
                      </a:r>
                    </a:p>
                  </a:txBody>
                  <a:tcPr anchor="ctr">
                    <a:lnL>
                      <a:noFill/>
                    </a:lnL>
                    <a:lnR>
                      <a:noFill/>
                    </a:lnR>
                    <a:lnT>
                      <a:noFill/>
                    </a:lnT>
                    <a:lnB>
                      <a:noFill/>
                    </a:lnB>
                    <a:noFill/>
                  </a:tcPr>
                </a:tc>
                <a:tc>
                  <a:txBody>
                    <a:bodyPr/>
                    <a:lstStyle/>
                    <a:p>
                      <a:pPr algn="l">
                        <a:buNone/>
                      </a:pPr>
                      <a:r>
                        <a:rPr lang="zh-CN" altLang="en-US" sz="1600" dirty="0"/>
                        <a:t>确保我们知道“改了什么”、“谁改的”、“为什么改”，防止历史丢失</a:t>
                      </a:r>
                    </a:p>
                  </a:txBody>
                  <a:tcPr anchor="ctr">
                    <a:lnL>
                      <a:noFill/>
                    </a:lnL>
                    <a:lnR>
                      <a:noFill/>
                    </a:lnR>
                    <a:lnT>
                      <a:noFill/>
                    </a:lnT>
                    <a:lnB>
                      <a:noFill/>
                    </a:lnB>
                    <a:noFill/>
                  </a:tcPr>
                </a:tc>
                <a:extLst>
                  <a:ext uri="{0D108BD9-81ED-4DB2-BD59-A6C34878D82A}">
                    <a16:rowId xmlns:a16="http://schemas.microsoft.com/office/drawing/2014/main" val="2730614757"/>
                  </a:ext>
                </a:extLst>
              </a:tr>
            </a:tbl>
          </a:graphicData>
        </a:graphic>
      </p:graphicFrame>
      <p:grpSp>
        <p:nvGrpSpPr>
          <p:cNvPr id="37" name="组合 36">
            <a:extLst>
              <a:ext uri="{FF2B5EF4-FFF2-40B4-BE49-F238E27FC236}">
                <a16:creationId xmlns:a16="http://schemas.microsoft.com/office/drawing/2014/main" id="{0FB749BB-4414-33C9-BF60-88C1C8F7A79D}"/>
              </a:ext>
            </a:extLst>
          </p:cNvPr>
          <p:cNvGrpSpPr/>
          <p:nvPr/>
        </p:nvGrpSpPr>
        <p:grpSpPr>
          <a:xfrm>
            <a:off x="707972" y="1757465"/>
            <a:ext cx="10804678" cy="1515492"/>
            <a:chOff x="707972" y="1757465"/>
            <a:chExt cx="10804678" cy="1515492"/>
          </a:xfrm>
        </p:grpSpPr>
        <p:sp>
          <p:nvSpPr>
            <p:cNvPr id="20" name="MH_Other_2">
              <a:extLst>
                <a:ext uri="{FF2B5EF4-FFF2-40B4-BE49-F238E27FC236}">
                  <a16:creationId xmlns:a16="http://schemas.microsoft.com/office/drawing/2014/main" id="{0D4ADB99-27EB-7BDE-F12C-D6D17A388B6F}"/>
                </a:ext>
              </a:extLst>
            </p:cNvPr>
            <p:cNvSpPr/>
            <p:nvPr>
              <p:custDataLst>
                <p:tags r:id="rId3"/>
              </p:custDataLst>
            </p:nvPr>
          </p:nvSpPr>
          <p:spPr bwMode="auto">
            <a:xfrm>
              <a:off x="5032650" y="3200957"/>
              <a:ext cx="6480000" cy="72000"/>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1" name="MH_Other_3">
              <a:extLst>
                <a:ext uri="{FF2B5EF4-FFF2-40B4-BE49-F238E27FC236}">
                  <a16:creationId xmlns:a16="http://schemas.microsoft.com/office/drawing/2014/main" id="{8D250B52-45EF-1F61-17FC-4DAED7DBDFD7}"/>
                </a:ext>
              </a:extLst>
            </p:cNvPr>
            <p:cNvSpPr/>
            <p:nvPr>
              <p:custDataLst>
                <p:tags r:id="rId4"/>
              </p:custDataLst>
            </p:nvPr>
          </p:nvSpPr>
          <p:spPr>
            <a:xfrm>
              <a:off x="4981153" y="1943525"/>
              <a:ext cx="392523" cy="377646"/>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22" name="MH_Other_4">
              <a:extLst>
                <a:ext uri="{FF2B5EF4-FFF2-40B4-BE49-F238E27FC236}">
                  <a16:creationId xmlns:a16="http://schemas.microsoft.com/office/drawing/2014/main" id="{3045A94A-CD27-CDCC-8B09-D892B5F9CA91}"/>
                </a:ext>
              </a:extLst>
            </p:cNvPr>
            <p:cNvSpPr>
              <a:spLocks noChangeArrowheads="1"/>
            </p:cNvSpPr>
            <p:nvPr>
              <p:custDataLst>
                <p:tags r:id="rId5"/>
              </p:custDataLst>
            </p:nvPr>
          </p:nvSpPr>
          <p:spPr bwMode="gray">
            <a:xfrm rot="15266332" flipV="1">
              <a:off x="4965777" y="1908491"/>
              <a:ext cx="374051" cy="72000"/>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3" name="MH_Other_5">
              <a:extLst>
                <a:ext uri="{FF2B5EF4-FFF2-40B4-BE49-F238E27FC236}">
                  <a16:creationId xmlns:a16="http://schemas.microsoft.com/office/drawing/2014/main" id="{ABEDABAD-C79F-CA11-B45A-D7E640567F4D}"/>
                </a:ext>
              </a:extLst>
            </p:cNvPr>
            <p:cNvSpPr>
              <a:spLocks noChangeArrowheads="1"/>
            </p:cNvSpPr>
            <p:nvPr>
              <p:custDataLst>
                <p:tags r:id="rId6"/>
              </p:custDataLst>
            </p:nvPr>
          </p:nvSpPr>
          <p:spPr bwMode="gray">
            <a:xfrm rot="15334360" flipV="1">
              <a:off x="4633512" y="3090257"/>
              <a:ext cx="254645" cy="43884"/>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4" name="MH_Other_6">
              <a:extLst>
                <a:ext uri="{FF2B5EF4-FFF2-40B4-BE49-F238E27FC236}">
                  <a16:creationId xmlns:a16="http://schemas.microsoft.com/office/drawing/2014/main" id="{9220AB7E-E1DC-2FB0-EAC6-5CFEB6FE6258}"/>
                </a:ext>
              </a:extLst>
            </p:cNvPr>
            <p:cNvSpPr>
              <a:spLocks noChangeArrowheads="1"/>
            </p:cNvSpPr>
            <p:nvPr>
              <p:custDataLst>
                <p:tags r:id="rId7"/>
              </p:custDataLst>
            </p:nvPr>
          </p:nvSpPr>
          <p:spPr bwMode="gray">
            <a:xfrm rot="19641219">
              <a:off x="4787736" y="2486984"/>
              <a:ext cx="353130" cy="72000"/>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5" name="MH_Other_7">
              <a:extLst>
                <a:ext uri="{FF2B5EF4-FFF2-40B4-BE49-F238E27FC236}">
                  <a16:creationId xmlns:a16="http://schemas.microsoft.com/office/drawing/2014/main" id="{6B93B4A1-ABF8-9F87-ABDC-8D258992251F}"/>
                </a:ext>
              </a:extLst>
            </p:cNvPr>
            <p:cNvSpPr/>
            <p:nvPr>
              <p:custDataLst>
                <p:tags r:id="rId8"/>
              </p:custDataLst>
            </p:nvPr>
          </p:nvSpPr>
          <p:spPr>
            <a:xfrm>
              <a:off x="4426394" y="2369960"/>
              <a:ext cx="392523" cy="377646"/>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dirty="0"/>
            </a:p>
          </p:txBody>
        </p:sp>
        <p:sp>
          <p:nvSpPr>
            <p:cNvPr id="19" name="MH_Other_1">
              <a:extLst>
                <a:ext uri="{FF2B5EF4-FFF2-40B4-BE49-F238E27FC236}">
                  <a16:creationId xmlns:a16="http://schemas.microsoft.com/office/drawing/2014/main" id="{354221BD-DA8D-3D9C-FBA6-E60EDC5C8AFF}"/>
                </a:ext>
              </a:extLst>
            </p:cNvPr>
            <p:cNvSpPr/>
            <p:nvPr>
              <p:custDataLst>
                <p:tags r:id="rId9"/>
              </p:custDataLst>
            </p:nvPr>
          </p:nvSpPr>
          <p:spPr bwMode="auto">
            <a:xfrm>
              <a:off x="707972" y="1766406"/>
              <a:ext cx="4392000" cy="72000"/>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grpSp>
      <p:sp>
        <p:nvSpPr>
          <p:cNvPr id="26" name="MH_Text_1">
            <a:extLst>
              <a:ext uri="{FF2B5EF4-FFF2-40B4-BE49-F238E27FC236}">
                <a16:creationId xmlns:a16="http://schemas.microsoft.com/office/drawing/2014/main" id="{FF085449-1672-25D4-C04C-3B74174A6F00}"/>
              </a:ext>
            </a:extLst>
          </p:cNvPr>
          <p:cNvSpPr/>
          <p:nvPr>
            <p:custDataLst>
              <p:tags r:id="rId1"/>
            </p:custDataLst>
          </p:nvPr>
        </p:nvSpPr>
        <p:spPr bwMode="auto">
          <a:xfrm>
            <a:off x="6377506" y="1820194"/>
            <a:ext cx="5106466" cy="1384995"/>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tIns="0" bIns="0">
            <a:spAutoFit/>
          </a:bodyPr>
          <a:lstStyle/>
          <a:p>
            <a:pPr>
              <a:defRPr/>
            </a:pPr>
            <a:r>
              <a:rPr lang="zh-CN" altLang="en-US" dirty="0">
                <a:solidFill>
                  <a:schemeClr val="tx1"/>
                </a:solidFill>
              </a:rPr>
              <a:t>一个或多个配置项 </a:t>
            </a:r>
            <a:r>
              <a:rPr lang="en-US" altLang="zh-CN" dirty="0">
                <a:solidFill>
                  <a:schemeClr val="tx1"/>
                </a:solidFill>
              </a:rPr>
              <a:t>CI </a:t>
            </a:r>
            <a:r>
              <a:rPr lang="zh-CN" altLang="en-US" dirty="0">
                <a:solidFill>
                  <a:schemeClr val="tx1"/>
                </a:solidFill>
              </a:rPr>
              <a:t>的集合</a:t>
            </a:r>
          </a:p>
          <a:p>
            <a:pPr>
              <a:defRPr/>
            </a:pPr>
            <a:r>
              <a:rPr lang="zh-CN" altLang="en-US" dirty="0">
                <a:solidFill>
                  <a:schemeClr val="tx1"/>
                </a:solidFill>
              </a:rPr>
              <a:t>通过技术复审</a:t>
            </a:r>
          </a:p>
          <a:p>
            <a:pPr>
              <a:defRPr/>
            </a:pPr>
            <a:r>
              <a:rPr lang="zh-CN" altLang="en-US" dirty="0">
                <a:solidFill>
                  <a:schemeClr val="tx1"/>
                </a:solidFill>
              </a:rPr>
              <a:t>在生命周期某个阶段被接受 </a:t>
            </a:r>
            <a:r>
              <a:rPr lang="en-US" altLang="zh-CN" dirty="0">
                <a:solidFill>
                  <a:schemeClr val="tx1"/>
                </a:solidFill>
              </a:rPr>
              <a:t>– </a:t>
            </a:r>
            <a:r>
              <a:rPr lang="zh-CN" altLang="en-US" dirty="0">
                <a:solidFill>
                  <a:schemeClr val="tx1"/>
                </a:solidFill>
              </a:rPr>
              <a:t>里程碑</a:t>
            </a:r>
            <a:endParaRPr lang="en-US" altLang="zh-CN" dirty="0">
              <a:solidFill>
                <a:schemeClr val="tx1"/>
              </a:solidFill>
            </a:endParaRPr>
          </a:p>
          <a:p>
            <a:pPr>
              <a:defRPr/>
            </a:pPr>
            <a:r>
              <a:rPr lang="zh-CN" altLang="en-US" dirty="0">
                <a:solidFill>
                  <a:schemeClr val="tx1"/>
                </a:solidFill>
              </a:rPr>
              <a:t>进一步开发的基础</a:t>
            </a:r>
          </a:p>
          <a:p>
            <a:pPr>
              <a:defRPr/>
            </a:pPr>
            <a:r>
              <a:rPr lang="zh-CN" altLang="en-US" dirty="0">
                <a:solidFill>
                  <a:schemeClr val="tx1"/>
                </a:solidFill>
              </a:rPr>
              <a:t>基线的变更只能采用正式的变更控制程序</a:t>
            </a:r>
          </a:p>
        </p:txBody>
      </p:sp>
      <p:sp>
        <p:nvSpPr>
          <p:cNvPr id="27" name="MH_Text_1">
            <a:extLst>
              <a:ext uri="{FF2B5EF4-FFF2-40B4-BE49-F238E27FC236}">
                <a16:creationId xmlns:a16="http://schemas.microsoft.com/office/drawing/2014/main" id="{F6F74B31-7A86-F999-0588-2F88C879BE21}"/>
              </a:ext>
            </a:extLst>
          </p:cNvPr>
          <p:cNvSpPr/>
          <p:nvPr>
            <p:custDataLst>
              <p:tags r:id="rId2"/>
            </p:custDataLst>
          </p:nvPr>
        </p:nvSpPr>
        <p:spPr bwMode="auto">
          <a:xfrm>
            <a:off x="695326" y="2253314"/>
            <a:ext cx="2722129" cy="1107996"/>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tIns="0" bIns="0">
            <a:spAutoFit/>
          </a:bodyPr>
          <a:lstStyle/>
          <a:p>
            <a:pPr>
              <a:defRPr/>
            </a:pPr>
            <a:r>
              <a:rPr lang="zh-CN" altLang="en-US" dirty="0">
                <a:solidFill>
                  <a:schemeClr val="tx1"/>
                </a:solidFill>
              </a:rPr>
              <a:t>建立基线的事件</a:t>
            </a:r>
          </a:p>
          <a:p>
            <a:pPr>
              <a:defRPr/>
            </a:pPr>
            <a:r>
              <a:rPr lang="zh-CN" altLang="en-US" dirty="0">
                <a:solidFill>
                  <a:schemeClr val="tx1"/>
                </a:solidFill>
              </a:rPr>
              <a:t>受控的配置项</a:t>
            </a:r>
          </a:p>
          <a:p>
            <a:pPr>
              <a:defRPr/>
            </a:pPr>
            <a:r>
              <a:rPr lang="zh-CN" altLang="en-US" dirty="0">
                <a:solidFill>
                  <a:schemeClr val="tx1"/>
                </a:solidFill>
              </a:rPr>
              <a:t>建立和变更基线的程序</a:t>
            </a:r>
          </a:p>
          <a:p>
            <a:pPr>
              <a:defRPr/>
            </a:pPr>
            <a:r>
              <a:rPr lang="zh-CN" altLang="en-US" dirty="0">
                <a:solidFill>
                  <a:schemeClr val="tx1"/>
                </a:solidFill>
              </a:rPr>
              <a:t>批准变更基线所需的权限</a:t>
            </a:r>
          </a:p>
        </p:txBody>
      </p:sp>
      <p:sp>
        <p:nvSpPr>
          <p:cNvPr id="28" name="文本框 27">
            <a:extLst>
              <a:ext uri="{FF2B5EF4-FFF2-40B4-BE49-F238E27FC236}">
                <a16:creationId xmlns:a16="http://schemas.microsoft.com/office/drawing/2014/main" id="{BB2A70E4-1773-AD9B-295C-5097B67B0323}"/>
              </a:ext>
            </a:extLst>
          </p:cNvPr>
          <p:cNvSpPr txBox="1"/>
          <p:nvPr/>
        </p:nvSpPr>
        <p:spPr>
          <a:xfrm>
            <a:off x="6377506" y="1481640"/>
            <a:ext cx="646331" cy="369332"/>
          </a:xfrm>
          <a:prstGeom prst="rect">
            <a:avLst/>
          </a:prstGeom>
          <a:noFill/>
        </p:spPr>
        <p:txBody>
          <a:bodyPr wrap="none" rtlCol="0">
            <a:spAutoFit/>
          </a:bodyPr>
          <a:lstStyle/>
          <a:p>
            <a:r>
              <a:rPr lang="zh-CN" altLang="en-US" b="1" dirty="0">
                <a:solidFill>
                  <a:schemeClr val="accent2"/>
                </a:solidFill>
                <a:latin typeface="+mj-ea"/>
                <a:ea typeface="+mj-ea"/>
              </a:rPr>
              <a:t>特点</a:t>
            </a:r>
            <a:endParaRPr lang="en-US" altLang="zh-CN" b="1" dirty="0">
              <a:solidFill>
                <a:schemeClr val="accent2"/>
              </a:solidFill>
              <a:latin typeface="+mj-ea"/>
              <a:ea typeface="+mj-ea"/>
            </a:endParaRPr>
          </a:p>
        </p:txBody>
      </p:sp>
      <p:sp>
        <p:nvSpPr>
          <p:cNvPr id="32" name="文本框 31">
            <a:extLst>
              <a:ext uri="{FF2B5EF4-FFF2-40B4-BE49-F238E27FC236}">
                <a16:creationId xmlns:a16="http://schemas.microsoft.com/office/drawing/2014/main" id="{58846132-7276-81E6-18AF-4313C201270E}"/>
              </a:ext>
            </a:extLst>
          </p:cNvPr>
          <p:cNvSpPr txBox="1"/>
          <p:nvPr/>
        </p:nvSpPr>
        <p:spPr>
          <a:xfrm>
            <a:off x="695325" y="1908889"/>
            <a:ext cx="646331" cy="369332"/>
          </a:xfrm>
          <a:prstGeom prst="rect">
            <a:avLst/>
          </a:prstGeom>
          <a:noFill/>
        </p:spPr>
        <p:txBody>
          <a:bodyPr wrap="none" rtlCol="0">
            <a:spAutoFit/>
          </a:bodyPr>
          <a:lstStyle/>
          <a:p>
            <a:r>
              <a:rPr lang="zh-CN" altLang="en-US" b="1" dirty="0">
                <a:solidFill>
                  <a:schemeClr val="accent2"/>
                </a:solidFill>
                <a:latin typeface="+mj-ea"/>
                <a:ea typeface="+mj-ea"/>
              </a:rPr>
              <a:t>内容</a:t>
            </a:r>
          </a:p>
        </p:txBody>
      </p:sp>
    </p:spTree>
    <p:extLst>
      <p:ext uri="{BB962C8B-B14F-4D97-AF65-F5344CB8AC3E}">
        <p14:creationId xmlns:p14="http://schemas.microsoft.com/office/powerpoint/2010/main" val="164183533"/>
      </p:ext>
    </p:extLst>
  </p:cSld>
  <p:clrMapOvr>
    <a:masterClrMapping/>
  </p:clrMapOvr>
</p:sld>
</file>

<file path=ppt/slides/slide3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a:extLst>
              <a:ext uri="{FF2B5EF4-FFF2-40B4-BE49-F238E27FC236}">
                <a16:creationId xmlns:a16="http://schemas.microsoft.com/office/drawing/2014/main" id="{ED635A07-6E98-8349-2F4F-6261F3E5C101}"/>
              </a:ext>
            </a:extLst>
          </p:cNvPr>
          <p:cNvGrpSpPr/>
          <p:nvPr/>
        </p:nvGrpSpPr>
        <p:grpSpPr>
          <a:xfrm>
            <a:off x="1835302" y="1006764"/>
            <a:ext cx="1988553" cy="1523420"/>
            <a:chOff x="2398720" y="1846836"/>
            <a:chExt cx="1988553" cy="1477818"/>
          </a:xfrm>
        </p:grpSpPr>
        <p:sp>
          <p:nvSpPr>
            <p:cNvPr id="15" name="平行四边形 14">
              <a:extLst>
                <a:ext uri="{FF2B5EF4-FFF2-40B4-BE49-F238E27FC236}">
                  <a16:creationId xmlns:a16="http://schemas.microsoft.com/office/drawing/2014/main" id="{BA5B31F2-5D57-5030-315D-E4C179B05220}"/>
                </a:ext>
              </a:extLst>
            </p:cNvPr>
            <p:cNvSpPr/>
            <p:nvPr/>
          </p:nvSpPr>
          <p:spPr>
            <a:xfrm flipH="1">
              <a:off x="2398720" y="1846836"/>
              <a:ext cx="1177311" cy="1477818"/>
            </a:xfrm>
            <a:prstGeom prst="parallelogram">
              <a:avLst>
                <a:gd name="adj" fmla="val 30862"/>
              </a:avLst>
            </a:prstGeom>
            <a:gradFill>
              <a:gsLst>
                <a:gs pos="0">
                  <a:schemeClr val="bg1"/>
                </a:gs>
                <a:gs pos="100000">
                  <a:schemeClr val="accent5">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
          <p:nvSpPr>
            <p:cNvPr id="17" name="平行四边形 16">
              <a:extLst>
                <a:ext uri="{FF2B5EF4-FFF2-40B4-BE49-F238E27FC236}">
                  <a16:creationId xmlns:a16="http://schemas.microsoft.com/office/drawing/2014/main" id="{4951F9E0-1521-DE4E-9C1E-B100BA9E8632}"/>
                </a:ext>
              </a:extLst>
            </p:cNvPr>
            <p:cNvSpPr/>
            <p:nvPr/>
          </p:nvSpPr>
          <p:spPr>
            <a:xfrm>
              <a:off x="2752435" y="2465673"/>
              <a:ext cx="1634838" cy="858981"/>
            </a:xfrm>
            <a:prstGeom prst="parallelogram">
              <a:avLst>
                <a:gd name="adj" fmla="val 87444"/>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grpSp>
      <p:grpSp>
        <p:nvGrpSpPr>
          <p:cNvPr id="20" name="组合 19">
            <a:extLst>
              <a:ext uri="{FF2B5EF4-FFF2-40B4-BE49-F238E27FC236}">
                <a16:creationId xmlns:a16="http://schemas.microsoft.com/office/drawing/2014/main" id="{DC314263-5CDE-E5DF-317D-6795B52FA26B}"/>
              </a:ext>
            </a:extLst>
          </p:cNvPr>
          <p:cNvGrpSpPr/>
          <p:nvPr/>
        </p:nvGrpSpPr>
        <p:grpSpPr>
          <a:xfrm>
            <a:off x="3006436" y="1644697"/>
            <a:ext cx="1988553" cy="1523420"/>
            <a:chOff x="2398720" y="1846836"/>
            <a:chExt cx="1988553" cy="1477818"/>
          </a:xfrm>
        </p:grpSpPr>
        <p:sp>
          <p:nvSpPr>
            <p:cNvPr id="21" name="平行四边形 20">
              <a:extLst>
                <a:ext uri="{FF2B5EF4-FFF2-40B4-BE49-F238E27FC236}">
                  <a16:creationId xmlns:a16="http://schemas.microsoft.com/office/drawing/2014/main" id="{64BFDB56-0EF3-74BF-DA30-FA1DC444D57D}"/>
                </a:ext>
              </a:extLst>
            </p:cNvPr>
            <p:cNvSpPr/>
            <p:nvPr/>
          </p:nvSpPr>
          <p:spPr>
            <a:xfrm flipH="1">
              <a:off x="2398720" y="1846836"/>
              <a:ext cx="1177311" cy="1477818"/>
            </a:xfrm>
            <a:prstGeom prst="parallelogram">
              <a:avLst>
                <a:gd name="adj" fmla="val 30862"/>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rPr>
                <a:t>需求分析</a:t>
              </a:r>
            </a:p>
          </p:txBody>
        </p:sp>
        <p:sp>
          <p:nvSpPr>
            <p:cNvPr id="22" name="平行四边形 21">
              <a:extLst>
                <a:ext uri="{FF2B5EF4-FFF2-40B4-BE49-F238E27FC236}">
                  <a16:creationId xmlns:a16="http://schemas.microsoft.com/office/drawing/2014/main" id="{9519E85A-0604-1F7F-03CA-111EA6A5A879}"/>
                </a:ext>
              </a:extLst>
            </p:cNvPr>
            <p:cNvSpPr/>
            <p:nvPr/>
          </p:nvSpPr>
          <p:spPr>
            <a:xfrm>
              <a:off x="2752435" y="2465673"/>
              <a:ext cx="1634838" cy="858981"/>
            </a:xfrm>
            <a:prstGeom prst="parallelogram">
              <a:avLst>
                <a:gd name="adj" fmla="val 87444"/>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grpSp>
      <p:grpSp>
        <p:nvGrpSpPr>
          <p:cNvPr id="23" name="组合 22">
            <a:extLst>
              <a:ext uri="{FF2B5EF4-FFF2-40B4-BE49-F238E27FC236}">
                <a16:creationId xmlns:a16="http://schemas.microsoft.com/office/drawing/2014/main" id="{4A4B8F72-EC8C-75C3-4BCA-A5ED20741679}"/>
              </a:ext>
            </a:extLst>
          </p:cNvPr>
          <p:cNvGrpSpPr/>
          <p:nvPr/>
        </p:nvGrpSpPr>
        <p:grpSpPr>
          <a:xfrm>
            <a:off x="4171393" y="2282630"/>
            <a:ext cx="1988553" cy="1523420"/>
            <a:chOff x="2398720" y="1846836"/>
            <a:chExt cx="1988553" cy="1477818"/>
          </a:xfrm>
        </p:grpSpPr>
        <p:sp>
          <p:nvSpPr>
            <p:cNvPr id="24" name="平行四边形 23">
              <a:extLst>
                <a:ext uri="{FF2B5EF4-FFF2-40B4-BE49-F238E27FC236}">
                  <a16:creationId xmlns:a16="http://schemas.microsoft.com/office/drawing/2014/main" id="{28BEC0C0-087B-A293-017C-1FE5D31666DC}"/>
                </a:ext>
              </a:extLst>
            </p:cNvPr>
            <p:cNvSpPr/>
            <p:nvPr/>
          </p:nvSpPr>
          <p:spPr>
            <a:xfrm flipH="1">
              <a:off x="2398720" y="1846836"/>
              <a:ext cx="1177311" cy="1477818"/>
            </a:xfrm>
            <a:prstGeom prst="parallelogram">
              <a:avLst>
                <a:gd name="adj" fmla="val 30862"/>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rPr>
                <a:t>软件设计</a:t>
              </a:r>
            </a:p>
          </p:txBody>
        </p:sp>
        <p:sp>
          <p:nvSpPr>
            <p:cNvPr id="25" name="平行四边形 24">
              <a:extLst>
                <a:ext uri="{FF2B5EF4-FFF2-40B4-BE49-F238E27FC236}">
                  <a16:creationId xmlns:a16="http://schemas.microsoft.com/office/drawing/2014/main" id="{DC483F0E-AFED-2598-E2BD-5E0FAF68DC56}"/>
                </a:ext>
              </a:extLst>
            </p:cNvPr>
            <p:cNvSpPr/>
            <p:nvPr/>
          </p:nvSpPr>
          <p:spPr>
            <a:xfrm>
              <a:off x="2752435" y="2465673"/>
              <a:ext cx="1634838" cy="858981"/>
            </a:xfrm>
            <a:prstGeom prst="parallelogram">
              <a:avLst>
                <a:gd name="adj" fmla="val 87444"/>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grpSp>
      <p:grpSp>
        <p:nvGrpSpPr>
          <p:cNvPr id="26" name="组合 25">
            <a:extLst>
              <a:ext uri="{FF2B5EF4-FFF2-40B4-BE49-F238E27FC236}">
                <a16:creationId xmlns:a16="http://schemas.microsoft.com/office/drawing/2014/main" id="{9323D587-FFC5-2442-BDB1-2F5ECB318705}"/>
              </a:ext>
            </a:extLst>
          </p:cNvPr>
          <p:cNvGrpSpPr/>
          <p:nvPr/>
        </p:nvGrpSpPr>
        <p:grpSpPr>
          <a:xfrm>
            <a:off x="5336350" y="2920563"/>
            <a:ext cx="1988553" cy="1523420"/>
            <a:chOff x="2398720" y="1846836"/>
            <a:chExt cx="1988553" cy="1477818"/>
          </a:xfrm>
        </p:grpSpPr>
        <p:sp>
          <p:nvSpPr>
            <p:cNvPr id="27" name="平行四边形 26">
              <a:extLst>
                <a:ext uri="{FF2B5EF4-FFF2-40B4-BE49-F238E27FC236}">
                  <a16:creationId xmlns:a16="http://schemas.microsoft.com/office/drawing/2014/main" id="{64B15B4E-5E45-60A9-5E78-55740D81DB71}"/>
                </a:ext>
              </a:extLst>
            </p:cNvPr>
            <p:cNvSpPr/>
            <p:nvPr/>
          </p:nvSpPr>
          <p:spPr>
            <a:xfrm flipH="1">
              <a:off x="2398720" y="1846836"/>
              <a:ext cx="1177311" cy="1477818"/>
            </a:xfrm>
            <a:prstGeom prst="parallelogram">
              <a:avLst>
                <a:gd name="adj" fmla="val 30862"/>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rPr>
                <a:t>编码单元测试</a:t>
              </a:r>
            </a:p>
          </p:txBody>
        </p:sp>
        <p:sp>
          <p:nvSpPr>
            <p:cNvPr id="28" name="平行四边形 27">
              <a:extLst>
                <a:ext uri="{FF2B5EF4-FFF2-40B4-BE49-F238E27FC236}">
                  <a16:creationId xmlns:a16="http://schemas.microsoft.com/office/drawing/2014/main" id="{98AF3BEE-ECE6-47AD-3F74-C906EF641DB7}"/>
                </a:ext>
              </a:extLst>
            </p:cNvPr>
            <p:cNvSpPr/>
            <p:nvPr/>
          </p:nvSpPr>
          <p:spPr>
            <a:xfrm>
              <a:off x="2752435" y="2465673"/>
              <a:ext cx="1634838" cy="858981"/>
            </a:xfrm>
            <a:prstGeom prst="parallelogram">
              <a:avLst>
                <a:gd name="adj" fmla="val 87444"/>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grpSp>
      <p:grpSp>
        <p:nvGrpSpPr>
          <p:cNvPr id="29" name="组合 28">
            <a:extLst>
              <a:ext uri="{FF2B5EF4-FFF2-40B4-BE49-F238E27FC236}">
                <a16:creationId xmlns:a16="http://schemas.microsoft.com/office/drawing/2014/main" id="{BE76BA12-F3E9-0798-C987-098CFF7F8DCC}"/>
              </a:ext>
            </a:extLst>
          </p:cNvPr>
          <p:cNvGrpSpPr/>
          <p:nvPr/>
        </p:nvGrpSpPr>
        <p:grpSpPr>
          <a:xfrm>
            <a:off x="6513661" y="3558495"/>
            <a:ext cx="1988553" cy="1523420"/>
            <a:chOff x="2398720" y="1846836"/>
            <a:chExt cx="1988553" cy="1477818"/>
          </a:xfrm>
        </p:grpSpPr>
        <p:sp>
          <p:nvSpPr>
            <p:cNvPr id="30" name="平行四边形 29">
              <a:extLst>
                <a:ext uri="{FF2B5EF4-FFF2-40B4-BE49-F238E27FC236}">
                  <a16:creationId xmlns:a16="http://schemas.microsoft.com/office/drawing/2014/main" id="{D8567612-0AB1-CC40-609E-3D917DF7691A}"/>
                </a:ext>
              </a:extLst>
            </p:cNvPr>
            <p:cNvSpPr/>
            <p:nvPr/>
          </p:nvSpPr>
          <p:spPr>
            <a:xfrm flipH="1">
              <a:off x="2398720" y="1846836"/>
              <a:ext cx="1177311" cy="1477818"/>
            </a:xfrm>
            <a:prstGeom prst="parallelogram">
              <a:avLst>
                <a:gd name="adj" fmla="val 30862"/>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rPr>
                <a:t>软件集成测试</a:t>
              </a:r>
            </a:p>
          </p:txBody>
        </p:sp>
        <p:sp>
          <p:nvSpPr>
            <p:cNvPr id="31" name="平行四边形 30">
              <a:extLst>
                <a:ext uri="{FF2B5EF4-FFF2-40B4-BE49-F238E27FC236}">
                  <a16:creationId xmlns:a16="http://schemas.microsoft.com/office/drawing/2014/main" id="{E732723F-E8BE-D6B4-EFE0-A687D081D426}"/>
                </a:ext>
              </a:extLst>
            </p:cNvPr>
            <p:cNvSpPr/>
            <p:nvPr/>
          </p:nvSpPr>
          <p:spPr>
            <a:xfrm>
              <a:off x="2752435" y="2465673"/>
              <a:ext cx="1634838" cy="858981"/>
            </a:xfrm>
            <a:prstGeom prst="parallelogram">
              <a:avLst>
                <a:gd name="adj" fmla="val 87444"/>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grpSp>
      <p:grpSp>
        <p:nvGrpSpPr>
          <p:cNvPr id="32" name="组合 31">
            <a:extLst>
              <a:ext uri="{FF2B5EF4-FFF2-40B4-BE49-F238E27FC236}">
                <a16:creationId xmlns:a16="http://schemas.microsoft.com/office/drawing/2014/main" id="{3ABCBA22-189B-8255-CF47-ED83887BBCF5}"/>
              </a:ext>
            </a:extLst>
          </p:cNvPr>
          <p:cNvGrpSpPr/>
          <p:nvPr/>
        </p:nvGrpSpPr>
        <p:grpSpPr>
          <a:xfrm>
            <a:off x="7715683" y="4196428"/>
            <a:ext cx="1988553" cy="1523420"/>
            <a:chOff x="2398720" y="1846836"/>
            <a:chExt cx="1988553" cy="1477818"/>
          </a:xfrm>
        </p:grpSpPr>
        <p:sp>
          <p:nvSpPr>
            <p:cNvPr id="33" name="平行四边形 32">
              <a:extLst>
                <a:ext uri="{FF2B5EF4-FFF2-40B4-BE49-F238E27FC236}">
                  <a16:creationId xmlns:a16="http://schemas.microsoft.com/office/drawing/2014/main" id="{27B74EAE-C000-AA09-662C-F9D3B7696620}"/>
                </a:ext>
              </a:extLst>
            </p:cNvPr>
            <p:cNvSpPr/>
            <p:nvPr/>
          </p:nvSpPr>
          <p:spPr>
            <a:xfrm flipH="1">
              <a:off x="2398720" y="1846836"/>
              <a:ext cx="1177311" cy="1477818"/>
            </a:xfrm>
            <a:prstGeom prst="parallelogram">
              <a:avLst>
                <a:gd name="adj" fmla="val 30862"/>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rPr>
                <a:t>验收测试</a:t>
              </a:r>
            </a:p>
          </p:txBody>
        </p:sp>
        <p:sp>
          <p:nvSpPr>
            <p:cNvPr id="34" name="平行四边形 33">
              <a:extLst>
                <a:ext uri="{FF2B5EF4-FFF2-40B4-BE49-F238E27FC236}">
                  <a16:creationId xmlns:a16="http://schemas.microsoft.com/office/drawing/2014/main" id="{511CB892-D84E-BD89-8392-211A88C2CA60}"/>
                </a:ext>
              </a:extLst>
            </p:cNvPr>
            <p:cNvSpPr/>
            <p:nvPr/>
          </p:nvSpPr>
          <p:spPr>
            <a:xfrm>
              <a:off x="2752435" y="2465673"/>
              <a:ext cx="1634838" cy="858981"/>
            </a:xfrm>
            <a:prstGeom prst="parallelogram">
              <a:avLst>
                <a:gd name="adj" fmla="val 87444"/>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grpSp>
      <p:sp>
        <p:nvSpPr>
          <p:cNvPr id="41" name="任意多边形: 形状 40">
            <a:extLst>
              <a:ext uri="{FF2B5EF4-FFF2-40B4-BE49-F238E27FC236}">
                <a16:creationId xmlns:a16="http://schemas.microsoft.com/office/drawing/2014/main" id="{19526FA7-2342-1A50-B69C-B164FE118643}"/>
              </a:ext>
            </a:extLst>
          </p:cNvPr>
          <p:cNvSpPr/>
          <p:nvPr/>
        </p:nvSpPr>
        <p:spPr>
          <a:xfrm flipH="1">
            <a:off x="8868283" y="4834361"/>
            <a:ext cx="1384888" cy="1582848"/>
          </a:xfrm>
          <a:custGeom>
            <a:avLst/>
            <a:gdLst>
              <a:gd name="csX0" fmla="*/ 1384888 w 1384888"/>
              <a:gd name="csY0" fmla="*/ 0 h 1535467"/>
              <a:gd name="csX1" fmla="*/ 540887 w 1384888"/>
              <a:gd name="csY1" fmla="*/ 0 h 1535467"/>
              <a:gd name="csX2" fmla="*/ 282233 w 1384888"/>
              <a:gd name="csY2" fmla="*/ 838100 h 1535467"/>
              <a:gd name="csX3" fmla="*/ 0 w 1384888"/>
              <a:gd name="csY3" fmla="*/ 760862 h 1535467"/>
              <a:gd name="csX4" fmla="*/ 442914 w 1384888"/>
              <a:gd name="csY4" fmla="*/ 1535467 h 1535467"/>
              <a:gd name="csX5" fmla="*/ 1218534 w 1384888"/>
              <a:gd name="csY5" fmla="*/ 1094332 h 1535467"/>
              <a:gd name="csX6" fmla="*/ 1060502 w 1384888"/>
              <a:gd name="csY6" fmla="*/ 1051084 h 153546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84888" h="1535467">
                <a:moveTo>
                  <a:pt x="1384888" y="0"/>
                </a:moveTo>
                <a:lnTo>
                  <a:pt x="540887" y="0"/>
                </a:lnTo>
                <a:lnTo>
                  <a:pt x="282233" y="838100"/>
                </a:lnTo>
                <a:lnTo>
                  <a:pt x="0" y="760862"/>
                </a:lnTo>
                <a:lnTo>
                  <a:pt x="442914" y="1535467"/>
                </a:lnTo>
                <a:lnTo>
                  <a:pt x="1218534" y="1094332"/>
                </a:lnTo>
                <a:lnTo>
                  <a:pt x="1060502" y="1051084"/>
                </a:lnTo>
                <a:close/>
              </a:path>
            </a:pathLst>
          </a:cu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bg1"/>
                </a:solidFill>
              </a:rPr>
              <a:t>维护</a:t>
            </a:r>
          </a:p>
        </p:txBody>
      </p:sp>
      <p:sp>
        <p:nvSpPr>
          <p:cNvPr id="44" name="文本框 43">
            <a:extLst>
              <a:ext uri="{FF2B5EF4-FFF2-40B4-BE49-F238E27FC236}">
                <a16:creationId xmlns:a16="http://schemas.microsoft.com/office/drawing/2014/main" id="{14854852-4B35-33BA-87A6-CF6A35942850}"/>
              </a:ext>
            </a:extLst>
          </p:cNvPr>
          <p:cNvSpPr txBox="1"/>
          <p:nvPr/>
        </p:nvSpPr>
        <p:spPr>
          <a:xfrm>
            <a:off x="2954119" y="1269974"/>
            <a:ext cx="902811" cy="307777"/>
          </a:xfrm>
          <a:prstGeom prst="rect">
            <a:avLst/>
          </a:prstGeom>
          <a:noFill/>
        </p:spPr>
        <p:txBody>
          <a:bodyPr wrap="none" rtlCol="0">
            <a:spAutoFit/>
          </a:bodyPr>
          <a:lstStyle/>
          <a:p>
            <a:r>
              <a:rPr lang="zh-CN" altLang="en-US" sz="1400" dirty="0"/>
              <a:t>系统需求</a:t>
            </a:r>
          </a:p>
        </p:txBody>
      </p:sp>
      <p:sp>
        <p:nvSpPr>
          <p:cNvPr id="47" name="矩形 46">
            <a:extLst>
              <a:ext uri="{FF2B5EF4-FFF2-40B4-BE49-F238E27FC236}">
                <a16:creationId xmlns:a16="http://schemas.microsoft.com/office/drawing/2014/main" id="{74A1325E-6C6A-2271-8C33-C44B5C533F46}"/>
              </a:ext>
            </a:extLst>
          </p:cNvPr>
          <p:cNvSpPr/>
          <p:nvPr/>
        </p:nvSpPr>
        <p:spPr>
          <a:xfrm>
            <a:off x="3006436" y="1583133"/>
            <a:ext cx="792000" cy="36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
        <p:nvSpPr>
          <p:cNvPr id="48" name="文本框 47">
            <a:extLst>
              <a:ext uri="{FF2B5EF4-FFF2-40B4-BE49-F238E27FC236}">
                <a16:creationId xmlns:a16="http://schemas.microsoft.com/office/drawing/2014/main" id="{986E3363-0D18-78B9-B640-8AF2E31FCFBF}"/>
              </a:ext>
            </a:extLst>
          </p:cNvPr>
          <p:cNvSpPr txBox="1"/>
          <p:nvPr/>
        </p:nvSpPr>
        <p:spPr>
          <a:xfrm>
            <a:off x="4128727" y="1920689"/>
            <a:ext cx="902811" cy="307777"/>
          </a:xfrm>
          <a:prstGeom prst="rect">
            <a:avLst/>
          </a:prstGeom>
          <a:noFill/>
        </p:spPr>
        <p:txBody>
          <a:bodyPr wrap="none" rtlCol="0">
            <a:spAutoFit/>
          </a:bodyPr>
          <a:lstStyle/>
          <a:p>
            <a:r>
              <a:rPr lang="zh-CN" altLang="en-US" sz="1400" dirty="0"/>
              <a:t>软件需求</a:t>
            </a:r>
          </a:p>
        </p:txBody>
      </p:sp>
      <p:sp>
        <p:nvSpPr>
          <p:cNvPr id="49" name="矩形 48">
            <a:extLst>
              <a:ext uri="{FF2B5EF4-FFF2-40B4-BE49-F238E27FC236}">
                <a16:creationId xmlns:a16="http://schemas.microsoft.com/office/drawing/2014/main" id="{06526850-2DAD-012F-8CF7-A670A3F7FD82}"/>
              </a:ext>
            </a:extLst>
          </p:cNvPr>
          <p:cNvSpPr/>
          <p:nvPr/>
        </p:nvSpPr>
        <p:spPr>
          <a:xfrm>
            <a:off x="4181044" y="2233848"/>
            <a:ext cx="792000" cy="36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
        <p:nvSpPr>
          <p:cNvPr id="50" name="文本框 49">
            <a:extLst>
              <a:ext uri="{FF2B5EF4-FFF2-40B4-BE49-F238E27FC236}">
                <a16:creationId xmlns:a16="http://schemas.microsoft.com/office/drawing/2014/main" id="{2CC552C1-D3CC-0812-D40D-98C121725989}"/>
              </a:ext>
            </a:extLst>
          </p:cNvPr>
          <p:cNvSpPr txBox="1"/>
          <p:nvPr/>
        </p:nvSpPr>
        <p:spPr>
          <a:xfrm>
            <a:off x="5110277" y="2530184"/>
            <a:ext cx="1261885" cy="307777"/>
          </a:xfrm>
          <a:prstGeom prst="rect">
            <a:avLst/>
          </a:prstGeom>
          <a:noFill/>
        </p:spPr>
        <p:txBody>
          <a:bodyPr wrap="none" rtlCol="0">
            <a:spAutoFit/>
          </a:bodyPr>
          <a:lstStyle/>
          <a:p>
            <a:pPr algn="ctr"/>
            <a:r>
              <a:rPr lang="zh-CN" altLang="en-US" sz="1400" dirty="0"/>
              <a:t>设计规格说明</a:t>
            </a:r>
          </a:p>
        </p:txBody>
      </p:sp>
      <p:sp>
        <p:nvSpPr>
          <p:cNvPr id="51" name="矩形 50">
            <a:extLst>
              <a:ext uri="{FF2B5EF4-FFF2-40B4-BE49-F238E27FC236}">
                <a16:creationId xmlns:a16="http://schemas.microsoft.com/office/drawing/2014/main" id="{EEC41E26-6602-68A6-C5AF-026659D7EF06}"/>
              </a:ext>
            </a:extLst>
          </p:cNvPr>
          <p:cNvSpPr/>
          <p:nvPr/>
        </p:nvSpPr>
        <p:spPr>
          <a:xfrm>
            <a:off x="5342131" y="2843343"/>
            <a:ext cx="792000" cy="36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
        <p:nvSpPr>
          <p:cNvPr id="52" name="文本框 51">
            <a:extLst>
              <a:ext uri="{FF2B5EF4-FFF2-40B4-BE49-F238E27FC236}">
                <a16:creationId xmlns:a16="http://schemas.microsoft.com/office/drawing/2014/main" id="{53E9D4B5-69F6-B591-9F6C-38E200E972A9}"/>
              </a:ext>
            </a:extLst>
          </p:cNvPr>
          <p:cNvSpPr txBox="1"/>
          <p:nvPr/>
        </p:nvSpPr>
        <p:spPr>
          <a:xfrm>
            <a:off x="6640467" y="3188726"/>
            <a:ext cx="543739" cy="307777"/>
          </a:xfrm>
          <a:prstGeom prst="rect">
            <a:avLst/>
          </a:prstGeom>
          <a:noFill/>
        </p:spPr>
        <p:txBody>
          <a:bodyPr wrap="none" rtlCol="0">
            <a:spAutoFit/>
          </a:bodyPr>
          <a:lstStyle/>
          <a:p>
            <a:pPr algn="ctr"/>
            <a:r>
              <a:rPr lang="zh-CN" altLang="en-US" sz="1400" dirty="0"/>
              <a:t>代码</a:t>
            </a:r>
          </a:p>
        </p:txBody>
      </p:sp>
      <p:sp>
        <p:nvSpPr>
          <p:cNvPr id="53" name="矩形 52">
            <a:extLst>
              <a:ext uri="{FF2B5EF4-FFF2-40B4-BE49-F238E27FC236}">
                <a16:creationId xmlns:a16="http://schemas.microsoft.com/office/drawing/2014/main" id="{37356441-983D-9824-06AA-1EC2DDE73E68}"/>
              </a:ext>
            </a:extLst>
          </p:cNvPr>
          <p:cNvSpPr/>
          <p:nvPr/>
        </p:nvSpPr>
        <p:spPr>
          <a:xfrm>
            <a:off x="6513248" y="3501885"/>
            <a:ext cx="792000" cy="36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
        <p:nvSpPr>
          <p:cNvPr id="54" name="文本框 53">
            <a:extLst>
              <a:ext uri="{FF2B5EF4-FFF2-40B4-BE49-F238E27FC236}">
                <a16:creationId xmlns:a16="http://schemas.microsoft.com/office/drawing/2014/main" id="{1CFEEFAE-9381-6EA1-35AA-EF207CAEE074}"/>
              </a:ext>
            </a:extLst>
          </p:cNvPr>
          <p:cNvSpPr txBox="1"/>
          <p:nvPr/>
        </p:nvSpPr>
        <p:spPr>
          <a:xfrm>
            <a:off x="7480542" y="3824522"/>
            <a:ext cx="1261885" cy="307777"/>
          </a:xfrm>
          <a:prstGeom prst="rect">
            <a:avLst/>
          </a:prstGeom>
          <a:noFill/>
        </p:spPr>
        <p:txBody>
          <a:bodyPr wrap="none" rtlCol="0">
            <a:spAutoFit/>
          </a:bodyPr>
          <a:lstStyle/>
          <a:p>
            <a:pPr algn="ctr"/>
            <a:r>
              <a:rPr lang="zh-CN" altLang="en-US" sz="1400" dirty="0"/>
              <a:t>待交付的产品</a:t>
            </a:r>
          </a:p>
        </p:txBody>
      </p:sp>
      <p:sp>
        <p:nvSpPr>
          <p:cNvPr id="55" name="矩形 54">
            <a:extLst>
              <a:ext uri="{FF2B5EF4-FFF2-40B4-BE49-F238E27FC236}">
                <a16:creationId xmlns:a16="http://schemas.microsoft.com/office/drawing/2014/main" id="{450D3901-E3E2-C202-92AE-6586FB76B142}"/>
              </a:ext>
            </a:extLst>
          </p:cNvPr>
          <p:cNvSpPr/>
          <p:nvPr/>
        </p:nvSpPr>
        <p:spPr>
          <a:xfrm>
            <a:off x="7712396" y="4137681"/>
            <a:ext cx="792000" cy="36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
        <p:nvSpPr>
          <p:cNvPr id="56" name="文本框 55">
            <a:extLst>
              <a:ext uri="{FF2B5EF4-FFF2-40B4-BE49-F238E27FC236}">
                <a16:creationId xmlns:a16="http://schemas.microsoft.com/office/drawing/2014/main" id="{42F3E4FD-1B0E-E4A9-E4B1-85D0ABC92D9F}"/>
              </a:ext>
            </a:extLst>
          </p:cNvPr>
          <p:cNvSpPr txBox="1"/>
          <p:nvPr/>
        </p:nvSpPr>
        <p:spPr>
          <a:xfrm>
            <a:off x="8744851" y="4473912"/>
            <a:ext cx="1082349" cy="307777"/>
          </a:xfrm>
          <a:prstGeom prst="rect">
            <a:avLst/>
          </a:prstGeom>
          <a:noFill/>
        </p:spPr>
        <p:txBody>
          <a:bodyPr wrap="none" rtlCol="0">
            <a:spAutoFit/>
          </a:bodyPr>
          <a:lstStyle/>
          <a:p>
            <a:pPr algn="ctr"/>
            <a:r>
              <a:rPr lang="zh-CN" altLang="en-US" sz="1400" dirty="0"/>
              <a:t>交付的产品</a:t>
            </a:r>
          </a:p>
        </p:txBody>
      </p:sp>
      <p:sp>
        <p:nvSpPr>
          <p:cNvPr id="57" name="矩形 56">
            <a:extLst>
              <a:ext uri="{FF2B5EF4-FFF2-40B4-BE49-F238E27FC236}">
                <a16:creationId xmlns:a16="http://schemas.microsoft.com/office/drawing/2014/main" id="{934D2CAE-B6D1-16C2-392F-9C0D37B8EA8C}"/>
              </a:ext>
            </a:extLst>
          </p:cNvPr>
          <p:cNvSpPr/>
          <p:nvPr/>
        </p:nvSpPr>
        <p:spPr>
          <a:xfrm>
            <a:off x="8886937" y="4787071"/>
            <a:ext cx="792000" cy="36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Tree>
    <p:extLst>
      <p:ext uri="{BB962C8B-B14F-4D97-AF65-F5344CB8AC3E}">
        <p14:creationId xmlns:p14="http://schemas.microsoft.com/office/powerpoint/2010/main" val="1592983010"/>
      </p:ext>
    </p:extLst>
  </p:cSld>
  <p:clrMapOvr>
    <a:masterClrMapping/>
  </p:clrMapOvr>
</p:sld>
</file>

<file path=ppt/slides/slide3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8658B3-69CF-2ECC-1F95-E69CD80699BC}"/>
              </a:ext>
            </a:extLst>
          </p:cNvPr>
          <p:cNvSpPr>
            <a:spLocks noGrp="1"/>
          </p:cNvSpPr>
          <p:nvPr>
            <p:ph type="title"/>
          </p:nvPr>
        </p:nvSpPr>
        <p:spPr>
          <a:xfrm>
            <a:off x="792000" y="360000"/>
            <a:ext cx="6375921" cy="429413"/>
          </a:xfrm>
        </p:spPr>
        <p:txBody>
          <a:bodyPr/>
          <a:lstStyle/>
          <a:p>
            <a:r>
              <a:rPr lang="en-US" altLang="zh-CN" dirty="0"/>
              <a:t>1.4 </a:t>
            </a:r>
            <a:r>
              <a:rPr lang="zh-CN" altLang="en-US" dirty="0"/>
              <a:t>变更控制委员会</a:t>
            </a:r>
          </a:p>
        </p:txBody>
      </p:sp>
      <p:sp>
        <p:nvSpPr>
          <p:cNvPr id="6" name="内容占位符 5">
            <a:extLst>
              <a:ext uri="{FF2B5EF4-FFF2-40B4-BE49-F238E27FC236}">
                <a16:creationId xmlns:a16="http://schemas.microsoft.com/office/drawing/2014/main" id="{E1BAE254-773A-CAE3-2062-04B030AB2D28}"/>
              </a:ext>
            </a:extLst>
          </p:cNvPr>
          <p:cNvSpPr>
            <a:spLocks noGrp="1"/>
          </p:cNvSpPr>
          <p:nvPr>
            <p:ph idx="1"/>
          </p:nvPr>
        </p:nvSpPr>
        <p:spPr>
          <a:xfrm>
            <a:off x="696000" y="864000"/>
            <a:ext cx="10800000" cy="5400000"/>
          </a:xfrm>
        </p:spPr>
        <p:txBody>
          <a:bodyPr>
            <a:normAutofit/>
          </a:bodyPr>
          <a:lstStyle/>
          <a:p>
            <a:r>
              <a:rPr lang="zh-CN" altLang="en-US" dirty="0"/>
              <a:t>组成</a:t>
            </a:r>
            <a:endParaRPr lang="en-US" altLang="zh-CN" dirty="0"/>
          </a:p>
          <a:p>
            <a:pPr lvl="1"/>
            <a:r>
              <a:rPr lang="zh-CN" altLang="en-US" dirty="0"/>
              <a:t>产品经理 </a:t>
            </a:r>
            <a:r>
              <a:rPr lang="en-US" altLang="zh-CN" dirty="0"/>
              <a:t>a product manager/</a:t>
            </a:r>
            <a:r>
              <a:rPr lang="zh-CN" altLang="en-US" dirty="0"/>
              <a:t>做什么和为什么做</a:t>
            </a:r>
            <a:endParaRPr lang="en-US" altLang="zh-CN" dirty="0"/>
          </a:p>
          <a:p>
            <a:pPr lvl="1"/>
            <a:r>
              <a:rPr lang="zh-CN" altLang="en-US" dirty="0"/>
              <a:t>项目经理 </a:t>
            </a:r>
            <a:r>
              <a:rPr lang="en-US" altLang="zh-CN" dirty="0"/>
              <a:t>the project manager/</a:t>
            </a:r>
            <a:r>
              <a:rPr lang="zh-CN" altLang="en-US" dirty="0"/>
              <a:t>按时按质交付</a:t>
            </a:r>
            <a:endParaRPr lang="en-US" altLang="zh-CN" dirty="0"/>
          </a:p>
          <a:p>
            <a:pPr lvl="1"/>
            <a:r>
              <a:rPr lang="zh-CN" altLang="en-US" dirty="0"/>
              <a:t>开发经理 </a:t>
            </a:r>
            <a:r>
              <a:rPr lang="en-US" altLang="zh-CN" dirty="0"/>
              <a:t>the development manager/</a:t>
            </a:r>
            <a:r>
              <a:rPr lang="zh-CN" altLang="en-US" dirty="0"/>
              <a:t>怎么做和技术实现</a:t>
            </a:r>
            <a:endParaRPr lang="en-US" altLang="zh-CN" dirty="0"/>
          </a:p>
          <a:p>
            <a:pPr lvl="1"/>
            <a:r>
              <a:rPr lang="zh-CN" altLang="en-US" dirty="0"/>
              <a:t>测试经理 </a:t>
            </a:r>
            <a:r>
              <a:rPr lang="en-US" altLang="zh-CN" dirty="0"/>
              <a:t>a test manager/</a:t>
            </a:r>
            <a:r>
              <a:rPr lang="zh-CN" altLang="en-US" dirty="0"/>
              <a:t>质量把关</a:t>
            </a:r>
            <a:endParaRPr lang="en-US" altLang="zh-CN" dirty="0"/>
          </a:p>
          <a:p>
            <a:pPr lvl="1"/>
            <a:r>
              <a:rPr lang="zh-CN" altLang="en-US" dirty="0"/>
              <a:t>干系人 </a:t>
            </a:r>
            <a:r>
              <a:rPr lang="en-US" altLang="zh-CN" dirty="0"/>
              <a:t>In some cases, stakeholders are also involved.</a:t>
            </a:r>
          </a:p>
          <a:p>
            <a:r>
              <a:rPr lang="zh-CN" altLang="en-US" dirty="0"/>
              <a:t>涉及的主体</a:t>
            </a:r>
            <a:endParaRPr lang="en-US" altLang="zh-CN" dirty="0"/>
          </a:p>
          <a:p>
            <a:pPr lvl="1"/>
            <a:r>
              <a:rPr lang="zh-CN" altLang="en-US" dirty="0"/>
              <a:t>任何干系人 </a:t>
            </a:r>
            <a:r>
              <a:rPr lang="en-US" altLang="zh-CN" dirty="0"/>
              <a:t>Stakeholder</a:t>
            </a:r>
            <a:r>
              <a:rPr lang="zh-CN" altLang="en-US" dirty="0"/>
              <a:t>：提出变更申请</a:t>
            </a:r>
          </a:p>
          <a:p>
            <a:pPr lvl="1"/>
            <a:r>
              <a:rPr lang="zh-CN" altLang="en-US" dirty="0"/>
              <a:t>项目经理 </a:t>
            </a:r>
            <a:r>
              <a:rPr lang="en-US" altLang="zh-CN" dirty="0"/>
              <a:t>Project Manager</a:t>
            </a:r>
            <a:r>
              <a:rPr lang="zh-CN" altLang="en-US" dirty="0"/>
              <a:t>：影响分析；召开变更委员会会议、实施变更</a:t>
            </a:r>
          </a:p>
          <a:p>
            <a:pPr lvl="1"/>
            <a:r>
              <a:rPr lang="zh-CN" altLang="en-US" dirty="0"/>
              <a:t>变更控制委员会 </a:t>
            </a:r>
            <a:r>
              <a:rPr lang="en-US" altLang="zh-CN" dirty="0">
                <a:hlinkClick r:id="rId3"/>
              </a:rPr>
              <a:t>CCB</a:t>
            </a:r>
            <a:r>
              <a:rPr lang="zh-CN" altLang="en-US" dirty="0"/>
              <a:t>，</a:t>
            </a:r>
            <a:r>
              <a:rPr lang="en-US" altLang="zh-CN" dirty="0"/>
              <a:t>Change Control Board</a:t>
            </a:r>
            <a:r>
              <a:rPr lang="zh-CN" altLang="en-US" dirty="0"/>
              <a:t>：决策机构；双方决策人；审查、评价、批准</a:t>
            </a:r>
          </a:p>
        </p:txBody>
      </p:sp>
      <p:sp>
        <p:nvSpPr>
          <p:cNvPr id="7" name="文本占位符 6">
            <a:extLst>
              <a:ext uri="{FF2B5EF4-FFF2-40B4-BE49-F238E27FC236}">
                <a16:creationId xmlns:a16="http://schemas.microsoft.com/office/drawing/2014/main" id="{E2D503BF-DB9B-AC36-7D7D-02639E3B5FED}"/>
              </a:ext>
            </a:extLst>
          </p:cNvPr>
          <p:cNvSpPr>
            <a:spLocks noGrp="1"/>
          </p:cNvSpPr>
          <p:nvPr>
            <p:ph type="body" sz="quarter" idx="10"/>
          </p:nvPr>
        </p:nvSpPr>
        <p:spPr>
          <a:xfrm>
            <a:off x="7071919" y="448519"/>
            <a:ext cx="4424080" cy="338554"/>
          </a:xfrm>
        </p:spPr>
        <p:txBody>
          <a:bodyPr/>
          <a:lstStyle/>
          <a:p>
            <a:r>
              <a:rPr lang="en-US" altLang="zh-CN" dirty="0"/>
              <a:t>CCB</a:t>
            </a:r>
            <a:endParaRPr lang="zh-CN" altLang="en-US" dirty="0"/>
          </a:p>
        </p:txBody>
      </p:sp>
    </p:spTree>
    <p:extLst>
      <p:ext uri="{BB962C8B-B14F-4D97-AF65-F5344CB8AC3E}">
        <p14:creationId xmlns:p14="http://schemas.microsoft.com/office/powerpoint/2010/main" val="60234605"/>
      </p:ext>
    </p:extLst>
  </p:cSld>
  <p:clrMapOvr>
    <a:masterClrMapping/>
  </p:clrMapOvr>
</p:sld>
</file>

<file path=ppt/slides/slide3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51D514-00FE-E004-1C00-3F834A0C945F}"/>
              </a:ext>
            </a:extLst>
          </p:cNvPr>
          <p:cNvSpPr>
            <a:spLocks noGrp="1"/>
          </p:cNvSpPr>
          <p:nvPr>
            <p:ph type="title"/>
          </p:nvPr>
        </p:nvSpPr>
        <p:spPr>
          <a:xfrm>
            <a:off x="792000" y="360000"/>
            <a:ext cx="6375921" cy="429413"/>
          </a:xfrm>
        </p:spPr>
        <p:txBody>
          <a:bodyPr/>
          <a:lstStyle/>
          <a:p>
            <a:r>
              <a:rPr lang="en-US" altLang="zh-CN" dirty="0"/>
              <a:t>2. </a:t>
            </a:r>
            <a:r>
              <a:rPr lang="zh-CN" altLang="en-US" dirty="0"/>
              <a:t>配置管理过程</a:t>
            </a:r>
          </a:p>
        </p:txBody>
      </p:sp>
      <p:sp>
        <p:nvSpPr>
          <p:cNvPr id="4" name="内容占位符 3">
            <a:extLst>
              <a:ext uri="{FF2B5EF4-FFF2-40B4-BE49-F238E27FC236}">
                <a16:creationId xmlns:a16="http://schemas.microsoft.com/office/drawing/2014/main" id="{94BCAA0A-ED8D-032F-C778-3ABB4C464BFD}"/>
              </a:ext>
            </a:extLst>
          </p:cNvPr>
          <p:cNvSpPr>
            <a:spLocks noGrp="1"/>
          </p:cNvSpPr>
          <p:nvPr>
            <p:ph idx="1"/>
          </p:nvPr>
        </p:nvSpPr>
        <p:spPr/>
        <p:txBody>
          <a:bodyPr/>
          <a:lstStyle/>
          <a:p>
            <a:endParaRPr lang="zh-CN" altLang="en-US"/>
          </a:p>
        </p:txBody>
      </p:sp>
      <p:sp>
        <p:nvSpPr>
          <p:cNvPr id="5" name="文本占位符 4">
            <a:extLst>
              <a:ext uri="{FF2B5EF4-FFF2-40B4-BE49-F238E27FC236}">
                <a16:creationId xmlns:a16="http://schemas.microsoft.com/office/drawing/2014/main" id="{B57A0425-C589-76F2-0281-437050F44847}"/>
              </a:ext>
            </a:extLst>
          </p:cNvPr>
          <p:cNvSpPr>
            <a:spLocks noGrp="1"/>
          </p:cNvSpPr>
          <p:nvPr>
            <p:ph type="body" sz="quarter" idx="10"/>
          </p:nvPr>
        </p:nvSpPr>
        <p:spPr/>
        <p:txBody>
          <a:bodyPr/>
          <a:lstStyle/>
          <a:p>
            <a:endParaRPr lang="zh-CN" altLang="en-US"/>
          </a:p>
        </p:txBody>
      </p:sp>
      <p:sp>
        <p:nvSpPr>
          <p:cNvPr id="19" name="平行四边形 18">
            <a:extLst>
              <a:ext uri="{FF2B5EF4-FFF2-40B4-BE49-F238E27FC236}">
                <a16:creationId xmlns:a16="http://schemas.microsoft.com/office/drawing/2014/main" id="{0446299F-6C30-B2D2-9684-91F75EE96970}"/>
              </a:ext>
            </a:extLst>
          </p:cNvPr>
          <p:cNvSpPr/>
          <p:nvPr/>
        </p:nvSpPr>
        <p:spPr>
          <a:xfrm>
            <a:off x="1459635" y="3064453"/>
            <a:ext cx="1681020" cy="1431681"/>
          </a:xfrm>
          <a:prstGeom prst="parallelogram">
            <a:avLst>
              <a:gd name="adj" fmla="val 52152"/>
            </a:avLst>
          </a:prstGeom>
          <a:solidFill>
            <a:srgbClr val="E474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endParaRPr>
          </a:p>
        </p:txBody>
      </p:sp>
      <p:sp>
        <p:nvSpPr>
          <p:cNvPr id="20" name="平行四边形 19">
            <a:extLst>
              <a:ext uri="{FF2B5EF4-FFF2-40B4-BE49-F238E27FC236}">
                <a16:creationId xmlns:a16="http://schemas.microsoft.com/office/drawing/2014/main" id="{73618136-E1C1-1B75-4102-992DCD362778}"/>
              </a:ext>
            </a:extLst>
          </p:cNvPr>
          <p:cNvSpPr/>
          <p:nvPr/>
        </p:nvSpPr>
        <p:spPr>
          <a:xfrm flipH="1">
            <a:off x="619125" y="3064452"/>
            <a:ext cx="1681020" cy="1431681"/>
          </a:xfrm>
          <a:prstGeom prst="parallelogram">
            <a:avLst>
              <a:gd name="adj" fmla="val 52152"/>
            </a:avLst>
          </a:prstGeom>
          <a:solidFill>
            <a:srgbClr val="FDBC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bg1"/>
                </a:solidFill>
              </a:rPr>
              <a:t>01</a:t>
            </a:r>
            <a:endParaRPr lang="zh-CN" altLang="en-US" sz="2400" b="1" dirty="0">
              <a:solidFill>
                <a:schemeClr val="bg1"/>
              </a:solidFill>
            </a:endParaRPr>
          </a:p>
        </p:txBody>
      </p:sp>
      <p:sp>
        <p:nvSpPr>
          <p:cNvPr id="23" name="平行四边形 22">
            <a:extLst>
              <a:ext uri="{FF2B5EF4-FFF2-40B4-BE49-F238E27FC236}">
                <a16:creationId xmlns:a16="http://schemas.microsoft.com/office/drawing/2014/main" id="{5BCE5AA1-F837-8197-E78F-D5ADC0DBF252}"/>
              </a:ext>
            </a:extLst>
          </p:cNvPr>
          <p:cNvSpPr/>
          <p:nvPr/>
        </p:nvSpPr>
        <p:spPr>
          <a:xfrm>
            <a:off x="3038517" y="3064452"/>
            <a:ext cx="1681020" cy="1431681"/>
          </a:xfrm>
          <a:prstGeom prst="parallelogram">
            <a:avLst>
              <a:gd name="adj" fmla="val 52152"/>
            </a:avLst>
          </a:prstGeom>
          <a:solidFill>
            <a:srgbClr val="E474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endParaRPr>
          </a:p>
        </p:txBody>
      </p:sp>
      <p:sp>
        <p:nvSpPr>
          <p:cNvPr id="24" name="平行四边形 23">
            <a:extLst>
              <a:ext uri="{FF2B5EF4-FFF2-40B4-BE49-F238E27FC236}">
                <a16:creationId xmlns:a16="http://schemas.microsoft.com/office/drawing/2014/main" id="{6712063E-B3A8-3A7D-2F8D-DC2B38BFB755}"/>
              </a:ext>
            </a:extLst>
          </p:cNvPr>
          <p:cNvSpPr/>
          <p:nvPr/>
        </p:nvSpPr>
        <p:spPr>
          <a:xfrm flipH="1">
            <a:off x="2198007" y="3064451"/>
            <a:ext cx="1681020" cy="1431681"/>
          </a:xfrm>
          <a:prstGeom prst="parallelogram">
            <a:avLst>
              <a:gd name="adj" fmla="val 52152"/>
            </a:avLst>
          </a:prstGeom>
          <a:solidFill>
            <a:srgbClr val="FDBC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bg1"/>
                </a:solidFill>
              </a:rPr>
              <a:t>02</a:t>
            </a:r>
            <a:endParaRPr lang="zh-CN" altLang="en-US" sz="2400" b="1" dirty="0">
              <a:solidFill>
                <a:schemeClr val="bg1"/>
              </a:solidFill>
            </a:endParaRPr>
          </a:p>
        </p:txBody>
      </p:sp>
      <p:sp>
        <p:nvSpPr>
          <p:cNvPr id="26" name="平行四边形 25">
            <a:extLst>
              <a:ext uri="{FF2B5EF4-FFF2-40B4-BE49-F238E27FC236}">
                <a16:creationId xmlns:a16="http://schemas.microsoft.com/office/drawing/2014/main" id="{159D9F86-52A2-9CBC-7F40-5706FC30A4A6}"/>
              </a:ext>
            </a:extLst>
          </p:cNvPr>
          <p:cNvSpPr/>
          <p:nvPr/>
        </p:nvSpPr>
        <p:spPr>
          <a:xfrm>
            <a:off x="4648129" y="3064451"/>
            <a:ext cx="1681020" cy="1431681"/>
          </a:xfrm>
          <a:prstGeom prst="parallelogram">
            <a:avLst>
              <a:gd name="adj" fmla="val 52152"/>
            </a:avLst>
          </a:prstGeom>
          <a:solidFill>
            <a:srgbClr val="E474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endParaRPr>
          </a:p>
        </p:txBody>
      </p:sp>
      <p:sp>
        <p:nvSpPr>
          <p:cNvPr id="27" name="平行四边形 26">
            <a:extLst>
              <a:ext uri="{FF2B5EF4-FFF2-40B4-BE49-F238E27FC236}">
                <a16:creationId xmlns:a16="http://schemas.microsoft.com/office/drawing/2014/main" id="{FB98341C-BBA4-2C0F-2DA6-DE6AB744E17E}"/>
              </a:ext>
            </a:extLst>
          </p:cNvPr>
          <p:cNvSpPr/>
          <p:nvPr/>
        </p:nvSpPr>
        <p:spPr>
          <a:xfrm flipH="1">
            <a:off x="3807619" y="3064450"/>
            <a:ext cx="1681020" cy="1431681"/>
          </a:xfrm>
          <a:prstGeom prst="parallelogram">
            <a:avLst>
              <a:gd name="adj" fmla="val 52152"/>
            </a:avLst>
          </a:prstGeom>
          <a:solidFill>
            <a:srgbClr val="FDBC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bg1"/>
                </a:solidFill>
              </a:rPr>
              <a:t>03</a:t>
            </a:r>
            <a:endParaRPr lang="zh-CN" altLang="en-US" sz="2400" b="1" dirty="0">
              <a:solidFill>
                <a:schemeClr val="bg1"/>
              </a:solidFill>
            </a:endParaRPr>
          </a:p>
        </p:txBody>
      </p:sp>
      <p:sp>
        <p:nvSpPr>
          <p:cNvPr id="29" name="平行四边形 28">
            <a:extLst>
              <a:ext uri="{FF2B5EF4-FFF2-40B4-BE49-F238E27FC236}">
                <a16:creationId xmlns:a16="http://schemas.microsoft.com/office/drawing/2014/main" id="{F66DF737-DE1B-A7EE-58C9-8D49B4658718}"/>
              </a:ext>
            </a:extLst>
          </p:cNvPr>
          <p:cNvSpPr/>
          <p:nvPr/>
        </p:nvSpPr>
        <p:spPr>
          <a:xfrm>
            <a:off x="6227011" y="3064450"/>
            <a:ext cx="1681020" cy="1431681"/>
          </a:xfrm>
          <a:prstGeom prst="parallelogram">
            <a:avLst>
              <a:gd name="adj" fmla="val 52152"/>
            </a:avLst>
          </a:prstGeom>
          <a:solidFill>
            <a:srgbClr val="E474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endParaRPr>
          </a:p>
        </p:txBody>
      </p:sp>
      <p:sp>
        <p:nvSpPr>
          <p:cNvPr id="30" name="平行四边形 29">
            <a:extLst>
              <a:ext uri="{FF2B5EF4-FFF2-40B4-BE49-F238E27FC236}">
                <a16:creationId xmlns:a16="http://schemas.microsoft.com/office/drawing/2014/main" id="{1174D5F4-D200-329F-7E28-9A33E1F686C7}"/>
              </a:ext>
            </a:extLst>
          </p:cNvPr>
          <p:cNvSpPr/>
          <p:nvPr/>
        </p:nvSpPr>
        <p:spPr>
          <a:xfrm flipH="1">
            <a:off x="5386501" y="3064449"/>
            <a:ext cx="1681020" cy="1431681"/>
          </a:xfrm>
          <a:prstGeom prst="parallelogram">
            <a:avLst>
              <a:gd name="adj" fmla="val 52152"/>
            </a:avLst>
          </a:prstGeom>
          <a:solidFill>
            <a:srgbClr val="FDBC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bg1"/>
                </a:solidFill>
              </a:rPr>
              <a:t>04</a:t>
            </a:r>
            <a:endParaRPr lang="zh-CN" altLang="en-US" sz="2400" b="1" dirty="0">
              <a:solidFill>
                <a:schemeClr val="bg1"/>
              </a:solidFill>
            </a:endParaRPr>
          </a:p>
        </p:txBody>
      </p:sp>
      <p:sp>
        <p:nvSpPr>
          <p:cNvPr id="32" name="平行四边形 31">
            <a:extLst>
              <a:ext uri="{FF2B5EF4-FFF2-40B4-BE49-F238E27FC236}">
                <a16:creationId xmlns:a16="http://schemas.microsoft.com/office/drawing/2014/main" id="{FC745F08-E86D-E3B8-CE68-9083D1BED758}"/>
              </a:ext>
            </a:extLst>
          </p:cNvPr>
          <p:cNvSpPr/>
          <p:nvPr/>
        </p:nvSpPr>
        <p:spPr>
          <a:xfrm>
            <a:off x="7805893" y="3064449"/>
            <a:ext cx="1681020" cy="1431681"/>
          </a:xfrm>
          <a:prstGeom prst="parallelogram">
            <a:avLst>
              <a:gd name="adj" fmla="val 52152"/>
            </a:avLst>
          </a:prstGeom>
          <a:solidFill>
            <a:srgbClr val="E474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endParaRPr>
          </a:p>
        </p:txBody>
      </p:sp>
      <p:sp>
        <p:nvSpPr>
          <p:cNvPr id="33" name="平行四边形 32">
            <a:extLst>
              <a:ext uri="{FF2B5EF4-FFF2-40B4-BE49-F238E27FC236}">
                <a16:creationId xmlns:a16="http://schemas.microsoft.com/office/drawing/2014/main" id="{FB6E076D-8538-6AC0-F3D9-9AFF6E54256E}"/>
              </a:ext>
            </a:extLst>
          </p:cNvPr>
          <p:cNvSpPr/>
          <p:nvPr/>
        </p:nvSpPr>
        <p:spPr>
          <a:xfrm flipH="1">
            <a:off x="6965383" y="3064448"/>
            <a:ext cx="1681020" cy="1431681"/>
          </a:xfrm>
          <a:prstGeom prst="parallelogram">
            <a:avLst>
              <a:gd name="adj" fmla="val 52152"/>
            </a:avLst>
          </a:prstGeom>
          <a:solidFill>
            <a:srgbClr val="FDBC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bg1"/>
                </a:solidFill>
              </a:rPr>
              <a:t>05</a:t>
            </a:r>
            <a:endParaRPr lang="zh-CN" altLang="en-US" sz="2400" b="1" dirty="0">
              <a:solidFill>
                <a:schemeClr val="bg1"/>
              </a:solidFill>
            </a:endParaRPr>
          </a:p>
        </p:txBody>
      </p:sp>
      <p:sp>
        <p:nvSpPr>
          <p:cNvPr id="35" name="平行四边形 34">
            <a:extLst>
              <a:ext uri="{FF2B5EF4-FFF2-40B4-BE49-F238E27FC236}">
                <a16:creationId xmlns:a16="http://schemas.microsoft.com/office/drawing/2014/main" id="{36713245-E0C9-67B7-D923-559AFE2F9D5E}"/>
              </a:ext>
            </a:extLst>
          </p:cNvPr>
          <p:cNvSpPr/>
          <p:nvPr/>
        </p:nvSpPr>
        <p:spPr>
          <a:xfrm>
            <a:off x="9384775" y="3064448"/>
            <a:ext cx="1681020" cy="1431681"/>
          </a:xfrm>
          <a:prstGeom prst="parallelogram">
            <a:avLst>
              <a:gd name="adj" fmla="val 52152"/>
            </a:avLst>
          </a:prstGeom>
          <a:solidFill>
            <a:srgbClr val="E474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endParaRPr>
          </a:p>
        </p:txBody>
      </p:sp>
      <p:sp>
        <p:nvSpPr>
          <p:cNvPr id="36" name="平行四边形 35">
            <a:extLst>
              <a:ext uri="{FF2B5EF4-FFF2-40B4-BE49-F238E27FC236}">
                <a16:creationId xmlns:a16="http://schemas.microsoft.com/office/drawing/2014/main" id="{8B1CEA93-6BD8-3F5F-5EDD-13E49AD62F77}"/>
              </a:ext>
            </a:extLst>
          </p:cNvPr>
          <p:cNvSpPr/>
          <p:nvPr/>
        </p:nvSpPr>
        <p:spPr>
          <a:xfrm flipH="1">
            <a:off x="8544265" y="3064447"/>
            <a:ext cx="1681020" cy="1431681"/>
          </a:xfrm>
          <a:prstGeom prst="parallelogram">
            <a:avLst>
              <a:gd name="adj" fmla="val 52152"/>
            </a:avLst>
          </a:prstGeom>
          <a:solidFill>
            <a:srgbClr val="FDBC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E4745C"/>
                </a:solidFill>
              </a:rPr>
              <a:t>06</a:t>
            </a:r>
            <a:endParaRPr lang="zh-CN" altLang="en-US" sz="2400" b="1" dirty="0">
              <a:solidFill>
                <a:srgbClr val="E4745C"/>
              </a:solidFill>
            </a:endParaRPr>
          </a:p>
        </p:txBody>
      </p:sp>
      <p:sp>
        <p:nvSpPr>
          <p:cNvPr id="37" name="文本框 36">
            <a:extLst>
              <a:ext uri="{FF2B5EF4-FFF2-40B4-BE49-F238E27FC236}">
                <a16:creationId xmlns:a16="http://schemas.microsoft.com/office/drawing/2014/main" id="{F92A57B2-B75F-DA96-2F6D-12887CB1630C}"/>
              </a:ext>
            </a:extLst>
          </p:cNvPr>
          <p:cNvSpPr txBox="1"/>
          <p:nvPr/>
        </p:nvSpPr>
        <p:spPr>
          <a:xfrm>
            <a:off x="634345" y="5010870"/>
            <a:ext cx="2236510" cy="400110"/>
          </a:xfrm>
          <a:prstGeom prst="rect">
            <a:avLst/>
          </a:prstGeom>
          <a:noFill/>
        </p:spPr>
        <p:txBody>
          <a:bodyPr wrap="none" rtlCol="0">
            <a:spAutoFit/>
          </a:bodyPr>
          <a:lstStyle/>
          <a:p>
            <a:pPr algn="ctr"/>
            <a:r>
              <a:rPr lang="zh-CN" altLang="en-US" sz="2000" dirty="0"/>
              <a:t>配置项标识、跟踪</a:t>
            </a:r>
          </a:p>
        </p:txBody>
      </p:sp>
      <p:sp>
        <p:nvSpPr>
          <p:cNvPr id="38" name="文本框 37">
            <a:extLst>
              <a:ext uri="{FF2B5EF4-FFF2-40B4-BE49-F238E27FC236}">
                <a16:creationId xmlns:a16="http://schemas.microsoft.com/office/drawing/2014/main" id="{97E485A3-A6B1-C7E1-3D43-F7F84CD8C0B3}"/>
              </a:ext>
            </a:extLst>
          </p:cNvPr>
          <p:cNvSpPr txBox="1"/>
          <p:nvPr/>
        </p:nvSpPr>
        <p:spPr>
          <a:xfrm>
            <a:off x="1547416" y="2177566"/>
            <a:ext cx="2236510" cy="400110"/>
          </a:xfrm>
          <a:prstGeom prst="rect">
            <a:avLst/>
          </a:prstGeom>
          <a:noFill/>
        </p:spPr>
        <p:txBody>
          <a:bodyPr wrap="none" rtlCol="0">
            <a:spAutoFit/>
          </a:bodyPr>
          <a:lstStyle/>
          <a:p>
            <a:pPr algn="ctr"/>
            <a:r>
              <a:rPr lang="zh-CN" altLang="en-US" sz="2000" dirty="0"/>
              <a:t>配置管理环境建立</a:t>
            </a:r>
          </a:p>
        </p:txBody>
      </p:sp>
      <p:sp>
        <p:nvSpPr>
          <p:cNvPr id="39" name="文本框 38">
            <a:extLst>
              <a:ext uri="{FF2B5EF4-FFF2-40B4-BE49-F238E27FC236}">
                <a16:creationId xmlns:a16="http://schemas.microsoft.com/office/drawing/2014/main" id="{20C94147-1CE1-7EF7-A225-4E25DCD8B9F7}"/>
              </a:ext>
            </a:extLst>
          </p:cNvPr>
          <p:cNvSpPr txBox="1"/>
          <p:nvPr/>
        </p:nvSpPr>
        <p:spPr>
          <a:xfrm>
            <a:off x="4163585" y="5038260"/>
            <a:ext cx="1723549" cy="400110"/>
          </a:xfrm>
          <a:prstGeom prst="rect">
            <a:avLst/>
          </a:prstGeom>
          <a:noFill/>
        </p:spPr>
        <p:txBody>
          <a:bodyPr wrap="none" rtlCol="0">
            <a:spAutoFit/>
          </a:bodyPr>
          <a:lstStyle/>
          <a:p>
            <a:pPr algn="ctr"/>
            <a:r>
              <a:rPr lang="zh-CN" altLang="en-US" sz="2000" dirty="0"/>
              <a:t>基线变更管理</a:t>
            </a:r>
          </a:p>
        </p:txBody>
      </p:sp>
      <p:sp>
        <p:nvSpPr>
          <p:cNvPr id="40" name="文本框 39">
            <a:extLst>
              <a:ext uri="{FF2B5EF4-FFF2-40B4-BE49-F238E27FC236}">
                <a16:creationId xmlns:a16="http://schemas.microsoft.com/office/drawing/2014/main" id="{60B2E69A-8859-9810-CBC7-066D388C9DC6}"/>
              </a:ext>
            </a:extLst>
          </p:cNvPr>
          <p:cNvSpPr txBox="1"/>
          <p:nvPr/>
        </p:nvSpPr>
        <p:spPr>
          <a:xfrm>
            <a:off x="5084862" y="2177566"/>
            <a:ext cx="1723549" cy="400110"/>
          </a:xfrm>
          <a:prstGeom prst="rect">
            <a:avLst/>
          </a:prstGeom>
          <a:noFill/>
        </p:spPr>
        <p:txBody>
          <a:bodyPr wrap="none" rtlCol="0">
            <a:spAutoFit/>
          </a:bodyPr>
          <a:lstStyle/>
          <a:p>
            <a:pPr algn="ctr"/>
            <a:r>
              <a:rPr lang="zh-CN" altLang="en-US" sz="2000" dirty="0"/>
              <a:t>配置管理审计</a:t>
            </a:r>
          </a:p>
        </p:txBody>
      </p:sp>
      <p:sp>
        <p:nvSpPr>
          <p:cNvPr id="41" name="文本框 40">
            <a:extLst>
              <a:ext uri="{FF2B5EF4-FFF2-40B4-BE49-F238E27FC236}">
                <a16:creationId xmlns:a16="http://schemas.microsoft.com/office/drawing/2014/main" id="{2BA17E29-63CD-DCAF-FF50-AC1C4C7FFBF2}"/>
              </a:ext>
            </a:extLst>
          </p:cNvPr>
          <p:cNvSpPr txBox="1"/>
          <p:nvPr/>
        </p:nvSpPr>
        <p:spPr>
          <a:xfrm>
            <a:off x="7360204" y="5042980"/>
            <a:ext cx="1723549" cy="400110"/>
          </a:xfrm>
          <a:prstGeom prst="rect">
            <a:avLst/>
          </a:prstGeom>
          <a:noFill/>
        </p:spPr>
        <p:txBody>
          <a:bodyPr wrap="none" rtlCol="0">
            <a:spAutoFit/>
          </a:bodyPr>
          <a:lstStyle/>
          <a:p>
            <a:pPr algn="ctr"/>
            <a:r>
              <a:rPr lang="zh-CN" altLang="en-US" sz="2000" dirty="0"/>
              <a:t>配置状态统计</a:t>
            </a:r>
          </a:p>
        </p:txBody>
      </p:sp>
      <p:sp>
        <p:nvSpPr>
          <p:cNvPr id="42" name="文本框 41">
            <a:extLst>
              <a:ext uri="{FF2B5EF4-FFF2-40B4-BE49-F238E27FC236}">
                <a16:creationId xmlns:a16="http://schemas.microsoft.com/office/drawing/2014/main" id="{3E57442D-2A68-C9C0-BC25-7B7594419A3F}"/>
              </a:ext>
            </a:extLst>
          </p:cNvPr>
          <p:cNvSpPr txBox="1"/>
          <p:nvPr/>
        </p:nvSpPr>
        <p:spPr>
          <a:xfrm>
            <a:off x="8228452" y="2177566"/>
            <a:ext cx="1723549" cy="400110"/>
          </a:xfrm>
          <a:prstGeom prst="rect">
            <a:avLst/>
          </a:prstGeom>
          <a:noFill/>
        </p:spPr>
        <p:txBody>
          <a:bodyPr wrap="none" rtlCol="0">
            <a:spAutoFit/>
          </a:bodyPr>
          <a:lstStyle/>
          <a:p>
            <a:pPr algn="ctr"/>
            <a:r>
              <a:rPr lang="zh-CN" altLang="en-US" sz="2000" dirty="0"/>
              <a:t>配置管理计划</a:t>
            </a:r>
          </a:p>
        </p:txBody>
      </p:sp>
      <p:cxnSp>
        <p:nvCxnSpPr>
          <p:cNvPr id="50" name="直接箭头连接符 49">
            <a:extLst>
              <a:ext uri="{FF2B5EF4-FFF2-40B4-BE49-F238E27FC236}">
                <a16:creationId xmlns:a16="http://schemas.microsoft.com/office/drawing/2014/main" id="{BB79E0C3-E1BB-E658-6A06-B19C041A8504}"/>
              </a:ext>
            </a:extLst>
          </p:cNvPr>
          <p:cNvCxnSpPr>
            <a:cxnSpLocks/>
          </p:cNvCxnSpPr>
          <p:nvPr/>
        </p:nvCxnSpPr>
        <p:spPr>
          <a:xfrm flipV="1">
            <a:off x="2665670" y="2512717"/>
            <a:ext cx="0" cy="485055"/>
          </a:xfrm>
          <a:prstGeom prst="straightConnector1">
            <a:avLst/>
          </a:prstGeom>
          <a:ln w="38100">
            <a:solidFill>
              <a:srgbClr val="E4745C"/>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AA97459D-9815-00AB-8679-154055FE842A}"/>
              </a:ext>
            </a:extLst>
          </p:cNvPr>
          <p:cNvCxnSpPr>
            <a:cxnSpLocks/>
          </p:cNvCxnSpPr>
          <p:nvPr/>
        </p:nvCxnSpPr>
        <p:spPr>
          <a:xfrm flipV="1">
            <a:off x="5946636" y="2512717"/>
            <a:ext cx="0" cy="485055"/>
          </a:xfrm>
          <a:prstGeom prst="straightConnector1">
            <a:avLst/>
          </a:prstGeom>
          <a:ln w="38100">
            <a:solidFill>
              <a:srgbClr val="E4745C"/>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a:extLst>
              <a:ext uri="{FF2B5EF4-FFF2-40B4-BE49-F238E27FC236}">
                <a16:creationId xmlns:a16="http://schemas.microsoft.com/office/drawing/2014/main" id="{F91A1B52-76EB-91BE-C0CC-531F3AA17333}"/>
              </a:ext>
            </a:extLst>
          </p:cNvPr>
          <p:cNvCxnSpPr>
            <a:cxnSpLocks/>
          </p:cNvCxnSpPr>
          <p:nvPr/>
        </p:nvCxnSpPr>
        <p:spPr>
          <a:xfrm flipV="1">
            <a:off x="9090226" y="2531767"/>
            <a:ext cx="0" cy="485055"/>
          </a:xfrm>
          <a:prstGeom prst="straightConnector1">
            <a:avLst/>
          </a:prstGeom>
          <a:ln w="38100">
            <a:solidFill>
              <a:srgbClr val="E4745C"/>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接箭头连接符 52">
            <a:extLst>
              <a:ext uri="{FF2B5EF4-FFF2-40B4-BE49-F238E27FC236}">
                <a16:creationId xmlns:a16="http://schemas.microsoft.com/office/drawing/2014/main" id="{DE1E8445-A16B-D9ED-A2C1-AB25096852CF}"/>
              </a:ext>
            </a:extLst>
          </p:cNvPr>
          <p:cNvCxnSpPr>
            <a:cxnSpLocks/>
          </p:cNvCxnSpPr>
          <p:nvPr/>
        </p:nvCxnSpPr>
        <p:spPr>
          <a:xfrm>
            <a:off x="1752599" y="4541204"/>
            <a:ext cx="0" cy="485055"/>
          </a:xfrm>
          <a:prstGeom prst="straightConnector1">
            <a:avLst/>
          </a:prstGeom>
          <a:ln w="38100">
            <a:solidFill>
              <a:srgbClr val="E4745C"/>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接箭头连接符 53">
            <a:extLst>
              <a:ext uri="{FF2B5EF4-FFF2-40B4-BE49-F238E27FC236}">
                <a16:creationId xmlns:a16="http://schemas.microsoft.com/office/drawing/2014/main" id="{8DF926A7-2682-8376-18CB-2C27466ABBBE}"/>
              </a:ext>
            </a:extLst>
          </p:cNvPr>
          <p:cNvCxnSpPr>
            <a:cxnSpLocks/>
          </p:cNvCxnSpPr>
          <p:nvPr/>
        </p:nvCxnSpPr>
        <p:spPr>
          <a:xfrm>
            <a:off x="5025359" y="4553205"/>
            <a:ext cx="0" cy="485055"/>
          </a:xfrm>
          <a:prstGeom prst="straightConnector1">
            <a:avLst/>
          </a:prstGeom>
          <a:ln w="38100">
            <a:solidFill>
              <a:srgbClr val="E4745C"/>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a:extLst>
              <a:ext uri="{FF2B5EF4-FFF2-40B4-BE49-F238E27FC236}">
                <a16:creationId xmlns:a16="http://schemas.microsoft.com/office/drawing/2014/main" id="{EF81F5D7-839F-6DC0-DA35-EF36D18C7863}"/>
              </a:ext>
            </a:extLst>
          </p:cNvPr>
          <p:cNvCxnSpPr>
            <a:cxnSpLocks/>
          </p:cNvCxnSpPr>
          <p:nvPr/>
        </p:nvCxnSpPr>
        <p:spPr>
          <a:xfrm>
            <a:off x="8221978" y="4557925"/>
            <a:ext cx="0" cy="485055"/>
          </a:xfrm>
          <a:prstGeom prst="straightConnector1">
            <a:avLst/>
          </a:prstGeom>
          <a:ln w="38100">
            <a:solidFill>
              <a:srgbClr val="E4745C"/>
            </a:solidFill>
            <a:tailEnd type="triangle"/>
          </a:ln>
        </p:spPr>
        <p:style>
          <a:lnRef idx="1">
            <a:schemeClr val="accent1"/>
          </a:lnRef>
          <a:fillRef idx="0">
            <a:schemeClr val="accent1"/>
          </a:fillRef>
          <a:effectRef idx="0">
            <a:schemeClr val="accent1"/>
          </a:effectRef>
          <a:fontRef idx="minor">
            <a:schemeClr val="tx1"/>
          </a:fontRef>
        </p:style>
      </p:cxnSp>
      <p:sp>
        <p:nvSpPr>
          <p:cNvPr id="56" name="箭头: 下 55">
            <a:extLst>
              <a:ext uri="{FF2B5EF4-FFF2-40B4-BE49-F238E27FC236}">
                <a16:creationId xmlns:a16="http://schemas.microsoft.com/office/drawing/2014/main" id="{D3A0F282-4E37-F65E-35A1-65C32803BE58}"/>
              </a:ext>
            </a:extLst>
          </p:cNvPr>
          <p:cNvSpPr/>
          <p:nvPr/>
        </p:nvSpPr>
        <p:spPr>
          <a:xfrm rot="12432623">
            <a:off x="9786089" y="2472958"/>
            <a:ext cx="1570058" cy="1272200"/>
          </a:xfrm>
          <a:custGeom>
            <a:avLst/>
            <a:gdLst>
              <a:gd name="csX0" fmla="*/ 0 w 1609497"/>
              <a:gd name="csY0" fmla="*/ 636100 h 1272200"/>
              <a:gd name="csX1" fmla="*/ 402374 w 1609497"/>
              <a:gd name="csY1" fmla="*/ 636100 h 1272200"/>
              <a:gd name="csX2" fmla="*/ 402374 w 1609497"/>
              <a:gd name="csY2" fmla="*/ 0 h 1272200"/>
              <a:gd name="csX3" fmla="*/ 1207123 w 1609497"/>
              <a:gd name="csY3" fmla="*/ 0 h 1272200"/>
              <a:gd name="csX4" fmla="*/ 1207123 w 1609497"/>
              <a:gd name="csY4" fmla="*/ 636100 h 1272200"/>
              <a:gd name="csX5" fmla="*/ 1609497 w 1609497"/>
              <a:gd name="csY5" fmla="*/ 636100 h 1272200"/>
              <a:gd name="csX6" fmla="*/ 804749 w 1609497"/>
              <a:gd name="csY6" fmla="*/ 1272200 h 1272200"/>
              <a:gd name="csX7" fmla="*/ 0 w 1609497"/>
              <a:gd name="csY7" fmla="*/ 636100 h 1272200"/>
              <a:gd name="csX0" fmla="*/ 0 w 1570058"/>
              <a:gd name="csY0" fmla="*/ 636100 h 1272200"/>
              <a:gd name="csX1" fmla="*/ 402374 w 1570058"/>
              <a:gd name="csY1" fmla="*/ 636100 h 1272200"/>
              <a:gd name="csX2" fmla="*/ 402374 w 1570058"/>
              <a:gd name="csY2" fmla="*/ 0 h 1272200"/>
              <a:gd name="csX3" fmla="*/ 1207123 w 1570058"/>
              <a:gd name="csY3" fmla="*/ 0 h 1272200"/>
              <a:gd name="csX4" fmla="*/ 1207123 w 1570058"/>
              <a:gd name="csY4" fmla="*/ 636100 h 1272200"/>
              <a:gd name="csX5" fmla="*/ 1570058 w 1570058"/>
              <a:gd name="csY5" fmla="*/ 538565 h 1272200"/>
              <a:gd name="csX6" fmla="*/ 804749 w 1570058"/>
              <a:gd name="csY6" fmla="*/ 1272200 h 1272200"/>
              <a:gd name="csX7" fmla="*/ 0 w 1570058"/>
              <a:gd name="csY7" fmla="*/ 636100 h 1272200"/>
              <a:gd name="csX0" fmla="*/ 0 w 1570058"/>
              <a:gd name="csY0" fmla="*/ 636100 h 1272200"/>
              <a:gd name="csX1" fmla="*/ 402374 w 1570058"/>
              <a:gd name="csY1" fmla="*/ 636100 h 1272200"/>
              <a:gd name="csX2" fmla="*/ 402374 w 1570058"/>
              <a:gd name="csY2" fmla="*/ 0 h 1272200"/>
              <a:gd name="csX3" fmla="*/ 1207123 w 1570058"/>
              <a:gd name="csY3" fmla="*/ 0 h 1272200"/>
              <a:gd name="csX4" fmla="*/ 1193338 w 1570058"/>
              <a:gd name="csY4" fmla="*/ 546795 h 1272200"/>
              <a:gd name="csX5" fmla="*/ 1570058 w 1570058"/>
              <a:gd name="csY5" fmla="*/ 538565 h 1272200"/>
              <a:gd name="csX6" fmla="*/ 804749 w 1570058"/>
              <a:gd name="csY6" fmla="*/ 1272200 h 1272200"/>
              <a:gd name="csX7" fmla="*/ 0 w 1570058"/>
              <a:gd name="csY7" fmla="*/ 636100 h 12722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570058" h="1272200">
                <a:moveTo>
                  <a:pt x="0" y="636100"/>
                </a:moveTo>
                <a:lnTo>
                  <a:pt x="402374" y="636100"/>
                </a:lnTo>
                <a:lnTo>
                  <a:pt x="402374" y="0"/>
                </a:lnTo>
                <a:lnTo>
                  <a:pt x="1207123" y="0"/>
                </a:lnTo>
                <a:lnTo>
                  <a:pt x="1193338" y="546795"/>
                </a:lnTo>
                <a:lnTo>
                  <a:pt x="1570058" y="538565"/>
                </a:lnTo>
                <a:lnTo>
                  <a:pt x="804749" y="1272200"/>
                </a:lnTo>
                <a:lnTo>
                  <a:pt x="0" y="636100"/>
                </a:lnTo>
                <a:close/>
              </a:path>
            </a:pathLst>
          </a:custGeom>
          <a:solidFill>
            <a:srgbClr val="E474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Tree>
    <p:extLst>
      <p:ext uri="{BB962C8B-B14F-4D97-AF65-F5344CB8AC3E}">
        <p14:creationId xmlns:p14="http://schemas.microsoft.com/office/powerpoint/2010/main" val="642710866"/>
      </p:ext>
    </p:extLst>
  </p:cSld>
  <p:clrMapOvr>
    <a:masterClrMapping/>
  </p:clrMapOvr>
</p:sld>
</file>

<file path=ppt/slides/slide3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3CA703-03E7-58BF-3456-356831C95DA4}"/>
              </a:ext>
            </a:extLst>
          </p:cNvPr>
          <p:cNvSpPr>
            <a:spLocks noGrp="1"/>
          </p:cNvSpPr>
          <p:nvPr>
            <p:ph type="title"/>
          </p:nvPr>
        </p:nvSpPr>
        <p:spPr>
          <a:xfrm>
            <a:off x="792000" y="360000"/>
            <a:ext cx="6375921" cy="429413"/>
          </a:xfrm>
        </p:spPr>
        <p:txBody>
          <a:bodyPr/>
          <a:lstStyle/>
          <a:p>
            <a:r>
              <a:rPr lang="en-US" altLang="zh-CN" dirty="0"/>
              <a:t>2.1 </a:t>
            </a:r>
            <a:r>
              <a:rPr lang="zh-CN" altLang="en-US" dirty="0"/>
              <a:t>配置项标识、跟踪</a:t>
            </a:r>
          </a:p>
        </p:txBody>
      </p:sp>
      <p:sp>
        <p:nvSpPr>
          <p:cNvPr id="13" name="内容占位符 12">
            <a:extLst>
              <a:ext uri="{FF2B5EF4-FFF2-40B4-BE49-F238E27FC236}">
                <a16:creationId xmlns:a16="http://schemas.microsoft.com/office/drawing/2014/main" id="{14B908D0-FB52-EAF1-C252-97C1892DADCB}"/>
              </a:ext>
            </a:extLst>
          </p:cNvPr>
          <p:cNvSpPr>
            <a:spLocks noGrp="1"/>
          </p:cNvSpPr>
          <p:nvPr>
            <p:ph idx="1"/>
          </p:nvPr>
        </p:nvSpPr>
        <p:spPr>
          <a:xfrm>
            <a:off x="696000" y="864000"/>
            <a:ext cx="10800000" cy="5400000"/>
          </a:xfrm>
        </p:spPr>
        <p:txBody>
          <a:bodyPr/>
          <a:lstStyle/>
          <a:p>
            <a:r>
              <a:rPr lang="zh-CN" altLang="en-US" dirty="0"/>
              <a:t>将软件项目中需要进行控制的部分拆分成 </a:t>
            </a:r>
            <a:r>
              <a:rPr lang="en-US" altLang="zh-CN" dirty="0"/>
              <a:t>SCI</a:t>
            </a:r>
          </a:p>
          <a:p>
            <a:r>
              <a:rPr lang="zh-CN" altLang="en-US" dirty="0"/>
              <a:t>建立配置项的对应关系，以便于进行跟踪和版本控制</a:t>
            </a:r>
            <a:r>
              <a:rPr lang="en-US" altLang="zh-CN" dirty="0"/>
              <a:t>- </a:t>
            </a:r>
            <a:r>
              <a:rPr lang="zh-CN" altLang="en-US" dirty="0"/>
              <a:t>实现数字化管理</a:t>
            </a:r>
          </a:p>
          <a:p>
            <a:endParaRPr lang="en-US" altLang="zh-CN" dirty="0"/>
          </a:p>
        </p:txBody>
      </p:sp>
      <p:sp>
        <p:nvSpPr>
          <p:cNvPr id="5" name="文本占位符 4">
            <a:extLst>
              <a:ext uri="{FF2B5EF4-FFF2-40B4-BE49-F238E27FC236}">
                <a16:creationId xmlns:a16="http://schemas.microsoft.com/office/drawing/2014/main" id="{4BD57C82-EFAC-D838-1A29-EDA6187CAC3C}"/>
              </a:ext>
            </a:extLst>
          </p:cNvPr>
          <p:cNvSpPr>
            <a:spLocks noGrp="1"/>
          </p:cNvSpPr>
          <p:nvPr>
            <p:ph type="body" sz="quarter" idx="10"/>
          </p:nvPr>
        </p:nvSpPr>
        <p:spPr/>
        <p:txBody>
          <a:bodyPr/>
          <a:lstStyle/>
          <a:p>
            <a:endParaRPr lang="zh-CN" altLang="en-US"/>
          </a:p>
        </p:txBody>
      </p:sp>
      <p:sp>
        <p:nvSpPr>
          <p:cNvPr id="22" name="文本框 21">
            <a:extLst>
              <a:ext uri="{FF2B5EF4-FFF2-40B4-BE49-F238E27FC236}">
                <a16:creationId xmlns:a16="http://schemas.microsoft.com/office/drawing/2014/main" id="{60FCFE3B-A1D2-F36D-2220-B7DF8ACC1903}"/>
              </a:ext>
            </a:extLst>
          </p:cNvPr>
          <p:cNvSpPr txBox="1"/>
          <p:nvPr/>
        </p:nvSpPr>
        <p:spPr>
          <a:xfrm>
            <a:off x="2247831" y="2638425"/>
            <a:ext cx="7946406" cy="523220"/>
          </a:xfrm>
          <a:prstGeom prst="rect">
            <a:avLst/>
          </a:prstGeom>
          <a:noFill/>
        </p:spPr>
        <p:txBody>
          <a:bodyPr wrap="none" rtlCol="0">
            <a:spAutoFit/>
          </a:bodyPr>
          <a:lstStyle/>
          <a:p>
            <a:pPr algn="l"/>
            <a:r>
              <a:rPr lang="zh-CN" altLang="en-US" sz="2800" dirty="0"/>
              <a:t>项目</a:t>
            </a:r>
            <a:r>
              <a:rPr lang="en-US" altLang="zh-CN" sz="2800" dirty="0"/>
              <a:t>_</a:t>
            </a:r>
            <a:r>
              <a:rPr lang="zh-CN" altLang="en-US" sz="2800" dirty="0"/>
              <a:t>阶段</a:t>
            </a:r>
            <a:r>
              <a:rPr lang="en-US" altLang="zh-CN" sz="2800" dirty="0"/>
              <a:t>_</a:t>
            </a:r>
            <a:r>
              <a:rPr lang="zh-CN" altLang="en-US" sz="2800" dirty="0"/>
              <a:t>产品</a:t>
            </a:r>
            <a:r>
              <a:rPr lang="en-US" altLang="zh-CN" sz="2800" dirty="0"/>
              <a:t>_V</a:t>
            </a:r>
            <a:r>
              <a:rPr lang="zh-CN" altLang="en-US" sz="2800" dirty="0"/>
              <a:t>主版本号</a:t>
            </a:r>
            <a:r>
              <a:rPr lang="en-US" altLang="zh-CN" sz="2800" dirty="0"/>
              <a:t>.</a:t>
            </a:r>
            <a:r>
              <a:rPr lang="zh-CN" altLang="en-US" sz="2800" dirty="0"/>
              <a:t>次版本号</a:t>
            </a:r>
            <a:r>
              <a:rPr lang="en-US" altLang="zh-CN" sz="2800" dirty="0"/>
              <a:t>.</a:t>
            </a:r>
            <a:r>
              <a:rPr lang="zh-CN" altLang="en-US" sz="2800" dirty="0"/>
              <a:t>内部版本号</a:t>
            </a:r>
          </a:p>
        </p:txBody>
      </p:sp>
      <p:sp>
        <p:nvSpPr>
          <p:cNvPr id="26" name="文本框 25">
            <a:extLst>
              <a:ext uri="{FF2B5EF4-FFF2-40B4-BE49-F238E27FC236}">
                <a16:creationId xmlns:a16="http://schemas.microsoft.com/office/drawing/2014/main" id="{963CBD6B-BEF0-4A06-4996-ADC5BB47A794}"/>
              </a:ext>
            </a:extLst>
          </p:cNvPr>
          <p:cNvSpPr txBox="1"/>
          <p:nvPr/>
        </p:nvSpPr>
        <p:spPr>
          <a:xfrm>
            <a:off x="2247831" y="3429000"/>
            <a:ext cx="4830168" cy="523220"/>
          </a:xfrm>
          <a:prstGeom prst="rect">
            <a:avLst/>
          </a:prstGeom>
          <a:noFill/>
        </p:spPr>
        <p:txBody>
          <a:bodyPr wrap="none" rtlCol="0">
            <a:spAutoFit/>
          </a:bodyPr>
          <a:lstStyle/>
          <a:p>
            <a:pPr algn="l"/>
            <a:r>
              <a:rPr lang="en-US" altLang="zh-CN" sz="2800" dirty="0"/>
              <a:t>School_Design_HLD_V2.1.1</a:t>
            </a:r>
            <a:endParaRPr lang="zh-CN" altLang="en-US" sz="2800" dirty="0"/>
          </a:p>
        </p:txBody>
      </p:sp>
    </p:spTree>
    <p:extLst>
      <p:ext uri="{BB962C8B-B14F-4D97-AF65-F5344CB8AC3E}">
        <p14:creationId xmlns:p14="http://schemas.microsoft.com/office/powerpoint/2010/main" val="1978100626"/>
      </p:ext>
    </p:extLst>
  </p:cSld>
  <p:clrMapOvr>
    <a:masterClrMapping/>
  </p:clrMapOvr>
</p:sld>
</file>

<file path=ppt/slides/slide3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78629-E109-0784-F304-9FDB52DC4F2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EDF81F4-3D94-0305-8AB0-48772AC993C1}"/>
              </a:ext>
            </a:extLst>
          </p:cNvPr>
          <p:cNvSpPr>
            <a:spLocks noGrp="1"/>
          </p:cNvSpPr>
          <p:nvPr>
            <p:ph type="title"/>
          </p:nvPr>
        </p:nvSpPr>
        <p:spPr>
          <a:xfrm>
            <a:off x="792000" y="360000"/>
            <a:ext cx="6375921" cy="429413"/>
          </a:xfrm>
        </p:spPr>
        <p:txBody>
          <a:bodyPr/>
          <a:lstStyle/>
          <a:p>
            <a:r>
              <a:rPr lang="en-US" altLang="zh-CN" dirty="0"/>
              <a:t>2.2 </a:t>
            </a:r>
            <a:r>
              <a:rPr lang="zh-CN" altLang="en-US" dirty="0"/>
              <a:t>配置管理环境建立</a:t>
            </a:r>
          </a:p>
        </p:txBody>
      </p:sp>
      <p:sp>
        <p:nvSpPr>
          <p:cNvPr id="4" name="内容占位符 3">
            <a:extLst>
              <a:ext uri="{FF2B5EF4-FFF2-40B4-BE49-F238E27FC236}">
                <a16:creationId xmlns:a16="http://schemas.microsoft.com/office/drawing/2014/main" id="{C9A30CA3-6D52-006A-4A8C-132FA4AF8E2E}"/>
              </a:ext>
            </a:extLst>
          </p:cNvPr>
          <p:cNvSpPr>
            <a:spLocks noGrp="1"/>
          </p:cNvSpPr>
          <p:nvPr>
            <p:ph idx="1"/>
          </p:nvPr>
        </p:nvSpPr>
        <p:spPr>
          <a:xfrm>
            <a:off x="696000" y="864000"/>
            <a:ext cx="10800000" cy="5400000"/>
          </a:xfrm>
        </p:spPr>
        <p:txBody>
          <a:bodyPr/>
          <a:lstStyle/>
          <a:p>
            <a:r>
              <a:rPr lang="zh-CN" altLang="en-US" dirty="0"/>
              <a:t>建立配置管理库 </a:t>
            </a:r>
            <a:r>
              <a:rPr lang="en-US" altLang="zh-CN" dirty="0"/>
              <a:t>Repository</a:t>
            </a:r>
          </a:p>
          <a:p>
            <a:r>
              <a:rPr lang="zh-CN" altLang="en-US" dirty="0"/>
              <a:t>用来存储所有基线配置项及相关文件的等内容的系统</a:t>
            </a:r>
            <a:endParaRPr lang="en-US" altLang="zh-CN" dirty="0"/>
          </a:p>
          <a:p>
            <a:r>
              <a:rPr lang="zh-CN" altLang="en-US" dirty="0"/>
              <a:t>是在软件产品的整个生存期中建立和维护软件产品完整性的主要手段</a:t>
            </a:r>
            <a:endParaRPr lang="en-US" altLang="zh-CN" dirty="0"/>
          </a:p>
          <a:p>
            <a:r>
              <a:rPr lang="zh-CN" altLang="en-US" dirty="0"/>
              <a:t>是所有配置项及其修改状态的集合</a:t>
            </a:r>
            <a:endParaRPr lang="en-US" altLang="zh-CN" dirty="0"/>
          </a:p>
          <a:p>
            <a:r>
              <a:rPr lang="zh-CN" altLang="en-US" dirty="0"/>
              <a:t>是一个文件库，且库中的文件不能更改</a:t>
            </a:r>
            <a:r>
              <a:rPr lang="en-US" altLang="zh-CN" dirty="0"/>
              <a:t>/</a:t>
            </a:r>
            <a:r>
              <a:rPr lang="zh-CN" altLang="en-US" dirty="0"/>
              <a:t>只读属性</a:t>
            </a:r>
            <a:endParaRPr lang="en-US" altLang="zh-CN" dirty="0"/>
          </a:p>
          <a:p>
            <a:endParaRPr lang="zh-CN" altLang="en-US" dirty="0"/>
          </a:p>
          <a:p>
            <a:endParaRPr lang="zh-CN" altLang="en-US" dirty="0"/>
          </a:p>
        </p:txBody>
      </p:sp>
      <p:sp>
        <p:nvSpPr>
          <p:cNvPr id="7" name="文本占位符 6">
            <a:extLst>
              <a:ext uri="{FF2B5EF4-FFF2-40B4-BE49-F238E27FC236}">
                <a16:creationId xmlns:a16="http://schemas.microsoft.com/office/drawing/2014/main" id="{A8D085FF-C880-5B66-699C-1D4F9FB509CB}"/>
              </a:ext>
            </a:extLst>
          </p:cNvPr>
          <p:cNvSpPr>
            <a:spLocks noGrp="1"/>
          </p:cNvSpPr>
          <p:nvPr>
            <p:ph type="body" sz="quarter" idx="10"/>
          </p:nvPr>
        </p:nvSpPr>
        <p:spPr/>
        <p:txBody>
          <a:bodyPr/>
          <a:lstStyle/>
          <a:p>
            <a:endParaRPr lang="zh-CN" altLang="en-US"/>
          </a:p>
        </p:txBody>
      </p:sp>
      <p:sp>
        <p:nvSpPr>
          <p:cNvPr id="26" name="椭圆 25">
            <a:extLst>
              <a:ext uri="{FF2B5EF4-FFF2-40B4-BE49-F238E27FC236}">
                <a16:creationId xmlns:a16="http://schemas.microsoft.com/office/drawing/2014/main" id="{6938A76E-DA7C-8908-CA2D-238C90EF4B9E}"/>
              </a:ext>
            </a:extLst>
          </p:cNvPr>
          <p:cNvSpPr/>
          <p:nvPr/>
        </p:nvSpPr>
        <p:spPr>
          <a:xfrm>
            <a:off x="5196000" y="3866173"/>
            <a:ext cx="1800000" cy="1080000"/>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配置库</a:t>
            </a:r>
            <a:endParaRPr lang="en-US" altLang="zh-CN" dirty="0">
              <a:solidFill>
                <a:schemeClr val="tx1"/>
              </a:solidFill>
            </a:endParaRPr>
          </a:p>
          <a:p>
            <a:pPr algn="ctr"/>
            <a:r>
              <a:rPr lang="en-US" altLang="zh-CN" sz="1600" dirty="0">
                <a:solidFill>
                  <a:schemeClr val="tx1"/>
                </a:solidFill>
              </a:rPr>
              <a:t>Repository</a:t>
            </a:r>
            <a:endParaRPr lang="zh-CN" altLang="en-US" sz="1600" dirty="0">
              <a:solidFill>
                <a:schemeClr val="tx1"/>
              </a:solidFill>
            </a:endParaRPr>
          </a:p>
        </p:txBody>
      </p:sp>
      <p:cxnSp>
        <p:nvCxnSpPr>
          <p:cNvPr id="28" name="直接箭头连接符 27">
            <a:extLst>
              <a:ext uri="{FF2B5EF4-FFF2-40B4-BE49-F238E27FC236}">
                <a16:creationId xmlns:a16="http://schemas.microsoft.com/office/drawing/2014/main" id="{D7AD617A-E857-0F87-46DD-475CD0B277C3}"/>
              </a:ext>
            </a:extLst>
          </p:cNvPr>
          <p:cNvCxnSpPr/>
          <p:nvPr/>
        </p:nvCxnSpPr>
        <p:spPr>
          <a:xfrm>
            <a:off x="3174750" y="4417649"/>
            <a:ext cx="200977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E5FAED87-9209-3E1E-3C41-66E0EEFF1DCE}"/>
              </a:ext>
            </a:extLst>
          </p:cNvPr>
          <p:cNvCxnSpPr/>
          <p:nvPr/>
        </p:nvCxnSpPr>
        <p:spPr>
          <a:xfrm>
            <a:off x="6988425" y="4406173"/>
            <a:ext cx="200977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连接符: 肘形 34">
            <a:extLst>
              <a:ext uri="{FF2B5EF4-FFF2-40B4-BE49-F238E27FC236}">
                <a16:creationId xmlns:a16="http://schemas.microsoft.com/office/drawing/2014/main" id="{F58CCB4E-F1E9-8EA6-8465-8DECD1C1FD13}"/>
              </a:ext>
            </a:extLst>
          </p:cNvPr>
          <p:cNvCxnSpPr>
            <a:cxnSpLocks/>
          </p:cNvCxnSpPr>
          <p:nvPr/>
        </p:nvCxnSpPr>
        <p:spPr>
          <a:xfrm rot="5400000">
            <a:off x="6090262" y="2776852"/>
            <a:ext cx="11476" cy="3304317"/>
          </a:xfrm>
          <a:prstGeom prst="bentConnector3">
            <a:avLst>
              <a:gd name="adj1" fmla="val 790193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useBgFill="1">
        <p:nvSpPr>
          <p:cNvPr id="37" name="文本框 36">
            <a:extLst>
              <a:ext uri="{FF2B5EF4-FFF2-40B4-BE49-F238E27FC236}">
                <a16:creationId xmlns:a16="http://schemas.microsoft.com/office/drawing/2014/main" id="{1683195B-6CD0-1B18-2FD0-6ACE690B270E}"/>
              </a:ext>
            </a:extLst>
          </p:cNvPr>
          <p:cNvSpPr txBox="1"/>
          <p:nvPr/>
        </p:nvSpPr>
        <p:spPr>
          <a:xfrm>
            <a:off x="5695890" y="5199285"/>
            <a:ext cx="800219" cy="338554"/>
          </a:xfrm>
          <a:prstGeom prst="rect">
            <a:avLst/>
          </a:prstGeom>
        </p:spPr>
        <p:txBody>
          <a:bodyPr wrap="none" rtlCol="0">
            <a:spAutoFit/>
          </a:bodyPr>
          <a:lstStyle/>
          <a:p>
            <a:pPr algn="l"/>
            <a:r>
              <a:rPr lang="zh-CN" altLang="en-US" sz="1600" dirty="0"/>
              <a:t>新版本</a:t>
            </a:r>
          </a:p>
        </p:txBody>
      </p:sp>
      <p:sp>
        <p:nvSpPr>
          <p:cNvPr id="38" name="文本框 37">
            <a:extLst>
              <a:ext uri="{FF2B5EF4-FFF2-40B4-BE49-F238E27FC236}">
                <a16:creationId xmlns:a16="http://schemas.microsoft.com/office/drawing/2014/main" id="{5312CEBE-1857-3169-8CC0-901F2028E4DF}"/>
              </a:ext>
            </a:extLst>
          </p:cNvPr>
          <p:cNvSpPr txBox="1"/>
          <p:nvPr/>
        </p:nvSpPr>
        <p:spPr>
          <a:xfrm>
            <a:off x="7949039" y="4429010"/>
            <a:ext cx="595035" cy="338554"/>
          </a:xfrm>
          <a:prstGeom prst="rect">
            <a:avLst/>
          </a:prstGeom>
          <a:noFill/>
        </p:spPr>
        <p:txBody>
          <a:bodyPr wrap="none" rtlCol="0">
            <a:spAutoFit/>
          </a:bodyPr>
          <a:lstStyle/>
          <a:p>
            <a:pPr algn="l"/>
            <a:r>
              <a:rPr lang="zh-CN" altLang="en-US" sz="1600" dirty="0"/>
              <a:t>导出</a:t>
            </a:r>
          </a:p>
        </p:txBody>
      </p:sp>
      <p:sp>
        <p:nvSpPr>
          <p:cNvPr id="39" name="文本框 38">
            <a:extLst>
              <a:ext uri="{FF2B5EF4-FFF2-40B4-BE49-F238E27FC236}">
                <a16:creationId xmlns:a16="http://schemas.microsoft.com/office/drawing/2014/main" id="{A54304F6-63A8-5E56-55A2-FB3F09FDFEE3}"/>
              </a:ext>
            </a:extLst>
          </p:cNvPr>
          <p:cNvSpPr txBox="1"/>
          <p:nvPr/>
        </p:nvSpPr>
        <p:spPr>
          <a:xfrm>
            <a:off x="3586301" y="4429010"/>
            <a:ext cx="609462" cy="338554"/>
          </a:xfrm>
          <a:prstGeom prst="rect">
            <a:avLst/>
          </a:prstGeom>
          <a:noFill/>
        </p:spPr>
        <p:txBody>
          <a:bodyPr wrap="none" rtlCol="0">
            <a:spAutoFit/>
          </a:bodyPr>
          <a:lstStyle/>
          <a:p>
            <a:pPr algn="l"/>
            <a:r>
              <a:rPr lang="zh-CN" altLang="en-US" sz="1600" dirty="0"/>
              <a:t>导入</a:t>
            </a:r>
          </a:p>
        </p:txBody>
      </p:sp>
      <p:sp>
        <p:nvSpPr>
          <p:cNvPr id="40" name="文本框 39">
            <a:extLst>
              <a:ext uri="{FF2B5EF4-FFF2-40B4-BE49-F238E27FC236}">
                <a16:creationId xmlns:a16="http://schemas.microsoft.com/office/drawing/2014/main" id="{2A99C0A8-9741-5C45-1167-4F29F558BE13}"/>
              </a:ext>
            </a:extLst>
          </p:cNvPr>
          <p:cNvSpPr txBox="1"/>
          <p:nvPr/>
        </p:nvSpPr>
        <p:spPr>
          <a:xfrm>
            <a:off x="7743856" y="4067619"/>
            <a:ext cx="1005403" cy="338554"/>
          </a:xfrm>
          <a:prstGeom prst="rect">
            <a:avLst/>
          </a:prstGeom>
          <a:noFill/>
        </p:spPr>
        <p:txBody>
          <a:bodyPr wrap="none" rtlCol="0">
            <a:spAutoFit/>
          </a:bodyPr>
          <a:lstStyle/>
          <a:p>
            <a:pPr algn="ctr"/>
            <a:r>
              <a:rPr lang="zh-CN" altLang="en-US" sz="1600" dirty="0"/>
              <a:t>变更控制</a:t>
            </a:r>
          </a:p>
        </p:txBody>
      </p:sp>
      <p:sp>
        <p:nvSpPr>
          <p:cNvPr id="41" name="文本框 40">
            <a:extLst>
              <a:ext uri="{FF2B5EF4-FFF2-40B4-BE49-F238E27FC236}">
                <a16:creationId xmlns:a16="http://schemas.microsoft.com/office/drawing/2014/main" id="{28A32FB0-D986-E38C-A61B-BAC6AEE09089}"/>
              </a:ext>
            </a:extLst>
          </p:cNvPr>
          <p:cNvSpPr txBox="1"/>
          <p:nvPr/>
        </p:nvSpPr>
        <p:spPr>
          <a:xfrm>
            <a:off x="3353867" y="4067619"/>
            <a:ext cx="1074332" cy="338554"/>
          </a:xfrm>
          <a:prstGeom prst="rect">
            <a:avLst/>
          </a:prstGeom>
          <a:noFill/>
        </p:spPr>
        <p:txBody>
          <a:bodyPr wrap="none" rtlCol="0">
            <a:spAutoFit/>
          </a:bodyPr>
          <a:lstStyle/>
          <a:p>
            <a:pPr algn="ctr"/>
            <a:r>
              <a:rPr lang="zh-CN" altLang="en-US" sz="1600" dirty="0"/>
              <a:t>评审</a:t>
            </a:r>
            <a:r>
              <a:rPr lang="en-US" altLang="zh-CN" sz="1600" dirty="0"/>
              <a:t>/</a:t>
            </a:r>
            <a:r>
              <a:rPr lang="zh-CN" altLang="en-US" sz="1600" dirty="0"/>
              <a:t>验证</a:t>
            </a:r>
          </a:p>
        </p:txBody>
      </p:sp>
    </p:spTree>
    <p:extLst>
      <p:ext uri="{BB962C8B-B14F-4D97-AF65-F5344CB8AC3E}">
        <p14:creationId xmlns:p14="http://schemas.microsoft.com/office/powerpoint/2010/main" val="3897844244"/>
      </p:ext>
    </p:extLst>
  </p:cSld>
  <p:clrMapOvr>
    <a:masterClrMapping/>
  </p:clrMapOvr>
</p:sld>
</file>

<file path=ppt/slides/slide3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44206B78-1D35-1765-C4B6-598BF7AD7D4E}"/>
              </a:ext>
            </a:extLst>
          </p:cNvPr>
          <p:cNvGraphicFramePr>
            <a:graphicFrameLocks noGrp="1"/>
          </p:cNvGraphicFramePr>
          <p:nvPr>
            <p:extLst>
              <p:ext uri="{D42A27DB-BD31-4B8C-83A1-F6EECF244321}">
                <p14:modId xmlns:p14="http://schemas.microsoft.com/office/powerpoint/2010/main" val="3788910614"/>
              </p:ext>
            </p:extLst>
          </p:nvPr>
        </p:nvGraphicFramePr>
        <p:xfrm>
          <a:off x="695324" y="2248437"/>
          <a:ext cx="10801350" cy="2804160"/>
        </p:xfrm>
        <a:graphic>
          <a:graphicData uri="http://schemas.openxmlformats.org/drawingml/2006/table">
            <a:tbl>
              <a:tblPr/>
              <a:tblGrid>
                <a:gridCol w="3600450">
                  <a:extLst>
                    <a:ext uri="{9D8B030D-6E8A-4147-A177-3AD203B41FA5}">
                      <a16:colId xmlns:a16="http://schemas.microsoft.com/office/drawing/2014/main" val="2891901840"/>
                    </a:ext>
                  </a:extLst>
                </a:gridCol>
                <a:gridCol w="3600450">
                  <a:extLst>
                    <a:ext uri="{9D8B030D-6E8A-4147-A177-3AD203B41FA5}">
                      <a16:colId xmlns:a16="http://schemas.microsoft.com/office/drawing/2014/main" val="948026499"/>
                    </a:ext>
                  </a:extLst>
                </a:gridCol>
                <a:gridCol w="3600450">
                  <a:extLst>
                    <a:ext uri="{9D8B030D-6E8A-4147-A177-3AD203B41FA5}">
                      <a16:colId xmlns:a16="http://schemas.microsoft.com/office/drawing/2014/main" val="1701205498"/>
                    </a:ext>
                  </a:extLst>
                </a:gridCol>
              </a:tblGrid>
              <a:tr h="0">
                <a:tc>
                  <a:txBody>
                    <a:bodyPr/>
                    <a:lstStyle/>
                    <a:p>
                      <a:pPr>
                        <a:buNone/>
                      </a:pPr>
                      <a:r>
                        <a:rPr lang="zh-CN" altLang="en-US" sz="1600" dirty="0">
                          <a:solidFill>
                            <a:schemeClr val="bg1"/>
                          </a:solidFill>
                        </a:rPr>
                        <a:t>库类型</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tc>
                  <a:txBody>
                    <a:bodyPr/>
                    <a:lstStyle/>
                    <a:p>
                      <a:pPr>
                        <a:buNone/>
                      </a:pPr>
                      <a:r>
                        <a:rPr lang="zh-CN" altLang="en-US" sz="1600" dirty="0">
                          <a:solidFill>
                            <a:schemeClr val="bg1"/>
                          </a:solidFill>
                        </a:rPr>
                        <a:t>用途</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tc>
                  <a:txBody>
                    <a:bodyPr/>
                    <a:lstStyle/>
                    <a:p>
                      <a:pPr>
                        <a:buNone/>
                      </a:pPr>
                      <a:r>
                        <a:rPr lang="zh-CN" altLang="en-US" sz="1600" dirty="0">
                          <a:solidFill>
                            <a:schemeClr val="bg1"/>
                          </a:solidFill>
                        </a:rPr>
                        <a:t>特点</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extLst>
                  <a:ext uri="{0D108BD9-81ED-4DB2-BD59-A6C34878D82A}">
                    <a16:rowId xmlns:a16="http://schemas.microsoft.com/office/drawing/2014/main" val="2198119768"/>
                  </a:ext>
                </a:extLst>
              </a:tr>
              <a:tr h="0">
                <a:tc>
                  <a:txBody>
                    <a:bodyPr/>
                    <a:lstStyle/>
                    <a:p>
                      <a:pPr>
                        <a:buNone/>
                      </a:pPr>
                      <a:r>
                        <a:rPr lang="zh-CN" altLang="en-US" sz="1600" dirty="0"/>
                        <a:t>开发库</a:t>
                      </a:r>
                      <a:endParaRPr lang="en-US" altLang="zh-CN" sz="1600" dirty="0"/>
                    </a:p>
                    <a:p>
                      <a:pPr>
                        <a:buNone/>
                      </a:pPr>
                      <a:r>
                        <a:rPr lang="en-US" sz="1600" dirty="0"/>
                        <a:t>Development Library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存放开发人员正在工作的文件</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n-US" altLang="zh-CN" sz="1600" dirty="0"/>
                        <a:t>- </a:t>
                      </a:r>
                      <a:r>
                        <a:rPr lang="zh-CN" altLang="en-US" sz="1600" dirty="0"/>
                        <a:t>个人或团队工作空间</a:t>
                      </a:r>
                      <a:br>
                        <a:rPr lang="zh-CN" altLang="en-US" sz="1600" dirty="0"/>
                      </a:br>
                      <a:r>
                        <a:rPr lang="en-US" altLang="zh-CN" sz="1600" dirty="0"/>
                        <a:t>- </a:t>
                      </a:r>
                      <a:r>
                        <a:rPr lang="zh-CN" altLang="en-US" sz="1600" dirty="0"/>
                        <a:t>无严格版本控制</a:t>
                      </a:r>
                      <a:br>
                        <a:rPr lang="zh-CN" altLang="en-US" sz="1600" dirty="0"/>
                      </a:br>
                      <a:r>
                        <a:rPr lang="en-US" altLang="zh-CN" sz="1600" dirty="0"/>
                        <a:t>- </a:t>
                      </a:r>
                      <a:r>
                        <a:rPr lang="zh-CN" altLang="en-US" sz="1600" dirty="0"/>
                        <a:t>可自由修改</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574645017"/>
                  </a:ext>
                </a:extLst>
              </a:tr>
              <a:tr h="0">
                <a:tc>
                  <a:txBody>
                    <a:bodyPr/>
                    <a:lstStyle/>
                    <a:p>
                      <a:pPr>
                        <a:buNone/>
                      </a:pPr>
                      <a:r>
                        <a:rPr lang="zh-CN" altLang="en-US" sz="1600" dirty="0"/>
                        <a:t>受控库</a:t>
                      </a:r>
                      <a:endParaRPr lang="en-US" altLang="zh-CN" sz="1600" dirty="0"/>
                    </a:p>
                    <a:p>
                      <a:pPr>
                        <a:buNone/>
                      </a:pPr>
                      <a:r>
                        <a:rPr lang="en-US" sz="1600" dirty="0"/>
                        <a:t>Controlled Library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存放已提交、需变更控制的配置项</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n-US" altLang="zh-CN" sz="1600"/>
                        <a:t>- </a:t>
                      </a:r>
                      <a:r>
                        <a:rPr lang="zh-CN" altLang="en-US" sz="1600"/>
                        <a:t>经审批后才能修改</a:t>
                      </a:r>
                      <a:br>
                        <a:rPr lang="zh-CN" altLang="en-US" sz="1600"/>
                      </a:br>
                      <a:r>
                        <a:rPr lang="en-US" altLang="zh-CN" sz="1600"/>
                        <a:t>- </a:t>
                      </a:r>
                      <a:r>
                        <a:rPr lang="zh-CN" altLang="en-US" sz="1600"/>
                        <a:t>用于集成、测试</a:t>
                      </a:r>
                      <a:br>
                        <a:rPr lang="zh-CN" altLang="en-US" sz="1600"/>
                      </a:br>
                      <a:r>
                        <a:rPr lang="en-US" altLang="zh-CN" sz="1600"/>
                        <a:t>- </a:t>
                      </a:r>
                      <a:r>
                        <a:rPr lang="zh-CN" altLang="en-US" sz="1600"/>
                        <a:t>实现版本控制</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738728833"/>
                  </a:ext>
                </a:extLst>
              </a:tr>
              <a:tr h="0">
                <a:tc>
                  <a:txBody>
                    <a:bodyPr/>
                    <a:lstStyle/>
                    <a:p>
                      <a:pPr>
                        <a:buNone/>
                      </a:pPr>
                      <a:r>
                        <a:rPr lang="zh-CN" altLang="en-US" sz="1600" dirty="0"/>
                        <a:t>产品库</a:t>
                      </a:r>
                      <a:endParaRPr lang="en-US" altLang="zh-CN" sz="1600" dirty="0"/>
                    </a:p>
                    <a:p>
                      <a:pPr>
                        <a:buNone/>
                      </a:pPr>
                      <a:r>
                        <a:rPr lang="en-US" sz="1600" dirty="0"/>
                        <a:t>Product Library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存放已发布、正式交付的产品版本</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n-US" altLang="zh-CN" sz="1600" dirty="0"/>
                        <a:t>- </a:t>
                      </a:r>
                      <a:r>
                        <a:rPr lang="zh-CN" altLang="en-US" sz="1600" dirty="0"/>
                        <a:t>最终版本</a:t>
                      </a:r>
                      <a:br>
                        <a:rPr lang="zh-CN" altLang="en-US" sz="1600" dirty="0"/>
                      </a:br>
                      <a:r>
                        <a:rPr lang="en-US" altLang="zh-CN" sz="1600" dirty="0"/>
                        <a:t>- </a:t>
                      </a:r>
                      <a:r>
                        <a:rPr lang="zh-CN" altLang="en-US" sz="1600" dirty="0"/>
                        <a:t>不可随意修改</a:t>
                      </a:r>
                      <a:br>
                        <a:rPr lang="zh-CN" altLang="en-US" sz="1600" dirty="0"/>
                      </a:br>
                      <a:r>
                        <a:rPr lang="en-US" altLang="zh-CN" sz="1600" dirty="0"/>
                        <a:t>- </a:t>
                      </a:r>
                      <a:r>
                        <a:rPr lang="zh-CN" altLang="en-US" sz="1600" dirty="0"/>
                        <a:t>供发布和交付使用</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33103633"/>
                  </a:ext>
                </a:extLst>
              </a:tr>
            </a:tbl>
          </a:graphicData>
        </a:graphic>
      </p:graphicFrame>
      <p:sp>
        <p:nvSpPr>
          <p:cNvPr id="9" name="文本框 8">
            <a:extLst>
              <a:ext uri="{FF2B5EF4-FFF2-40B4-BE49-F238E27FC236}">
                <a16:creationId xmlns:a16="http://schemas.microsoft.com/office/drawing/2014/main" id="{10C560CC-CE9E-298D-9BFB-AA3D6BDBAD78}"/>
              </a:ext>
            </a:extLst>
          </p:cNvPr>
          <p:cNvSpPr txBox="1"/>
          <p:nvPr/>
        </p:nvSpPr>
        <p:spPr>
          <a:xfrm>
            <a:off x="5695891" y="1809750"/>
            <a:ext cx="800219" cy="338554"/>
          </a:xfrm>
          <a:prstGeom prst="rect">
            <a:avLst/>
          </a:prstGeom>
          <a:noFill/>
        </p:spPr>
        <p:txBody>
          <a:bodyPr wrap="none" rtlCol="0">
            <a:spAutoFit/>
          </a:bodyPr>
          <a:lstStyle/>
          <a:p>
            <a:pPr algn="ctr"/>
            <a:r>
              <a:rPr lang="zh-CN" altLang="en-US" sz="1600" dirty="0"/>
              <a:t>配置库</a:t>
            </a:r>
          </a:p>
        </p:txBody>
      </p:sp>
    </p:spTree>
    <p:extLst>
      <p:ext uri="{BB962C8B-B14F-4D97-AF65-F5344CB8AC3E}">
        <p14:creationId xmlns:p14="http://schemas.microsoft.com/office/powerpoint/2010/main" val="3358279613"/>
      </p:ext>
    </p:extLst>
  </p:cSld>
  <p:clrMapOvr>
    <a:masterClrMapping/>
  </p:clrMapOvr>
</p:sld>
</file>

<file path=ppt/slides/slide3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D4F48-0815-FFE7-3640-C7C20E99322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9E73587-E12C-6B8B-9940-A59B8FA68AE7}"/>
              </a:ext>
            </a:extLst>
          </p:cNvPr>
          <p:cNvSpPr>
            <a:spLocks noGrp="1"/>
          </p:cNvSpPr>
          <p:nvPr>
            <p:ph type="title"/>
          </p:nvPr>
        </p:nvSpPr>
        <p:spPr>
          <a:xfrm>
            <a:off x="792000" y="360000"/>
            <a:ext cx="6375921" cy="429413"/>
          </a:xfrm>
        </p:spPr>
        <p:txBody>
          <a:bodyPr/>
          <a:lstStyle/>
          <a:p>
            <a:r>
              <a:rPr lang="en-US" altLang="zh-CN" dirty="0"/>
              <a:t>2.3 </a:t>
            </a:r>
            <a:r>
              <a:rPr lang="zh-CN" altLang="en-US" dirty="0"/>
              <a:t>基线变更管理</a:t>
            </a:r>
          </a:p>
        </p:txBody>
      </p:sp>
      <p:sp>
        <p:nvSpPr>
          <p:cNvPr id="14" name="内容占位符 13">
            <a:extLst>
              <a:ext uri="{FF2B5EF4-FFF2-40B4-BE49-F238E27FC236}">
                <a16:creationId xmlns:a16="http://schemas.microsoft.com/office/drawing/2014/main" id="{C947D2E8-E326-6F0B-F3C0-9814D5145977}"/>
              </a:ext>
            </a:extLst>
          </p:cNvPr>
          <p:cNvSpPr>
            <a:spLocks noGrp="1"/>
          </p:cNvSpPr>
          <p:nvPr>
            <p:ph idx="1"/>
          </p:nvPr>
        </p:nvSpPr>
        <p:spPr>
          <a:xfrm>
            <a:off x="696000" y="864000"/>
            <a:ext cx="10800000" cy="5400000"/>
          </a:xfrm>
        </p:spPr>
        <p:txBody>
          <a:bodyPr/>
          <a:lstStyle/>
          <a:p>
            <a:r>
              <a:rPr lang="zh-CN" altLang="en-US" dirty="0"/>
              <a:t>提交变更请求</a:t>
            </a:r>
          </a:p>
          <a:p>
            <a:r>
              <a:rPr lang="zh-CN" altLang="en-US" dirty="0"/>
              <a:t>变更控制委员会 </a:t>
            </a:r>
            <a:r>
              <a:rPr lang="en-US" altLang="zh-CN" dirty="0"/>
              <a:t>CCB</a:t>
            </a:r>
            <a:r>
              <a:rPr lang="zh-CN" altLang="en-US" dirty="0"/>
              <a:t>评估变更影响</a:t>
            </a:r>
          </a:p>
          <a:p>
            <a:r>
              <a:rPr lang="zh-CN" altLang="en-US" dirty="0"/>
              <a:t>若批准，则执行变更并发布通知</a:t>
            </a:r>
            <a:endParaRPr lang="en-US" altLang="zh-CN" dirty="0"/>
          </a:p>
          <a:p>
            <a:r>
              <a:rPr lang="zh-CN" altLang="en-US" dirty="0"/>
              <a:t>若拒绝，则通知申请人并归档</a:t>
            </a:r>
          </a:p>
          <a:p>
            <a:r>
              <a:rPr lang="zh-CN" altLang="en-US" dirty="0"/>
              <a:t>更新基线与文档，关闭变更请求，发布通知</a:t>
            </a:r>
          </a:p>
          <a:p>
            <a:endParaRPr lang="zh-CN" altLang="en-US" dirty="0"/>
          </a:p>
        </p:txBody>
      </p:sp>
      <p:sp>
        <p:nvSpPr>
          <p:cNvPr id="5" name="文本占位符 4">
            <a:extLst>
              <a:ext uri="{FF2B5EF4-FFF2-40B4-BE49-F238E27FC236}">
                <a16:creationId xmlns:a16="http://schemas.microsoft.com/office/drawing/2014/main" id="{8CFB1CD4-2D6A-C71D-52A9-49D5F6235336}"/>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2928828756"/>
      </p:ext>
    </p:extLst>
  </p:cSld>
  <p:clrMapOvr>
    <a:masterClrMapping/>
  </p:clrMapOvr>
</p:sld>
</file>

<file path=ppt/slides/slide3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970ED0-22B2-3400-6954-209776C689ED}"/>
              </a:ext>
            </a:extLst>
          </p:cNvPr>
          <p:cNvSpPr>
            <a:spLocks noGrp="1"/>
          </p:cNvSpPr>
          <p:nvPr>
            <p:ph type="title"/>
          </p:nvPr>
        </p:nvSpPr>
        <p:spPr>
          <a:xfrm>
            <a:off x="792000" y="360000"/>
            <a:ext cx="6375921" cy="429413"/>
          </a:xfrm>
        </p:spPr>
        <p:txBody>
          <a:bodyPr/>
          <a:lstStyle/>
          <a:p>
            <a:r>
              <a:rPr lang="en-US" altLang="zh-CN" dirty="0"/>
              <a:t>2.3 </a:t>
            </a:r>
            <a:r>
              <a:rPr lang="zh-CN" altLang="en-US" dirty="0"/>
              <a:t>基线变更管理</a:t>
            </a:r>
          </a:p>
        </p:txBody>
      </p:sp>
      <p:sp>
        <p:nvSpPr>
          <p:cNvPr id="4" name="内容占位符 3">
            <a:extLst>
              <a:ext uri="{FF2B5EF4-FFF2-40B4-BE49-F238E27FC236}">
                <a16:creationId xmlns:a16="http://schemas.microsoft.com/office/drawing/2014/main" id="{BFE6CF23-5EA1-F0F4-3ACA-4E4FF86B848B}"/>
              </a:ext>
            </a:extLst>
          </p:cNvPr>
          <p:cNvSpPr>
            <a:spLocks noGrp="1"/>
          </p:cNvSpPr>
          <p:nvPr>
            <p:ph idx="1"/>
          </p:nvPr>
        </p:nvSpPr>
        <p:spPr/>
        <p:txBody>
          <a:bodyPr/>
          <a:lstStyle/>
          <a:p>
            <a:endParaRPr lang="zh-CN" altLang="en-US"/>
          </a:p>
        </p:txBody>
      </p:sp>
      <p:sp>
        <p:nvSpPr>
          <p:cNvPr id="5" name="文本占位符 4">
            <a:extLst>
              <a:ext uri="{FF2B5EF4-FFF2-40B4-BE49-F238E27FC236}">
                <a16:creationId xmlns:a16="http://schemas.microsoft.com/office/drawing/2014/main" id="{701EB060-CC85-436C-AA9F-919F13EE760A}"/>
              </a:ext>
            </a:extLst>
          </p:cNvPr>
          <p:cNvSpPr>
            <a:spLocks noGrp="1"/>
          </p:cNvSpPr>
          <p:nvPr>
            <p:ph type="body" sz="quarter" idx="10"/>
          </p:nvPr>
        </p:nvSpPr>
        <p:spPr/>
        <p:txBody>
          <a:bodyPr/>
          <a:lstStyle/>
          <a:p>
            <a:endParaRPr lang="zh-CN" altLang="en-US"/>
          </a:p>
        </p:txBody>
      </p:sp>
      <p:sp>
        <p:nvSpPr>
          <p:cNvPr id="9" name="MH_SubTitle_1">
            <a:extLst>
              <a:ext uri="{FF2B5EF4-FFF2-40B4-BE49-F238E27FC236}">
                <a16:creationId xmlns:a16="http://schemas.microsoft.com/office/drawing/2014/main" id="{E54C586E-FFA5-9B2B-6F65-8AE1724330FD}"/>
              </a:ext>
            </a:extLst>
          </p:cNvPr>
          <p:cNvSpPr>
            <a:spLocks noChangeArrowheads="1"/>
          </p:cNvSpPr>
          <p:nvPr/>
        </p:nvSpPr>
        <p:spPr bwMode="auto">
          <a:xfrm>
            <a:off x="1593248" y="1136640"/>
            <a:ext cx="4572000" cy="338554"/>
          </a:xfrm>
          <a:prstGeom prst="rect">
            <a:avLst/>
          </a:prstGeom>
          <a:noFill/>
          <a:ln w="9525">
            <a:noFill/>
            <a:miter lim="800000"/>
          </a:ln>
        </p:spPr>
        <p:txBody>
          <a:bodyPr anchor="b">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r>
              <a:rPr lang="zh-CN" altLang="en-US" sz="1600" dirty="0">
                <a:solidFill>
                  <a:srgbClr val="E05F73"/>
                </a:solidFill>
              </a:rPr>
              <a:t>申请</a:t>
            </a:r>
          </a:p>
        </p:txBody>
      </p:sp>
      <p:sp>
        <p:nvSpPr>
          <p:cNvPr id="10" name="MH_Other_1">
            <a:extLst>
              <a:ext uri="{FF2B5EF4-FFF2-40B4-BE49-F238E27FC236}">
                <a16:creationId xmlns:a16="http://schemas.microsoft.com/office/drawing/2014/main" id="{6AC9808D-AA56-8EB0-8015-87AAD2D5BD36}"/>
              </a:ext>
            </a:extLst>
          </p:cNvPr>
          <p:cNvSpPr/>
          <p:nvPr/>
        </p:nvSpPr>
        <p:spPr>
          <a:xfrm>
            <a:off x="1425258" y="891104"/>
            <a:ext cx="68262" cy="1320800"/>
          </a:xfrm>
          <a:prstGeom prst="rect">
            <a:avLst/>
          </a:prstGeom>
          <a:solidFill>
            <a:srgbClr val="E26664">
              <a:lumMod val="40000"/>
              <a:lumOff val="60000"/>
            </a:srgbClr>
          </a:solidFill>
          <a:ln w="12700" cap="flat" cmpd="sng" algn="ctr">
            <a:noFill/>
            <a:prstDash val="solid"/>
            <a:miter lim="800000"/>
          </a:ln>
          <a:effectLst/>
        </p:spPr>
        <p:txBody>
          <a:bodyPr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fontAlgn="auto" hangingPunct="1">
              <a:spcBef>
                <a:spcPts val="0"/>
              </a:spcBef>
              <a:spcAft>
                <a:spcPts val="0"/>
              </a:spcAft>
              <a:defRPr/>
            </a:pPr>
            <a:endParaRPr lang="zh-CN" altLang="en-US" kern="0">
              <a:solidFill>
                <a:srgbClr val="FFFFFF"/>
              </a:solidFill>
              <a:latin typeface="Calibri" panose="020F0502020204030204"/>
              <a:ea typeface="幼圆" panose="02010509060101010101" pitchFamily="49" charset="-122"/>
            </a:endParaRPr>
          </a:p>
        </p:txBody>
      </p:sp>
      <p:cxnSp>
        <p:nvCxnSpPr>
          <p:cNvPr id="11" name="MH_Other_2">
            <a:extLst>
              <a:ext uri="{FF2B5EF4-FFF2-40B4-BE49-F238E27FC236}">
                <a16:creationId xmlns:a16="http://schemas.microsoft.com/office/drawing/2014/main" id="{1CC96631-3D9D-F396-52A6-B04FE99533B7}"/>
              </a:ext>
            </a:extLst>
          </p:cNvPr>
          <p:cNvCxnSpPr>
            <a:cxnSpLocks noChangeShapeType="1"/>
          </p:cNvCxnSpPr>
          <p:nvPr/>
        </p:nvCxnSpPr>
        <p:spPr bwMode="auto">
          <a:xfrm flipV="1">
            <a:off x="1593248" y="1474559"/>
            <a:ext cx="9864000" cy="635"/>
          </a:xfrm>
          <a:prstGeom prst="line">
            <a:avLst/>
          </a:prstGeom>
          <a:noFill/>
          <a:ln w="19050" algn="ctr">
            <a:solidFill>
              <a:srgbClr val="BFBFBF"/>
            </a:solidFill>
            <a:prstDash val="sysDash"/>
            <a:miter lim="800000"/>
          </a:ln>
        </p:spPr>
      </p:cxnSp>
      <p:sp>
        <p:nvSpPr>
          <p:cNvPr id="12" name="MH_Other_3">
            <a:extLst>
              <a:ext uri="{FF2B5EF4-FFF2-40B4-BE49-F238E27FC236}">
                <a16:creationId xmlns:a16="http://schemas.microsoft.com/office/drawing/2014/main" id="{127D48FD-48E8-C5D9-E085-F66C0D0E59A2}"/>
              </a:ext>
            </a:extLst>
          </p:cNvPr>
          <p:cNvSpPr txBox="1">
            <a:spLocks noChangeArrowheads="1"/>
          </p:cNvSpPr>
          <p:nvPr/>
        </p:nvSpPr>
        <p:spPr bwMode="auto">
          <a:xfrm>
            <a:off x="688181" y="908566"/>
            <a:ext cx="738664" cy="1303338"/>
          </a:xfrm>
          <a:prstGeom prst="rect">
            <a:avLst/>
          </a:prstGeom>
          <a:noFill/>
          <a:ln w="9525">
            <a:noFill/>
            <a:miter lim="800000"/>
          </a:ln>
        </p:spPr>
        <p:txBody>
          <a:bodyPr vert="eaVert"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altLang="zh-CN" sz="4800" b="1" dirty="0">
                <a:solidFill>
                  <a:srgbClr val="E05F73"/>
                </a:solidFill>
                <a:ea typeface="幼圆" panose="02010509060101010101" pitchFamily="49" charset="-122"/>
              </a:rPr>
              <a:t>01</a:t>
            </a:r>
            <a:endParaRPr lang="zh-CN" altLang="en-US" sz="4800" b="1" dirty="0">
              <a:solidFill>
                <a:srgbClr val="E05F73"/>
              </a:solidFill>
              <a:ea typeface="幼圆" panose="02010509060101010101" pitchFamily="49" charset="-122"/>
            </a:endParaRPr>
          </a:p>
        </p:txBody>
      </p:sp>
      <p:sp>
        <p:nvSpPr>
          <p:cNvPr id="13" name="文本框 12">
            <a:extLst>
              <a:ext uri="{FF2B5EF4-FFF2-40B4-BE49-F238E27FC236}">
                <a16:creationId xmlns:a16="http://schemas.microsoft.com/office/drawing/2014/main" id="{84B1A9E3-ADD7-2B05-4CEF-DAEF277379BE}"/>
              </a:ext>
            </a:extLst>
          </p:cNvPr>
          <p:cNvSpPr txBox="1"/>
          <p:nvPr/>
        </p:nvSpPr>
        <p:spPr>
          <a:xfrm>
            <a:off x="1593248" y="1474559"/>
            <a:ext cx="4525598" cy="584775"/>
          </a:xfrm>
          <a:prstGeom prst="rect">
            <a:avLst/>
          </a:prstGeom>
          <a:noFill/>
        </p:spPr>
        <p:txBody>
          <a:bodyPr wrap="none" rtlCol="0">
            <a:spAutoFit/>
          </a:bodyPr>
          <a:lstStyle/>
          <a:p>
            <a:r>
              <a:rPr lang="zh-CN" altLang="en-US" sz="1600" dirty="0"/>
              <a:t>申请人填写</a:t>
            </a:r>
            <a:r>
              <a:rPr lang="en-US" altLang="zh-CN" sz="1600" dirty="0"/>
              <a:t>《</a:t>
            </a:r>
            <a:r>
              <a:rPr lang="zh-CN" altLang="en-US" sz="1600" dirty="0"/>
              <a:t>变更请求单</a:t>
            </a:r>
            <a:r>
              <a:rPr lang="en-US" altLang="zh-CN" sz="1600" dirty="0"/>
              <a:t>》</a:t>
            </a:r>
          </a:p>
          <a:p>
            <a:r>
              <a:rPr lang="zh-CN" altLang="en-US" sz="1600" dirty="0"/>
              <a:t>必须明确“为什么要变”、“变什么”、“不变的后果”</a:t>
            </a:r>
          </a:p>
        </p:txBody>
      </p:sp>
      <p:sp>
        <p:nvSpPr>
          <p:cNvPr id="15" name="MH_SubTitle_1">
            <a:extLst>
              <a:ext uri="{FF2B5EF4-FFF2-40B4-BE49-F238E27FC236}">
                <a16:creationId xmlns:a16="http://schemas.microsoft.com/office/drawing/2014/main" id="{6E444DE2-F630-EB3D-86D4-7713DC67A79F}"/>
              </a:ext>
            </a:extLst>
          </p:cNvPr>
          <p:cNvSpPr>
            <a:spLocks noChangeArrowheads="1"/>
          </p:cNvSpPr>
          <p:nvPr/>
        </p:nvSpPr>
        <p:spPr bwMode="auto">
          <a:xfrm>
            <a:off x="2328000" y="2856317"/>
            <a:ext cx="4572000" cy="338554"/>
          </a:xfrm>
          <a:prstGeom prst="rect">
            <a:avLst/>
          </a:prstGeom>
          <a:noFill/>
          <a:ln w="9525">
            <a:noFill/>
            <a:miter lim="800000"/>
          </a:ln>
        </p:spPr>
        <p:txBody>
          <a:bodyPr anchor="b">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r>
              <a:rPr lang="zh-CN" altLang="en-US" sz="1600" dirty="0">
                <a:solidFill>
                  <a:srgbClr val="E05F73"/>
                </a:solidFill>
              </a:rPr>
              <a:t>评估</a:t>
            </a:r>
          </a:p>
        </p:txBody>
      </p:sp>
      <p:sp>
        <p:nvSpPr>
          <p:cNvPr id="16" name="MH_Other_1">
            <a:extLst>
              <a:ext uri="{FF2B5EF4-FFF2-40B4-BE49-F238E27FC236}">
                <a16:creationId xmlns:a16="http://schemas.microsoft.com/office/drawing/2014/main" id="{60B8A251-C7AD-0F4F-A12C-55B38E238103}"/>
              </a:ext>
            </a:extLst>
          </p:cNvPr>
          <p:cNvSpPr/>
          <p:nvPr/>
        </p:nvSpPr>
        <p:spPr>
          <a:xfrm>
            <a:off x="2160010" y="2610781"/>
            <a:ext cx="68262" cy="1320800"/>
          </a:xfrm>
          <a:prstGeom prst="rect">
            <a:avLst/>
          </a:prstGeom>
          <a:solidFill>
            <a:srgbClr val="E26664">
              <a:lumMod val="40000"/>
              <a:lumOff val="60000"/>
            </a:srgbClr>
          </a:solidFill>
          <a:ln w="12700" cap="flat" cmpd="sng" algn="ctr">
            <a:noFill/>
            <a:prstDash val="solid"/>
            <a:miter lim="800000"/>
          </a:ln>
          <a:effectLst/>
        </p:spPr>
        <p:txBody>
          <a:bodyPr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fontAlgn="auto" hangingPunct="1">
              <a:spcBef>
                <a:spcPts val="0"/>
              </a:spcBef>
              <a:spcAft>
                <a:spcPts val="0"/>
              </a:spcAft>
              <a:defRPr/>
            </a:pPr>
            <a:endParaRPr lang="zh-CN" altLang="en-US" kern="0">
              <a:solidFill>
                <a:srgbClr val="FFFFFF"/>
              </a:solidFill>
              <a:latin typeface="Calibri" panose="020F0502020204030204"/>
              <a:ea typeface="幼圆" panose="02010509060101010101" pitchFamily="49" charset="-122"/>
            </a:endParaRPr>
          </a:p>
        </p:txBody>
      </p:sp>
      <p:cxnSp>
        <p:nvCxnSpPr>
          <p:cNvPr id="17" name="MH_Other_2">
            <a:extLst>
              <a:ext uri="{FF2B5EF4-FFF2-40B4-BE49-F238E27FC236}">
                <a16:creationId xmlns:a16="http://schemas.microsoft.com/office/drawing/2014/main" id="{F46CEC91-0B3B-94C6-FB7A-0E0A56055EAA}"/>
              </a:ext>
            </a:extLst>
          </p:cNvPr>
          <p:cNvCxnSpPr>
            <a:cxnSpLocks noChangeShapeType="1"/>
          </p:cNvCxnSpPr>
          <p:nvPr/>
        </p:nvCxnSpPr>
        <p:spPr bwMode="auto">
          <a:xfrm flipV="1">
            <a:off x="2328000" y="3194236"/>
            <a:ext cx="9108000" cy="635"/>
          </a:xfrm>
          <a:prstGeom prst="line">
            <a:avLst/>
          </a:prstGeom>
          <a:noFill/>
          <a:ln w="19050" algn="ctr">
            <a:solidFill>
              <a:srgbClr val="BFBFBF"/>
            </a:solidFill>
            <a:prstDash val="sysDash"/>
            <a:miter lim="800000"/>
          </a:ln>
        </p:spPr>
      </p:cxnSp>
      <p:sp>
        <p:nvSpPr>
          <p:cNvPr id="18" name="MH_Other_3">
            <a:extLst>
              <a:ext uri="{FF2B5EF4-FFF2-40B4-BE49-F238E27FC236}">
                <a16:creationId xmlns:a16="http://schemas.microsoft.com/office/drawing/2014/main" id="{09E7F881-407F-3C40-F8A8-89577531C8B5}"/>
              </a:ext>
            </a:extLst>
          </p:cNvPr>
          <p:cNvSpPr txBox="1">
            <a:spLocks noChangeArrowheads="1"/>
          </p:cNvSpPr>
          <p:nvPr/>
        </p:nvSpPr>
        <p:spPr bwMode="auto">
          <a:xfrm>
            <a:off x="1422933" y="2628243"/>
            <a:ext cx="738664" cy="1303338"/>
          </a:xfrm>
          <a:prstGeom prst="rect">
            <a:avLst/>
          </a:prstGeom>
          <a:noFill/>
          <a:ln w="9525">
            <a:noFill/>
            <a:miter lim="800000"/>
          </a:ln>
        </p:spPr>
        <p:txBody>
          <a:bodyPr vert="eaVert"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altLang="zh-CN" sz="4800" b="1" dirty="0">
                <a:solidFill>
                  <a:srgbClr val="E05F73"/>
                </a:solidFill>
                <a:ea typeface="幼圆" panose="02010509060101010101" pitchFamily="49" charset="-122"/>
              </a:rPr>
              <a:t>02</a:t>
            </a:r>
            <a:endParaRPr lang="zh-CN" altLang="en-US" sz="4800" b="1" dirty="0">
              <a:solidFill>
                <a:srgbClr val="E05F73"/>
              </a:solidFill>
              <a:ea typeface="幼圆" panose="02010509060101010101" pitchFamily="49" charset="-122"/>
            </a:endParaRPr>
          </a:p>
        </p:txBody>
      </p:sp>
      <p:sp>
        <p:nvSpPr>
          <p:cNvPr id="19" name="文本框 18">
            <a:extLst>
              <a:ext uri="{FF2B5EF4-FFF2-40B4-BE49-F238E27FC236}">
                <a16:creationId xmlns:a16="http://schemas.microsoft.com/office/drawing/2014/main" id="{290A4C03-F640-9B71-37AF-47D3F652B707}"/>
              </a:ext>
            </a:extLst>
          </p:cNvPr>
          <p:cNvSpPr txBox="1"/>
          <p:nvPr/>
        </p:nvSpPr>
        <p:spPr>
          <a:xfrm>
            <a:off x="2328000" y="3194236"/>
            <a:ext cx="3877985" cy="584775"/>
          </a:xfrm>
          <a:prstGeom prst="rect">
            <a:avLst/>
          </a:prstGeom>
          <a:noFill/>
        </p:spPr>
        <p:txBody>
          <a:bodyPr wrap="none" rtlCol="0">
            <a:spAutoFit/>
          </a:bodyPr>
          <a:lstStyle/>
          <a:p>
            <a:r>
              <a:rPr lang="en-US" altLang="zh-CN" sz="1600" dirty="0"/>
              <a:t>CCB </a:t>
            </a:r>
            <a:r>
              <a:rPr lang="zh-CN" altLang="en-US" sz="1600" dirty="0"/>
              <a:t>召开会议。</a:t>
            </a:r>
          </a:p>
          <a:p>
            <a:r>
              <a:rPr lang="zh-CN" altLang="en-US" sz="1600" dirty="0"/>
              <a:t>内容：分析技术可行性、成本、进度影响</a:t>
            </a:r>
          </a:p>
        </p:txBody>
      </p:sp>
      <p:sp>
        <p:nvSpPr>
          <p:cNvPr id="20" name="MH_SubTitle_1">
            <a:extLst>
              <a:ext uri="{FF2B5EF4-FFF2-40B4-BE49-F238E27FC236}">
                <a16:creationId xmlns:a16="http://schemas.microsoft.com/office/drawing/2014/main" id="{BC45BA34-99A2-1BCD-EB31-F3D634BF2727}"/>
              </a:ext>
            </a:extLst>
          </p:cNvPr>
          <p:cNvSpPr>
            <a:spLocks noChangeArrowheads="1"/>
          </p:cNvSpPr>
          <p:nvPr/>
        </p:nvSpPr>
        <p:spPr bwMode="auto">
          <a:xfrm>
            <a:off x="3105422" y="4611449"/>
            <a:ext cx="4572000" cy="338554"/>
          </a:xfrm>
          <a:prstGeom prst="rect">
            <a:avLst/>
          </a:prstGeom>
          <a:noFill/>
          <a:ln w="9525">
            <a:noFill/>
            <a:miter lim="800000"/>
          </a:ln>
        </p:spPr>
        <p:txBody>
          <a:bodyPr anchor="b">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r>
              <a:rPr lang="zh-CN" altLang="en-US" sz="1600" dirty="0">
                <a:solidFill>
                  <a:srgbClr val="E05F73"/>
                </a:solidFill>
              </a:rPr>
              <a:t>决策与通知</a:t>
            </a:r>
          </a:p>
        </p:txBody>
      </p:sp>
      <p:sp>
        <p:nvSpPr>
          <p:cNvPr id="21" name="MH_Other_1">
            <a:extLst>
              <a:ext uri="{FF2B5EF4-FFF2-40B4-BE49-F238E27FC236}">
                <a16:creationId xmlns:a16="http://schemas.microsoft.com/office/drawing/2014/main" id="{1A63D934-06FB-9F08-B7A0-88BDF3D8BA1B}"/>
              </a:ext>
            </a:extLst>
          </p:cNvPr>
          <p:cNvSpPr/>
          <p:nvPr/>
        </p:nvSpPr>
        <p:spPr>
          <a:xfrm>
            <a:off x="2937432" y="4365913"/>
            <a:ext cx="68262" cy="1320800"/>
          </a:xfrm>
          <a:prstGeom prst="rect">
            <a:avLst/>
          </a:prstGeom>
          <a:solidFill>
            <a:srgbClr val="E26664">
              <a:lumMod val="40000"/>
              <a:lumOff val="60000"/>
            </a:srgbClr>
          </a:solidFill>
          <a:ln w="12700" cap="flat" cmpd="sng" algn="ctr">
            <a:noFill/>
            <a:prstDash val="solid"/>
            <a:miter lim="800000"/>
          </a:ln>
          <a:effectLst/>
        </p:spPr>
        <p:txBody>
          <a:bodyPr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fontAlgn="auto" hangingPunct="1">
              <a:spcBef>
                <a:spcPts val="0"/>
              </a:spcBef>
              <a:spcAft>
                <a:spcPts val="0"/>
              </a:spcAft>
              <a:defRPr/>
            </a:pPr>
            <a:endParaRPr lang="zh-CN" altLang="en-US" kern="0">
              <a:solidFill>
                <a:srgbClr val="FFFFFF"/>
              </a:solidFill>
              <a:latin typeface="Calibri" panose="020F0502020204030204"/>
              <a:ea typeface="幼圆" panose="02010509060101010101" pitchFamily="49" charset="-122"/>
            </a:endParaRPr>
          </a:p>
        </p:txBody>
      </p:sp>
      <p:cxnSp>
        <p:nvCxnSpPr>
          <p:cNvPr id="22" name="MH_Other_2">
            <a:extLst>
              <a:ext uri="{FF2B5EF4-FFF2-40B4-BE49-F238E27FC236}">
                <a16:creationId xmlns:a16="http://schemas.microsoft.com/office/drawing/2014/main" id="{16CB1CEC-A8DB-10C0-CA5C-9EC2D882FC94}"/>
              </a:ext>
            </a:extLst>
          </p:cNvPr>
          <p:cNvCxnSpPr>
            <a:cxnSpLocks noChangeShapeType="1"/>
          </p:cNvCxnSpPr>
          <p:nvPr/>
        </p:nvCxnSpPr>
        <p:spPr bwMode="auto">
          <a:xfrm flipV="1">
            <a:off x="3105422" y="4949368"/>
            <a:ext cx="8352000" cy="635"/>
          </a:xfrm>
          <a:prstGeom prst="line">
            <a:avLst/>
          </a:prstGeom>
          <a:noFill/>
          <a:ln w="19050" algn="ctr">
            <a:solidFill>
              <a:srgbClr val="BFBFBF"/>
            </a:solidFill>
            <a:prstDash val="sysDash"/>
            <a:miter lim="800000"/>
          </a:ln>
        </p:spPr>
      </p:cxnSp>
      <p:sp>
        <p:nvSpPr>
          <p:cNvPr id="23" name="MH_Other_3">
            <a:extLst>
              <a:ext uri="{FF2B5EF4-FFF2-40B4-BE49-F238E27FC236}">
                <a16:creationId xmlns:a16="http://schemas.microsoft.com/office/drawing/2014/main" id="{F5B74529-3D6C-5CEF-FC53-C15D1BBC5371}"/>
              </a:ext>
            </a:extLst>
          </p:cNvPr>
          <p:cNvSpPr txBox="1">
            <a:spLocks noChangeArrowheads="1"/>
          </p:cNvSpPr>
          <p:nvPr/>
        </p:nvSpPr>
        <p:spPr bwMode="auto">
          <a:xfrm>
            <a:off x="2200355" y="4383375"/>
            <a:ext cx="738664" cy="1303338"/>
          </a:xfrm>
          <a:prstGeom prst="rect">
            <a:avLst/>
          </a:prstGeom>
          <a:noFill/>
          <a:ln w="9525">
            <a:noFill/>
            <a:miter lim="800000"/>
          </a:ln>
        </p:spPr>
        <p:txBody>
          <a:bodyPr vert="eaVert"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altLang="zh-CN" sz="4800" b="1" dirty="0">
                <a:solidFill>
                  <a:srgbClr val="E05F73"/>
                </a:solidFill>
                <a:ea typeface="幼圆" panose="02010509060101010101" pitchFamily="49" charset="-122"/>
              </a:rPr>
              <a:t>03</a:t>
            </a:r>
            <a:endParaRPr lang="zh-CN" altLang="en-US" sz="4800" b="1" dirty="0">
              <a:solidFill>
                <a:srgbClr val="E05F73"/>
              </a:solidFill>
              <a:ea typeface="幼圆" panose="02010509060101010101" pitchFamily="49" charset="-122"/>
            </a:endParaRPr>
          </a:p>
        </p:txBody>
      </p:sp>
      <p:sp>
        <p:nvSpPr>
          <p:cNvPr id="24" name="文本框 23">
            <a:extLst>
              <a:ext uri="{FF2B5EF4-FFF2-40B4-BE49-F238E27FC236}">
                <a16:creationId xmlns:a16="http://schemas.microsoft.com/office/drawing/2014/main" id="{4D7DE840-3423-F7B2-701B-226ADB13028A}"/>
              </a:ext>
            </a:extLst>
          </p:cNvPr>
          <p:cNvSpPr txBox="1"/>
          <p:nvPr/>
        </p:nvSpPr>
        <p:spPr>
          <a:xfrm>
            <a:off x="3105422" y="4949368"/>
            <a:ext cx="5408853" cy="584775"/>
          </a:xfrm>
          <a:prstGeom prst="rect">
            <a:avLst/>
          </a:prstGeom>
          <a:noFill/>
        </p:spPr>
        <p:txBody>
          <a:bodyPr wrap="none" rtlCol="0">
            <a:spAutoFit/>
          </a:bodyPr>
          <a:lstStyle/>
          <a:p>
            <a:r>
              <a:rPr lang="en-US" altLang="zh-CN" sz="1600" dirty="0"/>
              <a:t>CCB </a:t>
            </a:r>
            <a:r>
              <a:rPr lang="zh-CN" altLang="en-US" sz="1600" dirty="0"/>
              <a:t>驳回。通知申请人，说明理由，流程结束，单据归档</a:t>
            </a:r>
            <a:endParaRPr lang="en-US" altLang="zh-CN" sz="1600" dirty="0"/>
          </a:p>
          <a:p>
            <a:r>
              <a:rPr lang="en-US" altLang="zh-CN" sz="1600" dirty="0"/>
              <a:t>CCB </a:t>
            </a:r>
            <a:r>
              <a:rPr lang="zh-CN" altLang="en-US" sz="1600" dirty="0"/>
              <a:t>签字批准。通知申请人、受影响的相关方</a:t>
            </a:r>
          </a:p>
        </p:txBody>
      </p:sp>
    </p:spTree>
    <p:extLst>
      <p:ext uri="{BB962C8B-B14F-4D97-AF65-F5344CB8AC3E}">
        <p14:creationId xmlns:p14="http://schemas.microsoft.com/office/powerpoint/2010/main" val="417245150"/>
      </p:ext>
    </p:extLst>
  </p:cSld>
  <p:clrMapOvr>
    <a:masterClrMapping/>
  </p:clrMapOvr>
</p:sld>
</file>

<file path=ppt/slides/slide3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B64BC-F659-5A68-3264-22F553482D3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A174C4C-DC52-BD59-E743-54BF85769EB6}"/>
              </a:ext>
            </a:extLst>
          </p:cNvPr>
          <p:cNvSpPr>
            <a:spLocks noGrp="1"/>
          </p:cNvSpPr>
          <p:nvPr>
            <p:ph type="title"/>
          </p:nvPr>
        </p:nvSpPr>
        <p:spPr>
          <a:xfrm>
            <a:off x="792000" y="360000"/>
            <a:ext cx="6375921" cy="429413"/>
          </a:xfrm>
        </p:spPr>
        <p:txBody>
          <a:bodyPr/>
          <a:lstStyle/>
          <a:p>
            <a:r>
              <a:rPr lang="en-US" altLang="zh-CN" dirty="0"/>
              <a:t>2.3 </a:t>
            </a:r>
            <a:r>
              <a:rPr lang="zh-CN" altLang="en-US" dirty="0"/>
              <a:t>基线变更管理</a:t>
            </a:r>
          </a:p>
        </p:txBody>
      </p:sp>
      <p:sp>
        <p:nvSpPr>
          <p:cNvPr id="4" name="内容占位符 3">
            <a:extLst>
              <a:ext uri="{FF2B5EF4-FFF2-40B4-BE49-F238E27FC236}">
                <a16:creationId xmlns:a16="http://schemas.microsoft.com/office/drawing/2014/main" id="{6573F875-A508-627B-7EBB-CC2080BE98F9}"/>
              </a:ext>
            </a:extLst>
          </p:cNvPr>
          <p:cNvSpPr>
            <a:spLocks noGrp="1"/>
          </p:cNvSpPr>
          <p:nvPr>
            <p:ph idx="1"/>
          </p:nvPr>
        </p:nvSpPr>
        <p:spPr/>
        <p:txBody>
          <a:bodyPr/>
          <a:lstStyle/>
          <a:p>
            <a:endParaRPr lang="zh-CN" altLang="en-US"/>
          </a:p>
        </p:txBody>
      </p:sp>
      <p:sp>
        <p:nvSpPr>
          <p:cNvPr id="5" name="文本占位符 4">
            <a:extLst>
              <a:ext uri="{FF2B5EF4-FFF2-40B4-BE49-F238E27FC236}">
                <a16:creationId xmlns:a16="http://schemas.microsoft.com/office/drawing/2014/main" id="{FCB84F75-A098-36DC-9557-7C55F975F0C2}"/>
              </a:ext>
            </a:extLst>
          </p:cNvPr>
          <p:cNvSpPr>
            <a:spLocks noGrp="1"/>
          </p:cNvSpPr>
          <p:nvPr>
            <p:ph type="body" sz="quarter" idx="10"/>
          </p:nvPr>
        </p:nvSpPr>
        <p:spPr/>
        <p:txBody>
          <a:bodyPr/>
          <a:lstStyle/>
          <a:p>
            <a:endParaRPr lang="zh-CN" altLang="en-US"/>
          </a:p>
        </p:txBody>
      </p:sp>
      <p:sp>
        <p:nvSpPr>
          <p:cNvPr id="9" name="MH_SubTitle_1">
            <a:extLst>
              <a:ext uri="{FF2B5EF4-FFF2-40B4-BE49-F238E27FC236}">
                <a16:creationId xmlns:a16="http://schemas.microsoft.com/office/drawing/2014/main" id="{3A254024-2505-ED4B-C0EC-F1D892841589}"/>
              </a:ext>
            </a:extLst>
          </p:cNvPr>
          <p:cNvSpPr>
            <a:spLocks noChangeArrowheads="1"/>
          </p:cNvSpPr>
          <p:nvPr/>
        </p:nvSpPr>
        <p:spPr bwMode="auto">
          <a:xfrm>
            <a:off x="1593248" y="1136640"/>
            <a:ext cx="4572000" cy="338554"/>
          </a:xfrm>
          <a:prstGeom prst="rect">
            <a:avLst/>
          </a:prstGeom>
          <a:noFill/>
          <a:ln w="9525">
            <a:noFill/>
            <a:miter lim="800000"/>
          </a:ln>
        </p:spPr>
        <p:txBody>
          <a:bodyPr anchor="b">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dirty="0">
                <a:solidFill>
                  <a:srgbClr val="E05F73"/>
                </a:solidFill>
              </a:rPr>
              <a:t>实施</a:t>
            </a:r>
          </a:p>
        </p:txBody>
      </p:sp>
      <p:sp>
        <p:nvSpPr>
          <p:cNvPr id="10" name="MH_Other_1">
            <a:extLst>
              <a:ext uri="{FF2B5EF4-FFF2-40B4-BE49-F238E27FC236}">
                <a16:creationId xmlns:a16="http://schemas.microsoft.com/office/drawing/2014/main" id="{EDAD35DA-9CC1-A3C4-5AF2-E4B8F1C3EF88}"/>
              </a:ext>
            </a:extLst>
          </p:cNvPr>
          <p:cNvSpPr/>
          <p:nvPr/>
        </p:nvSpPr>
        <p:spPr>
          <a:xfrm>
            <a:off x="1425258" y="891104"/>
            <a:ext cx="68262" cy="1320800"/>
          </a:xfrm>
          <a:prstGeom prst="rect">
            <a:avLst/>
          </a:prstGeom>
          <a:solidFill>
            <a:srgbClr val="E26664">
              <a:lumMod val="40000"/>
              <a:lumOff val="60000"/>
            </a:srgbClr>
          </a:solidFill>
          <a:ln w="12700" cap="flat" cmpd="sng" algn="ctr">
            <a:noFill/>
            <a:prstDash val="solid"/>
            <a:miter lim="800000"/>
          </a:ln>
          <a:effectLst/>
        </p:spPr>
        <p:txBody>
          <a:bodyPr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fontAlgn="auto" hangingPunct="1">
              <a:spcBef>
                <a:spcPts val="0"/>
              </a:spcBef>
              <a:spcAft>
                <a:spcPts val="0"/>
              </a:spcAft>
              <a:defRPr/>
            </a:pPr>
            <a:endParaRPr lang="zh-CN" altLang="en-US" kern="0">
              <a:solidFill>
                <a:srgbClr val="FFFFFF"/>
              </a:solidFill>
              <a:latin typeface="Calibri" panose="020F0502020204030204"/>
              <a:ea typeface="幼圆" panose="02010509060101010101" pitchFamily="49" charset="-122"/>
            </a:endParaRPr>
          </a:p>
        </p:txBody>
      </p:sp>
      <p:cxnSp>
        <p:nvCxnSpPr>
          <p:cNvPr id="11" name="MH_Other_2">
            <a:extLst>
              <a:ext uri="{FF2B5EF4-FFF2-40B4-BE49-F238E27FC236}">
                <a16:creationId xmlns:a16="http://schemas.microsoft.com/office/drawing/2014/main" id="{70E9B25F-FBA8-A9ED-1BC9-BDB0DABC7EFE}"/>
              </a:ext>
            </a:extLst>
          </p:cNvPr>
          <p:cNvCxnSpPr>
            <a:cxnSpLocks noChangeShapeType="1"/>
          </p:cNvCxnSpPr>
          <p:nvPr/>
        </p:nvCxnSpPr>
        <p:spPr bwMode="auto">
          <a:xfrm flipV="1">
            <a:off x="1593248" y="1474559"/>
            <a:ext cx="9864000" cy="635"/>
          </a:xfrm>
          <a:prstGeom prst="line">
            <a:avLst/>
          </a:prstGeom>
          <a:noFill/>
          <a:ln w="19050" algn="ctr">
            <a:solidFill>
              <a:srgbClr val="BFBFBF"/>
            </a:solidFill>
            <a:prstDash val="sysDash"/>
            <a:miter lim="800000"/>
          </a:ln>
        </p:spPr>
      </p:cxnSp>
      <p:sp>
        <p:nvSpPr>
          <p:cNvPr id="12" name="MH_Other_3">
            <a:extLst>
              <a:ext uri="{FF2B5EF4-FFF2-40B4-BE49-F238E27FC236}">
                <a16:creationId xmlns:a16="http://schemas.microsoft.com/office/drawing/2014/main" id="{EF8B1283-EA45-3486-9724-7430A272EBF3}"/>
              </a:ext>
            </a:extLst>
          </p:cNvPr>
          <p:cNvSpPr txBox="1">
            <a:spLocks noChangeArrowheads="1"/>
          </p:cNvSpPr>
          <p:nvPr/>
        </p:nvSpPr>
        <p:spPr bwMode="auto">
          <a:xfrm>
            <a:off x="688181" y="908566"/>
            <a:ext cx="738664" cy="1303338"/>
          </a:xfrm>
          <a:prstGeom prst="rect">
            <a:avLst/>
          </a:prstGeom>
          <a:noFill/>
          <a:ln w="9525">
            <a:noFill/>
            <a:miter lim="800000"/>
          </a:ln>
        </p:spPr>
        <p:txBody>
          <a:bodyPr vert="eaVert"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altLang="zh-CN" sz="4800" b="1" dirty="0">
                <a:solidFill>
                  <a:srgbClr val="E05F73"/>
                </a:solidFill>
                <a:ea typeface="幼圆" panose="02010509060101010101" pitchFamily="49" charset="-122"/>
              </a:rPr>
              <a:t>04</a:t>
            </a:r>
            <a:endParaRPr lang="zh-CN" altLang="en-US" sz="4800" b="1" dirty="0">
              <a:solidFill>
                <a:srgbClr val="E05F73"/>
              </a:solidFill>
              <a:ea typeface="幼圆" panose="02010509060101010101" pitchFamily="49" charset="-122"/>
            </a:endParaRPr>
          </a:p>
        </p:txBody>
      </p:sp>
      <p:sp>
        <p:nvSpPr>
          <p:cNvPr id="13" name="文本框 12">
            <a:extLst>
              <a:ext uri="{FF2B5EF4-FFF2-40B4-BE49-F238E27FC236}">
                <a16:creationId xmlns:a16="http://schemas.microsoft.com/office/drawing/2014/main" id="{A847FC7E-F3EE-8136-1AA2-81A6149809DD}"/>
              </a:ext>
            </a:extLst>
          </p:cNvPr>
          <p:cNvSpPr txBox="1"/>
          <p:nvPr/>
        </p:nvSpPr>
        <p:spPr>
          <a:xfrm>
            <a:off x="1593248" y="1474559"/>
            <a:ext cx="4682692" cy="1077218"/>
          </a:xfrm>
          <a:prstGeom prst="rect">
            <a:avLst/>
          </a:prstGeom>
          <a:noFill/>
        </p:spPr>
        <p:txBody>
          <a:bodyPr wrap="none" rtlCol="0">
            <a:spAutoFit/>
          </a:bodyPr>
          <a:lstStyle/>
          <a:p>
            <a:r>
              <a:rPr lang="zh-CN" altLang="en-US" sz="1600" dirty="0"/>
              <a:t>出库：从配置库检出基线</a:t>
            </a:r>
          </a:p>
          <a:p>
            <a:r>
              <a:rPr lang="zh-CN" altLang="en-US" sz="1600" dirty="0"/>
              <a:t>修改：执行变更（代码</a:t>
            </a:r>
            <a:r>
              <a:rPr lang="en-US" altLang="zh-CN" sz="1600" dirty="0"/>
              <a:t>/</a:t>
            </a:r>
            <a:r>
              <a:rPr lang="zh-CN" altLang="en-US" sz="1600" dirty="0"/>
              <a:t>文档修改）</a:t>
            </a:r>
          </a:p>
          <a:p>
            <a:r>
              <a:rPr lang="zh-CN" altLang="en-US" sz="1600" dirty="0"/>
              <a:t>验证：单元测试、集成测试</a:t>
            </a:r>
          </a:p>
          <a:p>
            <a:r>
              <a:rPr lang="zh-CN" altLang="en-US" sz="1600" dirty="0"/>
              <a:t>入库：提交修改，生成新的版本号（如 </a:t>
            </a:r>
            <a:r>
              <a:rPr lang="en-US" altLang="zh-CN" sz="1600" dirty="0"/>
              <a:t>1.0 -&gt; 1.1</a:t>
            </a:r>
            <a:r>
              <a:rPr lang="zh-CN" altLang="en-US" sz="1600" dirty="0"/>
              <a:t>）</a:t>
            </a:r>
          </a:p>
        </p:txBody>
      </p:sp>
      <p:sp>
        <p:nvSpPr>
          <p:cNvPr id="15" name="MH_SubTitle_1">
            <a:extLst>
              <a:ext uri="{FF2B5EF4-FFF2-40B4-BE49-F238E27FC236}">
                <a16:creationId xmlns:a16="http://schemas.microsoft.com/office/drawing/2014/main" id="{DDB99318-E776-6438-5A66-79EA3CF29E60}"/>
              </a:ext>
            </a:extLst>
          </p:cNvPr>
          <p:cNvSpPr>
            <a:spLocks noChangeArrowheads="1"/>
          </p:cNvSpPr>
          <p:nvPr/>
        </p:nvSpPr>
        <p:spPr bwMode="auto">
          <a:xfrm>
            <a:off x="2328000" y="2856317"/>
            <a:ext cx="4572000" cy="338554"/>
          </a:xfrm>
          <a:prstGeom prst="rect">
            <a:avLst/>
          </a:prstGeom>
          <a:noFill/>
          <a:ln w="9525">
            <a:noFill/>
            <a:miter lim="800000"/>
          </a:ln>
        </p:spPr>
        <p:txBody>
          <a:bodyPr anchor="b">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r>
              <a:rPr lang="zh-CN" altLang="en-US" sz="1600" dirty="0">
                <a:solidFill>
                  <a:srgbClr val="E05F73"/>
                </a:solidFill>
              </a:rPr>
              <a:t>验证与关闭</a:t>
            </a:r>
          </a:p>
        </p:txBody>
      </p:sp>
      <p:sp>
        <p:nvSpPr>
          <p:cNvPr id="16" name="MH_Other_1">
            <a:extLst>
              <a:ext uri="{FF2B5EF4-FFF2-40B4-BE49-F238E27FC236}">
                <a16:creationId xmlns:a16="http://schemas.microsoft.com/office/drawing/2014/main" id="{766B72E2-E208-BB74-A9F4-AFFF1BE2343C}"/>
              </a:ext>
            </a:extLst>
          </p:cNvPr>
          <p:cNvSpPr/>
          <p:nvPr/>
        </p:nvSpPr>
        <p:spPr>
          <a:xfrm>
            <a:off x="2160010" y="2610781"/>
            <a:ext cx="68262" cy="1320800"/>
          </a:xfrm>
          <a:prstGeom prst="rect">
            <a:avLst/>
          </a:prstGeom>
          <a:solidFill>
            <a:srgbClr val="E26664">
              <a:lumMod val="40000"/>
              <a:lumOff val="60000"/>
            </a:srgbClr>
          </a:solidFill>
          <a:ln w="12700" cap="flat" cmpd="sng" algn="ctr">
            <a:noFill/>
            <a:prstDash val="solid"/>
            <a:miter lim="800000"/>
          </a:ln>
          <a:effectLst/>
        </p:spPr>
        <p:txBody>
          <a:bodyPr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fontAlgn="auto" hangingPunct="1">
              <a:spcBef>
                <a:spcPts val="0"/>
              </a:spcBef>
              <a:spcAft>
                <a:spcPts val="0"/>
              </a:spcAft>
              <a:defRPr/>
            </a:pPr>
            <a:endParaRPr lang="zh-CN" altLang="en-US" kern="0">
              <a:solidFill>
                <a:srgbClr val="FFFFFF"/>
              </a:solidFill>
              <a:latin typeface="Calibri" panose="020F0502020204030204"/>
              <a:ea typeface="幼圆" panose="02010509060101010101" pitchFamily="49" charset="-122"/>
            </a:endParaRPr>
          </a:p>
        </p:txBody>
      </p:sp>
      <p:cxnSp>
        <p:nvCxnSpPr>
          <p:cNvPr id="17" name="MH_Other_2">
            <a:extLst>
              <a:ext uri="{FF2B5EF4-FFF2-40B4-BE49-F238E27FC236}">
                <a16:creationId xmlns:a16="http://schemas.microsoft.com/office/drawing/2014/main" id="{675B05E4-4D4F-EBF7-9B20-4B11FCDC909D}"/>
              </a:ext>
            </a:extLst>
          </p:cNvPr>
          <p:cNvCxnSpPr>
            <a:cxnSpLocks noChangeShapeType="1"/>
          </p:cNvCxnSpPr>
          <p:nvPr/>
        </p:nvCxnSpPr>
        <p:spPr bwMode="auto">
          <a:xfrm flipV="1">
            <a:off x="2328000" y="3194236"/>
            <a:ext cx="9108000" cy="635"/>
          </a:xfrm>
          <a:prstGeom prst="line">
            <a:avLst/>
          </a:prstGeom>
          <a:noFill/>
          <a:ln w="19050" algn="ctr">
            <a:solidFill>
              <a:srgbClr val="BFBFBF"/>
            </a:solidFill>
            <a:prstDash val="sysDash"/>
            <a:miter lim="800000"/>
          </a:ln>
        </p:spPr>
      </p:cxnSp>
      <p:sp>
        <p:nvSpPr>
          <p:cNvPr id="18" name="MH_Other_3">
            <a:extLst>
              <a:ext uri="{FF2B5EF4-FFF2-40B4-BE49-F238E27FC236}">
                <a16:creationId xmlns:a16="http://schemas.microsoft.com/office/drawing/2014/main" id="{80F83661-F396-B9A1-CDDF-5B3953FA3815}"/>
              </a:ext>
            </a:extLst>
          </p:cNvPr>
          <p:cNvSpPr txBox="1">
            <a:spLocks noChangeArrowheads="1"/>
          </p:cNvSpPr>
          <p:nvPr/>
        </p:nvSpPr>
        <p:spPr bwMode="auto">
          <a:xfrm>
            <a:off x="1422933" y="2628243"/>
            <a:ext cx="738664" cy="1303338"/>
          </a:xfrm>
          <a:prstGeom prst="rect">
            <a:avLst/>
          </a:prstGeom>
          <a:noFill/>
          <a:ln w="9525">
            <a:noFill/>
            <a:miter lim="800000"/>
          </a:ln>
        </p:spPr>
        <p:txBody>
          <a:bodyPr vert="eaVert"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altLang="zh-CN" sz="4800" b="1" dirty="0">
                <a:solidFill>
                  <a:srgbClr val="E05F73"/>
                </a:solidFill>
                <a:ea typeface="幼圆" panose="02010509060101010101" pitchFamily="49" charset="-122"/>
              </a:rPr>
              <a:t>05</a:t>
            </a:r>
            <a:endParaRPr lang="zh-CN" altLang="en-US" sz="4800" b="1" dirty="0">
              <a:solidFill>
                <a:srgbClr val="E05F73"/>
              </a:solidFill>
              <a:ea typeface="幼圆" panose="02010509060101010101" pitchFamily="49" charset="-122"/>
            </a:endParaRPr>
          </a:p>
        </p:txBody>
      </p:sp>
      <p:sp>
        <p:nvSpPr>
          <p:cNvPr id="19" name="文本框 18">
            <a:extLst>
              <a:ext uri="{FF2B5EF4-FFF2-40B4-BE49-F238E27FC236}">
                <a16:creationId xmlns:a16="http://schemas.microsoft.com/office/drawing/2014/main" id="{F4BFC221-4A09-D03F-1D38-3C83DAB019EA}"/>
              </a:ext>
            </a:extLst>
          </p:cNvPr>
          <p:cNvSpPr txBox="1"/>
          <p:nvPr/>
        </p:nvSpPr>
        <p:spPr>
          <a:xfrm>
            <a:off x="2328000" y="3194236"/>
            <a:ext cx="4567276" cy="1077218"/>
          </a:xfrm>
          <a:prstGeom prst="rect">
            <a:avLst/>
          </a:prstGeom>
          <a:noFill/>
        </p:spPr>
        <p:txBody>
          <a:bodyPr wrap="none" rtlCol="0">
            <a:spAutoFit/>
          </a:bodyPr>
          <a:lstStyle/>
          <a:p>
            <a:r>
              <a:rPr lang="zh-CN" altLang="en-US" sz="1600" dirty="0"/>
              <a:t>审计：</a:t>
            </a:r>
            <a:r>
              <a:rPr lang="en-US" altLang="zh-CN" sz="1600" dirty="0"/>
              <a:t>CMO </a:t>
            </a:r>
            <a:r>
              <a:rPr lang="zh-CN" altLang="en-US" sz="1600" dirty="0"/>
              <a:t>检查过程是否合规</a:t>
            </a:r>
          </a:p>
          <a:p>
            <a:r>
              <a:rPr lang="zh-CN" altLang="en-US" sz="1600" dirty="0"/>
              <a:t>更新基线：正式确立新版本为基线</a:t>
            </a:r>
          </a:p>
          <a:p>
            <a:r>
              <a:rPr lang="zh-CN" altLang="en-US" sz="1600" dirty="0"/>
              <a:t>关闭请求：在系统中将变更单状态改为“已关闭”</a:t>
            </a:r>
          </a:p>
          <a:p>
            <a:r>
              <a:rPr lang="zh-CN" altLang="en-US" sz="1600" dirty="0"/>
              <a:t>发布通知：向全体项目组成员发布公告</a:t>
            </a:r>
          </a:p>
        </p:txBody>
      </p:sp>
    </p:spTree>
    <p:extLst>
      <p:ext uri="{BB962C8B-B14F-4D97-AF65-F5344CB8AC3E}">
        <p14:creationId xmlns:p14="http://schemas.microsoft.com/office/powerpoint/2010/main" val="247087329"/>
      </p:ext>
    </p:extLst>
  </p:cSld>
  <p:clrMapOvr>
    <a:masterClrMapping/>
  </p:clrMapOvr>
</p:sld>
</file>

<file path=ppt/slides/slide3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格 5">
            <a:extLst>
              <a:ext uri="{FF2B5EF4-FFF2-40B4-BE49-F238E27FC236}">
                <a16:creationId xmlns:a16="http://schemas.microsoft.com/office/drawing/2014/main" id="{1A5E6622-F2E8-B326-768C-9719A2A164B1}"/>
              </a:ext>
            </a:extLst>
          </p:cNvPr>
          <p:cNvGraphicFramePr>
            <a:graphicFrameLocks noGrp="1"/>
          </p:cNvGraphicFramePr>
          <p:nvPr>
            <p:extLst>
              <p:ext uri="{D42A27DB-BD31-4B8C-83A1-F6EECF244321}">
                <p14:modId xmlns:p14="http://schemas.microsoft.com/office/powerpoint/2010/main" val="2167966316"/>
              </p:ext>
            </p:extLst>
          </p:nvPr>
        </p:nvGraphicFramePr>
        <p:xfrm>
          <a:off x="2504643" y="1584960"/>
          <a:ext cx="7182715" cy="4023360"/>
        </p:xfrm>
        <a:graphic>
          <a:graphicData uri="http://schemas.openxmlformats.org/drawingml/2006/table">
            <a:tbl>
              <a:tblPr firstRow="1" bandRow="1">
                <a:tableStyleId>{5C22544A-7EE6-4342-B048-85BDC9FD1C3A}</a:tableStyleId>
              </a:tblPr>
              <a:tblGrid>
                <a:gridCol w="1296000">
                  <a:extLst>
                    <a:ext uri="{9D8B030D-6E8A-4147-A177-3AD203B41FA5}">
                      <a16:colId xmlns:a16="http://schemas.microsoft.com/office/drawing/2014/main" val="1571433902"/>
                    </a:ext>
                  </a:extLst>
                </a:gridCol>
                <a:gridCol w="2379406">
                  <a:extLst>
                    <a:ext uri="{9D8B030D-6E8A-4147-A177-3AD203B41FA5}">
                      <a16:colId xmlns:a16="http://schemas.microsoft.com/office/drawing/2014/main" val="4082139051"/>
                    </a:ext>
                  </a:extLst>
                </a:gridCol>
                <a:gridCol w="1440000">
                  <a:extLst>
                    <a:ext uri="{9D8B030D-6E8A-4147-A177-3AD203B41FA5}">
                      <a16:colId xmlns:a16="http://schemas.microsoft.com/office/drawing/2014/main" val="1920455824"/>
                    </a:ext>
                  </a:extLst>
                </a:gridCol>
                <a:gridCol w="2067309">
                  <a:extLst>
                    <a:ext uri="{9D8B030D-6E8A-4147-A177-3AD203B41FA5}">
                      <a16:colId xmlns:a16="http://schemas.microsoft.com/office/drawing/2014/main" val="716357521"/>
                    </a:ext>
                  </a:extLst>
                </a:gridCol>
              </a:tblGrid>
              <a:tr h="0">
                <a:tc gridSpan="4">
                  <a:txBody>
                    <a:bodyPr/>
                    <a:lstStyle/>
                    <a:p>
                      <a:pPr algn="ctr"/>
                      <a:r>
                        <a:rPr lang="zh-CN" altLang="en-US" sz="1600" dirty="0">
                          <a:solidFill>
                            <a:schemeClr val="tx1"/>
                          </a:solidFill>
                        </a:rPr>
                        <a:t>变更申请</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a:endParaRPr lang="zh-CN" altLang="en-US" sz="1600" b="0" dirty="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pPr algn="ctr"/>
                      <a:endParaRPr lang="zh-CN" altLang="en-US" sz="1600" b="0" dirty="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pPr algn="ctr"/>
                      <a:endParaRPr lang="zh-CN" altLang="en-US" sz="1600" b="0" dirty="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90396003"/>
                  </a:ext>
                </a:extLst>
              </a:tr>
              <a:tr h="0">
                <a:tc>
                  <a:txBody>
                    <a:bodyPr/>
                    <a:lstStyle/>
                    <a:p>
                      <a:pPr algn="ctr"/>
                      <a:r>
                        <a:rPr lang="zh-CN" altLang="en-US" sz="1600" dirty="0"/>
                        <a:t>项目名称</a:t>
                      </a:r>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zh-CN" altLang="en-US" sz="16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600" dirty="0"/>
                        <a:t>变更号</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600" dirty="0"/>
                    </a:p>
                  </a:txBody>
                  <a:tcPr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4235506"/>
                  </a:ext>
                </a:extLst>
              </a:tr>
              <a:tr h="0">
                <a:tc>
                  <a:txBody>
                    <a:bodyPr/>
                    <a:lstStyle/>
                    <a:p>
                      <a:pPr algn="ctr"/>
                      <a:r>
                        <a:rPr lang="zh-CN" altLang="en-US" sz="1600" dirty="0"/>
                        <a:t>变更申请人</a:t>
                      </a:r>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zh-CN" altLang="en-US" sz="16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600" dirty="0"/>
                        <a:t>提交日期</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altLang="zh-CN" sz="1600" dirty="0"/>
                        <a:t>2026-4-30</a:t>
                      </a:r>
                      <a:endParaRPr lang="zh-CN" altLang="en-US" sz="1600" dirty="0"/>
                    </a:p>
                  </a:txBody>
                  <a:tcPr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22811592"/>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t>建议优先级</a:t>
                      </a:r>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zh-CN" altLang="en-US" sz="16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t>风险等级</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sym typeface="Wingdings" panose="05000000000000000000" pitchFamily="2" charset="2"/>
                        </a:rPr>
                        <a:t> 高  中  低</a:t>
                      </a:r>
                      <a:endParaRPr lang="zh-CN" altLang="en-US" sz="1600" dirty="0"/>
                    </a:p>
                  </a:txBody>
                  <a:tcPr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0832078"/>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t>变更原因</a:t>
                      </a:r>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l"/>
                      <a:r>
                        <a:rPr lang="zh-CN" altLang="en-US" sz="1600" dirty="0">
                          <a:sym typeface="Wingdings" panose="05000000000000000000" pitchFamily="2" charset="2"/>
                        </a:rPr>
                        <a:t> </a:t>
                      </a:r>
                      <a:r>
                        <a:rPr lang="zh-CN" altLang="en-US" sz="1600" dirty="0"/>
                        <a:t>用户需求变化 </a:t>
                      </a:r>
                      <a:r>
                        <a:rPr lang="zh-CN" altLang="en-US" sz="1600" dirty="0">
                          <a:sym typeface="Wingdings" panose="05000000000000000000" pitchFamily="2" charset="2"/>
                        </a:rPr>
                        <a:t> </a:t>
                      </a:r>
                      <a:r>
                        <a:rPr lang="zh-CN" altLang="en-US" sz="1600" dirty="0"/>
                        <a:t>技术限制 </a:t>
                      </a:r>
                      <a:r>
                        <a:rPr lang="zh-CN" altLang="en-US" sz="1600" dirty="0">
                          <a:sym typeface="Wingdings" panose="05000000000000000000" pitchFamily="2" charset="2"/>
                        </a:rPr>
                        <a:t> </a:t>
                      </a:r>
                      <a:r>
                        <a:rPr lang="zh-CN" altLang="en-US" sz="1600" dirty="0"/>
                        <a:t>法律法规 </a:t>
                      </a:r>
                      <a:r>
                        <a:rPr lang="zh-CN" altLang="en-US" sz="1600" dirty="0">
                          <a:sym typeface="Wingdings" panose="05000000000000000000" pitchFamily="2" charset="2"/>
                        </a:rPr>
                        <a:t> </a:t>
                      </a:r>
                      <a:r>
                        <a:rPr lang="zh-CN" altLang="en-US" sz="1600" dirty="0"/>
                        <a:t>缺陷修复 </a:t>
                      </a:r>
                      <a:r>
                        <a:rPr lang="zh-CN" altLang="en-US" sz="1600" dirty="0">
                          <a:sym typeface="Wingdings" panose="05000000000000000000" pitchFamily="2" charset="2"/>
                        </a:rPr>
                        <a:t> </a:t>
                      </a:r>
                      <a:r>
                        <a:rPr lang="zh-CN" altLang="en-US" sz="1600" dirty="0"/>
                        <a:t>其它</a:t>
                      </a:r>
                    </a:p>
                  </a:txBody>
                  <a:tcPr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dirty="0">
                        <a:solidFill>
                          <a:schemeClr val="bg1"/>
                        </a:solidFill>
                      </a:endParaRPr>
                    </a:p>
                  </a:txBody>
                  <a:tcPr anchor="ctr">
                    <a:lnL w="635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hMerge="1">
                  <a:txBody>
                    <a:bodyPr/>
                    <a:lstStyle/>
                    <a:p>
                      <a:pPr algn="ctr"/>
                      <a:endParaRPr lang="zh-CN" altLang="en-US"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644002923"/>
                  </a:ext>
                </a:extLst>
              </a:tr>
              <a:tr h="0">
                <a:tc>
                  <a:txBody>
                    <a:bodyPr/>
                    <a:lstStyle/>
                    <a:p>
                      <a:pPr algn="ctr"/>
                      <a:r>
                        <a:rPr lang="zh-CN" altLang="en-US" sz="1600" dirty="0"/>
                        <a:t>原需求</a:t>
                      </a:r>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l"/>
                      <a:endParaRPr lang="zh-CN" altLang="en-US" sz="1600" dirty="0"/>
                    </a:p>
                  </a:txBody>
                  <a:tcPr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dirty="0">
                        <a:solidFill>
                          <a:schemeClr val="bg1"/>
                        </a:solidFill>
                      </a:endParaRPr>
                    </a:p>
                  </a:txBody>
                  <a:tcPr anchor="ctr">
                    <a:lnL w="635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hMerge="1">
                  <a:txBody>
                    <a:bodyPr/>
                    <a:lstStyle/>
                    <a:p>
                      <a:pPr algn="ctr"/>
                      <a:endParaRPr lang="zh-CN" altLang="en-US"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330898843"/>
                  </a:ext>
                </a:extLst>
              </a:tr>
              <a:tr h="0">
                <a:tc>
                  <a:txBody>
                    <a:bodyPr/>
                    <a:lstStyle/>
                    <a:p>
                      <a:pPr algn="ctr"/>
                      <a:r>
                        <a:rPr lang="zh-CN" altLang="en-US" sz="1600" dirty="0"/>
                        <a:t>新需求</a:t>
                      </a:r>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l"/>
                      <a:endParaRPr lang="zh-CN" altLang="en-US" sz="1600" dirty="0"/>
                    </a:p>
                  </a:txBody>
                  <a:tcPr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a:p>
                  </a:txBody>
                  <a:tcPr>
                    <a:lnL w="6350" cap="flat" cmpd="sng" algn="ctr">
                      <a:solidFill>
                        <a:schemeClr val="tx1"/>
                      </a:solidFill>
                      <a:prstDash val="solid"/>
                      <a:round/>
                      <a:headEnd type="none" w="med" len="med"/>
                      <a:tailEnd type="none" w="med" len="med"/>
                    </a:lnL>
                    <a:lnT w="12700" cap="flat" cmpd="sng" algn="ctr">
                      <a:solidFill>
                        <a:schemeClr val="bg1"/>
                      </a:solidFill>
                      <a:prstDash val="solid"/>
                      <a:round/>
                      <a:headEnd type="none" w="med" len="med"/>
                      <a:tailEnd type="none" w="med" len="med"/>
                    </a:lnT>
                  </a:tcPr>
                </a:tc>
                <a:tc hMerge="1">
                  <a:txBody>
                    <a:bodyPr/>
                    <a:lstStyle/>
                    <a:p>
                      <a:endParaRPr lang="zh-CN" altLang="en-US"/>
                    </a:p>
                  </a:txBody>
                  <a:tcPr/>
                </a:tc>
                <a:extLst>
                  <a:ext uri="{0D108BD9-81ED-4DB2-BD59-A6C34878D82A}">
                    <a16:rowId xmlns:a16="http://schemas.microsoft.com/office/drawing/2014/main" val="3636696600"/>
                  </a:ext>
                </a:extLst>
              </a:tr>
              <a:tr h="0">
                <a:tc>
                  <a:txBody>
                    <a:bodyPr/>
                    <a:lstStyle/>
                    <a:p>
                      <a:pPr algn="ctr"/>
                      <a:r>
                        <a:rPr lang="zh-CN" altLang="en-US" sz="1600" dirty="0"/>
                        <a:t>影响模块</a:t>
                      </a:r>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a:endParaRPr lang="zh-CN" altLang="en-US" sz="1600" dirty="0"/>
                    </a:p>
                  </a:txBody>
                  <a:tcPr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dirty="0">
                        <a:solidFill>
                          <a:schemeClr val="bg1"/>
                        </a:solidFill>
                      </a:endParaRPr>
                    </a:p>
                  </a:txBody>
                  <a:tcPr anchor="ctr">
                    <a:lnL w="635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noFill/>
                  </a:tcPr>
                </a:tc>
                <a:tc hMerge="1">
                  <a:txBody>
                    <a:bodyPr/>
                    <a:lstStyle/>
                    <a:p>
                      <a:pPr algn="ctr"/>
                      <a:endParaRPr lang="zh-CN" altLang="en-US"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63800033"/>
                  </a:ext>
                </a:extLst>
              </a:tr>
              <a:tr h="0">
                <a:tc>
                  <a:txBody>
                    <a:bodyPr/>
                    <a:lstStyle/>
                    <a:p>
                      <a:pPr algn="ctr"/>
                      <a:r>
                        <a:rPr lang="zh-CN" altLang="en-US" sz="1600" dirty="0"/>
                        <a:t>预计工作量</a:t>
                      </a:r>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a:endParaRPr lang="zh-CN" altLang="en-US" sz="1600" dirty="0"/>
                    </a:p>
                  </a:txBody>
                  <a:tcPr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dirty="0">
                        <a:solidFill>
                          <a:schemeClr val="bg1"/>
                        </a:solidFill>
                      </a:endParaRPr>
                    </a:p>
                  </a:txBody>
                  <a:tcPr anchor="ctr">
                    <a:lnL w="635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hMerge="1">
                  <a:txBody>
                    <a:bodyPr/>
                    <a:lstStyle/>
                    <a:p>
                      <a:pPr algn="ctr"/>
                      <a:endParaRPr lang="zh-CN" altLang="en-US"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914335444"/>
                  </a:ext>
                </a:extLst>
              </a:tr>
              <a:tr h="0">
                <a:tc>
                  <a:txBody>
                    <a:bodyPr/>
                    <a:lstStyle/>
                    <a:p>
                      <a:pPr algn="ctr"/>
                      <a:r>
                        <a:rPr lang="zh-CN" altLang="en-US" sz="1600" dirty="0"/>
                        <a:t>审批意见</a:t>
                      </a:r>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l"/>
                      <a:r>
                        <a:rPr lang="zh-CN" altLang="en-US" sz="1600" dirty="0">
                          <a:sym typeface="Wingdings" panose="05000000000000000000" pitchFamily="2" charset="2"/>
                        </a:rPr>
                        <a:t> </a:t>
                      </a:r>
                      <a:r>
                        <a:rPr lang="zh-CN" altLang="en-US" sz="1600" dirty="0"/>
                        <a:t>批准 </a:t>
                      </a:r>
                      <a:r>
                        <a:rPr lang="zh-CN" altLang="en-US" sz="1600" dirty="0">
                          <a:sym typeface="Wingdings" panose="05000000000000000000" pitchFamily="2" charset="2"/>
                        </a:rPr>
                        <a:t> </a:t>
                      </a:r>
                      <a:r>
                        <a:rPr lang="zh-CN" altLang="en-US" sz="1600" dirty="0"/>
                        <a:t>拒绝 </a:t>
                      </a:r>
                      <a:r>
                        <a:rPr lang="zh-CN" altLang="en-US" sz="1600" dirty="0">
                          <a:sym typeface="Wingdings" panose="05000000000000000000" pitchFamily="2" charset="2"/>
                        </a:rPr>
                        <a:t> </a:t>
                      </a:r>
                      <a:r>
                        <a:rPr lang="zh-CN" altLang="en-US" sz="1600" dirty="0"/>
                        <a:t>延期 </a:t>
                      </a:r>
                      <a:r>
                        <a:rPr lang="zh-CN" altLang="en-US" sz="1600" dirty="0">
                          <a:sym typeface="Wingdings" panose="05000000000000000000" pitchFamily="2" charset="2"/>
                        </a:rPr>
                        <a:t> </a:t>
                      </a:r>
                      <a:r>
                        <a:rPr lang="zh-CN" altLang="en-US" sz="1600" dirty="0"/>
                        <a:t>需补充材料</a:t>
                      </a:r>
                    </a:p>
                  </a:txBody>
                  <a:tcP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dirty="0">
                        <a:solidFill>
                          <a:schemeClr val="bg1"/>
                        </a:solidFill>
                      </a:endParaRPr>
                    </a:p>
                  </a:txBody>
                  <a:tcPr anchor="ctr">
                    <a:lnL w="635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hMerge="1">
                  <a:txBody>
                    <a:bodyPr/>
                    <a:lstStyle/>
                    <a:p>
                      <a:pPr algn="ctr"/>
                      <a:endParaRPr lang="zh-CN" altLang="en-US"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206103098"/>
                  </a:ext>
                </a:extLst>
              </a:tr>
              <a:tr h="0">
                <a:tc>
                  <a:txBody>
                    <a:bodyPr/>
                    <a:lstStyle/>
                    <a:p>
                      <a:pPr algn="ctr"/>
                      <a:r>
                        <a:rPr lang="zh-CN" altLang="en-US" sz="1600" dirty="0"/>
                        <a:t>审批人签字</a:t>
                      </a:r>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6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600" dirty="0"/>
                        <a:t>日期</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600" dirty="0"/>
                    </a:p>
                  </a:txBody>
                  <a:tcPr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1214444"/>
                  </a:ext>
                </a:extLst>
              </a:tr>
              <a:tr h="0">
                <a:tc>
                  <a:txBody>
                    <a:bodyPr/>
                    <a:lstStyle/>
                    <a:p>
                      <a:pPr algn="ctr"/>
                      <a:r>
                        <a:rPr lang="zh-CN" altLang="en-US" sz="1600" dirty="0"/>
                        <a:t>备注</a:t>
                      </a:r>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a:endParaRPr lang="zh-CN" altLang="en-US" sz="1600" dirty="0"/>
                    </a:p>
                  </a:txBody>
                  <a:tcPr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600" dirty="0">
                        <a:solidFill>
                          <a:schemeClr val="bg1"/>
                        </a:solidFill>
                      </a:endParaRPr>
                    </a:p>
                  </a:txBody>
                  <a:tcPr anchor="ctr">
                    <a:lnL w="635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hMerge="1">
                  <a:txBody>
                    <a:bodyPr/>
                    <a:lstStyle/>
                    <a:p>
                      <a:pPr algn="ctr"/>
                      <a:endParaRPr lang="zh-CN" altLang="en-US" sz="16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723962075"/>
                  </a:ext>
                </a:extLst>
              </a:tr>
            </a:tbl>
          </a:graphicData>
        </a:graphic>
      </p:graphicFrame>
    </p:spTree>
    <p:extLst>
      <p:ext uri="{BB962C8B-B14F-4D97-AF65-F5344CB8AC3E}">
        <p14:creationId xmlns:p14="http://schemas.microsoft.com/office/powerpoint/2010/main" val="969751421"/>
      </p:ext>
    </p:extLst>
  </p:cSld>
  <p:clrMapOvr>
    <a:masterClrMapping/>
  </p:clrMapOvr>
</p:sld>
</file>

<file path=ppt/slides/slide3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3CED-CA82-3D2D-A497-CC5AB910687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FF498EA-DD69-3BAA-9E46-AECAC48FD824}"/>
              </a:ext>
            </a:extLst>
          </p:cNvPr>
          <p:cNvSpPr>
            <a:spLocks noGrp="1"/>
          </p:cNvSpPr>
          <p:nvPr>
            <p:ph type="title"/>
          </p:nvPr>
        </p:nvSpPr>
        <p:spPr>
          <a:xfrm>
            <a:off x="792000" y="360000"/>
            <a:ext cx="6375921" cy="429413"/>
          </a:xfrm>
        </p:spPr>
        <p:txBody>
          <a:bodyPr/>
          <a:lstStyle/>
          <a:p>
            <a:r>
              <a:rPr lang="en-US" altLang="zh-CN" dirty="0"/>
              <a:t>2.4 </a:t>
            </a:r>
            <a:r>
              <a:rPr lang="zh-CN" altLang="en-US" dirty="0"/>
              <a:t>配置审计</a:t>
            </a:r>
          </a:p>
        </p:txBody>
      </p:sp>
      <p:sp>
        <p:nvSpPr>
          <p:cNvPr id="6" name="内容占位符 5">
            <a:extLst>
              <a:ext uri="{FF2B5EF4-FFF2-40B4-BE49-F238E27FC236}">
                <a16:creationId xmlns:a16="http://schemas.microsoft.com/office/drawing/2014/main" id="{7AC6EFBB-240F-D5D5-FD23-876232433C9A}"/>
              </a:ext>
            </a:extLst>
          </p:cNvPr>
          <p:cNvSpPr>
            <a:spLocks noGrp="1"/>
          </p:cNvSpPr>
          <p:nvPr>
            <p:ph idx="1"/>
          </p:nvPr>
        </p:nvSpPr>
        <p:spPr>
          <a:xfrm>
            <a:off x="696000" y="864000"/>
            <a:ext cx="10800000" cy="5400000"/>
          </a:xfrm>
        </p:spPr>
        <p:txBody>
          <a:bodyPr/>
          <a:lstStyle/>
          <a:p>
            <a:r>
              <a:rPr lang="zh-CN" altLang="en-US" dirty="0"/>
              <a:t>对配置管理的产品和过程审计</a:t>
            </a:r>
            <a:endParaRPr lang="en-US" altLang="zh-CN" dirty="0"/>
          </a:p>
          <a:p>
            <a:r>
              <a:rPr lang="zh-CN" altLang="en-US" dirty="0"/>
              <a:t>包括：</a:t>
            </a:r>
            <a:endParaRPr lang="en-US" altLang="zh-CN" dirty="0"/>
          </a:p>
          <a:p>
            <a:pPr lvl="1"/>
            <a:r>
              <a:rPr lang="zh-CN" altLang="en-US" dirty="0"/>
              <a:t>活动审计：确保所有配置管理活动遵循已批准的配置管理方针和规程</a:t>
            </a:r>
            <a:r>
              <a:rPr lang="en-US" altLang="zh-CN" dirty="0"/>
              <a:t>/</a:t>
            </a:r>
            <a:r>
              <a:rPr lang="zh-CN" altLang="en-US" dirty="0"/>
              <a:t>正确的做</a:t>
            </a:r>
            <a:endParaRPr lang="en-US" altLang="zh-CN" dirty="0"/>
          </a:p>
          <a:p>
            <a:pPr lvl="1"/>
            <a:r>
              <a:rPr lang="zh-CN" altLang="en-US" dirty="0"/>
              <a:t>基线审计：确保基线的配置项正确的构造并实现，且满足功能要求</a:t>
            </a:r>
            <a:r>
              <a:rPr lang="en-US" altLang="zh-CN" dirty="0"/>
              <a:t>/</a:t>
            </a:r>
            <a:r>
              <a:rPr lang="zh-CN" altLang="en-US" dirty="0"/>
              <a:t>做的正确</a:t>
            </a:r>
            <a:endParaRPr lang="en-US" altLang="zh-CN" dirty="0"/>
          </a:p>
          <a:p>
            <a:r>
              <a:rPr lang="zh-CN" altLang="en-US" dirty="0"/>
              <a:t>确保某一变更已被实现</a:t>
            </a:r>
            <a:endParaRPr lang="en-US" altLang="zh-CN" dirty="0"/>
          </a:p>
          <a:p>
            <a:r>
              <a:rPr lang="zh-CN" altLang="en-US" dirty="0"/>
              <a:t>是技术复审的一部分</a:t>
            </a:r>
          </a:p>
        </p:txBody>
      </p:sp>
      <p:sp>
        <p:nvSpPr>
          <p:cNvPr id="5" name="文本占位符 4">
            <a:extLst>
              <a:ext uri="{FF2B5EF4-FFF2-40B4-BE49-F238E27FC236}">
                <a16:creationId xmlns:a16="http://schemas.microsoft.com/office/drawing/2014/main" id="{BDB2A5DA-2201-18F6-7C0A-8D1555999B5A}"/>
              </a:ext>
            </a:extLst>
          </p:cNvPr>
          <p:cNvSpPr>
            <a:spLocks noGrp="1"/>
          </p:cNvSpPr>
          <p:nvPr>
            <p:ph type="body" sz="quarter" idx="10"/>
          </p:nvPr>
        </p:nvSpPr>
        <p:spPr/>
        <p:txBody>
          <a:bodyPr/>
          <a:lstStyle/>
          <a:p>
            <a:endParaRPr lang="zh-CN" altLang="en-US"/>
          </a:p>
        </p:txBody>
      </p:sp>
      <p:sp>
        <p:nvSpPr>
          <p:cNvPr id="8" name="箭头: 五边形 7">
            <a:extLst>
              <a:ext uri="{FF2B5EF4-FFF2-40B4-BE49-F238E27FC236}">
                <a16:creationId xmlns:a16="http://schemas.microsoft.com/office/drawing/2014/main" id="{5DBBC348-D90E-A241-F690-D8ACFC44F399}"/>
              </a:ext>
            </a:extLst>
          </p:cNvPr>
          <p:cNvSpPr/>
          <p:nvPr/>
        </p:nvSpPr>
        <p:spPr>
          <a:xfrm flipH="1">
            <a:off x="5466559" y="3689579"/>
            <a:ext cx="2160000" cy="360000"/>
          </a:xfrm>
          <a:prstGeom prst="homePlat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rPr>
              <a:t>配置管理活动审计</a:t>
            </a:r>
          </a:p>
        </p:txBody>
      </p:sp>
      <p:sp>
        <p:nvSpPr>
          <p:cNvPr id="10" name="箭头: 五边形 9">
            <a:extLst>
              <a:ext uri="{FF2B5EF4-FFF2-40B4-BE49-F238E27FC236}">
                <a16:creationId xmlns:a16="http://schemas.microsoft.com/office/drawing/2014/main" id="{3D696B6A-E00E-A785-19C9-DB5CADA1DB99}"/>
              </a:ext>
            </a:extLst>
          </p:cNvPr>
          <p:cNvSpPr/>
          <p:nvPr/>
        </p:nvSpPr>
        <p:spPr>
          <a:xfrm flipH="1">
            <a:off x="5466559" y="5454940"/>
            <a:ext cx="2160000" cy="360000"/>
          </a:xfrm>
          <a:prstGeom prst="homePlat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rPr>
              <a:t>基线审计</a:t>
            </a:r>
          </a:p>
        </p:txBody>
      </p:sp>
      <p:sp>
        <p:nvSpPr>
          <p:cNvPr id="12" name="椭圆 11">
            <a:extLst>
              <a:ext uri="{FF2B5EF4-FFF2-40B4-BE49-F238E27FC236}">
                <a16:creationId xmlns:a16="http://schemas.microsoft.com/office/drawing/2014/main" id="{0BBFA869-E653-34CE-51BA-3BD7EF624E0D}"/>
              </a:ext>
            </a:extLst>
          </p:cNvPr>
          <p:cNvSpPr>
            <a:spLocks noChangeAspect="1"/>
          </p:cNvSpPr>
          <p:nvPr/>
        </p:nvSpPr>
        <p:spPr>
          <a:xfrm>
            <a:off x="4325985" y="4284259"/>
            <a:ext cx="936000" cy="936000"/>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配置审计</a:t>
            </a:r>
          </a:p>
        </p:txBody>
      </p:sp>
      <p:cxnSp>
        <p:nvCxnSpPr>
          <p:cNvPr id="22" name="连接符: 肘形 21">
            <a:extLst>
              <a:ext uri="{FF2B5EF4-FFF2-40B4-BE49-F238E27FC236}">
                <a16:creationId xmlns:a16="http://schemas.microsoft.com/office/drawing/2014/main" id="{FCBD0A99-D03B-188A-3497-265180191674}"/>
              </a:ext>
            </a:extLst>
          </p:cNvPr>
          <p:cNvCxnSpPr>
            <a:stCxn id="12" idx="0"/>
            <a:endCxn id="8" idx="3"/>
          </p:cNvCxnSpPr>
          <p:nvPr/>
        </p:nvCxnSpPr>
        <p:spPr>
          <a:xfrm rot="5400000" flipH="1" flipV="1">
            <a:off x="4922932" y="3740632"/>
            <a:ext cx="414680" cy="672574"/>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连接符: 肘形 23">
            <a:extLst>
              <a:ext uri="{FF2B5EF4-FFF2-40B4-BE49-F238E27FC236}">
                <a16:creationId xmlns:a16="http://schemas.microsoft.com/office/drawing/2014/main" id="{5462600E-B3A1-BC5B-C02E-3A50BF17F3DF}"/>
              </a:ext>
            </a:extLst>
          </p:cNvPr>
          <p:cNvCxnSpPr>
            <a:stCxn id="12" idx="4"/>
            <a:endCxn id="10" idx="3"/>
          </p:cNvCxnSpPr>
          <p:nvPr/>
        </p:nvCxnSpPr>
        <p:spPr>
          <a:xfrm rot="16200000" flipH="1">
            <a:off x="4922932" y="5091312"/>
            <a:ext cx="414681" cy="672574"/>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300629"/>
      </p:ext>
    </p:extLst>
  </p:cSld>
  <p:clrMapOvr>
    <a:masterClrMapping/>
  </p:clrMapOvr>
</p:sld>
</file>

<file path=ppt/slides/slide3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91B83-7A67-C39B-0690-38A42B89681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6851522-C8C2-3A12-0967-BCB5B4F1F526}"/>
              </a:ext>
            </a:extLst>
          </p:cNvPr>
          <p:cNvSpPr>
            <a:spLocks noGrp="1"/>
          </p:cNvSpPr>
          <p:nvPr>
            <p:ph type="title"/>
          </p:nvPr>
        </p:nvSpPr>
        <p:spPr>
          <a:xfrm>
            <a:off x="792000" y="360000"/>
            <a:ext cx="6375921" cy="429413"/>
          </a:xfrm>
        </p:spPr>
        <p:txBody>
          <a:bodyPr/>
          <a:lstStyle/>
          <a:p>
            <a:r>
              <a:rPr lang="en-US" altLang="zh-CN"/>
              <a:t>2.5 </a:t>
            </a:r>
            <a:r>
              <a:rPr lang="zh-CN" altLang="en-US"/>
              <a:t>配置状态统计</a:t>
            </a:r>
            <a:endParaRPr lang="zh-CN" altLang="en-US" dirty="0"/>
          </a:p>
        </p:txBody>
      </p:sp>
      <p:sp>
        <p:nvSpPr>
          <p:cNvPr id="27" name="内容占位符 26">
            <a:extLst>
              <a:ext uri="{FF2B5EF4-FFF2-40B4-BE49-F238E27FC236}">
                <a16:creationId xmlns:a16="http://schemas.microsoft.com/office/drawing/2014/main" id="{485DB4E9-D26A-A74B-919A-999C637C16EA}"/>
              </a:ext>
            </a:extLst>
          </p:cNvPr>
          <p:cNvSpPr>
            <a:spLocks noGrp="1"/>
          </p:cNvSpPr>
          <p:nvPr>
            <p:ph idx="1"/>
          </p:nvPr>
        </p:nvSpPr>
        <p:spPr>
          <a:xfrm>
            <a:off x="696000" y="864000"/>
            <a:ext cx="10800000" cy="5400000"/>
          </a:xfrm>
        </p:spPr>
        <p:txBody>
          <a:bodyPr/>
          <a:lstStyle/>
          <a:p>
            <a:r>
              <a:rPr lang="zh-CN" altLang="en-US" dirty="0"/>
              <a:t>被批准的配置项 </a:t>
            </a:r>
          </a:p>
          <a:p>
            <a:r>
              <a:rPr lang="zh-CN" altLang="en-US" dirty="0"/>
              <a:t>变更请求的数量</a:t>
            </a:r>
          </a:p>
          <a:p>
            <a:r>
              <a:rPr lang="zh-CN" altLang="en-US" dirty="0"/>
              <a:t>配置项的所有请求的变化状态 </a:t>
            </a:r>
          </a:p>
          <a:p>
            <a:r>
              <a:rPr lang="zh-CN" altLang="en-US" dirty="0"/>
              <a:t>配置项所有被批准的变更实现状态</a:t>
            </a:r>
          </a:p>
          <a:p>
            <a:r>
              <a:rPr lang="zh-CN" altLang="en-US" dirty="0"/>
              <a:t>配置管理系统以及</a:t>
            </a:r>
            <a:r>
              <a:rPr lang="en-US" altLang="zh-CN" dirty="0"/>
              <a:t>SCCB</a:t>
            </a:r>
            <a:r>
              <a:rPr lang="zh-CN" altLang="en-US" dirty="0"/>
              <a:t>在运作中发生异常的次数等等 </a:t>
            </a:r>
          </a:p>
          <a:p>
            <a:endParaRPr lang="zh-CN" altLang="en-US" dirty="0"/>
          </a:p>
        </p:txBody>
      </p:sp>
      <p:sp>
        <p:nvSpPr>
          <p:cNvPr id="9" name="文本占位符 8">
            <a:extLst>
              <a:ext uri="{FF2B5EF4-FFF2-40B4-BE49-F238E27FC236}">
                <a16:creationId xmlns:a16="http://schemas.microsoft.com/office/drawing/2014/main" id="{823D9269-EED7-A232-16AF-57C260A79FA4}"/>
              </a:ext>
            </a:extLst>
          </p:cNvPr>
          <p:cNvSpPr>
            <a:spLocks noGrp="1"/>
          </p:cNvSpPr>
          <p:nvPr>
            <p:ph type="body" sz="quarter" idx="10"/>
          </p:nvPr>
        </p:nvSpPr>
        <p:spPr/>
        <p:txBody>
          <a:bodyPr/>
          <a:lstStyle/>
          <a:p>
            <a:endParaRPr lang="zh-CN" altLang="en-US"/>
          </a:p>
        </p:txBody>
      </p:sp>
      <p:sp>
        <p:nvSpPr>
          <p:cNvPr id="5" name="椭圆 4">
            <a:extLst>
              <a:ext uri="{FF2B5EF4-FFF2-40B4-BE49-F238E27FC236}">
                <a16:creationId xmlns:a16="http://schemas.microsoft.com/office/drawing/2014/main" id="{34A0052A-B6DA-C958-03B6-C073868EC4C4}"/>
              </a:ext>
            </a:extLst>
          </p:cNvPr>
          <p:cNvSpPr>
            <a:spLocks noChangeAspect="1"/>
          </p:cNvSpPr>
          <p:nvPr/>
        </p:nvSpPr>
        <p:spPr>
          <a:xfrm>
            <a:off x="2284749" y="4247315"/>
            <a:ext cx="936000" cy="936000"/>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配置状态统计</a:t>
            </a:r>
          </a:p>
        </p:txBody>
      </p:sp>
      <p:cxnSp>
        <p:nvCxnSpPr>
          <p:cNvPr id="6" name="连接符: 肘形 5">
            <a:extLst>
              <a:ext uri="{FF2B5EF4-FFF2-40B4-BE49-F238E27FC236}">
                <a16:creationId xmlns:a16="http://schemas.microsoft.com/office/drawing/2014/main" id="{482B102F-CA65-8FB4-41A7-81C2877F0317}"/>
              </a:ext>
            </a:extLst>
          </p:cNvPr>
          <p:cNvCxnSpPr>
            <a:cxnSpLocks/>
            <a:stCxn id="5" idx="0"/>
            <a:endCxn id="8" idx="1"/>
          </p:cNvCxnSpPr>
          <p:nvPr/>
        </p:nvCxnSpPr>
        <p:spPr>
          <a:xfrm rot="5400000" flipH="1" flipV="1">
            <a:off x="2878506" y="3717602"/>
            <a:ext cx="403957" cy="655471"/>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连接符: 肘形 6">
            <a:extLst>
              <a:ext uri="{FF2B5EF4-FFF2-40B4-BE49-F238E27FC236}">
                <a16:creationId xmlns:a16="http://schemas.microsoft.com/office/drawing/2014/main" id="{065C1337-FB1F-BB4A-BAC0-8F1257AA2A2A}"/>
              </a:ext>
            </a:extLst>
          </p:cNvPr>
          <p:cNvCxnSpPr>
            <a:cxnSpLocks/>
            <a:stCxn id="5" idx="4"/>
            <a:endCxn id="12" idx="1"/>
          </p:cNvCxnSpPr>
          <p:nvPr/>
        </p:nvCxnSpPr>
        <p:spPr>
          <a:xfrm rot="16200000" flipH="1">
            <a:off x="3508120" y="4427944"/>
            <a:ext cx="425404" cy="1936146"/>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55A008C9-F436-5AB7-DAC9-BCA54F1F459B}"/>
              </a:ext>
            </a:extLst>
          </p:cNvPr>
          <p:cNvSpPr txBox="1"/>
          <p:nvPr/>
        </p:nvSpPr>
        <p:spPr>
          <a:xfrm>
            <a:off x="3408220" y="3674081"/>
            <a:ext cx="3312000" cy="338554"/>
          </a:xfrm>
          <a:prstGeom prst="rect">
            <a:avLst/>
          </a:prstGeom>
          <a:noFill/>
        </p:spPr>
        <p:txBody>
          <a:bodyPr wrap="none" rtlCol="0">
            <a:spAutoFit/>
          </a:bodyPr>
          <a:lstStyle/>
          <a:p>
            <a:r>
              <a:rPr lang="zh-CN" altLang="en-US" sz="1600" dirty="0"/>
              <a:t>检查配置管理系统</a:t>
            </a:r>
            <a:r>
              <a:rPr lang="en-US" altLang="zh-CN" sz="1600" dirty="0"/>
              <a:t>/</a:t>
            </a:r>
            <a:r>
              <a:rPr lang="zh-CN" altLang="en-US" sz="1600" dirty="0"/>
              <a:t>配置库及其内容</a:t>
            </a:r>
          </a:p>
        </p:txBody>
      </p:sp>
      <p:sp>
        <p:nvSpPr>
          <p:cNvPr id="12" name="文本框 11">
            <a:extLst>
              <a:ext uri="{FF2B5EF4-FFF2-40B4-BE49-F238E27FC236}">
                <a16:creationId xmlns:a16="http://schemas.microsoft.com/office/drawing/2014/main" id="{845B7082-0DF1-BD1B-6C93-9AEB0A7BD3B7}"/>
              </a:ext>
            </a:extLst>
          </p:cNvPr>
          <p:cNvSpPr txBox="1"/>
          <p:nvPr/>
        </p:nvSpPr>
        <p:spPr>
          <a:xfrm>
            <a:off x="4688895" y="5439442"/>
            <a:ext cx="2031325" cy="338554"/>
          </a:xfrm>
          <a:prstGeom prst="rect">
            <a:avLst/>
          </a:prstGeom>
          <a:noFill/>
        </p:spPr>
        <p:txBody>
          <a:bodyPr wrap="none" rtlCol="0">
            <a:spAutoFit/>
          </a:bodyPr>
          <a:lstStyle/>
          <a:p>
            <a:pPr algn="ctr"/>
            <a:r>
              <a:rPr lang="zh-CN" altLang="en-US" sz="1600" dirty="0"/>
              <a:t>检测配置项变更历史</a:t>
            </a:r>
          </a:p>
        </p:txBody>
      </p:sp>
      <p:cxnSp>
        <p:nvCxnSpPr>
          <p:cNvPr id="19" name="连接符: 肘形 18">
            <a:extLst>
              <a:ext uri="{FF2B5EF4-FFF2-40B4-BE49-F238E27FC236}">
                <a16:creationId xmlns:a16="http://schemas.microsoft.com/office/drawing/2014/main" id="{45F3A9E2-0408-1612-A102-4DD9CEC0A8AB}"/>
              </a:ext>
            </a:extLst>
          </p:cNvPr>
          <p:cNvCxnSpPr>
            <a:cxnSpLocks/>
            <a:stCxn id="8" idx="3"/>
          </p:cNvCxnSpPr>
          <p:nvPr/>
        </p:nvCxnSpPr>
        <p:spPr>
          <a:xfrm>
            <a:off x="6720220" y="3843358"/>
            <a:ext cx="434827" cy="871957"/>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连接符: 肘形 20">
            <a:extLst>
              <a:ext uri="{FF2B5EF4-FFF2-40B4-BE49-F238E27FC236}">
                <a16:creationId xmlns:a16="http://schemas.microsoft.com/office/drawing/2014/main" id="{B50AA5AE-967B-8804-A25C-E9196223AB69}"/>
              </a:ext>
            </a:extLst>
          </p:cNvPr>
          <p:cNvCxnSpPr>
            <a:cxnSpLocks/>
            <a:stCxn id="12" idx="3"/>
          </p:cNvCxnSpPr>
          <p:nvPr/>
        </p:nvCxnSpPr>
        <p:spPr>
          <a:xfrm flipV="1">
            <a:off x="6720220" y="4715315"/>
            <a:ext cx="434827" cy="89340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80C91F6E-D0C6-31D2-A825-E625C37D0316}"/>
              </a:ext>
            </a:extLst>
          </p:cNvPr>
          <p:cNvSpPr txBox="1"/>
          <p:nvPr/>
        </p:nvSpPr>
        <p:spPr>
          <a:xfrm>
            <a:off x="7758548" y="4546038"/>
            <a:ext cx="1415772" cy="338554"/>
          </a:xfrm>
          <a:prstGeom prst="rect">
            <a:avLst/>
          </a:prstGeom>
          <a:noFill/>
        </p:spPr>
        <p:txBody>
          <a:bodyPr wrap="none" rtlCol="0">
            <a:spAutoFit/>
          </a:bodyPr>
          <a:lstStyle/>
          <a:p>
            <a:pPr algn="l"/>
            <a:r>
              <a:rPr lang="zh-CN" altLang="en-US" sz="1600" dirty="0"/>
              <a:t>配置状态报告</a:t>
            </a:r>
          </a:p>
        </p:txBody>
      </p:sp>
      <p:pic>
        <p:nvPicPr>
          <p:cNvPr id="28" name="内容占位符 16" descr="文档">
            <a:extLst>
              <a:ext uri="{FF2B5EF4-FFF2-40B4-BE49-F238E27FC236}">
                <a16:creationId xmlns:a16="http://schemas.microsoft.com/office/drawing/2014/main" id="{9F863181-B6B7-1907-959F-ABE2FFB70B5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55047" y="4355315"/>
            <a:ext cx="720000" cy="720000"/>
          </a:xfrm>
          <a:prstGeom prst="rect">
            <a:avLst/>
          </a:prstGeom>
        </p:spPr>
      </p:pic>
    </p:spTree>
    <p:extLst>
      <p:ext uri="{BB962C8B-B14F-4D97-AF65-F5344CB8AC3E}">
        <p14:creationId xmlns:p14="http://schemas.microsoft.com/office/powerpoint/2010/main" val="1117029408"/>
      </p:ext>
    </p:extLst>
  </p:cSld>
  <p:clrMapOvr>
    <a:masterClrMapping/>
  </p:clrMapOvr>
</p:sld>
</file>

<file path=ppt/slides/slide3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46544-4DCF-D51F-F037-FD605CF8E5B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E673F0E-E8E0-C699-753D-9C236DDB6961}"/>
              </a:ext>
            </a:extLst>
          </p:cNvPr>
          <p:cNvSpPr>
            <a:spLocks noGrp="1"/>
          </p:cNvSpPr>
          <p:nvPr>
            <p:ph type="title"/>
          </p:nvPr>
        </p:nvSpPr>
        <p:spPr>
          <a:xfrm>
            <a:off x="792000" y="360000"/>
            <a:ext cx="6375921" cy="429413"/>
          </a:xfrm>
        </p:spPr>
        <p:txBody>
          <a:bodyPr/>
          <a:lstStyle/>
          <a:p>
            <a:r>
              <a:rPr lang="en-US" altLang="zh-CN"/>
              <a:t>2.6 </a:t>
            </a:r>
            <a:r>
              <a:rPr lang="zh-CN" altLang="en-US"/>
              <a:t>配置管理计划</a:t>
            </a:r>
            <a:endParaRPr lang="zh-CN" altLang="en-US" dirty="0"/>
          </a:p>
        </p:txBody>
      </p:sp>
      <p:sp>
        <p:nvSpPr>
          <p:cNvPr id="4" name="内容占位符 3">
            <a:extLst>
              <a:ext uri="{FF2B5EF4-FFF2-40B4-BE49-F238E27FC236}">
                <a16:creationId xmlns:a16="http://schemas.microsoft.com/office/drawing/2014/main" id="{272F391F-CFFA-BA4C-A3DF-67038145BF4A}"/>
              </a:ext>
            </a:extLst>
          </p:cNvPr>
          <p:cNvSpPr>
            <a:spLocks noGrp="1"/>
          </p:cNvSpPr>
          <p:nvPr>
            <p:ph idx="1"/>
          </p:nvPr>
        </p:nvSpPr>
        <p:spPr>
          <a:xfrm>
            <a:off x="696000" y="864000"/>
            <a:ext cx="10800000" cy="5400000"/>
          </a:xfrm>
        </p:spPr>
        <p:txBody>
          <a:bodyPr/>
          <a:lstStyle/>
          <a:p>
            <a:r>
              <a:rPr lang="zh-CN" altLang="en-US" dirty="0"/>
              <a:t>是项目计划的一部分</a:t>
            </a:r>
            <a:endParaRPr lang="en-US" altLang="zh-CN" dirty="0"/>
          </a:p>
          <a:p>
            <a:r>
              <a:rPr lang="zh-CN" altLang="en-US" dirty="0"/>
              <a:t>用以确定软件配置管理的解决方案</a:t>
            </a:r>
            <a:endParaRPr lang="en-US" altLang="zh-CN" dirty="0"/>
          </a:p>
          <a:p>
            <a:r>
              <a:rPr lang="zh-CN" altLang="en-US" dirty="0"/>
              <a:t>制订：</a:t>
            </a:r>
            <a:endParaRPr lang="en-US" altLang="zh-CN" dirty="0"/>
          </a:p>
          <a:p>
            <a:pPr lvl="1"/>
            <a:r>
              <a:rPr lang="zh-CN" altLang="en-US" dirty="0"/>
              <a:t>由项目经理 </a:t>
            </a:r>
            <a:r>
              <a:rPr lang="en-US" altLang="zh-CN" dirty="0"/>
              <a:t>PM </a:t>
            </a:r>
            <a:r>
              <a:rPr lang="zh-CN" altLang="en-US" dirty="0"/>
              <a:t>确定配置管理者 </a:t>
            </a:r>
            <a:r>
              <a:rPr lang="en-US" altLang="zh-CN" dirty="0"/>
              <a:t>CMO (Configuration Management Officer)</a:t>
            </a:r>
            <a:r>
              <a:rPr lang="zh-CN" altLang="en-US" dirty="0"/>
              <a:t>负责制订</a:t>
            </a:r>
            <a:endParaRPr lang="en-US" altLang="zh-CN" dirty="0"/>
          </a:p>
          <a:p>
            <a:r>
              <a:rPr lang="zh-CN" altLang="en-US" dirty="0"/>
              <a:t>资源支撑</a:t>
            </a:r>
            <a:endParaRPr lang="en-US" altLang="zh-CN" dirty="0"/>
          </a:p>
          <a:p>
            <a:pPr lvl="1"/>
            <a:r>
              <a:rPr lang="zh-CN" altLang="en-US" dirty="0"/>
              <a:t>人力资源</a:t>
            </a:r>
            <a:endParaRPr lang="en-US" altLang="zh-CN" dirty="0"/>
          </a:p>
          <a:p>
            <a:pPr lvl="1"/>
            <a:r>
              <a:rPr lang="zh-CN" altLang="en-US" dirty="0"/>
              <a:t>工具</a:t>
            </a:r>
            <a:endParaRPr lang="en-US" altLang="zh-CN" dirty="0"/>
          </a:p>
          <a:p>
            <a:endParaRPr lang="zh-CN" altLang="en-US" dirty="0"/>
          </a:p>
        </p:txBody>
      </p:sp>
      <p:sp>
        <p:nvSpPr>
          <p:cNvPr id="17" name="文本占位符 16">
            <a:extLst>
              <a:ext uri="{FF2B5EF4-FFF2-40B4-BE49-F238E27FC236}">
                <a16:creationId xmlns:a16="http://schemas.microsoft.com/office/drawing/2014/main" id="{1B945AAB-41B8-E514-A2E1-DA6096BABADA}"/>
              </a:ext>
            </a:extLst>
          </p:cNvPr>
          <p:cNvSpPr>
            <a:spLocks noGrp="1"/>
          </p:cNvSpPr>
          <p:nvPr>
            <p:ph type="body" sz="quarter" idx="10"/>
          </p:nvPr>
        </p:nvSpPr>
        <p:spPr/>
        <p:txBody>
          <a:bodyPr/>
          <a:lstStyle/>
          <a:p>
            <a:endParaRPr lang="zh-CN" altLang="en-US"/>
          </a:p>
        </p:txBody>
      </p:sp>
      <p:sp>
        <p:nvSpPr>
          <p:cNvPr id="8" name="Text Box 43">
            <a:extLst>
              <a:ext uri="{FF2B5EF4-FFF2-40B4-BE49-F238E27FC236}">
                <a16:creationId xmlns:a16="http://schemas.microsoft.com/office/drawing/2014/main" id="{6D4F40E7-8FB7-88AC-0DD6-C852FD555984}"/>
              </a:ext>
            </a:extLst>
          </p:cNvPr>
          <p:cNvSpPr txBox="1">
            <a:spLocks noChangeArrowheads="1"/>
          </p:cNvSpPr>
          <p:nvPr/>
        </p:nvSpPr>
        <p:spPr bwMode="auto">
          <a:xfrm>
            <a:off x="5196000" y="3337199"/>
            <a:ext cx="1800000" cy="432000"/>
          </a:xfrm>
          <a:prstGeom prst="rect">
            <a:avLst/>
          </a:prstGeom>
          <a:solidFill>
            <a:srgbClr val="00B0F0"/>
          </a:solidFill>
          <a:ln w="12700">
            <a:noFill/>
            <a:miter lim="800000"/>
            <a:headEnd/>
            <a:tailEnd/>
          </a:ln>
        </p:spPr>
        <p:txBody>
          <a:bodyPr lIns="0" tIns="72000" rIns="0" bIns="72000"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600" dirty="0">
                <a:solidFill>
                  <a:schemeClr val="bg1"/>
                </a:solidFill>
                <a:latin typeface="+mj-ea"/>
                <a:ea typeface="+mj-ea"/>
              </a:rPr>
              <a:t>配置管理过程角色</a:t>
            </a:r>
          </a:p>
        </p:txBody>
      </p:sp>
      <p:sp>
        <p:nvSpPr>
          <p:cNvPr id="9" name="Text Box 44">
            <a:extLst>
              <a:ext uri="{FF2B5EF4-FFF2-40B4-BE49-F238E27FC236}">
                <a16:creationId xmlns:a16="http://schemas.microsoft.com/office/drawing/2014/main" id="{AA9113E8-6D4E-791A-F20A-3BC026A1245D}"/>
              </a:ext>
            </a:extLst>
          </p:cNvPr>
          <p:cNvSpPr txBox="1">
            <a:spLocks noChangeArrowheads="1"/>
          </p:cNvSpPr>
          <p:nvPr/>
        </p:nvSpPr>
        <p:spPr bwMode="auto">
          <a:xfrm>
            <a:off x="1957242" y="4660963"/>
            <a:ext cx="1800000" cy="576000"/>
          </a:xfrm>
          <a:prstGeom prst="rect">
            <a:avLst/>
          </a:prstGeom>
          <a:noFill/>
          <a:ln w="12700">
            <a:solidFill>
              <a:schemeClr val="tx1"/>
            </a:solidFill>
            <a:miter lim="800000"/>
            <a:headEnd/>
            <a:tailEnd/>
          </a:ln>
        </p:spPr>
        <p:txBody>
          <a:bodyPr lIns="0" tIns="36000" rIns="0" bIns="36000"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600" dirty="0">
                <a:latin typeface="+mn-ea"/>
                <a:ea typeface="+mn-ea"/>
              </a:rPr>
              <a:t>项目经理</a:t>
            </a:r>
            <a:endParaRPr lang="en-US" altLang="zh-CN" sz="1600" dirty="0">
              <a:latin typeface="+mn-ea"/>
              <a:ea typeface="+mn-ea"/>
            </a:endParaRPr>
          </a:p>
          <a:p>
            <a:pPr algn="ctr">
              <a:spcBef>
                <a:spcPct val="0"/>
              </a:spcBef>
              <a:buClrTx/>
              <a:buSzTx/>
              <a:buFontTx/>
              <a:buNone/>
            </a:pPr>
            <a:r>
              <a:rPr lang="en-US" altLang="zh-CN" sz="1400" dirty="0">
                <a:latin typeface="+mn-ea"/>
                <a:ea typeface="+mn-ea"/>
              </a:rPr>
              <a:t>PM</a:t>
            </a:r>
            <a:endParaRPr lang="zh-CN" altLang="en-US" sz="1400" dirty="0">
              <a:latin typeface="+mn-ea"/>
              <a:ea typeface="+mn-ea"/>
            </a:endParaRPr>
          </a:p>
        </p:txBody>
      </p:sp>
      <p:sp>
        <p:nvSpPr>
          <p:cNvPr id="10" name="Text Box 45">
            <a:extLst>
              <a:ext uri="{FF2B5EF4-FFF2-40B4-BE49-F238E27FC236}">
                <a16:creationId xmlns:a16="http://schemas.microsoft.com/office/drawing/2014/main" id="{95F750A7-5343-8CA1-B518-44388C064DAB}"/>
              </a:ext>
            </a:extLst>
          </p:cNvPr>
          <p:cNvSpPr txBox="1">
            <a:spLocks noChangeArrowheads="1"/>
          </p:cNvSpPr>
          <p:nvPr/>
        </p:nvSpPr>
        <p:spPr bwMode="auto">
          <a:xfrm>
            <a:off x="4116414" y="4660963"/>
            <a:ext cx="1800000" cy="576000"/>
          </a:xfrm>
          <a:prstGeom prst="rect">
            <a:avLst/>
          </a:prstGeom>
          <a:noFill/>
          <a:ln w="12700">
            <a:solidFill>
              <a:schemeClr val="tx1"/>
            </a:solidFill>
            <a:miter lim="800000"/>
            <a:headEnd/>
            <a:tailEnd/>
          </a:ln>
        </p:spPr>
        <p:txBody>
          <a:bodyPr lIns="0" tIns="36000" rIns="0" bIns="36000"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600" dirty="0">
                <a:latin typeface="+mn-ea"/>
                <a:ea typeface="+mn-ea"/>
              </a:rPr>
              <a:t>配置控制委员会</a:t>
            </a:r>
            <a:endParaRPr lang="en-US" altLang="zh-CN" sz="1600" dirty="0">
              <a:latin typeface="+mn-ea"/>
              <a:ea typeface="+mn-ea"/>
            </a:endParaRPr>
          </a:p>
          <a:p>
            <a:pPr algn="ctr">
              <a:spcBef>
                <a:spcPct val="0"/>
              </a:spcBef>
              <a:buClrTx/>
              <a:buSzTx/>
              <a:buFontTx/>
              <a:buNone/>
            </a:pPr>
            <a:r>
              <a:rPr lang="en-US" altLang="zh-CN" sz="1400" dirty="0">
                <a:latin typeface="+mn-ea"/>
                <a:ea typeface="+mn-ea"/>
              </a:rPr>
              <a:t>CCB</a:t>
            </a:r>
            <a:endParaRPr lang="zh-CN" altLang="en-US" sz="1600" dirty="0">
              <a:latin typeface="+mn-ea"/>
              <a:ea typeface="+mn-ea"/>
            </a:endParaRPr>
          </a:p>
        </p:txBody>
      </p:sp>
      <p:sp>
        <p:nvSpPr>
          <p:cNvPr id="11" name="Text Box 46">
            <a:extLst>
              <a:ext uri="{FF2B5EF4-FFF2-40B4-BE49-F238E27FC236}">
                <a16:creationId xmlns:a16="http://schemas.microsoft.com/office/drawing/2014/main" id="{60D27402-E6FD-A35B-5044-10515BB256BA}"/>
              </a:ext>
            </a:extLst>
          </p:cNvPr>
          <p:cNvSpPr txBox="1">
            <a:spLocks noChangeArrowheads="1"/>
          </p:cNvSpPr>
          <p:nvPr/>
        </p:nvSpPr>
        <p:spPr bwMode="auto">
          <a:xfrm>
            <a:off x="6275586" y="4660963"/>
            <a:ext cx="1800000" cy="576000"/>
          </a:xfrm>
          <a:prstGeom prst="rect">
            <a:avLst/>
          </a:prstGeom>
          <a:noFill/>
          <a:ln w="12700">
            <a:solidFill>
              <a:schemeClr val="tx1"/>
            </a:solidFill>
            <a:miter lim="800000"/>
            <a:headEnd/>
            <a:tailEnd/>
          </a:ln>
        </p:spPr>
        <p:txBody>
          <a:bodyPr lIns="0" tIns="36000" rIns="0" bIns="36000"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600" dirty="0">
                <a:latin typeface="+mn-ea"/>
                <a:ea typeface="+mn-ea"/>
              </a:rPr>
              <a:t>配置管理员</a:t>
            </a:r>
            <a:endParaRPr lang="en-US" altLang="zh-CN" sz="1600" dirty="0">
              <a:latin typeface="+mn-ea"/>
              <a:ea typeface="+mn-ea"/>
            </a:endParaRPr>
          </a:p>
          <a:p>
            <a:pPr algn="ctr">
              <a:spcBef>
                <a:spcPct val="0"/>
              </a:spcBef>
              <a:buClrTx/>
              <a:buSzTx/>
              <a:buFontTx/>
              <a:buNone/>
            </a:pPr>
            <a:r>
              <a:rPr lang="en-US" altLang="zh-CN" sz="1400" dirty="0">
                <a:latin typeface="+mn-ea"/>
                <a:ea typeface="+mn-ea"/>
              </a:rPr>
              <a:t>CMO</a:t>
            </a:r>
            <a:endParaRPr lang="zh-CN" altLang="en-US" sz="1600" dirty="0">
              <a:latin typeface="+mn-ea"/>
              <a:ea typeface="+mn-ea"/>
            </a:endParaRPr>
          </a:p>
        </p:txBody>
      </p:sp>
      <p:sp>
        <p:nvSpPr>
          <p:cNvPr id="12" name="Text Box 47">
            <a:extLst>
              <a:ext uri="{FF2B5EF4-FFF2-40B4-BE49-F238E27FC236}">
                <a16:creationId xmlns:a16="http://schemas.microsoft.com/office/drawing/2014/main" id="{712EA4DF-442A-9363-C058-FA0C2C465239}"/>
              </a:ext>
            </a:extLst>
          </p:cNvPr>
          <p:cNvSpPr txBox="1">
            <a:spLocks noChangeArrowheads="1"/>
          </p:cNvSpPr>
          <p:nvPr/>
        </p:nvSpPr>
        <p:spPr bwMode="auto">
          <a:xfrm>
            <a:off x="8434759" y="4660963"/>
            <a:ext cx="1800000" cy="576000"/>
          </a:xfrm>
          <a:prstGeom prst="rect">
            <a:avLst/>
          </a:prstGeom>
          <a:noFill/>
          <a:ln w="12700">
            <a:solidFill>
              <a:schemeClr val="tx1"/>
            </a:solidFill>
            <a:miter lim="800000"/>
            <a:headEnd/>
            <a:tailEnd/>
          </a:ln>
        </p:spPr>
        <p:txBody>
          <a:bodyPr lIns="0" tIns="36000" rIns="0" bIns="36000"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600" dirty="0">
                <a:latin typeface="+mn-ea"/>
                <a:ea typeface="+mn-ea"/>
              </a:rPr>
              <a:t>开发人员</a:t>
            </a:r>
            <a:endParaRPr lang="en-US" altLang="zh-CN" sz="1600" dirty="0">
              <a:latin typeface="+mn-ea"/>
              <a:ea typeface="+mn-ea"/>
            </a:endParaRPr>
          </a:p>
          <a:p>
            <a:pPr algn="ctr">
              <a:spcBef>
                <a:spcPct val="0"/>
              </a:spcBef>
              <a:buClrTx/>
              <a:buSzTx/>
              <a:buFontTx/>
              <a:buNone/>
            </a:pPr>
            <a:r>
              <a:rPr lang="en-US" altLang="zh-CN" sz="1400" dirty="0">
                <a:latin typeface="+mn-ea"/>
                <a:ea typeface="+mn-ea"/>
              </a:rPr>
              <a:t>Developers</a:t>
            </a:r>
            <a:endParaRPr lang="zh-CN" altLang="en-US" sz="1400" dirty="0">
              <a:latin typeface="+mn-ea"/>
              <a:ea typeface="+mn-ea"/>
            </a:endParaRPr>
          </a:p>
        </p:txBody>
      </p:sp>
      <p:cxnSp>
        <p:nvCxnSpPr>
          <p:cNvPr id="13" name="连接符: 肘形 12">
            <a:extLst>
              <a:ext uri="{FF2B5EF4-FFF2-40B4-BE49-F238E27FC236}">
                <a16:creationId xmlns:a16="http://schemas.microsoft.com/office/drawing/2014/main" id="{0F4C46AA-34C3-3346-F5E6-0D798A6C19DA}"/>
              </a:ext>
            </a:extLst>
          </p:cNvPr>
          <p:cNvCxnSpPr>
            <a:cxnSpLocks/>
            <a:stCxn id="5" idx="2"/>
            <a:endCxn id="21" idx="0"/>
          </p:cNvCxnSpPr>
          <p:nvPr/>
        </p:nvCxnSpPr>
        <p:spPr>
          <a:xfrm rot="5400000">
            <a:off x="4099096" y="2599907"/>
            <a:ext cx="752983" cy="3240827"/>
          </a:xfrm>
          <a:prstGeom prst="bentConnector3">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4" name="连接符: 肘形 13">
            <a:extLst>
              <a:ext uri="{FF2B5EF4-FFF2-40B4-BE49-F238E27FC236}">
                <a16:creationId xmlns:a16="http://schemas.microsoft.com/office/drawing/2014/main" id="{941876D4-6141-F425-1AE7-BC348962F004}"/>
              </a:ext>
            </a:extLst>
          </p:cNvPr>
          <p:cNvCxnSpPr>
            <a:cxnSpLocks/>
            <a:stCxn id="5" idx="2"/>
            <a:endCxn id="24" idx="0"/>
          </p:cNvCxnSpPr>
          <p:nvPr/>
        </p:nvCxnSpPr>
        <p:spPr>
          <a:xfrm rot="16200000" flipH="1">
            <a:off x="7338888" y="2600940"/>
            <a:ext cx="752983" cy="3238759"/>
          </a:xfrm>
          <a:prstGeom prst="bentConnector3">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5" name="连接符: 肘形 14">
            <a:extLst>
              <a:ext uri="{FF2B5EF4-FFF2-40B4-BE49-F238E27FC236}">
                <a16:creationId xmlns:a16="http://schemas.microsoft.com/office/drawing/2014/main" id="{DF750F6F-BCED-74C8-8A37-C8B14A89DDEF}"/>
              </a:ext>
            </a:extLst>
          </p:cNvPr>
          <p:cNvCxnSpPr>
            <a:cxnSpLocks/>
            <a:stCxn id="5" idx="2"/>
            <a:endCxn id="22" idx="0"/>
          </p:cNvCxnSpPr>
          <p:nvPr/>
        </p:nvCxnSpPr>
        <p:spPr>
          <a:xfrm rot="5400000">
            <a:off x="5179027" y="3679838"/>
            <a:ext cx="752983" cy="1080965"/>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6" name="连接符: 肘形 15">
            <a:extLst>
              <a:ext uri="{FF2B5EF4-FFF2-40B4-BE49-F238E27FC236}">
                <a16:creationId xmlns:a16="http://schemas.microsoft.com/office/drawing/2014/main" id="{D1D6925E-288F-E88D-8486-E1360F76C3ED}"/>
              </a:ext>
            </a:extLst>
          </p:cNvPr>
          <p:cNvCxnSpPr>
            <a:cxnSpLocks/>
            <a:stCxn id="5" idx="2"/>
            <a:endCxn id="23" idx="0"/>
          </p:cNvCxnSpPr>
          <p:nvPr/>
        </p:nvCxnSpPr>
        <p:spPr>
          <a:xfrm rot="16200000" flipH="1">
            <a:off x="6258957" y="3680871"/>
            <a:ext cx="752983" cy="1078897"/>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5" name="Text Box 43">
            <a:extLst>
              <a:ext uri="{FF2B5EF4-FFF2-40B4-BE49-F238E27FC236}">
                <a16:creationId xmlns:a16="http://schemas.microsoft.com/office/drawing/2014/main" id="{5D8B90B1-99D4-4114-6045-DC106B831B5F}"/>
              </a:ext>
            </a:extLst>
          </p:cNvPr>
          <p:cNvSpPr txBox="1">
            <a:spLocks noChangeArrowheads="1"/>
          </p:cNvSpPr>
          <p:nvPr/>
        </p:nvSpPr>
        <p:spPr bwMode="auto">
          <a:xfrm>
            <a:off x="5196000" y="3807829"/>
            <a:ext cx="1800000" cy="36000"/>
          </a:xfrm>
          <a:prstGeom prst="rect">
            <a:avLst/>
          </a:prstGeom>
          <a:solidFill>
            <a:srgbClr val="00B0F0"/>
          </a:solidFill>
          <a:ln w="12700">
            <a:noFill/>
            <a:miter lim="800000"/>
            <a:headEnd/>
            <a:tailEnd/>
          </a:ln>
        </p:spPr>
        <p:txBody>
          <a:bodyPr lIns="0" tIns="72000" rIns="0" bIns="72000"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endParaRPr lang="zh-CN" altLang="en-US" sz="1600" dirty="0">
              <a:solidFill>
                <a:schemeClr val="bg1"/>
              </a:solidFill>
              <a:latin typeface="+mj-ea"/>
              <a:ea typeface="+mj-ea"/>
            </a:endParaRPr>
          </a:p>
        </p:txBody>
      </p:sp>
      <p:sp>
        <p:nvSpPr>
          <p:cNvPr id="21" name="Text Box 43">
            <a:extLst>
              <a:ext uri="{FF2B5EF4-FFF2-40B4-BE49-F238E27FC236}">
                <a16:creationId xmlns:a16="http://schemas.microsoft.com/office/drawing/2014/main" id="{FFD0CEC5-D201-1D95-55AE-50747081A259}"/>
              </a:ext>
            </a:extLst>
          </p:cNvPr>
          <p:cNvSpPr txBox="1">
            <a:spLocks noChangeArrowheads="1"/>
          </p:cNvSpPr>
          <p:nvPr/>
        </p:nvSpPr>
        <p:spPr bwMode="auto">
          <a:xfrm>
            <a:off x="1955173" y="4596812"/>
            <a:ext cx="1800000" cy="18000"/>
          </a:xfrm>
          <a:prstGeom prst="rect">
            <a:avLst/>
          </a:prstGeom>
          <a:solidFill>
            <a:schemeClr val="tx1"/>
          </a:solidFill>
          <a:ln w="12700">
            <a:noFill/>
            <a:miter lim="800000"/>
            <a:headEnd/>
            <a:tailEnd/>
          </a:ln>
        </p:spPr>
        <p:txBody>
          <a:bodyPr lIns="0" tIns="72000" rIns="0" bIns="72000"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endParaRPr lang="zh-CN" altLang="en-US" sz="1600" dirty="0">
              <a:solidFill>
                <a:schemeClr val="bg1"/>
              </a:solidFill>
              <a:latin typeface="+mj-ea"/>
              <a:ea typeface="+mj-ea"/>
            </a:endParaRPr>
          </a:p>
        </p:txBody>
      </p:sp>
      <p:sp>
        <p:nvSpPr>
          <p:cNvPr id="22" name="Text Box 43">
            <a:extLst>
              <a:ext uri="{FF2B5EF4-FFF2-40B4-BE49-F238E27FC236}">
                <a16:creationId xmlns:a16="http://schemas.microsoft.com/office/drawing/2014/main" id="{611903C2-B9A3-AD4A-3AB9-E8D7997BC4EC}"/>
              </a:ext>
            </a:extLst>
          </p:cNvPr>
          <p:cNvSpPr txBox="1">
            <a:spLocks noChangeArrowheads="1"/>
          </p:cNvSpPr>
          <p:nvPr/>
        </p:nvSpPr>
        <p:spPr bwMode="auto">
          <a:xfrm>
            <a:off x="4115035" y="4596812"/>
            <a:ext cx="1800000" cy="18000"/>
          </a:xfrm>
          <a:prstGeom prst="rect">
            <a:avLst/>
          </a:prstGeom>
          <a:solidFill>
            <a:schemeClr val="tx1"/>
          </a:solidFill>
          <a:ln w="12700">
            <a:noFill/>
            <a:miter lim="800000"/>
            <a:headEnd/>
            <a:tailEnd/>
          </a:ln>
        </p:spPr>
        <p:txBody>
          <a:bodyPr lIns="0" tIns="72000" rIns="0" bIns="72000"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endParaRPr lang="zh-CN" altLang="en-US" sz="1600" dirty="0">
              <a:solidFill>
                <a:schemeClr val="bg1"/>
              </a:solidFill>
              <a:latin typeface="+mj-ea"/>
              <a:ea typeface="+mj-ea"/>
            </a:endParaRPr>
          </a:p>
        </p:txBody>
      </p:sp>
      <p:sp>
        <p:nvSpPr>
          <p:cNvPr id="23" name="Text Box 43">
            <a:extLst>
              <a:ext uri="{FF2B5EF4-FFF2-40B4-BE49-F238E27FC236}">
                <a16:creationId xmlns:a16="http://schemas.microsoft.com/office/drawing/2014/main" id="{55EA7CB7-7029-AE82-570E-87820618E5CD}"/>
              </a:ext>
            </a:extLst>
          </p:cNvPr>
          <p:cNvSpPr txBox="1">
            <a:spLocks noChangeArrowheads="1"/>
          </p:cNvSpPr>
          <p:nvPr/>
        </p:nvSpPr>
        <p:spPr bwMode="auto">
          <a:xfrm>
            <a:off x="6274897" y="4596812"/>
            <a:ext cx="1800000" cy="18000"/>
          </a:xfrm>
          <a:prstGeom prst="rect">
            <a:avLst/>
          </a:prstGeom>
          <a:solidFill>
            <a:schemeClr val="tx1"/>
          </a:solidFill>
          <a:ln w="12700">
            <a:noFill/>
            <a:miter lim="800000"/>
            <a:headEnd/>
            <a:tailEnd/>
          </a:ln>
        </p:spPr>
        <p:txBody>
          <a:bodyPr lIns="0" tIns="72000" rIns="0" bIns="72000"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endParaRPr lang="zh-CN" altLang="en-US" sz="1600" dirty="0">
              <a:solidFill>
                <a:schemeClr val="bg1"/>
              </a:solidFill>
              <a:latin typeface="+mj-ea"/>
              <a:ea typeface="+mj-ea"/>
            </a:endParaRPr>
          </a:p>
        </p:txBody>
      </p:sp>
      <p:sp>
        <p:nvSpPr>
          <p:cNvPr id="24" name="Text Box 43">
            <a:extLst>
              <a:ext uri="{FF2B5EF4-FFF2-40B4-BE49-F238E27FC236}">
                <a16:creationId xmlns:a16="http://schemas.microsoft.com/office/drawing/2014/main" id="{B7E8E539-6A29-B01A-41DB-8A74A6855611}"/>
              </a:ext>
            </a:extLst>
          </p:cNvPr>
          <p:cNvSpPr txBox="1">
            <a:spLocks noChangeArrowheads="1"/>
          </p:cNvSpPr>
          <p:nvPr/>
        </p:nvSpPr>
        <p:spPr bwMode="auto">
          <a:xfrm>
            <a:off x="8434759" y="4596812"/>
            <a:ext cx="1800000" cy="18000"/>
          </a:xfrm>
          <a:prstGeom prst="rect">
            <a:avLst/>
          </a:prstGeom>
          <a:solidFill>
            <a:schemeClr val="tx1"/>
          </a:solidFill>
          <a:ln w="12700">
            <a:noFill/>
            <a:miter lim="800000"/>
            <a:headEnd/>
            <a:tailEnd/>
          </a:ln>
        </p:spPr>
        <p:txBody>
          <a:bodyPr lIns="0" tIns="72000" rIns="0" bIns="72000"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endParaRPr lang="zh-CN" altLang="en-US" sz="1600" dirty="0">
              <a:solidFill>
                <a:schemeClr val="bg1"/>
              </a:solidFill>
              <a:latin typeface="+mj-ea"/>
              <a:ea typeface="+mj-ea"/>
            </a:endParaRPr>
          </a:p>
        </p:txBody>
      </p:sp>
      <p:sp>
        <p:nvSpPr>
          <p:cNvPr id="29" name="Text Box 43">
            <a:extLst>
              <a:ext uri="{FF2B5EF4-FFF2-40B4-BE49-F238E27FC236}">
                <a16:creationId xmlns:a16="http://schemas.microsoft.com/office/drawing/2014/main" id="{81186FA1-AF13-2CBC-00D7-F20902C31C81}"/>
              </a:ext>
            </a:extLst>
          </p:cNvPr>
          <p:cNvSpPr txBox="1">
            <a:spLocks noChangeArrowheads="1"/>
          </p:cNvSpPr>
          <p:nvPr/>
        </p:nvSpPr>
        <p:spPr bwMode="auto">
          <a:xfrm>
            <a:off x="5196000" y="3262569"/>
            <a:ext cx="1800000" cy="36000"/>
          </a:xfrm>
          <a:prstGeom prst="rect">
            <a:avLst/>
          </a:prstGeom>
          <a:solidFill>
            <a:srgbClr val="00B0F0"/>
          </a:solidFill>
          <a:ln w="12700">
            <a:noFill/>
            <a:miter lim="800000"/>
            <a:headEnd/>
            <a:tailEnd/>
          </a:ln>
        </p:spPr>
        <p:txBody>
          <a:bodyPr lIns="0" tIns="72000" rIns="0" bIns="72000"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endParaRPr lang="zh-CN" altLang="en-US" sz="1600" dirty="0">
              <a:solidFill>
                <a:schemeClr val="bg1"/>
              </a:solidFill>
              <a:latin typeface="+mj-ea"/>
              <a:ea typeface="+mj-ea"/>
            </a:endParaRPr>
          </a:p>
        </p:txBody>
      </p:sp>
      <p:sp>
        <p:nvSpPr>
          <p:cNvPr id="30" name="Text Box 43">
            <a:extLst>
              <a:ext uri="{FF2B5EF4-FFF2-40B4-BE49-F238E27FC236}">
                <a16:creationId xmlns:a16="http://schemas.microsoft.com/office/drawing/2014/main" id="{43AE96C2-2C18-D849-3FFC-07FABED2FB92}"/>
              </a:ext>
            </a:extLst>
          </p:cNvPr>
          <p:cNvSpPr txBox="1">
            <a:spLocks noChangeArrowheads="1"/>
          </p:cNvSpPr>
          <p:nvPr/>
        </p:nvSpPr>
        <p:spPr bwMode="auto">
          <a:xfrm>
            <a:off x="1955173" y="5283113"/>
            <a:ext cx="1800000" cy="18000"/>
          </a:xfrm>
          <a:prstGeom prst="rect">
            <a:avLst/>
          </a:prstGeom>
          <a:solidFill>
            <a:schemeClr val="tx1"/>
          </a:solidFill>
          <a:ln w="12700">
            <a:noFill/>
            <a:miter lim="800000"/>
            <a:headEnd/>
            <a:tailEnd/>
          </a:ln>
        </p:spPr>
        <p:txBody>
          <a:bodyPr lIns="0" tIns="72000" rIns="0" bIns="72000"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endParaRPr lang="zh-CN" altLang="en-US" sz="1600" dirty="0">
              <a:solidFill>
                <a:schemeClr val="bg1"/>
              </a:solidFill>
              <a:latin typeface="+mj-ea"/>
              <a:ea typeface="+mj-ea"/>
            </a:endParaRPr>
          </a:p>
        </p:txBody>
      </p:sp>
      <p:sp>
        <p:nvSpPr>
          <p:cNvPr id="31" name="Text Box 43">
            <a:extLst>
              <a:ext uri="{FF2B5EF4-FFF2-40B4-BE49-F238E27FC236}">
                <a16:creationId xmlns:a16="http://schemas.microsoft.com/office/drawing/2014/main" id="{D347F1B8-B602-EFFE-1444-87D4AAE810BB}"/>
              </a:ext>
            </a:extLst>
          </p:cNvPr>
          <p:cNvSpPr txBox="1">
            <a:spLocks noChangeArrowheads="1"/>
          </p:cNvSpPr>
          <p:nvPr/>
        </p:nvSpPr>
        <p:spPr bwMode="auto">
          <a:xfrm>
            <a:off x="4115035" y="5283113"/>
            <a:ext cx="1800000" cy="18000"/>
          </a:xfrm>
          <a:prstGeom prst="rect">
            <a:avLst/>
          </a:prstGeom>
          <a:solidFill>
            <a:schemeClr val="tx1"/>
          </a:solidFill>
          <a:ln w="12700">
            <a:noFill/>
            <a:miter lim="800000"/>
            <a:headEnd/>
            <a:tailEnd/>
          </a:ln>
        </p:spPr>
        <p:txBody>
          <a:bodyPr lIns="0" tIns="72000" rIns="0" bIns="72000"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endParaRPr lang="zh-CN" altLang="en-US" sz="1600" dirty="0">
              <a:solidFill>
                <a:schemeClr val="bg1"/>
              </a:solidFill>
              <a:latin typeface="+mj-ea"/>
              <a:ea typeface="+mj-ea"/>
            </a:endParaRPr>
          </a:p>
        </p:txBody>
      </p:sp>
      <p:sp>
        <p:nvSpPr>
          <p:cNvPr id="32" name="Text Box 43">
            <a:extLst>
              <a:ext uri="{FF2B5EF4-FFF2-40B4-BE49-F238E27FC236}">
                <a16:creationId xmlns:a16="http://schemas.microsoft.com/office/drawing/2014/main" id="{8F5E4D09-2F3C-046C-81F0-0796DD917B4F}"/>
              </a:ext>
            </a:extLst>
          </p:cNvPr>
          <p:cNvSpPr txBox="1">
            <a:spLocks noChangeArrowheads="1"/>
          </p:cNvSpPr>
          <p:nvPr/>
        </p:nvSpPr>
        <p:spPr bwMode="auto">
          <a:xfrm>
            <a:off x="6274897" y="5283113"/>
            <a:ext cx="1800000" cy="18000"/>
          </a:xfrm>
          <a:prstGeom prst="rect">
            <a:avLst/>
          </a:prstGeom>
          <a:solidFill>
            <a:schemeClr val="tx1"/>
          </a:solidFill>
          <a:ln w="12700">
            <a:noFill/>
            <a:miter lim="800000"/>
            <a:headEnd/>
            <a:tailEnd/>
          </a:ln>
        </p:spPr>
        <p:txBody>
          <a:bodyPr lIns="0" tIns="72000" rIns="0" bIns="72000"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endParaRPr lang="zh-CN" altLang="en-US" sz="1600" dirty="0">
              <a:solidFill>
                <a:schemeClr val="bg1"/>
              </a:solidFill>
              <a:latin typeface="+mj-ea"/>
              <a:ea typeface="+mj-ea"/>
            </a:endParaRPr>
          </a:p>
        </p:txBody>
      </p:sp>
      <p:sp>
        <p:nvSpPr>
          <p:cNvPr id="33" name="Text Box 43">
            <a:extLst>
              <a:ext uri="{FF2B5EF4-FFF2-40B4-BE49-F238E27FC236}">
                <a16:creationId xmlns:a16="http://schemas.microsoft.com/office/drawing/2014/main" id="{6081FDE3-F626-4D93-9C68-F2A988448E4F}"/>
              </a:ext>
            </a:extLst>
          </p:cNvPr>
          <p:cNvSpPr txBox="1">
            <a:spLocks noChangeArrowheads="1"/>
          </p:cNvSpPr>
          <p:nvPr/>
        </p:nvSpPr>
        <p:spPr bwMode="auto">
          <a:xfrm>
            <a:off x="8434759" y="5283113"/>
            <a:ext cx="1800000" cy="18000"/>
          </a:xfrm>
          <a:prstGeom prst="rect">
            <a:avLst/>
          </a:prstGeom>
          <a:solidFill>
            <a:schemeClr val="tx1"/>
          </a:solidFill>
          <a:ln w="12700">
            <a:noFill/>
            <a:miter lim="800000"/>
            <a:headEnd/>
            <a:tailEnd/>
          </a:ln>
        </p:spPr>
        <p:txBody>
          <a:bodyPr lIns="0" tIns="72000" rIns="0" bIns="72000" anchor="ctr" anchorCtr="0"/>
          <a:lstStyle>
            <a:defPPr>
              <a:defRPr lang="zh-CN"/>
            </a:defPPr>
            <a:lvl1pPr algn="ctr">
              <a:spcBef>
                <a:spcPct val="0"/>
              </a:spcBef>
              <a:buClrTx/>
              <a:buSzTx/>
              <a:buFontTx/>
              <a:buNone/>
              <a:defRPr sz="1600">
                <a:solidFill>
                  <a:schemeClr val="bg1"/>
                </a:solidFill>
                <a:latin typeface="+mj-ea"/>
                <a:ea typeface="+mj-ea"/>
              </a:defRPr>
            </a:lvl1pPr>
            <a:lvl2pPr marL="742950" indent="-285750">
              <a:spcBef>
                <a:spcPts val="550"/>
              </a:spcBef>
              <a:buClr>
                <a:schemeClr val="accent1"/>
              </a:buClr>
              <a:buSzPct val="70000"/>
              <a:buFont typeface="Wingdings 2" panose="05020102010507070707" pitchFamily="18" charset="2"/>
              <a:buChar char=""/>
              <a:defRPr sz="2600">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latin typeface="Tw Cen MT" panose="020B0602020104020603" pitchFamily="34" charset="0"/>
                <a:ea typeface="华文仿宋" panose="02010600040101010101" pitchFamily="2" charset="-122"/>
              </a:defRPr>
            </a:lvl9pPr>
          </a:lstStyle>
          <a:p>
            <a:endParaRPr lang="zh-CN" altLang="en-US" dirty="0"/>
          </a:p>
        </p:txBody>
      </p:sp>
    </p:spTree>
    <p:extLst>
      <p:ext uri="{BB962C8B-B14F-4D97-AF65-F5344CB8AC3E}">
        <p14:creationId xmlns:p14="http://schemas.microsoft.com/office/powerpoint/2010/main" val="1300802293"/>
      </p:ext>
    </p:extLst>
  </p:cSld>
  <p:clrMapOvr>
    <a:masterClrMapping/>
  </p:clrMapOvr>
</p:sld>
</file>

<file path=ppt/slides/slide3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911A0E-50E3-E6BB-8B1A-2FBCBCE9DB1F}"/>
              </a:ext>
            </a:extLst>
          </p:cNvPr>
          <p:cNvSpPr>
            <a:spLocks noGrp="1"/>
          </p:cNvSpPr>
          <p:nvPr>
            <p:ph type="title"/>
          </p:nvPr>
        </p:nvSpPr>
        <p:spPr>
          <a:xfrm>
            <a:off x="792000" y="360000"/>
            <a:ext cx="6375921" cy="429413"/>
          </a:xfrm>
        </p:spPr>
        <p:txBody>
          <a:bodyPr/>
          <a:lstStyle/>
          <a:p>
            <a:r>
              <a:rPr lang="zh-CN" altLang="en-US" dirty="0"/>
              <a:t>配置过程小结</a:t>
            </a:r>
          </a:p>
        </p:txBody>
      </p:sp>
      <p:sp>
        <p:nvSpPr>
          <p:cNvPr id="3" name="内容占位符 2">
            <a:extLst>
              <a:ext uri="{FF2B5EF4-FFF2-40B4-BE49-F238E27FC236}">
                <a16:creationId xmlns:a16="http://schemas.microsoft.com/office/drawing/2014/main" id="{112B0476-6827-5E69-BD3E-5F7FB3A8E866}"/>
              </a:ext>
            </a:extLst>
          </p:cNvPr>
          <p:cNvSpPr>
            <a:spLocks noGrp="1"/>
          </p:cNvSpPr>
          <p:nvPr>
            <p:ph idx="1"/>
          </p:nvPr>
        </p:nvSpPr>
        <p:spPr>
          <a:xfrm>
            <a:off x="696000" y="864000"/>
            <a:ext cx="10800000" cy="5400000"/>
          </a:xfrm>
        </p:spPr>
        <p:txBody>
          <a:bodyPr>
            <a:normAutofit/>
          </a:bodyPr>
          <a:lstStyle/>
          <a:p>
            <a:r>
              <a:rPr lang="zh-CN" altLang="en-US" dirty="0"/>
              <a:t>阶段一：规划与定义（</a:t>
            </a:r>
            <a:r>
              <a:rPr lang="en-US" altLang="zh-CN" dirty="0"/>
              <a:t>Plan &amp; Define</a:t>
            </a:r>
            <a:r>
              <a:rPr lang="zh-CN" altLang="en-US" dirty="0"/>
              <a:t>）</a:t>
            </a:r>
          </a:p>
          <a:p>
            <a:r>
              <a:rPr lang="zh-CN" altLang="en-US" dirty="0"/>
              <a:t>配置管理的起点，由</a:t>
            </a:r>
            <a:r>
              <a:rPr lang="en-US" altLang="zh-CN" dirty="0"/>
              <a:t>PM</a:t>
            </a:r>
            <a:r>
              <a:rPr lang="zh-CN" altLang="en-US" dirty="0"/>
              <a:t>和</a:t>
            </a:r>
            <a:r>
              <a:rPr lang="en-US" altLang="zh-CN" dirty="0"/>
              <a:t>CMO</a:t>
            </a:r>
            <a:r>
              <a:rPr lang="zh-CN" altLang="en-US" dirty="0"/>
              <a:t>主导</a:t>
            </a:r>
          </a:p>
          <a:p>
            <a:r>
              <a:rPr lang="en-US" altLang="zh-CN" dirty="0"/>
              <a:t>PM</a:t>
            </a:r>
            <a:r>
              <a:rPr lang="zh-CN" altLang="en-US" dirty="0"/>
              <a:t>：负责制定整体的项目管理计划，其中包含对配置管理的需求和目标。</a:t>
            </a:r>
          </a:p>
          <a:p>
            <a:r>
              <a:rPr lang="en-US" altLang="zh-CN" dirty="0"/>
              <a:t>CMO</a:t>
            </a:r>
            <a:r>
              <a:rPr lang="zh-CN" altLang="en-US" dirty="0"/>
              <a:t>：根据</a:t>
            </a:r>
            <a:r>
              <a:rPr lang="en-US" altLang="zh-CN" dirty="0"/>
              <a:t>PM</a:t>
            </a:r>
            <a:r>
              <a:rPr lang="zh-CN" altLang="en-US" dirty="0"/>
              <a:t>的要求，制定详细的</a:t>
            </a:r>
            <a:r>
              <a:rPr lang="en-US" altLang="zh-CN" dirty="0"/>
              <a:t>《</a:t>
            </a:r>
            <a:r>
              <a:rPr lang="zh-CN" altLang="en-US" dirty="0"/>
              <a:t>配置管理计划</a:t>
            </a:r>
            <a:r>
              <a:rPr lang="en-US" altLang="zh-CN" dirty="0"/>
              <a:t>》</a:t>
            </a:r>
            <a:r>
              <a:rPr lang="zh-CN" altLang="en-US" dirty="0"/>
              <a:t>。明确：</a:t>
            </a:r>
          </a:p>
          <a:p>
            <a:pPr lvl="1"/>
            <a:r>
              <a:rPr lang="zh-CN" altLang="en-US" dirty="0"/>
              <a:t>配置项 </a:t>
            </a:r>
            <a:r>
              <a:rPr lang="en-US" altLang="zh-CN" dirty="0"/>
              <a:t>CI </a:t>
            </a:r>
            <a:r>
              <a:rPr lang="zh-CN" altLang="en-US" dirty="0"/>
              <a:t>的识别：哪些东西需要被管理？（代码、文档、脚本、环境配置等）</a:t>
            </a:r>
          </a:p>
          <a:p>
            <a:pPr lvl="1"/>
            <a:r>
              <a:rPr lang="zh-CN" altLang="en-US" dirty="0"/>
              <a:t>配置库 </a:t>
            </a:r>
            <a:r>
              <a:rPr lang="en-US" altLang="zh-CN" dirty="0"/>
              <a:t>Repository </a:t>
            </a:r>
            <a:r>
              <a:rPr lang="zh-CN" altLang="en-US" dirty="0"/>
              <a:t>的结构：如何组织这些</a:t>
            </a:r>
            <a:r>
              <a:rPr lang="en-US" altLang="zh-CN" dirty="0"/>
              <a:t>CI</a:t>
            </a:r>
            <a:r>
              <a:rPr lang="zh-CN" altLang="en-US" dirty="0"/>
              <a:t>？（目录结构、分支策略）</a:t>
            </a:r>
          </a:p>
          <a:p>
            <a:pPr lvl="1"/>
            <a:r>
              <a:rPr lang="zh-CN" altLang="en-US" dirty="0"/>
              <a:t>基线策略：在哪些里程碑 </a:t>
            </a:r>
            <a:r>
              <a:rPr lang="en-US" altLang="zh-CN" dirty="0"/>
              <a:t>Milestone</a:t>
            </a:r>
            <a:r>
              <a:rPr lang="zh-CN" altLang="en-US" dirty="0"/>
              <a:t> 需要建立基线？</a:t>
            </a:r>
          </a:p>
          <a:p>
            <a:pPr lvl="1"/>
            <a:r>
              <a:rPr lang="zh-CN" altLang="en-US" dirty="0"/>
              <a:t>工具 </a:t>
            </a:r>
            <a:r>
              <a:rPr lang="en-US" altLang="zh-CN" dirty="0"/>
              <a:t>Tool </a:t>
            </a:r>
            <a:r>
              <a:rPr lang="zh-CN" altLang="en-US" dirty="0"/>
              <a:t>的选择：使用什么工具来管理？（</a:t>
            </a:r>
            <a:r>
              <a:rPr lang="en-US" altLang="zh-CN" dirty="0"/>
              <a:t>Git, SVN, Jira, Jenkins</a:t>
            </a:r>
            <a:r>
              <a:rPr lang="zh-CN" altLang="en-US" dirty="0"/>
              <a:t>等）</a:t>
            </a:r>
          </a:p>
          <a:p>
            <a:r>
              <a:rPr lang="zh-CN" altLang="en-US" dirty="0"/>
              <a:t>输出：</a:t>
            </a:r>
            <a:r>
              <a:rPr lang="en-US" altLang="zh-CN" dirty="0"/>
              <a:t>《</a:t>
            </a:r>
            <a:r>
              <a:rPr lang="zh-CN" altLang="en-US" dirty="0"/>
              <a:t>配置管理计划</a:t>
            </a:r>
            <a:r>
              <a:rPr lang="en-US" altLang="zh-CN" dirty="0"/>
              <a:t>》</a:t>
            </a:r>
            <a:endParaRPr lang="zh-CN" altLang="en-US" dirty="0"/>
          </a:p>
        </p:txBody>
      </p:sp>
      <p:sp>
        <p:nvSpPr>
          <p:cNvPr id="6" name="文本占位符 5">
            <a:extLst>
              <a:ext uri="{FF2B5EF4-FFF2-40B4-BE49-F238E27FC236}">
                <a16:creationId xmlns:a16="http://schemas.microsoft.com/office/drawing/2014/main" id="{5596D365-FB88-F296-4B3B-BA50FE601B80}"/>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4268066887"/>
      </p:ext>
    </p:extLst>
  </p:cSld>
  <p:clrMapOvr>
    <a:masterClrMapping/>
  </p:clrMapOvr>
</p:sld>
</file>

<file path=ppt/slides/slide3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98110-EE86-21D7-7D29-52BE463EC92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4EE05FA-D176-EEC5-0B64-3DD859787E7B}"/>
              </a:ext>
            </a:extLst>
          </p:cNvPr>
          <p:cNvSpPr>
            <a:spLocks noGrp="1"/>
          </p:cNvSpPr>
          <p:nvPr>
            <p:ph type="title"/>
          </p:nvPr>
        </p:nvSpPr>
        <p:spPr>
          <a:xfrm>
            <a:off x="792000" y="360000"/>
            <a:ext cx="6375921" cy="429413"/>
          </a:xfrm>
        </p:spPr>
        <p:txBody>
          <a:bodyPr/>
          <a:lstStyle/>
          <a:p>
            <a:r>
              <a:rPr lang="zh-CN" altLang="en-US" dirty="0"/>
              <a:t>配置过程小结</a:t>
            </a:r>
          </a:p>
        </p:txBody>
      </p:sp>
      <p:sp>
        <p:nvSpPr>
          <p:cNvPr id="3" name="内容占位符 2">
            <a:extLst>
              <a:ext uri="{FF2B5EF4-FFF2-40B4-BE49-F238E27FC236}">
                <a16:creationId xmlns:a16="http://schemas.microsoft.com/office/drawing/2014/main" id="{3AD86224-AF1E-CF8D-B0BC-6CEBA3669AB4}"/>
              </a:ext>
            </a:extLst>
          </p:cNvPr>
          <p:cNvSpPr>
            <a:spLocks noGrp="1"/>
          </p:cNvSpPr>
          <p:nvPr>
            <p:ph idx="1"/>
          </p:nvPr>
        </p:nvSpPr>
        <p:spPr>
          <a:xfrm>
            <a:off x="696000" y="864000"/>
            <a:ext cx="10800000" cy="5400000"/>
          </a:xfrm>
        </p:spPr>
        <p:txBody>
          <a:bodyPr>
            <a:normAutofit/>
          </a:bodyPr>
          <a:lstStyle/>
          <a:p>
            <a:r>
              <a:rPr lang="zh-CN" altLang="en-US" dirty="0"/>
              <a:t>阶段二：执行与监控（</a:t>
            </a:r>
            <a:r>
              <a:rPr lang="en-US" altLang="zh-CN" dirty="0"/>
              <a:t>Execute &amp; Monitor</a:t>
            </a:r>
            <a:r>
              <a:rPr lang="zh-CN" altLang="en-US" dirty="0"/>
              <a:t>）</a:t>
            </a:r>
          </a:p>
          <a:p>
            <a:r>
              <a:rPr lang="zh-CN" altLang="en-US" dirty="0"/>
              <a:t>日常开发活动，由</a:t>
            </a:r>
            <a:r>
              <a:rPr lang="en-US" altLang="zh-CN" dirty="0"/>
              <a:t>Developers</a:t>
            </a:r>
            <a:r>
              <a:rPr lang="zh-CN" altLang="en-US" dirty="0"/>
              <a:t>和</a:t>
            </a:r>
            <a:r>
              <a:rPr lang="en-US" altLang="zh-CN" dirty="0"/>
              <a:t>CMO</a:t>
            </a:r>
            <a:r>
              <a:rPr lang="zh-CN" altLang="en-US" dirty="0"/>
              <a:t>共同完成。</a:t>
            </a:r>
          </a:p>
          <a:p>
            <a:r>
              <a:rPr lang="en-US" altLang="zh-CN" dirty="0"/>
              <a:t>Developer</a:t>
            </a:r>
            <a:r>
              <a:rPr lang="zh-CN" altLang="en-US" dirty="0"/>
              <a:t>：</a:t>
            </a:r>
          </a:p>
          <a:p>
            <a:pPr lvl="1"/>
            <a:r>
              <a:rPr lang="zh-CN" altLang="en-US" dirty="0"/>
              <a:t>根据</a:t>
            </a:r>
            <a:r>
              <a:rPr lang="en-US" altLang="zh-CN" dirty="0"/>
              <a:t>《</a:t>
            </a:r>
            <a:r>
              <a:rPr lang="zh-CN" altLang="en-US" dirty="0"/>
              <a:t>配置管理计划</a:t>
            </a:r>
            <a:r>
              <a:rPr lang="en-US" altLang="zh-CN" dirty="0"/>
              <a:t>》</a:t>
            </a:r>
            <a:r>
              <a:rPr lang="zh-CN" altLang="en-US" dirty="0"/>
              <a:t>，在配置库 </a:t>
            </a:r>
            <a:r>
              <a:rPr lang="en-US" altLang="zh-CN" dirty="0"/>
              <a:t>Repository</a:t>
            </a:r>
            <a:r>
              <a:rPr lang="zh-CN" altLang="en-US" dirty="0"/>
              <a:t> 中进行日常的检出 </a:t>
            </a:r>
            <a:r>
              <a:rPr lang="en-US" altLang="zh-CN" dirty="0"/>
              <a:t>Checkout</a:t>
            </a:r>
            <a:r>
              <a:rPr lang="zh-CN" altLang="en-US" dirty="0"/>
              <a:t>、修改、提交 </a:t>
            </a:r>
            <a:r>
              <a:rPr lang="en-US" altLang="zh-CN" dirty="0"/>
              <a:t>Commit</a:t>
            </a:r>
            <a:r>
              <a:rPr lang="zh-CN" altLang="en-US" dirty="0"/>
              <a:t>操作</a:t>
            </a:r>
          </a:p>
          <a:p>
            <a:pPr lvl="1"/>
            <a:r>
              <a:rPr lang="zh-CN" altLang="en-US" dirty="0"/>
              <a:t>每次提交都应关联到一个具体的任务或缺陷，确保可追溯性</a:t>
            </a:r>
          </a:p>
          <a:p>
            <a:r>
              <a:rPr lang="en-US" altLang="zh-CN" dirty="0"/>
              <a:t>CM</a:t>
            </a:r>
            <a:r>
              <a:rPr lang="zh-CN" altLang="en-US" dirty="0"/>
              <a:t>：</a:t>
            </a:r>
          </a:p>
          <a:p>
            <a:pPr lvl="1"/>
            <a:r>
              <a:rPr lang="zh-CN" altLang="en-US" dirty="0"/>
              <a:t>工具维护：确保配置库的稳定、安全和高效运行</a:t>
            </a:r>
          </a:p>
          <a:p>
            <a:pPr lvl="1"/>
            <a:r>
              <a:rPr lang="zh-CN" altLang="en-US" dirty="0"/>
              <a:t>状态报告：定期生成</a:t>
            </a:r>
            <a:r>
              <a:rPr lang="en-US" altLang="zh-CN" dirty="0"/>
              <a:t>《</a:t>
            </a:r>
            <a:r>
              <a:rPr lang="zh-CN" altLang="en-US" dirty="0"/>
              <a:t>配置状态报告</a:t>
            </a:r>
            <a:r>
              <a:rPr lang="en-US" altLang="zh-CN" dirty="0"/>
              <a:t>》</a:t>
            </a:r>
            <a:r>
              <a:rPr lang="zh-CN" altLang="en-US" dirty="0"/>
              <a:t>，记录所有</a:t>
            </a:r>
            <a:r>
              <a:rPr lang="en-US" altLang="zh-CN" dirty="0"/>
              <a:t>CI</a:t>
            </a:r>
            <a:r>
              <a:rPr lang="zh-CN" altLang="en-US" dirty="0"/>
              <a:t>的变更历史、当前状态、基线版本等</a:t>
            </a:r>
          </a:p>
          <a:p>
            <a:pPr lvl="1"/>
            <a:r>
              <a:rPr lang="zh-CN" altLang="en-US" dirty="0"/>
              <a:t>审计：定期进行配置审计，确保实际交付物与配置库中的记录一致</a:t>
            </a:r>
          </a:p>
          <a:p>
            <a:r>
              <a:rPr lang="zh-CN" altLang="en-US" dirty="0"/>
              <a:t>输出：</a:t>
            </a:r>
            <a:r>
              <a:rPr lang="en-US" altLang="zh-CN" dirty="0"/>
              <a:t>《</a:t>
            </a:r>
            <a:r>
              <a:rPr lang="zh-CN" altLang="en-US" dirty="0"/>
              <a:t>配置状态报告</a:t>
            </a:r>
            <a:r>
              <a:rPr lang="en-US" altLang="zh-CN" dirty="0"/>
              <a:t>》</a:t>
            </a:r>
            <a:r>
              <a:rPr lang="zh-CN" altLang="en-US" dirty="0"/>
              <a:t>、配置库中的变更历史</a:t>
            </a:r>
          </a:p>
          <a:p>
            <a:endParaRPr lang="zh-CN" altLang="en-US" dirty="0"/>
          </a:p>
        </p:txBody>
      </p:sp>
      <p:sp>
        <p:nvSpPr>
          <p:cNvPr id="6" name="文本占位符 5">
            <a:extLst>
              <a:ext uri="{FF2B5EF4-FFF2-40B4-BE49-F238E27FC236}">
                <a16:creationId xmlns:a16="http://schemas.microsoft.com/office/drawing/2014/main" id="{9F2B1C76-DA07-6481-113C-B4EE55C92C74}"/>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4258693758"/>
      </p:ext>
    </p:extLst>
  </p:cSld>
  <p:clrMapOvr>
    <a:masterClrMapping/>
  </p:clrMapOvr>
</p:sld>
</file>

<file path=ppt/slides/slide3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39F5C-64B0-8213-826C-784A487C1E2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48E0F70-150B-73AE-F1FD-FDB06494516B}"/>
              </a:ext>
            </a:extLst>
          </p:cNvPr>
          <p:cNvSpPr>
            <a:spLocks noGrp="1"/>
          </p:cNvSpPr>
          <p:nvPr>
            <p:ph type="title"/>
          </p:nvPr>
        </p:nvSpPr>
        <p:spPr>
          <a:xfrm>
            <a:off x="792000" y="360000"/>
            <a:ext cx="6375921" cy="429413"/>
          </a:xfrm>
        </p:spPr>
        <p:txBody>
          <a:bodyPr/>
          <a:lstStyle/>
          <a:p>
            <a:r>
              <a:rPr lang="zh-CN" altLang="en-US" dirty="0"/>
              <a:t>配置过程小结</a:t>
            </a:r>
          </a:p>
        </p:txBody>
      </p:sp>
      <p:sp>
        <p:nvSpPr>
          <p:cNvPr id="3" name="内容占位符 2">
            <a:extLst>
              <a:ext uri="{FF2B5EF4-FFF2-40B4-BE49-F238E27FC236}">
                <a16:creationId xmlns:a16="http://schemas.microsoft.com/office/drawing/2014/main" id="{48A2B55B-58A0-33F0-3DB6-71C0C1BD9A52}"/>
              </a:ext>
            </a:extLst>
          </p:cNvPr>
          <p:cNvSpPr>
            <a:spLocks noGrp="1"/>
          </p:cNvSpPr>
          <p:nvPr>
            <p:ph idx="1"/>
          </p:nvPr>
        </p:nvSpPr>
        <p:spPr>
          <a:xfrm>
            <a:off x="696000" y="864000"/>
            <a:ext cx="10800000" cy="5400000"/>
          </a:xfrm>
        </p:spPr>
        <p:txBody>
          <a:bodyPr>
            <a:normAutofit/>
          </a:bodyPr>
          <a:lstStyle/>
          <a:p>
            <a:r>
              <a:rPr lang="zh-CN" altLang="en-US" dirty="0"/>
              <a:t>阶段三：评审与批准（</a:t>
            </a:r>
            <a:r>
              <a:rPr lang="en-US" altLang="zh-CN" dirty="0"/>
              <a:t>Review &amp; Approve</a:t>
            </a:r>
            <a:r>
              <a:rPr lang="zh-CN" altLang="en-US" dirty="0"/>
              <a:t>）</a:t>
            </a:r>
          </a:p>
          <a:p>
            <a:r>
              <a:rPr lang="zh-CN" altLang="en-US" dirty="0"/>
              <a:t>决策点，由</a:t>
            </a:r>
            <a:r>
              <a:rPr lang="en-US" altLang="zh-CN" dirty="0"/>
              <a:t>CCB</a:t>
            </a:r>
            <a:r>
              <a:rPr lang="zh-CN" altLang="en-US" dirty="0"/>
              <a:t>主导</a:t>
            </a:r>
          </a:p>
          <a:p>
            <a:r>
              <a:rPr lang="en-US" altLang="zh-CN" dirty="0"/>
              <a:t>CCB</a:t>
            </a:r>
            <a:r>
              <a:rPr lang="zh-CN" altLang="en-US" dirty="0"/>
              <a:t>：</a:t>
            </a:r>
          </a:p>
          <a:p>
            <a:pPr lvl="1"/>
            <a:r>
              <a:rPr lang="zh-CN" altLang="en-US" dirty="0"/>
              <a:t>基线评审：在项目达到预设的里程碑 </a:t>
            </a:r>
            <a:r>
              <a:rPr lang="en-US" altLang="zh-CN" dirty="0"/>
              <a:t>Milestone</a:t>
            </a:r>
            <a:r>
              <a:rPr lang="zh-CN" altLang="en-US" dirty="0"/>
              <a:t> 时，</a:t>
            </a:r>
            <a:r>
              <a:rPr lang="en-US" altLang="zh-CN" dirty="0"/>
              <a:t>CCB</a:t>
            </a:r>
            <a:r>
              <a:rPr lang="zh-CN" altLang="en-US" dirty="0"/>
              <a:t>会组织评审会议，对当前的配置项集合进行审查。</a:t>
            </a:r>
          </a:p>
          <a:p>
            <a:pPr lvl="1"/>
            <a:r>
              <a:rPr lang="zh-CN" altLang="en-US" dirty="0"/>
              <a:t>变更控制：对于任何需要修改已建立基线的请求，</a:t>
            </a:r>
            <a:r>
              <a:rPr lang="en-US" altLang="zh-CN" dirty="0"/>
              <a:t>CCB</a:t>
            </a:r>
            <a:r>
              <a:rPr lang="zh-CN" altLang="en-US" dirty="0"/>
              <a:t>负责评估其影响、批准或拒绝</a:t>
            </a:r>
          </a:p>
          <a:p>
            <a:pPr lvl="1"/>
            <a:r>
              <a:rPr lang="zh-CN" altLang="en-US" dirty="0"/>
              <a:t>批准基线：一旦评审通过，</a:t>
            </a:r>
            <a:r>
              <a:rPr lang="en-US" altLang="zh-CN" dirty="0"/>
              <a:t>CCB</a:t>
            </a:r>
            <a:r>
              <a:rPr lang="zh-CN" altLang="en-US" dirty="0"/>
              <a:t>正式批准建立新的基线</a:t>
            </a:r>
          </a:p>
          <a:p>
            <a:r>
              <a:rPr lang="zh-CN" altLang="en-US" dirty="0"/>
              <a:t>输出：基线批准决议</a:t>
            </a:r>
          </a:p>
          <a:p>
            <a:endParaRPr lang="zh-CN" altLang="en-US" dirty="0"/>
          </a:p>
        </p:txBody>
      </p:sp>
      <p:sp>
        <p:nvSpPr>
          <p:cNvPr id="6" name="文本占位符 5">
            <a:extLst>
              <a:ext uri="{FF2B5EF4-FFF2-40B4-BE49-F238E27FC236}">
                <a16:creationId xmlns:a16="http://schemas.microsoft.com/office/drawing/2014/main" id="{4232AED2-4F18-D842-C402-C7601853ADBE}"/>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1299236127"/>
      </p:ext>
    </p:extLst>
  </p:cSld>
  <p:clrMapOvr>
    <a:masterClrMapping/>
  </p:clrMapOvr>
</p:sld>
</file>

<file path=ppt/slides/slide3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B7F12-F13A-015F-9BFE-F42FF30A490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0E3179C-E7A0-5109-D997-CBAE788E85A1}"/>
              </a:ext>
            </a:extLst>
          </p:cNvPr>
          <p:cNvSpPr>
            <a:spLocks noGrp="1"/>
          </p:cNvSpPr>
          <p:nvPr>
            <p:ph type="title"/>
          </p:nvPr>
        </p:nvSpPr>
        <p:spPr>
          <a:xfrm>
            <a:off x="792000" y="360000"/>
            <a:ext cx="6375921" cy="429413"/>
          </a:xfrm>
        </p:spPr>
        <p:txBody>
          <a:bodyPr/>
          <a:lstStyle/>
          <a:p>
            <a:r>
              <a:rPr lang="zh-CN" altLang="en-US" dirty="0"/>
              <a:t>配置过程小结</a:t>
            </a:r>
          </a:p>
        </p:txBody>
      </p:sp>
      <p:sp>
        <p:nvSpPr>
          <p:cNvPr id="3" name="内容占位符 2">
            <a:extLst>
              <a:ext uri="{FF2B5EF4-FFF2-40B4-BE49-F238E27FC236}">
                <a16:creationId xmlns:a16="http://schemas.microsoft.com/office/drawing/2014/main" id="{E427B1BF-1B1A-0B94-1E95-F537CF89A17A}"/>
              </a:ext>
            </a:extLst>
          </p:cNvPr>
          <p:cNvSpPr>
            <a:spLocks noGrp="1"/>
          </p:cNvSpPr>
          <p:nvPr>
            <p:ph idx="1"/>
          </p:nvPr>
        </p:nvSpPr>
        <p:spPr>
          <a:xfrm>
            <a:off x="696000" y="864000"/>
            <a:ext cx="10800000" cy="5400000"/>
          </a:xfrm>
        </p:spPr>
        <p:txBody>
          <a:bodyPr>
            <a:normAutofit/>
          </a:bodyPr>
          <a:lstStyle/>
          <a:p>
            <a:r>
              <a:rPr lang="zh-CN" altLang="en-US" dirty="0"/>
              <a:t>阶段四：基线建立与发布 </a:t>
            </a:r>
            <a:r>
              <a:rPr lang="en-US" altLang="zh-CN" dirty="0"/>
              <a:t>Baseline &amp; Release</a:t>
            </a:r>
            <a:endParaRPr lang="zh-CN" altLang="en-US" dirty="0"/>
          </a:p>
          <a:p>
            <a:r>
              <a:rPr lang="zh-CN" altLang="en-US" dirty="0"/>
              <a:t>流程的终点，也是新循环的起点，由</a:t>
            </a:r>
            <a:r>
              <a:rPr lang="en-US" altLang="zh-CN" dirty="0"/>
              <a:t>CMO</a:t>
            </a:r>
            <a:r>
              <a:rPr lang="zh-CN" altLang="en-US" dirty="0"/>
              <a:t>执行</a:t>
            </a:r>
          </a:p>
          <a:p>
            <a:r>
              <a:rPr lang="en-US" altLang="zh-CN" dirty="0"/>
              <a:t>CMO</a:t>
            </a:r>
            <a:r>
              <a:rPr lang="zh-CN" altLang="en-US" dirty="0"/>
              <a:t>：</a:t>
            </a:r>
          </a:p>
          <a:p>
            <a:pPr lvl="1"/>
            <a:r>
              <a:rPr lang="zh-CN" altLang="en-US" dirty="0"/>
              <a:t>建立基线：根据</a:t>
            </a:r>
            <a:r>
              <a:rPr lang="en-US" altLang="zh-CN" dirty="0"/>
              <a:t>CCB</a:t>
            </a:r>
            <a:r>
              <a:rPr lang="zh-CN" altLang="en-US" dirty="0"/>
              <a:t>的批准，在配置库中对当前的</a:t>
            </a:r>
            <a:r>
              <a:rPr lang="en-US" altLang="zh-CN" dirty="0"/>
              <a:t>CI</a:t>
            </a:r>
            <a:r>
              <a:rPr lang="zh-CN" altLang="en-US" dirty="0"/>
              <a:t>集合打上正式的基线标签 </a:t>
            </a:r>
            <a:r>
              <a:rPr lang="en-US" altLang="zh-CN" dirty="0"/>
              <a:t>Tag</a:t>
            </a:r>
            <a:r>
              <a:rPr lang="zh-CN" altLang="en-US" dirty="0"/>
              <a:t>，并锁定其权限，使其成为“只读”状态。</a:t>
            </a:r>
          </a:p>
          <a:p>
            <a:pPr lvl="1"/>
            <a:r>
              <a:rPr lang="zh-CN" altLang="en-US" dirty="0"/>
              <a:t>发布：将基线版本打包，发布给测试团队、运维团队或客户</a:t>
            </a:r>
          </a:p>
          <a:p>
            <a:r>
              <a:rPr lang="zh-CN" altLang="en-US" dirty="0"/>
              <a:t>输出：正式的基线版本</a:t>
            </a:r>
          </a:p>
          <a:p>
            <a:endParaRPr lang="zh-CN" altLang="en-US" dirty="0"/>
          </a:p>
        </p:txBody>
      </p:sp>
      <p:sp>
        <p:nvSpPr>
          <p:cNvPr id="6" name="文本占位符 5">
            <a:extLst>
              <a:ext uri="{FF2B5EF4-FFF2-40B4-BE49-F238E27FC236}">
                <a16:creationId xmlns:a16="http://schemas.microsoft.com/office/drawing/2014/main" id="{BE425BDB-2F72-58F7-7759-4472F443347B}"/>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3663403638"/>
      </p:ext>
    </p:extLst>
  </p:cSld>
  <p:clrMapOvr>
    <a:masterClrMapping/>
  </p:clrMapOvr>
</p:sld>
</file>

<file path=ppt/slides/slide3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EE955E-5858-797E-6D8B-4947A30FB51B}"/>
              </a:ext>
            </a:extLst>
          </p:cNvPr>
          <p:cNvSpPr>
            <a:spLocks noGrp="1"/>
          </p:cNvSpPr>
          <p:nvPr>
            <p:ph type="title"/>
          </p:nvPr>
        </p:nvSpPr>
        <p:spPr>
          <a:xfrm>
            <a:off x="792000" y="360000"/>
            <a:ext cx="6375921" cy="429413"/>
          </a:xfrm>
        </p:spPr>
        <p:txBody>
          <a:bodyPr/>
          <a:lstStyle/>
          <a:p>
            <a:r>
              <a:rPr lang="zh-CN" altLang="en-US" dirty="0"/>
              <a:t>变更过程小结</a:t>
            </a:r>
          </a:p>
        </p:txBody>
      </p:sp>
      <p:sp>
        <p:nvSpPr>
          <p:cNvPr id="21" name="内容占位符 20">
            <a:extLst>
              <a:ext uri="{FF2B5EF4-FFF2-40B4-BE49-F238E27FC236}">
                <a16:creationId xmlns:a16="http://schemas.microsoft.com/office/drawing/2014/main" id="{D3198C56-F675-AE39-A794-733C3E705D06}"/>
              </a:ext>
            </a:extLst>
          </p:cNvPr>
          <p:cNvSpPr>
            <a:spLocks noGrp="1"/>
          </p:cNvSpPr>
          <p:nvPr>
            <p:ph idx="1"/>
          </p:nvPr>
        </p:nvSpPr>
        <p:spPr/>
        <p:txBody>
          <a:bodyPr/>
          <a:lstStyle/>
          <a:p>
            <a:endParaRPr lang="zh-CN" altLang="en-US"/>
          </a:p>
        </p:txBody>
      </p:sp>
      <p:sp>
        <p:nvSpPr>
          <p:cNvPr id="22" name="文本占位符 21">
            <a:extLst>
              <a:ext uri="{FF2B5EF4-FFF2-40B4-BE49-F238E27FC236}">
                <a16:creationId xmlns:a16="http://schemas.microsoft.com/office/drawing/2014/main" id="{54DEBCFD-3A2C-4091-62B4-02341F9ECC10}"/>
              </a:ext>
            </a:extLst>
          </p:cNvPr>
          <p:cNvSpPr>
            <a:spLocks noGrp="1"/>
          </p:cNvSpPr>
          <p:nvPr>
            <p:ph type="body" sz="quarter" idx="10"/>
          </p:nvPr>
        </p:nvSpPr>
        <p:spPr/>
        <p:txBody>
          <a:bodyPr/>
          <a:lstStyle/>
          <a:p>
            <a:endParaRPr lang="zh-CN" altLang="en-US"/>
          </a:p>
        </p:txBody>
      </p:sp>
      <p:grpSp>
        <p:nvGrpSpPr>
          <p:cNvPr id="18" name="组合 17">
            <a:extLst>
              <a:ext uri="{FF2B5EF4-FFF2-40B4-BE49-F238E27FC236}">
                <a16:creationId xmlns:a16="http://schemas.microsoft.com/office/drawing/2014/main" id="{95287DF9-3B3E-EDB8-9700-7EC29D1CD42E}"/>
              </a:ext>
            </a:extLst>
          </p:cNvPr>
          <p:cNvGrpSpPr/>
          <p:nvPr/>
        </p:nvGrpSpPr>
        <p:grpSpPr>
          <a:xfrm>
            <a:off x="2404986" y="1769884"/>
            <a:ext cx="7382028" cy="4224116"/>
            <a:chOff x="2035792" y="1769884"/>
            <a:chExt cx="7382028" cy="4224116"/>
          </a:xfrm>
        </p:grpSpPr>
        <p:sp>
          <p:nvSpPr>
            <p:cNvPr id="8" name="Text Box 43">
              <a:extLst>
                <a:ext uri="{FF2B5EF4-FFF2-40B4-BE49-F238E27FC236}">
                  <a16:creationId xmlns:a16="http://schemas.microsoft.com/office/drawing/2014/main" id="{C05BE039-DD79-7E8F-B44C-EA5E19C046E1}"/>
                </a:ext>
              </a:extLst>
            </p:cNvPr>
            <p:cNvSpPr txBox="1">
              <a:spLocks noChangeArrowheads="1"/>
            </p:cNvSpPr>
            <p:nvPr/>
          </p:nvSpPr>
          <p:spPr bwMode="auto">
            <a:xfrm>
              <a:off x="4752431" y="1769884"/>
              <a:ext cx="1440000" cy="432000"/>
            </a:xfrm>
            <a:prstGeom prst="rect">
              <a:avLst/>
            </a:prstGeom>
            <a:noFill/>
            <a:ln w="12700">
              <a:solidFill>
                <a:schemeClr val="tx1"/>
              </a:solidFill>
              <a:miter lim="800000"/>
              <a:headEnd/>
              <a:tailEnd/>
            </a:ln>
          </p:spPr>
          <p:txBody>
            <a:bodyPr lIns="72000" tIns="72000" rIns="72000" bIns="72000"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600" dirty="0">
                  <a:latin typeface="+mn-ea"/>
                  <a:ea typeface="+mn-ea"/>
                </a:rPr>
                <a:t>基线变更管理</a:t>
              </a:r>
            </a:p>
          </p:txBody>
        </p:sp>
        <p:sp>
          <p:nvSpPr>
            <p:cNvPr id="9" name="Text Box 44">
              <a:extLst>
                <a:ext uri="{FF2B5EF4-FFF2-40B4-BE49-F238E27FC236}">
                  <a16:creationId xmlns:a16="http://schemas.microsoft.com/office/drawing/2014/main" id="{0190518A-8976-007B-F7E2-A8F78A581C08}"/>
                </a:ext>
              </a:extLst>
            </p:cNvPr>
            <p:cNvSpPr txBox="1">
              <a:spLocks noChangeArrowheads="1"/>
            </p:cNvSpPr>
            <p:nvPr/>
          </p:nvSpPr>
          <p:spPr bwMode="auto">
            <a:xfrm>
              <a:off x="2035792" y="3066027"/>
              <a:ext cx="1512000" cy="432000"/>
            </a:xfrm>
            <a:prstGeom prst="rect">
              <a:avLst/>
            </a:prstGeom>
            <a:noFill/>
            <a:ln w="12700">
              <a:solidFill>
                <a:schemeClr val="tx1"/>
              </a:solidFill>
              <a:miter lim="800000"/>
              <a:headEnd/>
              <a:tailEnd/>
            </a:ln>
          </p:spPr>
          <p:txBody>
            <a:bodyPr lIns="72000" tIns="72000" rIns="72000" bIns="72000"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600" dirty="0">
                  <a:latin typeface="+mn-ea"/>
                  <a:ea typeface="+mn-ea"/>
                </a:rPr>
                <a:t>变更请求</a:t>
              </a:r>
            </a:p>
          </p:txBody>
        </p:sp>
        <p:sp>
          <p:nvSpPr>
            <p:cNvPr id="10" name="Text Box 45">
              <a:extLst>
                <a:ext uri="{FF2B5EF4-FFF2-40B4-BE49-F238E27FC236}">
                  <a16:creationId xmlns:a16="http://schemas.microsoft.com/office/drawing/2014/main" id="{C970286C-B3BA-B572-B4E6-C176F71B614E}"/>
                </a:ext>
              </a:extLst>
            </p:cNvPr>
            <p:cNvSpPr txBox="1">
              <a:spLocks noChangeArrowheads="1"/>
            </p:cNvSpPr>
            <p:nvPr/>
          </p:nvSpPr>
          <p:spPr bwMode="auto">
            <a:xfrm>
              <a:off x="3897438" y="3066027"/>
              <a:ext cx="1512000" cy="432000"/>
            </a:xfrm>
            <a:prstGeom prst="rect">
              <a:avLst/>
            </a:prstGeom>
            <a:noFill/>
            <a:ln w="12700">
              <a:solidFill>
                <a:schemeClr val="tx1"/>
              </a:solidFill>
              <a:miter lim="800000"/>
              <a:headEnd/>
              <a:tailEnd/>
            </a:ln>
          </p:spPr>
          <p:txBody>
            <a:bodyPr lIns="72000" tIns="72000" rIns="72000" bIns="72000"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600" dirty="0">
                  <a:latin typeface="+mn-ea"/>
                  <a:ea typeface="+mn-ea"/>
                </a:rPr>
                <a:t>变更评估</a:t>
              </a:r>
            </a:p>
          </p:txBody>
        </p:sp>
        <p:sp>
          <p:nvSpPr>
            <p:cNvPr id="11" name="Text Box 46">
              <a:extLst>
                <a:ext uri="{FF2B5EF4-FFF2-40B4-BE49-F238E27FC236}">
                  <a16:creationId xmlns:a16="http://schemas.microsoft.com/office/drawing/2014/main" id="{2277A7E6-061A-6163-AD86-AD21954A8C65}"/>
                </a:ext>
              </a:extLst>
            </p:cNvPr>
            <p:cNvSpPr txBox="1">
              <a:spLocks noChangeArrowheads="1"/>
            </p:cNvSpPr>
            <p:nvPr/>
          </p:nvSpPr>
          <p:spPr bwMode="auto">
            <a:xfrm>
              <a:off x="5880656" y="3066028"/>
              <a:ext cx="1512000" cy="432000"/>
            </a:xfrm>
            <a:prstGeom prst="rect">
              <a:avLst/>
            </a:prstGeom>
            <a:noFill/>
            <a:ln w="12700">
              <a:solidFill>
                <a:schemeClr val="tx1"/>
              </a:solidFill>
              <a:miter lim="800000"/>
              <a:headEnd/>
              <a:tailEnd/>
            </a:ln>
          </p:spPr>
          <p:txBody>
            <a:bodyPr lIns="72000" tIns="72000" rIns="72000" bIns="72000"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600" dirty="0">
                  <a:latin typeface="+mn-ea"/>
                  <a:ea typeface="+mn-ea"/>
                </a:rPr>
                <a:t>变更</a:t>
              </a:r>
              <a:r>
                <a:rPr lang="zh-CN" altLang="en-US" sz="1600" b="1" dirty="0">
                  <a:solidFill>
                    <a:schemeClr val="accent2"/>
                  </a:solidFill>
                  <a:latin typeface="+mn-ea"/>
                  <a:ea typeface="+mn-ea"/>
                </a:rPr>
                <a:t>批准</a:t>
              </a:r>
              <a:r>
                <a:rPr lang="en-US" altLang="zh-CN" sz="1600" dirty="0">
                  <a:latin typeface="+mn-ea"/>
                  <a:ea typeface="+mn-ea"/>
                </a:rPr>
                <a:t>/</a:t>
              </a:r>
              <a:r>
                <a:rPr lang="zh-CN" altLang="en-US" sz="1600" dirty="0">
                  <a:latin typeface="+mn-ea"/>
                  <a:ea typeface="+mn-ea"/>
                </a:rPr>
                <a:t>拒绝</a:t>
              </a:r>
            </a:p>
          </p:txBody>
        </p:sp>
        <p:sp>
          <p:nvSpPr>
            <p:cNvPr id="12" name="Text Box 47">
              <a:extLst>
                <a:ext uri="{FF2B5EF4-FFF2-40B4-BE49-F238E27FC236}">
                  <a16:creationId xmlns:a16="http://schemas.microsoft.com/office/drawing/2014/main" id="{E17CB6CC-F9C5-C95D-E119-EB32F0FFC4FA}"/>
                </a:ext>
              </a:extLst>
            </p:cNvPr>
            <p:cNvSpPr txBox="1">
              <a:spLocks noChangeArrowheads="1"/>
            </p:cNvSpPr>
            <p:nvPr/>
          </p:nvSpPr>
          <p:spPr bwMode="auto">
            <a:xfrm>
              <a:off x="7783638" y="3066028"/>
              <a:ext cx="1512000" cy="432000"/>
            </a:xfrm>
            <a:prstGeom prst="rect">
              <a:avLst/>
            </a:prstGeom>
            <a:noFill/>
            <a:ln w="12700">
              <a:solidFill>
                <a:schemeClr val="tx1"/>
              </a:solidFill>
              <a:miter lim="800000"/>
              <a:headEnd/>
              <a:tailEnd/>
            </a:ln>
          </p:spPr>
          <p:txBody>
            <a:bodyPr lIns="72000" tIns="72000" rIns="72000" bIns="72000"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600">
                  <a:latin typeface="+mn-ea"/>
                  <a:ea typeface="+mn-ea"/>
                </a:rPr>
                <a:t>变更实现</a:t>
              </a:r>
            </a:p>
          </p:txBody>
        </p:sp>
        <p:cxnSp>
          <p:nvCxnSpPr>
            <p:cNvPr id="17" name="连接符: 肘形 16">
              <a:extLst>
                <a:ext uri="{FF2B5EF4-FFF2-40B4-BE49-F238E27FC236}">
                  <a16:creationId xmlns:a16="http://schemas.microsoft.com/office/drawing/2014/main" id="{C0CA7D4B-A16C-CCCF-5FDE-D450BF37905E}"/>
                </a:ext>
              </a:extLst>
            </p:cNvPr>
            <p:cNvCxnSpPr>
              <a:stCxn id="8" idx="2"/>
              <a:endCxn id="9" idx="0"/>
            </p:cNvCxnSpPr>
            <p:nvPr/>
          </p:nvCxnSpPr>
          <p:spPr>
            <a:xfrm rot="5400000">
              <a:off x="3700041" y="1293636"/>
              <a:ext cx="864143" cy="2680639"/>
            </a:xfrm>
            <a:prstGeom prst="bentConnector3">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9" name="连接符: 肘形 18">
              <a:extLst>
                <a:ext uri="{FF2B5EF4-FFF2-40B4-BE49-F238E27FC236}">
                  <a16:creationId xmlns:a16="http://schemas.microsoft.com/office/drawing/2014/main" id="{4CCDC13B-9694-4009-D8DA-D5A3CD2915D1}"/>
                </a:ext>
              </a:extLst>
            </p:cNvPr>
            <p:cNvCxnSpPr>
              <a:stCxn id="8" idx="2"/>
              <a:endCxn id="12" idx="0"/>
            </p:cNvCxnSpPr>
            <p:nvPr/>
          </p:nvCxnSpPr>
          <p:spPr>
            <a:xfrm rot="16200000" flipH="1">
              <a:off x="6573962" y="1100352"/>
              <a:ext cx="864144" cy="3067207"/>
            </a:xfrm>
            <a:prstGeom prst="bentConnector3">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8" name="连接符: 肘形 27">
              <a:extLst>
                <a:ext uri="{FF2B5EF4-FFF2-40B4-BE49-F238E27FC236}">
                  <a16:creationId xmlns:a16="http://schemas.microsoft.com/office/drawing/2014/main" id="{03F37060-AAF4-A1D2-6038-48AA67FC54BE}"/>
                </a:ext>
              </a:extLst>
            </p:cNvPr>
            <p:cNvCxnSpPr>
              <a:stCxn id="8" idx="2"/>
              <a:endCxn id="10" idx="0"/>
            </p:cNvCxnSpPr>
            <p:nvPr/>
          </p:nvCxnSpPr>
          <p:spPr>
            <a:xfrm rot="5400000">
              <a:off x="4630864" y="2224459"/>
              <a:ext cx="864143" cy="818993"/>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0" name="连接符: 肘形 29">
              <a:extLst>
                <a:ext uri="{FF2B5EF4-FFF2-40B4-BE49-F238E27FC236}">
                  <a16:creationId xmlns:a16="http://schemas.microsoft.com/office/drawing/2014/main" id="{C56E1497-20EA-4FC8-2458-BA5F32758306}"/>
                </a:ext>
              </a:extLst>
            </p:cNvPr>
            <p:cNvCxnSpPr>
              <a:stCxn id="8" idx="2"/>
              <a:endCxn id="11" idx="0"/>
            </p:cNvCxnSpPr>
            <p:nvPr/>
          </p:nvCxnSpPr>
          <p:spPr>
            <a:xfrm rot="16200000" flipH="1">
              <a:off x="5622471" y="2051843"/>
              <a:ext cx="864144" cy="1164225"/>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9B756DA2-8876-DECE-3C67-D020C45EAF3D}"/>
                </a:ext>
              </a:extLst>
            </p:cNvPr>
            <p:cNvSpPr txBox="1"/>
            <p:nvPr/>
          </p:nvSpPr>
          <p:spPr>
            <a:xfrm>
              <a:off x="3814521" y="4213531"/>
              <a:ext cx="391628" cy="966144"/>
            </a:xfrm>
            <a:prstGeom prst="rect">
              <a:avLst/>
            </a:prstGeom>
            <a:noFill/>
          </p:spPr>
          <p:txBody>
            <a:bodyPr vert="eaVert" wrap="none" lIns="72000" tIns="72000" rIns="72000" bIns="72000" rtlCol="0">
              <a:spAutoFit/>
            </a:bodyPr>
            <a:lstStyle/>
            <a:p>
              <a:pPr algn="l"/>
              <a:r>
                <a:rPr lang="zh-CN" altLang="en-US" sz="1600" dirty="0"/>
                <a:t>变更分类</a:t>
              </a:r>
            </a:p>
          </p:txBody>
        </p:sp>
        <p:sp>
          <p:nvSpPr>
            <p:cNvPr id="32" name="文本框 31">
              <a:extLst>
                <a:ext uri="{FF2B5EF4-FFF2-40B4-BE49-F238E27FC236}">
                  <a16:creationId xmlns:a16="http://schemas.microsoft.com/office/drawing/2014/main" id="{DC577E18-B6EE-4D82-AAF4-ECAF2C397763}"/>
                </a:ext>
              </a:extLst>
            </p:cNvPr>
            <p:cNvSpPr txBox="1"/>
            <p:nvPr/>
          </p:nvSpPr>
          <p:spPr>
            <a:xfrm>
              <a:off x="4145889" y="4213531"/>
              <a:ext cx="391628" cy="1376513"/>
            </a:xfrm>
            <a:prstGeom prst="rect">
              <a:avLst/>
            </a:prstGeom>
            <a:noFill/>
          </p:spPr>
          <p:txBody>
            <a:bodyPr vert="eaVert" wrap="none" lIns="72000" tIns="72000" rIns="72000" bIns="72000" rtlCol="0">
              <a:spAutoFit/>
            </a:bodyPr>
            <a:lstStyle/>
            <a:p>
              <a:pPr algn="l"/>
              <a:r>
                <a:rPr lang="zh-CN" altLang="en-US" sz="1600" dirty="0"/>
                <a:t>技术影响分析</a:t>
              </a:r>
            </a:p>
          </p:txBody>
        </p:sp>
        <p:sp>
          <p:nvSpPr>
            <p:cNvPr id="33" name="文本框 32">
              <a:extLst>
                <a:ext uri="{FF2B5EF4-FFF2-40B4-BE49-F238E27FC236}">
                  <a16:creationId xmlns:a16="http://schemas.microsoft.com/office/drawing/2014/main" id="{B016644D-C8D9-2269-8F2B-A16C287E8D85}"/>
                </a:ext>
              </a:extLst>
            </p:cNvPr>
            <p:cNvSpPr txBox="1"/>
            <p:nvPr/>
          </p:nvSpPr>
          <p:spPr>
            <a:xfrm>
              <a:off x="4477257" y="4213531"/>
              <a:ext cx="391628" cy="1376513"/>
            </a:xfrm>
            <a:prstGeom prst="rect">
              <a:avLst/>
            </a:prstGeom>
            <a:noFill/>
          </p:spPr>
          <p:txBody>
            <a:bodyPr vert="eaVert" wrap="none" lIns="72000" tIns="72000" rIns="72000" bIns="72000" rtlCol="0">
              <a:spAutoFit/>
            </a:bodyPr>
            <a:lstStyle/>
            <a:p>
              <a:pPr algn="l"/>
              <a:r>
                <a:rPr lang="zh-CN" altLang="en-US" sz="1600" dirty="0"/>
                <a:t>接口影响分析</a:t>
              </a:r>
            </a:p>
          </p:txBody>
        </p:sp>
        <p:sp>
          <p:nvSpPr>
            <p:cNvPr id="34" name="文本框 33">
              <a:extLst>
                <a:ext uri="{FF2B5EF4-FFF2-40B4-BE49-F238E27FC236}">
                  <a16:creationId xmlns:a16="http://schemas.microsoft.com/office/drawing/2014/main" id="{A977EB4D-CE76-060E-7ED3-BF7FD23377E2}"/>
                </a:ext>
              </a:extLst>
            </p:cNvPr>
            <p:cNvSpPr txBox="1"/>
            <p:nvPr/>
          </p:nvSpPr>
          <p:spPr>
            <a:xfrm>
              <a:off x="4808625" y="4213531"/>
              <a:ext cx="391628" cy="1376513"/>
            </a:xfrm>
            <a:prstGeom prst="rect">
              <a:avLst/>
            </a:prstGeom>
            <a:noFill/>
          </p:spPr>
          <p:txBody>
            <a:bodyPr vert="eaVert" wrap="none" lIns="72000" tIns="72000" rIns="72000" bIns="72000" rtlCol="0">
              <a:spAutoFit/>
            </a:bodyPr>
            <a:lstStyle/>
            <a:p>
              <a:pPr algn="l"/>
              <a:r>
                <a:rPr lang="zh-CN" altLang="en-US" sz="1600" dirty="0"/>
                <a:t>进度影响分析</a:t>
              </a:r>
            </a:p>
          </p:txBody>
        </p:sp>
        <p:sp>
          <p:nvSpPr>
            <p:cNvPr id="35" name="文本框 34">
              <a:extLst>
                <a:ext uri="{FF2B5EF4-FFF2-40B4-BE49-F238E27FC236}">
                  <a16:creationId xmlns:a16="http://schemas.microsoft.com/office/drawing/2014/main" id="{EAEA9D8F-076F-A7F8-FAF1-59460025540C}"/>
                </a:ext>
              </a:extLst>
            </p:cNvPr>
            <p:cNvSpPr txBox="1"/>
            <p:nvPr/>
          </p:nvSpPr>
          <p:spPr>
            <a:xfrm>
              <a:off x="5139992" y="4213531"/>
              <a:ext cx="391628" cy="1376513"/>
            </a:xfrm>
            <a:prstGeom prst="rect">
              <a:avLst/>
            </a:prstGeom>
            <a:noFill/>
          </p:spPr>
          <p:txBody>
            <a:bodyPr vert="eaVert" wrap="none" lIns="72000" tIns="72000" rIns="72000" bIns="72000" rtlCol="0">
              <a:spAutoFit/>
            </a:bodyPr>
            <a:lstStyle/>
            <a:p>
              <a:pPr algn="l"/>
              <a:r>
                <a:rPr lang="zh-CN" altLang="en-US" sz="1600" dirty="0"/>
                <a:t>预算影响分析</a:t>
              </a:r>
            </a:p>
          </p:txBody>
        </p:sp>
        <p:cxnSp>
          <p:nvCxnSpPr>
            <p:cNvPr id="37" name="连接符: 肘形 36">
              <a:extLst>
                <a:ext uri="{FF2B5EF4-FFF2-40B4-BE49-F238E27FC236}">
                  <a16:creationId xmlns:a16="http://schemas.microsoft.com/office/drawing/2014/main" id="{0FAF2DB2-D50A-DEC6-32BA-2A364EFA2C49}"/>
                </a:ext>
              </a:extLst>
            </p:cNvPr>
            <p:cNvCxnSpPr>
              <a:stCxn id="10" idx="2"/>
              <a:endCxn id="31" idx="0"/>
            </p:cNvCxnSpPr>
            <p:nvPr/>
          </p:nvCxnSpPr>
          <p:spPr>
            <a:xfrm rot="5400000">
              <a:off x="3974135" y="3534228"/>
              <a:ext cx="715504" cy="643103"/>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9" name="连接符: 肘形 38">
              <a:extLst>
                <a:ext uri="{FF2B5EF4-FFF2-40B4-BE49-F238E27FC236}">
                  <a16:creationId xmlns:a16="http://schemas.microsoft.com/office/drawing/2014/main" id="{697C8A14-6D83-9B6B-F174-03DB2B708E01}"/>
                </a:ext>
              </a:extLst>
            </p:cNvPr>
            <p:cNvCxnSpPr>
              <a:stCxn id="10" idx="2"/>
              <a:endCxn id="35" idx="0"/>
            </p:cNvCxnSpPr>
            <p:nvPr/>
          </p:nvCxnSpPr>
          <p:spPr>
            <a:xfrm rot="16200000" flipH="1">
              <a:off x="4636870" y="3514595"/>
              <a:ext cx="715504" cy="682368"/>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49" name="文本框 48">
              <a:extLst>
                <a:ext uri="{FF2B5EF4-FFF2-40B4-BE49-F238E27FC236}">
                  <a16:creationId xmlns:a16="http://schemas.microsoft.com/office/drawing/2014/main" id="{3079A16C-FC3C-D72F-2C60-E13A2F41E3A8}"/>
                </a:ext>
              </a:extLst>
            </p:cNvPr>
            <p:cNvSpPr txBox="1"/>
            <p:nvPr/>
          </p:nvSpPr>
          <p:spPr>
            <a:xfrm>
              <a:off x="6020572" y="4213531"/>
              <a:ext cx="391628" cy="966144"/>
            </a:xfrm>
            <a:prstGeom prst="rect">
              <a:avLst/>
            </a:prstGeom>
            <a:noFill/>
          </p:spPr>
          <p:txBody>
            <a:bodyPr vert="eaVert" wrap="none" lIns="72000" tIns="72000" rIns="72000" bIns="72000" rtlCol="0">
              <a:spAutoFit/>
            </a:bodyPr>
            <a:lstStyle/>
            <a:p>
              <a:pPr algn="l"/>
              <a:r>
                <a:rPr lang="zh-CN" altLang="en-US" sz="1600" dirty="0"/>
                <a:t>实施变更</a:t>
              </a:r>
            </a:p>
          </p:txBody>
        </p:sp>
        <p:sp>
          <p:nvSpPr>
            <p:cNvPr id="50" name="文本框 49">
              <a:extLst>
                <a:ext uri="{FF2B5EF4-FFF2-40B4-BE49-F238E27FC236}">
                  <a16:creationId xmlns:a16="http://schemas.microsoft.com/office/drawing/2014/main" id="{A694E84A-3639-8623-B80E-329F1926C565}"/>
                </a:ext>
              </a:extLst>
            </p:cNvPr>
            <p:cNvSpPr txBox="1"/>
            <p:nvPr/>
          </p:nvSpPr>
          <p:spPr>
            <a:xfrm>
              <a:off x="6313840" y="4213531"/>
              <a:ext cx="391628" cy="966144"/>
            </a:xfrm>
            <a:prstGeom prst="rect">
              <a:avLst/>
            </a:prstGeom>
            <a:noFill/>
          </p:spPr>
          <p:txBody>
            <a:bodyPr vert="eaVert" wrap="none" lIns="72000" tIns="72000" rIns="72000" bIns="72000" rtlCol="0">
              <a:spAutoFit/>
            </a:bodyPr>
            <a:lstStyle/>
            <a:p>
              <a:pPr algn="l"/>
              <a:r>
                <a:rPr lang="zh-CN" altLang="en-US" sz="1600" dirty="0"/>
                <a:t>验证变更</a:t>
              </a:r>
            </a:p>
          </p:txBody>
        </p:sp>
        <p:sp>
          <p:nvSpPr>
            <p:cNvPr id="51" name="文本框 50">
              <a:extLst>
                <a:ext uri="{FF2B5EF4-FFF2-40B4-BE49-F238E27FC236}">
                  <a16:creationId xmlns:a16="http://schemas.microsoft.com/office/drawing/2014/main" id="{2D334031-41E5-B9F2-3E0A-F913D7B3A56F}"/>
                </a:ext>
              </a:extLst>
            </p:cNvPr>
            <p:cNvSpPr txBox="1"/>
            <p:nvPr/>
          </p:nvSpPr>
          <p:spPr>
            <a:xfrm>
              <a:off x="6607108" y="4213531"/>
              <a:ext cx="391628" cy="966144"/>
            </a:xfrm>
            <a:prstGeom prst="rect">
              <a:avLst/>
            </a:prstGeom>
            <a:noFill/>
          </p:spPr>
          <p:txBody>
            <a:bodyPr vert="eaVert" wrap="none" lIns="72000" tIns="72000" rIns="72000" bIns="72000" rtlCol="0">
              <a:spAutoFit/>
            </a:bodyPr>
            <a:lstStyle/>
            <a:p>
              <a:pPr algn="l"/>
              <a:r>
                <a:rPr lang="zh-CN" altLang="en-US" sz="1600" dirty="0"/>
                <a:t>发布安装</a:t>
              </a:r>
            </a:p>
          </p:txBody>
        </p:sp>
        <p:sp>
          <p:nvSpPr>
            <p:cNvPr id="52" name="文本框 51">
              <a:extLst>
                <a:ext uri="{FF2B5EF4-FFF2-40B4-BE49-F238E27FC236}">
                  <a16:creationId xmlns:a16="http://schemas.microsoft.com/office/drawing/2014/main" id="{269C8C31-42EC-9A8F-B028-BF8CBD801F49}"/>
                </a:ext>
              </a:extLst>
            </p:cNvPr>
            <p:cNvSpPr txBox="1"/>
            <p:nvPr/>
          </p:nvSpPr>
          <p:spPr>
            <a:xfrm>
              <a:off x="6900376" y="4213531"/>
              <a:ext cx="391628" cy="966144"/>
            </a:xfrm>
            <a:prstGeom prst="rect">
              <a:avLst/>
            </a:prstGeom>
            <a:noFill/>
          </p:spPr>
          <p:txBody>
            <a:bodyPr vert="eaVert" wrap="none" lIns="72000" tIns="72000" rIns="72000" bIns="72000" rtlCol="0">
              <a:spAutoFit/>
            </a:bodyPr>
            <a:lstStyle/>
            <a:p>
              <a:pPr algn="l"/>
              <a:r>
                <a:rPr lang="zh-CN" altLang="en-US" sz="1600" dirty="0"/>
                <a:t>版本更新</a:t>
              </a:r>
            </a:p>
          </p:txBody>
        </p:sp>
        <p:cxnSp>
          <p:nvCxnSpPr>
            <p:cNvPr id="55" name="连接符: 肘形 54">
              <a:extLst>
                <a:ext uri="{FF2B5EF4-FFF2-40B4-BE49-F238E27FC236}">
                  <a16:creationId xmlns:a16="http://schemas.microsoft.com/office/drawing/2014/main" id="{C3D42A7E-AE34-1E16-EA32-94E2F254442D}"/>
                </a:ext>
              </a:extLst>
            </p:cNvPr>
            <p:cNvCxnSpPr>
              <a:stCxn id="11" idx="2"/>
              <a:endCxn id="49" idx="0"/>
            </p:cNvCxnSpPr>
            <p:nvPr/>
          </p:nvCxnSpPr>
          <p:spPr>
            <a:xfrm rot="5400000">
              <a:off x="6068770" y="3645644"/>
              <a:ext cx="715503" cy="420270"/>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7" name="连接符: 肘形 56">
              <a:extLst>
                <a:ext uri="{FF2B5EF4-FFF2-40B4-BE49-F238E27FC236}">
                  <a16:creationId xmlns:a16="http://schemas.microsoft.com/office/drawing/2014/main" id="{10A097DF-A289-7DB3-C2D7-EFB088CC7B62}"/>
                </a:ext>
              </a:extLst>
            </p:cNvPr>
            <p:cNvCxnSpPr>
              <a:stCxn id="11" idx="2"/>
              <a:endCxn id="52" idx="0"/>
            </p:cNvCxnSpPr>
            <p:nvPr/>
          </p:nvCxnSpPr>
          <p:spPr>
            <a:xfrm rot="16200000" flipH="1">
              <a:off x="6508672" y="3626012"/>
              <a:ext cx="715503" cy="459534"/>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293560B5-667E-B7A7-F773-401BDCB40C6E}"/>
                </a:ext>
              </a:extLst>
            </p:cNvPr>
            <p:cNvSpPr txBox="1"/>
            <p:nvPr/>
          </p:nvSpPr>
          <p:spPr>
            <a:xfrm>
              <a:off x="7700721" y="4213531"/>
              <a:ext cx="391628" cy="1376513"/>
            </a:xfrm>
            <a:prstGeom prst="rect">
              <a:avLst/>
            </a:prstGeom>
            <a:noFill/>
          </p:spPr>
          <p:txBody>
            <a:bodyPr vert="eaVert" wrap="none" lIns="72000" tIns="72000" rIns="72000" bIns="72000" rtlCol="0">
              <a:spAutoFit/>
            </a:bodyPr>
            <a:lstStyle/>
            <a:p>
              <a:pPr algn="l"/>
              <a:r>
                <a:rPr lang="zh-CN" altLang="en-US" sz="1600" dirty="0"/>
                <a:t>受控基线出库</a:t>
              </a:r>
            </a:p>
          </p:txBody>
        </p:sp>
        <p:sp>
          <p:nvSpPr>
            <p:cNvPr id="6" name="文本框 5">
              <a:extLst>
                <a:ext uri="{FF2B5EF4-FFF2-40B4-BE49-F238E27FC236}">
                  <a16:creationId xmlns:a16="http://schemas.microsoft.com/office/drawing/2014/main" id="{B094AA16-5CA6-6A5B-5799-F650D98AC58C}"/>
                </a:ext>
              </a:extLst>
            </p:cNvPr>
            <p:cNvSpPr txBox="1"/>
            <p:nvPr/>
          </p:nvSpPr>
          <p:spPr>
            <a:xfrm>
              <a:off x="8032089" y="4213531"/>
              <a:ext cx="391628" cy="966144"/>
            </a:xfrm>
            <a:prstGeom prst="rect">
              <a:avLst/>
            </a:prstGeom>
            <a:noFill/>
          </p:spPr>
          <p:txBody>
            <a:bodyPr vert="eaVert" wrap="none" lIns="72000" tIns="72000" rIns="72000" bIns="72000" rtlCol="0">
              <a:spAutoFit/>
            </a:bodyPr>
            <a:lstStyle/>
            <a:p>
              <a:pPr algn="l"/>
              <a:r>
                <a:rPr lang="zh-CN" altLang="en-US" sz="1600" dirty="0"/>
                <a:t>变更实现</a:t>
              </a:r>
            </a:p>
          </p:txBody>
        </p:sp>
        <p:sp>
          <p:nvSpPr>
            <p:cNvPr id="7" name="文本框 6">
              <a:extLst>
                <a:ext uri="{FF2B5EF4-FFF2-40B4-BE49-F238E27FC236}">
                  <a16:creationId xmlns:a16="http://schemas.microsoft.com/office/drawing/2014/main" id="{CE6CD43D-BE96-EBCF-2C48-8BD015570639}"/>
                </a:ext>
              </a:extLst>
            </p:cNvPr>
            <p:cNvSpPr txBox="1"/>
            <p:nvPr/>
          </p:nvSpPr>
          <p:spPr>
            <a:xfrm>
              <a:off x="8363457" y="4213531"/>
              <a:ext cx="391628" cy="1780469"/>
            </a:xfrm>
            <a:prstGeom prst="rect">
              <a:avLst/>
            </a:prstGeom>
            <a:noFill/>
          </p:spPr>
          <p:txBody>
            <a:bodyPr vert="eaVert" wrap="none" lIns="72000" tIns="72000" rIns="72000" bIns="72000" rtlCol="0">
              <a:spAutoFit/>
            </a:bodyPr>
            <a:lstStyle/>
            <a:p>
              <a:pPr algn="l"/>
              <a:r>
                <a:rPr lang="zh-CN" altLang="en-US" sz="1600" dirty="0"/>
                <a:t>实现的测试和</a:t>
              </a:r>
              <a:r>
                <a:rPr lang="zh-CN" altLang="en-US" sz="1600" b="1" dirty="0">
                  <a:solidFill>
                    <a:schemeClr val="accent2"/>
                  </a:solidFill>
                </a:rPr>
                <a:t>验证</a:t>
              </a:r>
            </a:p>
          </p:txBody>
        </p:sp>
        <p:sp>
          <p:nvSpPr>
            <p:cNvPr id="13" name="文本框 12">
              <a:extLst>
                <a:ext uri="{FF2B5EF4-FFF2-40B4-BE49-F238E27FC236}">
                  <a16:creationId xmlns:a16="http://schemas.microsoft.com/office/drawing/2014/main" id="{EA65B8CC-F165-D95A-5EBC-71FB67EF377D}"/>
                </a:ext>
              </a:extLst>
            </p:cNvPr>
            <p:cNvSpPr txBox="1"/>
            <p:nvPr/>
          </p:nvSpPr>
          <p:spPr>
            <a:xfrm>
              <a:off x="8694825" y="4213531"/>
              <a:ext cx="391628" cy="1171328"/>
            </a:xfrm>
            <a:prstGeom prst="rect">
              <a:avLst/>
            </a:prstGeom>
            <a:noFill/>
          </p:spPr>
          <p:txBody>
            <a:bodyPr vert="eaVert" wrap="none" lIns="72000" tIns="72000" rIns="72000" bIns="72000" rtlCol="0">
              <a:spAutoFit/>
            </a:bodyPr>
            <a:lstStyle/>
            <a:p>
              <a:pPr algn="l"/>
              <a:r>
                <a:rPr lang="zh-CN" altLang="en-US" sz="1600" dirty="0"/>
                <a:t>实现被承认</a:t>
              </a:r>
            </a:p>
          </p:txBody>
        </p:sp>
        <p:sp>
          <p:nvSpPr>
            <p:cNvPr id="14" name="文本框 13">
              <a:extLst>
                <a:ext uri="{FF2B5EF4-FFF2-40B4-BE49-F238E27FC236}">
                  <a16:creationId xmlns:a16="http://schemas.microsoft.com/office/drawing/2014/main" id="{6E803047-0510-1B20-BBB4-6B32E0A1D8DD}"/>
                </a:ext>
              </a:extLst>
            </p:cNvPr>
            <p:cNvSpPr txBox="1"/>
            <p:nvPr/>
          </p:nvSpPr>
          <p:spPr>
            <a:xfrm>
              <a:off x="9026192" y="4213531"/>
              <a:ext cx="391628" cy="1376513"/>
            </a:xfrm>
            <a:prstGeom prst="rect">
              <a:avLst/>
            </a:prstGeom>
            <a:noFill/>
          </p:spPr>
          <p:txBody>
            <a:bodyPr vert="eaVert" wrap="none" lIns="72000" tIns="72000" rIns="72000" bIns="72000" rtlCol="0">
              <a:spAutoFit/>
            </a:bodyPr>
            <a:lstStyle/>
            <a:p>
              <a:pPr algn="l"/>
              <a:r>
                <a:rPr lang="zh-CN" altLang="en-US" sz="1600" dirty="0"/>
                <a:t>受控基线入库</a:t>
              </a:r>
            </a:p>
          </p:txBody>
        </p:sp>
        <p:cxnSp>
          <p:nvCxnSpPr>
            <p:cNvPr id="15" name="连接符: 肘形 14">
              <a:extLst>
                <a:ext uri="{FF2B5EF4-FFF2-40B4-BE49-F238E27FC236}">
                  <a16:creationId xmlns:a16="http://schemas.microsoft.com/office/drawing/2014/main" id="{4CCFC0F9-F2EA-BE5B-ED4B-EECBECE76C80}"/>
                </a:ext>
              </a:extLst>
            </p:cNvPr>
            <p:cNvCxnSpPr>
              <a:stCxn id="12" idx="2"/>
              <a:endCxn id="5" idx="0"/>
            </p:cNvCxnSpPr>
            <p:nvPr/>
          </p:nvCxnSpPr>
          <p:spPr>
            <a:xfrm rot="5400000">
              <a:off x="7860336" y="3534228"/>
              <a:ext cx="715503" cy="643103"/>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6" name="连接符: 肘形 15">
              <a:extLst>
                <a:ext uri="{FF2B5EF4-FFF2-40B4-BE49-F238E27FC236}">
                  <a16:creationId xmlns:a16="http://schemas.microsoft.com/office/drawing/2014/main" id="{8405662F-C5DA-8C87-A8C1-AF1DF56B62EA}"/>
                </a:ext>
              </a:extLst>
            </p:cNvPr>
            <p:cNvCxnSpPr>
              <a:stCxn id="12" idx="2"/>
              <a:endCxn id="14" idx="0"/>
            </p:cNvCxnSpPr>
            <p:nvPr/>
          </p:nvCxnSpPr>
          <p:spPr>
            <a:xfrm rot="16200000" flipH="1">
              <a:off x="8523071" y="3514595"/>
              <a:ext cx="715503" cy="682368"/>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45096800"/>
      </p:ext>
    </p:extLst>
  </p:cSld>
  <p:clrMapOvr>
    <a:masterClrMapping/>
  </p:clrMapOvr>
</p:sld>
</file>

<file path=ppt/slides/slide3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CC566A08-D280-8720-FEEF-7071062E7FB4}"/>
              </a:ext>
            </a:extLst>
          </p:cNvPr>
          <p:cNvGraphicFramePr>
            <a:graphicFrameLocks noGrp="1"/>
          </p:cNvGraphicFramePr>
          <p:nvPr>
            <p:extLst>
              <p:ext uri="{D42A27DB-BD31-4B8C-83A1-F6EECF244321}">
                <p14:modId xmlns:p14="http://schemas.microsoft.com/office/powerpoint/2010/main" val="2063283313"/>
              </p:ext>
            </p:extLst>
          </p:nvPr>
        </p:nvGraphicFramePr>
        <p:xfrm>
          <a:off x="2266950" y="2179320"/>
          <a:ext cx="7658100" cy="3230880"/>
        </p:xfrm>
        <a:graphic>
          <a:graphicData uri="http://schemas.openxmlformats.org/drawingml/2006/table">
            <a:tbl>
              <a:tblPr/>
              <a:tblGrid>
                <a:gridCol w="1901790">
                  <a:extLst>
                    <a:ext uri="{9D8B030D-6E8A-4147-A177-3AD203B41FA5}">
                      <a16:colId xmlns:a16="http://schemas.microsoft.com/office/drawing/2014/main" val="4199016566"/>
                    </a:ext>
                  </a:extLst>
                </a:gridCol>
                <a:gridCol w="5756310">
                  <a:extLst>
                    <a:ext uri="{9D8B030D-6E8A-4147-A177-3AD203B41FA5}">
                      <a16:colId xmlns:a16="http://schemas.microsoft.com/office/drawing/2014/main" val="2395728285"/>
                    </a:ext>
                  </a:extLst>
                </a:gridCol>
              </a:tblGrid>
              <a:tr h="0">
                <a:tc>
                  <a:txBody>
                    <a:bodyPr/>
                    <a:lstStyle/>
                    <a:p>
                      <a:pPr>
                        <a:buNone/>
                      </a:pPr>
                      <a:r>
                        <a:rPr lang="zh-CN" altLang="en-US" sz="1600" dirty="0">
                          <a:solidFill>
                            <a:schemeClr val="bg1"/>
                          </a:solidFill>
                        </a:rPr>
                        <a:t>活动</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buNone/>
                      </a:pPr>
                      <a:r>
                        <a:rPr lang="zh-CN" altLang="en-US" sz="1600" dirty="0">
                          <a:solidFill>
                            <a:schemeClr val="bg1"/>
                          </a:solidFill>
                        </a:rPr>
                        <a:t>说明</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3254290677"/>
                  </a:ext>
                </a:extLst>
              </a:tr>
              <a:tr h="0">
                <a:tc>
                  <a:txBody>
                    <a:bodyPr/>
                    <a:lstStyle/>
                    <a:p>
                      <a:pPr>
                        <a:buNone/>
                      </a:pPr>
                      <a:r>
                        <a:rPr lang="zh-CN" altLang="en-US" sz="1600" dirty="0"/>
                        <a:t>打包</a:t>
                      </a:r>
                      <a:endParaRPr lang="en-US" altLang="zh-CN" sz="1600" dirty="0"/>
                    </a:p>
                    <a:p>
                      <a:pPr>
                        <a:buNone/>
                      </a:pPr>
                      <a:r>
                        <a:rPr lang="en-US" sz="1600" dirty="0"/>
                        <a:t>Packaging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dirty="0"/>
                        <a:t>将多个配置项组合成一个可发布的单元</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6428169"/>
                  </a:ext>
                </a:extLst>
              </a:tr>
              <a:tr h="0">
                <a:tc>
                  <a:txBody>
                    <a:bodyPr/>
                    <a:lstStyle/>
                    <a:p>
                      <a:pPr>
                        <a:buNone/>
                      </a:pPr>
                      <a:r>
                        <a:rPr lang="zh-CN" altLang="en-US" sz="1600" dirty="0"/>
                        <a:t>复制</a:t>
                      </a:r>
                      <a:endParaRPr lang="en-US" altLang="zh-CN" sz="1600" dirty="0"/>
                    </a:p>
                    <a:p>
                      <a:pPr>
                        <a:buNone/>
                      </a:pPr>
                      <a:r>
                        <a:rPr lang="en-US" sz="1600" dirty="0"/>
                        <a:t>Replication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dirty="0"/>
                        <a:t>将发布版本复制到目标环境</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1879113"/>
                  </a:ext>
                </a:extLst>
              </a:tr>
              <a:tr h="0">
                <a:tc>
                  <a:txBody>
                    <a:bodyPr/>
                    <a:lstStyle/>
                    <a:p>
                      <a:pPr>
                        <a:buNone/>
                      </a:pPr>
                      <a:r>
                        <a:rPr lang="zh-CN" altLang="en-US" sz="1600" dirty="0"/>
                        <a:t>存储</a:t>
                      </a:r>
                      <a:endParaRPr lang="en-US" altLang="zh-CN" sz="1600" dirty="0"/>
                    </a:p>
                    <a:p>
                      <a:pPr>
                        <a:buNone/>
                      </a:pPr>
                      <a:r>
                        <a:rPr lang="en-US" sz="1600" dirty="0"/>
                        <a:t>Storage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dirty="0"/>
                        <a:t>将发布版本存放在产品库或发布服务器中，供后续使用或回滚</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5302203"/>
                  </a:ext>
                </a:extLst>
              </a:tr>
              <a:tr h="0">
                <a:tc>
                  <a:txBody>
                    <a:bodyPr/>
                    <a:lstStyle/>
                    <a:p>
                      <a:pPr>
                        <a:buNone/>
                      </a:pPr>
                      <a:r>
                        <a:rPr lang="zh-CN" altLang="en-US" sz="1600" dirty="0"/>
                        <a:t>分发</a:t>
                      </a:r>
                      <a:endParaRPr lang="en-US" altLang="zh-CN" sz="1600" dirty="0"/>
                    </a:p>
                    <a:p>
                      <a:pPr>
                        <a:buNone/>
                      </a:pPr>
                      <a:r>
                        <a:rPr lang="en-US" sz="1600" dirty="0"/>
                        <a:t>Distribution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向用户或运维团队提供发布包</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829072"/>
                  </a:ext>
                </a:extLst>
              </a:tr>
              <a:tr h="0">
                <a:tc>
                  <a:txBody>
                    <a:bodyPr/>
                    <a:lstStyle/>
                    <a:p>
                      <a:pPr>
                        <a:buNone/>
                      </a:pPr>
                      <a:r>
                        <a:rPr lang="zh-CN" altLang="en-US" sz="1600" dirty="0"/>
                        <a:t>部署</a:t>
                      </a:r>
                      <a:endParaRPr lang="en-US" altLang="zh-CN" sz="1600" dirty="0"/>
                    </a:p>
                    <a:p>
                      <a:pPr>
                        <a:buNone/>
                      </a:pPr>
                      <a:r>
                        <a:rPr lang="en-US" sz="1600" dirty="0"/>
                        <a:t>Deployment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dirty="0"/>
                        <a:t>在目标环境中安装和运行发布包</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5279391"/>
                  </a:ext>
                </a:extLst>
              </a:tr>
            </a:tbl>
          </a:graphicData>
        </a:graphic>
      </p:graphicFrame>
    </p:spTree>
    <p:extLst>
      <p:ext uri="{BB962C8B-B14F-4D97-AF65-F5344CB8AC3E}">
        <p14:creationId xmlns:p14="http://schemas.microsoft.com/office/powerpoint/2010/main" val="137838702"/>
      </p:ext>
    </p:extLst>
  </p:cSld>
  <p:clrMapOvr>
    <a:masterClrMapping/>
  </p:clrMapOvr>
</p:sld>
</file>

<file path=ppt/slides/slide3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B3336B-2187-CB9D-3F97-FE6492A18AED}"/>
              </a:ext>
            </a:extLst>
          </p:cNvPr>
          <p:cNvSpPr>
            <a:spLocks noGrp="1"/>
          </p:cNvSpPr>
          <p:nvPr>
            <p:ph type="title"/>
          </p:nvPr>
        </p:nvSpPr>
        <p:spPr>
          <a:xfrm>
            <a:off x="792000" y="360000"/>
            <a:ext cx="6375921" cy="429413"/>
          </a:xfrm>
        </p:spPr>
        <p:txBody>
          <a:bodyPr/>
          <a:lstStyle/>
          <a:p>
            <a:r>
              <a:rPr lang="en-US" altLang="zh-CN" dirty="0"/>
              <a:t>3. </a:t>
            </a:r>
            <a:r>
              <a:rPr lang="zh-CN" altLang="en-US" dirty="0"/>
              <a:t>敏捷项目的配置管理</a:t>
            </a:r>
          </a:p>
        </p:txBody>
      </p:sp>
      <p:sp>
        <p:nvSpPr>
          <p:cNvPr id="6" name="内容占位符 5">
            <a:extLst>
              <a:ext uri="{FF2B5EF4-FFF2-40B4-BE49-F238E27FC236}">
                <a16:creationId xmlns:a16="http://schemas.microsoft.com/office/drawing/2014/main" id="{471DD1D4-6F3C-5BB0-FD84-6506D81A7ABB}"/>
              </a:ext>
            </a:extLst>
          </p:cNvPr>
          <p:cNvSpPr>
            <a:spLocks noGrp="1"/>
          </p:cNvSpPr>
          <p:nvPr>
            <p:ph idx="1"/>
          </p:nvPr>
        </p:nvSpPr>
        <p:spPr>
          <a:xfrm>
            <a:off x="696000" y="864000"/>
            <a:ext cx="10800000" cy="5400000"/>
          </a:xfrm>
        </p:spPr>
        <p:txBody>
          <a:bodyPr/>
          <a:lstStyle/>
          <a:p>
            <a:r>
              <a:rPr lang="zh-CN" altLang="en-US" dirty="0"/>
              <a:t>持续交付</a:t>
            </a:r>
            <a:endParaRPr lang="en-US" altLang="zh-CN" dirty="0"/>
          </a:p>
          <a:p>
            <a:r>
              <a:rPr lang="zh-CN" altLang="en-US" dirty="0"/>
              <a:t>配置管理重要性及全面性</a:t>
            </a:r>
            <a:endParaRPr lang="en-US" altLang="zh-CN" dirty="0"/>
          </a:p>
          <a:p>
            <a:pPr lvl="1"/>
            <a:r>
              <a:rPr lang="zh-CN" altLang="en-US" dirty="0"/>
              <a:t>代码：源代码、测试代码、数据库脚本、部署脚本、依赖库文件</a:t>
            </a:r>
            <a:endParaRPr lang="en-US" altLang="zh-CN" dirty="0"/>
          </a:p>
          <a:p>
            <a:pPr lvl="1"/>
            <a:r>
              <a:rPr lang="zh-CN" altLang="en-US" dirty="0"/>
              <a:t>环境</a:t>
            </a:r>
            <a:endParaRPr lang="en-US" altLang="zh-CN" dirty="0"/>
          </a:p>
          <a:p>
            <a:pPr lvl="1"/>
            <a:r>
              <a:rPr lang="zh-CN" altLang="en-US" dirty="0"/>
              <a:t>应用</a:t>
            </a:r>
          </a:p>
        </p:txBody>
      </p:sp>
      <p:sp>
        <p:nvSpPr>
          <p:cNvPr id="5" name="文本占位符 4">
            <a:extLst>
              <a:ext uri="{FF2B5EF4-FFF2-40B4-BE49-F238E27FC236}">
                <a16:creationId xmlns:a16="http://schemas.microsoft.com/office/drawing/2014/main" id="{47A429C4-3D97-1029-1AB4-DC3F3BA4DB6E}"/>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4245313609"/>
      </p:ext>
    </p:extLst>
  </p:cSld>
  <p:clrMapOvr>
    <a:masterClrMapping/>
  </p:clrMapOvr>
</p:sld>
</file>

<file path=ppt/slides/slide3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89430D-FF0D-FA13-7EAA-DD1D3A679446}"/>
              </a:ext>
            </a:extLst>
          </p:cNvPr>
          <p:cNvSpPr>
            <a:spLocks noGrp="1"/>
          </p:cNvSpPr>
          <p:nvPr>
            <p:ph type="title"/>
          </p:nvPr>
        </p:nvSpPr>
        <p:spPr>
          <a:xfrm>
            <a:off x="792000" y="360000"/>
            <a:ext cx="6375921" cy="429413"/>
          </a:xfrm>
        </p:spPr>
        <p:txBody>
          <a:bodyPr/>
          <a:lstStyle/>
          <a:p>
            <a:r>
              <a:rPr lang="en-US" altLang="zh-CN" dirty="0"/>
              <a:t>3.1 </a:t>
            </a:r>
            <a:r>
              <a:rPr lang="zh-CN" altLang="zh-CN" dirty="0"/>
              <a:t>基于分支的开发</a:t>
            </a:r>
            <a:endParaRPr lang="zh-CN" altLang="en-US" dirty="0"/>
          </a:p>
        </p:txBody>
      </p:sp>
      <p:sp>
        <p:nvSpPr>
          <p:cNvPr id="3" name="内容占位符 2">
            <a:extLst>
              <a:ext uri="{FF2B5EF4-FFF2-40B4-BE49-F238E27FC236}">
                <a16:creationId xmlns:a16="http://schemas.microsoft.com/office/drawing/2014/main" id="{294E0522-B723-5F8F-3A1E-ADECDF39F0A7}"/>
              </a:ext>
            </a:extLst>
          </p:cNvPr>
          <p:cNvSpPr>
            <a:spLocks noGrp="1"/>
          </p:cNvSpPr>
          <p:nvPr>
            <p:ph idx="1"/>
          </p:nvPr>
        </p:nvSpPr>
        <p:spPr>
          <a:xfrm>
            <a:off x="696000" y="864000"/>
            <a:ext cx="10800000" cy="5400000"/>
          </a:xfrm>
        </p:spPr>
        <p:txBody>
          <a:bodyPr/>
          <a:lstStyle/>
          <a:p>
            <a:r>
              <a:rPr lang="zh-CN" altLang="zh-CN" dirty="0"/>
              <a:t>开发都在分支上提交</a:t>
            </a:r>
            <a:endParaRPr lang="en-US" altLang="zh-CN" dirty="0"/>
          </a:p>
          <a:p>
            <a:r>
              <a:rPr lang="zh-CN" altLang="zh-CN" dirty="0"/>
              <a:t>可能有多个分支</a:t>
            </a:r>
            <a:endParaRPr lang="en-US" altLang="zh-CN" dirty="0"/>
          </a:p>
          <a:p>
            <a:r>
              <a:rPr lang="zh-CN" altLang="zh-CN" dirty="0"/>
              <a:t>直到快要上线时甚至上线后才合并到主干</a:t>
            </a:r>
            <a:endParaRPr lang="en-US" altLang="zh-CN" dirty="0"/>
          </a:p>
          <a:p>
            <a:r>
              <a:rPr lang="zh-CN" altLang="en-US" dirty="0"/>
              <a:t>分支是长期存在</a:t>
            </a:r>
            <a:endParaRPr lang="en-US" altLang="zh-CN" dirty="0"/>
          </a:p>
          <a:p>
            <a:r>
              <a:rPr lang="zh-CN" altLang="en-US" dirty="0"/>
              <a:t>可以</a:t>
            </a:r>
            <a:r>
              <a:rPr lang="zh-CN" altLang="zh-CN" dirty="0"/>
              <a:t>并行</a:t>
            </a:r>
            <a:r>
              <a:rPr lang="zh-CN" altLang="en-US" dirty="0"/>
              <a:t>开发</a:t>
            </a:r>
            <a:endParaRPr lang="en-US" altLang="zh-CN" dirty="0"/>
          </a:p>
          <a:p>
            <a:r>
              <a:rPr lang="zh-CN" altLang="en-US" dirty="0"/>
              <a:t>焦点：冲突解决</a:t>
            </a:r>
            <a:endParaRPr lang="zh-CN" altLang="zh-CN" dirty="0"/>
          </a:p>
          <a:p>
            <a:endParaRPr lang="zh-CN" altLang="en-US" dirty="0"/>
          </a:p>
        </p:txBody>
      </p:sp>
      <p:sp>
        <p:nvSpPr>
          <p:cNvPr id="16" name="文本占位符 15">
            <a:extLst>
              <a:ext uri="{FF2B5EF4-FFF2-40B4-BE49-F238E27FC236}">
                <a16:creationId xmlns:a16="http://schemas.microsoft.com/office/drawing/2014/main" id="{B6BB5DB5-148D-7BA8-5E03-02F02A6D8CB5}"/>
              </a:ext>
            </a:extLst>
          </p:cNvPr>
          <p:cNvSpPr>
            <a:spLocks noGrp="1"/>
          </p:cNvSpPr>
          <p:nvPr>
            <p:ph type="body" sz="quarter" idx="10"/>
          </p:nvPr>
        </p:nvSpPr>
        <p:spPr>
          <a:xfrm>
            <a:off x="7071919" y="448519"/>
            <a:ext cx="4424080" cy="338554"/>
          </a:xfrm>
        </p:spPr>
        <p:txBody>
          <a:bodyPr/>
          <a:lstStyle/>
          <a:p>
            <a:r>
              <a:rPr lang="en-US" altLang="zh-CN" dirty="0"/>
              <a:t>Branch</a:t>
            </a:r>
            <a:endParaRPr lang="zh-CN" altLang="en-US" dirty="0"/>
          </a:p>
        </p:txBody>
      </p:sp>
    </p:spTree>
    <p:extLst>
      <p:ext uri="{BB962C8B-B14F-4D97-AF65-F5344CB8AC3E}">
        <p14:creationId xmlns:p14="http://schemas.microsoft.com/office/powerpoint/2010/main" val="1324829704"/>
      </p:ext>
    </p:extLst>
  </p:cSld>
  <p:clrMapOvr>
    <a:masterClrMapping/>
  </p:clrMapOvr>
</p:sld>
</file>

<file path=ppt/slides/slide3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89430D-FF0D-FA13-7EAA-DD1D3A679446}"/>
              </a:ext>
            </a:extLst>
          </p:cNvPr>
          <p:cNvSpPr>
            <a:spLocks noGrp="1"/>
          </p:cNvSpPr>
          <p:nvPr>
            <p:ph type="title"/>
          </p:nvPr>
        </p:nvSpPr>
        <p:spPr>
          <a:xfrm>
            <a:off x="792000" y="360000"/>
            <a:ext cx="6375921" cy="429413"/>
          </a:xfrm>
        </p:spPr>
        <p:txBody>
          <a:bodyPr/>
          <a:lstStyle/>
          <a:p>
            <a:r>
              <a:rPr lang="en-US" altLang="zh-CN" dirty="0"/>
              <a:t>3.2 </a:t>
            </a:r>
            <a:r>
              <a:rPr lang="zh-CN" altLang="zh-CN" dirty="0"/>
              <a:t>基于主干的开发</a:t>
            </a:r>
            <a:endParaRPr lang="zh-CN" altLang="en-US" dirty="0"/>
          </a:p>
        </p:txBody>
      </p:sp>
      <p:sp>
        <p:nvSpPr>
          <p:cNvPr id="3" name="内容占位符 2">
            <a:extLst>
              <a:ext uri="{FF2B5EF4-FFF2-40B4-BE49-F238E27FC236}">
                <a16:creationId xmlns:a16="http://schemas.microsoft.com/office/drawing/2014/main" id="{294E0522-B723-5F8F-3A1E-ADECDF39F0A7}"/>
              </a:ext>
            </a:extLst>
          </p:cNvPr>
          <p:cNvSpPr>
            <a:spLocks noGrp="1"/>
          </p:cNvSpPr>
          <p:nvPr>
            <p:ph idx="1"/>
          </p:nvPr>
        </p:nvSpPr>
        <p:spPr>
          <a:xfrm>
            <a:off x="696000" y="864000"/>
            <a:ext cx="10800000" cy="5400000"/>
          </a:xfrm>
        </p:spPr>
        <p:txBody>
          <a:bodyPr/>
          <a:lstStyle/>
          <a:p>
            <a:r>
              <a:rPr lang="zh-CN" altLang="zh-CN" dirty="0"/>
              <a:t>所有提交到主干上</a:t>
            </a:r>
            <a:endParaRPr lang="en-US" altLang="zh-CN" dirty="0"/>
          </a:p>
          <a:p>
            <a:r>
              <a:rPr lang="zh-CN" altLang="zh-CN" dirty="0"/>
              <a:t>提交后自动触发持续集成进行验证和快速反馈</a:t>
            </a:r>
            <a:endParaRPr lang="en-US" altLang="zh-CN" dirty="0"/>
          </a:p>
          <a:p>
            <a:r>
              <a:rPr lang="zh-CN" altLang="en-US" dirty="0"/>
              <a:t>分支是短期存在</a:t>
            </a:r>
            <a:endParaRPr lang="zh-CN" altLang="zh-CN" dirty="0"/>
          </a:p>
          <a:p>
            <a:r>
              <a:rPr lang="zh-CN" altLang="en-US" dirty="0"/>
              <a:t>敏捷开发的</a:t>
            </a:r>
            <a:r>
              <a:rPr lang="zh-CN" altLang="zh-CN" dirty="0"/>
              <a:t>持续交付</a:t>
            </a:r>
            <a:r>
              <a:rPr lang="zh-CN" altLang="en-US" dirty="0"/>
              <a:t>特点</a:t>
            </a:r>
            <a:r>
              <a:rPr lang="zh-CN" altLang="zh-CN" dirty="0"/>
              <a:t>更倾向使用基于主干的开发模式</a:t>
            </a:r>
          </a:p>
          <a:p>
            <a:endParaRPr lang="zh-CN" altLang="en-US" dirty="0"/>
          </a:p>
        </p:txBody>
      </p:sp>
      <p:sp>
        <p:nvSpPr>
          <p:cNvPr id="13" name="文本占位符 12">
            <a:extLst>
              <a:ext uri="{FF2B5EF4-FFF2-40B4-BE49-F238E27FC236}">
                <a16:creationId xmlns:a16="http://schemas.microsoft.com/office/drawing/2014/main" id="{1B16F70F-D6AA-7119-239B-0E391A794B81}"/>
              </a:ext>
            </a:extLst>
          </p:cNvPr>
          <p:cNvSpPr>
            <a:spLocks noGrp="1"/>
          </p:cNvSpPr>
          <p:nvPr>
            <p:ph type="body" sz="quarter" idx="10"/>
          </p:nvPr>
        </p:nvSpPr>
        <p:spPr>
          <a:xfrm>
            <a:off x="7071919" y="448519"/>
            <a:ext cx="4424080" cy="338554"/>
          </a:xfrm>
        </p:spPr>
        <p:txBody>
          <a:bodyPr/>
          <a:lstStyle/>
          <a:p>
            <a:r>
              <a:rPr lang="en-US" altLang="zh-CN" dirty="0"/>
              <a:t>Master</a:t>
            </a:r>
            <a:endParaRPr lang="zh-CN" altLang="en-US" dirty="0"/>
          </a:p>
        </p:txBody>
      </p:sp>
    </p:spTree>
    <p:extLst>
      <p:ext uri="{BB962C8B-B14F-4D97-AF65-F5344CB8AC3E}">
        <p14:creationId xmlns:p14="http://schemas.microsoft.com/office/powerpoint/2010/main" val="4292184238"/>
      </p:ext>
    </p:extLst>
  </p:cSld>
  <p:clrMapOvr>
    <a:masterClrMapping/>
  </p:clrMapOvr>
</p:sld>
</file>

<file path=ppt/slides/slide3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3E8C249D-FD46-B6DC-2B89-298E15CC9B15}"/>
              </a:ext>
            </a:extLst>
          </p:cNvPr>
          <p:cNvGraphicFramePr>
            <a:graphicFrameLocks noGrp="1"/>
          </p:cNvGraphicFramePr>
          <p:nvPr>
            <p:extLst>
              <p:ext uri="{D42A27DB-BD31-4B8C-83A1-F6EECF244321}">
                <p14:modId xmlns:p14="http://schemas.microsoft.com/office/powerpoint/2010/main" val="2043498038"/>
              </p:ext>
            </p:extLst>
          </p:nvPr>
        </p:nvGraphicFramePr>
        <p:xfrm>
          <a:off x="1722511" y="1269999"/>
          <a:ext cx="8746977" cy="4110624"/>
        </p:xfrm>
        <a:graphic>
          <a:graphicData uri="http://schemas.openxmlformats.org/drawingml/2006/table">
            <a:tbl>
              <a:tblPr/>
              <a:tblGrid>
                <a:gridCol w="1664670">
                  <a:extLst>
                    <a:ext uri="{9D8B030D-6E8A-4147-A177-3AD203B41FA5}">
                      <a16:colId xmlns:a16="http://schemas.microsoft.com/office/drawing/2014/main" val="2323369812"/>
                    </a:ext>
                  </a:extLst>
                </a:gridCol>
                <a:gridCol w="3766453">
                  <a:extLst>
                    <a:ext uri="{9D8B030D-6E8A-4147-A177-3AD203B41FA5}">
                      <a16:colId xmlns:a16="http://schemas.microsoft.com/office/drawing/2014/main" val="2011408167"/>
                    </a:ext>
                  </a:extLst>
                </a:gridCol>
                <a:gridCol w="3315854">
                  <a:extLst>
                    <a:ext uri="{9D8B030D-6E8A-4147-A177-3AD203B41FA5}">
                      <a16:colId xmlns:a16="http://schemas.microsoft.com/office/drawing/2014/main" val="1357919481"/>
                    </a:ext>
                  </a:extLst>
                </a:gridCol>
              </a:tblGrid>
              <a:tr h="129762">
                <a:tc>
                  <a:txBody>
                    <a:bodyPr/>
                    <a:lstStyle/>
                    <a:p>
                      <a:pPr algn="ctr">
                        <a:buNone/>
                      </a:pPr>
                      <a:r>
                        <a:rPr lang="zh-CN" altLang="en-US" sz="1600" dirty="0">
                          <a:solidFill>
                            <a:schemeClr val="bg1"/>
                          </a:solidFill>
                          <a:latin typeface="+mj-ea"/>
                          <a:ea typeface="+mj-ea"/>
                        </a:rPr>
                        <a:t>对比维度</a:t>
                      </a:r>
                    </a:p>
                  </a:txBody>
                  <a:tcPr marL="87108" marR="87108" marT="43554" marB="435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buNone/>
                      </a:pPr>
                      <a:r>
                        <a:rPr lang="zh-CN" altLang="en-US" sz="1600" dirty="0">
                          <a:solidFill>
                            <a:schemeClr val="bg1"/>
                          </a:solidFill>
                          <a:latin typeface="+mj-ea"/>
                          <a:ea typeface="+mj-ea"/>
                        </a:rPr>
                        <a:t>基于分支的开发</a:t>
                      </a:r>
                    </a:p>
                  </a:txBody>
                  <a:tcPr marL="87108" marR="87108" marT="43554" marB="435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buNone/>
                      </a:pPr>
                      <a:r>
                        <a:rPr lang="zh-CN" altLang="en-US" sz="1600" dirty="0">
                          <a:solidFill>
                            <a:schemeClr val="bg1"/>
                          </a:solidFill>
                          <a:latin typeface="+mj-ea"/>
                          <a:ea typeface="+mj-ea"/>
                        </a:rPr>
                        <a:t>基于主干的开发</a:t>
                      </a:r>
                    </a:p>
                  </a:txBody>
                  <a:tcPr marL="87108" marR="87108" marT="43554" marB="435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944487943"/>
                  </a:ext>
                </a:extLst>
              </a:tr>
              <a:tr h="225370">
                <a:tc>
                  <a:txBody>
                    <a:bodyPr/>
                    <a:lstStyle/>
                    <a:p>
                      <a:pPr algn="ctr">
                        <a:buNone/>
                      </a:pPr>
                      <a:r>
                        <a:rPr lang="zh-CN" altLang="en-US" sz="1600" dirty="0"/>
                        <a:t>核心策略</a:t>
                      </a:r>
                    </a:p>
                  </a:txBody>
                  <a:tcPr marL="87108" marR="87108" marT="43554" marB="435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dirty="0">
                          <a:solidFill>
                            <a:srgbClr val="FF0000"/>
                          </a:solidFill>
                        </a:rPr>
                        <a:t>隔离开发</a:t>
                      </a:r>
                      <a:r>
                        <a:rPr lang="zh-CN" altLang="en-US" sz="1600" dirty="0"/>
                        <a:t>：通过长期分支将新功能与主干隔离开，直到功能完成</a:t>
                      </a:r>
                    </a:p>
                  </a:txBody>
                  <a:tcPr marL="87108" marR="87108" marT="43554" marB="435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dirty="0">
                          <a:solidFill>
                            <a:srgbClr val="FF0000"/>
                          </a:solidFill>
                        </a:rPr>
                        <a:t>持续集成</a:t>
                      </a:r>
                      <a:r>
                        <a:rPr lang="zh-CN" altLang="en-US" sz="1600" dirty="0"/>
                        <a:t>：所有开发者频繁地向主干提交代码，保持主干始终可发布</a:t>
                      </a:r>
                    </a:p>
                  </a:txBody>
                  <a:tcPr marL="87108" marR="87108" marT="43554" marB="435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3301592"/>
                  </a:ext>
                </a:extLst>
              </a:tr>
              <a:tr h="129762">
                <a:tc>
                  <a:txBody>
                    <a:bodyPr/>
                    <a:lstStyle/>
                    <a:p>
                      <a:pPr algn="ctr">
                        <a:buNone/>
                      </a:pPr>
                      <a:r>
                        <a:rPr lang="zh-CN" altLang="en-US" sz="1600"/>
                        <a:t>分支生命周期</a:t>
                      </a:r>
                    </a:p>
                  </a:txBody>
                  <a:tcPr marL="87108" marR="87108" marT="43554" marB="435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dirty="0">
                          <a:solidFill>
                            <a:srgbClr val="FF0000"/>
                          </a:solidFill>
                        </a:rPr>
                        <a:t>长期</a:t>
                      </a:r>
                      <a:r>
                        <a:rPr lang="zh-CN" altLang="en-US" sz="1600" dirty="0"/>
                        <a:t> </a:t>
                      </a:r>
                      <a:r>
                        <a:rPr lang="en-US" altLang="zh-CN" sz="1600" dirty="0"/>
                        <a:t>(</a:t>
                      </a:r>
                      <a:r>
                        <a:rPr lang="zh-CN" altLang="en-US" sz="1600" dirty="0"/>
                        <a:t>几天、几周甚至几个月</a:t>
                      </a:r>
                      <a:r>
                        <a:rPr lang="en-US" altLang="zh-CN" sz="1600" dirty="0"/>
                        <a:t>)</a:t>
                      </a:r>
                      <a:endParaRPr lang="zh-CN" altLang="en-US" sz="1600" dirty="0"/>
                    </a:p>
                  </a:txBody>
                  <a:tcPr marL="87108" marR="87108" marT="43554" marB="435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dirty="0">
                          <a:solidFill>
                            <a:srgbClr val="FF0000"/>
                          </a:solidFill>
                        </a:rPr>
                        <a:t>极短</a:t>
                      </a:r>
                      <a:r>
                        <a:rPr lang="zh-CN" altLang="en-US" sz="1600" dirty="0"/>
                        <a:t> </a:t>
                      </a:r>
                      <a:r>
                        <a:rPr lang="en-US" altLang="zh-CN" sz="1600" dirty="0"/>
                        <a:t>(</a:t>
                      </a:r>
                      <a:r>
                        <a:rPr lang="zh-CN" altLang="en-US" sz="1600" dirty="0"/>
                        <a:t>几小时，通常不超过 </a:t>
                      </a:r>
                      <a:r>
                        <a:rPr lang="en-US" altLang="zh-CN" sz="1600" dirty="0"/>
                        <a:t>1-2 </a:t>
                      </a:r>
                      <a:r>
                        <a:rPr lang="zh-CN" altLang="en-US" sz="1600" dirty="0"/>
                        <a:t>天</a:t>
                      </a:r>
                      <a:r>
                        <a:rPr lang="en-US" altLang="zh-CN" sz="1600" dirty="0"/>
                        <a:t>)</a:t>
                      </a:r>
                      <a:endParaRPr lang="zh-CN" altLang="en-US" sz="1600" dirty="0"/>
                    </a:p>
                  </a:txBody>
                  <a:tcPr marL="87108" marR="87108" marT="43554" marB="435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81383092"/>
                  </a:ext>
                </a:extLst>
              </a:tr>
              <a:tr h="225370">
                <a:tc>
                  <a:txBody>
                    <a:bodyPr/>
                    <a:lstStyle/>
                    <a:p>
                      <a:pPr algn="ctr">
                        <a:buNone/>
                      </a:pPr>
                      <a:r>
                        <a:rPr lang="zh-CN" altLang="en-US" sz="1600" dirty="0"/>
                        <a:t>代码集成频率</a:t>
                      </a:r>
                    </a:p>
                  </a:txBody>
                  <a:tcPr marL="87108" marR="87108" marT="43554" marB="435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dirty="0">
                          <a:solidFill>
                            <a:srgbClr val="FF0000"/>
                          </a:solidFill>
                        </a:rPr>
                        <a:t>低频</a:t>
                      </a:r>
                      <a:r>
                        <a:rPr lang="zh-CN" altLang="en-US" sz="1600" dirty="0"/>
                        <a:t>：功能开发完毕后一次性合并，容易产生巨大的合并冲突（“合并地狱”）</a:t>
                      </a:r>
                    </a:p>
                  </a:txBody>
                  <a:tcPr marL="87108" marR="87108" marT="43554" marB="435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dirty="0">
                          <a:solidFill>
                            <a:srgbClr val="FF0000"/>
                          </a:solidFill>
                        </a:rPr>
                        <a:t>高频</a:t>
                      </a:r>
                      <a:r>
                        <a:rPr lang="zh-CN" altLang="en-US" sz="1600" dirty="0"/>
                        <a:t>：每天多次集成，冲突微小且容易解决</a:t>
                      </a:r>
                    </a:p>
                  </a:txBody>
                  <a:tcPr marL="87108" marR="87108" marT="43554" marB="435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7010921"/>
                  </a:ext>
                </a:extLst>
              </a:tr>
              <a:tr h="225370">
                <a:tc>
                  <a:txBody>
                    <a:bodyPr/>
                    <a:lstStyle/>
                    <a:p>
                      <a:pPr algn="ctr">
                        <a:buNone/>
                      </a:pPr>
                      <a:r>
                        <a:rPr lang="zh-CN" altLang="en-US" sz="1600" dirty="0"/>
                        <a:t>发布节奏</a:t>
                      </a:r>
                    </a:p>
                  </a:txBody>
                  <a:tcPr marL="87108" marR="87108" marT="43554" marB="435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dirty="0">
                          <a:solidFill>
                            <a:srgbClr val="FF0000"/>
                          </a:solidFill>
                        </a:rPr>
                        <a:t>按需发布</a:t>
                      </a:r>
                      <a:r>
                        <a:rPr lang="zh-CN" altLang="en-US" sz="1600" dirty="0"/>
                        <a:t>：通常与版本周期绑定，适合传统的瀑布式发布</a:t>
                      </a:r>
                    </a:p>
                  </a:txBody>
                  <a:tcPr marL="87108" marR="87108" marT="43554" marB="435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dirty="0">
                          <a:solidFill>
                            <a:srgbClr val="FF0000"/>
                          </a:solidFill>
                        </a:rPr>
                        <a:t>随时发布</a:t>
                      </a:r>
                      <a:r>
                        <a:rPr lang="zh-CN" altLang="en-US" sz="1600" dirty="0"/>
                        <a:t>：主干代码时刻处于“可发布状态”，适合 </a:t>
                      </a:r>
                      <a:r>
                        <a:rPr lang="en-US" altLang="zh-CN" sz="1600" dirty="0"/>
                        <a:t>CI/CD </a:t>
                      </a:r>
                      <a:r>
                        <a:rPr lang="zh-CN" altLang="en-US" sz="1600" dirty="0"/>
                        <a:t>和 </a:t>
                      </a:r>
                      <a:r>
                        <a:rPr lang="en-US" altLang="zh-CN" sz="1600" dirty="0"/>
                        <a:t>DevOps</a:t>
                      </a:r>
                      <a:endParaRPr lang="zh-CN" altLang="en-US" sz="1600" dirty="0"/>
                    </a:p>
                  </a:txBody>
                  <a:tcPr marL="87108" marR="87108" marT="43554" marB="435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97706"/>
                  </a:ext>
                </a:extLst>
              </a:tr>
              <a:tr h="225370">
                <a:tc>
                  <a:txBody>
                    <a:bodyPr/>
                    <a:lstStyle/>
                    <a:p>
                      <a:pPr algn="ctr">
                        <a:buNone/>
                      </a:pPr>
                      <a:r>
                        <a:rPr lang="zh-CN" altLang="en-US" sz="1600" dirty="0"/>
                        <a:t>未完成功能处理</a:t>
                      </a:r>
                    </a:p>
                  </a:txBody>
                  <a:tcPr marL="87108" marR="87108" marT="43554" marB="435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dirty="0">
                          <a:solidFill>
                            <a:srgbClr val="FF0000"/>
                          </a:solidFill>
                        </a:rPr>
                        <a:t>代码隐藏</a:t>
                      </a:r>
                      <a:r>
                        <a:rPr lang="zh-CN" altLang="en-US" sz="1600" dirty="0"/>
                        <a:t>：未完成代码保留在分支中，不合并到主干</a:t>
                      </a:r>
                    </a:p>
                  </a:txBody>
                  <a:tcPr marL="87108" marR="87108" marT="43554" marB="435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dirty="0">
                          <a:solidFill>
                            <a:srgbClr val="FF0000"/>
                          </a:solidFill>
                        </a:rPr>
                        <a:t>特性开关</a:t>
                      </a:r>
                      <a:r>
                        <a:rPr lang="zh-CN" altLang="en-US" sz="1600" dirty="0"/>
                        <a:t>：代码合并到主干，但通过“开关”控制对用户不可见</a:t>
                      </a:r>
                    </a:p>
                  </a:txBody>
                  <a:tcPr marL="87108" marR="87108" marT="43554" marB="435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3609462"/>
                  </a:ext>
                </a:extLst>
              </a:tr>
              <a:tr h="225370">
                <a:tc>
                  <a:txBody>
                    <a:bodyPr/>
                    <a:lstStyle/>
                    <a:p>
                      <a:pPr algn="ctr">
                        <a:buNone/>
                      </a:pPr>
                      <a:r>
                        <a:rPr lang="zh-CN" altLang="en-US" sz="1600" dirty="0"/>
                        <a:t>团队文化要求</a:t>
                      </a:r>
                    </a:p>
                  </a:txBody>
                  <a:tcPr marL="87108" marR="87108" marT="43554" marB="435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dirty="0">
                          <a:solidFill>
                            <a:srgbClr val="FF0000"/>
                          </a:solidFill>
                        </a:rPr>
                        <a:t>相对较低</a:t>
                      </a:r>
                      <a:r>
                        <a:rPr lang="zh-CN" altLang="en-US" sz="1600" dirty="0"/>
                        <a:t>：允许开发者在自己的分支上“闭关修炼”</a:t>
                      </a:r>
                    </a:p>
                  </a:txBody>
                  <a:tcPr marL="87108" marR="87108" marT="43554" marB="435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dirty="0">
                          <a:solidFill>
                            <a:srgbClr val="FF0000"/>
                          </a:solidFill>
                        </a:rPr>
                        <a:t>极高</a:t>
                      </a:r>
                      <a:r>
                        <a:rPr lang="zh-CN" altLang="en-US" sz="1600" dirty="0"/>
                        <a:t>：要求全员自律、代码审查严格、自动化测试覆盖率极高</a:t>
                      </a:r>
                    </a:p>
                  </a:txBody>
                  <a:tcPr marL="87108" marR="87108" marT="43554" marB="435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0346568"/>
                  </a:ext>
                </a:extLst>
              </a:tr>
              <a:tr h="225370">
                <a:tc>
                  <a:txBody>
                    <a:bodyPr/>
                    <a:lstStyle/>
                    <a:p>
                      <a:pPr algn="ctr">
                        <a:buNone/>
                      </a:pPr>
                      <a:r>
                        <a:rPr lang="zh-CN" altLang="en-US" sz="1600" dirty="0"/>
                        <a:t>主要风险</a:t>
                      </a:r>
                    </a:p>
                  </a:txBody>
                  <a:tcPr marL="87108" marR="87108" marT="43554" marB="435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dirty="0">
                          <a:solidFill>
                            <a:srgbClr val="FF0000"/>
                          </a:solidFill>
                        </a:rPr>
                        <a:t>集成风险高</a:t>
                      </a:r>
                      <a:r>
                        <a:rPr lang="zh-CN" altLang="en-US" sz="1600" dirty="0"/>
                        <a:t>：合并时容易出现大量冲突和功能破坏，导致上线延期</a:t>
                      </a:r>
                    </a:p>
                  </a:txBody>
                  <a:tcPr marL="87108" marR="87108" marT="43554" marB="435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dirty="0">
                          <a:solidFill>
                            <a:srgbClr val="FF0000"/>
                          </a:solidFill>
                        </a:rPr>
                        <a:t>主干稳定性风险</a:t>
                      </a:r>
                      <a:r>
                        <a:rPr lang="zh-CN" altLang="en-US" sz="1600" dirty="0"/>
                        <a:t>：一旦有人提交了坏代码，可能导致整个团队停工</a:t>
                      </a:r>
                    </a:p>
                  </a:txBody>
                  <a:tcPr marL="87108" marR="87108" marT="43554" marB="435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8663376"/>
                  </a:ext>
                </a:extLst>
              </a:tr>
            </a:tbl>
          </a:graphicData>
        </a:graphic>
      </p:graphicFrame>
    </p:spTree>
    <p:extLst>
      <p:ext uri="{BB962C8B-B14F-4D97-AF65-F5344CB8AC3E}">
        <p14:creationId xmlns:p14="http://schemas.microsoft.com/office/powerpoint/2010/main" val="1438759756"/>
      </p:ext>
    </p:extLst>
  </p:cSld>
  <p:clrMapOvr>
    <a:masterClrMapping/>
  </p:clrMapOvr>
</p:sld>
</file>

<file path=ppt/slides/slide3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4B0448-7B6F-75DB-5D22-9FE71606914B}"/>
              </a:ext>
            </a:extLst>
          </p:cNvPr>
          <p:cNvSpPr>
            <a:spLocks noGrp="1"/>
          </p:cNvSpPr>
          <p:nvPr>
            <p:ph type="title"/>
          </p:nvPr>
        </p:nvSpPr>
        <p:spPr>
          <a:xfrm>
            <a:off x="792000" y="360000"/>
            <a:ext cx="6375921" cy="429413"/>
          </a:xfrm>
        </p:spPr>
        <p:txBody>
          <a:bodyPr/>
          <a:lstStyle/>
          <a:p>
            <a:r>
              <a:rPr lang="en-US" altLang="zh-CN" dirty="0"/>
              <a:t>4. </a:t>
            </a:r>
            <a:r>
              <a:rPr lang="zh-CN" altLang="en-US" dirty="0"/>
              <a:t>配置管理工具及其应用实例</a:t>
            </a:r>
          </a:p>
        </p:txBody>
      </p:sp>
      <p:sp>
        <p:nvSpPr>
          <p:cNvPr id="6" name="内容占位符 5">
            <a:extLst>
              <a:ext uri="{FF2B5EF4-FFF2-40B4-BE49-F238E27FC236}">
                <a16:creationId xmlns:a16="http://schemas.microsoft.com/office/drawing/2014/main" id="{852DEB6D-4EA3-70CB-04C9-ACD1A97B9F5E}"/>
              </a:ext>
            </a:extLst>
          </p:cNvPr>
          <p:cNvSpPr>
            <a:spLocks noGrp="1"/>
          </p:cNvSpPr>
          <p:nvPr>
            <p:ph idx="1"/>
          </p:nvPr>
        </p:nvSpPr>
        <p:spPr>
          <a:xfrm>
            <a:off x="696000" y="864000"/>
            <a:ext cx="10800000" cy="5400000"/>
          </a:xfrm>
        </p:spPr>
        <p:txBody>
          <a:bodyPr/>
          <a:lstStyle/>
          <a:p>
            <a:r>
              <a:rPr lang="en-US" altLang="zh-CN" dirty="0">
                <a:hlinkClick r:id="rId2">
                  <a:extLst>
                    <a:ext uri="{A12FA001-AC4F-418D-AE19-62706E023703}">
                      <ahyp:hlinkClr xmlns:ahyp="http://schemas.microsoft.com/office/drawing/2018/hyperlinkcolor" val="tx"/>
                    </a:ext>
                  </a:extLst>
                </a:hlinkClick>
              </a:rPr>
              <a:t>Git</a:t>
            </a:r>
            <a:endParaRPr lang="en-US" altLang="zh-CN" dirty="0"/>
          </a:p>
          <a:p>
            <a:r>
              <a:rPr lang="en-US" altLang="zh-CN" dirty="0">
                <a:hlinkClick r:id="rId3">
                  <a:extLst>
                    <a:ext uri="{A12FA001-AC4F-418D-AE19-62706E023703}">
                      <ahyp:hlinkClr xmlns:ahyp="http://schemas.microsoft.com/office/drawing/2018/hyperlinkcolor" val="tx"/>
                    </a:ext>
                  </a:extLst>
                </a:hlinkClick>
              </a:rPr>
              <a:t>GitHub</a:t>
            </a:r>
            <a:endParaRPr lang="en-US" altLang="zh-CN" dirty="0"/>
          </a:p>
          <a:p>
            <a:r>
              <a:rPr lang="en-US" altLang="zh-CN" dirty="0" err="1">
                <a:hlinkClick r:id="rId4">
                  <a:extLst>
                    <a:ext uri="{A12FA001-AC4F-418D-AE19-62706E023703}">
                      <ahyp:hlinkClr xmlns:ahyp="http://schemas.microsoft.com/office/drawing/2018/hyperlinkcolor" val="tx"/>
                    </a:ext>
                  </a:extLst>
                </a:hlinkClick>
              </a:rPr>
              <a:t>Gitee</a:t>
            </a:r>
            <a:endParaRPr lang="en-US" altLang="zh-CN" dirty="0"/>
          </a:p>
          <a:p>
            <a:endParaRPr lang="zh-CN" altLang="en-US" dirty="0"/>
          </a:p>
        </p:txBody>
      </p:sp>
      <p:sp>
        <p:nvSpPr>
          <p:cNvPr id="5" name="文本占位符 4">
            <a:extLst>
              <a:ext uri="{FF2B5EF4-FFF2-40B4-BE49-F238E27FC236}">
                <a16:creationId xmlns:a16="http://schemas.microsoft.com/office/drawing/2014/main" id="{199FA40F-8D9C-9F15-FBC2-598AC32242AD}"/>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3657396858"/>
      </p:ext>
    </p:extLst>
  </p:cSld>
  <p:clrMapOvr>
    <a:masterClrMapping/>
  </p:clrMapOvr>
</p:sld>
</file>

<file path=ppt/slides/slide3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95133-4102-7AF4-8B4B-6B85CA43B57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F6D2CA8-4058-642D-7AB4-6195060DA8C4}"/>
              </a:ext>
            </a:extLst>
          </p:cNvPr>
          <p:cNvSpPr>
            <a:spLocks noGrp="1"/>
          </p:cNvSpPr>
          <p:nvPr>
            <p:ph type="ctrTitle"/>
          </p:nvPr>
        </p:nvSpPr>
        <p:spPr>
          <a:xfrm>
            <a:off x="2464886" y="4681056"/>
            <a:ext cx="7262228" cy="798491"/>
          </a:xfrm>
        </p:spPr>
        <p:txBody>
          <a:bodyPr/>
          <a:lstStyle/>
          <a:p>
            <a:r>
              <a:rPr lang="zh-CN" altLang="en-US"/>
              <a:t>软件项目团队计划</a:t>
            </a:r>
          </a:p>
        </p:txBody>
      </p:sp>
      <p:sp>
        <p:nvSpPr>
          <p:cNvPr id="3" name="副标题 2">
            <a:extLst>
              <a:ext uri="{FF2B5EF4-FFF2-40B4-BE49-F238E27FC236}">
                <a16:creationId xmlns:a16="http://schemas.microsoft.com/office/drawing/2014/main" id="{1AD1E055-DA02-DD1A-AB84-AA031CACB41F}"/>
              </a:ext>
            </a:extLst>
          </p:cNvPr>
          <p:cNvSpPr>
            <a:spLocks noGrp="1"/>
          </p:cNvSpPr>
          <p:nvPr>
            <p:ph type="subTitle" idx="1"/>
          </p:nvPr>
        </p:nvSpPr>
        <p:spPr>
          <a:xfrm>
            <a:off x="2464886" y="5479548"/>
            <a:ext cx="7262228" cy="458180"/>
          </a:xfrm>
        </p:spPr>
        <p:txBody>
          <a:bodyPr/>
          <a:lstStyle/>
          <a:p>
            <a:r>
              <a:rPr lang="en-US" altLang="zh-CN"/>
              <a:t>Section 8 Project Team</a:t>
            </a:r>
            <a:endParaRPr lang="zh-CN" altLang="en-US"/>
          </a:p>
        </p:txBody>
      </p:sp>
      <p:sp>
        <p:nvSpPr>
          <p:cNvPr id="7" name="文本占位符 6">
            <a:extLst>
              <a:ext uri="{FF2B5EF4-FFF2-40B4-BE49-F238E27FC236}">
                <a16:creationId xmlns:a16="http://schemas.microsoft.com/office/drawing/2014/main" id="{00BC0D8F-8EF0-F8CA-9F58-7B2F9D4A731F}"/>
              </a:ext>
            </a:extLst>
          </p:cNvPr>
          <p:cNvSpPr>
            <a:spLocks noGrp="1"/>
          </p:cNvSpPr>
          <p:nvPr>
            <p:ph type="body" sz="quarter" idx="11"/>
          </p:nvPr>
        </p:nvSpPr>
        <p:spPr>
          <a:xfrm>
            <a:off x="3883891" y="2047875"/>
            <a:ext cx="4424219" cy="2531269"/>
          </a:xfrm>
        </p:spPr>
        <p:txBody>
          <a:bodyPr/>
          <a:lstStyle/>
          <a:p>
            <a:r>
              <a:rPr lang="zh-CN" altLang="en-US" dirty="0"/>
              <a:t>组织结构</a:t>
            </a:r>
            <a:endParaRPr lang="en-US" altLang="zh-CN" dirty="0"/>
          </a:p>
          <a:p>
            <a:r>
              <a:rPr lang="zh-CN" altLang="en-US" dirty="0"/>
              <a:t>人员职责计划</a:t>
            </a:r>
            <a:endParaRPr lang="en-US" altLang="zh-CN" dirty="0"/>
          </a:p>
          <a:p>
            <a:r>
              <a:rPr lang="zh-CN" altLang="en-US" dirty="0"/>
              <a:t>项目干系人计划</a:t>
            </a:r>
            <a:endParaRPr lang="en-US" altLang="zh-CN" dirty="0"/>
          </a:p>
          <a:p>
            <a:r>
              <a:rPr lang="zh-CN" altLang="en-US" dirty="0"/>
              <a:t>项目沟通计划</a:t>
            </a:r>
            <a:endParaRPr lang="en-US" altLang="zh-CN" dirty="0"/>
          </a:p>
          <a:p>
            <a:r>
              <a:rPr lang="zh-CN" altLang="en-US" dirty="0"/>
              <a:t>敏捷项目团队</a:t>
            </a:r>
          </a:p>
        </p:txBody>
      </p:sp>
    </p:spTree>
    <p:extLst>
      <p:ext uri="{BB962C8B-B14F-4D97-AF65-F5344CB8AC3E}">
        <p14:creationId xmlns:p14="http://schemas.microsoft.com/office/powerpoint/2010/main" val="1657808287"/>
      </p:ext>
    </p:extLst>
  </p:cSld>
  <p:clrMapOvr>
    <a:masterClrMapping/>
  </p:clrMapOvr>
</p:sld>
</file>

<file path=ppt/slides/slide3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A0926-B592-01FA-054D-52B5D6F7DA82}"/>
            </a:ext>
          </a:extLst>
        </p:cNvPr>
        <p:cNvGrpSpPr/>
        <p:nvPr/>
      </p:nvGrpSpPr>
      <p:grpSpPr>
        <a:xfrm>
          <a:off x="0" y="0"/>
          <a:ext cx="0" cy="0"/>
          <a:chOff x="0" y="0"/>
          <a:chExt cx="0" cy="0"/>
        </a:xfrm>
      </p:grpSpPr>
      <p:sp>
        <p:nvSpPr>
          <p:cNvPr id="5" name="箭头: V 形 4">
            <a:extLst>
              <a:ext uri="{FF2B5EF4-FFF2-40B4-BE49-F238E27FC236}">
                <a16:creationId xmlns:a16="http://schemas.microsoft.com/office/drawing/2014/main" id="{8A26963B-CFFC-CDDD-A9B8-9C6C942B4636}"/>
              </a:ext>
            </a:extLst>
          </p:cNvPr>
          <p:cNvSpPr/>
          <p:nvPr/>
        </p:nvSpPr>
        <p:spPr>
          <a:xfrm>
            <a:off x="2454444" y="1897626"/>
            <a:ext cx="1800000" cy="360000"/>
          </a:xfrm>
          <a:prstGeom prst="chevron">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项目开始</a:t>
            </a:r>
          </a:p>
        </p:txBody>
      </p:sp>
      <p:sp>
        <p:nvSpPr>
          <p:cNvPr id="6" name="箭头: V 形 5">
            <a:extLst>
              <a:ext uri="{FF2B5EF4-FFF2-40B4-BE49-F238E27FC236}">
                <a16:creationId xmlns:a16="http://schemas.microsoft.com/office/drawing/2014/main" id="{C6AE52E3-247C-DC41-9D2C-DF6270BC1D05}"/>
              </a:ext>
            </a:extLst>
          </p:cNvPr>
          <p:cNvSpPr/>
          <p:nvPr/>
        </p:nvSpPr>
        <p:spPr>
          <a:xfrm>
            <a:off x="4180548" y="1897626"/>
            <a:ext cx="1800000" cy="360000"/>
          </a:xfrm>
          <a:prstGeom prst="chevron">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solidFill>
              </a:rPr>
              <a:t>项目计划</a:t>
            </a:r>
          </a:p>
        </p:txBody>
      </p:sp>
      <p:sp>
        <p:nvSpPr>
          <p:cNvPr id="7" name="箭头: V 形 6">
            <a:extLst>
              <a:ext uri="{FF2B5EF4-FFF2-40B4-BE49-F238E27FC236}">
                <a16:creationId xmlns:a16="http://schemas.microsoft.com/office/drawing/2014/main" id="{985DE243-6AA7-19D2-49FD-44B2ADEA518F}"/>
              </a:ext>
            </a:extLst>
          </p:cNvPr>
          <p:cNvSpPr/>
          <p:nvPr/>
        </p:nvSpPr>
        <p:spPr>
          <a:xfrm>
            <a:off x="5906652" y="1897626"/>
            <a:ext cx="1800000" cy="360000"/>
          </a:xfrm>
          <a:prstGeom prst="chevron">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rPr>
              <a:t>项目执行控制</a:t>
            </a:r>
          </a:p>
        </p:txBody>
      </p:sp>
      <p:sp>
        <p:nvSpPr>
          <p:cNvPr id="8" name="箭头: V 形 7">
            <a:extLst>
              <a:ext uri="{FF2B5EF4-FFF2-40B4-BE49-F238E27FC236}">
                <a16:creationId xmlns:a16="http://schemas.microsoft.com/office/drawing/2014/main" id="{BBA3F34E-DA18-1BA1-63B0-FCC37216F226}"/>
              </a:ext>
            </a:extLst>
          </p:cNvPr>
          <p:cNvSpPr/>
          <p:nvPr/>
        </p:nvSpPr>
        <p:spPr>
          <a:xfrm>
            <a:off x="7632755" y="1897626"/>
            <a:ext cx="1800000" cy="360000"/>
          </a:xfrm>
          <a:prstGeom prst="chevron">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rPr>
              <a:t>项目结束</a:t>
            </a:r>
          </a:p>
        </p:txBody>
      </p:sp>
      <p:sp>
        <p:nvSpPr>
          <p:cNvPr id="9" name="矩形 8">
            <a:extLst>
              <a:ext uri="{FF2B5EF4-FFF2-40B4-BE49-F238E27FC236}">
                <a16:creationId xmlns:a16="http://schemas.microsoft.com/office/drawing/2014/main" id="{204622C8-DE79-D2F9-876E-4A7CEAC17790}"/>
              </a:ext>
            </a:extLst>
          </p:cNvPr>
          <p:cNvSpPr/>
          <p:nvPr/>
        </p:nvSpPr>
        <p:spPr>
          <a:xfrm>
            <a:off x="3453041" y="2998839"/>
            <a:ext cx="430887" cy="2160000"/>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范围计划</a:t>
            </a:r>
          </a:p>
        </p:txBody>
      </p:sp>
      <p:sp>
        <p:nvSpPr>
          <p:cNvPr id="10" name="矩形 9">
            <a:extLst>
              <a:ext uri="{FF2B5EF4-FFF2-40B4-BE49-F238E27FC236}">
                <a16:creationId xmlns:a16="http://schemas.microsoft.com/office/drawing/2014/main" id="{DB5D75F2-2A71-E442-9EEC-DC9057B15411}"/>
              </a:ext>
            </a:extLst>
          </p:cNvPr>
          <p:cNvSpPr/>
          <p:nvPr/>
        </p:nvSpPr>
        <p:spPr>
          <a:xfrm>
            <a:off x="4147174" y="2998839"/>
            <a:ext cx="430887" cy="2160000"/>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成本计划</a:t>
            </a:r>
          </a:p>
        </p:txBody>
      </p:sp>
      <p:sp>
        <p:nvSpPr>
          <p:cNvPr id="11" name="矩形 10">
            <a:extLst>
              <a:ext uri="{FF2B5EF4-FFF2-40B4-BE49-F238E27FC236}">
                <a16:creationId xmlns:a16="http://schemas.microsoft.com/office/drawing/2014/main" id="{1EFEB7EC-8573-A8FE-49E5-EEC441AFC9CD}"/>
              </a:ext>
            </a:extLst>
          </p:cNvPr>
          <p:cNvSpPr/>
          <p:nvPr/>
        </p:nvSpPr>
        <p:spPr>
          <a:xfrm>
            <a:off x="4840750" y="2998839"/>
            <a:ext cx="430887" cy="2160000"/>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进度计划</a:t>
            </a:r>
          </a:p>
        </p:txBody>
      </p:sp>
      <p:sp>
        <p:nvSpPr>
          <p:cNvPr id="12" name="矩形 11">
            <a:extLst>
              <a:ext uri="{FF2B5EF4-FFF2-40B4-BE49-F238E27FC236}">
                <a16:creationId xmlns:a16="http://schemas.microsoft.com/office/drawing/2014/main" id="{76D76049-DFB0-C086-CF66-48F9B5DE7F20}"/>
              </a:ext>
            </a:extLst>
          </p:cNvPr>
          <p:cNvSpPr/>
          <p:nvPr/>
        </p:nvSpPr>
        <p:spPr>
          <a:xfrm>
            <a:off x="5534326" y="2998839"/>
            <a:ext cx="430887" cy="2160000"/>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质量计划</a:t>
            </a:r>
          </a:p>
        </p:txBody>
      </p:sp>
      <p:sp>
        <p:nvSpPr>
          <p:cNvPr id="13" name="矩形 12">
            <a:extLst>
              <a:ext uri="{FF2B5EF4-FFF2-40B4-BE49-F238E27FC236}">
                <a16:creationId xmlns:a16="http://schemas.microsoft.com/office/drawing/2014/main" id="{99AA9747-F7B1-796F-9A7F-A8D7B5F56868}"/>
              </a:ext>
            </a:extLst>
          </p:cNvPr>
          <p:cNvSpPr/>
          <p:nvPr/>
        </p:nvSpPr>
        <p:spPr>
          <a:xfrm>
            <a:off x="6227902" y="2998839"/>
            <a:ext cx="430887" cy="2160000"/>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配置管理计划</a:t>
            </a:r>
          </a:p>
        </p:txBody>
      </p:sp>
      <p:sp>
        <p:nvSpPr>
          <p:cNvPr id="14" name="矩形 13">
            <a:extLst>
              <a:ext uri="{FF2B5EF4-FFF2-40B4-BE49-F238E27FC236}">
                <a16:creationId xmlns:a16="http://schemas.microsoft.com/office/drawing/2014/main" id="{441DE999-90D2-8DDF-35DF-F3C64BFD090B}"/>
              </a:ext>
            </a:extLst>
          </p:cNvPr>
          <p:cNvSpPr/>
          <p:nvPr/>
        </p:nvSpPr>
        <p:spPr>
          <a:xfrm>
            <a:off x="6921478" y="2998839"/>
            <a:ext cx="430887" cy="2160000"/>
          </a:xfrm>
          <a:prstGeom prst="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bg1"/>
                </a:solidFill>
              </a:rPr>
              <a:t>团队计划</a:t>
            </a:r>
          </a:p>
        </p:txBody>
      </p:sp>
      <p:sp>
        <p:nvSpPr>
          <p:cNvPr id="15" name="矩形 14">
            <a:extLst>
              <a:ext uri="{FF2B5EF4-FFF2-40B4-BE49-F238E27FC236}">
                <a16:creationId xmlns:a16="http://schemas.microsoft.com/office/drawing/2014/main" id="{06382E8B-8578-4E73-6523-87A8BAF62E90}"/>
              </a:ext>
            </a:extLst>
          </p:cNvPr>
          <p:cNvSpPr/>
          <p:nvPr/>
        </p:nvSpPr>
        <p:spPr>
          <a:xfrm>
            <a:off x="7615054" y="2998839"/>
            <a:ext cx="430887" cy="2160000"/>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风险计划</a:t>
            </a:r>
          </a:p>
        </p:txBody>
      </p:sp>
      <p:sp>
        <p:nvSpPr>
          <p:cNvPr id="16" name="矩形 15">
            <a:extLst>
              <a:ext uri="{FF2B5EF4-FFF2-40B4-BE49-F238E27FC236}">
                <a16:creationId xmlns:a16="http://schemas.microsoft.com/office/drawing/2014/main" id="{7580AAD0-7FD4-114A-42C0-CECE5F40BAC0}"/>
              </a:ext>
            </a:extLst>
          </p:cNvPr>
          <p:cNvSpPr/>
          <p:nvPr/>
        </p:nvSpPr>
        <p:spPr>
          <a:xfrm>
            <a:off x="8308629" y="2998839"/>
            <a:ext cx="430887" cy="2160000"/>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合同计划</a:t>
            </a:r>
          </a:p>
        </p:txBody>
      </p:sp>
      <p:sp>
        <p:nvSpPr>
          <p:cNvPr id="17" name="梯形 27">
            <a:extLst>
              <a:ext uri="{FF2B5EF4-FFF2-40B4-BE49-F238E27FC236}">
                <a16:creationId xmlns:a16="http://schemas.microsoft.com/office/drawing/2014/main" id="{69F47C5A-289D-7020-ECDF-ACCC1A11D6C6}"/>
              </a:ext>
            </a:extLst>
          </p:cNvPr>
          <p:cNvSpPr/>
          <p:nvPr/>
        </p:nvSpPr>
        <p:spPr>
          <a:xfrm>
            <a:off x="3452485" y="2359742"/>
            <a:ext cx="5287031" cy="639097"/>
          </a:xfrm>
          <a:custGeom>
            <a:avLst/>
            <a:gdLst>
              <a:gd name="csX0" fmla="*/ 0 w 5287031"/>
              <a:gd name="csY0" fmla="*/ 629265 h 629265"/>
              <a:gd name="csX1" fmla="*/ 688259 w 5287031"/>
              <a:gd name="csY1" fmla="*/ 0 h 629265"/>
              <a:gd name="csX2" fmla="*/ 4598772 w 5287031"/>
              <a:gd name="csY2" fmla="*/ 0 h 629265"/>
              <a:gd name="csX3" fmla="*/ 5287031 w 5287031"/>
              <a:gd name="csY3" fmla="*/ 629265 h 629265"/>
              <a:gd name="csX4" fmla="*/ 0 w 5287031"/>
              <a:gd name="csY4" fmla="*/ 629265 h 629265"/>
              <a:gd name="csX0" fmla="*/ 0 w 5287031"/>
              <a:gd name="csY0" fmla="*/ 639097 h 639097"/>
              <a:gd name="csX1" fmla="*/ 688259 w 5287031"/>
              <a:gd name="csY1" fmla="*/ 9832 h 639097"/>
              <a:gd name="csX2" fmla="*/ 2327520 w 5287031"/>
              <a:gd name="csY2" fmla="*/ 0 h 639097"/>
              <a:gd name="csX3" fmla="*/ 5287031 w 5287031"/>
              <a:gd name="csY3" fmla="*/ 639097 h 639097"/>
              <a:gd name="csX4" fmla="*/ 0 w 5287031"/>
              <a:gd name="csY4" fmla="*/ 639097 h 639097"/>
            </a:gdLst>
            <a:ahLst/>
            <a:cxnLst>
              <a:cxn ang="0">
                <a:pos x="csX0" y="csY0"/>
              </a:cxn>
              <a:cxn ang="0">
                <a:pos x="csX1" y="csY1"/>
              </a:cxn>
              <a:cxn ang="0">
                <a:pos x="csX2" y="csY2"/>
              </a:cxn>
              <a:cxn ang="0">
                <a:pos x="csX3" y="csY3"/>
              </a:cxn>
              <a:cxn ang="0">
                <a:pos x="csX4" y="csY4"/>
              </a:cxn>
            </a:cxnLst>
            <a:rect l="l" t="t" r="r" b="b"/>
            <a:pathLst>
              <a:path w="5287031" h="639097">
                <a:moveTo>
                  <a:pt x="0" y="639097"/>
                </a:moveTo>
                <a:lnTo>
                  <a:pt x="688259" y="9832"/>
                </a:lnTo>
                <a:lnTo>
                  <a:pt x="2327520" y="0"/>
                </a:lnTo>
                <a:lnTo>
                  <a:pt x="5287031" y="639097"/>
                </a:lnTo>
                <a:lnTo>
                  <a:pt x="0" y="639097"/>
                </a:lnTo>
                <a:close/>
              </a:path>
            </a:pathLst>
          </a:custGeom>
          <a:gradFill flip="none" rotWithShape="1">
            <a:gsLst>
              <a:gs pos="0">
                <a:srgbClr val="00B0F0"/>
              </a:gs>
              <a:gs pos="100000">
                <a:schemeClr val="bg1">
                  <a:alpha val="0"/>
                </a:scheme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tx1"/>
              </a:solidFill>
            </a:endParaRPr>
          </a:p>
        </p:txBody>
      </p:sp>
    </p:spTree>
    <p:extLst>
      <p:ext uri="{BB962C8B-B14F-4D97-AF65-F5344CB8AC3E}">
        <p14:creationId xmlns:p14="http://schemas.microsoft.com/office/powerpoint/2010/main" val="1683643901"/>
      </p:ext>
    </p:extLst>
  </p:cSld>
  <p:clrMapOvr>
    <a:masterClrMapping/>
  </p:clrMapOvr>
</p:sld>
</file>

<file path=ppt/slides/slide3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a:extLst>
              <a:ext uri="{FF2B5EF4-FFF2-40B4-BE49-F238E27FC236}">
                <a16:creationId xmlns:a16="http://schemas.microsoft.com/office/drawing/2014/main" id="{503C520A-0517-88D9-2579-58A7AFF26F11}"/>
              </a:ext>
            </a:extLst>
          </p:cNvPr>
          <p:cNvSpPr>
            <a:spLocks noGrp="1"/>
          </p:cNvSpPr>
          <p:nvPr>
            <p:ph type="body" sz="quarter" idx="10"/>
          </p:nvPr>
        </p:nvSpPr>
        <p:spPr>
          <a:xfrm>
            <a:off x="3219345" y="1629000"/>
            <a:ext cx="8640000" cy="3600000"/>
          </a:xfrm>
        </p:spPr>
        <p:txBody>
          <a:bodyPr/>
          <a:lstStyle/>
          <a:p>
            <a:r>
              <a:rPr lang="zh-CN" altLang="en-US" dirty="0"/>
              <a:t>塔克曼 </a:t>
            </a:r>
            <a:r>
              <a:rPr lang="en-US" altLang="zh-CN" dirty="0"/>
              <a:t>Bruce Tuckman </a:t>
            </a:r>
            <a:r>
              <a:rPr lang="zh-CN" altLang="en-US" dirty="0"/>
              <a:t>于</a:t>
            </a:r>
            <a:r>
              <a:rPr lang="en-US" altLang="zh-CN" dirty="0"/>
              <a:t>1965</a:t>
            </a:r>
            <a:r>
              <a:rPr lang="zh-CN" altLang="en-US" dirty="0"/>
              <a:t>年提出团队发展四阶段</a:t>
            </a:r>
          </a:p>
        </p:txBody>
      </p:sp>
      <p:graphicFrame>
        <p:nvGraphicFramePr>
          <p:cNvPr id="7" name="内容占位符 3">
            <a:extLst>
              <a:ext uri="{FF2B5EF4-FFF2-40B4-BE49-F238E27FC236}">
                <a16:creationId xmlns:a16="http://schemas.microsoft.com/office/drawing/2014/main" id="{41ADDA13-5CBF-85AA-451B-87DB06B8AC63}"/>
              </a:ext>
            </a:extLst>
          </p:cNvPr>
          <p:cNvGraphicFramePr>
            <a:graphicFrameLocks/>
          </p:cNvGraphicFramePr>
          <p:nvPr>
            <p:extLst>
              <p:ext uri="{D42A27DB-BD31-4B8C-83A1-F6EECF244321}">
                <p14:modId xmlns:p14="http://schemas.microsoft.com/office/powerpoint/2010/main" val="3219795006"/>
              </p:ext>
            </p:extLst>
          </p:nvPr>
        </p:nvGraphicFramePr>
        <p:xfrm>
          <a:off x="3219344" y="3217320"/>
          <a:ext cx="6858106" cy="2011680"/>
        </p:xfrm>
        <a:graphic>
          <a:graphicData uri="http://schemas.openxmlformats.org/drawingml/2006/table">
            <a:tbl>
              <a:tblPr>
                <a:tableStyleId>{2D5ABB26-0587-4C30-8999-92F81FD0307C}</a:tableStyleId>
              </a:tblPr>
              <a:tblGrid>
                <a:gridCol w="1928033">
                  <a:extLst>
                    <a:ext uri="{9D8B030D-6E8A-4147-A177-3AD203B41FA5}">
                      <a16:colId xmlns:a16="http://schemas.microsoft.com/office/drawing/2014/main" val="98282091"/>
                    </a:ext>
                  </a:extLst>
                </a:gridCol>
                <a:gridCol w="4930073">
                  <a:extLst>
                    <a:ext uri="{9D8B030D-6E8A-4147-A177-3AD203B41FA5}">
                      <a16:colId xmlns:a16="http://schemas.microsoft.com/office/drawing/2014/main" val="3840129698"/>
                    </a:ext>
                  </a:extLst>
                </a:gridCol>
              </a:tblGrid>
              <a:tr h="0">
                <a:tc>
                  <a:txBody>
                    <a:bodyPr/>
                    <a:lstStyle/>
                    <a:p>
                      <a:pPr>
                        <a:buNone/>
                      </a:pPr>
                      <a:r>
                        <a:rPr lang="en-US" altLang="zh-CN" sz="1600" dirty="0">
                          <a:solidFill>
                            <a:sysClr val="windowText" lastClr="000000"/>
                          </a:solidFill>
                          <a:latin typeface="+mj-ea"/>
                          <a:ea typeface="+mj-ea"/>
                        </a:rPr>
                        <a:t>Item</a:t>
                      </a:r>
                      <a:endParaRPr lang="zh-CN" altLang="en-US" sz="1600" dirty="0">
                        <a:solidFill>
                          <a:sysClr val="windowText" lastClr="000000"/>
                        </a:solidFill>
                        <a:latin typeface="+mj-ea"/>
                        <a:ea typeface="+mj-ea"/>
                      </a:endParaRPr>
                    </a:p>
                  </a:txBody>
                  <a:tcPr anchor="ctr">
                    <a:lnB w="12700" cap="flat" cmpd="sng" algn="ctr">
                      <a:solidFill>
                        <a:schemeClr val="tx1"/>
                      </a:solidFill>
                      <a:prstDash val="solid"/>
                      <a:round/>
                      <a:headEnd type="none" w="med" len="med"/>
                      <a:tailEnd type="none" w="med" len="med"/>
                    </a:lnB>
                  </a:tcPr>
                </a:tc>
                <a:tc>
                  <a:txBody>
                    <a:bodyPr/>
                    <a:lstStyle/>
                    <a:p>
                      <a:pPr>
                        <a:buNone/>
                      </a:pPr>
                      <a:r>
                        <a:rPr lang="en-US" altLang="zh-CN" sz="1600" dirty="0">
                          <a:solidFill>
                            <a:sysClr val="windowText" lastClr="000000"/>
                          </a:solidFill>
                          <a:latin typeface="+mj-ea"/>
                          <a:ea typeface="+mj-ea"/>
                        </a:rPr>
                        <a:t>Description</a:t>
                      </a:r>
                      <a:endParaRPr lang="zh-CN" altLang="en-US" sz="1600" dirty="0">
                        <a:solidFill>
                          <a:sysClr val="windowText" lastClr="000000"/>
                        </a:solidFill>
                        <a:latin typeface="+mj-ea"/>
                        <a:ea typeface="+mj-ea"/>
                      </a:endParaRP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94107049"/>
                  </a:ext>
                </a:extLst>
              </a:tr>
              <a:tr h="0">
                <a:tc>
                  <a:txBody>
                    <a:bodyPr/>
                    <a:lstStyle/>
                    <a:p>
                      <a:pPr>
                        <a:buNone/>
                      </a:pPr>
                      <a:r>
                        <a:rPr lang="en-US" sz="1600" dirty="0">
                          <a:solidFill>
                            <a:sysClr val="windowText" lastClr="000000"/>
                          </a:solidFill>
                        </a:rPr>
                        <a:t>Forming</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zh-CN" altLang="en-US" sz="1600" dirty="0">
                          <a:solidFill>
                            <a:sysClr val="windowText" lastClr="000000"/>
                          </a:solidFill>
                        </a:rPr>
                        <a:t>形成期</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10982016"/>
                  </a:ext>
                </a:extLst>
              </a:tr>
              <a:tr h="0">
                <a:tc>
                  <a:txBody>
                    <a:bodyPr/>
                    <a:lstStyle/>
                    <a:p>
                      <a:pPr>
                        <a:buNone/>
                      </a:pPr>
                      <a:r>
                        <a:rPr lang="en-US" sz="1600" dirty="0">
                          <a:solidFill>
                            <a:sysClr val="windowText" lastClr="000000"/>
                          </a:solidFill>
                        </a:rPr>
                        <a:t>Storming</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zh-CN" altLang="en-US" sz="1600" dirty="0">
                          <a:solidFill>
                            <a:sysClr val="windowText" lastClr="000000"/>
                          </a:solidFill>
                        </a:rPr>
                        <a:t>震荡期或磨合期</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7801575"/>
                  </a:ext>
                </a:extLst>
              </a:tr>
              <a:tr h="0">
                <a:tc>
                  <a:txBody>
                    <a:bodyPr/>
                    <a:lstStyle/>
                    <a:p>
                      <a:pPr>
                        <a:buNone/>
                      </a:pPr>
                      <a:r>
                        <a:rPr lang="en-US" sz="1600" dirty="0">
                          <a:solidFill>
                            <a:sysClr val="windowText" lastClr="000000"/>
                          </a:solidFill>
                        </a:rPr>
                        <a:t>Norming</a:t>
                      </a:r>
                    </a:p>
                  </a:txBody>
                  <a:tcPr anchor="ct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buNone/>
                      </a:pPr>
                      <a:r>
                        <a:rPr lang="zh-CN" altLang="en-US" sz="1600" dirty="0">
                          <a:solidFill>
                            <a:sysClr val="windowText" lastClr="000000"/>
                          </a:solidFill>
                        </a:rPr>
                        <a:t>规范期</a:t>
                      </a:r>
                    </a:p>
                  </a:txBody>
                  <a:tcPr anchor="ct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80702055"/>
                  </a:ext>
                </a:extLst>
              </a:tr>
              <a:tr h="0">
                <a:tc>
                  <a:txBody>
                    <a:bodyPr/>
                    <a:lstStyle/>
                    <a:p>
                      <a:pPr>
                        <a:buNone/>
                      </a:pPr>
                      <a:r>
                        <a:rPr lang="en-US" sz="1600" dirty="0">
                          <a:solidFill>
                            <a:sysClr val="windowText" lastClr="000000"/>
                          </a:solidFill>
                        </a:rPr>
                        <a:t>Performing</a:t>
                      </a:r>
                    </a:p>
                  </a:txBody>
                  <a:tcPr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zh-CN" altLang="en-US" sz="1600" dirty="0">
                          <a:solidFill>
                            <a:sysClr val="windowText" lastClr="000000"/>
                          </a:solidFill>
                        </a:rPr>
                        <a:t>表现期 </a:t>
                      </a:r>
                      <a:r>
                        <a:rPr lang="en-US" altLang="zh-CN" sz="1600" dirty="0">
                          <a:solidFill>
                            <a:sysClr val="windowText" lastClr="000000"/>
                          </a:solidFill>
                        </a:rPr>
                        <a:t>/ </a:t>
                      </a:r>
                      <a:r>
                        <a:rPr lang="zh-CN" altLang="en-US" sz="1600" dirty="0">
                          <a:solidFill>
                            <a:sysClr val="windowText" lastClr="000000"/>
                          </a:solidFill>
                        </a:rPr>
                        <a:t>执行期 </a:t>
                      </a:r>
                      <a:r>
                        <a:rPr lang="en-US" altLang="zh-CN" sz="1600" dirty="0">
                          <a:solidFill>
                            <a:sysClr val="windowText" lastClr="000000"/>
                          </a:solidFill>
                        </a:rPr>
                        <a:t>/ </a:t>
                      </a:r>
                      <a:r>
                        <a:rPr lang="zh-CN" altLang="en-US" sz="1600" dirty="0">
                          <a:solidFill>
                            <a:sysClr val="windowText" lastClr="000000"/>
                          </a:solidFill>
                        </a:rPr>
                        <a:t>高绩效期</a:t>
                      </a:r>
                    </a:p>
                  </a:txBody>
                  <a:tcPr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37711081"/>
                  </a:ext>
                </a:extLst>
              </a:tr>
              <a:tr h="0">
                <a:tc>
                  <a:txBody>
                    <a:bodyPr/>
                    <a:lstStyle/>
                    <a:p>
                      <a:pPr>
                        <a:buNone/>
                      </a:pPr>
                      <a:r>
                        <a:rPr lang="en-US" sz="1600" dirty="0">
                          <a:solidFill>
                            <a:sysClr val="windowText" lastClr="000000"/>
                          </a:solidFill>
                        </a:rPr>
                        <a:t>Adjourning</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zh-CN" altLang="en-US" sz="1600" dirty="0">
                          <a:solidFill>
                            <a:sysClr val="windowText" lastClr="000000"/>
                          </a:solidFill>
                        </a:rPr>
                        <a:t>结束期</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18831288"/>
                  </a:ext>
                </a:extLst>
              </a:tr>
            </a:tbl>
          </a:graphicData>
        </a:graphic>
      </p:graphicFrame>
    </p:spTree>
    <p:extLst>
      <p:ext uri="{BB962C8B-B14F-4D97-AF65-F5344CB8AC3E}">
        <p14:creationId xmlns:p14="http://schemas.microsoft.com/office/powerpoint/2010/main" val="1090686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a:extLst>
              <a:ext uri="{FF2B5EF4-FFF2-40B4-BE49-F238E27FC236}">
                <a16:creationId xmlns:a16="http://schemas.microsoft.com/office/drawing/2014/main" id="{F8E1FDDC-7E4F-9571-7C90-FC12BC152057}"/>
              </a:ext>
            </a:extLst>
          </p:cNvPr>
          <p:cNvSpPr>
            <a:spLocks noGrp="1"/>
          </p:cNvSpPr>
          <p:nvPr>
            <p:ph type="body" sz="quarter" idx="10"/>
          </p:nvPr>
        </p:nvSpPr>
        <p:spPr>
          <a:xfrm>
            <a:off x="3219345" y="1629000"/>
            <a:ext cx="8640000" cy="3600000"/>
          </a:xfrm>
        </p:spPr>
        <p:txBody>
          <a:bodyPr>
            <a:normAutofit/>
          </a:bodyPr>
          <a:lstStyle/>
          <a:p>
            <a:r>
              <a:rPr lang="zh-CN" altLang="en-US" dirty="0"/>
              <a:t>项目团队人员转移首先应满足的条件是（ ）。</a:t>
            </a:r>
          </a:p>
          <a:p>
            <a:endParaRPr lang="en-US" altLang="zh-CN" dirty="0"/>
          </a:p>
          <a:p>
            <a:r>
              <a:rPr lang="en-US" altLang="zh-CN" dirty="0"/>
              <a:t>A. </a:t>
            </a:r>
            <a:r>
              <a:rPr lang="zh-CN" altLang="en-US" dirty="0"/>
              <a:t>项目人力资源管理计划中所描述的人员转移条件已触发</a:t>
            </a:r>
          </a:p>
          <a:p>
            <a:r>
              <a:rPr lang="en-US" altLang="zh-CN" dirty="0"/>
              <a:t>B. </a:t>
            </a:r>
            <a:r>
              <a:rPr lang="zh-CN" altLang="en-US" dirty="0"/>
              <a:t>项目团队成员所承担的任务已完成，提交了经过确认的可交付物并已完成工作交接</a:t>
            </a:r>
          </a:p>
          <a:p>
            <a:r>
              <a:rPr lang="en-US" altLang="zh-CN" dirty="0"/>
              <a:t>C. </a:t>
            </a:r>
            <a:r>
              <a:rPr lang="zh-CN" altLang="en-US" dirty="0"/>
              <a:t>项目经理与项目团队成员确认该成员的工作衔接已经告一段落或者已经完成</a:t>
            </a:r>
          </a:p>
          <a:p>
            <a:r>
              <a:rPr lang="en-US" altLang="zh-CN" dirty="0"/>
              <a:t>D. </a:t>
            </a:r>
            <a:r>
              <a:rPr lang="zh-CN" altLang="en-US" dirty="0"/>
              <a:t>项目经理签发项目团队成员转移确认文件</a:t>
            </a:r>
          </a:p>
        </p:txBody>
      </p:sp>
    </p:spTree>
    <p:extLst>
      <p:ext uri="{BB962C8B-B14F-4D97-AF65-F5344CB8AC3E}">
        <p14:creationId xmlns:p14="http://schemas.microsoft.com/office/powerpoint/2010/main" val="1973382067"/>
      </p:ext>
    </p:extLst>
  </p:cSld>
  <p:clrMapOvr>
    <a:masterClrMapping/>
  </p:clrMapOvr>
</p:sld>
</file>

<file path=ppt/slides/slide3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E87332-F215-0087-13F6-7D0D0E15BA32}"/>
              </a:ext>
            </a:extLst>
          </p:cNvPr>
          <p:cNvSpPr>
            <a:spLocks noGrp="1"/>
          </p:cNvSpPr>
          <p:nvPr>
            <p:ph type="title"/>
          </p:nvPr>
        </p:nvSpPr>
        <p:spPr>
          <a:xfrm>
            <a:off x="696000" y="360000"/>
            <a:ext cx="5400000" cy="429413"/>
          </a:xfrm>
        </p:spPr>
        <p:txBody>
          <a:bodyPr/>
          <a:lstStyle/>
          <a:p>
            <a:r>
              <a:rPr lang="en-US" altLang="zh-CN" dirty="0"/>
              <a:t>10.1 </a:t>
            </a:r>
            <a:r>
              <a:rPr lang="zh-CN" altLang="en-US" dirty="0"/>
              <a:t>组织结构</a:t>
            </a:r>
          </a:p>
        </p:txBody>
      </p:sp>
      <p:sp>
        <p:nvSpPr>
          <p:cNvPr id="51" name="任意多边形: 形状 50">
            <a:extLst>
              <a:ext uri="{FF2B5EF4-FFF2-40B4-BE49-F238E27FC236}">
                <a16:creationId xmlns:a16="http://schemas.microsoft.com/office/drawing/2014/main" id="{280A020C-DC14-EDED-7B8F-1AB8D088AC50}"/>
              </a:ext>
            </a:extLst>
          </p:cNvPr>
          <p:cNvSpPr/>
          <p:nvPr/>
        </p:nvSpPr>
        <p:spPr>
          <a:xfrm>
            <a:off x="4738550" y="1622720"/>
            <a:ext cx="2700001" cy="2700001"/>
          </a:xfrm>
          <a:custGeom>
            <a:avLst/>
            <a:gdLst>
              <a:gd name="csX0" fmla="*/ 1350000 w 2700001"/>
              <a:gd name="csY0" fmla="*/ 0 h 2700001"/>
              <a:gd name="csX1" fmla="*/ 2700001 w 2700001"/>
              <a:gd name="csY1" fmla="*/ 1350000 h 2700001"/>
              <a:gd name="csX2" fmla="*/ 2698065 w 2700001"/>
              <a:gd name="csY2" fmla="*/ 1388327 h 2700001"/>
              <a:gd name="csX3" fmla="*/ 2620646 w 2700001"/>
              <a:gd name="csY3" fmla="*/ 1348694 h 2700001"/>
              <a:gd name="csX4" fmla="*/ 2698065 w 2700001"/>
              <a:gd name="csY4" fmla="*/ 1388328 h 2700001"/>
              <a:gd name="csX5" fmla="*/ 2693031 w 2700001"/>
              <a:gd name="csY5" fmla="*/ 1488031 h 2700001"/>
              <a:gd name="csX6" fmla="*/ 2104798 w 2700001"/>
              <a:gd name="csY6" fmla="*/ 2469442 h 2700001"/>
              <a:gd name="csX7" fmla="*/ 2003960 w 2700001"/>
              <a:gd name="csY7" fmla="*/ 2530703 h 2700001"/>
              <a:gd name="csX8" fmla="*/ 1993490 w 2700001"/>
              <a:gd name="csY8" fmla="*/ 2537063 h 2700001"/>
              <a:gd name="csX9" fmla="*/ 1350001 w 2700001"/>
              <a:gd name="csY9" fmla="*/ 2700001 h 2700001"/>
              <a:gd name="csX10" fmla="*/ 1890000 w 2700001"/>
              <a:gd name="csY10" fmla="*/ 2160001 h 2700001"/>
              <a:gd name="csX11" fmla="*/ 1847565 w 2700001"/>
              <a:gd name="csY11" fmla="*/ 1949809 h 2700001"/>
              <a:gd name="csX12" fmla="*/ 1806894 w 2700001"/>
              <a:gd name="csY12" fmla="*/ 1874879 h 2700001"/>
              <a:gd name="csX13" fmla="*/ 1797777 w 2700001"/>
              <a:gd name="csY13" fmla="*/ 1858082 h 2700001"/>
              <a:gd name="csX14" fmla="*/ 1789703 w 2700001"/>
              <a:gd name="csY14" fmla="*/ 1848295 h 2700001"/>
              <a:gd name="csX15" fmla="*/ 1748977 w 2700001"/>
              <a:gd name="csY15" fmla="*/ 1785320 h 2700001"/>
              <a:gd name="csX16" fmla="*/ 1361175 w 2700001"/>
              <a:gd name="csY16" fmla="*/ 1425562 h 2700001"/>
              <a:gd name="csX17" fmla="*/ 1357450 w 2700001"/>
              <a:gd name="csY17" fmla="*/ 1423521 h 2700001"/>
              <a:gd name="csX18" fmla="*/ 1467941 w 2700001"/>
              <a:gd name="csY18" fmla="*/ 1362978 h 2700001"/>
              <a:gd name="csX19" fmla="*/ 1610671 w 2700001"/>
              <a:gd name="csY19" fmla="*/ 1303780 h 2700001"/>
              <a:gd name="csX20" fmla="*/ 1602425 w 2700001"/>
              <a:gd name="csY20" fmla="*/ 1306256 h 2700001"/>
              <a:gd name="csX21" fmla="*/ 1467940 w 2700001"/>
              <a:gd name="csY21" fmla="*/ 1362977 h 2700001"/>
              <a:gd name="csX22" fmla="*/ 1357450 w 2700001"/>
              <a:gd name="csY22" fmla="*/ 1423521 h 2700001"/>
              <a:gd name="csX23" fmla="*/ 1246959 w 2700001"/>
              <a:gd name="csY23" fmla="*/ 1362976 h 2700001"/>
              <a:gd name="csX24" fmla="*/ 102915 w 2700001"/>
              <a:gd name="csY24" fmla="*/ 1344258 h 2700001"/>
              <a:gd name="csX25" fmla="*/ 2310 w 2700001"/>
              <a:gd name="csY25" fmla="*/ 1395760 h 2700001"/>
              <a:gd name="csX26" fmla="*/ 0 w 2700001"/>
              <a:gd name="csY26" fmla="*/ 1350001 h 2700001"/>
              <a:gd name="csX27" fmla="*/ 1350000 w 2700001"/>
              <a:gd name="csY27" fmla="*/ 0 h 2700001"/>
              <a:gd name="csX28" fmla="*/ 2031045 w 2700001"/>
              <a:gd name="csY28" fmla="*/ 1226486 h 2700001"/>
              <a:gd name="csX29" fmla="*/ 1975289 w 2700001"/>
              <a:gd name="csY29" fmla="*/ 1230759 h 2700001"/>
              <a:gd name="csX30" fmla="*/ 2066480 w 2700001"/>
              <a:gd name="csY30" fmla="*/ 1227626 h 2700001"/>
              <a:gd name="csX31" fmla="*/ 2031045 w 2700001"/>
              <a:gd name="csY31" fmla="*/ 1226486 h 2700001"/>
              <a:gd name="csX32" fmla="*/ 2142683 w 2700001"/>
              <a:gd name="csY32" fmla="*/ 1230075 h 2700001"/>
              <a:gd name="csX33" fmla="*/ 2199961 w 2700001"/>
              <a:gd name="csY33" fmla="*/ 1234361 h 2700001"/>
              <a:gd name="csX34" fmla="*/ 2177907 w 2700001"/>
              <a:gd name="csY34" fmla="*/ 1231208 h 2700001"/>
              <a:gd name="csX35" fmla="*/ 2142683 w 2700001"/>
              <a:gd name="csY35" fmla="*/ 1230075 h 2700001"/>
              <a:gd name="csX36" fmla="*/ 1911397 w 2700001"/>
              <a:gd name="csY36" fmla="*/ 1235656 h 2700001"/>
              <a:gd name="csX37" fmla="*/ 1885297 w 2700001"/>
              <a:gd name="csY37" fmla="*/ 1237656 h 2700001"/>
              <a:gd name="csX38" fmla="*/ 1818287 w 2700001"/>
              <a:gd name="csY38" fmla="*/ 1250143 h 2700001"/>
              <a:gd name="csX39" fmla="*/ 1911397 w 2700001"/>
              <a:gd name="csY39" fmla="*/ 1235656 h 2700001"/>
              <a:gd name="csX40" fmla="*/ 2285102 w 2700001"/>
              <a:gd name="csY40" fmla="*/ 1246533 h 2700001"/>
              <a:gd name="csX41" fmla="*/ 2339304 w 2700001"/>
              <a:gd name="csY41" fmla="*/ 1255990 h 2700001"/>
              <a:gd name="csX42" fmla="*/ 2324565 w 2700001"/>
              <a:gd name="csY42" fmla="*/ 1252175 h 2700001"/>
              <a:gd name="csX43" fmla="*/ 2285102 w 2700001"/>
              <a:gd name="csY43" fmla="*/ 1246533 h 2700001"/>
              <a:gd name="csX44" fmla="*/ 1758982 w 2700001"/>
              <a:gd name="csY44" fmla="*/ 1261196 h 2700001"/>
              <a:gd name="csX45" fmla="*/ 1741984 w 2700001"/>
              <a:gd name="csY45" fmla="*/ 1264363 h 2700001"/>
              <a:gd name="csX46" fmla="*/ 1659256 w 2700001"/>
              <a:gd name="csY46" fmla="*/ 1289195 h 2700001"/>
              <a:gd name="csX47" fmla="*/ 1758982 w 2700001"/>
              <a:gd name="csY47" fmla="*/ 1261196 h 2700001"/>
              <a:gd name="csX48" fmla="*/ 2431662 w 2700001"/>
              <a:gd name="csY48" fmla="*/ 1279896 h 2700001"/>
              <a:gd name="csX49" fmla="*/ 2476983 w 2700001"/>
              <a:gd name="csY49" fmla="*/ 1292533 h 2700001"/>
              <a:gd name="csX50" fmla="*/ 2469697 w 2700001"/>
              <a:gd name="csY50" fmla="*/ 1289741 h 2700001"/>
              <a:gd name="csX51" fmla="*/ 2431662 w 2700001"/>
              <a:gd name="csY51" fmla="*/ 1279896 h 2700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2700001" h="2700001">
                <a:moveTo>
                  <a:pt x="1350000" y="0"/>
                </a:moveTo>
                <a:cubicBezTo>
                  <a:pt x="2095584" y="1"/>
                  <a:pt x="2700000" y="604416"/>
                  <a:pt x="2700001" y="1350000"/>
                </a:cubicBezTo>
                <a:lnTo>
                  <a:pt x="2698065" y="1388327"/>
                </a:lnTo>
                <a:lnTo>
                  <a:pt x="2620646" y="1348694"/>
                </a:lnTo>
                <a:lnTo>
                  <a:pt x="2698065" y="1388328"/>
                </a:lnTo>
                <a:lnTo>
                  <a:pt x="2693031" y="1488031"/>
                </a:lnTo>
                <a:cubicBezTo>
                  <a:pt x="2651551" y="1896477"/>
                  <a:pt x="2427991" y="2251097"/>
                  <a:pt x="2104798" y="2469442"/>
                </a:cubicBezTo>
                <a:lnTo>
                  <a:pt x="2003960" y="2530703"/>
                </a:lnTo>
                <a:lnTo>
                  <a:pt x="1993490" y="2537063"/>
                </a:lnTo>
                <a:cubicBezTo>
                  <a:pt x="1802205" y="2640976"/>
                  <a:pt x="1582995" y="2700001"/>
                  <a:pt x="1350001" y="2700001"/>
                </a:cubicBezTo>
                <a:cubicBezTo>
                  <a:pt x="1648235" y="2700001"/>
                  <a:pt x="1890000" y="2458235"/>
                  <a:pt x="1890000" y="2160001"/>
                </a:cubicBezTo>
                <a:cubicBezTo>
                  <a:pt x="1890001" y="2085443"/>
                  <a:pt x="1874890" y="2014413"/>
                  <a:pt x="1847565" y="1949809"/>
                </a:cubicBezTo>
                <a:lnTo>
                  <a:pt x="1806894" y="1874879"/>
                </a:lnTo>
                <a:lnTo>
                  <a:pt x="1797777" y="1858082"/>
                </a:lnTo>
                <a:lnTo>
                  <a:pt x="1789703" y="1848295"/>
                </a:lnTo>
                <a:lnTo>
                  <a:pt x="1748977" y="1785320"/>
                </a:lnTo>
                <a:cubicBezTo>
                  <a:pt x="1642245" y="1637326"/>
                  <a:pt x="1509682" y="1516524"/>
                  <a:pt x="1361175" y="1425562"/>
                </a:cubicBezTo>
                <a:lnTo>
                  <a:pt x="1357450" y="1423521"/>
                </a:lnTo>
                <a:lnTo>
                  <a:pt x="1467941" y="1362978"/>
                </a:lnTo>
                <a:lnTo>
                  <a:pt x="1610671" y="1303780"/>
                </a:lnTo>
                <a:lnTo>
                  <a:pt x="1602425" y="1306256"/>
                </a:lnTo>
                <a:cubicBezTo>
                  <a:pt x="1556677" y="1322711"/>
                  <a:pt x="1511776" y="1341637"/>
                  <a:pt x="1467940" y="1362977"/>
                </a:cubicBezTo>
                <a:lnTo>
                  <a:pt x="1357450" y="1423521"/>
                </a:lnTo>
                <a:lnTo>
                  <a:pt x="1246959" y="1362976"/>
                </a:lnTo>
                <a:cubicBezTo>
                  <a:pt x="896270" y="1192256"/>
                  <a:pt x="477381" y="1175958"/>
                  <a:pt x="102915" y="1344258"/>
                </a:cubicBezTo>
                <a:lnTo>
                  <a:pt x="2310" y="1395760"/>
                </a:lnTo>
                <a:lnTo>
                  <a:pt x="0" y="1350001"/>
                </a:lnTo>
                <a:cubicBezTo>
                  <a:pt x="0" y="604416"/>
                  <a:pt x="604416" y="0"/>
                  <a:pt x="1350000" y="0"/>
                </a:cubicBezTo>
                <a:close/>
                <a:moveTo>
                  <a:pt x="2031045" y="1226486"/>
                </a:moveTo>
                <a:lnTo>
                  <a:pt x="1975289" y="1230759"/>
                </a:lnTo>
                <a:lnTo>
                  <a:pt x="2066480" y="1227626"/>
                </a:lnTo>
                <a:lnTo>
                  <a:pt x="2031045" y="1226486"/>
                </a:lnTo>
                <a:close/>
                <a:moveTo>
                  <a:pt x="2142683" y="1230075"/>
                </a:moveTo>
                <a:lnTo>
                  <a:pt x="2199961" y="1234361"/>
                </a:lnTo>
                <a:lnTo>
                  <a:pt x="2177907" y="1231208"/>
                </a:lnTo>
                <a:lnTo>
                  <a:pt x="2142683" y="1230075"/>
                </a:lnTo>
                <a:close/>
                <a:moveTo>
                  <a:pt x="1911397" y="1235656"/>
                </a:moveTo>
                <a:lnTo>
                  <a:pt x="1885297" y="1237656"/>
                </a:lnTo>
                <a:lnTo>
                  <a:pt x="1818287" y="1250143"/>
                </a:lnTo>
                <a:lnTo>
                  <a:pt x="1911397" y="1235656"/>
                </a:lnTo>
                <a:close/>
                <a:moveTo>
                  <a:pt x="2285102" y="1246533"/>
                </a:moveTo>
                <a:lnTo>
                  <a:pt x="2339304" y="1255990"/>
                </a:lnTo>
                <a:lnTo>
                  <a:pt x="2324565" y="1252175"/>
                </a:lnTo>
                <a:lnTo>
                  <a:pt x="2285102" y="1246533"/>
                </a:lnTo>
                <a:close/>
                <a:moveTo>
                  <a:pt x="1758982" y="1261196"/>
                </a:moveTo>
                <a:lnTo>
                  <a:pt x="1741984" y="1264363"/>
                </a:lnTo>
                <a:lnTo>
                  <a:pt x="1659256" y="1289195"/>
                </a:lnTo>
                <a:lnTo>
                  <a:pt x="1758982" y="1261196"/>
                </a:lnTo>
                <a:close/>
                <a:moveTo>
                  <a:pt x="2431662" y="1279896"/>
                </a:moveTo>
                <a:lnTo>
                  <a:pt x="2476983" y="1292533"/>
                </a:lnTo>
                <a:lnTo>
                  <a:pt x="2469697" y="1289741"/>
                </a:lnTo>
                <a:lnTo>
                  <a:pt x="2431662" y="1279896"/>
                </a:lnTo>
                <a:close/>
              </a:path>
            </a:pathLst>
          </a:custGeom>
          <a:solidFill>
            <a:srgbClr val="EFAA27"/>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en-US" altLang="zh-CN" sz="2400" dirty="0"/>
          </a:p>
        </p:txBody>
      </p:sp>
      <p:sp>
        <p:nvSpPr>
          <p:cNvPr id="72" name="任意多边形: 形状 71">
            <a:extLst>
              <a:ext uri="{FF2B5EF4-FFF2-40B4-BE49-F238E27FC236}">
                <a16:creationId xmlns:a16="http://schemas.microsoft.com/office/drawing/2014/main" id="{D38E0A87-438E-D3B8-D809-53C6EC94CA10}"/>
              </a:ext>
            </a:extLst>
          </p:cNvPr>
          <p:cNvSpPr/>
          <p:nvPr/>
        </p:nvSpPr>
        <p:spPr>
          <a:xfrm>
            <a:off x="5448329" y="3011048"/>
            <a:ext cx="2700452" cy="2538269"/>
          </a:xfrm>
          <a:custGeom>
            <a:avLst/>
            <a:gdLst>
              <a:gd name="csX0" fmla="*/ 1988285 w 2700452"/>
              <a:gd name="csY0" fmla="*/ 0 h 2538269"/>
              <a:gd name="csX1" fmla="*/ 2025227 w 2700452"/>
              <a:gd name="csY1" fmla="*/ 18911 h 2538269"/>
              <a:gd name="csX2" fmla="*/ 2519362 w 2700452"/>
              <a:gd name="csY2" fmla="*/ 1863044 h 2538269"/>
              <a:gd name="csX3" fmla="*/ 675225 w 2700452"/>
              <a:gd name="csY3" fmla="*/ 2357180 h 2538269"/>
              <a:gd name="csX4" fmla="*/ 647668 w 2700452"/>
              <a:gd name="csY4" fmla="*/ 2339357 h 2538269"/>
              <a:gd name="csX5" fmla="*/ 647669 w 2700452"/>
              <a:gd name="csY5" fmla="*/ 2339357 h 2538269"/>
              <a:gd name="csX6" fmla="*/ 647669 w 2700452"/>
              <a:gd name="csY6" fmla="*/ 2339357 h 2538269"/>
              <a:gd name="csX7" fmla="*/ 682423 w 2700452"/>
              <a:gd name="csY7" fmla="*/ 2316882 h 2538269"/>
              <a:gd name="csX8" fmla="*/ 736165 w 2700452"/>
              <a:gd name="csY8" fmla="*/ 2282128 h 2538269"/>
              <a:gd name="csX9" fmla="*/ 736242 w 2700452"/>
              <a:gd name="csY9" fmla="*/ 2282065 h 2538269"/>
              <a:gd name="csX10" fmla="*/ 851413 w 2700452"/>
              <a:gd name="csY10" fmla="*/ 2188982 h 2538269"/>
              <a:gd name="csX11" fmla="*/ 859424 w 2700452"/>
              <a:gd name="csY11" fmla="*/ 2180910 h 2538269"/>
              <a:gd name="csX12" fmla="*/ 866862 w 2700452"/>
              <a:gd name="csY12" fmla="*/ 2174801 h 2538269"/>
              <a:gd name="csX13" fmla="*/ 895762 w 2700452"/>
              <a:gd name="csY13" fmla="*/ 2144290 h 2538269"/>
              <a:gd name="csX14" fmla="*/ 954138 w 2700452"/>
              <a:gd name="csY14" fmla="*/ 2085461 h 2538269"/>
              <a:gd name="csX15" fmla="*/ 968295 w 2700452"/>
              <a:gd name="csY15" fmla="*/ 2067712 h 2538269"/>
              <a:gd name="csX16" fmla="*/ 981142 w 2700452"/>
              <a:gd name="csY16" fmla="*/ 2054148 h 2538269"/>
              <a:gd name="csX17" fmla="*/ 1005721 w 2700452"/>
              <a:gd name="csY17" fmla="*/ 2020789 h 2538269"/>
              <a:gd name="csX18" fmla="*/ 1044014 w 2700452"/>
              <a:gd name="csY18" fmla="*/ 1972777 h 2538269"/>
              <a:gd name="csX19" fmla="*/ 1062411 w 2700452"/>
              <a:gd name="csY19" fmla="*/ 1943844 h 2538269"/>
              <a:gd name="csX20" fmla="*/ 1078519 w 2700452"/>
              <a:gd name="csY20" fmla="*/ 1921981 h 2538269"/>
              <a:gd name="csX21" fmla="*/ 1095791 w 2700452"/>
              <a:gd name="csY21" fmla="*/ 1891348 h 2538269"/>
              <a:gd name="csX22" fmla="*/ 1120718 w 2700452"/>
              <a:gd name="csY22" fmla="*/ 1852144 h 2538269"/>
              <a:gd name="csX23" fmla="*/ 1141452 w 2700452"/>
              <a:gd name="csY23" fmla="*/ 1810361 h 2538269"/>
              <a:gd name="csX24" fmla="*/ 1158508 w 2700452"/>
              <a:gd name="csY24" fmla="*/ 1780110 h 2538269"/>
              <a:gd name="csX25" fmla="*/ 1168916 w 2700452"/>
              <a:gd name="csY25" fmla="*/ 1755016 h 2538269"/>
              <a:gd name="csX26" fmla="*/ 1183923 w 2700452"/>
              <a:gd name="csY26" fmla="*/ 1724774 h 2538269"/>
              <a:gd name="csX27" fmla="*/ 1205128 w 2700452"/>
              <a:gd name="csY27" fmla="*/ 1667709 h 2538269"/>
              <a:gd name="csX28" fmla="*/ 1220625 w 2700452"/>
              <a:gd name="csY28" fmla="*/ 1630344 h 2538269"/>
              <a:gd name="csX29" fmla="*/ 1225613 w 2700452"/>
              <a:gd name="csY29" fmla="*/ 1612579 h 2538269"/>
              <a:gd name="csX30" fmla="*/ 1233304 w 2700452"/>
              <a:gd name="csY30" fmla="*/ 1591881 h 2538269"/>
              <a:gd name="csX31" fmla="*/ 1253437 w 2700452"/>
              <a:gd name="csY31" fmla="*/ 1513484 h 2538269"/>
              <a:gd name="csX32" fmla="*/ 1264383 w 2700452"/>
              <a:gd name="csY32" fmla="*/ 1474496 h 2538269"/>
              <a:gd name="csX33" fmla="*/ 1265821 w 2700452"/>
              <a:gd name="csY33" fmla="*/ 1465259 h 2538269"/>
              <a:gd name="csX34" fmla="*/ 1268538 w 2700452"/>
              <a:gd name="csY34" fmla="*/ 1454676 h 2538269"/>
              <a:gd name="csX35" fmla="*/ 1289292 w 2700452"/>
              <a:gd name="csY35" fmla="*/ 1314414 h 2538269"/>
              <a:gd name="csX36" fmla="*/ 1289298 w 2700452"/>
              <a:gd name="csY36" fmla="*/ 1314375 h 2538269"/>
              <a:gd name="csX37" fmla="*/ 1294885 w 2700452"/>
              <a:gd name="csY37" fmla="*/ 1151791 h 2538269"/>
              <a:gd name="csX38" fmla="*/ 1289298 w 2700452"/>
              <a:gd name="csY38" fmla="*/ 1314373 h 2538269"/>
              <a:gd name="csX39" fmla="*/ 1289292 w 2700452"/>
              <a:gd name="csY39" fmla="*/ 1314414 h 2538269"/>
              <a:gd name="csX40" fmla="*/ 1265821 w 2700452"/>
              <a:gd name="csY40" fmla="*/ 1465259 h 2538269"/>
              <a:gd name="csX41" fmla="*/ 1253437 w 2700452"/>
              <a:gd name="csY41" fmla="*/ 1513484 h 2538269"/>
              <a:gd name="csX42" fmla="*/ 1225613 w 2700452"/>
              <a:gd name="csY42" fmla="*/ 1612579 h 2538269"/>
              <a:gd name="csX43" fmla="*/ 1205128 w 2700452"/>
              <a:gd name="csY43" fmla="*/ 1667709 h 2538269"/>
              <a:gd name="csX44" fmla="*/ 1168916 w 2700452"/>
              <a:gd name="csY44" fmla="*/ 1755016 h 2538269"/>
              <a:gd name="csX45" fmla="*/ 1141452 w 2700452"/>
              <a:gd name="csY45" fmla="*/ 1810361 h 2538269"/>
              <a:gd name="csX46" fmla="*/ 1095791 w 2700452"/>
              <a:gd name="csY46" fmla="*/ 1891348 h 2538269"/>
              <a:gd name="csX47" fmla="*/ 1062411 w 2700452"/>
              <a:gd name="csY47" fmla="*/ 1943844 h 2538269"/>
              <a:gd name="csX48" fmla="*/ 1005721 w 2700452"/>
              <a:gd name="csY48" fmla="*/ 2020789 h 2538269"/>
              <a:gd name="csX49" fmla="*/ 968295 w 2700452"/>
              <a:gd name="csY49" fmla="*/ 2067712 h 2538269"/>
              <a:gd name="csX50" fmla="*/ 895762 w 2700452"/>
              <a:gd name="csY50" fmla="*/ 2144290 h 2538269"/>
              <a:gd name="csX51" fmla="*/ 859424 w 2700452"/>
              <a:gd name="csY51" fmla="*/ 2180910 h 2538269"/>
              <a:gd name="csX52" fmla="*/ 736242 w 2700452"/>
              <a:gd name="csY52" fmla="*/ 2282065 h 2538269"/>
              <a:gd name="csX53" fmla="*/ 736165 w 2700452"/>
              <a:gd name="csY53" fmla="*/ 2282127 h 2538269"/>
              <a:gd name="csX54" fmla="*/ 682423 w 2700452"/>
              <a:gd name="csY54" fmla="*/ 2316882 h 2538269"/>
              <a:gd name="csX55" fmla="*/ 647669 w 2700452"/>
              <a:gd name="csY55" fmla="*/ 2339357 h 2538269"/>
              <a:gd name="csX56" fmla="*/ 559174 w 2700452"/>
              <a:gd name="csY56" fmla="*/ 2282128 h 2538269"/>
              <a:gd name="csX57" fmla="*/ 455 w 2700452"/>
              <a:gd name="csY57" fmla="*/ 1151791 h 2538269"/>
              <a:gd name="csX58" fmla="*/ 546 w 2700452"/>
              <a:gd name="csY58" fmla="*/ 1150571 h 2538269"/>
              <a:gd name="csX59" fmla="*/ 548 w 2700452"/>
              <a:gd name="csY59" fmla="*/ 1150572 h 2538269"/>
              <a:gd name="csX60" fmla="*/ 10229 w 2700452"/>
              <a:gd name="csY60" fmla="*/ 1021169 h 2538269"/>
              <a:gd name="csX61" fmla="*/ 118115 w 2700452"/>
              <a:gd name="csY61" fmla="*/ 636066 h 2538269"/>
              <a:gd name="csX62" fmla="*/ 121649 w 2700452"/>
              <a:gd name="csY62" fmla="*/ 629163 h 2538269"/>
              <a:gd name="csX63" fmla="*/ 111194 w 2700452"/>
              <a:gd name="csY63" fmla="*/ 662843 h 2538269"/>
              <a:gd name="csX64" fmla="*/ 100222 w 2700452"/>
              <a:gd name="csY64" fmla="*/ 771672 h 2538269"/>
              <a:gd name="csX65" fmla="*/ 531394 w 2700452"/>
              <a:gd name="csY65" fmla="*/ 1300701 h 2538269"/>
              <a:gd name="csX66" fmla="*/ 640215 w 2700452"/>
              <a:gd name="csY66" fmla="*/ 1311671 h 2538269"/>
              <a:gd name="csX67" fmla="*/ 640222 w 2700452"/>
              <a:gd name="csY67" fmla="*/ 1311672 h 2538269"/>
              <a:gd name="csX68" fmla="*/ 1283710 w 2700452"/>
              <a:gd name="csY68" fmla="*/ 1148733 h 2538269"/>
              <a:gd name="csX69" fmla="*/ 1294180 w 2700452"/>
              <a:gd name="csY69" fmla="*/ 1142374 h 2538269"/>
              <a:gd name="csX70" fmla="*/ 1294180 w 2700452"/>
              <a:gd name="csY70" fmla="*/ 1142375 h 2538269"/>
              <a:gd name="csX71" fmla="*/ 1395018 w 2700452"/>
              <a:gd name="csY71" fmla="*/ 1081113 h 2538269"/>
              <a:gd name="csX72" fmla="*/ 1983251 w 2700452"/>
              <a:gd name="csY72" fmla="*/ 99703 h 2538269"/>
              <a:gd name="csX73" fmla="*/ 1988285 w 2700452"/>
              <a:gd name="csY73" fmla="*/ 0 h 25382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Lst>
            <a:rect l="l" t="t" r="r" b="b"/>
            <a:pathLst>
              <a:path w="2700452" h="2538269">
                <a:moveTo>
                  <a:pt x="1988285" y="0"/>
                </a:moveTo>
                <a:lnTo>
                  <a:pt x="2025227" y="18911"/>
                </a:lnTo>
                <a:cubicBezTo>
                  <a:pt x="2670921" y="391702"/>
                  <a:pt x="2892153" y="1217351"/>
                  <a:pt x="2519362" y="1863044"/>
                </a:cubicBezTo>
                <a:cubicBezTo>
                  <a:pt x="2146569" y="2508738"/>
                  <a:pt x="1320922" y="2729971"/>
                  <a:pt x="675225" y="2357180"/>
                </a:cubicBezTo>
                <a:lnTo>
                  <a:pt x="647668" y="2339357"/>
                </a:lnTo>
                <a:lnTo>
                  <a:pt x="647669" y="2339357"/>
                </a:lnTo>
                <a:lnTo>
                  <a:pt x="647669" y="2339357"/>
                </a:lnTo>
                <a:lnTo>
                  <a:pt x="682423" y="2316882"/>
                </a:lnTo>
                <a:lnTo>
                  <a:pt x="736165" y="2282128"/>
                </a:lnTo>
                <a:lnTo>
                  <a:pt x="736242" y="2282065"/>
                </a:lnTo>
                <a:lnTo>
                  <a:pt x="851413" y="2188982"/>
                </a:lnTo>
                <a:lnTo>
                  <a:pt x="859424" y="2180910"/>
                </a:lnTo>
                <a:lnTo>
                  <a:pt x="866862" y="2174801"/>
                </a:lnTo>
                <a:lnTo>
                  <a:pt x="895762" y="2144290"/>
                </a:lnTo>
                <a:lnTo>
                  <a:pt x="954138" y="2085461"/>
                </a:lnTo>
                <a:lnTo>
                  <a:pt x="968295" y="2067712"/>
                </a:lnTo>
                <a:lnTo>
                  <a:pt x="981142" y="2054148"/>
                </a:lnTo>
                <a:lnTo>
                  <a:pt x="1005721" y="2020789"/>
                </a:lnTo>
                <a:lnTo>
                  <a:pt x="1044014" y="1972777"/>
                </a:lnTo>
                <a:lnTo>
                  <a:pt x="1062411" y="1943844"/>
                </a:lnTo>
                <a:lnTo>
                  <a:pt x="1078519" y="1921981"/>
                </a:lnTo>
                <a:lnTo>
                  <a:pt x="1095791" y="1891348"/>
                </a:lnTo>
                <a:lnTo>
                  <a:pt x="1120718" y="1852144"/>
                </a:lnTo>
                <a:lnTo>
                  <a:pt x="1141452" y="1810361"/>
                </a:lnTo>
                <a:lnTo>
                  <a:pt x="1158508" y="1780110"/>
                </a:lnTo>
                <a:lnTo>
                  <a:pt x="1168916" y="1755016"/>
                </a:lnTo>
                <a:lnTo>
                  <a:pt x="1183923" y="1724774"/>
                </a:lnTo>
                <a:lnTo>
                  <a:pt x="1205128" y="1667709"/>
                </a:lnTo>
                <a:lnTo>
                  <a:pt x="1220625" y="1630344"/>
                </a:lnTo>
                <a:lnTo>
                  <a:pt x="1225613" y="1612579"/>
                </a:lnTo>
                <a:lnTo>
                  <a:pt x="1233304" y="1591881"/>
                </a:lnTo>
                <a:lnTo>
                  <a:pt x="1253437" y="1513484"/>
                </a:lnTo>
                <a:lnTo>
                  <a:pt x="1264383" y="1474496"/>
                </a:lnTo>
                <a:lnTo>
                  <a:pt x="1265821" y="1465259"/>
                </a:lnTo>
                <a:lnTo>
                  <a:pt x="1268538" y="1454676"/>
                </a:lnTo>
                <a:lnTo>
                  <a:pt x="1289292" y="1314414"/>
                </a:lnTo>
                <a:lnTo>
                  <a:pt x="1289298" y="1314375"/>
                </a:lnTo>
                <a:cubicBezTo>
                  <a:pt x="1294409" y="1260490"/>
                  <a:pt x="1296298" y="1206195"/>
                  <a:pt x="1294885" y="1151791"/>
                </a:cubicBezTo>
                <a:lnTo>
                  <a:pt x="1289298" y="1314373"/>
                </a:lnTo>
                <a:lnTo>
                  <a:pt x="1289292" y="1314414"/>
                </a:lnTo>
                <a:lnTo>
                  <a:pt x="1265821" y="1465259"/>
                </a:lnTo>
                <a:lnTo>
                  <a:pt x="1253437" y="1513484"/>
                </a:lnTo>
                <a:lnTo>
                  <a:pt x="1225613" y="1612579"/>
                </a:lnTo>
                <a:lnTo>
                  <a:pt x="1205128" y="1667709"/>
                </a:lnTo>
                <a:lnTo>
                  <a:pt x="1168916" y="1755016"/>
                </a:lnTo>
                <a:lnTo>
                  <a:pt x="1141452" y="1810361"/>
                </a:lnTo>
                <a:lnTo>
                  <a:pt x="1095791" y="1891348"/>
                </a:lnTo>
                <a:lnTo>
                  <a:pt x="1062411" y="1943844"/>
                </a:lnTo>
                <a:lnTo>
                  <a:pt x="1005721" y="2020789"/>
                </a:lnTo>
                <a:lnTo>
                  <a:pt x="968295" y="2067712"/>
                </a:lnTo>
                <a:lnTo>
                  <a:pt x="895762" y="2144290"/>
                </a:lnTo>
                <a:lnTo>
                  <a:pt x="859424" y="2180910"/>
                </a:lnTo>
                <a:lnTo>
                  <a:pt x="736242" y="2282065"/>
                </a:lnTo>
                <a:lnTo>
                  <a:pt x="736165" y="2282127"/>
                </a:lnTo>
                <a:lnTo>
                  <a:pt x="682423" y="2316882"/>
                </a:lnTo>
                <a:lnTo>
                  <a:pt x="647669" y="2339357"/>
                </a:lnTo>
                <a:lnTo>
                  <a:pt x="559174" y="2282128"/>
                </a:lnTo>
                <a:cubicBezTo>
                  <a:pt x="189190" y="2015297"/>
                  <a:pt x="-10849" y="1587021"/>
                  <a:pt x="455" y="1151791"/>
                </a:cubicBezTo>
                <a:lnTo>
                  <a:pt x="546" y="1150571"/>
                </a:lnTo>
                <a:lnTo>
                  <a:pt x="548" y="1150572"/>
                </a:lnTo>
                <a:lnTo>
                  <a:pt x="10229" y="1021169"/>
                </a:lnTo>
                <a:cubicBezTo>
                  <a:pt x="26426" y="890646"/>
                  <a:pt x="62015" y="760888"/>
                  <a:pt x="118115" y="636066"/>
                </a:cubicBezTo>
                <a:lnTo>
                  <a:pt x="121649" y="629163"/>
                </a:lnTo>
                <a:lnTo>
                  <a:pt x="111194" y="662843"/>
                </a:lnTo>
                <a:cubicBezTo>
                  <a:pt x="104000" y="697995"/>
                  <a:pt x="100223" y="734392"/>
                  <a:pt x="100222" y="771672"/>
                </a:cubicBezTo>
                <a:cubicBezTo>
                  <a:pt x="100223" y="1032626"/>
                  <a:pt x="285324" y="1250349"/>
                  <a:pt x="531394" y="1300701"/>
                </a:cubicBezTo>
                <a:lnTo>
                  <a:pt x="640215" y="1311671"/>
                </a:lnTo>
                <a:lnTo>
                  <a:pt x="640222" y="1311672"/>
                </a:lnTo>
                <a:cubicBezTo>
                  <a:pt x="873215" y="1311671"/>
                  <a:pt x="1092425" y="1252647"/>
                  <a:pt x="1283710" y="1148733"/>
                </a:cubicBezTo>
                <a:lnTo>
                  <a:pt x="1294180" y="1142374"/>
                </a:lnTo>
                <a:lnTo>
                  <a:pt x="1294180" y="1142375"/>
                </a:lnTo>
                <a:lnTo>
                  <a:pt x="1395018" y="1081113"/>
                </a:lnTo>
                <a:cubicBezTo>
                  <a:pt x="1718212" y="862769"/>
                  <a:pt x="1941771" y="508148"/>
                  <a:pt x="1983251" y="99703"/>
                </a:cubicBezTo>
                <a:lnTo>
                  <a:pt x="1988285" y="0"/>
                </a:lnTo>
                <a:close/>
              </a:path>
            </a:pathLst>
          </a:custGeom>
          <a:solidFill>
            <a:srgbClr val="BF014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2400" dirty="0"/>
              <a:t>    </a:t>
            </a:r>
          </a:p>
        </p:txBody>
      </p:sp>
      <p:sp>
        <p:nvSpPr>
          <p:cNvPr id="59" name="任意多边形: 形状 58">
            <a:extLst>
              <a:ext uri="{FF2B5EF4-FFF2-40B4-BE49-F238E27FC236}">
                <a16:creationId xmlns:a16="http://schemas.microsoft.com/office/drawing/2014/main" id="{B13DE072-E4D7-F72E-9C40-94A5F386084E}"/>
              </a:ext>
            </a:extLst>
          </p:cNvPr>
          <p:cNvSpPr/>
          <p:nvPr/>
        </p:nvSpPr>
        <p:spPr>
          <a:xfrm>
            <a:off x="4043218" y="2848865"/>
            <a:ext cx="2485035" cy="2700452"/>
          </a:xfrm>
          <a:custGeom>
            <a:avLst/>
            <a:gdLst>
              <a:gd name="csX0" fmla="*/ 1313973 w 2485035"/>
              <a:gd name="csY0" fmla="*/ 455 h 2700452"/>
              <a:gd name="csX1" fmla="*/ 1942292 w 2485035"/>
              <a:gd name="csY1" fmla="*/ 136830 h 2700452"/>
              <a:gd name="csX2" fmla="*/ 2052783 w 2485035"/>
              <a:gd name="csY2" fmla="*/ 197375 h 2700452"/>
              <a:gd name="csX3" fmla="*/ 2052783 w 2485035"/>
              <a:gd name="csY3" fmla="*/ 197375 h 2700452"/>
              <a:gd name="csX4" fmla="*/ 2052782 w 2485035"/>
              <a:gd name="csY4" fmla="*/ 197375 h 2700452"/>
              <a:gd name="csX5" fmla="*/ 2050741 w 2485035"/>
              <a:gd name="csY5" fmla="*/ 198494 h 2700452"/>
              <a:gd name="csX6" fmla="*/ 2049058 w 2485035"/>
              <a:gd name="csY6" fmla="*/ 199416 h 2700452"/>
              <a:gd name="csX7" fmla="*/ 1889235 w 2485035"/>
              <a:gd name="csY7" fmla="*/ 314197 h 2700452"/>
              <a:gd name="csX8" fmla="*/ 1889235 w 2485035"/>
              <a:gd name="csY8" fmla="*/ 314199 h 2700452"/>
              <a:gd name="csX9" fmla="*/ 2049057 w 2485035"/>
              <a:gd name="csY9" fmla="*/ 199417 h 2700452"/>
              <a:gd name="csX10" fmla="*/ 2050741 w 2485035"/>
              <a:gd name="csY10" fmla="*/ 198494 h 2700452"/>
              <a:gd name="csX11" fmla="*/ 2052783 w 2485035"/>
              <a:gd name="csY11" fmla="*/ 197375 h 2700452"/>
              <a:gd name="csX12" fmla="*/ 2056507 w 2485035"/>
              <a:gd name="csY12" fmla="*/ 199416 h 2700452"/>
              <a:gd name="csX13" fmla="*/ 2444309 w 2485035"/>
              <a:gd name="csY13" fmla="*/ 559174 h 2700452"/>
              <a:gd name="csX14" fmla="*/ 2485035 w 2485035"/>
              <a:gd name="csY14" fmla="*/ 622149 h 2700452"/>
              <a:gd name="csX15" fmla="*/ 2427171 w 2485035"/>
              <a:gd name="csY15" fmla="*/ 552017 h 2700452"/>
              <a:gd name="csX16" fmla="*/ 2045333 w 2485035"/>
              <a:gd name="csY16" fmla="*/ 393854 h 2700452"/>
              <a:gd name="csX17" fmla="*/ 1743414 w 2485035"/>
              <a:gd name="csY17" fmla="*/ 486077 h 2700452"/>
              <a:gd name="csX18" fmla="*/ 1673775 w 2485035"/>
              <a:gd name="csY18" fmla="*/ 543535 h 2700452"/>
              <a:gd name="csX19" fmla="*/ 1663496 w 2485035"/>
              <a:gd name="csY19" fmla="*/ 552017 h 2700452"/>
              <a:gd name="csX20" fmla="*/ 1547770 w 2485035"/>
              <a:gd name="csY20" fmla="*/ 723663 h 2700452"/>
              <a:gd name="csX21" fmla="*/ 1526760 w 2485035"/>
              <a:gd name="csY21" fmla="*/ 791346 h 2700452"/>
              <a:gd name="csX22" fmla="*/ 1523226 w 2485035"/>
              <a:gd name="csY22" fmla="*/ 798248 h 2700452"/>
              <a:gd name="csX23" fmla="*/ 1415340 w 2485035"/>
              <a:gd name="csY23" fmla="*/ 1183351 h 2700452"/>
              <a:gd name="csX24" fmla="*/ 1405659 w 2485035"/>
              <a:gd name="csY24" fmla="*/ 1312755 h 2700452"/>
              <a:gd name="csX25" fmla="*/ 1401843 w 2485035"/>
              <a:gd name="csY25" fmla="*/ 1310916 h 2700452"/>
              <a:gd name="csX26" fmla="*/ 1248091 w 2485035"/>
              <a:gd name="csY26" fmla="*/ 1211723 h 2700452"/>
              <a:gd name="csX27" fmla="*/ 1220958 w 2485035"/>
              <a:gd name="csY27" fmla="*/ 1191812 h 2700452"/>
              <a:gd name="csX28" fmla="*/ 1089481 w 2485035"/>
              <a:gd name="csY28" fmla="*/ 1075858 h 2700452"/>
              <a:gd name="csX29" fmla="*/ 1066348 w 2485035"/>
              <a:gd name="csY29" fmla="*/ 1051449 h 2700452"/>
              <a:gd name="csX30" fmla="*/ 949130 w 2485035"/>
              <a:gd name="csY30" fmla="*/ 911958 h 2700452"/>
              <a:gd name="csX31" fmla="*/ 949127 w 2485035"/>
              <a:gd name="csY31" fmla="*/ 911955 h 2700452"/>
              <a:gd name="csX32" fmla="*/ 949121 w 2485035"/>
              <a:gd name="csY32" fmla="*/ 911946 h 2700452"/>
              <a:gd name="csX33" fmla="*/ 853748 w 2485035"/>
              <a:gd name="csY33" fmla="*/ 755981 h 2700452"/>
              <a:gd name="csX34" fmla="*/ 836499 w 2485035"/>
              <a:gd name="csY34" fmla="*/ 723523 h 2700452"/>
              <a:gd name="csX35" fmla="*/ 777256 w 2485035"/>
              <a:gd name="csY35" fmla="*/ 588038 h 2700452"/>
              <a:gd name="csX36" fmla="*/ 777253 w 2485035"/>
              <a:gd name="csY36" fmla="*/ 588031 h 2700452"/>
              <a:gd name="csX37" fmla="*/ 777252 w 2485035"/>
              <a:gd name="csY37" fmla="*/ 588029 h 2700452"/>
              <a:gd name="csX38" fmla="*/ 777256 w 2485035"/>
              <a:gd name="csY38" fmla="*/ 588038 h 2700452"/>
              <a:gd name="csX39" fmla="*/ 824927 w 2485035"/>
              <a:gd name="csY39" fmla="*/ 701747 h 2700452"/>
              <a:gd name="csX40" fmla="*/ 836499 w 2485035"/>
              <a:gd name="csY40" fmla="*/ 723523 h 2700452"/>
              <a:gd name="csX41" fmla="*/ 843023 w 2485035"/>
              <a:gd name="csY41" fmla="*/ 738443 h 2700452"/>
              <a:gd name="csX42" fmla="*/ 853748 w 2485035"/>
              <a:gd name="csY42" fmla="*/ 755981 h 2700452"/>
              <a:gd name="csX43" fmla="*/ 882405 w 2485035"/>
              <a:gd name="csY43" fmla="*/ 809908 h 2700452"/>
              <a:gd name="csX44" fmla="*/ 949121 w 2485035"/>
              <a:gd name="csY44" fmla="*/ 911946 h 2700452"/>
              <a:gd name="csX45" fmla="*/ 949126 w 2485035"/>
              <a:gd name="csY45" fmla="*/ 911954 h 2700452"/>
              <a:gd name="csX46" fmla="*/ 949130 w 2485035"/>
              <a:gd name="csY46" fmla="*/ 911958 h 2700452"/>
              <a:gd name="csX47" fmla="*/ 1024536 w 2485035"/>
              <a:gd name="csY47" fmla="*/ 1007330 h 2700452"/>
              <a:gd name="csX48" fmla="*/ 1066348 w 2485035"/>
              <a:gd name="csY48" fmla="*/ 1051449 h 2700452"/>
              <a:gd name="csX49" fmla="*/ 1079356 w 2485035"/>
              <a:gd name="csY49" fmla="*/ 1066928 h 2700452"/>
              <a:gd name="csX50" fmla="*/ 1089481 w 2485035"/>
              <a:gd name="csY50" fmla="*/ 1075858 h 2700452"/>
              <a:gd name="csX51" fmla="*/ 1108071 w 2485035"/>
              <a:gd name="csY51" fmla="*/ 1095473 h 2700452"/>
              <a:gd name="csX52" fmla="*/ 1199173 w 2485035"/>
              <a:gd name="csY52" fmla="*/ 1175824 h 2700452"/>
              <a:gd name="csX53" fmla="*/ 1220958 w 2485035"/>
              <a:gd name="csY53" fmla="*/ 1191812 h 2700452"/>
              <a:gd name="csX54" fmla="*/ 1231125 w 2485035"/>
              <a:gd name="csY54" fmla="*/ 1200778 h 2700452"/>
              <a:gd name="csX55" fmla="*/ 1248091 w 2485035"/>
              <a:gd name="csY55" fmla="*/ 1211723 h 2700452"/>
              <a:gd name="csX56" fmla="*/ 1297284 w 2485035"/>
              <a:gd name="csY56" fmla="*/ 1247825 h 2700452"/>
              <a:gd name="csX57" fmla="*/ 1401844 w 2485035"/>
              <a:gd name="csY57" fmla="*/ 1310917 h 2700452"/>
              <a:gd name="csX58" fmla="*/ 1405660 w 2485035"/>
              <a:gd name="csY58" fmla="*/ 1312756 h 2700452"/>
              <a:gd name="csX59" fmla="*/ 1405569 w 2485035"/>
              <a:gd name="csY59" fmla="*/ 1313977 h 2700452"/>
              <a:gd name="csX60" fmla="*/ 1964288 w 2485035"/>
              <a:gd name="csY60" fmla="*/ 2444312 h 2700452"/>
              <a:gd name="csX61" fmla="*/ 2052782 w 2485035"/>
              <a:gd name="csY61" fmla="*/ 2501541 h 2700452"/>
              <a:gd name="csX62" fmla="*/ 2025227 w 2485035"/>
              <a:gd name="csY62" fmla="*/ 2519362 h 2700452"/>
              <a:gd name="csX63" fmla="*/ 181092 w 2485035"/>
              <a:gd name="csY63" fmla="*/ 2025227 h 2700452"/>
              <a:gd name="csX64" fmla="*/ 675227 w 2485035"/>
              <a:gd name="csY64" fmla="*/ 181093 h 2700452"/>
              <a:gd name="csX65" fmla="*/ 697643 w 2485035"/>
              <a:gd name="csY65" fmla="*/ 169616 h 2700452"/>
              <a:gd name="csX66" fmla="*/ 697644 w 2485035"/>
              <a:gd name="csY66" fmla="*/ 169614 h 2700452"/>
              <a:gd name="csX67" fmla="*/ 798248 w 2485035"/>
              <a:gd name="csY67" fmla="*/ 118112 h 2700452"/>
              <a:gd name="csX68" fmla="*/ 1313973 w 2485035"/>
              <a:gd name="csY68" fmla="*/ 455 h 2700452"/>
              <a:gd name="csX69" fmla="*/ 1885717 w 2485035"/>
              <a:gd name="csY69" fmla="*/ 317615 h 2700452"/>
              <a:gd name="csX70" fmla="*/ 1745994 w 2485035"/>
              <a:gd name="csY70" fmla="*/ 453318 h 2700452"/>
              <a:gd name="csX71" fmla="*/ 1745994 w 2485035"/>
              <a:gd name="csY71" fmla="*/ 453318 h 2700452"/>
              <a:gd name="csX72" fmla="*/ 1745993 w 2485035"/>
              <a:gd name="csY72" fmla="*/ 453319 h 2700452"/>
              <a:gd name="csX73" fmla="*/ 1730726 w 2485035"/>
              <a:gd name="csY73" fmla="*/ 472391 h 2700452"/>
              <a:gd name="csX74" fmla="*/ 1745994 w 2485035"/>
              <a:gd name="csY74" fmla="*/ 453318 h 2700452"/>
              <a:gd name="csX75" fmla="*/ 1885717 w 2485035"/>
              <a:gd name="csY75" fmla="*/ 317615 h 2700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2485035" h="2700452">
                <a:moveTo>
                  <a:pt x="1313973" y="455"/>
                </a:moveTo>
                <a:cubicBezTo>
                  <a:pt x="1531588" y="-5197"/>
                  <a:pt x="1747465" y="41986"/>
                  <a:pt x="1942292" y="136830"/>
                </a:cubicBezTo>
                <a:lnTo>
                  <a:pt x="2052783" y="197375"/>
                </a:lnTo>
                <a:lnTo>
                  <a:pt x="2052783" y="197375"/>
                </a:lnTo>
                <a:lnTo>
                  <a:pt x="2052782" y="197375"/>
                </a:lnTo>
                <a:lnTo>
                  <a:pt x="2050741" y="198494"/>
                </a:lnTo>
                <a:lnTo>
                  <a:pt x="2049058" y="199416"/>
                </a:lnTo>
                <a:cubicBezTo>
                  <a:pt x="1993367" y="233527"/>
                  <a:pt x="1939919" y="271835"/>
                  <a:pt x="1889235" y="314197"/>
                </a:cubicBezTo>
                <a:lnTo>
                  <a:pt x="1889235" y="314199"/>
                </a:lnTo>
                <a:lnTo>
                  <a:pt x="2049057" y="199417"/>
                </a:lnTo>
                <a:lnTo>
                  <a:pt x="2050741" y="198494"/>
                </a:lnTo>
                <a:lnTo>
                  <a:pt x="2052783" y="197375"/>
                </a:lnTo>
                <a:lnTo>
                  <a:pt x="2056507" y="199416"/>
                </a:lnTo>
                <a:cubicBezTo>
                  <a:pt x="2205014" y="290378"/>
                  <a:pt x="2337577" y="411180"/>
                  <a:pt x="2444309" y="559174"/>
                </a:cubicBezTo>
                <a:lnTo>
                  <a:pt x="2485035" y="622149"/>
                </a:lnTo>
                <a:lnTo>
                  <a:pt x="2427171" y="552017"/>
                </a:lnTo>
                <a:cubicBezTo>
                  <a:pt x="2329450" y="454297"/>
                  <a:pt x="2194450" y="393855"/>
                  <a:pt x="2045333" y="393854"/>
                </a:cubicBezTo>
                <a:cubicBezTo>
                  <a:pt x="1933495" y="393855"/>
                  <a:pt x="1829599" y="427854"/>
                  <a:pt x="1743414" y="486077"/>
                </a:cubicBezTo>
                <a:lnTo>
                  <a:pt x="1673775" y="543535"/>
                </a:lnTo>
                <a:lnTo>
                  <a:pt x="1663496" y="552017"/>
                </a:lnTo>
                <a:cubicBezTo>
                  <a:pt x="1614636" y="600877"/>
                  <a:pt x="1575095" y="659057"/>
                  <a:pt x="1547770" y="723663"/>
                </a:cubicBezTo>
                <a:lnTo>
                  <a:pt x="1526760" y="791346"/>
                </a:lnTo>
                <a:lnTo>
                  <a:pt x="1523226" y="798248"/>
                </a:lnTo>
                <a:cubicBezTo>
                  <a:pt x="1467126" y="923070"/>
                  <a:pt x="1431537" y="1052828"/>
                  <a:pt x="1415340" y="1183351"/>
                </a:cubicBezTo>
                <a:lnTo>
                  <a:pt x="1405659" y="1312755"/>
                </a:lnTo>
                <a:lnTo>
                  <a:pt x="1401843" y="1310916"/>
                </a:lnTo>
                <a:lnTo>
                  <a:pt x="1248091" y="1211723"/>
                </a:lnTo>
                <a:lnTo>
                  <a:pt x="1220958" y="1191812"/>
                </a:lnTo>
                <a:lnTo>
                  <a:pt x="1089481" y="1075858"/>
                </a:lnTo>
                <a:lnTo>
                  <a:pt x="1066348" y="1051449"/>
                </a:lnTo>
                <a:lnTo>
                  <a:pt x="949130" y="911958"/>
                </a:lnTo>
                <a:lnTo>
                  <a:pt x="949127" y="911955"/>
                </a:lnTo>
                <a:lnTo>
                  <a:pt x="949121" y="911946"/>
                </a:lnTo>
                <a:lnTo>
                  <a:pt x="853748" y="755981"/>
                </a:lnTo>
                <a:lnTo>
                  <a:pt x="836499" y="723523"/>
                </a:lnTo>
                <a:lnTo>
                  <a:pt x="777256" y="588038"/>
                </a:lnTo>
                <a:lnTo>
                  <a:pt x="777253" y="588031"/>
                </a:lnTo>
                <a:lnTo>
                  <a:pt x="777252" y="588029"/>
                </a:lnTo>
                <a:lnTo>
                  <a:pt x="777256" y="588038"/>
                </a:lnTo>
                <a:lnTo>
                  <a:pt x="824927" y="701747"/>
                </a:lnTo>
                <a:lnTo>
                  <a:pt x="836499" y="723523"/>
                </a:lnTo>
                <a:lnTo>
                  <a:pt x="843023" y="738443"/>
                </a:lnTo>
                <a:lnTo>
                  <a:pt x="853748" y="755981"/>
                </a:lnTo>
                <a:lnTo>
                  <a:pt x="882405" y="809908"/>
                </a:lnTo>
                <a:lnTo>
                  <a:pt x="949121" y="911946"/>
                </a:lnTo>
                <a:lnTo>
                  <a:pt x="949126" y="911954"/>
                </a:lnTo>
                <a:lnTo>
                  <a:pt x="949130" y="911958"/>
                </a:lnTo>
                <a:lnTo>
                  <a:pt x="1024536" y="1007330"/>
                </a:lnTo>
                <a:lnTo>
                  <a:pt x="1066348" y="1051449"/>
                </a:lnTo>
                <a:lnTo>
                  <a:pt x="1079356" y="1066928"/>
                </a:lnTo>
                <a:lnTo>
                  <a:pt x="1089481" y="1075858"/>
                </a:lnTo>
                <a:lnTo>
                  <a:pt x="1108071" y="1095473"/>
                </a:lnTo>
                <a:cubicBezTo>
                  <a:pt x="1137209" y="1123586"/>
                  <a:pt x="1167607" y="1150401"/>
                  <a:pt x="1199173" y="1175824"/>
                </a:cubicBezTo>
                <a:lnTo>
                  <a:pt x="1220958" y="1191812"/>
                </a:lnTo>
                <a:lnTo>
                  <a:pt x="1231125" y="1200778"/>
                </a:lnTo>
                <a:lnTo>
                  <a:pt x="1248091" y="1211723"/>
                </a:lnTo>
                <a:lnTo>
                  <a:pt x="1297284" y="1247825"/>
                </a:lnTo>
                <a:cubicBezTo>
                  <a:pt x="1331094" y="1270372"/>
                  <a:pt x="1365978" y="1291434"/>
                  <a:pt x="1401844" y="1310917"/>
                </a:cubicBezTo>
                <a:lnTo>
                  <a:pt x="1405660" y="1312756"/>
                </a:lnTo>
                <a:lnTo>
                  <a:pt x="1405569" y="1313977"/>
                </a:lnTo>
                <a:cubicBezTo>
                  <a:pt x="1394265" y="1749206"/>
                  <a:pt x="1594304" y="2177483"/>
                  <a:pt x="1964288" y="2444312"/>
                </a:cubicBezTo>
                <a:lnTo>
                  <a:pt x="2052782" y="2501541"/>
                </a:lnTo>
                <a:lnTo>
                  <a:pt x="2025227" y="2519362"/>
                </a:lnTo>
                <a:cubicBezTo>
                  <a:pt x="1379532" y="2892154"/>
                  <a:pt x="553884" y="2670922"/>
                  <a:pt x="181092" y="2025227"/>
                </a:cubicBezTo>
                <a:cubicBezTo>
                  <a:pt x="-191700" y="1379533"/>
                  <a:pt x="29531" y="553884"/>
                  <a:pt x="675227" y="181093"/>
                </a:cubicBezTo>
                <a:lnTo>
                  <a:pt x="697643" y="169616"/>
                </a:lnTo>
                <a:lnTo>
                  <a:pt x="697644" y="169614"/>
                </a:lnTo>
                <a:lnTo>
                  <a:pt x="798248" y="118112"/>
                </a:lnTo>
                <a:cubicBezTo>
                  <a:pt x="964678" y="43312"/>
                  <a:pt x="1139881" y="4976"/>
                  <a:pt x="1313973" y="455"/>
                </a:cubicBezTo>
                <a:close/>
                <a:moveTo>
                  <a:pt x="1885717" y="317615"/>
                </a:moveTo>
                <a:lnTo>
                  <a:pt x="1745994" y="453318"/>
                </a:lnTo>
                <a:lnTo>
                  <a:pt x="1745994" y="453318"/>
                </a:lnTo>
                <a:lnTo>
                  <a:pt x="1745993" y="453319"/>
                </a:lnTo>
                <a:lnTo>
                  <a:pt x="1730726" y="472391"/>
                </a:lnTo>
                <a:lnTo>
                  <a:pt x="1745994" y="453318"/>
                </a:lnTo>
                <a:lnTo>
                  <a:pt x="1885717" y="317615"/>
                </a:lnTo>
                <a:close/>
              </a:path>
            </a:pathLst>
          </a:custGeom>
          <a:solidFill>
            <a:srgbClr val="0D8BB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sz="2400" dirty="0"/>
          </a:p>
        </p:txBody>
      </p:sp>
      <p:sp>
        <p:nvSpPr>
          <p:cNvPr id="95" name="文本框 94">
            <a:extLst>
              <a:ext uri="{FF2B5EF4-FFF2-40B4-BE49-F238E27FC236}">
                <a16:creationId xmlns:a16="http://schemas.microsoft.com/office/drawing/2014/main" id="{42C4D84C-A34E-F7F9-3526-9DBA811A1A91}"/>
              </a:ext>
            </a:extLst>
          </p:cNvPr>
          <p:cNvSpPr txBox="1"/>
          <p:nvPr/>
        </p:nvSpPr>
        <p:spPr>
          <a:xfrm>
            <a:off x="4441280" y="4339808"/>
            <a:ext cx="1107996" cy="461665"/>
          </a:xfrm>
          <a:prstGeom prst="rect">
            <a:avLst/>
          </a:prstGeom>
          <a:noFill/>
        </p:spPr>
        <p:txBody>
          <a:bodyPr wrap="none" rtlCol="0">
            <a:spAutoFit/>
          </a:bodyPr>
          <a:lstStyle/>
          <a:p>
            <a:pPr algn="ctr"/>
            <a:r>
              <a:rPr lang="zh-CN" altLang="en-US" sz="2400" dirty="0">
                <a:solidFill>
                  <a:schemeClr val="bg1"/>
                </a:solidFill>
              </a:rPr>
              <a:t>项目型</a:t>
            </a:r>
            <a:endParaRPr lang="en-US" altLang="zh-CN" sz="2400" dirty="0">
              <a:solidFill>
                <a:schemeClr val="bg1"/>
              </a:solidFill>
            </a:endParaRPr>
          </a:p>
        </p:txBody>
      </p:sp>
      <p:sp>
        <p:nvSpPr>
          <p:cNvPr id="96" name="文本框 95">
            <a:extLst>
              <a:ext uri="{FF2B5EF4-FFF2-40B4-BE49-F238E27FC236}">
                <a16:creationId xmlns:a16="http://schemas.microsoft.com/office/drawing/2014/main" id="{85B83C78-F0B1-04AD-2F2A-504CB090E30A}"/>
              </a:ext>
            </a:extLst>
          </p:cNvPr>
          <p:cNvSpPr txBox="1"/>
          <p:nvPr/>
        </p:nvSpPr>
        <p:spPr>
          <a:xfrm>
            <a:off x="6685623" y="4339808"/>
            <a:ext cx="1107996" cy="461665"/>
          </a:xfrm>
          <a:prstGeom prst="rect">
            <a:avLst/>
          </a:prstGeom>
          <a:noFill/>
        </p:spPr>
        <p:txBody>
          <a:bodyPr wrap="none" rtlCol="0">
            <a:spAutoFit/>
          </a:bodyPr>
          <a:lstStyle/>
          <a:p>
            <a:pPr algn="ctr"/>
            <a:r>
              <a:rPr lang="zh-CN" altLang="en-US" sz="2400" dirty="0">
                <a:solidFill>
                  <a:schemeClr val="bg1"/>
                </a:solidFill>
              </a:rPr>
              <a:t>矩阵型</a:t>
            </a:r>
          </a:p>
        </p:txBody>
      </p:sp>
      <p:sp>
        <p:nvSpPr>
          <p:cNvPr id="97" name="文本框 96">
            <a:extLst>
              <a:ext uri="{FF2B5EF4-FFF2-40B4-BE49-F238E27FC236}">
                <a16:creationId xmlns:a16="http://schemas.microsoft.com/office/drawing/2014/main" id="{F8C6027D-F89C-47B7-2277-D973FB805ECE}"/>
              </a:ext>
            </a:extLst>
          </p:cNvPr>
          <p:cNvSpPr txBox="1"/>
          <p:nvPr/>
        </p:nvSpPr>
        <p:spPr>
          <a:xfrm>
            <a:off x="5621597" y="2354909"/>
            <a:ext cx="1107996" cy="461665"/>
          </a:xfrm>
          <a:prstGeom prst="rect">
            <a:avLst/>
          </a:prstGeom>
          <a:noFill/>
        </p:spPr>
        <p:txBody>
          <a:bodyPr wrap="none" rtlCol="0">
            <a:spAutoFit/>
          </a:bodyPr>
          <a:lstStyle/>
          <a:p>
            <a:pPr algn="ctr"/>
            <a:r>
              <a:rPr lang="zh-CN" altLang="en-US" sz="2400" dirty="0">
                <a:solidFill>
                  <a:schemeClr val="bg1"/>
                </a:solidFill>
              </a:rPr>
              <a:t>职能型</a:t>
            </a:r>
            <a:endParaRPr lang="en-US" altLang="zh-CN" sz="2400" dirty="0">
              <a:solidFill>
                <a:schemeClr val="bg1"/>
              </a:solidFill>
            </a:endParaRPr>
          </a:p>
        </p:txBody>
      </p:sp>
      <p:sp>
        <p:nvSpPr>
          <p:cNvPr id="545" name="椭圆 544">
            <a:extLst>
              <a:ext uri="{FF2B5EF4-FFF2-40B4-BE49-F238E27FC236}">
                <a16:creationId xmlns:a16="http://schemas.microsoft.com/office/drawing/2014/main" id="{9B1FA7FD-E5EA-E912-E7BA-551A915CC30D}"/>
              </a:ext>
            </a:extLst>
          </p:cNvPr>
          <p:cNvSpPr/>
          <p:nvPr/>
        </p:nvSpPr>
        <p:spPr>
          <a:xfrm>
            <a:off x="5547750" y="3243181"/>
            <a:ext cx="1080000" cy="1080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Tree>
    <p:extLst>
      <p:ext uri="{BB962C8B-B14F-4D97-AF65-F5344CB8AC3E}">
        <p14:creationId xmlns:p14="http://schemas.microsoft.com/office/powerpoint/2010/main" val="254238074"/>
      </p:ext>
    </p:extLst>
  </p:cSld>
  <p:clrMapOvr>
    <a:masterClrMapping/>
  </p:clrMapOvr>
</p:sld>
</file>

<file path=ppt/slides/slide3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A92F3-63F4-3472-F4B1-7B5E7590536A}"/>
            </a:ext>
          </a:extLst>
        </p:cNvPr>
        <p:cNvGrpSpPr/>
        <p:nvPr/>
      </p:nvGrpSpPr>
      <p:grpSpPr>
        <a:xfrm>
          <a:off x="0" y="0"/>
          <a:ext cx="0" cy="0"/>
          <a:chOff x="0" y="0"/>
          <a:chExt cx="0" cy="0"/>
        </a:xfrm>
      </p:grpSpPr>
      <p:sp>
        <p:nvSpPr>
          <p:cNvPr id="11" name="标题 10">
            <a:extLst>
              <a:ext uri="{FF2B5EF4-FFF2-40B4-BE49-F238E27FC236}">
                <a16:creationId xmlns:a16="http://schemas.microsoft.com/office/drawing/2014/main" id="{64675EDF-7068-A08C-AD68-7EF02C4DF45F}"/>
              </a:ext>
            </a:extLst>
          </p:cNvPr>
          <p:cNvSpPr>
            <a:spLocks noGrp="1"/>
          </p:cNvSpPr>
          <p:nvPr>
            <p:ph type="title"/>
          </p:nvPr>
        </p:nvSpPr>
        <p:spPr>
          <a:xfrm>
            <a:off x="696000" y="360000"/>
            <a:ext cx="5400000" cy="429413"/>
          </a:xfrm>
        </p:spPr>
        <p:txBody>
          <a:bodyPr/>
          <a:lstStyle/>
          <a:p>
            <a:r>
              <a:rPr lang="en-US" altLang="zh-CN" dirty="0"/>
              <a:t>10.1.1 </a:t>
            </a:r>
            <a:r>
              <a:rPr lang="zh-CN" altLang="en-US" dirty="0"/>
              <a:t>职能型</a:t>
            </a:r>
          </a:p>
        </p:txBody>
      </p:sp>
      <p:sp>
        <p:nvSpPr>
          <p:cNvPr id="12" name="Text Box 43">
            <a:extLst>
              <a:ext uri="{FF2B5EF4-FFF2-40B4-BE49-F238E27FC236}">
                <a16:creationId xmlns:a16="http://schemas.microsoft.com/office/drawing/2014/main" id="{D76ED4B2-A696-912D-E121-760BB6E11338}"/>
              </a:ext>
            </a:extLst>
          </p:cNvPr>
          <p:cNvSpPr txBox="1">
            <a:spLocks noChangeArrowheads="1"/>
          </p:cNvSpPr>
          <p:nvPr/>
        </p:nvSpPr>
        <p:spPr bwMode="auto">
          <a:xfrm>
            <a:off x="5376000" y="2117824"/>
            <a:ext cx="144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总经理</a:t>
            </a:r>
          </a:p>
        </p:txBody>
      </p:sp>
      <p:sp>
        <p:nvSpPr>
          <p:cNvPr id="13" name="Text Box 43">
            <a:extLst>
              <a:ext uri="{FF2B5EF4-FFF2-40B4-BE49-F238E27FC236}">
                <a16:creationId xmlns:a16="http://schemas.microsoft.com/office/drawing/2014/main" id="{A855FABE-1149-40CE-4E33-38B76A819CE5}"/>
              </a:ext>
            </a:extLst>
          </p:cNvPr>
          <p:cNvSpPr txBox="1">
            <a:spLocks noChangeArrowheads="1"/>
          </p:cNvSpPr>
          <p:nvPr/>
        </p:nvSpPr>
        <p:spPr bwMode="auto">
          <a:xfrm>
            <a:off x="3036000" y="3068218"/>
            <a:ext cx="144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部门经理</a:t>
            </a:r>
          </a:p>
        </p:txBody>
      </p:sp>
      <p:sp>
        <p:nvSpPr>
          <p:cNvPr id="14" name="Text Box 43">
            <a:extLst>
              <a:ext uri="{FF2B5EF4-FFF2-40B4-BE49-F238E27FC236}">
                <a16:creationId xmlns:a16="http://schemas.microsoft.com/office/drawing/2014/main" id="{FF6BA54B-1C72-0B4F-BD23-58712B3FA659}"/>
              </a:ext>
            </a:extLst>
          </p:cNvPr>
          <p:cNvSpPr txBox="1">
            <a:spLocks noChangeArrowheads="1"/>
          </p:cNvSpPr>
          <p:nvPr/>
        </p:nvSpPr>
        <p:spPr bwMode="auto">
          <a:xfrm>
            <a:off x="5376000" y="3066303"/>
            <a:ext cx="144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部门经理</a:t>
            </a:r>
          </a:p>
        </p:txBody>
      </p:sp>
      <p:sp>
        <p:nvSpPr>
          <p:cNvPr id="15" name="Text Box 43">
            <a:extLst>
              <a:ext uri="{FF2B5EF4-FFF2-40B4-BE49-F238E27FC236}">
                <a16:creationId xmlns:a16="http://schemas.microsoft.com/office/drawing/2014/main" id="{94C6E6B6-B737-EABE-C296-6E2D26FFBC74}"/>
              </a:ext>
            </a:extLst>
          </p:cNvPr>
          <p:cNvSpPr txBox="1">
            <a:spLocks noChangeArrowheads="1"/>
          </p:cNvSpPr>
          <p:nvPr/>
        </p:nvSpPr>
        <p:spPr bwMode="auto">
          <a:xfrm>
            <a:off x="7716000" y="3066303"/>
            <a:ext cx="144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部门经理</a:t>
            </a:r>
          </a:p>
        </p:txBody>
      </p:sp>
      <p:sp>
        <p:nvSpPr>
          <p:cNvPr id="16" name="Text Box 43">
            <a:extLst>
              <a:ext uri="{FF2B5EF4-FFF2-40B4-BE49-F238E27FC236}">
                <a16:creationId xmlns:a16="http://schemas.microsoft.com/office/drawing/2014/main" id="{2688E61E-9C85-BDAB-3F97-40F298FB8E03}"/>
              </a:ext>
            </a:extLst>
          </p:cNvPr>
          <p:cNvSpPr txBox="1">
            <a:spLocks noChangeArrowheads="1"/>
          </p:cNvSpPr>
          <p:nvPr/>
        </p:nvSpPr>
        <p:spPr bwMode="auto">
          <a:xfrm>
            <a:off x="3756000" y="4226301"/>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17" name="Text Box 43">
            <a:extLst>
              <a:ext uri="{FF2B5EF4-FFF2-40B4-BE49-F238E27FC236}">
                <a16:creationId xmlns:a16="http://schemas.microsoft.com/office/drawing/2014/main" id="{F2932B11-1F13-8BD0-712C-E591B471523B}"/>
              </a:ext>
            </a:extLst>
          </p:cNvPr>
          <p:cNvSpPr txBox="1">
            <a:spLocks noChangeArrowheads="1"/>
          </p:cNvSpPr>
          <p:nvPr/>
        </p:nvSpPr>
        <p:spPr bwMode="auto">
          <a:xfrm>
            <a:off x="3756000" y="4712599"/>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18" name="Text Box 43">
            <a:extLst>
              <a:ext uri="{FF2B5EF4-FFF2-40B4-BE49-F238E27FC236}">
                <a16:creationId xmlns:a16="http://schemas.microsoft.com/office/drawing/2014/main" id="{9A010D82-FCAC-F193-60FE-198B06A1051A}"/>
              </a:ext>
            </a:extLst>
          </p:cNvPr>
          <p:cNvSpPr txBox="1">
            <a:spLocks noChangeArrowheads="1"/>
          </p:cNvSpPr>
          <p:nvPr/>
        </p:nvSpPr>
        <p:spPr bwMode="auto">
          <a:xfrm>
            <a:off x="3756000" y="5198897"/>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19" name="Text Box 43">
            <a:extLst>
              <a:ext uri="{FF2B5EF4-FFF2-40B4-BE49-F238E27FC236}">
                <a16:creationId xmlns:a16="http://schemas.microsoft.com/office/drawing/2014/main" id="{445BC6AD-63AA-FD82-709F-6CAEBE906567}"/>
              </a:ext>
            </a:extLst>
          </p:cNvPr>
          <p:cNvSpPr txBox="1">
            <a:spLocks noChangeArrowheads="1"/>
          </p:cNvSpPr>
          <p:nvPr/>
        </p:nvSpPr>
        <p:spPr bwMode="auto">
          <a:xfrm>
            <a:off x="3756000" y="5685196"/>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22" name="Text Box 43">
            <a:extLst>
              <a:ext uri="{FF2B5EF4-FFF2-40B4-BE49-F238E27FC236}">
                <a16:creationId xmlns:a16="http://schemas.microsoft.com/office/drawing/2014/main" id="{8F0E8514-C80D-DA95-1DFF-16C428257D60}"/>
              </a:ext>
            </a:extLst>
          </p:cNvPr>
          <p:cNvSpPr txBox="1">
            <a:spLocks noChangeArrowheads="1"/>
          </p:cNvSpPr>
          <p:nvPr/>
        </p:nvSpPr>
        <p:spPr bwMode="auto">
          <a:xfrm>
            <a:off x="6096000" y="4226301"/>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23" name="Text Box 43">
            <a:extLst>
              <a:ext uri="{FF2B5EF4-FFF2-40B4-BE49-F238E27FC236}">
                <a16:creationId xmlns:a16="http://schemas.microsoft.com/office/drawing/2014/main" id="{F1A94F88-4BAE-C540-ED97-A014504E1BF5}"/>
              </a:ext>
            </a:extLst>
          </p:cNvPr>
          <p:cNvSpPr txBox="1">
            <a:spLocks noChangeArrowheads="1"/>
          </p:cNvSpPr>
          <p:nvPr/>
        </p:nvSpPr>
        <p:spPr bwMode="auto">
          <a:xfrm>
            <a:off x="6096000" y="4712599"/>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24" name="Text Box 43">
            <a:extLst>
              <a:ext uri="{FF2B5EF4-FFF2-40B4-BE49-F238E27FC236}">
                <a16:creationId xmlns:a16="http://schemas.microsoft.com/office/drawing/2014/main" id="{CF1A533B-6C85-BA90-2C8A-459553FA0CA5}"/>
              </a:ext>
            </a:extLst>
          </p:cNvPr>
          <p:cNvSpPr txBox="1">
            <a:spLocks noChangeArrowheads="1"/>
          </p:cNvSpPr>
          <p:nvPr/>
        </p:nvSpPr>
        <p:spPr bwMode="auto">
          <a:xfrm>
            <a:off x="6096000" y="5198897"/>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25" name="Text Box 43">
            <a:extLst>
              <a:ext uri="{FF2B5EF4-FFF2-40B4-BE49-F238E27FC236}">
                <a16:creationId xmlns:a16="http://schemas.microsoft.com/office/drawing/2014/main" id="{0311737D-DEC7-04CD-6603-44FDBF2AD9EB}"/>
              </a:ext>
            </a:extLst>
          </p:cNvPr>
          <p:cNvSpPr txBox="1">
            <a:spLocks noChangeArrowheads="1"/>
          </p:cNvSpPr>
          <p:nvPr/>
        </p:nvSpPr>
        <p:spPr bwMode="auto">
          <a:xfrm>
            <a:off x="6096000" y="5685196"/>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27" name="Text Box 43">
            <a:extLst>
              <a:ext uri="{FF2B5EF4-FFF2-40B4-BE49-F238E27FC236}">
                <a16:creationId xmlns:a16="http://schemas.microsoft.com/office/drawing/2014/main" id="{8386EDFC-22BA-F293-4DFA-7391DC7A26B2}"/>
              </a:ext>
            </a:extLst>
          </p:cNvPr>
          <p:cNvSpPr txBox="1">
            <a:spLocks noChangeArrowheads="1"/>
          </p:cNvSpPr>
          <p:nvPr/>
        </p:nvSpPr>
        <p:spPr bwMode="auto">
          <a:xfrm>
            <a:off x="8563819" y="4226301"/>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28" name="Text Box 43">
            <a:extLst>
              <a:ext uri="{FF2B5EF4-FFF2-40B4-BE49-F238E27FC236}">
                <a16:creationId xmlns:a16="http://schemas.microsoft.com/office/drawing/2014/main" id="{28165D51-E032-D334-CB2A-A1F4AF2B210B}"/>
              </a:ext>
            </a:extLst>
          </p:cNvPr>
          <p:cNvSpPr txBox="1">
            <a:spLocks noChangeArrowheads="1"/>
          </p:cNvSpPr>
          <p:nvPr/>
        </p:nvSpPr>
        <p:spPr bwMode="auto">
          <a:xfrm>
            <a:off x="8563819" y="4712599"/>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29" name="Text Box 43">
            <a:extLst>
              <a:ext uri="{FF2B5EF4-FFF2-40B4-BE49-F238E27FC236}">
                <a16:creationId xmlns:a16="http://schemas.microsoft.com/office/drawing/2014/main" id="{726CF812-3242-5E28-E756-11FBA17245C0}"/>
              </a:ext>
            </a:extLst>
          </p:cNvPr>
          <p:cNvSpPr txBox="1">
            <a:spLocks noChangeArrowheads="1"/>
          </p:cNvSpPr>
          <p:nvPr/>
        </p:nvSpPr>
        <p:spPr bwMode="auto">
          <a:xfrm>
            <a:off x="8563819" y="5198897"/>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30" name="Text Box 43">
            <a:extLst>
              <a:ext uri="{FF2B5EF4-FFF2-40B4-BE49-F238E27FC236}">
                <a16:creationId xmlns:a16="http://schemas.microsoft.com/office/drawing/2014/main" id="{0BD122A5-D1CF-CE91-A231-A66F3A01B652}"/>
              </a:ext>
            </a:extLst>
          </p:cNvPr>
          <p:cNvSpPr txBox="1">
            <a:spLocks noChangeArrowheads="1"/>
          </p:cNvSpPr>
          <p:nvPr/>
        </p:nvSpPr>
        <p:spPr bwMode="auto">
          <a:xfrm>
            <a:off x="8563819" y="5685196"/>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cxnSp>
        <p:nvCxnSpPr>
          <p:cNvPr id="33" name="连接符: 肘形 32">
            <a:extLst>
              <a:ext uri="{FF2B5EF4-FFF2-40B4-BE49-F238E27FC236}">
                <a16:creationId xmlns:a16="http://schemas.microsoft.com/office/drawing/2014/main" id="{B52D42D1-BBD1-3493-A542-769F50FACE34}"/>
              </a:ext>
            </a:extLst>
          </p:cNvPr>
          <p:cNvCxnSpPr>
            <a:stCxn id="12" idx="2"/>
            <a:endCxn id="13" idx="0"/>
          </p:cNvCxnSpPr>
          <p:nvPr/>
        </p:nvCxnSpPr>
        <p:spPr>
          <a:xfrm rot="5400000">
            <a:off x="4666803" y="1639021"/>
            <a:ext cx="518394" cy="2340000"/>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5" name="连接符: 肘形 34">
            <a:extLst>
              <a:ext uri="{FF2B5EF4-FFF2-40B4-BE49-F238E27FC236}">
                <a16:creationId xmlns:a16="http://schemas.microsoft.com/office/drawing/2014/main" id="{ABCC87DD-78D2-A2B2-C558-49EF5072AA7E}"/>
              </a:ext>
            </a:extLst>
          </p:cNvPr>
          <p:cNvCxnSpPr>
            <a:stCxn id="15" idx="0"/>
            <a:endCxn id="12" idx="2"/>
          </p:cNvCxnSpPr>
          <p:nvPr/>
        </p:nvCxnSpPr>
        <p:spPr>
          <a:xfrm rot="16200000" flipV="1">
            <a:off x="7007761" y="1638064"/>
            <a:ext cx="516479" cy="2340000"/>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7" name="连接符: 肘形 36">
            <a:extLst>
              <a:ext uri="{FF2B5EF4-FFF2-40B4-BE49-F238E27FC236}">
                <a16:creationId xmlns:a16="http://schemas.microsoft.com/office/drawing/2014/main" id="{A8BC9333-F338-FEF6-9717-87638DF5EF9A}"/>
              </a:ext>
            </a:extLst>
          </p:cNvPr>
          <p:cNvCxnSpPr>
            <a:cxnSpLocks/>
            <a:endCxn id="19" idx="1"/>
          </p:cNvCxnSpPr>
          <p:nvPr/>
        </p:nvCxnSpPr>
        <p:spPr>
          <a:xfrm rot="16200000" flipH="1">
            <a:off x="2276754" y="4421949"/>
            <a:ext cx="2402893" cy="555600"/>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0" name="连接符: 肘形 39">
            <a:extLst>
              <a:ext uri="{FF2B5EF4-FFF2-40B4-BE49-F238E27FC236}">
                <a16:creationId xmlns:a16="http://schemas.microsoft.com/office/drawing/2014/main" id="{9110FB1D-DEE1-679C-EFEA-2518B59E3553}"/>
              </a:ext>
            </a:extLst>
          </p:cNvPr>
          <p:cNvCxnSpPr>
            <a:stCxn id="18" idx="1"/>
          </p:cNvCxnSpPr>
          <p:nvPr/>
        </p:nvCxnSpPr>
        <p:spPr>
          <a:xfrm rot="10800000">
            <a:off x="3200400" y="3950075"/>
            <a:ext cx="555600" cy="1464823"/>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2" name="连接符: 肘形 41">
            <a:extLst>
              <a:ext uri="{FF2B5EF4-FFF2-40B4-BE49-F238E27FC236}">
                <a16:creationId xmlns:a16="http://schemas.microsoft.com/office/drawing/2014/main" id="{ED45FAEC-640E-C3FF-6C73-334DF7696930}"/>
              </a:ext>
            </a:extLst>
          </p:cNvPr>
          <p:cNvCxnSpPr>
            <a:stCxn id="17" idx="1"/>
          </p:cNvCxnSpPr>
          <p:nvPr/>
        </p:nvCxnSpPr>
        <p:spPr>
          <a:xfrm rot="10800000">
            <a:off x="3200400" y="3950075"/>
            <a:ext cx="555601" cy="978524"/>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4" name="连接符: 肘形 43">
            <a:extLst>
              <a:ext uri="{FF2B5EF4-FFF2-40B4-BE49-F238E27FC236}">
                <a16:creationId xmlns:a16="http://schemas.microsoft.com/office/drawing/2014/main" id="{AF17196F-1E41-6FFD-CB20-C4A773AD1F52}"/>
              </a:ext>
            </a:extLst>
          </p:cNvPr>
          <p:cNvCxnSpPr>
            <a:stCxn id="16" idx="1"/>
          </p:cNvCxnSpPr>
          <p:nvPr/>
        </p:nvCxnSpPr>
        <p:spPr>
          <a:xfrm rot="10800000">
            <a:off x="3200400" y="3788149"/>
            <a:ext cx="555601" cy="654152"/>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6" name="连接符: 肘形 45">
            <a:extLst>
              <a:ext uri="{FF2B5EF4-FFF2-40B4-BE49-F238E27FC236}">
                <a16:creationId xmlns:a16="http://schemas.microsoft.com/office/drawing/2014/main" id="{53820C0E-0BB2-0B10-C5E8-CCC8D8A00810}"/>
              </a:ext>
            </a:extLst>
          </p:cNvPr>
          <p:cNvCxnSpPr>
            <a:cxnSpLocks/>
            <a:stCxn id="22" idx="1"/>
          </p:cNvCxnSpPr>
          <p:nvPr/>
        </p:nvCxnSpPr>
        <p:spPr>
          <a:xfrm rot="10800000">
            <a:off x="5581650" y="3498303"/>
            <a:ext cx="514350" cy="943999"/>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9" name="连接符: 肘形 48">
            <a:extLst>
              <a:ext uri="{FF2B5EF4-FFF2-40B4-BE49-F238E27FC236}">
                <a16:creationId xmlns:a16="http://schemas.microsoft.com/office/drawing/2014/main" id="{BAA9073C-999E-A50C-9A0B-F588844D7888}"/>
              </a:ext>
            </a:extLst>
          </p:cNvPr>
          <p:cNvCxnSpPr>
            <a:stCxn id="23" idx="1"/>
          </p:cNvCxnSpPr>
          <p:nvPr/>
        </p:nvCxnSpPr>
        <p:spPr>
          <a:xfrm rot="10800000">
            <a:off x="5581650" y="4235825"/>
            <a:ext cx="514350" cy="692775"/>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1" name="连接符: 肘形 50">
            <a:extLst>
              <a:ext uri="{FF2B5EF4-FFF2-40B4-BE49-F238E27FC236}">
                <a16:creationId xmlns:a16="http://schemas.microsoft.com/office/drawing/2014/main" id="{54529986-B8A6-59A5-2CCD-41FA52BC839D}"/>
              </a:ext>
            </a:extLst>
          </p:cNvPr>
          <p:cNvCxnSpPr>
            <a:stCxn id="24" idx="1"/>
          </p:cNvCxnSpPr>
          <p:nvPr/>
        </p:nvCxnSpPr>
        <p:spPr>
          <a:xfrm rot="10800000">
            <a:off x="5581650" y="4712599"/>
            <a:ext cx="514351" cy="702298"/>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3" name="连接符: 肘形 52">
            <a:extLst>
              <a:ext uri="{FF2B5EF4-FFF2-40B4-BE49-F238E27FC236}">
                <a16:creationId xmlns:a16="http://schemas.microsoft.com/office/drawing/2014/main" id="{ED0C71B1-5C48-20CF-DF8F-3175E6A16754}"/>
              </a:ext>
            </a:extLst>
          </p:cNvPr>
          <p:cNvCxnSpPr>
            <a:stCxn id="25" idx="1"/>
          </p:cNvCxnSpPr>
          <p:nvPr/>
        </p:nvCxnSpPr>
        <p:spPr>
          <a:xfrm rot="10800000">
            <a:off x="5581650" y="5198898"/>
            <a:ext cx="514351" cy="702299"/>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5" name="连接符: 肘形 54">
            <a:extLst>
              <a:ext uri="{FF2B5EF4-FFF2-40B4-BE49-F238E27FC236}">
                <a16:creationId xmlns:a16="http://schemas.microsoft.com/office/drawing/2014/main" id="{9A3F0478-CDCE-23F4-4722-721FE3EE701D}"/>
              </a:ext>
            </a:extLst>
          </p:cNvPr>
          <p:cNvCxnSpPr>
            <a:stCxn id="27" idx="1"/>
          </p:cNvCxnSpPr>
          <p:nvPr/>
        </p:nvCxnSpPr>
        <p:spPr>
          <a:xfrm rot="10800000">
            <a:off x="7943851" y="3498303"/>
            <a:ext cx="619969" cy="943999"/>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7" name="连接符: 肘形 56">
            <a:extLst>
              <a:ext uri="{FF2B5EF4-FFF2-40B4-BE49-F238E27FC236}">
                <a16:creationId xmlns:a16="http://schemas.microsoft.com/office/drawing/2014/main" id="{42883EBA-83FD-4EDD-6934-9E3A2EEA8AE6}"/>
              </a:ext>
            </a:extLst>
          </p:cNvPr>
          <p:cNvCxnSpPr>
            <a:stCxn id="28" idx="1"/>
          </p:cNvCxnSpPr>
          <p:nvPr/>
        </p:nvCxnSpPr>
        <p:spPr>
          <a:xfrm rot="10800000">
            <a:off x="7943851" y="4235825"/>
            <a:ext cx="619968" cy="692775"/>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9" name="连接符: 肘形 58">
            <a:extLst>
              <a:ext uri="{FF2B5EF4-FFF2-40B4-BE49-F238E27FC236}">
                <a16:creationId xmlns:a16="http://schemas.microsoft.com/office/drawing/2014/main" id="{B50F4E25-DEE6-A432-1F2F-21CE09FE7795}"/>
              </a:ext>
            </a:extLst>
          </p:cNvPr>
          <p:cNvCxnSpPr>
            <a:stCxn id="29" idx="1"/>
          </p:cNvCxnSpPr>
          <p:nvPr/>
        </p:nvCxnSpPr>
        <p:spPr>
          <a:xfrm rot="10800000">
            <a:off x="7943851" y="4712599"/>
            <a:ext cx="619968" cy="702298"/>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1" name="连接符: 肘形 60">
            <a:extLst>
              <a:ext uri="{FF2B5EF4-FFF2-40B4-BE49-F238E27FC236}">
                <a16:creationId xmlns:a16="http://schemas.microsoft.com/office/drawing/2014/main" id="{9177064A-BE86-B879-4527-A45F1FADD5D6}"/>
              </a:ext>
            </a:extLst>
          </p:cNvPr>
          <p:cNvCxnSpPr>
            <a:stCxn id="30" idx="1"/>
          </p:cNvCxnSpPr>
          <p:nvPr/>
        </p:nvCxnSpPr>
        <p:spPr>
          <a:xfrm rot="10800000">
            <a:off x="7943851" y="5198898"/>
            <a:ext cx="619968" cy="702299"/>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62" name="矩形 61">
            <a:extLst>
              <a:ext uri="{FF2B5EF4-FFF2-40B4-BE49-F238E27FC236}">
                <a16:creationId xmlns:a16="http://schemas.microsoft.com/office/drawing/2014/main" id="{3B704F26-160A-F1DF-E1A9-14E371FA9E54}"/>
              </a:ext>
            </a:extLst>
          </p:cNvPr>
          <p:cNvSpPr/>
          <p:nvPr/>
        </p:nvSpPr>
        <p:spPr>
          <a:xfrm>
            <a:off x="2496000" y="2700309"/>
            <a:ext cx="7200000" cy="943999"/>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useBgFill="1">
        <p:nvSpPr>
          <p:cNvPr id="63" name="文本框 62">
            <a:extLst>
              <a:ext uri="{FF2B5EF4-FFF2-40B4-BE49-F238E27FC236}">
                <a16:creationId xmlns:a16="http://schemas.microsoft.com/office/drawing/2014/main" id="{D9F1147C-8F94-2031-9B67-3FB0D7D5D36B}"/>
              </a:ext>
            </a:extLst>
          </p:cNvPr>
          <p:cNvSpPr txBox="1"/>
          <p:nvPr/>
        </p:nvSpPr>
        <p:spPr>
          <a:xfrm>
            <a:off x="8644223" y="2521330"/>
            <a:ext cx="800219" cy="276999"/>
          </a:xfrm>
          <a:prstGeom prst="rect">
            <a:avLst/>
          </a:prstGeom>
          <a:ln>
            <a:noFill/>
          </a:ln>
        </p:spPr>
        <p:txBody>
          <a:bodyPr wrap="none" rtlCol="0">
            <a:spAutoFit/>
          </a:bodyPr>
          <a:lstStyle/>
          <a:p>
            <a:pPr algn="l"/>
            <a:r>
              <a:rPr lang="zh-CN" altLang="en-US" sz="1200" dirty="0"/>
              <a:t>项目协调</a:t>
            </a:r>
          </a:p>
        </p:txBody>
      </p:sp>
      <p:sp>
        <p:nvSpPr>
          <p:cNvPr id="36" name="文本框 35">
            <a:extLst>
              <a:ext uri="{FF2B5EF4-FFF2-40B4-BE49-F238E27FC236}">
                <a16:creationId xmlns:a16="http://schemas.microsoft.com/office/drawing/2014/main" id="{5F520BDF-2D52-F7A0-2F24-9762169B803A}"/>
              </a:ext>
            </a:extLst>
          </p:cNvPr>
          <p:cNvSpPr txBox="1"/>
          <p:nvPr/>
        </p:nvSpPr>
        <p:spPr>
          <a:xfrm>
            <a:off x="695325" y="926684"/>
            <a:ext cx="3672800" cy="830997"/>
          </a:xfrm>
          <a:prstGeom prst="rect">
            <a:avLst/>
          </a:prstGeom>
          <a:noFill/>
        </p:spPr>
        <p:txBody>
          <a:bodyPr wrap="none" rtlCol="0">
            <a:spAutoFit/>
          </a:bodyPr>
          <a:lstStyle/>
          <a:p>
            <a:pPr algn="l"/>
            <a:r>
              <a:rPr lang="zh-CN" altLang="en-US" sz="1600" dirty="0"/>
              <a:t>项目由一个或多个职能部门承担</a:t>
            </a:r>
            <a:endParaRPr lang="en-US" altLang="zh-CN" sz="1600" dirty="0"/>
          </a:p>
          <a:p>
            <a:pPr algn="l"/>
            <a:r>
              <a:rPr lang="zh-CN" altLang="en-US" sz="1600" dirty="0"/>
              <a:t>一个职能部门可以对接一个或多个项目</a:t>
            </a:r>
            <a:endParaRPr lang="en-US" altLang="zh-CN" sz="1600" dirty="0"/>
          </a:p>
          <a:p>
            <a:pPr algn="l"/>
            <a:r>
              <a:rPr lang="zh-CN" altLang="en-US" sz="1600" dirty="0"/>
              <a:t>部门经理主抓项目</a:t>
            </a:r>
          </a:p>
        </p:txBody>
      </p:sp>
      <p:sp>
        <p:nvSpPr>
          <p:cNvPr id="39" name="任意多边形: 形状 38">
            <a:extLst>
              <a:ext uri="{FF2B5EF4-FFF2-40B4-BE49-F238E27FC236}">
                <a16:creationId xmlns:a16="http://schemas.microsoft.com/office/drawing/2014/main" id="{D31DC1FE-640C-2162-D072-D9240543E73F}"/>
              </a:ext>
            </a:extLst>
          </p:cNvPr>
          <p:cNvSpPr/>
          <p:nvPr/>
        </p:nvSpPr>
        <p:spPr>
          <a:xfrm>
            <a:off x="0" y="2169361"/>
            <a:ext cx="403193" cy="540000"/>
          </a:xfrm>
          <a:custGeom>
            <a:avLst/>
            <a:gdLst>
              <a:gd name="csX0" fmla="*/ 133193 w 403193"/>
              <a:gd name="csY0" fmla="*/ 0 h 540000"/>
              <a:gd name="csX1" fmla="*/ 403193 w 403193"/>
              <a:gd name="csY1" fmla="*/ 270000 h 540000"/>
              <a:gd name="csX2" fmla="*/ 133193 w 403193"/>
              <a:gd name="csY2" fmla="*/ 540000 h 540000"/>
              <a:gd name="csX3" fmla="*/ 28097 w 403193"/>
              <a:gd name="csY3" fmla="*/ 518782 h 540000"/>
              <a:gd name="csX4" fmla="*/ 0 w 403193"/>
              <a:gd name="csY4" fmla="*/ 503532 h 540000"/>
              <a:gd name="csX5" fmla="*/ 0 w 403193"/>
              <a:gd name="csY5" fmla="*/ 36468 h 540000"/>
              <a:gd name="csX6" fmla="*/ 28097 w 403193"/>
              <a:gd name="csY6" fmla="*/ 21218 h 540000"/>
              <a:gd name="csX7" fmla="*/ 133193 w 403193"/>
              <a:gd name="csY7" fmla="*/ 0 h 54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03193" h="540000">
                <a:moveTo>
                  <a:pt x="133193" y="0"/>
                </a:moveTo>
                <a:cubicBezTo>
                  <a:pt x="282310" y="0"/>
                  <a:pt x="403193" y="120883"/>
                  <a:pt x="403193" y="270000"/>
                </a:cubicBezTo>
                <a:cubicBezTo>
                  <a:pt x="403193" y="419117"/>
                  <a:pt x="282310" y="540000"/>
                  <a:pt x="133193" y="540000"/>
                </a:cubicBezTo>
                <a:cubicBezTo>
                  <a:pt x="95914" y="540000"/>
                  <a:pt x="60399" y="532445"/>
                  <a:pt x="28097" y="518782"/>
                </a:cubicBezTo>
                <a:lnTo>
                  <a:pt x="0" y="503532"/>
                </a:lnTo>
                <a:lnTo>
                  <a:pt x="0" y="36468"/>
                </a:lnTo>
                <a:lnTo>
                  <a:pt x="28097" y="21218"/>
                </a:lnTo>
                <a:cubicBezTo>
                  <a:pt x="60399" y="7555"/>
                  <a:pt x="95914" y="0"/>
                  <a:pt x="133193" y="0"/>
                </a:cubicBezTo>
                <a:close/>
              </a:path>
            </a:pathLst>
          </a:custGeom>
          <a:solidFill>
            <a:srgbClr val="0D8BB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bg1"/>
                </a:solidFill>
              </a:rPr>
              <a:t>01</a:t>
            </a:r>
            <a:endParaRPr lang="zh-CN" altLang="en-US" sz="1400" dirty="0">
              <a:solidFill>
                <a:schemeClr val="bg1"/>
              </a:solidFill>
            </a:endParaRPr>
          </a:p>
        </p:txBody>
      </p:sp>
      <p:sp>
        <p:nvSpPr>
          <p:cNvPr id="41" name="文本框 40">
            <a:extLst>
              <a:ext uri="{FF2B5EF4-FFF2-40B4-BE49-F238E27FC236}">
                <a16:creationId xmlns:a16="http://schemas.microsoft.com/office/drawing/2014/main" id="{EFC4FD2F-061E-8118-D6D1-FFAF4FC6DBB3}"/>
              </a:ext>
            </a:extLst>
          </p:cNvPr>
          <p:cNvSpPr txBox="1"/>
          <p:nvPr/>
        </p:nvSpPr>
        <p:spPr>
          <a:xfrm>
            <a:off x="365610" y="2270084"/>
            <a:ext cx="1005403" cy="338554"/>
          </a:xfrm>
          <a:prstGeom prst="rect">
            <a:avLst/>
          </a:prstGeom>
          <a:noFill/>
        </p:spPr>
        <p:txBody>
          <a:bodyPr wrap="none" rtlCol="0">
            <a:spAutoFit/>
          </a:bodyPr>
          <a:lstStyle/>
          <a:p>
            <a:pPr algn="l"/>
            <a:r>
              <a:rPr lang="zh-CN" altLang="en-US" sz="1600" dirty="0"/>
              <a:t>资源共享</a:t>
            </a:r>
          </a:p>
        </p:txBody>
      </p:sp>
      <p:sp>
        <p:nvSpPr>
          <p:cNvPr id="50" name="任意多边形: 形状 49">
            <a:extLst>
              <a:ext uri="{FF2B5EF4-FFF2-40B4-BE49-F238E27FC236}">
                <a16:creationId xmlns:a16="http://schemas.microsoft.com/office/drawing/2014/main" id="{88A161BC-C0B3-DC3A-6FB1-5A4084F94486}"/>
              </a:ext>
            </a:extLst>
          </p:cNvPr>
          <p:cNvSpPr/>
          <p:nvPr/>
        </p:nvSpPr>
        <p:spPr>
          <a:xfrm>
            <a:off x="0" y="2851781"/>
            <a:ext cx="403193" cy="540000"/>
          </a:xfrm>
          <a:custGeom>
            <a:avLst/>
            <a:gdLst>
              <a:gd name="csX0" fmla="*/ 133193 w 403193"/>
              <a:gd name="csY0" fmla="*/ 0 h 540000"/>
              <a:gd name="csX1" fmla="*/ 403193 w 403193"/>
              <a:gd name="csY1" fmla="*/ 270000 h 540000"/>
              <a:gd name="csX2" fmla="*/ 133193 w 403193"/>
              <a:gd name="csY2" fmla="*/ 540000 h 540000"/>
              <a:gd name="csX3" fmla="*/ 28097 w 403193"/>
              <a:gd name="csY3" fmla="*/ 518782 h 540000"/>
              <a:gd name="csX4" fmla="*/ 0 w 403193"/>
              <a:gd name="csY4" fmla="*/ 503532 h 540000"/>
              <a:gd name="csX5" fmla="*/ 0 w 403193"/>
              <a:gd name="csY5" fmla="*/ 36468 h 540000"/>
              <a:gd name="csX6" fmla="*/ 28097 w 403193"/>
              <a:gd name="csY6" fmla="*/ 21218 h 540000"/>
              <a:gd name="csX7" fmla="*/ 133193 w 403193"/>
              <a:gd name="csY7" fmla="*/ 0 h 54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03193" h="540000">
                <a:moveTo>
                  <a:pt x="133193" y="0"/>
                </a:moveTo>
                <a:cubicBezTo>
                  <a:pt x="282310" y="0"/>
                  <a:pt x="403193" y="120883"/>
                  <a:pt x="403193" y="270000"/>
                </a:cubicBezTo>
                <a:cubicBezTo>
                  <a:pt x="403193" y="419117"/>
                  <a:pt x="282310" y="540000"/>
                  <a:pt x="133193" y="540000"/>
                </a:cubicBezTo>
                <a:cubicBezTo>
                  <a:pt x="95914" y="540000"/>
                  <a:pt x="60399" y="532445"/>
                  <a:pt x="28097" y="518782"/>
                </a:cubicBezTo>
                <a:lnTo>
                  <a:pt x="0" y="503532"/>
                </a:lnTo>
                <a:lnTo>
                  <a:pt x="0" y="36468"/>
                </a:lnTo>
                <a:lnTo>
                  <a:pt x="28097" y="21218"/>
                </a:lnTo>
                <a:cubicBezTo>
                  <a:pt x="60399" y="7555"/>
                  <a:pt x="95914" y="0"/>
                  <a:pt x="133193" y="0"/>
                </a:cubicBezTo>
                <a:close/>
              </a:path>
            </a:pathLst>
          </a:custGeom>
          <a:solidFill>
            <a:srgbClr val="0D8BB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bg1"/>
                </a:solidFill>
              </a:rPr>
              <a:t>02</a:t>
            </a:r>
            <a:endParaRPr lang="zh-CN" altLang="en-US" sz="1400" dirty="0">
              <a:solidFill>
                <a:schemeClr val="bg1"/>
              </a:solidFill>
            </a:endParaRPr>
          </a:p>
        </p:txBody>
      </p:sp>
      <p:sp>
        <p:nvSpPr>
          <p:cNvPr id="52" name="文本框 51">
            <a:extLst>
              <a:ext uri="{FF2B5EF4-FFF2-40B4-BE49-F238E27FC236}">
                <a16:creationId xmlns:a16="http://schemas.microsoft.com/office/drawing/2014/main" id="{24594CC4-E7E6-76E0-EC06-18A829CFF9B0}"/>
              </a:ext>
            </a:extLst>
          </p:cNvPr>
          <p:cNvSpPr txBox="1"/>
          <p:nvPr/>
        </p:nvSpPr>
        <p:spPr>
          <a:xfrm>
            <a:off x="365610" y="2952504"/>
            <a:ext cx="1620957" cy="338554"/>
          </a:xfrm>
          <a:prstGeom prst="rect">
            <a:avLst/>
          </a:prstGeom>
          <a:noFill/>
        </p:spPr>
        <p:txBody>
          <a:bodyPr wrap="none" rtlCol="0">
            <a:spAutoFit/>
          </a:bodyPr>
          <a:lstStyle/>
          <a:p>
            <a:pPr algn="l"/>
            <a:r>
              <a:rPr lang="zh-CN" altLang="en-US" sz="1600" dirty="0"/>
              <a:t>工学矛盾冲突小</a:t>
            </a:r>
          </a:p>
        </p:txBody>
      </p:sp>
      <p:sp>
        <p:nvSpPr>
          <p:cNvPr id="64" name="任意多边形: 形状 63">
            <a:extLst>
              <a:ext uri="{FF2B5EF4-FFF2-40B4-BE49-F238E27FC236}">
                <a16:creationId xmlns:a16="http://schemas.microsoft.com/office/drawing/2014/main" id="{77073A6F-6492-8D47-AF8E-278F2682FE10}"/>
              </a:ext>
            </a:extLst>
          </p:cNvPr>
          <p:cNvSpPr/>
          <p:nvPr/>
        </p:nvSpPr>
        <p:spPr>
          <a:xfrm>
            <a:off x="11788587" y="2169361"/>
            <a:ext cx="403413" cy="540000"/>
          </a:xfrm>
          <a:custGeom>
            <a:avLst/>
            <a:gdLst>
              <a:gd name="csX0" fmla="*/ 270000 w 403413"/>
              <a:gd name="csY0" fmla="*/ 0 h 540000"/>
              <a:gd name="csX1" fmla="*/ 375096 w 403413"/>
              <a:gd name="csY1" fmla="*/ 21218 h 540000"/>
              <a:gd name="csX2" fmla="*/ 403413 w 403413"/>
              <a:gd name="csY2" fmla="*/ 36588 h 540000"/>
              <a:gd name="csX3" fmla="*/ 403413 w 403413"/>
              <a:gd name="csY3" fmla="*/ 503413 h 540000"/>
              <a:gd name="csX4" fmla="*/ 375096 w 403413"/>
              <a:gd name="csY4" fmla="*/ 518782 h 540000"/>
              <a:gd name="csX5" fmla="*/ 270000 w 403413"/>
              <a:gd name="csY5" fmla="*/ 540000 h 540000"/>
              <a:gd name="csX6" fmla="*/ 0 w 403413"/>
              <a:gd name="csY6" fmla="*/ 270000 h 540000"/>
              <a:gd name="csX7" fmla="*/ 270000 w 403413"/>
              <a:gd name="csY7" fmla="*/ 0 h 54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03413" h="540000">
                <a:moveTo>
                  <a:pt x="270000" y="0"/>
                </a:moveTo>
                <a:cubicBezTo>
                  <a:pt x="307279" y="0"/>
                  <a:pt x="342794" y="7555"/>
                  <a:pt x="375096" y="21218"/>
                </a:cubicBezTo>
                <a:lnTo>
                  <a:pt x="403413" y="36588"/>
                </a:lnTo>
                <a:lnTo>
                  <a:pt x="403413" y="503413"/>
                </a:lnTo>
                <a:lnTo>
                  <a:pt x="375096" y="518782"/>
                </a:lnTo>
                <a:cubicBezTo>
                  <a:pt x="342794" y="532445"/>
                  <a:pt x="307279" y="540000"/>
                  <a:pt x="270000" y="540000"/>
                </a:cubicBezTo>
                <a:cubicBezTo>
                  <a:pt x="120883" y="540000"/>
                  <a:pt x="0" y="419117"/>
                  <a:pt x="0" y="270000"/>
                </a:cubicBezTo>
                <a:cubicBezTo>
                  <a:pt x="0" y="120883"/>
                  <a:pt x="120883" y="0"/>
                  <a:pt x="270000" y="0"/>
                </a:cubicBezTo>
                <a:close/>
              </a:path>
            </a:pathLst>
          </a:custGeom>
          <a:solidFill>
            <a:srgbClr val="BF014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bg1"/>
                </a:solidFill>
              </a:rPr>
              <a:t>01</a:t>
            </a:r>
            <a:endParaRPr lang="zh-CN" altLang="en-US" sz="1400" dirty="0">
              <a:solidFill>
                <a:schemeClr val="bg1"/>
              </a:solidFill>
            </a:endParaRPr>
          </a:p>
        </p:txBody>
      </p:sp>
      <p:sp>
        <p:nvSpPr>
          <p:cNvPr id="65" name="文本框 64">
            <a:extLst>
              <a:ext uri="{FF2B5EF4-FFF2-40B4-BE49-F238E27FC236}">
                <a16:creationId xmlns:a16="http://schemas.microsoft.com/office/drawing/2014/main" id="{E54B2E3B-511E-CEB4-9F6C-EBCC861ED27C}"/>
              </a:ext>
            </a:extLst>
          </p:cNvPr>
          <p:cNvSpPr txBox="1"/>
          <p:nvPr/>
        </p:nvSpPr>
        <p:spPr>
          <a:xfrm>
            <a:off x="10577999" y="2270084"/>
            <a:ext cx="1210588" cy="338554"/>
          </a:xfrm>
          <a:prstGeom prst="rect">
            <a:avLst/>
          </a:prstGeom>
          <a:noFill/>
        </p:spPr>
        <p:txBody>
          <a:bodyPr wrap="none" rtlCol="0">
            <a:spAutoFit/>
          </a:bodyPr>
          <a:lstStyle/>
          <a:p>
            <a:pPr algn="r"/>
            <a:r>
              <a:rPr lang="zh-CN" altLang="en-US" sz="1600" dirty="0"/>
              <a:t>有效沟通差</a:t>
            </a:r>
          </a:p>
        </p:txBody>
      </p:sp>
      <p:sp>
        <p:nvSpPr>
          <p:cNvPr id="67" name="任意多边形: 形状 66">
            <a:extLst>
              <a:ext uri="{FF2B5EF4-FFF2-40B4-BE49-F238E27FC236}">
                <a16:creationId xmlns:a16="http://schemas.microsoft.com/office/drawing/2014/main" id="{E1906C00-0225-1D2D-D586-A46385C5FA95}"/>
              </a:ext>
            </a:extLst>
          </p:cNvPr>
          <p:cNvSpPr/>
          <p:nvPr/>
        </p:nvSpPr>
        <p:spPr>
          <a:xfrm>
            <a:off x="11788587" y="2851781"/>
            <a:ext cx="403413" cy="540000"/>
          </a:xfrm>
          <a:custGeom>
            <a:avLst/>
            <a:gdLst>
              <a:gd name="csX0" fmla="*/ 270000 w 403413"/>
              <a:gd name="csY0" fmla="*/ 0 h 540000"/>
              <a:gd name="csX1" fmla="*/ 375096 w 403413"/>
              <a:gd name="csY1" fmla="*/ 21218 h 540000"/>
              <a:gd name="csX2" fmla="*/ 403413 w 403413"/>
              <a:gd name="csY2" fmla="*/ 36588 h 540000"/>
              <a:gd name="csX3" fmla="*/ 403413 w 403413"/>
              <a:gd name="csY3" fmla="*/ 503413 h 540000"/>
              <a:gd name="csX4" fmla="*/ 375096 w 403413"/>
              <a:gd name="csY4" fmla="*/ 518782 h 540000"/>
              <a:gd name="csX5" fmla="*/ 270000 w 403413"/>
              <a:gd name="csY5" fmla="*/ 540000 h 540000"/>
              <a:gd name="csX6" fmla="*/ 0 w 403413"/>
              <a:gd name="csY6" fmla="*/ 270000 h 540000"/>
              <a:gd name="csX7" fmla="*/ 270000 w 403413"/>
              <a:gd name="csY7" fmla="*/ 0 h 54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03413" h="540000">
                <a:moveTo>
                  <a:pt x="270000" y="0"/>
                </a:moveTo>
                <a:cubicBezTo>
                  <a:pt x="307279" y="0"/>
                  <a:pt x="342794" y="7555"/>
                  <a:pt x="375096" y="21218"/>
                </a:cubicBezTo>
                <a:lnTo>
                  <a:pt x="403413" y="36588"/>
                </a:lnTo>
                <a:lnTo>
                  <a:pt x="403413" y="503413"/>
                </a:lnTo>
                <a:lnTo>
                  <a:pt x="375096" y="518782"/>
                </a:lnTo>
                <a:cubicBezTo>
                  <a:pt x="342794" y="532445"/>
                  <a:pt x="307279" y="540000"/>
                  <a:pt x="270000" y="540000"/>
                </a:cubicBezTo>
                <a:cubicBezTo>
                  <a:pt x="120883" y="540000"/>
                  <a:pt x="0" y="419117"/>
                  <a:pt x="0" y="270000"/>
                </a:cubicBezTo>
                <a:cubicBezTo>
                  <a:pt x="0" y="120883"/>
                  <a:pt x="120883" y="0"/>
                  <a:pt x="270000" y="0"/>
                </a:cubicBezTo>
                <a:close/>
              </a:path>
            </a:pathLst>
          </a:custGeom>
          <a:solidFill>
            <a:srgbClr val="BF014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bg1"/>
                </a:solidFill>
              </a:rPr>
              <a:t>02</a:t>
            </a:r>
            <a:endParaRPr lang="zh-CN" altLang="en-US" sz="1400" dirty="0">
              <a:solidFill>
                <a:schemeClr val="bg1"/>
              </a:solidFill>
            </a:endParaRPr>
          </a:p>
        </p:txBody>
      </p:sp>
      <p:sp>
        <p:nvSpPr>
          <p:cNvPr id="68" name="文本框 67">
            <a:extLst>
              <a:ext uri="{FF2B5EF4-FFF2-40B4-BE49-F238E27FC236}">
                <a16:creationId xmlns:a16="http://schemas.microsoft.com/office/drawing/2014/main" id="{5FE68C95-D953-5917-2E61-56798541D5D7}"/>
              </a:ext>
            </a:extLst>
          </p:cNvPr>
          <p:cNvSpPr txBox="1"/>
          <p:nvPr/>
        </p:nvSpPr>
        <p:spPr>
          <a:xfrm>
            <a:off x="10372815" y="2952504"/>
            <a:ext cx="1415772" cy="338554"/>
          </a:xfrm>
          <a:prstGeom prst="rect">
            <a:avLst/>
          </a:prstGeom>
          <a:noFill/>
        </p:spPr>
        <p:txBody>
          <a:bodyPr wrap="none" rtlCol="0">
            <a:spAutoFit/>
          </a:bodyPr>
          <a:lstStyle/>
          <a:p>
            <a:pPr algn="r"/>
            <a:r>
              <a:rPr lang="zh-CN" altLang="en-US" sz="1600" dirty="0"/>
              <a:t>团队管理复杂</a:t>
            </a:r>
          </a:p>
        </p:txBody>
      </p:sp>
    </p:spTree>
    <p:extLst>
      <p:ext uri="{BB962C8B-B14F-4D97-AF65-F5344CB8AC3E}">
        <p14:creationId xmlns:p14="http://schemas.microsoft.com/office/powerpoint/2010/main" val="2138612083"/>
      </p:ext>
    </p:extLst>
  </p:cSld>
  <p:clrMapOvr>
    <a:masterClrMapping/>
  </p:clrMapOvr>
</p:sld>
</file>

<file path=ppt/slides/slide3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1ED492-256A-9ED0-B926-1808A1CA860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537819A-8B54-F246-EEC9-0337F5C39646}"/>
              </a:ext>
            </a:extLst>
          </p:cNvPr>
          <p:cNvSpPr>
            <a:spLocks noGrp="1"/>
          </p:cNvSpPr>
          <p:nvPr>
            <p:ph type="title"/>
          </p:nvPr>
        </p:nvSpPr>
        <p:spPr>
          <a:xfrm>
            <a:off x="696000" y="360000"/>
            <a:ext cx="5400000" cy="429413"/>
          </a:xfrm>
        </p:spPr>
        <p:txBody>
          <a:bodyPr/>
          <a:lstStyle/>
          <a:p>
            <a:r>
              <a:rPr lang="en-US" altLang="zh-CN" dirty="0"/>
              <a:t>10.1.2 </a:t>
            </a:r>
            <a:r>
              <a:rPr lang="zh-CN" altLang="en-US" dirty="0"/>
              <a:t>项目型</a:t>
            </a:r>
          </a:p>
        </p:txBody>
      </p:sp>
      <p:sp>
        <p:nvSpPr>
          <p:cNvPr id="5" name="Text Box 43">
            <a:extLst>
              <a:ext uri="{FF2B5EF4-FFF2-40B4-BE49-F238E27FC236}">
                <a16:creationId xmlns:a16="http://schemas.microsoft.com/office/drawing/2014/main" id="{4D3A34F8-477B-08BC-90CB-2ACE3929AB17}"/>
              </a:ext>
            </a:extLst>
          </p:cNvPr>
          <p:cNvSpPr txBox="1">
            <a:spLocks noChangeArrowheads="1"/>
          </p:cNvSpPr>
          <p:nvPr/>
        </p:nvSpPr>
        <p:spPr bwMode="auto">
          <a:xfrm>
            <a:off x="5376000" y="1920602"/>
            <a:ext cx="144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总经理</a:t>
            </a:r>
          </a:p>
        </p:txBody>
      </p:sp>
      <p:sp>
        <p:nvSpPr>
          <p:cNvPr id="6" name="Text Box 43">
            <a:extLst>
              <a:ext uri="{FF2B5EF4-FFF2-40B4-BE49-F238E27FC236}">
                <a16:creationId xmlns:a16="http://schemas.microsoft.com/office/drawing/2014/main" id="{AAFFB0BE-E002-C78A-2026-0A8E075D0D59}"/>
              </a:ext>
            </a:extLst>
          </p:cNvPr>
          <p:cNvSpPr txBox="1">
            <a:spLocks noChangeArrowheads="1"/>
          </p:cNvSpPr>
          <p:nvPr/>
        </p:nvSpPr>
        <p:spPr bwMode="auto">
          <a:xfrm>
            <a:off x="3036000" y="2870996"/>
            <a:ext cx="144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项目经理</a:t>
            </a:r>
          </a:p>
        </p:txBody>
      </p:sp>
      <p:sp>
        <p:nvSpPr>
          <p:cNvPr id="7" name="Text Box 43">
            <a:extLst>
              <a:ext uri="{FF2B5EF4-FFF2-40B4-BE49-F238E27FC236}">
                <a16:creationId xmlns:a16="http://schemas.microsoft.com/office/drawing/2014/main" id="{25CBC131-571E-4BC8-1135-CDFC9D4B87A8}"/>
              </a:ext>
            </a:extLst>
          </p:cNvPr>
          <p:cNvSpPr txBox="1">
            <a:spLocks noChangeArrowheads="1"/>
          </p:cNvSpPr>
          <p:nvPr/>
        </p:nvSpPr>
        <p:spPr bwMode="auto">
          <a:xfrm>
            <a:off x="5376000" y="2869081"/>
            <a:ext cx="144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项目经理</a:t>
            </a:r>
          </a:p>
        </p:txBody>
      </p:sp>
      <p:sp>
        <p:nvSpPr>
          <p:cNvPr id="8" name="Text Box 43">
            <a:extLst>
              <a:ext uri="{FF2B5EF4-FFF2-40B4-BE49-F238E27FC236}">
                <a16:creationId xmlns:a16="http://schemas.microsoft.com/office/drawing/2014/main" id="{6468EE22-3EF3-CB6A-57C7-147C779E69E0}"/>
              </a:ext>
            </a:extLst>
          </p:cNvPr>
          <p:cNvSpPr txBox="1">
            <a:spLocks noChangeArrowheads="1"/>
          </p:cNvSpPr>
          <p:nvPr/>
        </p:nvSpPr>
        <p:spPr bwMode="auto">
          <a:xfrm>
            <a:off x="7716000" y="2869081"/>
            <a:ext cx="144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项目经理</a:t>
            </a:r>
          </a:p>
        </p:txBody>
      </p:sp>
      <p:sp>
        <p:nvSpPr>
          <p:cNvPr id="9" name="Text Box 43">
            <a:extLst>
              <a:ext uri="{FF2B5EF4-FFF2-40B4-BE49-F238E27FC236}">
                <a16:creationId xmlns:a16="http://schemas.microsoft.com/office/drawing/2014/main" id="{90E6B0FA-D744-2003-0621-6FD21A073715}"/>
              </a:ext>
            </a:extLst>
          </p:cNvPr>
          <p:cNvSpPr txBox="1">
            <a:spLocks noChangeArrowheads="1"/>
          </p:cNvSpPr>
          <p:nvPr/>
        </p:nvSpPr>
        <p:spPr bwMode="auto">
          <a:xfrm>
            <a:off x="3756000" y="4029079"/>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10" name="Text Box 43">
            <a:extLst>
              <a:ext uri="{FF2B5EF4-FFF2-40B4-BE49-F238E27FC236}">
                <a16:creationId xmlns:a16="http://schemas.microsoft.com/office/drawing/2014/main" id="{2466A09A-3C41-3768-79B6-9A01210067F1}"/>
              </a:ext>
            </a:extLst>
          </p:cNvPr>
          <p:cNvSpPr txBox="1">
            <a:spLocks noChangeArrowheads="1"/>
          </p:cNvSpPr>
          <p:nvPr/>
        </p:nvSpPr>
        <p:spPr bwMode="auto">
          <a:xfrm>
            <a:off x="3756000" y="4515377"/>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11" name="Text Box 43">
            <a:extLst>
              <a:ext uri="{FF2B5EF4-FFF2-40B4-BE49-F238E27FC236}">
                <a16:creationId xmlns:a16="http://schemas.microsoft.com/office/drawing/2014/main" id="{099E2D20-6C3B-0505-5E07-BB145A51AD17}"/>
              </a:ext>
            </a:extLst>
          </p:cNvPr>
          <p:cNvSpPr txBox="1">
            <a:spLocks noChangeArrowheads="1"/>
          </p:cNvSpPr>
          <p:nvPr/>
        </p:nvSpPr>
        <p:spPr bwMode="auto">
          <a:xfrm>
            <a:off x="3756000" y="5001675"/>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12" name="Text Box 43">
            <a:extLst>
              <a:ext uri="{FF2B5EF4-FFF2-40B4-BE49-F238E27FC236}">
                <a16:creationId xmlns:a16="http://schemas.microsoft.com/office/drawing/2014/main" id="{9891EEF1-2BFB-3EBB-35FE-BC69BAA79C0F}"/>
              </a:ext>
            </a:extLst>
          </p:cNvPr>
          <p:cNvSpPr txBox="1">
            <a:spLocks noChangeArrowheads="1"/>
          </p:cNvSpPr>
          <p:nvPr/>
        </p:nvSpPr>
        <p:spPr bwMode="auto">
          <a:xfrm>
            <a:off x="3756000" y="5487974"/>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13" name="Text Box 43">
            <a:extLst>
              <a:ext uri="{FF2B5EF4-FFF2-40B4-BE49-F238E27FC236}">
                <a16:creationId xmlns:a16="http://schemas.microsoft.com/office/drawing/2014/main" id="{40F8CF63-A6A6-5152-6815-23F645EFC9C1}"/>
              </a:ext>
            </a:extLst>
          </p:cNvPr>
          <p:cNvSpPr txBox="1">
            <a:spLocks noChangeArrowheads="1"/>
          </p:cNvSpPr>
          <p:nvPr/>
        </p:nvSpPr>
        <p:spPr bwMode="auto">
          <a:xfrm>
            <a:off x="6096000" y="4029079"/>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14" name="Text Box 43">
            <a:extLst>
              <a:ext uri="{FF2B5EF4-FFF2-40B4-BE49-F238E27FC236}">
                <a16:creationId xmlns:a16="http://schemas.microsoft.com/office/drawing/2014/main" id="{0A2D6594-07E3-54EB-D1A9-B83C8F652B72}"/>
              </a:ext>
            </a:extLst>
          </p:cNvPr>
          <p:cNvSpPr txBox="1">
            <a:spLocks noChangeArrowheads="1"/>
          </p:cNvSpPr>
          <p:nvPr/>
        </p:nvSpPr>
        <p:spPr bwMode="auto">
          <a:xfrm>
            <a:off x="6096000" y="4515377"/>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15" name="Text Box 43">
            <a:extLst>
              <a:ext uri="{FF2B5EF4-FFF2-40B4-BE49-F238E27FC236}">
                <a16:creationId xmlns:a16="http://schemas.microsoft.com/office/drawing/2014/main" id="{24FE7B0A-8775-55F2-1078-137085B32F2F}"/>
              </a:ext>
            </a:extLst>
          </p:cNvPr>
          <p:cNvSpPr txBox="1">
            <a:spLocks noChangeArrowheads="1"/>
          </p:cNvSpPr>
          <p:nvPr/>
        </p:nvSpPr>
        <p:spPr bwMode="auto">
          <a:xfrm>
            <a:off x="6096000" y="5001675"/>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16" name="Text Box 43">
            <a:extLst>
              <a:ext uri="{FF2B5EF4-FFF2-40B4-BE49-F238E27FC236}">
                <a16:creationId xmlns:a16="http://schemas.microsoft.com/office/drawing/2014/main" id="{8C107B6D-2DC1-4A57-FEFD-A072B20D8E64}"/>
              </a:ext>
            </a:extLst>
          </p:cNvPr>
          <p:cNvSpPr txBox="1">
            <a:spLocks noChangeArrowheads="1"/>
          </p:cNvSpPr>
          <p:nvPr/>
        </p:nvSpPr>
        <p:spPr bwMode="auto">
          <a:xfrm>
            <a:off x="6096000" y="5487974"/>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17" name="Text Box 43">
            <a:extLst>
              <a:ext uri="{FF2B5EF4-FFF2-40B4-BE49-F238E27FC236}">
                <a16:creationId xmlns:a16="http://schemas.microsoft.com/office/drawing/2014/main" id="{BCC436E4-EEC1-AEBF-C86F-9CE5AEDDA793}"/>
              </a:ext>
            </a:extLst>
          </p:cNvPr>
          <p:cNvSpPr txBox="1">
            <a:spLocks noChangeArrowheads="1"/>
          </p:cNvSpPr>
          <p:nvPr/>
        </p:nvSpPr>
        <p:spPr bwMode="auto">
          <a:xfrm>
            <a:off x="8563819" y="4029079"/>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18" name="Text Box 43">
            <a:extLst>
              <a:ext uri="{FF2B5EF4-FFF2-40B4-BE49-F238E27FC236}">
                <a16:creationId xmlns:a16="http://schemas.microsoft.com/office/drawing/2014/main" id="{E291C8B9-3485-B247-73A2-22E861DB407E}"/>
              </a:ext>
            </a:extLst>
          </p:cNvPr>
          <p:cNvSpPr txBox="1">
            <a:spLocks noChangeArrowheads="1"/>
          </p:cNvSpPr>
          <p:nvPr/>
        </p:nvSpPr>
        <p:spPr bwMode="auto">
          <a:xfrm>
            <a:off x="8563819" y="4515377"/>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19" name="Text Box 43">
            <a:extLst>
              <a:ext uri="{FF2B5EF4-FFF2-40B4-BE49-F238E27FC236}">
                <a16:creationId xmlns:a16="http://schemas.microsoft.com/office/drawing/2014/main" id="{8621179F-A939-3CB4-C340-F1ECC9E7BED1}"/>
              </a:ext>
            </a:extLst>
          </p:cNvPr>
          <p:cNvSpPr txBox="1">
            <a:spLocks noChangeArrowheads="1"/>
          </p:cNvSpPr>
          <p:nvPr/>
        </p:nvSpPr>
        <p:spPr bwMode="auto">
          <a:xfrm>
            <a:off x="8563819" y="5001675"/>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20" name="Text Box 43">
            <a:extLst>
              <a:ext uri="{FF2B5EF4-FFF2-40B4-BE49-F238E27FC236}">
                <a16:creationId xmlns:a16="http://schemas.microsoft.com/office/drawing/2014/main" id="{3C4ABCAB-8651-4578-6C75-21B121D86B22}"/>
              </a:ext>
            </a:extLst>
          </p:cNvPr>
          <p:cNvSpPr txBox="1">
            <a:spLocks noChangeArrowheads="1"/>
          </p:cNvSpPr>
          <p:nvPr/>
        </p:nvSpPr>
        <p:spPr bwMode="auto">
          <a:xfrm>
            <a:off x="8563819" y="5487974"/>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cxnSp>
        <p:nvCxnSpPr>
          <p:cNvPr id="21" name="连接符: 肘形 20">
            <a:extLst>
              <a:ext uri="{FF2B5EF4-FFF2-40B4-BE49-F238E27FC236}">
                <a16:creationId xmlns:a16="http://schemas.microsoft.com/office/drawing/2014/main" id="{370CD029-8092-C7AF-C160-A4E4AA0038A4}"/>
              </a:ext>
            </a:extLst>
          </p:cNvPr>
          <p:cNvCxnSpPr>
            <a:stCxn id="5" idx="2"/>
            <a:endCxn id="6" idx="0"/>
          </p:cNvCxnSpPr>
          <p:nvPr/>
        </p:nvCxnSpPr>
        <p:spPr>
          <a:xfrm rot="5400000">
            <a:off x="4666803" y="1441799"/>
            <a:ext cx="518394" cy="2340000"/>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2" name="连接符: 肘形 21">
            <a:extLst>
              <a:ext uri="{FF2B5EF4-FFF2-40B4-BE49-F238E27FC236}">
                <a16:creationId xmlns:a16="http://schemas.microsoft.com/office/drawing/2014/main" id="{ED470604-430C-5DA6-3066-FAF03489AAFD}"/>
              </a:ext>
            </a:extLst>
          </p:cNvPr>
          <p:cNvCxnSpPr>
            <a:stCxn id="8" idx="0"/>
            <a:endCxn id="5" idx="2"/>
          </p:cNvCxnSpPr>
          <p:nvPr/>
        </p:nvCxnSpPr>
        <p:spPr>
          <a:xfrm rot="16200000" flipV="1">
            <a:off x="7007761" y="1440842"/>
            <a:ext cx="516479" cy="2340000"/>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3" name="连接符: 肘形 22">
            <a:extLst>
              <a:ext uri="{FF2B5EF4-FFF2-40B4-BE49-F238E27FC236}">
                <a16:creationId xmlns:a16="http://schemas.microsoft.com/office/drawing/2014/main" id="{64D1D032-3C2B-5ACA-CFE5-09946D646B0C}"/>
              </a:ext>
            </a:extLst>
          </p:cNvPr>
          <p:cNvCxnSpPr>
            <a:cxnSpLocks/>
            <a:endCxn id="12" idx="1"/>
          </p:cNvCxnSpPr>
          <p:nvPr/>
        </p:nvCxnSpPr>
        <p:spPr>
          <a:xfrm rot="16200000" flipH="1">
            <a:off x="2276754" y="4224727"/>
            <a:ext cx="2402893" cy="555600"/>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4" name="连接符: 肘形 23">
            <a:extLst>
              <a:ext uri="{FF2B5EF4-FFF2-40B4-BE49-F238E27FC236}">
                <a16:creationId xmlns:a16="http://schemas.microsoft.com/office/drawing/2014/main" id="{7926D106-EA55-AC3F-C1E3-B40DE0373CC3}"/>
              </a:ext>
            </a:extLst>
          </p:cNvPr>
          <p:cNvCxnSpPr>
            <a:stCxn id="11" idx="1"/>
          </p:cNvCxnSpPr>
          <p:nvPr/>
        </p:nvCxnSpPr>
        <p:spPr>
          <a:xfrm rot="10800000">
            <a:off x="3200400" y="3752853"/>
            <a:ext cx="555600" cy="1464823"/>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5" name="连接符: 肘形 24">
            <a:extLst>
              <a:ext uri="{FF2B5EF4-FFF2-40B4-BE49-F238E27FC236}">
                <a16:creationId xmlns:a16="http://schemas.microsoft.com/office/drawing/2014/main" id="{23B8917C-494B-C8E5-D598-C110AA230D5D}"/>
              </a:ext>
            </a:extLst>
          </p:cNvPr>
          <p:cNvCxnSpPr>
            <a:stCxn id="10" idx="1"/>
          </p:cNvCxnSpPr>
          <p:nvPr/>
        </p:nvCxnSpPr>
        <p:spPr>
          <a:xfrm rot="10800000">
            <a:off x="3200400" y="3752853"/>
            <a:ext cx="555601" cy="978524"/>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6" name="连接符: 肘形 25">
            <a:extLst>
              <a:ext uri="{FF2B5EF4-FFF2-40B4-BE49-F238E27FC236}">
                <a16:creationId xmlns:a16="http://schemas.microsoft.com/office/drawing/2014/main" id="{42F85359-4899-CC98-A9BE-B0ED53D87FB1}"/>
              </a:ext>
            </a:extLst>
          </p:cNvPr>
          <p:cNvCxnSpPr>
            <a:stCxn id="9" idx="1"/>
          </p:cNvCxnSpPr>
          <p:nvPr/>
        </p:nvCxnSpPr>
        <p:spPr>
          <a:xfrm rot="10800000">
            <a:off x="3200400" y="3590927"/>
            <a:ext cx="555601" cy="654152"/>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7" name="连接符: 肘形 26">
            <a:extLst>
              <a:ext uri="{FF2B5EF4-FFF2-40B4-BE49-F238E27FC236}">
                <a16:creationId xmlns:a16="http://schemas.microsoft.com/office/drawing/2014/main" id="{8DA96D06-2130-1539-401D-A6043C5D0CF0}"/>
              </a:ext>
            </a:extLst>
          </p:cNvPr>
          <p:cNvCxnSpPr>
            <a:cxnSpLocks/>
            <a:stCxn id="13" idx="1"/>
          </p:cNvCxnSpPr>
          <p:nvPr/>
        </p:nvCxnSpPr>
        <p:spPr>
          <a:xfrm rot="10800000">
            <a:off x="5581650" y="3301081"/>
            <a:ext cx="514350" cy="943999"/>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8" name="连接符: 肘形 27">
            <a:extLst>
              <a:ext uri="{FF2B5EF4-FFF2-40B4-BE49-F238E27FC236}">
                <a16:creationId xmlns:a16="http://schemas.microsoft.com/office/drawing/2014/main" id="{F89C6F69-2969-5887-36C8-7F030BC8C40F}"/>
              </a:ext>
            </a:extLst>
          </p:cNvPr>
          <p:cNvCxnSpPr>
            <a:stCxn id="14" idx="1"/>
          </p:cNvCxnSpPr>
          <p:nvPr/>
        </p:nvCxnSpPr>
        <p:spPr>
          <a:xfrm rot="10800000">
            <a:off x="5581650" y="4038603"/>
            <a:ext cx="514350" cy="692775"/>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9" name="连接符: 肘形 28">
            <a:extLst>
              <a:ext uri="{FF2B5EF4-FFF2-40B4-BE49-F238E27FC236}">
                <a16:creationId xmlns:a16="http://schemas.microsoft.com/office/drawing/2014/main" id="{5A6B489C-627F-802F-63DE-2B2D42385827}"/>
              </a:ext>
            </a:extLst>
          </p:cNvPr>
          <p:cNvCxnSpPr>
            <a:stCxn id="15" idx="1"/>
          </p:cNvCxnSpPr>
          <p:nvPr/>
        </p:nvCxnSpPr>
        <p:spPr>
          <a:xfrm rot="10800000">
            <a:off x="5581650" y="4515377"/>
            <a:ext cx="514351" cy="702298"/>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0" name="连接符: 肘形 29">
            <a:extLst>
              <a:ext uri="{FF2B5EF4-FFF2-40B4-BE49-F238E27FC236}">
                <a16:creationId xmlns:a16="http://schemas.microsoft.com/office/drawing/2014/main" id="{84AF7F9A-115F-863A-9113-3E837CD2AC2D}"/>
              </a:ext>
            </a:extLst>
          </p:cNvPr>
          <p:cNvCxnSpPr>
            <a:stCxn id="16" idx="1"/>
          </p:cNvCxnSpPr>
          <p:nvPr/>
        </p:nvCxnSpPr>
        <p:spPr>
          <a:xfrm rot="10800000">
            <a:off x="5581650" y="5001676"/>
            <a:ext cx="514351" cy="702299"/>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1" name="连接符: 肘形 30">
            <a:extLst>
              <a:ext uri="{FF2B5EF4-FFF2-40B4-BE49-F238E27FC236}">
                <a16:creationId xmlns:a16="http://schemas.microsoft.com/office/drawing/2014/main" id="{F11E903E-398F-1F24-9CFC-DBA83A849B01}"/>
              </a:ext>
            </a:extLst>
          </p:cNvPr>
          <p:cNvCxnSpPr>
            <a:stCxn id="17" idx="1"/>
          </p:cNvCxnSpPr>
          <p:nvPr/>
        </p:nvCxnSpPr>
        <p:spPr>
          <a:xfrm rot="10800000">
            <a:off x="7943851" y="3301081"/>
            <a:ext cx="619969" cy="943999"/>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2" name="连接符: 肘形 31">
            <a:extLst>
              <a:ext uri="{FF2B5EF4-FFF2-40B4-BE49-F238E27FC236}">
                <a16:creationId xmlns:a16="http://schemas.microsoft.com/office/drawing/2014/main" id="{234FA7E4-EF42-E265-388E-970F187391A7}"/>
              </a:ext>
            </a:extLst>
          </p:cNvPr>
          <p:cNvCxnSpPr>
            <a:stCxn id="18" idx="1"/>
          </p:cNvCxnSpPr>
          <p:nvPr/>
        </p:nvCxnSpPr>
        <p:spPr>
          <a:xfrm rot="10800000">
            <a:off x="7943851" y="4038603"/>
            <a:ext cx="619968" cy="692775"/>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3" name="连接符: 肘形 32">
            <a:extLst>
              <a:ext uri="{FF2B5EF4-FFF2-40B4-BE49-F238E27FC236}">
                <a16:creationId xmlns:a16="http://schemas.microsoft.com/office/drawing/2014/main" id="{7F4E1C49-D0C8-ECD9-211E-DAE641FE76C9}"/>
              </a:ext>
            </a:extLst>
          </p:cNvPr>
          <p:cNvCxnSpPr>
            <a:stCxn id="19" idx="1"/>
          </p:cNvCxnSpPr>
          <p:nvPr/>
        </p:nvCxnSpPr>
        <p:spPr>
          <a:xfrm rot="10800000">
            <a:off x="7943851" y="4515377"/>
            <a:ext cx="619968" cy="702298"/>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4" name="连接符: 肘形 33">
            <a:extLst>
              <a:ext uri="{FF2B5EF4-FFF2-40B4-BE49-F238E27FC236}">
                <a16:creationId xmlns:a16="http://schemas.microsoft.com/office/drawing/2014/main" id="{8C0F2873-8D09-BFED-BCE6-069600591A90}"/>
              </a:ext>
            </a:extLst>
          </p:cNvPr>
          <p:cNvCxnSpPr>
            <a:stCxn id="20" idx="1"/>
          </p:cNvCxnSpPr>
          <p:nvPr/>
        </p:nvCxnSpPr>
        <p:spPr>
          <a:xfrm rot="10800000">
            <a:off x="7943851" y="5001676"/>
            <a:ext cx="619968" cy="702299"/>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5" name="矩形 34">
            <a:extLst>
              <a:ext uri="{FF2B5EF4-FFF2-40B4-BE49-F238E27FC236}">
                <a16:creationId xmlns:a16="http://schemas.microsoft.com/office/drawing/2014/main" id="{2AA37DFF-2CBB-1A9E-6ED8-B7C1A52DA532}"/>
              </a:ext>
            </a:extLst>
          </p:cNvPr>
          <p:cNvSpPr/>
          <p:nvPr/>
        </p:nvSpPr>
        <p:spPr>
          <a:xfrm>
            <a:off x="2851412" y="2503087"/>
            <a:ext cx="1800000" cy="3583390"/>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useBgFill="1">
        <p:nvSpPr>
          <p:cNvPr id="36" name="文本框 35">
            <a:extLst>
              <a:ext uri="{FF2B5EF4-FFF2-40B4-BE49-F238E27FC236}">
                <a16:creationId xmlns:a16="http://schemas.microsoft.com/office/drawing/2014/main" id="{9DF8329F-7D05-DE88-61BB-81EA2D9C7992}"/>
              </a:ext>
            </a:extLst>
          </p:cNvPr>
          <p:cNvSpPr txBox="1"/>
          <p:nvPr/>
        </p:nvSpPr>
        <p:spPr>
          <a:xfrm>
            <a:off x="3010162" y="5926725"/>
            <a:ext cx="800219" cy="276999"/>
          </a:xfrm>
          <a:prstGeom prst="rect">
            <a:avLst/>
          </a:prstGeom>
          <a:ln>
            <a:noFill/>
          </a:ln>
        </p:spPr>
        <p:txBody>
          <a:bodyPr wrap="none" rtlCol="0">
            <a:spAutoFit/>
          </a:bodyPr>
          <a:lstStyle/>
          <a:p>
            <a:pPr algn="l"/>
            <a:r>
              <a:rPr lang="zh-CN" altLang="en-US" sz="1200" dirty="0"/>
              <a:t>项目协调</a:t>
            </a:r>
          </a:p>
        </p:txBody>
      </p:sp>
      <p:sp>
        <p:nvSpPr>
          <p:cNvPr id="4" name="文本框 3">
            <a:extLst>
              <a:ext uri="{FF2B5EF4-FFF2-40B4-BE49-F238E27FC236}">
                <a16:creationId xmlns:a16="http://schemas.microsoft.com/office/drawing/2014/main" id="{6ED7D149-C20E-BE33-E82C-0E4F57CC6C72}"/>
              </a:ext>
            </a:extLst>
          </p:cNvPr>
          <p:cNvSpPr txBox="1"/>
          <p:nvPr/>
        </p:nvSpPr>
        <p:spPr>
          <a:xfrm>
            <a:off x="695325" y="926684"/>
            <a:ext cx="6955750" cy="338554"/>
          </a:xfrm>
          <a:prstGeom prst="rect">
            <a:avLst/>
          </a:prstGeom>
          <a:noFill/>
        </p:spPr>
        <p:txBody>
          <a:bodyPr wrap="none" rtlCol="0">
            <a:spAutoFit/>
          </a:bodyPr>
          <a:lstStyle/>
          <a:p>
            <a:pPr algn="l"/>
            <a:r>
              <a:rPr lang="zh-CN" altLang="en-US" sz="1600" dirty="0"/>
              <a:t>以项目为中心，项目成员全职参与，向项目经理汇报，项目结束后团队解散</a:t>
            </a:r>
          </a:p>
        </p:txBody>
      </p:sp>
      <p:sp>
        <p:nvSpPr>
          <p:cNvPr id="41" name="任意多边形: 形状 40">
            <a:extLst>
              <a:ext uri="{FF2B5EF4-FFF2-40B4-BE49-F238E27FC236}">
                <a16:creationId xmlns:a16="http://schemas.microsoft.com/office/drawing/2014/main" id="{D432DBFE-8FFC-7A14-37BD-E50C20790A84}"/>
              </a:ext>
            </a:extLst>
          </p:cNvPr>
          <p:cNvSpPr/>
          <p:nvPr/>
        </p:nvSpPr>
        <p:spPr>
          <a:xfrm>
            <a:off x="0" y="2169361"/>
            <a:ext cx="403193" cy="540000"/>
          </a:xfrm>
          <a:custGeom>
            <a:avLst/>
            <a:gdLst>
              <a:gd name="csX0" fmla="*/ 133193 w 403193"/>
              <a:gd name="csY0" fmla="*/ 0 h 540000"/>
              <a:gd name="csX1" fmla="*/ 403193 w 403193"/>
              <a:gd name="csY1" fmla="*/ 270000 h 540000"/>
              <a:gd name="csX2" fmla="*/ 133193 w 403193"/>
              <a:gd name="csY2" fmla="*/ 540000 h 540000"/>
              <a:gd name="csX3" fmla="*/ 28097 w 403193"/>
              <a:gd name="csY3" fmla="*/ 518782 h 540000"/>
              <a:gd name="csX4" fmla="*/ 0 w 403193"/>
              <a:gd name="csY4" fmla="*/ 503532 h 540000"/>
              <a:gd name="csX5" fmla="*/ 0 w 403193"/>
              <a:gd name="csY5" fmla="*/ 36468 h 540000"/>
              <a:gd name="csX6" fmla="*/ 28097 w 403193"/>
              <a:gd name="csY6" fmla="*/ 21218 h 540000"/>
              <a:gd name="csX7" fmla="*/ 133193 w 403193"/>
              <a:gd name="csY7" fmla="*/ 0 h 54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03193" h="540000">
                <a:moveTo>
                  <a:pt x="133193" y="0"/>
                </a:moveTo>
                <a:cubicBezTo>
                  <a:pt x="282310" y="0"/>
                  <a:pt x="403193" y="120883"/>
                  <a:pt x="403193" y="270000"/>
                </a:cubicBezTo>
                <a:cubicBezTo>
                  <a:pt x="403193" y="419117"/>
                  <a:pt x="282310" y="540000"/>
                  <a:pt x="133193" y="540000"/>
                </a:cubicBezTo>
                <a:cubicBezTo>
                  <a:pt x="95914" y="540000"/>
                  <a:pt x="60399" y="532445"/>
                  <a:pt x="28097" y="518782"/>
                </a:cubicBezTo>
                <a:lnTo>
                  <a:pt x="0" y="503532"/>
                </a:lnTo>
                <a:lnTo>
                  <a:pt x="0" y="36468"/>
                </a:lnTo>
                <a:lnTo>
                  <a:pt x="28097" y="21218"/>
                </a:lnTo>
                <a:cubicBezTo>
                  <a:pt x="60399" y="7555"/>
                  <a:pt x="95914" y="0"/>
                  <a:pt x="133193" y="0"/>
                </a:cubicBezTo>
                <a:close/>
              </a:path>
            </a:pathLst>
          </a:custGeom>
          <a:solidFill>
            <a:srgbClr val="0D8BB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bg1"/>
                </a:solidFill>
              </a:rPr>
              <a:t>01</a:t>
            </a:r>
            <a:endParaRPr lang="zh-CN" altLang="en-US" sz="1400" dirty="0">
              <a:solidFill>
                <a:schemeClr val="bg1"/>
              </a:solidFill>
            </a:endParaRPr>
          </a:p>
        </p:txBody>
      </p:sp>
      <p:sp>
        <p:nvSpPr>
          <p:cNvPr id="45" name="文本框 44">
            <a:extLst>
              <a:ext uri="{FF2B5EF4-FFF2-40B4-BE49-F238E27FC236}">
                <a16:creationId xmlns:a16="http://schemas.microsoft.com/office/drawing/2014/main" id="{4AC29098-D517-964E-F6AA-CDD919946565}"/>
              </a:ext>
            </a:extLst>
          </p:cNvPr>
          <p:cNvSpPr txBox="1"/>
          <p:nvPr/>
        </p:nvSpPr>
        <p:spPr>
          <a:xfrm>
            <a:off x="365610" y="2270084"/>
            <a:ext cx="1826141" cy="338554"/>
          </a:xfrm>
          <a:prstGeom prst="rect">
            <a:avLst/>
          </a:prstGeom>
          <a:noFill/>
        </p:spPr>
        <p:txBody>
          <a:bodyPr wrap="none" rtlCol="0">
            <a:spAutoFit/>
          </a:bodyPr>
          <a:lstStyle/>
          <a:p>
            <a:pPr algn="l"/>
            <a:r>
              <a:rPr lang="zh-CN" altLang="en-US" sz="1600" dirty="0"/>
              <a:t>项目经理全权负责</a:t>
            </a:r>
          </a:p>
        </p:txBody>
      </p:sp>
      <p:sp>
        <p:nvSpPr>
          <p:cNvPr id="50" name="任意多边形: 形状 49">
            <a:extLst>
              <a:ext uri="{FF2B5EF4-FFF2-40B4-BE49-F238E27FC236}">
                <a16:creationId xmlns:a16="http://schemas.microsoft.com/office/drawing/2014/main" id="{CC2A0ECF-01D9-4F44-3ADF-FF74BCBB470A}"/>
              </a:ext>
            </a:extLst>
          </p:cNvPr>
          <p:cNvSpPr/>
          <p:nvPr/>
        </p:nvSpPr>
        <p:spPr>
          <a:xfrm>
            <a:off x="0" y="2851781"/>
            <a:ext cx="403193" cy="540000"/>
          </a:xfrm>
          <a:custGeom>
            <a:avLst/>
            <a:gdLst>
              <a:gd name="csX0" fmla="*/ 133193 w 403193"/>
              <a:gd name="csY0" fmla="*/ 0 h 540000"/>
              <a:gd name="csX1" fmla="*/ 403193 w 403193"/>
              <a:gd name="csY1" fmla="*/ 270000 h 540000"/>
              <a:gd name="csX2" fmla="*/ 133193 w 403193"/>
              <a:gd name="csY2" fmla="*/ 540000 h 540000"/>
              <a:gd name="csX3" fmla="*/ 28097 w 403193"/>
              <a:gd name="csY3" fmla="*/ 518782 h 540000"/>
              <a:gd name="csX4" fmla="*/ 0 w 403193"/>
              <a:gd name="csY4" fmla="*/ 503532 h 540000"/>
              <a:gd name="csX5" fmla="*/ 0 w 403193"/>
              <a:gd name="csY5" fmla="*/ 36468 h 540000"/>
              <a:gd name="csX6" fmla="*/ 28097 w 403193"/>
              <a:gd name="csY6" fmla="*/ 21218 h 540000"/>
              <a:gd name="csX7" fmla="*/ 133193 w 403193"/>
              <a:gd name="csY7" fmla="*/ 0 h 54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03193" h="540000">
                <a:moveTo>
                  <a:pt x="133193" y="0"/>
                </a:moveTo>
                <a:cubicBezTo>
                  <a:pt x="282310" y="0"/>
                  <a:pt x="403193" y="120883"/>
                  <a:pt x="403193" y="270000"/>
                </a:cubicBezTo>
                <a:cubicBezTo>
                  <a:pt x="403193" y="419117"/>
                  <a:pt x="282310" y="540000"/>
                  <a:pt x="133193" y="540000"/>
                </a:cubicBezTo>
                <a:cubicBezTo>
                  <a:pt x="95914" y="540000"/>
                  <a:pt x="60399" y="532445"/>
                  <a:pt x="28097" y="518782"/>
                </a:cubicBezTo>
                <a:lnTo>
                  <a:pt x="0" y="503532"/>
                </a:lnTo>
                <a:lnTo>
                  <a:pt x="0" y="36468"/>
                </a:lnTo>
                <a:lnTo>
                  <a:pt x="28097" y="21218"/>
                </a:lnTo>
                <a:cubicBezTo>
                  <a:pt x="60399" y="7555"/>
                  <a:pt x="95914" y="0"/>
                  <a:pt x="133193" y="0"/>
                </a:cubicBezTo>
                <a:close/>
              </a:path>
            </a:pathLst>
          </a:custGeom>
          <a:solidFill>
            <a:srgbClr val="0D8BB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bg1"/>
                </a:solidFill>
              </a:rPr>
              <a:t>02</a:t>
            </a:r>
            <a:endParaRPr lang="zh-CN" altLang="en-US" sz="1400" dirty="0">
              <a:solidFill>
                <a:schemeClr val="bg1"/>
              </a:solidFill>
            </a:endParaRPr>
          </a:p>
        </p:txBody>
      </p:sp>
      <p:sp>
        <p:nvSpPr>
          <p:cNvPr id="51" name="文本框 50">
            <a:extLst>
              <a:ext uri="{FF2B5EF4-FFF2-40B4-BE49-F238E27FC236}">
                <a16:creationId xmlns:a16="http://schemas.microsoft.com/office/drawing/2014/main" id="{F7E2B675-40D9-DE7F-82EB-0949364036B2}"/>
              </a:ext>
            </a:extLst>
          </p:cNvPr>
          <p:cNvSpPr txBox="1"/>
          <p:nvPr/>
        </p:nvSpPr>
        <p:spPr>
          <a:xfrm>
            <a:off x="365610" y="2952504"/>
            <a:ext cx="1415772" cy="338554"/>
          </a:xfrm>
          <a:prstGeom prst="rect">
            <a:avLst/>
          </a:prstGeom>
          <a:noFill/>
        </p:spPr>
        <p:txBody>
          <a:bodyPr wrap="none" rtlCol="0">
            <a:spAutoFit/>
          </a:bodyPr>
          <a:lstStyle/>
          <a:p>
            <a:pPr algn="l"/>
            <a:r>
              <a:rPr lang="zh-CN" altLang="en-US" sz="1600" dirty="0"/>
              <a:t>组织结构简单</a:t>
            </a:r>
          </a:p>
        </p:txBody>
      </p:sp>
      <p:sp>
        <p:nvSpPr>
          <p:cNvPr id="53" name="任意多边形: 形状 52">
            <a:extLst>
              <a:ext uri="{FF2B5EF4-FFF2-40B4-BE49-F238E27FC236}">
                <a16:creationId xmlns:a16="http://schemas.microsoft.com/office/drawing/2014/main" id="{F950A670-7295-3C5F-01A6-996CDEB670EB}"/>
              </a:ext>
            </a:extLst>
          </p:cNvPr>
          <p:cNvSpPr/>
          <p:nvPr/>
        </p:nvSpPr>
        <p:spPr>
          <a:xfrm>
            <a:off x="0" y="3534201"/>
            <a:ext cx="403193" cy="540000"/>
          </a:xfrm>
          <a:custGeom>
            <a:avLst/>
            <a:gdLst>
              <a:gd name="csX0" fmla="*/ 133193 w 403193"/>
              <a:gd name="csY0" fmla="*/ 0 h 540000"/>
              <a:gd name="csX1" fmla="*/ 403193 w 403193"/>
              <a:gd name="csY1" fmla="*/ 270000 h 540000"/>
              <a:gd name="csX2" fmla="*/ 133193 w 403193"/>
              <a:gd name="csY2" fmla="*/ 540000 h 540000"/>
              <a:gd name="csX3" fmla="*/ 28097 w 403193"/>
              <a:gd name="csY3" fmla="*/ 518782 h 540000"/>
              <a:gd name="csX4" fmla="*/ 0 w 403193"/>
              <a:gd name="csY4" fmla="*/ 503532 h 540000"/>
              <a:gd name="csX5" fmla="*/ 0 w 403193"/>
              <a:gd name="csY5" fmla="*/ 36468 h 540000"/>
              <a:gd name="csX6" fmla="*/ 28097 w 403193"/>
              <a:gd name="csY6" fmla="*/ 21218 h 540000"/>
              <a:gd name="csX7" fmla="*/ 133193 w 403193"/>
              <a:gd name="csY7" fmla="*/ 0 h 54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03193" h="540000">
                <a:moveTo>
                  <a:pt x="133193" y="0"/>
                </a:moveTo>
                <a:cubicBezTo>
                  <a:pt x="282310" y="0"/>
                  <a:pt x="403193" y="120883"/>
                  <a:pt x="403193" y="270000"/>
                </a:cubicBezTo>
                <a:cubicBezTo>
                  <a:pt x="403193" y="419117"/>
                  <a:pt x="282310" y="540000"/>
                  <a:pt x="133193" y="540000"/>
                </a:cubicBezTo>
                <a:cubicBezTo>
                  <a:pt x="95914" y="540000"/>
                  <a:pt x="60399" y="532445"/>
                  <a:pt x="28097" y="518782"/>
                </a:cubicBezTo>
                <a:lnTo>
                  <a:pt x="0" y="503532"/>
                </a:lnTo>
                <a:lnTo>
                  <a:pt x="0" y="36468"/>
                </a:lnTo>
                <a:lnTo>
                  <a:pt x="28097" y="21218"/>
                </a:lnTo>
                <a:cubicBezTo>
                  <a:pt x="60399" y="7555"/>
                  <a:pt x="95914" y="0"/>
                  <a:pt x="133193" y="0"/>
                </a:cubicBezTo>
                <a:close/>
              </a:path>
            </a:pathLst>
          </a:custGeom>
          <a:solidFill>
            <a:srgbClr val="0D8BB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bg1"/>
                </a:solidFill>
              </a:rPr>
              <a:t>03</a:t>
            </a:r>
            <a:endParaRPr lang="zh-CN" altLang="en-US" sz="1400" dirty="0">
              <a:solidFill>
                <a:schemeClr val="bg1"/>
              </a:solidFill>
            </a:endParaRPr>
          </a:p>
        </p:txBody>
      </p:sp>
      <p:sp>
        <p:nvSpPr>
          <p:cNvPr id="54" name="文本框 53">
            <a:extLst>
              <a:ext uri="{FF2B5EF4-FFF2-40B4-BE49-F238E27FC236}">
                <a16:creationId xmlns:a16="http://schemas.microsoft.com/office/drawing/2014/main" id="{637A021A-AEF1-C87D-B57B-0997EBF79962}"/>
              </a:ext>
            </a:extLst>
          </p:cNvPr>
          <p:cNvSpPr txBox="1"/>
          <p:nvPr/>
        </p:nvSpPr>
        <p:spPr>
          <a:xfrm>
            <a:off x="365610" y="3634924"/>
            <a:ext cx="1415772" cy="338554"/>
          </a:xfrm>
          <a:prstGeom prst="rect">
            <a:avLst/>
          </a:prstGeom>
          <a:noFill/>
        </p:spPr>
        <p:txBody>
          <a:bodyPr wrap="none" rtlCol="0">
            <a:spAutoFit/>
          </a:bodyPr>
          <a:lstStyle/>
          <a:p>
            <a:pPr algn="l"/>
            <a:r>
              <a:rPr lang="zh-CN" altLang="en-US" sz="1600" dirty="0"/>
              <a:t>沟通简单高效</a:t>
            </a:r>
          </a:p>
        </p:txBody>
      </p:sp>
      <p:sp>
        <p:nvSpPr>
          <p:cNvPr id="44" name="任意多边形: 形状 43">
            <a:extLst>
              <a:ext uri="{FF2B5EF4-FFF2-40B4-BE49-F238E27FC236}">
                <a16:creationId xmlns:a16="http://schemas.microsoft.com/office/drawing/2014/main" id="{94223FEE-11E3-8D4C-D14C-072D907D5605}"/>
              </a:ext>
            </a:extLst>
          </p:cNvPr>
          <p:cNvSpPr/>
          <p:nvPr/>
        </p:nvSpPr>
        <p:spPr>
          <a:xfrm>
            <a:off x="11788587" y="2169361"/>
            <a:ext cx="403413" cy="540000"/>
          </a:xfrm>
          <a:custGeom>
            <a:avLst/>
            <a:gdLst>
              <a:gd name="csX0" fmla="*/ 270000 w 403413"/>
              <a:gd name="csY0" fmla="*/ 0 h 540000"/>
              <a:gd name="csX1" fmla="*/ 375096 w 403413"/>
              <a:gd name="csY1" fmla="*/ 21218 h 540000"/>
              <a:gd name="csX2" fmla="*/ 403413 w 403413"/>
              <a:gd name="csY2" fmla="*/ 36588 h 540000"/>
              <a:gd name="csX3" fmla="*/ 403413 w 403413"/>
              <a:gd name="csY3" fmla="*/ 503413 h 540000"/>
              <a:gd name="csX4" fmla="*/ 375096 w 403413"/>
              <a:gd name="csY4" fmla="*/ 518782 h 540000"/>
              <a:gd name="csX5" fmla="*/ 270000 w 403413"/>
              <a:gd name="csY5" fmla="*/ 540000 h 540000"/>
              <a:gd name="csX6" fmla="*/ 0 w 403413"/>
              <a:gd name="csY6" fmla="*/ 270000 h 540000"/>
              <a:gd name="csX7" fmla="*/ 270000 w 403413"/>
              <a:gd name="csY7" fmla="*/ 0 h 54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03413" h="540000">
                <a:moveTo>
                  <a:pt x="270000" y="0"/>
                </a:moveTo>
                <a:cubicBezTo>
                  <a:pt x="307279" y="0"/>
                  <a:pt x="342794" y="7555"/>
                  <a:pt x="375096" y="21218"/>
                </a:cubicBezTo>
                <a:lnTo>
                  <a:pt x="403413" y="36588"/>
                </a:lnTo>
                <a:lnTo>
                  <a:pt x="403413" y="503413"/>
                </a:lnTo>
                <a:lnTo>
                  <a:pt x="375096" y="518782"/>
                </a:lnTo>
                <a:cubicBezTo>
                  <a:pt x="342794" y="532445"/>
                  <a:pt x="307279" y="540000"/>
                  <a:pt x="270000" y="540000"/>
                </a:cubicBezTo>
                <a:cubicBezTo>
                  <a:pt x="120883" y="540000"/>
                  <a:pt x="0" y="419117"/>
                  <a:pt x="0" y="270000"/>
                </a:cubicBezTo>
                <a:cubicBezTo>
                  <a:pt x="0" y="120883"/>
                  <a:pt x="120883" y="0"/>
                  <a:pt x="270000" y="0"/>
                </a:cubicBezTo>
                <a:close/>
              </a:path>
            </a:pathLst>
          </a:custGeom>
          <a:solidFill>
            <a:srgbClr val="BF014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bg1"/>
                </a:solidFill>
              </a:rPr>
              <a:t>01</a:t>
            </a:r>
            <a:endParaRPr lang="zh-CN" altLang="en-US" sz="1400" dirty="0">
              <a:solidFill>
                <a:schemeClr val="bg1"/>
              </a:solidFill>
            </a:endParaRPr>
          </a:p>
        </p:txBody>
      </p:sp>
      <p:sp>
        <p:nvSpPr>
          <p:cNvPr id="55" name="文本框 54">
            <a:extLst>
              <a:ext uri="{FF2B5EF4-FFF2-40B4-BE49-F238E27FC236}">
                <a16:creationId xmlns:a16="http://schemas.microsoft.com/office/drawing/2014/main" id="{4C6F17A0-578D-C765-ED4A-C3BA49BD2C32}"/>
              </a:ext>
            </a:extLst>
          </p:cNvPr>
          <p:cNvSpPr txBox="1"/>
          <p:nvPr/>
        </p:nvSpPr>
        <p:spPr>
          <a:xfrm>
            <a:off x="10783184" y="2270084"/>
            <a:ext cx="1005403" cy="338554"/>
          </a:xfrm>
          <a:prstGeom prst="rect">
            <a:avLst/>
          </a:prstGeom>
          <a:noFill/>
        </p:spPr>
        <p:txBody>
          <a:bodyPr wrap="none" rtlCol="0">
            <a:spAutoFit/>
          </a:bodyPr>
          <a:lstStyle/>
          <a:p>
            <a:pPr algn="r"/>
            <a:r>
              <a:rPr lang="zh-CN" altLang="en-US" sz="1600" dirty="0"/>
              <a:t>资源有限</a:t>
            </a:r>
          </a:p>
        </p:txBody>
      </p:sp>
      <p:sp>
        <p:nvSpPr>
          <p:cNvPr id="58" name="任意多边形: 形状 57">
            <a:extLst>
              <a:ext uri="{FF2B5EF4-FFF2-40B4-BE49-F238E27FC236}">
                <a16:creationId xmlns:a16="http://schemas.microsoft.com/office/drawing/2014/main" id="{CF85AE6F-A02B-32F4-E67E-AA87D10398F8}"/>
              </a:ext>
            </a:extLst>
          </p:cNvPr>
          <p:cNvSpPr/>
          <p:nvPr/>
        </p:nvSpPr>
        <p:spPr>
          <a:xfrm>
            <a:off x="11788587" y="2851781"/>
            <a:ext cx="403413" cy="540000"/>
          </a:xfrm>
          <a:custGeom>
            <a:avLst/>
            <a:gdLst>
              <a:gd name="csX0" fmla="*/ 270000 w 403413"/>
              <a:gd name="csY0" fmla="*/ 0 h 540000"/>
              <a:gd name="csX1" fmla="*/ 375096 w 403413"/>
              <a:gd name="csY1" fmla="*/ 21218 h 540000"/>
              <a:gd name="csX2" fmla="*/ 403413 w 403413"/>
              <a:gd name="csY2" fmla="*/ 36588 h 540000"/>
              <a:gd name="csX3" fmla="*/ 403413 w 403413"/>
              <a:gd name="csY3" fmla="*/ 503413 h 540000"/>
              <a:gd name="csX4" fmla="*/ 375096 w 403413"/>
              <a:gd name="csY4" fmla="*/ 518782 h 540000"/>
              <a:gd name="csX5" fmla="*/ 270000 w 403413"/>
              <a:gd name="csY5" fmla="*/ 540000 h 540000"/>
              <a:gd name="csX6" fmla="*/ 0 w 403413"/>
              <a:gd name="csY6" fmla="*/ 270000 h 540000"/>
              <a:gd name="csX7" fmla="*/ 270000 w 403413"/>
              <a:gd name="csY7" fmla="*/ 0 h 54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03413" h="540000">
                <a:moveTo>
                  <a:pt x="270000" y="0"/>
                </a:moveTo>
                <a:cubicBezTo>
                  <a:pt x="307279" y="0"/>
                  <a:pt x="342794" y="7555"/>
                  <a:pt x="375096" y="21218"/>
                </a:cubicBezTo>
                <a:lnTo>
                  <a:pt x="403413" y="36588"/>
                </a:lnTo>
                <a:lnTo>
                  <a:pt x="403413" y="503413"/>
                </a:lnTo>
                <a:lnTo>
                  <a:pt x="375096" y="518782"/>
                </a:lnTo>
                <a:cubicBezTo>
                  <a:pt x="342794" y="532445"/>
                  <a:pt x="307279" y="540000"/>
                  <a:pt x="270000" y="540000"/>
                </a:cubicBezTo>
                <a:cubicBezTo>
                  <a:pt x="120883" y="540000"/>
                  <a:pt x="0" y="419117"/>
                  <a:pt x="0" y="270000"/>
                </a:cubicBezTo>
                <a:cubicBezTo>
                  <a:pt x="0" y="120883"/>
                  <a:pt x="120883" y="0"/>
                  <a:pt x="270000" y="0"/>
                </a:cubicBezTo>
                <a:close/>
              </a:path>
            </a:pathLst>
          </a:custGeom>
          <a:solidFill>
            <a:srgbClr val="BF014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bg1"/>
                </a:solidFill>
              </a:rPr>
              <a:t>02</a:t>
            </a:r>
            <a:endParaRPr lang="zh-CN" altLang="en-US" sz="1400" dirty="0">
              <a:solidFill>
                <a:schemeClr val="bg1"/>
              </a:solidFill>
            </a:endParaRPr>
          </a:p>
        </p:txBody>
      </p:sp>
      <p:sp>
        <p:nvSpPr>
          <p:cNvPr id="59" name="文本框 58">
            <a:extLst>
              <a:ext uri="{FF2B5EF4-FFF2-40B4-BE49-F238E27FC236}">
                <a16:creationId xmlns:a16="http://schemas.microsoft.com/office/drawing/2014/main" id="{82C81B96-2353-E095-4B92-C37CA3BBC3E2}"/>
              </a:ext>
            </a:extLst>
          </p:cNvPr>
          <p:cNvSpPr txBox="1"/>
          <p:nvPr/>
        </p:nvSpPr>
        <p:spPr>
          <a:xfrm>
            <a:off x="10372815" y="2952504"/>
            <a:ext cx="1415772" cy="338554"/>
          </a:xfrm>
          <a:prstGeom prst="rect">
            <a:avLst/>
          </a:prstGeom>
          <a:noFill/>
        </p:spPr>
        <p:txBody>
          <a:bodyPr wrap="none" rtlCol="0">
            <a:spAutoFit/>
          </a:bodyPr>
          <a:lstStyle/>
          <a:p>
            <a:pPr algn="r"/>
            <a:r>
              <a:rPr lang="zh-CN" altLang="en-US" sz="1600" dirty="0"/>
              <a:t>团队稳定性差</a:t>
            </a:r>
          </a:p>
        </p:txBody>
      </p:sp>
    </p:spTree>
    <p:extLst>
      <p:ext uri="{BB962C8B-B14F-4D97-AF65-F5344CB8AC3E}">
        <p14:creationId xmlns:p14="http://schemas.microsoft.com/office/powerpoint/2010/main" val="3545863951"/>
      </p:ext>
    </p:extLst>
  </p:cSld>
  <p:clrMapOvr>
    <a:masterClrMapping/>
  </p:clrMapOvr>
</p:sld>
</file>

<file path=ppt/slides/slide3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0C7B0-E246-4C96-F8FB-3B57FBF71A1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C071AF9-7492-D5C8-2224-C51EFB0B0754}"/>
              </a:ext>
            </a:extLst>
          </p:cNvPr>
          <p:cNvSpPr>
            <a:spLocks noGrp="1"/>
          </p:cNvSpPr>
          <p:nvPr>
            <p:ph type="title"/>
          </p:nvPr>
        </p:nvSpPr>
        <p:spPr>
          <a:xfrm>
            <a:off x="696000" y="360000"/>
            <a:ext cx="5400000" cy="429413"/>
          </a:xfrm>
        </p:spPr>
        <p:txBody>
          <a:bodyPr/>
          <a:lstStyle/>
          <a:p>
            <a:r>
              <a:rPr lang="en-US" altLang="zh-CN" dirty="0"/>
              <a:t>10.1.3 </a:t>
            </a:r>
            <a:r>
              <a:rPr lang="zh-CN" altLang="en-US" dirty="0"/>
              <a:t>矩阵型</a:t>
            </a:r>
          </a:p>
        </p:txBody>
      </p:sp>
      <p:sp>
        <p:nvSpPr>
          <p:cNvPr id="3" name="文本框 2">
            <a:extLst>
              <a:ext uri="{FF2B5EF4-FFF2-40B4-BE49-F238E27FC236}">
                <a16:creationId xmlns:a16="http://schemas.microsoft.com/office/drawing/2014/main" id="{758D5F85-69F9-B2BF-0302-6A330014B56B}"/>
              </a:ext>
            </a:extLst>
          </p:cNvPr>
          <p:cNvSpPr txBox="1"/>
          <p:nvPr/>
        </p:nvSpPr>
        <p:spPr>
          <a:xfrm>
            <a:off x="695325" y="926684"/>
            <a:ext cx="2646878" cy="830997"/>
          </a:xfrm>
          <a:prstGeom prst="rect">
            <a:avLst/>
          </a:prstGeom>
          <a:noFill/>
        </p:spPr>
        <p:txBody>
          <a:bodyPr wrap="none" rtlCol="0">
            <a:spAutoFit/>
          </a:bodyPr>
          <a:lstStyle/>
          <a:p>
            <a:pPr algn="l"/>
            <a:r>
              <a:rPr lang="zh-CN" altLang="en-US" sz="1600" dirty="0"/>
              <a:t>混合型</a:t>
            </a:r>
            <a:endParaRPr lang="en-US" altLang="zh-CN" sz="1600" dirty="0"/>
          </a:p>
          <a:p>
            <a:pPr algn="l"/>
            <a:r>
              <a:rPr lang="zh-CN" altLang="en-US" sz="1600" dirty="0"/>
              <a:t>兼具职能型和项目型的特点</a:t>
            </a:r>
            <a:endParaRPr lang="en-US" altLang="zh-CN" sz="1600" dirty="0"/>
          </a:p>
          <a:p>
            <a:pPr algn="l"/>
            <a:r>
              <a:rPr lang="zh-CN" altLang="en-US" sz="1600" dirty="0"/>
              <a:t>临时组建</a:t>
            </a:r>
          </a:p>
        </p:txBody>
      </p:sp>
      <p:sp>
        <p:nvSpPr>
          <p:cNvPr id="26" name="任意多边形: 形状 25">
            <a:extLst>
              <a:ext uri="{FF2B5EF4-FFF2-40B4-BE49-F238E27FC236}">
                <a16:creationId xmlns:a16="http://schemas.microsoft.com/office/drawing/2014/main" id="{CD4819C5-7CA5-5D0B-639B-A67751765EC1}"/>
              </a:ext>
            </a:extLst>
          </p:cNvPr>
          <p:cNvSpPr/>
          <p:nvPr/>
        </p:nvSpPr>
        <p:spPr>
          <a:xfrm>
            <a:off x="0" y="2169361"/>
            <a:ext cx="403193" cy="540000"/>
          </a:xfrm>
          <a:custGeom>
            <a:avLst/>
            <a:gdLst>
              <a:gd name="csX0" fmla="*/ 133193 w 403193"/>
              <a:gd name="csY0" fmla="*/ 0 h 540000"/>
              <a:gd name="csX1" fmla="*/ 403193 w 403193"/>
              <a:gd name="csY1" fmla="*/ 270000 h 540000"/>
              <a:gd name="csX2" fmla="*/ 133193 w 403193"/>
              <a:gd name="csY2" fmla="*/ 540000 h 540000"/>
              <a:gd name="csX3" fmla="*/ 28097 w 403193"/>
              <a:gd name="csY3" fmla="*/ 518782 h 540000"/>
              <a:gd name="csX4" fmla="*/ 0 w 403193"/>
              <a:gd name="csY4" fmla="*/ 503532 h 540000"/>
              <a:gd name="csX5" fmla="*/ 0 w 403193"/>
              <a:gd name="csY5" fmla="*/ 36468 h 540000"/>
              <a:gd name="csX6" fmla="*/ 28097 w 403193"/>
              <a:gd name="csY6" fmla="*/ 21218 h 540000"/>
              <a:gd name="csX7" fmla="*/ 133193 w 403193"/>
              <a:gd name="csY7" fmla="*/ 0 h 54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03193" h="540000">
                <a:moveTo>
                  <a:pt x="133193" y="0"/>
                </a:moveTo>
                <a:cubicBezTo>
                  <a:pt x="282310" y="0"/>
                  <a:pt x="403193" y="120883"/>
                  <a:pt x="403193" y="270000"/>
                </a:cubicBezTo>
                <a:cubicBezTo>
                  <a:pt x="403193" y="419117"/>
                  <a:pt x="282310" y="540000"/>
                  <a:pt x="133193" y="540000"/>
                </a:cubicBezTo>
                <a:cubicBezTo>
                  <a:pt x="95914" y="540000"/>
                  <a:pt x="60399" y="532445"/>
                  <a:pt x="28097" y="518782"/>
                </a:cubicBezTo>
                <a:lnTo>
                  <a:pt x="0" y="503532"/>
                </a:lnTo>
                <a:lnTo>
                  <a:pt x="0" y="36468"/>
                </a:lnTo>
                <a:lnTo>
                  <a:pt x="28097" y="21218"/>
                </a:lnTo>
                <a:cubicBezTo>
                  <a:pt x="60399" y="7555"/>
                  <a:pt x="95914" y="0"/>
                  <a:pt x="133193" y="0"/>
                </a:cubicBezTo>
                <a:close/>
              </a:path>
            </a:pathLst>
          </a:custGeom>
          <a:solidFill>
            <a:srgbClr val="0D8BB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bg1"/>
                </a:solidFill>
              </a:rPr>
              <a:t>01</a:t>
            </a:r>
            <a:endParaRPr lang="zh-CN" altLang="en-US" sz="1400" dirty="0">
              <a:solidFill>
                <a:schemeClr val="bg1"/>
              </a:solidFill>
            </a:endParaRPr>
          </a:p>
        </p:txBody>
      </p:sp>
      <p:sp>
        <p:nvSpPr>
          <p:cNvPr id="27" name="文本框 26">
            <a:extLst>
              <a:ext uri="{FF2B5EF4-FFF2-40B4-BE49-F238E27FC236}">
                <a16:creationId xmlns:a16="http://schemas.microsoft.com/office/drawing/2014/main" id="{55CE4FE4-2A11-A4A9-4445-26619A03FA5A}"/>
              </a:ext>
            </a:extLst>
          </p:cNvPr>
          <p:cNvSpPr txBox="1"/>
          <p:nvPr/>
        </p:nvSpPr>
        <p:spPr>
          <a:xfrm>
            <a:off x="365610" y="2270084"/>
            <a:ext cx="1826141" cy="338554"/>
          </a:xfrm>
          <a:prstGeom prst="rect">
            <a:avLst/>
          </a:prstGeom>
          <a:noFill/>
        </p:spPr>
        <p:txBody>
          <a:bodyPr wrap="none" rtlCol="0">
            <a:spAutoFit/>
          </a:bodyPr>
          <a:lstStyle/>
          <a:p>
            <a:pPr algn="l"/>
            <a:r>
              <a:rPr lang="zh-CN" altLang="en-US" sz="1600" dirty="0"/>
              <a:t>项目经理全权负责</a:t>
            </a:r>
          </a:p>
        </p:txBody>
      </p:sp>
      <p:sp>
        <p:nvSpPr>
          <p:cNvPr id="29" name="任意多边形: 形状 28">
            <a:extLst>
              <a:ext uri="{FF2B5EF4-FFF2-40B4-BE49-F238E27FC236}">
                <a16:creationId xmlns:a16="http://schemas.microsoft.com/office/drawing/2014/main" id="{221FCB96-EE85-9307-401B-3ED87FB884AE}"/>
              </a:ext>
            </a:extLst>
          </p:cNvPr>
          <p:cNvSpPr/>
          <p:nvPr/>
        </p:nvSpPr>
        <p:spPr>
          <a:xfrm>
            <a:off x="0" y="2851781"/>
            <a:ext cx="403193" cy="540000"/>
          </a:xfrm>
          <a:custGeom>
            <a:avLst/>
            <a:gdLst>
              <a:gd name="csX0" fmla="*/ 133193 w 403193"/>
              <a:gd name="csY0" fmla="*/ 0 h 540000"/>
              <a:gd name="csX1" fmla="*/ 403193 w 403193"/>
              <a:gd name="csY1" fmla="*/ 270000 h 540000"/>
              <a:gd name="csX2" fmla="*/ 133193 w 403193"/>
              <a:gd name="csY2" fmla="*/ 540000 h 540000"/>
              <a:gd name="csX3" fmla="*/ 28097 w 403193"/>
              <a:gd name="csY3" fmla="*/ 518782 h 540000"/>
              <a:gd name="csX4" fmla="*/ 0 w 403193"/>
              <a:gd name="csY4" fmla="*/ 503532 h 540000"/>
              <a:gd name="csX5" fmla="*/ 0 w 403193"/>
              <a:gd name="csY5" fmla="*/ 36468 h 540000"/>
              <a:gd name="csX6" fmla="*/ 28097 w 403193"/>
              <a:gd name="csY6" fmla="*/ 21218 h 540000"/>
              <a:gd name="csX7" fmla="*/ 133193 w 403193"/>
              <a:gd name="csY7" fmla="*/ 0 h 54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03193" h="540000">
                <a:moveTo>
                  <a:pt x="133193" y="0"/>
                </a:moveTo>
                <a:cubicBezTo>
                  <a:pt x="282310" y="0"/>
                  <a:pt x="403193" y="120883"/>
                  <a:pt x="403193" y="270000"/>
                </a:cubicBezTo>
                <a:cubicBezTo>
                  <a:pt x="403193" y="419117"/>
                  <a:pt x="282310" y="540000"/>
                  <a:pt x="133193" y="540000"/>
                </a:cubicBezTo>
                <a:cubicBezTo>
                  <a:pt x="95914" y="540000"/>
                  <a:pt x="60399" y="532445"/>
                  <a:pt x="28097" y="518782"/>
                </a:cubicBezTo>
                <a:lnTo>
                  <a:pt x="0" y="503532"/>
                </a:lnTo>
                <a:lnTo>
                  <a:pt x="0" y="36468"/>
                </a:lnTo>
                <a:lnTo>
                  <a:pt x="28097" y="21218"/>
                </a:lnTo>
                <a:cubicBezTo>
                  <a:pt x="60399" y="7555"/>
                  <a:pt x="95914" y="0"/>
                  <a:pt x="133193" y="0"/>
                </a:cubicBezTo>
                <a:close/>
              </a:path>
            </a:pathLst>
          </a:custGeom>
          <a:solidFill>
            <a:srgbClr val="0D8BB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bg1"/>
                </a:solidFill>
              </a:rPr>
              <a:t>02</a:t>
            </a:r>
            <a:endParaRPr lang="zh-CN" altLang="en-US" sz="1400" dirty="0">
              <a:solidFill>
                <a:schemeClr val="bg1"/>
              </a:solidFill>
            </a:endParaRPr>
          </a:p>
        </p:txBody>
      </p:sp>
      <p:sp>
        <p:nvSpPr>
          <p:cNvPr id="30" name="文本框 29">
            <a:extLst>
              <a:ext uri="{FF2B5EF4-FFF2-40B4-BE49-F238E27FC236}">
                <a16:creationId xmlns:a16="http://schemas.microsoft.com/office/drawing/2014/main" id="{46233E1E-E30B-E779-DB52-82F9A26F44FC}"/>
              </a:ext>
            </a:extLst>
          </p:cNvPr>
          <p:cNvSpPr txBox="1"/>
          <p:nvPr/>
        </p:nvSpPr>
        <p:spPr>
          <a:xfrm>
            <a:off x="365610" y="2952504"/>
            <a:ext cx="1005403" cy="338554"/>
          </a:xfrm>
          <a:prstGeom prst="rect">
            <a:avLst/>
          </a:prstGeom>
          <a:noFill/>
        </p:spPr>
        <p:txBody>
          <a:bodyPr wrap="none" rtlCol="0">
            <a:spAutoFit/>
          </a:bodyPr>
          <a:lstStyle/>
          <a:p>
            <a:pPr algn="l"/>
            <a:r>
              <a:rPr lang="zh-CN" altLang="en-US" sz="1600" dirty="0"/>
              <a:t>资源共享</a:t>
            </a:r>
          </a:p>
        </p:txBody>
      </p:sp>
      <p:sp>
        <p:nvSpPr>
          <p:cNvPr id="32" name="任意多边形: 形状 31">
            <a:extLst>
              <a:ext uri="{FF2B5EF4-FFF2-40B4-BE49-F238E27FC236}">
                <a16:creationId xmlns:a16="http://schemas.microsoft.com/office/drawing/2014/main" id="{05C66A41-3D49-C1AD-E8AA-C1E4F353A13E}"/>
              </a:ext>
            </a:extLst>
          </p:cNvPr>
          <p:cNvSpPr/>
          <p:nvPr/>
        </p:nvSpPr>
        <p:spPr>
          <a:xfrm>
            <a:off x="0" y="3534201"/>
            <a:ext cx="403193" cy="540000"/>
          </a:xfrm>
          <a:custGeom>
            <a:avLst/>
            <a:gdLst>
              <a:gd name="csX0" fmla="*/ 133193 w 403193"/>
              <a:gd name="csY0" fmla="*/ 0 h 540000"/>
              <a:gd name="csX1" fmla="*/ 403193 w 403193"/>
              <a:gd name="csY1" fmla="*/ 270000 h 540000"/>
              <a:gd name="csX2" fmla="*/ 133193 w 403193"/>
              <a:gd name="csY2" fmla="*/ 540000 h 540000"/>
              <a:gd name="csX3" fmla="*/ 28097 w 403193"/>
              <a:gd name="csY3" fmla="*/ 518782 h 540000"/>
              <a:gd name="csX4" fmla="*/ 0 w 403193"/>
              <a:gd name="csY4" fmla="*/ 503532 h 540000"/>
              <a:gd name="csX5" fmla="*/ 0 w 403193"/>
              <a:gd name="csY5" fmla="*/ 36468 h 540000"/>
              <a:gd name="csX6" fmla="*/ 28097 w 403193"/>
              <a:gd name="csY6" fmla="*/ 21218 h 540000"/>
              <a:gd name="csX7" fmla="*/ 133193 w 403193"/>
              <a:gd name="csY7" fmla="*/ 0 h 54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03193" h="540000">
                <a:moveTo>
                  <a:pt x="133193" y="0"/>
                </a:moveTo>
                <a:cubicBezTo>
                  <a:pt x="282310" y="0"/>
                  <a:pt x="403193" y="120883"/>
                  <a:pt x="403193" y="270000"/>
                </a:cubicBezTo>
                <a:cubicBezTo>
                  <a:pt x="403193" y="419117"/>
                  <a:pt x="282310" y="540000"/>
                  <a:pt x="133193" y="540000"/>
                </a:cubicBezTo>
                <a:cubicBezTo>
                  <a:pt x="95914" y="540000"/>
                  <a:pt x="60399" y="532445"/>
                  <a:pt x="28097" y="518782"/>
                </a:cubicBezTo>
                <a:lnTo>
                  <a:pt x="0" y="503532"/>
                </a:lnTo>
                <a:lnTo>
                  <a:pt x="0" y="36468"/>
                </a:lnTo>
                <a:lnTo>
                  <a:pt x="28097" y="21218"/>
                </a:lnTo>
                <a:cubicBezTo>
                  <a:pt x="60399" y="7555"/>
                  <a:pt x="95914" y="0"/>
                  <a:pt x="133193" y="0"/>
                </a:cubicBezTo>
                <a:close/>
              </a:path>
            </a:pathLst>
          </a:custGeom>
          <a:solidFill>
            <a:srgbClr val="0D8BB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bg1"/>
                </a:solidFill>
              </a:rPr>
              <a:t>03</a:t>
            </a:r>
            <a:endParaRPr lang="zh-CN" altLang="en-US" sz="1400" dirty="0">
              <a:solidFill>
                <a:schemeClr val="bg1"/>
              </a:solidFill>
            </a:endParaRPr>
          </a:p>
        </p:txBody>
      </p:sp>
      <p:sp>
        <p:nvSpPr>
          <p:cNvPr id="33" name="文本框 32">
            <a:extLst>
              <a:ext uri="{FF2B5EF4-FFF2-40B4-BE49-F238E27FC236}">
                <a16:creationId xmlns:a16="http://schemas.microsoft.com/office/drawing/2014/main" id="{23CD4AD8-DDC5-9C5B-3DE1-60CAD9A96BD2}"/>
              </a:ext>
            </a:extLst>
          </p:cNvPr>
          <p:cNvSpPr txBox="1"/>
          <p:nvPr/>
        </p:nvSpPr>
        <p:spPr>
          <a:xfrm>
            <a:off x="365610" y="3634924"/>
            <a:ext cx="1199367" cy="338554"/>
          </a:xfrm>
          <a:prstGeom prst="rect">
            <a:avLst/>
          </a:prstGeom>
          <a:noFill/>
        </p:spPr>
        <p:txBody>
          <a:bodyPr wrap="none" rtlCol="0">
            <a:spAutoFit/>
          </a:bodyPr>
          <a:lstStyle/>
          <a:p>
            <a:pPr algn="l"/>
            <a:r>
              <a:rPr lang="zh-CN" altLang="en-US" sz="1600" dirty="0"/>
              <a:t>人力成本低</a:t>
            </a:r>
          </a:p>
        </p:txBody>
      </p:sp>
      <p:sp>
        <p:nvSpPr>
          <p:cNvPr id="37" name="任意多边形: 形状 36">
            <a:extLst>
              <a:ext uri="{FF2B5EF4-FFF2-40B4-BE49-F238E27FC236}">
                <a16:creationId xmlns:a16="http://schemas.microsoft.com/office/drawing/2014/main" id="{5CE57BCC-CE49-0F80-8C25-768C9022A695}"/>
              </a:ext>
            </a:extLst>
          </p:cNvPr>
          <p:cNvSpPr/>
          <p:nvPr/>
        </p:nvSpPr>
        <p:spPr>
          <a:xfrm>
            <a:off x="11788587" y="2169361"/>
            <a:ext cx="403413" cy="540000"/>
          </a:xfrm>
          <a:custGeom>
            <a:avLst/>
            <a:gdLst>
              <a:gd name="csX0" fmla="*/ 270000 w 403413"/>
              <a:gd name="csY0" fmla="*/ 0 h 540000"/>
              <a:gd name="csX1" fmla="*/ 375096 w 403413"/>
              <a:gd name="csY1" fmla="*/ 21218 h 540000"/>
              <a:gd name="csX2" fmla="*/ 403413 w 403413"/>
              <a:gd name="csY2" fmla="*/ 36588 h 540000"/>
              <a:gd name="csX3" fmla="*/ 403413 w 403413"/>
              <a:gd name="csY3" fmla="*/ 503413 h 540000"/>
              <a:gd name="csX4" fmla="*/ 375096 w 403413"/>
              <a:gd name="csY4" fmla="*/ 518782 h 540000"/>
              <a:gd name="csX5" fmla="*/ 270000 w 403413"/>
              <a:gd name="csY5" fmla="*/ 540000 h 540000"/>
              <a:gd name="csX6" fmla="*/ 0 w 403413"/>
              <a:gd name="csY6" fmla="*/ 270000 h 540000"/>
              <a:gd name="csX7" fmla="*/ 270000 w 403413"/>
              <a:gd name="csY7" fmla="*/ 0 h 54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03413" h="540000">
                <a:moveTo>
                  <a:pt x="270000" y="0"/>
                </a:moveTo>
                <a:cubicBezTo>
                  <a:pt x="307279" y="0"/>
                  <a:pt x="342794" y="7555"/>
                  <a:pt x="375096" y="21218"/>
                </a:cubicBezTo>
                <a:lnTo>
                  <a:pt x="403413" y="36588"/>
                </a:lnTo>
                <a:lnTo>
                  <a:pt x="403413" y="503413"/>
                </a:lnTo>
                <a:lnTo>
                  <a:pt x="375096" y="518782"/>
                </a:lnTo>
                <a:cubicBezTo>
                  <a:pt x="342794" y="532445"/>
                  <a:pt x="307279" y="540000"/>
                  <a:pt x="270000" y="540000"/>
                </a:cubicBezTo>
                <a:cubicBezTo>
                  <a:pt x="120883" y="540000"/>
                  <a:pt x="0" y="419117"/>
                  <a:pt x="0" y="270000"/>
                </a:cubicBezTo>
                <a:cubicBezTo>
                  <a:pt x="0" y="120883"/>
                  <a:pt x="120883" y="0"/>
                  <a:pt x="270000" y="0"/>
                </a:cubicBezTo>
                <a:close/>
              </a:path>
            </a:pathLst>
          </a:custGeom>
          <a:solidFill>
            <a:srgbClr val="BF014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bg1"/>
                </a:solidFill>
              </a:rPr>
              <a:t>01</a:t>
            </a:r>
            <a:endParaRPr lang="zh-CN" altLang="en-US" sz="1400" dirty="0">
              <a:solidFill>
                <a:schemeClr val="bg1"/>
              </a:solidFill>
            </a:endParaRPr>
          </a:p>
        </p:txBody>
      </p:sp>
      <p:sp>
        <p:nvSpPr>
          <p:cNvPr id="38" name="文本框 37">
            <a:extLst>
              <a:ext uri="{FF2B5EF4-FFF2-40B4-BE49-F238E27FC236}">
                <a16:creationId xmlns:a16="http://schemas.microsoft.com/office/drawing/2014/main" id="{537B9B68-AFB4-F727-0723-74219E7FC54E}"/>
              </a:ext>
            </a:extLst>
          </p:cNvPr>
          <p:cNvSpPr txBox="1"/>
          <p:nvPr/>
        </p:nvSpPr>
        <p:spPr>
          <a:xfrm>
            <a:off x="10783184" y="2270084"/>
            <a:ext cx="1005403" cy="338554"/>
          </a:xfrm>
          <a:prstGeom prst="rect">
            <a:avLst/>
          </a:prstGeom>
          <a:noFill/>
        </p:spPr>
        <p:txBody>
          <a:bodyPr wrap="none" rtlCol="0">
            <a:spAutoFit/>
          </a:bodyPr>
          <a:lstStyle/>
          <a:p>
            <a:pPr algn="r"/>
            <a:r>
              <a:rPr lang="zh-CN" altLang="en-US" sz="1600" dirty="0"/>
              <a:t>权力冲突</a:t>
            </a:r>
          </a:p>
        </p:txBody>
      </p:sp>
      <p:sp>
        <p:nvSpPr>
          <p:cNvPr id="40" name="任意多边形: 形状 39">
            <a:extLst>
              <a:ext uri="{FF2B5EF4-FFF2-40B4-BE49-F238E27FC236}">
                <a16:creationId xmlns:a16="http://schemas.microsoft.com/office/drawing/2014/main" id="{1BCAEAC9-15FF-AB9A-2273-6F8CBAC28A00}"/>
              </a:ext>
            </a:extLst>
          </p:cNvPr>
          <p:cNvSpPr/>
          <p:nvPr/>
        </p:nvSpPr>
        <p:spPr>
          <a:xfrm>
            <a:off x="11788587" y="2851781"/>
            <a:ext cx="403413" cy="540000"/>
          </a:xfrm>
          <a:custGeom>
            <a:avLst/>
            <a:gdLst>
              <a:gd name="csX0" fmla="*/ 270000 w 403413"/>
              <a:gd name="csY0" fmla="*/ 0 h 540000"/>
              <a:gd name="csX1" fmla="*/ 375096 w 403413"/>
              <a:gd name="csY1" fmla="*/ 21218 h 540000"/>
              <a:gd name="csX2" fmla="*/ 403413 w 403413"/>
              <a:gd name="csY2" fmla="*/ 36588 h 540000"/>
              <a:gd name="csX3" fmla="*/ 403413 w 403413"/>
              <a:gd name="csY3" fmla="*/ 503413 h 540000"/>
              <a:gd name="csX4" fmla="*/ 375096 w 403413"/>
              <a:gd name="csY4" fmla="*/ 518782 h 540000"/>
              <a:gd name="csX5" fmla="*/ 270000 w 403413"/>
              <a:gd name="csY5" fmla="*/ 540000 h 540000"/>
              <a:gd name="csX6" fmla="*/ 0 w 403413"/>
              <a:gd name="csY6" fmla="*/ 270000 h 540000"/>
              <a:gd name="csX7" fmla="*/ 270000 w 403413"/>
              <a:gd name="csY7" fmla="*/ 0 h 54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03413" h="540000">
                <a:moveTo>
                  <a:pt x="270000" y="0"/>
                </a:moveTo>
                <a:cubicBezTo>
                  <a:pt x="307279" y="0"/>
                  <a:pt x="342794" y="7555"/>
                  <a:pt x="375096" y="21218"/>
                </a:cubicBezTo>
                <a:lnTo>
                  <a:pt x="403413" y="36588"/>
                </a:lnTo>
                <a:lnTo>
                  <a:pt x="403413" y="503413"/>
                </a:lnTo>
                <a:lnTo>
                  <a:pt x="375096" y="518782"/>
                </a:lnTo>
                <a:cubicBezTo>
                  <a:pt x="342794" y="532445"/>
                  <a:pt x="307279" y="540000"/>
                  <a:pt x="270000" y="540000"/>
                </a:cubicBezTo>
                <a:cubicBezTo>
                  <a:pt x="120883" y="540000"/>
                  <a:pt x="0" y="419117"/>
                  <a:pt x="0" y="270000"/>
                </a:cubicBezTo>
                <a:cubicBezTo>
                  <a:pt x="0" y="120883"/>
                  <a:pt x="120883" y="0"/>
                  <a:pt x="270000" y="0"/>
                </a:cubicBezTo>
                <a:close/>
              </a:path>
            </a:pathLst>
          </a:custGeom>
          <a:solidFill>
            <a:srgbClr val="BF014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bg1"/>
                </a:solidFill>
              </a:rPr>
              <a:t>02</a:t>
            </a:r>
            <a:endParaRPr lang="zh-CN" altLang="en-US" sz="1400" dirty="0">
              <a:solidFill>
                <a:schemeClr val="bg1"/>
              </a:solidFill>
            </a:endParaRPr>
          </a:p>
        </p:txBody>
      </p:sp>
      <p:sp>
        <p:nvSpPr>
          <p:cNvPr id="42" name="文本框 41">
            <a:extLst>
              <a:ext uri="{FF2B5EF4-FFF2-40B4-BE49-F238E27FC236}">
                <a16:creationId xmlns:a16="http://schemas.microsoft.com/office/drawing/2014/main" id="{342D3F1D-0BAF-9951-CC43-EE37860925EC}"/>
              </a:ext>
            </a:extLst>
          </p:cNvPr>
          <p:cNvSpPr txBox="1"/>
          <p:nvPr/>
        </p:nvSpPr>
        <p:spPr>
          <a:xfrm>
            <a:off x="10783184" y="2952504"/>
            <a:ext cx="1005403" cy="338554"/>
          </a:xfrm>
          <a:prstGeom prst="rect">
            <a:avLst/>
          </a:prstGeom>
          <a:noFill/>
        </p:spPr>
        <p:txBody>
          <a:bodyPr wrap="none" rtlCol="0">
            <a:spAutoFit/>
          </a:bodyPr>
          <a:lstStyle/>
          <a:p>
            <a:pPr algn="r"/>
            <a:r>
              <a:rPr lang="zh-CN" altLang="en-US" sz="1600" dirty="0"/>
              <a:t>双重领导</a:t>
            </a:r>
          </a:p>
        </p:txBody>
      </p:sp>
      <p:sp>
        <p:nvSpPr>
          <p:cNvPr id="49" name="Text Box 43">
            <a:extLst>
              <a:ext uri="{FF2B5EF4-FFF2-40B4-BE49-F238E27FC236}">
                <a16:creationId xmlns:a16="http://schemas.microsoft.com/office/drawing/2014/main" id="{1163A820-F764-B5C1-7B8E-BE0CB0A46F28}"/>
              </a:ext>
            </a:extLst>
          </p:cNvPr>
          <p:cNvSpPr txBox="1">
            <a:spLocks noChangeArrowheads="1"/>
          </p:cNvSpPr>
          <p:nvPr/>
        </p:nvSpPr>
        <p:spPr bwMode="auto">
          <a:xfrm>
            <a:off x="5376000" y="1800000"/>
            <a:ext cx="144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总经理</a:t>
            </a:r>
          </a:p>
        </p:txBody>
      </p:sp>
      <p:sp>
        <p:nvSpPr>
          <p:cNvPr id="54" name="Text Box 43">
            <a:extLst>
              <a:ext uri="{FF2B5EF4-FFF2-40B4-BE49-F238E27FC236}">
                <a16:creationId xmlns:a16="http://schemas.microsoft.com/office/drawing/2014/main" id="{B73042EA-9F26-C8DC-8E97-854ECD5EA601}"/>
              </a:ext>
            </a:extLst>
          </p:cNvPr>
          <p:cNvSpPr txBox="1">
            <a:spLocks noChangeArrowheads="1"/>
          </p:cNvSpPr>
          <p:nvPr/>
        </p:nvSpPr>
        <p:spPr bwMode="auto">
          <a:xfrm>
            <a:off x="3036000" y="2750394"/>
            <a:ext cx="144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部门经理</a:t>
            </a:r>
          </a:p>
        </p:txBody>
      </p:sp>
      <p:sp>
        <p:nvSpPr>
          <p:cNvPr id="55" name="Text Box 43">
            <a:extLst>
              <a:ext uri="{FF2B5EF4-FFF2-40B4-BE49-F238E27FC236}">
                <a16:creationId xmlns:a16="http://schemas.microsoft.com/office/drawing/2014/main" id="{5FB23FE9-FA93-19B4-2A48-08437A8DB0B0}"/>
              </a:ext>
            </a:extLst>
          </p:cNvPr>
          <p:cNvSpPr txBox="1">
            <a:spLocks noChangeArrowheads="1"/>
          </p:cNvSpPr>
          <p:nvPr/>
        </p:nvSpPr>
        <p:spPr bwMode="auto">
          <a:xfrm>
            <a:off x="5376000" y="2748479"/>
            <a:ext cx="144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部门经理</a:t>
            </a:r>
          </a:p>
        </p:txBody>
      </p:sp>
      <p:sp>
        <p:nvSpPr>
          <p:cNvPr id="56" name="Text Box 43">
            <a:extLst>
              <a:ext uri="{FF2B5EF4-FFF2-40B4-BE49-F238E27FC236}">
                <a16:creationId xmlns:a16="http://schemas.microsoft.com/office/drawing/2014/main" id="{9E214517-0A7C-6DD8-0C46-4A486439634B}"/>
              </a:ext>
            </a:extLst>
          </p:cNvPr>
          <p:cNvSpPr txBox="1">
            <a:spLocks noChangeArrowheads="1"/>
          </p:cNvSpPr>
          <p:nvPr/>
        </p:nvSpPr>
        <p:spPr bwMode="auto">
          <a:xfrm>
            <a:off x="7716000" y="2748479"/>
            <a:ext cx="144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项目经理主管</a:t>
            </a:r>
          </a:p>
        </p:txBody>
      </p:sp>
      <p:sp>
        <p:nvSpPr>
          <p:cNvPr id="57" name="Text Box 43">
            <a:extLst>
              <a:ext uri="{FF2B5EF4-FFF2-40B4-BE49-F238E27FC236}">
                <a16:creationId xmlns:a16="http://schemas.microsoft.com/office/drawing/2014/main" id="{B7FE6955-5C65-2C52-EB47-06FA7E953681}"/>
              </a:ext>
            </a:extLst>
          </p:cNvPr>
          <p:cNvSpPr txBox="1">
            <a:spLocks noChangeArrowheads="1"/>
          </p:cNvSpPr>
          <p:nvPr/>
        </p:nvSpPr>
        <p:spPr bwMode="auto">
          <a:xfrm>
            <a:off x="3756000" y="3404638"/>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60" name="Text Box 43">
            <a:extLst>
              <a:ext uri="{FF2B5EF4-FFF2-40B4-BE49-F238E27FC236}">
                <a16:creationId xmlns:a16="http://schemas.microsoft.com/office/drawing/2014/main" id="{40C9552E-5C7D-DEA3-AE32-47C85F1F1FFD}"/>
              </a:ext>
            </a:extLst>
          </p:cNvPr>
          <p:cNvSpPr txBox="1">
            <a:spLocks noChangeArrowheads="1"/>
          </p:cNvSpPr>
          <p:nvPr/>
        </p:nvSpPr>
        <p:spPr bwMode="auto">
          <a:xfrm>
            <a:off x="3756000" y="4058882"/>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61" name="Text Box 43">
            <a:extLst>
              <a:ext uri="{FF2B5EF4-FFF2-40B4-BE49-F238E27FC236}">
                <a16:creationId xmlns:a16="http://schemas.microsoft.com/office/drawing/2014/main" id="{921E2685-652A-6B36-7EED-FDB6E338C6B1}"/>
              </a:ext>
            </a:extLst>
          </p:cNvPr>
          <p:cNvSpPr txBox="1">
            <a:spLocks noChangeArrowheads="1"/>
          </p:cNvSpPr>
          <p:nvPr/>
        </p:nvSpPr>
        <p:spPr bwMode="auto">
          <a:xfrm>
            <a:off x="3756000" y="4713126"/>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62" name="Text Box 43">
            <a:extLst>
              <a:ext uri="{FF2B5EF4-FFF2-40B4-BE49-F238E27FC236}">
                <a16:creationId xmlns:a16="http://schemas.microsoft.com/office/drawing/2014/main" id="{A6EBB42B-EF61-BEC9-F9B7-7E793B09EEFF}"/>
              </a:ext>
            </a:extLst>
          </p:cNvPr>
          <p:cNvSpPr txBox="1">
            <a:spLocks noChangeArrowheads="1"/>
          </p:cNvSpPr>
          <p:nvPr/>
        </p:nvSpPr>
        <p:spPr bwMode="auto">
          <a:xfrm>
            <a:off x="3756000" y="5367372"/>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63" name="Text Box 43">
            <a:extLst>
              <a:ext uri="{FF2B5EF4-FFF2-40B4-BE49-F238E27FC236}">
                <a16:creationId xmlns:a16="http://schemas.microsoft.com/office/drawing/2014/main" id="{921CBA9B-CE65-EB4D-CBCD-F9F5DBAC55C1}"/>
              </a:ext>
            </a:extLst>
          </p:cNvPr>
          <p:cNvSpPr txBox="1">
            <a:spLocks noChangeArrowheads="1"/>
          </p:cNvSpPr>
          <p:nvPr/>
        </p:nvSpPr>
        <p:spPr bwMode="auto">
          <a:xfrm>
            <a:off x="6096000" y="3403202"/>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64" name="Text Box 43">
            <a:extLst>
              <a:ext uri="{FF2B5EF4-FFF2-40B4-BE49-F238E27FC236}">
                <a16:creationId xmlns:a16="http://schemas.microsoft.com/office/drawing/2014/main" id="{8D5983D0-A272-6A08-4A14-FDA1073289D7}"/>
              </a:ext>
            </a:extLst>
          </p:cNvPr>
          <p:cNvSpPr txBox="1">
            <a:spLocks noChangeArrowheads="1"/>
          </p:cNvSpPr>
          <p:nvPr/>
        </p:nvSpPr>
        <p:spPr bwMode="auto">
          <a:xfrm>
            <a:off x="6096000" y="4057925"/>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65" name="Text Box 43">
            <a:extLst>
              <a:ext uri="{FF2B5EF4-FFF2-40B4-BE49-F238E27FC236}">
                <a16:creationId xmlns:a16="http://schemas.microsoft.com/office/drawing/2014/main" id="{784D1814-8DE3-A58B-A5F1-D4EFA8F4058A}"/>
              </a:ext>
            </a:extLst>
          </p:cNvPr>
          <p:cNvSpPr txBox="1">
            <a:spLocks noChangeArrowheads="1"/>
          </p:cNvSpPr>
          <p:nvPr/>
        </p:nvSpPr>
        <p:spPr bwMode="auto">
          <a:xfrm>
            <a:off x="6096000" y="4712648"/>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66" name="Text Box 43">
            <a:extLst>
              <a:ext uri="{FF2B5EF4-FFF2-40B4-BE49-F238E27FC236}">
                <a16:creationId xmlns:a16="http://schemas.microsoft.com/office/drawing/2014/main" id="{BFC64C1C-B761-058A-E973-AD5422756784}"/>
              </a:ext>
            </a:extLst>
          </p:cNvPr>
          <p:cNvSpPr txBox="1">
            <a:spLocks noChangeArrowheads="1"/>
          </p:cNvSpPr>
          <p:nvPr/>
        </p:nvSpPr>
        <p:spPr bwMode="auto">
          <a:xfrm>
            <a:off x="6096000" y="5367372"/>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67" name="Text Box 43">
            <a:extLst>
              <a:ext uri="{FF2B5EF4-FFF2-40B4-BE49-F238E27FC236}">
                <a16:creationId xmlns:a16="http://schemas.microsoft.com/office/drawing/2014/main" id="{4D38CC47-5550-5924-4D3E-4DCAD53C9170}"/>
              </a:ext>
            </a:extLst>
          </p:cNvPr>
          <p:cNvSpPr txBox="1">
            <a:spLocks noChangeArrowheads="1"/>
          </p:cNvSpPr>
          <p:nvPr/>
        </p:nvSpPr>
        <p:spPr bwMode="auto">
          <a:xfrm>
            <a:off x="8436000" y="3403202"/>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68" name="Text Box 43">
            <a:extLst>
              <a:ext uri="{FF2B5EF4-FFF2-40B4-BE49-F238E27FC236}">
                <a16:creationId xmlns:a16="http://schemas.microsoft.com/office/drawing/2014/main" id="{6EC99EE5-2545-3DAD-4A5E-B2E35B075560}"/>
              </a:ext>
            </a:extLst>
          </p:cNvPr>
          <p:cNvSpPr txBox="1">
            <a:spLocks noChangeArrowheads="1"/>
          </p:cNvSpPr>
          <p:nvPr/>
        </p:nvSpPr>
        <p:spPr bwMode="auto">
          <a:xfrm>
            <a:off x="8436000" y="4057925"/>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69" name="Text Box 43">
            <a:extLst>
              <a:ext uri="{FF2B5EF4-FFF2-40B4-BE49-F238E27FC236}">
                <a16:creationId xmlns:a16="http://schemas.microsoft.com/office/drawing/2014/main" id="{AAB8655B-BBEA-582B-D1B9-BF95C7A1F243}"/>
              </a:ext>
            </a:extLst>
          </p:cNvPr>
          <p:cNvSpPr txBox="1">
            <a:spLocks noChangeArrowheads="1"/>
          </p:cNvSpPr>
          <p:nvPr/>
        </p:nvSpPr>
        <p:spPr bwMode="auto">
          <a:xfrm>
            <a:off x="8436000" y="4712648"/>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70" name="Text Box 43">
            <a:extLst>
              <a:ext uri="{FF2B5EF4-FFF2-40B4-BE49-F238E27FC236}">
                <a16:creationId xmlns:a16="http://schemas.microsoft.com/office/drawing/2014/main" id="{B46CF8AE-E5FC-A6D0-DD2A-1B7BC5A5C250}"/>
              </a:ext>
            </a:extLst>
          </p:cNvPr>
          <p:cNvSpPr txBox="1">
            <a:spLocks noChangeArrowheads="1"/>
          </p:cNvSpPr>
          <p:nvPr/>
        </p:nvSpPr>
        <p:spPr bwMode="auto">
          <a:xfrm>
            <a:off x="8076000" y="5367372"/>
            <a:ext cx="108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项目经理</a:t>
            </a:r>
          </a:p>
        </p:txBody>
      </p:sp>
      <p:cxnSp>
        <p:nvCxnSpPr>
          <p:cNvPr id="71" name="连接符: 肘形 70">
            <a:extLst>
              <a:ext uri="{FF2B5EF4-FFF2-40B4-BE49-F238E27FC236}">
                <a16:creationId xmlns:a16="http://schemas.microsoft.com/office/drawing/2014/main" id="{43A50330-120C-458C-6243-9CDF77942FD8}"/>
              </a:ext>
            </a:extLst>
          </p:cNvPr>
          <p:cNvCxnSpPr>
            <a:stCxn id="49" idx="2"/>
            <a:endCxn id="54" idx="0"/>
          </p:cNvCxnSpPr>
          <p:nvPr/>
        </p:nvCxnSpPr>
        <p:spPr>
          <a:xfrm rot="5400000">
            <a:off x="4666803" y="1321197"/>
            <a:ext cx="518394" cy="2340000"/>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2" name="连接符: 肘形 71">
            <a:extLst>
              <a:ext uri="{FF2B5EF4-FFF2-40B4-BE49-F238E27FC236}">
                <a16:creationId xmlns:a16="http://schemas.microsoft.com/office/drawing/2014/main" id="{0451F27E-FFD2-D517-1A6A-D88B24637111}"/>
              </a:ext>
            </a:extLst>
          </p:cNvPr>
          <p:cNvCxnSpPr>
            <a:stCxn id="56" idx="0"/>
            <a:endCxn id="49" idx="2"/>
          </p:cNvCxnSpPr>
          <p:nvPr/>
        </p:nvCxnSpPr>
        <p:spPr>
          <a:xfrm rot="16200000" flipV="1">
            <a:off x="7007761" y="1320240"/>
            <a:ext cx="516479" cy="2340000"/>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73" name="矩形 72">
            <a:extLst>
              <a:ext uri="{FF2B5EF4-FFF2-40B4-BE49-F238E27FC236}">
                <a16:creationId xmlns:a16="http://schemas.microsoft.com/office/drawing/2014/main" id="{DD496D05-9FB1-3C92-35A9-BE9CE53736F2}"/>
              </a:ext>
            </a:extLst>
          </p:cNvPr>
          <p:cNvSpPr/>
          <p:nvPr/>
        </p:nvSpPr>
        <p:spPr>
          <a:xfrm>
            <a:off x="3035999" y="5272198"/>
            <a:ext cx="6365175" cy="646051"/>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useBgFill="1">
        <p:nvSpPr>
          <p:cNvPr id="74" name="文本框 73">
            <a:extLst>
              <a:ext uri="{FF2B5EF4-FFF2-40B4-BE49-F238E27FC236}">
                <a16:creationId xmlns:a16="http://schemas.microsoft.com/office/drawing/2014/main" id="{61E69225-BA15-DBA8-B477-CF32AF6CB1A5}"/>
              </a:ext>
            </a:extLst>
          </p:cNvPr>
          <p:cNvSpPr txBox="1"/>
          <p:nvPr/>
        </p:nvSpPr>
        <p:spPr>
          <a:xfrm>
            <a:off x="7173189" y="5756605"/>
            <a:ext cx="800219" cy="276999"/>
          </a:xfrm>
          <a:prstGeom prst="rect">
            <a:avLst/>
          </a:prstGeom>
          <a:ln>
            <a:noFill/>
          </a:ln>
        </p:spPr>
        <p:txBody>
          <a:bodyPr wrap="none" rtlCol="0">
            <a:spAutoFit/>
          </a:bodyPr>
          <a:lstStyle/>
          <a:p>
            <a:pPr algn="l"/>
            <a:r>
              <a:rPr lang="zh-CN" altLang="en-US" sz="1200" dirty="0"/>
              <a:t>项目协调</a:t>
            </a:r>
          </a:p>
        </p:txBody>
      </p:sp>
      <p:grpSp>
        <p:nvGrpSpPr>
          <p:cNvPr id="75" name="组合 74">
            <a:extLst>
              <a:ext uri="{FF2B5EF4-FFF2-40B4-BE49-F238E27FC236}">
                <a16:creationId xmlns:a16="http://schemas.microsoft.com/office/drawing/2014/main" id="{8B48E2A6-4327-D052-C7E8-EF739DAAD528}"/>
              </a:ext>
            </a:extLst>
          </p:cNvPr>
          <p:cNvGrpSpPr/>
          <p:nvPr/>
        </p:nvGrpSpPr>
        <p:grpSpPr>
          <a:xfrm>
            <a:off x="3200400" y="3180478"/>
            <a:ext cx="555601" cy="2402893"/>
            <a:chOff x="3200400" y="2691478"/>
            <a:chExt cx="555601" cy="2402893"/>
          </a:xfrm>
        </p:grpSpPr>
        <p:cxnSp>
          <p:nvCxnSpPr>
            <p:cNvPr id="76" name="连接符: 肘形 75">
              <a:extLst>
                <a:ext uri="{FF2B5EF4-FFF2-40B4-BE49-F238E27FC236}">
                  <a16:creationId xmlns:a16="http://schemas.microsoft.com/office/drawing/2014/main" id="{BE1FF242-7214-E7F5-BAA7-927BAB3A6814}"/>
                </a:ext>
              </a:extLst>
            </p:cNvPr>
            <p:cNvCxnSpPr>
              <a:cxnSpLocks/>
              <a:endCxn id="62" idx="1"/>
            </p:cNvCxnSpPr>
            <p:nvPr/>
          </p:nvCxnSpPr>
          <p:spPr>
            <a:xfrm rot="16200000" flipH="1">
              <a:off x="2276754" y="3615125"/>
              <a:ext cx="2402893" cy="555600"/>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7" name="连接符: 肘形 76">
              <a:extLst>
                <a:ext uri="{FF2B5EF4-FFF2-40B4-BE49-F238E27FC236}">
                  <a16:creationId xmlns:a16="http://schemas.microsoft.com/office/drawing/2014/main" id="{3A772101-E51C-A772-39A8-52DC88FC4ED2}"/>
                </a:ext>
              </a:extLst>
            </p:cNvPr>
            <p:cNvCxnSpPr>
              <a:stCxn id="61" idx="1"/>
            </p:cNvCxnSpPr>
            <p:nvPr/>
          </p:nvCxnSpPr>
          <p:spPr>
            <a:xfrm rot="10800000">
              <a:off x="3200400" y="3143252"/>
              <a:ext cx="555600" cy="1296874"/>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8" name="连接符: 肘形 77">
              <a:extLst>
                <a:ext uri="{FF2B5EF4-FFF2-40B4-BE49-F238E27FC236}">
                  <a16:creationId xmlns:a16="http://schemas.microsoft.com/office/drawing/2014/main" id="{BF0B2BC3-39C5-7153-7450-F41CD1C21DAB}"/>
                </a:ext>
              </a:extLst>
            </p:cNvPr>
            <p:cNvCxnSpPr>
              <a:stCxn id="60" idx="1"/>
            </p:cNvCxnSpPr>
            <p:nvPr/>
          </p:nvCxnSpPr>
          <p:spPr>
            <a:xfrm rot="10800000">
              <a:off x="3200404" y="3143254"/>
              <a:ext cx="555597" cy="642629"/>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9" name="连接符: 肘形 78">
              <a:extLst>
                <a:ext uri="{FF2B5EF4-FFF2-40B4-BE49-F238E27FC236}">
                  <a16:creationId xmlns:a16="http://schemas.microsoft.com/office/drawing/2014/main" id="{7E320045-4FBB-D2DD-8695-995AB7D4FCA7}"/>
                </a:ext>
              </a:extLst>
            </p:cNvPr>
            <p:cNvCxnSpPr>
              <a:cxnSpLocks/>
            </p:cNvCxnSpPr>
            <p:nvPr/>
          </p:nvCxnSpPr>
          <p:spPr>
            <a:xfrm rot="10800000">
              <a:off x="3200402" y="2713879"/>
              <a:ext cx="555597" cy="396000"/>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grpSp>
      <p:grpSp>
        <p:nvGrpSpPr>
          <p:cNvPr id="80" name="组合 79">
            <a:extLst>
              <a:ext uri="{FF2B5EF4-FFF2-40B4-BE49-F238E27FC236}">
                <a16:creationId xmlns:a16="http://schemas.microsoft.com/office/drawing/2014/main" id="{DBE3CC5E-9FF8-EFAF-FC20-566A1F572265}"/>
              </a:ext>
            </a:extLst>
          </p:cNvPr>
          <p:cNvGrpSpPr/>
          <p:nvPr/>
        </p:nvGrpSpPr>
        <p:grpSpPr>
          <a:xfrm>
            <a:off x="5540397" y="3180478"/>
            <a:ext cx="555601" cy="2402893"/>
            <a:chOff x="3200400" y="2691478"/>
            <a:chExt cx="555601" cy="2402893"/>
          </a:xfrm>
        </p:grpSpPr>
        <p:cxnSp>
          <p:nvCxnSpPr>
            <p:cNvPr id="81" name="连接符: 肘形 80">
              <a:extLst>
                <a:ext uri="{FF2B5EF4-FFF2-40B4-BE49-F238E27FC236}">
                  <a16:creationId xmlns:a16="http://schemas.microsoft.com/office/drawing/2014/main" id="{3F308D31-017C-EEA8-8E49-CD269CC4F7D5}"/>
                </a:ext>
              </a:extLst>
            </p:cNvPr>
            <p:cNvCxnSpPr>
              <a:cxnSpLocks/>
            </p:cNvCxnSpPr>
            <p:nvPr/>
          </p:nvCxnSpPr>
          <p:spPr>
            <a:xfrm rot="16200000" flipH="1">
              <a:off x="2276754" y="3615125"/>
              <a:ext cx="2402893" cy="555600"/>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2" name="连接符: 肘形 81">
              <a:extLst>
                <a:ext uri="{FF2B5EF4-FFF2-40B4-BE49-F238E27FC236}">
                  <a16:creationId xmlns:a16="http://schemas.microsoft.com/office/drawing/2014/main" id="{69A1A569-85B0-E52B-5D9C-2CFFFB58C87F}"/>
                </a:ext>
              </a:extLst>
            </p:cNvPr>
            <p:cNvCxnSpPr/>
            <p:nvPr/>
          </p:nvCxnSpPr>
          <p:spPr>
            <a:xfrm rot="10800000">
              <a:off x="3200400" y="3143252"/>
              <a:ext cx="555600" cy="1296874"/>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3" name="连接符: 肘形 82">
              <a:extLst>
                <a:ext uri="{FF2B5EF4-FFF2-40B4-BE49-F238E27FC236}">
                  <a16:creationId xmlns:a16="http://schemas.microsoft.com/office/drawing/2014/main" id="{EDF3A268-D9DD-1419-FF6E-182BD16F18AA}"/>
                </a:ext>
              </a:extLst>
            </p:cNvPr>
            <p:cNvCxnSpPr/>
            <p:nvPr/>
          </p:nvCxnSpPr>
          <p:spPr>
            <a:xfrm rot="10800000">
              <a:off x="3200404" y="3143254"/>
              <a:ext cx="555597" cy="642629"/>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4" name="连接符: 肘形 83">
              <a:extLst>
                <a:ext uri="{FF2B5EF4-FFF2-40B4-BE49-F238E27FC236}">
                  <a16:creationId xmlns:a16="http://schemas.microsoft.com/office/drawing/2014/main" id="{BA1A62E6-1D0C-6CD6-CA09-9E615F74437C}"/>
                </a:ext>
              </a:extLst>
            </p:cNvPr>
            <p:cNvCxnSpPr>
              <a:cxnSpLocks/>
            </p:cNvCxnSpPr>
            <p:nvPr/>
          </p:nvCxnSpPr>
          <p:spPr>
            <a:xfrm rot="10800000">
              <a:off x="3200402" y="2713879"/>
              <a:ext cx="555597" cy="396000"/>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grpSp>
      <p:cxnSp>
        <p:nvCxnSpPr>
          <p:cNvPr id="85" name="连接符: 肘形 84">
            <a:extLst>
              <a:ext uri="{FF2B5EF4-FFF2-40B4-BE49-F238E27FC236}">
                <a16:creationId xmlns:a16="http://schemas.microsoft.com/office/drawing/2014/main" id="{0509027E-9BCB-0F30-6369-4D6C2A3FBA8F}"/>
              </a:ext>
            </a:extLst>
          </p:cNvPr>
          <p:cNvCxnSpPr>
            <a:cxnSpLocks/>
          </p:cNvCxnSpPr>
          <p:nvPr/>
        </p:nvCxnSpPr>
        <p:spPr>
          <a:xfrm rot="16200000" flipH="1">
            <a:off x="6768953" y="4291925"/>
            <a:ext cx="2402893" cy="180000"/>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6" name="连接符: 肘形 85">
            <a:extLst>
              <a:ext uri="{FF2B5EF4-FFF2-40B4-BE49-F238E27FC236}">
                <a16:creationId xmlns:a16="http://schemas.microsoft.com/office/drawing/2014/main" id="{E432753D-9F7E-53E0-14AA-856A96081B20}"/>
              </a:ext>
            </a:extLst>
          </p:cNvPr>
          <p:cNvCxnSpPr/>
          <p:nvPr/>
        </p:nvCxnSpPr>
        <p:spPr>
          <a:xfrm rot="10800000">
            <a:off x="7880399" y="3632252"/>
            <a:ext cx="555600" cy="1296874"/>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7" name="连接符: 肘形 86">
            <a:extLst>
              <a:ext uri="{FF2B5EF4-FFF2-40B4-BE49-F238E27FC236}">
                <a16:creationId xmlns:a16="http://schemas.microsoft.com/office/drawing/2014/main" id="{D5A280BF-CE01-CB9D-61AD-8558118FBC01}"/>
              </a:ext>
            </a:extLst>
          </p:cNvPr>
          <p:cNvCxnSpPr/>
          <p:nvPr/>
        </p:nvCxnSpPr>
        <p:spPr>
          <a:xfrm rot="10800000">
            <a:off x="7880403" y="3632254"/>
            <a:ext cx="555597" cy="642629"/>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8" name="连接符: 肘形 87">
            <a:extLst>
              <a:ext uri="{FF2B5EF4-FFF2-40B4-BE49-F238E27FC236}">
                <a16:creationId xmlns:a16="http://schemas.microsoft.com/office/drawing/2014/main" id="{CA7048B6-B650-7734-30F1-96D582660BF4}"/>
              </a:ext>
            </a:extLst>
          </p:cNvPr>
          <p:cNvCxnSpPr>
            <a:cxnSpLocks/>
          </p:cNvCxnSpPr>
          <p:nvPr/>
        </p:nvCxnSpPr>
        <p:spPr>
          <a:xfrm rot="10800000">
            <a:off x="7880401" y="3202879"/>
            <a:ext cx="555597" cy="396000"/>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8202901"/>
      </p:ext>
    </p:extLst>
  </p:cSld>
  <p:clrMapOvr>
    <a:masterClrMapping/>
  </p:clrMapOvr>
</p:sld>
</file>

<file path=ppt/slides/slide3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3C742B82-84E8-B217-2F37-F4D53A49A770}"/>
              </a:ext>
            </a:extLst>
          </p:cNvPr>
          <p:cNvSpPr>
            <a:spLocks noGrp="1"/>
          </p:cNvSpPr>
          <p:nvPr>
            <p:ph type="title"/>
          </p:nvPr>
        </p:nvSpPr>
        <p:spPr>
          <a:xfrm>
            <a:off x="792000" y="360000"/>
            <a:ext cx="6375921" cy="429413"/>
          </a:xfrm>
        </p:spPr>
        <p:txBody>
          <a:bodyPr/>
          <a:lstStyle/>
          <a:p>
            <a:r>
              <a:rPr lang="en-US" altLang="zh-CN" dirty="0"/>
              <a:t>10.2 </a:t>
            </a:r>
            <a:r>
              <a:rPr lang="zh-CN" altLang="en-US" dirty="0"/>
              <a:t>人员职责计划</a:t>
            </a:r>
          </a:p>
        </p:txBody>
      </p:sp>
      <p:sp>
        <p:nvSpPr>
          <p:cNvPr id="4" name="内容占位符 3">
            <a:extLst>
              <a:ext uri="{FF2B5EF4-FFF2-40B4-BE49-F238E27FC236}">
                <a16:creationId xmlns:a16="http://schemas.microsoft.com/office/drawing/2014/main" id="{76BC2D5E-135A-4831-C8AD-E7AD65CC908B}"/>
              </a:ext>
            </a:extLst>
          </p:cNvPr>
          <p:cNvSpPr>
            <a:spLocks noGrp="1"/>
          </p:cNvSpPr>
          <p:nvPr>
            <p:ph idx="1"/>
          </p:nvPr>
        </p:nvSpPr>
        <p:spPr>
          <a:xfrm>
            <a:off x="696000" y="864000"/>
            <a:ext cx="10800000" cy="5400000"/>
          </a:xfrm>
        </p:spPr>
        <p:txBody>
          <a:bodyPr/>
          <a:lstStyle/>
          <a:p>
            <a:r>
              <a:rPr lang="zh-CN" altLang="en-US" dirty="0"/>
              <a:t>每个人的角色和职责</a:t>
            </a:r>
          </a:p>
        </p:txBody>
      </p:sp>
      <p:sp>
        <p:nvSpPr>
          <p:cNvPr id="7" name="文本占位符 6">
            <a:extLst>
              <a:ext uri="{FF2B5EF4-FFF2-40B4-BE49-F238E27FC236}">
                <a16:creationId xmlns:a16="http://schemas.microsoft.com/office/drawing/2014/main" id="{63C710FA-0554-EDFE-B857-7C3E09AF479B}"/>
              </a:ext>
            </a:extLst>
          </p:cNvPr>
          <p:cNvSpPr>
            <a:spLocks noGrp="1"/>
          </p:cNvSpPr>
          <p:nvPr>
            <p:ph type="body" sz="quarter" idx="10"/>
          </p:nvPr>
        </p:nvSpPr>
        <p:spPr/>
        <p:txBody>
          <a:bodyPr/>
          <a:lstStyle/>
          <a:p>
            <a:endParaRPr lang="zh-CN" altLang="en-US"/>
          </a:p>
        </p:txBody>
      </p:sp>
      <p:sp>
        <p:nvSpPr>
          <p:cNvPr id="10" name="任意多边形: 形状 9">
            <a:extLst>
              <a:ext uri="{FF2B5EF4-FFF2-40B4-BE49-F238E27FC236}">
                <a16:creationId xmlns:a16="http://schemas.microsoft.com/office/drawing/2014/main" id="{9CFA9F70-E2B0-985B-2C71-225D251DF6A4}"/>
              </a:ext>
            </a:extLst>
          </p:cNvPr>
          <p:cNvSpPr/>
          <p:nvPr/>
        </p:nvSpPr>
        <p:spPr>
          <a:xfrm>
            <a:off x="7287600" y="5972700"/>
            <a:ext cx="4793039" cy="551535"/>
          </a:xfrm>
          <a:custGeom>
            <a:avLst/>
            <a:gdLst>
              <a:gd name="csX0" fmla="*/ -20 w 4793039"/>
              <a:gd name="csY0" fmla="*/ 20 h 551535"/>
              <a:gd name="csX1" fmla="*/ 171280 w 4793039"/>
              <a:gd name="csY1" fmla="*/ 533135 h 551535"/>
              <a:gd name="csX2" fmla="*/ 4621720 w 4793039"/>
              <a:gd name="csY2" fmla="*/ 551555 h 551535"/>
              <a:gd name="csX3" fmla="*/ 4793020 w 4793039"/>
              <a:gd name="csY3" fmla="*/ 18426 h 551535"/>
            </a:gdLst>
            <a:ahLst/>
            <a:cxnLst>
              <a:cxn ang="0">
                <a:pos x="csX0" y="csY0"/>
              </a:cxn>
              <a:cxn ang="0">
                <a:pos x="csX1" y="csY1"/>
              </a:cxn>
              <a:cxn ang="0">
                <a:pos x="csX2" y="csY2"/>
              </a:cxn>
              <a:cxn ang="0">
                <a:pos x="csX3" y="csY3"/>
              </a:cxn>
            </a:cxnLst>
            <a:rect l="l" t="t" r="r" b="b"/>
            <a:pathLst>
              <a:path w="4793039" h="551535">
                <a:moveTo>
                  <a:pt x="-20" y="20"/>
                </a:moveTo>
                <a:cubicBezTo>
                  <a:pt x="52427" y="188113"/>
                  <a:pt x="109668" y="366245"/>
                  <a:pt x="171280" y="533135"/>
                </a:cubicBezTo>
                <a:lnTo>
                  <a:pt x="4621720" y="551555"/>
                </a:lnTo>
                <a:cubicBezTo>
                  <a:pt x="4683333" y="384658"/>
                  <a:pt x="4740566" y="206555"/>
                  <a:pt x="4793020" y="18426"/>
                </a:cubicBezTo>
                <a:close/>
              </a:path>
            </a:pathLst>
          </a:custGeom>
          <a:solidFill>
            <a:schemeClr val="bg1">
              <a:lumMod val="95000"/>
            </a:schemeClr>
          </a:solidFill>
          <a:ln w="7491" cap="flat">
            <a:noFill/>
            <a:prstDash val="solid"/>
            <a:miter/>
          </a:ln>
        </p:spPr>
        <p:txBody>
          <a:bodyPr/>
          <a:lstStyle/>
          <a:p>
            <a:endParaRPr lang="zh-CN" altLang="en-US"/>
          </a:p>
        </p:txBody>
      </p:sp>
      <p:sp>
        <p:nvSpPr>
          <p:cNvPr id="11" name="任意多边形: 形状 10">
            <a:extLst>
              <a:ext uri="{FF2B5EF4-FFF2-40B4-BE49-F238E27FC236}">
                <a16:creationId xmlns:a16="http://schemas.microsoft.com/office/drawing/2014/main" id="{7B3B2292-4E66-8E25-35AF-F16C5AC45A5F}"/>
              </a:ext>
            </a:extLst>
          </p:cNvPr>
          <p:cNvSpPr/>
          <p:nvPr/>
        </p:nvSpPr>
        <p:spPr>
          <a:xfrm>
            <a:off x="8516130" y="4898698"/>
            <a:ext cx="769597" cy="1135562"/>
          </a:xfrm>
          <a:custGeom>
            <a:avLst/>
            <a:gdLst>
              <a:gd name="csX0" fmla="*/ -48 w 769597"/>
              <a:gd name="csY0" fmla="*/ 37037 h 1135562"/>
              <a:gd name="csX1" fmla="*/ -48 w 769597"/>
              <a:gd name="csY1" fmla="*/ 1135539 h 1135562"/>
              <a:gd name="csX2" fmla="*/ 769550 w 769597"/>
              <a:gd name="csY2" fmla="*/ 1135539 h 1135562"/>
              <a:gd name="csX3" fmla="*/ 769550 w 769597"/>
              <a:gd name="csY3" fmla="*/ 37037 h 1135562"/>
              <a:gd name="csX4" fmla="*/ 743525 w 769597"/>
              <a:gd name="csY4" fmla="*/ 1689 h 1135562"/>
              <a:gd name="csX5" fmla="*/ 732492 w 769597"/>
              <a:gd name="csY5" fmla="*/ -21 h 1135562"/>
              <a:gd name="csX6" fmla="*/ 37115 w 769597"/>
              <a:gd name="csY6" fmla="*/ -21 h 1135562"/>
              <a:gd name="csX7" fmla="*/ -48 w 769597"/>
              <a:gd name="csY7" fmla="*/ 37007 h 1135562"/>
              <a:gd name="csX8" fmla="*/ -48 w 769597"/>
              <a:gd name="csY8" fmla="*/ 37037 h 1135562"/>
              <a:gd name="csX9" fmla="*/ 300327 w 769597"/>
              <a:gd name="csY9" fmla="*/ 414497 h 1135562"/>
              <a:gd name="csX10" fmla="*/ 382482 w 769597"/>
              <a:gd name="csY10" fmla="*/ 332342 h 1135562"/>
              <a:gd name="csX11" fmla="*/ 464637 w 769597"/>
              <a:gd name="csY11" fmla="*/ 414497 h 1135562"/>
              <a:gd name="csX12" fmla="*/ 464637 w 769597"/>
              <a:gd name="csY12" fmla="*/ 541997 h 1135562"/>
              <a:gd name="csX13" fmla="*/ 382482 w 769597"/>
              <a:gd name="csY13" fmla="*/ 624152 h 1135562"/>
              <a:gd name="csX14" fmla="*/ 300327 w 769597"/>
              <a:gd name="csY14" fmla="*/ 541997 h 11355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769597" h="1135562">
                <a:moveTo>
                  <a:pt x="-48" y="37037"/>
                </a:moveTo>
                <a:lnTo>
                  <a:pt x="-48" y="1135539"/>
                </a:lnTo>
                <a:lnTo>
                  <a:pt x="769550" y="1135539"/>
                </a:lnTo>
                <a:lnTo>
                  <a:pt x="769550" y="37037"/>
                </a:lnTo>
                <a:cubicBezTo>
                  <a:pt x="769578" y="20818"/>
                  <a:pt x="759020" y="6479"/>
                  <a:pt x="743525" y="1689"/>
                </a:cubicBezTo>
                <a:cubicBezTo>
                  <a:pt x="739967" y="516"/>
                  <a:pt x="736239" y="-62"/>
                  <a:pt x="732492" y="-21"/>
                </a:cubicBezTo>
                <a:lnTo>
                  <a:pt x="37115" y="-21"/>
                </a:lnTo>
                <a:cubicBezTo>
                  <a:pt x="16628" y="-58"/>
                  <a:pt x="-11" y="16520"/>
                  <a:pt x="-48" y="37007"/>
                </a:cubicBezTo>
                <a:cubicBezTo>
                  <a:pt x="-48" y="37017"/>
                  <a:pt x="-48" y="37027"/>
                  <a:pt x="-48" y="37037"/>
                </a:cubicBezTo>
                <a:close/>
                <a:moveTo>
                  <a:pt x="300327" y="414497"/>
                </a:moveTo>
                <a:cubicBezTo>
                  <a:pt x="300327" y="369124"/>
                  <a:pt x="337109" y="332342"/>
                  <a:pt x="382482" y="332342"/>
                </a:cubicBezTo>
                <a:cubicBezTo>
                  <a:pt x="427855" y="332342"/>
                  <a:pt x="464637" y="369124"/>
                  <a:pt x="464637" y="414497"/>
                </a:cubicBezTo>
                <a:lnTo>
                  <a:pt x="464637" y="541997"/>
                </a:lnTo>
                <a:cubicBezTo>
                  <a:pt x="464637" y="587370"/>
                  <a:pt x="427855" y="624152"/>
                  <a:pt x="382482" y="624152"/>
                </a:cubicBezTo>
                <a:cubicBezTo>
                  <a:pt x="337109" y="624152"/>
                  <a:pt x="300327" y="587370"/>
                  <a:pt x="300327" y="541997"/>
                </a:cubicBezTo>
                <a:close/>
              </a:path>
            </a:pathLst>
          </a:custGeom>
          <a:solidFill>
            <a:srgbClr val="2F2E41"/>
          </a:solidFill>
          <a:ln w="7491" cap="flat">
            <a:noFill/>
            <a:prstDash val="solid"/>
            <a:miter/>
          </a:ln>
        </p:spPr>
        <p:txBody>
          <a:bodyPr/>
          <a:lstStyle/>
          <a:p>
            <a:endParaRPr lang="zh-CN" altLang="en-US"/>
          </a:p>
        </p:txBody>
      </p:sp>
      <p:sp>
        <p:nvSpPr>
          <p:cNvPr id="12" name="任意多边形: 形状 11">
            <a:extLst>
              <a:ext uri="{FF2B5EF4-FFF2-40B4-BE49-F238E27FC236}">
                <a16:creationId xmlns:a16="http://schemas.microsoft.com/office/drawing/2014/main" id="{ACAD9472-500C-6272-1332-4715AA8F8EAC}"/>
              </a:ext>
            </a:extLst>
          </p:cNvPr>
          <p:cNvSpPr/>
          <p:nvPr/>
        </p:nvSpPr>
        <p:spPr>
          <a:xfrm>
            <a:off x="8513760" y="5999161"/>
            <a:ext cx="774322" cy="126719"/>
          </a:xfrm>
          <a:custGeom>
            <a:avLst/>
            <a:gdLst>
              <a:gd name="csX0" fmla="*/ -48 w 774322"/>
              <a:gd name="csY0" fmla="*/ 21 h 126719"/>
              <a:gd name="csX1" fmla="*/ -48 w 774322"/>
              <a:gd name="csY1" fmla="*/ 105959 h 126719"/>
              <a:gd name="csX2" fmla="*/ 20629 w 774322"/>
              <a:gd name="csY2" fmla="*/ 126741 h 126719"/>
              <a:gd name="csX3" fmla="*/ 753597 w 774322"/>
              <a:gd name="csY3" fmla="*/ 126741 h 126719"/>
              <a:gd name="csX4" fmla="*/ 774274 w 774322"/>
              <a:gd name="csY4" fmla="*/ 105959 h 126719"/>
              <a:gd name="csX5" fmla="*/ 774275 w 774322"/>
              <a:gd name="csY5" fmla="*/ 21 h 126719"/>
            </a:gdLst>
            <a:ahLst/>
            <a:cxnLst>
              <a:cxn ang="0">
                <a:pos x="csX0" y="csY0"/>
              </a:cxn>
              <a:cxn ang="0">
                <a:pos x="csX1" y="csY1"/>
              </a:cxn>
              <a:cxn ang="0">
                <a:pos x="csX2" y="csY2"/>
              </a:cxn>
              <a:cxn ang="0">
                <a:pos x="csX3" y="csY3"/>
              </a:cxn>
              <a:cxn ang="0">
                <a:pos x="csX4" y="csY4"/>
              </a:cxn>
              <a:cxn ang="0">
                <a:pos x="csX5" y="csY5"/>
              </a:cxn>
            </a:cxnLst>
            <a:rect l="l" t="t" r="r" b="b"/>
            <a:pathLst>
              <a:path w="774322" h="126719">
                <a:moveTo>
                  <a:pt x="-48" y="21"/>
                </a:moveTo>
                <a:lnTo>
                  <a:pt x="-48" y="105959"/>
                </a:lnTo>
                <a:cubicBezTo>
                  <a:pt x="-15" y="117382"/>
                  <a:pt x="9206" y="126651"/>
                  <a:pt x="20629" y="126741"/>
                </a:cubicBezTo>
                <a:lnTo>
                  <a:pt x="753597" y="126741"/>
                </a:lnTo>
                <a:cubicBezTo>
                  <a:pt x="765034" y="126684"/>
                  <a:pt x="774275" y="117396"/>
                  <a:pt x="774274" y="105959"/>
                </a:cubicBezTo>
                <a:lnTo>
                  <a:pt x="774275" y="21"/>
                </a:lnTo>
                <a:close/>
              </a:path>
            </a:pathLst>
          </a:custGeom>
          <a:solidFill>
            <a:srgbClr val="3F3D56"/>
          </a:solidFill>
          <a:ln w="7491" cap="flat">
            <a:noFill/>
            <a:prstDash val="solid"/>
            <a:miter/>
          </a:ln>
        </p:spPr>
        <p:txBody>
          <a:bodyPr/>
          <a:lstStyle/>
          <a:p>
            <a:endParaRPr lang="zh-CN" altLang="en-US"/>
          </a:p>
        </p:txBody>
      </p:sp>
      <p:sp>
        <p:nvSpPr>
          <p:cNvPr id="13" name="任意多边形: 形状 12">
            <a:extLst>
              <a:ext uri="{FF2B5EF4-FFF2-40B4-BE49-F238E27FC236}">
                <a16:creationId xmlns:a16="http://schemas.microsoft.com/office/drawing/2014/main" id="{0B547EA4-F6B6-B5D7-BDCA-70691409F70D}"/>
              </a:ext>
            </a:extLst>
          </p:cNvPr>
          <p:cNvSpPr/>
          <p:nvPr/>
        </p:nvSpPr>
        <p:spPr>
          <a:xfrm>
            <a:off x="7305443" y="3184358"/>
            <a:ext cx="3165150" cy="2198482"/>
          </a:xfrm>
          <a:custGeom>
            <a:avLst/>
            <a:gdLst>
              <a:gd name="csX0" fmla="*/ -96 w 3165150"/>
              <a:gd name="csY0" fmla="*/ 96231 h 2198482"/>
              <a:gd name="csX1" fmla="*/ -96 w 3165150"/>
              <a:gd name="csY1" fmla="*/ 2101994 h 2198482"/>
              <a:gd name="csX2" fmla="*/ 96279 w 3165150"/>
              <a:gd name="csY2" fmla="*/ 2198392 h 2198482"/>
              <a:gd name="csX3" fmla="*/ 3068656 w 3165150"/>
              <a:gd name="csY3" fmla="*/ 2198391 h 2198482"/>
              <a:gd name="csX4" fmla="*/ 3165054 w 3165150"/>
              <a:gd name="csY4" fmla="*/ 2101994 h 2198482"/>
              <a:gd name="csX5" fmla="*/ 3165054 w 3165150"/>
              <a:gd name="csY5" fmla="*/ 96231 h 2198482"/>
              <a:gd name="csX6" fmla="*/ 3068656 w 3165150"/>
              <a:gd name="csY6" fmla="*/ -91 h 2198482"/>
              <a:gd name="csX7" fmla="*/ 96279 w 3165150"/>
              <a:gd name="csY7" fmla="*/ -91 h 2198482"/>
              <a:gd name="csX8" fmla="*/ -96 w 3165150"/>
              <a:gd name="csY8" fmla="*/ 96231 h 21984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165150" h="2198482">
                <a:moveTo>
                  <a:pt x="-96" y="96231"/>
                </a:moveTo>
                <a:lnTo>
                  <a:pt x="-96" y="2101994"/>
                </a:lnTo>
                <a:cubicBezTo>
                  <a:pt x="-55" y="2155207"/>
                  <a:pt x="43066" y="2198338"/>
                  <a:pt x="96279" y="2198392"/>
                </a:cubicBezTo>
                <a:lnTo>
                  <a:pt x="3068656" y="2198391"/>
                </a:lnTo>
                <a:cubicBezTo>
                  <a:pt x="3121878" y="2198350"/>
                  <a:pt x="3165012" y="2155215"/>
                  <a:pt x="3165054" y="2101994"/>
                </a:cubicBezTo>
                <a:lnTo>
                  <a:pt x="3165054" y="96231"/>
                </a:lnTo>
                <a:cubicBezTo>
                  <a:pt x="3164942" y="43051"/>
                  <a:pt x="3121837" y="-21"/>
                  <a:pt x="3068656" y="-91"/>
                </a:cubicBezTo>
                <a:lnTo>
                  <a:pt x="96279" y="-91"/>
                </a:lnTo>
                <a:cubicBezTo>
                  <a:pt x="43105" y="-13"/>
                  <a:pt x="11" y="43058"/>
                  <a:pt x="-96" y="96231"/>
                </a:cubicBezTo>
                <a:close/>
              </a:path>
            </a:pathLst>
          </a:custGeom>
          <a:solidFill>
            <a:srgbClr val="3F3D56"/>
          </a:solidFill>
          <a:ln w="7491" cap="flat">
            <a:noFill/>
            <a:prstDash val="solid"/>
            <a:miter/>
          </a:ln>
        </p:spPr>
        <p:txBody>
          <a:bodyPr/>
          <a:lstStyle/>
          <a:p>
            <a:endParaRPr lang="zh-CN" altLang="en-US"/>
          </a:p>
        </p:txBody>
      </p:sp>
      <p:sp>
        <p:nvSpPr>
          <p:cNvPr id="14" name="任意多边形: 形状 13">
            <a:extLst>
              <a:ext uri="{FF2B5EF4-FFF2-40B4-BE49-F238E27FC236}">
                <a16:creationId xmlns:a16="http://schemas.microsoft.com/office/drawing/2014/main" id="{64E3A019-6C2A-B079-4D93-F3E9C14AC20C}"/>
              </a:ext>
            </a:extLst>
          </p:cNvPr>
          <p:cNvSpPr/>
          <p:nvPr/>
        </p:nvSpPr>
        <p:spPr>
          <a:xfrm>
            <a:off x="7375185" y="3254018"/>
            <a:ext cx="3025784" cy="2059207"/>
          </a:xfrm>
          <a:custGeom>
            <a:avLst/>
            <a:gdLst>
              <a:gd name="csX0" fmla="*/ -93 w 3025784"/>
              <a:gd name="csY0" fmla="*/ 51542 h 2059207"/>
              <a:gd name="csX1" fmla="*/ -93 w 3025784"/>
              <a:gd name="csY1" fmla="*/ 2007602 h 2059207"/>
              <a:gd name="csX2" fmla="*/ 51424 w 3025784"/>
              <a:gd name="csY2" fmla="*/ 2059119 h 2059207"/>
              <a:gd name="csX3" fmla="*/ 2974174 w 3025784"/>
              <a:gd name="csY3" fmla="*/ 2059119 h 2059207"/>
              <a:gd name="csX4" fmla="*/ 3025692 w 3025784"/>
              <a:gd name="csY4" fmla="*/ 2007602 h 2059207"/>
              <a:gd name="csX5" fmla="*/ 3025692 w 3025784"/>
              <a:gd name="csY5" fmla="*/ 51542 h 2059207"/>
              <a:gd name="csX6" fmla="*/ 2974174 w 3025784"/>
              <a:gd name="csY6" fmla="*/ -88 h 2059207"/>
              <a:gd name="csX7" fmla="*/ 51424 w 3025784"/>
              <a:gd name="csY7" fmla="*/ -88 h 2059207"/>
              <a:gd name="csX8" fmla="*/ -93 w 3025784"/>
              <a:gd name="csY8" fmla="*/ 51542 h 20592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025784" h="2059207">
                <a:moveTo>
                  <a:pt x="-93" y="51542"/>
                </a:moveTo>
                <a:lnTo>
                  <a:pt x="-93" y="2007602"/>
                </a:lnTo>
                <a:cubicBezTo>
                  <a:pt x="-40" y="2036031"/>
                  <a:pt x="22994" y="2059065"/>
                  <a:pt x="51424" y="2059119"/>
                </a:cubicBezTo>
                <a:lnTo>
                  <a:pt x="2974174" y="2059119"/>
                </a:lnTo>
                <a:cubicBezTo>
                  <a:pt x="3002604" y="2059066"/>
                  <a:pt x="3025638" y="2036032"/>
                  <a:pt x="3025692" y="2007602"/>
                </a:cubicBezTo>
                <a:lnTo>
                  <a:pt x="3025692" y="51542"/>
                </a:lnTo>
                <a:cubicBezTo>
                  <a:pt x="3025692" y="23071"/>
                  <a:pt x="3002645" y="-26"/>
                  <a:pt x="2974174" y="-88"/>
                </a:cubicBezTo>
                <a:lnTo>
                  <a:pt x="51424" y="-88"/>
                </a:lnTo>
                <a:cubicBezTo>
                  <a:pt x="22953" y="-26"/>
                  <a:pt x="-94" y="23071"/>
                  <a:pt x="-93" y="51542"/>
                </a:cubicBezTo>
                <a:close/>
              </a:path>
            </a:pathLst>
          </a:custGeom>
          <a:solidFill>
            <a:srgbClr val="FFFFFF"/>
          </a:solidFill>
          <a:ln w="7491" cap="flat">
            <a:noFill/>
            <a:prstDash val="solid"/>
            <a:miter/>
          </a:ln>
        </p:spPr>
        <p:txBody>
          <a:bodyPr/>
          <a:lstStyle/>
          <a:p>
            <a:endParaRPr lang="zh-CN" altLang="en-US"/>
          </a:p>
        </p:txBody>
      </p:sp>
      <p:sp>
        <p:nvSpPr>
          <p:cNvPr id="15" name="任意多边形: 形状 14">
            <a:extLst>
              <a:ext uri="{FF2B5EF4-FFF2-40B4-BE49-F238E27FC236}">
                <a16:creationId xmlns:a16="http://schemas.microsoft.com/office/drawing/2014/main" id="{38780426-753F-8EFA-F38D-C63B22720FD4}"/>
              </a:ext>
            </a:extLst>
          </p:cNvPr>
          <p:cNvSpPr/>
          <p:nvPr/>
        </p:nvSpPr>
        <p:spPr>
          <a:xfrm>
            <a:off x="7910395" y="5938418"/>
            <a:ext cx="1802835" cy="192165"/>
          </a:xfrm>
          <a:custGeom>
            <a:avLst/>
            <a:gdLst>
              <a:gd name="csX0" fmla="*/ 7148 w 1802835"/>
              <a:gd name="csY0" fmla="*/ 180311 h 192165"/>
              <a:gd name="csX1" fmla="*/ 31973 w 1802835"/>
              <a:gd name="csY1" fmla="*/ 192184 h 192165"/>
              <a:gd name="csX2" fmla="*/ 1770818 w 1802835"/>
              <a:gd name="csY2" fmla="*/ 192184 h 192165"/>
              <a:gd name="csX3" fmla="*/ 1802764 w 1802835"/>
              <a:gd name="csY3" fmla="*/ 160125 h 192165"/>
              <a:gd name="csX4" fmla="*/ 1802085 w 1802835"/>
              <a:gd name="csY4" fmla="*/ 153627 h 192165"/>
              <a:gd name="csX5" fmla="*/ 1775085 w 1802835"/>
              <a:gd name="csY5" fmla="*/ 25414 h 192165"/>
              <a:gd name="csX6" fmla="*/ 1755165 w 1802835"/>
              <a:gd name="csY6" fmla="*/ 2164 h 192165"/>
              <a:gd name="csX7" fmla="*/ 1743810 w 1802835"/>
              <a:gd name="csY7" fmla="*/ 19 h 192165"/>
              <a:gd name="csX8" fmla="*/ 58860 w 1802835"/>
              <a:gd name="csY8" fmla="*/ 19 h 192165"/>
              <a:gd name="csX9" fmla="*/ 47505 w 1802835"/>
              <a:gd name="csY9" fmla="*/ 2164 h 192165"/>
              <a:gd name="csX10" fmla="*/ 27585 w 1802835"/>
              <a:gd name="csY10" fmla="*/ 25414 h 192165"/>
              <a:gd name="csX11" fmla="*/ 585 w 1802835"/>
              <a:gd name="csY11" fmla="*/ 153627 h 192165"/>
              <a:gd name="csX12" fmla="*/ 7148 w 1802835"/>
              <a:gd name="csY12" fmla="*/ 180311 h 1921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802835" h="192165">
                <a:moveTo>
                  <a:pt x="7148" y="180311"/>
                </a:moveTo>
                <a:cubicBezTo>
                  <a:pt x="13173" y="187855"/>
                  <a:pt x="22318" y="192229"/>
                  <a:pt x="31973" y="192184"/>
                </a:cubicBezTo>
                <a:lnTo>
                  <a:pt x="1770818" y="192184"/>
                </a:lnTo>
                <a:cubicBezTo>
                  <a:pt x="1788492" y="192153"/>
                  <a:pt x="1802795" y="177800"/>
                  <a:pt x="1802764" y="160125"/>
                </a:cubicBezTo>
                <a:cubicBezTo>
                  <a:pt x="1802760" y="157941"/>
                  <a:pt x="1802533" y="155764"/>
                  <a:pt x="1802085" y="153627"/>
                </a:cubicBezTo>
                <a:lnTo>
                  <a:pt x="1775085" y="25414"/>
                </a:lnTo>
                <a:cubicBezTo>
                  <a:pt x="1772815" y="14789"/>
                  <a:pt x="1765316" y="6037"/>
                  <a:pt x="1755165" y="2164"/>
                </a:cubicBezTo>
                <a:cubicBezTo>
                  <a:pt x="1751548" y="743"/>
                  <a:pt x="1747696" y="15"/>
                  <a:pt x="1743810" y="19"/>
                </a:cubicBezTo>
                <a:lnTo>
                  <a:pt x="58860" y="19"/>
                </a:lnTo>
                <a:cubicBezTo>
                  <a:pt x="54974" y="16"/>
                  <a:pt x="51122" y="743"/>
                  <a:pt x="47505" y="2164"/>
                </a:cubicBezTo>
                <a:cubicBezTo>
                  <a:pt x="37353" y="6036"/>
                  <a:pt x="29854" y="14788"/>
                  <a:pt x="27585" y="25414"/>
                </a:cubicBezTo>
                <a:lnTo>
                  <a:pt x="585" y="153627"/>
                </a:lnTo>
                <a:cubicBezTo>
                  <a:pt x="-1356" y="163056"/>
                  <a:pt x="1054" y="172858"/>
                  <a:pt x="7148" y="180311"/>
                </a:cubicBezTo>
                <a:close/>
              </a:path>
            </a:pathLst>
          </a:custGeom>
          <a:solidFill>
            <a:srgbClr val="2F2E41"/>
          </a:solidFill>
          <a:ln w="7491" cap="flat">
            <a:noFill/>
            <a:prstDash val="solid"/>
            <a:miter/>
          </a:ln>
        </p:spPr>
        <p:txBody>
          <a:bodyPr/>
          <a:lstStyle/>
          <a:p>
            <a:endParaRPr lang="zh-CN" altLang="en-US"/>
          </a:p>
        </p:txBody>
      </p:sp>
      <p:sp>
        <p:nvSpPr>
          <p:cNvPr id="16" name="任意多边形: 形状 15">
            <a:extLst>
              <a:ext uri="{FF2B5EF4-FFF2-40B4-BE49-F238E27FC236}">
                <a16:creationId xmlns:a16="http://schemas.microsoft.com/office/drawing/2014/main" id="{1D87C2B4-4FB6-5E72-E08E-EE6A75C1F25B}"/>
              </a:ext>
            </a:extLst>
          </p:cNvPr>
          <p:cNvSpPr/>
          <p:nvPr/>
        </p:nvSpPr>
        <p:spPr>
          <a:xfrm>
            <a:off x="7508948" y="3501720"/>
            <a:ext cx="2756550" cy="21750"/>
          </a:xfrm>
          <a:custGeom>
            <a:avLst/>
            <a:gdLst>
              <a:gd name="csX0" fmla="*/ 2745550 w 2756550"/>
              <a:gd name="csY0" fmla="*/ 21672 h 21750"/>
              <a:gd name="csX1" fmla="*/ 10787 w 2756550"/>
              <a:gd name="csY1" fmla="*/ 21672 h 21750"/>
              <a:gd name="csX2" fmla="*/ -88 w 2756550"/>
              <a:gd name="csY2" fmla="*/ 10797 h 21750"/>
              <a:gd name="csX3" fmla="*/ 10787 w 2756550"/>
              <a:gd name="csY3" fmla="*/ -79 h 21750"/>
              <a:gd name="csX4" fmla="*/ 2745587 w 2756550"/>
              <a:gd name="csY4" fmla="*/ -79 h 21750"/>
              <a:gd name="csX5" fmla="*/ 2756462 w 2756550"/>
              <a:gd name="csY5" fmla="*/ 10797 h 21750"/>
              <a:gd name="csX6" fmla="*/ 2745587 w 2756550"/>
              <a:gd name="csY6" fmla="*/ 21672 h 2175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756550" h="21750">
                <a:moveTo>
                  <a:pt x="2745550" y="21672"/>
                </a:moveTo>
                <a:lnTo>
                  <a:pt x="10787" y="21672"/>
                </a:lnTo>
                <a:cubicBezTo>
                  <a:pt x="4781" y="21672"/>
                  <a:pt x="-88" y="16803"/>
                  <a:pt x="-88" y="10797"/>
                </a:cubicBezTo>
                <a:cubicBezTo>
                  <a:pt x="-88" y="4790"/>
                  <a:pt x="4781" y="-79"/>
                  <a:pt x="10787" y="-79"/>
                </a:cubicBezTo>
                <a:lnTo>
                  <a:pt x="2745587" y="-79"/>
                </a:lnTo>
                <a:cubicBezTo>
                  <a:pt x="2751594" y="-79"/>
                  <a:pt x="2756462" y="4790"/>
                  <a:pt x="2756462" y="10797"/>
                </a:cubicBezTo>
                <a:cubicBezTo>
                  <a:pt x="2756462" y="16803"/>
                  <a:pt x="2751594" y="21672"/>
                  <a:pt x="2745587" y="21672"/>
                </a:cubicBezTo>
                <a:close/>
              </a:path>
            </a:pathLst>
          </a:custGeom>
          <a:solidFill>
            <a:srgbClr val="3F3D56"/>
          </a:solidFill>
          <a:ln w="7491" cap="flat">
            <a:noFill/>
            <a:prstDash val="solid"/>
            <a:miter/>
          </a:ln>
        </p:spPr>
        <p:txBody>
          <a:bodyPr/>
          <a:lstStyle/>
          <a:p>
            <a:endParaRPr lang="zh-CN" altLang="en-US"/>
          </a:p>
        </p:txBody>
      </p:sp>
      <p:sp>
        <p:nvSpPr>
          <p:cNvPr id="17" name="椭圆 16">
            <a:extLst>
              <a:ext uri="{FF2B5EF4-FFF2-40B4-BE49-F238E27FC236}">
                <a16:creationId xmlns:a16="http://schemas.microsoft.com/office/drawing/2014/main" id="{97390F66-DD5D-7723-9CAB-53E7209701AC}"/>
              </a:ext>
            </a:extLst>
          </p:cNvPr>
          <p:cNvSpPr/>
          <p:nvPr/>
        </p:nvSpPr>
        <p:spPr>
          <a:xfrm>
            <a:off x="7642215" y="3315871"/>
            <a:ext cx="127470" cy="130305"/>
          </a:xfrm>
          <a:prstGeom prst="ellipse">
            <a:avLst/>
          </a:prstGeom>
          <a:solidFill>
            <a:srgbClr val="3F3D56"/>
          </a:solidFill>
          <a:ln w="7491" cap="flat">
            <a:noFill/>
            <a:prstDash val="solid"/>
            <a:miter/>
          </a:ln>
        </p:spPr>
        <p:txBody>
          <a:bodyPr/>
          <a:lstStyle/>
          <a:p>
            <a:endParaRPr lang="zh-CN" altLang="en-US"/>
          </a:p>
        </p:txBody>
      </p:sp>
      <p:sp>
        <p:nvSpPr>
          <p:cNvPr id="18" name="椭圆 17">
            <a:extLst>
              <a:ext uri="{FF2B5EF4-FFF2-40B4-BE49-F238E27FC236}">
                <a16:creationId xmlns:a16="http://schemas.microsoft.com/office/drawing/2014/main" id="{0D40FCF7-8F9A-E246-FC63-50F33B06E115}"/>
              </a:ext>
            </a:extLst>
          </p:cNvPr>
          <p:cNvSpPr/>
          <p:nvPr/>
        </p:nvSpPr>
        <p:spPr>
          <a:xfrm>
            <a:off x="7862378" y="3315871"/>
            <a:ext cx="127469" cy="130305"/>
          </a:xfrm>
          <a:prstGeom prst="ellipse">
            <a:avLst/>
          </a:prstGeom>
          <a:solidFill>
            <a:srgbClr val="3F3D56"/>
          </a:solidFill>
          <a:ln w="7491" cap="flat">
            <a:noFill/>
            <a:prstDash val="solid"/>
            <a:miter/>
          </a:ln>
        </p:spPr>
        <p:txBody>
          <a:bodyPr/>
          <a:lstStyle/>
          <a:p>
            <a:endParaRPr lang="zh-CN" altLang="en-US"/>
          </a:p>
        </p:txBody>
      </p:sp>
      <p:sp>
        <p:nvSpPr>
          <p:cNvPr id="19" name="椭圆 18">
            <a:extLst>
              <a:ext uri="{FF2B5EF4-FFF2-40B4-BE49-F238E27FC236}">
                <a16:creationId xmlns:a16="http://schemas.microsoft.com/office/drawing/2014/main" id="{A9429326-6D8A-58EA-4953-F8E99416F5F3}"/>
              </a:ext>
            </a:extLst>
          </p:cNvPr>
          <p:cNvSpPr/>
          <p:nvPr/>
        </p:nvSpPr>
        <p:spPr>
          <a:xfrm>
            <a:off x="8082563" y="3315871"/>
            <a:ext cx="127469" cy="130305"/>
          </a:xfrm>
          <a:prstGeom prst="ellipse">
            <a:avLst/>
          </a:prstGeom>
          <a:solidFill>
            <a:srgbClr val="3F3D56"/>
          </a:solidFill>
          <a:ln w="7491" cap="flat">
            <a:noFill/>
            <a:prstDash val="solid"/>
            <a:miter/>
          </a:ln>
        </p:spPr>
        <p:txBody>
          <a:bodyPr/>
          <a:lstStyle/>
          <a:p>
            <a:endParaRPr lang="zh-CN" altLang="en-US"/>
          </a:p>
        </p:txBody>
      </p:sp>
      <p:sp>
        <p:nvSpPr>
          <p:cNvPr id="20" name="任意多边形: 形状 19">
            <a:extLst>
              <a:ext uri="{FF2B5EF4-FFF2-40B4-BE49-F238E27FC236}">
                <a16:creationId xmlns:a16="http://schemas.microsoft.com/office/drawing/2014/main" id="{CD35AF46-0644-0AE1-8BCF-6B19CCFD08CE}"/>
              </a:ext>
            </a:extLst>
          </p:cNvPr>
          <p:cNvSpPr/>
          <p:nvPr/>
        </p:nvSpPr>
        <p:spPr>
          <a:xfrm>
            <a:off x="9954204" y="3331981"/>
            <a:ext cx="180060" cy="23685"/>
          </a:xfrm>
          <a:custGeom>
            <a:avLst/>
            <a:gdLst>
              <a:gd name="csX0" fmla="*/ 167813 w 180060"/>
              <a:gd name="csY0" fmla="*/ -78 h 23685"/>
              <a:gd name="csX1" fmla="*/ 11431 w 180060"/>
              <a:gd name="csY1" fmla="*/ -78 h 23685"/>
              <a:gd name="csX2" fmla="*/ 17 w 180060"/>
              <a:gd name="csY2" fmla="*/ 12179 h 23685"/>
              <a:gd name="csX3" fmla="*/ 11431 w 180060"/>
              <a:gd name="csY3" fmla="*/ 23592 h 23685"/>
              <a:gd name="csX4" fmla="*/ 167806 w 180060"/>
              <a:gd name="csY4" fmla="*/ 23592 h 23685"/>
              <a:gd name="csX5" fmla="*/ 180062 w 180060"/>
              <a:gd name="csY5" fmla="*/ 12179 h 23685"/>
              <a:gd name="csX6" fmla="*/ 168649 w 180060"/>
              <a:gd name="csY6" fmla="*/ -78 h 23685"/>
              <a:gd name="csX7" fmla="*/ 167806 w 180060"/>
              <a:gd name="csY7" fmla="*/ -78 h 236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80060" h="23685">
                <a:moveTo>
                  <a:pt x="167813" y="-78"/>
                </a:moveTo>
                <a:lnTo>
                  <a:pt x="11431" y="-78"/>
                </a:lnTo>
                <a:cubicBezTo>
                  <a:pt x="4894" y="155"/>
                  <a:pt x="-216" y="5642"/>
                  <a:pt x="17" y="12179"/>
                </a:cubicBezTo>
                <a:cubicBezTo>
                  <a:pt x="238" y="18388"/>
                  <a:pt x="5221" y="23371"/>
                  <a:pt x="11431" y="23592"/>
                </a:cubicBezTo>
                <a:lnTo>
                  <a:pt x="167806" y="23592"/>
                </a:lnTo>
                <a:cubicBezTo>
                  <a:pt x="174342" y="23825"/>
                  <a:pt x="179829" y="18715"/>
                  <a:pt x="180062" y="12179"/>
                </a:cubicBezTo>
                <a:cubicBezTo>
                  <a:pt x="180295" y="5642"/>
                  <a:pt x="175185" y="155"/>
                  <a:pt x="168649" y="-78"/>
                </a:cubicBezTo>
                <a:cubicBezTo>
                  <a:pt x="168368" y="-88"/>
                  <a:pt x="168087" y="-88"/>
                  <a:pt x="167806" y="-78"/>
                </a:cubicBezTo>
                <a:close/>
              </a:path>
            </a:pathLst>
          </a:custGeom>
          <a:solidFill>
            <a:srgbClr val="3F3D56"/>
          </a:solidFill>
          <a:ln w="7491" cap="flat">
            <a:noFill/>
            <a:prstDash val="solid"/>
            <a:miter/>
          </a:ln>
        </p:spPr>
        <p:txBody>
          <a:bodyPr/>
          <a:lstStyle/>
          <a:p>
            <a:endParaRPr lang="zh-CN" altLang="en-US"/>
          </a:p>
        </p:txBody>
      </p:sp>
      <p:sp>
        <p:nvSpPr>
          <p:cNvPr id="21" name="任意多边形: 形状 20">
            <a:extLst>
              <a:ext uri="{FF2B5EF4-FFF2-40B4-BE49-F238E27FC236}">
                <a16:creationId xmlns:a16="http://schemas.microsoft.com/office/drawing/2014/main" id="{E0FB0911-06A4-65D9-3FC3-C0F2B261DB09}"/>
              </a:ext>
            </a:extLst>
          </p:cNvPr>
          <p:cNvSpPr/>
          <p:nvPr/>
        </p:nvSpPr>
        <p:spPr>
          <a:xfrm>
            <a:off x="9954066" y="3376433"/>
            <a:ext cx="180183" cy="23685"/>
          </a:xfrm>
          <a:custGeom>
            <a:avLst/>
            <a:gdLst>
              <a:gd name="csX0" fmla="*/ 167929 w 180183"/>
              <a:gd name="csY0" fmla="*/ -83 h 23685"/>
              <a:gd name="csX1" fmla="*/ 11554 w 180183"/>
              <a:gd name="csY1" fmla="*/ -83 h 23685"/>
              <a:gd name="csX2" fmla="*/ 13 w 180183"/>
              <a:gd name="csY2" fmla="*/ 12053 h 23685"/>
              <a:gd name="csX3" fmla="*/ 11554 w 180183"/>
              <a:gd name="csY3" fmla="*/ 23594 h 23685"/>
              <a:gd name="csX4" fmla="*/ 167929 w 180183"/>
              <a:gd name="csY4" fmla="*/ 23594 h 23685"/>
              <a:gd name="csX5" fmla="*/ 180186 w 180183"/>
              <a:gd name="csY5" fmla="*/ 12180 h 23685"/>
              <a:gd name="csX6" fmla="*/ 168772 w 180183"/>
              <a:gd name="csY6" fmla="*/ -76 h 23685"/>
              <a:gd name="csX7" fmla="*/ 167929 w 180183"/>
              <a:gd name="csY7" fmla="*/ -76 h 236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80183" h="23685">
                <a:moveTo>
                  <a:pt x="167929" y="-83"/>
                </a:moveTo>
                <a:lnTo>
                  <a:pt x="11554" y="-83"/>
                </a:lnTo>
                <a:cubicBezTo>
                  <a:pt x="5016" y="81"/>
                  <a:pt x="-151" y="5515"/>
                  <a:pt x="13" y="12053"/>
                </a:cubicBezTo>
                <a:cubicBezTo>
                  <a:pt x="172" y="18360"/>
                  <a:pt x="5247" y="23435"/>
                  <a:pt x="11554" y="23594"/>
                </a:cubicBezTo>
                <a:lnTo>
                  <a:pt x="167929" y="23594"/>
                </a:lnTo>
                <a:cubicBezTo>
                  <a:pt x="174465" y="23827"/>
                  <a:pt x="179953" y="18717"/>
                  <a:pt x="180186" y="12180"/>
                </a:cubicBezTo>
                <a:cubicBezTo>
                  <a:pt x="180418" y="5644"/>
                  <a:pt x="175308" y="157"/>
                  <a:pt x="168772" y="-76"/>
                </a:cubicBezTo>
                <a:cubicBezTo>
                  <a:pt x="168491" y="-86"/>
                  <a:pt x="168210" y="-86"/>
                  <a:pt x="167929" y="-76"/>
                </a:cubicBezTo>
                <a:close/>
              </a:path>
            </a:pathLst>
          </a:custGeom>
          <a:solidFill>
            <a:srgbClr val="3F3D56"/>
          </a:solidFill>
          <a:ln w="7491" cap="flat">
            <a:noFill/>
            <a:prstDash val="solid"/>
            <a:miter/>
          </a:ln>
        </p:spPr>
        <p:txBody>
          <a:bodyPr/>
          <a:lstStyle/>
          <a:p>
            <a:endParaRPr lang="zh-CN" altLang="en-US"/>
          </a:p>
        </p:txBody>
      </p:sp>
      <p:sp>
        <p:nvSpPr>
          <p:cNvPr id="22" name="任意多边形: 形状 21">
            <a:extLst>
              <a:ext uri="{FF2B5EF4-FFF2-40B4-BE49-F238E27FC236}">
                <a16:creationId xmlns:a16="http://schemas.microsoft.com/office/drawing/2014/main" id="{C1ADA06C-7AA6-1B9C-AA46-23F9857BD35C}"/>
              </a:ext>
            </a:extLst>
          </p:cNvPr>
          <p:cNvSpPr/>
          <p:nvPr/>
        </p:nvSpPr>
        <p:spPr>
          <a:xfrm>
            <a:off x="9954204" y="3420885"/>
            <a:ext cx="180060" cy="23685"/>
          </a:xfrm>
          <a:custGeom>
            <a:avLst/>
            <a:gdLst>
              <a:gd name="csX0" fmla="*/ 167821 w 180060"/>
              <a:gd name="csY0" fmla="*/ -74 h 23685"/>
              <a:gd name="csX1" fmla="*/ 11431 w 180060"/>
              <a:gd name="csY1" fmla="*/ -74 h 23685"/>
              <a:gd name="csX2" fmla="*/ 17 w 180060"/>
              <a:gd name="csY2" fmla="*/ 12182 h 23685"/>
              <a:gd name="csX3" fmla="*/ 11431 w 180060"/>
              <a:gd name="csY3" fmla="*/ 23596 h 23685"/>
              <a:gd name="csX4" fmla="*/ 167806 w 180060"/>
              <a:gd name="csY4" fmla="*/ 23596 h 23685"/>
              <a:gd name="csX5" fmla="*/ 180062 w 180060"/>
              <a:gd name="csY5" fmla="*/ 12182 h 23685"/>
              <a:gd name="csX6" fmla="*/ 168649 w 180060"/>
              <a:gd name="csY6" fmla="*/ -74 h 23685"/>
              <a:gd name="csX7" fmla="*/ 167806 w 180060"/>
              <a:gd name="csY7" fmla="*/ -74 h 236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80060" h="23685">
                <a:moveTo>
                  <a:pt x="167821" y="-74"/>
                </a:moveTo>
                <a:lnTo>
                  <a:pt x="11431" y="-74"/>
                </a:lnTo>
                <a:cubicBezTo>
                  <a:pt x="4894" y="159"/>
                  <a:pt x="-216" y="5646"/>
                  <a:pt x="17" y="12182"/>
                </a:cubicBezTo>
                <a:cubicBezTo>
                  <a:pt x="238" y="18392"/>
                  <a:pt x="5221" y="23375"/>
                  <a:pt x="11431" y="23596"/>
                </a:cubicBezTo>
                <a:lnTo>
                  <a:pt x="167806" y="23596"/>
                </a:lnTo>
                <a:cubicBezTo>
                  <a:pt x="174342" y="23829"/>
                  <a:pt x="179829" y="18719"/>
                  <a:pt x="180062" y="12182"/>
                </a:cubicBezTo>
                <a:cubicBezTo>
                  <a:pt x="180295" y="5646"/>
                  <a:pt x="175185" y="159"/>
                  <a:pt x="168649" y="-74"/>
                </a:cubicBezTo>
                <a:cubicBezTo>
                  <a:pt x="168368" y="-84"/>
                  <a:pt x="168087" y="-84"/>
                  <a:pt x="167806" y="-74"/>
                </a:cubicBezTo>
                <a:close/>
              </a:path>
            </a:pathLst>
          </a:custGeom>
          <a:solidFill>
            <a:srgbClr val="3F3D56"/>
          </a:solidFill>
          <a:ln w="7491" cap="flat">
            <a:noFill/>
            <a:prstDash val="solid"/>
            <a:miter/>
          </a:ln>
        </p:spPr>
        <p:txBody>
          <a:bodyPr/>
          <a:lstStyle/>
          <a:p>
            <a:endParaRPr lang="zh-CN" altLang="en-US"/>
          </a:p>
        </p:txBody>
      </p:sp>
      <p:grpSp>
        <p:nvGrpSpPr>
          <p:cNvPr id="23" name="图形 7">
            <a:extLst>
              <a:ext uri="{FF2B5EF4-FFF2-40B4-BE49-F238E27FC236}">
                <a16:creationId xmlns:a16="http://schemas.microsoft.com/office/drawing/2014/main" id="{9B9BB693-036B-F4B7-5A1F-2F9A9AF99CE3}"/>
              </a:ext>
            </a:extLst>
          </p:cNvPr>
          <p:cNvGrpSpPr/>
          <p:nvPr/>
        </p:nvGrpSpPr>
        <p:grpSpPr>
          <a:xfrm>
            <a:off x="8620191" y="3837724"/>
            <a:ext cx="3571808" cy="3020276"/>
            <a:chOff x="7246501" y="3840978"/>
            <a:chExt cx="3571808" cy="3020276"/>
          </a:xfrm>
        </p:grpSpPr>
        <p:sp>
          <p:nvSpPr>
            <p:cNvPr id="24" name="任意多边形: 形状 23">
              <a:extLst>
                <a:ext uri="{FF2B5EF4-FFF2-40B4-BE49-F238E27FC236}">
                  <a16:creationId xmlns:a16="http://schemas.microsoft.com/office/drawing/2014/main" id="{AF443799-D5C6-4A4D-1779-2E649CE80CD2}"/>
                </a:ext>
              </a:extLst>
            </p:cNvPr>
            <p:cNvSpPr/>
            <p:nvPr/>
          </p:nvSpPr>
          <p:spPr>
            <a:xfrm>
              <a:off x="8865685" y="4477057"/>
              <a:ext cx="757096" cy="963574"/>
            </a:xfrm>
            <a:custGeom>
              <a:avLst/>
              <a:gdLst>
                <a:gd name="csX0" fmla="*/ 53 w 757096"/>
                <a:gd name="csY0" fmla="*/ 919006 h 963574"/>
                <a:gd name="csX1" fmla="*/ 751808 w 757096"/>
                <a:gd name="csY1" fmla="*/ 919006 h 963574"/>
                <a:gd name="csX2" fmla="*/ 716730 w 757096"/>
                <a:gd name="csY2" fmla="*/ 652973 h 963574"/>
                <a:gd name="csX3" fmla="*/ 720480 w 757096"/>
                <a:gd name="csY3" fmla="*/ 538973 h 963574"/>
                <a:gd name="csX4" fmla="*/ 751801 w 757096"/>
                <a:gd name="csY4" fmla="*/ 175621 h 963574"/>
                <a:gd name="csX5" fmla="*/ 108630 w 757096"/>
                <a:gd name="csY5" fmla="*/ 104626 h 963574"/>
                <a:gd name="csX6" fmla="*/ 105706 w 757096"/>
                <a:gd name="csY6" fmla="*/ 512911 h 963574"/>
                <a:gd name="csX7" fmla="*/ 80640 w 757096"/>
                <a:gd name="csY7" fmla="*/ 635701 h 963574"/>
                <a:gd name="csX8" fmla="*/ 53 w 757096"/>
                <a:gd name="csY8" fmla="*/ 919006 h 9635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57096" h="963574">
                  <a:moveTo>
                    <a:pt x="53" y="919006"/>
                  </a:moveTo>
                  <a:cubicBezTo>
                    <a:pt x="53" y="919006"/>
                    <a:pt x="831165" y="1019236"/>
                    <a:pt x="751808" y="919006"/>
                  </a:cubicBezTo>
                  <a:cubicBezTo>
                    <a:pt x="723068" y="882751"/>
                    <a:pt x="715141" y="775336"/>
                    <a:pt x="716730" y="652973"/>
                  </a:cubicBezTo>
                  <a:cubicBezTo>
                    <a:pt x="717233" y="615803"/>
                    <a:pt x="718598" y="577299"/>
                    <a:pt x="720480" y="538973"/>
                  </a:cubicBezTo>
                  <a:cubicBezTo>
                    <a:pt x="729676" y="355223"/>
                    <a:pt x="751801" y="175621"/>
                    <a:pt x="751801" y="175621"/>
                  </a:cubicBezTo>
                  <a:cubicBezTo>
                    <a:pt x="751801" y="175621"/>
                    <a:pt x="25103" y="-166844"/>
                    <a:pt x="108630" y="104626"/>
                  </a:cubicBezTo>
                  <a:cubicBezTo>
                    <a:pt x="142043" y="214306"/>
                    <a:pt x="131078" y="368341"/>
                    <a:pt x="105706" y="512911"/>
                  </a:cubicBezTo>
                  <a:cubicBezTo>
                    <a:pt x="98273" y="555098"/>
                    <a:pt x="89671" y="596439"/>
                    <a:pt x="80640" y="635701"/>
                  </a:cubicBezTo>
                  <a:cubicBezTo>
                    <a:pt x="58630" y="731449"/>
                    <a:pt x="31732" y="826008"/>
                    <a:pt x="53" y="919006"/>
                  </a:cubicBezTo>
                  <a:close/>
                </a:path>
              </a:pathLst>
            </a:custGeom>
            <a:solidFill>
              <a:srgbClr val="ED9DA0"/>
            </a:solidFill>
            <a:ln w="7491" cap="flat">
              <a:noFill/>
              <a:prstDash val="solid"/>
              <a:miter/>
            </a:ln>
          </p:spPr>
          <p:txBody>
            <a:bodyPr/>
            <a:lstStyle/>
            <a:p>
              <a:endParaRPr lang="zh-CN" altLang="en-US"/>
            </a:p>
          </p:txBody>
        </p:sp>
        <p:sp>
          <p:nvSpPr>
            <p:cNvPr id="25" name="任意多边形: 形状 24">
              <a:extLst>
                <a:ext uri="{FF2B5EF4-FFF2-40B4-BE49-F238E27FC236}">
                  <a16:creationId xmlns:a16="http://schemas.microsoft.com/office/drawing/2014/main" id="{F3B69460-25A7-8306-25D6-27E14A40B006}"/>
                </a:ext>
              </a:extLst>
            </p:cNvPr>
            <p:cNvSpPr/>
            <p:nvPr/>
          </p:nvSpPr>
          <p:spPr>
            <a:xfrm>
              <a:off x="7846832" y="5109442"/>
              <a:ext cx="2971477" cy="1751610"/>
            </a:xfrm>
            <a:custGeom>
              <a:avLst/>
              <a:gdLst>
                <a:gd name="csX0" fmla="*/ 2596433 w 2971477"/>
                <a:gd name="csY0" fmla="*/ 1751462 h 1751610"/>
                <a:gd name="csX1" fmla="*/ 2596433 w 2971477"/>
                <a:gd name="csY1" fmla="*/ 1744450 h 1751610"/>
                <a:gd name="csX2" fmla="*/ 1129508 w 2971477"/>
                <a:gd name="csY2" fmla="*/ 1728497 h 1751610"/>
                <a:gd name="csX3" fmla="*/ 235770 w 2971477"/>
                <a:gd name="csY3" fmla="*/ 1720142 h 1751610"/>
                <a:gd name="csX4" fmla="*/ 233265 w 2971477"/>
                <a:gd name="csY4" fmla="*/ 1720142 h 1751610"/>
                <a:gd name="csX5" fmla="*/ 234203 w 2971477"/>
                <a:gd name="csY5" fmla="*/ 1732502 h 1751610"/>
                <a:gd name="csX6" fmla="*/ 232950 w 2971477"/>
                <a:gd name="csY6" fmla="*/ 1720142 h 1751610"/>
                <a:gd name="csX7" fmla="*/ 231360 w 2971477"/>
                <a:gd name="csY7" fmla="*/ 1720142 h 1751610"/>
                <a:gd name="csX8" fmla="*/ 231360 w 2971477"/>
                <a:gd name="csY8" fmla="*/ 1718717 h 1751610"/>
                <a:gd name="csX9" fmla="*/ 219915 w 2971477"/>
                <a:gd name="csY9" fmla="*/ 1606375 h 1751610"/>
                <a:gd name="csX10" fmla="*/ 215573 w 2971477"/>
                <a:gd name="csY10" fmla="*/ 1563865 h 1751610"/>
                <a:gd name="csX11" fmla="*/ 214238 w 2971477"/>
                <a:gd name="csY11" fmla="*/ 1550582 h 1751610"/>
                <a:gd name="csX12" fmla="*/ 213068 w 2971477"/>
                <a:gd name="csY12" fmla="*/ 1539475 h 1751610"/>
                <a:gd name="csX13" fmla="*/ 161445 w 2971477"/>
                <a:gd name="csY13" fmla="*/ 1367320 h 1751610"/>
                <a:gd name="csX14" fmla="*/ 109823 w 2971477"/>
                <a:gd name="csY14" fmla="*/ 1195420 h 1751610"/>
                <a:gd name="csX15" fmla="*/ 66383 w 2971477"/>
                <a:gd name="csY15" fmla="*/ 1050670 h 1751610"/>
                <a:gd name="csX16" fmla="*/ 60 w 2971477"/>
                <a:gd name="csY16" fmla="*/ 829487 h 1751610"/>
                <a:gd name="csX17" fmla="*/ 58560 w 2971477"/>
                <a:gd name="csY17" fmla="*/ 716725 h 1751610"/>
                <a:gd name="csX18" fmla="*/ 161430 w 2971477"/>
                <a:gd name="csY18" fmla="*/ 512335 h 1751610"/>
                <a:gd name="csX19" fmla="*/ 356415 w 2971477"/>
                <a:gd name="csY19" fmla="*/ 331090 h 1751610"/>
                <a:gd name="csX20" fmla="*/ 522053 w 2971477"/>
                <a:gd name="csY20" fmla="*/ 297677 h 1751610"/>
                <a:gd name="csX21" fmla="*/ 755925 w 2971477"/>
                <a:gd name="csY21" fmla="*/ 227852 h 1751610"/>
                <a:gd name="csX22" fmla="*/ 977108 w 2971477"/>
                <a:gd name="csY22" fmla="*/ 177737 h 1751610"/>
                <a:gd name="csX23" fmla="*/ 977108 w 2971477"/>
                <a:gd name="csY23" fmla="*/ 177737 h 1751610"/>
                <a:gd name="csX24" fmla="*/ 977108 w 2971477"/>
                <a:gd name="csY24" fmla="*/ 177145 h 1751610"/>
                <a:gd name="csX25" fmla="*/ 977108 w 2971477"/>
                <a:gd name="csY25" fmla="*/ 176395 h 1751610"/>
                <a:gd name="csX26" fmla="*/ 977108 w 2971477"/>
                <a:gd name="csY26" fmla="*/ 165894 h 1751610"/>
                <a:gd name="csX27" fmla="*/ 977858 w 2971477"/>
                <a:gd name="csY27" fmla="*/ 154202 h 1751610"/>
                <a:gd name="csX28" fmla="*/ 978450 w 2971477"/>
                <a:gd name="csY28" fmla="*/ 150024 h 1751610"/>
                <a:gd name="csX29" fmla="*/ 980123 w 2971477"/>
                <a:gd name="csY29" fmla="*/ 140507 h 1751610"/>
                <a:gd name="csX30" fmla="*/ 981120 w 2971477"/>
                <a:gd name="csY30" fmla="*/ 136082 h 1751610"/>
                <a:gd name="csX31" fmla="*/ 991568 w 2971477"/>
                <a:gd name="csY31" fmla="*/ 106929 h 1751610"/>
                <a:gd name="csX32" fmla="*/ 993570 w 2971477"/>
                <a:gd name="csY32" fmla="*/ 102835 h 1751610"/>
                <a:gd name="csX33" fmla="*/ 1007768 w 2971477"/>
                <a:gd name="csY33" fmla="*/ 80867 h 1751610"/>
                <a:gd name="csX34" fmla="*/ 1011278 w 2971477"/>
                <a:gd name="csY34" fmla="*/ 76525 h 1751610"/>
                <a:gd name="csX35" fmla="*/ 1034003 w 2971477"/>
                <a:gd name="csY35" fmla="*/ 54475 h 1751610"/>
                <a:gd name="csX36" fmla="*/ 1041015 w 2971477"/>
                <a:gd name="csY36" fmla="*/ 49225 h 1751610"/>
                <a:gd name="csX37" fmla="*/ 1045283 w 2971477"/>
                <a:gd name="csY37" fmla="*/ 46224 h 1751610"/>
                <a:gd name="csX38" fmla="*/ 1052715 w 2971477"/>
                <a:gd name="csY38" fmla="*/ 41379 h 1751610"/>
                <a:gd name="csX39" fmla="*/ 1059645 w 2971477"/>
                <a:gd name="csY39" fmla="*/ 37367 h 1751610"/>
                <a:gd name="csX40" fmla="*/ 1079190 w 2971477"/>
                <a:gd name="csY40" fmla="*/ 27677 h 1751610"/>
                <a:gd name="csX41" fmla="*/ 1086038 w 2971477"/>
                <a:gd name="csY41" fmla="*/ 24872 h 1751610"/>
                <a:gd name="csX42" fmla="*/ 1095143 w 2971477"/>
                <a:gd name="csY42" fmla="*/ 21362 h 1751610"/>
                <a:gd name="csX43" fmla="*/ 1095645 w 2971477"/>
                <a:gd name="csY43" fmla="*/ 21362 h 1751610"/>
                <a:gd name="csX44" fmla="*/ 1101908 w 2971477"/>
                <a:gd name="csY44" fmla="*/ 18857 h 1751610"/>
                <a:gd name="csX45" fmla="*/ 1116608 w 2971477"/>
                <a:gd name="csY45" fmla="*/ 14432 h 1751610"/>
                <a:gd name="csX46" fmla="*/ 1124378 w 2971477"/>
                <a:gd name="csY46" fmla="*/ 12430 h 1751610"/>
                <a:gd name="csX47" fmla="*/ 1132725 w 2971477"/>
                <a:gd name="csY47" fmla="*/ 10510 h 1751610"/>
                <a:gd name="csX48" fmla="*/ 1141080 w 2971477"/>
                <a:gd name="csY48" fmla="*/ 8755 h 1751610"/>
                <a:gd name="csX49" fmla="*/ 1167720 w 2971477"/>
                <a:gd name="csY49" fmla="*/ 4412 h 1751610"/>
                <a:gd name="csX50" fmla="*/ 1177238 w 2971477"/>
                <a:gd name="csY50" fmla="*/ 3242 h 1751610"/>
                <a:gd name="csX51" fmla="*/ 1186988 w 2971477"/>
                <a:gd name="csY51" fmla="*/ 2245 h 1751610"/>
                <a:gd name="csX52" fmla="*/ 1197098 w 2971477"/>
                <a:gd name="csY52" fmla="*/ 1412 h 1751610"/>
                <a:gd name="csX53" fmla="*/ 1211460 w 2971477"/>
                <a:gd name="csY53" fmla="*/ 579 h 1751610"/>
                <a:gd name="csX54" fmla="*/ 1228163 w 2971477"/>
                <a:gd name="csY54" fmla="*/ -13 h 1751610"/>
                <a:gd name="csX55" fmla="*/ 1447523 w 2971477"/>
                <a:gd name="csY55" fmla="*/ 23327 h 1751610"/>
                <a:gd name="csX56" fmla="*/ 1599878 w 2971477"/>
                <a:gd name="csY56" fmla="*/ 9280 h 1751610"/>
                <a:gd name="csX57" fmla="*/ 1607145 w 2971477"/>
                <a:gd name="csY57" fmla="*/ 9280 h 1751610"/>
                <a:gd name="csX58" fmla="*/ 1615493 w 2971477"/>
                <a:gd name="csY58" fmla="*/ 9782 h 1751610"/>
                <a:gd name="csX59" fmla="*/ 1620863 w 2971477"/>
                <a:gd name="csY59" fmla="*/ 9782 h 1751610"/>
                <a:gd name="csX60" fmla="*/ 1631633 w 2971477"/>
                <a:gd name="csY60" fmla="*/ 10780 h 1751610"/>
                <a:gd name="csX61" fmla="*/ 1642493 w 2971477"/>
                <a:gd name="csY61" fmla="*/ 12032 h 1751610"/>
                <a:gd name="csX62" fmla="*/ 1653435 w 2971477"/>
                <a:gd name="csY62" fmla="*/ 13532 h 1751610"/>
                <a:gd name="csX63" fmla="*/ 1658940 w 2971477"/>
                <a:gd name="csY63" fmla="*/ 14470 h 1751610"/>
                <a:gd name="csX64" fmla="*/ 1675643 w 2971477"/>
                <a:gd name="csY64" fmla="*/ 17552 h 1751610"/>
                <a:gd name="csX65" fmla="*/ 1681148 w 2971477"/>
                <a:gd name="csY65" fmla="*/ 18805 h 1751610"/>
                <a:gd name="csX66" fmla="*/ 1702898 w 2971477"/>
                <a:gd name="csY66" fmla="*/ 24482 h 1751610"/>
                <a:gd name="csX67" fmla="*/ 1713668 w 2971477"/>
                <a:gd name="csY67" fmla="*/ 27902 h 1751610"/>
                <a:gd name="csX68" fmla="*/ 1719015 w 2971477"/>
                <a:gd name="csY68" fmla="*/ 29770 h 1751610"/>
                <a:gd name="csX69" fmla="*/ 1724363 w 2971477"/>
                <a:gd name="csY69" fmla="*/ 31690 h 1751610"/>
                <a:gd name="csX70" fmla="*/ 1729613 w 2971477"/>
                <a:gd name="csY70" fmla="*/ 33775 h 1751610"/>
                <a:gd name="csX71" fmla="*/ 1735875 w 2971477"/>
                <a:gd name="csY71" fmla="*/ 36280 h 1751610"/>
                <a:gd name="csX72" fmla="*/ 1745228 w 2971477"/>
                <a:gd name="csY72" fmla="*/ 40547 h 1751610"/>
                <a:gd name="csX73" fmla="*/ 1750410 w 2971477"/>
                <a:gd name="csY73" fmla="*/ 43052 h 1751610"/>
                <a:gd name="csX74" fmla="*/ 1755420 w 2971477"/>
                <a:gd name="csY74" fmla="*/ 45640 h 1751610"/>
                <a:gd name="csX75" fmla="*/ 1807290 w 2971477"/>
                <a:gd name="csY75" fmla="*/ 82225 h 1751610"/>
                <a:gd name="csX76" fmla="*/ 1811558 w 2971477"/>
                <a:gd name="csY76" fmla="*/ 86320 h 1751610"/>
                <a:gd name="csX77" fmla="*/ 1815735 w 2971477"/>
                <a:gd name="csY77" fmla="*/ 90587 h 1751610"/>
                <a:gd name="csX78" fmla="*/ 1819830 w 2971477"/>
                <a:gd name="csY78" fmla="*/ 95012 h 1751610"/>
                <a:gd name="csX79" fmla="*/ 1835032 w 2971477"/>
                <a:gd name="csY79" fmla="*/ 113807 h 1751610"/>
                <a:gd name="csX80" fmla="*/ 1838880 w 2971477"/>
                <a:gd name="csY80" fmla="*/ 119155 h 1751610"/>
                <a:gd name="csX81" fmla="*/ 1853243 w 2971477"/>
                <a:gd name="csY81" fmla="*/ 143545 h 1751610"/>
                <a:gd name="csX82" fmla="*/ 1856325 w 2971477"/>
                <a:gd name="csY82" fmla="*/ 149642 h 1751610"/>
                <a:gd name="csX83" fmla="*/ 1873028 w 2971477"/>
                <a:gd name="csY83" fmla="*/ 193494 h 1751610"/>
                <a:gd name="csX84" fmla="*/ 1877295 w 2971477"/>
                <a:gd name="csY84" fmla="*/ 210197 h 1751610"/>
                <a:gd name="csX85" fmla="*/ 2200800 w 2971477"/>
                <a:gd name="csY85" fmla="*/ 344687 h 1751610"/>
                <a:gd name="csX86" fmla="*/ 2307300 w 2971477"/>
                <a:gd name="csY86" fmla="*/ 383612 h 1751610"/>
                <a:gd name="csX87" fmla="*/ 2332365 w 2971477"/>
                <a:gd name="csY87" fmla="*/ 391960 h 1751610"/>
                <a:gd name="csX88" fmla="*/ 2384565 w 2971477"/>
                <a:gd name="csY88" fmla="*/ 403959 h 1751610"/>
                <a:gd name="csX89" fmla="*/ 2409630 w 2971477"/>
                <a:gd name="csY89" fmla="*/ 406300 h 1751610"/>
                <a:gd name="csX90" fmla="*/ 2605178 w 2971477"/>
                <a:gd name="csY90" fmla="*/ 512470 h 1751610"/>
                <a:gd name="csX91" fmla="*/ 2606010 w 2971477"/>
                <a:gd name="csY91" fmla="*/ 524162 h 1751610"/>
                <a:gd name="csX92" fmla="*/ 2883758 w 2971477"/>
                <a:gd name="csY92" fmla="*/ 1390352 h 1751610"/>
                <a:gd name="csX93" fmla="*/ 2936378 w 2971477"/>
                <a:gd name="csY93" fmla="*/ 1624225 h 1751610"/>
                <a:gd name="csX94" fmla="*/ 2970705 w 2971477"/>
                <a:gd name="csY94" fmla="*/ 1745335 h 1751610"/>
                <a:gd name="csX95" fmla="*/ 2971538 w 2971477"/>
                <a:gd name="csY95" fmla="*/ 1748260 h 1751610"/>
                <a:gd name="csX96" fmla="*/ 2597078 w 2971477"/>
                <a:gd name="csY96" fmla="*/ 1744585 h 1751610"/>
                <a:gd name="csX97" fmla="*/ 2597078 w 2971477"/>
                <a:gd name="csY97" fmla="*/ 1751597 h 1751610"/>
                <a:gd name="csX98" fmla="*/ 2595908 w 2971477"/>
                <a:gd name="csY98" fmla="*/ 1751597 h 17516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Lst>
              <a:rect l="l" t="t" r="r" b="b"/>
              <a:pathLst>
                <a:path w="2971477" h="1751610">
                  <a:moveTo>
                    <a:pt x="2596433" y="1751462"/>
                  </a:moveTo>
                  <a:lnTo>
                    <a:pt x="2596433" y="1744450"/>
                  </a:lnTo>
                  <a:lnTo>
                    <a:pt x="1129508" y="1728497"/>
                  </a:lnTo>
                  <a:lnTo>
                    <a:pt x="235770" y="1720142"/>
                  </a:lnTo>
                  <a:lnTo>
                    <a:pt x="233265" y="1720142"/>
                  </a:lnTo>
                  <a:lnTo>
                    <a:pt x="234203" y="1732502"/>
                  </a:lnTo>
                  <a:lnTo>
                    <a:pt x="232950" y="1720142"/>
                  </a:lnTo>
                  <a:lnTo>
                    <a:pt x="231360" y="1720142"/>
                  </a:lnTo>
                  <a:lnTo>
                    <a:pt x="231360" y="1718717"/>
                  </a:lnTo>
                  <a:lnTo>
                    <a:pt x="219915" y="1606375"/>
                  </a:lnTo>
                  <a:lnTo>
                    <a:pt x="215573" y="1563865"/>
                  </a:lnTo>
                  <a:lnTo>
                    <a:pt x="214238" y="1550582"/>
                  </a:lnTo>
                  <a:lnTo>
                    <a:pt x="213068" y="1539475"/>
                  </a:lnTo>
                  <a:lnTo>
                    <a:pt x="161445" y="1367320"/>
                  </a:lnTo>
                  <a:lnTo>
                    <a:pt x="109823" y="1195420"/>
                  </a:lnTo>
                  <a:lnTo>
                    <a:pt x="66383" y="1050670"/>
                  </a:lnTo>
                  <a:lnTo>
                    <a:pt x="60" y="829487"/>
                  </a:lnTo>
                  <a:cubicBezTo>
                    <a:pt x="60" y="829487"/>
                    <a:pt x="37643" y="741775"/>
                    <a:pt x="58560" y="716725"/>
                  </a:cubicBezTo>
                  <a:cubicBezTo>
                    <a:pt x="79478" y="691675"/>
                    <a:pt x="161430" y="512335"/>
                    <a:pt x="161430" y="512335"/>
                  </a:cubicBezTo>
                  <a:cubicBezTo>
                    <a:pt x="161430" y="512335"/>
                    <a:pt x="278520" y="350590"/>
                    <a:pt x="356415" y="331090"/>
                  </a:cubicBezTo>
                  <a:cubicBezTo>
                    <a:pt x="389070" y="322742"/>
                    <a:pt x="453563" y="311627"/>
                    <a:pt x="522053" y="297677"/>
                  </a:cubicBezTo>
                  <a:cubicBezTo>
                    <a:pt x="547695" y="292495"/>
                    <a:pt x="744233" y="235734"/>
                    <a:pt x="755925" y="227852"/>
                  </a:cubicBezTo>
                  <a:cubicBezTo>
                    <a:pt x="817320" y="182852"/>
                    <a:pt x="971175" y="177737"/>
                    <a:pt x="977108" y="177737"/>
                  </a:cubicBezTo>
                  <a:lnTo>
                    <a:pt x="977108" y="177737"/>
                  </a:lnTo>
                  <a:cubicBezTo>
                    <a:pt x="977124" y="177540"/>
                    <a:pt x="977124" y="177342"/>
                    <a:pt x="977108" y="177145"/>
                  </a:cubicBezTo>
                  <a:lnTo>
                    <a:pt x="977108" y="176395"/>
                  </a:lnTo>
                  <a:cubicBezTo>
                    <a:pt x="976892" y="172898"/>
                    <a:pt x="976892" y="169391"/>
                    <a:pt x="977108" y="165894"/>
                  </a:cubicBezTo>
                  <a:cubicBezTo>
                    <a:pt x="977016" y="161982"/>
                    <a:pt x="977267" y="158070"/>
                    <a:pt x="977858" y="154202"/>
                  </a:cubicBezTo>
                  <a:cubicBezTo>
                    <a:pt x="977771" y="152784"/>
                    <a:pt x="977972" y="151362"/>
                    <a:pt x="978450" y="150024"/>
                  </a:cubicBezTo>
                  <a:cubicBezTo>
                    <a:pt x="978870" y="147024"/>
                    <a:pt x="979388" y="143845"/>
                    <a:pt x="980123" y="140507"/>
                  </a:cubicBezTo>
                  <a:cubicBezTo>
                    <a:pt x="980375" y="139015"/>
                    <a:pt x="980708" y="137538"/>
                    <a:pt x="981120" y="136082"/>
                  </a:cubicBezTo>
                  <a:cubicBezTo>
                    <a:pt x="983543" y="126017"/>
                    <a:pt x="987046" y="116243"/>
                    <a:pt x="991568" y="106929"/>
                  </a:cubicBezTo>
                  <a:cubicBezTo>
                    <a:pt x="992153" y="105595"/>
                    <a:pt x="992903" y="104170"/>
                    <a:pt x="993570" y="102835"/>
                  </a:cubicBezTo>
                  <a:cubicBezTo>
                    <a:pt x="997665" y="95119"/>
                    <a:pt x="1002414" y="87769"/>
                    <a:pt x="1007768" y="80867"/>
                  </a:cubicBezTo>
                  <a:cubicBezTo>
                    <a:pt x="1008855" y="79442"/>
                    <a:pt x="1010018" y="77942"/>
                    <a:pt x="1011278" y="76525"/>
                  </a:cubicBezTo>
                  <a:cubicBezTo>
                    <a:pt x="1018122" y="68457"/>
                    <a:pt x="1025732" y="61072"/>
                    <a:pt x="1034003" y="54475"/>
                  </a:cubicBezTo>
                  <a:cubicBezTo>
                    <a:pt x="1036253" y="52720"/>
                    <a:pt x="1038593" y="50882"/>
                    <a:pt x="1041015" y="49225"/>
                  </a:cubicBezTo>
                  <a:cubicBezTo>
                    <a:pt x="1042369" y="48131"/>
                    <a:pt x="1043795" y="47128"/>
                    <a:pt x="1045283" y="46224"/>
                  </a:cubicBezTo>
                  <a:lnTo>
                    <a:pt x="1052715" y="41379"/>
                  </a:lnTo>
                  <a:lnTo>
                    <a:pt x="1059645" y="37367"/>
                  </a:lnTo>
                  <a:cubicBezTo>
                    <a:pt x="1065743" y="34030"/>
                    <a:pt x="1072178" y="30767"/>
                    <a:pt x="1079190" y="27677"/>
                  </a:cubicBezTo>
                  <a:cubicBezTo>
                    <a:pt x="1081358" y="26680"/>
                    <a:pt x="1083690" y="25757"/>
                    <a:pt x="1086038" y="24872"/>
                  </a:cubicBezTo>
                  <a:cubicBezTo>
                    <a:pt x="1088385" y="23987"/>
                    <a:pt x="1092038" y="22532"/>
                    <a:pt x="1095143" y="21362"/>
                  </a:cubicBezTo>
                  <a:lnTo>
                    <a:pt x="1095645" y="21362"/>
                  </a:lnTo>
                  <a:lnTo>
                    <a:pt x="1101908" y="18857"/>
                  </a:lnTo>
                  <a:cubicBezTo>
                    <a:pt x="1106670" y="17267"/>
                    <a:pt x="1111515" y="15857"/>
                    <a:pt x="1116608" y="14432"/>
                  </a:cubicBezTo>
                  <a:lnTo>
                    <a:pt x="1124378" y="12430"/>
                  </a:lnTo>
                  <a:lnTo>
                    <a:pt x="1132725" y="10510"/>
                  </a:lnTo>
                  <a:lnTo>
                    <a:pt x="1141080" y="8755"/>
                  </a:lnTo>
                  <a:cubicBezTo>
                    <a:pt x="1149428" y="7082"/>
                    <a:pt x="1158368" y="5582"/>
                    <a:pt x="1167720" y="4412"/>
                  </a:cubicBezTo>
                  <a:lnTo>
                    <a:pt x="1177238" y="3242"/>
                  </a:lnTo>
                  <a:lnTo>
                    <a:pt x="1186988" y="2245"/>
                  </a:lnTo>
                  <a:lnTo>
                    <a:pt x="1197098" y="1412"/>
                  </a:lnTo>
                  <a:lnTo>
                    <a:pt x="1211460" y="579"/>
                  </a:lnTo>
                  <a:lnTo>
                    <a:pt x="1228163" y="-13"/>
                  </a:lnTo>
                  <a:cubicBezTo>
                    <a:pt x="1301903" y="-17"/>
                    <a:pt x="1375435" y="7806"/>
                    <a:pt x="1447523" y="23327"/>
                  </a:cubicBezTo>
                  <a:cubicBezTo>
                    <a:pt x="1497506" y="12202"/>
                    <a:pt x="1548703" y="7481"/>
                    <a:pt x="1599878" y="9280"/>
                  </a:cubicBezTo>
                  <a:lnTo>
                    <a:pt x="1607145" y="9280"/>
                  </a:lnTo>
                  <a:lnTo>
                    <a:pt x="1615493" y="9782"/>
                  </a:lnTo>
                  <a:lnTo>
                    <a:pt x="1620863" y="9782"/>
                  </a:lnTo>
                  <a:lnTo>
                    <a:pt x="1631633" y="10780"/>
                  </a:lnTo>
                  <a:cubicBezTo>
                    <a:pt x="1635277" y="10949"/>
                    <a:pt x="1638906" y="11368"/>
                    <a:pt x="1642493" y="12032"/>
                  </a:cubicBezTo>
                  <a:cubicBezTo>
                    <a:pt x="1646085" y="12535"/>
                    <a:pt x="1649843" y="12970"/>
                    <a:pt x="1653435" y="13532"/>
                  </a:cubicBezTo>
                  <a:lnTo>
                    <a:pt x="1658940" y="14470"/>
                  </a:lnTo>
                  <a:cubicBezTo>
                    <a:pt x="1664370" y="15407"/>
                    <a:pt x="1669883" y="16390"/>
                    <a:pt x="1675643" y="17552"/>
                  </a:cubicBezTo>
                  <a:cubicBezTo>
                    <a:pt x="1677483" y="17887"/>
                    <a:pt x="1679318" y="18305"/>
                    <a:pt x="1681148" y="18805"/>
                  </a:cubicBezTo>
                  <a:cubicBezTo>
                    <a:pt x="1688415" y="20395"/>
                    <a:pt x="1695683" y="22315"/>
                    <a:pt x="1702898" y="24482"/>
                  </a:cubicBezTo>
                  <a:cubicBezTo>
                    <a:pt x="1706490" y="25480"/>
                    <a:pt x="1710083" y="26650"/>
                    <a:pt x="1713668" y="27902"/>
                  </a:cubicBezTo>
                  <a:cubicBezTo>
                    <a:pt x="1715485" y="28419"/>
                    <a:pt x="1717271" y="29043"/>
                    <a:pt x="1719015" y="29770"/>
                  </a:cubicBezTo>
                  <a:lnTo>
                    <a:pt x="1724363" y="31690"/>
                  </a:lnTo>
                  <a:lnTo>
                    <a:pt x="1729613" y="33775"/>
                  </a:lnTo>
                  <a:lnTo>
                    <a:pt x="1735875" y="36280"/>
                  </a:lnTo>
                  <a:cubicBezTo>
                    <a:pt x="1739048" y="37615"/>
                    <a:pt x="1742138" y="39040"/>
                    <a:pt x="1745228" y="40547"/>
                  </a:cubicBezTo>
                  <a:cubicBezTo>
                    <a:pt x="1746983" y="41297"/>
                    <a:pt x="1748738" y="42137"/>
                    <a:pt x="1750410" y="43052"/>
                  </a:cubicBezTo>
                  <a:cubicBezTo>
                    <a:pt x="1752083" y="43967"/>
                    <a:pt x="1753830" y="44725"/>
                    <a:pt x="1755420" y="45640"/>
                  </a:cubicBezTo>
                  <a:cubicBezTo>
                    <a:pt x="1774306" y="55398"/>
                    <a:pt x="1791760" y="67709"/>
                    <a:pt x="1807290" y="82225"/>
                  </a:cubicBezTo>
                  <a:lnTo>
                    <a:pt x="1811558" y="86320"/>
                  </a:lnTo>
                  <a:lnTo>
                    <a:pt x="1815735" y="90587"/>
                  </a:lnTo>
                  <a:cubicBezTo>
                    <a:pt x="1817153" y="92012"/>
                    <a:pt x="1818495" y="93512"/>
                    <a:pt x="1819830" y="95012"/>
                  </a:cubicBezTo>
                  <a:cubicBezTo>
                    <a:pt x="1825274" y="100963"/>
                    <a:pt x="1830351" y="107240"/>
                    <a:pt x="1835032" y="113807"/>
                  </a:cubicBezTo>
                  <a:cubicBezTo>
                    <a:pt x="1836368" y="115562"/>
                    <a:pt x="1837620" y="117317"/>
                    <a:pt x="1838880" y="119155"/>
                  </a:cubicBezTo>
                  <a:cubicBezTo>
                    <a:pt x="1844179" y="126973"/>
                    <a:pt x="1848976" y="135119"/>
                    <a:pt x="1853243" y="143545"/>
                  </a:cubicBezTo>
                  <a:cubicBezTo>
                    <a:pt x="1854330" y="145547"/>
                    <a:pt x="1855328" y="147640"/>
                    <a:pt x="1856325" y="149642"/>
                  </a:cubicBezTo>
                  <a:cubicBezTo>
                    <a:pt x="1863141" y="163753"/>
                    <a:pt x="1868729" y="178425"/>
                    <a:pt x="1873028" y="193494"/>
                  </a:cubicBezTo>
                  <a:cubicBezTo>
                    <a:pt x="1874588" y="199059"/>
                    <a:pt x="1876010" y="204627"/>
                    <a:pt x="1877295" y="210197"/>
                  </a:cubicBezTo>
                  <a:cubicBezTo>
                    <a:pt x="1877295" y="210197"/>
                    <a:pt x="2054123" y="288197"/>
                    <a:pt x="2200800" y="344687"/>
                  </a:cubicBezTo>
                  <a:cubicBezTo>
                    <a:pt x="2239800" y="359687"/>
                    <a:pt x="2276550" y="373337"/>
                    <a:pt x="2307300" y="383612"/>
                  </a:cubicBezTo>
                  <a:cubicBezTo>
                    <a:pt x="2316240" y="386612"/>
                    <a:pt x="2324595" y="389372"/>
                    <a:pt x="2332365" y="391960"/>
                  </a:cubicBezTo>
                  <a:cubicBezTo>
                    <a:pt x="2349220" y="398042"/>
                    <a:pt x="2366747" y="402071"/>
                    <a:pt x="2384565" y="403959"/>
                  </a:cubicBezTo>
                  <a:cubicBezTo>
                    <a:pt x="2392968" y="404096"/>
                    <a:pt x="2401348" y="404879"/>
                    <a:pt x="2409630" y="406300"/>
                  </a:cubicBezTo>
                  <a:cubicBezTo>
                    <a:pt x="2477040" y="417242"/>
                    <a:pt x="2592555" y="464800"/>
                    <a:pt x="2605178" y="512470"/>
                  </a:cubicBezTo>
                  <a:cubicBezTo>
                    <a:pt x="2606200" y="516278"/>
                    <a:pt x="2606483" y="520247"/>
                    <a:pt x="2606010" y="524162"/>
                  </a:cubicBezTo>
                  <a:cubicBezTo>
                    <a:pt x="2606010" y="524162"/>
                    <a:pt x="2880735" y="1374737"/>
                    <a:pt x="2883758" y="1390352"/>
                  </a:cubicBezTo>
                  <a:cubicBezTo>
                    <a:pt x="2895915" y="1453997"/>
                    <a:pt x="2923035" y="1575197"/>
                    <a:pt x="2936378" y="1624225"/>
                  </a:cubicBezTo>
                  <a:cubicBezTo>
                    <a:pt x="2946315" y="1660810"/>
                    <a:pt x="2960768" y="1710925"/>
                    <a:pt x="2970705" y="1745335"/>
                  </a:cubicBezTo>
                  <a:cubicBezTo>
                    <a:pt x="2970854" y="1746342"/>
                    <a:pt x="2971134" y="1747325"/>
                    <a:pt x="2971538" y="1748260"/>
                  </a:cubicBezTo>
                  <a:lnTo>
                    <a:pt x="2597078" y="1744585"/>
                  </a:lnTo>
                  <a:lnTo>
                    <a:pt x="2597078" y="1751597"/>
                  </a:lnTo>
                  <a:lnTo>
                    <a:pt x="2595908" y="1751597"/>
                  </a:lnTo>
                  <a:close/>
                </a:path>
              </a:pathLst>
            </a:custGeom>
            <a:solidFill>
              <a:srgbClr val="6C63FF"/>
            </a:solidFill>
            <a:ln w="7491" cap="flat">
              <a:noFill/>
              <a:prstDash val="solid"/>
              <a:miter/>
            </a:ln>
          </p:spPr>
          <p:txBody>
            <a:bodyPr/>
            <a:lstStyle/>
            <a:p>
              <a:endParaRPr lang="zh-CN" altLang="en-US"/>
            </a:p>
          </p:txBody>
        </p:sp>
        <p:sp>
          <p:nvSpPr>
            <p:cNvPr id="26" name="任意多边形: 形状 25">
              <a:extLst>
                <a:ext uri="{FF2B5EF4-FFF2-40B4-BE49-F238E27FC236}">
                  <a16:creationId xmlns:a16="http://schemas.microsoft.com/office/drawing/2014/main" id="{C9915C79-228D-64CB-2C7D-E5ACFAA4248E}"/>
                </a:ext>
              </a:extLst>
            </p:cNvPr>
            <p:cNvSpPr/>
            <p:nvPr/>
          </p:nvSpPr>
          <p:spPr>
            <a:xfrm>
              <a:off x="8823422" y="5109601"/>
              <a:ext cx="895425" cy="200097"/>
            </a:xfrm>
            <a:custGeom>
              <a:avLst/>
              <a:gdLst>
                <a:gd name="csX0" fmla="*/ 59 w 895425"/>
                <a:gd name="csY0" fmla="*/ 166021 h 200097"/>
                <a:gd name="csX1" fmla="*/ 895484 w 895425"/>
                <a:gd name="csY1" fmla="*/ 194251 h 200097"/>
                <a:gd name="csX2" fmla="*/ 470916 w 895425"/>
                <a:gd name="csY2" fmla="*/ 23349 h 200097"/>
                <a:gd name="csX3" fmla="*/ 59 w 895425"/>
                <a:gd name="csY3" fmla="*/ 166021 h 200097"/>
              </a:gdLst>
              <a:ahLst/>
              <a:cxnLst>
                <a:cxn ang="0">
                  <a:pos x="csX0" y="csY0"/>
                </a:cxn>
                <a:cxn ang="0">
                  <a:pos x="csX1" y="csY1"/>
                </a:cxn>
                <a:cxn ang="0">
                  <a:pos x="csX2" y="csY2"/>
                </a:cxn>
                <a:cxn ang="0">
                  <a:pos x="csX3" y="csY3"/>
                </a:cxn>
              </a:cxnLst>
              <a:rect l="l" t="t" r="r" b="b"/>
              <a:pathLst>
                <a:path w="895425" h="200097">
                  <a:moveTo>
                    <a:pt x="59" y="166021"/>
                  </a:moveTo>
                  <a:cubicBezTo>
                    <a:pt x="242264" y="210631"/>
                    <a:pt x="698361" y="201016"/>
                    <a:pt x="895484" y="194251"/>
                  </a:cubicBezTo>
                  <a:cubicBezTo>
                    <a:pt x="823236" y="-64687"/>
                    <a:pt x="470916" y="23349"/>
                    <a:pt x="470916" y="23349"/>
                  </a:cubicBezTo>
                  <a:cubicBezTo>
                    <a:pt x="34799" y="-63682"/>
                    <a:pt x="1394" y="116911"/>
                    <a:pt x="59" y="166021"/>
                  </a:cubicBezTo>
                  <a:close/>
                </a:path>
              </a:pathLst>
            </a:custGeom>
            <a:solidFill>
              <a:srgbClr val="6C63FF"/>
            </a:solidFill>
            <a:ln w="7491" cap="flat">
              <a:noFill/>
              <a:prstDash val="solid"/>
              <a:miter/>
            </a:ln>
          </p:spPr>
          <p:txBody>
            <a:bodyPr/>
            <a:lstStyle/>
            <a:p>
              <a:endParaRPr lang="zh-CN" altLang="en-US"/>
            </a:p>
          </p:txBody>
        </p:sp>
        <p:sp>
          <p:nvSpPr>
            <p:cNvPr id="27" name="任意多边形: 形状 26">
              <a:extLst>
                <a:ext uri="{FF2B5EF4-FFF2-40B4-BE49-F238E27FC236}">
                  <a16:creationId xmlns:a16="http://schemas.microsoft.com/office/drawing/2014/main" id="{C40A046E-852E-03E2-19C3-AC906AFBCBC9}"/>
                </a:ext>
              </a:extLst>
            </p:cNvPr>
            <p:cNvSpPr/>
            <p:nvPr/>
          </p:nvSpPr>
          <p:spPr>
            <a:xfrm>
              <a:off x="7246501" y="6409782"/>
              <a:ext cx="291084" cy="301704"/>
            </a:xfrm>
            <a:custGeom>
              <a:avLst/>
              <a:gdLst>
                <a:gd name="csX0" fmla="*/ 290672 w 291084"/>
                <a:gd name="csY0" fmla="*/ 7440 h 301704"/>
                <a:gd name="csX1" fmla="*/ -261 w 291084"/>
                <a:gd name="csY1" fmla="*/ 88883 h 301704"/>
                <a:gd name="csX2" fmla="*/ 145239 w 291084"/>
                <a:gd name="csY2" fmla="*/ 301710 h 301704"/>
              </a:gdLst>
              <a:ahLst/>
              <a:cxnLst>
                <a:cxn ang="0">
                  <a:pos x="csX0" y="csY0"/>
                </a:cxn>
                <a:cxn ang="0">
                  <a:pos x="csX1" y="csY1"/>
                </a:cxn>
                <a:cxn ang="0">
                  <a:pos x="csX2" y="csY2"/>
                </a:cxn>
              </a:cxnLst>
              <a:rect l="l" t="t" r="r" b="b"/>
              <a:pathLst>
                <a:path w="291084" h="301704">
                  <a:moveTo>
                    <a:pt x="290672" y="7440"/>
                  </a:moveTo>
                  <a:cubicBezTo>
                    <a:pt x="290672" y="7440"/>
                    <a:pt x="5341" y="-36413"/>
                    <a:pt x="-261" y="88883"/>
                  </a:cubicBezTo>
                  <a:cubicBezTo>
                    <a:pt x="-5863" y="214177"/>
                    <a:pt x="145239" y="301710"/>
                    <a:pt x="145239" y="301710"/>
                  </a:cubicBezTo>
                  <a:close/>
                </a:path>
              </a:pathLst>
            </a:custGeom>
            <a:solidFill>
              <a:srgbClr val="ED9DA0"/>
            </a:solidFill>
            <a:ln w="7491" cap="flat">
              <a:noFill/>
              <a:prstDash val="solid"/>
              <a:miter/>
            </a:ln>
          </p:spPr>
          <p:txBody>
            <a:bodyPr/>
            <a:lstStyle/>
            <a:p>
              <a:endParaRPr lang="zh-CN" altLang="en-US"/>
            </a:p>
          </p:txBody>
        </p:sp>
        <p:sp>
          <p:nvSpPr>
            <p:cNvPr id="28" name="任意多边形: 形状 27">
              <a:extLst>
                <a:ext uri="{FF2B5EF4-FFF2-40B4-BE49-F238E27FC236}">
                  <a16:creationId xmlns:a16="http://schemas.microsoft.com/office/drawing/2014/main" id="{7127D98F-D11D-0CCA-4603-98CBF8EFC249}"/>
                </a:ext>
              </a:extLst>
            </p:cNvPr>
            <p:cNvSpPr/>
            <p:nvPr/>
          </p:nvSpPr>
          <p:spPr>
            <a:xfrm>
              <a:off x="7326010" y="5876430"/>
              <a:ext cx="812910" cy="951577"/>
            </a:xfrm>
            <a:custGeom>
              <a:avLst/>
              <a:gdLst>
                <a:gd name="csX0" fmla="*/ -330 w 812910"/>
                <a:gd name="csY0" fmla="*/ 791368 h 951577"/>
                <a:gd name="csX1" fmla="*/ 20805 w 812910"/>
                <a:gd name="csY1" fmla="*/ 834725 h 951577"/>
                <a:gd name="csX2" fmla="*/ 95985 w 812910"/>
                <a:gd name="csY2" fmla="*/ 944727 h 951577"/>
                <a:gd name="csX3" fmla="*/ 98235 w 812910"/>
                <a:gd name="csY3" fmla="*/ 947150 h 951577"/>
                <a:gd name="csX4" fmla="*/ 111735 w 812910"/>
                <a:gd name="csY4" fmla="*/ 947150 h 951577"/>
                <a:gd name="csX5" fmla="*/ 594030 w 812910"/>
                <a:gd name="csY5" fmla="*/ 951575 h 951577"/>
                <a:gd name="csX6" fmla="*/ 605558 w 812910"/>
                <a:gd name="csY6" fmla="*/ 951575 h 951577"/>
                <a:gd name="csX7" fmla="*/ 606983 w 812910"/>
                <a:gd name="csY7" fmla="*/ 949903 h 951577"/>
                <a:gd name="csX8" fmla="*/ 700500 w 812910"/>
                <a:gd name="csY8" fmla="*/ 838903 h 951577"/>
                <a:gd name="csX9" fmla="*/ 735750 w 812910"/>
                <a:gd name="csY9" fmla="*/ 797052 h 951577"/>
                <a:gd name="csX10" fmla="*/ 737168 w 812910"/>
                <a:gd name="csY10" fmla="*/ 795297 h 951577"/>
                <a:gd name="csX11" fmla="*/ 740168 w 812910"/>
                <a:gd name="csY11" fmla="*/ 791787 h 951577"/>
                <a:gd name="csX12" fmla="*/ 741840 w 812910"/>
                <a:gd name="csY12" fmla="*/ 789785 h 951577"/>
                <a:gd name="csX13" fmla="*/ 744007 w 812910"/>
                <a:gd name="csY13" fmla="*/ 787197 h 951577"/>
                <a:gd name="csX14" fmla="*/ 812580 w 812910"/>
                <a:gd name="csY14" fmla="*/ 705838 h 951577"/>
                <a:gd name="csX15" fmla="*/ 787515 w 812910"/>
                <a:gd name="csY15" fmla="*/ 601423 h 951577"/>
                <a:gd name="csX16" fmla="*/ 744847 w 812910"/>
                <a:gd name="csY16" fmla="*/ 425502 h 951577"/>
                <a:gd name="csX17" fmla="*/ 743760 w 812910"/>
                <a:gd name="csY17" fmla="*/ 421235 h 951577"/>
                <a:gd name="csX18" fmla="*/ 735412 w 812910"/>
                <a:gd name="csY18" fmla="*/ 387822 h 951577"/>
                <a:gd name="csX19" fmla="*/ 729480 w 812910"/>
                <a:gd name="csY19" fmla="*/ 362757 h 951577"/>
                <a:gd name="csX20" fmla="*/ 709597 w 812910"/>
                <a:gd name="csY20" fmla="*/ 281075 h 951577"/>
                <a:gd name="csX21" fmla="*/ 641445 w 812910"/>
                <a:gd name="csY21" fmla="*/ -2 h 951577"/>
                <a:gd name="csX22" fmla="*/ 520335 w 812910"/>
                <a:gd name="csY22" fmla="*/ 62653 h 951577"/>
                <a:gd name="csX23" fmla="*/ 392662 w 812910"/>
                <a:gd name="csY23" fmla="*/ 288245 h 951577"/>
                <a:gd name="csX24" fmla="*/ 324098 w 812910"/>
                <a:gd name="csY24" fmla="*/ 409355 h 951577"/>
                <a:gd name="csX25" fmla="*/ 286523 w 812910"/>
                <a:gd name="csY25" fmla="*/ 409355 h 951577"/>
                <a:gd name="csX26" fmla="*/ 246773 w 812910"/>
                <a:gd name="csY26" fmla="*/ 438837 h 951577"/>
                <a:gd name="csX27" fmla="*/ 230070 w 812910"/>
                <a:gd name="csY27" fmla="*/ 455540 h 951577"/>
                <a:gd name="csX28" fmla="*/ 203430 w 812910"/>
                <a:gd name="csY28" fmla="*/ 484107 h 951577"/>
                <a:gd name="csX29" fmla="*/ 126180 w 812910"/>
                <a:gd name="csY29" fmla="*/ 533390 h 951577"/>
                <a:gd name="csX30" fmla="*/ 124095 w 812910"/>
                <a:gd name="csY30" fmla="*/ 540485 h 951577"/>
                <a:gd name="csX31" fmla="*/ 102960 w 812910"/>
                <a:gd name="csY31" fmla="*/ 595280 h 951577"/>
                <a:gd name="csX32" fmla="*/ 64958 w 812910"/>
                <a:gd name="csY32" fmla="*/ 672035 h 951577"/>
                <a:gd name="csX33" fmla="*/ 4073 w 812910"/>
                <a:gd name="csY33" fmla="*/ 784258 h 951577"/>
                <a:gd name="csX34" fmla="*/ 2903 w 812910"/>
                <a:gd name="csY34" fmla="*/ 786342 h 9515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812910" h="951577">
                  <a:moveTo>
                    <a:pt x="-330" y="791368"/>
                  </a:moveTo>
                  <a:cubicBezTo>
                    <a:pt x="-330" y="791368"/>
                    <a:pt x="7103" y="809067"/>
                    <a:pt x="20805" y="834725"/>
                  </a:cubicBezTo>
                  <a:cubicBezTo>
                    <a:pt x="41528" y="874176"/>
                    <a:pt x="66757" y="911090"/>
                    <a:pt x="95985" y="944727"/>
                  </a:cubicBezTo>
                  <a:lnTo>
                    <a:pt x="98235" y="947150"/>
                  </a:lnTo>
                  <a:lnTo>
                    <a:pt x="111735" y="947150"/>
                  </a:lnTo>
                  <a:lnTo>
                    <a:pt x="594030" y="951575"/>
                  </a:lnTo>
                  <a:lnTo>
                    <a:pt x="605558" y="951575"/>
                  </a:lnTo>
                  <a:lnTo>
                    <a:pt x="606983" y="949903"/>
                  </a:lnTo>
                  <a:lnTo>
                    <a:pt x="700500" y="838903"/>
                  </a:lnTo>
                  <a:lnTo>
                    <a:pt x="735750" y="797052"/>
                  </a:lnTo>
                  <a:lnTo>
                    <a:pt x="737168" y="795297"/>
                  </a:lnTo>
                  <a:lnTo>
                    <a:pt x="740168" y="791787"/>
                  </a:lnTo>
                  <a:lnTo>
                    <a:pt x="741840" y="789785"/>
                  </a:lnTo>
                  <a:lnTo>
                    <a:pt x="744007" y="787197"/>
                  </a:lnTo>
                  <a:lnTo>
                    <a:pt x="812580" y="705838"/>
                  </a:lnTo>
                  <a:lnTo>
                    <a:pt x="787515" y="601423"/>
                  </a:lnTo>
                  <a:lnTo>
                    <a:pt x="744847" y="425502"/>
                  </a:lnTo>
                  <a:lnTo>
                    <a:pt x="743760" y="421235"/>
                  </a:lnTo>
                  <a:lnTo>
                    <a:pt x="735412" y="387822"/>
                  </a:lnTo>
                  <a:lnTo>
                    <a:pt x="729480" y="362757"/>
                  </a:lnTo>
                  <a:lnTo>
                    <a:pt x="709597" y="281075"/>
                  </a:lnTo>
                  <a:lnTo>
                    <a:pt x="641445" y="-2"/>
                  </a:lnTo>
                  <a:lnTo>
                    <a:pt x="520335" y="62653"/>
                  </a:lnTo>
                  <a:lnTo>
                    <a:pt x="392662" y="288245"/>
                  </a:lnTo>
                  <a:lnTo>
                    <a:pt x="324098" y="409355"/>
                  </a:lnTo>
                  <a:lnTo>
                    <a:pt x="286523" y="409355"/>
                  </a:lnTo>
                  <a:cubicBezTo>
                    <a:pt x="279428" y="409355"/>
                    <a:pt x="263145" y="423057"/>
                    <a:pt x="246773" y="438837"/>
                  </a:cubicBezTo>
                  <a:cubicBezTo>
                    <a:pt x="240930" y="444447"/>
                    <a:pt x="235080" y="450365"/>
                    <a:pt x="230070" y="455540"/>
                  </a:cubicBezTo>
                  <a:cubicBezTo>
                    <a:pt x="215197" y="470907"/>
                    <a:pt x="203430" y="484107"/>
                    <a:pt x="203430" y="484107"/>
                  </a:cubicBezTo>
                  <a:cubicBezTo>
                    <a:pt x="203430" y="484107"/>
                    <a:pt x="142545" y="485442"/>
                    <a:pt x="126180" y="533390"/>
                  </a:cubicBezTo>
                  <a:cubicBezTo>
                    <a:pt x="125336" y="535708"/>
                    <a:pt x="124639" y="538078"/>
                    <a:pt x="124095" y="540485"/>
                  </a:cubicBezTo>
                  <a:cubicBezTo>
                    <a:pt x="118659" y="559330"/>
                    <a:pt x="111587" y="577665"/>
                    <a:pt x="102960" y="595280"/>
                  </a:cubicBezTo>
                  <a:cubicBezTo>
                    <a:pt x="92190" y="618755"/>
                    <a:pt x="78645" y="645395"/>
                    <a:pt x="64958" y="672035"/>
                  </a:cubicBezTo>
                  <a:cubicBezTo>
                    <a:pt x="39457" y="720898"/>
                    <a:pt x="13590" y="767420"/>
                    <a:pt x="4073" y="784258"/>
                  </a:cubicBezTo>
                  <a:lnTo>
                    <a:pt x="2903" y="786342"/>
                  </a:lnTo>
                  <a:close/>
                </a:path>
              </a:pathLst>
            </a:custGeom>
            <a:solidFill>
              <a:srgbClr val="6C63FF"/>
            </a:solidFill>
            <a:ln w="7491" cap="flat">
              <a:noFill/>
              <a:prstDash val="solid"/>
              <a:miter/>
            </a:ln>
          </p:spPr>
          <p:txBody>
            <a:bodyPr/>
            <a:lstStyle/>
            <a:p>
              <a:endParaRPr lang="zh-CN" altLang="en-US"/>
            </a:p>
          </p:txBody>
        </p:sp>
        <p:sp>
          <p:nvSpPr>
            <p:cNvPr id="29" name="任意多边形: 形状 28">
              <a:extLst>
                <a:ext uri="{FF2B5EF4-FFF2-40B4-BE49-F238E27FC236}">
                  <a16:creationId xmlns:a16="http://schemas.microsoft.com/office/drawing/2014/main" id="{F82C964A-C383-6378-B573-FDC23905D86A}"/>
                </a:ext>
              </a:extLst>
            </p:cNvPr>
            <p:cNvSpPr/>
            <p:nvPr/>
          </p:nvSpPr>
          <p:spPr>
            <a:xfrm>
              <a:off x="8043385" y="6227121"/>
              <a:ext cx="2399820" cy="634133"/>
            </a:xfrm>
            <a:custGeom>
              <a:avLst/>
              <a:gdLst>
                <a:gd name="csX0" fmla="*/ 2399862 w 2399820"/>
                <a:gd name="csY0" fmla="*/ 633813 h 634133"/>
                <a:gd name="csX1" fmla="*/ 2399862 w 2399820"/>
                <a:gd name="csY1" fmla="*/ 626800 h 634133"/>
                <a:gd name="csX2" fmla="*/ 932937 w 2399820"/>
                <a:gd name="csY2" fmla="*/ 610848 h 634133"/>
                <a:gd name="csX3" fmla="*/ 39184 w 2399820"/>
                <a:gd name="csY3" fmla="*/ 602493 h 634133"/>
                <a:gd name="csX4" fmla="*/ 36679 w 2399820"/>
                <a:gd name="csY4" fmla="*/ 602493 h 634133"/>
                <a:gd name="csX5" fmla="*/ 36679 w 2399820"/>
                <a:gd name="csY5" fmla="*/ 601068 h 634133"/>
                <a:gd name="csX6" fmla="*/ 28332 w 2399820"/>
                <a:gd name="csY6" fmla="*/ 488845 h 634133"/>
                <a:gd name="csX7" fmla="*/ 24739 w 2399820"/>
                <a:gd name="csY7" fmla="*/ 438730 h 634133"/>
                <a:gd name="csX8" fmla="*/ 11037 w 2399820"/>
                <a:gd name="csY8" fmla="*/ 249828 h 634133"/>
                <a:gd name="csX9" fmla="*/ 267 w 2399820"/>
                <a:gd name="csY9" fmla="*/ 100315 h 634133"/>
                <a:gd name="csX10" fmla="*/ 267 w 2399820"/>
                <a:gd name="csY10" fmla="*/ 96640 h 634133"/>
                <a:gd name="csX11" fmla="*/ 1204 w 2399820"/>
                <a:gd name="csY11" fmla="*/ 76008 h 634133"/>
                <a:gd name="csX12" fmla="*/ 1204 w 2399820"/>
                <a:gd name="csY12" fmla="*/ 75175 h 634133"/>
                <a:gd name="csX13" fmla="*/ 17907 w 2399820"/>
                <a:gd name="csY13" fmla="*/ 36423 h 634133"/>
                <a:gd name="csX14" fmla="*/ 96589 w 2399820"/>
                <a:gd name="csY14" fmla="*/ 3010 h 634133"/>
                <a:gd name="csX15" fmla="*/ 402139 w 2399820"/>
                <a:gd name="csY15" fmla="*/ 28075 h 634133"/>
                <a:gd name="csX16" fmla="*/ 443907 w 2399820"/>
                <a:gd name="csY16" fmla="*/ 30663 h 634133"/>
                <a:gd name="csX17" fmla="*/ 2110302 w 2399820"/>
                <a:gd name="csY17" fmla="*/ 13960 h 634133"/>
                <a:gd name="csX18" fmla="*/ 2135367 w 2399820"/>
                <a:gd name="csY18" fmla="*/ 12093 h 634133"/>
                <a:gd name="csX19" fmla="*/ 2287220 w 2399820"/>
                <a:gd name="csY19" fmla="*/ 318 h 634133"/>
                <a:gd name="csX20" fmla="*/ 2381105 w 2399820"/>
                <a:gd name="csY20" fmla="*/ 71568 h 634133"/>
                <a:gd name="csX21" fmla="*/ 2382605 w 2399820"/>
                <a:gd name="csY21" fmla="*/ 85271 h 634133"/>
                <a:gd name="csX22" fmla="*/ 2388282 w 2399820"/>
                <a:gd name="csY22" fmla="*/ 270370 h 634133"/>
                <a:gd name="csX23" fmla="*/ 2396052 w 2399820"/>
                <a:gd name="csY23" fmla="*/ 504835 h 634133"/>
                <a:gd name="csX24" fmla="*/ 2399727 w 2399820"/>
                <a:gd name="csY24" fmla="*/ 624783 h 634133"/>
                <a:gd name="csX25" fmla="*/ 2399727 w 2399820"/>
                <a:gd name="csY25" fmla="*/ 634135 h 6341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2399820" h="634133">
                  <a:moveTo>
                    <a:pt x="2399862" y="633813"/>
                  </a:moveTo>
                  <a:lnTo>
                    <a:pt x="2399862" y="626800"/>
                  </a:lnTo>
                  <a:lnTo>
                    <a:pt x="932937" y="610848"/>
                  </a:lnTo>
                  <a:lnTo>
                    <a:pt x="39184" y="602493"/>
                  </a:lnTo>
                  <a:lnTo>
                    <a:pt x="36679" y="602493"/>
                  </a:lnTo>
                  <a:lnTo>
                    <a:pt x="36679" y="601068"/>
                  </a:lnTo>
                  <a:lnTo>
                    <a:pt x="28332" y="488845"/>
                  </a:lnTo>
                  <a:lnTo>
                    <a:pt x="24739" y="438730"/>
                  </a:lnTo>
                  <a:lnTo>
                    <a:pt x="11037" y="249828"/>
                  </a:lnTo>
                  <a:lnTo>
                    <a:pt x="267" y="100315"/>
                  </a:lnTo>
                  <a:lnTo>
                    <a:pt x="267" y="96640"/>
                  </a:lnTo>
                  <a:cubicBezTo>
                    <a:pt x="-225" y="89750"/>
                    <a:pt x="89" y="82825"/>
                    <a:pt x="1204" y="76008"/>
                  </a:cubicBezTo>
                  <a:cubicBezTo>
                    <a:pt x="1158" y="75732"/>
                    <a:pt x="1158" y="75451"/>
                    <a:pt x="1204" y="75175"/>
                  </a:cubicBezTo>
                  <a:cubicBezTo>
                    <a:pt x="3500" y="61081"/>
                    <a:pt x="9236" y="47770"/>
                    <a:pt x="17907" y="36423"/>
                  </a:cubicBezTo>
                  <a:cubicBezTo>
                    <a:pt x="36604" y="12445"/>
                    <a:pt x="66351" y="-188"/>
                    <a:pt x="96589" y="3010"/>
                  </a:cubicBezTo>
                  <a:cubicBezTo>
                    <a:pt x="197749" y="13375"/>
                    <a:pt x="299892" y="21640"/>
                    <a:pt x="402139" y="28075"/>
                  </a:cubicBezTo>
                  <a:cubicBezTo>
                    <a:pt x="416094" y="29075"/>
                    <a:pt x="430017" y="29938"/>
                    <a:pt x="443907" y="30663"/>
                  </a:cubicBezTo>
                  <a:cubicBezTo>
                    <a:pt x="1103284" y="69835"/>
                    <a:pt x="1756722" y="38095"/>
                    <a:pt x="2110302" y="13960"/>
                  </a:cubicBezTo>
                  <a:lnTo>
                    <a:pt x="2135367" y="12093"/>
                  </a:lnTo>
                  <a:cubicBezTo>
                    <a:pt x="2196589" y="7743"/>
                    <a:pt x="2247792" y="3738"/>
                    <a:pt x="2287220" y="318"/>
                  </a:cubicBezTo>
                  <a:cubicBezTo>
                    <a:pt x="2332141" y="-3474"/>
                    <a:pt x="2372669" y="27283"/>
                    <a:pt x="2381105" y="71568"/>
                  </a:cubicBezTo>
                  <a:cubicBezTo>
                    <a:pt x="2381947" y="76092"/>
                    <a:pt x="2382448" y="80672"/>
                    <a:pt x="2382605" y="85271"/>
                  </a:cubicBezTo>
                  <a:lnTo>
                    <a:pt x="2388282" y="270370"/>
                  </a:lnTo>
                  <a:lnTo>
                    <a:pt x="2396052" y="504835"/>
                  </a:lnTo>
                  <a:lnTo>
                    <a:pt x="2399727" y="624783"/>
                  </a:lnTo>
                  <a:lnTo>
                    <a:pt x="2399727" y="634135"/>
                  </a:lnTo>
                  <a:close/>
                </a:path>
              </a:pathLst>
            </a:custGeom>
            <a:solidFill>
              <a:srgbClr val="090814"/>
            </a:solidFill>
            <a:ln w="7491" cap="flat">
              <a:noFill/>
              <a:prstDash val="solid"/>
              <a:miter/>
            </a:ln>
          </p:spPr>
          <p:txBody>
            <a:bodyPr/>
            <a:lstStyle/>
            <a:p>
              <a:endParaRPr lang="zh-CN" altLang="en-US"/>
            </a:p>
          </p:txBody>
        </p:sp>
        <p:sp>
          <p:nvSpPr>
            <p:cNvPr id="30" name="椭圆 29">
              <a:extLst>
                <a:ext uri="{FF2B5EF4-FFF2-40B4-BE49-F238E27FC236}">
                  <a16:creationId xmlns:a16="http://schemas.microsoft.com/office/drawing/2014/main" id="{D26C455B-E57D-A68F-2E52-907085457486}"/>
                </a:ext>
              </a:extLst>
            </p:cNvPr>
            <p:cNvSpPr/>
            <p:nvPr/>
          </p:nvSpPr>
          <p:spPr>
            <a:xfrm>
              <a:off x="8866788" y="4070759"/>
              <a:ext cx="967649" cy="967649"/>
            </a:xfrm>
            <a:prstGeom prst="ellipse">
              <a:avLst/>
            </a:prstGeom>
            <a:solidFill>
              <a:srgbClr val="ED9DA0"/>
            </a:solidFill>
            <a:ln w="7491" cap="flat">
              <a:noFill/>
              <a:prstDash val="solid"/>
              <a:miter/>
            </a:ln>
          </p:spPr>
          <p:txBody>
            <a:bodyPr/>
            <a:lstStyle/>
            <a:p>
              <a:endParaRPr lang="zh-CN" altLang="en-US"/>
            </a:p>
          </p:txBody>
        </p:sp>
        <p:sp>
          <p:nvSpPr>
            <p:cNvPr id="31" name="任意多边形: 形状 30">
              <a:extLst>
                <a:ext uri="{FF2B5EF4-FFF2-40B4-BE49-F238E27FC236}">
                  <a16:creationId xmlns:a16="http://schemas.microsoft.com/office/drawing/2014/main" id="{1F4545C3-B945-8633-0D01-14200E3AFDC4}"/>
                </a:ext>
              </a:extLst>
            </p:cNvPr>
            <p:cNvSpPr/>
            <p:nvPr/>
          </p:nvSpPr>
          <p:spPr>
            <a:xfrm>
              <a:off x="8686923" y="3840978"/>
              <a:ext cx="1207801" cy="1202006"/>
            </a:xfrm>
            <a:custGeom>
              <a:avLst/>
              <a:gdLst>
                <a:gd name="csX0" fmla="*/ 9762 w 1207801"/>
                <a:gd name="csY0" fmla="*/ 375617 h 1202006"/>
                <a:gd name="csX1" fmla="*/ 38967 w 1207801"/>
                <a:gd name="csY1" fmla="*/ 362695 h 1202006"/>
                <a:gd name="csX2" fmla="*/ 31693 w 1207801"/>
                <a:gd name="csY2" fmla="*/ 342497 h 1202006"/>
                <a:gd name="csX3" fmla="*/ 54328 w 1207801"/>
                <a:gd name="csY3" fmla="*/ 293227 h 1202006"/>
                <a:gd name="csX4" fmla="*/ 74713 w 1207801"/>
                <a:gd name="csY4" fmla="*/ 291497 h 1202006"/>
                <a:gd name="csX5" fmla="*/ 101203 w 1207801"/>
                <a:gd name="csY5" fmla="*/ 296605 h 1202006"/>
                <a:gd name="csX6" fmla="*/ 98705 w 1207801"/>
                <a:gd name="csY6" fmla="*/ 278905 h 1202006"/>
                <a:gd name="csX7" fmla="*/ 131077 w 1207801"/>
                <a:gd name="csY7" fmla="*/ 235408 h 1202006"/>
                <a:gd name="csX8" fmla="*/ 150065 w 1207801"/>
                <a:gd name="csY8" fmla="*/ 237430 h 1202006"/>
                <a:gd name="csX9" fmla="*/ 185247 w 1207801"/>
                <a:gd name="csY9" fmla="*/ 234932 h 1202006"/>
                <a:gd name="csX10" fmla="*/ 206089 w 1207801"/>
                <a:gd name="csY10" fmla="*/ 206590 h 1202006"/>
                <a:gd name="csX11" fmla="*/ 215323 w 1207801"/>
                <a:gd name="csY11" fmla="*/ 162077 h 1202006"/>
                <a:gd name="csX12" fmla="*/ 216260 w 1207801"/>
                <a:gd name="csY12" fmla="*/ 159692 h 1202006"/>
                <a:gd name="csX13" fmla="*/ 453410 w 1207801"/>
                <a:gd name="csY13" fmla="*/ 10277 h 1202006"/>
                <a:gd name="csX14" fmla="*/ 737143 w 1207801"/>
                <a:gd name="csY14" fmla="*/ 10060 h 1202006"/>
                <a:gd name="csX15" fmla="*/ 850505 w 1207801"/>
                <a:gd name="csY15" fmla="*/ 38725 h 1202006"/>
                <a:gd name="csX16" fmla="*/ 899908 w 1207801"/>
                <a:gd name="csY16" fmla="*/ 130225 h 1202006"/>
                <a:gd name="csX17" fmla="*/ 1138790 w 1207801"/>
                <a:gd name="csY17" fmla="*/ 229037 h 1202006"/>
                <a:gd name="csX18" fmla="*/ 1207528 w 1207801"/>
                <a:gd name="csY18" fmla="*/ 501355 h 1202006"/>
                <a:gd name="csX19" fmla="*/ 1088090 w 1207801"/>
                <a:gd name="csY19" fmla="*/ 976187 h 1202006"/>
                <a:gd name="csX20" fmla="*/ 1068455 w 1207801"/>
                <a:gd name="csY20" fmla="*/ 1009090 h 1202006"/>
                <a:gd name="csX21" fmla="*/ 1070953 w 1207801"/>
                <a:gd name="csY21" fmla="*/ 1005070 h 1202006"/>
                <a:gd name="csX22" fmla="*/ 1048910 w 1207801"/>
                <a:gd name="csY22" fmla="*/ 1034275 h 1202006"/>
                <a:gd name="csX23" fmla="*/ 897545 w 1207801"/>
                <a:gd name="csY23" fmla="*/ 1166132 h 1202006"/>
                <a:gd name="csX24" fmla="*/ 488878 w 1207801"/>
                <a:gd name="csY24" fmla="*/ 1190883 h 1202006"/>
                <a:gd name="csX25" fmla="*/ 484753 w 1207801"/>
                <a:gd name="csY25" fmla="*/ 1163192 h 1202006"/>
                <a:gd name="csX26" fmla="*/ 404405 w 1207801"/>
                <a:gd name="csY26" fmla="*/ 1129315 h 1202006"/>
                <a:gd name="csX27" fmla="*/ 366065 w 1207801"/>
                <a:gd name="csY27" fmla="*/ 1095002 h 1202006"/>
                <a:gd name="csX28" fmla="*/ 365952 w 1207801"/>
                <a:gd name="csY28" fmla="*/ 1094890 h 1202006"/>
                <a:gd name="csX29" fmla="*/ 365083 w 1207801"/>
                <a:gd name="csY29" fmla="*/ 1094140 h 1202006"/>
                <a:gd name="csX30" fmla="*/ 294395 w 1207801"/>
                <a:gd name="csY30" fmla="*/ 970577 h 1202006"/>
                <a:gd name="csX31" fmla="*/ 308187 w 1207801"/>
                <a:gd name="csY31" fmla="*/ 844330 h 1202006"/>
                <a:gd name="csX32" fmla="*/ 198770 w 1207801"/>
                <a:gd name="csY32" fmla="*/ 579580 h 1202006"/>
                <a:gd name="csX33" fmla="*/ 192147 w 1207801"/>
                <a:gd name="csY33" fmla="*/ 577952 h 1202006"/>
                <a:gd name="csX34" fmla="*/ 175753 w 1207801"/>
                <a:gd name="csY34" fmla="*/ 573827 h 1202006"/>
                <a:gd name="csX35" fmla="*/ 102807 w 1207801"/>
                <a:gd name="csY35" fmla="*/ 542665 h 1202006"/>
                <a:gd name="csX36" fmla="*/ 4970 w 1207801"/>
                <a:gd name="csY36" fmla="*/ 419425 h 1202006"/>
                <a:gd name="csX37" fmla="*/ 9853 w 1207801"/>
                <a:gd name="csY37" fmla="*/ 375670 h 12020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207801" h="1202006">
                  <a:moveTo>
                    <a:pt x="9762" y="375617"/>
                  </a:moveTo>
                  <a:cubicBezTo>
                    <a:pt x="17339" y="367523"/>
                    <a:pt x="27882" y="362858"/>
                    <a:pt x="38967" y="362695"/>
                  </a:cubicBezTo>
                  <a:lnTo>
                    <a:pt x="31693" y="342497"/>
                  </a:lnTo>
                  <a:cubicBezTo>
                    <a:pt x="24338" y="322641"/>
                    <a:pt x="34472" y="300582"/>
                    <a:pt x="54328" y="293227"/>
                  </a:cubicBezTo>
                  <a:cubicBezTo>
                    <a:pt x="60841" y="290815"/>
                    <a:pt x="67887" y="290217"/>
                    <a:pt x="74713" y="291497"/>
                  </a:cubicBezTo>
                  <a:lnTo>
                    <a:pt x="101203" y="296605"/>
                  </a:lnTo>
                  <a:lnTo>
                    <a:pt x="98705" y="278905"/>
                  </a:lnTo>
                  <a:cubicBezTo>
                    <a:pt x="95633" y="257954"/>
                    <a:pt x="110126" y="238480"/>
                    <a:pt x="131077" y="235408"/>
                  </a:cubicBezTo>
                  <a:cubicBezTo>
                    <a:pt x="137475" y="234470"/>
                    <a:pt x="144007" y="235165"/>
                    <a:pt x="150065" y="237430"/>
                  </a:cubicBezTo>
                  <a:cubicBezTo>
                    <a:pt x="161567" y="241957"/>
                    <a:pt x="174500" y="241039"/>
                    <a:pt x="185247" y="234932"/>
                  </a:cubicBezTo>
                  <a:cubicBezTo>
                    <a:pt x="196029" y="229015"/>
                    <a:pt x="203655" y="218646"/>
                    <a:pt x="206089" y="206590"/>
                  </a:cubicBezTo>
                  <a:lnTo>
                    <a:pt x="215323" y="162077"/>
                  </a:lnTo>
                  <a:lnTo>
                    <a:pt x="216260" y="159692"/>
                  </a:lnTo>
                  <a:cubicBezTo>
                    <a:pt x="261215" y="84767"/>
                    <a:pt x="347645" y="30265"/>
                    <a:pt x="453410" y="10277"/>
                  </a:cubicBezTo>
                  <a:cubicBezTo>
                    <a:pt x="547550" y="-7640"/>
                    <a:pt x="644082" y="1487"/>
                    <a:pt x="737143" y="10060"/>
                  </a:cubicBezTo>
                  <a:cubicBezTo>
                    <a:pt x="774065" y="13540"/>
                    <a:pt x="815750" y="17447"/>
                    <a:pt x="850505" y="38725"/>
                  </a:cubicBezTo>
                  <a:cubicBezTo>
                    <a:pt x="880040" y="56972"/>
                    <a:pt x="905015" y="93475"/>
                    <a:pt x="899908" y="130225"/>
                  </a:cubicBezTo>
                  <a:cubicBezTo>
                    <a:pt x="991655" y="102107"/>
                    <a:pt x="1090033" y="158282"/>
                    <a:pt x="1138790" y="229037"/>
                  </a:cubicBezTo>
                  <a:cubicBezTo>
                    <a:pt x="1196540" y="313292"/>
                    <a:pt x="1205997" y="418877"/>
                    <a:pt x="1207528" y="501355"/>
                  </a:cubicBezTo>
                  <a:cubicBezTo>
                    <a:pt x="1211653" y="696587"/>
                    <a:pt x="1171363" y="856315"/>
                    <a:pt x="1088090" y="976187"/>
                  </a:cubicBezTo>
                  <a:cubicBezTo>
                    <a:pt x="1082015" y="984872"/>
                    <a:pt x="1080485" y="1003007"/>
                    <a:pt x="1068455" y="1009090"/>
                  </a:cubicBezTo>
                  <a:lnTo>
                    <a:pt x="1070953" y="1005070"/>
                  </a:lnTo>
                  <a:cubicBezTo>
                    <a:pt x="1057453" y="1011820"/>
                    <a:pt x="1043833" y="1022657"/>
                    <a:pt x="1048910" y="1034275"/>
                  </a:cubicBezTo>
                  <a:cubicBezTo>
                    <a:pt x="1063565" y="1067717"/>
                    <a:pt x="966170" y="1141660"/>
                    <a:pt x="897545" y="1166132"/>
                  </a:cubicBezTo>
                  <a:cubicBezTo>
                    <a:pt x="772347" y="1210757"/>
                    <a:pt x="605893" y="1206962"/>
                    <a:pt x="488878" y="1190883"/>
                  </a:cubicBezTo>
                  <a:lnTo>
                    <a:pt x="484753" y="1163192"/>
                  </a:lnTo>
                  <a:cubicBezTo>
                    <a:pt x="442513" y="1157440"/>
                    <a:pt x="412752" y="1146475"/>
                    <a:pt x="404405" y="1129315"/>
                  </a:cubicBezTo>
                  <a:cubicBezTo>
                    <a:pt x="389638" y="1116715"/>
                    <a:pt x="377045" y="1105427"/>
                    <a:pt x="366065" y="1095002"/>
                  </a:cubicBezTo>
                  <a:lnTo>
                    <a:pt x="365952" y="1094890"/>
                  </a:lnTo>
                  <a:cubicBezTo>
                    <a:pt x="365735" y="1094672"/>
                    <a:pt x="365300" y="1094350"/>
                    <a:pt x="365083" y="1094140"/>
                  </a:cubicBezTo>
                  <a:cubicBezTo>
                    <a:pt x="312200" y="1043432"/>
                    <a:pt x="299930" y="1014550"/>
                    <a:pt x="294395" y="970577"/>
                  </a:cubicBezTo>
                  <a:cubicBezTo>
                    <a:pt x="289077" y="927467"/>
                    <a:pt x="298520" y="883712"/>
                    <a:pt x="308187" y="844330"/>
                  </a:cubicBezTo>
                  <a:cubicBezTo>
                    <a:pt x="104705" y="875830"/>
                    <a:pt x="388325" y="627580"/>
                    <a:pt x="198770" y="579580"/>
                  </a:cubicBezTo>
                  <a:cubicBezTo>
                    <a:pt x="196595" y="578911"/>
                    <a:pt x="194384" y="578367"/>
                    <a:pt x="192147" y="577952"/>
                  </a:cubicBezTo>
                  <a:cubicBezTo>
                    <a:pt x="186613" y="576655"/>
                    <a:pt x="181077" y="575342"/>
                    <a:pt x="175753" y="573827"/>
                  </a:cubicBezTo>
                  <a:cubicBezTo>
                    <a:pt x="150113" y="566865"/>
                    <a:pt x="125563" y="556378"/>
                    <a:pt x="102807" y="542665"/>
                  </a:cubicBezTo>
                  <a:cubicBezTo>
                    <a:pt x="49820" y="510415"/>
                    <a:pt x="32307" y="467665"/>
                    <a:pt x="4970" y="419425"/>
                  </a:cubicBezTo>
                  <a:cubicBezTo>
                    <a:pt x="-3134" y="405339"/>
                    <a:pt x="-1158" y="387623"/>
                    <a:pt x="9853" y="375670"/>
                  </a:cubicBezTo>
                  <a:close/>
                </a:path>
              </a:pathLst>
            </a:custGeom>
            <a:solidFill>
              <a:srgbClr val="090814"/>
            </a:solidFill>
            <a:ln w="7491" cap="flat">
              <a:noFill/>
              <a:prstDash val="solid"/>
              <a:miter/>
            </a:ln>
          </p:spPr>
          <p:txBody>
            <a:bodyPr/>
            <a:lstStyle/>
            <a:p>
              <a:endParaRPr lang="zh-CN" altLang="en-US"/>
            </a:p>
          </p:txBody>
        </p:sp>
      </p:grpSp>
      <p:sp>
        <p:nvSpPr>
          <p:cNvPr id="33" name="任意多边形: 形状 32">
            <a:extLst>
              <a:ext uri="{FF2B5EF4-FFF2-40B4-BE49-F238E27FC236}">
                <a16:creationId xmlns:a16="http://schemas.microsoft.com/office/drawing/2014/main" id="{0D5A1276-E8F2-FD4D-79AD-287AAAC6A8DB}"/>
              </a:ext>
            </a:extLst>
          </p:cNvPr>
          <p:cNvSpPr/>
          <p:nvPr/>
        </p:nvSpPr>
        <p:spPr>
          <a:xfrm>
            <a:off x="7727460" y="4125053"/>
            <a:ext cx="537428" cy="317047"/>
          </a:xfrm>
          <a:custGeom>
            <a:avLst/>
            <a:gdLst>
              <a:gd name="csX0" fmla="*/ 476555 w 537428"/>
              <a:gd name="csY0" fmla="*/ 312939 h 317047"/>
              <a:gd name="csX1" fmla="*/ 480088 w 537428"/>
              <a:gd name="csY1" fmla="*/ 300512 h 317047"/>
              <a:gd name="csX2" fmla="*/ 475625 w 537428"/>
              <a:gd name="csY2" fmla="*/ 262119 h 317047"/>
              <a:gd name="csX3" fmla="*/ 444823 w 537428"/>
              <a:gd name="csY3" fmla="*/ 246812 h 317047"/>
              <a:gd name="csX4" fmla="*/ 193190 w 537428"/>
              <a:gd name="csY4" fmla="*/ 243602 h 317047"/>
              <a:gd name="csX5" fmla="*/ 189238 w 537428"/>
              <a:gd name="csY5" fmla="*/ 241487 h 317047"/>
              <a:gd name="csX6" fmla="*/ 188735 w 537428"/>
              <a:gd name="csY6" fmla="*/ 236919 h 317047"/>
              <a:gd name="csX7" fmla="*/ 194540 w 537428"/>
              <a:gd name="csY7" fmla="*/ 232419 h 317047"/>
              <a:gd name="csX8" fmla="*/ 448438 w 537428"/>
              <a:gd name="csY8" fmla="*/ 229209 h 317047"/>
              <a:gd name="csX9" fmla="*/ 522583 w 537428"/>
              <a:gd name="csY9" fmla="*/ 173312 h 317047"/>
              <a:gd name="csX10" fmla="*/ 537080 w 537428"/>
              <a:gd name="csY10" fmla="*/ 135294 h 317047"/>
              <a:gd name="csX11" fmla="*/ 537673 w 537428"/>
              <a:gd name="csY11" fmla="*/ 132084 h 317047"/>
              <a:gd name="csX12" fmla="*/ 537508 w 537428"/>
              <a:gd name="csY12" fmla="*/ 130307 h 317047"/>
              <a:gd name="csX13" fmla="*/ 341024 w 537428"/>
              <a:gd name="csY13" fmla="*/ 4197 h 317047"/>
              <a:gd name="csX14" fmla="*/ 219643 w 537428"/>
              <a:gd name="csY14" fmla="*/ 113139 h 317047"/>
              <a:gd name="csX15" fmla="*/ 115283 w 537428"/>
              <a:gd name="csY15" fmla="*/ 128561 h 317047"/>
              <a:gd name="csX16" fmla="*/ 102913 w 537428"/>
              <a:gd name="csY16" fmla="*/ 191544 h 317047"/>
              <a:gd name="csX17" fmla="*/ 245 w 537428"/>
              <a:gd name="csY17" fmla="*/ 297714 h 317047"/>
              <a:gd name="csX18" fmla="*/ 1340 w 537428"/>
              <a:gd name="csY18" fmla="*/ 313104 h 317047"/>
              <a:gd name="csX19" fmla="*/ 6223 w 537428"/>
              <a:gd name="csY19" fmla="*/ 317334 h 317047"/>
              <a:gd name="csX20" fmla="*/ 470683 w 537428"/>
              <a:gd name="csY20" fmla="*/ 317417 h 317047"/>
              <a:gd name="csX21" fmla="*/ 470855 w 537428"/>
              <a:gd name="csY21" fmla="*/ 317417 h 317047"/>
              <a:gd name="csX22" fmla="*/ 476555 w 537428"/>
              <a:gd name="csY22" fmla="*/ 312939 h 3170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537428" h="317047">
                <a:moveTo>
                  <a:pt x="476555" y="312939"/>
                </a:moveTo>
                <a:lnTo>
                  <a:pt x="480088" y="300512"/>
                </a:lnTo>
                <a:cubicBezTo>
                  <a:pt x="484622" y="287713"/>
                  <a:pt x="482974" y="273536"/>
                  <a:pt x="475625" y="262119"/>
                </a:cubicBezTo>
                <a:cubicBezTo>
                  <a:pt x="468288" y="252514"/>
                  <a:pt x="456909" y="246859"/>
                  <a:pt x="444823" y="246812"/>
                </a:cubicBezTo>
                <a:lnTo>
                  <a:pt x="193190" y="243602"/>
                </a:lnTo>
                <a:cubicBezTo>
                  <a:pt x="191609" y="243573"/>
                  <a:pt x="190139" y="242786"/>
                  <a:pt x="189238" y="241487"/>
                </a:cubicBezTo>
                <a:cubicBezTo>
                  <a:pt x="188353" y="240131"/>
                  <a:pt x="188166" y="238435"/>
                  <a:pt x="188735" y="236919"/>
                </a:cubicBezTo>
                <a:cubicBezTo>
                  <a:pt x="189613" y="234405"/>
                  <a:pt x="191887" y="232643"/>
                  <a:pt x="194540" y="232419"/>
                </a:cubicBezTo>
                <a:lnTo>
                  <a:pt x="448438" y="229209"/>
                </a:lnTo>
                <a:cubicBezTo>
                  <a:pt x="478565" y="227859"/>
                  <a:pt x="511138" y="203252"/>
                  <a:pt x="522583" y="173312"/>
                </a:cubicBezTo>
                <a:lnTo>
                  <a:pt x="537080" y="135294"/>
                </a:lnTo>
                <a:cubicBezTo>
                  <a:pt x="537487" y="134273"/>
                  <a:pt x="537688" y="133183"/>
                  <a:pt x="537673" y="132084"/>
                </a:cubicBezTo>
                <a:cubicBezTo>
                  <a:pt x="537660" y="131488"/>
                  <a:pt x="537604" y="130894"/>
                  <a:pt x="537508" y="130307"/>
                </a:cubicBezTo>
                <a:cubicBezTo>
                  <a:pt x="518074" y="41225"/>
                  <a:pt x="430106" y="-15236"/>
                  <a:pt x="341024" y="4197"/>
                </a:cubicBezTo>
                <a:cubicBezTo>
                  <a:pt x="284198" y="16594"/>
                  <a:pt x="238088" y="57979"/>
                  <a:pt x="219643" y="113139"/>
                </a:cubicBezTo>
                <a:cubicBezTo>
                  <a:pt x="186566" y="88579"/>
                  <a:pt x="139842" y="95484"/>
                  <a:pt x="115283" y="128561"/>
                </a:cubicBezTo>
                <a:cubicBezTo>
                  <a:pt x="101876" y="146617"/>
                  <a:pt x="97331" y="169758"/>
                  <a:pt x="102913" y="191544"/>
                </a:cubicBezTo>
                <a:cubicBezTo>
                  <a:pt x="45633" y="193399"/>
                  <a:pt x="179" y="240405"/>
                  <a:pt x="245" y="297714"/>
                </a:cubicBezTo>
                <a:cubicBezTo>
                  <a:pt x="269" y="302863"/>
                  <a:pt x="635" y="308004"/>
                  <a:pt x="1340" y="313104"/>
                </a:cubicBezTo>
                <a:cubicBezTo>
                  <a:pt x="1678" y="315538"/>
                  <a:pt x="3765" y="317346"/>
                  <a:pt x="6223" y="317334"/>
                </a:cubicBezTo>
                <a:lnTo>
                  <a:pt x="470683" y="317417"/>
                </a:lnTo>
                <a:lnTo>
                  <a:pt x="470855" y="317417"/>
                </a:lnTo>
                <a:cubicBezTo>
                  <a:pt x="473521" y="317307"/>
                  <a:pt x="475818" y="315503"/>
                  <a:pt x="476555" y="312939"/>
                </a:cubicBezTo>
                <a:close/>
              </a:path>
            </a:pathLst>
          </a:custGeom>
          <a:solidFill>
            <a:srgbClr val="F6821F"/>
          </a:solidFill>
          <a:ln w="7491" cap="flat">
            <a:noFill/>
            <a:prstDash val="solid"/>
            <a:miter/>
          </a:ln>
        </p:spPr>
        <p:txBody>
          <a:bodyPr/>
          <a:lstStyle/>
          <a:p>
            <a:endParaRPr lang="zh-CN" altLang="en-US"/>
          </a:p>
        </p:txBody>
      </p:sp>
      <p:sp>
        <p:nvSpPr>
          <p:cNvPr id="34" name="任意多边形: 形状 33">
            <a:extLst>
              <a:ext uri="{FF2B5EF4-FFF2-40B4-BE49-F238E27FC236}">
                <a16:creationId xmlns:a16="http://schemas.microsoft.com/office/drawing/2014/main" id="{AA29E323-117B-3662-A4CE-22ACD09E3D66}"/>
              </a:ext>
            </a:extLst>
          </p:cNvPr>
          <p:cNvSpPr/>
          <p:nvPr/>
        </p:nvSpPr>
        <p:spPr>
          <a:xfrm>
            <a:off x="8220262" y="4262760"/>
            <a:ext cx="204935" cy="179287"/>
          </a:xfrm>
          <a:custGeom>
            <a:avLst/>
            <a:gdLst>
              <a:gd name="csX0" fmla="*/ 67609 w 204935"/>
              <a:gd name="csY0" fmla="*/ 373 h 179287"/>
              <a:gd name="csX1" fmla="*/ 60626 w 204935"/>
              <a:gd name="csY1" fmla="*/ 545 h 179287"/>
              <a:gd name="csX2" fmla="*/ 59531 w 204935"/>
              <a:gd name="csY2" fmla="*/ 800 h 179287"/>
              <a:gd name="csX3" fmla="*/ 57004 w 204935"/>
              <a:gd name="csY3" fmla="*/ 3508 h 179287"/>
              <a:gd name="csX4" fmla="*/ 47074 w 204935"/>
              <a:gd name="csY4" fmla="*/ 37843 h 179287"/>
              <a:gd name="csX5" fmla="*/ 51536 w 204935"/>
              <a:gd name="csY5" fmla="*/ 76235 h 179287"/>
              <a:gd name="csX6" fmla="*/ 82339 w 204935"/>
              <a:gd name="csY6" fmla="*/ 91543 h 179287"/>
              <a:gd name="csX7" fmla="*/ 135949 w 204935"/>
              <a:gd name="csY7" fmla="*/ 94753 h 179287"/>
              <a:gd name="csX8" fmla="*/ 139699 w 204935"/>
              <a:gd name="csY8" fmla="*/ 96868 h 179287"/>
              <a:gd name="csX9" fmla="*/ 140291 w 204935"/>
              <a:gd name="csY9" fmla="*/ 101435 h 179287"/>
              <a:gd name="csX10" fmla="*/ 134486 w 204935"/>
              <a:gd name="csY10" fmla="*/ 105935 h 179287"/>
              <a:gd name="csX11" fmla="*/ 78776 w 204935"/>
              <a:gd name="csY11" fmla="*/ 109145 h 179287"/>
              <a:gd name="csX12" fmla="*/ 4466 w 204935"/>
              <a:gd name="csY12" fmla="*/ 165043 h 179287"/>
              <a:gd name="csX13" fmla="*/ 454 w 204935"/>
              <a:gd name="csY13" fmla="*/ 175603 h 179287"/>
              <a:gd name="csX14" fmla="*/ 2195 w 204935"/>
              <a:gd name="csY14" fmla="*/ 179472 h 179287"/>
              <a:gd name="csX15" fmla="*/ 3064 w 204935"/>
              <a:gd name="csY15" fmla="*/ 179660 h 179287"/>
              <a:gd name="csX16" fmla="*/ 195064 w 204935"/>
              <a:gd name="csY16" fmla="*/ 179660 h 179287"/>
              <a:gd name="csX17" fmla="*/ 200029 w 204935"/>
              <a:gd name="csY17" fmla="*/ 175910 h 179287"/>
              <a:gd name="csX18" fmla="*/ 104233 w 204935"/>
              <a:gd name="csY18" fmla="*/ 5500 h 179287"/>
              <a:gd name="csX19" fmla="*/ 67609 w 204935"/>
              <a:gd name="csY19" fmla="*/ 373 h 1792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204935" h="179287">
                <a:moveTo>
                  <a:pt x="67609" y="373"/>
                </a:moveTo>
                <a:cubicBezTo>
                  <a:pt x="65254" y="373"/>
                  <a:pt x="62981" y="455"/>
                  <a:pt x="60626" y="545"/>
                </a:cubicBezTo>
                <a:cubicBezTo>
                  <a:pt x="60246" y="539"/>
                  <a:pt x="59870" y="627"/>
                  <a:pt x="59531" y="800"/>
                </a:cubicBezTo>
                <a:cubicBezTo>
                  <a:pt x="58301" y="1242"/>
                  <a:pt x="57360" y="2250"/>
                  <a:pt x="57004" y="3508"/>
                </a:cubicBezTo>
                <a:lnTo>
                  <a:pt x="47074" y="37843"/>
                </a:lnTo>
                <a:cubicBezTo>
                  <a:pt x="42537" y="50641"/>
                  <a:pt x="44185" y="64819"/>
                  <a:pt x="51536" y="76235"/>
                </a:cubicBezTo>
                <a:cubicBezTo>
                  <a:pt x="58878" y="85834"/>
                  <a:pt x="70254" y="91488"/>
                  <a:pt x="82339" y="91543"/>
                </a:cubicBezTo>
                <a:lnTo>
                  <a:pt x="135949" y="94753"/>
                </a:lnTo>
                <a:cubicBezTo>
                  <a:pt x="137466" y="94815"/>
                  <a:pt x="138861" y="95602"/>
                  <a:pt x="139699" y="96868"/>
                </a:cubicBezTo>
                <a:cubicBezTo>
                  <a:pt x="140611" y="98210"/>
                  <a:pt x="140831" y="99905"/>
                  <a:pt x="140291" y="101435"/>
                </a:cubicBezTo>
                <a:cubicBezTo>
                  <a:pt x="139413" y="103949"/>
                  <a:pt x="137140" y="105711"/>
                  <a:pt x="134486" y="105935"/>
                </a:cubicBezTo>
                <a:lnTo>
                  <a:pt x="78776" y="109145"/>
                </a:lnTo>
                <a:cubicBezTo>
                  <a:pt x="48566" y="110585"/>
                  <a:pt x="15911" y="135103"/>
                  <a:pt x="4466" y="165043"/>
                </a:cubicBezTo>
                <a:lnTo>
                  <a:pt x="454" y="175603"/>
                </a:lnTo>
                <a:cubicBezTo>
                  <a:pt x="-134" y="177152"/>
                  <a:pt x="646" y="178884"/>
                  <a:pt x="2195" y="179472"/>
                </a:cubicBezTo>
                <a:cubicBezTo>
                  <a:pt x="2474" y="179577"/>
                  <a:pt x="2767" y="179641"/>
                  <a:pt x="3064" y="179660"/>
                </a:cubicBezTo>
                <a:lnTo>
                  <a:pt x="195064" y="179660"/>
                </a:lnTo>
                <a:cubicBezTo>
                  <a:pt x="197361" y="179631"/>
                  <a:pt x="199373" y="178112"/>
                  <a:pt x="200029" y="175910"/>
                </a:cubicBezTo>
                <a:cubicBezTo>
                  <a:pt x="220633" y="102399"/>
                  <a:pt x="177743" y="26104"/>
                  <a:pt x="104233" y="5500"/>
                </a:cubicBezTo>
                <a:cubicBezTo>
                  <a:pt x="92309" y="2159"/>
                  <a:pt x="79991" y="434"/>
                  <a:pt x="67609" y="373"/>
                </a:cubicBezTo>
                <a:close/>
              </a:path>
            </a:pathLst>
          </a:custGeom>
          <a:solidFill>
            <a:srgbClr val="FBAD41"/>
          </a:solidFill>
          <a:ln w="7491" cap="flat">
            <a:noFill/>
            <a:prstDash val="solid"/>
            <a:miter/>
          </a:ln>
        </p:spPr>
        <p:txBody>
          <a:bodyPr/>
          <a:lstStyle/>
          <a:p>
            <a:endParaRPr lang="zh-CN" altLang="en-US"/>
          </a:p>
        </p:txBody>
      </p:sp>
      <p:sp>
        <p:nvSpPr>
          <p:cNvPr id="148" name="文本框 147">
            <a:extLst>
              <a:ext uri="{FF2B5EF4-FFF2-40B4-BE49-F238E27FC236}">
                <a16:creationId xmlns:a16="http://schemas.microsoft.com/office/drawing/2014/main" id="{425A1001-93A6-A94B-7B22-94BCE9A564D6}"/>
              </a:ext>
            </a:extLst>
          </p:cNvPr>
          <p:cNvSpPr txBox="1"/>
          <p:nvPr/>
        </p:nvSpPr>
        <p:spPr>
          <a:xfrm>
            <a:off x="6045134" y="1742367"/>
            <a:ext cx="595035" cy="338554"/>
          </a:xfrm>
          <a:prstGeom prst="rect">
            <a:avLst/>
          </a:prstGeom>
          <a:noFill/>
        </p:spPr>
        <p:txBody>
          <a:bodyPr wrap="none" rtlCol="0">
            <a:spAutoFit/>
          </a:bodyPr>
          <a:lstStyle/>
          <a:p>
            <a:pPr algn="l"/>
            <a:r>
              <a:rPr lang="zh-CN" altLang="en-US" sz="1600" dirty="0"/>
              <a:t>组长</a:t>
            </a:r>
          </a:p>
        </p:txBody>
      </p:sp>
      <p:sp>
        <p:nvSpPr>
          <p:cNvPr id="149" name="文本框 148">
            <a:extLst>
              <a:ext uri="{FF2B5EF4-FFF2-40B4-BE49-F238E27FC236}">
                <a16:creationId xmlns:a16="http://schemas.microsoft.com/office/drawing/2014/main" id="{6D43450A-45A8-3507-CA39-DD64F98E9819}"/>
              </a:ext>
            </a:extLst>
          </p:cNvPr>
          <p:cNvSpPr txBox="1"/>
          <p:nvPr/>
        </p:nvSpPr>
        <p:spPr>
          <a:xfrm>
            <a:off x="5708544" y="2401257"/>
            <a:ext cx="595035" cy="338554"/>
          </a:xfrm>
          <a:prstGeom prst="rect">
            <a:avLst/>
          </a:prstGeom>
          <a:noFill/>
        </p:spPr>
        <p:txBody>
          <a:bodyPr wrap="none" rtlCol="0">
            <a:spAutoFit/>
          </a:bodyPr>
          <a:lstStyle/>
          <a:p>
            <a:pPr algn="l"/>
            <a:r>
              <a:rPr lang="zh-CN" altLang="en-US" sz="1600" dirty="0"/>
              <a:t>需求</a:t>
            </a:r>
          </a:p>
        </p:txBody>
      </p:sp>
      <p:sp>
        <p:nvSpPr>
          <p:cNvPr id="150" name="文本框 149">
            <a:extLst>
              <a:ext uri="{FF2B5EF4-FFF2-40B4-BE49-F238E27FC236}">
                <a16:creationId xmlns:a16="http://schemas.microsoft.com/office/drawing/2014/main" id="{6570AD20-87F5-9B7C-7186-91D41B471031}"/>
              </a:ext>
            </a:extLst>
          </p:cNvPr>
          <p:cNvSpPr txBox="1"/>
          <p:nvPr/>
        </p:nvSpPr>
        <p:spPr>
          <a:xfrm>
            <a:off x="5371954" y="3060147"/>
            <a:ext cx="595035" cy="338554"/>
          </a:xfrm>
          <a:prstGeom prst="rect">
            <a:avLst/>
          </a:prstGeom>
          <a:noFill/>
        </p:spPr>
        <p:txBody>
          <a:bodyPr wrap="none" rtlCol="0">
            <a:spAutoFit/>
          </a:bodyPr>
          <a:lstStyle/>
          <a:p>
            <a:pPr algn="l"/>
            <a:r>
              <a:rPr lang="zh-CN" altLang="en-US" sz="1600" dirty="0"/>
              <a:t>设计</a:t>
            </a:r>
          </a:p>
        </p:txBody>
      </p:sp>
      <p:sp>
        <p:nvSpPr>
          <p:cNvPr id="151" name="文本框 150">
            <a:extLst>
              <a:ext uri="{FF2B5EF4-FFF2-40B4-BE49-F238E27FC236}">
                <a16:creationId xmlns:a16="http://schemas.microsoft.com/office/drawing/2014/main" id="{1D3971A5-C137-1A4C-0846-6BBCE1832FFF}"/>
              </a:ext>
            </a:extLst>
          </p:cNvPr>
          <p:cNvSpPr txBox="1"/>
          <p:nvPr/>
        </p:nvSpPr>
        <p:spPr>
          <a:xfrm>
            <a:off x="5036968" y="3719037"/>
            <a:ext cx="595035" cy="338554"/>
          </a:xfrm>
          <a:prstGeom prst="rect">
            <a:avLst/>
          </a:prstGeom>
          <a:noFill/>
        </p:spPr>
        <p:txBody>
          <a:bodyPr wrap="none" rtlCol="0">
            <a:spAutoFit/>
          </a:bodyPr>
          <a:lstStyle/>
          <a:p>
            <a:pPr algn="l"/>
            <a:r>
              <a:rPr lang="zh-CN" altLang="en-US" sz="1600" dirty="0"/>
              <a:t>开发</a:t>
            </a:r>
          </a:p>
        </p:txBody>
      </p:sp>
      <p:sp>
        <p:nvSpPr>
          <p:cNvPr id="152" name="文本框 151">
            <a:extLst>
              <a:ext uri="{FF2B5EF4-FFF2-40B4-BE49-F238E27FC236}">
                <a16:creationId xmlns:a16="http://schemas.microsoft.com/office/drawing/2014/main" id="{C7A2C160-DEEC-BC53-F9EB-11551E9DC082}"/>
              </a:ext>
            </a:extLst>
          </p:cNvPr>
          <p:cNvSpPr txBox="1"/>
          <p:nvPr/>
        </p:nvSpPr>
        <p:spPr>
          <a:xfrm>
            <a:off x="5386381" y="4377927"/>
            <a:ext cx="595035" cy="338554"/>
          </a:xfrm>
          <a:prstGeom prst="rect">
            <a:avLst/>
          </a:prstGeom>
          <a:noFill/>
        </p:spPr>
        <p:txBody>
          <a:bodyPr wrap="none" rtlCol="0">
            <a:spAutoFit/>
          </a:bodyPr>
          <a:lstStyle/>
          <a:p>
            <a:pPr algn="l"/>
            <a:r>
              <a:rPr lang="zh-CN" altLang="en-US" sz="1600" dirty="0"/>
              <a:t>集成</a:t>
            </a:r>
          </a:p>
        </p:txBody>
      </p:sp>
      <p:sp>
        <p:nvSpPr>
          <p:cNvPr id="153" name="文本框 152">
            <a:extLst>
              <a:ext uri="{FF2B5EF4-FFF2-40B4-BE49-F238E27FC236}">
                <a16:creationId xmlns:a16="http://schemas.microsoft.com/office/drawing/2014/main" id="{31F796B4-E2F5-6A8D-3B00-572E842D055E}"/>
              </a:ext>
            </a:extLst>
          </p:cNvPr>
          <p:cNvSpPr txBox="1"/>
          <p:nvPr/>
        </p:nvSpPr>
        <p:spPr>
          <a:xfrm>
            <a:off x="5694116" y="5036817"/>
            <a:ext cx="595035" cy="338554"/>
          </a:xfrm>
          <a:prstGeom prst="rect">
            <a:avLst/>
          </a:prstGeom>
          <a:noFill/>
        </p:spPr>
        <p:txBody>
          <a:bodyPr wrap="none" rtlCol="0">
            <a:spAutoFit/>
          </a:bodyPr>
          <a:lstStyle/>
          <a:p>
            <a:pPr algn="l"/>
            <a:r>
              <a:rPr lang="zh-CN" altLang="en-US" sz="1600" dirty="0"/>
              <a:t>测试</a:t>
            </a:r>
          </a:p>
        </p:txBody>
      </p:sp>
      <p:sp>
        <p:nvSpPr>
          <p:cNvPr id="154" name="文本框 153">
            <a:extLst>
              <a:ext uri="{FF2B5EF4-FFF2-40B4-BE49-F238E27FC236}">
                <a16:creationId xmlns:a16="http://schemas.microsoft.com/office/drawing/2014/main" id="{5EAA7587-1DC3-56D1-6B83-ABFC899F0371}"/>
              </a:ext>
            </a:extLst>
          </p:cNvPr>
          <p:cNvSpPr txBox="1"/>
          <p:nvPr/>
        </p:nvSpPr>
        <p:spPr>
          <a:xfrm>
            <a:off x="6045134" y="5695706"/>
            <a:ext cx="595035" cy="338554"/>
          </a:xfrm>
          <a:prstGeom prst="rect">
            <a:avLst/>
          </a:prstGeom>
          <a:noFill/>
        </p:spPr>
        <p:txBody>
          <a:bodyPr wrap="none" rtlCol="0">
            <a:spAutoFit/>
          </a:bodyPr>
          <a:lstStyle/>
          <a:p>
            <a:pPr algn="l"/>
            <a:r>
              <a:rPr lang="zh-CN" altLang="en-US" sz="1600" dirty="0"/>
              <a:t>文档</a:t>
            </a:r>
          </a:p>
        </p:txBody>
      </p:sp>
      <p:sp>
        <p:nvSpPr>
          <p:cNvPr id="157" name="任意多边形: 形状 156">
            <a:extLst>
              <a:ext uri="{FF2B5EF4-FFF2-40B4-BE49-F238E27FC236}">
                <a16:creationId xmlns:a16="http://schemas.microsoft.com/office/drawing/2014/main" id="{A494A28E-3D67-8AF8-88AA-625A57261349}"/>
              </a:ext>
            </a:extLst>
          </p:cNvPr>
          <p:cNvSpPr/>
          <p:nvPr/>
        </p:nvSpPr>
        <p:spPr>
          <a:xfrm>
            <a:off x="6415726" y="1772688"/>
            <a:ext cx="953963" cy="4492295"/>
          </a:xfrm>
          <a:custGeom>
            <a:avLst/>
            <a:gdLst>
              <a:gd name="csX0" fmla="*/ 904287 w 953963"/>
              <a:gd name="csY0" fmla="*/ 0 h 4492295"/>
              <a:gd name="csX1" fmla="*/ 904260 w 953963"/>
              <a:gd name="csY1" fmla="*/ 31 h 4492295"/>
              <a:gd name="csX2" fmla="*/ 289973 w 953963"/>
              <a:gd name="csY2" fmla="*/ 2822922 h 4492295"/>
              <a:gd name="csX3" fmla="*/ 826263 w 953963"/>
              <a:gd name="csY3" fmla="*/ 4300088 h 4492295"/>
              <a:gd name="csX4" fmla="*/ 953963 w 953963"/>
              <a:gd name="csY4" fmla="*/ 4492295 h 4492295"/>
              <a:gd name="csX5" fmla="*/ 936343 w 953963"/>
              <a:gd name="csY5" fmla="*/ 4476749 h 4492295"/>
              <a:gd name="csX6" fmla="*/ 47836 w 953963"/>
              <a:gd name="csY6" fmla="*/ 2687548 h 4492295"/>
              <a:gd name="csX7" fmla="*/ 856052 w 953963"/>
              <a:gd name="csY7" fmla="*/ 34410 h 4492295"/>
              <a:gd name="csX8" fmla="*/ 904287 w 953963"/>
              <a:gd name="csY8" fmla="*/ 0 h 44922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53963" h="4492295">
                <a:moveTo>
                  <a:pt x="904287" y="0"/>
                </a:moveTo>
                <a:lnTo>
                  <a:pt x="904260" y="31"/>
                </a:lnTo>
                <a:cubicBezTo>
                  <a:pt x="365927" y="678105"/>
                  <a:pt x="109389" y="1719220"/>
                  <a:pt x="289973" y="2822922"/>
                </a:cubicBezTo>
                <a:cubicBezTo>
                  <a:pt x="380265" y="3374773"/>
                  <a:pt x="569153" y="3876965"/>
                  <a:pt x="826263" y="4300088"/>
                </a:cubicBezTo>
                <a:lnTo>
                  <a:pt x="953963" y="4492295"/>
                </a:lnTo>
                <a:lnTo>
                  <a:pt x="936343" y="4476749"/>
                </a:lnTo>
                <a:cubicBezTo>
                  <a:pt x="498952" y="4053212"/>
                  <a:pt x="168226" y="3423349"/>
                  <a:pt x="47836" y="2687548"/>
                </a:cubicBezTo>
                <a:cubicBezTo>
                  <a:pt x="-132748" y="1583848"/>
                  <a:pt x="211215" y="555248"/>
                  <a:pt x="856052" y="34410"/>
                </a:cubicBezTo>
                <a:lnTo>
                  <a:pt x="904287" y="0"/>
                </a:lnTo>
                <a:close/>
              </a:path>
            </a:pathLst>
          </a:custGeom>
          <a:solidFill>
            <a:srgbClr val="89AE1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dirty="0">
              <a:solidFill>
                <a:schemeClr val="tx1"/>
              </a:solidFill>
            </a:endParaRPr>
          </a:p>
        </p:txBody>
      </p:sp>
      <p:pic>
        <p:nvPicPr>
          <p:cNvPr id="158" name="图形 157" descr="用户">
            <a:extLst>
              <a:ext uri="{FF2B5EF4-FFF2-40B4-BE49-F238E27FC236}">
                <a16:creationId xmlns:a16="http://schemas.microsoft.com/office/drawing/2014/main" id="{A21F3003-424B-2785-4715-9836E75E57A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734831" y="1731644"/>
            <a:ext cx="360000" cy="360000"/>
          </a:xfrm>
          <a:prstGeom prst="rect">
            <a:avLst/>
          </a:prstGeom>
        </p:spPr>
      </p:pic>
      <p:pic>
        <p:nvPicPr>
          <p:cNvPr id="159" name="图形 158" descr="用户">
            <a:extLst>
              <a:ext uri="{FF2B5EF4-FFF2-40B4-BE49-F238E27FC236}">
                <a16:creationId xmlns:a16="http://schemas.microsoft.com/office/drawing/2014/main" id="{B2416ECF-6AAE-C574-A788-84B6328645B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734831" y="5684983"/>
            <a:ext cx="360000" cy="360000"/>
          </a:xfrm>
          <a:prstGeom prst="rect">
            <a:avLst/>
          </a:prstGeom>
        </p:spPr>
      </p:pic>
      <p:pic>
        <p:nvPicPr>
          <p:cNvPr id="160" name="图形 159" descr="用户">
            <a:extLst>
              <a:ext uri="{FF2B5EF4-FFF2-40B4-BE49-F238E27FC236}">
                <a16:creationId xmlns:a16="http://schemas.microsoft.com/office/drawing/2014/main" id="{E7AA5ADC-38F3-0EEF-9CC5-C15AC29399B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53669" y="5018077"/>
            <a:ext cx="360000" cy="360000"/>
          </a:xfrm>
          <a:prstGeom prst="rect">
            <a:avLst/>
          </a:prstGeom>
        </p:spPr>
      </p:pic>
      <p:pic>
        <p:nvPicPr>
          <p:cNvPr id="161" name="图形 160" descr="用户">
            <a:extLst>
              <a:ext uri="{FF2B5EF4-FFF2-40B4-BE49-F238E27FC236}">
                <a16:creationId xmlns:a16="http://schemas.microsoft.com/office/drawing/2014/main" id="{CC9ED1F1-BAA6-598B-3548-F81CBC61503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55872" y="5018077"/>
            <a:ext cx="360000" cy="360000"/>
          </a:xfrm>
          <a:prstGeom prst="rect">
            <a:avLst/>
          </a:prstGeom>
        </p:spPr>
      </p:pic>
      <p:pic>
        <p:nvPicPr>
          <p:cNvPr id="162" name="图形 161" descr="用户">
            <a:extLst>
              <a:ext uri="{FF2B5EF4-FFF2-40B4-BE49-F238E27FC236}">
                <a16:creationId xmlns:a16="http://schemas.microsoft.com/office/drawing/2014/main" id="{0399CE89-F0BF-488A-8F4E-EBA0DF93A7F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110315" y="4336649"/>
            <a:ext cx="360000" cy="360000"/>
          </a:xfrm>
          <a:prstGeom prst="rect">
            <a:avLst/>
          </a:prstGeom>
        </p:spPr>
      </p:pic>
      <p:pic>
        <p:nvPicPr>
          <p:cNvPr id="163" name="图形 162" descr="用户">
            <a:extLst>
              <a:ext uri="{FF2B5EF4-FFF2-40B4-BE49-F238E27FC236}">
                <a16:creationId xmlns:a16="http://schemas.microsoft.com/office/drawing/2014/main" id="{8D762B38-C58D-759B-953B-4362528DD6A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770083" y="3697591"/>
            <a:ext cx="360000" cy="360000"/>
          </a:xfrm>
          <a:prstGeom prst="rect">
            <a:avLst/>
          </a:prstGeom>
        </p:spPr>
      </p:pic>
      <p:pic>
        <p:nvPicPr>
          <p:cNvPr id="164" name="图形 163" descr="用户">
            <a:extLst>
              <a:ext uri="{FF2B5EF4-FFF2-40B4-BE49-F238E27FC236}">
                <a16:creationId xmlns:a16="http://schemas.microsoft.com/office/drawing/2014/main" id="{AC20783E-718D-9CA2-2C1E-5D4235A8601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462033" y="3697591"/>
            <a:ext cx="360000" cy="360000"/>
          </a:xfrm>
          <a:prstGeom prst="rect">
            <a:avLst/>
          </a:prstGeom>
        </p:spPr>
      </p:pic>
      <p:pic>
        <p:nvPicPr>
          <p:cNvPr id="165" name="图形 164" descr="用户">
            <a:extLst>
              <a:ext uri="{FF2B5EF4-FFF2-40B4-BE49-F238E27FC236}">
                <a16:creationId xmlns:a16="http://schemas.microsoft.com/office/drawing/2014/main" id="{D7424D71-6F23-FD73-34A5-02726D323F2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153982" y="3698083"/>
            <a:ext cx="360000" cy="360000"/>
          </a:xfrm>
          <a:prstGeom prst="rect">
            <a:avLst/>
          </a:prstGeom>
        </p:spPr>
      </p:pic>
      <p:pic>
        <p:nvPicPr>
          <p:cNvPr id="166" name="图形 165" descr="用户">
            <a:extLst>
              <a:ext uri="{FF2B5EF4-FFF2-40B4-BE49-F238E27FC236}">
                <a16:creationId xmlns:a16="http://schemas.microsoft.com/office/drawing/2014/main" id="{A2430A76-BBF8-122E-88C1-5A9A976DB0A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45931" y="3698083"/>
            <a:ext cx="360000" cy="360000"/>
          </a:xfrm>
          <a:prstGeom prst="rect">
            <a:avLst/>
          </a:prstGeom>
        </p:spPr>
      </p:pic>
      <p:pic>
        <p:nvPicPr>
          <p:cNvPr id="167" name="图形 166" descr="用户">
            <a:extLst>
              <a:ext uri="{FF2B5EF4-FFF2-40B4-BE49-F238E27FC236}">
                <a16:creationId xmlns:a16="http://schemas.microsoft.com/office/drawing/2014/main" id="{4500FB4E-D539-7290-BE16-2C67C77D1CF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537880" y="3698575"/>
            <a:ext cx="360000" cy="360000"/>
          </a:xfrm>
          <a:prstGeom prst="rect">
            <a:avLst/>
          </a:prstGeom>
        </p:spPr>
      </p:pic>
      <p:pic>
        <p:nvPicPr>
          <p:cNvPr id="168" name="图形 167" descr="用户">
            <a:extLst>
              <a:ext uri="{FF2B5EF4-FFF2-40B4-BE49-F238E27FC236}">
                <a16:creationId xmlns:a16="http://schemas.microsoft.com/office/drawing/2014/main" id="{089515C4-BBE9-B645-F952-B35F7501AAB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26381" y="3061494"/>
            <a:ext cx="360000" cy="360000"/>
          </a:xfrm>
          <a:prstGeom prst="rect">
            <a:avLst/>
          </a:prstGeom>
        </p:spPr>
      </p:pic>
      <p:pic>
        <p:nvPicPr>
          <p:cNvPr id="169" name="图形 168" descr="用户">
            <a:extLst>
              <a:ext uri="{FF2B5EF4-FFF2-40B4-BE49-F238E27FC236}">
                <a16:creationId xmlns:a16="http://schemas.microsoft.com/office/drawing/2014/main" id="{5C24BD91-BB66-1A65-AD65-0AD64D5BEE6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403653" y="2371582"/>
            <a:ext cx="360000" cy="360000"/>
          </a:xfrm>
          <a:prstGeom prst="rect">
            <a:avLst/>
          </a:prstGeom>
        </p:spPr>
      </p:pic>
      <p:pic>
        <p:nvPicPr>
          <p:cNvPr id="170" name="图形 169" descr="用户">
            <a:extLst>
              <a:ext uri="{FF2B5EF4-FFF2-40B4-BE49-F238E27FC236}">
                <a16:creationId xmlns:a16="http://schemas.microsoft.com/office/drawing/2014/main" id="{73C27B49-C8ED-FFB3-9C31-E464F094360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95344" y="2371582"/>
            <a:ext cx="360000" cy="360000"/>
          </a:xfrm>
          <a:prstGeom prst="rect">
            <a:avLst/>
          </a:prstGeom>
        </p:spPr>
      </p:pic>
      <p:pic>
        <p:nvPicPr>
          <p:cNvPr id="171" name="图形 170" descr="用户">
            <a:extLst>
              <a:ext uri="{FF2B5EF4-FFF2-40B4-BE49-F238E27FC236}">
                <a16:creationId xmlns:a16="http://schemas.microsoft.com/office/drawing/2014/main" id="{55DFDB60-733B-A22A-00B6-E9EE633979F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671554" y="3058533"/>
            <a:ext cx="360000" cy="360000"/>
          </a:xfrm>
          <a:prstGeom prst="rect">
            <a:avLst/>
          </a:prstGeom>
        </p:spPr>
      </p:pic>
      <p:pic>
        <p:nvPicPr>
          <p:cNvPr id="172" name="图形 171" descr="用户">
            <a:extLst>
              <a:ext uri="{FF2B5EF4-FFF2-40B4-BE49-F238E27FC236}">
                <a16:creationId xmlns:a16="http://schemas.microsoft.com/office/drawing/2014/main" id="{8DA6C6D0-E95B-51A8-377F-A7C4A546205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787036" y="2384024"/>
            <a:ext cx="360000" cy="360000"/>
          </a:xfrm>
          <a:prstGeom prst="rect">
            <a:avLst/>
          </a:prstGeom>
        </p:spPr>
      </p:pic>
      <p:sp>
        <p:nvSpPr>
          <p:cNvPr id="173" name="文本框 172">
            <a:extLst>
              <a:ext uri="{FF2B5EF4-FFF2-40B4-BE49-F238E27FC236}">
                <a16:creationId xmlns:a16="http://schemas.microsoft.com/office/drawing/2014/main" id="{AFE5C2D4-FBA0-B3EF-5BBB-61187D7FD622}"/>
              </a:ext>
            </a:extLst>
          </p:cNvPr>
          <p:cNvSpPr txBox="1"/>
          <p:nvPr/>
        </p:nvSpPr>
        <p:spPr>
          <a:xfrm>
            <a:off x="8572142" y="4139561"/>
            <a:ext cx="1186543" cy="338554"/>
          </a:xfrm>
          <a:prstGeom prst="rect">
            <a:avLst/>
          </a:prstGeom>
          <a:noFill/>
        </p:spPr>
        <p:txBody>
          <a:bodyPr wrap="none" rtlCol="0">
            <a:spAutoFit/>
          </a:bodyPr>
          <a:lstStyle/>
          <a:p>
            <a:pPr algn="l"/>
            <a:r>
              <a:rPr lang="en-US" altLang="zh-CN" sz="1600" dirty="0">
                <a:latin typeface="Segoe UI Black" panose="020B0A02040204020203" pitchFamily="34" charset="0"/>
                <a:ea typeface="Segoe UI Black" panose="020B0A02040204020203" pitchFamily="34" charset="0"/>
              </a:rPr>
              <a:t>Web R&amp;D</a:t>
            </a:r>
            <a:endParaRPr lang="zh-CN" altLang="en-US" sz="1600" dirty="0">
              <a:latin typeface="Segoe UI Black" panose="020B0A02040204020203" pitchFamily="34" charset="0"/>
            </a:endParaRPr>
          </a:p>
        </p:txBody>
      </p:sp>
    </p:spTree>
    <p:extLst>
      <p:ext uri="{BB962C8B-B14F-4D97-AF65-F5344CB8AC3E}">
        <p14:creationId xmlns:p14="http://schemas.microsoft.com/office/powerpoint/2010/main" val="1611430290"/>
      </p:ext>
    </p:extLst>
  </p:cSld>
  <p:clrMapOvr>
    <a:masterClrMapping/>
  </p:clrMapOvr>
</p:sld>
</file>

<file path=ppt/slides/slide3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箭头: 五边形 42">
            <a:extLst>
              <a:ext uri="{FF2B5EF4-FFF2-40B4-BE49-F238E27FC236}">
                <a16:creationId xmlns:a16="http://schemas.microsoft.com/office/drawing/2014/main" id="{473778EB-32D1-C4CD-CFFF-EB354C556646}"/>
              </a:ext>
            </a:extLst>
          </p:cNvPr>
          <p:cNvSpPr/>
          <p:nvPr/>
        </p:nvSpPr>
        <p:spPr>
          <a:xfrm flipH="1">
            <a:off x="6906285" y="1355163"/>
            <a:ext cx="1440000" cy="504000"/>
          </a:xfrm>
          <a:prstGeom prst="homePlate">
            <a:avLst/>
          </a:prstGeom>
          <a:solidFill>
            <a:srgbClr val="0D8BB3">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rPr>
              <a:t>01</a:t>
            </a:r>
            <a:endParaRPr lang="zh-CN" altLang="en-US" dirty="0">
              <a:solidFill>
                <a:schemeClr val="bg1"/>
              </a:solidFill>
            </a:endParaRPr>
          </a:p>
        </p:txBody>
      </p:sp>
      <p:sp>
        <p:nvSpPr>
          <p:cNvPr id="44" name="箭头: 五边形 43">
            <a:extLst>
              <a:ext uri="{FF2B5EF4-FFF2-40B4-BE49-F238E27FC236}">
                <a16:creationId xmlns:a16="http://schemas.microsoft.com/office/drawing/2014/main" id="{CBE73A26-A895-7DB0-8D4E-4890B17B5D5E}"/>
              </a:ext>
            </a:extLst>
          </p:cNvPr>
          <p:cNvSpPr/>
          <p:nvPr/>
        </p:nvSpPr>
        <p:spPr>
          <a:xfrm flipH="1">
            <a:off x="6906285" y="2597594"/>
            <a:ext cx="1440000" cy="504000"/>
          </a:xfrm>
          <a:prstGeom prst="homePlate">
            <a:avLst/>
          </a:prstGeom>
          <a:solidFill>
            <a:srgbClr val="BF0149">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rPr>
              <a:t>01+</a:t>
            </a:r>
            <a:endParaRPr lang="zh-CN" altLang="en-US" dirty="0">
              <a:solidFill>
                <a:schemeClr val="bg1"/>
              </a:solidFill>
            </a:endParaRPr>
          </a:p>
        </p:txBody>
      </p:sp>
      <p:sp>
        <p:nvSpPr>
          <p:cNvPr id="45" name="箭头: 五边形 44">
            <a:extLst>
              <a:ext uri="{FF2B5EF4-FFF2-40B4-BE49-F238E27FC236}">
                <a16:creationId xmlns:a16="http://schemas.microsoft.com/office/drawing/2014/main" id="{DDE82D10-BB7B-0AC5-84EC-B902E1D1F388}"/>
              </a:ext>
            </a:extLst>
          </p:cNvPr>
          <p:cNvSpPr/>
          <p:nvPr/>
        </p:nvSpPr>
        <p:spPr>
          <a:xfrm flipH="1">
            <a:off x="6906285" y="3840025"/>
            <a:ext cx="1440000" cy="504000"/>
          </a:xfrm>
          <a:prstGeom prst="homePlate">
            <a:avLst/>
          </a:prstGeom>
          <a:solidFill>
            <a:srgbClr val="89AE12">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rPr>
              <a:t>02</a:t>
            </a:r>
            <a:endParaRPr lang="zh-CN" altLang="en-US" dirty="0">
              <a:solidFill>
                <a:schemeClr val="bg1"/>
              </a:solidFill>
            </a:endParaRPr>
          </a:p>
        </p:txBody>
      </p:sp>
      <p:sp>
        <p:nvSpPr>
          <p:cNvPr id="46" name="箭头: 五边形 45">
            <a:extLst>
              <a:ext uri="{FF2B5EF4-FFF2-40B4-BE49-F238E27FC236}">
                <a16:creationId xmlns:a16="http://schemas.microsoft.com/office/drawing/2014/main" id="{519FFA28-F989-C611-F8D1-22ABE75F02B5}"/>
              </a:ext>
            </a:extLst>
          </p:cNvPr>
          <p:cNvSpPr/>
          <p:nvPr/>
        </p:nvSpPr>
        <p:spPr>
          <a:xfrm flipH="1">
            <a:off x="6906285" y="5082456"/>
            <a:ext cx="1440000" cy="504000"/>
          </a:xfrm>
          <a:prstGeom prst="homePlate">
            <a:avLst/>
          </a:prstGeom>
          <a:solidFill>
            <a:srgbClr val="EFAA27">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rPr>
              <a:t>03</a:t>
            </a:r>
            <a:endParaRPr lang="zh-CN" altLang="en-US" dirty="0">
              <a:solidFill>
                <a:schemeClr val="bg1"/>
              </a:solidFill>
            </a:endParaRPr>
          </a:p>
        </p:txBody>
      </p:sp>
      <p:sp>
        <p:nvSpPr>
          <p:cNvPr id="5" name="标题 4">
            <a:extLst>
              <a:ext uri="{FF2B5EF4-FFF2-40B4-BE49-F238E27FC236}">
                <a16:creationId xmlns:a16="http://schemas.microsoft.com/office/drawing/2014/main" id="{830DF18C-FE87-807E-9569-E871FEA9F459}"/>
              </a:ext>
            </a:extLst>
          </p:cNvPr>
          <p:cNvSpPr>
            <a:spLocks noGrp="1"/>
          </p:cNvSpPr>
          <p:nvPr>
            <p:ph type="title"/>
          </p:nvPr>
        </p:nvSpPr>
        <p:spPr>
          <a:xfrm>
            <a:off x="696000" y="360000"/>
            <a:ext cx="5400000" cy="429413"/>
          </a:xfrm>
        </p:spPr>
        <p:txBody>
          <a:bodyPr/>
          <a:lstStyle/>
          <a:p>
            <a:r>
              <a:rPr lang="en-US" altLang="zh-CN" dirty="0"/>
              <a:t>10.2 </a:t>
            </a:r>
            <a:r>
              <a:rPr lang="zh-CN" altLang="en-US" dirty="0"/>
              <a:t>人员职责计划</a:t>
            </a:r>
          </a:p>
        </p:txBody>
      </p:sp>
      <p:sp>
        <p:nvSpPr>
          <p:cNvPr id="7" name="矩形 6">
            <a:extLst>
              <a:ext uri="{FF2B5EF4-FFF2-40B4-BE49-F238E27FC236}">
                <a16:creationId xmlns:a16="http://schemas.microsoft.com/office/drawing/2014/main" id="{DE428F17-456B-5ED8-72CC-5340E774A89A}"/>
              </a:ext>
            </a:extLst>
          </p:cNvPr>
          <p:cNvSpPr/>
          <p:nvPr/>
        </p:nvSpPr>
        <p:spPr>
          <a:xfrm>
            <a:off x="8462681" y="0"/>
            <a:ext cx="72000" cy="685800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18" name="文本框 17">
            <a:extLst>
              <a:ext uri="{FF2B5EF4-FFF2-40B4-BE49-F238E27FC236}">
                <a16:creationId xmlns:a16="http://schemas.microsoft.com/office/drawing/2014/main" id="{81483256-50A1-57C0-262B-530E7C0E5281}"/>
              </a:ext>
            </a:extLst>
          </p:cNvPr>
          <p:cNvSpPr txBox="1"/>
          <p:nvPr/>
        </p:nvSpPr>
        <p:spPr>
          <a:xfrm>
            <a:off x="3179030" y="4089089"/>
            <a:ext cx="3801042" cy="338554"/>
          </a:xfrm>
          <a:prstGeom prst="rect">
            <a:avLst/>
          </a:prstGeom>
          <a:noFill/>
        </p:spPr>
        <p:txBody>
          <a:bodyPr wrap="none" rtlCol="0">
            <a:spAutoFit/>
          </a:bodyPr>
          <a:lstStyle/>
          <a:p>
            <a:pPr algn="r"/>
            <a:r>
              <a:rPr lang="en-US" altLang="zh-CN" sz="1600" dirty="0"/>
              <a:t>Organization Breakdown Structure</a:t>
            </a:r>
            <a:endParaRPr lang="zh-CN" altLang="en-US" sz="1600" dirty="0"/>
          </a:p>
        </p:txBody>
      </p:sp>
      <p:sp>
        <p:nvSpPr>
          <p:cNvPr id="19" name="文本框 18">
            <a:extLst>
              <a:ext uri="{FF2B5EF4-FFF2-40B4-BE49-F238E27FC236}">
                <a16:creationId xmlns:a16="http://schemas.microsoft.com/office/drawing/2014/main" id="{F3C4273D-0C56-1D4D-7989-F9644052DFE1}"/>
              </a:ext>
            </a:extLst>
          </p:cNvPr>
          <p:cNvSpPr txBox="1"/>
          <p:nvPr/>
        </p:nvSpPr>
        <p:spPr>
          <a:xfrm>
            <a:off x="5564300" y="3756406"/>
            <a:ext cx="1415772" cy="338554"/>
          </a:xfrm>
          <a:prstGeom prst="rect">
            <a:avLst/>
          </a:prstGeom>
          <a:noFill/>
        </p:spPr>
        <p:txBody>
          <a:bodyPr wrap="none" rtlCol="0">
            <a:spAutoFit/>
          </a:bodyPr>
          <a:lstStyle/>
          <a:p>
            <a:pPr algn="r"/>
            <a:r>
              <a:rPr lang="zh-CN" altLang="en-US" sz="1600" dirty="0">
                <a:latin typeface="+mj-ea"/>
                <a:ea typeface="+mj-ea"/>
              </a:rPr>
              <a:t>组织分解结构</a:t>
            </a:r>
          </a:p>
        </p:txBody>
      </p:sp>
      <p:sp>
        <p:nvSpPr>
          <p:cNvPr id="20" name="箭头: 五边形 19">
            <a:extLst>
              <a:ext uri="{FF2B5EF4-FFF2-40B4-BE49-F238E27FC236}">
                <a16:creationId xmlns:a16="http://schemas.microsoft.com/office/drawing/2014/main" id="{E08B93B9-5890-8583-8DD5-8DFFE722F80C}"/>
              </a:ext>
            </a:extLst>
          </p:cNvPr>
          <p:cNvSpPr/>
          <p:nvPr/>
        </p:nvSpPr>
        <p:spPr>
          <a:xfrm flipH="1">
            <a:off x="7022681" y="3840025"/>
            <a:ext cx="1440000" cy="504000"/>
          </a:xfrm>
          <a:prstGeom prst="homePlate">
            <a:avLst/>
          </a:prstGeom>
          <a:solidFill>
            <a:srgbClr val="89AE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rPr>
              <a:t>02</a:t>
            </a:r>
            <a:endParaRPr lang="zh-CN" altLang="en-US" dirty="0">
              <a:solidFill>
                <a:schemeClr val="bg1"/>
              </a:solidFill>
            </a:endParaRPr>
          </a:p>
        </p:txBody>
      </p:sp>
      <p:sp>
        <p:nvSpPr>
          <p:cNvPr id="22" name="文本框 21">
            <a:extLst>
              <a:ext uri="{FF2B5EF4-FFF2-40B4-BE49-F238E27FC236}">
                <a16:creationId xmlns:a16="http://schemas.microsoft.com/office/drawing/2014/main" id="{4D9F0D12-B701-BAEC-9D13-1DF88EAE93DD}"/>
              </a:ext>
            </a:extLst>
          </p:cNvPr>
          <p:cNvSpPr txBox="1"/>
          <p:nvPr/>
        </p:nvSpPr>
        <p:spPr>
          <a:xfrm>
            <a:off x="6195882" y="5331520"/>
            <a:ext cx="784190" cy="338554"/>
          </a:xfrm>
          <a:prstGeom prst="rect">
            <a:avLst/>
          </a:prstGeom>
          <a:noFill/>
        </p:spPr>
        <p:txBody>
          <a:bodyPr wrap="none" rtlCol="0">
            <a:spAutoFit/>
          </a:bodyPr>
          <a:lstStyle/>
          <a:p>
            <a:pPr algn="r"/>
            <a:r>
              <a:rPr lang="en-US" altLang="zh-CN" sz="1600" dirty="0"/>
              <a:t>Other</a:t>
            </a:r>
            <a:endParaRPr lang="zh-CN" altLang="en-US" sz="1600" dirty="0"/>
          </a:p>
        </p:txBody>
      </p:sp>
      <p:sp>
        <p:nvSpPr>
          <p:cNvPr id="23" name="文本框 22">
            <a:extLst>
              <a:ext uri="{FF2B5EF4-FFF2-40B4-BE49-F238E27FC236}">
                <a16:creationId xmlns:a16="http://schemas.microsoft.com/office/drawing/2014/main" id="{4A9C42E4-6823-A07A-C4E3-4CCCEE0DAAE9}"/>
              </a:ext>
            </a:extLst>
          </p:cNvPr>
          <p:cNvSpPr txBox="1"/>
          <p:nvPr/>
        </p:nvSpPr>
        <p:spPr>
          <a:xfrm>
            <a:off x="6385037" y="4998837"/>
            <a:ext cx="595035" cy="338554"/>
          </a:xfrm>
          <a:prstGeom prst="rect">
            <a:avLst/>
          </a:prstGeom>
          <a:noFill/>
        </p:spPr>
        <p:txBody>
          <a:bodyPr wrap="none" rtlCol="0">
            <a:spAutoFit/>
          </a:bodyPr>
          <a:lstStyle/>
          <a:p>
            <a:pPr algn="r"/>
            <a:r>
              <a:rPr lang="zh-CN" altLang="en-US" sz="1600" dirty="0">
                <a:latin typeface="+mj-ea"/>
                <a:ea typeface="+mj-ea"/>
              </a:rPr>
              <a:t>其它</a:t>
            </a:r>
          </a:p>
        </p:txBody>
      </p:sp>
      <p:sp>
        <p:nvSpPr>
          <p:cNvPr id="24" name="箭头: 五边形 23">
            <a:extLst>
              <a:ext uri="{FF2B5EF4-FFF2-40B4-BE49-F238E27FC236}">
                <a16:creationId xmlns:a16="http://schemas.microsoft.com/office/drawing/2014/main" id="{227591E8-4DCA-4FBD-5DB7-8A8EB590C1E0}"/>
              </a:ext>
            </a:extLst>
          </p:cNvPr>
          <p:cNvSpPr/>
          <p:nvPr/>
        </p:nvSpPr>
        <p:spPr>
          <a:xfrm flipH="1">
            <a:off x="7022681" y="5082456"/>
            <a:ext cx="1440000" cy="504000"/>
          </a:xfrm>
          <a:prstGeom prst="homePlate">
            <a:avLst/>
          </a:prstGeom>
          <a:solidFill>
            <a:srgbClr val="EFAA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rPr>
              <a:t>03</a:t>
            </a:r>
            <a:endParaRPr lang="zh-CN" altLang="en-US" dirty="0">
              <a:solidFill>
                <a:schemeClr val="bg1"/>
              </a:solidFill>
            </a:endParaRPr>
          </a:p>
        </p:txBody>
      </p:sp>
      <p:sp>
        <p:nvSpPr>
          <p:cNvPr id="29" name="文本框 28">
            <a:extLst>
              <a:ext uri="{FF2B5EF4-FFF2-40B4-BE49-F238E27FC236}">
                <a16:creationId xmlns:a16="http://schemas.microsoft.com/office/drawing/2014/main" id="{B372608A-479A-7506-0D4E-F9EBADAA931F}"/>
              </a:ext>
            </a:extLst>
          </p:cNvPr>
          <p:cNvSpPr txBox="1"/>
          <p:nvPr/>
        </p:nvSpPr>
        <p:spPr>
          <a:xfrm>
            <a:off x="8534681" y="5331520"/>
            <a:ext cx="1415772" cy="338554"/>
          </a:xfrm>
          <a:prstGeom prst="rect">
            <a:avLst/>
          </a:prstGeom>
          <a:noFill/>
        </p:spPr>
        <p:txBody>
          <a:bodyPr wrap="none" rtlCol="0">
            <a:spAutoFit/>
          </a:bodyPr>
          <a:lstStyle/>
          <a:p>
            <a:r>
              <a:rPr lang="zh-CN" altLang="en-US" sz="1600" dirty="0"/>
              <a:t>人员绩效管理</a:t>
            </a:r>
          </a:p>
        </p:txBody>
      </p:sp>
      <p:sp>
        <p:nvSpPr>
          <p:cNvPr id="30" name="文本框 29">
            <a:extLst>
              <a:ext uri="{FF2B5EF4-FFF2-40B4-BE49-F238E27FC236}">
                <a16:creationId xmlns:a16="http://schemas.microsoft.com/office/drawing/2014/main" id="{722EF185-AB48-608F-F700-C214316A9D60}"/>
              </a:ext>
            </a:extLst>
          </p:cNvPr>
          <p:cNvSpPr txBox="1"/>
          <p:nvPr/>
        </p:nvSpPr>
        <p:spPr>
          <a:xfrm>
            <a:off x="8534681" y="4998837"/>
            <a:ext cx="595035" cy="338554"/>
          </a:xfrm>
          <a:prstGeom prst="rect">
            <a:avLst/>
          </a:prstGeom>
          <a:noFill/>
        </p:spPr>
        <p:txBody>
          <a:bodyPr wrap="none" rtlCol="0">
            <a:spAutoFit/>
          </a:bodyPr>
          <a:lstStyle/>
          <a:p>
            <a:r>
              <a:rPr lang="zh-CN" altLang="en-US" sz="1600" dirty="0"/>
              <a:t>文本</a:t>
            </a:r>
          </a:p>
        </p:txBody>
      </p:sp>
      <p:sp>
        <p:nvSpPr>
          <p:cNvPr id="31" name="文本框 30">
            <a:extLst>
              <a:ext uri="{FF2B5EF4-FFF2-40B4-BE49-F238E27FC236}">
                <a16:creationId xmlns:a16="http://schemas.microsoft.com/office/drawing/2014/main" id="{74F32D65-566D-0F99-E784-8FA7AEA2CA84}"/>
              </a:ext>
            </a:extLst>
          </p:cNvPr>
          <p:cNvSpPr txBox="1"/>
          <p:nvPr/>
        </p:nvSpPr>
        <p:spPr>
          <a:xfrm>
            <a:off x="8534681" y="3922747"/>
            <a:ext cx="638316" cy="338554"/>
          </a:xfrm>
          <a:prstGeom prst="rect">
            <a:avLst/>
          </a:prstGeom>
          <a:noFill/>
        </p:spPr>
        <p:txBody>
          <a:bodyPr wrap="none" rtlCol="0">
            <a:spAutoFit/>
          </a:bodyPr>
          <a:lstStyle/>
          <a:p>
            <a:r>
              <a:rPr lang="en-US" altLang="zh-CN" sz="1600" dirty="0"/>
              <a:t>OBS</a:t>
            </a:r>
            <a:endParaRPr lang="zh-CN" altLang="en-US" sz="1600" dirty="0"/>
          </a:p>
        </p:txBody>
      </p:sp>
      <p:sp>
        <p:nvSpPr>
          <p:cNvPr id="34" name="文本框 33">
            <a:extLst>
              <a:ext uri="{FF2B5EF4-FFF2-40B4-BE49-F238E27FC236}">
                <a16:creationId xmlns:a16="http://schemas.microsoft.com/office/drawing/2014/main" id="{C967F190-AE00-D814-B4BE-61EE65530119}"/>
              </a:ext>
            </a:extLst>
          </p:cNvPr>
          <p:cNvSpPr txBox="1"/>
          <p:nvPr/>
        </p:nvSpPr>
        <p:spPr>
          <a:xfrm>
            <a:off x="1925483" y="2846658"/>
            <a:ext cx="5054589" cy="338554"/>
          </a:xfrm>
          <a:prstGeom prst="rect">
            <a:avLst/>
          </a:prstGeom>
          <a:noFill/>
        </p:spPr>
        <p:txBody>
          <a:bodyPr wrap="none" rtlCol="0">
            <a:spAutoFit/>
          </a:bodyPr>
          <a:lstStyle/>
          <a:p>
            <a:pPr algn="r"/>
            <a:r>
              <a:rPr lang="en-US" altLang="zh-CN" sz="1600" dirty="0"/>
              <a:t>Responsible, Accountable, Consulted, Informed</a:t>
            </a:r>
          </a:p>
        </p:txBody>
      </p:sp>
      <p:sp>
        <p:nvSpPr>
          <p:cNvPr id="35" name="文本框 34">
            <a:extLst>
              <a:ext uri="{FF2B5EF4-FFF2-40B4-BE49-F238E27FC236}">
                <a16:creationId xmlns:a16="http://schemas.microsoft.com/office/drawing/2014/main" id="{855FF4D9-797F-84B7-91E8-EE21580D3F17}"/>
              </a:ext>
            </a:extLst>
          </p:cNvPr>
          <p:cNvSpPr txBox="1"/>
          <p:nvPr/>
        </p:nvSpPr>
        <p:spPr>
          <a:xfrm>
            <a:off x="4600038" y="2513975"/>
            <a:ext cx="2350643" cy="338554"/>
          </a:xfrm>
          <a:prstGeom prst="rect">
            <a:avLst/>
          </a:prstGeom>
          <a:noFill/>
        </p:spPr>
        <p:txBody>
          <a:bodyPr wrap="none" rtlCol="0">
            <a:spAutoFit/>
          </a:bodyPr>
          <a:lstStyle/>
          <a:p>
            <a:pPr algn="r"/>
            <a:r>
              <a:rPr lang="zh-CN" altLang="en-US" sz="1600" dirty="0">
                <a:latin typeface="+mj-ea"/>
                <a:ea typeface="+mj-ea"/>
              </a:rPr>
              <a:t>责任分配矩阵应用模型 </a:t>
            </a:r>
          </a:p>
        </p:txBody>
      </p:sp>
      <p:sp>
        <p:nvSpPr>
          <p:cNvPr id="36" name="箭头: 五边形 35">
            <a:extLst>
              <a:ext uri="{FF2B5EF4-FFF2-40B4-BE49-F238E27FC236}">
                <a16:creationId xmlns:a16="http://schemas.microsoft.com/office/drawing/2014/main" id="{56493238-D0B5-A36A-2B75-17E212E2DA18}"/>
              </a:ext>
            </a:extLst>
          </p:cNvPr>
          <p:cNvSpPr/>
          <p:nvPr/>
        </p:nvSpPr>
        <p:spPr>
          <a:xfrm flipH="1">
            <a:off x="7022681" y="2597594"/>
            <a:ext cx="1440000" cy="504000"/>
          </a:xfrm>
          <a:prstGeom prst="homePlate">
            <a:avLst/>
          </a:prstGeom>
          <a:solidFill>
            <a:srgbClr val="BF01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rPr>
              <a:t>01+</a:t>
            </a:r>
            <a:endParaRPr lang="zh-CN" altLang="en-US" dirty="0">
              <a:solidFill>
                <a:schemeClr val="bg1"/>
              </a:solidFill>
            </a:endParaRPr>
          </a:p>
        </p:txBody>
      </p:sp>
      <p:sp>
        <p:nvSpPr>
          <p:cNvPr id="37" name="文本框 36">
            <a:extLst>
              <a:ext uri="{FF2B5EF4-FFF2-40B4-BE49-F238E27FC236}">
                <a16:creationId xmlns:a16="http://schemas.microsoft.com/office/drawing/2014/main" id="{24BDACBB-3AAE-2B40-BA30-D49E0BBAE39F}"/>
              </a:ext>
            </a:extLst>
          </p:cNvPr>
          <p:cNvSpPr txBox="1"/>
          <p:nvPr/>
        </p:nvSpPr>
        <p:spPr>
          <a:xfrm>
            <a:off x="8534681" y="2678849"/>
            <a:ext cx="691215" cy="338554"/>
          </a:xfrm>
          <a:prstGeom prst="rect">
            <a:avLst/>
          </a:prstGeom>
          <a:noFill/>
        </p:spPr>
        <p:txBody>
          <a:bodyPr wrap="none" rtlCol="0">
            <a:spAutoFit/>
          </a:bodyPr>
          <a:lstStyle/>
          <a:p>
            <a:r>
              <a:rPr lang="en-US" altLang="zh-CN" sz="1600" dirty="0"/>
              <a:t>RACI</a:t>
            </a:r>
            <a:endParaRPr lang="zh-CN" altLang="en-US" sz="1600" dirty="0"/>
          </a:p>
        </p:txBody>
      </p:sp>
      <p:sp>
        <p:nvSpPr>
          <p:cNvPr id="39" name="文本框 38">
            <a:extLst>
              <a:ext uri="{FF2B5EF4-FFF2-40B4-BE49-F238E27FC236}">
                <a16:creationId xmlns:a16="http://schemas.microsoft.com/office/drawing/2014/main" id="{F7CA4115-8EB5-F654-1AD0-CAE2951AB111}"/>
              </a:ext>
            </a:extLst>
          </p:cNvPr>
          <p:cNvSpPr txBox="1"/>
          <p:nvPr/>
        </p:nvSpPr>
        <p:spPr>
          <a:xfrm>
            <a:off x="3358568" y="1604227"/>
            <a:ext cx="3621504" cy="338554"/>
          </a:xfrm>
          <a:prstGeom prst="rect">
            <a:avLst/>
          </a:prstGeom>
          <a:noFill/>
        </p:spPr>
        <p:txBody>
          <a:bodyPr wrap="none" rtlCol="0">
            <a:spAutoFit/>
          </a:bodyPr>
          <a:lstStyle/>
          <a:p>
            <a:pPr algn="r"/>
            <a:r>
              <a:rPr lang="en-US" altLang="zh-CN" sz="1600" dirty="0"/>
              <a:t>Responsibility Assignment Matrix</a:t>
            </a:r>
            <a:endParaRPr lang="zh-CN" altLang="en-US" sz="1600" dirty="0"/>
          </a:p>
        </p:txBody>
      </p:sp>
      <p:sp>
        <p:nvSpPr>
          <p:cNvPr id="40" name="文本框 39">
            <a:extLst>
              <a:ext uri="{FF2B5EF4-FFF2-40B4-BE49-F238E27FC236}">
                <a16:creationId xmlns:a16="http://schemas.microsoft.com/office/drawing/2014/main" id="{62A25A93-CD21-2BD0-0DCB-5E353E2AD20D}"/>
              </a:ext>
            </a:extLst>
          </p:cNvPr>
          <p:cNvSpPr txBox="1"/>
          <p:nvPr/>
        </p:nvSpPr>
        <p:spPr>
          <a:xfrm>
            <a:off x="5480407" y="1271544"/>
            <a:ext cx="1470274" cy="338554"/>
          </a:xfrm>
          <a:prstGeom prst="rect">
            <a:avLst/>
          </a:prstGeom>
          <a:noFill/>
        </p:spPr>
        <p:txBody>
          <a:bodyPr wrap="none" rtlCol="0">
            <a:spAutoFit/>
          </a:bodyPr>
          <a:lstStyle/>
          <a:p>
            <a:pPr algn="r"/>
            <a:r>
              <a:rPr lang="zh-CN" altLang="en-US" sz="1600" dirty="0">
                <a:latin typeface="+mj-ea"/>
                <a:ea typeface="+mj-ea"/>
              </a:rPr>
              <a:t>责任分配矩阵 </a:t>
            </a:r>
          </a:p>
        </p:txBody>
      </p:sp>
      <p:sp>
        <p:nvSpPr>
          <p:cNvPr id="41" name="箭头: 五边形 40">
            <a:extLst>
              <a:ext uri="{FF2B5EF4-FFF2-40B4-BE49-F238E27FC236}">
                <a16:creationId xmlns:a16="http://schemas.microsoft.com/office/drawing/2014/main" id="{135D037C-49C3-FD50-3D21-62348B04256F}"/>
              </a:ext>
            </a:extLst>
          </p:cNvPr>
          <p:cNvSpPr/>
          <p:nvPr/>
        </p:nvSpPr>
        <p:spPr>
          <a:xfrm flipH="1">
            <a:off x="7022681" y="1355163"/>
            <a:ext cx="1440000" cy="504000"/>
          </a:xfrm>
          <a:prstGeom prst="homePlate">
            <a:avLst/>
          </a:prstGeom>
          <a:solidFill>
            <a:srgbClr val="0D8B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rPr>
              <a:t>01</a:t>
            </a:r>
            <a:endParaRPr lang="zh-CN" altLang="en-US" dirty="0">
              <a:solidFill>
                <a:schemeClr val="bg1"/>
              </a:solidFill>
            </a:endParaRPr>
          </a:p>
        </p:txBody>
      </p:sp>
      <p:sp>
        <p:nvSpPr>
          <p:cNvPr id="42" name="文本框 41">
            <a:extLst>
              <a:ext uri="{FF2B5EF4-FFF2-40B4-BE49-F238E27FC236}">
                <a16:creationId xmlns:a16="http://schemas.microsoft.com/office/drawing/2014/main" id="{409531F7-5F0E-A295-DE0E-F550C7C2BE97}"/>
              </a:ext>
            </a:extLst>
          </p:cNvPr>
          <p:cNvSpPr txBox="1"/>
          <p:nvPr/>
        </p:nvSpPr>
        <p:spPr>
          <a:xfrm>
            <a:off x="8534681" y="1434950"/>
            <a:ext cx="676788" cy="338554"/>
          </a:xfrm>
          <a:prstGeom prst="rect">
            <a:avLst/>
          </a:prstGeom>
          <a:noFill/>
        </p:spPr>
        <p:txBody>
          <a:bodyPr wrap="none" rtlCol="0">
            <a:spAutoFit/>
          </a:bodyPr>
          <a:lstStyle/>
          <a:p>
            <a:r>
              <a:rPr lang="en-US" altLang="zh-CN" sz="1600" dirty="0"/>
              <a:t>RAM</a:t>
            </a:r>
            <a:endParaRPr lang="zh-CN" altLang="en-US" sz="1600" dirty="0"/>
          </a:p>
        </p:txBody>
      </p:sp>
    </p:spTree>
    <p:extLst>
      <p:ext uri="{BB962C8B-B14F-4D97-AF65-F5344CB8AC3E}">
        <p14:creationId xmlns:p14="http://schemas.microsoft.com/office/powerpoint/2010/main" val="1623574453"/>
      </p:ext>
    </p:extLst>
  </p:cSld>
  <p:clrMapOvr>
    <a:masterClrMapping/>
  </p:clrMapOvr>
</p:sld>
</file>

<file path=ppt/slides/slide3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3A66D8-DFC3-8B22-E43E-6F49408D04EC}"/>
              </a:ext>
            </a:extLst>
          </p:cNvPr>
          <p:cNvSpPr>
            <a:spLocks noGrp="1"/>
          </p:cNvSpPr>
          <p:nvPr>
            <p:ph type="title"/>
          </p:nvPr>
        </p:nvSpPr>
        <p:spPr>
          <a:xfrm>
            <a:off x="792000" y="360000"/>
            <a:ext cx="6375921" cy="429413"/>
          </a:xfrm>
        </p:spPr>
        <p:txBody>
          <a:bodyPr>
            <a:normAutofit/>
          </a:bodyPr>
          <a:lstStyle/>
          <a:p>
            <a:r>
              <a:rPr lang="en-US" altLang="zh-CN" dirty="0"/>
              <a:t>10.2.1 RAM</a:t>
            </a:r>
            <a:endParaRPr lang="zh-CN" altLang="en-US" dirty="0"/>
          </a:p>
        </p:txBody>
      </p:sp>
      <p:sp>
        <p:nvSpPr>
          <p:cNvPr id="18" name="内容占位符 17">
            <a:extLst>
              <a:ext uri="{FF2B5EF4-FFF2-40B4-BE49-F238E27FC236}">
                <a16:creationId xmlns:a16="http://schemas.microsoft.com/office/drawing/2014/main" id="{07EBCE1F-91D7-8FE7-AE56-3B01B84EB826}"/>
              </a:ext>
            </a:extLst>
          </p:cNvPr>
          <p:cNvSpPr>
            <a:spLocks noGrp="1"/>
          </p:cNvSpPr>
          <p:nvPr>
            <p:ph idx="1"/>
          </p:nvPr>
        </p:nvSpPr>
        <p:spPr>
          <a:xfrm>
            <a:off x="696000" y="864000"/>
            <a:ext cx="10800000" cy="5400000"/>
          </a:xfrm>
        </p:spPr>
        <p:txBody>
          <a:bodyPr/>
          <a:lstStyle/>
          <a:p>
            <a:r>
              <a:rPr lang="zh-CN" altLang="en-US" dirty="0"/>
              <a:t>分解任务：基于</a:t>
            </a:r>
            <a:r>
              <a:rPr lang="en-US" altLang="zh-CN" dirty="0"/>
              <a:t>WBS</a:t>
            </a:r>
            <a:r>
              <a:rPr lang="zh-CN" altLang="en-US" dirty="0"/>
              <a:t>（工作分解结构）列出所有任务</a:t>
            </a:r>
          </a:p>
          <a:p>
            <a:r>
              <a:rPr lang="zh-CN" altLang="en-US" dirty="0"/>
              <a:t>识别角色：明确项目涉及的成员或部门</a:t>
            </a:r>
          </a:p>
          <a:p>
            <a:r>
              <a:rPr lang="zh-CN" altLang="en-US" dirty="0"/>
              <a:t>分配责任：为每个任务标注</a:t>
            </a:r>
            <a:r>
              <a:rPr lang="en-US" altLang="zh-CN" dirty="0"/>
              <a:t>R/A/C/I</a:t>
            </a:r>
            <a:r>
              <a:rPr lang="zh-CN" altLang="en-US" dirty="0"/>
              <a:t>（或其他自定义角色）</a:t>
            </a:r>
          </a:p>
          <a:p>
            <a:r>
              <a:rPr lang="zh-CN" altLang="en-US" dirty="0"/>
              <a:t>验证与共识：与团队确认分配合理性，避免遗漏或重叠</a:t>
            </a:r>
          </a:p>
          <a:p>
            <a:r>
              <a:rPr lang="zh-CN" altLang="en-US" dirty="0"/>
              <a:t>动态维护：随项目进展调整职责分配</a:t>
            </a:r>
          </a:p>
          <a:p>
            <a:endParaRPr lang="zh-CN" altLang="en-US" dirty="0"/>
          </a:p>
        </p:txBody>
      </p:sp>
      <p:sp>
        <p:nvSpPr>
          <p:cNvPr id="5" name="文本占位符 4">
            <a:extLst>
              <a:ext uri="{FF2B5EF4-FFF2-40B4-BE49-F238E27FC236}">
                <a16:creationId xmlns:a16="http://schemas.microsoft.com/office/drawing/2014/main" id="{511BC18F-C52C-241E-4541-338A03F427C2}"/>
              </a:ext>
            </a:extLst>
          </p:cNvPr>
          <p:cNvSpPr>
            <a:spLocks noGrp="1"/>
          </p:cNvSpPr>
          <p:nvPr>
            <p:ph type="body" sz="quarter" idx="10"/>
          </p:nvPr>
        </p:nvSpPr>
        <p:spPr/>
        <p:txBody>
          <a:bodyPr/>
          <a:lstStyle/>
          <a:p>
            <a:endParaRPr lang="zh-CN" altLang="en-US"/>
          </a:p>
        </p:txBody>
      </p:sp>
      <p:graphicFrame>
        <p:nvGraphicFramePr>
          <p:cNvPr id="8" name="内容占位符 4">
            <a:extLst>
              <a:ext uri="{FF2B5EF4-FFF2-40B4-BE49-F238E27FC236}">
                <a16:creationId xmlns:a16="http://schemas.microsoft.com/office/drawing/2014/main" id="{611D0D26-6BE3-8125-4D93-A2C3B4AAE019}"/>
              </a:ext>
            </a:extLst>
          </p:cNvPr>
          <p:cNvGraphicFramePr>
            <a:graphicFrameLocks/>
          </p:cNvGraphicFramePr>
          <p:nvPr>
            <p:extLst>
              <p:ext uri="{D42A27DB-BD31-4B8C-83A1-F6EECF244321}">
                <p14:modId xmlns:p14="http://schemas.microsoft.com/office/powerpoint/2010/main" val="2671295039"/>
              </p:ext>
            </p:extLst>
          </p:nvPr>
        </p:nvGraphicFramePr>
        <p:xfrm>
          <a:off x="2221285" y="3822698"/>
          <a:ext cx="7749430" cy="1854200"/>
        </p:xfrm>
        <a:graphic>
          <a:graphicData uri="http://schemas.openxmlformats.org/drawingml/2006/table">
            <a:tbl>
              <a:tblPr firstRow="1" bandRow="1">
                <a:tableStyleId>{21E4AEA4-8DFA-4A89-87EB-49C32662AFE0}</a:tableStyleId>
              </a:tblPr>
              <a:tblGrid>
                <a:gridCol w="1549886">
                  <a:extLst>
                    <a:ext uri="{9D8B030D-6E8A-4147-A177-3AD203B41FA5}">
                      <a16:colId xmlns:a16="http://schemas.microsoft.com/office/drawing/2014/main" val="3999067801"/>
                    </a:ext>
                  </a:extLst>
                </a:gridCol>
                <a:gridCol w="1549886">
                  <a:extLst>
                    <a:ext uri="{9D8B030D-6E8A-4147-A177-3AD203B41FA5}">
                      <a16:colId xmlns:a16="http://schemas.microsoft.com/office/drawing/2014/main" val="1734416110"/>
                    </a:ext>
                  </a:extLst>
                </a:gridCol>
                <a:gridCol w="1549886">
                  <a:extLst>
                    <a:ext uri="{9D8B030D-6E8A-4147-A177-3AD203B41FA5}">
                      <a16:colId xmlns:a16="http://schemas.microsoft.com/office/drawing/2014/main" val="1798037809"/>
                    </a:ext>
                  </a:extLst>
                </a:gridCol>
                <a:gridCol w="1549886">
                  <a:extLst>
                    <a:ext uri="{9D8B030D-6E8A-4147-A177-3AD203B41FA5}">
                      <a16:colId xmlns:a16="http://schemas.microsoft.com/office/drawing/2014/main" val="3458534209"/>
                    </a:ext>
                  </a:extLst>
                </a:gridCol>
                <a:gridCol w="1549886">
                  <a:extLst>
                    <a:ext uri="{9D8B030D-6E8A-4147-A177-3AD203B41FA5}">
                      <a16:colId xmlns:a16="http://schemas.microsoft.com/office/drawing/2014/main" val="798378600"/>
                    </a:ext>
                  </a:extLst>
                </a:gridCol>
              </a:tblGrid>
              <a:tr h="370840">
                <a:tc gridSpan="5">
                  <a:txBody>
                    <a:bodyPr/>
                    <a:lstStyle/>
                    <a:p>
                      <a:pPr algn="ctr"/>
                      <a:r>
                        <a:rPr lang="zh-CN" altLang="en-US" sz="1600" dirty="0">
                          <a:solidFill>
                            <a:schemeClr val="tx1"/>
                          </a:solidFill>
                        </a:rPr>
                        <a:t>责任分配</a:t>
                      </a:r>
                      <a:r>
                        <a:rPr lang="en-US" altLang="zh-CN" sz="1600" dirty="0">
                          <a:solidFill>
                            <a:schemeClr val="tx1"/>
                          </a:solidFill>
                        </a:rPr>
                        <a:t>-</a:t>
                      </a:r>
                      <a:r>
                        <a:rPr lang="zh-CN" altLang="en-US" sz="1600" dirty="0">
                          <a:solidFill>
                            <a:schemeClr val="tx1"/>
                          </a:solidFill>
                        </a:rPr>
                        <a:t>简化版</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pPr algn="ctr"/>
                      <a:endParaRPr lang="zh-CN" altLang="en-US" baseline="0" dirty="0">
                        <a:latin typeface="Montserrat" panose="00000500000000000000" pitchFamily="2" charset="0"/>
                        <a:ea typeface="微软雅黑 Light" panose="020B0502040204020203" pitchFamily="34" charset="-122"/>
                      </a:endParaRPr>
                    </a:p>
                  </a:txBody>
                  <a:tcPr anchor="ctr"/>
                </a:tc>
                <a:tc hMerge="1">
                  <a:txBody>
                    <a:bodyPr/>
                    <a:lstStyle/>
                    <a:p>
                      <a:pPr algn="ctr"/>
                      <a:endParaRPr lang="zh-CN" altLang="en-US" baseline="0" dirty="0">
                        <a:latin typeface="Montserrat" panose="00000500000000000000" pitchFamily="2" charset="0"/>
                        <a:ea typeface="微软雅黑 Light" panose="020B0502040204020203" pitchFamily="34" charset="-122"/>
                      </a:endParaRPr>
                    </a:p>
                  </a:txBody>
                  <a:tcPr anchor="ctr"/>
                </a:tc>
                <a:tc hMerge="1">
                  <a:txBody>
                    <a:bodyPr/>
                    <a:lstStyle/>
                    <a:p>
                      <a:pPr algn="ctr"/>
                      <a:endParaRPr lang="zh-CN" altLang="en-US" baseline="0" dirty="0">
                        <a:latin typeface="Montserrat" panose="00000500000000000000" pitchFamily="2" charset="0"/>
                        <a:ea typeface="微软雅黑 Light" panose="020B0502040204020203" pitchFamily="34" charset="-122"/>
                      </a:endParaRPr>
                    </a:p>
                  </a:txBody>
                  <a:tcPr anchor="ctr"/>
                </a:tc>
                <a:tc hMerge="1">
                  <a:txBody>
                    <a:bodyPr/>
                    <a:lstStyle/>
                    <a:p>
                      <a:pPr algn="ctr"/>
                      <a:endParaRPr lang="zh-CN" altLang="en-US" baseline="0" dirty="0">
                        <a:latin typeface="Montserrat" panose="00000500000000000000" pitchFamily="2" charset="0"/>
                        <a:ea typeface="微软雅黑 Light" panose="020B0502040204020203" pitchFamily="34" charset="-122"/>
                      </a:endParaRPr>
                    </a:p>
                  </a:txBody>
                  <a:tcPr anchor="ctr"/>
                </a:tc>
                <a:extLst>
                  <a:ext uri="{0D108BD9-81ED-4DB2-BD59-A6C34878D82A}">
                    <a16:rowId xmlns:a16="http://schemas.microsoft.com/office/drawing/2014/main" val="1005089365"/>
                  </a:ext>
                </a:extLst>
              </a:tr>
              <a:tr h="370840">
                <a:tc>
                  <a:txBody>
                    <a:bodyPr/>
                    <a:lstStyle/>
                    <a:p>
                      <a:pPr algn="ctr"/>
                      <a:r>
                        <a:rPr lang="zh-CN" altLang="en-US" sz="1600" dirty="0">
                          <a:solidFill>
                            <a:schemeClr val="tx1"/>
                          </a:solidFill>
                        </a:rPr>
                        <a:t>需求定义</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zh-CN" altLang="en-US" sz="1600" dirty="0">
                          <a:solidFill>
                            <a:schemeClr val="tx1"/>
                          </a:solidFill>
                        </a:rPr>
                        <a:t>张三</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zh-CN" altLang="en-US" sz="1600">
                          <a:solidFill>
                            <a:schemeClr val="tx1"/>
                          </a:solidFill>
                        </a:rPr>
                        <a:t>李四</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zh-CN" altLang="en-US" sz="1600">
                          <a:solidFill>
                            <a:schemeClr val="tx1"/>
                          </a:solidFill>
                        </a:rPr>
                        <a:t>王五</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zh-CN" altLang="en-US" sz="1600">
                          <a:solidFill>
                            <a:schemeClr val="tx1"/>
                          </a:solidFill>
                        </a:rPr>
                        <a:t>赵六</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8040689"/>
                  </a:ext>
                </a:extLst>
              </a:tr>
              <a:tr h="370840">
                <a:tc>
                  <a:txBody>
                    <a:bodyPr/>
                    <a:lstStyle/>
                    <a:p>
                      <a:pPr algn="ctr"/>
                      <a:r>
                        <a:rPr lang="zh-CN" altLang="en-US" sz="1600">
                          <a:solidFill>
                            <a:schemeClr val="tx1"/>
                          </a:solidFill>
                        </a:rPr>
                        <a:t>系统设计</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zh-CN" altLang="en-US" sz="1600" dirty="0">
                          <a:solidFill>
                            <a:schemeClr val="tx1"/>
                          </a:solidFill>
                        </a:rPr>
                        <a:t>√</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dirty="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zh-CN" altLang="en-US" sz="1600" dirty="0">
                          <a:solidFill>
                            <a:schemeClr val="tx1"/>
                          </a:solidFill>
                        </a:rPr>
                        <a:t>√</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87288823"/>
                  </a:ext>
                </a:extLst>
              </a:tr>
              <a:tr h="370840">
                <a:tc>
                  <a:txBody>
                    <a:bodyPr/>
                    <a:lstStyle/>
                    <a:p>
                      <a:pPr algn="ctr"/>
                      <a:r>
                        <a:rPr lang="zh-CN" altLang="en-US" sz="1600">
                          <a:solidFill>
                            <a:schemeClr val="tx1"/>
                          </a:solidFill>
                        </a:rPr>
                        <a:t>系统开发</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dirty="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zh-CN" altLang="en-US" sz="1600" dirty="0">
                          <a:solidFill>
                            <a:schemeClr val="tx1"/>
                          </a:solidFill>
                        </a:rPr>
                        <a:t>√</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dirty="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zh-CN" altLang="en-US" sz="1600" dirty="0">
                          <a:solidFill>
                            <a:schemeClr val="tx1"/>
                          </a:solidFill>
                        </a:rPr>
                        <a:t>√</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8659324"/>
                  </a:ext>
                </a:extLst>
              </a:tr>
              <a:tr h="370840">
                <a:tc>
                  <a:txBody>
                    <a:bodyPr/>
                    <a:lstStyle/>
                    <a:p>
                      <a:pPr algn="ctr"/>
                      <a:r>
                        <a:rPr lang="zh-CN" altLang="en-US" sz="1600">
                          <a:solidFill>
                            <a:schemeClr val="tx1"/>
                          </a:solidFill>
                        </a:rPr>
                        <a:t>测试</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zh-CN" altLang="en-US" sz="1600" dirty="0">
                          <a:solidFill>
                            <a:schemeClr val="tx1"/>
                          </a:solidFill>
                        </a:rPr>
                        <a:t>√</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dirty="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zh-CN" altLang="en-US" sz="1600" dirty="0">
                          <a:solidFill>
                            <a:schemeClr val="tx1"/>
                          </a:solidFill>
                        </a:rPr>
                        <a:t>√</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dirty="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6058177"/>
                  </a:ext>
                </a:extLst>
              </a:tr>
            </a:tbl>
          </a:graphicData>
        </a:graphic>
      </p:graphicFrame>
    </p:spTree>
    <p:extLst>
      <p:ext uri="{BB962C8B-B14F-4D97-AF65-F5344CB8AC3E}">
        <p14:creationId xmlns:p14="http://schemas.microsoft.com/office/powerpoint/2010/main" val="2739220882"/>
      </p:ext>
    </p:extLst>
  </p:cSld>
  <p:clrMapOvr>
    <a:masterClrMapping/>
  </p:clrMapOvr>
</p:sld>
</file>

<file path=ppt/slides/slide3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A81397-BB64-E1CA-173A-7B2F1F40F280}"/>
              </a:ext>
            </a:extLst>
          </p:cNvPr>
          <p:cNvSpPr>
            <a:spLocks noGrp="1"/>
          </p:cNvSpPr>
          <p:nvPr>
            <p:ph type="title"/>
          </p:nvPr>
        </p:nvSpPr>
        <p:spPr>
          <a:xfrm>
            <a:off x="696000" y="360000"/>
            <a:ext cx="5400000" cy="429413"/>
          </a:xfrm>
        </p:spPr>
        <p:txBody>
          <a:bodyPr/>
          <a:lstStyle/>
          <a:p>
            <a:r>
              <a:rPr lang="en-US" altLang="zh-CN" dirty="0"/>
              <a:t>10.2.2 RACI</a:t>
            </a:r>
            <a:endParaRPr lang="zh-CN" altLang="en-US" dirty="0"/>
          </a:p>
        </p:txBody>
      </p:sp>
      <p:graphicFrame>
        <p:nvGraphicFramePr>
          <p:cNvPr id="3" name="表格 2">
            <a:extLst>
              <a:ext uri="{FF2B5EF4-FFF2-40B4-BE49-F238E27FC236}">
                <a16:creationId xmlns:a16="http://schemas.microsoft.com/office/drawing/2014/main" id="{F41A7568-3D77-0F91-3F9F-A6F528D46AC4}"/>
              </a:ext>
            </a:extLst>
          </p:cNvPr>
          <p:cNvGraphicFramePr>
            <a:graphicFrameLocks noGrp="1"/>
          </p:cNvGraphicFramePr>
          <p:nvPr>
            <p:extLst>
              <p:ext uri="{D42A27DB-BD31-4B8C-83A1-F6EECF244321}">
                <p14:modId xmlns:p14="http://schemas.microsoft.com/office/powerpoint/2010/main" val="3112285444"/>
              </p:ext>
            </p:extLst>
          </p:nvPr>
        </p:nvGraphicFramePr>
        <p:xfrm>
          <a:off x="822000" y="1760135"/>
          <a:ext cx="10548000" cy="3337730"/>
        </p:xfrm>
        <a:graphic>
          <a:graphicData uri="http://schemas.openxmlformats.org/drawingml/2006/table">
            <a:tbl>
              <a:tblPr/>
              <a:tblGrid>
                <a:gridCol w="1440000">
                  <a:extLst>
                    <a:ext uri="{9D8B030D-6E8A-4147-A177-3AD203B41FA5}">
                      <a16:colId xmlns:a16="http://schemas.microsoft.com/office/drawing/2014/main" val="2907705035"/>
                    </a:ext>
                  </a:extLst>
                </a:gridCol>
                <a:gridCol w="3492000">
                  <a:extLst>
                    <a:ext uri="{9D8B030D-6E8A-4147-A177-3AD203B41FA5}">
                      <a16:colId xmlns:a16="http://schemas.microsoft.com/office/drawing/2014/main" val="3920329379"/>
                    </a:ext>
                  </a:extLst>
                </a:gridCol>
                <a:gridCol w="2448000">
                  <a:extLst>
                    <a:ext uri="{9D8B030D-6E8A-4147-A177-3AD203B41FA5}">
                      <a16:colId xmlns:a16="http://schemas.microsoft.com/office/drawing/2014/main" val="861270139"/>
                    </a:ext>
                  </a:extLst>
                </a:gridCol>
                <a:gridCol w="3168000">
                  <a:extLst>
                    <a:ext uri="{9D8B030D-6E8A-4147-A177-3AD203B41FA5}">
                      <a16:colId xmlns:a16="http://schemas.microsoft.com/office/drawing/2014/main" val="1901218793"/>
                    </a:ext>
                  </a:extLst>
                </a:gridCol>
              </a:tblGrid>
              <a:tr h="253435">
                <a:tc>
                  <a:txBody>
                    <a:bodyPr/>
                    <a:lstStyle/>
                    <a:p>
                      <a:pPr algn="l">
                        <a:buNone/>
                      </a:pPr>
                      <a:r>
                        <a:rPr lang="zh-CN" altLang="en-US" sz="1400" dirty="0">
                          <a:solidFill>
                            <a:schemeClr val="bg1"/>
                          </a:solidFill>
                        </a:rPr>
                        <a:t>角色</a:t>
                      </a:r>
                      <a:endParaRPr lang="en-US" altLang="zh-CN" sz="1400" dirty="0">
                        <a:solidFill>
                          <a:schemeClr val="bg1"/>
                        </a:solidFill>
                      </a:endParaRPr>
                    </a:p>
                    <a:p>
                      <a:pPr algn="l">
                        <a:buNone/>
                      </a:pPr>
                      <a:r>
                        <a:rPr lang="en-US" sz="1400" dirty="0">
                          <a:solidFill>
                            <a:schemeClr val="bg1"/>
                          </a:solidFill>
                        </a:rPr>
                        <a:t>ROLE</a:t>
                      </a:r>
                    </a:p>
                  </a:txBody>
                  <a:tcPr marL="70139" marR="70139" marT="35069" marB="35069" anchor="ctr">
                    <a:lnL>
                      <a:noFill/>
                    </a:lnL>
                    <a:lnR>
                      <a:noFill/>
                    </a:lnR>
                    <a:lnT>
                      <a:noFill/>
                    </a:lnT>
                    <a:lnB>
                      <a:noFill/>
                    </a:lnB>
                    <a:solidFill>
                      <a:srgbClr val="0D8BB3"/>
                    </a:solidFill>
                  </a:tcPr>
                </a:tc>
                <a:tc>
                  <a:txBody>
                    <a:bodyPr/>
                    <a:lstStyle/>
                    <a:p>
                      <a:pPr algn="l">
                        <a:buNone/>
                      </a:pPr>
                      <a:r>
                        <a:rPr lang="zh-CN" altLang="en-US" sz="1400" dirty="0">
                          <a:solidFill>
                            <a:schemeClr val="bg1"/>
                          </a:solidFill>
                        </a:rPr>
                        <a:t>描述</a:t>
                      </a:r>
                      <a:endParaRPr lang="en-US" altLang="zh-CN" sz="1400" dirty="0">
                        <a:solidFill>
                          <a:schemeClr val="bg1"/>
                        </a:solidFill>
                      </a:endParaRPr>
                    </a:p>
                    <a:p>
                      <a:pPr algn="l">
                        <a:buNone/>
                      </a:pPr>
                      <a:r>
                        <a:rPr lang="en-US" sz="1400" dirty="0">
                          <a:solidFill>
                            <a:schemeClr val="bg1"/>
                          </a:solidFill>
                        </a:rPr>
                        <a:t>DESCRIPTION</a:t>
                      </a:r>
                    </a:p>
                  </a:txBody>
                  <a:tcPr marL="70139" marR="70139" marT="35069" marB="35069" anchor="ctr">
                    <a:lnL>
                      <a:noFill/>
                    </a:lnL>
                    <a:lnR>
                      <a:noFill/>
                    </a:lnR>
                    <a:lnT>
                      <a:noFill/>
                    </a:lnT>
                    <a:lnB>
                      <a:noFill/>
                    </a:lnB>
                    <a:solidFill>
                      <a:srgbClr val="0D8BB3"/>
                    </a:solidFill>
                  </a:tcPr>
                </a:tc>
                <a:tc>
                  <a:txBody>
                    <a:bodyPr/>
                    <a:lstStyle/>
                    <a:p>
                      <a:pPr algn="l">
                        <a:buNone/>
                      </a:pPr>
                      <a:r>
                        <a:rPr lang="zh-CN" altLang="en-US" sz="1400" dirty="0">
                          <a:solidFill>
                            <a:schemeClr val="bg1"/>
                          </a:solidFill>
                        </a:rPr>
                        <a:t>分配人数</a:t>
                      </a:r>
                      <a:endParaRPr lang="en-US" altLang="zh-CN" sz="1400" dirty="0">
                        <a:solidFill>
                          <a:schemeClr val="bg1"/>
                        </a:solidFill>
                      </a:endParaRPr>
                    </a:p>
                    <a:p>
                      <a:pPr algn="l">
                        <a:buNone/>
                      </a:pPr>
                      <a:r>
                        <a:rPr lang="en-US" sz="1400" dirty="0">
                          <a:solidFill>
                            <a:schemeClr val="bg1"/>
                          </a:solidFill>
                        </a:rPr>
                        <a:t>NUMBER OF ASSIGNEES</a:t>
                      </a:r>
                    </a:p>
                  </a:txBody>
                  <a:tcPr marL="70139" marR="70139" marT="35069" marB="35069" anchor="ctr">
                    <a:lnL>
                      <a:noFill/>
                    </a:lnL>
                    <a:lnR>
                      <a:noFill/>
                    </a:lnR>
                    <a:lnT>
                      <a:noFill/>
                    </a:lnT>
                    <a:lnB>
                      <a:noFill/>
                    </a:lnB>
                    <a:solidFill>
                      <a:srgbClr val="0D8BB3"/>
                    </a:solidFill>
                  </a:tcPr>
                </a:tc>
                <a:tc>
                  <a:txBody>
                    <a:bodyPr/>
                    <a:lstStyle/>
                    <a:p>
                      <a:pPr algn="l">
                        <a:buNone/>
                      </a:pPr>
                      <a:r>
                        <a:rPr lang="zh-CN" altLang="en-US" sz="1400" dirty="0">
                          <a:solidFill>
                            <a:schemeClr val="bg1"/>
                          </a:solidFill>
                        </a:rPr>
                        <a:t>示例</a:t>
                      </a:r>
                      <a:endParaRPr lang="en-US" altLang="zh-CN" sz="1400" dirty="0">
                        <a:solidFill>
                          <a:schemeClr val="bg1"/>
                        </a:solidFill>
                      </a:endParaRPr>
                    </a:p>
                    <a:p>
                      <a:pPr algn="l">
                        <a:buNone/>
                      </a:pPr>
                      <a:r>
                        <a:rPr lang="en-US" sz="1400" dirty="0">
                          <a:solidFill>
                            <a:schemeClr val="bg1"/>
                          </a:solidFill>
                        </a:rPr>
                        <a:t>EXAMPLES</a:t>
                      </a:r>
                    </a:p>
                  </a:txBody>
                  <a:tcPr marL="70139" marR="70139" marT="35069" marB="35069" anchor="ctr">
                    <a:lnL>
                      <a:noFill/>
                    </a:lnL>
                    <a:lnR>
                      <a:noFill/>
                    </a:lnR>
                    <a:lnT>
                      <a:noFill/>
                    </a:lnT>
                    <a:lnB>
                      <a:noFill/>
                    </a:lnB>
                    <a:solidFill>
                      <a:srgbClr val="0D8BB3"/>
                    </a:solidFill>
                  </a:tcPr>
                </a:tc>
                <a:extLst>
                  <a:ext uri="{0D108BD9-81ED-4DB2-BD59-A6C34878D82A}">
                    <a16:rowId xmlns:a16="http://schemas.microsoft.com/office/drawing/2014/main" val="4270013425"/>
                  </a:ext>
                </a:extLst>
              </a:tr>
              <a:tr h="362264">
                <a:tc>
                  <a:txBody>
                    <a:bodyPr/>
                    <a:lstStyle/>
                    <a:p>
                      <a:pPr algn="l">
                        <a:buNone/>
                      </a:pPr>
                      <a:r>
                        <a:rPr lang="en-US" sz="1800" b="1" dirty="0">
                          <a:solidFill>
                            <a:srgbClr val="EFAA27"/>
                          </a:solidFill>
                        </a:rPr>
                        <a:t>R</a:t>
                      </a:r>
                      <a:r>
                        <a:rPr lang="en-US" sz="1400" dirty="0"/>
                        <a:t>esponsible</a:t>
                      </a:r>
                      <a:br>
                        <a:rPr lang="en-US" sz="1400" dirty="0"/>
                      </a:br>
                      <a:r>
                        <a:rPr lang="zh-CN" altLang="en-US" sz="1400" dirty="0"/>
                        <a:t>执行者</a:t>
                      </a:r>
                      <a:endParaRPr lang="en-US" altLang="zh-CN" sz="1400" dirty="0"/>
                    </a:p>
                  </a:txBody>
                  <a:tcPr marL="70139" marR="70139" marT="35069" marB="35069"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l">
                        <a:buNone/>
                      </a:pPr>
                      <a:r>
                        <a:rPr lang="en-US" sz="1400" dirty="0"/>
                        <a:t>Carries out the work required to complete a task or deliverable</a:t>
                      </a:r>
                      <a:br>
                        <a:rPr lang="en-US" sz="1400" dirty="0"/>
                      </a:br>
                      <a:r>
                        <a:rPr lang="zh-CN" altLang="en-US" sz="1400" dirty="0"/>
                        <a:t>执行完成任务或可交付成果所需的工作</a:t>
                      </a:r>
                      <a:endParaRPr lang="en-US" altLang="zh-CN" sz="1400" dirty="0"/>
                    </a:p>
                  </a:txBody>
                  <a:tcPr marL="70139" marR="70139" marT="35069" marB="35069"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l">
                        <a:buNone/>
                      </a:pPr>
                      <a:r>
                        <a:rPr lang="en-US" sz="1400" dirty="0"/>
                        <a:t>One person per task</a:t>
                      </a:r>
                      <a:br>
                        <a:rPr lang="en-US" sz="1400" dirty="0"/>
                      </a:br>
                      <a:r>
                        <a:rPr lang="zh-CN" altLang="en-US" sz="1400" dirty="0"/>
                        <a:t>每项任务一人</a:t>
                      </a:r>
                      <a:endParaRPr lang="en-US" altLang="zh-CN" sz="1400" dirty="0"/>
                    </a:p>
                  </a:txBody>
                  <a:tcPr marL="70139" marR="70139" marT="35069" marB="35069"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l">
                        <a:buNone/>
                      </a:pPr>
                      <a:r>
                        <a:rPr lang="en-US" sz="1400" dirty="0"/>
                        <a:t>• Copywriters </a:t>
                      </a:r>
                      <a:r>
                        <a:rPr lang="zh-CN" altLang="en-US" sz="1400" dirty="0"/>
                        <a:t>文案</a:t>
                      </a:r>
                      <a:br>
                        <a:rPr lang="en-US" altLang="zh-CN" sz="1400" dirty="0"/>
                      </a:br>
                      <a:r>
                        <a:rPr lang="en-US" altLang="zh-CN" sz="1400" dirty="0"/>
                        <a:t>• </a:t>
                      </a:r>
                      <a:r>
                        <a:rPr lang="en-US" sz="1400" dirty="0"/>
                        <a:t>Graphic designers </a:t>
                      </a:r>
                      <a:r>
                        <a:rPr lang="zh-CN" altLang="en-US" sz="1400" dirty="0"/>
                        <a:t>平面设计师</a:t>
                      </a:r>
                      <a:br>
                        <a:rPr lang="en-US" altLang="zh-CN" sz="1400" dirty="0"/>
                      </a:br>
                      <a:r>
                        <a:rPr lang="en-US" altLang="zh-CN" sz="1400" dirty="0"/>
                        <a:t>• </a:t>
                      </a:r>
                      <a:r>
                        <a:rPr lang="en-US" sz="1400" dirty="0"/>
                        <a:t>Developers </a:t>
                      </a:r>
                      <a:r>
                        <a:rPr lang="zh-CN" altLang="en-US" sz="1400" dirty="0"/>
                        <a:t>开发人员</a:t>
                      </a:r>
                      <a:endParaRPr lang="en-US" altLang="zh-CN" sz="1400" dirty="0"/>
                    </a:p>
                  </a:txBody>
                  <a:tcPr marL="70139" marR="70139" marT="35069" marB="35069" anchor="ctr">
                    <a:lnL>
                      <a:noFill/>
                    </a:lnL>
                    <a:lnR>
                      <a:noFill/>
                    </a:lnR>
                    <a:lnT>
                      <a:noFill/>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78508017"/>
                  </a:ext>
                </a:extLst>
              </a:tr>
              <a:tr h="362264">
                <a:tc>
                  <a:txBody>
                    <a:bodyPr/>
                    <a:lstStyle/>
                    <a:p>
                      <a:pPr algn="l">
                        <a:buNone/>
                      </a:pPr>
                      <a:r>
                        <a:rPr lang="en-US" sz="1800" b="1" dirty="0">
                          <a:solidFill>
                            <a:srgbClr val="BF0149"/>
                          </a:solidFill>
                        </a:rPr>
                        <a:t>A</a:t>
                      </a:r>
                      <a:r>
                        <a:rPr lang="en-US" sz="1400" dirty="0"/>
                        <a:t>ccountable</a:t>
                      </a:r>
                      <a:br>
                        <a:rPr lang="en-US" sz="1400" dirty="0"/>
                      </a:br>
                      <a:r>
                        <a:rPr lang="zh-CN" altLang="en-US" sz="1400" dirty="0"/>
                        <a:t>问责者</a:t>
                      </a:r>
                      <a:endParaRPr lang="en-US" altLang="zh-CN" sz="1400" dirty="0"/>
                    </a:p>
                  </a:txBody>
                  <a:tcPr marL="70139" marR="70139" marT="35069" marB="35069"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en-US" sz="1400" dirty="0"/>
                        <a:t>Owns the outcome and ensures the task meets expectations</a:t>
                      </a:r>
                      <a:br>
                        <a:rPr lang="en-US" sz="1400" dirty="0"/>
                      </a:br>
                      <a:r>
                        <a:rPr lang="zh-CN" altLang="en-US" sz="1400" dirty="0"/>
                        <a:t>拥有结果的所有权并确保任务符合预期</a:t>
                      </a:r>
                      <a:endParaRPr lang="en-US" altLang="zh-CN" sz="1400" dirty="0"/>
                    </a:p>
                  </a:txBody>
                  <a:tcPr marL="70139" marR="70139" marT="35069" marB="35069"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en-US" sz="1400" dirty="0"/>
                        <a:t>One person per task</a:t>
                      </a:r>
                      <a:br>
                        <a:rPr lang="en-US" sz="1400" dirty="0"/>
                      </a:br>
                      <a:r>
                        <a:rPr lang="zh-CN" altLang="en-US" sz="1400" dirty="0"/>
                        <a:t>每项任务一人</a:t>
                      </a:r>
                      <a:endParaRPr lang="en-US" altLang="zh-CN" sz="1400" dirty="0"/>
                    </a:p>
                  </a:txBody>
                  <a:tcPr marL="70139" marR="70139" marT="35069" marB="35069"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en-US" sz="1400" dirty="0"/>
                        <a:t>• Product owners </a:t>
                      </a:r>
                      <a:r>
                        <a:rPr lang="zh-CN" altLang="en-US" sz="1400" dirty="0"/>
                        <a:t>产品负责人</a:t>
                      </a:r>
                      <a:br>
                        <a:rPr lang="en-US" altLang="zh-CN" sz="1400" dirty="0"/>
                      </a:br>
                      <a:r>
                        <a:rPr lang="en-US" altLang="zh-CN" sz="1400" dirty="0"/>
                        <a:t>• </a:t>
                      </a:r>
                      <a:r>
                        <a:rPr lang="en-US" sz="1400" dirty="0"/>
                        <a:t>Project manager </a:t>
                      </a:r>
                      <a:r>
                        <a:rPr lang="zh-CN" altLang="en-US" sz="1400" dirty="0"/>
                        <a:t>项目经理</a:t>
                      </a:r>
                      <a:br>
                        <a:rPr lang="en-US" altLang="zh-CN" sz="1400" dirty="0"/>
                      </a:br>
                      <a:r>
                        <a:rPr lang="en-US" altLang="zh-CN" sz="1400" dirty="0"/>
                        <a:t>• </a:t>
                      </a:r>
                      <a:r>
                        <a:rPr lang="en-US" sz="1400" dirty="0"/>
                        <a:t>Team supervisor </a:t>
                      </a:r>
                      <a:r>
                        <a:rPr lang="zh-CN" altLang="en-US" sz="1400" dirty="0"/>
                        <a:t>团队主管</a:t>
                      </a:r>
                      <a:endParaRPr lang="en-US" altLang="zh-CN" sz="1400" dirty="0"/>
                    </a:p>
                  </a:txBody>
                  <a:tcPr marL="70139" marR="70139" marT="35069" marB="35069"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0686148"/>
                  </a:ext>
                </a:extLst>
              </a:tr>
              <a:tr h="362264">
                <a:tc>
                  <a:txBody>
                    <a:bodyPr/>
                    <a:lstStyle/>
                    <a:p>
                      <a:pPr algn="l">
                        <a:buNone/>
                      </a:pPr>
                      <a:r>
                        <a:rPr lang="en-US" sz="1800" b="1" dirty="0">
                          <a:solidFill>
                            <a:srgbClr val="0D8BB3"/>
                          </a:solidFill>
                        </a:rPr>
                        <a:t>C</a:t>
                      </a:r>
                      <a:r>
                        <a:rPr lang="en-US" sz="1400" dirty="0"/>
                        <a:t>onsulted</a:t>
                      </a:r>
                      <a:br>
                        <a:rPr lang="en-US" sz="1400" dirty="0"/>
                      </a:br>
                      <a:r>
                        <a:rPr lang="zh-CN" altLang="en-US" sz="1400" dirty="0"/>
                        <a:t>咨询者</a:t>
                      </a:r>
                      <a:endParaRPr lang="en-US" altLang="zh-CN" sz="1400" dirty="0"/>
                    </a:p>
                  </a:txBody>
                  <a:tcPr marL="70139" marR="70139" marT="35069" marB="35069"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en-US" sz="1400" dirty="0"/>
                        <a:t>Provides input or expertise before or during the project</a:t>
                      </a:r>
                      <a:br>
                        <a:rPr lang="en-US" sz="1400" dirty="0"/>
                      </a:br>
                      <a:r>
                        <a:rPr lang="zh-CN" altLang="en-US" sz="1400" dirty="0"/>
                        <a:t>在项目之前或期间提供输入或专业知识</a:t>
                      </a:r>
                      <a:endParaRPr lang="en-US" altLang="zh-CN" sz="1400" dirty="0"/>
                    </a:p>
                  </a:txBody>
                  <a:tcPr marL="70139" marR="70139" marT="35069" marB="35069"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en-US" sz="1400" dirty="0"/>
                        <a:t>One or more people</a:t>
                      </a:r>
                      <a:br>
                        <a:rPr lang="en-US" sz="1400" dirty="0"/>
                      </a:br>
                      <a:r>
                        <a:rPr lang="en-US" sz="1400" dirty="0"/>
                        <a:t>一人或多人</a:t>
                      </a:r>
                    </a:p>
                  </a:txBody>
                  <a:tcPr marL="70139" marR="70139" marT="35069" marB="35069"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en-US" sz="1400" dirty="0"/>
                        <a:t>• Legal experts </a:t>
                      </a:r>
                      <a:r>
                        <a:rPr lang="zh-CN" altLang="en-US" sz="1400" dirty="0"/>
                        <a:t>法律专家</a:t>
                      </a:r>
                      <a:br>
                        <a:rPr lang="en-US" altLang="zh-CN" sz="1400" dirty="0"/>
                      </a:br>
                      <a:r>
                        <a:rPr lang="en-US" altLang="zh-CN" sz="1400" dirty="0"/>
                        <a:t>• </a:t>
                      </a:r>
                      <a:r>
                        <a:rPr lang="en-US" sz="1400" dirty="0"/>
                        <a:t>Subject matter expert </a:t>
                      </a:r>
                      <a:r>
                        <a:rPr lang="zh-CN" altLang="en-US" sz="1400" dirty="0"/>
                        <a:t>主题专家</a:t>
                      </a:r>
                      <a:br>
                        <a:rPr lang="en-US" altLang="zh-CN" sz="1400" dirty="0"/>
                      </a:br>
                      <a:r>
                        <a:rPr lang="en-US" altLang="zh-CN" sz="1400" dirty="0"/>
                        <a:t>• </a:t>
                      </a:r>
                      <a:r>
                        <a:rPr lang="en-US" sz="1400" dirty="0"/>
                        <a:t>Financial advisor </a:t>
                      </a:r>
                      <a:r>
                        <a:rPr lang="zh-CN" altLang="en-US" sz="1400" dirty="0"/>
                        <a:t>财务顾问</a:t>
                      </a:r>
                      <a:endParaRPr lang="en-US" altLang="zh-CN" sz="1400" dirty="0"/>
                    </a:p>
                  </a:txBody>
                  <a:tcPr marL="70139" marR="70139" marT="35069" marB="35069"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4539072"/>
                  </a:ext>
                </a:extLst>
              </a:tr>
              <a:tr h="362264">
                <a:tc>
                  <a:txBody>
                    <a:bodyPr/>
                    <a:lstStyle/>
                    <a:p>
                      <a:pPr algn="l">
                        <a:buNone/>
                      </a:pPr>
                      <a:r>
                        <a:rPr lang="en-US" sz="1800" b="1" dirty="0">
                          <a:solidFill>
                            <a:srgbClr val="89AE12"/>
                          </a:solidFill>
                        </a:rPr>
                        <a:t>I</a:t>
                      </a:r>
                      <a:r>
                        <a:rPr lang="en-US" sz="1400" dirty="0"/>
                        <a:t>nformed</a:t>
                      </a:r>
                      <a:br>
                        <a:rPr lang="en-US" sz="1400" dirty="0"/>
                      </a:br>
                      <a:r>
                        <a:rPr lang="zh-CN" altLang="en-US" sz="1400" dirty="0"/>
                        <a:t>知情者</a:t>
                      </a:r>
                      <a:endParaRPr lang="en-US" altLang="zh-CN" sz="1400" dirty="0"/>
                    </a:p>
                  </a:txBody>
                  <a:tcPr marL="70139" marR="70139" marT="35069" marB="35069"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en-US" sz="1400" dirty="0"/>
                        <a:t>Receives updates on progress or final outcomes</a:t>
                      </a:r>
                      <a:br>
                        <a:rPr lang="en-US" sz="1400" dirty="0"/>
                      </a:br>
                      <a:r>
                        <a:rPr lang="zh-CN" altLang="en-US" sz="1400" dirty="0"/>
                        <a:t>接收进度或最终结果的更新</a:t>
                      </a:r>
                      <a:endParaRPr lang="en-US" altLang="zh-CN" sz="1400" dirty="0"/>
                    </a:p>
                  </a:txBody>
                  <a:tcPr marL="70139" marR="70139" marT="35069" marB="35069"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en-US" sz="1400" dirty="0"/>
                        <a:t>One or more people</a:t>
                      </a:r>
                      <a:br>
                        <a:rPr lang="en-US" sz="1400" dirty="0"/>
                      </a:br>
                      <a:r>
                        <a:rPr lang="en-US" sz="1400" dirty="0"/>
                        <a:t>一人或多人</a:t>
                      </a:r>
                    </a:p>
                  </a:txBody>
                  <a:tcPr marL="70139" marR="70139" marT="35069" marB="35069"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en-US" sz="1400" dirty="0"/>
                        <a:t>• Committee members </a:t>
                      </a:r>
                      <a:r>
                        <a:rPr lang="zh-CN" altLang="en-US" sz="1400" dirty="0"/>
                        <a:t>委员会成员</a:t>
                      </a:r>
                      <a:br>
                        <a:rPr lang="en-US" altLang="zh-CN" sz="1400" dirty="0"/>
                      </a:br>
                      <a:r>
                        <a:rPr lang="en-US" altLang="zh-CN" sz="1400" dirty="0"/>
                        <a:t>• </a:t>
                      </a:r>
                      <a:r>
                        <a:rPr lang="en-US" sz="1400" dirty="0"/>
                        <a:t>Clients </a:t>
                      </a:r>
                      <a:r>
                        <a:rPr lang="zh-CN" altLang="en-US" sz="1400" dirty="0"/>
                        <a:t>客户</a:t>
                      </a:r>
                      <a:br>
                        <a:rPr lang="en-US" altLang="zh-CN" sz="1400" dirty="0"/>
                      </a:br>
                      <a:r>
                        <a:rPr lang="en-US" altLang="zh-CN" sz="1400" dirty="0"/>
                        <a:t>• </a:t>
                      </a:r>
                      <a:r>
                        <a:rPr lang="en-US" sz="1400" dirty="0"/>
                        <a:t>External partners </a:t>
                      </a:r>
                      <a:r>
                        <a:rPr lang="zh-CN" altLang="en-US" sz="1400" dirty="0"/>
                        <a:t>外部合作伙伴</a:t>
                      </a:r>
                      <a:endParaRPr lang="en-US" altLang="zh-CN" sz="1400" dirty="0"/>
                    </a:p>
                  </a:txBody>
                  <a:tcPr marL="70139" marR="70139" marT="35069" marB="35069"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5819746"/>
                  </a:ext>
                </a:extLst>
              </a:tr>
            </a:tbl>
          </a:graphicData>
        </a:graphic>
      </p:graphicFrame>
    </p:spTree>
    <p:extLst>
      <p:ext uri="{BB962C8B-B14F-4D97-AF65-F5344CB8AC3E}">
        <p14:creationId xmlns:p14="http://schemas.microsoft.com/office/powerpoint/2010/main" val="3071016358"/>
      </p:ext>
    </p:extLst>
  </p:cSld>
  <p:clrMapOvr>
    <a:masterClrMapping/>
  </p:clrMapOvr>
</p:sld>
</file>

<file path=ppt/slides/slide3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a:extLst>
              <a:ext uri="{FF2B5EF4-FFF2-40B4-BE49-F238E27FC236}">
                <a16:creationId xmlns:a16="http://schemas.microsoft.com/office/drawing/2014/main" id="{31E01D56-9F10-A17F-D7DF-C46D1D80EDC7}"/>
              </a:ext>
            </a:extLst>
          </p:cNvPr>
          <p:cNvGraphicFramePr>
            <a:graphicFrameLocks noGrp="1"/>
          </p:cNvGraphicFramePr>
          <p:nvPr>
            <p:extLst>
              <p:ext uri="{D42A27DB-BD31-4B8C-83A1-F6EECF244321}">
                <p14:modId xmlns:p14="http://schemas.microsoft.com/office/powerpoint/2010/main" val="3551545779"/>
              </p:ext>
            </p:extLst>
          </p:nvPr>
        </p:nvGraphicFramePr>
        <p:xfrm>
          <a:off x="948000" y="1963737"/>
          <a:ext cx="10296000" cy="2704320"/>
        </p:xfrm>
        <a:graphic>
          <a:graphicData uri="http://schemas.openxmlformats.org/drawingml/2006/table">
            <a:tbl>
              <a:tblPr/>
              <a:tblGrid>
                <a:gridCol w="720000">
                  <a:extLst>
                    <a:ext uri="{9D8B030D-6E8A-4147-A177-3AD203B41FA5}">
                      <a16:colId xmlns:a16="http://schemas.microsoft.com/office/drawing/2014/main" val="2656486556"/>
                    </a:ext>
                  </a:extLst>
                </a:gridCol>
                <a:gridCol w="5616000">
                  <a:extLst>
                    <a:ext uri="{9D8B030D-6E8A-4147-A177-3AD203B41FA5}">
                      <a16:colId xmlns:a16="http://schemas.microsoft.com/office/drawing/2014/main" val="2978964774"/>
                    </a:ext>
                  </a:extLst>
                </a:gridCol>
                <a:gridCol w="3960000">
                  <a:extLst>
                    <a:ext uri="{9D8B030D-6E8A-4147-A177-3AD203B41FA5}">
                      <a16:colId xmlns:a16="http://schemas.microsoft.com/office/drawing/2014/main" val="3940386959"/>
                    </a:ext>
                  </a:extLst>
                </a:gridCol>
              </a:tblGrid>
              <a:tr h="0">
                <a:tc>
                  <a:txBody>
                    <a:bodyPr/>
                    <a:lstStyle/>
                    <a:p>
                      <a:pPr algn="l">
                        <a:lnSpc>
                          <a:spcPct val="100000"/>
                        </a:lnSpc>
                        <a:spcBef>
                          <a:spcPts val="0"/>
                        </a:spcBef>
                        <a:spcAft>
                          <a:spcPts val="0"/>
                        </a:spcAft>
                        <a:buNone/>
                      </a:pPr>
                      <a:r>
                        <a:rPr lang="zh-CN" altLang="en-US" sz="1600" dirty="0">
                          <a:solidFill>
                            <a:schemeClr val="bg1"/>
                          </a:solidFill>
                        </a:rPr>
                        <a:t>维度</a:t>
                      </a:r>
                    </a:p>
                  </a:txBody>
                  <a:tcPr marT="72000" marB="72000" anchor="ctr">
                    <a:lnL>
                      <a:noFill/>
                    </a:lnL>
                    <a:lnR>
                      <a:noFill/>
                    </a:lnR>
                    <a:lnT>
                      <a:noFill/>
                    </a:lnT>
                    <a:lnB>
                      <a:noFill/>
                    </a:lnB>
                    <a:solidFill>
                      <a:srgbClr val="0D8BB3"/>
                    </a:solidFill>
                  </a:tcPr>
                </a:tc>
                <a:tc>
                  <a:txBody>
                    <a:bodyPr/>
                    <a:lstStyle/>
                    <a:p>
                      <a:pPr algn="l">
                        <a:lnSpc>
                          <a:spcPct val="100000"/>
                        </a:lnSpc>
                        <a:spcBef>
                          <a:spcPts val="0"/>
                        </a:spcBef>
                        <a:spcAft>
                          <a:spcPts val="0"/>
                        </a:spcAft>
                        <a:buNone/>
                      </a:pPr>
                      <a:r>
                        <a:rPr lang="en-US" altLang="zh-CN" sz="1600" dirty="0">
                          <a:solidFill>
                            <a:schemeClr val="bg1"/>
                          </a:solidFill>
                        </a:rPr>
                        <a:t>RAM (</a:t>
                      </a:r>
                      <a:r>
                        <a:rPr lang="zh-CN" altLang="en-US" sz="1600" dirty="0">
                          <a:solidFill>
                            <a:schemeClr val="bg1"/>
                          </a:solidFill>
                        </a:rPr>
                        <a:t>责任分配矩阵</a:t>
                      </a:r>
                      <a:r>
                        <a:rPr lang="en-US" altLang="zh-CN" sz="1600" dirty="0">
                          <a:solidFill>
                            <a:schemeClr val="bg1"/>
                          </a:solidFill>
                        </a:rPr>
                        <a:t>)</a:t>
                      </a:r>
                    </a:p>
                  </a:txBody>
                  <a:tcPr marT="72000" marB="72000" anchor="ctr">
                    <a:lnL>
                      <a:noFill/>
                    </a:lnL>
                    <a:lnR>
                      <a:noFill/>
                    </a:lnR>
                    <a:lnT>
                      <a:noFill/>
                    </a:lnT>
                    <a:lnB>
                      <a:noFill/>
                    </a:lnB>
                    <a:solidFill>
                      <a:srgbClr val="0D8BB3"/>
                    </a:solidFill>
                  </a:tcPr>
                </a:tc>
                <a:tc>
                  <a:txBody>
                    <a:bodyPr/>
                    <a:lstStyle/>
                    <a:p>
                      <a:pPr algn="l">
                        <a:lnSpc>
                          <a:spcPct val="100000"/>
                        </a:lnSpc>
                        <a:spcBef>
                          <a:spcPts val="0"/>
                        </a:spcBef>
                        <a:spcAft>
                          <a:spcPts val="0"/>
                        </a:spcAft>
                        <a:buNone/>
                      </a:pPr>
                      <a:r>
                        <a:rPr lang="en-US" sz="1600" dirty="0">
                          <a:solidFill>
                            <a:schemeClr val="bg1"/>
                          </a:solidFill>
                        </a:rPr>
                        <a:t>RACI (</a:t>
                      </a:r>
                      <a:r>
                        <a:rPr lang="zh-CN" altLang="en-US" sz="1600" dirty="0">
                          <a:solidFill>
                            <a:schemeClr val="bg1"/>
                          </a:solidFill>
                        </a:rPr>
                        <a:t>具体模型</a:t>
                      </a:r>
                      <a:r>
                        <a:rPr lang="en-US" altLang="zh-CN" sz="1600" dirty="0">
                          <a:solidFill>
                            <a:schemeClr val="bg1"/>
                          </a:solidFill>
                        </a:rPr>
                        <a:t>)</a:t>
                      </a:r>
                    </a:p>
                  </a:txBody>
                  <a:tcPr marT="72000" marB="72000" anchor="ctr">
                    <a:lnL>
                      <a:noFill/>
                    </a:lnL>
                    <a:lnR>
                      <a:noFill/>
                    </a:lnR>
                    <a:lnT>
                      <a:noFill/>
                    </a:lnT>
                    <a:lnB>
                      <a:noFill/>
                    </a:lnB>
                    <a:solidFill>
                      <a:srgbClr val="0D8BB3"/>
                    </a:solidFill>
                  </a:tcPr>
                </a:tc>
                <a:extLst>
                  <a:ext uri="{0D108BD9-81ED-4DB2-BD59-A6C34878D82A}">
                    <a16:rowId xmlns:a16="http://schemas.microsoft.com/office/drawing/2014/main" val="3633230737"/>
                  </a:ext>
                </a:extLst>
              </a:tr>
              <a:tr h="0">
                <a:tc>
                  <a:txBody>
                    <a:bodyPr/>
                    <a:lstStyle/>
                    <a:p>
                      <a:pPr algn="l">
                        <a:buNone/>
                      </a:pPr>
                      <a:r>
                        <a:rPr lang="zh-CN" altLang="en-US" sz="1600" dirty="0"/>
                        <a:t>定义</a:t>
                      </a:r>
                    </a:p>
                  </a:txBody>
                  <a:tcPr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zh-CN" altLang="en-US" sz="1600" dirty="0"/>
                        <a:t>广义的工具集</a:t>
                      </a:r>
                      <a:endParaRPr lang="en-US" altLang="zh-CN" sz="1600" dirty="0"/>
                    </a:p>
                    <a:p>
                      <a:pPr algn="l">
                        <a:buNone/>
                      </a:pPr>
                      <a:r>
                        <a:rPr lang="zh-CN" altLang="en-US" sz="1600" dirty="0"/>
                        <a:t>泛指所有将任务与人员对应的矩阵</a:t>
                      </a:r>
                    </a:p>
                  </a:txBody>
                  <a:tcPr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zh-CN" altLang="en-US" sz="1600" dirty="0"/>
                        <a:t>狭义的标准模型</a:t>
                      </a:r>
                      <a:endParaRPr lang="en-US" altLang="zh-CN" sz="1600" dirty="0"/>
                    </a:p>
                    <a:p>
                      <a:pPr algn="l">
                        <a:buNone/>
                      </a:pPr>
                      <a:r>
                        <a:rPr lang="zh-CN" altLang="en-US" sz="1600" dirty="0"/>
                        <a:t>特指包含 </a:t>
                      </a:r>
                      <a:r>
                        <a:rPr lang="en-US" altLang="zh-CN" sz="1600" dirty="0"/>
                        <a:t>R</a:t>
                      </a:r>
                      <a:r>
                        <a:rPr lang="zh-CN" altLang="en-US" sz="1600" dirty="0"/>
                        <a:t>、</a:t>
                      </a:r>
                      <a:r>
                        <a:rPr lang="en-US" altLang="zh-CN" sz="1600" dirty="0"/>
                        <a:t>A</a:t>
                      </a:r>
                      <a:r>
                        <a:rPr lang="zh-CN" altLang="en-US" sz="1600" dirty="0"/>
                        <a:t>、</a:t>
                      </a:r>
                      <a:r>
                        <a:rPr lang="en-US" altLang="zh-CN" sz="1600" dirty="0"/>
                        <a:t>C</a:t>
                      </a:r>
                      <a:r>
                        <a:rPr lang="zh-CN" altLang="en-US" sz="1600" dirty="0"/>
                        <a:t>、</a:t>
                      </a:r>
                      <a:r>
                        <a:rPr lang="en-US" altLang="zh-CN" sz="1600" dirty="0"/>
                        <a:t>I </a:t>
                      </a:r>
                      <a:r>
                        <a:rPr lang="zh-CN" altLang="en-US" sz="1600" dirty="0"/>
                        <a:t>四种角色的矩阵</a:t>
                      </a:r>
                    </a:p>
                  </a:txBody>
                  <a:tcPr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46112528"/>
                  </a:ext>
                </a:extLst>
              </a:tr>
              <a:tr h="0">
                <a:tc>
                  <a:txBody>
                    <a:bodyPr/>
                    <a:lstStyle/>
                    <a:p>
                      <a:pPr algn="l">
                        <a:buNone/>
                      </a:pPr>
                      <a:r>
                        <a:rPr lang="zh-CN" altLang="en-US" sz="1600" dirty="0"/>
                        <a:t>结构</a:t>
                      </a:r>
                    </a:p>
                  </a:txBody>
                  <a:tcPr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zh-CN" altLang="en-US" sz="1600" dirty="0"/>
                        <a:t>灵活多变</a:t>
                      </a:r>
                      <a:endParaRPr lang="en-US" altLang="zh-CN" sz="1600" dirty="0"/>
                    </a:p>
                    <a:p>
                      <a:pPr algn="l">
                        <a:buNone/>
                      </a:pPr>
                      <a:r>
                        <a:rPr lang="zh-CN" altLang="en-US" sz="1600" dirty="0"/>
                        <a:t>可以根据项目需求自定义字母或角色（如 </a:t>
                      </a:r>
                      <a:r>
                        <a:rPr lang="en-US" sz="1600" dirty="0"/>
                        <a:t>RASCI, PACSI </a:t>
                      </a:r>
                      <a:r>
                        <a:rPr lang="zh-CN" altLang="en-US" sz="1600" dirty="0"/>
                        <a:t>等）</a:t>
                      </a:r>
                    </a:p>
                  </a:txBody>
                  <a:tcPr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zh-CN" altLang="en-US" sz="1600" dirty="0"/>
                        <a:t>固定结构</a:t>
                      </a:r>
                      <a:endParaRPr lang="en-US" altLang="zh-CN" sz="1600" dirty="0"/>
                    </a:p>
                    <a:p>
                      <a:pPr algn="l">
                        <a:buNone/>
                      </a:pPr>
                      <a:r>
                        <a:rPr lang="zh-CN" altLang="en-US" sz="1600" dirty="0"/>
                        <a:t>严格遵循 </a:t>
                      </a:r>
                      <a:r>
                        <a:rPr lang="en-US" altLang="zh-CN" sz="1600" dirty="0"/>
                        <a:t>R</a:t>
                      </a:r>
                      <a:r>
                        <a:rPr lang="zh-CN" altLang="en-US" sz="1600" dirty="0"/>
                        <a:t>、</a:t>
                      </a:r>
                      <a:r>
                        <a:rPr lang="en-US" altLang="zh-CN" sz="1600" dirty="0"/>
                        <a:t>A</a:t>
                      </a:r>
                      <a:r>
                        <a:rPr lang="zh-CN" altLang="en-US" sz="1600" dirty="0"/>
                        <a:t>、</a:t>
                      </a:r>
                      <a:r>
                        <a:rPr lang="en-US" altLang="zh-CN" sz="1600" dirty="0"/>
                        <a:t>C</a:t>
                      </a:r>
                      <a:r>
                        <a:rPr lang="zh-CN" altLang="en-US" sz="1600" dirty="0"/>
                        <a:t>、</a:t>
                      </a:r>
                      <a:r>
                        <a:rPr lang="en-US" altLang="zh-CN" sz="1600" dirty="0"/>
                        <a:t>I </a:t>
                      </a:r>
                      <a:r>
                        <a:rPr lang="zh-CN" altLang="en-US" sz="1600" dirty="0"/>
                        <a:t>四个维度的定义</a:t>
                      </a:r>
                    </a:p>
                  </a:txBody>
                  <a:tcPr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2561382"/>
                  </a:ext>
                </a:extLst>
              </a:tr>
              <a:tr h="0">
                <a:tc>
                  <a:txBody>
                    <a:bodyPr/>
                    <a:lstStyle/>
                    <a:p>
                      <a:pPr algn="l">
                        <a:buNone/>
                      </a:pPr>
                      <a:r>
                        <a:rPr lang="zh-CN" altLang="en-US" sz="1600" dirty="0"/>
                        <a:t>侧点</a:t>
                      </a:r>
                    </a:p>
                  </a:txBody>
                  <a:tcPr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zh-CN" altLang="en-US" sz="1600" dirty="0"/>
                        <a:t>侧重于可视化任务分配</a:t>
                      </a:r>
                      <a:endParaRPr lang="en-US" altLang="zh-CN" sz="1600" dirty="0"/>
                    </a:p>
                    <a:p>
                      <a:pPr algn="l">
                        <a:buNone/>
                      </a:pPr>
                      <a:r>
                        <a:rPr lang="zh-CN" altLang="en-US" sz="1600" dirty="0"/>
                        <a:t>展示“谁做什么”</a:t>
                      </a:r>
                    </a:p>
                  </a:txBody>
                  <a:tcPr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zh-CN" altLang="en-US" sz="1600" dirty="0"/>
                        <a:t>侧重于厘清权责边界</a:t>
                      </a:r>
                      <a:endParaRPr lang="en-US" altLang="zh-CN" sz="1600" dirty="0"/>
                    </a:p>
                    <a:p>
                      <a:pPr algn="l">
                        <a:buNone/>
                      </a:pPr>
                      <a:r>
                        <a:rPr lang="zh-CN" altLang="en-US" sz="1600" dirty="0"/>
                        <a:t>特别是区分“谁干活</a:t>
                      </a:r>
                      <a:r>
                        <a:rPr lang="en-US" altLang="zh-CN" sz="1600" dirty="0"/>
                        <a:t>(R)”</a:t>
                      </a:r>
                      <a:r>
                        <a:rPr lang="zh-CN" altLang="en-US" sz="1600" dirty="0"/>
                        <a:t>和“谁拍板</a:t>
                      </a:r>
                      <a:r>
                        <a:rPr lang="en-US" altLang="zh-CN" sz="1600" dirty="0"/>
                        <a:t>(A)”</a:t>
                      </a:r>
                      <a:endParaRPr lang="zh-CN" altLang="en-US" sz="1600" dirty="0"/>
                    </a:p>
                  </a:txBody>
                  <a:tcPr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2387752"/>
                  </a:ext>
                </a:extLst>
              </a:tr>
              <a:tr h="0">
                <a:tc>
                  <a:txBody>
                    <a:bodyPr/>
                    <a:lstStyle/>
                    <a:p>
                      <a:pPr algn="l">
                        <a:buNone/>
                      </a:pPr>
                      <a:r>
                        <a:rPr lang="zh-CN" altLang="en-US" sz="1600" dirty="0"/>
                        <a:t>场景</a:t>
                      </a:r>
                    </a:p>
                  </a:txBody>
                  <a:tcPr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zh-CN" altLang="en-US" sz="1600" dirty="0"/>
                        <a:t>适用于任何需要分配任务的项目场景</a:t>
                      </a:r>
                    </a:p>
                  </a:txBody>
                  <a:tcPr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zh-CN" altLang="en-US" sz="1600" dirty="0"/>
                        <a:t>适用于需要高度明确责任</a:t>
                      </a:r>
                      <a:endParaRPr lang="en-US" altLang="zh-CN" sz="1600" dirty="0"/>
                    </a:p>
                    <a:p>
                      <a:pPr algn="l">
                        <a:buNone/>
                      </a:pPr>
                      <a:r>
                        <a:rPr lang="zh-CN" altLang="en-US" sz="1600" dirty="0"/>
                        <a:t>避免推诿的复杂项目或跨部门协作</a:t>
                      </a:r>
                    </a:p>
                  </a:txBody>
                  <a:tcPr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19781856"/>
                  </a:ext>
                </a:extLst>
              </a:tr>
            </a:tbl>
          </a:graphicData>
        </a:graphic>
      </p:graphicFrame>
    </p:spTree>
    <p:extLst>
      <p:ext uri="{BB962C8B-B14F-4D97-AF65-F5344CB8AC3E}">
        <p14:creationId xmlns:p14="http://schemas.microsoft.com/office/powerpoint/2010/main" val="213442725"/>
      </p:ext>
    </p:extLst>
  </p:cSld>
  <p:clrMapOvr>
    <a:masterClrMapping/>
  </p:clrMapOvr>
</p:sld>
</file>

<file path=ppt/slides/slide3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3A66D8-DFC3-8B22-E43E-6F49408D04EC}"/>
              </a:ext>
            </a:extLst>
          </p:cNvPr>
          <p:cNvSpPr>
            <a:spLocks noGrp="1"/>
          </p:cNvSpPr>
          <p:nvPr>
            <p:ph type="title"/>
          </p:nvPr>
        </p:nvSpPr>
        <p:spPr>
          <a:xfrm>
            <a:off x="696000" y="360000"/>
            <a:ext cx="5400000" cy="429413"/>
          </a:xfrm>
        </p:spPr>
        <p:txBody>
          <a:bodyPr>
            <a:normAutofit/>
          </a:bodyPr>
          <a:lstStyle/>
          <a:p>
            <a:r>
              <a:rPr lang="zh-CN" altLang="en-US" dirty="0"/>
              <a:t>例：</a:t>
            </a:r>
            <a:r>
              <a:rPr lang="en-US" altLang="zh-CN" dirty="0"/>
              <a:t>RACI</a:t>
            </a:r>
            <a:endParaRPr lang="zh-CN" altLang="en-US" dirty="0"/>
          </a:p>
        </p:txBody>
      </p:sp>
      <p:graphicFrame>
        <p:nvGraphicFramePr>
          <p:cNvPr id="5" name="表格 4">
            <a:extLst>
              <a:ext uri="{FF2B5EF4-FFF2-40B4-BE49-F238E27FC236}">
                <a16:creationId xmlns:a16="http://schemas.microsoft.com/office/drawing/2014/main" id="{CEE7FE4E-AAAA-361D-9A1A-081C69003FEE}"/>
              </a:ext>
            </a:extLst>
          </p:cNvPr>
          <p:cNvGraphicFramePr>
            <a:graphicFrameLocks noGrp="1"/>
          </p:cNvGraphicFramePr>
          <p:nvPr>
            <p:extLst>
              <p:ext uri="{D42A27DB-BD31-4B8C-83A1-F6EECF244321}">
                <p14:modId xmlns:p14="http://schemas.microsoft.com/office/powerpoint/2010/main" val="3869023763"/>
              </p:ext>
            </p:extLst>
          </p:nvPr>
        </p:nvGraphicFramePr>
        <p:xfrm>
          <a:off x="696000" y="1578019"/>
          <a:ext cx="10800000" cy="4410490"/>
        </p:xfrm>
        <a:graphic>
          <a:graphicData uri="http://schemas.openxmlformats.org/drawingml/2006/table">
            <a:tbl>
              <a:tblPr/>
              <a:tblGrid>
                <a:gridCol w="2160000">
                  <a:extLst>
                    <a:ext uri="{9D8B030D-6E8A-4147-A177-3AD203B41FA5}">
                      <a16:colId xmlns:a16="http://schemas.microsoft.com/office/drawing/2014/main" val="1744870153"/>
                    </a:ext>
                  </a:extLst>
                </a:gridCol>
                <a:gridCol w="1440000">
                  <a:extLst>
                    <a:ext uri="{9D8B030D-6E8A-4147-A177-3AD203B41FA5}">
                      <a16:colId xmlns:a16="http://schemas.microsoft.com/office/drawing/2014/main" val="2436552622"/>
                    </a:ext>
                  </a:extLst>
                </a:gridCol>
                <a:gridCol w="1440000">
                  <a:extLst>
                    <a:ext uri="{9D8B030D-6E8A-4147-A177-3AD203B41FA5}">
                      <a16:colId xmlns:a16="http://schemas.microsoft.com/office/drawing/2014/main" val="1794939112"/>
                    </a:ext>
                  </a:extLst>
                </a:gridCol>
                <a:gridCol w="1440000">
                  <a:extLst>
                    <a:ext uri="{9D8B030D-6E8A-4147-A177-3AD203B41FA5}">
                      <a16:colId xmlns:a16="http://schemas.microsoft.com/office/drawing/2014/main" val="2040220523"/>
                    </a:ext>
                  </a:extLst>
                </a:gridCol>
                <a:gridCol w="1440000">
                  <a:extLst>
                    <a:ext uri="{9D8B030D-6E8A-4147-A177-3AD203B41FA5}">
                      <a16:colId xmlns:a16="http://schemas.microsoft.com/office/drawing/2014/main" val="2591671456"/>
                    </a:ext>
                  </a:extLst>
                </a:gridCol>
                <a:gridCol w="1440000">
                  <a:extLst>
                    <a:ext uri="{9D8B030D-6E8A-4147-A177-3AD203B41FA5}">
                      <a16:colId xmlns:a16="http://schemas.microsoft.com/office/drawing/2014/main" val="1290627736"/>
                    </a:ext>
                  </a:extLst>
                </a:gridCol>
                <a:gridCol w="1440000">
                  <a:extLst>
                    <a:ext uri="{9D8B030D-6E8A-4147-A177-3AD203B41FA5}">
                      <a16:colId xmlns:a16="http://schemas.microsoft.com/office/drawing/2014/main" val="943543246"/>
                    </a:ext>
                  </a:extLst>
                </a:gridCol>
              </a:tblGrid>
              <a:tr h="199881">
                <a:tc>
                  <a:txBody>
                    <a:bodyPr/>
                    <a:lstStyle/>
                    <a:p>
                      <a:pPr algn="l">
                        <a:buNone/>
                      </a:pPr>
                      <a:endParaRPr lang="en-US" altLang="zh-CN" sz="1400" dirty="0">
                        <a:solidFill>
                          <a:schemeClr val="bg1"/>
                        </a:solidFill>
                      </a:endParaRPr>
                    </a:p>
                  </a:txBody>
                  <a:tcPr marL="50950" marR="50950" marT="25475" marB="25475" anchor="ctr">
                    <a:lnL>
                      <a:noFill/>
                    </a:lnL>
                    <a:lnR>
                      <a:noFill/>
                    </a:lnR>
                    <a:lnT>
                      <a:noFill/>
                    </a:lnT>
                    <a:lnB>
                      <a:noFill/>
                    </a:lnB>
                    <a:solidFill>
                      <a:srgbClr val="0D8BB3"/>
                    </a:solidFill>
                  </a:tcPr>
                </a:tc>
                <a:tc>
                  <a:txBody>
                    <a:bodyPr/>
                    <a:lstStyle/>
                    <a:p>
                      <a:pPr algn="ctr">
                        <a:buNone/>
                      </a:pPr>
                      <a:r>
                        <a:rPr lang="en-US" sz="1400" dirty="0">
                          <a:solidFill>
                            <a:schemeClr val="bg1"/>
                          </a:solidFill>
                        </a:rPr>
                        <a:t>Maintenance Supervisor</a:t>
                      </a:r>
                    </a:p>
                    <a:p>
                      <a:pPr algn="ctr">
                        <a:buNone/>
                      </a:pPr>
                      <a:r>
                        <a:rPr lang="zh-CN" altLang="en-US" sz="1400" dirty="0">
                          <a:solidFill>
                            <a:schemeClr val="bg1"/>
                          </a:solidFill>
                        </a:rPr>
                        <a:t>维护主管</a:t>
                      </a:r>
                      <a:endParaRPr lang="en-US" altLang="zh-CN" sz="1400" dirty="0">
                        <a:solidFill>
                          <a:schemeClr val="bg1"/>
                        </a:solidFill>
                      </a:endParaRPr>
                    </a:p>
                  </a:txBody>
                  <a:tcPr marL="50950" marR="50950" marT="25475" marB="25475" anchor="ctr">
                    <a:lnL>
                      <a:noFill/>
                    </a:lnL>
                    <a:lnR>
                      <a:noFill/>
                    </a:lnR>
                    <a:lnT>
                      <a:noFill/>
                    </a:lnT>
                    <a:lnB>
                      <a:noFill/>
                    </a:lnB>
                    <a:solidFill>
                      <a:srgbClr val="0D8BB3"/>
                    </a:solidFill>
                  </a:tcPr>
                </a:tc>
                <a:tc>
                  <a:txBody>
                    <a:bodyPr/>
                    <a:lstStyle/>
                    <a:p>
                      <a:pPr algn="ctr">
                        <a:buNone/>
                      </a:pPr>
                      <a:r>
                        <a:rPr lang="en-US" sz="1400" dirty="0">
                          <a:solidFill>
                            <a:schemeClr val="bg1"/>
                          </a:solidFill>
                        </a:rPr>
                        <a:t>Maintenance Planner</a:t>
                      </a:r>
                    </a:p>
                    <a:p>
                      <a:pPr algn="ctr">
                        <a:buNone/>
                      </a:pPr>
                      <a:r>
                        <a:rPr lang="zh-CN" altLang="en-US" sz="1400" dirty="0">
                          <a:solidFill>
                            <a:schemeClr val="bg1"/>
                          </a:solidFill>
                        </a:rPr>
                        <a:t>维护计划员</a:t>
                      </a:r>
                      <a:endParaRPr lang="en-US" altLang="zh-CN" sz="1400" dirty="0">
                        <a:solidFill>
                          <a:schemeClr val="bg1"/>
                        </a:solidFill>
                      </a:endParaRPr>
                    </a:p>
                  </a:txBody>
                  <a:tcPr marL="50950" marR="50950" marT="25475" marB="25475" anchor="ctr">
                    <a:lnL>
                      <a:noFill/>
                    </a:lnL>
                    <a:lnR>
                      <a:noFill/>
                    </a:lnR>
                    <a:lnT>
                      <a:noFill/>
                    </a:lnT>
                    <a:lnB>
                      <a:noFill/>
                    </a:lnB>
                    <a:solidFill>
                      <a:srgbClr val="0D8BB3"/>
                    </a:solidFill>
                  </a:tcPr>
                </a:tc>
                <a:tc>
                  <a:txBody>
                    <a:bodyPr/>
                    <a:lstStyle/>
                    <a:p>
                      <a:pPr algn="ctr">
                        <a:buNone/>
                      </a:pPr>
                      <a:r>
                        <a:rPr lang="en-US" sz="1400" dirty="0">
                          <a:solidFill>
                            <a:schemeClr val="bg1"/>
                          </a:solidFill>
                        </a:rPr>
                        <a:t>Maintenance Technician</a:t>
                      </a:r>
                    </a:p>
                    <a:p>
                      <a:pPr algn="ctr">
                        <a:buNone/>
                      </a:pPr>
                      <a:r>
                        <a:rPr lang="zh-CN" altLang="en-US" sz="1400" dirty="0">
                          <a:solidFill>
                            <a:schemeClr val="bg1"/>
                          </a:solidFill>
                        </a:rPr>
                        <a:t>维护技术员</a:t>
                      </a:r>
                      <a:endParaRPr lang="en-US" altLang="zh-CN" sz="1400" dirty="0">
                        <a:solidFill>
                          <a:schemeClr val="bg1"/>
                        </a:solidFill>
                      </a:endParaRPr>
                    </a:p>
                  </a:txBody>
                  <a:tcPr marL="50950" marR="50950" marT="25475" marB="25475" anchor="ctr">
                    <a:lnL>
                      <a:noFill/>
                    </a:lnL>
                    <a:lnR>
                      <a:noFill/>
                    </a:lnR>
                    <a:lnT>
                      <a:noFill/>
                    </a:lnT>
                    <a:lnB>
                      <a:noFill/>
                    </a:lnB>
                    <a:solidFill>
                      <a:srgbClr val="0D8BB3"/>
                    </a:solidFill>
                  </a:tcPr>
                </a:tc>
                <a:tc>
                  <a:txBody>
                    <a:bodyPr/>
                    <a:lstStyle/>
                    <a:p>
                      <a:pPr algn="ctr">
                        <a:buNone/>
                      </a:pPr>
                      <a:r>
                        <a:rPr lang="en-US" sz="1400" dirty="0">
                          <a:solidFill>
                            <a:schemeClr val="bg1"/>
                          </a:solidFill>
                        </a:rPr>
                        <a:t>Maintenance Manager</a:t>
                      </a:r>
                    </a:p>
                    <a:p>
                      <a:pPr algn="ctr">
                        <a:buNone/>
                      </a:pPr>
                      <a:r>
                        <a:rPr lang="zh-CN" altLang="en-US" sz="1400" dirty="0">
                          <a:solidFill>
                            <a:schemeClr val="bg1"/>
                          </a:solidFill>
                        </a:rPr>
                        <a:t>维护经理</a:t>
                      </a:r>
                      <a:endParaRPr lang="en-US" altLang="zh-CN" sz="1400" dirty="0">
                        <a:solidFill>
                          <a:schemeClr val="bg1"/>
                        </a:solidFill>
                      </a:endParaRPr>
                    </a:p>
                  </a:txBody>
                  <a:tcPr marL="50950" marR="50950" marT="25475" marB="25475" anchor="ctr">
                    <a:lnL>
                      <a:noFill/>
                    </a:lnL>
                    <a:lnR>
                      <a:noFill/>
                    </a:lnR>
                    <a:lnT>
                      <a:noFill/>
                    </a:lnT>
                    <a:lnB>
                      <a:noFill/>
                    </a:lnB>
                    <a:solidFill>
                      <a:srgbClr val="0D8BB3"/>
                    </a:solidFill>
                  </a:tcPr>
                </a:tc>
                <a:tc>
                  <a:txBody>
                    <a:bodyPr/>
                    <a:lstStyle/>
                    <a:p>
                      <a:pPr algn="ctr">
                        <a:buNone/>
                      </a:pPr>
                      <a:r>
                        <a:rPr lang="en-US" sz="1400" dirty="0">
                          <a:solidFill>
                            <a:schemeClr val="bg1"/>
                          </a:solidFill>
                        </a:rPr>
                        <a:t>Storeroom Manager</a:t>
                      </a:r>
                    </a:p>
                    <a:p>
                      <a:pPr algn="ctr">
                        <a:buNone/>
                      </a:pPr>
                      <a:r>
                        <a:rPr lang="zh-CN" altLang="en-US" sz="1400" dirty="0">
                          <a:solidFill>
                            <a:schemeClr val="bg1"/>
                          </a:solidFill>
                        </a:rPr>
                        <a:t>仓库经理</a:t>
                      </a:r>
                      <a:endParaRPr lang="en-US" altLang="zh-CN" sz="1400" dirty="0">
                        <a:solidFill>
                          <a:schemeClr val="bg1"/>
                        </a:solidFill>
                      </a:endParaRPr>
                    </a:p>
                  </a:txBody>
                  <a:tcPr marL="50950" marR="50950" marT="25475" marB="25475" anchor="ctr">
                    <a:lnL>
                      <a:noFill/>
                    </a:lnL>
                    <a:lnR>
                      <a:noFill/>
                    </a:lnR>
                    <a:lnT>
                      <a:noFill/>
                    </a:lnT>
                    <a:lnB>
                      <a:noFill/>
                    </a:lnB>
                    <a:solidFill>
                      <a:srgbClr val="0D8BB3"/>
                    </a:solidFill>
                  </a:tcPr>
                </a:tc>
                <a:tc>
                  <a:txBody>
                    <a:bodyPr/>
                    <a:lstStyle/>
                    <a:p>
                      <a:pPr algn="ctr">
                        <a:buNone/>
                      </a:pPr>
                      <a:r>
                        <a:rPr lang="en-US" sz="1400" dirty="0">
                          <a:solidFill>
                            <a:schemeClr val="bg1"/>
                          </a:solidFill>
                        </a:rPr>
                        <a:t>Purchasing Agent</a:t>
                      </a:r>
                    </a:p>
                    <a:p>
                      <a:pPr algn="ctr">
                        <a:buNone/>
                      </a:pPr>
                      <a:r>
                        <a:rPr lang="zh-CN" altLang="en-US" sz="1400" dirty="0">
                          <a:solidFill>
                            <a:schemeClr val="bg1"/>
                          </a:solidFill>
                        </a:rPr>
                        <a:t>采购代理</a:t>
                      </a:r>
                      <a:endParaRPr lang="en-US" altLang="zh-CN" sz="1400" dirty="0">
                        <a:solidFill>
                          <a:schemeClr val="bg1"/>
                        </a:solidFill>
                      </a:endParaRPr>
                    </a:p>
                  </a:txBody>
                  <a:tcPr marL="50950" marR="50950" marT="25475" marB="25475" anchor="ctr">
                    <a:lnL>
                      <a:noFill/>
                    </a:lnL>
                    <a:lnR>
                      <a:noFill/>
                    </a:lnR>
                    <a:lnT>
                      <a:noFill/>
                    </a:lnT>
                    <a:lnB>
                      <a:noFill/>
                    </a:lnB>
                    <a:solidFill>
                      <a:srgbClr val="0D8BB3"/>
                    </a:solidFill>
                  </a:tcPr>
                </a:tc>
                <a:extLst>
                  <a:ext uri="{0D108BD9-81ED-4DB2-BD59-A6C34878D82A}">
                    <a16:rowId xmlns:a16="http://schemas.microsoft.com/office/drawing/2014/main" val="2317357475"/>
                  </a:ext>
                </a:extLst>
              </a:tr>
              <a:tr h="246008">
                <a:tc>
                  <a:txBody>
                    <a:bodyPr/>
                    <a:lstStyle/>
                    <a:p>
                      <a:pPr algn="l">
                        <a:buNone/>
                      </a:pPr>
                      <a:r>
                        <a:rPr lang="en-US" sz="1400" dirty="0"/>
                        <a:t>Develop Job Plan Template</a:t>
                      </a:r>
                      <a:br>
                        <a:rPr lang="en-US" sz="1400" dirty="0"/>
                      </a:br>
                      <a:r>
                        <a:rPr lang="zh-CN" altLang="en-US" sz="1400" dirty="0"/>
                        <a:t>开发工作计划模板</a:t>
                      </a:r>
                      <a:endParaRPr lang="en-US" altLang="zh-CN" sz="1400" dirty="0"/>
                    </a:p>
                  </a:txBody>
                  <a:tcPr marL="50950" marR="50950" marT="25475" marB="25475"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a:buNone/>
                      </a:pPr>
                      <a:r>
                        <a:rPr lang="en-US" sz="1400" dirty="0"/>
                        <a:t>C</a:t>
                      </a:r>
                    </a:p>
                  </a:txBody>
                  <a:tcPr marL="50950" marR="50950" marT="25475" marB="25475"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a:buNone/>
                      </a:pPr>
                      <a:r>
                        <a:rPr lang="en-US" sz="1400" dirty="0"/>
                        <a:t>A/R</a:t>
                      </a:r>
                    </a:p>
                  </a:txBody>
                  <a:tcPr marL="50950" marR="50950" marT="25475" marB="25475"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a:buNone/>
                      </a:pPr>
                      <a:r>
                        <a:rPr lang="en-US" sz="1400" dirty="0"/>
                        <a:t>C</a:t>
                      </a:r>
                    </a:p>
                  </a:txBody>
                  <a:tcPr marL="50950" marR="50950" marT="25475" marB="25475"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a:buNone/>
                      </a:pPr>
                      <a:r>
                        <a:rPr lang="en-US" sz="1400" dirty="0"/>
                        <a:t>I</a:t>
                      </a:r>
                    </a:p>
                  </a:txBody>
                  <a:tcPr marL="50950" marR="50950" marT="25475" marB="25475"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a:buNone/>
                      </a:pPr>
                      <a:r>
                        <a:rPr lang="en-US" sz="1400" dirty="0"/>
                        <a:t>I</a:t>
                      </a:r>
                    </a:p>
                  </a:txBody>
                  <a:tcPr marL="50950" marR="50950" marT="25475" marB="25475"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a:buNone/>
                      </a:pPr>
                      <a:endParaRPr lang="zh-CN" altLang="en-US" sz="1400" dirty="0"/>
                    </a:p>
                  </a:txBody>
                  <a:tcPr marL="50950" marR="50950" marT="25475" marB="25475" anchor="ctr">
                    <a:lnL>
                      <a:noFill/>
                    </a:lnL>
                    <a:lnR>
                      <a:noFill/>
                    </a:lnR>
                    <a:lnT>
                      <a:noFill/>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11093767"/>
                  </a:ext>
                </a:extLst>
              </a:tr>
              <a:tr h="338261">
                <a:tc>
                  <a:txBody>
                    <a:bodyPr/>
                    <a:lstStyle/>
                    <a:p>
                      <a:pPr algn="l">
                        <a:buNone/>
                      </a:pPr>
                      <a:r>
                        <a:rPr lang="en-US" sz="1400" dirty="0"/>
                        <a:t>Develop Job Plan for Specific Jobs</a:t>
                      </a:r>
                      <a:br>
                        <a:rPr lang="en-US" sz="1400" dirty="0"/>
                      </a:br>
                      <a:r>
                        <a:rPr lang="zh-CN" altLang="en-US" sz="1400" dirty="0"/>
                        <a:t>为特定工作开发工作计划</a:t>
                      </a:r>
                      <a:endParaRPr lang="en-US" altLang="zh-CN" sz="1400" dirty="0"/>
                    </a:p>
                  </a:txBody>
                  <a:tcPr marL="50950" marR="50950" marT="25475" marB="25475"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en-US" sz="1400" dirty="0"/>
                        <a:t>C</a:t>
                      </a:r>
                    </a:p>
                  </a:txBody>
                  <a:tcPr marL="50950" marR="50950" marT="25475" marB="25475"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en-US" sz="1400" dirty="0"/>
                        <a:t>A</a:t>
                      </a:r>
                    </a:p>
                  </a:txBody>
                  <a:tcPr marL="50950" marR="50950" marT="25475" marB="25475"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en-US" sz="1400" dirty="0"/>
                        <a:t>R</a:t>
                      </a:r>
                    </a:p>
                  </a:txBody>
                  <a:tcPr marL="50950" marR="50950" marT="25475" marB="25475"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endParaRPr lang="zh-CN" altLang="en-US" sz="1400" dirty="0"/>
                    </a:p>
                  </a:txBody>
                  <a:tcPr marL="50950" marR="50950" marT="25475" marB="25475"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en-US" sz="1400" dirty="0"/>
                        <a:t>I</a:t>
                      </a:r>
                    </a:p>
                  </a:txBody>
                  <a:tcPr marL="50950" marR="50950" marT="25475" marB="25475"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endParaRPr lang="zh-CN" altLang="en-US" sz="1400" dirty="0"/>
                    </a:p>
                  </a:txBody>
                  <a:tcPr marL="50950" marR="50950" marT="25475" marB="25475"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9216592"/>
                  </a:ext>
                </a:extLst>
              </a:tr>
              <a:tr h="292134">
                <a:tc>
                  <a:txBody>
                    <a:bodyPr/>
                    <a:lstStyle/>
                    <a:p>
                      <a:pPr algn="l">
                        <a:buNone/>
                      </a:pPr>
                      <a:r>
                        <a:rPr lang="en-US" sz="1400" dirty="0"/>
                        <a:t>Develop Library of Info for Planning</a:t>
                      </a:r>
                      <a:br>
                        <a:rPr lang="en-US" sz="1400" dirty="0"/>
                      </a:br>
                      <a:r>
                        <a:rPr lang="zh-CN" altLang="en-US" sz="1400" dirty="0"/>
                        <a:t>开发规划信息库</a:t>
                      </a:r>
                      <a:endParaRPr lang="en-US" altLang="zh-CN" sz="1400" dirty="0"/>
                    </a:p>
                  </a:txBody>
                  <a:tcPr marL="50950" marR="50950" marT="25475" marB="25475"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en-US" sz="1400" dirty="0"/>
                        <a:t>R</a:t>
                      </a:r>
                    </a:p>
                  </a:txBody>
                  <a:tcPr marL="50950" marR="50950" marT="25475" marB="25475"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en-US" sz="1400" dirty="0"/>
                        <a:t>R</a:t>
                      </a:r>
                    </a:p>
                  </a:txBody>
                  <a:tcPr marL="50950" marR="50950" marT="25475" marB="25475"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en-US" sz="1400" dirty="0"/>
                        <a:t>C</a:t>
                      </a:r>
                    </a:p>
                  </a:txBody>
                  <a:tcPr marL="50950" marR="50950" marT="25475" marB="25475"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en-US" sz="1400" dirty="0"/>
                        <a:t>A</a:t>
                      </a:r>
                    </a:p>
                  </a:txBody>
                  <a:tcPr marL="50950" marR="50950" marT="25475" marB="25475"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en-US" sz="1400" dirty="0"/>
                        <a:t>R</a:t>
                      </a:r>
                    </a:p>
                  </a:txBody>
                  <a:tcPr marL="50950" marR="50950" marT="25475" marB="25475"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en-US" sz="1400" dirty="0"/>
                        <a:t>R</a:t>
                      </a:r>
                    </a:p>
                  </a:txBody>
                  <a:tcPr marL="50950" marR="50950" marT="25475" marB="25475"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4270139"/>
                  </a:ext>
                </a:extLst>
              </a:tr>
              <a:tr h="246008">
                <a:tc>
                  <a:txBody>
                    <a:bodyPr/>
                    <a:lstStyle/>
                    <a:p>
                      <a:pPr algn="l">
                        <a:buNone/>
                      </a:pPr>
                      <a:r>
                        <a:rPr lang="en-US" sz="1400" dirty="0"/>
                        <a:t>Keep Prints Updated and Secure</a:t>
                      </a:r>
                      <a:br>
                        <a:rPr lang="en-US" sz="1400" dirty="0"/>
                      </a:br>
                      <a:r>
                        <a:rPr lang="zh-CN" altLang="en-US" sz="1400" dirty="0"/>
                        <a:t>保持图纸更新和安全</a:t>
                      </a:r>
                      <a:endParaRPr lang="en-US" altLang="zh-CN" sz="1400" dirty="0"/>
                    </a:p>
                  </a:txBody>
                  <a:tcPr marL="50950" marR="50950" marT="25475" marB="25475"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en-US" sz="1400" dirty="0"/>
                        <a:t>A</a:t>
                      </a:r>
                    </a:p>
                  </a:txBody>
                  <a:tcPr marL="50950" marR="50950" marT="25475" marB="25475"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en-US" sz="1400" dirty="0"/>
                        <a:t>C</a:t>
                      </a:r>
                    </a:p>
                  </a:txBody>
                  <a:tcPr marL="50950" marR="50950" marT="25475" marB="25475"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en-US" sz="1400" dirty="0"/>
                        <a:t>R</a:t>
                      </a:r>
                    </a:p>
                  </a:txBody>
                  <a:tcPr marL="50950" marR="50950" marT="25475" marB="25475"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en-US" sz="1400" dirty="0"/>
                        <a:t>I</a:t>
                      </a:r>
                    </a:p>
                  </a:txBody>
                  <a:tcPr marL="50950" marR="50950" marT="25475" marB="25475"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en-US" sz="1400" dirty="0"/>
                        <a:t>I</a:t>
                      </a:r>
                    </a:p>
                  </a:txBody>
                  <a:tcPr marL="50950" marR="50950" marT="25475" marB="25475"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en-US" sz="1400" dirty="0"/>
                        <a:t>I</a:t>
                      </a:r>
                    </a:p>
                  </a:txBody>
                  <a:tcPr marL="50950" marR="50950" marT="25475" marB="25475"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18535089"/>
                  </a:ext>
                </a:extLst>
              </a:tr>
              <a:tr h="199881">
                <a:tc>
                  <a:txBody>
                    <a:bodyPr/>
                    <a:lstStyle/>
                    <a:p>
                      <a:pPr algn="l">
                        <a:buNone/>
                      </a:pPr>
                      <a:r>
                        <a:rPr lang="en-US" sz="1400" dirty="0"/>
                        <a:t>Stage Kitted Parts</a:t>
                      </a:r>
                      <a:br>
                        <a:rPr lang="en-US" sz="1400" dirty="0"/>
                      </a:br>
                      <a:r>
                        <a:rPr lang="zh-CN" altLang="en-US" sz="1400" dirty="0"/>
                        <a:t>成套零件的分阶段准备</a:t>
                      </a:r>
                      <a:endParaRPr lang="en-US" altLang="zh-CN" sz="1400" dirty="0"/>
                    </a:p>
                  </a:txBody>
                  <a:tcPr marL="50950" marR="50950" marT="25475" marB="25475"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en-US" sz="1400" dirty="0"/>
                        <a:t>C</a:t>
                      </a:r>
                    </a:p>
                  </a:txBody>
                  <a:tcPr marL="50950" marR="50950" marT="25475" marB="25475"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en-US" sz="1400" dirty="0"/>
                        <a:t>R</a:t>
                      </a:r>
                    </a:p>
                  </a:txBody>
                  <a:tcPr marL="50950" marR="50950" marT="25475" marB="25475"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en-US" sz="1400" dirty="0"/>
                        <a:t>C</a:t>
                      </a:r>
                    </a:p>
                  </a:txBody>
                  <a:tcPr marL="50950" marR="50950" marT="25475" marB="25475"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endParaRPr lang="zh-CN" altLang="en-US" sz="1400" dirty="0"/>
                    </a:p>
                  </a:txBody>
                  <a:tcPr marL="50950" marR="50950" marT="25475" marB="25475"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en-US" sz="1400" dirty="0"/>
                        <a:t>A</a:t>
                      </a:r>
                    </a:p>
                  </a:txBody>
                  <a:tcPr marL="50950" marR="50950" marT="25475" marB="25475"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endParaRPr lang="zh-CN" altLang="en-US" sz="1400" dirty="0"/>
                    </a:p>
                  </a:txBody>
                  <a:tcPr marL="50950" marR="50950" marT="25475" marB="25475"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95152844"/>
                  </a:ext>
                </a:extLst>
              </a:tr>
              <a:tr h="116556">
                <a:tc>
                  <a:txBody>
                    <a:bodyPr/>
                    <a:lstStyle/>
                    <a:p>
                      <a:pPr algn="l">
                        <a:buNone/>
                      </a:pPr>
                      <a:r>
                        <a:rPr lang="en-US" sz="1400" dirty="0"/>
                        <a:t>Order Parts</a:t>
                      </a:r>
                    </a:p>
                    <a:p>
                      <a:pPr algn="l">
                        <a:buNone/>
                      </a:pPr>
                      <a:r>
                        <a:rPr lang="zh-CN" altLang="en-US" sz="1400" dirty="0"/>
                        <a:t>订购零件</a:t>
                      </a:r>
                      <a:endParaRPr lang="en-US" altLang="zh-CN" sz="1400" dirty="0"/>
                    </a:p>
                  </a:txBody>
                  <a:tcPr marL="50950" marR="50950" marT="25475" marB="25475"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endParaRPr lang="zh-CN" altLang="en-US" sz="1400" dirty="0"/>
                    </a:p>
                  </a:txBody>
                  <a:tcPr marL="50950" marR="50950" marT="25475" marB="25475"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en-US" sz="1400" dirty="0"/>
                        <a:t>R</a:t>
                      </a:r>
                    </a:p>
                  </a:txBody>
                  <a:tcPr marL="50950" marR="50950" marT="25475" marB="25475"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endParaRPr lang="zh-CN" altLang="en-US" sz="1400" dirty="0"/>
                    </a:p>
                  </a:txBody>
                  <a:tcPr marL="50950" marR="50950" marT="25475" marB="25475"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endParaRPr lang="zh-CN" altLang="en-US" sz="1400" dirty="0"/>
                    </a:p>
                  </a:txBody>
                  <a:tcPr marL="50950" marR="50950" marT="25475" marB="25475"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en-US" sz="1400" dirty="0"/>
                        <a:t>I</a:t>
                      </a:r>
                    </a:p>
                  </a:txBody>
                  <a:tcPr marL="50950" marR="50950" marT="25475" marB="25475"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en-US" sz="1400" dirty="0"/>
                        <a:t>A</a:t>
                      </a:r>
                    </a:p>
                  </a:txBody>
                  <a:tcPr marL="50950" marR="50950" marT="25475" marB="25475"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22989868"/>
                  </a:ext>
                </a:extLst>
              </a:tr>
            </a:tbl>
          </a:graphicData>
        </a:graphic>
      </p:graphicFrame>
      <p:grpSp>
        <p:nvGrpSpPr>
          <p:cNvPr id="53" name="组合 52">
            <a:extLst>
              <a:ext uri="{FF2B5EF4-FFF2-40B4-BE49-F238E27FC236}">
                <a16:creationId xmlns:a16="http://schemas.microsoft.com/office/drawing/2014/main" id="{8CD3C2FA-1248-1D0F-12EA-A9BC26CA0D45}"/>
              </a:ext>
            </a:extLst>
          </p:cNvPr>
          <p:cNvGrpSpPr/>
          <p:nvPr/>
        </p:nvGrpSpPr>
        <p:grpSpPr>
          <a:xfrm>
            <a:off x="10861440" y="83639"/>
            <a:ext cx="1330560" cy="1146490"/>
            <a:chOff x="10600382" y="213872"/>
            <a:chExt cx="1330560" cy="1146490"/>
          </a:xfrm>
        </p:grpSpPr>
        <p:grpSp>
          <p:nvGrpSpPr>
            <p:cNvPr id="49" name="组合 48">
              <a:extLst>
                <a:ext uri="{FF2B5EF4-FFF2-40B4-BE49-F238E27FC236}">
                  <a16:creationId xmlns:a16="http://schemas.microsoft.com/office/drawing/2014/main" id="{C022331F-04FA-0933-9E6F-7CFCD72D461E}"/>
                </a:ext>
              </a:extLst>
            </p:cNvPr>
            <p:cNvGrpSpPr/>
            <p:nvPr/>
          </p:nvGrpSpPr>
          <p:grpSpPr>
            <a:xfrm>
              <a:off x="10600382" y="213872"/>
              <a:ext cx="1290070" cy="276999"/>
              <a:chOff x="10400391" y="5747971"/>
              <a:chExt cx="1290070" cy="276999"/>
            </a:xfrm>
          </p:grpSpPr>
          <p:sp>
            <p:nvSpPr>
              <p:cNvPr id="7" name="椭圆 6">
                <a:extLst>
                  <a:ext uri="{FF2B5EF4-FFF2-40B4-BE49-F238E27FC236}">
                    <a16:creationId xmlns:a16="http://schemas.microsoft.com/office/drawing/2014/main" id="{29FC202A-2972-058E-E8A0-79DD6994F6E9}"/>
                  </a:ext>
                </a:extLst>
              </p:cNvPr>
              <p:cNvSpPr/>
              <p:nvPr/>
            </p:nvSpPr>
            <p:spPr>
              <a:xfrm>
                <a:off x="10400391" y="5778470"/>
                <a:ext cx="216000" cy="216000"/>
              </a:xfrm>
              <a:prstGeom prst="ellipse">
                <a:avLst/>
              </a:prstGeom>
              <a:solidFill>
                <a:srgbClr val="EFAA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rPr>
                  <a:t>R</a:t>
                </a:r>
                <a:endParaRPr lang="zh-CN" altLang="en-US" sz="1200" dirty="0">
                  <a:solidFill>
                    <a:schemeClr val="bg1"/>
                  </a:solidFill>
                </a:endParaRPr>
              </a:p>
            </p:txBody>
          </p:sp>
          <p:sp>
            <p:nvSpPr>
              <p:cNvPr id="12" name="文本框 11">
                <a:extLst>
                  <a:ext uri="{FF2B5EF4-FFF2-40B4-BE49-F238E27FC236}">
                    <a16:creationId xmlns:a16="http://schemas.microsoft.com/office/drawing/2014/main" id="{E70DC665-34B3-BAF5-5E31-13194842B810}"/>
                  </a:ext>
                </a:extLst>
              </p:cNvPr>
              <p:cNvSpPr txBox="1"/>
              <p:nvPr/>
            </p:nvSpPr>
            <p:spPr>
              <a:xfrm>
                <a:off x="10566435" y="5747971"/>
                <a:ext cx="1124026" cy="276999"/>
              </a:xfrm>
              <a:prstGeom prst="rect">
                <a:avLst/>
              </a:prstGeom>
              <a:noFill/>
            </p:spPr>
            <p:txBody>
              <a:bodyPr wrap="none" rtlCol="0">
                <a:spAutoFit/>
              </a:bodyPr>
              <a:lstStyle/>
              <a:p>
                <a:pPr algn="l"/>
                <a:r>
                  <a:rPr lang="en-US" altLang="zh-CN" sz="1200" dirty="0"/>
                  <a:t>Responsible</a:t>
                </a:r>
                <a:endParaRPr lang="zh-CN" altLang="en-US" sz="1200" dirty="0"/>
              </a:p>
            </p:txBody>
          </p:sp>
        </p:grpSp>
        <p:grpSp>
          <p:nvGrpSpPr>
            <p:cNvPr id="50" name="组合 49">
              <a:extLst>
                <a:ext uri="{FF2B5EF4-FFF2-40B4-BE49-F238E27FC236}">
                  <a16:creationId xmlns:a16="http://schemas.microsoft.com/office/drawing/2014/main" id="{D1955B5F-5597-6EFE-53EC-40F36C983DC9}"/>
                </a:ext>
              </a:extLst>
            </p:cNvPr>
            <p:cNvGrpSpPr/>
            <p:nvPr/>
          </p:nvGrpSpPr>
          <p:grpSpPr>
            <a:xfrm>
              <a:off x="10600382" y="503702"/>
              <a:ext cx="1330560" cy="276999"/>
              <a:chOff x="10400391" y="6037801"/>
              <a:chExt cx="1330560" cy="276999"/>
            </a:xfrm>
          </p:grpSpPr>
          <p:sp>
            <p:nvSpPr>
              <p:cNvPr id="9" name="椭圆 8">
                <a:extLst>
                  <a:ext uri="{FF2B5EF4-FFF2-40B4-BE49-F238E27FC236}">
                    <a16:creationId xmlns:a16="http://schemas.microsoft.com/office/drawing/2014/main" id="{1AB2A44D-A5DD-5717-C1BE-DB332108C65B}"/>
                  </a:ext>
                </a:extLst>
              </p:cNvPr>
              <p:cNvSpPr/>
              <p:nvPr/>
            </p:nvSpPr>
            <p:spPr>
              <a:xfrm>
                <a:off x="10400391" y="6068300"/>
                <a:ext cx="216000" cy="216000"/>
              </a:xfrm>
              <a:prstGeom prst="ellipse">
                <a:avLst/>
              </a:prstGeom>
              <a:solidFill>
                <a:srgbClr val="BF01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rPr>
                  <a:t>A</a:t>
                </a:r>
                <a:endParaRPr lang="zh-CN" altLang="en-US" sz="1200" dirty="0">
                  <a:solidFill>
                    <a:schemeClr val="bg1"/>
                  </a:solidFill>
                </a:endParaRPr>
              </a:p>
            </p:txBody>
          </p:sp>
          <p:sp>
            <p:nvSpPr>
              <p:cNvPr id="13" name="文本框 12">
                <a:extLst>
                  <a:ext uri="{FF2B5EF4-FFF2-40B4-BE49-F238E27FC236}">
                    <a16:creationId xmlns:a16="http://schemas.microsoft.com/office/drawing/2014/main" id="{620944D9-B248-6F8A-0CC4-84411D14FF70}"/>
                  </a:ext>
                </a:extLst>
              </p:cNvPr>
              <p:cNvSpPr txBox="1"/>
              <p:nvPr/>
            </p:nvSpPr>
            <p:spPr>
              <a:xfrm>
                <a:off x="10565247" y="6037801"/>
                <a:ext cx="1165704" cy="276999"/>
              </a:xfrm>
              <a:prstGeom prst="rect">
                <a:avLst/>
              </a:prstGeom>
              <a:noFill/>
            </p:spPr>
            <p:txBody>
              <a:bodyPr wrap="none" rtlCol="0">
                <a:spAutoFit/>
              </a:bodyPr>
              <a:lstStyle/>
              <a:p>
                <a:pPr algn="l"/>
                <a:r>
                  <a:rPr lang="en-US" altLang="zh-CN" sz="1200" dirty="0"/>
                  <a:t>Accountable</a:t>
                </a:r>
                <a:endParaRPr lang="zh-CN" altLang="en-US" sz="1200" dirty="0"/>
              </a:p>
            </p:txBody>
          </p:sp>
        </p:grpSp>
        <p:grpSp>
          <p:nvGrpSpPr>
            <p:cNvPr id="51" name="组合 50">
              <a:extLst>
                <a:ext uri="{FF2B5EF4-FFF2-40B4-BE49-F238E27FC236}">
                  <a16:creationId xmlns:a16="http://schemas.microsoft.com/office/drawing/2014/main" id="{30F0DE9B-A2F7-CF86-9429-E01DF0654274}"/>
                </a:ext>
              </a:extLst>
            </p:cNvPr>
            <p:cNvGrpSpPr/>
            <p:nvPr/>
          </p:nvGrpSpPr>
          <p:grpSpPr>
            <a:xfrm>
              <a:off x="10600382" y="793532"/>
              <a:ext cx="1139589" cy="276999"/>
              <a:chOff x="10400391" y="6327631"/>
              <a:chExt cx="1139589" cy="276999"/>
            </a:xfrm>
          </p:grpSpPr>
          <p:sp>
            <p:nvSpPr>
              <p:cNvPr id="10" name="椭圆 9">
                <a:extLst>
                  <a:ext uri="{FF2B5EF4-FFF2-40B4-BE49-F238E27FC236}">
                    <a16:creationId xmlns:a16="http://schemas.microsoft.com/office/drawing/2014/main" id="{3E21FE41-07D3-254D-70A5-D9697555D321}"/>
                  </a:ext>
                </a:extLst>
              </p:cNvPr>
              <p:cNvSpPr/>
              <p:nvPr/>
            </p:nvSpPr>
            <p:spPr>
              <a:xfrm>
                <a:off x="10400391" y="6358130"/>
                <a:ext cx="216000" cy="216000"/>
              </a:xfrm>
              <a:prstGeom prst="ellipse">
                <a:avLst/>
              </a:prstGeom>
              <a:solidFill>
                <a:srgbClr val="0D8B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rPr>
                  <a:t>C</a:t>
                </a:r>
                <a:endParaRPr lang="zh-CN" altLang="en-US" sz="1200" dirty="0">
                  <a:solidFill>
                    <a:schemeClr val="bg1"/>
                  </a:solidFill>
                </a:endParaRPr>
              </a:p>
            </p:txBody>
          </p:sp>
          <p:sp>
            <p:nvSpPr>
              <p:cNvPr id="14" name="文本框 13">
                <a:extLst>
                  <a:ext uri="{FF2B5EF4-FFF2-40B4-BE49-F238E27FC236}">
                    <a16:creationId xmlns:a16="http://schemas.microsoft.com/office/drawing/2014/main" id="{4208E667-7019-1140-479A-F4B2AB457E3D}"/>
                  </a:ext>
                </a:extLst>
              </p:cNvPr>
              <p:cNvSpPr txBox="1"/>
              <p:nvPr/>
            </p:nvSpPr>
            <p:spPr>
              <a:xfrm>
                <a:off x="10563431" y="6327631"/>
                <a:ext cx="976549" cy="276999"/>
              </a:xfrm>
              <a:prstGeom prst="rect">
                <a:avLst/>
              </a:prstGeom>
              <a:noFill/>
            </p:spPr>
            <p:txBody>
              <a:bodyPr wrap="none" rtlCol="0">
                <a:spAutoFit/>
              </a:bodyPr>
              <a:lstStyle/>
              <a:p>
                <a:pPr algn="l"/>
                <a:r>
                  <a:rPr lang="en-US" altLang="zh-CN" sz="1200" dirty="0"/>
                  <a:t>Consulted</a:t>
                </a:r>
                <a:endParaRPr lang="zh-CN" altLang="en-US" sz="1200" dirty="0"/>
              </a:p>
            </p:txBody>
          </p:sp>
        </p:grpSp>
        <p:grpSp>
          <p:nvGrpSpPr>
            <p:cNvPr id="52" name="组合 51">
              <a:extLst>
                <a:ext uri="{FF2B5EF4-FFF2-40B4-BE49-F238E27FC236}">
                  <a16:creationId xmlns:a16="http://schemas.microsoft.com/office/drawing/2014/main" id="{7F91117E-8C1A-8D83-CF9E-0C509A5765AF}"/>
                </a:ext>
              </a:extLst>
            </p:cNvPr>
            <p:cNvGrpSpPr/>
            <p:nvPr/>
          </p:nvGrpSpPr>
          <p:grpSpPr>
            <a:xfrm>
              <a:off x="10600382" y="1083363"/>
              <a:ext cx="1072061" cy="276999"/>
              <a:chOff x="10400391" y="6617462"/>
              <a:chExt cx="1072061" cy="276999"/>
            </a:xfrm>
          </p:grpSpPr>
          <p:sp>
            <p:nvSpPr>
              <p:cNvPr id="11" name="椭圆 10">
                <a:extLst>
                  <a:ext uri="{FF2B5EF4-FFF2-40B4-BE49-F238E27FC236}">
                    <a16:creationId xmlns:a16="http://schemas.microsoft.com/office/drawing/2014/main" id="{17E5B08C-1E18-4E40-C1A2-AF13C722F99E}"/>
                  </a:ext>
                </a:extLst>
              </p:cNvPr>
              <p:cNvSpPr/>
              <p:nvPr/>
            </p:nvSpPr>
            <p:spPr>
              <a:xfrm>
                <a:off x="10400391" y="6647961"/>
                <a:ext cx="216000" cy="216000"/>
              </a:xfrm>
              <a:prstGeom prst="ellipse">
                <a:avLst/>
              </a:prstGeom>
              <a:solidFill>
                <a:srgbClr val="89AE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rPr>
                  <a:t>I</a:t>
                </a:r>
                <a:endParaRPr lang="zh-CN" altLang="en-US" sz="1200" dirty="0">
                  <a:solidFill>
                    <a:schemeClr val="bg1"/>
                  </a:solidFill>
                </a:endParaRPr>
              </a:p>
            </p:txBody>
          </p:sp>
          <p:sp>
            <p:nvSpPr>
              <p:cNvPr id="15" name="文本框 14">
                <a:extLst>
                  <a:ext uri="{FF2B5EF4-FFF2-40B4-BE49-F238E27FC236}">
                    <a16:creationId xmlns:a16="http://schemas.microsoft.com/office/drawing/2014/main" id="{9C4AFAE1-3837-52C9-4199-29839FEE2FB5}"/>
                  </a:ext>
                </a:extLst>
              </p:cNvPr>
              <p:cNvSpPr txBox="1"/>
              <p:nvPr/>
            </p:nvSpPr>
            <p:spPr>
              <a:xfrm>
                <a:off x="10566435" y="6617462"/>
                <a:ext cx="906017" cy="276999"/>
              </a:xfrm>
              <a:prstGeom prst="rect">
                <a:avLst/>
              </a:prstGeom>
              <a:noFill/>
            </p:spPr>
            <p:txBody>
              <a:bodyPr wrap="none" rtlCol="0">
                <a:spAutoFit/>
              </a:bodyPr>
              <a:lstStyle/>
              <a:p>
                <a:pPr algn="l"/>
                <a:r>
                  <a:rPr lang="en-US" altLang="zh-CN" sz="1200" dirty="0"/>
                  <a:t>Informed</a:t>
                </a:r>
                <a:endParaRPr lang="zh-CN" altLang="en-US" sz="1200" dirty="0"/>
              </a:p>
            </p:txBody>
          </p:sp>
        </p:grpSp>
      </p:grpSp>
      <p:sp>
        <p:nvSpPr>
          <p:cNvPr id="20" name="椭圆 19">
            <a:extLst>
              <a:ext uri="{FF2B5EF4-FFF2-40B4-BE49-F238E27FC236}">
                <a16:creationId xmlns:a16="http://schemas.microsoft.com/office/drawing/2014/main" id="{DE028B60-6DBF-2F66-E5CF-48FCD9E484B0}"/>
              </a:ext>
            </a:extLst>
          </p:cNvPr>
          <p:cNvSpPr/>
          <p:nvPr/>
        </p:nvSpPr>
        <p:spPr>
          <a:xfrm>
            <a:off x="3396000" y="2459028"/>
            <a:ext cx="360000" cy="360000"/>
          </a:xfrm>
          <a:prstGeom prst="ellipse">
            <a:avLst/>
          </a:prstGeom>
          <a:solidFill>
            <a:srgbClr val="0D8B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C</a:t>
            </a:r>
            <a:endParaRPr lang="zh-CN" altLang="en-US" sz="1400" dirty="0">
              <a:solidFill>
                <a:schemeClr val="bg1"/>
              </a:solidFill>
            </a:endParaRPr>
          </a:p>
        </p:txBody>
      </p:sp>
      <p:sp>
        <p:nvSpPr>
          <p:cNvPr id="21" name="椭圆 20">
            <a:extLst>
              <a:ext uri="{FF2B5EF4-FFF2-40B4-BE49-F238E27FC236}">
                <a16:creationId xmlns:a16="http://schemas.microsoft.com/office/drawing/2014/main" id="{EE926031-AB35-1F67-668E-43AADB080534}"/>
              </a:ext>
            </a:extLst>
          </p:cNvPr>
          <p:cNvSpPr/>
          <p:nvPr/>
        </p:nvSpPr>
        <p:spPr>
          <a:xfrm>
            <a:off x="3396000" y="3093441"/>
            <a:ext cx="360000" cy="360000"/>
          </a:xfrm>
          <a:prstGeom prst="ellipse">
            <a:avLst/>
          </a:prstGeom>
          <a:solidFill>
            <a:srgbClr val="0D8B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C</a:t>
            </a:r>
            <a:endParaRPr lang="zh-CN" altLang="en-US" sz="1400" dirty="0">
              <a:solidFill>
                <a:schemeClr val="bg1"/>
              </a:solidFill>
            </a:endParaRPr>
          </a:p>
        </p:txBody>
      </p:sp>
      <p:sp>
        <p:nvSpPr>
          <p:cNvPr id="22" name="椭圆 21">
            <a:extLst>
              <a:ext uri="{FF2B5EF4-FFF2-40B4-BE49-F238E27FC236}">
                <a16:creationId xmlns:a16="http://schemas.microsoft.com/office/drawing/2014/main" id="{877EF439-A29F-41A0-7EAC-2E72BCF8FFF3}"/>
              </a:ext>
            </a:extLst>
          </p:cNvPr>
          <p:cNvSpPr/>
          <p:nvPr/>
        </p:nvSpPr>
        <p:spPr>
          <a:xfrm>
            <a:off x="3396000" y="3787890"/>
            <a:ext cx="360000" cy="360000"/>
          </a:xfrm>
          <a:prstGeom prst="ellipse">
            <a:avLst/>
          </a:prstGeom>
          <a:solidFill>
            <a:srgbClr val="EFAA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R</a:t>
            </a:r>
            <a:endParaRPr lang="zh-CN" altLang="en-US" sz="1400" dirty="0">
              <a:solidFill>
                <a:schemeClr val="bg1"/>
              </a:solidFill>
            </a:endParaRPr>
          </a:p>
        </p:txBody>
      </p:sp>
      <p:sp>
        <p:nvSpPr>
          <p:cNvPr id="23" name="椭圆 22">
            <a:extLst>
              <a:ext uri="{FF2B5EF4-FFF2-40B4-BE49-F238E27FC236}">
                <a16:creationId xmlns:a16="http://schemas.microsoft.com/office/drawing/2014/main" id="{AC178D87-BB0D-9C7E-A908-38553E9998B2}"/>
              </a:ext>
            </a:extLst>
          </p:cNvPr>
          <p:cNvSpPr/>
          <p:nvPr/>
        </p:nvSpPr>
        <p:spPr>
          <a:xfrm>
            <a:off x="3396000" y="5109865"/>
            <a:ext cx="360000" cy="360000"/>
          </a:xfrm>
          <a:prstGeom prst="ellipse">
            <a:avLst/>
          </a:prstGeom>
          <a:solidFill>
            <a:srgbClr val="0D8B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C</a:t>
            </a:r>
            <a:endParaRPr lang="zh-CN" altLang="en-US" sz="1400" dirty="0">
              <a:solidFill>
                <a:schemeClr val="bg1"/>
              </a:solidFill>
            </a:endParaRPr>
          </a:p>
        </p:txBody>
      </p:sp>
      <p:sp>
        <p:nvSpPr>
          <p:cNvPr id="24" name="椭圆 23">
            <a:extLst>
              <a:ext uri="{FF2B5EF4-FFF2-40B4-BE49-F238E27FC236}">
                <a16:creationId xmlns:a16="http://schemas.microsoft.com/office/drawing/2014/main" id="{6DE5F5D2-6A54-7490-B7A8-03D38D7AAAF3}"/>
              </a:ext>
            </a:extLst>
          </p:cNvPr>
          <p:cNvSpPr/>
          <p:nvPr/>
        </p:nvSpPr>
        <p:spPr>
          <a:xfrm>
            <a:off x="3396000" y="4522659"/>
            <a:ext cx="360000" cy="360000"/>
          </a:xfrm>
          <a:prstGeom prst="ellipse">
            <a:avLst/>
          </a:prstGeom>
          <a:solidFill>
            <a:srgbClr val="BF01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A</a:t>
            </a:r>
            <a:endParaRPr lang="zh-CN" altLang="en-US" sz="1400" dirty="0">
              <a:solidFill>
                <a:schemeClr val="bg1"/>
              </a:solidFill>
            </a:endParaRPr>
          </a:p>
        </p:txBody>
      </p:sp>
      <p:sp>
        <p:nvSpPr>
          <p:cNvPr id="25" name="椭圆 24">
            <a:extLst>
              <a:ext uri="{FF2B5EF4-FFF2-40B4-BE49-F238E27FC236}">
                <a16:creationId xmlns:a16="http://schemas.microsoft.com/office/drawing/2014/main" id="{48555005-3BE5-6616-BEA9-51EF111E039B}"/>
              </a:ext>
            </a:extLst>
          </p:cNvPr>
          <p:cNvSpPr/>
          <p:nvPr/>
        </p:nvSpPr>
        <p:spPr>
          <a:xfrm>
            <a:off x="7686310" y="4522659"/>
            <a:ext cx="360000" cy="360000"/>
          </a:xfrm>
          <a:prstGeom prst="ellipse">
            <a:avLst/>
          </a:prstGeom>
          <a:solidFill>
            <a:srgbClr val="89AE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I</a:t>
            </a:r>
            <a:endParaRPr lang="zh-CN" altLang="en-US" sz="1400" dirty="0">
              <a:solidFill>
                <a:schemeClr val="bg1"/>
              </a:solidFill>
            </a:endParaRPr>
          </a:p>
        </p:txBody>
      </p:sp>
      <p:sp>
        <p:nvSpPr>
          <p:cNvPr id="26" name="椭圆 25">
            <a:extLst>
              <a:ext uri="{FF2B5EF4-FFF2-40B4-BE49-F238E27FC236}">
                <a16:creationId xmlns:a16="http://schemas.microsoft.com/office/drawing/2014/main" id="{0D99B176-27FD-D28F-CCD6-E6D6A88AC990}"/>
              </a:ext>
            </a:extLst>
          </p:cNvPr>
          <p:cNvSpPr/>
          <p:nvPr/>
        </p:nvSpPr>
        <p:spPr>
          <a:xfrm>
            <a:off x="9202223" y="5561750"/>
            <a:ext cx="360000" cy="360000"/>
          </a:xfrm>
          <a:prstGeom prst="ellipse">
            <a:avLst/>
          </a:prstGeom>
          <a:solidFill>
            <a:srgbClr val="89AE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I</a:t>
            </a:r>
            <a:endParaRPr lang="zh-CN" altLang="en-US" sz="1400" dirty="0">
              <a:solidFill>
                <a:schemeClr val="bg1"/>
              </a:solidFill>
            </a:endParaRPr>
          </a:p>
        </p:txBody>
      </p:sp>
      <p:sp>
        <p:nvSpPr>
          <p:cNvPr id="27" name="椭圆 26">
            <a:extLst>
              <a:ext uri="{FF2B5EF4-FFF2-40B4-BE49-F238E27FC236}">
                <a16:creationId xmlns:a16="http://schemas.microsoft.com/office/drawing/2014/main" id="{B9EFB750-75E4-2D9B-7637-DF27ED9E7DB8}"/>
              </a:ext>
            </a:extLst>
          </p:cNvPr>
          <p:cNvSpPr/>
          <p:nvPr/>
        </p:nvSpPr>
        <p:spPr>
          <a:xfrm>
            <a:off x="9202223" y="4522707"/>
            <a:ext cx="360000" cy="360000"/>
          </a:xfrm>
          <a:prstGeom prst="ellipse">
            <a:avLst/>
          </a:prstGeom>
          <a:solidFill>
            <a:srgbClr val="89AE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I</a:t>
            </a:r>
            <a:endParaRPr lang="zh-CN" altLang="en-US" sz="1400" dirty="0">
              <a:solidFill>
                <a:schemeClr val="bg1"/>
              </a:solidFill>
            </a:endParaRPr>
          </a:p>
        </p:txBody>
      </p:sp>
      <p:sp>
        <p:nvSpPr>
          <p:cNvPr id="28" name="椭圆 27">
            <a:extLst>
              <a:ext uri="{FF2B5EF4-FFF2-40B4-BE49-F238E27FC236}">
                <a16:creationId xmlns:a16="http://schemas.microsoft.com/office/drawing/2014/main" id="{0E33F1E1-9221-6BC2-FE85-811F99E9F7E5}"/>
              </a:ext>
            </a:extLst>
          </p:cNvPr>
          <p:cNvSpPr/>
          <p:nvPr/>
        </p:nvSpPr>
        <p:spPr>
          <a:xfrm>
            <a:off x="9202223" y="3093441"/>
            <a:ext cx="360000" cy="360000"/>
          </a:xfrm>
          <a:prstGeom prst="ellipse">
            <a:avLst/>
          </a:prstGeom>
          <a:solidFill>
            <a:srgbClr val="89AE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I</a:t>
            </a:r>
            <a:endParaRPr lang="zh-CN" altLang="en-US" sz="1400" dirty="0">
              <a:solidFill>
                <a:schemeClr val="bg1"/>
              </a:solidFill>
            </a:endParaRPr>
          </a:p>
        </p:txBody>
      </p:sp>
      <p:sp>
        <p:nvSpPr>
          <p:cNvPr id="29" name="椭圆 28">
            <a:extLst>
              <a:ext uri="{FF2B5EF4-FFF2-40B4-BE49-F238E27FC236}">
                <a16:creationId xmlns:a16="http://schemas.microsoft.com/office/drawing/2014/main" id="{89298ACA-5C0A-1CF1-9B64-160DC6C5ED8E}"/>
              </a:ext>
            </a:extLst>
          </p:cNvPr>
          <p:cNvSpPr/>
          <p:nvPr/>
        </p:nvSpPr>
        <p:spPr>
          <a:xfrm>
            <a:off x="9202223" y="2459028"/>
            <a:ext cx="360000" cy="360000"/>
          </a:xfrm>
          <a:prstGeom prst="ellipse">
            <a:avLst/>
          </a:prstGeom>
          <a:solidFill>
            <a:srgbClr val="89AE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I</a:t>
            </a:r>
            <a:endParaRPr lang="zh-CN" altLang="en-US" sz="1400" dirty="0">
              <a:solidFill>
                <a:schemeClr val="bg1"/>
              </a:solidFill>
            </a:endParaRPr>
          </a:p>
        </p:txBody>
      </p:sp>
      <p:sp>
        <p:nvSpPr>
          <p:cNvPr id="30" name="椭圆 29">
            <a:extLst>
              <a:ext uri="{FF2B5EF4-FFF2-40B4-BE49-F238E27FC236}">
                <a16:creationId xmlns:a16="http://schemas.microsoft.com/office/drawing/2014/main" id="{FD475E70-8E99-3BBA-3931-035BDB567225}"/>
              </a:ext>
            </a:extLst>
          </p:cNvPr>
          <p:cNvSpPr/>
          <p:nvPr/>
        </p:nvSpPr>
        <p:spPr>
          <a:xfrm>
            <a:off x="7686310" y="2459028"/>
            <a:ext cx="360000" cy="360000"/>
          </a:xfrm>
          <a:prstGeom prst="ellipse">
            <a:avLst/>
          </a:prstGeom>
          <a:solidFill>
            <a:srgbClr val="89AE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I</a:t>
            </a:r>
            <a:endParaRPr lang="zh-CN" altLang="en-US" sz="1400" dirty="0">
              <a:solidFill>
                <a:schemeClr val="bg1"/>
              </a:solidFill>
            </a:endParaRPr>
          </a:p>
        </p:txBody>
      </p:sp>
      <p:sp>
        <p:nvSpPr>
          <p:cNvPr id="31" name="椭圆 30">
            <a:extLst>
              <a:ext uri="{FF2B5EF4-FFF2-40B4-BE49-F238E27FC236}">
                <a16:creationId xmlns:a16="http://schemas.microsoft.com/office/drawing/2014/main" id="{CFCEB57A-FFF0-DEA5-AA7B-5F987E020171}"/>
              </a:ext>
            </a:extLst>
          </p:cNvPr>
          <p:cNvSpPr/>
          <p:nvPr/>
        </p:nvSpPr>
        <p:spPr>
          <a:xfrm>
            <a:off x="10600382" y="4522659"/>
            <a:ext cx="360000" cy="360000"/>
          </a:xfrm>
          <a:prstGeom prst="ellipse">
            <a:avLst/>
          </a:prstGeom>
          <a:solidFill>
            <a:srgbClr val="89AE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I</a:t>
            </a:r>
            <a:endParaRPr lang="zh-CN" altLang="en-US" sz="1400" dirty="0">
              <a:solidFill>
                <a:schemeClr val="bg1"/>
              </a:solidFill>
            </a:endParaRPr>
          </a:p>
        </p:txBody>
      </p:sp>
      <p:sp>
        <p:nvSpPr>
          <p:cNvPr id="32" name="椭圆 31">
            <a:extLst>
              <a:ext uri="{FF2B5EF4-FFF2-40B4-BE49-F238E27FC236}">
                <a16:creationId xmlns:a16="http://schemas.microsoft.com/office/drawing/2014/main" id="{9A9C4295-A81D-FBE8-FEC5-9CD8C6E14B63}"/>
              </a:ext>
            </a:extLst>
          </p:cNvPr>
          <p:cNvSpPr/>
          <p:nvPr/>
        </p:nvSpPr>
        <p:spPr>
          <a:xfrm>
            <a:off x="7686310" y="3787890"/>
            <a:ext cx="360000" cy="360000"/>
          </a:xfrm>
          <a:prstGeom prst="ellipse">
            <a:avLst/>
          </a:prstGeom>
          <a:solidFill>
            <a:srgbClr val="BF01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A</a:t>
            </a:r>
            <a:endParaRPr lang="zh-CN" altLang="en-US" sz="1400" dirty="0">
              <a:solidFill>
                <a:schemeClr val="bg1"/>
              </a:solidFill>
            </a:endParaRPr>
          </a:p>
        </p:txBody>
      </p:sp>
      <p:sp>
        <p:nvSpPr>
          <p:cNvPr id="33" name="椭圆 32">
            <a:extLst>
              <a:ext uri="{FF2B5EF4-FFF2-40B4-BE49-F238E27FC236}">
                <a16:creationId xmlns:a16="http://schemas.microsoft.com/office/drawing/2014/main" id="{B0C203C0-C3FC-3387-98E3-1BEFD36AF819}"/>
              </a:ext>
            </a:extLst>
          </p:cNvPr>
          <p:cNvSpPr/>
          <p:nvPr/>
        </p:nvSpPr>
        <p:spPr>
          <a:xfrm>
            <a:off x="4799947" y="3093441"/>
            <a:ext cx="360000" cy="360000"/>
          </a:xfrm>
          <a:prstGeom prst="ellipse">
            <a:avLst/>
          </a:prstGeom>
          <a:solidFill>
            <a:srgbClr val="BF01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A</a:t>
            </a:r>
            <a:endParaRPr lang="zh-CN" altLang="en-US" sz="1400" dirty="0">
              <a:solidFill>
                <a:schemeClr val="bg1"/>
              </a:solidFill>
            </a:endParaRPr>
          </a:p>
        </p:txBody>
      </p:sp>
      <p:sp>
        <p:nvSpPr>
          <p:cNvPr id="34" name="椭圆 33">
            <a:extLst>
              <a:ext uri="{FF2B5EF4-FFF2-40B4-BE49-F238E27FC236}">
                <a16:creationId xmlns:a16="http://schemas.microsoft.com/office/drawing/2014/main" id="{480950D3-3261-4CF5-6BEB-5B788E18CB58}"/>
              </a:ext>
            </a:extLst>
          </p:cNvPr>
          <p:cNvSpPr/>
          <p:nvPr/>
        </p:nvSpPr>
        <p:spPr>
          <a:xfrm>
            <a:off x="9202223" y="5109865"/>
            <a:ext cx="360000" cy="360000"/>
          </a:xfrm>
          <a:prstGeom prst="ellipse">
            <a:avLst/>
          </a:prstGeom>
          <a:solidFill>
            <a:srgbClr val="BF01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A</a:t>
            </a:r>
            <a:endParaRPr lang="zh-CN" altLang="en-US" sz="1400" dirty="0">
              <a:solidFill>
                <a:schemeClr val="bg1"/>
              </a:solidFill>
            </a:endParaRPr>
          </a:p>
        </p:txBody>
      </p:sp>
      <p:sp>
        <p:nvSpPr>
          <p:cNvPr id="35" name="椭圆 34">
            <a:extLst>
              <a:ext uri="{FF2B5EF4-FFF2-40B4-BE49-F238E27FC236}">
                <a16:creationId xmlns:a16="http://schemas.microsoft.com/office/drawing/2014/main" id="{1961587A-2EA2-5DDB-FEE8-9F7DFF3E534D}"/>
              </a:ext>
            </a:extLst>
          </p:cNvPr>
          <p:cNvSpPr/>
          <p:nvPr/>
        </p:nvSpPr>
        <p:spPr>
          <a:xfrm>
            <a:off x="10600382" y="5578439"/>
            <a:ext cx="360000" cy="360000"/>
          </a:xfrm>
          <a:prstGeom prst="ellipse">
            <a:avLst/>
          </a:prstGeom>
          <a:solidFill>
            <a:srgbClr val="BF01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A</a:t>
            </a:r>
            <a:endParaRPr lang="zh-CN" altLang="en-US" sz="1400" dirty="0">
              <a:solidFill>
                <a:schemeClr val="bg1"/>
              </a:solidFill>
            </a:endParaRPr>
          </a:p>
        </p:txBody>
      </p:sp>
      <p:sp>
        <p:nvSpPr>
          <p:cNvPr id="36" name="椭圆 35">
            <a:extLst>
              <a:ext uri="{FF2B5EF4-FFF2-40B4-BE49-F238E27FC236}">
                <a16:creationId xmlns:a16="http://schemas.microsoft.com/office/drawing/2014/main" id="{D08EFF59-7A58-1A76-6E19-673491C59FA3}"/>
              </a:ext>
            </a:extLst>
          </p:cNvPr>
          <p:cNvSpPr/>
          <p:nvPr/>
        </p:nvSpPr>
        <p:spPr>
          <a:xfrm>
            <a:off x="4799947" y="3783264"/>
            <a:ext cx="360000" cy="360000"/>
          </a:xfrm>
          <a:prstGeom prst="ellipse">
            <a:avLst/>
          </a:prstGeom>
          <a:solidFill>
            <a:srgbClr val="EFAA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R</a:t>
            </a:r>
            <a:endParaRPr lang="zh-CN" altLang="en-US" sz="1400" dirty="0">
              <a:solidFill>
                <a:schemeClr val="bg1"/>
              </a:solidFill>
            </a:endParaRPr>
          </a:p>
        </p:txBody>
      </p:sp>
      <p:sp>
        <p:nvSpPr>
          <p:cNvPr id="37" name="椭圆 36">
            <a:extLst>
              <a:ext uri="{FF2B5EF4-FFF2-40B4-BE49-F238E27FC236}">
                <a16:creationId xmlns:a16="http://schemas.microsoft.com/office/drawing/2014/main" id="{659D0097-A84D-5E2B-1DA9-AF8D3D27AA5E}"/>
              </a:ext>
            </a:extLst>
          </p:cNvPr>
          <p:cNvSpPr/>
          <p:nvPr/>
        </p:nvSpPr>
        <p:spPr>
          <a:xfrm>
            <a:off x="4799947" y="5109865"/>
            <a:ext cx="360000" cy="360000"/>
          </a:xfrm>
          <a:prstGeom prst="ellipse">
            <a:avLst/>
          </a:prstGeom>
          <a:solidFill>
            <a:srgbClr val="EFAA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R</a:t>
            </a:r>
            <a:endParaRPr lang="zh-CN" altLang="en-US" sz="1400" dirty="0">
              <a:solidFill>
                <a:schemeClr val="bg1"/>
              </a:solidFill>
            </a:endParaRPr>
          </a:p>
        </p:txBody>
      </p:sp>
      <p:sp>
        <p:nvSpPr>
          <p:cNvPr id="38" name="椭圆 37">
            <a:extLst>
              <a:ext uri="{FF2B5EF4-FFF2-40B4-BE49-F238E27FC236}">
                <a16:creationId xmlns:a16="http://schemas.microsoft.com/office/drawing/2014/main" id="{D52C61D4-29DC-929D-289A-5D58E5A141ED}"/>
              </a:ext>
            </a:extLst>
          </p:cNvPr>
          <p:cNvSpPr/>
          <p:nvPr/>
        </p:nvSpPr>
        <p:spPr>
          <a:xfrm>
            <a:off x="4799947" y="5578439"/>
            <a:ext cx="360000" cy="360000"/>
          </a:xfrm>
          <a:prstGeom prst="ellipse">
            <a:avLst/>
          </a:prstGeom>
          <a:solidFill>
            <a:srgbClr val="EFAA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R</a:t>
            </a:r>
            <a:endParaRPr lang="zh-CN" altLang="en-US" sz="1400" dirty="0">
              <a:solidFill>
                <a:schemeClr val="bg1"/>
              </a:solidFill>
            </a:endParaRPr>
          </a:p>
        </p:txBody>
      </p:sp>
      <p:sp>
        <p:nvSpPr>
          <p:cNvPr id="39" name="椭圆 38">
            <a:extLst>
              <a:ext uri="{FF2B5EF4-FFF2-40B4-BE49-F238E27FC236}">
                <a16:creationId xmlns:a16="http://schemas.microsoft.com/office/drawing/2014/main" id="{05EF1199-787F-7AA9-91B8-F7D5304BF47C}"/>
              </a:ext>
            </a:extLst>
          </p:cNvPr>
          <p:cNvSpPr/>
          <p:nvPr/>
        </p:nvSpPr>
        <p:spPr>
          <a:xfrm>
            <a:off x="6288151" y="4522659"/>
            <a:ext cx="360000" cy="360000"/>
          </a:xfrm>
          <a:prstGeom prst="ellipse">
            <a:avLst/>
          </a:prstGeom>
          <a:solidFill>
            <a:srgbClr val="EFAA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R</a:t>
            </a:r>
            <a:endParaRPr lang="zh-CN" altLang="en-US" sz="1400" dirty="0">
              <a:solidFill>
                <a:schemeClr val="bg1"/>
              </a:solidFill>
            </a:endParaRPr>
          </a:p>
        </p:txBody>
      </p:sp>
      <p:sp>
        <p:nvSpPr>
          <p:cNvPr id="40" name="椭圆 39">
            <a:extLst>
              <a:ext uri="{FF2B5EF4-FFF2-40B4-BE49-F238E27FC236}">
                <a16:creationId xmlns:a16="http://schemas.microsoft.com/office/drawing/2014/main" id="{78B7A683-1EDA-C13E-BCE9-8762990218AE}"/>
              </a:ext>
            </a:extLst>
          </p:cNvPr>
          <p:cNvSpPr/>
          <p:nvPr/>
        </p:nvSpPr>
        <p:spPr>
          <a:xfrm>
            <a:off x="9199237" y="3783264"/>
            <a:ext cx="360000" cy="360000"/>
          </a:xfrm>
          <a:prstGeom prst="ellipse">
            <a:avLst/>
          </a:prstGeom>
          <a:solidFill>
            <a:srgbClr val="EFAA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R</a:t>
            </a:r>
            <a:endParaRPr lang="zh-CN" altLang="en-US" sz="1400" dirty="0">
              <a:solidFill>
                <a:schemeClr val="bg1"/>
              </a:solidFill>
            </a:endParaRPr>
          </a:p>
        </p:txBody>
      </p:sp>
      <p:sp>
        <p:nvSpPr>
          <p:cNvPr id="41" name="椭圆 40">
            <a:extLst>
              <a:ext uri="{FF2B5EF4-FFF2-40B4-BE49-F238E27FC236}">
                <a16:creationId xmlns:a16="http://schemas.microsoft.com/office/drawing/2014/main" id="{B9E92E6E-29FE-183E-38B4-4BA5CD242DDB}"/>
              </a:ext>
            </a:extLst>
          </p:cNvPr>
          <p:cNvSpPr/>
          <p:nvPr/>
        </p:nvSpPr>
        <p:spPr>
          <a:xfrm>
            <a:off x="10600382" y="3783264"/>
            <a:ext cx="360000" cy="360000"/>
          </a:xfrm>
          <a:prstGeom prst="ellipse">
            <a:avLst/>
          </a:prstGeom>
          <a:solidFill>
            <a:srgbClr val="EFAA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R</a:t>
            </a:r>
            <a:endParaRPr lang="zh-CN" altLang="en-US" sz="1400" dirty="0">
              <a:solidFill>
                <a:schemeClr val="bg1"/>
              </a:solidFill>
            </a:endParaRPr>
          </a:p>
        </p:txBody>
      </p:sp>
      <p:sp>
        <p:nvSpPr>
          <p:cNvPr id="42" name="椭圆 41">
            <a:extLst>
              <a:ext uri="{FF2B5EF4-FFF2-40B4-BE49-F238E27FC236}">
                <a16:creationId xmlns:a16="http://schemas.microsoft.com/office/drawing/2014/main" id="{570DD27D-97CF-8B36-C9CA-38B1D2B03E34}"/>
              </a:ext>
            </a:extLst>
          </p:cNvPr>
          <p:cNvSpPr/>
          <p:nvPr/>
        </p:nvSpPr>
        <p:spPr>
          <a:xfrm>
            <a:off x="6288151" y="3093441"/>
            <a:ext cx="360000" cy="360000"/>
          </a:xfrm>
          <a:prstGeom prst="ellipse">
            <a:avLst/>
          </a:prstGeom>
          <a:solidFill>
            <a:srgbClr val="EFAA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R</a:t>
            </a:r>
            <a:endParaRPr lang="zh-CN" altLang="en-US" sz="1400" dirty="0">
              <a:solidFill>
                <a:schemeClr val="bg1"/>
              </a:solidFill>
            </a:endParaRPr>
          </a:p>
        </p:txBody>
      </p:sp>
      <p:sp>
        <p:nvSpPr>
          <p:cNvPr id="43" name="椭圆 42">
            <a:extLst>
              <a:ext uri="{FF2B5EF4-FFF2-40B4-BE49-F238E27FC236}">
                <a16:creationId xmlns:a16="http://schemas.microsoft.com/office/drawing/2014/main" id="{F037453F-B07F-19A4-BBC2-0A3E8A0A1C01}"/>
              </a:ext>
            </a:extLst>
          </p:cNvPr>
          <p:cNvSpPr/>
          <p:nvPr/>
        </p:nvSpPr>
        <p:spPr>
          <a:xfrm>
            <a:off x="6288151" y="2459028"/>
            <a:ext cx="360000" cy="360000"/>
          </a:xfrm>
          <a:prstGeom prst="ellipse">
            <a:avLst/>
          </a:prstGeom>
          <a:solidFill>
            <a:srgbClr val="0D8B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C</a:t>
            </a:r>
            <a:endParaRPr lang="zh-CN" altLang="en-US" sz="1400" dirty="0">
              <a:solidFill>
                <a:schemeClr val="bg1"/>
              </a:solidFill>
            </a:endParaRPr>
          </a:p>
        </p:txBody>
      </p:sp>
      <p:sp>
        <p:nvSpPr>
          <p:cNvPr id="44" name="椭圆 43">
            <a:extLst>
              <a:ext uri="{FF2B5EF4-FFF2-40B4-BE49-F238E27FC236}">
                <a16:creationId xmlns:a16="http://schemas.microsoft.com/office/drawing/2014/main" id="{699F8883-C43D-3ABC-7533-D03FE1EB2472}"/>
              </a:ext>
            </a:extLst>
          </p:cNvPr>
          <p:cNvSpPr/>
          <p:nvPr/>
        </p:nvSpPr>
        <p:spPr>
          <a:xfrm>
            <a:off x="6282661" y="3783264"/>
            <a:ext cx="360000" cy="360000"/>
          </a:xfrm>
          <a:prstGeom prst="ellipse">
            <a:avLst/>
          </a:prstGeom>
          <a:solidFill>
            <a:srgbClr val="0D8B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C</a:t>
            </a:r>
            <a:endParaRPr lang="zh-CN" altLang="en-US" sz="1400" dirty="0">
              <a:solidFill>
                <a:schemeClr val="bg1"/>
              </a:solidFill>
            </a:endParaRPr>
          </a:p>
        </p:txBody>
      </p:sp>
      <p:sp>
        <p:nvSpPr>
          <p:cNvPr id="45" name="椭圆 44">
            <a:extLst>
              <a:ext uri="{FF2B5EF4-FFF2-40B4-BE49-F238E27FC236}">
                <a16:creationId xmlns:a16="http://schemas.microsoft.com/office/drawing/2014/main" id="{884DAF00-322A-71B1-480D-E3C486F7F52B}"/>
              </a:ext>
            </a:extLst>
          </p:cNvPr>
          <p:cNvSpPr/>
          <p:nvPr/>
        </p:nvSpPr>
        <p:spPr>
          <a:xfrm>
            <a:off x="6282661" y="5109865"/>
            <a:ext cx="360000" cy="360000"/>
          </a:xfrm>
          <a:prstGeom prst="ellipse">
            <a:avLst/>
          </a:prstGeom>
          <a:solidFill>
            <a:srgbClr val="0D8B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C</a:t>
            </a:r>
            <a:endParaRPr lang="zh-CN" altLang="en-US" sz="1400" dirty="0">
              <a:solidFill>
                <a:schemeClr val="bg1"/>
              </a:solidFill>
            </a:endParaRPr>
          </a:p>
        </p:txBody>
      </p:sp>
      <p:sp>
        <p:nvSpPr>
          <p:cNvPr id="46" name="椭圆 45">
            <a:extLst>
              <a:ext uri="{FF2B5EF4-FFF2-40B4-BE49-F238E27FC236}">
                <a16:creationId xmlns:a16="http://schemas.microsoft.com/office/drawing/2014/main" id="{8D12DA68-62B7-8F02-8D8D-F4E089258328}"/>
              </a:ext>
            </a:extLst>
          </p:cNvPr>
          <p:cNvSpPr/>
          <p:nvPr/>
        </p:nvSpPr>
        <p:spPr>
          <a:xfrm>
            <a:off x="4799947" y="4522659"/>
            <a:ext cx="360000" cy="360000"/>
          </a:xfrm>
          <a:prstGeom prst="ellipse">
            <a:avLst/>
          </a:prstGeom>
          <a:solidFill>
            <a:srgbClr val="0D8B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C</a:t>
            </a:r>
            <a:endParaRPr lang="zh-CN" altLang="en-US" sz="1400" dirty="0">
              <a:solidFill>
                <a:schemeClr val="bg1"/>
              </a:solidFill>
            </a:endParaRPr>
          </a:p>
        </p:txBody>
      </p:sp>
      <p:sp>
        <p:nvSpPr>
          <p:cNvPr id="47" name="椭圆 46">
            <a:extLst>
              <a:ext uri="{FF2B5EF4-FFF2-40B4-BE49-F238E27FC236}">
                <a16:creationId xmlns:a16="http://schemas.microsoft.com/office/drawing/2014/main" id="{64BE9B40-58A1-C454-E4A2-27BECF99DB21}"/>
              </a:ext>
            </a:extLst>
          </p:cNvPr>
          <p:cNvSpPr/>
          <p:nvPr/>
        </p:nvSpPr>
        <p:spPr>
          <a:xfrm>
            <a:off x="4995220" y="2459028"/>
            <a:ext cx="360000" cy="360000"/>
          </a:xfrm>
          <a:prstGeom prst="ellipse">
            <a:avLst/>
          </a:prstGeom>
          <a:solidFill>
            <a:srgbClr val="EFAA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R</a:t>
            </a:r>
            <a:endParaRPr lang="zh-CN" altLang="en-US" sz="1400" dirty="0">
              <a:solidFill>
                <a:schemeClr val="bg1"/>
              </a:solidFill>
            </a:endParaRPr>
          </a:p>
        </p:txBody>
      </p:sp>
      <p:sp>
        <p:nvSpPr>
          <p:cNvPr id="48" name="椭圆 47">
            <a:extLst>
              <a:ext uri="{FF2B5EF4-FFF2-40B4-BE49-F238E27FC236}">
                <a16:creationId xmlns:a16="http://schemas.microsoft.com/office/drawing/2014/main" id="{6A843BBD-9F65-E37A-3628-ED8AE08D96D7}"/>
              </a:ext>
            </a:extLst>
          </p:cNvPr>
          <p:cNvSpPr/>
          <p:nvPr/>
        </p:nvSpPr>
        <p:spPr>
          <a:xfrm>
            <a:off x="4614159" y="2459028"/>
            <a:ext cx="360000" cy="360000"/>
          </a:xfrm>
          <a:prstGeom prst="ellipse">
            <a:avLst/>
          </a:prstGeom>
          <a:solidFill>
            <a:srgbClr val="BF01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A</a:t>
            </a:r>
            <a:endParaRPr lang="zh-CN" altLang="en-US" sz="1400" dirty="0">
              <a:solidFill>
                <a:schemeClr val="bg1"/>
              </a:solidFill>
            </a:endParaRPr>
          </a:p>
        </p:txBody>
      </p:sp>
    </p:spTree>
    <p:extLst>
      <p:ext uri="{BB962C8B-B14F-4D97-AF65-F5344CB8AC3E}">
        <p14:creationId xmlns:p14="http://schemas.microsoft.com/office/powerpoint/2010/main" val="3471452794"/>
      </p:ext>
    </p:extLst>
  </p:cSld>
  <p:clrMapOvr>
    <a:masterClrMapping/>
  </p:clrMapOvr>
</p:sld>
</file>

<file path=ppt/slides/slide3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DC29D7-A650-A694-9955-67533D67F83A}"/>
              </a:ext>
            </a:extLst>
          </p:cNvPr>
          <p:cNvSpPr>
            <a:spLocks noGrp="1"/>
          </p:cNvSpPr>
          <p:nvPr>
            <p:ph type="title"/>
          </p:nvPr>
        </p:nvSpPr>
        <p:spPr>
          <a:xfrm>
            <a:off x="792000" y="360000"/>
            <a:ext cx="6375921" cy="429413"/>
          </a:xfrm>
        </p:spPr>
        <p:txBody>
          <a:bodyPr/>
          <a:lstStyle/>
          <a:p>
            <a:r>
              <a:rPr lang="en-US" altLang="zh-CN" dirty="0"/>
              <a:t>10.2.3 OBS</a:t>
            </a:r>
            <a:endParaRPr lang="zh-CN" altLang="en-US" dirty="0"/>
          </a:p>
        </p:txBody>
      </p:sp>
      <p:sp>
        <p:nvSpPr>
          <p:cNvPr id="68" name="内容占位符 67">
            <a:extLst>
              <a:ext uri="{FF2B5EF4-FFF2-40B4-BE49-F238E27FC236}">
                <a16:creationId xmlns:a16="http://schemas.microsoft.com/office/drawing/2014/main" id="{C3C9586C-2B43-F99C-8ACA-63BAF3153130}"/>
              </a:ext>
            </a:extLst>
          </p:cNvPr>
          <p:cNvSpPr>
            <a:spLocks noGrp="1"/>
          </p:cNvSpPr>
          <p:nvPr>
            <p:ph idx="1"/>
          </p:nvPr>
        </p:nvSpPr>
        <p:spPr>
          <a:xfrm>
            <a:off x="696000" y="864000"/>
            <a:ext cx="10800000" cy="5400000"/>
          </a:xfrm>
        </p:spPr>
        <p:txBody>
          <a:bodyPr/>
          <a:lstStyle/>
          <a:p>
            <a:r>
              <a:rPr lang="zh-CN" altLang="en-US" dirty="0"/>
              <a:t>自上而下显示各种职位和关系</a:t>
            </a:r>
            <a:endParaRPr lang="en-US" altLang="zh-CN" dirty="0"/>
          </a:p>
          <a:p>
            <a:r>
              <a:rPr lang="zh-CN" altLang="en-US" dirty="0"/>
              <a:t>正式或非正式</a:t>
            </a:r>
            <a:endParaRPr lang="en-US" altLang="zh-CN" dirty="0"/>
          </a:p>
          <a:p>
            <a:r>
              <a:rPr lang="zh-CN" altLang="en-US" dirty="0"/>
              <a:t>详细或概要</a:t>
            </a:r>
            <a:endParaRPr lang="en-US" altLang="zh-CN" dirty="0"/>
          </a:p>
          <a:p>
            <a:r>
              <a:rPr lang="zh-CN" altLang="en-US" dirty="0"/>
              <a:t>通常与</a:t>
            </a:r>
            <a:r>
              <a:rPr lang="en-US" altLang="zh-CN" dirty="0"/>
              <a:t>WBS</a:t>
            </a:r>
            <a:r>
              <a:rPr lang="zh-CN" altLang="en-US" dirty="0"/>
              <a:t>配合使用：谁负责</a:t>
            </a:r>
            <a:r>
              <a:rPr lang="en-US" altLang="zh-CN" dirty="0"/>
              <a:t> Responsible </a:t>
            </a:r>
            <a:r>
              <a:rPr lang="zh-CN" altLang="en-US" dirty="0"/>
              <a:t>和谁执行 </a:t>
            </a:r>
            <a:r>
              <a:rPr lang="en-US" altLang="zh-CN" dirty="0"/>
              <a:t>Performing</a:t>
            </a:r>
          </a:p>
          <a:p>
            <a:endParaRPr lang="en-US" altLang="zh-CN" dirty="0"/>
          </a:p>
          <a:p>
            <a:endParaRPr lang="zh-CN" altLang="en-US" dirty="0"/>
          </a:p>
        </p:txBody>
      </p:sp>
      <p:sp>
        <p:nvSpPr>
          <p:cNvPr id="72" name="文本占位符 71">
            <a:extLst>
              <a:ext uri="{FF2B5EF4-FFF2-40B4-BE49-F238E27FC236}">
                <a16:creationId xmlns:a16="http://schemas.microsoft.com/office/drawing/2014/main" id="{5745004A-B63F-2041-F7DF-4FCEDFE964EC}"/>
              </a:ext>
            </a:extLst>
          </p:cNvPr>
          <p:cNvSpPr>
            <a:spLocks noGrp="1"/>
          </p:cNvSpPr>
          <p:nvPr>
            <p:ph type="body" sz="quarter" idx="10"/>
          </p:nvPr>
        </p:nvSpPr>
        <p:spPr>
          <a:xfrm>
            <a:off x="7071919" y="448519"/>
            <a:ext cx="4424080" cy="338554"/>
          </a:xfrm>
        </p:spPr>
        <p:txBody>
          <a:bodyPr/>
          <a:lstStyle/>
          <a:p>
            <a:r>
              <a:rPr lang="en-US" altLang="zh-CN" dirty="0"/>
              <a:t>Organization Breakdown Structure</a:t>
            </a:r>
          </a:p>
        </p:txBody>
      </p:sp>
    </p:spTree>
    <p:extLst>
      <p:ext uri="{BB962C8B-B14F-4D97-AF65-F5344CB8AC3E}">
        <p14:creationId xmlns:p14="http://schemas.microsoft.com/office/powerpoint/2010/main" val="683752448"/>
      </p:ext>
    </p:extLst>
  </p:cSld>
  <p:clrMapOvr>
    <a:masterClrMapping/>
  </p:clrMapOvr>
</p:sld>
</file>

<file path=ppt/slides/slide3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05A652-AA89-A0FB-28C0-0B154D5D216B}"/>
              </a:ext>
            </a:extLst>
          </p:cNvPr>
          <p:cNvSpPr>
            <a:spLocks noGrp="1"/>
          </p:cNvSpPr>
          <p:nvPr>
            <p:ph type="title"/>
          </p:nvPr>
        </p:nvSpPr>
        <p:spPr>
          <a:xfrm>
            <a:off x="696000" y="360000"/>
            <a:ext cx="5400000" cy="429413"/>
          </a:xfrm>
        </p:spPr>
        <p:txBody>
          <a:bodyPr/>
          <a:lstStyle/>
          <a:p>
            <a:r>
              <a:rPr lang="zh-CN" altLang="en-US" dirty="0"/>
              <a:t>例：</a:t>
            </a:r>
            <a:r>
              <a:rPr lang="en-US" altLang="zh-CN" dirty="0"/>
              <a:t>OBS</a:t>
            </a:r>
            <a:r>
              <a:rPr lang="zh-CN" altLang="en-US" dirty="0"/>
              <a:t>与</a:t>
            </a:r>
            <a:r>
              <a:rPr lang="en-US" altLang="zh-CN" dirty="0"/>
              <a:t>WBS</a:t>
            </a:r>
            <a:r>
              <a:rPr lang="zh-CN" altLang="en-US" dirty="0"/>
              <a:t>的映射矩阵</a:t>
            </a:r>
          </a:p>
        </p:txBody>
      </p:sp>
      <p:graphicFrame>
        <p:nvGraphicFramePr>
          <p:cNvPr id="3" name="表格 2">
            <a:extLst>
              <a:ext uri="{FF2B5EF4-FFF2-40B4-BE49-F238E27FC236}">
                <a16:creationId xmlns:a16="http://schemas.microsoft.com/office/drawing/2014/main" id="{2AA7C26E-3713-8527-47C3-FD67583EB239}"/>
              </a:ext>
            </a:extLst>
          </p:cNvPr>
          <p:cNvGraphicFramePr>
            <a:graphicFrameLocks noGrp="1"/>
          </p:cNvGraphicFramePr>
          <p:nvPr>
            <p:extLst>
              <p:ext uri="{D42A27DB-BD31-4B8C-83A1-F6EECF244321}">
                <p14:modId xmlns:p14="http://schemas.microsoft.com/office/powerpoint/2010/main" val="2017635274"/>
              </p:ext>
            </p:extLst>
          </p:nvPr>
        </p:nvGraphicFramePr>
        <p:xfrm>
          <a:off x="1763556" y="1574800"/>
          <a:ext cx="8664888" cy="3708400"/>
        </p:xfrm>
        <a:graphic>
          <a:graphicData uri="http://schemas.openxmlformats.org/drawingml/2006/table">
            <a:tbl>
              <a:tblPr firstRow="1" bandRow="1">
                <a:tableStyleId>{2D5ABB26-0587-4C30-8999-92F81FD0307C}</a:tableStyleId>
              </a:tblPr>
              <a:tblGrid>
                <a:gridCol w="1440000">
                  <a:extLst>
                    <a:ext uri="{9D8B030D-6E8A-4147-A177-3AD203B41FA5}">
                      <a16:colId xmlns:a16="http://schemas.microsoft.com/office/drawing/2014/main" val="2670998917"/>
                    </a:ext>
                  </a:extLst>
                </a:gridCol>
                <a:gridCol w="903111">
                  <a:extLst>
                    <a:ext uri="{9D8B030D-6E8A-4147-A177-3AD203B41FA5}">
                      <a16:colId xmlns:a16="http://schemas.microsoft.com/office/drawing/2014/main" val="1955801243"/>
                    </a:ext>
                  </a:extLst>
                </a:gridCol>
                <a:gridCol w="903111">
                  <a:extLst>
                    <a:ext uri="{9D8B030D-6E8A-4147-A177-3AD203B41FA5}">
                      <a16:colId xmlns:a16="http://schemas.microsoft.com/office/drawing/2014/main" val="3250593803"/>
                    </a:ext>
                  </a:extLst>
                </a:gridCol>
                <a:gridCol w="903111">
                  <a:extLst>
                    <a:ext uri="{9D8B030D-6E8A-4147-A177-3AD203B41FA5}">
                      <a16:colId xmlns:a16="http://schemas.microsoft.com/office/drawing/2014/main" val="2197909144"/>
                    </a:ext>
                  </a:extLst>
                </a:gridCol>
                <a:gridCol w="903111">
                  <a:extLst>
                    <a:ext uri="{9D8B030D-6E8A-4147-A177-3AD203B41FA5}">
                      <a16:colId xmlns:a16="http://schemas.microsoft.com/office/drawing/2014/main" val="3188899783"/>
                    </a:ext>
                  </a:extLst>
                </a:gridCol>
                <a:gridCol w="903111">
                  <a:extLst>
                    <a:ext uri="{9D8B030D-6E8A-4147-A177-3AD203B41FA5}">
                      <a16:colId xmlns:a16="http://schemas.microsoft.com/office/drawing/2014/main" val="2205928780"/>
                    </a:ext>
                  </a:extLst>
                </a:gridCol>
                <a:gridCol w="903111">
                  <a:extLst>
                    <a:ext uri="{9D8B030D-6E8A-4147-A177-3AD203B41FA5}">
                      <a16:colId xmlns:a16="http://schemas.microsoft.com/office/drawing/2014/main" val="1394002762"/>
                    </a:ext>
                  </a:extLst>
                </a:gridCol>
                <a:gridCol w="903111">
                  <a:extLst>
                    <a:ext uri="{9D8B030D-6E8A-4147-A177-3AD203B41FA5}">
                      <a16:colId xmlns:a16="http://schemas.microsoft.com/office/drawing/2014/main" val="1072878424"/>
                    </a:ext>
                  </a:extLst>
                </a:gridCol>
                <a:gridCol w="903111">
                  <a:extLst>
                    <a:ext uri="{9D8B030D-6E8A-4147-A177-3AD203B41FA5}">
                      <a16:colId xmlns:a16="http://schemas.microsoft.com/office/drawing/2014/main" val="4037333747"/>
                    </a:ext>
                  </a:extLst>
                </a:gridCol>
              </a:tblGrid>
              <a:tr h="370840">
                <a:tc rowSpan="2">
                  <a:txBody>
                    <a:bodyPr/>
                    <a:lstStyle/>
                    <a:p>
                      <a:pPr algn="ctr"/>
                      <a:r>
                        <a:rPr lang="zh-CN" altLang="en-US" sz="1600" dirty="0"/>
                        <a:t>单位</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gridSpan="8">
                  <a:txBody>
                    <a:bodyPr/>
                    <a:lstStyle/>
                    <a:p>
                      <a:pPr algn="ctr"/>
                      <a:r>
                        <a:rPr lang="en-US" altLang="zh-CN" sz="1600" dirty="0"/>
                        <a:t>WBS</a:t>
                      </a:r>
                      <a:endParaRPr lang="zh-CN" altLang="en-US" sz="16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hMerge="1">
                  <a:txBody>
                    <a:bodyPr/>
                    <a:lstStyle/>
                    <a:p>
                      <a:endParaRPr lang="zh-CN" altLang="en-US" sz="16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hMerge="1">
                  <a:txBody>
                    <a:bodyPr/>
                    <a:lstStyle/>
                    <a:p>
                      <a:endParaRPr lang="zh-CN" altLang="en-US" sz="16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hMerge="1">
                  <a:txBody>
                    <a:bodyPr/>
                    <a:lstStyle/>
                    <a:p>
                      <a:endParaRPr lang="zh-CN" altLang="en-US" sz="16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hMerge="1">
                  <a:txBody>
                    <a:bodyPr/>
                    <a:lstStyle/>
                    <a:p>
                      <a:endParaRPr lang="zh-CN" altLang="en-US" sz="16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hMerge="1">
                  <a:txBody>
                    <a:bodyPr/>
                    <a:lstStyle/>
                    <a:p>
                      <a:endParaRPr lang="zh-CN" altLang="en-US" sz="16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hMerge="1">
                  <a:txBody>
                    <a:bodyPr/>
                    <a:lstStyle/>
                    <a:p>
                      <a:endParaRPr lang="zh-CN" altLang="en-US" sz="16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hMerge="1">
                  <a:txBody>
                    <a:bodyPr/>
                    <a:lstStyle/>
                    <a:p>
                      <a:endParaRPr lang="zh-CN" altLang="en-US" sz="16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3516142"/>
                  </a:ext>
                </a:extLst>
              </a:tr>
              <a:tr h="370840">
                <a:tc vMerge="1">
                  <a:txBody>
                    <a:bodyPr/>
                    <a:lstStyle/>
                    <a:p>
                      <a:endParaRPr lang="zh-CN" altLang="en-US" sz="16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1600" dirty="0"/>
                        <a:t>1.1.1</a:t>
                      </a:r>
                      <a:endParaRPr lang="zh-CN" altLang="en-US" sz="16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1600" dirty="0"/>
                        <a:t>1.1.2</a:t>
                      </a:r>
                      <a:endParaRPr lang="zh-CN" altLang="en-US" sz="16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1600" dirty="0"/>
                        <a:t>1.1.3</a:t>
                      </a:r>
                      <a:endParaRPr lang="zh-CN" altLang="en-US" sz="16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1600" dirty="0"/>
                        <a:t>1.1.4</a:t>
                      </a:r>
                      <a:endParaRPr lang="zh-CN" altLang="en-US" sz="16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1600" dirty="0"/>
                        <a:t>1.1.5</a:t>
                      </a:r>
                      <a:endParaRPr lang="zh-CN" altLang="en-US" sz="16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1600" dirty="0"/>
                        <a:t>1.1.6</a:t>
                      </a:r>
                      <a:endParaRPr lang="zh-CN" altLang="en-US" sz="16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1600" dirty="0"/>
                        <a:t>1.1.7</a:t>
                      </a:r>
                      <a:endParaRPr lang="zh-CN" altLang="en-US" sz="16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altLang="zh-CN" sz="1600" dirty="0"/>
                        <a:t>1.1.8</a:t>
                      </a:r>
                      <a:endParaRPr lang="zh-CN" altLang="en-US" sz="16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3586833"/>
                  </a:ext>
                </a:extLst>
              </a:tr>
              <a:tr h="370840">
                <a:tc>
                  <a:txBody>
                    <a:bodyPr/>
                    <a:lstStyle/>
                    <a:p>
                      <a:pPr algn="ctr"/>
                      <a:r>
                        <a:rPr lang="zh-CN" altLang="en-US" sz="1600" dirty="0"/>
                        <a:t>系统部门</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78087"/>
                  </a:ext>
                </a:extLst>
              </a:tr>
              <a:tr h="370840">
                <a:tc>
                  <a:txBody>
                    <a:bodyPr/>
                    <a:lstStyle/>
                    <a:p>
                      <a:pPr algn="ctr"/>
                      <a:r>
                        <a:rPr lang="zh-CN" altLang="en-US" sz="1600" dirty="0"/>
                        <a:t>软件部门</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0228273"/>
                  </a:ext>
                </a:extLst>
              </a:tr>
              <a:tr h="370840">
                <a:tc>
                  <a:txBody>
                    <a:bodyPr/>
                    <a:lstStyle/>
                    <a:p>
                      <a:pPr algn="ctr"/>
                      <a:r>
                        <a:rPr lang="zh-CN" altLang="en-US" sz="1600" dirty="0"/>
                        <a:t>硬件部门</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7385480"/>
                  </a:ext>
                </a:extLst>
              </a:tr>
              <a:tr h="370840">
                <a:tc>
                  <a:txBody>
                    <a:bodyPr/>
                    <a:lstStyle/>
                    <a:p>
                      <a:pPr algn="ctr"/>
                      <a:r>
                        <a:rPr lang="zh-CN" altLang="en-US" sz="1600" dirty="0"/>
                        <a:t>测试部门</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9305874"/>
                  </a:ext>
                </a:extLst>
              </a:tr>
              <a:tr h="370840">
                <a:tc>
                  <a:txBody>
                    <a:bodyPr/>
                    <a:lstStyle/>
                    <a:p>
                      <a:pPr algn="ctr"/>
                      <a:r>
                        <a:rPr lang="zh-CN" altLang="en-US" sz="1600" dirty="0"/>
                        <a:t>质量保证部门</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8575270"/>
                  </a:ext>
                </a:extLst>
              </a:tr>
              <a:tr h="370840">
                <a:tc>
                  <a:txBody>
                    <a:bodyPr/>
                    <a:lstStyle/>
                    <a:p>
                      <a:pPr algn="ctr"/>
                      <a:r>
                        <a:rPr lang="zh-CN" altLang="en-US" sz="1600" dirty="0"/>
                        <a:t>配置管理部门</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3815600"/>
                  </a:ext>
                </a:extLst>
              </a:tr>
              <a:tr h="370840">
                <a:tc>
                  <a:txBody>
                    <a:bodyPr/>
                    <a:lstStyle/>
                    <a:p>
                      <a:pPr algn="ctr"/>
                      <a:r>
                        <a:rPr lang="zh-CN" altLang="en-US" sz="1600" dirty="0"/>
                        <a:t>后勤部门</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5257246"/>
                  </a:ext>
                </a:extLst>
              </a:tr>
              <a:tr h="370840">
                <a:tc>
                  <a:txBody>
                    <a:bodyPr/>
                    <a:lstStyle/>
                    <a:p>
                      <a:pPr algn="ctr"/>
                      <a:r>
                        <a:rPr lang="zh-CN" altLang="en-US" sz="1600" dirty="0"/>
                        <a:t>培训部门</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zh-CN" altLang="en-US" sz="16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6991864"/>
                  </a:ext>
                </a:extLst>
              </a:tr>
            </a:tbl>
          </a:graphicData>
        </a:graphic>
      </p:graphicFrame>
      <p:grpSp>
        <p:nvGrpSpPr>
          <p:cNvPr id="4" name="组合 3">
            <a:extLst>
              <a:ext uri="{FF2B5EF4-FFF2-40B4-BE49-F238E27FC236}">
                <a16:creationId xmlns:a16="http://schemas.microsoft.com/office/drawing/2014/main" id="{93F95C62-0F13-9CA0-DAF8-E09A93785906}"/>
              </a:ext>
            </a:extLst>
          </p:cNvPr>
          <p:cNvGrpSpPr/>
          <p:nvPr/>
        </p:nvGrpSpPr>
        <p:grpSpPr>
          <a:xfrm>
            <a:off x="9401520" y="83639"/>
            <a:ext cx="2790480" cy="566829"/>
            <a:chOff x="10600382" y="213872"/>
            <a:chExt cx="2790480" cy="566829"/>
          </a:xfrm>
        </p:grpSpPr>
        <p:grpSp>
          <p:nvGrpSpPr>
            <p:cNvPr id="5" name="组合 4">
              <a:extLst>
                <a:ext uri="{FF2B5EF4-FFF2-40B4-BE49-F238E27FC236}">
                  <a16:creationId xmlns:a16="http://schemas.microsoft.com/office/drawing/2014/main" id="{D7BCA88A-01A2-761C-3AA3-18DD20220F3A}"/>
                </a:ext>
              </a:extLst>
            </p:cNvPr>
            <p:cNvGrpSpPr/>
            <p:nvPr/>
          </p:nvGrpSpPr>
          <p:grpSpPr>
            <a:xfrm>
              <a:off x="10600382" y="213872"/>
              <a:ext cx="2790480" cy="276999"/>
              <a:chOff x="10400391" y="5747971"/>
              <a:chExt cx="2790480" cy="276999"/>
            </a:xfrm>
          </p:grpSpPr>
          <p:sp>
            <p:nvSpPr>
              <p:cNvPr id="15" name="椭圆 14">
                <a:extLst>
                  <a:ext uri="{FF2B5EF4-FFF2-40B4-BE49-F238E27FC236}">
                    <a16:creationId xmlns:a16="http://schemas.microsoft.com/office/drawing/2014/main" id="{033FFD55-41F2-65CF-87DD-92F639CA3BFF}"/>
                  </a:ext>
                </a:extLst>
              </p:cNvPr>
              <p:cNvSpPr/>
              <p:nvPr/>
            </p:nvSpPr>
            <p:spPr>
              <a:xfrm>
                <a:off x="10400391" y="5778470"/>
                <a:ext cx="216000" cy="216000"/>
              </a:xfrm>
              <a:prstGeom prst="ellipse">
                <a:avLst/>
              </a:prstGeom>
              <a:solidFill>
                <a:srgbClr val="EFAA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rPr>
                  <a:t>R</a:t>
                </a:r>
                <a:endParaRPr lang="zh-CN" altLang="en-US" sz="1200" dirty="0">
                  <a:solidFill>
                    <a:schemeClr val="bg1"/>
                  </a:solidFill>
                </a:endParaRPr>
              </a:p>
            </p:txBody>
          </p:sp>
          <p:sp>
            <p:nvSpPr>
              <p:cNvPr id="16" name="文本框 15">
                <a:extLst>
                  <a:ext uri="{FF2B5EF4-FFF2-40B4-BE49-F238E27FC236}">
                    <a16:creationId xmlns:a16="http://schemas.microsoft.com/office/drawing/2014/main" id="{6FA0BBEC-873C-00E7-AFC5-9C29D4E939DE}"/>
                  </a:ext>
                </a:extLst>
              </p:cNvPr>
              <p:cNvSpPr txBox="1"/>
              <p:nvPr/>
            </p:nvSpPr>
            <p:spPr>
              <a:xfrm>
                <a:off x="10566435" y="5747971"/>
                <a:ext cx="2624436" cy="276999"/>
              </a:xfrm>
              <a:prstGeom prst="rect">
                <a:avLst/>
              </a:prstGeom>
              <a:noFill/>
            </p:spPr>
            <p:txBody>
              <a:bodyPr wrap="none" rtlCol="0">
                <a:spAutoFit/>
              </a:bodyPr>
              <a:lstStyle/>
              <a:p>
                <a:pPr algn="l"/>
                <a:r>
                  <a:rPr lang="en-US" altLang="zh-CN" sz="1200" dirty="0"/>
                  <a:t>Responsible organizational unit</a:t>
                </a:r>
                <a:endParaRPr lang="zh-CN" altLang="en-US" sz="1200" dirty="0"/>
              </a:p>
            </p:txBody>
          </p:sp>
        </p:grpSp>
        <p:grpSp>
          <p:nvGrpSpPr>
            <p:cNvPr id="6" name="组合 5">
              <a:extLst>
                <a:ext uri="{FF2B5EF4-FFF2-40B4-BE49-F238E27FC236}">
                  <a16:creationId xmlns:a16="http://schemas.microsoft.com/office/drawing/2014/main" id="{A430A52F-6306-516A-0352-264CD3D09E6C}"/>
                </a:ext>
              </a:extLst>
            </p:cNvPr>
            <p:cNvGrpSpPr/>
            <p:nvPr/>
          </p:nvGrpSpPr>
          <p:grpSpPr>
            <a:xfrm>
              <a:off x="10600382" y="503702"/>
              <a:ext cx="2739600" cy="276999"/>
              <a:chOff x="10400391" y="6037801"/>
              <a:chExt cx="2739600" cy="276999"/>
            </a:xfrm>
          </p:grpSpPr>
          <p:sp>
            <p:nvSpPr>
              <p:cNvPr id="13" name="椭圆 12">
                <a:extLst>
                  <a:ext uri="{FF2B5EF4-FFF2-40B4-BE49-F238E27FC236}">
                    <a16:creationId xmlns:a16="http://schemas.microsoft.com/office/drawing/2014/main" id="{876D7C9E-2BD9-BADB-E93C-2EC431797EED}"/>
                  </a:ext>
                </a:extLst>
              </p:cNvPr>
              <p:cNvSpPr/>
              <p:nvPr/>
            </p:nvSpPr>
            <p:spPr>
              <a:xfrm>
                <a:off x="10400391" y="6068300"/>
                <a:ext cx="216000" cy="216000"/>
              </a:xfrm>
              <a:prstGeom prst="ellipse">
                <a:avLst/>
              </a:prstGeom>
              <a:solidFill>
                <a:srgbClr val="BF01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rPr>
                  <a:t>P</a:t>
                </a:r>
                <a:endParaRPr lang="zh-CN" altLang="en-US" sz="1200" dirty="0">
                  <a:solidFill>
                    <a:schemeClr val="bg1"/>
                  </a:solidFill>
                </a:endParaRPr>
              </a:p>
            </p:txBody>
          </p:sp>
          <p:sp>
            <p:nvSpPr>
              <p:cNvPr id="14" name="文本框 13">
                <a:extLst>
                  <a:ext uri="{FF2B5EF4-FFF2-40B4-BE49-F238E27FC236}">
                    <a16:creationId xmlns:a16="http://schemas.microsoft.com/office/drawing/2014/main" id="{728E8295-A8C8-EC72-3A02-482ABB1D87AD}"/>
                  </a:ext>
                </a:extLst>
              </p:cNvPr>
              <p:cNvSpPr txBox="1"/>
              <p:nvPr/>
            </p:nvSpPr>
            <p:spPr>
              <a:xfrm>
                <a:off x="10565247" y="6037801"/>
                <a:ext cx="2574744" cy="276999"/>
              </a:xfrm>
              <a:prstGeom prst="rect">
                <a:avLst/>
              </a:prstGeom>
              <a:noFill/>
            </p:spPr>
            <p:txBody>
              <a:bodyPr wrap="none" rtlCol="0">
                <a:spAutoFit/>
              </a:bodyPr>
              <a:lstStyle/>
              <a:p>
                <a:r>
                  <a:rPr lang="en-US" altLang="zh-CN" sz="1200" dirty="0"/>
                  <a:t>Performing organizational unit</a:t>
                </a:r>
                <a:endParaRPr lang="zh-CN" altLang="en-US" sz="1200" dirty="0"/>
              </a:p>
            </p:txBody>
          </p:sp>
        </p:grpSp>
      </p:grpSp>
      <p:sp>
        <p:nvSpPr>
          <p:cNvPr id="17" name="椭圆 16">
            <a:extLst>
              <a:ext uri="{FF2B5EF4-FFF2-40B4-BE49-F238E27FC236}">
                <a16:creationId xmlns:a16="http://schemas.microsoft.com/office/drawing/2014/main" id="{9093ED3A-FF11-5EE4-5427-611DA19EC4FD}"/>
              </a:ext>
            </a:extLst>
          </p:cNvPr>
          <p:cNvSpPr/>
          <p:nvPr/>
        </p:nvSpPr>
        <p:spPr>
          <a:xfrm>
            <a:off x="4191657" y="2329720"/>
            <a:ext cx="360000" cy="360000"/>
          </a:xfrm>
          <a:prstGeom prst="ellipse">
            <a:avLst/>
          </a:prstGeom>
          <a:solidFill>
            <a:srgbClr val="EFAA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R</a:t>
            </a:r>
            <a:endParaRPr lang="zh-CN" altLang="en-US" sz="1400" dirty="0">
              <a:solidFill>
                <a:schemeClr val="bg1"/>
              </a:solidFill>
            </a:endParaRPr>
          </a:p>
        </p:txBody>
      </p:sp>
      <p:sp>
        <p:nvSpPr>
          <p:cNvPr id="18" name="椭圆 17">
            <a:extLst>
              <a:ext uri="{FF2B5EF4-FFF2-40B4-BE49-F238E27FC236}">
                <a16:creationId xmlns:a16="http://schemas.microsoft.com/office/drawing/2014/main" id="{AC271DAE-2B61-91C2-3E28-1A2FD5754EA7}"/>
              </a:ext>
            </a:extLst>
          </p:cNvPr>
          <p:cNvSpPr/>
          <p:nvPr/>
        </p:nvSpPr>
        <p:spPr>
          <a:xfrm>
            <a:off x="4551657" y="2329720"/>
            <a:ext cx="360000" cy="360000"/>
          </a:xfrm>
          <a:prstGeom prst="ellipse">
            <a:avLst/>
          </a:prstGeom>
          <a:solidFill>
            <a:srgbClr val="BF01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P</a:t>
            </a:r>
            <a:endParaRPr lang="zh-CN" altLang="en-US" sz="1400" dirty="0">
              <a:solidFill>
                <a:schemeClr val="bg1"/>
              </a:solidFill>
            </a:endParaRPr>
          </a:p>
        </p:txBody>
      </p:sp>
      <p:sp>
        <p:nvSpPr>
          <p:cNvPr id="19" name="椭圆 18">
            <a:extLst>
              <a:ext uri="{FF2B5EF4-FFF2-40B4-BE49-F238E27FC236}">
                <a16:creationId xmlns:a16="http://schemas.microsoft.com/office/drawing/2014/main" id="{F498F08C-C01C-59ED-DB82-1600FAF17113}"/>
              </a:ext>
            </a:extLst>
          </p:cNvPr>
          <p:cNvSpPr/>
          <p:nvPr/>
        </p:nvSpPr>
        <p:spPr>
          <a:xfrm>
            <a:off x="5110675" y="2689720"/>
            <a:ext cx="360000" cy="360000"/>
          </a:xfrm>
          <a:prstGeom prst="ellipse">
            <a:avLst/>
          </a:prstGeom>
          <a:solidFill>
            <a:srgbClr val="EFAA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R</a:t>
            </a:r>
            <a:endParaRPr lang="zh-CN" altLang="en-US" sz="1400" dirty="0">
              <a:solidFill>
                <a:schemeClr val="bg1"/>
              </a:solidFill>
            </a:endParaRPr>
          </a:p>
        </p:txBody>
      </p:sp>
      <p:sp>
        <p:nvSpPr>
          <p:cNvPr id="20" name="椭圆 19">
            <a:extLst>
              <a:ext uri="{FF2B5EF4-FFF2-40B4-BE49-F238E27FC236}">
                <a16:creationId xmlns:a16="http://schemas.microsoft.com/office/drawing/2014/main" id="{D653DF3C-F469-650A-A883-38A8022831E8}"/>
              </a:ext>
            </a:extLst>
          </p:cNvPr>
          <p:cNvSpPr/>
          <p:nvPr/>
        </p:nvSpPr>
        <p:spPr>
          <a:xfrm>
            <a:off x="5470675" y="2689720"/>
            <a:ext cx="360000" cy="360000"/>
          </a:xfrm>
          <a:prstGeom prst="ellipse">
            <a:avLst/>
          </a:prstGeom>
          <a:solidFill>
            <a:srgbClr val="BF01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P</a:t>
            </a:r>
            <a:endParaRPr lang="zh-CN" altLang="en-US" sz="1400" dirty="0">
              <a:solidFill>
                <a:schemeClr val="bg1"/>
              </a:solidFill>
            </a:endParaRPr>
          </a:p>
        </p:txBody>
      </p:sp>
      <p:sp>
        <p:nvSpPr>
          <p:cNvPr id="21" name="椭圆 20">
            <a:extLst>
              <a:ext uri="{FF2B5EF4-FFF2-40B4-BE49-F238E27FC236}">
                <a16:creationId xmlns:a16="http://schemas.microsoft.com/office/drawing/2014/main" id="{07A4923F-508F-E62C-7A18-0D56A52FEF81}"/>
              </a:ext>
            </a:extLst>
          </p:cNvPr>
          <p:cNvSpPr/>
          <p:nvPr/>
        </p:nvSpPr>
        <p:spPr>
          <a:xfrm>
            <a:off x="6001984" y="3069000"/>
            <a:ext cx="360000" cy="360000"/>
          </a:xfrm>
          <a:prstGeom prst="ellipse">
            <a:avLst/>
          </a:prstGeom>
          <a:solidFill>
            <a:srgbClr val="EFAA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R</a:t>
            </a:r>
            <a:endParaRPr lang="zh-CN" altLang="en-US" sz="1400" dirty="0">
              <a:solidFill>
                <a:schemeClr val="bg1"/>
              </a:solidFill>
            </a:endParaRPr>
          </a:p>
        </p:txBody>
      </p:sp>
      <p:sp>
        <p:nvSpPr>
          <p:cNvPr id="22" name="椭圆 21">
            <a:extLst>
              <a:ext uri="{FF2B5EF4-FFF2-40B4-BE49-F238E27FC236}">
                <a16:creationId xmlns:a16="http://schemas.microsoft.com/office/drawing/2014/main" id="{982B234F-347C-4498-5E2A-7873298CC673}"/>
              </a:ext>
            </a:extLst>
          </p:cNvPr>
          <p:cNvSpPr/>
          <p:nvPr/>
        </p:nvSpPr>
        <p:spPr>
          <a:xfrm>
            <a:off x="6361984" y="3069000"/>
            <a:ext cx="360000" cy="360000"/>
          </a:xfrm>
          <a:prstGeom prst="ellipse">
            <a:avLst/>
          </a:prstGeom>
          <a:solidFill>
            <a:srgbClr val="BF01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P</a:t>
            </a:r>
            <a:endParaRPr lang="zh-CN" altLang="en-US" sz="1400" dirty="0">
              <a:solidFill>
                <a:schemeClr val="bg1"/>
              </a:solidFill>
            </a:endParaRPr>
          </a:p>
        </p:txBody>
      </p:sp>
      <p:sp>
        <p:nvSpPr>
          <p:cNvPr id="23" name="椭圆 22">
            <a:extLst>
              <a:ext uri="{FF2B5EF4-FFF2-40B4-BE49-F238E27FC236}">
                <a16:creationId xmlns:a16="http://schemas.microsoft.com/office/drawing/2014/main" id="{49130C81-49F1-7F2B-452B-070B4867F0AE}"/>
              </a:ext>
            </a:extLst>
          </p:cNvPr>
          <p:cNvSpPr/>
          <p:nvPr/>
        </p:nvSpPr>
        <p:spPr>
          <a:xfrm>
            <a:off x="7789221" y="4191218"/>
            <a:ext cx="360000" cy="360000"/>
          </a:xfrm>
          <a:prstGeom prst="ellipse">
            <a:avLst/>
          </a:prstGeom>
          <a:solidFill>
            <a:srgbClr val="EFAA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R</a:t>
            </a:r>
            <a:endParaRPr lang="zh-CN" altLang="en-US" sz="1400" dirty="0">
              <a:solidFill>
                <a:schemeClr val="bg1"/>
              </a:solidFill>
            </a:endParaRPr>
          </a:p>
        </p:txBody>
      </p:sp>
      <p:sp>
        <p:nvSpPr>
          <p:cNvPr id="24" name="椭圆 23">
            <a:extLst>
              <a:ext uri="{FF2B5EF4-FFF2-40B4-BE49-F238E27FC236}">
                <a16:creationId xmlns:a16="http://schemas.microsoft.com/office/drawing/2014/main" id="{6D25A2F0-D1BB-B768-BA9F-E4891A71ECA7}"/>
              </a:ext>
            </a:extLst>
          </p:cNvPr>
          <p:cNvSpPr/>
          <p:nvPr/>
        </p:nvSpPr>
        <p:spPr>
          <a:xfrm>
            <a:off x="8149221" y="4191218"/>
            <a:ext cx="360000" cy="360000"/>
          </a:xfrm>
          <a:prstGeom prst="ellipse">
            <a:avLst/>
          </a:prstGeom>
          <a:solidFill>
            <a:srgbClr val="BF01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P</a:t>
            </a:r>
            <a:endParaRPr lang="zh-CN" altLang="en-US" sz="1400" dirty="0">
              <a:solidFill>
                <a:schemeClr val="bg1"/>
              </a:solidFill>
            </a:endParaRPr>
          </a:p>
        </p:txBody>
      </p:sp>
      <p:sp>
        <p:nvSpPr>
          <p:cNvPr id="25" name="椭圆 24">
            <a:extLst>
              <a:ext uri="{FF2B5EF4-FFF2-40B4-BE49-F238E27FC236}">
                <a16:creationId xmlns:a16="http://schemas.microsoft.com/office/drawing/2014/main" id="{67025D21-D3B7-9E75-147F-36E647CD9508}"/>
              </a:ext>
            </a:extLst>
          </p:cNvPr>
          <p:cNvSpPr/>
          <p:nvPr/>
        </p:nvSpPr>
        <p:spPr>
          <a:xfrm>
            <a:off x="9629287" y="4923200"/>
            <a:ext cx="360000" cy="360000"/>
          </a:xfrm>
          <a:prstGeom prst="ellipse">
            <a:avLst/>
          </a:prstGeom>
          <a:solidFill>
            <a:srgbClr val="EFAA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R</a:t>
            </a:r>
            <a:endParaRPr lang="zh-CN" altLang="en-US" sz="1400" dirty="0">
              <a:solidFill>
                <a:schemeClr val="bg1"/>
              </a:solidFill>
            </a:endParaRPr>
          </a:p>
        </p:txBody>
      </p:sp>
      <p:sp>
        <p:nvSpPr>
          <p:cNvPr id="26" name="椭圆 25">
            <a:extLst>
              <a:ext uri="{FF2B5EF4-FFF2-40B4-BE49-F238E27FC236}">
                <a16:creationId xmlns:a16="http://schemas.microsoft.com/office/drawing/2014/main" id="{12F26F52-B6CF-0247-7A1A-3D3739FB133A}"/>
              </a:ext>
            </a:extLst>
          </p:cNvPr>
          <p:cNvSpPr/>
          <p:nvPr/>
        </p:nvSpPr>
        <p:spPr>
          <a:xfrm>
            <a:off x="9989287" y="4923200"/>
            <a:ext cx="360000" cy="360000"/>
          </a:xfrm>
          <a:prstGeom prst="ellipse">
            <a:avLst/>
          </a:prstGeom>
          <a:solidFill>
            <a:srgbClr val="BF01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P</a:t>
            </a:r>
            <a:endParaRPr lang="zh-CN" altLang="en-US" sz="1400" dirty="0">
              <a:solidFill>
                <a:schemeClr val="bg1"/>
              </a:solidFill>
            </a:endParaRPr>
          </a:p>
        </p:txBody>
      </p:sp>
      <p:sp>
        <p:nvSpPr>
          <p:cNvPr id="27" name="椭圆 26">
            <a:extLst>
              <a:ext uri="{FF2B5EF4-FFF2-40B4-BE49-F238E27FC236}">
                <a16:creationId xmlns:a16="http://schemas.microsoft.com/office/drawing/2014/main" id="{1BBA2CBB-DF8F-D12A-0A12-8EF883CD08FD}"/>
              </a:ext>
            </a:extLst>
          </p:cNvPr>
          <p:cNvSpPr/>
          <p:nvPr/>
        </p:nvSpPr>
        <p:spPr>
          <a:xfrm>
            <a:off x="6889221" y="3803510"/>
            <a:ext cx="360000" cy="360000"/>
          </a:xfrm>
          <a:prstGeom prst="ellipse">
            <a:avLst/>
          </a:prstGeom>
          <a:solidFill>
            <a:srgbClr val="EFAA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R</a:t>
            </a:r>
            <a:endParaRPr lang="zh-CN" altLang="en-US" sz="1400" dirty="0">
              <a:solidFill>
                <a:schemeClr val="bg1"/>
              </a:solidFill>
            </a:endParaRPr>
          </a:p>
        </p:txBody>
      </p:sp>
      <p:sp>
        <p:nvSpPr>
          <p:cNvPr id="28" name="椭圆 27">
            <a:extLst>
              <a:ext uri="{FF2B5EF4-FFF2-40B4-BE49-F238E27FC236}">
                <a16:creationId xmlns:a16="http://schemas.microsoft.com/office/drawing/2014/main" id="{EBC1412F-A9A0-E8D7-A2EC-1E516375EAD7}"/>
              </a:ext>
            </a:extLst>
          </p:cNvPr>
          <p:cNvSpPr/>
          <p:nvPr/>
        </p:nvSpPr>
        <p:spPr>
          <a:xfrm>
            <a:off x="7249221" y="3803510"/>
            <a:ext cx="360000" cy="360000"/>
          </a:xfrm>
          <a:prstGeom prst="ellipse">
            <a:avLst/>
          </a:prstGeom>
          <a:solidFill>
            <a:srgbClr val="BF01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P</a:t>
            </a:r>
            <a:endParaRPr lang="zh-CN" altLang="en-US" sz="1400" dirty="0">
              <a:solidFill>
                <a:schemeClr val="bg1"/>
              </a:solidFill>
            </a:endParaRPr>
          </a:p>
        </p:txBody>
      </p:sp>
      <p:sp>
        <p:nvSpPr>
          <p:cNvPr id="29" name="椭圆 28">
            <a:extLst>
              <a:ext uri="{FF2B5EF4-FFF2-40B4-BE49-F238E27FC236}">
                <a16:creationId xmlns:a16="http://schemas.microsoft.com/office/drawing/2014/main" id="{B01F5313-0DC1-69F1-8A21-11C80D668B80}"/>
              </a:ext>
            </a:extLst>
          </p:cNvPr>
          <p:cNvSpPr/>
          <p:nvPr/>
        </p:nvSpPr>
        <p:spPr>
          <a:xfrm>
            <a:off x="8869221" y="4551218"/>
            <a:ext cx="360000" cy="360000"/>
          </a:xfrm>
          <a:prstGeom prst="ellipse">
            <a:avLst/>
          </a:prstGeom>
          <a:solidFill>
            <a:srgbClr val="BF01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P</a:t>
            </a:r>
            <a:endParaRPr lang="zh-CN" altLang="en-US" sz="1400" dirty="0">
              <a:solidFill>
                <a:schemeClr val="bg1"/>
              </a:solidFill>
            </a:endParaRPr>
          </a:p>
        </p:txBody>
      </p:sp>
      <p:sp>
        <p:nvSpPr>
          <p:cNvPr id="30" name="椭圆 29">
            <a:extLst>
              <a:ext uri="{FF2B5EF4-FFF2-40B4-BE49-F238E27FC236}">
                <a16:creationId xmlns:a16="http://schemas.microsoft.com/office/drawing/2014/main" id="{3A272975-5083-F231-FA4C-8DCB0C7A50B5}"/>
              </a:ext>
            </a:extLst>
          </p:cNvPr>
          <p:cNvSpPr/>
          <p:nvPr/>
        </p:nvSpPr>
        <p:spPr>
          <a:xfrm>
            <a:off x="8871969" y="2329720"/>
            <a:ext cx="360000" cy="360000"/>
          </a:xfrm>
          <a:prstGeom prst="ellipse">
            <a:avLst/>
          </a:prstGeom>
          <a:solidFill>
            <a:srgbClr val="EFAA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R</a:t>
            </a:r>
            <a:endParaRPr lang="zh-CN" altLang="en-US" sz="1400" dirty="0">
              <a:solidFill>
                <a:schemeClr val="bg1"/>
              </a:solidFill>
            </a:endParaRPr>
          </a:p>
        </p:txBody>
      </p:sp>
      <p:sp>
        <p:nvSpPr>
          <p:cNvPr id="31" name="椭圆 30">
            <a:extLst>
              <a:ext uri="{FF2B5EF4-FFF2-40B4-BE49-F238E27FC236}">
                <a16:creationId xmlns:a16="http://schemas.microsoft.com/office/drawing/2014/main" id="{A652161D-EC48-7DD5-25DF-6098881527D7}"/>
              </a:ext>
            </a:extLst>
          </p:cNvPr>
          <p:cNvSpPr/>
          <p:nvPr/>
        </p:nvSpPr>
        <p:spPr>
          <a:xfrm>
            <a:off x="3471657" y="2329720"/>
            <a:ext cx="360000" cy="360000"/>
          </a:xfrm>
          <a:prstGeom prst="ellipse">
            <a:avLst/>
          </a:prstGeom>
          <a:solidFill>
            <a:srgbClr val="EFAA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R</a:t>
            </a:r>
            <a:endParaRPr lang="zh-CN" altLang="en-US" sz="1400" dirty="0">
              <a:solidFill>
                <a:schemeClr val="bg1"/>
              </a:solidFill>
            </a:endParaRPr>
          </a:p>
        </p:txBody>
      </p:sp>
      <p:sp>
        <p:nvSpPr>
          <p:cNvPr id="32" name="椭圆 31">
            <a:extLst>
              <a:ext uri="{FF2B5EF4-FFF2-40B4-BE49-F238E27FC236}">
                <a16:creationId xmlns:a16="http://schemas.microsoft.com/office/drawing/2014/main" id="{620EC921-79D9-D2AF-3679-B8301D00320D}"/>
              </a:ext>
            </a:extLst>
          </p:cNvPr>
          <p:cNvSpPr/>
          <p:nvPr/>
        </p:nvSpPr>
        <p:spPr>
          <a:xfrm>
            <a:off x="3471657" y="3445273"/>
            <a:ext cx="360000" cy="360000"/>
          </a:xfrm>
          <a:prstGeom prst="ellipse">
            <a:avLst/>
          </a:prstGeom>
          <a:solidFill>
            <a:srgbClr val="BF01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P</a:t>
            </a:r>
            <a:endParaRPr lang="zh-CN" altLang="en-US" sz="1400" dirty="0">
              <a:solidFill>
                <a:schemeClr val="bg1"/>
              </a:solidFill>
            </a:endParaRPr>
          </a:p>
        </p:txBody>
      </p:sp>
      <p:sp>
        <p:nvSpPr>
          <p:cNvPr id="34" name="文本框 33">
            <a:extLst>
              <a:ext uri="{FF2B5EF4-FFF2-40B4-BE49-F238E27FC236}">
                <a16:creationId xmlns:a16="http://schemas.microsoft.com/office/drawing/2014/main" id="{FE542285-162C-4F9C-B562-06C3950E7916}"/>
              </a:ext>
            </a:extLst>
          </p:cNvPr>
          <p:cNvSpPr txBox="1"/>
          <p:nvPr/>
        </p:nvSpPr>
        <p:spPr>
          <a:xfrm>
            <a:off x="695325" y="783192"/>
            <a:ext cx="1917513" cy="338554"/>
          </a:xfrm>
          <a:prstGeom prst="rect">
            <a:avLst/>
          </a:prstGeom>
          <a:noFill/>
        </p:spPr>
        <p:txBody>
          <a:bodyPr wrap="none" rtlCol="0">
            <a:spAutoFit/>
          </a:bodyPr>
          <a:lstStyle/>
          <a:p>
            <a:pPr algn="l"/>
            <a:r>
              <a:rPr lang="zh-CN" altLang="en-US" sz="1600" dirty="0"/>
              <a:t>谁负责</a:t>
            </a:r>
            <a:r>
              <a:rPr lang="en-US" altLang="zh-CN" sz="1600" dirty="0"/>
              <a:t>R</a:t>
            </a:r>
            <a:r>
              <a:rPr lang="zh-CN" altLang="en-US" sz="1600" dirty="0"/>
              <a:t>和谁执行</a:t>
            </a:r>
            <a:r>
              <a:rPr lang="en-US" altLang="zh-CN" sz="1600" dirty="0"/>
              <a:t>P</a:t>
            </a:r>
            <a:endParaRPr lang="zh-CN" altLang="en-US" sz="1600" dirty="0"/>
          </a:p>
        </p:txBody>
      </p:sp>
    </p:spTree>
    <p:extLst>
      <p:ext uri="{BB962C8B-B14F-4D97-AF65-F5344CB8AC3E}">
        <p14:creationId xmlns:p14="http://schemas.microsoft.com/office/powerpoint/2010/main" val="3743281040"/>
      </p:ext>
    </p:extLst>
  </p:cSld>
  <p:clrMapOvr>
    <a:masterClrMapping/>
  </p:clrMapOvr>
</p:sld>
</file>

<file path=ppt/slides/slide4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093EE-437E-DD7A-4914-14C32C18992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A58EBA5-1E9B-408A-4E1A-68E057056AAC}"/>
              </a:ext>
            </a:extLst>
          </p:cNvPr>
          <p:cNvSpPr>
            <a:spLocks noGrp="1"/>
          </p:cNvSpPr>
          <p:nvPr>
            <p:ph type="title"/>
          </p:nvPr>
        </p:nvSpPr>
        <p:spPr>
          <a:xfrm>
            <a:off x="696000" y="360000"/>
            <a:ext cx="5400000" cy="429413"/>
          </a:xfrm>
        </p:spPr>
        <p:txBody>
          <a:bodyPr/>
          <a:lstStyle/>
          <a:p>
            <a:r>
              <a:rPr lang="en-US" altLang="zh-CN" dirty="0"/>
              <a:t>10.2.3 OBS</a:t>
            </a:r>
            <a:endParaRPr lang="zh-CN" altLang="en-US" dirty="0"/>
          </a:p>
        </p:txBody>
      </p:sp>
      <p:grpSp>
        <p:nvGrpSpPr>
          <p:cNvPr id="33" name="组合 32">
            <a:extLst>
              <a:ext uri="{FF2B5EF4-FFF2-40B4-BE49-F238E27FC236}">
                <a16:creationId xmlns:a16="http://schemas.microsoft.com/office/drawing/2014/main" id="{DABC506D-6123-709D-1E9E-9298399A2668}"/>
              </a:ext>
            </a:extLst>
          </p:cNvPr>
          <p:cNvGrpSpPr/>
          <p:nvPr/>
        </p:nvGrpSpPr>
        <p:grpSpPr>
          <a:xfrm>
            <a:off x="4951682" y="1444968"/>
            <a:ext cx="2568366" cy="1080000"/>
            <a:chOff x="2304473" y="1391127"/>
            <a:chExt cx="2568366" cy="1080000"/>
          </a:xfrm>
        </p:grpSpPr>
        <p:sp>
          <p:nvSpPr>
            <p:cNvPr id="16" name="任意多边形: 形状 15">
              <a:extLst>
                <a:ext uri="{FF2B5EF4-FFF2-40B4-BE49-F238E27FC236}">
                  <a16:creationId xmlns:a16="http://schemas.microsoft.com/office/drawing/2014/main" id="{A308CEBD-AFB3-7ACC-2C5C-1A892A35B0B3}"/>
                </a:ext>
              </a:extLst>
            </p:cNvPr>
            <p:cNvSpPr/>
            <p:nvPr/>
          </p:nvSpPr>
          <p:spPr>
            <a:xfrm>
              <a:off x="2304473" y="1391127"/>
              <a:ext cx="1080000" cy="1080000"/>
            </a:xfrm>
            <a:custGeom>
              <a:avLst/>
              <a:gdLst>
                <a:gd name="csX0" fmla="*/ 540000 w 1080000"/>
                <a:gd name="csY0" fmla="*/ 0 h 1080000"/>
                <a:gd name="csX1" fmla="*/ 1080000 w 1080000"/>
                <a:gd name="csY1" fmla="*/ 540000 h 1080000"/>
                <a:gd name="csX2" fmla="*/ 540000 w 1080000"/>
                <a:gd name="csY2" fmla="*/ 1080000 h 1080000"/>
                <a:gd name="csX3" fmla="*/ 540000 w 1080000"/>
                <a:gd name="csY3" fmla="*/ 972000 h 1080000"/>
                <a:gd name="csX4" fmla="*/ 972000 w 1080000"/>
                <a:gd name="csY4" fmla="*/ 540000 h 1080000"/>
                <a:gd name="csX5" fmla="*/ 540000 w 1080000"/>
                <a:gd name="csY5" fmla="*/ 108000 h 1080000"/>
                <a:gd name="csX6" fmla="*/ 108000 w 1080000"/>
                <a:gd name="csY6" fmla="*/ 540000 h 1080000"/>
                <a:gd name="csX7" fmla="*/ 0 w 1080000"/>
                <a:gd name="csY7" fmla="*/ 540000 h 1080000"/>
                <a:gd name="csX8" fmla="*/ 540000 w 1080000"/>
                <a:gd name="csY8" fmla="*/ 0 h 108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080000" h="1080000">
                  <a:moveTo>
                    <a:pt x="540000" y="0"/>
                  </a:moveTo>
                  <a:cubicBezTo>
                    <a:pt x="838234" y="0"/>
                    <a:pt x="1080000" y="241766"/>
                    <a:pt x="1080000" y="540000"/>
                  </a:cubicBezTo>
                  <a:cubicBezTo>
                    <a:pt x="1080000" y="838234"/>
                    <a:pt x="838234" y="1080000"/>
                    <a:pt x="540000" y="1080000"/>
                  </a:cubicBezTo>
                  <a:lnTo>
                    <a:pt x="540000" y="972000"/>
                  </a:lnTo>
                  <a:cubicBezTo>
                    <a:pt x="778587" y="972000"/>
                    <a:pt x="972000" y="778587"/>
                    <a:pt x="972000" y="540000"/>
                  </a:cubicBezTo>
                  <a:cubicBezTo>
                    <a:pt x="972000" y="301413"/>
                    <a:pt x="778587" y="108000"/>
                    <a:pt x="540000" y="108000"/>
                  </a:cubicBezTo>
                  <a:cubicBezTo>
                    <a:pt x="301413" y="108000"/>
                    <a:pt x="108000" y="301413"/>
                    <a:pt x="108000" y="540000"/>
                  </a:cubicBezTo>
                  <a:lnTo>
                    <a:pt x="0" y="540000"/>
                  </a:lnTo>
                  <a:cubicBezTo>
                    <a:pt x="0" y="241766"/>
                    <a:pt x="241766" y="0"/>
                    <a:pt x="540000" y="0"/>
                  </a:cubicBezTo>
                  <a:close/>
                </a:path>
              </a:pathLst>
            </a:custGeom>
            <a:solidFill>
              <a:srgbClr val="D7003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dirty="0">
                <a:solidFill>
                  <a:schemeClr val="bg1"/>
                </a:solidFill>
              </a:endParaRPr>
            </a:p>
          </p:txBody>
        </p:sp>
        <p:sp>
          <p:nvSpPr>
            <p:cNvPr id="9" name="椭圆 8">
              <a:extLst>
                <a:ext uri="{FF2B5EF4-FFF2-40B4-BE49-F238E27FC236}">
                  <a16:creationId xmlns:a16="http://schemas.microsoft.com/office/drawing/2014/main" id="{85E27A98-3D02-F845-960E-44DBA3BEF16B}"/>
                </a:ext>
              </a:extLst>
            </p:cNvPr>
            <p:cNvSpPr/>
            <p:nvPr/>
          </p:nvSpPr>
          <p:spPr>
            <a:xfrm>
              <a:off x="2520473" y="1607127"/>
              <a:ext cx="648000" cy="648000"/>
            </a:xfrm>
            <a:prstGeom prst="ellipse">
              <a:avLst/>
            </a:prstGeom>
            <a:solidFill>
              <a:srgbClr val="F904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rPr>
                <a:t>01</a:t>
              </a:r>
              <a:endParaRPr lang="zh-CN" altLang="en-US" sz="1600" dirty="0">
                <a:solidFill>
                  <a:schemeClr val="bg1"/>
                </a:solidFill>
              </a:endParaRPr>
            </a:p>
          </p:txBody>
        </p:sp>
        <p:sp>
          <p:nvSpPr>
            <p:cNvPr id="28" name="任意多边形: 形状 27">
              <a:extLst>
                <a:ext uri="{FF2B5EF4-FFF2-40B4-BE49-F238E27FC236}">
                  <a16:creationId xmlns:a16="http://schemas.microsoft.com/office/drawing/2014/main" id="{F72FBD22-EF0E-E6E8-3DAF-34C20D8EB6F4}"/>
                </a:ext>
              </a:extLst>
            </p:cNvPr>
            <p:cNvSpPr/>
            <p:nvPr/>
          </p:nvSpPr>
          <p:spPr>
            <a:xfrm>
              <a:off x="3232113" y="1931127"/>
              <a:ext cx="1640726" cy="360000"/>
            </a:xfrm>
            <a:custGeom>
              <a:avLst/>
              <a:gdLst>
                <a:gd name="csX0" fmla="*/ 140144 w 1640726"/>
                <a:gd name="csY0" fmla="*/ 0 h 360000"/>
                <a:gd name="csX1" fmla="*/ 1640726 w 1640726"/>
                <a:gd name="csY1" fmla="*/ 0 h 360000"/>
                <a:gd name="csX2" fmla="*/ 1280726 w 1640726"/>
                <a:gd name="csY2" fmla="*/ 360000 h 360000"/>
                <a:gd name="csX3" fmla="*/ 851017 w 1640726"/>
                <a:gd name="csY3" fmla="*/ 360000 h 360000"/>
                <a:gd name="csX4" fmla="*/ 421308 w 1640726"/>
                <a:gd name="csY4" fmla="*/ 360000 h 360000"/>
                <a:gd name="csX5" fmla="*/ 0 w 1640726"/>
                <a:gd name="csY5" fmla="*/ 360000 h 360000"/>
                <a:gd name="csX6" fmla="*/ 47921 w 1640726"/>
                <a:gd name="csY6" fmla="*/ 301919 h 360000"/>
                <a:gd name="csX7" fmla="*/ 140144 w 1640726"/>
                <a:gd name="csY7" fmla="*/ 0 h 36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640726" h="360000">
                  <a:moveTo>
                    <a:pt x="140144" y="0"/>
                  </a:moveTo>
                  <a:lnTo>
                    <a:pt x="1640726" y="0"/>
                  </a:lnTo>
                  <a:cubicBezTo>
                    <a:pt x="1640726" y="198823"/>
                    <a:pt x="1479549" y="360000"/>
                    <a:pt x="1280726" y="360000"/>
                  </a:cubicBezTo>
                  <a:lnTo>
                    <a:pt x="851017" y="360000"/>
                  </a:lnTo>
                  <a:lnTo>
                    <a:pt x="421308" y="360000"/>
                  </a:lnTo>
                  <a:lnTo>
                    <a:pt x="0" y="360000"/>
                  </a:lnTo>
                  <a:lnTo>
                    <a:pt x="47921" y="301919"/>
                  </a:lnTo>
                  <a:cubicBezTo>
                    <a:pt x="106146" y="215735"/>
                    <a:pt x="140144" y="111838"/>
                    <a:pt x="140144" y="0"/>
                  </a:cubicBezTo>
                  <a:close/>
                </a:path>
              </a:pathLst>
            </a:custGeom>
            <a:solidFill>
              <a:srgbClr val="F9044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bg1"/>
                  </a:solidFill>
                </a:rPr>
                <a:t>Scoping</a:t>
              </a:r>
              <a:endParaRPr lang="zh-CN" altLang="en-US" sz="1400" dirty="0">
                <a:solidFill>
                  <a:schemeClr val="bg1"/>
                </a:solidFill>
              </a:endParaRPr>
            </a:p>
          </p:txBody>
        </p:sp>
        <p:sp>
          <p:nvSpPr>
            <p:cNvPr id="31" name="任意多边形: 形状 30">
              <a:extLst>
                <a:ext uri="{FF2B5EF4-FFF2-40B4-BE49-F238E27FC236}">
                  <a16:creationId xmlns:a16="http://schemas.microsoft.com/office/drawing/2014/main" id="{3607070B-926A-C0CD-CFCD-4FBD34262A7B}"/>
                </a:ext>
              </a:extLst>
            </p:cNvPr>
            <p:cNvSpPr/>
            <p:nvPr/>
          </p:nvSpPr>
          <p:spPr>
            <a:xfrm>
              <a:off x="3232113" y="1571127"/>
              <a:ext cx="1640726" cy="360000"/>
            </a:xfrm>
            <a:custGeom>
              <a:avLst/>
              <a:gdLst>
                <a:gd name="csX0" fmla="*/ 0 w 1640726"/>
                <a:gd name="csY0" fmla="*/ 0 h 360000"/>
                <a:gd name="csX1" fmla="*/ 421308 w 1640726"/>
                <a:gd name="csY1" fmla="*/ 0 h 360000"/>
                <a:gd name="csX2" fmla="*/ 851017 w 1640726"/>
                <a:gd name="csY2" fmla="*/ 0 h 360000"/>
                <a:gd name="csX3" fmla="*/ 1280726 w 1640726"/>
                <a:gd name="csY3" fmla="*/ 0 h 360000"/>
                <a:gd name="csX4" fmla="*/ 1640726 w 1640726"/>
                <a:gd name="csY4" fmla="*/ 360000 h 360000"/>
                <a:gd name="csX5" fmla="*/ 140144 w 1640726"/>
                <a:gd name="csY5" fmla="*/ 360000 h 360000"/>
                <a:gd name="csX6" fmla="*/ 47921 w 1640726"/>
                <a:gd name="csY6" fmla="*/ 58081 h 360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40726" h="360000">
                  <a:moveTo>
                    <a:pt x="0" y="0"/>
                  </a:moveTo>
                  <a:lnTo>
                    <a:pt x="421308" y="0"/>
                  </a:lnTo>
                  <a:lnTo>
                    <a:pt x="851017" y="0"/>
                  </a:lnTo>
                  <a:lnTo>
                    <a:pt x="1280726" y="0"/>
                  </a:lnTo>
                  <a:cubicBezTo>
                    <a:pt x="1479549" y="0"/>
                    <a:pt x="1640726" y="161177"/>
                    <a:pt x="1640726" y="360000"/>
                  </a:cubicBezTo>
                  <a:lnTo>
                    <a:pt x="140144" y="360000"/>
                  </a:lnTo>
                  <a:cubicBezTo>
                    <a:pt x="140144" y="248162"/>
                    <a:pt x="106146" y="144265"/>
                    <a:pt x="47921" y="58081"/>
                  </a:cubicBezTo>
                  <a:close/>
                </a:path>
              </a:pathLst>
            </a:custGeom>
            <a:solidFill>
              <a:srgbClr val="D7003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bg1"/>
                  </a:solidFill>
                </a:rPr>
                <a:t>Environment</a:t>
              </a:r>
              <a:endParaRPr lang="zh-CN" altLang="en-US" sz="1400" dirty="0">
                <a:solidFill>
                  <a:schemeClr val="bg1"/>
                </a:solidFill>
              </a:endParaRPr>
            </a:p>
          </p:txBody>
        </p:sp>
      </p:grpSp>
      <p:grpSp>
        <p:nvGrpSpPr>
          <p:cNvPr id="47" name="组合 46">
            <a:extLst>
              <a:ext uri="{FF2B5EF4-FFF2-40B4-BE49-F238E27FC236}">
                <a16:creationId xmlns:a16="http://schemas.microsoft.com/office/drawing/2014/main" id="{056E292F-FFAA-9004-BF57-26DB0A3EA4F1}"/>
              </a:ext>
            </a:extLst>
          </p:cNvPr>
          <p:cNvGrpSpPr/>
          <p:nvPr/>
        </p:nvGrpSpPr>
        <p:grpSpPr>
          <a:xfrm>
            <a:off x="5914312" y="2401499"/>
            <a:ext cx="2568366" cy="1080000"/>
            <a:chOff x="6034980" y="1726998"/>
            <a:chExt cx="2568366" cy="1080000"/>
          </a:xfrm>
        </p:grpSpPr>
        <p:sp>
          <p:nvSpPr>
            <p:cNvPr id="35" name="任意多边形: 形状 34">
              <a:extLst>
                <a:ext uri="{FF2B5EF4-FFF2-40B4-BE49-F238E27FC236}">
                  <a16:creationId xmlns:a16="http://schemas.microsoft.com/office/drawing/2014/main" id="{2C03FE58-BBDC-B532-6F8E-2B1151E0F223}"/>
                </a:ext>
              </a:extLst>
            </p:cNvPr>
            <p:cNvSpPr/>
            <p:nvPr/>
          </p:nvSpPr>
          <p:spPr>
            <a:xfrm>
              <a:off x="6034980" y="1726998"/>
              <a:ext cx="1080000" cy="1080000"/>
            </a:xfrm>
            <a:custGeom>
              <a:avLst/>
              <a:gdLst>
                <a:gd name="csX0" fmla="*/ 540000 w 1080000"/>
                <a:gd name="csY0" fmla="*/ 0 h 1080000"/>
                <a:gd name="csX1" fmla="*/ 1080000 w 1080000"/>
                <a:gd name="csY1" fmla="*/ 540000 h 1080000"/>
                <a:gd name="csX2" fmla="*/ 540000 w 1080000"/>
                <a:gd name="csY2" fmla="*/ 1080000 h 1080000"/>
                <a:gd name="csX3" fmla="*/ 540000 w 1080000"/>
                <a:gd name="csY3" fmla="*/ 972000 h 1080000"/>
                <a:gd name="csX4" fmla="*/ 972000 w 1080000"/>
                <a:gd name="csY4" fmla="*/ 540000 h 1080000"/>
                <a:gd name="csX5" fmla="*/ 540000 w 1080000"/>
                <a:gd name="csY5" fmla="*/ 108000 h 1080000"/>
                <a:gd name="csX6" fmla="*/ 108000 w 1080000"/>
                <a:gd name="csY6" fmla="*/ 540000 h 1080000"/>
                <a:gd name="csX7" fmla="*/ 0 w 1080000"/>
                <a:gd name="csY7" fmla="*/ 540000 h 1080000"/>
                <a:gd name="csX8" fmla="*/ 540000 w 1080000"/>
                <a:gd name="csY8" fmla="*/ 0 h 108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080000" h="1080000">
                  <a:moveTo>
                    <a:pt x="540000" y="0"/>
                  </a:moveTo>
                  <a:cubicBezTo>
                    <a:pt x="838234" y="0"/>
                    <a:pt x="1080000" y="241766"/>
                    <a:pt x="1080000" y="540000"/>
                  </a:cubicBezTo>
                  <a:cubicBezTo>
                    <a:pt x="1080000" y="838234"/>
                    <a:pt x="838234" y="1080000"/>
                    <a:pt x="540000" y="1080000"/>
                  </a:cubicBezTo>
                  <a:lnTo>
                    <a:pt x="540000" y="972000"/>
                  </a:lnTo>
                  <a:cubicBezTo>
                    <a:pt x="778587" y="972000"/>
                    <a:pt x="972000" y="778587"/>
                    <a:pt x="972000" y="540000"/>
                  </a:cubicBezTo>
                  <a:cubicBezTo>
                    <a:pt x="972000" y="301413"/>
                    <a:pt x="778587" y="108000"/>
                    <a:pt x="540000" y="108000"/>
                  </a:cubicBezTo>
                  <a:cubicBezTo>
                    <a:pt x="301413" y="108000"/>
                    <a:pt x="108000" y="301413"/>
                    <a:pt x="108000" y="540000"/>
                  </a:cubicBezTo>
                  <a:lnTo>
                    <a:pt x="0" y="540000"/>
                  </a:lnTo>
                  <a:cubicBezTo>
                    <a:pt x="0" y="241766"/>
                    <a:pt x="241766" y="0"/>
                    <a:pt x="540000" y="0"/>
                  </a:cubicBezTo>
                  <a:close/>
                </a:path>
              </a:pathLst>
            </a:custGeom>
            <a:solidFill>
              <a:srgbClr val="D50A9A"/>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dirty="0">
                <a:solidFill>
                  <a:schemeClr val="bg1"/>
                </a:solidFill>
              </a:endParaRPr>
            </a:p>
          </p:txBody>
        </p:sp>
        <p:sp>
          <p:nvSpPr>
            <p:cNvPr id="36" name="椭圆 35">
              <a:extLst>
                <a:ext uri="{FF2B5EF4-FFF2-40B4-BE49-F238E27FC236}">
                  <a16:creationId xmlns:a16="http://schemas.microsoft.com/office/drawing/2014/main" id="{4050870A-DE06-5445-5BF1-E62E48939261}"/>
                </a:ext>
              </a:extLst>
            </p:cNvPr>
            <p:cNvSpPr/>
            <p:nvPr/>
          </p:nvSpPr>
          <p:spPr>
            <a:xfrm>
              <a:off x="6250980" y="1942998"/>
              <a:ext cx="648000" cy="648000"/>
            </a:xfrm>
            <a:prstGeom prst="ellipse">
              <a:avLst/>
            </a:prstGeom>
            <a:solidFill>
              <a:srgbClr val="FF21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rPr>
                <a:t>03</a:t>
              </a:r>
              <a:endParaRPr lang="zh-CN" altLang="en-US" sz="1600" dirty="0">
                <a:solidFill>
                  <a:schemeClr val="bg1"/>
                </a:solidFill>
              </a:endParaRPr>
            </a:p>
          </p:txBody>
        </p:sp>
        <p:sp>
          <p:nvSpPr>
            <p:cNvPr id="37" name="任意多边形: 形状 36">
              <a:extLst>
                <a:ext uri="{FF2B5EF4-FFF2-40B4-BE49-F238E27FC236}">
                  <a16:creationId xmlns:a16="http://schemas.microsoft.com/office/drawing/2014/main" id="{68C7374C-8D2A-7D41-97C0-C3F161770AD2}"/>
                </a:ext>
              </a:extLst>
            </p:cNvPr>
            <p:cNvSpPr/>
            <p:nvPr/>
          </p:nvSpPr>
          <p:spPr>
            <a:xfrm>
              <a:off x="6962620" y="2266998"/>
              <a:ext cx="1640726" cy="360000"/>
            </a:xfrm>
            <a:custGeom>
              <a:avLst/>
              <a:gdLst>
                <a:gd name="csX0" fmla="*/ 140144 w 1640726"/>
                <a:gd name="csY0" fmla="*/ 0 h 360000"/>
                <a:gd name="csX1" fmla="*/ 1640726 w 1640726"/>
                <a:gd name="csY1" fmla="*/ 0 h 360000"/>
                <a:gd name="csX2" fmla="*/ 1280726 w 1640726"/>
                <a:gd name="csY2" fmla="*/ 360000 h 360000"/>
                <a:gd name="csX3" fmla="*/ 851017 w 1640726"/>
                <a:gd name="csY3" fmla="*/ 360000 h 360000"/>
                <a:gd name="csX4" fmla="*/ 421308 w 1640726"/>
                <a:gd name="csY4" fmla="*/ 360000 h 360000"/>
                <a:gd name="csX5" fmla="*/ 0 w 1640726"/>
                <a:gd name="csY5" fmla="*/ 360000 h 360000"/>
                <a:gd name="csX6" fmla="*/ 47921 w 1640726"/>
                <a:gd name="csY6" fmla="*/ 301919 h 360000"/>
                <a:gd name="csX7" fmla="*/ 140144 w 1640726"/>
                <a:gd name="csY7" fmla="*/ 0 h 36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640726" h="360000">
                  <a:moveTo>
                    <a:pt x="140144" y="0"/>
                  </a:moveTo>
                  <a:lnTo>
                    <a:pt x="1640726" y="0"/>
                  </a:lnTo>
                  <a:cubicBezTo>
                    <a:pt x="1640726" y="198823"/>
                    <a:pt x="1479549" y="360000"/>
                    <a:pt x="1280726" y="360000"/>
                  </a:cubicBezTo>
                  <a:lnTo>
                    <a:pt x="851017" y="360000"/>
                  </a:lnTo>
                  <a:lnTo>
                    <a:pt x="421308" y="360000"/>
                  </a:lnTo>
                  <a:lnTo>
                    <a:pt x="0" y="360000"/>
                  </a:lnTo>
                  <a:lnTo>
                    <a:pt x="47921" y="301919"/>
                  </a:lnTo>
                  <a:cubicBezTo>
                    <a:pt x="106146" y="215735"/>
                    <a:pt x="140144" y="111838"/>
                    <a:pt x="140144" y="0"/>
                  </a:cubicBezTo>
                  <a:close/>
                </a:path>
              </a:pathLst>
            </a:custGeom>
            <a:solidFill>
              <a:srgbClr val="FF21BA"/>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bg1"/>
                  </a:solidFill>
                </a:rPr>
                <a:t>OBS</a:t>
              </a:r>
              <a:endParaRPr lang="zh-CN" altLang="en-US" sz="1400" dirty="0">
                <a:solidFill>
                  <a:schemeClr val="bg1"/>
                </a:solidFill>
              </a:endParaRPr>
            </a:p>
          </p:txBody>
        </p:sp>
        <p:sp>
          <p:nvSpPr>
            <p:cNvPr id="38" name="任意多边形: 形状 37">
              <a:extLst>
                <a:ext uri="{FF2B5EF4-FFF2-40B4-BE49-F238E27FC236}">
                  <a16:creationId xmlns:a16="http://schemas.microsoft.com/office/drawing/2014/main" id="{FB06CB91-B3CB-CE74-B7F0-7E5ECD6F1912}"/>
                </a:ext>
              </a:extLst>
            </p:cNvPr>
            <p:cNvSpPr/>
            <p:nvPr/>
          </p:nvSpPr>
          <p:spPr>
            <a:xfrm>
              <a:off x="6962620" y="1906998"/>
              <a:ext cx="1640726" cy="360000"/>
            </a:xfrm>
            <a:custGeom>
              <a:avLst/>
              <a:gdLst>
                <a:gd name="csX0" fmla="*/ 0 w 1640726"/>
                <a:gd name="csY0" fmla="*/ 0 h 360000"/>
                <a:gd name="csX1" fmla="*/ 421308 w 1640726"/>
                <a:gd name="csY1" fmla="*/ 0 h 360000"/>
                <a:gd name="csX2" fmla="*/ 851017 w 1640726"/>
                <a:gd name="csY2" fmla="*/ 0 h 360000"/>
                <a:gd name="csX3" fmla="*/ 1280726 w 1640726"/>
                <a:gd name="csY3" fmla="*/ 0 h 360000"/>
                <a:gd name="csX4" fmla="*/ 1640726 w 1640726"/>
                <a:gd name="csY4" fmla="*/ 360000 h 360000"/>
                <a:gd name="csX5" fmla="*/ 140144 w 1640726"/>
                <a:gd name="csY5" fmla="*/ 360000 h 360000"/>
                <a:gd name="csX6" fmla="*/ 47921 w 1640726"/>
                <a:gd name="csY6" fmla="*/ 58081 h 360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40726" h="360000">
                  <a:moveTo>
                    <a:pt x="0" y="0"/>
                  </a:moveTo>
                  <a:lnTo>
                    <a:pt x="421308" y="0"/>
                  </a:lnTo>
                  <a:lnTo>
                    <a:pt x="851017" y="0"/>
                  </a:lnTo>
                  <a:lnTo>
                    <a:pt x="1280726" y="0"/>
                  </a:lnTo>
                  <a:cubicBezTo>
                    <a:pt x="1479549" y="0"/>
                    <a:pt x="1640726" y="161177"/>
                    <a:pt x="1640726" y="360000"/>
                  </a:cubicBezTo>
                  <a:lnTo>
                    <a:pt x="140144" y="360000"/>
                  </a:lnTo>
                  <a:cubicBezTo>
                    <a:pt x="140144" y="248162"/>
                    <a:pt x="106146" y="144265"/>
                    <a:pt x="47921" y="58081"/>
                  </a:cubicBezTo>
                  <a:close/>
                </a:path>
              </a:pathLst>
            </a:custGeom>
            <a:solidFill>
              <a:srgbClr val="D50A9A"/>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bg1"/>
                  </a:solidFill>
                </a:rPr>
                <a:t>Develop</a:t>
              </a:r>
              <a:endParaRPr lang="zh-CN" altLang="en-US" sz="1400" dirty="0">
                <a:solidFill>
                  <a:schemeClr val="bg1"/>
                </a:solidFill>
              </a:endParaRPr>
            </a:p>
          </p:txBody>
        </p:sp>
      </p:grpSp>
      <p:grpSp>
        <p:nvGrpSpPr>
          <p:cNvPr id="48" name="组合 47">
            <a:extLst>
              <a:ext uri="{FF2B5EF4-FFF2-40B4-BE49-F238E27FC236}">
                <a16:creationId xmlns:a16="http://schemas.microsoft.com/office/drawing/2014/main" id="{DCFC3A89-F37B-6604-485B-52F7E4CE4197}"/>
              </a:ext>
            </a:extLst>
          </p:cNvPr>
          <p:cNvGrpSpPr/>
          <p:nvPr/>
        </p:nvGrpSpPr>
        <p:grpSpPr>
          <a:xfrm>
            <a:off x="6876942" y="3358030"/>
            <a:ext cx="2568366" cy="1080000"/>
            <a:chOff x="7766799" y="3127165"/>
            <a:chExt cx="2568366" cy="1080000"/>
          </a:xfrm>
        </p:grpSpPr>
        <p:sp>
          <p:nvSpPr>
            <p:cNvPr id="39" name="任意多边形: 形状 38">
              <a:extLst>
                <a:ext uri="{FF2B5EF4-FFF2-40B4-BE49-F238E27FC236}">
                  <a16:creationId xmlns:a16="http://schemas.microsoft.com/office/drawing/2014/main" id="{093334E0-429F-6F2F-7D6F-F69B6D7CC8CE}"/>
                </a:ext>
              </a:extLst>
            </p:cNvPr>
            <p:cNvSpPr/>
            <p:nvPr/>
          </p:nvSpPr>
          <p:spPr>
            <a:xfrm>
              <a:off x="7766799" y="3127165"/>
              <a:ext cx="1080000" cy="1080000"/>
            </a:xfrm>
            <a:custGeom>
              <a:avLst/>
              <a:gdLst>
                <a:gd name="csX0" fmla="*/ 540000 w 1080000"/>
                <a:gd name="csY0" fmla="*/ 0 h 1080000"/>
                <a:gd name="csX1" fmla="*/ 1080000 w 1080000"/>
                <a:gd name="csY1" fmla="*/ 540000 h 1080000"/>
                <a:gd name="csX2" fmla="*/ 540000 w 1080000"/>
                <a:gd name="csY2" fmla="*/ 1080000 h 1080000"/>
                <a:gd name="csX3" fmla="*/ 540000 w 1080000"/>
                <a:gd name="csY3" fmla="*/ 972000 h 1080000"/>
                <a:gd name="csX4" fmla="*/ 972000 w 1080000"/>
                <a:gd name="csY4" fmla="*/ 540000 h 1080000"/>
                <a:gd name="csX5" fmla="*/ 540000 w 1080000"/>
                <a:gd name="csY5" fmla="*/ 108000 h 1080000"/>
                <a:gd name="csX6" fmla="*/ 108000 w 1080000"/>
                <a:gd name="csY6" fmla="*/ 540000 h 1080000"/>
                <a:gd name="csX7" fmla="*/ 0 w 1080000"/>
                <a:gd name="csY7" fmla="*/ 540000 h 1080000"/>
                <a:gd name="csX8" fmla="*/ 540000 w 1080000"/>
                <a:gd name="csY8" fmla="*/ 0 h 108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080000" h="1080000">
                  <a:moveTo>
                    <a:pt x="540000" y="0"/>
                  </a:moveTo>
                  <a:cubicBezTo>
                    <a:pt x="838234" y="0"/>
                    <a:pt x="1080000" y="241766"/>
                    <a:pt x="1080000" y="540000"/>
                  </a:cubicBezTo>
                  <a:cubicBezTo>
                    <a:pt x="1080000" y="838234"/>
                    <a:pt x="838234" y="1080000"/>
                    <a:pt x="540000" y="1080000"/>
                  </a:cubicBezTo>
                  <a:lnTo>
                    <a:pt x="540000" y="972000"/>
                  </a:lnTo>
                  <a:cubicBezTo>
                    <a:pt x="778587" y="972000"/>
                    <a:pt x="972000" y="778587"/>
                    <a:pt x="972000" y="540000"/>
                  </a:cubicBezTo>
                  <a:cubicBezTo>
                    <a:pt x="972000" y="301413"/>
                    <a:pt x="778587" y="108000"/>
                    <a:pt x="540000" y="108000"/>
                  </a:cubicBezTo>
                  <a:cubicBezTo>
                    <a:pt x="301413" y="108000"/>
                    <a:pt x="108000" y="301413"/>
                    <a:pt x="108000" y="540000"/>
                  </a:cubicBezTo>
                  <a:lnTo>
                    <a:pt x="0" y="540000"/>
                  </a:lnTo>
                  <a:cubicBezTo>
                    <a:pt x="0" y="241766"/>
                    <a:pt x="241766" y="0"/>
                    <a:pt x="540000" y="0"/>
                  </a:cubicBezTo>
                  <a:close/>
                </a:path>
              </a:pathLst>
            </a:custGeom>
            <a:solidFill>
              <a:srgbClr val="017CB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dirty="0">
                <a:solidFill>
                  <a:schemeClr val="bg1"/>
                </a:solidFill>
              </a:endParaRPr>
            </a:p>
          </p:txBody>
        </p:sp>
        <p:sp>
          <p:nvSpPr>
            <p:cNvPr id="40" name="椭圆 39">
              <a:extLst>
                <a:ext uri="{FF2B5EF4-FFF2-40B4-BE49-F238E27FC236}">
                  <a16:creationId xmlns:a16="http://schemas.microsoft.com/office/drawing/2014/main" id="{3D351126-8A61-32EC-4419-43E72192C51E}"/>
                </a:ext>
              </a:extLst>
            </p:cNvPr>
            <p:cNvSpPr/>
            <p:nvPr/>
          </p:nvSpPr>
          <p:spPr>
            <a:xfrm>
              <a:off x="7982799" y="3343165"/>
              <a:ext cx="648000" cy="648000"/>
            </a:xfrm>
            <a:prstGeom prst="ellipse">
              <a:avLst/>
            </a:prstGeom>
            <a:solidFill>
              <a:srgbClr val="2EA8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rPr>
                <a:t>05</a:t>
              </a:r>
              <a:endParaRPr lang="zh-CN" altLang="en-US" sz="1600" dirty="0">
                <a:solidFill>
                  <a:schemeClr val="bg1"/>
                </a:solidFill>
              </a:endParaRPr>
            </a:p>
          </p:txBody>
        </p:sp>
        <p:sp>
          <p:nvSpPr>
            <p:cNvPr id="41" name="任意多边形: 形状 40">
              <a:extLst>
                <a:ext uri="{FF2B5EF4-FFF2-40B4-BE49-F238E27FC236}">
                  <a16:creationId xmlns:a16="http://schemas.microsoft.com/office/drawing/2014/main" id="{E14160D9-0F01-99AB-6DB4-31C6C6BC41BE}"/>
                </a:ext>
              </a:extLst>
            </p:cNvPr>
            <p:cNvSpPr/>
            <p:nvPr/>
          </p:nvSpPr>
          <p:spPr>
            <a:xfrm>
              <a:off x="8694439" y="3667165"/>
              <a:ext cx="1640726" cy="360000"/>
            </a:xfrm>
            <a:custGeom>
              <a:avLst/>
              <a:gdLst>
                <a:gd name="csX0" fmla="*/ 140144 w 1640726"/>
                <a:gd name="csY0" fmla="*/ 0 h 360000"/>
                <a:gd name="csX1" fmla="*/ 1640726 w 1640726"/>
                <a:gd name="csY1" fmla="*/ 0 h 360000"/>
                <a:gd name="csX2" fmla="*/ 1280726 w 1640726"/>
                <a:gd name="csY2" fmla="*/ 360000 h 360000"/>
                <a:gd name="csX3" fmla="*/ 851017 w 1640726"/>
                <a:gd name="csY3" fmla="*/ 360000 h 360000"/>
                <a:gd name="csX4" fmla="*/ 421308 w 1640726"/>
                <a:gd name="csY4" fmla="*/ 360000 h 360000"/>
                <a:gd name="csX5" fmla="*/ 0 w 1640726"/>
                <a:gd name="csY5" fmla="*/ 360000 h 360000"/>
                <a:gd name="csX6" fmla="*/ 47921 w 1640726"/>
                <a:gd name="csY6" fmla="*/ 301919 h 360000"/>
                <a:gd name="csX7" fmla="*/ 140144 w 1640726"/>
                <a:gd name="csY7" fmla="*/ 0 h 36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640726" h="360000">
                  <a:moveTo>
                    <a:pt x="140144" y="0"/>
                  </a:moveTo>
                  <a:lnTo>
                    <a:pt x="1640726" y="0"/>
                  </a:lnTo>
                  <a:cubicBezTo>
                    <a:pt x="1640726" y="198823"/>
                    <a:pt x="1479549" y="360000"/>
                    <a:pt x="1280726" y="360000"/>
                  </a:cubicBezTo>
                  <a:lnTo>
                    <a:pt x="851017" y="360000"/>
                  </a:lnTo>
                  <a:lnTo>
                    <a:pt x="421308" y="360000"/>
                  </a:lnTo>
                  <a:lnTo>
                    <a:pt x="0" y="360000"/>
                  </a:lnTo>
                  <a:lnTo>
                    <a:pt x="47921" y="301919"/>
                  </a:lnTo>
                  <a:cubicBezTo>
                    <a:pt x="106146" y="215735"/>
                    <a:pt x="140144" y="111838"/>
                    <a:pt x="140144" y="0"/>
                  </a:cubicBezTo>
                  <a:close/>
                </a:path>
              </a:pathLst>
            </a:custGeom>
            <a:solidFill>
              <a:srgbClr val="2EA8DC"/>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bg1"/>
                  </a:solidFill>
                </a:rPr>
                <a:t>Linkage</a:t>
              </a:r>
              <a:endParaRPr lang="zh-CN" altLang="en-US" sz="1400" dirty="0">
                <a:solidFill>
                  <a:schemeClr val="bg1"/>
                </a:solidFill>
              </a:endParaRPr>
            </a:p>
          </p:txBody>
        </p:sp>
        <p:sp>
          <p:nvSpPr>
            <p:cNvPr id="42" name="任意多边形: 形状 41">
              <a:extLst>
                <a:ext uri="{FF2B5EF4-FFF2-40B4-BE49-F238E27FC236}">
                  <a16:creationId xmlns:a16="http://schemas.microsoft.com/office/drawing/2014/main" id="{4882EFD2-5AD7-D984-8811-E23282720F9D}"/>
                </a:ext>
              </a:extLst>
            </p:cNvPr>
            <p:cNvSpPr/>
            <p:nvPr/>
          </p:nvSpPr>
          <p:spPr>
            <a:xfrm>
              <a:off x="8694439" y="3307165"/>
              <a:ext cx="1640726" cy="360000"/>
            </a:xfrm>
            <a:custGeom>
              <a:avLst/>
              <a:gdLst>
                <a:gd name="csX0" fmla="*/ 0 w 1640726"/>
                <a:gd name="csY0" fmla="*/ 0 h 360000"/>
                <a:gd name="csX1" fmla="*/ 421308 w 1640726"/>
                <a:gd name="csY1" fmla="*/ 0 h 360000"/>
                <a:gd name="csX2" fmla="*/ 851017 w 1640726"/>
                <a:gd name="csY2" fmla="*/ 0 h 360000"/>
                <a:gd name="csX3" fmla="*/ 1280726 w 1640726"/>
                <a:gd name="csY3" fmla="*/ 0 h 360000"/>
                <a:gd name="csX4" fmla="*/ 1640726 w 1640726"/>
                <a:gd name="csY4" fmla="*/ 360000 h 360000"/>
                <a:gd name="csX5" fmla="*/ 140144 w 1640726"/>
                <a:gd name="csY5" fmla="*/ 360000 h 360000"/>
                <a:gd name="csX6" fmla="*/ 47921 w 1640726"/>
                <a:gd name="csY6" fmla="*/ 58081 h 360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40726" h="360000">
                  <a:moveTo>
                    <a:pt x="0" y="0"/>
                  </a:moveTo>
                  <a:lnTo>
                    <a:pt x="421308" y="0"/>
                  </a:lnTo>
                  <a:lnTo>
                    <a:pt x="851017" y="0"/>
                  </a:lnTo>
                  <a:lnTo>
                    <a:pt x="1280726" y="0"/>
                  </a:lnTo>
                  <a:cubicBezTo>
                    <a:pt x="1479549" y="0"/>
                    <a:pt x="1640726" y="161177"/>
                    <a:pt x="1640726" y="360000"/>
                  </a:cubicBezTo>
                  <a:lnTo>
                    <a:pt x="140144" y="360000"/>
                  </a:lnTo>
                  <a:cubicBezTo>
                    <a:pt x="140144" y="248162"/>
                    <a:pt x="106146" y="144265"/>
                    <a:pt x="47921" y="58081"/>
                  </a:cubicBezTo>
                  <a:close/>
                </a:path>
              </a:pathLst>
            </a:custGeom>
            <a:solidFill>
              <a:srgbClr val="017CB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bg1"/>
                  </a:solidFill>
                </a:rPr>
                <a:t>Establish</a:t>
              </a:r>
              <a:endParaRPr lang="zh-CN" altLang="en-US" sz="1400" dirty="0">
                <a:solidFill>
                  <a:schemeClr val="bg1"/>
                </a:solidFill>
              </a:endParaRPr>
            </a:p>
          </p:txBody>
        </p:sp>
      </p:grpSp>
      <p:grpSp>
        <p:nvGrpSpPr>
          <p:cNvPr id="49" name="组合 48">
            <a:extLst>
              <a:ext uri="{FF2B5EF4-FFF2-40B4-BE49-F238E27FC236}">
                <a16:creationId xmlns:a16="http://schemas.microsoft.com/office/drawing/2014/main" id="{A0439D88-081A-ED4E-50DA-6F14301990C5}"/>
              </a:ext>
            </a:extLst>
          </p:cNvPr>
          <p:cNvGrpSpPr/>
          <p:nvPr/>
        </p:nvGrpSpPr>
        <p:grpSpPr>
          <a:xfrm>
            <a:off x="7839572" y="4314560"/>
            <a:ext cx="2568366" cy="1080000"/>
            <a:chOff x="8707561" y="4567165"/>
            <a:chExt cx="2568366" cy="1080000"/>
          </a:xfrm>
        </p:grpSpPr>
        <p:sp>
          <p:nvSpPr>
            <p:cNvPr id="43" name="任意多边形: 形状 42">
              <a:extLst>
                <a:ext uri="{FF2B5EF4-FFF2-40B4-BE49-F238E27FC236}">
                  <a16:creationId xmlns:a16="http://schemas.microsoft.com/office/drawing/2014/main" id="{8598B11B-C234-24E2-8117-0AD087EBB57C}"/>
                </a:ext>
              </a:extLst>
            </p:cNvPr>
            <p:cNvSpPr/>
            <p:nvPr/>
          </p:nvSpPr>
          <p:spPr>
            <a:xfrm>
              <a:off x="8707561" y="4567165"/>
              <a:ext cx="1080000" cy="1080000"/>
            </a:xfrm>
            <a:custGeom>
              <a:avLst/>
              <a:gdLst>
                <a:gd name="csX0" fmla="*/ 540000 w 1080000"/>
                <a:gd name="csY0" fmla="*/ 0 h 1080000"/>
                <a:gd name="csX1" fmla="*/ 1080000 w 1080000"/>
                <a:gd name="csY1" fmla="*/ 540000 h 1080000"/>
                <a:gd name="csX2" fmla="*/ 540000 w 1080000"/>
                <a:gd name="csY2" fmla="*/ 1080000 h 1080000"/>
                <a:gd name="csX3" fmla="*/ 540000 w 1080000"/>
                <a:gd name="csY3" fmla="*/ 972000 h 1080000"/>
                <a:gd name="csX4" fmla="*/ 972000 w 1080000"/>
                <a:gd name="csY4" fmla="*/ 540000 h 1080000"/>
                <a:gd name="csX5" fmla="*/ 540000 w 1080000"/>
                <a:gd name="csY5" fmla="*/ 108000 h 1080000"/>
                <a:gd name="csX6" fmla="*/ 108000 w 1080000"/>
                <a:gd name="csY6" fmla="*/ 540000 h 1080000"/>
                <a:gd name="csX7" fmla="*/ 0 w 1080000"/>
                <a:gd name="csY7" fmla="*/ 540000 h 1080000"/>
                <a:gd name="csX8" fmla="*/ 540000 w 1080000"/>
                <a:gd name="csY8" fmla="*/ 0 h 108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080000" h="1080000">
                  <a:moveTo>
                    <a:pt x="540000" y="0"/>
                  </a:moveTo>
                  <a:cubicBezTo>
                    <a:pt x="838234" y="0"/>
                    <a:pt x="1080000" y="241766"/>
                    <a:pt x="1080000" y="540000"/>
                  </a:cubicBezTo>
                  <a:cubicBezTo>
                    <a:pt x="1080000" y="838234"/>
                    <a:pt x="838234" y="1080000"/>
                    <a:pt x="540000" y="1080000"/>
                  </a:cubicBezTo>
                  <a:lnTo>
                    <a:pt x="540000" y="972000"/>
                  </a:lnTo>
                  <a:cubicBezTo>
                    <a:pt x="778587" y="972000"/>
                    <a:pt x="972000" y="778587"/>
                    <a:pt x="972000" y="540000"/>
                  </a:cubicBezTo>
                  <a:cubicBezTo>
                    <a:pt x="972000" y="301413"/>
                    <a:pt x="778587" y="108000"/>
                    <a:pt x="540000" y="108000"/>
                  </a:cubicBezTo>
                  <a:cubicBezTo>
                    <a:pt x="301413" y="108000"/>
                    <a:pt x="108000" y="301413"/>
                    <a:pt x="108000" y="540000"/>
                  </a:cubicBezTo>
                  <a:lnTo>
                    <a:pt x="0" y="540000"/>
                  </a:lnTo>
                  <a:cubicBezTo>
                    <a:pt x="0" y="241766"/>
                    <a:pt x="241766" y="0"/>
                    <a:pt x="540000" y="0"/>
                  </a:cubicBezTo>
                  <a:close/>
                </a:path>
              </a:pathLst>
            </a:custGeom>
            <a:solidFill>
              <a:srgbClr val="1A507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dirty="0">
                <a:solidFill>
                  <a:schemeClr val="bg1"/>
                </a:solidFill>
              </a:endParaRPr>
            </a:p>
          </p:txBody>
        </p:sp>
        <p:sp>
          <p:nvSpPr>
            <p:cNvPr id="44" name="椭圆 43">
              <a:extLst>
                <a:ext uri="{FF2B5EF4-FFF2-40B4-BE49-F238E27FC236}">
                  <a16:creationId xmlns:a16="http://schemas.microsoft.com/office/drawing/2014/main" id="{5E4BDE1D-D90F-248F-4C8D-7BFD5AB97918}"/>
                </a:ext>
              </a:extLst>
            </p:cNvPr>
            <p:cNvSpPr/>
            <p:nvPr/>
          </p:nvSpPr>
          <p:spPr>
            <a:xfrm>
              <a:off x="8923561" y="4783165"/>
              <a:ext cx="648000" cy="648000"/>
            </a:xfrm>
            <a:prstGeom prst="ellipse">
              <a:avLst/>
            </a:prstGeom>
            <a:solidFill>
              <a:srgbClr val="1A50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rPr>
                <a:t>07</a:t>
              </a:r>
              <a:endParaRPr lang="zh-CN" altLang="en-US" sz="1600" dirty="0">
                <a:solidFill>
                  <a:schemeClr val="bg1"/>
                </a:solidFill>
              </a:endParaRPr>
            </a:p>
          </p:txBody>
        </p:sp>
        <p:sp>
          <p:nvSpPr>
            <p:cNvPr id="45" name="任意多边形: 形状 44">
              <a:extLst>
                <a:ext uri="{FF2B5EF4-FFF2-40B4-BE49-F238E27FC236}">
                  <a16:creationId xmlns:a16="http://schemas.microsoft.com/office/drawing/2014/main" id="{69ADA543-7142-D843-87C4-67E2C6681929}"/>
                </a:ext>
              </a:extLst>
            </p:cNvPr>
            <p:cNvSpPr/>
            <p:nvPr/>
          </p:nvSpPr>
          <p:spPr>
            <a:xfrm>
              <a:off x="9635201" y="5107165"/>
              <a:ext cx="1640726" cy="360000"/>
            </a:xfrm>
            <a:custGeom>
              <a:avLst/>
              <a:gdLst>
                <a:gd name="csX0" fmla="*/ 140144 w 1640726"/>
                <a:gd name="csY0" fmla="*/ 0 h 360000"/>
                <a:gd name="csX1" fmla="*/ 1640726 w 1640726"/>
                <a:gd name="csY1" fmla="*/ 0 h 360000"/>
                <a:gd name="csX2" fmla="*/ 1280726 w 1640726"/>
                <a:gd name="csY2" fmla="*/ 360000 h 360000"/>
                <a:gd name="csX3" fmla="*/ 851017 w 1640726"/>
                <a:gd name="csY3" fmla="*/ 360000 h 360000"/>
                <a:gd name="csX4" fmla="*/ 421308 w 1640726"/>
                <a:gd name="csY4" fmla="*/ 360000 h 360000"/>
                <a:gd name="csX5" fmla="*/ 0 w 1640726"/>
                <a:gd name="csY5" fmla="*/ 360000 h 360000"/>
                <a:gd name="csX6" fmla="*/ 47921 w 1640726"/>
                <a:gd name="csY6" fmla="*/ 301919 h 360000"/>
                <a:gd name="csX7" fmla="*/ 140144 w 1640726"/>
                <a:gd name="csY7" fmla="*/ 0 h 36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640726" h="360000">
                  <a:moveTo>
                    <a:pt x="140144" y="0"/>
                  </a:moveTo>
                  <a:lnTo>
                    <a:pt x="1640726" y="0"/>
                  </a:lnTo>
                  <a:cubicBezTo>
                    <a:pt x="1640726" y="198823"/>
                    <a:pt x="1479549" y="360000"/>
                    <a:pt x="1280726" y="360000"/>
                  </a:cubicBezTo>
                  <a:lnTo>
                    <a:pt x="851017" y="360000"/>
                  </a:lnTo>
                  <a:lnTo>
                    <a:pt x="421308" y="360000"/>
                  </a:lnTo>
                  <a:lnTo>
                    <a:pt x="0" y="360000"/>
                  </a:lnTo>
                  <a:lnTo>
                    <a:pt x="47921" y="301919"/>
                  </a:lnTo>
                  <a:cubicBezTo>
                    <a:pt x="106146" y="215735"/>
                    <a:pt x="140144" y="111838"/>
                    <a:pt x="140144" y="0"/>
                  </a:cubicBezTo>
                  <a:close/>
                </a:path>
              </a:pathLst>
            </a:custGeom>
            <a:solidFill>
              <a:srgbClr val="017CB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bg1"/>
                  </a:solidFill>
                </a:rPr>
                <a:t>Optimization</a:t>
              </a:r>
              <a:endParaRPr lang="zh-CN" altLang="en-US" sz="1400" dirty="0">
                <a:solidFill>
                  <a:schemeClr val="bg1"/>
                </a:solidFill>
              </a:endParaRPr>
            </a:p>
          </p:txBody>
        </p:sp>
        <p:sp>
          <p:nvSpPr>
            <p:cNvPr id="46" name="任意多边形: 形状 45">
              <a:extLst>
                <a:ext uri="{FF2B5EF4-FFF2-40B4-BE49-F238E27FC236}">
                  <a16:creationId xmlns:a16="http://schemas.microsoft.com/office/drawing/2014/main" id="{FB39AEC1-4AA9-3119-DCE9-47C30C8080C0}"/>
                </a:ext>
              </a:extLst>
            </p:cNvPr>
            <p:cNvSpPr/>
            <p:nvPr/>
          </p:nvSpPr>
          <p:spPr>
            <a:xfrm>
              <a:off x="9635201" y="4747165"/>
              <a:ext cx="1640726" cy="360000"/>
            </a:xfrm>
            <a:custGeom>
              <a:avLst/>
              <a:gdLst>
                <a:gd name="csX0" fmla="*/ 0 w 1640726"/>
                <a:gd name="csY0" fmla="*/ 0 h 360000"/>
                <a:gd name="csX1" fmla="*/ 421308 w 1640726"/>
                <a:gd name="csY1" fmla="*/ 0 h 360000"/>
                <a:gd name="csX2" fmla="*/ 851017 w 1640726"/>
                <a:gd name="csY2" fmla="*/ 0 h 360000"/>
                <a:gd name="csX3" fmla="*/ 1280726 w 1640726"/>
                <a:gd name="csY3" fmla="*/ 0 h 360000"/>
                <a:gd name="csX4" fmla="*/ 1640726 w 1640726"/>
                <a:gd name="csY4" fmla="*/ 360000 h 360000"/>
                <a:gd name="csX5" fmla="*/ 140144 w 1640726"/>
                <a:gd name="csY5" fmla="*/ 360000 h 360000"/>
                <a:gd name="csX6" fmla="*/ 47921 w 1640726"/>
                <a:gd name="csY6" fmla="*/ 58081 h 360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40726" h="360000">
                  <a:moveTo>
                    <a:pt x="0" y="0"/>
                  </a:moveTo>
                  <a:lnTo>
                    <a:pt x="421308" y="0"/>
                  </a:lnTo>
                  <a:lnTo>
                    <a:pt x="851017" y="0"/>
                  </a:lnTo>
                  <a:lnTo>
                    <a:pt x="1280726" y="0"/>
                  </a:lnTo>
                  <a:cubicBezTo>
                    <a:pt x="1479549" y="0"/>
                    <a:pt x="1640726" y="161177"/>
                    <a:pt x="1640726" y="360000"/>
                  </a:cubicBezTo>
                  <a:lnTo>
                    <a:pt x="140144" y="360000"/>
                  </a:lnTo>
                  <a:cubicBezTo>
                    <a:pt x="140144" y="248162"/>
                    <a:pt x="106146" y="144265"/>
                    <a:pt x="47921" y="58081"/>
                  </a:cubicBezTo>
                  <a:close/>
                </a:path>
              </a:pathLst>
            </a:custGeom>
            <a:solidFill>
              <a:srgbClr val="1A507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bg1"/>
                  </a:solidFill>
                </a:rPr>
                <a:t>Continues</a:t>
              </a:r>
              <a:endParaRPr lang="zh-CN" altLang="en-US" sz="1400" dirty="0">
                <a:solidFill>
                  <a:schemeClr val="bg1"/>
                </a:solidFill>
              </a:endParaRPr>
            </a:p>
          </p:txBody>
        </p:sp>
      </p:grpSp>
      <p:grpSp>
        <p:nvGrpSpPr>
          <p:cNvPr id="55" name="组合 54">
            <a:extLst>
              <a:ext uri="{FF2B5EF4-FFF2-40B4-BE49-F238E27FC236}">
                <a16:creationId xmlns:a16="http://schemas.microsoft.com/office/drawing/2014/main" id="{6BA933F5-3B61-CE2A-AB21-1E93AB351BBC}"/>
              </a:ext>
            </a:extLst>
          </p:cNvPr>
          <p:cNvGrpSpPr/>
          <p:nvPr/>
        </p:nvGrpSpPr>
        <p:grpSpPr>
          <a:xfrm>
            <a:off x="3433570" y="2424636"/>
            <a:ext cx="2568366" cy="1080000"/>
            <a:chOff x="844144" y="2380312"/>
            <a:chExt cx="2568366" cy="1080000"/>
          </a:xfrm>
        </p:grpSpPr>
        <p:sp>
          <p:nvSpPr>
            <p:cNvPr id="51" name="任意多边形: 形状 50">
              <a:extLst>
                <a:ext uri="{FF2B5EF4-FFF2-40B4-BE49-F238E27FC236}">
                  <a16:creationId xmlns:a16="http://schemas.microsoft.com/office/drawing/2014/main" id="{0ACBAB5C-105C-B178-EF20-F2A27542A68E}"/>
                </a:ext>
              </a:extLst>
            </p:cNvPr>
            <p:cNvSpPr/>
            <p:nvPr/>
          </p:nvSpPr>
          <p:spPr>
            <a:xfrm rot="16200000" flipH="1">
              <a:off x="2332510" y="2380312"/>
              <a:ext cx="1080000" cy="1080000"/>
            </a:xfrm>
            <a:custGeom>
              <a:avLst/>
              <a:gdLst>
                <a:gd name="csX0" fmla="*/ 540000 w 1080000"/>
                <a:gd name="csY0" fmla="*/ 0 h 1080000"/>
                <a:gd name="csX1" fmla="*/ 1080000 w 1080000"/>
                <a:gd name="csY1" fmla="*/ 540000 h 1080000"/>
                <a:gd name="csX2" fmla="*/ 540000 w 1080000"/>
                <a:gd name="csY2" fmla="*/ 1080000 h 1080000"/>
                <a:gd name="csX3" fmla="*/ 540000 w 1080000"/>
                <a:gd name="csY3" fmla="*/ 972000 h 1080000"/>
                <a:gd name="csX4" fmla="*/ 972000 w 1080000"/>
                <a:gd name="csY4" fmla="*/ 540000 h 1080000"/>
                <a:gd name="csX5" fmla="*/ 540000 w 1080000"/>
                <a:gd name="csY5" fmla="*/ 108000 h 1080000"/>
                <a:gd name="csX6" fmla="*/ 108000 w 1080000"/>
                <a:gd name="csY6" fmla="*/ 540000 h 1080000"/>
                <a:gd name="csX7" fmla="*/ 0 w 1080000"/>
                <a:gd name="csY7" fmla="*/ 540000 h 1080000"/>
                <a:gd name="csX8" fmla="*/ 540000 w 1080000"/>
                <a:gd name="csY8" fmla="*/ 0 h 108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080000" h="1080000">
                  <a:moveTo>
                    <a:pt x="540000" y="0"/>
                  </a:moveTo>
                  <a:cubicBezTo>
                    <a:pt x="838234" y="0"/>
                    <a:pt x="1080000" y="241766"/>
                    <a:pt x="1080000" y="540000"/>
                  </a:cubicBezTo>
                  <a:cubicBezTo>
                    <a:pt x="1080000" y="838234"/>
                    <a:pt x="838234" y="1080000"/>
                    <a:pt x="540000" y="1080000"/>
                  </a:cubicBezTo>
                  <a:lnTo>
                    <a:pt x="540000" y="972000"/>
                  </a:lnTo>
                  <a:cubicBezTo>
                    <a:pt x="778587" y="972000"/>
                    <a:pt x="972000" y="778587"/>
                    <a:pt x="972000" y="540000"/>
                  </a:cubicBezTo>
                  <a:cubicBezTo>
                    <a:pt x="972000" y="301413"/>
                    <a:pt x="778587" y="108000"/>
                    <a:pt x="540000" y="108000"/>
                  </a:cubicBezTo>
                  <a:cubicBezTo>
                    <a:pt x="301413" y="108000"/>
                    <a:pt x="108000" y="301413"/>
                    <a:pt x="108000" y="540000"/>
                  </a:cubicBezTo>
                  <a:lnTo>
                    <a:pt x="0" y="540000"/>
                  </a:lnTo>
                  <a:cubicBezTo>
                    <a:pt x="0" y="241766"/>
                    <a:pt x="241766" y="0"/>
                    <a:pt x="540000" y="0"/>
                  </a:cubicBezTo>
                  <a:close/>
                </a:path>
              </a:pathLst>
            </a:custGeom>
            <a:solidFill>
              <a:srgbClr val="E9641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dirty="0">
                <a:solidFill>
                  <a:schemeClr val="bg1"/>
                </a:solidFill>
              </a:endParaRPr>
            </a:p>
          </p:txBody>
        </p:sp>
        <p:sp>
          <p:nvSpPr>
            <p:cNvPr id="52" name="椭圆 51">
              <a:extLst>
                <a:ext uri="{FF2B5EF4-FFF2-40B4-BE49-F238E27FC236}">
                  <a16:creationId xmlns:a16="http://schemas.microsoft.com/office/drawing/2014/main" id="{B247CAAB-7153-95A0-B767-965589CF8C14}"/>
                </a:ext>
              </a:extLst>
            </p:cNvPr>
            <p:cNvSpPr/>
            <p:nvPr/>
          </p:nvSpPr>
          <p:spPr>
            <a:xfrm flipH="1">
              <a:off x="2548510" y="2596312"/>
              <a:ext cx="648000" cy="648000"/>
            </a:xfrm>
            <a:prstGeom prst="ellipse">
              <a:avLst/>
            </a:prstGeom>
            <a:solidFill>
              <a:srgbClr val="FE86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rPr>
                <a:t>02</a:t>
              </a:r>
              <a:endParaRPr lang="zh-CN" altLang="en-US" sz="1600" dirty="0">
                <a:solidFill>
                  <a:schemeClr val="bg1"/>
                </a:solidFill>
              </a:endParaRPr>
            </a:p>
          </p:txBody>
        </p:sp>
        <p:sp>
          <p:nvSpPr>
            <p:cNvPr id="53" name="任意多边形: 形状 52">
              <a:extLst>
                <a:ext uri="{FF2B5EF4-FFF2-40B4-BE49-F238E27FC236}">
                  <a16:creationId xmlns:a16="http://schemas.microsoft.com/office/drawing/2014/main" id="{3E1FD9BA-BADF-2ECF-B460-21791D076D74}"/>
                </a:ext>
              </a:extLst>
            </p:cNvPr>
            <p:cNvSpPr/>
            <p:nvPr/>
          </p:nvSpPr>
          <p:spPr>
            <a:xfrm flipH="1">
              <a:off x="844144" y="2920312"/>
              <a:ext cx="1640726" cy="360000"/>
            </a:xfrm>
            <a:custGeom>
              <a:avLst/>
              <a:gdLst>
                <a:gd name="csX0" fmla="*/ 140144 w 1640726"/>
                <a:gd name="csY0" fmla="*/ 0 h 360000"/>
                <a:gd name="csX1" fmla="*/ 1640726 w 1640726"/>
                <a:gd name="csY1" fmla="*/ 0 h 360000"/>
                <a:gd name="csX2" fmla="*/ 1280726 w 1640726"/>
                <a:gd name="csY2" fmla="*/ 360000 h 360000"/>
                <a:gd name="csX3" fmla="*/ 851017 w 1640726"/>
                <a:gd name="csY3" fmla="*/ 360000 h 360000"/>
                <a:gd name="csX4" fmla="*/ 421308 w 1640726"/>
                <a:gd name="csY4" fmla="*/ 360000 h 360000"/>
                <a:gd name="csX5" fmla="*/ 0 w 1640726"/>
                <a:gd name="csY5" fmla="*/ 360000 h 360000"/>
                <a:gd name="csX6" fmla="*/ 47921 w 1640726"/>
                <a:gd name="csY6" fmla="*/ 301919 h 360000"/>
                <a:gd name="csX7" fmla="*/ 140144 w 1640726"/>
                <a:gd name="csY7" fmla="*/ 0 h 36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640726" h="360000">
                  <a:moveTo>
                    <a:pt x="140144" y="0"/>
                  </a:moveTo>
                  <a:lnTo>
                    <a:pt x="1640726" y="0"/>
                  </a:lnTo>
                  <a:cubicBezTo>
                    <a:pt x="1640726" y="198823"/>
                    <a:pt x="1479549" y="360000"/>
                    <a:pt x="1280726" y="360000"/>
                  </a:cubicBezTo>
                  <a:lnTo>
                    <a:pt x="851017" y="360000"/>
                  </a:lnTo>
                  <a:lnTo>
                    <a:pt x="421308" y="360000"/>
                  </a:lnTo>
                  <a:lnTo>
                    <a:pt x="0" y="360000"/>
                  </a:lnTo>
                  <a:lnTo>
                    <a:pt x="47921" y="301919"/>
                  </a:lnTo>
                  <a:cubicBezTo>
                    <a:pt x="106146" y="215735"/>
                    <a:pt x="140144" y="111838"/>
                    <a:pt x="140144" y="0"/>
                  </a:cubicBezTo>
                  <a:close/>
                </a:path>
              </a:pathLst>
            </a:custGeom>
            <a:solidFill>
              <a:srgbClr val="FE863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bg1"/>
                  </a:solidFill>
                </a:rPr>
                <a:t>Strategy</a:t>
              </a:r>
              <a:endParaRPr lang="zh-CN" altLang="en-US" sz="1400" dirty="0">
                <a:solidFill>
                  <a:schemeClr val="bg1"/>
                </a:solidFill>
              </a:endParaRPr>
            </a:p>
          </p:txBody>
        </p:sp>
        <p:sp>
          <p:nvSpPr>
            <p:cNvPr id="54" name="任意多边形: 形状 53">
              <a:extLst>
                <a:ext uri="{FF2B5EF4-FFF2-40B4-BE49-F238E27FC236}">
                  <a16:creationId xmlns:a16="http://schemas.microsoft.com/office/drawing/2014/main" id="{2E1C06A0-180C-5E01-8C18-1742B975E1D6}"/>
                </a:ext>
              </a:extLst>
            </p:cNvPr>
            <p:cNvSpPr/>
            <p:nvPr/>
          </p:nvSpPr>
          <p:spPr>
            <a:xfrm flipH="1">
              <a:off x="844144" y="2560312"/>
              <a:ext cx="1640726" cy="360000"/>
            </a:xfrm>
            <a:custGeom>
              <a:avLst/>
              <a:gdLst>
                <a:gd name="csX0" fmla="*/ 0 w 1640726"/>
                <a:gd name="csY0" fmla="*/ 0 h 360000"/>
                <a:gd name="csX1" fmla="*/ 421308 w 1640726"/>
                <a:gd name="csY1" fmla="*/ 0 h 360000"/>
                <a:gd name="csX2" fmla="*/ 851017 w 1640726"/>
                <a:gd name="csY2" fmla="*/ 0 h 360000"/>
                <a:gd name="csX3" fmla="*/ 1280726 w 1640726"/>
                <a:gd name="csY3" fmla="*/ 0 h 360000"/>
                <a:gd name="csX4" fmla="*/ 1640726 w 1640726"/>
                <a:gd name="csY4" fmla="*/ 360000 h 360000"/>
                <a:gd name="csX5" fmla="*/ 140144 w 1640726"/>
                <a:gd name="csY5" fmla="*/ 360000 h 360000"/>
                <a:gd name="csX6" fmla="*/ 47921 w 1640726"/>
                <a:gd name="csY6" fmla="*/ 58081 h 360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40726" h="360000">
                  <a:moveTo>
                    <a:pt x="0" y="0"/>
                  </a:moveTo>
                  <a:lnTo>
                    <a:pt x="421308" y="0"/>
                  </a:lnTo>
                  <a:lnTo>
                    <a:pt x="851017" y="0"/>
                  </a:lnTo>
                  <a:lnTo>
                    <a:pt x="1280726" y="0"/>
                  </a:lnTo>
                  <a:cubicBezTo>
                    <a:pt x="1479549" y="0"/>
                    <a:pt x="1640726" y="161177"/>
                    <a:pt x="1640726" y="360000"/>
                  </a:cubicBezTo>
                  <a:lnTo>
                    <a:pt x="140144" y="360000"/>
                  </a:lnTo>
                  <a:cubicBezTo>
                    <a:pt x="140144" y="248162"/>
                    <a:pt x="106146" y="144265"/>
                    <a:pt x="47921" y="58081"/>
                  </a:cubicBezTo>
                  <a:close/>
                </a:path>
              </a:pathLst>
            </a:custGeom>
            <a:solidFill>
              <a:srgbClr val="E9641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bg1"/>
                  </a:solidFill>
                </a:rPr>
                <a:t>Execution</a:t>
              </a:r>
              <a:endParaRPr lang="zh-CN" altLang="en-US" sz="1400" dirty="0">
                <a:solidFill>
                  <a:schemeClr val="bg1"/>
                </a:solidFill>
              </a:endParaRPr>
            </a:p>
          </p:txBody>
        </p:sp>
      </p:grpSp>
      <p:grpSp>
        <p:nvGrpSpPr>
          <p:cNvPr id="60" name="组合 59">
            <a:extLst>
              <a:ext uri="{FF2B5EF4-FFF2-40B4-BE49-F238E27FC236}">
                <a16:creationId xmlns:a16="http://schemas.microsoft.com/office/drawing/2014/main" id="{C7273781-3CA4-5425-DC6F-D8097C183FA1}"/>
              </a:ext>
            </a:extLst>
          </p:cNvPr>
          <p:cNvGrpSpPr/>
          <p:nvPr/>
        </p:nvGrpSpPr>
        <p:grpSpPr>
          <a:xfrm>
            <a:off x="4401257" y="3378834"/>
            <a:ext cx="2568366" cy="1080000"/>
            <a:chOff x="388873" y="3698827"/>
            <a:chExt cx="2568366" cy="1080000"/>
          </a:xfrm>
        </p:grpSpPr>
        <p:sp>
          <p:nvSpPr>
            <p:cNvPr id="56" name="任意多边形: 形状 55">
              <a:extLst>
                <a:ext uri="{FF2B5EF4-FFF2-40B4-BE49-F238E27FC236}">
                  <a16:creationId xmlns:a16="http://schemas.microsoft.com/office/drawing/2014/main" id="{B936A936-C116-FD4C-EC8B-F8419BAD1409}"/>
                </a:ext>
              </a:extLst>
            </p:cNvPr>
            <p:cNvSpPr/>
            <p:nvPr/>
          </p:nvSpPr>
          <p:spPr>
            <a:xfrm rot="16200000" flipH="1">
              <a:off x="1877239" y="3698827"/>
              <a:ext cx="1080000" cy="1080000"/>
            </a:xfrm>
            <a:custGeom>
              <a:avLst/>
              <a:gdLst>
                <a:gd name="csX0" fmla="*/ 540000 w 1080000"/>
                <a:gd name="csY0" fmla="*/ 0 h 1080000"/>
                <a:gd name="csX1" fmla="*/ 1080000 w 1080000"/>
                <a:gd name="csY1" fmla="*/ 540000 h 1080000"/>
                <a:gd name="csX2" fmla="*/ 540000 w 1080000"/>
                <a:gd name="csY2" fmla="*/ 1080000 h 1080000"/>
                <a:gd name="csX3" fmla="*/ 540000 w 1080000"/>
                <a:gd name="csY3" fmla="*/ 972000 h 1080000"/>
                <a:gd name="csX4" fmla="*/ 972000 w 1080000"/>
                <a:gd name="csY4" fmla="*/ 540000 h 1080000"/>
                <a:gd name="csX5" fmla="*/ 540000 w 1080000"/>
                <a:gd name="csY5" fmla="*/ 108000 h 1080000"/>
                <a:gd name="csX6" fmla="*/ 108000 w 1080000"/>
                <a:gd name="csY6" fmla="*/ 540000 h 1080000"/>
                <a:gd name="csX7" fmla="*/ 0 w 1080000"/>
                <a:gd name="csY7" fmla="*/ 540000 h 1080000"/>
                <a:gd name="csX8" fmla="*/ 540000 w 1080000"/>
                <a:gd name="csY8" fmla="*/ 0 h 108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080000" h="1080000">
                  <a:moveTo>
                    <a:pt x="540000" y="0"/>
                  </a:moveTo>
                  <a:cubicBezTo>
                    <a:pt x="838234" y="0"/>
                    <a:pt x="1080000" y="241766"/>
                    <a:pt x="1080000" y="540000"/>
                  </a:cubicBezTo>
                  <a:cubicBezTo>
                    <a:pt x="1080000" y="838234"/>
                    <a:pt x="838234" y="1080000"/>
                    <a:pt x="540000" y="1080000"/>
                  </a:cubicBezTo>
                  <a:lnTo>
                    <a:pt x="540000" y="972000"/>
                  </a:lnTo>
                  <a:cubicBezTo>
                    <a:pt x="778587" y="972000"/>
                    <a:pt x="972000" y="778587"/>
                    <a:pt x="972000" y="540000"/>
                  </a:cubicBezTo>
                  <a:cubicBezTo>
                    <a:pt x="972000" y="301413"/>
                    <a:pt x="778587" y="108000"/>
                    <a:pt x="540000" y="108000"/>
                  </a:cubicBezTo>
                  <a:cubicBezTo>
                    <a:pt x="301413" y="108000"/>
                    <a:pt x="108000" y="301413"/>
                    <a:pt x="108000" y="540000"/>
                  </a:cubicBezTo>
                  <a:lnTo>
                    <a:pt x="0" y="540000"/>
                  </a:lnTo>
                  <a:cubicBezTo>
                    <a:pt x="0" y="241766"/>
                    <a:pt x="241766" y="0"/>
                    <a:pt x="540000" y="0"/>
                  </a:cubicBezTo>
                  <a:close/>
                </a:path>
              </a:pathLst>
            </a:custGeom>
            <a:solidFill>
              <a:srgbClr val="5F2F8C"/>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dirty="0">
                <a:solidFill>
                  <a:schemeClr val="bg1"/>
                </a:solidFill>
              </a:endParaRPr>
            </a:p>
          </p:txBody>
        </p:sp>
        <p:sp>
          <p:nvSpPr>
            <p:cNvPr id="57" name="椭圆 56">
              <a:extLst>
                <a:ext uri="{FF2B5EF4-FFF2-40B4-BE49-F238E27FC236}">
                  <a16:creationId xmlns:a16="http://schemas.microsoft.com/office/drawing/2014/main" id="{EC8ECCD6-ED15-D5A7-7567-604B300DA8D1}"/>
                </a:ext>
              </a:extLst>
            </p:cNvPr>
            <p:cNvSpPr/>
            <p:nvPr/>
          </p:nvSpPr>
          <p:spPr>
            <a:xfrm flipH="1">
              <a:off x="2093239" y="3914827"/>
              <a:ext cx="648000" cy="648000"/>
            </a:xfrm>
            <a:prstGeom prst="ellipse">
              <a:avLst/>
            </a:prstGeom>
            <a:solidFill>
              <a:srgbClr val="8F4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rPr>
                <a:t>04</a:t>
              </a:r>
              <a:endParaRPr lang="zh-CN" altLang="en-US" sz="1600" dirty="0">
                <a:solidFill>
                  <a:schemeClr val="bg1"/>
                </a:solidFill>
              </a:endParaRPr>
            </a:p>
          </p:txBody>
        </p:sp>
        <p:sp>
          <p:nvSpPr>
            <p:cNvPr id="58" name="任意多边形: 形状 57">
              <a:extLst>
                <a:ext uri="{FF2B5EF4-FFF2-40B4-BE49-F238E27FC236}">
                  <a16:creationId xmlns:a16="http://schemas.microsoft.com/office/drawing/2014/main" id="{6B148798-3FE0-EFA5-298A-1341D00EA191}"/>
                </a:ext>
              </a:extLst>
            </p:cNvPr>
            <p:cNvSpPr/>
            <p:nvPr/>
          </p:nvSpPr>
          <p:spPr>
            <a:xfrm flipH="1">
              <a:off x="388873" y="4238827"/>
              <a:ext cx="1640726" cy="360000"/>
            </a:xfrm>
            <a:custGeom>
              <a:avLst/>
              <a:gdLst>
                <a:gd name="csX0" fmla="*/ 140144 w 1640726"/>
                <a:gd name="csY0" fmla="*/ 0 h 360000"/>
                <a:gd name="csX1" fmla="*/ 1640726 w 1640726"/>
                <a:gd name="csY1" fmla="*/ 0 h 360000"/>
                <a:gd name="csX2" fmla="*/ 1280726 w 1640726"/>
                <a:gd name="csY2" fmla="*/ 360000 h 360000"/>
                <a:gd name="csX3" fmla="*/ 851017 w 1640726"/>
                <a:gd name="csY3" fmla="*/ 360000 h 360000"/>
                <a:gd name="csX4" fmla="*/ 421308 w 1640726"/>
                <a:gd name="csY4" fmla="*/ 360000 h 360000"/>
                <a:gd name="csX5" fmla="*/ 0 w 1640726"/>
                <a:gd name="csY5" fmla="*/ 360000 h 360000"/>
                <a:gd name="csX6" fmla="*/ 47921 w 1640726"/>
                <a:gd name="csY6" fmla="*/ 301919 h 360000"/>
                <a:gd name="csX7" fmla="*/ 140144 w 1640726"/>
                <a:gd name="csY7" fmla="*/ 0 h 36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640726" h="360000">
                  <a:moveTo>
                    <a:pt x="140144" y="0"/>
                  </a:moveTo>
                  <a:lnTo>
                    <a:pt x="1640726" y="0"/>
                  </a:lnTo>
                  <a:cubicBezTo>
                    <a:pt x="1640726" y="198823"/>
                    <a:pt x="1479549" y="360000"/>
                    <a:pt x="1280726" y="360000"/>
                  </a:cubicBezTo>
                  <a:lnTo>
                    <a:pt x="851017" y="360000"/>
                  </a:lnTo>
                  <a:lnTo>
                    <a:pt x="421308" y="360000"/>
                  </a:lnTo>
                  <a:lnTo>
                    <a:pt x="0" y="360000"/>
                  </a:lnTo>
                  <a:lnTo>
                    <a:pt x="47921" y="301919"/>
                  </a:lnTo>
                  <a:cubicBezTo>
                    <a:pt x="106146" y="215735"/>
                    <a:pt x="140144" y="111838"/>
                    <a:pt x="140144" y="0"/>
                  </a:cubicBezTo>
                  <a:close/>
                </a:path>
              </a:pathLst>
            </a:custGeom>
            <a:solidFill>
              <a:srgbClr val="8F42C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bg1"/>
                  </a:solidFill>
                </a:rPr>
                <a:t>Control</a:t>
              </a:r>
              <a:endParaRPr lang="zh-CN" altLang="en-US" sz="1400" dirty="0">
                <a:solidFill>
                  <a:schemeClr val="bg1"/>
                </a:solidFill>
              </a:endParaRPr>
            </a:p>
          </p:txBody>
        </p:sp>
        <p:sp>
          <p:nvSpPr>
            <p:cNvPr id="59" name="任意多边形: 形状 58">
              <a:extLst>
                <a:ext uri="{FF2B5EF4-FFF2-40B4-BE49-F238E27FC236}">
                  <a16:creationId xmlns:a16="http://schemas.microsoft.com/office/drawing/2014/main" id="{9F98738F-8D2F-D841-FE6B-D1C095A4B65F}"/>
                </a:ext>
              </a:extLst>
            </p:cNvPr>
            <p:cNvSpPr/>
            <p:nvPr/>
          </p:nvSpPr>
          <p:spPr>
            <a:xfrm flipH="1">
              <a:off x="388873" y="3878827"/>
              <a:ext cx="1640726" cy="360000"/>
            </a:xfrm>
            <a:custGeom>
              <a:avLst/>
              <a:gdLst>
                <a:gd name="csX0" fmla="*/ 0 w 1640726"/>
                <a:gd name="csY0" fmla="*/ 0 h 360000"/>
                <a:gd name="csX1" fmla="*/ 421308 w 1640726"/>
                <a:gd name="csY1" fmla="*/ 0 h 360000"/>
                <a:gd name="csX2" fmla="*/ 851017 w 1640726"/>
                <a:gd name="csY2" fmla="*/ 0 h 360000"/>
                <a:gd name="csX3" fmla="*/ 1280726 w 1640726"/>
                <a:gd name="csY3" fmla="*/ 0 h 360000"/>
                <a:gd name="csX4" fmla="*/ 1640726 w 1640726"/>
                <a:gd name="csY4" fmla="*/ 360000 h 360000"/>
                <a:gd name="csX5" fmla="*/ 140144 w 1640726"/>
                <a:gd name="csY5" fmla="*/ 360000 h 360000"/>
                <a:gd name="csX6" fmla="*/ 47921 w 1640726"/>
                <a:gd name="csY6" fmla="*/ 58081 h 360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40726" h="360000">
                  <a:moveTo>
                    <a:pt x="0" y="0"/>
                  </a:moveTo>
                  <a:lnTo>
                    <a:pt x="421308" y="0"/>
                  </a:lnTo>
                  <a:lnTo>
                    <a:pt x="851017" y="0"/>
                  </a:lnTo>
                  <a:lnTo>
                    <a:pt x="1280726" y="0"/>
                  </a:lnTo>
                  <a:cubicBezTo>
                    <a:pt x="1479549" y="0"/>
                    <a:pt x="1640726" y="161177"/>
                    <a:pt x="1640726" y="360000"/>
                  </a:cubicBezTo>
                  <a:lnTo>
                    <a:pt x="140144" y="360000"/>
                  </a:lnTo>
                  <a:cubicBezTo>
                    <a:pt x="140144" y="248162"/>
                    <a:pt x="106146" y="144265"/>
                    <a:pt x="47921" y="58081"/>
                  </a:cubicBezTo>
                  <a:close/>
                </a:path>
              </a:pathLst>
            </a:custGeom>
            <a:solidFill>
              <a:srgbClr val="5F2F8C"/>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bg1"/>
                  </a:solidFill>
                </a:rPr>
                <a:t>Project</a:t>
              </a:r>
              <a:endParaRPr lang="zh-CN" altLang="en-US" sz="1400" dirty="0">
                <a:solidFill>
                  <a:schemeClr val="bg1"/>
                </a:solidFill>
              </a:endParaRPr>
            </a:p>
          </p:txBody>
        </p:sp>
      </p:grpSp>
      <p:grpSp>
        <p:nvGrpSpPr>
          <p:cNvPr id="65" name="组合 64">
            <a:extLst>
              <a:ext uri="{FF2B5EF4-FFF2-40B4-BE49-F238E27FC236}">
                <a16:creationId xmlns:a16="http://schemas.microsoft.com/office/drawing/2014/main" id="{255C2CB9-5ECF-A760-D629-73BEAC678A07}"/>
              </a:ext>
            </a:extLst>
          </p:cNvPr>
          <p:cNvGrpSpPr/>
          <p:nvPr/>
        </p:nvGrpSpPr>
        <p:grpSpPr>
          <a:xfrm>
            <a:off x="5368945" y="4333032"/>
            <a:ext cx="2568366" cy="1080000"/>
            <a:chOff x="660472" y="5447999"/>
            <a:chExt cx="2568366" cy="1080000"/>
          </a:xfrm>
        </p:grpSpPr>
        <p:sp>
          <p:nvSpPr>
            <p:cNvPr id="61" name="任意多边形: 形状 60">
              <a:extLst>
                <a:ext uri="{FF2B5EF4-FFF2-40B4-BE49-F238E27FC236}">
                  <a16:creationId xmlns:a16="http://schemas.microsoft.com/office/drawing/2014/main" id="{D600E1C2-BE84-C095-0DA6-AF7EFB0A2ECE}"/>
                </a:ext>
              </a:extLst>
            </p:cNvPr>
            <p:cNvSpPr/>
            <p:nvPr/>
          </p:nvSpPr>
          <p:spPr>
            <a:xfrm rot="16200000" flipH="1">
              <a:off x="2148838" y="5447999"/>
              <a:ext cx="1080000" cy="1080000"/>
            </a:xfrm>
            <a:custGeom>
              <a:avLst/>
              <a:gdLst>
                <a:gd name="csX0" fmla="*/ 540000 w 1080000"/>
                <a:gd name="csY0" fmla="*/ 0 h 1080000"/>
                <a:gd name="csX1" fmla="*/ 1080000 w 1080000"/>
                <a:gd name="csY1" fmla="*/ 540000 h 1080000"/>
                <a:gd name="csX2" fmla="*/ 540000 w 1080000"/>
                <a:gd name="csY2" fmla="*/ 1080000 h 1080000"/>
                <a:gd name="csX3" fmla="*/ 540000 w 1080000"/>
                <a:gd name="csY3" fmla="*/ 972000 h 1080000"/>
                <a:gd name="csX4" fmla="*/ 972000 w 1080000"/>
                <a:gd name="csY4" fmla="*/ 540000 h 1080000"/>
                <a:gd name="csX5" fmla="*/ 540000 w 1080000"/>
                <a:gd name="csY5" fmla="*/ 108000 h 1080000"/>
                <a:gd name="csX6" fmla="*/ 108000 w 1080000"/>
                <a:gd name="csY6" fmla="*/ 540000 h 1080000"/>
                <a:gd name="csX7" fmla="*/ 0 w 1080000"/>
                <a:gd name="csY7" fmla="*/ 540000 h 1080000"/>
                <a:gd name="csX8" fmla="*/ 540000 w 1080000"/>
                <a:gd name="csY8" fmla="*/ 0 h 108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080000" h="1080000">
                  <a:moveTo>
                    <a:pt x="540000" y="0"/>
                  </a:moveTo>
                  <a:cubicBezTo>
                    <a:pt x="838234" y="0"/>
                    <a:pt x="1080000" y="241766"/>
                    <a:pt x="1080000" y="540000"/>
                  </a:cubicBezTo>
                  <a:cubicBezTo>
                    <a:pt x="1080000" y="838234"/>
                    <a:pt x="838234" y="1080000"/>
                    <a:pt x="540000" y="1080000"/>
                  </a:cubicBezTo>
                  <a:lnTo>
                    <a:pt x="540000" y="972000"/>
                  </a:lnTo>
                  <a:cubicBezTo>
                    <a:pt x="778587" y="972000"/>
                    <a:pt x="972000" y="778587"/>
                    <a:pt x="972000" y="540000"/>
                  </a:cubicBezTo>
                  <a:cubicBezTo>
                    <a:pt x="972000" y="301413"/>
                    <a:pt x="778587" y="108000"/>
                    <a:pt x="540000" y="108000"/>
                  </a:cubicBezTo>
                  <a:cubicBezTo>
                    <a:pt x="301413" y="108000"/>
                    <a:pt x="108000" y="301413"/>
                    <a:pt x="108000" y="540000"/>
                  </a:cubicBezTo>
                  <a:lnTo>
                    <a:pt x="0" y="540000"/>
                  </a:lnTo>
                  <a:cubicBezTo>
                    <a:pt x="0" y="241766"/>
                    <a:pt x="241766" y="0"/>
                    <a:pt x="540000" y="0"/>
                  </a:cubicBezTo>
                  <a:close/>
                </a:path>
              </a:pathLst>
            </a:custGeom>
            <a:solidFill>
              <a:srgbClr val="01925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dirty="0">
                <a:solidFill>
                  <a:schemeClr val="bg1"/>
                </a:solidFill>
              </a:endParaRPr>
            </a:p>
          </p:txBody>
        </p:sp>
        <p:sp>
          <p:nvSpPr>
            <p:cNvPr id="62" name="椭圆 61">
              <a:extLst>
                <a:ext uri="{FF2B5EF4-FFF2-40B4-BE49-F238E27FC236}">
                  <a16:creationId xmlns:a16="http://schemas.microsoft.com/office/drawing/2014/main" id="{32F04A17-A531-8FF0-8472-04BF761D5253}"/>
                </a:ext>
              </a:extLst>
            </p:cNvPr>
            <p:cNvSpPr/>
            <p:nvPr/>
          </p:nvSpPr>
          <p:spPr>
            <a:xfrm flipH="1">
              <a:off x="2364838" y="5663999"/>
              <a:ext cx="648000" cy="648000"/>
            </a:xfrm>
            <a:prstGeom prst="ellipse">
              <a:avLst/>
            </a:prstGeom>
            <a:solidFill>
              <a:srgbClr val="00D4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rPr>
                <a:t>06</a:t>
              </a:r>
              <a:endParaRPr lang="zh-CN" altLang="en-US" sz="1600" dirty="0">
                <a:solidFill>
                  <a:schemeClr val="bg1"/>
                </a:solidFill>
              </a:endParaRPr>
            </a:p>
          </p:txBody>
        </p:sp>
        <p:sp>
          <p:nvSpPr>
            <p:cNvPr id="63" name="任意多边形: 形状 62">
              <a:extLst>
                <a:ext uri="{FF2B5EF4-FFF2-40B4-BE49-F238E27FC236}">
                  <a16:creationId xmlns:a16="http://schemas.microsoft.com/office/drawing/2014/main" id="{2D887B51-B4E3-180A-3A2D-B8608BB7DC13}"/>
                </a:ext>
              </a:extLst>
            </p:cNvPr>
            <p:cNvSpPr/>
            <p:nvPr/>
          </p:nvSpPr>
          <p:spPr>
            <a:xfrm flipH="1">
              <a:off x="660472" y="5987999"/>
              <a:ext cx="1640726" cy="360000"/>
            </a:xfrm>
            <a:custGeom>
              <a:avLst/>
              <a:gdLst>
                <a:gd name="csX0" fmla="*/ 140144 w 1640726"/>
                <a:gd name="csY0" fmla="*/ 0 h 360000"/>
                <a:gd name="csX1" fmla="*/ 1640726 w 1640726"/>
                <a:gd name="csY1" fmla="*/ 0 h 360000"/>
                <a:gd name="csX2" fmla="*/ 1280726 w 1640726"/>
                <a:gd name="csY2" fmla="*/ 360000 h 360000"/>
                <a:gd name="csX3" fmla="*/ 851017 w 1640726"/>
                <a:gd name="csY3" fmla="*/ 360000 h 360000"/>
                <a:gd name="csX4" fmla="*/ 421308 w 1640726"/>
                <a:gd name="csY4" fmla="*/ 360000 h 360000"/>
                <a:gd name="csX5" fmla="*/ 0 w 1640726"/>
                <a:gd name="csY5" fmla="*/ 360000 h 360000"/>
                <a:gd name="csX6" fmla="*/ 47921 w 1640726"/>
                <a:gd name="csY6" fmla="*/ 301919 h 360000"/>
                <a:gd name="csX7" fmla="*/ 140144 w 1640726"/>
                <a:gd name="csY7" fmla="*/ 0 h 36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640726" h="360000">
                  <a:moveTo>
                    <a:pt x="140144" y="0"/>
                  </a:moveTo>
                  <a:lnTo>
                    <a:pt x="1640726" y="0"/>
                  </a:lnTo>
                  <a:cubicBezTo>
                    <a:pt x="1640726" y="198823"/>
                    <a:pt x="1479549" y="360000"/>
                    <a:pt x="1280726" y="360000"/>
                  </a:cubicBezTo>
                  <a:lnTo>
                    <a:pt x="851017" y="360000"/>
                  </a:lnTo>
                  <a:lnTo>
                    <a:pt x="421308" y="360000"/>
                  </a:lnTo>
                  <a:lnTo>
                    <a:pt x="0" y="360000"/>
                  </a:lnTo>
                  <a:lnTo>
                    <a:pt x="47921" y="301919"/>
                  </a:lnTo>
                  <a:cubicBezTo>
                    <a:pt x="106146" y="215735"/>
                    <a:pt x="140144" y="111838"/>
                    <a:pt x="140144" y="0"/>
                  </a:cubicBezTo>
                  <a:close/>
                </a:path>
              </a:pathLst>
            </a:custGeom>
            <a:solidFill>
              <a:srgbClr val="00D48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bg1"/>
                  </a:solidFill>
                </a:rPr>
                <a:t>RAM</a:t>
              </a:r>
              <a:endParaRPr lang="zh-CN" altLang="en-US" sz="1400" dirty="0">
                <a:solidFill>
                  <a:schemeClr val="bg1"/>
                </a:solidFill>
              </a:endParaRPr>
            </a:p>
          </p:txBody>
        </p:sp>
        <p:sp>
          <p:nvSpPr>
            <p:cNvPr id="64" name="任意多边形: 形状 63">
              <a:extLst>
                <a:ext uri="{FF2B5EF4-FFF2-40B4-BE49-F238E27FC236}">
                  <a16:creationId xmlns:a16="http://schemas.microsoft.com/office/drawing/2014/main" id="{3D1B3518-CE14-AC96-688F-441F22D5A7CD}"/>
                </a:ext>
              </a:extLst>
            </p:cNvPr>
            <p:cNvSpPr/>
            <p:nvPr/>
          </p:nvSpPr>
          <p:spPr>
            <a:xfrm flipH="1">
              <a:off x="660472" y="5627999"/>
              <a:ext cx="1640726" cy="360000"/>
            </a:xfrm>
            <a:custGeom>
              <a:avLst/>
              <a:gdLst>
                <a:gd name="csX0" fmla="*/ 0 w 1640726"/>
                <a:gd name="csY0" fmla="*/ 0 h 360000"/>
                <a:gd name="csX1" fmla="*/ 421308 w 1640726"/>
                <a:gd name="csY1" fmla="*/ 0 h 360000"/>
                <a:gd name="csX2" fmla="*/ 851017 w 1640726"/>
                <a:gd name="csY2" fmla="*/ 0 h 360000"/>
                <a:gd name="csX3" fmla="*/ 1280726 w 1640726"/>
                <a:gd name="csY3" fmla="*/ 0 h 360000"/>
                <a:gd name="csX4" fmla="*/ 1640726 w 1640726"/>
                <a:gd name="csY4" fmla="*/ 360000 h 360000"/>
                <a:gd name="csX5" fmla="*/ 140144 w 1640726"/>
                <a:gd name="csY5" fmla="*/ 360000 h 360000"/>
                <a:gd name="csX6" fmla="*/ 47921 w 1640726"/>
                <a:gd name="csY6" fmla="*/ 58081 h 360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40726" h="360000">
                  <a:moveTo>
                    <a:pt x="0" y="0"/>
                  </a:moveTo>
                  <a:lnTo>
                    <a:pt x="421308" y="0"/>
                  </a:lnTo>
                  <a:lnTo>
                    <a:pt x="851017" y="0"/>
                  </a:lnTo>
                  <a:lnTo>
                    <a:pt x="1280726" y="0"/>
                  </a:lnTo>
                  <a:cubicBezTo>
                    <a:pt x="1479549" y="0"/>
                    <a:pt x="1640726" y="161177"/>
                    <a:pt x="1640726" y="360000"/>
                  </a:cubicBezTo>
                  <a:lnTo>
                    <a:pt x="140144" y="360000"/>
                  </a:lnTo>
                  <a:cubicBezTo>
                    <a:pt x="140144" y="248162"/>
                    <a:pt x="106146" y="144265"/>
                    <a:pt x="47921" y="58081"/>
                  </a:cubicBezTo>
                  <a:close/>
                </a:path>
              </a:pathLst>
            </a:custGeom>
            <a:solidFill>
              <a:srgbClr val="01925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bg1"/>
                  </a:solidFill>
                </a:rPr>
                <a:t>Develop</a:t>
              </a:r>
              <a:endParaRPr lang="zh-CN" altLang="en-US" sz="1400" dirty="0">
                <a:solidFill>
                  <a:schemeClr val="bg1"/>
                </a:solidFill>
              </a:endParaRPr>
            </a:p>
          </p:txBody>
        </p:sp>
      </p:grpSp>
      <p:sp>
        <p:nvSpPr>
          <p:cNvPr id="67" name="文本框 66">
            <a:extLst>
              <a:ext uri="{FF2B5EF4-FFF2-40B4-BE49-F238E27FC236}">
                <a16:creationId xmlns:a16="http://schemas.microsoft.com/office/drawing/2014/main" id="{DAFB201B-B8A6-8CE1-D44E-7D78635B52FA}"/>
              </a:ext>
            </a:extLst>
          </p:cNvPr>
          <p:cNvSpPr txBox="1"/>
          <p:nvPr/>
        </p:nvSpPr>
        <p:spPr>
          <a:xfrm>
            <a:off x="0" y="1541045"/>
            <a:ext cx="3480440" cy="338554"/>
          </a:xfrm>
          <a:prstGeom prst="rect">
            <a:avLst/>
          </a:prstGeom>
          <a:noFill/>
        </p:spPr>
        <p:txBody>
          <a:bodyPr wrap="none" rtlCol="0">
            <a:spAutoFit/>
          </a:bodyPr>
          <a:lstStyle/>
          <a:p>
            <a:pPr algn="l"/>
            <a:r>
              <a:rPr lang="en-US" altLang="zh-CN" sz="1600" dirty="0"/>
              <a:t>7</a:t>
            </a:r>
            <a:r>
              <a:rPr lang="zh-CN" altLang="en-US" sz="1600" dirty="0"/>
              <a:t>个步骤定义项目组织分解结构 </a:t>
            </a:r>
            <a:r>
              <a:rPr lang="en-US" altLang="zh-CN" sz="1600" dirty="0"/>
              <a:t>OBS</a:t>
            </a:r>
            <a:endParaRPr lang="zh-CN" altLang="en-US" sz="1600" dirty="0"/>
          </a:p>
        </p:txBody>
      </p:sp>
      <p:sp>
        <p:nvSpPr>
          <p:cNvPr id="3" name="矩形 2">
            <a:extLst>
              <a:ext uri="{FF2B5EF4-FFF2-40B4-BE49-F238E27FC236}">
                <a16:creationId xmlns:a16="http://schemas.microsoft.com/office/drawing/2014/main" id="{5AD7812A-7041-958F-4FB7-190EE05B312F}"/>
              </a:ext>
            </a:extLst>
          </p:cNvPr>
          <p:cNvSpPr/>
          <p:nvPr/>
        </p:nvSpPr>
        <p:spPr>
          <a:xfrm>
            <a:off x="0" y="1879599"/>
            <a:ext cx="5040000" cy="108000"/>
          </a:xfrm>
          <a:prstGeom prst="rect">
            <a:avLst/>
          </a:prstGeom>
          <a:solidFill>
            <a:srgbClr val="D7003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4" name="矩形 3">
            <a:extLst>
              <a:ext uri="{FF2B5EF4-FFF2-40B4-BE49-F238E27FC236}">
                <a16:creationId xmlns:a16="http://schemas.microsoft.com/office/drawing/2014/main" id="{D06E8881-CE80-D26F-C462-27E8CF725114}"/>
              </a:ext>
            </a:extLst>
          </p:cNvPr>
          <p:cNvSpPr/>
          <p:nvPr/>
        </p:nvSpPr>
        <p:spPr>
          <a:xfrm>
            <a:off x="8374678" y="5382000"/>
            <a:ext cx="108000" cy="1476000"/>
          </a:xfrm>
          <a:prstGeom prst="rect">
            <a:avLst/>
          </a:prstGeom>
          <a:solidFill>
            <a:srgbClr val="1A50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Tree>
    <p:extLst>
      <p:ext uri="{BB962C8B-B14F-4D97-AF65-F5344CB8AC3E}">
        <p14:creationId xmlns:p14="http://schemas.microsoft.com/office/powerpoint/2010/main" val="1400472305"/>
      </p:ext>
    </p:extLst>
  </p:cSld>
  <p:clrMapOvr>
    <a:masterClrMapping/>
  </p:clrMapOvr>
</p:sld>
</file>

<file path=ppt/slides/slide4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E234997D-A69C-4E75-2B1E-2DE69474803D}"/>
              </a:ext>
            </a:extLst>
          </p:cNvPr>
          <p:cNvSpPr>
            <a:spLocks noGrp="1"/>
          </p:cNvSpPr>
          <p:nvPr>
            <p:ph type="title"/>
          </p:nvPr>
        </p:nvSpPr>
        <p:spPr>
          <a:xfrm>
            <a:off x="696000" y="360000"/>
            <a:ext cx="5400000" cy="429413"/>
          </a:xfrm>
        </p:spPr>
        <p:txBody>
          <a:bodyPr/>
          <a:lstStyle/>
          <a:p>
            <a:r>
              <a:rPr lang="zh-CN" altLang="en-US" dirty="0"/>
              <a:t>例：文本示例；指出其中的不足</a:t>
            </a:r>
          </a:p>
        </p:txBody>
      </p:sp>
      <p:graphicFrame>
        <p:nvGraphicFramePr>
          <p:cNvPr id="17" name="表格 16">
            <a:extLst>
              <a:ext uri="{FF2B5EF4-FFF2-40B4-BE49-F238E27FC236}">
                <a16:creationId xmlns:a16="http://schemas.microsoft.com/office/drawing/2014/main" id="{797F6C0E-89C5-2D07-21C6-F17286D66949}"/>
              </a:ext>
            </a:extLst>
          </p:cNvPr>
          <p:cNvGraphicFramePr>
            <a:graphicFrameLocks noGrp="1"/>
          </p:cNvGraphicFramePr>
          <p:nvPr>
            <p:extLst>
              <p:ext uri="{D42A27DB-BD31-4B8C-83A1-F6EECF244321}">
                <p14:modId xmlns:p14="http://schemas.microsoft.com/office/powerpoint/2010/main" val="1407857637"/>
              </p:ext>
            </p:extLst>
          </p:nvPr>
        </p:nvGraphicFramePr>
        <p:xfrm>
          <a:off x="1662544" y="892088"/>
          <a:ext cx="9177198" cy="5073824"/>
        </p:xfrm>
        <a:graphic>
          <a:graphicData uri="http://schemas.openxmlformats.org/drawingml/2006/table">
            <a:tbl>
              <a:tblPr/>
              <a:tblGrid>
                <a:gridCol w="720000">
                  <a:extLst>
                    <a:ext uri="{9D8B030D-6E8A-4147-A177-3AD203B41FA5}">
                      <a16:colId xmlns:a16="http://schemas.microsoft.com/office/drawing/2014/main" val="1090519299"/>
                    </a:ext>
                  </a:extLst>
                </a:gridCol>
                <a:gridCol w="1080000">
                  <a:extLst>
                    <a:ext uri="{9D8B030D-6E8A-4147-A177-3AD203B41FA5}">
                      <a16:colId xmlns:a16="http://schemas.microsoft.com/office/drawing/2014/main" val="2200235225"/>
                    </a:ext>
                  </a:extLst>
                </a:gridCol>
                <a:gridCol w="1080000">
                  <a:extLst>
                    <a:ext uri="{9D8B030D-6E8A-4147-A177-3AD203B41FA5}">
                      <a16:colId xmlns:a16="http://schemas.microsoft.com/office/drawing/2014/main" val="4101249849"/>
                    </a:ext>
                  </a:extLst>
                </a:gridCol>
                <a:gridCol w="1080000">
                  <a:extLst>
                    <a:ext uri="{9D8B030D-6E8A-4147-A177-3AD203B41FA5}">
                      <a16:colId xmlns:a16="http://schemas.microsoft.com/office/drawing/2014/main" val="3296259237"/>
                    </a:ext>
                  </a:extLst>
                </a:gridCol>
                <a:gridCol w="5217198">
                  <a:extLst>
                    <a:ext uri="{9D8B030D-6E8A-4147-A177-3AD203B41FA5}">
                      <a16:colId xmlns:a16="http://schemas.microsoft.com/office/drawing/2014/main" val="2801642377"/>
                    </a:ext>
                  </a:extLst>
                </a:gridCol>
              </a:tblGrid>
              <a:tr h="0">
                <a:tc>
                  <a:txBody>
                    <a:bodyPr/>
                    <a:lstStyle/>
                    <a:p>
                      <a:pPr algn="ctr">
                        <a:buNone/>
                      </a:pPr>
                      <a:r>
                        <a:rPr lang="zh-CN" altLang="en-US" sz="1600" dirty="0">
                          <a:solidFill>
                            <a:schemeClr val="bg1"/>
                          </a:solidFill>
                        </a:rPr>
                        <a:t>序号</a:t>
                      </a:r>
                    </a:p>
                  </a:txBody>
                  <a:tcPr marL="55109" marR="55109" marT="27554" marB="27554" anchor="ctr">
                    <a:lnL>
                      <a:noFill/>
                    </a:lnL>
                    <a:lnR>
                      <a:noFill/>
                    </a:lnR>
                    <a:lnT>
                      <a:noFill/>
                    </a:lnT>
                    <a:lnB>
                      <a:noFill/>
                    </a:lnB>
                    <a:solidFill>
                      <a:srgbClr val="0D8BB3"/>
                    </a:solidFill>
                  </a:tcPr>
                </a:tc>
                <a:tc>
                  <a:txBody>
                    <a:bodyPr/>
                    <a:lstStyle/>
                    <a:p>
                      <a:pPr algn="ctr">
                        <a:buNone/>
                      </a:pPr>
                      <a:r>
                        <a:rPr lang="zh-CN" altLang="en-US" sz="1600" dirty="0">
                          <a:solidFill>
                            <a:schemeClr val="bg1"/>
                          </a:solidFill>
                        </a:rPr>
                        <a:t>名称</a:t>
                      </a:r>
                    </a:p>
                  </a:txBody>
                  <a:tcPr marL="55109" marR="55109" marT="27554" marB="27554" anchor="ctr">
                    <a:lnL>
                      <a:noFill/>
                    </a:lnL>
                    <a:lnR>
                      <a:noFill/>
                    </a:lnR>
                    <a:lnT>
                      <a:noFill/>
                    </a:lnT>
                    <a:lnB>
                      <a:noFill/>
                    </a:lnB>
                    <a:solidFill>
                      <a:srgbClr val="0D8BB3"/>
                    </a:solidFill>
                  </a:tcPr>
                </a:tc>
                <a:tc>
                  <a:txBody>
                    <a:bodyPr/>
                    <a:lstStyle/>
                    <a:p>
                      <a:pPr algn="ctr">
                        <a:buNone/>
                      </a:pPr>
                      <a:r>
                        <a:rPr lang="zh-CN" altLang="en-US" sz="1600" dirty="0">
                          <a:solidFill>
                            <a:schemeClr val="bg1"/>
                          </a:solidFill>
                        </a:rPr>
                        <a:t>人员数量</a:t>
                      </a:r>
                    </a:p>
                  </a:txBody>
                  <a:tcPr marL="55109" marR="55109" marT="27554" marB="27554" anchor="ctr">
                    <a:lnL>
                      <a:noFill/>
                    </a:lnL>
                    <a:lnR>
                      <a:noFill/>
                    </a:lnR>
                    <a:lnT>
                      <a:noFill/>
                    </a:lnT>
                    <a:lnB>
                      <a:noFill/>
                    </a:lnB>
                    <a:solidFill>
                      <a:srgbClr val="0D8BB3"/>
                    </a:solidFill>
                  </a:tcPr>
                </a:tc>
                <a:tc>
                  <a:txBody>
                    <a:bodyPr/>
                    <a:lstStyle/>
                    <a:p>
                      <a:pPr algn="ctr">
                        <a:buNone/>
                      </a:pPr>
                      <a:r>
                        <a:rPr lang="zh-CN" altLang="en-US" sz="1600" dirty="0">
                          <a:solidFill>
                            <a:schemeClr val="bg1"/>
                          </a:solidFill>
                        </a:rPr>
                        <a:t>组长</a:t>
                      </a:r>
                    </a:p>
                  </a:txBody>
                  <a:tcPr marL="55109" marR="55109" marT="27554" marB="27554" anchor="ctr">
                    <a:lnL>
                      <a:noFill/>
                    </a:lnL>
                    <a:lnR>
                      <a:noFill/>
                    </a:lnR>
                    <a:lnT>
                      <a:noFill/>
                    </a:lnT>
                    <a:lnB>
                      <a:noFill/>
                    </a:lnB>
                    <a:solidFill>
                      <a:srgbClr val="0D8BB3"/>
                    </a:solidFill>
                  </a:tcPr>
                </a:tc>
                <a:tc>
                  <a:txBody>
                    <a:bodyPr/>
                    <a:lstStyle/>
                    <a:p>
                      <a:pPr algn="l">
                        <a:buNone/>
                      </a:pPr>
                      <a:r>
                        <a:rPr lang="zh-CN" altLang="en-US" sz="1600" dirty="0">
                          <a:solidFill>
                            <a:schemeClr val="bg1"/>
                          </a:solidFill>
                        </a:rPr>
                        <a:t>职能</a:t>
                      </a:r>
                    </a:p>
                  </a:txBody>
                  <a:tcPr marL="55109" marR="55109" marT="27554" marB="27554" anchor="ctr">
                    <a:lnL>
                      <a:noFill/>
                    </a:lnL>
                    <a:lnR>
                      <a:noFill/>
                    </a:lnR>
                    <a:lnT>
                      <a:noFill/>
                    </a:lnT>
                    <a:lnB>
                      <a:noFill/>
                    </a:lnB>
                    <a:solidFill>
                      <a:srgbClr val="0D8BB3"/>
                    </a:solidFill>
                  </a:tcPr>
                </a:tc>
                <a:extLst>
                  <a:ext uri="{0D108BD9-81ED-4DB2-BD59-A6C34878D82A}">
                    <a16:rowId xmlns:a16="http://schemas.microsoft.com/office/drawing/2014/main" val="22312322"/>
                  </a:ext>
                </a:extLst>
              </a:tr>
              <a:tr h="203599">
                <a:tc>
                  <a:txBody>
                    <a:bodyPr/>
                    <a:lstStyle/>
                    <a:p>
                      <a:pPr algn="ctr">
                        <a:buNone/>
                      </a:pPr>
                      <a:r>
                        <a:rPr lang="en-US" altLang="zh-CN" sz="1600" dirty="0"/>
                        <a:t>1</a:t>
                      </a:r>
                    </a:p>
                  </a:txBody>
                  <a:tcPr marL="55109" marR="55109" marT="27554" marB="27554"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a:buNone/>
                      </a:pPr>
                      <a:r>
                        <a:rPr lang="zh-CN" altLang="en-US" sz="1600" dirty="0"/>
                        <a:t>总体组</a:t>
                      </a:r>
                    </a:p>
                  </a:txBody>
                  <a:tcPr marL="55109" marR="55109" marT="27554" marB="27554"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a:buNone/>
                      </a:pPr>
                      <a:r>
                        <a:rPr lang="en-US" altLang="zh-CN" sz="1600" dirty="0"/>
                        <a:t>7</a:t>
                      </a:r>
                    </a:p>
                  </a:txBody>
                  <a:tcPr marL="55109" marR="55109" marT="27554" marB="27554"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a:buNone/>
                      </a:pPr>
                      <a:r>
                        <a:rPr lang="zh-CN" altLang="en-US" sz="1600" dirty="0"/>
                        <a:t>曲剑</a:t>
                      </a:r>
                    </a:p>
                  </a:txBody>
                  <a:tcPr marL="55109" marR="55109" marT="27554" marB="27554"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marL="285750" indent="-285750" algn="l">
                        <a:buFont typeface="Arial" panose="020B0604020202020204" pitchFamily="34" charset="0"/>
                        <a:buChar char="•"/>
                      </a:pPr>
                      <a:r>
                        <a:rPr lang="zh-CN" altLang="en-US" sz="1600" dirty="0"/>
                        <a:t>负责项目计划和进度控制</a:t>
                      </a:r>
                      <a:endParaRPr lang="en-US" altLang="zh-CN" sz="1600" dirty="0"/>
                    </a:p>
                    <a:p>
                      <a:pPr marL="285750" indent="-285750" algn="l">
                        <a:buFont typeface="Arial" panose="020B0604020202020204" pitchFamily="34" charset="0"/>
                        <a:buChar char="•"/>
                      </a:pPr>
                      <a:r>
                        <a:rPr lang="zh-CN" altLang="en-US" sz="1600" dirty="0"/>
                        <a:t>协调和安排项目任务</a:t>
                      </a:r>
                      <a:endParaRPr lang="en-US" altLang="zh-CN" sz="1600" dirty="0"/>
                    </a:p>
                    <a:p>
                      <a:pPr marL="285750" indent="-285750" algn="l">
                        <a:buFont typeface="Arial" panose="020B0604020202020204" pitchFamily="34" charset="0"/>
                        <a:buChar char="•"/>
                      </a:pPr>
                      <a:r>
                        <a:rPr lang="zh-CN" altLang="en-US" sz="1600" dirty="0"/>
                        <a:t>协调和管理各项目小组工作</a:t>
                      </a:r>
                    </a:p>
                  </a:txBody>
                  <a:tcPr marL="55109" marR="55109" marT="27554" marB="27554" anchor="ctr">
                    <a:lnL>
                      <a:noFill/>
                    </a:lnL>
                    <a:lnR>
                      <a:noFill/>
                    </a:lnR>
                    <a:lnT>
                      <a:noFill/>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1482585"/>
                  </a:ext>
                </a:extLst>
              </a:tr>
              <a:tr h="0">
                <a:tc>
                  <a:txBody>
                    <a:bodyPr/>
                    <a:lstStyle/>
                    <a:p>
                      <a:pPr algn="ctr">
                        <a:buNone/>
                      </a:pPr>
                      <a:r>
                        <a:rPr lang="en-US" altLang="zh-CN" sz="1600" dirty="0"/>
                        <a:t>2</a:t>
                      </a:r>
                    </a:p>
                  </a:txBody>
                  <a:tcPr marL="55109" marR="55109" marT="27554" marB="2755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zh-CN" altLang="en-US" sz="1600" dirty="0"/>
                        <a:t>平台组</a:t>
                      </a:r>
                    </a:p>
                  </a:txBody>
                  <a:tcPr marL="55109" marR="55109" marT="27554" marB="2755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en-US" altLang="zh-CN" sz="1600" dirty="0"/>
                        <a:t>6</a:t>
                      </a:r>
                    </a:p>
                  </a:txBody>
                  <a:tcPr marL="55109" marR="55109" marT="27554" marB="2755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zh-CN" altLang="en-US" sz="1600" dirty="0"/>
                        <a:t>刘建强</a:t>
                      </a:r>
                    </a:p>
                  </a:txBody>
                  <a:tcPr marL="55109" marR="55109" marT="27554" marB="2755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285750" indent="-285750" algn="l">
                        <a:buFont typeface="Arial" panose="020B0604020202020204" pitchFamily="34" charset="0"/>
                        <a:buChar char="•"/>
                      </a:pPr>
                      <a:r>
                        <a:rPr lang="zh-CN" altLang="en-US" sz="1600" dirty="0"/>
                        <a:t>设计和完善三务合一信息化平台</a:t>
                      </a:r>
                    </a:p>
                  </a:txBody>
                  <a:tcPr marL="55109" marR="55109" marT="27554" marB="2755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18199772"/>
                  </a:ext>
                </a:extLst>
              </a:tr>
              <a:tr h="203599">
                <a:tc>
                  <a:txBody>
                    <a:bodyPr/>
                    <a:lstStyle/>
                    <a:p>
                      <a:pPr algn="ctr">
                        <a:buNone/>
                      </a:pPr>
                      <a:r>
                        <a:rPr lang="en-US" altLang="zh-CN" sz="1600" dirty="0"/>
                        <a:t>3</a:t>
                      </a:r>
                    </a:p>
                  </a:txBody>
                  <a:tcPr marL="55109" marR="55109" marT="27554" marB="2755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zh-CN" altLang="en-US" sz="1600" dirty="0"/>
                        <a:t>设计组</a:t>
                      </a:r>
                    </a:p>
                  </a:txBody>
                  <a:tcPr marL="55109" marR="55109" marT="27554" marB="2755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en-US" altLang="zh-CN" sz="1600" dirty="0"/>
                        <a:t>4</a:t>
                      </a:r>
                    </a:p>
                  </a:txBody>
                  <a:tcPr marL="55109" marR="55109" marT="27554" marB="2755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zh-CN" altLang="en-US" sz="1600" dirty="0"/>
                        <a:t>刘建强</a:t>
                      </a:r>
                    </a:p>
                  </a:txBody>
                  <a:tcPr marL="55109" marR="55109" marT="27554" marB="2755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285750" indent="-285750" algn="l">
                        <a:buFont typeface="Arial" panose="020B0604020202020204" pitchFamily="34" charset="0"/>
                        <a:buChar char="•"/>
                      </a:pPr>
                      <a:r>
                        <a:rPr lang="zh-CN" altLang="en-US" sz="1600" dirty="0"/>
                        <a:t>系统分析</a:t>
                      </a:r>
                      <a:endParaRPr lang="en-US" altLang="zh-CN" sz="1600" dirty="0"/>
                    </a:p>
                    <a:p>
                      <a:pPr marL="285750" indent="-285750" algn="l">
                        <a:buFont typeface="Arial" panose="020B0604020202020204" pitchFamily="34" charset="0"/>
                        <a:buChar char="•"/>
                      </a:pPr>
                      <a:r>
                        <a:rPr lang="zh-CN" altLang="en-US" sz="1600" dirty="0"/>
                        <a:t>概要设计</a:t>
                      </a:r>
                      <a:endParaRPr lang="en-US" altLang="zh-CN" sz="1600" dirty="0"/>
                    </a:p>
                    <a:p>
                      <a:pPr marL="285750" indent="-285750" algn="l">
                        <a:buFont typeface="Arial" panose="020B0604020202020204" pitchFamily="34" charset="0"/>
                        <a:buChar char="•"/>
                      </a:pPr>
                      <a:r>
                        <a:rPr lang="zh-CN" altLang="en-US" sz="1600" dirty="0"/>
                        <a:t>详细设计</a:t>
                      </a:r>
                    </a:p>
                  </a:txBody>
                  <a:tcPr marL="55109" marR="55109" marT="27554" marB="2755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67412687"/>
                  </a:ext>
                </a:extLst>
              </a:tr>
              <a:tr h="266710">
                <a:tc>
                  <a:txBody>
                    <a:bodyPr/>
                    <a:lstStyle/>
                    <a:p>
                      <a:pPr algn="ctr">
                        <a:buNone/>
                      </a:pPr>
                      <a:r>
                        <a:rPr lang="en-US" altLang="zh-CN" sz="1600" dirty="0"/>
                        <a:t>4</a:t>
                      </a:r>
                    </a:p>
                  </a:txBody>
                  <a:tcPr marL="55109" marR="55109" marT="27554" marB="2755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zh-CN" altLang="en-US" sz="1600" dirty="0"/>
                        <a:t>需求组</a:t>
                      </a:r>
                    </a:p>
                  </a:txBody>
                  <a:tcPr marL="55109" marR="55109" marT="27554" marB="2755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en-US" altLang="zh-CN" sz="1600" dirty="0"/>
                        <a:t>6</a:t>
                      </a:r>
                    </a:p>
                  </a:txBody>
                  <a:tcPr marL="55109" marR="55109" marT="27554" marB="2755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zh-CN" altLang="en-US" sz="1600" dirty="0"/>
                        <a:t>李娥</a:t>
                      </a:r>
                    </a:p>
                  </a:txBody>
                  <a:tcPr marL="55109" marR="55109" marT="27554" marB="2755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285750" indent="-285750" algn="l">
                        <a:buFont typeface="Arial" panose="020B0604020202020204" pitchFamily="34" charset="0"/>
                        <a:buChar char="•"/>
                      </a:pPr>
                      <a:r>
                        <a:rPr lang="zh-CN" altLang="en-US" sz="1600" dirty="0"/>
                        <a:t>需求调研、需求分析</a:t>
                      </a:r>
                      <a:endParaRPr lang="en-US" altLang="zh-CN" sz="1600" dirty="0"/>
                    </a:p>
                    <a:p>
                      <a:pPr marL="285750" indent="-285750" algn="l">
                        <a:buFont typeface="Arial" panose="020B0604020202020204" pitchFamily="34" charset="0"/>
                        <a:buChar char="•"/>
                      </a:pPr>
                      <a:r>
                        <a:rPr lang="zh-CN" altLang="en-US" sz="1600" dirty="0"/>
                        <a:t>编写需求规格说明书</a:t>
                      </a:r>
                      <a:endParaRPr lang="en-US" altLang="zh-CN" sz="1600" dirty="0"/>
                    </a:p>
                    <a:p>
                      <a:pPr marL="285750" indent="-285750" algn="l">
                        <a:buFont typeface="Arial" panose="020B0604020202020204" pitchFamily="34" charset="0"/>
                        <a:buChar char="•"/>
                      </a:pPr>
                      <a:r>
                        <a:rPr lang="zh-CN" altLang="en-US" sz="1600" dirty="0"/>
                        <a:t>需求确认签字</a:t>
                      </a:r>
                      <a:endParaRPr lang="en-US" altLang="zh-CN" sz="1600" dirty="0"/>
                    </a:p>
                    <a:p>
                      <a:pPr marL="285750" indent="-285750" algn="l">
                        <a:buFont typeface="Arial" panose="020B0604020202020204" pitchFamily="34" charset="0"/>
                        <a:buChar char="•"/>
                      </a:pPr>
                      <a:r>
                        <a:rPr lang="zh-CN" altLang="en-US" sz="1600" dirty="0"/>
                        <a:t>客户培训</a:t>
                      </a:r>
                    </a:p>
                  </a:txBody>
                  <a:tcPr marL="55109" marR="55109" marT="27554" marB="2755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5084719"/>
                  </a:ext>
                </a:extLst>
              </a:tr>
              <a:tr h="140487">
                <a:tc>
                  <a:txBody>
                    <a:bodyPr/>
                    <a:lstStyle/>
                    <a:p>
                      <a:pPr algn="ctr">
                        <a:buNone/>
                      </a:pPr>
                      <a:r>
                        <a:rPr lang="en-US" altLang="zh-CN" sz="1600" dirty="0"/>
                        <a:t>5</a:t>
                      </a:r>
                    </a:p>
                  </a:txBody>
                  <a:tcPr marL="55109" marR="55109" marT="27554" marB="2755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zh-CN" altLang="en-US" sz="1600" dirty="0"/>
                        <a:t>开发组</a:t>
                      </a:r>
                    </a:p>
                  </a:txBody>
                  <a:tcPr marL="55109" marR="55109" marT="27554" marB="2755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en-US" altLang="zh-CN" sz="1600" dirty="0"/>
                        <a:t>16</a:t>
                      </a:r>
                    </a:p>
                  </a:txBody>
                  <a:tcPr marL="55109" marR="55109" marT="27554" marB="2755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zh-CN" altLang="en-US" sz="1600" dirty="0"/>
                        <a:t>赵伟宏</a:t>
                      </a:r>
                    </a:p>
                  </a:txBody>
                  <a:tcPr marL="55109" marR="55109" marT="27554" marB="2755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285750" indent="-285750" algn="l">
                        <a:buFont typeface="Arial" panose="020B0604020202020204" pitchFamily="34" charset="0"/>
                        <a:buChar char="•"/>
                      </a:pPr>
                      <a:r>
                        <a:rPr lang="zh-CN" altLang="en-US" sz="1600" dirty="0"/>
                        <a:t>程序开发</a:t>
                      </a:r>
                      <a:endParaRPr lang="en-US" altLang="zh-CN" sz="1600" dirty="0"/>
                    </a:p>
                    <a:p>
                      <a:pPr marL="285750" indent="-285750" algn="l">
                        <a:buFont typeface="Arial" panose="020B0604020202020204" pitchFamily="34" charset="0"/>
                        <a:buChar char="•"/>
                      </a:pPr>
                      <a:r>
                        <a:rPr lang="zh-CN" altLang="en-US" sz="1600" dirty="0"/>
                        <a:t>单元测试</a:t>
                      </a:r>
                    </a:p>
                  </a:txBody>
                  <a:tcPr marL="55109" marR="55109" marT="27554" marB="2755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82822198"/>
                  </a:ext>
                </a:extLst>
              </a:tr>
              <a:tr h="203599">
                <a:tc>
                  <a:txBody>
                    <a:bodyPr/>
                    <a:lstStyle/>
                    <a:p>
                      <a:pPr algn="ctr">
                        <a:buNone/>
                      </a:pPr>
                      <a:r>
                        <a:rPr lang="en-US" altLang="zh-CN" sz="1600" dirty="0"/>
                        <a:t>6</a:t>
                      </a:r>
                    </a:p>
                  </a:txBody>
                  <a:tcPr marL="55109" marR="55109" marT="27554" marB="2755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zh-CN" altLang="en-US" sz="1600" dirty="0"/>
                        <a:t>测试组</a:t>
                      </a:r>
                    </a:p>
                  </a:txBody>
                  <a:tcPr marL="55109" marR="55109" marT="27554" marB="2755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en-US" altLang="zh-CN" sz="1600" dirty="0"/>
                        <a:t>5</a:t>
                      </a:r>
                    </a:p>
                  </a:txBody>
                  <a:tcPr marL="55109" marR="55109" marT="27554" marB="2755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zh-CN" altLang="en-US" sz="1600" dirty="0"/>
                        <a:t>周林红</a:t>
                      </a:r>
                    </a:p>
                  </a:txBody>
                  <a:tcPr marL="55109" marR="55109" marT="27554" marB="2755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285750" indent="-285750" algn="l">
                        <a:buFont typeface="Arial" panose="020B0604020202020204" pitchFamily="34" charset="0"/>
                        <a:buChar char="•"/>
                      </a:pPr>
                      <a:r>
                        <a:rPr lang="zh-CN" altLang="en-US" sz="1600" dirty="0"/>
                        <a:t>编写测试计划、测试用例</a:t>
                      </a:r>
                      <a:endParaRPr lang="en-US" altLang="zh-CN" sz="1600" dirty="0"/>
                    </a:p>
                    <a:p>
                      <a:pPr marL="285750" indent="-285750" algn="l">
                        <a:buFont typeface="Arial" panose="020B0604020202020204" pitchFamily="34" charset="0"/>
                        <a:buChar char="•"/>
                      </a:pPr>
                      <a:r>
                        <a:rPr lang="zh-CN" altLang="en-US" sz="1600" dirty="0"/>
                        <a:t>进行功能测试、集成测试、压力测试和回归测试</a:t>
                      </a:r>
                      <a:endParaRPr lang="en-US" altLang="zh-CN" sz="1600" dirty="0"/>
                    </a:p>
                    <a:p>
                      <a:pPr marL="285750" indent="-285750" algn="l">
                        <a:buFont typeface="Arial" panose="020B0604020202020204" pitchFamily="34" charset="0"/>
                        <a:buChar char="•"/>
                      </a:pPr>
                      <a:r>
                        <a:rPr lang="zh-CN" altLang="en-US" sz="1600" dirty="0"/>
                        <a:t>提交测试报告</a:t>
                      </a:r>
                    </a:p>
                  </a:txBody>
                  <a:tcPr marL="55109" marR="55109" marT="27554" marB="2755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68272795"/>
                  </a:ext>
                </a:extLst>
              </a:tr>
              <a:tr h="140487">
                <a:tc>
                  <a:txBody>
                    <a:bodyPr/>
                    <a:lstStyle/>
                    <a:p>
                      <a:pPr algn="ctr">
                        <a:buNone/>
                      </a:pPr>
                      <a:r>
                        <a:rPr lang="en-US" altLang="zh-CN" sz="1600" dirty="0"/>
                        <a:t>7</a:t>
                      </a:r>
                    </a:p>
                  </a:txBody>
                  <a:tcPr marL="55109" marR="55109" marT="27554" marB="27554"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a:buNone/>
                      </a:pPr>
                      <a:r>
                        <a:rPr lang="zh-CN" altLang="en-US" sz="1600" dirty="0"/>
                        <a:t>实施组</a:t>
                      </a:r>
                    </a:p>
                  </a:txBody>
                  <a:tcPr marL="55109" marR="55109" marT="27554" marB="27554"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a:buNone/>
                      </a:pPr>
                      <a:r>
                        <a:rPr lang="en-US" altLang="zh-CN" sz="1600" dirty="0"/>
                        <a:t>3</a:t>
                      </a:r>
                    </a:p>
                  </a:txBody>
                  <a:tcPr marL="55109" marR="55109" marT="27554" marB="27554"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a:buNone/>
                      </a:pPr>
                      <a:r>
                        <a:rPr lang="zh-CN" altLang="en-US" sz="1600" dirty="0"/>
                        <a:t>陈明</a:t>
                      </a:r>
                    </a:p>
                  </a:txBody>
                  <a:tcPr marL="55109" marR="55109" marT="27554" marB="27554"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marL="285750" indent="-285750" algn="l">
                        <a:buFont typeface="Arial" panose="020B0604020202020204" pitchFamily="34" charset="0"/>
                        <a:buChar char="•"/>
                      </a:pPr>
                      <a:r>
                        <a:rPr lang="zh-CN" altLang="en-US" sz="1600" dirty="0"/>
                        <a:t>项目的具体实施工作</a:t>
                      </a:r>
                      <a:endParaRPr lang="en-US" altLang="zh-CN" sz="1600" dirty="0"/>
                    </a:p>
                    <a:p>
                      <a:pPr marL="285750" indent="-285750" algn="l">
                        <a:buFont typeface="Arial" panose="020B0604020202020204" pitchFamily="34" charset="0"/>
                        <a:buChar char="•"/>
                      </a:pPr>
                      <a:r>
                        <a:rPr lang="zh-CN" altLang="en-US" sz="1600" dirty="0"/>
                        <a:t>系统的安装、调试、部署工作</a:t>
                      </a:r>
                    </a:p>
                  </a:txBody>
                  <a:tcPr marL="55109" marR="55109" marT="27554" marB="27554" anchor="ctr">
                    <a:lnL>
                      <a:noFill/>
                    </a:lnL>
                    <a:lnR>
                      <a:noFill/>
                    </a:lnR>
                    <a:lnT w="635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3413627042"/>
                  </a:ext>
                </a:extLst>
              </a:tr>
            </a:tbl>
          </a:graphicData>
        </a:graphic>
      </p:graphicFrame>
    </p:spTree>
    <p:extLst>
      <p:ext uri="{BB962C8B-B14F-4D97-AF65-F5344CB8AC3E}">
        <p14:creationId xmlns:p14="http://schemas.microsoft.com/office/powerpoint/2010/main" val="1668603982"/>
      </p:ext>
    </p:extLst>
  </p:cSld>
  <p:clrMapOvr>
    <a:masterClrMapping/>
  </p:clrMapOvr>
</p:sld>
</file>

<file path=ppt/slides/slide4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E234997D-A69C-4E75-2B1E-2DE69474803D}"/>
              </a:ext>
            </a:extLst>
          </p:cNvPr>
          <p:cNvSpPr>
            <a:spLocks noGrp="1"/>
          </p:cNvSpPr>
          <p:nvPr>
            <p:ph type="title"/>
          </p:nvPr>
        </p:nvSpPr>
        <p:spPr>
          <a:xfrm>
            <a:off x="696000" y="360000"/>
            <a:ext cx="5400000" cy="429413"/>
          </a:xfrm>
        </p:spPr>
        <p:txBody>
          <a:bodyPr/>
          <a:lstStyle/>
          <a:p>
            <a:r>
              <a:rPr lang="zh-CN" altLang="en-US" dirty="0"/>
              <a:t>例：文本示例</a:t>
            </a:r>
          </a:p>
        </p:txBody>
      </p:sp>
      <p:pic>
        <p:nvPicPr>
          <p:cNvPr id="15" name="图片 14">
            <a:extLst>
              <a:ext uri="{FF2B5EF4-FFF2-40B4-BE49-F238E27FC236}">
                <a16:creationId xmlns:a16="http://schemas.microsoft.com/office/drawing/2014/main" id="{F01F58BB-6E0C-7CA4-9CC8-BD1AF8904BC5}"/>
              </a:ext>
            </a:extLst>
          </p:cNvPr>
          <p:cNvPicPr>
            <a:picLocks noChangeAspect="1"/>
          </p:cNvPicPr>
          <p:nvPr/>
        </p:nvPicPr>
        <p:blipFill>
          <a:blip r:embed="rId2"/>
          <a:srcRect t="9502" b="3135"/>
          <a:stretch>
            <a:fillRect/>
          </a:stretch>
        </p:blipFill>
        <p:spPr>
          <a:xfrm>
            <a:off x="3609975" y="1623291"/>
            <a:ext cx="4972050" cy="3611418"/>
          </a:xfrm>
          <a:prstGeom prst="rect">
            <a:avLst/>
          </a:prstGeom>
        </p:spPr>
      </p:pic>
    </p:spTree>
    <p:extLst>
      <p:ext uri="{BB962C8B-B14F-4D97-AF65-F5344CB8AC3E}">
        <p14:creationId xmlns:p14="http://schemas.microsoft.com/office/powerpoint/2010/main" val="2297735629"/>
      </p:ext>
    </p:extLst>
  </p:cSld>
  <p:clrMapOvr>
    <a:masterClrMapping/>
  </p:clrMapOvr>
</p:sld>
</file>

<file path=ppt/slides/slide4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a:extLst>
              <a:ext uri="{FF2B5EF4-FFF2-40B4-BE49-F238E27FC236}">
                <a16:creationId xmlns:a16="http://schemas.microsoft.com/office/drawing/2014/main" id="{040BDEEC-1AD0-9A32-54F9-78BD283C9661}"/>
              </a:ext>
            </a:extLst>
          </p:cNvPr>
          <p:cNvGrpSpPr/>
          <p:nvPr/>
        </p:nvGrpSpPr>
        <p:grpSpPr>
          <a:xfrm>
            <a:off x="4098000" y="2887464"/>
            <a:ext cx="3996000" cy="1083073"/>
            <a:chOff x="4155919" y="2494800"/>
            <a:chExt cx="3996000" cy="1083073"/>
          </a:xfrm>
        </p:grpSpPr>
        <p:grpSp>
          <p:nvGrpSpPr>
            <p:cNvPr id="13" name="组合 12">
              <a:extLst>
                <a:ext uri="{FF2B5EF4-FFF2-40B4-BE49-F238E27FC236}">
                  <a16:creationId xmlns:a16="http://schemas.microsoft.com/office/drawing/2014/main" id="{A27C7301-1929-E039-C793-BA1621AF5D22}"/>
                </a:ext>
              </a:extLst>
            </p:cNvPr>
            <p:cNvGrpSpPr/>
            <p:nvPr/>
          </p:nvGrpSpPr>
          <p:grpSpPr>
            <a:xfrm>
              <a:off x="4155919" y="2494800"/>
              <a:ext cx="1080000" cy="864000"/>
              <a:chOff x="2602930" y="3024000"/>
              <a:chExt cx="1080000" cy="864000"/>
            </a:xfrm>
          </p:grpSpPr>
          <p:sp>
            <p:nvSpPr>
              <p:cNvPr id="12" name="任意多边形: 形状 11">
                <a:extLst>
                  <a:ext uri="{FF2B5EF4-FFF2-40B4-BE49-F238E27FC236}">
                    <a16:creationId xmlns:a16="http://schemas.microsoft.com/office/drawing/2014/main" id="{DDEA5C15-4196-2D88-4595-AB2C979D760C}"/>
                  </a:ext>
                </a:extLst>
              </p:cNvPr>
              <p:cNvSpPr/>
              <p:nvPr/>
            </p:nvSpPr>
            <p:spPr>
              <a:xfrm>
                <a:off x="2602930" y="3024000"/>
                <a:ext cx="1080000" cy="540000"/>
              </a:xfrm>
              <a:custGeom>
                <a:avLst/>
                <a:gdLst>
                  <a:gd name="csX0" fmla="*/ 540000 w 1080000"/>
                  <a:gd name="csY0" fmla="*/ 0 h 540000"/>
                  <a:gd name="csX1" fmla="*/ 1080000 w 1080000"/>
                  <a:gd name="csY1" fmla="*/ 540000 h 540000"/>
                  <a:gd name="csX2" fmla="*/ 972000 w 1080000"/>
                  <a:gd name="csY2" fmla="*/ 540000 h 540000"/>
                  <a:gd name="csX3" fmla="*/ 540000 w 1080000"/>
                  <a:gd name="csY3" fmla="*/ 108000 h 540000"/>
                  <a:gd name="csX4" fmla="*/ 108000 w 1080000"/>
                  <a:gd name="csY4" fmla="*/ 540000 h 540000"/>
                  <a:gd name="csX5" fmla="*/ 0 w 1080000"/>
                  <a:gd name="csY5" fmla="*/ 540000 h 540000"/>
                  <a:gd name="csX6" fmla="*/ 540000 w 1080000"/>
                  <a:gd name="csY6" fmla="*/ 0 h 540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80000" h="540000">
                    <a:moveTo>
                      <a:pt x="540000" y="0"/>
                    </a:moveTo>
                    <a:cubicBezTo>
                      <a:pt x="838234" y="0"/>
                      <a:pt x="1080000" y="241766"/>
                      <a:pt x="1080000" y="540000"/>
                    </a:cubicBezTo>
                    <a:lnTo>
                      <a:pt x="972000" y="540000"/>
                    </a:lnTo>
                    <a:cubicBezTo>
                      <a:pt x="972000" y="301413"/>
                      <a:pt x="778587" y="108000"/>
                      <a:pt x="540000" y="108000"/>
                    </a:cubicBezTo>
                    <a:cubicBezTo>
                      <a:pt x="301413" y="108000"/>
                      <a:pt x="108000" y="301413"/>
                      <a:pt x="108000" y="540000"/>
                    </a:cubicBezTo>
                    <a:lnTo>
                      <a:pt x="0" y="540000"/>
                    </a:lnTo>
                    <a:cubicBezTo>
                      <a:pt x="0" y="241766"/>
                      <a:pt x="241766" y="0"/>
                      <a:pt x="540000" y="0"/>
                    </a:cubicBezTo>
                    <a:close/>
                  </a:path>
                </a:pathLst>
              </a:custGeom>
              <a:solidFill>
                <a:srgbClr val="D7003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dirty="0">
                  <a:solidFill>
                    <a:schemeClr val="bg1"/>
                  </a:solidFill>
                </a:endParaRPr>
              </a:p>
            </p:txBody>
          </p:sp>
          <p:sp>
            <p:nvSpPr>
              <p:cNvPr id="7" name="椭圆 6">
                <a:extLst>
                  <a:ext uri="{FF2B5EF4-FFF2-40B4-BE49-F238E27FC236}">
                    <a16:creationId xmlns:a16="http://schemas.microsoft.com/office/drawing/2014/main" id="{4EF8754E-5153-BB76-123C-75DD2A973840}"/>
                  </a:ext>
                </a:extLst>
              </p:cNvPr>
              <p:cNvSpPr/>
              <p:nvPr/>
            </p:nvSpPr>
            <p:spPr>
              <a:xfrm>
                <a:off x="2818930" y="3240000"/>
                <a:ext cx="648000" cy="648000"/>
              </a:xfrm>
              <a:prstGeom prst="ellipse">
                <a:avLst/>
              </a:prstGeom>
              <a:solidFill>
                <a:srgbClr val="D70036"/>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dirty="0">
                    <a:solidFill>
                      <a:schemeClr val="bg1"/>
                    </a:solidFill>
                  </a:rPr>
                  <a:t>01</a:t>
                </a:r>
                <a:endParaRPr lang="zh-CN" altLang="en-US" sz="2000" dirty="0">
                  <a:solidFill>
                    <a:schemeClr val="bg1"/>
                  </a:solidFill>
                </a:endParaRPr>
              </a:p>
            </p:txBody>
          </p:sp>
        </p:grpSp>
        <p:grpSp>
          <p:nvGrpSpPr>
            <p:cNvPr id="14" name="组合 13">
              <a:extLst>
                <a:ext uri="{FF2B5EF4-FFF2-40B4-BE49-F238E27FC236}">
                  <a16:creationId xmlns:a16="http://schemas.microsoft.com/office/drawing/2014/main" id="{BCFE7B6A-022D-0676-43C0-6C7083DD3B29}"/>
                </a:ext>
              </a:extLst>
            </p:cNvPr>
            <p:cNvGrpSpPr/>
            <p:nvPr/>
          </p:nvGrpSpPr>
          <p:grpSpPr>
            <a:xfrm>
              <a:off x="6099919" y="2494800"/>
              <a:ext cx="1080000" cy="864000"/>
              <a:chOff x="2602930" y="3024000"/>
              <a:chExt cx="1080000" cy="864000"/>
            </a:xfrm>
          </p:grpSpPr>
          <p:sp>
            <p:nvSpPr>
              <p:cNvPr id="15" name="任意多边形: 形状 14">
                <a:extLst>
                  <a:ext uri="{FF2B5EF4-FFF2-40B4-BE49-F238E27FC236}">
                    <a16:creationId xmlns:a16="http://schemas.microsoft.com/office/drawing/2014/main" id="{20B7BFDA-7660-18EA-B3B2-F69058C8F5C7}"/>
                  </a:ext>
                </a:extLst>
              </p:cNvPr>
              <p:cNvSpPr/>
              <p:nvPr/>
            </p:nvSpPr>
            <p:spPr>
              <a:xfrm>
                <a:off x="2602930" y="3024000"/>
                <a:ext cx="1080000" cy="540000"/>
              </a:xfrm>
              <a:custGeom>
                <a:avLst/>
                <a:gdLst>
                  <a:gd name="csX0" fmla="*/ 540000 w 1080000"/>
                  <a:gd name="csY0" fmla="*/ 0 h 540000"/>
                  <a:gd name="csX1" fmla="*/ 1080000 w 1080000"/>
                  <a:gd name="csY1" fmla="*/ 540000 h 540000"/>
                  <a:gd name="csX2" fmla="*/ 972000 w 1080000"/>
                  <a:gd name="csY2" fmla="*/ 540000 h 540000"/>
                  <a:gd name="csX3" fmla="*/ 540000 w 1080000"/>
                  <a:gd name="csY3" fmla="*/ 108000 h 540000"/>
                  <a:gd name="csX4" fmla="*/ 108000 w 1080000"/>
                  <a:gd name="csY4" fmla="*/ 540000 h 540000"/>
                  <a:gd name="csX5" fmla="*/ 0 w 1080000"/>
                  <a:gd name="csY5" fmla="*/ 540000 h 540000"/>
                  <a:gd name="csX6" fmla="*/ 540000 w 1080000"/>
                  <a:gd name="csY6" fmla="*/ 0 h 540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80000" h="540000">
                    <a:moveTo>
                      <a:pt x="540000" y="0"/>
                    </a:moveTo>
                    <a:cubicBezTo>
                      <a:pt x="838234" y="0"/>
                      <a:pt x="1080000" y="241766"/>
                      <a:pt x="1080000" y="540000"/>
                    </a:cubicBezTo>
                    <a:lnTo>
                      <a:pt x="972000" y="540000"/>
                    </a:lnTo>
                    <a:cubicBezTo>
                      <a:pt x="972000" y="301413"/>
                      <a:pt x="778587" y="108000"/>
                      <a:pt x="540000" y="108000"/>
                    </a:cubicBezTo>
                    <a:cubicBezTo>
                      <a:pt x="301413" y="108000"/>
                      <a:pt x="108000" y="301413"/>
                      <a:pt x="108000" y="540000"/>
                    </a:cubicBezTo>
                    <a:lnTo>
                      <a:pt x="0" y="540000"/>
                    </a:lnTo>
                    <a:cubicBezTo>
                      <a:pt x="0" y="241766"/>
                      <a:pt x="241766" y="0"/>
                      <a:pt x="540000" y="0"/>
                    </a:cubicBezTo>
                    <a:close/>
                  </a:path>
                </a:pathLst>
              </a:cu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dirty="0">
                  <a:solidFill>
                    <a:schemeClr val="bg1"/>
                  </a:solidFill>
                </a:endParaRPr>
              </a:p>
            </p:txBody>
          </p:sp>
          <p:sp>
            <p:nvSpPr>
              <p:cNvPr id="16" name="椭圆 15">
                <a:extLst>
                  <a:ext uri="{FF2B5EF4-FFF2-40B4-BE49-F238E27FC236}">
                    <a16:creationId xmlns:a16="http://schemas.microsoft.com/office/drawing/2014/main" id="{3FA5F8B5-6D06-6C60-7809-70461DFD3229}"/>
                  </a:ext>
                </a:extLst>
              </p:cNvPr>
              <p:cNvSpPr/>
              <p:nvPr/>
            </p:nvSpPr>
            <p:spPr>
              <a:xfrm>
                <a:off x="2818930" y="3240000"/>
                <a:ext cx="648000" cy="648000"/>
              </a:xfrm>
              <a:prstGeom prst="ellipse">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dirty="0">
                    <a:solidFill>
                      <a:schemeClr val="bg1"/>
                    </a:solidFill>
                  </a:rPr>
                  <a:t>03</a:t>
                </a:r>
                <a:endParaRPr lang="zh-CN" altLang="en-US" sz="2000" dirty="0">
                  <a:solidFill>
                    <a:schemeClr val="bg1"/>
                  </a:solidFill>
                </a:endParaRPr>
              </a:p>
            </p:txBody>
          </p:sp>
        </p:grpSp>
        <p:grpSp>
          <p:nvGrpSpPr>
            <p:cNvPr id="21" name="组合 20">
              <a:extLst>
                <a:ext uri="{FF2B5EF4-FFF2-40B4-BE49-F238E27FC236}">
                  <a16:creationId xmlns:a16="http://schemas.microsoft.com/office/drawing/2014/main" id="{A7FF0031-8DEE-5BFC-E4FE-CDACB245F47E}"/>
                </a:ext>
              </a:extLst>
            </p:cNvPr>
            <p:cNvGrpSpPr/>
            <p:nvPr/>
          </p:nvGrpSpPr>
          <p:grpSpPr>
            <a:xfrm>
              <a:off x="5127919" y="2707728"/>
              <a:ext cx="1080000" cy="870145"/>
              <a:chOff x="3577081" y="3369600"/>
              <a:chExt cx="1080000" cy="870145"/>
            </a:xfrm>
          </p:grpSpPr>
          <p:sp>
            <p:nvSpPr>
              <p:cNvPr id="19" name="椭圆 18">
                <a:extLst>
                  <a:ext uri="{FF2B5EF4-FFF2-40B4-BE49-F238E27FC236}">
                    <a16:creationId xmlns:a16="http://schemas.microsoft.com/office/drawing/2014/main" id="{FD91E639-5BCB-4182-3C72-70694E50688B}"/>
                  </a:ext>
                </a:extLst>
              </p:cNvPr>
              <p:cNvSpPr/>
              <p:nvPr/>
            </p:nvSpPr>
            <p:spPr>
              <a:xfrm>
                <a:off x="3793081" y="3369600"/>
                <a:ext cx="648000" cy="648000"/>
              </a:xfrm>
              <a:prstGeom prst="ellipse">
                <a:avLst/>
              </a:prstGeom>
              <a:solidFill>
                <a:srgbClr val="1A5076"/>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dirty="0">
                    <a:solidFill>
                      <a:schemeClr val="bg1"/>
                    </a:solidFill>
                  </a:rPr>
                  <a:t>02</a:t>
                </a:r>
                <a:endParaRPr lang="zh-CN" altLang="en-US" sz="2000" dirty="0">
                  <a:solidFill>
                    <a:schemeClr val="bg1"/>
                  </a:solidFill>
                </a:endParaRPr>
              </a:p>
            </p:txBody>
          </p:sp>
          <p:sp>
            <p:nvSpPr>
              <p:cNvPr id="20" name="任意多边形: 形状 19">
                <a:extLst>
                  <a:ext uri="{FF2B5EF4-FFF2-40B4-BE49-F238E27FC236}">
                    <a16:creationId xmlns:a16="http://schemas.microsoft.com/office/drawing/2014/main" id="{A317ABDA-9B57-A1B7-ACDF-467E726B1A33}"/>
                  </a:ext>
                </a:extLst>
              </p:cNvPr>
              <p:cNvSpPr/>
              <p:nvPr/>
            </p:nvSpPr>
            <p:spPr>
              <a:xfrm flipV="1">
                <a:off x="3577081" y="3699745"/>
                <a:ext cx="1080000" cy="540000"/>
              </a:xfrm>
              <a:custGeom>
                <a:avLst/>
                <a:gdLst>
                  <a:gd name="csX0" fmla="*/ 540000 w 1080000"/>
                  <a:gd name="csY0" fmla="*/ 0 h 540000"/>
                  <a:gd name="csX1" fmla="*/ 1080000 w 1080000"/>
                  <a:gd name="csY1" fmla="*/ 540000 h 540000"/>
                  <a:gd name="csX2" fmla="*/ 972000 w 1080000"/>
                  <a:gd name="csY2" fmla="*/ 540000 h 540000"/>
                  <a:gd name="csX3" fmla="*/ 540000 w 1080000"/>
                  <a:gd name="csY3" fmla="*/ 108000 h 540000"/>
                  <a:gd name="csX4" fmla="*/ 108000 w 1080000"/>
                  <a:gd name="csY4" fmla="*/ 540000 h 540000"/>
                  <a:gd name="csX5" fmla="*/ 0 w 1080000"/>
                  <a:gd name="csY5" fmla="*/ 540000 h 540000"/>
                  <a:gd name="csX6" fmla="*/ 540000 w 1080000"/>
                  <a:gd name="csY6" fmla="*/ 0 h 540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80000" h="540000">
                    <a:moveTo>
                      <a:pt x="540000" y="0"/>
                    </a:moveTo>
                    <a:cubicBezTo>
                      <a:pt x="838234" y="0"/>
                      <a:pt x="1080000" y="241766"/>
                      <a:pt x="1080000" y="540000"/>
                    </a:cubicBezTo>
                    <a:lnTo>
                      <a:pt x="972000" y="540000"/>
                    </a:lnTo>
                    <a:cubicBezTo>
                      <a:pt x="972000" y="301413"/>
                      <a:pt x="778587" y="108000"/>
                      <a:pt x="540000" y="108000"/>
                    </a:cubicBezTo>
                    <a:cubicBezTo>
                      <a:pt x="301413" y="108000"/>
                      <a:pt x="108000" y="301413"/>
                      <a:pt x="108000" y="540000"/>
                    </a:cubicBezTo>
                    <a:lnTo>
                      <a:pt x="0" y="540000"/>
                    </a:lnTo>
                    <a:cubicBezTo>
                      <a:pt x="0" y="241766"/>
                      <a:pt x="241766" y="0"/>
                      <a:pt x="540000" y="0"/>
                    </a:cubicBezTo>
                    <a:close/>
                  </a:path>
                </a:pathLst>
              </a:custGeom>
              <a:solidFill>
                <a:srgbClr val="1A507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dirty="0">
                  <a:solidFill>
                    <a:schemeClr val="bg1"/>
                  </a:solidFill>
                </a:endParaRPr>
              </a:p>
            </p:txBody>
          </p:sp>
        </p:grpSp>
        <p:grpSp>
          <p:nvGrpSpPr>
            <p:cNvPr id="22" name="组合 21">
              <a:extLst>
                <a:ext uri="{FF2B5EF4-FFF2-40B4-BE49-F238E27FC236}">
                  <a16:creationId xmlns:a16="http://schemas.microsoft.com/office/drawing/2014/main" id="{F39D4B05-1002-5FAB-20FA-8E066C156941}"/>
                </a:ext>
              </a:extLst>
            </p:cNvPr>
            <p:cNvGrpSpPr/>
            <p:nvPr/>
          </p:nvGrpSpPr>
          <p:grpSpPr>
            <a:xfrm>
              <a:off x="7071919" y="2707728"/>
              <a:ext cx="1080000" cy="870145"/>
              <a:chOff x="3577081" y="3369600"/>
              <a:chExt cx="1080000" cy="870145"/>
            </a:xfrm>
            <a:solidFill>
              <a:srgbClr val="FE863F"/>
            </a:solidFill>
          </p:grpSpPr>
          <p:sp>
            <p:nvSpPr>
              <p:cNvPr id="23" name="椭圆 22">
                <a:extLst>
                  <a:ext uri="{FF2B5EF4-FFF2-40B4-BE49-F238E27FC236}">
                    <a16:creationId xmlns:a16="http://schemas.microsoft.com/office/drawing/2014/main" id="{291E59BA-6CB2-1D00-0B7D-7EF355863D74}"/>
                  </a:ext>
                </a:extLst>
              </p:cNvPr>
              <p:cNvSpPr/>
              <p:nvPr/>
            </p:nvSpPr>
            <p:spPr>
              <a:xfrm>
                <a:off x="3793081" y="3369600"/>
                <a:ext cx="648000" cy="6480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dirty="0">
                    <a:solidFill>
                      <a:schemeClr val="bg1"/>
                    </a:solidFill>
                  </a:rPr>
                  <a:t>04</a:t>
                </a:r>
                <a:endParaRPr lang="zh-CN" altLang="en-US" sz="2000" dirty="0">
                  <a:solidFill>
                    <a:schemeClr val="bg1"/>
                  </a:solidFill>
                </a:endParaRPr>
              </a:p>
            </p:txBody>
          </p:sp>
          <p:sp>
            <p:nvSpPr>
              <p:cNvPr id="24" name="任意多边形: 形状 23">
                <a:extLst>
                  <a:ext uri="{FF2B5EF4-FFF2-40B4-BE49-F238E27FC236}">
                    <a16:creationId xmlns:a16="http://schemas.microsoft.com/office/drawing/2014/main" id="{E53B141D-CD17-E4C1-696D-47963C404586}"/>
                  </a:ext>
                </a:extLst>
              </p:cNvPr>
              <p:cNvSpPr/>
              <p:nvPr/>
            </p:nvSpPr>
            <p:spPr>
              <a:xfrm flipV="1">
                <a:off x="3577081" y="3699745"/>
                <a:ext cx="1080000" cy="540000"/>
              </a:xfrm>
              <a:custGeom>
                <a:avLst/>
                <a:gdLst>
                  <a:gd name="csX0" fmla="*/ 540000 w 1080000"/>
                  <a:gd name="csY0" fmla="*/ 0 h 540000"/>
                  <a:gd name="csX1" fmla="*/ 1080000 w 1080000"/>
                  <a:gd name="csY1" fmla="*/ 540000 h 540000"/>
                  <a:gd name="csX2" fmla="*/ 972000 w 1080000"/>
                  <a:gd name="csY2" fmla="*/ 540000 h 540000"/>
                  <a:gd name="csX3" fmla="*/ 540000 w 1080000"/>
                  <a:gd name="csY3" fmla="*/ 108000 h 540000"/>
                  <a:gd name="csX4" fmla="*/ 108000 w 1080000"/>
                  <a:gd name="csY4" fmla="*/ 540000 h 540000"/>
                  <a:gd name="csX5" fmla="*/ 0 w 1080000"/>
                  <a:gd name="csY5" fmla="*/ 540000 h 540000"/>
                  <a:gd name="csX6" fmla="*/ 540000 w 1080000"/>
                  <a:gd name="csY6" fmla="*/ 0 h 540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80000" h="540000">
                    <a:moveTo>
                      <a:pt x="540000" y="0"/>
                    </a:moveTo>
                    <a:cubicBezTo>
                      <a:pt x="838234" y="0"/>
                      <a:pt x="1080000" y="241766"/>
                      <a:pt x="1080000" y="540000"/>
                    </a:cubicBezTo>
                    <a:lnTo>
                      <a:pt x="972000" y="540000"/>
                    </a:lnTo>
                    <a:cubicBezTo>
                      <a:pt x="972000" y="301413"/>
                      <a:pt x="778587" y="108000"/>
                      <a:pt x="540000" y="108000"/>
                    </a:cubicBezTo>
                    <a:cubicBezTo>
                      <a:pt x="301413" y="108000"/>
                      <a:pt x="108000" y="301413"/>
                      <a:pt x="108000" y="540000"/>
                    </a:cubicBezTo>
                    <a:lnTo>
                      <a:pt x="0" y="540000"/>
                    </a:lnTo>
                    <a:cubicBezTo>
                      <a:pt x="0" y="241766"/>
                      <a:pt x="241766" y="0"/>
                      <a:pt x="540000"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dirty="0">
                  <a:solidFill>
                    <a:schemeClr val="bg1"/>
                  </a:solidFill>
                </a:endParaRPr>
              </a:p>
            </p:txBody>
          </p:sp>
        </p:grpSp>
      </p:grpSp>
      <p:sp>
        <p:nvSpPr>
          <p:cNvPr id="34" name="文本框 33">
            <a:extLst>
              <a:ext uri="{FF2B5EF4-FFF2-40B4-BE49-F238E27FC236}">
                <a16:creationId xmlns:a16="http://schemas.microsoft.com/office/drawing/2014/main" id="{5722E799-A3CD-B649-397F-C202FE75BBEF}"/>
              </a:ext>
            </a:extLst>
          </p:cNvPr>
          <p:cNvSpPr txBox="1"/>
          <p:nvPr/>
        </p:nvSpPr>
        <p:spPr>
          <a:xfrm>
            <a:off x="4639512" y="336460"/>
            <a:ext cx="2912977" cy="1200329"/>
          </a:xfrm>
          <a:prstGeom prst="rect">
            <a:avLst/>
          </a:prstGeom>
          <a:noFill/>
        </p:spPr>
        <p:txBody>
          <a:bodyPr wrap="none" rtlCol="0">
            <a:spAutoFit/>
          </a:bodyPr>
          <a:lstStyle/>
          <a:p>
            <a:pPr algn="ctr"/>
            <a:r>
              <a:rPr lang="en-US" altLang="zh-CN" sz="2400" dirty="0">
                <a:latin typeface="+mj-lt"/>
                <a:ea typeface="+mj-ea"/>
              </a:rPr>
              <a:t>10.3</a:t>
            </a:r>
          </a:p>
          <a:p>
            <a:pPr algn="ctr"/>
            <a:r>
              <a:rPr lang="zh-CN" altLang="en-US" sz="2400" dirty="0">
                <a:latin typeface="+mj-lt"/>
                <a:ea typeface="+mj-ea"/>
              </a:rPr>
              <a:t>项目干系人计划</a:t>
            </a:r>
            <a:endParaRPr lang="en-US" altLang="zh-CN" sz="2400" dirty="0">
              <a:latin typeface="+mj-lt"/>
              <a:ea typeface="+mj-ea"/>
            </a:endParaRPr>
          </a:p>
          <a:p>
            <a:pPr algn="ctr"/>
            <a:r>
              <a:rPr lang="en-US" altLang="zh-CN" sz="2400" dirty="0">
                <a:latin typeface="+mj-lt"/>
                <a:ea typeface="+mj-ea"/>
              </a:rPr>
              <a:t>Stakeholders Mgt</a:t>
            </a:r>
            <a:endParaRPr lang="zh-CN" altLang="en-US" sz="2400" dirty="0">
              <a:latin typeface="+mj-lt"/>
              <a:ea typeface="+mj-ea"/>
            </a:endParaRPr>
          </a:p>
        </p:txBody>
      </p:sp>
      <p:sp>
        <p:nvSpPr>
          <p:cNvPr id="36" name="文本框 35">
            <a:extLst>
              <a:ext uri="{FF2B5EF4-FFF2-40B4-BE49-F238E27FC236}">
                <a16:creationId xmlns:a16="http://schemas.microsoft.com/office/drawing/2014/main" id="{3D53196C-6221-F2F1-6B51-5BBE4854C2EA}"/>
              </a:ext>
            </a:extLst>
          </p:cNvPr>
          <p:cNvSpPr txBox="1"/>
          <p:nvPr/>
        </p:nvSpPr>
        <p:spPr>
          <a:xfrm>
            <a:off x="1145307" y="1943880"/>
            <a:ext cx="3877985" cy="830997"/>
          </a:xfrm>
          <a:prstGeom prst="rect">
            <a:avLst/>
          </a:prstGeom>
          <a:noFill/>
        </p:spPr>
        <p:txBody>
          <a:bodyPr wrap="none" rtlCol="0">
            <a:spAutoFit/>
          </a:bodyPr>
          <a:lstStyle/>
          <a:p>
            <a:pPr algn="r"/>
            <a:r>
              <a:rPr lang="zh-CN" altLang="en-US" sz="1600" b="1" dirty="0">
                <a:solidFill>
                  <a:srgbClr val="1A5076"/>
                </a:solidFill>
              </a:rPr>
              <a:t>评估干系人</a:t>
            </a:r>
            <a:endParaRPr lang="en-US" altLang="zh-CN" sz="1600" b="1" dirty="0">
              <a:solidFill>
                <a:srgbClr val="1A5076"/>
              </a:solidFill>
            </a:endParaRPr>
          </a:p>
          <a:p>
            <a:pPr algn="r"/>
            <a:r>
              <a:rPr lang="zh-CN" altLang="en-US" sz="1600" dirty="0"/>
              <a:t> </a:t>
            </a:r>
            <a:r>
              <a:rPr lang="en-US" altLang="zh-CN" sz="1600" dirty="0"/>
              <a:t>Analyze Stakeholders</a:t>
            </a:r>
          </a:p>
          <a:p>
            <a:pPr algn="r"/>
            <a:r>
              <a:rPr lang="zh-CN" altLang="en-US" sz="1600" dirty="0"/>
              <a:t>分析他们的诉求、期望、影响力、权力等</a:t>
            </a:r>
          </a:p>
        </p:txBody>
      </p:sp>
      <p:sp>
        <p:nvSpPr>
          <p:cNvPr id="37" name="文本框 36">
            <a:extLst>
              <a:ext uri="{FF2B5EF4-FFF2-40B4-BE49-F238E27FC236}">
                <a16:creationId xmlns:a16="http://schemas.microsoft.com/office/drawing/2014/main" id="{FACBACEB-9D9B-776B-52C1-1B977D917ED2}"/>
              </a:ext>
            </a:extLst>
          </p:cNvPr>
          <p:cNvSpPr txBox="1"/>
          <p:nvPr/>
        </p:nvSpPr>
        <p:spPr>
          <a:xfrm>
            <a:off x="7743374" y="1913212"/>
            <a:ext cx="4314001" cy="830997"/>
          </a:xfrm>
          <a:prstGeom prst="rect">
            <a:avLst/>
          </a:prstGeom>
          <a:noFill/>
        </p:spPr>
        <p:txBody>
          <a:bodyPr wrap="none" rtlCol="0">
            <a:spAutoFit/>
          </a:bodyPr>
          <a:lstStyle/>
          <a:p>
            <a:r>
              <a:rPr lang="zh-CN" altLang="en-US" sz="1600" b="1" dirty="0">
                <a:solidFill>
                  <a:srgbClr val="FE863F"/>
                </a:solidFill>
              </a:rPr>
              <a:t>制定管理计划</a:t>
            </a:r>
            <a:endParaRPr lang="en-US" altLang="zh-CN" sz="1600" b="1" dirty="0">
              <a:solidFill>
                <a:srgbClr val="FE863F"/>
              </a:solidFill>
            </a:endParaRPr>
          </a:p>
          <a:p>
            <a:r>
              <a:rPr lang="en-US" altLang="zh-CN" sz="1600" dirty="0"/>
              <a:t>Develop Stakeholder Management Plan</a:t>
            </a:r>
          </a:p>
          <a:p>
            <a:r>
              <a:rPr lang="zh-CN" altLang="en-US" sz="1600" dirty="0"/>
              <a:t>根据分类结果，制定沟通策略、管理方式等</a:t>
            </a:r>
          </a:p>
        </p:txBody>
      </p:sp>
      <p:sp>
        <p:nvSpPr>
          <p:cNvPr id="38" name="文本框 37">
            <a:extLst>
              <a:ext uri="{FF2B5EF4-FFF2-40B4-BE49-F238E27FC236}">
                <a16:creationId xmlns:a16="http://schemas.microsoft.com/office/drawing/2014/main" id="{80F002BF-9B03-DD75-2F07-349CE57F0571}"/>
              </a:ext>
            </a:extLst>
          </p:cNvPr>
          <p:cNvSpPr txBox="1"/>
          <p:nvPr/>
        </p:nvSpPr>
        <p:spPr>
          <a:xfrm>
            <a:off x="6906000" y="4459023"/>
            <a:ext cx="4152099" cy="830997"/>
          </a:xfrm>
          <a:prstGeom prst="rect">
            <a:avLst/>
          </a:prstGeom>
          <a:noFill/>
        </p:spPr>
        <p:txBody>
          <a:bodyPr wrap="none" rtlCol="0">
            <a:spAutoFit/>
          </a:bodyPr>
          <a:lstStyle/>
          <a:p>
            <a:r>
              <a:rPr lang="zh-CN" altLang="en-US" sz="1600" b="1" dirty="0">
                <a:solidFill>
                  <a:srgbClr val="92D050"/>
                </a:solidFill>
              </a:rPr>
              <a:t>分类干系人</a:t>
            </a:r>
            <a:endParaRPr lang="en-US" altLang="zh-CN" sz="1600" b="1" dirty="0">
              <a:solidFill>
                <a:srgbClr val="92D050"/>
              </a:solidFill>
            </a:endParaRPr>
          </a:p>
          <a:p>
            <a:r>
              <a:rPr lang="en-US" altLang="zh-CN" sz="1600" dirty="0"/>
              <a:t>Categorize Stakeholders</a:t>
            </a:r>
          </a:p>
          <a:p>
            <a:r>
              <a:rPr lang="zh-CN" altLang="en-US" sz="1600" dirty="0"/>
              <a:t>使用方格模型（如权利</a:t>
            </a:r>
            <a:r>
              <a:rPr lang="en-US" altLang="zh-CN" sz="1600" dirty="0"/>
              <a:t>/</a:t>
            </a:r>
            <a:r>
              <a:rPr lang="zh-CN" altLang="en-US" sz="1600" dirty="0"/>
              <a:t>利益方格）进行归类</a:t>
            </a:r>
          </a:p>
        </p:txBody>
      </p:sp>
      <p:cxnSp>
        <p:nvCxnSpPr>
          <p:cNvPr id="49" name="连接符: 肘形 48">
            <a:extLst>
              <a:ext uri="{FF2B5EF4-FFF2-40B4-BE49-F238E27FC236}">
                <a16:creationId xmlns:a16="http://schemas.microsoft.com/office/drawing/2014/main" id="{A75BC941-267E-55EF-BA51-AB4FD3F672EC}"/>
              </a:ext>
            </a:extLst>
          </p:cNvPr>
          <p:cNvCxnSpPr>
            <a:stCxn id="23" idx="0"/>
            <a:endCxn id="37" idx="1"/>
          </p:cNvCxnSpPr>
          <p:nvPr/>
        </p:nvCxnSpPr>
        <p:spPr>
          <a:xfrm rot="5400000" flipH="1" flipV="1">
            <a:off x="7262847" y="2619865"/>
            <a:ext cx="771681" cy="189374"/>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连接符: 肘形 50">
            <a:extLst>
              <a:ext uri="{FF2B5EF4-FFF2-40B4-BE49-F238E27FC236}">
                <a16:creationId xmlns:a16="http://schemas.microsoft.com/office/drawing/2014/main" id="{21A50835-5AC2-5882-8D89-8197914BC48D}"/>
              </a:ext>
            </a:extLst>
          </p:cNvPr>
          <p:cNvCxnSpPr>
            <a:stCxn id="16" idx="4"/>
            <a:endCxn id="38" idx="1"/>
          </p:cNvCxnSpPr>
          <p:nvPr/>
        </p:nvCxnSpPr>
        <p:spPr>
          <a:xfrm rot="16200000" flipH="1">
            <a:off x="6182471" y="4150993"/>
            <a:ext cx="1123058" cy="324000"/>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连接符: 肘形 52">
            <a:extLst>
              <a:ext uri="{FF2B5EF4-FFF2-40B4-BE49-F238E27FC236}">
                <a16:creationId xmlns:a16="http://schemas.microsoft.com/office/drawing/2014/main" id="{C96DF803-C233-877B-F54B-2C4EDB83BB32}"/>
              </a:ext>
            </a:extLst>
          </p:cNvPr>
          <p:cNvCxnSpPr>
            <a:cxnSpLocks/>
            <a:stCxn id="19" idx="0"/>
            <a:endCxn id="36" idx="3"/>
          </p:cNvCxnSpPr>
          <p:nvPr/>
        </p:nvCxnSpPr>
        <p:spPr>
          <a:xfrm rot="16200000" flipV="1">
            <a:off x="4946140" y="2436532"/>
            <a:ext cx="741013" cy="586708"/>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5" name="文本框 54">
            <a:extLst>
              <a:ext uri="{FF2B5EF4-FFF2-40B4-BE49-F238E27FC236}">
                <a16:creationId xmlns:a16="http://schemas.microsoft.com/office/drawing/2014/main" id="{B662DF08-4C9B-A949-E80F-BD8BA2F99E9D}"/>
              </a:ext>
            </a:extLst>
          </p:cNvPr>
          <p:cNvSpPr txBox="1"/>
          <p:nvPr/>
        </p:nvSpPr>
        <p:spPr>
          <a:xfrm>
            <a:off x="798685" y="4309441"/>
            <a:ext cx="3262432" cy="830997"/>
          </a:xfrm>
          <a:prstGeom prst="rect">
            <a:avLst/>
          </a:prstGeom>
          <a:noFill/>
        </p:spPr>
        <p:txBody>
          <a:bodyPr wrap="none" rtlCol="0">
            <a:spAutoFit/>
          </a:bodyPr>
          <a:lstStyle/>
          <a:p>
            <a:pPr algn="r"/>
            <a:r>
              <a:rPr lang="zh-CN" altLang="en-US" sz="1600" b="1" dirty="0">
                <a:solidFill>
                  <a:srgbClr val="D70036"/>
                </a:solidFill>
              </a:rPr>
              <a:t>识别干系人</a:t>
            </a:r>
            <a:endParaRPr lang="en-US" altLang="zh-CN" sz="1600" b="1" dirty="0">
              <a:solidFill>
                <a:srgbClr val="D70036"/>
              </a:solidFill>
            </a:endParaRPr>
          </a:p>
          <a:p>
            <a:pPr algn="r"/>
            <a:r>
              <a:rPr lang="en-US" altLang="zh-CN" sz="1600" dirty="0"/>
              <a:t>Identify Stakeholders</a:t>
            </a:r>
          </a:p>
          <a:p>
            <a:pPr algn="r"/>
            <a:r>
              <a:rPr lang="zh-CN" altLang="en-US" sz="1600" dirty="0"/>
              <a:t>找出谁是干系人，并收集基本信息</a:t>
            </a:r>
          </a:p>
        </p:txBody>
      </p:sp>
      <p:cxnSp>
        <p:nvCxnSpPr>
          <p:cNvPr id="57" name="连接符: 肘形 56">
            <a:extLst>
              <a:ext uri="{FF2B5EF4-FFF2-40B4-BE49-F238E27FC236}">
                <a16:creationId xmlns:a16="http://schemas.microsoft.com/office/drawing/2014/main" id="{1211C8D1-4C9E-FAE4-8098-629CBA476102}"/>
              </a:ext>
            </a:extLst>
          </p:cNvPr>
          <p:cNvCxnSpPr>
            <a:stCxn id="7" idx="4"/>
            <a:endCxn id="55" idx="3"/>
          </p:cNvCxnSpPr>
          <p:nvPr/>
        </p:nvCxnSpPr>
        <p:spPr>
          <a:xfrm rot="5400000">
            <a:off x="3862821" y="3949761"/>
            <a:ext cx="973476" cy="57688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8" name="矩形 57">
            <a:extLst>
              <a:ext uri="{FF2B5EF4-FFF2-40B4-BE49-F238E27FC236}">
                <a16:creationId xmlns:a16="http://schemas.microsoft.com/office/drawing/2014/main" id="{5AF800AE-6DC9-8293-0C32-5618BA5C9023}"/>
              </a:ext>
            </a:extLst>
          </p:cNvPr>
          <p:cNvSpPr/>
          <p:nvPr/>
        </p:nvSpPr>
        <p:spPr>
          <a:xfrm>
            <a:off x="7986000" y="3393000"/>
            <a:ext cx="4206000" cy="72000"/>
          </a:xfrm>
          <a:prstGeom prst="rect">
            <a:avLst/>
          </a:prstGeom>
          <a:solidFill>
            <a:srgbClr val="FE86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59" name="矩形 58">
            <a:extLst>
              <a:ext uri="{FF2B5EF4-FFF2-40B4-BE49-F238E27FC236}">
                <a16:creationId xmlns:a16="http://schemas.microsoft.com/office/drawing/2014/main" id="{2770CECD-8D1C-436B-17A1-56053DACEC84}"/>
              </a:ext>
            </a:extLst>
          </p:cNvPr>
          <p:cNvSpPr/>
          <p:nvPr/>
        </p:nvSpPr>
        <p:spPr>
          <a:xfrm>
            <a:off x="0" y="3393000"/>
            <a:ext cx="4206000" cy="72000"/>
          </a:xfrm>
          <a:prstGeom prst="rect">
            <a:avLst/>
          </a:prstGeom>
          <a:solidFill>
            <a:srgbClr val="D7003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Tree>
    <p:extLst>
      <p:ext uri="{BB962C8B-B14F-4D97-AF65-F5344CB8AC3E}">
        <p14:creationId xmlns:p14="http://schemas.microsoft.com/office/powerpoint/2010/main" val="2137977114"/>
      </p:ext>
    </p:extLst>
  </p:cSld>
  <p:clrMapOvr>
    <a:masterClrMapping/>
  </p:clrMapOvr>
</p:sld>
</file>

<file path=ppt/slides/slide4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C6E43-6F3A-1065-D789-ACE168200F80}"/>
            </a:ext>
          </a:extLst>
        </p:cNvPr>
        <p:cNvGrpSpPr/>
        <p:nvPr/>
      </p:nvGrpSpPr>
      <p:grpSpPr>
        <a:xfrm>
          <a:off x="0" y="0"/>
          <a:ext cx="0" cy="0"/>
          <a:chOff x="0" y="0"/>
          <a:chExt cx="0" cy="0"/>
        </a:xfrm>
      </p:grpSpPr>
      <p:sp>
        <p:nvSpPr>
          <p:cNvPr id="8" name="矩形 7">
            <a:extLst>
              <a:ext uri="{FF2B5EF4-FFF2-40B4-BE49-F238E27FC236}">
                <a16:creationId xmlns:a16="http://schemas.microsoft.com/office/drawing/2014/main" id="{849AB2FB-6201-C85D-54FF-93875B646117}"/>
              </a:ext>
            </a:extLst>
          </p:cNvPr>
          <p:cNvSpPr/>
          <p:nvPr/>
        </p:nvSpPr>
        <p:spPr>
          <a:xfrm>
            <a:off x="0" y="0"/>
            <a:ext cx="6354437" cy="6858000"/>
          </a:xfrm>
          <a:custGeom>
            <a:avLst/>
            <a:gdLst>
              <a:gd name="csX0" fmla="*/ 0 w 4119418"/>
              <a:gd name="csY0" fmla="*/ 0 h 6858000"/>
              <a:gd name="csX1" fmla="*/ 4119418 w 4119418"/>
              <a:gd name="csY1" fmla="*/ 0 h 6858000"/>
              <a:gd name="csX2" fmla="*/ 4119418 w 4119418"/>
              <a:gd name="csY2" fmla="*/ 6858000 h 6858000"/>
              <a:gd name="csX3" fmla="*/ 0 w 4119418"/>
              <a:gd name="csY3" fmla="*/ 6858000 h 6858000"/>
              <a:gd name="csX4" fmla="*/ 0 w 4119418"/>
              <a:gd name="csY4" fmla="*/ 0 h 6858000"/>
              <a:gd name="csX0" fmla="*/ 0 w 7620000"/>
              <a:gd name="csY0" fmla="*/ 0 h 6858000"/>
              <a:gd name="csX1" fmla="*/ 7620000 w 7620000"/>
              <a:gd name="csY1" fmla="*/ 0 h 6858000"/>
              <a:gd name="csX2" fmla="*/ 4119418 w 7620000"/>
              <a:gd name="csY2" fmla="*/ 6858000 h 6858000"/>
              <a:gd name="csX3" fmla="*/ 0 w 7620000"/>
              <a:gd name="csY3" fmla="*/ 6858000 h 6858000"/>
              <a:gd name="csX4" fmla="*/ 0 w 7620000"/>
              <a:gd name="csY4" fmla="*/ 0 h 6858000"/>
              <a:gd name="csX0" fmla="*/ 0 w 8575785"/>
              <a:gd name="csY0" fmla="*/ 0 h 6858000"/>
              <a:gd name="csX1" fmla="*/ 8575785 w 8575785"/>
              <a:gd name="csY1" fmla="*/ 17929 h 6858000"/>
              <a:gd name="csX2" fmla="*/ 4119418 w 8575785"/>
              <a:gd name="csY2" fmla="*/ 6858000 h 6858000"/>
              <a:gd name="csX3" fmla="*/ 0 w 8575785"/>
              <a:gd name="csY3" fmla="*/ 6858000 h 6858000"/>
              <a:gd name="csX4" fmla="*/ 0 w 8575785"/>
              <a:gd name="csY4" fmla="*/ 0 h 6858000"/>
            </a:gdLst>
            <a:ahLst/>
            <a:cxnLst>
              <a:cxn ang="0">
                <a:pos x="csX0" y="csY0"/>
              </a:cxn>
              <a:cxn ang="0">
                <a:pos x="csX1" y="csY1"/>
              </a:cxn>
              <a:cxn ang="0">
                <a:pos x="csX2" y="csY2"/>
              </a:cxn>
              <a:cxn ang="0">
                <a:pos x="csX3" y="csY3"/>
              </a:cxn>
              <a:cxn ang="0">
                <a:pos x="csX4" y="csY4"/>
              </a:cxn>
            </a:cxnLst>
            <a:rect l="l" t="t" r="r" b="b"/>
            <a:pathLst>
              <a:path w="8575785" h="6858000">
                <a:moveTo>
                  <a:pt x="0" y="0"/>
                </a:moveTo>
                <a:lnTo>
                  <a:pt x="8575785" y="17929"/>
                </a:lnTo>
                <a:lnTo>
                  <a:pt x="4119418" y="6858000"/>
                </a:lnTo>
                <a:lnTo>
                  <a:pt x="0" y="6858000"/>
                </a:lnTo>
                <a:lnTo>
                  <a:pt x="0" y="0"/>
                </a:lnTo>
                <a:close/>
              </a:path>
            </a:pathLst>
          </a:custGeom>
          <a:solidFill>
            <a:srgbClr val="017C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9" name="文本框 8">
            <a:extLst>
              <a:ext uri="{FF2B5EF4-FFF2-40B4-BE49-F238E27FC236}">
                <a16:creationId xmlns:a16="http://schemas.microsoft.com/office/drawing/2014/main" id="{9F5AA430-AD81-F627-2D6F-762F2DFA211E}"/>
              </a:ext>
            </a:extLst>
          </p:cNvPr>
          <p:cNvSpPr txBox="1"/>
          <p:nvPr/>
        </p:nvSpPr>
        <p:spPr>
          <a:xfrm>
            <a:off x="251886" y="386257"/>
            <a:ext cx="5724644" cy="584775"/>
          </a:xfrm>
          <a:prstGeom prst="rect">
            <a:avLst/>
          </a:prstGeom>
          <a:noFill/>
        </p:spPr>
        <p:txBody>
          <a:bodyPr wrap="none" rtlCol="0">
            <a:spAutoFit/>
          </a:bodyPr>
          <a:lstStyle/>
          <a:p>
            <a:r>
              <a:rPr lang="zh-CN" altLang="en-US" sz="1600" dirty="0">
                <a:solidFill>
                  <a:schemeClr val="bg1"/>
                </a:solidFill>
              </a:rPr>
              <a:t>影响项目决策、活动或结果的个人、群体或组织</a:t>
            </a:r>
            <a:endParaRPr lang="en-US" altLang="zh-CN" sz="1600" dirty="0">
              <a:solidFill>
                <a:schemeClr val="bg1"/>
              </a:solidFill>
            </a:endParaRPr>
          </a:p>
          <a:p>
            <a:r>
              <a:rPr lang="zh-CN" altLang="en-US" sz="1600" dirty="0">
                <a:solidFill>
                  <a:schemeClr val="bg1"/>
                </a:solidFill>
              </a:rPr>
              <a:t>自认为会受到项目决策、活动或结果影响的个人、群体或组织</a:t>
            </a:r>
            <a:endParaRPr lang="en-US" altLang="zh-CN" sz="1600" dirty="0">
              <a:solidFill>
                <a:schemeClr val="bg1"/>
              </a:solidFill>
            </a:endParaRPr>
          </a:p>
        </p:txBody>
      </p:sp>
      <p:sp>
        <p:nvSpPr>
          <p:cNvPr id="19" name="文本框 18">
            <a:extLst>
              <a:ext uri="{FF2B5EF4-FFF2-40B4-BE49-F238E27FC236}">
                <a16:creationId xmlns:a16="http://schemas.microsoft.com/office/drawing/2014/main" id="{A63A1BD5-AE18-84B2-C791-F73BE391C936}"/>
              </a:ext>
            </a:extLst>
          </p:cNvPr>
          <p:cNvSpPr txBox="1"/>
          <p:nvPr/>
        </p:nvSpPr>
        <p:spPr>
          <a:xfrm>
            <a:off x="6138066" y="1167994"/>
            <a:ext cx="1005403" cy="338554"/>
          </a:xfrm>
          <a:prstGeom prst="rect">
            <a:avLst/>
          </a:prstGeom>
          <a:noFill/>
        </p:spPr>
        <p:txBody>
          <a:bodyPr wrap="none" rtlCol="0">
            <a:spAutoFit/>
          </a:bodyPr>
          <a:lstStyle/>
          <a:p>
            <a:r>
              <a:rPr lang="zh-CN" altLang="en-US" sz="1600" dirty="0"/>
              <a:t>项目经理</a:t>
            </a:r>
            <a:endParaRPr lang="en-US" altLang="zh-CN" sz="1600" dirty="0"/>
          </a:p>
        </p:txBody>
      </p:sp>
      <p:sp>
        <p:nvSpPr>
          <p:cNvPr id="20" name="文本框 19">
            <a:extLst>
              <a:ext uri="{FF2B5EF4-FFF2-40B4-BE49-F238E27FC236}">
                <a16:creationId xmlns:a16="http://schemas.microsoft.com/office/drawing/2014/main" id="{938719BB-3625-528C-D447-C1A9ABF226DB}"/>
              </a:ext>
            </a:extLst>
          </p:cNvPr>
          <p:cNvSpPr txBox="1"/>
          <p:nvPr/>
        </p:nvSpPr>
        <p:spPr>
          <a:xfrm>
            <a:off x="5787438" y="1845612"/>
            <a:ext cx="612668" cy="338554"/>
          </a:xfrm>
          <a:prstGeom prst="rect">
            <a:avLst/>
          </a:prstGeom>
          <a:noFill/>
        </p:spPr>
        <p:txBody>
          <a:bodyPr wrap="none" rtlCol="0">
            <a:spAutoFit/>
          </a:bodyPr>
          <a:lstStyle/>
          <a:p>
            <a:r>
              <a:rPr lang="zh-CN" altLang="en-US" sz="1600" dirty="0"/>
              <a:t>客户</a:t>
            </a:r>
            <a:endParaRPr lang="en-US" altLang="zh-CN" sz="1600" dirty="0"/>
          </a:p>
        </p:txBody>
      </p:sp>
      <p:sp>
        <p:nvSpPr>
          <p:cNvPr id="21" name="文本框 20">
            <a:extLst>
              <a:ext uri="{FF2B5EF4-FFF2-40B4-BE49-F238E27FC236}">
                <a16:creationId xmlns:a16="http://schemas.microsoft.com/office/drawing/2014/main" id="{C8EA6210-BEAD-C9E8-CF12-ECE4DEB83C97}"/>
              </a:ext>
            </a:extLst>
          </p:cNvPr>
          <p:cNvSpPr txBox="1"/>
          <p:nvPr/>
        </p:nvSpPr>
        <p:spPr>
          <a:xfrm>
            <a:off x="5374603" y="2523230"/>
            <a:ext cx="614271" cy="338554"/>
          </a:xfrm>
          <a:prstGeom prst="rect">
            <a:avLst/>
          </a:prstGeom>
          <a:noFill/>
        </p:spPr>
        <p:txBody>
          <a:bodyPr wrap="none" rtlCol="0">
            <a:spAutoFit/>
          </a:bodyPr>
          <a:lstStyle/>
          <a:p>
            <a:r>
              <a:rPr lang="zh-CN" altLang="en-US" sz="1600" dirty="0"/>
              <a:t>用户</a:t>
            </a:r>
            <a:endParaRPr lang="en-US" altLang="zh-CN" sz="1600" dirty="0"/>
          </a:p>
        </p:txBody>
      </p:sp>
      <p:sp>
        <p:nvSpPr>
          <p:cNvPr id="22" name="文本框 21">
            <a:extLst>
              <a:ext uri="{FF2B5EF4-FFF2-40B4-BE49-F238E27FC236}">
                <a16:creationId xmlns:a16="http://schemas.microsoft.com/office/drawing/2014/main" id="{A85118C3-CB5B-61DC-B643-94931BCA965B}"/>
              </a:ext>
            </a:extLst>
          </p:cNvPr>
          <p:cNvSpPr txBox="1"/>
          <p:nvPr/>
        </p:nvSpPr>
        <p:spPr>
          <a:xfrm>
            <a:off x="5100201" y="3200848"/>
            <a:ext cx="1415772" cy="338554"/>
          </a:xfrm>
          <a:prstGeom prst="rect">
            <a:avLst/>
          </a:prstGeom>
          <a:noFill/>
        </p:spPr>
        <p:txBody>
          <a:bodyPr wrap="none" rtlCol="0">
            <a:spAutoFit/>
          </a:bodyPr>
          <a:lstStyle/>
          <a:p>
            <a:r>
              <a:rPr lang="zh-CN" altLang="en-US" sz="1600" dirty="0"/>
              <a:t>项目执行组织</a:t>
            </a:r>
            <a:endParaRPr lang="en-US" altLang="zh-CN" sz="1600" dirty="0"/>
          </a:p>
        </p:txBody>
      </p:sp>
      <p:sp>
        <p:nvSpPr>
          <p:cNvPr id="23" name="文本框 22">
            <a:extLst>
              <a:ext uri="{FF2B5EF4-FFF2-40B4-BE49-F238E27FC236}">
                <a16:creationId xmlns:a16="http://schemas.microsoft.com/office/drawing/2014/main" id="{668553EE-20DD-24C3-2663-1A36B79C14E4}"/>
              </a:ext>
            </a:extLst>
          </p:cNvPr>
          <p:cNvSpPr txBox="1"/>
          <p:nvPr/>
        </p:nvSpPr>
        <p:spPr>
          <a:xfrm>
            <a:off x="4641111" y="3878466"/>
            <a:ext cx="1415772" cy="338554"/>
          </a:xfrm>
          <a:prstGeom prst="rect">
            <a:avLst/>
          </a:prstGeom>
          <a:noFill/>
        </p:spPr>
        <p:txBody>
          <a:bodyPr wrap="none" rtlCol="0">
            <a:spAutoFit/>
          </a:bodyPr>
          <a:lstStyle/>
          <a:p>
            <a:r>
              <a:rPr lang="zh-CN" altLang="en-US" sz="1600" dirty="0"/>
              <a:t>项目团队成员</a:t>
            </a:r>
            <a:endParaRPr lang="en-US" altLang="zh-CN" sz="1600" dirty="0"/>
          </a:p>
        </p:txBody>
      </p:sp>
      <p:sp>
        <p:nvSpPr>
          <p:cNvPr id="24" name="文本框 23">
            <a:extLst>
              <a:ext uri="{FF2B5EF4-FFF2-40B4-BE49-F238E27FC236}">
                <a16:creationId xmlns:a16="http://schemas.microsoft.com/office/drawing/2014/main" id="{94A29BB2-1F47-E921-FAF6-A60331598AF1}"/>
              </a:ext>
            </a:extLst>
          </p:cNvPr>
          <p:cNvSpPr txBox="1"/>
          <p:nvPr/>
        </p:nvSpPr>
        <p:spPr>
          <a:xfrm>
            <a:off x="4261682" y="4556084"/>
            <a:ext cx="1210588" cy="338554"/>
          </a:xfrm>
          <a:prstGeom prst="rect">
            <a:avLst/>
          </a:prstGeom>
          <a:noFill/>
        </p:spPr>
        <p:txBody>
          <a:bodyPr wrap="none" rtlCol="0">
            <a:spAutoFit/>
          </a:bodyPr>
          <a:lstStyle/>
          <a:p>
            <a:r>
              <a:rPr lang="zh-CN" altLang="en-US" sz="1600" dirty="0"/>
              <a:t>项目承包人</a:t>
            </a:r>
            <a:endParaRPr lang="en-US" altLang="zh-CN" sz="1600" dirty="0"/>
          </a:p>
        </p:txBody>
      </p:sp>
      <p:sp>
        <p:nvSpPr>
          <p:cNvPr id="25" name="文本框 24">
            <a:extLst>
              <a:ext uri="{FF2B5EF4-FFF2-40B4-BE49-F238E27FC236}">
                <a16:creationId xmlns:a16="http://schemas.microsoft.com/office/drawing/2014/main" id="{33C09DDA-0915-7CB6-C738-FA37193F0110}"/>
              </a:ext>
            </a:extLst>
          </p:cNvPr>
          <p:cNvSpPr txBox="1"/>
          <p:nvPr/>
        </p:nvSpPr>
        <p:spPr>
          <a:xfrm>
            <a:off x="3967476" y="5233702"/>
            <a:ext cx="800219" cy="338554"/>
          </a:xfrm>
          <a:prstGeom prst="rect">
            <a:avLst/>
          </a:prstGeom>
          <a:noFill/>
        </p:spPr>
        <p:txBody>
          <a:bodyPr wrap="none" rtlCol="0">
            <a:spAutoFit/>
          </a:bodyPr>
          <a:lstStyle/>
          <a:p>
            <a:r>
              <a:rPr lang="zh-CN" altLang="en-US" sz="1600" dirty="0"/>
              <a:t>供货商</a:t>
            </a:r>
            <a:endParaRPr lang="en-US" altLang="zh-CN" sz="1600" dirty="0"/>
          </a:p>
        </p:txBody>
      </p:sp>
      <p:sp>
        <p:nvSpPr>
          <p:cNvPr id="26" name="文本框 25">
            <a:extLst>
              <a:ext uri="{FF2B5EF4-FFF2-40B4-BE49-F238E27FC236}">
                <a16:creationId xmlns:a16="http://schemas.microsoft.com/office/drawing/2014/main" id="{FD8C1992-0674-BC81-1E13-6961335AECD5}"/>
              </a:ext>
            </a:extLst>
          </p:cNvPr>
          <p:cNvSpPr txBox="1"/>
          <p:nvPr/>
        </p:nvSpPr>
        <p:spPr>
          <a:xfrm>
            <a:off x="3653469" y="5911318"/>
            <a:ext cx="800219" cy="338554"/>
          </a:xfrm>
          <a:prstGeom prst="rect">
            <a:avLst/>
          </a:prstGeom>
          <a:noFill/>
        </p:spPr>
        <p:txBody>
          <a:bodyPr wrap="none" rtlCol="0">
            <a:spAutoFit/>
          </a:bodyPr>
          <a:lstStyle/>
          <a:p>
            <a:r>
              <a:rPr lang="zh-CN" altLang="en-US" sz="1600" dirty="0"/>
              <a:t>。。。</a:t>
            </a:r>
            <a:endParaRPr lang="en-US" altLang="zh-CN" sz="1600" dirty="0"/>
          </a:p>
        </p:txBody>
      </p:sp>
      <p:sp>
        <p:nvSpPr>
          <p:cNvPr id="28" name="文本框 27">
            <a:extLst>
              <a:ext uri="{FF2B5EF4-FFF2-40B4-BE49-F238E27FC236}">
                <a16:creationId xmlns:a16="http://schemas.microsoft.com/office/drawing/2014/main" id="{D619D585-82F4-03B7-0DD1-C2007C61639A}"/>
              </a:ext>
            </a:extLst>
          </p:cNvPr>
          <p:cNvSpPr txBox="1"/>
          <p:nvPr/>
        </p:nvSpPr>
        <p:spPr>
          <a:xfrm>
            <a:off x="251886" y="1624072"/>
            <a:ext cx="3262432" cy="584775"/>
          </a:xfrm>
          <a:prstGeom prst="rect">
            <a:avLst/>
          </a:prstGeom>
          <a:noFill/>
        </p:spPr>
        <p:txBody>
          <a:bodyPr wrap="none" rtlCol="0">
            <a:spAutoFit/>
          </a:bodyPr>
          <a:lstStyle/>
          <a:p>
            <a:pPr algn="l"/>
            <a:r>
              <a:rPr lang="zh-CN" altLang="en-US" sz="1600" dirty="0">
                <a:solidFill>
                  <a:schemeClr val="bg1"/>
                </a:solidFill>
              </a:rPr>
              <a:t>尽可能全面地挖掘所有潜在干系人</a:t>
            </a:r>
            <a:endParaRPr lang="en-US" altLang="zh-CN" sz="1600" dirty="0">
              <a:solidFill>
                <a:schemeClr val="bg1"/>
              </a:solidFill>
            </a:endParaRPr>
          </a:p>
          <a:p>
            <a:pPr algn="l"/>
            <a:r>
              <a:rPr lang="zh-CN" altLang="en-US" sz="1600" dirty="0">
                <a:solidFill>
                  <a:schemeClr val="bg1"/>
                </a:solidFill>
              </a:rPr>
              <a:t>避免遗漏“隐形杀手”</a:t>
            </a:r>
          </a:p>
        </p:txBody>
      </p:sp>
      <p:sp>
        <p:nvSpPr>
          <p:cNvPr id="29" name="文本框 28">
            <a:extLst>
              <a:ext uri="{FF2B5EF4-FFF2-40B4-BE49-F238E27FC236}">
                <a16:creationId xmlns:a16="http://schemas.microsoft.com/office/drawing/2014/main" id="{586095CD-CDD4-C878-257D-C0F97109DF89}"/>
              </a:ext>
            </a:extLst>
          </p:cNvPr>
          <p:cNvSpPr txBox="1"/>
          <p:nvPr/>
        </p:nvSpPr>
        <p:spPr>
          <a:xfrm>
            <a:off x="9955490" y="2408469"/>
            <a:ext cx="2236510" cy="1077218"/>
          </a:xfrm>
          <a:prstGeom prst="rect">
            <a:avLst/>
          </a:prstGeom>
          <a:noFill/>
        </p:spPr>
        <p:txBody>
          <a:bodyPr wrap="none" rtlCol="0">
            <a:spAutoFit/>
          </a:bodyPr>
          <a:lstStyle/>
          <a:p>
            <a:pPr algn="r"/>
            <a:r>
              <a:rPr lang="zh-CN" altLang="en-US" sz="1600" dirty="0"/>
              <a:t>产出</a:t>
            </a:r>
            <a:r>
              <a:rPr lang="en-US" altLang="zh-CN" sz="1600" dirty="0"/>
              <a:t>《</a:t>
            </a:r>
            <a:r>
              <a:rPr lang="zh-CN" altLang="en-US" sz="1600" dirty="0"/>
              <a:t>干系人登记册</a:t>
            </a:r>
            <a:r>
              <a:rPr lang="en-US" altLang="zh-CN" sz="1600" dirty="0"/>
              <a:t>》</a:t>
            </a:r>
          </a:p>
          <a:p>
            <a:pPr marL="285750" indent="-285750" algn="r">
              <a:buFont typeface="Arial" panose="020B0604020202020204" pitchFamily="34" charset="0"/>
              <a:buChar char="•"/>
            </a:pPr>
            <a:r>
              <a:rPr lang="zh-CN" altLang="en-US" sz="1600" dirty="0"/>
              <a:t>姓名</a:t>
            </a:r>
            <a:endParaRPr lang="en-US" altLang="zh-CN" sz="1600" dirty="0"/>
          </a:p>
          <a:p>
            <a:pPr marL="285750" indent="-285750" algn="r">
              <a:buFont typeface="Arial" panose="020B0604020202020204" pitchFamily="34" charset="0"/>
              <a:buChar char="•"/>
            </a:pPr>
            <a:r>
              <a:rPr lang="zh-CN" altLang="en-US" sz="1600" dirty="0"/>
              <a:t>职位</a:t>
            </a:r>
            <a:endParaRPr lang="en-US" altLang="zh-CN" sz="1600" dirty="0"/>
          </a:p>
          <a:p>
            <a:pPr marL="285750" indent="-285750" algn="r">
              <a:buFont typeface="Arial" panose="020B0604020202020204" pitchFamily="34" charset="0"/>
              <a:buChar char="•"/>
            </a:pPr>
            <a:r>
              <a:rPr lang="zh-CN" altLang="en-US" sz="1600" dirty="0"/>
              <a:t>关键利益点</a:t>
            </a:r>
          </a:p>
        </p:txBody>
      </p:sp>
      <p:sp>
        <p:nvSpPr>
          <p:cNvPr id="2" name="椭圆 1">
            <a:extLst>
              <a:ext uri="{FF2B5EF4-FFF2-40B4-BE49-F238E27FC236}">
                <a16:creationId xmlns:a16="http://schemas.microsoft.com/office/drawing/2014/main" id="{DDDE06CD-46B8-408F-92F5-0168412BBD4D}"/>
              </a:ext>
            </a:extLst>
          </p:cNvPr>
          <p:cNvSpPr/>
          <p:nvPr/>
        </p:nvSpPr>
        <p:spPr>
          <a:xfrm>
            <a:off x="4704930" y="2355749"/>
            <a:ext cx="684000" cy="68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0" rIns="36000" bIns="0" rtlCol="0" anchor="ctr"/>
          <a:lstStyle/>
          <a:p>
            <a:pPr algn="ctr"/>
            <a:endParaRPr lang="zh-CN" altLang="en-US" dirty="0">
              <a:solidFill>
                <a:schemeClr val="tx1"/>
              </a:solidFill>
            </a:endParaRPr>
          </a:p>
        </p:txBody>
      </p:sp>
      <p:sp>
        <p:nvSpPr>
          <p:cNvPr id="4" name="椭圆 3">
            <a:extLst>
              <a:ext uri="{FF2B5EF4-FFF2-40B4-BE49-F238E27FC236}">
                <a16:creationId xmlns:a16="http://schemas.microsoft.com/office/drawing/2014/main" id="{164CA675-BDC7-5890-689A-89CA6FCEB09F}"/>
              </a:ext>
            </a:extLst>
          </p:cNvPr>
          <p:cNvSpPr/>
          <p:nvPr/>
        </p:nvSpPr>
        <p:spPr>
          <a:xfrm>
            <a:off x="5398411" y="1001999"/>
            <a:ext cx="684000" cy="68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0" rIns="36000" bIns="0" rtlCol="0" anchor="ctr"/>
          <a:lstStyle/>
          <a:p>
            <a:pPr algn="ctr"/>
            <a:endParaRPr lang="zh-CN" altLang="en-US" dirty="0">
              <a:solidFill>
                <a:schemeClr val="tx1"/>
              </a:solidFill>
            </a:endParaRPr>
          </a:p>
        </p:txBody>
      </p:sp>
      <p:sp>
        <p:nvSpPr>
          <p:cNvPr id="5" name="椭圆 4">
            <a:extLst>
              <a:ext uri="{FF2B5EF4-FFF2-40B4-BE49-F238E27FC236}">
                <a16:creationId xmlns:a16="http://schemas.microsoft.com/office/drawing/2014/main" id="{CADF179F-EF10-4E6E-4AF2-BF6F6B858D3A}"/>
              </a:ext>
            </a:extLst>
          </p:cNvPr>
          <p:cNvSpPr/>
          <p:nvPr/>
        </p:nvSpPr>
        <p:spPr>
          <a:xfrm>
            <a:off x="5051672" y="1678874"/>
            <a:ext cx="684000" cy="68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0" rIns="36000" bIns="0" rtlCol="0" anchor="ctr"/>
          <a:lstStyle/>
          <a:p>
            <a:pPr algn="ctr"/>
            <a:endParaRPr lang="zh-CN" altLang="en-US" dirty="0">
              <a:solidFill>
                <a:schemeClr val="tx1"/>
              </a:solidFill>
            </a:endParaRPr>
          </a:p>
        </p:txBody>
      </p:sp>
      <p:sp>
        <p:nvSpPr>
          <p:cNvPr id="6" name="椭圆 5">
            <a:extLst>
              <a:ext uri="{FF2B5EF4-FFF2-40B4-BE49-F238E27FC236}">
                <a16:creationId xmlns:a16="http://schemas.microsoft.com/office/drawing/2014/main" id="{0617FB4B-109F-554C-1A6B-2EA8DCAE08A8}"/>
              </a:ext>
            </a:extLst>
          </p:cNvPr>
          <p:cNvSpPr/>
          <p:nvPr/>
        </p:nvSpPr>
        <p:spPr>
          <a:xfrm>
            <a:off x="4358188" y="3032624"/>
            <a:ext cx="684000" cy="68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0" rIns="36000" bIns="0" rtlCol="0" anchor="ctr"/>
          <a:lstStyle/>
          <a:p>
            <a:pPr algn="ctr"/>
            <a:endParaRPr lang="zh-CN" altLang="en-US" dirty="0">
              <a:solidFill>
                <a:schemeClr val="tx1"/>
              </a:solidFill>
            </a:endParaRPr>
          </a:p>
        </p:txBody>
      </p:sp>
      <p:sp>
        <p:nvSpPr>
          <p:cNvPr id="7" name="椭圆 6">
            <a:extLst>
              <a:ext uri="{FF2B5EF4-FFF2-40B4-BE49-F238E27FC236}">
                <a16:creationId xmlns:a16="http://schemas.microsoft.com/office/drawing/2014/main" id="{561091C7-6C8F-41DE-D4F9-9CA5A1227F95}"/>
              </a:ext>
            </a:extLst>
          </p:cNvPr>
          <p:cNvSpPr/>
          <p:nvPr/>
        </p:nvSpPr>
        <p:spPr>
          <a:xfrm>
            <a:off x="4011446" y="3709499"/>
            <a:ext cx="684000" cy="68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0" rIns="36000" bIns="0" rtlCol="0" anchor="ctr"/>
          <a:lstStyle/>
          <a:p>
            <a:pPr algn="ctr"/>
            <a:endParaRPr lang="zh-CN" altLang="en-US" dirty="0">
              <a:solidFill>
                <a:schemeClr val="tx1"/>
              </a:solidFill>
            </a:endParaRPr>
          </a:p>
        </p:txBody>
      </p:sp>
      <p:sp>
        <p:nvSpPr>
          <p:cNvPr id="11" name="椭圆 10">
            <a:extLst>
              <a:ext uri="{FF2B5EF4-FFF2-40B4-BE49-F238E27FC236}">
                <a16:creationId xmlns:a16="http://schemas.microsoft.com/office/drawing/2014/main" id="{E31128D4-42D7-C3E5-F4A7-5550FB84897B}"/>
              </a:ext>
            </a:extLst>
          </p:cNvPr>
          <p:cNvSpPr/>
          <p:nvPr/>
        </p:nvSpPr>
        <p:spPr>
          <a:xfrm>
            <a:off x="3664704" y="4386374"/>
            <a:ext cx="684000" cy="68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0" rIns="36000" bIns="0" rtlCol="0" anchor="ctr"/>
          <a:lstStyle/>
          <a:p>
            <a:pPr algn="ctr"/>
            <a:endParaRPr lang="zh-CN" altLang="en-US" dirty="0">
              <a:solidFill>
                <a:schemeClr val="tx1"/>
              </a:solidFill>
            </a:endParaRPr>
          </a:p>
        </p:txBody>
      </p:sp>
      <p:sp>
        <p:nvSpPr>
          <p:cNvPr id="30" name="椭圆 29">
            <a:extLst>
              <a:ext uri="{FF2B5EF4-FFF2-40B4-BE49-F238E27FC236}">
                <a16:creationId xmlns:a16="http://schemas.microsoft.com/office/drawing/2014/main" id="{0C5A6AA4-CC19-61B2-B40F-4515E59F8751}"/>
              </a:ext>
            </a:extLst>
          </p:cNvPr>
          <p:cNvSpPr/>
          <p:nvPr/>
        </p:nvSpPr>
        <p:spPr>
          <a:xfrm>
            <a:off x="3317962" y="5063249"/>
            <a:ext cx="684000" cy="68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0" rIns="36000" bIns="0" rtlCol="0" anchor="ctr"/>
          <a:lstStyle/>
          <a:p>
            <a:pPr algn="ctr"/>
            <a:endParaRPr lang="zh-CN" altLang="en-US" dirty="0">
              <a:solidFill>
                <a:schemeClr val="tx1"/>
              </a:solidFill>
            </a:endParaRPr>
          </a:p>
        </p:txBody>
      </p:sp>
      <p:sp>
        <p:nvSpPr>
          <p:cNvPr id="31" name="椭圆 30">
            <a:extLst>
              <a:ext uri="{FF2B5EF4-FFF2-40B4-BE49-F238E27FC236}">
                <a16:creationId xmlns:a16="http://schemas.microsoft.com/office/drawing/2014/main" id="{9D7F511D-939E-0C64-3EDC-0ED6E93D6D1A}"/>
              </a:ext>
            </a:extLst>
          </p:cNvPr>
          <p:cNvSpPr/>
          <p:nvPr/>
        </p:nvSpPr>
        <p:spPr>
          <a:xfrm>
            <a:off x="2971220" y="5740126"/>
            <a:ext cx="684000" cy="68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0" rIns="36000" bIns="0" rtlCol="0" anchor="ctr"/>
          <a:lstStyle/>
          <a:p>
            <a:pPr algn="ctr"/>
            <a:endParaRPr lang="zh-CN" altLang="en-US" dirty="0">
              <a:solidFill>
                <a:schemeClr val="tx1"/>
              </a:solidFill>
            </a:endParaRPr>
          </a:p>
        </p:txBody>
      </p:sp>
      <p:sp>
        <p:nvSpPr>
          <p:cNvPr id="13" name="椭圆 12">
            <a:extLst>
              <a:ext uri="{FF2B5EF4-FFF2-40B4-BE49-F238E27FC236}">
                <a16:creationId xmlns:a16="http://schemas.microsoft.com/office/drawing/2014/main" id="{106CA2B0-1CE4-89C7-E52F-AD23A01D30DC}"/>
              </a:ext>
            </a:extLst>
          </p:cNvPr>
          <p:cNvSpPr/>
          <p:nvPr/>
        </p:nvSpPr>
        <p:spPr>
          <a:xfrm>
            <a:off x="5100201" y="1710987"/>
            <a:ext cx="607805" cy="6078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0" rIns="36000" bIns="0" rtlCol="0" anchor="ctr"/>
          <a:lstStyle/>
          <a:p>
            <a:pPr algn="ctr"/>
            <a:r>
              <a:rPr lang="en-US" altLang="zh-CN" dirty="0">
                <a:solidFill>
                  <a:schemeClr val="tx1"/>
                </a:solidFill>
              </a:rPr>
              <a:t>02</a:t>
            </a:r>
            <a:endParaRPr lang="zh-CN" altLang="en-US" dirty="0">
              <a:solidFill>
                <a:schemeClr val="tx1"/>
              </a:solidFill>
            </a:endParaRPr>
          </a:p>
        </p:txBody>
      </p:sp>
      <p:sp>
        <p:nvSpPr>
          <p:cNvPr id="14" name="椭圆 13">
            <a:extLst>
              <a:ext uri="{FF2B5EF4-FFF2-40B4-BE49-F238E27FC236}">
                <a16:creationId xmlns:a16="http://schemas.microsoft.com/office/drawing/2014/main" id="{D6B0D232-0499-D5DA-CC83-CCEB89391E4B}"/>
              </a:ext>
            </a:extLst>
          </p:cNvPr>
          <p:cNvSpPr/>
          <p:nvPr/>
        </p:nvSpPr>
        <p:spPr>
          <a:xfrm>
            <a:off x="4751327" y="2388605"/>
            <a:ext cx="607805" cy="6078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0" rIns="36000" bIns="0" rtlCol="0" anchor="ctr"/>
          <a:lstStyle/>
          <a:p>
            <a:pPr algn="ctr"/>
            <a:r>
              <a:rPr lang="en-US" altLang="zh-CN" dirty="0">
                <a:solidFill>
                  <a:schemeClr val="tx1"/>
                </a:solidFill>
              </a:rPr>
              <a:t>03</a:t>
            </a:r>
            <a:endParaRPr lang="zh-CN" altLang="en-US" dirty="0">
              <a:solidFill>
                <a:schemeClr val="tx1"/>
              </a:solidFill>
            </a:endParaRPr>
          </a:p>
        </p:txBody>
      </p:sp>
      <p:sp>
        <p:nvSpPr>
          <p:cNvPr id="15" name="椭圆 14">
            <a:extLst>
              <a:ext uri="{FF2B5EF4-FFF2-40B4-BE49-F238E27FC236}">
                <a16:creationId xmlns:a16="http://schemas.microsoft.com/office/drawing/2014/main" id="{A8726D96-4B1E-4492-625D-CAFCAEDD6C12}"/>
              </a:ext>
            </a:extLst>
          </p:cNvPr>
          <p:cNvSpPr/>
          <p:nvPr/>
        </p:nvSpPr>
        <p:spPr>
          <a:xfrm>
            <a:off x="4402453" y="3066223"/>
            <a:ext cx="607805" cy="6078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0" rIns="36000" bIns="0" rtlCol="0" anchor="ctr"/>
          <a:lstStyle/>
          <a:p>
            <a:pPr algn="ctr"/>
            <a:r>
              <a:rPr lang="en-US" altLang="zh-CN" dirty="0">
                <a:solidFill>
                  <a:schemeClr val="tx1"/>
                </a:solidFill>
              </a:rPr>
              <a:t>04</a:t>
            </a:r>
            <a:endParaRPr lang="zh-CN" altLang="en-US" dirty="0">
              <a:solidFill>
                <a:schemeClr val="tx1"/>
              </a:solidFill>
            </a:endParaRPr>
          </a:p>
        </p:txBody>
      </p:sp>
      <p:sp>
        <p:nvSpPr>
          <p:cNvPr id="16" name="椭圆 15">
            <a:extLst>
              <a:ext uri="{FF2B5EF4-FFF2-40B4-BE49-F238E27FC236}">
                <a16:creationId xmlns:a16="http://schemas.microsoft.com/office/drawing/2014/main" id="{E5943BBD-93C9-AC75-3C5D-AAFE726887FB}"/>
              </a:ext>
            </a:extLst>
          </p:cNvPr>
          <p:cNvSpPr/>
          <p:nvPr/>
        </p:nvSpPr>
        <p:spPr>
          <a:xfrm>
            <a:off x="4053579" y="3743841"/>
            <a:ext cx="607805" cy="6078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0" rIns="36000" bIns="0" rtlCol="0" anchor="ctr"/>
          <a:lstStyle/>
          <a:p>
            <a:pPr algn="ctr"/>
            <a:r>
              <a:rPr lang="en-US" altLang="zh-CN" dirty="0">
                <a:solidFill>
                  <a:schemeClr val="tx1"/>
                </a:solidFill>
              </a:rPr>
              <a:t>05</a:t>
            </a:r>
            <a:endParaRPr lang="zh-CN" altLang="en-US" dirty="0">
              <a:solidFill>
                <a:schemeClr val="tx1"/>
              </a:solidFill>
            </a:endParaRPr>
          </a:p>
        </p:txBody>
      </p:sp>
      <p:sp>
        <p:nvSpPr>
          <p:cNvPr id="17" name="椭圆 16">
            <a:extLst>
              <a:ext uri="{FF2B5EF4-FFF2-40B4-BE49-F238E27FC236}">
                <a16:creationId xmlns:a16="http://schemas.microsoft.com/office/drawing/2014/main" id="{FA1CCF4A-D158-6FF6-D371-BB1BA2E5C12F}"/>
              </a:ext>
            </a:extLst>
          </p:cNvPr>
          <p:cNvSpPr/>
          <p:nvPr/>
        </p:nvSpPr>
        <p:spPr>
          <a:xfrm>
            <a:off x="3355831" y="5099077"/>
            <a:ext cx="607805" cy="6078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0" rIns="36000" bIns="0" rtlCol="0" anchor="ctr"/>
          <a:lstStyle/>
          <a:p>
            <a:pPr algn="ctr"/>
            <a:r>
              <a:rPr lang="en-US" altLang="zh-CN" dirty="0">
                <a:solidFill>
                  <a:schemeClr val="tx1"/>
                </a:solidFill>
              </a:rPr>
              <a:t>07</a:t>
            </a:r>
            <a:endParaRPr lang="zh-CN" altLang="en-US" dirty="0">
              <a:solidFill>
                <a:schemeClr val="tx1"/>
              </a:solidFill>
            </a:endParaRPr>
          </a:p>
        </p:txBody>
      </p:sp>
      <p:sp>
        <p:nvSpPr>
          <p:cNvPr id="18" name="椭圆 17">
            <a:extLst>
              <a:ext uri="{FF2B5EF4-FFF2-40B4-BE49-F238E27FC236}">
                <a16:creationId xmlns:a16="http://schemas.microsoft.com/office/drawing/2014/main" id="{E33868E7-1760-C7D7-ECAD-775D83D720CD}"/>
              </a:ext>
            </a:extLst>
          </p:cNvPr>
          <p:cNvSpPr/>
          <p:nvPr/>
        </p:nvSpPr>
        <p:spPr>
          <a:xfrm>
            <a:off x="3704705" y="4421459"/>
            <a:ext cx="607805" cy="6078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0" rIns="36000" bIns="0" rtlCol="0" anchor="ctr"/>
          <a:lstStyle/>
          <a:p>
            <a:pPr algn="ctr"/>
            <a:r>
              <a:rPr lang="en-US" altLang="zh-CN" dirty="0">
                <a:solidFill>
                  <a:schemeClr val="tx1"/>
                </a:solidFill>
              </a:rPr>
              <a:t>06</a:t>
            </a:r>
            <a:endParaRPr lang="zh-CN" altLang="en-US" dirty="0">
              <a:solidFill>
                <a:schemeClr val="tx1"/>
              </a:solidFill>
            </a:endParaRPr>
          </a:p>
        </p:txBody>
      </p:sp>
      <p:sp>
        <p:nvSpPr>
          <p:cNvPr id="27" name="椭圆 26">
            <a:extLst>
              <a:ext uri="{FF2B5EF4-FFF2-40B4-BE49-F238E27FC236}">
                <a16:creationId xmlns:a16="http://schemas.microsoft.com/office/drawing/2014/main" id="{CBCE2970-7644-E5F1-332A-8505EE11B603}"/>
              </a:ext>
            </a:extLst>
          </p:cNvPr>
          <p:cNvSpPr/>
          <p:nvPr/>
        </p:nvSpPr>
        <p:spPr>
          <a:xfrm>
            <a:off x="3006957" y="5776693"/>
            <a:ext cx="607805" cy="6078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0" rIns="36000" bIns="0" rtlCol="0" anchor="ctr"/>
          <a:lstStyle/>
          <a:p>
            <a:pPr algn="ctr"/>
            <a:r>
              <a:rPr lang="en-US" altLang="zh-CN" dirty="0">
                <a:solidFill>
                  <a:schemeClr val="tx1"/>
                </a:solidFill>
              </a:rPr>
              <a:t>08</a:t>
            </a:r>
            <a:endParaRPr lang="zh-CN" altLang="en-US" dirty="0">
              <a:solidFill>
                <a:schemeClr val="tx1"/>
              </a:solidFill>
            </a:endParaRPr>
          </a:p>
        </p:txBody>
      </p:sp>
      <p:sp>
        <p:nvSpPr>
          <p:cNvPr id="12" name="椭圆 11">
            <a:extLst>
              <a:ext uri="{FF2B5EF4-FFF2-40B4-BE49-F238E27FC236}">
                <a16:creationId xmlns:a16="http://schemas.microsoft.com/office/drawing/2014/main" id="{B388CC84-AE46-37EA-9694-CD2DE5AFB936}"/>
              </a:ext>
            </a:extLst>
          </p:cNvPr>
          <p:cNvSpPr/>
          <p:nvPr/>
        </p:nvSpPr>
        <p:spPr>
          <a:xfrm>
            <a:off x="5449078" y="1033369"/>
            <a:ext cx="607805" cy="6078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0" rIns="36000" bIns="0" rtlCol="0" anchor="ctr"/>
          <a:lstStyle/>
          <a:p>
            <a:pPr algn="ctr"/>
            <a:r>
              <a:rPr lang="en-US" altLang="zh-CN" dirty="0">
                <a:solidFill>
                  <a:schemeClr val="tx1"/>
                </a:solidFill>
              </a:rPr>
              <a:t>01</a:t>
            </a:r>
            <a:endParaRPr lang="zh-CN" altLang="en-US" dirty="0">
              <a:solidFill>
                <a:schemeClr val="tx1"/>
              </a:solidFill>
            </a:endParaRPr>
          </a:p>
        </p:txBody>
      </p:sp>
      <p:grpSp>
        <p:nvGrpSpPr>
          <p:cNvPr id="3" name="组合 2">
            <a:extLst>
              <a:ext uri="{FF2B5EF4-FFF2-40B4-BE49-F238E27FC236}">
                <a16:creationId xmlns:a16="http://schemas.microsoft.com/office/drawing/2014/main" id="{49878F5B-7E1C-16DC-E447-4FBC5DC456E3}"/>
              </a:ext>
            </a:extLst>
          </p:cNvPr>
          <p:cNvGrpSpPr/>
          <p:nvPr/>
        </p:nvGrpSpPr>
        <p:grpSpPr>
          <a:xfrm>
            <a:off x="7860623" y="310613"/>
            <a:ext cx="4331377" cy="973455"/>
            <a:chOff x="7875863" y="694054"/>
            <a:chExt cx="4331377" cy="973455"/>
          </a:xfrm>
        </p:grpSpPr>
        <p:sp>
          <p:nvSpPr>
            <p:cNvPr id="32" name="MH_SubTitle_2">
              <a:extLst>
                <a:ext uri="{FF2B5EF4-FFF2-40B4-BE49-F238E27FC236}">
                  <a16:creationId xmlns:a16="http://schemas.microsoft.com/office/drawing/2014/main" id="{8EFD79ED-F541-8748-3F07-AC776E786B76}"/>
                </a:ext>
              </a:extLst>
            </p:cNvPr>
            <p:cNvSpPr/>
            <p:nvPr>
              <p:custDataLst>
                <p:tags r:id="rId1"/>
              </p:custDataLst>
            </p:nvPr>
          </p:nvSpPr>
          <p:spPr>
            <a:xfrm flipH="1">
              <a:off x="7875863" y="817315"/>
              <a:ext cx="2829510" cy="733252"/>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b="1" dirty="0">
                  <a:solidFill>
                    <a:schemeClr val="bg1"/>
                  </a:solidFill>
                  <a:latin typeface="微软雅黑" panose="020B0503020204020204" charset="-122"/>
                  <a:ea typeface="微软雅黑" panose="020B0503020204020204" charset="-122"/>
                  <a:cs typeface="黑体" panose="02010609060101010101" pitchFamily="49" charset="-122"/>
                </a:rPr>
                <a:t>识别干系人</a:t>
              </a:r>
              <a:endParaRPr lang="en-US" altLang="zh-CN" b="1" dirty="0">
                <a:solidFill>
                  <a:schemeClr val="bg1"/>
                </a:solidFill>
                <a:latin typeface="微软雅黑" panose="020B0503020204020204" charset="-122"/>
                <a:ea typeface="微软雅黑" panose="020B0503020204020204" charset="-122"/>
                <a:cs typeface="黑体" panose="02010609060101010101" pitchFamily="49" charset="-122"/>
              </a:endParaRPr>
            </a:p>
            <a:p>
              <a:pPr algn="ctr"/>
              <a:r>
                <a:rPr lang="en-US" altLang="zh-CN" sz="1400" dirty="0">
                  <a:solidFill>
                    <a:schemeClr val="bg1"/>
                  </a:solidFill>
                </a:rPr>
                <a:t>Identify Stakeholders</a:t>
              </a:r>
              <a:endParaRPr lang="zh-CN" altLang="en-US" b="1" dirty="0">
                <a:solidFill>
                  <a:schemeClr val="bg1"/>
                </a:solidFill>
                <a:latin typeface="微软雅黑" panose="020B0503020204020204" charset="-122"/>
                <a:ea typeface="微软雅黑" panose="020B0503020204020204" charset="-122"/>
                <a:cs typeface="黑体" panose="02010609060101010101" pitchFamily="49" charset="-122"/>
              </a:endParaRPr>
            </a:p>
          </p:txBody>
        </p:sp>
        <p:sp>
          <p:nvSpPr>
            <p:cNvPr id="33" name="MH_Other_5">
              <a:extLst>
                <a:ext uri="{FF2B5EF4-FFF2-40B4-BE49-F238E27FC236}">
                  <a16:creationId xmlns:a16="http://schemas.microsoft.com/office/drawing/2014/main" id="{BBE42E07-7FBD-DD7B-BDF7-F2EA975604AF}"/>
                </a:ext>
              </a:extLst>
            </p:cNvPr>
            <p:cNvSpPr/>
            <p:nvPr>
              <p:custDataLst>
                <p:tags r:id="rId2"/>
              </p:custDataLst>
            </p:nvPr>
          </p:nvSpPr>
          <p:spPr>
            <a:xfrm flipH="1">
              <a:off x="11200669" y="694634"/>
              <a:ext cx="1006571" cy="971610"/>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2400" dirty="0">
                  <a:solidFill>
                    <a:srgbClr val="FFFFFF"/>
                  </a:solidFill>
                  <a:latin typeface="Times New Roman" panose="02020603050405020304" pitchFamily="18" charset="0"/>
                  <a:ea typeface="微软雅黑" panose="020B0503020204020204" charset="-122"/>
                </a:rPr>
                <a:t>10.3.1</a:t>
              </a:r>
              <a:endParaRPr lang="zh-CN" altLang="en-US" sz="2400" dirty="0">
                <a:solidFill>
                  <a:srgbClr val="FFFFFF"/>
                </a:solidFill>
                <a:latin typeface="Times New Roman" panose="02020603050405020304" pitchFamily="18" charset="0"/>
                <a:ea typeface="微软雅黑" panose="020B0503020204020204" charset="-122"/>
              </a:endParaRPr>
            </a:p>
          </p:txBody>
        </p:sp>
        <p:sp>
          <p:nvSpPr>
            <p:cNvPr id="34" name="MH_Other_6">
              <a:extLst>
                <a:ext uri="{FF2B5EF4-FFF2-40B4-BE49-F238E27FC236}">
                  <a16:creationId xmlns:a16="http://schemas.microsoft.com/office/drawing/2014/main" id="{CF852819-ECB8-9D74-3564-766D57D1DA47}"/>
                </a:ext>
              </a:extLst>
            </p:cNvPr>
            <p:cNvSpPr/>
            <p:nvPr>
              <p:custDataLst>
                <p:tags r:id="rId3"/>
              </p:custDataLst>
            </p:nvPr>
          </p:nvSpPr>
          <p:spPr>
            <a:xfrm flipH="1">
              <a:off x="10703596" y="694054"/>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Tree>
    <p:extLst>
      <p:ext uri="{BB962C8B-B14F-4D97-AF65-F5344CB8AC3E}">
        <p14:creationId xmlns:p14="http://schemas.microsoft.com/office/powerpoint/2010/main" val="1188793958"/>
      </p:ext>
    </p:extLst>
  </p:cSld>
  <p:clrMapOvr>
    <a:masterClrMapping/>
  </p:clrMapOvr>
</p:sld>
</file>

<file path=ppt/slides/slide4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1A7FBF5-041A-B68A-D873-B3075E7684A4}"/>
              </a:ext>
            </a:extLst>
          </p:cNvPr>
          <p:cNvSpPr txBox="1"/>
          <p:nvPr/>
        </p:nvSpPr>
        <p:spPr>
          <a:xfrm>
            <a:off x="4588624" y="2163050"/>
            <a:ext cx="6297611" cy="1323439"/>
          </a:xfrm>
          <a:prstGeom prst="rect">
            <a:avLst/>
          </a:prstGeom>
          <a:noFill/>
        </p:spPr>
        <p:txBody>
          <a:bodyPr wrap="square" rtlCol="0">
            <a:spAutoFit/>
          </a:bodyPr>
          <a:lstStyle/>
          <a:p>
            <a:r>
              <a:rPr lang="zh-CN" altLang="en-US" sz="1600" dirty="0"/>
              <a:t>干系人是否拥有强制力、支配权或影响力，能左右项目的决策、资源分配或最终结果</a:t>
            </a:r>
            <a:endParaRPr lang="en-US" altLang="zh-CN" sz="1600" dirty="0"/>
          </a:p>
          <a:p>
            <a:pPr marL="285750" indent="-285750">
              <a:buClr>
                <a:srgbClr val="1A5076"/>
              </a:buClr>
              <a:buFont typeface="Arial" panose="020B0604020202020204" pitchFamily="34" charset="0"/>
              <a:buChar char="•"/>
            </a:pPr>
            <a:r>
              <a:rPr lang="zh-CN" altLang="en-US" sz="1600" dirty="0"/>
              <a:t>这个人能叫停项目吗</a:t>
            </a:r>
          </a:p>
          <a:p>
            <a:pPr marL="285750" indent="-285750">
              <a:buClr>
                <a:srgbClr val="1A5076"/>
              </a:buClr>
              <a:buFont typeface="Arial" panose="020B0604020202020204" pitchFamily="34" charset="0"/>
              <a:buChar char="•"/>
            </a:pPr>
            <a:r>
              <a:rPr lang="zh-CN" altLang="en-US" sz="1600" dirty="0"/>
              <a:t>他能批准预算吗</a:t>
            </a:r>
          </a:p>
          <a:p>
            <a:pPr marL="285750" indent="-285750">
              <a:buClr>
                <a:srgbClr val="1A5076"/>
              </a:buClr>
              <a:buFont typeface="Arial" panose="020B0604020202020204" pitchFamily="34" charset="0"/>
              <a:buChar char="•"/>
            </a:pPr>
            <a:r>
              <a:rPr lang="zh-CN" altLang="en-US" sz="1600" dirty="0"/>
              <a:t>他的职位是否足够高，能让团队不得不听从</a:t>
            </a:r>
          </a:p>
        </p:txBody>
      </p:sp>
      <p:sp>
        <p:nvSpPr>
          <p:cNvPr id="4" name="文本框 3">
            <a:extLst>
              <a:ext uri="{FF2B5EF4-FFF2-40B4-BE49-F238E27FC236}">
                <a16:creationId xmlns:a16="http://schemas.microsoft.com/office/drawing/2014/main" id="{90F390CC-9D74-8E1B-8BF4-F1959536B2D2}"/>
              </a:ext>
            </a:extLst>
          </p:cNvPr>
          <p:cNvSpPr txBox="1"/>
          <p:nvPr/>
        </p:nvSpPr>
        <p:spPr>
          <a:xfrm>
            <a:off x="4591013" y="4997089"/>
            <a:ext cx="6300000" cy="1077218"/>
          </a:xfrm>
          <a:prstGeom prst="rect">
            <a:avLst/>
          </a:prstGeom>
          <a:noFill/>
        </p:spPr>
        <p:txBody>
          <a:bodyPr wrap="square" rtlCol="0">
            <a:spAutoFit/>
          </a:bodyPr>
          <a:lstStyle/>
          <a:p>
            <a:r>
              <a:rPr lang="zh-CN" altLang="en-US" sz="1600" dirty="0"/>
              <a:t>干系人参与项目的权利是否正当，其诉求是否符合法律法规、合同规定或社会道德规范</a:t>
            </a:r>
            <a:endParaRPr lang="en-US" altLang="zh-CN" sz="1600" dirty="0"/>
          </a:p>
          <a:p>
            <a:pPr marL="285750" indent="-285750">
              <a:buClr>
                <a:srgbClr val="FE863F"/>
              </a:buClr>
              <a:buFont typeface="Arial" panose="020B0604020202020204" pitchFamily="34" charset="0"/>
              <a:buChar char="•"/>
            </a:pPr>
            <a:r>
              <a:rPr lang="zh-CN" altLang="en-US" sz="1600" dirty="0"/>
              <a:t>他是否有权介入这个项目</a:t>
            </a:r>
          </a:p>
          <a:p>
            <a:pPr marL="285750" indent="-285750">
              <a:buClr>
                <a:srgbClr val="FE863F"/>
              </a:buClr>
              <a:buFont typeface="Arial" panose="020B0604020202020204" pitchFamily="34" charset="0"/>
              <a:buChar char="•"/>
            </a:pPr>
            <a:r>
              <a:rPr lang="zh-CN" altLang="en-US" sz="1600" dirty="0"/>
              <a:t>他的要求是否合理合规</a:t>
            </a:r>
          </a:p>
        </p:txBody>
      </p:sp>
      <p:sp>
        <p:nvSpPr>
          <p:cNvPr id="5" name="文本框 4">
            <a:extLst>
              <a:ext uri="{FF2B5EF4-FFF2-40B4-BE49-F238E27FC236}">
                <a16:creationId xmlns:a16="http://schemas.microsoft.com/office/drawing/2014/main" id="{8181E3F8-8169-3924-BBF6-347FD73BDD74}"/>
              </a:ext>
            </a:extLst>
          </p:cNvPr>
          <p:cNvSpPr txBox="1"/>
          <p:nvPr/>
        </p:nvSpPr>
        <p:spPr>
          <a:xfrm>
            <a:off x="4588624" y="3683764"/>
            <a:ext cx="6300000" cy="830997"/>
          </a:xfrm>
          <a:prstGeom prst="rect">
            <a:avLst/>
          </a:prstGeom>
          <a:noFill/>
        </p:spPr>
        <p:txBody>
          <a:bodyPr wrap="square" rtlCol="0">
            <a:spAutoFit/>
          </a:bodyPr>
          <a:lstStyle/>
          <a:p>
            <a:r>
              <a:rPr lang="zh-CN" altLang="en-US" sz="1600" dirty="0"/>
              <a:t>干系人的需求或诉求是否需要立即处理，是否存在时间敏感性</a:t>
            </a:r>
            <a:endParaRPr lang="en-US" altLang="zh-CN" sz="1600" dirty="0"/>
          </a:p>
          <a:p>
            <a:pPr marL="285750" indent="-285750">
              <a:buClr>
                <a:srgbClr val="92D050"/>
              </a:buClr>
              <a:buFont typeface="Arial" panose="020B0604020202020204" pitchFamily="34" charset="0"/>
              <a:buChar char="•"/>
            </a:pPr>
            <a:r>
              <a:rPr lang="zh-CN" altLang="en-US" sz="1600" dirty="0"/>
              <a:t>他的问题是否刻不容缓</a:t>
            </a:r>
          </a:p>
          <a:p>
            <a:pPr marL="285750" indent="-285750">
              <a:buClr>
                <a:srgbClr val="92D050"/>
              </a:buClr>
              <a:buFont typeface="Arial" panose="020B0604020202020204" pitchFamily="34" charset="0"/>
              <a:buChar char="•"/>
            </a:pPr>
            <a:r>
              <a:rPr lang="zh-CN" altLang="en-US" sz="1600" dirty="0"/>
              <a:t>如果不马上回应，是否会造成严重后果</a:t>
            </a:r>
          </a:p>
        </p:txBody>
      </p:sp>
      <p:sp>
        <p:nvSpPr>
          <p:cNvPr id="15" name="矩形 14">
            <a:extLst>
              <a:ext uri="{FF2B5EF4-FFF2-40B4-BE49-F238E27FC236}">
                <a16:creationId xmlns:a16="http://schemas.microsoft.com/office/drawing/2014/main" id="{3B5A4DEB-A11B-B648-6372-85D4691DF682}"/>
              </a:ext>
            </a:extLst>
          </p:cNvPr>
          <p:cNvSpPr/>
          <p:nvPr/>
        </p:nvSpPr>
        <p:spPr>
          <a:xfrm>
            <a:off x="-2389" y="2088463"/>
            <a:ext cx="3600000" cy="576000"/>
          </a:xfrm>
          <a:prstGeom prst="rect">
            <a:avLst/>
          </a:prstGeom>
          <a:solidFill>
            <a:srgbClr val="0D8B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rPr>
              <a:t>权力 </a:t>
            </a:r>
            <a:r>
              <a:rPr lang="en-US" altLang="zh-CN" sz="1600" dirty="0">
                <a:solidFill>
                  <a:schemeClr val="bg1"/>
                </a:solidFill>
              </a:rPr>
              <a:t>Power</a:t>
            </a:r>
          </a:p>
        </p:txBody>
      </p:sp>
      <p:sp>
        <p:nvSpPr>
          <p:cNvPr id="17" name="矩形 16">
            <a:extLst>
              <a:ext uri="{FF2B5EF4-FFF2-40B4-BE49-F238E27FC236}">
                <a16:creationId xmlns:a16="http://schemas.microsoft.com/office/drawing/2014/main" id="{ECFC7BF7-E497-1921-24FD-F4F90F9B7AEE}"/>
              </a:ext>
            </a:extLst>
          </p:cNvPr>
          <p:cNvSpPr/>
          <p:nvPr/>
        </p:nvSpPr>
        <p:spPr>
          <a:xfrm>
            <a:off x="-2389" y="3611764"/>
            <a:ext cx="3600000" cy="576000"/>
          </a:xfrm>
          <a:prstGeom prst="rect">
            <a:avLst/>
          </a:prstGeom>
          <a:solidFill>
            <a:srgbClr val="0192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rPr>
              <a:t>紧迫性 </a:t>
            </a:r>
            <a:r>
              <a:rPr lang="en-US" altLang="zh-CN" sz="1600" dirty="0">
                <a:solidFill>
                  <a:schemeClr val="bg1"/>
                </a:solidFill>
              </a:rPr>
              <a:t>Urgency</a:t>
            </a:r>
          </a:p>
        </p:txBody>
      </p:sp>
      <p:sp>
        <p:nvSpPr>
          <p:cNvPr id="18" name="矩形 17">
            <a:extLst>
              <a:ext uri="{FF2B5EF4-FFF2-40B4-BE49-F238E27FC236}">
                <a16:creationId xmlns:a16="http://schemas.microsoft.com/office/drawing/2014/main" id="{1D3EEE4C-4050-C6B5-2241-C29AF0987772}"/>
              </a:ext>
            </a:extLst>
          </p:cNvPr>
          <p:cNvSpPr/>
          <p:nvPr/>
        </p:nvSpPr>
        <p:spPr>
          <a:xfrm>
            <a:off x="0" y="4922502"/>
            <a:ext cx="3600000" cy="576000"/>
          </a:xfrm>
          <a:prstGeom prst="rect">
            <a:avLst/>
          </a:prstGeom>
          <a:solidFill>
            <a:srgbClr val="FE86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rPr>
              <a:t>合法性 </a:t>
            </a:r>
            <a:r>
              <a:rPr lang="en-US" altLang="zh-CN" sz="1600" dirty="0">
                <a:solidFill>
                  <a:schemeClr val="bg1"/>
                </a:solidFill>
              </a:rPr>
              <a:t>Legitimacy</a:t>
            </a:r>
          </a:p>
        </p:txBody>
      </p:sp>
      <p:sp>
        <p:nvSpPr>
          <p:cNvPr id="19" name="矩形 18">
            <a:extLst>
              <a:ext uri="{FF2B5EF4-FFF2-40B4-BE49-F238E27FC236}">
                <a16:creationId xmlns:a16="http://schemas.microsoft.com/office/drawing/2014/main" id="{F62B0CF7-6854-4515-686D-3E23CD31E376}"/>
              </a:ext>
            </a:extLst>
          </p:cNvPr>
          <p:cNvSpPr/>
          <p:nvPr/>
        </p:nvSpPr>
        <p:spPr>
          <a:xfrm>
            <a:off x="3919233" y="2163050"/>
            <a:ext cx="576000" cy="576000"/>
          </a:xfrm>
          <a:prstGeom prst="rect">
            <a:avLst/>
          </a:prstGeom>
          <a:solidFill>
            <a:srgbClr val="0D8B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bg1"/>
                </a:solidFill>
              </a:rPr>
              <a:t>01</a:t>
            </a:r>
            <a:endParaRPr lang="zh-CN" altLang="en-US" sz="2000" dirty="0">
              <a:solidFill>
                <a:schemeClr val="bg1"/>
              </a:solidFill>
            </a:endParaRPr>
          </a:p>
        </p:txBody>
      </p:sp>
      <p:sp>
        <p:nvSpPr>
          <p:cNvPr id="21" name="平行四边形 20">
            <a:extLst>
              <a:ext uri="{FF2B5EF4-FFF2-40B4-BE49-F238E27FC236}">
                <a16:creationId xmlns:a16="http://schemas.microsoft.com/office/drawing/2014/main" id="{6023E6B2-1446-2E29-46DF-AE48BBB77887}"/>
              </a:ext>
            </a:extLst>
          </p:cNvPr>
          <p:cNvSpPr/>
          <p:nvPr/>
        </p:nvSpPr>
        <p:spPr>
          <a:xfrm rot="16200000">
            <a:off x="3434422" y="2254239"/>
            <a:ext cx="648000" cy="321621"/>
          </a:xfrm>
          <a:prstGeom prst="parallelogram">
            <a:avLst/>
          </a:prstGeom>
          <a:solidFill>
            <a:srgbClr val="0D8BB3">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22" name="矩形 21">
            <a:extLst>
              <a:ext uri="{FF2B5EF4-FFF2-40B4-BE49-F238E27FC236}">
                <a16:creationId xmlns:a16="http://schemas.microsoft.com/office/drawing/2014/main" id="{B52FCD39-F4DF-F582-DDAE-B67EB8241401}"/>
              </a:ext>
            </a:extLst>
          </p:cNvPr>
          <p:cNvSpPr/>
          <p:nvPr/>
        </p:nvSpPr>
        <p:spPr>
          <a:xfrm>
            <a:off x="3898697" y="3683764"/>
            <a:ext cx="576000" cy="576000"/>
          </a:xfrm>
          <a:prstGeom prst="rect">
            <a:avLst/>
          </a:prstGeom>
          <a:solidFill>
            <a:srgbClr val="0192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bg1"/>
                </a:solidFill>
              </a:rPr>
              <a:t>02</a:t>
            </a:r>
            <a:endParaRPr lang="zh-CN" altLang="en-US" sz="2000" dirty="0">
              <a:solidFill>
                <a:schemeClr val="bg1"/>
              </a:solidFill>
            </a:endParaRPr>
          </a:p>
        </p:txBody>
      </p:sp>
      <p:sp>
        <p:nvSpPr>
          <p:cNvPr id="23" name="平行四边形 22">
            <a:extLst>
              <a:ext uri="{FF2B5EF4-FFF2-40B4-BE49-F238E27FC236}">
                <a16:creationId xmlns:a16="http://schemas.microsoft.com/office/drawing/2014/main" id="{938CD699-5830-83B3-8ED3-920EB67215B8}"/>
              </a:ext>
            </a:extLst>
          </p:cNvPr>
          <p:cNvSpPr/>
          <p:nvPr/>
        </p:nvSpPr>
        <p:spPr>
          <a:xfrm rot="16200000">
            <a:off x="3413886" y="3774953"/>
            <a:ext cx="648000" cy="321621"/>
          </a:xfrm>
          <a:prstGeom prst="parallelogram">
            <a:avLst/>
          </a:prstGeom>
          <a:solidFill>
            <a:srgbClr val="019259">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24" name="矩形 23">
            <a:extLst>
              <a:ext uri="{FF2B5EF4-FFF2-40B4-BE49-F238E27FC236}">
                <a16:creationId xmlns:a16="http://schemas.microsoft.com/office/drawing/2014/main" id="{EBD4F477-F226-EB78-0174-648DA2794060}"/>
              </a:ext>
            </a:extLst>
          </p:cNvPr>
          <p:cNvSpPr/>
          <p:nvPr/>
        </p:nvSpPr>
        <p:spPr>
          <a:xfrm>
            <a:off x="3919233" y="4997089"/>
            <a:ext cx="576000" cy="576000"/>
          </a:xfrm>
          <a:prstGeom prst="rect">
            <a:avLst/>
          </a:prstGeom>
          <a:solidFill>
            <a:srgbClr val="FE86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bg1"/>
                </a:solidFill>
              </a:rPr>
              <a:t>03</a:t>
            </a:r>
            <a:endParaRPr lang="zh-CN" altLang="en-US" sz="2000" dirty="0">
              <a:solidFill>
                <a:schemeClr val="bg1"/>
              </a:solidFill>
            </a:endParaRPr>
          </a:p>
        </p:txBody>
      </p:sp>
      <p:sp>
        <p:nvSpPr>
          <p:cNvPr id="25" name="平行四边形 24">
            <a:extLst>
              <a:ext uri="{FF2B5EF4-FFF2-40B4-BE49-F238E27FC236}">
                <a16:creationId xmlns:a16="http://schemas.microsoft.com/office/drawing/2014/main" id="{92A3F188-6F05-A755-F9FC-9006D43353D1}"/>
              </a:ext>
            </a:extLst>
          </p:cNvPr>
          <p:cNvSpPr/>
          <p:nvPr/>
        </p:nvSpPr>
        <p:spPr>
          <a:xfrm rot="16200000">
            <a:off x="3434422" y="5088278"/>
            <a:ext cx="648000" cy="321621"/>
          </a:xfrm>
          <a:prstGeom prst="parallelogram">
            <a:avLst/>
          </a:prstGeom>
          <a:solidFill>
            <a:srgbClr val="FE863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cxnSp>
        <p:nvCxnSpPr>
          <p:cNvPr id="29" name="直接连接符 28">
            <a:extLst>
              <a:ext uri="{FF2B5EF4-FFF2-40B4-BE49-F238E27FC236}">
                <a16:creationId xmlns:a16="http://schemas.microsoft.com/office/drawing/2014/main" id="{CA3F4D02-5DA4-0552-0341-357C132E99EC}"/>
              </a:ext>
            </a:extLst>
          </p:cNvPr>
          <p:cNvCxnSpPr>
            <a:cxnSpLocks/>
          </p:cNvCxnSpPr>
          <p:nvPr/>
        </p:nvCxnSpPr>
        <p:spPr>
          <a:xfrm>
            <a:off x="4474696" y="2163050"/>
            <a:ext cx="7704000" cy="0"/>
          </a:xfrm>
          <a:prstGeom prst="line">
            <a:avLst/>
          </a:prstGeom>
          <a:ln>
            <a:solidFill>
              <a:srgbClr val="0D8BB3"/>
            </a:solidFill>
            <a:tailEnd type="none"/>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CAC3DBAA-AAA3-BBEE-A8BB-6770763FA54B}"/>
              </a:ext>
            </a:extLst>
          </p:cNvPr>
          <p:cNvCxnSpPr>
            <a:cxnSpLocks/>
          </p:cNvCxnSpPr>
          <p:nvPr/>
        </p:nvCxnSpPr>
        <p:spPr>
          <a:xfrm>
            <a:off x="4474696" y="3683764"/>
            <a:ext cx="7704000" cy="0"/>
          </a:xfrm>
          <a:prstGeom prst="line">
            <a:avLst/>
          </a:prstGeom>
          <a:ln>
            <a:solidFill>
              <a:srgbClr val="019259"/>
            </a:solidFill>
            <a:tailEnd type="none"/>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2B1CCAA3-63C0-D69A-7706-EA6F0C8B2954}"/>
              </a:ext>
            </a:extLst>
          </p:cNvPr>
          <p:cNvCxnSpPr>
            <a:cxnSpLocks/>
          </p:cNvCxnSpPr>
          <p:nvPr/>
        </p:nvCxnSpPr>
        <p:spPr>
          <a:xfrm>
            <a:off x="4477085" y="4997089"/>
            <a:ext cx="7704000" cy="0"/>
          </a:xfrm>
          <a:prstGeom prst="line">
            <a:avLst/>
          </a:prstGeom>
          <a:ln>
            <a:solidFill>
              <a:srgbClr val="FE863F"/>
            </a:solidFill>
            <a:tailEnd type="none"/>
          </a:ln>
        </p:spPr>
        <p:style>
          <a:lnRef idx="1">
            <a:schemeClr val="accent1"/>
          </a:lnRef>
          <a:fillRef idx="0">
            <a:schemeClr val="accent1"/>
          </a:fillRef>
          <a:effectRef idx="0">
            <a:schemeClr val="accent1"/>
          </a:effectRef>
          <a:fontRef idx="minor">
            <a:schemeClr val="tx1"/>
          </a:fontRef>
        </p:style>
      </p:cxnSp>
      <p:grpSp>
        <p:nvGrpSpPr>
          <p:cNvPr id="9" name="组合 8">
            <a:extLst>
              <a:ext uri="{FF2B5EF4-FFF2-40B4-BE49-F238E27FC236}">
                <a16:creationId xmlns:a16="http://schemas.microsoft.com/office/drawing/2014/main" id="{D0224AFA-E394-8661-701D-519DA77878C0}"/>
              </a:ext>
            </a:extLst>
          </p:cNvPr>
          <p:cNvGrpSpPr/>
          <p:nvPr/>
        </p:nvGrpSpPr>
        <p:grpSpPr>
          <a:xfrm>
            <a:off x="7860623" y="310613"/>
            <a:ext cx="4331377" cy="973455"/>
            <a:chOff x="7875863" y="694054"/>
            <a:chExt cx="4331377" cy="973455"/>
          </a:xfrm>
        </p:grpSpPr>
        <p:sp>
          <p:nvSpPr>
            <p:cNvPr id="10" name="MH_SubTitle_2">
              <a:extLst>
                <a:ext uri="{FF2B5EF4-FFF2-40B4-BE49-F238E27FC236}">
                  <a16:creationId xmlns:a16="http://schemas.microsoft.com/office/drawing/2014/main" id="{48124AE8-CEFD-F7FF-4307-5B035BDD9826}"/>
                </a:ext>
              </a:extLst>
            </p:cNvPr>
            <p:cNvSpPr/>
            <p:nvPr>
              <p:custDataLst>
                <p:tags r:id="rId1"/>
              </p:custDataLst>
            </p:nvPr>
          </p:nvSpPr>
          <p:spPr>
            <a:xfrm flipH="1">
              <a:off x="7875863" y="817315"/>
              <a:ext cx="2829510" cy="733252"/>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b="1" dirty="0">
                  <a:solidFill>
                    <a:schemeClr val="bg1"/>
                  </a:solidFill>
                  <a:latin typeface="微软雅黑" panose="020B0503020204020204" charset="-122"/>
                  <a:ea typeface="微软雅黑" panose="020B0503020204020204" charset="-122"/>
                  <a:cs typeface="黑体" panose="02010609060101010101" pitchFamily="49" charset="-122"/>
                </a:rPr>
                <a:t>评估干系人</a:t>
              </a:r>
              <a:endParaRPr lang="en-US" altLang="zh-CN" b="1" dirty="0">
                <a:solidFill>
                  <a:schemeClr val="bg1"/>
                </a:solidFill>
                <a:latin typeface="微软雅黑" panose="020B0503020204020204" charset="-122"/>
                <a:ea typeface="微软雅黑" panose="020B0503020204020204" charset="-122"/>
                <a:cs typeface="黑体" panose="02010609060101010101" pitchFamily="49" charset="-122"/>
              </a:endParaRPr>
            </a:p>
            <a:p>
              <a:pPr algn="ctr"/>
              <a:r>
                <a:rPr lang="en-US" altLang="zh-CN" sz="1400" dirty="0">
                  <a:solidFill>
                    <a:schemeClr val="bg1"/>
                  </a:solidFill>
                </a:rPr>
                <a:t>Analyze Stakeholders</a:t>
              </a:r>
              <a:endParaRPr lang="zh-CN" altLang="en-US" b="1" dirty="0">
                <a:solidFill>
                  <a:schemeClr val="bg1"/>
                </a:solidFill>
                <a:latin typeface="微软雅黑" panose="020B0503020204020204" charset="-122"/>
                <a:ea typeface="微软雅黑" panose="020B0503020204020204" charset="-122"/>
                <a:cs typeface="黑体" panose="02010609060101010101" pitchFamily="49" charset="-122"/>
              </a:endParaRPr>
            </a:p>
          </p:txBody>
        </p:sp>
        <p:sp>
          <p:nvSpPr>
            <p:cNvPr id="11" name="MH_Other_5">
              <a:extLst>
                <a:ext uri="{FF2B5EF4-FFF2-40B4-BE49-F238E27FC236}">
                  <a16:creationId xmlns:a16="http://schemas.microsoft.com/office/drawing/2014/main" id="{65810A3A-C69D-D0CC-9175-0BCC8BC09A81}"/>
                </a:ext>
              </a:extLst>
            </p:cNvPr>
            <p:cNvSpPr/>
            <p:nvPr>
              <p:custDataLst>
                <p:tags r:id="rId2"/>
              </p:custDataLst>
            </p:nvPr>
          </p:nvSpPr>
          <p:spPr>
            <a:xfrm flipH="1">
              <a:off x="11200669" y="694634"/>
              <a:ext cx="1006571" cy="971610"/>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2400" dirty="0">
                  <a:solidFill>
                    <a:srgbClr val="FFFFFF"/>
                  </a:solidFill>
                  <a:latin typeface="Times New Roman" panose="02020603050405020304" pitchFamily="18" charset="0"/>
                  <a:ea typeface="微软雅黑" panose="020B0503020204020204" charset="-122"/>
                </a:rPr>
                <a:t>10.3.2</a:t>
              </a:r>
              <a:endParaRPr lang="zh-CN" altLang="en-US" sz="2400" dirty="0">
                <a:solidFill>
                  <a:srgbClr val="FFFFFF"/>
                </a:solidFill>
                <a:latin typeface="Times New Roman" panose="02020603050405020304" pitchFamily="18" charset="0"/>
                <a:ea typeface="微软雅黑" panose="020B0503020204020204" charset="-122"/>
              </a:endParaRPr>
            </a:p>
          </p:txBody>
        </p:sp>
        <p:sp>
          <p:nvSpPr>
            <p:cNvPr id="12" name="MH_Other_6">
              <a:extLst>
                <a:ext uri="{FF2B5EF4-FFF2-40B4-BE49-F238E27FC236}">
                  <a16:creationId xmlns:a16="http://schemas.microsoft.com/office/drawing/2014/main" id="{89BD9B8B-9E6E-5031-6FF7-43504D29F283}"/>
                </a:ext>
              </a:extLst>
            </p:cNvPr>
            <p:cNvSpPr/>
            <p:nvPr>
              <p:custDataLst>
                <p:tags r:id="rId3"/>
              </p:custDataLst>
            </p:nvPr>
          </p:nvSpPr>
          <p:spPr>
            <a:xfrm flipH="1">
              <a:off x="10703596" y="694054"/>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3" name="文本框 12">
            <a:extLst>
              <a:ext uri="{FF2B5EF4-FFF2-40B4-BE49-F238E27FC236}">
                <a16:creationId xmlns:a16="http://schemas.microsoft.com/office/drawing/2014/main" id="{A6FF4FBB-7FD6-36D2-8ADF-D754FE5C25DC}"/>
              </a:ext>
            </a:extLst>
          </p:cNvPr>
          <p:cNvSpPr txBox="1"/>
          <p:nvPr/>
        </p:nvSpPr>
        <p:spPr>
          <a:xfrm>
            <a:off x="696000" y="1281953"/>
            <a:ext cx="10799999" cy="584775"/>
          </a:xfrm>
          <a:prstGeom prst="rect">
            <a:avLst/>
          </a:prstGeom>
          <a:noFill/>
        </p:spPr>
        <p:txBody>
          <a:bodyPr wrap="square" rtlCol="0">
            <a:spAutoFit/>
          </a:bodyPr>
          <a:lstStyle/>
          <a:p>
            <a:pPr algn="ctr"/>
            <a:r>
              <a:rPr lang="zh-CN" altLang="en-US" sz="1600" dirty="0"/>
              <a:t>凸显模型 </a:t>
            </a:r>
            <a:r>
              <a:rPr lang="en-US" altLang="zh-CN" sz="1600" dirty="0"/>
              <a:t>Salience Model</a:t>
            </a:r>
          </a:p>
          <a:p>
            <a:pPr algn="ctr"/>
            <a:r>
              <a:rPr lang="zh-CN" altLang="en-US" sz="1600" dirty="0"/>
              <a:t>评估的标准和依据</a:t>
            </a:r>
          </a:p>
        </p:txBody>
      </p:sp>
    </p:spTree>
    <p:extLst>
      <p:ext uri="{BB962C8B-B14F-4D97-AF65-F5344CB8AC3E}">
        <p14:creationId xmlns:p14="http://schemas.microsoft.com/office/powerpoint/2010/main" val="2048020882"/>
      </p:ext>
    </p:extLst>
  </p:cSld>
  <p:clrMapOvr>
    <a:masterClrMapping/>
  </p:clrMapOvr>
</p:sld>
</file>

<file path=ppt/slides/slide4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箭头连接符 3">
            <a:extLst>
              <a:ext uri="{FF2B5EF4-FFF2-40B4-BE49-F238E27FC236}">
                <a16:creationId xmlns:a16="http://schemas.microsoft.com/office/drawing/2014/main" id="{39481349-8490-A2DA-9A1B-D2F70F0477CE}"/>
              </a:ext>
            </a:extLst>
          </p:cNvPr>
          <p:cNvCxnSpPr>
            <a:cxnSpLocks/>
          </p:cNvCxnSpPr>
          <p:nvPr/>
        </p:nvCxnSpPr>
        <p:spPr>
          <a:xfrm>
            <a:off x="2930348" y="3394602"/>
            <a:ext cx="3600000" cy="0"/>
          </a:xfrm>
          <a:prstGeom prst="straightConnector1">
            <a:avLst/>
          </a:prstGeom>
          <a:ln w="63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86B1F59A-3C7E-C9AD-059D-C314BE1AEE4F}"/>
              </a:ext>
            </a:extLst>
          </p:cNvPr>
          <p:cNvCxnSpPr>
            <a:cxnSpLocks/>
          </p:cNvCxnSpPr>
          <p:nvPr/>
        </p:nvCxnSpPr>
        <p:spPr>
          <a:xfrm flipV="1">
            <a:off x="3100676" y="1780399"/>
            <a:ext cx="0" cy="1800000"/>
          </a:xfrm>
          <a:prstGeom prst="straightConnector1">
            <a:avLst/>
          </a:prstGeom>
          <a:ln w="63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graphicFrame>
        <p:nvGraphicFramePr>
          <p:cNvPr id="9" name="表格 8">
            <a:extLst>
              <a:ext uri="{FF2B5EF4-FFF2-40B4-BE49-F238E27FC236}">
                <a16:creationId xmlns:a16="http://schemas.microsoft.com/office/drawing/2014/main" id="{69982F2B-0E5F-87F6-4ADC-F9913B4C4F54}"/>
              </a:ext>
            </a:extLst>
          </p:cNvPr>
          <p:cNvGraphicFramePr>
            <a:graphicFrameLocks noGrp="1"/>
          </p:cNvGraphicFramePr>
          <p:nvPr>
            <p:extLst>
              <p:ext uri="{D42A27DB-BD31-4B8C-83A1-F6EECF244321}">
                <p14:modId xmlns:p14="http://schemas.microsoft.com/office/powerpoint/2010/main" val="131211770"/>
              </p:ext>
            </p:extLst>
          </p:nvPr>
        </p:nvGraphicFramePr>
        <p:xfrm>
          <a:off x="3117610" y="2304491"/>
          <a:ext cx="2880000" cy="1080001"/>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1578455872"/>
                    </a:ext>
                  </a:extLst>
                </a:gridCol>
                <a:gridCol w="1440000">
                  <a:extLst>
                    <a:ext uri="{9D8B030D-6E8A-4147-A177-3AD203B41FA5}">
                      <a16:colId xmlns:a16="http://schemas.microsoft.com/office/drawing/2014/main" val="1102437032"/>
                    </a:ext>
                  </a:extLst>
                </a:gridCol>
              </a:tblGrid>
              <a:tr h="544286">
                <a:tc>
                  <a:txBody>
                    <a:bodyPr/>
                    <a:lstStyle/>
                    <a:p>
                      <a:pPr algn="ctr"/>
                      <a:r>
                        <a:rPr lang="en-US" altLang="zh-CN" sz="800" b="0" dirty="0">
                          <a:solidFill>
                            <a:sysClr val="windowText" lastClr="000000"/>
                          </a:solidFill>
                        </a:rPr>
                        <a:t>A</a:t>
                      </a:r>
                    </a:p>
                    <a:p>
                      <a:pPr algn="ctr"/>
                      <a:r>
                        <a:rPr lang="en-US" altLang="zh-CN" sz="800" b="0" dirty="0">
                          <a:solidFill>
                            <a:sysClr val="windowText" lastClr="000000"/>
                          </a:solidFill>
                        </a:rPr>
                        <a:t>Keep satisfied</a:t>
                      </a:r>
                    </a:p>
                    <a:p>
                      <a:pPr algn="ctr"/>
                      <a:r>
                        <a:rPr lang="zh-CN" altLang="en-US" sz="800" b="0" dirty="0">
                          <a:solidFill>
                            <a:sysClr val="windowText" lastClr="000000"/>
                          </a:solidFill>
                        </a:rPr>
                        <a:t>令其满意</a:t>
                      </a:r>
                      <a:endParaRPr lang="en-US" altLang="zh-CN" sz="800" b="0" dirty="0">
                        <a:solidFill>
                          <a:sysClr val="windowText" lastClr="000000"/>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CN" sz="800" b="0" dirty="0">
                          <a:solidFill>
                            <a:sysClr val="windowText" lastClr="000000"/>
                          </a:solidFill>
                        </a:rPr>
                        <a:t>B</a:t>
                      </a:r>
                    </a:p>
                    <a:p>
                      <a:pPr algn="ctr"/>
                      <a:r>
                        <a:rPr lang="en-US" altLang="zh-CN" sz="800" b="0" dirty="0">
                          <a:solidFill>
                            <a:sysClr val="windowText" lastClr="000000"/>
                          </a:solidFill>
                        </a:rPr>
                        <a:t>Manage closely</a:t>
                      </a:r>
                    </a:p>
                    <a:p>
                      <a:pPr algn="ctr"/>
                      <a:r>
                        <a:rPr lang="zh-CN" altLang="en-US" sz="800" b="0" dirty="0">
                          <a:solidFill>
                            <a:sysClr val="windowText" lastClr="000000"/>
                          </a:solidFill>
                        </a:rPr>
                        <a:t>重点管理</a:t>
                      </a:r>
                      <a:endParaRPr lang="en-US" altLang="zh-CN" sz="800" b="0" dirty="0">
                        <a:solidFill>
                          <a:sysClr val="windowText" lastClr="000000"/>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739899098"/>
                  </a:ext>
                </a:extLst>
              </a:tr>
              <a:tr h="535715">
                <a:tc>
                  <a:txBody>
                    <a:bodyPr/>
                    <a:lstStyle/>
                    <a:p>
                      <a:pPr algn="ctr"/>
                      <a:r>
                        <a:rPr lang="en-US" altLang="zh-CN" sz="800" b="0" dirty="0">
                          <a:solidFill>
                            <a:sysClr val="windowText" lastClr="000000"/>
                          </a:solidFill>
                        </a:rPr>
                        <a:t>D</a:t>
                      </a:r>
                    </a:p>
                    <a:p>
                      <a:pPr algn="ctr"/>
                      <a:r>
                        <a:rPr lang="en-US" altLang="zh-CN" sz="800" b="0" dirty="0">
                          <a:solidFill>
                            <a:sysClr val="windowText" lastClr="000000"/>
                          </a:solidFill>
                        </a:rPr>
                        <a:t>Minimal effort</a:t>
                      </a:r>
                    </a:p>
                    <a:p>
                      <a:pPr algn="ctr"/>
                      <a:r>
                        <a:rPr lang="zh-CN" altLang="en-US" sz="800" b="0" dirty="0">
                          <a:solidFill>
                            <a:sysClr val="windowText" lastClr="000000"/>
                          </a:solidFill>
                        </a:rPr>
                        <a:t>监督</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CN" sz="800" b="0" dirty="0">
                          <a:solidFill>
                            <a:sysClr val="windowText" lastClr="000000"/>
                          </a:solidFill>
                        </a:rPr>
                        <a:t>C</a:t>
                      </a:r>
                    </a:p>
                    <a:p>
                      <a:pPr algn="ctr"/>
                      <a:r>
                        <a:rPr lang="en-US" altLang="zh-CN" sz="800" b="0" dirty="0">
                          <a:solidFill>
                            <a:sysClr val="windowText" lastClr="000000"/>
                          </a:solidFill>
                        </a:rPr>
                        <a:t>Keep informed</a:t>
                      </a:r>
                    </a:p>
                    <a:p>
                      <a:pPr algn="ctr"/>
                      <a:r>
                        <a:rPr lang="zh-CN" altLang="en-US" sz="800" b="0" dirty="0">
                          <a:solidFill>
                            <a:sysClr val="windowText" lastClr="000000"/>
                          </a:solidFill>
                        </a:rPr>
                        <a:t>随时告知</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796516843"/>
                  </a:ext>
                </a:extLst>
              </a:tr>
            </a:tbl>
          </a:graphicData>
        </a:graphic>
      </p:graphicFrame>
      <p:sp>
        <p:nvSpPr>
          <p:cNvPr id="10" name="文本框 9">
            <a:extLst>
              <a:ext uri="{FF2B5EF4-FFF2-40B4-BE49-F238E27FC236}">
                <a16:creationId xmlns:a16="http://schemas.microsoft.com/office/drawing/2014/main" id="{AFD0A5D4-E26D-9533-1E70-C0D8A9F2771B}"/>
              </a:ext>
            </a:extLst>
          </p:cNvPr>
          <p:cNvSpPr txBox="1"/>
          <p:nvPr/>
        </p:nvSpPr>
        <p:spPr>
          <a:xfrm>
            <a:off x="2584990" y="2298650"/>
            <a:ext cx="494045" cy="200055"/>
          </a:xfrm>
          <a:prstGeom prst="rect">
            <a:avLst/>
          </a:prstGeom>
          <a:noFill/>
        </p:spPr>
        <p:txBody>
          <a:bodyPr wrap="none" rtlCol="0">
            <a:spAutoFit/>
          </a:bodyPr>
          <a:lstStyle/>
          <a:p>
            <a:pPr algn="ctr"/>
            <a:r>
              <a:rPr lang="zh-CN" altLang="en-US" sz="700" dirty="0"/>
              <a:t>高</a:t>
            </a:r>
            <a:r>
              <a:rPr lang="en-US" altLang="zh-CN" sz="700" dirty="0"/>
              <a:t>High</a:t>
            </a:r>
            <a:endParaRPr lang="zh-CN" altLang="en-US" sz="700" dirty="0"/>
          </a:p>
        </p:txBody>
      </p:sp>
      <p:sp>
        <p:nvSpPr>
          <p:cNvPr id="11" name="文本框 10">
            <a:extLst>
              <a:ext uri="{FF2B5EF4-FFF2-40B4-BE49-F238E27FC236}">
                <a16:creationId xmlns:a16="http://schemas.microsoft.com/office/drawing/2014/main" id="{92E240DC-FDBE-046A-A240-D2BCC102079A}"/>
              </a:ext>
            </a:extLst>
          </p:cNvPr>
          <p:cNvSpPr txBox="1"/>
          <p:nvPr/>
        </p:nvSpPr>
        <p:spPr>
          <a:xfrm>
            <a:off x="2618652" y="3086825"/>
            <a:ext cx="461986" cy="200055"/>
          </a:xfrm>
          <a:prstGeom prst="rect">
            <a:avLst/>
          </a:prstGeom>
          <a:noFill/>
        </p:spPr>
        <p:txBody>
          <a:bodyPr wrap="none" rtlCol="0">
            <a:spAutoFit/>
          </a:bodyPr>
          <a:lstStyle/>
          <a:p>
            <a:pPr algn="ctr"/>
            <a:r>
              <a:rPr lang="zh-CN" altLang="en-US" sz="700" dirty="0"/>
              <a:t>低</a:t>
            </a:r>
            <a:r>
              <a:rPr lang="en-US" altLang="zh-CN" sz="700" dirty="0"/>
              <a:t>Low</a:t>
            </a:r>
            <a:endParaRPr lang="zh-CN" altLang="en-US" sz="700" dirty="0"/>
          </a:p>
        </p:txBody>
      </p:sp>
      <p:sp>
        <p:nvSpPr>
          <p:cNvPr id="12" name="文本框 11">
            <a:extLst>
              <a:ext uri="{FF2B5EF4-FFF2-40B4-BE49-F238E27FC236}">
                <a16:creationId xmlns:a16="http://schemas.microsoft.com/office/drawing/2014/main" id="{98EE3C10-94B9-DD91-6E5B-FFF429A82092}"/>
              </a:ext>
            </a:extLst>
          </p:cNvPr>
          <p:cNvSpPr txBox="1"/>
          <p:nvPr/>
        </p:nvSpPr>
        <p:spPr>
          <a:xfrm>
            <a:off x="5504067" y="3374844"/>
            <a:ext cx="494045" cy="200055"/>
          </a:xfrm>
          <a:prstGeom prst="rect">
            <a:avLst/>
          </a:prstGeom>
          <a:noFill/>
        </p:spPr>
        <p:txBody>
          <a:bodyPr wrap="none" rtlCol="0">
            <a:spAutoFit/>
          </a:bodyPr>
          <a:lstStyle/>
          <a:p>
            <a:pPr algn="ctr"/>
            <a:r>
              <a:rPr lang="zh-CN" altLang="en-US" sz="700" dirty="0"/>
              <a:t>高</a:t>
            </a:r>
            <a:r>
              <a:rPr lang="en-US" altLang="zh-CN" sz="700" dirty="0"/>
              <a:t>High</a:t>
            </a:r>
            <a:endParaRPr lang="zh-CN" altLang="en-US" sz="700" dirty="0"/>
          </a:p>
        </p:txBody>
      </p:sp>
      <p:sp>
        <p:nvSpPr>
          <p:cNvPr id="15" name="文本框 14">
            <a:extLst>
              <a:ext uri="{FF2B5EF4-FFF2-40B4-BE49-F238E27FC236}">
                <a16:creationId xmlns:a16="http://schemas.microsoft.com/office/drawing/2014/main" id="{B669A458-7B96-1CF4-A4E6-1F842BA5CCF6}"/>
              </a:ext>
            </a:extLst>
          </p:cNvPr>
          <p:cNvSpPr txBox="1"/>
          <p:nvPr/>
        </p:nvSpPr>
        <p:spPr>
          <a:xfrm>
            <a:off x="2864073" y="1507084"/>
            <a:ext cx="473206" cy="307777"/>
          </a:xfrm>
          <a:prstGeom prst="rect">
            <a:avLst/>
          </a:prstGeom>
          <a:noFill/>
        </p:spPr>
        <p:txBody>
          <a:bodyPr vert="horz" wrap="none" rtlCol="0">
            <a:spAutoFit/>
          </a:bodyPr>
          <a:lstStyle/>
          <a:p>
            <a:pPr algn="ctr"/>
            <a:r>
              <a:rPr lang="zh-CN" altLang="en-US" sz="700" dirty="0"/>
              <a:t>权力</a:t>
            </a:r>
            <a:endParaRPr lang="en-US" altLang="zh-CN" sz="700" dirty="0"/>
          </a:p>
          <a:p>
            <a:pPr algn="ctr"/>
            <a:r>
              <a:rPr lang="en-US" altLang="zh-CN" sz="700" dirty="0"/>
              <a:t>Power</a:t>
            </a:r>
          </a:p>
        </p:txBody>
      </p:sp>
      <p:sp>
        <p:nvSpPr>
          <p:cNvPr id="16" name="文本框 15">
            <a:extLst>
              <a:ext uri="{FF2B5EF4-FFF2-40B4-BE49-F238E27FC236}">
                <a16:creationId xmlns:a16="http://schemas.microsoft.com/office/drawing/2014/main" id="{CF8D1BFE-5F26-CDA9-4C51-ACB3052E9776}"/>
              </a:ext>
            </a:extLst>
          </p:cNvPr>
          <p:cNvSpPr txBox="1"/>
          <p:nvPr/>
        </p:nvSpPr>
        <p:spPr>
          <a:xfrm>
            <a:off x="6479129" y="3251734"/>
            <a:ext cx="534121" cy="307777"/>
          </a:xfrm>
          <a:prstGeom prst="rect">
            <a:avLst/>
          </a:prstGeom>
          <a:noFill/>
        </p:spPr>
        <p:txBody>
          <a:bodyPr wrap="none" rtlCol="0">
            <a:spAutoFit/>
          </a:bodyPr>
          <a:lstStyle/>
          <a:p>
            <a:pPr algn="ctr"/>
            <a:r>
              <a:rPr lang="zh-CN" altLang="en-US" sz="700" dirty="0"/>
              <a:t>利益 </a:t>
            </a:r>
            <a:endParaRPr lang="en-US" altLang="zh-CN" sz="700" dirty="0"/>
          </a:p>
          <a:p>
            <a:pPr algn="ctr"/>
            <a:r>
              <a:rPr lang="en-US" altLang="zh-CN" sz="700" dirty="0"/>
              <a:t>Interest</a:t>
            </a:r>
          </a:p>
        </p:txBody>
      </p:sp>
      <p:sp>
        <p:nvSpPr>
          <p:cNvPr id="19" name="文本框 18">
            <a:extLst>
              <a:ext uri="{FF2B5EF4-FFF2-40B4-BE49-F238E27FC236}">
                <a16:creationId xmlns:a16="http://schemas.microsoft.com/office/drawing/2014/main" id="{45452086-07FE-56F4-786A-68F2646AEAE6}"/>
              </a:ext>
            </a:extLst>
          </p:cNvPr>
          <p:cNvSpPr txBox="1"/>
          <p:nvPr/>
        </p:nvSpPr>
        <p:spPr>
          <a:xfrm>
            <a:off x="3239335" y="3394602"/>
            <a:ext cx="461986" cy="200055"/>
          </a:xfrm>
          <a:prstGeom prst="rect">
            <a:avLst/>
          </a:prstGeom>
          <a:noFill/>
        </p:spPr>
        <p:txBody>
          <a:bodyPr wrap="none" rtlCol="0">
            <a:spAutoFit/>
          </a:bodyPr>
          <a:lstStyle/>
          <a:p>
            <a:pPr algn="ctr"/>
            <a:r>
              <a:rPr lang="zh-CN" altLang="en-US" sz="700" dirty="0"/>
              <a:t>低</a:t>
            </a:r>
            <a:r>
              <a:rPr lang="en-US" altLang="zh-CN" sz="700" dirty="0"/>
              <a:t>Low</a:t>
            </a:r>
            <a:endParaRPr lang="zh-CN" altLang="en-US" sz="700" dirty="0"/>
          </a:p>
        </p:txBody>
      </p:sp>
      <p:sp>
        <p:nvSpPr>
          <p:cNvPr id="21" name="文本框 20">
            <a:extLst>
              <a:ext uri="{FF2B5EF4-FFF2-40B4-BE49-F238E27FC236}">
                <a16:creationId xmlns:a16="http://schemas.microsoft.com/office/drawing/2014/main" id="{C6B1B272-F335-8135-CFA3-A54A77EEA8B8}"/>
              </a:ext>
            </a:extLst>
          </p:cNvPr>
          <p:cNvSpPr txBox="1"/>
          <p:nvPr/>
        </p:nvSpPr>
        <p:spPr>
          <a:xfrm>
            <a:off x="3979878" y="5732542"/>
            <a:ext cx="4232249" cy="338554"/>
          </a:xfrm>
          <a:prstGeom prst="rect">
            <a:avLst/>
          </a:prstGeom>
          <a:noFill/>
        </p:spPr>
        <p:txBody>
          <a:bodyPr wrap="none" rtlCol="0">
            <a:spAutoFit/>
          </a:bodyPr>
          <a:lstStyle/>
          <a:p>
            <a:pPr algn="ctr"/>
            <a:r>
              <a:rPr lang="zh-CN" altLang="en-US" sz="1600" dirty="0"/>
              <a:t>分类</a:t>
            </a:r>
            <a:r>
              <a:rPr lang="en-US" altLang="zh-CN" sz="1600" dirty="0"/>
              <a:t>1 </a:t>
            </a:r>
            <a:r>
              <a:rPr lang="zh-CN" altLang="en-US" sz="1600" dirty="0"/>
              <a:t>：权力利益方格 </a:t>
            </a:r>
            <a:r>
              <a:rPr lang="en-US" altLang="zh-CN" sz="1600" dirty="0"/>
              <a:t>Power/Interest Grid</a:t>
            </a:r>
          </a:p>
        </p:txBody>
      </p:sp>
      <p:grpSp>
        <p:nvGrpSpPr>
          <p:cNvPr id="22" name="组合 21">
            <a:extLst>
              <a:ext uri="{FF2B5EF4-FFF2-40B4-BE49-F238E27FC236}">
                <a16:creationId xmlns:a16="http://schemas.microsoft.com/office/drawing/2014/main" id="{4EEEA132-25DC-084D-0FD5-F79A4B34E83E}"/>
              </a:ext>
            </a:extLst>
          </p:cNvPr>
          <p:cNvGrpSpPr/>
          <p:nvPr/>
        </p:nvGrpSpPr>
        <p:grpSpPr>
          <a:xfrm>
            <a:off x="7860623" y="310613"/>
            <a:ext cx="4331377" cy="973455"/>
            <a:chOff x="7875863" y="694054"/>
            <a:chExt cx="4331377" cy="973455"/>
          </a:xfrm>
        </p:grpSpPr>
        <p:sp>
          <p:nvSpPr>
            <p:cNvPr id="23" name="MH_SubTitle_2">
              <a:extLst>
                <a:ext uri="{FF2B5EF4-FFF2-40B4-BE49-F238E27FC236}">
                  <a16:creationId xmlns:a16="http://schemas.microsoft.com/office/drawing/2014/main" id="{B6FCCD70-1BC4-EE00-E48F-B7BF2684DB24}"/>
                </a:ext>
              </a:extLst>
            </p:cNvPr>
            <p:cNvSpPr/>
            <p:nvPr>
              <p:custDataLst>
                <p:tags r:id="rId1"/>
              </p:custDataLst>
            </p:nvPr>
          </p:nvSpPr>
          <p:spPr>
            <a:xfrm flipH="1">
              <a:off x="7875863" y="817315"/>
              <a:ext cx="2829510" cy="733252"/>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b="1" dirty="0">
                  <a:solidFill>
                    <a:schemeClr val="bg1"/>
                  </a:solidFill>
                  <a:latin typeface="微软雅黑" panose="020B0503020204020204" charset="-122"/>
                  <a:ea typeface="微软雅黑" panose="020B0503020204020204" charset="-122"/>
                  <a:cs typeface="黑体" panose="02010609060101010101" pitchFamily="49" charset="-122"/>
                </a:rPr>
                <a:t>干系人分类</a:t>
              </a:r>
              <a:endParaRPr lang="en-US" altLang="zh-CN" b="1" dirty="0">
                <a:solidFill>
                  <a:schemeClr val="bg1"/>
                </a:solidFill>
                <a:latin typeface="微软雅黑" panose="020B0503020204020204" charset="-122"/>
                <a:ea typeface="微软雅黑" panose="020B0503020204020204" charset="-122"/>
                <a:cs typeface="黑体" panose="02010609060101010101" pitchFamily="49" charset="-122"/>
              </a:endParaRPr>
            </a:p>
            <a:p>
              <a:pPr algn="ctr"/>
              <a:r>
                <a:rPr lang="en-US" altLang="zh-CN" sz="1400" dirty="0">
                  <a:solidFill>
                    <a:schemeClr val="bg1"/>
                  </a:solidFill>
                </a:rPr>
                <a:t>Categorize Stakeholders</a:t>
              </a:r>
              <a:endParaRPr lang="zh-CN" altLang="en-US" b="1" dirty="0">
                <a:solidFill>
                  <a:schemeClr val="bg1"/>
                </a:solidFill>
                <a:latin typeface="微软雅黑" panose="020B0503020204020204" charset="-122"/>
                <a:ea typeface="微软雅黑" panose="020B0503020204020204" charset="-122"/>
                <a:cs typeface="黑体" panose="02010609060101010101" pitchFamily="49" charset="-122"/>
              </a:endParaRPr>
            </a:p>
          </p:txBody>
        </p:sp>
        <p:sp>
          <p:nvSpPr>
            <p:cNvPr id="25" name="MH_Other_5">
              <a:extLst>
                <a:ext uri="{FF2B5EF4-FFF2-40B4-BE49-F238E27FC236}">
                  <a16:creationId xmlns:a16="http://schemas.microsoft.com/office/drawing/2014/main" id="{DB855900-BF98-133E-B4BB-A0544DD7D936}"/>
                </a:ext>
              </a:extLst>
            </p:cNvPr>
            <p:cNvSpPr/>
            <p:nvPr>
              <p:custDataLst>
                <p:tags r:id="rId2"/>
              </p:custDataLst>
            </p:nvPr>
          </p:nvSpPr>
          <p:spPr>
            <a:xfrm flipH="1">
              <a:off x="11200669" y="694634"/>
              <a:ext cx="1006571" cy="971610"/>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2400" dirty="0">
                  <a:solidFill>
                    <a:srgbClr val="FFFFFF"/>
                  </a:solidFill>
                  <a:latin typeface="Times New Roman" panose="02020603050405020304" pitchFamily="18" charset="0"/>
                  <a:ea typeface="微软雅黑" panose="020B0503020204020204" charset="-122"/>
                </a:rPr>
                <a:t>10.3.3</a:t>
              </a:r>
              <a:endParaRPr lang="zh-CN" altLang="en-US" sz="2400" dirty="0">
                <a:solidFill>
                  <a:srgbClr val="FFFFFF"/>
                </a:solidFill>
                <a:latin typeface="Times New Roman" panose="02020603050405020304" pitchFamily="18" charset="0"/>
                <a:ea typeface="微软雅黑" panose="020B0503020204020204" charset="-122"/>
              </a:endParaRPr>
            </a:p>
          </p:txBody>
        </p:sp>
        <p:sp>
          <p:nvSpPr>
            <p:cNvPr id="26" name="MH_Other_6">
              <a:extLst>
                <a:ext uri="{FF2B5EF4-FFF2-40B4-BE49-F238E27FC236}">
                  <a16:creationId xmlns:a16="http://schemas.microsoft.com/office/drawing/2014/main" id="{A0761113-E606-82B6-478A-522BDF0255B4}"/>
                </a:ext>
              </a:extLst>
            </p:cNvPr>
            <p:cNvSpPr/>
            <p:nvPr>
              <p:custDataLst>
                <p:tags r:id="rId3"/>
              </p:custDataLst>
            </p:nvPr>
          </p:nvSpPr>
          <p:spPr>
            <a:xfrm flipH="1">
              <a:off x="10703596" y="694054"/>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Tree>
    <p:extLst>
      <p:ext uri="{BB962C8B-B14F-4D97-AF65-F5344CB8AC3E}">
        <p14:creationId xmlns:p14="http://schemas.microsoft.com/office/powerpoint/2010/main" val="4076603631"/>
      </p:ext>
    </p:extLst>
  </p:cSld>
  <p:clrMapOvr>
    <a:masterClrMapping/>
  </p:clrMapOvr>
</p:sld>
</file>

<file path=ppt/slides/slide4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16099-59CC-A33C-2CC1-8DA8ADFDA44D}"/>
            </a:ext>
          </a:extLst>
        </p:cNvPr>
        <p:cNvGrpSpPr/>
        <p:nvPr/>
      </p:nvGrpSpPr>
      <p:grpSpPr>
        <a:xfrm>
          <a:off x="0" y="0"/>
          <a:ext cx="0" cy="0"/>
          <a:chOff x="0" y="0"/>
          <a:chExt cx="0" cy="0"/>
        </a:xfrm>
      </p:grpSpPr>
      <p:cxnSp>
        <p:nvCxnSpPr>
          <p:cNvPr id="4" name="直接箭头连接符 3">
            <a:extLst>
              <a:ext uri="{FF2B5EF4-FFF2-40B4-BE49-F238E27FC236}">
                <a16:creationId xmlns:a16="http://schemas.microsoft.com/office/drawing/2014/main" id="{7E0A44D1-5132-5AEA-C550-CC24520255CC}"/>
              </a:ext>
            </a:extLst>
          </p:cNvPr>
          <p:cNvCxnSpPr>
            <a:cxnSpLocks/>
          </p:cNvCxnSpPr>
          <p:nvPr/>
        </p:nvCxnSpPr>
        <p:spPr>
          <a:xfrm>
            <a:off x="2930348" y="5189543"/>
            <a:ext cx="576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43A3F95D-E168-39AD-D28C-4D0CED01075E}"/>
              </a:ext>
            </a:extLst>
          </p:cNvPr>
          <p:cNvCxnSpPr>
            <a:cxnSpLocks/>
          </p:cNvCxnSpPr>
          <p:nvPr/>
        </p:nvCxnSpPr>
        <p:spPr>
          <a:xfrm flipV="1">
            <a:off x="3100676" y="1780399"/>
            <a:ext cx="0" cy="360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9" name="表格 8">
            <a:extLst>
              <a:ext uri="{FF2B5EF4-FFF2-40B4-BE49-F238E27FC236}">
                <a16:creationId xmlns:a16="http://schemas.microsoft.com/office/drawing/2014/main" id="{0BAC2EE5-CC7E-64CF-CD21-78CD7A3A558B}"/>
              </a:ext>
            </a:extLst>
          </p:cNvPr>
          <p:cNvGraphicFramePr>
            <a:graphicFrameLocks noGrp="1"/>
          </p:cNvGraphicFramePr>
          <p:nvPr>
            <p:extLst>
              <p:ext uri="{D42A27DB-BD31-4B8C-83A1-F6EECF244321}">
                <p14:modId xmlns:p14="http://schemas.microsoft.com/office/powerpoint/2010/main" val="3090771814"/>
              </p:ext>
            </p:extLst>
          </p:nvPr>
        </p:nvGraphicFramePr>
        <p:xfrm>
          <a:off x="3136536" y="2298650"/>
          <a:ext cx="4896393" cy="2855034"/>
        </p:xfrm>
        <a:graphic>
          <a:graphicData uri="http://schemas.openxmlformats.org/drawingml/2006/table">
            <a:tbl>
              <a:tblPr firstRow="1" bandRow="1">
                <a:tableStyleId>{5C22544A-7EE6-4342-B048-85BDC9FD1C3A}</a:tableStyleId>
              </a:tblPr>
              <a:tblGrid>
                <a:gridCol w="1632131">
                  <a:extLst>
                    <a:ext uri="{9D8B030D-6E8A-4147-A177-3AD203B41FA5}">
                      <a16:colId xmlns:a16="http://schemas.microsoft.com/office/drawing/2014/main" val="1578455872"/>
                    </a:ext>
                  </a:extLst>
                </a:gridCol>
                <a:gridCol w="1632131">
                  <a:extLst>
                    <a:ext uri="{9D8B030D-6E8A-4147-A177-3AD203B41FA5}">
                      <a16:colId xmlns:a16="http://schemas.microsoft.com/office/drawing/2014/main" val="87254940"/>
                    </a:ext>
                  </a:extLst>
                </a:gridCol>
                <a:gridCol w="1632131">
                  <a:extLst>
                    <a:ext uri="{9D8B030D-6E8A-4147-A177-3AD203B41FA5}">
                      <a16:colId xmlns:a16="http://schemas.microsoft.com/office/drawing/2014/main" val="1102437032"/>
                    </a:ext>
                  </a:extLst>
                </a:gridCol>
              </a:tblGrid>
              <a:tr h="951678">
                <a:tc>
                  <a:txBody>
                    <a:bodyPr/>
                    <a:lstStyle/>
                    <a:p>
                      <a:pPr algn="ctr"/>
                      <a:r>
                        <a:rPr lang="en-US" altLang="zh-CN" sz="1600" b="0" dirty="0">
                          <a:solidFill>
                            <a:schemeClr val="bg1"/>
                          </a:solidFill>
                        </a:rPr>
                        <a:t>C1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alpha val="60000"/>
                      </a:srgbClr>
                    </a:solidFill>
                  </a:tcPr>
                </a:tc>
                <a:tc>
                  <a:txBody>
                    <a:bodyPr/>
                    <a:lstStyle/>
                    <a:p>
                      <a:pPr algn="ctr"/>
                      <a:r>
                        <a:rPr lang="en-US" altLang="zh-CN" sz="1600" b="0" dirty="0">
                          <a:solidFill>
                            <a:schemeClr val="bg1"/>
                          </a:solidFill>
                        </a:rPr>
                        <a:t>B1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alpha val="60000"/>
                      </a:srgbClr>
                    </a:solidFill>
                  </a:tcPr>
                </a:tc>
                <a:tc>
                  <a:txBody>
                    <a:bodyPr/>
                    <a:lstStyle/>
                    <a:p>
                      <a:pPr algn="ctr"/>
                      <a:r>
                        <a:rPr lang="en-US" altLang="zh-CN" sz="1600" b="0" dirty="0">
                          <a:solidFill>
                            <a:schemeClr val="bg1"/>
                          </a:solidFill>
                        </a:rPr>
                        <a:t>A1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E863F">
                        <a:alpha val="60000"/>
                      </a:srgbClr>
                    </a:solidFill>
                  </a:tcPr>
                </a:tc>
                <a:extLst>
                  <a:ext uri="{0D108BD9-81ED-4DB2-BD59-A6C34878D82A}">
                    <a16:rowId xmlns:a16="http://schemas.microsoft.com/office/drawing/2014/main" val="1739899098"/>
                  </a:ext>
                </a:extLst>
              </a:tr>
              <a:tr h="951678">
                <a:tc>
                  <a:txBody>
                    <a:bodyPr/>
                    <a:lstStyle/>
                    <a:p>
                      <a:pPr algn="ctr"/>
                      <a:r>
                        <a:rPr lang="en-US" altLang="zh-CN" sz="1600" b="0" dirty="0">
                          <a:solidFill>
                            <a:schemeClr val="bg1"/>
                          </a:solidFill>
                        </a:rPr>
                        <a:t>C2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alpha val="80000"/>
                      </a:srgbClr>
                    </a:solidFill>
                  </a:tcPr>
                </a:tc>
                <a:tc>
                  <a:txBody>
                    <a:bodyPr/>
                    <a:lstStyle/>
                    <a:p>
                      <a:pPr algn="ctr"/>
                      <a:r>
                        <a:rPr lang="en-US" altLang="zh-CN" sz="1600" b="0" dirty="0">
                          <a:solidFill>
                            <a:schemeClr val="bg1"/>
                          </a:solidFill>
                        </a:rPr>
                        <a:t>B2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alpha val="80000"/>
                      </a:srgbClr>
                    </a:solidFill>
                  </a:tcPr>
                </a:tc>
                <a:tc>
                  <a:txBody>
                    <a:bodyPr/>
                    <a:lstStyle/>
                    <a:p>
                      <a:pPr algn="ctr"/>
                      <a:r>
                        <a:rPr lang="en-US" altLang="zh-CN" sz="1600" b="0" dirty="0">
                          <a:solidFill>
                            <a:schemeClr val="bg1"/>
                          </a:solidFill>
                        </a:rPr>
                        <a:t>A2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E863F">
                        <a:alpha val="80000"/>
                      </a:srgbClr>
                    </a:solidFill>
                  </a:tcPr>
                </a:tc>
                <a:extLst>
                  <a:ext uri="{0D108BD9-81ED-4DB2-BD59-A6C34878D82A}">
                    <a16:rowId xmlns:a16="http://schemas.microsoft.com/office/drawing/2014/main" val="3418967489"/>
                  </a:ext>
                </a:extLst>
              </a:tr>
              <a:tr h="951678">
                <a:tc>
                  <a:txBody>
                    <a:bodyPr/>
                    <a:lstStyle/>
                    <a:p>
                      <a:pPr algn="ctr"/>
                      <a:r>
                        <a:rPr lang="en-US" altLang="zh-CN" sz="1600" b="0" dirty="0">
                          <a:solidFill>
                            <a:schemeClr val="bg1"/>
                          </a:solidFill>
                        </a:rPr>
                        <a:t>C3</a:t>
                      </a:r>
                      <a:endParaRPr lang="zh-CN" altLang="en-US" sz="1600" b="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US" altLang="zh-CN" sz="1600" b="0" dirty="0">
                          <a:solidFill>
                            <a:schemeClr val="bg1"/>
                          </a:solidFill>
                        </a:rPr>
                        <a:t>B3</a:t>
                      </a:r>
                      <a:endParaRPr lang="zh-CN" altLang="en-US" sz="1600" b="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altLang="zh-CN" sz="1600" b="0" dirty="0">
                          <a:solidFill>
                            <a:schemeClr val="bg1"/>
                          </a:solidFill>
                        </a:rPr>
                        <a:t>A3</a:t>
                      </a:r>
                      <a:endParaRPr lang="zh-CN" altLang="en-US" sz="1600" b="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E863F"/>
                    </a:solidFill>
                  </a:tcPr>
                </a:tc>
                <a:extLst>
                  <a:ext uri="{0D108BD9-81ED-4DB2-BD59-A6C34878D82A}">
                    <a16:rowId xmlns:a16="http://schemas.microsoft.com/office/drawing/2014/main" val="796516843"/>
                  </a:ext>
                </a:extLst>
              </a:tr>
            </a:tbl>
          </a:graphicData>
        </a:graphic>
      </p:graphicFrame>
      <p:sp>
        <p:nvSpPr>
          <p:cNvPr id="10" name="文本框 9">
            <a:extLst>
              <a:ext uri="{FF2B5EF4-FFF2-40B4-BE49-F238E27FC236}">
                <a16:creationId xmlns:a16="http://schemas.microsoft.com/office/drawing/2014/main" id="{2377881F-2F67-1469-8273-50E0660C0C29}"/>
              </a:ext>
            </a:extLst>
          </p:cNvPr>
          <p:cNvSpPr txBox="1"/>
          <p:nvPr/>
        </p:nvSpPr>
        <p:spPr>
          <a:xfrm>
            <a:off x="2297251" y="2298650"/>
            <a:ext cx="803425" cy="307777"/>
          </a:xfrm>
          <a:prstGeom prst="rect">
            <a:avLst/>
          </a:prstGeom>
          <a:noFill/>
        </p:spPr>
        <p:txBody>
          <a:bodyPr wrap="none" rtlCol="0">
            <a:spAutoFit/>
          </a:bodyPr>
          <a:lstStyle/>
          <a:p>
            <a:pPr algn="ctr"/>
            <a:r>
              <a:rPr lang="zh-CN" altLang="en-US" sz="1400" dirty="0"/>
              <a:t>高</a:t>
            </a:r>
            <a:r>
              <a:rPr lang="en-US" altLang="zh-CN" sz="1400" dirty="0"/>
              <a:t>High</a:t>
            </a:r>
            <a:endParaRPr lang="zh-CN" altLang="en-US" sz="1400" dirty="0"/>
          </a:p>
        </p:txBody>
      </p:sp>
      <p:sp>
        <p:nvSpPr>
          <p:cNvPr id="11" name="文本框 10">
            <a:extLst>
              <a:ext uri="{FF2B5EF4-FFF2-40B4-BE49-F238E27FC236}">
                <a16:creationId xmlns:a16="http://schemas.microsoft.com/office/drawing/2014/main" id="{AA61F439-8670-53BD-F8E1-DDBB676F127C}"/>
              </a:ext>
            </a:extLst>
          </p:cNvPr>
          <p:cNvSpPr txBox="1"/>
          <p:nvPr/>
        </p:nvSpPr>
        <p:spPr>
          <a:xfrm>
            <a:off x="2361370" y="4881766"/>
            <a:ext cx="739306" cy="307777"/>
          </a:xfrm>
          <a:prstGeom prst="rect">
            <a:avLst/>
          </a:prstGeom>
          <a:noFill/>
        </p:spPr>
        <p:txBody>
          <a:bodyPr wrap="none" rtlCol="0">
            <a:spAutoFit/>
          </a:bodyPr>
          <a:lstStyle/>
          <a:p>
            <a:pPr algn="ctr"/>
            <a:r>
              <a:rPr lang="zh-CN" altLang="en-US" sz="1400" dirty="0"/>
              <a:t>低</a:t>
            </a:r>
            <a:r>
              <a:rPr lang="en-US" altLang="zh-CN" sz="1400" dirty="0"/>
              <a:t>Low</a:t>
            </a:r>
            <a:endParaRPr lang="zh-CN" altLang="en-US" sz="1400" dirty="0"/>
          </a:p>
        </p:txBody>
      </p:sp>
      <p:sp>
        <p:nvSpPr>
          <p:cNvPr id="12" name="文本框 11">
            <a:extLst>
              <a:ext uri="{FF2B5EF4-FFF2-40B4-BE49-F238E27FC236}">
                <a16:creationId xmlns:a16="http://schemas.microsoft.com/office/drawing/2014/main" id="{C3F3D5EF-4C2C-83A9-D5B7-9A3748896543}"/>
              </a:ext>
            </a:extLst>
          </p:cNvPr>
          <p:cNvSpPr txBox="1"/>
          <p:nvPr/>
        </p:nvSpPr>
        <p:spPr>
          <a:xfrm>
            <a:off x="7449115" y="5169785"/>
            <a:ext cx="803426" cy="307777"/>
          </a:xfrm>
          <a:prstGeom prst="rect">
            <a:avLst/>
          </a:prstGeom>
          <a:noFill/>
        </p:spPr>
        <p:txBody>
          <a:bodyPr wrap="none" rtlCol="0">
            <a:spAutoFit/>
          </a:bodyPr>
          <a:lstStyle/>
          <a:p>
            <a:pPr algn="ctr"/>
            <a:r>
              <a:rPr lang="zh-CN" altLang="en-US" sz="1400" dirty="0"/>
              <a:t>高</a:t>
            </a:r>
            <a:r>
              <a:rPr lang="en-US" altLang="zh-CN" sz="1400" dirty="0"/>
              <a:t>High</a:t>
            </a:r>
            <a:endParaRPr lang="zh-CN" altLang="en-US" sz="1400" dirty="0"/>
          </a:p>
        </p:txBody>
      </p:sp>
      <p:sp>
        <p:nvSpPr>
          <p:cNvPr id="17" name="文本框 16">
            <a:extLst>
              <a:ext uri="{FF2B5EF4-FFF2-40B4-BE49-F238E27FC236}">
                <a16:creationId xmlns:a16="http://schemas.microsoft.com/office/drawing/2014/main" id="{7738A685-88F8-EBA1-F898-86F6681447F3}"/>
              </a:ext>
            </a:extLst>
          </p:cNvPr>
          <p:cNvSpPr txBox="1"/>
          <p:nvPr/>
        </p:nvSpPr>
        <p:spPr>
          <a:xfrm>
            <a:off x="2760680" y="1432106"/>
            <a:ext cx="723275" cy="307777"/>
          </a:xfrm>
          <a:prstGeom prst="rect">
            <a:avLst/>
          </a:prstGeom>
          <a:noFill/>
        </p:spPr>
        <p:txBody>
          <a:bodyPr wrap="none" rtlCol="0">
            <a:spAutoFit/>
          </a:bodyPr>
          <a:lstStyle/>
          <a:p>
            <a:pPr algn="l"/>
            <a:r>
              <a:rPr lang="zh-CN" altLang="en-US" sz="1400" dirty="0"/>
              <a:t>重要性</a:t>
            </a:r>
          </a:p>
        </p:txBody>
      </p:sp>
      <p:sp>
        <p:nvSpPr>
          <p:cNvPr id="18" name="文本框 17">
            <a:extLst>
              <a:ext uri="{FF2B5EF4-FFF2-40B4-BE49-F238E27FC236}">
                <a16:creationId xmlns:a16="http://schemas.microsoft.com/office/drawing/2014/main" id="{A1A33584-3C89-AF84-4A48-28D8655FF9E9}"/>
              </a:ext>
            </a:extLst>
          </p:cNvPr>
          <p:cNvSpPr txBox="1"/>
          <p:nvPr/>
        </p:nvSpPr>
        <p:spPr>
          <a:xfrm>
            <a:off x="8765384" y="5031285"/>
            <a:ext cx="742511" cy="307777"/>
          </a:xfrm>
          <a:prstGeom prst="rect">
            <a:avLst/>
          </a:prstGeom>
          <a:noFill/>
        </p:spPr>
        <p:txBody>
          <a:bodyPr wrap="none" rtlCol="0">
            <a:spAutoFit/>
          </a:bodyPr>
          <a:lstStyle/>
          <a:p>
            <a:pPr algn="l"/>
            <a:r>
              <a:rPr lang="zh-CN" altLang="en-US" sz="1400" dirty="0"/>
              <a:t>支持度</a:t>
            </a:r>
          </a:p>
        </p:txBody>
      </p:sp>
      <p:sp>
        <p:nvSpPr>
          <p:cNvPr id="19" name="文本框 18">
            <a:extLst>
              <a:ext uri="{FF2B5EF4-FFF2-40B4-BE49-F238E27FC236}">
                <a16:creationId xmlns:a16="http://schemas.microsoft.com/office/drawing/2014/main" id="{36125DDC-870A-471A-3F25-2052B98DA98D}"/>
              </a:ext>
            </a:extLst>
          </p:cNvPr>
          <p:cNvSpPr txBox="1"/>
          <p:nvPr/>
        </p:nvSpPr>
        <p:spPr>
          <a:xfrm>
            <a:off x="3100676" y="5189543"/>
            <a:ext cx="739306" cy="307777"/>
          </a:xfrm>
          <a:prstGeom prst="rect">
            <a:avLst/>
          </a:prstGeom>
          <a:noFill/>
        </p:spPr>
        <p:txBody>
          <a:bodyPr wrap="none" rtlCol="0">
            <a:spAutoFit/>
          </a:bodyPr>
          <a:lstStyle/>
          <a:p>
            <a:pPr algn="ctr"/>
            <a:r>
              <a:rPr lang="zh-CN" altLang="en-US" sz="1400" dirty="0"/>
              <a:t>低</a:t>
            </a:r>
            <a:r>
              <a:rPr lang="en-US" altLang="zh-CN" sz="1400" dirty="0"/>
              <a:t>Low</a:t>
            </a:r>
            <a:endParaRPr lang="zh-CN" altLang="en-US" sz="1400" dirty="0"/>
          </a:p>
        </p:txBody>
      </p:sp>
      <p:sp>
        <p:nvSpPr>
          <p:cNvPr id="21" name="文本框 20">
            <a:extLst>
              <a:ext uri="{FF2B5EF4-FFF2-40B4-BE49-F238E27FC236}">
                <a16:creationId xmlns:a16="http://schemas.microsoft.com/office/drawing/2014/main" id="{1A408DF4-5230-243F-F383-73BDE4CD847E}"/>
              </a:ext>
            </a:extLst>
          </p:cNvPr>
          <p:cNvSpPr txBox="1"/>
          <p:nvPr/>
        </p:nvSpPr>
        <p:spPr>
          <a:xfrm>
            <a:off x="4714056" y="5732542"/>
            <a:ext cx="2763898" cy="338554"/>
          </a:xfrm>
          <a:prstGeom prst="rect">
            <a:avLst/>
          </a:prstGeom>
          <a:noFill/>
        </p:spPr>
        <p:txBody>
          <a:bodyPr wrap="none" rtlCol="0">
            <a:spAutoFit/>
          </a:bodyPr>
          <a:lstStyle/>
          <a:p>
            <a:pPr algn="ctr"/>
            <a:r>
              <a:rPr lang="zh-CN" altLang="en-US" sz="1600" dirty="0"/>
              <a:t>分类</a:t>
            </a:r>
            <a:r>
              <a:rPr lang="en-US" altLang="zh-CN" sz="1600" dirty="0"/>
              <a:t>2</a:t>
            </a:r>
            <a:r>
              <a:rPr lang="zh-CN" altLang="en-US" sz="1600" dirty="0"/>
              <a:t>：重要性和支持度方格</a:t>
            </a:r>
            <a:endParaRPr lang="en-US" altLang="zh-CN" sz="1600" dirty="0"/>
          </a:p>
        </p:txBody>
      </p:sp>
      <p:grpSp>
        <p:nvGrpSpPr>
          <p:cNvPr id="22" name="组合 21">
            <a:extLst>
              <a:ext uri="{FF2B5EF4-FFF2-40B4-BE49-F238E27FC236}">
                <a16:creationId xmlns:a16="http://schemas.microsoft.com/office/drawing/2014/main" id="{7D7D0C8D-4DCA-5276-9F65-1C936EFEFD8C}"/>
              </a:ext>
            </a:extLst>
          </p:cNvPr>
          <p:cNvGrpSpPr/>
          <p:nvPr/>
        </p:nvGrpSpPr>
        <p:grpSpPr>
          <a:xfrm>
            <a:off x="7860623" y="310613"/>
            <a:ext cx="4331377" cy="973455"/>
            <a:chOff x="7875863" y="694054"/>
            <a:chExt cx="4331377" cy="973455"/>
          </a:xfrm>
        </p:grpSpPr>
        <p:sp>
          <p:nvSpPr>
            <p:cNvPr id="23" name="MH_SubTitle_2">
              <a:extLst>
                <a:ext uri="{FF2B5EF4-FFF2-40B4-BE49-F238E27FC236}">
                  <a16:creationId xmlns:a16="http://schemas.microsoft.com/office/drawing/2014/main" id="{A253B943-AACD-F249-0A1D-8693158B4070}"/>
                </a:ext>
              </a:extLst>
            </p:cNvPr>
            <p:cNvSpPr/>
            <p:nvPr>
              <p:custDataLst>
                <p:tags r:id="rId1"/>
              </p:custDataLst>
            </p:nvPr>
          </p:nvSpPr>
          <p:spPr>
            <a:xfrm flipH="1">
              <a:off x="7875863" y="817315"/>
              <a:ext cx="2829510" cy="733252"/>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b="1" dirty="0">
                  <a:solidFill>
                    <a:schemeClr val="bg1"/>
                  </a:solidFill>
                  <a:latin typeface="微软雅黑" panose="020B0503020204020204" charset="-122"/>
                  <a:ea typeface="微软雅黑" panose="020B0503020204020204" charset="-122"/>
                  <a:cs typeface="黑体" panose="02010609060101010101" pitchFamily="49" charset="-122"/>
                </a:rPr>
                <a:t>干系人分类</a:t>
              </a:r>
              <a:endParaRPr lang="en-US" altLang="zh-CN" b="1" dirty="0">
                <a:solidFill>
                  <a:schemeClr val="bg1"/>
                </a:solidFill>
                <a:latin typeface="微软雅黑" panose="020B0503020204020204" charset="-122"/>
                <a:ea typeface="微软雅黑" panose="020B0503020204020204" charset="-122"/>
                <a:cs typeface="黑体" panose="02010609060101010101" pitchFamily="49" charset="-122"/>
              </a:endParaRPr>
            </a:p>
            <a:p>
              <a:pPr algn="ctr"/>
              <a:r>
                <a:rPr lang="en-US" altLang="zh-CN" sz="1400" dirty="0">
                  <a:solidFill>
                    <a:schemeClr val="bg1"/>
                  </a:solidFill>
                </a:rPr>
                <a:t>Categorize Stakeholders</a:t>
              </a:r>
              <a:endParaRPr lang="zh-CN" altLang="en-US" b="1" dirty="0">
                <a:solidFill>
                  <a:schemeClr val="bg1"/>
                </a:solidFill>
                <a:latin typeface="微软雅黑" panose="020B0503020204020204" charset="-122"/>
                <a:ea typeface="微软雅黑" panose="020B0503020204020204" charset="-122"/>
                <a:cs typeface="黑体" panose="02010609060101010101" pitchFamily="49" charset="-122"/>
              </a:endParaRPr>
            </a:p>
          </p:txBody>
        </p:sp>
        <p:sp>
          <p:nvSpPr>
            <p:cNvPr id="25" name="MH_Other_5">
              <a:extLst>
                <a:ext uri="{FF2B5EF4-FFF2-40B4-BE49-F238E27FC236}">
                  <a16:creationId xmlns:a16="http://schemas.microsoft.com/office/drawing/2014/main" id="{29AD524F-F6FF-281B-72E3-EB688FCDAE4D}"/>
                </a:ext>
              </a:extLst>
            </p:cNvPr>
            <p:cNvSpPr/>
            <p:nvPr>
              <p:custDataLst>
                <p:tags r:id="rId2"/>
              </p:custDataLst>
            </p:nvPr>
          </p:nvSpPr>
          <p:spPr>
            <a:xfrm flipH="1">
              <a:off x="11200669" y="694634"/>
              <a:ext cx="1006571" cy="971610"/>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2400" dirty="0">
                  <a:solidFill>
                    <a:srgbClr val="FFFFFF"/>
                  </a:solidFill>
                  <a:latin typeface="Times New Roman" panose="02020603050405020304" pitchFamily="18" charset="0"/>
                  <a:ea typeface="微软雅黑" panose="020B0503020204020204" charset="-122"/>
                </a:rPr>
                <a:t>10.3.3</a:t>
              </a:r>
              <a:endParaRPr lang="zh-CN" altLang="en-US" sz="2400" dirty="0">
                <a:solidFill>
                  <a:srgbClr val="FFFFFF"/>
                </a:solidFill>
                <a:latin typeface="Times New Roman" panose="02020603050405020304" pitchFamily="18" charset="0"/>
                <a:ea typeface="微软雅黑" panose="020B0503020204020204" charset="-122"/>
              </a:endParaRPr>
            </a:p>
          </p:txBody>
        </p:sp>
        <p:sp>
          <p:nvSpPr>
            <p:cNvPr id="26" name="MH_Other_6">
              <a:extLst>
                <a:ext uri="{FF2B5EF4-FFF2-40B4-BE49-F238E27FC236}">
                  <a16:creationId xmlns:a16="http://schemas.microsoft.com/office/drawing/2014/main" id="{7913EBB7-C2DD-9E7B-9ABC-469A8CC03912}"/>
                </a:ext>
              </a:extLst>
            </p:cNvPr>
            <p:cNvSpPr/>
            <p:nvPr>
              <p:custDataLst>
                <p:tags r:id="rId3"/>
              </p:custDataLst>
            </p:nvPr>
          </p:nvSpPr>
          <p:spPr>
            <a:xfrm flipH="1">
              <a:off x="10703596" y="694054"/>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Tree>
    <p:extLst>
      <p:ext uri="{BB962C8B-B14F-4D97-AF65-F5344CB8AC3E}">
        <p14:creationId xmlns:p14="http://schemas.microsoft.com/office/powerpoint/2010/main" val="1644958395"/>
      </p:ext>
    </p:extLst>
  </p:cSld>
  <p:clrMapOvr>
    <a:masterClrMapping/>
  </p:clrMapOvr>
</p:sld>
</file>

<file path=ppt/slides/slide4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A2F4DB35-D5A7-1DD2-DF27-7D0E121D09DC}"/>
              </a:ext>
            </a:extLst>
          </p:cNvPr>
          <p:cNvSpPr txBox="1"/>
          <p:nvPr/>
        </p:nvSpPr>
        <p:spPr>
          <a:xfrm>
            <a:off x="768000" y="1281953"/>
            <a:ext cx="10656000" cy="584775"/>
          </a:xfrm>
          <a:prstGeom prst="rect">
            <a:avLst/>
          </a:prstGeom>
          <a:noFill/>
        </p:spPr>
        <p:txBody>
          <a:bodyPr wrap="square" rtlCol="0">
            <a:spAutoFit/>
          </a:bodyPr>
          <a:lstStyle/>
          <a:p>
            <a:pPr algn="l"/>
            <a:r>
              <a:rPr lang="zh-CN" altLang="en-US" sz="1600" dirty="0"/>
              <a:t>分类</a:t>
            </a:r>
            <a:r>
              <a:rPr lang="en-US" altLang="zh-CN" sz="1600" dirty="0"/>
              <a:t>3</a:t>
            </a:r>
            <a:r>
              <a:rPr lang="zh-CN" altLang="en-US" sz="1600" dirty="0"/>
              <a:t>：凸显模型 </a:t>
            </a:r>
            <a:r>
              <a:rPr lang="en-US" altLang="zh-CN" sz="1600" dirty="0"/>
              <a:t>Salience Model</a:t>
            </a:r>
            <a:r>
              <a:rPr lang="zh-CN" altLang="en-US" sz="1600" dirty="0"/>
              <a:t> 的分类结果。它基于权力、合法性和紧迫性这三个维度，将干系人划分为</a:t>
            </a:r>
            <a:r>
              <a:rPr lang="en-US" altLang="zh-CN" sz="1600" dirty="0"/>
              <a:t>7</a:t>
            </a:r>
            <a:r>
              <a:rPr lang="zh-CN" altLang="en-US" sz="1600" dirty="0"/>
              <a:t>种具体的类型，并为每种类型提供了对应的管理策略。</a:t>
            </a:r>
          </a:p>
        </p:txBody>
      </p:sp>
      <p:grpSp>
        <p:nvGrpSpPr>
          <p:cNvPr id="4" name="组合 3">
            <a:extLst>
              <a:ext uri="{FF2B5EF4-FFF2-40B4-BE49-F238E27FC236}">
                <a16:creationId xmlns:a16="http://schemas.microsoft.com/office/drawing/2014/main" id="{F3EF9F5A-D78C-844C-9899-0D562EB4515B}"/>
              </a:ext>
            </a:extLst>
          </p:cNvPr>
          <p:cNvGrpSpPr/>
          <p:nvPr/>
        </p:nvGrpSpPr>
        <p:grpSpPr>
          <a:xfrm>
            <a:off x="7860623" y="310613"/>
            <a:ext cx="4331377" cy="973455"/>
            <a:chOff x="7875863" y="694054"/>
            <a:chExt cx="4331377" cy="973455"/>
          </a:xfrm>
        </p:grpSpPr>
        <p:sp>
          <p:nvSpPr>
            <p:cNvPr id="5" name="MH_SubTitle_2">
              <a:extLst>
                <a:ext uri="{FF2B5EF4-FFF2-40B4-BE49-F238E27FC236}">
                  <a16:creationId xmlns:a16="http://schemas.microsoft.com/office/drawing/2014/main" id="{1B9D5272-A576-D418-87A2-D0B5CBB44422}"/>
                </a:ext>
              </a:extLst>
            </p:cNvPr>
            <p:cNvSpPr/>
            <p:nvPr>
              <p:custDataLst>
                <p:tags r:id="rId1"/>
              </p:custDataLst>
            </p:nvPr>
          </p:nvSpPr>
          <p:spPr>
            <a:xfrm flipH="1">
              <a:off x="7875863" y="817315"/>
              <a:ext cx="2829510" cy="733252"/>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b="1" dirty="0">
                  <a:solidFill>
                    <a:schemeClr val="bg1"/>
                  </a:solidFill>
                  <a:latin typeface="微软雅黑" panose="020B0503020204020204" charset="-122"/>
                  <a:ea typeface="微软雅黑" panose="020B0503020204020204" charset="-122"/>
                  <a:cs typeface="黑体" panose="02010609060101010101" pitchFamily="49" charset="-122"/>
                </a:rPr>
                <a:t>干系人分类</a:t>
              </a:r>
              <a:endParaRPr lang="en-US" altLang="zh-CN" b="1" dirty="0">
                <a:solidFill>
                  <a:schemeClr val="bg1"/>
                </a:solidFill>
                <a:latin typeface="微软雅黑" panose="020B0503020204020204" charset="-122"/>
                <a:ea typeface="微软雅黑" panose="020B0503020204020204" charset="-122"/>
                <a:cs typeface="黑体" panose="02010609060101010101" pitchFamily="49" charset="-122"/>
              </a:endParaRPr>
            </a:p>
            <a:p>
              <a:pPr algn="ctr"/>
              <a:r>
                <a:rPr lang="en-US" altLang="zh-CN" sz="1400" dirty="0">
                  <a:solidFill>
                    <a:schemeClr val="bg1"/>
                  </a:solidFill>
                </a:rPr>
                <a:t>Categorize Stakeholders</a:t>
              </a:r>
              <a:endParaRPr lang="zh-CN" altLang="en-US" b="1" dirty="0">
                <a:solidFill>
                  <a:schemeClr val="bg1"/>
                </a:solidFill>
                <a:latin typeface="微软雅黑" panose="020B0503020204020204" charset="-122"/>
                <a:ea typeface="微软雅黑" panose="020B0503020204020204" charset="-122"/>
                <a:cs typeface="黑体" panose="02010609060101010101" pitchFamily="49" charset="-122"/>
              </a:endParaRPr>
            </a:p>
          </p:txBody>
        </p:sp>
        <p:sp>
          <p:nvSpPr>
            <p:cNvPr id="6" name="MH_Other_5">
              <a:extLst>
                <a:ext uri="{FF2B5EF4-FFF2-40B4-BE49-F238E27FC236}">
                  <a16:creationId xmlns:a16="http://schemas.microsoft.com/office/drawing/2014/main" id="{6298DE3C-4688-9721-5A3E-3AC3A9CF8FDC}"/>
                </a:ext>
              </a:extLst>
            </p:cNvPr>
            <p:cNvSpPr/>
            <p:nvPr>
              <p:custDataLst>
                <p:tags r:id="rId2"/>
              </p:custDataLst>
            </p:nvPr>
          </p:nvSpPr>
          <p:spPr>
            <a:xfrm flipH="1">
              <a:off x="11200669" y="694634"/>
              <a:ext cx="1006571" cy="971610"/>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2400" dirty="0">
                  <a:solidFill>
                    <a:srgbClr val="FFFFFF"/>
                  </a:solidFill>
                  <a:latin typeface="Times New Roman" panose="02020603050405020304" pitchFamily="18" charset="0"/>
                  <a:ea typeface="微软雅黑" panose="020B0503020204020204" charset="-122"/>
                </a:rPr>
                <a:t>10.3.3</a:t>
              </a:r>
              <a:endParaRPr lang="zh-CN" altLang="en-US" sz="2400" dirty="0">
                <a:solidFill>
                  <a:srgbClr val="FFFFFF"/>
                </a:solidFill>
                <a:latin typeface="Times New Roman" panose="02020603050405020304" pitchFamily="18" charset="0"/>
                <a:ea typeface="微软雅黑" panose="020B0503020204020204" charset="-122"/>
              </a:endParaRPr>
            </a:p>
          </p:txBody>
        </p:sp>
        <p:sp>
          <p:nvSpPr>
            <p:cNvPr id="7" name="MH_Other_6">
              <a:extLst>
                <a:ext uri="{FF2B5EF4-FFF2-40B4-BE49-F238E27FC236}">
                  <a16:creationId xmlns:a16="http://schemas.microsoft.com/office/drawing/2014/main" id="{5753A796-971E-CF7B-4C48-5473BA3CDC1C}"/>
                </a:ext>
              </a:extLst>
            </p:cNvPr>
            <p:cNvSpPr/>
            <p:nvPr>
              <p:custDataLst>
                <p:tags r:id="rId3"/>
              </p:custDataLst>
            </p:nvPr>
          </p:nvSpPr>
          <p:spPr>
            <a:xfrm flipH="1">
              <a:off x="10703596" y="694054"/>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graphicFrame>
        <p:nvGraphicFramePr>
          <p:cNvPr id="8" name="表格 7">
            <a:extLst>
              <a:ext uri="{FF2B5EF4-FFF2-40B4-BE49-F238E27FC236}">
                <a16:creationId xmlns:a16="http://schemas.microsoft.com/office/drawing/2014/main" id="{AEA204C8-01D2-3A71-5EB7-030421027E11}"/>
              </a:ext>
            </a:extLst>
          </p:cNvPr>
          <p:cNvGraphicFramePr>
            <a:graphicFrameLocks noGrp="1"/>
          </p:cNvGraphicFramePr>
          <p:nvPr>
            <p:extLst>
              <p:ext uri="{D42A27DB-BD31-4B8C-83A1-F6EECF244321}">
                <p14:modId xmlns:p14="http://schemas.microsoft.com/office/powerpoint/2010/main" val="2019316733"/>
              </p:ext>
            </p:extLst>
          </p:nvPr>
        </p:nvGraphicFramePr>
        <p:xfrm>
          <a:off x="768000" y="2137886"/>
          <a:ext cx="10656000" cy="3441776"/>
        </p:xfrm>
        <a:graphic>
          <a:graphicData uri="http://schemas.openxmlformats.org/drawingml/2006/table">
            <a:tbl>
              <a:tblPr/>
              <a:tblGrid>
                <a:gridCol w="936000">
                  <a:extLst>
                    <a:ext uri="{9D8B030D-6E8A-4147-A177-3AD203B41FA5}">
                      <a16:colId xmlns:a16="http://schemas.microsoft.com/office/drawing/2014/main" val="588671106"/>
                    </a:ext>
                  </a:extLst>
                </a:gridCol>
                <a:gridCol w="1440000">
                  <a:extLst>
                    <a:ext uri="{9D8B030D-6E8A-4147-A177-3AD203B41FA5}">
                      <a16:colId xmlns:a16="http://schemas.microsoft.com/office/drawing/2014/main" val="8341012"/>
                    </a:ext>
                  </a:extLst>
                </a:gridCol>
                <a:gridCol w="720000">
                  <a:extLst>
                    <a:ext uri="{9D8B030D-6E8A-4147-A177-3AD203B41FA5}">
                      <a16:colId xmlns:a16="http://schemas.microsoft.com/office/drawing/2014/main" val="1652470088"/>
                    </a:ext>
                  </a:extLst>
                </a:gridCol>
                <a:gridCol w="720000">
                  <a:extLst>
                    <a:ext uri="{9D8B030D-6E8A-4147-A177-3AD203B41FA5}">
                      <a16:colId xmlns:a16="http://schemas.microsoft.com/office/drawing/2014/main" val="3461184430"/>
                    </a:ext>
                  </a:extLst>
                </a:gridCol>
                <a:gridCol w="720000">
                  <a:extLst>
                    <a:ext uri="{9D8B030D-6E8A-4147-A177-3AD203B41FA5}">
                      <a16:colId xmlns:a16="http://schemas.microsoft.com/office/drawing/2014/main" val="978557188"/>
                    </a:ext>
                  </a:extLst>
                </a:gridCol>
                <a:gridCol w="6120000">
                  <a:extLst>
                    <a:ext uri="{9D8B030D-6E8A-4147-A177-3AD203B41FA5}">
                      <a16:colId xmlns:a16="http://schemas.microsoft.com/office/drawing/2014/main" val="1865647089"/>
                    </a:ext>
                  </a:extLst>
                </a:gridCol>
              </a:tblGrid>
              <a:tr h="132658">
                <a:tc>
                  <a:txBody>
                    <a:bodyPr/>
                    <a:lstStyle/>
                    <a:p>
                      <a:pPr algn="l">
                        <a:buNone/>
                      </a:pPr>
                      <a:r>
                        <a:rPr lang="zh-CN" sz="1400" dirty="0">
                          <a:solidFill>
                            <a:schemeClr val="bg1"/>
                          </a:solidFill>
                        </a:rPr>
                        <a:t>中文名称</a:t>
                      </a:r>
                    </a:p>
                  </a:txBody>
                  <a:tcPr marL="30171" marR="30171" marT="15086" marB="15086" anchor="ctr">
                    <a:lnL>
                      <a:noFill/>
                    </a:lnL>
                    <a:lnR>
                      <a:noFill/>
                    </a:lnR>
                    <a:lnT>
                      <a:noFill/>
                    </a:lnT>
                    <a:lnB>
                      <a:noFill/>
                    </a:lnB>
                    <a:solidFill>
                      <a:srgbClr val="0D8BB3"/>
                    </a:solidFill>
                  </a:tcPr>
                </a:tc>
                <a:tc>
                  <a:txBody>
                    <a:bodyPr/>
                    <a:lstStyle/>
                    <a:p>
                      <a:pPr algn="l">
                        <a:buNone/>
                      </a:pPr>
                      <a:r>
                        <a:rPr lang="zh-CN" sz="1400" dirty="0">
                          <a:solidFill>
                            <a:schemeClr val="bg1"/>
                          </a:solidFill>
                        </a:rPr>
                        <a:t>英文名称</a:t>
                      </a:r>
                    </a:p>
                  </a:txBody>
                  <a:tcPr marL="30171" marR="30171" marT="15086" marB="15086" anchor="ctr">
                    <a:lnL>
                      <a:noFill/>
                    </a:lnL>
                    <a:lnR>
                      <a:noFill/>
                    </a:lnR>
                    <a:lnT>
                      <a:noFill/>
                    </a:lnT>
                    <a:lnB>
                      <a:noFill/>
                    </a:lnB>
                    <a:solidFill>
                      <a:srgbClr val="0D8BB3"/>
                    </a:solidFill>
                  </a:tcPr>
                </a:tc>
                <a:tc>
                  <a:txBody>
                    <a:bodyPr/>
                    <a:lstStyle/>
                    <a:p>
                      <a:pPr algn="ctr">
                        <a:buNone/>
                      </a:pPr>
                      <a:r>
                        <a:rPr lang="zh-CN" sz="1400" dirty="0">
                          <a:solidFill>
                            <a:schemeClr val="bg1"/>
                          </a:solidFill>
                        </a:rPr>
                        <a:t>权力</a:t>
                      </a:r>
                    </a:p>
                  </a:txBody>
                  <a:tcPr marL="30171" marR="30171" marT="15086" marB="15086" anchor="ctr">
                    <a:lnL>
                      <a:noFill/>
                    </a:lnL>
                    <a:lnR>
                      <a:noFill/>
                    </a:lnR>
                    <a:lnT>
                      <a:noFill/>
                    </a:lnT>
                    <a:lnB>
                      <a:noFill/>
                    </a:lnB>
                    <a:solidFill>
                      <a:srgbClr val="0D8BB3"/>
                    </a:solidFill>
                  </a:tcPr>
                </a:tc>
                <a:tc>
                  <a:txBody>
                    <a:bodyPr/>
                    <a:lstStyle/>
                    <a:p>
                      <a:pPr algn="ctr">
                        <a:buNone/>
                      </a:pPr>
                      <a:r>
                        <a:rPr lang="zh-CN" sz="1400" dirty="0">
                          <a:solidFill>
                            <a:schemeClr val="bg1"/>
                          </a:solidFill>
                        </a:rPr>
                        <a:t>合法性</a:t>
                      </a:r>
                    </a:p>
                  </a:txBody>
                  <a:tcPr marL="30171" marR="30171" marT="15086" marB="15086" anchor="ctr">
                    <a:lnL>
                      <a:noFill/>
                    </a:lnL>
                    <a:lnR>
                      <a:noFill/>
                    </a:lnR>
                    <a:lnT>
                      <a:noFill/>
                    </a:lnT>
                    <a:lnB>
                      <a:noFill/>
                    </a:lnB>
                    <a:solidFill>
                      <a:srgbClr val="0D8BB3"/>
                    </a:solidFill>
                  </a:tcPr>
                </a:tc>
                <a:tc>
                  <a:txBody>
                    <a:bodyPr/>
                    <a:lstStyle/>
                    <a:p>
                      <a:pPr algn="ctr">
                        <a:buNone/>
                      </a:pPr>
                      <a:r>
                        <a:rPr lang="zh-CN" sz="1400" dirty="0">
                          <a:solidFill>
                            <a:schemeClr val="bg1"/>
                          </a:solidFill>
                        </a:rPr>
                        <a:t>紧迫性</a:t>
                      </a:r>
                    </a:p>
                  </a:txBody>
                  <a:tcPr marL="30171" marR="30171" marT="15086" marB="15086" anchor="ctr">
                    <a:lnL>
                      <a:noFill/>
                    </a:lnL>
                    <a:lnR>
                      <a:noFill/>
                    </a:lnR>
                    <a:lnT>
                      <a:noFill/>
                    </a:lnT>
                    <a:lnB>
                      <a:noFill/>
                    </a:lnB>
                    <a:solidFill>
                      <a:srgbClr val="0D8BB3"/>
                    </a:solidFill>
                  </a:tcPr>
                </a:tc>
                <a:tc>
                  <a:txBody>
                    <a:bodyPr/>
                    <a:lstStyle/>
                    <a:p>
                      <a:pPr algn="l">
                        <a:buNone/>
                      </a:pPr>
                      <a:r>
                        <a:rPr lang="zh-CN" sz="1400" dirty="0">
                          <a:solidFill>
                            <a:schemeClr val="bg1"/>
                          </a:solidFill>
                        </a:rPr>
                        <a:t>特征与管理策略</a:t>
                      </a:r>
                    </a:p>
                  </a:txBody>
                  <a:tcPr marL="30171" marR="30171" marT="15086" marB="15086" anchor="ctr">
                    <a:lnL>
                      <a:noFill/>
                    </a:lnL>
                    <a:lnR>
                      <a:noFill/>
                    </a:lnR>
                    <a:lnT>
                      <a:noFill/>
                    </a:lnT>
                    <a:lnB>
                      <a:noFill/>
                    </a:lnB>
                    <a:solidFill>
                      <a:srgbClr val="0D8BB3"/>
                    </a:solidFill>
                  </a:tcPr>
                </a:tc>
                <a:extLst>
                  <a:ext uri="{0D108BD9-81ED-4DB2-BD59-A6C34878D82A}">
                    <a16:rowId xmlns:a16="http://schemas.microsoft.com/office/drawing/2014/main" val="4055872269"/>
                  </a:ext>
                </a:extLst>
              </a:tr>
              <a:tr h="248881">
                <a:tc>
                  <a:txBody>
                    <a:bodyPr/>
                    <a:lstStyle/>
                    <a:p>
                      <a:pPr algn="l">
                        <a:buNone/>
                      </a:pPr>
                      <a:r>
                        <a:rPr lang="zh-CN" sz="1400" dirty="0"/>
                        <a:t>潜伏型</a:t>
                      </a:r>
                    </a:p>
                  </a:txBody>
                  <a:tcPr marL="30171" marR="30171" marT="15086" marB="15086"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l">
                        <a:buNone/>
                      </a:pPr>
                      <a:r>
                        <a:rPr lang="zh-CN" sz="1400" dirty="0"/>
                        <a:t>Dormant</a:t>
                      </a:r>
                    </a:p>
                  </a:txBody>
                  <a:tcPr marL="30171" marR="30171" marT="15086" marB="15086"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a:buNone/>
                      </a:pPr>
                      <a:r>
                        <a:rPr lang="zh-CN" altLang="en-US" sz="1400" dirty="0"/>
                        <a:t>√</a:t>
                      </a:r>
                    </a:p>
                  </a:txBody>
                  <a:tcPr marL="30171" marR="30171" marT="15086" marB="15086"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a:buNone/>
                      </a:pPr>
                      <a:r>
                        <a:rPr lang="en-US" altLang="zh-CN" sz="1400" dirty="0"/>
                        <a:t>×</a:t>
                      </a:r>
                      <a:endParaRPr lang="zh-CN" altLang="en-US" sz="1400" dirty="0"/>
                    </a:p>
                  </a:txBody>
                  <a:tcPr marL="30171" marR="30171" marT="15086" marB="15086"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a:buNone/>
                      </a:pPr>
                      <a:r>
                        <a:rPr lang="en-US" altLang="zh-CN" sz="1400" noProof="0" dirty="0"/>
                        <a:t>×</a:t>
                      </a:r>
                      <a:endParaRPr lang="zh-CN" altLang="en-US" sz="1400" dirty="0"/>
                    </a:p>
                  </a:txBody>
                  <a:tcPr marL="30171" marR="30171" marT="15086" marB="15086"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l">
                        <a:buNone/>
                      </a:pPr>
                      <a:r>
                        <a:rPr lang="zh-CN" sz="1400" dirty="0"/>
                        <a:t>特征：拥有权力但处于“休眠”状态，不主动使用</a:t>
                      </a:r>
                      <a:br>
                        <a:rPr lang="zh-CN" sz="1400" dirty="0"/>
                      </a:br>
                      <a:r>
                        <a:rPr lang="zh-CN" sz="1400" dirty="0"/>
                        <a:t>策略：监控。防止其被唤醒后对项目造成冲击</a:t>
                      </a:r>
                    </a:p>
                  </a:txBody>
                  <a:tcPr marL="30171" marR="30171" marT="15086" marB="15086" anchor="ctr">
                    <a:lnL>
                      <a:noFill/>
                    </a:lnL>
                    <a:lnR>
                      <a:noFill/>
                    </a:lnR>
                    <a:lnT>
                      <a:noFill/>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39468412"/>
                  </a:ext>
                </a:extLst>
              </a:tr>
              <a:tr h="248881">
                <a:tc>
                  <a:txBody>
                    <a:bodyPr/>
                    <a:lstStyle/>
                    <a:p>
                      <a:pPr algn="l">
                        <a:buNone/>
                      </a:pPr>
                      <a:r>
                        <a:rPr lang="zh-CN" sz="1400" dirty="0"/>
                        <a:t>随意型</a:t>
                      </a:r>
                    </a:p>
                  </a:txBody>
                  <a:tcPr marL="30171" marR="30171" marT="15086" marB="15086"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zh-CN" sz="1400" dirty="0"/>
                        <a:t>Discretionary</a:t>
                      </a:r>
                    </a:p>
                  </a:txBody>
                  <a:tcPr marL="30171" marR="30171" marT="15086" marB="15086"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en-US" altLang="zh-CN" sz="1400" dirty="0"/>
                        <a:t>×</a:t>
                      </a:r>
                      <a:endParaRPr lang="zh-CN" altLang="en-US" sz="1400" dirty="0"/>
                    </a:p>
                  </a:txBody>
                  <a:tcPr marL="30171" marR="30171" marT="15086" marB="15086"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zh-CN" altLang="en-US" sz="1400" dirty="0"/>
                        <a:t>√</a:t>
                      </a:r>
                      <a:endParaRPr lang="zh-CN" altLang="zh-CN" sz="1400" dirty="0"/>
                    </a:p>
                  </a:txBody>
                  <a:tcPr marL="30171" marR="30171" marT="15086" marB="15086"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en-US" altLang="zh-CN" sz="1400" noProof="0" dirty="0"/>
                        <a:t>×</a:t>
                      </a:r>
                      <a:endParaRPr lang="zh-CN" altLang="en-US" sz="1400" dirty="0"/>
                    </a:p>
                  </a:txBody>
                  <a:tcPr marL="30171" marR="30171" marT="15086" marB="15086"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zh-CN" sz="1400" dirty="0"/>
                        <a:t>特征：身份合法，但无权也不急。如一般的行业协会</a:t>
                      </a:r>
                      <a:r>
                        <a:rPr lang="zh-CN" altLang="en-US" sz="1400" dirty="0"/>
                        <a:t>；临时求助的同事</a:t>
                      </a:r>
                      <a:br>
                        <a:rPr lang="zh-CN" sz="1400" dirty="0"/>
                      </a:br>
                      <a:r>
                        <a:rPr lang="zh-CN" sz="1400" dirty="0"/>
                        <a:t>策略：适度关注。保持良好关系即可，投入精力最少</a:t>
                      </a:r>
                    </a:p>
                  </a:txBody>
                  <a:tcPr marL="30171" marR="30171" marT="15086" marB="15086"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1220803"/>
                  </a:ext>
                </a:extLst>
              </a:tr>
              <a:tr h="248881">
                <a:tc>
                  <a:txBody>
                    <a:bodyPr/>
                    <a:lstStyle/>
                    <a:p>
                      <a:pPr algn="l">
                        <a:buNone/>
                      </a:pPr>
                      <a:r>
                        <a:rPr lang="zh-CN" sz="1400" dirty="0"/>
                        <a:t>苛求型</a:t>
                      </a:r>
                    </a:p>
                  </a:txBody>
                  <a:tcPr marL="30171" marR="30171" marT="15086" marB="15086"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zh-CN" sz="1400" dirty="0"/>
                        <a:t>Demanding</a:t>
                      </a:r>
                    </a:p>
                  </a:txBody>
                  <a:tcPr marL="30171" marR="30171" marT="15086" marB="15086"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en-US" altLang="zh-CN" sz="1400" noProof="0" dirty="0"/>
                        <a:t>×</a:t>
                      </a:r>
                      <a:endParaRPr lang="zh-CN" altLang="en-US" sz="1400" dirty="0"/>
                    </a:p>
                  </a:txBody>
                  <a:tcPr marL="30171" marR="30171" marT="15086" marB="15086"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en-US" altLang="zh-CN" sz="1400" noProof="0" dirty="0"/>
                        <a:t>×</a:t>
                      </a:r>
                      <a:endParaRPr lang="zh-CN" altLang="en-US" sz="1400" dirty="0"/>
                    </a:p>
                  </a:txBody>
                  <a:tcPr marL="30171" marR="30171" marT="15086" marB="15086"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zh-CN" altLang="en-US" sz="1400" dirty="0"/>
                        <a:t>√</a:t>
                      </a:r>
                      <a:endParaRPr lang="zh-CN" altLang="zh-CN" sz="1400" dirty="0"/>
                    </a:p>
                  </a:txBody>
                  <a:tcPr marL="30171" marR="30171" marT="15086" marB="15086"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zh-CN" sz="1400" dirty="0"/>
                        <a:t>特征：无权、不合法、紧急。如无理取闹的投诉者</a:t>
                      </a:r>
                      <a:br>
                        <a:rPr lang="zh-CN" sz="1400" dirty="0"/>
                      </a:br>
                      <a:r>
                        <a:rPr lang="zh-CN" sz="1400" dirty="0"/>
                        <a:t>策略：谨慎处理。他们只有“噪音”，需避免其诉求干扰核心目标</a:t>
                      </a:r>
                    </a:p>
                  </a:txBody>
                  <a:tcPr marL="30171" marR="30171" marT="15086" marB="15086"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2866429"/>
                  </a:ext>
                </a:extLst>
              </a:tr>
              <a:tr h="248881">
                <a:tc>
                  <a:txBody>
                    <a:bodyPr/>
                    <a:lstStyle/>
                    <a:p>
                      <a:pPr algn="l">
                        <a:buNone/>
                      </a:pPr>
                      <a:r>
                        <a:rPr lang="zh-CN" sz="1400" dirty="0"/>
                        <a:t>主导型</a:t>
                      </a:r>
                    </a:p>
                  </a:txBody>
                  <a:tcPr marL="30171" marR="30171" marT="15086" marB="15086"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zh-CN" sz="1400" dirty="0"/>
                        <a:t>Dominant</a:t>
                      </a:r>
                    </a:p>
                  </a:txBody>
                  <a:tcPr marL="30171" marR="30171" marT="15086" marB="15086"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zh-CN" altLang="en-US" sz="1400" dirty="0"/>
                        <a:t>√</a:t>
                      </a:r>
                      <a:endParaRPr lang="zh-CN" altLang="zh-CN" sz="1400" dirty="0"/>
                    </a:p>
                  </a:txBody>
                  <a:tcPr marL="30171" marR="30171" marT="15086" marB="15086"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zh-CN" altLang="en-US" sz="1400" dirty="0"/>
                        <a:t>√</a:t>
                      </a:r>
                      <a:endParaRPr lang="zh-CN" altLang="zh-CN" sz="1400" dirty="0"/>
                    </a:p>
                  </a:txBody>
                  <a:tcPr marL="30171" marR="30171" marT="15086" marB="15086"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en-US" altLang="zh-CN" sz="1400" dirty="0"/>
                        <a:t>×</a:t>
                      </a:r>
                      <a:endParaRPr lang="zh-CN" altLang="en-US" sz="1400" dirty="0"/>
                    </a:p>
                  </a:txBody>
                  <a:tcPr marL="30171" marR="30171" marT="15086" marB="15086"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zh-CN" sz="1400" dirty="0"/>
                        <a:t>特征：拥有权力和合法性，是项目的“主人”。如项目发起人</a:t>
                      </a:r>
                      <a:br>
                        <a:rPr lang="zh-CN" sz="1400" dirty="0"/>
                      </a:br>
                      <a:r>
                        <a:rPr lang="zh-CN" sz="1400" dirty="0"/>
                        <a:t>策略：重点管理。确保其需求得到满足，是项目成功的关键</a:t>
                      </a:r>
                    </a:p>
                  </a:txBody>
                  <a:tcPr marL="30171" marR="30171" marT="15086" marB="15086"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51082939"/>
                  </a:ext>
                </a:extLst>
              </a:tr>
              <a:tr h="248881">
                <a:tc>
                  <a:txBody>
                    <a:bodyPr/>
                    <a:lstStyle/>
                    <a:p>
                      <a:pPr algn="l">
                        <a:buNone/>
                      </a:pPr>
                      <a:r>
                        <a:rPr lang="zh-CN" sz="1400" dirty="0"/>
                        <a:t>危险型</a:t>
                      </a:r>
                    </a:p>
                  </a:txBody>
                  <a:tcPr marL="30171" marR="30171" marT="15086" marB="15086"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zh-CN" sz="1400" dirty="0"/>
                        <a:t>Dangerous</a:t>
                      </a:r>
                    </a:p>
                  </a:txBody>
                  <a:tcPr marL="30171" marR="30171" marT="15086" marB="15086"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zh-CN" altLang="en-US" sz="1400" dirty="0"/>
                        <a:t>√</a:t>
                      </a:r>
                      <a:endParaRPr lang="zh-CN" altLang="zh-CN" sz="1400" dirty="0"/>
                    </a:p>
                  </a:txBody>
                  <a:tcPr marL="30171" marR="30171" marT="15086" marB="15086"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en-US" altLang="zh-CN" sz="1400" dirty="0"/>
                        <a:t>×</a:t>
                      </a:r>
                      <a:endParaRPr lang="zh-CN" altLang="en-US" sz="1400" dirty="0"/>
                    </a:p>
                  </a:txBody>
                  <a:tcPr marL="30171" marR="30171" marT="15086" marB="15086"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noProof="0" dirty="0"/>
                        <a:t>√</a:t>
                      </a:r>
                      <a:endParaRPr lang="zh-CN" altLang="zh-CN" sz="1400" noProof="0" dirty="0"/>
                    </a:p>
                  </a:txBody>
                  <a:tcPr marL="30171" marR="30171" marT="15086" marB="15086"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zh-CN" sz="1400" dirty="0"/>
                        <a:t>特征：有权且紧急，但诉求不合法。如激进的抗议团体</a:t>
                      </a:r>
                      <a:r>
                        <a:rPr lang="zh-CN" altLang="en-US" sz="1400" dirty="0"/>
                        <a:t>、竞争对手</a:t>
                      </a:r>
                      <a:br>
                        <a:rPr lang="zh-CN" sz="1400" dirty="0"/>
                      </a:br>
                      <a:r>
                        <a:rPr lang="zh-CN" sz="1400" dirty="0"/>
                        <a:t>策略：防御。需高度警惕，防止其对项目造成破坏</a:t>
                      </a:r>
                    </a:p>
                  </a:txBody>
                  <a:tcPr marL="30171" marR="30171" marT="15086" marB="15086"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3562034"/>
                  </a:ext>
                </a:extLst>
              </a:tr>
              <a:tr h="365104">
                <a:tc>
                  <a:txBody>
                    <a:bodyPr/>
                    <a:lstStyle/>
                    <a:p>
                      <a:pPr algn="l">
                        <a:buNone/>
                      </a:pPr>
                      <a:r>
                        <a:rPr lang="zh-CN" sz="1400" dirty="0"/>
                        <a:t>依赖型</a:t>
                      </a:r>
                    </a:p>
                  </a:txBody>
                  <a:tcPr marL="30171" marR="30171" marT="15086" marB="15086"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zh-CN" sz="1400" dirty="0"/>
                        <a:t>Dependent</a:t>
                      </a:r>
                    </a:p>
                  </a:txBody>
                  <a:tcPr marL="30171" marR="30171" marT="15086" marB="15086"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en-US" altLang="zh-CN" sz="1400" dirty="0"/>
                        <a:t>×</a:t>
                      </a:r>
                      <a:endParaRPr lang="zh-CN" altLang="en-US" sz="1400" dirty="0"/>
                    </a:p>
                  </a:txBody>
                  <a:tcPr marL="30171" marR="30171" marT="15086" marB="15086"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noProof="0" dirty="0"/>
                        <a:t>√</a:t>
                      </a:r>
                      <a:endParaRPr lang="zh-CN" altLang="zh-CN" sz="1400" noProof="0" dirty="0"/>
                    </a:p>
                  </a:txBody>
                  <a:tcPr marL="30171" marR="30171" marT="15086" marB="15086"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noProof="0" dirty="0"/>
                        <a:t>√</a:t>
                      </a:r>
                      <a:endParaRPr lang="zh-CN" altLang="zh-CN" sz="1400" noProof="0" dirty="0"/>
                    </a:p>
                  </a:txBody>
                  <a:tcPr marL="30171" marR="30171" marT="15086" marB="15086"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zh-CN" sz="1400" dirty="0"/>
                        <a:t>特征：无权，有合法的紧急诉求，需依赖他人实现。如受项目影响的社区</a:t>
                      </a:r>
                      <a:br>
                        <a:rPr lang="zh-CN" sz="1400" dirty="0"/>
                      </a:br>
                      <a:r>
                        <a:rPr lang="zh-CN" sz="1400" dirty="0"/>
                        <a:t>策略：赋能或代言。帮助他们找到有权力的人来解决问题</a:t>
                      </a:r>
                    </a:p>
                  </a:txBody>
                  <a:tcPr marL="30171" marR="30171" marT="15086" marB="15086"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70388659"/>
                  </a:ext>
                </a:extLst>
              </a:tr>
              <a:tr h="248881">
                <a:tc>
                  <a:txBody>
                    <a:bodyPr/>
                    <a:lstStyle/>
                    <a:p>
                      <a:pPr algn="l">
                        <a:buNone/>
                      </a:pPr>
                      <a:r>
                        <a:rPr lang="zh-CN" sz="1400" dirty="0"/>
                        <a:t>确定型</a:t>
                      </a:r>
                    </a:p>
                  </a:txBody>
                  <a:tcPr marL="30171" marR="30171" marT="15086" marB="15086"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zh-CN" sz="1400" dirty="0"/>
                        <a:t>Definitive</a:t>
                      </a:r>
                    </a:p>
                  </a:txBody>
                  <a:tcPr marL="30171" marR="30171" marT="15086" marB="15086"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zh-CN" altLang="en-US" sz="1400" dirty="0"/>
                        <a:t>√</a:t>
                      </a:r>
                      <a:endParaRPr lang="zh-CN" altLang="zh-CN" sz="1400" dirty="0"/>
                    </a:p>
                  </a:txBody>
                  <a:tcPr marL="30171" marR="30171" marT="15086" marB="15086"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noProof="0" dirty="0"/>
                        <a:t>√</a:t>
                      </a:r>
                      <a:endParaRPr lang="zh-CN" altLang="zh-CN" sz="1400" noProof="0" dirty="0"/>
                    </a:p>
                  </a:txBody>
                  <a:tcPr marL="30171" marR="30171" marT="15086" marB="15086"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noProof="0" dirty="0"/>
                        <a:t>√</a:t>
                      </a:r>
                      <a:endParaRPr lang="zh-CN" altLang="zh-CN" sz="1400" noProof="0" dirty="0"/>
                    </a:p>
                  </a:txBody>
                  <a:tcPr marL="30171" marR="30171" marT="15086" marB="15086"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zh-CN" sz="1400" dirty="0"/>
                        <a:t>特征：三者俱全，是项目最核心的干系人</a:t>
                      </a:r>
                      <a:br>
                        <a:rPr lang="zh-CN" sz="1400" dirty="0"/>
                      </a:br>
                      <a:r>
                        <a:rPr lang="zh-CN" sz="1400" dirty="0"/>
                        <a:t>策略：最高优先级管理。必须投入最多精力，确保其完全满意</a:t>
                      </a:r>
                    </a:p>
                  </a:txBody>
                  <a:tcPr marL="30171" marR="30171" marT="15086" marB="15086"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0018579"/>
                  </a:ext>
                </a:extLst>
              </a:tr>
            </a:tbl>
          </a:graphicData>
        </a:graphic>
      </p:graphicFrame>
    </p:spTree>
    <p:extLst>
      <p:ext uri="{BB962C8B-B14F-4D97-AF65-F5344CB8AC3E}">
        <p14:creationId xmlns:p14="http://schemas.microsoft.com/office/powerpoint/2010/main" val="2346495244"/>
      </p:ext>
    </p:extLst>
  </p:cSld>
  <p:clrMapOvr>
    <a:masterClrMapping/>
  </p:clrMapOvr>
</p:sld>
</file>

<file path=ppt/slides/slide4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9A05F-BF87-49D8-4636-9E69F4C4D969}"/>
            </a:ext>
          </a:extLst>
        </p:cNvPr>
        <p:cNvGrpSpPr/>
        <p:nvPr/>
      </p:nvGrpSpPr>
      <p:grpSpPr>
        <a:xfrm>
          <a:off x="0" y="0"/>
          <a:ext cx="0" cy="0"/>
          <a:chOff x="0" y="0"/>
          <a:chExt cx="0" cy="0"/>
        </a:xfrm>
      </p:grpSpPr>
      <p:grpSp>
        <p:nvGrpSpPr>
          <p:cNvPr id="3" name="组合 2">
            <a:extLst>
              <a:ext uri="{FF2B5EF4-FFF2-40B4-BE49-F238E27FC236}">
                <a16:creationId xmlns:a16="http://schemas.microsoft.com/office/drawing/2014/main" id="{AE432AF7-25D0-B73F-44FB-A20815E0B9DF}"/>
              </a:ext>
            </a:extLst>
          </p:cNvPr>
          <p:cNvGrpSpPr/>
          <p:nvPr/>
        </p:nvGrpSpPr>
        <p:grpSpPr>
          <a:xfrm>
            <a:off x="7860623" y="310613"/>
            <a:ext cx="4331377" cy="973455"/>
            <a:chOff x="7875863" y="694054"/>
            <a:chExt cx="4331377" cy="973455"/>
          </a:xfrm>
        </p:grpSpPr>
        <p:sp>
          <p:nvSpPr>
            <p:cNvPr id="4" name="MH_SubTitle_2">
              <a:extLst>
                <a:ext uri="{FF2B5EF4-FFF2-40B4-BE49-F238E27FC236}">
                  <a16:creationId xmlns:a16="http://schemas.microsoft.com/office/drawing/2014/main" id="{16744C92-9015-7B6C-0F8A-FD2503C3055B}"/>
                </a:ext>
              </a:extLst>
            </p:cNvPr>
            <p:cNvSpPr/>
            <p:nvPr>
              <p:custDataLst>
                <p:tags r:id="rId1"/>
              </p:custDataLst>
            </p:nvPr>
          </p:nvSpPr>
          <p:spPr>
            <a:xfrm flipH="1">
              <a:off x="7875863" y="817315"/>
              <a:ext cx="2829510" cy="733252"/>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b="1" dirty="0">
                  <a:solidFill>
                    <a:schemeClr val="bg1"/>
                  </a:solidFill>
                  <a:latin typeface="微软雅黑" panose="020B0503020204020204" charset="-122"/>
                  <a:ea typeface="微软雅黑" panose="020B0503020204020204" charset="-122"/>
                  <a:cs typeface="黑体" panose="02010609060101010101" pitchFamily="49" charset="-122"/>
                </a:rPr>
                <a:t>制定管理计划</a:t>
              </a:r>
              <a:endParaRPr lang="en-US" altLang="zh-CN" b="1" dirty="0">
                <a:solidFill>
                  <a:schemeClr val="bg1"/>
                </a:solidFill>
                <a:latin typeface="微软雅黑" panose="020B0503020204020204" charset="-122"/>
                <a:ea typeface="微软雅黑" panose="020B0503020204020204" charset="-122"/>
                <a:cs typeface="黑体" panose="02010609060101010101" pitchFamily="49" charset="-122"/>
              </a:endParaRPr>
            </a:p>
            <a:p>
              <a:pPr algn="ctr"/>
              <a:r>
                <a:rPr lang="en-US" altLang="zh-CN" sz="1400" dirty="0">
                  <a:solidFill>
                    <a:schemeClr val="bg1"/>
                  </a:solidFill>
                </a:rPr>
                <a:t>Develop Plan</a:t>
              </a:r>
              <a:endParaRPr lang="zh-CN" altLang="en-US" b="1" dirty="0">
                <a:solidFill>
                  <a:schemeClr val="bg1"/>
                </a:solidFill>
                <a:latin typeface="微软雅黑" panose="020B0503020204020204" charset="-122"/>
                <a:ea typeface="微软雅黑" panose="020B0503020204020204" charset="-122"/>
                <a:cs typeface="黑体" panose="02010609060101010101" pitchFamily="49" charset="-122"/>
              </a:endParaRPr>
            </a:p>
          </p:txBody>
        </p:sp>
        <p:sp>
          <p:nvSpPr>
            <p:cNvPr id="6" name="MH_Other_5">
              <a:extLst>
                <a:ext uri="{FF2B5EF4-FFF2-40B4-BE49-F238E27FC236}">
                  <a16:creationId xmlns:a16="http://schemas.microsoft.com/office/drawing/2014/main" id="{5CA70D4A-2E6A-B1F8-DACF-628D4AB6FD3A}"/>
                </a:ext>
              </a:extLst>
            </p:cNvPr>
            <p:cNvSpPr/>
            <p:nvPr>
              <p:custDataLst>
                <p:tags r:id="rId2"/>
              </p:custDataLst>
            </p:nvPr>
          </p:nvSpPr>
          <p:spPr>
            <a:xfrm flipH="1">
              <a:off x="11200669" y="694634"/>
              <a:ext cx="1006571" cy="971610"/>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2400" dirty="0">
                  <a:solidFill>
                    <a:srgbClr val="FFFFFF"/>
                  </a:solidFill>
                  <a:latin typeface="Times New Roman" panose="02020603050405020304" pitchFamily="18" charset="0"/>
                  <a:ea typeface="微软雅黑" panose="020B0503020204020204" charset="-122"/>
                </a:rPr>
                <a:t>10.3.4</a:t>
              </a:r>
              <a:endParaRPr lang="zh-CN" altLang="en-US" sz="2400" dirty="0">
                <a:solidFill>
                  <a:srgbClr val="FFFFFF"/>
                </a:solidFill>
                <a:latin typeface="Times New Roman" panose="02020603050405020304" pitchFamily="18" charset="0"/>
                <a:ea typeface="微软雅黑" panose="020B0503020204020204" charset="-122"/>
              </a:endParaRPr>
            </a:p>
          </p:txBody>
        </p:sp>
        <p:sp>
          <p:nvSpPr>
            <p:cNvPr id="7" name="MH_Other_6">
              <a:extLst>
                <a:ext uri="{FF2B5EF4-FFF2-40B4-BE49-F238E27FC236}">
                  <a16:creationId xmlns:a16="http://schemas.microsoft.com/office/drawing/2014/main" id="{86101403-A65F-9F46-C075-B6080713A0E0}"/>
                </a:ext>
              </a:extLst>
            </p:cNvPr>
            <p:cNvSpPr/>
            <p:nvPr>
              <p:custDataLst>
                <p:tags r:id="rId3"/>
              </p:custDataLst>
            </p:nvPr>
          </p:nvSpPr>
          <p:spPr>
            <a:xfrm flipH="1">
              <a:off x="10703596" y="694054"/>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graphicFrame>
        <p:nvGraphicFramePr>
          <p:cNvPr id="2" name="表格 1">
            <a:extLst>
              <a:ext uri="{FF2B5EF4-FFF2-40B4-BE49-F238E27FC236}">
                <a16:creationId xmlns:a16="http://schemas.microsoft.com/office/drawing/2014/main" id="{CF8D8AEB-2D3E-6AE3-4B28-CEEDA4B2ADCA}"/>
              </a:ext>
            </a:extLst>
          </p:cNvPr>
          <p:cNvGraphicFramePr>
            <a:graphicFrameLocks noGrp="1"/>
          </p:cNvGraphicFramePr>
          <p:nvPr>
            <p:extLst>
              <p:ext uri="{D42A27DB-BD31-4B8C-83A1-F6EECF244321}">
                <p14:modId xmlns:p14="http://schemas.microsoft.com/office/powerpoint/2010/main" val="2323522282"/>
              </p:ext>
            </p:extLst>
          </p:nvPr>
        </p:nvGraphicFramePr>
        <p:xfrm>
          <a:off x="1596000" y="2687320"/>
          <a:ext cx="9000000" cy="1854200"/>
        </p:xfrm>
        <a:graphic>
          <a:graphicData uri="http://schemas.openxmlformats.org/drawingml/2006/table">
            <a:tbl>
              <a:tblPr firstRow="1" bandRow="1">
                <a:tableStyleId>{5C22544A-7EE6-4342-B048-85BDC9FD1C3A}</a:tableStyleId>
              </a:tblPr>
              <a:tblGrid>
                <a:gridCol w="1080000">
                  <a:extLst>
                    <a:ext uri="{9D8B030D-6E8A-4147-A177-3AD203B41FA5}">
                      <a16:colId xmlns:a16="http://schemas.microsoft.com/office/drawing/2014/main" val="2270674849"/>
                    </a:ext>
                  </a:extLst>
                </a:gridCol>
                <a:gridCol w="1080000">
                  <a:extLst>
                    <a:ext uri="{9D8B030D-6E8A-4147-A177-3AD203B41FA5}">
                      <a16:colId xmlns:a16="http://schemas.microsoft.com/office/drawing/2014/main" val="4126390358"/>
                    </a:ext>
                  </a:extLst>
                </a:gridCol>
                <a:gridCol w="1080000">
                  <a:extLst>
                    <a:ext uri="{9D8B030D-6E8A-4147-A177-3AD203B41FA5}">
                      <a16:colId xmlns:a16="http://schemas.microsoft.com/office/drawing/2014/main" val="1456913735"/>
                    </a:ext>
                  </a:extLst>
                </a:gridCol>
                <a:gridCol w="1800000">
                  <a:extLst>
                    <a:ext uri="{9D8B030D-6E8A-4147-A177-3AD203B41FA5}">
                      <a16:colId xmlns:a16="http://schemas.microsoft.com/office/drawing/2014/main" val="645738005"/>
                    </a:ext>
                  </a:extLst>
                </a:gridCol>
                <a:gridCol w="1800000">
                  <a:extLst>
                    <a:ext uri="{9D8B030D-6E8A-4147-A177-3AD203B41FA5}">
                      <a16:colId xmlns:a16="http://schemas.microsoft.com/office/drawing/2014/main" val="2030135695"/>
                    </a:ext>
                  </a:extLst>
                </a:gridCol>
                <a:gridCol w="1080000">
                  <a:extLst>
                    <a:ext uri="{9D8B030D-6E8A-4147-A177-3AD203B41FA5}">
                      <a16:colId xmlns:a16="http://schemas.microsoft.com/office/drawing/2014/main" val="698798626"/>
                    </a:ext>
                  </a:extLst>
                </a:gridCol>
                <a:gridCol w="1080000">
                  <a:extLst>
                    <a:ext uri="{9D8B030D-6E8A-4147-A177-3AD203B41FA5}">
                      <a16:colId xmlns:a16="http://schemas.microsoft.com/office/drawing/2014/main" val="3998835690"/>
                    </a:ext>
                  </a:extLst>
                </a:gridCol>
              </a:tblGrid>
              <a:tr h="370840">
                <a:tc>
                  <a:txBody>
                    <a:bodyPr/>
                    <a:lstStyle/>
                    <a:p>
                      <a:pPr algn="ctr"/>
                      <a:r>
                        <a:rPr lang="zh-CN" altLang="en-US" sz="1600" b="0" dirty="0">
                          <a:solidFill>
                            <a:schemeClr val="tx1"/>
                          </a:solidFill>
                        </a:rPr>
                        <a:t>干系人</a:t>
                      </a:r>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zh-CN" altLang="en-US" sz="1600" b="0" dirty="0">
                          <a:solidFill>
                            <a:schemeClr val="tx1"/>
                          </a:solidFill>
                        </a:rPr>
                        <a:t>联系方式</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zh-CN" altLang="en-US" sz="1600" b="0" dirty="0">
                          <a:solidFill>
                            <a:schemeClr val="tx1"/>
                          </a:solidFill>
                        </a:rPr>
                        <a:t>角色</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zh-CN" altLang="en-US" sz="1600" b="0" dirty="0">
                          <a:solidFill>
                            <a:schemeClr val="tx1"/>
                          </a:solidFill>
                        </a:rPr>
                        <a:t>目前参与程度</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zh-CN" altLang="en-US" sz="1600" b="0" dirty="0">
                          <a:solidFill>
                            <a:schemeClr val="tx1"/>
                          </a:solidFill>
                        </a:rPr>
                        <a:t>需要的参与程度</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zh-CN" altLang="en-US" sz="1600" b="0" dirty="0">
                          <a:solidFill>
                            <a:schemeClr val="tx1"/>
                          </a:solidFill>
                        </a:rPr>
                        <a:t>规划</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zh-CN" altLang="en-US" sz="1600" b="0" dirty="0">
                          <a:solidFill>
                            <a:schemeClr val="tx1"/>
                          </a:solidFill>
                        </a:rPr>
                        <a:t>备注</a:t>
                      </a:r>
                    </a:p>
                  </a:txBody>
                  <a:tcPr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26502216"/>
                  </a:ext>
                </a:extLst>
              </a:tr>
              <a:tr h="370840">
                <a:tc>
                  <a:txBody>
                    <a:bodyPr/>
                    <a:lstStyle/>
                    <a:p>
                      <a:pPr algn="ctr"/>
                      <a:r>
                        <a:rPr lang="zh-CN" altLang="en-US" sz="1600" b="0" dirty="0">
                          <a:solidFill>
                            <a:schemeClr val="tx1"/>
                          </a:solidFill>
                        </a:rPr>
                        <a:t>张三</a:t>
                      </a:r>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b="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b="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zh-CN" altLang="en-US" sz="1600" b="0" dirty="0">
                          <a:solidFill>
                            <a:schemeClr val="tx1"/>
                          </a:solidFill>
                        </a:rPr>
                        <a:t>不支持</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b="0" dirty="0">
                          <a:solidFill>
                            <a:schemeClr val="tx1"/>
                          </a:solidFill>
                        </a:rPr>
                        <a:t>支持</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b="0" dirty="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b="0" dirty="0">
                        <a:solidFill>
                          <a:schemeClr val="tx1"/>
                        </a:solidFill>
                      </a:endParaRPr>
                    </a:p>
                  </a:txBody>
                  <a:tcPr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9537833"/>
                  </a:ext>
                </a:extLst>
              </a:tr>
              <a:tr h="370840">
                <a:tc>
                  <a:txBody>
                    <a:bodyPr/>
                    <a:lstStyle/>
                    <a:p>
                      <a:pPr algn="ctr"/>
                      <a:r>
                        <a:rPr lang="zh-CN" altLang="en-US" sz="1600" b="0" dirty="0">
                          <a:solidFill>
                            <a:schemeClr val="tx1"/>
                          </a:solidFill>
                        </a:rPr>
                        <a:t>李四</a:t>
                      </a:r>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b="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b="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zh-CN" altLang="en-US" sz="1600" b="0" dirty="0">
                          <a:solidFill>
                            <a:schemeClr val="tx1"/>
                          </a:solidFill>
                        </a:rPr>
                        <a:t>中立</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prstClr val="black"/>
                          </a:solidFill>
                          <a:effectLst/>
                          <a:uLnTx/>
                          <a:uFillTx/>
                          <a:latin typeface="Montserrat"/>
                          <a:ea typeface="微软雅黑 Light"/>
                          <a:cs typeface="+mn-cs"/>
                        </a:rPr>
                        <a:t>支持</a:t>
                      </a:r>
                      <a:endParaRPr kumimoji="0" lang="zh-CN" altLang="en-US" sz="1600" b="0" i="0" u="none" strike="noStrike" kern="1200" cap="none" spc="0" normalizeH="0" baseline="0" noProof="0" dirty="0">
                        <a:ln>
                          <a:noFill/>
                        </a:ln>
                        <a:solidFill>
                          <a:prstClr val="black"/>
                        </a:solidFill>
                        <a:effectLst/>
                        <a:uLnTx/>
                        <a:uFillTx/>
                        <a:latin typeface="Montserrat"/>
                        <a:ea typeface="微软雅黑 Light"/>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b="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b="0">
                        <a:solidFill>
                          <a:schemeClr val="tx1"/>
                        </a:solidFill>
                      </a:endParaRPr>
                    </a:p>
                  </a:txBody>
                  <a:tcPr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28382616"/>
                  </a:ext>
                </a:extLst>
              </a:tr>
              <a:tr h="370840">
                <a:tc>
                  <a:txBody>
                    <a:bodyPr/>
                    <a:lstStyle/>
                    <a:p>
                      <a:pPr algn="ctr"/>
                      <a:r>
                        <a:rPr lang="zh-CN" altLang="en-US" sz="1600" b="0" dirty="0">
                          <a:solidFill>
                            <a:schemeClr val="tx1"/>
                          </a:solidFill>
                        </a:rPr>
                        <a:t>冷军</a:t>
                      </a:r>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b="0" dirty="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b="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prstClr val="black"/>
                          </a:solidFill>
                          <a:effectLst/>
                          <a:uLnTx/>
                          <a:uFillTx/>
                          <a:latin typeface="Montserrat"/>
                          <a:ea typeface="微软雅黑 Light"/>
                          <a:cs typeface="+mn-cs"/>
                        </a:rPr>
                        <a:t>支持</a:t>
                      </a:r>
                      <a:endParaRPr kumimoji="0" lang="zh-CN" altLang="en-US" sz="1600" b="0" i="0" u="none" strike="noStrike" kern="1200" cap="none" spc="0" normalizeH="0" baseline="0" noProof="0" dirty="0">
                        <a:ln>
                          <a:noFill/>
                        </a:ln>
                        <a:solidFill>
                          <a:prstClr val="black"/>
                        </a:solidFill>
                        <a:effectLst/>
                        <a:uLnTx/>
                        <a:uFillTx/>
                        <a:latin typeface="Montserrat"/>
                        <a:ea typeface="微软雅黑 Light"/>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solidFill>
                          <a:effectLst/>
                          <a:uLnTx/>
                          <a:uFillTx/>
                          <a:latin typeface="Montserrat"/>
                          <a:ea typeface="微软雅黑 Light"/>
                          <a:cs typeface="+mn-cs"/>
                        </a:rPr>
                        <a:t>支持</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b="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b="0" dirty="0">
                        <a:solidFill>
                          <a:schemeClr val="tx1"/>
                        </a:solidFill>
                      </a:endParaRPr>
                    </a:p>
                  </a:txBody>
                  <a:tcPr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1479913"/>
                  </a:ext>
                </a:extLst>
              </a:tr>
              <a:tr h="370840">
                <a:tc>
                  <a:txBody>
                    <a:bodyPr/>
                    <a:lstStyle/>
                    <a:p>
                      <a:pPr algn="ctr"/>
                      <a:r>
                        <a:rPr lang="zh-CN" altLang="en-US" sz="1600" b="0" dirty="0">
                          <a:solidFill>
                            <a:schemeClr val="tx1"/>
                          </a:solidFill>
                        </a:rPr>
                        <a:t>彭蔓</a:t>
                      </a:r>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600" b="0" dirty="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600" b="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solidFill>
                          <a:effectLst/>
                          <a:uLnTx/>
                          <a:uFillTx/>
                          <a:latin typeface="Montserrat"/>
                          <a:ea typeface="微软雅黑 Light"/>
                          <a:cs typeface="+mn-cs"/>
                        </a:rPr>
                        <a:t>支持</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b="0" dirty="0">
                          <a:solidFill>
                            <a:schemeClr val="tx1"/>
                          </a:solidFill>
                        </a:rPr>
                        <a:t>中立</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600" b="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600" b="0" dirty="0">
                        <a:solidFill>
                          <a:schemeClr val="tx1"/>
                        </a:solidFill>
                      </a:endParaRPr>
                    </a:p>
                  </a:txBody>
                  <a:tcPr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1458428"/>
                  </a:ext>
                </a:extLst>
              </a:tr>
            </a:tbl>
          </a:graphicData>
        </a:graphic>
      </p:graphicFrame>
    </p:spTree>
    <p:extLst>
      <p:ext uri="{BB962C8B-B14F-4D97-AF65-F5344CB8AC3E}">
        <p14:creationId xmlns:p14="http://schemas.microsoft.com/office/powerpoint/2010/main" val="3057783487"/>
      </p:ext>
    </p:extLst>
  </p:cSld>
  <p:clrMapOvr>
    <a:masterClrMapping/>
  </p:clrMapOvr>
</p:sld>
</file>

<file path=ppt/slides/slide4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9E2F8-E351-8038-B236-994AE6AFF5FD}"/>
            </a:ext>
          </a:extLst>
        </p:cNvPr>
        <p:cNvGrpSpPr/>
        <p:nvPr/>
      </p:nvGrpSpPr>
      <p:grpSpPr>
        <a:xfrm>
          <a:off x="0" y="0"/>
          <a:ext cx="0" cy="0"/>
          <a:chOff x="0" y="0"/>
          <a:chExt cx="0" cy="0"/>
        </a:xfrm>
      </p:grpSpPr>
      <p:grpSp>
        <p:nvGrpSpPr>
          <p:cNvPr id="3" name="组合 2">
            <a:extLst>
              <a:ext uri="{FF2B5EF4-FFF2-40B4-BE49-F238E27FC236}">
                <a16:creationId xmlns:a16="http://schemas.microsoft.com/office/drawing/2014/main" id="{2B1C897F-7D2E-32D2-37F4-0951754D05C3}"/>
              </a:ext>
            </a:extLst>
          </p:cNvPr>
          <p:cNvGrpSpPr/>
          <p:nvPr/>
        </p:nvGrpSpPr>
        <p:grpSpPr>
          <a:xfrm>
            <a:off x="7860623" y="310613"/>
            <a:ext cx="4331377" cy="973455"/>
            <a:chOff x="7875863" y="694054"/>
            <a:chExt cx="4331377" cy="973455"/>
          </a:xfrm>
        </p:grpSpPr>
        <p:sp>
          <p:nvSpPr>
            <p:cNvPr id="4" name="MH_SubTitle_2">
              <a:extLst>
                <a:ext uri="{FF2B5EF4-FFF2-40B4-BE49-F238E27FC236}">
                  <a16:creationId xmlns:a16="http://schemas.microsoft.com/office/drawing/2014/main" id="{6131FFA9-898D-2F48-0643-B49CD660900C}"/>
                </a:ext>
              </a:extLst>
            </p:cNvPr>
            <p:cNvSpPr/>
            <p:nvPr>
              <p:custDataLst>
                <p:tags r:id="rId1"/>
              </p:custDataLst>
            </p:nvPr>
          </p:nvSpPr>
          <p:spPr>
            <a:xfrm flipH="1">
              <a:off x="7875863" y="817315"/>
              <a:ext cx="2829510" cy="733252"/>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b="1" dirty="0">
                  <a:solidFill>
                    <a:schemeClr val="bg1"/>
                  </a:solidFill>
                  <a:latin typeface="微软雅黑" panose="020B0503020204020204" charset="-122"/>
                  <a:ea typeface="微软雅黑" panose="020B0503020204020204" charset="-122"/>
                  <a:cs typeface="黑体" panose="02010609060101010101" pitchFamily="49" charset="-122"/>
                </a:rPr>
                <a:t>制定管理计划</a:t>
              </a:r>
              <a:endParaRPr lang="en-US" altLang="zh-CN" b="1" dirty="0">
                <a:solidFill>
                  <a:schemeClr val="bg1"/>
                </a:solidFill>
                <a:latin typeface="微软雅黑" panose="020B0503020204020204" charset="-122"/>
                <a:ea typeface="微软雅黑" panose="020B0503020204020204" charset="-122"/>
                <a:cs typeface="黑体" panose="02010609060101010101" pitchFamily="49" charset="-122"/>
              </a:endParaRPr>
            </a:p>
            <a:p>
              <a:pPr algn="ctr"/>
              <a:r>
                <a:rPr lang="en-US" altLang="zh-CN" sz="1400" dirty="0">
                  <a:solidFill>
                    <a:schemeClr val="bg1"/>
                  </a:solidFill>
                </a:rPr>
                <a:t>Develop Plan</a:t>
              </a:r>
              <a:endParaRPr lang="zh-CN" altLang="en-US" b="1" dirty="0">
                <a:solidFill>
                  <a:schemeClr val="bg1"/>
                </a:solidFill>
                <a:latin typeface="微软雅黑" panose="020B0503020204020204" charset="-122"/>
                <a:ea typeface="微软雅黑" panose="020B0503020204020204" charset="-122"/>
                <a:cs typeface="黑体" panose="02010609060101010101" pitchFamily="49" charset="-122"/>
              </a:endParaRPr>
            </a:p>
          </p:txBody>
        </p:sp>
        <p:sp>
          <p:nvSpPr>
            <p:cNvPr id="6" name="MH_Other_5">
              <a:extLst>
                <a:ext uri="{FF2B5EF4-FFF2-40B4-BE49-F238E27FC236}">
                  <a16:creationId xmlns:a16="http://schemas.microsoft.com/office/drawing/2014/main" id="{BE88D4FE-5FDC-D722-438E-61F61C08ABA8}"/>
                </a:ext>
              </a:extLst>
            </p:cNvPr>
            <p:cNvSpPr/>
            <p:nvPr>
              <p:custDataLst>
                <p:tags r:id="rId2"/>
              </p:custDataLst>
            </p:nvPr>
          </p:nvSpPr>
          <p:spPr>
            <a:xfrm flipH="1">
              <a:off x="11200669" y="694634"/>
              <a:ext cx="1006571" cy="971610"/>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2400" dirty="0">
                  <a:solidFill>
                    <a:srgbClr val="FFFFFF"/>
                  </a:solidFill>
                  <a:latin typeface="Times New Roman" panose="02020603050405020304" pitchFamily="18" charset="0"/>
                  <a:ea typeface="微软雅黑" panose="020B0503020204020204" charset="-122"/>
                </a:rPr>
                <a:t>10.3.4</a:t>
              </a:r>
              <a:endParaRPr lang="zh-CN" altLang="en-US" sz="2400" dirty="0">
                <a:solidFill>
                  <a:srgbClr val="FFFFFF"/>
                </a:solidFill>
                <a:latin typeface="Times New Roman" panose="02020603050405020304" pitchFamily="18" charset="0"/>
                <a:ea typeface="微软雅黑" panose="020B0503020204020204" charset="-122"/>
              </a:endParaRPr>
            </a:p>
          </p:txBody>
        </p:sp>
        <p:sp>
          <p:nvSpPr>
            <p:cNvPr id="7" name="MH_Other_6">
              <a:extLst>
                <a:ext uri="{FF2B5EF4-FFF2-40B4-BE49-F238E27FC236}">
                  <a16:creationId xmlns:a16="http://schemas.microsoft.com/office/drawing/2014/main" id="{AB2BB33C-96EC-1332-7CA9-06A94B4E8193}"/>
                </a:ext>
              </a:extLst>
            </p:cNvPr>
            <p:cNvSpPr/>
            <p:nvPr>
              <p:custDataLst>
                <p:tags r:id="rId3"/>
              </p:custDataLst>
            </p:nvPr>
          </p:nvSpPr>
          <p:spPr>
            <a:xfrm flipH="1">
              <a:off x="10703596" y="694054"/>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8" name="文本框 7">
            <a:extLst>
              <a:ext uri="{FF2B5EF4-FFF2-40B4-BE49-F238E27FC236}">
                <a16:creationId xmlns:a16="http://schemas.microsoft.com/office/drawing/2014/main" id="{38A4E161-8BD6-E4BF-78AF-05D305ABDC85}"/>
              </a:ext>
            </a:extLst>
          </p:cNvPr>
          <p:cNvSpPr txBox="1"/>
          <p:nvPr/>
        </p:nvSpPr>
        <p:spPr>
          <a:xfrm>
            <a:off x="3400861" y="2046205"/>
            <a:ext cx="6046515" cy="830997"/>
          </a:xfrm>
          <a:prstGeom prst="rect">
            <a:avLst/>
          </a:prstGeom>
          <a:noFill/>
        </p:spPr>
        <p:txBody>
          <a:bodyPr wrap="square" rtlCol="0">
            <a:spAutoFit/>
          </a:bodyPr>
          <a:lstStyle/>
          <a:p>
            <a:pPr algn="l"/>
            <a:r>
              <a:rPr lang="zh-CN" altLang="en-US" sz="1600" dirty="0">
                <a:latin typeface="+mj-ea"/>
                <a:ea typeface="+mj-ea"/>
              </a:rPr>
              <a:t>差距分析与策略制定</a:t>
            </a:r>
          </a:p>
          <a:p>
            <a:pPr algn="l"/>
            <a:r>
              <a:rPr lang="zh-CN" altLang="en-US" sz="1600" dirty="0"/>
              <a:t>如果某高层是“中立”的（当前），但我们需要他“支持”（期望），策略就是：通过私下汇报项目价值，争取其背书</a:t>
            </a:r>
          </a:p>
        </p:txBody>
      </p:sp>
      <p:sp>
        <p:nvSpPr>
          <p:cNvPr id="9" name="文本框 8">
            <a:extLst>
              <a:ext uri="{FF2B5EF4-FFF2-40B4-BE49-F238E27FC236}">
                <a16:creationId xmlns:a16="http://schemas.microsoft.com/office/drawing/2014/main" id="{4472EED7-CB57-EBF4-C1D5-4AF461BC1D00}"/>
              </a:ext>
            </a:extLst>
          </p:cNvPr>
          <p:cNvSpPr txBox="1"/>
          <p:nvPr/>
        </p:nvSpPr>
        <p:spPr>
          <a:xfrm>
            <a:off x="3400861" y="3211617"/>
            <a:ext cx="4753224" cy="1077218"/>
          </a:xfrm>
          <a:prstGeom prst="rect">
            <a:avLst/>
          </a:prstGeom>
          <a:noFill/>
        </p:spPr>
        <p:txBody>
          <a:bodyPr wrap="none" rtlCol="0">
            <a:spAutoFit/>
          </a:bodyPr>
          <a:lstStyle/>
          <a:p>
            <a:pPr algn="l"/>
            <a:r>
              <a:rPr lang="zh-CN" altLang="en-US" sz="1600" dirty="0">
                <a:latin typeface="+mj-ea"/>
                <a:ea typeface="+mj-ea"/>
              </a:rPr>
              <a:t>制定沟通计划</a:t>
            </a:r>
          </a:p>
          <a:p>
            <a:pPr algn="l"/>
            <a:r>
              <a:rPr lang="zh-CN" altLang="en-US" sz="1600" dirty="0"/>
              <a:t>内容： 发什么？（进度报告、演示、原型）</a:t>
            </a:r>
          </a:p>
          <a:p>
            <a:pPr algn="l"/>
            <a:r>
              <a:rPr lang="zh-CN" altLang="en-US" sz="1600" dirty="0"/>
              <a:t>频率： 多久一次？（每周、每月、里程碑节点）</a:t>
            </a:r>
          </a:p>
          <a:p>
            <a:pPr algn="l"/>
            <a:r>
              <a:rPr lang="zh-CN" altLang="en-US" sz="1600" dirty="0"/>
              <a:t>方式： 怎么发？（邮件、面对面会议、正式公文）</a:t>
            </a:r>
          </a:p>
        </p:txBody>
      </p:sp>
      <p:sp>
        <p:nvSpPr>
          <p:cNvPr id="10" name="文本框 9">
            <a:extLst>
              <a:ext uri="{FF2B5EF4-FFF2-40B4-BE49-F238E27FC236}">
                <a16:creationId xmlns:a16="http://schemas.microsoft.com/office/drawing/2014/main" id="{1AF8F598-5896-63C0-2F6A-EF0A25671FE2}"/>
              </a:ext>
            </a:extLst>
          </p:cNvPr>
          <p:cNvSpPr txBox="1"/>
          <p:nvPr/>
        </p:nvSpPr>
        <p:spPr>
          <a:xfrm>
            <a:off x="3400861" y="4545106"/>
            <a:ext cx="4861955" cy="830997"/>
          </a:xfrm>
          <a:prstGeom prst="rect">
            <a:avLst/>
          </a:prstGeom>
          <a:noFill/>
        </p:spPr>
        <p:txBody>
          <a:bodyPr wrap="square" rtlCol="0">
            <a:spAutoFit/>
          </a:bodyPr>
          <a:lstStyle/>
          <a:p>
            <a:pPr algn="l"/>
            <a:r>
              <a:rPr lang="zh-CN" altLang="en-US" sz="1600" dirty="0">
                <a:latin typeface="+mj-ea"/>
                <a:ea typeface="+mj-ea"/>
              </a:rPr>
              <a:t>明确责任人</a:t>
            </a:r>
          </a:p>
          <a:p>
            <a:pPr algn="l"/>
            <a:r>
              <a:rPr lang="zh-CN" altLang="en-US" sz="1600" dirty="0"/>
              <a:t>谁负责去搞定这个干系人？（通常是项目经理搞定高层，技术负责人搞定技术干系人）</a:t>
            </a:r>
          </a:p>
        </p:txBody>
      </p:sp>
      <p:sp>
        <p:nvSpPr>
          <p:cNvPr id="14" name="椭圆 13">
            <a:extLst>
              <a:ext uri="{FF2B5EF4-FFF2-40B4-BE49-F238E27FC236}">
                <a16:creationId xmlns:a16="http://schemas.microsoft.com/office/drawing/2014/main" id="{A0C0DE54-F577-02AB-8453-378A837FAB23}"/>
              </a:ext>
            </a:extLst>
          </p:cNvPr>
          <p:cNvSpPr/>
          <p:nvPr/>
        </p:nvSpPr>
        <p:spPr>
          <a:xfrm>
            <a:off x="2533790" y="2040873"/>
            <a:ext cx="576000" cy="576000"/>
          </a:xfrm>
          <a:prstGeom prst="ellipse">
            <a:avLst/>
          </a:prstGeom>
          <a:solidFill>
            <a:schemeClr val="bg1"/>
          </a:solidFill>
          <a:ln>
            <a:solidFill>
              <a:srgbClr val="FE86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pic>
        <p:nvPicPr>
          <p:cNvPr id="20" name="图形 19" descr="层次结构">
            <a:extLst>
              <a:ext uri="{FF2B5EF4-FFF2-40B4-BE49-F238E27FC236}">
                <a16:creationId xmlns:a16="http://schemas.microsoft.com/office/drawing/2014/main" id="{32A9CE38-2E11-302B-3470-1A4732B9AAF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605790" y="2112873"/>
            <a:ext cx="432000" cy="432000"/>
          </a:xfrm>
          <a:prstGeom prst="rect">
            <a:avLst/>
          </a:prstGeom>
        </p:spPr>
      </p:pic>
      <p:sp>
        <p:nvSpPr>
          <p:cNvPr id="21" name="椭圆 20">
            <a:extLst>
              <a:ext uri="{FF2B5EF4-FFF2-40B4-BE49-F238E27FC236}">
                <a16:creationId xmlns:a16="http://schemas.microsoft.com/office/drawing/2014/main" id="{4C2F3012-51F5-4DFD-0180-EA78CE29FE3D}"/>
              </a:ext>
            </a:extLst>
          </p:cNvPr>
          <p:cNvSpPr/>
          <p:nvPr/>
        </p:nvSpPr>
        <p:spPr>
          <a:xfrm>
            <a:off x="2533790" y="4545106"/>
            <a:ext cx="576000" cy="576000"/>
          </a:xfrm>
          <a:prstGeom prst="ellipse">
            <a:avLst/>
          </a:prstGeom>
          <a:solidFill>
            <a:schemeClr val="bg1"/>
          </a:solidFill>
          <a:ln>
            <a:solidFill>
              <a:srgbClr val="0D8B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pic>
        <p:nvPicPr>
          <p:cNvPr id="23" name="图形 22" descr="牛仔">
            <a:extLst>
              <a:ext uri="{FF2B5EF4-FFF2-40B4-BE49-F238E27FC236}">
                <a16:creationId xmlns:a16="http://schemas.microsoft.com/office/drawing/2014/main" id="{96DBD010-17F1-CC73-C503-1380CAF7122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605790" y="4617106"/>
            <a:ext cx="432000" cy="432000"/>
          </a:xfrm>
          <a:prstGeom prst="rect">
            <a:avLst/>
          </a:prstGeom>
        </p:spPr>
      </p:pic>
      <p:sp>
        <p:nvSpPr>
          <p:cNvPr id="24" name="椭圆 23">
            <a:extLst>
              <a:ext uri="{FF2B5EF4-FFF2-40B4-BE49-F238E27FC236}">
                <a16:creationId xmlns:a16="http://schemas.microsoft.com/office/drawing/2014/main" id="{8189F8E1-05BF-5899-BADE-8D932EF3CF6B}"/>
              </a:ext>
            </a:extLst>
          </p:cNvPr>
          <p:cNvSpPr/>
          <p:nvPr/>
        </p:nvSpPr>
        <p:spPr>
          <a:xfrm>
            <a:off x="2533790" y="3211617"/>
            <a:ext cx="576000" cy="576000"/>
          </a:xfrm>
          <a:prstGeom prst="ellipse">
            <a:avLst/>
          </a:prstGeom>
          <a:solidFill>
            <a:schemeClr val="bg1"/>
          </a:solidFill>
          <a:ln>
            <a:solidFill>
              <a:srgbClr val="0192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pic>
        <p:nvPicPr>
          <p:cNvPr id="25" name="图形 24" descr="文档">
            <a:extLst>
              <a:ext uri="{FF2B5EF4-FFF2-40B4-BE49-F238E27FC236}">
                <a16:creationId xmlns:a16="http://schemas.microsoft.com/office/drawing/2014/main" id="{AA8B1694-E242-7CF3-4AE6-5FC3D0236AE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605790" y="3283617"/>
            <a:ext cx="432000" cy="432000"/>
          </a:xfrm>
          <a:prstGeom prst="rect">
            <a:avLst/>
          </a:prstGeom>
        </p:spPr>
      </p:pic>
    </p:spTree>
    <p:extLst>
      <p:ext uri="{BB962C8B-B14F-4D97-AF65-F5344CB8AC3E}">
        <p14:creationId xmlns:p14="http://schemas.microsoft.com/office/powerpoint/2010/main" val="2644748050"/>
      </p:ext>
    </p:extLst>
  </p:cSld>
  <p:clrMapOvr>
    <a:masterClrMapping/>
  </p:clrMapOvr>
</p:sld>
</file>

<file path=ppt/slides/slide4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265797FB-A1E8-F7E1-0454-92D563B8D941}"/>
              </a:ext>
            </a:extLst>
          </p:cNvPr>
          <p:cNvGraphicFramePr>
            <a:graphicFrameLocks noGrp="1"/>
          </p:cNvGraphicFramePr>
          <p:nvPr>
            <p:extLst>
              <p:ext uri="{D42A27DB-BD31-4B8C-83A1-F6EECF244321}">
                <p14:modId xmlns:p14="http://schemas.microsoft.com/office/powerpoint/2010/main" val="1736708508"/>
              </p:ext>
            </p:extLst>
          </p:nvPr>
        </p:nvGraphicFramePr>
        <p:xfrm>
          <a:off x="695326" y="2423160"/>
          <a:ext cx="10801348" cy="2011680"/>
        </p:xfrm>
        <a:graphic>
          <a:graphicData uri="http://schemas.openxmlformats.org/drawingml/2006/table">
            <a:tbl>
              <a:tblPr/>
              <a:tblGrid>
                <a:gridCol w="1558347">
                  <a:extLst>
                    <a:ext uri="{9D8B030D-6E8A-4147-A177-3AD203B41FA5}">
                      <a16:colId xmlns:a16="http://schemas.microsoft.com/office/drawing/2014/main" val="940821120"/>
                    </a:ext>
                  </a:extLst>
                </a:gridCol>
                <a:gridCol w="3417454">
                  <a:extLst>
                    <a:ext uri="{9D8B030D-6E8A-4147-A177-3AD203B41FA5}">
                      <a16:colId xmlns:a16="http://schemas.microsoft.com/office/drawing/2014/main" val="271537784"/>
                    </a:ext>
                  </a:extLst>
                </a:gridCol>
                <a:gridCol w="3125210">
                  <a:extLst>
                    <a:ext uri="{9D8B030D-6E8A-4147-A177-3AD203B41FA5}">
                      <a16:colId xmlns:a16="http://schemas.microsoft.com/office/drawing/2014/main" val="3530577363"/>
                    </a:ext>
                  </a:extLst>
                </a:gridCol>
                <a:gridCol w="2700337">
                  <a:extLst>
                    <a:ext uri="{9D8B030D-6E8A-4147-A177-3AD203B41FA5}">
                      <a16:colId xmlns:a16="http://schemas.microsoft.com/office/drawing/2014/main" val="1474297331"/>
                    </a:ext>
                  </a:extLst>
                </a:gridCol>
              </a:tblGrid>
              <a:tr h="129241">
                <a:tc>
                  <a:txBody>
                    <a:bodyPr/>
                    <a:lstStyle/>
                    <a:p>
                      <a:pPr algn="l">
                        <a:buNone/>
                      </a:pPr>
                      <a:r>
                        <a:rPr lang="zh-CN" altLang="en-US" sz="1600" dirty="0">
                          <a:solidFill>
                            <a:schemeClr val="bg1"/>
                          </a:solidFill>
                        </a:rPr>
                        <a:t>流程步骤</a:t>
                      </a:r>
                    </a:p>
                  </a:txBody>
                  <a:tcPr anchor="ctr">
                    <a:lnL>
                      <a:noFill/>
                    </a:lnL>
                    <a:lnR>
                      <a:noFill/>
                    </a:lnR>
                    <a:lnT>
                      <a:noFill/>
                    </a:lnT>
                    <a:lnB>
                      <a:noFill/>
                    </a:lnB>
                    <a:solidFill>
                      <a:srgbClr val="0D8BB3"/>
                    </a:solidFill>
                  </a:tcPr>
                </a:tc>
                <a:tc>
                  <a:txBody>
                    <a:bodyPr/>
                    <a:lstStyle/>
                    <a:p>
                      <a:pPr algn="l">
                        <a:buNone/>
                      </a:pPr>
                      <a:r>
                        <a:rPr lang="zh-CN" altLang="en-US" sz="1600" dirty="0">
                          <a:solidFill>
                            <a:schemeClr val="bg1"/>
                          </a:solidFill>
                        </a:rPr>
                        <a:t>核心动作</a:t>
                      </a:r>
                    </a:p>
                  </a:txBody>
                  <a:tcPr anchor="ctr">
                    <a:lnL>
                      <a:noFill/>
                    </a:lnL>
                    <a:lnR>
                      <a:noFill/>
                    </a:lnR>
                    <a:lnT>
                      <a:noFill/>
                    </a:lnT>
                    <a:lnB>
                      <a:noFill/>
                    </a:lnB>
                    <a:solidFill>
                      <a:srgbClr val="0D8BB3"/>
                    </a:solidFill>
                  </a:tcPr>
                </a:tc>
                <a:tc>
                  <a:txBody>
                    <a:bodyPr/>
                    <a:lstStyle/>
                    <a:p>
                      <a:pPr algn="l">
                        <a:buNone/>
                      </a:pPr>
                      <a:r>
                        <a:rPr lang="zh-CN" altLang="en-US" sz="1600" dirty="0">
                          <a:solidFill>
                            <a:schemeClr val="bg1"/>
                          </a:solidFill>
                        </a:rPr>
                        <a:t>关键工具</a:t>
                      </a:r>
                      <a:r>
                        <a:rPr lang="en-US" altLang="zh-CN" sz="1600" dirty="0">
                          <a:solidFill>
                            <a:schemeClr val="bg1"/>
                          </a:solidFill>
                        </a:rPr>
                        <a:t>/</a:t>
                      </a:r>
                      <a:r>
                        <a:rPr lang="zh-CN" altLang="en-US" sz="1600" dirty="0">
                          <a:solidFill>
                            <a:schemeClr val="bg1"/>
                          </a:solidFill>
                        </a:rPr>
                        <a:t>模型</a:t>
                      </a:r>
                    </a:p>
                  </a:txBody>
                  <a:tcPr anchor="ctr">
                    <a:lnL>
                      <a:noFill/>
                    </a:lnL>
                    <a:lnR>
                      <a:noFill/>
                    </a:lnR>
                    <a:lnT>
                      <a:noFill/>
                    </a:lnT>
                    <a:lnB>
                      <a:noFill/>
                    </a:lnB>
                    <a:solidFill>
                      <a:srgbClr val="0D8BB3"/>
                    </a:solidFill>
                  </a:tcPr>
                </a:tc>
                <a:tc>
                  <a:txBody>
                    <a:bodyPr/>
                    <a:lstStyle/>
                    <a:p>
                      <a:pPr algn="l">
                        <a:buNone/>
                      </a:pPr>
                      <a:r>
                        <a:rPr lang="zh-CN" altLang="en-US" sz="1600" dirty="0">
                          <a:solidFill>
                            <a:schemeClr val="bg1"/>
                          </a:solidFill>
                        </a:rPr>
                        <a:t>核心产出物</a:t>
                      </a:r>
                    </a:p>
                  </a:txBody>
                  <a:tcPr anchor="ctr">
                    <a:lnL>
                      <a:noFill/>
                    </a:lnL>
                    <a:lnR>
                      <a:noFill/>
                    </a:lnR>
                    <a:lnT>
                      <a:noFill/>
                    </a:lnT>
                    <a:lnB>
                      <a:noFill/>
                    </a:lnB>
                    <a:solidFill>
                      <a:srgbClr val="0D8BB3"/>
                    </a:solidFill>
                  </a:tcPr>
                </a:tc>
                <a:extLst>
                  <a:ext uri="{0D108BD9-81ED-4DB2-BD59-A6C34878D82A}">
                    <a16:rowId xmlns:a16="http://schemas.microsoft.com/office/drawing/2014/main" val="886073307"/>
                  </a:ext>
                </a:extLst>
              </a:tr>
              <a:tr h="129241">
                <a:tc>
                  <a:txBody>
                    <a:bodyPr/>
                    <a:lstStyle/>
                    <a:p>
                      <a:pPr algn="l">
                        <a:buNone/>
                      </a:pPr>
                      <a:r>
                        <a:rPr lang="en-US" altLang="zh-CN" sz="1600"/>
                        <a:t>1. </a:t>
                      </a:r>
                      <a:r>
                        <a:rPr lang="zh-CN" altLang="en-US" sz="1600"/>
                        <a:t>识别</a:t>
                      </a:r>
                    </a:p>
                  </a:txBody>
                  <a:tcPr anchor="ctr">
                    <a:lnL>
                      <a:noFill/>
                    </a:lnL>
                    <a:lnR>
                      <a:noFill/>
                    </a:lnR>
                    <a:lnT>
                      <a:noFill/>
                    </a:lnT>
                    <a:lnB>
                      <a:noFill/>
                    </a:lnB>
                    <a:noFill/>
                  </a:tcPr>
                </a:tc>
                <a:tc>
                  <a:txBody>
                    <a:bodyPr/>
                    <a:lstStyle/>
                    <a:p>
                      <a:pPr algn="l">
                        <a:buNone/>
                      </a:pPr>
                      <a:r>
                        <a:rPr lang="zh-CN" altLang="en-US" sz="1600" dirty="0"/>
                        <a:t>找人、找组织、找利益点</a:t>
                      </a:r>
                    </a:p>
                  </a:txBody>
                  <a:tcPr anchor="ctr">
                    <a:lnL>
                      <a:noFill/>
                    </a:lnL>
                    <a:lnR>
                      <a:noFill/>
                    </a:lnR>
                    <a:lnT>
                      <a:noFill/>
                    </a:lnT>
                    <a:lnB>
                      <a:noFill/>
                    </a:lnB>
                    <a:noFill/>
                  </a:tcPr>
                </a:tc>
                <a:tc>
                  <a:txBody>
                    <a:bodyPr/>
                    <a:lstStyle/>
                    <a:p>
                      <a:pPr algn="l">
                        <a:buNone/>
                      </a:pPr>
                      <a:r>
                        <a:rPr lang="zh-CN" altLang="en-US" sz="1600"/>
                        <a:t>组织图、头脑风暴</a:t>
                      </a:r>
                    </a:p>
                  </a:txBody>
                  <a:tcPr anchor="ctr">
                    <a:lnL>
                      <a:noFill/>
                    </a:lnL>
                    <a:lnR>
                      <a:noFill/>
                    </a:lnR>
                    <a:lnT>
                      <a:noFill/>
                    </a:lnT>
                    <a:lnB>
                      <a:noFill/>
                    </a:lnB>
                    <a:noFill/>
                  </a:tcPr>
                </a:tc>
                <a:tc>
                  <a:txBody>
                    <a:bodyPr/>
                    <a:lstStyle/>
                    <a:p>
                      <a:pPr algn="l">
                        <a:buNone/>
                      </a:pPr>
                      <a:r>
                        <a:rPr lang="zh-CN" altLang="en-US" sz="1600"/>
                        <a:t>干系人登记册 </a:t>
                      </a:r>
                      <a:r>
                        <a:rPr lang="en-US" altLang="zh-CN" sz="1600"/>
                        <a:t>(</a:t>
                      </a:r>
                      <a:r>
                        <a:rPr lang="zh-CN" altLang="en-US" sz="1600"/>
                        <a:t>初稿</a:t>
                      </a:r>
                      <a:r>
                        <a:rPr lang="en-US" altLang="zh-CN" sz="1600"/>
                        <a:t>)</a:t>
                      </a:r>
                    </a:p>
                  </a:txBody>
                  <a:tcPr anchor="ctr">
                    <a:lnL>
                      <a:noFill/>
                    </a:lnL>
                    <a:lnR>
                      <a:noFill/>
                    </a:lnR>
                    <a:lnT>
                      <a:noFill/>
                    </a:lnT>
                    <a:lnB>
                      <a:noFill/>
                    </a:lnB>
                    <a:noFill/>
                  </a:tcPr>
                </a:tc>
                <a:extLst>
                  <a:ext uri="{0D108BD9-81ED-4DB2-BD59-A6C34878D82A}">
                    <a16:rowId xmlns:a16="http://schemas.microsoft.com/office/drawing/2014/main" val="2427451464"/>
                  </a:ext>
                </a:extLst>
              </a:tr>
              <a:tr h="129241">
                <a:tc>
                  <a:txBody>
                    <a:bodyPr/>
                    <a:lstStyle/>
                    <a:p>
                      <a:pPr algn="l">
                        <a:buNone/>
                      </a:pPr>
                      <a:r>
                        <a:rPr lang="en-US" altLang="zh-CN" sz="1600" dirty="0"/>
                        <a:t>2. </a:t>
                      </a:r>
                      <a:r>
                        <a:rPr lang="zh-CN" altLang="en-US" sz="1600" dirty="0"/>
                        <a:t>分析</a:t>
                      </a:r>
                    </a:p>
                  </a:txBody>
                  <a:tcPr anchor="ctr">
                    <a:lnL>
                      <a:noFill/>
                    </a:lnL>
                    <a:lnR>
                      <a:noFill/>
                    </a:lnR>
                    <a:lnT>
                      <a:noFill/>
                    </a:lnT>
                    <a:lnB>
                      <a:noFill/>
                    </a:lnB>
                    <a:noFill/>
                  </a:tcPr>
                </a:tc>
                <a:tc>
                  <a:txBody>
                    <a:bodyPr/>
                    <a:lstStyle/>
                    <a:p>
                      <a:pPr algn="l">
                        <a:buNone/>
                      </a:pPr>
                      <a:r>
                        <a:rPr lang="zh-CN" altLang="en-US" sz="1600" dirty="0"/>
                        <a:t>评权力、评紧迫性、评态度</a:t>
                      </a:r>
                    </a:p>
                  </a:txBody>
                  <a:tcPr anchor="ctr">
                    <a:lnL>
                      <a:noFill/>
                    </a:lnL>
                    <a:lnR>
                      <a:noFill/>
                    </a:lnR>
                    <a:lnT>
                      <a:noFill/>
                    </a:lnT>
                    <a:lnB>
                      <a:noFill/>
                    </a:lnB>
                    <a:noFill/>
                  </a:tcPr>
                </a:tc>
                <a:tc>
                  <a:txBody>
                    <a:bodyPr/>
                    <a:lstStyle/>
                    <a:p>
                      <a:pPr algn="l">
                        <a:buNone/>
                      </a:pPr>
                      <a:r>
                        <a:rPr lang="zh-CN" altLang="en-US" sz="1600"/>
                        <a:t>凸显模型、权力</a:t>
                      </a:r>
                      <a:r>
                        <a:rPr lang="en-US" altLang="zh-CN" sz="1600"/>
                        <a:t>/</a:t>
                      </a:r>
                      <a:r>
                        <a:rPr lang="zh-CN" altLang="en-US" sz="1600"/>
                        <a:t>利益方格</a:t>
                      </a:r>
                    </a:p>
                  </a:txBody>
                  <a:tcPr anchor="ctr">
                    <a:lnL>
                      <a:noFill/>
                    </a:lnL>
                    <a:lnR>
                      <a:noFill/>
                    </a:lnR>
                    <a:lnT>
                      <a:noFill/>
                    </a:lnT>
                    <a:lnB>
                      <a:noFill/>
                    </a:lnB>
                    <a:noFill/>
                  </a:tcPr>
                </a:tc>
                <a:tc>
                  <a:txBody>
                    <a:bodyPr/>
                    <a:lstStyle/>
                    <a:p>
                      <a:pPr algn="l">
                        <a:buNone/>
                      </a:pPr>
                      <a:r>
                        <a:rPr lang="zh-CN" altLang="en-US" sz="1600"/>
                        <a:t>干系人分析矩阵</a:t>
                      </a:r>
                    </a:p>
                  </a:txBody>
                  <a:tcPr anchor="ctr">
                    <a:lnL>
                      <a:noFill/>
                    </a:lnL>
                    <a:lnR>
                      <a:noFill/>
                    </a:lnR>
                    <a:lnT>
                      <a:noFill/>
                    </a:lnT>
                    <a:lnB>
                      <a:noFill/>
                    </a:lnB>
                    <a:noFill/>
                  </a:tcPr>
                </a:tc>
                <a:extLst>
                  <a:ext uri="{0D108BD9-81ED-4DB2-BD59-A6C34878D82A}">
                    <a16:rowId xmlns:a16="http://schemas.microsoft.com/office/drawing/2014/main" val="1333613239"/>
                  </a:ext>
                </a:extLst>
              </a:tr>
              <a:tr h="129241">
                <a:tc>
                  <a:txBody>
                    <a:bodyPr/>
                    <a:lstStyle/>
                    <a:p>
                      <a:pPr algn="l">
                        <a:buNone/>
                      </a:pPr>
                      <a:r>
                        <a:rPr lang="en-US" altLang="zh-CN" sz="1600"/>
                        <a:t>3. </a:t>
                      </a:r>
                      <a:r>
                        <a:rPr lang="zh-CN" altLang="en-US" sz="1600"/>
                        <a:t>规划</a:t>
                      </a:r>
                    </a:p>
                  </a:txBody>
                  <a:tcPr anchor="ctr">
                    <a:lnL>
                      <a:noFill/>
                    </a:lnL>
                    <a:lnR>
                      <a:noFill/>
                    </a:lnR>
                    <a:lnT>
                      <a:noFill/>
                    </a:lnT>
                    <a:lnB>
                      <a:noFill/>
                    </a:lnB>
                    <a:noFill/>
                  </a:tcPr>
                </a:tc>
                <a:tc>
                  <a:txBody>
                    <a:bodyPr/>
                    <a:lstStyle/>
                    <a:p>
                      <a:pPr algn="l">
                        <a:buNone/>
                      </a:pPr>
                      <a:r>
                        <a:rPr lang="zh-CN" altLang="en-US" sz="1600"/>
                        <a:t>定策略、定频次、定责任人</a:t>
                      </a:r>
                    </a:p>
                  </a:txBody>
                  <a:tcPr anchor="ctr">
                    <a:lnL>
                      <a:noFill/>
                    </a:lnL>
                    <a:lnR>
                      <a:noFill/>
                    </a:lnR>
                    <a:lnT>
                      <a:noFill/>
                    </a:lnT>
                    <a:lnB>
                      <a:noFill/>
                    </a:lnB>
                    <a:noFill/>
                  </a:tcPr>
                </a:tc>
                <a:tc>
                  <a:txBody>
                    <a:bodyPr/>
                    <a:lstStyle/>
                    <a:p>
                      <a:pPr algn="l">
                        <a:buNone/>
                      </a:pPr>
                      <a:r>
                        <a:rPr lang="zh-CN" altLang="en-US" sz="1600"/>
                        <a:t>沟通需求分析</a:t>
                      </a:r>
                    </a:p>
                  </a:txBody>
                  <a:tcPr anchor="ctr">
                    <a:lnL>
                      <a:noFill/>
                    </a:lnL>
                    <a:lnR>
                      <a:noFill/>
                    </a:lnR>
                    <a:lnT>
                      <a:noFill/>
                    </a:lnT>
                    <a:lnB>
                      <a:noFill/>
                    </a:lnB>
                    <a:noFill/>
                  </a:tcPr>
                </a:tc>
                <a:tc>
                  <a:txBody>
                    <a:bodyPr/>
                    <a:lstStyle/>
                    <a:p>
                      <a:pPr algn="l">
                        <a:buNone/>
                      </a:pPr>
                      <a:r>
                        <a:rPr lang="zh-CN" altLang="en-US" sz="1600"/>
                        <a:t>干系人管理计划</a:t>
                      </a:r>
                    </a:p>
                  </a:txBody>
                  <a:tcPr anchor="ctr">
                    <a:lnL>
                      <a:noFill/>
                    </a:lnL>
                    <a:lnR>
                      <a:noFill/>
                    </a:lnR>
                    <a:lnT>
                      <a:noFill/>
                    </a:lnT>
                    <a:lnB>
                      <a:noFill/>
                    </a:lnB>
                    <a:noFill/>
                  </a:tcPr>
                </a:tc>
                <a:extLst>
                  <a:ext uri="{0D108BD9-81ED-4DB2-BD59-A6C34878D82A}">
                    <a16:rowId xmlns:a16="http://schemas.microsoft.com/office/drawing/2014/main" val="3529391503"/>
                  </a:ext>
                </a:extLst>
              </a:tr>
              <a:tr h="129241">
                <a:tc>
                  <a:txBody>
                    <a:bodyPr/>
                    <a:lstStyle/>
                    <a:p>
                      <a:pPr algn="l">
                        <a:buNone/>
                      </a:pPr>
                      <a:r>
                        <a:rPr lang="en-US" altLang="zh-CN" sz="1600"/>
                        <a:t>4. </a:t>
                      </a:r>
                      <a:r>
                        <a:rPr lang="zh-CN" altLang="en-US" sz="1600"/>
                        <a:t>执行</a:t>
                      </a:r>
                    </a:p>
                  </a:txBody>
                  <a:tcPr anchor="ctr">
                    <a:lnL>
                      <a:noFill/>
                    </a:lnL>
                    <a:lnR>
                      <a:noFill/>
                    </a:lnR>
                    <a:lnT>
                      <a:noFill/>
                    </a:lnT>
                    <a:lnB>
                      <a:noFill/>
                    </a:lnB>
                    <a:noFill/>
                  </a:tcPr>
                </a:tc>
                <a:tc>
                  <a:txBody>
                    <a:bodyPr/>
                    <a:lstStyle/>
                    <a:p>
                      <a:pPr algn="l">
                        <a:buNone/>
                      </a:pPr>
                      <a:r>
                        <a:rPr lang="zh-CN" altLang="en-US" sz="1600"/>
                        <a:t>沟通、谈判、解决问题</a:t>
                      </a:r>
                    </a:p>
                  </a:txBody>
                  <a:tcPr anchor="ctr">
                    <a:lnL>
                      <a:noFill/>
                    </a:lnL>
                    <a:lnR>
                      <a:noFill/>
                    </a:lnR>
                    <a:lnT>
                      <a:noFill/>
                    </a:lnT>
                    <a:lnB>
                      <a:noFill/>
                    </a:lnB>
                    <a:noFill/>
                  </a:tcPr>
                </a:tc>
                <a:tc>
                  <a:txBody>
                    <a:bodyPr/>
                    <a:lstStyle/>
                    <a:p>
                      <a:pPr algn="l">
                        <a:buNone/>
                      </a:pPr>
                      <a:r>
                        <a:rPr lang="zh-CN" altLang="en-US" sz="1600"/>
                        <a:t>人际关系技能、会议</a:t>
                      </a:r>
                    </a:p>
                  </a:txBody>
                  <a:tcPr anchor="ctr">
                    <a:lnL>
                      <a:noFill/>
                    </a:lnL>
                    <a:lnR>
                      <a:noFill/>
                    </a:lnR>
                    <a:lnT>
                      <a:noFill/>
                    </a:lnT>
                    <a:lnB>
                      <a:noFill/>
                    </a:lnB>
                    <a:noFill/>
                  </a:tcPr>
                </a:tc>
                <a:tc>
                  <a:txBody>
                    <a:bodyPr/>
                    <a:lstStyle/>
                    <a:p>
                      <a:pPr algn="l">
                        <a:buNone/>
                      </a:pPr>
                      <a:r>
                        <a:rPr lang="zh-CN" altLang="en-US" sz="1600"/>
                        <a:t>问题日志、变更请求</a:t>
                      </a:r>
                    </a:p>
                  </a:txBody>
                  <a:tcPr anchor="ctr">
                    <a:lnL>
                      <a:noFill/>
                    </a:lnL>
                    <a:lnR>
                      <a:noFill/>
                    </a:lnR>
                    <a:lnT>
                      <a:noFill/>
                    </a:lnT>
                    <a:lnB>
                      <a:noFill/>
                    </a:lnB>
                    <a:noFill/>
                  </a:tcPr>
                </a:tc>
                <a:extLst>
                  <a:ext uri="{0D108BD9-81ED-4DB2-BD59-A6C34878D82A}">
                    <a16:rowId xmlns:a16="http://schemas.microsoft.com/office/drawing/2014/main" val="172350839"/>
                  </a:ext>
                </a:extLst>
              </a:tr>
              <a:tr h="129241">
                <a:tc>
                  <a:txBody>
                    <a:bodyPr/>
                    <a:lstStyle/>
                    <a:p>
                      <a:pPr algn="l">
                        <a:buNone/>
                      </a:pPr>
                      <a:r>
                        <a:rPr lang="en-US" altLang="zh-CN" sz="1600"/>
                        <a:t>5. </a:t>
                      </a:r>
                      <a:r>
                        <a:rPr lang="zh-CN" altLang="en-US" sz="1600"/>
                        <a:t>监督</a:t>
                      </a:r>
                    </a:p>
                  </a:txBody>
                  <a:tcPr anchor="ctr">
                    <a:lnL>
                      <a:noFill/>
                    </a:lnL>
                    <a:lnR>
                      <a:noFill/>
                    </a:lnR>
                    <a:lnT>
                      <a:noFill/>
                    </a:lnT>
                    <a:lnB>
                      <a:noFill/>
                    </a:lnB>
                    <a:noFill/>
                  </a:tcPr>
                </a:tc>
                <a:tc>
                  <a:txBody>
                    <a:bodyPr/>
                    <a:lstStyle/>
                    <a:p>
                      <a:pPr algn="l">
                        <a:buNone/>
                      </a:pPr>
                      <a:r>
                        <a:rPr lang="zh-CN" altLang="en-US" sz="1600"/>
                        <a:t>监控变化、调整策略</a:t>
                      </a:r>
                    </a:p>
                  </a:txBody>
                  <a:tcPr anchor="ctr">
                    <a:lnL>
                      <a:noFill/>
                    </a:lnL>
                    <a:lnR>
                      <a:noFill/>
                    </a:lnR>
                    <a:lnT>
                      <a:noFill/>
                    </a:lnT>
                    <a:lnB>
                      <a:noFill/>
                    </a:lnB>
                    <a:noFill/>
                  </a:tcPr>
                </a:tc>
                <a:tc>
                  <a:txBody>
                    <a:bodyPr/>
                    <a:lstStyle/>
                    <a:p>
                      <a:pPr algn="l">
                        <a:buNone/>
                      </a:pPr>
                      <a:r>
                        <a:rPr lang="zh-CN" altLang="en-US" sz="1600"/>
                        <a:t>备选方案分析</a:t>
                      </a:r>
                    </a:p>
                  </a:txBody>
                  <a:tcPr anchor="ctr">
                    <a:lnL>
                      <a:noFill/>
                    </a:lnL>
                    <a:lnR>
                      <a:noFill/>
                    </a:lnR>
                    <a:lnT>
                      <a:noFill/>
                    </a:lnT>
                    <a:lnB>
                      <a:noFill/>
                    </a:lnB>
                    <a:noFill/>
                  </a:tcPr>
                </a:tc>
                <a:tc>
                  <a:txBody>
                    <a:bodyPr/>
                    <a:lstStyle/>
                    <a:p>
                      <a:pPr algn="l">
                        <a:buNone/>
                      </a:pPr>
                      <a:r>
                        <a:rPr lang="zh-CN" altLang="en-US" sz="1600" dirty="0"/>
                        <a:t>更新的管理计划</a:t>
                      </a:r>
                    </a:p>
                  </a:txBody>
                  <a:tcPr anchor="ctr">
                    <a:lnL>
                      <a:noFill/>
                    </a:lnL>
                    <a:lnR>
                      <a:noFill/>
                    </a:lnR>
                    <a:lnT>
                      <a:noFill/>
                    </a:lnT>
                    <a:lnB>
                      <a:noFill/>
                    </a:lnB>
                    <a:noFill/>
                  </a:tcPr>
                </a:tc>
                <a:extLst>
                  <a:ext uri="{0D108BD9-81ED-4DB2-BD59-A6C34878D82A}">
                    <a16:rowId xmlns:a16="http://schemas.microsoft.com/office/drawing/2014/main" val="215830927"/>
                  </a:ext>
                </a:extLst>
              </a:tr>
            </a:tbl>
          </a:graphicData>
        </a:graphic>
      </p:graphicFrame>
      <p:sp>
        <p:nvSpPr>
          <p:cNvPr id="6" name="文本框 5">
            <a:extLst>
              <a:ext uri="{FF2B5EF4-FFF2-40B4-BE49-F238E27FC236}">
                <a16:creationId xmlns:a16="http://schemas.microsoft.com/office/drawing/2014/main" id="{33036A86-98C0-C2C7-00D7-F1860EEC89F7}"/>
              </a:ext>
            </a:extLst>
          </p:cNvPr>
          <p:cNvSpPr txBox="1"/>
          <p:nvPr/>
        </p:nvSpPr>
        <p:spPr>
          <a:xfrm>
            <a:off x="4964922" y="1533237"/>
            <a:ext cx="2262158" cy="369332"/>
          </a:xfrm>
          <a:prstGeom prst="rect">
            <a:avLst/>
          </a:prstGeom>
          <a:noFill/>
        </p:spPr>
        <p:txBody>
          <a:bodyPr wrap="none" rtlCol="0">
            <a:spAutoFit/>
          </a:bodyPr>
          <a:lstStyle/>
          <a:p>
            <a:pPr algn="ctr"/>
            <a:r>
              <a:rPr lang="zh-CN" altLang="en-US" dirty="0"/>
              <a:t>干系人管理完整流程</a:t>
            </a:r>
          </a:p>
        </p:txBody>
      </p:sp>
    </p:spTree>
    <p:extLst>
      <p:ext uri="{BB962C8B-B14F-4D97-AF65-F5344CB8AC3E}">
        <p14:creationId xmlns:p14="http://schemas.microsoft.com/office/powerpoint/2010/main" val="369348981"/>
      </p:ext>
    </p:extLst>
  </p:cSld>
  <p:clrMapOvr>
    <a:masterClrMapping/>
  </p:clrMapOvr>
</p:sld>
</file>

<file path=ppt/slides/slide4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内容占位符 6">
            <a:extLst>
              <a:ext uri="{FF2B5EF4-FFF2-40B4-BE49-F238E27FC236}">
                <a16:creationId xmlns:a16="http://schemas.microsoft.com/office/drawing/2014/main" id="{35EC6306-489D-3B87-CDEB-A1AA53E45B24}"/>
              </a:ext>
            </a:extLst>
          </p:cNvPr>
          <p:cNvGraphicFramePr>
            <a:graphicFrameLocks noGrp="1"/>
          </p:cNvGraphicFramePr>
          <p:nvPr>
            <p:ph idx="4294967295"/>
            <p:extLst>
              <p:ext uri="{D42A27DB-BD31-4B8C-83A1-F6EECF244321}">
                <p14:modId xmlns:p14="http://schemas.microsoft.com/office/powerpoint/2010/main" val="635668150"/>
              </p:ext>
            </p:extLst>
          </p:nvPr>
        </p:nvGraphicFramePr>
        <p:xfrm>
          <a:off x="0" y="2422525"/>
          <a:ext cx="10801350" cy="2011680"/>
        </p:xfrm>
        <a:graphic>
          <a:graphicData uri="http://schemas.openxmlformats.org/drawingml/2006/table">
            <a:tbl>
              <a:tblPr/>
              <a:tblGrid>
                <a:gridCol w="4133850">
                  <a:extLst>
                    <a:ext uri="{9D8B030D-6E8A-4147-A177-3AD203B41FA5}">
                      <a16:colId xmlns:a16="http://schemas.microsoft.com/office/drawing/2014/main" val="4113968149"/>
                    </a:ext>
                  </a:extLst>
                </a:gridCol>
                <a:gridCol w="3552825">
                  <a:extLst>
                    <a:ext uri="{9D8B030D-6E8A-4147-A177-3AD203B41FA5}">
                      <a16:colId xmlns:a16="http://schemas.microsoft.com/office/drawing/2014/main" val="1412753861"/>
                    </a:ext>
                  </a:extLst>
                </a:gridCol>
                <a:gridCol w="3114675">
                  <a:extLst>
                    <a:ext uri="{9D8B030D-6E8A-4147-A177-3AD203B41FA5}">
                      <a16:colId xmlns:a16="http://schemas.microsoft.com/office/drawing/2014/main" val="3967122305"/>
                    </a:ext>
                  </a:extLst>
                </a:gridCol>
              </a:tblGrid>
              <a:tr h="0">
                <a:tc>
                  <a:txBody>
                    <a:bodyPr/>
                    <a:lstStyle/>
                    <a:p>
                      <a:pPr>
                        <a:buNone/>
                      </a:pPr>
                      <a:r>
                        <a:rPr lang="zh-CN" altLang="en-US" sz="1600" dirty="0">
                          <a:solidFill>
                            <a:schemeClr val="bg1"/>
                          </a:solidFill>
                        </a:rPr>
                        <a:t>技术</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D8BB3"/>
                    </a:solidFill>
                  </a:tcPr>
                </a:tc>
                <a:tc>
                  <a:txBody>
                    <a:bodyPr/>
                    <a:lstStyle/>
                    <a:p>
                      <a:pPr>
                        <a:buNone/>
                      </a:pPr>
                      <a:r>
                        <a:rPr lang="zh-CN" altLang="en-US" sz="1600" dirty="0">
                          <a:solidFill>
                            <a:schemeClr val="bg1"/>
                          </a:solidFill>
                        </a:rPr>
                        <a:t>特点</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D8BB3"/>
                    </a:solidFill>
                  </a:tcPr>
                </a:tc>
                <a:tc>
                  <a:txBody>
                    <a:bodyPr/>
                    <a:lstStyle/>
                    <a:p>
                      <a:pPr>
                        <a:buNone/>
                      </a:pPr>
                      <a:r>
                        <a:rPr lang="zh-CN" altLang="en-US" sz="1600" dirty="0">
                          <a:solidFill>
                            <a:schemeClr val="bg1"/>
                          </a:solidFill>
                        </a:rPr>
                        <a:t>适用场景</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D8BB3"/>
                    </a:solidFill>
                  </a:tcPr>
                </a:tc>
                <a:extLst>
                  <a:ext uri="{0D108BD9-81ED-4DB2-BD59-A6C34878D82A}">
                    <a16:rowId xmlns:a16="http://schemas.microsoft.com/office/drawing/2014/main" val="497453913"/>
                  </a:ext>
                </a:extLst>
              </a:tr>
              <a:tr h="0">
                <a:tc>
                  <a:txBody>
                    <a:bodyPr/>
                    <a:lstStyle/>
                    <a:p>
                      <a:pPr>
                        <a:buNone/>
                      </a:pPr>
                      <a:r>
                        <a:rPr lang="zh-CN" altLang="en-US" sz="1600"/>
                        <a:t>回避</a:t>
                      </a:r>
                      <a:r>
                        <a:rPr lang="en-US" altLang="zh-CN" sz="1600"/>
                        <a:t>/</a:t>
                      </a:r>
                      <a:r>
                        <a:rPr lang="zh-CN" altLang="en-US" sz="1600"/>
                        <a:t>撤退 </a:t>
                      </a:r>
                      <a:r>
                        <a:rPr lang="en-US" sz="1600"/>
                        <a:t>Avoiding/Withdrawal</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回避问题，不处理</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临时回避，或问题不重要时</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523555536"/>
                  </a:ext>
                </a:extLst>
              </a:tr>
              <a:tr h="0">
                <a:tc>
                  <a:txBody>
                    <a:bodyPr/>
                    <a:lstStyle/>
                    <a:p>
                      <a:pPr>
                        <a:buNone/>
                      </a:pPr>
                      <a:r>
                        <a:rPr lang="zh-CN" altLang="en-US" sz="1600"/>
                        <a:t>安抚</a:t>
                      </a:r>
                      <a:r>
                        <a:rPr lang="en-US" altLang="zh-CN" sz="1600"/>
                        <a:t>/</a:t>
                      </a:r>
                      <a:r>
                        <a:rPr lang="zh-CN" altLang="en-US" sz="1600"/>
                        <a:t>迁就 </a:t>
                      </a:r>
                      <a:r>
                        <a:rPr lang="en-US" sz="1600"/>
                        <a:t>Accommodating</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优先考虑他人需求，牺牲自己</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维护关系，暂时让步</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10821334"/>
                  </a:ext>
                </a:extLst>
              </a:tr>
              <a:tr h="0">
                <a:tc>
                  <a:txBody>
                    <a:bodyPr/>
                    <a:lstStyle/>
                    <a:p>
                      <a:pPr>
                        <a:buNone/>
                      </a:pPr>
                      <a:r>
                        <a:rPr lang="zh-CN" altLang="en-US" sz="1600"/>
                        <a:t>妥协 </a:t>
                      </a:r>
                      <a:r>
                        <a:rPr lang="en-US" sz="1600"/>
                        <a:t>Compromising</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dirty="0"/>
                        <a:t>双方各让一步，达成折中</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时间紧迫，双方都有利害</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933499686"/>
                  </a:ext>
                </a:extLst>
              </a:tr>
              <a:tr h="0">
                <a:tc>
                  <a:txBody>
                    <a:bodyPr/>
                    <a:lstStyle/>
                    <a:p>
                      <a:pPr>
                        <a:buNone/>
                      </a:pPr>
                      <a:r>
                        <a:rPr lang="zh-CN" altLang="en-US" sz="1600"/>
                        <a:t>强制 </a:t>
                      </a:r>
                      <a:r>
                        <a:rPr lang="en-US" sz="1600"/>
                        <a:t>Forcing</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dirty="0"/>
                        <a:t>强行推动自己的观点</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权力大、必须决策时</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600407737"/>
                  </a:ext>
                </a:extLst>
              </a:tr>
              <a:tr h="0">
                <a:tc>
                  <a:txBody>
                    <a:bodyPr/>
                    <a:lstStyle/>
                    <a:p>
                      <a:pPr>
                        <a:buNone/>
                      </a:pPr>
                      <a:r>
                        <a:rPr lang="zh-CN" altLang="en-US" sz="1600"/>
                        <a:t>合作</a:t>
                      </a:r>
                      <a:r>
                        <a:rPr lang="en-US" altLang="zh-CN" sz="1600"/>
                        <a:t>/</a:t>
                      </a:r>
                      <a:r>
                        <a:rPr lang="zh-CN" altLang="en-US" sz="1600"/>
                        <a:t>解决问题 </a:t>
                      </a:r>
                      <a:r>
                        <a:rPr lang="en-US" sz="1600"/>
                        <a:t>Collaborating</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共同探讨，寻找双赢方案</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dirty="0"/>
                        <a:t>复杂问题，需要共识</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418812145"/>
                  </a:ext>
                </a:extLst>
              </a:tr>
            </a:tbl>
          </a:graphicData>
        </a:graphic>
      </p:graphicFrame>
      <p:sp>
        <p:nvSpPr>
          <p:cNvPr id="3" name="文本框 2">
            <a:extLst>
              <a:ext uri="{FF2B5EF4-FFF2-40B4-BE49-F238E27FC236}">
                <a16:creationId xmlns:a16="http://schemas.microsoft.com/office/drawing/2014/main" id="{82B9F957-3D36-D188-4B13-9A671CBE5851}"/>
              </a:ext>
            </a:extLst>
          </p:cNvPr>
          <p:cNvSpPr txBox="1"/>
          <p:nvPr/>
        </p:nvSpPr>
        <p:spPr>
          <a:xfrm>
            <a:off x="5593299" y="1782618"/>
            <a:ext cx="1107996" cy="369332"/>
          </a:xfrm>
          <a:prstGeom prst="rect">
            <a:avLst/>
          </a:prstGeom>
          <a:noFill/>
        </p:spPr>
        <p:txBody>
          <a:bodyPr wrap="none" rtlCol="0">
            <a:spAutoFit/>
          </a:bodyPr>
          <a:lstStyle/>
          <a:p>
            <a:pPr algn="l"/>
            <a:r>
              <a:rPr lang="zh-CN" altLang="en-US" dirty="0"/>
              <a:t>冲突解决</a:t>
            </a:r>
          </a:p>
        </p:txBody>
      </p:sp>
    </p:spTree>
    <p:extLst>
      <p:ext uri="{BB962C8B-B14F-4D97-AF65-F5344CB8AC3E}">
        <p14:creationId xmlns:p14="http://schemas.microsoft.com/office/powerpoint/2010/main" val="798594967"/>
      </p:ext>
    </p:extLst>
  </p:cSld>
  <p:clrMapOvr>
    <a:masterClrMapping/>
  </p:clrMapOvr>
</p:sld>
</file>

<file path=ppt/slides/slide4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FF4674CF-08FB-394A-CAF5-C4941593D963}"/>
              </a:ext>
            </a:extLst>
          </p:cNvPr>
          <p:cNvSpPr txBox="1"/>
          <p:nvPr/>
        </p:nvSpPr>
        <p:spPr>
          <a:xfrm>
            <a:off x="9796997" y="1997839"/>
            <a:ext cx="553998" cy="2862323"/>
          </a:xfrm>
          <a:prstGeom prst="rect">
            <a:avLst/>
          </a:prstGeom>
          <a:noFill/>
        </p:spPr>
        <p:txBody>
          <a:bodyPr vert="eaVert" wrap="none" rtlCol="0">
            <a:spAutoFit/>
          </a:bodyPr>
          <a:lstStyle/>
          <a:p>
            <a:pPr algn="ctr"/>
            <a:r>
              <a:rPr lang="zh-CN" altLang="en-US" sz="2400" dirty="0"/>
              <a:t>马斯洛需要层次理论</a:t>
            </a:r>
          </a:p>
        </p:txBody>
      </p:sp>
      <p:sp>
        <p:nvSpPr>
          <p:cNvPr id="19" name="文本框 18">
            <a:extLst>
              <a:ext uri="{FF2B5EF4-FFF2-40B4-BE49-F238E27FC236}">
                <a16:creationId xmlns:a16="http://schemas.microsoft.com/office/drawing/2014/main" id="{71D5B3E6-D79C-415D-BFAB-41FE52845C25}"/>
              </a:ext>
            </a:extLst>
          </p:cNvPr>
          <p:cNvSpPr txBox="1"/>
          <p:nvPr/>
        </p:nvSpPr>
        <p:spPr>
          <a:xfrm>
            <a:off x="4787041" y="5185049"/>
            <a:ext cx="3262432" cy="584775"/>
          </a:xfrm>
          <a:prstGeom prst="rect">
            <a:avLst/>
          </a:prstGeom>
          <a:noFill/>
        </p:spPr>
        <p:txBody>
          <a:bodyPr wrap="none" rtlCol="0">
            <a:spAutoFit/>
          </a:bodyPr>
          <a:lstStyle/>
          <a:p>
            <a:pPr fontAlgn="ctr"/>
            <a:r>
              <a:rPr lang="zh-CN" altLang="zh-CN" sz="1600" dirty="0"/>
              <a:t>生理需求（</a:t>
            </a:r>
            <a:r>
              <a:rPr lang="en-US" altLang="zh-CN" sz="1600" dirty="0"/>
              <a:t>Physiological）</a:t>
            </a:r>
            <a:endParaRPr lang="zh-CN" altLang="zh-CN" sz="1600" dirty="0"/>
          </a:p>
          <a:p>
            <a:pPr fontAlgn="ctr"/>
            <a:r>
              <a:rPr lang="zh-CN" altLang="zh-CN" sz="1600" dirty="0"/>
              <a:t>饮食、睡眠、休息等基本生存需求</a:t>
            </a:r>
          </a:p>
        </p:txBody>
      </p:sp>
      <p:sp>
        <p:nvSpPr>
          <p:cNvPr id="24" name="文本框 23">
            <a:extLst>
              <a:ext uri="{FF2B5EF4-FFF2-40B4-BE49-F238E27FC236}">
                <a16:creationId xmlns:a16="http://schemas.microsoft.com/office/drawing/2014/main" id="{E0BA565C-D3F7-1FBA-7B34-AB79BA44F9D2}"/>
              </a:ext>
            </a:extLst>
          </p:cNvPr>
          <p:cNvSpPr txBox="1"/>
          <p:nvPr/>
        </p:nvSpPr>
        <p:spPr>
          <a:xfrm>
            <a:off x="1739010" y="5040000"/>
            <a:ext cx="551754" cy="523220"/>
          </a:xfrm>
          <a:prstGeom prst="rect">
            <a:avLst/>
          </a:prstGeom>
          <a:noFill/>
        </p:spPr>
        <p:txBody>
          <a:bodyPr wrap="none" rtlCol="0">
            <a:spAutoFit/>
          </a:bodyPr>
          <a:lstStyle/>
          <a:p>
            <a:pPr algn="ctr"/>
            <a:r>
              <a:rPr lang="en-US" altLang="zh-CN" sz="2800" dirty="0">
                <a:solidFill>
                  <a:schemeClr val="bg1"/>
                </a:solidFill>
              </a:rPr>
              <a:t>01</a:t>
            </a:r>
            <a:endParaRPr lang="zh-CN" altLang="en-US" sz="2800" dirty="0">
              <a:solidFill>
                <a:schemeClr val="bg1"/>
              </a:solidFill>
            </a:endParaRPr>
          </a:p>
        </p:txBody>
      </p:sp>
      <p:cxnSp>
        <p:nvCxnSpPr>
          <p:cNvPr id="39" name="直接箭头连接符 38">
            <a:extLst>
              <a:ext uri="{FF2B5EF4-FFF2-40B4-BE49-F238E27FC236}">
                <a16:creationId xmlns:a16="http://schemas.microsoft.com/office/drawing/2014/main" id="{49E05055-6CC2-A4AE-8F9B-799A509DC24A}"/>
              </a:ext>
            </a:extLst>
          </p:cNvPr>
          <p:cNvCxnSpPr>
            <a:cxnSpLocks/>
          </p:cNvCxnSpPr>
          <p:nvPr/>
        </p:nvCxnSpPr>
        <p:spPr>
          <a:xfrm>
            <a:off x="3771538" y="5477436"/>
            <a:ext cx="1044000" cy="1"/>
          </a:xfrm>
          <a:prstGeom prst="straightConnector1">
            <a:avLst/>
          </a:prstGeom>
          <a:ln w="38100">
            <a:solidFill>
              <a:srgbClr val="FE863F"/>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A479D041-93B1-73AB-60D0-D49811FC5821}"/>
              </a:ext>
            </a:extLst>
          </p:cNvPr>
          <p:cNvSpPr txBox="1"/>
          <p:nvPr/>
        </p:nvSpPr>
        <p:spPr>
          <a:xfrm>
            <a:off x="4787041" y="4160832"/>
            <a:ext cx="3262432" cy="584775"/>
          </a:xfrm>
          <a:prstGeom prst="rect">
            <a:avLst/>
          </a:prstGeom>
          <a:noFill/>
        </p:spPr>
        <p:txBody>
          <a:bodyPr wrap="none" rtlCol="0">
            <a:spAutoFit/>
          </a:bodyPr>
          <a:lstStyle/>
          <a:p>
            <a:pPr fontAlgn="ctr"/>
            <a:r>
              <a:rPr lang="zh-CN" altLang="zh-CN" sz="1600" dirty="0"/>
              <a:t>安全需求（</a:t>
            </a:r>
            <a:r>
              <a:rPr lang="en-US" altLang="zh-CN" sz="1600" dirty="0"/>
              <a:t>Safety）</a:t>
            </a:r>
            <a:endParaRPr lang="zh-CN" altLang="zh-CN" sz="1600" dirty="0"/>
          </a:p>
          <a:p>
            <a:pPr fontAlgn="ctr"/>
            <a:r>
              <a:rPr lang="zh-CN" altLang="zh-CN" sz="1600" dirty="0"/>
              <a:t>工作稳定、健康保障、职业安全等</a:t>
            </a:r>
          </a:p>
        </p:txBody>
      </p:sp>
      <p:sp>
        <p:nvSpPr>
          <p:cNvPr id="25" name="文本框 24">
            <a:extLst>
              <a:ext uri="{FF2B5EF4-FFF2-40B4-BE49-F238E27FC236}">
                <a16:creationId xmlns:a16="http://schemas.microsoft.com/office/drawing/2014/main" id="{42EC247C-6E20-F4CF-8A04-AFFC74437107}"/>
              </a:ext>
            </a:extLst>
          </p:cNvPr>
          <p:cNvSpPr txBox="1"/>
          <p:nvPr/>
        </p:nvSpPr>
        <p:spPr>
          <a:xfrm>
            <a:off x="1702141" y="4194091"/>
            <a:ext cx="625492" cy="523220"/>
          </a:xfrm>
          <a:prstGeom prst="rect">
            <a:avLst/>
          </a:prstGeom>
          <a:noFill/>
        </p:spPr>
        <p:txBody>
          <a:bodyPr wrap="none" rtlCol="0">
            <a:spAutoFit/>
          </a:bodyPr>
          <a:lstStyle/>
          <a:p>
            <a:pPr algn="ctr"/>
            <a:r>
              <a:rPr lang="en-US" altLang="zh-CN" sz="2800" dirty="0">
                <a:solidFill>
                  <a:schemeClr val="bg1"/>
                </a:solidFill>
              </a:rPr>
              <a:t>02</a:t>
            </a:r>
            <a:endParaRPr lang="zh-CN" altLang="en-US" sz="2800" dirty="0">
              <a:solidFill>
                <a:schemeClr val="bg1"/>
              </a:solidFill>
            </a:endParaRPr>
          </a:p>
        </p:txBody>
      </p:sp>
      <p:cxnSp>
        <p:nvCxnSpPr>
          <p:cNvPr id="41" name="直接箭头连接符 40">
            <a:extLst>
              <a:ext uri="{FF2B5EF4-FFF2-40B4-BE49-F238E27FC236}">
                <a16:creationId xmlns:a16="http://schemas.microsoft.com/office/drawing/2014/main" id="{DD0AFEDD-04B0-E034-602C-3CC2BC29B162}"/>
              </a:ext>
            </a:extLst>
          </p:cNvPr>
          <p:cNvCxnSpPr>
            <a:cxnSpLocks/>
          </p:cNvCxnSpPr>
          <p:nvPr/>
        </p:nvCxnSpPr>
        <p:spPr>
          <a:xfrm>
            <a:off x="3771538" y="4453219"/>
            <a:ext cx="1044000" cy="1"/>
          </a:xfrm>
          <a:prstGeom prst="straightConnector1">
            <a:avLst/>
          </a:prstGeom>
          <a:ln w="38100">
            <a:solidFill>
              <a:srgbClr val="1A5076"/>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23BCA3BD-8A01-3087-637F-F955AA41582F}"/>
              </a:ext>
            </a:extLst>
          </p:cNvPr>
          <p:cNvSpPr txBox="1"/>
          <p:nvPr/>
        </p:nvSpPr>
        <p:spPr>
          <a:xfrm>
            <a:off x="4787041" y="3136614"/>
            <a:ext cx="3454792" cy="584775"/>
          </a:xfrm>
          <a:prstGeom prst="rect">
            <a:avLst/>
          </a:prstGeom>
          <a:noFill/>
        </p:spPr>
        <p:txBody>
          <a:bodyPr wrap="none" rtlCol="0">
            <a:spAutoFit/>
          </a:bodyPr>
          <a:lstStyle/>
          <a:p>
            <a:pPr fontAlgn="ctr"/>
            <a:r>
              <a:rPr lang="zh-CN" altLang="zh-CN" sz="1600" dirty="0"/>
              <a:t>社会交往需求（</a:t>
            </a:r>
            <a:r>
              <a:rPr lang="en-US" altLang="zh-CN" sz="1600" dirty="0"/>
              <a:t>Love/Belonging）</a:t>
            </a:r>
            <a:endParaRPr lang="zh-CN" altLang="zh-CN" sz="1600" dirty="0"/>
          </a:p>
          <a:p>
            <a:pPr fontAlgn="ctr"/>
            <a:r>
              <a:rPr lang="zh-CN" altLang="zh-CN" sz="1600" dirty="0"/>
              <a:t>友谊、爱情、团队归属、被接纳</a:t>
            </a:r>
          </a:p>
        </p:txBody>
      </p:sp>
      <p:sp>
        <p:nvSpPr>
          <p:cNvPr id="26" name="文本框 25">
            <a:extLst>
              <a:ext uri="{FF2B5EF4-FFF2-40B4-BE49-F238E27FC236}">
                <a16:creationId xmlns:a16="http://schemas.microsoft.com/office/drawing/2014/main" id="{D4C1A1A9-7285-6D02-27C5-68E4584FE5DE}"/>
              </a:ext>
            </a:extLst>
          </p:cNvPr>
          <p:cNvSpPr txBox="1"/>
          <p:nvPr/>
        </p:nvSpPr>
        <p:spPr>
          <a:xfrm>
            <a:off x="1702942" y="3169873"/>
            <a:ext cx="623890" cy="523220"/>
          </a:xfrm>
          <a:prstGeom prst="rect">
            <a:avLst/>
          </a:prstGeom>
          <a:noFill/>
        </p:spPr>
        <p:txBody>
          <a:bodyPr wrap="none" rtlCol="0">
            <a:spAutoFit/>
          </a:bodyPr>
          <a:lstStyle/>
          <a:p>
            <a:pPr algn="ctr"/>
            <a:r>
              <a:rPr lang="en-US" altLang="zh-CN" sz="2800" dirty="0">
                <a:solidFill>
                  <a:schemeClr val="bg1"/>
                </a:solidFill>
              </a:rPr>
              <a:t>03</a:t>
            </a:r>
            <a:endParaRPr lang="zh-CN" altLang="en-US" sz="2800" dirty="0">
              <a:solidFill>
                <a:schemeClr val="bg1"/>
              </a:solidFill>
            </a:endParaRPr>
          </a:p>
        </p:txBody>
      </p:sp>
      <p:cxnSp>
        <p:nvCxnSpPr>
          <p:cNvPr id="43" name="直接箭头连接符 42">
            <a:extLst>
              <a:ext uri="{FF2B5EF4-FFF2-40B4-BE49-F238E27FC236}">
                <a16:creationId xmlns:a16="http://schemas.microsoft.com/office/drawing/2014/main" id="{9B7190D6-2DC9-9F71-0C22-4ACEE0F559D4}"/>
              </a:ext>
            </a:extLst>
          </p:cNvPr>
          <p:cNvCxnSpPr>
            <a:cxnSpLocks/>
          </p:cNvCxnSpPr>
          <p:nvPr/>
        </p:nvCxnSpPr>
        <p:spPr>
          <a:xfrm>
            <a:off x="3771538" y="3429001"/>
            <a:ext cx="1044000" cy="1"/>
          </a:xfrm>
          <a:prstGeom prst="straightConnector1">
            <a:avLst/>
          </a:prstGeom>
          <a:ln w="38100">
            <a:solidFill>
              <a:srgbClr val="019259"/>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3B8813B0-1EC1-33B3-4098-AA19260EE641}"/>
              </a:ext>
            </a:extLst>
          </p:cNvPr>
          <p:cNvSpPr txBox="1"/>
          <p:nvPr/>
        </p:nvSpPr>
        <p:spPr>
          <a:xfrm>
            <a:off x="4787041" y="2112396"/>
            <a:ext cx="3057247" cy="584775"/>
          </a:xfrm>
          <a:prstGeom prst="rect">
            <a:avLst/>
          </a:prstGeom>
          <a:noFill/>
        </p:spPr>
        <p:txBody>
          <a:bodyPr wrap="none" rtlCol="0">
            <a:spAutoFit/>
          </a:bodyPr>
          <a:lstStyle/>
          <a:p>
            <a:pPr fontAlgn="ctr"/>
            <a:r>
              <a:rPr lang="zh-CN" altLang="zh-CN" sz="1600" dirty="0"/>
              <a:t>自尊需求（</a:t>
            </a:r>
            <a:r>
              <a:rPr lang="en-US" altLang="zh-CN" sz="1600" dirty="0"/>
              <a:t>Esteem）</a:t>
            </a:r>
            <a:endParaRPr lang="zh-CN" altLang="zh-CN" sz="1600" dirty="0"/>
          </a:p>
          <a:p>
            <a:pPr fontAlgn="ctr"/>
            <a:r>
              <a:rPr lang="zh-CN" altLang="zh-CN" sz="1600" dirty="0"/>
              <a:t>获得尊重、认可、成就感、地位</a:t>
            </a:r>
          </a:p>
        </p:txBody>
      </p:sp>
      <p:sp>
        <p:nvSpPr>
          <p:cNvPr id="27" name="文本框 26">
            <a:extLst>
              <a:ext uri="{FF2B5EF4-FFF2-40B4-BE49-F238E27FC236}">
                <a16:creationId xmlns:a16="http://schemas.microsoft.com/office/drawing/2014/main" id="{BF1D1777-31E4-436B-9DCC-BD5A9484850C}"/>
              </a:ext>
            </a:extLst>
          </p:cNvPr>
          <p:cNvSpPr txBox="1"/>
          <p:nvPr/>
        </p:nvSpPr>
        <p:spPr>
          <a:xfrm>
            <a:off x="1685310" y="2145655"/>
            <a:ext cx="659155" cy="523220"/>
          </a:xfrm>
          <a:prstGeom prst="rect">
            <a:avLst/>
          </a:prstGeom>
          <a:noFill/>
        </p:spPr>
        <p:txBody>
          <a:bodyPr wrap="none" rtlCol="0">
            <a:spAutoFit/>
          </a:bodyPr>
          <a:lstStyle/>
          <a:p>
            <a:pPr algn="ctr"/>
            <a:r>
              <a:rPr lang="en-US" altLang="zh-CN" sz="2800" dirty="0">
                <a:solidFill>
                  <a:schemeClr val="bg1"/>
                </a:solidFill>
              </a:rPr>
              <a:t>04</a:t>
            </a:r>
            <a:endParaRPr lang="zh-CN" altLang="en-US" sz="2800" dirty="0">
              <a:solidFill>
                <a:schemeClr val="bg1"/>
              </a:solidFill>
            </a:endParaRPr>
          </a:p>
        </p:txBody>
      </p:sp>
      <p:cxnSp>
        <p:nvCxnSpPr>
          <p:cNvPr id="45" name="直接箭头连接符 44">
            <a:extLst>
              <a:ext uri="{FF2B5EF4-FFF2-40B4-BE49-F238E27FC236}">
                <a16:creationId xmlns:a16="http://schemas.microsoft.com/office/drawing/2014/main" id="{2F412E45-F20E-B5E8-08D8-76A9DC5FF8C2}"/>
              </a:ext>
            </a:extLst>
          </p:cNvPr>
          <p:cNvCxnSpPr>
            <a:cxnSpLocks/>
          </p:cNvCxnSpPr>
          <p:nvPr/>
        </p:nvCxnSpPr>
        <p:spPr>
          <a:xfrm>
            <a:off x="3771538" y="2404783"/>
            <a:ext cx="1044000" cy="1"/>
          </a:xfrm>
          <a:prstGeom prst="straightConnector1">
            <a:avLst/>
          </a:prstGeom>
          <a:ln w="38100">
            <a:solidFill>
              <a:srgbClr val="00B0F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B2B7C72E-FA66-2A95-7074-5BAB9538F3B4}"/>
              </a:ext>
            </a:extLst>
          </p:cNvPr>
          <p:cNvSpPr txBox="1"/>
          <p:nvPr/>
        </p:nvSpPr>
        <p:spPr>
          <a:xfrm>
            <a:off x="4787041" y="1088178"/>
            <a:ext cx="3262432" cy="584775"/>
          </a:xfrm>
          <a:prstGeom prst="rect">
            <a:avLst/>
          </a:prstGeom>
          <a:noFill/>
        </p:spPr>
        <p:txBody>
          <a:bodyPr wrap="none" rtlCol="0">
            <a:spAutoFit/>
          </a:bodyPr>
          <a:lstStyle/>
          <a:p>
            <a:pPr fontAlgn="ctr"/>
            <a:r>
              <a:rPr lang="zh-CN" altLang="zh-CN" sz="1600" dirty="0"/>
              <a:t>自我实现（</a:t>
            </a:r>
            <a:r>
              <a:rPr lang="en-US" altLang="zh-CN" sz="1600" dirty="0"/>
              <a:t>Self-actualization）</a:t>
            </a:r>
            <a:endParaRPr lang="zh-CN" altLang="zh-CN" sz="1600" dirty="0"/>
          </a:p>
          <a:p>
            <a:pPr fontAlgn="ctr"/>
            <a:r>
              <a:rPr lang="zh-CN" altLang="zh-CN" sz="1600" dirty="0"/>
              <a:t>实现潜能、追求理想、创造性发挥</a:t>
            </a:r>
          </a:p>
        </p:txBody>
      </p:sp>
      <p:sp>
        <p:nvSpPr>
          <p:cNvPr id="28" name="文本框 27">
            <a:extLst>
              <a:ext uri="{FF2B5EF4-FFF2-40B4-BE49-F238E27FC236}">
                <a16:creationId xmlns:a16="http://schemas.microsoft.com/office/drawing/2014/main" id="{24074C96-BD1D-74C6-E2E8-EC59C548F657}"/>
              </a:ext>
            </a:extLst>
          </p:cNvPr>
          <p:cNvSpPr txBox="1"/>
          <p:nvPr/>
        </p:nvSpPr>
        <p:spPr>
          <a:xfrm>
            <a:off x="1702141" y="1121437"/>
            <a:ext cx="625492" cy="523220"/>
          </a:xfrm>
          <a:prstGeom prst="rect">
            <a:avLst/>
          </a:prstGeom>
          <a:noFill/>
        </p:spPr>
        <p:txBody>
          <a:bodyPr wrap="none" rtlCol="0">
            <a:spAutoFit/>
          </a:bodyPr>
          <a:lstStyle/>
          <a:p>
            <a:pPr algn="ctr"/>
            <a:r>
              <a:rPr lang="en-US" altLang="zh-CN" sz="2800" dirty="0">
                <a:solidFill>
                  <a:schemeClr val="bg1"/>
                </a:solidFill>
              </a:rPr>
              <a:t>05</a:t>
            </a:r>
            <a:endParaRPr lang="zh-CN" altLang="en-US" sz="2800" dirty="0">
              <a:solidFill>
                <a:schemeClr val="bg1"/>
              </a:solidFill>
            </a:endParaRPr>
          </a:p>
        </p:txBody>
      </p:sp>
      <p:cxnSp>
        <p:nvCxnSpPr>
          <p:cNvPr id="47" name="直接箭头连接符 46">
            <a:extLst>
              <a:ext uri="{FF2B5EF4-FFF2-40B4-BE49-F238E27FC236}">
                <a16:creationId xmlns:a16="http://schemas.microsoft.com/office/drawing/2014/main" id="{63D87D91-B4EC-83D1-2A51-68C5BC651935}"/>
              </a:ext>
            </a:extLst>
          </p:cNvPr>
          <p:cNvCxnSpPr>
            <a:cxnSpLocks/>
          </p:cNvCxnSpPr>
          <p:nvPr/>
        </p:nvCxnSpPr>
        <p:spPr>
          <a:xfrm>
            <a:off x="3771538" y="1380565"/>
            <a:ext cx="1044000" cy="1"/>
          </a:xfrm>
          <a:prstGeom prst="straightConnector1">
            <a:avLst/>
          </a:prstGeom>
          <a:ln w="38100">
            <a:solidFill>
              <a:srgbClr val="D70036"/>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EE73EDAE-75F6-8125-F01F-6D7900CF8F32}"/>
              </a:ext>
            </a:extLst>
          </p:cNvPr>
          <p:cNvCxnSpPr>
            <a:cxnSpLocks/>
          </p:cNvCxnSpPr>
          <p:nvPr/>
        </p:nvCxnSpPr>
        <p:spPr>
          <a:xfrm>
            <a:off x="9769642" y="1898584"/>
            <a:ext cx="0" cy="3060833"/>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A0515AAC-EBF7-9A03-9D2C-F15169AB585F}"/>
              </a:ext>
            </a:extLst>
          </p:cNvPr>
          <p:cNvCxnSpPr>
            <a:cxnSpLocks/>
          </p:cNvCxnSpPr>
          <p:nvPr/>
        </p:nvCxnSpPr>
        <p:spPr>
          <a:xfrm>
            <a:off x="10470682" y="1882347"/>
            <a:ext cx="0" cy="3060833"/>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935852"/>
      </p:ext>
    </p:extLst>
  </p:cSld>
  <p:clrMapOvr>
    <a:masterClrMapping/>
  </p:clrMapOvr>
</p:sld>
</file>

<file path=ppt/slides/slide4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等腰三角形 2">
            <a:extLst>
              <a:ext uri="{FF2B5EF4-FFF2-40B4-BE49-F238E27FC236}">
                <a16:creationId xmlns:a16="http://schemas.microsoft.com/office/drawing/2014/main" id="{2A9E7F6E-BC58-9DFD-6C92-F5663D3BAC03}"/>
              </a:ext>
            </a:extLst>
          </p:cNvPr>
          <p:cNvSpPr/>
          <p:nvPr/>
        </p:nvSpPr>
        <p:spPr>
          <a:xfrm flipV="1">
            <a:off x="653038" y="2487300"/>
            <a:ext cx="3600000" cy="720000"/>
          </a:xfrm>
          <a:prstGeom prst="triangle">
            <a:avLst/>
          </a:prstGeom>
          <a:solidFill>
            <a:srgbClr val="FE863F"/>
          </a:solidFill>
          <a:ln>
            <a:noFill/>
          </a:ln>
          <a:scene3d>
            <a:camera prst="perspectiveRelaxed">
              <a:rot lat="18600000" lon="0" rev="0"/>
            </a:camera>
            <a:lightRig rig="threePt" dir="t"/>
          </a:scene3d>
          <a:sp3d extrusionH="635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5" name="等腰三角形 4">
            <a:extLst>
              <a:ext uri="{FF2B5EF4-FFF2-40B4-BE49-F238E27FC236}">
                <a16:creationId xmlns:a16="http://schemas.microsoft.com/office/drawing/2014/main" id="{43A25719-CAED-B95E-8AA7-68C5B021B13E}"/>
              </a:ext>
            </a:extLst>
          </p:cNvPr>
          <p:cNvSpPr/>
          <p:nvPr/>
        </p:nvSpPr>
        <p:spPr>
          <a:xfrm flipV="1">
            <a:off x="653038" y="2013000"/>
            <a:ext cx="3600000" cy="720000"/>
          </a:xfrm>
          <a:prstGeom prst="triangle">
            <a:avLst/>
          </a:prstGeom>
          <a:solidFill>
            <a:srgbClr val="D70036"/>
          </a:solidFill>
          <a:ln>
            <a:noFill/>
          </a:ln>
          <a:scene3d>
            <a:camera prst="perspectiveRelaxed">
              <a:rot lat="18600000" lon="0" rev="0"/>
            </a:camera>
            <a:lightRig rig="threePt" dir="t"/>
          </a:scene3d>
          <a:sp3d extrusionH="635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7" name="等腰三角形 6">
            <a:extLst>
              <a:ext uri="{FF2B5EF4-FFF2-40B4-BE49-F238E27FC236}">
                <a16:creationId xmlns:a16="http://schemas.microsoft.com/office/drawing/2014/main" id="{6DEA1B75-01D2-E473-C097-096F1431CB83}"/>
              </a:ext>
            </a:extLst>
          </p:cNvPr>
          <p:cNvSpPr/>
          <p:nvPr/>
        </p:nvSpPr>
        <p:spPr>
          <a:xfrm flipV="1">
            <a:off x="653038" y="1653000"/>
            <a:ext cx="3600000" cy="720000"/>
          </a:xfrm>
          <a:prstGeom prst="triangle">
            <a:avLst/>
          </a:prstGeom>
          <a:solidFill>
            <a:srgbClr val="00B0F0"/>
          </a:solidFill>
          <a:ln>
            <a:noFill/>
          </a:ln>
          <a:scene3d>
            <a:camera prst="perspectiveRelaxed">
              <a:rot lat="18600000" lon="0" rev="0"/>
            </a:camera>
            <a:lightRig rig="threePt" dir="t"/>
          </a:scene3d>
          <a:sp3d extrusionH="635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9" name="等腰三角形 8">
            <a:extLst>
              <a:ext uri="{FF2B5EF4-FFF2-40B4-BE49-F238E27FC236}">
                <a16:creationId xmlns:a16="http://schemas.microsoft.com/office/drawing/2014/main" id="{CAAB1FEE-C19B-1D5B-4FEE-C73F604EE61A}"/>
              </a:ext>
            </a:extLst>
          </p:cNvPr>
          <p:cNvSpPr/>
          <p:nvPr/>
        </p:nvSpPr>
        <p:spPr>
          <a:xfrm flipV="1">
            <a:off x="653038" y="1293000"/>
            <a:ext cx="3600000" cy="720000"/>
          </a:xfrm>
          <a:prstGeom prst="triangle">
            <a:avLst/>
          </a:prstGeom>
          <a:solidFill>
            <a:srgbClr val="00B050"/>
          </a:solidFill>
          <a:ln>
            <a:noFill/>
          </a:ln>
          <a:scene3d>
            <a:camera prst="perspectiveRelaxed">
              <a:rot lat="18600000" lon="0" rev="0"/>
            </a:camera>
            <a:lightRig rig="threePt" dir="t"/>
          </a:scene3d>
          <a:sp3d extrusionH="635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11" name="等腰三角形 10">
            <a:extLst>
              <a:ext uri="{FF2B5EF4-FFF2-40B4-BE49-F238E27FC236}">
                <a16:creationId xmlns:a16="http://schemas.microsoft.com/office/drawing/2014/main" id="{BA9209C6-573F-DBA6-6688-375B81A7D3E2}"/>
              </a:ext>
            </a:extLst>
          </p:cNvPr>
          <p:cNvSpPr/>
          <p:nvPr/>
        </p:nvSpPr>
        <p:spPr>
          <a:xfrm flipV="1">
            <a:off x="653038" y="933000"/>
            <a:ext cx="3600000" cy="720000"/>
          </a:xfrm>
          <a:prstGeom prst="triangle">
            <a:avLst/>
          </a:prstGeom>
          <a:solidFill>
            <a:srgbClr val="1A5076"/>
          </a:solidFill>
          <a:ln>
            <a:noFill/>
          </a:ln>
          <a:scene3d>
            <a:camera prst="perspectiveRelaxed">
              <a:rot lat="18600000" lon="0" rev="0"/>
            </a:camera>
            <a:lightRig rig="threePt" dir="t"/>
          </a:scene3d>
          <a:sp3d extrusionH="635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grpSp>
        <p:nvGrpSpPr>
          <p:cNvPr id="85" name="组合 84">
            <a:extLst>
              <a:ext uri="{FF2B5EF4-FFF2-40B4-BE49-F238E27FC236}">
                <a16:creationId xmlns:a16="http://schemas.microsoft.com/office/drawing/2014/main" id="{D089F650-4783-AD6E-CB75-7E2E511307F7}"/>
              </a:ext>
            </a:extLst>
          </p:cNvPr>
          <p:cNvGrpSpPr/>
          <p:nvPr/>
        </p:nvGrpSpPr>
        <p:grpSpPr>
          <a:xfrm>
            <a:off x="6200775" y="1819276"/>
            <a:ext cx="2520000" cy="2160000"/>
            <a:chOff x="6200775" y="1819276"/>
            <a:chExt cx="2880000" cy="2520000"/>
          </a:xfrm>
        </p:grpSpPr>
        <p:sp>
          <p:nvSpPr>
            <p:cNvPr id="72" name="流程图: 决策 71">
              <a:extLst>
                <a:ext uri="{FF2B5EF4-FFF2-40B4-BE49-F238E27FC236}">
                  <a16:creationId xmlns:a16="http://schemas.microsoft.com/office/drawing/2014/main" id="{4D1FDDC8-2B5E-387F-22F2-D93FFD3558C8}"/>
                </a:ext>
              </a:extLst>
            </p:cNvPr>
            <p:cNvSpPr/>
            <p:nvPr/>
          </p:nvSpPr>
          <p:spPr>
            <a:xfrm>
              <a:off x="6712727" y="2701485"/>
              <a:ext cx="1856096" cy="719999"/>
            </a:xfrm>
            <a:prstGeom prst="flowChartDecision">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74" name="流程图: 决策 73">
              <a:extLst>
                <a:ext uri="{FF2B5EF4-FFF2-40B4-BE49-F238E27FC236}">
                  <a16:creationId xmlns:a16="http://schemas.microsoft.com/office/drawing/2014/main" id="{D2450D5B-D64D-49A5-A5BD-DA8180F4DF20}"/>
                </a:ext>
              </a:extLst>
            </p:cNvPr>
            <p:cNvSpPr/>
            <p:nvPr/>
          </p:nvSpPr>
          <p:spPr>
            <a:xfrm>
              <a:off x="6412477" y="2946838"/>
              <a:ext cx="2456597" cy="978948"/>
            </a:xfrm>
            <a:prstGeom prst="flowChartDecision">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67" name="流程图: 决策 66">
              <a:extLst>
                <a:ext uri="{FF2B5EF4-FFF2-40B4-BE49-F238E27FC236}">
                  <a16:creationId xmlns:a16="http://schemas.microsoft.com/office/drawing/2014/main" id="{ABBF45E2-64F8-D50E-A251-7AA9FFC184A2}"/>
                </a:ext>
              </a:extLst>
            </p:cNvPr>
            <p:cNvSpPr/>
            <p:nvPr/>
          </p:nvSpPr>
          <p:spPr>
            <a:xfrm>
              <a:off x="7251814" y="2144666"/>
              <a:ext cx="777923" cy="342634"/>
            </a:xfrm>
            <a:prstGeom prst="flowChartDecision">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70" name="流程图: 决策 69">
              <a:extLst>
                <a:ext uri="{FF2B5EF4-FFF2-40B4-BE49-F238E27FC236}">
                  <a16:creationId xmlns:a16="http://schemas.microsoft.com/office/drawing/2014/main" id="{03FD2853-0EB8-A089-AD29-27C81CAD0F2C}"/>
                </a:ext>
              </a:extLst>
            </p:cNvPr>
            <p:cNvSpPr/>
            <p:nvPr/>
          </p:nvSpPr>
          <p:spPr>
            <a:xfrm>
              <a:off x="7029698" y="2430740"/>
              <a:ext cx="1222154" cy="503939"/>
            </a:xfrm>
            <a:prstGeom prst="flowChartDecision">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grpSp>
          <p:nvGrpSpPr>
            <p:cNvPr id="68" name="组合 67">
              <a:extLst>
                <a:ext uri="{FF2B5EF4-FFF2-40B4-BE49-F238E27FC236}">
                  <a16:creationId xmlns:a16="http://schemas.microsoft.com/office/drawing/2014/main" id="{B1533629-2DE8-7C59-B036-AA012B5966D7}"/>
                </a:ext>
              </a:extLst>
            </p:cNvPr>
            <p:cNvGrpSpPr/>
            <p:nvPr/>
          </p:nvGrpSpPr>
          <p:grpSpPr>
            <a:xfrm>
              <a:off x="6200775" y="1819276"/>
              <a:ext cx="2880000" cy="2520000"/>
              <a:chOff x="6200775" y="1819276"/>
              <a:chExt cx="2880000" cy="2520000"/>
            </a:xfrm>
          </p:grpSpPr>
          <p:sp>
            <p:nvSpPr>
              <p:cNvPr id="51" name="任意多边形: 形状 50">
                <a:extLst>
                  <a:ext uri="{FF2B5EF4-FFF2-40B4-BE49-F238E27FC236}">
                    <a16:creationId xmlns:a16="http://schemas.microsoft.com/office/drawing/2014/main" id="{AB99AD21-4C34-2929-BA90-EA416326E3C9}"/>
                  </a:ext>
                </a:extLst>
              </p:cNvPr>
              <p:cNvSpPr/>
              <p:nvPr/>
            </p:nvSpPr>
            <p:spPr>
              <a:xfrm>
                <a:off x="7331549" y="1819276"/>
                <a:ext cx="309226" cy="535101"/>
              </a:xfrm>
              <a:custGeom>
                <a:avLst/>
                <a:gdLst>
                  <a:gd name="csX0" fmla="*/ 337491 w 337491"/>
                  <a:gd name="csY0" fmla="*/ 0 h 772615"/>
                  <a:gd name="csX1" fmla="*/ 337491 w 337491"/>
                  <a:gd name="csY1" fmla="*/ 772615 h 772615"/>
                  <a:gd name="csX2" fmla="*/ 0 w 337491"/>
                  <a:gd name="csY2" fmla="*/ 593167 h 772615"/>
                  <a:gd name="csX3" fmla="*/ 337491 w 337491"/>
                  <a:gd name="csY3" fmla="*/ 0 h 772615"/>
                </a:gdLst>
                <a:ahLst/>
                <a:cxnLst>
                  <a:cxn ang="0">
                    <a:pos x="csX0" y="csY0"/>
                  </a:cxn>
                  <a:cxn ang="0">
                    <a:pos x="csX1" y="csY1"/>
                  </a:cxn>
                  <a:cxn ang="0">
                    <a:pos x="csX2" y="csY2"/>
                  </a:cxn>
                  <a:cxn ang="0">
                    <a:pos x="csX3" y="csY3"/>
                  </a:cxn>
                </a:cxnLst>
                <a:rect l="l" t="t" r="r" b="b"/>
                <a:pathLst>
                  <a:path w="337491" h="772615">
                    <a:moveTo>
                      <a:pt x="337491" y="0"/>
                    </a:moveTo>
                    <a:lnTo>
                      <a:pt x="337491" y="772615"/>
                    </a:lnTo>
                    <a:lnTo>
                      <a:pt x="0" y="593167"/>
                    </a:lnTo>
                    <a:lnTo>
                      <a:pt x="337491" y="0"/>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dirty="0">
                  <a:solidFill>
                    <a:schemeClr val="tx1"/>
                  </a:solidFill>
                </a:endParaRPr>
              </a:p>
            </p:txBody>
          </p:sp>
          <p:sp>
            <p:nvSpPr>
              <p:cNvPr id="53" name="任意多边形: 形状 52">
                <a:extLst>
                  <a:ext uri="{FF2B5EF4-FFF2-40B4-BE49-F238E27FC236}">
                    <a16:creationId xmlns:a16="http://schemas.microsoft.com/office/drawing/2014/main" id="{4C7F6AEC-91F5-A519-C2BC-E3764FCB3461}"/>
                  </a:ext>
                </a:extLst>
              </p:cNvPr>
              <p:cNvSpPr/>
              <p:nvPr/>
            </p:nvSpPr>
            <p:spPr>
              <a:xfrm>
                <a:off x="7062037" y="2316812"/>
                <a:ext cx="578738" cy="503939"/>
              </a:xfrm>
              <a:custGeom>
                <a:avLst/>
                <a:gdLst>
                  <a:gd name="csX0" fmla="*/ 222906 w 631638"/>
                  <a:gd name="csY0" fmla="*/ 0 h 727622"/>
                  <a:gd name="csX1" fmla="*/ 631638 w 631638"/>
                  <a:gd name="csY1" fmla="*/ 217327 h 727622"/>
                  <a:gd name="csX2" fmla="*/ 631638 w 631638"/>
                  <a:gd name="csY2" fmla="*/ 727622 h 727622"/>
                  <a:gd name="csX3" fmla="*/ 0 w 631638"/>
                  <a:gd name="csY3" fmla="*/ 391774 h 727622"/>
                  <a:gd name="csX4" fmla="*/ 222906 w 631638"/>
                  <a:gd name="csY4" fmla="*/ 0 h 727622"/>
                </a:gdLst>
                <a:ahLst/>
                <a:cxnLst>
                  <a:cxn ang="0">
                    <a:pos x="csX0" y="csY0"/>
                  </a:cxn>
                  <a:cxn ang="0">
                    <a:pos x="csX1" y="csY1"/>
                  </a:cxn>
                  <a:cxn ang="0">
                    <a:pos x="csX2" y="csY2"/>
                  </a:cxn>
                  <a:cxn ang="0">
                    <a:pos x="csX3" y="csY3"/>
                  </a:cxn>
                  <a:cxn ang="0">
                    <a:pos x="csX4" y="csY4"/>
                  </a:cxn>
                </a:cxnLst>
                <a:rect l="l" t="t" r="r" b="b"/>
                <a:pathLst>
                  <a:path w="631638" h="727622">
                    <a:moveTo>
                      <a:pt x="222906" y="0"/>
                    </a:moveTo>
                    <a:lnTo>
                      <a:pt x="631638" y="217327"/>
                    </a:lnTo>
                    <a:lnTo>
                      <a:pt x="631638" y="727622"/>
                    </a:lnTo>
                    <a:lnTo>
                      <a:pt x="0" y="391774"/>
                    </a:lnTo>
                    <a:lnTo>
                      <a:pt x="222906" y="0"/>
                    </a:lnTo>
                    <a:close/>
                  </a:path>
                </a:pathLst>
              </a:custGeom>
              <a:solidFill>
                <a:srgbClr val="FFB97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dirty="0">
                  <a:solidFill>
                    <a:schemeClr val="tx1"/>
                  </a:solidFill>
                </a:endParaRPr>
              </a:p>
            </p:txBody>
          </p:sp>
          <p:sp>
            <p:nvSpPr>
              <p:cNvPr id="55" name="任意多边形: 形状 54">
                <a:extLst>
                  <a:ext uri="{FF2B5EF4-FFF2-40B4-BE49-F238E27FC236}">
                    <a16:creationId xmlns:a16="http://schemas.microsoft.com/office/drawing/2014/main" id="{B7F9766C-B9AA-07AE-7DAB-B088B6097F24}"/>
                  </a:ext>
                </a:extLst>
              </p:cNvPr>
              <p:cNvSpPr/>
              <p:nvPr/>
            </p:nvSpPr>
            <p:spPr>
              <a:xfrm>
                <a:off x="6780720" y="2674868"/>
                <a:ext cx="860055" cy="632688"/>
              </a:xfrm>
              <a:custGeom>
                <a:avLst/>
                <a:gdLst>
                  <a:gd name="csX0" fmla="*/ 235790 w 938669"/>
                  <a:gd name="csY0" fmla="*/ 0 h 913519"/>
                  <a:gd name="csX1" fmla="*/ 938669 w 938669"/>
                  <a:gd name="csY1" fmla="*/ 373727 h 913519"/>
                  <a:gd name="csX2" fmla="*/ 938669 w 938669"/>
                  <a:gd name="csY2" fmla="*/ 913519 h 913519"/>
                  <a:gd name="csX3" fmla="*/ 0 w 938669"/>
                  <a:gd name="csY3" fmla="*/ 414420 h 913519"/>
                  <a:gd name="csX4" fmla="*/ 235790 w 938669"/>
                  <a:gd name="csY4" fmla="*/ 0 h 913519"/>
                </a:gdLst>
                <a:ahLst/>
                <a:cxnLst>
                  <a:cxn ang="0">
                    <a:pos x="csX0" y="csY0"/>
                  </a:cxn>
                  <a:cxn ang="0">
                    <a:pos x="csX1" y="csY1"/>
                  </a:cxn>
                  <a:cxn ang="0">
                    <a:pos x="csX2" y="csY2"/>
                  </a:cxn>
                  <a:cxn ang="0">
                    <a:pos x="csX3" y="csY3"/>
                  </a:cxn>
                  <a:cxn ang="0">
                    <a:pos x="csX4" y="csY4"/>
                  </a:cxn>
                </a:cxnLst>
                <a:rect l="l" t="t" r="r" b="b"/>
                <a:pathLst>
                  <a:path w="938669" h="913519">
                    <a:moveTo>
                      <a:pt x="235790" y="0"/>
                    </a:moveTo>
                    <a:lnTo>
                      <a:pt x="938669" y="373727"/>
                    </a:lnTo>
                    <a:lnTo>
                      <a:pt x="938669" y="913519"/>
                    </a:lnTo>
                    <a:lnTo>
                      <a:pt x="0" y="414420"/>
                    </a:lnTo>
                    <a:lnTo>
                      <a:pt x="235790" y="0"/>
                    </a:lnTo>
                    <a:close/>
                  </a:path>
                </a:pathLst>
              </a:custGeom>
              <a:solidFill>
                <a:srgbClr val="39E4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dirty="0">
                  <a:solidFill>
                    <a:schemeClr val="tx1"/>
                  </a:solidFill>
                </a:endParaRPr>
              </a:p>
            </p:txBody>
          </p:sp>
          <p:sp>
            <p:nvSpPr>
              <p:cNvPr id="57" name="任意多边形: 形状 56">
                <a:extLst>
                  <a:ext uri="{FF2B5EF4-FFF2-40B4-BE49-F238E27FC236}">
                    <a16:creationId xmlns:a16="http://schemas.microsoft.com/office/drawing/2014/main" id="{7CFD8DE4-DCF6-E7E0-64BA-D5A2325D353A}"/>
                  </a:ext>
                </a:extLst>
              </p:cNvPr>
              <p:cNvSpPr/>
              <p:nvPr/>
            </p:nvSpPr>
            <p:spPr>
              <a:xfrm>
                <a:off x="6490901" y="3048607"/>
                <a:ext cx="1149874" cy="760467"/>
              </a:xfrm>
              <a:custGeom>
                <a:avLst/>
                <a:gdLst>
                  <a:gd name="csX0" fmla="*/ 245070 w 1254980"/>
                  <a:gd name="csY0" fmla="*/ 0 h 1098015"/>
                  <a:gd name="csX1" fmla="*/ 1254980 w 1254980"/>
                  <a:gd name="csY1" fmla="*/ 536979 h 1098015"/>
                  <a:gd name="csX2" fmla="*/ 1254980 w 1254980"/>
                  <a:gd name="csY2" fmla="*/ 1098015 h 1098015"/>
                  <a:gd name="csX3" fmla="*/ 0 w 1254980"/>
                  <a:gd name="csY3" fmla="*/ 430730 h 1098015"/>
                  <a:gd name="csX4" fmla="*/ 245070 w 1254980"/>
                  <a:gd name="csY4" fmla="*/ 0 h 1098015"/>
                </a:gdLst>
                <a:ahLst/>
                <a:cxnLst>
                  <a:cxn ang="0">
                    <a:pos x="csX0" y="csY0"/>
                  </a:cxn>
                  <a:cxn ang="0">
                    <a:pos x="csX1" y="csY1"/>
                  </a:cxn>
                  <a:cxn ang="0">
                    <a:pos x="csX2" y="csY2"/>
                  </a:cxn>
                  <a:cxn ang="0">
                    <a:pos x="csX3" y="csY3"/>
                  </a:cxn>
                  <a:cxn ang="0">
                    <a:pos x="csX4" y="csY4"/>
                  </a:cxn>
                </a:cxnLst>
                <a:rect l="l" t="t" r="r" b="b"/>
                <a:pathLst>
                  <a:path w="1254980" h="1098015">
                    <a:moveTo>
                      <a:pt x="245070" y="0"/>
                    </a:moveTo>
                    <a:lnTo>
                      <a:pt x="1254980" y="536979"/>
                    </a:lnTo>
                    <a:lnTo>
                      <a:pt x="1254980" y="1098015"/>
                    </a:lnTo>
                    <a:lnTo>
                      <a:pt x="0" y="430730"/>
                    </a:lnTo>
                    <a:lnTo>
                      <a:pt x="245070" y="0"/>
                    </a:lnTo>
                    <a:close/>
                  </a:path>
                </a:pathLst>
              </a:custGeom>
              <a:solidFill>
                <a:srgbClr val="4F85A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dirty="0">
                  <a:solidFill>
                    <a:schemeClr val="tx1"/>
                  </a:solidFill>
                </a:endParaRPr>
              </a:p>
            </p:txBody>
          </p:sp>
          <p:sp>
            <p:nvSpPr>
              <p:cNvPr id="59" name="任意多边形: 形状 58">
                <a:extLst>
                  <a:ext uri="{FF2B5EF4-FFF2-40B4-BE49-F238E27FC236}">
                    <a16:creationId xmlns:a16="http://schemas.microsoft.com/office/drawing/2014/main" id="{D2BFCF89-F28E-C36C-FE0B-896195A81226}"/>
                  </a:ext>
                </a:extLst>
              </p:cNvPr>
              <p:cNvSpPr/>
              <p:nvPr/>
            </p:nvSpPr>
            <p:spPr>
              <a:xfrm>
                <a:off x="6200775" y="3433642"/>
                <a:ext cx="1440000" cy="905634"/>
              </a:xfrm>
              <a:custGeom>
                <a:avLst/>
                <a:gdLst>
                  <a:gd name="csX0" fmla="*/ 245404 w 1571625"/>
                  <a:gd name="csY0" fmla="*/ 0 h 1307616"/>
                  <a:gd name="csX1" fmla="*/ 1571625 w 1571625"/>
                  <a:gd name="csY1" fmla="*/ 705165 h 1307616"/>
                  <a:gd name="csX2" fmla="*/ 1571625 w 1571625"/>
                  <a:gd name="csY2" fmla="*/ 1307616 h 1307616"/>
                  <a:gd name="csX3" fmla="*/ 0 w 1571625"/>
                  <a:gd name="csY3" fmla="*/ 431316 h 1307616"/>
                  <a:gd name="csX4" fmla="*/ 245404 w 1571625"/>
                  <a:gd name="csY4" fmla="*/ 0 h 1307616"/>
                </a:gdLst>
                <a:ahLst/>
                <a:cxnLst>
                  <a:cxn ang="0">
                    <a:pos x="csX0" y="csY0"/>
                  </a:cxn>
                  <a:cxn ang="0">
                    <a:pos x="csX1" y="csY1"/>
                  </a:cxn>
                  <a:cxn ang="0">
                    <a:pos x="csX2" y="csY2"/>
                  </a:cxn>
                  <a:cxn ang="0">
                    <a:pos x="csX3" y="csY3"/>
                  </a:cxn>
                  <a:cxn ang="0">
                    <a:pos x="csX4" y="csY4"/>
                  </a:cxn>
                </a:cxnLst>
                <a:rect l="l" t="t" r="r" b="b"/>
                <a:pathLst>
                  <a:path w="1571625" h="1307616">
                    <a:moveTo>
                      <a:pt x="245404" y="0"/>
                    </a:moveTo>
                    <a:lnTo>
                      <a:pt x="1571625" y="705165"/>
                    </a:lnTo>
                    <a:lnTo>
                      <a:pt x="1571625" y="1307616"/>
                    </a:lnTo>
                    <a:lnTo>
                      <a:pt x="0" y="431316"/>
                    </a:lnTo>
                    <a:lnTo>
                      <a:pt x="245404" y="0"/>
                    </a:lnTo>
                    <a:close/>
                  </a:path>
                </a:pathLst>
              </a:custGeom>
              <a:solidFill>
                <a:srgbClr val="37E38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dirty="0">
                  <a:solidFill>
                    <a:schemeClr val="tx1"/>
                  </a:solidFill>
                </a:endParaRPr>
              </a:p>
            </p:txBody>
          </p:sp>
          <p:sp>
            <p:nvSpPr>
              <p:cNvPr id="62" name="任意多边形: 形状 61">
                <a:extLst>
                  <a:ext uri="{FF2B5EF4-FFF2-40B4-BE49-F238E27FC236}">
                    <a16:creationId xmlns:a16="http://schemas.microsoft.com/office/drawing/2014/main" id="{A87F3CDA-0624-123A-48FF-F95651E332C2}"/>
                  </a:ext>
                </a:extLst>
              </p:cNvPr>
              <p:cNvSpPr/>
              <p:nvPr/>
            </p:nvSpPr>
            <p:spPr>
              <a:xfrm flipH="1">
                <a:off x="7640775" y="1819276"/>
                <a:ext cx="309226" cy="535101"/>
              </a:xfrm>
              <a:custGeom>
                <a:avLst/>
                <a:gdLst>
                  <a:gd name="csX0" fmla="*/ 337491 w 337491"/>
                  <a:gd name="csY0" fmla="*/ 0 h 772615"/>
                  <a:gd name="csX1" fmla="*/ 337491 w 337491"/>
                  <a:gd name="csY1" fmla="*/ 772615 h 772615"/>
                  <a:gd name="csX2" fmla="*/ 0 w 337491"/>
                  <a:gd name="csY2" fmla="*/ 593167 h 772615"/>
                  <a:gd name="csX3" fmla="*/ 337491 w 337491"/>
                  <a:gd name="csY3" fmla="*/ 0 h 772615"/>
                </a:gdLst>
                <a:ahLst/>
                <a:cxnLst>
                  <a:cxn ang="0">
                    <a:pos x="csX0" y="csY0"/>
                  </a:cxn>
                  <a:cxn ang="0">
                    <a:pos x="csX1" y="csY1"/>
                  </a:cxn>
                  <a:cxn ang="0">
                    <a:pos x="csX2" y="csY2"/>
                  </a:cxn>
                  <a:cxn ang="0">
                    <a:pos x="csX3" y="csY3"/>
                  </a:cxn>
                </a:cxnLst>
                <a:rect l="l" t="t" r="r" b="b"/>
                <a:pathLst>
                  <a:path w="337491" h="772615">
                    <a:moveTo>
                      <a:pt x="337491" y="0"/>
                    </a:moveTo>
                    <a:lnTo>
                      <a:pt x="337491" y="772615"/>
                    </a:lnTo>
                    <a:lnTo>
                      <a:pt x="0" y="593167"/>
                    </a:lnTo>
                    <a:lnTo>
                      <a:pt x="337491" y="0"/>
                    </a:lnTo>
                    <a:close/>
                  </a:path>
                </a:pathLst>
              </a:cu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dirty="0">
                  <a:solidFill>
                    <a:schemeClr val="tx1"/>
                  </a:solidFill>
                </a:endParaRPr>
              </a:p>
            </p:txBody>
          </p:sp>
          <p:sp>
            <p:nvSpPr>
              <p:cNvPr id="63" name="任意多边形: 形状 62">
                <a:extLst>
                  <a:ext uri="{FF2B5EF4-FFF2-40B4-BE49-F238E27FC236}">
                    <a16:creationId xmlns:a16="http://schemas.microsoft.com/office/drawing/2014/main" id="{CCCA7962-3A45-4962-23F9-900EE9B3BAB1}"/>
                  </a:ext>
                </a:extLst>
              </p:cNvPr>
              <p:cNvSpPr/>
              <p:nvPr/>
            </p:nvSpPr>
            <p:spPr>
              <a:xfrm flipH="1">
                <a:off x="7640775" y="2316812"/>
                <a:ext cx="578738" cy="503939"/>
              </a:xfrm>
              <a:custGeom>
                <a:avLst/>
                <a:gdLst>
                  <a:gd name="csX0" fmla="*/ 222906 w 631638"/>
                  <a:gd name="csY0" fmla="*/ 0 h 727622"/>
                  <a:gd name="csX1" fmla="*/ 631638 w 631638"/>
                  <a:gd name="csY1" fmla="*/ 217327 h 727622"/>
                  <a:gd name="csX2" fmla="*/ 631638 w 631638"/>
                  <a:gd name="csY2" fmla="*/ 727622 h 727622"/>
                  <a:gd name="csX3" fmla="*/ 0 w 631638"/>
                  <a:gd name="csY3" fmla="*/ 391774 h 727622"/>
                  <a:gd name="csX4" fmla="*/ 222906 w 631638"/>
                  <a:gd name="csY4" fmla="*/ 0 h 727622"/>
                </a:gdLst>
                <a:ahLst/>
                <a:cxnLst>
                  <a:cxn ang="0">
                    <a:pos x="csX0" y="csY0"/>
                  </a:cxn>
                  <a:cxn ang="0">
                    <a:pos x="csX1" y="csY1"/>
                  </a:cxn>
                  <a:cxn ang="0">
                    <a:pos x="csX2" y="csY2"/>
                  </a:cxn>
                  <a:cxn ang="0">
                    <a:pos x="csX3" y="csY3"/>
                  </a:cxn>
                  <a:cxn ang="0">
                    <a:pos x="csX4" y="csY4"/>
                  </a:cxn>
                </a:cxnLst>
                <a:rect l="l" t="t" r="r" b="b"/>
                <a:pathLst>
                  <a:path w="631638" h="727622">
                    <a:moveTo>
                      <a:pt x="222906" y="0"/>
                    </a:moveTo>
                    <a:lnTo>
                      <a:pt x="631638" y="217327"/>
                    </a:lnTo>
                    <a:lnTo>
                      <a:pt x="631638" y="727622"/>
                    </a:lnTo>
                    <a:lnTo>
                      <a:pt x="0" y="391774"/>
                    </a:lnTo>
                    <a:lnTo>
                      <a:pt x="222906" y="0"/>
                    </a:lnTo>
                    <a:close/>
                  </a:path>
                </a:pathLst>
              </a:custGeom>
              <a:solidFill>
                <a:srgbClr val="DA7337"/>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dirty="0">
                  <a:solidFill>
                    <a:schemeClr val="tx1"/>
                  </a:solidFill>
                </a:endParaRPr>
              </a:p>
            </p:txBody>
          </p:sp>
          <p:sp>
            <p:nvSpPr>
              <p:cNvPr id="64" name="任意多边形: 形状 63">
                <a:extLst>
                  <a:ext uri="{FF2B5EF4-FFF2-40B4-BE49-F238E27FC236}">
                    <a16:creationId xmlns:a16="http://schemas.microsoft.com/office/drawing/2014/main" id="{F8FDFAA8-699D-4F94-7E2F-B95CB49C4995}"/>
                  </a:ext>
                </a:extLst>
              </p:cNvPr>
              <p:cNvSpPr/>
              <p:nvPr/>
            </p:nvSpPr>
            <p:spPr>
              <a:xfrm flipH="1">
                <a:off x="7640775" y="2674868"/>
                <a:ext cx="860055" cy="632688"/>
              </a:xfrm>
              <a:custGeom>
                <a:avLst/>
                <a:gdLst>
                  <a:gd name="csX0" fmla="*/ 235790 w 938669"/>
                  <a:gd name="csY0" fmla="*/ 0 h 913519"/>
                  <a:gd name="csX1" fmla="*/ 938669 w 938669"/>
                  <a:gd name="csY1" fmla="*/ 373727 h 913519"/>
                  <a:gd name="csX2" fmla="*/ 938669 w 938669"/>
                  <a:gd name="csY2" fmla="*/ 913519 h 913519"/>
                  <a:gd name="csX3" fmla="*/ 0 w 938669"/>
                  <a:gd name="csY3" fmla="*/ 414420 h 913519"/>
                  <a:gd name="csX4" fmla="*/ 235790 w 938669"/>
                  <a:gd name="csY4" fmla="*/ 0 h 913519"/>
                </a:gdLst>
                <a:ahLst/>
                <a:cxnLst>
                  <a:cxn ang="0">
                    <a:pos x="csX0" y="csY0"/>
                  </a:cxn>
                  <a:cxn ang="0">
                    <a:pos x="csX1" y="csY1"/>
                  </a:cxn>
                  <a:cxn ang="0">
                    <a:pos x="csX2" y="csY2"/>
                  </a:cxn>
                  <a:cxn ang="0">
                    <a:pos x="csX3" y="csY3"/>
                  </a:cxn>
                  <a:cxn ang="0">
                    <a:pos x="csX4" y="csY4"/>
                  </a:cxn>
                </a:cxnLst>
                <a:rect l="l" t="t" r="r" b="b"/>
                <a:pathLst>
                  <a:path w="938669" h="913519">
                    <a:moveTo>
                      <a:pt x="235790" y="0"/>
                    </a:moveTo>
                    <a:lnTo>
                      <a:pt x="938669" y="373727"/>
                    </a:lnTo>
                    <a:lnTo>
                      <a:pt x="938669" y="913519"/>
                    </a:lnTo>
                    <a:lnTo>
                      <a:pt x="0" y="414420"/>
                    </a:lnTo>
                    <a:lnTo>
                      <a:pt x="235790" y="0"/>
                    </a:lnTo>
                    <a:close/>
                  </a:path>
                </a:pathLst>
              </a:custGeom>
              <a:solidFill>
                <a:srgbClr val="0197C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dirty="0">
                  <a:solidFill>
                    <a:schemeClr val="tx1"/>
                  </a:solidFill>
                </a:endParaRPr>
              </a:p>
            </p:txBody>
          </p:sp>
          <p:sp>
            <p:nvSpPr>
              <p:cNvPr id="65" name="任意多边形: 形状 64">
                <a:extLst>
                  <a:ext uri="{FF2B5EF4-FFF2-40B4-BE49-F238E27FC236}">
                    <a16:creationId xmlns:a16="http://schemas.microsoft.com/office/drawing/2014/main" id="{20A5704D-E720-78F4-BBE5-EDF16D9A157C}"/>
                  </a:ext>
                </a:extLst>
              </p:cNvPr>
              <p:cNvSpPr/>
              <p:nvPr/>
            </p:nvSpPr>
            <p:spPr>
              <a:xfrm flipH="1">
                <a:off x="7640775" y="3048607"/>
                <a:ext cx="1149874" cy="760467"/>
              </a:xfrm>
              <a:custGeom>
                <a:avLst/>
                <a:gdLst>
                  <a:gd name="csX0" fmla="*/ 245070 w 1254980"/>
                  <a:gd name="csY0" fmla="*/ 0 h 1098015"/>
                  <a:gd name="csX1" fmla="*/ 1254980 w 1254980"/>
                  <a:gd name="csY1" fmla="*/ 536979 h 1098015"/>
                  <a:gd name="csX2" fmla="*/ 1254980 w 1254980"/>
                  <a:gd name="csY2" fmla="*/ 1098015 h 1098015"/>
                  <a:gd name="csX3" fmla="*/ 0 w 1254980"/>
                  <a:gd name="csY3" fmla="*/ 430730 h 1098015"/>
                  <a:gd name="csX4" fmla="*/ 245070 w 1254980"/>
                  <a:gd name="csY4" fmla="*/ 0 h 1098015"/>
                </a:gdLst>
                <a:ahLst/>
                <a:cxnLst>
                  <a:cxn ang="0">
                    <a:pos x="csX0" y="csY0"/>
                  </a:cxn>
                  <a:cxn ang="0">
                    <a:pos x="csX1" y="csY1"/>
                  </a:cxn>
                  <a:cxn ang="0">
                    <a:pos x="csX2" y="csY2"/>
                  </a:cxn>
                  <a:cxn ang="0">
                    <a:pos x="csX3" y="csY3"/>
                  </a:cxn>
                  <a:cxn ang="0">
                    <a:pos x="csX4" y="csY4"/>
                  </a:cxn>
                </a:cxnLst>
                <a:rect l="l" t="t" r="r" b="b"/>
                <a:pathLst>
                  <a:path w="1254980" h="1098015">
                    <a:moveTo>
                      <a:pt x="245070" y="0"/>
                    </a:moveTo>
                    <a:lnTo>
                      <a:pt x="1254980" y="536979"/>
                    </a:lnTo>
                    <a:lnTo>
                      <a:pt x="1254980" y="1098015"/>
                    </a:lnTo>
                    <a:lnTo>
                      <a:pt x="0" y="430730"/>
                    </a:lnTo>
                    <a:lnTo>
                      <a:pt x="245070" y="0"/>
                    </a:lnTo>
                    <a:close/>
                  </a:path>
                </a:pathLst>
              </a:custGeom>
              <a:solidFill>
                <a:srgbClr val="17456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dirty="0">
                  <a:solidFill>
                    <a:schemeClr val="tx1"/>
                  </a:solidFill>
                </a:endParaRPr>
              </a:p>
            </p:txBody>
          </p:sp>
          <p:sp>
            <p:nvSpPr>
              <p:cNvPr id="66" name="任意多边形: 形状 65">
                <a:extLst>
                  <a:ext uri="{FF2B5EF4-FFF2-40B4-BE49-F238E27FC236}">
                    <a16:creationId xmlns:a16="http://schemas.microsoft.com/office/drawing/2014/main" id="{5855D17F-0F7C-569E-EE35-0FF4D8E427A8}"/>
                  </a:ext>
                </a:extLst>
              </p:cNvPr>
              <p:cNvSpPr/>
              <p:nvPr/>
            </p:nvSpPr>
            <p:spPr>
              <a:xfrm flipH="1">
                <a:off x="7640775" y="3433642"/>
                <a:ext cx="1440000" cy="905634"/>
              </a:xfrm>
              <a:custGeom>
                <a:avLst/>
                <a:gdLst>
                  <a:gd name="csX0" fmla="*/ 245404 w 1571625"/>
                  <a:gd name="csY0" fmla="*/ 0 h 1307616"/>
                  <a:gd name="csX1" fmla="*/ 1571625 w 1571625"/>
                  <a:gd name="csY1" fmla="*/ 705165 h 1307616"/>
                  <a:gd name="csX2" fmla="*/ 1571625 w 1571625"/>
                  <a:gd name="csY2" fmla="*/ 1307616 h 1307616"/>
                  <a:gd name="csX3" fmla="*/ 0 w 1571625"/>
                  <a:gd name="csY3" fmla="*/ 431316 h 1307616"/>
                  <a:gd name="csX4" fmla="*/ 245404 w 1571625"/>
                  <a:gd name="csY4" fmla="*/ 0 h 1307616"/>
                </a:gdLst>
                <a:ahLst/>
                <a:cxnLst>
                  <a:cxn ang="0">
                    <a:pos x="csX0" y="csY0"/>
                  </a:cxn>
                  <a:cxn ang="0">
                    <a:pos x="csX1" y="csY1"/>
                  </a:cxn>
                  <a:cxn ang="0">
                    <a:pos x="csX2" y="csY2"/>
                  </a:cxn>
                  <a:cxn ang="0">
                    <a:pos x="csX3" y="csY3"/>
                  </a:cxn>
                  <a:cxn ang="0">
                    <a:pos x="csX4" y="csY4"/>
                  </a:cxn>
                </a:cxnLst>
                <a:rect l="l" t="t" r="r" b="b"/>
                <a:pathLst>
                  <a:path w="1571625" h="1307616">
                    <a:moveTo>
                      <a:pt x="245404" y="0"/>
                    </a:moveTo>
                    <a:lnTo>
                      <a:pt x="1571625" y="705165"/>
                    </a:lnTo>
                    <a:lnTo>
                      <a:pt x="1571625" y="1307616"/>
                    </a:lnTo>
                    <a:lnTo>
                      <a:pt x="0" y="431316"/>
                    </a:lnTo>
                    <a:lnTo>
                      <a:pt x="245404" y="0"/>
                    </a:lnTo>
                    <a:close/>
                  </a:path>
                </a:pathLst>
              </a:custGeom>
              <a:solidFill>
                <a:srgbClr val="02974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dirty="0">
                  <a:solidFill>
                    <a:schemeClr val="tx1"/>
                  </a:solidFill>
                </a:endParaRPr>
              </a:p>
            </p:txBody>
          </p:sp>
        </p:grpSp>
      </p:grpSp>
      <p:sp>
        <p:nvSpPr>
          <p:cNvPr id="75" name="文本框 74">
            <a:extLst>
              <a:ext uri="{FF2B5EF4-FFF2-40B4-BE49-F238E27FC236}">
                <a16:creationId xmlns:a16="http://schemas.microsoft.com/office/drawing/2014/main" id="{20251AC8-9C3D-2599-DD49-EBBF14EC7F38}"/>
              </a:ext>
            </a:extLst>
          </p:cNvPr>
          <p:cNvSpPr txBox="1"/>
          <p:nvPr/>
        </p:nvSpPr>
        <p:spPr>
          <a:xfrm>
            <a:off x="7436485" y="2048604"/>
            <a:ext cx="295274" cy="200055"/>
          </a:xfrm>
          <a:prstGeom prst="rect">
            <a:avLst/>
          </a:prstGeom>
          <a:noFill/>
        </p:spPr>
        <p:txBody>
          <a:bodyPr wrap="none" rtlCol="0">
            <a:spAutoFit/>
          </a:bodyPr>
          <a:lstStyle/>
          <a:p>
            <a:pPr algn="ctr"/>
            <a:r>
              <a:rPr lang="en-US" altLang="zh-CN" sz="700" dirty="0">
                <a:solidFill>
                  <a:schemeClr val="bg1"/>
                </a:solidFill>
              </a:rPr>
              <a:t>05</a:t>
            </a:r>
            <a:endParaRPr lang="zh-CN" altLang="en-US" sz="700" dirty="0">
              <a:solidFill>
                <a:schemeClr val="bg1"/>
              </a:solidFill>
            </a:endParaRPr>
          </a:p>
        </p:txBody>
      </p:sp>
      <p:sp>
        <p:nvSpPr>
          <p:cNvPr id="77" name="文本框 76">
            <a:extLst>
              <a:ext uri="{FF2B5EF4-FFF2-40B4-BE49-F238E27FC236}">
                <a16:creationId xmlns:a16="http://schemas.microsoft.com/office/drawing/2014/main" id="{CC54F202-406A-A359-7E6E-9A5CCD02F98E}"/>
              </a:ext>
            </a:extLst>
          </p:cNvPr>
          <p:cNvSpPr txBox="1"/>
          <p:nvPr/>
        </p:nvSpPr>
        <p:spPr>
          <a:xfrm>
            <a:off x="7682104" y="2354039"/>
            <a:ext cx="303288" cy="200055"/>
          </a:xfrm>
          <a:prstGeom prst="rect">
            <a:avLst/>
          </a:prstGeom>
          <a:noFill/>
        </p:spPr>
        <p:txBody>
          <a:bodyPr wrap="none" rtlCol="0">
            <a:spAutoFit/>
          </a:bodyPr>
          <a:lstStyle/>
          <a:p>
            <a:pPr algn="ctr"/>
            <a:r>
              <a:rPr lang="en-US" altLang="zh-CN" sz="700" dirty="0">
                <a:solidFill>
                  <a:schemeClr val="bg1"/>
                </a:solidFill>
              </a:rPr>
              <a:t>04</a:t>
            </a:r>
            <a:endParaRPr lang="zh-CN" altLang="en-US" sz="700" dirty="0">
              <a:solidFill>
                <a:schemeClr val="bg1"/>
              </a:solidFill>
            </a:endParaRPr>
          </a:p>
        </p:txBody>
      </p:sp>
      <p:sp>
        <p:nvSpPr>
          <p:cNvPr id="79" name="文本框 78">
            <a:extLst>
              <a:ext uri="{FF2B5EF4-FFF2-40B4-BE49-F238E27FC236}">
                <a16:creationId xmlns:a16="http://schemas.microsoft.com/office/drawing/2014/main" id="{18F9F5A9-05C8-FE0C-806A-C7BA20D00CBD}"/>
              </a:ext>
            </a:extLst>
          </p:cNvPr>
          <p:cNvSpPr txBox="1"/>
          <p:nvPr/>
        </p:nvSpPr>
        <p:spPr>
          <a:xfrm>
            <a:off x="7935737" y="2679946"/>
            <a:ext cx="295274" cy="200055"/>
          </a:xfrm>
          <a:prstGeom prst="rect">
            <a:avLst/>
          </a:prstGeom>
          <a:noFill/>
        </p:spPr>
        <p:txBody>
          <a:bodyPr wrap="none" rtlCol="0">
            <a:spAutoFit/>
          </a:bodyPr>
          <a:lstStyle/>
          <a:p>
            <a:pPr algn="ctr"/>
            <a:r>
              <a:rPr lang="en-US" altLang="zh-CN" sz="700" dirty="0">
                <a:solidFill>
                  <a:schemeClr val="bg1"/>
                </a:solidFill>
              </a:rPr>
              <a:t>03</a:t>
            </a:r>
            <a:endParaRPr lang="zh-CN" altLang="en-US" sz="700" dirty="0">
              <a:solidFill>
                <a:schemeClr val="bg1"/>
              </a:solidFill>
            </a:endParaRPr>
          </a:p>
        </p:txBody>
      </p:sp>
      <p:sp>
        <p:nvSpPr>
          <p:cNvPr id="81" name="文本框 80">
            <a:extLst>
              <a:ext uri="{FF2B5EF4-FFF2-40B4-BE49-F238E27FC236}">
                <a16:creationId xmlns:a16="http://schemas.microsoft.com/office/drawing/2014/main" id="{A791A4C8-D993-CFD1-2774-D30DD183B4F6}"/>
              </a:ext>
            </a:extLst>
          </p:cNvPr>
          <p:cNvSpPr txBox="1"/>
          <p:nvPr/>
        </p:nvSpPr>
        <p:spPr>
          <a:xfrm>
            <a:off x="8447448" y="3337631"/>
            <a:ext cx="276038" cy="200055"/>
          </a:xfrm>
          <a:prstGeom prst="rect">
            <a:avLst/>
          </a:prstGeom>
          <a:noFill/>
        </p:spPr>
        <p:txBody>
          <a:bodyPr wrap="none" rtlCol="0">
            <a:spAutoFit/>
          </a:bodyPr>
          <a:lstStyle/>
          <a:p>
            <a:pPr algn="ctr"/>
            <a:r>
              <a:rPr lang="en-US" altLang="zh-CN" sz="700" dirty="0">
                <a:solidFill>
                  <a:schemeClr val="bg1"/>
                </a:solidFill>
              </a:rPr>
              <a:t>01</a:t>
            </a:r>
            <a:endParaRPr lang="zh-CN" altLang="en-US" sz="700" dirty="0">
              <a:solidFill>
                <a:schemeClr val="bg1"/>
              </a:solidFill>
            </a:endParaRPr>
          </a:p>
        </p:txBody>
      </p:sp>
      <p:sp>
        <p:nvSpPr>
          <p:cNvPr id="83" name="文本框 82">
            <a:extLst>
              <a:ext uri="{FF2B5EF4-FFF2-40B4-BE49-F238E27FC236}">
                <a16:creationId xmlns:a16="http://schemas.microsoft.com/office/drawing/2014/main" id="{94D5DEFF-8BF4-1085-0619-918D5EFEC3AF}"/>
              </a:ext>
            </a:extLst>
          </p:cNvPr>
          <p:cNvSpPr txBox="1"/>
          <p:nvPr/>
        </p:nvSpPr>
        <p:spPr>
          <a:xfrm>
            <a:off x="8181356" y="3012677"/>
            <a:ext cx="295274" cy="200055"/>
          </a:xfrm>
          <a:prstGeom prst="rect">
            <a:avLst/>
          </a:prstGeom>
          <a:noFill/>
        </p:spPr>
        <p:txBody>
          <a:bodyPr wrap="none" rtlCol="0">
            <a:spAutoFit/>
          </a:bodyPr>
          <a:lstStyle/>
          <a:p>
            <a:pPr algn="ctr"/>
            <a:r>
              <a:rPr lang="en-US" altLang="zh-CN" sz="700" dirty="0">
                <a:solidFill>
                  <a:schemeClr val="bg1"/>
                </a:solidFill>
              </a:rPr>
              <a:t>02</a:t>
            </a:r>
            <a:endParaRPr lang="zh-CN" altLang="en-US" sz="700" dirty="0">
              <a:solidFill>
                <a:schemeClr val="bg1"/>
              </a:solidFill>
            </a:endParaRPr>
          </a:p>
        </p:txBody>
      </p:sp>
      <p:sp>
        <p:nvSpPr>
          <p:cNvPr id="87" name="文本框 86">
            <a:extLst>
              <a:ext uri="{FF2B5EF4-FFF2-40B4-BE49-F238E27FC236}">
                <a16:creationId xmlns:a16="http://schemas.microsoft.com/office/drawing/2014/main" id="{91506909-8903-93E7-974F-DE2CFF19F4B1}"/>
              </a:ext>
            </a:extLst>
          </p:cNvPr>
          <p:cNvSpPr txBox="1"/>
          <p:nvPr/>
        </p:nvSpPr>
        <p:spPr>
          <a:xfrm>
            <a:off x="9010800" y="3283770"/>
            <a:ext cx="798617" cy="307777"/>
          </a:xfrm>
          <a:prstGeom prst="rect">
            <a:avLst/>
          </a:prstGeom>
          <a:noFill/>
        </p:spPr>
        <p:txBody>
          <a:bodyPr wrap="none" rtlCol="0">
            <a:spAutoFit/>
          </a:bodyPr>
          <a:lstStyle/>
          <a:p>
            <a:pPr fontAlgn="ctr"/>
            <a:r>
              <a:rPr lang="zh-CN" altLang="zh-CN" sz="700" dirty="0"/>
              <a:t>生理需求</a:t>
            </a:r>
            <a:endParaRPr lang="en-US" altLang="zh-CN" sz="700" dirty="0"/>
          </a:p>
          <a:p>
            <a:pPr fontAlgn="ctr"/>
            <a:r>
              <a:rPr lang="en-US" altLang="zh-CN" sz="700" dirty="0"/>
              <a:t>Physiological</a:t>
            </a:r>
            <a:endParaRPr lang="zh-CN" altLang="zh-CN" sz="700" dirty="0"/>
          </a:p>
        </p:txBody>
      </p:sp>
      <p:sp>
        <p:nvSpPr>
          <p:cNvPr id="89" name="文本框 88">
            <a:extLst>
              <a:ext uri="{FF2B5EF4-FFF2-40B4-BE49-F238E27FC236}">
                <a16:creationId xmlns:a16="http://schemas.microsoft.com/office/drawing/2014/main" id="{8106DC61-0A47-3262-A5ED-BD667F38804A}"/>
              </a:ext>
            </a:extLst>
          </p:cNvPr>
          <p:cNvSpPr txBox="1"/>
          <p:nvPr/>
        </p:nvSpPr>
        <p:spPr>
          <a:xfrm>
            <a:off x="8765884" y="2958816"/>
            <a:ext cx="543739" cy="307777"/>
          </a:xfrm>
          <a:prstGeom prst="rect">
            <a:avLst/>
          </a:prstGeom>
          <a:noFill/>
        </p:spPr>
        <p:txBody>
          <a:bodyPr wrap="none" rtlCol="0">
            <a:spAutoFit/>
          </a:bodyPr>
          <a:lstStyle/>
          <a:p>
            <a:pPr fontAlgn="ctr"/>
            <a:r>
              <a:rPr lang="zh-CN" altLang="zh-CN" sz="700" dirty="0"/>
              <a:t>安全需求</a:t>
            </a:r>
            <a:endParaRPr lang="en-US" altLang="zh-CN" sz="700" dirty="0"/>
          </a:p>
          <a:p>
            <a:pPr fontAlgn="ctr"/>
            <a:r>
              <a:rPr lang="en-US" altLang="zh-CN" sz="700" dirty="0"/>
              <a:t>Safety</a:t>
            </a:r>
            <a:endParaRPr lang="zh-CN" altLang="zh-CN" sz="700" dirty="0"/>
          </a:p>
        </p:txBody>
      </p:sp>
      <p:sp>
        <p:nvSpPr>
          <p:cNvPr id="91" name="文本框 90">
            <a:extLst>
              <a:ext uri="{FF2B5EF4-FFF2-40B4-BE49-F238E27FC236}">
                <a16:creationId xmlns:a16="http://schemas.microsoft.com/office/drawing/2014/main" id="{078DD793-A1B7-770C-AC18-539793C3A244}"/>
              </a:ext>
            </a:extLst>
          </p:cNvPr>
          <p:cNvSpPr txBox="1"/>
          <p:nvPr/>
        </p:nvSpPr>
        <p:spPr>
          <a:xfrm>
            <a:off x="8517600" y="2626085"/>
            <a:ext cx="920445" cy="307777"/>
          </a:xfrm>
          <a:prstGeom prst="rect">
            <a:avLst/>
          </a:prstGeom>
          <a:noFill/>
        </p:spPr>
        <p:txBody>
          <a:bodyPr wrap="none" rtlCol="0">
            <a:spAutoFit/>
          </a:bodyPr>
          <a:lstStyle/>
          <a:p>
            <a:pPr fontAlgn="ctr"/>
            <a:r>
              <a:rPr lang="zh-CN" altLang="zh-CN" sz="700" dirty="0"/>
              <a:t>社会交往需求</a:t>
            </a:r>
            <a:endParaRPr lang="en-US" altLang="zh-CN" sz="700" dirty="0"/>
          </a:p>
          <a:p>
            <a:pPr fontAlgn="ctr"/>
            <a:r>
              <a:rPr lang="en-US" altLang="zh-CN" sz="700" dirty="0"/>
              <a:t>Love/Belonging</a:t>
            </a:r>
            <a:endParaRPr lang="zh-CN" altLang="zh-CN" sz="700" dirty="0"/>
          </a:p>
        </p:txBody>
      </p:sp>
      <p:sp>
        <p:nvSpPr>
          <p:cNvPr id="93" name="文本框 92">
            <a:extLst>
              <a:ext uri="{FF2B5EF4-FFF2-40B4-BE49-F238E27FC236}">
                <a16:creationId xmlns:a16="http://schemas.microsoft.com/office/drawing/2014/main" id="{4A96B242-B431-7614-B1A5-923CFEF1C66F}"/>
              </a:ext>
            </a:extLst>
          </p:cNvPr>
          <p:cNvSpPr txBox="1"/>
          <p:nvPr/>
        </p:nvSpPr>
        <p:spPr>
          <a:xfrm>
            <a:off x="8272483" y="2300178"/>
            <a:ext cx="551754" cy="307777"/>
          </a:xfrm>
          <a:prstGeom prst="rect">
            <a:avLst/>
          </a:prstGeom>
          <a:noFill/>
        </p:spPr>
        <p:txBody>
          <a:bodyPr wrap="none" rtlCol="0">
            <a:spAutoFit/>
          </a:bodyPr>
          <a:lstStyle/>
          <a:p>
            <a:pPr fontAlgn="ctr"/>
            <a:r>
              <a:rPr lang="zh-CN" altLang="zh-CN" sz="700" dirty="0"/>
              <a:t>自尊需求</a:t>
            </a:r>
            <a:endParaRPr lang="en-US" altLang="zh-CN" sz="700" dirty="0"/>
          </a:p>
          <a:p>
            <a:pPr fontAlgn="ctr"/>
            <a:r>
              <a:rPr lang="en-US" altLang="zh-CN" sz="700" dirty="0"/>
              <a:t>Esteem</a:t>
            </a:r>
            <a:endParaRPr lang="zh-CN" altLang="zh-CN" sz="700" dirty="0"/>
          </a:p>
        </p:txBody>
      </p:sp>
      <p:sp>
        <p:nvSpPr>
          <p:cNvPr id="95" name="文本框 94">
            <a:extLst>
              <a:ext uri="{FF2B5EF4-FFF2-40B4-BE49-F238E27FC236}">
                <a16:creationId xmlns:a16="http://schemas.microsoft.com/office/drawing/2014/main" id="{AA20C740-FC2C-D8DC-9563-D42FD3481F24}"/>
              </a:ext>
            </a:extLst>
          </p:cNvPr>
          <p:cNvSpPr txBox="1"/>
          <p:nvPr/>
        </p:nvSpPr>
        <p:spPr>
          <a:xfrm>
            <a:off x="8020800" y="1994743"/>
            <a:ext cx="986167" cy="307777"/>
          </a:xfrm>
          <a:prstGeom prst="rect">
            <a:avLst/>
          </a:prstGeom>
          <a:noFill/>
        </p:spPr>
        <p:txBody>
          <a:bodyPr wrap="none" rtlCol="0">
            <a:spAutoFit/>
          </a:bodyPr>
          <a:lstStyle/>
          <a:p>
            <a:pPr fontAlgn="ctr"/>
            <a:r>
              <a:rPr lang="zh-CN" altLang="zh-CN" sz="700" dirty="0"/>
              <a:t>自我实现</a:t>
            </a:r>
            <a:endParaRPr lang="en-US" altLang="zh-CN" sz="700" dirty="0"/>
          </a:p>
          <a:p>
            <a:pPr fontAlgn="ctr"/>
            <a:r>
              <a:rPr lang="en-US" altLang="zh-CN" sz="700" dirty="0"/>
              <a:t>Self-actualization</a:t>
            </a:r>
            <a:endParaRPr lang="zh-CN" altLang="zh-CN" sz="700" dirty="0"/>
          </a:p>
        </p:txBody>
      </p:sp>
      <p:cxnSp>
        <p:nvCxnSpPr>
          <p:cNvPr id="97" name="直接箭头连接符 96">
            <a:extLst>
              <a:ext uri="{FF2B5EF4-FFF2-40B4-BE49-F238E27FC236}">
                <a16:creationId xmlns:a16="http://schemas.microsoft.com/office/drawing/2014/main" id="{D473C4E9-21C6-D6AE-3DC5-7882D883B8A9}"/>
              </a:ext>
            </a:extLst>
          </p:cNvPr>
          <p:cNvCxnSpPr>
            <a:stCxn id="75" idx="3"/>
            <a:endCxn id="95" idx="1"/>
          </p:cNvCxnSpPr>
          <p:nvPr/>
        </p:nvCxnSpPr>
        <p:spPr>
          <a:xfrm>
            <a:off x="7731759" y="2148632"/>
            <a:ext cx="289041" cy="0"/>
          </a:xfrm>
          <a:prstGeom prst="straightConnector1">
            <a:avLst/>
          </a:prstGeom>
          <a:ln w="63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9" name="直接箭头连接符 98">
            <a:extLst>
              <a:ext uri="{FF2B5EF4-FFF2-40B4-BE49-F238E27FC236}">
                <a16:creationId xmlns:a16="http://schemas.microsoft.com/office/drawing/2014/main" id="{1D7F930C-4ED9-61E0-CB13-A391DA197842}"/>
              </a:ext>
            </a:extLst>
          </p:cNvPr>
          <p:cNvCxnSpPr>
            <a:cxnSpLocks/>
            <a:stCxn id="81" idx="3"/>
            <a:endCxn id="87" idx="1"/>
          </p:cNvCxnSpPr>
          <p:nvPr/>
        </p:nvCxnSpPr>
        <p:spPr>
          <a:xfrm>
            <a:off x="8723486" y="3437659"/>
            <a:ext cx="287314" cy="0"/>
          </a:xfrm>
          <a:prstGeom prst="straightConnector1">
            <a:avLst/>
          </a:prstGeom>
          <a:ln w="63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2" name="直接箭头连接符 101">
            <a:extLst>
              <a:ext uri="{FF2B5EF4-FFF2-40B4-BE49-F238E27FC236}">
                <a16:creationId xmlns:a16="http://schemas.microsoft.com/office/drawing/2014/main" id="{A0B7809C-C614-DFDA-8372-EE91BE5C17FC}"/>
              </a:ext>
            </a:extLst>
          </p:cNvPr>
          <p:cNvCxnSpPr>
            <a:cxnSpLocks/>
            <a:stCxn id="77" idx="3"/>
            <a:endCxn id="93" idx="1"/>
          </p:cNvCxnSpPr>
          <p:nvPr/>
        </p:nvCxnSpPr>
        <p:spPr>
          <a:xfrm>
            <a:off x="7985392" y="2454067"/>
            <a:ext cx="287091" cy="0"/>
          </a:xfrm>
          <a:prstGeom prst="straightConnector1">
            <a:avLst/>
          </a:prstGeom>
          <a:ln w="63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5" name="直接箭头连接符 104">
            <a:extLst>
              <a:ext uri="{FF2B5EF4-FFF2-40B4-BE49-F238E27FC236}">
                <a16:creationId xmlns:a16="http://schemas.microsoft.com/office/drawing/2014/main" id="{D25A01FD-16FD-3BF2-F5B6-1BC68F6AF73F}"/>
              </a:ext>
            </a:extLst>
          </p:cNvPr>
          <p:cNvCxnSpPr>
            <a:cxnSpLocks/>
            <a:stCxn id="79" idx="3"/>
            <a:endCxn id="91" idx="1"/>
          </p:cNvCxnSpPr>
          <p:nvPr/>
        </p:nvCxnSpPr>
        <p:spPr>
          <a:xfrm>
            <a:off x="8231011" y="2779974"/>
            <a:ext cx="286589" cy="0"/>
          </a:xfrm>
          <a:prstGeom prst="straightConnector1">
            <a:avLst/>
          </a:prstGeom>
          <a:ln w="63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8" name="直接箭头连接符 107">
            <a:extLst>
              <a:ext uri="{FF2B5EF4-FFF2-40B4-BE49-F238E27FC236}">
                <a16:creationId xmlns:a16="http://schemas.microsoft.com/office/drawing/2014/main" id="{61AD4172-FF6B-1A32-AB0C-FEEEF564CBAB}"/>
              </a:ext>
            </a:extLst>
          </p:cNvPr>
          <p:cNvCxnSpPr>
            <a:cxnSpLocks/>
            <a:stCxn id="83" idx="3"/>
            <a:endCxn id="89" idx="1"/>
          </p:cNvCxnSpPr>
          <p:nvPr/>
        </p:nvCxnSpPr>
        <p:spPr>
          <a:xfrm>
            <a:off x="8476630" y="3112705"/>
            <a:ext cx="289254" cy="0"/>
          </a:xfrm>
          <a:prstGeom prst="straightConnector1">
            <a:avLst/>
          </a:prstGeom>
          <a:ln w="63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161031"/>
      </p:ext>
    </p:extLst>
  </p:cSld>
  <p:clrMapOvr>
    <a:masterClrMapping/>
  </p:clrMapOvr>
</p:sld>
</file>

<file path=ppt/slides/slide4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478F9F4-8D83-BEAD-FFE8-8008E55B1CC5}"/>
              </a:ext>
            </a:extLst>
          </p:cNvPr>
          <p:cNvSpPr txBox="1"/>
          <p:nvPr/>
        </p:nvSpPr>
        <p:spPr>
          <a:xfrm>
            <a:off x="4734088" y="812798"/>
            <a:ext cx="2723824" cy="369332"/>
          </a:xfrm>
          <a:prstGeom prst="rect">
            <a:avLst/>
          </a:prstGeom>
          <a:noFill/>
        </p:spPr>
        <p:txBody>
          <a:bodyPr wrap="none" rtlCol="0">
            <a:spAutoFit/>
          </a:bodyPr>
          <a:lstStyle/>
          <a:p>
            <a:pPr algn="ctr"/>
            <a:r>
              <a:rPr lang="zh-CN" altLang="en-US" dirty="0"/>
              <a:t>赫茨伯格双因素激励理论</a:t>
            </a:r>
          </a:p>
        </p:txBody>
      </p:sp>
      <p:sp>
        <p:nvSpPr>
          <p:cNvPr id="4" name="文本框 3">
            <a:extLst>
              <a:ext uri="{FF2B5EF4-FFF2-40B4-BE49-F238E27FC236}">
                <a16:creationId xmlns:a16="http://schemas.microsoft.com/office/drawing/2014/main" id="{2681DEE7-6BCB-2252-DAB0-DF26E3531192}"/>
              </a:ext>
            </a:extLst>
          </p:cNvPr>
          <p:cNvSpPr txBox="1"/>
          <p:nvPr/>
        </p:nvSpPr>
        <p:spPr>
          <a:xfrm>
            <a:off x="4271622" y="1181477"/>
            <a:ext cx="3648756" cy="307777"/>
          </a:xfrm>
          <a:prstGeom prst="rect">
            <a:avLst/>
          </a:prstGeom>
          <a:noFill/>
        </p:spPr>
        <p:txBody>
          <a:bodyPr wrap="none" rtlCol="0">
            <a:spAutoFit/>
          </a:bodyPr>
          <a:lstStyle/>
          <a:p>
            <a:pPr algn="ctr"/>
            <a:r>
              <a:rPr lang="en-US" altLang="zh-CN" sz="1400" dirty="0"/>
              <a:t>Herzberg's Motivation-Hygiene Theory</a:t>
            </a:r>
          </a:p>
        </p:txBody>
      </p:sp>
      <p:sp>
        <p:nvSpPr>
          <p:cNvPr id="5" name="文本框 4">
            <a:extLst>
              <a:ext uri="{FF2B5EF4-FFF2-40B4-BE49-F238E27FC236}">
                <a16:creationId xmlns:a16="http://schemas.microsoft.com/office/drawing/2014/main" id="{DB9BAE27-56A8-3303-3A13-A18F0B7A138C}"/>
              </a:ext>
            </a:extLst>
          </p:cNvPr>
          <p:cNvSpPr txBox="1"/>
          <p:nvPr/>
        </p:nvSpPr>
        <p:spPr>
          <a:xfrm>
            <a:off x="948000" y="3075707"/>
            <a:ext cx="3361818" cy="1815882"/>
          </a:xfrm>
          <a:prstGeom prst="rect">
            <a:avLst/>
          </a:prstGeom>
          <a:noFill/>
        </p:spPr>
        <p:txBody>
          <a:bodyPr wrap="none" rtlCol="0">
            <a:spAutoFit/>
          </a:bodyPr>
          <a:lstStyle/>
          <a:p>
            <a:pPr algn="l"/>
            <a:r>
              <a:rPr lang="zh-CN" altLang="en-US" sz="1600" dirty="0"/>
              <a:t>激励因素 </a:t>
            </a:r>
            <a:r>
              <a:rPr lang="en-US" altLang="zh-CN" sz="1600" dirty="0"/>
              <a:t>Motivators - </a:t>
            </a:r>
            <a:r>
              <a:rPr lang="zh-CN" altLang="en-US" sz="1600" dirty="0"/>
              <a:t>提升积极性</a:t>
            </a:r>
          </a:p>
          <a:p>
            <a:pPr marL="285750" indent="-285750" algn="l">
              <a:buFont typeface="Arial" panose="020B0604020202020204" pitchFamily="34" charset="0"/>
              <a:buChar char="•"/>
            </a:pPr>
            <a:r>
              <a:rPr lang="zh-CN" altLang="en-US" sz="1600" dirty="0"/>
              <a:t>成就感（</a:t>
            </a:r>
            <a:r>
              <a:rPr lang="en-US" altLang="zh-CN" sz="1600" dirty="0"/>
              <a:t>Achievement</a:t>
            </a:r>
            <a:r>
              <a:rPr lang="zh-CN" altLang="en-US" sz="1600" dirty="0"/>
              <a:t>）</a:t>
            </a:r>
          </a:p>
          <a:p>
            <a:pPr marL="285750" indent="-285750" algn="l">
              <a:buFont typeface="Arial" panose="020B0604020202020204" pitchFamily="34" charset="0"/>
              <a:buChar char="•"/>
            </a:pPr>
            <a:r>
              <a:rPr lang="zh-CN" altLang="en-US" sz="1600" dirty="0"/>
              <a:t>认可</a:t>
            </a:r>
            <a:r>
              <a:rPr lang="en-US" altLang="zh-CN" sz="1600" dirty="0"/>
              <a:t>/</a:t>
            </a:r>
            <a:r>
              <a:rPr lang="zh-CN" altLang="en-US" sz="1600" dirty="0"/>
              <a:t>赞赏（</a:t>
            </a:r>
            <a:r>
              <a:rPr lang="en-US" altLang="zh-CN" sz="1600" dirty="0"/>
              <a:t>Recognition</a:t>
            </a:r>
            <a:r>
              <a:rPr lang="zh-CN" altLang="en-US" sz="1600" dirty="0"/>
              <a:t>）</a:t>
            </a:r>
          </a:p>
          <a:p>
            <a:pPr marL="285750" indent="-285750" algn="l">
              <a:buFont typeface="Arial" panose="020B0604020202020204" pitchFamily="34" charset="0"/>
              <a:buChar char="•"/>
            </a:pPr>
            <a:r>
              <a:rPr lang="zh-CN" altLang="en-US" sz="1600" dirty="0"/>
              <a:t>工作本身（</a:t>
            </a:r>
            <a:r>
              <a:rPr lang="en-US" altLang="zh-CN" sz="1600" dirty="0"/>
              <a:t>The work itself</a:t>
            </a:r>
            <a:r>
              <a:rPr lang="zh-CN" altLang="en-US" sz="1600" dirty="0"/>
              <a:t>）</a:t>
            </a:r>
          </a:p>
          <a:p>
            <a:pPr marL="285750" indent="-285750" algn="l">
              <a:buFont typeface="Arial" panose="020B0604020202020204" pitchFamily="34" charset="0"/>
              <a:buChar char="•"/>
            </a:pPr>
            <a:r>
              <a:rPr lang="zh-CN" altLang="en-US" sz="1600" dirty="0"/>
              <a:t>责任感（</a:t>
            </a:r>
            <a:r>
              <a:rPr lang="en-US" altLang="zh-CN" sz="1600" dirty="0"/>
              <a:t>Responsibility</a:t>
            </a:r>
            <a:r>
              <a:rPr lang="zh-CN" altLang="en-US" sz="1600" dirty="0"/>
              <a:t>）</a:t>
            </a:r>
          </a:p>
          <a:p>
            <a:pPr marL="285750" indent="-285750" algn="l">
              <a:buFont typeface="Arial" panose="020B0604020202020204" pitchFamily="34" charset="0"/>
              <a:buChar char="•"/>
            </a:pPr>
            <a:r>
              <a:rPr lang="zh-CN" altLang="en-US" sz="1600" dirty="0"/>
              <a:t>晋升机会（</a:t>
            </a:r>
            <a:r>
              <a:rPr lang="en-US" altLang="zh-CN" sz="1600" dirty="0"/>
              <a:t>Advancement</a:t>
            </a:r>
            <a:r>
              <a:rPr lang="zh-CN" altLang="en-US" sz="1600" dirty="0"/>
              <a:t>）</a:t>
            </a:r>
          </a:p>
          <a:p>
            <a:pPr marL="285750" indent="-285750" algn="l">
              <a:buFont typeface="Arial" panose="020B0604020202020204" pitchFamily="34" charset="0"/>
              <a:buChar char="•"/>
            </a:pPr>
            <a:r>
              <a:rPr lang="zh-CN" altLang="en-US" sz="1600" dirty="0"/>
              <a:t>成长与发展（</a:t>
            </a:r>
            <a:r>
              <a:rPr lang="en-US" altLang="zh-CN" sz="1600" dirty="0"/>
              <a:t>Growth</a:t>
            </a:r>
            <a:r>
              <a:rPr lang="zh-CN" altLang="en-US" sz="1600" dirty="0"/>
              <a:t>）</a:t>
            </a:r>
          </a:p>
        </p:txBody>
      </p:sp>
      <p:sp>
        <p:nvSpPr>
          <p:cNvPr id="7" name="文本框 6">
            <a:extLst>
              <a:ext uri="{FF2B5EF4-FFF2-40B4-BE49-F238E27FC236}">
                <a16:creationId xmlns:a16="http://schemas.microsoft.com/office/drawing/2014/main" id="{B42F0607-A31F-7147-CB9A-3A3B9703D719}"/>
              </a:ext>
            </a:extLst>
          </p:cNvPr>
          <p:cNvSpPr txBox="1"/>
          <p:nvPr/>
        </p:nvSpPr>
        <p:spPr>
          <a:xfrm>
            <a:off x="7216936" y="3103416"/>
            <a:ext cx="4027064" cy="2062103"/>
          </a:xfrm>
          <a:prstGeom prst="rect">
            <a:avLst/>
          </a:prstGeom>
          <a:noFill/>
        </p:spPr>
        <p:txBody>
          <a:bodyPr wrap="none" rtlCol="0">
            <a:spAutoFit/>
          </a:bodyPr>
          <a:lstStyle/>
          <a:p>
            <a:pPr algn="l"/>
            <a:r>
              <a:rPr lang="zh-CN" altLang="en-US" sz="1600" dirty="0"/>
              <a:t>保健因素 </a:t>
            </a:r>
            <a:r>
              <a:rPr lang="en-US" altLang="zh-CN" sz="1600" dirty="0"/>
              <a:t>Hygiene Factors - </a:t>
            </a:r>
            <a:r>
              <a:rPr lang="zh-CN" altLang="en-US" sz="1600" dirty="0"/>
              <a:t>避免不满</a:t>
            </a:r>
          </a:p>
          <a:p>
            <a:pPr marL="285750" indent="-285750" algn="l">
              <a:buFont typeface="Arial" panose="020B0604020202020204" pitchFamily="34" charset="0"/>
              <a:buChar char="•"/>
            </a:pPr>
            <a:r>
              <a:rPr lang="zh-CN" altLang="en-US" sz="1600" dirty="0"/>
              <a:t>公司政策与管理（</a:t>
            </a:r>
            <a:r>
              <a:rPr lang="en-US" altLang="zh-CN" sz="1600" dirty="0"/>
              <a:t>Company policy</a:t>
            </a:r>
            <a:r>
              <a:rPr lang="zh-CN" altLang="en-US" sz="1600" dirty="0"/>
              <a:t>）</a:t>
            </a:r>
          </a:p>
          <a:p>
            <a:pPr marL="285750" indent="-285750" algn="l">
              <a:buFont typeface="Arial" panose="020B0604020202020204" pitchFamily="34" charset="0"/>
              <a:buChar char="•"/>
            </a:pPr>
            <a:r>
              <a:rPr lang="zh-CN" altLang="en-US" sz="1600" dirty="0"/>
              <a:t>监督方式（</a:t>
            </a:r>
            <a:r>
              <a:rPr lang="en-US" altLang="zh-CN" sz="1600" dirty="0"/>
              <a:t>Supervision</a:t>
            </a:r>
            <a:r>
              <a:rPr lang="zh-CN" altLang="en-US" sz="1600" dirty="0"/>
              <a:t>）</a:t>
            </a:r>
          </a:p>
          <a:p>
            <a:pPr marL="285750" indent="-285750" algn="l">
              <a:buFont typeface="Arial" panose="020B0604020202020204" pitchFamily="34" charset="0"/>
              <a:buChar char="•"/>
            </a:pPr>
            <a:r>
              <a:rPr lang="zh-CN" altLang="en-US" sz="1600" dirty="0"/>
              <a:t>工作条件（</a:t>
            </a:r>
            <a:r>
              <a:rPr lang="en-US" altLang="zh-CN" sz="1600" dirty="0"/>
              <a:t>Working conditions</a:t>
            </a:r>
            <a:r>
              <a:rPr lang="zh-CN" altLang="en-US" sz="1600" dirty="0"/>
              <a:t>）</a:t>
            </a:r>
          </a:p>
          <a:p>
            <a:pPr marL="285750" indent="-285750" algn="l">
              <a:buFont typeface="Arial" panose="020B0604020202020204" pitchFamily="34" charset="0"/>
              <a:buChar char="•"/>
            </a:pPr>
            <a:r>
              <a:rPr lang="zh-CN" altLang="en-US" sz="1600" dirty="0"/>
              <a:t>薪资待遇（</a:t>
            </a:r>
            <a:r>
              <a:rPr lang="en-US" altLang="zh-CN" sz="1600" dirty="0"/>
              <a:t>Salary</a:t>
            </a:r>
            <a:r>
              <a:rPr lang="zh-CN" altLang="en-US" sz="1600" dirty="0"/>
              <a:t>）</a:t>
            </a:r>
          </a:p>
          <a:p>
            <a:pPr marL="285750" indent="-285750" algn="l">
              <a:buFont typeface="Arial" panose="020B0604020202020204" pitchFamily="34" charset="0"/>
              <a:buChar char="•"/>
            </a:pPr>
            <a:r>
              <a:rPr lang="zh-CN" altLang="en-US" sz="1600" dirty="0"/>
              <a:t>同事关系（</a:t>
            </a:r>
            <a:r>
              <a:rPr lang="en-US" altLang="zh-CN" sz="1600" dirty="0"/>
              <a:t>Interpersonal relations</a:t>
            </a:r>
            <a:r>
              <a:rPr lang="zh-CN" altLang="en-US" sz="1600" dirty="0"/>
              <a:t>）</a:t>
            </a:r>
          </a:p>
          <a:p>
            <a:pPr marL="285750" indent="-285750" algn="l">
              <a:buFont typeface="Arial" panose="020B0604020202020204" pitchFamily="34" charset="0"/>
              <a:buChar char="•"/>
            </a:pPr>
            <a:r>
              <a:rPr lang="zh-CN" altLang="en-US" sz="1600" dirty="0"/>
              <a:t>地位（</a:t>
            </a:r>
            <a:r>
              <a:rPr lang="en-US" altLang="zh-CN" sz="1600" dirty="0"/>
              <a:t>Status</a:t>
            </a:r>
            <a:r>
              <a:rPr lang="zh-CN" altLang="en-US" sz="1600" dirty="0"/>
              <a:t>）</a:t>
            </a:r>
          </a:p>
          <a:p>
            <a:pPr marL="285750" indent="-285750" algn="l">
              <a:buFont typeface="Arial" panose="020B0604020202020204" pitchFamily="34" charset="0"/>
              <a:buChar char="•"/>
            </a:pPr>
            <a:r>
              <a:rPr lang="zh-CN" altLang="en-US" sz="1600" dirty="0"/>
              <a:t>工作安全感（</a:t>
            </a:r>
            <a:r>
              <a:rPr lang="en-US" altLang="zh-CN" sz="1600" dirty="0"/>
              <a:t>Job security</a:t>
            </a:r>
            <a:r>
              <a:rPr lang="zh-CN" altLang="en-US" sz="1600" dirty="0"/>
              <a:t>）</a:t>
            </a:r>
          </a:p>
        </p:txBody>
      </p:sp>
      <p:sp>
        <p:nvSpPr>
          <p:cNvPr id="8" name="文本框 7">
            <a:extLst>
              <a:ext uri="{FF2B5EF4-FFF2-40B4-BE49-F238E27FC236}">
                <a16:creationId xmlns:a16="http://schemas.microsoft.com/office/drawing/2014/main" id="{386E885F-2EE7-3792-5D66-C31267C16688}"/>
              </a:ext>
            </a:extLst>
          </p:cNvPr>
          <p:cNvSpPr txBox="1"/>
          <p:nvPr/>
        </p:nvSpPr>
        <p:spPr>
          <a:xfrm>
            <a:off x="948000" y="2041235"/>
            <a:ext cx="10296000" cy="584775"/>
          </a:xfrm>
          <a:prstGeom prst="rect">
            <a:avLst/>
          </a:prstGeom>
          <a:noFill/>
        </p:spPr>
        <p:txBody>
          <a:bodyPr wrap="square" rtlCol="0">
            <a:spAutoFit/>
          </a:bodyPr>
          <a:lstStyle/>
          <a:p>
            <a:pPr indent="457200" algn="l"/>
            <a:r>
              <a:rPr lang="zh-CN" altLang="en-US" sz="1600" dirty="0"/>
              <a:t>由美国心理学家弗雷德里克</a:t>
            </a:r>
            <a:r>
              <a:rPr lang="en-US" altLang="zh-CN" sz="1600" dirty="0"/>
              <a:t>·</a:t>
            </a:r>
            <a:r>
              <a:rPr lang="zh-CN" altLang="en-US" sz="1600" dirty="0"/>
              <a:t>赫茨伯格（</a:t>
            </a:r>
            <a:r>
              <a:rPr lang="en-US" altLang="zh-CN" sz="1600" dirty="0"/>
              <a:t>Frederick Herzberg</a:t>
            </a:r>
            <a:r>
              <a:rPr lang="zh-CN" altLang="en-US" sz="1600" dirty="0"/>
              <a:t>）于</a:t>
            </a:r>
            <a:r>
              <a:rPr lang="en-US" altLang="zh-CN" sz="1600" dirty="0"/>
              <a:t>20</a:t>
            </a:r>
            <a:r>
              <a:rPr lang="zh-CN" altLang="en-US" sz="1600" dirty="0"/>
              <a:t>世纪</a:t>
            </a:r>
            <a:r>
              <a:rPr lang="en-US" altLang="zh-CN" sz="1600" dirty="0"/>
              <a:t>50</a:t>
            </a:r>
            <a:r>
              <a:rPr lang="zh-CN" altLang="en-US" sz="1600" dirty="0"/>
              <a:t>年代末提出的一种关于工作动机和员工满意度的重要理论</a:t>
            </a:r>
          </a:p>
        </p:txBody>
      </p:sp>
    </p:spTree>
    <p:extLst>
      <p:ext uri="{BB962C8B-B14F-4D97-AF65-F5344CB8AC3E}">
        <p14:creationId xmlns:p14="http://schemas.microsoft.com/office/powerpoint/2010/main" val="2786837647"/>
      </p:ext>
    </p:extLst>
  </p:cSld>
  <p:clrMapOvr>
    <a:masterClrMapping/>
  </p:clrMapOvr>
</p:sld>
</file>

<file path=ppt/slides/slide4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4BE1F5-59ED-7E7D-698B-A53657B4E930}"/>
              </a:ext>
            </a:extLst>
          </p:cNvPr>
          <p:cNvSpPr>
            <a:spLocks noGrp="1"/>
          </p:cNvSpPr>
          <p:nvPr>
            <p:ph type="title"/>
          </p:nvPr>
        </p:nvSpPr>
        <p:spPr>
          <a:xfrm>
            <a:off x="792000" y="360000"/>
            <a:ext cx="6375921" cy="429413"/>
          </a:xfrm>
        </p:spPr>
        <p:txBody>
          <a:bodyPr/>
          <a:lstStyle/>
          <a:p>
            <a:r>
              <a:rPr lang="en-US" altLang="zh-CN" dirty="0"/>
              <a:t>10.4 </a:t>
            </a:r>
            <a:r>
              <a:rPr lang="zh-CN" altLang="en-US" dirty="0"/>
              <a:t>项目沟通计划</a:t>
            </a:r>
          </a:p>
        </p:txBody>
      </p:sp>
      <p:sp>
        <p:nvSpPr>
          <p:cNvPr id="3" name="内容占位符 2">
            <a:extLst>
              <a:ext uri="{FF2B5EF4-FFF2-40B4-BE49-F238E27FC236}">
                <a16:creationId xmlns:a16="http://schemas.microsoft.com/office/drawing/2014/main" id="{1FBD17D4-5C3D-93D7-36E0-B2EC2A05A0BC}"/>
              </a:ext>
            </a:extLst>
          </p:cNvPr>
          <p:cNvSpPr>
            <a:spLocks noGrp="1"/>
          </p:cNvSpPr>
          <p:nvPr>
            <p:ph idx="1"/>
          </p:nvPr>
        </p:nvSpPr>
        <p:spPr>
          <a:xfrm>
            <a:off x="696000" y="864000"/>
            <a:ext cx="10800000" cy="5400000"/>
          </a:xfrm>
        </p:spPr>
        <p:txBody>
          <a:bodyPr/>
          <a:lstStyle/>
          <a:p>
            <a:r>
              <a:rPr lang="zh-CN" altLang="en-US" dirty="0"/>
              <a:t>规划管理过程</a:t>
            </a:r>
            <a:endParaRPr lang="en-US" altLang="zh-CN" dirty="0"/>
          </a:p>
          <a:p>
            <a:r>
              <a:rPr lang="zh-CN" altLang="en-US" dirty="0"/>
              <a:t>管理沟通</a:t>
            </a:r>
            <a:endParaRPr lang="en-US" altLang="zh-CN" dirty="0"/>
          </a:p>
          <a:p>
            <a:r>
              <a:rPr lang="zh-CN" altLang="en-US" dirty="0"/>
              <a:t>控制管理过程</a:t>
            </a:r>
            <a:endParaRPr lang="en-US" altLang="zh-CN" dirty="0"/>
          </a:p>
          <a:p>
            <a:pPr lvl="1"/>
            <a:r>
              <a:rPr lang="zh-CN" altLang="en-US" dirty="0"/>
              <a:t>有效沟通：效果和效率</a:t>
            </a:r>
            <a:endParaRPr lang="en-US" altLang="zh-CN" dirty="0"/>
          </a:p>
          <a:p>
            <a:endParaRPr lang="zh-CN" altLang="en-US" dirty="0"/>
          </a:p>
        </p:txBody>
      </p:sp>
      <p:sp>
        <p:nvSpPr>
          <p:cNvPr id="4" name="文本占位符 3">
            <a:extLst>
              <a:ext uri="{FF2B5EF4-FFF2-40B4-BE49-F238E27FC236}">
                <a16:creationId xmlns:a16="http://schemas.microsoft.com/office/drawing/2014/main" id="{90F7F3FB-D1EE-633E-E4EF-D94AE24673E1}"/>
              </a:ext>
            </a:extLst>
          </p:cNvPr>
          <p:cNvSpPr>
            <a:spLocks noGrp="1"/>
          </p:cNvSpPr>
          <p:nvPr>
            <p:ph type="body" sz="quarter" idx="10"/>
          </p:nvPr>
        </p:nvSpPr>
        <p:spPr>
          <a:xfrm>
            <a:off x="7071919" y="448519"/>
            <a:ext cx="4424080" cy="338554"/>
          </a:xfrm>
        </p:spPr>
        <p:txBody>
          <a:bodyPr/>
          <a:lstStyle/>
          <a:p>
            <a:r>
              <a:rPr lang="en-US" altLang="zh-CN"/>
              <a:t>Communication Mgt</a:t>
            </a:r>
            <a:endParaRPr lang="zh-CN" altLang="en-US"/>
          </a:p>
        </p:txBody>
      </p:sp>
    </p:spTree>
    <p:extLst>
      <p:ext uri="{BB962C8B-B14F-4D97-AF65-F5344CB8AC3E}">
        <p14:creationId xmlns:p14="http://schemas.microsoft.com/office/powerpoint/2010/main" val="347102458"/>
      </p:ext>
    </p:extLst>
  </p:cSld>
  <p:clrMapOvr>
    <a:masterClrMapping/>
  </p:clrMapOvr>
</p:sld>
</file>

<file path=ppt/slides/slide4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任意多边形: 形状 88">
            <a:extLst>
              <a:ext uri="{FF2B5EF4-FFF2-40B4-BE49-F238E27FC236}">
                <a16:creationId xmlns:a16="http://schemas.microsoft.com/office/drawing/2014/main" id="{02D812E4-3B0D-E7AB-39DF-66657E92C6BD}"/>
              </a:ext>
            </a:extLst>
          </p:cNvPr>
          <p:cNvSpPr/>
          <p:nvPr/>
        </p:nvSpPr>
        <p:spPr>
          <a:xfrm>
            <a:off x="5179" y="5308934"/>
            <a:ext cx="12181642" cy="1549065"/>
          </a:xfrm>
          <a:custGeom>
            <a:avLst/>
            <a:gdLst>
              <a:gd name="csX0" fmla="*/ 6090821 w 12181642"/>
              <a:gd name="csY0" fmla="*/ 0 h 2909454"/>
              <a:gd name="csX1" fmla="*/ 12178889 w 12181642"/>
              <a:gd name="csY1" fmla="*/ 2855683 h 2909454"/>
              <a:gd name="csX2" fmla="*/ 12181642 w 12181642"/>
              <a:gd name="csY2" fmla="*/ 2909454 h 2909454"/>
              <a:gd name="csX3" fmla="*/ 0 w 12181642"/>
              <a:gd name="csY3" fmla="*/ 2909454 h 2909454"/>
              <a:gd name="csX4" fmla="*/ 2753 w 12181642"/>
              <a:gd name="csY4" fmla="*/ 2855683 h 2909454"/>
              <a:gd name="csX5" fmla="*/ 6090821 w 12181642"/>
              <a:gd name="csY5" fmla="*/ 0 h 2909454"/>
            </a:gdLst>
            <a:ahLst/>
            <a:cxnLst>
              <a:cxn ang="0">
                <a:pos x="csX0" y="csY0"/>
              </a:cxn>
              <a:cxn ang="0">
                <a:pos x="csX1" y="csY1"/>
              </a:cxn>
              <a:cxn ang="0">
                <a:pos x="csX2" y="csY2"/>
              </a:cxn>
              <a:cxn ang="0">
                <a:pos x="csX3" y="csY3"/>
              </a:cxn>
              <a:cxn ang="0">
                <a:pos x="csX4" y="csY4"/>
              </a:cxn>
              <a:cxn ang="0">
                <a:pos x="csX5" y="csY5"/>
              </a:cxn>
            </a:cxnLst>
            <a:rect l="l" t="t" r="r" b="b"/>
            <a:pathLst>
              <a:path w="12181642" h="2909454">
                <a:moveTo>
                  <a:pt x="6090821" y="0"/>
                </a:moveTo>
                <a:cubicBezTo>
                  <a:pt x="9352339" y="0"/>
                  <a:pt x="12015619" y="1264968"/>
                  <a:pt x="12178889" y="2855683"/>
                </a:cubicBezTo>
                <a:lnTo>
                  <a:pt x="12181642" y="2909454"/>
                </a:lnTo>
                <a:lnTo>
                  <a:pt x="0" y="2909454"/>
                </a:lnTo>
                <a:lnTo>
                  <a:pt x="2753" y="2855683"/>
                </a:lnTo>
                <a:cubicBezTo>
                  <a:pt x="166023" y="1264968"/>
                  <a:pt x="2829303" y="0"/>
                  <a:pt x="6090821" y="0"/>
                </a:cubicBez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dirty="0">
              <a:solidFill>
                <a:schemeClr val="tx1"/>
              </a:solidFill>
            </a:endParaRPr>
          </a:p>
        </p:txBody>
      </p:sp>
      <p:sp>
        <p:nvSpPr>
          <p:cNvPr id="2" name="标题 1">
            <a:extLst>
              <a:ext uri="{FF2B5EF4-FFF2-40B4-BE49-F238E27FC236}">
                <a16:creationId xmlns:a16="http://schemas.microsoft.com/office/drawing/2014/main" id="{8D16B51B-812D-66E5-D87A-16B6989FD1E0}"/>
              </a:ext>
            </a:extLst>
          </p:cNvPr>
          <p:cNvSpPr>
            <a:spLocks noGrp="1"/>
          </p:cNvSpPr>
          <p:nvPr>
            <p:ph type="title"/>
          </p:nvPr>
        </p:nvSpPr>
        <p:spPr>
          <a:xfrm>
            <a:off x="696000" y="360000"/>
            <a:ext cx="5400000" cy="429413"/>
          </a:xfrm>
        </p:spPr>
        <p:txBody>
          <a:bodyPr/>
          <a:lstStyle/>
          <a:p>
            <a:r>
              <a:rPr lang="en-US" altLang="zh-CN" dirty="0"/>
              <a:t>10.4.1 </a:t>
            </a:r>
            <a:r>
              <a:rPr lang="zh-CN" altLang="en-US" dirty="0"/>
              <a:t>沟通原则</a:t>
            </a:r>
          </a:p>
        </p:txBody>
      </p:sp>
      <p:grpSp>
        <p:nvGrpSpPr>
          <p:cNvPr id="92" name="组合 91">
            <a:extLst>
              <a:ext uri="{FF2B5EF4-FFF2-40B4-BE49-F238E27FC236}">
                <a16:creationId xmlns:a16="http://schemas.microsoft.com/office/drawing/2014/main" id="{EB75794C-315E-222F-F474-A1F31F49197E}"/>
              </a:ext>
            </a:extLst>
          </p:cNvPr>
          <p:cNvGrpSpPr/>
          <p:nvPr/>
        </p:nvGrpSpPr>
        <p:grpSpPr>
          <a:xfrm>
            <a:off x="2484039" y="3618145"/>
            <a:ext cx="901632" cy="2720780"/>
            <a:chOff x="2484039" y="3618145"/>
            <a:chExt cx="901632" cy="2720780"/>
          </a:xfrm>
        </p:grpSpPr>
        <p:grpSp>
          <p:nvGrpSpPr>
            <p:cNvPr id="49" name="组合 48">
              <a:extLst>
                <a:ext uri="{FF2B5EF4-FFF2-40B4-BE49-F238E27FC236}">
                  <a16:creationId xmlns:a16="http://schemas.microsoft.com/office/drawing/2014/main" id="{5BFD24BE-BD01-53A1-1AD1-3584202D3B84}"/>
                </a:ext>
              </a:extLst>
            </p:cNvPr>
            <p:cNvGrpSpPr/>
            <p:nvPr/>
          </p:nvGrpSpPr>
          <p:grpSpPr>
            <a:xfrm>
              <a:off x="2484039" y="4818146"/>
              <a:ext cx="901632" cy="1520779"/>
              <a:chOff x="2805107" y="4347091"/>
              <a:chExt cx="901632" cy="1520779"/>
            </a:xfrm>
          </p:grpSpPr>
          <p:sp>
            <p:nvSpPr>
              <p:cNvPr id="45" name="任意多边形: 形状 44">
                <a:extLst>
                  <a:ext uri="{FF2B5EF4-FFF2-40B4-BE49-F238E27FC236}">
                    <a16:creationId xmlns:a16="http://schemas.microsoft.com/office/drawing/2014/main" id="{BA9F0404-56BE-3584-83F3-9D0AA2807866}"/>
                  </a:ext>
                </a:extLst>
              </p:cNvPr>
              <p:cNvSpPr/>
              <p:nvPr/>
            </p:nvSpPr>
            <p:spPr>
              <a:xfrm>
                <a:off x="2805107" y="4347091"/>
                <a:ext cx="901632" cy="320778"/>
              </a:xfrm>
              <a:custGeom>
                <a:avLst/>
                <a:gdLst>
                  <a:gd name="csX0" fmla="*/ 450816 w 901632"/>
                  <a:gd name="csY0" fmla="*/ 0 h 320778"/>
                  <a:gd name="csX1" fmla="*/ 901632 w 901632"/>
                  <a:gd name="csY1" fmla="*/ 160389 h 320778"/>
                  <a:gd name="csX2" fmla="*/ 450816 w 901632"/>
                  <a:gd name="csY2" fmla="*/ 320778 h 320778"/>
                  <a:gd name="csX3" fmla="*/ 35427 w 901632"/>
                  <a:gd name="csY3" fmla="*/ 222819 h 320778"/>
                  <a:gd name="csX4" fmla="*/ 12558 w 901632"/>
                  <a:gd name="csY4" fmla="*/ 196609 h 320778"/>
                  <a:gd name="csX5" fmla="*/ 9159 w 901632"/>
                  <a:gd name="csY5" fmla="*/ 192713 h 320778"/>
                  <a:gd name="csX6" fmla="*/ 0 w 901632"/>
                  <a:gd name="csY6" fmla="*/ 160389 h 320778"/>
                  <a:gd name="csX7" fmla="*/ 450816 w 901632"/>
                  <a:gd name="csY7" fmla="*/ 0 h 3207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01632" h="320778">
                    <a:moveTo>
                      <a:pt x="450816" y="0"/>
                    </a:moveTo>
                    <a:cubicBezTo>
                      <a:pt x="699795" y="0"/>
                      <a:pt x="901632" y="71809"/>
                      <a:pt x="901632" y="160389"/>
                    </a:cubicBezTo>
                    <a:cubicBezTo>
                      <a:pt x="901632" y="248969"/>
                      <a:pt x="699795" y="320778"/>
                      <a:pt x="450816" y="320778"/>
                    </a:cubicBezTo>
                    <a:cubicBezTo>
                      <a:pt x="264082" y="320778"/>
                      <a:pt x="103865" y="280386"/>
                      <a:pt x="35427" y="222819"/>
                    </a:cubicBezTo>
                    <a:lnTo>
                      <a:pt x="12558" y="196609"/>
                    </a:lnTo>
                    <a:lnTo>
                      <a:pt x="9159" y="192713"/>
                    </a:lnTo>
                    <a:cubicBezTo>
                      <a:pt x="3154" y="182272"/>
                      <a:pt x="0" y="171462"/>
                      <a:pt x="0" y="160389"/>
                    </a:cubicBezTo>
                    <a:cubicBezTo>
                      <a:pt x="0" y="71809"/>
                      <a:pt x="201837" y="0"/>
                      <a:pt x="450816" y="0"/>
                    </a:cubicBezTo>
                    <a:close/>
                  </a:path>
                </a:pathLst>
              </a:cu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dirty="0">
                  <a:solidFill>
                    <a:schemeClr val="tx1"/>
                  </a:solidFill>
                </a:endParaRPr>
              </a:p>
            </p:txBody>
          </p:sp>
          <p:sp>
            <p:nvSpPr>
              <p:cNvPr id="42" name="任意多边形: 形状 41">
                <a:extLst>
                  <a:ext uri="{FF2B5EF4-FFF2-40B4-BE49-F238E27FC236}">
                    <a16:creationId xmlns:a16="http://schemas.microsoft.com/office/drawing/2014/main" id="{35D50A79-273E-E295-8FB6-22C73727759F}"/>
                  </a:ext>
                </a:extLst>
              </p:cNvPr>
              <p:cNvSpPr/>
              <p:nvPr/>
            </p:nvSpPr>
            <p:spPr>
              <a:xfrm>
                <a:off x="2805107" y="4507481"/>
                <a:ext cx="901632" cy="1360389"/>
              </a:xfrm>
              <a:custGeom>
                <a:avLst/>
                <a:gdLst>
                  <a:gd name="csX0" fmla="*/ 889074 w 901632"/>
                  <a:gd name="csY0" fmla="*/ 0 h 1360389"/>
                  <a:gd name="csX1" fmla="*/ 901632 w 901632"/>
                  <a:gd name="csY1" fmla="*/ 0 h 1360389"/>
                  <a:gd name="csX2" fmla="*/ 901632 w 901632"/>
                  <a:gd name="csY2" fmla="*/ 1200000 h 1360389"/>
                  <a:gd name="csX3" fmla="*/ 450816 w 901632"/>
                  <a:gd name="csY3" fmla="*/ 1360389 h 1360389"/>
                  <a:gd name="csX4" fmla="*/ 0 w 901632"/>
                  <a:gd name="csY4" fmla="*/ 1200000 h 1360389"/>
                  <a:gd name="csX5" fmla="*/ 0 w 901632"/>
                  <a:gd name="csY5" fmla="*/ 36220 h 1360389"/>
                  <a:gd name="csX6" fmla="*/ 22869 w 901632"/>
                  <a:gd name="csY6" fmla="*/ 62430 h 1360389"/>
                  <a:gd name="csX7" fmla="*/ 438258 w 901632"/>
                  <a:gd name="csY7" fmla="*/ 160389 h 1360389"/>
                  <a:gd name="csX8" fmla="*/ 889074 w 901632"/>
                  <a:gd name="csY8" fmla="*/ 0 h 13603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01632" h="1360389">
                    <a:moveTo>
                      <a:pt x="889074" y="0"/>
                    </a:moveTo>
                    <a:lnTo>
                      <a:pt x="901632" y="0"/>
                    </a:lnTo>
                    <a:lnTo>
                      <a:pt x="901632" y="1200000"/>
                    </a:lnTo>
                    <a:cubicBezTo>
                      <a:pt x="901632" y="1288580"/>
                      <a:pt x="699795" y="1360389"/>
                      <a:pt x="450816" y="1360389"/>
                    </a:cubicBezTo>
                    <a:cubicBezTo>
                      <a:pt x="201837" y="1360389"/>
                      <a:pt x="0" y="1288580"/>
                      <a:pt x="0" y="1200000"/>
                    </a:cubicBezTo>
                    <a:lnTo>
                      <a:pt x="0" y="36220"/>
                    </a:lnTo>
                    <a:lnTo>
                      <a:pt x="22869" y="62430"/>
                    </a:lnTo>
                    <a:cubicBezTo>
                      <a:pt x="91307" y="119997"/>
                      <a:pt x="251524" y="160389"/>
                      <a:pt x="438258" y="160389"/>
                    </a:cubicBezTo>
                    <a:cubicBezTo>
                      <a:pt x="687237" y="160389"/>
                      <a:pt x="889074" y="88580"/>
                      <a:pt x="889074" y="0"/>
                    </a:cubicBezTo>
                    <a:close/>
                  </a:path>
                </a:pathLst>
              </a:custGeom>
              <a:gradFill>
                <a:gsLst>
                  <a:gs pos="0">
                    <a:schemeClr val="accent5">
                      <a:lumMod val="67000"/>
                    </a:schemeClr>
                  </a:gs>
                  <a:gs pos="48000">
                    <a:schemeClr val="accent5">
                      <a:lumMod val="97000"/>
                      <a:lumOff val="3000"/>
                    </a:schemeClr>
                  </a:gs>
                  <a:gs pos="100000">
                    <a:schemeClr val="accent5">
                      <a:lumMod val="60000"/>
                      <a:lumOff val="4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dirty="0">
                  <a:solidFill>
                    <a:schemeClr val="tx1"/>
                  </a:solidFill>
                </a:endParaRPr>
              </a:p>
            </p:txBody>
          </p:sp>
        </p:grpSp>
        <p:grpSp>
          <p:nvGrpSpPr>
            <p:cNvPr id="48" name="组合 47">
              <a:extLst>
                <a:ext uri="{FF2B5EF4-FFF2-40B4-BE49-F238E27FC236}">
                  <a16:creationId xmlns:a16="http://schemas.microsoft.com/office/drawing/2014/main" id="{B82522A3-39D2-5DA6-56CF-AF95D1F2F6CE}"/>
                </a:ext>
              </a:extLst>
            </p:cNvPr>
            <p:cNvGrpSpPr/>
            <p:nvPr/>
          </p:nvGrpSpPr>
          <p:grpSpPr>
            <a:xfrm>
              <a:off x="2484039" y="3618145"/>
              <a:ext cx="901632" cy="1520779"/>
              <a:chOff x="2805107" y="3147090"/>
              <a:chExt cx="901632" cy="1520779"/>
            </a:xfrm>
          </p:grpSpPr>
          <p:sp>
            <p:nvSpPr>
              <p:cNvPr id="46" name="任意多边形: 形状 45">
                <a:extLst>
                  <a:ext uri="{FF2B5EF4-FFF2-40B4-BE49-F238E27FC236}">
                    <a16:creationId xmlns:a16="http://schemas.microsoft.com/office/drawing/2014/main" id="{AD92F3C7-8E89-AAC9-3F19-D545E125CC81}"/>
                  </a:ext>
                </a:extLst>
              </p:cNvPr>
              <p:cNvSpPr/>
              <p:nvPr/>
            </p:nvSpPr>
            <p:spPr>
              <a:xfrm>
                <a:off x="2805107" y="3147090"/>
                <a:ext cx="901632" cy="320778"/>
              </a:xfrm>
              <a:custGeom>
                <a:avLst/>
                <a:gdLst>
                  <a:gd name="csX0" fmla="*/ 450816 w 901632"/>
                  <a:gd name="csY0" fmla="*/ 0 h 320778"/>
                  <a:gd name="csX1" fmla="*/ 901632 w 901632"/>
                  <a:gd name="csY1" fmla="*/ 160389 h 320778"/>
                  <a:gd name="csX2" fmla="*/ 450816 w 901632"/>
                  <a:gd name="csY2" fmla="*/ 320778 h 320778"/>
                  <a:gd name="csX3" fmla="*/ 35427 w 901632"/>
                  <a:gd name="csY3" fmla="*/ 222819 h 320778"/>
                  <a:gd name="csX4" fmla="*/ 12558 w 901632"/>
                  <a:gd name="csY4" fmla="*/ 196609 h 320778"/>
                  <a:gd name="csX5" fmla="*/ 9159 w 901632"/>
                  <a:gd name="csY5" fmla="*/ 192713 h 320778"/>
                  <a:gd name="csX6" fmla="*/ 0 w 901632"/>
                  <a:gd name="csY6" fmla="*/ 160389 h 320778"/>
                  <a:gd name="csX7" fmla="*/ 450816 w 901632"/>
                  <a:gd name="csY7" fmla="*/ 0 h 3207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01632" h="320778">
                    <a:moveTo>
                      <a:pt x="450816" y="0"/>
                    </a:moveTo>
                    <a:cubicBezTo>
                      <a:pt x="699795" y="0"/>
                      <a:pt x="901632" y="71809"/>
                      <a:pt x="901632" y="160389"/>
                    </a:cubicBezTo>
                    <a:cubicBezTo>
                      <a:pt x="901632" y="248969"/>
                      <a:pt x="699795" y="320778"/>
                      <a:pt x="450816" y="320778"/>
                    </a:cubicBezTo>
                    <a:cubicBezTo>
                      <a:pt x="264082" y="320778"/>
                      <a:pt x="103865" y="280386"/>
                      <a:pt x="35427" y="222819"/>
                    </a:cubicBezTo>
                    <a:lnTo>
                      <a:pt x="12558" y="196609"/>
                    </a:lnTo>
                    <a:lnTo>
                      <a:pt x="9159" y="192713"/>
                    </a:lnTo>
                    <a:cubicBezTo>
                      <a:pt x="3154" y="182272"/>
                      <a:pt x="0" y="171462"/>
                      <a:pt x="0" y="160389"/>
                    </a:cubicBezTo>
                    <a:cubicBezTo>
                      <a:pt x="0" y="71809"/>
                      <a:pt x="201837" y="0"/>
                      <a:pt x="450816" y="0"/>
                    </a:cubicBezTo>
                    <a:close/>
                  </a:path>
                </a:pathLst>
              </a:custGeom>
              <a:solidFill>
                <a:schemeClr val="accent5">
                  <a:lumMod val="75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dirty="0">
                  <a:solidFill>
                    <a:schemeClr val="tx1"/>
                  </a:solidFill>
                </a:endParaRPr>
              </a:p>
            </p:txBody>
          </p:sp>
          <p:sp>
            <p:nvSpPr>
              <p:cNvPr id="47" name="任意多边形: 形状 46">
                <a:extLst>
                  <a:ext uri="{FF2B5EF4-FFF2-40B4-BE49-F238E27FC236}">
                    <a16:creationId xmlns:a16="http://schemas.microsoft.com/office/drawing/2014/main" id="{6EF2C75A-9A31-892F-7E33-0062C57A0A9E}"/>
                  </a:ext>
                </a:extLst>
              </p:cNvPr>
              <p:cNvSpPr/>
              <p:nvPr/>
            </p:nvSpPr>
            <p:spPr>
              <a:xfrm>
                <a:off x="2805107" y="3307480"/>
                <a:ext cx="901632" cy="1360389"/>
              </a:xfrm>
              <a:custGeom>
                <a:avLst/>
                <a:gdLst>
                  <a:gd name="csX0" fmla="*/ 889074 w 901632"/>
                  <a:gd name="csY0" fmla="*/ 0 h 1360389"/>
                  <a:gd name="csX1" fmla="*/ 901632 w 901632"/>
                  <a:gd name="csY1" fmla="*/ 0 h 1360389"/>
                  <a:gd name="csX2" fmla="*/ 901632 w 901632"/>
                  <a:gd name="csY2" fmla="*/ 1200000 h 1360389"/>
                  <a:gd name="csX3" fmla="*/ 450816 w 901632"/>
                  <a:gd name="csY3" fmla="*/ 1360389 h 1360389"/>
                  <a:gd name="csX4" fmla="*/ 0 w 901632"/>
                  <a:gd name="csY4" fmla="*/ 1200000 h 1360389"/>
                  <a:gd name="csX5" fmla="*/ 0 w 901632"/>
                  <a:gd name="csY5" fmla="*/ 36220 h 1360389"/>
                  <a:gd name="csX6" fmla="*/ 22869 w 901632"/>
                  <a:gd name="csY6" fmla="*/ 62430 h 1360389"/>
                  <a:gd name="csX7" fmla="*/ 438258 w 901632"/>
                  <a:gd name="csY7" fmla="*/ 160389 h 1360389"/>
                  <a:gd name="csX8" fmla="*/ 889074 w 901632"/>
                  <a:gd name="csY8" fmla="*/ 0 h 13603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01632" h="1360389">
                    <a:moveTo>
                      <a:pt x="889074" y="0"/>
                    </a:moveTo>
                    <a:lnTo>
                      <a:pt x="901632" y="0"/>
                    </a:lnTo>
                    <a:lnTo>
                      <a:pt x="901632" y="1200000"/>
                    </a:lnTo>
                    <a:cubicBezTo>
                      <a:pt x="901632" y="1288580"/>
                      <a:pt x="699795" y="1360389"/>
                      <a:pt x="450816" y="1360389"/>
                    </a:cubicBezTo>
                    <a:cubicBezTo>
                      <a:pt x="201837" y="1360389"/>
                      <a:pt x="0" y="1288580"/>
                      <a:pt x="0" y="1200000"/>
                    </a:cubicBezTo>
                    <a:lnTo>
                      <a:pt x="0" y="36220"/>
                    </a:lnTo>
                    <a:lnTo>
                      <a:pt x="22869" y="62430"/>
                    </a:lnTo>
                    <a:cubicBezTo>
                      <a:pt x="91307" y="119997"/>
                      <a:pt x="251524" y="160389"/>
                      <a:pt x="438258" y="160389"/>
                    </a:cubicBezTo>
                    <a:cubicBezTo>
                      <a:pt x="687237" y="160389"/>
                      <a:pt x="889074" y="88580"/>
                      <a:pt x="889074" y="0"/>
                    </a:cubicBezTo>
                    <a:close/>
                  </a:path>
                </a:pathLst>
              </a:custGeom>
              <a:gradFill>
                <a:gsLst>
                  <a:gs pos="0">
                    <a:schemeClr val="accent5">
                      <a:lumMod val="67000"/>
                      <a:alpha val="10000"/>
                    </a:schemeClr>
                  </a:gs>
                  <a:gs pos="48000">
                    <a:schemeClr val="accent5">
                      <a:lumMod val="97000"/>
                      <a:lumOff val="3000"/>
                      <a:alpha val="10000"/>
                    </a:schemeClr>
                  </a:gs>
                  <a:gs pos="100000">
                    <a:schemeClr val="accent5">
                      <a:lumMod val="60000"/>
                      <a:lumOff val="40000"/>
                      <a:alpha val="1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dirty="0">
                  <a:solidFill>
                    <a:schemeClr val="tx1"/>
                  </a:solidFill>
                </a:endParaRPr>
              </a:p>
            </p:txBody>
          </p:sp>
        </p:grpSp>
      </p:grpSp>
      <p:grpSp>
        <p:nvGrpSpPr>
          <p:cNvPr id="93" name="组合 92">
            <a:extLst>
              <a:ext uri="{FF2B5EF4-FFF2-40B4-BE49-F238E27FC236}">
                <a16:creationId xmlns:a16="http://schemas.microsoft.com/office/drawing/2014/main" id="{CC0CD7D8-300B-82C8-E569-FAB7BD002CD7}"/>
              </a:ext>
            </a:extLst>
          </p:cNvPr>
          <p:cNvGrpSpPr/>
          <p:nvPr/>
        </p:nvGrpSpPr>
        <p:grpSpPr>
          <a:xfrm>
            <a:off x="4419057" y="3618145"/>
            <a:ext cx="901632" cy="2720780"/>
            <a:chOff x="4419057" y="3618145"/>
            <a:chExt cx="901632" cy="2720780"/>
          </a:xfrm>
        </p:grpSpPr>
        <p:grpSp>
          <p:nvGrpSpPr>
            <p:cNvPr id="50" name="组合 49">
              <a:extLst>
                <a:ext uri="{FF2B5EF4-FFF2-40B4-BE49-F238E27FC236}">
                  <a16:creationId xmlns:a16="http://schemas.microsoft.com/office/drawing/2014/main" id="{914FB2DC-3691-BBB1-A54E-B30E89C9B5CF}"/>
                </a:ext>
              </a:extLst>
            </p:cNvPr>
            <p:cNvGrpSpPr/>
            <p:nvPr/>
          </p:nvGrpSpPr>
          <p:grpSpPr>
            <a:xfrm>
              <a:off x="4419057" y="4818146"/>
              <a:ext cx="901632" cy="1520779"/>
              <a:chOff x="2805107" y="4347091"/>
              <a:chExt cx="901632" cy="1520779"/>
            </a:xfrm>
          </p:grpSpPr>
          <p:sp>
            <p:nvSpPr>
              <p:cNvPr id="51" name="任意多边形: 形状 50">
                <a:extLst>
                  <a:ext uri="{FF2B5EF4-FFF2-40B4-BE49-F238E27FC236}">
                    <a16:creationId xmlns:a16="http://schemas.microsoft.com/office/drawing/2014/main" id="{0B8CB140-0A89-56A8-3382-0B875E047B0B}"/>
                  </a:ext>
                </a:extLst>
              </p:cNvPr>
              <p:cNvSpPr/>
              <p:nvPr/>
            </p:nvSpPr>
            <p:spPr>
              <a:xfrm>
                <a:off x="2805107" y="4347091"/>
                <a:ext cx="901632" cy="320778"/>
              </a:xfrm>
              <a:custGeom>
                <a:avLst/>
                <a:gdLst>
                  <a:gd name="csX0" fmla="*/ 450816 w 901632"/>
                  <a:gd name="csY0" fmla="*/ 0 h 320778"/>
                  <a:gd name="csX1" fmla="*/ 901632 w 901632"/>
                  <a:gd name="csY1" fmla="*/ 160389 h 320778"/>
                  <a:gd name="csX2" fmla="*/ 450816 w 901632"/>
                  <a:gd name="csY2" fmla="*/ 320778 h 320778"/>
                  <a:gd name="csX3" fmla="*/ 35427 w 901632"/>
                  <a:gd name="csY3" fmla="*/ 222819 h 320778"/>
                  <a:gd name="csX4" fmla="*/ 12558 w 901632"/>
                  <a:gd name="csY4" fmla="*/ 196609 h 320778"/>
                  <a:gd name="csX5" fmla="*/ 9159 w 901632"/>
                  <a:gd name="csY5" fmla="*/ 192713 h 320778"/>
                  <a:gd name="csX6" fmla="*/ 0 w 901632"/>
                  <a:gd name="csY6" fmla="*/ 160389 h 320778"/>
                  <a:gd name="csX7" fmla="*/ 450816 w 901632"/>
                  <a:gd name="csY7" fmla="*/ 0 h 3207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01632" h="320778">
                    <a:moveTo>
                      <a:pt x="450816" y="0"/>
                    </a:moveTo>
                    <a:cubicBezTo>
                      <a:pt x="699795" y="0"/>
                      <a:pt x="901632" y="71809"/>
                      <a:pt x="901632" y="160389"/>
                    </a:cubicBezTo>
                    <a:cubicBezTo>
                      <a:pt x="901632" y="248969"/>
                      <a:pt x="699795" y="320778"/>
                      <a:pt x="450816" y="320778"/>
                    </a:cubicBezTo>
                    <a:cubicBezTo>
                      <a:pt x="264082" y="320778"/>
                      <a:pt x="103865" y="280386"/>
                      <a:pt x="35427" y="222819"/>
                    </a:cubicBezTo>
                    <a:lnTo>
                      <a:pt x="12558" y="196609"/>
                    </a:lnTo>
                    <a:lnTo>
                      <a:pt x="9159" y="192713"/>
                    </a:lnTo>
                    <a:cubicBezTo>
                      <a:pt x="3154" y="182272"/>
                      <a:pt x="0" y="171462"/>
                      <a:pt x="0" y="160389"/>
                    </a:cubicBezTo>
                    <a:cubicBezTo>
                      <a:pt x="0" y="71809"/>
                      <a:pt x="201837" y="0"/>
                      <a:pt x="450816" y="0"/>
                    </a:cubicBezTo>
                    <a:close/>
                  </a:path>
                </a:pathLst>
              </a:cu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dirty="0">
                  <a:solidFill>
                    <a:schemeClr val="tx1"/>
                  </a:solidFill>
                </a:endParaRPr>
              </a:p>
            </p:txBody>
          </p:sp>
          <p:sp>
            <p:nvSpPr>
              <p:cNvPr id="52" name="任意多边形: 形状 51">
                <a:extLst>
                  <a:ext uri="{FF2B5EF4-FFF2-40B4-BE49-F238E27FC236}">
                    <a16:creationId xmlns:a16="http://schemas.microsoft.com/office/drawing/2014/main" id="{03905F9D-B8C0-BAE7-E14A-C819C6CA1CE2}"/>
                  </a:ext>
                </a:extLst>
              </p:cNvPr>
              <p:cNvSpPr/>
              <p:nvPr/>
            </p:nvSpPr>
            <p:spPr>
              <a:xfrm>
                <a:off x="2805107" y="4507481"/>
                <a:ext cx="901632" cy="1360389"/>
              </a:xfrm>
              <a:custGeom>
                <a:avLst/>
                <a:gdLst>
                  <a:gd name="csX0" fmla="*/ 889074 w 901632"/>
                  <a:gd name="csY0" fmla="*/ 0 h 1360389"/>
                  <a:gd name="csX1" fmla="*/ 901632 w 901632"/>
                  <a:gd name="csY1" fmla="*/ 0 h 1360389"/>
                  <a:gd name="csX2" fmla="*/ 901632 w 901632"/>
                  <a:gd name="csY2" fmla="*/ 1200000 h 1360389"/>
                  <a:gd name="csX3" fmla="*/ 450816 w 901632"/>
                  <a:gd name="csY3" fmla="*/ 1360389 h 1360389"/>
                  <a:gd name="csX4" fmla="*/ 0 w 901632"/>
                  <a:gd name="csY4" fmla="*/ 1200000 h 1360389"/>
                  <a:gd name="csX5" fmla="*/ 0 w 901632"/>
                  <a:gd name="csY5" fmla="*/ 36220 h 1360389"/>
                  <a:gd name="csX6" fmla="*/ 22869 w 901632"/>
                  <a:gd name="csY6" fmla="*/ 62430 h 1360389"/>
                  <a:gd name="csX7" fmla="*/ 438258 w 901632"/>
                  <a:gd name="csY7" fmla="*/ 160389 h 1360389"/>
                  <a:gd name="csX8" fmla="*/ 889074 w 901632"/>
                  <a:gd name="csY8" fmla="*/ 0 h 13603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01632" h="1360389">
                    <a:moveTo>
                      <a:pt x="889074" y="0"/>
                    </a:moveTo>
                    <a:lnTo>
                      <a:pt x="901632" y="0"/>
                    </a:lnTo>
                    <a:lnTo>
                      <a:pt x="901632" y="1200000"/>
                    </a:lnTo>
                    <a:cubicBezTo>
                      <a:pt x="901632" y="1288580"/>
                      <a:pt x="699795" y="1360389"/>
                      <a:pt x="450816" y="1360389"/>
                    </a:cubicBezTo>
                    <a:cubicBezTo>
                      <a:pt x="201837" y="1360389"/>
                      <a:pt x="0" y="1288580"/>
                      <a:pt x="0" y="1200000"/>
                    </a:cubicBezTo>
                    <a:lnTo>
                      <a:pt x="0" y="36220"/>
                    </a:lnTo>
                    <a:lnTo>
                      <a:pt x="22869" y="62430"/>
                    </a:lnTo>
                    <a:cubicBezTo>
                      <a:pt x="91307" y="119997"/>
                      <a:pt x="251524" y="160389"/>
                      <a:pt x="438258" y="160389"/>
                    </a:cubicBezTo>
                    <a:cubicBezTo>
                      <a:pt x="687237" y="160389"/>
                      <a:pt x="889074" y="88580"/>
                      <a:pt x="889074" y="0"/>
                    </a:cubicBezTo>
                    <a:close/>
                  </a:path>
                </a:pathLst>
              </a:custGeom>
              <a:gradFill>
                <a:gsLst>
                  <a:gs pos="0">
                    <a:schemeClr val="accent6">
                      <a:lumMod val="50000"/>
                    </a:schemeClr>
                  </a:gs>
                  <a:gs pos="48000">
                    <a:schemeClr val="accent6">
                      <a:lumMod val="60000"/>
                      <a:lumOff val="40000"/>
                    </a:schemeClr>
                  </a:gs>
                  <a:gs pos="100000">
                    <a:schemeClr val="accent6">
                      <a:lumMod val="20000"/>
                      <a:lumOff val="8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dirty="0">
                  <a:solidFill>
                    <a:schemeClr val="tx1"/>
                  </a:solidFill>
                </a:endParaRPr>
              </a:p>
            </p:txBody>
          </p:sp>
        </p:grpSp>
        <p:grpSp>
          <p:nvGrpSpPr>
            <p:cNvPr id="53" name="组合 52">
              <a:extLst>
                <a:ext uri="{FF2B5EF4-FFF2-40B4-BE49-F238E27FC236}">
                  <a16:creationId xmlns:a16="http://schemas.microsoft.com/office/drawing/2014/main" id="{40D623E9-2B9A-D47F-61D3-63892EAAE8FA}"/>
                </a:ext>
              </a:extLst>
            </p:cNvPr>
            <p:cNvGrpSpPr/>
            <p:nvPr/>
          </p:nvGrpSpPr>
          <p:grpSpPr>
            <a:xfrm>
              <a:off x="4419057" y="3618145"/>
              <a:ext cx="901632" cy="1520779"/>
              <a:chOff x="2805107" y="3147090"/>
              <a:chExt cx="901632" cy="1520779"/>
            </a:xfrm>
          </p:grpSpPr>
          <p:sp>
            <p:nvSpPr>
              <p:cNvPr id="54" name="任意多边形: 形状 53">
                <a:extLst>
                  <a:ext uri="{FF2B5EF4-FFF2-40B4-BE49-F238E27FC236}">
                    <a16:creationId xmlns:a16="http://schemas.microsoft.com/office/drawing/2014/main" id="{00F5C78B-12AB-5190-8E6E-24273CB6CBA9}"/>
                  </a:ext>
                </a:extLst>
              </p:cNvPr>
              <p:cNvSpPr/>
              <p:nvPr/>
            </p:nvSpPr>
            <p:spPr>
              <a:xfrm>
                <a:off x="2805107" y="3147090"/>
                <a:ext cx="901632" cy="320778"/>
              </a:xfrm>
              <a:custGeom>
                <a:avLst/>
                <a:gdLst>
                  <a:gd name="csX0" fmla="*/ 450816 w 901632"/>
                  <a:gd name="csY0" fmla="*/ 0 h 320778"/>
                  <a:gd name="csX1" fmla="*/ 901632 w 901632"/>
                  <a:gd name="csY1" fmla="*/ 160389 h 320778"/>
                  <a:gd name="csX2" fmla="*/ 450816 w 901632"/>
                  <a:gd name="csY2" fmla="*/ 320778 h 320778"/>
                  <a:gd name="csX3" fmla="*/ 35427 w 901632"/>
                  <a:gd name="csY3" fmla="*/ 222819 h 320778"/>
                  <a:gd name="csX4" fmla="*/ 12558 w 901632"/>
                  <a:gd name="csY4" fmla="*/ 196609 h 320778"/>
                  <a:gd name="csX5" fmla="*/ 9159 w 901632"/>
                  <a:gd name="csY5" fmla="*/ 192713 h 320778"/>
                  <a:gd name="csX6" fmla="*/ 0 w 901632"/>
                  <a:gd name="csY6" fmla="*/ 160389 h 320778"/>
                  <a:gd name="csX7" fmla="*/ 450816 w 901632"/>
                  <a:gd name="csY7" fmla="*/ 0 h 3207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01632" h="320778">
                    <a:moveTo>
                      <a:pt x="450816" y="0"/>
                    </a:moveTo>
                    <a:cubicBezTo>
                      <a:pt x="699795" y="0"/>
                      <a:pt x="901632" y="71809"/>
                      <a:pt x="901632" y="160389"/>
                    </a:cubicBezTo>
                    <a:cubicBezTo>
                      <a:pt x="901632" y="248969"/>
                      <a:pt x="699795" y="320778"/>
                      <a:pt x="450816" y="320778"/>
                    </a:cubicBezTo>
                    <a:cubicBezTo>
                      <a:pt x="264082" y="320778"/>
                      <a:pt x="103865" y="280386"/>
                      <a:pt x="35427" y="222819"/>
                    </a:cubicBezTo>
                    <a:lnTo>
                      <a:pt x="12558" y="196609"/>
                    </a:lnTo>
                    <a:lnTo>
                      <a:pt x="9159" y="192713"/>
                    </a:lnTo>
                    <a:cubicBezTo>
                      <a:pt x="3154" y="182272"/>
                      <a:pt x="0" y="171462"/>
                      <a:pt x="0" y="160389"/>
                    </a:cubicBezTo>
                    <a:cubicBezTo>
                      <a:pt x="0" y="71809"/>
                      <a:pt x="201837" y="0"/>
                      <a:pt x="450816" y="0"/>
                    </a:cubicBezTo>
                    <a:close/>
                  </a:path>
                </a:pathLst>
              </a:custGeom>
              <a:solidFill>
                <a:schemeClr val="accent6">
                  <a:lumMod val="75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dirty="0">
                  <a:solidFill>
                    <a:schemeClr val="tx1"/>
                  </a:solidFill>
                </a:endParaRPr>
              </a:p>
            </p:txBody>
          </p:sp>
          <p:sp>
            <p:nvSpPr>
              <p:cNvPr id="55" name="任意多边形: 形状 54">
                <a:extLst>
                  <a:ext uri="{FF2B5EF4-FFF2-40B4-BE49-F238E27FC236}">
                    <a16:creationId xmlns:a16="http://schemas.microsoft.com/office/drawing/2014/main" id="{BEAF3526-D724-AB83-A704-1EB607F4B96A}"/>
                  </a:ext>
                </a:extLst>
              </p:cNvPr>
              <p:cNvSpPr/>
              <p:nvPr/>
            </p:nvSpPr>
            <p:spPr>
              <a:xfrm>
                <a:off x="2805107" y="3307480"/>
                <a:ext cx="901632" cy="1360389"/>
              </a:xfrm>
              <a:custGeom>
                <a:avLst/>
                <a:gdLst>
                  <a:gd name="csX0" fmla="*/ 889074 w 901632"/>
                  <a:gd name="csY0" fmla="*/ 0 h 1360389"/>
                  <a:gd name="csX1" fmla="*/ 901632 w 901632"/>
                  <a:gd name="csY1" fmla="*/ 0 h 1360389"/>
                  <a:gd name="csX2" fmla="*/ 901632 w 901632"/>
                  <a:gd name="csY2" fmla="*/ 1200000 h 1360389"/>
                  <a:gd name="csX3" fmla="*/ 450816 w 901632"/>
                  <a:gd name="csY3" fmla="*/ 1360389 h 1360389"/>
                  <a:gd name="csX4" fmla="*/ 0 w 901632"/>
                  <a:gd name="csY4" fmla="*/ 1200000 h 1360389"/>
                  <a:gd name="csX5" fmla="*/ 0 w 901632"/>
                  <a:gd name="csY5" fmla="*/ 36220 h 1360389"/>
                  <a:gd name="csX6" fmla="*/ 22869 w 901632"/>
                  <a:gd name="csY6" fmla="*/ 62430 h 1360389"/>
                  <a:gd name="csX7" fmla="*/ 438258 w 901632"/>
                  <a:gd name="csY7" fmla="*/ 160389 h 1360389"/>
                  <a:gd name="csX8" fmla="*/ 889074 w 901632"/>
                  <a:gd name="csY8" fmla="*/ 0 h 13603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01632" h="1360389">
                    <a:moveTo>
                      <a:pt x="889074" y="0"/>
                    </a:moveTo>
                    <a:lnTo>
                      <a:pt x="901632" y="0"/>
                    </a:lnTo>
                    <a:lnTo>
                      <a:pt x="901632" y="1200000"/>
                    </a:lnTo>
                    <a:cubicBezTo>
                      <a:pt x="901632" y="1288580"/>
                      <a:pt x="699795" y="1360389"/>
                      <a:pt x="450816" y="1360389"/>
                    </a:cubicBezTo>
                    <a:cubicBezTo>
                      <a:pt x="201837" y="1360389"/>
                      <a:pt x="0" y="1288580"/>
                      <a:pt x="0" y="1200000"/>
                    </a:cubicBezTo>
                    <a:lnTo>
                      <a:pt x="0" y="36220"/>
                    </a:lnTo>
                    <a:lnTo>
                      <a:pt x="22869" y="62430"/>
                    </a:lnTo>
                    <a:cubicBezTo>
                      <a:pt x="91307" y="119997"/>
                      <a:pt x="251524" y="160389"/>
                      <a:pt x="438258" y="160389"/>
                    </a:cubicBezTo>
                    <a:cubicBezTo>
                      <a:pt x="687237" y="160389"/>
                      <a:pt x="889074" y="88580"/>
                      <a:pt x="889074" y="0"/>
                    </a:cubicBezTo>
                    <a:close/>
                  </a:path>
                </a:pathLst>
              </a:custGeom>
              <a:gradFill>
                <a:gsLst>
                  <a:gs pos="0">
                    <a:schemeClr val="accent6">
                      <a:lumMod val="50000"/>
                      <a:alpha val="10000"/>
                    </a:schemeClr>
                  </a:gs>
                  <a:gs pos="48000">
                    <a:schemeClr val="accent6">
                      <a:lumMod val="75000"/>
                      <a:alpha val="10000"/>
                    </a:schemeClr>
                  </a:gs>
                  <a:gs pos="100000">
                    <a:schemeClr val="accent6">
                      <a:lumMod val="20000"/>
                      <a:lumOff val="80000"/>
                      <a:alpha val="1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dirty="0">
                  <a:solidFill>
                    <a:schemeClr val="tx1"/>
                  </a:solidFill>
                </a:endParaRPr>
              </a:p>
            </p:txBody>
          </p:sp>
        </p:grpSp>
      </p:grpSp>
      <p:grpSp>
        <p:nvGrpSpPr>
          <p:cNvPr id="98" name="组合 97">
            <a:extLst>
              <a:ext uri="{FF2B5EF4-FFF2-40B4-BE49-F238E27FC236}">
                <a16:creationId xmlns:a16="http://schemas.microsoft.com/office/drawing/2014/main" id="{F587C59B-63A9-B74E-CB3E-A6F5647DA269}"/>
              </a:ext>
            </a:extLst>
          </p:cNvPr>
          <p:cNvGrpSpPr/>
          <p:nvPr/>
        </p:nvGrpSpPr>
        <p:grpSpPr>
          <a:xfrm>
            <a:off x="6612693" y="3618145"/>
            <a:ext cx="901632" cy="2720780"/>
            <a:chOff x="6612693" y="3618145"/>
            <a:chExt cx="901632" cy="2720780"/>
          </a:xfrm>
        </p:grpSpPr>
        <p:grpSp>
          <p:nvGrpSpPr>
            <p:cNvPr id="56" name="组合 55">
              <a:extLst>
                <a:ext uri="{FF2B5EF4-FFF2-40B4-BE49-F238E27FC236}">
                  <a16:creationId xmlns:a16="http://schemas.microsoft.com/office/drawing/2014/main" id="{E814DC56-782B-3855-7E74-FC3843A17323}"/>
                </a:ext>
              </a:extLst>
            </p:cNvPr>
            <p:cNvGrpSpPr/>
            <p:nvPr/>
          </p:nvGrpSpPr>
          <p:grpSpPr>
            <a:xfrm>
              <a:off x="6612693" y="4818146"/>
              <a:ext cx="901632" cy="1520779"/>
              <a:chOff x="2805107" y="4347091"/>
              <a:chExt cx="901632" cy="1520779"/>
            </a:xfrm>
          </p:grpSpPr>
          <p:sp>
            <p:nvSpPr>
              <p:cNvPr id="57" name="任意多边形: 形状 56">
                <a:extLst>
                  <a:ext uri="{FF2B5EF4-FFF2-40B4-BE49-F238E27FC236}">
                    <a16:creationId xmlns:a16="http://schemas.microsoft.com/office/drawing/2014/main" id="{64690D93-CBCD-9372-1FB1-D80EF8423A40}"/>
                  </a:ext>
                </a:extLst>
              </p:cNvPr>
              <p:cNvSpPr/>
              <p:nvPr/>
            </p:nvSpPr>
            <p:spPr>
              <a:xfrm>
                <a:off x="2805107" y="4347091"/>
                <a:ext cx="901632" cy="320778"/>
              </a:xfrm>
              <a:custGeom>
                <a:avLst/>
                <a:gdLst>
                  <a:gd name="csX0" fmla="*/ 450816 w 901632"/>
                  <a:gd name="csY0" fmla="*/ 0 h 320778"/>
                  <a:gd name="csX1" fmla="*/ 901632 w 901632"/>
                  <a:gd name="csY1" fmla="*/ 160389 h 320778"/>
                  <a:gd name="csX2" fmla="*/ 450816 w 901632"/>
                  <a:gd name="csY2" fmla="*/ 320778 h 320778"/>
                  <a:gd name="csX3" fmla="*/ 35427 w 901632"/>
                  <a:gd name="csY3" fmla="*/ 222819 h 320778"/>
                  <a:gd name="csX4" fmla="*/ 12558 w 901632"/>
                  <a:gd name="csY4" fmla="*/ 196609 h 320778"/>
                  <a:gd name="csX5" fmla="*/ 9159 w 901632"/>
                  <a:gd name="csY5" fmla="*/ 192713 h 320778"/>
                  <a:gd name="csX6" fmla="*/ 0 w 901632"/>
                  <a:gd name="csY6" fmla="*/ 160389 h 320778"/>
                  <a:gd name="csX7" fmla="*/ 450816 w 901632"/>
                  <a:gd name="csY7" fmla="*/ 0 h 3207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01632" h="320778">
                    <a:moveTo>
                      <a:pt x="450816" y="0"/>
                    </a:moveTo>
                    <a:cubicBezTo>
                      <a:pt x="699795" y="0"/>
                      <a:pt x="901632" y="71809"/>
                      <a:pt x="901632" y="160389"/>
                    </a:cubicBezTo>
                    <a:cubicBezTo>
                      <a:pt x="901632" y="248969"/>
                      <a:pt x="699795" y="320778"/>
                      <a:pt x="450816" y="320778"/>
                    </a:cubicBezTo>
                    <a:cubicBezTo>
                      <a:pt x="264082" y="320778"/>
                      <a:pt x="103865" y="280386"/>
                      <a:pt x="35427" y="222819"/>
                    </a:cubicBezTo>
                    <a:lnTo>
                      <a:pt x="12558" y="196609"/>
                    </a:lnTo>
                    <a:lnTo>
                      <a:pt x="9159" y="192713"/>
                    </a:lnTo>
                    <a:cubicBezTo>
                      <a:pt x="3154" y="182272"/>
                      <a:pt x="0" y="171462"/>
                      <a:pt x="0" y="160389"/>
                    </a:cubicBezTo>
                    <a:cubicBezTo>
                      <a:pt x="0" y="71809"/>
                      <a:pt x="201837" y="0"/>
                      <a:pt x="450816" y="0"/>
                    </a:cubicBezTo>
                    <a:close/>
                  </a:path>
                </a:pathLst>
              </a:cu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dirty="0">
                  <a:solidFill>
                    <a:schemeClr val="tx1"/>
                  </a:solidFill>
                </a:endParaRPr>
              </a:p>
            </p:txBody>
          </p:sp>
          <p:sp>
            <p:nvSpPr>
              <p:cNvPr id="58" name="任意多边形: 形状 57">
                <a:extLst>
                  <a:ext uri="{FF2B5EF4-FFF2-40B4-BE49-F238E27FC236}">
                    <a16:creationId xmlns:a16="http://schemas.microsoft.com/office/drawing/2014/main" id="{5D249ECF-4842-8FA4-741B-66153327BEAF}"/>
                  </a:ext>
                </a:extLst>
              </p:cNvPr>
              <p:cNvSpPr/>
              <p:nvPr/>
            </p:nvSpPr>
            <p:spPr>
              <a:xfrm>
                <a:off x="2805107" y="4507481"/>
                <a:ext cx="901632" cy="1360389"/>
              </a:xfrm>
              <a:custGeom>
                <a:avLst/>
                <a:gdLst>
                  <a:gd name="csX0" fmla="*/ 889074 w 901632"/>
                  <a:gd name="csY0" fmla="*/ 0 h 1360389"/>
                  <a:gd name="csX1" fmla="*/ 901632 w 901632"/>
                  <a:gd name="csY1" fmla="*/ 0 h 1360389"/>
                  <a:gd name="csX2" fmla="*/ 901632 w 901632"/>
                  <a:gd name="csY2" fmla="*/ 1200000 h 1360389"/>
                  <a:gd name="csX3" fmla="*/ 450816 w 901632"/>
                  <a:gd name="csY3" fmla="*/ 1360389 h 1360389"/>
                  <a:gd name="csX4" fmla="*/ 0 w 901632"/>
                  <a:gd name="csY4" fmla="*/ 1200000 h 1360389"/>
                  <a:gd name="csX5" fmla="*/ 0 w 901632"/>
                  <a:gd name="csY5" fmla="*/ 36220 h 1360389"/>
                  <a:gd name="csX6" fmla="*/ 22869 w 901632"/>
                  <a:gd name="csY6" fmla="*/ 62430 h 1360389"/>
                  <a:gd name="csX7" fmla="*/ 438258 w 901632"/>
                  <a:gd name="csY7" fmla="*/ 160389 h 1360389"/>
                  <a:gd name="csX8" fmla="*/ 889074 w 901632"/>
                  <a:gd name="csY8" fmla="*/ 0 h 13603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01632" h="1360389">
                    <a:moveTo>
                      <a:pt x="889074" y="0"/>
                    </a:moveTo>
                    <a:lnTo>
                      <a:pt x="901632" y="0"/>
                    </a:lnTo>
                    <a:lnTo>
                      <a:pt x="901632" y="1200000"/>
                    </a:lnTo>
                    <a:cubicBezTo>
                      <a:pt x="901632" y="1288580"/>
                      <a:pt x="699795" y="1360389"/>
                      <a:pt x="450816" y="1360389"/>
                    </a:cubicBezTo>
                    <a:cubicBezTo>
                      <a:pt x="201837" y="1360389"/>
                      <a:pt x="0" y="1288580"/>
                      <a:pt x="0" y="1200000"/>
                    </a:cubicBezTo>
                    <a:lnTo>
                      <a:pt x="0" y="36220"/>
                    </a:lnTo>
                    <a:lnTo>
                      <a:pt x="22869" y="62430"/>
                    </a:lnTo>
                    <a:cubicBezTo>
                      <a:pt x="91307" y="119997"/>
                      <a:pt x="251524" y="160389"/>
                      <a:pt x="438258" y="160389"/>
                    </a:cubicBezTo>
                    <a:cubicBezTo>
                      <a:pt x="687237" y="160389"/>
                      <a:pt x="889074" y="88580"/>
                      <a:pt x="889074" y="0"/>
                    </a:cubicBezTo>
                    <a:close/>
                  </a:path>
                </a:pathLst>
              </a:custGeom>
              <a:gradFill>
                <a:gsLst>
                  <a:gs pos="0">
                    <a:srgbClr val="FFC000"/>
                  </a:gs>
                  <a:gs pos="48000">
                    <a:srgbClr val="FFFF00"/>
                  </a:gs>
                  <a:gs pos="100000">
                    <a:schemeClr val="accent4">
                      <a:lumMod val="20000"/>
                      <a:lumOff val="8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dirty="0">
                  <a:solidFill>
                    <a:schemeClr val="tx1"/>
                  </a:solidFill>
                </a:endParaRPr>
              </a:p>
            </p:txBody>
          </p:sp>
        </p:grpSp>
        <p:grpSp>
          <p:nvGrpSpPr>
            <p:cNvPr id="59" name="组合 58">
              <a:extLst>
                <a:ext uri="{FF2B5EF4-FFF2-40B4-BE49-F238E27FC236}">
                  <a16:creationId xmlns:a16="http://schemas.microsoft.com/office/drawing/2014/main" id="{E9A7E191-5ECA-155D-1AE0-68C750EDD8B7}"/>
                </a:ext>
              </a:extLst>
            </p:cNvPr>
            <p:cNvGrpSpPr/>
            <p:nvPr/>
          </p:nvGrpSpPr>
          <p:grpSpPr>
            <a:xfrm>
              <a:off x="6612693" y="3618145"/>
              <a:ext cx="901632" cy="1520778"/>
              <a:chOff x="2811224" y="3147090"/>
              <a:chExt cx="901632" cy="1520778"/>
            </a:xfrm>
          </p:grpSpPr>
          <p:sp>
            <p:nvSpPr>
              <p:cNvPr id="61" name="任意多边形: 形状 60">
                <a:extLst>
                  <a:ext uri="{FF2B5EF4-FFF2-40B4-BE49-F238E27FC236}">
                    <a16:creationId xmlns:a16="http://schemas.microsoft.com/office/drawing/2014/main" id="{0B970274-4F03-15F9-32BE-6BC9A05F0694}"/>
                  </a:ext>
                </a:extLst>
              </p:cNvPr>
              <p:cNvSpPr/>
              <p:nvPr/>
            </p:nvSpPr>
            <p:spPr>
              <a:xfrm>
                <a:off x="2811224" y="3307479"/>
                <a:ext cx="901632" cy="1360389"/>
              </a:xfrm>
              <a:custGeom>
                <a:avLst/>
                <a:gdLst>
                  <a:gd name="csX0" fmla="*/ 889074 w 901632"/>
                  <a:gd name="csY0" fmla="*/ 0 h 1360389"/>
                  <a:gd name="csX1" fmla="*/ 901632 w 901632"/>
                  <a:gd name="csY1" fmla="*/ 0 h 1360389"/>
                  <a:gd name="csX2" fmla="*/ 901632 w 901632"/>
                  <a:gd name="csY2" fmla="*/ 1200000 h 1360389"/>
                  <a:gd name="csX3" fmla="*/ 450816 w 901632"/>
                  <a:gd name="csY3" fmla="*/ 1360389 h 1360389"/>
                  <a:gd name="csX4" fmla="*/ 0 w 901632"/>
                  <a:gd name="csY4" fmla="*/ 1200000 h 1360389"/>
                  <a:gd name="csX5" fmla="*/ 0 w 901632"/>
                  <a:gd name="csY5" fmla="*/ 36220 h 1360389"/>
                  <a:gd name="csX6" fmla="*/ 22869 w 901632"/>
                  <a:gd name="csY6" fmla="*/ 62430 h 1360389"/>
                  <a:gd name="csX7" fmla="*/ 438258 w 901632"/>
                  <a:gd name="csY7" fmla="*/ 160389 h 1360389"/>
                  <a:gd name="csX8" fmla="*/ 889074 w 901632"/>
                  <a:gd name="csY8" fmla="*/ 0 h 13603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01632" h="1360389">
                    <a:moveTo>
                      <a:pt x="889074" y="0"/>
                    </a:moveTo>
                    <a:lnTo>
                      <a:pt x="901632" y="0"/>
                    </a:lnTo>
                    <a:lnTo>
                      <a:pt x="901632" y="1200000"/>
                    </a:lnTo>
                    <a:cubicBezTo>
                      <a:pt x="901632" y="1288580"/>
                      <a:pt x="699795" y="1360389"/>
                      <a:pt x="450816" y="1360389"/>
                    </a:cubicBezTo>
                    <a:cubicBezTo>
                      <a:pt x="201837" y="1360389"/>
                      <a:pt x="0" y="1288580"/>
                      <a:pt x="0" y="1200000"/>
                    </a:cubicBezTo>
                    <a:lnTo>
                      <a:pt x="0" y="36220"/>
                    </a:lnTo>
                    <a:lnTo>
                      <a:pt x="22869" y="62430"/>
                    </a:lnTo>
                    <a:cubicBezTo>
                      <a:pt x="91307" y="119997"/>
                      <a:pt x="251524" y="160389"/>
                      <a:pt x="438258" y="160389"/>
                    </a:cubicBezTo>
                    <a:cubicBezTo>
                      <a:pt x="687237" y="160389"/>
                      <a:pt x="889074" y="88580"/>
                      <a:pt x="889074" y="0"/>
                    </a:cubicBezTo>
                    <a:close/>
                  </a:path>
                </a:pathLst>
              </a:custGeom>
              <a:gradFill>
                <a:gsLst>
                  <a:gs pos="0">
                    <a:srgbClr val="FFC000">
                      <a:alpha val="10000"/>
                    </a:srgbClr>
                  </a:gs>
                  <a:gs pos="48000">
                    <a:srgbClr val="FFFF00">
                      <a:alpha val="10000"/>
                    </a:srgbClr>
                  </a:gs>
                  <a:gs pos="100000">
                    <a:schemeClr val="accent4">
                      <a:lumMod val="20000"/>
                      <a:lumOff val="80000"/>
                      <a:alpha val="1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dirty="0">
                  <a:solidFill>
                    <a:schemeClr val="tx1"/>
                  </a:solidFill>
                </a:endParaRPr>
              </a:p>
            </p:txBody>
          </p:sp>
          <p:sp>
            <p:nvSpPr>
              <p:cNvPr id="60" name="任意多边形: 形状 59">
                <a:extLst>
                  <a:ext uri="{FF2B5EF4-FFF2-40B4-BE49-F238E27FC236}">
                    <a16:creationId xmlns:a16="http://schemas.microsoft.com/office/drawing/2014/main" id="{8F5776D5-4085-F287-6814-6FF3A44EF0A1}"/>
                  </a:ext>
                </a:extLst>
              </p:cNvPr>
              <p:cNvSpPr/>
              <p:nvPr/>
            </p:nvSpPr>
            <p:spPr>
              <a:xfrm>
                <a:off x="2811224" y="3147090"/>
                <a:ext cx="901632" cy="320778"/>
              </a:xfrm>
              <a:custGeom>
                <a:avLst/>
                <a:gdLst>
                  <a:gd name="csX0" fmla="*/ 450816 w 901632"/>
                  <a:gd name="csY0" fmla="*/ 0 h 320778"/>
                  <a:gd name="csX1" fmla="*/ 901632 w 901632"/>
                  <a:gd name="csY1" fmla="*/ 160389 h 320778"/>
                  <a:gd name="csX2" fmla="*/ 450816 w 901632"/>
                  <a:gd name="csY2" fmla="*/ 320778 h 320778"/>
                  <a:gd name="csX3" fmla="*/ 35427 w 901632"/>
                  <a:gd name="csY3" fmla="*/ 222819 h 320778"/>
                  <a:gd name="csX4" fmla="*/ 12558 w 901632"/>
                  <a:gd name="csY4" fmla="*/ 196609 h 320778"/>
                  <a:gd name="csX5" fmla="*/ 9159 w 901632"/>
                  <a:gd name="csY5" fmla="*/ 192713 h 320778"/>
                  <a:gd name="csX6" fmla="*/ 0 w 901632"/>
                  <a:gd name="csY6" fmla="*/ 160389 h 320778"/>
                  <a:gd name="csX7" fmla="*/ 450816 w 901632"/>
                  <a:gd name="csY7" fmla="*/ 0 h 3207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01632" h="320778">
                    <a:moveTo>
                      <a:pt x="450816" y="0"/>
                    </a:moveTo>
                    <a:cubicBezTo>
                      <a:pt x="699795" y="0"/>
                      <a:pt x="901632" y="71809"/>
                      <a:pt x="901632" y="160389"/>
                    </a:cubicBezTo>
                    <a:cubicBezTo>
                      <a:pt x="901632" y="248969"/>
                      <a:pt x="699795" y="320778"/>
                      <a:pt x="450816" y="320778"/>
                    </a:cubicBezTo>
                    <a:cubicBezTo>
                      <a:pt x="264082" y="320778"/>
                      <a:pt x="103865" y="280386"/>
                      <a:pt x="35427" y="222819"/>
                    </a:cubicBezTo>
                    <a:lnTo>
                      <a:pt x="12558" y="196609"/>
                    </a:lnTo>
                    <a:lnTo>
                      <a:pt x="9159" y="192713"/>
                    </a:lnTo>
                    <a:cubicBezTo>
                      <a:pt x="3154" y="182272"/>
                      <a:pt x="0" y="171462"/>
                      <a:pt x="0" y="160389"/>
                    </a:cubicBezTo>
                    <a:cubicBezTo>
                      <a:pt x="0" y="71809"/>
                      <a:pt x="201837" y="0"/>
                      <a:pt x="450816" y="0"/>
                    </a:cubicBezTo>
                    <a:close/>
                  </a:path>
                </a:pathLst>
              </a:custGeom>
              <a:solidFill>
                <a:srgbClr val="FFFF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dirty="0">
                  <a:solidFill>
                    <a:schemeClr val="tx1"/>
                  </a:solidFill>
                </a:endParaRPr>
              </a:p>
            </p:txBody>
          </p:sp>
        </p:grpSp>
      </p:grpSp>
      <p:grpSp>
        <p:nvGrpSpPr>
          <p:cNvPr id="95" name="组合 94">
            <a:extLst>
              <a:ext uri="{FF2B5EF4-FFF2-40B4-BE49-F238E27FC236}">
                <a16:creationId xmlns:a16="http://schemas.microsoft.com/office/drawing/2014/main" id="{66D60BFE-F335-0E54-9EC9-269BC63F51AE}"/>
              </a:ext>
            </a:extLst>
          </p:cNvPr>
          <p:cNvGrpSpPr/>
          <p:nvPr/>
        </p:nvGrpSpPr>
        <p:grpSpPr>
          <a:xfrm>
            <a:off x="8806329" y="3618145"/>
            <a:ext cx="901632" cy="2720780"/>
            <a:chOff x="8806329" y="3618145"/>
            <a:chExt cx="901632" cy="2720780"/>
          </a:xfrm>
        </p:grpSpPr>
        <p:grpSp>
          <p:nvGrpSpPr>
            <p:cNvPr id="69" name="组合 68">
              <a:extLst>
                <a:ext uri="{FF2B5EF4-FFF2-40B4-BE49-F238E27FC236}">
                  <a16:creationId xmlns:a16="http://schemas.microsoft.com/office/drawing/2014/main" id="{60D55D61-F970-B6BE-5185-9D56D9BECD78}"/>
                </a:ext>
              </a:extLst>
            </p:cNvPr>
            <p:cNvGrpSpPr/>
            <p:nvPr/>
          </p:nvGrpSpPr>
          <p:grpSpPr>
            <a:xfrm>
              <a:off x="8806329" y="4818146"/>
              <a:ext cx="901632" cy="1520779"/>
              <a:chOff x="9127397" y="4347091"/>
              <a:chExt cx="901632" cy="1520779"/>
            </a:xfrm>
          </p:grpSpPr>
          <p:sp>
            <p:nvSpPr>
              <p:cNvPr id="63" name="任意多边形: 形状 62">
                <a:extLst>
                  <a:ext uri="{FF2B5EF4-FFF2-40B4-BE49-F238E27FC236}">
                    <a16:creationId xmlns:a16="http://schemas.microsoft.com/office/drawing/2014/main" id="{D33F088A-A397-68F5-8F4C-FD3C1DB47A81}"/>
                  </a:ext>
                </a:extLst>
              </p:cNvPr>
              <p:cNvSpPr/>
              <p:nvPr/>
            </p:nvSpPr>
            <p:spPr>
              <a:xfrm>
                <a:off x="9127397" y="4347091"/>
                <a:ext cx="901632" cy="320778"/>
              </a:xfrm>
              <a:custGeom>
                <a:avLst/>
                <a:gdLst>
                  <a:gd name="csX0" fmla="*/ 450816 w 901632"/>
                  <a:gd name="csY0" fmla="*/ 0 h 320778"/>
                  <a:gd name="csX1" fmla="*/ 901632 w 901632"/>
                  <a:gd name="csY1" fmla="*/ 160389 h 320778"/>
                  <a:gd name="csX2" fmla="*/ 450816 w 901632"/>
                  <a:gd name="csY2" fmla="*/ 320778 h 320778"/>
                  <a:gd name="csX3" fmla="*/ 35427 w 901632"/>
                  <a:gd name="csY3" fmla="*/ 222819 h 320778"/>
                  <a:gd name="csX4" fmla="*/ 12558 w 901632"/>
                  <a:gd name="csY4" fmla="*/ 196609 h 320778"/>
                  <a:gd name="csX5" fmla="*/ 9159 w 901632"/>
                  <a:gd name="csY5" fmla="*/ 192713 h 320778"/>
                  <a:gd name="csX6" fmla="*/ 0 w 901632"/>
                  <a:gd name="csY6" fmla="*/ 160389 h 320778"/>
                  <a:gd name="csX7" fmla="*/ 450816 w 901632"/>
                  <a:gd name="csY7" fmla="*/ 0 h 3207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01632" h="320778">
                    <a:moveTo>
                      <a:pt x="450816" y="0"/>
                    </a:moveTo>
                    <a:cubicBezTo>
                      <a:pt x="699795" y="0"/>
                      <a:pt x="901632" y="71809"/>
                      <a:pt x="901632" y="160389"/>
                    </a:cubicBezTo>
                    <a:cubicBezTo>
                      <a:pt x="901632" y="248969"/>
                      <a:pt x="699795" y="320778"/>
                      <a:pt x="450816" y="320778"/>
                    </a:cubicBezTo>
                    <a:cubicBezTo>
                      <a:pt x="264082" y="320778"/>
                      <a:pt x="103865" y="280386"/>
                      <a:pt x="35427" y="222819"/>
                    </a:cubicBezTo>
                    <a:lnTo>
                      <a:pt x="12558" y="196609"/>
                    </a:lnTo>
                    <a:lnTo>
                      <a:pt x="9159" y="192713"/>
                    </a:lnTo>
                    <a:cubicBezTo>
                      <a:pt x="3154" y="182272"/>
                      <a:pt x="0" y="171462"/>
                      <a:pt x="0" y="160389"/>
                    </a:cubicBezTo>
                    <a:cubicBezTo>
                      <a:pt x="0" y="71809"/>
                      <a:pt x="201837" y="0"/>
                      <a:pt x="450816" y="0"/>
                    </a:cubicBezTo>
                    <a:close/>
                  </a:path>
                </a:pathLst>
              </a:custGeom>
              <a:solidFill>
                <a:srgbClr val="FDBCA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dirty="0">
                  <a:solidFill>
                    <a:schemeClr val="tx1"/>
                  </a:solidFill>
                </a:endParaRPr>
              </a:p>
            </p:txBody>
          </p:sp>
          <p:sp>
            <p:nvSpPr>
              <p:cNvPr id="64" name="任意多边形: 形状 63">
                <a:extLst>
                  <a:ext uri="{FF2B5EF4-FFF2-40B4-BE49-F238E27FC236}">
                    <a16:creationId xmlns:a16="http://schemas.microsoft.com/office/drawing/2014/main" id="{AFF33BD3-02E3-BC8A-D773-14D8B4D8AE5F}"/>
                  </a:ext>
                </a:extLst>
              </p:cNvPr>
              <p:cNvSpPr/>
              <p:nvPr/>
            </p:nvSpPr>
            <p:spPr>
              <a:xfrm>
                <a:off x="9127397" y="4507481"/>
                <a:ext cx="901632" cy="1360389"/>
              </a:xfrm>
              <a:custGeom>
                <a:avLst/>
                <a:gdLst>
                  <a:gd name="csX0" fmla="*/ 889074 w 901632"/>
                  <a:gd name="csY0" fmla="*/ 0 h 1360389"/>
                  <a:gd name="csX1" fmla="*/ 901632 w 901632"/>
                  <a:gd name="csY1" fmla="*/ 0 h 1360389"/>
                  <a:gd name="csX2" fmla="*/ 901632 w 901632"/>
                  <a:gd name="csY2" fmla="*/ 1200000 h 1360389"/>
                  <a:gd name="csX3" fmla="*/ 450816 w 901632"/>
                  <a:gd name="csY3" fmla="*/ 1360389 h 1360389"/>
                  <a:gd name="csX4" fmla="*/ 0 w 901632"/>
                  <a:gd name="csY4" fmla="*/ 1200000 h 1360389"/>
                  <a:gd name="csX5" fmla="*/ 0 w 901632"/>
                  <a:gd name="csY5" fmla="*/ 36220 h 1360389"/>
                  <a:gd name="csX6" fmla="*/ 22869 w 901632"/>
                  <a:gd name="csY6" fmla="*/ 62430 h 1360389"/>
                  <a:gd name="csX7" fmla="*/ 438258 w 901632"/>
                  <a:gd name="csY7" fmla="*/ 160389 h 1360389"/>
                  <a:gd name="csX8" fmla="*/ 889074 w 901632"/>
                  <a:gd name="csY8" fmla="*/ 0 h 13603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01632" h="1360389">
                    <a:moveTo>
                      <a:pt x="889074" y="0"/>
                    </a:moveTo>
                    <a:lnTo>
                      <a:pt x="901632" y="0"/>
                    </a:lnTo>
                    <a:lnTo>
                      <a:pt x="901632" y="1200000"/>
                    </a:lnTo>
                    <a:cubicBezTo>
                      <a:pt x="901632" y="1288580"/>
                      <a:pt x="699795" y="1360389"/>
                      <a:pt x="450816" y="1360389"/>
                    </a:cubicBezTo>
                    <a:cubicBezTo>
                      <a:pt x="201837" y="1360389"/>
                      <a:pt x="0" y="1288580"/>
                      <a:pt x="0" y="1200000"/>
                    </a:cubicBezTo>
                    <a:lnTo>
                      <a:pt x="0" y="36220"/>
                    </a:lnTo>
                    <a:lnTo>
                      <a:pt x="22869" y="62430"/>
                    </a:lnTo>
                    <a:cubicBezTo>
                      <a:pt x="91307" y="119997"/>
                      <a:pt x="251524" y="160389"/>
                      <a:pt x="438258" y="160389"/>
                    </a:cubicBezTo>
                    <a:cubicBezTo>
                      <a:pt x="687237" y="160389"/>
                      <a:pt x="889074" y="88580"/>
                      <a:pt x="889074" y="0"/>
                    </a:cubicBezTo>
                    <a:close/>
                  </a:path>
                </a:pathLst>
              </a:custGeom>
              <a:gradFill>
                <a:gsLst>
                  <a:gs pos="0">
                    <a:srgbClr val="C00000"/>
                  </a:gs>
                  <a:gs pos="48000">
                    <a:srgbClr val="FF0000"/>
                  </a:gs>
                  <a:gs pos="100000">
                    <a:srgbClr val="FDBCA8"/>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dirty="0">
                  <a:solidFill>
                    <a:schemeClr val="tx1"/>
                  </a:solidFill>
                </a:endParaRPr>
              </a:p>
            </p:txBody>
          </p:sp>
        </p:grpSp>
        <p:grpSp>
          <p:nvGrpSpPr>
            <p:cNvPr id="70" name="组合 69">
              <a:extLst>
                <a:ext uri="{FF2B5EF4-FFF2-40B4-BE49-F238E27FC236}">
                  <a16:creationId xmlns:a16="http://schemas.microsoft.com/office/drawing/2014/main" id="{2BEB4BD6-4CE7-27F4-2E91-9EDEE6448609}"/>
                </a:ext>
              </a:extLst>
            </p:cNvPr>
            <p:cNvGrpSpPr/>
            <p:nvPr/>
          </p:nvGrpSpPr>
          <p:grpSpPr>
            <a:xfrm>
              <a:off x="8806329" y="3618145"/>
              <a:ext cx="901632" cy="1520779"/>
              <a:chOff x="9127397" y="3147090"/>
              <a:chExt cx="901632" cy="1520779"/>
            </a:xfrm>
          </p:grpSpPr>
          <p:sp>
            <p:nvSpPr>
              <p:cNvPr id="66" name="任意多边形: 形状 65">
                <a:extLst>
                  <a:ext uri="{FF2B5EF4-FFF2-40B4-BE49-F238E27FC236}">
                    <a16:creationId xmlns:a16="http://schemas.microsoft.com/office/drawing/2014/main" id="{9F94DB67-039B-9978-91C6-C9D50D610389}"/>
                  </a:ext>
                </a:extLst>
              </p:cNvPr>
              <p:cNvSpPr/>
              <p:nvPr/>
            </p:nvSpPr>
            <p:spPr>
              <a:xfrm>
                <a:off x="9127397" y="3147090"/>
                <a:ext cx="901632" cy="320778"/>
              </a:xfrm>
              <a:custGeom>
                <a:avLst/>
                <a:gdLst>
                  <a:gd name="csX0" fmla="*/ 450816 w 901632"/>
                  <a:gd name="csY0" fmla="*/ 0 h 320778"/>
                  <a:gd name="csX1" fmla="*/ 901632 w 901632"/>
                  <a:gd name="csY1" fmla="*/ 160389 h 320778"/>
                  <a:gd name="csX2" fmla="*/ 450816 w 901632"/>
                  <a:gd name="csY2" fmla="*/ 320778 h 320778"/>
                  <a:gd name="csX3" fmla="*/ 35427 w 901632"/>
                  <a:gd name="csY3" fmla="*/ 222819 h 320778"/>
                  <a:gd name="csX4" fmla="*/ 12558 w 901632"/>
                  <a:gd name="csY4" fmla="*/ 196609 h 320778"/>
                  <a:gd name="csX5" fmla="*/ 9159 w 901632"/>
                  <a:gd name="csY5" fmla="*/ 192713 h 320778"/>
                  <a:gd name="csX6" fmla="*/ 0 w 901632"/>
                  <a:gd name="csY6" fmla="*/ 160389 h 320778"/>
                  <a:gd name="csX7" fmla="*/ 450816 w 901632"/>
                  <a:gd name="csY7" fmla="*/ 0 h 3207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01632" h="320778">
                    <a:moveTo>
                      <a:pt x="450816" y="0"/>
                    </a:moveTo>
                    <a:cubicBezTo>
                      <a:pt x="699795" y="0"/>
                      <a:pt x="901632" y="71809"/>
                      <a:pt x="901632" y="160389"/>
                    </a:cubicBezTo>
                    <a:cubicBezTo>
                      <a:pt x="901632" y="248969"/>
                      <a:pt x="699795" y="320778"/>
                      <a:pt x="450816" y="320778"/>
                    </a:cubicBezTo>
                    <a:cubicBezTo>
                      <a:pt x="264082" y="320778"/>
                      <a:pt x="103865" y="280386"/>
                      <a:pt x="35427" y="222819"/>
                    </a:cubicBezTo>
                    <a:lnTo>
                      <a:pt x="12558" y="196609"/>
                    </a:lnTo>
                    <a:lnTo>
                      <a:pt x="9159" y="192713"/>
                    </a:lnTo>
                    <a:cubicBezTo>
                      <a:pt x="3154" y="182272"/>
                      <a:pt x="0" y="171462"/>
                      <a:pt x="0" y="160389"/>
                    </a:cubicBezTo>
                    <a:cubicBezTo>
                      <a:pt x="0" y="71809"/>
                      <a:pt x="201837" y="0"/>
                      <a:pt x="450816" y="0"/>
                    </a:cubicBezTo>
                    <a:close/>
                  </a:path>
                </a:pathLst>
              </a:cu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dirty="0">
                  <a:solidFill>
                    <a:schemeClr val="tx1"/>
                  </a:solidFill>
                </a:endParaRPr>
              </a:p>
            </p:txBody>
          </p:sp>
          <p:sp>
            <p:nvSpPr>
              <p:cNvPr id="67" name="任意多边形: 形状 66">
                <a:extLst>
                  <a:ext uri="{FF2B5EF4-FFF2-40B4-BE49-F238E27FC236}">
                    <a16:creationId xmlns:a16="http://schemas.microsoft.com/office/drawing/2014/main" id="{2A84DC81-20AE-A173-600A-5D22C1A68791}"/>
                  </a:ext>
                </a:extLst>
              </p:cNvPr>
              <p:cNvSpPr/>
              <p:nvPr/>
            </p:nvSpPr>
            <p:spPr>
              <a:xfrm>
                <a:off x="9127397" y="3307480"/>
                <a:ext cx="901632" cy="1360389"/>
              </a:xfrm>
              <a:custGeom>
                <a:avLst/>
                <a:gdLst>
                  <a:gd name="csX0" fmla="*/ 889074 w 901632"/>
                  <a:gd name="csY0" fmla="*/ 0 h 1360389"/>
                  <a:gd name="csX1" fmla="*/ 901632 w 901632"/>
                  <a:gd name="csY1" fmla="*/ 0 h 1360389"/>
                  <a:gd name="csX2" fmla="*/ 901632 w 901632"/>
                  <a:gd name="csY2" fmla="*/ 1200000 h 1360389"/>
                  <a:gd name="csX3" fmla="*/ 450816 w 901632"/>
                  <a:gd name="csY3" fmla="*/ 1360389 h 1360389"/>
                  <a:gd name="csX4" fmla="*/ 0 w 901632"/>
                  <a:gd name="csY4" fmla="*/ 1200000 h 1360389"/>
                  <a:gd name="csX5" fmla="*/ 0 w 901632"/>
                  <a:gd name="csY5" fmla="*/ 36220 h 1360389"/>
                  <a:gd name="csX6" fmla="*/ 22869 w 901632"/>
                  <a:gd name="csY6" fmla="*/ 62430 h 1360389"/>
                  <a:gd name="csX7" fmla="*/ 438258 w 901632"/>
                  <a:gd name="csY7" fmla="*/ 160389 h 1360389"/>
                  <a:gd name="csX8" fmla="*/ 889074 w 901632"/>
                  <a:gd name="csY8" fmla="*/ 0 h 13603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01632" h="1360389">
                    <a:moveTo>
                      <a:pt x="889074" y="0"/>
                    </a:moveTo>
                    <a:lnTo>
                      <a:pt x="901632" y="0"/>
                    </a:lnTo>
                    <a:lnTo>
                      <a:pt x="901632" y="1200000"/>
                    </a:lnTo>
                    <a:cubicBezTo>
                      <a:pt x="901632" y="1288580"/>
                      <a:pt x="699795" y="1360389"/>
                      <a:pt x="450816" y="1360389"/>
                    </a:cubicBezTo>
                    <a:cubicBezTo>
                      <a:pt x="201837" y="1360389"/>
                      <a:pt x="0" y="1288580"/>
                      <a:pt x="0" y="1200000"/>
                    </a:cubicBezTo>
                    <a:lnTo>
                      <a:pt x="0" y="36220"/>
                    </a:lnTo>
                    <a:lnTo>
                      <a:pt x="22869" y="62430"/>
                    </a:lnTo>
                    <a:cubicBezTo>
                      <a:pt x="91307" y="119997"/>
                      <a:pt x="251524" y="160389"/>
                      <a:pt x="438258" y="160389"/>
                    </a:cubicBezTo>
                    <a:cubicBezTo>
                      <a:pt x="687237" y="160389"/>
                      <a:pt x="889074" y="88580"/>
                      <a:pt x="889074" y="0"/>
                    </a:cubicBezTo>
                    <a:close/>
                  </a:path>
                </a:pathLst>
              </a:custGeom>
              <a:gradFill>
                <a:gsLst>
                  <a:gs pos="0">
                    <a:srgbClr val="DC492C">
                      <a:alpha val="10000"/>
                    </a:srgbClr>
                  </a:gs>
                  <a:gs pos="48000">
                    <a:srgbClr val="E7886E">
                      <a:alpha val="10000"/>
                    </a:srgbClr>
                  </a:gs>
                  <a:gs pos="100000">
                    <a:srgbClr val="FDBCA8">
                      <a:alpha val="10000"/>
                    </a:srgb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dirty="0">
                  <a:solidFill>
                    <a:schemeClr val="tx1"/>
                  </a:solidFill>
                </a:endParaRPr>
              </a:p>
            </p:txBody>
          </p:sp>
        </p:grpSp>
      </p:grpSp>
      <p:sp>
        <p:nvSpPr>
          <p:cNvPr id="71" name="文本框 70">
            <a:extLst>
              <a:ext uri="{FF2B5EF4-FFF2-40B4-BE49-F238E27FC236}">
                <a16:creationId xmlns:a16="http://schemas.microsoft.com/office/drawing/2014/main" id="{5E919B01-65B3-69D7-A4A9-949F5B9A4784}"/>
              </a:ext>
            </a:extLst>
          </p:cNvPr>
          <p:cNvSpPr txBox="1"/>
          <p:nvPr/>
        </p:nvSpPr>
        <p:spPr>
          <a:xfrm>
            <a:off x="2365629" y="2773010"/>
            <a:ext cx="1138452" cy="615553"/>
          </a:xfrm>
          <a:prstGeom prst="rect">
            <a:avLst/>
          </a:prstGeom>
          <a:noFill/>
        </p:spPr>
        <p:txBody>
          <a:bodyPr wrap="none" rtlCol="0">
            <a:spAutoFit/>
          </a:bodyPr>
          <a:lstStyle/>
          <a:p>
            <a:pPr algn="ctr"/>
            <a:r>
              <a:rPr lang="zh-CN" altLang="en-US" sz="2000" dirty="0"/>
              <a:t>及时</a:t>
            </a:r>
            <a:endParaRPr lang="en-US" altLang="zh-CN" sz="2000" dirty="0"/>
          </a:p>
          <a:p>
            <a:pPr algn="ctr"/>
            <a:r>
              <a:rPr lang="en-US" altLang="zh-CN" sz="1400" dirty="0"/>
              <a:t>Timeliness</a:t>
            </a:r>
            <a:endParaRPr lang="en-US" altLang="zh-CN" sz="2000" dirty="0"/>
          </a:p>
        </p:txBody>
      </p:sp>
      <p:sp>
        <p:nvSpPr>
          <p:cNvPr id="72" name="文本框 71">
            <a:extLst>
              <a:ext uri="{FF2B5EF4-FFF2-40B4-BE49-F238E27FC236}">
                <a16:creationId xmlns:a16="http://schemas.microsoft.com/office/drawing/2014/main" id="{FB9DA6C8-0DA5-6581-FF14-7926FCA6EF4B}"/>
              </a:ext>
            </a:extLst>
          </p:cNvPr>
          <p:cNvSpPr txBox="1"/>
          <p:nvPr/>
        </p:nvSpPr>
        <p:spPr>
          <a:xfrm>
            <a:off x="4097065" y="2773010"/>
            <a:ext cx="1545616" cy="1415772"/>
          </a:xfrm>
          <a:prstGeom prst="rect">
            <a:avLst/>
          </a:prstGeom>
          <a:noFill/>
        </p:spPr>
        <p:txBody>
          <a:bodyPr wrap="none" rtlCol="0">
            <a:spAutoFit/>
          </a:bodyPr>
          <a:lstStyle/>
          <a:p>
            <a:pPr algn="ctr"/>
            <a:r>
              <a:rPr lang="zh-CN" altLang="en-US" sz="3200" dirty="0"/>
              <a:t>及时</a:t>
            </a:r>
            <a:endParaRPr lang="en-US" altLang="zh-CN" sz="3200" dirty="0"/>
          </a:p>
          <a:p>
            <a:pPr algn="ctr"/>
            <a:r>
              <a:rPr lang="en-US" altLang="zh-CN" sz="2000" dirty="0"/>
              <a:t>Timeliness</a:t>
            </a:r>
            <a:endParaRPr lang="en-US" altLang="zh-CN" sz="3200" dirty="0"/>
          </a:p>
          <a:p>
            <a:pPr algn="ctr"/>
            <a:r>
              <a:rPr lang="zh-CN" altLang="en-US" sz="2000" dirty="0"/>
              <a:t>准确</a:t>
            </a:r>
            <a:endParaRPr lang="en-US" altLang="zh-CN" sz="2000" dirty="0"/>
          </a:p>
          <a:p>
            <a:pPr algn="ctr"/>
            <a:r>
              <a:rPr lang="en-US" altLang="zh-CN" sz="1400" dirty="0"/>
              <a:t>Accuracy</a:t>
            </a:r>
            <a:endParaRPr lang="en-US" altLang="zh-CN" sz="2000" dirty="0"/>
          </a:p>
        </p:txBody>
      </p:sp>
      <p:sp>
        <p:nvSpPr>
          <p:cNvPr id="73" name="文本框 72">
            <a:extLst>
              <a:ext uri="{FF2B5EF4-FFF2-40B4-BE49-F238E27FC236}">
                <a16:creationId xmlns:a16="http://schemas.microsoft.com/office/drawing/2014/main" id="{E5B05420-FFC1-7ADC-22BE-D6F6000ECCE4}"/>
              </a:ext>
            </a:extLst>
          </p:cNvPr>
          <p:cNvSpPr txBox="1"/>
          <p:nvPr/>
        </p:nvSpPr>
        <p:spPr>
          <a:xfrm>
            <a:off x="6268357" y="2773010"/>
            <a:ext cx="1545616" cy="1938992"/>
          </a:xfrm>
          <a:prstGeom prst="rect">
            <a:avLst/>
          </a:prstGeom>
          <a:noFill/>
        </p:spPr>
        <p:txBody>
          <a:bodyPr wrap="none" rtlCol="0">
            <a:spAutoFit/>
          </a:bodyPr>
          <a:lstStyle/>
          <a:p>
            <a:pPr algn="ctr"/>
            <a:r>
              <a:rPr lang="zh-CN" altLang="en-US" sz="3200" dirty="0"/>
              <a:t>及时</a:t>
            </a:r>
            <a:endParaRPr lang="en-US" altLang="zh-CN" sz="3200" dirty="0"/>
          </a:p>
          <a:p>
            <a:pPr algn="ctr"/>
            <a:r>
              <a:rPr lang="en-US" altLang="zh-CN" sz="2000" dirty="0"/>
              <a:t>Timeliness</a:t>
            </a:r>
            <a:endParaRPr lang="en-US" altLang="zh-CN" sz="3200" dirty="0"/>
          </a:p>
          <a:p>
            <a:pPr algn="ctr"/>
            <a:r>
              <a:rPr lang="zh-CN" altLang="en-US" sz="2000" dirty="0"/>
              <a:t>准确</a:t>
            </a:r>
            <a:endParaRPr lang="en-US" altLang="zh-CN" sz="2000" dirty="0"/>
          </a:p>
          <a:p>
            <a:pPr algn="ctr"/>
            <a:r>
              <a:rPr lang="en-US" altLang="zh-CN" sz="1400" dirty="0"/>
              <a:t>Accuracy</a:t>
            </a:r>
            <a:endParaRPr lang="en-US" altLang="zh-CN" sz="2000" dirty="0"/>
          </a:p>
          <a:p>
            <a:pPr algn="ctr"/>
            <a:r>
              <a:rPr lang="zh-CN" altLang="en-US" sz="2000" dirty="0"/>
              <a:t>完整</a:t>
            </a:r>
            <a:endParaRPr lang="en-US" altLang="zh-CN" sz="2000" dirty="0"/>
          </a:p>
          <a:p>
            <a:pPr algn="ctr"/>
            <a:r>
              <a:rPr lang="en-US" altLang="zh-CN" sz="1400" dirty="0"/>
              <a:t>Completeness</a:t>
            </a:r>
            <a:endParaRPr lang="en-US" altLang="zh-CN" sz="2000" dirty="0"/>
          </a:p>
        </p:txBody>
      </p:sp>
      <p:sp>
        <p:nvSpPr>
          <p:cNvPr id="74" name="文本框 73">
            <a:extLst>
              <a:ext uri="{FF2B5EF4-FFF2-40B4-BE49-F238E27FC236}">
                <a16:creationId xmlns:a16="http://schemas.microsoft.com/office/drawing/2014/main" id="{52A04FDA-4548-C070-445C-83494A3CD221}"/>
              </a:ext>
            </a:extLst>
          </p:cNvPr>
          <p:cNvSpPr txBox="1"/>
          <p:nvPr/>
        </p:nvSpPr>
        <p:spPr>
          <a:xfrm>
            <a:off x="8075570" y="2773010"/>
            <a:ext cx="2363147" cy="3385542"/>
          </a:xfrm>
          <a:prstGeom prst="rect">
            <a:avLst/>
          </a:prstGeom>
          <a:noFill/>
        </p:spPr>
        <p:txBody>
          <a:bodyPr wrap="none" rtlCol="0">
            <a:spAutoFit/>
          </a:bodyPr>
          <a:lstStyle/>
          <a:p>
            <a:pPr algn="ctr"/>
            <a:r>
              <a:rPr lang="zh-CN" altLang="en-US" sz="4400" dirty="0"/>
              <a:t>及时</a:t>
            </a:r>
            <a:endParaRPr lang="en-US" altLang="zh-CN" sz="4400" dirty="0"/>
          </a:p>
          <a:p>
            <a:pPr algn="ctr"/>
            <a:r>
              <a:rPr lang="en-US" altLang="zh-CN" sz="3200" dirty="0"/>
              <a:t>Timeliness</a:t>
            </a:r>
            <a:endParaRPr lang="en-US" altLang="zh-CN" sz="4400" dirty="0"/>
          </a:p>
          <a:p>
            <a:pPr algn="ctr"/>
            <a:r>
              <a:rPr lang="zh-CN" altLang="en-US" sz="3200" dirty="0"/>
              <a:t>准确</a:t>
            </a:r>
            <a:endParaRPr lang="en-US" altLang="zh-CN" sz="3200" dirty="0"/>
          </a:p>
          <a:p>
            <a:pPr algn="ctr"/>
            <a:r>
              <a:rPr lang="en-US" altLang="zh-CN" sz="2000" dirty="0"/>
              <a:t>Accuracy</a:t>
            </a:r>
            <a:endParaRPr lang="en-US" altLang="zh-CN" sz="3200" dirty="0"/>
          </a:p>
          <a:p>
            <a:pPr algn="ctr"/>
            <a:r>
              <a:rPr lang="zh-CN" altLang="en-US" sz="3200" dirty="0"/>
              <a:t>完整</a:t>
            </a:r>
            <a:endParaRPr lang="en-US" altLang="zh-CN" sz="3200" dirty="0"/>
          </a:p>
          <a:p>
            <a:pPr algn="ctr"/>
            <a:r>
              <a:rPr lang="en-US" altLang="zh-CN" sz="2000" dirty="0"/>
              <a:t>Completeness</a:t>
            </a:r>
            <a:endParaRPr lang="en-US" altLang="zh-CN" sz="3200" dirty="0"/>
          </a:p>
          <a:p>
            <a:pPr algn="ctr"/>
            <a:r>
              <a:rPr lang="zh-CN" altLang="en-US" sz="2000" dirty="0"/>
              <a:t>可了解</a:t>
            </a:r>
            <a:endParaRPr lang="en-US" altLang="zh-CN" sz="2000" dirty="0"/>
          </a:p>
          <a:p>
            <a:pPr algn="ctr"/>
            <a:r>
              <a:rPr lang="en-US" altLang="zh-CN" sz="1400" dirty="0"/>
              <a:t>Understandability</a:t>
            </a:r>
            <a:endParaRPr lang="zh-CN" altLang="en-US" sz="2000" dirty="0"/>
          </a:p>
        </p:txBody>
      </p:sp>
      <p:sp>
        <p:nvSpPr>
          <p:cNvPr id="99" name="文本框 98">
            <a:extLst>
              <a:ext uri="{FF2B5EF4-FFF2-40B4-BE49-F238E27FC236}">
                <a16:creationId xmlns:a16="http://schemas.microsoft.com/office/drawing/2014/main" id="{A082466B-88DA-ABED-02D6-D170242B0B01}"/>
              </a:ext>
            </a:extLst>
          </p:cNvPr>
          <p:cNvSpPr txBox="1"/>
          <p:nvPr/>
        </p:nvSpPr>
        <p:spPr>
          <a:xfrm>
            <a:off x="695325" y="789721"/>
            <a:ext cx="1005403" cy="338554"/>
          </a:xfrm>
          <a:prstGeom prst="rect">
            <a:avLst/>
          </a:prstGeom>
          <a:noFill/>
        </p:spPr>
        <p:txBody>
          <a:bodyPr wrap="none" rtlCol="0">
            <a:spAutoFit/>
          </a:bodyPr>
          <a:lstStyle/>
          <a:p>
            <a:pPr algn="l"/>
            <a:r>
              <a:rPr lang="zh-CN" altLang="en-US" sz="1600" dirty="0"/>
              <a:t>有效沟通</a:t>
            </a:r>
          </a:p>
        </p:txBody>
      </p:sp>
    </p:spTree>
    <p:extLst>
      <p:ext uri="{BB962C8B-B14F-4D97-AF65-F5344CB8AC3E}">
        <p14:creationId xmlns:p14="http://schemas.microsoft.com/office/powerpoint/2010/main" val="1510838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92"/>
                                        </p:tgtEl>
                                        <p:attrNameLst>
                                          <p:attrName>style.visibility</p:attrName>
                                        </p:attrNameLst>
                                      </p:cBhvr>
                                      <p:to>
                                        <p:strVal val="visible"/>
                                      </p:to>
                                    </p:set>
                                    <p:animEffect transition="in" filter="wipe(down)">
                                      <p:cBhvr>
                                        <p:cTn id="7" dur="500"/>
                                        <p:tgtEl>
                                          <p:spTgt spid="92"/>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71"/>
                                        </p:tgtEl>
                                        <p:attrNameLst>
                                          <p:attrName>style.visibility</p:attrName>
                                        </p:attrNameLst>
                                      </p:cBhvr>
                                      <p:to>
                                        <p:strVal val="visible"/>
                                      </p:to>
                                    </p:set>
                                    <p:animEffect transition="in" filter="wipe(up)">
                                      <p:cBhvr>
                                        <p:cTn id="11" dur="500"/>
                                        <p:tgtEl>
                                          <p:spTgt spid="71"/>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93"/>
                                        </p:tgtEl>
                                        <p:attrNameLst>
                                          <p:attrName>style.visibility</p:attrName>
                                        </p:attrNameLst>
                                      </p:cBhvr>
                                      <p:to>
                                        <p:strVal val="visible"/>
                                      </p:to>
                                    </p:set>
                                    <p:animEffect transition="in" filter="wipe(down)">
                                      <p:cBhvr>
                                        <p:cTn id="15" dur="500"/>
                                        <p:tgtEl>
                                          <p:spTgt spid="93"/>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72"/>
                                        </p:tgtEl>
                                        <p:attrNameLst>
                                          <p:attrName>style.visibility</p:attrName>
                                        </p:attrNameLst>
                                      </p:cBhvr>
                                      <p:to>
                                        <p:strVal val="visible"/>
                                      </p:to>
                                    </p:set>
                                    <p:animEffect transition="in" filter="wipe(up)">
                                      <p:cBhvr>
                                        <p:cTn id="19" dur="500"/>
                                        <p:tgtEl>
                                          <p:spTgt spid="72"/>
                                        </p:tgtEl>
                                      </p:cBhvr>
                                    </p:animEffect>
                                  </p:childTnLst>
                                </p:cTn>
                              </p:par>
                            </p:childTnLst>
                          </p:cTn>
                        </p:par>
                        <p:par>
                          <p:cTn id="20" fill="hold">
                            <p:stCondLst>
                              <p:cond delay="2000"/>
                            </p:stCondLst>
                            <p:childTnLst>
                              <p:par>
                                <p:cTn id="21" presetID="22" presetClass="entr" presetSubtype="4" fill="hold" nodeType="afterEffect">
                                  <p:stCondLst>
                                    <p:cond delay="0"/>
                                  </p:stCondLst>
                                  <p:childTnLst>
                                    <p:set>
                                      <p:cBhvr>
                                        <p:cTn id="22" dur="1" fill="hold">
                                          <p:stCondLst>
                                            <p:cond delay="0"/>
                                          </p:stCondLst>
                                        </p:cTn>
                                        <p:tgtEl>
                                          <p:spTgt spid="98"/>
                                        </p:tgtEl>
                                        <p:attrNameLst>
                                          <p:attrName>style.visibility</p:attrName>
                                        </p:attrNameLst>
                                      </p:cBhvr>
                                      <p:to>
                                        <p:strVal val="visible"/>
                                      </p:to>
                                    </p:set>
                                    <p:animEffect transition="in" filter="wipe(down)">
                                      <p:cBhvr>
                                        <p:cTn id="23" dur="500"/>
                                        <p:tgtEl>
                                          <p:spTgt spid="98"/>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73"/>
                                        </p:tgtEl>
                                        <p:attrNameLst>
                                          <p:attrName>style.visibility</p:attrName>
                                        </p:attrNameLst>
                                      </p:cBhvr>
                                      <p:to>
                                        <p:strVal val="visible"/>
                                      </p:to>
                                    </p:set>
                                    <p:animEffect transition="in" filter="wipe(up)">
                                      <p:cBhvr>
                                        <p:cTn id="27" dur="500"/>
                                        <p:tgtEl>
                                          <p:spTgt spid="73"/>
                                        </p:tgtEl>
                                      </p:cBhvr>
                                    </p:animEffect>
                                  </p:childTnLst>
                                </p:cTn>
                              </p:par>
                            </p:childTnLst>
                          </p:cTn>
                        </p:par>
                        <p:par>
                          <p:cTn id="28" fill="hold">
                            <p:stCondLst>
                              <p:cond delay="3000"/>
                            </p:stCondLst>
                            <p:childTnLst>
                              <p:par>
                                <p:cTn id="29" presetID="22" presetClass="entr" presetSubtype="4" fill="hold" nodeType="afterEffect">
                                  <p:stCondLst>
                                    <p:cond delay="0"/>
                                  </p:stCondLst>
                                  <p:childTnLst>
                                    <p:set>
                                      <p:cBhvr>
                                        <p:cTn id="30" dur="1" fill="hold">
                                          <p:stCondLst>
                                            <p:cond delay="0"/>
                                          </p:stCondLst>
                                        </p:cTn>
                                        <p:tgtEl>
                                          <p:spTgt spid="95"/>
                                        </p:tgtEl>
                                        <p:attrNameLst>
                                          <p:attrName>style.visibility</p:attrName>
                                        </p:attrNameLst>
                                      </p:cBhvr>
                                      <p:to>
                                        <p:strVal val="visible"/>
                                      </p:to>
                                    </p:set>
                                    <p:animEffect transition="in" filter="wipe(down)">
                                      <p:cBhvr>
                                        <p:cTn id="31" dur="500"/>
                                        <p:tgtEl>
                                          <p:spTgt spid="95"/>
                                        </p:tgtEl>
                                      </p:cBhvr>
                                    </p:animEffect>
                                  </p:childTnLst>
                                </p:cTn>
                              </p:par>
                            </p:childTnLst>
                          </p:cTn>
                        </p:par>
                        <p:par>
                          <p:cTn id="32" fill="hold">
                            <p:stCondLst>
                              <p:cond delay="3500"/>
                            </p:stCondLst>
                            <p:childTnLst>
                              <p:par>
                                <p:cTn id="33" presetID="22" presetClass="entr" presetSubtype="1" fill="hold" grpId="0" nodeType="afterEffect">
                                  <p:stCondLst>
                                    <p:cond delay="0"/>
                                  </p:stCondLst>
                                  <p:childTnLst>
                                    <p:set>
                                      <p:cBhvr>
                                        <p:cTn id="34" dur="1" fill="hold">
                                          <p:stCondLst>
                                            <p:cond delay="0"/>
                                          </p:stCondLst>
                                        </p:cTn>
                                        <p:tgtEl>
                                          <p:spTgt spid="74"/>
                                        </p:tgtEl>
                                        <p:attrNameLst>
                                          <p:attrName>style.visibility</p:attrName>
                                        </p:attrNameLst>
                                      </p:cBhvr>
                                      <p:to>
                                        <p:strVal val="visible"/>
                                      </p:to>
                                    </p:set>
                                    <p:animEffect transition="in" filter="wipe(up)">
                                      <p:cBhvr>
                                        <p:cTn id="35"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p:bldP spid="72" grpId="0"/>
      <p:bldP spid="73" grpId="0"/>
      <p:bldP spid="74" grpId="0"/>
    </p:bldLst>
  </p:timing>
</p:sld>
</file>

<file path=ppt/slides/slide4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16B51B-812D-66E5-D87A-16B6989FD1E0}"/>
              </a:ext>
            </a:extLst>
          </p:cNvPr>
          <p:cNvSpPr>
            <a:spLocks noGrp="1"/>
          </p:cNvSpPr>
          <p:nvPr>
            <p:ph type="title"/>
          </p:nvPr>
        </p:nvSpPr>
        <p:spPr>
          <a:xfrm>
            <a:off x="696000" y="360000"/>
            <a:ext cx="5400000" cy="429413"/>
          </a:xfrm>
        </p:spPr>
        <p:txBody>
          <a:bodyPr/>
          <a:lstStyle/>
          <a:p>
            <a:r>
              <a:rPr lang="en-US" altLang="zh-CN" dirty="0"/>
              <a:t>10.4.2 </a:t>
            </a:r>
            <a:r>
              <a:rPr lang="zh-CN" altLang="en-US" dirty="0"/>
              <a:t>沟通方式</a:t>
            </a:r>
          </a:p>
        </p:txBody>
      </p:sp>
      <p:sp>
        <p:nvSpPr>
          <p:cNvPr id="5" name="矩形: 圆角 4">
            <a:extLst>
              <a:ext uri="{FF2B5EF4-FFF2-40B4-BE49-F238E27FC236}">
                <a16:creationId xmlns:a16="http://schemas.microsoft.com/office/drawing/2014/main" id="{2328B694-6B50-DCC3-26F3-CAF255925EA7}"/>
              </a:ext>
            </a:extLst>
          </p:cNvPr>
          <p:cNvSpPr/>
          <p:nvPr/>
        </p:nvSpPr>
        <p:spPr>
          <a:xfrm>
            <a:off x="10324941" y="593725"/>
            <a:ext cx="1440000" cy="504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上通下达</a:t>
            </a:r>
          </a:p>
        </p:txBody>
      </p:sp>
      <p:grpSp>
        <p:nvGrpSpPr>
          <p:cNvPr id="17" name="组合 16">
            <a:extLst>
              <a:ext uri="{FF2B5EF4-FFF2-40B4-BE49-F238E27FC236}">
                <a16:creationId xmlns:a16="http://schemas.microsoft.com/office/drawing/2014/main" id="{B4C216B7-9799-852C-6908-D87A88DE15E4}"/>
              </a:ext>
            </a:extLst>
          </p:cNvPr>
          <p:cNvGrpSpPr/>
          <p:nvPr/>
        </p:nvGrpSpPr>
        <p:grpSpPr>
          <a:xfrm>
            <a:off x="10072940" y="448313"/>
            <a:ext cx="504000" cy="504000"/>
            <a:chOff x="9803998" y="948283"/>
            <a:chExt cx="504000" cy="504000"/>
          </a:xfrm>
        </p:grpSpPr>
        <p:sp>
          <p:nvSpPr>
            <p:cNvPr id="15" name="矩形 14">
              <a:extLst>
                <a:ext uri="{FF2B5EF4-FFF2-40B4-BE49-F238E27FC236}">
                  <a16:creationId xmlns:a16="http://schemas.microsoft.com/office/drawing/2014/main" id="{AC0194DE-45F9-847D-1F65-7B781A1160BB}"/>
                </a:ext>
              </a:extLst>
            </p:cNvPr>
            <p:cNvSpPr/>
            <p:nvPr/>
          </p:nvSpPr>
          <p:spPr>
            <a:xfrm>
              <a:off x="9803998" y="1020283"/>
              <a:ext cx="504000" cy="36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pic>
          <p:nvPicPr>
            <p:cNvPr id="13" name="图形 12" descr="毕业帽">
              <a:extLst>
                <a:ext uri="{FF2B5EF4-FFF2-40B4-BE49-F238E27FC236}">
                  <a16:creationId xmlns:a16="http://schemas.microsoft.com/office/drawing/2014/main" id="{A9DBD2D6-E183-F7DB-667C-E45A16B47E8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803998" y="948283"/>
              <a:ext cx="504000" cy="504000"/>
            </a:xfrm>
            <a:prstGeom prst="rect">
              <a:avLst/>
            </a:prstGeom>
          </p:spPr>
        </p:pic>
      </p:grpSp>
      <p:sp>
        <p:nvSpPr>
          <p:cNvPr id="9" name="任意多边形: 形状 8">
            <a:extLst>
              <a:ext uri="{FF2B5EF4-FFF2-40B4-BE49-F238E27FC236}">
                <a16:creationId xmlns:a16="http://schemas.microsoft.com/office/drawing/2014/main" id="{BB0C5101-7C9E-9352-551A-605FDA982309}"/>
              </a:ext>
            </a:extLst>
          </p:cNvPr>
          <p:cNvSpPr/>
          <p:nvPr/>
        </p:nvSpPr>
        <p:spPr>
          <a:xfrm flipH="1">
            <a:off x="6144408" y="1564331"/>
            <a:ext cx="2495774" cy="1579936"/>
          </a:xfrm>
          <a:custGeom>
            <a:avLst/>
            <a:gdLst>
              <a:gd name="csX0" fmla="*/ 0 w 2495774"/>
              <a:gd name="csY0" fmla="*/ 0 h 1579936"/>
              <a:gd name="csX1" fmla="*/ 0 w 2495774"/>
              <a:gd name="csY1" fmla="*/ 602745 h 1579936"/>
              <a:gd name="csX2" fmla="*/ 0 w 2495774"/>
              <a:gd name="csY2" fmla="*/ 1579936 h 1579936"/>
              <a:gd name="csX3" fmla="*/ 2495774 w 2495774"/>
              <a:gd name="csY3" fmla="*/ 1579936 h 1579936"/>
              <a:gd name="csX4" fmla="*/ 2495774 w 2495774"/>
              <a:gd name="csY4" fmla="*/ 602745 h 1579936"/>
            </a:gdLst>
            <a:ahLst/>
            <a:cxnLst>
              <a:cxn ang="0">
                <a:pos x="csX0" y="csY0"/>
              </a:cxn>
              <a:cxn ang="0">
                <a:pos x="csX1" y="csY1"/>
              </a:cxn>
              <a:cxn ang="0">
                <a:pos x="csX2" y="csY2"/>
              </a:cxn>
              <a:cxn ang="0">
                <a:pos x="csX3" y="csY3"/>
              </a:cxn>
              <a:cxn ang="0">
                <a:pos x="csX4" y="csY4"/>
              </a:cxn>
            </a:cxnLst>
            <a:rect l="l" t="t" r="r" b="b"/>
            <a:pathLst>
              <a:path w="2495774" h="1579936">
                <a:moveTo>
                  <a:pt x="0" y="0"/>
                </a:moveTo>
                <a:lnTo>
                  <a:pt x="0" y="602745"/>
                </a:lnTo>
                <a:lnTo>
                  <a:pt x="0" y="1579936"/>
                </a:lnTo>
                <a:lnTo>
                  <a:pt x="2495774" y="1579936"/>
                </a:lnTo>
                <a:lnTo>
                  <a:pt x="2495774" y="602745"/>
                </a:lnTo>
                <a:close/>
              </a:path>
            </a:pathLst>
          </a:custGeom>
          <a:solidFill>
            <a:srgbClr val="89AE1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b" anchorCtr="0">
            <a:noAutofit/>
          </a:bodyPr>
          <a:lstStyle/>
          <a:p>
            <a:r>
              <a:rPr lang="en-US" altLang="zh-CN" sz="2400" dirty="0">
                <a:solidFill>
                  <a:schemeClr val="bg1"/>
                </a:solidFill>
                <a:latin typeface="Times New Roman" panose="02020603050405020304" pitchFamily="18" charset="0"/>
                <a:cs typeface="Times New Roman" panose="02020603050405020304" pitchFamily="18" charset="0"/>
              </a:rPr>
              <a:t>02</a:t>
            </a:r>
            <a:endParaRPr lang="zh-CN" altLang="en-US" sz="2400" dirty="0">
              <a:solidFill>
                <a:schemeClr val="bg1"/>
              </a:solidFill>
              <a:latin typeface="Times New Roman" panose="02020603050405020304" pitchFamily="18" charset="0"/>
              <a:cs typeface="Times New Roman" panose="02020603050405020304" pitchFamily="18" charset="0"/>
            </a:endParaRPr>
          </a:p>
        </p:txBody>
      </p:sp>
      <p:sp>
        <p:nvSpPr>
          <p:cNvPr id="10" name="任意多边形: 形状 9">
            <a:extLst>
              <a:ext uri="{FF2B5EF4-FFF2-40B4-BE49-F238E27FC236}">
                <a16:creationId xmlns:a16="http://schemas.microsoft.com/office/drawing/2014/main" id="{63383363-C6B6-8DBC-4750-11DEA42DCB02}"/>
              </a:ext>
            </a:extLst>
          </p:cNvPr>
          <p:cNvSpPr/>
          <p:nvPr/>
        </p:nvSpPr>
        <p:spPr>
          <a:xfrm>
            <a:off x="3551817" y="1564331"/>
            <a:ext cx="2495774" cy="1579936"/>
          </a:xfrm>
          <a:custGeom>
            <a:avLst/>
            <a:gdLst>
              <a:gd name="csX0" fmla="*/ 0 w 2495774"/>
              <a:gd name="csY0" fmla="*/ 0 h 1579936"/>
              <a:gd name="csX1" fmla="*/ 0 w 2495774"/>
              <a:gd name="csY1" fmla="*/ 602745 h 1579936"/>
              <a:gd name="csX2" fmla="*/ 0 w 2495774"/>
              <a:gd name="csY2" fmla="*/ 1579936 h 1579936"/>
              <a:gd name="csX3" fmla="*/ 2495774 w 2495774"/>
              <a:gd name="csY3" fmla="*/ 1579936 h 1579936"/>
              <a:gd name="csX4" fmla="*/ 2495774 w 2495774"/>
              <a:gd name="csY4" fmla="*/ 602745 h 1579936"/>
            </a:gdLst>
            <a:ahLst/>
            <a:cxnLst>
              <a:cxn ang="0">
                <a:pos x="csX0" y="csY0"/>
              </a:cxn>
              <a:cxn ang="0">
                <a:pos x="csX1" y="csY1"/>
              </a:cxn>
              <a:cxn ang="0">
                <a:pos x="csX2" y="csY2"/>
              </a:cxn>
              <a:cxn ang="0">
                <a:pos x="csX3" y="csY3"/>
              </a:cxn>
              <a:cxn ang="0">
                <a:pos x="csX4" y="csY4"/>
              </a:cxn>
            </a:cxnLst>
            <a:rect l="l" t="t" r="r" b="b"/>
            <a:pathLst>
              <a:path w="2495774" h="1579936">
                <a:moveTo>
                  <a:pt x="0" y="0"/>
                </a:moveTo>
                <a:lnTo>
                  <a:pt x="0" y="602745"/>
                </a:lnTo>
                <a:lnTo>
                  <a:pt x="0" y="1579936"/>
                </a:lnTo>
                <a:lnTo>
                  <a:pt x="2495774" y="1579936"/>
                </a:lnTo>
                <a:lnTo>
                  <a:pt x="2495774" y="602745"/>
                </a:lnTo>
                <a:close/>
              </a:path>
            </a:pathLst>
          </a:custGeom>
          <a:solidFill>
            <a:srgbClr val="0D8BB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b" anchorCtr="0">
            <a:noAutofit/>
          </a:bodyPr>
          <a:lstStyle/>
          <a:p>
            <a:pPr algn="r"/>
            <a:r>
              <a:rPr lang="en-US" altLang="zh-CN" sz="2400" dirty="0">
                <a:solidFill>
                  <a:schemeClr val="bg1"/>
                </a:solidFill>
                <a:latin typeface="Times New Roman" panose="02020603050405020304" pitchFamily="18" charset="0"/>
                <a:cs typeface="Times New Roman" panose="02020603050405020304" pitchFamily="18" charset="0"/>
              </a:rPr>
              <a:t>01</a:t>
            </a:r>
            <a:endParaRPr lang="zh-CN" altLang="en-US" sz="2400" dirty="0">
              <a:solidFill>
                <a:schemeClr val="bg1"/>
              </a:solidFill>
              <a:latin typeface="Times New Roman" panose="02020603050405020304" pitchFamily="18" charset="0"/>
              <a:cs typeface="Times New Roman" panose="02020603050405020304" pitchFamily="18" charset="0"/>
            </a:endParaRPr>
          </a:p>
        </p:txBody>
      </p:sp>
      <p:sp>
        <p:nvSpPr>
          <p:cNvPr id="22" name="任意多边形: 形状 21">
            <a:extLst>
              <a:ext uri="{FF2B5EF4-FFF2-40B4-BE49-F238E27FC236}">
                <a16:creationId xmlns:a16="http://schemas.microsoft.com/office/drawing/2014/main" id="{3B3069A2-0B8E-A961-8862-B4C173586D3D}"/>
              </a:ext>
            </a:extLst>
          </p:cNvPr>
          <p:cNvSpPr/>
          <p:nvPr/>
        </p:nvSpPr>
        <p:spPr>
          <a:xfrm>
            <a:off x="6144408" y="3218879"/>
            <a:ext cx="2495774" cy="1579936"/>
          </a:xfrm>
          <a:custGeom>
            <a:avLst/>
            <a:gdLst>
              <a:gd name="csX0" fmla="*/ 0 w 2495774"/>
              <a:gd name="csY0" fmla="*/ 0 h 1579936"/>
              <a:gd name="csX1" fmla="*/ 2495774 w 2495774"/>
              <a:gd name="csY1" fmla="*/ 0 h 1579936"/>
              <a:gd name="csX2" fmla="*/ 2495774 w 2495774"/>
              <a:gd name="csY2" fmla="*/ 977191 h 1579936"/>
              <a:gd name="csX3" fmla="*/ 2495774 w 2495774"/>
              <a:gd name="csY3" fmla="*/ 1579936 h 1579936"/>
              <a:gd name="csX4" fmla="*/ 0 w 2495774"/>
              <a:gd name="csY4" fmla="*/ 977191 h 1579936"/>
              <a:gd name="csX5" fmla="*/ 0 w 2495774"/>
              <a:gd name="csY5" fmla="*/ 0 h 1579936"/>
            </a:gdLst>
            <a:ahLst/>
            <a:cxnLst>
              <a:cxn ang="0">
                <a:pos x="csX0" y="csY0"/>
              </a:cxn>
              <a:cxn ang="0">
                <a:pos x="csX1" y="csY1"/>
              </a:cxn>
              <a:cxn ang="0">
                <a:pos x="csX2" y="csY2"/>
              </a:cxn>
              <a:cxn ang="0">
                <a:pos x="csX3" y="csY3"/>
              </a:cxn>
              <a:cxn ang="0">
                <a:pos x="csX4" y="csY4"/>
              </a:cxn>
              <a:cxn ang="0">
                <a:pos x="csX5" y="csY5"/>
              </a:cxn>
            </a:cxnLst>
            <a:rect l="l" t="t" r="r" b="b"/>
            <a:pathLst>
              <a:path w="2495774" h="1579936">
                <a:moveTo>
                  <a:pt x="0" y="0"/>
                </a:moveTo>
                <a:lnTo>
                  <a:pt x="2495774" y="0"/>
                </a:lnTo>
                <a:lnTo>
                  <a:pt x="2495774" y="977191"/>
                </a:lnTo>
                <a:lnTo>
                  <a:pt x="2495774" y="1579936"/>
                </a:lnTo>
                <a:lnTo>
                  <a:pt x="0" y="977191"/>
                </a:lnTo>
                <a:lnTo>
                  <a:pt x="0" y="0"/>
                </a:lnTo>
                <a:close/>
              </a:path>
            </a:pathLst>
          </a:custGeom>
          <a:solidFill>
            <a:srgbClr val="BF014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t" anchorCtr="0">
            <a:noAutofit/>
          </a:bodyPr>
          <a:lstStyle/>
          <a:p>
            <a:r>
              <a:rPr lang="en-US" altLang="zh-CN" sz="2400" dirty="0">
                <a:solidFill>
                  <a:schemeClr val="bg1"/>
                </a:solidFill>
                <a:latin typeface="Times New Roman" panose="02020603050405020304" pitchFamily="18" charset="0"/>
                <a:cs typeface="Times New Roman" panose="02020603050405020304" pitchFamily="18" charset="0"/>
              </a:rPr>
              <a:t>03</a:t>
            </a:r>
            <a:endParaRPr lang="zh-CN" altLang="en-US" sz="2400" dirty="0">
              <a:solidFill>
                <a:schemeClr val="bg1"/>
              </a:solidFill>
              <a:latin typeface="Times New Roman" panose="02020603050405020304" pitchFamily="18" charset="0"/>
              <a:cs typeface="Times New Roman" panose="02020603050405020304" pitchFamily="18" charset="0"/>
            </a:endParaRPr>
          </a:p>
        </p:txBody>
      </p:sp>
      <p:sp>
        <p:nvSpPr>
          <p:cNvPr id="23" name="任意多边形: 形状 22">
            <a:extLst>
              <a:ext uri="{FF2B5EF4-FFF2-40B4-BE49-F238E27FC236}">
                <a16:creationId xmlns:a16="http://schemas.microsoft.com/office/drawing/2014/main" id="{6EFD2E3D-C8A8-8AC6-054E-1133685A5BAF}"/>
              </a:ext>
            </a:extLst>
          </p:cNvPr>
          <p:cNvSpPr/>
          <p:nvPr/>
        </p:nvSpPr>
        <p:spPr>
          <a:xfrm flipH="1">
            <a:off x="3551817" y="3218879"/>
            <a:ext cx="2495774" cy="1579936"/>
          </a:xfrm>
          <a:custGeom>
            <a:avLst/>
            <a:gdLst>
              <a:gd name="csX0" fmla="*/ 0 w 2495774"/>
              <a:gd name="csY0" fmla="*/ 0 h 1579936"/>
              <a:gd name="csX1" fmla="*/ 2495774 w 2495774"/>
              <a:gd name="csY1" fmla="*/ 0 h 1579936"/>
              <a:gd name="csX2" fmla="*/ 2495774 w 2495774"/>
              <a:gd name="csY2" fmla="*/ 977191 h 1579936"/>
              <a:gd name="csX3" fmla="*/ 2495774 w 2495774"/>
              <a:gd name="csY3" fmla="*/ 1579936 h 1579936"/>
              <a:gd name="csX4" fmla="*/ 0 w 2495774"/>
              <a:gd name="csY4" fmla="*/ 977191 h 1579936"/>
              <a:gd name="csX5" fmla="*/ 0 w 2495774"/>
              <a:gd name="csY5" fmla="*/ 0 h 1579936"/>
            </a:gdLst>
            <a:ahLst/>
            <a:cxnLst>
              <a:cxn ang="0">
                <a:pos x="csX0" y="csY0"/>
              </a:cxn>
              <a:cxn ang="0">
                <a:pos x="csX1" y="csY1"/>
              </a:cxn>
              <a:cxn ang="0">
                <a:pos x="csX2" y="csY2"/>
              </a:cxn>
              <a:cxn ang="0">
                <a:pos x="csX3" y="csY3"/>
              </a:cxn>
              <a:cxn ang="0">
                <a:pos x="csX4" y="csY4"/>
              </a:cxn>
              <a:cxn ang="0">
                <a:pos x="csX5" y="csY5"/>
              </a:cxn>
            </a:cxnLst>
            <a:rect l="l" t="t" r="r" b="b"/>
            <a:pathLst>
              <a:path w="2495774" h="1579936">
                <a:moveTo>
                  <a:pt x="0" y="0"/>
                </a:moveTo>
                <a:lnTo>
                  <a:pt x="2495774" y="0"/>
                </a:lnTo>
                <a:lnTo>
                  <a:pt x="2495774" y="977191"/>
                </a:lnTo>
                <a:lnTo>
                  <a:pt x="2495774" y="1579936"/>
                </a:lnTo>
                <a:lnTo>
                  <a:pt x="0" y="977191"/>
                </a:lnTo>
                <a:lnTo>
                  <a:pt x="0" y="0"/>
                </a:lnTo>
                <a:close/>
              </a:path>
            </a:pathLst>
          </a:custGeom>
          <a:solidFill>
            <a:srgbClr val="EFAA27"/>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t" anchorCtr="0">
            <a:noAutofit/>
          </a:bodyPr>
          <a:lstStyle/>
          <a:p>
            <a:pPr algn="r"/>
            <a:r>
              <a:rPr lang="en-US" altLang="zh-CN" sz="2400" dirty="0">
                <a:solidFill>
                  <a:schemeClr val="bg1"/>
                </a:solidFill>
                <a:latin typeface="Times New Roman" panose="02020603050405020304" pitchFamily="18" charset="0"/>
                <a:cs typeface="Times New Roman" panose="02020603050405020304" pitchFamily="18" charset="0"/>
              </a:rPr>
              <a:t>04</a:t>
            </a:r>
            <a:endParaRPr lang="zh-CN" altLang="en-US" sz="2400" dirty="0">
              <a:solidFill>
                <a:schemeClr val="bg1"/>
              </a:solidFill>
              <a:latin typeface="Times New Roman" panose="02020603050405020304" pitchFamily="18" charset="0"/>
              <a:cs typeface="Times New Roman" panose="02020603050405020304" pitchFamily="18" charset="0"/>
            </a:endParaRPr>
          </a:p>
        </p:txBody>
      </p:sp>
      <p:sp>
        <p:nvSpPr>
          <p:cNvPr id="24" name="矩形 23">
            <a:extLst>
              <a:ext uri="{FF2B5EF4-FFF2-40B4-BE49-F238E27FC236}">
                <a16:creationId xmlns:a16="http://schemas.microsoft.com/office/drawing/2014/main" id="{D8E7F478-0102-BA92-5FAB-8AA2AE713E8E}"/>
              </a:ext>
            </a:extLst>
          </p:cNvPr>
          <p:cNvSpPr/>
          <p:nvPr/>
        </p:nvSpPr>
        <p:spPr>
          <a:xfrm>
            <a:off x="8736999" y="1564331"/>
            <a:ext cx="2687622" cy="157993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solidFill>
                  <a:schemeClr val="tx1"/>
                </a:solidFill>
              </a:rPr>
              <a:t>官方沟通</a:t>
            </a:r>
            <a:endParaRPr lang="en-US" altLang="zh-CN" dirty="0">
              <a:solidFill>
                <a:schemeClr val="tx1"/>
              </a:solidFill>
            </a:endParaRPr>
          </a:p>
          <a:p>
            <a:r>
              <a:rPr lang="zh-CN" altLang="en-US" dirty="0">
                <a:solidFill>
                  <a:schemeClr val="tx1"/>
                </a:solidFill>
              </a:rPr>
              <a:t>非官方沟通</a:t>
            </a:r>
            <a:endParaRPr lang="en-US" altLang="zh-CN" dirty="0">
              <a:solidFill>
                <a:schemeClr val="tx1"/>
              </a:solidFill>
            </a:endParaRPr>
          </a:p>
        </p:txBody>
      </p:sp>
      <p:sp>
        <p:nvSpPr>
          <p:cNvPr id="25" name="矩形 24">
            <a:extLst>
              <a:ext uri="{FF2B5EF4-FFF2-40B4-BE49-F238E27FC236}">
                <a16:creationId xmlns:a16="http://schemas.microsoft.com/office/drawing/2014/main" id="{27574A6C-B17E-0D78-74FD-E9BBFCF4A2D4}"/>
              </a:ext>
            </a:extLst>
          </p:cNvPr>
          <p:cNvSpPr/>
          <p:nvPr/>
        </p:nvSpPr>
        <p:spPr>
          <a:xfrm>
            <a:off x="8736999" y="3213744"/>
            <a:ext cx="2687622" cy="157993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solidFill>
                  <a:schemeClr val="tx1"/>
                </a:solidFill>
              </a:rPr>
              <a:t>书面沟通</a:t>
            </a:r>
            <a:endParaRPr lang="en-US" altLang="zh-CN" dirty="0">
              <a:solidFill>
                <a:schemeClr val="tx1"/>
              </a:solidFill>
            </a:endParaRPr>
          </a:p>
          <a:p>
            <a:r>
              <a:rPr lang="zh-CN" altLang="en-US" dirty="0">
                <a:solidFill>
                  <a:schemeClr val="tx1"/>
                </a:solidFill>
              </a:rPr>
              <a:t>口头沟通</a:t>
            </a:r>
            <a:endParaRPr lang="en-US" altLang="zh-CN" dirty="0">
              <a:solidFill>
                <a:schemeClr val="tx1"/>
              </a:solidFill>
            </a:endParaRPr>
          </a:p>
        </p:txBody>
      </p:sp>
      <p:sp>
        <p:nvSpPr>
          <p:cNvPr id="26" name="矩形 25">
            <a:extLst>
              <a:ext uri="{FF2B5EF4-FFF2-40B4-BE49-F238E27FC236}">
                <a16:creationId xmlns:a16="http://schemas.microsoft.com/office/drawing/2014/main" id="{16AA6710-A66E-FD00-84FF-BB5EE97E6AF9}"/>
              </a:ext>
            </a:extLst>
          </p:cNvPr>
          <p:cNvSpPr/>
          <p:nvPr/>
        </p:nvSpPr>
        <p:spPr>
          <a:xfrm>
            <a:off x="767378" y="1564331"/>
            <a:ext cx="2687622" cy="157993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zh-CN" altLang="en-US" dirty="0">
                <a:solidFill>
                  <a:schemeClr val="tx1"/>
                </a:solidFill>
              </a:rPr>
              <a:t>内部沟通</a:t>
            </a:r>
            <a:endParaRPr lang="en-US" altLang="zh-CN" dirty="0">
              <a:solidFill>
                <a:schemeClr val="tx1"/>
              </a:solidFill>
            </a:endParaRPr>
          </a:p>
          <a:p>
            <a:pPr algn="r"/>
            <a:r>
              <a:rPr lang="zh-CN" altLang="en-US" dirty="0">
                <a:solidFill>
                  <a:schemeClr val="tx1"/>
                </a:solidFill>
              </a:rPr>
              <a:t>外部沟通</a:t>
            </a:r>
            <a:endParaRPr lang="en-US" altLang="zh-CN" dirty="0">
              <a:solidFill>
                <a:schemeClr val="tx1"/>
              </a:solidFill>
            </a:endParaRPr>
          </a:p>
        </p:txBody>
      </p:sp>
      <p:sp>
        <p:nvSpPr>
          <p:cNvPr id="27" name="矩形 26">
            <a:extLst>
              <a:ext uri="{FF2B5EF4-FFF2-40B4-BE49-F238E27FC236}">
                <a16:creationId xmlns:a16="http://schemas.microsoft.com/office/drawing/2014/main" id="{10835411-6439-CF1A-EC53-8FECE86EE574}"/>
              </a:ext>
            </a:extLst>
          </p:cNvPr>
          <p:cNvSpPr/>
          <p:nvPr/>
        </p:nvSpPr>
        <p:spPr>
          <a:xfrm>
            <a:off x="767378" y="3213744"/>
            <a:ext cx="2687622" cy="157993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zh-CN" altLang="en-US" dirty="0">
                <a:solidFill>
                  <a:schemeClr val="tx1"/>
                </a:solidFill>
              </a:rPr>
              <a:t>正式沟通</a:t>
            </a:r>
            <a:endParaRPr lang="en-US" altLang="zh-CN" dirty="0">
              <a:solidFill>
                <a:schemeClr val="tx1"/>
              </a:solidFill>
            </a:endParaRPr>
          </a:p>
          <a:p>
            <a:pPr algn="r"/>
            <a:r>
              <a:rPr lang="zh-CN" altLang="en-US" dirty="0">
                <a:solidFill>
                  <a:schemeClr val="tx1"/>
                </a:solidFill>
              </a:rPr>
              <a:t>非正式沟通</a:t>
            </a:r>
            <a:endParaRPr lang="en-US" altLang="zh-CN" dirty="0">
              <a:solidFill>
                <a:schemeClr val="tx1"/>
              </a:solidFill>
            </a:endParaRPr>
          </a:p>
        </p:txBody>
      </p:sp>
      <p:sp>
        <p:nvSpPr>
          <p:cNvPr id="28" name="矩形 27">
            <a:extLst>
              <a:ext uri="{FF2B5EF4-FFF2-40B4-BE49-F238E27FC236}">
                <a16:creationId xmlns:a16="http://schemas.microsoft.com/office/drawing/2014/main" id="{9F3E061E-DEAB-E781-8069-532F3CDCB213}"/>
              </a:ext>
            </a:extLst>
          </p:cNvPr>
          <p:cNvSpPr/>
          <p:nvPr/>
        </p:nvSpPr>
        <p:spPr>
          <a:xfrm>
            <a:off x="3551815" y="4948731"/>
            <a:ext cx="5088365" cy="121803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lgn="ctr"/>
            <a:r>
              <a:rPr lang="zh-CN" altLang="en-US" sz="2400" dirty="0">
                <a:solidFill>
                  <a:schemeClr val="tx1"/>
                </a:solidFill>
              </a:rPr>
              <a:t>层级沟通</a:t>
            </a:r>
            <a:endParaRPr lang="en-US" altLang="zh-CN" sz="2400" dirty="0">
              <a:solidFill>
                <a:schemeClr val="tx1"/>
              </a:solidFill>
            </a:endParaRPr>
          </a:p>
          <a:p>
            <a:pPr lvl="1" algn="ctr"/>
            <a:r>
              <a:rPr lang="en-US" altLang="zh-CN" dirty="0">
                <a:solidFill>
                  <a:schemeClr val="tx1"/>
                </a:solidFill>
              </a:rPr>
              <a:t>[</a:t>
            </a:r>
            <a:r>
              <a:rPr lang="zh-CN" altLang="en-US" dirty="0">
                <a:solidFill>
                  <a:schemeClr val="tx1"/>
                </a:solidFill>
              </a:rPr>
              <a:t>向上沟通</a:t>
            </a:r>
            <a:r>
              <a:rPr lang="en-US" altLang="zh-CN" dirty="0">
                <a:solidFill>
                  <a:schemeClr val="tx1"/>
                </a:solidFill>
              </a:rPr>
              <a:t>]</a:t>
            </a:r>
            <a:r>
              <a:rPr lang="zh-CN" altLang="en-US" dirty="0">
                <a:solidFill>
                  <a:schemeClr val="tx1"/>
                </a:solidFill>
              </a:rPr>
              <a:t> </a:t>
            </a:r>
            <a:r>
              <a:rPr lang="en-US" altLang="zh-CN" dirty="0">
                <a:solidFill>
                  <a:schemeClr val="tx1"/>
                </a:solidFill>
              </a:rPr>
              <a:t>[</a:t>
            </a:r>
            <a:r>
              <a:rPr lang="zh-CN" altLang="en-US" dirty="0">
                <a:solidFill>
                  <a:schemeClr val="tx1"/>
                </a:solidFill>
              </a:rPr>
              <a:t>向下沟通</a:t>
            </a:r>
            <a:r>
              <a:rPr lang="en-US" altLang="zh-CN" dirty="0">
                <a:solidFill>
                  <a:schemeClr val="tx1"/>
                </a:solidFill>
              </a:rPr>
              <a:t>]</a:t>
            </a:r>
            <a:r>
              <a:rPr lang="zh-CN" altLang="en-US" dirty="0">
                <a:solidFill>
                  <a:schemeClr val="tx1"/>
                </a:solidFill>
              </a:rPr>
              <a:t> </a:t>
            </a:r>
            <a:r>
              <a:rPr lang="en-US" altLang="zh-CN" dirty="0">
                <a:solidFill>
                  <a:schemeClr val="tx1"/>
                </a:solidFill>
              </a:rPr>
              <a:t>[</a:t>
            </a:r>
            <a:r>
              <a:rPr lang="zh-CN" altLang="en-US" dirty="0">
                <a:solidFill>
                  <a:schemeClr val="tx1"/>
                </a:solidFill>
              </a:rPr>
              <a:t>横向沟通</a:t>
            </a:r>
            <a:r>
              <a:rPr lang="en-US" altLang="zh-CN" dirty="0">
                <a:solidFill>
                  <a:schemeClr val="tx1"/>
                </a:solidFill>
              </a:rPr>
              <a:t>]</a:t>
            </a:r>
            <a:endParaRPr lang="en-US" altLang="zh-CN" sz="2400" dirty="0">
              <a:solidFill>
                <a:schemeClr val="tx1"/>
              </a:solidFill>
            </a:endParaRPr>
          </a:p>
        </p:txBody>
      </p:sp>
      <p:sp>
        <p:nvSpPr>
          <p:cNvPr id="35" name="任意多边形: 形状 34">
            <a:extLst>
              <a:ext uri="{FF2B5EF4-FFF2-40B4-BE49-F238E27FC236}">
                <a16:creationId xmlns:a16="http://schemas.microsoft.com/office/drawing/2014/main" id="{BD16AE34-76DA-5ACC-4A7C-E7271F05B731}"/>
              </a:ext>
            </a:extLst>
          </p:cNvPr>
          <p:cNvSpPr/>
          <p:nvPr/>
        </p:nvSpPr>
        <p:spPr>
          <a:xfrm>
            <a:off x="3551816" y="4247983"/>
            <a:ext cx="5088365" cy="625444"/>
          </a:xfrm>
          <a:custGeom>
            <a:avLst/>
            <a:gdLst>
              <a:gd name="csX0" fmla="*/ 2544183 w 5088365"/>
              <a:gd name="csY0" fmla="*/ 0 h 625444"/>
              <a:gd name="csX1" fmla="*/ 5088365 w 5088365"/>
              <a:gd name="csY1" fmla="*/ 625444 h 625444"/>
              <a:gd name="csX2" fmla="*/ 0 w 5088365"/>
              <a:gd name="csY2" fmla="*/ 625444 h 625444"/>
              <a:gd name="csX3" fmla="*/ 2544183 w 5088365"/>
              <a:gd name="csY3" fmla="*/ 0 h 625444"/>
            </a:gdLst>
            <a:ahLst/>
            <a:cxnLst>
              <a:cxn ang="0">
                <a:pos x="csX0" y="csY0"/>
              </a:cxn>
              <a:cxn ang="0">
                <a:pos x="csX1" y="csY1"/>
              </a:cxn>
              <a:cxn ang="0">
                <a:pos x="csX2" y="csY2"/>
              </a:cxn>
              <a:cxn ang="0">
                <a:pos x="csX3" y="csY3"/>
              </a:cxn>
            </a:cxnLst>
            <a:rect l="l" t="t" r="r" b="b"/>
            <a:pathLst>
              <a:path w="5088365" h="625444">
                <a:moveTo>
                  <a:pt x="2544183" y="0"/>
                </a:moveTo>
                <a:lnTo>
                  <a:pt x="5088365" y="625444"/>
                </a:lnTo>
                <a:lnTo>
                  <a:pt x="0" y="625444"/>
                </a:lnTo>
                <a:lnTo>
                  <a:pt x="2544183" y="0"/>
                </a:lnTo>
                <a:close/>
              </a:path>
            </a:pathLst>
          </a:custGeom>
          <a:solidFill>
            <a:srgbClr val="8F42C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2400" dirty="0">
                <a:solidFill>
                  <a:schemeClr val="bg1"/>
                </a:solidFill>
                <a:latin typeface="Times New Roman" panose="02020603050405020304" pitchFamily="18" charset="0"/>
                <a:cs typeface="Times New Roman" panose="02020603050405020304" pitchFamily="18" charset="0"/>
              </a:rPr>
              <a:t>05</a:t>
            </a:r>
            <a:endParaRPr lang="zh-CN" altLang="en-US" sz="2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3285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right)">
                                      <p:cBhvr>
                                        <p:cTn id="7" dur="500"/>
                                        <p:tgtEl>
                                          <p:spTgt spid="10"/>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left)">
                                      <p:cBhvr>
                                        <p:cTn id="10" dur="500"/>
                                        <p:tgtEl>
                                          <p:spTgt spid="9"/>
                                        </p:tgtEl>
                                      </p:cBhvr>
                                    </p:animEffect>
                                  </p:childTnLst>
                                </p:cTn>
                              </p:par>
                              <p:par>
                                <p:cTn id="11" presetID="22" presetClass="entr" presetSubtype="2"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wipe(right)">
                                      <p:cBhvr>
                                        <p:cTn id="13" dur="500"/>
                                        <p:tgtEl>
                                          <p:spTgt spid="2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wipe(left)">
                                      <p:cBhvr>
                                        <p:cTn id="1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22" grpId="0" animBg="1"/>
      <p:bldP spid="23" grpId="0" animBg="1"/>
    </p:bldLst>
  </p:timing>
</p:sld>
</file>

<file path=ppt/slides/slide4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F54262-506E-40EA-48BC-D4D359BBBCB2}"/>
              </a:ext>
            </a:extLst>
          </p:cNvPr>
          <p:cNvSpPr>
            <a:spLocks noGrp="1"/>
          </p:cNvSpPr>
          <p:nvPr>
            <p:ph type="title"/>
          </p:nvPr>
        </p:nvSpPr>
        <p:spPr>
          <a:xfrm>
            <a:off x="696000" y="360000"/>
            <a:ext cx="5400000" cy="429413"/>
          </a:xfrm>
        </p:spPr>
        <p:txBody>
          <a:bodyPr/>
          <a:lstStyle/>
          <a:p>
            <a:r>
              <a:rPr lang="en-US" altLang="zh-CN" dirty="0"/>
              <a:t>10.4.3 </a:t>
            </a:r>
            <a:r>
              <a:rPr lang="zh-CN" altLang="en-US" dirty="0"/>
              <a:t>沟通渠道</a:t>
            </a:r>
          </a:p>
        </p:txBody>
      </p:sp>
      <p:pic>
        <p:nvPicPr>
          <p:cNvPr id="8" name="图形 7" descr="用户">
            <a:extLst>
              <a:ext uri="{FF2B5EF4-FFF2-40B4-BE49-F238E27FC236}">
                <a16:creationId xmlns:a16="http://schemas.microsoft.com/office/drawing/2014/main" id="{FF07C2C9-8B73-BFA8-315D-BB8197B060A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6000" y="5550624"/>
            <a:ext cx="360000" cy="360000"/>
          </a:xfrm>
          <a:prstGeom prst="rect">
            <a:avLst/>
          </a:prstGeom>
        </p:spPr>
      </p:pic>
      <p:pic>
        <p:nvPicPr>
          <p:cNvPr id="9" name="图形 8" descr="用户">
            <a:extLst>
              <a:ext uri="{FF2B5EF4-FFF2-40B4-BE49-F238E27FC236}">
                <a16:creationId xmlns:a16="http://schemas.microsoft.com/office/drawing/2014/main" id="{1E5EFD38-4FBC-3302-1A8F-810F3F76489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0729" y="5550624"/>
            <a:ext cx="360000" cy="360000"/>
          </a:xfrm>
          <a:prstGeom prst="rect">
            <a:avLst/>
          </a:prstGeom>
        </p:spPr>
      </p:pic>
      <p:cxnSp>
        <p:nvCxnSpPr>
          <p:cNvPr id="11" name="直接连接符 10">
            <a:extLst>
              <a:ext uri="{FF2B5EF4-FFF2-40B4-BE49-F238E27FC236}">
                <a16:creationId xmlns:a16="http://schemas.microsoft.com/office/drawing/2014/main" id="{F6B73A5E-C87C-3D54-347F-6B799D5FBC81}"/>
              </a:ext>
            </a:extLst>
          </p:cNvPr>
          <p:cNvCxnSpPr>
            <a:endCxn id="9" idx="1"/>
          </p:cNvCxnSpPr>
          <p:nvPr/>
        </p:nvCxnSpPr>
        <p:spPr>
          <a:xfrm>
            <a:off x="1056000" y="5730624"/>
            <a:ext cx="724729" cy="0"/>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pic>
        <p:nvPicPr>
          <p:cNvPr id="12" name="图形 11" descr="用户">
            <a:extLst>
              <a:ext uri="{FF2B5EF4-FFF2-40B4-BE49-F238E27FC236}">
                <a16:creationId xmlns:a16="http://schemas.microsoft.com/office/drawing/2014/main" id="{804E9D9C-BE60-49C8-B8A5-10D286B3B4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2801" y="4518271"/>
            <a:ext cx="360000" cy="360000"/>
          </a:xfrm>
          <a:prstGeom prst="rect">
            <a:avLst/>
          </a:prstGeom>
        </p:spPr>
      </p:pic>
      <p:pic>
        <p:nvPicPr>
          <p:cNvPr id="13" name="图形 12" descr="用户">
            <a:extLst>
              <a:ext uri="{FF2B5EF4-FFF2-40B4-BE49-F238E27FC236}">
                <a16:creationId xmlns:a16="http://schemas.microsoft.com/office/drawing/2014/main" id="{41FDEDEA-24DB-F2AC-7E55-08022060635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257530" y="4518271"/>
            <a:ext cx="360000" cy="360000"/>
          </a:xfrm>
          <a:prstGeom prst="rect">
            <a:avLst/>
          </a:prstGeom>
        </p:spPr>
      </p:pic>
      <p:cxnSp>
        <p:nvCxnSpPr>
          <p:cNvPr id="14" name="直接连接符 13">
            <a:extLst>
              <a:ext uri="{FF2B5EF4-FFF2-40B4-BE49-F238E27FC236}">
                <a16:creationId xmlns:a16="http://schemas.microsoft.com/office/drawing/2014/main" id="{70E8F72D-E323-1E76-648F-E2AF7ECE945C}"/>
              </a:ext>
            </a:extLst>
          </p:cNvPr>
          <p:cNvCxnSpPr>
            <a:endCxn id="13" idx="1"/>
          </p:cNvCxnSpPr>
          <p:nvPr/>
        </p:nvCxnSpPr>
        <p:spPr>
          <a:xfrm>
            <a:off x="3532801" y="4698271"/>
            <a:ext cx="724729" cy="0"/>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pic>
        <p:nvPicPr>
          <p:cNvPr id="15" name="图形 14" descr="用户">
            <a:extLst>
              <a:ext uri="{FF2B5EF4-FFF2-40B4-BE49-F238E27FC236}">
                <a16:creationId xmlns:a16="http://schemas.microsoft.com/office/drawing/2014/main" id="{0F696B2A-738A-2B90-736C-EC3180AD6E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13753" y="5190624"/>
            <a:ext cx="360000" cy="360000"/>
          </a:xfrm>
          <a:prstGeom prst="rect">
            <a:avLst/>
          </a:prstGeom>
        </p:spPr>
      </p:pic>
      <p:cxnSp>
        <p:nvCxnSpPr>
          <p:cNvPr id="17" name="直接连接符 16">
            <a:extLst>
              <a:ext uri="{FF2B5EF4-FFF2-40B4-BE49-F238E27FC236}">
                <a16:creationId xmlns:a16="http://schemas.microsoft.com/office/drawing/2014/main" id="{32ADA860-9FAB-5DA8-C3DF-16EBCB1DDB42}"/>
              </a:ext>
            </a:extLst>
          </p:cNvPr>
          <p:cNvCxnSpPr>
            <a:stCxn id="12" idx="2"/>
            <a:endCxn id="15" idx="1"/>
          </p:cNvCxnSpPr>
          <p:nvPr/>
        </p:nvCxnSpPr>
        <p:spPr>
          <a:xfrm>
            <a:off x="3352801" y="4878271"/>
            <a:ext cx="360952" cy="492353"/>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D3E2A90F-B5AC-3D42-296E-8EB9DEB434A5}"/>
              </a:ext>
            </a:extLst>
          </p:cNvPr>
          <p:cNvCxnSpPr>
            <a:stCxn id="13" idx="2"/>
            <a:endCxn id="15" idx="3"/>
          </p:cNvCxnSpPr>
          <p:nvPr/>
        </p:nvCxnSpPr>
        <p:spPr>
          <a:xfrm flipH="1">
            <a:off x="4073753" y="4878271"/>
            <a:ext cx="363777" cy="492353"/>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pic>
        <p:nvPicPr>
          <p:cNvPr id="20" name="图形 19" descr="用户">
            <a:extLst>
              <a:ext uri="{FF2B5EF4-FFF2-40B4-BE49-F238E27FC236}">
                <a16:creationId xmlns:a16="http://schemas.microsoft.com/office/drawing/2014/main" id="{F9143875-75F4-E6F5-494A-DDE1304A873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97889" y="3485918"/>
            <a:ext cx="360000" cy="360000"/>
          </a:xfrm>
          <a:prstGeom prst="rect">
            <a:avLst/>
          </a:prstGeom>
        </p:spPr>
      </p:pic>
      <p:pic>
        <p:nvPicPr>
          <p:cNvPr id="21" name="图形 20" descr="用户">
            <a:extLst>
              <a:ext uri="{FF2B5EF4-FFF2-40B4-BE49-F238E27FC236}">
                <a16:creationId xmlns:a16="http://schemas.microsoft.com/office/drawing/2014/main" id="{AADD2EDB-1F3F-6BEF-5ADB-846B4B71ED4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82618" y="3485918"/>
            <a:ext cx="360000" cy="360000"/>
          </a:xfrm>
          <a:prstGeom prst="rect">
            <a:avLst/>
          </a:prstGeom>
        </p:spPr>
      </p:pic>
      <p:cxnSp>
        <p:nvCxnSpPr>
          <p:cNvPr id="22" name="直接连接符 21">
            <a:extLst>
              <a:ext uri="{FF2B5EF4-FFF2-40B4-BE49-F238E27FC236}">
                <a16:creationId xmlns:a16="http://schemas.microsoft.com/office/drawing/2014/main" id="{BD3155D3-380D-9C7D-A488-006441232369}"/>
              </a:ext>
            </a:extLst>
          </p:cNvPr>
          <p:cNvCxnSpPr>
            <a:endCxn id="21" idx="1"/>
          </p:cNvCxnSpPr>
          <p:nvPr/>
        </p:nvCxnSpPr>
        <p:spPr>
          <a:xfrm>
            <a:off x="6457889" y="3665918"/>
            <a:ext cx="724729" cy="0"/>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pic>
        <p:nvPicPr>
          <p:cNvPr id="23" name="图形 22" descr="用户">
            <a:extLst>
              <a:ext uri="{FF2B5EF4-FFF2-40B4-BE49-F238E27FC236}">
                <a16:creationId xmlns:a16="http://schemas.microsoft.com/office/drawing/2014/main" id="{80E293CC-93A5-F757-8857-3D91872B11A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96000" y="4338271"/>
            <a:ext cx="360000" cy="360000"/>
          </a:xfrm>
          <a:prstGeom prst="rect">
            <a:avLst/>
          </a:prstGeom>
        </p:spPr>
      </p:pic>
      <p:cxnSp>
        <p:nvCxnSpPr>
          <p:cNvPr id="24" name="直接连接符 23">
            <a:extLst>
              <a:ext uri="{FF2B5EF4-FFF2-40B4-BE49-F238E27FC236}">
                <a16:creationId xmlns:a16="http://schemas.microsoft.com/office/drawing/2014/main" id="{76F00260-77E0-8F73-AA7E-325A6927F4EC}"/>
              </a:ext>
            </a:extLst>
          </p:cNvPr>
          <p:cNvCxnSpPr>
            <a:cxnSpLocks/>
            <a:stCxn id="20" idx="2"/>
            <a:endCxn id="23" idx="0"/>
          </p:cNvCxnSpPr>
          <p:nvPr/>
        </p:nvCxnSpPr>
        <p:spPr>
          <a:xfrm flipH="1">
            <a:off x="6276000" y="3845918"/>
            <a:ext cx="1889" cy="492353"/>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ED53C22D-59B5-FF86-C19F-BC278E69B3EC}"/>
              </a:ext>
            </a:extLst>
          </p:cNvPr>
          <p:cNvCxnSpPr>
            <a:cxnSpLocks/>
            <a:stCxn id="21" idx="2"/>
            <a:endCxn id="26" idx="0"/>
          </p:cNvCxnSpPr>
          <p:nvPr/>
        </p:nvCxnSpPr>
        <p:spPr>
          <a:xfrm flipH="1">
            <a:off x="7360729" y="3845918"/>
            <a:ext cx="1889" cy="492353"/>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pic>
        <p:nvPicPr>
          <p:cNvPr id="26" name="图形 25" descr="用户">
            <a:extLst>
              <a:ext uri="{FF2B5EF4-FFF2-40B4-BE49-F238E27FC236}">
                <a16:creationId xmlns:a16="http://schemas.microsoft.com/office/drawing/2014/main" id="{4BFBD4A2-70B6-EACC-89C2-76688E83BC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80729" y="4338271"/>
            <a:ext cx="360000" cy="360000"/>
          </a:xfrm>
          <a:prstGeom prst="rect">
            <a:avLst/>
          </a:prstGeom>
        </p:spPr>
      </p:pic>
      <p:cxnSp>
        <p:nvCxnSpPr>
          <p:cNvPr id="36" name="直接连接符 35">
            <a:extLst>
              <a:ext uri="{FF2B5EF4-FFF2-40B4-BE49-F238E27FC236}">
                <a16:creationId xmlns:a16="http://schemas.microsoft.com/office/drawing/2014/main" id="{C6596675-512F-AB47-96B4-6EB03D1AAB2D}"/>
              </a:ext>
            </a:extLst>
          </p:cNvPr>
          <p:cNvCxnSpPr>
            <a:stCxn id="23" idx="3"/>
            <a:endCxn id="26" idx="1"/>
          </p:cNvCxnSpPr>
          <p:nvPr/>
        </p:nvCxnSpPr>
        <p:spPr>
          <a:xfrm>
            <a:off x="6456000" y="4518271"/>
            <a:ext cx="724729" cy="0"/>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798B0DB0-9BEF-E167-49AE-8436761B7A8F}"/>
              </a:ext>
            </a:extLst>
          </p:cNvPr>
          <p:cNvCxnSpPr/>
          <p:nvPr/>
        </p:nvCxnSpPr>
        <p:spPr>
          <a:xfrm>
            <a:off x="6415306" y="3782200"/>
            <a:ext cx="904729" cy="619790"/>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8D8B419E-69CA-1A8F-C504-62ECB104E008}"/>
              </a:ext>
            </a:extLst>
          </p:cNvPr>
          <p:cNvCxnSpPr>
            <a:cxnSpLocks/>
          </p:cNvCxnSpPr>
          <p:nvPr/>
        </p:nvCxnSpPr>
        <p:spPr>
          <a:xfrm flipV="1">
            <a:off x="6365055" y="3806023"/>
            <a:ext cx="906618" cy="672353"/>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pic>
        <p:nvPicPr>
          <p:cNvPr id="42" name="图形 41" descr="用户">
            <a:extLst>
              <a:ext uri="{FF2B5EF4-FFF2-40B4-BE49-F238E27FC236}">
                <a16:creationId xmlns:a16="http://schemas.microsoft.com/office/drawing/2014/main" id="{F7A3E007-8CFF-DB23-EF53-D46CC3B4B3A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29524" y="2381244"/>
            <a:ext cx="360000" cy="360000"/>
          </a:xfrm>
          <a:prstGeom prst="rect">
            <a:avLst/>
          </a:prstGeom>
        </p:spPr>
      </p:pic>
      <p:pic>
        <p:nvPicPr>
          <p:cNvPr id="43" name="图形 42" descr="用户">
            <a:extLst>
              <a:ext uri="{FF2B5EF4-FFF2-40B4-BE49-F238E27FC236}">
                <a16:creationId xmlns:a16="http://schemas.microsoft.com/office/drawing/2014/main" id="{2FEF9BCE-22F0-9DE7-E356-D516F1BFEC8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016579" y="1614225"/>
            <a:ext cx="360000" cy="360000"/>
          </a:xfrm>
          <a:prstGeom prst="rect">
            <a:avLst/>
          </a:prstGeom>
        </p:spPr>
      </p:pic>
      <p:cxnSp>
        <p:nvCxnSpPr>
          <p:cNvPr id="44" name="直接连接符 43">
            <a:extLst>
              <a:ext uri="{FF2B5EF4-FFF2-40B4-BE49-F238E27FC236}">
                <a16:creationId xmlns:a16="http://schemas.microsoft.com/office/drawing/2014/main" id="{69522A01-12DE-4DA0-4EE9-17316782C8D9}"/>
              </a:ext>
            </a:extLst>
          </p:cNvPr>
          <p:cNvCxnSpPr>
            <a:cxnSpLocks/>
            <a:stCxn id="42" idx="0"/>
            <a:endCxn id="43" idx="1"/>
          </p:cNvCxnSpPr>
          <p:nvPr/>
        </p:nvCxnSpPr>
        <p:spPr>
          <a:xfrm flipV="1">
            <a:off x="9009524" y="1794225"/>
            <a:ext cx="1007055" cy="587019"/>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pic>
        <p:nvPicPr>
          <p:cNvPr id="45" name="图形 44" descr="用户">
            <a:extLst>
              <a:ext uri="{FF2B5EF4-FFF2-40B4-BE49-F238E27FC236}">
                <a16:creationId xmlns:a16="http://schemas.microsoft.com/office/drawing/2014/main" id="{D6DEB0B4-B096-F81B-27D2-CF3BED152E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423052" y="3381353"/>
            <a:ext cx="360000" cy="360000"/>
          </a:xfrm>
          <a:prstGeom prst="rect">
            <a:avLst/>
          </a:prstGeom>
        </p:spPr>
      </p:pic>
      <p:cxnSp>
        <p:nvCxnSpPr>
          <p:cNvPr id="46" name="直接连接符 45">
            <a:extLst>
              <a:ext uri="{FF2B5EF4-FFF2-40B4-BE49-F238E27FC236}">
                <a16:creationId xmlns:a16="http://schemas.microsoft.com/office/drawing/2014/main" id="{713F1272-D261-DC6C-F2F5-14316C033C18}"/>
              </a:ext>
            </a:extLst>
          </p:cNvPr>
          <p:cNvCxnSpPr>
            <a:cxnSpLocks/>
            <a:stCxn id="42" idx="2"/>
          </p:cNvCxnSpPr>
          <p:nvPr/>
        </p:nvCxnSpPr>
        <p:spPr>
          <a:xfrm>
            <a:off x="9009524" y="2741244"/>
            <a:ext cx="413528" cy="820109"/>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00A37A60-5A75-FB80-F8A1-56F747703031}"/>
              </a:ext>
            </a:extLst>
          </p:cNvPr>
          <p:cNvCxnSpPr>
            <a:cxnSpLocks/>
            <a:stCxn id="52" idx="2"/>
            <a:endCxn id="48" idx="3"/>
          </p:cNvCxnSpPr>
          <p:nvPr/>
        </p:nvCxnSpPr>
        <p:spPr>
          <a:xfrm flipH="1">
            <a:off x="10970106" y="2741244"/>
            <a:ext cx="413528" cy="820109"/>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pic>
        <p:nvPicPr>
          <p:cNvPr id="48" name="图形 47" descr="用户">
            <a:extLst>
              <a:ext uri="{FF2B5EF4-FFF2-40B4-BE49-F238E27FC236}">
                <a16:creationId xmlns:a16="http://schemas.microsoft.com/office/drawing/2014/main" id="{00ECA19B-331C-D12C-E6ED-242A26FB001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10106" y="3381353"/>
            <a:ext cx="360000" cy="360000"/>
          </a:xfrm>
          <a:prstGeom prst="rect">
            <a:avLst/>
          </a:prstGeom>
        </p:spPr>
      </p:pic>
      <p:cxnSp>
        <p:nvCxnSpPr>
          <p:cNvPr id="49" name="直接连接符 48">
            <a:extLst>
              <a:ext uri="{FF2B5EF4-FFF2-40B4-BE49-F238E27FC236}">
                <a16:creationId xmlns:a16="http://schemas.microsoft.com/office/drawing/2014/main" id="{7A17BE9A-9B94-EF3E-5AEE-6BB8AF2925FB}"/>
              </a:ext>
            </a:extLst>
          </p:cNvPr>
          <p:cNvCxnSpPr>
            <a:stCxn id="45" idx="3"/>
            <a:endCxn id="48" idx="1"/>
          </p:cNvCxnSpPr>
          <p:nvPr/>
        </p:nvCxnSpPr>
        <p:spPr>
          <a:xfrm>
            <a:off x="9783052" y="3561353"/>
            <a:ext cx="827054" cy="0"/>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4835EB07-3A1A-7211-8396-807CEEE8F477}"/>
              </a:ext>
            </a:extLst>
          </p:cNvPr>
          <p:cNvCxnSpPr>
            <a:cxnSpLocks/>
            <a:stCxn id="43" idx="3"/>
            <a:endCxn id="52" idx="0"/>
          </p:cNvCxnSpPr>
          <p:nvPr/>
        </p:nvCxnSpPr>
        <p:spPr>
          <a:xfrm>
            <a:off x="10376579" y="1794225"/>
            <a:ext cx="1007055" cy="587019"/>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98981220-FAA6-6467-8518-453A7CBEB42B}"/>
              </a:ext>
            </a:extLst>
          </p:cNvPr>
          <p:cNvCxnSpPr>
            <a:cxnSpLocks/>
            <a:stCxn id="45" idx="0"/>
            <a:endCxn id="43" idx="2"/>
          </p:cNvCxnSpPr>
          <p:nvPr/>
        </p:nvCxnSpPr>
        <p:spPr>
          <a:xfrm flipV="1">
            <a:off x="9603052" y="1974225"/>
            <a:ext cx="593527" cy="1407128"/>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pic>
        <p:nvPicPr>
          <p:cNvPr id="52" name="图形 51" descr="用户">
            <a:extLst>
              <a:ext uri="{FF2B5EF4-FFF2-40B4-BE49-F238E27FC236}">
                <a16:creationId xmlns:a16="http://schemas.microsoft.com/office/drawing/2014/main" id="{FD0A63BB-CFA5-5DEF-255B-FE02F2E4A84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03634" y="2381244"/>
            <a:ext cx="360000" cy="360000"/>
          </a:xfrm>
          <a:prstGeom prst="rect">
            <a:avLst/>
          </a:prstGeom>
        </p:spPr>
      </p:pic>
      <p:cxnSp>
        <p:nvCxnSpPr>
          <p:cNvPr id="77" name="直接连接符 76">
            <a:extLst>
              <a:ext uri="{FF2B5EF4-FFF2-40B4-BE49-F238E27FC236}">
                <a16:creationId xmlns:a16="http://schemas.microsoft.com/office/drawing/2014/main" id="{07A8FF6C-062D-44D2-1907-EA1FF6639DE2}"/>
              </a:ext>
            </a:extLst>
          </p:cNvPr>
          <p:cNvCxnSpPr>
            <a:stCxn id="43" idx="2"/>
            <a:endCxn id="48" idx="0"/>
          </p:cNvCxnSpPr>
          <p:nvPr/>
        </p:nvCxnSpPr>
        <p:spPr>
          <a:xfrm>
            <a:off x="10196579" y="1974225"/>
            <a:ext cx="593527" cy="1407128"/>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4D9D516E-0E5B-4D9C-7593-A93AF22E75BB}"/>
              </a:ext>
            </a:extLst>
          </p:cNvPr>
          <p:cNvCxnSpPr>
            <a:cxnSpLocks/>
            <a:endCxn id="52" idx="1"/>
          </p:cNvCxnSpPr>
          <p:nvPr/>
        </p:nvCxnSpPr>
        <p:spPr>
          <a:xfrm>
            <a:off x="9189524" y="2561244"/>
            <a:ext cx="2014110" cy="0"/>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E235BD44-A64E-0807-F8A3-F68C6E8B5FEA}"/>
              </a:ext>
            </a:extLst>
          </p:cNvPr>
          <p:cNvCxnSpPr>
            <a:endCxn id="48" idx="0"/>
          </p:cNvCxnSpPr>
          <p:nvPr/>
        </p:nvCxnSpPr>
        <p:spPr>
          <a:xfrm>
            <a:off x="9189524" y="2561244"/>
            <a:ext cx="1600582" cy="820109"/>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51CBD670-28B2-B127-754D-509CFAF812CD}"/>
              </a:ext>
            </a:extLst>
          </p:cNvPr>
          <p:cNvCxnSpPr>
            <a:cxnSpLocks/>
            <a:stCxn id="45" idx="0"/>
            <a:endCxn id="52" idx="1"/>
          </p:cNvCxnSpPr>
          <p:nvPr/>
        </p:nvCxnSpPr>
        <p:spPr>
          <a:xfrm flipV="1">
            <a:off x="9603052" y="2561244"/>
            <a:ext cx="1600582" cy="820109"/>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88" name="文本框 87">
            <a:extLst>
              <a:ext uri="{FF2B5EF4-FFF2-40B4-BE49-F238E27FC236}">
                <a16:creationId xmlns:a16="http://schemas.microsoft.com/office/drawing/2014/main" id="{57C183E2-8F77-85C9-D459-B418EE75480E}"/>
              </a:ext>
            </a:extLst>
          </p:cNvPr>
          <p:cNvSpPr txBox="1"/>
          <p:nvPr/>
        </p:nvSpPr>
        <p:spPr>
          <a:xfrm>
            <a:off x="696000" y="789413"/>
            <a:ext cx="2852063" cy="584775"/>
          </a:xfrm>
          <a:prstGeom prst="rect">
            <a:avLst/>
          </a:prstGeom>
          <a:noFill/>
        </p:spPr>
        <p:txBody>
          <a:bodyPr wrap="none" rtlCol="0">
            <a:spAutoFit/>
          </a:bodyPr>
          <a:lstStyle/>
          <a:p>
            <a:r>
              <a:rPr lang="en-US" altLang="zh-CN" sz="1600" dirty="0"/>
              <a:t>N(N-1)/2</a:t>
            </a:r>
          </a:p>
          <a:p>
            <a:r>
              <a:rPr lang="zh-CN" altLang="en-US" sz="1600" dirty="0"/>
              <a:t>尽量减少沟通渠道，提高效率</a:t>
            </a:r>
            <a:endParaRPr lang="en-US" altLang="zh-CN" sz="1600" dirty="0"/>
          </a:p>
        </p:txBody>
      </p:sp>
      <p:sp>
        <p:nvSpPr>
          <p:cNvPr id="103" name="任意多边形: 形状 102">
            <a:extLst>
              <a:ext uri="{FF2B5EF4-FFF2-40B4-BE49-F238E27FC236}">
                <a16:creationId xmlns:a16="http://schemas.microsoft.com/office/drawing/2014/main" id="{C2F6AD41-C01F-094A-BF6F-995E3D622D87}"/>
              </a:ext>
            </a:extLst>
          </p:cNvPr>
          <p:cNvSpPr>
            <a:spLocks noChangeAspect="1"/>
          </p:cNvSpPr>
          <p:nvPr/>
        </p:nvSpPr>
        <p:spPr>
          <a:xfrm rot="2778610">
            <a:off x="2613459" y="5041501"/>
            <a:ext cx="504000" cy="971127"/>
          </a:xfrm>
          <a:custGeom>
            <a:avLst/>
            <a:gdLst>
              <a:gd name="csX0" fmla="*/ 294986 w 682797"/>
              <a:gd name="csY0" fmla="*/ 0 h 1317957"/>
              <a:gd name="csX1" fmla="*/ 459412 w 682797"/>
              <a:gd name="csY1" fmla="*/ 113972 h 1317957"/>
              <a:gd name="csX2" fmla="*/ 459412 w 682797"/>
              <a:gd name="csY2" fmla="*/ 113972 h 1317957"/>
              <a:gd name="csX3" fmla="*/ 682797 w 682797"/>
              <a:gd name="csY3" fmla="*/ 268811 h 1317957"/>
              <a:gd name="csX4" fmla="*/ 550653 w 682797"/>
              <a:gd name="csY4" fmla="*/ 347530 h 1317957"/>
              <a:gd name="csX5" fmla="*/ 550653 w 682797"/>
              <a:gd name="csY5" fmla="*/ 347531 h 1317957"/>
              <a:gd name="csX6" fmla="*/ 550653 w 682797"/>
              <a:gd name="csY6" fmla="*/ 347530 h 1317957"/>
              <a:gd name="csX7" fmla="*/ 569755 w 682797"/>
              <a:gd name="csY7" fmla="*/ 437120 h 1317957"/>
              <a:gd name="csX8" fmla="*/ 579985 w 682797"/>
              <a:gd name="csY8" fmla="*/ 584864 h 1317957"/>
              <a:gd name="csX9" fmla="*/ 76458 w 682797"/>
              <a:gd name="csY9" fmla="*/ 1317957 h 1317957"/>
              <a:gd name="csX10" fmla="*/ 0 w 682797"/>
              <a:gd name="csY10" fmla="*/ 1306736 h 1317957"/>
              <a:gd name="csX11" fmla="*/ 25022 w 682797"/>
              <a:gd name="csY11" fmla="*/ 1303063 h 1317957"/>
              <a:gd name="csX12" fmla="*/ 427071 w 682797"/>
              <a:gd name="csY12" fmla="*/ 584865 h 1317957"/>
              <a:gd name="csX13" fmla="*/ 419207 w 682797"/>
              <a:gd name="csY13" fmla="*/ 455095 h 1317957"/>
              <a:gd name="csX14" fmla="*/ 414318 w 682797"/>
              <a:gd name="csY14" fmla="*/ 428744 h 1317957"/>
              <a:gd name="csX15" fmla="*/ 414318 w 682797"/>
              <a:gd name="csY15" fmla="*/ 428745 h 1317957"/>
              <a:gd name="csX16" fmla="*/ 414317 w 682797"/>
              <a:gd name="csY16" fmla="*/ 428744 h 1317957"/>
              <a:gd name="csX17" fmla="*/ 346698 w 682797"/>
              <a:gd name="csY17" fmla="*/ 469025 h 1317957"/>
              <a:gd name="csX18" fmla="*/ 307264 w 682797"/>
              <a:gd name="csY18" fmla="*/ 111355 h 1317957"/>
              <a:gd name="csX19" fmla="*/ 307263 w 682797"/>
              <a:gd name="csY19" fmla="*/ 111354 h 13179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682797" h="1317957">
                <a:moveTo>
                  <a:pt x="294986" y="0"/>
                </a:moveTo>
                <a:lnTo>
                  <a:pt x="459412" y="113972"/>
                </a:lnTo>
                <a:lnTo>
                  <a:pt x="459412" y="113972"/>
                </a:lnTo>
                <a:lnTo>
                  <a:pt x="682797" y="268811"/>
                </a:lnTo>
                <a:lnTo>
                  <a:pt x="550653" y="347530"/>
                </a:lnTo>
                <a:lnTo>
                  <a:pt x="550653" y="347531"/>
                </a:lnTo>
                <a:lnTo>
                  <a:pt x="550653" y="347530"/>
                </a:lnTo>
                <a:lnTo>
                  <a:pt x="569755" y="437120"/>
                </a:lnTo>
                <a:cubicBezTo>
                  <a:pt x="576462" y="484843"/>
                  <a:pt x="579985" y="534255"/>
                  <a:pt x="579985" y="584864"/>
                </a:cubicBezTo>
                <a:cubicBezTo>
                  <a:pt x="579986" y="989740"/>
                  <a:pt x="354548" y="1317957"/>
                  <a:pt x="76458" y="1317957"/>
                </a:cubicBezTo>
                <a:lnTo>
                  <a:pt x="0" y="1306736"/>
                </a:lnTo>
                <a:lnTo>
                  <a:pt x="25022" y="1303063"/>
                </a:lnTo>
                <a:cubicBezTo>
                  <a:pt x="254471" y="1234705"/>
                  <a:pt x="427071" y="939132"/>
                  <a:pt x="427071" y="584865"/>
                </a:cubicBezTo>
                <a:cubicBezTo>
                  <a:pt x="427071" y="540581"/>
                  <a:pt x="424374" y="497215"/>
                  <a:pt x="419207" y="455095"/>
                </a:cubicBezTo>
                <a:lnTo>
                  <a:pt x="414318" y="428744"/>
                </a:lnTo>
                <a:lnTo>
                  <a:pt x="414318" y="428745"/>
                </a:lnTo>
                <a:lnTo>
                  <a:pt x="414317" y="428744"/>
                </a:lnTo>
                <a:lnTo>
                  <a:pt x="346698" y="469025"/>
                </a:lnTo>
                <a:lnTo>
                  <a:pt x="307264" y="111355"/>
                </a:lnTo>
                <a:lnTo>
                  <a:pt x="307263" y="111354"/>
                </a:lnTo>
                <a:close/>
              </a:path>
            </a:pathLst>
          </a:cu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dirty="0">
              <a:solidFill>
                <a:schemeClr val="tx1"/>
              </a:solidFill>
            </a:endParaRPr>
          </a:p>
        </p:txBody>
      </p:sp>
      <p:sp>
        <p:nvSpPr>
          <p:cNvPr id="104" name="任意多边形: 形状 103">
            <a:extLst>
              <a:ext uri="{FF2B5EF4-FFF2-40B4-BE49-F238E27FC236}">
                <a16:creationId xmlns:a16="http://schemas.microsoft.com/office/drawing/2014/main" id="{E9193BED-CCB3-9425-384C-EC0C6789E05E}"/>
              </a:ext>
            </a:extLst>
          </p:cNvPr>
          <p:cNvSpPr>
            <a:spLocks noChangeAspect="1"/>
          </p:cNvSpPr>
          <p:nvPr/>
        </p:nvSpPr>
        <p:spPr>
          <a:xfrm rot="2778610">
            <a:off x="5119271" y="3916426"/>
            <a:ext cx="504000" cy="971127"/>
          </a:xfrm>
          <a:custGeom>
            <a:avLst/>
            <a:gdLst>
              <a:gd name="csX0" fmla="*/ 294986 w 682797"/>
              <a:gd name="csY0" fmla="*/ 0 h 1317957"/>
              <a:gd name="csX1" fmla="*/ 459412 w 682797"/>
              <a:gd name="csY1" fmla="*/ 113972 h 1317957"/>
              <a:gd name="csX2" fmla="*/ 459412 w 682797"/>
              <a:gd name="csY2" fmla="*/ 113972 h 1317957"/>
              <a:gd name="csX3" fmla="*/ 682797 w 682797"/>
              <a:gd name="csY3" fmla="*/ 268811 h 1317957"/>
              <a:gd name="csX4" fmla="*/ 550653 w 682797"/>
              <a:gd name="csY4" fmla="*/ 347530 h 1317957"/>
              <a:gd name="csX5" fmla="*/ 550653 w 682797"/>
              <a:gd name="csY5" fmla="*/ 347531 h 1317957"/>
              <a:gd name="csX6" fmla="*/ 550653 w 682797"/>
              <a:gd name="csY6" fmla="*/ 347530 h 1317957"/>
              <a:gd name="csX7" fmla="*/ 569755 w 682797"/>
              <a:gd name="csY7" fmla="*/ 437120 h 1317957"/>
              <a:gd name="csX8" fmla="*/ 579985 w 682797"/>
              <a:gd name="csY8" fmla="*/ 584864 h 1317957"/>
              <a:gd name="csX9" fmla="*/ 76458 w 682797"/>
              <a:gd name="csY9" fmla="*/ 1317957 h 1317957"/>
              <a:gd name="csX10" fmla="*/ 0 w 682797"/>
              <a:gd name="csY10" fmla="*/ 1306736 h 1317957"/>
              <a:gd name="csX11" fmla="*/ 25022 w 682797"/>
              <a:gd name="csY11" fmla="*/ 1303063 h 1317957"/>
              <a:gd name="csX12" fmla="*/ 427071 w 682797"/>
              <a:gd name="csY12" fmla="*/ 584865 h 1317957"/>
              <a:gd name="csX13" fmla="*/ 419207 w 682797"/>
              <a:gd name="csY13" fmla="*/ 455095 h 1317957"/>
              <a:gd name="csX14" fmla="*/ 414318 w 682797"/>
              <a:gd name="csY14" fmla="*/ 428744 h 1317957"/>
              <a:gd name="csX15" fmla="*/ 414318 w 682797"/>
              <a:gd name="csY15" fmla="*/ 428745 h 1317957"/>
              <a:gd name="csX16" fmla="*/ 414317 w 682797"/>
              <a:gd name="csY16" fmla="*/ 428744 h 1317957"/>
              <a:gd name="csX17" fmla="*/ 346698 w 682797"/>
              <a:gd name="csY17" fmla="*/ 469025 h 1317957"/>
              <a:gd name="csX18" fmla="*/ 307264 w 682797"/>
              <a:gd name="csY18" fmla="*/ 111355 h 1317957"/>
              <a:gd name="csX19" fmla="*/ 307263 w 682797"/>
              <a:gd name="csY19" fmla="*/ 111354 h 13179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682797" h="1317957">
                <a:moveTo>
                  <a:pt x="294986" y="0"/>
                </a:moveTo>
                <a:lnTo>
                  <a:pt x="459412" y="113972"/>
                </a:lnTo>
                <a:lnTo>
                  <a:pt x="459412" y="113972"/>
                </a:lnTo>
                <a:lnTo>
                  <a:pt x="682797" y="268811"/>
                </a:lnTo>
                <a:lnTo>
                  <a:pt x="550653" y="347530"/>
                </a:lnTo>
                <a:lnTo>
                  <a:pt x="550653" y="347531"/>
                </a:lnTo>
                <a:lnTo>
                  <a:pt x="550653" y="347530"/>
                </a:lnTo>
                <a:lnTo>
                  <a:pt x="569755" y="437120"/>
                </a:lnTo>
                <a:cubicBezTo>
                  <a:pt x="576462" y="484843"/>
                  <a:pt x="579985" y="534255"/>
                  <a:pt x="579985" y="584864"/>
                </a:cubicBezTo>
                <a:cubicBezTo>
                  <a:pt x="579986" y="989740"/>
                  <a:pt x="354548" y="1317957"/>
                  <a:pt x="76458" y="1317957"/>
                </a:cubicBezTo>
                <a:lnTo>
                  <a:pt x="0" y="1306736"/>
                </a:lnTo>
                <a:lnTo>
                  <a:pt x="25022" y="1303063"/>
                </a:lnTo>
                <a:cubicBezTo>
                  <a:pt x="254471" y="1234705"/>
                  <a:pt x="427071" y="939132"/>
                  <a:pt x="427071" y="584865"/>
                </a:cubicBezTo>
                <a:cubicBezTo>
                  <a:pt x="427071" y="540581"/>
                  <a:pt x="424374" y="497215"/>
                  <a:pt x="419207" y="455095"/>
                </a:cubicBezTo>
                <a:lnTo>
                  <a:pt x="414318" y="428744"/>
                </a:lnTo>
                <a:lnTo>
                  <a:pt x="414318" y="428745"/>
                </a:lnTo>
                <a:lnTo>
                  <a:pt x="414317" y="428744"/>
                </a:lnTo>
                <a:lnTo>
                  <a:pt x="346698" y="469025"/>
                </a:lnTo>
                <a:lnTo>
                  <a:pt x="307264" y="111355"/>
                </a:lnTo>
                <a:lnTo>
                  <a:pt x="307263" y="111354"/>
                </a:lnTo>
                <a:close/>
              </a:path>
            </a:pathLst>
          </a:custGeom>
          <a:solidFill>
            <a:srgbClr val="FF000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dirty="0">
              <a:solidFill>
                <a:schemeClr val="tx1"/>
              </a:solidFill>
            </a:endParaRPr>
          </a:p>
        </p:txBody>
      </p:sp>
      <p:sp>
        <p:nvSpPr>
          <p:cNvPr id="105" name="任意多边形: 形状 104">
            <a:extLst>
              <a:ext uri="{FF2B5EF4-FFF2-40B4-BE49-F238E27FC236}">
                <a16:creationId xmlns:a16="http://schemas.microsoft.com/office/drawing/2014/main" id="{7D82559A-919C-0E19-0CA6-B69297DB8D04}"/>
              </a:ext>
            </a:extLst>
          </p:cNvPr>
          <p:cNvSpPr>
            <a:spLocks noChangeAspect="1"/>
          </p:cNvSpPr>
          <p:nvPr/>
        </p:nvSpPr>
        <p:spPr>
          <a:xfrm rot="2778610">
            <a:off x="8076603" y="2802836"/>
            <a:ext cx="504000" cy="971127"/>
          </a:xfrm>
          <a:custGeom>
            <a:avLst/>
            <a:gdLst>
              <a:gd name="csX0" fmla="*/ 294986 w 682797"/>
              <a:gd name="csY0" fmla="*/ 0 h 1317957"/>
              <a:gd name="csX1" fmla="*/ 459412 w 682797"/>
              <a:gd name="csY1" fmla="*/ 113972 h 1317957"/>
              <a:gd name="csX2" fmla="*/ 459412 w 682797"/>
              <a:gd name="csY2" fmla="*/ 113972 h 1317957"/>
              <a:gd name="csX3" fmla="*/ 682797 w 682797"/>
              <a:gd name="csY3" fmla="*/ 268811 h 1317957"/>
              <a:gd name="csX4" fmla="*/ 550653 w 682797"/>
              <a:gd name="csY4" fmla="*/ 347530 h 1317957"/>
              <a:gd name="csX5" fmla="*/ 550653 w 682797"/>
              <a:gd name="csY5" fmla="*/ 347531 h 1317957"/>
              <a:gd name="csX6" fmla="*/ 550653 w 682797"/>
              <a:gd name="csY6" fmla="*/ 347530 h 1317957"/>
              <a:gd name="csX7" fmla="*/ 569755 w 682797"/>
              <a:gd name="csY7" fmla="*/ 437120 h 1317957"/>
              <a:gd name="csX8" fmla="*/ 579985 w 682797"/>
              <a:gd name="csY8" fmla="*/ 584864 h 1317957"/>
              <a:gd name="csX9" fmla="*/ 76458 w 682797"/>
              <a:gd name="csY9" fmla="*/ 1317957 h 1317957"/>
              <a:gd name="csX10" fmla="*/ 0 w 682797"/>
              <a:gd name="csY10" fmla="*/ 1306736 h 1317957"/>
              <a:gd name="csX11" fmla="*/ 25022 w 682797"/>
              <a:gd name="csY11" fmla="*/ 1303063 h 1317957"/>
              <a:gd name="csX12" fmla="*/ 427071 w 682797"/>
              <a:gd name="csY12" fmla="*/ 584865 h 1317957"/>
              <a:gd name="csX13" fmla="*/ 419207 w 682797"/>
              <a:gd name="csY13" fmla="*/ 455095 h 1317957"/>
              <a:gd name="csX14" fmla="*/ 414318 w 682797"/>
              <a:gd name="csY14" fmla="*/ 428744 h 1317957"/>
              <a:gd name="csX15" fmla="*/ 414318 w 682797"/>
              <a:gd name="csY15" fmla="*/ 428745 h 1317957"/>
              <a:gd name="csX16" fmla="*/ 414317 w 682797"/>
              <a:gd name="csY16" fmla="*/ 428744 h 1317957"/>
              <a:gd name="csX17" fmla="*/ 346698 w 682797"/>
              <a:gd name="csY17" fmla="*/ 469025 h 1317957"/>
              <a:gd name="csX18" fmla="*/ 307264 w 682797"/>
              <a:gd name="csY18" fmla="*/ 111355 h 1317957"/>
              <a:gd name="csX19" fmla="*/ 307263 w 682797"/>
              <a:gd name="csY19" fmla="*/ 111354 h 13179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682797" h="1317957">
                <a:moveTo>
                  <a:pt x="294986" y="0"/>
                </a:moveTo>
                <a:lnTo>
                  <a:pt x="459412" y="113972"/>
                </a:lnTo>
                <a:lnTo>
                  <a:pt x="459412" y="113972"/>
                </a:lnTo>
                <a:lnTo>
                  <a:pt x="682797" y="268811"/>
                </a:lnTo>
                <a:lnTo>
                  <a:pt x="550653" y="347530"/>
                </a:lnTo>
                <a:lnTo>
                  <a:pt x="550653" y="347531"/>
                </a:lnTo>
                <a:lnTo>
                  <a:pt x="550653" y="347530"/>
                </a:lnTo>
                <a:lnTo>
                  <a:pt x="569755" y="437120"/>
                </a:lnTo>
                <a:cubicBezTo>
                  <a:pt x="576462" y="484843"/>
                  <a:pt x="579985" y="534255"/>
                  <a:pt x="579985" y="584864"/>
                </a:cubicBezTo>
                <a:cubicBezTo>
                  <a:pt x="579986" y="989740"/>
                  <a:pt x="354548" y="1317957"/>
                  <a:pt x="76458" y="1317957"/>
                </a:cubicBezTo>
                <a:lnTo>
                  <a:pt x="0" y="1306736"/>
                </a:lnTo>
                <a:lnTo>
                  <a:pt x="25022" y="1303063"/>
                </a:lnTo>
                <a:cubicBezTo>
                  <a:pt x="254471" y="1234705"/>
                  <a:pt x="427071" y="939132"/>
                  <a:pt x="427071" y="584865"/>
                </a:cubicBezTo>
                <a:cubicBezTo>
                  <a:pt x="427071" y="540581"/>
                  <a:pt x="424374" y="497215"/>
                  <a:pt x="419207" y="455095"/>
                </a:cubicBezTo>
                <a:lnTo>
                  <a:pt x="414318" y="428744"/>
                </a:lnTo>
                <a:lnTo>
                  <a:pt x="414318" y="428745"/>
                </a:lnTo>
                <a:lnTo>
                  <a:pt x="414317" y="428744"/>
                </a:lnTo>
                <a:lnTo>
                  <a:pt x="346698" y="469025"/>
                </a:lnTo>
                <a:lnTo>
                  <a:pt x="307264" y="111355"/>
                </a:lnTo>
                <a:lnTo>
                  <a:pt x="307263" y="111354"/>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dirty="0">
              <a:solidFill>
                <a:schemeClr val="tx1"/>
              </a:solidFill>
            </a:endParaRPr>
          </a:p>
        </p:txBody>
      </p:sp>
    </p:spTree>
    <p:extLst>
      <p:ext uri="{BB962C8B-B14F-4D97-AF65-F5344CB8AC3E}">
        <p14:creationId xmlns:p14="http://schemas.microsoft.com/office/powerpoint/2010/main" val="3442836496"/>
      </p:ext>
    </p:extLst>
  </p:cSld>
  <p:clrMapOvr>
    <a:masterClrMapping/>
  </p:clrMapOvr>
</p:sld>
</file>

<file path=ppt/slides/slide4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14F58F-68EB-A56E-5D48-8F51AA82498B}"/>
              </a:ext>
            </a:extLst>
          </p:cNvPr>
          <p:cNvSpPr>
            <a:spLocks noGrp="1"/>
          </p:cNvSpPr>
          <p:nvPr>
            <p:ph type="title"/>
          </p:nvPr>
        </p:nvSpPr>
        <p:spPr>
          <a:xfrm>
            <a:off x="696000" y="360000"/>
            <a:ext cx="5400000" cy="429413"/>
          </a:xfrm>
        </p:spPr>
        <p:txBody>
          <a:bodyPr/>
          <a:lstStyle/>
          <a:p>
            <a:r>
              <a:rPr lang="en-US" altLang="zh-CN" dirty="0"/>
              <a:t>10.4.4 </a:t>
            </a:r>
            <a:r>
              <a:rPr lang="zh-CN" altLang="en-US" dirty="0"/>
              <a:t>沟通计划</a:t>
            </a:r>
          </a:p>
        </p:txBody>
      </p:sp>
      <p:sp>
        <p:nvSpPr>
          <p:cNvPr id="3" name="文本框 2">
            <a:extLst>
              <a:ext uri="{FF2B5EF4-FFF2-40B4-BE49-F238E27FC236}">
                <a16:creationId xmlns:a16="http://schemas.microsoft.com/office/drawing/2014/main" id="{5E942F66-3688-ED68-92BF-396DB133F422}"/>
              </a:ext>
            </a:extLst>
          </p:cNvPr>
          <p:cNvSpPr txBox="1"/>
          <p:nvPr/>
        </p:nvSpPr>
        <p:spPr>
          <a:xfrm>
            <a:off x="4703258" y="1454432"/>
            <a:ext cx="1005403" cy="338554"/>
          </a:xfrm>
          <a:prstGeom prst="rect">
            <a:avLst/>
          </a:prstGeom>
          <a:noFill/>
        </p:spPr>
        <p:txBody>
          <a:bodyPr wrap="none" rtlCol="0">
            <a:spAutoFit/>
          </a:bodyPr>
          <a:lstStyle/>
          <a:p>
            <a:pPr algn="r"/>
            <a:r>
              <a:rPr lang="zh-CN" altLang="en-US" sz="1600" dirty="0"/>
              <a:t>谁需要？</a:t>
            </a:r>
            <a:endParaRPr lang="en-US" altLang="zh-CN" sz="1600" dirty="0"/>
          </a:p>
        </p:txBody>
      </p:sp>
      <p:sp>
        <p:nvSpPr>
          <p:cNvPr id="4" name="文本框 3">
            <a:extLst>
              <a:ext uri="{FF2B5EF4-FFF2-40B4-BE49-F238E27FC236}">
                <a16:creationId xmlns:a16="http://schemas.microsoft.com/office/drawing/2014/main" id="{3F5125CC-FDA6-18C0-181D-7832703E7FFB}"/>
              </a:ext>
            </a:extLst>
          </p:cNvPr>
          <p:cNvSpPr txBox="1"/>
          <p:nvPr/>
        </p:nvSpPr>
        <p:spPr>
          <a:xfrm>
            <a:off x="7010778" y="1454432"/>
            <a:ext cx="679994" cy="338554"/>
          </a:xfrm>
          <a:prstGeom prst="rect">
            <a:avLst/>
          </a:prstGeom>
          <a:noFill/>
        </p:spPr>
        <p:txBody>
          <a:bodyPr wrap="none" rtlCol="0">
            <a:spAutoFit/>
          </a:bodyPr>
          <a:lstStyle/>
          <a:p>
            <a:pPr algn="l"/>
            <a:r>
              <a:rPr lang="en-US" altLang="zh-CN" sz="1600" dirty="0"/>
              <a:t>Who</a:t>
            </a:r>
          </a:p>
        </p:txBody>
      </p:sp>
      <p:cxnSp>
        <p:nvCxnSpPr>
          <p:cNvPr id="6" name="直接箭头连接符 5">
            <a:extLst>
              <a:ext uri="{FF2B5EF4-FFF2-40B4-BE49-F238E27FC236}">
                <a16:creationId xmlns:a16="http://schemas.microsoft.com/office/drawing/2014/main" id="{BEF94C30-615F-0F39-26E2-76D7E6E6B48F}"/>
              </a:ext>
            </a:extLst>
          </p:cNvPr>
          <p:cNvCxnSpPr>
            <a:cxnSpLocks/>
          </p:cNvCxnSpPr>
          <p:nvPr/>
        </p:nvCxnSpPr>
        <p:spPr>
          <a:xfrm>
            <a:off x="5782348" y="1623709"/>
            <a:ext cx="105294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C4517C9D-8BDE-2273-D038-6281B0E721B4}"/>
              </a:ext>
            </a:extLst>
          </p:cNvPr>
          <p:cNvCxnSpPr>
            <a:cxnSpLocks/>
          </p:cNvCxnSpPr>
          <p:nvPr/>
        </p:nvCxnSpPr>
        <p:spPr>
          <a:xfrm>
            <a:off x="5782348" y="1956325"/>
            <a:ext cx="105294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074E1363-6CDC-F49B-8EA4-A9867DBF80AB}"/>
              </a:ext>
            </a:extLst>
          </p:cNvPr>
          <p:cNvCxnSpPr>
            <a:cxnSpLocks/>
          </p:cNvCxnSpPr>
          <p:nvPr/>
        </p:nvCxnSpPr>
        <p:spPr>
          <a:xfrm>
            <a:off x="5782348" y="2288941"/>
            <a:ext cx="105294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139C92BB-2196-1500-7B69-99F92CAA7378}"/>
              </a:ext>
            </a:extLst>
          </p:cNvPr>
          <p:cNvCxnSpPr>
            <a:cxnSpLocks/>
          </p:cNvCxnSpPr>
          <p:nvPr/>
        </p:nvCxnSpPr>
        <p:spPr>
          <a:xfrm>
            <a:off x="5782348" y="2621557"/>
            <a:ext cx="105294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8AB3457A-73CF-FE53-0A5A-DBE23346A37C}"/>
              </a:ext>
            </a:extLst>
          </p:cNvPr>
          <p:cNvSpPr txBox="1"/>
          <p:nvPr/>
        </p:nvSpPr>
        <p:spPr>
          <a:xfrm>
            <a:off x="7010778" y="1787048"/>
            <a:ext cx="811441" cy="338554"/>
          </a:xfrm>
          <a:prstGeom prst="rect">
            <a:avLst/>
          </a:prstGeom>
          <a:noFill/>
        </p:spPr>
        <p:txBody>
          <a:bodyPr wrap="none" rtlCol="0">
            <a:spAutoFit/>
          </a:bodyPr>
          <a:lstStyle/>
          <a:p>
            <a:r>
              <a:rPr lang="en-US" altLang="zh-CN" sz="1600" dirty="0"/>
              <a:t>What </a:t>
            </a:r>
          </a:p>
        </p:txBody>
      </p:sp>
      <p:sp>
        <p:nvSpPr>
          <p:cNvPr id="11" name="文本框 10">
            <a:extLst>
              <a:ext uri="{FF2B5EF4-FFF2-40B4-BE49-F238E27FC236}">
                <a16:creationId xmlns:a16="http://schemas.microsoft.com/office/drawing/2014/main" id="{3A1CDEC2-6DEA-C3D7-7C4B-DDD05FA1DA68}"/>
              </a:ext>
            </a:extLst>
          </p:cNvPr>
          <p:cNvSpPr txBox="1"/>
          <p:nvPr/>
        </p:nvSpPr>
        <p:spPr>
          <a:xfrm>
            <a:off x="7010778" y="2119664"/>
            <a:ext cx="814647" cy="338554"/>
          </a:xfrm>
          <a:prstGeom prst="rect">
            <a:avLst/>
          </a:prstGeom>
          <a:noFill/>
        </p:spPr>
        <p:txBody>
          <a:bodyPr wrap="none" rtlCol="0">
            <a:spAutoFit/>
          </a:bodyPr>
          <a:lstStyle/>
          <a:p>
            <a:r>
              <a:rPr lang="en-US" altLang="zh-CN" sz="1600" dirty="0"/>
              <a:t>When</a:t>
            </a:r>
            <a:endParaRPr lang="zh-CN" altLang="en-US" sz="1600" dirty="0"/>
          </a:p>
        </p:txBody>
      </p:sp>
      <p:sp>
        <p:nvSpPr>
          <p:cNvPr id="12" name="文本框 11">
            <a:extLst>
              <a:ext uri="{FF2B5EF4-FFF2-40B4-BE49-F238E27FC236}">
                <a16:creationId xmlns:a16="http://schemas.microsoft.com/office/drawing/2014/main" id="{824C20C9-CCBB-AE7C-0531-9244E1C6C535}"/>
              </a:ext>
            </a:extLst>
          </p:cNvPr>
          <p:cNvSpPr txBox="1"/>
          <p:nvPr/>
        </p:nvSpPr>
        <p:spPr>
          <a:xfrm>
            <a:off x="7010778" y="2452280"/>
            <a:ext cx="660758" cy="338554"/>
          </a:xfrm>
          <a:prstGeom prst="rect">
            <a:avLst/>
          </a:prstGeom>
          <a:noFill/>
        </p:spPr>
        <p:txBody>
          <a:bodyPr wrap="none" rtlCol="0">
            <a:spAutoFit/>
          </a:bodyPr>
          <a:lstStyle/>
          <a:p>
            <a:r>
              <a:rPr lang="en-US" altLang="zh-CN" sz="1600" dirty="0"/>
              <a:t>How</a:t>
            </a:r>
            <a:endParaRPr lang="zh-CN" altLang="en-US" sz="1600" dirty="0"/>
          </a:p>
        </p:txBody>
      </p:sp>
      <p:sp>
        <p:nvSpPr>
          <p:cNvPr id="13" name="文本框 12">
            <a:extLst>
              <a:ext uri="{FF2B5EF4-FFF2-40B4-BE49-F238E27FC236}">
                <a16:creationId xmlns:a16="http://schemas.microsoft.com/office/drawing/2014/main" id="{8B80F43A-FEF2-2201-9578-14A83BB17565}"/>
              </a:ext>
            </a:extLst>
          </p:cNvPr>
          <p:cNvSpPr txBox="1"/>
          <p:nvPr/>
        </p:nvSpPr>
        <p:spPr>
          <a:xfrm>
            <a:off x="4571760" y="1787048"/>
            <a:ext cx="1210588" cy="338554"/>
          </a:xfrm>
          <a:prstGeom prst="rect">
            <a:avLst/>
          </a:prstGeom>
          <a:noFill/>
        </p:spPr>
        <p:txBody>
          <a:bodyPr wrap="none" rtlCol="0">
            <a:spAutoFit/>
          </a:bodyPr>
          <a:lstStyle/>
          <a:p>
            <a:pPr algn="r"/>
            <a:r>
              <a:rPr lang="zh-CN" altLang="en-US" sz="1600" dirty="0"/>
              <a:t>需要什么？</a:t>
            </a:r>
            <a:endParaRPr lang="en-US" altLang="zh-CN" sz="1600" dirty="0"/>
          </a:p>
        </p:txBody>
      </p:sp>
      <p:sp>
        <p:nvSpPr>
          <p:cNvPr id="14" name="文本框 13">
            <a:extLst>
              <a:ext uri="{FF2B5EF4-FFF2-40B4-BE49-F238E27FC236}">
                <a16:creationId xmlns:a16="http://schemas.microsoft.com/office/drawing/2014/main" id="{3501458E-5104-FC75-E57B-E581AF6518AC}"/>
              </a:ext>
            </a:extLst>
          </p:cNvPr>
          <p:cNvSpPr txBox="1"/>
          <p:nvPr/>
        </p:nvSpPr>
        <p:spPr>
          <a:xfrm>
            <a:off x="4366576" y="2119664"/>
            <a:ext cx="1415772" cy="338554"/>
          </a:xfrm>
          <a:prstGeom prst="rect">
            <a:avLst/>
          </a:prstGeom>
          <a:noFill/>
        </p:spPr>
        <p:txBody>
          <a:bodyPr wrap="none" rtlCol="0">
            <a:spAutoFit/>
          </a:bodyPr>
          <a:lstStyle/>
          <a:p>
            <a:pPr algn="r"/>
            <a:r>
              <a:rPr lang="zh-CN" altLang="en-US" sz="1600" dirty="0"/>
              <a:t>什么时候要？</a:t>
            </a:r>
            <a:endParaRPr lang="en-US" altLang="zh-CN" sz="1600" dirty="0"/>
          </a:p>
        </p:txBody>
      </p:sp>
      <p:sp>
        <p:nvSpPr>
          <p:cNvPr id="15" name="文本框 14">
            <a:extLst>
              <a:ext uri="{FF2B5EF4-FFF2-40B4-BE49-F238E27FC236}">
                <a16:creationId xmlns:a16="http://schemas.microsoft.com/office/drawing/2014/main" id="{5359A9CC-C105-CEB8-EC14-D9A638E0CFD3}"/>
              </a:ext>
            </a:extLst>
          </p:cNvPr>
          <p:cNvSpPr txBox="1"/>
          <p:nvPr/>
        </p:nvSpPr>
        <p:spPr>
          <a:xfrm>
            <a:off x="4571760" y="2452280"/>
            <a:ext cx="1210588" cy="338554"/>
          </a:xfrm>
          <a:prstGeom prst="rect">
            <a:avLst/>
          </a:prstGeom>
          <a:noFill/>
        </p:spPr>
        <p:txBody>
          <a:bodyPr wrap="none" rtlCol="0">
            <a:spAutoFit/>
          </a:bodyPr>
          <a:lstStyle/>
          <a:p>
            <a:r>
              <a:rPr lang="zh-CN" altLang="en-US" sz="1600" dirty="0"/>
              <a:t>如何获取？</a:t>
            </a:r>
          </a:p>
        </p:txBody>
      </p:sp>
    </p:spTree>
    <p:extLst>
      <p:ext uri="{BB962C8B-B14F-4D97-AF65-F5344CB8AC3E}">
        <p14:creationId xmlns:p14="http://schemas.microsoft.com/office/powerpoint/2010/main" val="4058063486"/>
      </p:ext>
    </p:extLst>
  </p:cSld>
  <p:clrMapOvr>
    <a:masterClrMapping/>
  </p:clrMapOvr>
</p:sld>
</file>

<file path=ppt/slides/slide4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DB08D0-C6F6-B7E6-D499-17515766B649}"/>
              </a:ext>
            </a:extLst>
          </p:cNvPr>
          <p:cNvSpPr>
            <a:spLocks noGrp="1"/>
          </p:cNvSpPr>
          <p:nvPr>
            <p:ph type="title"/>
          </p:nvPr>
        </p:nvSpPr>
        <p:spPr>
          <a:xfrm>
            <a:off x="792000" y="360000"/>
            <a:ext cx="6375921" cy="429413"/>
          </a:xfrm>
        </p:spPr>
        <p:txBody>
          <a:bodyPr/>
          <a:lstStyle/>
          <a:p>
            <a:r>
              <a:rPr lang="en-US" altLang="zh-CN" dirty="0"/>
              <a:t>10.5 </a:t>
            </a:r>
            <a:r>
              <a:rPr lang="zh-CN" altLang="en-US" dirty="0"/>
              <a:t>敏捷团队计划</a:t>
            </a:r>
          </a:p>
        </p:txBody>
      </p:sp>
      <p:sp>
        <p:nvSpPr>
          <p:cNvPr id="3" name="内容占位符 2">
            <a:extLst>
              <a:ext uri="{FF2B5EF4-FFF2-40B4-BE49-F238E27FC236}">
                <a16:creationId xmlns:a16="http://schemas.microsoft.com/office/drawing/2014/main" id="{923F917E-AC87-C199-D80D-CADA93D52178}"/>
              </a:ext>
            </a:extLst>
          </p:cNvPr>
          <p:cNvSpPr>
            <a:spLocks noGrp="1"/>
          </p:cNvSpPr>
          <p:nvPr>
            <p:ph idx="1"/>
          </p:nvPr>
        </p:nvSpPr>
        <p:spPr>
          <a:xfrm>
            <a:off x="696000" y="864000"/>
            <a:ext cx="10800000" cy="5400000"/>
          </a:xfrm>
        </p:spPr>
        <p:txBody>
          <a:bodyPr/>
          <a:lstStyle/>
          <a:p>
            <a:pPr lvl="1"/>
            <a:endParaRPr lang="en-US" altLang="zh-CN" dirty="0"/>
          </a:p>
          <a:p>
            <a:endParaRPr lang="zh-CN" altLang="en-US" dirty="0"/>
          </a:p>
        </p:txBody>
      </p:sp>
      <p:sp>
        <p:nvSpPr>
          <p:cNvPr id="6" name="文本占位符 5">
            <a:extLst>
              <a:ext uri="{FF2B5EF4-FFF2-40B4-BE49-F238E27FC236}">
                <a16:creationId xmlns:a16="http://schemas.microsoft.com/office/drawing/2014/main" id="{505CD354-2D87-C49D-0AFA-7B083FFE9CA7}"/>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2418928531"/>
      </p:ext>
    </p:extLst>
  </p:cSld>
  <p:clrMapOvr>
    <a:masterClrMapping/>
  </p:clrMapOvr>
</p:sld>
</file>

<file path=ppt/slides/slide4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DB08D0-C6F6-B7E6-D499-17515766B649}"/>
              </a:ext>
            </a:extLst>
          </p:cNvPr>
          <p:cNvSpPr>
            <a:spLocks noGrp="1"/>
          </p:cNvSpPr>
          <p:nvPr>
            <p:ph type="title"/>
          </p:nvPr>
        </p:nvSpPr>
        <p:spPr>
          <a:xfrm>
            <a:off x="792000" y="360000"/>
            <a:ext cx="6375921" cy="429413"/>
          </a:xfrm>
        </p:spPr>
        <p:txBody>
          <a:bodyPr/>
          <a:lstStyle/>
          <a:p>
            <a:r>
              <a:rPr lang="en-US" altLang="zh-CN" dirty="0"/>
              <a:t>10.5.1 </a:t>
            </a:r>
            <a:r>
              <a:rPr lang="zh-CN" altLang="en-US" dirty="0"/>
              <a:t>小而美</a:t>
            </a:r>
          </a:p>
        </p:txBody>
      </p:sp>
      <p:sp>
        <p:nvSpPr>
          <p:cNvPr id="3" name="内容占位符 2">
            <a:extLst>
              <a:ext uri="{FF2B5EF4-FFF2-40B4-BE49-F238E27FC236}">
                <a16:creationId xmlns:a16="http://schemas.microsoft.com/office/drawing/2014/main" id="{923F917E-AC87-C199-D80D-CADA93D52178}"/>
              </a:ext>
            </a:extLst>
          </p:cNvPr>
          <p:cNvSpPr>
            <a:spLocks noGrp="1"/>
          </p:cNvSpPr>
          <p:nvPr>
            <p:ph idx="1"/>
          </p:nvPr>
        </p:nvSpPr>
        <p:spPr>
          <a:xfrm>
            <a:off x="696000" y="864000"/>
            <a:ext cx="10800000" cy="5400000"/>
          </a:xfrm>
        </p:spPr>
        <p:txBody>
          <a:bodyPr/>
          <a:lstStyle/>
          <a:p>
            <a:r>
              <a:rPr lang="en-US" altLang="zh-CN" dirty="0"/>
              <a:t>7-9/</a:t>
            </a:r>
            <a:r>
              <a:rPr lang="zh-CN" altLang="en-US" dirty="0"/>
              <a:t>建制班</a:t>
            </a:r>
            <a:endParaRPr lang="en-US" altLang="zh-CN" dirty="0"/>
          </a:p>
          <a:p>
            <a:r>
              <a:rPr lang="zh-CN" altLang="en-US" dirty="0"/>
              <a:t>有效沟通</a:t>
            </a:r>
            <a:endParaRPr lang="en-US" altLang="zh-CN" dirty="0"/>
          </a:p>
          <a:p>
            <a:r>
              <a:rPr lang="zh-CN" altLang="en-US" dirty="0"/>
              <a:t>强调团队而非个人</a:t>
            </a:r>
            <a:endParaRPr lang="en-US" altLang="zh-CN" dirty="0"/>
          </a:p>
          <a:p>
            <a:pPr lvl="1"/>
            <a:endParaRPr lang="en-US" altLang="zh-CN" dirty="0"/>
          </a:p>
          <a:p>
            <a:endParaRPr lang="zh-CN" altLang="en-US" dirty="0"/>
          </a:p>
        </p:txBody>
      </p:sp>
      <p:sp>
        <p:nvSpPr>
          <p:cNvPr id="7" name="文本占位符 6">
            <a:extLst>
              <a:ext uri="{FF2B5EF4-FFF2-40B4-BE49-F238E27FC236}">
                <a16:creationId xmlns:a16="http://schemas.microsoft.com/office/drawing/2014/main" id="{B7CE1FE2-BE8E-EDC7-4072-B24E251254BE}"/>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2152332867"/>
      </p:ext>
    </p:extLst>
  </p:cSld>
  <p:clrMapOvr>
    <a:masterClrMapping/>
  </p:clrMapOvr>
</p:sld>
</file>

<file path=ppt/slides/slide4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DB08D0-C6F6-B7E6-D499-17515766B649}"/>
              </a:ext>
            </a:extLst>
          </p:cNvPr>
          <p:cNvSpPr>
            <a:spLocks noGrp="1"/>
          </p:cNvSpPr>
          <p:nvPr>
            <p:ph type="title"/>
          </p:nvPr>
        </p:nvSpPr>
        <p:spPr>
          <a:xfrm>
            <a:off x="792000" y="360000"/>
            <a:ext cx="6375921" cy="429413"/>
          </a:xfrm>
        </p:spPr>
        <p:txBody>
          <a:bodyPr/>
          <a:lstStyle/>
          <a:p>
            <a:r>
              <a:rPr lang="en-US" altLang="zh-CN" dirty="0"/>
              <a:t>10.5.2 </a:t>
            </a:r>
            <a:r>
              <a:rPr lang="zh-CN" altLang="en-US" dirty="0"/>
              <a:t>自组织</a:t>
            </a:r>
          </a:p>
        </p:txBody>
      </p:sp>
      <p:sp>
        <p:nvSpPr>
          <p:cNvPr id="3" name="内容占位符 2">
            <a:extLst>
              <a:ext uri="{FF2B5EF4-FFF2-40B4-BE49-F238E27FC236}">
                <a16:creationId xmlns:a16="http://schemas.microsoft.com/office/drawing/2014/main" id="{923F917E-AC87-C199-D80D-CADA93D52178}"/>
              </a:ext>
            </a:extLst>
          </p:cNvPr>
          <p:cNvSpPr>
            <a:spLocks noGrp="1"/>
          </p:cNvSpPr>
          <p:nvPr>
            <p:ph idx="1"/>
          </p:nvPr>
        </p:nvSpPr>
        <p:spPr>
          <a:xfrm>
            <a:off x="696000" y="864000"/>
            <a:ext cx="10800000" cy="5400000"/>
          </a:xfrm>
        </p:spPr>
        <p:txBody>
          <a:bodyPr/>
          <a:lstStyle/>
          <a:p>
            <a:r>
              <a:rPr lang="zh-CN" altLang="en-US" dirty="0"/>
              <a:t>行政</a:t>
            </a:r>
            <a:endParaRPr lang="en-US" altLang="zh-CN" dirty="0"/>
          </a:p>
          <a:p>
            <a:r>
              <a:rPr lang="zh-CN" altLang="en-US" dirty="0"/>
              <a:t>业务自主</a:t>
            </a:r>
            <a:r>
              <a:rPr lang="en-US" altLang="zh-CN" dirty="0"/>
              <a:t>/</a:t>
            </a:r>
            <a:r>
              <a:rPr lang="zh-CN" altLang="en-US" dirty="0"/>
              <a:t>直属队</a:t>
            </a:r>
            <a:endParaRPr lang="en-US" altLang="zh-CN" dirty="0"/>
          </a:p>
          <a:p>
            <a:endParaRPr lang="zh-CN" altLang="en-US" dirty="0"/>
          </a:p>
        </p:txBody>
      </p:sp>
      <p:sp>
        <p:nvSpPr>
          <p:cNvPr id="7" name="文本占位符 6">
            <a:extLst>
              <a:ext uri="{FF2B5EF4-FFF2-40B4-BE49-F238E27FC236}">
                <a16:creationId xmlns:a16="http://schemas.microsoft.com/office/drawing/2014/main" id="{B1C29DC1-2EB2-290F-C71F-1C748DAEB8F5}"/>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2037072428"/>
      </p:ext>
    </p:extLst>
  </p:cSld>
  <p:clrMapOvr>
    <a:masterClrMapping/>
  </p:clrMapOvr>
</p:sld>
</file>

<file path=ppt/slides/slide4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DB08D0-C6F6-B7E6-D499-17515766B649}"/>
              </a:ext>
            </a:extLst>
          </p:cNvPr>
          <p:cNvSpPr>
            <a:spLocks noGrp="1"/>
          </p:cNvSpPr>
          <p:nvPr>
            <p:ph type="title"/>
          </p:nvPr>
        </p:nvSpPr>
        <p:spPr>
          <a:xfrm>
            <a:off x="792000" y="360000"/>
            <a:ext cx="6375921" cy="429413"/>
          </a:xfrm>
        </p:spPr>
        <p:txBody>
          <a:bodyPr/>
          <a:lstStyle/>
          <a:p>
            <a:r>
              <a:rPr lang="en-US" altLang="zh-CN" dirty="0"/>
              <a:t>10.5.3 </a:t>
            </a:r>
            <a:r>
              <a:rPr lang="zh-CN" altLang="en-US" dirty="0"/>
              <a:t>仆人式领导</a:t>
            </a:r>
          </a:p>
        </p:txBody>
      </p:sp>
      <p:sp>
        <p:nvSpPr>
          <p:cNvPr id="3" name="内容占位符 2">
            <a:extLst>
              <a:ext uri="{FF2B5EF4-FFF2-40B4-BE49-F238E27FC236}">
                <a16:creationId xmlns:a16="http://schemas.microsoft.com/office/drawing/2014/main" id="{923F917E-AC87-C199-D80D-CADA93D52178}"/>
              </a:ext>
            </a:extLst>
          </p:cNvPr>
          <p:cNvSpPr>
            <a:spLocks noGrp="1"/>
          </p:cNvSpPr>
          <p:nvPr>
            <p:ph idx="1"/>
          </p:nvPr>
        </p:nvSpPr>
        <p:spPr>
          <a:xfrm>
            <a:off x="696000" y="864000"/>
            <a:ext cx="10800000" cy="5400000"/>
          </a:xfrm>
        </p:spPr>
        <p:txBody>
          <a:bodyPr/>
          <a:lstStyle/>
          <a:p>
            <a:r>
              <a:rPr lang="zh-CN" altLang="en-US" dirty="0">
                <a:hlinkClick r:id="rId2"/>
              </a:rPr>
              <a:t>敏捷宣言</a:t>
            </a:r>
            <a:r>
              <a:rPr lang="en-US" altLang="zh-CN" dirty="0"/>
              <a:t> </a:t>
            </a:r>
          </a:p>
          <a:p>
            <a:r>
              <a:rPr lang="zh-CN" altLang="en-US" dirty="0"/>
              <a:t>仆人式领导是通过对团队服务来领导团队的</a:t>
            </a:r>
          </a:p>
          <a:p>
            <a:r>
              <a:rPr lang="zh-CN" altLang="en-US" dirty="0"/>
              <a:t>注重理解和关注团队成员的需要和发展</a:t>
            </a:r>
          </a:p>
          <a:p>
            <a:r>
              <a:rPr lang="zh-CN" altLang="en-US" dirty="0"/>
              <a:t>仆人式领导为团队赋权</a:t>
            </a:r>
          </a:p>
          <a:p>
            <a:r>
              <a:rPr lang="zh-CN" altLang="en-US" dirty="0"/>
              <a:t>旨在使团队尽可能达到最高绩效。</a:t>
            </a:r>
          </a:p>
          <a:p>
            <a:pPr lvl="1"/>
            <a:endParaRPr lang="en-US" altLang="zh-CN" dirty="0"/>
          </a:p>
          <a:p>
            <a:endParaRPr lang="zh-CN" altLang="en-US" dirty="0"/>
          </a:p>
        </p:txBody>
      </p:sp>
      <p:sp>
        <p:nvSpPr>
          <p:cNvPr id="6" name="文本占位符 5">
            <a:extLst>
              <a:ext uri="{FF2B5EF4-FFF2-40B4-BE49-F238E27FC236}">
                <a16:creationId xmlns:a16="http://schemas.microsoft.com/office/drawing/2014/main" id="{6B71AA90-C2C7-BD2C-18E0-278605723D1D}"/>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1532932354"/>
      </p:ext>
    </p:extLst>
  </p:cSld>
  <p:clrMapOvr>
    <a:masterClrMapping/>
  </p:clrMapOvr>
</p:sld>
</file>

<file path=ppt/slides/slide4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DB08D0-C6F6-B7E6-D499-17515766B649}"/>
              </a:ext>
            </a:extLst>
          </p:cNvPr>
          <p:cNvSpPr>
            <a:spLocks noGrp="1"/>
          </p:cNvSpPr>
          <p:nvPr>
            <p:ph type="title"/>
          </p:nvPr>
        </p:nvSpPr>
        <p:spPr>
          <a:xfrm>
            <a:off x="792000" y="360000"/>
            <a:ext cx="6375921" cy="429413"/>
          </a:xfrm>
        </p:spPr>
        <p:txBody>
          <a:bodyPr/>
          <a:lstStyle/>
          <a:p>
            <a:r>
              <a:rPr lang="en-US" altLang="zh-CN" dirty="0"/>
              <a:t>10.5.4 </a:t>
            </a:r>
            <a:r>
              <a:rPr lang="zh-CN" altLang="en-US" dirty="0"/>
              <a:t>敏捷团队沟通</a:t>
            </a:r>
          </a:p>
        </p:txBody>
      </p:sp>
      <p:sp>
        <p:nvSpPr>
          <p:cNvPr id="3" name="内容占位符 2">
            <a:extLst>
              <a:ext uri="{FF2B5EF4-FFF2-40B4-BE49-F238E27FC236}">
                <a16:creationId xmlns:a16="http://schemas.microsoft.com/office/drawing/2014/main" id="{923F917E-AC87-C199-D80D-CADA93D52178}"/>
              </a:ext>
            </a:extLst>
          </p:cNvPr>
          <p:cNvSpPr>
            <a:spLocks noGrp="1"/>
          </p:cNvSpPr>
          <p:nvPr>
            <p:ph idx="1"/>
          </p:nvPr>
        </p:nvSpPr>
        <p:spPr>
          <a:xfrm>
            <a:off x="696000" y="864000"/>
            <a:ext cx="10800000" cy="5400000"/>
          </a:xfrm>
        </p:spPr>
        <p:txBody>
          <a:bodyPr/>
          <a:lstStyle/>
          <a:p>
            <a:r>
              <a:rPr lang="zh-CN" altLang="en-US" dirty="0"/>
              <a:t>每日站会</a:t>
            </a:r>
            <a:endParaRPr lang="en-US" altLang="zh-CN" dirty="0"/>
          </a:p>
          <a:p>
            <a:r>
              <a:rPr lang="zh-CN" altLang="en-US" dirty="0"/>
              <a:t>看板</a:t>
            </a:r>
            <a:endParaRPr lang="en-US" altLang="zh-CN" dirty="0"/>
          </a:p>
          <a:p>
            <a:r>
              <a:rPr lang="zh-CN" altLang="en-US" dirty="0"/>
              <a:t>迭代评审</a:t>
            </a:r>
            <a:endParaRPr lang="en-US" altLang="zh-CN" dirty="0"/>
          </a:p>
          <a:p>
            <a:r>
              <a:rPr lang="en-US" altLang="zh-CN" dirty="0"/>
              <a:t>…</a:t>
            </a:r>
          </a:p>
          <a:p>
            <a:pPr lvl="1"/>
            <a:endParaRPr lang="en-US" altLang="zh-CN" dirty="0"/>
          </a:p>
          <a:p>
            <a:endParaRPr lang="zh-CN" altLang="en-US" dirty="0"/>
          </a:p>
        </p:txBody>
      </p:sp>
      <p:sp>
        <p:nvSpPr>
          <p:cNvPr id="6" name="文本占位符 5">
            <a:extLst>
              <a:ext uri="{FF2B5EF4-FFF2-40B4-BE49-F238E27FC236}">
                <a16:creationId xmlns:a16="http://schemas.microsoft.com/office/drawing/2014/main" id="{0600EBD6-9718-CBBF-7915-5150D9ADCDE7}"/>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2621512890"/>
      </p:ext>
    </p:extLst>
  </p:cSld>
  <p:clrMapOvr>
    <a:masterClrMapping/>
  </p:clrMapOvr>
</p:sld>
</file>

<file path=ppt/slides/slide4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92E1B-CC01-8AC8-A66B-322CF5D88F1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FA2AC6E-2E60-4CC5-C9A6-F5BA80A3D0CA}"/>
              </a:ext>
            </a:extLst>
          </p:cNvPr>
          <p:cNvSpPr>
            <a:spLocks noGrp="1"/>
          </p:cNvSpPr>
          <p:nvPr>
            <p:ph type="ctrTitle"/>
          </p:nvPr>
        </p:nvSpPr>
        <p:spPr>
          <a:xfrm>
            <a:off x="2464886" y="4681056"/>
            <a:ext cx="7262228" cy="798491"/>
          </a:xfrm>
        </p:spPr>
        <p:txBody>
          <a:bodyPr/>
          <a:lstStyle/>
          <a:p>
            <a:r>
              <a:rPr lang="zh-CN" altLang="en-US"/>
              <a:t>软件项目风险计划</a:t>
            </a:r>
          </a:p>
        </p:txBody>
      </p:sp>
      <p:sp>
        <p:nvSpPr>
          <p:cNvPr id="3" name="副标题 2">
            <a:extLst>
              <a:ext uri="{FF2B5EF4-FFF2-40B4-BE49-F238E27FC236}">
                <a16:creationId xmlns:a16="http://schemas.microsoft.com/office/drawing/2014/main" id="{D2E92DC8-52E0-411B-37EA-ADF0C576B182}"/>
              </a:ext>
            </a:extLst>
          </p:cNvPr>
          <p:cNvSpPr>
            <a:spLocks noGrp="1"/>
          </p:cNvSpPr>
          <p:nvPr>
            <p:ph type="subTitle" idx="1"/>
          </p:nvPr>
        </p:nvSpPr>
        <p:spPr>
          <a:xfrm>
            <a:off x="2464886" y="5479548"/>
            <a:ext cx="7262228" cy="458180"/>
          </a:xfrm>
        </p:spPr>
        <p:txBody>
          <a:bodyPr/>
          <a:lstStyle/>
          <a:p>
            <a:r>
              <a:rPr lang="en-US" altLang="zh-CN"/>
              <a:t>Section 9 Project Risk</a:t>
            </a:r>
            <a:endParaRPr lang="zh-CN" altLang="en-US"/>
          </a:p>
        </p:txBody>
      </p:sp>
      <p:sp>
        <p:nvSpPr>
          <p:cNvPr id="8" name="文本占位符 7">
            <a:extLst>
              <a:ext uri="{FF2B5EF4-FFF2-40B4-BE49-F238E27FC236}">
                <a16:creationId xmlns:a16="http://schemas.microsoft.com/office/drawing/2014/main" id="{49EC83D8-BFDC-74C7-9EE5-B930BB8DDDCE}"/>
              </a:ext>
            </a:extLst>
          </p:cNvPr>
          <p:cNvSpPr>
            <a:spLocks noGrp="1"/>
          </p:cNvSpPr>
          <p:nvPr>
            <p:ph type="body" sz="quarter" idx="11"/>
          </p:nvPr>
        </p:nvSpPr>
        <p:spPr>
          <a:xfrm>
            <a:off x="3883891" y="2047875"/>
            <a:ext cx="4424219" cy="2531269"/>
          </a:xfrm>
        </p:spPr>
        <p:txBody>
          <a:bodyPr/>
          <a:lstStyle/>
          <a:p>
            <a:r>
              <a:rPr lang="zh-CN" altLang="en-US" dirty="0"/>
              <a:t>类型</a:t>
            </a:r>
            <a:endParaRPr lang="en-US" altLang="zh-CN" dirty="0"/>
          </a:p>
          <a:p>
            <a:r>
              <a:rPr lang="zh-CN" altLang="en-US" dirty="0"/>
              <a:t>要素</a:t>
            </a:r>
            <a:endParaRPr lang="en-US" altLang="zh-CN" dirty="0"/>
          </a:p>
          <a:p>
            <a:r>
              <a:rPr lang="zh-CN" altLang="en-US" dirty="0"/>
              <a:t>过程</a:t>
            </a:r>
          </a:p>
        </p:txBody>
      </p:sp>
    </p:spTree>
    <p:extLst>
      <p:ext uri="{BB962C8B-B14F-4D97-AF65-F5344CB8AC3E}">
        <p14:creationId xmlns:p14="http://schemas.microsoft.com/office/powerpoint/2010/main" val="727486452"/>
      </p:ext>
    </p:extLst>
  </p:cSld>
  <p:clrMapOvr>
    <a:masterClrMapping/>
  </p:clrMapOvr>
</p:sld>
</file>

<file path=ppt/slides/slide4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0BB56-D1AC-B8CE-4880-46B7F3D1E1D1}"/>
            </a:ext>
          </a:extLst>
        </p:cNvPr>
        <p:cNvGrpSpPr/>
        <p:nvPr/>
      </p:nvGrpSpPr>
      <p:grpSpPr>
        <a:xfrm>
          <a:off x="0" y="0"/>
          <a:ext cx="0" cy="0"/>
          <a:chOff x="0" y="0"/>
          <a:chExt cx="0" cy="0"/>
        </a:xfrm>
      </p:grpSpPr>
      <p:sp>
        <p:nvSpPr>
          <p:cNvPr id="5" name="箭头: V 形 4">
            <a:extLst>
              <a:ext uri="{FF2B5EF4-FFF2-40B4-BE49-F238E27FC236}">
                <a16:creationId xmlns:a16="http://schemas.microsoft.com/office/drawing/2014/main" id="{7B851591-AB9D-0FFB-53F8-C79730CF6872}"/>
              </a:ext>
            </a:extLst>
          </p:cNvPr>
          <p:cNvSpPr/>
          <p:nvPr/>
        </p:nvSpPr>
        <p:spPr>
          <a:xfrm>
            <a:off x="2454444" y="1897626"/>
            <a:ext cx="1800000" cy="360000"/>
          </a:xfrm>
          <a:prstGeom prst="chevron">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项目开始</a:t>
            </a:r>
          </a:p>
        </p:txBody>
      </p:sp>
      <p:sp>
        <p:nvSpPr>
          <p:cNvPr id="6" name="箭头: V 形 5">
            <a:extLst>
              <a:ext uri="{FF2B5EF4-FFF2-40B4-BE49-F238E27FC236}">
                <a16:creationId xmlns:a16="http://schemas.microsoft.com/office/drawing/2014/main" id="{7C56BEA1-1B39-5FD5-D8DC-72E16760F012}"/>
              </a:ext>
            </a:extLst>
          </p:cNvPr>
          <p:cNvSpPr/>
          <p:nvPr/>
        </p:nvSpPr>
        <p:spPr>
          <a:xfrm>
            <a:off x="4180548" y="1897626"/>
            <a:ext cx="1800000" cy="360000"/>
          </a:xfrm>
          <a:prstGeom prst="chevron">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solidFill>
              </a:rPr>
              <a:t>项目计划</a:t>
            </a:r>
          </a:p>
        </p:txBody>
      </p:sp>
      <p:sp>
        <p:nvSpPr>
          <p:cNvPr id="7" name="箭头: V 形 6">
            <a:extLst>
              <a:ext uri="{FF2B5EF4-FFF2-40B4-BE49-F238E27FC236}">
                <a16:creationId xmlns:a16="http://schemas.microsoft.com/office/drawing/2014/main" id="{3CB86D73-E9CC-8BAC-C8ED-B0E1879334C9}"/>
              </a:ext>
            </a:extLst>
          </p:cNvPr>
          <p:cNvSpPr/>
          <p:nvPr/>
        </p:nvSpPr>
        <p:spPr>
          <a:xfrm>
            <a:off x="5906652" y="1897626"/>
            <a:ext cx="1800000" cy="360000"/>
          </a:xfrm>
          <a:prstGeom prst="chevron">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rPr>
              <a:t>项目执行控制</a:t>
            </a:r>
          </a:p>
        </p:txBody>
      </p:sp>
      <p:sp>
        <p:nvSpPr>
          <p:cNvPr id="8" name="箭头: V 形 7">
            <a:extLst>
              <a:ext uri="{FF2B5EF4-FFF2-40B4-BE49-F238E27FC236}">
                <a16:creationId xmlns:a16="http://schemas.microsoft.com/office/drawing/2014/main" id="{B8A491C7-2F7B-5BF0-B65B-269E188D0463}"/>
              </a:ext>
            </a:extLst>
          </p:cNvPr>
          <p:cNvSpPr/>
          <p:nvPr/>
        </p:nvSpPr>
        <p:spPr>
          <a:xfrm>
            <a:off x="7632755" y="1897626"/>
            <a:ext cx="1800000" cy="360000"/>
          </a:xfrm>
          <a:prstGeom prst="chevron">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rPr>
              <a:t>项目结束</a:t>
            </a:r>
          </a:p>
        </p:txBody>
      </p:sp>
      <p:sp>
        <p:nvSpPr>
          <p:cNvPr id="9" name="矩形 8">
            <a:extLst>
              <a:ext uri="{FF2B5EF4-FFF2-40B4-BE49-F238E27FC236}">
                <a16:creationId xmlns:a16="http://schemas.microsoft.com/office/drawing/2014/main" id="{08D0211C-91B6-D5CA-E81A-50A2CD4C7AA4}"/>
              </a:ext>
            </a:extLst>
          </p:cNvPr>
          <p:cNvSpPr/>
          <p:nvPr/>
        </p:nvSpPr>
        <p:spPr>
          <a:xfrm>
            <a:off x="3453041"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范围计划</a:t>
            </a:r>
          </a:p>
        </p:txBody>
      </p:sp>
      <p:sp>
        <p:nvSpPr>
          <p:cNvPr id="10" name="矩形 9">
            <a:extLst>
              <a:ext uri="{FF2B5EF4-FFF2-40B4-BE49-F238E27FC236}">
                <a16:creationId xmlns:a16="http://schemas.microsoft.com/office/drawing/2014/main" id="{2126D76E-564A-7DC3-B8DD-3161420A620C}"/>
              </a:ext>
            </a:extLst>
          </p:cNvPr>
          <p:cNvSpPr/>
          <p:nvPr/>
        </p:nvSpPr>
        <p:spPr>
          <a:xfrm>
            <a:off x="4147174"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成本计划</a:t>
            </a:r>
          </a:p>
        </p:txBody>
      </p:sp>
      <p:sp>
        <p:nvSpPr>
          <p:cNvPr id="11" name="矩形 10">
            <a:extLst>
              <a:ext uri="{FF2B5EF4-FFF2-40B4-BE49-F238E27FC236}">
                <a16:creationId xmlns:a16="http://schemas.microsoft.com/office/drawing/2014/main" id="{F8781456-6DD1-3DB5-0846-3181AE36E75F}"/>
              </a:ext>
            </a:extLst>
          </p:cNvPr>
          <p:cNvSpPr/>
          <p:nvPr/>
        </p:nvSpPr>
        <p:spPr>
          <a:xfrm>
            <a:off x="4840750"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进度计划</a:t>
            </a:r>
          </a:p>
        </p:txBody>
      </p:sp>
      <p:sp>
        <p:nvSpPr>
          <p:cNvPr id="12" name="矩形 11">
            <a:extLst>
              <a:ext uri="{FF2B5EF4-FFF2-40B4-BE49-F238E27FC236}">
                <a16:creationId xmlns:a16="http://schemas.microsoft.com/office/drawing/2014/main" id="{3C7E234A-7E05-AE30-B28B-3002A9FF8A21}"/>
              </a:ext>
            </a:extLst>
          </p:cNvPr>
          <p:cNvSpPr/>
          <p:nvPr/>
        </p:nvSpPr>
        <p:spPr>
          <a:xfrm>
            <a:off x="5534326"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质量计划</a:t>
            </a:r>
          </a:p>
        </p:txBody>
      </p:sp>
      <p:sp>
        <p:nvSpPr>
          <p:cNvPr id="13" name="矩形 12">
            <a:extLst>
              <a:ext uri="{FF2B5EF4-FFF2-40B4-BE49-F238E27FC236}">
                <a16:creationId xmlns:a16="http://schemas.microsoft.com/office/drawing/2014/main" id="{B0212EBB-701D-FE74-9E85-5B9D249874DD}"/>
              </a:ext>
            </a:extLst>
          </p:cNvPr>
          <p:cNvSpPr/>
          <p:nvPr/>
        </p:nvSpPr>
        <p:spPr>
          <a:xfrm>
            <a:off x="6227902"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配置管理计划</a:t>
            </a:r>
          </a:p>
        </p:txBody>
      </p:sp>
      <p:sp>
        <p:nvSpPr>
          <p:cNvPr id="14" name="矩形 13">
            <a:extLst>
              <a:ext uri="{FF2B5EF4-FFF2-40B4-BE49-F238E27FC236}">
                <a16:creationId xmlns:a16="http://schemas.microsoft.com/office/drawing/2014/main" id="{548C2C71-26AD-5F5F-C515-F844179783AF}"/>
              </a:ext>
            </a:extLst>
          </p:cNvPr>
          <p:cNvSpPr/>
          <p:nvPr/>
        </p:nvSpPr>
        <p:spPr>
          <a:xfrm>
            <a:off x="6921478"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团队计划</a:t>
            </a:r>
          </a:p>
        </p:txBody>
      </p:sp>
      <p:sp>
        <p:nvSpPr>
          <p:cNvPr id="15" name="矩形 14">
            <a:extLst>
              <a:ext uri="{FF2B5EF4-FFF2-40B4-BE49-F238E27FC236}">
                <a16:creationId xmlns:a16="http://schemas.microsoft.com/office/drawing/2014/main" id="{E875E01B-BE10-E22A-02FB-6FCE57F1AAC7}"/>
              </a:ext>
            </a:extLst>
          </p:cNvPr>
          <p:cNvSpPr/>
          <p:nvPr/>
        </p:nvSpPr>
        <p:spPr>
          <a:xfrm>
            <a:off x="7615054" y="2998839"/>
            <a:ext cx="430887" cy="2160000"/>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bg1"/>
                </a:solidFill>
              </a:rPr>
              <a:t>风险计划</a:t>
            </a:r>
          </a:p>
        </p:txBody>
      </p:sp>
      <p:sp>
        <p:nvSpPr>
          <p:cNvPr id="16" name="矩形 15">
            <a:extLst>
              <a:ext uri="{FF2B5EF4-FFF2-40B4-BE49-F238E27FC236}">
                <a16:creationId xmlns:a16="http://schemas.microsoft.com/office/drawing/2014/main" id="{AAA79413-93BA-0F92-40BC-93A56A041EBC}"/>
              </a:ext>
            </a:extLst>
          </p:cNvPr>
          <p:cNvSpPr/>
          <p:nvPr/>
        </p:nvSpPr>
        <p:spPr>
          <a:xfrm>
            <a:off x="8308629"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合同计划</a:t>
            </a:r>
          </a:p>
        </p:txBody>
      </p:sp>
      <p:sp>
        <p:nvSpPr>
          <p:cNvPr id="17" name="梯形 27">
            <a:extLst>
              <a:ext uri="{FF2B5EF4-FFF2-40B4-BE49-F238E27FC236}">
                <a16:creationId xmlns:a16="http://schemas.microsoft.com/office/drawing/2014/main" id="{5328FECD-17E1-CF92-7C72-75DDD75A13BF}"/>
              </a:ext>
            </a:extLst>
          </p:cNvPr>
          <p:cNvSpPr/>
          <p:nvPr/>
        </p:nvSpPr>
        <p:spPr>
          <a:xfrm>
            <a:off x="3452485" y="2359742"/>
            <a:ext cx="5287031" cy="639097"/>
          </a:xfrm>
          <a:custGeom>
            <a:avLst/>
            <a:gdLst>
              <a:gd name="csX0" fmla="*/ 0 w 5287031"/>
              <a:gd name="csY0" fmla="*/ 629265 h 629265"/>
              <a:gd name="csX1" fmla="*/ 688259 w 5287031"/>
              <a:gd name="csY1" fmla="*/ 0 h 629265"/>
              <a:gd name="csX2" fmla="*/ 4598772 w 5287031"/>
              <a:gd name="csY2" fmla="*/ 0 h 629265"/>
              <a:gd name="csX3" fmla="*/ 5287031 w 5287031"/>
              <a:gd name="csY3" fmla="*/ 629265 h 629265"/>
              <a:gd name="csX4" fmla="*/ 0 w 5287031"/>
              <a:gd name="csY4" fmla="*/ 629265 h 629265"/>
              <a:gd name="csX0" fmla="*/ 0 w 5287031"/>
              <a:gd name="csY0" fmla="*/ 639097 h 639097"/>
              <a:gd name="csX1" fmla="*/ 688259 w 5287031"/>
              <a:gd name="csY1" fmla="*/ 9832 h 639097"/>
              <a:gd name="csX2" fmla="*/ 2327520 w 5287031"/>
              <a:gd name="csY2" fmla="*/ 0 h 639097"/>
              <a:gd name="csX3" fmla="*/ 5287031 w 5287031"/>
              <a:gd name="csY3" fmla="*/ 639097 h 639097"/>
              <a:gd name="csX4" fmla="*/ 0 w 5287031"/>
              <a:gd name="csY4" fmla="*/ 639097 h 639097"/>
            </a:gdLst>
            <a:ahLst/>
            <a:cxnLst>
              <a:cxn ang="0">
                <a:pos x="csX0" y="csY0"/>
              </a:cxn>
              <a:cxn ang="0">
                <a:pos x="csX1" y="csY1"/>
              </a:cxn>
              <a:cxn ang="0">
                <a:pos x="csX2" y="csY2"/>
              </a:cxn>
              <a:cxn ang="0">
                <a:pos x="csX3" y="csY3"/>
              </a:cxn>
              <a:cxn ang="0">
                <a:pos x="csX4" y="csY4"/>
              </a:cxn>
            </a:cxnLst>
            <a:rect l="l" t="t" r="r" b="b"/>
            <a:pathLst>
              <a:path w="5287031" h="639097">
                <a:moveTo>
                  <a:pt x="0" y="639097"/>
                </a:moveTo>
                <a:lnTo>
                  <a:pt x="688259" y="9832"/>
                </a:lnTo>
                <a:lnTo>
                  <a:pt x="2327520" y="0"/>
                </a:lnTo>
                <a:lnTo>
                  <a:pt x="5287031" y="639097"/>
                </a:lnTo>
                <a:lnTo>
                  <a:pt x="0" y="639097"/>
                </a:lnTo>
                <a:close/>
              </a:path>
            </a:pathLst>
          </a:custGeom>
          <a:gradFill flip="none" rotWithShape="1">
            <a:gsLst>
              <a:gs pos="0">
                <a:schemeClr val="accent5">
                  <a:lumMod val="75000"/>
                </a:schemeClr>
              </a:gs>
              <a:gs pos="100000">
                <a:schemeClr val="bg1">
                  <a:alpha val="0"/>
                </a:scheme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tx1"/>
              </a:solidFill>
            </a:endParaRPr>
          </a:p>
        </p:txBody>
      </p:sp>
    </p:spTree>
    <p:extLst>
      <p:ext uri="{BB962C8B-B14F-4D97-AF65-F5344CB8AC3E}">
        <p14:creationId xmlns:p14="http://schemas.microsoft.com/office/powerpoint/2010/main" val="417831775"/>
      </p:ext>
    </p:extLst>
  </p:cSld>
  <p:clrMapOvr>
    <a:masterClrMapping/>
  </p:clrMapOvr>
</p:sld>
</file>

<file path=ppt/slides/slide4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菱形 21">
            <a:extLst>
              <a:ext uri="{FF2B5EF4-FFF2-40B4-BE49-F238E27FC236}">
                <a16:creationId xmlns:a16="http://schemas.microsoft.com/office/drawing/2014/main" id="{FF3677F7-CB23-C99A-75A9-6AE066FC0FB8}"/>
              </a:ext>
            </a:extLst>
          </p:cNvPr>
          <p:cNvSpPr/>
          <p:nvPr/>
        </p:nvSpPr>
        <p:spPr>
          <a:xfrm>
            <a:off x="1933574" y="3905251"/>
            <a:ext cx="3781425" cy="1266824"/>
          </a:xfrm>
          <a:prstGeom prst="diamond">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21" name="菱形 20">
            <a:extLst>
              <a:ext uri="{FF2B5EF4-FFF2-40B4-BE49-F238E27FC236}">
                <a16:creationId xmlns:a16="http://schemas.microsoft.com/office/drawing/2014/main" id="{1C7E7505-189B-FD69-25A8-693C85B1ED60}"/>
              </a:ext>
            </a:extLst>
          </p:cNvPr>
          <p:cNvSpPr/>
          <p:nvPr/>
        </p:nvSpPr>
        <p:spPr>
          <a:xfrm>
            <a:off x="2552700" y="2971801"/>
            <a:ext cx="2552700" cy="933450"/>
          </a:xfrm>
          <a:prstGeom prst="diamond">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20" name="菱形 19">
            <a:extLst>
              <a:ext uri="{FF2B5EF4-FFF2-40B4-BE49-F238E27FC236}">
                <a16:creationId xmlns:a16="http://schemas.microsoft.com/office/drawing/2014/main" id="{CD9C23EB-C8B7-D905-8FC5-5647C3F587F0}"/>
              </a:ext>
            </a:extLst>
          </p:cNvPr>
          <p:cNvSpPr/>
          <p:nvPr/>
        </p:nvSpPr>
        <p:spPr>
          <a:xfrm>
            <a:off x="3076575" y="2190750"/>
            <a:ext cx="1495425" cy="542925"/>
          </a:xfrm>
          <a:prstGeom prst="diamond">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18" name="任意多边形: 形状 17">
            <a:extLst>
              <a:ext uri="{FF2B5EF4-FFF2-40B4-BE49-F238E27FC236}">
                <a16:creationId xmlns:a16="http://schemas.microsoft.com/office/drawing/2014/main" id="{0BF29661-AF6E-E286-5B9F-17974F341C98}"/>
              </a:ext>
            </a:extLst>
          </p:cNvPr>
          <p:cNvSpPr/>
          <p:nvPr/>
        </p:nvSpPr>
        <p:spPr>
          <a:xfrm flipH="1">
            <a:off x="1571618" y="1153741"/>
            <a:ext cx="4524382" cy="4836267"/>
          </a:xfrm>
          <a:custGeom>
            <a:avLst/>
            <a:gdLst>
              <a:gd name="csX0" fmla="*/ 4167668 w 4524382"/>
              <a:gd name="csY0" fmla="*/ 3384932 h 4836267"/>
              <a:gd name="csX1" fmla="*/ 2262191 w 4524382"/>
              <a:gd name="csY1" fmla="*/ 4004059 h 4836267"/>
              <a:gd name="csX2" fmla="*/ 356714 w 4524382"/>
              <a:gd name="csY2" fmla="*/ 3384932 h 4836267"/>
              <a:gd name="csX3" fmla="*/ 0 w 4524382"/>
              <a:gd name="csY3" fmla="*/ 4018607 h 4836267"/>
              <a:gd name="csX4" fmla="*/ 2262191 w 4524382"/>
              <a:gd name="csY4" fmla="*/ 4836267 h 4836267"/>
              <a:gd name="csX5" fmla="*/ 4524382 w 4524382"/>
              <a:gd name="csY5" fmla="*/ 4018607 h 4836267"/>
              <a:gd name="csX6" fmla="*/ 3542869 w 4524382"/>
              <a:gd name="csY6" fmla="*/ 2275026 h 4836267"/>
              <a:gd name="csX7" fmla="*/ 2262191 w 4524382"/>
              <a:gd name="csY7" fmla="*/ 2691143 h 4836267"/>
              <a:gd name="csX8" fmla="*/ 981513 w 4524382"/>
              <a:gd name="csY8" fmla="*/ 2275026 h 4836267"/>
              <a:gd name="csX9" fmla="*/ 464796 w 4524382"/>
              <a:gd name="csY9" fmla="*/ 3192934 h 4836267"/>
              <a:gd name="csX10" fmla="*/ 2262191 w 4524382"/>
              <a:gd name="csY10" fmla="*/ 3776944 h 4836267"/>
              <a:gd name="csX11" fmla="*/ 4059586 w 4524382"/>
              <a:gd name="csY11" fmla="*/ 3192934 h 4836267"/>
              <a:gd name="csX12" fmla="*/ 3001278 w 4524382"/>
              <a:gd name="csY12" fmla="*/ 1312931 h 4836267"/>
              <a:gd name="csX13" fmla="*/ 2262191 w 4524382"/>
              <a:gd name="csY13" fmla="*/ 1553075 h 4836267"/>
              <a:gd name="csX14" fmla="*/ 1523104 w 4524382"/>
              <a:gd name="csY14" fmla="*/ 1312931 h 4836267"/>
              <a:gd name="csX15" fmla="*/ 1089594 w 4524382"/>
              <a:gd name="csY15" fmla="*/ 2083027 h 4836267"/>
              <a:gd name="csX16" fmla="*/ 2262191 w 4524382"/>
              <a:gd name="csY16" fmla="*/ 2464027 h 4836267"/>
              <a:gd name="csX17" fmla="*/ 3434788 w 4524382"/>
              <a:gd name="csY17" fmla="*/ 2083027 h 4836267"/>
              <a:gd name="csX18" fmla="*/ 2262191 w 4524382"/>
              <a:gd name="csY18" fmla="*/ 0 h 4836267"/>
              <a:gd name="csX19" fmla="*/ 1631185 w 4524382"/>
              <a:gd name="csY19" fmla="*/ 1120933 h 4836267"/>
              <a:gd name="csX20" fmla="*/ 2262191 w 4524382"/>
              <a:gd name="csY20" fmla="*/ 1325959 h 4836267"/>
              <a:gd name="csX21" fmla="*/ 2893197 w 4524382"/>
              <a:gd name="csY21" fmla="*/ 1120933 h 48362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4524382" h="4836267">
                <a:moveTo>
                  <a:pt x="4167668" y="3384932"/>
                </a:moveTo>
                <a:lnTo>
                  <a:pt x="2262191" y="4004059"/>
                </a:lnTo>
                <a:lnTo>
                  <a:pt x="356714" y="3384932"/>
                </a:lnTo>
                <a:lnTo>
                  <a:pt x="0" y="4018607"/>
                </a:lnTo>
                <a:lnTo>
                  <a:pt x="2262191" y="4836267"/>
                </a:lnTo>
                <a:lnTo>
                  <a:pt x="4524382" y="4018607"/>
                </a:lnTo>
                <a:close/>
                <a:moveTo>
                  <a:pt x="3542869" y="2275026"/>
                </a:moveTo>
                <a:lnTo>
                  <a:pt x="2262191" y="2691143"/>
                </a:lnTo>
                <a:lnTo>
                  <a:pt x="981513" y="2275026"/>
                </a:lnTo>
                <a:lnTo>
                  <a:pt x="464796" y="3192934"/>
                </a:lnTo>
                <a:lnTo>
                  <a:pt x="2262191" y="3776944"/>
                </a:lnTo>
                <a:lnTo>
                  <a:pt x="4059586" y="3192934"/>
                </a:lnTo>
                <a:close/>
                <a:moveTo>
                  <a:pt x="3001278" y="1312931"/>
                </a:moveTo>
                <a:lnTo>
                  <a:pt x="2262191" y="1553075"/>
                </a:lnTo>
                <a:lnTo>
                  <a:pt x="1523104" y="1312931"/>
                </a:lnTo>
                <a:lnTo>
                  <a:pt x="1089594" y="2083027"/>
                </a:lnTo>
                <a:lnTo>
                  <a:pt x="2262191" y="2464027"/>
                </a:lnTo>
                <a:lnTo>
                  <a:pt x="3434788" y="2083027"/>
                </a:lnTo>
                <a:close/>
                <a:moveTo>
                  <a:pt x="2262191" y="0"/>
                </a:moveTo>
                <a:lnTo>
                  <a:pt x="1631185" y="1120933"/>
                </a:lnTo>
                <a:lnTo>
                  <a:pt x="2262191" y="1325959"/>
                </a:lnTo>
                <a:lnTo>
                  <a:pt x="2893197" y="1120933"/>
                </a:lnTo>
                <a:close/>
              </a:path>
            </a:pathLst>
          </a:custGeom>
          <a:gradFill>
            <a:gsLst>
              <a:gs pos="0">
                <a:srgbClr val="0D8BB3"/>
              </a:gs>
              <a:gs pos="100000">
                <a:srgbClr val="1A5076"/>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dirty="0">
              <a:solidFill>
                <a:schemeClr val="tx1"/>
              </a:solidFill>
            </a:endParaRPr>
          </a:p>
        </p:txBody>
      </p:sp>
    </p:spTree>
    <p:extLst>
      <p:ext uri="{BB962C8B-B14F-4D97-AF65-F5344CB8AC3E}">
        <p14:creationId xmlns:p14="http://schemas.microsoft.com/office/powerpoint/2010/main" val="1645412215"/>
      </p:ext>
    </p:extLst>
  </p:cSld>
  <p:clrMapOvr>
    <a:masterClrMapping/>
  </p:clrMapOvr>
</p:sld>
</file>

<file path=ppt/slides/slide4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a:extLst>
              <a:ext uri="{FF2B5EF4-FFF2-40B4-BE49-F238E27FC236}">
                <a16:creationId xmlns:a16="http://schemas.microsoft.com/office/drawing/2014/main" id="{4BDBA0B4-1274-134A-B92A-FB9BF14F651C}"/>
              </a:ext>
            </a:extLst>
          </p:cNvPr>
          <p:cNvSpPr>
            <a:spLocks noGrp="1"/>
          </p:cNvSpPr>
          <p:nvPr>
            <p:ph type="body" sz="quarter" idx="10"/>
          </p:nvPr>
        </p:nvSpPr>
        <p:spPr>
          <a:xfrm>
            <a:off x="3219345" y="1629000"/>
            <a:ext cx="8640000" cy="3600000"/>
          </a:xfrm>
        </p:spPr>
        <p:txBody>
          <a:bodyPr/>
          <a:lstStyle/>
          <a:p>
            <a:r>
              <a:rPr lang="zh-CN" altLang="en-US"/>
              <a:t>在风险管理中，通常需要进行风险监测，其目的不包括（ ）。</a:t>
            </a:r>
            <a:endParaRPr lang="en-US" altLang="zh-CN"/>
          </a:p>
          <a:p>
            <a:endParaRPr lang="zh-CN" altLang="en-US"/>
          </a:p>
          <a:p>
            <a:r>
              <a:rPr lang="en-US" altLang="zh-CN"/>
              <a:t>A. </a:t>
            </a:r>
            <a:r>
              <a:rPr lang="zh-CN" altLang="en-US"/>
              <a:t>消除风险</a:t>
            </a:r>
          </a:p>
          <a:p>
            <a:r>
              <a:rPr lang="en-US" altLang="zh-CN"/>
              <a:t>B. </a:t>
            </a:r>
            <a:r>
              <a:rPr lang="zh-CN" altLang="en-US"/>
              <a:t>评估所预测的风险是否发生</a:t>
            </a:r>
          </a:p>
          <a:p>
            <a:r>
              <a:rPr lang="en-US" altLang="zh-CN"/>
              <a:t>C. </a:t>
            </a:r>
            <a:r>
              <a:rPr lang="zh-CN" altLang="en-US"/>
              <a:t>保证正确实施了风险缓解步骤</a:t>
            </a:r>
          </a:p>
          <a:p>
            <a:r>
              <a:rPr lang="en-US" altLang="zh-CN"/>
              <a:t>D. </a:t>
            </a:r>
            <a:r>
              <a:rPr lang="zh-CN" altLang="en-US"/>
              <a:t>收集用于后续进行风险分析的信息</a:t>
            </a:r>
          </a:p>
        </p:txBody>
      </p:sp>
    </p:spTree>
    <p:extLst>
      <p:ext uri="{BB962C8B-B14F-4D97-AF65-F5344CB8AC3E}">
        <p14:creationId xmlns:p14="http://schemas.microsoft.com/office/powerpoint/2010/main" val="1905268078"/>
      </p:ext>
    </p:extLst>
  </p:cSld>
  <p:clrMapOvr>
    <a:masterClrMapping/>
  </p:clrMapOvr>
</p:sld>
</file>

<file path=ppt/slides/slide4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15361A0B-565C-7023-6ABD-0E5EA9F1A7A6}"/>
              </a:ext>
            </a:extLst>
          </p:cNvPr>
          <p:cNvSpPr>
            <a:spLocks noGrp="1"/>
          </p:cNvSpPr>
          <p:nvPr>
            <p:ph type="title"/>
          </p:nvPr>
        </p:nvSpPr>
        <p:spPr>
          <a:xfrm>
            <a:off x="694800" y="360000"/>
            <a:ext cx="6375921" cy="429413"/>
          </a:xfrm>
        </p:spPr>
        <p:txBody>
          <a:bodyPr/>
          <a:lstStyle/>
          <a:p>
            <a:r>
              <a:rPr lang="en-US" altLang="zh-CN" dirty="0"/>
              <a:t>11.1 </a:t>
            </a:r>
            <a:r>
              <a:rPr lang="zh-CN" altLang="en-US" dirty="0"/>
              <a:t>风险管理</a:t>
            </a:r>
          </a:p>
        </p:txBody>
      </p:sp>
      <p:sp>
        <p:nvSpPr>
          <p:cNvPr id="3" name="内容占位符 2">
            <a:extLst>
              <a:ext uri="{FF2B5EF4-FFF2-40B4-BE49-F238E27FC236}">
                <a16:creationId xmlns:a16="http://schemas.microsoft.com/office/drawing/2014/main" id="{C0EC0E5A-BD73-5906-9071-34221B9112EB}"/>
              </a:ext>
            </a:extLst>
          </p:cNvPr>
          <p:cNvSpPr>
            <a:spLocks noGrp="1"/>
          </p:cNvSpPr>
          <p:nvPr>
            <p:ph idx="1"/>
          </p:nvPr>
        </p:nvSpPr>
        <p:spPr>
          <a:xfrm>
            <a:off x="694800" y="1338697"/>
            <a:ext cx="10800000" cy="4925303"/>
          </a:xfrm>
        </p:spPr>
        <p:txBody>
          <a:bodyPr/>
          <a:lstStyle/>
          <a:p>
            <a:r>
              <a:rPr lang="zh-CN" altLang="zh-CN" dirty="0"/>
              <a:t>风险是对潜在的、未来可能发生损害的一种度量</a:t>
            </a:r>
            <a:endParaRPr lang="en-US" altLang="zh-CN" dirty="0"/>
          </a:p>
          <a:p>
            <a:r>
              <a:rPr lang="zh-CN" altLang="zh-CN" dirty="0"/>
              <a:t>软件风险对软件开发过程及软件产品本身可能造成的伤害或损失。</a:t>
            </a:r>
            <a:endParaRPr lang="zh-CN" altLang="en-US" dirty="0"/>
          </a:p>
          <a:p>
            <a:endParaRPr lang="zh-CN" altLang="en-US" dirty="0"/>
          </a:p>
        </p:txBody>
      </p:sp>
      <p:sp>
        <p:nvSpPr>
          <p:cNvPr id="7" name="文本占位符 6">
            <a:extLst>
              <a:ext uri="{FF2B5EF4-FFF2-40B4-BE49-F238E27FC236}">
                <a16:creationId xmlns:a16="http://schemas.microsoft.com/office/drawing/2014/main" id="{EDDA363B-D62F-ECA3-FF2A-CA594FF77FB3}"/>
              </a:ext>
            </a:extLst>
          </p:cNvPr>
          <p:cNvSpPr>
            <a:spLocks noGrp="1"/>
          </p:cNvSpPr>
          <p:nvPr>
            <p:ph type="body" sz="quarter" idx="10"/>
          </p:nvPr>
        </p:nvSpPr>
        <p:spPr>
          <a:xfrm>
            <a:off x="7071919" y="448519"/>
            <a:ext cx="4424080" cy="338554"/>
          </a:xfrm>
        </p:spPr>
        <p:txBody>
          <a:bodyPr/>
          <a:lstStyle/>
          <a:p>
            <a:r>
              <a:rPr lang="en-US" altLang="zh-CN"/>
              <a:t>Risk</a:t>
            </a:r>
            <a:endParaRPr lang="zh-CN" altLang="en-US"/>
          </a:p>
        </p:txBody>
      </p:sp>
      <p:sp>
        <p:nvSpPr>
          <p:cNvPr id="8" name="文本占位符 7">
            <a:extLst>
              <a:ext uri="{FF2B5EF4-FFF2-40B4-BE49-F238E27FC236}">
                <a16:creationId xmlns:a16="http://schemas.microsoft.com/office/drawing/2014/main" id="{4AB400CB-7FED-BFFE-E93E-DC530B5CF352}"/>
              </a:ext>
            </a:extLst>
          </p:cNvPr>
          <p:cNvSpPr>
            <a:spLocks noGrp="1"/>
          </p:cNvSpPr>
          <p:nvPr>
            <p:ph type="body" sz="quarter" idx="11"/>
          </p:nvPr>
        </p:nvSpPr>
        <p:spPr>
          <a:xfrm>
            <a:off x="694800" y="864000"/>
            <a:ext cx="6203950" cy="400110"/>
          </a:xfrm>
        </p:spPr>
        <p:txBody>
          <a:bodyPr/>
          <a:lstStyle/>
          <a:p>
            <a:r>
              <a:rPr lang="en-US" altLang="zh-CN" dirty="0"/>
              <a:t>1. </a:t>
            </a:r>
            <a:r>
              <a:rPr lang="zh-CN" altLang="en-US" dirty="0"/>
              <a:t>风险定义</a:t>
            </a:r>
          </a:p>
        </p:txBody>
      </p:sp>
      <p:graphicFrame>
        <p:nvGraphicFramePr>
          <p:cNvPr id="13" name="图示 12">
            <a:extLst>
              <a:ext uri="{FF2B5EF4-FFF2-40B4-BE49-F238E27FC236}">
                <a16:creationId xmlns:a16="http://schemas.microsoft.com/office/drawing/2014/main" id="{BF459B8C-642D-034F-BCC1-91B48B18E127}"/>
              </a:ext>
            </a:extLst>
          </p:cNvPr>
          <p:cNvGraphicFramePr/>
          <p:nvPr>
            <p:extLst>
              <p:ext uri="{D42A27DB-BD31-4B8C-83A1-F6EECF244321}">
                <p14:modId xmlns:p14="http://schemas.microsoft.com/office/powerpoint/2010/main" val="3417375189"/>
              </p:ext>
            </p:extLst>
          </p:nvPr>
        </p:nvGraphicFramePr>
        <p:xfrm>
          <a:off x="2386794" y="2648248"/>
          <a:ext cx="7416824" cy="316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73615642"/>
      </p:ext>
    </p:extLst>
  </p:cSld>
  <p:clrMapOvr>
    <a:masterClrMapping/>
  </p:clrMapOvr>
</p:sld>
</file>

<file path=ppt/slides/slide4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F1A405-8053-D546-D28C-96878C1B8B0B}"/>
              </a:ext>
            </a:extLst>
          </p:cNvPr>
          <p:cNvSpPr>
            <a:spLocks noGrp="1"/>
          </p:cNvSpPr>
          <p:nvPr>
            <p:ph type="title"/>
          </p:nvPr>
        </p:nvSpPr>
        <p:spPr>
          <a:xfrm>
            <a:off x="694800" y="360000"/>
            <a:ext cx="6375921" cy="429413"/>
          </a:xfrm>
        </p:spPr>
        <p:txBody>
          <a:bodyPr>
            <a:normAutofit/>
          </a:bodyPr>
          <a:lstStyle/>
          <a:p>
            <a:r>
              <a:rPr lang="en-US" altLang="zh-CN" dirty="0"/>
              <a:t>11.1 </a:t>
            </a:r>
            <a:r>
              <a:rPr lang="zh-CN" altLang="en-US" dirty="0"/>
              <a:t>风险管理</a:t>
            </a:r>
          </a:p>
        </p:txBody>
      </p:sp>
      <p:sp>
        <p:nvSpPr>
          <p:cNvPr id="19" name="内容占位符 18">
            <a:extLst>
              <a:ext uri="{FF2B5EF4-FFF2-40B4-BE49-F238E27FC236}">
                <a16:creationId xmlns:a16="http://schemas.microsoft.com/office/drawing/2014/main" id="{C70F1038-E0D2-405D-C4F4-3DB7F45D8BC9}"/>
              </a:ext>
            </a:extLst>
          </p:cNvPr>
          <p:cNvSpPr>
            <a:spLocks noGrp="1"/>
          </p:cNvSpPr>
          <p:nvPr>
            <p:ph idx="1"/>
          </p:nvPr>
        </p:nvSpPr>
        <p:spPr/>
        <p:txBody>
          <a:bodyPr/>
          <a:lstStyle/>
          <a:p>
            <a:endParaRPr lang="zh-CN" altLang="en-US" dirty="0"/>
          </a:p>
        </p:txBody>
      </p:sp>
      <p:sp>
        <p:nvSpPr>
          <p:cNvPr id="20" name="文本占位符 19">
            <a:extLst>
              <a:ext uri="{FF2B5EF4-FFF2-40B4-BE49-F238E27FC236}">
                <a16:creationId xmlns:a16="http://schemas.microsoft.com/office/drawing/2014/main" id="{92B60238-32DB-9196-2DB6-F25268D0FF81}"/>
              </a:ext>
            </a:extLst>
          </p:cNvPr>
          <p:cNvSpPr>
            <a:spLocks noGrp="1"/>
          </p:cNvSpPr>
          <p:nvPr>
            <p:ph type="body" sz="quarter" idx="10"/>
          </p:nvPr>
        </p:nvSpPr>
        <p:spPr/>
        <p:txBody>
          <a:bodyPr/>
          <a:lstStyle/>
          <a:p>
            <a:endParaRPr lang="zh-CN" altLang="en-US"/>
          </a:p>
        </p:txBody>
      </p:sp>
      <p:sp>
        <p:nvSpPr>
          <p:cNvPr id="12" name="文本占位符 11">
            <a:extLst>
              <a:ext uri="{FF2B5EF4-FFF2-40B4-BE49-F238E27FC236}">
                <a16:creationId xmlns:a16="http://schemas.microsoft.com/office/drawing/2014/main" id="{A0DFD8EC-C550-C2D6-949A-74768A11F924}"/>
              </a:ext>
            </a:extLst>
          </p:cNvPr>
          <p:cNvSpPr>
            <a:spLocks noGrp="1"/>
          </p:cNvSpPr>
          <p:nvPr>
            <p:ph type="body" sz="quarter" idx="11"/>
          </p:nvPr>
        </p:nvSpPr>
        <p:spPr>
          <a:xfrm>
            <a:off x="694800" y="864000"/>
            <a:ext cx="6203950" cy="400110"/>
          </a:xfrm>
        </p:spPr>
        <p:txBody>
          <a:bodyPr/>
          <a:lstStyle/>
          <a:p>
            <a:r>
              <a:rPr lang="en-US" altLang="zh-CN" dirty="0"/>
              <a:t>2. </a:t>
            </a:r>
            <a:r>
              <a:rPr lang="zh-CN" altLang="en-US" dirty="0"/>
              <a:t>风险类型</a:t>
            </a:r>
          </a:p>
        </p:txBody>
      </p:sp>
      <p:sp>
        <p:nvSpPr>
          <p:cNvPr id="26" name="矩形: 圆角 25">
            <a:extLst>
              <a:ext uri="{FF2B5EF4-FFF2-40B4-BE49-F238E27FC236}">
                <a16:creationId xmlns:a16="http://schemas.microsoft.com/office/drawing/2014/main" id="{01EB9A67-1F99-9040-F429-82403580C4DB}"/>
              </a:ext>
            </a:extLst>
          </p:cNvPr>
          <p:cNvSpPr/>
          <p:nvPr/>
        </p:nvSpPr>
        <p:spPr>
          <a:xfrm>
            <a:off x="3056994" y="1669800"/>
            <a:ext cx="5034013" cy="1872000"/>
          </a:xfrm>
          <a:prstGeom prst="roundRect">
            <a:avLst>
              <a:gd name="adj" fmla="val 3299"/>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rIns="1080000" rtlCol="0" anchor="ctr"/>
          <a:lstStyle/>
          <a:p>
            <a:pPr algn="r"/>
            <a:r>
              <a:rPr lang="zh-CN" altLang="en-US" dirty="0">
                <a:solidFill>
                  <a:schemeClr val="tx1"/>
                </a:solidFill>
              </a:rPr>
              <a:t>已知风险 </a:t>
            </a:r>
            <a:r>
              <a:rPr lang="en-US" altLang="zh-CN" dirty="0">
                <a:solidFill>
                  <a:schemeClr val="tx1"/>
                </a:solidFill>
              </a:rPr>
              <a:t>Known known</a:t>
            </a:r>
          </a:p>
          <a:p>
            <a:pPr algn="r"/>
            <a:r>
              <a:rPr lang="zh-CN" altLang="en-US" dirty="0">
                <a:solidFill>
                  <a:schemeClr val="tx1"/>
                </a:solidFill>
              </a:rPr>
              <a:t>可预测风险 </a:t>
            </a:r>
            <a:r>
              <a:rPr lang="en-US" altLang="zh-CN" dirty="0">
                <a:solidFill>
                  <a:schemeClr val="tx1"/>
                </a:solidFill>
              </a:rPr>
              <a:t>Known unknown </a:t>
            </a:r>
          </a:p>
          <a:p>
            <a:pPr algn="r"/>
            <a:r>
              <a:rPr lang="zh-CN" altLang="en-US" dirty="0">
                <a:solidFill>
                  <a:schemeClr val="tx1"/>
                </a:solidFill>
              </a:rPr>
              <a:t>不可预测风险 </a:t>
            </a:r>
            <a:r>
              <a:rPr lang="en-US" altLang="zh-CN" dirty="0">
                <a:solidFill>
                  <a:schemeClr val="tx1"/>
                </a:solidFill>
              </a:rPr>
              <a:t>unknown unknown</a:t>
            </a:r>
            <a:endParaRPr lang="zh-CN" altLang="en-US" dirty="0">
              <a:solidFill>
                <a:schemeClr val="tx1"/>
              </a:solidFill>
            </a:endParaRPr>
          </a:p>
        </p:txBody>
      </p:sp>
      <p:grpSp>
        <p:nvGrpSpPr>
          <p:cNvPr id="5" name="组合 4">
            <a:extLst>
              <a:ext uri="{FF2B5EF4-FFF2-40B4-BE49-F238E27FC236}">
                <a16:creationId xmlns:a16="http://schemas.microsoft.com/office/drawing/2014/main" id="{B02D6B23-AF40-1759-790B-C182A07EF536}"/>
              </a:ext>
            </a:extLst>
          </p:cNvPr>
          <p:cNvGrpSpPr/>
          <p:nvPr/>
        </p:nvGrpSpPr>
        <p:grpSpPr>
          <a:xfrm>
            <a:off x="7119007" y="1633800"/>
            <a:ext cx="1944000" cy="1944000"/>
            <a:chOff x="3056994" y="1633800"/>
            <a:chExt cx="1944000" cy="1944000"/>
          </a:xfrm>
        </p:grpSpPr>
        <p:sp useBgFill="1">
          <p:nvSpPr>
            <p:cNvPr id="24" name="椭圆 23">
              <a:extLst>
                <a:ext uri="{FF2B5EF4-FFF2-40B4-BE49-F238E27FC236}">
                  <a16:creationId xmlns:a16="http://schemas.microsoft.com/office/drawing/2014/main" id="{559E505D-8730-6DEF-DD20-2B1EFC27626B}"/>
                </a:ext>
              </a:extLst>
            </p:cNvPr>
            <p:cNvSpPr>
              <a:spLocks noChangeAspect="1"/>
            </p:cNvSpPr>
            <p:nvPr/>
          </p:nvSpPr>
          <p:spPr>
            <a:xfrm>
              <a:off x="3056994" y="1633800"/>
              <a:ext cx="1944000" cy="19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5FD3B350-E310-8E20-6E47-BD3EC35F32D2}"/>
                </a:ext>
              </a:extLst>
            </p:cNvPr>
            <p:cNvSpPr>
              <a:spLocks noChangeAspect="1"/>
            </p:cNvSpPr>
            <p:nvPr/>
          </p:nvSpPr>
          <p:spPr>
            <a:xfrm>
              <a:off x="3128994" y="1705800"/>
              <a:ext cx="1800000" cy="1800000"/>
            </a:xfrm>
            <a:prstGeom prst="ellipse">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r>
                <a:rPr lang="zh-CN" altLang="en-US" sz="2400" dirty="0"/>
                <a:t>预测</a:t>
              </a:r>
              <a:endParaRPr lang="en-US" altLang="zh-CN" sz="2400" dirty="0"/>
            </a:p>
            <a:p>
              <a:pPr algn="ctr"/>
              <a:r>
                <a:rPr lang="zh-CN" altLang="en-US" sz="2400" dirty="0"/>
                <a:t>角度</a:t>
              </a:r>
            </a:p>
          </p:txBody>
        </p:sp>
      </p:grpSp>
      <p:sp>
        <p:nvSpPr>
          <p:cNvPr id="29" name="矩形: 圆角 28">
            <a:extLst>
              <a:ext uri="{FF2B5EF4-FFF2-40B4-BE49-F238E27FC236}">
                <a16:creationId xmlns:a16="http://schemas.microsoft.com/office/drawing/2014/main" id="{F2EB48A2-5B80-C4A7-E6B3-B9FC4DF544AE}"/>
              </a:ext>
            </a:extLst>
          </p:cNvPr>
          <p:cNvSpPr/>
          <p:nvPr/>
        </p:nvSpPr>
        <p:spPr>
          <a:xfrm>
            <a:off x="4100994" y="3730200"/>
            <a:ext cx="5034013" cy="1872000"/>
          </a:xfrm>
          <a:prstGeom prst="roundRect">
            <a:avLst>
              <a:gd name="adj" fmla="val 3299"/>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0" rtlCol="0" anchor="ctr"/>
          <a:lstStyle/>
          <a:p>
            <a:r>
              <a:rPr lang="zh-CN" altLang="en-US" dirty="0">
                <a:solidFill>
                  <a:schemeClr val="tx1"/>
                </a:solidFill>
              </a:rPr>
              <a:t>商业风险、管理风险、人员风险、技术风险、开发环境风险、客户风险、过程风险、产品规模风险等。</a:t>
            </a:r>
          </a:p>
        </p:txBody>
      </p:sp>
      <p:grpSp>
        <p:nvGrpSpPr>
          <p:cNvPr id="7" name="组合 6">
            <a:extLst>
              <a:ext uri="{FF2B5EF4-FFF2-40B4-BE49-F238E27FC236}">
                <a16:creationId xmlns:a16="http://schemas.microsoft.com/office/drawing/2014/main" id="{93D76BD1-41FE-2A26-5C27-8E7A2B8DE96E}"/>
              </a:ext>
            </a:extLst>
          </p:cNvPr>
          <p:cNvGrpSpPr/>
          <p:nvPr/>
        </p:nvGrpSpPr>
        <p:grpSpPr>
          <a:xfrm>
            <a:off x="3128994" y="3694200"/>
            <a:ext cx="1944000" cy="1944000"/>
            <a:chOff x="3128994" y="3694200"/>
            <a:chExt cx="1944000" cy="1944000"/>
          </a:xfrm>
        </p:grpSpPr>
        <p:sp useBgFill="1">
          <p:nvSpPr>
            <p:cNvPr id="30" name="椭圆 29">
              <a:extLst>
                <a:ext uri="{FF2B5EF4-FFF2-40B4-BE49-F238E27FC236}">
                  <a16:creationId xmlns:a16="http://schemas.microsoft.com/office/drawing/2014/main" id="{4135D35B-7347-C479-FAA8-7243B061AFBC}"/>
                </a:ext>
              </a:extLst>
            </p:cNvPr>
            <p:cNvSpPr>
              <a:spLocks noChangeAspect="1"/>
            </p:cNvSpPr>
            <p:nvPr/>
          </p:nvSpPr>
          <p:spPr>
            <a:xfrm>
              <a:off x="3128994" y="3694200"/>
              <a:ext cx="1944000" cy="19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1" name="椭圆 30">
              <a:extLst>
                <a:ext uri="{FF2B5EF4-FFF2-40B4-BE49-F238E27FC236}">
                  <a16:creationId xmlns:a16="http://schemas.microsoft.com/office/drawing/2014/main" id="{48B1AAA5-F3FC-DDCC-1342-35B361927B07}"/>
                </a:ext>
              </a:extLst>
            </p:cNvPr>
            <p:cNvSpPr>
              <a:spLocks noChangeAspect="1"/>
            </p:cNvSpPr>
            <p:nvPr/>
          </p:nvSpPr>
          <p:spPr>
            <a:xfrm>
              <a:off x="3200994" y="3766200"/>
              <a:ext cx="1800000" cy="1800000"/>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sz="2400" dirty="0"/>
                <a:t>范围</a:t>
              </a:r>
              <a:endParaRPr lang="en-US" altLang="zh-CN" sz="2400" dirty="0"/>
            </a:p>
            <a:p>
              <a:pPr algn="ctr"/>
              <a:r>
                <a:rPr lang="zh-CN" altLang="en-US" sz="2400" dirty="0"/>
                <a:t>角度</a:t>
              </a:r>
            </a:p>
          </p:txBody>
        </p:sp>
      </p:grpSp>
    </p:spTree>
    <p:extLst>
      <p:ext uri="{BB962C8B-B14F-4D97-AF65-F5344CB8AC3E}">
        <p14:creationId xmlns:p14="http://schemas.microsoft.com/office/powerpoint/2010/main" val="3069181260"/>
      </p:ext>
    </p:extLst>
  </p:cSld>
  <p:clrMapOvr>
    <a:masterClrMapping/>
  </p:clrMapOvr>
</p:sld>
</file>

<file path=ppt/slides/slide4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D65BD676-45FE-C85A-3630-4D3E41B2C2F2}"/>
              </a:ext>
            </a:extLst>
          </p:cNvPr>
          <p:cNvSpPr>
            <a:spLocks noGrp="1"/>
          </p:cNvSpPr>
          <p:nvPr>
            <p:ph type="body" sz="quarter" idx="10"/>
          </p:nvPr>
        </p:nvSpPr>
        <p:spPr>
          <a:xfrm>
            <a:off x="3219345" y="1629000"/>
            <a:ext cx="8640000" cy="3600000"/>
          </a:xfrm>
        </p:spPr>
        <p:txBody>
          <a:bodyPr/>
          <a:lstStyle/>
          <a:p>
            <a:r>
              <a:rPr lang="zh-CN" altLang="en-US" dirty="0"/>
              <a:t>需求变更属于什么风险类型</a:t>
            </a:r>
            <a:r>
              <a:rPr lang="en-US" altLang="zh-CN" dirty="0"/>
              <a:t>?</a:t>
            </a:r>
          </a:p>
          <a:p>
            <a:endParaRPr lang="en-US" altLang="zh-CN" dirty="0">
              <a:sym typeface="微软雅黑" panose="020B0503020204020204" pitchFamily="34" charset="-122"/>
            </a:endParaRPr>
          </a:p>
          <a:p>
            <a:r>
              <a:rPr lang="en-US" altLang="zh-CN" dirty="0">
                <a:sym typeface="微软雅黑" panose="020B0503020204020204" pitchFamily="34" charset="-122"/>
              </a:rPr>
              <a:t>A</a:t>
            </a:r>
            <a:r>
              <a:rPr lang="zh-CN" altLang="en-US" dirty="0">
                <a:sym typeface="微软雅黑" panose="020B0503020204020204" pitchFamily="34" charset="-122"/>
              </a:rPr>
              <a:t>：已知风险－</a:t>
            </a:r>
            <a:r>
              <a:rPr lang="en-US" altLang="zh-CN" dirty="0">
                <a:sym typeface="微软雅黑" panose="020B0503020204020204" pitchFamily="34" charset="-122"/>
              </a:rPr>
              <a:t>Known known</a:t>
            </a:r>
          </a:p>
          <a:p>
            <a:r>
              <a:rPr lang="en-US" altLang="zh-CN" dirty="0">
                <a:sym typeface="微软雅黑" panose="020B0503020204020204" pitchFamily="34" charset="-122"/>
              </a:rPr>
              <a:t>B</a:t>
            </a:r>
            <a:r>
              <a:rPr lang="zh-CN" altLang="en-US" dirty="0">
                <a:sym typeface="微软雅黑" panose="020B0503020204020204" pitchFamily="34" charset="-122"/>
              </a:rPr>
              <a:t>：可预测风险</a:t>
            </a:r>
            <a:r>
              <a:rPr lang="en-US" altLang="zh-CN" dirty="0">
                <a:sym typeface="微软雅黑" panose="020B0503020204020204" pitchFamily="34" charset="-122"/>
              </a:rPr>
              <a:t>-Known unknown</a:t>
            </a:r>
          </a:p>
          <a:p>
            <a:r>
              <a:rPr lang="en-US" altLang="zh-CN" dirty="0"/>
              <a:t>C</a:t>
            </a:r>
            <a:r>
              <a:rPr lang="zh-CN" altLang="en-US" dirty="0"/>
              <a:t>：不可预测风险</a:t>
            </a:r>
            <a:r>
              <a:rPr lang="en-US" altLang="zh-CN" dirty="0"/>
              <a:t>-unknown unknown</a:t>
            </a:r>
          </a:p>
        </p:txBody>
      </p:sp>
    </p:spTree>
    <p:extLst>
      <p:ext uri="{BB962C8B-B14F-4D97-AF65-F5344CB8AC3E}">
        <p14:creationId xmlns:p14="http://schemas.microsoft.com/office/powerpoint/2010/main" val="1029724204"/>
      </p:ext>
    </p:extLst>
  </p:cSld>
  <p:clrMapOvr>
    <a:masterClrMapping/>
  </p:clrMapOvr>
</p:sld>
</file>

<file path=ppt/slides/slide4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66E777-684F-CAC8-57C7-9223DF2BA9E1}"/>
              </a:ext>
            </a:extLst>
          </p:cNvPr>
          <p:cNvSpPr>
            <a:spLocks noGrp="1"/>
          </p:cNvSpPr>
          <p:nvPr>
            <p:ph type="title"/>
          </p:nvPr>
        </p:nvSpPr>
        <p:spPr>
          <a:xfrm>
            <a:off x="792000" y="360000"/>
            <a:ext cx="6375921" cy="429413"/>
          </a:xfrm>
        </p:spPr>
        <p:txBody>
          <a:bodyPr>
            <a:normAutofit/>
          </a:bodyPr>
          <a:lstStyle/>
          <a:p>
            <a:r>
              <a:rPr lang="zh-CN" altLang="en-US"/>
              <a:t>风险曝光度 </a:t>
            </a:r>
            <a:r>
              <a:rPr lang="en-US" altLang="zh-CN"/>
              <a:t>Risk Exposure</a:t>
            </a:r>
            <a:endParaRPr lang="zh-CN" altLang="en-US"/>
          </a:p>
        </p:txBody>
      </p:sp>
      <p:sp>
        <p:nvSpPr>
          <p:cNvPr id="3" name="内容占位符 2">
            <a:extLst>
              <a:ext uri="{FF2B5EF4-FFF2-40B4-BE49-F238E27FC236}">
                <a16:creationId xmlns:a16="http://schemas.microsoft.com/office/drawing/2014/main" id="{4A547EE7-1307-FF8C-9F17-320997923783}"/>
              </a:ext>
            </a:extLst>
          </p:cNvPr>
          <p:cNvSpPr>
            <a:spLocks noGrp="1"/>
          </p:cNvSpPr>
          <p:nvPr>
            <p:ph idx="1"/>
          </p:nvPr>
        </p:nvSpPr>
        <p:spPr>
          <a:xfrm>
            <a:off x="696000" y="864000"/>
            <a:ext cx="10800000" cy="5400000"/>
          </a:xfrm>
        </p:spPr>
        <p:txBody>
          <a:bodyPr/>
          <a:lstStyle/>
          <a:p>
            <a:r>
              <a:rPr lang="zh-CN" altLang="en-US"/>
              <a:t>风险概率*可能的损失</a:t>
            </a:r>
          </a:p>
          <a:p>
            <a:r>
              <a:rPr lang="zh-CN" altLang="en-US"/>
              <a:t>管理风险可能会带来新的风险</a:t>
            </a:r>
          </a:p>
          <a:p>
            <a:r>
              <a:rPr lang="zh-CN" altLang="en-US"/>
              <a:t>风险是客观存在的，不可能完全避免</a:t>
            </a:r>
          </a:p>
          <a:p>
            <a:r>
              <a:rPr lang="zh-CN" altLang="en-US"/>
              <a:t>风险管理应贯穿整个项目管理过程</a:t>
            </a:r>
          </a:p>
          <a:p>
            <a:endParaRPr lang="zh-CN" altLang="en-US"/>
          </a:p>
        </p:txBody>
      </p:sp>
      <p:sp>
        <p:nvSpPr>
          <p:cNvPr id="7" name="文本占位符 6">
            <a:extLst>
              <a:ext uri="{FF2B5EF4-FFF2-40B4-BE49-F238E27FC236}">
                <a16:creationId xmlns:a16="http://schemas.microsoft.com/office/drawing/2014/main" id="{2E8DE63B-7CF4-4C23-BCE7-A68DA7483E79}"/>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4008216162"/>
      </p:ext>
    </p:extLst>
  </p:cSld>
  <p:clrMapOvr>
    <a:masterClrMapping/>
  </p:clrMapOvr>
</p:sld>
</file>

<file path=ppt/slides/slide4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04AE96-883C-AC4C-5B52-DC85348D62F1}"/>
              </a:ext>
            </a:extLst>
          </p:cNvPr>
          <p:cNvSpPr>
            <a:spLocks noGrp="1"/>
          </p:cNvSpPr>
          <p:nvPr>
            <p:ph type="title"/>
          </p:nvPr>
        </p:nvSpPr>
        <p:spPr>
          <a:xfrm>
            <a:off x="694800" y="360000"/>
            <a:ext cx="6375921" cy="429413"/>
          </a:xfrm>
        </p:spPr>
        <p:txBody>
          <a:bodyPr/>
          <a:lstStyle/>
          <a:p>
            <a:r>
              <a:rPr lang="en-US" altLang="zh-CN" dirty="0"/>
              <a:t>11.1 </a:t>
            </a:r>
            <a:r>
              <a:rPr lang="zh-CN" altLang="en-US" dirty="0"/>
              <a:t>风险管理</a:t>
            </a:r>
          </a:p>
        </p:txBody>
      </p:sp>
      <p:sp>
        <p:nvSpPr>
          <p:cNvPr id="19" name="内容占位符 18">
            <a:extLst>
              <a:ext uri="{FF2B5EF4-FFF2-40B4-BE49-F238E27FC236}">
                <a16:creationId xmlns:a16="http://schemas.microsoft.com/office/drawing/2014/main" id="{9E6DE7DA-FC0F-98D5-6A5C-6F2B715EECA1}"/>
              </a:ext>
            </a:extLst>
          </p:cNvPr>
          <p:cNvSpPr>
            <a:spLocks noGrp="1"/>
          </p:cNvSpPr>
          <p:nvPr>
            <p:ph idx="1"/>
          </p:nvPr>
        </p:nvSpPr>
        <p:spPr/>
        <p:txBody>
          <a:bodyPr/>
          <a:lstStyle/>
          <a:p>
            <a:endParaRPr lang="zh-CN" altLang="en-US"/>
          </a:p>
        </p:txBody>
      </p:sp>
      <p:sp>
        <p:nvSpPr>
          <p:cNvPr id="20" name="文本占位符 19">
            <a:extLst>
              <a:ext uri="{FF2B5EF4-FFF2-40B4-BE49-F238E27FC236}">
                <a16:creationId xmlns:a16="http://schemas.microsoft.com/office/drawing/2014/main" id="{0352EEA6-99C4-AC0B-33A7-816AF650A58C}"/>
              </a:ext>
            </a:extLst>
          </p:cNvPr>
          <p:cNvSpPr>
            <a:spLocks noGrp="1"/>
          </p:cNvSpPr>
          <p:nvPr>
            <p:ph type="body" sz="quarter" idx="10"/>
          </p:nvPr>
        </p:nvSpPr>
        <p:spPr/>
        <p:txBody>
          <a:bodyPr/>
          <a:lstStyle/>
          <a:p>
            <a:endParaRPr lang="zh-CN" altLang="en-US"/>
          </a:p>
        </p:txBody>
      </p:sp>
      <p:sp>
        <p:nvSpPr>
          <p:cNvPr id="9" name="文本占位符 8">
            <a:extLst>
              <a:ext uri="{FF2B5EF4-FFF2-40B4-BE49-F238E27FC236}">
                <a16:creationId xmlns:a16="http://schemas.microsoft.com/office/drawing/2014/main" id="{7780E0B3-5BCA-C224-8460-F298DFC12BA2}"/>
              </a:ext>
            </a:extLst>
          </p:cNvPr>
          <p:cNvSpPr>
            <a:spLocks noGrp="1"/>
          </p:cNvSpPr>
          <p:nvPr>
            <p:ph type="body" sz="quarter" idx="11"/>
          </p:nvPr>
        </p:nvSpPr>
        <p:spPr>
          <a:xfrm>
            <a:off x="694800" y="864000"/>
            <a:ext cx="6203950" cy="400110"/>
          </a:xfrm>
        </p:spPr>
        <p:txBody>
          <a:bodyPr/>
          <a:lstStyle/>
          <a:p>
            <a:r>
              <a:rPr lang="en-US" altLang="zh-CN" dirty="0"/>
              <a:t>3. </a:t>
            </a:r>
            <a:r>
              <a:rPr lang="zh-CN" altLang="en-US" dirty="0"/>
              <a:t>风险管理</a:t>
            </a:r>
            <a:r>
              <a:rPr lang="en-US" altLang="zh-CN" dirty="0"/>
              <a:t>4</a:t>
            </a:r>
            <a:r>
              <a:rPr lang="zh-CN" altLang="en-US" dirty="0"/>
              <a:t>个过程</a:t>
            </a:r>
          </a:p>
        </p:txBody>
      </p:sp>
      <p:sp>
        <p:nvSpPr>
          <p:cNvPr id="5" name="Text Box 2052">
            <a:extLst>
              <a:ext uri="{FF2B5EF4-FFF2-40B4-BE49-F238E27FC236}">
                <a16:creationId xmlns:a16="http://schemas.microsoft.com/office/drawing/2014/main" id="{CA1D709B-CDCF-07F3-9E26-06DD038859A6}"/>
              </a:ext>
            </a:extLst>
          </p:cNvPr>
          <p:cNvSpPr txBox="1">
            <a:spLocks noChangeArrowheads="1"/>
          </p:cNvSpPr>
          <p:nvPr/>
        </p:nvSpPr>
        <p:spPr bwMode="auto">
          <a:xfrm>
            <a:off x="1376363" y="1808588"/>
            <a:ext cx="1905000" cy="464331"/>
          </a:xfrm>
          <a:prstGeom prst="rect">
            <a:avLst/>
          </a:prstGeom>
          <a:ln>
            <a:headEnd type="none" w="sm" len="sm"/>
            <a:tailEnd type="none" w="med" len="lg"/>
          </a:ln>
        </p:spPr>
        <p:style>
          <a:lnRef idx="0">
            <a:schemeClr val="accent6"/>
          </a:lnRef>
          <a:fillRef idx="3">
            <a:schemeClr val="accent6"/>
          </a:fillRef>
          <a:effectRef idx="3">
            <a:schemeClr val="accent6"/>
          </a:effectRef>
          <a:fontRef idx="minor">
            <a:schemeClr val="lt1"/>
          </a:fontRef>
        </p:style>
        <p:txBody>
          <a:bodyPr tIns="108000" bIns="108000" anchor="ctr" anchorCtr="0">
            <a:spAutoFit/>
          </a:bodyPr>
          <a:lstStyle>
            <a:lvl1pPr eaLnBrk="0" hangingPunct="0">
              <a:defRPr kumimoji="1" sz="4800">
                <a:solidFill>
                  <a:schemeClr val="tx1"/>
                </a:solidFill>
                <a:latin typeface="Arial Narrow" pitchFamily="34" charset="0"/>
                <a:ea typeface="宋体" pitchFamily="2" charset="-122"/>
              </a:defRPr>
            </a:lvl1pPr>
            <a:lvl2pPr marL="742950" indent="-285750" eaLnBrk="0" hangingPunct="0">
              <a:defRPr kumimoji="1" sz="4800">
                <a:solidFill>
                  <a:schemeClr val="tx1"/>
                </a:solidFill>
                <a:latin typeface="Arial Narrow" pitchFamily="34" charset="0"/>
                <a:ea typeface="宋体" pitchFamily="2" charset="-122"/>
              </a:defRPr>
            </a:lvl2pPr>
            <a:lvl3pPr marL="1143000" indent="-228600" eaLnBrk="0" hangingPunct="0">
              <a:defRPr kumimoji="1" sz="4800">
                <a:solidFill>
                  <a:schemeClr val="tx1"/>
                </a:solidFill>
                <a:latin typeface="Arial Narrow" pitchFamily="34" charset="0"/>
                <a:ea typeface="宋体" pitchFamily="2" charset="-122"/>
              </a:defRPr>
            </a:lvl3pPr>
            <a:lvl4pPr marL="1600200" indent="-228600" eaLnBrk="0" hangingPunct="0">
              <a:defRPr kumimoji="1" sz="4800">
                <a:solidFill>
                  <a:schemeClr val="tx1"/>
                </a:solidFill>
                <a:latin typeface="Arial Narrow" pitchFamily="34" charset="0"/>
                <a:ea typeface="宋体" pitchFamily="2" charset="-122"/>
              </a:defRPr>
            </a:lvl4pPr>
            <a:lvl5pPr marL="2057400" indent="-228600" eaLnBrk="0" hangingPunct="0">
              <a:defRPr kumimoji="1" sz="4800">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kumimoji="1" sz="4800">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kumimoji="1" sz="4800">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kumimoji="1" sz="4800">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kumimoji="1" sz="4800">
                <a:solidFill>
                  <a:schemeClr val="tx1"/>
                </a:solidFill>
                <a:latin typeface="Arial Narrow" pitchFamily="34" charset="0"/>
                <a:ea typeface="宋体" pitchFamily="2" charset="-122"/>
              </a:defRPr>
            </a:lvl9pPr>
          </a:lstStyle>
          <a:p>
            <a:pPr algn="ctr" eaLnBrk="1" hangingPunct="1">
              <a:defRPr/>
            </a:pPr>
            <a:r>
              <a:rPr lang="zh-CN" altLang="en-US" sz="1600">
                <a:solidFill>
                  <a:schemeClr val="bg1"/>
                </a:solidFill>
                <a:latin typeface="+mj-lt"/>
                <a:ea typeface="+mj-ea"/>
              </a:rPr>
              <a:t>风险识别</a:t>
            </a:r>
          </a:p>
        </p:txBody>
      </p:sp>
      <p:sp>
        <p:nvSpPr>
          <p:cNvPr id="6" name="Text Box 2053">
            <a:extLst>
              <a:ext uri="{FF2B5EF4-FFF2-40B4-BE49-F238E27FC236}">
                <a16:creationId xmlns:a16="http://schemas.microsoft.com/office/drawing/2014/main" id="{E2257356-D1E9-BF5D-191C-5EF6C4999A39}"/>
              </a:ext>
            </a:extLst>
          </p:cNvPr>
          <p:cNvSpPr txBox="1">
            <a:spLocks noChangeArrowheads="1"/>
          </p:cNvSpPr>
          <p:nvPr/>
        </p:nvSpPr>
        <p:spPr bwMode="auto">
          <a:xfrm>
            <a:off x="3871913" y="2521524"/>
            <a:ext cx="1905000" cy="464331"/>
          </a:xfrm>
          <a:prstGeom prst="rect">
            <a:avLst/>
          </a:prstGeom>
          <a:ln>
            <a:headEnd type="none" w="sm" len="sm"/>
            <a:tailEnd type="none" w="med" len="lg"/>
          </a:ln>
        </p:spPr>
        <p:style>
          <a:lnRef idx="0">
            <a:schemeClr val="accent5"/>
          </a:lnRef>
          <a:fillRef idx="3">
            <a:schemeClr val="accent5"/>
          </a:fillRef>
          <a:effectRef idx="3">
            <a:schemeClr val="accent5"/>
          </a:effectRef>
          <a:fontRef idx="minor">
            <a:schemeClr val="lt1"/>
          </a:fontRef>
        </p:style>
        <p:txBody>
          <a:bodyPr tIns="108000" bIns="108000" anchor="ctr" anchorCtr="0">
            <a:spAutoFit/>
          </a:bodyPr>
          <a:lstStyle>
            <a:lvl1pPr eaLnBrk="0" hangingPunct="0">
              <a:defRPr kumimoji="1" sz="4800">
                <a:solidFill>
                  <a:schemeClr val="tx1"/>
                </a:solidFill>
                <a:latin typeface="Arial Narrow" pitchFamily="34" charset="0"/>
                <a:ea typeface="宋体" pitchFamily="2" charset="-122"/>
              </a:defRPr>
            </a:lvl1pPr>
            <a:lvl2pPr marL="742950" indent="-285750" eaLnBrk="0" hangingPunct="0">
              <a:defRPr kumimoji="1" sz="4800">
                <a:solidFill>
                  <a:schemeClr val="tx1"/>
                </a:solidFill>
                <a:latin typeface="Arial Narrow" pitchFamily="34" charset="0"/>
                <a:ea typeface="宋体" pitchFamily="2" charset="-122"/>
              </a:defRPr>
            </a:lvl2pPr>
            <a:lvl3pPr marL="1143000" indent="-228600" eaLnBrk="0" hangingPunct="0">
              <a:defRPr kumimoji="1" sz="4800">
                <a:solidFill>
                  <a:schemeClr val="tx1"/>
                </a:solidFill>
                <a:latin typeface="Arial Narrow" pitchFamily="34" charset="0"/>
                <a:ea typeface="宋体" pitchFamily="2" charset="-122"/>
              </a:defRPr>
            </a:lvl3pPr>
            <a:lvl4pPr marL="1600200" indent="-228600" eaLnBrk="0" hangingPunct="0">
              <a:defRPr kumimoji="1" sz="4800">
                <a:solidFill>
                  <a:schemeClr val="tx1"/>
                </a:solidFill>
                <a:latin typeface="Arial Narrow" pitchFamily="34" charset="0"/>
                <a:ea typeface="宋体" pitchFamily="2" charset="-122"/>
              </a:defRPr>
            </a:lvl4pPr>
            <a:lvl5pPr marL="2057400" indent="-228600" eaLnBrk="0" hangingPunct="0">
              <a:defRPr kumimoji="1" sz="4800">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kumimoji="1" sz="4800">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kumimoji="1" sz="4800">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kumimoji="1" sz="4800">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kumimoji="1" sz="4800">
                <a:solidFill>
                  <a:schemeClr val="tx1"/>
                </a:solidFill>
                <a:latin typeface="Arial Narrow" pitchFamily="34" charset="0"/>
                <a:ea typeface="宋体" pitchFamily="2" charset="-122"/>
              </a:defRPr>
            </a:lvl9pPr>
          </a:lstStyle>
          <a:p>
            <a:pPr algn="ctr" eaLnBrk="1" hangingPunct="1">
              <a:defRPr/>
            </a:pPr>
            <a:r>
              <a:rPr lang="zh-CN" altLang="en-US" sz="1600">
                <a:solidFill>
                  <a:schemeClr val="bg1"/>
                </a:solidFill>
                <a:latin typeface="+mj-lt"/>
                <a:ea typeface="+mj-ea"/>
              </a:rPr>
              <a:t>风险评估</a:t>
            </a:r>
          </a:p>
        </p:txBody>
      </p:sp>
      <p:sp>
        <p:nvSpPr>
          <p:cNvPr id="7" name="Text Box 2054">
            <a:extLst>
              <a:ext uri="{FF2B5EF4-FFF2-40B4-BE49-F238E27FC236}">
                <a16:creationId xmlns:a16="http://schemas.microsoft.com/office/drawing/2014/main" id="{AC792638-07F2-9765-3355-DED555C83E5A}"/>
              </a:ext>
            </a:extLst>
          </p:cNvPr>
          <p:cNvSpPr txBox="1">
            <a:spLocks noChangeArrowheads="1"/>
          </p:cNvSpPr>
          <p:nvPr/>
        </p:nvSpPr>
        <p:spPr bwMode="auto">
          <a:xfrm>
            <a:off x="6367463" y="3234460"/>
            <a:ext cx="1905000" cy="464331"/>
          </a:xfrm>
          <a:prstGeom prst="rect">
            <a:avLst/>
          </a:prstGeom>
          <a:ln>
            <a:headEnd type="none" w="sm" len="sm"/>
            <a:tailEnd type="none" w="med" len="lg"/>
          </a:ln>
        </p:spPr>
        <p:style>
          <a:lnRef idx="0">
            <a:schemeClr val="accent4"/>
          </a:lnRef>
          <a:fillRef idx="3">
            <a:schemeClr val="accent4"/>
          </a:fillRef>
          <a:effectRef idx="3">
            <a:schemeClr val="accent4"/>
          </a:effectRef>
          <a:fontRef idx="minor">
            <a:schemeClr val="lt1"/>
          </a:fontRef>
        </p:style>
        <p:txBody>
          <a:bodyPr tIns="108000" bIns="108000" anchor="ctr" anchorCtr="0">
            <a:spAutoFit/>
          </a:bodyPr>
          <a:lstStyle>
            <a:lvl1pPr eaLnBrk="0" hangingPunct="0">
              <a:defRPr kumimoji="1" sz="4800">
                <a:solidFill>
                  <a:schemeClr val="tx1"/>
                </a:solidFill>
                <a:latin typeface="Arial Narrow" pitchFamily="34" charset="0"/>
                <a:ea typeface="宋体" pitchFamily="2" charset="-122"/>
              </a:defRPr>
            </a:lvl1pPr>
            <a:lvl2pPr marL="742950" indent="-285750" eaLnBrk="0" hangingPunct="0">
              <a:defRPr kumimoji="1" sz="4800">
                <a:solidFill>
                  <a:schemeClr val="tx1"/>
                </a:solidFill>
                <a:latin typeface="Arial Narrow" pitchFamily="34" charset="0"/>
                <a:ea typeface="宋体" pitchFamily="2" charset="-122"/>
              </a:defRPr>
            </a:lvl2pPr>
            <a:lvl3pPr marL="1143000" indent="-228600" eaLnBrk="0" hangingPunct="0">
              <a:defRPr kumimoji="1" sz="4800">
                <a:solidFill>
                  <a:schemeClr val="tx1"/>
                </a:solidFill>
                <a:latin typeface="Arial Narrow" pitchFamily="34" charset="0"/>
                <a:ea typeface="宋体" pitchFamily="2" charset="-122"/>
              </a:defRPr>
            </a:lvl3pPr>
            <a:lvl4pPr marL="1600200" indent="-228600" eaLnBrk="0" hangingPunct="0">
              <a:defRPr kumimoji="1" sz="4800">
                <a:solidFill>
                  <a:schemeClr val="tx1"/>
                </a:solidFill>
                <a:latin typeface="Arial Narrow" pitchFamily="34" charset="0"/>
                <a:ea typeface="宋体" pitchFamily="2" charset="-122"/>
              </a:defRPr>
            </a:lvl4pPr>
            <a:lvl5pPr marL="2057400" indent="-228600" eaLnBrk="0" hangingPunct="0">
              <a:defRPr kumimoji="1" sz="4800">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kumimoji="1" sz="4800">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kumimoji="1" sz="4800">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kumimoji="1" sz="4800">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kumimoji="1" sz="4800">
                <a:solidFill>
                  <a:schemeClr val="tx1"/>
                </a:solidFill>
                <a:latin typeface="Arial Narrow" pitchFamily="34" charset="0"/>
                <a:ea typeface="宋体" pitchFamily="2" charset="-122"/>
              </a:defRPr>
            </a:lvl9pPr>
          </a:lstStyle>
          <a:p>
            <a:pPr algn="ctr" eaLnBrk="1" hangingPunct="1">
              <a:defRPr/>
            </a:pPr>
            <a:r>
              <a:rPr lang="zh-CN" altLang="en-US" sz="1600">
                <a:solidFill>
                  <a:schemeClr val="bg1"/>
                </a:solidFill>
                <a:latin typeface="+mj-lt"/>
                <a:ea typeface="+mj-ea"/>
              </a:rPr>
              <a:t>风险规划</a:t>
            </a:r>
          </a:p>
        </p:txBody>
      </p:sp>
      <p:sp>
        <p:nvSpPr>
          <p:cNvPr id="8" name="Text Box 2055">
            <a:extLst>
              <a:ext uri="{FF2B5EF4-FFF2-40B4-BE49-F238E27FC236}">
                <a16:creationId xmlns:a16="http://schemas.microsoft.com/office/drawing/2014/main" id="{7D1DD01A-9198-EFCF-7C69-D78D1E069B05}"/>
              </a:ext>
            </a:extLst>
          </p:cNvPr>
          <p:cNvSpPr txBox="1">
            <a:spLocks noChangeArrowheads="1"/>
          </p:cNvSpPr>
          <p:nvPr/>
        </p:nvSpPr>
        <p:spPr bwMode="auto">
          <a:xfrm>
            <a:off x="8863013" y="3947396"/>
            <a:ext cx="1905000" cy="464331"/>
          </a:xfrm>
          <a:prstGeom prst="rect">
            <a:avLst/>
          </a:prstGeom>
          <a:ln>
            <a:headEnd type="none" w="sm" len="sm"/>
            <a:tailEnd type="none" w="med" len="lg"/>
          </a:ln>
        </p:spPr>
        <p:style>
          <a:lnRef idx="0">
            <a:schemeClr val="accent2"/>
          </a:lnRef>
          <a:fillRef idx="3">
            <a:schemeClr val="accent2"/>
          </a:fillRef>
          <a:effectRef idx="3">
            <a:schemeClr val="accent2"/>
          </a:effectRef>
          <a:fontRef idx="minor">
            <a:schemeClr val="lt1"/>
          </a:fontRef>
        </p:style>
        <p:txBody>
          <a:bodyPr tIns="108000" bIns="108000" anchor="ctr" anchorCtr="0">
            <a:spAutoFit/>
          </a:bodyPr>
          <a:lstStyle>
            <a:lvl1pPr eaLnBrk="0" hangingPunct="0">
              <a:defRPr kumimoji="1" sz="4800">
                <a:solidFill>
                  <a:schemeClr val="tx1"/>
                </a:solidFill>
                <a:latin typeface="Arial Narrow" pitchFamily="34" charset="0"/>
                <a:ea typeface="宋体" pitchFamily="2" charset="-122"/>
              </a:defRPr>
            </a:lvl1pPr>
            <a:lvl2pPr marL="742950" indent="-285750" eaLnBrk="0" hangingPunct="0">
              <a:defRPr kumimoji="1" sz="4800">
                <a:solidFill>
                  <a:schemeClr val="tx1"/>
                </a:solidFill>
                <a:latin typeface="Arial Narrow" pitchFamily="34" charset="0"/>
                <a:ea typeface="宋体" pitchFamily="2" charset="-122"/>
              </a:defRPr>
            </a:lvl2pPr>
            <a:lvl3pPr marL="1143000" indent="-228600" eaLnBrk="0" hangingPunct="0">
              <a:defRPr kumimoji="1" sz="4800">
                <a:solidFill>
                  <a:schemeClr val="tx1"/>
                </a:solidFill>
                <a:latin typeface="Arial Narrow" pitchFamily="34" charset="0"/>
                <a:ea typeface="宋体" pitchFamily="2" charset="-122"/>
              </a:defRPr>
            </a:lvl3pPr>
            <a:lvl4pPr marL="1600200" indent="-228600" eaLnBrk="0" hangingPunct="0">
              <a:defRPr kumimoji="1" sz="4800">
                <a:solidFill>
                  <a:schemeClr val="tx1"/>
                </a:solidFill>
                <a:latin typeface="Arial Narrow" pitchFamily="34" charset="0"/>
                <a:ea typeface="宋体" pitchFamily="2" charset="-122"/>
              </a:defRPr>
            </a:lvl4pPr>
            <a:lvl5pPr marL="2057400" indent="-228600" eaLnBrk="0" hangingPunct="0">
              <a:defRPr kumimoji="1" sz="4800">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kumimoji="1" sz="4800">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kumimoji="1" sz="4800">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kumimoji="1" sz="4800">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kumimoji="1" sz="4800">
                <a:solidFill>
                  <a:schemeClr val="tx1"/>
                </a:solidFill>
                <a:latin typeface="Arial Narrow" pitchFamily="34" charset="0"/>
                <a:ea typeface="宋体" pitchFamily="2" charset="-122"/>
              </a:defRPr>
            </a:lvl9pPr>
          </a:lstStyle>
          <a:p>
            <a:pPr algn="ctr" eaLnBrk="1" hangingPunct="1">
              <a:defRPr/>
            </a:pPr>
            <a:r>
              <a:rPr lang="zh-CN" altLang="en-US" sz="1600" dirty="0">
                <a:solidFill>
                  <a:schemeClr val="bg1"/>
                </a:solidFill>
                <a:latin typeface="+mj-lt"/>
                <a:ea typeface="+mj-ea"/>
              </a:rPr>
              <a:t>风险控制</a:t>
            </a:r>
          </a:p>
        </p:txBody>
      </p:sp>
      <p:cxnSp>
        <p:nvCxnSpPr>
          <p:cNvPr id="10" name="连接符: 肘形 9">
            <a:extLst>
              <a:ext uri="{FF2B5EF4-FFF2-40B4-BE49-F238E27FC236}">
                <a16:creationId xmlns:a16="http://schemas.microsoft.com/office/drawing/2014/main" id="{F99466C6-96A9-6206-226E-A57C8ADB4FCC}"/>
              </a:ext>
            </a:extLst>
          </p:cNvPr>
          <p:cNvCxnSpPr>
            <a:cxnSpLocks/>
            <a:stCxn id="5" idx="3"/>
            <a:endCxn id="6" idx="0"/>
          </p:cNvCxnSpPr>
          <p:nvPr/>
        </p:nvCxnSpPr>
        <p:spPr>
          <a:xfrm>
            <a:off x="3281363" y="2040754"/>
            <a:ext cx="1543050" cy="480770"/>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连接符: 肘形 11">
            <a:extLst>
              <a:ext uri="{FF2B5EF4-FFF2-40B4-BE49-F238E27FC236}">
                <a16:creationId xmlns:a16="http://schemas.microsoft.com/office/drawing/2014/main" id="{1DF7859D-94F7-EE56-DA38-967BA5771DA5}"/>
              </a:ext>
            </a:extLst>
          </p:cNvPr>
          <p:cNvCxnSpPr>
            <a:stCxn id="6" idx="3"/>
            <a:endCxn id="7" idx="0"/>
          </p:cNvCxnSpPr>
          <p:nvPr/>
        </p:nvCxnSpPr>
        <p:spPr>
          <a:xfrm>
            <a:off x="5776913" y="2753690"/>
            <a:ext cx="1543050" cy="480770"/>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连接符: 肘形 13">
            <a:extLst>
              <a:ext uri="{FF2B5EF4-FFF2-40B4-BE49-F238E27FC236}">
                <a16:creationId xmlns:a16="http://schemas.microsoft.com/office/drawing/2014/main" id="{27EB518E-9970-9347-2919-FBDA91345FD2}"/>
              </a:ext>
            </a:extLst>
          </p:cNvPr>
          <p:cNvCxnSpPr>
            <a:stCxn id="7" idx="3"/>
            <a:endCxn id="8" idx="0"/>
          </p:cNvCxnSpPr>
          <p:nvPr/>
        </p:nvCxnSpPr>
        <p:spPr>
          <a:xfrm>
            <a:off x="8272463" y="3466626"/>
            <a:ext cx="1543050" cy="480770"/>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4A281CEB-F12C-060F-5063-139F0AB94B06}"/>
              </a:ext>
            </a:extLst>
          </p:cNvPr>
          <p:cNvSpPr txBox="1"/>
          <p:nvPr/>
        </p:nvSpPr>
        <p:spPr>
          <a:xfrm>
            <a:off x="1376363" y="2519640"/>
            <a:ext cx="1905000" cy="1323439"/>
          </a:xfrm>
          <a:prstGeom prst="rect">
            <a:avLst/>
          </a:prstGeom>
          <a:noFill/>
        </p:spPr>
        <p:txBody>
          <a:bodyPr wrap="square" rtlCol="0">
            <a:spAutoFit/>
          </a:bodyPr>
          <a:lstStyle/>
          <a:p>
            <a:pPr algn="just">
              <a:defRPr/>
            </a:pPr>
            <a:r>
              <a:rPr lang="zh-CN" altLang="zh-CN" sz="1600" dirty="0"/>
              <a:t>风险识别是识别</a:t>
            </a:r>
            <a:r>
              <a:rPr lang="zh-CN" altLang="en-US" sz="1600" dirty="0"/>
              <a:t>风险事件</a:t>
            </a:r>
            <a:r>
              <a:rPr lang="en-US" altLang="zh-CN" sz="1600" dirty="0"/>
              <a:t>,</a:t>
            </a:r>
            <a:r>
              <a:rPr lang="zh-CN" altLang="en-US" sz="1600" dirty="0"/>
              <a:t> </a:t>
            </a:r>
            <a:r>
              <a:rPr lang="zh-CN" altLang="zh-CN" sz="1600" dirty="0"/>
              <a:t>系统化地确定对项目计划的威胁，识别已知和可预测的风险</a:t>
            </a:r>
          </a:p>
        </p:txBody>
      </p:sp>
      <p:sp>
        <p:nvSpPr>
          <p:cNvPr id="34" name="文本框 33">
            <a:extLst>
              <a:ext uri="{FF2B5EF4-FFF2-40B4-BE49-F238E27FC236}">
                <a16:creationId xmlns:a16="http://schemas.microsoft.com/office/drawing/2014/main" id="{7A7EC45A-B58B-BED0-DE49-93F7241C61B0}"/>
              </a:ext>
            </a:extLst>
          </p:cNvPr>
          <p:cNvSpPr txBox="1"/>
          <p:nvPr/>
        </p:nvSpPr>
        <p:spPr>
          <a:xfrm>
            <a:off x="3871913" y="3232123"/>
            <a:ext cx="1905000" cy="1077218"/>
          </a:xfrm>
          <a:prstGeom prst="rect">
            <a:avLst/>
          </a:prstGeom>
          <a:noFill/>
        </p:spPr>
        <p:txBody>
          <a:bodyPr wrap="square" rtlCol="0">
            <a:spAutoFit/>
          </a:bodyPr>
          <a:lstStyle/>
          <a:p>
            <a:pPr algn="just"/>
            <a:r>
              <a:rPr lang="zh-CN" altLang="en-US" sz="1600" dirty="0"/>
              <a:t>对风险事件发生概率的评估，对项目风险影响的评估，给出项目风险排序</a:t>
            </a:r>
          </a:p>
        </p:txBody>
      </p:sp>
      <p:sp>
        <p:nvSpPr>
          <p:cNvPr id="37" name="文本框 36">
            <a:extLst>
              <a:ext uri="{FF2B5EF4-FFF2-40B4-BE49-F238E27FC236}">
                <a16:creationId xmlns:a16="http://schemas.microsoft.com/office/drawing/2014/main" id="{BD84CE6B-9800-073E-EF10-642297E75D50}"/>
              </a:ext>
            </a:extLst>
          </p:cNvPr>
          <p:cNvSpPr txBox="1"/>
          <p:nvPr/>
        </p:nvSpPr>
        <p:spPr>
          <a:xfrm>
            <a:off x="6367463" y="3947396"/>
            <a:ext cx="1905000" cy="1569660"/>
          </a:xfrm>
          <a:prstGeom prst="rect">
            <a:avLst/>
          </a:prstGeom>
          <a:noFill/>
        </p:spPr>
        <p:txBody>
          <a:bodyPr wrap="square" rtlCol="0">
            <a:spAutoFit/>
          </a:bodyPr>
          <a:lstStyle/>
          <a:p>
            <a:pPr algn="just"/>
            <a:r>
              <a:rPr lang="zh-CN" altLang="en-US" sz="1600" dirty="0"/>
              <a:t>针对风险分析的结果，制定一定的行动和策略来对付、减少、以至于消灭风险事件造成的影响</a:t>
            </a:r>
          </a:p>
        </p:txBody>
      </p:sp>
      <p:sp>
        <p:nvSpPr>
          <p:cNvPr id="39" name="文本框 38">
            <a:extLst>
              <a:ext uri="{FF2B5EF4-FFF2-40B4-BE49-F238E27FC236}">
                <a16:creationId xmlns:a16="http://schemas.microsoft.com/office/drawing/2014/main" id="{4DCF54A2-4A88-BB07-C699-181DF977B9E5}"/>
              </a:ext>
            </a:extLst>
          </p:cNvPr>
          <p:cNvSpPr txBox="1"/>
          <p:nvPr/>
        </p:nvSpPr>
        <p:spPr>
          <a:xfrm>
            <a:off x="8863013" y="4732226"/>
            <a:ext cx="1952625" cy="1569660"/>
          </a:xfrm>
          <a:prstGeom prst="rect">
            <a:avLst/>
          </a:prstGeom>
          <a:noFill/>
        </p:spPr>
        <p:txBody>
          <a:bodyPr wrap="square" rtlCol="0">
            <a:spAutoFit/>
          </a:bodyPr>
          <a:lstStyle/>
          <a:p>
            <a:pPr algn="just"/>
            <a:r>
              <a:rPr lang="zh-CN" altLang="en-US" sz="1600" dirty="0"/>
              <a:t>风险控制是在项目执行过程中实施和监控风险计划，同时，不断进行风险识别、风险分析、风险规划的过程</a:t>
            </a:r>
          </a:p>
        </p:txBody>
      </p:sp>
      <p:pic>
        <p:nvPicPr>
          <p:cNvPr id="42" name="图形 41" descr="举起的手">
            <a:extLst>
              <a:ext uri="{FF2B5EF4-FFF2-40B4-BE49-F238E27FC236}">
                <a16:creationId xmlns:a16="http://schemas.microsoft.com/office/drawing/2014/main" id="{7777A415-FEE4-7D72-4F0F-CB4BC261B8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851888" y="3039475"/>
            <a:ext cx="914400" cy="914400"/>
          </a:xfrm>
          <a:prstGeom prst="rect">
            <a:avLst/>
          </a:prstGeom>
        </p:spPr>
      </p:pic>
      <p:pic>
        <p:nvPicPr>
          <p:cNvPr id="44" name="图形 43" descr="正义天平">
            <a:extLst>
              <a:ext uri="{FF2B5EF4-FFF2-40B4-BE49-F238E27FC236}">
                <a16:creationId xmlns:a16="http://schemas.microsoft.com/office/drawing/2014/main" id="{E590DEAD-6950-8471-6AE1-1B925104BC3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64238" y="1563422"/>
            <a:ext cx="914400" cy="914400"/>
          </a:xfrm>
          <a:prstGeom prst="rect">
            <a:avLst/>
          </a:prstGeom>
        </p:spPr>
      </p:pic>
      <p:pic>
        <p:nvPicPr>
          <p:cNvPr id="46" name="图形 45" descr="研究">
            <a:extLst>
              <a:ext uri="{FF2B5EF4-FFF2-40B4-BE49-F238E27FC236}">
                <a16:creationId xmlns:a16="http://schemas.microsoft.com/office/drawing/2014/main" id="{A1340D71-D385-48AF-6CCA-441A137909C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328863" y="890668"/>
            <a:ext cx="914400" cy="914400"/>
          </a:xfrm>
          <a:prstGeom prst="rect">
            <a:avLst/>
          </a:prstGeom>
        </p:spPr>
      </p:pic>
      <p:pic>
        <p:nvPicPr>
          <p:cNvPr id="48" name="图形 47" descr="文档">
            <a:extLst>
              <a:ext uri="{FF2B5EF4-FFF2-40B4-BE49-F238E27FC236}">
                <a16:creationId xmlns:a16="http://schemas.microsoft.com/office/drawing/2014/main" id="{0F36F84F-53D4-7CE1-4394-E4F67D38D8D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358063" y="2296489"/>
            <a:ext cx="914400" cy="914400"/>
          </a:xfrm>
          <a:prstGeom prst="rect">
            <a:avLst/>
          </a:prstGeom>
        </p:spPr>
      </p:pic>
      <p:sp>
        <p:nvSpPr>
          <p:cNvPr id="50" name="椭圆 49">
            <a:extLst>
              <a:ext uri="{FF2B5EF4-FFF2-40B4-BE49-F238E27FC236}">
                <a16:creationId xmlns:a16="http://schemas.microsoft.com/office/drawing/2014/main" id="{685DF00A-A9E1-2BD8-47E7-20732842BF0A}"/>
              </a:ext>
            </a:extLst>
          </p:cNvPr>
          <p:cNvSpPr/>
          <p:nvPr/>
        </p:nvSpPr>
        <p:spPr>
          <a:xfrm>
            <a:off x="2310863" y="1136067"/>
            <a:ext cx="36000" cy="360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cxnSp>
        <p:nvCxnSpPr>
          <p:cNvPr id="52" name="直接箭头连接符 51">
            <a:extLst>
              <a:ext uri="{FF2B5EF4-FFF2-40B4-BE49-F238E27FC236}">
                <a16:creationId xmlns:a16="http://schemas.microsoft.com/office/drawing/2014/main" id="{D2FF864F-015D-1623-BC6E-011D01F2C454}"/>
              </a:ext>
            </a:extLst>
          </p:cNvPr>
          <p:cNvCxnSpPr>
            <a:cxnSpLocks/>
            <a:stCxn id="50" idx="4"/>
            <a:endCxn id="5" idx="0"/>
          </p:cNvCxnSpPr>
          <p:nvPr/>
        </p:nvCxnSpPr>
        <p:spPr>
          <a:xfrm>
            <a:off x="2328863" y="1172067"/>
            <a:ext cx="0" cy="636521"/>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8" name="连接符: 肘形 57">
            <a:extLst>
              <a:ext uri="{FF2B5EF4-FFF2-40B4-BE49-F238E27FC236}">
                <a16:creationId xmlns:a16="http://schemas.microsoft.com/office/drawing/2014/main" id="{458F9B1B-C316-F209-A9EF-6FC42C394B0E}"/>
              </a:ext>
            </a:extLst>
          </p:cNvPr>
          <p:cNvCxnSpPr>
            <a:cxnSpLocks/>
            <a:stCxn id="8" idx="3"/>
            <a:endCxn id="50" idx="0"/>
          </p:cNvCxnSpPr>
          <p:nvPr/>
        </p:nvCxnSpPr>
        <p:spPr>
          <a:xfrm flipH="1" flipV="1">
            <a:off x="2328863" y="1136067"/>
            <a:ext cx="8439150" cy="3043495"/>
          </a:xfrm>
          <a:prstGeom prst="bentConnector4">
            <a:avLst>
              <a:gd name="adj1" fmla="val -2709"/>
              <a:gd name="adj2" fmla="val 10751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0122500"/>
      </p:ext>
    </p:extLst>
  </p:cSld>
  <p:clrMapOvr>
    <a:masterClrMapping/>
  </p:clrMapOvr>
</p:sld>
</file>

<file path=ppt/slides/slide4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31D022EC-E7E2-6992-6BD9-6CAF505CEB65}"/>
              </a:ext>
            </a:extLst>
          </p:cNvPr>
          <p:cNvGrpSpPr/>
          <p:nvPr/>
        </p:nvGrpSpPr>
        <p:grpSpPr>
          <a:xfrm>
            <a:off x="2285915" y="1648469"/>
            <a:ext cx="2512866" cy="2126045"/>
            <a:chOff x="2285915" y="1648469"/>
            <a:chExt cx="2512866" cy="2126045"/>
          </a:xfrm>
        </p:grpSpPr>
        <p:sp>
          <p:nvSpPr>
            <p:cNvPr id="11" name="任意多边形: 形状 10">
              <a:extLst>
                <a:ext uri="{FF2B5EF4-FFF2-40B4-BE49-F238E27FC236}">
                  <a16:creationId xmlns:a16="http://schemas.microsoft.com/office/drawing/2014/main" id="{F3384C8A-8C71-9574-6F09-F8A6938D23D7}"/>
                </a:ext>
              </a:extLst>
            </p:cNvPr>
            <p:cNvSpPr/>
            <p:nvPr/>
          </p:nvSpPr>
          <p:spPr>
            <a:xfrm>
              <a:off x="2800201" y="1974515"/>
              <a:ext cx="1285714" cy="514285"/>
            </a:xfrm>
            <a:custGeom>
              <a:avLst/>
              <a:gdLst>
                <a:gd name="csX0" fmla="*/ 0 w 1800000"/>
                <a:gd name="csY0" fmla="*/ 0 h 720000"/>
                <a:gd name="csX1" fmla="*/ 1080000 w 1800000"/>
                <a:gd name="csY1" fmla="*/ 0 h 720000"/>
                <a:gd name="csX2" fmla="*/ 1800000 w 1800000"/>
                <a:gd name="csY2" fmla="*/ 720000 h 720000"/>
                <a:gd name="csX3" fmla="*/ 0 w 1800000"/>
                <a:gd name="csY3" fmla="*/ 720000 h 720000"/>
              </a:gdLst>
              <a:ahLst/>
              <a:cxnLst>
                <a:cxn ang="0">
                  <a:pos x="csX0" y="csY0"/>
                </a:cxn>
                <a:cxn ang="0">
                  <a:pos x="csX1" y="csY1"/>
                </a:cxn>
                <a:cxn ang="0">
                  <a:pos x="csX2" y="csY2"/>
                </a:cxn>
                <a:cxn ang="0">
                  <a:pos x="csX3" y="csY3"/>
                </a:cxn>
              </a:cxnLst>
              <a:rect l="l" t="t" r="r" b="b"/>
              <a:pathLst>
                <a:path w="1800000" h="720000">
                  <a:moveTo>
                    <a:pt x="0" y="0"/>
                  </a:moveTo>
                  <a:lnTo>
                    <a:pt x="1080000" y="0"/>
                  </a:lnTo>
                  <a:lnTo>
                    <a:pt x="1800000" y="720000"/>
                  </a:lnTo>
                  <a:lnTo>
                    <a:pt x="0" y="720000"/>
                  </a:lnTo>
                  <a:close/>
                </a:path>
              </a:pathLst>
            </a:cu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zh-CN" altLang="en-US" sz="800" dirty="0">
                <a:solidFill>
                  <a:schemeClr val="tx1"/>
                </a:solidFill>
              </a:endParaRPr>
            </a:p>
          </p:txBody>
        </p:sp>
        <p:sp>
          <p:nvSpPr>
            <p:cNvPr id="12" name="任意多边形: 形状 11">
              <a:extLst>
                <a:ext uri="{FF2B5EF4-FFF2-40B4-BE49-F238E27FC236}">
                  <a16:creationId xmlns:a16="http://schemas.microsoft.com/office/drawing/2014/main" id="{1131C429-08E8-7BE6-AFCF-0F3DF74478B5}"/>
                </a:ext>
              </a:extLst>
            </p:cNvPr>
            <p:cNvSpPr/>
            <p:nvPr/>
          </p:nvSpPr>
          <p:spPr>
            <a:xfrm rot="5400000">
              <a:off x="3185915" y="2874514"/>
              <a:ext cx="1285714" cy="514286"/>
            </a:xfrm>
            <a:custGeom>
              <a:avLst/>
              <a:gdLst>
                <a:gd name="csX0" fmla="*/ 0 w 1800000"/>
                <a:gd name="csY0" fmla="*/ 0 h 720000"/>
                <a:gd name="csX1" fmla="*/ 1080000 w 1800000"/>
                <a:gd name="csY1" fmla="*/ 0 h 720000"/>
                <a:gd name="csX2" fmla="*/ 1800000 w 1800000"/>
                <a:gd name="csY2" fmla="*/ 720000 h 720000"/>
                <a:gd name="csX3" fmla="*/ 0 w 1800000"/>
                <a:gd name="csY3" fmla="*/ 720000 h 720000"/>
              </a:gdLst>
              <a:ahLst/>
              <a:cxnLst>
                <a:cxn ang="0">
                  <a:pos x="csX0" y="csY0"/>
                </a:cxn>
                <a:cxn ang="0">
                  <a:pos x="csX1" y="csY1"/>
                </a:cxn>
                <a:cxn ang="0">
                  <a:pos x="csX2" y="csY2"/>
                </a:cxn>
                <a:cxn ang="0">
                  <a:pos x="csX3" y="csY3"/>
                </a:cxn>
              </a:cxnLst>
              <a:rect l="l" t="t" r="r" b="b"/>
              <a:pathLst>
                <a:path w="1800000" h="720000">
                  <a:moveTo>
                    <a:pt x="0" y="0"/>
                  </a:moveTo>
                  <a:lnTo>
                    <a:pt x="1080000" y="0"/>
                  </a:lnTo>
                  <a:lnTo>
                    <a:pt x="1800000" y="720000"/>
                  </a:lnTo>
                  <a:lnTo>
                    <a:pt x="0" y="720000"/>
                  </a:lnTo>
                  <a:close/>
                </a:path>
              </a:pathLst>
            </a:custGeom>
            <a:solidFill>
              <a:srgbClr val="92D050"/>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vert270" wrap="square" rtlCol="0" anchor="ctr">
              <a:noAutofit/>
            </a:bodyPr>
            <a:lstStyle/>
            <a:p>
              <a:pPr algn="ctr"/>
              <a:endParaRPr lang="zh-CN" altLang="en-US" sz="800" dirty="0">
                <a:solidFill>
                  <a:schemeClr val="tx1"/>
                </a:solidFill>
              </a:endParaRPr>
            </a:p>
          </p:txBody>
        </p:sp>
        <p:sp>
          <p:nvSpPr>
            <p:cNvPr id="13" name="任意多边形: 形状 12">
              <a:extLst>
                <a:ext uri="{FF2B5EF4-FFF2-40B4-BE49-F238E27FC236}">
                  <a16:creationId xmlns:a16="http://schemas.microsoft.com/office/drawing/2014/main" id="{8194AC18-5184-CCF3-1D47-8DE125C9CF87}"/>
                </a:ext>
              </a:extLst>
            </p:cNvPr>
            <p:cNvSpPr/>
            <p:nvPr/>
          </p:nvSpPr>
          <p:spPr>
            <a:xfrm flipH="1" flipV="1">
              <a:off x="2285916" y="3260229"/>
              <a:ext cx="1285714" cy="514285"/>
            </a:xfrm>
            <a:custGeom>
              <a:avLst/>
              <a:gdLst>
                <a:gd name="csX0" fmla="*/ 0 w 1800000"/>
                <a:gd name="csY0" fmla="*/ 0 h 720000"/>
                <a:gd name="csX1" fmla="*/ 1080000 w 1800000"/>
                <a:gd name="csY1" fmla="*/ 0 h 720000"/>
                <a:gd name="csX2" fmla="*/ 1800000 w 1800000"/>
                <a:gd name="csY2" fmla="*/ 720000 h 720000"/>
                <a:gd name="csX3" fmla="*/ 0 w 1800000"/>
                <a:gd name="csY3" fmla="*/ 720000 h 720000"/>
              </a:gdLst>
              <a:ahLst/>
              <a:cxnLst>
                <a:cxn ang="0">
                  <a:pos x="csX0" y="csY0"/>
                </a:cxn>
                <a:cxn ang="0">
                  <a:pos x="csX1" y="csY1"/>
                </a:cxn>
                <a:cxn ang="0">
                  <a:pos x="csX2" y="csY2"/>
                </a:cxn>
                <a:cxn ang="0">
                  <a:pos x="csX3" y="csY3"/>
                </a:cxn>
              </a:cxnLst>
              <a:rect l="l" t="t" r="r" b="b"/>
              <a:pathLst>
                <a:path w="1800000" h="720000">
                  <a:moveTo>
                    <a:pt x="0" y="0"/>
                  </a:moveTo>
                  <a:lnTo>
                    <a:pt x="1080000" y="0"/>
                  </a:lnTo>
                  <a:lnTo>
                    <a:pt x="1800000" y="720000"/>
                  </a:lnTo>
                  <a:lnTo>
                    <a:pt x="0" y="720000"/>
                  </a:lnTo>
                  <a:close/>
                </a:path>
              </a:pathLst>
            </a:custGeom>
            <a:solidFill>
              <a:srgbClr val="D70036"/>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eaVert" wrap="square" rtlCol="0" anchor="ctr">
              <a:noAutofit/>
            </a:bodyPr>
            <a:lstStyle/>
            <a:p>
              <a:pPr algn="ctr"/>
              <a:endParaRPr lang="zh-CN" altLang="en-US" sz="800" dirty="0">
                <a:solidFill>
                  <a:schemeClr val="tx1"/>
                </a:solidFill>
              </a:endParaRPr>
            </a:p>
          </p:txBody>
        </p:sp>
        <p:sp>
          <p:nvSpPr>
            <p:cNvPr id="14" name="任意多边形: 形状 13">
              <a:extLst>
                <a:ext uri="{FF2B5EF4-FFF2-40B4-BE49-F238E27FC236}">
                  <a16:creationId xmlns:a16="http://schemas.microsoft.com/office/drawing/2014/main" id="{DBF5EBAD-9BA2-5A3E-DB7F-5C6529DF8271}"/>
                </a:ext>
              </a:extLst>
            </p:cNvPr>
            <p:cNvSpPr/>
            <p:nvPr/>
          </p:nvSpPr>
          <p:spPr>
            <a:xfrm rot="16200000">
              <a:off x="1900201" y="2360229"/>
              <a:ext cx="1285714" cy="514286"/>
            </a:xfrm>
            <a:custGeom>
              <a:avLst/>
              <a:gdLst>
                <a:gd name="csX0" fmla="*/ 0 w 1800000"/>
                <a:gd name="csY0" fmla="*/ 0 h 720000"/>
                <a:gd name="csX1" fmla="*/ 1080000 w 1800000"/>
                <a:gd name="csY1" fmla="*/ 0 h 720000"/>
                <a:gd name="csX2" fmla="*/ 1800000 w 1800000"/>
                <a:gd name="csY2" fmla="*/ 720000 h 720000"/>
                <a:gd name="csX3" fmla="*/ 0 w 1800000"/>
                <a:gd name="csY3" fmla="*/ 720000 h 720000"/>
              </a:gdLst>
              <a:ahLst/>
              <a:cxnLst>
                <a:cxn ang="0">
                  <a:pos x="csX0" y="csY0"/>
                </a:cxn>
                <a:cxn ang="0">
                  <a:pos x="csX1" y="csY1"/>
                </a:cxn>
                <a:cxn ang="0">
                  <a:pos x="csX2" y="csY2"/>
                </a:cxn>
                <a:cxn ang="0">
                  <a:pos x="csX3" y="csY3"/>
                </a:cxn>
              </a:cxnLst>
              <a:rect l="l" t="t" r="r" b="b"/>
              <a:pathLst>
                <a:path w="1800000" h="720000">
                  <a:moveTo>
                    <a:pt x="0" y="0"/>
                  </a:moveTo>
                  <a:lnTo>
                    <a:pt x="1080000" y="0"/>
                  </a:lnTo>
                  <a:lnTo>
                    <a:pt x="1800000" y="720000"/>
                  </a:lnTo>
                  <a:lnTo>
                    <a:pt x="0" y="720000"/>
                  </a:lnTo>
                  <a:close/>
                </a:path>
              </a:pathLst>
            </a:custGeom>
            <a:solidFill>
              <a:srgbClr val="0D8BB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800" dirty="0">
                <a:solidFill>
                  <a:schemeClr val="tx1"/>
                </a:solidFill>
              </a:endParaRPr>
            </a:p>
          </p:txBody>
        </p:sp>
        <p:sp>
          <p:nvSpPr>
            <p:cNvPr id="15" name="文本框 14">
              <a:extLst>
                <a:ext uri="{FF2B5EF4-FFF2-40B4-BE49-F238E27FC236}">
                  <a16:creationId xmlns:a16="http://schemas.microsoft.com/office/drawing/2014/main" id="{B5CE070A-6C47-6A70-5019-C988315740BA}"/>
                </a:ext>
              </a:extLst>
            </p:cNvPr>
            <p:cNvSpPr txBox="1"/>
            <p:nvPr/>
          </p:nvSpPr>
          <p:spPr>
            <a:xfrm>
              <a:off x="2923145" y="2039714"/>
              <a:ext cx="415498" cy="392415"/>
            </a:xfrm>
            <a:prstGeom prst="rect">
              <a:avLst/>
            </a:prstGeom>
            <a:noFill/>
            <a:effectLst/>
          </p:spPr>
          <p:txBody>
            <a:bodyPr wrap="none" rtlCol="0">
              <a:spAutoFit/>
            </a:bodyPr>
            <a:lstStyle/>
            <a:p>
              <a:pPr algn="l"/>
              <a:r>
                <a:rPr lang="en-US" altLang="zh-CN" sz="1050" dirty="0">
                  <a:solidFill>
                    <a:schemeClr val="bg1"/>
                  </a:solidFill>
                </a:rPr>
                <a:t>01</a:t>
              </a:r>
            </a:p>
            <a:p>
              <a:pPr algn="l"/>
              <a:r>
                <a:rPr lang="zh-CN" altLang="en-US" sz="900" dirty="0">
                  <a:solidFill>
                    <a:schemeClr val="bg1"/>
                  </a:solidFill>
                </a:rPr>
                <a:t>识别</a:t>
              </a:r>
            </a:p>
          </p:txBody>
        </p:sp>
        <p:sp>
          <p:nvSpPr>
            <p:cNvPr id="16" name="文本框 15">
              <a:extLst>
                <a:ext uri="{FF2B5EF4-FFF2-40B4-BE49-F238E27FC236}">
                  <a16:creationId xmlns:a16="http://schemas.microsoft.com/office/drawing/2014/main" id="{26D8BB4E-6A92-C99E-CC45-31362C27AAB9}"/>
                </a:ext>
              </a:extLst>
            </p:cNvPr>
            <p:cNvSpPr txBox="1"/>
            <p:nvPr/>
          </p:nvSpPr>
          <p:spPr>
            <a:xfrm>
              <a:off x="3044740" y="3308524"/>
              <a:ext cx="415498" cy="392415"/>
            </a:xfrm>
            <a:prstGeom prst="rect">
              <a:avLst/>
            </a:prstGeom>
            <a:noFill/>
            <a:effectLst/>
          </p:spPr>
          <p:txBody>
            <a:bodyPr wrap="none" rtlCol="0">
              <a:spAutoFit/>
            </a:bodyPr>
            <a:lstStyle/>
            <a:p>
              <a:pPr algn="l"/>
              <a:r>
                <a:rPr lang="en-US" altLang="zh-CN" sz="1050" dirty="0">
                  <a:solidFill>
                    <a:schemeClr val="bg1"/>
                  </a:solidFill>
                </a:rPr>
                <a:t>03</a:t>
              </a:r>
            </a:p>
            <a:p>
              <a:pPr algn="l"/>
              <a:r>
                <a:rPr lang="zh-CN" altLang="en-US" sz="900" dirty="0">
                  <a:solidFill>
                    <a:schemeClr val="bg1"/>
                  </a:solidFill>
                </a:rPr>
                <a:t>规划</a:t>
              </a:r>
            </a:p>
          </p:txBody>
        </p:sp>
        <p:sp>
          <p:nvSpPr>
            <p:cNvPr id="17" name="文本框 16">
              <a:extLst>
                <a:ext uri="{FF2B5EF4-FFF2-40B4-BE49-F238E27FC236}">
                  <a16:creationId xmlns:a16="http://schemas.microsoft.com/office/drawing/2014/main" id="{DEC1B381-727B-C880-4AF3-DC84786BA0E0}"/>
                </a:ext>
              </a:extLst>
            </p:cNvPr>
            <p:cNvSpPr txBox="1"/>
            <p:nvPr/>
          </p:nvSpPr>
          <p:spPr>
            <a:xfrm>
              <a:off x="3621024" y="2599442"/>
              <a:ext cx="415498" cy="392415"/>
            </a:xfrm>
            <a:prstGeom prst="rect">
              <a:avLst/>
            </a:prstGeom>
            <a:noFill/>
            <a:effectLst/>
          </p:spPr>
          <p:txBody>
            <a:bodyPr wrap="none" rtlCol="0">
              <a:spAutoFit/>
            </a:bodyPr>
            <a:lstStyle/>
            <a:p>
              <a:pPr algn="ctr"/>
              <a:r>
                <a:rPr lang="en-US" altLang="zh-CN" sz="1050" dirty="0">
                  <a:solidFill>
                    <a:schemeClr val="bg1"/>
                  </a:solidFill>
                </a:rPr>
                <a:t>02</a:t>
              </a:r>
            </a:p>
            <a:p>
              <a:pPr algn="ctr"/>
              <a:r>
                <a:rPr lang="zh-CN" altLang="en-US" sz="900" dirty="0">
                  <a:solidFill>
                    <a:schemeClr val="bg1"/>
                  </a:solidFill>
                </a:rPr>
                <a:t>评估</a:t>
              </a:r>
            </a:p>
          </p:txBody>
        </p:sp>
        <p:sp>
          <p:nvSpPr>
            <p:cNvPr id="18" name="文本框 17">
              <a:extLst>
                <a:ext uri="{FF2B5EF4-FFF2-40B4-BE49-F238E27FC236}">
                  <a16:creationId xmlns:a16="http://schemas.microsoft.com/office/drawing/2014/main" id="{C524EFEA-78F0-63AF-1B05-3CCDBBCCF9CC}"/>
                </a:ext>
              </a:extLst>
            </p:cNvPr>
            <p:cNvSpPr txBox="1"/>
            <p:nvPr/>
          </p:nvSpPr>
          <p:spPr>
            <a:xfrm>
              <a:off x="2335308" y="2776866"/>
              <a:ext cx="415498" cy="392415"/>
            </a:xfrm>
            <a:prstGeom prst="rect">
              <a:avLst/>
            </a:prstGeom>
            <a:noFill/>
            <a:effectLst/>
          </p:spPr>
          <p:txBody>
            <a:bodyPr wrap="none" rtlCol="0">
              <a:spAutoFit/>
            </a:bodyPr>
            <a:lstStyle/>
            <a:p>
              <a:pPr algn="ctr"/>
              <a:r>
                <a:rPr lang="en-US" altLang="zh-CN" sz="1050" dirty="0">
                  <a:solidFill>
                    <a:schemeClr val="bg1"/>
                  </a:solidFill>
                </a:rPr>
                <a:t>04</a:t>
              </a:r>
            </a:p>
            <a:p>
              <a:pPr algn="ctr"/>
              <a:r>
                <a:rPr lang="zh-CN" altLang="en-US" sz="900" dirty="0">
                  <a:solidFill>
                    <a:schemeClr val="bg1"/>
                  </a:solidFill>
                </a:rPr>
                <a:t>控制</a:t>
              </a:r>
            </a:p>
          </p:txBody>
        </p:sp>
        <p:pic>
          <p:nvPicPr>
            <p:cNvPr id="20" name="图形 19" descr="举起的手">
              <a:extLst>
                <a:ext uri="{FF2B5EF4-FFF2-40B4-BE49-F238E27FC236}">
                  <a16:creationId xmlns:a16="http://schemas.microsoft.com/office/drawing/2014/main" id="{7C10EAB1-DE1B-F728-767E-305A6426CF9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387572" y="2411160"/>
              <a:ext cx="360000" cy="360000"/>
            </a:xfrm>
            <a:prstGeom prst="rect">
              <a:avLst/>
            </a:prstGeom>
            <a:effectLst/>
          </p:spPr>
        </p:pic>
        <p:pic>
          <p:nvPicPr>
            <p:cNvPr id="21" name="图形 20" descr="正义天平">
              <a:extLst>
                <a:ext uri="{FF2B5EF4-FFF2-40B4-BE49-F238E27FC236}">
                  <a16:creationId xmlns:a16="http://schemas.microsoft.com/office/drawing/2014/main" id="{0FED59DF-A0C1-B19F-115A-FEE92BCCF12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48772" y="2985653"/>
              <a:ext cx="360000" cy="360000"/>
            </a:xfrm>
            <a:prstGeom prst="rect">
              <a:avLst/>
            </a:prstGeom>
            <a:effectLst/>
          </p:spPr>
        </p:pic>
        <p:pic>
          <p:nvPicPr>
            <p:cNvPr id="22" name="图形 21" descr="研究">
              <a:extLst>
                <a:ext uri="{FF2B5EF4-FFF2-40B4-BE49-F238E27FC236}">
                  <a16:creationId xmlns:a16="http://schemas.microsoft.com/office/drawing/2014/main" id="{F3C1BD8E-003C-7F7F-484A-5BE9C8C2E33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14795" y="2055921"/>
              <a:ext cx="360000" cy="360000"/>
            </a:xfrm>
            <a:prstGeom prst="rect">
              <a:avLst/>
            </a:prstGeom>
            <a:effectLst/>
          </p:spPr>
        </p:pic>
        <p:pic>
          <p:nvPicPr>
            <p:cNvPr id="23" name="图形 22" descr="文档">
              <a:extLst>
                <a:ext uri="{FF2B5EF4-FFF2-40B4-BE49-F238E27FC236}">
                  <a16:creationId xmlns:a16="http://schemas.microsoft.com/office/drawing/2014/main" id="{078367E5-5D1D-06BC-EC1A-ECB94A0FD03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760301" y="3324731"/>
              <a:ext cx="360000" cy="360000"/>
            </a:xfrm>
            <a:prstGeom prst="rect">
              <a:avLst/>
            </a:prstGeom>
            <a:effectLst/>
          </p:spPr>
        </p:pic>
        <p:cxnSp>
          <p:nvCxnSpPr>
            <p:cNvPr id="3" name="直接箭头连接符 2">
              <a:extLst>
                <a:ext uri="{FF2B5EF4-FFF2-40B4-BE49-F238E27FC236}">
                  <a16:creationId xmlns:a16="http://schemas.microsoft.com/office/drawing/2014/main" id="{F3BAB111-C549-F3F0-843D-F26BF9BFC280}"/>
                </a:ext>
              </a:extLst>
            </p:cNvPr>
            <p:cNvCxnSpPr>
              <a:cxnSpLocks/>
              <a:stCxn id="5" idx="3"/>
              <a:endCxn id="4" idx="1"/>
            </p:cNvCxnSpPr>
            <p:nvPr/>
          </p:nvCxnSpPr>
          <p:spPr>
            <a:xfrm>
              <a:off x="3703012" y="1756191"/>
              <a:ext cx="29555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436BB48F-C695-3F1B-4579-41DBDD659B0D}"/>
                </a:ext>
              </a:extLst>
            </p:cNvPr>
            <p:cNvSpPr txBox="1"/>
            <p:nvPr/>
          </p:nvSpPr>
          <p:spPr>
            <a:xfrm>
              <a:off x="3998562" y="1648469"/>
              <a:ext cx="800219" cy="215444"/>
            </a:xfrm>
            <a:prstGeom prst="rect">
              <a:avLst/>
            </a:prstGeom>
            <a:noFill/>
          </p:spPr>
          <p:txBody>
            <a:bodyPr wrap="none" rtlCol="0">
              <a:spAutoFit/>
            </a:bodyPr>
            <a:lstStyle/>
            <a:p>
              <a:pPr algn="l"/>
              <a:r>
                <a:rPr lang="zh-CN" altLang="en-US" sz="800" dirty="0"/>
                <a:t>风险识别列表</a:t>
              </a:r>
            </a:p>
          </p:txBody>
        </p:sp>
        <p:sp>
          <p:nvSpPr>
            <p:cNvPr id="5" name="文本框 4">
              <a:extLst>
                <a:ext uri="{FF2B5EF4-FFF2-40B4-BE49-F238E27FC236}">
                  <a16:creationId xmlns:a16="http://schemas.microsoft.com/office/drawing/2014/main" id="{0659BEE5-6400-6585-4D95-E07AF324D2E9}"/>
                </a:ext>
              </a:extLst>
            </p:cNvPr>
            <p:cNvSpPr txBox="1"/>
            <p:nvPr/>
          </p:nvSpPr>
          <p:spPr>
            <a:xfrm>
              <a:off x="2800201" y="1648469"/>
              <a:ext cx="902811" cy="215444"/>
            </a:xfrm>
            <a:prstGeom prst="rect">
              <a:avLst/>
            </a:prstGeom>
            <a:noFill/>
          </p:spPr>
          <p:txBody>
            <a:bodyPr wrap="none" rtlCol="0">
              <a:spAutoFit/>
            </a:bodyPr>
            <a:lstStyle/>
            <a:p>
              <a:pPr algn="l"/>
              <a:r>
                <a:rPr lang="zh-CN" altLang="en-US" sz="800" dirty="0"/>
                <a:t>风险条目检查表</a:t>
              </a:r>
            </a:p>
          </p:txBody>
        </p:sp>
        <p:sp>
          <p:nvSpPr>
            <p:cNvPr id="9" name="文本框 8">
              <a:extLst>
                <a:ext uri="{FF2B5EF4-FFF2-40B4-BE49-F238E27FC236}">
                  <a16:creationId xmlns:a16="http://schemas.microsoft.com/office/drawing/2014/main" id="{3FA73866-FE10-9C7F-552E-647514251700}"/>
                </a:ext>
              </a:extLst>
            </p:cNvPr>
            <p:cNvSpPr txBox="1"/>
            <p:nvPr/>
          </p:nvSpPr>
          <p:spPr>
            <a:xfrm>
              <a:off x="4244783" y="2488800"/>
              <a:ext cx="307777" cy="605294"/>
            </a:xfrm>
            <a:prstGeom prst="rect">
              <a:avLst/>
            </a:prstGeom>
            <a:noFill/>
          </p:spPr>
          <p:txBody>
            <a:bodyPr vert="eaVert" wrap="none" rtlCol="0">
              <a:spAutoFit/>
            </a:bodyPr>
            <a:lstStyle/>
            <a:p>
              <a:pPr algn="l"/>
              <a:r>
                <a:rPr lang="zh-CN" altLang="en-US" sz="800" dirty="0"/>
                <a:t>风险登记册</a:t>
              </a:r>
            </a:p>
          </p:txBody>
        </p:sp>
        <p:cxnSp>
          <p:nvCxnSpPr>
            <p:cNvPr id="19" name="直接箭头连接符 18">
              <a:extLst>
                <a:ext uri="{FF2B5EF4-FFF2-40B4-BE49-F238E27FC236}">
                  <a16:creationId xmlns:a16="http://schemas.microsoft.com/office/drawing/2014/main" id="{AA086D34-F3CE-51DE-E5D8-08E2D73B5467}"/>
                </a:ext>
              </a:extLst>
            </p:cNvPr>
            <p:cNvCxnSpPr>
              <a:stCxn id="4" idx="2"/>
              <a:endCxn id="9" idx="0"/>
            </p:cNvCxnSpPr>
            <p:nvPr/>
          </p:nvCxnSpPr>
          <p:spPr>
            <a:xfrm>
              <a:off x="4398672" y="1863913"/>
              <a:ext cx="0" cy="62488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5439934"/>
      </p:ext>
    </p:extLst>
  </p:cSld>
  <p:clrMapOvr>
    <a:masterClrMapping/>
  </p:clrMapOvr>
</p:sld>
</file>

<file path=ppt/slides/slide4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6CBD56-19FF-9089-0BC6-D66EE27FF2E0}"/>
              </a:ext>
            </a:extLst>
          </p:cNvPr>
          <p:cNvSpPr>
            <a:spLocks noGrp="1"/>
          </p:cNvSpPr>
          <p:nvPr>
            <p:ph type="title"/>
          </p:nvPr>
        </p:nvSpPr>
        <p:spPr>
          <a:xfrm>
            <a:off x="694800" y="360000"/>
            <a:ext cx="6375921" cy="429413"/>
          </a:xfrm>
        </p:spPr>
        <p:txBody>
          <a:bodyPr/>
          <a:lstStyle/>
          <a:p>
            <a:r>
              <a:rPr lang="en-US" altLang="zh-CN" dirty="0"/>
              <a:t>11.2 </a:t>
            </a:r>
            <a:r>
              <a:rPr lang="zh-CN" altLang="en-US" dirty="0"/>
              <a:t>风险识别</a:t>
            </a:r>
          </a:p>
        </p:txBody>
      </p:sp>
      <p:sp>
        <p:nvSpPr>
          <p:cNvPr id="3" name="内容占位符 2">
            <a:extLst>
              <a:ext uri="{FF2B5EF4-FFF2-40B4-BE49-F238E27FC236}">
                <a16:creationId xmlns:a16="http://schemas.microsoft.com/office/drawing/2014/main" id="{2C35BC6B-ADB4-3964-3015-BE3161DBBCA9}"/>
              </a:ext>
            </a:extLst>
          </p:cNvPr>
          <p:cNvSpPr>
            <a:spLocks noGrp="1"/>
          </p:cNvSpPr>
          <p:nvPr>
            <p:ph idx="1"/>
          </p:nvPr>
        </p:nvSpPr>
        <p:spPr>
          <a:xfrm>
            <a:off x="694800" y="1338697"/>
            <a:ext cx="10800000" cy="4925303"/>
          </a:xfrm>
        </p:spPr>
        <p:txBody>
          <a:bodyPr/>
          <a:lstStyle/>
          <a:p>
            <a:r>
              <a:rPr lang="zh-CN" altLang="en-US" dirty="0"/>
              <a:t>德尔菲方法</a:t>
            </a:r>
          </a:p>
          <a:p>
            <a:r>
              <a:rPr lang="zh-CN" altLang="en-US" dirty="0"/>
              <a:t>头脑风暴法</a:t>
            </a:r>
          </a:p>
          <a:p>
            <a:r>
              <a:rPr lang="zh-CN" altLang="en-US" dirty="0"/>
              <a:t>情景分析法</a:t>
            </a:r>
          </a:p>
          <a:p>
            <a:r>
              <a:rPr lang="zh-CN" altLang="en-US" dirty="0"/>
              <a:t>利用风险条目检查表</a:t>
            </a:r>
          </a:p>
          <a:p>
            <a:endParaRPr lang="zh-CN" altLang="en-US" dirty="0"/>
          </a:p>
        </p:txBody>
      </p:sp>
      <p:sp>
        <p:nvSpPr>
          <p:cNvPr id="17" name="文本占位符 16">
            <a:extLst>
              <a:ext uri="{FF2B5EF4-FFF2-40B4-BE49-F238E27FC236}">
                <a16:creationId xmlns:a16="http://schemas.microsoft.com/office/drawing/2014/main" id="{92AF83AC-1F6D-7630-1A42-7737153EE922}"/>
              </a:ext>
            </a:extLst>
          </p:cNvPr>
          <p:cNvSpPr>
            <a:spLocks noGrp="1"/>
          </p:cNvSpPr>
          <p:nvPr>
            <p:ph type="body" sz="quarter" idx="10"/>
          </p:nvPr>
        </p:nvSpPr>
        <p:spPr/>
        <p:txBody>
          <a:bodyPr/>
          <a:lstStyle/>
          <a:p>
            <a:endParaRPr lang="zh-CN" altLang="en-US"/>
          </a:p>
        </p:txBody>
      </p:sp>
      <p:sp>
        <p:nvSpPr>
          <p:cNvPr id="8" name="文本占位符 7">
            <a:extLst>
              <a:ext uri="{FF2B5EF4-FFF2-40B4-BE49-F238E27FC236}">
                <a16:creationId xmlns:a16="http://schemas.microsoft.com/office/drawing/2014/main" id="{4EDF09F4-12B7-0B92-AF7F-747128505191}"/>
              </a:ext>
            </a:extLst>
          </p:cNvPr>
          <p:cNvSpPr>
            <a:spLocks noGrp="1"/>
          </p:cNvSpPr>
          <p:nvPr>
            <p:ph type="body" sz="quarter" idx="11"/>
          </p:nvPr>
        </p:nvSpPr>
        <p:spPr>
          <a:xfrm>
            <a:off x="694800" y="864000"/>
            <a:ext cx="6203950" cy="400110"/>
          </a:xfrm>
        </p:spPr>
        <p:txBody>
          <a:bodyPr/>
          <a:lstStyle/>
          <a:p>
            <a:r>
              <a:rPr lang="en-US" altLang="zh-CN" dirty="0"/>
              <a:t>1. </a:t>
            </a:r>
            <a:r>
              <a:rPr lang="zh-CN" altLang="en-US" dirty="0"/>
              <a:t>方法</a:t>
            </a:r>
          </a:p>
        </p:txBody>
      </p:sp>
    </p:spTree>
    <p:extLst>
      <p:ext uri="{BB962C8B-B14F-4D97-AF65-F5344CB8AC3E}">
        <p14:creationId xmlns:p14="http://schemas.microsoft.com/office/powerpoint/2010/main" val="2701871628"/>
      </p:ext>
    </p:extLst>
  </p:cSld>
  <p:clrMapOvr>
    <a:masterClrMapping/>
  </p:clrMapOvr>
</p:sld>
</file>

<file path=ppt/slides/slide4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格 5">
            <a:extLst>
              <a:ext uri="{FF2B5EF4-FFF2-40B4-BE49-F238E27FC236}">
                <a16:creationId xmlns:a16="http://schemas.microsoft.com/office/drawing/2014/main" id="{470D3BA0-53C4-CF3D-7039-9B1957D2AC81}"/>
              </a:ext>
            </a:extLst>
          </p:cNvPr>
          <p:cNvGraphicFramePr>
            <a:graphicFrameLocks noGrp="1"/>
          </p:cNvGraphicFramePr>
          <p:nvPr>
            <p:extLst>
              <p:ext uri="{D42A27DB-BD31-4B8C-83A1-F6EECF244321}">
                <p14:modId xmlns:p14="http://schemas.microsoft.com/office/powerpoint/2010/main" val="1793780672"/>
              </p:ext>
            </p:extLst>
          </p:nvPr>
        </p:nvGraphicFramePr>
        <p:xfrm>
          <a:off x="695325" y="1689417"/>
          <a:ext cx="10801350" cy="3383280"/>
        </p:xfrm>
        <a:graphic>
          <a:graphicData uri="http://schemas.openxmlformats.org/drawingml/2006/table">
            <a:tbl>
              <a:tblPr/>
              <a:tblGrid>
                <a:gridCol w="1800225">
                  <a:extLst>
                    <a:ext uri="{9D8B030D-6E8A-4147-A177-3AD203B41FA5}">
                      <a16:colId xmlns:a16="http://schemas.microsoft.com/office/drawing/2014/main" val="3028410848"/>
                    </a:ext>
                  </a:extLst>
                </a:gridCol>
                <a:gridCol w="1800225">
                  <a:extLst>
                    <a:ext uri="{9D8B030D-6E8A-4147-A177-3AD203B41FA5}">
                      <a16:colId xmlns:a16="http://schemas.microsoft.com/office/drawing/2014/main" val="576044700"/>
                    </a:ext>
                  </a:extLst>
                </a:gridCol>
                <a:gridCol w="1800225">
                  <a:extLst>
                    <a:ext uri="{9D8B030D-6E8A-4147-A177-3AD203B41FA5}">
                      <a16:colId xmlns:a16="http://schemas.microsoft.com/office/drawing/2014/main" val="373813112"/>
                    </a:ext>
                  </a:extLst>
                </a:gridCol>
                <a:gridCol w="1800225">
                  <a:extLst>
                    <a:ext uri="{9D8B030D-6E8A-4147-A177-3AD203B41FA5}">
                      <a16:colId xmlns:a16="http://schemas.microsoft.com/office/drawing/2014/main" val="1602315988"/>
                    </a:ext>
                  </a:extLst>
                </a:gridCol>
                <a:gridCol w="1800225">
                  <a:extLst>
                    <a:ext uri="{9D8B030D-6E8A-4147-A177-3AD203B41FA5}">
                      <a16:colId xmlns:a16="http://schemas.microsoft.com/office/drawing/2014/main" val="1800082254"/>
                    </a:ext>
                  </a:extLst>
                </a:gridCol>
                <a:gridCol w="1800225">
                  <a:extLst>
                    <a:ext uri="{9D8B030D-6E8A-4147-A177-3AD203B41FA5}">
                      <a16:colId xmlns:a16="http://schemas.microsoft.com/office/drawing/2014/main" val="1545570066"/>
                    </a:ext>
                  </a:extLst>
                </a:gridCol>
              </a:tblGrid>
              <a:tr h="0">
                <a:tc>
                  <a:txBody>
                    <a:bodyPr/>
                    <a:lstStyle/>
                    <a:p>
                      <a:pPr algn="l">
                        <a:buNone/>
                      </a:pPr>
                      <a:r>
                        <a:rPr lang="zh-CN" sz="1600"/>
                        <a:t>序号</a:t>
                      </a:r>
                    </a:p>
                  </a:txBody>
                  <a:tcPr anchor="ctr">
                    <a:lnL>
                      <a:noFill/>
                    </a:lnL>
                    <a:lnR>
                      <a:noFill/>
                    </a:lnR>
                    <a:lnT>
                      <a:noFill/>
                    </a:lnT>
                    <a:lnB>
                      <a:noFill/>
                    </a:lnB>
                    <a:noFill/>
                  </a:tcPr>
                </a:tc>
                <a:tc>
                  <a:txBody>
                    <a:bodyPr/>
                    <a:lstStyle/>
                    <a:p>
                      <a:pPr algn="l">
                        <a:buNone/>
                      </a:pPr>
                      <a:r>
                        <a:rPr lang="zh-CN" sz="1600" dirty="0"/>
                        <a:t>风险类别</a:t>
                      </a:r>
                    </a:p>
                  </a:txBody>
                  <a:tcPr anchor="ctr">
                    <a:lnL>
                      <a:noFill/>
                    </a:lnL>
                    <a:lnR>
                      <a:noFill/>
                    </a:lnR>
                    <a:lnT>
                      <a:noFill/>
                    </a:lnT>
                    <a:lnB>
                      <a:noFill/>
                    </a:lnB>
                    <a:noFill/>
                  </a:tcPr>
                </a:tc>
                <a:tc>
                  <a:txBody>
                    <a:bodyPr/>
                    <a:lstStyle/>
                    <a:p>
                      <a:pPr algn="l">
                        <a:buNone/>
                      </a:pPr>
                      <a:r>
                        <a:rPr lang="zh-CN" sz="1600"/>
                        <a:t>检查条目（问题）</a:t>
                      </a:r>
                    </a:p>
                  </a:txBody>
                  <a:tcPr anchor="ctr">
                    <a:lnL>
                      <a:noFill/>
                    </a:lnL>
                    <a:lnR>
                      <a:noFill/>
                    </a:lnR>
                    <a:lnT>
                      <a:noFill/>
                    </a:lnT>
                    <a:lnB>
                      <a:noFill/>
                    </a:lnB>
                    <a:noFill/>
                  </a:tcPr>
                </a:tc>
                <a:tc>
                  <a:txBody>
                    <a:bodyPr/>
                    <a:lstStyle/>
                    <a:p>
                      <a:pPr algn="l">
                        <a:buNone/>
                      </a:pPr>
                      <a:r>
                        <a:rPr lang="zh-CN" sz="1600"/>
                        <a:t>检查结果</a:t>
                      </a:r>
                    </a:p>
                  </a:txBody>
                  <a:tcPr anchor="ctr">
                    <a:lnL>
                      <a:noFill/>
                    </a:lnL>
                    <a:lnR>
                      <a:noFill/>
                    </a:lnR>
                    <a:lnT>
                      <a:noFill/>
                    </a:lnT>
                    <a:lnB>
                      <a:noFill/>
                    </a:lnB>
                    <a:noFill/>
                  </a:tcPr>
                </a:tc>
                <a:tc>
                  <a:txBody>
                    <a:bodyPr/>
                    <a:lstStyle/>
                    <a:p>
                      <a:pPr algn="l">
                        <a:buNone/>
                      </a:pPr>
                      <a:r>
                        <a:rPr lang="zh-CN" sz="1600"/>
                        <a:t>风险等级</a:t>
                      </a:r>
                    </a:p>
                  </a:txBody>
                  <a:tcPr anchor="ctr">
                    <a:lnL>
                      <a:noFill/>
                    </a:lnL>
                    <a:lnR>
                      <a:noFill/>
                    </a:lnR>
                    <a:lnT>
                      <a:noFill/>
                    </a:lnT>
                    <a:lnB>
                      <a:noFill/>
                    </a:lnB>
                    <a:noFill/>
                  </a:tcPr>
                </a:tc>
                <a:tc>
                  <a:txBody>
                    <a:bodyPr/>
                    <a:lstStyle/>
                    <a:p>
                      <a:pPr algn="l">
                        <a:buNone/>
                      </a:pPr>
                      <a:r>
                        <a:rPr lang="zh-CN" sz="1600"/>
                        <a:t>应对措施/备注</a:t>
                      </a:r>
                    </a:p>
                  </a:txBody>
                  <a:tcPr anchor="ctr">
                    <a:lnL>
                      <a:noFill/>
                    </a:lnL>
                    <a:lnR>
                      <a:noFill/>
                    </a:lnR>
                    <a:lnT>
                      <a:noFill/>
                    </a:lnT>
                    <a:lnB>
                      <a:noFill/>
                    </a:lnB>
                    <a:noFill/>
                  </a:tcPr>
                </a:tc>
                <a:extLst>
                  <a:ext uri="{0D108BD9-81ED-4DB2-BD59-A6C34878D82A}">
                    <a16:rowId xmlns:a16="http://schemas.microsoft.com/office/drawing/2014/main" val="3626170179"/>
                  </a:ext>
                </a:extLst>
              </a:tr>
              <a:tr h="0">
                <a:tc>
                  <a:txBody>
                    <a:bodyPr/>
                    <a:lstStyle/>
                    <a:p>
                      <a:pPr algn="l">
                        <a:buNone/>
                      </a:pPr>
                      <a:r>
                        <a:rPr lang="zh-CN" sz="1600"/>
                        <a:t>1</a:t>
                      </a:r>
                    </a:p>
                  </a:txBody>
                  <a:tcPr anchor="ctr">
                    <a:lnL>
                      <a:noFill/>
                    </a:lnL>
                    <a:lnR>
                      <a:noFill/>
                    </a:lnR>
                    <a:lnT>
                      <a:noFill/>
                    </a:lnT>
                    <a:lnB>
                      <a:noFill/>
                    </a:lnB>
                    <a:noFill/>
                  </a:tcPr>
                </a:tc>
                <a:tc>
                  <a:txBody>
                    <a:bodyPr/>
                    <a:lstStyle/>
                    <a:p>
                      <a:pPr algn="l">
                        <a:buNone/>
                      </a:pPr>
                      <a:r>
                        <a:rPr lang="zh-CN" sz="1600"/>
                        <a:t>需求风险</a:t>
                      </a:r>
                    </a:p>
                  </a:txBody>
                  <a:tcPr anchor="ctr">
                    <a:lnL>
                      <a:noFill/>
                    </a:lnL>
                    <a:lnR>
                      <a:noFill/>
                    </a:lnR>
                    <a:lnT>
                      <a:noFill/>
                    </a:lnT>
                    <a:lnB>
                      <a:noFill/>
                    </a:lnB>
                    <a:noFill/>
                  </a:tcPr>
                </a:tc>
                <a:tc>
                  <a:txBody>
                    <a:bodyPr/>
                    <a:lstStyle/>
                    <a:p>
                      <a:pPr algn="l">
                        <a:buNone/>
                      </a:pPr>
                      <a:r>
                        <a:rPr lang="zh-CN" sz="1600"/>
                        <a:t>核心需求是否已获客户签字确认？</a:t>
                      </a:r>
                    </a:p>
                  </a:txBody>
                  <a:tcPr anchor="ctr">
                    <a:lnL>
                      <a:noFill/>
                    </a:lnL>
                    <a:lnR>
                      <a:noFill/>
                    </a:lnR>
                    <a:lnT>
                      <a:noFill/>
                    </a:lnT>
                    <a:lnB>
                      <a:noFill/>
                    </a:lnB>
                    <a:noFill/>
                  </a:tcPr>
                </a:tc>
                <a:tc>
                  <a:txBody>
                    <a:bodyPr/>
                    <a:lstStyle/>
                    <a:p>
                      <a:pPr algn="l">
                        <a:buNone/>
                      </a:pPr>
                      <a:r>
                        <a:rPr lang="zh-CN" sz="1600"/>
                        <a:t>❌ 否</a:t>
                      </a:r>
                    </a:p>
                  </a:txBody>
                  <a:tcPr anchor="ctr">
                    <a:lnL>
                      <a:noFill/>
                    </a:lnL>
                    <a:lnR>
                      <a:noFill/>
                    </a:lnR>
                    <a:lnT>
                      <a:noFill/>
                    </a:lnT>
                    <a:lnB>
                      <a:noFill/>
                    </a:lnB>
                    <a:noFill/>
                  </a:tcPr>
                </a:tc>
                <a:tc>
                  <a:txBody>
                    <a:bodyPr/>
                    <a:lstStyle/>
                    <a:p>
                      <a:pPr algn="l">
                        <a:buNone/>
                      </a:pPr>
                      <a:r>
                        <a:rPr lang="zh-CN" sz="1600"/>
                        <a:t>高</a:t>
                      </a:r>
                    </a:p>
                  </a:txBody>
                  <a:tcPr anchor="ctr">
                    <a:lnL>
                      <a:noFill/>
                    </a:lnL>
                    <a:lnR>
                      <a:noFill/>
                    </a:lnR>
                    <a:lnT>
                      <a:noFill/>
                    </a:lnT>
                    <a:lnB>
                      <a:noFill/>
                    </a:lnB>
                    <a:noFill/>
                  </a:tcPr>
                </a:tc>
                <a:tc>
                  <a:txBody>
                    <a:bodyPr/>
                    <a:lstStyle/>
                    <a:p>
                      <a:pPr algn="l">
                        <a:buNone/>
                      </a:pPr>
                      <a:r>
                        <a:rPr lang="zh-CN" sz="1600"/>
                        <a:t>需在本周五前安排签字会议，否则暂停开发。</a:t>
                      </a:r>
                    </a:p>
                  </a:txBody>
                  <a:tcPr anchor="ctr">
                    <a:lnL>
                      <a:noFill/>
                    </a:lnL>
                    <a:lnR>
                      <a:noFill/>
                    </a:lnR>
                    <a:lnT>
                      <a:noFill/>
                    </a:lnT>
                    <a:lnB>
                      <a:noFill/>
                    </a:lnB>
                    <a:noFill/>
                  </a:tcPr>
                </a:tc>
                <a:extLst>
                  <a:ext uri="{0D108BD9-81ED-4DB2-BD59-A6C34878D82A}">
                    <a16:rowId xmlns:a16="http://schemas.microsoft.com/office/drawing/2014/main" val="3441088212"/>
                  </a:ext>
                </a:extLst>
              </a:tr>
              <a:tr h="0">
                <a:tc>
                  <a:txBody>
                    <a:bodyPr/>
                    <a:lstStyle/>
                    <a:p>
                      <a:pPr algn="l">
                        <a:buNone/>
                      </a:pPr>
                      <a:r>
                        <a:rPr lang="zh-CN" sz="1600"/>
                        <a:t>2</a:t>
                      </a:r>
                    </a:p>
                  </a:txBody>
                  <a:tcPr anchor="ctr">
                    <a:lnL>
                      <a:noFill/>
                    </a:lnL>
                    <a:lnR>
                      <a:noFill/>
                    </a:lnR>
                    <a:lnT>
                      <a:noFill/>
                    </a:lnT>
                    <a:lnB>
                      <a:noFill/>
                    </a:lnB>
                    <a:noFill/>
                  </a:tcPr>
                </a:tc>
                <a:tc>
                  <a:txBody>
                    <a:bodyPr/>
                    <a:lstStyle/>
                    <a:p>
                      <a:pPr algn="l">
                        <a:buNone/>
                      </a:pPr>
                      <a:r>
                        <a:rPr lang="zh-CN" sz="1600"/>
                        <a:t>技术风险</a:t>
                      </a:r>
                    </a:p>
                  </a:txBody>
                  <a:tcPr anchor="ctr">
                    <a:lnL>
                      <a:noFill/>
                    </a:lnL>
                    <a:lnR>
                      <a:noFill/>
                    </a:lnR>
                    <a:lnT>
                      <a:noFill/>
                    </a:lnT>
                    <a:lnB>
                      <a:noFill/>
                    </a:lnB>
                    <a:noFill/>
                  </a:tcPr>
                </a:tc>
                <a:tc>
                  <a:txBody>
                    <a:bodyPr/>
                    <a:lstStyle/>
                    <a:p>
                      <a:pPr algn="l">
                        <a:buNone/>
                      </a:pPr>
                      <a:r>
                        <a:rPr lang="zh-CN" sz="1600"/>
                        <a:t>团队是否掌握项目所需的关键技术？</a:t>
                      </a:r>
                    </a:p>
                  </a:txBody>
                  <a:tcPr anchor="ctr">
                    <a:lnL>
                      <a:noFill/>
                    </a:lnL>
                    <a:lnR>
                      <a:noFill/>
                    </a:lnR>
                    <a:lnT>
                      <a:noFill/>
                    </a:lnT>
                    <a:lnB>
                      <a:noFill/>
                    </a:lnB>
                    <a:noFill/>
                  </a:tcPr>
                </a:tc>
                <a:tc>
                  <a:txBody>
                    <a:bodyPr/>
                    <a:lstStyle/>
                    <a:p>
                      <a:pPr algn="l">
                        <a:buNone/>
                      </a:pPr>
                      <a:r>
                        <a:rPr lang="zh-CN" sz="1600"/>
                        <a:t>⚠️ 部分</a:t>
                      </a:r>
                    </a:p>
                  </a:txBody>
                  <a:tcPr anchor="ctr">
                    <a:lnL>
                      <a:noFill/>
                    </a:lnL>
                    <a:lnR>
                      <a:noFill/>
                    </a:lnR>
                    <a:lnT>
                      <a:noFill/>
                    </a:lnT>
                    <a:lnB>
                      <a:noFill/>
                    </a:lnB>
                    <a:noFill/>
                  </a:tcPr>
                </a:tc>
                <a:tc>
                  <a:txBody>
                    <a:bodyPr/>
                    <a:lstStyle/>
                    <a:p>
                      <a:pPr algn="l">
                        <a:buNone/>
                      </a:pPr>
                      <a:r>
                        <a:rPr lang="zh-CN" sz="1600"/>
                        <a:t>中</a:t>
                      </a:r>
                    </a:p>
                  </a:txBody>
                  <a:tcPr anchor="ctr">
                    <a:lnL>
                      <a:noFill/>
                    </a:lnL>
                    <a:lnR>
                      <a:noFill/>
                    </a:lnR>
                    <a:lnT>
                      <a:noFill/>
                    </a:lnT>
                    <a:lnB>
                      <a:noFill/>
                    </a:lnB>
                    <a:noFill/>
                  </a:tcPr>
                </a:tc>
                <a:tc>
                  <a:txBody>
                    <a:bodyPr/>
                    <a:lstStyle/>
                    <a:p>
                      <a:pPr algn="l">
                        <a:buNone/>
                      </a:pPr>
                      <a:r>
                        <a:rPr lang="zh-CN" sz="1600"/>
                        <a:t>2名核心成员不熟悉新框架，需安排3天培训。</a:t>
                      </a:r>
                    </a:p>
                  </a:txBody>
                  <a:tcPr anchor="ctr">
                    <a:lnL>
                      <a:noFill/>
                    </a:lnL>
                    <a:lnR>
                      <a:noFill/>
                    </a:lnR>
                    <a:lnT>
                      <a:noFill/>
                    </a:lnT>
                    <a:lnB>
                      <a:noFill/>
                    </a:lnB>
                    <a:noFill/>
                  </a:tcPr>
                </a:tc>
                <a:extLst>
                  <a:ext uri="{0D108BD9-81ED-4DB2-BD59-A6C34878D82A}">
                    <a16:rowId xmlns:a16="http://schemas.microsoft.com/office/drawing/2014/main" val="3033803444"/>
                  </a:ext>
                </a:extLst>
              </a:tr>
              <a:tr h="0">
                <a:tc>
                  <a:txBody>
                    <a:bodyPr/>
                    <a:lstStyle/>
                    <a:p>
                      <a:pPr algn="l">
                        <a:buNone/>
                      </a:pPr>
                      <a:r>
                        <a:rPr lang="zh-CN" sz="1600"/>
                        <a:t>3</a:t>
                      </a:r>
                    </a:p>
                  </a:txBody>
                  <a:tcPr anchor="ctr">
                    <a:lnL>
                      <a:noFill/>
                    </a:lnL>
                    <a:lnR>
                      <a:noFill/>
                    </a:lnR>
                    <a:lnT>
                      <a:noFill/>
                    </a:lnT>
                    <a:lnB>
                      <a:noFill/>
                    </a:lnB>
                    <a:noFill/>
                  </a:tcPr>
                </a:tc>
                <a:tc>
                  <a:txBody>
                    <a:bodyPr/>
                    <a:lstStyle/>
                    <a:p>
                      <a:pPr algn="l">
                        <a:buNone/>
                      </a:pPr>
                      <a:r>
                        <a:rPr lang="zh-CN" sz="1600"/>
                        <a:t>外部依赖</a:t>
                      </a:r>
                    </a:p>
                  </a:txBody>
                  <a:tcPr anchor="ctr">
                    <a:lnL>
                      <a:noFill/>
                    </a:lnL>
                    <a:lnR>
                      <a:noFill/>
                    </a:lnR>
                    <a:lnT>
                      <a:noFill/>
                    </a:lnT>
                    <a:lnB>
                      <a:noFill/>
                    </a:lnB>
                    <a:noFill/>
                  </a:tcPr>
                </a:tc>
                <a:tc>
                  <a:txBody>
                    <a:bodyPr/>
                    <a:lstStyle/>
                    <a:p>
                      <a:pPr algn="l">
                        <a:buNone/>
                      </a:pPr>
                      <a:r>
                        <a:rPr lang="zh-CN" sz="1600"/>
                        <a:t>第三方API接口文档是否已就绪？</a:t>
                      </a:r>
                    </a:p>
                  </a:txBody>
                  <a:tcPr anchor="ctr">
                    <a:lnL>
                      <a:noFill/>
                    </a:lnL>
                    <a:lnR>
                      <a:noFill/>
                    </a:lnR>
                    <a:lnT>
                      <a:noFill/>
                    </a:lnT>
                    <a:lnB>
                      <a:noFill/>
                    </a:lnB>
                    <a:noFill/>
                  </a:tcPr>
                </a:tc>
                <a:tc>
                  <a:txBody>
                    <a:bodyPr/>
                    <a:lstStyle/>
                    <a:p>
                      <a:pPr algn="l">
                        <a:buNone/>
                      </a:pPr>
                      <a:r>
                        <a:rPr lang="zh-CN" sz="1600"/>
                        <a:t>✅ 是</a:t>
                      </a:r>
                    </a:p>
                  </a:txBody>
                  <a:tcPr anchor="ctr">
                    <a:lnL>
                      <a:noFill/>
                    </a:lnL>
                    <a:lnR>
                      <a:noFill/>
                    </a:lnR>
                    <a:lnT>
                      <a:noFill/>
                    </a:lnT>
                    <a:lnB>
                      <a:noFill/>
                    </a:lnB>
                    <a:noFill/>
                  </a:tcPr>
                </a:tc>
                <a:tc>
                  <a:txBody>
                    <a:bodyPr/>
                    <a:lstStyle/>
                    <a:p>
                      <a:pPr algn="l">
                        <a:buNone/>
                      </a:pPr>
                      <a:r>
                        <a:rPr lang="zh-CN" sz="1600"/>
                        <a:t>无</a:t>
                      </a:r>
                    </a:p>
                  </a:txBody>
                  <a:tcPr anchor="ctr">
                    <a:lnL>
                      <a:noFill/>
                    </a:lnL>
                    <a:lnR>
                      <a:noFill/>
                    </a:lnR>
                    <a:lnT>
                      <a:noFill/>
                    </a:lnT>
                    <a:lnB>
                      <a:noFill/>
                    </a:lnB>
                    <a:noFill/>
                  </a:tcPr>
                </a:tc>
                <a:tc>
                  <a:txBody>
                    <a:bodyPr/>
                    <a:lstStyle/>
                    <a:p>
                      <a:pPr algn="l">
                        <a:buNone/>
                      </a:pPr>
                      <a:r>
                        <a:rPr lang="zh-CN" sz="1600"/>
                        <a:t>无需额外操作。</a:t>
                      </a:r>
                    </a:p>
                  </a:txBody>
                  <a:tcPr anchor="ctr">
                    <a:lnL>
                      <a:noFill/>
                    </a:lnL>
                    <a:lnR>
                      <a:noFill/>
                    </a:lnR>
                    <a:lnT>
                      <a:noFill/>
                    </a:lnT>
                    <a:lnB>
                      <a:noFill/>
                    </a:lnB>
                    <a:noFill/>
                  </a:tcPr>
                </a:tc>
                <a:extLst>
                  <a:ext uri="{0D108BD9-81ED-4DB2-BD59-A6C34878D82A}">
                    <a16:rowId xmlns:a16="http://schemas.microsoft.com/office/drawing/2014/main" val="351538451"/>
                  </a:ext>
                </a:extLst>
              </a:tr>
              <a:tr h="0">
                <a:tc>
                  <a:txBody>
                    <a:bodyPr/>
                    <a:lstStyle/>
                    <a:p>
                      <a:pPr algn="l">
                        <a:buNone/>
                      </a:pPr>
                      <a:r>
                        <a:rPr lang="zh-CN" sz="1600"/>
                        <a:t>4</a:t>
                      </a:r>
                    </a:p>
                  </a:txBody>
                  <a:tcPr anchor="ctr">
                    <a:lnL>
                      <a:noFill/>
                    </a:lnL>
                    <a:lnR>
                      <a:noFill/>
                    </a:lnR>
                    <a:lnT>
                      <a:noFill/>
                    </a:lnT>
                    <a:lnB>
                      <a:noFill/>
                    </a:lnB>
                    <a:noFill/>
                  </a:tcPr>
                </a:tc>
                <a:tc>
                  <a:txBody>
                    <a:bodyPr/>
                    <a:lstStyle/>
                    <a:p>
                      <a:pPr algn="l">
                        <a:buNone/>
                      </a:pPr>
                      <a:r>
                        <a:rPr lang="zh-CN" sz="1600"/>
                        <a:t>资源风险</a:t>
                      </a:r>
                    </a:p>
                  </a:txBody>
                  <a:tcPr anchor="ctr">
                    <a:lnL>
                      <a:noFill/>
                    </a:lnL>
                    <a:lnR>
                      <a:noFill/>
                    </a:lnR>
                    <a:lnT>
                      <a:noFill/>
                    </a:lnT>
                    <a:lnB>
                      <a:noFill/>
                    </a:lnB>
                    <a:noFill/>
                  </a:tcPr>
                </a:tc>
                <a:tc>
                  <a:txBody>
                    <a:bodyPr/>
                    <a:lstStyle/>
                    <a:p>
                      <a:pPr algn="l">
                        <a:buNone/>
                      </a:pPr>
                      <a:r>
                        <a:rPr lang="zh-CN" sz="1600"/>
                        <a:t>关键人员（如架构师）近期是否有休假计划？</a:t>
                      </a:r>
                    </a:p>
                  </a:txBody>
                  <a:tcPr anchor="ctr">
                    <a:lnL>
                      <a:noFill/>
                    </a:lnL>
                    <a:lnR>
                      <a:noFill/>
                    </a:lnR>
                    <a:lnT>
                      <a:noFill/>
                    </a:lnT>
                    <a:lnB>
                      <a:noFill/>
                    </a:lnB>
                    <a:noFill/>
                  </a:tcPr>
                </a:tc>
                <a:tc>
                  <a:txBody>
                    <a:bodyPr/>
                    <a:lstStyle/>
                    <a:p>
                      <a:pPr algn="l">
                        <a:buNone/>
                      </a:pPr>
                      <a:r>
                        <a:rPr lang="zh-CN" sz="1600"/>
                        <a:t>✅ 是</a:t>
                      </a:r>
                    </a:p>
                  </a:txBody>
                  <a:tcPr anchor="ctr">
                    <a:lnL>
                      <a:noFill/>
                    </a:lnL>
                    <a:lnR>
                      <a:noFill/>
                    </a:lnR>
                    <a:lnT>
                      <a:noFill/>
                    </a:lnT>
                    <a:lnB>
                      <a:noFill/>
                    </a:lnB>
                    <a:noFill/>
                  </a:tcPr>
                </a:tc>
                <a:tc>
                  <a:txBody>
                    <a:bodyPr/>
                    <a:lstStyle/>
                    <a:p>
                      <a:pPr algn="l">
                        <a:buNone/>
                      </a:pPr>
                      <a:r>
                        <a:rPr lang="zh-CN" sz="1600"/>
                        <a:t>低</a:t>
                      </a:r>
                    </a:p>
                  </a:txBody>
                  <a:tcPr anchor="ctr">
                    <a:lnL>
                      <a:noFill/>
                    </a:lnL>
                    <a:lnR>
                      <a:noFill/>
                    </a:lnR>
                    <a:lnT>
                      <a:noFill/>
                    </a:lnT>
                    <a:lnB>
                      <a:noFill/>
                    </a:lnB>
                    <a:noFill/>
                  </a:tcPr>
                </a:tc>
                <a:tc>
                  <a:txBody>
                    <a:bodyPr/>
                    <a:lstStyle/>
                    <a:p>
                      <a:pPr algn="l">
                        <a:buNone/>
                      </a:pPr>
                      <a:r>
                        <a:rPr lang="zh-CN" sz="1600" dirty="0"/>
                        <a:t>已确认休假时间，已安排备份人员。</a:t>
                      </a:r>
                    </a:p>
                  </a:txBody>
                  <a:tcPr anchor="ctr">
                    <a:lnL>
                      <a:noFill/>
                    </a:lnL>
                    <a:lnR>
                      <a:noFill/>
                    </a:lnR>
                    <a:lnT>
                      <a:noFill/>
                    </a:lnT>
                    <a:lnB>
                      <a:noFill/>
                    </a:lnB>
                    <a:noFill/>
                  </a:tcPr>
                </a:tc>
                <a:extLst>
                  <a:ext uri="{0D108BD9-81ED-4DB2-BD59-A6C34878D82A}">
                    <a16:rowId xmlns:a16="http://schemas.microsoft.com/office/drawing/2014/main" val="3032071217"/>
                  </a:ext>
                </a:extLst>
              </a:tr>
            </a:tbl>
          </a:graphicData>
        </a:graphic>
      </p:graphicFrame>
    </p:spTree>
    <p:extLst>
      <p:ext uri="{BB962C8B-B14F-4D97-AF65-F5344CB8AC3E}">
        <p14:creationId xmlns:p14="http://schemas.microsoft.com/office/powerpoint/2010/main" val="917182235"/>
      </p:ext>
    </p:extLst>
  </p:cSld>
  <p:clrMapOvr>
    <a:masterClrMapping/>
  </p:clrMapOvr>
</p:sld>
</file>

<file path=ppt/slides/slide4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FB6F5-B284-5873-B4DB-890A2E9F944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5FCAFB7-9FD6-5FB3-13EE-C002392ED8EE}"/>
              </a:ext>
            </a:extLst>
          </p:cNvPr>
          <p:cNvSpPr>
            <a:spLocks noGrp="1"/>
          </p:cNvSpPr>
          <p:nvPr>
            <p:ph type="title"/>
          </p:nvPr>
        </p:nvSpPr>
        <p:spPr>
          <a:xfrm>
            <a:off x="694800" y="360000"/>
            <a:ext cx="6375921" cy="429413"/>
          </a:xfrm>
        </p:spPr>
        <p:txBody>
          <a:bodyPr/>
          <a:lstStyle/>
          <a:p>
            <a:r>
              <a:rPr lang="en-US" altLang="zh-CN" dirty="0"/>
              <a:t>11.2 </a:t>
            </a:r>
            <a:r>
              <a:rPr lang="zh-CN" altLang="en-US" dirty="0"/>
              <a:t>风险识别</a:t>
            </a:r>
          </a:p>
        </p:txBody>
      </p:sp>
      <p:sp>
        <p:nvSpPr>
          <p:cNvPr id="9" name="内容占位符 8">
            <a:extLst>
              <a:ext uri="{FF2B5EF4-FFF2-40B4-BE49-F238E27FC236}">
                <a16:creationId xmlns:a16="http://schemas.microsoft.com/office/drawing/2014/main" id="{F37E2B22-EE0B-D5D4-1782-2F6A0E7FB0F5}"/>
              </a:ext>
            </a:extLst>
          </p:cNvPr>
          <p:cNvSpPr>
            <a:spLocks noGrp="1"/>
          </p:cNvSpPr>
          <p:nvPr>
            <p:ph idx="1"/>
          </p:nvPr>
        </p:nvSpPr>
        <p:spPr/>
        <p:txBody>
          <a:bodyPr/>
          <a:lstStyle/>
          <a:p>
            <a:endParaRPr lang="zh-CN" altLang="en-US" dirty="0"/>
          </a:p>
        </p:txBody>
      </p:sp>
      <p:sp>
        <p:nvSpPr>
          <p:cNvPr id="10" name="文本占位符 9">
            <a:extLst>
              <a:ext uri="{FF2B5EF4-FFF2-40B4-BE49-F238E27FC236}">
                <a16:creationId xmlns:a16="http://schemas.microsoft.com/office/drawing/2014/main" id="{961CCFE8-912F-32EA-4291-10F86FF4F61E}"/>
              </a:ext>
            </a:extLst>
          </p:cNvPr>
          <p:cNvSpPr>
            <a:spLocks noGrp="1"/>
          </p:cNvSpPr>
          <p:nvPr>
            <p:ph type="body" sz="quarter" idx="10"/>
          </p:nvPr>
        </p:nvSpPr>
        <p:spPr/>
        <p:txBody>
          <a:bodyPr/>
          <a:lstStyle/>
          <a:p>
            <a:endParaRPr lang="zh-CN" altLang="en-US"/>
          </a:p>
        </p:txBody>
      </p:sp>
      <p:sp>
        <p:nvSpPr>
          <p:cNvPr id="5" name="文本占位符 4">
            <a:extLst>
              <a:ext uri="{FF2B5EF4-FFF2-40B4-BE49-F238E27FC236}">
                <a16:creationId xmlns:a16="http://schemas.microsoft.com/office/drawing/2014/main" id="{3CEF3389-BC55-D915-4831-919C658B7E07}"/>
              </a:ext>
            </a:extLst>
          </p:cNvPr>
          <p:cNvSpPr>
            <a:spLocks noGrp="1"/>
          </p:cNvSpPr>
          <p:nvPr>
            <p:ph type="body" sz="quarter" idx="11"/>
          </p:nvPr>
        </p:nvSpPr>
        <p:spPr>
          <a:xfrm>
            <a:off x="694800" y="864000"/>
            <a:ext cx="6203950" cy="400110"/>
          </a:xfrm>
        </p:spPr>
        <p:txBody>
          <a:bodyPr/>
          <a:lstStyle/>
          <a:p>
            <a:r>
              <a:rPr lang="en-US" altLang="zh-CN" dirty="0"/>
              <a:t>2. </a:t>
            </a:r>
            <a:r>
              <a:rPr lang="zh-CN" altLang="en-US" dirty="0"/>
              <a:t>结果</a:t>
            </a:r>
          </a:p>
        </p:txBody>
      </p:sp>
      <p:graphicFrame>
        <p:nvGraphicFramePr>
          <p:cNvPr id="4" name="表格 3">
            <a:extLst>
              <a:ext uri="{FF2B5EF4-FFF2-40B4-BE49-F238E27FC236}">
                <a16:creationId xmlns:a16="http://schemas.microsoft.com/office/drawing/2014/main" id="{AAF654B2-7489-8700-883E-B34DB2517B3F}"/>
              </a:ext>
            </a:extLst>
          </p:cNvPr>
          <p:cNvGraphicFramePr>
            <a:graphicFrameLocks noGrp="1"/>
          </p:cNvGraphicFramePr>
          <p:nvPr>
            <p:extLst>
              <p:ext uri="{D42A27DB-BD31-4B8C-83A1-F6EECF244321}">
                <p14:modId xmlns:p14="http://schemas.microsoft.com/office/powerpoint/2010/main" val="4263579897"/>
              </p:ext>
            </p:extLst>
          </p:nvPr>
        </p:nvGraphicFramePr>
        <p:xfrm>
          <a:off x="695326" y="2121217"/>
          <a:ext cx="10801348" cy="2804160"/>
        </p:xfrm>
        <a:graphic>
          <a:graphicData uri="http://schemas.openxmlformats.org/drawingml/2006/table">
            <a:tbl>
              <a:tblPr/>
              <a:tblGrid>
                <a:gridCol w="1362074">
                  <a:extLst>
                    <a:ext uri="{9D8B030D-6E8A-4147-A177-3AD203B41FA5}">
                      <a16:colId xmlns:a16="http://schemas.microsoft.com/office/drawing/2014/main" val="143545157"/>
                    </a:ext>
                  </a:extLst>
                </a:gridCol>
                <a:gridCol w="1718733">
                  <a:extLst>
                    <a:ext uri="{9D8B030D-6E8A-4147-A177-3AD203B41FA5}">
                      <a16:colId xmlns:a16="http://schemas.microsoft.com/office/drawing/2014/main" val="298216457"/>
                    </a:ext>
                  </a:extLst>
                </a:gridCol>
                <a:gridCol w="5020204">
                  <a:extLst>
                    <a:ext uri="{9D8B030D-6E8A-4147-A177-3AD203B41FA5}">
                      <a16:colId xmlns:a16="http://schemas.microsoft.com/office/drawing/2014/main" val="2948974028"/>
                    </a:ext>
                  </a:extLst>
                </a:gridCol>
                <a:gridCol w="2700337">
                  <a:extLst>
                    <a:ext uri="{9D8B030D-6E8A-4147-A177-3AD203B41FA5}">
                      <a16:colId xmlns:a16="http://schemas.microsoft.com/office/drawing/2014/main" val="3893355148"/>
                    </a:ext>
                  </a:extLst>
                </a:gridCol>
              </a:tblGrid>
              <a:tr h="197154">
                <a:tc>
                  <a:txBody>
                    <a:bodyPr/>
                    <a:lstStyle/>
                    <a:p>
                      <a:pPr algn="l">
                        <a:buNone/>
                      </a:pPr>
                      <a:r>
                        <a:rPr lang="zh-CN" sz="1600"/>
                        <a:t>风险编号</a:t>
                      </a:r>
                    </a:p>
                  </a:txBody>
                  <a:tcPr anchor="ctr">
                    <a:lnL>
                      <a:noFill/>
                    </a:lnL>
                    <a:lnR>
                      <a:noFill/>
                    </a:lnR>
                    <a:lnT>
                      <a:noFill/>
                    </a:lnT>
                    <a:lnB>
                      <a:noFill/>
                    </a:lnB>
                    <a:noFill/>
                  </a:tcPr>
                </a:tc>
                <a:tc>
                  <a:txBody>
                    <a:bodyPr/>
                    <a:lstStyle/>
                    <a:p>
                      <a:pPr algn="l">
                        <a:buNone/>
                      </a:pPr>
                      <a:r>
                        <a:rPr lang="zh-CN" sz="1600"/>
                        <a:t>风险类别</a:t>
                      </a:r>
                    </a:p>
                  </a:txBody>
                  <a:tcPr anchor="ctr">
                    <a:lnL>
                      <a:noFill/>
                    </a:lnL>
                    <a:lnR>
                      <a:noFill/>
                    </a:lnR>
                    <a:lnT>
                      <a:noFill/>
                    </a:lnT>
                    <a:lnB>
                      <a:noFill/>
                    </a:lnB>
                    <a:noFill/>
                  </a:tcPr>
                </a:tc>
                <a:tc>
                  <a:txBody>
                    <a:bodyPr/>
                    <a:lstStyle/>
                    <a:p>
                      <a:pPr algn="l">
                        <a:buNone/>
                      </a:pPr>
                      <a:r>
                        <a:rPr lang="zh-CN" sz="1600"/>
                        <a:t>风险描述</a:t>
                      </a:r>
                    </a:p>
                  </a:txBody>
                  <a:tcPr anchor="ctr">
                    <a:lnL>
                      <a:noFill/>
                    </a:lnL>
                    <a:lnR>
                      <a:noFill/>
                    </a:lnR>
                    <a:lnT>
                      <a:noFill/>
                    </a:lnT>
                    <a:lnB>
                      <a:noFill/>
                    </a:lnB>
                    <a:noFill/>
                  </a:tcPr>
                </a:tc>
                <a:tc>
                  <a:txBody>
                    <a:bodyPr/>
                    <a:lstStyle/>
                    <a:p>
                      <a:pPr algn="l">
                        <a:buNone/>
                      </a:pPr>
                      <a:r>
                        <a:rPr lang="zh-CN" sz="1600"/>
                        <a:t>潜在应对措施</a:t>
                      </a:r>
                    </a:p>
                  </a:txBody>
                  <a:tcPr anchor="ctr">
                    <a:lnL>
                      <a:noFill/>
                    </a:lnL>
                    <a:lnR>
                      <a:noFill/>
                    </a:lnR>
                    <a:lnT>
                      <a:noFill/>
                    </a:lnT>
                    <a:lnB>
                      <a:noFill/>
                    </a:lnB>
                    <a:noFill/>
                  </a:tcPr>
                </a:tc>
                <a:extLst>
                  <a:ext uri="{0D108BD9-81ED-4DB2-BD59-A6C34878D82A}">
                    <a16:rowId xmlns:a16="http://schemas.microsoft.com/office/drawing/2014/main" val="3512697006"/>
                  </a:ext>
                </a:extLst>
              </a:tr>
              <a:tr h="821356">
                <a:tc>
                  <a:txBody>
                    <a:bodyPr/>
                    <a:lstStyle/>
                    <a:p>
                      <a:pPr algn="l">
                        <a:buNone/>
                      </a:pPr>
                      <a:r>
                        <a:rPr lang="zh-CN" sz="1600" dirty="0"/>
                        <a:t>RISK-001</a:t>
                      </a:r>
                    </a:p>
                  </a:txBody>
                  <a:tcPr anchor="ctr">
                    <a:lnL>
                      <a:noFill/>
                    </a:lnL>
                    <a:lnR>
                      <a:noFill/>
                    </a:lnR>
                    <a:lnT>
                      <a:noFill/>
                    </a:lnT>
                    <a:lnB>
                      <a:noFill/>
                    </a:lnB>
                    <a:noFill/>
                  </a:tcPr>
                </a:tc>
                <a:tc>
                  <a:txBody>
                    <a:bodyPr/>
                    <a:lstStyle/>
                    <a:p>
                      <a:pPr algn="l">
                        <a:buNone/>
                      </a:pPr>
                      <a:r>
                        <a:rPr lang="zh-CN" sz="1600"/>
                        <a:t>需求风险</a:t>
                      </a:r>
                    </a:p>
                  </a:txBody>
                  <a:tcPr anchor="ctr">
                    <a:lnL>
                      <a:noFill/>
                    </a:lnL>
                    <a:lnR>
                      <a:noFill/>
                    </a:lnR>
                    <a:lnT>
                      <a:noFill/>
                    </a:lnT>
                    <a:lnB>
                      <a:noFill/>
                    </a:lnB>
                    <a:noFill/>
                  </a:tcPr>
                </a:tc>
                <a:tc>
                  <a:txBody>
                    <a:bodyPr/>
                    <a:lstStyle/>
                    <a:p>
                      <a:pPr algn="l">
                        <a:buNone/>
                      </a:pPr>
                      <a:r>
                        <a:rPr lang="zh-CN" sz="1600"/>
                        <a:t>核心需求尚未获得客户签字确认。</a:t>
                      </a:r>
                      <a:br>
                        <a:rPr lang="zh-CN" sz="1600"/>
                      </a:br>
                      <a:r>
                        <a:rPr lang="zh-CN" sz="1600"/>
                        <a:t>目前项目核心需求处于未锁定状态，若后续需求发生重大变更，可能导致开发返工或进度延误。</a:t>
                      </a:r>
                    </a:p>
                  </a:txBody>
                  <a:tcPr anchor="ctr">
                    <a:lnL>
                      <a:noFill/>
                    </a:lnL>
                    <a:lnR>
                      <a:noFill/>
                    </a:lnR>
                    <a:lnT>
                      <a:noFill/>
                    </a:lnT>
                    <a:lnB>
                      <a:noFill/>
                    </a:lnB>
                    <a:noFill/>
                  </a:tcPr>
                </a:tc>
                <a:tc>
                  <a:txBody>
                    <a:bodyPr/>
                    <a:lstStyle/>
                    <a:p>
                      <a:pPr algn="l">
                        <a:buNone/>
                      </a:pPr>
                      <a:r>
                        <a:rPr lang="zh-CN" sz="1600"/>
                        <a:t>需在本周五前安排签字会议，否则暂停开发。</a:t>
                      </a:r>
                    </a:p>
                  </a:txBody>
                  <a:tcPr anchor="ctr">
                    <a:lnL>
                      <a:noFill/>
                    </a:lnL>
                    <a:lnR>
                      <a:noFill/>
                    </a:lnR>
                    <a:lnT>
                      <a:noFill/>
                    </a:lnT>
                    <a:lnB>
                      <a:noFill/>
                    </a:lnB>
                    <a:noFill/>
                  </a:tcPr>
                </a:tc>
                <a:extLst>
                  <a:ext uri="{0D108BD9-81ED-4DB2-BD59-A6C34878D82A}">
                    <a16:rowId xmlns:a16="http://schemas.microsoft.com/office/drawing/2014/main" val="498592807"/>
                  </a:ext>
                </a:extLst>
              </a:tr>
              <a:tr h="691668">
                <a:tc>
                  <a:txBody>
                    <a:bodyPr/>
                    <a:lstStyle/>
                    <a:p>
                      <a:pPr algn="l">
                        <a:buNone/>
                      </a:pPr>
                      <a:r>
                        <a:rPr lang="zh-CN" sz="1600"/>
                        <a:t>RISK-002</a:t>
                      </a:r>
                    </a:p>
                  </a:txBody>
                  <a:tcPr anchor="ctr">
                    <a:lnL>
                      <a:noFill/>
                    </a:lnL>
                    <a:lnR>
                      <a:noFill/>
                    </a:lnR>
                    <a:lnT>
                      <a:noFill/>
                    </a:lnT>
                    <a:lnB>
                      <a:noFill/>
                    </a:lnB>
                    <a:noFill/>
                  </a:tcPr>
                </a:tc>
                <a:tc>
                  <a:txBody>
                    <a:bodyPr/>
                    <a:lstStyle/>
                    <a:p>
                      <a:pPr algn="l">
                        <a:buNone/>
                      </a:pPr>
                      <a:r>
                        <a:rPr lang="zh-CN" sz="1600"/>
                        <a:t>技术风险</a:t>
                      </a:r>
                    </a:p>
                  </a:txBody>
                  <a:tcPr anchor="ctr">
                    <a:lnL>
                      <a:noFill/>
                    </a:lnL>
                    <a:lnR>
                      <a:noFill/>
                    </a:lnR>
                    <a:lnT>
                      <a:noFill/>
                    </a:lnT>
                    <a:lnB>
                      <a:noFill/>
                    </a:lnB>
                    <a:noFill/>
                  </a:tcPr>
                </a:tc>
                <a:tc>
                  <a:txBody>
                    <a:bodyPr/>
                    <a:lstStyle/>
                    <a:p>
                      <a:pPr algn="l">
                        <a:buNone/>
                      </a:pPr>
                      <a:r>
                        <a:rPr lang="zh-CN" sz="1600"/>
                        <a:t>团队对关键技术掌握不足。</a:t>
                      </a:r>
                      <a:br>
                        <a:rPr lang="zh-CN" sz="1600"/>
                      </a:br>
                      <a:r>
                        <a:rPr lang="zh-CN" sz="1600"/>
                        <a:t>部分核心成员（2名）不熟悉项目所需的新框架，可能导致开发效率低下或代码质量不达标。</a:t>
                      </a:r>
                    </a:p>
                  </a:txBody>
                  <a:tcPr anchor="ctr">
                    <a:lnL>
                      <a:noFill/>
                    </a:lnL>
                    <a:lnR>
                      <a:noFill/>
                    </a:lnR>
                    <a:lnT>
                      <a:noFill/>
                    </a:lnT>
                    <a:lnB>
                      <a:noFill/>
                    </a:lnB>
                    <a:noFill/>
                  </a:tcPr>
                </a:tc>
                <a:tc>
                  <a:txBody>
                    <a:bodyPr/>
                    <a:lstStyle/>
                    <a:p>
                      <a:pPr algn="l">
                        <a:buNone/>
                      </a:pPr>
                      <a:r>
                        <a:rPr lang="zh-CN" sz="1600"/>
                        <a:t>安排2名核心成员进行为期3天的专项技术培训。</a:t>
                      </a:r>
                    </a:p>
                  </a:txBody>
                  <a:tcPr anchor="ctr">
                    <a:lnL>
                      <a:noFill/>
                    </a:lnL>
                    <a:lnR>
                      <a:noFill/>
                    </a:lnR>
                    <a:lnT>
                      <a:noFill/>
                    </a:lnT>
                    <a:lnB>
                      <a:noFill/>
                    </a:lnB>
                    <a:noFill/>
                  </a:tcPr>
                </a:tc>
                <a:extLst>
                  <a:ext uri="{0D108BD9-81ED-4DB2-BD59-A6C34878D82A}">
                    <a16:rowId xmlns:a16="http://schemas.microsoft.com/office/drawing/2014/main" val="3241152343"/>
                  </a:ext>
                </a:extLst>
              </a:tr>
              <a:tr h="821356">
                <a:tc>
                  <a:txBody>
                    <a:bodyPr/>
                    <a:lstStyle/>
                    <a:p>
                      <a:pPr algn="l">
                        <a:buNone/>
                      </a:pPr>
                      <a:r>
                        <a:rPr lang="zh-CN" sz="1600"/>
                        <a:t>RISK-003</a:t>
                      </a:r>
                    </a:p>
                  </a:txBody>
                  <a:tcPr anchor="ctr">
                    <a:lnL>
                      <a:noFill/>
                    </a:lnL>
                    <a:lnR>
                      <a:noFill/>
                    </a:lnR>
                    <a:lnT>
                      <a:noFill/>
                    </a:lnT>
                    <a:lnB>
                      <a:noFill/>
                    </a:lnB>
                    <a:noFill/>
                  </a:tcPr>
                </a:tc>
                <a:tc>
                  <a:txBody>
                    <a:bodyPr/>
                    <a:lstStyle/>
                    <a:p>
                      <a:pPr algn="l">
                        <a:buNone/>
                      </a:pPr>
                      <a:r>
                        <a:rPr lang="zh-CN" sz="1600"/>
                        <a:t>资源风险</a:t>
                      </a:r>
                    </a:p>
                  </a:txBody>
                  <a:tcPr anchor="ctr">
                    <a:lnL>
                      <a:noFill/>
                    </a:lnL>
                    <a:lnR>
                      <a:noFill/>
                    </a:lnR>
                    <a:lnT>
                      <a:noFill/>
                    </a:lnT>
                    <a:lnB>
                      <a:noFill/>
                    </a:lnB>
                    <a:noFill/>
                  </a:tcPr>
                </a:tc>
                <a:tc>
                  <a:txBody>
                    <a:bodyPr/>
                    <a:lstStyle/>
                    <a:p>
                      <a:pPr algn="l">
                        <a:buNone/>
                      </a:pPr>
                      <a:r>
                        <a:rPr lang="zh-CN" sz="1600"/>
                        <a:t>关键人员（架构师）近期有休假计划。</a:t>
                      </a:r>
                      <a:br>
                        <a:rPr lang="zh-CN" sz="1600"/>
                      </a:br>
                      <a:r>
                        <a:rPr lang="zh-CN" sz="1600"/>
                        <a:t>项目关键路径期间，核心架构师将休假，可能导致技术决策滞后或无人解决关键难题。</a:t>
                      </a:r>
                    </a:p>
                  </a:txBody>
                  <a:tcPr anchor="ctr">
                    <a:lnL>
                      <a:noFill/>
                    </a:lnL>
                    <a:lnR>
                      <a:noFill/>
                    </a:lnR>
                    <a:lnT>
                      <a:noFill/>
                    </a:lnT>
                    <a:lnB>
                      <a:noFill/>
                    </a:lnB>
                    <a:noFill/>
                  </a:tcPr>
                </a:tc>
                <a:tc>
                  <a:txBody>
                    <a:bodyPr/>
                    <a:lstStyle/>
                    <a:p>
                      <a:pPr algn="l">
                        <a:buNone/>
                      </a:pPr>
                      <a:r>
                        <a:rPr lang="zh-CN" sz="1600" dirty="0"/>
                        <a:t>已确认休假时间，并已安排备份人员（接班人）在此期间待命。</a:t>
                      </a:r>
                    </a:p>
                  </a:txBody>
                  <a:tcPr anchor="ctr">
                    <a:lnL>
                      <a:noFill/>
                    </a:lnL>
                    <a:lnR>
                      <a:noFill/>
                    </a:lnR>
                    <a:lnT>
                      <a:noFill/>
                    </a:lnT>
                    <a:lnB>
                      <a:noFill/>
                    </a:lnB>
                    <a:noFill/>
                  </a:tcPr>
                </a:tc>
                <a:extLst>
                  <a:ext uri="{0D108BD9-81ED-4DB2-BD59-A6C34878D82A}">
                    <a16:rowId xmlns:a16="http://schemas.microsoft.com/office/drawing/2014/main" val="2909819151"/>
                  </a:ext>
                </a:extLst>
              </a:tr>
            </a:tbl>
          </a:graphicData>
        </a:graphic>
      </p:graphicFrame>
    </p:spTree>
    <p:extLst>
      <p:ext uri="{BB962C8B-B14F-4D97-AF65-F5344CB8AC3E}">
        <p14:creationId xmlns:p14="http://schemas.microsoft.com/office/powerpoint/2010/main" val="1256816022"/>
      </p:ext>
    </p:extLst>
  </p:cSld>
  <p:clrMapOvr>
    <a:masterClrMapping/>
  </p:clrMapOvr>
</p:sld>
</file>

<file path=ppt/slides/slide4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9F58C-9488-77AC-4AFA-E7573EA5A01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8C8E248-BA85-A4FC-8D6E-7E500E9C95DA}"/>
              </a:ext>
            </a:extLst>
          </p:cNvPr>
          <p:cNvSpPr>
            <a:spLocks noGrp="1"/>
          </p:cNvSpPr>
          <p:nvPr>
            <p:ph type="title"/>
          </p:nvPr>
        </p:nvSpPr>
        <p:spPr>
          <a:xfrm>
            <a:off x="694800" y="360000"/>
            <a:ext cx="6375921" cy="429413"/>
          </a:xfrm>
        </p:spPr>
        <p:txBody>
          <a:bodyPr/>
          <a:lstStyle/>
          <a:p>
            <a:r>
              <a:rPr lang="en-US" altLang="zh-CN" dirty="0"/>
              <a:t>11.3 </a:t>
            </a:r>
            <a:r>
              <a:rPr lang="zh-CN" altLang="en-US" dirty="0"/>
              <a:t>风险评估</a:t>
            </a:r>
          </a:p>
        </p:txBody>
      </p:sp>
      <p:sp>
        <p:nvSpPr>
          <p:cNvPr id="23" name="内容占位符 22">
            <a:extLst>
              <a:ext uri="{FF2B5EF4-FFF2-40B4-BE49-F238E27FC236}">
                <a16:creationId xmlns:a16="http://schemas.microsoft.com/office/drawing/2014/main" id="{4F622B28-0D8A-8284-1010-B5735CBD372A}"/>
              </a:ext>
            </a:extLst>
          </p:cNvPr>
          <p:cNvSpPr>
            <a:spLocks noGrp="1"/>
          </p:cNvSpPr>
          <p:nvPr>
            <p:ph idx="1"/>
          </p:nvPr>
        </p:nvSpPr>
        <p:spPr/>
        <p:txBody>
          <a:bodyPr/>
          <a:lstStyle/>
          <a:p>
            <a:endParaRPr lang="zh-CN" altLang="en-US"/>
          </a:p>
        </p:txBody>
      </p:sp>
      <p:sp>
        <p:nvSpPr>
          <p:cNvPr id="24" name="文本占位符 23">
            <a:extLst>
              <a:ext uri="{FF2B5EF4-FFF2-40B4-BE49-F238E27FC236}">
                <a16:creationId xmlns:a16="http://schemas.microsoft.com/office/drawing/2014/main" id="{06891459-68F0-89F5-5C59-008BB2050D8C}"/>
              </a:ext>
            </a:extLst>
          </p:cNvPr>
          <p:cNvSpPr>
            <a:spLocks noGrp="1"/>
          </p:cNvSpPr>
          <p:nvPr>
            <p:ph type="body" sz="quarter" idx="10"/>
          </p:nvPr>
        </p:nvSpPr>
        <p:spPr/>
        <p:txBody>
          <a:bodyPr/>
          <a:lstStyle/>
          <a:p>
            <a:endParaRPr lang="zh-CN" altLang="en-US"/>
          </a:p>
        </p:txBody>
      </p:sp>
      <p:sp>
        <p:nvSpPr>
          <p:cNvPr id="12" name="文本占位符 11">
            <a:extLst>
              <a:ext uri="{FF2B5EF4-FFF2-40B4-BE49-F238E27FC236}">
                <a16:creationId xmlns:a16="http://schemas.microsoft.com/office/drawing/2014/main" id="{9364EE98-0C55-18D3-4180-70938E26EC38}"/>
              </a:ext>
            </a:extLst>
          </p:cNvPr>
          <p:cNvSpPr>
            <a:spLocks noGrp="1"/>
          </p:cNvSpPr>
          <p:nvPr>
            <p:ph type="body" sz="quarter" idx="11"/>
          </p:nvPr>
        </p:nvSpPr>
        <p:spPr>
          <a:xfrm>
            <a:off x="694800" y="864000"/>
            <a:ext cx="6203950" cy="400110"/>
          </a:xfrm>
        </p:spPr>
        <p:txBody>
          <a:bodyPr/>
          <a:lstStyle/>
          <a:p>
            <a:r>
              <a:rPr lang="en-US" altLang="zh-CN" dirty="0"/>
              <a:t>1. </a:t>
            </a:r>
            <a:r>
              <a:rPr lang="zh-CN" altLang="en-US" dirty="0"/>
              <a:t>定性风险评估方法</a:t>
            </a:r>
            <a:endParaRPr lang="en-US" altLang="zh-CN" dirty="0"/>
          </a:p>
        </p:txBody>
      </p:sp>
    </p:spTree>
    <p:extLst>
      <p:ext uri="{BB962C8B-B14F-4D97-AF65-F5344CB8AC3E}">
        <p14:creationId xmlns:p14="http://schemas.microsoft.com/office/powerpoint/2010/main" val="1160755755"/>
      </p:ext>
    </p:extLst>
  </p:cSld>
  <p:clrMapOvr>
    <a:masterClrMapping/>
  </p:clrMapOvr>
</p:sld>
</file>

<file path=ppt/slides/slide4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格 5">
            <a:extLst>
              <a:ext uri="{FF2B5EF4-FFF2-40B4-BE49-F238E27FC236}">
                <a16:creationId xmlns:a16="http://schemas.microsoft.com/office/drawing/2014/main" id="{08692D15-CA4E-C4E6-4CE3-799333458D32}"/>
              </a:ext>
            </a:extLst>
          </p:cNvPr>
          <p:cNvGraphicFramePr>
            <a:graphicFrameLocks noGrp="1"/>
          </p:cNvGraphicFramePr>
          <p:nvPr>
            <p:extLst>
              <p:ext uri="{D42A27DB-BD31-4B8C-83A1-F6EECF244321}">
                <p14:modId xmlns:p14="http://schemas.microsoft.com/office/powerpoint/2010/main" val="3569611155"/>
              </p:ext>
            </p:extLst>
          </p:nvPr>
        </p:nvGraphicFramePr>
        <p:xfrm>
          <a:off x="1800000" y="1440000"/>
          <a:ext cx="2016000" cy="2016000"/>
        </p:xfrm>
        <a:graphic>
          <a:graphicData uri="http://schemas.openxmlformats.org/drawingml/2006/table">
            <a:tbl>
              <a:tblPr firstRow="1" bandRow="1">
                <a:tableStyleId>{2D5ABB26-0587-4C30-8999-92F81FD0307C}</a:tableStyleId>
              </a:tblPr>
              <a:tblGrid>
                <a:gridCol w="288000">
                  <a:extLst>
                    <a:ext uri="{9D8B030D-6E8A-4147-A177-3AD203B41FA5}">
                      <a16:colId xmlns:a16="http://schemas.microsoft.com/office/drawing/2014/main" val="3811092762"/>
                    </a:ext>
                  </a:extLst>
                </a:gridCol>
                <a:gridCol w="288000">
                  <a:extLst>
                    <a:ext uri="{9D8B030D-6E8A-4147-A177-3AD203B41FA5}">
                      <a16:colId xmlns:a16="http://schemas.microsoft.com/office/drawing/2014/main" val="3654597066"/>
                    </a:ext>
                  </a:extLst>
                </a:gridCol>
                <a:gridCol w="288000">
                  <a:extLst>
                    <a:ext uri="{9D8B030D-6E8A-4147-A177-3AD203B41FA5}">
                      <a16:colId xmlns:a16="http://schemas.microsoft.com/office/drawing/2014/main" val="1899881899"/>
                    </a:ext>
                  </a:extLst>
                </a:gridCol>
                <a:gridCol w="288000">
                  <a:extLst>
                    <a:ext uri="{9D8B030D-6E8A-4147-A177-3AD203B41FA5}">
                      <a16:colId xmlns:a16="http://schemas.microsoft.com/office/drawing/2014/main" val="2305953698"/>
                    </a:ext>
                  </a:extLst>
                </a:gridCol>
                <a:gridCol w="288000">
                  <a:extLst>
                    <a:ext uri="{9D8B030D-6E8A-4147-A177-3AD203B41FA5}">
                      <a16:colId xmlns:a16="http://schemas.microsoft.com/office/drawing/2014/main" val="2367133706"/>
                    </a:ext>
                  </a:extLst>
                </a:gridCol>
                <a:gridCol w="288000">
                  <a:extLst>
                    <a:ext uri="{9D8B030D-6E8A-4147-A177-3AD203B41FA5}">
                      <a16:colId xmlns:a16="http://schemas.microsoft.com/office/drawing/2014/main" val="2166525395"/>
                    </a:ext>
                  </a:extLst>
                </a:gridCol>
                <a:gridCol w="288000">
                  <a:extLst>
                    <a:ext uri="{9D8B030D-6E8A-4147-A177-3AD203B41FA5}">
                      <a16:colId xmlns:a16="http://schemas.microsoft.com/office/drawing/2014/main" val="1696229339"/>
                    </a:ext>
                  </a:extLst>
                </a:gridCol>
              </a:tblGrid>
              <a:tr h="288000">
                <a:tc>
                  <a:txBody>
                    <a:bodyPr/>
                    <a:lstStyle/>
                    <a:p>
                      <a:pPr algn="ctr"/>
                      <a:r>
                        <a:rPr lang="en-US" altLang="zh-CN" sz="800" b="0" dirty="0"/>
                        <a:t>5</a:t>
                      </a:r>
                      <a:endParaRPr lang="zh-CN" altLang="en-US" sz="8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8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endParaRPr lang="zh-CN" altLang="en-US" sz="8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endParaRPr lang="zh-CN" altLang="en-US" sz="8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zh-CN" altLang="en-US" sz="8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zh-CN" altLang="en-US" sz="8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zh-CN" altLang="en-US" sz="8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3091201576"/>
                  </a:ext>
                </a:extLst>
              </a:tr>
              <a:tr h="288000">
                <a:tc>
                  <a:txBody>
                    <a:bodyPr/>
                    <a:lstStyle/>
                    <a:p>
                      <a:pPr algn="ctr"/>
                      <a:r>
                        <a:rPr lang="en-US" altLang="zh-CN" sz="800" b="0" dirty="0"/>
                        <a:t>4</a:t>
                      </a:r>
                      <a:endParaRPr lang="zh-CN" altLang="en-US" sz="8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8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endParaRPr lang="zh-CN" altLang="en-US" sz="8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endParaRPr lang="zh-CN" altLang="en-US" sz="8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endParaRPr lang="zh-CN" altLang="en-US" sz="8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zh-CN" altLang="en-US" sz="8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zh-CN" altLang="en-US" sz="8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2399128049"/>
                  </a:ext>
                </a:extLst>
              </a:tr>
              <a:tr h="288000">
                <a:tc>
                  <a:txBody>
                    <a:bodyPr/>
                    <a:lstStyle/>
                    <a:p>
                      <a:pPr algn="ctr"/>
                      <a:r>
                        <a:rPr lang="en-US" altLang="zh-CN" sz="800" b="0" dirty="0"/>
                        <a:t>3</a:t>
                      </a:r>
                      <a:endParaRPr lang="zh-CN" altLang="en-US" sz="8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8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zh-CN" altLang="en-US" sz="8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endParaRPr lang="zh-CN" altLang="en-US" sz="8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endParaRPr lang="zh-CN" altLang="en-US" sz="8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endParaRPr lang="zh-CN" altLang="en-US" sz="8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zh-CN" altLang="en-US" sz="8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3356082143"/>
                  </a:ext>
                </a:extLst>
              </a:tr>
              <a:tr h="288000">
                <a:tc>
                  <a:txBody>
                    <a:bodyPr/>
                    <a:lstStyle/>
                    <a:p>
                      <a:pPr algn="ctr"/>
                      <a:r>
                        <a:rPr lang="en-US" altLang="zh-CN" sz="800" b="0" dirty="0"/>
                        <a:t>2</a:t>
                      </a:r>
                      <a:endParaRPr lang="zh-CN" altLang="en-US" sz="8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8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zh-CN" altLang="en-US" sz="8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endParaRPr lang="zh-CN" altLang="en-US" sz="8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endParaRPr lang="zh-CN" altLang="en-US" sz="8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endParaRPr lang="zh-CN" altLang="en-US" sz="8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endParaRPr lang="zh-CN" altLang="en-US" sz="8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324739089"/>
                  </a:ext>
                </a:extLst>
              </a:tr>
              <a:tr h="288000">
                <a:tc>
                  <a:txBody>
                    <a:bodyPr/>
                    <a:lstStyle/>
                    <a:p>
                      <a:pPr algn="ctr"/>
                      <a:r>
                        <a:rPr lang="en-US" altLang="zh-CN" sz="800" b="0" dirty="0"/>
                        <a:t>1</a:t>
                      </a:r>
                      <a:endParaRPr lang="zh-CN" altLang="en-US" sz="8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8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zh-CN" altLang="en-US" sz="8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zh-CN" altLang="en-US" sz="8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endParaRPr lang="zh-CN" altLang="en-US" sz="8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endParaRPr lang="zh-CN" altLang="en-US" sz="8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endParaRPr lang="zh-CN" altLang="en-US" sz="8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2669187467"/>
                  </a:ext>
                </a:extLst>
              </a:tr>
              <a:tr h="288000">
                <a:tc>
                  <a:txBody>
                    <a:bodyPr/>
                    <a:lstStyle/>
                    <a:p>
                      <a:pPr algn="ctr"/>
                      <a:r>
                        <a:rPr lang="en-US" altLang="zh-CN" sz="800" b="0" dirty="0"/>
                        <a:t>0</a:t>
                      </a:r>
                      <a:endParaRPr lang="zh-CN" altLang="en-US" sz="8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8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zh-CN" altLang="en-US" sz="8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zh-CN" altLang="en-US" sz="8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zh-CN" altLang="en-US" sz="8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zh-CN" altLang="en-US" sz="8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endParaRPr lang="zh-CN" altLang="en-US" sz="8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50270692"/>
                  </a:ext>
                </a:extLst>
              </a:tr>
              <a:tr h="288000">
                <a:tc>
                  <a:txBody>
                    <a:bodyPr/>
                    <a:lstStyle/>
                    <a:p>
                      <a:pPr algn="ctr"/>
                      <a:endParaRPr lang="zh-CN" altLang="en-US" sz="800" b="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800" b="0" dirty="0"/>
                        <a:t>0</a:t>
                      </a:r>
                      <a:endParaRPr lang="zh-CN" altLang="en-US" sz="8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800" b="0" dirty="0"/>
                        <a:t>1</a:t>
                      </a:r>
                      <a:endParaRPr lang="zh-CN" altLang="en-US" sz="8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800" b="0" dirty="0"/>
                        <a:t>2</a:t>
                      </a:r>
                      <a:endParaRPr lang="zh-CN" altLang="en-US" sz="8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800" b="0" dirty="0"/>
                        <a:t>3</a:t>
                      </a:r>
                      <a:endParaRPr lang="zh-CN" altLang="en-US" sz="8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800" b="0" dirty="0"/>
                        <a:t>4</a:t>
                      </a:r>
                      <a:endParaRPr lang="zh-CN" altLang="en-US" sz="8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800" b="0" dirty="0"/>
                        <a:t>5</a:t>
                      </a:r>
                      <a:endParaRPr lang="zh-CN" altLang="en-US" sz="8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14079889"/>
                  </a:ext>
                </a:extLst>
              </a:tr>
            </a:tbl>
          </a:graphicData>
        </a:graphic>
      </p:graphicFrame>
      <p:cxnSp>
        <p:nvCxnSpPr>
          <p:cNvPr id="10" name="直接箭头连接符 9">
            <a:extLst>
              <a:ext uri="{FF2B5EF4-FFF2-40B4-BE49-F238E27FC236}">
                <a16:creationId xmlns:a16="http://schemas.microsoft.com/office/drawing/2014/main" id="{9D7D1307-4B2F-ED25-9248-17A702B7348F}"/>
              </a:ext>
            </a:extLst>
          </p:cNvPr>
          <p:cNvCxnSpPr>
            <a:cxnSpLocks/>
          </p:cNvCxnSpPr>
          <p:nvPr/>
        </p:nvCxnSpPr>
        <p:spPr>
          <a:xfrm>
            <a:off x="2088000" y="3157200"/>
            <a:ext cx="2088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9A52B841-F230-FF90-8631-66A9DBCC152D}"/>
              </a:ext>
            </a:extLst>
          </p:cNvPr>
          <p:cNvCxnSpPr>
            <a:cxnSpLocks/>
          </p:cNvCxnSpPr>
          <p:nvPr/>
        </p:nvCxnSpPr>
        <p:spPr>
          <a:xfrm flipV="1">
            <a:off x="2088000" y="1065600"/>
            <a:ext cx="0" cy="2088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15B0FC2A-F244-4AF3-DC91-FE2A8F34C91E}"/>
              </a:ext>
            </a:extLst>
          </p:cNvPr>
          <p:cNvSpPr txBox="1"/>
          <p:nvPr/>
        </p:nvSpPr>
        <p:spPr>
          <a:xfrm>
            <a:off x="3816000" y="3240556"/>
            <a:ext cx="668773" cy="215444"/>
          </a:xfrm>
          <a:prstGeom prst="rect">
            <a:avLst/>
          </a:prstGeom>
          <a:noFill/>
        </p:spPr>
        <p:txBody>
          <a:bodyPr wrap="none" rtlCol="0">
            <a:spAutoFit/>
          </a:bodyPr>
          <a:lstStyle/>
          <a:p>
            <a:pPr algn="l"/>
            <a:r>
              <a:rPr lang="zh-CN" altLang="en-US" sz="800" dirty="0"/>
              <a:t>发生概率</a:t>
            </a:r>
            <a:r>
              <a:rPr lang="en-US" altLang="zh-CN" sz="800" dirty="0"/>
              <a:t>P</a:t>
            </a:r>
            <a:endParaRPr lang="zh-CN" altLang="en-US" sz="800" dirty="0"/>
          </a:p>
        </p:txBody>
      </p:sp>
      <p:sp>
        <p:nvSpPr>
          <p:cNvPr id="14" name="文本框 13">
            <a:extLst>
              <a:ext uri="{FF2B5EF4-FFF2-40B4-BE49-F238E27FC236}">
                <a16:creationId xmlns:a16="http://schemas.microsoft.com/office/drawing/2014/main" id="{5D80C1E0-0008-1817-27AD-EDDBE1493BB1}"/>
              </a:ext>
            </a:extLst>
          </p:cNvPr>
          <p:cNvSpPr txBox="1"/>
          <p:nvPr/>
        </p:nvSpPr>
        <p:spPr>
          <a:xfrm>
            <a:off x="1640442" y="1152001"/>
            <a:ext cx="447558" cy="215444"/>
          </a:xfrm>
          <a:prstGeom prst="rect">
            <a:avLst/>
          </a:prstGeom>
          <a:noFill/>
        </p:spPr>
        <p:txBody>
          <a:bodyPr wrap="none" rtlCol="0">
            <a:spAutoFit/>
          </a:bodyPr>
          <a:lstStyle/>
          <a:p>
            <a:pPr algn="l"/>
            <a:r>
              <a:rPr lang="zh-CN" altLang="en-US" sz="800" dirty="0"/>
              <a:t>影响 </a:t>
            </a:r>
            <a:r>
              <a:rPr lang="en-US" altLang="zh-CN" sz="800" dirty="0"/>
              <a:t>I</a:t>
            </a:r>
            <a:endParaRPr lang="zh-CN" altLang="en-US" sz="800" dirty="0"/>
          </a:p>
        </p:txBody>
      </p:sp>
    </p:spTree>
    <p:extLst>
      <p:ext uri="{BB962C8B-B14F-4D97-AF65-F5344CB8AC3E}">
        <p14:creationId xmlns:p14="http://schemas.microsoft.com/office/powerpoint/2010/main" val="2450753349"/>
      </p:ext>
    </p:extLst>
  </p:cSld>
  <p:clrMapOvr>
    <a:masterClrMapping/>
  </p:clrMapOvr>
</p:sld>
</file>

<file path=ppt/slides/slide4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9F58C-9488-77AC-4AFA-E7573EA5A01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8C8E248-BA85-A4FC-8D6E-7E500E9C95DA}"/>
              </a:ext>
            </a:extLst>
          </p:cNvPr>
          <p:cNvSpPr>
            <a:spLocks noGrp="1"/>
          </p:cNvSpPr>
          <p:nvPr>
            <p:ph type="title"/>
          </p:nvPr>
        </p:nvSpPr>
        <p:spPr>
          <a:xfrm>
            <a:off x="694800" y="360000"/>
            <a:ext cx="6375921" cy="429413"/>
          </a:xfrm>
        </p:spPr>
        <p:txBody>
          <a:bodyPr/>
          <a:lstStyle/>
          <a:p>
            <a:r>
              <a:rPr lang="en-US" altLang="zh-CN" dirty="0"/>
              <a:t>11.3 </a:t>
            </a:r>
            <a:r>
              <a:rPr lang="zh-CN" altLang="en-US" dirty="0"/>
              <a:t>风险评估</a:t>
            </a:r>
          </a:p>
        </p:txBody>
      </p:sp>
      <p:sp>
        <p:nvSpPr>
          <p:cNvPr id="9" name="内容占位符 8">
            <a:extLst>
              <a:ext uri="{FF2B5EF4-FFF2-40B4-BE49-F238E27FC236}">
                <a16:creationId xmlns:a16="http://schemas.microsoft.com/office/drawing/2014/main" id="{C9CCFCC9-01D0-50F2-142C-20C83E627BD4}"/>
              </a:ext>
            </a:extLst>
          </p:cNvPr>
          <p:cNvSpPr>
            <a:spLocks noGrp="1"/>
          </p:cNvSpPr>
          <p:nvPr>
            <p:ph idx="1"/>
          </p:nvPr>
        </p:nvSpPr>
        <p:spPr/>
        <p:txBody>
          <a:bodyPr/>
          <a:lstStyle/>
          <a:p>
            <a:endParaRPr lang="zh-CN" altLang="en-US"/>
          </a:p>
        </p:txBody>
      </p:sp>
      <p:sp>
        <p:nvSpPr>
          <p:cNvPr id="10" name="文本占位符 9">
            <a:extLst>
              <a:ext uri="{FF2B5EF4-FFF2-40B4-BE49-F238E27FC236}">
                <a16:creationId xmlns:a16="http://schemas.microsoft.com/office/drawing/2014/main" id="{BB7940D5-F43E-D2AF-0DC7-177BEBEFCD2E}"/>
              </a:ext>
            </a:extLst>
          </p:cNvPr>
          <p:cNvSpPr>
            <a:spLocks noGrp="1"/>
          </p:cNvSpPr>
          <p:nvPr>
            <p:ph type="body" sz="quarter" idx="10"/>
          </p:nvPr>
        </p:nvSpPr>
        <p:spPr/>
        <p:txBody>
          <a:bodyPr/>
          <a:lstStyle/>
          <a:p>
            <a:endParaRPr lang="zh-CN" altLang="en-US"/>
          </a:p>
        </p:txBody>
      </p:sp>
      <p:sp>
        <p:nvSpPr>
          <p:cNvPr id="12" name="文本占位符 11">
            <a:extLst>
              <a:ext uri="{FF2B5EF4-FFF2-40B4-BE49-F238E27FC236}">
                <a16:creationId xmlns:a16="http://schemas.microsoft.com/office/drawing/2014/main" id="{9364EE98-0C55-18D3-4180-70938E26EC38}"/>
              </a:ext>
            </a:extLst>
          </p:cNvPr>
          <p:cNvSpPr>
            <a:spLocks noGrp="1"/>
          </p:cNvSpPr>
          <p:nvPr>
            <p:ph type="body" sz="quarter" idx="11"/>
          </p:nvPr>
        </p:nvSpPr>
        <p:spPr>
          <a:xfrm>
            <a:off x="694800" y="864000"/>
            <a:ext cx="6203950" cy="400110"/>
          </a:xfrm>
        </p:spPr>
        <p:txBody>
          <a:bodyPr/>
          <a:lstStyle/>
          <a:p>
            <a:r>
              <a:rPr lang="en-US" altLang="zh-CN" dirty="0"/>
              <a:t>2. </a:t>
            </a:r>
            <a:r>
              <a:rPr lang="zh-CN" altLang="en-US" dirty="0"/>
              <a:t>定量风险评估方法</a:t>
            </a:r>
          </a:p>
        </p:txBody>
      </p:sp>
    </p:spTree>
    <p:extLst>
      <p:ext uri="{BB962C8B-B14F-4D97-AF65-F5344CB8AC3E}">
        <p14:creationId xmlns:p14="http://schemas.microsoft.com/office/powerpoint/2010/main" val="823758822"/>
      </p:ext>
    </p:extLst>
  </p:cSld>
  <p:clrMapOvr>
    <a:masterClrMapping/>
  </p:clrMapOvr>
</p:sld>
</file>

<file path=ppt/slides/slide4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8370E2E0-791A-0C89-6DB8-AD093A91B82C}"/>
              </a:ext>
            </a:extLst>
          </p:cNvPr>
          <p:cNvSpPr/>
          <p:nvPr/>
        </p:nvSpPr>
        <p:spPr>
          <a:xfrm>
            <a:off x="1350375" y="2675007"/>
            <a:ext cx="1144034" cy="381345"/>
          </a:xfrm>
          <a:prstGeom prst="rect">
            <a:avLst/>
          </a:prstGeom>
          <a:solidFill>
            <a:srgbClr val="5FB7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800" dirty="0">
                <a:solidFill>
                  <a:schemeClr val="bg1"/>
                </a:solidFill>
              </a:rPr>
              <a:t>访谈</a:t>
            </a:r>
          </a:p>
        </p:txBody>
      </p:sp>
      <p:sp>
        <p:nvSpPr>
          <p:cNvPr id="30" name="任意多边形: 形状 29">
            <a:extLst>
              <a:ext uri="{FF2B5EF4-FFF2-40B4-BE49-F238E27FC236}">
                <a16:creationId xmlns:a16="http://schemas.microsoft.com/office/drawing/2014/main" id="{FEFF1F3A-E236-9849-339A-6278BCA06416}"/>
              </a:ext>
            </a:extLst>
          </p:cNvPr>
          <p:cNvSpPr/>
          <p:nvPr/>
        </p:nvSpPr>
        <p:spPr>
          <a:xfrm>
            <a:off x="2494409" y="2675007"/>
            <a:ext cx="887898" cy="632556"/>
          </a:xfrm>
          <a:custGeom>
            <a:avLst/>
            <a:gdLst>
              <a:gd name="csX0" fmla="*/ 0 w 1676400"/>
              <a:gd name="csY0" fmla="*/ 0 h 1194300"/>
              <a:gd name="csX1" fmla="*/ 1676400 w 1676400"/>
              <a:gd name="csY1" fmla="*/ 935331 h 1194300"/>
              <a:gd name="csX2" fmla="*/ 1676400 w 1676400"/>
              <a:gd name="csY2" fmla="*/ 1194300 h 1194300"/>
              <a:gd name="csX3" fmla="*/ 0 w 1676400"/>
              <a:gd name="csY3" fmla="*/ 726300 h 1194300"/>
              <a:gd name="csX4" fmla="*/ 0 w 1676400"/>
              <a:gd name="csY4" fmla="*/ 720000 h 1194300"/>
              <a:gd name="csX5" fmla="*/ 0 w 1676400"/>
              <a:gd name="csY5" fmla="*/ 474300 h 1194300"/>
            </a:gdLst>
            <a:ahLst/>
            <a:cxnLst>
              <a:cxn ang="0">
                <a:pos x="csX0" y="csY0"/>
              </a:cxn>
              <a:cxn ang="0">
                <a:pos x="csX1" y="csY1"/>
              </a:cxn>
              <a:cxn ang="0">
                <a:pos x="csX2" y="csY2"/>
              </a:cxn>
              <a:cxn ang="0">
                <a:pos x="csX3" y="csY3"/>
              </a:cxn>
              <a:cxn ang="0">
                <a:pos x="csX4" y="csY4"/>
              </a:cxn>
              <a:cxn ang="0">
                <a:pos x="csX5" y="csY5"/>
              </a:cxn>
            </a:cxnLst>
            <a:rect l="l" t="t" r="r" b="b"/>
            <a:pathLst>
              <a:path w="1676400" h="1194300">
                <a:moveTo>
                  <a:pt x="0" y="0"/>
                </a:moveTo>
                <a:lnTo>
                  <a:pt x="1676400" y="935331"/>
                </a:lnTo>
                <a:lnTo>
                  <a:pt x="1676400" y="1194300"/>
                </a:lnTo>
                <a:lnTo>
                  <a:pt x="0" y="726300"/>
                </a:lnTo>
                <a:lnTo>
                  <a:pt x="0" y="720000"/>
                </a:lnTo>
                <a:lnTo>
                  <a:pt x="0" y="474300"/>
                </a:lnTo>
                <a:close/>
              </a:path>
            </a:pathLst>
          </a:custGeom>
          <a:solidFill>
            <a:srgbClr val="3F907A"/>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dirty="0">
              <a:solidFill>
                <a:schemeClr val="tx1"/>
              </a:solidFill>
            </a:endParaRPr>
          </a:p>
        </p:txBody>
      </p:sp>
      <p:sp>
        <p:nvSpPr>
          <p:cNvPr id="22" name="任意多边形: 形状 21">
            <a:extLst>
              <a:ext uri="{FF2B5EF4-FFF2-40B4-BE49-F238E27FC236}">
                <a16:creationId xmlns:a16="http://schemas.microsoft.com/office/drawing/2014/main" id="{8E496D0E-8162-A3C5-5326-3C0C3C42912D}"/>
              </a:ext>
            </a:extLst>
          </p:cNvPr>
          <p:cNvSpPr/>
          <p:nvPr/>
        </p:nvSpPr>
        <p:spPr>
          <a:xfrm flipV="1">
            <a:off x="2494409" y="3464867"/>
            <a:ext cx="887898" cy="381345"/>
          </a:xfrm>
          <a:custGeom>
            <a:avLst/>
            <a:gdLst>
              <a:gd name="csX0" fmla="*/ 0 w 1676400"/>
              <a:gd name="csY0" fmla="*/ 0 h 720000"/>
              <a:gd name="csX1" fmla="*/ 1676400 w 1676400"/>
              <a:gd name="csY1" fmla="*/ 468000 h 720000"/>
              <a:gd name="csX2" fmla="*/ 1676400 w 1676400"/>
              <a:gd name="csY2" fmla="*/ 720000 h 720000"/>
              <a:gd name="csX3" fmla="*/ 0 w 1676400"/>
              <a:gd name="csY3" fmla="*/ 720000 h 720000"/>
            </a:gdLst>
            <a:ahLst/>
            <a:cxnLst>
              <a:cxn ang="0">
                <a:pos x="csX0" y="csY0"/>
              </a:cxn>
              <a:cxn ang="0">
                <a:pos x="csX1" y="csY1"/>
              </a:cxn>
              <a:cxn ang="0">
                <a:pos x="csX2" y="csY2"/>
              </a:cxn>
              <a:cxn ang="0">
                <a:pos x="csX3" y="csY3"/>
              </a:cxn>
            </a:cxnLst>
            <a:rect l="l" t="t" r="r" b="b"/>
            <a:pathLst>
              <a:path w="1676400" h="720000">
                <a:moveTo>
                  <a:pt x="0" y="0"/>
                </a:moveTo>
                <a:lnTo>
                  <a:pt x="1676400" y="468000"/>
                </a:lnTo>
                <a:lnTo>
                  <a:pt x="1676400" y="720000"/>
                </a:lnTo>
                <a:lnTo>
                  <a:pt x="0" y="720000"/>
                </a:lnTo>
                <a:close/>
              </a:path>
            </a:pathLst>
          </a:custGeom>
          <a:solidFill>
            <a:srgbClr val="3F907A"/>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dirty="0">
              <a:solidFill>
                <a:schemeClr val="tx1"/>
              </a:solidFill>
            </a:endParaRPr>
          </a:p>
        </p:txBody>
      </p:sp>
      <p:sp>
        <p:nvSpPr>
          <p:cNvPr id="24" name="矩形 23">
            <a:extLst>
              <a:ext uri="{FF2B5EF4-FFF2-40B4-BE49-F238E27FC236}">
                <a16:creationId xmlns:a16="http://schemas.microsoft.com/office/drawing/2014/main" id="{AF4D2F62-7E11-F819-4706-960528FB8ECB}"/>
              </a:ext>
            </a:extLst>
          </p:cNvPr>
          <p:cNvSpPr/>
          <p:nvPr/>
        </p:nvSpPr>
        <p:spPr>
          <a:xfrm>
            <a:off x="1350375" y="3070692"/>
            <a:ext cx="1144034" cy="381345"/>
          </a:xfrm>
          <a:prstGeom prst="rect">
            <a:avLst/>
          </a:prstGeom>
          <a:solidFill>
            <a:srgbClr val="5FB7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800" dirty="0">
                <a:solidFill>
                  <a:schemeClr val="bg1"/>
                </a:solidFill>
              </a:rPr>
              <a:t>盈亏平衡分析</a:t>
            </a:r>
          </a:p>
        </p:txBody>
      </p:sp>
      <p:sp>
        <p:nvSpPr>
          <p:cNvPr id="25" name="任意多边形: 形状 24">
            <a:extLst>
              <a:ext uri="{FF2B5EF4-FFF2-40B4-BE49-F238E27FC236}">
                <a16:creationId xmlns:a16="http://schemas.microsoft.com/office/drawing/2014/main" id="{784E39D3-438C-0E20-245E-2B0E26664A2C}"/>
              </a:ext>
            </a:extLst>
          </p:cNvPr>
          <p:cNvSpPr/>
          <p:nvPr/>
        </p:nvSpPr>
        <p:spPr>
          <a:xfrm>
            <a:off x="2494409" y="3070692"/>
            <a:ext cx="887898" cy="381345"/>
          </a:xfrm>
          <a:custGeom>
            <a:avLst/>
            <a:gdLst>
              <a:gd name="csX0" fmla="*/ 0 w 1676400"/>
              <a:gd name="csY0" fmla="*/ 0 h 720000"/>
              <a:gd name="csX1" fmla="*/ 1676400 w 1676400"/>
              <a:gd name="csY1" fmla="*/ 468000 h 720000"/>
              <a:gd name="csX2" fmla="*/ 1676400 w 1676400"/>
              <a:gd name="csY2" fmla="*/ 720000 h 720000"/>
              <a:gd name="csX3" fmla="*/ 0 w 1676400"/>
              <a:gd name="csY3" fmla="*/ 720000 h 720000"/>
            </a:gdLst>
            <a:ahLst/>
            <a:cxnLst>
              <a:cxn ang="0">
                <a:pos x="csX0" y="csY0"/>
              </a:cxn>
              <a:cxn ang="0">
                <a:pos x="csX1" y="csY1"/>
              </a:cxn>
              <a:cxn ang="0">
                <a:pos x="csX2" y="csY2"/>
              </a:cxn>
              <a:cxn ang="0">
                <a:pos x="csX3" y="csY3"/>
              </a:cxn>
            </a:cxnLst>
            <a:rect l="l" t="t" r="r" b="b"/>
            <a:pathLst>
              <a:path w="1676400" h="720000">
                <a:moveTo>
                  <a:pt x="0" y="0"/>
                </a:moveTo>
                <a:lnTo>
                  <a:pt x="1676400" y="468000"/>
                </a:lnTo>
                <a:lnTo>
                  <a:pt x="1676400" y="720000"/>
                </a:lnTo>
                <a:lnTo>
                  <a:pt x="0" y="720000"/>
                </a:lnTo>
                <a:close/>
              </a:path>
            </a:pathLst>
          </a:custGeom>
          <a:solidFill>
            <a:srgbClr val="3F907A"/>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dirty="0">
              <a:solidFill>
                <a:schemeClr val="tx1"/>
              </a:solidFill>
            </a:endParaRPr>
          </a:p>
        </p:txBody>
      </p:sp>
      <p:sp>
        <p:nvSpPr>
          <p:cNvPr id="34" name="任意多边形: 形状 33">
            <a:extLst>
              <a:ext uri="{FF2B5EF4-FFF2-40B4-BE49-F238E27FC236}">
                <a16:creationId xmlns:a16="http://schemas.microsoft.com/office/drawing/2014/main" id="{1FC76B2B-0819-E9C2-3D28-E1061B5CA16B}"/>
              </a:ext>
            </a:extLst>
          </p:cNvPr>
          <p:cNvSpPr/>
          <p:nvPr/>
        </p:nvSpPr>
        <p:spPr>
          <a:xfrm flipV="1">
            <a:off x="2494409" y="3609341"/>
            <a:ext cx="887898" cy="632556"/>
          </a:xfrm>
          <a:custGeom>
            <a:avLst/>
            <a:gdLst>
              <a:gd name="csX0" fmla="*/ 0 w 1676400"/>
              <a:gd name="csY0" fmla="*/ 0 h 1194300"/>
              <a:gd name="csX1" fmla="*/ 1676400 w 1676400"/>
              <a:gd name="csY1" fmla="*/ 935331 h 1194300"/>
              <a:gd name="csX2" fmla="*/ 1676400 w 1676400"/>
              <a:gd name="csY2" fmla="*/ 1194300 h 1194300"/>
              <a:gd name="csX3" fmla="*/ 0 w 1676400"/>
              <a:gd name="csY3" fmla="*/ 726300 h 1194300"/>
              <a:gd name="csX4" fmla="*/ 0 w 1676400"/>
              <a:gd name="csY4" fmla="*/ 720000 h 1194300"/>
              <a:gd name="csX5" fmla="*/ 0 w 1676400"/>
              <a:gd name="csY5" fmla="*/ 474300 h 1194300"/>
            </a:gdLst>
            <a:ahLst/>
            <a:cxnLst>
              <a:cxn ang="0">
                <a:pos x="csX0" y="csY0"/>
              </a:cxn>
              <a:cxn ang="0">
                <a:pos x="csX1" y="csY1"/>
              </a:cxn>
              <a:cxn ang="0">
                <a:pos x="csX2" y="csY2"/>
              </a:cxn>
              <a:cxn ang="0">
                <a:pos x="csX3" y="csY3"/>
              </a:cxn>
              <a:cxn ang="0">
                <a:pos x="csX4" y="csY4"/>
              </a:cxn>
              <a:cxn ang="0">
                <a:pos x="csX5" y="csY5"/>
              </a:cxn>
            </a:cxnLst>
            <a:rect l="l" t="t" r="r" b="b"/>
            <a:pathLst>
              <a:path w="1676400" h="1194300">
                <a:moveTo>
                  <a:pt x="0" y="0"/>
                </a:moveTo>
                <a:lnTo>
                  <a:pt x="1676400" y="935331"/>
                </a:lnTo>
                <a:lnTo>
                  <a:pt x="1676400" y="1194300"/>
                </a:lnTo>
                <a:lnTo>
                  <a:pt x="0" y="726300"/>
                </a:lnTo>
                <a:lnTo>
                  <a:pt x="0" y="720000"/>
                </a:lnTo>
                <a:lnTo>
                  <a:pt x="0" y="474300"/>
                </a:lnTo>
                <a:close/>
              </a:path>
            </a:pathLst>
          </a:custGeom>
          <a:solidFill>
            <a:srgbClr val="3F907A"/>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dirty="0">
              <a:solidFill>
                <a:schemeClr val="tx1"/>
              </a:solidFill>
            </a:endParaRPr>
          </a:p>
        </p:txBody>
      </p:sp>
      <p:sp>
        <p:nvSpPr>
          <p:cNvPr id="38" name="矩形 37">
            <a:extLst>
              <a:ext uri="{FF2B5EF4-FFF2-40B4-BE49-F238E27FC236}">
                <a16:creationId xmlns:a16="http://schemas.microsoft.com/office/drawing/2014/main" id="{1038D162-1EFB-8D79-946D-26FF5F589D64}"/>
              </a:ext>
            </a:extLst>
          </p:cNvPr>
          <p:cNvSpPr/>
          <p:nvPr/>
        </p:nvSpPr>
        <p:spPr>
          <a:xfrm flipH="1">
            <a:off x="4526341" y="2675007"/>
            <a:ext cx="1144034" cy="381345"/>
          </a:xfrm>
          <a:prstGeom prst="rect">
            <a:avLst/>
          </a:prstGeom>
          <a:solidFill>
            <a:srgbClr val="5FB7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zh-CN" altLang="en-US" sz="800" dirty="0">
                <a:solidFill>
                  <a:schemeClr val="bg1"/>
                </a:solidFill>
              </a:rPr>
              <a:t>敏感性分析</a:t>
            </a:r>
          </a:p>
        </p:txBody>
      </p:sp>
      <p:sp>
        <p:nvSpPr>
          <p:cNvPr id="39" name="任意多边形: 形状 38">
            <a:extLst>
              <a:ext uri="{FF2B5EF4-FFF2-40B4-BE49-F238E27FC236}">
                <a16:creationId xmlns:a16="http://schemas.microsoft.com/office/drawing/2014/main" id="{4234163B-E510-24D7-6332-70A22347441D}"/>
              </a:ext>
            </a:extLst>
          </p:cNvPr>
          <p:cNvSpPr/>
          <p:nvPr/>
        </p:nvSpPr>
        <p:spPr>
          <a:xfrm flipH="1">
            <a:off x="3638443" y="2675007"/>
            <a:ext cx="887898" cy="632556"/>
          </a:xfrm>
          <a:custGeom>
            <a:avLst/>
            <a:gdLst>
              <a:gd name="csX0" fmla="*/ 0 w 1676400"/>
              <a:gd name="csY0" fmla="*/ 0 h 1194300"/>
              <a:gd name="csX1" fmla="*/ 1676400 w 1676400"/>
              <a:gd name="csY1" fmla="*/ 935331 h 1194300"/>
              <a:gd name="csX2" fmla="*/ 1676400 w 1676400"/>
              <a:gd name="csY2" fmla="*/ 1194300 h 1194300"/>
              <a:gd name="csX3" fmla="*/ 0 w 1676400"/>
              <a:gd name="csY3" fmla="*/ 726300 h 1194300"/>
              <a:gd name="csX4" fmla="*/ 0 w 1676400"/>
              <a:gd name="csY4" fmla="*/ 720000 h 1194300"/>
              <a:gd name="csX5" fmla="*/ 0 w 1676400"/>
              <a:gd name="csY5" fmla="*/ 474300 h 1194300"/>
            </a:gdLst>
            <a:ahLst/>
            <a:cxnLst>
              <a:cxn ang="0">
                <a:pos x="csX0" y="csY0"/>
              </a:cxn>
              <a:cxn ang="0">
                <a:pos x="csX1" y="csY1"/>
              </a:cxn>
              <a:cxn ang="0">
                <a:pos x="csX2" y="csY2"/>
              </a:cxn>
              <a:cxn ang="0">
                <a:pos x="csX3" y="csY3"/>
              </a:cxn>
              <a:cxn ang="0">
                <a:pos x="csX4" y="csY4"/>
              </a:cxn>
              <a:cxn ang="0">
                <a:pos x="csX5" y="csY5"/>
              </a:cxn>
            </a:cxnLst>
            <a:rect l="l" t="t" r="r" b="b"/>
            <a:pathLst>
              <a:path w="1676400" h="1194300">
                <a:moveTo>
                  <a:pt x="0" y="0"/>
                </a:moveTo>
                <a:lnTo>
                  <a:pt x="1676400" y="935331"/>
                </a:lnTo>
                <a:lnTo>
                  <a:pt x="1676400" y="1194300"/>
                </a:lnTo>
                <a:lnTo>
                  <a:pt x="0" y="726300"/>
                </a:lnTo>
                <a:lnTo>
                  <a:pt x="0" y="720000"/>
                </a:lnTo>
                <a:lnTo>
                  <a:pt x="0" y="474300"/>
                </a:lnTo>
                <a:close/>
              </a:path>
            </a:pathLst>
          </a:custGeom>
          <a:solidFill>
            <a:srgbClr val="3F907A"/>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dirty="0">
              <a:solidFill>
                <a:schemeClr val="tx1"/>
              </a:solidFill>
            </a:endParaRPr>
          </a:p>
        </p:txBody>
      </p:sp>
      <p:sp>
        <p:nvSpPr>
          <p:cNvPr id="42" name="任意多边形: 形状 41">
            <a:extLst>
              <a:ext uri="{FF2B5EF4-FFF2-40B4-BE49-F238E27FC236}">
                <a16:creationId xmlns:a16="http://schemas.microsoft.com/office/drawing/2014/main" id="{890EC898-81D3-D100-1383-6FC39DD89092}"/>
              </a:ext>
            </a:extLst>
          </p:cNvPr>
          <p:cNvSpPr/>
          <p:nvPr/>
        </p:nvSpPr>
        <p:spPr>
          <a:xfrm flipH="1" flipV="1">
            <a:off x="3638443" y="3464867"/>
            <a:ext cx="887898" cy="381345"/>
          </a:xfrm>
          <a:custGeom>
            <a:avLst/>
            <a:gdLst>
              <a:gd name="csX0" fmla="*/ 0 w 1676400"/>
              <a:gd name="csY0" fmla="*/ 0 h 720000"/>
              <a:gd name="csX1" fmla="*/ 1676400 w 1676400"/>
              <a:gd name="csY1" fmla="*/ 468000 h 720000"/>
              <a:gd name="csX2" fmla="*/ 1676400 w 1676400"/>
              <a:gd name="csY2" fmla="*/ 720000 h 720000"/>
              <a:gd name="csX3" fmla="*/ 0 w 1676400"/>
              <a:gd name="csY3" fmla="*/ 720000 h 720000"/>
            </a:gdLst>
            <a:ahLst/>
            <a:cxnLst>
              <a:cxn ang="0">
                <a:pos x="csX0" y="csY0"/>
              </a:cxn>
              <a:cxn ang="0">
                <a:pos x="csX1" y="csY1"/>
              </a:cxn>
              <a:cxn ang="0">
                <a:pos x="csX2" y="csY2"/>
              </a:cxn>
              <a:cxn ang="0">
                <a:pos x="csX3" y="csY3"/>
              </a:cxn>
            </a:cxnLst>
            <a:rect l="l" t="t" r="r" b="b"/>
            <a:pathLst>
              <a:path w="1676400" h="720000">
                <a:moveTo>
                  <a:pt x="0" y="0"/>
                </a:moveTo>
                <a:lnTo>
                  <a:pt x="1676400" y="468000"/>
                </a:lnTo>
                <a:lnTo>
                  <a:pt x="1676400" y="720000"/>
                </a:lnTo>
                <a:lnTo>
                  <a:pt x="0" y="720000"/>
                </a:lnTo>
                <a:close/>
              </a:path>
            </a:pathLst>
          </a:custGeom>
          <a:solidFill>
            <a:srgbClr val="3F907A"/>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dirty="0">
              <a:solidFill>
                <a:schemeClr val="tx1"/>
              </a:solidFill>
            </a:endParaRPr>
          </a:p>
        </p:txBody>
      </p:sp>
      <p:sp>
        <p:nvSpPr>
          <p:cNvPr id="44" name="矩形 43">
            <a:extLst>
              <a:ext uri="{FF2B5EF4-FFF2-40B4-BE49-F238E27FC236}">
                <a16:creationId xmlns:a16="http://schemas.microsoft.com/office/drawing/2014/main" id="{2FF39E54-052B-C123-EEAB-E51366B89B26}"/>
              </a:ext>
            </a:extLst>
          </p:cNvPr>
          <p:cNvSpPr/>
          <p:nvPr/>
        </p:nvSpPr>
        <p:spPr>
          <a:xfrm flipH="1">
            <a:off x="4526341" y="3070692"/>
            <a:ext cx="1144034" cy="381345"/>
          </a:xfrm>
          <a:prstGeom prst="rect">
            <a:avLst/>
          </a:prstGeom>
          <a:solidFill>
            <a:srgbClr val="5FB7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zh-CN" altLang="en-US" sz="800" dirty="0">
                <a:solidFill>
                  <a:schemeClr val="bg1"/>
                </a:solidFill>
              </a:rPr>
              <a:t>故障树分析</a:t>
            </a:r>
          </a:p>
        </p:txBody>
      </p:sp>
      <p:sp>
        <p:nvSpPr>
          <p:cNvPr id="45" name="任意多边形: 形状 44">
            <a:extLst>
              <a:ext uri="{FF2B5EF4-FFF2-40B4-BE49-F238E27FC236}">
                <a16:creationId xmlns:a16="http://schemas.microsoft.com/office/drawing/2014/main" id="{7FE53B8F-2448-2309-D269-C2FF8FDFBCB5}"/>
              </a:ext>
            </a:extLst>
          </p:cNvPr>
          <p:cNvSpPr/>
          <p:nvPr/>
        </p:nvSpPr>
        <p:spPr>
          <a:xfrm flipH="1">
            <a:off x="3638443" y="3070692"/>
            <a:ext cx="887898" cy="381345"/>
          </a:xfrm>
          <a:custGeom>
            <a:avLst/>
            <a:gdLst>
              <a:gd name="csX0" fmla="*/ 0 w 1676400"/>
              <a:gd name="csY0" fmla="*/ 0 h 720000"/>
              <a:gd name="csX1" fmla="*/ 1676400 w 1676400"/>
              <a:gd name="csY1" fmla="*/ 468000 h 720000"/>
              <a:gd name="csX2" fmla="*/ 1676400 w 1676400"/>
              <a:gd name="csY2" fmla="*/ 720000 h 720000"/>
              <a:gd name="csX3" fmla="*/ 0 w 1676400"/>
              <a:gd name="csY3" fmla="*/ 720000 h 720000"/>
            </a:gdLst>
            <a:ahLst/>
            <a:cxnLst>
              <a:cxn ang="0">
                <a:pos x="csX0" y="csY0"/>
              </a:cxn>
              <a:cxn ang="0">
                <a:pos x="csX1" y="csY1"/>
              </a:cxn>
              <a:cxn ang="0">
                <a:pos x="csX2" y="csY2"/>
              </a:cxn>
              <a:cxn ang="0">
                <a:pos x="csX3" y="csY3"/>
              </a:cxn>
            </a:cxnLst>
            <a:rect l="l" t="t" r="r" b="b"/>
            <a:pathLst>
              <a:path w="1676400" h="720000">
                <a:moveTo>
                  <a:pt x="0" y="0"/>
                </a:moveTo>
                <a:lnTo>
                  <a:pt x="1676400" y="468000"/>
                </a:lnTo>
                <a:lnTo>
                  <a:pt x="1676400" y="720000"/>
                </a:lnTo>
                <a:lnTo>
                  <a:pt x="0" y="720000"/>
                </a:lnTo>
                <a:close/>
              </a:path>
            </a:pathLst>
          </a:custGeom>
          <a:solidFill>
            <a:srgbClr val="3F907A"/>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dirty="0">
              <a:solidFill>
                <a:schemeClr val="tx1"/>
              </a:solidFill>
            </a:endParaRPr>
          </a:p>
        </p:txBody>
      </p:sp>
      <p:sp>
        <p:nvSpPr>
          <p:cNvPr id="48" name="任意多边形: 形状 47">
            <a:extLst>
              <a:ext uri="{FF2B5EF4-FFF2-40B4-BE49-F238E27FC236}">
                <a16:creationId xmlns:a16="http://schemas.microsoft.com/office/drawing/2014/main" id="{EECAA66C-37C5-0DFB-D7F2-A30B9A514495}"/>
              </a:ext>
            </a:extLst>
          </p:cNvPr>
          <p:cNvSpPr/>
          <p:nvPr/>
        </p:nvSpPr>
        <p:spPr>
          <a:xfrm flipH="1" flipV="1">
            <a:off x="3638443" y="3609341"/>
            <a:ext cx="887898" cy="632556"/>
          </a:xfrm>
          <a:custGeom>
            <a:avLst/>
            <a:gdLst>
              <a:gd name="csX0" fmla="*/ 0 w 1676400"/>
              <a:gd name="csY0" fmla="*/ 0 h 1194300"/>
              <a:gd name="csX1" fmla="*/ 1676400 w 1676400"/>
              <a:gd name="csY1" fmla="*/ 935331 h 1194300"/>
              <a:gd name="csX2" fmla="*/ 1676400 w 1676400"/>
              <a:gd name="csY2" fmla="*/ 1194300 h 1194300"/>
              <a:gd name="csX3" fmla="*/ 0 w 1676400"/>
              <a:gd name="csY3" fmla="*/ 726300 h 1194300"/>
              <a:gd name="csX4" fmla="*/ 0 w 1676400"/>
              <a:gd name="csY4" fmla="*/ 720000 h 1194300"/>
              <a:gd name="csX5" fmla="*/ 0 w 1676400"/>
              <a:gd name="csY5" fmla="*/ 474300 h 1194300"/>
            </a:gdLst>
            <a:ahLst/>
            <a:cxnLst>
              <a:cxn ang="0">
                <a:pos x="csX0" y="csY0"/>
              </a:cxn>
              <a:cxn ang="0">
                <a:pos x="csX1" y="csY1"/>
              </a:cxn>
              <a:cxn ang="0">
                <a:pos x="csX2" y="csY2"/>
              </a:cxn>
              <a:cxn ang="0">
                <a:pos x="csX3" y="csY3"/>
              </a:cxn>
              <a:cxn ang="0">
                <a:pos x="csX4" y="csY4"/>
              </a:cxn>
              <a:cxn ang="0">
                <a:pos x="csX5" y="csY5"/>
              </a:cxn>
            </a:cxnLst>
            <a:rect l="l" t="t" r="r" b="b"/>
            <a:pathLst>
              <a:path w="1676400" h="1194300">
                <a:moveTo>
                  <a:pt x="0" y="0"/>
                </a:moveTo>
                <a:lnTo>
                  <a:pt x="1676400" y="935331"/>
                </a:lnTo>
                <a:lnTo>
                  <a:pt x="1676400" y="1194300"/>
                </a:lnTo>
                <a:lnTo>
                  <a:pt x="0" y="726300"/>
                </a:lnTo>
                <a:lnTo>
                  <a:pt x="0" y="720000"/>
                </a:lnTo>
                <a:lnTo>
                  <a:pt x="0" y="474300"/>
                </a:lnTo>
                <a:close/>
              </a:path>
            </a:pathLst>
          </a:custGeom>
          <a:solidFill>
            <a:srgbClr val="3F907A"/>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dirty="0">
              <a:solidFill>
                <a:schemeClr val="tx1"/>
              </a:solidFill>
            </a:endParaRPr>
          </a:p>
        </p:txBody>
      </p:sp>
      <p:sp useBgFill="1">
        <p:nvSpPr>
          <p:cNvPr id="36" name="六边形 35">
            <a:extLst>
              <a:ext uri="{FF2B5EF4-FFF2-40B4-BE49-F238E27FC236}">
                <a16:creationId xmlns:a16="http://schemas.microsoft.com/office/drawing/2014/main" id="{E72420C2-68DB-70A6-99D2-3BF87957B115}"/>
              </a:ext>
            </a:extLst>
          </p:cNvPr>
          <p:cNvSpPr/>
          <p:nvPr/>
        </p:nvSpPr>
        <p:spPr>
          <a:xfrm>
            <a:off x="3129030" y="3167727"/>
            <a:ext cx="762689" cy="610152"/>
          </a:xfrm>
          <a:prstGeom prst="hexagon">
            <a:avLst/>
          </a:prstGeom>
          <a:ln w="38100">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solidFill>
              </a:rPr>
              <a:t>定量</a:t>
            </a:r>
            <a:endParaRPr lang="en-US" altLang="zh-CN" sz="1000" dirty="0">
              <a:solidFill>
                <a:schemeClr val="tx1"/>
              </a:solidFill>
            </a:endParaRPr>
          </a:p>
          <a:p>
            <a:pPr algn="ctr"/>
            <a:r>
              <a:rPr lang="zh-CN" altLang="en-US" sz="1000" dirty="0">
                <a:solidFill>
                  <a:schemeClr val="tx1"/>
                </a:solidFill>
              </a:rPr>
              <a:t>风险评估</a:t>
            </a:r>
          </a:p>
        </p:txBody>
      </p:sp>
      <p:sp useBgFill="1">
        <p:nvSpPr>
          <p:cNvPr id="51" name="六边形 50">
            <a:extLst>
              <a:ext uri="{FF2B5EF4-FFF2-40B4-BE49-F238E27FC236}">
                <a16:creationId xmlns:a16="http://schemas.microsoft.com/office/drawing/2014/main" id="{F5DE60AF-1955-ED72-3AC3-676EC49A7D11}"/>
              </a:ext>
            </a:extLst>
          </p:cNvPr>
          <p:cNvSpPr>
            <a:spLocks noChangeAspect="1"/>
          </p:cNvSpPr>
          <p:nvPr/>
        </p:nvSpPr>
        <p:spPr>
          <a:xfrm>
            <a:off x="3186232" y="3213488"/>
            <a:ext cx="648286" cy="518629"/>
          </a:xfrm>
          <a:prstGeom prst="hexagon">
            <a:avLst/>
          </a:prstGeom>
          <a:ln w="76200">
            <a:gradFill>
              <a:gsLst>
                <a:gs pos="100000">
                  <a:srgbClr val="3F907A"/>
                </a:gs>
                <a:gs pos="0">
                  <a:srgbClr val="5FB79E"/>
                </a:gs>
              </a:gsLst>
              <a:lin ang="0" scaled="0"/>
            </a:gra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800" dirty="0">
                <a:solidFill>
                  <a:schemeClr val="tx1"/>
                </a:solidFill>
              </a:rPr>
              <a:t>定量</a:t>
            </a:r>
            <a:endParaRPr lang="en-US" altLang="zh-CN" sz="800" dirty="0">
              <a:solidFill>
                <a:schemeClr val="tx1"/>
              </a:solidFill>
            </a:endParaRPr>
          </a:p>
          <a:p>
            <a:pPr algn="ctr"/>
            <a:r>
              <a:rPr lang="zh-CN" altLang="en-US" sz="800" dirty="0">
                <a:solidFill>
                  <a:schemeClr val="tx1"/>
                </a:solidFill>
              </a:rPr>
              <a:t>风险评估</a:t>
            </a:r>
          </a:p>
        </p:txBody>
      </p:sp>
      <p:sp>
        <p:nvSpPr>
          <p:cNvPr id="60" name="任意多边形: 形状 59">
            <a:extLst>
              <a:ext uri="{FF2B5EF4-FFF2-40B4-BE49-F238E27FC236}">
                <a16:creationId xmlns:a16="http://schemas.microsoft.com/office/drawing/2014/main" id="{7AC90A9B-5B66-38F3-DD8B-279C775A81F5}"/>
              </a:ext>
            </a:extLst>
          </p:cNvPr>
          <p:cNvSpPr/>
          <p:nvPr/>
        </p:nvSpPr>
        <p:spPr>
          <a:xfrm>
            <a:off x="4526341" y="3860552"/>
            <a:ext cx="1144034" cy="381345"/>
          </a:xfrm>
          <a:custGeom>
            <a:avLst/>
            <a:gdLst>
              <a:gd name="csX0" fmla="*/ 0 w 1144034"/>
              <a:gd name="csY0" fmla="*/ 0 h 381345"/>
              <a:gd name="csX1" fmla="*/ 1144034 w 1144034"/>
              <a:gd name="csY1" fmla="*/ 0 h 381345"/>
              <a:gd name="csX2" fmla="*/ 1144034 w 1144034"/>
              <a:gd name="csY2" fmla="*/ 381345 h 381345"/>
              <a:gd name="csX3" fmla="*/ 0 w 1144034"/>
              <a:gd name="csY3" fmla="*/ 381345 h 381345"/>
              <a:gd name="csX4" fmla="*/ 0 w 1144034"/>
              <a:gd name="csY4" fmla="*/ 0 h 381345"/>
            </a:gdLst>
            <a:ahLst/>
            <a:cxnLst>
              <a:cxn ang="0">
                <a:pos x="csX0" y="csY0"/>
              </a:cxn>
              <a:cxn ang="0">
                <a:pos x="csX1" y="csY1"/>
              </a:cxn>
              <a:cxn ang="0">
                <a:pos x="csX2" y="csY2"/>
              </a:cxn>
              <a:cxn ang="0">
                <a:pos x="csX3" y="csY3"/>
              </a:cxn>
              <a:cxn ang="0">
                <a:pos x="csX4" y="csY4"/>
              </a:cxn>
            </a:cxnLst>
            <a:rect l="l" t="t" r="r" b="b"/>
            <a:pathLst>
              <a:path w="1144034" h="381345">
                <a:moveTo>
                  <a:pt x="0" y="0"/>
                </a:moveTo>
                <a:lnTo>
                  <a:pt x="1144034" y="0"/>
                </a:lnTo>
                <a:lnTo>
                  <a:pt x="1144034" y="381345"/>
                </a:lnTo>
                <a:lnTo>
                  <a:pt x="0" y="381345"/>
                </a:lnTo>
                <a:lnTo>
                  <a:pt x="0" y="0"/>
                </a:lnTo>
                <a:close/>
              </a:path>
            </a:pathLst>
          </a:custGeom>
          <a:solidFill>
            <a:srgbClr val="5FB79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r"/>
            <a:r>
              <a:rPr lang="en-US" altLang="zh-CN" sz="800" dirty="0">
                <a:solidFill>
                  <a:schemeClr val="bg1"/>
                </a:solidFill>
              </a:rPr>
              <a:t>…</a:t>
            </a:r>
            <a:endParaRPr lang="zh-CN" altLang="en-US" sz="800" dirty="0">
              <a:solidFill>
                <a:schemeClr val="bg1"/>
              </a:solidFill>
            </a:endParaRPr>
          </a:p>
        </p:txBody>
      </p:sp>
      <p:sp>
        <p:nvSpPr>
          <p:cNvPr id="58" name="任意多边形: 形状 57">
            <a:extLst>
              <a:ext uri="{FF2B5EF4-FFF2-40B4-BE49-F238E27FC236}">
                <a16:creationId xmlns:a16="http://schemas.microsoft.com/office/drawing/2014/main" id="{CA813EAB-B6B4-BEC8-D996-3FB3FEE5A066}"/>
              </a:ext>
            </a:extLst>
          </p:cNvPr>
          <p:cNvSpPr/>
          <p:nvPr/>
        </p:nvSpPr>
        <p:spPr>
          <a:xfrm>
            <a:off x="4526341" y="3464867"/>
            <a:ext cx="1144034" cy="381345"/>
          </a:xfrm>
          <a:custGeom>
            <a:avLst/>
            <a:gdLst>
              <a:gd name="csX0" fmla="*/ 0 w 1144034"/>
              <a:gd name="csY0" fmla="*/ 0 h 381345"/>
              <a:gd name="csX1" fmla="*/ 1144034 w 1144034"/>
              <a:gd name="csY1" fmla="*/ 0 h 381345"/>
              <a:gd name="csX2" fmla="*/ 1144034 w 1144034"/>
              <a:gd name="csY2" fmla="*/ 381345 h 381345"/>
              <a:gd name="csX3" fmla="*/ 0 w 1144034"/>
              <a:gd name="csY3" fmla="*/ 381345 h 381345"/>
              <a:gd name="csX4" fmla="*/ 0 w 1144034"/>
              <a:gd name="csY4" fmla="*/ 0 h 381345"/>
            </a:gdLst>
            <a:ahLst/>
            <a:cxnLst>
              <a:cxn ang="0">
                <a:pos x="csX0" y="csY0"/>
              </a:cxn>
              <a:cxn ang="0">
                <a:pos x="csX1" y="csY1"/>
              </a:cxn>
              <a:cxn ang="0">
                <a:pos x="csX2" y="csY2"/>
              </a:cxn>
              <a:cxn ang="0">
                <a:pos x="csX3" y="csY3"/>
              </a:cxn>
              <a:cxn ang="0">
                <a:pos x="csX4" y="csY4"/>
              </a:cxn>
            </a:cxnLst>
            <a:rect l="l" t="t" r="r" b="b"/>
            <a:pathLst>
              <a:path w="1144034" h="381345">
                <a:moveTo>
                  <a:pt x="0" y="0"/>
                </a:moveTo>
                <a:lnTo>
                  <a:pt x="1144034" y="0"/>
                </a:lnTo>
                <a:lnTo>
                  <a:pt x="1144034" y="381345"/>
                </a:lnTo>
                <a:lnTo>
                  <a:pt x="0" y="381345"/>
                </a:lnTo>
                <a:lnTo>
                  <a:pt x="0" y="0"/>
                </a:lnTo>
                <a:close/>
              </a:path>
            </a:pathLst>
          </a:custGeom>
          <a:solidFill>
            <a:srgbClr val="5FB79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r"/>
            <a:r>
              <a:rPr lang="zh-CN" altLang="en-US" sz="800" dirty="0">
                <a:solidFill>
                  <a:schemeClr val="bg1"/>
                </a:solidFill>
              </a:rPr>
              <a:t>期望值法</a:t>
            </a:r>
          </a:p>
        </p:txBody>
      </p:sp>
      <p:sp>
        <p:nvSpPr>
          <p:cNvPr id="56" name="任意多边形: 形状 55">
            <a:extLst>
              <a:ext uri="{FF2B5EF4-FFF2-40B4-BE49-F238E27FC236}">
                <a16:creationId xmlns:a16="http://schemas.microsoft.com/office/drawing/2014/main" id="{4868322F-B760-1B3C-4B2D-02AC8715F987}"/>
              </a:ext>
            </a:extLst>
          </p:cNvPr>
          <p:cNvSpPr/>
          <p:nvPr/>
        </p:nvSpPr>
        <p:spPr>
          <a:xfrm>
            <a:off x="1350375" y="3860552"/>
            <a:ext cx="1144034" cy="381345"/>
          </a:xfrm>
          <a:custGeom>
            <a:avLst/>
            <a:gdLst>
              <a:gd name="csX0" fmla="*/ 0 w 1144034"/>
              <a:gd name="csY0" fmla="*/ 0 h 381345"/>
              <a:gd name="csX1" fmla="*/ 1144034 w 1144034"/>
              <a:gd name="csY1" fmla="*/ 0 h 381345"/>
              <a:gd name="csX2" fmla="*/ 1144034 w 1144034"/>
              <a:gd name="csY2" fmla="*/ 381345 h 381345"/>
              <a:gd name="csX3" fmla="*/ 0 w 1144034"/>
              <a:gd name="csY3" fmla="*/ 381345 h 381345"/>
              <a:gd name="csX4" fmla="*/ 0 w 1144034"/>
              <a:gd name="csY4" fmla="*/ 0 h 381345"/>
            </a:gdLst>
            <a:ahLst/>
            <a:cxnLst>
              <a:cxn ang="0">
                <a:pos x="csX0" y="csY0"/>
              </a:cxn>
              <a:cxn ang="0">
                <a:pos x="csX1" y="csY1"/>
              </a:cxn>
              <a:cxn ang="0">
                <a:pos x="csX2" y="csY2"/>
              </a:cxn>
              <a:cxn ang="0">
                <a:pos x="csX3" y="csY3"/>
              </a:cxn>
              <a:cxn ang="0">
                <a:pos x="csX4" y="csY4"/>
              </a:cxn>
            </a:cxnLst>
            <a:rect l="l" t="t" r="r" b="b"/>
            <a:pathLst>
              <a:path w="1144034" h="381345">
                <a:moveTo>
                  <a:pt x="0" y="0"/>
                </a:moveTo>
                <a:lnTo>
                  <a:pt x="1144034" y="0"/>
                </a:lnTo>
                <a:lnTo>
                  <a:pt x="1144034" y="381345"/>
                </a:lnTo>
                <a:lnTo>
                  <a:pt x="0" y="381345"/>
                </a:lnTo>
                <a:lnTo>
                  <a:pt x="0" y="0"/>
                </a:lnTo>
                <a:close/>
              </a:path>
            </a:pathLst>
          </a:custGeom>
          <a:solidFill>
            <a:srgbClr val="5FB79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lang="zh-CN" altLang="en-US" sz="800" dirty="0">
                <a:solidFill>
                  <a:schemeClr val="bg1"/>
                </a:solidFill>
              </a:rPr>
              <a:t>模拟法</a:t>
            </a:r>
          </a:p>
        </p:txBody>
      </p:sp>
      <p:sp>
        <p:nvSpPr>
          <p:cNvPr id="54" name="任意多边形: 形状 53">
            <a:extLst>
              <a:ext uri="{FF2B5EF4-FFF2-40B4-BE49-F238E27FC236}">
                <a16:creationId xmlns:a16="http://schemas.microsoft.com/office/drawing/2014/main" id="{8DC4C471-25FC-6DE8-BEFC-46DCD1E82141}"/>
              </a:ext>
            </a:extLst>
          </p:cNvPr>
          <p:cNvSpPr/>
          <p:nvPr/>
        </p:nvSpPr>
        <p:spPr>
          <a:xfrm>
            <a:off x="1350375" y="3464867"/>
            <a:ext cx="1144034" cy="381345"/>
          </a:xfrm>
          <a:custGeom>
            <a:avLst/>
            <a:gdLst>
              <a:gd name="csX0" fmla="*/ 0 w 1144034"/>
              <a:gd name="csY0" fmla="*/ 0 h 381345"/>
              <a:gd name="csX1" fmla="*/ 1144034 w 1144034"/>
              <a:gd name="csY1" fmla="*/ 0 h 381345"/>
              <a:gd name="csX2" fmla="*/ 1144034 w 1144034"/>
              <a:gd name="csY2" fmla="*/ 381345 h 381345"/>
              <a:gd name="csX3" fmla="*/ 0 w 1144034"/>
              <a:gd name="csY3" fmla="*/ 381345 h 381345"/>
              <a:gd name="csX4" fmla="*/ 0 w 1144034"/>
              <a:gd name="csY4" fmla="*/ 0 h 381345"/>
            </a:gdLst>
            <a:ahLst/>
            <a:cxnLst>
              <a:cxn ang="0">
                <a:pos x="csX0" y="csY0"/>
              </a:cxn>
              <a:cxn ang="0">
                <a:pos x="csX1" y="csY1"/>
              </a:cxn>
              <a:cxn ang="0">
                <a:pos x="csX2" y="csY2"/>
              </a:cxn>
              <a:cxn ang="0">
                <a:pos x="csX3" y="csY3"/>
              </a:cxn>
              <a:cxn ang="0">
                <a:pos x="csX4" y="csY4"/>
              </a:cxn>
            </a:cxnLst>
            <a:rect l="l" t="t" r="r" b="b"/>
            <a:pathLst>
              <a:path w="1144034" h="381345">
                <a:moveTo>
                  <a:pt x="0" y="0"/>
                </a:moveTo>
                <a:lnTo>
                  <a:pt x="1144034" y="0"/>
                </a:lnTo>
                <a:lnTo>
                  <a:pt x="1144034" y="381345"/>
                </a:lnTo>
                <a:lnTo>
                  <a:pt x="0" y="381345"/>
                </a:lnTo>
                <a:lnTo>
                  <a:pt x="0" y="0"/>
                </a:lnTo>
                <a:close/>
              </a:path>
            </a:pathLst>
          </a:custGeom>
          <a:solidFill>
            <a:srgbClr val="5FB79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lang="zh-CN" altLang="en-US" sz="800" dirty="0">
                <a:solidFill>
                  <a:schemeClr val="bg1"/>
                </a:solidFill>
              </a:rPr>
              <a:t>决策树分析</a:t>
            </a:r>
          </a:p>
        </p:txBody>
      </p:sp>
      <p:pic>
        <p:nvPicPr>
          <p:cNvPr id="69" name="图形 68">
            <a:extLst>
              <a:ext uri="{FF2B5EF4-FFF2-40B4-BE49-F238E27FC236}">
                <a16:creationId xmlns:a16="http://schemas.microsoft.com/office/drawing/2014/main" id="{D0C720DC-A46D-E9ED-6640-16B76982270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143865" y="2751379"/>
            <a:ext cx="247650" cy="228600"/>
          </a:xfrm>
          <a:prstGeom prst="rect">
            <a:avLst/>
          </a:prstGeom>
        </p:spPr>
      </p:pic>
      <p:pic>
        <p:nvPicPr>
          <p:cNvPr id="71" name="图形 70">
            <a:extLst>
              <a:ext uri="{FF2B5EF4-FFF2-40B4-BE49-F238E27FC236}">
                <a16:creationId xmlns:a16="http://schemas.microsoft.com/office/drawing/2014/main" id="{4A03B449-5741-34DD-4B9E-EA6880F637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3390" y="3147064"/>
            <a:ext cx="228600" cy="228600"/>
          </a:xfrm>
          <a:prstGeom prst="rect">
            <a:avLst/>
          </a:prstGeom>
        </p:spPr>
      </p:pic>
      <p:pic>
        <p:nvPicPr>
          <p:cNvPr id="73" name="图形 72">
            <a:extLst>
              <a:ext uri="{FF2B5EF4-FFF2-40B4-BE49-F238E27FC236}">
                <a16:creationId xmlns:a16="http://schemas.microsoft.com/office/drawing/2014/main" id="{7A68BD1A-E64C-B680-5739-4C73CD97A9A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53390" y="3541239"/>
            <a:ext cx="228600" cy="228600"/>
          </a:xfrm>
          <a:prstGeom prst="rect">
            <a:avLst/>
          </a:prstGeom>
        </p:spPr>
      </p:pic>
      <p:pic>
        <p:nvPicPr>
          <p:cNvPr id="75" name="图形 74">
            <a:extLst>
              <a:ext uri="{FF2B5EF4-FFF2-40B4-BE49-F238E27FC236}">
                <a16:creationId xmlns:a16="http://schemas.microsoft.com/office/drawing/2014/main" id="{63F8085A-73D3-F76F-5A5C-C0F2049E395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153390" y="3936924"/>
            <a:ext cx="228600" cy="228600"/>
          </a:xfrm>
          <a:prstGeom prst="rect">
            <a:avLst/>
          </a:prstGeom>
        </p:spPr>
      </p:pic>
      <p:pic>
        <p:nvPicPr>
          <p:cNvPr id="77" name="图形 76">
            <a:extLst>
              <a:ext uri="{FF2B5EF4-FFF2-40B4-BE49-F238E27FC236}">
                <a16:creationId xmlns:a16="http://schemas.microsoft.com/office/drawing/2014/main" id="{B759A22E-7A67-11C2-86B6-0DAE3D7B0B2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597095" y="2751379"/>
            <a:ext cx="228600" cy="228600"/>
          </a:xfrm>
          <a:prstGeom prst="rect">
            <a:avLst/>
          </a:prstGeom>
        </p:spPr>
      </p:pic>
      <p:pic>
        <p:nvPicPr>
          <p:cNvPr id="79" name="图形 78">
            <a:extLst>
              <a:ext uri="{FF2B5EF4-FFF2-40B4-BE49-F238E27FC236}">
                <a16:creationId xmlns:a16="http://schemas.microsoft.com/office/drawing/2014/main" id="{41BF534C-3AAC-1709-10D0-E7C9B9FE97F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597095" y="3147064"/>
            <a:ext cx="228600" cy="228600"/>
          </a:xfrm>
          <a:prstGeom prst="rect">
            <a:avLst/>
          </a:prstGeom>
        </p:spPr>
      </p:pic>
      <p:pic>
        <p:nvPicPr>
          <p:cNvPr id="81" name="图形 80">
            <a:extLst>
              <a:ext uri="{FF2B5EF4-FFF2-40B4-BE49-F238E27FC236}">
                <a16:creationId xmlns:a16="http://schemas.microsoft.com/office/drawing/2014/main" id="{16F5AA44-4B2D-D32A-B33B-4C7BCC3BF59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597095" y="3549279"/>
            <a:ext cx="228600" cy="228600"/>
          </a:xfrm>
          <a:prstGeom prst="rect">
            <a:avLst/>
          </a:prstGeom>
        </p:spPr>
      </p:pic>
      <p:pic>
        <p:nvPicPr>
          <p:cNvPr id="83" name="图形 82">
            <a:extLst>
              <a:ext uri="{FF2B5EF4-FFF2-40B4-BE49-F238E27FC236}">
                <a16:creationId xmlns:a16="http://schemas.microsoft.com/office/drawing/2014/main" id="{BF78352D-319F-2AC6-5B47-E468AF73351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597095" y="3925619"/>
            <a:ext cx="228600" cy="228600"/>
          </a:xfrm>
          <a:prstGeom prst="rect">
            <a:avLst/>
          </a:prstGeom>
        </p:spPr>
      </p:pic>
    </p:spTree>
    <p:extLst>
      <p:ext uri="{BB962C8B-B14F-4D97-AF65-F5344CB8AC3E}">
        <p14:creationId xmlns:p14="http://schemas.microsoft.com/office/powerpoint/2010/main" val="1494262859"/>
      </p:ext>
    </p:extLst>
  </p:cSld>
  <p:clrMapOvr>
    <a:masterClrMapping/>
  </p:clrMapOvr>
</p:sld>
</file>

<file path=ppt/slides/slide4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5E7CC8-845F-5902-9D9E-369D6E857BAC}"/>
              </a:ext>
            </a:extLst>
          </p:cNvPr>
          <p:cNvSpPr>
            <a:spLocks noGrp="1"/>
          </p:cNvSpPr>
          <p:nvPr>
            <p:ph type="title"/>
          </p:nvPr>
        </p:nvSpPr>
        <p:spPr>
          <a:xfrm>
            <a:off x="694800" y="360000"/>
            <a:ext cx="6375921" cy="429413"/>
          </a:xfrm>
        </p:spPr>
        <p:txBody>
          <a:bodyPr/>
          <a:lstStyle/>
          <a:p>
            <a:r>
              <a:rPr lang="en-US" altLang="zh-CN" dirty="0"/>
              <a:t>1 </a:t>
            </a:r>
            <a:r>
              <a:rPr lang="zh-CN" altLang="en-US" dirty="0"/>
              <a:t>访谈</a:t>
            </a:r>
          </a:p>
        </p:txBody>
      </p:sp>
      <p:sp>
        <p:nvSpPr>
          <p:cNvPr id="3" name="内容占位符 2">
            <a:extLst>
              <a:ext uri="{FF2B5EF4-FFF2-40B4-BE49-F238E27FC236}">
                <a16:creationId xmlns:a16="http://schemas.microsoft.com/office/drawing/2014/main" id="{488F31B9-1C78-4429-27A8-4C5F7D5178C9}"/>
              </a:ext>
            </a:extLst>
          </p:cNvPr>
          <p:cNvSpPr>
            <a:spLocks noGrp="1"/>
          </p:cNvSpPr>
          <p:nvPr>
            <p:ph idx="1"/>
          </p:nvPr>
        </p:nvSpPr>
        <p:spPr>
          <a:xfrm>
            <a:off x="696000" y="864000"/>
            <a:ext cx="10800000" cy="5400000"/>
          </a:xfrm>
        </p:spPr>
        <p:txBody>
          <a:bodyPr/>
          <a:lstStyle/>
          <a:p>
            <a:endParaRPr lang="zh-CN" altLang="en-US" dirty="0"/>
          </a:p>
        </p:txBody>
      </p:sp>
      <p:sp>
        <p:nvSpPr>
          <p:cNvPr id="4" name="文本占位符 3">
            <a:extLst>
              <a:ext uri="{FF2B5EF4-FFF2-40B4-BE49-F238E27FC236}">
                <a16:creationId xmlns:a16="http://schemas.microsoft.com/office/drawing/2014/main" id="{23095D8A-4020-BC28-2F42-EBC9FE5E5338}"/>
              </a:ext>
            </a:extLst>
          </p:cNvPr>
          <p:cNvSpPr>
            <a:spLocks noGrp="1"/>
          </p:cNvSpPr>
          <p:nvPr>
            <p:ph type="body" sz="quarter" idx="10"/>
          </p:nvPr>
        </p:nvSpPr>
        <p:spPr>
          <a:xfrm>
            <a:off x="7071919" y="448519"/>
            <a:ext cx="4424080" cy="338554"/>
          </a:xfrm>
        </p:spPr>
        <p:txBody>
          <a:bodyPr/>
          <a:lstStyle/>
          <a:p>
            <a:r>
              <a:rPr lang="zh-CN" altLang="en-US" dirty="0"/>
              <a:t>定量风险评估方法</a:t>
            </a:r>
          </a:p>
        </p:txBody>
      </p:sp>
    </p:spTree>
    <p:extLst>
      <p:ext uri="{BB962C8B-B14F-4D97-AF65-F5344CB8AC3E}">
        <p14:creationId xmlns:p14="http://schemas.microsoft.com/office/powerpoint/2010/main" val="2213323775"/>
      </p:ext>
    </p:extLst>
  </p:cSld>
  <p:clrMapOvr>
    <a:masterClrMapping/>
  </p:clrMapOvr>
</p:sld>
</file>

<file path=ppt/slides/slide4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9425C-7BED-98D5-B438-1DE52C3C962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B416A1E-C2E6-9133-5A9F-CD0E7B77E6DD}"/>
              </a:ext>
            </a:extLst>
          </p:cNvPr>
          <p:cNvSpPr>
            <a:spLocks noGrp="1"/>
          </p:cNvSpPr>
          <p:nvPr>
            <p:ph type="title"/>
          </p:nvPr>
        </p:nvSpPr>
        <p:spPr>
          <a:xfrm>
            <a:off x="694800" y="360000"/>
            <a:ext cx="6375921" cy="429413"/>
          </a:xfrm>
        </p:spPr>
        <p:txBody>
          <a:bodyPr/>
          <a:lstStyle/>
          <a:p>
            <a:r>
              <a:rPr lang="en-US" altLang="zh-CN" dirty="0"/>
              <a:t>2 </a:t>
            </a:r>
            <a:r>
              <a:rPr lang="zh-CN" altLang="en-US" dirty="0"/>
              <a:t>盈亏平衡分析</a:t>
            </a:r>
          </a:p>
        </p:txBody>
      </p:sp>
      <p:sp>
        <p:nvSpPr>
          <p:cNvPr id="3" name="内容占位符 2">
            <a:extLst>
              <a:ext uri="{FF2B5EF4-FFF2-40B4-BE49-F238E27FC236}">
                <a16:creationId xmlns:a16="http://schemas.microsoft.com/office/drawing/2014/main" id="{F0FF739B-0DEA-2DDD-ACF5-9508C0F5301F}"/>
              </a:ext>
            </a:extLst>
          </p:cNvPr>
          <p:cNvSpPr>
            <a:spLocks noGrp="1"/>
          </p:cNvSpPr>
          <p:nvPr>
            <p:ph idx="1"/>
          </p:nvPr>
        </p:nvSpPr>
        <p:spPr>
          <a:xfrm>
            <a:off x="696000" y="864000"/>
            <a:ext cx="10800000" cy="5400000"/>
          </a:xfrm>
        </p:spPr>
        <p:txBody>
          <a:bodyPr/>
          <a:lstStyle/>
          <a:p>
            <a:endParaRPr lang="zh-CN" altLang="en-US" dirty="0"/>
          </a:p>
        </p:txBody>
      </p:sp>
      <p:sp>
        <p:nvSpPr>
          <p:cNvPr id="4" name="文本占位符 3">
            <a:extLst>
              <a:ext uri="{FF2B5EF4-FFF2-40B4-BE49-F238E27FC236}">
                <a16:creationId xmlns:a16="http://schemas.microsoft.com/office/drawing/2014/main" id="{3C1DAD86-0AD9-3139-AE01-CD7C12C8CBBB}"/>
              </a:ext>
            </a:extLst>
          </p:cNvPr>
          <p:cNvSpPr>
            <a:spLocks noGrp="1"/>
          </p:cNvSpPr>
          <p:nvPr>
            <p:ph type="body" sz="quarter" idx="10"/>
          </p:nvPr>
        </p:nvSpPr>
        <p:spPr>
          <a:xfrm>
            <a:off x="7071919" y="448519"/>
            <a:ext cx="4424080" cy="338554"/>
          </a:xfrm>
        </p:spPr>
        <p:txBody>
          <a:bodyPr/>
          <a:lstStyle/>
          <a:p>
            <a:r>
              <a:rPr lang="zh-CN" altLang="en-US" dirty="0"/>
              <a:t>定量风险评估方法</a:t>
            </a:r>
          </a:p>
        </p:txBody>
      </p:sp>
    </p:spTree>
    <p:extLst>
      <p:ext uri="{BB962C8B-B14F-4D97-AF65-F5344CB8AC3E}">
        <p14:creationId xmlns:p14="http://schemas.microsoft.com/office/powerpoint/2010/main" val="4136963458"/>
      </p:ext>
    </p:extLst>
  </p:cSld>
  <p:clrMapOvr>
    <a:masterClrMapping/>
  </p:clrMapOvr>
</p:sld>
</file>

<file path=ppt/slides/slide4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C14D1-E158-E0FB-C871-0D4E7DD2959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A32625A-6366-80EB-6857-9A8656B1733D}"/>
              </a:ext>
            </a:extLst>
          </p:cNvPr>
          <p:cNvSpPr>
            <a:spLocks noGrp="1"/>
          </p:cNvSpPr>
          <p:nvPr>
            <p:ph type="title"/>
          </p:nvPr>
        </p:nvSpPr>
        <p:spPr>
          <a:xfrm>
            <a:off x="694800" y="360000"/>
            <a:ext cx="6375921" cy="429413"/>
          </a:xfrm>
        </p:spPr>
        <p:txBody>
          <a:bodyPr/>
          <a:lstStyle/>
          <a:p>
            <a:r>
              <a:rPr lang="en-US" altLang="zh-CN" dirty="0"/>
              <a:t>3 </a:t>
            </a:r>
            <a:r>
              <a:rPr lang="zh-CN" altLang="en-US" dirty="0"/>
              <a:t>决策树</a:t>
            </a:r>
          </a:p>
        </p:txBody>
      </p:sp>
      <p:sp>
        <p:nvSpPr>
          <p:cNvPr id="3" name="内容占位符 2">
            <a:extLst>
              <a:ext uri="{FF2B5EF4-FFF2-40B4-BE49-F238E27FC236}">
                <a16:creationId xmlns:a16="http://schemas.microsoft.com/office/drawing/2014/main" id="{502CF9FC-D8D4-A406-F965-EECC79F30D41}"/>
              </a:ext>
            </a:extLst>
          </p:cNvPr>
          <p:cNvSpPr>
            <a:spLocks noGrp="1"/>
          </p:cNvSpPr>
          <p:nvPr>
            <p:ph idx="1"/>
          </p:nvPr>
        </p:nvSpPr>
        <p:spPr>
          <a:xfrm>
            <a:off x="694800" y="1338697"/>
            <a:ext cx="10800000" cy="4925303"/>
          </a:xfrm>
        </p:spPr>
        <p:txBody>
          <a:bodyPr/>
          <a:lstStyle/>
          <a:p>
            <a:r>
              <a:rPr lang="zh-CN" altLang="en-US" dirty="0"/>
              <a:t>决策树分析是一种图表分析方法</a:t>
            </a:r>
          </a:p>
          <a:p>
            <a:r>
              <a:rPr lang="zh-CN" altLang="en-US" dirty="0"/>
              <a:t>提供项目所有可供选择的行动方案，行动方案之间的关系，行动方案的后果以及发生的概率</a:t>
            </a:r>
          </a:p>
          <a:p>
            <a:r>
              <a:rPr lang="zh-CN" altLang="en-US" dirty="0"/>
              <a:t>提供选择一个最佳的方案的依据</a:t>
            </a:r>
            <a:endParaRPr lang="en-US" altLang="zh-CN" dirty="0"/>
          </a:p>
          <a:p>
            <a:r>
              <a:rPr lang="zh-CN" altLang="en-US" dirty="0"/>
              <a:t>损益期望值 </a:t>
            </a:r>
            <a:r>
              <a:rPr lang="en-US" altLang="zh-CN" dirty="0"/>
              <a:t>Expected Monetary Value</a:t>
            </a:r>
          </a:p>
          <a:p>
            <a:pPr lvl="1"/>
            <a:r>
              <a:rPr lang="zh-CN" altLang="en-US" dirty="0"/>
              <a:t>决策树的一种计算值</a:t>
            </a:r>
          </a:p>
          <a:p>
            <a:pPr lvl="1"/>
            <a:r>
              <a:rPr lang="zh-CN" altLang="en-US" dirty="0"/>
              <a:t>根据预期结果、发生的概率计算出一种期望的损益</a:t>
            </a:r>
          </a:p>
          <a:p>
            <a:endParaRPr lang="zh-CN" altLang="en-US" dirty="0"/>
          </a:p>
          <a:p>
            <a:endParaRPr lang="zh-CN" altLang="en-US" dirty="0"/>
          </a:p>
          <a:p>
            <a:endParaRPr lang="zh-CN" altLang="en-US" dirty="0"/>
          </a:p>
        </p:txBody>
      </p:sp>
      <p:sp>
        <p:nvSpPr>
          <p:cNvPr id="4" name="文本占位符 3">
            <a:extLst>
              <a:ext uri="{FF2B5EF4-FFF2-40B4-BE49-F238E27FC236}">
                <a16:creationId xmlns:a16="http://schemas.microsoft.com/office/drawing/2014/main" id="{75351BC9-3364-C396-8E4A-1AEF38C57BEE}"/>
              </a:ext>
            </a:extLst>
          </p:cNvPr>
          <p:cNvSpPr>
            <a:spLocks noGrp="1"/>
          </p:cNvSpPr>
          <p:nvPr>
            <p:ph type="body" sz="quarter" idx="10"/>
          </p:nvPr>
        </p:nvSpPr>
        <p:spPr>
          <a:xfrm>
            <a:off x="7071919" y="448519"/>
            <a:ext cx="4424080" cy="338554"/>
          </a:xfrm>
        </p:spPr>
        <p:txBody>
          <a:bodyPr/>
          <a:lstStyle/>
          <a:p>
            <a:r>
              <a:rPr lang="zh-CN" altLang="en-US" dirty="0"/>
              <a:t>定量风险评估方法</a:t>
            </a:r>
          </a:p>
        </p:txBody>
      </p:sp>
      <p:sp>
        <p:nvSpPr>
          <p:cNvPr id="15" name="文本占位符 14">
            <a:extLst>
              <a:ext uri="{FF2B5EF4-FFF2-40B4-BE49-F238E27FC236}">
                <a16:creationId xmlns:a16="http://schemas.microsoft.com/office/drawing/2014/main" id="{3E5390D8-100A-1BA0-976B-D51928D29E39}"/>
              </a:ext>
            </a:extLst>
          </p:cNvPr>
          <p:cNvSpPr>
            <a:spLocks noGrp="1"/>
          </p:cNvSpPr>
          <p:nvPr>
            <p:ph type="body" sz="quarter" idx="11"/>
          </p:nvPr>
        </p:nvSpPr>
        <p:spPr/>
        <p:txBody>
          <a:bodyPr/>
          <a:lstStyle/>
          <a:p>
            <a:endParaRPr lang="zh-CN" altLang="en-US"/>
          </a:p>
        </p:txBody>
      </p:sp>
      <p:sp>
        <p:nvSpPr>
          <p:cNvPr id="11" name="文本框 10">
            <a:extLst>
              <a:ext uri="{FF2B5EF4-FFF2-40B4-BE49-F238E27FC236}">
                <a16:creationId xmlns:a16="http://schemas.microsoft.com/office/drawing/2014/main" id="{58781758-2143-39C3-91DD-62387596EAB8}"/>
              </a:ext>
            </a:extLst>
          </p:cNvPr>
          <p:cNvSpPr txBox="1"/>
          <p:nvPr/>
        </p:nvSpPr>
        <p:spPr>
          <a:xfrm>
            <a:off x="4148993" y="3824714"/>
            <a:ext cx="3894015" cy="830997"/>
          </a:xfrm>
          <a:prstGeom prst="rect">
            <a:avLst/>
          </a:prstGeom>
          <a:noFill/>
        </p:spPr>
        <p:txBody>
          <a:bodyPr wrap="none" rtlCol="0">
            <a:spAutoFit/>
          </a:bodyPr>
          <a:lstStyle/>
          <a:p>
            <a:pPr algn="l"/>
            <a:r>
              <a:rPr lang="zh-CN" altLang="en-US" sz="1600" dirty="0"/>
              <a:t>某行动方案成功的概率是</a:t>
            </a:r>
            <a:r>
              <a:rPr lang="en-US" altLang="zh-CN" sz="1600" dirty="0"/>
              <a:t>50%</a:t>
            </a:r>
            <a:r>
              <a:rPr lang="zh-CN" altLang="en-US" sz="1600" dirty="0"/>
              <a:t>，收益是</a:t>
            </a:r>
            <a:r>
              <a:rPr lang="en-US" altLang="zh-CN" sz="1600" dirty="0"/>
              <a:t>10</a:t>
            </a:r>
          </a:p>
          <a:p>
            <a:pPr algn="l"/>
            <a:r>
              <a:rPr lang="zh-CN" altLang="en-US" sz="1600" dirty="0"/>
              <a:t>则：</a:t>
            </a:r>
            <a:endParaRPr lang="en-US" altLang="zh-CN" sz="1600" dirty="0"/>
          </a:p>
          <a:p>
            <a:pPr indent="457200" algn="l"/>
            <a:r>
              <a:rPr lang="en-US" altLang="zh-CN" sz="1600" dirty="0"/>
              <a:t>EMV=10*50%=5</a:t>
            </a:r>
            <a:endParaRPr lang="zh-CN" altLang="en-US" sz="1600" dirty="0"/>
          </a:p>
        </p:txBody>
      </p:sp>
    </p:spTree>
    <p:extLst>
      <p:ext uri="{BB962C8B-B14F-4D97-AF65-F5344CB8AC3E}">
        <p14:creationId xmlns:p14="http://schemas.microsoft.com/office/powerpoint/2010/main" val="2770819324"/>
      </p:ext>
    </p:extLst>
  </p:cSld>
  <p:clrMapOvr>
    <a:masterClrMapping/>
  </p:clrMapOvr>
</p:sld>
</file>

<file path=ppt/slides/slide4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63A534B7-51B0-D557-C3FB-A47755513E8A}"/>
              </a:ext>
            </a:extLst>
          </p:cNvPr>
          <p:cNvSpPr>
            <a:spLocks noGrp="1"/>
          </p:cNvSpPr>
          <p:nvPr>
            <p:ph type="title"/>
          </p:nvPr>
        </p:nvSpPr>
        <p:spPr>
          <a:xfrm>
            <a:off x="696000" y="360000"/>
            <a:ext cx="5400000" cy="429413"/>
          </a:xfrm>
        </p:spPr>
        <p:txBody>
          <a:bodyPr/>
          <a:lstStyle/>
          <a:p>
            <a:r>
              <a:rPr lang="zh-CN" altLang="en-US" dirty="0"/>
              <a:t>例：决策树</a:t>
            </a:r>
          </a:p>
        </p:txBody>
      </p:sp>
      <p:grpSp>
        <p:nvGrpSpPr>
          <p:cNvPr id="3" name="组合 2">
            <a:extLst>
              <a:ext uri="{FF2B5EF4-FFF2-40B4-BE49-F238E27FC236}">
                <a16:creationId xmlns:a16="http://schemas.microsoft.com/office/drawing/2014/main" id="{B5F5C2A4-9337-28CB-1528-6FC639F26271}"/>
              </a:ext>
            </a:extLst>
          </p:cNvPr>
          <p:cNvGrpSpPr/>
          <p:nvPr/>
        </p:nvGrpSpPr>
        <p:grpSpPr>
          <a:xfrm rot="20100000">
            <a:off x="3141084" y="3741096"/>
            <a:ext cx="1661180" cy="364531"/>
            <a:chOff x="3023768" y="2773142"/>
            <a:chExt cx="1661180" cy="364531"/>
          </a:xfrm>
        </p:grpSpPr>
        <p:sp>
          <p:nvSpPr>
            <p:cNvPr id="15" name="Text Box 12">
              <a:extLst>
                <a:ext uri="{FF2B5EF4-FFF2-40B4-BE49-F238E27FC236}">
                  <a16:creationId xmlns:a16="http://schemas.microsoft.com/office/drawing/2014/main" id="{92A6BC36-A86F-0B01-09F6-A0F187D325AE}"/>
                </a:ext>
              </a:extLst>
            </p:cNvPr>
            <p:cNvSpPr txBox="1">
              <a:spLocks noChangeArrowheads="1"/>
            </p:cNvSpPr>
            <p:nvPr/>
          </p:nvSpPr>
          <p:spPr bwMode="auto">
            <a:xfrm>
              <a:off x="3023768" y="2773142"/>
              <a:ext cx="1656000"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ea typeface="华文仿宋" pitchFamily="2" charset="-122"/>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ea typeface="华文仿宋" pitchFamily="2" charset="-122"/>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ea typeface="华文仿宋" pitchFamily="2" charset="-122"/>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ea typeface="华文仿宋" pitchFamily="2" charset="-122"/>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ea typeface="华文仿宋" pitchFamily="2" charset="-122"/>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ea typeface="华文仿宋" pitchFamily="2" charset="-122"/>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ea typeface="华文仿宋" pitchFamily="2" charset="-122"/>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ea typeface="华文仿宋" pitchFamily="2" charset="-122"/>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ea typeface="华文仿宋" pitchFamily="2" charset="-122"/>
                </a:defRPr>
              </a:lvl9pPr>
            </a:lstStyle>
            <a:p>
              <a:pPr eaLnBrk="1" hangingPunct="1">
                <a:spcBef>
                  <a:spcPct val="50000"/>
                </a:spcBef>
                <a:buClrTx/>
                <a:buSzTx/>
                <a:buFontTx/>
                <a:buNone/>
                <a:defRPr/>
              </a:pPr>
              <a:r>
                <a:rPr lang="zh-CN" altLang="en-US" sz="800" dirty="0">
                  <a:latin typeface="+mn-lt"/>
                  <a:ea typeface="+mn-ea"/>
                </a:rPr>
                <a:t>成功：</a:t>
              </a:r>
              <a:r>
                <a:rPr lang="en-US" altLang="zh-CN" sz="800" dirty="0">
                  <a:latin typeface="+mn-lt"/>
                  <a:ea typeface="+mn-ea"/>
                </a:rPr>
                <a:t>P=70%  V=95,000</a:t>
              </a:r>
            </a:p>
          </p:txBody>
        </p:sp>
        <p:sp>
          <p:nvSpPr>
            <p:cNvPr id="18" name="Text Box 15">
              <a:extLst>
                <a:ext uri="{FF2B5EF4-FFF2-40B4-BE49-F238E27FC236}">
                  <a16:creationId xmlns:a16="http://schemas.microsoft.com/office/drawing/2014/main" id="{B0430F43-A534-451D-870D-86BD6D62B768}"/>
                </a:ext>
              </a:extLst>
            </p:cNvPr>
            <p:cNvSpPr txBox="1">
              <a:spLocks noChangeArrowheads="1"/>
            </p:cNvSpPr>
            <p:nvPr/>
          </p:nvSpPr>
          <p:spPr bwMode="auto">
            <a:xfrm>
              <a:off x="3028948" y="2922229"/>
              <a:ext cx="1656000"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ea typeface="华文仿宋" pitchFamily="2" charset="-122"/>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ea typeface="华文仿宋" pitchFamily="2" charset="-122"/>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ea typeface="华文仿宋" pitchFamily="2" charset="-122"/>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ea typeface="华文仿宋" pitchFamily="2" charset="-122"/>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ea typeface="华文仿宋" pitchFamily="2" charset="-122"/>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ea typeface="华文仿宋" pitchFamily="2" charset="-122"/>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ea typeface="华文仿宋" pitchFamily="2" charset="-122"/>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ea typeface="华文仿宋" pitchFamily="2" charset="-122"/>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ea typeface="华文仿宋" pitchFamily="2" charset="-122"/>
                </a:defRPr>
              </a:lvl9pPr>
            </a:lstStyle>
            <a:p>
              <a:pPr eaLnBrk="1" hangingPunct="1">
                <a:spcBef>
                  <a:spcPct val="50000"/>
                </a:spcBef>
                <a:buClrTx/>
                <a:buSzTx/>
                <a:buFontTx/>
                <a:buNone/>
                <a:defRPr/>
              </a:pPr>
              <a:r>
                <a:rPr lang="en-US" altLang="zh-CN" sz="800" dirty="0">
                  <a:latin typeface="+mn-lt"/>
                  <a:ea typeface="+mn-ea"/>
                </a:rPr>
                <a:t>EMV=95,000*70%=66500</a:t>
              </a:r>
            </a:p>
          </p:txBody>
        </p:sp>
      </p:grpSp>
      <p:sp>
        <p:nvSpPr>
          <p:cNvPr id="20" name="Text Box 17">
            <a:extLst>
              <a:ext uri="{FF2B5EF4-FFF2-40B4-BE49-F238E27FC236}">
                <a16:creationId xmlns:a16="http://schemas.microsoft.com/office/drawing/2014/main" id="{316EAAF1-A367-A422-7396-CB7A29F14610}"/>
              </a:ext>
            </a:extLst>
          </p:cNvPr>
          <p:cNvSpPr txBox="1">
            <a:spLocks noChangeArrowheads="1"/>
          </p:cNvSpPr>
          <p:nvPr/>
        </p:nvSpPr>
        <p:spPr bwMode="auto">
          <a:xfrm>
            <a:off x="1963686" y="5261700"/>
            <a:ext cx="936000"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ea typeface="华文仿宋" pitchFamily="2" charset="-122"/>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ea typeface="华文仿宋" pitchFamily="2" charset="-122"/>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ea typeface="华文仿宋" pitchFamily="2" charset="-122"/>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ea typeface="华文仿宋" pitchFamily="2" charset="-122"/>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ea typeface="华文仿宋" pitchFamily="2" charset="-122"/>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ea typeface="华文仿宋" pitchFamily="2" charset="-122"/>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ea typeface="华文仿宋" pitchFamily="2" charset="-122"/>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ea typeface="华文仿宋" pitchFamily="2" charset="-122"/>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ea typeface="华文仿宋" pitchFamily="2" charset="-122"/>
              </a:defRPr>
            </a:lvl9pPr>
          </a:lstStyle>
          <a:p>
            <a:pPr eaLnBrk="1" hangingPunct="1">
              <a:spcBef>
                <a:spcPct val="50000"/>
              </a:spcBef>
              <a:buClrTx/>
              <a:buSzTx/>
              <a:buFontTx/>
              <a:buNone/>
              <a:defRPr/>
            </a:pPr>
            <a:r>
              <a:rPr lang="zh-CN" altLang="en-US" sz="800" dirty="0">
                <a:latin typeface="+mn-lt"/>
                <a:ea typeface="+mn-ea"/>
              </a:rPr>
              <a:t>不实施 </a:t>
            </a:r>
            <a:r>
              <a:rPr lang="en-US" altLang="zh-CN" sz="800" dirty="0">
                <a:latin typeface="+mn-lt"/>
                <a:ea typeface="+mn-ea"/>
              </a:rPr>
              <a:t>EMV=0</a:t>
            </a:r>
          </a:p>
        </p:txBody>
      </p:sp>
      <p:sp>
        <p:nvSpPr>
          <p:cNvPr id="14" name="Text Box 11">
            <a:extLst>
              <a:ext uri="{FF2B5EF4-FFF2-40B4-BE49-F238E27FC236}">
                <a16:creationId xmlns:a16="http://schemas.microsoft.com/office/drawing/2014/main" id="{2CA868F8-0A5E-C1F8-ABD4-02C81ECC99DA}"/>
              </a:ext>
            </a:extLst>
          </p:cNvPr>
          <p:cNvSpPr txBox="1">
            <a:spLocks noChangeArrowheads="1"/>
          </p:cNvSpPr>
          <p:nvPr/>
        </p:nvSpPr>
        <p:spPr bwMode="auto">
          <a:xfrm>
            <a:off x="3623613" y="4286605"/>
            <a:ext cx="1656000"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ea typeface="华文仿宋" pitchFamily="2" charset="-122"/>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ea typeface="华文仿宋" pitchFamily="2" charset="-122"/>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ea typeface="华文仿宋" pitchFamily="2" charset="-122"/>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ea typeface="华文仿宋" pitchFamily="2" charset="-122"/>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ea typeface="华文仿宋" pitchFamily="2" charset="-122"/>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ea typeface="华文仿宋" pitchFamily="2" charset="-122"/>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ea typeface="华文仿宋" pitchFamily="2" charset="-122"/>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ea typeface="华文仿宋" pitchFamily="2" charset="-122"/>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ea typeface="华文仿宋" pitchFamily="2" charset="-122"/>
              </a:defRPr>
            </a:lvl9pPr>
          </a:lstStyle>
          <a:p>
            <a:pPr eaLnBrk="1" hangingPunct="1">
              <a:spcBef>
                <a:spcPct val="50000"/>
              </a:spcBef>
              <a:buClrTx/>
              <a:buSzTx/>
              <a:buFontTx/>
              <a:buNone/>
              <a:defRPr/>
            </a:pPr>
            <a:r>
              <a:rPr lang="zh-CN" altLang="en-US" sz="800" dirty="0">
                <a:latin typeface="+mn-lt"/>
                <a:ea typeface="+mn-ea"/>
              </a:rPr>
              <a:t>失败：</a:t>
            </a:r>
            <a:r>
              <a:rPr lang="en-US" altLang="zh-CN" sz="800" dirty="0">
                <a:latin typeface="+mn-lt"/>
                <a:ea typeface="+mn-ea"/>
              </a:rPr>
              <a:t>P=30%, V= -200,000 </a:t>
            </a:r>
          </a:p>
        </p:txBody>
      </p:sp>
      <p:sp>
        <p:nvSpPr>
          <p:cNvPr id="21" name="Text Box 18">
            <a:extLst>
              <a:ext uri="{FF2B5EF4-FFF2-40B4-BE49-F238E27FC236}">
                <a16:creationId xmlns:a16="http://schemas.microsoft.com/office/drawing/2014/main" id="{0EFACB59-9940-BD96-01FF-02992CF3EA5F}"/>
              </a:ext>
            </a:extLst>
          </p:cNvPr>
          <p:cNvSpPr txBox="1">
            <a:spLocks noChangeArrowheads="1"/>
          </p:cNvSpPr>
          <p:nvPr/>
        </p:nvSpPr>
        <p:spPr bwMode="auto">
          <a:xfrm>
            <a:off x="3623613" y="4502049"/>
            <a:ext cx="1656000"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ea typeface="华文仿宋" pitchFamily="2" charset="-122"/>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ea typeface="华文仿宋" pitchFamily="2" charset="-122"/>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ea typeface="华文仿宋" pitchFamily="2" charset="-122"/>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ea typeface="华文仿宋" pitchFamily="2" charset="-122"/>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ea typeface="华文仿宋" pitchFamily="2" charset="-122"/>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ea typeface="华文仿宋" pitchFamily="2" charset="-122"/>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ea typeface="华文仿宋" pitchFamily="2" charset="-122"/>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ea typeface="华文仿宋" pitchFamily="2" charset="-122"/>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ea typeface="华文仿宋" pitchFamily="2" charset="-122"/>
              </a:defRPr>
            </a:lvl9pPr>
          </a:lstStyle>
          <a:p>
            <a:pPr eaLnBrk="1" hangingPunct="1">
              <a:spcBef>
                <a:spcPct val="50000"/>
              </a:spcBef>
              <a:buClrTx/>
              <a:buSzTx/>
              <a:buFontTx/>
              <a:buNone/>
              <a:defRPr/>
            </a:pPr>
            <a:r>
              <a:rPr lang="en-US" altLang="zh-CN" sz="800" dirty="0">
                <a:latin typeface="+mn-lt"/>
                <a:ea typeface="+mn-ea"/>
              </a:rPr>
              <a:t>EMV=-200,000*30%=-60000</a:t>
            </a:r>
          </a:p>
        </p:txBody>
      </p:sp>
      <p:sp>
        <p:nvSpPr>
          <p:cNvPr id="17" name="Text Box 14">
            <a:extLst>
              <a:ext uri="{FF2B5EF4-FFF2-40B4-BE49-F238E27FC236}">
                <a16:creationId xmlns:a16="http://schemas.microsoft.com/office/drawing/2014/main" id="{A692A5A8-A4C3-E42C-96FC-272237DA9698}"/>
              </a:ext>
            </a:extLst>
          </p:cNvPr>
          <p:cNvSpPr txBox="1">
            <a:spLocks noChangeArrowheads="1"/>
          </p:cNvSpPr>
          <p:nvPr/>
        </p:nvSpPr>
        <p:spPr bwMode="auto">
          <a:xfrm>
            <a:off x="5180224" y="3487425"/>
            <a:ext cx="1656000"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ea typeface="华文仿宋" pitchFamily="2" charset="-122"/>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ea typeface="华文仿宋" pitchFamily="2" charset="-122"/>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ea typeface="华文仿宋" pitchFamily="2" charset="-122"/>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ea typeface="华文仿宋" pitchFamily="2" charset="-122"/>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ea typeface="华文仿宋" pitchFamily="2" charset="-122"/>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ea typeface="华文仿宋" pitchFamily="2" charset="-122"/>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ea typeface="华文仿宋" pitchFamily="2" charset="-122"/>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ea typeface="华文仿宋" pitchFamily="2" charset="-122"/>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ea typeface="华文仿宋" pitchFamily="2" charset="-122"/>
              </a:defRPr>
            </a:lvl9pPr>
          </a:lstStyle>
          <a:p>
            <a:pPr eaLnBrk="1" hangingPunct="1">
              <a:spcBef>
                <a:spcPct val="50000"/>
              </a:spcBef>
              <a:buClrTx/>
              <a:buSzTx/>
              <a:buFontTx/>
              <a:buNone/>
              <a:defRPr/>
            </a:pPr>
            <a:r>
              <a:rPr lang="zh-CN" altLang="en-US" sz="800" dirty="0">
                <a:latin typeface="+mn-lt"/>
                <a:ea typeface="+mn-ea"/>
              </a:rPr>
              <a:t>低性能：</a:t>
            </a:r>
            <a:r>
              <a:rPr lang="en-US" altLang="zh-CN" sz="800" dirty="0">
                <a:latin typeface="+mn-lt"/>
                <a:ea typeface="+mn-ea"/>
              </a:rPr>
              <a:t>P=70%, V=- 100,000</a:t>
            </a:r>
          </a:p>
        </p:txBody>
      </p:sp>
      <p:sp>
        <p:nvSpPr>
          <p:cNvPr id="23" name="Text Box 14">
            <a:extLst>
              <a:ext uri="{FF2B5EF4-FFF2-40B4-BE49-F238E27FC236}">
                <a16:creationId xmlns:a16="http://schemas.microsoft.com/office/drawing/2014/main" id="{9F773EEC-A392-09C3-50CA-E3F249071051}"/>
              </a:ext>
            </a:extLst>
          </p:cNvPr>
          <p:cNvSpPr txBox="1">
            <a:spLocks noChangeArrowheads="1"/>
          </p:cNvSpPr>
          <p:nvPr/>
        </p:nvSpPr>
        <p:spPr bwMode="auto">
          <a:xfrm>
            <a:off x="5180224" y="3702869"/>
            <a:ext cx="1656000"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ea typeface="华文仿宋" pitchFamily="2" charset="-122"/>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ea typeface="华文仿宋" pitchFamily="2" charset="-122"/>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ea typeface="华文仿宋" pitchFamily="2" charset="-122"/>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ea typeface="华文仿宋" pitchFamily="2" charset="-122"/>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ea typeface="华文仿宋" pitchFamily="2" charset="-122"/>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ea typeface="华文仿宋" pitchFamily="2" charset="-122"/>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ea typeface="华文仿宋" pitchFamily="2" charset="-122"/>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ea typeface="华文仿宋" pitchFamily="2" charset="-122"/>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ea typeface="华文仿宋" pitchFamily="2" charset="-122"/>
              </a:defRPr>
            </a:lvl9pPr>
          </a:lstStyle>
          <a:p>
            <a:pPr eaLnBrk="1" hangingPunct="1">
              <a:spcBef>
                <a:spcPct val="50000"/>
              </a:spcBef>
              <a:buClrTx/>
              <a:buSzTx/>
              <a:buFontTx/>
              <a:buNone/>
              <a:defRPr/>
            </a:pPr>
            <a:r>
              <a:rPr lang="en-US" altLang="zh-CN" sz="800" dirty="0">
                <a:latin typeface="+mn-lt"/>
                <a:ea typeface="+mn-ea"/>
              </a:rPr>
              <a:t>EMV=-100,000* 70%=-70000</a:t>
            </a:r>
          </a:p>
        </p:txBody>
      </p:sp>
      <p:grpSp>
        <p:nvGrpSpPr>
          <p:cNvPr id="4" name="组合 3">
            <a:extLst>
              <a:ext uri="{FF2B5EF4-FFF2-40B4-BE49-F238E27FC236}">
                <a16:creationId xmlns:a16="http://schemas.microsoft.com/office/drawing/2014/main" id="{E47A2D12-B1DC-4CDA-9934-84C24C2EEF45}"/>
              </a:ext>
            </a:extLst>
          </p:cNvPr>
          <p:cNvGrpSpPr/>
          <p:nvPr/>
        </p:nvGrpSpPr>
        <p:grpSpPr>
          <a:xfrm rot="20100000">
            <a:off x="4868368" y="2887298"/>
            <a:ext cx="1658297" cy="378734"/>
            <a:chOff x="6757278" y="1664053"/>
            <a:chExt cx="1658297" cy="378734"/>
          </a:xfrm>
        </p:grpSpPr>
        <p:sp>
          <p:nvSpPr>
            <p:cNvPr id="16" name="Text Box 13">
              <a:extLst>
                <a:ext uri="{FF2B5EF4-FFF2-40B4-BE49-F238E27FC236}">
                  <a16:creationId xmlns:a16="http://schemas.microsoft.com/office/drawing/2014/main" id="{7C2A3E18-02BF-702E-17DC-3EEC86C95D5D}"/>
                </a:ext>
              </a:extLst>
            </p:cNvPr>
            <p:cNvSpPr txBox="1">
              <a:spLocks noChangeArrowheads="1"/>
            </p:cNvSpPr>
            <p:nvPr/>
          </p:nvSpPr>
          <p:spPr bwMode="auto">
            <a:xfrm>
              <a:off x="6757278" y="1664053"/>
              <a:ext cx="1656000"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ea typeface="华文仿宋" pitchFamily="2" charset="-122"/>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ea typeface="华文仿宋" pitchFamily="2" charset="-122"/>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ea typeface="华文仿宋" pitchFamily="2" charset="-122"/>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ea typeface="华文仿宋" pitchFamily="2" charset="-122"/>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ea typeface="华文仿宋" pitchFamily="2" charset="-122"/>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ea typeface="华文仿宋" pitchFamily="2" charset="-122"/>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ea typeface="华文仿宋" pitchFamily="2" charset="-122"/>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ea typeface="华文仿宋" pitchFamily="2" charset="-122"/>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ea typeface="华文仿宋" pitchFamily="2" charset="-122"/>
                </a:defRPr>
              </a:lvl9pPr>
            </a:lstStyle>
            <a:p>
              <a:pPr eaLnBrk="1" hangingPunct="1">
                <a:spcBef>
                  <a:spcPct val="50000"/>
                </a:spcBef>
                <a:buClrTx/>
                <a:buSzTx/>
                <a:buFontTx/>
                <a:buNone/>
                <a:defRPr/>
              </a:pPr>
              <a:r>
                <a:rPr lang="zh-CN" altLang="en-US" sz="800" dirty="0">
                  <a:latin typeface="+mn-lt"/>
                  <a:ea typeface="+mn-ea"/>
                </a:rPr>
                <a:t>高性能：</a:t>
              </a:r>
              <a:r>
                <a:rPr lang="en-US" altLang="zh-CN" sz="800" dirty="0">
                  <a:latin typeface="+mn-lt"/>
                  <a:ea typeface="+mn-ea"/>
                </a:rPr>
                <a:t>P=30%, V=550,000</a:t>
              </a:r>
            </a:p>
          </p:txBody>
        </p:sp>
        <p:sp>
          <p:nvSpPr>
            <p:cNvPr id="24" name="Text Box 13">
              <a:extLst>
                <a:ext uri="{FF2B5EF4-FFF2-40B4-BE49-F238E27FC236}">
                  <a16:creationId xmlns:a16="http://schemas.microsoft.com/office/drawing/2014/main" id="{5E94DD34-DAB6-9D07-0FEF-748CE32634EB}"/>
                </a:ext>
              </a:extLst>
            </p:cNvPr>
            <p:cNvSpPr txBox="1">
              <a:spLocks noChangeArrowheads="1"/>
            </p:cNvSpPr>
            <p:nvPr/>
          </p:nvSpPr>
          <p:spPr bwMode="auto">
            <a:xfrm>
              <a:off x="6759575" y="1827343"/>
              <a:ext cx="1656000"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ea typeface="华文仿宋" pitchFamily="2" charset="-122"/>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ea typeface="华文仿宋" pitchFamily="2" charset="-122"/>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ea typeface="华文仿宋" pitchFamily="2" charset="-122"/>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ea typeface="华文仿宋" pitchFamily="2" charset="-122"/>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ea typeface="华文仿宋" pitchFamily="2" charset="-122"/>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ea typeface="华文仿宋" pitchFamily="2" charset="-122"/>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ea typeface="华文仿宋" pitchFamily="2" charset="-122"/>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ea typeface="华文仿宋" pitchFamily="2" charset="-122"/>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ea typeface="华文仿宋" pitchFamily="2" charset="-122"/>
                </a:defRPr>
              </a:lvl9pPr>
            </a:lstStyle>
            <a:p>
              <a:pPr eaLnBrk="1" hangingPunct="1">
                <a:spcBef>
                  <a:spcPct val="50000"/>
                </a:spcBef>
                <a:buClrTx/>
                <a:buSzTx/>
                <a:buFontTx/>
                <a:buNone/>
                <a:defRPr/>
              </a:pPr>
              <a:r>
                <a:rPr lang="en-US" altLang="zh-CN" sz="800" dirty="0">
                  <a:latin typeface="+mn-lt"/>
                  <a:ea typeface="+mn-ea"/>
                </a:rPr>
                <a:t>EMV=550,000* 30%=165000</a:t>
              </a:r>
            </a:p>
          </p:txBody>
        </p:sp>
      </p:grpSp>
      <p:grpSp>
        <p:nvGrpSpPr>
          <p:cNvPr id="2" name="组合 1">
            <a:extLst>
              <a:ext uri="{FF2B5EF4-FFF2-40B4-BE49-F238E27FC236}">
                <a16:creationId xmlns:a16="http://schemas.microsoft.com/office/drawing/2014/main" id="{6A4642C8-50A6-ED00-B57C-B64A2349BA73}"/>
              </a:ext>
            </a:extLst>
          </p:cNvPr>
          <p:cNvGrpSpPr/>
          <p:nvPr/>
        </p:nvGrpSpPr>
        <p:grpSpPr>
          <a:xfrm rot="19920000">
            <a:off x="1824691" y="4616903"/>
            <a:ext cx="1511138" cy="217046"/>
            <a:chOff x="1247519" y="4678259"/>
            <a:chExt cx="1511138" cy="217046"/>
          </a:xfrm>
        </p:grpSpPr>
        <p:sp>
          <p:nvSpPr>
            <p:cNvPr id="19" name="Text Box 16">
              <a:extLst>
                <a:ext uri="{FF2B5EF4-FFF2-40B4-BE49-F238E27FC236}">
                  <a16:creationId xmlns:a16="http://schemas.microsoft.com/office/drawing/2014/main" id="{CAE35F3C-74E1-4A30-B7DE-DA0F69901DC8}"/>
                </a:ext>
              </a:extLst>
            </p:cNvPr>
            <p:cNvSpPr txBox="1">
              <a:spLocks noChangeArrowheads="1"/>
            </p:cNvSpPr>
            <p:nvPr/>
          </p:nvSpPr>
          <p:spPr bwMode="auto">
            <a:xfrm>
              <a:off x="1678657" y="4678259"/>
              <a:ext cx="1080000"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ea typeface="华文仿宋" pitchFamily="2" charset="-122"/>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ea typeface="华文仿宋" pitchFamily="2" charset="-122"/>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ea typeface="华文仿宋" pitchFamily="2" charset="-122"/>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ea typeface="华文仿宋" pitchFamily="2" charset="-122"/>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ea typeface="华文仿宋" pitchFamily="2" charset="-122"/>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ea typeface="华文仿宋" pitchFamily="2" charset="-122"/>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ea typeface="华文仿宋" pitchFamily="2" charset="-122"/>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ea typeface="华文仿宋" pitchFamily="2" charset="-122"/>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ea typeface="华文仿宋" pitchFamily="2" charset="-122"/>
                </a:defRPr>
              </a:lvl9pPr>
            </a:lstStyle>
            <a:p>
              <a:pPr eaLnBrk="1" hangingPunct="1">
                <a:spcBef>
                  <a:spcPct val="50000"/>
                </a:spcBef>
                <a:buClrTx/>
                <a:buSzTx/>
                <a:buFontTx/>
                <a:buNone/>
                <a:defRPr/>
              </a:pPr>
              <a:r>
                <a:rPr lang="en-US" altLang="zh-CN" sz="800" dirty="0">
                  <a:latin typeface="+mn-lt"/>
                  <a:ea typeface="+mn-ea"/>
                </a:rPr>
                <a:t>EMV=6,500</a:t>
              </a:r>
            </a:p>
          </p:txBody>
        </p:sp>
        <p:sp>
          <p:nvSpPr>
            <p:cNvPr id="25" name="Text Box 16">
              <a:extLst>
                <a:ext uri="{FF2B5EF4-FFF2-40B4-BE49-F238E27FC236}">
                  <a16:creationId xmlns:a16="http://schemas.microsoft.com/office/drawing/2014/main" id="{72B750C2-F23C-7EEC-A093-465EFB6DFFC4}"/>
                </a:ext>
              </a:extLst>
            </p:cNvPr>
            <p:cNvSpPr txBox="1">
              <a:spLocks noChangeArrowheads="1"/>
            </p:cNvSpPr>
            <p:nvPr/>
          </p:nvSpPr>
          <p:spPr bwMode="auto">
            <a:xfrm>
              <a:off x="1247519" y="4679861"/>
              <a:ext cx="1319212"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ea typeface="华文仿宋" pitchFamily="2" charset="-122"/>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ea typeface="华文仿宋" pitchFamily="2" charset="-122"/>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ea typeface="华文仿宋" pitchFamily="2" charset="-122"/>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ea typeface="华文仿宋" pitchFamily="2" charset="-122"/>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ea typeface="华文仿宋" pitchFamily="2" charset="-122"/>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ea typeface="华文仿宋" pitchFamily="2" charset="-122"/>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ea typeface="华文仿宋" pitchFamily="2" charset="-122"/>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ea typeface="华文仿宋" pitchFamily="2" charset="-122"/>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ea typeface="华文仿宋" pitchFamily="2" charset="-122"/>
                </a:defRPr>
              </a:lvl9pPr>
            </a:lstStyle>
            <a:p>
              <a:pPr eaLnBrk="1" hangingPunct="1">
                <a:spcBef>
                  <a:spcPct val="50000"/>
                </a:spcBef>
                <a:buClrTx/>
                <a:buSzTx/>
                <a:buFontTx/>
                <a:buNone/>
                <a:defRPr/>
              </a:pPr>
              <a:r>
                <a:rPr lang="zh-CN" altLang="en-US" sz="800" dirty="0">
                  <a:latin typeface="+mn-lt"/>
                  <a:ea typeface="+mn-ea"/>
                </a:rPr>
                <a:t>实施后</a:t>
              </a:r>
              <a:r>
                <a:rPr lang="en-US" altLang="zh-CN" sz="800" dirty="0">
                  <a:latin typeface="+mn-lt"/>
                  <a:ea typeface="+mn-ea"/>
                </a:rPr>
                <a:t>:</a:t>
              </a:r>
            </a:p>
          </p:txBody>
        </p:sp>
      </p:grpSp>
      <p:sp>
        <p:nvSpPr>
          <p:cNvPr id="6" name="AutoShape 3">
            <a:extLst>
              <a:ext uri="{FF2B5EF4-FFF2-40B4-BE49-F238E27FC236}">
                <a16:creationId xmlns:a16="http://schemas.microsoft.com/office/drawing/2014/main" id="{5CAF705E-B150-56D6-9E62-77C406EEA004}"/>
              </a:ext>
            </a:extLst>
          </p:cNvPr>
          <p:cNvSpPr>
            <a:spLocks noChangeArrowheads="1"/>
          </p:cNvSpPr>
          <p:nvPr/>
        </p:nvSpPr>
        <p:spPr bwMode="auto">
          <a:xfrm>
            <a:off x="1734244" y="5194717"/>
            <a:ext cx="72000" cy="72000"/>
          </a:xfrm>
          <a:prstGeom prst="flowChartConnector">
            <a:avLst/>
          </a:prstGeom>
          <a:solidFill>
            <a:srgbClr val="92D050"/>
          </a:solidFill>
          <a:ln w="25400">
            <a:noFill/>
            <a:round/>
            <a:headEnd type="none" w="sm" len="sm"/>
            <a:tailEnd type="none" w="med" len="lg"/>
          </a:ln>
          <a:effectLst/>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eaLnBrk="1" hangingPunct="1">
              <a:spcBef>
                <a:spcPct val="0"/>
              </a:spcBef>
              <a:buClrTx/>
              <a:buSzTx/>
              <a:buFontTx/>
              <a:buNone/>
            </a:pPr>
            <a:endParaRPr lang="zh-CN" altLang="en-US" sz="800">
              <a:latin typeface="+mn-lt"/>
              <a:ea typeface="+mn-ea"/>
            </a:endParaRPr>
          </a:p>
        </p:txBody>
      </p:sp>
      <p:sp>
        <p:nvSpPr>
          <p:cNvPr id="8" name="AutoShape 5">
            <a:extLst>
              <a:ext uri="{FF2B5EF4-FFF2-40B4-BE49-F238E27FC236}">
                <a16:creationId xmlns:a16="http://schemas.microsoft.com/office/drawing/2014/main" id="{3FD6D865-31A3-28DD-3EE3-2BB2C5A4255C}"/>
              </a:ext>
            </a:extLst>
          </p:cNvPr>
          <p:cNvSpPr>
            <a:spLocks noChangeArrowheads="1"/>
          </p:cNvSpPr>
          <p:nvPr/>
        </p:nvSpPr>
        <p:spPr bwMode="auto">
          <a:xfrm>
            <a:off x="3187983" y="4452171"/>
            <a:ext cx="72000" cy="72000"/>
          </a:xfrm>
          <a:prstGeom prst="flowChartConnector">
            <a:avLst/>
          </a:prstGeom>
          <a:solidFill>
            <a:srgbClr val="92D050"/>
          </a:solidFill>
          <a:ln w="25400">
            <a:noFill/>
            <a:round/>
            <a:headEnd type="none" w="sm" len="sm"/>
            <a:tailEnd type="none" w="med" len="lg"/>
          </a:ln>
          <a:effectLst/>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eaLnBrk="1" hangingPunct="1">
              <a:spcBef>
                <a:spcPct val="0"/>
              </a:spcBef>
              <a:buClrTx/>
              <a:buSzTx/>
              <a:buFontTx/>
              <a:buNone/>
            </a:pPr>
            <a:endParaRPr lang="zh-CN" altLang="en-US" sz="800">
              <a:latin typeface="+mn-lt"/>
              <a:ea typeface="+mn-ea"/>
            </a:endParaRPr>
          </a:p>
        </p:txBody>
      </p:sp>
      <p:sp>
        <p:nvSpPr>
          <p:cNvPr id="9" name="AutoShape 6">
            <a:extLst>
              <a:ext uri="{FF2B5EF4-FFF2-40B4-BE49-F238E27FC236}">
                <a16:creationId xmlns:a16="http://schemas.microsoft.com/office/drawing/2014/main" id="{33C860C0-A7B1-B0EA-D932-F276D8C9D217}"/>
              </a:ext>
            </a:extLst>
          </p:cNvPr>
          <p:cNvSpPr>
            <a:spLocks noChangeArrowheads="1"/>
          </p:cNvSpPr>
          <p:nvPr/>
        </p:nvSpPr>
        <p:spPr bwMode="auto">
          <a:xfrm>
            <a:off x="4801474" y="3652991"/>
            <a:ext cx="72000" cy="72000"/>
          </a:xfrm>
          <a:prstGeom prst="flowChartConnector">
            <a:avLst/>
          </a:prstGeom>
          <a:solidFill>
            <a:srgbClr val="92D050"/>
          </a:solidFill>
          <a:ln w="25400">
            <a:noFill/>
            <a:round/>
            <a:headEnd type="none" w="sm" len="sm"/>
            <a:tailEnd type="none" w="med" len="lg"/>
          </a:ln>
          <a:effectLst/>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eaLnBrk="1" hangingPunct="1">
              <a:spcBef>
                <a:spcPct val="0"/>
              </a:spcBef>
              <a:buClrTx/>
              <a:buSzTx/>
              <a:buFontTx/>
              <a:buNone/>
            </a:pPr>
            <a:endParaRPr lang="zh-CN" altLang="en-US" sz="800">
              <a:latin typeface="+mn-lt"/>
              <a:ea typeface="+mn-ea"/>
            </a:endParaRPr>
          </a:p>
        </p:txBody>
      </p:sp>
      <p:cxnSp>
        <p:nvCxnSpPr>
          <p:cNvPr id="29" name="直接连接符 28">
            <a:extLst>
              <a:ext uri="{FF2B5EF4-FFF2-40B4-BE49-F238E27FC236}">
                <a16:creationId xmlns:a16="http://schemas.microsoft.com/office/drawing/2014/main" id="{124272F0-E7A1-E0E8-167B-FD06D3844466}"/>
              </a:ext>
            </a:extLst>
          </p:cNvPr>
          <p:cNvCxnSpPr>
            <a:cxnSpLocks/>
            <a:stCxn id="6" idx="7"/>
            <a:endCxn id="8" idx="2"/>
          </p:cNvCxnSpPr>
          <p:nvPr/>
        </p:nvCxnSpPr>
        <p:spPr>
          <a:xfrm flipV="1">
            <a:off x="1795700" y="4488171"/>
            <a:ext cx="1392283" cy="717090"/>
          </a:xfrm>
          <a:prstGeom prst="line">
            <a:avLst/>
          </a:prstGeom>
          <a:ln w="63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E75160B4-12AC-98D8-BFDC-8F2B8B231A47}"/>
              </a:ext>
            </a:extLst>
          </p:cNvPr>
          <p:cNvCxnSpPr>
            <a:cxnSpLocks/>
            <a:stCxn id="8" idx="7"/>
            <a:endCxn id="9" idx="2"/>
          </p:cNvCxnSpPr>
          <p:nvPr/>
        </p:nvCxnSpPr>
        <p:spPr>
          <a:xfrm flipV="1">
            <a:off x="3249439" y="3688991"/>
            <a:ext cx="1552035" cy="773724"/>
          </a:xfrm>
          <a:prstGeom prst="line">
            <a:avLst/>
          </a:prstGeom>
          <a:ln w="63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83D8E40C-8E50-09C3-86E0-D7521783032D}"/>
              </a:ext>
            </a:extLst>
          </p:cNvPr>
          <p:cNvCxnSpPr>
            <a:cxnSpLocks/>
            <a:stCxn id="9" idx="7"/>
          </p:cNvCxnSpPr>
          <p:nvPr/>
        </p:nvCxnSpPr>
        <p:spPr>
          <a:xfrm flipV="1">
            <a:off x="4862930" y="2789847"/>
            <a:ext cx="1891831" cy="873688"/>
          </a:xfrm>
          <a:prstGeom prst="line">
            <a:avLst/>
          </a:prstGeom>
          <a:ln w="63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0C7A0164-4C7F-9A35-E4B6-00D4070D604B}"/>
              </a:ext>
            </a:extLst>
          </p:cNvPr>
          <p:cNvCxnSpPr>
            <a:cxnSpLocks/>
          </p:cNvCxnSpPr>
          <p:nvPr/>
        </p:nvCxnSpPr>
        <p:spPr>
          <a:xfrm>
            <a:off x="1801458" y="5244595"/>
            <a:ext cx="1440000" cy="0"/>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5F0449B1-C6C0-01E5-0CF6-8075827828C8}"/>
              </a:ext>
            </a:extLst>
          </p:cNvPr>
          <p:cNvCxnSpPr>
            <a:cxnSpLocks/>
          </p:cNvCxnSpPr>
          <p:nvPr/>
        </p:nvCxnSpPr>
        <p:spPr>
          <a:xfrm>
            <a:off x="3255894" y="4502049"/>
            <a:ext cx="1800000" cy="0"/>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BA2B1DD8-E6F5-B28E-C306-D0F698E5DCAC}"/>
              </a:ext>
            </a:extLst>
          </p:cNvPr>
          <p:cNvCxnSpPr>
            <a:cxnSpLocks/>
          </p:cNvCxnSpPr>
          <p:nvPr/>
        </p:nvCxnSpPr>
        <p:spPr>
          <a:xfrm>
            <a:off x="4869070" y="3702869"/>
            <a:ext cx="1800000" cy="0"/>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9283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6" grpId="0" animBg="1"/>
      <p:bldP spid="8" grpId="0" animBg="1"/>
      <p:bldP spid="9" grpId="0" animBg="1"/>
    </p:bldLst>
  </p:timing>
</p:sld>
</file>

<file path=ppt/slides/slide4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B48C6B-EF4F-E4C8-FB59-A7F343BED298}"/>
              </a:ext>
            </a:extLst>
          </p:cNvPr>
          <p:cNvSpPr>
            <a:spLocks noGrp="1"/>
          </p:cNvSpPr>
          <p:nvPr>
            <p:ph type="title"/>
          </p:nvPr>
        </p:nvSpPr>
        <p:spPr>
          <a:xfrm>
            <a:off x="696000" y="360000"/>
            <a:ext cx="5400000" cy="429413"/>
          </a:xfrm>
        </p:spPr>
        <p:txBody>
          <a:bodyPr/>
          <a:lstStyle/>
          <a:p>
            <a:r>
              <a:rPr lang="en-US" altLang="zh-CN" dirty="0"/>
              <a:t>11.4 </a:t>
            </a:r>
            <a:r>
              <a:rPr lang="zh-CN" altLang="en-US" dirty="0"/>
              <a:t>风险应对策略</a:t>
            </a:r>
          </a:p>
        </p:txBody>
      </p:sp>
      <p:sp>
        <p:nvSpPr>
          <p:cNvPr id="4" name="文本框 3">
            <a:extLst>
              <a:ext uri="{FF2B5EF4-FFF2-40B4-BE49-F238E27FC236}">
                <a16:creationId xmlns:a16="http://schemas.microsoft.com/office/drawing/2014/main" id="{D82471CB-97D7-F634-3A0E-80265224F89B}"/>
              </a:ext>
            </a:extLst>
          </p:cNvPr>
          <p:cNvSpPr txBox="1"/>
          <p:nvPr/>
        </p:nvSpPr>
        <p:spPr>
          <a:xfrm>
            <a:off x="695325" y="788988"/>
            <a:ext cx="1293944" cy="1077218"/>
          </a:xfrm>
          <a:prstGeom prst="rect">
            <a:avLst/>
          </a:prstGeom>
          <a:noFill/>
        </p:spPr>
        <p:txBody>
          <a:bodyPr wrap="none" rtlCol="0">
            <a:spAutoFit/>
          </a:bodyPr>
          <a:lstStyle/>
          <a:p>
            <a:pPr marL="285750" indent="-285750" algn="l">
              <a:buFont typeface="Arial" panose="020B0604020202020204" pitchFamily="34" charset="0"/>
              <a:buChar char="•"/>
            </a:pPr>
            <a:r>
              <a:rPr lang="zh-CN" altLang="en-US" sz="1600" dirty="0"/>
              <a:t>回避风险</a:t>
            </a:r>
          </a:p>
          <a:p>
            <a:pPr marL="285750" indent="-285750" algn="l">
              <a:buFont typeface="Arial" panose="020B0604020202020204" pitchFamily="34" charset="0"/>
              <a:buChar char="•"/>
            </a:pPr>
            <a:r>
              <a:rPr lang="zh-CN" altLang="en-US" sz="1600" dirty="0"/>
              <a:t>转移风险</a:t>
            </a:r>
          </a:p>
          <a:p>
            <a:pPr marL="285750" indent="-285750" algn="l">
              <a:buFont typeface="Arial" panose="020B0604020202020204" pitchFamily="34" charset="0"/>
              <a:buChar char="•"/>
            </a:pPr>
            <a:r>
              <a:rPr lang="zh-CN" altLang="en-US" sz="1600" dirty="0"/>
              <a:t>损失控制</a:t>
            </a:r>
          </a:p>
          <a:p>
            <a:pPr marL="285750" indent="-285750" algn="l">
              <a:buFont typeface="Arial" panose="020B0604020202020204" pitchFamily="34" charset="0"/>
              <a:buChar char="•"/>
            </a:pPr>
            <a:r>
              <a:rPr lang="zh-CN" altLang="en-US" sz="1600" dirty="0"/>
              <a:t>自留风险</a:t>
            </a:r>
          </a:p>
        </p:txBody>
      </p:sp>
      <p:sp>
        <p:nvSpPr>
          <p:cNvPr id="5" name="文本框 4">
            <a:extLst>
              <a:ext uri="{FF2B5EF4-FFF2-40B4-BE49-F238E27FC236}">
                <a16:creationId xmlns:a16="http://schemas.microsoft.com/office/drawing/2014/main" id="{CE03F035-38C0-CEE4-FA2A-D5E5D44EBC57}"/>
              </a:ext>
            </a:extLst>
          </p:cNvPr>
          <p:cNvSpPr txBox="1"/>
          <p:nvPr/>
        </p:nvSpPr>
        <p:spPr>
          <a:xfrm>
            <a:off x="4781551" y="788988"/>
            <a:ext cx="3852000" cy="1077218"/>
          </a:xfrm>
          <a:prstGeom prst="rect">
            <a:avLst/>
          </a:prstGeom>
          <a:noFill/>
        </p:spPr>
        <p:txBody>
          <a:bodyPr wrap="square" rtlCol="0">
            <a:spAutoFit/>
          </a:bodyPr>
          <a:lstStyle/>
          <a:p>
            <a:pPr algn="just"/>
            <a:r>
              <a:rPr lang="zh-CN" altLang="en-US" sz="1600" dirty="0"/>
              <a:t>回避风险是对可能发生的风险尽可能的规避，采取主动放弃或者拒绝使用导致风险的方案</a:t>
            </a:r>
          </a:p>
          <a:p>
            <a:pPr marL="285750" indent="-285750" algn="just">
              <a:buFont typeface="Arial" panose="020B0604020202020204" pitchFamily="34" charset="0"/>
              <a:buChar char="•"/>
            </a:pPr>
            <a:r>
              <a:rPr lang="zh-CN" altLang="en-US" sz="1600" dirty="0"/>
              <a:t>放弃采用新技术</a:t>
            </a:r>
          </a:p>
        </p:txBody>
      </p:sp>
      <p:sp>
        <p:nvSpPr>
          <p:cNvPr id="7" name="文本框 6">
            <a:extLst>
              <a:ext uri="{FF2B5EF4-FFF2-40B4-BE49-F238E27FC236}">
                <a16:creationId xmlns:a16="http://schemas.microsoft.com/office/drawing/2014/main" id="{64019977-E1C6-76C2-6898-64DCD529B49E}"/>
              </a:ext>
            </a:extLst>
          </p:cNvPr>
          <p:cNvSpPr txBox="1"/>
          <p:nvPr/>
        </p:nvSpPr>
        <p:spPr>
          <a:xfrm>
            <a:off x="4781551" y="2114147"/>
            <a:ext cx="3852000" cy="1569660"/>
          </a:xfrm>
          <a:prstGeom prst="rect">
            <a:avLst/>
          </a:prstGeom>
          <a:noFill/>
        </p:spPr>
        <p:txBody>
          <a:bodyPr wrap="square" rtlCol="0">
            <a:spAutoFit/>
          </a:bodyPr>
          <a:lstStyle/>
          <a:p>
            <a:pPr algn="l"/>
            <a:r>
              <a:rPr lang="zh-CN" altLang="en-US" sz="1600" dirty="0"/>
              <a:t>转移风险是为了避免承担风险损失，有意识将损失或与损失有关的财务后果转嫁出去的方法。</a:t>
            </a:r>
            <a:endParaRPr lang="en-US" altLang="zh-CN" sz="1600" dirty="0"/>
          </a:p>
          <a:p>
            <a:pPr marL="285750" indent="-285750" algn="l">
              <a:buFont typeface="Arial" panose="020B0604020202020204" pitchFamily="34" charset="0"/>
              <a:buChar char="•"/>
            </a:pPr>
            <a:r>
              <a:rPr lang="zh-CN" altLang="en-US" sz="1600" dirty="0"/>
              <a:t>分包</a:t>
            </a:r>
          </a:p>
          <a:p>
            <a:pPr marL="285750" indent="-285750" algn="l">
              <a:buFont typeface="Arial" panose="020B0604020202020204" pitchFamily="34" charset="0"/>
              <a:buChar char="•"/>
            </a:pPr>
            <a:r>
              <a:rPr lang="zh-CN" altLang="en-US" sz="1600" dirty="0"/>
              <a:t>开脱责任合同</a:t>
            </a:r>
          </a:p>
          <a:p>
            <a:pPr marL="285750" indent="-285750" algn="l">
              <a:buFont typeface="Arial" panose="020B0604020202020204" pitchFamily="34" charset="0"/>
              <a:buChar char="•"/>
            </a:pPr>
            <a:r>
              <a:rPr lang="zh-CN" altLang="en-US" sz="1600" dirty="0"/>
              <a:t>保险</a:t>
            </a:r>
          </a:p>
        </p:txBody>
      </p:sp>
      <p:sp>
        <p:nvSpPr>
          <p:cNvPr id="10" name="文本框 9">
            <a:extLst>
              <a:ext uri="{FF2B5EF4-FFF2-40B4-BE49-F238E27FC236}">
                <a16:creationId xmlns:a16="http://schemas.microsoft.com/office/drawing/2014/main" id="{8E1FA4CC-7A2A-4221-7F4E-5EEC1C12F67E}"/>
              </a:ext>
            </a:extLst>
          </p:cNvPr>
          <p:cNvSpPr txBox="1"/>
          <p:nvPr/>
        </p:nvSpPr>
        <p:spPr>
          <a:xfrm>
            <a:off x="4781551" y="3931748"/>
            <a:ext cx="3852000" cy="1077218"/>
          </a:xfrm>
          <a:prstGeom prst="rect">
            <a:avLst/>
          </a:prstGeom>
          <a:noFill/>
        </p:spPr>
        <p:txBody>
          <a:bodyPr wrap="square" rtlCol="0">
            <a:spAutoFit/>
          </a:bodyPr>
          <a:lstStyle/>
          <a:p>
            <a:pPr algn="l"/>
            <a:r>
              <a:rPr lang="zh-CN" altLang="en-US" sz="1600" dirty="0"/>
              <a:t>损失预防</a:t>
            </a:r>
            <a:endParaRPr lang="en-US" altLang="zh-CN" sz="1600" dirty="0"/>
          </a:p>
          <a:p>
            <a:pPr marL="285750" indent="-285750" algn="l">
              <a:buFont typeface="Arial" panose="020B0604020202020204" pitchFamily="34" charset="0"/>
              <a:buChar char="•"/>
            </a:pPr>
            <a:r>
              <a:rPr lang="zh-CN" altLang="en-US" sz="1600" dirty="0"/>
              <a:t>项目技术培训，预防技术失败</a:t>
            </a:r>
            <a:endParaRPr lang="en-US" altLang="zh-CN" sz="1600" dirty="0"/>
          </a:p>
          <a:p>
            <a:pPr algn="l"/>
            <a:r>
              <a:rPr lang="zh-CN" altLang="en-US" sz="1600" dirty="0"/>
              <a:t>损失抑制</a:t>
            </a:r>
            <a:endParaRPr lang="en-US" altLang="zh-CN" sz="1600" dirty="0"/>
          </a:p>
          <a:p>
            <a:pPr marL="285750" indent="-285750" algn="l">
              <a:buFont typeface="Arial" panose="020B0604020202020204" pitchFamily="34" charset="0"/>
              <a:buChar char="•"/>
            </a:pPr>
            <a:r>
              <a:rPr lang="zh-CN" altLang="en-US" sz="1600" dirty="0"/>
              <a:t>项目人员储备，抑制人员流失的损失</a:t>
            </a:r>
          </a:p>
        </p:txBody>
      </p:sp>
      <p:sp>
        <p:nvSpPr>
          <p:cNvPr id="11" name="文本框 10">
            <a:extLst>
              <a:ext uri="{FF2B5EF4-FFF2-40B4-BE49-F238E27FC236}">
                <a16:creationId xmlns:a16="http://schemas.microsoft.com/office/drawing/2014/main" id="{EEB6729A-9B7C-3A66-A3EE-C3D377013765}"/>
              </a:ext>
            </a:extLst>
          </p:cNvPr>
          <p:cNvSpPr txBox="1"/>
          <p:nvPr/>
        </p:nvSpPr>
        <p:spPr>
          <a:xfrm>
            <a:off x="4781551" y="5256907"/>
            <a:ext cx="3852000" cy="584775"/>
          </a:xfrm>
          <a:prstGeom prst="rect">
            <a:avLst/>
          </a:prstGeom>
          <a:noFill/>
        </p:spPr>
        <p:txBody>
          <a:bodyPr wrap="square" rtlCol="0">
            <a:spAutoFit/>
          </a:bodyPr>
          <a:lstStyle/>
          <a:p>
            <a:pPr algn="l"/>
            <a:r>
              <a:rPr lang="zh-CN" altLang="en-US" sz="1600" dirty="0"/>
              <a:t>由项目组织自己承担风险事故所致损失的措施。 </a:t>
            </a:r>
          </a:p>
        </p:txBody>
      </p:sp>
      <p:cxnSp>
        <p:nvCxnSpPr>
          <p:cNvPr id="15" name="连接符: 肘形 14">
            <a:extLst>
              <a:ext uri="{FF2B5EF4-FFF2-40B4-BE49-F238E27FC236}">
                <a16:creationId xmlns:a16="http://schemas.microsoft.com/office/drawing/2014/main" id="{125E3B48-E27A-69CC-5F5E-C720468C3CA1}"/>
              </a:ext>
            </a:extLst>
          </p:cNvPr>
          <p:cNvCxnSpPr>
            <a:stCxn id="4" idx="3"/>
            <a:endCxn id="7" idx="1"/>
          </p:cNvCxnSpPr>
          <p:nvPr/>
        </p:nvCxnSpPr>
        <p:spPr>
          <a:xfrm>
            <a:off x="1989269" y="1327597"/>
            <a:ext cx="2792282" cy="1571380"/>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连接符: 肘形 16">
            <a:extLst>
              <a:ext uri="{FF2B5EF4-FFF2-40B4-BE49-F238E27FC236}">
                <a16:creationId xmlns:a16="http://schemas.microsoft.com/office/drawing/2014/main" id="{B0E74C82-A114-8330-45E4-3B9BB6D2D9F0}"/>
              </a:ext>
            </a:extLst>
          </p:cNvPr>
          <p:cNvCxnSpPr>
            <a:stCxn id="4" idx="3"/>
            <a:endCxn id="10" idx="1"/>
          </p:cNvCxnSpPr>
          <p:nvPr/>
        </p:nvCxnSpPr>
        <p:spPr>
          <a:xfrm>
            <a:off x="1989269" y="1327597"/>
            <a:ext cx="2792282" cy="3142760"/>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连接符: 肘形 18">
            <a:extLst>
              <a:ext uri="{FF2B5EF4-FFF2-40B4-BE49-F238E27FC236}">
                <a16:creationId xmlns:a16="http://schemas.microsoft.com/office/drawing/2014/main" id="{6F539DF3-6616-82BD-7AF6-4EA3D5DF430F}"/>
              </a:ext>
            </a:extLst>
          </p:cNvPr>
          <p:cNvCxnSpPr>
            <a:cxnSpLocks/>
            <a:stCxn id="4" idx="3"/>
            <a:endCxn id="11" idx="1"/>
          </p:cNvCxnSpPr>
          <p:nvPr/>
        </p:nvCxnSpPr>
        <p:spPr>
          <a:xfrm>
            <a:off x="1989269" y="1327597"/>
            <a:ext cx="2792282" cy="4221698"/>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8B8D3BAB-DD28-C625-BE69-6B6634A232AD}"/>
              </a:ext>
            </a:extLst>
          </p:cNvPr>
          <p:cNvCxnSpPr>
            <a:stCxn id="4" idx="3"/>
            <a:endCxn id="5" idx="1"/>
          </p:cNvCxnSpPr>
          <p:nvPr/>
        </p:nvCxnSpPr>
        <p:spPr>
          <a:xfrm>
            <a:off x="1989269" y="1327597"/>
            <a:ext cx="279228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9673093"/>
      </p:ext>
    </p:extLst>
  </p:cSld>
  <p:clrMapOvr>
    <a:masterClrMapping/>
  </p:clrMapOvr>
</p:sld>
</file>

<file path=ppt/slides/slide4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BC44F0-92C4-C4B4-A33A-9DE7C4C8C932}"/>
              </a:ext>
            </a:extLst>
          </p:cNvPr>
          <p:cNvSpPr>
            <a:spLocks noGrp="1"/>
          </p:cNvSpPr>
          <p:nvPr>
            <p:ph type="title"/>
          </p:nvPr>
        </p:nvSpPr>
        <p:spPr>
          <a:xfrm>
            <a:off x="792000" y="360000"/>
            <a:ext cx="6375921" cy="429413"/>
          </a:xfrm>
        </p:spPr>
        <p:txBody>
          <a:bodyPr>
            <a:normAutofit/>
          </a:bodyPr>
          <a:lstStyle/>
          <a:p>
            <a:r>
              <a:rPr lang="en-US" altLang="zh-CN"/>
              <a:t>SWOT</a:t>
            </a:r>
            <a:endParaRPr lang="zh-CN" altLang="en-US"/>
          </a:p>
        </p:txBody>
      </p:sp>
      <p:graphicFrame>
        <p:nvGraphicFramePr>
          <p:cNvPr id="5" name="内容占位符 4">
            <a:extLst>
              <a:ext uri="{FF2B5EF4-FFF2-40B4-BE49-F238E27FC236}">
                <a16:creationId xmlns:a16="http://schemas.microsoft.com/office/drawing/2014/main" id="{A1F2E5C5-23E0-44A1-BA78-3C0CB3147C40}"/>
              </a:ext>
            </a:extLst>
          </p:cNvPr>
          <p:cNvGraphicFramePr>
            <a:graphicFrameLocks noGrp="1"/>
          </p:cNvGraphicFramePr>
          <p:nvPr>
            <p:ph idx="1"/>
            <p:extLst>
              <p:ext uri="{D42A27DB-BD31-4B8C-83A1-F6EECF244321}">
                <p14:modId xmlns:p14="http://schemas.microsoft.com/office/powerpoint/2010/main" val="2464934352"/>
              </p:ext>
            </p:extLst>
          </p:nvPr>
        </p:nvGraphicFramePr>
        <p:xfrm>
          <a:off x="695325" y="863600"/>
          <a:ext cx="10801350" cy="2651760"/>
        </p:xfrm>
        <a:graphic>
          <a:graphicData uri="http://schemas.openxmlformats.org/drawingml/2006/table">
            <a:tbl>
              <a:tblPr/>
              <a:tblGrid>
                <a:gridCol w="3600450">
                  <a:extLst>
                    <a:ext uri="{9D8B030D-6E8A-4147-A177-3AD203B41FA5}">
                      <a16:colId xmlns:a16="http://schemas.microsoft.com/office/drawing/2014/main" val="3235320488"/>
                    </a:ext>
                  </a:extLst>
                </a:gridCol>
                <a:gridCol w="3600450">
                  <a:extLst>
                    <a:ext uri="{9D8B030D-6E8A-4147-A177-3AD203B41FA5}">
                      <a16:colId xmlns:a16="http://schemas.microsoft.com/office/drawing/2014/main" val="2701589756"/>
                    </a:ext>
                  </a:extLst>
                </a:gridCol>
                <a:gridCol w="3600450">
                  <a:extLst>
                    <a:ext uri="{9D8B030D-6E8A-4147-A177-3AD203B41FA5}">
                      <a16:colId xmlns:a16="http://schemas.microsoft.com/office/drawing/2014/main" val="3445678426"/>
                    </a:ext>
                  </a:extLst>
                </a:gridCol>
              </a:tblGrid>
              <a:tr h="0">
                <a:tc>
                  <a:txBody>
                    <a:bodyPr/>
                    <a:lstStyle/>
                    <a:p>
                      <a:pPr>
                        <a:buNone/>
                      </a:pPr>
                      <a:r>
                        <a:rPr lang="zh-CN" altLang="en-US" sz="1600" dirty="0">
                          <a:solidFill>
                            <a:schemeClr val="bg1"/>
                          </a:solidFill>
                        </a:rPr>
                        <a:t>字母</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tc>
                  <a:txBody>
                    <a:bodyPr/>
                    <a:lstStyle/>
                    <a:p>
                      <a:pPr>
                        <a:buNone/>
                      </a:pPr>
                      <a:r>
                        <a:rPr lang="zh-CN" altLang="en-US" sz="1600" dirty="0">
                          <a:solidFill>
                            <a:schemeClr val="bg1"/>
                          </a:solidFill>
                        </a:rPr>
                        <a:t>含义</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tc>
                  <a:txBody>
                    <a:bodyPr/>
                    <a:lstStyle/>
                    <a:p>
                      <a:pPr>
                        <a:buNone/>
                      </a:pPr>
                      <a:r>
                        <a:rPr lang="zh-CN" altLang="en-US" sz="1600" dirty="0">
                          <a:solidFill>
                            <a:schemeClr val="bg1"/>
                          </a:solidFill>
                        </a:rPr>
                        <a:t>内容</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extLst>
                  <a:ext uri="{0D108BD9-81ED-4DB2-BD59-A6C34878D82A}">
                    <a16:rowId xmlns:a16="http://schemas.microsoft.com/office/drawing/2014/main" val="1578355106"/>
                  </a:ext>
                </a:extLst>
              </a:tr>
              <a:tr h="0">
                <a:tc>
                  <a:txBody>
                    <a:bodyPr/>
                    <a:lstStyle/>
                    <a:p>
                      <a:pPr>
                        <a:buNone/>
                      </a:pPr>
                      <a:r>
                        <a:rPr lang="en-US" sz="1600"/>
                        <a:t>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n-US" sz="1600"/>
                        <a:t>Strengths（</a:t>
                      </a:r>
                      <a:r>
                        <a:rPr lang="zh-CN" altLang="en-US" sz="1600"/>
                        <a:t>优势）</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组织内部的积极因素（如技术强、团队经验丰富）</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466432399"/>
                  </a:ext>
                </a:extLst>
              </a:tr>
              <a:tr h="0">
                <a:tc>
                  <a:txBody>
                    <a:bodyPr/>
                    <a:lstStyle/>
                    <a:p>
                      <a:pPr>
                        <a:buNone/>
                      </a:pPr>
                      <a:r>
                        <a:rPr lang="en-US" sz="1600"/>
                        <a:t>W</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n-US" sz="1600" dirty="0"/>
                        <a:t>Weaknesses（</a:t>
                      </a:r>
                      <a:r>
                        <a:rPr lang="zh-CN" altLang="en-US" sz="1600" dirty="0"/>
                        <a:t>劣势）</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组织内部的消极因素（如资源不足、流程混乱）</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920212666"/>
                  </a:ext>
                </a:extLst>
              </a:tr>
              <a:tr h="0">
                <a:tc>
                  <a:txBody>
                    <a:bodyPr/>
                    <a:lstStyle/>
                    <a:p>
                      <a:pPr>
                        <a:buNone/>
                      </a:pPr>
                      <a:r>
                        <a:rPr lang="en-US" sz="1600"/>
                        <a:t>O</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n-US" sz="1600"/>
                        <a:t>Opportunities（</a:t>
                      </a:r>
                      <a:r>
                        <a:rPr lang="zh-CN" altLang="en-US" sz="1600"/>
                        <a:t>机会）</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外部环境中的有利条件（如政策支持、市场需求增长）</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296084666"/>
                  </a:ext>
                </a:extLst>
              </a:tr>
              <a:tr h="0">
                <a:tc>
                  <a:txBody>
                    <a:bodyPr/>
                    <a:lstStyle/>
                    <a:p>
                      <a:pPr>
                        <a:buNone/>
                      </a:pPr>
                      <a:r>
                        <a:rPr lang="en-US" sz="1600"/>
                        <a:t>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n-US" sz="1600" dirty="0"/>
                        <a:t>Threats（</a:t>
                      </a:r>
                      <a:r>
                        <a:rPr lang="zh-CN" altLang="en-US" sz="1600" dirty="0"/>
                        <a:t>威胁）</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dirty="0"/>
                        <a:t>外部环境中的不利因素（如竞争加剧、法规变化）</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796590102"/>
                  </a:ext>
                </a:extLst>
              </a:tr>
            </a:tbl>
          </a:graphicData>
        </a:graphic>
      </p:graphicFrame>
      <p:sp>
        <p:nvSpPr>
          <p:cNvPr id="6" name="文本占位符 5">
            <a:extLst>
              <a:ext uri="{FF2B5EF4-FFF2-40B4-BE49-F238E27FC236}">
                <a16:creationId xmlns:a16="http://schemas.microsoft.com/office/drawing/2014/main" id="{5F083A60-B368-73C4-8583-2CCAC85EC23E}"/>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197068749"/>
      </p:ext>
    </p:extLst>
  </p:cSld>
  <p:clrMapOvr>
    <a:masterClrMapping/>
  </p:clrMapOvr>
</p:sld>
</file>

<file path=ppt/slides/slide4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E864C-DE7A-373C-28CB-06F14EBB743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C0C5531-7387-B661-BFEC-B09C57B0FBAA}"/>
              </a:ext>
            </a:extLst>
          </p:cNvPr>
          <p:cNvSpPr>
            <a:spLocks noGrp="1"/>
          </p:cNvSpPr>
          <p:nvPr>
            <p:ph type="ctrTitle"/>
          </p:nvPr>
        </p:nvSpPr>
        <p:spPr>
          <a:xfrm>
            <a:off x="2464886" y="4681056"/>
            <a:ext cx="7262228" cy="798491"/>
          </a:xfrm>
        </p:spPr>
        <p:txBody>
          <a:bodyPr/>
          <a:lstStyle/>
          <a:p>
            <a:r>
              <a:rPr lang="zh-CN" altLang="en-US"/>
              <a:t>软件项目合同计划</a:t>
            </a:r>
          </a:p>
        </p:txBody>
      </p:sp>
      <p:sp>
        <p:nvSpPr>
          <p:cNvPr id="3" name="副标题 2">
            <a:extLst>
              <a:ext uri="{FF2B5EF4-FFF2-40B4-BE49-F238E27FC236}">
                <a16:creationId xmlns:a16="http://schemas.microsoft.com/office/drawing/2014/main" id="{DDD4B680-CFA0-3545-6F6D-5A5B2BDC2A9E}"/>
              </a:ext>
            </a:extLst>
          </p:cNvPr>
          <p:cNvSpPr>
            <a:spLocks noGrp="1"/>
          </p:cNvSpPr>
          <p:nvPr>
            <p:ph type="subTitle" idx="1"/>
          </p:nvPr>
        </p:nvSpPr>
        <p:spPr>
          <a:xfrm>
            <a:off x="2464886" y="5479548"/>
            <a:ext cx="7262228" cy="458180"/>
          </a:xfrm>
        </p:spPr>
        <p:txBody>
          <a:bodyPr/>
          <a:lstStyle/>
          <a:p>
            <a:r>
              <a:rPr lang="en-US" altLang="zh-CN"/>
              <a:t>Section 10 Project Contract</a:t>
            </a:r>
            <a:endParaRPr lang="zh-CN" altLang="en-US"/>
          </a:p>
        </p:txBody>
      </p:sp>
      <p:sp>
        <p:nvSpPr>
          <p:cNvPr id="7" name="文本占位符 6">
            <a:extLst>
              <a:ext uri="{FF2B5EF4-FFF2-40B4-BE49-F238E27FC236}">
                <a16:creationId xmlns:a16="http://schemas.microsoft.com/office/drawing/2014/main" id="{CD0DC986-6C52-389D-D888-384E2EB5718F}"/>
              </a:ext>
            </a:extLst>
          </p:cNvPr>
          <p:cNvSpPr>
            <a:spLocks noGrp="1"/>
          </p:cNvSpPr>
          <p:nvPr>
            <p:ph type="body" sz="quarter" idx="11"/>
          </p:nvPr>
        </p:nvSpPr>
        <p:spPr>
          <a:xfrm>
            <a:off x="3883891" y="2047875"/>
            <a:ext cx="4424219" cy="2531269"/>
          </a:xfrm>
        </p:spPr>
        <p:txBody>
          <a:bodyPr/>
          <a:lstStyle/>
          <a:p>
            <a:r>
              <a:rPr lang="zh-CN" altLang="en-US"/>
              <a:t>类型</a:t>
            </a:r>
          </a:p>
          <a:p>
            <a:r>
              <a:rPr lang="zh-CN" altLang="en-US"/>
              <a:t>签订</a:t>
            </a:r>
          </a:p>
          <a:p>
            <a:r>
              <a:rPr lang="zh-CN" altLang="en-US"/>
              <a:t>管理</a:t>
            </a:r>
          </a:p>
        </p:txBody>
      </p:sp>
    </p:spTree>
    <p:extLst>
      <p:ext uri="{BB962C8B-B14F-4D97-AF65-F5344CB8AC3E}">
        <p14:creationId xmlns:p14="http://schemas.microsoft.com/office/powerpoint/2010/main" val="910411400"/>
      </p:ext>
    </p:extLst>
  </p:cSld>
  <p:clrMapOvr>
    <a:masterClrMapping/>
  </p:clrMapOvr>
</p:sld>
</file>

<file path=ppt/slides/slide4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DE738-D250-DA1D-4886-010EE8C8F415}"/>
            </a:ext>
          </a:extLst>
        </p:cNvPr>
        <p:cNvGrpSpPr/>
        <p:nvPr/>
      </p:nvGrpSpPr>
      <p:grpSpPr>
        <a:xfrm>
          <a:off x="0" y="0"/>
          <a:ext cx="0" cy="0"/>
          <a:chOff x="0" y="0"/>
          <a:chExt cx="0" cy="0"/>
        </a:xfrm>
      </p:grpSpPr>
      <p:sp>
        <p:nvSpPr>
          <p:cNvPr id="5" name="箭头: V 形 4">
            <a:extLst>
              <a:ext uri="{FF2B5EF4-FFF2-40B4-BE49-F238E27FC236}">
                <a16:creationId xmlns:a16="http://schemas.microsoft.com/office/drawing/2014/main" id="{4B95CD81-0F19-6D66-08AA-AFA65F9C5C4A}"/>
              </a:ext>
            </a:extLst>
          </p:cNvPr>
          <p:cNvSpPr/>
          <p:nvPr/>
        </p:nvSpPr>
        <p:spPr>
          <a:xfrm>
            <a:off x="2454444" y="1897626"/>
            <a:ext cx="1800000" cy="360000"/>
          </a:xfrm>
          <a:prstGeom prst="chevron">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项目开始</a:t>
            </a:r>
          </a:p>
        </p:txBody>
      </p:sp>
      <p:sp>
        <p:nvSpPr>
          <p:cNvPr id="6" name="箭头: V 形 5">
            <a:extLst>
              <a:ext uri="{FF2B5EF4-FFF2-40B4-BE49-F238E27FC236}">
                <a16:creationId xmlns:a16="http://schemas.microsoft.com/office/drawing/2014/main" id="{4F80E2FE-5797-6351-5F55-45EC78BA1B67}"/>
              </a:ext>
            </a:extLst>
          </p:cNvPr>
          <p:cNvSpPr/>
          <p:nvPr/>
        </p:nvSpPr>
        <p:spPr>
          <a:xfrm>
            <a:off x="4180548" y="1897626"/>
            <a:ext cx="1800000" cy="360000"/>
          </a:xfrm>
          <a:prstGeom prst="chevron">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solidFill>
              </a:rPr>
              <a:t>项目计划</a:t>
            </a:r>
          </a:p>
        </p:txBody>
      </p:sp>
      <p:sp>
        <p:nvSpPr>
          <p:cNvPr id="7" name="箭头: V 形 6">
            <a:extLst>
              <a:ext uri="{FF2B5EF4-FFF2-40B4-BE49-F238E27FC236}">
                <a16:creationId xmlns:a16="http://schemas.microsoft.com/office/drawing/2014/main" id="{5674109C-2229-D6E3-8387-B013FA257E24}"/>
              </a:ext>
            </a:extLst>
          </p:cNvPr>
          <p:cNvSpPr/>
          <p:nvPr/>
        </p:nvSpPr>
        <p:spPr>
          <a:xfrm>
            <a:off x="5906652" y="1897626"/>
            <a:ext cx="1800000" cy="360000"/>
          </a:xfrm>
          <a:prstGeom prst="chevron">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rPr>
              <a:t>项目执行控制</a:t>
            </a:r>
          </a:p>
        </p:txBody>
      </p:sp>
      <p:sp>
        <p:nvSpPr>
          <p:cNvPr id="8" name="箭头: V 形 7">
            <a:extLst>
              <a:ext uri="{FF2B5EF4-FFF2-40B4-BE49-F238E27FC236}">
                <a16:creationId xmlns:a16="http://schemas.microsoft.com/office/drawing/2014/main" id="{C320177F-BB77-FD8E-2EF5-87DB4DE1E96A}"/>
              </a:ext>
            </a:extLst>
          </p:cNvPr>
          <p:cNvSpPr/>
          <p:nvPr/>
        </p:nvSpPr>
        <p:spPr>
          <a:xfrm>
            <a:off x="7632755" y="1897626"/>
            <a:ext cx="1800000" cy="360000"/>
          </a:xfrm>
          <a:prstGeom prst="chevr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rPr>
              <a:t>项目结束</a:t>
            </a:r>
          </a:p>
        </p:txBody>
      </p:sp>
      <p:sp>
        <p:nvSpPr>
          <p:cNvPr id="9" name="矩形 8">
            <a:extLst>
              <a:ext uri="{FF2B5EF4-FFF2-40B4-BE49-F238E27FC236}">
                <a16:creationId xmlns:a16="http://schemas.microsoft.com/office/drawing/2014/main" id="{FAF469C4-8D30-118E-6C6B-8CF42FD63A16}"/>
              </a:ext>
            </a:extLst>
          </p:cNvPr>
          <p:cNvSpPr/>
          <p:nvPr/>
        </p:nvSpPr>
        <p:spPr>
          <a:xfrm>
            <a:off x="3453041"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范围计划</a:t>
            </a:r>
          </a:p>
        </p:txBody>
      </p:sp>
      <p:sp>
        <p:nvSpPr>
          <p:cNvPr id="10" name="矩形 9">
            <a:extLst>
              <a:ext uri="{FF2B5EF4-FFF2-40B4-BE49-F238E27FC236}">
                <a16:creationId xmlns:a16="http://schemas.microsoft.com/office/drawing/2014/main" id="{0FF15A1E-B9D5-3E52-F20D-98F935266F42}"/>
              </a:ext>
            </a:extLst>
          </p:cNvPr>
          <p:cNvSpPr/>
          <p:nvPr/>
        </p:nvSpPr>
        <p:spPr>
          <a:xfrm>
            <a:off x="4147174"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成本计划</a:t>
            </a:r>
          </a:p>
        </p:txBody>
      </p:sp>
      <p:sp>
        <p:nvSpPr>
          <p:cNvPr id="11" name="矩形 10">
            <a:extLst>
              <a:ext uri="{FF2B5EF4-FFF2-40B4-BE49-F238E27FC236}">
                <a16:creationId xmlns:a16="http://schemas.microsoft.com/office/drawing/2014/main" id="{9A4C6A5C-936D-4D0C-610C-BF53F52E02C7}"/>
              </a:ext>
            </a:extLst>
          </p:cNvPr>
          <p:cNvSpPr/>
          <p:nvPr/>
        </p:nvSpPr>
        <p:spPr>
          <a:xfrm>
            <a:off x="4840750"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进度计划</a:t>
            </a:r>
          </a:p>
        </p:txBody>
      </p:sp>
      <p:sp>
        <p:nvSpPr>
          <p:cNvPr id="12" name="矩形 11">
            <a:extLst>
              <a:ext uri="{FF2B5EF4-FFF2-40B4-BE49-F238E27FC236}">
                <a16:creationId xmlns:a16="http://schemas.microsoft.com/office/drawing/2014/main" id="{CEA54391-90C9-286B-9B17-32E06115DDFC}"/>
              </a:ext>
            </a:extLst>
          </p:cNvPr>
          <p:cNvSpPr/>
          <p:nvPr/>
        </p:nvSpPr>
        <p:spPr>
          <a:xfrm>
            <a:off x="5534326"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质量计划</a:t>
            </a:r>
          </a:p>
        </p:txBody>
      </p:sp>
      <p:sp>
        <p:nvSpPr>
          <p:cNvPr id="13" name="矩形 12">
            <a:extLst>
              <a:ext uri="{FF2B5EF4-FFF2-40B4-BE49-F238E27FC236}">
                <a16:creationId xmlns:a16="http://schemas.microsoft.com/office/drawing/2014/main" id="{C7826C80-9AA0-355A-FA2F-47AE1ADF45D8}"/>
              </a:ext>
            </a:extLst>
          </p:cNvPr>
          <p:cNvSpPr/>
          <p:nvPr/>
        </p:nvSpPr>
        <p:spPr>
          <a:xfrm>
            <a:off x="6227902"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配置管理计划</a:t>
            </a:r>
          </a:p>
        </p:txBody>
      </p:sp>
      <p:sp>
        <p:nvSpPr>
          <p:cNvPr id="14" name="矩形 13">
            <a:extLst>
              <a:ext uri="{FF2B5EF4-FFF2-40B4-BE49-F238E27FC236}">
                <a16:creationId xmlns:a16="http://schemas.microsoft.com/office/drawing/2014/main" id="{1D6C2ECA-FC5E-E830-5904-31DB52145167}"/>
              </a:ext>
            </a:extLst>
          </p:cNvPr>
          <p:cNvSpPr/>
          <p:nvPr/>
        </p:nvSpPr>
        <p:spPr>
          <a:xfrm>
            <a:off x="6921478"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团队计划</a:t>
            </a:r>
          </a:p>
        </p:txBody>
      </p:sp>
      <p:sp>
        <p:nvSpPr>
          <p:cNvPr id="15" name="矩形 14">
            <a:extLst>
              <a:ext uri="{FF2B5EF4-FFF2-40B4-BE49-F238E27FC236}">
                <a16:creationId xmlns:a16="http://schemas.microsoft.com/office/drawing/2014/main" id="{127AEDB7-C8F7-836A-73A4-A2B2B0D71CCC}"/>
              </a:ext>
            </a:extLst>
          </p:cNvPr>
          <p:cNvSpPr/>
          <p:nvPr/>
        </p:nvSpPr>
        <p:spPr>
          <a:xfrm>
            <a:off x="7615054"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风险计划</a:t>
            </a:r>
          </a:p>
        </p:txBody>
      </p:sp>
      <p:sp>
        <p:nvSpPr>
          <p:cNvPr id="16" name="矩形 15">
            <a:extLst>
              <a:ext uri="{FF2B5EF4-FFF2-40B4-BE49-F238E27FC236}">
                <a16:creationId xmlns:a16="http://schemas.microsoft.com/office/drawing/2014/main" id="{81C03350-1876-8443-D11B-67C70F3852F5}"/>
              </a:ext>
            </a:extLst>
          </p:cNvPr>
          <p:cNvSpPr/>
          <p:nvPr/>
        </p:nvSpPr>
        <p:spPr>
          <a:xfrm>
            <a:off x="8308629" y="2998839"/>
            <a:ext cx="430887" cy="2160000"/>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bg1"/>
                </a:solidFill>
              </a:rPr>
              <a:t>合同计划</a:t>
            </a:r>
          </a:p>
        </p:txBody>
      </p:sp>
      <p:sp>
        <p:nvSpPr>
          <p:cNvPr id="17" name="梯形 27">
            <a:extLst>
              <a:ext uri="{FF2B5EF4-FFF2-40B4-BE49-F238E27FC236}">
                <a16:creationId xmlns:a16="http://schemas.microsoft.com/office/drawing/2014/main" id="{C7E92326-5544-C777-57B9-BEE219F91639}"/>
              </a:ext>
            </a:extLst>
          </p:cNvPr>
          <p:cNvSpPr/>
          <p:nvPr/>
        </p:nvSpPr>
        <p:spPr>
          <a:xfrm>
            <a:off x="3452485" y="2359742"/>
            <a:ext cx="5287031" cy="639097"/>
          </a:xfrm>
          <a:custGeom>
            <a:avLst/>
            <a:gdLst>
              <a:gd name="csX0" fmla="*/ 0 w 5287031"/>
              <a:gd name="csY0" fmla="*/ 629265 h 629265"/>
              <a:gd name="csX1" fmla="*/ 688259 w 5287031"/>
              <a:gd name="csY1" fmla="*/ 0 h 629265"/>
              <a:gd name="csX2" fmla="*/ 4598772 w 5287031"/>
              <a:gd name="csY2" fmla="*/ 0 h 629265"/>
              <a:gd name="csX3" fmla="*/ 5287031 w 5287031"/>
              <a:gd name="csY3" fmla="*/ 629265 h 629265"/>
              <a:gd name="csX4" fmla="*/ 0 w 5287031"/>
              <a:gd name="csY4" fmla="*/ 629265 h 629265"/>
              <a:gd name="csX0" fmla="*/ 0 w 5287031"/>
              <a:gd name="csY0" fmla="*/ 639097 h 639097"/>
              <a:gd name="csX1" fmla="*/ 688259 w 5287031"/>
              <a:gd name="csY1" fmla="*/ 9832 h 639097"/>
              <a:gd name="csX2" fmla="*/ 2327520 w 5287031"/>
              <a:gd name="csY2" fmla="*/ 0 h 639097"/>
              <a:gd name="csX3" fmla="*/ 5287031 w 5287031"/>
              <a:gd name="csY3" fmla="*/ 639097 h 639097"/>
              <a:gd name="csX4" fmla="*/ 0 w 5287031"/>
              <a:gd name="csY4" fmla="*/ 639097 h 639097"/>
            </a:gdLst>
            <a:ahLst/>
            <a:cxnLst>
              <a:cxn ang="0">
                <a:pos x="csX0" y="csY0"/>
              </a:cxn>
              <a:cxn ang="0">
                <a:pos x="csX1" y="csY1"/>
              </a:cxn>
              <a:cxn ang="0">
                <a:pos x="csX2" y="csY2"/>
              </a:cxn>
              <a:cxn ang="0">
                <a:pos x="csX3" y="csY3"/>
              </a:cxn>
              <a:cxn ang="0">
                <a:pos x="csX4" y="csY4"/>
              </a:cxn>
            </a:cxnLst>
            <a:rect l="l" t="t" r="r" b="b"/>
            <a:pathLst>
              <a:path w="5287031" h="639097">
                <a:moveTo>
                  <a:pt x="0" y="639097"/>
                </a:moveTo>
                <a:lnTo>
                  <a:pt x="688259" y="9832"/>
                </a:lnTo>
                <a:lnTo>
                  <a:pt x="2327520" y="0"/>
                </a:lnTo>
                <a:lnTo>
                  <a:pt x="5287031" y="639097"/>
                </a:lnTo>
                <a:lnTo>
                  <a:pt x="0" y="639097"/>
                </a:lnTo>
                <a:close/>
              </a:path>
            </a:pathLst>
          </a:custGeom>
          <a:gradFill flip="none" rotWithShape="1">
            <a:gsLst>
              <a:gs pos="0">
                <a:schemeClr val="accent5">
                  <a:lumMod val="75000"/>
                </a:schemeClr>
              </a:gs>
              <a:gs pos="100000">
                <a:schemeClr val="bg1">
                  <a:alpha val="0"/>
                </a:scheme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tx1"/>
              </a:solidFill>
            </a:endParaRPr>
          </a:p>
        </p:txBody>
      </p:sp>
    </p:spTree>
    <p:extLst>
      <p:ext uri="{BB962C8B-B14F-4D97-AF65-F5344CB8AC3E}">
        <p14:creationId xmlns:p14="http://schemas.microsoft.com/office/powerpoint/2010/main" val="695939012"/>
      </p:ext>
    </p:extLst>
  </p:cSld>
  <p:clrMapOvr>
    <a:masterClrMapping/>
  </p:clrMapOvr>
</p:sld>
</file>

<file path=ppt/slides/slide4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形 5" descr="硬币">
            <a:extLst>
              <a:ext uri="{FF2B5EF4-FFF2-40B4-BE49-F238E27FC236}">
                <a16:creationId xmlns:a16="http://schemas.microsoft.com/office/drawing/2014/main" id="{F4B1C69E-0459-2730-8B96-4DB75D36A7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638800" y="2971800"/>
            <a:ext cx="914400" cy="914400"/>
          </a:xfrm>
          <a:prstGeom prst="rect">
            <a:avLst/>
          </a:prstGeom>
        </p:spPr>
      </p:pic>
    </p:spTree>
    <p:extLst>
      <p:ext uri="{BB962C8B-B14F-4D97-AF65-F5344CB8AC3E}">
        <p14:creationId xmlns:p14="http://schemas.microsoft.com/office/powerpoint/2010/main" val="3325319116"/>
      </p:ext>
    </p:extLst>
  </p:cSld>
  <p:clrMapOvr>
    <a:masterClrMapping/>
  </p:clrMapOvr>
</p:sld>
</file>

<file path=ppt/slides/slide4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a:extLst>
              <a:ext uri="{FF2B5EF4-FFF2-40B4-BE49-F238E27FC236}">
                <a16:creationId xmlns:a16="http://schemas.microsoft.com/office/drawing/2014/main" id="{3549B240-05D2-6DAB-FC46-A9585CDC32A9}"/>
              </a:ext>
            </a:extLst>
          </p:cNvPr>
          <p:cNvSpPr>
            <a:spLocks noGrp="1"/>
          </p:cNvSpPr>
          <p:nvPr>
            <p:ph type="title"/>
          </p:nvPr>
        </p:nvSpPr>
        <p:spPr>
          <a:xfrm>
            <a:off x="792000" y="360000"/>
            <a:ext cx="6375921" cy="429413"/>
          </a:xfrm>
        </p:spPr>
        <p:txBody>
          <a:bodyPr>
            <a:normAutofit/>
          </a:bodyPr>
          <a:lstStyle/>
          <a:p>
            <a:r>
              <a:rPr lang="zh-CN" altLang="en-US"/>
              <a:t>合同</a:t>
            </a:r>
          </a:p>
        </p:txBody>
      </p:sp>
      <p:sp>
        <p:nvSpPr>
          <p:cNvPr id="3" name="内容占位符 2">
            <a:extLst>
              <a:ext uri="{FF2B5EF4-FFF2-40B4-BE49-F238E27FC236}">
                <a16:creationId xmlns:a16="http://schemas.microsoft.com/office/drawing/2014/main" id="{F82CDEF5-AE47-C929-46F3-7753132DC443}"/>
              </a:ext>
            </a:extLst>
          </p:cNvPr>
          <p:cNvSpPr>
            <a:spLocks noGrp="1"/>
          </p:cNvSpPr>
          <p:nvPr>
            <p:ph idx="1"/>
          </p:nvPr>
        </p:nvSpPr>
        <p:spPr>
          <a:xfrm>
            <a:off x="696000" y="864000"/>
            <a:ext cx="10800000" cy="5400000"/>
          </a:xfrm>
        </p:spPr>
        <p:txBody>
          <a:bodyPr/>
          <a:lstStyle/>
          <a:p>
            <a:r>
              <a:rPr lang="zh-CN" altLang="en-US"/>
              <a:t>合同是具有法律</a:t>
            </a:r>
            <a:r>
              <a:rPr lang="zh-CN" altLang="zh-CN"/>
              <a:t>效力</a:t>
            </a:r>
            <a:r>
              <a:rPr lang="zh-CN" altLang="en-US"/>
              <a:t>的协议</a:t>
            </a:r>
            <a:endParaRPr lang="en-US" altLang="zh-CN"/>
          </a:p>
          <a:p>
            <a:r>
              <a:rPr lang="zh-CN" altLang="en-US"/>
              <a:t>双方自愿达成的协议</a:t>
            </a:r>
            <a:endParaRPr lang="en-US" altLang="zh-CN"/>
          </a:p>
          <a:p>
            <a:r>
              <a:rPr lang="zh-CN" altLang="en-US"/>
              <a:t>签订者具有相应的法律能力</a:t>
            </a:r>
          </a:p>
          <a:p>
            <a:r>
              <a:rPr lang="zh-CN" altLang="en-US"/>
              <a:t>有充分的签约理由</a:t>
            </a:r>
          </a:p>
          <a:p>
            <a:r>
              <a:rPr lang="zh-CN" altLang="en-US"/>
              <a:t>具有合法的目的</a:t>
            </a:r>
          </a:p>
          <a:p>
            <a:endParaRPr lang="en-US" altLang="zh-CN"/>
          </a:p>
          <a:p>
            <a:endParaRPr lang="zh-CN" altLang="en-US"/>
          </a:p>
        </p:txBody>
      </p:sp>
      <p:sp>
        <p:nvSpPr>
          <p:cNvPr id="13" name="文本占位符 12">
            <a:extLst>
              <a:ext uri="{FF2B5EF4-FFF2-40B4-BE49-F238E27FC236}">
                <a16:creationId xmlns:a16="http://schemas.microsoft.com/office/drawing/2014/main" id="{F06A705A-DFFC-F6FD-3137-E9F33331FB64}"/>
              </a:ext>
            </a:extLst>
          </p:cNvPr>
          <p:cNvSpPr>
            <a:spLocks noGrp="1"/>
          </p:cNvSpPr>
          <p:nvPr>
            <p:ph type="body" sz="quarter" idx="10"/>
          </p:nvPr>
        </p:nvSpPr>
        <p:spPr>
          <a:xfrm>
            <a:off x="7071919" y="448519"/>
            <a:ext cx="4424080" cy="338554"/>
          </a:xfrm>
        </p:spPr>
        <p:txBody>
          <a:bodyPr/>
          <a:lstStyle/>
          <a:p>
            <a:r>
              <a:rPr lang="en-US" altLang="zh-CN"/>
              <a:t>Contract</a:t>
            </a:r>
            <a:endParaRPr lang="zh-CN" altLang="en-US"/>
          </a:p>
        </p:txBody>
      </p:sp>
    </p:spTree>
    <p:extLst>
      <p:ext uri="{BB962C8B-B14F-4D97-AF65-F5344CB8AC3E}">
        <p14:creationId xmlns:p14="http://schemas.microsoft.com/office/powerpoint/2010/main" val="2278580081"/>
      </p:ext>
    </p:extLst>
  </p:cSld>
  <p:clrMapOvr>
    <a:masterClrMapping/>
  </p:clrMapOvr>
</p:sld>
</file>

<file path=ppt/slides/slide4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C1675C-D9D4-EFAC-141C-76EE60502248}"/>
              </a:ext>
            </a:extLst>
          </p:cNvPr>
          <p:cNvSpPr>
            <a:spLocks noGrp="1"/>
          </p:cNvSpPr>
          <p:nvPr>
            <p:ph type="title"/>
          </p:nvPr>
        </p:nvSpPr>
        <p:spPr>
          <a:xfrm>
            <a:off x="792000" y="360000"/>
            <a:ext cx="6375921" cy="429413"/>
          </a:xfrm>
        </p:spPr>
        <p:txBody>
          <a:bodyPr>
            <a:normAutofit/>
          </a:bodyPr>
          <a:lstStyle/>
          <a:p>
            <a:r>
              <a:rPr lang="zh-CN" altLang="en-US"/>
              <a:t>合同类型</a:t>
            </a:r>
          </a:p>
        </p:txBody>
      </p:sp>
      <p:sp>
        <p:nvSpPr>
          <p:cNvPr id="9" name="内容占位符 8">
            <a:extLst>
              <a:ext uri="{FF2B5EF4-FFF2-40B4-BE49-F238E27FC236}">
                <a16:creationId xmlns:a16="http://schemas.microsoft.com/office/drawing/2014/main" id="{938D46F7-64A7-3CA4-3B6A-E9A13556341D}"/>
              </a:ext>
            </a:extLst>
          </p:cNvPr>
          <p:cNvSpPr>
            <a:spLocks noGrp="1"/>
          </p:cNvSpPr>
          <p:nvPr>
            <p:ph idx="1"/>
          </p:nvPr>
        </p:nvSpPr>
        <p:spPr>
          <a:xfrm>
            <a:off x="696000" y="864000"/>
            <a:ext cx="10800000" cy="5400000"/>
          </a:xfrm>
        </p:spPr>
        <p:txBody>
          <a:bodyPr/>
          <a:lstStyle/>
          <a:p>
            <a:r>
              <a:rPr lang="zh-CN" altLang="en-US"/>
              <a:t>按范围方式</a:t>
            </a:r>
            <a:endParaRPr lang="en-US" altLang="zh-CN"/>
          </a:p>
          <a:p>
            <a:pPr lvl="1"/>
            <a:r>
              <a:rPr lang="zh-CN" altLang="en-US"/>
              <a:t>总承包合同</a:t>
            </a:r>
            <a:endParaRPr lang="en-US" altLang="zh-CN"/>
          </a:p>
          <a:p>
            <a:pPr lvl="1"/>
            <a:r>
              <a:rPr lang="zh-CN" altLang="en-US"/>
              <a:t>单项工程承包合同</a:t>
            </a:r>
            <a:endParaRPr lang="en-US" altLang="zh-CN"/>
          </a:p>
          <a:p>
            <a:pPr lvl="1"/>
            <a:r>
              <a:rPr lang="zh-CN" altLang="en-US"/>
              <a:t>分包合同</a:t>
            </a:r>
          </a:p>
        </p:txBody>
      </p:sp>
      <p:sp>
        <p:nvSpPr>
          <p:cNvPr id="10" name="文本占位符 9">
            <a:extLst>
              <a:ext uri="{FF2B5EF4-FFF2-40B4-BE49-F238E27FC236}">
                <a16:creationId xmlns:a16="http://schemas.microsoft.com/office/drawing/2014/main" id="{F40D03E2-0B45-9C63-7726-A637EAF44051}"/>
              </a:ext>
            </a:extLst>
          </p:cNvPr>
          <p:cNvSpPr>
            <a:spLocks noGrp="1"/>
          </p:cNvSpPr>
          <p:nvPr>
            <p:ph type="body" sz="quarter" idx="10"/>
          </p:nvPr>
        </p:nvSpPr>
        <p:spPr>
          <a:xfrm>
            <a:off x="7071919" y="448519"/>
            <a:ext cx="4424080" cy="338554"/>
          </a:xfrm>
        </p:spPr>
        <p:txBody>
          <a:bodyPr/>
          <a:lstStyle/>
          <a:p>
            <a:r>
              <a:rPr lang="en-US" altLang="zh-CN"/>
              <a:t>Contract</a:t>
            </a:r>
            <a:endParaRPr lang="zh-CN" altLang="en-US"/>
          </a:p>
        </p:txBody>
      </p:sp>
    </p:spTree>
    <p:extLst>
      <p:ext uri="{BB962C8B-B14F-4D97-AF65-F5344CB8AC3E}">
        <p14:creationId xmlns:p14="http://schemas.microsoft.com/office/powerpoint/2010/main" val="663516078"/>
      </p:ext>
    </p:extLst>
  </p:cSld>
  <p:clrMapOvr>
    <a:masterClrMapping/>
  </p:clrMapOvr>
</p:sld>
</file>

<file path=ppt/slides/slide4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7A7C4-EF2C-4FCC-0120-9AFFBD891DD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8D4AF04-483C-85C3-5DB6-1EEF6DF5130A}"/>
              </a:ext>
            </a:extLst>
          </p:cNvPr>
          <p:cNvSpPr>
            <a:spLocks noGrp="1"/>
          </p:cNvSpPr>
          <p:nvPr>
            <p:ph type="title"/>
          </p:nvPr>
        </p:nvSpPr>
        <p:spPr>
          <a:xfrm>
            <a:off x="792000" y="360000"/>
            <a:ext cx="6375921" cy="429413"/>
          </a:xfrm>
        </p:spPr>
        <p:txBody>
          <a:bodyPr>
            <a:normAutofit/>
          </a:bodyPr>
          <a:lstStyle/>
          <a:p>
            <a:r>
              <a:rPr lang="zh-CN" altLang="en-US"/>
              <a:t>合同类型</a:t>
            </a:r>
          </a:p>
        </p:txBody>
      </p:sp>
      <p:sp>
        <p:nvSpPr>
          <p:cNvPr id="9" name="内容占位符 8">
            <a:extLst>
              <a:ext uri="{FF2B5EF4-FFF2-40B4-BE49-F238E27FC236}">
                <a16:creationId xmlns:a16="http://schemas.microsoft.com/office/drawing/2014/main" id="{6C66189E-D093-DFBA-2EFF-97DF49E3D75B}"/>
              </a:ext>
            </a:extLst>
          </p:cNvPr>
          <p:cNvSpPr>
            <a:spLocks noGrp="1"/>
          </p:cNvSpPr>
          <p:nvPr>
            <p:ph idx="1"/>
          </p:nvPr>
        </p:nvSpPr>
        <p:spPr>
          <a:xfrm>
            <a:off x="696000" y="864000"/>
            <a:ext cx="10800000" cy="5400000"/>
          </a:xfrm>
        </p:spPr>
        <p:txBody>
          <a:bodyPr/>
          <a:lstStyle/>
          <a:p>
            <a:r>
              <a:rPr lang="zh-CN" altLang="en-US"/>
              <a:t>按支付方式</a:t>
            </a:r>
          </a:p>
        </p:txBody>
      </p:sp>
      <p:sp>
        <p:nvSpPr>
          <p:cNvPr id="10" name="文本占位符 9">
            <a:extLst>
              <a:ext uri="{FF2B5EF4-FFF2-40B4-BE49-F238E27FC236}">
                <a16:creationId xmlns:a16="http://schemas.microsoft.com/office/drawing/2014/main" id="{6D144D97-7E6E-80FB-EEB2-2E0E42851833}"/>
              </a:ext>
            </a:extLst>
          </p:cNvPr>
          <p:cNvSpPr>
            <a:spLocks noGrp="1"/>
          </p:cNvSpPr>
          <p:nvPr>
            <p:ph type="body" sz="quarter" idx="10"/>
          </p:nvPr>
        </p:nvSpPr>
        <p:spPr>
          <a:xfrm>
            <a:off x="7071919" y="448519"/>
            <a:ext cx="4424080" cy="338554"/>
          </a:xfrm>
        </p:spPr>
        <p:txBody>
          <a:bodyPr/>
          <a:lstStyle/>
          <a:p>
            <a:r>
              <a:rPr lang="en-US" altLang="zh-CN"/>
              <a:t>Contract</a:t>
            </a:r>
            <a:endParaRPr lang="zh-CN" altLang="en-US"/>
          </a:p>
        </p:txBody>
      </p:sp>
      <p:sp>
        <p:nvSpPr>
          <p:cNvPr id="3" name="任意多边形: 形状 2">
            <a:extLst>
              <a:ext uri="{FF2B5EF4-FFF2-40B4-BE49-F238E27FC236}">
                <a16:creationId xmlns:a16="http://schemas.microsoft.com/office/drawing/2014/main" id="{527CB732-FFC2-734B-A8B7-7ADEFC0531BD}"/>
              </a:ext>
            </a:extLst>
          </p:cNvPr>
          <p:cNvSpPr/>
          <p:nvPr/>
        </p:nvSpPr>
        <p:spPr>
          <a:xfrm>
            <a:off x="8506217" y="1368720"/>
            <a:ext cx="2700001" cy="2700001"/>
          </a:xfrm>
          <a:custGeom>
            <a:avLst/>
            <a:gdLst>
              <a:gd name="csX0" fmla="*/ 1350000 w 2700001"/>
              <a:gd name="csY0" fmla="*/ 0 h 2700001"/>
              <a:gd name="csX1" fmla="*/ 2700001 w 2700001"/>
              <a:gd name="csY1" fmla="*/ 1350000 h 2700001"/>
              <a:gd name="csX2" fmla="*/ 2698065 w 2700001"/>
              <a:gd name="csY2" fmla="*/ 1388327 h 2700001"/>
              <a:gd name="csX3" fmla="*/ 2620646 w 2700001"/>
              <a:gd name="csY3" fmla="*/ 1348694 h 2700001"/>
              <a:gd name="csX4" fmla="*/ 2698065 w 2700001"/>
              <a:gd name="csY4" fmla="*/ 1388328 h 2700001"/>
              <a:gd name="csX5" fmla="*/ 2693031 w 2700001"/>
              <a:gd name="csY5" fmla="*/ 1488031 h 2700001"/>
              <a:gd name="csX6" fmla="*/ 2104798 w 2700001"/>
              <a:gd name="csY6" fmla="*/ 2469442 h 2700001"/>
              <a:gd name="csX7" fmla="*/ 2003960 w 2700001"/>
              <a:gd name="csY7" fmla="*/ 2530703 h 2700001"/>
              <a:gd name="csX8" fmla="*/ 1993490 w 2700001"/>
              <a:gd name="csY8" fmla="*/ 2537063 h 2700001"/>
              <a:gd name="csX9" fmla="*/ 1350001 w 2700001"/>
              <a:gd name="csY9" fmla="*/ 2700001 h 2700001"/>
              <a:gd name="csX10" fmla="*/ 1890000 w 2700001"/>
              <a:gd name="csY10" fmla="*/ 2160001 h 2700001"/>
              <a:gd name="csX11" fmla="*/ 1847565 w 2700001"/>
              <a:gd name="csY11" fmla="*/ 1949809 h 2700001"/>
              <a:gd name="csX12" fmla="*/ 1806894 w 2700001"/>
              <a:gd name="csY12" fmla="*/ 1874879 h 2700001"/>
              <a:gd name="csX13" fmla="*/ 1797777 w 2700001"/>
              <a:gd name="csY13" fmla="*/ 1858082 h 2700001"/>
              <a:gd name="csX14" fmla="*/ 1789703 w 2700001"/>
              <a:gd name="csY14" fmla="*/ 1848295 h 2700001"/>
              <a:gd name="csX15" fmla="*/ 1748977 w 2700001"/>
              <a:gd name="csY15" fmla="*/ 1785320 h 2700001"/>
              <a:gd name="csX16" fmla="*/ 1361175 w 2700001"/>
              <a:gd name="csY16" fmla="*/ 1425562 h 2700001"/>
              <a:gd name="csX17" fmla="*/ 1357450 w 2700001"/>
              <a:gd name="csY17" fmla="*/ 1423521 h 2700001"/>
              <a:gd name="csX18" fmla="*/ 1467941 w 2700001"/>
              <a:gd name="csY18" fmla="*/ 1362978 h 2700001"/>
              <a:gd name="csX19" fmla="*/ 1610671 w 2700001"/>
              <a:gd name="csY19" fmla="*/ 1303780 h 2700001"/>
              <a:gd name="csX20" fmla="*/ 1602425 w 2700001"/>
              <a:gd name="csY20" fmla="*/ 1306256 h 2700001"/>
              <a:gd name="csX21" fmla="*/ 1467940 w 2700001"/>
              <a:gd name="csY21" fmla="*/ 1362977 h 2700001"/>
              <a:gd name="csX22" fmla="*/ 1357450 w 2700001"/>
              <a:gd name="csY22" fmla="*/ 1423521 h 2700001"/>
              <a:gd name="csX23" fmla="*/ 1246959 w 2700001"/>
              <a:gd name="csY23" fmla="*/ 1362976 h 2700001"/>
              <a:gd name="csX24" fmla="*/ 102915 w 2700001"/>
              <a:gd name="csY24" fmla="*/ 1344258 h 2700001"/>
              <a:gd name="csX25" fmla="*/ 2310 w 2700001"/>
              <a:gd name="csY25" fmla="*/ 1395760 h 2700001"/>
              <a:gd name="csX26" fmla="*/ 0 w 2700001"/>
              <a:gd name="csY26" fmla="*/ 1350001 h 2700001"/>
              <a:gd name="csX27" fmla="*/ 1350000 w 2700001"/>
              <a:gd name="csY27" fmla="*/ 0 h 2700001"/>
              <a:gd name="csX28" fmla="*/ 2031045 w 2700001"/>
              <a:gd name="csY28" fmla="*/ 1226486 h 2700001"/>
              <a:gd name="csX29" fmla="*/ 1975289 w 2700001"/>
              <a:gd name="csY29" fmla="*/ 1230759 h 2700001"/>
              <a:gd name="csX30" fmla="*/ 2066480 w 2700001"/>
              <a:gd name="csY30" fmla="*/ 1227626 h 2700001"/>
              <a:gd name="csX31" fmla="*/ 2031045 w 2700001"/>
              <a:gd name="csY31" fmla="*/ 1226486 h 2700001"/>
              <a:gd name="csX32" fmla="*/ 2142683 w 2700001"/>
              <a:gd name="csY32" fmla="*/ 1230075 h 2700001"/>
              <a:gd name="csX33" fmla="*/ 2199961 w 2700001"/>
              <a:gd name="csY33" fmla="*/ 1234361 h 2700001"/>
              <a:gd name="csX34" fmla="*/ 2177907 w 2700001"/>
              <a:gd name="csY34" fmla="*/ 1231208 h 2700001"/>
              <a:gd name="csX35" fmla="*/ 2142683 w 2700001"/>
              <a:gd name="csY35" fmla="*/ 1230075 h 2700001"/>
              <a:gd name="csX36" fmla="*/ 1911397 w 2700001"/>
              <a:gd name="csY36" fmla="*/ 1235656 h 2700001"/>
              <a:gd name="csX37" fmla="*/ 1885297 w 2700001"/>
              <a:gd name="csY37" fmla="*/ 1237656 h 2700001"/>
              <a:gd name="csX38" fmla="*/ 1818287 w 2700001"/>
              <a:gd name="csY38" fmla="*/ 1250143 h 2700001"/>
              <a:gd name="csX39" fmla="*/ 1911397 w 2700001"/>
              <a:gd name="csY39" fmla="*/ 1235656 h 2700001"/>
              <a:gd name="csX40" fmla="*/ 2285102 w 2700001"/>
              <a:gd name="csY40" fmla="*/ 1246533 h 2700001"/>
              <a:gd name="csX41" fmla="*/ 2339304 w 2700001"/>
              <a:gd name="csY41" fmla="*/ 1255990 h 2700001"/>
              <a:gd name="csX42" fmla="*/ 2324565 w 2700001"/>
              <a:gd name="csY42" fmla="*/ 1252175 h 2700001"/>
              <a:gd name="csX43" fmla="*/ 2285102 w 2700001"/>
              <a:gd name="csY43" fmla="*/ 1246533 h 2700001"/>
              <a:gd name="csX44" fmla="*/ 1758982 w 2700001"/>
              <a:gd name="csY44" fmla="*/ 1261196 h 2700001"/>
              <a:gd name="csX45" fmla="*/ 1741984 w 2700001"/>
              <a:gd name="csY45" fmla="*/ 1264363 h 2700001"/>
              <a:gd name="csX46" fmla="*/ 1659256 w 2700001"/>
              <a:gd name="csY46" fmla="*/ 1289195 h 2700001"/>
              <a:gd name="csX47" fmla="*/ 1758982 w 2700001"/>
              <a:gd name="csY47" fmla="*/ 1261196 h 2700001"/>
              <a:gd name="csX48" fmla="*/ 2431662 w 2700001"/>
              <a:gd name="csY48" fmla="*/ 1279896 h 2700001"/>
              <a:gd name="csX49" fmla="*/ 2476983 w 2700001"/>
              <a:gd name="csY49" fmla="*/ 1292533 h 2700001"/>
              <a:gd name="csX50" fmla="*/ 2469697 w 2700001"/>
              <a:gd name="csY50" fmla="*/ 1289741 h 2700001"/>
              <a:gd name="csX51" fmla="*/ 2431662 w 2700001"/>
              <a:gd name="csY51" fmla="*/ 1279896 h 2700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2700001" h="2700001">
                <a:moveTo>
                  <a:pt x="1350000" y="0"/>
                </a:moveTo>
                <a:cubicBezTo>
                  <a:pt x="2095584" y="1"/>
                  <a:pt x="2700000" y="604416"/>
                  <a:pt x="2700001" y="1350000"/>
                </a:cubicBezTo>
                <a:lnTo>
                  <a:pt x="2698065" y="1388327"/>
                </a:lnTo>
                <a:lnTo>
                  <a:pt x="2620646" y="1348694"/>
                </a:lnTo>
                <a:lnTo>
                  <a:pt x="2698065" y="1388328"/>
                </a:lnTo>
                <a:lnTo>
                  <a:pt x="2693031" y="1488031"/>
                </a:lnTo>
                <a:cubicBezTo>
                  <a:pt x="2651551" y="1896477"/>
                  <a:pt x="2427991" y="2251097"/>
                  <a:pt x="2104798" y="2469442"/>
                </a:cubicBezTo>
                <a:lnTo>
                  <a:pt x="2003960" y="2530703"/>
                </a:lnTo>
                <a:lnTo>
                  <a:pt x="1993490" y="2537063"/>
                </a:lnTo>
                <a:cubicBezTo>
                  <a:pt x="1802205" y="2640976"/>
                  <a:pt x="1582995" y="2700001"/>
                  <a:pt x="1350001" y="2700001"/>
                </a:cubicBezTo>
                <a:cubicBezTo>
                  <a:pt x="1648235" y="2700001"/>
                  <a:pt x="1890000" y="2458235"/>
                  <a:pt x="1890000" y="2160001"/>
                </a:cubicBezTo>
                <a:cubicBezTo>
                  <a:pt x="1890001" y="2085443"/>
                  <a:pt x="1874890" y="2014413"/>
                  <a:pt x="1847565" y="1949809"/>
                </a:cubicBezTo>
                <a:lnTo>
                  <a:pt x="1806894" y="1874879"/>
                </a:lnTo>
                <a:lnTo>
                  <a:pt x="1797777" y="1858082"/>
                </a:lnTo>
                <a:lnTo>
                  <a:pt x="1789703" y="1848295"/>
                </a:lnTo>
                <a:lnTo>
                  <a:pt x="1748977" y="1785320"/>
                </a:lnTo>
                <a:cubicBezTo>
                  <a:pt x="1642245" y="1637326"/>
                  <a:pt x="1509682" y="1516524"/>
                  <a:pt x="1361175" y="1425562"/>
                </a:cubicBezTo>
                <a:lnTo>
                  <a:pt x="1357450" y="1423521"/>
                </a:lnTo>
                <a:lnTo>
                  <a:pt x="1467941" y="1362978"/>
                </a:lnTo>
                <a:lnTo>
                  <a:pt x="1610671" y="1303780"/>
                </a:lnTo>
                <a:lnTo>
                  <a:pt x="1602425" y="1306256"/>
                </a:lnTo>
                <a:cubicBezTo>
                  <a:pt x="1556677" y="1322711"/>
                  <a:pt x="1511776" y="1341637"/>
                  <a:pt x="1467940" y="1362977"/>
                </a:cubicBezTo>
                <a:lnTo>
                  <a:pt x="1357450" y="1423521"/>
                </a:lnTo>
                <a:lnTo>
                  <a:pt x="1246959" y="1362976"/>
                </a:lnTo>
                <a:cubicBezTo>
                  <a:pt x="896270" y="1192256"/>
                  <a:pt x="477381" y="1175958"/>
                  <a:pt x="102915" y="1344258"/>
                </a:cubicBezTo>
                <a:lnTo>
                  <a:pt x="2310" y="1395760"/>
                </a:lnTo>
                <a:lnTo>
                  <a:pt x="0" y="1350001"/>
                </a:lnTo>
                <a:cubicBezTo>
                  <a:pt x="0" y="604416"/>
                  <a:pt x="604416" y="0"/>
                  <a:pt x="1350000" y="0"/>
                </a:cubicBezTo>
                <a:close/>
                <a:moveTo>
                  <a:pt x="2031045" y="1226486"/>
                </a:moveTo>
                <a:lnTo>
                  <a:pt x="1975289" y="1230759"/>
                </a:lnTo>
                <a:lnTo>
                  <a:pt x="2066480" y="1227626"/>
                </a:lnTo>
                <a:lnTo>
                  <a:pt x="2031045" y="1226486"/>
                </a:lnTo>
                <a:close/>
                <a:moveTo>
                  <a:pt x="2142683" y="1230075"/>
                </a:moveTo>
                <a:lnTo>
                  <a:pt x="2199961" y="1234361"/>
                </a:lnTo>
                <a:lnTo>
                  <a:pt x="2177907" y="1231208"/>
                </a:lnTo>
                <a:lnTo>
                  <a:pt x="2142683" y="1230075"/>
                </a:lnTo>
                <a:close/>
                <a:moveTo>
                  <a:pt x="1911397" y="1235656"/>
                </a:moveTo>
                <a:lnTo>
                  <a:pt x="1885297" y="1237656"/>
                </a:lnTo>
                <a:lnTo>
                  <a:pt x="1818287" y="1250143"/>
                </a:lnTo>
                <a:lnTo>
                  <a:pt x="1911397" y="1235656"/>
                </a:lnTo>
                <a:close/>
                <a:moveTo>
                  <a:pt x="2285102" y="1246533"/>
                </a:moveTo>
                <a:lnTo>
                  <a:pt x="2339304" y="1255990"/>
                </a:lnTo>
                <a:lnTo>
                  <a:pt x="2324565" y="1252175"/>
                </a:lnTo>
                <a:lnTo>
                  <a:pt x="2285102" y="1246533"/>
                </a:lnTo>
                <a:close/>
                <a:moveTo>
                  <a:pt x="1758982" y="1261196"/>
                </a:moveTo>
                <a:lnTo>
                  <a:pt x="1741984" y="1264363"/>
                </a:lnTo>
                <a:lnTo>
                  <a:pt x="1659256" y="1289195"/>
                </a:lnTo>
                <a:lnTo>
                  <a:pt x="1758982" y="1261196"/>
                </a:lnTo>
                <a:close/>
                <a:moveTo>
                  <a:pt x="2431662" y="1279896"/>
                </a:moveTo>
                <a:lnTo>
                  <a:pt x="2476983" y="1292533"/>
                </a:lnTo>
                <a:lnTo>
                  <a:pt x="2469697" y="1289741"/>
                </a:lnTo>
                <a:lnTo>
                  <a:pt x="2431662" y="1279896"/>
                </a:lnTo>
                <a:close/>
              </a:path>
            </a:pathLst>
          </a:custGeom>
          <a:solidFill>
            <a:srgbClr val="EFAA27"/>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en-US" altLang="zh-CN" sz="2400" dirty="0"/>
          </a:p>
        </p:txBody>
      </p:sp>
      <p:sp>
        <p:nvSpPr>
          <p:cNvPr id="4" name="任意多边形: 形状 3">
            <a:extLst>
              <a:ext uri="{FF2B5EF4-FFF2-40B4-BE49-F238E27FC236}">
                <a16:creationId xmlns:a16="http://schemas.microsoft.com/office/drawing/2014/main" id="{BA49BB3A-C678-C170-D3BE-52637D7F6D1B}"/>
              </a:ext>
            </a:extLst>
          </p:cNvPr>
          <p:cNvSpPr/>
          <p:nvPr/>
        </p:nvSpPr>
        <p:spPr>
          <a:xfrm>
            <a:off x="9215996" y="2757048"/>
            <a:ext cx="2700452" cy="2538269"/>
          </a:xfrm>
          <a:custGeom>
            <a:avLst/>
            <a:gdLst>
              <a:gd name="csX0" fmla="*/ 1988285 w 2700452"/>
              <a:gd name="csY0" fmla="*/ 0 h 2538269"/>
              <a:gd name="csX1" fmla="*/ 2025227 w 2700452"/>
              <a:gd name="csY1" fmla="*/ 18911 h 2538269"/>
              <a:gd name="csX2" fmla="*/ 2519362 w 2700452"/>
              <a:gd name="csY2" fmla="*/ 1863044 h 2538269"/>
              <a:gd name="csX3" fmla="*/ 675225 w 2700452"/>
              <a:gd name="csY3" fmla="*/ 2357180 h 2538269"/>
              <a:gd name="csX4" fmla="*/ 647668 w 2700452"/>
              <a:gd name="csY4" fmla="*/ 2339357 h 2538269"/>
              <a:gd name="csX5" fmla="*/ 647669 w 2700452"/>
              <a:gd name="csY5" fmla="*/ 2339357 h 2538269"/>
              <a:gd name="csX6" fmla="*/ 647669 w 2700452"/>
              <a:gd name="csY6" fmla="*/ 2339357 h 2538269"/>
              <a:gd name="csX7" fmla="*/ 682423 w 2700452"/>
              <a:gd name="csY7" fmla="*/ 2316882 h 2538269"/>
              <a:gd name="csX8" fmla="*/ 736165 w 2700452"/>
              <a:gd name="csY8" fmla="*/ 2282128 h 2538269"/>
              <a:gd name="csX9" fmla="*/ 736242 w 2700452"/>
              <a:gd name="csY9" fmla="*/ 2282065 h 2538269"/>
              <a:gd name="csX10" fmla="*/ 851413 w 2700452"/>
              <a:gd name="csY10" fmla="*/ 2188982 h 2538269"/>
              <a:gd name="csX11" fmla="*/ 859424 w 2700452"/>
              <a:gd name="csY11" fmla="*/ 2180910 h 2538269"/>
              <a:gd name="csX12" fmla="*/ 866862 w 2700452"/>
              <a:gd name="csY12" fmla="*/ 2174801 h 2538269"/>
              <a:gd name="csX13" fmla="*/ 895762 w 2700452"/>
              <a:gd name="csY13" fmla="*/ 2144290 h 2538269"/>
              <a:gd name="csX14" fmla="*/ 954138 w 2700452"/>
              <a:gd name="csY14" fmla="*/ 2085461 h 2538269"/>
              <a:gd name="csX15" fmla="*/ 968295 w 2700452"/>
              <a:gd name="csY15" fmla="*/ 2067712 h 2538269"/>
              <a:gd name="csX16" fmla="*/ 981142 w 2700452"/>
              <a:gd name="csY16" fmla="*/ 2054148 h 2538269"/>
              <a:gd name="csX17" fmla="*/ 1005721 w 2700452"/>
              <a:gd name="csY17" fmla="*/ 2020789 h 2538269"/>
              <a:gd name="csX18" fmla="*/ 1044014 w 2700452"/>
              <a:gd name="csY18" fmla="*/ 1972777 h 2538269"/>
              <a:gd name="csX19" fmla="*/ 1062411 w 2700452"/>
              <a:gd name="csY19" fmla="*/ 1943844 h 2538269"/>
              <a:gd name="csX20" fmla="*/ 1078519 w 2700452"/>
              <a:gd name="csY20" fmla="*/ 1921981 h 2538269"/>
              <a:gd name="csX21" fmla="*/ 1095791 w 2700452"/>
              <a:gd name="csY21" fmla="*/ 1891348 h 2538269"/>
              <a:gd name="csX22" fmla="*/ 1120718 w 2700452"/>
              <a:gd name="csY22" fmla="*/ 1852144 h 2538269"/>
              <a:gd name="csX23" fmla="*/ 1141452 w 2700452"/>
              <a:gd name="csY23" fmla="*/ 1810361 h 2538269"/>
              <a:gd name="csX24" fmla="*/ 1158508 w 2700452"/>
              <a:gd name="csY24" fmla="*/ 1780110 h 2538269"/>
              <a:gd name="csX25" fmla="*/ 1168916 w 2700452"/>
              <a:gd name="csY25" fmla="*/ 1755016 h 2538269"/>
              <a:gd name="csX26" fmla="*/ 1183923 w 2700452"/>
              <a:gd name="csY26" fmla="*/ 1724774 h 2538269"/>
              <a:gd name="csX27" fmla="*/ 1205128 w 2700452"/>
              <a:gd name="csY27" fmla="*/ 1667709 h 2538269"/>
              <a:gd name="csX28" fmla="*/ 1220625 w 2700452"/>
              <a:gd name="csY28" fmla="*/ 1630344 h 2538269"/>
              <a:gd name="csX29" fmla="*/ 1225613 w 2700452"/>
              <a:gd name="csY29" fmla="*/ 1612579 h 2538269"/>
              <a:gd name="csX30" fmla="*/ 1233304 w 2700452"/>
              <a:gd name="csY30" fmla="*/ 1591881 h 2538269"/>
              <a:gd name="csX31" fmla="*/ 1253437 w 2700452"/>
              <a:gd name="csY31" fmla="*/ 1513484 h 2538269"/>
              <a:gd name="csX32" fmla="*/ 1264383 w 2700452"/>
              <a:gd name="csY32" fmla="*/ 1474496 h 2538269"/>
              <a:gd name="csX33" fmla="*/ 1265821 w 2700452"/>
              <a:gd name="csY33" fmla="*/ 1465259 h 2538269"/>
              <a:gd name="csX34" fmla="*/ 1268538 w 2700452"/>
              <a:gd name="csY34" fmla="*/ 1454676 h 2538269"/>
              <a:gd name="csX35" fmla="*/ 1289292 w 2700452"/>
              <a:gd name="csY35" fmla="*/ 1314414 h 2538269"/>
              <a:gd name="csX36" fmla="*/ 1289298 w 2700452"/>
              <a:gd name="csY36" fmla="*/ 1314375 h 2538269"/>
              <a:gd name="csX37" fmla="*/ 1294885 w 2700452"/>
              <a:gd name="csY37" fmla="*/ 1151791 h 2538269"/>
              <a:gd name="csX38" fmla="*/ 1289298 w 2700452"/>
              <a:gd name="csY38" fmla="*/ 1314373 h 2538269"/>
              <a:gd name="csX39" fmla="*/ 1289292 w 2700452"/>
              <a:gd name="csY39" fmla="*/ 1314414 h 2538269"/>
              <a:gd name="csX40" fmla="*/ 1265821 w 2700452"/>
              <a:gd name="csY40" fmla="*/ 1465259 h 2538269"/>
              <a:gd name="csX41" fmla="*/ 1253437 w 2700452"/>
              <a:gd name="csY41" fmla="*/ 1513484 h 2538269"/>
              <a:gd name="csX42" fmla="*/ 1225613 w 2700452"/>
              <a:gd name="csY42" fmla="*/ 1612579 h 2538269"/>
              <a:gd name="csX43" fmla="*/ 1205128 w 2700452"/>
              <a:gd name="csY43" fmla="*/ 1667709 h 2538269"/>
              <a:gd name="csX44" fmla="*/ 1168916 w 2700452"/>
              <a:gd name="csY44" fmla="*/ 1755016 h 2538269"/>
              <a:gd name="csX45" fmla="*/ 1141452 w 2700452"/>
              <a:gd name="csY45" fmla="*/ 1810361 h 2538269"/>
              <a:gd name="csX46" fmla="*/ 1095791 w 2700452"/>
              <a:gd name="csY46" fmla="*/ 1891348 h 2538269"/>
              <a:gd name="csX47" fmla="*/ 1062411 w 2700452"/>
              <a:gd name="csY47" fmla="*/ 1943844 h 2538269"/>
              <a:gd name="csX48" fmla="*/ 1005721 w 2700452"/>
              <a:gd name="csY48" fmla="*/ 2020789 h 2538269"/>
              <a:gd name="csX49" fmla="*/ 968295 w 2700452"/>
              <a:gd name="csY49" fmla="*/ 2067712 h 2538269"/>
              <a:gd name="csX50" fmla="*/ 895762 w 2700452"/>
              <a:gd name="csY50" fmla="*/ 2144290 h 2538269"/>
              <a:gd name="csX51" fmla="*/ 859424 w 2700452"/>
              <a:gd name="csY51" fmla="*/ 2180910 h 2538269"/>
              <a:gd name="csX52" fmla="*/ 736242 w 2700452"/>
              <a:gd name="csY52" fmla="*/ 2282065 h 2538269"/>
              <a:gd name="csX53" fmla="*/ 736165 w 2700452"/>
              <a:gd name="csY53" fmla="*/ 2282127 h 2538269"/>
              <a:gd name="csX54" fmla="*/ 682423 w 2700452"/>
              <a:gd name="csY54" fmla="*/ 2316882 h 2538269"/>
              <a:gd name="csX55" fmla="*/ 647669 w 2700452"/>
              <a:gd name="csY55" fmla="*/ 2339357 h 2538269"/>
              <a:gd name="csX56" fmla="*/ 559174 w 2700452"/>
              <a:gd name="csY56" fmla="*/ 2282128 h 2538269"/>
              <a:gd name="csX57" fmla="*/ 455 w 2700452"/>
              <a:gd name="csY57" fmla="*/ 1151791 h 2538269"/>
              <a:gd name="csX58" fmla="*/ 546 w 2700452"/>
              <a:gd name="csY58" fmla="*/ 1150571 h 2538269"/>
              <a:gd name="csX59" fmla="*/ 548 w 2700452"/>
              <a:gd name="csY59" fmla="*/ 1150572 h 2538269"/>
              <a:gd name="csX60" fmla="*/ 10229 w 2700452"/>
              <a:gd name="csY60" fmla="*/ 1021169 h 2538269"/>
              <a:gd name="csX61" fmla="*/ 118115 w 2700452"/>
              <a:gd name="csY61" fmla="*/ 636066 h 2538269"/>
              <a:gd name="csX62" fmla="*/ 121649 w 2700452"/>
              <a:gd name="csY62" fmla="*/ 629163 h 2538269"/>
              <a:gd name="csX63" fmla="*/ 111194 w 2700452"/>
              <a:gd name="csY63" fmla="*/ 662843 h 2538269"/>
              <a:gd name="csX64" fmla="*/ 100222 w 2700452"/>
              <a:gd name="csY64" fmla="*/ 771672 h 2538269"/>
              <a:gd name="csX65" fmla="*/ 531394 w 2700452"/>
              <a:gd name="csY65" fmla="*/ 1300701 h 2538269"/>
              <a:gd name="csX66" fmla="*/ 640215 w 2700452"/>
              <a:gd name="csY66" fmla="*/ 1311671 h 2538269"/>
              <a:gd name="csX67" fmla="*/ 640222 w 2700452"/>
              <a:gd name="csY67" fmla="*/ 1311672 h 2538269"/>
              <a:gd name="csX68" fmla="*/ 1283710 w 2700452"/>
              <a:gd name="csY68" fmla="*/ 1148733 h 2538269"/>
              <a:gd name="csX69" fmla="*/ 1294180 w 2700452"/>
              <a:gd name="csY69" fmla="*/ 1142374 h 2538269"/>
              <a:gd name="csX70" fmla="*/ 1294180 w 2700452"/>
              <a:gd name="csY70" fmla="*/ 1142375 h 2538269"/>
              <a:gd name="csX71" fmla="*/ 1395018 w 2700452"/>
              <a:gd name="csY71" fmla="*/ 1081113 h 2538269"/>
              <a:gd name="csX72" fmla="*/ 1983251 w 2700452"/>
              <a:gd name="csY72" fmla="*/ 99703 h 2538269"/>
              <a:gd name="csX73" fmla="*/ 1988285 w 2700452"/>
              <a:gd name="csY73" fmla="*/ 0 h 25382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Lst>
            <a:rect l="l" t="t" r="r" b="b"/>
            <a:pathLst>
              <a:path w="2700452" h="2538269">
                <a:moveTo>
                  <a:pt x="1988285" y="0"/>
                </a:moveTo>
                <a:lnTo>
                  <a:pt x="2025227" y="18911"/>
                </a:lnTo>
                <a:cubicBezTo>
                  <a:pt x="2670921" y="391702"/>
                  <a:pt x="2892153" y="1217351"/>
                  <a:pt x="2519362" y="1863044"/>
                </a:cubicBezTo>
                <a:cubicBezTo>
                  <a:pt x="2146569" y="2508738"/>
                  <a:pt x="1320922" y="2729971"/>
                  <a:pt x="675225" y="2357180"/>
                </a:cubicBezTo>
                <a:lnTo>
                  <a:pt x="647668" y="2339357"/>
                </a:lnTo>
                <a:lnTo>
                  <a:pt x="647669" y="2339357"/>
                </a:lnTo>
                <a:lnTo>
                  <a:pt x="647669" y="2339357"/>
                </a:lnTo>
                <a:lnTo>
                  <a:pt x="682423" y="2316882"/>
                </a:lnTo>
                <a:lnTo>
                  <a:pt x="736165" y="2282128"/>
                </a:lnTo>
                <a:lnTo>
                  <a:pt x="736242" y="2282065"/>
                </a:lnTo>
                <a:lnTo>
                  <a:pt x="851413" y="2188982"/>
                </a:lnTo>
                <a:lnTo>
                  <a:pt x="859424" y="2180910"/>
                </a:lnTo>
                <a:lnTo>
                  <a:pt x="866862" y="2174801"/>
                </a:lnTo>
                <a:lnTo>
                  <a:pt x="895762" y="2144290"/>
                </a:lnTo>
                <a:lnTo>
                  <a:pt x="954138" y="2085461"/>
                </a:lnTo>
                <a:lnTo>
                  <a:pt x="968295" y="2067712"/>
                </a:lnTo>
                <a:lnTo>
                  <a:pt x="981142" y="2054148"/>
                </a:lnTo>
                <a:lnTo>
                  <a:pt x="1005721" y="2020789"/>
                </a:lnTo>
                <a:lnTo>
                  <a:pt x="1044014" y="1972777"/>
                </a:lnTo>
                <a:lnTo>
                  <a:pt x="1062411" y="1943844"/>
                </a:lnTo>
                <a:lnTo>
                  <a:pt x="1078519" y="1921981"/>
                </a:lnTo>
                <a:lnTo>
                  <a:pt x="1095791" y="1891348"/>
                </a:lnTo>
                <a:lnTo>
                  <a:pt x="1120718" y="1852144"/>
                </a:lnTo>
                <a:lnTo>
                  <a:pt x="1141452" y="1810361"/>
                </a:lnTo>
                <a:lnTo>
                  <a:pt x="1158508" y="1780110"/>
                </a:lnTo>
                <a:lnTo>
                  <a:pt x="1168916" y="1755016"/>
                </a:lnTo>
                <a:lnTo>
                  <a:pt x="1183923" y="1724774"/>
                </a:lnTo>
                <a:lnTo>
                  <a:pt x="1205128" y="1667709"/>
                </a:lnTo>
                <a:lnTo>
                  <a:pt x="1220625" y="1630344"/>
                </a:lnTo>
                <a:lnTo>
                  <a:pt x="1225613" y="1612579"/>
                </a:lnTo>
                <a:lnTo>
                  <a:pt x="1233304" y="1591881"/>
                </a:lnTo>
                <a:lnTo>
                  <a:pt x="1253437" y="1513484"/>
                </a:lnTo>
                <a:lnTo>
                  <a:pt x="1264383" y="1474496"/>
                </a:lnTo>
                <a:lnTo>
                  <a:pt x="1265821" y="1465259"/>
                </a:lnTo>
                <a:lnTo>
                  <a:pt x="1268538" y="1454676"/>
                </a:lnTo>
                <a:lnTo>
                  <a:pt x="1289292" y="1314414"/>
                </a:lnTo>
                <a:lnTo>
                  <a:pt x="1289298" y="1314375"/>
                </a:lnTo>
                <a:cubicBezTo>
                  <a:pt x="1294409" y="1260490"/>
                  <a:pt x="1296298" y="1206195"/>
                  <a:pt x="1294885" y="1151791"/>
                </a:cubicBezTo>
                <a:lnTo>
                  <a:pt x="1289298" y="1314373"/>
                </a:lnTo>
                <a:lnTo>
                  <a:pt x="1289292" y="1314414"/>
                </a:lnTo>
                <a:lnTo>
                  <a:pt x="1265821" y="1465259"/>
                </a:lnTo>
                <a:lnTo>
                  <a:pt x="1253437" y="1513484"/>
                </a:lnTo>
                <a:lnTo>
                  <a:pt x="1225613" y="1612579"/>
                </a:lnTo>
                <a:lnTo>
                  <a:pt x="1205128" y="1667709"/>
                </a:lnTo>
                <a:lnTo>
                  <a:pt x="1168916" y="1755016"/>
                </a:lnTo>
                <a:lnTo>
                  <a:pt x="1141452" y="1810361"/>
                </a:lnTo>
                <a:lnTo>
                  <a:pt x="1095791" y="1891348"/>
                </a:lnTo>
                <a:lnTo>
                  <a:pt x="1062411" y="1943844"/>
                </a:lnTo>
                <a:lnTo>
                  <a:pt x="1005721" y="2020789"/>
                </a:lnTo>
                <a:lnTo>
                  <a:pt x="968295" y="2067712"/>
                </a:lnTo>
                <a:lnTo>
                  <a:pt x="895762" y="2144290"/>
                </a:lnTo>
                <a:lnTo>
                  <a:pt x="859424" y="2180910"/>
                </a:lnTo>
                <a:lnTo>
                  <a:pt x="736242" y="2282065"/>
                </a:lnTo>
                <a:lnTo>
                  <a:pt x="736165" y="2282127"/>
                </a:lnTo>
                <a:lnTo>
                  <a:pt x="682423" y="2316882"/>
                </a:lnTo>
                <a:lnTo>
                  <a:pt x="647669" y="2339357"/>
                </a:lnTo>
                <a:lnTo>
                  <a:pt x="559174" y="2282128"/>
                </a:lnTo>
                <a:cubicBezTo>
                  <a:pt x="189190" y="2015297"/>
                  <a:pt x="-10849" y="1587021"/>
                  <a:pt x="455" y="1151791"/>
                </a:cubicBezTo>
                <a:lnTo>
                  <a:pt x="546" y="1150571"/>
                </a:lnTo>
                <a:lnTo>
                  <a:pt x="548" y="1150572"/>
                </a:lnTo>
                <a:lnTo>
                  <a:pt x="10229" y="1021169"/>
                </a:lnTo>
                <a:cubicBezTo>
                  <a:pt x="26426" y="890646"/>
                  <a:pt x="62015" y="760888"/>
                  <a:pt x="118115" y="636066"/>
                </a:cubicBezTo>
                <a:lnTo>
                  <a:pt x="121649" y="629163"/>
                </a:lnTo>
                <a:lnTo>
                  <a:pt x="111194" y="662843"/>
                </a:lnTo>
                <a:cubicBezTo>
                  <a:pt x="104000" y="697995"/>
                  <a:pt x="100223" y="734392"/>
                  <a:pt x="100222" y="771672"/>
                </a:cubicBezTo>
                <a:cubicBezTo>
                  <a:pt x="100223" y="1032626"/>
                  <a:pt x="285324" y="1250349"/>
                  <a:pt x="531394" y="1300701"/>
                </a:cubicBezTo>
                <a:lnTo>
                  <a:pt x="640215" y="1311671"/>
                </a:lnTo>
                <a:lnTo>
                  <a:pt x="640222" y="1311672"/>
                </a:lnTo>
                <a:cubicBezTo>
                  <a:pt x="873215" y="1311671"/>
                  <a:pt x="1092425" y="1252647"/>
                  <a:pt x="1283710" y="1148733"/>
                </a:cubicBezTo>
                <a:lnTo>
                  <a:pt x="1294180" y="1142374"/>
                </a:lnTo>
                <a:lnTo>
                  <a:pt x="1294180" y="1142375"/>
                </a:lnTo>
                <a:lnTo>
                  <a:pt x="1395018" y="1081113"/>
                </a:lnTo>
                <a:cubicBezTo>
                  <a:pt x="1718212" y="862769"/>
                  <a:pt x="1941771" y="508148"/>
                  <a:pt x="1983251" y="99703"/>
                </a:cubicBezTo>
                <a:lnTo>
                  <a:pt x="1988285" y="0"/>
                </a:lnTo>
                <a:close/>
              </a:path>
            </a:pathLst>
          </a:custGeom>
          <a:solidFill>
            <a:srgbClr val="BF014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2400" dirty="0"/>
              <a:t>    </a:t>
            </a:r>
          </a:p>
        </p:txBody>
      </p:sp>
      <p:sp>
        <p:nvSpPr>
          <p:cNvPr id="6" name="任意多边形: 形状 5">
            <a:extLst>
              <a:ext uri="{FF2B5EF4-FFF2-40B4-BE49-F238E27FC236}">
                <a16:creationId xmlns:a16="http://schemas.microsoft.com/office/drawing/2014/main" id="{8C67D98D-D3BA-EA12-3F3D-CBC2B4636839}"/>
              </a:ext>
            </a:extLst>
          </p:cNvPr>
          <p:cNvSpPr/>
          <p:nvPr/>
        </p:nvSpPr>
        <p:spPr>
          <a:xfrm>
            <a:off x="7810885" y="2594865"/>
            <a:ext cx="2485035" cy="2700452"/>
          </a:xfrm>
          <a:custGeom>
            <a:avLst/>
            <a:gdLst>
              <a:gd name="csX0" fmla="*/ 1313973 w 2485035"/>
              <a:gd name="csY0" fmla="*/ 455 h 2700452"/>
              <a:gd name="csX1" fmla="*/ 1942292 w 2485035"/>
              <a:gd name="csY1" fmla="*/ 136830 h 2700452"/>
              <a:gd name="csX2" fmla="*/ 2052783 w 2485035"/>
              <a:gd name="csY2" fmla="*/ 197375 h 2700452"/>
              <a:gd name="csX3" fmla="*/ 2052783 w 2485035"/>
              <a:gd name="csY3" fmla="*/ 197375 h 2700452"/>
              <a:gd name="csX4" fmla="*/ 2052782 w 2485035"/>
              <a:gd name="csY4" fmla="*/ 197375 h 2700452"/>
              <a:gd name="csX5" fmla="*/ 2050741 w 2485035"/>
              <a:gd name="csY5" fmla="*/ 198494 h 2700452"/>
              <a:gd name="csX6" fmla="*/ 2049058 w 2485035"/>
              <a:gd name="csY6" fmla="*/ 199416 h 2700452"/>
              <a:gd name="csX7" fmla="*/ 1889235 w 2485035"/>
              <a:gd name="csY7" fmla="*/ 314197 h 2700452"/>
              <a:gd name="csX8" fmla="*/ 1889235 w 2485035"/>
              <a:gd name="csY8" fmla="*/ 314199 h 2700452"/>
              <a:gd name="csX9" fmla="*/ 2049057 w 2485035"/>
              <a:gd name="csY9" fmla="*/ 199417 h 2700452"/>
              <a:gd name="csX10" fmla="*/ 2050741 w 2485035"/>
              <a:gd name="csY10" fmla="*/ 198494 h 2700452"/>
              <a:gd name="csX11" fmla="*/ 2052783 w 2485035"/>
              <a:gd name="csY11" fmla="*/ 197375 h 2700452"/>
              <a:gd name="csX12" fmla="*/ 2056507 w 2485035"/>
              <a:gd name="csY12" fmla="*/ 199416 h 2700452"/>
              <a:gd name="csX13" fmla="*/ 2444309 w 2485035"/>
              <a:gd name="csY13" fmla="*/ 559174 h 2700452"/>
              <a:gd name="csX14" fmla="*/ 2485035 w 2485035"/>
              <a:gd name="csY14" fmla="*/ 622149 h 2700452"/>
              <a:gd name="csX15" fmla="*/ 2427171 w 2485035"/>
              <a:gd name="csY15" fmla="*/ 552017 h 2700452"/>
              <a:gd name="csX16" fmla="*/ 2045333 w 2485035"/>
              <a:gd name="csY16" fmla="*/ 393854 h 2700452"/>
              <a:gd name="csX17" fmla="*/ 1743414 w 2485035"/>
              <a:gd name="csY17" fmla="*/ 486077 h 2700452"/>
              <a:gd name="csX18" fmla="*/ 1673775 w 2485035"/>
              <a:gd name="csY18" fmla="*/ 543535 h 2700452"/>
              <a:gd name="csX19" fmla="*/ 1663496 w 2485035"/>
              <a:gd name="csY19" fmla="*/ 552017 h 2700452"/>
              <a:gd name="csX20" fmla="*/ 1547770 w 2485035"/>
              <a:gd name="csY20" fmla="*/ 723663 h 2700452"/>
              <a:gd name="csX21" fmla="*/ 1526760 w 2485035"/>
              <a:gd name="csY21" fmla="*/ 791346 h 2700452"/>
              <a:gd name="csX22" fmla="*/ 1523226 w 2485035"/>
              <a:gd name="csY22" fmla="*/ 798248 h 2700452"/>
              <a:gd name="csX23" fmla="*/ 1415340 w 2485035"/>
              <a:gd name="csY23" fmla="*/ 1183351 h 2700452"/>
              <a:gd name="csX24" fmla="*/ 1405659 w 2485035"/>
              <a:gd name="csY24" fmla="*/ 1312755 h 2700452"/>
              <a:gd name="csX25" fmla="*/ 1401843 w 2485035"/>
              <a:gd name="csY25" fmla="*/ 1310916 h 2700452"/>
              <a:gd name="csX26" fmla="*/ 1248091 w 2485035"/>
              <a:gd name="csY26" fmla="*/ 1211723 h 2700452"/>
              <a:gd name="csX27" fmla="*/ 1220958 w 2485035"/>
              <a:gd name="csY27" fmla="*/ 1191812 h 2700452"/>
              <a:gd name="csX28" fmla="*/ 1089481 w 2485035"/>
              <a:gd name="csY28" fmla="*/ 1075858 h 2700452"/>
              <a:gd name="csX29" fmla="*/ 1066348 w 2485035"/>
              <a:gd name="csY29" fmla="*/ 1051449 h 2700452"/>
              <a:gd name="csX30" fmla="*/ 949130 w 2485035"/>
              <a:gd name="csY30" fmla="*/ 911958 h 2700452"/>
              <a:gd name="csX31" fmla="*/ 949127 w 2485035"/>
              <a:gd name="csY31" fmla="*/ 911955 h 2700452"/>
              <a:gd name="csX32" fmla="*/ 949121 w 2485035"/>
              <a:gd name="csY32" fmla="*/ 911946 h 2700452"/>
              <a:gd name="csX33" fmla="*/ 853748 w 2485035"/>
              <a:gd name="csY33" fmla="*/ 755981 h 2700452"/>
              <a:gd name="csX34" fmla="*/ 836499 w 2485035"/>
              <a:gd name="csY34" fmla="*/ 723523 h 2700452"/>
              <a:gd name="csX35" fmla="*/ 777256 w 2485035"/>
              <a:gd name="csY35" fmla="*/ 588038 h 2700452"/>
              <a:gd name="csX36" fmla="*/ 777253 w 2485035"/>
              <a:gd name="csY36" fmla="*/ 588031 h 2700452"/>
              <a:gd name="csX37" fmla="*/ 777252 w 2485035"/>
              <a:gd name="csY37" fmla="*/ 588029 h 2700452"/>
              <a:gd name="csX38" fmla="*/ 777256 w 2485035"/>
              <a:gd name="csY38" fmla="*/ 588038 h 2700452"/>
              <a:gd name="csX39" fmla="*/ 824927 w 2485035"/>
              <a:gd name="csY39" fmla="*/ 701747 h 2700452"/>
              <a:gd name="csX40" fmla="*/ 836499 w 2485035"/>
              <a:gd name="csY40" fmla="*/ 723523 h 2700452"/>
              <a:gd name="csX41" fmla="*/ 843023 w 2485035"/>
              <a:gd name="csY41" fmla="*/ 738443 h 2700452"/>
              <a:gd name="csX42" fmla="*/ 853748 w 2485035"/>
              <a:gd name="csY42" fmla="*/ 755981 h 2700452"/>
              <a:gd name="csX43" fmla="*/ 882405 w 2485035"/>
              <a:gd name="csY43" fmla="*/ 809908 h 2700452"/>
              <a:gd name="csX44" fmla="*/ 949121 w 2485035"/>
              <a:gd name="csY44" fmla="*/ 911946 h 2700452"/>
              <a:gd name="csX45" fmla="*/ 949126 w 2485035"/>
              <a:gd name="csY45" fmla="*/ 911954 h 2700452"/>
              <a:gd name="csX46" fmla="*/ 949130 w 2485035"/>
              <a:gd name="csY46" fmla="*/ 911958 h 2700452"/>
              <a:gd name="csX47" fmla="*/ 1024536 w 2485035"/>
              <a:gd name="csY47" fmla="*/ 1007330 h 2700452"/>
              <a:gd name="csX48" fmla="*/ 1066348 w 2485035"/>
              <a:gd name="csY48" fmla="*/ 1051449 h 2700452"/>
              <a:gd name="csX49" fmla="*/ 1079356 w 2485035"/>
              <a:gd name="csY49" fmla="*/ 1066928 h 2700452"/>
              <a:gd name="csX50" fmla="*/ 1089481 w 2485035"/>
              <a:gd name="csY50" fmla="*/ 1075858 h 2700452"/>
              <a:gd name="csX51" fmla="*/ 1108071 w 2485035"/>
              <a:gd name="csY51" fmla="*/ 1095473 h 2700452"/>
              <a:gd name="csX52" fmla="*/ 1199173 w 2485035"/>
              <a:gd name="csY52" fmla="*/ 1175824 h 2700452"/>
              <a:gd name="csX53" fmla="*/ 1220958 w 2485035"/>
              <a:gd name="csY53" fmla="*/ 1191812 h 2700452"/>
              <a:gd name="csX54" fmla="*/ 1231125 w 2485035"/>
              <a:gd name="csY54" fmla="*/ 1200778 h 2700452"/>
              <a:gd name="csX55" fmla="*/ 1248091 w 2485035"/>
              <a:gd name="csY55" fmla="*/ 1211723 h 2700452"/>
              <a:gd name="csX56" fmla="*/ 1297284 w 2485035"/>
              <a:gd name="csY56" fmla="*/ 1247825 h 2700452"/>
              <a:gd name="csX57" fmla="*/ 1401844 w 2485035"/>
              <a:gd name="csY57" fmla="*/ 1310917 h 2700452"/>
              <a:gd name="csX58" fmla="*/ 1405660 w 2485035"/>
              <a:gd name="csY58" fmla="*/ 1312756 h 2700452"/>
              <a:gd name="csX59" fmla="*/ 1405569 w 2485035"/>
              <a:gd name="csY59" fmla="*/ 1313977 h 2700452"/>
              <a:gd name="csX60" fmla="*/ 1964288 w 2485035"/>
              <a:gd name="csY60" fmla="*/ 2444312 h 2700452"/>
              <a:gd name="csX61" fmla="*/ 2052782 w 2485035"/>
              <a:gd name="csY61" fmla="*/ 2501541 h 2700452"/>
              <a:gd name="csX62" fmla="*/ 2025227 w 2485035"/>
              <a:gd name="csY62" fmla="*/ 2519362 h 2700452"/>
              <a:gd name="csX63" fmla="*/ 181092 w 2485035"/>
              <a:gd name="csY63" fmla="*/ 2025227 h 2700452"/>
              <a:gd name="csX64" fmla="*/ 675227 w 2485035"/>
              <a:gd name="csY64" fmla="*/ 181093 h 2700452"/>
              <a:gd name="csX65" fmla="*/ 697643 w 2485035"/>
              <a:gd name="csY65" fmla="*/ 169616 h 2700452"/>
              <a:gd name="csX66" fmla="*/ 697644 w 2485035"/>
              <a:gd name="csY66" fmla="*/ 169614 h 2700452"/>
              <a:gd name="csX67" fmla="*/ 798248 w 2485035"/>
              <a:gd name="csY67" fmla="*/ 118112 h 2700452"/>
              <a:gd name="csX68" fmla="*/ 1313973 w 2485035"/>
              <a:gd name="csY68" fmla="*/ 455 h 2700452"/>
              <a:gd name="csX69" fmla="*/ 1885717 w 2485035"/>
              <a:gd name="csY69" fmla="*/ 317615 h 2700452"/>
              <a:gd name="csX70" fmla="*/ 1745994 w 2485035"/>
              <a:gd name="csY70" fmla="*/ 453318 h 2700452"/>
              <a:gd name="csX71" fmla="*/ 1745994 w 2485035"/>
              <a:gd name="csY71" fmla="*/ 453318 h 2700452"/>
              <a:gd name="csX72" fmla="*/ 1745993 w 2485035"/>
              <a:gd name="csY72" fmla="*/ 453319 h 2700452"/>
              <a:gd name="csX73" fmla="*/ 1730726 w 2485035"/>
              <a:gd name="csY73" fmla="*/ 472391 h 2700452"/>
              <a:gd name="csX74" fmla="*/ 1745994 w 2485035"/>
              <a:gd name="csY74" fmla="*/ 453318 h 2700452"/>
              <a:gd name="csX75" fmla="*/ 1885717 w 2485035"/>
              <a:gd name="csY75" fmla="*/ 317615 h 2700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2485035" h="2700452">
                <a:moveTo>
                  <a:pt x="1313973" y="455"/>
                </a:moveTo>
                <a:cubicBezTo>
                  <a:pt x="1531588" y="-5197"/>
                  <a:pt x="1747465" y="41986"/>
                  <a:pt x="1942292" y="136830"/>
                </a:cubicBezTo>
                <a:lnTo>
                  <a:pt x="2052783" y="197375"/>
                </a:lnTo>
                <a:lnTo>
                  <a:pt x="2052783" y="197375"/>
                </a:lnTo>
                <a:lnTo>
                  <a:pt x="2052782" y="197375"/>
                </a:lnTo>
                <a:lnTo>
                  <a:pt x="2050741" y="198494"/>
                </a:lnTo>
                <a:lnTo>
                  <a:pt x="2049058" y="199416"/>
                </a:lnTo>
                <a:cubicBezTo>
                  <a:pt x="1993367" y="233527"/>
                  <a:pt x="1939919" y="271835"/>
                  <a:pt x="1889235" y="314197"/>
                </a:cubicBezTo>
                <a:lnTo>
                  <a:pt x="1889235" y="314199"/>
                </a:lnTo>
                <a:lnTo>
                  <a:pt x="2049057" y="199417"/>
                </a:lnTo>
                <a:lnTo>
                  <a:pt x="2050741" y="198494"/>
                </a:lnTo>
                <a:lnTo>
                  <a:pt x="2052783" y="197375"/>
                </a:lnTo>
                <a:lnTo>
                  <a:pt x="2056507" y="199416"/>
                </a:lnTo>
                <a:cubicBezTo>
                  <a:pt x="2205014" y="290378"/>
                  <a:pt x="2337577" y="411180"/>
                  <a:pt x="2444309" y="559174"/>
                </a:cubicBezTo>
                <a:lnTo>
                  <a:pt x="2485035" y="622149"/>
                </a:lnTo>
                <a:lnTo>
                  <a:pt x="2427171" y="552017"/>
                </a:lnTo>
                <a:cubicBezTo>
                  <a:pt x="2329450" y="454297"/>
                  <a:pt x="2194450" y="393855"/>
                  <a:pt x="2045333" y="393854"/>
                </a:cubicBezTo>
                <a:cubicBezTo>
                  <a:pt x="1933495" y="393855"/>
                  <a:pt x="1829599" y="427854"/>
                  <a:pt x="1743414" y="486077"/>
                </a:cubicBezTo>
                <a:lnTo>
                  <a:pt x="1673775" y="543535"/>
                </a:lnTo>
                <a:lnTo>
                  <a:pt x="1663496" y="552017"/>
                </a:lnTo>
                <a:cubicBezTo>
                  <a:pt x="1614636" y="600877"/>
                  <a:pt x="1575095" y="659057"/>
                  <a:pt x="1547770" y="723663"/>
                </a:cubicBezTo>
                <a:lnTo>
                  <a:pt x="1526760" y="791346"/>
                </a:lnTo>
                <a:lnTo>
                  <a:pt x="1523226" y="798248"/>
                </a:lnTo>
                <a:cubicBezTo>
                  <a:pt x="1467126" y="923070"/>
                  <a:pt x="1431537" y="1052828"/>
                  <a:pt x="1415340" y="1183351"/>
                </a:cubicBezTo>
                <a:lnTo>
                  <a:pt x="1405659" y="1312755"/>
                </a:lnTo>
                <a:lnTo>
                  <a:pt x="1401843" y="1310916"/>
                </a:lnTo>
                <a:lnTo>
                  <a:pt x="1248091" y="1211723"/>
                </a:lnTo>
                <a:lnTo>
                  <a:pt x="1220958" y="1191812"/>
                </a:lnTo>
                <a:lnTo>
                  <a:pt x="1089481" y="1075858"/>
                </a:lnTo>
                <a:lnTo>
                  <a:pt x="1066348" y="1051449"/>
                </a:lnTo>
                <a:lnTo>
                  <a:pt x="949130" y="911958"/>
                </a:lnTo>
                <a:lnTo>
                  <a:pt x="949127" y="911955"/>
                </a:lnTo>
                <a:lnTo>
                  <a:pt x="949121" y="911946"/>
                </a:lnTo>
                <a:lnTo>
                  <a:pt x="853748" y="755981"/>
                </a:lnTo>
                <a:lnTo>
                  <a:pt x="836499" y="723523"/>
                </a:lnTo>
                <a:lnTo>
                  <a:pt x="777256" y="588038"/>
                </a:lnTo>
                <a:lnTo>
                  <a:pt x="777253" y="588031"/>
                </a:lnTo>
                <a:lnTo>
                  <a:pt x="777252" y="588029"/>
                </a:lnTo>
                <a:lnTo>
                  <a:pt x="777256" y="588038"/>
                </a:lnTo>
                <a:lnTo>
                  <a:pt x="824927" y="701747"/>
                </a:lnTo>
                <a:lnTo>
                  <a:pt x="836499" y="723523"/>
                </a:lnTo>
                <a:lnTo>
                  <a:pt x="843023" y="738443"/>
                </a:lnTo>
                <a:lnTo>
                  <a:pt x="853748" y="755981"/>
                </a:lnTo>
                <a:lnTo>
                  <a:pt x="882405" y="809908"/>
                </a:lnTo>
                <a:lnTo>
                  <a:pt x="949121" y="911946"/>
                </a:lnTo>
                <a:lnTo>
                  <a:pt x="949126" y="911954"/>
                </a:lnTo>
                <a:lnTo>
                  <a:pt x="949130" y="911958"/>
                </a:lnTo>
                <a:lnTo>
                  <a:pt x="1024536" y="1007330"/>
                </a:lnTo>
                <a:lnTo>
                  <a:pt x="1066348" y="1051449"/>
                </a:lnTo>
                <a:lnTo>
                  <a:pt x="1079356" y="1066928"/>
                </a:lnTo>
                <a:lnTo>
                  <a:pt x="1089481" y="1075858"/>
                </a:lnTo>
                <a:lnTo>
                  <a:pt x="1108071" y="1095473"/>
                </a:lnTo>
                <a:cubicBezTo>
                  <a:pt x="1137209" y="1123586"/>
                  <a:pt x="1167607" y="1150401"/>
                  <a:pt x="1199173" y="1175824"/>
                </a:cubicBezTo>
                <a:lnTo>
                  <a:pt x="1220958" y="1191812"/>
                </a:lnTo>
                <a:lnTo>
                  <a:pt x="1231125" y="1200778"/>
                </a:lnTo>
                <a:lnTo>
                  <a:pt x="1248091" y="1211723"/>
                </a:lnTo>
                <a:lnTo>
                  <a:pt x="1297284" y="1247825"/>
                </a:lnTo>
                <a:cubicBezTo>
                  <a:pt x="1331094" y="1270372"/>
                  <a:pt x="1365978" y="1291434"/>
                  <a:pt x="1401844" y="1310917"/>
                </a:cubicBezTo>
                <a:lnTo>
                  <a:pt x="1405660" y="1312756"/>
                </a:lnTo>
                <a:lnTo>
                  <a:pt x="1405569" y="1313977"/>
                </a:lnTo>
                <a:cubicBezTo>
                  <a:pt x="1394265" y="1749206"/>
                  <a:pt x="1594304" y="2177483"/>
                  <a:pt x="1964288" y="2444312"/>
                </a:cubicBezTo>
                <a:lnTo>
                  <a:pt x="2052782" y="2501541"/>
                </a:lnTo>
                <a:lnTo>
                  <a:pt x="2025227" y="2519362"/>
                </a:lnTo>
                <a:cubicBezTo>
                  <a:pt x="1379532" y="2892154"/>
                  <a:pt x="553884" y="2670922"/>
                  <a:pt x="181092" y="2025227"/>
                </a:cubicBezTo>
                <a:cubicBezTo>
                  <a:pt x="-191700" y="1379533"/>
                  <a:pt x="29531" y="553884"/>
                  <a:pt x="675227" y="181093"/>
                </a:cubicBezTo>
                <a:lnTo>
                  <a:pt x="697643" y="169616"/>
                </a:lnTo>
                <a:lnTo>
                  <a:pt x="697644" y="169614"/>
                </a:lnTo>
                <a:lnTo>
                  <a:pt x="798248" y="118112"/>
                </a:lnTo>
                <a:cubicBezTo>
                  <a:pt x="964678" y="43312"/>
                  <a:pt x="1139881" y="4976"/>
                  <a:pt x="1313973" y="455"/>
                </a:cubicBezTo>
                <a:close/>
                <a:moveTo>
                  <a:pt x="1885717" y="317615"/>
                </a:moveTo>
                <a:lnTo>
                  <a:pt x="1745994" y="453318"/>
                </a:lnTo>
                <a:lnTo>
                  <a:pt x="1745994" y="453318"/>
                </a:lnTo>
                <a:lnTo>
                  <a:pt x="1745993" y="453319"/>
                </a:lnTo>
                <a:lnTo>
                  <a:pt x="1730726" y="472391"/>
                </a:lnTo>
                <a:lnTo>
                  <a:pt x="1745994" y="453318"/>
                </a:lnTo>
                <a:lnTo>
                  <a:pt x="1885717" y="317615"/>
                </a:lnTo>
                <a:close/>
              </a:path>
            </a:pathLst>
          </a:custGeom>
          <a:solidFill>
            <a:srgbClr val="0D8BB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sz="2400" dirty="0"/>
          </a:p>
        </p:txBody>
      </p:sp>
      <p:sp>
        <p:nvSpPr>
          <p:cNvPr id="7" name="文本框 6">
            <a:extLst>
              <a:ext uri="{FF2B5EF4-FFF2-40B4-BE49-F238E27FC236}">
                <a16:creationId xmlns:a16="http://schemas.microsoft.com/office/drawing/2014/main" id="{54264CAE-47D4-2B15-87F0-BC4632D3AE7F}"/>
              </a:ext>
            </a:extLst>
          </p:cNvPr>
          <p:cNvSpPr txBox="1"/>
          <p:nvPr/>
        </p:nvSpPr>
        <p:spPr>
          <a:xfrm>
            <a:off x="8208947" y="4085808"/>
            <a:ext cx="1107996" cy="461665"/>
          </a:xfrm>
          <a:prstGeom prst="rect">
            <a:avLst/>
          </a:prstGeom>
          <a:noFill/>
        </p:spPr>
        <p:txBody>
          <a:bodyPr wrap="none" rtlCol="0">
            <a:spAutoFit/>
          </a:bodyPr>
          <a:lstStyle/>
          <a:p>
            <a:pPr algn="ctr"/>
            <a:r>
              <a:rPr lang="zh-CN" altLang="en-US" sz="2400" dirty="0">
                <a:solidFill>
                  <a:schemeClr val="bg1"/>
                </a:solidFill>
              </a:rPr>
              <a:t>项目型</a:t>
            </a:r>
            <a:endParaRPr lang="en-US" altLang="zh-CN" sz="2400" dirty="0">
              <a:solidFill>
                <a:schemeClr val="bg1"/>
              </a:solidFill>
            </a:endParaRPr>
          </a:p>
        </p:txBody>
      </p:sp>
      <p:sp>
        <p:nvSpPr>
          <p:cNvPr id="8" name="文本框 7">
            <a:extLst>
              <a:ext uri="{FF2B5EF4-FFF2-40B4-BE49-F238E27FC236}">
                <a16:creationId xmlns:a16="http://schemas.microsoft.com/office/drawing/2014/main" id="{7E393289-AAAE-F549-5079-570BDF46B5CD}"/>
              </a:ext>
            </a:extLst>
          </p:cNvPr>
          <p:cNvSpPr txBox="1"/>
          <p:nvPr/>
        </p:nvSpPr>
        <p:spPr>
          <a:xfrm>
            <a:off x="10453290" y="4085808"/>
            <a:ext cx="1107996" cy="461665"/>
          </a:xfrm>
          <a:prstGeom prst="rect">
            <a:avLst/>
          </a:prstGeom>
          <a:noFill/>
        </p:spPr>
        <p:txBody>
          <a:bodyPr wrap="none" rtlCol="0">
            <a:spAutoFit/>
          </a:bodyPr>
          <a:lstStyle/>
          <a:p>
            <a:pPr algn="ctr"/>
            <a:r>
              <a:rPr lang="zh-CN" altLang="en-US" sz="2400" dirty="0">
                <a:solidFill>
                  <a:schemeClr val="bg1"/>
                </a:solidFill>
              </a:rPr>
              <a:t>矩阵型</a:t>
            </a:r>
          </a:p>
        </p:txBody>
      </p:sp>
      <p:sp>
        <p:nvSpPr>
          <p:cNvPr id="11" name="文本框 10">
            <a:extLst>
              <a:ext uri="{FF2B5EF4-FFF2-40B4-BE49-F238E27FC236}">
                <a16:creationId xmlns:a16="http://schemas.microsoft.com/office/drawing/2014/main" id="{29126FBF-7DA1-898A-6BDD-AB0D3679E2CC}"/>
              </a:ext>
            </a:extLst>
          </p:cNvPr>
          <p:cNvSpPr txBox="1"/>
          <p:nvPr/>
        </p:nvSpPr>
        <p:spPr>
          <a:xfrm>
            <a:off x="9389264" y="2100909"/>
            <a:ext cx="1107996" cy="461665"/>
          </a:xfrm>
          <a:prstGeom prst="rect">
            <a:avLst/>
          </a:prstGeom>
          <a:noFill/>
        </p:spPr>
        <p:txBody>
          <a:bodyPr wrap="none" rtlCol="0">
            <a:spAutoFit/>
          </a:bodyPr>
          <a:lstStyle/>
          <a:p>
            <a:pPr algn="ctr"/>
            <a:r>
              <a:rPr lang="zh-CN" altLang="en-US" sz="2400" dirty="0">
                <a:solidFill>
                  <a:schemeClr val="bg1"/>
                </a:solidFill>
              </a:rPr>
              <a:t>职能型</a:t>
            </a:r>
            <a:endParaRPr lang="en-US" altLang="zh-CN" sz="2400" dirty="0">
              <a:solidFill>
                <a:schemeClr val="bg1"/>
              </a:solidFill>
            </a:endParaRPr>
          </a:p>
        </p:txBody>
      </p:sp>
      <p:sp>
        <p:nvSpPr>
          <p:cNvPr id="12" name="椭圆 11">
            <a:extLst>
              <a:ext uri="{FF2B5EF4-FFF2-40B4-BE49-F238E27FC236}">
                <a16:creationId xmlns:a16="http://schemas.microsoft.com/office/drawing/2014/main" id="{EA7F9B4F-FB60-7675-EB0E-BD33DF191201}"/>
              </a:ext>
            </a:extLst>
          </p:cNvPr>
          <p:cNvSpPr/>
          <p:nvPr/>
        </p:nvSpPr>
        <p:spPr>
          <a:xfrm>
            <a:off x="9315417" y="2989181"/>
            <a:ext cx="1080000" cy="1080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grpSp>
        <p:nvGrpSpPr>
          <p:cNvPr id="17" name="组合 16">
            <a:extLst>
              <a:ext uri="{FF2B5EF4-FFF2-40B4-BE49-F238E27FC236}">
                <a16:creationId xmlns:a16="http://schemas.microsoft.com/office/drawing/2014/main" id="{0388BF55-9B57-FC62-EA65-C1AF4CA0BAAF}"/>
              </a:ext>
            </a:extLst>
          </p:cNvPr>
          <p:cNvGrpSpPr/>
          <p:nvPr/>
        </p:nvGrpSpPr>
        <p:grpSpPr>
          <a:xfrm>
            <a:off x="2875057" y="2709000"/>
            <a:ext cx="2880000" cy="2880000"/>
            <a:chOff x="2875057" y="2709000"/>
            <a:chExt cx="2880000" cy="2880000"/>
          </a:xfrm>
        </p:grpSpPr>
        <p:sp>
          <p:nvSpPr>
            <p:cNvPr id="15" name="椭圆 14">
              <a:extLst>
                <a:ext uri="{FF2B5EF4-FFF2-40B4-BE49-F238E27FC236}">
                  <a16:creationId xmlns:a16="http://schemas.microsoft.com/office/drawing/2014/main" id="{48371A17-7D7E-8785-4E40-A709849FB716}"/>
                </a:ext>
              </a:extLst>
            </p:cNvPr>
            <p:cNvSpPr/>
            <p:nvPr/>
          </p:nvSpPr>
          <p:spPr>
            <a:xfrm>
              <a:off x="2875057" y="2709000"/>
              <a:ext cx="2880000" cy="2880000"/>
            </a:xfrm>
            <a:prstGeom prst="ellipse">
              <a:avLst/>
            </a:prstGeom>
            <a:solidFill>
              <a:srgbClr val="5FB7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16" name="椭圆 15">
              <a:extLst>
                <a:ext uri="{FF2B5EF4-FFF2-40B4-BE49-F238E27FC236}">
                  <a16:creationId xmlns:a16="http://schemas.microsoft.com/office/drawing/2014/main" id="{76193CAF-CBA7-E880-9190-51646FD8E80A}"/>
                </a:ext>
              </a:extLst>
            </p:cNvPr>
            <p:cNvSpPr/>
            <p:nvPr/>
          </p:nvSpPr>
          <p:spPr>
            <a:xfrm>
              <a:off x="3595057" y="4149000"/>
              <a:ext cx="1440000" cy="1440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grpSp>
      <p:grpSp>
        <p:nvGrpSpPr>
          <p:cNvPr id="19" name="组合 18">
            <a:extLst>
              <a:ext uri="{FF2B5EF4-FFF2-40B4-BE49-F238E27FC236}">
                <a16:creationId xmlns:a16="http://schemas.microsoft.com/office/drawing/2014/main" id="{07FD2CDA-A0E4-649E-7628-595907FDBA63}"/>
              </a:ext>
            </a:extLst>
          </p:cNvPr>
          <p:cNvGrpSpPr/>
          <p:nvPr/>
        </p:nvGrpSpPr>
        <p:grpSpPr>
          <a:xfrm>
            <a:off x="456080" y="2586182"/>
            <a:ext cx="2880000" cy="2880000"/>
            <a:chOff x="456080" y="2586182"/>
            <a:chExt cx="2880000" cy="2880000"/>
          </a:xfrm>
        </p:grpSpPr>
        <p:sp>
          <p:nvSpPr>
            <p:cNvPr id="14" name="椭圆 13">
              <a:extLst>
                <a:ext uri="{FF2B5EF4-FFF2-40B4-BE49-F238E27FC236}">
                  <a16:creationId xmlns:a16="http://schemas.microsoft.com/office/drawing/2014/main" id="{94C4A880-DF3A-107A-2D3A-3CAD87652059}"/>
                </a:ext>
              </a:extLst>
            </p:cNvPr>
            <p:cNvSpPr/>
            <p:nvPr/>
          </p:nvSpPr>
          <p:spPr>
            <a:xfrm>
              <a:off x="456080" y="2586182"/>
              <a:ext cx="2880000" cy="2880000"/>
            </a:xfrm>
            <a:prstGeom prst="ellipse">
              <a:avLst/>
            </a:prstGeom>
            <a:solidFill>
              <a:srgbClr val="FE86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18" name="椭圆 17">
              <a:extLst>
                <a:ext uri="{FF2B5EF4-FFF2-40B4-BE49-F238E27FC236}">
                  <a16:creationId xmlns:a16="http://schemas.microsoft.com/office/drawing/2014/main" id="{82F105AB-156B-16FB-AE2C-83AA783CEF33}"/>
                </a:ext>
              </a:extLst>
            </p:cNvPr>
            <p:cNvSpPr/>
            <p:nvPr/>
          </p:nvSpPr>
          <p:spPr>
            <a:xfrm>
              <a:off x="1176080" y="4026182"/>
              <a:ext cx="1440000" cy="1440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grpSp>
      <p:grpSp>
        <p:nvGrpSpPr>
          <p:cNvPr id="21" name="组合 20">
            <a:extLst>
              <a:ext uri="{FF2B5EF4-FFF2-40B4-BE49-F238E27FC236}">
                <a16:creationId xmlns:a16="http://schemas.microsoft.com/office/drawing/2014/main" id="{8F6D40AD-FB34-CDB7-F773-995DB8C0E0F3}"/>
              </a:ext>
            </a:extLst>
          </p:cNvPr>
          <p:cNvGrpSpPr/>
          <p:nvPr/>
        </p:nvGrpSpPr>
        <p:grpSpPr>
          <a:xfrm>
            <a:off x="1896080" y="1278720"/>
            <a:ext cx="2880000" cy="2880000"/>
            <a:chOff x="1896080" y="1278720"/>
            <a:chExt cx="2880000" cy="2880000"/>
          </a:xfrm>
        </p:grpSpPr>
        <p:sp>
          <p:nvSpPr>
            <p:cNvPr id="13" name="椭圆 12">
              <a:extLst>
                <a:ext uri="{FF2B5EF4-FFF2-40B4-BE49-F238E27FC236}">
                  <a16:creationId xmlns:a16="http://schemas.microsoft.com/office/drawing/2014/main" id="{025D9A16-2E44-D767-3598-EE0ED861B2FA}"/>
                </a:ext>
              </a:extLst>
            </p:cNvPr>
            <p:cNvSpPr/>
            <p:nvPr/>
          </p:nvSpPr>
          <p:spPr>
            <a:xfrm>
              <a:off x="1896080" y="1278720"/>
              <a:ext cx="2880000" cy="2880000"/>
            </a:xfrm>
            <a:prstGeom prst="ellipse">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20" name="椭圆 19">
              <a:extLst>
                <a:ext uri="{FF2B5EF4-FFF2-40B4-BE49-F238E27FC236}">
                  <a16:creationId xmlns:a16="http://schemas.microsoft.com/office/drawing/2014/main" id="{14183AFC-DDE1-558F-8B67-7812288E3079}"/>
                </a:ext>
              </a:extLst>
            </p:cNvPr>
            <p:cNvSpPr/>
            <p:nvPr/>
          </p:nvSpPr>
          <p:spPr>
            <a:xfrm>
              <a:off x="2616080" y="2718720"/>
              <a:ext cx="1440000" cy="1440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grpSp>
    </p:spTree>
    <p:extLst>
      <p:ext uri="{BB962C8B-B14F-4D97-AF65-F5344CB8AC3E}">
        <p14:creationId xmlns:p14="http://schemas.microsoft.com/office/powerpoint/2010/main" val="1201169266"/>
      </p:ext>
    </p:extLst>
  </p:cSld>
  <p:clrMapOvr>
    <a:masterClrMapping/>
  </p:clrMapOvr>
</p:sld>
</file>

<file path=ppt/slides/slide4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7ACA5A02-D3D0-9288-4D3F-1E3D0A3115F4}"/>
              </a:ext>
            </a:extLst>
          </p:cNvPr>
          <p:cNvSpPr>
            <a:spLocks noGrp="1"/>
          </p:cNvSpPr>
          <p:nvPr>
            <p:ph type="title"/>
          </p:nvPr>
        </p:nvSpPr>
        <p:spPr>
          <a:xfrm>
            <a:off x="792000" y="360000"/>
            <a:ext cx="6375921" cy="429413"/>
          </a:xfrm>
        </p:spPr>
        <p:txBody>
          <a:bodyPr>
            <a:normAutofit/>
          </a:bodyPr>
          <a:lstStyle/>
          <a:p>
            <a:r>
              <a:rPr lang="zh-CN" altLang="en-US"/>
              <a:t>合同类型 </a:t>
            </a:r>
            <a:r>
              <a:rPr lang="en-US" altLang="zh-CN"/>
              <a:t>- </a:t>
            </a:r>
            <a:r>
              <a:rPr lang="zh-CN" altLang="zh-CN"/>
              <a:t>总价合同</a:t>
            </a:r>
            <a:endParaRPr lang="zh-CN" altLang="en-US"/>
          </a:p>
        </p:txBody>
      </p:sp>
      <p:sp>
        <p:nvSpPr>
          <p:cNvPr id="3" name="内容占位符 2">
            <a:extLst>
              <a:ext uri="{FF2B5EF4-FFF2-40B4-BE49-F238E27FC236}">
                <a16:creationId xmlns:a16="http://schemas.microsoft.com/office/drawing/2014/main" id="{E540BA42-101F-0F9B-842F-C9FB35A45283}"/>
              </a:ext>
            </a:extLst>
          </p:cNvPr>
          <p:cNvSpPr>
            <a:spLocks noGrp="1"/>
          </p:cNvSpPr>
          <p:nvPr>
            <p:ph idx="1"/>
          </p:nvPr>
        </p:nvSpPr>
        <p:spPr>
          <a:xfrm>
            <a:off x="696000" y="864000"/>
            <a:ext cx="10800000" cy="5400000"/>
          </a:xfrm>
        </p:spPr>
        <p:txBody>
          <a:bodyPr/>
          <a:lstStyle/>
          <a:p>
            <a:r>
              <a:rPr lang="en-US" altLang="zh-CN"/>
              <a:t>Fixed Price</a:t>
            </a:r>
          </a:p>
          <a:p>
            <a:r>
              <a:rPr lang="zh-CN" altLang="zh-CN"/>
              <a:t>总价合同为既定产品、服务或成果的采购设定一个总价</a:t>
            </a:r>
            <a:endParaRPr lang="en-US" altLang="zh-CN"/>
          </a:p>
          <a:p>
            <a:r>
              <a:rPr lang="zh-CN" altLang="en-US"/>
              <a:t>预算固定、成本可控</a:t>
            </a:r>
            <a:endParaRPr lang="en-US" altLang="zh-CN"/>
          </a:p>
          <a:p>
            <a:r>
              <a:rPr lang="zh-CN" altLang="en-US"/>
              <a:t>适用：需求明确，且不会出现重大范围变更。</a:t>
            </a:r>
          </a:p>
          <a:p>
            <a:endParaRPr lang="zh-CN" altLang="en-US"/>
          </a:p>
        </p:txBody>
      </p:sp>
      <p:sp>
        <p:nvSpPr>
          <p:cNvPr id="10" name="文本占位符 9">
            <a:extLst>
              <a:ext uri="{FF2B5EF4-FFF2-40B4-BE49-F238E27FC236}">
                <a16:creationId xmlns:a16="http://schemas.microsoft.com/office/drawing/2014/main" id="{4481E9A3-6640-67FB-4AE7-CF4DCB7775FE}"/>
              </a:ext>
            </a:extLst>
          </p:cNvPr>
          <p:cNvSpPr>
            <a:spLocks noGrp="1"/>
          </p:cNvSpPr>
          <p:nvPr>
            <p:ph type="body" sz="quarter" idx="10"/>
          </p:nvPr>
        </p:nvSpPr>
        <p:spPr>
          <a:xfrm>
            <a:off x="7071919" y="448519"/>
            <a:ext cx="4424080" cy="338554"/>
          </a:xfrm>
        </p:spPr>
        <p:txBody>
          <a:bodyPr/>
          <a:lstStyle/>
          <a:p>
            <a:r>
              <a:rPr lang="en-US" altLang="zh-CN"/>
              <a:t>Contract</a:t>
            </a:r>
            <a:endParaRPr lang="zh-CN" altLang="en-US"/>
          </a:p>
        </p:txBody>
      </p:sp>
    </p:spTree>
    <p:extLst>
      <p:ext uri="{BB962C8B-B14F-4D97-AF65-F5344CB8AC3E}">
        <p14:creationId xmlns:p14="http://schemas.microsoft.com/office/powerpoint/2010/main" val="677469773"/>
      </p:ext>
    </p:extLst>
  </p:cSld>
  <p:clrMapOvr>
    <a:masterClrMapping/>
  </p:clrMapOvr>
</p:sld>
</file>

<file path=ppt/slides/slide4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03940D74-7173-CF68-1783-21AD36EA6DE2}"/>
              </a:ext>
            </a:extLst>
          </p:cNvPr>
          <p:cNvSpPr>
            <a:spLocks noGrp="1"/>
          </p:cNvSpPr>
          <p:nvPr>
            <p:ph type="title"/>
          </p:nvPr>
        </p:nvSpPr>
        <p:spPr>
          <a:xfrm>
            <a:off x="792000" y="360000"/>
            <a:ext cx="6375921" cy="429413"/>
          </a:xfrm>
        </p:spPr>
        <p:txBody>
          <a:bodyPr>
            <a:normAutofit/>
          </a:bodyPr>
          <a:lstStyle/>
          <a:p>
            <a:r>
              <a:rPr lang="zh-CN" altLang="en-US"/>
              <a:t>合同类型 </a:t>
            </a:r>
            <a:r>
              <a:rPr lang="en-US" altLang="zh-CN"/>
              <a:t>- </a:t>
            </a:r>
            <a:r>
              <a:rPr lang="zh-CN" altLang="en-US"/>
              <a:t>成本补偿合同</a:t>
            </a:r>
          </a:p>
        </p:txBody>
      </p:sp>
      <p:sp>
        <p:nvSpPr>
          <p:cNvPr id="3" name="内容占位符 2">
            <a:extLst>
              <a:ext uri="{FF2B5EF4-FFF2-40B4-BE49-F238E27FC236}">
                <a16:creationId xmlns:a16="http://schemas.microsoft.com/office/drawing/2014/main" id="{EFA53254-CB8C-AD50-AEE5-C8B49EBB66C8}"/>
              </a:ext>
            </a:extLst>
          </p:cNvPr>
          <p:cNvSpPr>
            <a:spLocks noGrp="1"/>
          </p:cNvSpPr>
          <p:nvPr>
            <p:ph idx="1"/>
          </p:nvPr>
        </p:nvSpPr>
        <p:spPr>
          <a:xfrm>
            <a:off x="696000" y="864000"/>
            <a:ext cx="10800000" cy="5400000"/>
          </a:xfrm>
        </p:spPr>
        <p:txBody>
          <a:bodyPr/>
          <a:lstStyle/>
          <a:p>
            <a:r>
              <a:rPr lang="en-US" altLang="zh-CN"/>
              <a:t>Cost Reimbursable</a:t>
            </a:r>
          </a:p>
          <a:p>
            <a:r>
              <a:rPr lang="zh-CN" altLang="zh-CN"/>
              <a:t>向卖方支付为完成工作而发生的全部合法实际成本，外加一笔费用作为卖方的利润。</a:t>
            </a:r>
            <a:endParaRPr lang="en-US" altLang="zh-CN"/>
          </a:p>
          <a:p>
            <a:r>
              <a:rPr lang="zh-CN" altLang="en-US"/>
              <a:t>组成：实际成本</a:t>
            </a:r>
            <a:r>
              <a:rPr lang="en-US" altLang="zh-CN"/>
              <a:t>+</a:t>
            </a:r>
            <a:r>
              <a:rPr lang="zh-CN" altLang="en-US"/>
              <a:t>酬金</a:t>
            </a:r>
            <a:r>
              <a:rPr lang="en-US" altLang="zh-CN"/>
              <a:t>/</a:t>
            </a:r>
            <a:r>
              <a:rPr lang="zh-CN" altLang="en-US"/>
              <a:t>利润</a:t>
            </a:r>
            <a:endParaRPr lang="en-US" altLang="zh-CN"/>
          </a:p>
          <a:p>
            <a:r>
              <a:rPr lang="zh-CN" altLang="zh-CN"/>
              <a:t>适用：工作范围预计会在合同执行期间发生重大变更</a:t>
            </a:r>
            <a:endParaRPr lang="zh-CN" altLang="en-US"/>
          </a:p>
          <a:p>
            <a:endParaRPr lang="zh-CN" altLang="en-US"/>
          </a:p>
        </p:txBody>
      </p:sp>
      <p:sp>
        <p:nvSpPr>
          <p:cNvPr id="10" name="文本占位符 9">
            <a:extLst>
              <a:ext uri="{FF2B5EF4-FFF2-40B4-BE49-F238E27FC236}">
                <a16:creationId xmlns:a16="http://schemas.microsoft.com/office/drawing/2014/main" id="{B3AF4AE6-D4C2-F31C-67F2-D143A8E4158B}"/>
              </a:ext>
            </a:extLst>
          </p:cNvPr>
          <p:cNvSpPr>
            <a:spLocks noGrp="1"/>
          </p:cNvSpPr>
          <p:nvPr>
            <p:ph type="body" sz="quarter" idx="10"/>
          </p:nvPr>
        </p:nvSpPr>
        <p:spPr>
          <a:xfrm>
            <a:off x="7071919" y="448519"/>
            <a:ext cx="4424080" cy="338554"/>
          </a:xfrm>
        </p:spPr>
        <p:txBody>
          <a:bodyPr/>
          <a:lstStyle/>
          <a:p>
            <a:r>
              <a:rPr lang="en-US" altLang="zh-CN"/>
              <a:t>Contract</a:t>
            </a:r>
            <a:endParaRPr lang="zh-CN" altLang="en-US"/>
          </a:p>
        </p:txBody>
      </p:sp>
    </p:spTree>
    <p:extLst>
      <p:ext uri="{BB962C8B-B14F-4D97-AF65-F5344CB8AC3E}">
        <p14:creationId xmlns:p14="http://schemas.microsoft.com/office/powerpoint/2010/main" val="925197643"/>
      </p:ext>
    </p:extLst>
  </p:cSld>
  <p:clrMapOvr>
    <a:masterClrMapping/>
  </p:clrMapOvr>
</p:sld>
</file>

<file path=ppt/slides/slide4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F4F80-2816-F9B5-3291-77E7EE5C40BE}"/>
            </a:ext>
          </a:extLst>
        </p:cNvPr>
        <p:cNvGrpSpPr/>
        <p:nvPr/>
      </p:nvGrpSpPr>
      <p:grpSpPr>
        <a:xfrm>
          <a:off x="0" y="0"/>
          <a:ext cx="0" cy="0"/>
          <a:chOff x="0" y="0"/>
          <a:chExt cx="0" cy="0"/>
        </a:xfrm>
      </p:grpSpPr>
      <p:sp>
        <p:nvSpPr>
          <p:cNvPr id="6" name="标题 5">
            <a:extLst>
              <a:ext uri="{FF2B5EF4-FFF2-40B4-BE49-F238E27FC236}">
                <a16:creationId xmlns:a16="http://schemas.microsoft.com/office/drawing/2014/main" id="{4047BE50-A982-92BA-2E62-DC4782CAAD77}"/>
              </a:ext>
            </a:extLst>
          </p:cNvPr>
          <p:cNvSpPr>
            <a:spLocks noGrp="1"/>
          </p:cNvSpPr>
          <p:nvPr>
            <p:ph type="title"/>
          </p:nvPr>
        </p:nvSpPr>
        <p:spPr>
          <a:xfrm>
            <a:off x="792000" y="360000"/>
            <a:ext cx="6375921" cy="429413"/>
          </a:xfrm>
        </p:spPr>
        <p:txBody>
          <a:bodyPr>
            <a:normAutofit/>
          </a:bodyPr>
          <a:lstStyle/>
          <a:p>
            <a:r>
              <a:rPr lang="zh-CN" altLang="en-US"/>
              <a:t>合同类型 </a:t>
            </a:r>
            <a:r>
              <a:rPr lang="en-US" altLang="zh-CN"/>
              <a:t>- </a:t>
            </a:r>
            <a:r>
              <a:rPr lang="zh-CN" altLang="zh-CN"/>
              <a:t>工料合同</a:t>
            </a:r>
            <a:r>
              <a:rPr lang="en-US" altLang="zh-CN"/>
              <a:t> T&amp;M</a:t>
            </a:r>
            <a:endParaRPr lang="zh-CN" altLang="en-US"/>
          </a:p>
        </p:txBody>
      </p:sp>
      <p:sp>
        <p:nvSpPr>
          <p:cNvPr id="3" name="内容占位符 2">
            <a:extLst>
              <a:ext uri="{FF2B5EF4-FFF2-40B4-BE49-F238E27FC236}">
                <a16:creationId xmlns:a16="http://schemas.microsoft.com/office/drawing/2014/main" id="{1297FCE9-58FE-B161-9BF7-90ED1863167D}"/>
              </a:ext>
            </a:extLst>
          </p:cNvPr>
          <p:cNvSpPr>
            <a:spLocks noGrp="1"/>
          </p:cNvSpPr>
          <p:nvPr>
            <p:ph idx="1"/>
          </p:nvPr>
        </p:nvSpPr>
        <p:spPr>
          <a:xfrm>
            <a:off x="696000" y="864000"/>
            <a:ext cx="10800000" cy="5400000"/>
          </a:xfrm>
        </p:spPr>
        <p:txBody>
          <a:bodyPr/>
          <a:lstStyle/>
          <a:p>
            <a:r>
              <a:rPr lang="en-US" altLang="zh-CN"/>
              <a:t>Time &amp; Material</a:t>
            </a:r>
            <a:r>
              <a:rPr lang="zh-CN" altLang="en-US"/>
              <a:t>，</a:t>
            </a:r>
            <a:r>
              <a:rPr lang="en-US" altLang="zh-CN"/>
              <a:t>T&amp;M</a:t>
            </a:r>
          </a:p>
          <a:p>
            <a:r>
              <a:rPr lang="zh-CN" altLang="en-US"/>
              <a:t>兼具：成本补偿合同和总价合同的特点</a:t>
            </a:r>
            <a:endParaRPr lang="en-US" altLang="zh-CN"/>
          </a:p>
          <a:p>
            <a:r>
              <a:rPr lang="zh-CN" altLang="en-US"/>
              <a:t>组成：实际成本</a:t>
            </a:r>
            <a:r>
              <a:rPr lang="en-US" altLang="zh-CN"/>
              <a:t>+</a:t>
            </a:r>
            <a:r>
              <a:rPr lang="zh-CN" altLang="en-US"/>
              <a:t>管理</a:t>
            </a:r>
            <a:endParaRPr lang="en-US" altLang="zh-CN"/>
          </a:p>
          <a:p>
            <a:r>
              <a:rPr lang="zh-CN" altLang="zh-CN"/>
              <a:t>必须为每一个单位的工作量付出一定的报酬</a:t>
            </a:r>
            <a:endParaRPr lang="en-US" altLang="zh-CN"/>
          </a:p>
          <a:p>
            <a:r>
              <a:rPr lang="zh-CN" altLang="en-US"/>
              <a:t>适用范围：宽</a:t>
            </a:r>
            <a:endParaRPr lang="en-US" altLang="zh-CN"/>
          </a:p>
          <a:p>
            <a:endParaRPr lang="en-US" altLang="zh-CN"/>
          </a:p>
        </p:txBody>
      </p:sp>
      <p:sp>
        <p:nvSpPr>
          <p:cNvPr id="10" name="文本占位符 9">
            <a:extLst>
              <a:ext uri="{FF2B5EF4-FFF2-40B4-BE49-F238E27FC236}">
                <a16:creationId xmlns:a16="http://schemas.microsoft.com/office/drawing/2014/main" id="{D2BE1C04-C2F3-1328-997C-90C2FD04D7B7}"/>
              </a:ext>
            </a:extLst>
          </p:cNvPr>
          <p:cNvSpPr>
            <a:spLocks noGrp="1"/>
          </p:cNvSpPr>
          <p:nvPr>
            <p:ph type="body" sz="quarter" idx="10"/>
          </p:nvPr>
        </p:nvSpPr>
        <p:spPr>
          <a:xfrm>
            <a:off x="7071919" y="448519"/>
            <a:ext cx="4424080" cy="338554"/>
          </a:xfrm>
        </p:spPr>
        <p:txBody>
          <a:bodyPr/>
          <a:lstStyle/>
          <a:p>
            <a:r>
              <a:rPr lang="en-US" altLang="zh-CN"/>
              <a:t>Contract</a:t>
            </a:r>
            <a:endParaRPr lang="zh-CN" altLang="en-US"/>
          </a:p>
        </p:txBody>
      </p:sp>
      <p:graphicFrame>
        <p:nvGraphicFramePr>
          <p:cNvPr id="2" name="表格 1">
            <a:extLst>
              <a:ext uri="{FF2B5EF4-FFF2-40B4-BE49-F238E27FC236}">
                <a16:creationId xmlns:a16="http://schemas.microsoft.com/office/drawing/2014/main" id="{F423D624-3B3A-A01B-66EC-D327A1FD85EA}"/>
              </a:ext>
            </a:extLst>
          </p:cNvPr>
          <p:cNvGraphicFramePr>
            <a:graphicFrameLocks noGrp="1"/>
          </p:cNvGraphicFramePr>
          <p:nvPr>
            <p:extLst>
              <p:ext uri="{D42A27DB-BD31-4B8C-83A1-F6EECF244321}">
                <p14:modId xmlns:p14="http://schemas.microsoft.com/office/powerpoint/2010/main" val="475087466"/>
              </p:ext>
            </p:extLst>
          </p:nvPr>
        </p:nvGraphicFramePr>
        <p:xfrm>
          <a:off x="695325" y="3265920"/>
          <a:ext cx="10801350" cy="2164080"/>
        </p:xfrm>
        <a:graphic>
          <a:graphicData uri="http://schemas.openxmlformats.org/drawingml/2006/table">
            <a:tbl>
              <a:tblPr/>
              <a:tblGrid>
                <a:gridCol w="3600450">
                  <a:extLst>
                    <a:ext uri="{9D8B030D-6E8A-4147-A177-3AD203B41FA5}">
                      <a16:colId xmlns:a16="http://schemas.microsoft.com/office/drawing/2014/main" val="614271366"/>
                    </a:ext>
                  </a:extLst>
                </a:gridCol>
                <a:gridCol w="3600450">
                  <a:extLst>
                    <a:ext uri="{9D8B030D-6E8A-4147-A177-3AD203B41FA5}">
                      <a16:colId xmlns:a16="http://schemas.microsoft.com/office/drawing/2014/main" val="1158038926"/>
                    </a:ext>
                  </a:extLst>
                </a:gridCol>
                <a:gridCol w="3600450">
                  <a:extLst>
                    <a:ext uri="{9D8B030D-6E8A-4147-A177-3AD203B41FA5}">
                      <a16:colId xmlns:a16="http://schemas.microsoft.com/office/drawing/2014/main" val="2296356246"/>
                    </a:ext>
                  </a:extLst>
                </a:gridCol>
              </a:tblGrid>
              <a:tr h="0">
                <a:tc>
                  <a:txBody>
                    <a:bodyPr/>
                    <a:lstStyle/>
                    <a:p>
                      <a:pPr>
                        <a:buNone/>
                      </a:pPr>
                      <a:r>
                        <a:rPr lang="zh-CN" altLang="en-US" sz="1600" dirty="0">
                          <a:solidFill>
                            <a:schemeClr val="bg1"/>
                          </a:solidFill>
                        </a:rPr>
                        <a:t>合同类型</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tc>
                  <a:txBody>
                    <a:bodyPr/>
                    <a:lstStyle/>
                    <a:p>
                      <a:pPr>
                        <a:buNone/>
                      </a:pPr>
                      <a:r>
                        <a:rPr lang="zh-CN" altLang="en-US" sz="1600" dirty="0">
                          <a:solidFill>
                            <a:schemeClr val="bg1"/>
                          </a:solidFill>
                        </a:rPr>
                        <a:t>特点</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tc>
                  <a:txBody>
                    <a:bodyPr/>
                    <a:lstStyle/>
                    <a:p>
                      <a:pPr>
                        <a:buNone/>
                      </a:pPr>
                      <a:r>
                        <a:rPr lang="zh-CN" altLang="en-US" sz="1600" dirty="0">
                          <a:solidFill>
                            <a:schemeClr val="bg1"/>
                          </a:solidFill>
                        </a:rPr>
                        <a:t>适用场景</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extLst>
                  <a:ext uri="{0D108BD9-81ED-4DB2-BD59-A6C34878D82A}">
                    <a16:rowId xmlns:a16="http://schemas.microsoft.com/office/drawing/2014/main" val="1561265677"/>
                  </a:ext>
                </a:extLst>
              </a:tr>
              <a:tr h="0">
                <a:tc>
                  <a:txBody>
                    <a:bodyPr/>
                    <a:lstStyle/>
                    <a:p>
                      <a:pPr>
                        <a:buNone/>
                      </a:pPr>
                      <a:r>
                        <a:rPr lang="zh-CN" altLang="en-US" sz="1600"/>
                        <a:t>总价合同</a:t>
                      </a:r>
                      <a:endParaRPr lang="en-US" sz="16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单价或总价固定，风险由卖方承担</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范围明确、需求清晰</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756097127"/>
                  </a:ext>
                </a:extLst>
              </a:tr>
              <a:tr h="0">
                <a:tc>
                  <a:txBody>
                    <a:bodyPr/>
                    <a:lstStyle/>
                    <a:p>
                      <a:pPr>
                        <a:buNone/>
                      </a:pPr>
                      <a:r>
                        <a:rPr lang="zh-CN" altLang="en-US" sz="1600"/>
                        <a:t>成本补偿合同</a:t>
                      </a:r>
                      <a:endParaRPr lang="en-US" sz="16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支付实际成本</a:t>
                      </a:r>
                      <a:r>
                        <a:rPr lang="en-US" altLang="zh-CN" sz="1600"/>
                        <a:t>+</a:t>
                      </a:r>
                      <a:r>
                        <a:rPr lang="zh-CN" altLang="en-US" sz="1600"/>
                        <a:t>酬金，买方承担大部分风险</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范围不确定、需灵活调整</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94792854"/>
                  </a:ext>
                </a:extLst>
              </a:tr>
              <a:tr h="0">
                <a:tc>
                  <a:txBody>
                    <a:bodyPr/>
                    <a:lstStyle/>
                    <a:p>
                      <a:pPr>
                        <a:buNone/>
                      </a:pPr>
                      <a:r>
                        <a:rPr lang="zh-CN" altLang="en-US" sz="1600"/>
                        <a:t>工料合同</a:t>
                      </a:r>
                      <a:endParaRPr lang="en-US" sz="16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按工时和材料计费，单价固定，总量不固定</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范围不清但可定义工作单元</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9766670"/>
                  </a:ext>
                </a:extLst>
              </a:tr>
              <a:tr h="0">
                <a:tc>
                  <a:txBody>
                    <a:bodyPr/>
                    <a:lstStyle/>
                    <a:p>
                      <a:pPr>
                        <a:buNone/>
                      </a:pPr>
                      <a:r>
                        <a:rPr lang="zh-CN" altLang="en-US" sz="1600"/>
                        <a:t>采购单合同 </a:t>
                      </a:r>
                      <a:r>
                        <a:rPr lang="en-US" sz="1600"/>
                        <a:t>Purchase Order</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dirty="0"/>
                        <a:t>简单采购订单，用于一次性商品</a:t>
                      </a:r>
                      <a:r>
                        <a:rPr lang="en-US" altLang="zh-CN" sz="1600" dirty="0"/>
                        <a:t>/</a:t>
                      </a:r>
                      <a:r>
                        <a:rPr lang="zh-CN" altLang="en-US" sz="1600" dirty="0"/>
                        <a:t>服务</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dirty="0"/>
                        <a:t>小额、标准品、非复杂项目</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51906080"/>
                  </a:ext>
                </a:extLst>
              </a:tr>
            </a:tbl>
          </a:graphicData>
        </a:graphic>
      </p:graphicFrame>
    </p:spTree>
    <p:extLst>
      <p:ext uri="{BB962C8B-B14F-4D97-AF65-F5344CB8AC3E}">
        <p14:creationId xmlns:p14="http://schemas.microsoft.com/office/powerpoint/2010/main" val="1508166779"/>
      </p:ext>
    </p:extLst>
  </p:cSld>
  <p:clrMapOvr>
    <a:masterClrMapping/>
  </p:clrMapOvr>
</p:sld>
</file>

<file path=ppt/slides/slide4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8E6909BE-C634-C009-21DC-890CD8C4D0FF}"/>
              </a:ext>
            </a:extLst>
          </p:cNvPr>
          <p:cNvSpPr>
            <a:spLocks noGrp="1"/>
          </p:cNvSpPr>
          <p:nvPr>
            <p:ph type="title"/>
          </p:nvPr>
        </p:nvSpPr>
        <p:spPr>
          <a:xfrm>
            <a:off x="792000" y="360000"/>
            <a:ext cx="6375921" cy="429413"/>
          </a:xfrm>
        </p:spPr>
        <p:txBody>
          <a:bodyPr>
            <a:normAutofit/>
          </a:bodyPr>
          <a:lstStyle/>
          <a:p>
            <a:r>
              <a:rPr lang="zh-CN" altLang="en-US"/>
              <a:t>合同计划</a:t>
            </a:r>
          </a:p>
        </p:txBody>
      </p:sp>
      <p:sp>
        <p:nvSpPr>
          <p:cNvPr id="3" name="内容占位符 2">
            <a:extLst>
              <a:ext uri="{FF2B5EF4-FFF2-40B4-BE49-F238E27FC236}">
                <a16:creationId xmlns:a16="http://schemas.microsoft.com/office/drawing/2014/main" id="{2B0AD88F-ABF5-9EF1-CEAF-95F1FB9706E0}"/>
              </a:ext>
            </a:extLst>
          </p:cNvPr>
          <p:cNvSpPr>
            <a:spLocks noGrp="1"/>
          </p:cNvSpPr>
          <p:nvPr>
            <p:ph idx="1"/>
          </p:nvPr>
        </p:nvSpPr>
        <p:spPr>
          <a:xfrm>
            <a:off x="696000" y="864000"/>
            <a:ext cx="10800000" cy="5400000"/>
          </a:xfrm>
        </p:spPr>
        <p:txBody>
          <a:bodyPr/>
          <a:lstStyle/>
          <a:p>
            <a:r>
              <a:rPr lang="zh-CN" altLang="en-US"/>
              <a:t>明确如何进行委托、委托什么项目、何时进行、费用如何等</a:t>
            </a:r>
            <a:endParaRPr lang="en-US" altLang="zh-CN"/>
          </a:p>
          <a:p>
            <a:r>
              <a:rPr lang="zh-CN" altLang="en-US"/>
              <a:t>选择需要的合同类型，采用的招标方式、合同形式等</a:t>
            </a:r>
            <a:endParaRPr lang="en-US" altLang="zh-CN"/>
          </a:p>
          <a:p>
            <a:r>
              <a:rPr lang="zh-CN" altLang="en-US"/>
              <a:t>输出</a:t>
            </a:r>
            <a:endParaRPr lang="en-US" altLang="zh-CN"/>
          </a:p>
          <a:p>
            <a:pPr lvl="1"/>
            <a:r>
              <a:rPr lang="zh-CN" altLang="en-US"/>
              <a:t>招标书或者类似招标书的形式体现的   </a:t>
            </a:r>
          </a:p>
          <a:p>
            <a:endParaRPr lang="zh-CN" altLang="en-US"/>
          </a:p>
          <a:p>
            <a:endParaRPr lang="en-US" altLang="zh-CN"/>
          </a:p>
          <a:p>
            <a:endParaRPr lang="zh-CN" altLang="en-US"/>
          </a:p>
          <a:p>
            <a:endParaRPr lang="zh-CN" altLang="en-US"/>
          </a:p>
        </p:txBody>
      </p:sp>
      <p:sp>
        <p:nvSpPr>
          <p:cNvPr id="7" name="文本占位符 6">
            <a:extLst>
              <a:ext uri="{FF2B5EF4-FFF2-40B4-BE49-F238E27FC236}">
                <a16:creationId xmlns:a16="http://schemas.microsoft.com/office/drawing/2014/main" id="{3DF23212-1543-7DFD-428C-DC9A9DBA489C}"/>
              </a:ext>
            </a:extLst>
          </p:cNvPr>
          <p:cNvSpPr>
            <a:spLocks noGrp="1"/>
          </p:cNvSpPr>
          <p:nvPr>
            <p:ph type="body" sz="quarter" idx="10"/>
          </p:nvPr>
        </p:nvSpPr>
        <p:spPr>
          <a:xfrm>
            <a:off x="7071919" y="448519"/>
            <a:ext cx="4424080" cy="338554"/>
          </a:xfrm>
        </p:spPr>
        <p:txBody>
          <a:bodyPr/>
          <a:lstStyle/>
          <a:p>
            <a:r>
              <a:rPr lang="en-US" altLang="zh-CN"/>
              <a:t>Contract</a:t>
            </a:r>
            <a:endParaRPr lang="zh-CN" altLang="en-US"/>
          </a:p>
        </p:txBody>
      </p:sp>
    </p:spTree>
    <p:extLst>
      <p:ext uri="{BB962C8B-B14F-4D97-AF65-F5344CB8AC3E}">
        <p14:creationId xmlns:p14="http://schemas.microsoft.com/office/powerpoint/2010/main" val="3984208002"/>
      </p:ext>
    </p:extLst>
  </p:cSld>
  <p:clrMapOvr>
    <a:masterClrMapping/>
  </p:clrMapOvr>
</p:sld>
</file>

<file path=ppt/slides/slide4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8E6909BE-C634-C009-21DC-890CD8C4D0FF}"/>
              </a:ext>
            </a:extLst>
          </p:cNvPr>
          <p:cNvSpPr>
            <a:spLocks noGrp="1"/>
          </p:cNvSpPr>
          <p:nvPr>
            <p:ph type="title"/>
          </p:nvPr>
        </p:nvSpPr>
        <p:spPr>
          <a:xfrm>
            <a:off x="792000" y="360000"/>
            <a:ext cx="6375921" cy="429413"/>
          </a:xfrm>
        </p:spPr>
        <p:txBody>
          <a:bodyPr>
            <a:normAutofit/>
          </a:bodyPr>
          <a:lstStyle/>
          <a:p>
            <a:r>
              <a:rPr lang="zh-CN" altLang="en-US"/>
              <a:t>敏捷合同策略</a:t>
            </a:r>
          </a:p>
        </p:txBody>
      </p:sp>
      <p:sp>
        <p:nvSpPr>
          <p:cNvPr id="3" name="内容占位符 2">
            <a:extLst>
              <a:ext uri="{FF2B5EF4-FFF2-40B4-BE49-F238E27FC236}">
                <a16:creationId xmlns:a16="http://schemas.microsoft.com/office/drawing/2014/main" id="{2B0AD88F-ABF5-9EF1-CEAF-95F1FB9706E0}"/>
              </a:ext>
            </a:extLst>
          </p:cNvPr>
          <p:cNvSpPr>
            <a:spLocks noGrp="1"/>
          </p:cNvSpPr>
          <p:nvPr>
            <p:ph idx="1"/>
          </p:nvPr>
        </p:nvSpPr>
        <p:spPr>
          <a:xfrm>
            <a:off x="696000" y="864000"/>
            <a:ext cx="10800000" cy="5400000"/>
          </a:xfrm>
        </p:spPr>
        <p:txBody>
          <a:bodyPr/>
          <a:lstStyle/>
          <a:p>
            <a:r>
              <a:rPr lang="zh-CN" altLang="zh-CN"/>
              <a:t>多层</a:t>
            </a:r>
            <a:r>
              <a:rPr lang="zh-CN" altLang="en-US"/>
              <a:t>协议</a:t>
            </a:r>
            <a:r>
              <a:rPr lang="zh-CN" altLang="zh-CN"/>
              <a:t>结构</a:t>
            </a:r>
            <a:endParaRPr lang="en-US" altLang="zh-CN"/>
          </a:p>
          <a:p>
            <a:r>
              <a:rPr lang="zh-CN" altLang="zh-CN"/>
              <a:t>价值交付</a:t>
            </a:r>
            <a:r>
              <a:rPr lang="zh-CN" altLang="en-US"/>
              <a:t>（例如迭代付费）</a:t>
            </a:r>
            <a:endParaRPr lang="en-US" altLang="zh-CN"/>
          </a:p>
          <a:p>
            <a:r>
              <a:rPr lang="zh-CN" altLang="zh-CN"/>
              <a:t>总价增量</a:t>
            </a:r>
            <a:r>
              <a:rPr lang="en-US" altLang="zh-CN"/>
              <a:t> </a:t>
            </a:r>
            <a:r>
              <a:rPr lang="zh-CN" altLang="en-US"/>
              <a:t>（例如基于</a:t>
            </a:r>
            <a:r>
              <a:rPr lang="en-US" altLang="zh-CN"/>
              <a:t>Story</a:t>
            </a:r>
            <a:r>
              <a:rPr lang="zh-CN" altLang="en-US"/>
              <a:t>付费）</a:t>
            </a:r>
            <a:endParaRPr lang="en-US" altLang="zh-CN"/>
          </a:p>
          <a:p>
            <a:r>
              <a:rPr lang="zh-CN" altLang="en-US"/>
              <a:t>灵活总价</a:t>
            </a:r>
            <a:r>
              <a:rPr lang="zh-CN" altLang="zh-CN"/>
              <a:t>方案</a:t>
            </a:r>
            <a:endParaRPr lang="en-US" altLang="zh-CN"/>
          </a:p>
          <a:p>
            <a:r>
              <a:rPr lang="zh-CN" altLang="zh-CN"/>
              <a:t>动态范围方案</a:t>
            </a:r>
            <a:endParaRPr lang="zh-CN" altLang="en-US"/>
          </a:p>
        </p:txBody>
      </p:sp>
      <p:sp>
        <p:nvSpPr>
          <p:cNvPr id="7" name="文本占位符 6">
            <a:extLst>
              <a:ext uri="{FF2B5EF4-FFF2-40B4-BE49-F238E27FC236}">
                <a16:creationId xmlns:a16="http://schemas.microsoft.com/office/drawing/2014/main" id="{3DF23212-1543-7DFD-428C-DC9A9DBA489C}"/>
              </a:ext>
            </a:extLst>
          </p:cNvPr>
          <p:cNvSpPr>
            <a:spLocks noGrp="1"/>
          </p:cNvSpPr>
          <p:nvPr>
            <p:ph type="body" sz="quarter" idx="10"/>
          </p:nvPr>
        </p:nvSpPr>
        <p:spPr>
          <a:xfrm>
            <a:off x="7071919" y="448519"/>
            <a:ext cx="4424080" cy="338554"/>
          </a:xfrm>
        </p:spPr>
        <p:txBody>
          <a:bodyPr/>
          <a:lstStyle/>
          <a:p>
            <a:r>
              <a:rPr lang="en-US" altLang="zh-CN"/>
              <a:t>Contract</a:t>
            </a:r>
            <a:endParaRPr lang="zh-CN" altLang="en-US"/>
          </a:p>
        </p:txBody>
      </p:sp>
    </p:spTree>
    <p:extLst>
      <p:ext uri="{BB962C8B-B14F-4D97-AF65-F5344CB8AC3E}">
        <p14:creationId xmlns:p14="http://schemas.microsoft.com/office/powerpoint/2010/main" val="879014748"/>
      </p:ext>
    </p:extLst>
  </p:cSld>
  <p:clrMapOvr>
    <a:masterClrMapping/>
  </p:clrMapOvr>
</p:sld>
</file>

<file path=ppt/slides/slide4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919C3E-D004-66D6-E45B-4F48C2A5A6CE}"/>
              </a:ext>
            </a:extLst>
          </p:cNvPr>
          <p:cNvSpPr>
            <a:spLocks noGrp="1"/>
          </p:cNvSpPr>
          <p:nvPr>
            <p:ph type="title"/>
          </p:nvPr>
        </p:nvSpPr>
        <p:spPr>
          <a:xfrm>
            <a:off x="792000" y="360000"/>
            <a:ext cx="6375921" cy="429413"/>
          </a:xfrm>
        </p:spPr>
        <p:txBody>
          <a:bodyPr/>
          <a:lstStyle/>
          <a:p>
            <a:r>
              <a:rPr lang="zh-CN" altLang="en-US"/>
              <a:t>合同索赔</a:t>
            </a:r>
          </a:p>
        </p:txBody>
      </p:sp>
      <p:sp>
        <p:nvSpPr>
          <p:cNvPr id="3" name="内容占位符 2">
            <a:extLst>
              <a:ext uri="{FF2B5EF4-FFF2-40B4-BE49-F238E27FC236}">
                <a16:creationId xmlns:a16="http://schemas.microsoft.com/office/drawing/2014/main" id="{CE4BBCFC-AF71-E6BA-11B2-B266D793195D}"/>
              </a:ext>
            </a:extLst>
          </p:cNvPr>
          <p:cNvSpPr>
            <a:spLocks noGrp="1"/>
          </p:cNvSpPr>
          <p:nvPr>
            <p:ph idx="1"/>
          </p:nvPr>
        </p:nvSpPr>
        <p:spPr>
          <a:xfrm>
            <a:off x="696000" y="864000"/>
            <a:ext cx="10800000" cy="5400000"/>
          </a:xfrm>
        </p:spPr>
        <p:txBody>
          <a:bodyPr/>
          <a:lstStyle/>
          <a:p>
            <a:r>
              <a:rPr lang="zh-CN" altLang="en-US"/>
              <a:t>经济补偿，不是处罚</a:t>
            </a:r>
            <a:endParaRPr lang="en-US" altLang="zh-CN"/>
          </a:p>
          <a:p>
            <a:r>
              <a:rPr lang="zh-CN" altLang="en-US"/>
              <a:t>分类：</a:t>
            </a:r>
            <a:endParaRPr lang="en-US" altLang="zh-CN"/>
          </a:p>
          <a:p>
            <a:pPr lvl="1"/>
            <a:r>
              <a:rPr lang="zh-CN" altLang="en-US"/>
              <a:t>工期索赔</a:t>
            </a:r>
            <a:endParaRPr lang="en-US" altLang="zh-CN"/>
          </a:p>
          <a:p>
            <a:pPr lvl="1"/>
            <a:r>
              <a:rPr lang="zh-CN" altLang="en-US"/>
              <a:t>费用索赔</a:t>
            </a:r>
            <a:endParaRPr lang="en-US" altLang="zh-CN"/>
          </a:p>
          <a:p>
            <a:r>
              <a:rPr lang="zh-CN" altLang="en-US"/>
              <a:t>期限：每个阶段均为</a:t>
            </a:r>
            <a:r>
              <a:rPr lang="en-US" altLang="zh-CN"/>
              <a:t>28</a:t>
            </a:r>
            <a:r>
              <a:rPr lang="zh-CN" altLang="en-US"/>
              <a:t>天</a:t>
            </a:r>
          </a:p>
        </p:txBody>
      </p:sp>
      <p:sp>
        <p:nvSpPr>
          <p:cNvPr id="6" name="文本占位符 5">
            <a:extLst>
              <a:ext uri="{FF2B5EF4-FFF2-40B4-BE49-F238E27FC236}">
                <a16:creationId xmlns:a16="http://schemas.microsoft.com/office/drawing/2014/main" id="{E26FDAAE-D6CC-3136-E7A3-D5C3AC4EE5B6}"/>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4090271841"/>
      </p:ext>
    </p:extLst>
  </p:cSld>
  <p:clrMapOvr>
    <a:masterClrMapping/>
  </p:clrMapOvr>
</p:sld>
</file>

<file path=ppt/slides/slide4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4EF699-E234-3E7D-BF2D-C3FE1ACC7E82}"/>
              </a:ext>
            </a:extLst>
          </p:cNvPr>
          <p:cNvSpPr>
            <a:spLocks noGrp="1"/>
          </p:cNvSpPr>
          <p:nvPr>
            <p:ph type="title"/>
          </p:nvPr>
        </p:nvSpPr>
        <p:spPr>
          <a:xfrm>
            <a:off x="792000" y="360000"/>
            <a:ext cx="6375921" cy="429413"/>
          </a:xfrm>
        </p:spPr>
        <p:txBody>
          <a:bodyPr/>
          <a:lstStyle/>
          <a:p>
            <a:r>
              <a:rPr lang="zh-CN" altLang="en-US"/>
              <a:t>合同变更</a:t>
            </a:r>
          </a:p>
        </p:txBody>
      </p:sp>
      <p:sp>
        <p:nvSpPr>
          <p:cNvPr id="3" name="内容占位符 2">
            <a:extLst>
              <a:ext uri="{FF2B5EF4-FFF2-40B4-BE49-F238E27FC236}">
                <a16:creationId xmlns:a16="http://schemas.microsoft.com/office/drawing/2014/main" id="{817B270B-4B52-77FF-32C5-34C7AA380A93}"/>
              </a:ext>
            </a:extLst>
          </p:cNvPr>
          <p:cNvSpPr>
            <a:spLocks noGrp="1"/>
          </p:cNvSpPr>
          <p:nvPr>
            <p:ph idx="1"/>
          </p:nvPr>
        </p:nvSpPr>
        <p:spPr>
          <a:xfrm>
            <a:off x="696000" y="864000"/>
            <a:ext cx="10800000" cy="5400000"/>
          </a:xfrm>
        </p:spPr>
        <p:txBody>
          <a:bodyPr/>
          <a:lstStyle/>
          <a:p>
            <a:r>
              <a:rPr lang="zh-CN" altLang="en-US"/>
              <a:t>合同变更是一个管理闭环过程，通常遵循以下顺序：</a:t>
            </a:r>
          </a:p>
          <a:p>
            <a:pPr lvl="1"/>
            <a:r>
              <a:rPr lang="zh-CN" altLang="en-US"/>
              <a:t>变更提出 </a:t>
            </a:r>
            <a:r>
              <a:rPr lang="en-US" altLang="zh-CN"/>
              <a:t>Change Request Submitted</a:t>
            </a:r>
            <a:r>
              <a:rPr lang="zh-CN" altLang="en-US"/>
              <a:t>：一方（如业主、承包商）提出变更需求</a:t>
            </a:r>
          </a:p>
          <a:p>
            <a:pPr lvl="1"/>
            <a:r>
              <a:rPr lang="zh-CN" altLang="en-US"/>
              <a:t>变更请求审查 </a:t>
            </a:r>
            <a:r>
              <a:rPr lang="en-US" altLang="zh-CN"/>
              <a:t>Review of Change Request</a:t>
            </a:r>
            <a:r>
              <a:rPr lang="zh-CN" altLang="en-US"/>
              <a:t>：对变更的影响进行评估（成本、工期、质量等）</a:t>
            </a:r>
          </a:p>
          <a:p>
            <a:pPr lvl="1"/>
            <a:r>
              <a:rPr lang="zh-CN" altLang="en-US"/>
              <a:t>变更批准 </a:t>
            </a:r>
            <a:r>
              <a:rPr lang="en-US" altLang="zh-CN"/>
              <a:t>Approval of Change</a:t>
            </a:r>
            <a:r>
              <a:rPr lang="zh-CN" altLang="en-US"/>
              <a:t>：经审批后决定是否接受变更</a:t>
            </a:r>
          </a:p>
          <a:p>
            <a:pPr lvl="1"/>
            <a:r>
              <a:rPr lang="zh-CN" altLang="en-US"/>
              <a:t>变更实施 </a:t>
            </a:r>
            <a:r>
              <a:rPr lang="en-US" altLang="zh-CN"/>
              <a:t>Implementation of Change</a:t>
            </a:r>
            <a:r>
              <a:rPr lang="zh-CN" altLang="en-US"/>
              <a:t>：执行变更内容，并记录结果</a:t>
            </a:r>
          </a:p>
        </p:txBody>
      </p:sp>
      <p:sp>
        <p:nvSpPr>
          <p:cNvPr id="6" name="文本占位符 5">
            <a:extLst>
              <a:ext uri="{FF2B5EF4-FFF2-40B4-BE49-F238E27FC236}">
                <a16:creationId xmlns:a16="http://schemas.microsoft.com/office/drawing/2014/main" id="{2A619993-597B-3DA7-16C1-0CEFE90B39FD}"/>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4288424488"/>
      </p:ext>
    </p:extLst>
  </p:cSld>
  <p:clrMapOvr>
    <a:masterClrMapping/>
  </p:clrMapOvr>
</p:sld>
</file>

<file path=ppt/slides/slide4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1CBA1-7920-566D-076A-0C4C93EDAE1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D349DE4-986C-14E7-ACB1-53EDCE907EC5}"/>
              </a:ext>
            </a:extLst>
          </p:cNvPr>
          <p:cNvSpPr>
            <a:spLocks noGrp="1"/>
          </p:cNvSpPr>
          <p:nvPr>
            <p:ph type="ctrTitle"/>
          </p:nvPr>
        </p:nvSpPr>
        <p:spPr>
          <a:xfrm>
            <a:off x="2464886" y="4681056"/>
            <a:ext cx="7262228" cy="798491"/>
          </a:xfrm>
        </p:spPr>
        <p:txBody>
          <a:bodyPr/>
          <a:lstStyle/>
          <a:p>
            <a:r>
              <a:rPr lang="zh-CN" altLang="en-US"/>
              <a:t>项目执行控制</a:t>
            </a:r>
          </a:p>
        </p:txBody>
      </p:sp>
      <p:sp>
        <p:nvSpPr>
          <p:cNvPr id="3" name="副标题 2">
            <a:extLst>
              <a:ext uri="{FF2B5EF4-FFF2-40B4-BE49-F238E27FC236}">
                <a16:creationId xmlns:a16="http://schemas.microsoft.com/office/drawing/2014/main" id="{45E81968-EC65-6418-2D93-61134A1A82BB}"/>
              </a:ext>
            </a:extLst>
          </p:cNvPr>
          <p:cNvSpPr>
            <a:spLocks noGrp="1"/>
          </p:cNvSpPr>
          <p:nvPr>
            <p:ph type="subTitle" idx="1"/>
          </p:nvPr>
        </p:nvSpPr>
        <p:spPr>
          <a:xfrm>
            <a:off x="2464886" y="5479548"/>
            <a:ext cx="7262228" cy="458180"/>
          </a:xfrm>
        </p:spPr>
        <p:txBody>
          <a:bodyPr/>
          <a:lstStyle/>
          <a:p>
            <a:r>
              <a:rPr lang="en-US" altLang="zh-CN"/>
              <a:t>Section 11 Project Execution &amp; Control</a:t>
            </a:r>
            <a:endParaRPr lang="zh-CN" altLang="en-US"/>
          </a:p>
        </p:txBody>
      </p:sp>
      <p:sp>
        <p:nvSpPr>
          <p:cNvPr id="6" name="文本占位符 5">
            <a:extLst>
              <a:ext uri="{FF2B5EF4-FFF2-40B4-BE49-F238E27FC236}">
                <a16:creationId xmlns:a16="http://schemas.microsoft.com/office/drawing/2014/main" id="{F5CA795C-DA50-7771-078B-3D7004B832A4}"/>
              </a:ext>
            </a:extLst>
          </p:cNvPr>
          <p:cNvSpPr>
            <a:spLocks noGrp="1"/>
          </p:cNvSpPr>
          <p:nvPr>
            <p:ph type="body" sz="quarter" idx="11"/>
          </p:nvPr>
        </p:nvSpPr>
        <p:spPr/>
        <p:txBody>
          <a:bodyPr/>
          <a:lstStyle/>
          <a:p>
            <a:endParaRPr lang="zh-CN" altLang="en-US"/>
          </a:p>
        </p:txBody>
      </p:sp>
    </p:spTree>
    <p:extLst>
      <p:ext uri="{BB962C8B-B14F-4D97-AF65-F5344CB8AC3E}">
        <p14:creationId xmlns:p14="http://schemas.microsoft.com/office/powerpoint/2010/main" val="3343414957"/>
      </p:ext>
    </p:extLst>
  </p:cSld>
  <p:clrMapOvr>
    <a:masterClrMapping/>
  </p:clrMapOvr>
</p:sld>
</file>

<file path=ppt/slides/slide4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68552-E27E-727C-64F4-1D2D769390EA}"/>
            </a:ext>
          </a:extLst>
        </p:cNvPr>
        <p:cNvGrpSpPr/>
        <p:nvPr/>
      </p:nvGrpSpPr>
      <p:grpSpPr>
        <a:xfrm>
          <a:off x="0" y="0"/>
          <a:ext cx="0" cy="0"/>
          <a:chOff x="0" y="0"/>
          <a:chExt cx="0" cy="0"/>
        </a:xfrm>
      </p:grpSpPr>
      <p:sp>
        <p:nvSpPr>
          <p:cNvPr id="5" name="箭头: V 形 4">
            <a:extLst>
              <a:ext uri="{FF2B5EF4-FFF2-40B4-BE49-F238E27FC236}">
                <a16:creationId xmlns:a16="http://schemas.microsoft.com/office/drawing/2014/main" id="{E3680C14-EBB8-9BD4-D0E4-9569524A2C73}"/>
              </a:ext>
            </a:extLst>
          </p:cNvPr>
          <p:cNvSpPr/>
          <p:nvPr/>
        </p:nvSpPr>
        <p:spPr>
          <a:xfrm>
            <a:off x="2454444" y="1897626"/>
            <a:ext cx="1800000" cy="360000"/>
          </a:xfrm>
          <a:prstGeom prst="chevron">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项目开始</a:t>
            </a:r>
          </a:p>
        </p:txBody>
      </p:sp>
      <p:sp>
        <p:nvSpPr>
          <p:cNvPr id="6" name="箭头: V 形 5">
            <a:extLst>
              <a:ext uri="{FF2B5EF4-FFF2-40B4-BE49-F238E27FC236}">
                <a16:creationId xmlns:a16="http://schemas.microsoft.com/office/drawing/2014/main" id="{B3E913E9-5F3C-4633-35C1-5E070BD42C18}"/>
              </a:ext>
            </a:extLst>
          </p:cNvPr>
          <p:cNvSpPr/>
          <p:nvPr/>
        </p:nvSpPr>
        <p:spPr>
          <a:xfrm>
            <a:off x="4180548" y="1897626"/>
            <a:ext cx="1800000" cy="360000"/>
          </a:xfrm>
          <a:prstGeom prst="chevron">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rPr>
              <a:t>项目计划</a:t>
            </a:r>
          </a:p>
        </p:txBody>
      </p:sp>
      <p:sp>
        <p:nvSpPr>
          <p:cNvPr id="7" name="箭头: V 形 6">
            <a:extLst>
              <a:ext uri="{FF2B5EF4-FFF2-40B4-BE49-F238E27FC236}">
                <a16:creationId xmlns:a16="http://schemas.microsoft.com/office/drawing/2014/main" id="{A812D123-7914-8793-D42C-5698BC5F04AE}"/>
              </a:ext>
            </a:extLst>
          </p:cNvPr>
          <p:cNvSpPr/>
          <p:nvPr/>
        </p:nvSpPr>
        <p:spPr>
          <a:xfrm>
            <a:off x="5906652" y="1897626"/>
            <a:ext cx="1800000" cy="360000"/>
          </a:xfrm>
          <a:prstGeom prst="chevron">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rPr>
              <a:t>项目执行控制</a:t>
            </a:r>
          </a:p>
        </p:txBody>
      </p:sp>
      <p:sp>
        <p:nvSpPr>
          <p:cNvPr id="8" name="箭头: V 形 7">
            <a:extLst>
              <a:ext uri="{FF2B5EF4-FFF2-40B4-BE49-F238E27FC236}">
                <a16:creationId xmlns:a16="http://schemas.microsoft.com/office/drawing/2014/main" id="{71C9EE59-4D04-57F6-AD14-320B4C54F7D4}"/>
              </a:ext>
            </a:extLst>
          </p:cNvPr>
          <p:cNvSpPr/>
          <p:nvPr/>
        </p:nvSpPr>
        <p:spPr>
          <a:xfrm>
            <a:off x="7632755" y="1897626"/>
            <a:ext cx="1800000" cy="360000"/>
          </a:xfrm>
          <a:prstGeom prst="chevron">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rPr>
              <a:t>项目结束</a:t>
            </a:r>
          </a:p>
        </p:txBody>
      </p:sp>
      <p:sp>
        <p:nvSpPr>
          <p:cNvPr id="9" name="矩形 8">
            <a:extLst>
              <a:ext uri="{FF2B5EF4-FFF2-40B4-BE49-F238E27FC236}">
                <a16:creationId xmlns:a16="http://schemas.microsoft.com/office/drawing/2014/main" id="{603EFE14-4129-4867-42D7-836C9ED02D51}"/>
              </a:ext>
            </a:extLst>
          </p:cNvPr>
          <p:cNvSpPr/>
          <p:nvPr/>
        </p:nvSpPr>
        <p:spPr>
          <a:xfrm>
            <a:off x="3453041"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范围计划</a:t>
            </a:r>
          </a:p>
        </p:txBody>
      </p:sp>
      <p:sp>
        <p:nvSpPr>
          <p:cNvPr id="10" name="矩形 9">
            <a:extLst>
              <a:ext uri="{FF2B5EF4-FFF2-40B4-BE49-F238E27FC236}">
                <a16:creationId xmlns:a16="http://schemas.microsoft.com/office/drawing/2014/main" id="{5F2AE1F4-EECB-ED33-7B60-036248FB5A2F}"/>
              </a:ext>
            </a:extLst>
          </p:cNvPr>
          <p:cNvSpPr/>
          <p:nvPr/>
        </p:nvSpPr>
        <p:spPr>
          <a:xfrm>
            <a:off x="4147174"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成本计划</a:t>
            </a:r>
          </a:p>
        </p:txBody>
      </p:sp>
      <p:sp>
        <p:nvSpPr>
          <p:cNvPr id="11" name="矩形 10">
            <a:extLst>
              <a:ext uri="{FF2B5EF4-FFF2-40B4-BE49-F238E27FC236}">
                <a16:creationId xmlns:a16="http://schemas.microsoft.com/office/drawing/2014/main" id="{82069C54-F85B-84A2-48DA-82672A767F48}"/>
              </a:ext>
            </a:extLst>
          </p:cNvPr>
          <p:cNvSpPr/>
          <p:nvPr/>
        </p:nvSpPr>
        <p:spPr>
          <a:xfrm>
            <a:off x="4840750"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进度计划</a:t>
            </a:r>
          </a:p>
        </p:txBody>
      </p:sp>
      <p:sp>
        <p:nvSpPr>
          <p:cNvPr id="12" name="矩形 11">
            <a:extLst>
              <a:ext uri="{FF2B5EF4-FFF2-40B4-BE49-F238E27FC236}">
                <a16:creationId xmlns:a16="http://schemas.microsoft.com/office/drawing/2014/main" id="{E63E646B-2D3A-F535-2B01-46F3EEBE8A62}"/>
              </a:ext>
            </a:extLst>
          </p:cNvPr>
          <p:cNvSpPr/>
          <p:nvPr/>
        </p:nvSpPr>
        <p:spPr>
          <a:xfrm>
            <a:off x="5534326"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质量计划</a:t>
            </a:r>
          </a:p>
        </p:txBody>
      </p:sp>
      <p:sp>
        <p:nvSpPr>
          <p:cNvPr id="13" name="矩形 12">
            <a:extLst>
              <a:ext uri="{FF2B5EF4-FFF2-40B4-BE49-F238E27FC236}">
                <a16:creationId xmlns:a16="http://schemas.microsoft.com/office/drawing/2014/main" id="{8CD69D64-BD6B-03B6-3902-0270A61F010D}"/>
              </a:ext>
            </a:extLst>
          </p:cNvPr>
          <p:cNvSpPr/>
          <p:nvPr/>
        </p:nvSpPr>
        <p:spPr>
          <a:xfrm>
            <a:off x="6227902"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配置管理计划</a:t>
            </a:r>
          </a:p>
        </p:txBody>
      </p:sp>
      <p:sp>
        <p:nvSpPr>
          <p:cNvPr id="14" name="矩形 13">
            <a:extLst>
              <a:ext uri="{FF2B5EF4-FFF2-40B4-BE49-F238E27FC236}">
                <a16:creationId xmlns:a16="http://schemas.microsoft.com/office/drawing/2014/main" id="{C3C1E7FF-135A-ACD0-2A00-1D261AB75300}"/>
              </a:ext>
            </a:extLst>
          </p:cNvPr>
          <p:cNvSpPr/>
          <p:nvPr/>
        </p:nvSpPr>
        <p:spPr>
          <a:xfrm>
            <a:off x="6921478"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团队计划</a:t>
            </a:r>
          </a:p>
        </p:txBody>
      </p:sp>
      <p:sp>
        <p:nvSpPr>
          <p:cNvPr id="15" name="矩形 14">
            <a:extLst>
              <a:ext uri="{FF2B5EF4-FFF2-40B4-BE49-F238E27FC236}">
                <a16:creationId xmlns:a16="http://schemas.microsoft.com/office/drawing/2014/main" id="{B627C820-EDFE-BB4D-B0C2-1EF6B23A8E07}"/>
              </a:ext>
            </a:extLst>
          </p:cNvPr>
          <p:cNvSpPr/>
          <p:nvPr/>
        </p:nvSpPr>
        <p:spPr>
          <a:xfrm>
            <a:off x="7615054"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风险计划</a:t>
            </a:r>
          </a:p>
        </p:txBody>
      </p:sp>
      <p:sp>
        <p:nvSpPr>
          <p:cNvPr id="16" name="矩形 15">
            <a:extLst>
              <a:ext uri="{FF2B5EF4-FFF2-40B4-BE49-F238E27FC236}">
                <a16:creationId xmlns:a16="http://schemas.microsoft.com/office/drawing/2014/main" id="{3FBAECE0-798B-3FE6-068F-BB8DA3348BF9}"/>
              </a:ext>
            </a:extLst>
          </p:cNvPr>
          <p:cNvSpPr/>
          <p:nvPr/>
        </p:nvSpPr>
        <p:spPr>
          <a:xfrm>
            <a:off x="8308629"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合同计划</a:t>
            </a:r>
          </a:p>
        </p:txBody>
      </p:sp>
      <p:sp>
        <p:nvSpPr>
          <p:cNvPr id="2" name="矩形 1">
            <a:extLst>
              <a:ext uri="{FF2B5EF4-FFF2-40B4-BE49-F238E27FC236}">
                <a16:creationId xmlns:a16="http://schemas.microsoft.com/office/drawing/2014/main" id="{DF68F264-6678-90DC-64DC-73A993A90ECE}"/>
              </a:ext>
            </a:extLst>
          </p:cNvPr>
          <p:cNvSpPr/>
          <p:nvPr/>
        </p:nvSpPr>
        <p:spPr>
          <a:xfrm>
            <a:off x="3453041" y="2466975"/>
            <a:ext cx="5286475" cy="379050"/>
          </a:xfrm>
          <a:custGeom>
            <a:avLst/>
            <a:gdLst>
              <a:gd name="csX0" fmla="*/ 0 w 5286475"/>
              <a:gd name="csY0" fmla="*/ 0 h 360000"/>
              <a:gd name="csX1" fmla="*/ 5286475 w 5286475"/>
              <a:gd name="csY1" fmla="*/ 0 h 360000"/>
              <a:gd name="csX2" fmla="*/ 5286475 w 5286475"/>
              <a:gd name="csY2" fmla="*/ 360000 h 360000"/>
              <a:gd name="csX3" fmla="*/ 0 w 5286475"/>
              <a:gd name="csY3" fmla="*/ 360000 h 360000"/>
              <a:gd name="csX4" fmla="*/ 0 w 5286475"/>
              <a:gd name="csY4" fmla="*/ 0 h 360000"/>
              <a:gd name="csX0" fmla="*/ 2390775 w 5286475"/>
              <a:gd name="csY0" fmla="*/ 0 h 360000"/>
              <a:gd name="csX1" fmla="*/ 5286475 w 5286475"/>
              <a:gd name="csY1" fmla="*/ 0 h 360000"/>
              <a:gd name="csX2" fmla="*/ 5286475 w 5286475"/>
              <a:gd name="csY2" fmla="*/ 360000 h 360000"/>
              <a:gd name="csX3" fmla="*/ 0 w 5286475"/>
              <a:gd name="csY3" fmla="*/ 360000 h 360000"/>
              <a:gd name="csX4" fmla="*/ 2390775 w 5286475"/>
              <a:gd name="csY4" fmla="*/ 0 h 360000"/>
              <a:gd name="csX0" fmla="*/ 2390775 w 5286475"/>
              <a:gd name="csY0" fmla="*/ 19050 h 379050"/>
              <a:gd name="csX1" fmla="*/ 4038700 w 5286475"/>
              <a:gd name="csY1" fmla="*/ 0 h 379050"/>
              <a:gd name="csX2" fmla="*/ 5286475 w 5286475"/>
              <a:gd name="csY2" fmla="*/ 379050 h 379050"/>
              <a:gd name="csX3" fmla="*/ 0 w 5286475"/>
              <a:gd name="csY3" fmla="*/ 379050 h 379050"/>
              <a:gd name="csX4" fmla="*/ 2390775 w 5286475"/>
              <a:gd name="csY4" fmla="*/ 19050 h 379050"/>
              <a:gd name="csX0" fmla="*/ 2390775 w 5286475"/>
              <a:gd name="csY0" fmla="*/ 3175 h 379050"/>
              <a:gd name="csX1" fmla="*/ 4038700 w 5286475"/>
              <a:gd name="csY1" fmla="*/ 0 h 379050"/>
              <a:gd name="csX2" fmla="*/ 5286475 w 5286475"/>
              <a:gd name="csY2" fmla="*/ 379050 h 379050"/>
              <a:gd name="csX3" fmla="*/ 0 w 5286475"/>
              <a:gd name="csY3" fmla="*/ 379050 h 379050"/>
              <a:gd name="csX4" fmla="*/ 2390775 w 5286475"/>
              <a:gd name="csY4" fmla="*/ 3175 h 379050"/>
              <a:gd name="csX0" fmla="*/ 2390775 w 5286475"/>
              <a:gd name="csY0" fmla="*/ 3175 h 379050"/>
              <a:gd name="csX1" fmla="*/ 4038700 w 5286475"/>
              <a:gd name="csY1" fmla="*/ 0 h 379050"/>
              <a:gd name="csX2" fmla="*/ 5286475 w 5286475"/>
              <a:gd name="csY2" fmla="*/ 379050 h 379050"/>
              <a:gd name="csX3" fmla="*/ 0 w 5286475"/>
              <a:gd name="csY3" fmla="*/ 379050 h 379050"/>
              <a:gd name="csX4" fmla="*/ 2390775 w 5286475"/>
              <a:gd name="csY4" fmla="*/ 3175 h 379050"/>
            </a:gdLst>
            <a:ahLst/>
            <a:cxnLst>
              <a:cxn ang="0">
                <a:pos x="csX0" y="csY0"/>
              </a:cxn>
              <a:cxn ang="0">
                <a:pos x="csX1" y="csY1"/>
              </a:cxn>
              <a:cxn ang="0">
                <a:pos x="csX2" y="csY2"/>
              </a:cxn>
              <a:cxn ang="0">
                <a:pos x="csX3" y="csY3"/>
              </a:cxn>
              <a:cxn ang="0">
                <a:pos x="csX4" y="csY4"/>
              </a:cxn>
            </a:cxnLst>
            <a:rect l="l" t="t" r="r" b="b"/>
            <a:pathLst>
              <a:path w="5286475" h="379050">
                <a:moveTo>
                  <a:pt x="2390775" y="3175"/>
                </a:moveTo>
                <a:lnTo>
                  <a:pt x="4038700" y="0"/>
                </a:lnTo>
                <a:lnTo>
                  <a:pt x="5286475" y="379050"/>
                </a:lnTo>
                <a:lnTo>
                  <a:pt x="0" y="379050"/>
                </a:lnTo>
                <a:lnTo>
                  <a:pt x="2390775" y="3175"/>
                </a:lnTo>
                <a:close/>
              </a:path>
            </a:pathLst>
          </a:custGeom>
          <a:gradFill flip="none" rotWithShape="1">
            <a:gsLst>
              <a:gs pos="0">
                <a:schemeClr val="accent5">
                  <a:lumMod val="75000"/>
                </a:schemeClr>
              </a:gs>
              <a:gs pos="100000">
                <a:schemeClr val="bg1">
                  <a:alpha val="0"/>
                </a:scheme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Tree>
    <p:extLst>
      <p:ext uri="{BB962C8B-B14F-4D97-AF65-F5344CB8AC3E}">
        <p14:creationId xmlns:p14="http://schemas.microsoft.com/office/powerpoint/2010/main" val="3223499410"/>
      </p:ext>
    </p:extLst>
  </p:cSld>
  <p:clrMapOvr>
    <a:masterClrMapping/>
  </p:clrMapOvr>
</p:sld>
</file>

<file path=ppt/slides/slide4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503DB402-6B38-93A3-FC55-4205FE1CC696}"/>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EEB89858-C280-1068-A843-45DF719F2FF4}"/>
              </a:ext>
            </a:extLst>
          </p:cNvPr>
          <p:cNvSpPr>
            <a:spLocks noGrp="1"/>
          </p:cNvSpPr>
          <p:nvPr>
            <p:ph idx="1"/>
          </p:nvPr>
        </p:nvSpPr>
        <p:spPr>
          <a:xfrm>
            <a:off x="696000" y="864000"/>
            <a:ext cx="10800000" cy="5400000"/>
          </a:xfrm>
        </p:spPr>
        <p:txBody>
          <a:bodyPr/>
          <a:lstStyle/>
          <a:p>
            <a:r>
              <a:rPr lang="zh-CN" altLang="en-US"/>
              <a:t>马云和比尔盖茨都表达过类似的观点：“一流的战略、三流的执行”不如“三流的战略、一流的执行”。一流的战略和一流的执行，似乎就像鱼与熊掌一样不可兼得。</a:t>
            </a:r>
          </a:p>
          <a:p>
            <a:endParaRPr lang="zh-CN" altLang="en-US"/>
          </a:p>
        </p:txBody>
      </p:sp>
      <p:sp>
        <p:nvSpPr>
          <p:cNvPr id="7" name="文本占位符 6">
            <a:extLst>
              <a:ext uri="{FF2B5EF4-FFF2-40B4-BE49-F238E27FC236}">
                <a16:creationId xmlns:a16="http://schemas.microsoft.com/office/drawing/2014/main" id="{AECF767E-5195-27D6-EED3-32B260550808}"/>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3835528488"/>
      </p:ext>
    </p:extLst>
  </p:cSld>
  <p:clrMapOvr>
    <a:masterClrMapping/>
  </p:clrMapOvr>
</p:sld>
</file>

<file path=ppt/slides/slide4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内容占位符 8">
            <a:extLst>
              <a:ext uri="{FF2B5EF4-FFF2-40B4-BE49-F238E27FC236}">
                <a16:creationId xmlns:a16="http://schemas.microsoft.com/office/drawing/2014/main" id="{03DD6A68-E284-9765-27FB-5C4B1E7464E6}"/>
              </a:ext>
            </a:extLst>
          </p:cNvPr>
          <p:cNvGraphicFramePr>
            <a:graphicFrameLocks noChangeAspect="1"/>
          </p:cNvGraphicFramePr>
          <p:nvPr>
            <p:extLst>
              <p:ext uri="{D42A27DB-BD31-4B8C-83A1-F6EECF244321}">
                <p14:modId xmlns:p14="http://schemas.microsoft.com/office/powerpoint/2010/main" val="4108569176"/>
              </p:ext>
            </p:extLst>
          </p:nvPr>
        </p:nvGraphicFramePr>
        <p:xfrm>
          <a:off x="2855595" y="1895475"/>
          <a:ext cx="6480810" cy="30670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标题 1">
            <a:extLst>
              <a:ext uri="{FF2B5EF4-FFF2-40B4-BE49-F238E27FC236}">
                <a16:creationId xmlns:a16="http://schemas.microsoft.com/office/drawing/2014/main" id="{83C1A01B-1C73-8662-947E-7752092AADE1}"/>
              </a:ext>
            </a:extLst>
          </p:cNvPr>
          <p:cNvSpPr>
            <a:spLocks noGrp="1"/>
          </p:cNvSpPr>
          <p:nvPr>
            <p:ph type="title"/>
          </p:nvPr>
        </p:nvSpPr>
        <p:spPr>
          <a:xfrm>
            <a:off x="792000" y="360000"/>
            <a:ext cx="6375921" cy="429413"/>
          </a:xfrm>
        </p:spPr>
        <p:txBody>
          <a:bodyPr>
            <a:normAutofit/>
          </a:bodyPr>
          <a:lstStyle/>
          <a:p>
            <a:r>
              <a:rPr lang="zh-CN" altLang="en-US"/>
              <a:t>约束</a:t>
            </a:r>
          </a:p>
        </p:txBody>
      </p:sp>
      <p:sp>
        <p:nvSpPr>
          <p:cNvPr id="5" name="内容占位符 4">
            <a:extLst>
              <a:ext uri="{FF2B5EF4-FFF2-40B4-BE49-F238E27FC236}">
                <a16:creationId xmlns:a16="http://schemas.microsoft.com/office/drawing/2014/main" id="{714E7AD4-CD83-0529-09C7-E558BC672CB3}"/>
              </a:ext>
            </a:extLst>
          </p:cNvPr>
          <p:cNvSpPr>
            <a:spLocks noGrp="1"/>
          </p:cNvSpPr>
          <p:nvPr>
            <p:ph idx="1"/>
          </p:nvPr>
        </p:nvSpPr>
        <p:spPr/>
        <p:txBody>
          <a:bodyPr/>
          <a:lstStyle/>
          <a:p>
            <a:endParaRPr lang="zh-CN" altLang="en-US"/>
          </a:p>
        </p:txBody>
      </p:sp>
      <p:sp>
        <p:nvSpPr>
          <p:cNvPr id="18" name="文本占位符 17">
            <a:extLst>
              <a:ext uri="{FF2B5EF4-FFF2-40B4-BE49-F238E27FC236}">
                <a16:creationId xmlns:a16="http://schemas.microsoft.com/office/drawing/2014/main" id="{35B4A9CE-EB33-D57B-AEF1-4008E044EED1}"/>
              </a:ext>
            </a:extLst>
          </p:cNvPr>
          <p:cNvSpPr>
            <a:spLocks noGrp="1"/>
          </p:cNvSpPr>
          <p:nvPr>
            <p:ph type="body" sz="quarter" idx="10"/>
          </p:nvPr>
        </p:nvSpPr>
        <p:spPr>
          <a:xfrm>
            <a:off x="7071919" y="448519"/>
            <a:ext cx="4424080" cy="338554"/>
          </a:xfrm>
        </p:spPr>
        <p:txBody>
          <a:bodyPr/>
          <a:lstStyle/>
          <a:p>
            <a:r>
              <a:rPr lang="en-US" altLang="zh-CN"/>
              <a:t>Triple Constraint Diagram</a:t>
            </a:r>
            <a:endParaRPr lang="zh-CN" altLang="en-US"/>
          </a:p>
        </p:txBody>
      </p:sp>
      <p:sp>
        <p:nvSpPr>
          <p:cNvPr id="21" name="文本框 20">
            <a:extLst>
              <a:ext uri="{FF2B5EF4-FFF2-40B4-BE49-F238E27FC236}">
                <a16:creationId xmlns:a16="http://schemas.microsoft.com/office/drawing/2014/main" id="{F998C7B8-46D9-E83C-D2AC-790D6EC6195B}"/>
              </a:ext>
            </a:extLst>
          </p:cNvPr>
          <p:cNvSpPr txBox="1"/>
          <p:nvPr/>
        </p:nvSpPr>
        <p:spPr>
          <a:xfrm>
            <a:off x="4310743" y="1249144"/>
            <a:ext cx="4330032" cy="646331"/>
          </a:xfrm>
          <a:prstGeom prst="rect">
            <a:avLst/>
          </a:prstGeom>
          <a:noFill/>
        </p:spPr>
        <p:txBody>
          <a:bodyPr wrap="none" rtlCol="0">
            <a:spAutoFit/>
          </a:bodyPr>
          <a:lstStyle/>
          <a:p>
            <a:r>
              <a:rPr lang="en-US" altLang="zh-CN" dirty="0"/>
              <a:t>The tasks</a:t>
            </a:r>
          </a:p>
          <a:p>
            <a:r>
              <a:rPr lang="en-US" altLang="zh-CN" dirty="0"/>
              <a:t>required to fulfill the project’s goals</a:t>
            </a:r>
          </a:p>
        </p:txBody>
      </p:sp>
      <p:sp>
        <p:nvSpPr>
          <p:cNvPr id="22" name="文本框 21">
            <a:extLst>
              <a:ext uri="{FF2B5EF4-FFF2-40B4-BE49-F238E27FC236}">
                <a16:creationId xmlns:a16="http://schemas.microsoft.com/office/drawing/2014/main" id="{E2DA17C7-80A0-40A4-D18C-CEAA73FA21C7}"/>
              </a:ext>
            </a:extLst>
          </p:cNvPr>
          <p:cNvSpPr txBox="1"/>
          <p:nvPr/>
        </p:nvSpPr>
        <p:spPr>
          <a:xfrm>
            <a:off x="821094" y="3815648"/>
            <a:ext cx="3489649" cy="923330"/>
          </a:xfrm>
          <a:prstGeom prst="rect">
            <a:avLst/>
          </a:prstGeom>
          <a:noFill/>
        </p:spPr>
        <p:txBody>
          <a:bodyPr wrap="square" rtlCol="0">
            <a:spAutoFit/>
          </a:bodyPr>
          <a:lstStyle/>
          <a:p>
            <a:pPr algn="r"/>
            <a:r>
              <a:rPr lang="en-US" altLang="zh-CN"/>
              <a:t>The financial constraints of a project, also known as the project budget</a:t>
            </a:r>
          </a:p>
        </p:txBody>
      </p:sp>
      <p:sp>
        <p:nvSpPr>
          <p:cNvPr id="25" name="文本框 24">
            <a:extLst>
              <a:ext uri="{FF2B5EF4-FFF2-40B4-BE49-F238E27FC236}">
                <a16:creationId xmlns:a16="http://schemas.microsoft.com/office/drawing/2014/main" id="{0646777D-4340-C671-94EC-0995E0A595AA}"/>
              </a:ext>
            </a:extLst>
          </p:cNvPr>
          <p:cNvSpPr txBox="1"/>
          <p:nvPr/>
        </p:nvSpPr>
        <p:spPr>
          <a:xfrm>
            <a:off x="7881259" y="3815648"/>
            <a:ext cx="2855595" cy="923330"/>
          </a:xfrm>
          <a:prstGeom prst="rect">
            <a:avLst/>
          </a:prstGeom>
          <a:noFill/>
        </p:spPr>
        <p:txBody>
          <a:bodyPr wrap="square" rtlCol="0">
            <a:spAutoFit/>
          </a:bodyPr>
          <a:lstStyle/>
          <a:p>
            <a:r>
              <a:rPr lang="en-US" altLang="zh-CN"/>
              <a:t>The schedule</a:t>
            </a:r>
          </a:p>
          <a:p>
            <a:r>
              <a:rPr lang="en-US" altLang="zh-CN"/>
              <a:t>for the project to reach completion</a:t>
            </a:r>
            <a:endParaRPr lang="zh-CN" altLang="en-US"/>
          </a:p>
        </p:txBody>
      </p:sp>
      <p:pic>
        <p:nvPicPr>
          <p:cNvPr id="29" name="图形 28" descr="硬币">
            <a:extLst>
              <a:ext uri="{FF2B5EF4-FFF2-40B4-BE49-F238E27FC236}">
                <a16:creationId xmlns:a16="http://schemas.microsoft.com/office/drawing/2014/main" id="{DAF165AB-7164-78C7-FA98-223268FDE5E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84627" y="4198978"/>
            <a:ext cx="540000" cy="540000"/>
          </a:xfrm>
          <a:prstGeom prst="rect">
            <a:avLst/>
          </a:prstGeom>
        </p:spPr>
      </p:pic>
      <p:pic>
        <p:nvPicPr>
          <p:cNvPr id="31" name="图形 30" descr="清单">
            <a:extLst>
              <a:ext uri="{FF2B5EF4-FFF2-40B4-BE49-F238E27FC236}">
                <a16:creationId xmlns:a16="http://schemas.microsoft.com/office/drawing/2014/main" id="{7E3A5C84-3367-F662-C583-279FB6DF2FD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826000" y="2466725"/>
            <a:ext cx="540000" cy="540000"/>
          </a:xfrm>
          <a:prstGeom prst="rect">
            <a:avLst/>
          </a:prstGeom>
        </p:spPr>
      </p:pic>
      <p:pic>
        <p:nvPicPr>
          <p:cNvPr id="15" name="内容占位符 26" descr="时钟">
            <a:extLst>
              <a:ext uri="{FF2B5EF4-FFF2-40B4-BE49-F238E27FC236}">
                <a16:creationId xmlns:a16="http://schemas.microsoft.com/office/drawing/2014/main" id="{2FA749CD-DA96-5D61-98F9-DDE1A6EA1D1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834378" y="4198978"/>
            <a:ext cx="540000" cy="540000"/>
          </a:xfrm>
          <a:prstGeom prst="rect">
            <a:avLst/>
          </a:prstGeom>
        </p:spPr>
      </p:pic>
    </p:spTree>
    <p:extLst>
      <p:ext uri="{BB962C8B-B14F-4D97-AF65-F5344CB8AC3E}">
        <p14:creationId xmlns:p14="http://schemas.microsoft.com/office/powerpoint/2010/main" val="4057873813"/>
      </p:ext>
    </p:extLst>
  </p:cSld>
  <p:clrMapOvr>
    <a:masterClrMapping/>
  </p:clrMapOvr>
</p:sld>
</file>

<file path=ppt/slides/slide4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336B65-CD14-D8DC-209A-4A34FFB3E405}"/>
              </a:ext>
            </a:extLst>
          </p:cNvPr>
          <p:cNvSpPr>
            <a:spLocks noGrp="1"/>
          </p:cNvSpPr>
          <p:nvPr>
            <p:ph type="title"/>
          </p:nvPr>
        </p:nvSpPr>
        <p:spPr>
          <a:xfrm>
            <a:off x="792000" y="360000"/>
            <a:ext cx="6375921" cy="429413"/>
          </a:xfrm>
        </p:spPr>
        <p:txBody>
          <a:bodyPr>
            <a:normAutofit/>
          </a:bodyPr>
          <a:lstStyle/>
          <a:p>
            <a:r>
              <a:rPr lang="en-US" altLang="zh-CN"/>
              <a:t>Example</a:t>
            </a:r>
            <a:endParaRPr lang="zh-CN" altLang="en-US"/>
          </a:p>
        </p:txBody>
      </p:sp>
      <p:sp>
        <p:nvSpPr>
          <p:cNvPr id="5" name="内容占位符 4">
            <a:extLst>
              <a:ext uri="{FF2B5EF4-FFF2-40B4-BE49-F238E27FC236}">
                <a16:creationId xmlns:a16="http://schemas.microsoft.com/office/drawing/2014/main" id="{6533F0E3-E562-1BD0-CC49-2E461DB0A6D8}"/>
              </a:ext>
            </a:extLst>
          </p:cNvPr>
          <p:cNvSpPr>
            <a:spLocks noGrp="1"/>
          </p:cNvSpPr>
          <p:nvPr>
            <p:ph idx="1"/>
          </p:nvPr>
        </p:nvSpPr>
        <p:spPr>
          <a:xfrm>
            <a:off x="696000" y="864000"/>
            <a:ext cx="10800000" cy="5400000"/>
          </a:xfrm>
        </p:spPr>
        <p:txBody>
          <a:bodyPr/>
          <a:lstStyle/>
          <a:p>
            <a:r>
              <a:rPr lang="zh-CN" altLang="en-US"/>
              <a:t>假设正在建设一个小型零售店，大约</a:t>
            </a:r>
            <a:r>
              <a:rPr lang="en-US" altLang="zh-CN"/>
              <a:t>2,000</a:t>
            </a:r>
            <a:r>
              <a:rPr lang="zh-CN" altLang="en-US"/>
              <a:t>平方英尺。项目时间为</a:t>
            </a:r>
            <a:r>
              <a:rPr lang="en-US" altLang="zh-CN"/>
              <a:t>6</a:t>
            </a:r>
            <a:r>
              <a:rPr lang="zh-CN" altLang="en-US"/>
              <a:t>个月，预算为</a:t>
            </a:r>
            <a:r>
              <a:rPr lang="en-US" altLang="zh-CN"/>
              <a:t>30</a:t>
            </a:r>
            <a:r>
              <a:rPr lang="zh-CN" altLang="en-US"/>
              <a:t>万美元</a:t>
            </a:r>
            <a:endParaRPr lang="en-US" altLang="zh-CN"/>
          </a:p>
          <a:p>
            <a:r>
              <a:rPr lang="zh-CN" altLang="en-US"/>
              <a:t>如果客户在最后一刻提出增加</a:t>
            </a:r>
            <a:r>
              <a:rPr lang="en-US" altLang="zh-CN"/>
              <a:t>500</a:t>
            </a:r>
            <a:r>
              <a:rPr lang="zh-CN" altLang="en-US"/>
              <a:t>平方英尺的要求：</a:t>
            </a:r>
            <a:endParaRPr lang="en-US" altLang="zh-CN"/>
          </a:p>
          <a:p>
            <a:pPr lvl="1"/>
            <a:r>
              <a:rPr lang="zh-CN" altLang="en-US"/>
              <a:t>扩大项目范围</a:t>
            </a:r>
            <a:endParaRPr lang="en-US" altLang="zh-CN"/>
          </a:p>
          <a:p>
            <a:pPr lvl="1"/>
            <a:r>
              <a:rPr lang="zh-CN" altLang="en-US"/>
              <a:t>要么时间表必须推迟，要么预算增加</a:t>
            </a:r>
          </a:p>
        </p:txBody>
      </p:sp>
      <p:sp>
        <p:nvSpPr>
          <p:cNvPr id="6" name="文本占位符 5">
            <a:extLst>
              <a:ext uri="{FF2B5EF4-FFF2-40B4-BE49-F238E27FC236}">
                <a16:creationId xmlns:a16="http://schemas.microsoft.com/office/drawing/2014/main" id="{AFCA8D41-96CD-F50D-4A6D-D2CFD1086E72}"/>
              </a:ext>
            </a:extLst>
          </p:cNvPr>
          <p:cNvSpPr>
            <a:spLocks noGrp="1"/>
          </p:cNvSpPr>
          <p:nvPr>
            <p:ph type="body" sz="quarter" idx="10"/>
          </p:nvPr>
        </p:nvSpPr>
        <p:spPr>
          <a:xfrm>
            <a:off x="7071919" y="448519"/>
            <a:ext cx="4424080" cy="338554"/>
          </a:xfrm>
        </p:spPr>
        <p:txBody>
          <a:bodyPr/>
          <a:lstStyle/>
          <a:p>
            <a:r>
              <a:rPr lang="en-US" altLang="zh-CN"/>
              <a:t>Construction project Triple Constraint</a:t>
            </a:r>
            <a:endParaRPr lang="zh-CN" altLang="en-US"/>
          </a:p>
        </p:txBody>
      </p:sp>
    </p:spTree>
    <p:extLst>
      <p:ext uri="{BB962C8B-B14F-4D97-AF65-F5344CB8AC3E}">
        <p14:creationId xmlns:p14="http://schemas.microsoft.com/office/powerpoint/2010/main" val="100991124"/>
      </p:ext>
    </p:extLst>
  </p:cSld>
  <p:clrMapOvr>
    <a:masterClrMapping/>
  </p:clrMapOvr>
</p:sld>
</file>

<file path=ppt/slides/slide4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57E22E-3DE1-3CC9-4281-208AB4D4CFB4}"/>
              </a:ext>
            </a:extLst>
          </p:cNvPr>
          <p:cNvSpPr>
            <a:spLocks noGrp="1"/>
          </p:cNvSpPr>
          <p:nvPr>
            <p:ph type="title"/>
          </p:nvPr>
        </p:nvSpPr>
        <p:spPr>
          <a:xfrm>
            <a:off x="792000" y="360000"/>
            <a:ext cx="6375921" cy="429413"/>
          </a:xfrm>
        </p:spPr>
        <p:txBody>
          <a:bodyPr>
            <a:normAutofit/>
          </a:bodyPr>
          <a:lstStyle/>
          <a:p>
            <a:r>
              <a:rPr lang="en-US" altLang="zh-CN"/>
              <a:t>Example</a:t>
            </a:r>
            <a:endParaRPr lang="zh-CN" altLang="en-US"/>
          </a:p>
        </p:txBody>
      </p:sp>
      <p:sp>
        <p:nvSpPr>
          <p:cNvPr id="3" name="内容占位符 2">
            <a:extLst>
              <a:ext uri="{FF2B5EF4-FFF2-40B4-BE49-F238E27FC236}">
                <a16:creationId xmlns:a16="http://schemas.microsoft.com/office/drawing/2014/main" id="{E10AADB8-38F4-68BF-D326-32B00A7E0275}"/>
              </a:ext>
            </a:extLst>
          </p:cNvPr>
          <p:cNvSpPr>
            <a:spLocks noGrp="1"/>
          </p:cNvSpPr>
          <p:nvPr>
            <p:ph idx="1"/>
          </p:nvPr>
        </p:nvSpPr>
        <p:spPr>
          <a:xfrm>
            <a:off x="696000" y="864000"/>
            <a:ext cx="10800000" cy="5400000"/>
          </a:xfrm>
        </p:spPr>
        <p:txBody>
          <a:bodyPr/>
          <a:lstStyle/>
          <a:p>
            <a:r>
              <a:rPr lang="zh-CN" altLang="en-US"/>
              <a:t>如果一个销售团队需要建立一个新的客户关系管理系统</a:t>
            </a:r>
            <a:r>
              <a:rPr lang="en-US" altLang="zh-CN"/>
              <a:t>CRM</a:t>
            </a:r>
            <a:r>
              <a:rPr lang="zh-CN" altLang="en-US"/>
              <a:t>，他们可能有</a:t>
            </a:r>
            <a:r>
              <a:rPr lang="en-US" altLang="zh-CN"/>
              <a:t>9</a:t>
            </a:r>
            <a:r>
              <a:rPr lang="zh-CN" altLang="en-US"/>
              <a:t>个月的时间框架和</a:t>
            </a:r>
            <a:r>
              <a:rPr lang="en-US" altLang="zh-CN"/>
              <a:t>25</a:t>
            </a:r>
            <a:r>
              <a:rPr lang="zh-CN" altLang="en-US"/>
              <a:t>万美元的预算。在范围方面，</a:t>
            </a:r>
            <a:r>
              <a:rPr lang="en-US" altLang="zh-CN"/>
              <a:t>CRM</a:t>
            </a:r>
            <a:r>
              <a:rPr lang="zh-CN" altLang="en-US"/>
              <a:t>需要包括潜在客户管理、销售报告和联系跟踪</a:t>
            </a:r>
            <a:endParaRPr lang="en-US" altLang="zh-CN"/>
          </a:p>
          <a:p>
            <a:r>
              <a:rPr lang="zh-CN" altLang="en-US"/>
              <a:t>如果销售团队要求系统在</a:t>
            </a:r>
            <a:r>
              <a:rPr lang="en-US" altLang="zh-CN"/>
              <a:t>6</a:t>
            </a:r>
            <a:r>
              <a:rPr lang="zh-CN" altLang="en-US"/>
              <a:t>个月内准备就绪：</a:t>
            </a:r>
            <a:endParaRPr lang="en-US" altLang="zh-CN"/>
          </a:p>
          <a:p>
            <a:pPr lvl="1"/>
            <a:r>
              <a:rPr lang="zh-CN" altLang="en-US"/>
              <a:t>减少范围</a:t>
            </a:r>
            <a:endParaRPr lang="en-US" altLang="zh-CN"/>
          </a:p>
          <a:p>
            <a:pPr lvl="1"/>
            <a:r>
              <a:rPr lang="zh-CN" altLang="en-US"/>
              <a:t>增加预算</a:t>
            </a:r>
          </a:p>
        </p:txBody>
      </p:sp>
      <p:sp>
        <p:nvSpPr>
          <p:cNvPr id="6" name="文本占位符 5">
            <a:extLst>
              <a:ext uri="{FF2B5EF4-FFF2-40B4-BE49-F238E27FC236}">
                <a16:creationId xmlns:a16="http://schemas.microsoft.com/office/drawing/2014/main" id="{B47CC1A2-D243-81DF-4342-89DC8AA81764}"/>
              </a:ext>
            </a:extLst>
          </p:cNvPr>
          <p:cNvSpPr>
            <a:spLocks noGrp="1"/>
          </p:cNvSpPr>
          <p:nvPr>
            <p:ph type="body" sz="quarter" idx="10"/>
          </p:nvPr>
        </p:nvSpPr>
        <p:spPr>
          <a:xfrm>
            <a:off x="7071919" y="448519"/>
            <a:ext cx="4424080" cy="338554"/>
          </a:xfrm>
        </p:spPr>
        <p:txBody>
          <a:bodyPr/>
          <a:lstStyle/>
          <a:p>
            <a:r>
              <a:rPr lang="en-US" altLang="zh-CN"/>
              <a:t>IT project Triple Constraint</a:t>
            </a:r>
            <a:endParaRPr lang="zh-CN" altLang="en-US"/>
          </a:p>
        </p:txBody>
      </p:sp>
    </p:spTree>
    <p:extLst>
      <p:ext uri="{BB962C8B-B14F-4D97-AF65-F5344CB8AC3E}">
        <p14:creationId xmlns:p14="http://schemas.microsoft.com/office/powerpoint/2010/main" val="338979811"/>
      </p:ext>
    </p:extLst>
  </p:cSld>
  <p:clrMapOvr>
    <a:masterClrMapping/>
  </p:clrMapOvr>
</p:sld>
</file>

<file path=ppt/slides/slide4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E78845-DCE9-B251-2BAF-6A8452142989}"/>
              </a:ext>
            </a:extLst>
          </p:cNvPr>
          <p:cNvSpPr>
            <a:spLocks noGrp="1"/>
          </p:cNvSpPr>
          <p:nvPr>
            <p:ph type="title"/>
          </p:nvPr>
        </p:nvSpPr>
        <p:spPr>
          <a:xfrm>
            <a:off x="792000" y="360000"/>
            <a:ext cx="6375921" cy="429413"/>
          </a:xfrm>
        </p:spPr>
        <p:txBody>
          <a:bodyPr>
            <a:normAutofit/>
          </a:bodyPr>
          <a:lstStyle/>
          <a:p>
            <a:r>
              <a:rPr lang="en-US" altLang="zh-CN"/>
              <a:t>Example</a:t>
            </a:r>
            <a:endParaRPr lang="zh-CN" altLang="en-US"/>
          </a:p>
        </p:txBody>
      </p:sp>
      <p:sp>
        <p:nvSpPr>
          <p:cNvPr id="5" name="内容占位符 4">
            <a:extLst>
              <a:ext uri="{FF2B5EF4-FFF2-40B4-BE49-F238E27FC236}">
                <a16:creationId xmlns:a16="http://schemas.microsoft.com/office/drawing/2014/main" id="{67A14637-32C6-3EBE-553B-85FD5C9D17D2}"/>
              </a:ext>
            </a:extLst>
          </p:cNvPr>
          <p:cNvSpPr>
            <a:spLocks noGrp="1"/>
          </p:cNvSpPr>
          <p:nvPr>
            <p:ph idx="1"/>
          </p:nvPr>
        </p:nvSpPr>
        <p:spPr>
          <a:xfrm>
            <a:off x="696000" y="864000"/>
            <a:ext cx="10800000" cy="5400000"/>
          </a:xfrm>
        </p:spPr>
        <p:txBody>
          <a:bodyPr/>
          <a:lstStyle/>
          <a:p>
            <a:r>
              <a:rPr lang="zh-CN" altLang="en-US"/>
              <a:t>假设一家制造公司正在生产</a:t>
            </a:r>
            <a:r>
              <a:rPr lang="en-US" altLang="zh-CN"/>
              <a:t>5,000</a:t>
            </a:r>
            <a:r>
              <a:rPr lang="zh-CN" altLang="en-US"/>
              <a:t>台新型智能家居设备。它需要包含应用程序集成和语音控制，每台设备的制造成本不能超过</a:t>
            </a:r>
            <a:r>
              <a:rPr lang="en-US" altLang="zh-CN"/>
              <a:t>50</a:t>
            </a:r>
            <a:r>
              <a:rPr lang="zh-CN" altLang="en-US"/>
              <a:t>美元，并且所有设备必须在</a:t>
            </a:r>
            <a:r>
              <a:rPr lang="en-US" altLang="zh-CN"/>
              <a:t>3</a:t>
            </a:r>
            <a:r>
              <a:rPr lang="zh-CN" altLang="en-US"/>
              <a:t>个月内生产完成</a:t>
            </a:r>
            <a:endParaRPr lang="en-US" altLang="zh-CN"/>
          </a:p>
          <a:p>
            <a:r>
              <a:rPr lang="zh-CN" altLang="en-US"/>
              <a:t>如果预算中突然出现成本变化，并且每台设备的制造成本不能超过</a:t>
            </a:r>
            <a:r>
              <a:rPr lang="en-US" altLang="zh-CN"/>
              <a:t>40</a:t>
            </a:r>
            <a:r>
              <a:rPr lang="zh-CN" altLang="en-US"/>
              <a:t>美元：</a:t>
            </a:r>
            <a:endParaRPr lang="en-US" altLang="zh-CN"/>
          </a:p>
          <a:p>
            <a:pPr lvl="1"/>
            <a:r>
              <a:rPr lang="zh-CN" altLang="en-US"/>
              <a:t>要么需要放慢速度，这将延长预算</a:t>
            </a:r>
            <a:endParaRPr lang="en-US" altLang="zh-CN"/>
          </a:p>
          <a:p>
            <a:pPr lvl="1"/>
            <a:r>
              <a:rPr lang="zh-CN" altLang="en-US"/>
              <a:t>要么范围将需要缩减</a:t>
            </a:r>
          </a:p>
        </p:txBody>
      </p:sp>
      <p:sp>
        <p:nvSpPr>
          <p:cNvPr id="6" name="文本占位符 5">
            <a:extLst>
              <a:ext uri="{FF2B5EF4-FFF2-40B4-BE49-F238E27FC236}">
                <a16:creationId xmlns:a16="http://schemas.microsoft.com/office/drawing/2014/main" id="{AAB54011-8869-3D47-C6D3-AA9BA832B46E}"/>
              </a:ext>
            </a:extLst>
          </p:cNvPr>
          <p:cNvSpPr>
            <a:spLocks noGrp="1"/>
          </p:cNvSpPr>
          <p:nvPr>
            <p:ph type="body" sz="quarter" idx="10"/>
          </p:nvPr>
        </p:nvSpPr>
        <p:spPr>
          <a:xfrm>
            <a:off x="7071919" y="448519"/>
            <a:ext cx="4424080" cy="338554"/>
          </a:xfrm>
        </p:spPr>
        <p:txBody>
          <a:bodyPr/>
          <a:lstStyle/>
          <a:p>
            <a:r>
              <a:rPr lang="en-US" altLang="zh-CN"/>
              <a:t>Manufacturing Triple Constraint</a:t>
            </a:r>
            <a:endParaRPr lang="zh-CN" altLang="en-US"/>
          </a:p>
        </p:txBody>
      </p:sp>
    </p:spTree>
    <p:extLst>
      <p:ext uri="{BB962C8B-B14F-4D97-AF65-F5344CB8AC3E}">
        <p14:creationId xmlns:p14="http://schemas.microsoft.com/office/powerpoint/2010/main" val="364262728"/>
      </p:ext>
    </p:extLst>
  </p:cSld>
  <p:clrMapOvr>
    <a:masterClrMapping/>
  </p:clrMapOvr>
</p:sld>
</file>

<file path=ppt/slides/slide4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E3AA5-6235-0E22-9AB2-CDC282765F8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BE58437-882C-21E9-813E-164FFBFD2BC0}"/>
              </a:ext>
            </a:extLst>
          </p:cNvPr>
          <p:cNvSpPr>
            <a:spLocks noGrp="1"/>
          </p:cNvSpPr>
          <p:nvPr>
            <p:ph type="ctrTitle"/>
          </p:nvPr>
        </p:nvSpPr>
        <p:spPr>
          <a:xfrm>
            <a:off x="2464886" y="4681056"/>
            <a:ext cx="7262228" cy="798491"/>
          </a:xfrm>
        </p:spPr>
        <p:txBody>
          <a:bodyPr/>
          <a:lstStyle/>
          <a:p>
            <a:r>
              <a:rPr lang="zh-CN" altLang="en-US"/>
              <a:t>项目结束</a:t>
            </a:r>
          </a:p>
        </p:txBody>
      </p:sp>
      <p:sp>
        <p:nvSpPr>
          <p:cNvPr id="3" name="副标题 2">
            <a:extLst>
              <a:ext uri="{FF2B5EF4-FFF2-40B4-BE49-F238E27FC236}">
                <a16:creationId xmlns:a16="http://schemas.microsoft.com/office/drawing/2014/main" id="{96EDA69B-AE1D-30B4-9A84-9FF3D5640890}"/>
              </a:ext>
            </a:extLst>
          </p:cNvPr>
          <p:cNvSpPr>
            <a:spLocks noGrp="1"/>
          </p:cNvSpPr>
          <p:nvPr>
            <p:ph type="subTitle" idx="1"/>
          </p:nvPr>
        </p:nvSpPr>
        <p:spPr>
          <a:xfrm>
            <a:off x="2464886" y="5479548"/>
            <a:ext cx="7262228" cy="458180"/>
          </a:xfrm>
        </p:spPr>
        <p:txBody>
          <a:bodyPr/>
          <a:lstStyle/>
          <a:p>
            <a:r>
              <a:rPr lang="en-US" altLang="zh-CN"/>
              <a:t>Section 12 Project Closure</a:t>
            </a:r>
            <a:endParaRPr lang="zh-CN" altLang="en-US"/>
          </a:p>
        </p:txBody>
      </p:sp>
      <p:sp>
        <p:nvSpPr>
          <p:cNvPr id="8" name="文本占位符 7">
            <a:extLst>
              <a:ext uri="{FF2B5EF4-FFF2-40B4-BE49-F238E27FC236}">
                <a16:creationId xmlns:a16="http://schemas.microsoft.com/office/drawing/2014/main" id="{CC2A82D6-C565-7E48-CAC8-7F767E2947A2}"/>
              </a:ext>
            </a:extLst>
          </p:cNvPr>
          <p:cNvSpPr>
            <a:spLocks noGrp="1"/>
          </p:cNvSpPr>
          <p:nvPr>
            <p:ph type="body" sz="quarter" idx="11"/>
          </p:nvPr>
        </p:nvSpPr>
        <p:spPr>
          <a:xfrm>
            <a:off x="3883891" y="2047875"/>
            <a:ext cx="4424219" cy="2531269"/>
          </a:xfrm>
        </p:spPr>
        <p:txBody>
          <a:bodyPr/>
          <a:lstStyle/>
          <a:p>
            <a:r>
              <a:rPr lang="zh-CN" altLang="en-US"/>
              <a:t>项目终止</a:t>
            </a:r>
            <a:endParaRPr lang="en-US" altLang="zh-CN"/>
          </a:p>
          <a:p>
            <a:r>
              <a:rPr lang="zh-CN" altLang="en-US"/>
              <a:t>项目结束</a:t>
            </a:r>
          </a:p>
        </p:txBody>
      </p:sp>
    </p:spTree>
    <p:extLst>
      <p:ext uri="{BB962C8B-B14F-4D97-AF65-F5344CB8AC3E}">
        <p14:creationId xmlns:p14="http://schemas.microsoft.com/office/powerpoint/2010/main" val="3481589626"/>
      </p:ext>
    </p:extLst>
  </p:cSld>
  <p:clrMapOvr>
    <a:masterClrMapping/>
  </p:clrMapOvr>
</p:sld>
</file>

<file path=ppt/slides/slide4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FF9E6-9E52-7D32-EA63-78543B099B1E}"/>
            </a:ext>
          </a:extLst>
        </p:cNvPr>
        <p:cNvGrpSpPr/>
        <p:nvPr/>
      </p:nvGrpSpPr>
      <p:grpSpPr>
        <a:xfrm>
          <a:off x="0" y="0"/>
          <a:ext cx="0" cy="0"/>
          <a:chOff x="0" y="0"/>
          <a:chExt cx="0" cy="0"/>
        </a:xfrm>
      </p:grpSpPr>
      <p:sp>
        <p:nvSpPr>
          <p:cNvPr id="2" name="箭头: V 形 1">
            <a:extLst>
              <a:ext uri="{FF2B5EF4-FFF2-40B4-BE49-F238E27FC236}">
                <a16:creationId xmlns:a16="http://schemas.microsoft.com/office/drawing/2014/main" id="{22F5552A-DF44-C5CE-809F-A81022766E52}"/>
              </a:ext>
            </a:extLst>
          </p:cNvPr>
          <p:cNvSpPr/>
          <p:nvPr/>
        </p:nvSpPr>
        <p:spPr>
          <a:xfrm>
            <a:off x="2454444" y="1897626"/>
            <a:ext cx="1800000" cy="360000"/>
          </a:xfrm>
          <a:prstGeom prst="chevron">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项目开始</a:t>
            </a:r>
          </a:p>
        </p:txBody>
      </p:sp>
      <p:sp>
        <p:nvSpPr>
          <p:cNvPr id="3" name="箭头: V 形 2">
            <a:extLst>
              <a:ext uri="{FF2B5EF4-FFF2-40B4-BE49-F238E27FC236}">
                <a16:creationId xmlns:a16="http://schemas.microsoft.com/office/drawing/2014/main" id="{B0B0C284-6A0B-7808-6BDD-1EABFF41627B}"/>
              </a:ext>
            </a:extLst>
          </p:cNvPr>
          <p:cNvSpPr/>
          <p:nvPr/>
        </p:nvSpPr>
        <p:spPr>
          <a:xfrm>
            <a:off x="4180548" y="1897626"/>
            <a:ext cx="1800000" cy="360000"/>
          </a:xfrm>
          <a:prstGeom prst="chevron">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rPr>
              <a:t>项目计划</a:t>
            </a:r>
          </a:p>
        </p:txBody>
      </p:sp>
      <p:sp>
        <p:nvSpPr>
          <p:cNvPr id="4" name="箭头: V 形 3">
            <a:extLst>
              <a:ext uri="{FF2B5EF4-FFF2-40B4-BE49-F238E27FC236}">
                <a16:creationId xmlns:a16="http://schemas.microsoft.com/office/drawing/2014/main" id="{3274B640-F850-8487-966F-C2227FACB8DF}"/>
              </a:ext>
            </a:extLst>
          </p:cNvPr>
          <p:cNvSpPr/>
          <p:nvPr/>
        </p:nvSpPr>
        <p:spPr>
          <a:xfrm>
            <a:off x="5906652" y="1897626"/>
            <a:ext cx="1800000" cy="360000"/>
          </a:xfrm>
          <a:prstGeom prst="chevron">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项目执行控制</a:t>
            </a:r>
          </a:p>
        </p:txBody>
      </p:sp>
      <p:sp>
        <p:nvSpPr>
          <p:cNvPr id="18" name="箭头: V 形 17">
            <a:extLst>
              <a:ext uri="{FF2B5EF4-FFF2-40B4-BE49-F238E27FC236}">
                <a16:creationId xmlns:a16="http://schemas.microsoft.com/office/drawing/2014/main" id="{5A6EA27C-45C8-20D7-67FA-F5A2ED22814E}"/>
              </a:ext>
            </a:extLst>
          </p:cNvPr>
          <p:cNvSpPr/>
          <p:nvPr/>
        </p:nvSpPr>
        <p:spPr>
          <a:xfrm>
            <a:off x="7632755" y="1897626"/>
            <a:ext cx="1800000" cy="360000"/>
          </a:xfrm>
          <a:prstGeom prst="chevron">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rPr>
              <a:t>项目结束</a:t>
            </a:r>
          </a:p>
        </p:txBody>
      </p:sp>
      <p:sp>
        <p:nvSpPr>
          <p:cNvPr id="19" name="矩形 18">
            <a:extLst>
              <a:ext uri="{FF2B5EF4-FFF2-40B4-BE49-F238E27FC236}">
                <a16:creationId xmlns:a16="http://schemas.microsoft.com/office/drawing/2014/main" id="{7BC81C92-1C8F-C449-2ED2-3F402F54AD92}"/>
              </a:ext>
            </a:extLst>
          </p:cNvPr>
          <p:cNvSpPr/>
          <p:nvPr/>
        </p:nvSpPr>
        <p:spPr>
          <a:xfrm>
            <a:off x="3453041"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范围计划</a:t>
            </a:r>
          </a:p>
        </p:txBody>
      </p:sp>
      <p:sp>
        <p:nvSpPr>
          <p:cNvPr id="20" name="矩形 19">
            <a:extLst>
              <a:ext uri="{FF2B5EF4-FFF2-40B4-BE49-F238E27FC236}">
                <a16:creationId xmlns:a16="http://schemas.microsoft.com/office/drawing/2014/main" id="{EEE9421A-C36D-DB9A-22CC-45495F2850CB}"/>
              </a:ext>
            </a:extLst>
          </p:cNvPr>
          <p:cNvSpPr/>
          <p:nvPr/>
        </p:nvSpPr>
        <p:spPr>
          <a:xfrm>
            <a:off x="4147174"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成本计划</a:t>
            </a:r>
          </a:p>
        </p:txBody>
      </p:sp>
      <p:sp>
        <p:nvSpPr>
          <p:cNvPr id="21" name="矩形 20">
            <a:extLst>
              <a:ext uri="{FF2B5EF4-FFF2-40B4-BE49-F238E27FC236}">
                <a16:creationId xmlns:a16="http://schemas.microsoft.com/office/drawing/2014/main" id="{E1DB7350-DD18-37F7-98B1-E28610217F0E}"/>
              </a:ext>
            </a:extLst>
          </p:cNvPr>
          <p:cNvSpPr/>
          <p:nvPr/>
        </p:nvSpPr>
        <p:spPr>
          <a:xfrm>
            <a:off x="4840750"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进度计划</a:t>
            </a:r>
          </a:p>
        </p:txBody>
      </p:sp>
      <p:sp>
        <p:nvSpPr>
          <p:cNvPr id="22" name="矩形 21">
            <a:extLst>
              <a:ext uri="{FF2B5EF4-FFF2-40B4-BE49-F238E27FC236}">
                <a16:creationId xmlns:a16="http://schemas.microsoft.com/office/drawing/2014/main" id="{391F5664-B67D-B027-3104-690CC62C30D4}"/>
              </a:ext>
            </a:extLst>
          </p:cNvPr>
          <p:cNvSpPr/>
          <p:nvPr/>
        </p:nvSpPr>
        <p:spPr>
          <a:xfrm>
            <a:off x="5534326"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质量计划</a:t>
            </a:r>
          </a:p>
        </p:txBody>
      </p:sp>
      <p:sp>
        <p:nvSpPr>
          <p:cNvPr id="23" name="矩形 22">
            <a:extLst>
              <a:ext uri="{FF2B5EF4-FFF2-40B4-BE49-F238E27FC236}">
                <a16:creationId xmlns:a16="http://schemas.microsoft.com/office/drawing/2014/main" id="{07B44762-E2B2-355C-FAE1-39FE17DEFCC5}"/>
              </a:ext>
            </a:extLst>
          </p:cNvPr>
          <p:cNvSpPr/>
          <p:nvPr/>
        </p:nvSpPr>
        <p:spPr>
          <a:xfrm>
            <a:off x="6227902"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配置管理计划</a:t>
            </a:r>
          </a:p>
        </p:txBody>
      </p:sp>
      <p:sp>
        <p:nvSpPr>
          <p:cNvPr id="24" name="矩形 23">
            <a:extLst>
              <a:ext uri="{FF2B5EF4-FFF2-40B4-BE49-F238E27FC236}">
                <a16:creationId xmlns:a16="http://schemas.microsoft.com/office/drawing/2014/main" id="{86605F54-FCC5-DD50-C52D-1F22A0FBFAD4}"/>
              </a:ext>
            </a:extLst>
          </p:cNvPr>
          <p:cNvSpPr/>
          <p:nvPr/>
        </p:nvSpPr>
        <p:spPr>
          <a:xfrm>
            <a:off x="6921478"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团队计划</a:t>
            </a:r>
          </a:p>
        </p:txBody>
      </p:sp>
      <p:sp>
        <p:nvSpPr>
          <p:cNvPr id="25" name="矩形 24">
            <a:extLst>
              <a:ext uri="{FF2B5EF4-FFF2-40B4-BE49-F238E27FC236}">
                <a16:creationId xmlns:a16="http://schemas.microsoft.com/office/drawing/2014/main" id="{15936D6E-3774-4001-DBA2-E20AFE0D5E17}"/>
              </a:ext>
            </a:extLst>
          </p:cNvPr>
          <p:cNvSpPr/>
          <p:nvPr/>
        </p:nvSpPr>
        <p:spPr>
          <a:xfrm>
            <a:off x="7615054"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风险计划</a:t>
            </a:r>
          </a:p>
        </p:txBody>
      </p:sp>
      <p:sp>
        <p:nvSpPr>
          <p:cNvPr id="26" name="矩形 25">
            <a:extLst>
              <a:ext uri="{FF2B5EF4-FFF2-40B4-BE49-F238E27FC236}">
                <a16:creationId xmlns:a16="http://schemas.microsoft.com/office/drawing/2014/main" id="{7C129CF6-EF62-B26E-DF43-C74210DE14D5}"/>
              </a:ext>
            </a:extLst>
          </p:cNvPr>
          <p:cNvSpPr/>
          <p:nvPr/>
        </p:nvSpPr>
        <p:spPr>
          <a:xfrm>
            <a:off x="8308629"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合同计划</a:t>
            </a:r>
          </a:p>
        </p:txBody>
      </p:sp>
      <p:sp>
        <p:nvSpPr>
          <p:cNvPr id="27" name="矩形 1">
            <a:extLst>
              <a:ext uri="{FF2B5EF4-FFF2-40B4-BE49-F238E27FC236}">
                <a16:creationId xmlns:a16="http://schemas.microsoft.com/office/drawing/2014/main" id="{E38EF968-150D-B96B-5754-5DEBAA71EDCD}"/>
              </a:ext>
            </a:extLst>
          </p:cNvPr>
          <p:cNvSpPr/>
          <p:nvPr/>
        </p:nvSpPr>
        <p:spPr>
          <a:xfrm>
            <a:off x="3453041" y="2466975"/>
            <a:ext cx="5286475" cy="379050"/>
          </a:xfrm>
          <a:custGeom>
            <a:avLst/>
            <a:gdLst>
              <a:gd name="csX0" fmla="*/ 0 w 5286475"/>
              <a:gd name="csY0" fmla="*/ 0 h 360000"/>
              <a:gd name="csX1" fmla="*/ 5286475 w 5286475"/>
              <a:gd name="csY1" fmla="*/ 0 h 360000"/>
              <a:gd name="csX2" fmla="*/ 5286475 w 5286475"/>
              <a:gd name="csY2" fmla="*/ 360000 h 360000"/>
              <a:gd name="csX3" fmla="*/ 0 w 5286475"/>
              <a:gd name="csY3" fmla="*/ 360000 h 360000"/>
              <a:gd name="csX4" fmla="*/ 0 w 5286475"/>
              <a:gd name="csY4" fmla="*/ 0 h 360000"/>
              <a:gd name="csX0" fmla="*/ 2390775 w 5286475"/>
              <a:gd name="csY0" fmla="*/ 0 h 360000"/>
              <a:gd name="csX1" fmla="*/ 5286475 w 5286475"/>
              <a:gd name="csY1" fmla="*/ 0 h 360000"/>
              <a:gd name="csX2" fmla="*/ 5286475 w 5286475"/>
              <a:gd name="csY2" fmla="*/ 360000 h 360000"/>
              <a:gd name="csX3" fmla="*/ 0 w 5286475"/>
              <a:gd name="csY3" fmla="*/ 360000 h 360000"/>
              <a:gd name="csX4" fmla="*/ 2390775 w 5286475"/>
              <a:gd name="csY4" fmla="*/ 0 h 360000"/>
              <a:gd name="csX0" fmla="*/ 2390775 w 5286475"/>
              <a:gd name="csY0" fmla="*/ 19050 h 379050"/>
              <a:gd name="csX1" fmla="*/ 4038700 w 5286475"/>
              <a:gd name="csY1" fmla="*/ 0 h 379050"/>
              <a:gd name="csX2" fmla="*/ 5286475 w 5286475"/>
              <a:gd name="csY2" fmla="*/ 379050 h 379050"/>
              <a:gd name="csX3" fmla="*/ 0 w 5286475"/>
              <a:gd name="csY3" fmla="*/ 379050 h 379050"/>
              <a:gd name="csX4" fmla="*/ 2390775 w 5286475"/>
              <a:gd name="csY4" fmla="*/ 19050 h 379050"/>
              <a:gd name="csX0" fmla="*/ 2390775 w 5286475"/>
              <a:gd name="csY0" fmla="*/ 3175 h 379050"/>
              <a:gd name="csX1" fmla="*/ 4038700 w 5286475"/>
              <a:gd name="csY1" fmla="*/ 0 h 379050"/>
              <a:gd name="csX2" fmla="*/ 5286475 w 5286475"/>
              <a:gd name="csY2" fmla="*/ 379050 h 379050"/>
              <a:gd name="csX3" fmla="*/ 0 w 5286475"/>
              <a:gd name="csY3" fmla="*/ 379050 h 379050"/>
              <a:gd name="csX4" fmla="*/ 2390775 w 5286475"/>
              <a:gd name="csY4" fmla="*/ 3175 h 379050"/>
              <a:gd name="csX0" fmla="*/ 2390775 w 5286475"/>
              <a:gd name="csY0" fmla="*/ 3175 h 379050"/>
              <a:gd name="csX1" fmla="*/ 4038700 w 5286475"/>
              <a:gd name="csY1" fmla="*/ 0 h 379050"/>
              <a:gd name="csX2" fmla="*/ 5286475 w 5286475"/>
              <a:gd name="csY2" fmla="*/ 379050 h 379050"/>
              <a:gd name="csX3" fmla="*/ 0 w 5286475"/>
              <a:gd name="csY3" fmla="*/ 379050 h 379050"/>
              <a:gd name="csX4" fmla="*/ 2390775 w 5286475"/>
              <a:gd name="csY4" fmla="*/ 3175 h 379050"/>
            </a:gdLst>
            <a:ahLst/>
            <a:cxnLst>
              <a:cxn ang="0">
                <a:pos x="csX0" y="csY0"/>
              </a:cxn>
              <a:cxn ang="0">
                <a:pos x="csX1" y="csY1"/>
              </a:cxn>
              <a:cxn ang="0">
                <a:pos x="csX2" y="csY2"/>
              </a:cxn>
              <a:cxn ang="0">
                <a:pos x="csX3" y="csY3"/>
              </a:cxn>
              <a:cxn ang="0">
                <a:pos x="csX4" y="csY4"/>
              </a:cxn>
            </a:cxnLst>
            <a:rect l="l" t="t" r="r" b="b"/>
            <a:pathLst>
              <a:path w="5286475" h="379050">
                <a:moveTo>
                  <a:pt x="2390775" y="3175"/>
                </a:moveTo>
                <a:lnTo>
                  <a:pt x="4038700" y="0"/>
                </a:lnTo>
                <a:lnTo>
                  <a:pt x="5286475" y="379050"/>
                </a:lnTo>
                <a:lnTo>
                  <a:pt x="0" y="379050"/>
                </a:lnTo>
                <a:lnTo>
                  <a:pt x="2390775" y="3175"/>
                </a:lnTo>
                <a:close/>
              </a:path>
            </a:pathLst>
          </a:custGeom>
          <a:gradFill flip="none" rotWithShape="1">
            <a:gsLst>
              <a:gs pos="0">
                <a:schemeClr val="accent5">
                  <a:lumMod val="75000"/>
                </a:schemeClr>
              </a:gs>
              <a:gs pos="100000">
                <a:schemeClr val="bg1">
                  <a:alpha val="0"/>
                </a:scheme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Tree>
    <p:extLst>
      <p:ext uri="{BB962C8B-B14F-4D97-AF65-F5344CB8AC3E}">
        <p14:creationId xmlns:p14="http://schemas.microsoft.com/office/powerpoint/2010/main" val="2327739422"/>
      </p:ext>
    </p:extLst>
  </p:cSld>
  <p:clrMapOvr>
    <a:masterClrMapping/>
  </p:clrMapOvr>
</p:sld>
</file>

<file path=ppt/slides/slide4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A7FDF5-7E87-343E-C5C1-F3EA283A4252}"/>
              </a:ext>
            </a:extLst>
          </p:cNvPr>
          <p:cNvSpPr>
            <a:spLocks noGrp="1"/>
          </p:cNvSpPr>
          <p:nvPr>
            <p:ph type="title"/>
          </p:nvPr>
        </p:nvSpPr>
        <p:spPr>
          <a:xfrm>
            <a:off x="792000" y="360000"/>
            <a:ext cx="6375921" cy="429413"/>
          </a:xfrm>
        </p:spPr>
        <p:txBody>
          <a:bodyPr>
            <a:normAutofit/>
          </a:bodyPr>
          <a:lstStyle/>
          <a:p>
            <a:r>
              <a:rPr lang="zh-CN" altLang="en-US"/>
              <a:t>项目终止条件</a:t>
            </a:r>
          </a:p>
        </p:txBody>
      </p:sp>
      <p:sp>
        <p:nvSpPr>
          <p:cNvPr id="3" name="内容占位符 2">
            <a:extLst>
              <a:ext uri="{FF2B5EF4-FFF2-40B4-BE49-F238E27FC236}">
                <a16:creationId xmlns:a16="http://schemas.microsoft.com/office/drawing/2014/main" id="{50179CB0-F4DB-2F97-22CF-172464C8F8EC}"/>
              </a:ext>
            </a:extLst>
          </p:cNvPr>
          <p:cNvSpPr>
            <a:spLocks noGrp="1"/>
          </p:cNvSpPr>
          <p:nvPr>
            <p:ph idx="1"/>
          </p:nvPr>
        </p:nvSpPr>
        <p:spPr>
          <a:xfrm>
            <a:off x="696000" y="864000"/>
            <a:ext cx="10800000" cy="5400000"/>
          </a:xfrm>
        </p:spPr>
        <p:txBody>
          <a:bodyPr/>
          <a:lstStyle/>
          <a:p>
            <a:r>
              <a:rPr lang="zh-CN" altLang="en-US"/>
              <a:t>项目计划中确定的可交付成果已经出现</a:t>
            </a:r>
            <a:endParaRPr lang="en-US" altLang="zh-CN"/>
          </a:p>
          <a:p>
            <a:pPr lvl="1"/>
            <a:r>
              <a:rPr lang="zh-CN" altLang="en-US"/>
              <a:t>项目的目标已经成功实现</a:t>
            </a:r>
            <a:endParaRPr lang="en-US" altLang="zh-CN"/>
          </a:p>
          <a:p>
            <a:r>
              <a:rPr lang="zh-CN" altLang="en-US"/>
              <a:t>由于相关原因</a:t>
            </a:r>
            <a:r>
              <a:rPr lang="en-US" altLang="zh-CN"/>
              <a:t>,</a:t>
            </a:r>
            <a:r>
              <a:rPr lang="zh-CN" altLang="en-US"/>
              <a:t>项目无法继续进行</a:t>
            </a:r>
            <a:endParaRPr lang="en-US" altLang="zh-CN"/>
          </a:p>
          <a:p>
            <a:pPr lvl="1"/>
            <a:r>
              <a:rPr lang="zh-CN" altLang="en-US"/>
              <a:t>项目已经不具备实用价值</a:t>
            </a:r>
            <a:endParaRPr lang="en-US" altLang="zh-CN"/>
          </a:p>
          <a:p>
            <a:pPr lvl="1"/>
            <a:r>
              <a:rPr lang="zh-CN" altLang="en-US"/>
              <a:t>项目无竞争力，难以生存</a:t>
            </a:r>
            <a:endParaRPr lang="en-US" altLang="zh-CN"/>
          </a:p>
          <a:p>
            <a:pPr lvl="1"/>
            <a:r>
              <a:rPr lang="en-US" altLang="zh-CN"/>
              <a:t>……</a:t>
            </a:r>
          </a:p>
          <a:p>
            <a:endParaRPr lang="zh-CN" altLang="en-US"/>
          </a:p>
        </p:txBody>
      </p:sp>
      <p:sp>
        <p:nvSpPr>
          <p:cNvPr id="7" name="文本占位符 6">
            <a:extLst>
              <a:ext uri="{FF2B5EF4-FFF2-40B4-BE49-F238E27FC236}">
                <a16:creationId xmlns:a16="http://schemas.microsoft.com/office/drawing/2014/main" id="{AD10CFA2-DE2F-5FFC-F6D6-ED768538DF83}"/>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1103176785"/>
      </p:ext>
    </p:extLst>
  </p:cSld>
  <p:clrMapOvr>
    <a:masterClrMapping/>
  </p:clrMapOvr>
</p:sld>
</file>

<file path=ppt/slides/slide4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D8554-3D72-50F0-64FE-B39C6C0E86F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0C7FC0A-4DBA-6022-FE93-0DAB1F808D18}"/>
              </a:ext>
            </a:extLst>
          </p:cNvPr>
          <p:cNvSpPr>
            <a:spLocks noGrp="1"/>
          </p:cNvSpPr>
          <p:nvPr>
            <p:ph type="title"/>
          </p:nvPr>
        </p:nvSpPr>
        <p:spPr>
          <a:xfrm>
            <a:off x="792000" y="360000"/>
            <a:ext cx="6375921" cy="429413"/>
          </a:xfrm>
        </p:spPr>
        <p:txBody>
          <a:bodyPr>
            <a:normAutofit/>
          </a:bodyPr>
          <a:lstStyle/>
          <a:p>
            <a:r>
              <a:rPr lang="zh-CN" altLang="en-US"/>
              <a:t>项目终止过程</a:t>
            </a:r>
          </a:p>
        </p:txBody>
      </p:sp>
      <p:sp>
        <p:nvSpPr>
          <p:cNvPr id="3" name="内容占位符 2">
            <a:extLst>
              <a:ext uri="{FF2B5EF4-FFF2-40B4-BE49-F238E27FC236}">
                <a16:creationId xmlns:a16="http://schemas.microsoft.com/office/drawing/2014/main" id="{D17370DA-8354-08F7-ED21-A63C3A67ED63}"/>
              </a:ext>
            </a:extLst>
          </p:cNvPr>
          <p:cNvSpPr>
            <a:spLocks noGrp="1"/>
          </p:cNvSpPr>
          <p:nvPr>
            <p:ph idx="1"/>
          </p:nvPr>
        </p:nvSpPr>
        <p:spPr>
          <a:xfrm>
            <a:off x="696000" y="864000"/>
            <a:ext cx="10800000" cy="5400000"/>
          </a:xfrm>
        </p:spPr>
        <p:txBody>
          <a:bodyPr/>
          <a:lstStyle/>
          <a:p>
            <a:r>
              <a:rPr lang="zh-CN" altLang="en-US"/>
              <a:t>达到项目的完工或退出标准</a:t>
            </a:r>
            <a:endParaRPr lang="en-US" altLang="zh-CN"/>
          </a:p>
          <a:p>
            <a:r>
              <a:rPr lang="zh-CN" altLang="en-US"/>
              <a:t>完成项目合同协议</a:t>
            </a:r>
            <a:endParaRPr lang="en-US" altLang="zh-CN"/>
          </a:p>
          <a:p>
            <a:r>
              <a:rPr lang="zh-CN" altLang="en-US"/>
              <a:t>完成项目信息报告</a:t>
            </a:r>
          </a:p>
          <a:p>
            <a:endParaRPr lang="en-US" altLang="zh-CN"/>
          </a:p>
          <a:p>
            <a:endParaRPr lang="zh-CN" altLang="en-US"/>
          </a:p>
        </p:txBody>
      </p:sp>
      <p:sp>
        <p:nvSpPr>
          <p:cNvPr id="7" name="文本占位符 6">
            <a:extLst>
              <a:ext uri="{FF2B5EF4-FFF2-40B4-BE49-F238E27FC236}">
                <a16:creationId xmlns:a16="http://schemas.microsoft.com/office/drawing/2014/main" id="{67B55B26-BF08-CB81-9946-5BF59D9008C1}"/>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4194633705"/>
      </p:ext>
    </p:extLst>
  </p:cSld>
  <p:clrMapOvr>
    <a:masterClrMapping/>
  </p:clrMapOvr>
</p:sld>
</file>

<file path=ppt/slides/slide4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76F62-6541-7872-6518-9D1A2031A34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3FB3EC6-CC56-5352-F9D3-167772A7E7D0}"/>
              </a:ext>
            </a:extLst>
          </p:cNvPr>
          <p:cNvSpPr>
            <a:spLocks noGrp="1"/>
          </p:cNvSpPr>
          <p:nvPr>
            <p:ph type="title"/>
          </p:nvPr>
        </p:nvSpPr>
        <p:spPr>
          <a:xfrm>
            <a:off x="792000" y="360000"/>
            <a:ext cx="6375921" cy="429413"/>
          </a:xfrm>
        </p:spPr>
        <p:txBody>
          <a:bodyPr/>
          <a:lstStyle/>
          <a:p>
            <a:r>
              <a:rPr lang="zh-CN" altLang="en-US"/>
              <a:t>项目结束</a:t>
            </a:r>
          </a:p>
        </p:txBody>
      </p:sp>
      <p:sp>
        <p:nvSpPr>
          <p:cNvPr id="4" name="内容占位符 3">
            <a:extLst>
              <a:ext uri="{FF2B5EF4-FFF2-40B4-BE49-F238E27FC236}">
                <a16:creationId xmlns:a16="http://schemas.microsoft.com/office/drawing/2014/main" id="{D07E06EB-2295-B035-6943-0E956AE2F208}"/>
              </a:ext>
            </a:extLst>
          </p:cNvPr>
          <p:cNvSpPr>
            <a:spLocks noGrp="1"/>
          </p:cNvSpPr>
          <p:nvPr>
            <p:ph idx="1"/>
          </p:nvPr>
        </p:nvSpPr>
        <p:spPr/>
        <p:txBody>
          <a:bodyPr/>
          <a:lstStyle/>
          <a:p>
            <a:endParaRPr lang="zh-CN" altLang="en-US"/>
          </a:p>
        </p:txBody>
      </p:sp>
      <p:sp>
        <p:nvSpPr>
          <p:cNvPr id="5" name="文本占位符 4">
            <a:extLst>
              <a:ext uri="{FF2B5EF4-FFF2-40B4-BE49-F238E27FC236}">
                <a16:creationId xmlns:a16="http://schemas.microsoft.com/office/drawing/2014/main" id="{2935EA93-6634-147D-7292-521DE32CF3CE}"/>
              </a:ext>
            </a:extLst>
          </p:cNvPr>
          <p:cNvSpPr>
            <a:spLocks noGrp="1"/>
          </p:cNvSpPr>
          <p:nvPr>
            <p:ph type="body" sz="quarter" idx="10"/>
          </p:nvPr>
        </p:nvSpPr>
        <p:spPr/>
        <p:txBody>
          <a:bodyPr/>
          <a:lstStyle/>
          <a:p>
            <a:endParaRPr lang="zh-CN" altLang="en-US"/>
          </a:p>
        </p:txBody>
      </p:sp>
      <p:sp>
        <p:nvSpPr>
          <p:cNvPr id="17" name="文本框 16">
            <a:extLst>
              <a:ext uri="{FF2B5EF4-FFF2-40B4-BE49-F238E27FC236}">
                <a16:creationId xmlns:a16="http://schemas.microsoft.com/office/drawing/2014/main" id="{DD1B4B37-B3A5-A417-FFD5-07E782C4B252}"/>
              </a:ext>
            </a:extLst>
          </p:cNvPr>
          <p:cNvSpPr txBox="1"/>
          <p:nvPr/>
        </p:nvSpPr>
        <p:spPr>
          <a:xfrm>
            <a:off x="11744" y="3643946"/>
            <a:ext cx="1107996" cy="369332"/>
          </a:xfrm>
          <a:prstGeom prst="rect">
            <a:avLst/>
          </a:prstGeom>
          <a:noFill/>
        </p:spPr>
        <p:txBody>
          <a:bodyPr wrap="none" rtlCol="0">
            <a:spAutoFit/>
          </a:bodyPr>
          <a:lstStyle/>
          <a:p>
            <a:r>
              <a:rPr lang="zh-CN" altLang="en-US" dirty="0"/>
              <a:t>项目验收</a:t>
            </a:r>
          </a:p>
        </p:txBody>
      </p:sp>
      <p:sp>
        <p:nvSpPr>
          <p:cNvPr id="18" name="文本框 17">
            <a:extLst>
              <a:ext uri="{FF2B5EF4-FFF2-40B4-BE49-F238E27FC236}">
                <a16:creationId xmlns:a16="http://schemas.microsoft.com/office/drawing/2014/main" id="{36EC0EF7-DAC1-6B6A-8E54-9794D6D56580}"/>
              </a:ext>
            </a:extLst>
          </p:cNvPr>
          <p:cNvSpPr txBox="1"/>
          <p:nvPr/>
        </p:nvSpPr>
        <p:spPr>
          <a:xfrm>
            <a:off x="3486153" y="3348972"/>
            <a:ext cx="1107996" cy="369332"/>
          </a:xfrm>
          <a:prstGeom prst="rect">
            <a:avLst/>
          </a:prstGeom>
          <a:noFill/>
        </p:spPr>
        <p:txBody>
          <a:bodyPr wrap="none" rtlCol="0">
            <a:spAutoFit/>
          </a:bodyPr>
          <a:lstStyle/>
          <a:p>
            <a:r>
              <a:rPr lang="zh-CN" altLang="en-US" dirty="0"/>
              <a:t>合同终止</a:t>
            </a:r>
          </a:p>
        </p:txBody>
      </p:sp>
      <p:sp>
        <p:nvSpPr>
          <p:cNvPr id="19" name="文本框 18">
            <a:extLst>
              <a:ext uri="{FF2B5EF4-FFF2-40B4-BE49-F238E27FC236}">
                <a16:creationId xmlns:a16="http://schemas.microsoft.com/office/drawing/2014/main" id="{63101779-5432-1E7D-2B39-594B9656D1D1}"/>
              </a:ext>
            </a:extLst>
          </p:cNvPr>
          <p:cNvSpPr txBox="1"/>
          <p:nvPr/>
        </p:nvSpPr>
        <p:spPr>
          <a:xfrm>
            <a:off x="6735752" y="3006060"/>
            <a:ext cx="1569660" cy="369332"/>
          </a:xfrm>
          <a:prstGeom prst="rect">
            <a:avLst/>
          </a:prstGeom>
          <a:noFill/>
        </p:spPr>
        <p:txBody>
          <a:bodyPr wrap="none" rtlCol="0">
            <a:spAutoFit/>
          </a:bodyPr>
          <a:lstStyle/>
          <a:p>
            <a:r>
              <a:rPr lang="zh-CN" altLang="en-US" dirty="0"/>
              <a:t>项目最后评审</a:t>
            </a:r>
          </a:p>
        </p:txBody>
      </p:sp>
      <p:sp>
        <p:nvSpPr>
          <p:cNvPr id="20" name="文本框 19">
            <a:extLst>
              <a:ext uri="{FF2B5EF4-FFF2-40B4-BE49-F238E27FC236}">
                <a16:creationId xmlns:a16="http://schemas.microsoft.com/office/drawing/2014/main" id="{6C76BAF9-A887-B603-8400-336488AEFC5C}"/>
              </a:ext>
            </a:extLst>
          </p:cNvPr>
          <p:cNvSpPr txBox="1"/>
          <p:nvPr/>
        </p:nvSpPr>
        <p:spPr>
          <a:xfrm>
            <a:off x="9804966" y="2626775"/>
            <a:ext cx="1569660" cy="369332"/>
          </a:xfrm>
          <a:prstGeom prst="rect">
            <a:avLst/>
          </a:prstGeom>
          <a:noFill/>
        </p:spPr>
        <p:txBody>
          <a:bodyPr wrap="none" rtlCol="0">
            <a:spAutoFit/>
          </a:bodyPr>
          <a:lstStyle/>
          <a:p>
            <a:r>
              <a:rPr lang="zh-CN" altLang="en-US" dirty="0"/>
              <a:t>项目总结报告</a:t>
            </a:r>
          </a:p>
        </p:txBody>
      </p:sp>
      <p:sp>
        <p:nvSpPr>
          <p:cNvPr id="12" name="矩形 11">
            <a:extLst>
              <a:ext uri="{FF2B5EF4-FFF2-40B4-BE49-F238E27FC236}">
                <a16:creationId xmlns:a16="http://schemas.microsoft.com/office/drawing/2014/main" id="{EFE3D735-FA3B-0CAD-F8AF-047AC855801E}"/>
              </a:ext>
            </a:extLst>
          </p:cNvPr>
          <p:cNvSpPr/>
          <p:nvPr/>
        </p:nvSpPr>
        <p:spPr>
          <a:xfrm>
            <a:off x="0" y="3982500"/>
            <a:ext cx="2623585" cy="2880000"/>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
        <p:nvSpPr>
          <p:cNvPr id="13" name="矩形 12">
            <a:extLst>
              <a:ext uri="{FF2B5EF4-FFF2-40B4-BE49-F238E27FC236}">
                <a16:creationId xmlns:a16="http://schemas.microsoft.com/office/drawing/2014/main" id="{E0167230-336A-C36F-75C1-A45ED824977E}"/>
              </a:ext>
            </a:extLst>
          </p:cNvPr>
          <p:cNvSpPr/>
          <p:nvPr/>
        </p:nvSpPr>
        <p:spPr>
          <a:xfrm>
            <a:off x="3486153" y="3690718"/>
            <a:ext cx="2387034" cy="2160000"/>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
        <p:nvSpPr>
          <p:cNvPr id="14" name="矩形 13">
            <a:extLst>
              <a:ext uri="{FF2B5EF4-FFF2-40B4-BE49-F238E27FC236}">
                <a16:creationId xmlns:a16="http://schemas.microsoft.com/office/drawing/2014/main" id="{22EBD7A8-CEB9-6DAF-027E-50B53EF5461A}"/>
              </a:ext>
            </a:extLst>
          </p:cNvPr>
          <p:cNvSpPr/>
          <p:nvPr/>
        </p:nvSpPr>
        <p:spPr>
          <a:xfrm>
            <a:off x="6735752" y="3330718"/>
            <a:ext cx="2206652" cy="1440000"/>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
        <p:nvSpPr>
          <p:cNvPr id="15" name="矩形 14">
            <a:extLst>
              <a:ext uri="{FF2B5EF4-FFF2-40B4-BE49-F238E27FC236}">
                <a16:creationId xmlns:a16="http://schemas.microsoft.com/office/drawing/2014/main" id="{D4535696-4785-DC5D-32D7-7851FECFF5B7}"/>
              </a:ext>
            </a:extLst>
          </p:cNvPr>
          <p:cNvSpPr/>
          <p:nvPr/>
        </p:nvSpPr>
        <p:spPr>
          <a:xfrm>
            <a:off x="2592963" y="3687514"/>
            <a:ext cx="933513" cy="3184660"/>
          </a:xfrm>
          <a:custGeom>
            <a:avLst/>
            <a:gdLst>
              <a:gd name="csX0" fmla="*/ 0 w 1440000"/>
              <a:gd name="csY0" fmla="*/ 0 h 2160000"/>
              <a:gd name="csX1" fmla="*/ 1440000 w 1440000"/>
              <a:gd name="csY1" fmla="*/ 0 h 2160000"/>
              <a:gd name="csX2" fmla="*/ 1440000 w 1440000"/>
              <a:gd name="csY2" fmla="*/ 2160000 h 2160000"/>
              <a:gd name="csX3" fmla="*/ 0 w 1440000"/>
              <a:gd name="csY3" fmla="*/ 2160000 h 2160000"/>
              <a:gd name="csX4" fmla="*/ 0 w 1440000"/>
              <a:gd name="csY4" fmla="*/ 0 h 2160000"/>
              <a:gd name="csX0" fmla="*/ 0 w 1440000"/>
              <a:gd name="csY0" fmla="*/ 304800 h 2464800"/>
              <a:gd name="csX1" fmla="*/ 525600 w 1440000"/>
              <a:gd name="csY1" fmla="*/ 0 h 2464800"/>
              <a:gd name="csX2" fmla="*/ 1440000 w 1440000"/>
              <a:gd name="csY2" fmla="*/ 2464800 h 2464800"/>
              <a:gd name="csX3" fmla="*/ 0 w 1440000"/>
              <a:gd name="csY3" fmla="*/ 2464800 h 2464800"/>
              <a:gd name="csX4" fmla="*/ 0 w 1440000"/>
              <a:gd name="csY4" fmla="*/ 304800 h 2464800"/>
              <a:gd name="csX0" fmla="*/ 18472 w 1458472"/>
              <a:gd name="csY0" fmla="*/ 304800 h 3194473"/>
              <a:gd name="csX1" fmla="*/ 544072 w 1458472"/>
              <a:gd name="csY1" fmla="*/ 0 h 3194473"/>
              <a:gd name="csX2" fmla="*/ 1458472 w 1458472"/>
              <a:gd name="csY2" fmla="*/ 2464800 h 3194473"/>
              <a:gd name="csX3" fmla="*/ 0 w 1458472"/>
              <a:gd name="csY3" fmla="*/ 3194473 h 3194473"/>
              <a:gd name="csX4" fmla="*/ 18472 w 1458472"/>
              <a:gd name="csY4" fmla="*/ 304800 h 3194473"/>
              <a:gd name="csX0" fmla="*/ 18472 w 608727"/>
              <a:gd name="csY0" fmla="*/ 304800 h 3194473"/>
              <a:gd name="csX1" fmla="*/ 544072 w 608727"/>
              <a:gd name="csY1" fmla="*/ 0 h 3194473"/>
              <a:gd name="csX2" fmla="*/ 608727 w 608727"/>
              <a:gd name="csY2" fmla="*/ 2187709 h 3194473"/>
              <a:gd name="csX3" fmla="*/ 0 w 608727"/>
              <a:gd name="csY3" fmla="*/ 3194473 h 3194473"/>
              <a:gd name="csX4" fmla="*/ 18472 w 608727"/>
              <a:gd name="csY4" fmla="*/ 304800 h 3194473"/>
              <a:gd name="csX0" fmla="*/ 18472 w 562545"/>
              <a:gd name="csY0" fmla="*/ 304800 h 3194473"/>
              <a:gd name="csX1" fmla="*/ 544072 w 562545"/>
              <a:gd name="csY1" fmla="*/ 0 h 3194473"/>
              <a:gd name="csX2" fmla="*/ 562545 w 562545"/>
              <a:gd name="csY2" fmla="*/ 2206182 h 3194473"/>
              <a:gd name="csX3" fmla="*/ 0 w 562545"/>
              <a:gd name="csY3" fmla="*/ 3194473 h 3194473"/>
              <a:gd name="csX4" fmla="*/ 18472 w 562545"/>
              <a:gd name="csY4" fmla="*/ 304800 h 3194473"/>
              <a:gd name="csX0" fmla="*/ 18472 w 544072"/>
              <a:gd name="csY0" fmla="*/ 304800 h 3194473"/>
              <a:gd name="csX1" fmla="*/ 544072 w 544072"/>
              <a:gd name="csY1" fmla="*/ 0 h 3194473"/>
              <a:gd name="csX2" fmla="*/ 497891 w 544072"/>
              <a:gd name="csY2" fmla="*/ 2215418 h 3194473"/>
              <a:gd name="csX3" fmla="*/ 0 w 544072"/>
              <a:gd name="csY3" fmla="*/ 3194473 h 3194473"/>
              <a:gd name="csX4" fmla="*/ 18472 w 544072"/>
              <a:gd name="csY4" fmla="*/ 304800 h 3194473"/>
              <a:gd name="csX0" fmla="*/ 18472 w 553309"/>
              <a:gd name="csY0" fmla="*/ 304800 h 3194473"/>
              <a:gd name="csX1" fmla="*/ 544072 w 553309"/>
              <a:gd name="csY1" fmla="*/ 0 h 3194473"/>
              <a:gd name="csX2" fmla="*/ 553309 w 553309"/>
              <a:gd name="csY2" fmla="*/ 2196945 h 3194473"/>
              <a:gd name="csX3" fmla="*/ 0 w 553309"/>
              <a:gd name="csY3" fmla="*/ 3194473 h 3194473"/>
              <a:gd name="csX4" fmla="*/ 18472 w 553309"/>
              <a:gd name="csY4" fmla="*/ 304800 h 3194473"/>
              <a:gd name="csX0" fmla="*/ 18472 w 553309"/>
              <a:gd name="csY0" fmla="*/ 304800 h 3194473"/>
              <a:gd name="csX1" fmla="*/ 460945 w 553309"/>
              <a:gd name="csY1" fmla="*/ 0 h 3194473"/>
              <a:gd name="csX2" fmla="*/ 553309 w 553309"/>
              <a:gd name="csY2" fmla="*/ 2196945 h 3194473"/>
              <a:gd name="csX3" fmla="*/ 0 w 553309"/>
              <a:gd name="csY3" fmla="*/ 3194473 h 3194473"/>
              <a:gd name="csX4" fmla="*/ 18472 w 553309"/>
              <a:gd name="csY4" fmla="*/ 304800 h 3194473"/>
              <a:gd name="csX0" fmla="*/ 18472 w 553309"/>
              <a:gd name="csY0" fmla="*/ 277091 h 3166764"/>
              <a:gd name="csX1" fmla="*/ 534836 w 553309"/>
              <a:gd name="csY1" fmla="*/ 0 h 3166764"/>
              <a:gd name="csX2" fmla="*/ 553309 w 553309"/>
              <a:gd name="csY2" fmla="*/ 2169236 h 3166764"/>
              <a:gd name="csX3" fmla="*/ 0 w 553309"/>
              <a:gd name="csY3" fmla="*/ 3166764 h 3166764"/>
              <a:gd name="csX4" fmla="*/ 18472 w 553309"/>
              <a:gd name="csY4" fmla="*/ 277091 h 3166764"/>
              <a:gd name="csX0" fmla="*/ 18472 w 534836"/>
              <a:gd name="csY0" fmla="*/ 277091 h 3166764"/>
              <a:gd name="csX1" fmla="*/ 534836 w 534836"/>
              <a:gd name="csY1" fmla="*/ 0 h 3166764"/>
              <a:gd name="csX2" fmla="*/ 525600 w 534836"/>
              <a:gd name="csY2" fmla="*/ 2206181 h 3166764"/>
              <a:gd name="csX3" fmla="*/ 0 w 534836"/>
              <a:gd name="csY3" fmla="*/ 3166764 h 3166764"/>
              <a:gd name="csX4" fmla="*/ 18472 w 534836"/>
              <a:gd name="csY4" fmla="*/ 277091 h 3166764"/>
              <a:gd name="csX0" fmla="*/ 18472 w 534836"/>
              <a:gd name="csY0" fmla="*/ 277091 h 3166764"/>
              <a:gd name="csX1" fmla="*/ 534836 w 534836"/>
              <a:gd name="csY1" fmla="*/ 0 h 3166764"/>
              <a:gd name="csX2" fmla="*/ 525600 w 534836"/>
              <a:gd name="csY2" fmla="*/ 2169235 h 3166764"/>
              <a:gd name="csX3" fmla="*/ 0 w 534836"/>
              <a:gd name="csY3" fmla="*/ 3166764 h 3166764"/>
              <a:gd name="csX4" fmla="*/ 18472 w 534836"/>
              <a:gd name="csY4" fmla="*/ 277091 h 3166764"/>
              <a:gd name="csX0" fmla="*/ 18472 w 553575"/>
              <a:gd name="csY0" fmla="*/ 277091 h 3166764"/>
              <a:gd name="csX1" fmla="*/ 534836 w 553575"/>
              <a:gd name="csY1" fmla="*/ 0 h 3166764"/>
              <a:gd name="csX2" fmla="*/ 553309 w 553575"/>
              <a:gd name="csY2" fmla="*/ 2169235 h 3166764"/>
              <a:gd name="csX3" fmla="*/ 0 w 553575"/>
              <a:gd name="csY3" fmla="*/ 3166764 h 3166764"/>
              <a:gd name="csX4" fmla="*/ 18472 w 553575"/>
              <a:gd name="csY4" fmla="*/ 277091 h 3166764"/>
              <a:gd name="csX0" fmla="*/ 18472 w 554197"/>
              <a:gd name="csY0" fmla="*/ 314037 h 3203710"/>
              <a:gd name="csX1" fmla="*/ 553308 w 554197"/>
              <a:gd name="csY1" fmla="*/ 0 h 3203710"/>
              <a:gd name="csX2" fmla="*/ 553309 w 554197"/>
              <a:gd name="csY2" fmla="*/ 2206181 h 3203710"/>
              <a:gd name="csX3" fmla="*/ 0 w 554197"/>
              <a:gd name="csY3" fmla="*/ 3203710 h 3203710"/>
              <a:gd name="csX4" fmla="*/ 18472 w 554197"/>
              <a:gd name="csY4" fmla="*/ 314037 h 3203710"/>
              <a:gd name="csX0" fmla="*/ 18472 w 553862"/>
              <a:gd name="csY0" fmla="*/ 294987 h 3184660"/>
              <a:gd name="csX1" fmla="*/ 548546 w 553862"/>
              <a:gd name="csY1" fmla="*/ 0 h 3184660"/>
              <a:gd name="csX2" fmla="*/ 553309 w 553862"/>
              <a:gd name="csY2" fmla="*/ 2187131 h 3184660"/>
              <a:gd name="csX3" fmla="*/ 0 w 553862"/>
              <a:gd name="csY3" fmla="*/ 3184660 h 3184660"/>
              <a:gd name="csX4" fmla="*/ 18472 w 553862"/>
              <a:gd name="csY4" fmla="*/ 294987 h 3184660"/>
              <a:gd name="csX0" fmla="*/ 18472 w 563150"/>
              <a:gd name="csY0" fmla="*/ 294987 h 3184660"/>
              <a:gd name="csX1" fmla="*/ 548546 w 563150"/>
              <a:gd name="csY1" fmla="*/ 0 h 3184660"/>
              <a:gd name="csX2" fmla="*/ 562834 w 563150"/>
              <a:gd name="csY2" fmla="*/ 2172843 h 3184660"/>
              <a:gd name="csX3" fmla="*/ 0 w 563150"/>
              <a:gd name="csY3" fmla="*/ 3184660 h 3184660"/>
              <a:gd name="csX4" fmla="*/ 18472 w 563150"/>
              <a:gd name="csY4" fmla="*/ 294987 h 3184660"/>
            </a:gdLst>
            <a:ahLst/>
            <a:cxnLst>
              <a:cxn ang="0">
                <a:pos x="csX0" y="csY0"/>
              </a:cxn>
              <a:cxn ang="0">
                <a:pos x="csX1" y="csY1"/>
              </a:cxn>
              <a:cxn ang="0">
                <a:pos x="csX2" y="csY2"/>
              </a:cxn>
              <a:cxn ang="0">
                <a:pos x="csX3" y="csY3"/>
              </a:cxn>
              <a:cxn ang="0">
                <a:pos x="csX4" y="csY4"/>
              </a:cxn>
            </a:cxnLst>
            <a:rect l="l" t="t" r="r" b="b"/>
            <a:pathLst>
              <a:path w="563150" h="3184660">
                <a:moveTo>
                  <a:pt x="18472" y="294987"/>
                </a:moveTo>
                <a:lnTo>
                  <a:pt x="548546" y="0"/>
                </a:lnTo>
                <a:cubicBezTo>
                  <a:pt x="545467" y="735394"/>
                  <a:pt x="565913" y="1437449"/>
                  <a:pt x="562834" y="2172843"/>
                </a:cubicBezTo>
                <a:lnTo>
                  <a:pt x="0" y="3184660"/>
                </a:lnTo>
                <a:lnTo>
                  <a:pt x="18472" y="294987"/>
                </a:lnTo>
                <a:close/>
              </a:path>
            </a:pathLst>
          </a:cu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
        <p:nvSpPr>
          <p:cNvPr id="16" name="矩形 14">
            <a:extLst>
              <a:ext uri="{FF2B5EF4-FFF2-40B4-BE49-F238E27FC236}">
                <a16:creationId xmlns:a16="http://schemas.microsoft.com/office/drawing/2014/main" id="{BF9B690B-4D4F-321B-8496-44A71D40AEF6}"/>
              </a:ext>
            </a:extLst>
          </p:cNvPr>
          <p:cNvSpPr/>
          <p:nvPr/>
        </p:nvSpPr>
        <p:spPr>
          <a:xfrm>
            <a:off x="5855467" y="3328738"/>
            <a:ext cx="894597" cy="2514735"/>
          </a:xfrm>
          <a:custGeom>
            <a:avLst/>
            <a:gdLst>
              <a:gd name="csX0" fmla="*/ 0 w 1440000"/>
              <a:gd name="csY0" fmla="*/ 0 h 2160000"/>
              <a:gd name="csX1" fmla="*/ 1440000 w 1440000"/>
              <a:gd name="csY1" fmla="*/ 0 h 2160000"/>
              <a:gd name="csX2" fmla="*/ 1440000 w 1440000"/>
              <a:gd name="csY2" fmla="*/ 2160000 h 2160000"/>
              <a:gd name="csX3" fmla="*/ 0 w 1440000"/>
              <a:gd name="csY3" fmla="*/ 2160000 h 2160000"/>
              <a:gd name="csX4" fmla="*/ 0 w 1440000"/>
              <a:gd name="csY4" fmla="*/ 0 h 2160000"/>
              <a:gd name="csX0" fmla="*/ 0 w 1440000"/>
              <a:gd name="csY0" fmla="*/ 304800 h 2464800"/>
              <a:gd name="csX1" fmla="*/ 525600 w 1440000"/>
              <a:gd name="csY1" fmla="*/ 0 h 2464800"/>
              <a:gd name="csX2" fmla="*/ 1440000 w 1440000"/>
              <a:gd name="csY2" fmla="*/ 2464800 h 2464800"/>
              <a:gd name="csX3" fmla="*/ 0 w 1440000"/>
              <a:gd name="csY3" fmla="*/ 2464800 h 2464800"/>
              <a:gd name="csX4" fmla="*/ 0 w 1440000"/>
              <a:gd name="csY4" fmla="*/ 304800 h 2464800"/>
              <a:gd name="csX0" fmla="*/ 18472 w 1458472"/>
              <a:gd name="csY0" fmla="*/ 304800 h 3194473"/>
              <a:gd name="csX1" fmla="*/ 544072 w 1458472"/>
              <a:gd name="csY1" fmla="*/ 0 h 3194473"/>
              <a:gd name="csX2" fmla="*/ 1458472 w 1458472"/>
              <a:gd name="csY2" fmla="*/ 2464800 h 3194473"/>
              <a:gd name="csX3" fmla="*/ 0 w 1458472"/>
              <a:gd name="csY3" fmla="*/ 3194473 h 3194473"/>
              <a:gd name="csX4" fmla="*/ 18472 w 1458472"/>
              <a:gd name="csY4" fmla="*/ 304800 h 3194473"/>
              <a:gd name="csX0" fmla="*/ 18472 w 608727"/>
              <a:gd name="csY0" fmla="*/ 304800 h 3194473"/>
              <a:gd name="csX1" fmla="*/ 544072 w 608727"/>
              <a:gd name="csY1" fmla="*/ 0 h 3194473"/>
              <a:gd name="csX2" fmla="*/ 608727 w 608727"/>
              <a:gd name="csY2" fmla="*/ 2187709 h 3194473"/>
              <a:gd name="csX3" fmla="*/ 0 w 608727"/>
              <a:gd name="csY3" fmla="*/ 3194473 h 3194473"/>
              <a:gd name="csX4" fmla="*/ 18472 w 608727"/>
              <a:gd name="csY4" fmla="*/ 304800 h 3194473"/>
              <a:gd name="csX0" fmla="*/ 18472 w 562545"/>
              <a:gd name="csY0" fmla="*/ 304800 h 3194473"/>
              <a:gd name="csX1" fmla="*/ 544072 w 562545"/>
              <a:gd name="csY1" fmla="*/ 0 h 3194473"/>
              <a:gd name="csX2" fmla="*/ 562545 w 562545"/>
              <a:gd name="csY2" fmla="*/ 2206182 h 3194473"/>
              <a:gd name="csX3" fmla="*/ 0 w 562545"/>
              <a:gd name="csY3" fmla="*/ 3194473 h 3194473"/>
              <a:gd name="csX4" fmla="*/ 18472 w 562545"/>
              <a:gd name="csY4" fmla="*/ 304800 h 3194473"/>
              <a:gd name="csX0" fmla="*/ 18472 w 544072"/>
              <a:gd name="csY0" fmla="*/ 304800 h 3194473"/>
              <a:gd name="csX1" fmla="*/ 544072 w 544072"/>
              <a:gd name="csY1" fmla="*/ 0 h 3194473"/>
              <a:gd name="csX2" fmla="*/ 497891 w 544072"/>
              <a:gd name="csY2" fmla="*/ 2215418 h 3194473"/>
              <a:gd name="csX3" fmla="*/ 0 w 544072"/>
              <a:gd name="csY3" fmla="*/ 3194473 h 3194473"/>
              <a:gd name="csX4" fmla="*/ 18472 w 544072"/>
              <a:gd name="csY4" fmla="*/ 304800 h 3194473"/>
              <a:gd name="csX0" fmla="*/ 18472 w 553309"/>
              <a:gd name="csY0" fmla="*/ 304800 h 3194473"/>
              <a:gd name="csX1" fmla="*/ 544072 w 553309"/>
              <a:gd name="csY1" fmla="*/ 0 h 3194473"/>
              <a:gd name="csX2" fmla="*/ 553309 w 553309"/>
              <a:gd name="csY2" fmla="*/ 2196945 h 3194473"/>
              <a:gd name="csX3" fmla="*/ 0 w 553309"/>
              <a:gd name="csY3" fmla="*/ 3194473 h 3194473"/>
              <a:gd name="csX4" fmla="*/ 18472 w 553309"/>
              <a:gd name="csY4" fmla="*/ 304800 h 3194473"/>
              <a:gd name="csX0" fmla="*/ 18472 w 553309"/>
              <a:gd name="csY0" fmla="*/ 304800 h 3194473"/>
              <a:gd name="csX1" fmla="*/ 460945 w 553309"/>
              <a:gd name="csY1" fmla="*/ 0 h 3194473"/>
              <a:gd name="csX2" fmla="*/ 553309 w 553309"/>
              <a:gd name="csY2" fmla="*/ 2196945 h 3194473"/>
              <a:gd name="csX3" fmla="*/ 0 w 553309"/>
              <a:gd name="csY3" fmla="*/ 3194473 h 3194473"/>
              <a:gd name="csX4" fmla="*/ 18472 w 553309"/>
              <a:gd name="csY4" fmla="*/ 304800 h 3194473"/>
              <a:gd name="csX0" fmla="*/ 18472 w 553309"/>
              <a:gd name="csY0" fmla="*/ 277091 h 3166764"/>
              <a:gd name="csX1" fmla="*/ 534836 w 553309"/>
              <a:gd name="csY1" fmla="*/ 0 h 3166764"/>
              <a:gd name="csX2" fmla="*/ 553309 w 553309"/>
              <a:gd name="csY2" fmla="*/ 2169236 h 3166764"/>
              <a:gd name="csX3" fmla="*/ 0 w 553309"/>
              <a:gd name="csY3" fmla="*/ 3166764 h 3166764"/>
              <a:gd name="csX4" fmla="*/ 18472 w 553309"/>
              <a:gd name="csY4" fmla="*/ 277091 h 3166764"/>
              <a:gd name="csX0" fmla="*/ 18472 w 534836"/>
              <a:gd name="csY0" fmla="*/ 277091 h 3166764"/>
              <a:gd name="csX1" fmla="*/ 534836 w 534836"/>
              <a:gd name="csY1" fmla="*/ 0 h 3166764"/>
              <a:gd name="csX2" fmla="*/ 525600 w 534836"/>
              <a:gd name="csY2" fmla="*/ 2206181 h 3166764"/>
              <a:gd name="csX3" fmla="*/ 0 w 534836"/>
              <a:gd name="csY3" fmla="*/ 3166764 h 3166764"/>
              <a:gd name="csX4" fmla="*/ 18472 w 534836"/>
              <a:gd name="csY4" fmla="*/ 277091 h 3166764"/>
              <a:gd name="csX0" fmla="*/ 18472 w 534836"/>
              <a:gd name="csY0" fmla="*/ 277091 h 3166764"/>
              <a:gd name="csX1" fmla="*/ 534836 w 534836"/>
              <a:gd name="csY1" fmla="*/ 0 h 3166764"/>
              <a:gd name="csX2" fmla="*/ 525600 w 534836"/>
              <a:gd name="csY2" fmla="*/ 2169235 h 3166764"/>
              <a:gd name="csX3" fmla="*/ 0 w 534836"/>
              <a:gd name="csY3" fmla="*/ 3166764 h 3166764"/>
              <a:gd name="csX4" fmla="*/ 18472 w 534836"/>
              <a:gd name="csY4" fmla="*/ 277091 h 3166764"/>
              <a:gd name="csX0" fmla="*/ 18472 w 553575"/>
              <a:gd name="csY0" fmla="*/ 277091 h 3166764"/>
              <a:gd name="csX1" fmla="*/ 534836 w 553575"/>
              <a:gd name="csY1" fmla="*/ 0 h 3166764"/>
              <a:gd name="csX2" fmla="*/ 553309 w 553575"/>
              <a:gd name="csY2" fmla="*/ 2169235 h 3166764"/>
              <a:gd name="csX3" fmla="*/ 0 w 553575"/>
              <a:gd name="csY3" fmla="*/ 3166764 h 3166764"/>
              <a:gd name="csX4" fmla="*/ 18472 w 553575"/>
              <a:gd name="csY4" fmla="*/ 277091 h 3166764"/>
              <a:gd name="csX0" fmla="*/ 18472 w 554197"/>
              <a:gd name="csY0" fmla="*/ 314037 h 3203710"/>
              <a:gd name="csX1" fmla="*/ 553308 w 554197"/>
              <a:gd name="csY1" fmla="*/ 0 h 3203710"/>
              <a:gd name="csX2" fmla="*/ 553309 w 554197"/>
              <a:gd name="csY2" fmla="*/ 2206181 h 3203710"/>
              <a:gd name="csX3" fmla="*/ 0 w 554197"/>
              <a:gd name="csY3" fmla="*/ 3203710 h 3203710"/>
              <a:gd name="csX4" fmla="*/ 18472 w 554197"/>
              <a:gd name="csY4" fmla="*/ 314037 h 3203710"/>
              <a:gd name="csX0" fmla="*/ 18472 w 553862"/>
              <a:gd name="csY0" fmla="*/ 294987 h 3184660"/>
              <a:gd name="csX1" fmla="*/ 548546 w 553862"/>
              <a:gd name="csY1" fmla="*/ 0 h 3184660"/>
              <a:gd name="csX2" fmla="*/ 553309 w 553862"/>
              <a:gd name="csY2" fmla="*/ 2187131 h 3184660"/>
              <a:gd name="csX3" fmla="*/ 0 w 553862"/>
              <a:gd name="csY3" fmla="*/ 3184660 h 3184660"/>
              <a:gd name="csX4" fmla="*/ 18472 w 553862"/>
              <a:gd name="csY4" fmla="*/ 294987 h 3184660"/>
              <a:gd name="csX0" fmla="*/ 18472 w 563150"/>
              <a:gd name="csY0" fmla="*/ 294987 h 3184660"/>
              <a:gd name="csX1" fmla="*/ 548546 w 563150"/>
              <a:gd name="csY1" fmla="*/ 0 h 3184660"/>
              <a:gd name="csX2" fmla="*/ 562834 w 563150"/>
              <a:gd name="csY2" fmla="*/ 2172843 h 3184660"/>
              <a:gd name="csX3" fmla="*/ 0 w 563150"/>
              <a:gd name="csY3" fmla="*/ 3184660 h 3184660"/>
              <a:gd name="csX4" fmla="*/ 18472 w 563150"/>
              <a:gd name="csY4" fmla="*/ 294987 h 3184660"/>
              <a:gd name="csX0" fmla="*/ 18472 w 563236"/>
              <a:gd name="csY0" fmla="*/ 342612 h 3232285"/>
              <a:gd name="csX1" fmla="*/ 553309 w 563236"/>
              <a:gd name="csY1" fmla="*/ 0 h 3232285"/>
              <a:gd name="csX2" fmla="*/ 562834 w 563236"/>
              <a:gd name="csY2" fmla="*/ 2220468 h 3232285"/>
              <a:gd name="csX3" fmla="*/ 0 w 563236"/>
              <a:gd name="csY3" fmla="*/ 3232285 h 3232285"/>
              <a:gd name="csX4" fmla="*/ 18472 w 563236"/>
              <a:gd name="csY4" fmla="*/ 342612 h 3232285"/>
              <a:gd name="csX0" fmla="*/ 18472 w 563236"/>
              <a:gd name="csY0" fmla="*/ 361662 h 3251335"/>
              <a:gd name="csX1" fmla="*/ 553309 w 563236"/>
              <a:gd name="csY1" fmla="*/ 0 h 3251335"/>
              <a:gd name="csX2" fmla="*/ 562834 w 563236"/>
              <a:gd name="csY2" fmla="*/ 2239518 h 3251335"/>
              <a:gd name="csX3" fmla="*/ 0 w 563236"/>
              <a:gd name="csY3" fmla="*/ 3251335 h 3251335"/>
              <a:gd name="csX4" fmla="*/ 18472 w 563236"/>
              <a:gd name="csY4" fmla="*/ 361662 h 3251335"/>
              <a:gd name="csX0" fmla="*/ 32759 w 577523"/>
              <a:gd name="csY0" fmla="*/ 361662 h 2508385"/>
              <a:gd name="csX1" fmla="*/ 567596 w 577523"/>
              <a:gd name="csY1" fmla="*/ 0 h 2508385"/>
              <a:gd name="csX2" fmla="*/ 577121 w 577523"/>
              <a:gd name="csY2" fmla="*/ 2239518 h 2508385"/>
              <a:gd name="csX3" fmla="*/ 0 w 577523"/>
              <a:gd name="csY3" fmla="*/ 2508385 h 2508385"/>
              <a:gd name="csX4" fmla="*/ 32759 w 577523"/>
              <a:gd name="csY4" fmla="*/ 361662 h 2508385"/>
              <a:gd name="csX0" fmla="*/ 32759 w 577523"/>
              <a:gd name="csY0" fmla="*/ 361662 h 2508385"/>
              <a:gd name="csX1" fmla="*/ 567596 w 577523"/>
              <a:gd name="csY1" fmla="*/ 0 h 2508385"/>
              <a:gd name="csX2" fmla="*/ 577121 w 577523"/>
              <a:gd name="csY2" fmla="*/ 1444181 h 2508385"/>
              <a:gd name="csX3" fmla="*/ 0 w 577523"/>
              <a:gd name="csY3" fmla="*/ 2508385 h 2508385"/>
              <a:gd name="csX4" fmla="*/ 32759 w 577523"/>
              <a:gd name="csY4" fmla="*/ 361662 h 2508385"/>
              <a:gd name="csX0" fmla="*/ 32759 w 596364"/>
              <a:gd name="csY0" fmla="*/ 361662 h 2508385"/>
              <a:gd name="csX1" fmla="*/ 567596 w 596364"/>
              <a:gd name="csY1" fmla="*/ 0 h 2508385"/>
              <a:gd name="csX2" fmla="*/ 596171 w 596364"/>
              <a:gd name="csY2" fmla="*/ 1444181 h 2508385"/>
              <a:gd name="csX3" fmla="*/ 0 w 596364"/>
              <a:gd name="csY3" fmla="*/ 2508385 h 2508385"/>
              <a:gd name="csX4" fmla="*/ 32759 w 596364"/>
              <a:gd name="csY4" fmla="*/ 361662 h 2508385"/>
              <a:gd name="csX0" fmla="*/ 32759 w 567596"/>
              <a:gd name="csY0" fmla="*/ 361662 h 2508385"/>
              <a:gd name="csX1" fmla="*/ 567596 w 567596"/>
              <a:gd name="csY1" fmla="*/ 0 h 2508385"/>
              <a:gd name="csX2" fmla="*/ 553308 w 567596"/>
              <a:gd name="csY2" fmla="*/ 1482281 h 2508385"/>
              <a:gd name="csX3" fmla="*/ 0 w 567596"/>
              <a:gd name="csY3" fmla="*/ 2508385 h 2508385"/>
              <a:gd name="csX4" fmla="*/ 32759 w 567596"/>
              <a:gd name="csY4" fmla="*/ 361662 h 2508385"/>
              <a:gd name="csX0" fmla="*/ 32759 w 567596"/>
              <a:gd name="csY0" fmla="*/ 361662 h 2508385"/>
              <a:gd name="csX1" fmla="*/ 567596 w 567596"/>
              <a:gd name="csY1" fmla="*/ 0 h 2508385"/>
              <a:gd name="csX2" fmla="*/ 519971 w 567596"/>
              <a:gd name="csY2" fmla="*/ 1467994 h 2508385"/>
              <a:gd name="csX3" fmla="*/ 0 w 567596"/>
              <a:gd name="csY3" fmla="*/ 2508385 h 2508385"/>
              <a:gd name="csX4" fmla="*/ 32759 w 567596"/>
              <a:gd name="csY4" fmla="*/ 361662 h 2508385"/>
              <a:gd name="csX0" fmla="*/ 32759 w 567596"/>
              <a:gd name="csY0" fmla="*/ 361662 h 2508385"/>
              <a:gd name="csX1" fmla="*/ 567596 w 567596"/>
              <a:gd name="csY1" fmla="*/ 0 h 2508385"/>
              <a:gd name="csX2" fmla="*/ 562834 w 567596"/>
              <a:gd name="csY2" fmla="*/ 1425132 h 2508385"/>
              <a:gd name="csX3" fmla="*/ 0 w 567596"/>
              <a:gd name="csY3" fmla="*/ 2508385 h 2508385"/>
              <a:gd name="csX4" fmla="*/ 32759 w 567596"/>
              <a:gd name="csY4" fmla="*/ 361662 h 2508385"/>
              <a:gd name="csX0" fmla="*/ 32759 w 563027"/>
              <a:gd name="csY0" fmla="*/ 356899 h 2503622"/>
              <a:gd name="csX1" fmla="*/ 534259 w 563027"/>
              <a:gd name="csY1" fmla="*/ 0 h 2503622"/>
              <a:gd name="csX2" fmla="*/ 562834 w 563027"/>
              <a:gd name="csY2" fmla="*/ 1420369 h 2503622"/>
              <a:gd name="csX3" fmla="*/ 0 w 563027"/>
              <a:gd name="csY3" fmla="*/ 2503622 h 2503622"/>
              <a:gd name="csX4" fmla="*/ 32759 w 563027"/>
              <a:gd name="csY4" fmla="*/ 356899 h 2503622"/>
              <a:gd name="csX0" fmla="*/ 32759 w 563387"/>
              <a:gd name="csY0" fmla="*/ 352137 h 2498860"/>
              <a:gd name="csX1" fmla="*/ 558071 w 563387"/>
              <a:gd name="csY1" fmla="*/ 0 h 2498860"/>
              <a:gd name="csX2" fmla="*/ 562834 w 563387"/>
              <a:gd name="csY2" fmla="*/ 1415607 h 2498860"/>
              <a:gd name="csX3" fmla="*/ 0 w 563387"/>
              <a:gd name="csY3" fmla="*/ 2498860 h 2498860"/>
              <a:gd name="csX4" fmla="*/ 32759 w 563387"/>
              <a:gd name="csY4" fmla="*/ 352137 h 2498860"/>
              <a:gd name="csX0" fmla="*/ 0 w 530628"/>
              <a:gd name="csY0" fmla="*/ 352137 h 2508385"/>
              <a:gd name="csX1" fmla="*/ 525312 w 530628"/>
              <a:gd name="csY1" fmla="*/ 0 h 2508385"/>
              <a:gd name="csX2" fmla="*/ 530075 w 530628"/>
              <a:gd name="csY2" fmla="*/ 1415607 h 2508385"/>
              <a:gd name="csX3" fmla="*/ 10103 w 530628"/>
              <a:gd name="csY3" fmla="*/ 2508385 h 2508385"/>
              <a:gd name="csX4" fmla="*/ 0 w 530628"/>
              <a:gd name="csY4" fmla="*/ 352137 h 2508385"/>
              <a:gd name="csX0" fmla="*/ 0 w 530628"/>
              <a:gd name="csY0" fmla="*/ 352137 h 2460760"/>
              <a:gd name="csX1" fmla="*/ 525312 w 530628"/>
              <a:gd name="csY1" fmla="*/ 0 h 2460760"/>
              <a:gd name="csX2" fmla="*/ 530075 w 530628"/>
              <a:gd name="csY2" fmla="*/ 1415607 h 2460760"/>
              <a:gd name="csX3" fmla="*/ 48203 w 530628"/>
              <a:gd name="csY3" fmla="*/ 2460760 h 2460760"/>
              <a:gd name="csX4" fmla="*/ 0 w 530628"/>
              <a:gd name="csY4" fmla="*/ 352137 h 2460760"/>
              <a:gd name="csX0" fmla="*/ 0 w 530628"/>
              <a:gd name="csY0" fmla="*/ 352137 h 2498860"/>
              <a:gd name="csX1" fmla="*/ 525312 w 530628"/>
              <a:gd name="csY1" fmla="*/ 0 h 2498860"/>
              <a:gd name="csX2" fmla="*/ 530075 w 530628"/>
              <a:gd name="csY2" fmla="*/ 1415607 h 2498860"/>
              <a:gd name="csX3" fmla="*/ 10103 w 530628"/>
              <a:gd name="csY3" fmla="*/ 2498860 h 2498860"/>
              <a:gd name="csX4" fmla="*/ 0 w 530628"/>
              <a:gd name="csY4" fmla="*/ 352137 h 2498860"/>
              <a:gd name="csX0" fmla="*/ 4837 w 535465"/>
              <a:gd name="csY0" fmla="*/ 352137 h 2498860"/>
              <a:gd name="csX1" fmla="*/ 530149 w 535465"/>
              <a:gd name="csY1" fmla="*/ 0 h 2498860"/>
              <a:gd name="csX2" fmla="*/ 534912 w 535465"/>
              <a:gd name="csY2" fmla="*/ 1415607 h 2498860"/>
              <a:gd name="csX3" fmla="*/ 653 w 535465"/>
              <a:gd name="csY3" fmla="*/ 2498860 h 2498860"/>
              <a:gd name="csX4" fmla="*/ 4837 w 535465"/>
              <a:gd name="csY4" fmla="*/ 352137 h 2498860"/>
              <a:gd name="csX0" fmla="*/ 4837 w 542849"/>
              <a:gd name="csY0" fmla="*/ 364837 h 2511560"/>
              <a:gd name="csX1" fmla="*/ 542849 w 542849"/>
              <a:gd name="csY1" fmla="*/ 0 h 2511560"/>
              <a:gd name="csX2" fmla="*/ 534912 w 542849"/>
              <a:gd name="csY2" fmla="*/ 1428307 h 2511560"/>
              <a:gd name="csX3" fmla="*/ 653 w 542849"/>
              <a:gd name="csY3" fmla="*/ 2511560 h 2511560"/>
              <a:gd name="csX4" fmla="*/ 4837 w 542849"/>
              <a:gd name="csY4" fmla="*/ 364837 h 2511560"/>
              <a:gd name="csX0" fmla="*/ 4837 w 535465"/>
              <a:gd name="csY0" fmla="*/ 364837 h 2511560"/>
              <a:gd name="csX1" fmla="*/ 530149 w 535465"/>
              <a:gd name="csY1" fmla="*/ 0 h 2511560"/>
              <a:gd name="csX2" fmla="*/ 534912 w 535465"/>
              <a:gd name="csY2" fmla="*/ 1428307 h 2511560"/>
              <a:gd name="csX3" fmla="*/ 653 w 535465"/>
              <a:gd name="csY3" fmla="*/ 2511560 h 2511560"/>
              <a:gd name="csX4" fmla="*/ 4837 w 535465"/>
              <a:gd name="csY4" fmla="*/ 364837 h 2511560"/>
              <a:gd name="csX0" fmla="*/ 4837 w 539674"/>
              <a:gd name="csY0" fmla="*/ 368012 h 2514735"/>
              <a:gd name="csX1" fmla="*/ 539674 w 539674"/>
              <a:gd name="csY1" fmla="*/ 0 h 2514735"/>
              <a:gd name="csX2" fmla="*/ 534912 w 539674"/>
              <a:gd name="csY2" fmla="*/ 1431482 h 2514735"/>
              <a:gd name="csX3" fmla="*/ 653 w 539674"/>
              <a:gd name="csY3" fmla="*/ 2514735 h 2514735"/>
              <a:gd name="csX4" fmla="*/ 4837 w 539674"/>
              <a:gd name="csY4" fmla="*/ 368012 h 2514735"/>
            </a:gdLst>
            <a:ahLst/>
            <a:cxnLst>
              <a:cxn ang="0">
                <a:pos x="csX0" y="csY0"/>
              </a:cxn>
              <a:cxn ang="0">
                <a:pos x="csX1" y="csY1"/>
              </a:cxn>
              <a:cxn ang="0">
                <a:pos x="csX2" y="csY2"/>
              </a:cxn>
              <a:cxn ang="0">
                <a:pos x="csX3" y="csY3"/>
              </a:cxn>
              <a:cxn ang="0">
                <a:pos x="csX4" y="csY4"/>
              </a:cxn>
            </a:cxnLst>
            <a:rect l="l" t="t" r="r" b="b"/>
            <a:pathLst>
              <a:path w="539674" h="2514735">
                <a:moveTo>
                  <a:pt x="4837" y="368012"/>
                </a:moveTo>
                <a:lnTo>
                  <a:pt x="539674" y="0"/>
                </a:lnTo>
                <a:cubicBezTo>
                  <a:pt x="536595" y="735394"/>
                  <a:pt x="537991" y="696088"/>
                  <a:pt x="534912" y="1431482"/>
                </a:cubicBezTo>
                <a:lnTo>
                  <a:pt x="653" y="2514735"/>
                </a:lnTo>
                <a:cubicBezTo>
                  <a:pt x="-2715" y="1795986"/>
                  <a:pt x="8205" y="1086761"/>
                  <a:pt x="4837" y="368012"/>
                </a:cubicBezTo>
                <a:close/>
              </a:path>
            </a:pathLst>
          </a:cu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
        <p:nvSpPr>
          <p:cNvPr id="21" name="矩形 20">
            <a:extLst>
              <a:ext uri="{FF2B5EF4-FFF2-40B4-BE49-F238E27FC236}">
                <a16:creationId xmlns:a16="http://schemas.microsoft.com/office/drawing/2014/main" id="{320245F0-C7D0-24EA-7B5A-D8CFBF3F021E}"/>
              </a:ext>
            </a:extLst>
          </p:cNvPr>
          <p:cNvSpPr/>
          <p:nvPr/>
        </p:nvSpPr>
        <p:spPr>
          <a:xfrm>
            <a:off x="9804966" y="2967514"/>
            <a:ext cx="2387034" cy="810000"/>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
        <p:nvSpPr>
          <p:cNvPr id="22" name="矩形 14">
            <a:extLst>
              <a:ext uri="{FF2B5EF4-FFF2-40B4-BE49-F238E27FC236}">
                <a16:creationId xmlns:a16="http://schemas.microsoft.com/office/drawing/2014/main" id="{D6C2B943-4318-FC24-8B84-1E19D03F2551}"/>
              </a:ext>
            </a:extLst>
          </p:cNvPr>
          <p:cNvSpPr/>
          <p:nvPr/>
        </p:nvSpPr>
        <p:spPr>
          <a:xfrm>
            <a:off x="8929588" y="2971884"/>
            <a:ext cx="884572" cy="1800360"/>
          </a:xfrm>
          <a:custGeom>
            <a:avLst/>
            <a:gdLst>
              <a:gd name="csX0" fmla="*/ 0 w 1440000"/>
              <a:gd name="csY0" fmla="*/ 0 h 2160000"/>
              <a:gd name="csX1" fmla="*/ 1440000 w 1440000"/>
              <a:gd name="csY1" fmla="*/ 0 h 2160000"/>
              <a:gd name="csX2" fmla="*/ 1440000 w 1440000"/>
              <a:gd name="csY2" fmla="*/ 2160000 h 2160000"/>
              <a:gd name="csX3" fmla="*/ 0 w 1440000"/>
              <a:gd name="csY3" fmla="*/ 2160000 h 2160000"/>
              <a:gd name="csX4" fmla="*/ 0 w 1440000"/>
              <a:gd name="csY4" fmla="*/ 0 h 2160000"/>
              <a:gd name="csX0" fmla="*/ 0 w 1440000"/>
              <a:gd name="csY0" fmla="*/ 304800 h 2464800"/>
              <a:gd name="csX1" fmla="*/ 525600 w 1440000"/>
              <a:gd name="csY1" fmla="*/ 0 h 2464800"/>
              <a:gd name="csX2" fmla="*/ 1440000 w 1440000"/>
              <a:gd name="csY2" fmla="*/ 2464800 h 2464800"/>
              <a:gd name="csX3" fmla="*/ 0 w 1440000"/>
              <a:gd name="csY3" fmla="*/ 2464800 h 2464800"/>
              <a:gd name="csX4" fmla="*/ 0 w 1440000"/>
              <a:gd name="csY4" fmla="*/ 304800 h 2464800"/>
              <a:gd name="csX0" fmla="*/ 18472 w 1458472"/>
              <a:gd name="csY0" fmla="*/ 304800 h 3194473"/>
              <a:gd name="csX1" fmla="*/ 544072 w 1458472"/>
              <a:gd name="csY1" fmla="*/ 0 h 3194473"/>
              <a:gd name="csX2" fmla="*/ 1458472 w 1458472"/>
              <a:gd name="csY2" fmla="*/ 2464800 h 3194473"/>
              <a:gd name="csX3" fmla="*/ 0 w 1458472"/>
              <a:gd name="csY3" fmla="*/ 3194473 h 3194473"/>
              <a:gd name="csX4" fmla="*/ 18472 w 1458472"/>
              <a:gd name="csY4" fmla="*/ 304800 h 3194473"/>
              <a:gd name="csX0" fmla="*/ 18472 w 608727"/>
              <a:gd name="csY0" fmla="*/ 304800 h 3194473"/>
              <a:gd name="csX1" fmla="*/ 544072 w 608727"/>
              <a:gd name="csY1" fmla="*/ 0 h 3194473"/>
              <a:gd name="csX2" fmla="*/ 608727 w 608727"/>
              <a:gd name="csY2" fmla="*/ 2187709 h 3194473"/>
              <a:gd name="csX3" fmla="*/ 0 w 608727"/>
              <a:gd name="csY3" fmla="*/ 3194473 h 3194473"/>
              <a:gd name="csX4" fmla="*/ 18472 w 608727"/>
              <a:gd name="csY4" fmla="*/ 304800 h 3194473"/>
              <a:gd name="csX0" fmla="*/ 18472 w 562545"/>
              <a:gd name="csY0" fmla="*/ 304800 h 3194473"/>
              <a:gd name="csX1" fmla="*/ 544072 w 562545"/>
              <a:gd name="csY1" fmla="*/ 0 h 3194473"/>
              <a:gd name="csX2" fmla="*/ 562545 w 562545"/>
              <a:gd name="csY2" fmla="*/ 2206182 h 3194473"/>
              <a:gd name="csX3" fmla="*/ 0 w 562545"/>
              <a:gd name="csY3" fmla="*/ 3194473 h 3194473"/>
              <a:gd name="csX4" fmla="*/ 18472 w 562545"/>
              <a:gd name="csY4" fmla="*/ 304800 h 3194473"/>
              <a:gd name="csX0" fmla="*/ 18472 w 544072"/>
              <a:gd name="csY0" fmla="*/ 304800 h 3194473"/>
              <a:gd name="csX1" fmla="*/ 544072 w 544072"/>
              <a:gd name="csY1" fmla="*/ 0 h 3194473"/>
              <a:gd name="csX2" fmla="*/ 497891 w 544072"/>
              <a:gd name="csY2" fmla="*/ 2215418 h 3194473"/>
              <a:gd name="csX3" fmla="*/ 0 w 544072"/>
              <a:gd name="csY3" fmla="*/ 3194473 h 3194473"/>
              <a:gd name="csX4" fmla="*/ 18472 w 544072"/>
              <a:gd name="csY4" fmla="*/ 304800 h 3194473"/>
              <a:gd name="csX0" fmla="*/ 18472 w 553309"/>
              <a:gd name="csY0" fmla="*/ 304800 h 3194473"/>
              <a:gd name="csX1" fmla="*/ 544072 w 553309"/>
              <a:gd name="csY1" fmla="*/ 0 h 3194473"/>
              <a:gd name="csX2" fmla="*/ 553309 w 553309"/>
              <a:gd name="csY2" fmla="*/ 2196945 h 3194473"/>
              <a:gd name="csX3" fmla="*/ 0 w 553309"/>
              <a:gd name="csY3" fmla="*/ 3194473 h 3194473"/>
              <a:gd name="csX4" fmla="*/ 18472 w 553309"/>
              <a:gd name="csY4" fmla="*/ 304800 h 3194473"/>
              <a:gd name="csX0" fmla="*/ 18472 w 553309"/>
              <a:gd name="csY0" fmla="*/ 304800 h 3194473"/>
              <a:gd name="csX1" fmla="*/ 460945 w 553309"/>
              <a:gd name="csY1" fmla="*/ 0 h 3194473"/>
              <a:gd name="csX2" fmla="*/ 553309 w 553309"/>
              <a:gd name="csY2" fmla="*/ 2196945 h 3194473"/>
              <a:gd name="csX3" fmla="*/ 0 w 553309"/>
              <a:gd name="csY3" fmla="*/ 3194473 h 3194473"/>
              <a:gd name="csX4" fmla="*/ 18472 w 553309"/>
              <a:gd name="csY4" fmla="*/ 304800 h 3194473"/>
              <a:gd name="csX0" fmla="*/ 18472 w 553309"/>
              <a:gd name="csY0" fmla="*/ 277091 h 3166764"/>
              <a:gd name="csX1" fmla="*/ 534836 w 553309"/>
              <a:gd name="csY1" fmla="*/ 0 h 3166764"/>
              <a:gd name="csX2" fmla="*/ 553309 w 553309"/>
              <a:gd name="csY2" fmla="*/ 2169236 h 3166764"/>
              <a:gd name="csX3" fmla="*/ 0 w 553309"/>
              <a:gd name="csY3" fmla="*/ 3166764 h 3166764"/>
              <a:gd name="csX4" fmla="*/ 18472 w 553309"/>
              <a:gd name="csY4" fmla="*/ 277091 h 3166764"/>
              <a:gd name="csX0" fmla="*/ 18472 w 534836"/>
              <a:gd name="csY0" fmla="*/ 277091 h 3166764"/>
              <a:gd name="csX1" fmla="*/ 534836 w 534836"/>
              <a:gd name="csY1" fmla="*/ 0 h 3166764"/>
              <a:gd name="csX2" fmla="*/ 525600 w 534836"/>
              <a:gd name="csY2" fmla="*/ 2206181 h 3166764"/>
              <a:gd name="csX3" fmla="*/ 0 w 534836"/>
              <a:gd name="csY3" fmla="*/ 3166764 h 3166764"/>
              <a:gd name="csX4" fmla="*/ 18472 w 534836"/>
              <a:gd name="csY4" fmla="*/ 277091 h 3166764"/>
              <a:gd name="csX0" fmla="*/ 18472 w 534836"/>
              <a:gd name="csY0" fmla="*/ 277091 h 3166764"/>
              <a:gd name="csX1" fmla="*/ 534836 w 534836"/>
              <a:gd name="csY1" fmla="*/ 0 h 3166764"/>
              <a:gd name="csX2" fmla="*/ 525600 w 534836"/>
              <a:gd name="csY2" fmla="*/ 2169235 h 3166764"/>
              <a:gd name="csX3" fmla="*/ 0 w 534836"/>
              <a:gd name="csY3" fmla="*/ 3166764 h 3166764"/>
              <a:gd name="csX4" fmla="*/ 18472 w 534836"/>
              <a:gd name="csY4" fmla="*/ 277091 h 3166764"/>
              <a:gd name="csX0" fmla="*/ 18472 w 553575"/>
              <a:gd name="csY0" fmla="*/ 277091 h 3166764"/>
              <a:gd name="csX1" fmla="*/ 534836 w 553575"/>
              <a:gd name="csY1" fmla="*/ 0 h 3166764"/>
              <a:gd name="csX2" fmla="*/ 553309 w 553575"/>
              <a:gd name="csY2" fmla="*/ 2169235 h 3166764"/>
              <a:gd name="csX3" fmla="*/ 0 w 553575"/>
              <a:gd name="csY3" fmla="*/ 3166764 h 3166764"/>
              <a:gd name="csX4" fmla="*/ 18472 w 553575"/>
              <a:gd name="csY4" fmla="*/ 277091 h 3166764"/>
              <a:gd name="csX0" fmla="*/ 18472 w 554197"/>
              <a:gd name="csY0" fmla="*/ 314037 h 3203710"/>
              <a:gd name="csX1" fmla="*/ 553308 w 554197"/>
              <a:gd name="csY1" fmla="*/ 0 h 3203710"/>
              <a:gd name="csX2" fmla="*/ 553309 w 554197"/>
              <a:gd name="csY2" fmla="*/ 2206181 h 3203710"/>
              <a:gd name="csX3" fmla="*/ 0 w 554197"/>
              <a:gd name="csY3" fmla="*/ 3203710 h 3203710"/>
              <a:gd name="csX4" fmla="*/ 18472 w 554197"/>
              <a:gd name="csY4" fmla="*/ 314037 h 3203710"/>
              <a:gd name="csX0" fmla="*/ 18472 w 553862"/>
              <a:gd name="csY0" fmla="*/ 294987 h 3184660"/>
              <a:gd name="csX1" fmla="*/ 548546 w 553862"/>
              <a:gd name="csY1" fmla="*/ 0 h 3184660"/>
              <a:gd name="csX2" fmla="*/ 553309 w 553862"/>
              <a:gd name="csY2" fmla="*/ 2187131 h 3184660"/>
              <a:gd name="csX3" fmla="*/ 0 w 553862"/>
              <a:gd name="csY3" fmla="*/ 3184660 h 3184660"/>
              <a:gd name="csX4" fmla="*/ 18472 w 553862"/>
              <a:gd name="csY4" fmla="*/ 294987 h 3184660"/>
              <a:gd name="csX0" fmla="*/ 18472 w 563150"/>
              <a:gd name="csY0" fmla="*/ 294987 h 3184660"/>
              <a:gd name="csX1" fmla="*/ 548546 w 563150"/>
              <a:gd name="csY1" fmla="*/ 0 h 3184660"/>
              <a:gd name="csX2" fmla="*/ 562834 w 563150"/>
              <a:gd name="csY2" fmla="*/ 2172843 h 3184660"/>
              <a:gd name="csX3" fmla="*/ 0 w 563150"/>
              <a:gd name="csY3" fmla="*/ 3184660 h 3184660"/>
              <a:gd name="csX4" fmla="*/ 18472 w 563150"/>
              <a:gd name="csY4" fmla="*/ 294987 h 3184660"/>
              <a:gd name="csX0" fmla="*/ 18472 w 563236"/>
              <a:gd name="csY0" fmla="*/ 342612 h 3232285"/>
              <a:gd name="csX1" fmla="*/ 553309 w 563236"/>
              <a:gd name="csY1" fmla="*/ 0 h 3232285"/>
              <a:gd name="csX2" fmla="*/ 562834 w 563236"/>
              <a:gd name="csY2" fmla="*/ 2220468 h 3232285"/>
              <a:gd name="csX3" fmla="*/ 0 w 563236"/>
              <a:gd name="csY3" fmla="*/ 3232285 h 3232285"/>
              <a:gd name="csX4" fmla="*/ 18472 w 563236"/>
              <a:gd name="csY4" fmla="*/ 342612 h 3232285"/>
              <a:gd name="csX0" fmla="*/ 18472 w 563236"/>
              <a:gd name="csY0" fmla="*/ 361662 h 3251335"/>
              <a:gd name="csX1" fmla="*/ 553309 w 563236"/>
              <a:gd name="csY1" fmla="*/ 0 h 3251335"/>
              <a:gd name="csX2" fmla="*/ 562834 w 563236"/>
              <a:gd name="csY2" fmla="*/ 2239518 h 3251335"/>
              <a:gd name="csX3" fmla="*/ 0 w 563236"/>
              <a:gd name="csY3" fmla="*/ 3251335 h 3251335"/>
              <a:gd name="csX4" fmla="*/ 18472 w 563236"/>
              <a:gd name="csY4" fmla="*/ 361662 h 3251335"/>
              <a:gd name="csX0" fmla="*/ 32759 w 577523"/>
              <a:gd name="csY0" fmla="*/ 361662 h 2508385"/>
              <a:gd name="csX1" fmla="*/ 567596 w 577523"/>
              <a:gd name="csY1" fmla="*/ 0 h 2508385"/>
              <a:gd name="csX2" fmla="*/ 577121 w 577523"/>
              <a:gd name="csY2" fmla="*/ 2239518 h 2508385"/>
              <a:gd name="csX3" fmla="*/ 0 w 577523"/>
              <a:gd name="csY3" fmla="*/ 2508385 h 2508385"/>
              <a:gd name="csX4" fmla="*/ 32759 w 577523"/>
              <a:gd name="csY4" fmla="*/ 361662 h 2508385"/>
              <a:gd name="csX0" fmla="*/ 32759 w 577523"/>
              <a:gd name="csY0" fmla="*/ 361662 h 2508385"/>
              <a:gd name="csX1" fmla="*/ 567596 w 577523"/>
              <a:gd name="csY1" fmla="*/ 0 h 2508385"/>
              <a:gd name="csX2" fmla="*/ 577121 w 577523"/>
              <a:gd name="csY2" fmla="*/ 1444181 h 2508385"/>
              <a:gd name="csX3" fmla="*/ 0 w 577523"/>
              <a:gd name="csY3" fmla="*/ 2508385 h 2508385"/>
              <a:gd name="csX4" fmla="*/ 32759 w 577523"/>
              <a:gd name="csY4" fmla="*/ 361662 h 2508385"/>
              <a:gd name="csX0" fmla="*/ 32759 w 596364"/>
              <a:gd name="csY0" fmla="*/ 361662 h 2508385"/>
              <a:gd name="csX1" fmla="*/ 567596 w 596364"/>
              <a:gd name="csY1" fmla="*/ 0 h 2508385"/>
              <a:gd name="csX2" fmla="*/ 596171 w 596364"/>
              <a:gd name="csY2" fmla="*/ 1444181 h 2508385"/>
              <a:gd name="csX3" fmla="*/ 0 w 596364"/>
              <a:gd name="csY3" fmla="*/ 2508385 h 2508385"/>
              <a:gd name="csX4" fmla="*/ 32759 w 596364"/>
              <a:gd name="csY4" fmla="*/ 361662 h 2508385"/>
              <a:gd name="csX0" fmla="*/ 32759 w 567596"/>
              <a:gd name="csY0" fmla="*/ 361662 h 2508385"/>
              <a:gd name="csX1" fmla="*/ 567596 w 567596"/>
              <a:gd name="csY1" fmla="*/ 0 h 2508385"/>
              <a:gd name="csX2" fmla="*/ 553308 w 567596"/>
              <a:gd name="csY2" fmla="*/ 1482281 h 2508385"/>
              <a:gd name="csX3" fmla="*/ 0 w 567596"/>
              <a:gd name="csY3" fmla="*/ 2508385 h 2508385"/>
              <a:gd name="csX4" fmla="*/ 32759 w 567596"/>
              <a:gd name="csY4" fmla="*/ 361662 h 2508385"/>
              <a:gd name="csX0" fmla="*/ 32759 w 567596"/>
              <a:gd name="csY0" fmla="*/ 361662 h 2508385"/>
              <a:gd name="csX1" fmla="*/ 567596 w 567596"/>
              <a:gd name="csY1" fmla="*/ 0 h 2508385"/>
              <a:gd name="csX2" fmla="*/ 519971 w 567596"/>
              <a:gd name="csY2" fmla="*/ 1467994 h 2508385"/>
              <a:gd name="csX3" fmla="*/ 0 w 567596"/>
              <a:gd name="csY3" fmla="*/ 2508385 h 2508385"/>
              <a:gd name="csX4" fmla="*/ 32759 w 567596"/>
              <a:gd name="csY4" fmla="*/ 361662 h 2508385"/>
              <a:gd name="csX0" fmla="*/ 32759 w 567596"/>
              <a:gd name="csY0" fmla="*/ 361662 h 2508385"/>
              <a:gd name="csX1" fmla="*/ 567596 w 567596"/>
              <a:gd name="csY1" fmla="*/ 0 h 2508385"/>
              <a:gd name="csX2" fmla="*/ 562834 w 567596"/>
              <a:gd name="csY2" fmla="*/ 1425132 h 2508385"/>
              <a:gd name="csX3" fmla="*/ 0 w 567596"/>
              <a:gd name="csY3" fmla="*/ 2508385 h 2508385"/>
              <a:gd name="csX4" fmla="*/ 32759 w 567596"/>
              <a:gd name="csY4" fmla="*/ 361662 h 2508385"/>
              <a:gd name="csX0" fmla="*/ 32759 w 563027"/>
              <a:gd name="csY0" fmla="*/ 356899 h 2503622"/>
              <a:gd name="csX1" fmla="*/ 534259 w 563027"/>
              <a:gd name="csY1" fmla="*/ 0 h 2503622"/>
              <a:gd name="csX2" fmla="*/ 562834 w 563027"/>
              <a:gd name="csY2" fmla="*/ 1420369 h 2503622"/>
              <a:gd name="csX3" fmla="*/ 0 w 563027"/>
              <a:gd name="csY3" fmla="*/ 2503622 h 2503622"/>
              <a:gd name="csX4" fmla="*/ 32759 w 563027"/>
              <a:gd name="csY4" fmla="*/ 356899 h 2503622"/>
              <a:gd name="csX0" fmla="*/ 32759 w 563387"/>
              <a:gd name="csY0" fmla="*/ 352137 h 2498860"/>
              <a:gd name="csX1" fmla="*/ 558071 w 563387"/>
              <a:gd name="csY1" fmla="*/ 0 h 2498860"/>
              <a:gd name="csX2" fmla="*/ 562834 w 563387"/>
              <a:gd name="csY2" fmla="*/ 1415607 h 2498860"/>
              <a:gd name="csX3" fmla="*/ 0 w 563387"/>
              <a:gd name="csY3" fmla="*/ 2498860 h 2498860"/>
              <a:gd name="csX4" fmla="*/ 32759 w 563387"/>
              <a:gd name="csY4" fmla="*/ 352137 h 2498860"/>
              <a:gd name="csX0" fmla="*/ 0 w 530628"/>
              <a:gd name="csY0" fmla="*/ 352137 h 2508385"/>
              <a:gd name="csX1" fmla="*/ 525312 w 530628"/>
              <a:gd name="csY1" fmla="*/ 0 h 2508385"/>
              <a:gd name="csX2" fmla="*/ 530075 w 530628"/>
              <a:gd name="csY2" fmla="*/ 1415607 h 2508385"/>
              <a:gd name="csX3" fmla="*/ 10103 w 530628"/>
              <a:gd name="csY3" fmla="*/ 2508385 h 2508385"/>
              <a:gd name="csX4" fmla="*/ 0 w 530628"/>
              <a:gd name="csY4" fmla="*/ 352137 h 2508385"/>
              <a:gd name="csX0" fmla="*/ 0 w 530628"/>
              <a:gd name="csY0" fmla="*/ 352137 h 2460760"/>
              <a:gd name="csX1" fmla="*/ 525312 w 530628"/>
              <a:gd name="csY1" fmla="*/ 0 h 2460760"/>
              <a:gd name="csX2" fmla="*/ 530075 w 530628"/>
              <a:gd name="csY2" fmla="*/ 1415607 h 2460760"/>
              <a:gd name="csX3" fmla="*/ 48203 w 530628"/>
              <a:gd name="csY3" fmla="*/ 2460760 h 2460760"/>
              <a:gd name="csX4" fmla="*/ 0 w 530628"/>
              <a:gd name="csY4" fmla="*/ 352137 h 2460760"/>
              <a:gd name="csX0" fmla="*/ 0 w 530628"/>
              <a:gd name="csY0" fmla="*/ 352137 h 2498860"/>
              <a:gd name="csX1" fmla="*/ 525312 w 530628"/>
              <a:gd name="csY1" fmla="*/ 0 h 2498860"/>
              <a:gd name="csX2" fmla="*/ 530075 w 530628"/>
              <a:gd name="csY2" fmla="*/ 1415607 h 2498860"/>
              <a:gd name="csX3" fmla="*/ 10103 w 530628"/>
              <a:gd name="csY3" fmla="*/ 2498860 h 2498860"/>
              <a:gd name="csX4" fmla="*/ 0 w 530628"/>
              <a:gd name="csY4" fmla="*/ 352137 h 2498860"/>
              <a:gd name="csX0" fmla="*/ 4837 w 535465"/>
              <a:gd name="csY0" fmla="*/ 352137 h 2498860"/>
              <a:gd name="csX1" fmla="*/ 530149 w 535465"/>
              <a:gd name="csY1" fmla="*/ 0 h 2498860"/>
              <a:gd name="csX2" fmla="*/ 534912 w 535465"/>
              <a:gd name="csY2" fmla="*/ 1415607 h 2498860"/>
              <a:gd name="csX3" fmla="*/ 653 w 535465"/>
              <a:gd name="csY3" fmla="*/ 2498860 h 2498860"/>
              <a:gd name="csX4" fmla="*/ 4837 w 535465"/>
              <a:gd name="csY4" fmla="*/ 352137 h 2498860"/>
              <a:gd name="csX0" fmla="*/ 4837 w 542849"/>
              <a:gd name="csY0" fmla="*/ 361662 h 2508385"/>
              <a:gd name="csX1" fmla="*/ 542849 w 542849"/>
              <a:gd name="csY1" fmla="*/ 0 h 2508385"/>
              <a:gd name="csX2" fmla="*/ 534912 w 542849"/>
              <a:gd name="csY2" fmla="*/ 1425132 h 2508385"/>
              <a:gd name="csX3" fmla="*/ 653 w 542849"/>
              <a:gd name="csY3" fmla="*/ 2508385 h 2508385"/>
              <a:gd name="csX4" fmla="*/ 4837 w 542849"/>
              <a:gd name="csY4" fmla="*/ 361662 h 2508385"/>
              <a:gd name="csX0" fmla="*/ 1878 w 539890"/>
              <a:gd name="csY0" fmla="*/ 361662 h 1800360"/>
              <a:gd name="csX1" fmla="*/ 539890 w 539890"/>
              <a:gd name="csY1" fmla="*/ 0 h 1800360"/>
              <a:gd name="csX2" fmla="*/ 531953 w 539890"/>
              <a:gd name="csY2" fmla="*/ 1425132 h 1800360"/>
              <a:gd name="csX3" fmla="*/ 869 w 539890"/>
              <a:gd name="csY3" fmla="*/ 1800360 h 1800360"/>
              <a:gd name="csX4" fmla="*/ 1878 w 539890"/>
              <a:gd name="csY4" fmla="*/ 361662 h 1800360"/>
              <a:gd name="csX0" fmla="*/ 1878 w 540088"/>
              <a:gd name="csY0" fmla="*/ 361662 h 1800360"/>
              <a:gd name="csX1" fmla="*/ 539890 w 540088"/>
              <a:gd name="csY1" fmla="*/ 0 h 1800360"/>
              <a:gd name="csX2" fmla="*/ 539097 w 540088"/>
              <a:gd name="csY2" fmla="*/ 803625 h 1800360"/>
              <a:gd name="csX3" fmla="*/ 869 w 540088"/>
              <a:gd name="csY3" fmla="*/ 1800360 h 1800360"/>
              <a:gd name="csX4" fmla="*/ 1878 w 540088"/>
              <a:gd name="csY4" fmla="*/ 361662 h 1800360"/>
              <a:gd name="csX0" fmla="*/ 1878 w 541105"/>
              <a:gd name="csY0" fmla="*/ 361662 h 1800360"/>
              <a:gd name="csX1" fmla="*/ 539890 w 541105"/>
              <a:gd name="csY1" fmla="*/ 0 h 1800360"/>
              <a:gd name="csX2" fmla="*/ 539097 w 541105"/>
              <a:gd name="csY2" fmla="*/ 803625 h 1800360"/>
              <a:gd name="csX3" fmla="*/ 869 w 541105"/>
              <a:gd name="csY3" fmla="*/ 1800360 h 1800360"/>
              <a:gd name="csX4" fmla="*/ 1878 w 541105"/>
              <a:gd name="csY4" fmla="*/ 361662 h 1800360"/>
              <a:gd name="csX0" fmla="*/ 1878 w 539890"/>
              <a:gd name="csY0" fmla="*/ 361662 h 1800360"/>
              <a:gd name="csX1" fmla="*/ 539890 w 539890"/>
              <a:gd name="csY1" fmla="*/ 0 h 1800360"/>
              <a:gd name="csX2" fmla="*/ 529572 w 539890"/>
              <a:gd name="csY2" fmla="*/ 801243 h 1800360"/>
              <a:gd name="csX3" fmla="*/ 869 w 539890"/>
              <a:gd name="csY3" fmla="*/ 1800360 h 1800360"/>
              <a:gd name="csX4" fmla="*/ 1878 w 539890"/>
              <a:gd name="csY4" fmla="*/ 361662 h 1800360"/>
              <a:gd name="csX0" fmla="*/ 1878 w 530970"/>
              <a:gd name="csY0" fmla="*/ 361662 h 1800360"/>
              <a:gd name="csX1" fmla="*/ 525603 w 530970"/>
              <a:gd name="csY1" fmla="*/ 0 h 1800360"/>
              <a:gd name="csX2" fmla="*/ 529572 w 530970"/>
              <a:gd name="csY2" fmla="*/ 801243 h 1800360"/>
              <a:gd name="csX3" fmla="*/ 869 w 530970"/>
              <a:gd name="csY3" fmla="*/ 1800360 h 1800360"/>
              <a:gd name="csX4" fmla="*/ 1878 w 530970"/>
              <a:gd name="csY4" fmla="*/ 361662 h 1800360"/>
              <a:gd name="csX0" fmla="*/ 1878 w 532746"/>
              <a:gd name="csY0" fmla="*/ 361662 h 1800360"/>
              <a:gd name="csX1" fmla="*/ 532746 w 532746"/>
              <a:gd name="csY1" fmla="*/ 0 h 1800360"/>
              <a:gd name="csX2" fmla="*/ 529572 w 532746"/>
              <a:gd name="csY2" fmla="*/ 801243 h 1800360"/>
              <a:gd name="csX3" fmla="*/ 869 w 532746"/>
              <a:gd name="csY3" fmla="*/ 1800360 h 1800360"/>
              <a:gd name="csX4" fmla="*/ 1878 w 532746"/>
              <a:gd name="csY4" fmla="*/ 361662 h 1800360"/>
              <a:gd name="csX0" fmla="*/ 1878 w 532746"/>
              <a:gd name="csY0" fmla="*/ 361662 h 1800360"/>
              <a:gd name="csX1" fmla="*/ 532746 w 532746"/>
              <a:gd name="csY1" fmla="*/ 0 h 1800360"/>
              <a:gd name="csX2" fmla="*/ 529572 w 532746"/>
              <a:gd name="csY2" fmla="*/ 801243 h 1800360"/>
              <a:gd name="csX3" fmla="*/ 869 w 532746"/>
              <a:gd name="csY3" fmla="*/ 1800360 h 1800360"/>
              <a:gd name="csX4" fmla="*/ 1878 w 532746"/>
              <a:gd name="csY4" fmla="*/ 361662 h 1800360"/>
              <a:gd name="csX0" fmla="*/ 1878 w 533626"/>
              <a:gd name="csY0" fmla="*/ 361662 h 1800360"/>
              <a:gd name="csX1" fmla="*/ 532746 w 533626"/>
              <a:gd name="csY1" fmla="*/ 0 h 1800360"/>
              <a:gd name="csX2" fmla="*/ 531953 w 533626"/>
              <a:gd name="csY2" fmla="*/ 794099 h 1800360"/>
              <a:gd name="csX3" fmla="*/ 869 w 533626"/>
              <a:gd name="csY3" fmla="*/ 1800360 h 1800360"/>
              <a:gd name="csX4" fmla="*/ 1878 w 533626"/>
              <a:gd name="csY4" fmla="*/ 361662 h 1800360"/>
              <a:gd name="csX0" fmla="*/ 1878 w 533626"/>
              <a:gd name="csY0" fmla="*/ 361662 h 1800360"/>
              <a:gd name="csX1" fmla="*/ 532746 w 533626"/>
              <a:gd name="csY1" fmla="*/ 0 h 1800360"/>
              <a:gd name="csX2" fmla="*/ 531953 w 533626"/>
              <a:gd name="csY2" fmla="*/ 801243 h 1800360"/>
              <a:gd name="csX3" fmla="*/ 869 w 533626"/>
              <a:gd name="csY3" fmla="*/ 1800360 h 1800360"/>
              <a:gd name="csX4" fmla="*/ 1878 w 533626"/>
              <a:gd name="csY4" fmla="*/ 361662 h 1800360"/>
            </a:gdLst>
            <a:ahLst/>
            <a:cxnLst>
              <a:cxn ang="0">
                <a:pos x="csX0" y="csY0"/>
              </a:cxn>
              <a:cxn ang="0">
                <a:pos x="csX1" y="csY1"/>
              </a:cxn>
              <a:cxn ang="0">
                <a:pos x="csX2" y="csY2"/>
              </a:cxn>
              <a:cxn ang="0">
                <a:pos x="csX3" y="csY3"/>
              </a:cxn>
              <a:cxn ang="0">
                <a:pos x="csX4" y="csY4"/>
              </a:cxn>
            </a:cxnLst>
            <a:rect l="l" t="t" r="r" b="b"/>
            <a:pathLst>
              <a:path w="533626" h="1800360">
                <a:moveTo>
                  <a:pt x="1878" y="361662"/>
                </a:moveTo>
                <a:lnTo>
                  <a:pt x="532746" y="0"/>
                </a:lnTo>
                <a:cubicBezTo>
                  <a:pt x="527286" y="568707"/>
                  <a:pt x="537414" y="365887"/>
                  <a:pt x="531953" y="801243"/>
                </a:cubicBezTo>
                <a:lnTo>
                  <a:pt x="869" y="1800360"/>
                </a:lnTo>
                <a:cubicBezTo>
                  <a:pt x="-2499" y="1081611"/>
                  <a:pt x="5246" y="1080411"/>
                  <a:pt x="1878" y="361662"/>
                </a:cubicBezTo>
                <a:close/>
              </a:path>
            </a:pathLst>
          </a:cu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Tree>
    <p:extLst>
      <p:ext uri="{BB962C8B-B14F-4D97-AF65-F5344CB8AC3E}">
        <p14:creationId xmlns:p14="http://schemas.microsoft.com/office/powerpoint/2010/main" val="1596949250"/>
      </p:ext>
    </p:extLst>
  </p:cSld>
  <p:clrMapOvr>
    <a:masterClrMapping/>
  </p:clrMapOvr>
</p:sld>
</file>

<file path=ppt/slides/slide4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C7CAF4-AEE1-FB73-2CFC-FDC359545F75}"/>
              </a:ext>
            </a:extLst>
          </p:cNvPr>
          <p:cNvSpPr>
            <a:spLocks noGrp="1"/>
          </p:cNvSpPr>
          <p:nvPr>
            <p:ph type="title"/>
          </p:nvPr>
        </p:nvSpPr>
        <p:spPr>
          <a:xfrm>
            <a:off x="792000" y="360000"/>
            <a:ext cx="6375921" cy="429413"/>
          </a:xfrm>
        </p:spPr>
        <p:txBody>
          <a:bodyPr/>
          <a:lstStyle/>
          <a:p>
            <a:r>
              <a:rPr lang="zh-CN" altLang="en-US"/>
              <a:t>项目结束</a:t>
            </a:r>
          </a:p>
        </p:txBody>
      </p:sp>
      <p:sp>
        <p:nvSpPr>
          <p:cNvPr id="3" name="内容占位符 2">
            <a:extLst>
              <a:ext uri="{FF2B5EF4-FFF2-40B4-BE49-F238E27FC236}">
                <a16:creationId xmlns:a16="http://schemas.microsoft.com/office/drawing/2014/main" id="{E18F62FB-8D73-0A23-9233-17129AB0E1F6}"/>
              </a:ext>
            </a:extLst>
          </p:cNvPr>
          <p:cNvSpPr>
            <a:spLocks noGrp="1"/>
          </p:cNvSpPr>
          <p:nvPr>
            <p:ph idx="1"/>
          </p:nvPr>
        </p:nvSpPr>
        <p:spPr>
          <a:xfrm>
            <a:off x="696000" y="864000"/>
            <a:ext cx="10800000" cy="5400000"/>
          </a:xfrm>
        </p:spPr>
        <p:txBody>
          <a:bodyPr/>
          <a:lstStyle/>
          <a:p>
            <a:r>
              <a:rPr lang="zh-CN" altLang="en-US"/>
              <a:t>合同结束</a:t>
            </a:r>
            <a:endParaRPr lang="en-US" altLang="zh-CN"/>
          </a:p>
          <a:p>
            <a:r>
              <a:rPr lang="zh-CN" altLang="en-US"/>
              <a:t>行政结束</a:t>
            </a:r>
          </a:p>
        </p:txBody>
      </p:sp>
      <p:sp>
        <p:nvSpPr>
          <p:cNvPr id="7" name="文本占位符 6">
            <a:extLst>
              <a:ext uri="{FF2B5EF4-FFF2-40B4-BE49-F238E27FC236}">
                <a16:creationId xmlns:a16="http://schemas.microsoft.com/office/drawing/2014/main" id="{CC192580-3CA5-BC7C-BAB7-E10C1DA6D8D8}"/>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2935681184"/>
      </p:ext>
    </p:extLst>
  </p:cSld>
  <p:clrMapOvr>
    <a:masterClrMapping/>
  </p:clrMapOvr>
</p:sld>
</file>

<file path=ppt/slides/slide4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89D44F-FCE6-4594-CB27-33B57D3FCFD2}"/>
              </a:ext>
            </a:extLst>
          </p:cNvPr>
          <p:cNvSpPr>
            <a:spLocks noGrp="1"/>
          </p:cNvSpPr>
          <p:nvPr>
            <p:ph type="title"/>
          </p:nvPr>
        </p:nvSpPr>
        <p:spPr>
          <a:xfrm>
            <a:off x="792000" y="360000"/>
            <a:ext cx="6375921" cy="429413"/>
          </a:xfrm>
        </p:spPr>
        <p:txBody>
          <a:bodyPr/>
          <a:lstStyle/>
          <a:p>
            <a:r>
              <a:rPr lang="zh-CN" altLang="en-US"/>
              <a:t>项目验收</a:t>
            </a:r>
          </a:p>
        </p:txBody>
      </p:sp>
      <p:sp>
        <p:nvSpPr>
          <p:cNvPr id="3" name="内容占位符 2">
            <a:extLst>
              <a:ext uri="{FF2B5EF4-FFF2-40B4-BE49-F238E27FC236}">
                <a16:creationId xmlns:a16="http://schemas.microsoft.com/office/drawing/2014/main" id="{498CA5A3-E54B-FD8D-2B5C-63B22D5D9876}"/>
              </a:ext>
            </a:extLst>
          </p:cNvPr>
          <p:cNvSpPr>
            <a:spLocks noGrp="1"/>
          </p:cNvSpPr>
          <p:nvPr>
            <p:ph idx="1"/>
          </p:nvPr>
        </p:nvSpPr>
        <p:spPr>
          <a:xfrm>
            <a:off x="696000" y="864000"/>
            <a:ext cx="10800000" cy="5400000"/>
          </a:xfrm>
        </p:spPr>
        <p:txBody>
          <a:bodyPr/>
          <a:lstStyle/>
          <a:p>
            <a:r>
              <a:rPr lang="zh-CN" altLang="en-US" dirty="0"/>
              <a:t>验收测试</a:t>
            </a:r>
            <a:endParaRPr lang="en-US" altLang="zh-CN" dirty="0"/>
          </a:p>
          <a:p>
            <a:r>
              <a:rPr lang="zh-CN" altLang="en-US" dirty="0"/>
              <a:t>系统试运行</a:t>
            </a:r>
            <a:endParaRPr lang="en-US" altLang="zh-CN" dirty="0"/>
          </a:p>
          <a:p>
            <a:r>
              <a:rPr lang="zh-CN" altLang="en-US" dirty="0"/>
              <a:t>文档验收</a:t>
            </a:r>
            <a:endParaRPr lang="en-US" altLang="zh-CN" dirty="0"/>
          </a:p>
          <a:p>
            <a:pPr lvl="1"/>
            <a:r>
              <a:rPr lang="zh-CN" altLang="en-US" dirty="0"/>
              <a:t>对于系统集成项目，所涉及的文物应该包括如下部分：</a:t>
            </a:r>
          </a:p>
          <a:p>
            <a:pPr lvl="1"/>
            <a:r>
              <a:rPr lang="zh-CN" altLang="en-US" dirty="0"/>
              <a:t>系统集成项目介绍</a:t>
            </a:r>
          </a:p>
          <a:p>
            <a:pPr lvl="1"/>
            <a:r>
              <a:rPr lang="zh-CN" altLang="en-US" dirty="0"/>
              <a:t>系统集成项目最终报告</a:t>
            </a:r>
          </a:p>
          <a:p>
            <a:pPr lvl="1"/>
            <a:r>
              <a:rPr lang="zh-CN" altLang="en-US" dirty="0"/>
              <a:t>信息系统说明手册</a:t>
            </a:r>
          </a:p>
          <a:p>
            <a:pPr lvl="1"/>
            <a:r>
              <a:rPr lang="zh-CN" altLang="en-US" dirty="0"/>
              <a:t>信息系统维护手册</a:t>
            </a:r>
          </a:p>
          <a:p>
            <a:pPr lvl="1"/>
            <a:r>
              <a:rPr lang="zh-CN" altLang="en-US" dirty="0"/>
              <a:t>软硬件产品说明书，质量保证书等</a:t>
            </a:r>
            <a:endParaRPr lang="en-US" altLang="zh-CN" dirty="0"/>
          </a:p>
          <a:p>
            <a:r>
              <a:rPr lang="zh-CN" altLang="en-US" dirty="0"/>
              <a:t>项目终验</a:t>
            </a:r>
          </a:p>
        </p:txBody>
      </p:sp>
      <p:sp>
        <p:nvSpPr>
          <p:cNvPr id="6" name="文本占位符 5">
            <a:extLst>
              <a:ext uri="{FF2B5EF4-FFF2-40B4-BE49-F238E27FC236}">
                <a16:creationId xmlns:a16="http://schemas.microsoft.com/office/drawing/2014/main" id="{2FE2F942-995B-8EFF-68FB-6B18303BD5C5}"/>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978809581"/>
      </p:ext>
    </p:extLst>
  </p:cSld>
  <p:clrMapOvr>
    <a:masterClrMapping/>
  </p:clrMapOvr>
</p:sld>
</file>

<file path=ppt/slides/slide4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FFD5E3-C1CB-057E-EBA4-45BFCB3A0464}"/>
              </a:ext>
            </a:extLst>
          </p:cNvPr>
          <p:cNvSpPr>
            <a:spLocks noGrp="1"/>
          </p:cNvSpPr>
          <p:nvPr>
            <p:ph type="title"/>
          </p:nvPr>
        </p:nvSpPr>
        <p:spPr>
          <a:xfrm>
            <a:off x="792000" y="360000"/>
            <a:ext cx="6375921" cy="429413"/>
          </a:xfrm>
        </p:spPr>
        <p:txBody>
          <a:bodyPr/>
          <a:lstStyle/>
          <a:p>
            <a:r>
              <a:rPr lang="zh-CN" altLang="en-US"/>
              <a:t>项目总结</a:t>
            </a:r>
          </a:p>
        </p:txBody>
      </p:sp>
      <p:sp>
        <p:nvSpPr>
          <p:cNvPr id="3" name="内容占位符 2">
            <a:extLst>
              <a:ext uri="{FF2B5EF4-FFF2-40B4-BE49-F238E27FC236}">
                <a16:creationId xmlns:a16="http://schemas.microsoft.com/office/drawing/2014/main" id="{29978601-D461-E290-F764-0F097D692500}"/>
              </a:ext>
            </a:extLst>
          </p:cNvPr>
          <p:cNvSpPr>
            <a:spLocks noGrp="1"/>
          </p:cNvSpPr>
          <p:nvPr>
            <p:ph idx="1"/>
          </p:nvPr>
        </p:nvSpPr>
        <p:spPr>
          <a:xfrm>
            <a:off x="696000" y="864000"/>
            <a:ext cx="10800000" cy="5400000"/>
          </a:xfrm>
        </p:spPr>
        <p:txBody>
          <a:bodyPr/>
          <a:lstStyle/>
          <a:p>
            <a:r>
              <a:rPr lang="zh-CN" altLang="en-US"/>
              <a:t>管理收尾</a:t>
            </a:r>
            <a:r>
              <a:rPr lang="en-US" altLang="zh-CN"/>
              <a:t>/</a:t>
            </a:r>
            <a:r>
              <a:rPr lang="zh-CN" altLang="en-US"/>
              <a:t>行政收尾</a:t>
            </a:r>
          </a:p>
        </p:txBody>
      </p:sp>
      <p:sp>
        <p:nvSpPr>
          <p:cNvPr id="6" name="文本占位符 5">
            <a:extLst>
              <a:ext uri="{FF2B5EF4-FFF2-40B4-BE49-F238E27FC236}">
                <a16:creationId xmlns:a16="http://schemas.microsoft.com/office/drawing/2014/main" id="{C0C9CC96-E5C1-0D4D-D191-D2B9F69A6CBB}"/>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3656574641"/>
      </p:ext>
    </p:extLst>
  </p:cSld>
  <p:clrMapOvr>
    <a:masterClrMapping/>
  </p:clrMapOvr>
</p:sld>
</file>

<file path=ppt/slides/slide4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7FFFCD-58A4-CD65-2C8D-5D307C54D63E}"/>
              </a:ext>
            </a:extLst>
          </p:cNvPr>
          <p:cNvSpPr>
            <a:spLocks noGrp="1"/>
          </p:cNvSpPr>
          <p:nvPr>
            <p:ph type="title"/>
          </p:nvPr>
        </p:nvSpPr>
        <p:spPr>
          <a:xfrm>
            <a:off x="792000" y="360000"/>
            <a:ext cx="6375921" cy="429413"/>
          </a:xfrm>
        </p:spPr>
        <p:txBody>
          <a:bodyPr/>
          <a:lstStyle/>
          <a:p>
            <a:r>
              <a:rPr lang="zh-CN" altLang="en-US"/>
              <a:t>项目后评价</a:t>
            </a:r>
          </a:p>
        </p:txBody>
      </p:sp>
      <p:sp>
        <p:nvSpPr>
          <p:cNvPr id="3" name="内容占位符 2">
            <a:extLst>
              <a:ext uri="{FF2B5EF4-FFF2-40B4-BE49-F238E27FC236}">
                <a16:creationId xmlns:a16="http://schemas.microsoft.com/office/drawing/2014/main" id="{D45F5B7F-6847-B8ED-ABB3-470D5B6BC307}"/>
              </a:ext>
            </a:extLst>
          </p:cNvPr>
          <p:cNvSpPr>
            <a:spLocks noGrp="1"/>
          </p:cNvSpPr>
          <p:nvPr>
            <p:ph idx="1"/>
          </p:nvPr>
        </p:nvSpPr>
        <p:spPr>
          <a:xfrm>
            <a:off x="696000" y="864000"/>
            <a:ext cx="10800000" cy="5400000"/>
          </a:xfrm>
        </p:spPr>
        <p:txBody>
          <a:bodyPr/>
          <a:lstStyle/>
          <a:p>
            <a:r>
              <a:rPr lang="zh-CN" altLang="en-US" dirty="0"/>
              <a:t>目标评价</a:t>
            </a:r>
            <a:endParaRPr lang="en-US" altLang="zh-CN" dirty="0"/>
          </a:p>
          <a:p>
            <a:r>
              <a:rPr lang="zh-CN" altLang="en-US" dirty="0"/>
              <a:t>过程评价</a:t>
            </a:r>
            <a:endParaRPr lang="en-US" altLang="zh-CN" dirty="0"/>
          </a:p>
          <a:p>
            <a:r>
              <a:rPr lang="zh-CN" altLang="en-US" dirty="0"/>
              <a:t>效益评价</a:t>
            </a:r>
            <a:endParaRPr lang="en-US" altLang="zh-CN" dirty="0"/>
          </a:p>
          <a:p>
            <a:r>
              <a:rPr lang="zh-CN" altLang="en-US" dirty="0"/>
              <a:t>可持续评价</a:t>
            </a:r>
            <a:endParaRPr lang="en-US" altLang="zh-CN" dirty="0"/>
          </a:p>
          <a:p>
            <a:r>
              <a:rPr lang="zh-CN" altLang="en-US" dirty="0"/>
              <a:t>信息系统后评价通过对已经建成的信息系统进行全面综合地调研，分析，总结，对信息系统目标是否实现，信息系统的前期论证过程，开发建设过程以及运营外维护过程是否符合要求，信息系统是否实现了预期的经济效益，管理效益以及的社会效益，信息系统后评价的主要内容一般包括信息系统的目标评价，信息系统过程评价，信息系统效益评价和信息系统可持续性评价四个方面的工作内容。</a:t>
            </a:r>
          </a:p>
        </p:txBody>
      </p:sp>
      <p:sp>
        <p:nvSpPr>
          <p:cNvPr id="6" name="文本占位符 5">
            <a:extLst>
              <a:ext uri="{FF2B5EF4-FFF2-40B4-BE49-F238E27FC236}">
                <a16:creationId xmlns:a16="http://schemas.microsoft.com/office/drawing/2014/main" id="{566DE6BA-0B45-A34B-5B32-2E91D0C102CD}"/>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1570362373"/>
      </p:ext>
    </p:extLst>
  </p:cSld>
  <p:clrMapOvr>
    <a:masterClrMapping/>
  </p:clrMapOvr>
</p:sld>
</file>

<file path=ppt/slides/slide4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6CF79F05-89D9-48F9-55FD-50CA1A2B4146}"/>
              </a:ext>
            </a:extLst>
          </p:cNvPr>
          <p:cNvSpPr>
            <a:spLocks noGrp="1"/>
          </p:cNvSpPr>
          <p:nvPr>
            <p:ph type="title"/>
          </p:nvPr>
        </p:nvSpPr>
        <p:spPr>
          <a:xfrm>
            <a:off x="792000" y="360000"/>
            <a:ext cx="6375921" cy="429413"/>
          </a:xfrm>
        </p:spPr>
        <p:txBody>
          <a:bodyPr>
            <a:normAutofit/>
          </a:bodyPr>
          <a:lstStyle/>
          <a:p>
            <a:r>
              <a:rPr lang="en-US" altLang="zh-CN"/>
              <a:t>Tips</a:t>
            </a:r>
            <a:endParaRPr lang="zh-CN" altLang="en-US"/>
          </a:p>
        </p:txBody>
      </p:sp>
      <p:sp>
        <p:nvSpPr>
          <p:cNvPr id="6" name="内容占位符 5">
            <a:extLst>
              <a:ext uri="{FF2B5EF4-FFF2-40B4-BE49-F238E27FC236}">
                <a16:creationId xmlns:a16="http://schemas.microsoft.com/office/drawing/2014/main" id="{D2C08098-8E27-0EF7-1065-36E1A2457E01}"/>
              </a:ext>
            </a:extLst>
          </p:cNvPr>
          <p:cNvSpPr>
            <a:spLocks noGrp="1"/>
          </p:cNvSpPr>
          <p:nvPr>
            <p:ph idx="1"/>
          </p:nvPr>
        </p:nvSpPr>
        <p:spPr>
          <a:xfrm>
            <a:off x="696000" y="864000"/>
            <a:ext cx="10800000" cy="5400000"/>
          </a:xfrm>
        </p:spPr>
        <p:txBody>
          <a:bodyPr/>
          <a:lstStyle/>
          <a:p>
            <a:r>
              <a:rPr lang="zh-CN" altLang="en-US"/>
              <a:t>聚焦价值</a:t>
            </a:r>
            <a:endParaRPr lang="en-US" altLang="zh-CN"/>
          </a:p>
          <a:p>
            <a:r>
              <a:rPr lang="zh-CN" altLang="en-US"/>
              <a:t>正能量</a:t>
            </a:r>
            <a:endParaRPr lang="en-US" altLang="zh-CN"/>
          </a:p>
          <a:p>
            <a:r>
              <a:rPr lang="zh-CN" altLang="en-US"/>
              <a:t>主动</a:t>
            </a:r>
            <a:endParaRPr lang="en-US" altLang="zh-CN"/>
          </a:p>
          <a:p>
            <a:r>
              <a:rPr lang="zh-CN" altLang="en-US"/>
              <a:t>客观</a:t>
            </a:r>
          </a:p>
        </p:txBody>
      </p:sp>
      <p:sp>
        <p:nvSpPr>
          <p:cNvPr id="4" name="文本占位符 3">
            <a:extLst>
              <a:ext uri="{FF2B5EF4-FFF2-40B4-BE49-F238E27FC236}">
                <a16:creationId xmlns:a16="http://schemas.microsoft.com/office/drawing/2014/main" id="{AF4E9A7F-AC15-AF7C-B0D7-C18927F1B2B6}"/>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115914844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3"/>
  <p:tag name="KSO_WM_UNIT_ID" val="custom160596_67*q_i*1_3"/>
  <p:tag name="KSO_WM_UNIT_LAYERLEVEL" val="1_1"/>
  <p:tag name="KSO_WM_DIAGRAM_GROUP_CODE" val="q1-1"/>
  <p:tag name="KSO_WM_UNIT_FILL_FORE_SCHEMECOLOR_INDEX" val="7"/>
  <p:tag name="KSO_WM_UNIT_FILL_TYPE" val="1"/>
  <p:tag name="KSO_WM_UNIT_TEXT_FILL_FORE_SCHEMECOLOR_INDEX" val="13"/>
  <p:tag name="KSO_WM_UNIT_TEXT_FILL_TYPE" val="1"/>
  <p:tag name="KSO_WM_UNIT_USESOURCEFORMAT_APPLY" val="1"/>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5"/>
  <p:tag name="KSO_WM_UNIT_ID" val="custom160596_67*q_i*1_5"/>
  <p:tag name="KSO_WM_UNIT_LAYERLEVEL" val="1_1"/>
  <p:tag name="KSO_WM_DIAGRAM_GROUP_CODE" val="q1-1"/>
  <p:tag name="KSO_WM_UNIT_FILL_FORE_SCHEMECOLOR_INDEX" val="6"/>
  <p:tag name="KSO_WM_UNIT_FILL_TYPE" val="1"/>
  <p:tag name="KSO_WM_UNIT_TEXT_FILL_FORE_SCHEMECOLOR_INDEX" val="13"/>
  <p:tag name="KSO_WM_UNIT_TEXT_FILL_TYPE" val="1"/>
  <p:tag name="KSO_WM_UNIT_USESOURCEFORMAT_APPLY" val="1"/>
</p:tagLst>
</file>

<file path=ppt/tags/tag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6"/>
  <p:tag name="KSO_WM_UNIT_ID" val="custom160596_67*q_i*1_6"/>
  <p:tag name="KSO_WM_UNIT_LAYERLEVEL" val="1_1"/>
  <p:tag name="KSO_WM_DIAGRAM_GROUP_CODE" val="q1-1"/>
  <p:tag name="KSO_WM_UNIT_FILL_FORE_SCHEMECOLOR_INDEX" val="5"/>
  <p:tag name="KSO_WM_UNIT_FILL_TYPE" val="1"/>
  <p:tag name="KSO_WM_UNIT_TEXT_FILL_FORE_SCHEMECOLOR_INDEX" val="13"/>
  <p:tag name="KSO_WM_UNIT_TEXT_FILL_TYPE" val="1"/>
  <p:tag name="KSO_WM_UNIT_USESOURCEFORMAT_APPLY" val="1"/>
</p:tagLst>
</file>

<file path=ppt/tags/tag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3"/>
  <p:tag name="KSO_WM_UNIT_ID" val="custom160596_67*q_i*1_13"/>
  <p:tag name="KSO_WM_UNIT_LAYERLEVEL" val="1_1"/>
  <p:tag name="KSO_WM_DIAGRAM_GROUP_CODE" val="q1-1"/>
  <p:tag name="KSO_WM_UNIT_FILL_FORE_SCHEMECOLOR_INDEX" val="7"/>
  <p:tag name="KSO_WM_UNIT_FILL_TYPE" val="1"/>
  <p:tag name="KSO_WM_UNIT_TEXT_FILL_FORE_SCHEMECOLOR_INDEX" val="13"/>
  <p:tag name="KSO_WM_UNIT_TEXT_FILL_TYPE" val="1"/>
  <p:tag name="KSO_WM_UNIT_USESOURCEFORMAT_APPLY" val="1"/>
</p:tagLst>
</file>

<file path=ppt/tags/tag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1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11.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1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1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1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1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1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1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1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1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2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2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2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2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2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2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2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2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2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2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3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3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3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lpla">
      <a:majorFont>
        <a:latin typeface="Montserrat"/>
        <a:ea typeface="微软雅黑"/>
        <a:cs typeface=""/>
      </a:majorFont>
      <a:minorFont>
        <a:latin typeface="Montserrat"/>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chemeClr val="tx1"/>
          </a:solidFill>
        </a:ln>
      </a:spPr>
      <a:bodyPr rtlCol="0" anchor="ctr"/>
      <a:lstStyle>
        <a:defPPr algn="ctr">
          <a:defRPr sz="14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a:solidFill>
            <a:schemeClr val="tx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16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34687</TotalTime>
  <Words>40770</Words>
  <Application>Microsoft Office PowerPoint</Application>
  <PresentationFormat>宽屏</PresentationFormat>
  <Paragraphs>7762</Paragraphs>
  <Slides>478</Slides>
  <Notes>198</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478</vt:i4>
      </vt:variant>
    </vt:vector>
  </HeadingPairs>
  <TitlesOfParts>
    <vt:vector size="490" baseType="lpstr">
      <vt:lpstr>等线</vt:lpstr>
      <vt:lpstr>微软雅黑</vt:lpstr>
      <vt:lpstr>Calibri</vt:lpstr>
      <vt:lpstr>Segoe UI Black</vt:lpstr>
      <vt:lpstr>Arial</vt:lpstr>
      <vt:lpstr>幼圆</vt:lpstr>
      <vt:lpstr>Wingdings</vt:lpstr>
      <vt:lpstr>Montserrat</vt:lpstr>
      <vt:lpstr>Roboto Mono</vt:lpstr>
      <vt:lpstr>Times New Roman</vt:lpstr>
      <vt:lpstr>Cambria Math</vt:lpstr>
      <vt:lpstr>Office 主题​​</vt:lpstr>
      <vt:lpstr>PowerPoint 演示文稿</vt:lpstr>
      <vt:lpstr>PowerPoint 演示文稿</vt:lpstr>
      <vt:lpstr>软件项目管理概述</vt:lpstr>
      <vt:lpstr>1.1 项目</vt:lpstr>
      <vt:lpstr>PowerPoint 演示文稿</vt:lpstr>
      <vt:lpstr>1.1 项目</vt:lpstr>
      <vt:lpstr>1.2 子项目</vt:lpstr>
      <vt:lpstr>1.3 项目集</vt:lpstr>
      <vt:lpstr>1.4 项目组合</vt:lpstr>
      <vt:lpstr>PowerPoint 演示文稿</vt:lpstr>
      <vt:lpstr>1.5 软件项目</vt:lpstr>
      <vt:lpstr>1.5 软件项目</vt:lpstr>
      <vt:lpstr>1.5 软件项目</vt:lpstr>
      <vt:lpstr>1.5 软件项目</vt:lpstr>
      <vt:lpstr>2.1 项目管理</vt:lpstr>
      <vt:lpstr>2.2 软件项目管理</vt:lpstr>
      <vt:lpstr>2.2 软件项目管理</vt:lpstr>
      <vt:lpstr>3 传统软件项目管理</vt:lpstr>
      <vt:lpstr>PowerPoint 演示文稿</vt:lpstr>
      <vt:lpstr>3.1 PMBOK 第6版</vt:lpstr>
      <vt:lpstr>3.1.1 五大标准过程组</vt:lpstr>
      <vt:lpstr>3.1.1 五大标准过程组</vt:lpstr>
      <vt:lpstr>3.1.2 十大知识领域</vt:lpstr>
      <vt:lpstr>3.2 PMBOK第7版</vt:lpstr>
      <vt:lpstr>3.2 PMBOK第7版</vt:lpstr>
      <vt:lpstr>3.2.1 十二项原则</vt:lpstr>
      <vt:lpstr>3.2.1 十二项原则</vt:lpstr>
      <vt:lpstr>3.2.2 八大绩效域</vt:lpstr>
      <vt:lpstr>3.2.2 八大绩效域</vt:lpstr>
      <vt:lpstr>VUCA</vt:lpstr>
      <vt:lpstr>PowerPoint 演示文稿</vt:lpstr>
      <vt:lpstr>4.1 敏捷开发</vt:lpstr>
      <vt:lpstr>PowerPoint 演示文稿</vt:lpstr>
      <vt:lpstr>PowerPoint 演示文稿</vt:lpstr>
      <vt:lpstr>4.2 敏捷软件开发宣言</vt:lpstr>
      <vt:lpstr>4.2.1 敏捷宣言四个核心价值</vt:lpstr>
      <vt:lpstr>4.2.2 敏捷宣言十二项原则</vt:lpstr>
      <vt:lpstr>4.2.2 敏捷宣言十二项原则</vt:lpstr>
      <vt:lpstr>PowerPoint 演示文稿</vt:lpstr>
      <vt:lpstr>PowerPoint 演示文稿</vt:lpstr>
      <vt:lpstr>项目初始</vt:lpstr>
      <vt:lpstr>PowerPoint 演示文稿</vt:lpstr>
      <vt:lpstr>2.1 项目评估</vt:lpstr>
      <vt:lpstr>2.1.1 净现金值</vt:lpstr>
      <vt:lpstr>2.1.1 净现金值</vt:lpstr>
      <vt:lpstr>2.1.1 净现金值</vt:lpstr>
      <vt:lpstr>2.2 项目立项</vt:lpstr>
      <vt:lpstr>2.3 项目招投标</vt:lpstr>
      <vt:lpstr>2.3.1 招标书</vt:lpstr>
      <vt:lpstr>2.3.2 投标书</vt:lpstr>
      <vt:lpstr>2.3.3 合同</vt:lpstr>
      <vt:lpstr>2.4 项目章程</vt:lpstr>
      <vt:lpstr>2.4 项目章程</vt:lpstr>
      <vt:lpstr>2.4.1 项目章程 - 风险摘要</vt:lpstr>
      <vt:lpstr>2.4.1 项目章程 - 风险摘要</vt:lpstr>
      <vt:lpstr>2.4.2 项目章程 - 假设条件与制约因素</vt:lpstr>
      <vt:lpstr>2.4.2 项目章程 – 示例</vt:lpstr>
      <vt:lpstr>2.4.3 项目经理</vt:lpstr>
      <vt:lpstr>2.4.3.1 项目经理</vt:lpstr>
      <vt:lpstr>2.4.3.2 项目经理</vt:lpstr>
      <vt:lpstr>2.4.3.3 项目经理</vt:lpstr>
      <vt:lpstr>2.5 软件项目生存期模型</vt:lpstr>
      <vt:lpstr>2.5 软件项目生存期模型</vt:lpstr>
      <vt:lpstr>2.5.1 预测型</vt:lpstr>
      <vt:lpstr>2.5.1.1 瀑布模型</vt:lpstr>
      <vt:lpstr>2.5.1.2 V模型</vt:lpstr>
      <vt:lpstr>PowerPoint 演示文稿</vt:lpstr>
      <vt:lpstr>2.5.2 迭代型</vt:lpstr>
      <vt:lpstr>PowerPoint 演示文稿</vt:lpstr>
      <vt:lpstr>2.5.3 增量型</vt:lpstr>
      <vt:lpstr>2.5.3 增量型</vt:lpstr>
      <vt:lpstr>PowerPoint 演示文稿</vt:lpstr>
      <vt:lpstr>PowerPoint 演示文稿</vt:lpstr>
      <vt:lpstr>2.5.4 敏捷型</vt:lpstr>
      <vt:lpstr>2.5.4 敏捷型</vt:lpstr>
      <vt:lpstr>2.5.4.1 Scrum</vt:lpstr>
      <vt:lpstr>2.5.4.2 看板</vt:lpstr>
      <vt:lpstr>PowerPoint 演示文稿</vt:lpstr>
      <vt:lpstr>PowerPoint 演示文稿</vt:lpstr>
      <vt:lpstr>PowerPoint 演示文稿</vt:lpstr>
      <vt:lpstr>PowerPoint 演示文稿</vt:lpstr>
      <vt:lpstr>2.5.4.3 极限编程</vt:lpstr>
      <vt:lpstr>2.5.4.3 极限编程</vt:lpstr>
      <vt:lpstr>2.5.4.3 极限编程</vt:lpstr>
      <vt:lpstr>2.5.4.4 特性驱动开发</vt:lpstr>
      <vt:lpstr>2.5.4.4 特性驱动开发</vt:lpstr>
      <vt:lpstr>2.5.4.4 特性驱动开发</vt:lpstr>
      <vt:lpstr>2.5.4.5 水晶</vt:lpstr>
      <vt:lpstr>2.5.4.5 水晶</vt:lpstr>
      <vt:lpstr>PowerPoint 演示文稿</vt:lpstr>
      <vt:lpstr>PowerPoint 演示文稿</vt:lpstr>
      <vt:lpstr>PowerPoint 演示文稿</vt:lpstr>
      <vt:lpstr>2.6 敏捷</vt:lpstr>
      <vt:lpstr>2.6.1 敏捷理念 Scrum Theory</vt:lpstr>
      <vt:lpstr>2.6.1 敏捷理念 Scrum Theory</vt:lpstr>
      <vt:lpstr>2.6.2 体系</vt:lpstr>
      <vt:lpstr>PowerPoint 演示文稿</vt:lpstr>
      <vt:lpstr>2.6.3 敏捷价值观 Scrum Values</vt:lpstr>
      <vt:lpstr>2.6.4 敏捷团队 Scrum Team</vt:lpstr>
      <vt:lpstr>2.6.4.1 开发者</vt:lpstr>
      <vt:lpstr>2.6.4.2 产品负责人</vt:lpstr>
      <vt:lpstr>2.6.4.3 敏捷教练</vt:lpstr>
      <vt:lpstr>2.6.4.3 敏捷教练</vt:lpstr>
      <vt:lpstr>2.6.4.3 敏捷教练</vt:lpstr>
      <vt:lpstr>2.6.4.3 敏捷教练</vt:lpstr>
      <vt:lpstr>PowerPoint 演示文稿</vt:lpstr>
      <vt:lpstr>PowerPoint 演示文稿</vt:lpstr>
      <vt:lpstr>2.6.5 敏捷活动</vt:lpstr>
      <vt:lpstr>2.6.5.1 冲刺</vt:lpstr>
      <vt:lpstr>2.6.5.2 冲刺计划</vt:lpstr>
      <vt:lpstr>2.6.5.3 每日站会</vt:lpstr>
      <vt:lpstr>2.6.5.4 冲刺评审</vt:lpstr>
      <vt:lpstr>2.6.5.5 冲刺回顾</vt:lpstr>
      <vt:lpstr>2.6.6 敏捷工件</vt:lpstr>
      <vt:lpstr>2.6.6.1 产品待办事项 </vt:lpstr>
      <vt:lpstr>2.6.6.2 冲刺待办事项</vt:lpstr>
      <vt:lpstr>2.6.6.3 增量</vt:lpstr>
      <vt:lpstr>2.7 开发流程</vt:lpstr>
      <vt:lpstr>PowerPoint 演示文稿</vt:lpstr>
      <vt:lpstr>PowerPoint 演示文稿</vt:lpstr>
      <vt:lpstr>软件项目范围计划</vt:lpstr>
      <vt:lpstr>PowerPoint 演示文稿</vt:lpstr>
      <vt:lpstr>PowerPoint 演示文稿</vt:lpstr>
      <vt:lpstr>项目范围</vt:lpstr>
      <vt:lpstr>PowerPoint 演示文稿</vt:lpstr>
      <vt:lpstr>1. 项目需求涵义</vt:lpstr>
      <vt:lpstr>1.1 项目需求</vt:lpstr>
      <vt:lpstr>PowerPoint 演示文稿</vt:lpstr>
      <vt:lpstr>1.2 需求过程</vt:lpstr>
      <vt:lpstr>1.2.1 需求获取</vt:lpstr>
      <vt:lpstr>1.2.2 需求分析</vt:lpstr>
      <vt:lpstr>1.2.3 需求规约编写</vt:lpstr>
      <vt:lpstr>PowerPoint 演示文稿</vt:lpstr>
      <vt:lpstr>1.2.4 需求验证</vt:lpstr>
      <vt:lpstr>1.2.5 需求变更</vt:lpstr>
      <vt:lpstr>PowerPoint 演示文稿</vt:lpstr>
      <vt:lpstr>2.1 System Flowchart</vt:lpstr>
      <vt:lpstr>2.2 DFD</vt:lpstr>
      <vt:lpstr>2.3 Data Dictionary</vt:lpstr>
      <vt:lpstr>PowerPoint 演示文稿</vt:lpstr>
      <vt:lpstr>2.4 UML</vt:lpstr>
      <vt:lpstr>3.1 影响地图 </vt:lpstr>
      <vt:lpstr>PowerPoint 演示文稿</vt:lpstr>
      <vt:lpstr>PowerPoint 演示文稿</vt:lpstr>
      <vt:lpstr>PowerPoint 演示文稿</vt:lpstr>
      <vt:lpstr>3.2 需求池</vt:lpstr>
      <vt:lpstr>[用户故事]</vt:lpstr>
      <vt:lpstr>3.4 用户故事编写 </vt:lpstr>
      <vt:lpstr>PowerPoint 演示文稿</vt:lpstr>
      <vt:lpstr>PowerPoint 演示文稿</vt:lpstr>
      <vt:lpstr>PowerPoint 演示文稿</vt:lpstr>
      <vt:lpstr>3.3 用户故事地图 </vt:lpstr>
      <vt:lpstr>PowerPoint 演示文稿</vt:lpstr>
      <vt:lpstr>PowerPoint 演示文稿</vt:lpstr>
      <vt:lpstr>3.5 INVEST 原则</vt:lpstr>
      <vt:lpstr>3.6 行为驱动开发 </vt:lpstr>
      <vt:lpstr>3.6 行为驱动开发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 工作范围</vt:lpstr>
      <vt:lpstr>5. 任务分解</vt:lpstr>
      <vt:lpstr>5.1 工作包</vt:lpstr>
      <vt:lpstr>5.2 任务分解形式</vt:lpstr>
      <vt:lpstr>5.3 字典</vt:lpstr>
      <vt:lpstr>PowerPoint 演示文稿</vt:lpstr>
      <vt:lpstr>5.4.1 模板参照</vt:lpstr>
      <vt:lpstr>5.4.2 类比</vt:lpstr>
      <vt:lpstr>5.4.3 自上而下</vt:lpstr>
      <vt:lpstr>5.4.4 自下而上</vt:lpstr>
      <vt:lpstr>5.5 任务分解建议</vt:lpstr>
      <vt:lpstr>6. 敏捷任务分解</vt:lpstr>
      <vt:lpstr>史诗</vt:lpstr>
      <vt:lpstr>PowerPoint 演示文稿</vt:lpstr>
      <vt:lpstr>PowerPoint 演示文稿</vt:lpstr>
      <vt:lpstr>PowerPoint 演示文稿</vt:lpstr>
      <vt:lpstr>PowerPoint 演示文稿</vt:lpstr>
      <vt:lpstr>软件项目成本计划</vt:lpstr>
      <vt:lpstr>PowerPoint 演示文稿</vt:lpstr>
      <vt:lpstr>PowerPoint 演示文稿</vt:lpstr>
      <vt:lpstr>PowerPoint 演示文稿</vt:lpstr>
      <vt:lpstr>6.1.1 成本估算</vt:lpstr>
      <vt:lpstr>6.1.2 衡量单位</vt:lpstr>
      <vt:lpstr>6.1.3 成本分类</vt:lpstr>
      <vt:lpstr>PowerPoint 演示文稿</vt:lpstr>
      <vt:lpstr>PowerPoint 演示文稿</vt:lpstr>
      <vt:lpstr>PowerPoint 演示文稿</vt:lpstr>
      <vt:lpstr>6.1.4 成本估算过程</vt:lpstr>
      <vt:lpstr>PowerPoint 演示文稿</vt:lpstr>
      <vt:lpstr>6.2 传统项目成本估算方法</vt:lpstr>
      <vt:lpstr>6.2.1 代码行估算 </vt:lpstr>
      <vt:lpstr>6.2.2 功能点估算 </vt:lpstr>
      <vt:lpstr>6.2.2 功能点估算</vt:lpstr>
      <vt:lpstr>6.2.2 功能点估算 </vt:lpstr>
      <vt:lpstr>6.2.2.1 IFPUG</vt:lpstr>
      <vt:lpstr>PowerPoint 演示文稿</vt:lpstr>
      <vt:lpstr>PowerPoint 演示文稿</vt:lpstr>
      <vt:lpstr>PowerPoint 演示文稿</vt:lpstr>
      <vt:lpstr>PowerPoint 演示文稿</vt:lpstr>
      <vt:lpstr>PowerPoint 演示文稿</vt:lpstr>
      <vt:lpstr>6.2.2.2 NESMA</vt:lpstr>
      <vt:lpstr>6.2.2.3 COSMIC</vt:lpstr>
      <vt:lpstr>PowerPoint 演示文稿</vt:lpstr>
      <vt:lpstr>6.2.3 用例点估算 </vt:lpstr>
      <vt:lpstr>PowerPoint 演示文稿</vt:lpstr>
      <vt:lpstr>PowerPoint 演示文稿</vt:lpstr>
      <vt:lpstr>6.2.4 类比估算</vt:lpstr>
      <vt:lpstr>6.2.5 自下而上估算</vt:lpstr>
      <vt:lpstr>PowerPoint 演示文稿</vt:lpstr>
      <vt:lpstr>6.2.6 三点估算</vt:lpstr>
      <vt:lpstr>6.2.7 参数估算</vt:lpstr>
      <vt:lpstr>6.2.8 专家估算</vt:lpstr>
      <vt:lpstr>6.2.8 专家估算</vt:lpstr>
      <vt:lpstr>PowerPoint 演示文稿</vt:lpstr>
      <vt:lpstr>6.3 敏捷项目成本估算</vt:lpstr>
      <vt:lpstr>6.3.1 故事点估算</vt:lpstr>
      <vt:lpstr>PowerPoint 演示文稿</vt:lpstr>
      <vt:lpstr>PowerPoint 演示文稿</vt:lpstr>
      <vt:lpstr>6.3.2 快速故事点估算</vt:lpstr>
      <vt:lpstr>PowerPoint 演示文稿</vt:lpstr>
      <vt:lpstr>PowerPoint 演示文稿</vt:lpstr>
      <vt:lpstr>PowerPoint 演示文稿</vt:lpstr>
      <vt:lpstr>PowerPoint 演示文稿</vt:lpstr>
      <vt:lpstr>6.3.3 扑克牌估算</vt:lpstr>
      <vt:lpstr>PowerPoint 演示文稿</vt:lpstr>
      <vt:lpstr>PowerPoint 演示文稿</vt:lpstr>
      <vt:lpstr>PowerPoint 演示文稿</vt:lpstr>
      <vt:lpstr>6.5 成本预算</vt:lpstr>
      <vt:lpstr>PowerPoint 演示文稿</vt:lpstr>
      <vt:lpstr>6.5.1 成本基线</vt:lpstr>
      <vt:lpstr>6.5.2 分配成本预算</vt:lpstr>
      <vt:lpstr>PowerPoint 演示文稿</vt:lpstr>
      <vt:lpstr>PowerPoint 演示文稿</vt:lpstr>
      <vt:lpstr>软件项目进度计划</vt:lpstr>
      <vt:lpstr>PowerPoint 演示文稿</vt:lpstr>
      <vt:lpstr>引言</vt:lpstr>
      <vt:lpstr>引言</vt:lpstr>
      <vt:lpstr>项目进度计划流程</vt:lpstr>
      <vt:lpstr>1. 定义任务</vt:lpstr>
      <vt:lpstr>2. 进度管理图示</vt:lpstr>
      <vt:lpstr>2.1 甘特图</vt:lpstr>
      <vt:lpstr>PowerPoint 演示文稿</vt:lpstr>
      <vt:lpstr>2.2 前导图</vt:lpstr>
      <vt:lpstr>PowerPoint 演示文稿</vt:lpstr>
      <vt:lpstr>PowerPoint 演示文稿</vt:lpstr>
      <vt:lpstr>PowerPoint 演示文稿</vt:lpstr>
      <vt:lpstr>2.3 箭线图</vt:lpstr>
      <vt:lpstr>PowerPoint 演示文稿</vt:lpstr>
      <vt:lpstr>PowerPoint 演示文稿</vt:lpstr>
      <vt:lpstr>PowerPoint 演示文稿</vt:lpstr>
      <vt:lpstr>2.4 里程碑图</vt:lpstr>
      <vt:lpstr>PowerPoint 演示文稿</vt:lpstr>
      <vt:lpstr>PowerPoint 演示文稿</vt:lpstr>
      <vt:lpstr>PowerPoint 演示文稿</vt:lpstr>
      <vt:lpstr>2.5 资源图</vt:lpstr>
      <vt:lpstr>2.6 燃尽图</vt:lpstr>
      <vt:lpstr>2.7 燃起图</vt:lpstr>
      <vt:lpstr>PowerPoint 演示文稿</vt:lpstr>
      <vt:lpstr>3. 项目任务的关联关系</vt:lpstr>
      <vt:lpstr>PowerPoint 演示文稿</vt:lpstr>
      <vt:lpstr>4. 任务历时估计</vt:lpstr>
      <vt:lpstr>4.1 定额估算法</vt:lpstr>
      <vt:lpstr>4.2 经验导出模型</vt:lpstr>
      <vt:lpstr>PowerPoint 演示文稿</vt:lpstr>
      <vt:lpstr>4.3 工程评估评审技术</vt:lpstr>
      <vt:lpstr>PowerPoint 演示文稿</vt:lpstr>
      <vt:lpstr>PowerPoint 演示文稿</vt:lpstr>
      <vt:lpstr>4.4 类比估算</vt:lpstr>
      <vt:lpstr>4.5 专家判断</vt:lpstr>
      <vt:lpstr>5. 进度计划编排</vt:lpstr>
      <vt:lpstr>5.1 关键路径法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5.2 时间压缩法</vt:lpstr>
      <vt:lpstr>PowerPoint 演示文稿</vt:lpstr>
      <vt:lpstr>5.2.1 时间成本平衡法</vt:lpstr>
      <vt:lpstr>PowerPoint 演示文稿</vt:lpstr>
      <vt:lpstr>5.2.2 平行作业法</vt:lpstr>
      <vt:lpstr>5.3 资源优化</vt:lpstr>
      <vt:lpstr>PowerPoint 演示文稿</vt:lpstr>
      <vt:lpstr>PowerPoint 演示文稿</vt:lpstr>
      <vt:lpstr>PowerPoint 演示文稿</vt:lpstr>
      <vt:lpstr>6. 敏捷项目进度计划</vt:lpstr>
      <vt:lpstr>PowerPoint 演示文稿</vt:lpstr>
      <vt:lpstr>PowerPoint 演示文稿</vt:lpstr>
      <vt:lpstr>软件项目质量计划</vt:lpstr>
      <vt:lpstr>PowerPoint 演示文稿</vt:lpstr>
      <vt:lpstr>1.1 质量定义</vt:lpstr>
      <vt:lpstr>1.2 软件质量成本</vt:lpstr>
      <vt:lpstr>PowerPoint 演示文稿</vt:lpstr>
      <vt:lpstr>1.2.1 预防成本</vt:lpstr>
      <vt:lpstr>1.2.2 缺陷成本</vt:lpstr>
      <vt:lpstr>PowerPoint 演示文稿</vt:lpstr>
      <vt:lpstr>1.3 质量管理对象</vt:lpstr>
      <vt:lpstr>1.3 质量管理对象</vt:lpstr>
      <vt:lpstr>2. 软件质量模型</vt:lpstr>
      <vt:lpstr>PowerPoint 演示文稿</vt:lpstr>
      <vt:lpstr>PowerPoint 演示文稿</vt:lpstr>
      <vt:lpstr>PowerPoint 演示文稿</vt:lpstr>
      <vt:lpstr>PowerPoint 演示文稿</vt:lpstr>
      <vt:lpstr>PowerPoint 演示文稿</vt:lpstr>
      <vt:lpstr>PowerPoint 演示文稿</vt:lpstr>
      <vt:lpstr>3. 软件质量管理活动</vt:lpstr>
      <vt:lpstr>PowerPoint 演示文稿</vt:lpstr>
      <vt:lpstr>3.1 质量保证</vt:lpstr>
      <vt:lpstr>3.1.1 审计</vt:lpstr>
      <vt:lpstr>3.2 质量控制</vt:lpstr>
      <vt:lpstr>PowerPoint 演示文稿</vt:lpstr>
      <vt:lpstr>4. 质量计划</vt:lpstr>
      <vt:lpstr>PowerPoint 演示文稿</vt:lpstr>
      <vt:lpstr>4.1 缺陷率标准</vt:lpstr>
      <vt:lpstr>4.2 质量计划的方法</vt:lpstr>
      <vt:lpstr>4.2.5 七大质量管理工具</vt:lpstr>
      <vt:lpstr>4.2.5.1 七大质量管理工具 – 流程图</vt:lpstr>
      <vt:lpstr>PowerPoint 演示文稿</vt:lpstr>
      <vt:lpstr>4.2.5.2 七大质量管理工具 – 因果图</vt:lpstr>
      <vt:lpstr>PowerPoint 演示文稿</vt:lpstr>
      <vt:lpstr>PowerPoint 演示文稿</vt:lpstr>
      <vt:lpstr>4.2.5.3 七大质量管理工具 – 直方图</vt:lpstr>
      <vt:lpstr>PowerPoint 演示文稿</vt:lpstr>
      <vt:lpstr>PowerPoint 演示文稿</vt:lpstr>
      <vt:lpstr>4.2.5.4 七大质量管理工具 – 散点图</vt:lpstr>
      <vt:lpstr>PowerPoint 演示文稿</vt:lpstr>
      <vt:lpstr>PowerPoint 演示文稿</vt:lpstr>
      <vt:lpstr>PowerPoint 演示文稿</vt:lpstr>
      <vt:lpstr>4.2.5.5 七大质量管理工具 - 帕累托定律</vt:lpstr>
      <vt:lpstr>PowerPoint 演示文稿</vt:lpstr>
      <vt:lpstr>4.2.5.6 七大质量管理工具 - 控制图</vt:lpstr>
      <vt:lpstr>4.2.5.7 七大质量管理工具 - 核查表</vt:lpstr>
      <vt:lpstr>5. 敏捷项目质量管理</vt:lpstr>
      <vt:lpstr>5.1 质量内建</vt:lpstr>
      <vt:lpstr>PowerPoint 演示文稿</vt:lpstr>
      <vt:lpstr>5.2 质量外延</vt:lpstr>
      <vt:lpstr>5.2 质量外延</vt:lpstr>
      <vt:lpstr>PowerPoint 演示文稿</vt:lpstr>
      <vt:lpstr>软件配置管理计划</vt:lpstr>
      <vt:lpstr>PowerPoint 演示文稿</vt:lpstr>
      <vt:lpstr>变化原因</vt:lpstr>
      <vt:lpstr>PowerPoint 演示文稿</vt:lpstr>
      <vt:lpstr>PowerPoint 演示文稿</vt:lpstr>
      <vt:lpstr>PowerPoint 演示文稿</vt:lpstr>
      <vt:lpstr>1. 配置管理概述</vt:lpstr>
      <vt:lpstr>1.1 软件配置管理</vt:lpstr>
      <vt:lpstr>1.2 软件配置项</vt:lpstr>
      <vt:lpstr>PowerPoint 演示文稿</vt:lpstr>
      <vt:lpstr>1.3 软件项目基线</vt:lpstr>
      <vt:lpstr>PowerPoint 演示文稿</vt:lpstr>
      <vt:lpstr>1.4 变更控制委员会</vt:lpstr>
      <vt:lpstr>2. 配置管理过程</vt:lpstr>
      <vt:lpstr>2.1 配置项标识、跟踪</vt:lpstr>
      <vt:lpstr>2.2 配置管理环境建立</vt:lpstr>
      <vt:lpstr>PowerPoint 演示文稿</vt:lpstr>
      <vt:lpstr>2.3 基线变更管理</vt:lpstr>
      <vt:lpstr>2.3 基线变更管理</vt:lpstr>
      <vt:lpstr>2.3 基线变更管理</vt:lpstr>
      <vt:lpstr>PowerPoint 演示文稿</vt:lpstr>
      <vt:lpstr>2.4 配置审计</vt:lpstr>
      <vt:lpstr>2.5 配置状态统计</vt:lpstr>
      <vt:lpstr>2.6 配置管理计划</vt:lpstr>
      <vt:lpstr>配置过程小结</vt:lpstr>
      <vt:lpstr>配置过程小结</vt:lpstr>
      <vt:lpstr>配置过程小结</vt:lpstr>
      <vt:lpstr>配置过程小结</vt:lpstr>
      <vt:lpstr>变更过程小结</vt:lpstr>
      <vt:lpstr>PowerPoint 演示文稿</vt:lpstr>
      <vt:lpstr>3. 敏捷项目的配置管理</vt:lpstr>
      <vt:lpstr>3.1 基于分支的开发</vt:lpstr>
      <vt:lpstr>3.2 基于主干的开发</vt:lpstr>
      <vt:lpstr>PowerPoint 演示文稿</vt:lpstr>
      <vt:lpstr>4. 配置管理工具及其应用实例</vt:lpstr>
      <vt:lpstr>软件项目团队计划</vt:lpstr>
      <vt:lpstr>PowerPoint 演示文稿</vt:lpstr>
      <vt:lpstr>PowerPoint 演示文稿</vt:lpstr>
      <vt:lpstr>PowerPoint 演示文稿</vt:lpstr>
      <vt:lpstr>10.1 组织结构</vt:lpstr>
      <vt:lpstr>10.1.1 职能型</vt:lpstr>
      <vt:lpstr>10.1.2 项目型</vt:lpstr>
      <vt:lpstr>10.1.3 矩阵型</vt:lpstr>
      <vt:lpstr>10.2 人员职责计划</vt:lpstr>
      <vt:lpstr>10.2 人员职责计划</vt:lpstr>
      <vt:lpstr>10.2.1 RAM</vt:lpstr>
      <vt:lpstr>10.2.2 RACI</vt:lpstr>
      <vt:lpstr>PowerPoint 演示文稿</vt:lpstr>
      <vt:lpstr>例：RACI</vt:lpstr>
      <vt:lpstr>10.2.3 OBS</vt:lpstr>
      <vt:lpstr>例：OBS与WBS的映射矩阵</vt:lpstr>
      <vt:lpstr>10.2.3 OBS</vt:lpstr>
      <vt:lpstr>例：文本示例；指出其中的不足</vt:lpstr>
      <vt:lpstr>例：文本示例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10.4 项目沟通计划</vt:lpstr>
      <vt:lpstr>10.4.1 沟通原则</vt:lpstr>
      <vt:lpstr>10.4.2 沟通方式</vt:lpstr>
      <vt:lpstr>10.4.3 沟通渠道</vt:lpstr>
      <vt:lpstr>10.4.4 沟通计划</vt:lpstr>
      <vt:lpstr>10.5 敏捷团队计划</vt:lpstr>
      <vt:lpstr>10.5.1 小而美</vt:lpstr>
      <vt:lpstr>10.5.2 自组织</vt:lpstr>
      <vt:lpstr>10.5.3 仆人式领导</vt:lpstr>
      <vt:lpstr>10.5.4 敏捷团队沟通</vt:lpstr>
      <vt:lpstr>软件项目风险计划</vt:lpstr>
      <vt:lpstr>PowerPoint 演示文稿</vt:lpstr>
      <vt:lpstr>PowerPoint 演示文稿</vt:lpstr>
      <vt:lpstr>PowerPoint 演示文稿</vt:lpstr>
      <vt:lpstr>11.1 风险管理</vt:lpstr>
      <vt:lpstr>11.1 风险管理</vt:lpstr>
      <vt:lpstr>PowerPoint 演示文稿</vt:lpstr>
      <vt:lpstr>风险曝光度 Risk Exposure</vt:lpstr>
      <vt:lpstr>11.1 风险管理</vt:lpstr>
      <vt:lpstr>PowerPoint 演示文稿</vt:lpstr>
      <vt:lpstr>11.2 风险识别</vt:lpstr>
      <vt:lpstr>PowerPoint 演示文稿</vt:lpstr>
      <vt:lpstr>11.2 风险识别</vt:lpstr>
      <vt:lpstr>11.3 风险评估</vt:lpstr>
      <vt:lpstr>PowerPoint 演示文稿</vt:lpstr>
      <vt:lpstr>11.3 风险评估</vt:lpstr>
      <vt:lpstr>PowerPoint 演示文稿</vt:lpstr>
      <vt:lpstr>1 访谈</vt:lpstr>
      <vt:lpstr>2 盈亏平衡分析</vt:lpstr>
      <vt:lpstr>3 决策树</vt:lpstr>
      <vt:lpstr>例：决策树</vt:lpstr>
      <vt:lpstr>11.4 风险应对策略</vt:lpstr>
      <vt:lpstr>SWOT</vt:lpstr>
      <vt:lpstr>软件项目合同计划</vt:lpstr>
      <vt:lpstr>PowerPoint 演示文稿</vt:lpstr>
      <vt:lpstr>PowerPoint 演示文稿</vt:lpstr>
      <vt:lpstr>合同</vt:lpstr>
      <vt:lpstr>合同类型</vt:lpstr>
      <vt:lpstr>合同类型</vt:lpstr>
      <vt:lpstr>合同类型 - 总价合同</vt:lpstr>
      <vt:lpstr>合同类型 - 成本补偿合同</vt:lpstr>
      <vt:lpstr>合同类型 - 工料合同 T&amp;M</vt:lpstr>
      <vt:lpstr>合同计划</vt:lpstr>
      <vt:lpstr>敏捷合同策略</vt:lpstr>
      <vt:lpstr>合同索赔</vt:lpstr>
      <vt:lpstr>合同变更</vt:lpstr>
      <vt:lpstr>项目执行控制</vt:lpstr>
      <vt:lpstr>PowerPoint 演示文稿</vt:lpstr>
      <vt:lpstr>PowerPoint 演示文稿</vt:lpstr>
      <vt:lpstr>约束</vt:lpstr>
      <vt:lpstr>Example</vt:lpstr>
      <vt:lpstr>Example</vt:lpstr>
      <vt:lpstr>Example</vt:lpstr>
      <vt:lpstr>项目结束</vt:lpstr>
      <vt:lpstr>PowerPoint 演示文稿</vt:lpstr>
      <vt:lpstr>项目终止条件</vt:lpstr>
      <vt:lpstr>项目终止过程</vt:lpstr>
      <vt:lpstr>项目结束</vt:lpstr>
      <vt:lpstr>项目结束</vt:lpstr>
      <vt:lpstr>项目验收</vt:lpstr>
      <vt:lpstr>项目总结</vt:lpstr>
      <vt:lpstr>项目后评价</vt:lpstr>
      <vt:lpstr>Tips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cn plaman</dc:creator>
  <cp:lastModifiedBy>cn plaman</cp:lastModifiedBy>
  <cp:revision>3274</cp:revision>
  <dcterms:created xsi:type="dcterms:W3CDTF">2026-01-24T11:12:04Z</dcterms:created>
  <dcterms:modified xsi:type="dcterms:W3CDTF">2026-06-21T06:26:50Z</dcterms:modified>
</cp:coreProperties>
</file>