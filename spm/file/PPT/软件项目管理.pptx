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79"/>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870" r:id="rId287"/>
    <p:sldId id="437" r:id="rId288"/>
    <p:sldId id="740" r:id="rId289"/>
    <p:sldId id="736" r:id="rId290"/>
    <p:sldId id="737" r:id="rId291"/>
    <p:sldId id="738" r:id="rId292"/>
    <p:sldId id="743" r:id="rId293"/>
    <p:sldId id="745" r:id="rId294"/>
    <p:sldId id="744" r:id="rId295"/>
    <p:sldId id="746" r:id="rId296"/>
    <p:sldId id="427" r:id="rId297"/>
    <p:sldId id="439" r:id="rId298"/>
    <p:sldId id="441" r:id="rId299"/>
    <p:sldId id="275" r:id="rId300"/>
    <p:sldId id="529" r:id="rId301"/>
    <p:sldId id="760" r:id="rId302"/>
    <p:sldId id="754" r:id="rId303"/>
    <p:sldId id="792" r:id="rId304"/>
    <p:sldId id="761" r:id="rId305"/>
    <p:sldId id="762" r:id="rId306"/>
    <p:sldId id="763" r:id="rId307"/>
    <p:sldId id="753" r:id="rId308"/>
    <p:sldId id="764" r:id="rId309"/>
    <p:sldId id="750" r:id="rId310"/>
    <p:sldId id="765" r:id="rId311"/>
    <p:sldId id="766" r:id="rId312"/>
    <p:sldId id="789" r:id="rId313"/>
    <p:sldId id="767" r:id="rId314"/>
    <p:sldId id="752" r:id="rId315"/>
    <p:sldId id="432" r:id="rId316"/>
    <p:sldId id="755" r:id="rId317"/>
    <p:sldId id="790" r:id="rId318"/>
    <p:sldId id="756" r:id="rId319"/>
    <p:sldId id="758" r:id="rId320"/>
    <p:sldId id="757" r:id="rId321"/>
    <p:sldId id="791" r:id="rId322"/>
    <p:sldId id="759" r:id="rId323"/>
    <p:sldId id="793" r:id="rId324"/>
    <p:sldId id="770" r:id="rId325"/>
    <p:sldId id="771" r:id="rId326"/>
    <p:sldId id="453" r:id="rId327"/>
    <p:sldId id="773" r:id="rId328"/>
    <p:sldId id="787" r:id="rId329"/>
    <p:sldId id="774" r:id="rId330"/>
    <p:sldId id="786" r:id="rId331"/>
    <p:sldId id="785" r:id="rId332"/>
    <p:sldId id="775" r:id="rId333"/>
    <p:sldId id="783" r:id="rId334"/>
    <p:sldId id="784" r:id="rId335"/>
    <p:sldId id="776" r:id="rId336"/>
    <p:sldId id="780" r:id="rId337"/>
    <p:sldId id="781" r:id="rId338"/>
    <p:sldId id="782" r:id="rId339"/>
    <p:sldId id="777" r:id="rId340"/>
    <p:sldId id="788" r:id="rId341"/>
    <p:sldId id="778" r:id="rId342"/>
    <p:sldId id="779" r:id="rId343"/>
    <p:sldId id="768" r:id="rId344"/>
    <p:sldId id="769" r:id="rId345"/>
    <p:sldId id="796" r:id="rId346"/>
    <p:sldId id="772" r:id="rId347"/>
    <p:sldId id="795" r:id="rId348"/>
    <p:sldId id="452" r:id="rId349"/>
    <p:sldId id="276" r:id="rId350"/>
    <p:sldId id="525" r:id="rId351"/>
    <p:sldId id="522" r:id="rId352"/>
    <p:sldId id="526" r:id="rId353"/>
    <p:sldId id="527" r:id="rId354"/>
    <p:sldId id="815" r:id="rId355"/>
    <p:sldId id="802" r:id="rId356"/>
    <p:sldId id="467" r:id="rId357"/>
    <p:sldId id="524" r:id="rId358"/>
    <p:sldId id="810" r:id="rId359"/>
    <p:sldId id="626" r:id="rId360"/>
    <p:sldId id="811" r:id="rId361"/>
    <p:sldId id="528" r:id="rId362"/>
    <p:sldId id="803" r:id="rId363"/>
    <p:sldId id="466" r:id="rId364"/>
    <p:sldId id="804" r:id="rId365"/>
    <p:sldId id="470" r:id="rId366"/>
    <p:sldId id="805" r:id="rId367"/>
    <p:sldId id="825" r:id="rId368"/>
    <p:sldId id="826" r:id="rId369"/>
    <p:sldId id="624" r:id="rId370"/>
    <p:sldId id="806" r:id="rId371"/>
    <p:sldId id="807" r:id="rId372"/>
    <p:sldId id="808" r:id="rId373"/>
    <p:sldId id="809" r:id="rId374"/>
    <p:sldId id="822" r:id="rId375"/>
    <p:sldId id="823" r:id="rId376"/>
    <p:sldId id="824" r:id="rId377"/>
    <p:sldId id="827" r:id="rId378"/>
    <p:sldId id="469" r:id="rId379"/>
    <p:sldId id="817" r:id="rId380"/>
    <p:sldId id="819" r:id="rId381"/>
    <p:sldId id="820" r:id="rId382"/>
    <p:sldId id="821" r:id="rId383"/>
    <p:sldId id="818" r:id="rId384"/>
    <p:sldId id="277" r:id="rId385"/>
    <p:sldId id="530" r:id="rId386"/>
    <p:sldId id="313" r:id="rId387"/>
    <p:sldId id="456" r:id="rId388"/>
    <p:sldId id="798" r:id="rId389"/>
    <p:sldId id="799" r:id="rId390"/>
    <p:sldId id="800" r:id="rId391"/>
    <p:sldId id="801" r:id="rId392"/>
    <p:sldId id="837" r:id="rId393"/>
    <p:sldId id="838" r:id="rId394"/>
    <p:sldId id="455" r:id="rId395"/>
    <p:sldId id="844" r:id="rId396"/>
    <p:sldId id="843" r:id="rId397"/>
    <p:sldId id="842" r:id="rId398"/>
    <p:sldId id="845" r:id="rId399"/>
    <p:sldId id="847" r:id="rId400"/>
    <p:sldId id="846" r:id="rId401"/>
    <p:sldId id="839" r:id="rId402"/>
    <p:sldId id="841" r:id="rId403"/>
    <p:sldId id="263" r:id="rId404"/>
    <p:sldId id="849" r:id="rId405"/>
    <p:sldId id="264" r:id="rId406"/>
    <p:sldId id="461" r:id="rId407"/>
    <p:sldId id="852" r:id="rId408"/>
    <p:sldId id="848" r:id="rId409"/>
    <p:sldId id="853" r:id="rId410"/>
    <p:sldId id="850" r:id="rId411"/>
    <p:sldId id="851" r:id="rId412"/>
    <p:sldId id="457" r:id="rId413"/>
    <p:sldId id="458" r:id="rId414"/>
    <p:sldId id="459" r:id="rId415"/>
    <p:sldId id="460" r:id="rId416"/>
    <p:sldId id="834" r:id="rId417"/>
    <p:sldId id="833" r:id="rId418"/>
    <p:sldId id="835" r:id="rId419"/>
    <p:sldId id="836" r:id="rId420"/>
    <p:sldId id="828" r:id="rId421"/>
    <p:sldId id="832" r:id="rId422"/>
    <p:sldId id="831" r:id="rId423"/>
    <p:sldId id="829" r:id="rId424"/>
    <p:sldId id="830" r:id="rId425"/>
    <p:sldId id="278" r:id="rId426"/>
    <p:sldId id="531" r:id="rId427"/>
    <p:sldId id="854" r:id="rId428"/>
    <p:sldId id="431" r:id="rId429"/>
    <p:sldId id="390" r:id="rId430"/>
    <p:sldId id="391" r:id="rId431"/>
    <p:sldId id="855" r:id="rId432"/>
    <p:sldId id="435" r:id="rId433"/>
    <p:sldId id="389" r:id="rId434"/>
    <p:sldId id="866" r:id="rId435"/>
    <p:sldId id="857" r:id="rId436"/>
    <p:sldId id="867" r:id="rId437"/>
    <p:sldId id="864" r:id="rId438"/>
    <p:sldId id="858" r:id="rId439"/>
    <p:sldId id="868" r:id="rId440"/>
    <p:sldId id="865" r:id="rId441"/>
    <p:sldId id="869" r:id="rId442"/>
    <p:sldId id="859" r:id="rId443"/>
    <p:sldId id="863" r:id="rId444"/>
    <p:sldId id="862" r:id="rId445"/>
    <p:sldId id="861" r:id="rId446"/>
    <p:sldId id="856" r:id="rId447"/>
    <p:sldId id="471" r:id="rId448"/>
    <p:sldId id="279" r:id="rId449"/>
    <p:sldId id="532" r:id="rId450"/>
    <p:sldId id="463" r:id="rId451"/>
    <p:sldId id="393" r:id="rId452"/>
    <p:sldId id="392" r:id="rId453"/>
    <p:sldId id="462" r:id="rId454"/>
    <p:sldId id="394" r:id="rId455"/>
    <p:sldId id="395" r:id="rId456"/>
    <p:sldId id="396" r:id="rId457"/>
    <p:sldId id="397" r:id="rId458"/>
    <p:sldId id="398" r:id="rId459"/>
    <p:sldId id="464" r:id="rId460"/>
    <p:sldId id="465" r:id="rId461"/>
    <p:sldId id="280" r:id="rId462"/>
    <p:sldId id="533" r:id="rId463"/>
    <p:sldId id="399" r:id="rId464"/>
    <p:sldId id="287" r:id="rId465"/>
    <p:sldId id="288" r:id="rId466"/>
    <p:sldId id="289" r:id="rId467"/>
    <p:sldId id="290" r:id="rId468"/>
    <p:sldId id="281" r:id="rId469"/>
    <p:sldId id="534" r:id="rId470"/>
    <p:sldId id="400" r:id="rId471"/>
    <p:sldId id="402" r:id="rId472"/>
    <p:sldId id="401" r:id="rId473"/>
    <p:sldId id="412" r:id="rId474"/>
    <p:sldId id="472" r:id="rId475"/>
    <p:sldId id="473" r:id="rId476"/>
    <p:sldId id="474" r:id="rId477"/>
    <p:sldId id="367" r:id="rId478"/>
  </p:sldIdLst>
  <p:sldSz cx="12192000" cy="6858000"/>
  <p:notesSz cx="6858000" cy="9144000"/>
  <p:embeddedFontLst>
    <p:embeddedFont>
      <p:font typeface="Cambria Math" panose="02040503050406030204" pitchFamily="18" charset="0"/>
      <p:regular r:id="rId480"/>
    </p:embeddedFont>
    <p:embeddedFont>
      <p:font typeface="Montserrat" panose="00000500000000000000" pitchFamily="2" charset="0"/>
      <p:regular r:id="rId481"/>
    </p:embeddedFont>
    <p:embeddedFont>
      <p:font typeface="Roboto Mono" pitchFamily="2" charset="0"/>
      <p:regular r:id="rId482"/>
      <p:bold r:id="rId483"/>
    </p:embeddedFont>
    <p:embeddedFont>
      <p:font typeface="Segoe UI Black" panose="020B0A02040204020203" pitchFamily="34" charset="0"/>
      <p:bold r:id="rId484"/>
      <p:boldItalic r:id="rId485"/>
    </p:embeddedFont>
    <p:embeddedFont>
      <p:font typeface="等线" panose="02010600030101010101" pitchFamily="2" charset="-122"/>
      <p:regular r:id="rId486"/>
      <p:bold r:id="rId487"/>
    </p:embeddedFont>
    <p:embeddedFont>
      <p:font typeface="微软雅黑" panose="020B0503020204020204" pitchFamily="34" charset="-122"/>
      <p:regular r:id="rId488"/>
      <p:bold r:id="rId489"/>
    </p:embeddedFont>
    <p:embeddedFont>
      <p:font typeface="幼圆" panose="02010509060101010101" pitchFamily="49" charset="-122"/>
      <p:regular r:id="rId49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B79E"/>
    <a:srgbClr val="FE863F"/>
    <a:srgbClr val="92D050"/>
    <a:srgbClr val="3F907A"/>
    <a:srgbClr val="1A5076"/>
    <a:srgbClr val="017CB8"/>
    <a:srgbClr val="0D8BB3"/>
    <a:srgbClr val="D70036"/>
    <a:srgbClr val="00D480"/>
    <a:srgbClr val="8F42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8" autoAdjust="0"/>
    <p:restoredTop sz="88166" autoAdjust="0"/>
  </p:normalViewPr>
  <p:slideViewPr>
    <p:cSldViewPr snapToGrid="0">
      <p:cViewPr varScale="1">
        <p:scale>
          <a:sx n="113" d="100"/>
          <a:sy n="113" d="100"/>
        </p:scale>
        <p:origin x="336" y="10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slide" Target="slides/slide474.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86" Type="http://schemas.openxmlformats.org/officeDocument/2006/relationships/font" Target="fonts/font7.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slide" Target="slides/slide476.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88" Type="http://schemas.openxmlformats.org/officeDocument/2006/relationships/font" Target="fonts/font9.fntdata"/><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notesMaster" Target="notesMasters/notesMaster1.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490" Type="http://schemas.openxmlformats.org/officeDocument/2006/relationships/font" Target="fonts/font11.fntdata"/><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font" Target="fonts/font2.fntdata"/><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492" Type="http://schemas.openxmlformats.org/officeDocument/2006/relationships/presProps" Target="presProps.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slide" Target="slides/slide471.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font" Target="fonts/font4.fntdata"/><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494" Type="http://schemas.openxmlformats.org/officeDocument/2006/relationships/theme" Target="theme/theme1.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116" Type="http://schemas.openxmlformats.org/officeDocument/2006/relationships/slide" Target="slides/slide115.xml"/><Relationship Id="rId158" Type="http://schemas.openxmlformats.org/officeDocument/2006/relationships/slide" Target="slides/slide157.xml"/><Relationship Id="rId323" Type="http://schemas.openxmlformats.org/officeDocument/2006/relationships/slide" Target="slides/slide322.xml"/><Relationship Id="rId20" Type="http://schemas.openxmlformats.org/officeDocument/2006/relationships/slide" Target="slides/slide19.xml"/><Relationship Id="rId62" Type="http://schemas.openxmlformats.org/officeDocument/2006/relationships/slide" Target="slides/slide61.xml"/><Relationship Id="rId365" Type="http://schemas.openxmlformats.org/officeDocument/2006/relationships/slide" Target="slides/slide364.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slide" Target="slides/slide473.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495"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85" Type="http://schemas.openxmlformats.org/officeDocument/2006/relationships/font" Target="fonts/font6.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slide" Target="slides/slide475.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487" Type="http://schemas.openxmlformats.org/officeDocument/2006/relationships/font" Target="fonts/font8.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slide" Target="slides/slide477.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89" Type="http://schemas.openxmlformats.org/officeDocument/2006/relationships/font" Target="fonts/font10.fntdata"/><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slide" Target="slides/slide468.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font" Target="fonts/font1.fntdata"/><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491" Type="http://schemas.openxmlformats.org/officeDocument/2006/relationships/commentAuthors" Target="commentAuthors.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font" Target="fonts/font3.fntdata"/><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font" Target="fonts/font5.fntdata"/><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2026/6/14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4.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9.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40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1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8.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1.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3.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4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287</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290</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294</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298</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302</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307</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313</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315</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317</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319</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324</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328</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334</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339</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345</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347</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353</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358</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361</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364</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366</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371</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387</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389</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395</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398</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400</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405</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410</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413</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416</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418</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428</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431</a:t>
            </a:fld>
            <a:endParaRPr lang="zh-CN" altLang="en-US"/>
          </a:p>
        </p:txBody>
      </p:sp>
    </p:spTree>
    <p:extLst>
      <p:ext uri="{BB962C8B-B14F-4D97-AF65-F5344CB8AC3E}">
        <p14:creationId xmlns:p14="http://schemas.microsoft.com/office/powerpoint/2010/main" val="320146036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433</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453</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4800"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4800" y="1338697"/>
            <a:ext cx="10800000" cy="4925303"/>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占位符 6">
            <a:extLst>
              <a:ext uri="{FF2B5EF4-FFF2-40B4-BE49-F238E27FC236}">
                <a16:creationId xmlns:a16="http://schemas.microsoft.com/office/drawing/2014/main" id="{60737263-B700-BD99-FCA2-0BA0DEFD8547}"/>
              </a:ext>
            </a:extLst>
          </p:cNvPr>
          <p:cNvSpPr>
            <a:spLocks noGrp="1"/>
          </p:cNvSpPr>
          <p:nvPr>
            <p:ph type="body" sz="quarter" idx="11"/>
          </p:nvPr>
        </p:nvSpPr>
        <p:spPr>
          <a:xfrm>
            <a:off x="694800" y="864000"/>
            <a:ext cx="6203950" cy="400110"/>
          </a:xfrm>
        </p:spPr>
        <p:txBody>
          <a:bodyPr anchor="ctr" anchorCtr="0">
            <a:spAutoFit/>
          </a:bodyPr>
          <a:lstStyle>
            <a:lvl1pPr>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9.xml"/><Relationship Id="rId13" Type="http://schemas.openxmlformats.org/officeDocument/2006/relationships/slide" Target="slide461.xml"/><Relationship Id="rId3" Type="http://schemas.openxmlformats.org/officeDocument/2006/relationships/slide" Target="slide41.xml"/><Relationship Id="rId7" Type="http://schemas.openxmlformats.org/officeDocument/2006/relationships/slide" Target="slide299.xml"/><Relationship Id="rId12" Type="http://schemas.openxmlformats.org/officeDocument/2006/relationships/slide" Target="slide448.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68.xml"/><Relationship Id="rId5" Type="http://schemas.openxmlformats.org/officeDocument/2006/relationships/slide" Target="slide183.xml"/><Relationship Id="rId10" Type="http://schemas.openxmlformats.org/officeDocument/2006/relationships/slide" Target="slide425.xml"/><Relationship Id="rId4" Type="http://schemas.openxmlformats.org/officeDocument/2006/relationships/slide" Target="slide121.xml"/><Relationship Id="rId9" Type="http://schemas.openxmlformats.org/officeDocument/2006/relationships/slide" Target="slide38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4.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9.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5.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4.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7.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9.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1.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2.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8.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2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1.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3.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image" Target="../media/image98.svg"/><Relationship Id="rId5" Type="http://schemas.openxmlformats.org/officeDocument/2006/relationships/image" Target="../media/image97.svg"/><Relationship Id="rId4" Type="http://schemas.openxmlformats.org/officeDocument/2006/relationships/image" Target="../media/image96.svg"/></Relationships>
</file>

<file path=ppt/slides/_rels/slide434.xml.rels><?xml version="1.0" encoding="UTF-8" standalone="yes"?>
<Relationships xmlns="http://schemas.openxmlformats.org/package/2006/relationships"><Relationship Id="rId3" Type="http://schemas.openxmlformats.org/officeDocument/2006/relationships/image" Target="../media/image100.svg"/><Relationship Id="rId2" Type="http://schemas.openxmlformats.org/officeDocument/2006/relationships/image" Target="../media/image99.svg"/><Relationship Id="rId1" Type="http://schemas.openxmlformats.org/officeDocument/2006/relationships/slideLayout" Target="../slideLayouts/slideLayout6.xml"/><Relationship Id="rId5" Type="http://schemas.openxmlformats.org/officeDocument/2006/relationships/image" Target="../media/image102.svg"/><Relationship Id="rId4" Type="http://schemas.openxmlformats.org/officeDocument/2006/relationships/image" Target="../media/image101.sv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1.xml.rels><?xml version="1.0" encoding="UTF-8" standalone="yes"?>
<Relationships xmlns="http://schemas.openxmlformats.org/package/2006/relationships"><Relationship Id="rId8" Type="http://schemas.openxmlformats.org/officeDocument/2006/relationships/image" Target="../media/image109.svg"/><Relationship Id="rId3" Type="http://schemas.openxmlformats.org/officeDocument/2006/relationships/image" Target="../media/image104.svg"/><Relationship Id="rId7" Type="http://schemas.openxmlformats.org/officeDocument/2006/relationships/image" Target="../media/image108.svg"/><Relationship Id="rId2" Type="http://schemas.openxmlformats.org/officeDocument/2006/relationships/image" Target="../media/image103.svg"/><Relationship Id="rId1" Type="http://schemas.openxmlformats.org/officeDocument/2006/relationships/slideLayout" Target="../slideLayouts/slideLayout6.xml"/><Relationship Id="rId6" Type="http://schemas.openxmlformats.org/officeDocument/2006/relationships/image" Target="../media/image107.svg"/><Relationship Id="rId5" Type="http://schemas.openxmlformats.org/officeDocument/2006/relationships/image" Target="../media/image106.svg"/><Relationship Id="rId4" Type="http://schemas.openxmlformats.org/officeDocument/2006/relationships/image" Target="../media/image105.svg"/><Relationship Id="rId9" Type="http://schemas.openxmlformats.org/officeDocument/2006/relationships/image" Target="../media/image110.sv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0.xml.rels><?xml version="1.0" encoding="UTF-8" standalone="yes"?>
<Relationships xmlns="http://schemas.openxmlformats.org/package/2006/relationships"><Relationship Id="rId2" Type="http://schemas.openxmlformats.org/officeDocument/2006/relationships/image" Target="../media/image111.svg"/><Relationship Id="rId1" Type="http://schemas.openxmlformats.org/officeDocument/2006/relationships/slideLayout" Target="../slideLayouts/slideLayout6.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3.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4.xml.rels><?xml version="1.0" encoding="UTF-8" standalone="yes"?>
<Relationships xmlns="http://schemas.openxmlformats.org/package/2006/relationships"><Relationship Id="rId8" Type="http://schemas.openxmlformats.org/officeDocument/2006/relationships/image" Target="../media/image113.svg"/><Relationship Id="rId3" Type="http://schemas.openxmlformats.org/officeDocument/2006/relationships/diagramLayout" Target="../diagrams/layout12.xml"/><Relationship Id="rId7" Type="http://schemas.openxmlformats.org/officeDocument/2006/relationships/image" Target="../media/image112.sv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 Id="rId9" Type="http://schemas.openxmlformats.org/officeDocument/2006/relationships/image" Target="../media/image114.sv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792000"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792000"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792000"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792000"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792000"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792000"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792000" y="360000"/>
            <a:ext cx="6375921" cy="429413"/>
          </a:xfrm>
          <a:solidFill>
            <a:schemeClr val="bg1"/>
          </a:solidFill>
        </p:spPr>
        <p:txBody>
          <a:bodyPr>
            <a:normAutofit/>
          </a:bodyPr>
          <a:lstStyle/>
          <a:p>
            <a:r>
              <a:rPr lang="en-US" altLang="zh-CN"/>
              <a:t>3.1.1 </a:t>
            </a:r>
            <a:r>
              <a:rPr lang="zh-CN" altLang="en-US"/>
              <a:t>五大标准过程组</a:t>
            </a:r>
          </a:p>
        </p:txBody>
      </p:sp>
      <p:sp>
        <p:nvSpPr>
          <p:cNvPr id="6" name="内容占位符 5">
            <a:extLst>
              <a:ext uri="{FF2B5EF4-FFF2-40B4-BE49-F238E27FC236}">
                <a16:creationId xmlns:a16="http://schemas.microsoft.com/office/drawing/2014/main" id="{24EF7835-5163-ADC1-FD38-D29243F242CB}"/>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792000"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792000"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C9C7090E-8B5E-A936-63E3-A0061FC794D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ED665F57-9B3E-7096-52CB-6720E5EFA77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12" name="内容占位符 11">
            <a:extLst>
              <a:ext uri="{FF2B5EF4-FFF2-40B4-BE49-F238E27FC236}">
                <a16:creationId xmlns:a16="http://schemas.microsoft.com/office/drawing/2014/main" id="{26C5271D-8DC1-F25D-2A68-00950F3DF790}"/>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792000"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B64EBBA0-D0C1-7C1D-A564-220058389A15}"/>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792000"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792000"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792000" y="360000"/>
            <a:ext cx="6375921" cy="429413"/>
          </a:xfrm>
        </p:spPr>
        <p:txBody>
          <a:bodyPr>
            <a:normAutofit/>
          </a:bodyPr>
          <a:lstStyle/>
          <a:p>
            <a:r>
              <a:rPr lang="en-US" altLang="zh-CN"/>
              <a:t>4.2.1 </a:t>
            </a:r>
            <a:r>
              <a:rPr lang="zh-CN" altLang="en-US"/>
              <a:t>敏捷宣言四个核心价值</a:t>
            </a:r>
            <a:endParaRPr lang="en-US" altLang="zh-CN"/>
          </a:p>
        </p:txBody>
      </p:sp>
      <p:sp>
        <p:nvSpPr>
          <p:cNvPr id="15" name="内容占位符 14">
            <a:extLst>
              <a:ext uri="{FF2B5EF4-FFF2-40B4-BE49-F238E27FC236}">
                <a16:creationId xmlns:a16="http://schemas.microsoft.com/office/drawing/2014/main" id="{4162015B-2082-67D7-E7A0-D838B09E96BE}"/>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792000"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792000" y="360000"/>
            <a:ext cx="6375921" cy="429413"/>
          </a:xfrm>
        </p:spPr>
        <p:txBody>
          <a:bodyPr>
            <a:normAutofit/>
          </a:bodyPr>
          <a:lstStyle/>
          <a:p>
            <a:r>
              <a:rPr lang="en-US" altLang="zh-CN"/>
              <a:t>2.2 </a:t>
            </a:r>
            <a:r>
              <a:rPr lang="zh-CN" altLang="en-US"/>
              <a:t>项目立项</a:t>
            </a:r>
          </a:p>
        </p:txBody>
      </p:sp>
      <p:sp>
        <p:nvSpPr>
          <p:cNvPr id="6" name="内容占位符 5">
            <a:extLst>
              <a:ext uri="{FF2B5EF4-FFF2-40B4-BE49-F238E27FC236}">
                <a16:creationId xmlns:a16="http://schemas.microsoft.com/office/drawing/2014/main" id="{350AEF4B-1D97-659F-97E2-D7D266103EB1}"/>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792000"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B528A81D-651E-CFDD-20D1-BCFB4EBDC836}"/>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792000"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792000"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792000"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792000"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792000"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792000"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792000"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792000"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792000"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792000"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792000"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695272F4-2C52-2D7C-EC10-FAF3515BA9C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792000"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792000"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792000"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792000"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792000"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792000"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C3ABE7BA-30C8-9147-D1F7-D7F47557A81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792000"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53EE0A2E-B347-B79E-24DE-35064E4A92D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792000"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792000"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792000"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792000"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792000"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792000"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792000"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792000"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792000"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792000"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792000"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792000"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792000"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792000"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792000"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792000"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792000"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792000"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792000"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792000"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792000"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3409643637"/>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792000"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792000"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792000"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792000"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792000"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792000"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792000"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792000"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792000"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792000"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792000"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792000"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792000"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792000"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792000"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792000"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792000"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792000"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792000"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792000"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792000"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a:t>工作量</a:t>
            </a:r>
            <a:endParaRPr lang="en-US" altLang="zh-CN" dirty="0"/>
          </a:p>
          <a:p>
            <a:r>
              <a:rPr lang="zh-CN" altLang="en-US"/>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792000"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792000" y="360000"/>
            <a:ext cx="6375921" cy="429413"/>
          </a:xfrm>
        </p:spPr>
        <p:txBody>
          <a:bodyPr/>
          <a:lstStyle/>
          <a:p>
            <a:r>
              <a:rPr lang="en-US" altLang="zh-CN" dirty="0"/>
              <a:t>6.1.4 </a:t>
            </a:r>
            <a:r>
              <a:rPr lang="zh-CN" altLang="en-US" dirty="0"/>
              <a:t>成本估算过程</a:t>
            </a:r>
          </a:p>
        </p:txBody>
      </p:sp>
      <p:sp>
        <p:nvSpPr>
          <p:cNvPr id="7" name="内容占位符 6">
            <a:extLst>
              <a:ext uri="{FF2B5EF4-FFF2-40B4-BE49-F238E27FC236}">
                <a16:creationId xmlns:a16="http://schemas.microsoft.com/office/drawing/2014/main" id="{B2442F33-4A5D-C775-C7C1-DE9548630B4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792000" y="360000"/>
            <a:ext cx="6375921" cy="429413"/>
          </a:xfrm>
        </p:spPr>
        <p:txBody>
          <a:bodyPr/>
          <a:lstStyle/>
          <a:p>
            <a:r>
              <a:rPr lang="en-US" altLang="zh-CN" dirty="0"/>
              <a:t>6.2 </a:t>
            </a:r>
            <a:r>
              <a:rPr lang="zh-CN" altLang="en-US" dirty="0"/>
              <a:t>传统项目成本估算方法</a:t>
            </a:r>
          </a:p>
        </p:txBody>
      </p:sp>
      <p:sp>
        <p:nvSpPr>
          <p:cNvPr id="7" name="内容占位符 6">
            <a:extLst>
              <a:ext uri="{FF2B5EF4-FFF2-40B4-BE49-F238E27FC236}">
                <a16:creationId xmlns:a16="http://schemas.microsoft.com/office/drawing/2014/main" id="{674B3C38-81FD-1C1F-30A7-8D4909AEB0E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792000"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792000"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792000"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792000"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792000"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792000"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792000"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792000"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792000"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792000"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792000"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792000"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792000"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792000"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7" name="文本占位符 6">
            <a:extLst>
              <a:ext uri="{FF2B5EF4-FFF2-40B4-BE49-F238E27FC236}">
                <a16:creationId xmlns:a16="http://schemas.microsoft.com/office/drawing/2014/main" id="{C5B84BA7-883E-4B5F-800B-3B2615A7C85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792000"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792000"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ACB7631D-9C35-A347-5959-B84B5BC53D8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792000" y="360000"/>
            <a:ext cx="6375921" cy="429413"/>
          </a:xfrm>
        </p:spPr>
        <p:txBody>
          <a:bodyPr/>
          <a:lstStyle/>
          <a:p>
            <a:r>
              <a:rPr lang="zh-CN" altLang="en-US" dirty="0"/>
              <a:t>引言</a:t>
            </a:r>
          </a:p>
        </p:txBody>
      </p:sp>
      <p:sp>
        <p:nvSpPr>
          <p:cNvPr id="6" name="内容占位符 5">
            <a:extLst>
              <a:ext uri="{FF2B5EF4-FFF2-40B4-BE49-F238E27FC236}">
                <a16:creationId xmlns:a16="http://schemas.microsoft.com/office/drawing/2014/main" id="{64A7B273-A9B5-31B2-405D-291159FF92B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792000"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792000" y="360000"/>
            <a:ext cx="6375921" cy="429413"/>
          </a:xfrm>
        </p:spPr>
        <p:txBody>
          <a:bodyPr/>
          <a:lstStyle/>
          <a:p>
            <a:r>
              <a:rPr lang="zh-CN" altLang="en-US" dirty="0"/>
              <a:t>项目进度计划流程</a:t>
            </a:r>
          </a:p>
        </p:txBody>
      </p:sp>
      <p:sp>
        <p:nvSpPr>
          <p:cNvPr id="7" name="内容占位符 6">
            <a:extLst>
              <a:ext uri="{FF2B5EF4-FFF2-40B4-BE49-F238E27FC236}">
                <a16:creationId xmlns:a16="http://schemas.microsoft.com/office/drawing/2014/main" id="{96EE4563-7346-39DB-E2D4-AC39000E67E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792000"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792000"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792000"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792000"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775335"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A</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2" name="矩形 11">
            <a:extLst>
              <a:ext uri="{FF2B5EF4-FFF2-40B4-BE49-F238E27FC236}">
                <a16:creationId xmlns:a16="http://schemas.microsoft.com/office/drawing/2014/main" id="{3251D6FD-8087-CEB6-528D-9FD8FF07A876}"/>
              </a:ext>
            </a:extLst>
          </p:cNvPr>
          <p:cNvSpPr/>
          <p:nvPr/>
        </p:nvSpPr>
        <p:spPr>
          <a:xfrm>
            <a:off x="6174147"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B</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6" name="矩形 15">
            <a:extLst>
              <a:ext uri="{FF2B5EF4-FFF2-40B4-BE49-F238E27FC236}">
                <a16:creationId xmlns:a16="http://schemas.microsoft.com/office/drawing/2014/main" id="{862FA9BD-0708-2737-AC6A-D044A21AEC42}"/>
              </a:ext>
            </a:extLst>
          </p:cNvPr>
          <p:cNvSpPr/>
          <p:nvPr/>
        </p:nvSpPr>
        <p:spPr>
          <a:xfrm>
            <a:off x="6873554"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4075929"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4392400" y="2948798"/>
            <a:ext cx="354465" cy="411406"/>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750147" y="2977268"/>
            <a:ext cx="411407"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474741" y="379419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C</a:t>
            </a:r>
            <a:endParaRPr lang="zh-CN" altLang="en-US" sz="800" dirty="0">
              <a:solidFill>
                <a:schemeClr val="tx1"/>
              </a:solidFill>
              <a:latin typeface="Times New Roman" panose="02020603050405020304" pitchFamily="18" charset="0"/>
              <a:ea typeface="宋体" panose="02010600030101010101" pitchFamily="2" charset="-122"/>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742103" y="3169559"/>
            <a:ext cx="354465" cy="1110812"/>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050741" y="3547733"/>
            <a:ext cx="1110813"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351335" y="2977268"/>
            <a:ext cx="82281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cxnSpLocks/>
            <a:stCxn id="2" idx="2"/>
          </p:cNvCxnSpPr>
          <p:nvPr/>
        </p:nvCxnSpPr>
        <p:spPr>
          <a:xfrm flipH="1">
            <a:off x="5355978" y="1252912"/>
            <a:ext cx="299922" cy="898105"/>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4622684"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6882388"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8560803"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3559577"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3995311" y="2634521"/>
            <a:ext cx="479638" cy="775107"/>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endCxn id="10" idx="1"/>
          </p:cNvCxnSpPr>
          <p:nvPr/>
        </p:nvCxnSpPr>
        <p:spPr>
          <a:xfrm flipV="1">
            <a:off x="5655999" y="2782255"/>
            <a:ext cx="457316" cy="406215"/>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4163827"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3765884" y="3631586"/>
            <a:ext cx="479637" cy="316250"/>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p:cNvCxnSpPr>
          <p:nvPr/>
        </p:nvCxnSpPr>
        <p:spPr>
          <a:xfrm flipV="1">
            <a:off x="4910684" y="3609833"/>
            <a:ext cx="457315"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4622684"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4451827" y="4029530"/>
            <a:ext cx="1708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367999" y="3045892"/>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cxnSpLocks/>
            <a:stCxn id="11" idx="3"/>
          </p:cNvCxnSpPr>
          <p:nvPr/>
        </p:nvCxnSpPr>
        <p:spPr>
          <a:xfrm>
            <a:off x="4910684" y="2782255"/>
            <a:ext cx="457315" cy="406215"/>
          </a:xfrm>
          <a:prstGeom prst="bentConnector3">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endCxn id="13" idx="1"/>
          </p:cNvCxnSpPr>
          <p:nvPr/>
        </p:nvCxnSpPr>
        <p:spPr>
          <a:xfrm>
            <a:off x="5655999" y="3609833"/>
            <a:ext cx="457316"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endCxn id="10" idx="3"/>
          </p:cNvCxnSpPr>
          <p:nvPr/>
        </p:nvCxnSpPr>
        <p:spPr>
          <a:xfrm rot="10800000">
            <a:off x="6401316" y="2782255"/>
            <a:ext cx="481073" cy="479638"/>
          </a:xfrm>
          <a:prstGeom prst="bentConnector3">
            <a:avLst>
              <a:gd name="adj1" fmla="val 50000"/>
            </a:avLst>
          </a:prstGeom>
          <a:ln w="635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p:cNvCxnSpPr>
          <p:nvPr/>
        </p:nvCxnSpPr>
        <p:spPr>
          <a:xfrm flipV="1">
            <a:off x="6401315" y="3549892"/>
            <a:ext cx="481073" cy="479638"/>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7441860"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001332"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170388"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7729860"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8289332" y="3405893"/>
            <a:ext cx="271471"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792000"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792000"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792000"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792000"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792000"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792000"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792000"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8" name="文本占位符 7">
            <a:extLst>
              <a:ext uri="{FF2B5EF4-FFF2-40B4-BE49-F238E27FC236}">
                <a16:creationId xmlns:a16="http://schemas.microsoft.com/office/drawing/2014/main" id="{B25D7BCF-5313-6FDC-BEE3-317BC5192F2F}"/>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792000"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7" name="文本占位符 6">
            <a:extLst>
              <a:ext uri="{FF2B5EF4-FFF2-40B4-BE49-F238E27FC236}">
                <a16:creationId xmlns:a16="http://schemas.microsoft.com/office/drawing/2014/main" id="{735D70AD-8D3B-94C0-2D44-BE03AB1A1A6E}"/>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792000"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7" name="文本占位符 6">
            <a:extLst>
              <a:ext uri="{FF2B5EF4-FFF2-40B4-BE49-F238E27FC236}">
                <a16:creationId xmlns:a16="http://schemas.microsoft.com/office/drawing/2014/main" id="{421590A1-2EC8-2B93-9D56-B7629DCBC4EF}"/>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285523" y="1980096"/>
            <a:ext cx="2821606" cy="461665"/>
          </a:xfrm>
          <a:prstGeom prst="rect">
            <a:avLst/>
          </a:prstGeom>
          <a:noFill/>
        </p:spPr>
        <p:txBody>
          <a:bodyPr wrap="none" rtlCol="0">
            <a:spAutoFit/>
          </a:bodyPr>
          <a:lstStyle/>
          <a:p>
            <a:pPr algn="ctr"/>
            <a:r>
              <a:rPr lang="en-US" altLang="zh-CN" sz="2400" dirty="0"/>
              <a:t>E =(O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1851789" cy="461665"/>
          </a:xfrm>
          <a:prstGeom prst="rect">
            <a:avLst/>
          </a:prstGeom>
          <a:noFill/>
        </p:spPr>
        <p:txBody>
          <a:bodyPr wrap="none" rtlCol="0">
            <a:spAutoFit/>
          </a:bodyPr>
          <a:lstStyle/>
          <a:p>
            <a:r>
              <a:rPr lang="en-US" altLang="zh-CN" sz="2400" dirty="0"/>
              <a:t>δ =(P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852814178"/>
              </p:ext>
            </p:extLst>
          </p:nvPr>
        </p:nvGraphicFramePr>
        <p:xfrm>
          <a:off x="3396000" y="20246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4944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9935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9935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9935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5806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5806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5806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graphicFrame>
        <p:nvGraphicFramePr>
          <p:cNvPr id="2" name="表格 1">
            <a:extLst>
              <a:ext uri="{FF2B5EF4-FFF2-40B4-BE49-F238E27FC236}">
                <a16:creationId xmlns:a16="http://schemas.microsoft.com/office/drawing/2014/main" id="{E444243C-7418-8580-A47A-FACD4E3ED4D2}"/>
              </a:ext>
            </a:extLst>
          </p:cNvPr>
          <p:cNvGraphicFramePr>
            <a:graphicFrameLocks noGrp="1"/>
          </p:cNvGraphicFramePr>
          <p:nvPr>
            <p:extLst>
              <p:ext uri="{D42A27DB-BD31-4B8C-83A1-F6EECF244321}">
                <p14:modId xmlns:p14="http://schemas.microsoft.com/office/powerpoint/2010/main" val="89001559"/>
              </p:ext>
            </p:extLst>
          </p:nvPr>
        </p:nvGraphicFramePr>
        <p:xfrm>
          <a:off x="3413631" y="4319053"/>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2160000">
                  <a:extLst>
                    <a:ext uri="{9D8B030D-6E8A-4147-A177-3AD203B41FA5}">
                      <a16:colId xmlns:a16="http://schemas.microsoft.com/office/drawing/2014/main" val="22328700"/>
                    </a:ext>
                  </a:extLst>
                </a:gridCol>
                <a:gridCol w="2160000">
                  <a:extLst>
                    <a:ext uri="{9D8B030D-6E8A-4147-A177-3AD203B41FA5}">
                      <a16:colId xmlns:a16="http://schemas.microsoft.com/office/drawing/2014/main" val="1031287147"/>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标准差</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方差</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9/36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r>
                        <a:rPr lang="zh-CN" altLang="en-US" sz="1600" dirty="0">
                          <a:solidFill>
                            <a:schemeClr val="tx1"/>
                          </a:solidFill>
                        </a:rPr>
                        <a:t>项目路径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1.07</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7" name="文本占位符 6">
            <a:extLst>
              <a:ext uri="{FF2B5EF4-FFF2-40B4-BE49-F238E27FC236}">
                <a16:creationId xmlns:a16="http://schemas.microsoft.com/office/drawing/2014/main" id="{31363689-A1F4-0014-C370-9B2222EB091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792000"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7" name="文本占位符 6">
            <a:extLst>
              <a:ext uri="{FF2B5EF4-FFF2-40B4-BE49-F238E27FC236}">
                <a16:creationId xmlns:a16="http://schemas.microsoft.com/office/drawing/2014/main" id="{97ABE54A-5445-B6AC-1C60-CDF97C9EA80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792000"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7" name="文本占位符 6">
            <a:extLst>
              <a:ext uri="{FF2B5EF4-FFF2-40B4-BE49-F238E27FC236}">
                <a16:creationId xmlns:a16="http://schemas.microsoft.com/office/drawing/2014/main" id="{9F66630A-5876-8149-1E00-E5B10F877D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792000"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7EBC85F1-A3FD-B2EE-1190-7BC2978DAEE2}"/>
              </a:ext>
            </a:extLst>
          </p:cNvPr>
          <p:cNvGraphicFramePr>
            <a:graphicFrameLocks noGrp="1"/>
          </p:cNvGraphicFramePr>
          <p:nvPr>
            <p:extLst>
              <p:ext uri="{D42A27DB-BD31-4B8C-83A1-F6EECF244321}">
                <p14:modId xmlns:p14="http://schemas.microsoft.com/office/powerpoint/2010/main" val="345941348"/>
              </p:ext>
            </p:extLst>
          </p:nvPr>
        </p:nvGraphicFramePr>
        <p:xfrm>
          <a:off x="397854" y="1234281"/>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0</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A</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7" name="表格 6">
            <a:extLst>
              <a:ext uri="{FF2B5EF4-FFF2-40B4-BE49-F238E27FC236}">
                <a16:creationId xmlns:a16="http://schemas.microsoft.com/office/drawing/2014/main" id="{14063665-FA6E-E27D-B448-EADC58140326}"/>
              </a:ext>
            </a:extLst>
          </p:cNvPr>
          <p:cNvGraphicFramePr>
            <a:graphicFrameLocks noGrp="1"/>
          </p:cNvGraphicFramePr>
          <p:nvPr>
            <p:extLst>
              <p:ext uri="{D42A27DB-BD31-4B8C-83A1-F6EECF244321}">
                <p14:modId xmlns:p14="http://schemas.microsoft.com/office/powerpoint/2010/main" val="2621162864"/>
              </p:ext>
            </p:extLst>
          </p:nvPr>
        </p:nvGraphicFramePr>
        <p:xfrm>
          <a:off x="1701567" y="417004"/>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B</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9" name="表格 8">
            <a:extLst>
              <a:ext uri="{FF2B5EF4-FFF2-40B4-BE49-F238E27FC236}">
                <a16:creationId xmlns:a16="http://schemas.microsoft.com/office/drawing/2014/main" id="{A3C3B5FB-848F-D20D-CD99-F7AD1A795D96}"/>
              </a:ext>
            </a:extLst>
          </p:cNvPr>
          <p:cNvGraphicFramePr>
            <a:graphicFrameLocks noGrp="1"/>
          </p:cNvGraphicFramePr>
          <p:nvPr>
            <p:extLst>
              <p:ext uri="{D42A27DB-BD31-4B8C-83A1-F6EECF244321}">
                <p14:modId xmlns:p14="http://schemas.microsoft.com/office/powerpoint/2010/main" val="4143928420"/>
              </p:ext>
            </p:extLst>
          </p:nvPr>
        </p:nvGraphicFramePr>
        <p:xfrm>
          <a:off x="1701567" y="2051558"/>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D</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 name="表格 10">
            <a:extLst>
              <a:ext uri="{FF2B5EF4-FFF2-40B4-BE49-F238E27FC236}">
                <a16:creationId xmlns:a16="http://schemas.microsoft.com/office/drawing/2014/main" id="{B80891D7-9BF0-9D8A-C58C-3F2333BE8499}"/>
              </a:ext>
            </a:extLst>
          </p:cNvPr>
          <p:cNvGraphicFramePr>
            <a:graphicFrameLocks noGrp="1"/>
          </p:cNvGraphicFramePr>
          <p:nvPr>
            <p:extLst>
              <p:ext uri="{D42A27DB-BD31-4B8C-83A1-F6EECF244321}">
                <p14:modId xmlns:p14="http://schemas.microsoft.com/office/powerpoint/2010/main" val="861324"/>
              </p:ext>
            </p:extLst>
          </p:nvPr>
        </p:nvGraphicFramePr>
        <p:xfrm>
          <a:off x="1701567" y="1234280"/>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5</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7</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C</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3" name="表格 12">
            <a:extLst>
              <a:ext uri="{FF2B5EF4-FFF2-40B4-BE49-F238E27FC236}">
                <a16:creationId xmlns:a16="http://schemas.microsoft.com/office/drawing/2014/main" id="{D6CDDFD3-F163-5A82-97AA-DA72573501FA}"/>
              </a:ext>
            </a:extLst>
          </p:cNvPr>
          <p:cNvGraphicFramePr>
            <a:graphicFrameLocks noGrp="1"/>
          </p:cNvGraphicFramePr>
          <p:nvPr>
            <p:extLst>
              <p:ext uri="{D42A27DB-BD31-4B8C-83A1-F6EECF244321}">
                <p14:modId xmlns:p14="http://schemas.microsoft.com/office/powerpoint/2010/main" val="662218675"/>
              </p:ext>
            </p:extLst>
          </p:nvPr>
        </p:nvGraphicFramePr>
        <p:xfrm>
          <a:off x="3005280" y="825642"/>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E</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5" name="表格 14">
            <a:extLst>
              <a:ext uri="{FF2B5EF4-FFF2-40B4-BE49-F238E27FC236}">
                <a16:creationId xmlns:a16="http://schemas.microsoft.com/office/drawing/2014/main" id="{842B1829-9566-3930-2D7F-EC28192017C3}"/>
              </a:ext>
            </a:extLst>
          </p:cNvPr>
          <p:cNvGraphicFramePr>
            <a:graphicFrameLocks noGrp="1"/>
          </p:cNvGraphicFramePr>
          <p:nvPr>
            <p:extLst>
              <p:ext uri="{D42A27DB-BD31-4B8C-83A1-F6EECF244321}">
                <p14:modId xmlns:p14="http://schemas.microsoft.com/office/powerpoint/2010/main" val="369341114"/>
              </p:ext>
            </p:extLst>
          </p:nvPr>
        </p:nvGraphicFramePr>
        <p:xfrm>
          <a:off x="3005280" y="1642919"/>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F</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7" name="表格 16">
            <a:extLst>
              <a:ext uri="{FF2B5EF4-FFF2-40B4-BE49-F238E27FC236}">
                <a16:creationId xmlns:a16="http://schemas.microsoft.com/office/drawing/2014/main" id="{35821241-D2B7-8F91-4489-18B43BAD8F7B}"/>
              </a:ext>
            </a:extLst>
          </p:cNvPr>
          <p:cNvGraphicFramePr>
            <a:graphicFrameLocks noGrp="1"/>
          </p:cNvGraphicFramePr>
          <p:nvPr>
            <p:extLst>
              <p:ext uri="{D42A27DB-BD31-4B8C-83A1-F6EECF244321}">
                <p14:modId xmlns:p14="http://schemas.microsoft.com/office/powerpoint/2010/main" val="2277007995"/>
              </p:ext>
            </p:extLst>
          </p:nvPr>
        </p:nvGraphicFramePr>
        <p:xfrm>
          <a:off x="4308993" y="1234281"/>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3</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G</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15</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9" name="直接箭头连接符 18">
            <a:extLst>
              <a:ext uri="{FF2B5EF4-FFF2-40B4-BE49-F238E27FC236}">
                <a16:creationId xmlns:a16="http://schemas.microsoft.com/office/drawing/2014/main" id="{1CC4C732-B854-ABE6-A7B9-9F5AFC5CFC41}"/>
              </a:ext>
            </a:extLst>
          </p:cNvPr>
          <p:cNvCxnSpPr>
            <a:cxnSpLocks/>
            <a:stCxn id="15" idx="3"/>
            <a:endCxn id="17" idx="1"/>
          </p:cNvCxnSpPr>
          <p:nvPr/>
        </p:nvCxnSpPr>
        <p:spPr>
          <a:xfrm flipV="1">
            <a:off x="3869280" y="1558281"/>
            <a:ext cx="439713" cy="408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F02B0746-59EE-331F-FC98-541EE29BC549}"/>
              </a:ext>
            </a:extLst>
          </p:cNvPr>
          <p:cNvCxnSpPr>
            <a:cxnSpLocks/>
            <a:stCxn id="13" idx="3"/>
            <a:endCxn id="17" idx="1"/>
          </p:cNvCxnSpPr>
          <p:nvPr/>
        </p:nvCxnSpPr>
        <p:spPr>
          <a:xfrm>
            <a:off x="3869280" y="1149642"/>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D0ABD54-51BC-0AB6-B978-E6D9D7F8D2B9}"/>
              </a:ext>
            </a:extLst>
          </p:cNvPr>
          <p:cNvCxnSpPr>
            <a:cxnSpLocks/>
            <a:stCxn id="11" idx="3"/>
            <a:endCxn id="15" idx="1"/>
          </p:cNvCxnSpPr>
          <p:nvPr/>
        </p:nvCxnSpPr>
        <p:spPr>
          <a:xfrm>
            <a:off x="2565567" y="1558280"/>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3621CDAE-19CF-FFDB-BCD0-85B8374B9F11}"/>
              </a:ext>
            </a:extLst>
          </p:cNvPr>
          <p:cNvCxnSpPr>
            <a:cxnSpLocks/>
            <a:stCxn id="9" idx="3"/>
            <a:endCxn id="15" idx="1"/>
          </p:cNvCxnSpPr>
          <p:nvPr/>
        </p:nvCxnSpPr>
        <p:spPr>
          <a:xfrm flipV="1">
            <a:off x="2565567" y="1966919"/>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接箭头连接符 33">
            <a:extLst>
              <a:ext uri="{FF2B5EF4-FFF2-40B4-BE49-F238E27FC236}">
                <a16:creationId xmlns:a16="http://schemas.microsoft.com/office/drawing/2014/main" id="{F60BC39B-0D0C-687B-A067-01A60BD320A0}"/>
              </a:ext>
            </a:extLst>
          </p:cNvPr>
          <p:cNvCxnSpPr>
            <a:cxnSpLocks/>
            <a:stCxn id="5" idx="3"/>
            <a:endCxn id="7" idx="1"/>
          </p:cNvCxnSpPr>
          <p:nvPr/>
        </p:nvCxnSpPr>
        <p:spPr>
          <a:xfrm flipV="1">
            <a:off x="1261854" y="741004"/>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26FBBB2F-B23F-6400-5E51-898BD2597907}"/>
              </a:ext>
            </a:extLst>
          </p:cNvPr>
          <p:cNvCxnSpPr>
            <a:cxnSpLocks/>
            <a:stCxn id="5" idx="3"/>
            <a:endCxn id="11" idx="1"/>
          </p:cNvCxnSpPr>
          <p:nvPr/>
        </p:nvCxnSpPr>
        <p:spPr>
          <a:xfrm flipV="1">
            <a:off x="1261854" y="1558280"/>
            <a:ext cx="439713"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AB22861C-62DD-AEC0-2C8E-1418BFC39C06}"/>
              </a:ext>
            </a:extLst>
          </p:cNvPr>
          <p:cNvCxnSpPr>
            <a:cxnSpLocks/>
            <a:stCxn id="5" idx="3"/>
            <a:endCxn id="9" idx="1"/>
          </p:cNvCxnSpPr>
          <p:nvPr/>
        </p:nvCxnSpPr>
        <p:spPr>
          <a:xfrm>
            <a:off x="1261854" y="1558281"/>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2A81AAC8-A719-357E-4DF2-FE4675EC533A}"/>
              </a:ext>
            </a:extLst>
          </p:cNvPr>
          <p:cNvCxnSpPr>
            <a:cxnSpLocks/>
            <a:stCxn id="7" idx="3"/>
            <a:endCxn id="13" idx="1"/>
          </p:cNvCxnSpPr>
          <p:nvPr/>
        </p:nvCxnSpPr>
        <p:spPr>
          <a:xfrm>
            <a:off x="2565567" y="741004"/>
            <a:ext cx="439713" cy="408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0550B3CC-FE12-9756-1F82-E66A2C6C0A49}"/>
              </a:ext>
            </a:extLst>
          </p:cNvPr>
          <p:cNvGraphicFramePr>
            <a:graphicFrameLocks noGrp="1"/>
          </p:cNvGraphicFramePr>
          <p:nvPr>
            <p:extLst>
              <p:ext uri="{D42A27DB-BD31-4B8C-83A1-F6EECF244321}">
                <p14:modId xmlns:p14="http://schemas.microsoft.com/office/powerpoint/2010/main" val="1235233170"/>
              </p:ext>
            </p:extLst>
          </p:nvPr>
        </p:nvGraphicFramePr>
        <p:xfrm>
          <a:off x="4259411" y="3345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0</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A</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0</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3" name="表格 2">
            <a:extLst>
              <a:ext uri="{FF2B5EF4-FFF2-40B4-BE49-F238E27FC236}">
                <a16:creationId xmlns:a16="http://schemas.microsoft.com/office/drawing/2014/main" id="{83C50E2F-750E-0F64-CF96-108EF850A4EA}"/>
              </a:ext>
            </a:extLst>
          </p:cNvPr>
          <p:cNvGraphicFramePr>
            <a:graphicFrameLocks noGrp="1"/>
          </p:cNvGraphicFramePr>
          <p:nvPr>
            <p:extLst>
              <p:ext uri="{D42A27DB-BD31-4B8C-83A1-F6EECF244321}">
                <p14:modId xmlns:p14="http://schemas.microsoft.com/office/powerpoint/2010/main" val="967982304"/>
              </p:ext>
            </p:extLst>
          </p:nvPr>
        </p:nvGraphicFramePr>
        <p:xfrm>
          <a:off x="5563124" y="2528008"/>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B</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4</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8</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4" name="表格 3">
            <a:extLst>
              <a:ext uri="{FF2B5EF4-FFF2-40B4-BE49-F238E27FC236}">
                <a16:creationId xmlns:a16="http://schemas.microsoft.com/office/drawing/2014/main" id="{DCEB3A24-8793-B285-E65C-E3032C982BBD}"/>
              </a:ext>
            </a:extLst>
          </p:cNvPr>
          <p:cNvGraphicFramePr>
            <a:graphicFrameLocks noGrp="1"/>
          </p:cNvGraphicFramePr>
          <p:nvPr>
            <p:extLst>
              <p:ext uri="{D42A27DB-BD31-4B8C-83A1-F6EECF244321}">
                <p14:modId xmlns:p14="http://schemas.microsoft.com/office/powerpoint/2010/main" val="2503969931"/>
              </p:ext>
            </p:extLst>
          </p:nvPr>
        </p:nvGraphicFramePr>
        <p:xfrm>
          <a:off x="5563124" y="4162562"/>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D</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2</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8</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6" name="表格 5">
            <a:extLst>
              <a:ext uri="{FF2B5EF4-FFF2-40B4-BE49-F238E27FC236}">
                <a16:creationId xmlns:a16="http://schemas.microsoft.com/office/drawing/2014/main" id="{334E3545-0810-B7CD-B817-926E9500756A}"/>
              </a:ext>
            </a:extLst>
          </p:cNvPr>
          <p:cNvGraphicFramePr>
            <a:graphicFrameLocks noGrp="1"/>
          </p:cNvGraphicFramePr>
          <p:nvPr>
            <p:extLst>
              <p:ext uri="{D42A27DB-BD31-4B8C-83A1-F6EECF244321}">
                <p14:modId xmlns:p14="http://schemas.microsoft.com/office/powerpoint/2010/main" val="4214608557"/>
              </p:ext>
            </p:extLst>
          </p:nvPr>
        </p:nvGraphicFramePr>
        <p:xfrm>
          <a:off x="5563124" y="3309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rgbClr val="FF0000"/>
                          </a:solidFill>
                        </a:rPr>
                        <a:t>2</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5</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7</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C</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3</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8" name="表格 7">
            <a:extLst>
              <a:ext uri="{FF2B5EF4-FFF2-40B4-BE49-F238E27FC236}">
                <a16:creationId xmlns:a16="http://schemas.microsoft.com/office/drawing/2014/main" id="{148BF964-660E-FA6C-FE9A-218C90ADA999}"/>
              </a:ext>
            </a:extLst>
          </p:cNvPr>
          <p:cNvGraphicFramePr>
            <a:graphicFrameLocks noGrp="1"/>
          </p:cNvGraphicFramePr>
          <p:nvPr>
            <p:extLst>
              <p:ext uri="{D42A27DB-BD31-4B8C-83A1-F6EECF244321}">
                <p14:modId xmlns:p14="http://schemas.microsoft.com/office/powerpoint/2010/main" val="1359558323"/>
              </p:ext>
            </p:extLst>
          </p:nvPr>
        </p:nvGraphicFramePr>
        <p:xfrm>
          <a:off x="6866837" y="2954647"/>
          <a:ext cx="864000" cy="57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192000">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10</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192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E</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192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0" name="表格 9">
            <a:extLst>
              <a:ext uri="{FF2B5EF4-FFF2-40B4-BE49-F238E27FC236}">
                <a16:creationId xmlns:a16="http://schemas.microsoft.com/office/drawing/2014/main" id="{37F761A8-BE06-0FF7-CE16-B40DB24968F0}"/>
              </a:ext>
            </a:extLst>
          </p:cNvPr>
          <p:cNvGraphicFramePr>
            <a:graphicFrameLocks noGrp="1"/>
          </p:cNvGraphicFramePr>
          <p:nvPr>
            <p:extLst>
              <p:ext uri="{D42A27DB-BD31-4B8C-83A1-F6EECF244321}">
                <p14:modId xmlns:p14="http://schemas.microsoft.com/office/powerpoint/2010/main" val="2165126375"/>
              </p:ext>
            </p:extLst>
          </p:nvPr>
        </p:nvGraphicFramePr>
        <p:xfrm>
          <a:off x="6866837" y="3735923"/>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12</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F</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8</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12</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 name="表格 11">
            <a:extLst>
              <a:ext uri="{FF2B5EF4-FFF2-40B4-BE49-F238E27FC236}">
                <a16:creationId xmlns:a16="http://schemas.microsoft.com/office/drawing/2014/main" id="{6C454410-46FC-04C8-5A19-7DCBB15A8A16}"/>
              </a:ext>
            </a:extLst>
          </p:cNvPr>
          <p:cNvGraphicFramePr>
            <a:graphicFrameLocks noGrp="1"/>
          </p:cNvGraphicFramePr>
          <p:nvPr>
            <p:extLst>
              <p:ext uri="{D42A27DB-BD31-4B8C-83A1-F6EECF244321}">
                <p14:modId xmlns:p14="http://schemas.microsoft.com/office/powerpoint/2010/main" val="242656508"/>
              </p:ext>
            </p:extLst>
          </p:nvPr>
        </p:nvGraphicFramePr>
        <p:xfrm>
          <a:off x="8170550" y="3309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3</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15</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G</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15</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4" name="直接箭头连接符 13">
            <a:extLst>
              <a:ext uri="{FF2B5EF4-FFF2-40B4-BE49-F238E27FC236}">
                <a16:creationId xmlns:a16="http://schemas.microsoft.com/office/drawing/2014/main" id="{BB213B10-28F6-87D0-D3FC-DC62A294EB31}"/>
              </a:ext>
            </a:extLst>
          </p:cNvPr>
          <p:cNvCxnSpPr>
            <a:cxnSpLocks/>
            <a:stCxn id="10" idx="3"/>
            <a:endCxn id="12" idx="1"/>
          </p:cNvCxnSpPr>
          <p:nvPr/>
        </p:nvCxnSpPr>
        <p:spPr>
          <a:xfrm flipV="1">
            <a:off x="7730837" y="3633285"/>
            <a:ext cx="439713" cy="426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0CB7CAB9-87D4-09C4-B2A9-166AB941629B}"/>
              </a:ext>
            </a:extLst>
          </p:cNvPr>
          <p:cNvCxnSpPr>
            <a:cxnSpLocks/>
            <a:stCxn id="8" idx="3"/>
            <a:endCxn id="12" idx="1"/>
          </p:cNvCxnSpPr>
          <p:nvPr/>
        </p:nvCxnSpPr>
        <p:spPr>
          <a:xfrm>
            <a:off x="7730837" y="3242647"/>
            <a:ext cx="439713" cy="390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E3394928-05D4-9768-AF10-B6711D756C37}"/>
              </a:ext>
            </a:extLst>
          </p:cNvPr>
          <p:cNvCxnSpPr>
            <a:cxnSpLocks/>
            <a:stCxn id="6" idx="3"/>
            <a:endCxn id="10" idx="1"/>
          </p:cNvCxnSpPr>
          <p:nvPr/>
        </p:nvCxnSpPr>
        <p:spPr>
          <a:xfrm>
            <a:off x="6427124" y="3633285"/>
            <a:ext cx="439713" cy="426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6077EFD8-6123-F421-EAB1-7D3445A91D5A}"/>
              </a:ext>
            </a:extLst>
          </p:cNvPr>
          <p:cNvCxnSpPr>
            <a:cxnSpLocks/>
            <a:stCxn id="4" idx="3"/>
            <a:endCxn id="10" idx="1"/>
          </p:cNvCxnSpPr>
          <p:nvPr/>
        </p:nvCxnSpPr>
        <p:spPr>
          <a:xfrm flipV="1">
            <a:off x="6427124" y="4059923"/>
            <a:ext cx="439713" cy="426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B001F28F-34A4-8E33-58E9-3C4B22BB1ECA}"/>
              </a:ext>
            </a:extLst>
          </p:cNvPr>
          <p:cNvCxnSpPr>
            <a:cxnSpLocks/>
            <a:stCxn id="2" idx="3"/>
            <a:endCxn id="3" idx="1"/>
          </p:cNvCxnSpPr>
          <p:nvPr/>
        </p:nvCxnSpPr>
        <p:spPr>
          <a:xfrm flipV="1">
            <a:off x="5123411" y="2852008"/>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010B4BF6-BBB5-553F-E578-F316E19C25E5}"/>
              </a:ext>
            </a:extLst>
          </p:cNvPr>
          <p:cNvCxnSpPr>
            <a:cxnSpLocks/>
            <a:stCxn id="2" idx="3"/>
            <a:endCxn id="6" idx="1"/>
          </p:cNvCxnSpPr>
          <p:nvPr/>
        </p:nvCxnSpPr>
        <p:spPr>
          <a:xfrm flipV="1">
            <a:off x="5123411" y="3633285"/>
            <a:ext cx="439713" cy="3600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C9B77AA0-6F9E-298E-2EC0-D3623022FBE1}"/>
              </a:ext>
            </a:extLst>
          </p:cNvPr>
          <p:cNvCxnSpPr>
            <a:cxnSpLocks/>
            <a:stCxn id="2" idx="3"/>
            <a:endCxn id="4" idx="1"/>
          </p:cNvCxnSpPr>
          <p:nvPr/>
        </p:nvCxnSpPr>
        <p:spPr>
          <a:xfrm>
            <a:off x="5123411" y="3669285"/>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ADDDFA4-E28F-71EF-EA9F-24C9AF2BD466}"/>
              </a:ext>
            </a:extLst>
          </p:cNvPr>
          <p:cNvCxnSpPr>
            <a:cxnSpLocks/>
            <a:stCxn id="3" idx="3"/>
            <a:endCxn id="8" idx="1"/>
          </p:cNvCxnSpPr>
          <p:nvPr/>
        </p:nvCxnSpPr>
        <p:spPr>
          <a:xfrm>
            <a:off x="6427124" y="2852008"/>
            <a:ext cx="439713" cy="390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677820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792000"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792000"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4108374016"/>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Cost Crash – Cost Normal</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Time Crash – Time Normal</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792000"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792000"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6" name="文本占位符 5">
            <a:extLst>
              <a:ext uri="{FF2B5EF4-FFF2-40B4-BE49-F238E27FC236}">
                <a16:creationId xmlns:a16="http://schemas.microsoft.com/office/drawing/2014/main" id="{34481616-4625-A2F2-6D9E-ED1BF3E70F6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792000"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6" name="文本占位符 5">
            <a:extLst>
              <a:ext uri="{FF2B5EF4-FFF2-40B4-BE49-F238E27FC236}">
                <a16:creationId xmlns:a16="http://schemas.microsoft.com/office/drawing/2014/main" id="{A1B384D0-AA8C-E407-9416-49605702553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792000"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792000"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792000"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792000"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11" name="内容占位符 10">
            <a:extLst>
              <a:ext uri="{FF2B5EF4-FFF2-40B4-BE49-F238E27FC236}">
                <a16:creationId xmlns:a16="http://schemas.microsoft.com/office/drawing/2014/main" id="{1CB0DFB1-A396-95DD-F908-4F6BFA86AAE1}"/>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8" name="内容占位符 7">
            <a:extLst>
              <a:ext uri="{FF2B5EF4-FFF2-40B4-BE49-F238E27FC236}">
                <a16:creationId xmlns:a16="http://schemas.microsoft.com/office/drawing/2014/main" id="{AE0BB0F9-480D-6B1F-6C24-8D937E53DF6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792000"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792000" y="360000"/>
            <a:ext cx="6375921" cy="429413"/>
          </a:xfrm>
        </p:spPr>
        <p:txBody>
          <a:bodyPr/>
          <a:lstStyle/>
          <a:p>
            <a:r>
              <a:rPr lang="en-US" altLang="zh-CN" dirty="0"/>
              <a:t>3. </a:t>
            </a:r>
            <a:r>
              <a:rPr lang="zh-CN" altLang="en-US" dirty="0"/>
              <a:t>软件质量管理活动</a:t>
            </a:r>
          </a:p>
        </p:txBody>
      </p:sp>
      <p:sp>
        <p:nvSpPr>
          <p:cNvPr id="5" name="内容占位符 4">
            <a:extLst>
              <a:ext uri="{FF2B5EF4-FFF2-40B4-BE49-F238E27FC236}">
                <a16:creationId xmlns:a16="http://schemas.microsoft.com/office/drawing/2014/main" id="{B285D1B8-2208-ED47-06D3-9F86AB7C0167}"/>
              </a:ext>
            </a:extLst>
          </p:cNvPr>
          <p:cNvSpPr>
            <a:spLocks noGrp="1"/>
          </p:cNvSpPr>
          <p:nvPr>
            <p:ph idx="1"/>
          </p:nvPr>
        </p:nvSpPr>
        <p:spPr/>
        <p:txBody>
          <a:bodyPr/>
          <a:lstStyle/>
          <a:p>
            <a:endParaRPr lang="zh-CN" altLang="en-US"/>
          </a:p>
        </p:txBody>
      </p:sp>
      <p:sp>
        <p:nvSpPr>
          <p:cNvPr id="6" name="文本占位符 5">
            <a:extLst>
              <a:ext uri="{FF2B5EF4-FFF2-40B4-BE49-F238E27FC236}">
                <a16:creationId xmlns:a16="http://schemas.microsoft.com/office/drawing/2014/main" id="{8681E74A-1F7C-DAD9-DB29-8DC8185F01E3}"/>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792000"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792000"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792000"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792000"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6" name="文本占位符 5">
            <a:extLst>
              <a:ext uri="{FF2B5EF4-FFF2-40B4-BE49-F238E27FC236}">
                <a16:creationId xmlns:a16="http://schemas.microsoft.com/office/drawing/2014/main" id="{E4933C28-274D-AE5C-B277-1916BF2E47F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792000"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4" name="文本占位符 3">
            <a:extLst>
              <a:ext uri="{FF2B5EF4-FFF2-40B4-BE49-F238E27FC236}">
                <a16:creationId xmlns:a16="http://schemas.microsoft.com/office/drawing/2014/main" id="{A418D8AA-8A25-F08B-024C-5DFA23E2713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792000"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6" name="文本占位符 5">
            <a:extLst>
              <a:ext uri="{FF2B5EF4-FFF2-40B4-BE49-F238E27FC236}">
                <a16:creationId xmlns:a16="http://schemas.microsoft.com/office/drawing/2014/main" id="{2410D9F0-D7E9-4D4F-6B25-B8D8818F9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792000"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7" name="文本占位符 6">
            <a:extLst>
              <a:ext uri="{FF2B5EF4-FFF2-40B4-BE49-F238E27FC236}">
                <a16:creationId xmlns:a16="http://schemas.microsoft.com/office/drawing/2014/main" id="{BA5B2B41-8269-9489-3C64-A464B400F9A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792000"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792000"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792000"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792000"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792000"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792000"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7" name="文本占位符 6">
            <a:extLst>
              <a:ext uri="{FF2B5EF4-FFF2-40B4-BE49-F238E27FC236}">
                <a16:creationId xmlns:a16="http://schemas.microsoft.com/office/drawing/2014/main" id="{E2975D0F-331A-0907-56C6-5C4193EEACD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792000"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7" name="文本占位符 6">
            <a:extLst>
              <a:ext uri="{FF2B5EF4-FFF2-40B4-BE49-F238E27FC236}">
                <a16:creationId xmlns:a16="http://schemas.microsoft.com/office/drawing/2014/main" id="{8E41544A-6B05-5F70-D575-999975F57F0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792000"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7" name="文本占位符 6">
            <a:extLst>
              <a:ext uri="{FF2B5EF4-FFF2-40B4-BE49-F238E27FC236}">
                <a16:creationId xmlns:a16="http://schemas.microsoft.com/office/drawing/2014/main" id="{3638B82E-EC6A-7ABE-4742-F9020553660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792000"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7" name="文本占位符 6">
            <a:extLst>
              <a:ext uri="{FF2B5EF4-FFF2-40B4-BE49-F238E27FC236}">
                <a16:creationId xmlns:a16="http://schemas.microsoft.com/office/drawing/2014/main" id="{D2C09A64-CB22-DC69-C973-69E33C8288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345009359"/>
              </p:ext>
            </p:extLst>
          </p:nvPr>
        </p:nvGraphicFramePr>
        <p:xfrm>
          <a:off x="0"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792000"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792000"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a:xfrm>
            <a:off x="696000" y="864000"/>
            <a:ext cx="10800000" cy="5400000"/>
          </a:xfrm>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792000"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对配置项进行标识、定义，控制变更、记录并报告状态保证其完整和正确实现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792000"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792000" y="360000"/>
            <a:ext cx="6375921" cy="429413"/>
          </a:xfrm>
        </p:spPr>
        <p:txBody>
          <a:bodyPr/>
          <a:lstStyle/>
          <a:p>
            <a:r>
              <a:rPr lang="en-US" altLang="zh-CN" dirty="0"/>
              <a:t>1.3 </a:t>
            </a:r>
            <a:r>
              <a:rPr lang="zh-CN" altLang="en-US" dirty="0"/>
              <a:t>软件项目基线</a:t>
            </a:r>
          </a:p>
        </p:txBody>
      </p:sp>
      <p:sp>
        <p:nvSpPr>
          <p:cNvPr id="8" name="内容占位符 7">
            <a:extLst>
              <a:ext uri="{FF2B5EF4-FFF2-40B4-BE49-F238E27FC236}">
                <a16:creationId xmlns:a16="http://schemas.microsoft.com/office/drawing/2014/main" id="{A3C623A3-5C26-093D-BE64-1E11290E57A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792000"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792000" y="360000"/>
            <a:ext cx="6375921" cy="429413"/>
          </a:xfrm>
        </p:spPr>
        <p:txBody>
          <a:bodyPr/>
          <a:lstStyle/>
          <a:p>
            <a:r>
              <a:rPr lang="en-US" altLang="zh-CN" dirty="0"/>
              <a:t>2. </a:t>
            </a:r>
            <a:r>
              <a:rPr lang="zh-CN" altLang="en-US" dirty="0"/>
              <a:t>配置管理过程</a:t>
            </a:r>
          </a:p>
        </p:txBody>
      </p:sp>
      <p:sp>
        <p:nvSpPr>
          <p:cNvPr id="4" name="内容占位符 3">
            <a:extLst>
              <a:ext uri="{FF2B5EF4-FFF2-40B4-BE49-F238E27FC236}">
                <a16:creationId xmlns:a16="http://schemas.microsoft.com/office/drawing/2014/main" id="{94BCAA0A-ED8D-032F-C778-3ABB4C464BFD}"/>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B57A0425-C589-76F2-0281-437050F44847}"/>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792000"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5" name="文本占位符 4">
            <a:extLst>
              <a:ext uri="{FF2B5EF4-FFF2-40B4-BE49-F238E27FC236}">
                <a16:creationId xmlns:a16="http://schemas.microsoft.com/office/drawing/2014/main" id="{4BD57C82-EFAC-D838-1A29-EDA6187CAC3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792000"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A8D085FF-C880-5B66-699C-1D4F9FB509CB}"/>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若批准，则执行变更并发布通知</a:t>
            </a:r>
            <a:endParaRPr lang="en-US" altLang="zh-CN" dirty="0"/>
          </a:p>
          <a:p>
            <a:r>
              <a:rPr lang="zh-CN" altLang="en-US" dirty="0"/>
              <a:t>若拒绝，则通知申请人并归档</a:t>
            </a:r>
          </a:p>
          <a:p>
            <a:r>
              <a:rPr lang="zh-CN" altLang="en-US" dirty="0"/>
              <a:t>更新基线与文档，关闭变更请求，发布通知</a:t>
            </a:r>
          </a:p>
          <a:p>
            <a:endParaRPr lang="zh-CN" altLang="en-US" dirty="0"/>
          </a:p>
        </p:txBody>
      </p:sp>
      <p:sp>
        <p:nvSpPr>
          <p:cNvPr id="5" name="文本占位符 4">
            <a:extLst>
              <a:ext uri="{FF2B5EF4-FFF2-40B4-BE49-F238E27FC236}">
                <a16:creationId xmlns:a16="http://schemas.microsoft.com/office/drawing/2014/main" id="{8CFB1CD4-2D6A-C71D-52A9-49D5F6235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BFE6CF23-5EA1-F0F4-3ACA-4E4FF86B848B}"/>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701EB060-CC85-436C-AA9F-919F13EE760A}"/>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6573F875-A508-627B-7EBB-CC2080BE98F9}"/>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FCB84F75-A098-36DC-9557-7C55F975F0C2}"/>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792000"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a:xfrm>
            <a:off x="696000" y="864000"/>
            <a:ext cx="10800000" cy="5400000"/>
          </a:xfrm>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t>正确的做</a:t>
            </a:r>
            <a:endParaRPr lang="en-US" altLang="zh-CN" dirty="0"/>
          </a:p>
          <a:p>
            <a:pPr lvl="1"/>
            <a:r>
              <a:rPr lang="zh-CN" altLang="en-US" dirty="0"/>
              <a:t>基线审计：确保基线的配置项正确的构造并实现，且满足功能要求</a:t>
            </a:r>
            <a:r>
              <a:rPr lang="en-US" altLang="zh-CN" dirty="0"/>
              <a:t>/</a:t>
            </a:r>
            <a:r>
              <a:rPr lang="zh-CN" altLang="en-US" dirty="0"/>
              <a:t>做的正确</a:t>
            </a:r>
            <a:endParaRPr lang="en-US" altLang="zh-CN" dirty="0"/>
          </a:p>
          <a:p>
            <a:r>
              <a:rPr lang="zh-CN" altLang="en-US" dirty="0"/>
              <a:t>确保某一变更已被实现</a:t>
            </a:r>
            <a:endParaRPr lang="en-US" altLang="zh-CN" dirty="0"/>
          </a:p>
          <a:p>
            <a:r>
              <a:rPr lang="zh-CN" altLang="en-US" dirty="0"/>
              <a:t>是技术复审的一部分</a:t>
            </a:r>
          </a:p>
        </p:txBody>
      </p:sp>
      <p:sp>
        <p:nvSpPr>
          <p:cNvPr id="5" name="文本占位符 4">
            <a:extLst>
              <a:ext uri="{FF2B5EF4-FFF2-40B4-BE49-F238E27FC236}">
                <a16:creationId xmlns:a16="http://schemas.microsoft.com/office/drawing/2014/main" id="{BDB2A5DA-2201-18F6-7C0A-8D1555999B5A}"/>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792000"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9" name="文本占位符 8">
            <a:extLst>
              <a:ext uri="{FF2B5EF4-FFF2-40B4-BE49-F238E27FC236}">
                <a16:creationId xmlns:a16="http://schemas.microsoft.com/office/drawing/2014/main" id="{823D9269-EED7-A232-16AF-57C260A79FA4}"/>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792000"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确定配置管理者 </a:t>
            </a:r>
            <a:r>
              <a:rPr lang="en-US" altLang="zh-CN" dirty="0"/>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17" name="文本占位符 16">
            <a:extLst>
              <a:ext uri="{FF2B5EF4-FFF2-40B4-BE49-F238E27FC236}">
                <a16:creationId xmlns:a16="http://schemas.microsoft.com/office/drawing/2014/main" id="{1B945AAB-41B8-E514-A2E1-DA6096BABADA}"/>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6" name="文本占位符 5">
            <a:extLst>
              <a:ext uri="{FF2B5EF4-FFF2-40B4-BE49-F238E27FC236}">
                <a16:creationId xmlns:a16="http://schemas.microsoft.com/office/drawing/2014/main" id="{5596D365-FB88-F296-4B3B-BA50FE601B8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6" name="文本占位符 5">
            <a:extLst>
              <a:ext uri="{FF2B5EF4-FFF2-40B4-BE49-F238E27FC236}">
                <a16:creationId xmlns:a16="http://schemas.microsoft.com/office/drawing/2014/main" id="{9F2B1C76-DA07-6481-113C-B4EE55C92C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6" name="文本占位符 5">
            <a:extLst>
              <a:ext uri="{FF2B5EF4-FFF2-40B4-BE49-F238E27FC236}">
                <a16:creationId xmlns:a16="http://schemas.microsoft.com/office/drawing/2014/main" id="{4232AED2-4F18-D842-C402-C7601853AD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6" name="文本占位符 5">
            <a:extLst>
              <a:ext uri="{FF2B5EF4-FFF2-40B4-BE49-F238E27FC236}">
                <a16:creationId xmlns:a16="http://schemas.microsoft.com/office/drawing/2014/main" id="{BE425BDB-2F72-58F7-7759-4472F443347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a:xfrm>
            <a:off x="792000" y="360000"/>
            <a:ext cx="6375921" cy="429413"/>
          </a:xfrm>
        </p:spPr>
        <p:txBody>
          <a:bodyPr/>
          <a:lstStyle/>
          <a:p>
            <a:r>
              <a:rPr lang="zh-CN" altLang="en-US" dirty="0"/>
              <a:t>变更过程小结</a:t>
            </a:r>
          </a:p>
        </p:txBody>
      </p:sp>
      <p:sp>
        <p:nvSpPr>
          <p:cNvPr id="21" name="内容占位符 20">
            <a:extLst>
              <a:ext uri="{FF2B5EF4-FFF2-40B4-BE49-F238E27FC236}">
                <a16:creationId xmlns:a16="http://schemas.microsoft.com/office/drawing/2014/main" id="{D3198C56-F675-AE39-A794-733C3E705D06}"/>
              </a:ext>
            </a:extLst>
          </p:cNvPr>
          <p:cNvSpPr>
            <a:spLocks noGrp="1"/>
          </p:cNvSpPr>
          <p:nvPr>
            <p:ph idx="1"/>
          </p:nvPr>
        </p:nvSpPr>
        <p:spPr/>
        <p:txBody>
          <a:bodyPr/>
          <a:lstStyle/>
          <a:p>
            <a:endParaRPr lang="zh-CN" altLang="en-US"/>
          </a:p>
        </p:txBody>
      </p:sp>
      <p:sp>
        <p:nvSpPr>
          <p:cNvPr id="22" name="文本占位符 21">
            <a:extLst>
              <a:ext uri="{FF2B5EF4-FFF2-40B4-BE49-F238E27FC236}">
                <a16:creationId xmlns:a16="http://schemas.microsoft.com/office/drawing/2014/main" id="{54DEBCFD-3A2C-4091-62B4-02341F9ECC10}"/>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792000"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5" name="文本占位符 4">
            <a:extLst>
              <a:ext uri="{FF2B5EF4-FFF2-40B4-BE49-F238E27FC236}">
                <a16:creationId xmlns:a16="http://schemas.microsoft.com/office/drawing/2014/main" id="{47A429C4-3D97-1029-1AB4-DC3F3BA4DB6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直到快要上线时甚至上线后才合并到主干</a:t>
            </a:r>
            <a:endParaRPr lang="en-US" altLang="zh-CN" dirty="0"/>
          </a:p>
          <a:p>
            <a:r>
              <a:rPr lang="zh-CN" altLang="en-US" dirty="0"/>
              <a:t>分支是长期存在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分支是短期存在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792000"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5" name="文本占位符 4">
            <a:extLst>
              <a:ext uri="{FF2B5EF4-FFF2-40B4-BE49-F238E27FC236}">
                <a16:creationId xmlns:a16="http://schemas.microsoft.com/office/drawing/2014/main" id="{199FA40F-8D9C-9F15-FBC2-598AC32242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6000" y="360000"/>
            <a:ext cx="5400000" cy="429413"/>
          </a:xfrm>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a:xfrm>
            <a:off x="792000" y="360000"/>
            <a:ext cx="6375921" cy="429413"/>
          </a:xfrm>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a:xfrm>
            <a:off x="696000" y="864000"/>
            <a:ext cx="10800000" cy="5400000"/>
          </a:xfrm>
        </p:spPr>
        <p:txBody>
          <a:bodyPr/>
          <a:lstStyle/>
          <a:p>
            <a:r>
              <a:rPr lang="zh-CN" altLang="en-US" dirty="0"/>
              <a:t>每个人的角色和职责</a:t>
            </a:r>
          </a:p>
        </p:txBody>
      </p:sp>
      <p:sp>
        <p:nvSpPr>
          <p:cNvPr id="7" name="文本占位符 6">
            <a:extLst>
              <a:ext uri="{FF2B5EF4-FFF2-40B4-BE49-F238E27FC236}">
                <a16:creationId xmlns:a16="http://schemas.microsoft.com/office/drawing/2014/main" id="{63C710FA-0554-EDFE-B857-7C3E09AF479B}"/>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792000"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5" name="文本占位符 4">
            <a:extLst>
              <a:ext uri="{FF2B5EF4-FFF2-40B4-BE49-F238E27FC236}">
                <a16:creationId xmlns:a16="http://schemas.microsoft.com/office/drawing/2014/main" id="{511BC18F-C52C-241E-4541-338A03F427C2}"/>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a:xfrm>
            <a:off x="696000" y="360000"/>
            <a:ext cx="5400000" cy="429413"/>
          </a:xfrm>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6000" y="360000"/>
            <a:ext cx="5400000" cy="429413"/>
          </a:xfrm>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792000"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4018861926"/>
              </p:ext>
            </p:extLst>
          </p:nvPr>
        </p:nvGraphicFramePr>
        <p:xfrm>
          <a:off x="3136536" y="2298650"/>
          <a:ext cx="4896392" cy="2855033"/>
        </p:xfrm>
        <a:graphic>
          <a:graphicData uri="http://schemas.openxmlformats.org/drawingml/2006/table">
            <a:tbl>
              <a:tblPr firstRow="1" bandRow="1">
                <a:tableStyleId>{5C22544A-7EE6-4342-B048-85BDC9FD1C3A}</a:tableStyleId>
              </a:tblPr>
              <a:tblGrid>
                <a:gridCol w="2448196">
                  <a:extLst>
                    <a:ext uri="{9D8B030D-6E8A-4147-A177-3AD203B41FA5}">
                      <a16:colId xmlns:a16="http://schemas.microsoft.com/office/drawing/2014/main" val="1578455872"/>
                    </a:ext>
                  </a:extLst>
                </a:gridCol>
                <a:gridCol w="2448196">
                  <a:extLst>
                    <a:ext uri="{9D8B030D-6E8A-4147-A177-3AD203B41FA5}">
                      <a16:colId xmlns:a16="http://schemas.microsoft.com/office/drawing/2014/main" val="1102437032"/>
                    </a:ext>
                  </a:extLst>
                </a:gridCol>
              </a:tblGrid>
              <a:tr h="1438845">
                <a:tc>
                  <a:txBody>
                    <a:bodyPr/>
                    <a:lstStyle/>
                    <a:p>
                      <a:pPr algn="ctr"/>
                      <a:r>
                        <a:rPr lang="en-US" altLang="zh-CN" sz="2000" b="0" dirty="0">
                          <a:solidFill>
                            <a:schemeClr val="bg1"/>
                          </a:solidFill>
                        </a:rPr>
                        <a:t>A</a:t>
                      </a:r>
                    </a:p>
                    <a:p>
                      <a:pPr algn="ctr"/>
                      <a:r>
                        <a:rPr lang="en-US" altLang="zh-CN" sz="1600" b="0" dirty="0">
                          <a:solidFill>
                            <a:schemeClr val="bg1"/>
                          </a:solidFill>
                        </a:rPr>
                        <a:t>Keep satisfied</a:t>
                      </a:r>
                    </a:p>
                    <a:p>
                      <a:pPr algn="ctr"/>
                      <a:r>
                        <a:rPr lang="zh-CN" altLang="en-US" sz="1600" b="0" dirty="0">
                          <a:solidFill>
                            <a:schemeClr val="bg1"/>
                          </a:solidFill>
                        </a:rPr>
                        <a:t>令其满意</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19259"/>
                    </a:solidFill>
                  </a:tcPr>
                </a:tc>
                <a:tc>
                  <a:txBody>
                    <a:bodyPr/>
                    <a:lstStyle/>
                    <a:p>
                      <a:pPr algn="ctr"/>
                      <a:r>
                        <a:rPr lang="en-US" altLang="zh-CN" sz="2000" b="0" dirty="0">
                          <a:solidFill>
                            <a:schemeClr val="bg1"/>
                          </a:solidFill>
                        </a:rPr>
                        <a:t>B</a:t>
                      </a:r>
                    </a:p>
                    <a:p>
                      <a:pPr algn="ctr"/>
                      <a:r>
                        <a:rPr lang="en-US" altLang="zh-CN" sz="1600" b="0" dirty="0">
                          <a:solidFill>
                            <a:schemeClr val="bg1"/>
                          </a:solidFill>
                        </a:rPr>
                        <a:t>Manage closely</a:t>
                      </a:r>
                    </a:p>
                    <a:p>
                      <a:pPr algn="ctr"/>
                      <a:r>
                        <a:rPr lang="zh-CN" altLang="en-US" sz="1600" b="0" dirty="0">
                          <a:solidFill>
                            <a:schemeClr val="bg1"/>
                          </a:solidFill>
                        </a:rPr>
                        <a:t>重点管理</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70036"/>
                    </a:solidFill>
                  </a:tcPr>
                </a:tc>
                <a:extLst>
                  <a:ext uri="{0D108BD9-81ED-4DB2-BD59-A6C34878D82A}">
                    <a16:rowId xmlns:a16="http://schemas.microsoft.com/office/drawing/2014/main" val="1739899098"/>
                  </a:ext>
                </a:extLst>
              </a:tr>
              <a:tr h="1416188">
                <a:tc>
                  <a:txBody>
                    <a:bodyPr/>
                    <a:lstStyle/>
                    <a:p>
                      <a:pPr algn="ctr"/>
                      <a:r>
                        <a:rPr lang="en-US" altLang="zh-CN" sz="2000" b="0" dirty="0">
                          <a:solidFill>
                            <a:schemeClr val="tx1"/>
                          </a:solidFill>
                        </a:rPr>
                        <a:t>D</a:t>
                      </a:r>
                    </a:p>
                    <a:p>
                      <a:pPr algn="ctr"/>
                      <a:r>
                        <a:rPr lang="en-US" altLang="zh-CN" sz="1600" b="0" dirty="0">
                          <a:solidFill>
                            <a:schemeClr val="tx1"/>
                          </a:solidFill>
                        </a:rPr>
                        <a:t>Minimal effort</a:t>
                      </a:r>
                    </a:p>
                    <a:p>
                      <a:pPr algn="ctr"/>
                      <a:r>
                        <a:rPr lang="zh-CN" altLang="en-US" sz="1600" b="0" dirty="0">
                          <a:solidFill>
                            <a:schemeClr val="tx1"/>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2000" b="0" dirty="0">
                          <a:solidFill>
                            <a:schemeClr val="bg1"/>
                          </a:solidFill>
                        </a:rPr>
                        <a:t>C</a:t>
                      </a:r>
                    </a:p>
                    <a:p>
                      <a:pPr algn="ctr"/>
                      <a:r>
                        <a:rPr lang="en-US" altLang="zh-CN" sz="1600" b="0" dirty="0">
                          <a:solidFill>
                            <a:schemeClr val="bg1"/>
                          </a:solidFill>
                        </a:rPr>
                        <a:t>Keep informed</a:t>
                      </a:r>
                    </a:p>
                    <a:p>
                      <a:pPr algn="ctr"/>
                      <a:r>
                        <a:rPr lang="zh-CN" altLang="en-US" sz="1600" b="0" dirty="0">
                          <a:solidFill>
                            <a:schemeClr val="bg1"/>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666" y="1213496"/>
            <a:ext cx="543739" cy="307777"/>
          </a:xfrm>
          <a:prstGeom prst="rect">
            <a:avLst/>
          </a:prstGeom>
          <a:noFill/>
        </p:spPr>
        <p:txBody>
          <a:bodyPr vert="horz" wrap="none" rtlCol="0">
            <a:spAutoFit/>
          </a:bodyPr>
          <a:lstStyle/>
          <a:p>
            <a:pPr algn="ctr"/>
            <a:r>
              <a:rPr lang="zh-CN" altLang="en-US" sz="14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8935301" y="5226510"/>
            <a:ext cx="543739" cy="307777"/>
          </a:xfrm>
          <a:prstGeom prst="rect">
            <a:avLst/>
          </a:prstGeom>
          <a:noFill/>
        </p:spPr>
        <p:txBody>
          <a:bodyPr wrap="none" rtlCol="0">
            <a:spAutoFit/>
          </a:bodyPr>
          <a:lstStyle/>
          <a:p>
            <a:pPr algn="ctr"/>
            <a:r>
              <a:rPr lang="zh-CN" altLang="en-US" sz="1400" dirty="0"/>
              <a:t>利益</a:t>
            </a:r>
          </a:p>
        </p:txBody>
      </p:sp>
      <p:sp>
        <p:nvSpPr>
          <p:cNvPr id="17" name="文本框 16">
            <a:extLst>
              <a:ext uri="{FF2B5EF4-FFF2-40B4-BE49-F238E27FC236}">
                <a16:creationId xmlns:a16="http://schemas.microsoft.com/office/drawing/2014/main" id="{51BC813C-B347-A3C1-3180-D228DF21B4F1}"/>
              </a:ext>
            </a:extLst>
          </p:cNvPr>
          <p:cNvSpPr txBox="1"/>
          <p:nvPr/>
        </p:nvSpPr>
        <p:spPr>
          <a:xfrm>
            <a:off x="2760680" y="1432106"/>
            <a:ext cx="763351" cy="307777"/>
          </a:xfrm>
          <a:prstGeom prst="rect">
            <a:avLst/>
          </a:prstGeom>
          <a:noFill/>
        </p:spPr>
        <p:txBody>
          <a:bodyPr wrap="none" rtlCol="0">
            <a:spAutoFit/>
          </a:bodyPr>
          <a:lstStyle/>
          <a:p>
            <a:pPr algn="l"/>
            <a:r>
              <a:rPr lang="en-US" altLang="zh-CN" sz="1400" dirty="0"/>
              <a:t>Power</a:t>
            </a:r>
            <a:endParaRPr lang="zh-CN" altLang="en-US" sz="1400" dirty="0"/>
          </a:p>
        </p:txBody>
      </p:sp>
      <p:sp>
        <p:nvSpPr>
          <p:cNvPr id="18" name="文本框 17">
            <a:extLst>
              <a:ext uri="{FF2B5EF4-FFF2-40B4-BE49-F238E27FC236}">
                <a16:creationId xmlns:a16="http://schemas.microsoft.com/office/drawing/2014/main" id="{5B5FB49D-E348-C9AD-F983-03CF0A80AF9A}"/>
              </a:ext>
            </a:extLst>
          </p:cNvPr>
          <p:cNvSpPr txBox="1"/>
          <p:nvPr/>
        </p:nvSpPr>
        <p:spPr>
          <a:xfrm>
            <a:off x="8765384" y="5031285"/>
            <a:ext cx="883575" cy="307777"/>
          </a:xfrm>
          <a:prstGeom prst="rect">
            <a:avLst/>
          </a:prstGeom>
          <a:noFill/>
        </p:spPr>
        <p:txBody>
          <a:bodyPr wrap="none" rtlCol="0">
            <a:spAutoFit/>
          </a:bodyPr>
          <a:lstStyle/>
          <a:p>
            <a:pPr algn="l"/>
            <a:r>
              <a:rPr lang="en-US" altLang="zh-CN" sz="1400" dirty="0"/>
              <a:t>Interest</a:t>
            </a:r>
            <a:endParaRPr lang="zh-CN" altLang="en-US" sz="1400" dirty="0"/>
          </a:p>
        </p:txBody>
      </p:sp>
      <p:sp>
        <p:nvSpPr>
          <p:cNvPr id="19" name="文本框 18">
            <a:extLst>
              <a:ext uri="{FF2B5EF4-FFF2-40B4-BE49-F238E27FC236}">
                <a16:creationId xmlns:a16="http://schemas.microsoft.com/office/drawing/2014/main" id="{45452086-07FE-56F4-786A-68F2646AEAE6}"/>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635668150"/>
              </p:ext>
            </p:extLst>
          </p:nvPr>
        </p:nvGraphicFramePr>
        <p:xfrm>
          <a:off x="0" y="2422525"/>
          <a:ext cx="10801350" cy="201295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5117436"/>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218308"/>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等腰三角形 14">
            <a:extLst>
              <a:ext uri="{FF2B5EF4-FFF2-40B4-BE49-F238E27FC236}">
                <a16:creationId xmlns:a16="http://schemas.microsoft.com/office/drawing/2014/main" id="{A19F840B-110A-BA60-8EFE-259A80FDC077}"/>
              </a:ext>
            </a:extLst>
          </p:cNvPr>
          <p:cNvSpPr/>
          <p:nvPr/>
        </p:nvSpPr>
        <p:spPr>
          <a:xfrm flipV="1">
            <a:off x="214888" y="4093219"/>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等腰三角形 13">
            <a:extLst>
              <a:ext uri="{FF2B5EF4-FFF2-40B4-BE49-F238E27FC236}">
                <a16:creationId xmlns:a16="http://schemas.microsoft.com/office/drawing/2014/main" id="{1CB40D72-AECF-F5A4-FFD7-7B87AAB06125}"/>
              </a:ext>
            </a:extLst>
          </p:cNvPr>
          <p:cNvSpPr/>
          <p:nvPr/>
        </p:nvSpPr>
        <p:spPr>
          <a:xfrm flipV="1">
            <a:off x="214888" y="3069001"/>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3" name="等腰三角形 12">
            <a:extLst>
              <a:ext uri="{FF2B5EF4-FFF2-40B4-BE49-F238E27FC236}">
                <a16:creationId xmlns:a16="http://schemas.microsoft.com/office/drawing/2014/main" id="{506922B5-0CA4-0FB0-DF56-E0A547B2CA9B}"/>
              </a:ext>
            </a:extLst>
          </p:cNvPr>
          <p:cNvSpPr/>
          <p:nvPr/>
        </p:nvSpPr>
        <p:spPr>
          <a:xfrm flipV="1">
            <a:off x="214888" y="2044783"/>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 name="等腰三角形 10">
            <a:extLst>
              <a:ext uri="{FF2B5EF4-FFF2-40B4-BE49-F238E27FC236}">
                <a16:creationId xmlns:a16="http://schemas.microsoft.com/office/drawing/2014/main" id="{ADD0C9C5-F907-6A66-6943-C5919889ABAC}"/>
              </a:ext>
            </a:extLst>
          </p:cNvPr>
          <p:cNvSpPr/>
          <p:nvPr/>
        </p:nvSpPr>
        <p:spPr>
          <a:xfrm flipV="1">
            <a:off x="214888" y="1020565"/>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792000"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363965" y="2773010"/>
            <a:ext cx="1011815" cy="615553"/>
          </a:xfrm>
          <a:prstGeom prst="rect">
            <a:avLst/>
          </a:prstGeom>
          <a:noFill/>
        </p:spPr>
        <p:txBody>
          <a:bodyPr wrap="none" rtlCol="0">
            <a:spAutoFit/>
          </a:bodyPr>
          <a:lstStyle/>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98814" y="2773010"/>
            <a:ext cx="1484702" cy="615553"/>
          </a:xfrm>
          <a:prstGeom prst="rect">
            <a:avLst/>
          </a:prstGeom>
          <a:noFill/>
        </p:spPr>
        <p:txBody>
          <a:bodyPr wrap="none" rtlCol="0">
            <a:spAutoFit/>
          </a:bodyPr>
          <a:lstStyle/>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355294" y="2773010"/>
            <a:ext cx="1803699" cy="615553"/>
          </a:xfrm>
          <a:prstGeom prst="rect">
            <a:avLst/>
          </a:prstGeom>
          <a:noFill/>
        </p:spPr>
        <p:txBody>
          <a:bodyPr wrap="none" rtlCol="0">
            <a:spAutoFit/>
          </a:bodyPr>
          <a:lstStyle/>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a:xfrm>
            <a:off x="696000" y="360000"/>
            <a:ext cx="5400000" cy="429413"/>
          </a:xfrm>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a:xfrm>
            <a:off x="696000" y="360000"/>
            <a:ext cx="5400000" cy="429413"/>
          </a:xfrm>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6" name="文本占位符 5">
            <a:extLst>
              <a:ext uri="{FF2B5EF4-FFF2-40B4-BE49-F238E27FC236}">
                <a16:creationId xmlns:a16="http://schemas.microsoft.com/office/drawing/2014/main" id="{505CD354-2D87-C49D-0AFA-7B083FFE9C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7" name="文本占位符 6">
            <a:extLst>
              <a:ext uri="{FF2B5EF4-FFF2-40B4-BE49-F238E27FC236}">
                <a16:creationId xmlns:a16="http://schemas.microsoft.com/office/drawing/2014/main" id="{B7CE1FE2-BE8E-EDC7-4072-B24E251254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7" name="文本占位符 6">
            <a:extLst>
              <a:ext uri="{FF2B5EF4-FFF2-40B4-BE49-F238E27FC236}">
                <a16:creationId xmlns:a16="http://schemas.microsoft.com/office/drawing/2014/main" id="{B1C29DC1-2EB2-290F-C71F-1C748DAEB8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6B71AA90-C2C7-BD2C-18E0-278605723D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0600EBD6-9718-CBBF-7915-5150D9ADCDE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4800" y="1338697"/>
            <a:ext cx="10800000" cy="4925303"/>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8" name="文本占位符 7">
            <a:extLst>
              <a:ext uri="{FF2B5EF4-FFF2-40B4-BE49-F238E27FC236}">
                <a16:creationId xmlns:a16="http://schemas.microsoft.com/office/drawing/2014/main" id="{4AB400CB-7FED-BFFE-E93E-DC530B5CF352}"/>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风险定义</a:t>
            </a:r>
          </a:p>
        </p:txBody>
      </p:sp>
      <p:graphicFrame>
        <p:nvGraphicFramePr>
          <p:cNvPr id="13" name="图示 12">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3417375189"/>
              </p:ext>
            </p:extLst>
          </p:nvPr>
        </p:nvGraphicFramePr>
        <p:xfrm>
          <a:off x="2386794" y="26482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73615642"/>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4800" y="360000"/>
            <a:ext cx="6375921" cy="429413"/>
          </a:xfrm>
        </p:spPr>
        <p:txBody>
          <a:bodyPr>
            <a:normAutofit/>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C70F1038-E0D2-405D-C4F4-3DB7F45D8BC9}"/>
              </a:ext>
            </a:extLst>
          </p:cNvPr>
          <p:cNvSpPr>
            <a:spLocks noGrp="1"/>
          </p:cNvSpPr>
          <p:nvPr>
            <p:ph idx="1"/>
          </p:nvPr>
        </p:nvSpPr>
        <p:spPr/>
        <p:txBody>
          <a:bodyPr/>
          <a:lstStyle/>
          <a:p>
            <a:endParaRPr lang="zh-CN" altLang="en-US" dirty="0"/>
          </a:p>
        </p:txBody>
      </p:sp>
      <p:sp>
        <p:nvSpPr>
          <p:cNvPr id="20" name="文本占位符 19">
            <a:extLst>
              <a:ext uri="{FF2B5EF4-FFF2-40B4-BE49-F238E27FC236}">
                <a16:creationId xmlns:a16="http://schemas.microsoft.com/office/drawing/2014/main" id="{92B60238-32DB-9196-2DB6-F25268D0FF81}"/>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A0DFD8EC-C550-C2D6-949A-74768A11F924}"/>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风险类型</a:t>
            </a:r>
          </a:p>
        </p:txBody>
      </p:sp>
      <p:sp>
        <p:nvSpPr>
          <p:cNvPr id="26" name="矩形: 圆角 25">
            <a:extLst>
              <a:ext uri="{FF2B5EF4-FFF2-40B4-BE49-F238E27FC236}">
                <a16:creationId xmlns:a16="http://schemas.microsoft.com/office/drawing/2014/main" id="{01EB9A67-1F99-9040-F429-82403580C4DB}"/>
              </a:ext>
            </a:extLst>
          </p:cNvPr>
          <p:cNvSpPr/>
          <p:nvPr/>
        </p:nvSpPr>
        <p:spPr>
          <a:xfrm>
            <a:off x="3056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1080000" rtlCol="0" anchor="ctr"/>
          <a:lstStyle/>
          <a:p>
            <a:pPr algn="r"/>
            <a:r>
              <a:rPr lang="zh-CN" altLang="en-US" dirty="0">
                <a:solidFill>
                  <a:schemeClr val="tx1"/>
                </a:solidFill>
              </a:rPr>
              <a:t>已知风险 </a:t>
            </a:r>
            <a:r>
              <a:rPr lang="en-US" altLang="zh-CN" dirty="0">
                <a:solidFill>
                  <a:schemeClr val="tx1"/>
                </a:solidFill>
              </a:rPr>
              <a:t>Known known</a:t>
            </a:r>
          </a:p>
          <a:p>
            <a:pPr algn="r"/>
            <a:r>
              <a:rPr lang="zh-CN" altLang="en-US" dirty="0">
                <a:solidFill>
                  <a:schemeClr val="tx1"/>
                </a:solidFill>
              </a:rPr>
              <a:t>可预测风险 </a:t>
            </a:r>
            <a:r>
              <a:rPr lang="en-US" altLang="zh-CN" dirty="0">
                <a:solidFill>
                  <a:schemeClr val="tx1"/>
                </a:solidFill>
              </a:rPr>
              <a:t>Known unknown </a:t>
            </a:r>
          </a:p>
          <a:p>
            <a:pPr algn="r"/>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grpSp>
        <p:nvGrpSpPr>
          <p:cNvPr id="5" name="组合 4">
            <a:extLst>
              <a:ext uri="{FF2B5EF4-FFF2-40B4-BE49-F238E27FC236}">
                <a16:creationId xmlns:a16="http://schemas.microsoft.com/office/drawing/2014/main" id="{B02D6B23-AF40-1759-790B-C182A07EF536}"/>
              </a:ext>
            </a:extLst>
          </p:cNvPr>
          <p:cNvGrpSpPr/>
          <p:nvPr/>
        </p:nvGrpSpPr>
        <p:grpSpPr>
          <a:xfrm>
            <a:off x="7119007" y="1633800"/>
            <a:ext cx="1944000" cy="1944000"/>
            <a:chOff x="3056994" y="1633800"/>
            <a:chExt cx="1944000" cy="1944000"/>
          </a:xfrm>
        </p:grpSpPr>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2400" dirty="0"/>
                <a:t>预测</a:t>
              </a:r>
              <a:endParaRPr lang="en-US" altLang="zh-CN" sz="2400" dirty="0"/>
            </a:p>
            <a:p>
              <a:pPr algn="ctr"/>
              <a:r>
                <a:rPr lang="zh-CN" altLang="en-US" sz="2400" dirty="0"/>
                <a:t>角度</a:t>
              </a:r>
            </a:p>
          </p:txBody>
        </p:sp>
      </p:gr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grpSp>
        <p:nvGrpSpPr>
          <p:cNvPr id="7" name="组合 6">
            <a:extLst>
              <a:ext uri="{FF2B5EF4-FFF2-40B4-BE49-F238E27FC236}">
                <a16:creationId xmlns:a16="http://schemas.microsoft.com/office/drawing/2014/main" id="{93D76BD1-41FE-2A26-5C27-8E7A2B8DE96E}"/>
              </a:ext>
            </a:extLst>
          </p:cNvPr>
          <p:cNvGrpSpPr/>
          <p:nvPr/>
        </p:nvGrpSpPr>
        <p:grpSpPr>
          <a:xfrm>
            <a:off x="3128994" y="3694200"/>
            <a:ext cx="1944000" cy="1944000"/>
            <a:chOff x="3128994" y="3694200"/>
            <a:chExt cx="1944000" cy="1944000"/>
          </a:xfrm>
        </p:grpSpPr>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t>范围</a:t>
              </a:r>
              <a:endParaRPr lang="en-US" altLang="zh-CN" sz="2400" dirty="0"/>
            </a:p>
            <a:p>
              <a:pPr algn="ctr"/>
              <a:r>
                <a:rPr lang="zh-CN" altLang="en-US" sz="2400" dirty="0"/>
                <a:t>角度</a:t>
              </a:r>
            </a:p>
          </p:txBody>
        </p:sp>
      </p:grpSp>
    </p:spTree>
    <p:extLst>
      <p:ext uri="{BB962C8B-B14F-4D97-AF65-F5344CB8AC3E}">
        <p14:creationId xmlns:p14="http://schemas.microsoft.com/office/powerpoint/2010/main" val="306918126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D65BD676-45FE-C85A-3630-4D3E41B2C2F2}"/>
              </a:ext>
            </a:extLst>
          </p:cNvPr>
          <p:cNvSpPr>
            <a:spLocks noGrp="1"/>
          </p:cNvSpPr>
          <p:nvPr>
            <p:ph type="body" sz="quarter" idx="10"/>
          </p:nvPr>
        </p:nvSpPr>
        <p:spPr>
          <a:xfrm>
            <a:off x="3219345" y="1629000"/>
            <a:ext cx="8640000" cy="3600000"/>
          </a:xfrm>
        </p:spPr>
        <p:txBody>
          <a:bodyPr/>
          <a:lstStyle/>
          <a:p>
            <a:r>
              <a:rPr lang="zh-CN" altLang="en-US" dirty="0"/>
              <a:t>需求变更属于什么风险类型</a:t>
            </a:r>
            <a:r>
              <a:rPr lang="en-US" altLang="zh-CN" dirty="0"/>
              <a:t>?</a:t>
            </a:r>
          </a:p>
          <a:p>
            <a:endParaRPr lang="en-US" altLang="zh-CN" dirty="0">
              <a:sym typeface="微软雅黑" panose="020B0503020204020204" pitchFamily="34" charset="-122"/>
            </a:endParaRPr>
          </a:p>
          <a:p>
            <a:r>
              <a:rPr lang="en-US" altLang="zh-CN" dirty="0">
                <a:sym typeface="微软雅黑" panose="020B0503020204020204" pitchFamily="34" charset="-122"/>
              </a:rPr>
              <a:t>A</a:t>
            </a:r>
            <a:r>
              <a:rPr lang="zh-CN" altLang="en-US" dirty="0">
                <a:sym typeface="微软雅黑" panose="020B0503020204020204" pitchFamily="34" charset="-122"/>
              </a:rPr>
              <a:t>：已知风险－</a:t>
            </a:r>
            <a:r>
              <a:rPr lang="en-US" altLang="zh-CN" dirty="0">
                <a:sym typeface="微软雅黑" panose="020B0503020204020204" pitchFamily="34" charset="-122"/>
              </a:rPr>
              <a:t>Known known</a:t>
            </a:r>
          </a:p>
          <a:p>
            <a:r>
              <a:rPr lang="en-US" altLang="zh-CN" dirty="0">
                <a:sym typeface="微软雅黑" panose="020B0503020204020204" pitchFamily="34" charset="-122"/>
              </a:rPr>
              <a:t>B</a:t>
            </a:r>
            <a:r>
              <a:rPr lang="zh-CN" altLang="en-US" dirty="0">
                <a:sym typeface="微软雅黑" panose="020B0503020204020204" pitchFamily="34" charset="-122"/>
              </a:rPr>
              <a:t>：可预测风险</a:t>
            </a:r>
            <a:r>
              <a:rPr lang="en-US" altLang="zh-CN" dirty="0">
                <a:sym typeface="微软雅黑" panose="020B0503020204020204" pitchFamily="34" charset="-122"/>
              </a:rPr>
              <a:t>-Known unknown</a:t>
            </a:r>
          </a:p>
          <a:p>
            <a:r>
              <a:rPr lang="en-US" altLang="zh-CN" dirty="0"/>
              <a:t>C</a:t>
            </a:r>
            <a:r>
              <a:rPr lang="zh-CN" altLang="en-US" dirty="0"/>
              <a:t>：不可预测风险</a:t>
            </a:r>
            <a:r>
              <a:rPr lang="en-US" altLang="zh-CN" dirty="0"/>
              <a:t>-unknown unknown</a:t>
            </a:r>
          </a:p>
        </p:txBody>
      </p:sp>
    </p:spTree>
    <p:extLst>
      <p:ext uri="{BB962C8B-B14F-4D97-AF65-F5344CB8AC3E}">
        <p14:creationId xmlns:p14="http://schemas.microsoft.com/office/powerpoint/2010/main" val="1029724204"/>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792000"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E8DE63B-7CF4-4C23-BCE7-A68DA7483E7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9E6DE7DA-FC0F-98D5-6A5C-6F2B715EECA1}"/>
              </a:ext>
            </a:extLst>
          </p:cNvPr>
          <p:cNvSpPr>
            <a:spLocks noGrp="1"/>
          </p:cNvSpPr>
          <p:nvPr>
            <p:ph idx="1"/>
          </p:nvPr>
        </p:nvSpPr>
        <p:spPr/>
        <p:txBody>
          <a:bodyPr/>
          <a:lstStyle/>
          <a:p>
            <a:endParaRPr lang="zh-CN" altLang="en-US"/>
          </a:p>
        </p:txBody>
      </p:sp>
      <p:sp>
        <p:nvSpPr>
          <p:cNvPr id="20" name="文本占位符 19">
            <a:extLst>
              <a:ext uri="{FF2B5EF4-FFF2-40B4-BE49-F238E27FC236}">
                <a16:creationId xmlns:a16="http://schemas.microsoft.com/office/drawing/2014/main" id="{0352EEA6-99C4-AC0B-33A7-816AF650A58C}"/>
              </a:ext>
            </a:extLst>
          </p:cNvPr>
          <p:cNvSpPr>
            <a:spLocks noGrp="1"/>
          </p:cNvSpPr>
          <p:nvPr>
            <p:ph type="body" sz="quarter" idx="10"/>
          </p:nvPr>
        </p:nvSpPr>
        <p:spPr/>
        <p:txBody>
          <a:bodyPr/>
          <a:lstStyle/>
          <a:p>
            <a:endParaRPr lang="zh-CN" altLang="en-US"/>
          </a:p>
        </p:txBody>
      </p:sp>
      <p:sp>
        <p:nvSpPr>
          <p:cNvPr id="9" name="文本占位符 8">
            <a:extLst>
              <a:ext uri="{FF2B5EF4-FFF2-40B4-BE49-F238E27FC236}">
                <a16:creationId xmlns:a16="http://schemas.microsoft.com/office/drawing/2014/main" id="{7780E0B3-5BCA-C224-8460-F298DFC12BA2}"/>
              </a:ext>
            </a:extLst>
          </p:cNvPr>
          <p:cNvSpPr>
            <a:spLocks noGrp="1"/>
          </p:cNvSpPr>
          <p:nvPr>
            <p:ph type="body" sz="quarter" idx="11"/>
          </p:nvPr>
        </p:nvSpPr>
        <p:spPr>
          <a:xfrm>
            <a:off x="694800" y="864000"/>
            <a:ext cx="6203950" cy="400110"/>
          </a:xfrm>
        </p:spPr>
        <p:txBody>
          <a:bodyPr/>
          <a:lstStyle/>
          <a:p>
            <a:r>
              <a:rPr lang="en-US" altLang="zh-CN" dirty="0"/>
              <a:t>3. </a:t>
            </a:r>
            <a:r>
              <a:rPr lang="zh-CN" altLang="en-US" dirty="0"/>
              <a:t>风险管理</a:t>
            </a:r>
            <a:r>
              <a:rPr lang="en-US" altLang="zh-CN" dirty="0"/>
              <a:t>4</a:t>
            </a:r>
            <a:r>
              <a:rPr lang="zh-CN" altLang="en-US" dirty="0"/>
              <a:t>个过程</a:t>
            </a:r>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1376363" y="1808588"/>
            <a:ext cx="1905000" cy="464331"/>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3871913" y="2521524"/>
            <a:ext cx="1905000" cy="464331"/>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367463" y="3234460"/>
            <a:ext cx="1905000" cy="464331"/>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8863013" y="3947396"/>
            <a:ext cx="1905000" cy="464331"/>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dirty="0">
                <a:solidFill>
                  <a:schemeClr val="bg1"/>
                </a:solidFill>
                <a:latin typeface="+mj-lt"/>
                <a:ea typeface="+mj-ea"/>
              </a:rPr>
              <a:t>风险控制</a:t>
            </a:r>
          </a:p>
        </p:txBody>
      </p:sp>
      <p:cxnSp>
        <p:nvCxnSpPr>
          <p:cNvPr id="10" name="连接符: 肘形 9">
            <a:extLst>
              <a:ext uri="{FF2B5EF4-FFF2-40B4-BE49-F238E27FC236}">
                <a16:creationId xmlns:a16="http://schemas.microsoft.com/office/drawing/2014/main" id="{F99466C6-96A9-6206-226E-A57C8ADB4FCC}"/>
              </a:ext>
            </a:extLst>
          </p:cNvPr>
          <p:cNvCxnSpPr>
            <a:cxnSpLocks/>
            <a:stCxn id="5" idx="3"/>
            <a:endCxn id="6" idx="0"/>
          </p:cNvCxnSpPr>
          <p:nvPr/>
        </p:nvCxnSpPr>
        <p:spPr>
          <a:xfrm>
            <a:off x="3281363" y="2040754"/>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5776913" y="2753690"/>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8272463" y="3466626"/>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A281CEB-F12C-060F-5063-139F0AB94B06}"/>
              </a:ext>
            </a:extLst>
          </p:cNvPr>
          <p:cNvSpPr txBox="1"/>
          <p:nvPr/>
        </p:nvSpPr>
        <p:spPr>
          <a:xfrm>
            <a:off x="1376363" y="2519640"/>
            <a:ext cx="1905000" cy="1323439"/>
          </a:xfrm>
          <a:prstGeom prst="rect">
            <a:avLst/>
          </a:prstGeom>
          <a:noFill/>
        </p:spPr>
        <p:txBody>
          <a:bodyPr wrap="square" rtlCol="0">
            <a:spAutoFit/>
          </a:bodyPr>
          <a:lstStyle/>
          <a:p>
            <a:pPr algn="just">
              <a:defRPr/>
            </a:pPr>
            <a:r>
              <a:rPr lang="zh-CN" altLang="zh-CN" sz="1600" dirty="0"/>
              <a:t>风险识别是识别</a:t>
            </a:r>
            <a:r>
              <a:rPr lang="zh-CN" altLang="en-US" sz="1600" dirty="0"/>
              <a:t>风险事件</a:t>
            </a:r>
            <a:r>
              <a:rPr lang="en-US" altLang="zh-CN" sz="1600" dirty="0"/>
              <a:t>,</a:t>
            </a:r>
            <a:r>
              <a:rPr lang="zh-CN" altLang="en-US" sz="1600" dirty="0"/>
              <a:t> </a:t>
            </a:r>
            <a:r>
              <a:rPr lang="zh-CN" altLang="zh-CN" sz="1600" dirty="0"/>
              <a:t>系统化地确定对项目计划的威胁，识别已知和可预测的风险</a:t>
            </a:r>
          </a:p>
        </p:txBody>
      </p:sp>
      <p:sp>
        <p:nvSpPr>
          <p:cNvPr id="34" name="文本框 33">
            <a:extLst>
              <a:ext uri="{FF2B5EF4-FFF2-40B4-BE49-F238E27FC236}">
                <a16:creationId xmlns:a16="http://schemas.microsoft.com/office/drawing/2014/main" id="{7A7EC45A-B58B-BED0-DE49-93F7241C61B0}"/>
              </a:ext>
            </a:extLst>
          </p:cNvPr>
          <p:cNvSpPr txBox="1"/>
          <p:nvPr/>
        </p:nvSpPr>
        <p:spPr>
          <a:xfrm>
            <a:off x="3871913" y="3232123"/>
            <a:ext cx="1905000" cy="1077218"/>
          </a:xfrm>
          <a:prstGeom prst="rect">
            <a:avLst/>
          </a:prstGeom>
          <a:noFill/>
        </p:spPr>
        <p:txBody>
          <a:bodyPr wrap="square" rtlCol="0">
            <a:spAutoFit/>
          </a:bodyPr>
          <a:lstStyle/>
          <a:p>
            <a:pPr algn="just"/>
            <a:r>
              <a:rPr lang="zh-CN" altLang="en-US" sz="1600" dirty="0"/>
              <a:t>对风险事件发生概率的评估，对项目风险影响的评估，给出项目风险排序</a:t>
            </a:r>
          </a:p>
        </p:txBody>
      </p:sp>
      <p:sp>
        <p:nvSpPr>
          <p:cNvPr id="37" name="文本框 36">
            <a:extLst>
              <a:ext uri="{FF2B5EF4-FFF2-40B4-BE49-F238E27FC236}">
                <a16:creationId xmlns:a16="http://schemas.microsoft.com/office/drawing/2014/main" id="{BD84CE6B-9800-073E-EF10-642297E75D50}"/>
              </a:ext>
            </a:extLst>
          </p:cNvPr>
          <p:cNvSpPr txBox="1"/>
          <p:nvPr/>
        </p:nvSpPr>
        <p:spPr>
          <a:xfrm>
            <a:off x="6367463" y="3947396"/>
            <a:ext cx="1905000" cy="1569660"/>
          </a:xfrm>
          <a:prstGeom prst="rect">
            <a:avLst/>
          </a:prstGeom>
          <a:noFill/>
        </p:spPr>
        <p:txBody>
          <a:bodyPr wrap="square" rtlCol="0">
            <a:spAutoFit/>
          </a:bodyPr>
          <a:lstStyle/>
          <a:p>
            <a:pPr algn="just"/>
            <a:r>
              <a:rPr lang="zh-CN" altLang="en-US" sz="1600" dirty="0"/>
              <a:t>针对风险分析的结果，制定一定的行动和策略来对付、减少、以至于消灭风险事件造成的影响</a:t>
            </a:r>
          </a:p>
        </p:txBody>
      </p:sp>
      <p:sp>
        <p:nvSpPr>
          <p:cNvPr id="39" name="文本框 38">
            <a:extLst>
              <a:ext uri="{FF2B5EF4-FFF2-40B4-BE49-F238E27FC236}">
                <a16:creationId xmlns:a16="http://schemas.microsoft.com/office/drawing/2014/main" id="{4DCF54A2-4A88-BB07-C699-181DF977B9E5}"/>
              </a:ext>
            </a:extLst>
          </p:cNvPr>
          <p:cNvSpPr txBox="1"/>
          <p:nvPr/>
        </p:nvSpPr>
        <p:spPr>
          <a:xfrm>
            <a:off x="8863013" y="4732226"/>
            <a:ext cx="1952625" cy="1569660"/>
          </a:xfrm>
          <a:prstGeom prst="rect">
            <a:avLst/>
          </a:prstGeom>
          <a:noFill/>
        </p:spPr>
        <p:txBody>
          <a:bodyPr wrap="square" rtlCol="0">
            <a:spAutoFit/>
          </a:bodyPr>
          <a:lstStyle/>
          <a:p>
            <a:pPr algn="just"/>
            <a:r>
              <a:rPr lang="zh-CN" altLang="en-US" sz="1600" dirty="0"/>
              <a:t>风险控制是在项目执行过程中实施和监控风险计划，同时，不断进行风险识别、风险分析、风险规划的过程</a:t>
            </a:r>
          </a:p>
        </p:txBody>
      </p:sp>
      <p:pic>
        <p:nvPicPr>
          <p:cNvPr id="42" name="图形 41" descr="举起的手">
            <a:extLst>
              <a:ext uri="{FF2B5EF4-FFF2-40B4-BE49-F238E27FC236}">
                <a16:creationId xmlns:a16="http://schemas.microsoft.com/office/drawing/2014/main" id="{7777A415-FEE4-7D72-4F0F-CB4BC261B8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51888" y="3039475"/>
            <a:ext cx="914400" cy="914400"/>
          </a:xfrm>
          <a:prstGeom prst="rect">
            <a:avLst/>
          </a:prstGeom>
        </p:spPr>
      </p:pic>
      <p:pic>
        <p:nvPicPr>
          <p:cNvPr id="44" name="图形 43" descr="正义天平">
            <a:extLst>
              <a:ext uri="{FF2B5EF4-FFF2-40B4-BE49-F238E27FC236}">
                <a16:creationId xmlns:a16="http://schemas.microsoft.com/office/drawing/2014/main" id="{E590DEAD-6950-8471-6AE1-1B925104BC3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64238" y="1563422"/>
            <a:ext cx="914400" cy="914400"/>
          </a:xfrm>
          <a:prstGeom prst="rect">
            <a:avLst/>
          </a:prstGeom>
        </p:spPr>
      </p:pic>
      <p:pic>
        <p:nvPicPr>
          <p:cNvPr id="46" name="图形 45" descr="研究">
            <a:extLst>
              <a:ext uri="{FF2B5EF4-FFF2-40B4-BE49-F238E27FC236}">
                <a16:creationId xmlns:a16="http://schemas.microsoft.com/office/drawing/2014/main" id="{A1340D71-D385-48AF-6CCA-441A137909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8863" y="890668"/>
            <a:ext cx="914400" cy="914400"/>
          </a:xfrm>
          <a:prstGeom prst="rect">
            <a:avLst/>
          </a:prstGeom>
        </p:spPr>
      </p:pic>
      <p:pic>
        <p:nvPicPr>
          <p:cNvPr id="48" name="图形 47" descr="文档">
            <a:extLst>
              <a:ext uri="{FF2B5EF4-FFF2-40B4-BE49-F238E27FC236}">
                <a16:creationId xmlns:a16="http://schemas.microsoft.com/office/drawing/2014/main" id="{0F36F84F-53D4-7CE1-4394-E4F67D38D8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58063" y="2296489"/>
            <a:ext cx="914400" cy="914400"/>
          </a:xfrm>
          <a:prstGeom prst="rect">
            <a:avLst/>
          </a:prstGeom>
        </p:spPr>
      </p:pic>
      <p:sp>
        <p:nvSpPr>
          <p:cNvPr id="50" name="椭圆 49">
            <a:extLst>
              <a:ext uri="{FF2B5EF4-FFF2-40B4-BE49-F238E27FC236}">
                <a16:creationId xmlns:a16="http://schemas.microsoft.com/office/drawing/2014/main" id="{685DF00A-A9E1-2BD8-47E7-20732842BF0A}"/>
              </a:ext>
            </a:extLst>
          </p:cNvPr>
          <p:cNvSpPr/>
          <p:nvPr/>
        </p:nvSpPr>
        <p:spPr>
          <a:xfrm>
            <a:off x="2310863" y="1136067"/>
            <a:ext cx="36000" cy="36000"/>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52" name="直接箭头连接符 51">
            <a:extLst>
              <a:ext uri="{FF2B5EF4-FFF2-40B4-BE49-F238E27FC236}">
                <a16:creationId xmlns:a16="http://schemas.microsoft.com/office/drawing/2014/main" id="{D2FF864F-015D-1623-BC6E-011D01F2C454}"/>
              </a:ext>
            </a:extLst>
          </p:cNvPr>
          <p:cNvCxnSpPr>
            <a:cxnSpLocks/>
            <a:stCxn id="50" idx="4"/>
            <a:endCxn id="5" idx="0"/>
          </p:cNvCxnSpPr>
          <p:nvPr/>
        </p:nvCxnSpPr>
        <p:spPr>
          <a:xfrm>
            <a:off x="2328863" y="1172067"/>
            <a:ext cx="0" cy="63652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连接符: 肘形 57">
            <a:extLst>
              <a:ext uri="{FF2B5EF4-FFF2-40B4-BE49-F238E27FC236}">
                <a16:creationId xmlns:a16="http://schemas.microsoft.com/office/drawing/2014/main" id="{458F9B1B-C316-F209-A9EF-6FC42C394B0E}"/>
              </a:ext>
            </a:extLst>
          </p:cNvPr>
          <p:cNvCxnSpPr>
            <a:cxnSpLocks/>
            <a:stCxn id="8" idx="3"/>
            <a:endCxn id="50" idx="0"/>
          </p:cNvCxnSpPr>
          <p:nvPr/>
        </p:nvCxnSpPr>
        <p:spPr>
          <a:xfrm flipH="1" flipV="1">
            <a:off x="2328863" y="1136067"/>
            <a:ext cx="8439150" cy="3043495"/>
          </a:xfrm>
          <a:prstGeom prst="bentConnector4">
            <a:avLst>
              <a:gd name="adj1" fmla="val -2709"/>
              <a:gd name="adj2" fmla="val 10751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31D022EC-E7E2-6992-6BD9-6CAF505CEB65}"/>
              </a:ext>
            </a:extLst>
          </p:cNvPr>
          <p:cNvGrpSpPr/>
          <p:nvPr/>
        </p:nvGrpSpPr>
        <p:grpSpPr>
          <a:xfrm>
            <a:off x="2285915" y="1648469"/>
            <a:ext cx="2512866" cy="2126045"/>
            <a:chOff x="2285915" y="1648469"/>
            <a:chExt cx="2512866" cy="2126045"/>
          </a:xfrm>
        </p:grpSpPr>
        <p:sp>
          <p:nvSpPr>
            <p:cNvPr id="11" name="任意多边形: 形状 10">
              <a:extLst>
                <a:ext uri="{FF2B5EF4-FFF2-40B4-BE49-F238E27FC236}">
                  <a16:creationId xmlns:a16="http://schemas.microsoft.com/office/drawing/2014/main" id="{F3384C8A-8C71-9574-6F09-F8A6938D23D7}"/>
                </a:ext>
              </a:extLst>
            </p:cNvPr>
            <p:cNvSpPr/>
            <p:nvPr/>
          </p:nvSpPr>
          <p:spPr>
            <a:xfrm>
              <a:off x="2800201" y="1974515"/>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800" dirty="0">
                <a:solidFill>
                  <a:schemeClr val="tx1"/>
                </a:solidFill>
              </a:endParaRPr>
            </a:p>
          </p:txBody>
        </p:sp>
        <p:sp>
          <p:nvSpPr>
            <p:cNvPr id="12" name="任意多边形: 形状 11">
              <a:extLst>
                <a:ext uri="{FF2B5EF4-FFF2-40B4-BE49-F238E27FC236}">
                  <a16:creationId xmlns:a16="http://schemas.microsoft.com/office/drawing/2014/main" id="{1131C429-08E8-7BE6-AFCF-0F3DF74478B5}"/>
                </a:ext>
              </a:extLst>
            </p:cNvPr>
            <p:cNvSpPr/>
            <p:nvPr/>
          </p:nvSpPr>
          <p:spPr>
            <a:xfrm rot="5400000">
              <a:off x="3185915" y="2874514"/>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92D05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vert270" wrap="square" rtlCol="0" anchor="ctr">
              <a:noAutofit/>
            </a:bodyPr>
            <a:lstStyle/>
            <a:p>
              <a:pPr algn="ctr"/>
              <a:endParaRPr lang="zh-CN" altLang="en-US" sz="800" dirty="0">
                <a:solidFill>
                  <a:schemeClr val="tx1"/>
                </a:solidFill>
              </a:endParaRPr>
            </a:p>
          </p:txBody>
        </p:sp>
        <p:sp>
          <p:nvSpPr>
            <p:cNvPr id="13" name="任意多边形: 形状 12">
              <a:extLst>
                <a:ext uri="{FF2B5EF4-FFF2-40B4-BE49-F238E27FC236}">
                  <a16:creationId xmlns:a16="http://schemas.microsoft.com/office/drawing/2014/main" id="{8194AC18-5184-CCF3-1D47-8DE125C9CF87}"/>
                </a:ext>
              </a:extLst>
            </p:cNvPr>
            <p:cNvSpPr/>
            <p:nvPr/>
          </p:nvSpPr>
          <p:spPr>
            <a:xfrm flipH="1" flipV="1">
              <a:off x="2285916" y="3260229"/>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D70036"/>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eaVert" wrap="square" rtlCol="0" anchor="ctr">
              <a:noAutofit/>
            </a:bodyPr>
            <a:lstStyle/>
            <a:p>
              <a:pPr algn="ctr"/>
              <a:endParaRPr lang="zh-CN" altLang="en-US" sz="800" dirty="0">
                <a:solidFill>
                  <a:schemeClr val="tx1"/>
                </a:solidFill>
              </a:endParaRPr>
            </a:p>
          </p:txBody>
        </p:sp>
        <p:sp>
          <p:nvSpPr>
            <p:cNvPr id="14" name="任意多边形: 形状 13">
              <a:extLst>
                <a:ext uri="{FF2B5EF4-FFF2-40B4-BE49-F238E27FC236}">
                  <a16:creationId xmlns:a16="http://schemas.microsoft.com/office/drawing/2014/main" id="{DBF5EBAD-9BA2-5A3E-DB7F-5C6529DF8271}"/>
                </a:ext>
              </a:extLst>
            </p:cNvPr>
            <p:cNvSpPr/>
            <p:nvPr/>
          </p:nvSpPr>
          <p:spPr>
            <a:xfrm rot="16200000">
              <a:off x="1900201" y="2360229"/>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0D8BB3"/>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800" dirty="0">
                <a:solidFill>
                  <a:schemeClr val="tx1"/>
                </a:solidFill>
              </a:endParaRPr>
            </a:p>
          </p:txBody>
        </p:sp>
        <p:sp>
          <p:nvSpPr>
            <p:cNvPr id="15" name="文本框 14">
              <a:extLst>
                <a:ext uri="{FF2B5EF4-FFF2-40B4-BE49-F238E27FC236}">
                  <a16:creationId xmlns:a16="http://schemas.microsoft.com/office/drawing/2014/main" id="{B5CE070A-6C47-6A70-5019-C988315740BA}"/>
                </a:ext>
              </a:extLst>
            </p:cNvPr>
            <p:cNvSpPr txBox="1"/>
            <p:nvPr/>
          </p:nvSpPr>
          <p:spPr>
            <a:xfrm>
              <a:off x="2923145" y="2039714"/>
              <a:ext cx="415498" cy="392415"/>
            </a:xfrm>
            <a:prstGeom prst="rect">
              <a:avLst/>
            </a:prstGeom>
            <a:noFill/>
            <a:effectLst/>
          </p:spPr>
          <p:txBody>
            <a:bodyPr wrap="none" rtlCol="0">
              <a:spAutoFit/>
            </a:bodyPr>
            <a:lstStyle/>
            <a:p>
              <a:pPr algn="l"/>
              <a:r>
                <a:rPr lang="en-US" altLang="zh-CN" sz="1050" dirty="0">
                  <a:solidFill>
                    <a:schemeClr val="bg1"/>
                  </a:solidFill>
                </a:rPr>
                <a:t>01</a:t>
              </a:r>
            </a:p>
            <a:p>
              <a:pPr algn="l"/>
              <a:r>
                <a:rPr lang="zh-CN" altLang="en-US" sz="900" dirty="0">
                  <a:solidFill>
                    <a:schemeClr val="bg1"/>
                  </a:solidFill>
                </a:rPr>
                <a:t>识别</a:t>
              </a:r>
            </a:p>
          </p:txBody>
        </p:sp>
        <p:sp>
          <p:nvSpPr>
            <p:cNvPr id="16" name="文本框 15">
              <a:extLst>
                <a:ext uri="{FF2B5EF4-FFF2-40B4-BE49-F238E27FC236}">
                  <a16:creationId xmlns:a16="http://schemas.microsoft.com/office/drawing/2014/main" id="{26D8BB4E-6A92-C99E-CC45-31362C27AAB9}"/>
                </a:ext>
              </a:extLst>
            </p:cNvPr>
            <p:cNvSpPr txBox="1"/>
            <p:nvPr/>
          </p:nvSpPr>
          <p:spPr>
            <a:xfrm>
              <a:off x="3044740" y="3308524"/>
              <a:ext cx="415498" cy="392415"/>
            </a:xfrm>
            <a:prstGeom prst="rect">
              <a:avLst/>
            </a:prstGeom>
            <a:noFill/>
            <a:effectLst/>
          </p:spPr>
          <p:txBody>
            <a:bodyPr wrap="none" rtlCol="0">
              <a:spAutoFit/>
            </a:bodyPr>
            <a:lstStyle/>
            <a:p>
              <a:pPr algn="l"/>
              <a:r>
                <a:rPr lang="en-US" altLang="zh-CN" sz="1050" dirty="0">
                  <a:solidFill>
                    <a:schemeClr val="bg1"/>
                  </a:solidFill>
                </a:rPr>
                <a:t>03</a:t>
              </a:r>
            </a:p>
            <a:p>
              <a:pPr algn="l"/>
              <a:r>
                <a:rPr lang="zh-CN" altLang="en-US" sz="900" dirty="0">
                  <a:solidFill>
                    <a:schemeClr val="bg1"/>
                  </a:solidFill>
                </a:rPr>
                <a:t>规划</a:t>
              </a:r>
            </a:p>
          </p:txBody>
        </p:sp>
        <p:sp>
          <p:nvSpPr>
            <p:cNvPr id="17" name="文本框 16">
              <a:extLst>
                <a:ext uri="{FF2B5EF4-FFF2-40B4-BE49-F238E27FC236}">
                  <a16:creationId xmlns:a16="http://schemas.microsoft.com/office/drawing/2014/main" id="{DEC1B381-727B-C880-4AF3-DC84786BA0E0}"/>
                </a:ext>
              </a:extLst>
            </p:cNvPr>
            <p:cNvSpPr txBox="1"/>
            <p:nvPr/>
          </p:nvSpPr>
          <p:spPr>
            <a:xfrm>
              <a:off x="3621024" y="2599442"/>
              <a:ext cx="415498" cy="392415"/>
            </a:xfrm>
            <a:prstGeom prst="rect">
              <a:avLst/>
            </a:prstGeom>
            <a:noFill/>
            <a:effectLst/>
          </p:spPr>
          <p:txBody>
            <a:bodyPr wrap="none" rtlCol="0">
              <a:spAutoFit/>
            </a:bodyPr>
            <a:lstStyle/>
            <a:p>
              <a:pPr algn="ctr"/>
              <a:r>
                <a:rPr lang="en-US" altLang="zh-CN" sz="1050" dirty="0">
                  <a:solidFill>
                    <a:schemeClr val="bg1"/>
                  </a:solidFill>
                </a:rPr>
                <a:t>02</a:t>
              </a:r>
            </a:p>
            <a:p>
              <a:pPr algn="ctr"/>
              <a:r>
                <a:rPr lang="zh-CN" altLang="en-US" sz="900" dirty="0">
                  <a:solidFill>
                    <a:schemeClr val="bg1"/>
                  </a:solidFill>
                </a:rPr>
                <a:t>评估</a:t>
              </a:r>
            </a:p>
          </p:txBody>
        </p:sp>
        <p:sp>
          <p:nvSpPr>
            <p:cNvPr id="18" name="文本框 17">
              <a:extLst>
                <a:ext uri="{FF2B5EF4-FFF2-40B4-BE49-F238E27FC236}">
                  <a16:creationId xmlns:a16="http://schemas.microsoft.com/office/drawing/2014/main" id="{C524EFEA-78F0-63AF-1B05-3CCDBBCCF9CC}"/>
                </a:ext>
              </a:extLst>
            </p:cNvPr>
            <p:cNvSpPr txBox="1"/>
            <p:nvPr/>
          </p:nvSpPr>
          <p:spPr>
            <a:xfrm>
              <a:off x="2335308" y="2776866"/>
              <a:ext cx="415498" cy="392415"/>
            </a:xfrm>
            <a:prstGeom prst="rect">
              <a:avLst/>
            </a:prstGeom>
            <a:noFill/>
            <a:effectLst/>
          </p:spPr>
          <p:txBody>
            <a:bodyPr wrap="none" rtlCol="0">
              <a:spAutoFit/>
            </a:bodyPr>
            <a:lstStyle/>
            <a:p>
              <a:pPr algn="ctr"/>
              <a:r>
                <a:rPr lang="en-US" altLang="zh-CN" sz="1050" dirty="0">
                  <a:solidFill>
                    <a:schemeClr val="bg1"/>
                  </a:solidFill>
                </a:rPr>
                <a:t>04</a:t>
              </a:r>
            </a:p>
            <a:p>
              <a:pPr algn="ctr"/>
              <a:r>
                <a:rPr lang="zh-CN" altLang="en-US" sz="900" dirty="0">
                  <a:solidFill>
                    <a:schemeClr val="bg1"/>
                  </a:solidFill>
                </a:rPr>
                <a:t>控制</a:t>
              </a:r>
            </a:p>
          </p:txBody>
        </p:sp>
        <p:pic>
          <p:nvPicPr>
            <p:cNvPr id="20" name="图形 19" descr="举起的手">
              <a:extLst>
                <a:ext uri="{FF2B5EF4-FFF2-40B4-BE49-F238E27FC236}">
                  <a16:creationId xmlns:a16="http://schemas.microsoft.com/office/drawing/2014/main" id="{7C10EAB1-DE1B-F728-767E-305A6426C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87572" y="2411160"/>
              <a:ext cx="360000" cy="360000"/>
            </a:xfrm>
            <a:prstGeom prst="rect">
              <a:avLst/>
            </a:prstGeom>
            <a:effectLst/>
          </p:spPr>
        </p:pic>
        <p:pic>
          <p:nvPicPr>
            <p:cNvPr id="21" name="图形 20" descr="正义天平">
              <a:extLst>
                <a:ext uri="{FF2B5EF4-FFF2-40B4-BE49-F238E27FC236}">
                  <a16:creationId xmlns:a16="http://schemas.microsoft.com/office/drawing/2014/main" id="{0FED59DF-A0C1-B19F-115A-FEE92BCCF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8772" y="2985653"/>
              <a:ext cx="360000" cy="360000"/>
            </a:xfrm>
            <a:prstGeom prst="rect">
              <a:avLst/>
            </a:prstGeom>
            <a:effectLst/>
          </p:spPr>
        </p:pic>
        <p:pic>
          <p:nvPicPr>
            <p:cNvPr id="22" name="图形 21" descr="研究">
              <a:extLst>
                <a:ext uri="{FF2B5EF4-FFF2-40B4-BE49-F238E27FC236}">
                  <a16:creationId xmlns:a16="http://schemas.microsoft.com/office/drawing/2014/main" id="{F3C1BD8E-003C-7F7F-484A-5BE9C8C2E3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14795" y="2055921"/>
              <a:ext cx="360000" cy="360000"/>
            </a:xfrm>
            <a:prstGeom prst="rect">
              <a:avLst/>
            </a:prstGeom>
            <a:effectLst/>
          </p:spPr>
        </p:pic>
        <p:pic>
          <p:nvPicPr>
            <p:cNvPr id="23" name="图形 22" descr="文档">
              <a:extLst>
                <a:ext uri="{FF2B5EF4-FFF2-40B4-BE49-F238E27FC236}">
                  <a16:creationId xmlns:a16="http://schemas.microsoft.com/office/drawing/2014/main" id="{078367E5-5D1D-06BC-EC1A-ECB94A0FD0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0301" y="3324731"/>
              <a:ext cx="360000" cy="360000"/>
            </a:xfrm>
            <a:prstGeom prst="rect">
              <a:avLst/>
            </a:prstGeom>
            <a:effectLst/>
          </p:spPr>
        </p:pic>
        <p:cxnSp>
          <p:nvCxnSpPr>
            <p:cNvPr id="3" name="直接箭头连接符 2">
              <a:extLst>
                <a:ext uri="{FF2B5EF4-FFF2-40B4-BE49-F238E27FC236}">
                  <a16:creationId xmlns:a16="http://schemas.microsoft.com/office/drawing/2014/main" id="{F3BAB111-C549-F3F0-843D-F26BF9BFC280}"/>
                </a:ext>
              </a:extLst>
            </p:cNvPr>
            <p:cNvCxnSpPr>
              <a:cxnSpLocks/>
              <a:stCxn id="5" idx="3"/>
              <a:endCxn id="4" idx="1"/>
            </p:cNvCxnSpPr>
            <p:nvPr/>
          </p:nvCxnSpPr>
          <p:spPr>
            <a:xfrm>
              <a:off x="3703012" y="1756191"/>
              <a:ext cx="2955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436BB48F-C695-3F1B-4579-41DBDD659B0D}"/>
                </a:ext>
              </a:extLst>
            </p:cNvPr>
            <p:cNvSpPr txBox="1"/>
            <p:nvPr/>
          </p:nvSpPr>
          <p:spPr>
            <a:xfrm>
              <a:off x="3998562" y="1648469"/>
              <a:ext cx="800219" cy="215444"/>
            </a:xfrm>
            <a:prstGeom prst="rect">
              <a:avLst/>
            </a:prstGeom>
            <a:noFill/>
          </p:spPr>
          <p:txBody>
            <a:bodyPr wrap="none" rtlCol="0">
              <a:spAutoFit/>
            </a:bodyPr>
            <a:lstStyle/>
            <a:p>
              <a:pPr algn="l"/>
              <a:r>
                <a:rPr lang="zh-CN" altLang="en-US" sz="800" dirty="0"/>
                <a:t>风险识别列表</a:t>
              </a:r>
            </a:p>
          </p:txBody>
        </p:sp>
        <p:sp>
          <p:nvSpPr>
            <p:cNvPr id="5" name="文本框 4">
              <a:extLst>
                <a:ext uri="{FF2B5EF4-FFF2-40B4-BE49-F238E27FC236}">
                  <a16:creationId xmlns:a16="http://schemas.microsoft.com/office/drawing/2014/main" id="{0659BEE5-6400-6585-4D95-E07AF324D2E9}"/>
                </a:ext>
              </a:extLst>
            </p:cNvPr>
            <p:cNvSpPr txBox="1"/>
            <p:nvPr/>
          </p:nvSpPr>
          <p:spPr>
            <a:xfrm>
              <a:off x="2800201" y="1648469"/>
              <a:ext cx="902811" cy="215444"/>
            </a:xfrm>
            <a:prstGeom prst="rect">
              <a:avLst/>
            </a:prstGeom>
            <a:noFill/>
          </p:spPr>
          <p:txBody>
            <a:bodyPr wrap="none" rtlCol="0">
              <a:spAutoFit/>
            </a:bodyPr>
            <a:lstStyle/>
            <a:p>
              <a:pPr algn="l"/>
              <a:r>
                <a:rPr lang="zh-CN" altLang="en-US" sz="800" dirty="0"/>
                <a:t>风险条目检查表</a:t>
              </a:r>
            </a:p>
          </p:txBody>
        </p:sp>
        <p:sp>
          <p:nvSpPr>
            <p:cNvPr id="9" name="文本框 8">
              <a:extLst>
                <a:ext uri="{FF2B5EF4-FFF2-40B4-BE49-F238E27FC236}">
                  <a16:creationId xmlns:a16="http://schemas.microsoft.com/office/drawing/2014/main" id="{3FA73866-FE10-9C7F-552E-647514251700}"/>
                </a:ext>
              </a:extLst>
            </p:cNvPr>
            <p:cNvSpPr txBox="1"/>
            <p:nvPr/>
          </p:nvSpPr>
          <p:spPr>
            <a:xfrm>
              <a:off x="4244783" y="2488800"/>
              <a:ext cx="307777" cy="605294"/>
            </a:xfrm>
            <a:prstGeom prst="rect">
              <a:avLst/>
            </a:prstGeom>
            <a:noFill/>
          </p:spPr>
          <p:txBody>
            <a:bodyPr vert="eaVert" wrap="none" rtlCol="0">
              <a:spAutoFit/>
            </a:bodyPr>
            <a:lstStyle/>
            <a:p>
              <a:pPr algn="l"/>
              <a:r>
                <a:rPr lang="zh-CN" altLang="en-US" sz="800" dirty="0"/>
                <a:t>风险登记册</a:t>
              </a:r>
            </a:p>
          </p:txBody>
        </p:sp>
        <p:cxnSp>
          <p:nvCxnSpPr>
            <p:cNvPr id="19" name="直接箭头连接符 18">
              <a:extLst>
                <a:ext uri="{FF2B5EF4-FFF2-40B4-BE49-F238E27FC236}">
                  <a16:creationId xmlns:a16="http://schemas.microsoft.com/office/drawing/2014/main" id="{AA086D34-F3CE-51DE-E5D8-08E2D73B5467}"/>
                </a:ext>
              </a:extLst>
            </p:cNvPr>
            <p:cNvCxnSpPr>
              <a:stCxn id="4" idx="2"/>
              <a:endCxn id="9" idx="0"/>
            </p:cNvCxnSpPr>
            <p:nvPr/>
          </p:nvCxnSpPr>
          <p:spPr>
            <a:xfrm>
              <a:off x="4398672" y="1863913"/>
              <a:ext cx="0" cy="6248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439934"/>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CBD56-19FF-9089-0BC6-D66EE27FF2E0}"/>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3" name="内容占位符 2">
            <a:extLst>
              <a:ext uri="{FF2B5EF4-FFF2-40B4-BE49-F238E27FC236}">
                <a16:creationId xmlns:a16="http://schemas.microsoft.com/office/drawing/2014/main" id="{2C35BC6B-ADB4-3964-3015-BE3161DBBCA9}"/>
              </a:ext>
            </a:extLst>
          </p:cNvPr>
          <p:cNvSpPr>
            <a:spLocks noGrp="1"/>
          </p:cNvSpPr>
          <p:nvPr>
            <p:ph idx="1"/>
          </p:nvPr>
        </p:nvSpPr>
        <p:spPr>
          <a:xfrm>
            <a:off x="694800" y="1338697"/>
            <a:ext cx="10800000" cy="4925303"/>
          </a:xfrm>
        </p:spPr>
        <p:txBody>
          <a:bodyPr/>
          <a:lstStyle/>
          <a:p>
            <a:r>
              <a:rPr lang="zh-CN" altLang="en-US" dirty="0"/>
              <a:t>德尔菲方法</a:t>
            </a:r>
          </a:p>
          <a:p>
            <a:r>
              <a:rPr lang="zh-CN" altLang="en-US" dirty="0"/>
              <a:t>头脑风暴法</a:t>
            </a:r>
          </a:p>
          <a:p>
            <a:r>
              <a:rPr lang="zh-CN" altLang="en-US" dirty="0"/>
              <a:t>情景分析法</a:t>
            </a:r>
          </a:p>
          <a:p>
            <a:r>
              <a:rPr lang="zh-CN" altLang="en-US" dirty="0"/>
              <a:t>利用风险条目检查表</a:t>
            </a:r>
          </a:p>
          <a:p>
            <a:endParaRPr lang="zh-CN" altLang="en-US" dirty="0"/>
          </a:p>
        </p:txBody>
      </p:sp>
      <p:sp>
        <p:nvSpPr>
          <p:cNvPr id="17" name="文本占位符 16">
            <a:extLst>
              <a:ext uri="{FF2B5EF4-FFF2-40B4-BE49-F238E27FC236}">
                <a16:creationId xmlns:a16="http://schemas.microsoft.com/office/drawing/2014/main" id="{92AF83AC-1F6D-7630-1A42-7737153EE922}"/>
              </a:ext>
            </a:extLst>
          </p:cNvPr>
          <p:cNvSpPr>
            <a:spLocks noGrp="1"/>
          </p:cNvSpPr>
          <p:nvPr>
            <p:ph type="body" sz="quarter" idx="10"/>
          </p:nvPr>
        </p:nvSpPr>
        <p:spPr/>
        <p:txBody>
          <a:bodyPr/>
          <a:lstStyle/>
          <a:p>
            <a:endParaRPr lang="zh-CN" altLang="en-US"/>
          </a:p>
        </p:txBody>
      </p:sp>
      <p:sp>
        <p:nvSpPr>
          <p:cNvPr id="8" name="文本占位符 7">
            <a:extLst>
              <a:ext uri="{FF2B5EF4-FFF2-40B4-BE49-F238E27FC236}">
                <a16:creationId xmlns:a16="http://schemas.microsoft.com/office/drawing/2014/main" id="{4EDF09F4-12B7-0B92-AF7F-747128505191}"/>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方法</a:t>
            </a:r>
          </a:p>
        </p:txBody>
      </p:sp>
    </p:spTree>
    <p:extLst>
      <p:ext uri="{BB962C8B-B14F-4D97-AF65-F5344CB8AC3E}">
        <p14:creationId xmlns:p14="http://schemas.microsoft.com/office/powerpoint/2010/main" val="2701871628"/>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70D3BA0-53C4-CF3D-7039-9B1957D2AC81}"/>
              </a:ext>
            </a:extLst>
          </p:cNvPr>
          <p:cNvGraphicFramePr>
            <a:graphicFrameLocks noGrp="1"/>
          </p:cNvGraphicFramePr>
          <p:nvPr>
            <p:extLst>
              <p:ext uri="{D42A27DB-BD31-4B8C-83A1-F6EECF244321}">
                <p14:modId xmlns:p14="http://schemas.microsoft.com/office/powerpoint/2010/main" val="1793780672"/>
              </p:ext>
            </p:extLst>
          </p:nvPr>
        </p:nvGraphicFramePr>
        <p:xfrm>
          <a:off x="695325" y="1689417"/>
          <a:ext cx="10801350" cy="3383280"/>
        </p:xfrm>
        <a:graphic>
          <a:graphicData uri="http://schemas.openxmlformats.org/drawingml/2006/table">
            <a:tbl>
              <a:tblPr/>
              <a:tblGrid>
                <a:gridCol w="1800225">
                  <a:extLst>
                    <a:ext uri="{9D8B030D-6E8A-4147-A177-3AD203B41FA5}">
                      <a16:colId xmlns:a16="http://schemas.microsoft.com/office/drawing/2014/main" val="3028410848"/>
                    </a:ext>
                  </a:extLst>
                </a:gridCol>
                <a:gridCol w="1800225">
                  <a:extLst>
                    <a:ext uri="{9D8B030D-6E8A-4147-A177-3AD203B41FA5}">
                      <a16:colId xmlns:a16="http://schemas.microsoft.com/office/drawing/2014/main" val="576044700"/>
                    </a:ext>
                  </a:extLst>
                </a:gridCol>
                <a:gridCol w="1800225">
                  <a:extLst>
                    <a:ext uri="{9D8B030D-6E8A-4147-A177-3AD203B41FA5}">
                      <a16:colId xmlns:a16="http://schemas.microsoft.com/office/drawing/2014/main" val="373813112"/>
                    </a:ext>
                  </a:extLst>
                </a:gridCol>
                <a:gridCol w="1800225">
                  <a:extLst>
                    <a:ext uri="{9D8B030D-6E8A-4147-A177-3AD203B41FA5}">
                      <a16:colId xmlns:a16="http://schemas.microsoft.com/office/drawing/2014/main" val="1602315988"/>
                    </a:ext>
                  </a:extLst>
                </a:gridCol>
                <a:gridCol w="1800225">
                  <a:extLst>
                    <a:ext uri="{9D8B030D-6E8A-4147-A177-3AD203B41FA5}">
                      <a16:colId xmlns:a16="http://schemas.microsoft.com/office/drawing/2014/main" val="1800082254"/>
                    </a:ext>
                  </a:extLst>
                </a:gridCol>
                <a:gridCol w="1800225">
                  <a:extLst>
                    <a:ext uri="{9D8B030D-6E8A-4147-A177-3AD203B41FA5}">
                      <a16:colId xmlns:a16="http://schemas.microsoft.com/office/drawing/2014/main" val="1545570066"/>
                    </a:ext>
                  </a:extLst>
                </a:gridCol>
              </a:tblGrid>
              <a:tr h="0">
                <a:tc>
                  <a:txBody>
                    <a:bodyPr/>
                    <a:lstStyle/>
                    <a:p>
                      <a:pPr algn="l">
                        <a:buNone/>
                      </a:pPr>
                      <a:r>
                        <a:rPr lang="zh-CN" sz="1600"/>
                        <a:t>序号</a:t>
                      </a:r>
                    </a:p>
                  </a:txBody>
                  <a:tcPr anchor="ctr">
                    <a:lnL>
                      <a:noFill/>
                    </a:lnL>
                    <a:lnR>
                      <a:noFill/>
                    </a:lnR>
                    <a:lnT>
                      <a:noFill/>
                    </a:lnT>
                    <a:lnB>
                      <a:noFill/>
                    </a:lnB>
                    <a:noFill/>
                  </a:tcPr>
                </a:tc>
                <a:tc>
                  <a:txBody>
                    <a:bodyPr/>
                    <a:lstStyle/>
                    <a:p>
                      <a:pPr algn="l">
                        <a:buNone/>
                      </a:pPr>
                      <a:r>
                        <a:rPr lang="zh-CN" sz="1600" dirty="0"/>
                        <a:t>风险类别</a:t>
                      </a:r>
                    </a:p>
                  </a:txBody>
                  <a:tcPr anchor="ctr">
                    <a:lnL>
                      <a:noFill/>
                    </a:lnL>
                    <a:lnR>
                      <a:noFill/>
                    </a:lnR>
                    <a:lnT>
                      <a:noFill/>
                    </a:lnT>
                    <a:lnB>
                      <a:noFill/>
                    </a:lnB>
                    <a:noFill/>
                  </a:tcPr>
                </a:tc>
                <a:tc>
                  <a:txBody>
                    <a:bodyPr/>
                    <a:lstStyle/>
                    <a:p>
                      <a:pPr algn="l">
                        <a:buNone/>
                      </a:pPr>
                      <a:r>
                        <a:rPr lang="zh-CN" sz="1600"/>
                        <a:t>检查条目（问题）</a:t>
                      </a:r>
                    </a:p>
                  </a:txBody>
                  <a:tcPr anchor="ctr">
                    <a:lnL>
                      <a:noFill/>
                    </a:lnL>
                    <a:lnR>
                      <a:noFill/>
                    </a:lnR>
                    <a:lnT>
                      <a:noFill/>
                    </a:lnT>
                    <a:lnB>
                      <a:noFill/>
                    </a:lnB>
                    <a:noFill/>
                  </a:tcPr>
                </a:tc>
                <a:tc>
                  <a:txBody>
                    <a:bodyPr/>
                    <a:lstStyle/>
                    <a:p>
                      <a:pPr algn="l">
                        <a:buNone/>
                      </a:pPr>
                      <a:r>
                        <a:rPr lang="zh-CN" sz="1600"/>
                        <a:t>检查结果</a:t>
                      </a:r>
                    </a:p>
                  </a:txBody>
                  <a:tcPr anchor="ctr">
                    <a:lnL>
                      <a:noFill/>
                    </a:lnL>
                    <a:lnR>
                      <a:noFill/>
                    </a:lnR>
                    <a:lnT>
                      <a:noFill/>
                    </a:lnT>
                    <a:lnB>
                      <a:noFill/>
                    </a:lnB>
                    <a:noFill/>
                  </a:tcPr>
                </a:tc>
                <a:tc>
                  <a:txBody>
                    <a:bodyPr/>
                    <a:lstStyle/>
                    <a:p>
                      <a:pPr algn="l">
                        <a:buNone/>
                      </a:pPr>
                      <a:r>
                        <a:rPr lang="zh-CN" sz="1600"/>
                        <a:t>风险等级</a:t>
                      </a:r>
                    </a:p>
                  </a:txBody>
                  <a:tcPr anchor="ctr">
                    <a:lnL>
                      <a:noFill/>
                    </a:lnL>
                    <a:lnR>
                      <a:noFill/>
                    </a:lnR>
                    <a:lnT>
                      <a:noFill/>
                    </a:lnT>
                    <a:lnB>
                      <a:noFill/>
                    </a:lnB>
                    <a:noFill/>
                  </a:tcPr>
                </a:tc>
                <a:tc>
                  <a:txBody>
                    <a:bodyPr/>
                    <a:lstStyle/>
                    <a:p>
                      <a:pPr algn="l">
                        <a:buNone/>
                      </a:pPr>
                      <a:r>
                        <a:rPr lang="zh-CN" sz="1600"/>
                        <a:t>应对措施/备注</a:t>
                      </a:r>
                    </a:p>
                  </a:txBody>
                  <a:tcPr anchor="ctr">
                    <a:lnL>
                      <a:noFill/>
                    </a:lnL>
                    <a:lnR>
                      <a:noFill/>
                    </a:lnR>
                    <a:lnT>
                      <a:noFill/>
                    </a:lnT>
                    <a:lnB>
                      <a:noFill/>
                    </a:lnB>
                    <a:noFill/>
                  </a:tcPr>
                </a:tc>
                <a:extLst>
                  <a:ext uri="{0D108BD9-81ED-4DB2-BD59-A6C34878D82A}">
                    <a16:rowId xmlns:a16="http://schemas.microsoft.com/office/drawing/2014/main" val="3626170179"/>
                  </a:ext>
                </a:extLst>
              </a:tr>
              <a:tr h="0">
                <a:tc>
                  <a:txBody>
                    <a:bodyPr/>
                    <a:lstStyle/>
                    <a:p>
                      <a:pPr algn="l">
                        <a:buNone/>
                      </a:pPr>
                      <a:r>
                        <a:rPr lang="zh-CN" sz="1600"/>
                        <a:t>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核心需求是否已获客户签字确认？</a:t>
                      </a:r>
                    </a:p>
                  </a:txBody>
                  <a:tcPr anchor="ctr">
                    <a:lnL>
                      <a:noFill/>
                    </a:lnL>
                    <a:lnR>
                      <a:noFill/>
                    </a:lnR>
                    <a:lnT>
                      <a:noFill/>
                    </a:lnT>
                    <a:lnB>
                      <a:noFill/>
                    </a:lnB>
                    <a:noFill/>
                  </a:tcPr>
                </a:tc>
                <a:tc>
                  <a:txBody>
                    <a:bodyPr/>
                    <a:lstStyle/>
                    <a:p>
                      <a:pPr algn="l">
                        <a:buNone/>
                      </a:pPr>
                      <a:r>
                        <a:rPr lang="zh-CN" sz="1600"/>
                        <a:t>❌ 否</a:t>
                      </a:r>
                    </a:p>
                  </a:txBody>
                  <a:tcPr anchor="ctr">
                    <a:lnL>
                      <a:noFill/>
                    </a:lnL>
                    <a:lnR>
                      <a:noFill/>
                    </a:lnR>
                    <a:lnT>
                      <a:noFill/>
                    </a:lnT>
                    <a:lnB>
                      <a:noFill/>
                    </a:lnB>
                    <a:noFill/>
                  </a:tcPr>
                </a:tc>
                <a:tc>
                  <a:txBody>
                    <a:bodyPr/>
                    <a:lstStyle/>
                    <a:p>
                      <a:pPr algn="l">
                        <a:buNone/>
                      </a:pPr>
                      <a:r>
                        <a:rPr lang="zh-CN" sz="1600"/>
                        <a:t>高</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3441088212"/>
                  </a:ext>
                </a:extLst>
              </a:tr>
              <a:tr h="0">
                <a:tc>
                  <a:txBody>
                    <a:bodyPr/>
                    <a:lstStyle/>
                    <a:p>
                      <a:pPr algn="l">
                        <a:buNone/>
                      </a:pPr>
                      <a:r>
                        <a:rPr lang="zh-CN" sz="1600"/>
                        <a:t>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团队是否掌握项目所需的关键技术？</a:t>
                      </a:r>
                    </a:p>
                  </a:txBody>
                  <a:tcPr anchor="ctr">
                    <a:lnL>
                      <a:noFill/>
                    </a:lnL>
                    <a:lnR>
                      <a:noFill/>
                    </a:lnR>
                    <a:lnT>
                      <a:noFill/>
                    </a:lnT>
                    <a:lnB>
                      <a:noFill/>
                    </a:lnB>
                    <a:noFill/>
                  </a:tcPr>
                </a:tc>
                <a:tc>
                  <a:txBody>
                    <a:bodyPr/>
                    <a:lstStyle/>
                    <a:p>
                      <a:pPr algn="l">
                        <a:buNone/>
                      </a:pPr>
                      <a:r>
                        <a:rPr lang="zh-CN" sz="1600"/>
                        <a:t>⚠️ 部分</a:t>
                      </a:r>
                    </a:p>
                  </a:txBody>
                  <a:tcPr anchor="ctr">
                    <a:lnL>
                      <a:noFill/>
                    </a:lnL>
                    <a:lnR>
                      <a:noFill/>
                    </a:lnR>
                    <a:lnT>
                      <a:noFill/>
                    </a:lnT>
                    <a:lnB>
                      <a:noFill/>
                    </a:lnB>
                    <a:noFill/>
                  </a:tcPr>
                </a:tc>
                <a:tc>
                  <a:txBody>
                    <a:bodyPr/>
                    <a:lstStyle/>
                    <a:p>
                      <a:pPr algn="l">
                        <a:buNone/>
                      </a:pPr>
                      <a:r>
                        <a:rPr lang="zh-CN" sz="1600"/>
                        <a:t>中</a:t>
                      </a:r>
                    </a:p>
                  </a:txBody>
                  <a:tcPr anchor="ctr">
                    <a:lnL>
                      <a:noFill/>
                    </a:lnL>
                    <a:lnR>
                      <a:noFill/>
                    </a:lnR>
                    <a:lnT>
                      <a:noFill/>
                    </a:lnT>
                    <a:lnB>
                      <a:noFill/>
                    </a:lnB>
                    <a:noFill/>
                  </a:tcPr>
                </a:tc>
                <a:tc>
                  <a:txBody>
                    <a:bodyPr/>
                    <a:lstStyle/>
                    <a:p>
                      <a:pPr algn="l">
                        <a:buNone/>
                      </a:pPr>
                      <a:r>
                        <a:rPr lang="zh-CN" sz="1600"/>
                        <a:t>2名核心成员不熟悉新框架，需安排3天培训。</a:t>
                      </a:r>
                    </a:p>
                  </a:txBody>
                  <a:tcPr anchor="ctr">
                    <a:lnL>
                      <a:noFill/>
                    </a:lnL>
                    <a:lnR>
                      <a:noFill/>
                    </a:lnR>
                    <a:lnT>
                      <a:noFill/>
                    </a:lnT>
                    <a:lnB>
                      <a:noFill/>
                    </a:lnB>
                    <a:noFill/>
                  </a:tcPr>
                </a:tc>
                <a:extLst>
                  <a:ext uri="{0D108BD9-81ED-4DB2-BD59-A6C34878D82A}">
                    <a16:rowId xmlns:a16="http://schemas.microsoft.com/office/drawing/2014/main" val="3033803444"/>
                  </a:ext>
                </a:extLst>
              </a:tr>
              <a:tr h="0">
                <a:tc>
                  <a:txBody>
                    <a:bodyPr/>
                    <a:lstStyle/>
                    <a:p>
                      <a:pPr algn="l">
                        <a:buNone/>
                      </a:pPr>
                      <a:r>
                        <a:rPr lang="zh-CN" sz="1600"/>
                        <a:t>3</a:t>
                      </a:r>
                    </a:p>
                  </a:txBody>
                  <a:tcPr anchor="ctr">
                    <a:lnL>
                      <a:noFill/>
                    </a:lnL>
                    <a:lnR>
                      <a:noFill/>
                    </a:lnR>
                    <a:lnT>
                      <a:noFill/>
                    </a:lnT>
                    <a:lnB>
                      <a:noFill/>
                    </a:lnB>
                    <a:noFill/>
                  </a:tcPr>
                </a:tc>
                <a:tc>
                  <a:txBody>
                    <a:bodyPr/>
                    <a:lstStyle/>
                    <a:p>
                      <a:pPr algn="l">
                        <a:buNone/>
                      </a:pPr>
                      <a:r>
                        <a:rPr lang="zh-CN" sz="1600"/>
                        <a:t>外部依赖</a:t>
                      </a:r>
                    </a:p>
                  </a:txBody>
                  <a:tcPr anchor="ctr">
                    <a:lnL>
                      <a:noFill/>
                    </a:lnL>
                    <a:lnR>
                      <a:noFill/>
                    </a:lnR>
                    <a:lnT>
                      <a:noFill/>
                    </a:lnT>
                    <a:lnB>
                      <a:noFill/>
                    </a:lnB>
                    <a:noFill/>
                  </a:tcPr>
                </a:tc>
                <a:tc>
                  <a:txBody>
                    <a:bodyPr/>
                    <a:lstStyle/>
                    <a:p>
                      <a:pPr algn="l">
                        <a:buNone/>
                      </a:pPr>
                      <a:r>
                        <a:rPr lang="zh-CN" sz="1600"/>
                        <a:t>第三方API接口文档是否已就绪？</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无</a:t>
                      </a:r>
                    </a:p>
                  </a:txBody>
                  <a:tcPr anchor="ctr">
                    <a:lnL>
                      <a:noFill/>
                    </a:lnL>
                    <a:lnR>
                      <a:noFill/>
                    </a:lnR>
                    <a:lnT>
                      <a:noFill/>
                    </a:lnT>
                    <a:lnB>
                      <a:noFill/>
                    </a:lnB>
                    <a:noFill/>
                  </a:tcPr>
                </a:tc>
                <a:tc>
                  <a:txBody>
                    <a:bodyPr/>
                    <a:lstStyle/>
                    <a:p>
                      <a:pPr algn="l">
                        <a:buNone/>
                      </a:pPr>
                      <a:r>
                        <a:rPr lang="zh-CN" sz="1600"/>
                        <a:t>无需额外操作。</a:t>
                      </a:r>
                    </a:p>
                  </a:txBody>
                  <a:tcPr anchor="ctr">
                    <a:lnL>
                      <a:noFill/>
                    </a:lnL>
                    <a:lnR>
                      <a:noFill/>
                    </a:lnR>
                    <a:lnT>
                      <a:noFill/>
                    </a:lnT>
                    <a:lnB>
                      <a:noFill/>
                    </a:lnB>
                    <a:noFill/>
                  </a:tcPr>
                </a:tc>
                <a:extLst>
                  <a:ext uri="{0D108BD9-81ED-4DB2-BD59-A6C34878D82A}">
                    <a16:rowId xmlns:a16="http://schemas.microsoft.com/office/drawing/2014/main" val="351538451"/>
                  </a:ext>
                </a:extLst>
              </a:tr>
              <a:tr h="0">
                <a:tc>
                  <a:txBody>
                    <a:bodyPr/>
                    <a:lstStyle/>
                    <a:p>
                      <a:pPr algn="l">
                        <a:buNone/>
                      </a:pPr>
                      <a:r>
                        <a:rPr lang="zh-CN" sz="1600"/>
                        <a:t>4</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关键人员（如架构师）近期是否有休假计划？</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低</a:t>
                      </a:r>
                    </a:p>
                  </a:txBody>
                  <a:tcPr anchor="ctr">
                    <a:lnL>
                      <a:noFill/>
                    </a:lnL>
                    <a:lnR>
                      <a:noFill/>
                    </a:lnR>
                    <a:lnT>
                      <a:noFill/>
                    </a:lnT>
                    <a:lnB>
                      <a:noFill/>
                    </a:lnB>
                    <a:noFill/>
                  </a:tcPr>
                </a:tc>
                <a:tc>
                  <a:txBody>
                    <a:bodyPr/>
                    <a:lstStyle/>
                    <a:p>
                      <a:pPr algn="l">
                        <a:buNone/>
                      </a:pPr>
                      <a:r>
                        <a:rPr lang="zh-CN" sz="1600" dirty="0"/>
                        <a:t>已确认休假时间，已安排备份人员。</a:t>
                      </a:r>
                    </a:p>
                  </a:txBody>
                  <a:tcPr anchor="ctr">
                    <a:lnL>
                      <a:noFill/>
                    </a:lnL>
                    <a:lnR>
                      <a:noFill/>
                    </a:lnR>
                    <a:lnT>
                      <a:noFill/>
                    </a:lnT>
                    <a:lnB>
                      <a:noFill/>
                    </a:lnB>
                    <a:noFill/>
                  </a:tcPr>
                </a:tc>
                <a:extLst>
                  <a:ext uri="{0D108BD9-81ED-4DB2-BD59-A6C34878D82A}">
                    <a16:rowId xmlns:a16="http://schemas.microsoft.com/office/drawing/2014/main" val="3032071217"/>
                  </a:ext>
                </a:extLst>
              </a:tr>
            </a:tbl>
          </a:graphicData>
        </a:graphic>
      </p:graphicFrame>
    </p:spTree>
    <p:extLst>
      <p:ext uri="{BB962C8B-B14F-4D97-AF65-F5344CB8AC3E}">
        <p14:creationId xmlns:p14="http://schemas.microsoft.com/office/powerpoint/2010/main" val="91718223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B6F5-B284-5873-B4DB-890A2E9F944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5FCAFB7-9FD6-5FB3-13EE-C002392ED8EE}"/>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9" name="内容占位符 8">
            <a:extLst>
              <a:ext uri="{FF2B5EF4-FFF2-40B4-BE49-F238E27FC236}">
                <a16:creationId xmlns:a16="http://schemas.microsoft.com/office/drawing/2014/main" id="{F37E2B22-EE0B-D5D4-1782-2F6A0E7FB0F5}"/>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961CCFE8-912F-32EA-4291-10F86FF4F61E}"/>
              </a:ext>
            </a:extLst>
          </p:cNvPr>
          <p:cNvSpPr>
            <a:spLocks noGrp="1"/>
          </p:cNvSpPr>
          <p:nvPr>
            <p:ph type="body" sz="quarter" idx="10"/>
          </p:nvPr>
        </p:nvSpPr>
        <p:spPr/>
        <p:txBody>
          <a:bodyPr/>
          <a:lstStyle/>
          <a:p>
            <a:endParaRPr lang="zh-CN" altLang="en-US"/>
          </a:p>
        </p:txBody>
      </p:sp>
      <p:sp>
        <p:nvSpPr>
          <p:cNvPr id="5" name="文本占位符 4">
            <a:extLst>
              <a:ext uri="{FF2B5EF4-FFF2-40B4-BE49-F238E27FC236}">
                <a16:creationId xmlns:a16="http://schemas.microsoft.com/office/drawing/2014/main" id="{3CEF3389-BC55-D915-4831-919C658B7E07}"/>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结果</a:t>
            </a:r>
          </a:p>
        </p:txBody>
      </p:sp>
      <p:graphicFrame>
        <p:nvGraphicFramePr>
          <p:cNvPr id="4" name="表格 3">
            <a:extLst>
              <a:ext uri="{FF2B5EF4-FFF2-40B4-BE49-F238E27FC236}">
                <a16:creationId xmlns:a16="http://schemas.microsoft.com/office/drawing/2014/main" id="{AAF654B2-7489-8700-883E-B34DB2517B3F}"/>
              </a:ext>
            </a:extLst>
          </p:cNvPr>
          <p:cNvGraphicFramePr>
            <a:graphicFrameLocks noGrp="1"/>
          </p:cNvGraphicFramePr>
          <p:nvPr>
            <p:extLst>
              <p:ext uri="{D42A27DB-BD31-4B8C-83A1-F6EECF244321}">
                <p14:modId xmlns:p14="http://schemas.microsoft.com/office/powerpoint/2010/main" val="4263579897"/>
              </p:ext>
            </p:extLst>
          </p:nvPr>
        </p:nvGraphicFramePr>
        <p:xfrm>
          <a:off x="695326" y="2121217"/>
          <a:ext cx="10801348" cy="2804160"/>
        </p:xfrm>
        <a:graphic>
          <a:graphicData uri="http://schemas.openxmlformats.org/drawingml/2006/table">
            <a:tbl>
              <a:tblPr/>
              <a:tblGrid>
                <a:gridCol w="1362074">
                  <a:extLst>
                    <a:ext uri="{9D8B030D-6E8A-4147-A177-3AD203B41FA5}">
                      <a16:colId xmlns:a16="http://schemas.microsoft.com/office/drawing/2014/main" val="143545157"/>
                    </a:ext>
                  </a:extLst>
                </a:gridCol>
                <a:gridCol w="1718733">
                  <a:extLst>
                    <a:ext uri="{9D8B030D-6E8A-4147-A177-3AD203B41FA5}">
                      <a16:colId xmlns:a16="http://schemas.microsoft.com/office/drawing/2014/main" val="298216457"/>
                    </a:ext>
                  </a:extLst>
                </a:gridCol>
                <a:gridCol w="5020204">
                  <a:extLst>
                    <a:ext uri="{9D8B030D-6E8A-4147-A177-3AD203B41FA5}">
                      <a16:colId xmlns:a16="http://schemas.microsoft.com/office/drawing/2014/main" val="2948974028"/>
                    </a:ext>
                  </a:extLst>
                </a:gridCol>
                <a:gridCol w="2700337">
                  <a:extLst>
                    <a:ext uri="{9D8B030D-6E8A-4147-A177-3AD203B41FA5}">
                      <a16:colId xmlns:a16="http://schemas.microsoft.com/office/drawing/2014/main" val="3893355148"/>
                    </a:ext>
                  </a:extLst>
                </a:gridCol>
              </a:tblGrid>
              <a:tr h="197154">
                <a:tc>
                  <a:txBody>
                    <a:bodyPr/>
                    <a:lstStyle/>
                    <a:p>
                      <a:pPr algn="l">
                        <a:buNone/>
                      </a:pPr>
                      <a:r>
                        <a:rPr lang="zh-CN" sz="1600"/>
                        <a:t>风险编号</a:t>
                      </a:r>
                    </a:p>
                  </a:txBody>
                  <a:tcPr anchor="ctr">
                    <a:lnL>
                      <a:noFill/>
                    </a:lnL>
                    <a:lnR>
                      <a:noFill/>
                    </a:lnR>
                    <a:lnT>
                      <a:noFill/>
                    </a:lnT>
                    <a:lnB>
                      <a:noFill/>
                    </a:lnB>
                    <a:noFill/>
                  </a:tcPr>
                </a:tc>
                <a:tc>
                  <a:txBody>
                    <a:bodyPr/>
                    <a:lstStyle/>
                    <a:p>
                      <a:pPr algn="l">
                        <a:buNone/>
                      </a:pPr>
                      <a:r>
                        <a:rPr lang="zh-CN" sz="1600"/>
                        <a:t>风险类别</a:t>
                      </a:r>
                    </a:p>
                  </a:txBody>
                  <a:tcPr anchor="ctr">
                    <a:lnL>
                      <a:noFill/>
                    </a:lnL>
                    <a:lnR>
                      <a:noFill/>
                    </a:lnR>
                    <a:lnT>
                      <a:noFill/>
                    </a:lnT>
                    <a:lnB>
                      <a:noFill/>
                    </a:lnB>
                    <a:noFill/>
                  </a:tcPr>
                </a:tc>
                <a:tc>
                  <a:txBody>
                    <a:bodyPr/>
                    <a:lstStyle/>
                    <a:p>
                      <a:pPr algn="l">
                        <a:buNone/>
                      </a:pPr>
                      <a:r>
                        <a:rPr lang="zh-CN" sz="1600"/>
                        <a:t>风险描述</a:t>
                      </a:r>
                    </a:p>
                  </a:txBody>
                  <a:tcPr anchor="ctr">
                    <a:lnL>
                      <a:noFill/>
                    </a:lnL>
                    <a:lnR>
                      <a:noFill/>
                    </a:lnR>
                    <a:lnT>
                      <a:noFill/>
                    </a:lnT>
                    <a:lnB>
                      <a:noFill/>
                    </a:lnB>
                    <a:noFill/>
                  </a:tcPr>
                </a:tc>
                <a:tc>
                  <a:txBody>
                    <a:bodyPr/>
                    <a:lstStyle/>
                    <a:p>
                      <a:pPr algn="l">
                        <a:buNone/>
                      </a:pPr>
                      <a:r>
                        <a:rPr lang="zh-CN" sz="1600"/>
                        <a:t>潜在应对措施</a:t>
                      </a:r>
                    </a:p>
                  </a:txBody>
                  <a:tcPr anchor="ctr">
                    <a:lnL>
                      <a:noFill/>
                    </a:lnL>
                    <a:lnR>
                      <a:noFill/>
                    </a:lnR>
                    <a:lnT>
                      <a:noFill/>
                    </a:lnT>
                    <a:lnB>
                      <a:noFill/>
                    </a:lnB>
                    <a:noFill/>
                  </a:tcPr>
                </a:tc>
                <a:extLst>
                  <a:ext uri="{0D108BD9-81ED-4DB2-BD59-A6C34878D82A}">
                    <a16:rowId xmlns:a16="http://schemas.microsoft.com/office/drawing/2014/main" val="3512697006"/>
                  </a:ext>
                </a:extLst>
              </a:tr>
              <a:tr h="821356">
                <a:tc>
                  <a:txBody>
                    <a:bodyPr/>
                    <a:lstStyle/>
                    <a:p>
                      <a:pPr algn="l">
                        <a:buNone/>
                      </a:pPr>
                      <a:r>
                        <a:rPr lang="zh-CN" sz="1600" dirty="0"/>
                        <a:t>RISK-001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核心需求尚未获得客户签字确认。</a:t>
                      </a:r>
                      <a:br>
                        <a:rPr lang="zh-CN" sz="1600"/>
                      </a:br>
                      <a:r>
                        <a:rPr lang="zh-CN" sz="1600"/>
                        <a:t>目前项目核心需求处于未锁定状态，若后续需求发生重大变更，可能导致开发返工或进度延误。</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498592807"/>
                  </a:ext>
                </a:extLst>
              </a:tr>
              <a:tr h="691668">
                <a:tc>
                  <a:txBody>
                    <a:bodyPr/>
                    <a:lstStyle/>
                    <a:p>
                      <a:pPr algn="l">
                        <a:buNone/>
                      </a:pPr>
                      <a:r>
                        <a:rPr lang="zh-CN" sz="1600"/>
                        <a:t>RISK-002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团队对关键技术掌握不足。</a:t>
                      </a:r>
                      <a:br>
                        <a:rPr lang="zh-CN" sz="1600"/>
                      </a:br>
                      <a:r>
                        <a:rPr lang="zh-CN" sz="1600"/>
                        <a:t>部分核心成员（2名）不熟悉项目所需的新框架，可能导致开发效率低下或代码质量不达标。</a:t>
                      </a:r>
                    </a:p>
                  </a:txBody>
                  <a:tcPr anchor="ctr">
                    <a:lnL>
                      <a:noFill/>
                    </a:lnL>
                    <a:lnR>
                      <a:noFill/>
                    </a:lnR>
                    <a:lnT>
                      <a:noFill/>
                    </a:lnT>
                    <a:lnB>
                      <a:noFill/>
                    </a:lnB>
                    <a:noFill/>
                  </a:tcPr>
                </a:tc>
                <a:tc>
                  <a:txBody>
                    <a:bodyPr/>
                    <a:lstStyle/>
                    <a:p>
                      <a:pPr algn="l">
                        <a:buNone/>
                      </a:pPr>
                      <a:r>
                        <a:rPr lang="zh-CN" sz="1600"/>
                        <a:t>安排2名核心成员进行为期3天的专项技术培训。</a:t>
                      </a:r>
                    </a:p>
                  </a:txBody>
                  <a:tcPr anchor="ctr">
                    <a:lnL>
                      <a:noFill/>
                    </a:lnL>
                    <a:lnR>
                      <a:noFill/>
                    </a:lnR>
                    <a:lnT>
                      <a:noFill/>
                    </a:lnT>
                    <a:lnB>
                      <a:noFill/>
                    </a:lnB>
                    <a:noFill/>
                  </a:tcPr>
                </a:tc>
                <a:extLst>
                  <a:ext uri="{0D108BD9-81ED-4DB2-BD59-A6C34878D82A}">
                    <a16:rowId xmlns:a16="http://schemas.microsoft.com/office/drawing/2014/main" val="3241152343"/>
                  </a:ext>
                </a:extLst>
              </a:tr>
              <a:tr h="821356">
                <a:tc>
                  <a:txBody>
                    <a:bodyPr/>
                    <a:lstStyle/>
                    <a:p>
                      <a:pPr algn="l">
                        <a:buNone/>
                      </a:pPr>
                      <a:r>
                        <a:rPr lang="zh-CN" sz="1600"/>
                        <a:t>RISK-003</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关键人员（架构师）近期有休假计划。</a:t>
                      </a:r>
                      <a:br>
                        <a:rPr lang="zh-CN" sz="1600"/>
                      </a:br>
                      <a:r>
                        <a:rPr lang="zh-CN" sz="1600"/>
                        <a:t>项目关键路径期间，核心架构师将休假，可能导致技术决策滞后或无人解决关键难题。</a:t>
                      </a:r>
                    </a:p>
                  </a:txBody>
                  <a:tcPr anchor="ctr">
                    <a:lnL>
                      <a:noFill/>
                    </a:lnL>
                    <a:lnR>
                      <a:noFill/>
                    </a:lnR>
                    <a:lnT>
                      <a:noFill/>
                    </a:lnT>
                    <a:lnB>
                      <a:noFill/>
                    </a:lnB>
                    <a:noFill/>
                  </a:tcPr>
                </a:tc>
                <a:tc>
                  <a:txBody>
                    <a:bodyPr/>
                    <a:lstStyle/>
                    <a:p>
                      <a:pPr algn="l">
                        <a:buNone/>
                      </a:pPr>
                      <a:r>
                        <a:rPr lang="zh-CN" sz="1600" dirty="0"/>
                        <a:t>已确认休假时间，并已安排备份人员（接班人）在此期间待命。</a:t>
                      </a:r>
                    </a:p>
                  </a:txBody>
                  <a:tcPr anchor="ctr">
                    <a:lnL>
                      <a:noFill/>
                    </a:lnL>
                    <a:lnR>
                      <a:noFill/>
                    </a:lnR>
                    <a:lnT>
                      <a:noFill/>
                    </a:lnT>
                    <a:lnB>
                      <a:noFill/>
                    </a:lnB>
                    <a:noFill/>
                  </a:tcPr>
                </a:tc>
                <a:extLst>
                  <a:ext uri="{0D108BD9-81ED-4DB2-BD59-A6C34878D82A}">
                    <a16:rowId xmlns:a16="http://schemas.microsoft.com/office/drawing/2014/main" val="2909819151"/>
                  </a:ext>
                </a:extLst>
              </a:tr>
            </a:tbl>
          </a:graphicData>
        </a:graphic>
      </p:graphicFrame>
    </p:spTree>
    <p:extLst>
      <p:ext uri="{BB962C8B-B14F-4D97-AF65-F5344CB8AC3E}">
        <p14:creationId xmlns:p14="http://schemas.microsoft.com/office/powerpoint/2010/main" val="1256816022"/>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23" name="内容占位符 22">
            <a:extLst>
              <a:ext uri="{FF2B5EF4-FFF2-40B4-BE49-F238E27FC236}">
                <a16:creationId xmlns:a16="http://schemas.microsoft.com/office/drawing/2014/main" id="{4F622B28-0D8A-8284-1010-B5735CBD372A}"/>
              </a:ext>
            </a:extLst>
          </p:cNvPr>
          <p:cNvSpPr>
            <a:spLocks noGrp="1"/>
          </p:cNvSpPr>
          <p:nvPr>
            <p:ph idx="1"/>
          </p:nvPr>
        </p:nvSpPr>
        <p:spPr/>
        <p:txBody>
          <a:bodyPr/>
          <a:lstStyle/>
          <a:p>
            <a:endParaRPr lang="zh-CN" altLang="en-US"/>
          </a:p>
        </p:txBody>
      </p:sp>
      <p:sp>
        <p:nvSpPr>
          <p:cNvPr id="24" name="文本占位符 23">
            <a:extLst>
              <a:ext uri="{FF2B5EF4-FFF2-40B4-BE49-F238E27FC236}">
                <a16:creationId xmlns:a16="http://schemas.microsoft.com/office/drawing/2014/main" id="{06891459-68F0-89F5-5C59-008BB2050D8C}"/>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定性风险评估方法</a:t>
            </a:r>
            <a:endParaRPr lang="en-US" altLang="zh-CN" dirty="0"/>
          </a:p>
        </p:txBody>
      </p:sp>
    </p:spTree>
    <p:extLst>
      <p:ext uri="{BB962C8B-B14F-4D97-AF65-F5344CB8AC3E}">
        <p14:creationId xmlns:p14="http://schemas.microsoft.com/office/powerpoint/2010/main" val="116075575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08692D15-CA4E-C4E6-4CE3-799333458D32}"/>
              </a:ext>
            </a:extLst>
          </p:cNvPr>
          <p:cNvGraphicFramePr>
            <a:graphicFrameLocks noGrp="1"/>
          </p:cNvGraphicFramePr>
          <p:nvPr>
            <p:extLst>
              <p:ext uri="{D42A27DB-BD31-4B8C-83A1-F6EECF244321}">
                <p14:modId xmlns:p14="http://schemas.microsoft.com/office/powerpoint/2010/main" val="3569611155"/>
              </p:ext>
            </p:extLst>
          </p:nvPr>
        </p:nvGraphicFramePr>
        <p:xfrm>
          <a:off x="1800000" y="1440000"/>
          <a:ext cx="2016000" cy="201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811092762"/>
                    </a:ext>
                  </a:extLst>
                </a:gridCol>
                <a:gridCol w="288000">
                  <a:extLst>
                    <a:ext uri="{9D8B030D-6E8A-4147-A177-3AD203B41FA5}">
                      <a16:colId xmlns:a16="http://schemas.microsoft.com/office/drawing/2014/main" val="3654597066"/>
                    </a:ext>
                  </a:extLst>
                </a:gridCol>
                <a:gridCol w="288000">
                  <a:extLst>
                    <a:ext uri="{9D8B030D-6E8A-4147-A177-3AD203B41FA5}">
                      <a16:colId xmlns:a16="http://schemas.microsoft.com/office/drawing/2014/main" val="1899881899"/>
                    </a:ext>
                  </a:extLst>
                </a:gridCol>
                <a:gridCol w="288000">
                  <a:extLst>
                    <a:ext uri="{9D8B030D-6E8A-4147-A177-3AD203B41FA5}">
                      <a16:colId xmlns:a16="http://schemas.microsoft.com/office/drawing/2014/main" val="2305953698"/>
                    </a:ext>
                  </a:extLst>
                </a:gridCol>
                <a:gridCol w="288000">
                  <a:extLst>
                    <a:ext uri="{9D8B030D-6E8A-4147-A177-3AD203B41FA5}">
                      <a16:colId xmlns:a16="http://schemas.microsoft.com/office/drawing/2014/main" val="2367133706"/>
                    </a:ext>
                  </a:extLst>
                </a:gridCol>
                <a:gridCol w="288000">
                  <a:extLst>
                    <a:ext uri="{9D8B030D-6E8A-4147-A177-3AD203B41FA5}">
                      <a16:colId xmlns:a16="http://schemas.microsoft.com/office/drawing/2014/main" val="2166525395"/>
                    </a:ext>
                  </a:extLst>
                </a:gridCol>
                <a:gridCol w="288000">
                  <a:extLst>
                    <a:ext uri="{9D8B030D-6E8A-4147-A177-3AD203B41FA5}">
                      <a16:colId xmlns:a16="http://schemas.microsoft.com/office/drawing/2014/main" val="1696229339"/>
                    </a:ext>
                  </a:extLst>
                </a:gridCol>
              </a:tblGrid>
              <a:tr h="288000">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091201576"/>
                  </a:ext>
                </a:extLst>
              </a:tr>
              <a:tr h="288000">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399128049"/>
                  </a:ext>
                </a:extLst>
              </a:tr>
              <a:tr h="288000">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56082143"/>
                  </a:ext>
                </a:extLst>
              </a:tr>
              <a:tr h="288000">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24739089"/>
                  </a:ext>
                </a:extLst>
              </a:tr>
              <a:tr h="288000">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2669187467"/>
                  </a:ext>
                </a:extLst>
              </a:tr>
              <a:tr h="288000">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50270692"/>
                  </a:ext>
                </a:extLst>
              </a:tr>
              <a:tr h="288000">
                <a:tc>
                  <a:txBody>
                    <a:bodyPr/>
                    <a:lstStyle/>
                    <a:p>
                      <a:pPr algn="ctr"/>
                      <a:endParaRPr lang="zh-CN" altLang="en-US" sz="800" b="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4079889"/>
                  </a:ext>
                </a:extLst>
              </a:tr>
            </a:tbl>
          </a:graphicData>
        </a:graphic>
      </p:graphicFrame>
      <p:cxnSp>
        <p:nvCxnSpPr>
          <p:cNvPr id="10" name="直接箭头连接符 9">
            <a:extLst>
              <a:ext uri="{FF2B5EF4-FFF2-40B4-BE49-F238E27FC236}">
                <a16:creationId xmlns:a16="http://schemas.microsoft.com/office/drawing/2014/main" id="{9D7D1307-4B2F-ED25-9248-17A702B7348F}"/>
              </a:ext>
            </a:extLst>
          </p:cNvPr>
          <p:cNvCxnSpPr>
            <a:cxnSpLocks/>
          </p:cNvCxnSpPr>
          <p:nvPr/>
        </p:nvCxnSpPr>
        <p:spPr>
          <a:xfrm>
            <a:off x="2088000" y="3157200"/>
            <a:ext cx="208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A52B841-F230-FF90-8631-66A9DBCC152D}"/>
              </a:ext>
            </a:extLst>
          </p:cNvPr>
          <p:cNvCxnSpPr>
            <a:cxnSpLocks/>
          </p:cNvCxnSpPr>
          <p:nvPr/>
        </p:nvCxnSpPr>
        <p:spPr>
          <a:xfrm flipV="1">
            <a:off x="2088000" y="1065600"/>
            <a:ext cx="0" cy="20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5B0FC2A-F244-4AF3-DC91-FE2A8F34C91E}"/>
              </a:ext>
            </a:extLst>
          </p:cNvPr>
          <p:cNvSpPr txBox="1"/>
          <p:nvPr/>
        </p:nvSpPr>
        <p:spPr>
          <a:xfrm>
            <a:off x="3816000" y="3240556"/>
            <a:ext cx="668773" cy="215444"/>
          </a:xfrm>
          <a:prstGeom prst="rect">
            <a:avLst/>
          </a:prstGeom>
          <a:noFill/>
        </p:spPr>
        <p:txBody>
          <a:bodyPr wrap="none" rtlCol="0">
            <a:spAutoFit/>
          </a:bodyPr>
          <a:lstStyle/>
          <a:p>
            <a:pPr algn="l"/>
            <a:r>
              <a:rPr lang="zh-CN" altLang="en-US" sz="800" dirty="0"/>
              <a:t>发生概率</a:t>
            </a:r>
            <a:r>
              <a:rPr lang="en-US" altLang="zh-CN" sz="800" dirty="0"/>
              <a:t>P</a:t>
            </a:r>
            <a:endParaRPr lang="zh-CN" altLang="en-US" sz="800" dirty="0"/>
          </a:p>
        </p:txBody>
      </p:sp>
      <p:sp>
        <p:nvSpPr>
          <p:cNvPr id="14" name="文本框 13">
            <a:extLst>
              <a:ext uri="{FF2B5EF4-FFF2-40B4-BE49-F238E27FC236}">
                <a16:creationId xmlns:a16="http://schemas.microsoft.com/office/drawing/2014/main" id="{5D80C1E0-0008-1817-27AD-EDDBE1493BB1}"/>
              </a:ext>
            </a:extLst>
          </p:cNvPr>
          <p:cNvSpPr txBox="1"/>
          <p:nvPr/>
        </p:nvSpPr>
        <p:spPr>
          <a:xfrm>
            <a:off x="1640442" y="1152001"/>
            <a:ext cx="447558" cy="215444"/>
          </a:xfrm>
          <a:prstGeom prst="rect">
            <a:avLst/>
          </a:prstGeom>
          <a:noFill/>
        </p:spPr>
        <p:txBody>
          <a:bodyPr wrap="none" rtlCol="0">
            <a:spAutoFit/>
          </a:bodyPr>
          <a:lstStyle/>
          <a:p>
            <a:pPr algn="l"/>
            <a:r>
              <a:rPr lang="zh-CN" altLang="en-US" sz="800" dirty="0"/>
              <a:t>影响 </a:t>
            </a:r>
            <a:r>
              <a:rPr lang="en-US" altLang="zh-CN" sz="800" dirty="0"/>
              <a:t>I</a:t>
            </a:r>
            <a:endParaRPr lang="zh-CN" altLang="en-US" sz="800" dirty="0"/>
          </a:p>
        </p:txBody>
      </p:sp>
    </p:spTree>
    <p:extLst>
      <p:ext uri="{BB962C8B-B14F-4D97-AF65-F5344CB8AC3E}">
        <p14:creationId xmlns:p14="http://schemas.microsoft.com/office/powerpoint/2010/main" val="245075334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9" name="内容占位符 8">
            <a:extLst>
              <a:ext uri="{FF2B5EF4-FFF2-40B4-BE49-F238E27FC236}">
                <a16:creationId xmlns:a16="http://schemas.microsoft.com/office/drawing/2014/main" id="{C9CCFCC9-01D0-50F2-142C-20C83E627BD4}"/>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BB7940D5-F43E-D2AF-0DC7-177BEBEFCD2E}"/>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定量风险评估方法</a:t>
            </a:r>
          </a:p>
        </p:txBody>
      </p:sp>
    </p:spTree>
    <p:extLst>
      <p:ext uri="{BB962C8B-B14F-4D97-AF65-F5344CB8AC3E}">
        <p14:creationId xmlns:p14="http://schemas.microsoft.com/office/powerpoint/2010/main" val="82375882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8370E2E0-791A-0C89-6DB8-AD093A91B82C}"/>
              </a:ext>
            </a:extLst>
          </p:cNvPr>
          <p:cNvSpPr/>
          <p:nvPr/>
        </p:nvSpPr>
        <p:spPr>
          <a:xfrm>
            <a:off x="1350375"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访谈</a:t>
            </a:r>
          </a:p>
        </p:txBody>
      </p:sp>
      <p:sp>
        <p:nvSpPr>
          <p:cNvPr id="30" name="任意多边形: 形状 29">
            <a:extLst>
              <a:ext uri="{FF2B5EF4-FFF2-40B4-BE49-F238E27FC236}">
                <a16:creationId xmlns:a16="http://schemas.microsoft.com/office/drawing/2014/main" id="{FEFF1F3A-E236-9849-339A-6278BCA06416}"/>
              </a:ext>
            </a:extLst>
          </p:cNvPr>
          <p:cNvSpPr/>
          <p:nvPr/>
        </p:nvSpPr>
        <p:spPr>
          <a:xfrm>
            <a:off x="2494409"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2" name="任意多边形: 形状 21">
            <a:extLst>
              <a:ext uri="{FF2B5EF4-FFF2-40B4-BE49-F238E27FC236}">
                <a16:creationId xmlns:a16="http://schemas.microsoft.com/office/drawing/2014/main" id="{8E496D0E-8162-A3C5-5326-3C0C3C42912D}"/>
              </a:ext>
            </a:extLst>
          </p:cNvPr>
          <p:cNvSpPr/>
          <p:nvPr/>
        </p:nvSpPr>
        <p:spPr>
          <a:xfrm flipV="1">
            <a:off x="2494409"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AF4D2F62-7E11-F819-4706-960528FB8ECB}"/>
              </a:ext>
            </a:extLst>
          </p:cNvPr>
          <p:cNvSpPr/>
          <p:nvPr/>
        </p:nvSpPr>
        <p:spPr>
          <a:xfrm>
            <a:off x="1350375"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盈亏平衡分析</a:t>
            </a:r>
          </a:p>
        </p:txBody>
      </p:sp>
      <p:sp>
        <p:nvSpPr>
          <p:cNvPr id="25" name="任意多边形: 形状 24">
            <a:extLst>
              <a:ext uri="{FF2B5EF4-FFF2-40B4-BE49-F238E27FC236}">
                <a16:creationId xmlns:a16="http://schemas.microsoft.com/office/drawing/2014/main" id="{784E39D3-438C-0E20-245E-2B0E26664A2C}"/>
              </a:ext>
            </a:extLst>
          </p:cNvPr>
          <p:cNvSpPr/>
          <p:nvPr/>
        </p:nvSpPr>
        <p:spPr>
          <a:xfrm>
            <a:off x="2494409"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4" name="任意多边形: 形状 33">
            <a:extLst>
              <a:ext uri="{FF2B5EF4-FFF2-40B4-BE49-F238E27FC236}">
                <a16:creationId xmlns:a16="http://schemas.microsoft.com/office/drawing/2014/main" id="{1FC76B2B-0819-E9C2-3D28-E1061B5CA16B}"/>
              </a:ext>
            </a:extLst>
          </p:cNvPr>
          <p:cNvSpPr/>
          <p:nvPr/>
        </p:nvSpPr>
        <p:spPr>
          <a:xfrm flipV="1">
            <a:off x="2494409"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8" name="矩形 37">
            <a:extLst>
              <a:ext uri="{FF2B5EF4-FFF2-40B4-BE49-F238E27FC236}">
                <a16:creationId xmlns:a16="http://schemas.microsoft.com/office/drawing/2014/main" id="{1038D162-1EFB-8D79-946D-26FF5F589D64}"/>
              </a:ext>
            </a:extLst>
          </p:cNvPr>
          <p:cNvSpPr/>
          <p:nvPr/>
        </p:nvSpPr>
        <p:spPr>
          <a:xfrm flipH="1">
            <a:off x="4526341"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敏感性分析</a:t>
            </a:r>
          </a:p>
        </p:txBody>
      </p:sp>
      <p:sp>
        <p:nvSpPr>
          <p:cNvPr id="39" name="任意多边形: 形状 38">
            <a:extLst>
              <a:ext uri="{FF2B5EF4-FFF2-40B4-BE49-F238E27FC236}">
                <a16:creationId xmlns:a16="http://schemas.microsoft.com/office/drawing/2014/main" id="{4234163B-E510-24D7-6332-70A22347441D}"/>
              </a:ext>
            </a:extLst>
          </p:cNvPr>
          <p:cNvSpPr/>
          <p:nvPr/>
        </p:nvSpPr>
        <p:spPr>
          <a:xfrm flipH="1">
            <a:off x="3638443"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890EC898-81D3-D100-1383-6FC39DD89092}"/>
              </a:ext>
            </a:extLst>
          </p:cNvPr>
          <p:cNvSpPr/>
          <p:nvPr/>
        </p:nvSpPr>
        <p:spPr>
          <a:xfrm flipH="1" flipV="1">
            <a:off x="3638443"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4" name="矩形 43">
            <a:extLst>
              <a:ext uri="{FF2B5EF4-FFF2-40B4-BE49-F238E27FC236}">
                <a16:creationId xmlns:a16="http://schemas.microsoft.com/office/drawing/2014/main" id="{2FF39E54-052B-C123-EEAB-E51366B89B26}"/>
              </a:ext>
            </a:extLst>
          </p:cNvPr>
          <p:cNvSpPr/>
          <p:nvPr/>
        </p:nvSpPr>
        <p:spPr>
          <a:xfrm flipH="1">
            <a:off x="4526341"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故障树分析</a:t>
            </a:r>
          </a:p>
        </p:txBody>
      </p:sp>
      <p:sp>
        <p:nvSpPr>
          <p:cNvPr id="45" name="任意多边形: 形状 44">
            <a:extLst>
              <a:ext uri="{FF2B5EF4-FFF2-40B4-BE49-F238E27FC236}">
                <a16:creationId xmlns:a16="http://schemas.microsoft.com/office/drawing/2014/main" id="{7FE53B8F-2448-2309-D269-C2FF8FDFBCB5}"/>
              </a:ext>
            </a:extLst>
          </p:cNvPr>
          <p:cNvSpPr/>
          <p:nvPr/>
        </p:nvSpPr>
        <p:spPr>
          <a:xfrm flipH="1">
            <a:off x="3638443"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8" name="任意多边形: 形状 47">
            <a:extLst>
              <a:ext uri="{FF2B5EF4-FFF2-40B4-BE49-F238E27FC236}">
                <a16:creationId xmlns:a16="http://schemas.microsoft.com/office/drawing/2014/main" id="{EECAA66C-37C5-0DFB-D7F2-A30B9A514495}"/>
              </a:ext>
            </a:extLst>
          </p:cNvPr>
          <p:cNvSpPr/>
          <p:nvPr/>
        </p:nvSpPr>
        <p:spPr>
          <a:xfrm flipH="1" flipV="1">
            <a:off x="3638443"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useBgFill="1">
        <p:nvSpPr>
          <p:cNvPr id="36" name="六边形 35">
            <a:extLst>
              <a:ext uri="{FF2B5EF4-FFF2-40B4-BE49-F238E27FC236}">
                <a16:creationId xmlns:a16="http://schemas.microsoft.com/office/drawing/2014/main" id="{E72420C2-68DB-70A6-99D2-3BF87957B115}"/>
              </a:ext>
            </a:extLst>
          </p:cNvPr>
          <p:cNvSpPr/>
          <p:nvPr/>
        </p:nvSpPr>
        <p:spPr>
          <a:xfrm>
            <a:off x="3129030" y="3167727"/>
            <a:ext cx="762689" cy="610152"/>
          </a:xfrm>
          <a:prstGeom prst="hexagon">
            <a:avLst/>
          </a:prstGeom>
          <a:ln w="381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定量</a:t>
            </a:r>
            <a:endParaRPr lang="en-US" altLang="zh-CN" sz="1000" dirty="0">
              <a:solidFill>
                <a:schemeClr val="tx1"/>
              </a:solidFill>
            </a:endParaRPr>
          </a:p>
          <a:p>
            <a:pPr algn="ctr"/>
            <a:r>
              <a:rPr lang="zh-CN" altLang="en-US" sz="1000" dirty="0">
                <a:solidFill>
                  <a:schemeClr val="tx1"/>
                </a:solidFill>
              </a:rPr>
              <a:t>风险评估</a:t>
            </a:r>
          </a:p>
        </p:txBody>
      </p:sp>
      <p:sp useBgFill="1">
        <p:nvSpPr>
          <p:cNvPr id="51" name="六边形 50">
            <a:extLst>
              <a:ext uri="{FF2B5EF4-FFF2-40B4-BE49-F238E27FC236}">
                <a16:creationId xmlns:a16="http://schemas.microsoft.com/office/drawing/2014/main" id="{F5DE60AF-1955-ED72-3AC3-676EC49A7D11}"/>
              </a:ext>
            </a:extLst>
          </p:cNvPr>
          <p:cNvSpPr>
            <a:spLocks noChangeAspect="1"/>
          </p:cNvSpPr>
          <p:nvPr/>
        </p:nvSpPr>
        <p:spPr>
          <a:xfrm>
            <a:off x="3186232" y="3213488"/>
            <a:ext cx="648286" cy="518629"/>
          </a:xfrm>
          <a:prstGeom prst="hexagon">
            <a:avLst/>
          </a:prstGeom>
          <a:ln w="76200">
            <a:gradFill>
              <a:gsLst>
                <a:gs pos="100000">
                  <a:srgbClr val="3F907A"/>
                </a:gs>
                <a:gs pos="0">
                  <a:srgbClr val="5FB79E"/>
                </a:gs>
              </a:gsLst>
              <a:lin ang="0" scaled="0"/>
            </a:gra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800" dirty="0">
                <a:solidFill>
                  <a:schemeClr val="tx1"/>
                </a:solidFill>
              </a:rPr>
              <a:t>定量</a:t>
            </a:r>
            <a:endParaRPr lang="en-US" altLang="zh-CN" sz="800" dirty="0">
              <a:solidFill>
                <a:schemeClr val="tx1"/>
              </a:solidFill>
            </a:endParaRPr>
          </a:p>
          <a:p>
            <a:pPr algn="ctr"/>
            <a:r>
              <a:rPr lang="zh-CN" altLang="en-US" sz="800" dirty="0">
                <a:solidFill>
                  <a:schemeClr val="tx1"/>
                </a:solidFill>
              </a:rPr>
              <a:t>风险评估</a:t>
            </a:r>
          </a:p>
        </p:txBody>
      </p:sp>
      <p:sp>
        <p:nvSpPr>
          <p:cNvPr id="60" name="任意多边形: 形状 59">
            <a:extLst>
              <a:ext uri="{FF2B5EF4-FFF2-40B4-BE49-F238E27FC236}">
                <a16:creationId xmlns:a16="http://schemas.microsoft.com/office/drawing/2014/main" id="{7AC90A9B-5B66-38F3-DD8B-279C775A81F5}"/>
              </a:ext>
            </a:extLst>
          </p:cNvPr>
          <p:cNvSpPr/>
          <p:nvPr/>
        </p:nvSpPr>
        <p:spPr>
          <a:xfrm>
            <a:off x="4526341"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en-US" altLang="zh-CN" sz="800" dirty="0">
                <a:solidFill>
                  <a:schemeClr val="bg1"/>
                </a:solidFill>
              </a:rPr>
              <a:t>…</a:t>
            </a:r>
            <a:endParaRPr lang="zh-CN" altLang="en-US" sz="800" dirty="0">
              <a:solidFill>
                <a:schemeClr val="bg1"/>
              </a:solidFill>
            </a:endParaRPr>
          </a:p>
        </p:txBody>
      </p:sp>
      <p:sp>
        <p:nvSpPr>
          <p:cNvPr id="58" name="任意多边形: 形状 57">
            <a:extLst>
              <a:ext uri="{FF2B5EF4-FFF2-40B4-BE49-F238E27FC236}">
                <a16:creationId xmlns:a16="http://schemas.microsoft.com/office/drawing/2014/main" id="{CA813EAB-B6B4-BEC8-D996-3FB3FEE5A066}"/>
              </a:ext>
            </a:extLst>
          </p:cNvPr>
          <p:cNvSpPr/>
          <p:nvPr/>
        </p:nvSpPr>
        <p:spPr>
          <a:xfrm>
            <a:off x="4526341"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sz="800" dirty="0">
                <a:solidFill>
                  <a:schemeClr val="bg1"/>
                </a:solidFill>
              </a:rPr>
              <a:t>期望值法</a:t>
            </a:r>
          </a:p>
        </p:txBody>
      </p:sp>
      <p:sp>
        <p:nvSpPr>
          <p:cNvPr id="56" name="任意多边形: 形状 55">
            <a:extLst>
              <a:ext uri="{FF2B5EF4-FFF2-40B4-BE49-F238E27FC236}">
                <a16:creationId xmlns:a16="http://schemas.microsoft.com/office/drawing/2014/main" id="{4868322F-B760-1B3C-4B2D-02AC8715F987}"/>
              </a:ext>
            </a:extLst>
          </p:cNvPr>
          <p:cNvSpPr/>
          <p:nvPr/>
        </p:nvSpPr>
        <p:spPr>
          <a:xfrm>
            <a:off x="1350375"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模拟法</a:t>
            </a:r>
          </a:p>
        </p:txBody>
      </p:sp>
      <p:sp>
        <p:nvSpPr>
          <p:cNvPr id="54" name="任意多边形: 形状 53">
            <a:extLst>
              <a:ext uri="{FF2B5EF4-FFF2-40B4-BE49-F238E27FC236}">
                <a16:creationId xmlns:a16="http://schemas.microsoft.com/office/drawing/2014/main" id="{8DC4C471-25FC-6DE8-BEFC-46DCD1E82141}"/>
              </a:ext>
            </a:extLst>
          </p:cNvPr>
          <p:cNvSpPr/>
          <p:nvPr/>
        </p:nvSpPr>
        <p:spPr>
          <a:xfrm>
            <a:off x="1350375"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决策树分析</a:t>
            </a:r>
          </a:p>
        </p:txBody>
      </p:sp>
      <p:pic>
        <p:nvPicPr>
          <p:cNvPr id="69" name="图形 68">
            <a:extLst>
              <a:ext uri="{FF2B5EF4-FFF2-40B4-BE49-F238E27FC236}">
                <a16:creationId xmlns:a16="http://schemas.microsoft.com/office/drawing/2014/main" id="{D0C720DC-A46D-E9ED-6640-16B7698227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43865" y="2751379"/>
            <a:ext cx="247650" cy="228600"/>
          </a:xfrm>
          <a:prstGeom prst="rect">
            <a:avLst/>
          </a:prstGeom>
        </p:spPr>
      </p:pic>
      <p:pic>
        <p:nvPicPr>
          <p:cNvPr id="71" name="图形 70">
            <a:extLst>
              <a:ext uri="{FF2B5EF4-FFF2-40B4-BE49-F238E27FC236}">
                <a16:creationId xmlns:a16="http://schemas.microsoft.com/office/drawing/2014/main" id="{4A03B449-5741-34DD-4B9E-EA6880F637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3390" y="3147064"/>
            <a:ext cx="228600" cy="228600"/>
          </a:xfrm>
          <a:prstGeom prst="rect">
            <a:avLst/>
          </a:prstGeom>
        </p:spPr>
      </p:pic>
      <p:pic>
        <p:nvPicPr>
          <p:cNvPr id="73" name="图形 72">
            <a:extLst>
              <a:ext uri="{FF2B5EF4-FFF2-40B4-BE49-F238E27FC236}">
                <a16:creationId xmlns:a16="http://schemas.microsoft.com/office/drawing/2014/main" id="{7A68BD1A-E64C-B680-5739-4C73CD97A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53390" y="3541239"/>
            <a:ext cx="228600" cy="228600"/>
          </a:xfrm>
          <a:prstGeom prst="rect">
            <a:avLst/>
          </a:prstGeom>
        </p:spPr>
      </p:pic>
      <p:pic>
        <p:nvPicPr>
          <p:cNvPr id="75" name="图形 74">
            <a:extLst>
              <a:ext uri="{FF2B5EF4-FFF2-40B4-BE49-F238E27FC236}">
                <a16:creationId xmlns:a16="http://schemas.microsoft.com/office/drawing/2014/main" id="{63F8085A-73D3-F76F-5A5C-C0F2049E395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153390" y="3936924"/>
            <a:ext cx="228600" cy="228600"/>
          </a:xfrm>
          <a:prstGeom prst="rect">
            <a:avLst/>
          </a:prstGeom>
        </p:spPr>
      </p:pic>
      <p:pic>
        <p:nvPicPr>
          <p:cNvPr id="77" name="图形 76">
            <a:extLst>
              <a:ext uri="{FF2B5EF4-FFF2-40B4-BE49-F238E27FC236}">
                <a16:creationId xmlns:a16="http://schemas.microsoft.com/office/drawing/2014/main" id="{B759A22E-7A67-11C2-86B6-0DAE3D7B0B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97095" y="2751379"/>
            <a:ext cx="228600" cy="228600"/>
          </a:xfrm>
          <a:prstGeom prst="rect">
            <a:avLst/>
          </a:prstGeom>
        </p:spPr>
      </p:pic>
      <p:pic>
        <p:nvPicPr>
          <p:cNvPr id="79" name="图形 78">
            <a:extLst>
              <a:ext uri="{FF2B5EF4-FFF2-40B4-BE49-F238E27FC236}">
                <a16:creationId xmlns:a16="http://schemas.microsoft.com/office/drawing/2014/main" id="{41BF534C-3AAC-1709-10D0-E7C9B9FE97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97095" y="3147064"/>
            <a:ext cx="228600" cy="228600"/>
          </a:xfrm>
          <a:prstGeom prst="rect">
            <a:avLst/>
          </a:prstGeom>
        </p:spPr>
      </p:pic>
      <p:pic>
        <p:nvPicPr>
          <p:cNvPr id="81" name="图形 80">
            <a:extLst>
              <a:ext uri="{FF2B5EF4-FFF2-40B4-BE49-F238E27FC236}">
                <a16:creationId xmlns:a16="http://schemas.microsoft.com/office/drawing/2014/main" id="{16F5AA44-4B2D-D32A-B33B-4C7BCC3BF59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97095" y="3549279"/>
            <a:ext cx="228600" cy="228600"/>
          </a:xfrm>
          <a:prstGeom prst="rect">
            <a:avLst/>
          </a:prstGeom>
        </p:spPr>
      </p:pic>
      <p:pic>
        <p:nvPicPr>
          <p:cNvPr id="83" name="图形 82">
            <a:extLst>
              <a:ext uri="{FF2B5EF4-FFF2-40B4-BE49-F238E27FC236}">
                <a16:creationId xmlns:a16="http://schemas.microsoft.com/office/drawing/2014/main" id="{BF78352D-319F-2AC6-5B47-E468AF7335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97095" y="3925619"/>
            <a:ext cx="228600" cy="228600"/>
          </a:xfrm>
          <a:prstGeom prst="rect">
            <a:avLst/>
          </a:prstGeom>
        </p:spPr>
      </p:pic>
    </p:spTree>
    <p:extLst>
      <p:ext uri="{BB962C8B-B14F-4D97-AF65-F5344CB8AC3E}">
        <p14:creationId xmlns:p14="http://schemas.microsoft.com/office/powerpoint/2010/main" val="1494262859"/>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5E7CC8-845F-5902-9D9E-369D6E857BAC}"/>
              </a:ext>
            </a:extLst>
          </p:cNvPr>
          <p:cNvSpPr>
            <a:spLocks noGrp="1"/>
          </p:cNvSpPr>
          <p:nvPr>
            <p:ph type="title"/>
          </p:nvPr>
        </p:nvSpPr>
        <p:spPr>
          <a:xfrm>
            <a:off x="694800" y="360000"/>
            <a:ext cx="6375921" cy="429413"/>
          </a:xfrm>
        </p:spPr>
        <p:txBody>
          <a:bodyPr/>
          <a:lstStyle/>
          <a:p>
            <a:r>
              <a:rPr lang="en-US" altLang="zh-CN" dirty="0"/>
              <a:t>1 </a:t>
            </a:r>
            <a:r>
              <a:rPr lang="zh-CN" altLang="en-US" dirty="0"/>
              <a:t>访谈</a:t>
            </a:r>
          </a:p>
        </p:txBody>
      </p:sp>
      <p:sp>
        <p:nvSpPr>
          <p:cNvPr id="3" name="内容占位符 2">
            <a:extLst>
              <a:ext uri="{FF2B5EF4-FFF2-40B4-BE49-F238E27FC236}">
                <a16:creationId xmlns:a16="http://schemas.microsoft.com/office/drawing/2014/main" id="{488F31B9-1C78-4429-27A8-4C5F7D5178C9}"/>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23095D8A-4020-BC28-2F42-EBC9FE5E5338}"/>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221332377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9425C-7BED-98D5-B438-1DE52C3C962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416A1E-C2E6-9133-5A9F-CD0E7B77E6DD}"/>
              </a:ext>
            </a:extLst>
          </p:cNvPr>
          <p:cNvSpPr>
            <a:spLocks noGrp="1"/>
          </p:cNvSpPr>
          <p:nvPr>
            <p:ph type="title"/>
          </p:nvPr>
        </p:nvSpPr>
        <p:spPr>
          <a:xfrm>
            <a:off x="694800" y="360000"/>
            <a:ext cx="6375921" cy="429413"/>
          </a:xfrm>
        </p:spPr>
        <p:txBody>
          <a:bodyPr/>
          <a:lstStyle/>
          <a:p>
            <a:r>
              <a:rPr lang="en-US" altLang="zh-CN" dirty="0"/>
              <a:t>2 </a:t>
            </a:r>
            <a:r>
              <a:rPr lang="zh-CN" altLang="en-US" dirty="0"/>
              <a:t>盈亏平衡分析</a:t>
            </a:r>
          </a:p>
        </p:txBody>
      </p:sp>
      <p:sp>
        <p:nvSpPr>
          <p:cNvPr id="3" name="内容占位符 2">
            <a:extLst>
              <a:ext uri="{FF2B5EF4-FFF2-40B4-BE49-F238E27FC236}">
                <a16:creationId xmlns:a16="http://schemas.microsoft.com/office/drawing/2014/main" id="{F0FF739B-0DEA-2DDD-ACF5-9508C0F5301F}"/>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3C1DAD86-0AD9-3139-AE01-CD7C12C8CBBB}"/>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41369634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C14D1-E158-E0FB-C871-0D4E7DD295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32625A-6366-80EB-6857-9A8656B1733D}"/>
              </a:ext>
            </a:extLst>
          </p:cNvPr>
          <p:cNvSpPr>
            <a:spLocks noGrp="1"/>
          </p:cNvSpPr>
          <p:nvPr>
            <p:ph type="title"/>
          </p:nvPr>
        </p:nvSpPr>
        <p:spPr>
          <a:xfrm>
            <a:off x="694800" y="360000"/>
            <a:ext cx="6375921" cy="429413"/>
          </a:xfrm>
        </p:spPr>
        <p:txBody>
          <a:bodyPr/>
          <a:lstStyle/>
          <a:p>
            <a:r>
              <a:rPr lang="en-US" altLang="zh-CN" dirty="0"/>
              <a:t>3 </a:t>
            </a:r>
            <a:r>
              <a:rPr lang="zh-CN" altLang="en-US" dirty="0"/>
              <a:t>决策树</a:t>
            </a:r>
          </a:p>
        </p:txBody>
      </p:sp>
      <p:sp>
        <p:nvSpPr>
          <p:cNvPr id="3" name="内容占位符 2">
            <a:extLst>
              <a:ext uri="{FF2B5EF4-FFF2-40B4-BE49-F238E27FC236}">
                <a16:creationId xmlns:a16="http://schemas.microsoft.com/office/drawing/2014/main" id="{502CF9FC-D8D4-A406-F965-EECC79F30D41}"/>
              </a:ext>
            </a:extLst>
          </p:cNvPr>
          <p:cNvSpPr>
            <a:spLocks noGrp="1"/>
          </p:cNvSpPr>
          <p:nvPr>
            <p:ph idx="1"/>
          </p:nvPr>
        </p:nvSpPr>
        <p:spPr>
          <a:xfrm>
            <a:off x="694800" y="1338697"/>
            <a:ext cx="10800000" cy="4925303"/>
          </a:xfrm>
        </p:spPr>
        <p:txBody>
          <a:bodyPr/>
          <a:lstStyle/>
          <a:p>
            <a:r>
              <a:rPr lang="zh-CN" altLang="en-US" dirty="0"/>
              <a:t>决策树分析是一种图表分析方法</a:t>
            </a:r>
          </a:p>
          <a:p>
            <a:r>
              <a:rPr lang="zh-CN" altLang="en-US" dirty="0"/>
              <a:t>提供项目所有可供选择的行动方案，行动方案之间的关系，行动方案的后果以及发生的概率</a:t>
            </a:r>
          </a:p>
          <a:p>
            <a:r>
              <a:rPr lang="zh-CN" altLang="en-US" dirty="0"/>
              <a:t>提供选择一个最佳的方案的依据</a:t>
            </a:r>
            <a:endParaRPr lang="en-US" altLang="zh-CN" dirty="0"/>
          </a:p>
          <a:p>
            <a:r>
              <a:rPr lang="zh-CN" altLang="en-US" dirty="0"/>
              <a:t>损益期望值 </a:t>
            </a:r>
            <a:r>
              <a:rPr lang="en-US" altLang="zh-CN" dirty="0"/>
              <a:t>Expected Monetary Value</a:t>
            </a:r>
          </a:p>
          <a:p>
            <a:pPr lvl="1"/>
            <a:r>
              <a:rPr lang="zh-CN" altLang="en-US" dirty="0"/>
              <a:t>决策树的一种计算值</a:t>
            </a:r>
          </a:p>
          <a:p>
            <a:pPr lvl="1"/>
            <a:r>
              <a:rPr lang="zh-CN" altLang="en-US" dirty="0"/>
              <a:t>根据预期结果、发生的概率计算出一种期望的损益</a:t>
            </a:r>
          </a:p>
          <a:p>
            <a:endParaRPr lang="zh-CN" altLang="en-US" dirty="0"/>
          </a:p>
          <a:p>
            <a:endParaRPr lang="zh-CN" altLang="en-US" dirty="0"/>
          </a:p>
          <a:p>
            <a:endParaRPr lang="zh-CN" altLang="en-US" dirty="0"/>
          </a:p>
        </p:txBody>
      </p:sp>
      <p:sp>
        <p:nvSpPr>
          <p:cNvPr id="4" name="文本占位符 3">
            <a:extLst>
              <a:ext uri="{FF2B5EF4-FFF2-40B4-BE49-F238E27FC236}">
                <a16:creationId xmlns:a16="http://schemas.microsoft.com/office/drawing/2014/main" id="{75351BC9-3364-C396-8E4A-1AEF38C57BEE}"/>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
        <p:nvSpPr>
          <p:cNvPr id="15" name="文本占位符 14">
            <a:extLst>
              <a:ext uri="{FF2B5EF4-FFF2-40B4-BE49-F238E27FC236}">
                <a16:creationId xmlns:a16="http://schemas.microsoft.com/office/drawing/2014/main" id="{3E5390D8-100A-1BA0-976B-D51928D29E39}"/>
              </a:ext>
            </a:extLst>
          </p:cNvPr>
          <p:cNvSpPr>
            <a:spLocks noGrp="1"/>
          </p:cNvSpPr>
          <p:nvPr>
            <p:ph type="body" sz="quarter" idx="11"/>
          </p:nvPr>
        </p:nvSpPr>
        <p:spPr/>
        <p:txBody>
          <a:bodyPr/>
          <a:lstStyle/>
          <a:p>
            <a:endParaRPr lang="zh-CN" altLang="en-US"/>
          </a:p>
        </p:txBody>
      </p:sp>
      <p:sp>
        <p:nvSpPr>
          <p:cNvPr id="11" name="文本框 10">
            <a:extLst>
              <a:ext uri="{FF2B5EF4-FFF2-40B4-BE49-F238E27FC236}">
                <a16:creationId xmlns:a16="http://schemas.microsoft.com/office/drawing/2014/main" id="{58781758-2143-39C3-91DD-62387596EAB8}"/>
              </a:ext>
            </a:extLst>
          </p:cNvPr>
          <p:cNvSpPr txBox="1"/>
          <p:nvPr/>
        </p:nvSpPr>
        <p:spPr>
          <a:xfrm>
            <a:off x="4148993" y="3824714"/>
            <a:ext cx="3894015" cy="830997"/>
          </a:xfrm>
          <a:prstGeom prst="rect">
            <a:avLst/>
          </a:prstGeom>
          <a:noFill/>
        </p:spPr>
        <p:txBody>
          <a:bodyPr wrap="none" rtlCol="0">
            <a:spAutoFit/>
          </a:bodyPr>
          <a:lstStyle/>
          <a:p>
            <a:pPr algn="l"/>
            <a:r>
              <a:rPr lang="zh-CN" altLang="en-US" sz="1600" dirty="0"/>
              <a:t>某行动方案成功的概率是</a:t>
            </a:r>
            <a:r>
              <a:rPr lang="en-US" altLang="zh-CN" sz="1600" dirty="0"/>
              <a:t>50%</a:t>
            </a:r>
            <a:r>
              <a:rPr lang="zh-CN" altLang="en-US" sz="1600" dirty="0"/>
              <a:t>，收益是</a:t>
            </a:r>
            <a:r>
              <a:rPr lang="en-US" altLang="zh-CN" sz="1600" dirty="0"/>
              <a:t>10</a:t>
            </a:r>
          </a:p>
          <a:p>
            <a:pPr algn="l"/>
            <a:r>
              <a:rPr lang="zh-CN" altLang="en-US" sz="1600" dirty="0"/>
              <a:t>则：</a:t>
            </a:r>
            <a:endParaRPr lang="en-US" altLang="zh-CN" sz="1600" dirty="0"/>
          </a:p>
          <a:p>
            <a:pPr indent="457200" algn="l"/>
            <a:r>
              <a:rPr lang="en-US" altLang="zh-CN" sz="1600" dirty="0"/>
              <a:t>EMV=10*50%=5</a:t>
            </a:r>
            <a:endParaRPr lang="zh-CN" altLang="en-US" sz="1600" dirty="0"/>
          </a:p>
        </p:txBody>
      </p:sp>
    </p:spTree>
    <p:extLst>
      <p:ext uri="{BB962C8B-B14F-4D97-AF65-F5344CB8AC3E}">
        <p14:creationId xmlns:p14="http://schemas.microsoft.com/office/powerpoint/2010/main" val="2770819324"/>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3A534B7-51B0-D557-C3FB-A47755513E8A}"/>
              </a:ext>
            </a:extLst>
          </p:cNvPr>
          <p:cNvSpPr>
            <a:spLocks noGrp="1"/>
          </p:cNvSpPr>
          <p:nvPr>
            <p:ph type="title"/>
          </p:nvPr>
        </p:nvSpPr>
        <p:spPr>
          <a:xfrm>
            <a:off x="696000" y="360000"/>
            <a:ext cx="5400000" cy="429413"/>
          </a:xfrm>
        </p:spPr>
        <p:txBody>
          <a:bodyPr/>
          <a:lstStyle/>
          <a:p>
            <a:r>
              <a:rPr lang="zh-CN" altLang="en-US" dirty="0"/>
              <a:t>例：决策树</a:t>
            </a:r>
          </a:p>
        </p:txBody>
      </p:sp>
      <p:grpSp>
        <p:nvGrpSpPr>
          <p:cNvPr id="3" name="组合 2">
            <a:extLst>
              <a:ext uri="{FF2B5EF4-FFF2-40B4-BE49-F238E27FC236}">
                <a16:creationId xmlns:a16="http://schemas.microsoft.com/office/drawing/2014/main" id="{B5F5C2A4-9337-28CB-1528-6FC639F26271}"/>
              </a:ext>
            </a:extLst>
          </p:cNvPr>
          <p:cNvGrpSpPr/>
          <p:nvPr/>
        </p:nvGrpSpPr>
        <p:grpSpPr>
          <a:xfrm rot="20100000">
            <a:off x="3141084" y="3741096"/>
            <a:ext cx="1661180" cy="364531"/>
            <a:chOff x="3023768" y="2773142"/>
            <a:chExt cx="1661180" cy="364531"/>
          </a:xfrm>
        </p:grpSpPr>
        <p:sp>
          <p:nvSpPr>
            <p:cNvPr id="15" name="Text Box 12">
              <a:extLst>
                <a:ext uri="{FF2B5EF4-FFF2-40B4-BE49-F238E27FC236}">
                  <a16:creationId xmlns:a16="http://schemas.microsoft.com/office/drawing/2014/main" id="{92A6BC36-A86F-0B01-09F6-A0F187D325AE}"/>
                </a:ext>
              </a:extLst>
            </p:cNvPr>
            <p:cNvSpPr txBox="1">
              <a:spLocks noChangeArrowheads="1"/>
            </p:cNvSpPr>
            <p:nvPr/>
          </p:nvSpPr>
          <p:spPr bwMode="auto">
            <a:xfrm>
              <a:off x="3023768" y="2773142"/>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成功：</a:t>
              </a:r>
              <a:r>
                <a:rPr lang="en-US" altLang="zh-CN" sz="800" dirty="0">
                  <a:latin typeface="+mn-lt"/>
                  <a:ea typeface="+mn-ea"/>
                </a:rPr>
                <a:t>P=70%  V=95,000</a:t>
              </a:r>
            </a:p>
          </p:txBody>
        </p:sp>
        <p:sp>
          <p:nvSpPr>
            <p:cNvPr id="18" name="Text Box 15">
              <a:extLst>
                <a:ext uri="{FF2B5EF4-FFF2-40B4-BE49-F238E27FC236}">
                  <a16:creationId xmlns:a16="http://schemas.microsoft.com/office/drawing/2014/main" id="{B0430F43-A534-451D-870D-86BD6D62B768}"/>
                </a:ext>
              </a:extLst>
            </p:cNvPr>
            <p:cNvSpPr txBox="1">
              <a:spLocks noChangeArrowheads="1"/>
            </p:cNvSpPr>
            <p:nvPr/>
          </p:nvSpPr>
          <p:spPr bwMode="auto">
            <a:xfrm>
              <a:off x="3028948" y="292222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EMV=95,000*70%=66500</a:t>
              </a:r>
            </a:p>
          </p:txBody>
        </p:sp>
      </p:grpSp>
      <p:sp>
        <p:nvSpPr>
          <p:cNvPr id="20" name="Text Box 17">
            <a:extLst>
              <a:ext uri="{FF2B5EF4-FFF2-40B4-BE49-F238E27FC236}">
                <a16:creationId xmlns:a16="http://schemas.microsoft.com/office/drawing/2014/main" id="{316EAAF1-A367-A422-7396-CB7A29F14610}"/>
              </a:ext>
            </a:extLst>
          </p:cNvPr>
          <p:cNvSpPr txBox="1">
            <a:spLocks noChangeArrowheads="1"/>
          </p:cNvSpPr>
          <p:nvPr/>
        </p:nvSpPr>
        <p:spPr bwMode="auto">
          <a:xfrm>
            <a:off x="1963686" y="5261700"/>
            <a:ext cx="93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不实施 </a:t>
            </a:r>
            <a:r>
              <a:rPr lang="en-US" altLang="zh-CN" sz="800" dirty="0">
                <a:latin typeface="+mn-lt"/>
                <a:ea typeface="+mn-ea"/>
              </a:rPr>
              <a:t>EMV=0</a:t>
            </a:r>
          </a:p>
        </p:txBody>
      </p:sp>
      <p:sp>
        <p:nvSpPr>
          <p:cNvPr id="14" name="Text Box 11">
            <a:extLst>
              <a:ext uri="{FF2B5EF4-FFF2-40B4-BE49-F238E27FC236}">
                <a16:creationId xmlns:a16="http://schemas.microsoft.com/office/drawing/2014/main" id="{2CA868F8-0A5E-C1F8-ABD4-02C81ECC99DA}"/>
              </a:ext>
            </a:extLst>
          </p:cNvPr>
          <p:cNvSpPr txBox="1">
            <a:spLocks noChangeArrowheads="1"/>
          </p:cNvSpPr>
          <p:nvPr/>
        </p:nvSpPr>
        <p:spPr bwMode="auto">
          <a:xfrm>
            <a:off x="3623613" y="428660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失败：</a:t>
            </a:r>
            <a:r>
              <a:rPr lang="en-US" altLang="zh-CN" sz="800" dirty="0">
                <a:latin typeface="+mn-lt"/>
                <a:ea typeface="+mn-ea"/>
              </a:rPr>
              <a:t>P=30%, V= -200,000 </a:t>
            </a:r>
          </a:p>
        </p:txBody>
      </p:sp>
      <p:sp>
        <p:nvSpPr>
          <p:cNvPr id="21" name="Text Box 18">
            <a:extLst>
              <a:ext uri="{FF2B5EF4-FFF2-40B4-BE49-F238E27FC236}">
                <a16:creationId xmlns:a16="http://schemas.microsoft.com/office/drawing/2014/main" id="{0EFACB59-9940-BD96-01FF-02992CF3EA5F}"/>
              </a:ext>
            </a:extLst>
          </p:cNvPr>
          <p:cNvSpPr txBox="1">
            <a:spLocks noChangeArrowheads="1"/>
          </p:cNvSpPr>
          <p:nvPr/>
        </p:nvSpPr>
        <p:spPr bwMode="auto">
          <a:xfrm>
            <a:off x="3623613" y="450204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EMV=-200,000*30%=-60000</a:t>
            </a:r>
          </a:p>
        </p:txBody>
      </p:sp>
      <p:sp>
        <p:nvSpPr>
          <p:cNvPr id="17" name="Text Box 14">
            <a:extLst>
              <a:ext uri="{FF2B5EF4-FFF2-40B4-BE49-F238E27FC236}">
                <a16:creationId xmlns:a16="http://schemas.microsoft.com/office/drawing/2014/main" id="{A692A5A8-A4C3-E42C-96FC-272237DA9698}"/>
              </a:ext>
            </a:extLst>
          </p:cNvPr>
          <p:cNvSpPr txBox="1">
            <a:spLocks noChangeArrowheads="1"/>
          </p:cNvSpPr>
          <p:nvPr/>
        </p:nvSpPr>
        <p:spPr bwMode="auto">
          <a:xfrm>
            <a:off x="5180224" y="348742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低性能：</a:t>
            </a:r>
            <a:r>
              <a:rPr lang="en-US" altLang="zh-CN" sz="800" dirty="0">
                <a:latin typeface="+mn-lt"/>
                <a:ea typeface="+mn-ea"/>
              </a:rPr>
              <a:t>P=70%, V=- 100,000</a:t>
            </a:r>
          </a:p>
        </p:txBody>
      </p:sp>
      <p:sp>
        <p:nvSpPr>
          <p:cNvPr id="23" name="Text Box 14">
            <a:extLst>
              <a:ext uri="{FF2B5EF4-FFF2-40B4-BE49-F238E27FC236}">
                <a16:creationId xmlns:a16="http://schemas.microsoft.com/office/drawing/2014/main" id="{9F773EEC-A392-09C3-50CA-E3F249071051}"/>
              </a:ext>
            </a:extLst>
          </p:cNvPr>
          <p:cNvSpPr txBox="1">
            <a:spLocks noChangeArrowheads="1"/>
          </p:cNvSpPr>
          <p:nvPr/>
        </p:nvSpPr>
        <p:spPr bwMode="auto">
          <a:xfrm>
            <a:off x="5180224" y="370286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EMV=-100,000* 70%=-70000</a:t>
            </a:r>
          </a:p>
        </p:txBody>
      </p:sp>
      <p:grpSp>
        <p:nvGrpSpPr>
          <p:cNvPr id="4" name="组合 3">
            <a:extLst>
              <a:ext uri="{FF2B5EF4-FFF2-40B4-BE49-F238E27FC236}">
                <a16:creationId xmlns:a16="http://schemas.microsoft.com/office/drawing/2014/main" id="{E47A2D12-B1DC-4CDA-9934-84C24C2EEF45}"/>
              </a:ext>
            </a:extLst>
          </p:cNvPr>
          <p:cNvGrpSpPr/>
          <p:nvPr/>
        </p:nvGrpSpPr>
        <p:grpSpPr>
          <a:xfrm rot="20100000">
            <a:off x="4868368" y="2887298"/>
            <a:ext cx="1658297" cy="378734"/>
            <a:chOff x="6757278" y="1664053"/>
            <a:chExt cx="1658297" cy="378734"/>
          </a:xfrm>
        </p:grpSpPr>
        <p:sp>
          <p:nvSpPr>
            <p:cNvPr id="16" name="Text Box 13">
              <a:extLst>
                <a:ext uri="{FF2B5EF4-FFF2-40B4-BE49-F238E27FC236}">
                  <a16:creationId xmlns:a16="http://schemas.microsoft.com/office/drawing/2014/main" id="{7C2A3E18-02BF-702E-17DC-3EEC86C95D5D}"/>
                </a:ext>
              </a:extLst>
            </p:cNvPr>
            <p:cNvSpPr txBox="1">
              <a:spLocks noChangeArrowheads="1"/>
            </p:cNvSpPr>
            <p:nvPr/>
          </p:nvSpPr>
          <p:spPr bwMode="auto">
            <a:xfrm>
              <a:off x="6757278" y="166405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高性能：</a:t>
              </a:r>
              <a:r>
                <a:rPr lang="en-US" altLang="zh-CN" sz="800" dirty="0">
                  <a:latin typeface="+mn-lt"/>
                  <a:ea typeface="+mn-ea"/>
                </a:rPr>
                <a:t>P=30%, V=550,000</a:t>
              </a:r>
            </a:p>
          </p:txBody>
        </p:sp>
        <p:sp>
          <p:nvSpPr>
            <p:cNvPr id="24" name="Text Box 13">
              <a:extLst>
                <a:ext uri="{FF2B5EF4-FFF2-40B4-BE49-F238E27FC236}">
                  <a16:creationId xmlns:a16="http://schemas.microsoft.com/office/drawing/2014/main" id="{5E94DD34-DAB6-9D07-0FEF-748CE32634EB}"/>
                </a:ext>
              </a:extLst>
            </p:cNvPr>
            <p:cNvSpPr txBox="1">
              <a:spLocks noChangeArrowheads="1"/>
            </p:cNvSpPr>
            <p:nvPr/>
          </p:nvSpPr>
          <p:spPr bwMode="auto">
            <a:xfrm>
              <a:off x="6759575" y="182734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EMV=550,000* 30%=165000</a:t>
              </a:r>
            </a:p>
          </p:txBody>
        </p:sp>
      </p:grpSp>
      <p:grpSp>
        <p:nvGrpSpPr>
          <p:cNvPr id="2" name="组合 1">
            <a:extLst>
              <a:ext uri="{FF2B5EF4-FFF2-40B4-BE49-F238E27FC236}">
                <a16:creationId xmlns:a16="http://schemas.microsoft.com/office/drawing/2014/main" id="{6A4642C8-50A6-ED00-B57C-B64A2349BA73}"/>
              </a:ext>
            </a:extLst>
          </p:cNvPr>
          <p:cNvGrpSpPr/>
          <p:nvPr/>
        </p:nvGrpSpPr>
        <p:grpSpPr>
          <a:xfrm rot="19920000">
            <a:off x="1824691" y="4616903"/>
            <a:ext cx="1511138" cy="217046"/>
            <a:chOff x="1247519" y="4678259"/>
            <a:chExt cx="1511138" cy="217046"/>
          </a:xfrm>
        </p:grpSpPr>
        <p:sp>
          <p:nvSpPr>
            <p:cNvPr id="19" name="Text Box 16">
              <a:extLst>
                <a:ext uri="{FF2B5EF4-FFF2-40B4-BE49-F238E27FC236}">
                  <a16:creationId xmlns:a16="http://schemas.microsoft.com/office/drawing/2014/main" id="{CAE35F3C-74E1-4A30-B7DE-DA0F69901DC8}"/>
                </a:ext>
              </a:extLst>
            </p:cNvPr>
            <p:cNvSpPr txBox="1">
              <a:spLocks noChangeArrowheads="1"/>
            </p:cNvSpPr>
            <p:nvPr/>
          </p:nvSpPr>
          <p:spPr bwMode="auto">
            <a:xfrm>
              <a:off x="1678657" y="4678259"/>
              <a:ext cx="1080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EMV=6,500</a:t>
              </a:r>
            </a:p>
          </p:txBody>
        </p:sp>
        <p:sp>
          <p:nvSpPr>
            <p:cNvPr id="25" name="Text Box 16">
              <a:extLst>
                <a:ext uri="{FF2B5EF4-FFF2-40B4-BE49-F238E27FC236}">
                  <a16:creationId xmlns:a16="http://schemas.microsoft.com/office/drawing/2014/main" id="{72B750C2-F23C-7EEC-A093-465EFB6DFFC4}"/>
                </a:ext>
              </a:extLst>
            </p:cNvPr>
            <p:cNvSpPr txBox="1">
              <a:spLocks noChangeArrowheads="1"/>
            </p:cNvSpPr>
            <p:nvPr/>
          </p:nvSpPr>
          <p:spPr bwMode="auto">
            <a:xfrm>
              <a:off x="1247519" y="4679861"/>
              <a:ext cx="1319212"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实施后</a:t>
              </a:r>
              <a:r>
                <a:rPr lang="en-US" altLang="zh-CN" sz="800" dirty="0">
                  <a:latin typeface="+mn-lt"/>
                  <a:ea typeface="+mn-ea"/>
                </a:rPr>
                <a:t>:</a:t>
              </a:r>
            </a:p>
          </p:txBody>
        </p:sp>
      </p:grpSp>
      <p:sp>
        <p:nvSpPr>
          <p:cNvPr id="6" name="AutoShape 3">
            <a:extLst>
              <a:ext uri="{FF2B5EF4-FFF2-40B4-BE49-F238E27FC236}">
                <a16:creationId xmlns:a16="http://schemas.microsoft.com/office/drawing/2014/main" id="{5CAF705E-B150-56D6-9E62-77C406EEA004}"/>
              </a:ext>
            </a:extLst>
          </p:cNvPr>
          <p:cNvSpPr>
            <a:spLocks noChangeArrowheads="1"/>
          </p:cNvSpPr>
          <p:nvPr/>
        </p:nvSpPr>
        <p:spPr bwMode="auto">
          <a:xfrm>
            <a:off x="1734244" y="5194717"/>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8" name="AutoShape 5">
            <a:extLst>
              <a:ext uri="{FF2B5EF4-FFF2-40B4-BE49-F238E27FC236}">
                <a16:creationId xmlns:a16="http://schemas.microsoft.com/office/drawing/2014/main" id="{3FD6D865-31A3-28DD-3EE3-2BB2C5A4255C}"/>
              </a:ext>
            </a:extLst>
          </p:cNvPr>
          <p:cNvSpPr>
            <a:spLocks noChangeArrowheads="1"/>
          </p:cNvSpPr>
          <p:nvPr/>
        </p:nvSpPr>
        <p:spPr bwMode="auto">
          <a:xfrm>
            <a:off x="3187983" y="445217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9" name="AutoShape 6">
            <a:extLst>
              <a:ext uri="{FF2B5EF4-FFF2-40B4-BE49-F238E27FC236}">
                <a16:creationId xmlns:a16="http://schemas.microsoft.com/office/drawing/2014/main" id="{33C860C0-A7B1-B0EA-D932-F276D8C9D217}"/>
              </a:ext>
            </a:extLst>
          </p:cNvPr>
          <p:cNvSpPr>
            <a:spLocks noChangeArrowheads="1"/>
          </p:cNvSpPr>
          <p:nvPr/>
        </p:nvSpPr>
        <p:spPr bwMode="auto">
          <a:xfrm>
            <a:off x="4801474" y="365299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cxnSp>
        <p:nvCxnSpPr>
          <p:cNvPr id="29" name="直接连接符 28">
            <a:extLst>
              <a:ext uri="{FF2B5EF4-FFF2-40B4-BE49-F238E27FC236}">
                <a16:creationId xmlns:a16="http://schemas.microsoft.com/office/drawing/2014/main" id="{124272F0-E7A1-E0E8-167B-FD06D3844466}"/>
              </a:ext>
            </a:extLst>
          </p:cNvPr>
          <p:cNvCxnSpPr>
            <a:cxnSpLocks/>
            <a:stCxn id="6" idx="7"/>
            <a:endCxn id="8" idx="2"/>
          </p:cNvCxnSpPr>
          <p:nvPr/>
        </p:nvCxnSpPr>
        <p:spPr>
          <a:xfrm flipV="1">
            <a:off x="1795700" y="4488171"/>
            <a:ext cx="1392283" cy="71709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75160B4-12AC-98D8-BFDC-8F2B8B231A47}"/>
              </a:ext>
            </a:extLst>
          </p:cNvPr>
          <p:cNvCxnSpPr>
            <a:cxnSpLocks/>
            <a:stCxn id="8" idx="7"/>
            <a:endCxn id="9" idx="2"/>
          </p:cNvCxnSpPr>
          <p:nvPr/>
        </p:nvCxnSpPr>
        <p:spPr>
          <a:xfrm flipV="1">
            <a:off x="3249439" y="3688991"/>
            <a:ext cx="1552035" cy="773724"/>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3D8E40C-8E50-09C3-86E0-D7521783032D}"/>
              </a:ext>
            </a:extLst>
          </p:cNvPr>
          <p:cNvCxnSpPr>
            <a:cxnSpLocks/>
            <a:stCxn id="9" idx="7"/>
          </p:cNvCxnSpPr>
          <p:nvPr/>
        </p:nvCxnSpPr>
        <p:spPr>
          <a:xfrm flipV="1">
            <a:off x="4862930" y="2789847"/>
            <a:ext cx="1891831" cy="873688"/>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0C7A0164-4C7F-9A35-E4B6-00D4070D604B}"/>
              </a:ext>
            </a:extLst>
          </p:cNvPr>
          <p:cNvCxnSpPr>
            <a:cxnSpLocks/>
          </p:cNvCxnSpPr>
          <p:nvPr/>
        </p:nvCxnSpPr>
        <p:spPr>
          <a:xfrm>
            <a:off x="1801458" y="5244595"/>
            <a:ext cx="144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F0449B1-C6C0-01E5-0CF6-8075827828C8}"/>
              </a:ext>
            </a:extLst>
          </p:cNvPr>
          <p:cNvCxnSpPr>
            <a:cxnSpLocks/>
          </p:cNvCxnSpPr>
          <p:nvPr/>
        </p:nvCxnSpPr>
        <p:spPr>
          <a:xfrm>
            <a:off x="3255894" y="450204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A2B1DD8-E6F5-B28E-C306-D0F698E5DCAC}"/>
              </a:ext>
            </a:extLst>
          </p:cNvPr>
          <p:cNvCxnSpPr>
            <a:cxnSpLocks/>
          </p:cNvCxnSpPr>
          <p:nvPr/>
        </p:nvCxnSpPr>
        <p:spPr>
          <a:xfrm>
            <a:off x="4869070" y="370286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283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6" grpId="0" animBg="1"/>
      <p:bldP spid="8" grpId="0" animBg="1"/>
      <p:bldP spid="9" grpId="0" animBg="1"/>
    </p:bldLst>
  </p:timing>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B48C6B-EF4F-E4C8-FB59-A7F343BED298}"/>
              </a:ext>
            </a:extLst>
          </p:cNvPr>
          <p:cNvSpPr>
            <a:spLocks noGrp="1"/>
          </p:cNvSpPr>
          <p:nvPr>
            <p:ph type="title"/>
          </p:nvPr>
        </p:nvSpPr>
        <p:spPr>
          <a:xfrm>
            <a:off x="696000" y="360000"/>
            <a:ext cx="5400000" cy="429413"/>
          </a:xfrm>
        </p:spPr>
        <p:txBody>
          <a:bodyPr/>
          <a:lstStyle/>
          <a:p>
            <a:r>
              <a:rPr lang="en-US" altLang="zh-CN" dirty="0"/>
              <a:t>11.4 </a:t>
            </a:r>
            <a:r>
              <a:rPr lang="zh-CN" altLang="en-US" dirty="0"/>
              <a:t>风险应对策略</a:t>
            </a:r>
          </a:p>
        </p:txBody>
      </p:sp>
      <p:sp>
        <p:nvSpPr>
          <p:cNvPr id="4" name="文本框 3">
            <a:extLst>
              <a:ext uri="{FF2B5EF4-FFF2-40B4-BE49-F238E27FC236}">
                <a16:creationId xmlns:a16="http://schemas.microsoft.com/office/drawing/2014/main" id="{D82471CB-97D7-F634-3A0E-80265224F89B}"/>
              </a:ext>
            </a:extLst>
          </p:cNvPr>
          <p:cNvSpPr txBox="1"/>
          <p:nvPr/>
        </p:nvSpPr>
        <p:spPr>
          <a:xfrm>
            <a:off x="695325" y="788988"/>
            <a:ext cx="1293944" cy="1077218"/>
          </a:xfrm>
          <a:prstGeom prst="rect">
            <a:avLst/>
          </a:prstGeom>
          <a:noFill/>
        </p:spPr>
        <p:txBody>
          <a:bodyPr wrap="none" rtlCol="0">
            <a:spAutoFit/>
          </a:bodyPr>
          <a:lstStyle/>
          <a:p>
            <a:pPr marL="285750" indent="-285750" algn="l">
              <a:buFont typeface="Arial" panose="020B0604020202020204" pitchFamily="34" charset="0"/>
              <a:buChar char="•"/>
            </a:pPr>
            <a:r>
              <a:rPr lang="zh-CN" altLang="en-US" sz="1600" dirty="0"/>
              <a:t>回避风险</a:t>
            </a:r>
          </a:p>
          <a:p>
            <a:pPr marL="285750" indent="-285750" algn="l">
              <a:buFont typeface="Arial" panose="020B0604020202020204" pitchFamily="34" charset="0"/>
              <a:buChar char="•"/>
            </a:pPr>
            <a:r>
              <a:rPr lang="zh-CN" altLang="en-US" sz="1600" dirty="0"/>
              <a:t>转移风险</a:t>
            </a:r>
          </a:p>
          <a:p>
            <a:pPr marL="285750" indent="-285750" algn="l">
              <a:buFont typeface="Arial" panose="020B0604020202020204" pitchFamily="34" charset="0"/>
              <a:buChar char="•"/>
            </a:pPr>
            <a:r>
              <a:rPr lang="zh-CN" altLang="en-US" sz="1600" dirty="0"/>
              <a:t>损失控制</a:t>
            </a:r>
          </a:p>
          <a:p>
            <a:pPr marL="285750" indent="-285750" algn="l">
              <a:buFont typeface="Arial" panose="020B0604020202020204" pitchFamily="34" charset="0"/>
              <a:buChar char="•"/>
            </a:pPr>
            <a:r>
              <a:rPr lang="zh-CN" altLang="en-US" sz="1600" dirty="0"/>
              <a:t>自留风险</a:t>
            </a:r>
          </a:p>
        </p:txBody>
      </p:sp>
      <p:sp>
        <p:nvSpPr>
          <p:cNvPr id="5" name="文本框 4">
            <a:extLst>
              <a:ext uri="{FF2B5EF4-FFF2-40B4-BE49-F238E27FC236}">
                <a16:creationId xmlns:a16="http://schemas.microsoft.com/office/drawing/2014/main" id="{CE03F035-38C0-CEE4-FA2A-D5E5D44EBC57}"/>
              </a:ext>
            </a:extLst>
          </p:cNvPr>
          <p:cNvSpPr txBox="1"/>
          <p:nvPr/>
        </p:nvSpPr>
        <p:spPr>
          <a:xfrm>
            <a:off x="4781551" y="788988"/>
            <a:ext cx="3852000" cy="1077218"/>
          </a:xfrm>
          <a:prstGeom prst="rect">
            <a:avLst/>
          </a:prstGeom>
          <a:noFill/>
        </p:spPr>
        <p:txBody>
          <a:bodyPr wrap="square" rtlCol="0">
            <a:spAutoFit/>
          </a:bodyPr>
          <a:lstStyle/>
          <a:p>
            <a:pPr algn="just"/>
            <a:r>
              <a:rPr lang="zh-CN" altLang="en-US" sz="1600" dirty="0"/>
              <a:t>回避风险是对可能发生的风险尽可能的规避，采取主动放弃或者拒绝使用导致风险的方案</a:t>
            </a:r>
          </a:p>
          <a:p>
            <a:pPr marL="285750" indent="-285750" algn="just">
              <a:buFont typeface="Arial" panose="020B0604020202020204" pitchFamily="34" charset="0"/>
              <a:buChar char="•"/>
            </a:pPr>
            <a:r>
              <a:rPr lang="zh-CN" altLang="en-US" sz="1600" dirty="0"/>
              <a:t>放弃采用新技术</a:t>
            </a:r>
          </a:p>
        </p:txBody>
      </p:sp>
      <p:sp>
        <p:nvSpPr>
          <p:cNvPr id="7" name="文本框 6">
            <a:extLst>
              <a:ext uri="{FF2B5EF4-FFF2-40B4-BE49-F238E27FC236}">
                <a16:creationId xmlns:a16="http://schemas.microsoft.com/office/drawing/2014/main" id="{64019977-E1C6-76C2-6898-64DCD529B49E}"/>
              </a:ext>
            </a:extLst>
          </p:cNvPr>
          <p:cNvSpPr txBox="1"/>
          <p:nvPr/>
        </p:nvSpPr>
        <p:spPr>
          <a:xfrm>
            <a:off x="4781551" y="2114147"/>
            <a:ext cx="3852000" cy="1569660"/>
          </a:xfrm>
          <a:prstGeom prst="rect">
            <a:avLst/>
          </a:prstGeom>
          <a:noFill/>
        </p:spPr>
        <p:txBody>
          <a:bodyPr wrap="square" rtlCol="0">
            <a:spAutoFit/>
          </a:bodyPr>
          <a:lstStyle/>
          <a:p>
            <a:pPr algn="l"/>
            <a:r>
              <a:rPr lang="zh-CN" altLang="en-US" sz="1600" dirty="0"/>
              <a:t>转移风险是为了避免承担风险损失，有意识将损失或与损失有关的财务后果转嫁出去的方法。</a:t>
            </a:r>
            <a:endParaRPr lang="en-US" altLang="zh-CN" sz="1600" dirty="0"/>
          </a:p>
          <a:p>
            <a:pPr marL="285750" indent="-285750" algn="l">
              <a:buFont typeface="Arial" panose="020B0604020202020204" pitchFamily="34" charset="0"/>
              <a:buChar char="•"/>
            </a:pPr>
            <a:r>
              <a:rPr lang="zh-CN" altLang="en-US" sz="1600" dirty="0"/>
              <a:t>分包</a:t>
            </a:r>
          </a:p>
          <a:p>
            <a:pPr marL="285750" indent="-285750" algn="l">
              <a:buFont typeface="Arial" panose="020B0604020202020204" pitchFamily="34" charset="0"/>
              <a:buChar char="•"/>
            </a:pPr>
            <a:r>
              <a:rPr lang="zh-CN" altLang="en-US" sz="1600" dirty="0"/>
              <a:t>开脱责任合同</a:t>
            </a:r>
          </a:p>
          <a:p>
            <a:pPr marL="285750" indent="-285750" algn="l">
              <a:buFont typeface="Arial" panose="020B0604020202020204" pitchFamily="34" charset="0"/>
              <a:buChar char="•"/>
            </a:pPr>
            <a:r>
              <a:rPr lang="zh-CN" altLang="en-US" sz="1600" dirty="0"/>
              <a:t>保险</a:t>
            </a:r>
          </a:p>
        </p:txBody>
      </p:sp>
      <p:sp>
        <p:nvSpPr>
          <p:cNvPr id="10" name="文本框 9">
            <a:extLst>
              <a:ext uri="{FF2B5EF4-FFF2-40B4-BE49-F238E27FC236}">
                <a16:creationId xmlns:a16="http://schemas.microsoft.com/office/drawing/2014/main" id="{8E1FA4CC-7A2A-4221-7F4E-5EEC1C12F67E}"/>
              </a:ext>
            </a:extLst>
          </p:cNvPr>
          <p:cNvSpPr txBox="1"/>
          <p:nvPr/>
        </p:nvSpPr>
        <p:spPr>
          <a:xfrm>
            <a:off x="4781551" y="3931748"/>
            <a:ext cx="3852000" cy="1077218"/>
          </a:xfrm>
          <a:prstGeom prst="rect">
            <a:avLst/>
          </a:prstGeom>
          <a:noFill/>
        </p:spPr>
        <p:txBody>
          <a:bodyPr wrap="square" rtlCol="0">
            <a:spAutoFit/>
          </a:bodyPr>
          <a:lstStyle/>
          <a:p>
            <a:pPr algn="l"/>
            <a:r>
              <a:rPr lang="zh-CN" altLang="en-US" sz="1600" dirty="0"/>
              <a:t>损失预防</a:t>
            </a:r>
            <a:endParaRPr lang="en-US" altLang="zh-CN" sz="1600" dirty="0"/>
          </a:p>
          <a:p>
            <a:pPr marL="285750" indent="-285750" algn="l">
              <a:buFont typeface="Arial" panose="020B0604020202020204" pitchFamily="34" charset="0"/>
              <a:buChar char="•"/>
            </a:pPr>
            <a:r>
              <a:rPr lang="zh-CN" altLang="en-US" sz="1600" dirty="0"/>
              <a:t>项目技术培训，预防技术失败</a:t>
            </a:r>
            <a:endParaRPr lang="en-US" altLang="zh-CN" sz="1600" dirty="0"/>
          </a:p>
          <a:p>
            <a:pPr algn="l"/>
            <a:r>
              <a:rPr lang="zh-CN" altLang="en-US" sz="1600" dirty="0"/>
              <a:t>损失抑制</a:t>
            </a:r>
            <a:endParaRPr lang="en-US" altLang="zh-CN" sz="1600" dirty="0"/>
          </a:p>
          <a:p>
            <a:pPr marL="285750" indent="-285750" algn="l">
              <a:buFont typeface="Arial" panose="020B0604020202020204" pitchFamily="34" charset="0"/>
              <a:buChar char="•"/>
            </a:pPr>
            <a:r>
              <a:rPr lang="zh-CN" altLang="en-US" sz="1600" dirty="0"/>
              <a:t>项目人员储备，抑制人员流失的损失</a:t>
            </a:r>
          </a:p>
        </p:txBody>
      </p:sp>
      <p:sp>
        <p:nvSpPr>
          <p:cNvPr id="11" name="文本框 10">
            <a:extLst>
              <a:ext uri="{FF2B5EF4-FFF2-40B4-BE49-F238E27FC236}">
                <a16:creationId xmlns:a16="http://schemas.microsoft.com/office/drawing/2014/main" id="{EEB6729A-9B7C-3A66-A3EE-C3D377013765}"/>
              </a:ext>
            </a:extLst>
          </p:cNvPr>
          <p:cNvSpPr txBox="1"/>
          <p:nvPr/>
        </p:nvSpPr>
        <p:spPr>
          <a:xfrm>
            <a:off x="4781551" y="5256907"/>
            <a:ext cx="3852000" cy="584775"/>
          </a:xfrm>
          <a:prstGeom prst="rect">
            <a:avLst/>
          </a:prstGeom>
          <a:noFill/>
        </p:spPr>
        <p:txBody>
          <a:bodyPr wrap="square" rtlCol="0">
            <a:spAutoFit/>
          </a:bodyPr>
          <a:lstStyle/>
          <a:p>
            <a:pPr algn="l"/>
            <a:r>
              <a:rPr lang="zh-CN" altLang="en-US" sz="1600" dirty="0"/>
              <a:t>由项目组织自己承担风险事故所致损失的措施。 </a:t>
            </a:r>
          </a:p>
        </p:txBody>
      </p:sp>
      <p:cxnSp>
        <p:nvCxnSpPr>
          <p:cNvPr id="15" name="连接符: 肘形 14">
            <a:extLst>
              <a:ext uri="{FF2B5EF4-FFF2-40B4-BE49-F238E27FC236}">
                <a16:creationId xmlns:a16="http://schemas.microsoft.com/office/drawing/2014/main" id="{125E3B48-E27A-69CC-5F5E-C720468C3CA1}"/>
              </a:ext>
            </a:extLst>
          </p:cNvPr>
          <p:cNvCxnSpPr>
            <a:stCxn id="4" idx="3"/>
            <a:endCxn id="7" idx="1"/>
          </p:cNvCxnSpPr>
          <p:nvPr/>
        </p:nvCxnSpPr>
        <p:spPr>
          <a:xfrm>
            <a:off x="1989269" y="1327597"/>
            <a:ext cx="2792282" cy="157138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B0E74C82-A114-8330-45E4-3B9BB6D2D9F0}"/>
              </a:ext>
            </a:extLst>
          </p:cNvPr>
          <p:cNvCxnSpPr>
            <a:stCxn id="4" idx="3"/>
            <a:endCxn id="10" idx="1"/>
          </p:cNvCxnSpPr>
          <p:nvPr/>
        </p:nvCxnSpPr>
        <p:spPr>
          <a:xfrm>
            <a:off x="1989269" y="1327597"/>
            <a:ext cx="2792282" cy="31427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6F539DF3-6616-82BD-7AF6-4EA3D5DF430F}"/>
              </a:ext>
            </a:extLst>
          </p:cNvPr>
          <p:cNvCxnSpPr>
            <a:cxnSpLocks/>
            <a:stCxn id="4" idx="3"/>
            <a:endCxn id="11" idx="1"/>
          </p:cNvCxnSpPr>
          <p:nvPr/>
        </p:nvCxnSpPr>
        <p:spPr>
          <a:xfrm>
            <a:off x="1989269" y="1327597"/>
            <a:ext cx="2792282" cy="422169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8B8D3BAB-DD28-C625-BE69-6B6634A232AD}"/>
              </a:ext>
            </a:extLst>
          </p:cNvPr>
          <p:cNvCxnSpPr>
            <a:stCxn id="4" idx="3"/>
            <a:endCxn id="5" idx="1"/>
          </p:cNvCxnSpPr>
          <p:nvPr/>
        </p:nvCxnSpPr>
        <p:spPr>
          <a:xfrm>
            <a:off x="1989269" y="1327597"/>
            <a:ext cx="2792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9673093"/>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792000"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464934352"/>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Weaknesses（</a:t>
                      </a:r>
                      <a:r>
                        <a:rPr lang="zh-CN" altLang="en-US" sz="1600" dirty="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6" name="文本占位符 5">
            <a:extLst>
              <a:ext uri="{FF2B5EF4-FFF2-40B4-BE49-F238E27FC236}">
                <a16:creationId xmlns:a16="http://schemas.microsoft.com/office/drawing/2014/main" id="{5F083A60-B368-73C4-8583-2CCAC85EC23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792000"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任意多边形: 形状 2">
            <a:extLst>
              <a:ext uri="{FF2B5EF4-FFF2-40B4-BE49-F238E27FC236}">
                <a16:creationId xmlns:a16="http://schemas.microsoft.com/office/drawing/2014/main" id="{527CB732-FFC2-734B-A8B7-7ADEFC0531BD}"/>
              </a:ext>
            </a:extLst>
          </p:cNvPr>
          <p:cNvSpPr/>
          <p:nvPr/>
        </p:nvSpPr>
        <p:spPr>
          <a:xfrm>
            <a:off x="8506217" y="1368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4" name="任意多边形: 形状 3">
            <a:extLst>
              <a:ext uri="{FF2B5EF4-FFF2-40B4-BE49-F238E27FC236}">
                <a16:creationId xmlns:a16="http://schemas.microsoft.com/office/drawing/2014/main" id="{BA49BB3A-C678-C170-D3BE-52637D7F6D1B}"/>
              </a:ext>
            </a:extLst>
          </p:cNvPr>
          <p:cNvSpPr/>
          <p:nvPr/>
        </p:nvSpPr>
        <p:spPr>
          <a:xfrm>
            <a:off x="9215996" y="2757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6" name="任意多边形: 形状 5">
            <a:extLst>
              <a:ext uri="{FF2B5EF4-FFF2-40B4-BE49-F238E27FC236}">
                <a16:creationId xmlns:a16="http://schemas.microsoft.com/office/drawing/2014/main" id="{8C67D98D-D3BA-EA12-3F3D-CBC2B4636839}"/>
              </a:ext>
            </a:extLst>
          </p:cNvPr>
          <p:cNvSpPr/>
          <p:nvPr/>
        </p:nvSpPr>
        <p:spPr>
          <a:xfrm>
            <a:off x="7810885" y="2594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7" name="文本框 6">
            <a:extLst>
              <a:ext uri="{FF2B5EF4-FFF2-40B4-BE49-F238E27FC236}">
                <a16:creationId xmlns:a16="http://schemas.microsoft.com/office/drawing/2014/main" id="{54264CAE-47D4-2B15-87F0-BC4632D3AE7F}"/>
              </a:ext>
            </a:extLst>
          </p:cNvPr>
          <p:cNvSpPr txBox="1"/>
          <p:nvPr/>
        </p:nvSpPr>
        <p:spPr>
          <a:xfrm>
            <a:off x="8208947" y="4085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8" name="文本框 7">
            <a:extLst>
              <a:ext uri="{FF2B5EF4-FFF2-40B4-BE49-F238E27FC236}">
                <a16:creationId xmlns:a16="http://schemas.microsoft.com/office/drawing/2014/main" id="{7E393289-AAAE-F549-5079-570BDF46B5CD}"/>
              </a:ext>
            </a:extLst>
          </p:cNvPr>
          <p:cNvSpPr txBox="1"/>
          <p:nvPr/>
        </p:nvSpPr>
        <p:spPr>
          <a:xfrm>
            <a:off x="10453290" y="4085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11" name="文本框 10">
            <a:extLst>
              <a:ext uri="{FF2B5EF4-FFF2-40B4-BE49-F238E27FC236}">
                <a16:creationId xmlns:a16="http://schemas.microsoft.com/office/drawing/2014/main" id="{29126FBF-7DA1-898A-6BDD-AB0D3679E2CC}"/>
              </a:ext>
            </a:extLst>
          </p:cNvPr>
          <p:cNvSpPr txBox="1"/>
          <p:nvPr/>
        </p:nvSpPr>
        <p:spPr>
          <a:xfrm>
            <a:off x="9389264" y="2100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12" name="椭圆 11">
            <a:extLst>
              <a:ext uri="{FF2B5EF4-FFF2-40B4-BE49-F238E27FC236}">
                <a16:creationId xmlns:a16="http://schemas.microsoft.com/office/drawing/2014/main" id="{EA7F9B4F-FB60-7675-EB0E-BD33DF191201}"/>
              </a:ext>
            </a:extLst>
          </p:cNvPr>
          <p:cNvSpPr/>
          <p:nvPr/>
        </p:nvSpPr>
        <p:spPr>
          <a:xfrm>
            <a:off x="9315417" y="2989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nvGrpSpPr>
          <p:cNvPr id="17" name="组合 16">
            <a:extLst>
              <a:ext uri="{FF2B5EF4-FFF2-40B4-BE49-F238E27FC236}">
                <a16:creationId xmlns:a16="http://schemas.microsoft.com/office/drawing/2014/main" id="{0388BF55-9B57-FC62-EA65-C1AF4CA0BAAF}"/>
              </a:ext>
            </a:extLst>
          </p:cNvPr>
          <p:cNvGrpSpPr/>
          <p:nvPr/>
        </p:nvGrpSpPr>
        <p:grpSpPr>
          <a:xfrm>
            <a:off x="2875057" y="2709000"/>
            <a:ext cx="2880000" cy="2880000"/>
            <a:chOff x="2875057" y="2709000"/>
            <a:chExt cx="2880000" cy="2880000"/>
          </a:xfrm>
        </p:grpSpPr>
        <p:sp>
          <p:nvSpPr>
            <p:cNvPr id="15" name="椭圆 14">
              <a:extLst>
                <a:ext uri="{FF2B5EF4-FFF2-40B4-BE49-F238E27FC236}">
                  <a16:creationId xmlns:a16="http://schemas.microsoft.com/office/drawing/2014/main" id="{48371A17-7D7E-8785-4E40-A709849FB716}"/>
                </a:ext>
              </a:extLst>
            </p:cNvPr>
            <p:cNvSpPr/>
            <p:nvPr/>
          </p:nvSpPr>
          <p:spPr>
            <a:xfrm>
              <a:off x="2875057" y="2709000"/>
              <a:ext cx="2880000" cy="2880000"/>
            </a:xfrm>
            <a:prstGeom prst="ellipse">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6" name="椭圆 15">
              <a:extLst>
                <a:ext uri="{FF2B5EF4-FFF2-40B4-BE49-F238E27FC236}">
                  <a16:creationId xmlns:a16="http://schemas.microsoft.com/office/drawing/2014/main" id="{76193CAF-CBA7-E880-9190-51646FD8E80A}"/>
                </a:ext>
              </a:extLst>
            </p:cNvPr>
            <p:cNvSpPr/>
            <p:nvPr/>
          </p:nvSpPr>
          <p:spPr>
            <a:xfrm>
              <a:off x="3595057" y="414900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19" name="组合 18">
            <a:extLst>
              <a:ext uri="{FF2B5EF4-FFF2-40B4-BE49-F238E27FC236}">
                <a16:creationId xmlns:a16="http://schemas.microsoft.com/office/drawing/2014/main" id="{07FD2CDA-A0E4-649E-7628-595907FDBA63}"/>
              </a:ext>
            </a:extLst>
          </p:cNvPr>
          <p:cNvGrpSpPr/>
          <p:nvPr/>
        </p:nvGrpSpPr>
        <p:grpSpPr>
          <a:xfrm>
            <a:off x="456080" y="2586182"/>
            <a:ext cx="2880000" cy="2880000"/>
            <a:chOff x="456080" y="2586182"/>
            <a:chExt cx="2880000" cy="2880000"/>
          </a:xfrm>
        </p:grpSpPr>
        <p:sp>
          <p:nvSpPr>
            <p:cNvPr id="14" name="椭圆 13">
              <a:extLst>
                <a:ext uri="{FF2B5EF4-FFF2-40B4-BE49-F238E27FC236}">
                  <a16:creationId xmlns:a16="http://schemas.microsoft.com/office/drawing/2014/main" id="{94C4A880-DF3A-107A-2D3A-3CAD87652059}"/>
                </a:ext>
              </a:extLst>
            </p:cNvPr>
            <p:cNvSpPr/>
            <p:nvPr/>
          </p:nvSpPr>
          <p:spPr>
            <a:xfrm>
              <a:off x="456080" y="2586182"/>
              <a:ext cx="2880000" cy="2880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椭圆 17">
              <a:extLst>
                <a:ext uri="{FF2B5EF4-FFF2-40B4-BE49-F238E27FC236}">
                  <a16:creationId xmlns:a16="http://schemas.microsoft.com/office/drawing/2014/main" id="{82F105AB-156B-16FB-AE2C-83AA783CEF33}"/>
                </a:ext>
              </a:extLst>
            </p:cNvPr>
            <p:cNvSpPr/>
            <p:nvPr/>
          </p:nvSpPr>
          <p:spPr>
            <a:xfrm>
              <a:off x="1176080" y="4026182"/>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21" name="组合 20">
            <a:extLst>
              <a:ext uri="{FF2B5EF4-FFF2-40B4-BE49-F238E27FC236}">
                <a16:creationId xmlns:a16="http://schemas.microsoft.com/office/drawing/2014/main" id="{8F6D40AD-FB34-CDB7-F773-995DB8C0E0F3}"/>
              </a:ext>
            </a:extLst>
          </p:cNvPr>
          <p:cNvGrpSpPr/>
          <p:nvPr/>
        </p:nvGrpSpPr>
        <p:grpSpPr>
          <a:xfrm>
            <a:off x="1896080" y="1278720"/>
            <a:ext cx="2880000" cy="2880000"/>
            <a:chOff x="1896080" y="1278720"/>
            <a:chExt cx="2880000" cy="2880000"/>
          </a:xfrm>
        </p:grpSpPr>
        <p:sp>
          <p:nvSpPr>
            <p:cNvPr id="13" name="椭圆 12">
              <a:extLst>
                <a:ext uri="{FF2B5EF4-FFF2-40B4-BE49-F238E27FC236}">
                  <a16:creationId xmlns:a16="http://schemas.microsoft.com/office/drawing/2014/main" id="{025D9A16-2E44-D767-3598-EE0ED861B2FA}"/>
                </a:ext>
              </a:extLst>
            </p:cNvPr>
            <p:cNvSpPr/>
            <p:nvPr/>
          </p:nvSpPr>
          <p:spPr>
            <a:xfrm>
              <a:off x="1896080" y="1278720"/>
              <a:ext cx="2880000" cy="2880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14183AFC-DDE1-558F-8B67-7812288E3079}"/>
                </a:ext>
              </a:extLst>
            </p:cNvPr>
            <p:cNvSpPr/>
            <p:nvPr/>
          </p:nvSpPr>
          <p:spPr>
            <a:xfrm>
              <a:off x="2616080" y="271872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spTree>
    <p:extLst>
      <p:ext uri="{BB962C8B-B14F-4D97-AF65-F5344CB8AC3E}">
        <p14:creationId xmlns:p14="http://schemas.microsoft.com/office/powerpoint/2010/main" val="120116926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792000"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6" name="文本占位符 5">
            <a:extLst>
              <a:ext uri="{FF2B5EF4-FFF2-40B4-BE49-F238E27FC236}">
                <a16:creationId xmlns:a16="http://schemas.microsoft.com/office/drawing/2014/main" id="{E26FDAAE-D6CC-3136-E7A3-D5C3AC4EE5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792000"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6" name="文本占位符 5">
            <a:extLst>
              <a:ext uri="{FF2B5EF4-FFF2-40B4-BE49-F238E27FC236}">
                <a16:creationId xmlns:a16="http://schemas.microsoft.com/office/drawing/2014/main" id="{2A619993-597B-3DA7-16C1-0CEFE90B39F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F5CA795C-DA50-7771-078B-3D7004B832A4}"/>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03DB402-6B38-93A3-FC55-4205FE1CC696}"/>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7" name="文本占位符 6">
            <a:extLst>
              <a:ext uri="{FF2B5EF4-FFF2-40B4-BE49-F238E27FC236}">
                <a16:creationId xmlns:a16="http://schemas.microsoft.com/office/drawing/2014/main" id="{AECF767E-5195-27D6-EED3-32B2605508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792000" y="360000"/>
            <a:ext cx="6375921" cy="429413"/>
          </a:xfrm>
        </p:spPr>
        <p:txBody>
          <a:bodyPr>
            <a:normAutofit/>
          </a:bodyPr>
          <a:lstStyle/>
          <a:p>
            <a:r>
              <a:rPr lang="zh-CN" altLang="en-US"/>
              <a:t>约束</a:t>
            </a:r>
          </a:p>
        </p:txBody>
      </p:sp>
      <p:sp>
        <p:nvSpPr>
          <p:cNvPr id="5" name="内容占位符 4">
            <a:extLst>
              <a:ext uri="{FF2B5EF4-FFF2-40B4-BE49-F238E27FC236}">
                <a16:creationId xmlns:a16="http://schemas.microsoft.com/office/drawing/2014/main" id="{714E7AD4-CD83-0529-09C7-E558BC672CB3}"/>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792000"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7" name="文本占位符 6">
            <a:extLst>
              <a:ext uri="{FF2B5EF4-FFF2-40B4-BE49-F238E27FC236}">
                <a16:creationId xmlns:a16="http://schemas.microsoft.com/office/drawing/2014/main" id="{AD10CFA2-DE2F-5FFC-F6D6-ED768538DF8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792000"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7" name="文本占位符 6">
            <a:extLst>
              <a:ext uri="{FF2B5EF4-FFF2-40B4-BE49-F238E27FC236}">
                <a16:creationId xmlns:a16="http://schemas.microsoft.com/office/drawing/2014/main" id="{67B55B26-BF08-CB81-9946-5BF59D900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792000" y="360000"/>
            <a:ext cx="6375921" cy="429413"/>
          </a:xfrm>
        </p:spPr>
        <p:txBody>
          <a:bodyPr/>
          <a:lstStyle/>
          <a:p>
            <a:r>
              <a:rPr lang="zh-CN" altLang="en-US"/>
              <a:t>项目结束</a:t>
            </a:r>
          </a:p>
        </p:txBody>
      </p:sp>
      <p:sp>
        <p:nvSpPr>
          <p:cNvPr id="4" name="内容占位符 3">
            <a:extLst>
              <a:ext uri="{FF2B5EF4-FFF2-40B4-BE49-F238E27FC236}">
                <a16:creationId xmlns:a16="http://schemas.microsoft.com/office/drawing/2014/main" id="{D07E06EB-2295-B035-6943-0E956AE2F208}"/>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2935EA93-6634-147D-7292-521DE32CF3CE}"/>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792000"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CC192580-3CA5-BC7C-BAB7-E10C1DA6D8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792000"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6" name="文本占位符 5">
            <a:extLst>
              <a:ext uri="{FF2B5EF4-FFF2-40B4-BE49-F238E27FC236}">
                <a16:creationId xmlns:a16="http://schemas.microsoft.com/office/drawing/2014/main" id="{2FE2F942-995B-8EFF-68FB-6B18303BD5C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792000"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6" name="文本占位符 5">
            <a:extLst>
              <a:ext uri="{FF2B5EF4-FFF2-40B4-BE49-F238E27FC236}">
                <a16:creationId xmlns:a16="http://schemas.microsoft.com/office/drawing/2014/main" id="{C0C9CC96-E5C1-0D4D-D191-D2B9F69A6CB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792000"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6" name="文本占位符 5">
            <a:extLst>
              <a:ext uri="{FF2B5EF4-FFF2-40B4-BE49-F238E27FC236}">
                <a16:creationId xmlns:a16="http://schemas.microsoft.com/office/drawing/2014/main" id="{566DE6BA-0B45-A34B-5B32-2E91D0C102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792000"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AF4E9A7F-AC15-AF7C-B0D7-C18927F1B2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34573</TotalTime>
  <Words>40737</Words>
  <Application>Microsoft Office PowerPoint</Application>
  <PresentationFormat>宽屏</PresentationFormat>
  <Paragraphs>7735</Paragraphs>
  <Slides>477</Slides>
  <Notes>198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477</vt:i4>
      </vt:variant>
    </vt:vector>
  </HeadingPairs>
  <TitlesOfParts>
    <vt:vector size="489" baseType="lpstr">
      <vt:lpstr>Roboto Mono</vt:lpstr>
      <vt:lpstr>Arial</vt:lpstr>
      <vt:lpstr>Cambria Math</vt:lpstr>
      <vt:lpstr>微软雅黑</vt:lpstr>
      <vt:lpstr>Segoe UI Black</vt:lpstr>
      <vt:lpstr>等线</vt:lpstr>
      <vt:lpstr>Calibri</vt:lpstr>
      <vt:lpstr>Montserrat</vt:lpstr>
      <vt:lpstr>Wingdings</vt:lpstr>
      <vt:lpstr>Times New Roman</vt:lpstr>
      <vt:lpstr>幼圆</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PowerPoint 演示文稿</vt:lpstr>
      <vt:lpstr>11.1 风险管理</vt:lpstr>
      <vt:lpstr>11.1 风险管理</vt:lpstr>
      <vt:lpstr>PowerPoint 演示文稿</vt:lpstr>
      <vt:lpstr>风险曝光度 Risk Exposure</vt:lpstr>
      <vt:lpstr>11.1 风险管理</vt:lpstr>
      <vt:lpstr>PowerPoint 演示文稿</vt:lpstr>
      <vt:lpstr>11.2 风险识别</vt:lpstr>
      <vt:lpstr>PowerPoint 演示文稿</vt:lpstr>
      <vt:lpstr>11.2 风险识别</vt:lpstr>
      <vt:lpstr>11.3 风险评估</vt:lpstr>
      <vt:lpstr>PowerPoint 演示文稿</vt:lpstr>
      <vt:lpstr>11.3 风险评估</vt:lpstr>
      <vt:lpstr>PowerPoint 演示文稿</vt:lpstr>
      <vt:lpstr>1 访谈</vt:lpstr>
      <vt:lpstr>2 盈亏平衡分析</vt:lpstr>
      <vt:lpstr>3 决策树</vt:lpstr>
      <vt:lpstr>例：决策树</vt:lpstr>
      <vt:lpstr>11.4 风险应对策略</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3271</cp:revision>
  <dcterms:created xsi:type="dcterms:W3CDTF">2026-01-24T11:12:04Z</dcterms:created>
  <dcterms:modified xsi:type="dcterms:W3CDTF">2026-06-14T11:11:52Z</dcterms:modified>
</cp:coreProperties>
</file>